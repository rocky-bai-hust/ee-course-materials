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ctiveX/activeX1.xml" ContentType="application/vnd.ms-office.activeX+xml"/>
  <Override PartName="/ppt/activeX/activeX1.bin" ContentType="application/vnd.ms-office.activeX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384" r:id="rId2"/>
    <p:sldId id="385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18" r:id="rId12"/>
    <p:sldId id="319" r:id="rId13"/>
    <p:sldId id="320" r:id="rId14"/>
    <p:sldId id="321" r:id="rId15"/>
    <p:sldId id="380" r:id="rId16"/>
    <p:sldId id="381" r:id="rId17"/>
    <p:sldId id="322" r:id="rId18"/>
    <p:sldId id="382" r:id="rId19"/>
    <p:sldId id="329" r:id="rId20"/>
    <p:sldId id="379" r:id="rId21"/>
    <p:sldId id="330" r:id="rId22"/>
    <p:sldId id="332" r:id="rId23"/>
    <p:sldId id="333" r:id="rId24"/>
    <p:sldId id="334" r:id="rId25"/>
    <p:sldId id="383" r:id="rId26"/>
    <p:sldId id="335" r:id="rId27"/>
    <p:sldId id="337" r:id="rId28"/>
    <p:sldId id="338" r:id="rId29"/>
    <p:sldId id="340" r:id="rId30"/>
    <p:sldId id="293" r:id="rId31"/>
    <p:sldId id="370" r:id="rId32"/>
    <p:sldId id="294" r:id="rId33"/>
    <p:sldId id="371" r:id="rId34"/>
    <p:sldId id="372" r:id="rId35"/>
    <p:sldId id="373" r:id="rId36"/>
    <p:sldId id="290" r:id="rId37"/>
    <p:sldId id="295" r:id="rId38"/>
    <p:sldId id="376" r:id="rId39"/>
    <p:sldId id="377" r:id="rId40"/>
    <p:sldId id="296" r:id="rId41"/>
    <p:sldId id="299" r:id="rId42"/>
    <p:sldId id="356" r:id="rId43"/>
    <p:sldId id="395" r:id="rId44"/>
    <p:sldId id="396" r:id="rId45"/>
    <p:sldId id="397" r:id="rId46"/>
    <p:sldId id="302" r:id="rId47"/>
    <p:sldId id="303" r:id="rId48"/>
    <p:sldId id="304" r:id="rId49"/>
    <p:sldId id="305" r:id="rId50"/>
    <p:sldId id="364" r:id="rId51"/>
    <p:sldId id="369" r:id="rId52"/>
    <p:sldId id="306" r:id="rId53"/>
    <p:sldId id="309" r:id="rId54"/>
    <p:sldId id="310" r:id="rId55"/>
    <p:sldId id="307" r:id="rId56"/>
    <p:sldId id="313" r:id="rId57"/>
    <p:sldId id="315" r:id="rId58"/>
    <p:sldId id="361" r:id="rId59"/>
    <p:sldId id="314" r:id="rId60"/>
    <p:sldId id="394" r:id="rId6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99CCFF"/>
    <a:srgbClr val="6699FF"/>
    <a:srgbClr val="00FF99"/>
    <a:srgbClr val="FF0000"/>
    <a:srgbClr val="CCFF33"/>
    <a:srgbClr val="FFCC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29" autoAdjust="0"/>
    <p:restoredTop sz="94660" autoAdjust="0"/>
  </p:normalViewPr>
  <p:slideViewPr>
    <p:cSldViewPr snapToGrid="0">
      <p:cViewPr varScale="1">
        <p:scale>
          <a:sx n="66" d="100"/>
          <a:sy n="66" d="100"/>
        </p:scale>
        <p:origin x="129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38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9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4.wmf"/><Relationship Id="rId7" Type="http://schemas.openxmlformats.org/officeDocument/2006/relationships/image" Target="../media/image28.e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e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11" Type="http://schemas.openxmlformats.org/officeDocument/2006/relationships/image" Target="../media/image41.emf"/><Relationship Id="rId5" Type="http://schemas.openxmlformats.org/officeDocument/2006/relationships/image" Target="../media/image35.wmf"/><Relationship Id="rId10" Type="http://schemas.openxmlformats.org/officeDocument/2006/relationships/image" Target="../media/image40.emf"/><Relationship Id="rId4" Type="http://schemas.openxmlformats.org/officeDocument/2006/relationships/image" Target="../media/image34.wmf"/><Relationship Id="rId9" Type="http://schemas.openxmlformats.org/officeDocument/2006/relationships/image" Target="../media/image39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emf"/><Relationship Id="rId7" Type="http://schemas.openxmlformats.org/officeDocument/2006/relationships/image" Target="../media/image48.w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10" Type="http://schemas.openxmlformats.org/officeDocument/2006/relationships/image" Target="../media/image51.e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12" Type="http://schemas.openxmlformats.org/officeDocument/2006/relationships/image" Target="../media/image7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11" Type="http://schemas.openxmlformats.org/officeDocument/2006/relationships/image" Target="../media/image69.wmf"/><Relationship Id="rId5" Type="http://schemas.openxmlformats.org/officeDocument/2006/relationships/image" Target="../media/image62.wmf"/><Relationship Id="rId10" Type="http://schemas.openxmlformats.org/officeDocument/2006/relationships/image" Target="../media/image68.wmf"/><Relationship Id="rId4" Type="http://schemas.openxmlformats.org/officeDocument/2006/relationships/image" Target="../media/image61.wmf"/><Relationship Id="rId9" Type="http://schemas.openxmlformats.org/officeDocument/2006/relationships/image" Target="../media/image6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e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80.wmf"/><Relationship Id="rId7" Type="http://schemas.openxmlformats.org/officeDocument/2006/relationships/image" Target="../media/image75.w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emf"/><Relationship Id="rId7" Type="http://schemas.openxmlformats.org/officeDocument/2006/relationships/image" Target="../media/image91.wmf"/><Relationship Id="rId12" Type="http://schemas.openxmlformats.org/officeDocument/2006/relationships/image" Target="../media/image96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11" Type="http://schemas.openxmlformats.org/officeDocument/2006/relationships/image" Target="../media/image95.emf"/><Relationship Id="rId5" Type="http://schemas.openxmlformats.org/officeDocument/2006/relationships/image" Target="../media/image89.wmf"/><Relationship Id="rId10" Type="http://schemas.openxmlformats.org/officeDocument/2006/relationships/image" Target="../media/image94.emf"/><Relationship Id="rId4" Type="http://schemas.openxmlformats.org/officeDocument/2006/relationships/image" Target="../media/image88.wmf"/><Relationship Id="rId9" Type="http://schemas.openxmlformats.org/officeDocument/2006/relationships/image" Target="../media/image93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image" Target="../media/image99.wmf"/><Relationship Id="rId7" Type="http://schemas.openxmlformats.org/officeDocument/2006/relationships/image" Target="../media/image103.e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emf"/><Relationship Id="rId5" Type="http://schemas.openxmlformats.org/officeDocument/2006/relationships/image" Target="../media/image101.emf"/><Relationship Id="rId4" Type="http://schemas.openxmlformats.org/officeDocument/2006/relationships/image" Target="../media/image100.emf"/><Relationship Id="rId9" Type="http://schemas.openxmlformats.org/officeDocument/2006/relationships/image" Target="../media/image105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image" Target="../media/image118.emf"/><Relationship Id="rId3" Type="http://schemas.openxmlformats.org/officeDocument/2006/relationships/image" Target="../media/image108.wmf"/><Relationship Id="rId7" Type="http://schemas.openxmlformats.org/officeDocument/2006/relationships/image" Target="../media/image112.emf"/><Relationship Id="rId12" Type="http://schemas.openxmlformats.org/officeDocument/2006/relationships/image" Target="../media/image117.e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11" Type="http://schemas.openxmlformats.org/officeDocument/2006/relationships/image" Target="../media/image116.wmf"/><Relationship Id="rId5" Type="http://schemas.openxmlformats.org/officeDocument/2006/relationships/image" Target="../media/image110.wmf"/><Relationship Id="rId10" Type="http://schemas.openxmlformats.org/officeDocument/2006/relationships/image" Target="../media/image115.wmf"/><Relationship Id="rId4" Type="http://schemas.openxmlformats.org/officeDocument/2006/relationships/image" Target="../media/image109.wmf"/><Relationship Id="rId9" Type="http://schemas.openxmlformats.org/officeDocument/2006/relationships/image" Target="../media/image11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13" Type="http://schemas.openxmlformats.org/officeDocument/2006/relationships/image" Target="../media/image131.emf"/><Relationship Id="rId18" Type="http://schemas.openxmlformats.org/officeDocument/2006/relationships/image" Target="../media/image136.emf"/><Relationship Id="rId3" Type="http://schemas.openxmlformats.org/officeDocument/2006/relationships/image" Target="../media/image121.emf"/><Relationship Id="rId7" Type="http://schemas.openxmlformats.org/officeDocument/2006/relationships/image" Target="../media/image125.emf"/><Relationship Id="rId12" Type="http://schemas.openxmlformats.org/officeDocument/2006/relationships/image" Target="../media/image130.emf"/><Relationship Id="rId17" Type="http://schemas.openxmlformats.org/officeDocument/2006/relationships/image" Target="../media/image135.emf"/><Relationship Id="rId2" Type="http://schemas.openxmlformats.org/officeDocument/2006/relationships/image" Target="../media/image120.wmf"/><Relationship Id="rId16" Type="http://schemas.openxmlformats.org/officeDocument/2006/relationships/image" Target="../media/image134.e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11" Type="http://schemas.openxmlformats.org/officeDocument/2006/relationships/image" Target="../media/image129.wmf"/><Relationship Id="rId5" Type="http://schemas.openxmlformats.org/officeDocument/2006/relationships/image" Target="../media/image123.wmf"/><Relationship Id="rId15" Type="http://schemas.openxmlformats.org/officeDocument/2006/relationships/image" Target="../media/image133.wmf"/><Relationship Id="rId10" Type="http://schemas.openxmlformats.org/officeDocument/2006/relationships/image" Target="../media/image128.emf"/><Relationship Id="rId19" Type="http://schemas.openxmlformats.org/officeDocument/2006/relationships/image" Target="../media/image137.emf"/><Relationship Id="rId4" Type="http://schemas.openxmlformats.org/officeDocument/2006/relationships/image" Target="../media/image122.emf"/><Relationship Id="rId9" Type="http://schemas.openxmlformats.org/officeDocument/2006/relationships/image" Target="../media/image127.emf"/><Relationship Id="rId14" Type="http://schemas.openxmlformats.org/officeDocument/2006/relationships/image" Target="../media/image132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image" Target="../media/image140.wmf"/><Relationship Id="rId7" Type="http://schemas.openxmlformats.org/officeDocument/2006/relationships/image" Target="../media/image143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2.wmf"/><Relationship Id="rId5" Type="http://schemas.openxmlformats.org/officeDocument/2006/relationships/image" Target="../media/image59.wmf"/><Relationship Id="rId10" Type="http://schemas.openxmlformats.org/officeDocument/2006/relationships/image" Target="../media/image146.wmf"/><Relationship Id="rId4" Type="http://schemas.openxmlformats.org/officeDocument/2006/relationships/image" Target="../media/image141.wmf"/><Relationship Id="rId9" Type="http://schemas.openxmlformats.org/officeDocument/2006/relationships/image" Target="../media/image145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emf"/><Relationship Id="rId3" Type="http://schemas.openxmlformats.org/officeDocument/2006/relationships/image" Target="../media/image149.emf"/><Relationship Id="rId7" Type="http://schemas.openxmlformats.org/officeDocument/2006/relationships/image" Target="../media/image153.emf"/><Relationship Id="rId2" Type="http://schemas.openxmlformats.org/officeDocument/2006/relationships/image" Target="../media/image148.emf"/><Relationship Id="rId1" Type="http://schemas.openxmlformats.org/officeDocument/2006/relationships/image" Target="../media/image147.emf"/><Relationship Id="rId6" Type="http://schemas.openxmlformats.org/officeDocument/2006/relationships/image" Target="../media/image152.emf"/><Relationship Id="rId5" Type="http://schemas.openxmlformats.org/officeDocument/2006/relationships/image" Target="../media/image151.emf"/><Relationship Id="rId10" Type="http://schemas.openxmlformats.org/officeDocument/2006/relationships/image" Target="../media/image156.emf"/><Relationship Id="rId4" Type="http://schemas.openxmlformats.org/officeDocument/2006/relationships/image" Target="../media/image150.emf"/><Relationship Id="rId9" Type="http://schemas.openxmlformats.org/officeDocument/2006/relationships/image" Target="../media/image155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2" Type="http://schemas.openxmlformats.org/officeDocument/2006/relationships/image" Target="../media/image158.emf"/><Relationship Id="rId1" Type="http://schemas.openxmlformats.org/officeDocument/2006/relationships/image" Target="../media/image157.emf"/><Relationship Id="rId6" Type="http://schemas.openxmlformats.org/officeDocument/2006/relationships/image" Target="../media/image162.emf"/><Relationship Id="rId5" Type="http://schemas.openxmlformats.org/officeDocument/2006/relationships/image" Target="../media/image161.emf"/><Relationship Id="rId4" Type="http://schemas.openxmlformats.org/officeDocument/2006/relationships/image" Target="../media/image160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65.emf"/><Relationship Id="rId7" Type="http://schemas.openxmlformats.org/officeDocument/2006/relationships/image" Target="../media/image169.wmf"/><Relationship Id="rId12" Type="http://schemas.openxmlformats.org/officeDocument/2006/relationships/image" Target="../media/image173.wmf"/><Relationship Id="rId2" Type="http://schemas.openxmlformats.org/officeDocument/2006/relationships/image" Target="../media/image164.emf"/><Relationship Id="rId1" Type="http://schemas.openxmlformats.org/officeDocument/2006/relationships/image" Target="../media/image163.emf"/><Relationship Id="rId6" Type="http://schemas.openxmlformats.org/officeDocument/2006/relationships/image" Target="../media/image168.wmf"/><Relationship Id="rId11" Type="http://schemas.openxmlformats.org/officeDocument/2006/relationships/image" Target="../media/image172.emf"/><Relationship Id="rId5" Type="http://schemas.openxmlformats.org/officeDocument/2006/relationships/image" Target="../media/image167.wmf"/><Relationship Id="rId10" Type="http://schemas.openxmlformats.org/officeDocument/2006/relationships/image" Target="../media/image171.wmf"/><Relationship Id="rId4" Type="http://schemas.openxmlformats.org/officeDocument/2006/relationships/image" Target="../media/image166.emf"/><Relationship Id="rId9" Type="http://schemas.openxmlformats.org/officeDocument/2006/relationships/image" Target="../media/image170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emf"/><Relationship Id="rId13" Type="http://schemas.openxmlformats.org/officeDocument/2006/relationships/image" Target="../media/image186.emf"/><Relationship Id="rId18" Type="http://schemas.openxmlformats.org/officeDocument/2006/relationships/image" Target="../media/image191.wmf"/><Relationship Id="rId3" Type="http://schemas.openxmlformats.org/officeDocument/2006/relationships/image" Target="../media/image176.wmf"/><Relationship Id="rId7" Type="http://schemas.openxmlformats.org/officeDocument/2006/relationships/image" Target="../media/image180.wmf"/><Relationship Id="rId12" Type="http://schemas.openxmlformats.org/officeDocument/2006/relationships/image" Target="../media/image185.emf"/><Relationship Id="rId17" Type="http://schemas.openxmlformats.org/officeDocument/2006/relationships/image" Target="../media/image190.wmf"/><Relationship Id="rId2" Type="http://schemas.openxmlformats.org/officeDocument/2006/relationships/image" Target="../media/image175.wmf"/><Relationship Id="rId16" Type="http://schemas.openxmlformats.org/officeDocument/2006/relationships/image" Target="../media/image189.emf"/><Relationship Id="rId1" Type="http://schemas.openxmlformats.org/officeDocument/2006/relationships/image" Target="../media/image174.emf"/><Relationship Id="rId6" Type="http://schemas.openxmlformats.org/officeDocument/2006/relationships/image" Target="../media/image179.emf"/><Relationship Id="rId11" Type="http://schemas.openxmlformats.org/officeDocument/2006/relationships/image" Target="../media/image184.emf"/><Relationship Id="rId5" Type="http://schemas.openxmlformats.org/officeDocument/2006/relationships/image" Target="../media/image178.wmf"/><Relationship Id="rId15" Type="http://schemas.openxmlformats.org/officeDocument/2006/relationships/image" Target="../media/image188.emf"/><Relationship Id="rId10" Type="http://schemas.openxmlformats.org/officeDocument/2006/relationships/image" Target="../media/image183.wmf"/><Relationship Id="rId4" Type="http://schemas.openxmlformats.org/officeDocument/2006/relationships/image" Target="../media/image177.emf"/><Relationship Id="rId9" Type="http://schemas.openxmlformats.org/officeDocument/2006/relationships/image" Target="../media/image182.emf"/><Relationship Id="rId14" Type="http://schemas.openxmlformats.org/officeDocument/2006/relationships/image" Target="../media/image187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emf"/><Relationship Id="rId3" Type="http://schemas.openxmlformats.org/officeDocument/2006/relationships/image" Target="../media/image194.wmf"/><Relationship Id="rId7" Type="http://schemas.openxmlformats.org/officeDocument/2006/relationships/image" Target="../media/image176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6" Type="http://schemas.openxmlformats.org/officeDocument/2006/relationships/image" Target="../media/image175.wmf"/><Relationship Id="rId5" Type="http://schemas.openxmlformats.org/officeDocument/2006/relationships/image" Target="../media/image196.wmf"/><Relationship Id="rId10" Type="http://schemas.openxmlformats.org/officeDocument/2006/relationships/image" Target="../media/image198.emf"/><Relationship Id="rId4" Type="http://schemas.openxmlformats.org/officeDocument/2006/relationships/image" Target="../media/image195.wmf"/><Relationship Id="rId9" Type="http://schemas.openxmlformats.org/officeDocument/2006/relationships/image" Target="../media/image178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emf"/><Relationship Id="rId3" Type="http://schemas.openxmlformats.org/officeDocument/2006/relationships/image" Target="../media/image201.emf"/><Relationship Id="rId7" Type="http://schemas.openxmlformats.org/officeDocument/2006/relationships/image" Target="../media/image205.e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Relationship Id="rId6" Type="http://schemas.openxmlformats.org/officeDocument/2006/relationships/image" Target="../media/image204.wmf"/><Relationship Id="rId5" Type="http://schemas.openxmlformats.org/officeDocument/2006/relationships/image" Target="../media/image203.wmf"/><Relationship Id="rId4" Type="http://schemas.openxmlformats.org/officeDocument/2006/relationships/image" Target="../media/image202.e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3" Type="http://schemas.openxmlformats.org/officeDocument/2006/relationships/image" Target="../media/image209.emf"/><Relationship Id="rId7" Type="http://schemas.openxmlformats.org/officeDocument/2006/relationships/image" Target="../media/image213.wmf"/><Relationship Id="rId2" Type="http://schemas.openxmlformats.org/officeDocument/2006/relationships/image" Target="../media/image208.emf"/><Relationship Id="rId1" Type="http://schemas.openxmlformats.org/officeDocument/2006/relationships/image" Target="../media/image207.wmf"/><Relationship Id="rId6" Type="http://schemas.openxmlformats.org/officeDocument/2006/relationships/image" Target="../media/image212.wmf"/><Relationship Id="rId11" Type="http://schemas.openxmlformats.org/officeDocument/2006/relationships/image" Target="../media/image217.wmf"/><Relationship Id="rId5" Type="http://schemas.openxmlformats.org/officeDocument/2006/relationships/image" Target="../media/image211.wmf"/><Relationship Id="rId10" Type="http://schemas.openxmlformats.org/officeDocument/2006/relationships/image" Target="../media/image216.wmf"/><Relationship Id="rId4" Type="http://schemas.openxmlformats.org/officeDocument/2006/relationships/image" Target="../media/image210.emf"/><Relationship Id="rId9" Type="http://schemas.openxmlformats.org/officeDocument/2006/relationships/image" Target="../media/image215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3" Type="http://schemas.openxmlformats.org/officeDocument/2006/relationships/image" Target="../media/image220.wmf"/><Relationship Id="rId7" Type="http://schemas.openxmlformats.org/officeDocument/2006/relationships/image" Target="../media/image224.emf"/><Relationship Id="rId2" Type="http://schemas.openxmlformats.org/officeDocument/2006/relationships/image" Target="../media/image219.wmf"/><Relationship Id="rId1" Type="http://schemas.openxmlformats.org/officeDocument/2006/relationships/image" Target="../media/image218.emf"/><Relationship Id="rId6" Type="http://schemas.openxmlformats.org/officeDocument/2006/relationships/image" Target="../media/image223.emf"/><Relationship Id="rId5" Type="http://schemas.openxmlformats.org/officeDocument/2006/relationships/image" Target="../media/image222.emf"/><Relationship Id="rId4" Type="http://schemas.openxmlformats.org/officeDocument/2006/relationships/image" Target="../media/image221.wmf"/><Relationship Id="rId9" Type="http://schemas.openxmlformats.org/officeDocument/2006/relationships/image" Target="../media/image226.e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emf"/><Relationship Id="rId3" Type="http://schemas.openxmlformats.org/officeDocument/2006/relationships/image" Target="../media/image229.emf"/><Relationship Id="rId7" Type="http://schemas.openxmlformats.org/officeDocument/2006/relationships/image" Target="../media/image214.wmf"/><Relationship Id="rId12" Type="http://schemas.openxmlformats.org/officeDocument/2006/relationships/image" Target="../media/image233.wmf"/><Relationship Id="rId2" Type="http://schemas.openxmlformats.org/officeDocument/2006/relationships/image" Target="../media/image228.emf"/><Relationship Id="rId1" Type="http://schemas.openxmlformats.org/officeDocument/2006/relationships/image" Target="../media/image227.emf"/><Relationship Id="rId6" Type="http://schemas.openxmlformats.org/officeDocument/2006/relationships/image" Target="../media/image213.wmf"/><Relationship Id="rId11" Type="http://schemas.openxmlformats.org/officeDocument/2006/relationships/image" Target="../media/image232.wmf"/><Relationship Id="rId5" Type="http://schemas.openxmlformats.org/officeDocument/2006/relationships/image" Target="../media/image212.wmf"/><Relationship Id="rId10" Type="http://schemas.openxmlformats.org/officeDocument/2006/relationships/image" Target="../media/image231.wmf"/><Relationship Id="rId4" Type="http://schemas.openxmlformats.org/officeDocument/2006/relationships/image" Target="../media/image211.wmf"/><Relationship Id="rId9" Type="http://schemas.openxmlformats.org/officeDocument/2006/relationships/image" Target="../media/image216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emf"/><Relationship Id="rId13" Type="http://schemas.openxmlformats.org/officeDocument/2006/relationships/image" Target="../media/image242.emf"/><Relationship Id="rId3" Type="http://schemas.openxmlformats.org/officeDocument/2006/relationships/image" Target="../media/image236.wmf"/><Relationship Id="rId7" Type="http://schemas.openxmlformats.org/officeDocument/2006/relationships/image" Target="../media/image240.emf"/><Relationship Id="rId12" Type="http://schemas.openxmlformats.org/officeDocument/2006/relationships/image" Target="../media/image214.wmf"/><Relationship Id="rId2" Type="http://schemas.openxmlformats.org/officeDocument/2006/relationships/image" Target="../media/image235.wmf"/><Relationship Id="rId1" Type="http://schemas.openxmlformats.org/officeDocument/2006/relationships/image" Target="../media/image234.wmf"/><Relationship Id="rId6" Type="http://schemas.openxmlformats.org/officeDocument/2006/relationships/image" Target="../media/image239.emf"/><Relationship Id="rId11" Type="http://schemas.openxmlformats.org/officeDocument/2006/relationships/image" Target="../media/image213.wmf"/><Relationship Id="rId5" Type="http://schemas.openxmlformats.org/officeDocument/2006/relationships/image" Target="../media/image238.wmf"/><Relationship Id="rId10" Type="http://schemas.openxmlformats.org/officeDocument/2006/relationships/image" Target="../media/image212.wmf"/><Relationship Id="rId4" Type="http://schemas.openxmlformats.org/officeDocument/2006/relationships/image" Target="../media/image237.wmf"/><Relationship Id="rId9" Type="http://schemas.openxmlformats.org/officeDocument/2006/relationships/image" Target="../media/image211.wmf"/><Relationship Id="rId14" Type="http://schemas.openxmlformats.org/officeDocument/2006/relationships/image" Target="../media/image216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wmf"/><Relationship Id="rId1" Type="http://schemas.openxmlformats.org/officeDocument/2006/relationships/image" Target="../media/image243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3" Type="http://schemas.openxmlformats.org/officeDocument/2006/relationships/image" Target="../media/image247.wmf"/><Relationship Id="rId7" Type="http://schemas.openxmlformats.org/officeDocument/2006/relationships/image" Target="../media/image251.e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Relationship Id="rId6" Type="http://schemas.openxmlformats.org/officeDocument/2006/relationships/image" Target="../media/image250.wmf"/><Relationship Id="rId11" Type="http://schemas.openxmlformats.org/officeDocument/2006/relationships/image" Target="../media/image255.wmf"/><Relationship Id="rId5" Type="http://schemas.openxmlformats.org/officeDocument/2006/relationships/image" Target="../media/image249.wmf"/><Relationship Id="rId10" Type="http://schemas.openxmlformats.org/officeDocument/2006/relationships/image" Target="../media/image254.wmf"/><Relationship Id="rId4" Type="http://schemas.openxmlformats.org/officeDocument/2006/relationships/image" Target="../media/image248.wmf"/><Relationship Id="rId9" Type="http://schemas.openxmlformats.org/officeDocument/2006/relationships/image" Target="../media/image253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wmf"/><Relationship Id="rId2" Type="http://schemas.openxmlformats.org/officeDocument/2006/relationships/image" Target="../media/image257.wmf"/><Relationship Id="rId1" Type="http://schemas.openxmlformats.org/officeDocument/2006/relationships/image" Target="../media/image256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wmf"/><Relationship Id="rId2" Type="http://schemas.openxmlformats.org/officeDocument/2006/relationships/image" Target="../media/image261.emf"/><Relationship Id="rId1" Type="http://schemas.openxmlformats.org/officeDocument/2006/relationships/image" Target="../media/image260.wmf"/><Relationship Id="rId5" Type="http://schemas.openxmlformats.org/officeDocument/2006/relationships/image" Target="../media/image264.wmf"/><Relationship Id="rId4" Type="http://schemas.openxmlformats.org/officeDocument/2006/relationships/image" Target="../media/image263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wmf"/><Relationship Id="rId1" Type="http://schemas.openxmlformats.org/officeDocument/2006/relationships/image" Target="../media/image265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Relationship Id="rId4" Type="http://schemas.openxmlformats.org/officeDocument/2006/relationships/image" Target="../media/image270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1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wmf"/><Relationship Id="rId2" Type="http://schemas.openxmlformats.org/officeDocument/2006/relationships/image" Target="../media/image273.emf"/><Relationship Id="rId1" Type="http://schemas.openxmlformats.org/officeDocument/2006/relationships/image" Target="../media/image272.emf"/><Relationship Id="rId6" Type="http://schemas.openxmlformats.org/officeDocument/2006/relationships/image" Target="../media/image277.wmf"/><Relationship Id="rId5" Type="http://schemas.openxmlformats.org/officeDocument/2006/relationships/image" Target="../media/image276.wmf"/><Relationship Id="rId4" Type="http://schemas.openxmlformats.org/officeDocument/2006/relationships/image" Target="../media/image275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wmf"/><Relationship Id="rId2" Type="http://schemas.openxmlformats.org/officeDocument/2006/relationships/image" Target="../media/image279.emf"/><Relationship Id="rId1" Type="http://schemas.openxmlformats.org/officeDocument/2006/relationships/image" Target="../media/image278.emf"/><Relationship Id="rId6" Type="http://schemas.openxmlformats.org/officeDocument/2006/relationships/image" Target="../media/image283.emf"/><Relationship Id="rId5" Type="http://schemas.openxmlformats.org/officeDocument/2006/relationships/image" Target="../media/image282.emf"/><Relationship Id="rId4" Type="http://schemas.openxmlformats.org/officeDocument/2006/relationships/image" Target="../media/image281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4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emf"/><Relationship Id="rId2" Type="http://schemas.openxmlformats.org/officeDocument/2006/relationships/image" Target="../media/image286.emf"/><Relationship Id="rId1" Type="http://schemas.openxmlformats.org/officeDocument/2006/relationships/image" Target="../media/image285.emf"/><Relationship Id="rId4" Type="http://schemas.openxmlformats.org/officeDocument/2006/relationships/image" Target="../media/image288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wmf"/><Relationship Id="rId2" Type="http://schemas.openxmlformats.org/officeDocument/2006/relationships/image" Target="../media/image290.wmf"/><Relationship Id="rId1" Type="http://schemas.openxmlformats.org/officeDocument/2006/relationships/image" Target="../media/image289.wmf"/><Relationship Id="rId4" Type="http://schemas.openxmlformats.org/officeDocument/2006/relationships/image" Target="../media/image292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wmf"/><Relationship Id="rId2" Type="http://schemas.openxmlformats.org/officeDocument/2006/relationships/image" Target="../media/image294.wmf"/><Relationship Id="rId1" Type="http://schemas.openxmlformats.org/officeDocument/2006/relationships/image" Target="../media/image293.wmf"/><Relationship Id="rId6" Type="http://schemas.openxmlformats.org/officeDocument/2006/relationships/image" Target="../media/image298.emf"/><Relationship Id="rId5" Type="http://schemas.openxmlformats.org/officeDocument/2006/relationships/image" Target="../media/image297.emf"/><Relationship Id="rId4" Type="http://schemas.openxmlformats.org/officeDocument/2006/relationships/image" Target="../media/image296.e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emf"/><Relationship Id="rId7" Type="http://schemas.openxmlformats.org/officeDocument/2006/relationships/image" Target="../media/image305.emf"/><Relationship Id="rId2" Type="http://schemas.openxmlformats.org/officeDocument/2006/relationships/image" Target="../media/image300.emf"/><Relationship Id="rId1" Type="http://schemas.openxmlformats.org/officeDocument/2006/relationships/image" Target="../media/image299.emf"/><Relationship Id="rId6" Type="http://schemas.openxmlformats.org/officeDocument/2006/relationships/image" Target="../media/image304.emf"/><Relationship Id="rId5" Type="http://schemas.openxmlformats.org/officeDocument/2006/relationships/image" Target="../media/image303.emf"/><Relationship Id="rId4" Type="http://schemas.openxmlformats.org/officeDocument/2006/relationships/image" Target="../media/image30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18144015-0DE2-412B-8650-06719E2B1F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CFC11A9-56D8-49FF-AF86-62250743FDD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89D837-18BE-432A-96EE-4B1A8DA92160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45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04981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A08B8E-2446-45D2-94A7-F794AF17E547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7C9F81-2CBF-4A8F-ACEA-856A9DB48A9B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90B3EB-2DC1-4D69-A5C9-4CA09DC3A30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9877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71D447-22CC-4A4F-9FA8-33FB0E376A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4964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5A93D4-089B-4027-83EE-FCE318438D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1837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84BE2-52FD-47F4-832C-419E10D5AD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932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E84F8-FCD5-4839-948B-9872ADCC0B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300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3325A7-2642-488E-A1C3-C665C72400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119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C6BA21-11CC-4717-B29D-62FC907716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7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A255CF-ADAE-46FA-B06D-8069063C6C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124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C9A940-AC51-4F3E-A625-3DCFC76F46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704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A8E2A0-32DF-45E9-9FEB-7B30737B0D3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535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C5C2C4-D920-4AEE-B3AC-E6E6F3AA94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540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1371600"/>
            <a:ext cx="4305300" cy="4724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305300" cy="2286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3810000"/>
            <a:ext cx="4305300" cy="2286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52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661697D-2532-4EE9-95C4-BF672776108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813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tx1"/>
                </a:solidFill>
              </a:defRPr>
            </a:lvl1pPr>
          </a:lstStyle>
          <a:p>
            <a:fld id="{7DB9A533-7F0E-4C80-AAAD-8F7184579C0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0.wmf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1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0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2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e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29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7.wmf"/><Relationship Id="rId20" Type="http://schemas.openxmlformats.org/officeDocument/2006/relationships/image" Target="../media/image39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41.e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6.wmf"/><Relationship Id="rId22" Type="http://schemas.openxmlformats.org/officeDocument/2006/relationships/image" Target="../media/image40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32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42.e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47.wmf"/><Relationship Id="rId22" Type="http://schemas.openxmlformats.org/officeDocument/2006/relationships/image" Target="../media/image51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4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6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66.wmf"/><Relationship Id="rId26" Type="http://schemas.openxmlformats.org/officeDocument/2006/relationships/image" Target="../media/image70.wmf"/><Relationship Id="rId3" Type="http://schemas.openxmlformats.org/officeDocument/2006/relationships/oleObject" Target="../embeddings/oleObject59.bin"/><Relationship Id="rId21" Type="http://schemas.openxmlformats.org/officeDocument/2006/relationships/oleObject" Target="../embeddings/oleObject68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6.bin"/><Relationship Id="rId25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20" Type="http://schemas.openxmlformats.org/officeDocument/2006/relationships/image" Target="../media/image67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3.bin"/><Relationship Id="rId24" Type="http://schemas.openxmlformats.org/officeDocument/2006/relationships/image" Target="../media/image69.wmf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23" Type="http://schemas.openxmlformats.org/officeDocument/2006/relationships/oleObject" Target="../embeddings/oleObject69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67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63.wmf"/><Relationship Id="rId22" Type="http://schemas.openxmlformats.org/officeDocument/2006/relationships/image" Target="../media/image6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76.wmf"/><Relationship Id="rId4" Type="http://schemas.openxmlformats.org/officeDocument/2006/relationships/image" Target="../media/image73.emf"/><Relationship Id="rId9" Type="http://schemas.openxmlformats.org/officeDocument/2006/relationships/oleObject" Target="../embeddings/oleObject7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4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81.w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92.wmf"/><Relationship Id="rId26" Type="http://schemas.openxmlformats.org/officeDocument/2006/relationships/image" Target="../media/image96.wmf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93.bin"/><Relationship Id="rId25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20" Type="http://schemas.openxmlformats.org/officeDocument/2006/relationships/image" Target="../media/image93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95.e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88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90.wmf"/><Relationship Id="rId22" Type="http://schemas.openxmlformats.org/officeDocument/2006/relationships/image" Target="../media/image94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104.e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01.e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3.emf"/><Relationship Id="rId20" Type="http://schemas.openxmlformats.org/officeDocument/2006/relationships/image" Target="../media/image105.e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100.e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02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13.wmf"/><Relationship Id="rId26" Type="http://schemas.openxmlformats.org/officeDocument/2006/relationships/image" Target="../media/image117.emf"/><Relationship Id="rId3" Type="http://schemas.openxmlformats.org/officeDocument/2006/relationships/oleObject" Target="../embeddings/oleObject107.bin"/><Relationship Id="rId21" Type="http://schemas.openxmlformats.org/officeDocument/2006/relationships/oleObject" Target="../embeddings/oleObject116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14.bin"/><Relationship Id="rId25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2.emf"/><Relationship Id="rId20" Type="http://schemas.openxmlformats.org/officeDocument/2006/relationships/image" Target="../media/image11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11.bin"/><Relationship Id="rId24" Type="http://schemas.openxmlformats.org/officeDocument/2006/relationships/image" Target="../media/image116.wmf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17.bin"/><Relationship Id="rId28" Type="http://schemas.openxmlformats.org/officeDocument/2006/relationships/image" Target="../media/image118.emf"/><Relationship Id="rId10" Type="http://schemas.openxmlformats.org/officeDocument/2006/relationships/image" Target="../media/image109.wmf"/><Relationship Id="rId19" Type="http://schemas.openxmlformats.org/officeDocument/2006/relationships/oleObject" Target="../embeddings/oleObject115.bin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11.wmf"/><Relationship Id="rId22" Type="http://schemas.openxmlformats.org/officeDocument/2006/relationships/image" Target="../media/image115.wmf"/><Relationship Id="rId27" Type="http://schemas.openxmlformats.org/officeDocument/2006/relationships/oleObject" Target="../embeddings/oleObject119.bin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.wmf"/><Relationship Id="rId18" Type="http://schemas.openxmlformats.org/officeDocument/2006/relationships/oleObject" Target="../embeddings/oleObject127.bin"/><Relationship Id="rId26" Type="http://schemas.openxmlformats.org/officeDocument/2006/relationships/oleObject" Target="../embeddings/oleObject131.bin"/><Relationship Id="rId39" Type="http://schemas.openxmlformats.org/officeDocument/2006/relationships/image" Target="../media/image136.emf"/><Relationship Id="rId21" Type="http://schemas.openxmlformats.org/officeDocument/2006/relationships/image" Target="../media/image127.emf"/><Relationship Id="rId34" Type="http://schemas.openxmlformats.org/officeDocument/2006/relationships/oleObject" Target="../embeddings/oleObject135.bin"/><Relationship Id="rId7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29" Type="http://schemas.openxmlformats.org/officeDocument/2006/relationships/image" Target="../media/image131.emf"/><Relationship Id="rId41" Type="http://schemas.openxmlformats.org/officeDocument/2006/relationships/image" Target="../media/image137.emf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22.emf"/><Relationship Id="rId24" Type="http://schemas.openxmlformats.org/officeDocument/2006/relationships/oleObject" Target="../embeddings/oleObject130.bin"/><Relationship Id="rId32" Type="http://schemas.openxmlformats.org/officeDocument/2006/relationships/oleObject" Target="../embeddings/oleObject134.bin"/><Relationship Id="rId37" Type="http://schemas.openxmlformats.org/officeDocument/2006/relationships/image" Target="../media/image135.emf"/><Relationship Id="rId40" Type="http://schemas.openxmlformats.org/officeDocument/2006/relationships/oleObject" Target="../embeddings/oleObject138.bin"/><Relationship Id="rId5" Type="http://schemas.openxmlformats.org/officeDocument/2006/relationships/image" Target="../media/image119.wmf"/><Relationship Id="rId15" Type="http://schemas.openxmlformats.org/officeDocument/2006/relationships/image" Target="../media/image124.wmf"/><Relationship Id="rId23" Type="http://schemas.openxmlformats.org/officeDocument/2006/relationships/image" Target="../media/image128.emf"/><Relationship Id="rId28" Type="http://schemas.openxmlformats.org/officeDocument/2006/relationships/oleObject" Target="../embeddings/oleObject132.bin"/><Relationship Id="rId36" Type="http://schemas.openxmlformats.org/officeDocument/2006/relationships/oleObject" Target="../embeddings/oleObject136.bin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126.emf"/><Relationship Id="rId31" Type="http://schemas.openxmlformats.org/officeDocument/2006/relationships/image" Target="../media/image132.wmf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21.emf"/><Relationship Id="rId14" Type="http://schemas.openxmlformats.org/officeDocument/2006/relationships/oleObject" Target="../embeddings/oleObject125.bin"/><Relationship Id="rId22" Type="http://schemas.openxmlformats.org/officeDocument/2006/relationships/oleObject" Target="../embeddings/oleObject129.bin"/><Relationship Id="rId27" Type="http://schemas.openxmlformats.org/officeDocument/2006/relationships/image" Target="../media/image130.emf"/><Relationship Id="rId30" Type="http://schemas.openxmlformats.org/officeDocument/2006/relationships/oleObject" Target="../embeddings/oleObject133.bin"/><Relationship Id="rId35" Type="http://schemas.openxmlformats.org/officeDocument/2006/relationships/image" Target="../media/image134.emf"/><Relationship Id="rId8" Type="http://schemas.openxmlformats.org/officeDocument/2006/relationships/oleObject" Target="../embeddings/oleObject122.bin"/><Relationship Id="rId3" Type="http://schemas.openxmlformats.org/officeDocument/2006/relationships/notesSlide" Target="../notesSlides/notesSlide3.xml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25.emf"/><Relationship Id="rId25" Type="http://schemas.openxmlformats.org/officeDocument/2006/relationships/image" Target="../media/image129.wmf"/><Relationship Id="rId33" Type="http://schemas.openxmlformats.org/officeDocument/2006/relationships/image" Target="../media/image133.wmf"/><Relationship Id="rId38" Type="http://schemas.openxmlformats.org/officeDocument/2006/relationships/oleObject" Target="../embeddings/oleObject13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44.wmf"/><Relationship Id="rId3" Type="http://schemas.openxmlformats.org/officeDocument/2006/relationships/oleObject" Target="../embeddings/oleObject139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1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10" Type="http://schemas.openxmlformats.org/officeDocument/2006/relationships/image" Target="../media/image141.wmf"/><Relationship Id="rId19" Type="http://schemas.openxmlformats.org/officeDocument/2006/relationships/oleObject" Target="../embeddings/oleObject147.bin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42.wmf"/><Relationship Id="rId22" Type="http://schemas.openxmlformats.org/officeDocument/2006/relationships/image" Target="../media/image146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e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54.emf"/><Relationship Id="rId3" Type="http://schemas.openxmlformats.org/officeDocument/2006/relationships/oleObject" Target="../embeddings/oleObject149.bin"/><Relationship Id="rId21" Type="http://schemas.openxmlformats.org/officeDocument/2006/relationships/oleObject" Target="../embeddings/oleObject158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51.emf"/><Relationship Id="rId17" Type="http://schemas.openxmlformats.org/officeDocument/2006/relationships/oleObject" Target="../embeddings/oleObject1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3.emf"/><Relationship Id="rId20" Type="http://schemas.openxmlformats.org/officeDocument/2006/relationships/image" Target="../media/image155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8.e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10" Type="http://schemas.openxmlformats.org/officeDocument/2006/relationships/image" Target="../media/image150.emf"/><Relationship Id="rId19" Type="http://schemas.openxmlformats.org/officeDocument/2006/relationships/oleObject" Target="../embeddings/oleObject157.bin"/><Relationship Id="rId4" Type="http://schemas.openxmlformats.org/officeDocument/2006/relationships/image" Target="../media/image147.e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52.emf"/><Relationship Id="rId22" Type="http://schemas.openxmlformats.org/officeDocument/2006/relationships/image" Target="../media/image156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emf"/><Relationship Id="rId13" Type="http://schemas.openxmlformats.org/officeDocument/2006/relationships/oleObject" Target="../embeddings/oleObject164.bin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8.e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60.emf"/><Relationship Id="rId4" Type="http://schemas.openxmlformats.org/officeDocument/2006/relationships/image" Target="../media/image157.e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62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emf"/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25.wmf"/><Relationship Id="rId26" Type="http://schemas.openxmlformats.org/officeDocument/2006/relationships/image" Target="../media/image173.wmf"/><Relationship Id="rId3" Type="http://schemas.openxmlformats.org/officeDocument/2006/relationships/oleObject" Target="../embeddings/oleObject165.bin"/><Relationship Id="rId21" Type="http://schemas.openxmlformats.org/officeDocument/2006/relationships/oleObject" Target="../embeddings/oleObject174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172.bin"/><Relationship Id="rId25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9.wmf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4.emf"/><Relationship Id="rId11" Type="http://schemas.openxmlformats.org/officeDocument/2006/relationships/oleObject" Target="../embeddings/oleObject169.bin"/><Relationship Id="rId24" Type="http://schemas.openxmlformats.org/officeDocument/2006/relationships/image" Target="../media/image172.emf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23" Type="http://schemas.openxmlformats.org/officeDocument/2006/relationships/oleObject" Target="../embeddings/oleObject175.bin"/><Relationship Id="rId10" Type="http://schemas.openxmlformats.org/officeDocument/2006/relationships/image" Target="../media/image166.emf"/><Relationship Id="rId19" Type="http://schemas.openxmlformats.org/officeDocument/2006/relationships/oleObject" Target="../embeddings/oleObject173.bin"/><Relationship Id="rId4" Type="http://schemas.openxmlformats.org/officeDocument/2006/relationships/image" Target="../media/image163.e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68.wmf"/><Relationship Id="rId22" Type="http://schemas.openxmlformats.org/officeDocument/2006/relationships/image" Target="../media/image171.w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2.bin"/><Relationship Id="rId18" Type="http://schemas.openxmlformats.org/officeDocument/2006/relationships/image" Target="../media/image181.emf"/><Relationship Id="rId26" Type="http://schemas.openxmlformats.org/officeDocument/2006/relationships/image" Target="../media/image185.emf"/><Relationship Id="rId21" Type="http://schemas.openxmlformats.org/officeDocument/2006/relationships/oleObject" Target="../embeddings/oleObject186.bin"/><Relationship Id="rId34" Type="http://schemas.openxmlformats.org/officeDocument/2006/relationships/image" Target="../media/image189.emf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78.wmf"/><Relationship Id="rId17" Type="http://schemas.openxmlformats.org/officeDocument/2006/relationships/oleObject" Target="../embeddings/oleObject184.bin"/><Relationship Id="rId25" Type="http://schemas.openxmlformats.org/officeDocument/2006/relationships/oleObject" Target="../embeddings/oleObject188.bin"/><Relationship Id="rId33" Type="http://schemas.openxmlformats.org/officeDocument/2006/relationships/oleObject" Target="../embeddings/oleObject192.bin"/><Relationship Id="rId38" Type="http://schemas.openxmlformats.org/officeDocument/2006/relationships/image" Target="../media/image19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0.wmf"/><Relationship Id="rId20" Type="http://schemas.openxmlformats.org/officeDocument/2006/relationships/image" Target="../media/image182.emf"/><Relationship Id="rId29" Type="http://schemas.openxmlformats.org/officeDocument/2006/relationships/oleObject" Target="../embeddings/oleObject190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81.bin"/><Relationship Id="rId24" Type="http://schemas.openxmlformats.org/officeDocument/2006/relationships/image" Target="../media/image184.emf"/><Relationship Id="rId32" Type="http://schemas.openxmlformats.org/officeDocument/2006/relationships/image" Target="../media/image188.emf"/><Relationship Id="rId37" Type="http://schemas.openxmlformats.org/officeDocument/2006/relationships/oleObject" Target="../embeddings/oleObject194.bin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3.bin"/><Relationship Id="rId23" Type="http://schemas.openxmlformats.org/officeDocument/2006/relationships/oleObject" Target="../embeddings/oleObject187.bin"/><Relationship Id="rId28" Type="http://schemas.openxmlformats.org/officeDocument/2006/relationships/image" Target="../media/image186.emf"/><Relationship Id="rId36" Type="http://schemas.openxmlformats.org/officeDocument/2006/relationships/image" Target="../media/image190.wmf"/><Relationship Id="rId10" Type="http://schemas.openxmlformats.org/officeDocument/2006/relationships/image" Target="../media/image177.emf"/><Relationship Id="rId19" Type="http://schemas.openxmlformats.org/officeDocument/2006/relationships/oleObject" Target="../embeddings/oleObject185.bin"/><Relationship Id="rId31" Type="http://schemas.openxmlformats.org/officeDocument/2006/relationships/oleObject" Target="../embeddings/oleObject191.bin"/><Relationship Id="rId4" Type="http://schemas.openxmlformats.org/officeDocument/2006/relationships/image" Target="../media/image174.e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179.emf"/><Relationship Id="rId22" Type="http://schemas.openxmlformats.org/officeDocument/2006/relationships/image" Target="../media/image183.wmf"/><Relationship Id="rId27" Type="http://schemas.openxmlformats.org/officeDocument/2006/relationships/oleObject" Target="../embeddings/oleObject189.bin"/><Relationship Id="rId30" Type="http://schemas.openxmlformats.org/officeDocument/2006/relationships/image" Target="../media/image187.emf"/><Relationship Id="rId35" Type="http://schemas.openxmlformats.org/officeDocument/2006/relationships/oleObject" Target="../embeddings/oleObject193.bin"/><Relationship Id="rId8" Type="http://schemas.openxmlformats.org/officeDocument/2006/relationships/image" Target="../media/image176.wmf"/><Relationship Id="rId3" Type="http://schemas.openxmlformats.org/officeDocument/2006/relationships/oleObject" Target="../embeddings/oleObject177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200.bin"/><Relationship Id="rId18" Type="http://schemas.openxmlformats.org/officeDocument/2006/relationships/image" Target="../media/image197.emf"/><Relationship Id="rId3" Type="http://schemas.openxmlformats.org/officeDocument/2006/relationships/oleObject" Target="../embeddings/oleObject195.bin"/><Relationship Id="rId21" Type="http://schemas.openxmlformats.org/officeDocument/2006/relationships/oleObject" Target="../embeddings/oleObject204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196.wmf"/><Relationship Id="rId17" Type="http://schemas.openxmlformats.org/officeDocument/2006/relationships/oleObject" Target="../embeddings/oleObject2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6.wmf"/><Relationship Id="rId20" Type="http://schemas.openxmlformats.org/officeDocument/2006/relationships/image" Target="../media/image178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5" Type="http://schemas.openxmlformats.org/officeDocument/2006/relationships/oleObject" Target="../embeddings/oleObject201.bin"/><Relationship Id="rId10" Type="http://schemas.openxmlformats.org/officeDocument/2006/relationships/image" Target="../media/image195.wmf"/><Relationship Id="rId19" Type="http://schemas.openxmlformats.org/officeDocument/2006/relationships/oleObject" Target="../embeddings/oleObject203.bin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198.bin"/><Relationship Id="rId14" Type="http://schemas.openxmlformats.org/officeDocument/2006/relationships/image" Target="../media/image175.wmf"/><Relationship Id="rId22" Type="http://schemas.openxmlformats.org/officeDocument/2006/relationships/image" Target="../media/image198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emf"/><Relationship Id="rId13" Type="http://schemas.openxmlformats.org/officeDocument/2006/relationships/oleObject" Target="../embeddings/oleObject210.bin"/><Relationship Id="rId18" Type="http://schemas.openxmlformats.org/officeDocument/2006/relationships/image" Target="../media/image206.emf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203.wmf"/><Relationship Id="rId17" Type="http://schemas.openxmlformats.org/officeDocument/2006/relationships/oleObject" Target="../embeddings/oleObject2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5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00.wmf"/><Relationship Id="rId11" Type="http://schemas.openxmlformats.org/officeDocument/2006/relationships/oleObject" Target="../embeddings/oleObject209.bin"/><Relationship Id="rId5" Type="http://schemas.openxmlformats.org/officeDocument/2006/relationships/oleObject" Target="../embeddings/oleObject206.bin"/><Relationship Id="rId15" Type="http://schemas.openxmlformats.org/officeDocument/2006/relationships/oleObject" Target="../embeddings/oleObject211.bin"/><Relationship Id="rId10" Type="http://schemas.openxmlformats.org/officeDocument/2006/relationships/image" Target="../media/image202.emf"/><Relationship Id="rId4" Type="http://schemas.openxmlformats.org/officeDocument/2006/relationships/image" Target="../media/image199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204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emf"/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214.wmf"/><Relationship Id="rId3" Type="http://schemas.openxmlformats.org/officeDocument/2006/relationships/oleObject" Target="../embeddings/oleObject213.bin"/><Relationship Id="rId21" Type="http://schemas.openxmlformats.org/officeDocument/2006/relationships/oleObject" Target="../embeddings/oleObject222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211.wmf"/><Relationship Id="rId17" Type="http://schemas.openxmlformats.org/officeDocument/2006/relationships/oleObject" Target="../embeddings/oleObject22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3.wmf"/><Relationship Id="rId20" Type="http://schemas.openxmlformats.org/officeDocument/2006/relationships/image" Target="../media/image215.e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08.emf"/><Relationship Id="rId11" Type="http://schemas.openxmlformats.org/officeDocument/2006/relationships/oleObject" Target="../embeddings/oleObject217.bin"/><Relationship Id="rId24" Type="http://schemas.openxmlformats.org/officeDocument/2006/relationships/image" Target="../media/image217.wmf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23" Type="http://schemas.openxmlformats.org/officeDocument/2006/relationships/oleObject" Target="../embeddings/oleObject223.bin"/><Relationship Id="rId10" Type="http://schemas.openxmlformats.org/officeDocument/2006/relationships/image" Target="../media/image210.emf"/><Relationship Id="rId19" Type="http://schemas.openxmlformats.org/officeDocument/2006/relationships/oleObject" Target="../embeddings/oleObject221.bin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212.wmf"/><Relationship Id="rId22" Type="http://schemas.openxmlformats.org/officeDocument/2006/relationships/image" Target="../media/image216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oleObject" Target="../embeddings/oleObject229.bin"/><Relationship Id="rId18" Type="http://schemas.openxmlformats.org/officeDocument/2006/relationships/image" Target="../media/image225.wmf"/><Relationship Id="rId3" Type="http://schemas.openxmlformats.org/officeDocument/2006/relationships/oleObject" Target="../embeddings/oleObject224.bin"/><Relationship Id="rId7" Type="http://schemas.openxmlformats.org/officeDocument/2006/relationships/oleObject" Target="../embeddings/oleObject226.bin"/><Relationship Id="rId12" Type="http://schemas.openxmlformats.org/officeDocument/2006/relationships/image" Target="../media/image222.emf"/><Relationship Id="rId17" Type="http://schemas.openxmlformats.org/officeDocument/2006/relationships/oleObject" Target="../embeddings/oleObject2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4.emf"/><Relationship Id="rId20" Type="http://schemas.openxmlformats.org/officeDocument/2006/relationships/image" Target="../media/image226.e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9.wmf"/><Relationship Id="rId11" Type="http://schemas.openxmlformats.org/officeDocument/2006/relationships/oleObject" Target="../embeddings/oleObject228.bin"/><Relationship Id="rId5" Type="http://schemas.openxmlformats.org/officeDocument/2006/relationships/oleObject" Target="../embeddings/oleObject225.bin"/><Relationship Id="rId15" Type="http://schemas.openxmlformats.org/officeDocument/2006/relationships/oleObject" Target="../embeddings/oleObject230.bin"/><Relationship Id="rId10" Type="http://schemas.openxmlformats.org/officeDocument/2006/relationships/image" Target="../media/image221.wmf"/><Relationship Id="rId19" Type="http://schemas.openxmlformats.org/officeDocument/2006/relationships/oleObject" Target="../embeddings/oleObject232.bin"/><Relationship Id="rId4" Type="http://schemas.openxmlformats.org/officeDocument/2006/relationships/image" Target="../media/image218.emf"/><Relationship Id="rId9" Type="http://schemas.openxmlformats.org/officeDocument/2006/relationships/oleObject" Target="../embeddings/oleObject227.bin"/><Relationship Id="rId14" Type="http://schemas.openxmlformats.org/officeDocument/2006/relationships/image" Target="../media/image223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13" Type="http://schemas.openxmlformats.org/officeDocument/2006/relationships/oleObject" Target="../embeddings/oleObject238.bin"/><Relationship Id="rId18" Type="http://schemas.openxmlformats.org/officeDocument/2006/relationships/image" Target="../media/image230.emf"/><Relationship Id="rId26" Type="http://schemas.openxmlformats.org/officeDocument/2006/relationships/image" Target="../media/image233.wmf"/><Relationship Id="rId3" Type="http://schemas.openxmlformats.org/officeDocument/2006/relationships/oleObject" Target="../embeddings/oleObject233.bin"/><Relationship Id="rId21" Type="http://schemas.openxmlformats.org/officeDocument/2006/relationships/oleObject" Target="../embeddings/oleObject242.bin"/><Relationship Id="rId7" Type="http://schemas.openxmlformats.org/officeDocument/2006/relationships/oleObject" Target="../embeddings/oleObject235.bin"/><Relationship Id="rId12" Type="http://schemas.openxmlformats.org/officeDocument/2006/relationships/image" Target="../media/image212.wmf"/><Relationship Id="rId17" Type="http://schemas.openxmlformats.org/officeDocument/2006/relationships/oleObject" Target="../embeddings/oleObject240.bin"/><Relationship Id="rId25" Type="http://schemas.openxmlformats.org/officeDocument/2006/relationships/oleObject" Target="../embeddings/oleObject2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4.wmf"/><Relationship Id="rId20" Type="http://schemas.openxmlformats.org/officeDocument/2006/relationships/image" Target="../media/image216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8.emf"/><Relationship Id="rId11" Type="http://schemas.openxmlformats.org/officeDocument/2006/relationships/oleObject" Target="../embeddings/oleObject237.bin"/><Relationship Id="rId24" Type="http://schemas.openxmlformats.org/officeDocument/2006/relationships/image" Target="../media/image232.wmf"/><Relationship Id="rId5" Type="http://schemas.openxmlformats.org/officeDocument/2006/relationships/oleObject" Target="../embeddings/oleObject234.bin"/><Relationship Id="rId15" Type="http://schemas.openxmlformats.org/officeDocument/2006/relationships/oleObject" Target="../embeddings/oleObject239.bin"/><Relationship Id="rId23" Type="http://schemas.openxmlformats.org/officeDocument/2006/relationships/oleObject" Target="../embeddings/oleObject243.bin"/><Relationship Id="rId10" Type="http://schemas.openxmlformats.org/officeDocument/2006/relationships/image" Target="../media/image211.wmf"/><Relationship Id="rId19" Type="http://schemas.openxmlformats.org/officeDocument/2006/relationships/oleObject" Target="../embeddings/oleObject241.bin"/><Relationship Id="rId4" Type="http://schemas.openxmlformats.org/officeDocument/2006/relationships/image" Target="../media/image227.emf"/><Relationship Id="rId9" Type="http://schemas.openxmlformats.org/officeDocument/2006/relationships/oleObject" Target="../embeddings/oleObject236.bin"/><Relationship Id="rId14" Type="http://schemas.openxmlformats.org/officeDocument/2006/relationships/image" Target="../media/image213.wmf"/><Relationship Id="rId22" Type="http://schemas.openxmlformats.org/officeDocument/2006/relationships/image" Target="../media/image231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13" Type="http://schemas.openxmlformats.org/officeDocument/2006/relationships/oleObject" Target="../embeddings/oleObject250.bin"/><Relationship Id="rId18" Type="http://schemas.openxmlformats.org/officeDocument/2006/relationships/image" Target="../media/image241.emf"/><Relationship Id="rId26" Type="http://schemas.openxmlformats.org/officeDocument/2006/relationships/image" Target="../media/image214.wmf"/><Relationship Id="rId3" Type="http://schemas.openxmlformats.org/officeDocument/2006/relationships/oleObject" Target="../embeddings/oleObject245.bin"/><Relationship Id="rId21" Type="http://schemas.openxmlformats.org/officeDocument/2006/relationships/oleObject" Target="../embeddings/oleObject254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38.wmf"/><Relationship Id="rId17" Type="http://schemas.openxmlformats.org/officeDocument/2006/relationships/oleObject" Target="../embeddings/oleObject252.bin"/><Relationship Id="rId25" Type="http://schemas.openxmlformats.org/officeDocument/2006/relationships/oleObject" Target="../embeddings/oleObject2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0.emf"/><Relationship Id="rId20" Type="http://schemas.openxmlformats.org/officeDocument/2006/relationships/image" Target="../media/image211.wmf"/><Relationship Id="rId29" Type="http://schemas.openxmlformats.org/officeDocument/2006/relationships/oleObject" Target="../embeddings/oleObject258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35.wmf"/><Relationship Id="rId11" Type="http://schemas.openxmlformats.org/officeDocument/2006/relationships/oleObject" Target="../embeddings/oleObject249.bin"/><Relationship Id="rId24" Type="http://schemas.openxmlformats.org/officeDocument/2006/relationships/image" Target="../media/image213.wmf"/><Relationship Id="rId5" Type="http://schemas.openxmlformats.org/officeDocument/2006/relationships/oleObject" Target="../embeddings/oleObject246.bin"/><Relationship Id="rId15" Type="http://schemas.openxmlformats.org/officeDocument/2006/relationships/oleObject" Target="../embeddings/oleObject251.bin"/><Relationship Id="rId23" Type="http://schemas.openxmlformats.org/officeDocument/2006/relationships/oleObject" Target="../embeddings/oleObject255.bin"/><Relationship Id="rId28" Type="http://schemas.openxmlformats.org/officeDocument/2006/relationships/image" Target="../media/image242.emf"/><Relationship Id="rId10" Type="http://schemas.openxmlformats.org/officeDocument/2006/relationships/image" Target="../media/image237.wmf"/><Relationship Id="rId19" Type="http://schemas.openxmlformats.org/officeDocument/2006/relationships/oleObject" Target="../embeddings/oleObject253.bin"/><Relationship Id="rId4" Type="http://schemas.openxmlformats.org/officeDocument/2006/relationships/image" Target="../media/image234.w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239.emf"/><Relationship Id="rId22" Type="http://schemas.openxmlformats.org/officeDocument/2006/relationships/image" Target="../media/image212.wmf"/><Relationship Id="rId27" Type="http://schemas.openxmlformats.org/officeDocument/2006/relationships/oleObject" Target="../embeddings/oleObject257.bin"/><Relationship Id="rId30" Type="http://schemas.openxmlformats.org/officeDocument/2006/relationships/image" Target="../media/image216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44.w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243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66.bin"/><Relationship Id="rId18" Type="http://schemas.openxmlformats.org/officeDocument/2006/relationships/image" Target="../media/image252.wmf"/><Relationship Id="rId3" Type="http://schemas.openxmlformats.org/officeDocument/2006/relationships/oleObject" Target="../embeddings/oleObject261.bin"/><Relationship Id="rId21" Type="http://schemas.openxmlformats.org/officeDocument/2006/relationships/oleObject" Target="../embeddings/oleObject270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49.wmf"/><Relationship Id="rId17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1.emf"/><Relationship Id="rId20" Type="http://schemas.openxmlformats.org/officeDocument/2006/relationships/image" Target="../media/image253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265.bin"/><Relationship Id="rId24" Type="http://schemas.openxmlformats.org/officeDocument/2006/relationships/image" Target="../media/image255.wmf"/><Relationship Id="rId5" Type="http://schemas.openxmlformats.org/officeDocument/2006/relationships/oleObject" Target="../embeddings/oleObject262.bin"/><Relationship Id="rId15" Type="http://schemas.openxmlformats.org/officeDocument/2006/relationships/oleObject" Target="../embeddings/oleObject267.bin"/><Relationship Id="rId23" Type="http://schemas.openxmlformats.org/officeDocument/2006/relationships/oleObject" Target="../embeddings/oleObject271.bin"/><Relationship Id="rId10" Type="http://schemas.openxmlformats.org/officeDocument/2006/relationships/image" Target="../media/image248.wmf"/><Relationship Id="rId19" Type="http://schemas.openxmlformats.org/officeDocument/2006/relationships/oleObject" Target="../embeddings/oleObject269.bin"/><Relationship Id="rId4" Type="http://schemas.openxmlformats.org/officeDocument/2006/relationships/image" Target="../media/image245.w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250.wmf"/><Relationship Id="rId22" Type="http://schemas.openxmlformats.org/officeDocument/2006/relationships/image" Target="../media/image25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3" Type="http://schemas.openxmlformats.org/officeDocument/2006/relationships/oleObject" Target="../embeddings/oleObject272.bin"/><Relationship Id="rId7" Type="http://schemas.openxmlformats.org/officeDocument/2006/relationships/oleObject" Target="../embeddings/oleObject2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57.wmf"/><Relationship Id="rId5" Type="http://schemas.openxmlformats.org/officeDocument/2006/relationships/oleObject" Target="../embeddings/oleObject273.bin"/><Relationship Id="rId4" Type="http://schemas.openxmlformats.org/officeDocument/2006/relationships/image" Target="../media/image256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9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2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61.emf"/><Relationship Id="rId11" Type="http://schemas.openxmlformats.org/officeDocument/2006/relationships/oleObject" Target="../embeddings/oleObject279.bin"/><Relationship Id="rId5" Type="http://schemas.openxmlformats.org/officeDocument/2006/relationships/oleObject" Target="../embeddings/oleObject276.bin"/><Relationship Id="rId10" Type="http://schemas.openxmlformats.org/officeDocument/2006/relationships/image" Target="../media/image263.emf"/><Relationship Id="rId4" Type="http://schemas.openxmlformats.org/officeDocument/2006/relationships/image" Target="../media/image260.wmf"/><Relationship Id="rId9" Type="http://schemas.openxmlformats.org/officeDocument/2006/relationships/oleObject" Target="../embeddings/oleObject278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66.wmf"/><Relationship Id="rId5" Type="http://schemas.openxmlformats.org/officeDocument/2006/relationships/oleObject" Target="../embeddings/oleObject281.bin"/><Relationship Id="rId4" Type="http://schemas.openxmlformats.org/officeDocument/2006/relationships/image" Target="../media/image265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3" Type="http://schemas.openxmlformats.org/officeDocument/2006/relationships/oleObject" Target="../embeddings/oleObject282.bin"/><Relationship Id="rId7" Type="http://schemas.openxmlformats.org/officeDocument/2006/relationships/oleObject" Target="../embeddings/oleObject2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68.wmf"/><Relationship Id="rId5" Type="http://schemas.openxmlformats.org/officeDocument/2006/relationships/oleObject" Target="../embeddings/oleObject283.bin"/><Relationship Id="rId10" Type="http://schemas.openxmlformats.org/officeDocument/2006/relationships/image" Target="../media/image270.wmf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285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271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13" Type="http://schemas.openxmlformats.org/officeDocument/2006/relationships/oleObject" Target="../embeddings/oleObject292.bin"/><Relationship Id="rId3" Type="http://schemas.openxmlformats.org/officeDocument/2006/relationships/oleObject" Target="../embeddings/oleObject287.bin"/><Relationship Id="rId7" Type="http://schemas.openxmlformats.org/officeDocument/2006/relationships/oleObject" Target="../embeddings/oleObject289.bin"/><Relationship Id="rId12" Type="http://schemas.openxmlformats.org/officeDocument/2006/relationships/image" Target="../media/image2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73.emf"/><Relationship Id="rId11" Type="http://schemas.openxmlformats.org/officeDocument/2006/relationships/oleObject" Target="../embeddings/oleObject291.bin"/><Relationship Id="rId5" Type="http://schemas.openxmlformats.org/officeDocument/2006/relationships/oleObject" Target="../embeddings/oleObject288.bin"/><Relationship Id="rId10" Type="http://schemas.openxmlformats.org/officeDocument/2006/relationships/image" Target="../media/image275.wmf"/><Relationship Id="rId4" Type="http://schemas.openxmlformats.org/officeDocument/2006/relationships/image" Target="../media/image272.emf"/><Relationship Id="rId9" Type="http://schemas.openxmlformats.org/officeDocument/2006/relationships/oleObject" Target="../embeddings/oleObject290.bin"/><Relationship Id="rId14" Type="http://schemas.openxmlformats.org/officeDocument/2006/relationships/image" Target="../media/image277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13" Type="http://schemas.openxmlformats.org/officeDocument/2006/relationships/oleObject" Target="../embeddings/oleObject298.bin"/><Relationship Id="rId3" Type="http://schemas.openxmlformats.org/officeDocument/2006/relationships/oleObject" Target="../embeddings/oleObject293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28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79.emf"/><Relationship Id="rId11" Type="http://schemas.openxmlformats.org/officeDocument/2006/relationships/oleObject" Target="../embeddings/oleObject297.bin"/><Relationship Id="rId5" Type="http://schemas.openxmlformats.org/officeDocument/2006/relationships/oleObject" Target="../embeddings/oleObject294.bin"/><Relationship Id="rId10" Type="http://schemas.openxmlformats.org/officeDocument/2006/relationships/image" Target="../media/image281.wmf"/><Relationship Id="rId4" Type="http://schemas.openxmlformats.org/officeDocument/2006/relationships/image" Target="../media/image278.e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283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284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emf"/><Relationship Id="rId3" Type="http://schemas.openxmlformats.org/officeDocument/2006/relationships/oleObject" Target="../embeddings/oleObject300.bin"/><Relationship Id="rId7" Type="http://schemas.openxmlformats.org/officeDocument/2006/relationships/oleObject" Target="../embeddings/oleObject3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86.emf"/><Relationship Id="rId5" Type="http://schemas.openxmlformats.org/officeDocument/2006/relationships/oleObject" Target="../embeddings/oleObject301.bin"/><Relationship Id="rId10" Type="http://schemas.openxmlformats.org/officeDocument/2006/relationships/image" Target="../media/image288.emf"/><Relationship Id="rId4" Type="http://schemas.openxmlformats.org/officeDocument/2006/relationships/image" Target="../media/image285.emf"/><Relationship Id="rId9" Type="http://schemas.openxmlformats.org/officeDocument/2006/relationships/oleObject" Target="../embeddings/oleObject303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3" Type="http://schemas.openxmlformats.org/officeDocument/2006/relationships/oleObject" Target="../embeddings/oleObject304.bin"/><Relationship Id="rId7" Type="http://schemas.openxmlformats.org/officeDocument/2006/relationships/oleObject" Target="../embeddings/oleObject3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90.wmf"/><Relationship Id="rId5" Type="http://schemas.openxmlformats.org/officeDocument/2006/relationships/oleObject" Target="../embeddings/oleObject305.bin"/><Relationship Id="rId10" Type="http://schemas.openxmlformats.org/officeDocument/2006/relationships/image" Target="../media/image292.emf"/><Relationship Id="rId4" Type="http://schemas.openxmlformats.org/officeDocument/2006/relationships/image" Target="../media/image289.wmf"/><Relationship Id="rId9" Type="http://schemas.openxmlformats.org/officeDocument/2006/relationships/oleObject" Target="../embeddings/oleObject307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13" Type="http://schemas.openxmlformats.org/officeDocument/2006/relationships/oleObject" Target="../embeddings/oleObject313.bin"/><Relationship Id="rId3" Type="http://schemas.openxmlformats.org/officeDocument/2006/relationships/oleObject" Target="../embeddings/oleObject308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29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94.wmf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9.bin"/><Relationship Id="rId10" Type="http://schemas.openxmlformats.org/officeDocument/2006/relationships/image" Target="../media/image296.emf"/><Relationship Id="rId4" Type="http://schemas.openxmlformats.org/officeDocument/2006/relationships/image" Target="../media/image293.wmf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298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emf"/><Relationship Id="rId13" Type="http://schemas.openxmlformats.org/officeDocument/2006/relationships/oleObject" Target="../embeddings/oleObject319.bin"/><Relationship Id="rId3" Type="http://schemas.openxmlformats.org/officeDocument/2006/relationships/oleObject" Target="../embeddings/oleObject314.bin"/><Relationship Id="rId7" Type="http://schemas.openxmlformats.org/officeDocument/2006/relationships/oleObject" Target="../embeddings/oleObject316.bin"/><Relationship Id="rId12" Type="http://schemas.openxmlformats.org/officeDocument/2006/relationships/image" Target="../media/image30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5.e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00.emf"/><Relationship Id="rId11" Type="http://schemas.openxmlformats.org/officeDocument/2006/relationships/oleObject" Target="../embeddings/oleObject318.bin"/><Relationship Id="rId5" Type="http://schemas.openxmlformats.org/officeDocument/2006/relationships/oleObject" Target="../embeddings/oleObject315.bin"/><Relationship Id="rId15" Type="http://schemas.openxmlformats.org/officeDocument/2006/relationships/oleObject" Target="../embeddings/oleObject320.bin"/><Relationship Id="rId10" Type="http://schemas.openxmlformats.org/officeDocument/2006/relationships/image" Target="../media/image302.emf"/><Relationship Id="rId4" Type="http://schemas.openxmlformats.org/officeDocument/2006/relationships/image" Target="../media/image299.emf"/><Relationship Id="rId9" Type="http://schemas.openxmlformats.org/officeDocument/2006/relationships/oleObject" Target="../embeddings/oleObject317.bin"/><Relationship Id="rId14" Type="http://schemas.openxmlformats.org/officeDocument/2006/relationships/image" Target="../media/image304.e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3A2608-E7A5-4EEE-B53D-6DF2B8E40372}" type="datetime1">
              <a:rPr lang="zh-CN" altLang="en-US"/>
              <a:pPr>
                <a:defRPr/>
              </a:pPr>
              <a:t>2024/5/10</a:t>
            </a:fld>
            <a:endParaRPr lang="en-US" altLang="zh-CN"/>
          </a:p>
        </p:txBody>
      </p:sp>
      <p:sp>
        <p:nvSpPr>
          <p:cNvPr id="1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电路理论</a:t>
            </a:r>
            <a:endParaRPr lang="en-US" altLang="zh-CN" dirty="0"/>
          </a:p>
        </p:txBody>
      </p:sp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6AD939-7CF7-4898-9AE7-B124BBB5A6C8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grpSp>
        <p:nvGrpSpPr>
          <p:cNvPr id="4101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4109" name="Picture 3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0" name="Picture 4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1" name="Picture 5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2" name="Picture 6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2" name="Picture 9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7514" name="Text Box 10"/>
          <p:cNvSpPr txBox="1">
            <a:spLocks noChangeArrowheads="1"/>
          </p:cNvSpPr>
          <p:nvPr/>
        </p:nvSpPr>
        <p:spPr bwMode="auto">
          <a:xfrm>
            <a:off x="298450" y="-61913"/>
            <a:ext cx="8845550" cy="144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Chapter 12  </a:t>
            </a:r>
          </a:p>
          <a:p>
            <a:pPr algn="ctr" eaLnBrk="1" hangingPunct="1">
              <a:defRPr/>
            </a:pPr>
            <a:r>
              <a:rPr lang="zh-CN" alt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三相正弦稳态电路</a:t>
            </a:r>
          </a:p>
        </p:txBody>
      </p:sp>
      <p:sp>
        <p:nvSpPr>
          <p:cNvPr id="277516" name="Text Box 12"/>
          <p:cNvSpPr txBox="1">
            <a:spLocks noChangeArrowheads="1"/>
          </p:cNvSpPr>
          <p:nvPr/>
        </p:nvSpPr>
        <p:spPr bwMode="auto">
          <a:xfrm>
            <a:off x="966788" y="1812925"/>
            <a:ext cx="3449637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12.2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三相电路</a:t>
            </a:r>
          </a:p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　　 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Three-phase circuits </a:t>
            </a:r>
          </a:p>
        </p:txBody>
      </p:sp>
      <p:sp>
        <p:nvSpPr>
          <p:cNvPr id="277517" name="Text Box 13"/>
          <p:cNvSpPr txBox="1">
            <a:spLocks noChangeArrowheads="1"/>
          </p:cNvSpPr>
          <p:nvPr/>
        </p:nvSpPr>
        <p:spPr bwMode="auto">
          <a:xfrm>
            <a:off x="915988" y="2598738"/>
            <a:ext cx="58547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12.3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对称三相电路分析</a:t>
            </a:r>
          </a:p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　　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Analysis of balanced three-phase circuits</a:t>
            </a:r>
          </a:p>
        </p:txBody>
      </p:sp>
      <p:sp>
        <p:nvSpPr>
          <p:cNvPr id="277519" name="Text Box 15"/>
          <p:cNvSpPr txBox="1">
            <a:spLocks noChangeArrowheads="1"/>
          </p:cNvSpPr>
          <p:nvPr/>
        </p:nvSpPr>
        <p:spPr bwMode="auto">
          <a:xfrm>
            <a:off x="947764" y="4421188"/>
            <a:ext cx="4395787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12.5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三相电路的功率</a:t>
            </a:r>
          </a:p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　　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Power of three-phase circuits</a:t>
            </a:r>
          </a:p>
        </p:txBody>
      </p:sp>
      <p:sp>
        <p:nvSpPr>
          <p:cNvPr id="277521" name="Text Box 17"/>
          <p:cNvSpPr txBox="1">
            <a:spLocks noChangeArrowheads="1"/>
          </p:cNvSpPr>
          <p:nvPr/>
        </p:nvSpPr>
        <p:spPr bwMode="auto">
          <a:xfrm>
            <a:off x="933660" y="3527425"/>
            <a:ext cx="6162675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12.4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不对称三相电路分析</a:t>
            </a:r>
          </a:p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　　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rPr>
              <a:t>Analysis of unbalanced three-phase circuits</a:t>
            </a:r>
          </a:p>
        </p:txBody>
      </p:sp>
    </p:spTree>
    <p:extLst>
      <p:ext uri="{BB962C8B-B14F-4D97-AF65-F5344CB8AC3E}">
        <p14:creationId xmlns:p14="http://schemas.microsoft.com/office/powerpoint/2010/main" val="295600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430678" y="454610"/>
            <a:ext cx="4260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600" dirty="0">
                <a:solidFill>
                  <a:srgbClr val="0000FF"/>
                </a:solidFill>
                <a:ea typeface="隶书" panose="02010509060101010101" pitchFamily="49" charset="-122"/>
              </a:rPr>
              <a:t>单相电动势的产生</a:t>
            </a:r>
          </a:p>
        </p:txBody>
      </p:sp>
      <p:grpSp>
        <p:nvGrpSpPr>
          <p:cNvPr id="79903" name="Group 31"/>
          <p:cNvGrpSpPr>
            <a:grpSpLocks/>
          </p:cNvGrpSpPr>
          <p:nvPr/>
        </p:nvGrpSpPr>
        <p:grpSpPr bwMode="auto">
          <a:xfrm>
            <a:off x="6286500" y="1104900"/>
            <a:ext cx="2552700" cy="2876550"/>
            <a:chOff x="1860" y="1020"/>
            <a:chExt cx="1608" cy="1812"/>
          </a:xfrm>
        </p:grpSpPr>
        <p:sp>
          <p:nvSpPr>
            <p:cNvPr id="79876" name="Line 4"/>
            <p:cNvSpPr>
              <a:spLocks noChangeShapeType="1"/>
            </p:cNvSpPr>
            <p:nvPr/>
          </p:nvSpPr>
          <p:spPr bwMode="auto">
            <a:xfrm>
              <a:off x="1872" y="1464"/>
              <a:ext cx="0" cy="4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77" name="Line 5"/>
            <p:cNvSpPr>
              <a:spLocks noChangeShapeType="1"/>
            </p:cNvSpPr>
            <p:nvPr/>
          </p:nvSpPr>
          <p:spPr bwMode="auto">
            <a:xfrm>
              <a:off x="2544" y="1464"/>
              <a:ext cx="0" cy="4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78" name="Line 6"/>
            <p:cNvSpPr>
              <a:spLocks noChangeShapeType="1"/>
            </p:cNvSpPr>
            <p:nvPr/>
          </p:nvSpPr>
          <p:spPr bwMode="auto">
            <a:xfrm>
              <a:off x="1860" y="1884"/>
              <a:ext cx="68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79" name="Line 7"/>
            <p:cNvSpPr>
              <a:spLocks noChangeShapeType="1"/>
            </p:cNvSpPr>
            <p:nvPr/>
          </p:nvSpPr>
          <p:spPr bwMode="auto">
            <a:xfrm flipV="1">
              <a:off x="2532" y="1344"/>
              <a:ext cx="935" cy="5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0" name="Line 8"/>
            <p:cNvSpPr>
              <a:spLocks noChangeShapeType="1"/>
            </p:cNvSpPr>
            <p:nvPr/>
          </p:nvSpPr>
          <p:spPr bwMode="auto">
            <a:xfrm flipV="1">
              <a:off x="3468" y="1020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1" name="Line 9"/>
            <p:cNvSpPr>
              <a:spLocks noChangeShapeType="1"/>
            </p:cNvSpPr>
            <p:nvPr/>
          </p:nvSpPr>
          <p:spPr bwMode="auto">
            <a:xfrm>
              <a:off x="1884" y="2448"/>
              <a:ext cx="64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2" name="Line 10"/>
            <p:cNvSpPr>
              <a:spLocks noChangeShapeType="1"/>
            </p:cNvSpPr>
            <p:nvPr/>
          </p:nvSpPr>
          <p:spPr bwMode="auto">
            <a:xfrm flipV="1">
              <a:off x="2520" y="1908"/>
              <a:ext cx="935" cy="5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4" name="Line 12"/>
            <p:cNvSpPr>
              <a:spLocks noChangeShapeType="1"/>
            </p:cNvSpPr>
            <p:nvPr/>
          </p:nvSpPr>
          <p:spPr bwMode="auto">
            <a:xfrm>
              <a:off x="3456" y="1908"/>
              <a:ext cx="0" cy="3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5" name="Line 13"/>
            <p:cNvSpPr>
              <a:spLocks noChangeShapeType="1"/>
            </p:cNvSpPr>
            <p:nvPr/>
          </p:nvSpPr>
          <p:spPr bwMode="auto">
            <a:xfrm>
              <a:off x="2532" y="2436"/>
              <a:ext cx="0" cy="3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6" name="Line 14"/>
            <p:cNvSpPr>
              <a:spLocks noChangeShapeType="1"/>
            </p:cNvSpPr>
            <p:nvPr/>
          </p:nvSpPr>
          <p:spPr bwMode="auto">
            <a:xfrm>
              <a:off x="1872" y="2436"/>
              <a:ext cx="0" cy="3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7" name="Line 15"/>
            <p:cNvSpPr>
              <a:spLocks noChangeShapeType="1"/>
            </p:cNvSpPr>
            <p:nvPr/>
          </p:nvSpPr>
          <p:spPr bwMode="auto">
            <a:xfrm>
              <a:off x="2760" y="1920"/>
              <a:ext cx="68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8" name="Line 16"/>
            <p:cNvSpPr>
              <a:spLocks noChangeShapeType="1"/>
            </p:cNvSpPr>
            <p:nvPr/>
          </p:nvSpPr>
          <p:spPr bwMode="auto">
            <a:xfrm flipV="1">
              <a:off x="1860" y="1908"/>
              <a:ext cx="915" cy="5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89" name="Text Box 17"/>
            <p:cNvSpPr txBox="1">
              <a:spLocks noChangeArrowheads="1"/>
            </p:cNvSpPr>
            <p:nvPr/>
          </p:nvSpPr>
          <p:spPr bwMode="auto">
            <a:xfrm>
              <a:off x="2066" y="1488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chemeClr val="tx2"/>
                  </a:solidFill>
                  <a:ea typeface="仿宋_GB2312" pitchFamily="49" charset="-122"/>
                </a:rPr>
                <a:t>N</a:t>
              </a:r>
              <a:endParaRPr lang="en-US" altLang="zh-CN" sz="3200" i="1">
                <a:solidFill>
                  <a:srgbClr val="FF0000"/>
                </a:solidFill>
                <a:ea typeface="仿宋_GB2312" pitchFamily="49" charset="-122"/>
              </a:endParaRPr>
            </a:p>
          </p:txBody>
        </p:sp>
        <p:sp>
          <p:nvSpPr>
            <p:cNvPr id="79890" name="Text Box 18"/>
            <p:cNvSpPr txBox="1">
              <a:spLocks noChangeArrowheads="1"/>
            </p:cNvSpPr>
            <p:nvPr/>
          </p:nvSpPr>
          <p:spPr bwMode="auto">
            <a:xfrm>
              <a:off x="2090" y="2436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chemeClr val="tx2"/>
                  </a:solidFill>
                  <a:ea typeface="仿宋_GB2312" pitchFamily="49" charset="-122"/>
                </a:rPr>
                <a:t>S</a:t>
              </a:r>
              <a:endParaRPr lang="en-US" altLang="zh-CN" sz="3200" i="1">
                <a:solidFill>
                  <a:srgbClr val="FF0000"/>
                </a:solidFill>
                <a:ea typeface="仿宋_GB2312" pitchFamily="49" charset="-122"/>
              </a:endParaRPr>
            </a:p>
          </p:txBody>
        </p:sp>
        <p:sp>
          <p:nvSpPr>
            <p:cNvPr id="79902" name="Line 30"/>
            <p:cNvSpPr>
              <a:spLocks noChangeShapeType="1"/>
            </p:cNvSpPr>
            <p:nvPr/>
          </p:nvSpPr>
          <p:spPr bwMode="auto">
            <a:xfrm flipV="1">
              <a:off x="1860" y="2277"/>
              <a:ext cx="276" cy="15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9918" name="Group 46"/>
          <p:cNvGrpSpPr>
            <a:grpSpLocks/>
          </p:cNvGrpSpPr>
          <p:nvPr/>
        </p:nvGrpSpPr>
        <p:grpSpPr bwMode="auto">
          <a:xfrm>
            <a:off x="5241925" y="2474913"/>
            <a:ext cx="911225" cy="641350"/>
            <a:chOff x="3194" y="2135"/>
            <a:chExt cx="550" cy="404"/>
          </a:xfrm>
        </p:grpSpPr>
        <p:sp>
          <p:nvSpPr>
            <p:cNvPr id="79906" name="Freeform 34"/>
            <p:cNvSpPr>
              <a:spLocks/>
            </p:cNvSpPr>
            <p:nvPr/>
          </p:nvSpPr>
          <p:spPr bwMode="auto">
            <a:xfrm>
              <a:off x="3480" y="2330"/>
              <a:ext cx="264" cy="118"/>
            </a:xfrm>
            <a:custGeom>
              <a:avLst/>
              <a:gdLst>
                <a:gd name="T0" fmla="*/ 0 w 264"/>
                <a:gd name="T1" fmla="*/ 118 h 118"/>
                <a:gd name="T2" fmla="*/ 120 w 264"/>
                <a:gd name="T3" fmla="*/ 10 h 118"/>
                <a:gd name="T4" fmla="*/ 264 w 264"/>
                <a:gd name="T5" fmla="*/ 5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4" h="118">
                  <a:moveTo>
                    <a:pt x="0" y="118"/>
                  </a:moveTo>
                  <a:cubicBezTo>
                    <a:pt x="38" y="69"/>
                    <a:pt x="76" y="20"/>
                    <a:pt x="120" y="10"/>
                  </a:cubicBezTo>
                  <a:cubicBezTo>
                    <a:pt x="164" y="0"/>
                    <a:pt x="236" y="44"/>
                    <a:pt x="264" y="58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7" name="Text Box 35"/>
            <p:cNvSpPr txBox="1">
              <a:spLocks noChangeArrowheads="1"/>
            </p:cNvSpPr>
            <p:nvPr/>
          </p:nvSpPr>
          <p:spPr bwMode="auto">
            <a:xfrm>
              <a:off x="3194" y="2135"/>
              <a:ext cx="30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600" i="1">
                  <a:solidFill>
                    <a:srgbClr val="FF0000"/>
                  </a:solidFill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endParaRPr lang="en-US" altLang="zh-CN" sz="3600">
                <a:solidFill>
                  <a:srgbClr val="FF0000"/>
                </a:solidFill>
                <a:ea typeface="仿宋_GB2312" pitchFamily="49" charset="-122"/>
              </a:endParaRPr>
            </a:p>
          </p:txBody>
        </p:sp>
      </p:grpSp>
      <p:grpSp>
        <p:nvGrpSpPr>
          <p:cNvPr id="79910" name="Group 38"/>
          <p:cNvGrpSpPr>
            <a:grpSpLocks/>
          </p:cNvGrpSpPr>
          <p:nvPr/>
        </p:nvGrpSpPr>
        <p:grpSpPr bwMode="auto">
          <a:xfrm>
            <a:off x="5356225" y="1939925"/>
            <a:ext cx="3335338" cy="1884363"/>
            <a:chOff x="2570" y="1798"/>
            <a:chExt cx="2101" cy="1187"/>
          </a:xfrm>
        </p:grpSpPr>
        <p:sp>
          <p:nvSpPr>
            <p:cNvPr id="79892" name="Line 20"/>
            <p:cNvSpPr>
              <a:spLocks noChangeShapeType="1"/>
            </p:cNvSpPr>
            <p:nvPr/>
          </p:nvSpPr>
          <p:spPr bwMode="auto">
            <a:xfrm rot="-59276">
              <a:off x="3017" y="2280"/>
              <a:ext cx="175" cy="10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94" name="Line 22"/>
            <p:cNvSpPr>
              <a:spLocks noChangeShapeType="1"/>
            </p:cNvSpPr>
            <p:nvPr/>
          </p:nvSpPr>
          <p:spPr bwMode="auto">
            <a:xfrm rot="840724" flipH="1">
              <a:off x="3013" y="2416"/>
              <a:ext cx="341" cy="34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95" name="Line 23"/>
            <p:cNvSpPr>
              <a:spLocks noChangeShapeType="1"/>
            </p:cNvSpPr>
            <p:nvPr/>
          </p:nvSpPr>
          <p:spPr bwMode="auto">
            <a:xfrm rot="-59276">
              <a:off x="3385" y="2474"/>
              <a:ext cx="172" cy="1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96" name="Line 24"/>
            <p:cNvSpPr>
              <a:spLocks noChangeShapeType="1"/>
            </p:cNvSpPr>
            <p:nvPr/>
          </p:nvSpPr>
          <p:spPr bwMode="auto">
            <a:xfrm rot="21540724" flipV="1">
              <a:off x="3022" y="2152"/>
              <a:ext cx="218" cy="12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97" name="Line 25"/>
            <p:cNvSpPr>
              <a:spLocks noChangeShapeType="1"/>
            </p:cNvSpPr>
            <p:nvPr/>
          </p:nvSpPr>
          <p:spPr bwMode="auto">
            <a:xfrm rot="21540724" flipV="1">
              <a:off x="3564" y="1925"/>
              <a:ext cx="1104" cy="63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899" name="Line 27"/>
            <p:cNvSpPr>
              <a:spLocks noChangeShapeType="1"/>
            </p:cNvSpPr>
            <p:nvPr/>
          </p:nvSpPr>
          <p:spPr bwMode="auto">
            <a:xfrm rot="-59276" flipH="1" flipV="1">
              <a:off x="4453" y="1798"/>
              <a:ext cx="218" cy="1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0" name="Line 28"/>
            <p:cNvSpPr>
              <a:spLocks noChangeShapeType="1"/>
            </p:cNvSpPr>
            <p:nvPr/>
          </p:nvSpPr>
          <p:spPr bwMode="auto">
            <a:xfrm rot="840724" flipH="1">
              <a:off x="2863" y="2326"/>
              <a:ext cx="312" cy="3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8" name="Text Box 36"/>
            <p:cNvSpPr txBox="1">
              <a:spLocks noChangeArrowheads="1"/>
            </p:cNvSpPr>
            <p:nvPr/>
          </p:nvSpPr>
          <p:spPr bwMode="auto">
            <a:xfrm>
              <a:off x="2570" y="2478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rgbClr val="0000FF"/>
                  </a:solidFill>
                  <a:ea typeface="仿宋_GB2312" pitchFamily="49" charset="-122"/>
                </a:rPr>
                <a:t>A</a:t>
              </a:r>
            </a:p>
          </p:txBody>
        </p:sp>
        <p:sp>
          <p:nvSpPr>
            <p:cNvPr id="79909" name="Text Box 37"/>
            <p:cNvSpPr txBox="1">
              <a:spLocks noChangeArrowheads="1"/>
            </p:cNvSpPr>
            <p:nvPr/>
          </p:nvSpPr>
          <p:spPr bwMode="auto">
            <a:xfrm>
              <a:off x="2786" y="2658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rgbClr val="0000FF"/>
                  </a:solidFill>
                  <a:ea typeface="仿宋_GB2312" pitchFamily="49" charset="-122"/>
                </a:rPr>
                <a:t>X</a:t>
              </a:r>
            </a:p>
          </p:txBody>
        </p:sp>
      </p:grpSp>
      <p:grpSp>
        <p:nvGrpSpPr>
          <p:cNvPr id="79922" name="Group 50"/>
          <p:cNvGrpSpPr>
            <a:grpSpLocks/>
          </p:cNvGrpSpPr>
          <p:nvPr/>
        </p:nvGrpSpPr>
        <p:grpSpPr bwMode="auto">
          <a:xfrm>
            <a:off x="7372350" y="2520950"/>
            <a:ext cx="619125" cy="641350"/>
            <a:chOff x="4536" y="2164"/>
            <a:chExt cx="390" cy="404"/>
          </a:xfrm>
        </p:grpSpPr>
        <p:sp>
          <p:nvSpPr>
            <p:cNvPr id="79911" name="Line 39"/>
            <p:cNvSpPr>
              <a:spLocks noChangeShapeType="1"/>
            </p:cNvSpPr>
            <p:nvPr/>
          </p:nvSpPr>
          <p:spPr bwMode="auto">
            <a:xfrm flipV="1">
              <a:off x="4536" y="2303"/>
              <a:ext cx="168" cy="9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12" name="Text Box 40"/>
            <p:cNvSpPr txBox="1">
              <a:spLocks noChangeArrowheads="1"/>
            </p:cNvSpPr>
            <p:nvPr/>
          </p:nvSpPr>
          <p:spPr bwMode="auto">
            <a:xfrm>
              <a:off x="4682" y="2164"/>
              <a:ext cx="24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600" i="1">
                  <a:solidFill>
                    <a:srgbClr val="FF0000"/>
                  </a:solidFill>
                  <a:ea typeface="仿宋_GB2312" pitchFamily="49" charset="-122"/>
                </a:rPr>
                <a:t>e</a:t>
              </a:r>
              <a:endParaRPr lang="en-US" altLang="zh-CN" sz="3600">
                <a:solidFill>
                  <a:srgbClr val="FF0000"/>
                </a:solidFill>
                <a:ea typeface="仿宋_GB2312" pitchFamily="49" charset="-122"/>
              </a:endParaRPr>
            </a:p>
          </p:txBody>
        </p:sp>
      </p:grpSp>
      <p:sp>
        <p:nvSpPr>
          <p:cNvPr id="79913" name="Text Box 41"/>
          <p:cNvSpPr txBox="1">
            <a:spLocks noChangeArrowheads="1"/>
          </p:cNvSpPr>
          <p:nvPr/>
        </p:nvSpPr>
        <p:spPr bwMode="auto">
          <a:xfrm>
            <a:off x="843756" y="1045606"/>
            <a:ext cx="413875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在两磁极中间，放一个线圈，让线圈以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ω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的角速度顺时针旋转。</a:t>
            </a:r>
          </a:p>
        </p:txBody>
      </p:sp>
      <p:sp>
        <p:nvSpPr>
          <p:cNvPr id="79919" name="Text Box 47"/>
          <p:cNvSpPr txBox="1">
            <a:spLocks noChangeArrowheads="1"/>
          </p:cNvSpPr>
          <p:nvPr/>
        </p:nvSpPr>
        <p:spPr bwMode="auto">
          <a:xfrm>
            <a:off x="786845" y="2667213"/>
            <a:ext cx="39814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根据右手定则可知，线圈中产生感应电动势，其方向由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921" name="Text Box 49"/>
          <p:cNvSpPr txBox="1">
            <a:spLocks noChangeArrowheads="1"/>
          </p:cNvSpPr>
          <p:nvPr/>
        </p:nvSpPr>
        <p:spPr bwMode="auto">
          <a:xfrm>
            <a:off x="923925" y="4401404"/>
            <a:ext cx="74628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合理设计磁极形状，使磁通按正弦规律分布，线圈两端便可得到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单相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交流电动势。</a:t>
            </a:r>
          </a:p>
        </p:txBody>
      </p:sp>
      <p:graphicFrame>
        <p:nvGraphicFramePr>
          <p:cNvPr id="79925" name="Object 53"/>
          <p:cNvGraphicFramePr>
            <a:graphicFrameLocks noChangeAspect="1"/>
          </p:cNvGraphicFramePr>
          <p:nvPr/>
        </p:nvGraphicFramePr>
        <p:xfrm>
          <a:off x="2913134" y="5502722"/>
          <a:ext cx="352583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65" name="公式" r:id="rId4" imgW="1066680" imgH="241200" progId="Equation.3">
                  <p:embed/>
                </p:oleObj>
              </mc:Choice>
              <mc:Fallback>
                <p:oleObj name="公式" r:id="rId4" imgW="1066680" imgH="241200" progId="Equation.3">
                  <p:embed/>
                  <p:pic>
                    <p:nvPicPr>
                      <p:cNvPr id="79925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134" y="5502722"/>
                        <a:ext cx="3525838" cy="792162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16"/>
          <p:cNvSpPr>
            <a:spLocks noChangeArrowheads="1"/>
          </p:cNvSpPr>
          <p:nvPr/>
        </p:nvSpPr>
        <p:spPr bwMode="auto">
          <a:xfrm>
            <a:off x="250825" y="87313"/>
            <a:ext cx="865981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12.2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三相电路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Three-phase circuits</a:t>
            </a:r>
          </a:p>
        </p:txBody>
      </p:sp>
    </p:spTree>
    <p:extLst>
      <p:ext uri="{BB962C8B-B14F-4D97-AF65-F5344CB8AC3E}">
        <p14:creationId xmlns:p14="http://schemas.microsoft.com/office/powerpoint/2010/main" val="36390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9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9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9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/>
      <p:bldP spid="79913" grpId="0" build="p" autoUpdateAnimBg="0"/>
      <p:bldP spid="79919" grpId="0" build="p" autoUpdateAnimBg="0"/>
      <p:bldP spid="7992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5" name="Rectangle 7"/>
          <p:cNvSpPr>
            <a:spLocks noChangeArrowheads="1"/>
          </p:cNvSpPr>
          <p:nvPr/>
        </p:nvSpPr>
        <p:spPr bwMode="auto">
          <a:xfrm>
            <a:off x="34260" y="549275"/>
            <a:ext cx="47797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单相电路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　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rPr>
              <a:t>Single-phase circuit</a:t>
            </a:r>
          </a:p>
        </p:txBody>
      </p:sp>
      <p:sp>
        <p:nvSpPr>
          <p:cNvPr id="278540" name="Rectangle 12"/>
          <p:cNvSpPr>
            <a:spLocks noChangeArrowheads="1"/>
          </p:cNvSpPr>
          <p:nvPr/>
        </p:nvSpPr>
        <p:spPr bwMode="auto">
          <a:xfrm>
            <a:off x="3707904" y="6309320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单相三线制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8544" name="Rectangle 16"/>
          <p:cNvSpPr>
            <a:spLocks noChangeArrowheads="1"/>
          </p:cNvSpPr>
          <p:nvPr/>
        </p:nvSpPr>
        <p:spPr bwMode="auto">
          <a:xfrm>
            <a:off x="250825" y="87313"/>
            <a:ext cx="865981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12.2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三相电路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Three-phase circuits</a:t>
            </a:r>
          </a:p>
        </p:txBody>
      </p:sp>
      <p:grpSp>
        <p:nvGrpSpPr>
          <p:cNvPr id="278548" name="Group 20"/>
          <p:cNvGrpSpPr>
            <a:grpSpLocks/>
          </p:cNvGrpSpPr>
          <p:nvPr/>
        </p:nvGrpSpPr>
        <p:grpSpPr bwMode="auto">
          <a:xfrm>
            <a:off x="4666247" y="1171321"/>
            <a:ext cx="3168650" cy="1800225"/>
            <a:chOff x="521" y="845"/>
            <a:chExt cx="1996" cy="1134"/>
          </a:xfrm>
        </p:grpSpPr>
        <p:graphicFrame>
          <p:nvGraphicFramePr>
            <p:cNvPr id="5140" name="Object 8"/>
            <p:cNvGraphicFramePr>
              <a:graphicFrameLocks noChangeAspect="1"/>
            </p:cNvGraphicFramePr>
            <p:nvPr/>
          </p:nvGraphicFramePr>
          <p:xfrm>
            <a:off x="521" y="845"/>
            <a:ext cx="1875" cy="9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600" name="Visio" r:id="rId3" imgW="1980676" imgH="994839" progId="Visio.Drawing.11">
                    <p:embed/>
                  </p:oleObj>
                </mc:Choice>
                <mc:Fallback>
                  <p:oleObj name="Visio" r:id="rId3" imgW="1980676" imgH="994839" progId="Visio.Drawing.11">
                    <p:embed/>
                    <p:pic>
                      <p:nvPicPr>
                        <p:cNvPr id="514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845"/>
                          <a:ext cx="1875" cy="9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1" name="Rectangle 17"/>
            <p:cNvSpPr>
              <a:spLocks noChangeArrowheads="1"/>
            </p:cNvSpPr>
            <p:nvPr/>
          </p:nvSpPr>
          <p:spPr bwMode="auto">
            <a:xfrm>
              <a:off x="611" y="1714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隶书" panose="02010509060101010101" pitchFamily="49" charset="-122"/>
                  <a:ea typeface="隶书" panose="02010509060101010101" pitchFamily="49" charset="-122"/>
                </a:rPr>
                <a:t>电源</a:t>
              </a:r>
            </a:p>
          </p:txBody>
        </p:sp>
        <p:sp>
          <p:nvSpPr>
            <p:cNvPr id="5142" name="Rectangle 18"/>
            <p:cNvSpPr>
              <a:spLocks noChangeArrowheads="1"/>
            </p:cNvSpPr>
            <p:nvPr/>
          </p:nvSpPr>
          <p:spPr bwMode="auto">
            <a:xfrm>
              <a:off x="2017" y="1696"/>
              <a:ext cx="5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隶书" panose="02010509060101010101" pitchFamily="49" charset="-122"/>
                  <a:ea typeface="隶书" panose="02010509060101010101" pitchFamily="49" charset="-122"/>
                </a:rPr>
                <a:t>负载</a:t>
              </a:r>
            </a:p>
          </p:txBody>
        </p:sp>
        <p:sp>
          <p:nvSpPr>
            <p:cNvPr id="5143" name="Rectangle 19"/>
            <p:cNvSpPr>
              <a:spLocks noChangeArrowheads="1"/>
            </p:cNvSpPr>
            <p:nvPr/>
          </p:nvSpPr>
          <p:spPr bwMode="auto">
            <a:xfrm>
              <a:off x="1246" y="1729"/>
              <a:ext cx="5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隶书" panose="02010509060101010101" pitchFamily="49" charset="-122"/>
                  <a:ea typeface="隶书" panose="02010509060101010101" pitchFamily="49" charset="-122"/>
                </a:rPr>
                <a:t>输电线</a:t>
              </a:r>
            </a:p>
          </p:txBody>
        </p:sp>
      </p:grpSp>
      <p:sp>
        <p:nvSpPr>
          <p:cNvPr id="278549" name="Rectangle 21"/>
          <p:cNvSpPr>
            <a:spLocks noChangeArrowheads="1"/>
          </p:cNvSpPr>
          <p:nvPr/>
        </p:nvSpPr>
        <p:spPr bwMode="auto">
          <a:xfrm>
            <a:off x="128588" y="4509120"/>
            <a:ext cx="158115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美国民用电</a:t>
            </a:r>
            <a:r>
              <a:rPr lang="en-US" altLang="zh-CN" sz="2000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小负荷</a:t>
            </a:r>
            <a:r>
              <a:rPr lang="en-US" altLang="zh-CN" sz="2000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120V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大负荷</a:t>
            </a:r>
            <a:r>
              <a:rPr lang="en-US" altLang="zh-CN" sz="2000" dirty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240V</a:t>
            </a:r>
          </a:p>
        </p:txBody>
      </p:sp>
      <p:graphicFrame>
        <p:nvGraphicFramePr>
          <p:cNvPr id="278552" name="Object 24"/>
          <p:cNvGraphicFramePr>
            <a:graphicFrameLocks noChangeAspect="1"/>
          </p:cNvGraphicFramePr>
          <p:nvPr/>
        </p:nvGraphicFramePr>
        <p:xfrm>
          <a:off x="1608760" y="3540830"/>
          <a:ext cx="3563937" cy="265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01" name="Visio" r:id="rId5" imgW="2549462" imgH="1895380" progId="Visio.Drawing.11">
                  <p:embed/>
                </p:oleObj>
              </mc:Choice>
              <mc:Fallback>
                <p:oleObj name="Visio" r:id="rId5" imgW="2549462" imgH="1895380" progId="Visio.Drawing.11">
                  <p:embed/>
                  <p:pic>
                    <p:nvPicPr>
                      <p:cNvPr id="27855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760" y="3540830"/>
                        <a:ext cx="3563937" cy="265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70" name="Picture 2" descr="未标题-33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7" t="15713" b="3338"/>
          <a:stretch/>
        </p:blipFill>
        <p:spPr bwMode="auto">
          <a:xfrm>
            <a:off x="1480287" y="1080053"/>
            <a:ext cx="2362040" cy="208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3810413" y="3185873"/>
            <a:ext cx="15231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单相二线制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775" name="Picture 7" descr="https://pic1.zhimg.com/80/v2-0c430a2f8651aea6a52224f4addbe6a0_hd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217354"/>
            <a:ext cx="35814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13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5" grpId="0"/>
      <p:bldP spid="278540" grpId="0"/>
      <p:bldP spid="278549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ChangeArrowheads="1"/>
          </p:cNvSpPr>
          <p:nvPr/>
        </p:nvSpPr>
        <p:spPr bwMode="auto">
          <a:xfrm>
            <a:off x="0" y="2771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091" name="Rectangle 3"/>
          <p:cNvSpPr>
            <a:spLocks noChangeArrowheads="1"/>
          </p:cNvSpPr>
          <p:nvPr/>
        </p:nvSpPr>
        <p:spPr bwMode="auto">
          <a:xfrm>
            <a:off x="0" y="2771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092" name="Rectangle 4"/>
          <p:cNvSpPr>
            <a:spLocks noChangeArrowheads="1"/>
          </p:cNvSpPr>
          <p:nvPr/>
        </p:nvSpPr>
        <p:spPr bwMode="auto">
          <a:xfrm>
            <a:off x="0" y="3100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093" name="Rectangle 5"/>
          <p:cNvSpPr>
            <a:spLocks noChangeArrowheads="1"/>
          </p:cNvSpPr>
          <p:nvPr/>
        </p:nvSpPr>
        <p:spPr bwMode="auto">
          <a:xfrm>
            <a:off x="0" y="2995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09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095" name="Rectangle 7"/>
          <p:cNvSpPr>
            <a:spLocks noChangeArrowheads="1"/>
          </p:cNvSpPr>
          <p:nvPr/>
        </p:nvSpPr>
        <p:spPr bwMode="auto">
          <a:xfrm>
            <a:off x="117617" y="773104"/>
            <a:ext cx="842645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990600" indent="-53340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752600" indent="-3810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209800" indent="-3810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667000" indent="-3810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3124200" indent="-3810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581400" indent="-3810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4038600" indent="-3810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 indent="15875">
              <a:buFontTx/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目前电力系统的供电方式基本上都采用三相制，因此，不论在通讯系统、工农业生产中，实际使用的交流电源都是三相电源，而日常生活所用的单相电源，多数也取自三相电源中的一相。 </a:t>
            </a:r>
          </a:p>
        </p:txBody>
      </p:sp>
      <p:sp>
        <p:nvSpPr>
          <p:cNvPr id="601096" name="Rectangle 8"/>
          <p:cNvSpPr>
            <a:spLocks noChangeArrowheads="1"/>
          </p:cNvSpPr>
          <p:nvPr/>
        </p:nvSpPr>
        <p:spPr bwMode="auto">
          <a:xfrm>
            <a:off x="0" y="3024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097" name="Rectangle 9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098" name="Rectangle 10"/>
          <p:cNvSpPr>
            <a:spLocks noChangeArrowheads="1"/>
          </p:cNvSpPr>
          <p:nvPr/>
        </p:nvSpPr>
        <p:spPr bwMode="auto">
          <a:xfrm>
            <a:off x="0" y="3052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099" name="Rectangle 11"/>
          <p:cNvSpPr>
            <a:spLocks noChangeArrowheads="1"/>
          </p:cNvSpPr>
          <p:nvPr/>
        </p:nvSpPr>
        <p:spPr bwMode="auto">
          <a:xfrm>
            <a:off x="0" y="3052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100" name="Rectangle 12"/>
          <p:cNvSpPr>
            <a:spLocks noChangeArrowheads="1"/>
          </p:cNvSpPr>
          <p:nvPr/>
        </p:nvSpPr>
        <p:spPr bwMode="auto">
          <a:xfrm>
            <a:off x="0" y="2662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101" name="Rectangle 13"/>
          <p:cNvSpPr>
            <a:spLocks noChangeArrowheads="1"/>
          </p:cNvSpPr>
          <p:nvPr/>
        </p:nvSpPr>
        <p:spPr bwMode="auto">
          <a:xfrm>
            <a:off x="0" y="2981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102" name="Rectangle 14"/>
          <p:cNvSpPr>
            <a:spLocks noChangeArrowheads="1"/>
          </p:cNvSpPr>
          <p:nvPr/>
        </p:nvSpPr>
        <p:spPr bwMode="auto">
          <a:xfrm>
            <a:off x="0" y="3271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103" name="Rectangle 15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104" name="Rectangle 1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105" name="Rectangle 1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106" name="Rectangle 18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107" name="Rectangle 1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1108" name="Rectangle 20"/>
          <p:cNvSpPr>
            <a:spLocks noChangeArrowheads="1"/>
          </p:cNvSpPr>
          <p:nvPr/>
        </p:nvSpPr>
        <p:spPr bwMode="auto">
          <a:xfrm>
            <a:off x="107950" y="2420665"/>
            <a:ext cx="8208962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990600" indent="-53340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371600" indent="-4572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752600" indent="-3810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209800" indent="-3810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667000" indent="-3810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3124200" indent="-3810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581400" indent="-3810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4038600" indent="-3810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 indent="15875">
              <a:buFontTx/>
              <a:buNone/>
            </a:pPr>
            <a:r>
              <a:rPr lang="zh-CN" altLang="en-US" sz="2400" b="1" dirty="0">
                <a:solidFill>
                  <a:srgbClr val="000066"/>
                </a:solidFill>
                <a:ea typeface="宋体" panose="02010600030101010101" pitchFamily="2" charset="-122"/>
              </a:rPr>
              <a:t>三相发电机比单相发电机输出的功率高，在生产中大量使用的交流电动机、三相电动机比单项电动机性能平稳可靠，加上在相同电气指标下，三相制的电能输送比单相制节省，所以目前广泛使用三相制。</a:t>
            </a:r>
          </a:p>
        </p:txBody>
      </p:sp>
      <p:sp>
        <p:nvSpPr>
          <p:cNvPr id="24" name="Rectangle 16"/>
          <p:cNvSpPr>
            <a:spLocks noChangeArrowheads="1"/>
          </p:cNvSpPr>
          <p:nvPr/>
        </p:nvSpPr>
        <p:spPr bwMode="auto">
          <a:xfrm>
            <a:off x="250825" y="87313"/>
            <a:ext cx="865981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12.2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三相电路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Three-phase circuits</a:t>
            </a:r>
          </a:p>
        </p:txBody>
      </p:sp>
      <p:graphicFrame>
        <p:nvGraphicFramePr>
          <p:cNvPr id="25" name="Object 27"/>
          <p:cNvGraphicFramePr>
            <a:graphicFrameLocks noChangeAspect="1"/>
          </p:cNvGraphicFramePr>
          <p:nvPr/>
        </p:nvGraphicFramePr>
        <p:xfrm>
          <a:off x="4067944" y="4005064"/>
          <a:ext cx="2879725" cy="269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3" name="Visio" r:id="rId3" imgW="1993106" imgH="1867948" progId="Visio.Drawing.11">
                  <p:embed/>
                </p:oleObj>
              </mc:Choice>
              <mc:Fallback>
                <p:oleObj name="Visio" r:id="rId3" imgW="1993106" imgH="1867948" progId="Visio.Drawing.11">
                  <p:embed/>
                  <p:pic>
                    <p:nvPicPr>
                      <p:cNvPr id="2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4005064"/>
                        <a:ext cx="2879725" cy="2693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1475656" y="5038725"/>
            <a:ext cx="19800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三相四线制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567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0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0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5" grpId="0"/>
      <p:bldP spid="601108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03358" y="892635"/>
            <a:ext cx="3810000" cy="576262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三相电源</a:t>
            </a:r>
            <a:r>
              <a:rPr lang="zh-CN" altLang="en-US" sz="2400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61156" name="Rectangle 4"/>
          <p:cNvSpPr>
            <a:spLocks noChangeArrowheads="1"/>
          </p:cNvSpPr>
          <p:nvPr/>
        </p:nvSpPr>
        <p:spPr bwMode="auto">
          <a:xfrm>
            <a:off x="348882" y="1628800"/>
            <a:ext cx="5041900" cy="208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>
              <a:buFontTx/>
              <a:buNone/>
            </a:pPr>
            <a:r>
              <a:rPr lang="zh-CN" altLang="en-US" sz="2600" b="1" dirty="0">
                <a:solidFill>
                  <a:schemeClr val="tx2"/>
                </a:solidFill>
                <a:ea typeface="楷体_GB2312" pitchFamily="49" charset="-122"/>
              </a:rPr>
              <a:t>   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由频率相同而相位彼此相差</a:t>
            </a:r>
            <a:r>
              <a:rPr lang="en-US" altLang="zh-CN" sz="2400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120º</a:t>
            </a:r>
            <a:r>
              <a:rPr lang="en-US" altLang="zh-CN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的三个电压所构成的电源称三相电源，由三相电源所组成的供电系统称为三相系统或三相制，产生三相电源的装置是三相发电机</a:t>
            </a:r>
            <a:endParaRPr lang="zh-CN" altLang="en-US" sz="2400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1158" name="Rectangle 6"/>
          <p:cNvSpPr>
            <a:spLocks noChangeArrowheads="1"/>
          </p:cNvSpPr>
          <p:nvPr/>
        </p:nvSpPr>
        <p:spPr bwMode="auto">
          <a:xfrm>
            <a:off x="0" y="2157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1159" name="Rectangle 7"/>
          <p:cNvSpPr>
            <a:spLocks noChangeArrowheads="1"/>
          </p:cNvSpPr>
          <p:nvPr/>
        </p:nvSpPr>
        <p:spPr bwMode="auto">
          <a:xfrm>
            <a:off x="323205" y="3933602"/>
            <a:ext cx="8424863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5pPr>
            <a:lvl6pPr marL="25146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6pPr>
            <a:lvl7pPr marL="29718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7pPr>
            <a:lvl8pPr marL="34290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8pPr>
            <a:lvl9pPr marL="3886200" indent="-22860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-윤고딕120" pitchFamily="18" charset="-127"/>
                <a:ea typeface="-윤고딕120" pitchFamily="18" charset="-127"/>
              </a:defRPr>
            </a:lvl9pPr>
          </a:lstStyle>
          <a:p>
            <a:pPr>
              <a:buFontTx/>
              <a:buNone/>
            </a:pPr>
            <a:r>
              <a:rPr lang="zh-CN" altLang="en-US" sz="2600" b="1">
                <a:solidFill>
                  <a:schemeClr val="tx2"/>
                </a:solidFill>
                <a:ea typeface="楷体_GB2312" pitchFamily="49" charset="-122"/>
              </a:rPr>
              <a:t>   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三相发电机定子槽中放置彼此相隔</a:t>
            </a:r>
            <a:r>
              <a:rPr lang="en-US" altLang="zh-CN" sz="240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120º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的三个绕组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BY</a:t>
            </a:r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CZ</a:t>
            </a:r>
            <a:r>
              <a:rPr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分别为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相、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相、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相绕组，其中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为始端，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为末端，当发电机的转子按图示方向以</a:t>
            </a:r>
            <a:r>
              <a:rPr lang="zh-CN" altLang="en-US" sz="240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匀速旋转时，三个绕组中就感应出随时间按正弦规律变化的三相电压，这三个绕组就相当于三个独立的正弦电压源。</a:t>
            </a:r>
          </a:p>
        </p:txBody>
      </p:sp>
      <p:graphicFrame>
        <p:nvGraphicFramePr>
          <p:cNvPr id="561174" name="Object 2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580112" y="1180766"/>
          <a:ext cx="2614612" cy="245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37" name="Visio" r:id="rId3" imgW="2408530" imgH="2262226" progId="Visio.Drawing.6">
                  <p:embed/>
                </p:oleObj>
              </mc:Choice>
              <mc:Fallback>
                <p:oleObj name="Visio" r:id="rId3" imgW="2408530" imgH="2262226" progId="Visio.Drawing.6">
                  <p:embed/>
                  <p:pic>
                    <p:nvPicPr>
                      <p:cNvPr id="56117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1180766"/>
                        <a:ext cx="2614612" cy="245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795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1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1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6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56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5" grpId="0" build="p"/>
      <p:bldP spid="561156" grpId="0"/>
      <p:bldP spid="5611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Oval 2"/>
          <p:cNvSpPr>
            <a:spLocks noChangeArrowheads="1"/>
          </p:cNvSpPr>
          <p:nvPr/>
        </p:nvSpPr>
        <p:spPr bwMode="auto">
          <a:xfrm>
            <a:off x="2382614" y="5240040"/>
            <a:ext cx="1901825" cy="508000"/>
          </a:xfrm>
          <a:prstGeom prst="ellipse">
            <a:avLst/>
          </a:prstGeom>
          <a:solidFill>
            <a:schemeClr val="accent1">
              <a:alpha val="39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7731" name="Text Box 3"/>
          <p:cNvSpPr txBox="1">
            <a:spLocks noChangeArrowheads="1"/>
          </p:cNvSpPr>
          <p:nvPr/>
        </p:nvSpPr>
        <p:spPr bwMode="auto">
          <a:xfrm>
            <a:off x="395288" y="923950"/>
            <a:ext cx="396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对称三相电源的产生</a:t>
            </a:r>
          </a:p>
        </p:txBody>
      </p:sp>
      <p:sp>
        <p:nvSpPr>
          <p:cNvPr id="457732" name="Text Box 4"/>
          <p:cNvSpPr txBox="1">
            <a:spLocks noChangeArrowheads="1"/>
          </p:cNvSpPr>
          <p:nvPr/>
        </p:nvSpPr>
        <p:spPr bwMode="auto">
          <a:xfrm>
            <a:off x="395288" y="406425"/>
            <a:ext cx="3200400" cy="4572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CCCC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三相电源</a:t>
            </a:r>
          </a:p>
        </p:txBody>
      </p:sp>
      <p:sp>
        <p:nvSpPr>
          <p:cNvPr id="457734" name="Text Box 6"/>
          <p:cNvSpPr txBox="1">
            <a:spLocks noChangeArrowheads="1"/>
          </p:cNvSpPr>
          <p:nvPr/>
        </p:nvSpPr>
        <p:spPr bwMode="auto">
          <a:xfrm>
            <a:off x="2339752" y="5286077"/>
            <a:ext cx="31245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三个感应电压的关系</a:t>
            </a:r>
            <a:r>
              <a:rPr kumimoji="1"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457735" name="Text Box 7"/>
          <p:cNvSpPr txBox="1">
            <a:spLocks noChangeArrowheads="1"/>
          </p:cNvSpPr>
          <p:nvPr/>
        </p:nvSpPr>
        <p:spPr bwMode="auto">
          <a:xfrm>
            <a:off x="2738214" y="5652790"/>
            <a:ext cx="3375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角频率，最大值相等</a:t>
            </a:r>
          </a:p>
        </p:txBody>
      </p:sp>
      <p:sp>
        <p:nvSpPr>
          <p:cNvPr id="457736" name="Text Box 8"/>
          <p:cNvSpPr txBox="1">
            <a:spLocks noChangeArrowheads="1"/>
          </p:cNvSpPr>
          <p:nvPr/>
        </p:nvSpPr>
        <p:spPr bwMode="auto">
          <a:xfrm>
            <a:off x="2812827" y="6140152"/>
            <a:ext cx="261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相位互差</a:t>
            </a:r>
            <a:r>
              <a:rPr kumimoji="1"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120</a:t>
            </a:r>
            <a:r>
              <a:rPr kumimoji="1"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</a:t>
            </a:r>
            <a:endParaRPr kumimoji="1" lang="en-US" altLang="zh-CN" sz="2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7737" name="Text Box 9"/>
          <p:cNvSpPr txBox="1">
            <a:spLocks noChangeArrowheads="1"/>
          </p:cNvSpPr>
          <p:nvPr/>
        </p:nvSpPr>
        <p:spPr bwMode="auto">
          <a:xfrm>
            <a:off x="6005289" y="5532140"/>
            <a:ext cx="1238250" cy="83099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对称三</a:t>
            </a:r>
          </a:p>
          <a:p>
            <a:pPr algn="l"/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相电源</a:t>
            </a:r>
          </a:p>
        </p:txBody>
      </p:sp>
      <p:sp>
        <p:nvSpPr>
          <p:cNvPr id="457738" name="Line 10"/>
          <p:cNvSpPr>
            <a:spLocks noChangeShapeType="1"/>
          </p:cNvSpPr>
          <p:nvPr/>
        </p:nvSpPr>
        <p:spPr bwMode="auto">
          <a:xfrm>
            <a:off x="5241702" y="5327352"/>
            <a:ext cx="798512" cy="565150"/>
          </a:xfrm>
          <a:prstGeom prst="line">
            <a:avLst/>
          </a:prstGeom>
          <a:noFill/>
          <a:ln w="76200">
            <a:solidFill>
              <a:srgbClr val="66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7740" name="Line 12"/>
          <p:cNvSpPr>
            <a:spLocks noChangeShapeType="1"/>
          </p:cNvSpPr>
          <p:nvPr/>
        </p:nvSpPr>
        <p:spPr bwMode="auto">
          <a:xfrm>
            <a:off x="3862164" y="5298777"/>
            <a:ext cx="1393825" cy="0"/>
          </a:xfrm>
          <a:prstGeom prst="line">
            <a:avLst/>
          </a:prstGeom>
          <a:noFill/>
          <a:ln w="76200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55661" name="ShockwaveFlash1" r:id="rId2" imgW="5492880" imgH="3740040"/>
        </mc:Choice>
        <mc:Fallback>
          <p:control name="ShockwaveFlash1" r:id="rId2" imgW="5492880" imgH="3740040">
            <p:pic>
              <p:nvPicPr>
                <p:cNvPr id="15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1835696" y="1396554"/>
                  <a:ext cx="5492271" cy="3740298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66516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5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7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5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5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4" grpId="0" autoUpdateAnimBg="0"/>
      <p:bldP spid="457735" grpId="0" autoUpdateAnimBg="0"/>
      <p:bldP spid="457736" grpId="0" autoUpdateAnimBg="0"/>
      <p:bldP spid="457737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323850" y="1160463"/>
            <a:ext cx="8208963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三相电路由三相电源、三相负载和三相输电线路三部分组成。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539750" y="3332163"/>
            <a:ext cx="741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发电方面：比单相电源可提高功率；</a:t>
            </a: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539750" y="3908425"/>
            <a:ext cx="741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输电方面：比单相输电节省钢材；</a:t>
            </a:r>
          </a:p>
        </p:txBody>
      </p:sp>
      <p:sp>
        <p:nvSpPr>
          <p:cNvPr id="35865" name="Text Box 25" descr="花束"/>
          <p:cNvSpPr txBox="1">
            <a:spLocks noChangeArrowheads="1"/>
          </p:cNvSpPr>
          <p:nvPr/>
        </p:nvSpPr>
        <p:spPr bwMode="auto">
          <a:xfrm>
            <a:off x="496781" y="199475"/>
            <a:ext cx="4679950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CCCC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三相电路</a:t>
            </a:r>
          </a:p>
        </p:txBody>
      </p:sp>
      <p:sp>
        <p:nvSpPr>
          <p:cNvPr id="35866" name="Rectangle 26"/>
          <p:cNvSpPr>
            <a:spLocks noChangeArrowheads="1"/>
          </p:cNvSpPr>
          <p:nvPr/>
        </p:nvSpPr>
        <p:spPr bwMode="auto">
          <a:xfrm>
            <a:off x="611189" y="2565400"/>
            <a:ext cx="3024708" cy="52322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SzPct val="85000"/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三相电路的优点</a:t>
            </a:r>
          </a:p>
        </p:txBody>
      </p:sp>
      <p:sp>
        <p:nvSpPr>
          <p:cNvPr id="35876" name="Text Box 36"/>
          <p:cNvSpPr txBox="1">
            <a:spLocks noChangeArrowheads="1"/>
          </p:cNvSpPr>
          <p:nvPr/>
        </p:nvSpPr>
        <p:spPr bwMode="auto">
          <a:xfrm>
            <a:off x="542895" y="4495800"/>
            <a:ext cx="74882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配电方面：三相变压器比单相变压器经济且便于接入负载；</a:t>
            </a:r>
          </a:p>
        </p:txBody>
      </p:sp>
      <p:sp>
        <p:nvSpPr>
          <p:cNvPr id="35877" name="Text Box 37"/>
          <p:cNvSpPr txBox="1">
            <a:spLocks noChangeArrowheads="1"/>
          </p:cNvSpPr>
          <p:nvPr/>
        </p:nvSpPr>
        <p:spPr bwMode="auto">
          <a:xfrm>
            <a:off x="575469" y="5479627"/>
            <a:ext cx="74183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运电设备：结构简单、成本低、运行可靠、维护方便。</a:t>
            </a:r>
          </a:p>
        </p:txBody>
      </p:sp>
      <p:pic>
        <p:nvPicPr>
          <p:cNvPr id="35886" name="Picture 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797185"/>
            <a:ext cx="1800225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846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2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4" grpId="0"/>
      <p:bldP spid="35845" grpId="0"/>
      <p:bldP spid="35865" grpId="0"/>
      <p:bldP spid="35866" grpId="0" animBg="1"/>
      <p:bldP spid="35876" grpId="0"/>
      <p:bldP spid="358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61" y="1090613"/>
            <a:ext cx="9091151" cy="572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871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1" y="707001"/>
            <a:ext cx="8989922" cy="615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9907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5788" y="-152400"/>
            <a:ext cx="10315576" cy="716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166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668338" y="946150"/>
            <a:ext cx="2533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a. </a:t>
            </a:r>
            <a:r>
              <a:rPr lang="zh-CN" altLang="en-US">
                <a:solidFill>
                  <a:schemeClr val="tx1"/>
                </a:solidFill>
              </a:rPr>
              <a:t>瞬时值表达式</a:t>
            </a:r>
          </a:p>
        </p:txBody>
      </p:sp>
      <p:grpSp>
        <p:nvGrpSpPr>
          <p:cNvPr id="67655" name="Group 71"/>
          <p:cNvGrpSpPr>
            <a:grpSpLocks/>
          </p:cNvGrpSpPr>
          <p:nvPr/>
        </p:nvGrpSpPr>
        <p:grpSpPr bwMode="auto">
          <a:xfrm>
            <a:off x="763588" y="1355725"/>
            <a:ext cx="3327400" cy="2462213"/>
            <a:chOff x="265" y="854"/>
            <a:chExt cx="2096" cy="1551"/>
          </a:xfrm>
        </p:grpSpPr>
        <p:sp>
          <p:nvSpPr>
            <p:cNvPr id="67596" name="Text Box 12"/>
            <p:cNvSpPr txBox="1">
              <a:spLocks noChangeArrowheads="1"/>
            </p:cNvSpPr>
            <p:nvPr/>
          </p:nvSpPr>
          <p:spPr bwMode="auto">
            <a:xfrm>
              <a:off x="589" y="854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7591" name="Oval 7"/>
            <p:cNvSpPr>
              <a:spLocks noChangeArrowheads="1"/>
            </p:cNvSpPr>
            <p:nvPr/>
          </p:nvSpPr>
          <p:spPr bwMode="auto">
            <a:xfrm>
              <a:off x="547" y="1430"/>
              <a:ext cx="340" cy="340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0" name="Line 6"/>
            <p:cNvSpPr>
              <a:spLocks noChangeShapeType="1"/>
            </p:cNvSpPr>
            <p:nvPr/>
          </p:nvSpPr>
          <p:spPr bwMode="auto">
            <a:xfrm flipH="1">
              <a:off x="721" y="1174"/>
              <a:ext cx="0" cy="8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2" name="Oval 8"/>
            <p:cNvSpPr>
              <a:spLocks noChangeArrowheads="1"/>
            </p:cNvSpPr>
            <p:nvPr/>
          </p:nvSpPr>
          <p:spPr bwMode="auto">
            <a:xfrm>
              <a:off x="697" y="1118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3" name="Oval 9"/>
            <p:cNvSpPr>
              <a:spLocks noChangeArrowheads="1"/>
            </p:cNvSpPr>
            <p:nvPr/>
          </p:nvSpPr>
          <p:spPr bwMode="auto">
            <a:xfrm>
              <a:off x="694" y="2054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4" name="Text Box 10"/>
            <p:cNvSpPr txBox="1">
              <a:spLocks noChangeArrowheads="1"/>
            </p:cNvSpPr>
            <p:nvPr/>
          </p:nvSpPr>
          <p:spPr bwMode="auto">
            <a:xfrm>
              <a:off x="529" y="1174"/>
              <a:ext cx="1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67595" name="Text Box 11"/>
            <p:cNvSpPr txBox="1">
              <a:spLocks noChangeArrowheads="1"/>
            </p:cNvSpPr>
            <p:nvPr/>
          </p:nvSpPr>
          <p:spPr bwMode="auto">
            <a:xfrm>
              <a:off x="529" y="1728"/>
              <a:ext cx="1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67597" name="Text Box 13"/>
            <p:cNvSpPr txBox="1">
              <a:spLocks noChangeArrowheads="1"/>
            </p:cNvSpPr>
            <p:nvPr/>
          </p:nvSpPr>
          <p:spPr bwMode="auto">
            <a:xfrm>
              <a:off x="589" y="2087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67598" name="Text Box 14"/>
            <p:cNvSpPr txBox="1">
              <a:spLocks noChangeArrowheads="1"/>
            </p:cNvSpPr>
            <p:nvPr/>
          </p:nvSpPr>
          <p:spPr bwMode="auto">
            <a:xfrm>
              <a:off x="265" y="1418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u</a:t>
              </a:r>
              <a:r>
                <a:rPr lang="en-US" altLang="zh-CN" baseline="-25000">
                  <a:solidFill>
                    <a:schemeClr val="tx1"/>
                  </a:solidFill>
                </a:rPr>
                <a:t>A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7602" name="Text Box 18"/>
            <p:cNvSpPr txBox="1">
              <a:spLocks noChangeArrowheads="1"/>
            </p:cNvSpPr>
            <p:nvPr/>
          </p:nvSpPr>
          <p:spPr bwMode="auto">
            <a:xfrm>
              <a:off x="1289" y="884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67603" name="Oval 19"/>
            <p:cNvSpPr>
              <a:spLocks noChangeArrowheads="1"/>
            </p:cNvSpPr>
            <p:nvPr/>
          </p:nvSpPr>
          <p:spPr bwMode="auto">
            <a:xfrm>
              <a:off x="1247" y="1460"/>
              <a:ext cx="340" cy="340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04" name="Line 20"/>
            <p:cNvSpPr>
              <a:spLocks noChangeShapeType="1"/>
            </p:cNvSpPr>
            <p:nvPr/>
          </p:nvSpPr>
          <p:spPr bwMode="auto">
            <a:xfrm flipH="1">
              <a:off x="1421" y="1204"/>
              <a:ext cx="0" cy="8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05" name="Oval 21"/>
            <p:cNvSpPr>
              <a:spLocks noChangeArrowheads="1"/>
            </p:cNvSpPr>
            <p:nvPr/>
          </p:nvSpPr>
          <p:spPr bwMode="auto">
            <a:xfrm>
              <a:off x="1397" y="1148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06" name="Oval 22"/>
            <p:cNvSpPr>
              <a:spLocks noChangeArrowheads="1"/>
            </p:cNvSpPr>
            <p:nvPr/>
          </p:nvSpPr>
          <p:spPr bwMode="auto">
            <a:xfrm>
              <a:off x="1394" y="2084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07" name="Text Box 23"/>
            <p:cNvSpPr txBox="1">
              <a:spLocks noChangeArrowheads="1"/>
            </p:cNvSpPr>
            <p:nvPr/>
          </p:nvSpPr>
          <p:spPr bwMode="auto">
            <a:xfrm>
              <a:off x="1229" y="1204"/>
              <a:ext cx="1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67608" name="Text Box 24"/>
            <p:cNvSpPr txBox="1">
              <a:spLocks noChangeArrowheads="1"/>
            </p:cNvSpPr>
            <p:nvPr/>
          </p:nvSpPr>
          <p:spPr bwMode="auto">
            <a:xfrm>
              <a:off x="1229" y="1758"/>
              <a:ext cx="1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67609" name="Text Box 25"/>
            <p:cNvSpPr txBox="1">
              <a:spLocks noChangeArrowheads="1"/>
            </p:cNvSpPr>
            <p:nvPr/>
          </p:nvSpPr>
          <p:spPr bwMode="auto">
            <a:xfrm>
              <a:off x="1289" y="2117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67610" name="Text Box 26"/>
            <p:cNvSpPr txBox="1">
              <a:spLocks noChangeArrowheads="1"/>
            </p:cNvSpPr>
            <p:nvPr/>
          </p:nvSpPr>
          <p:spPr bwMode="auto">
            <a:xfrm>
              <a:off x="965" y="1448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u</a:t>
              </a:r>
              <a:r>
                <a:rPr lang="en-US" altLang="zh-CN" baseline="-25000">
                  <a:solidFill>
                    <a:schemeClr val="tx1"/>
                  </a:solidFill>
                </a:rPr>
                <a:t>B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7612" name="Text Box 28"/>
            <p:cNvSpPr txBox="1">
              <a:spLocks noChangeArrowheads="1"/>
            </p:cNvSpPr>
            <p:nvPr/>
          </p:nvSpPr>
          <p:spPr bwMode="auto">
            <a:xfrm>
              <a:off x="2021" y="884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7613" name="Oval 29"/>
            <p:cNvSpPr>
              <a:spLocks noChangeArrowheads="1"/>
            </p:cNvSpPr>
            <p:nvPr/>
          </p:nvSpPr>
          <p:spPr bwMode="auto">
            <a:xfrm>
              <a:off x="1979" y="1460"/>
              <a:ext cx="340" cy="340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14" name="Line 30"/>
            <p:cNvSpPr>
              <a:spLocks noChangeShapeType="1"/>
            </p:cNvSpPr>
            <p:nvPr/>
          </p:nvSpPr>
          <p:spPr bwMode="auto">
            <a:xfrm flipH="1">
              <a:off x="2153" y="1204"/>
              <a:ext cx="0" cy="8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15" name="Oval 31"/>
            <p:cNvSpPr>
              <a:spLocks noChangeArrowheads="1"/>
            </p:cNvSpPr>
            <p:nvPr/>
          </p:nvSpPr>
          <p:spPr bwMode="auto">
            <a:xfrm>
              <a:off x="2129" y="1148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16" name="Oval 32"/>
            <p:cNvSpPr>
              <a:spLocks noChangeArrowheads="1"/>
            </p:cNvSpPr>
            <p:nvPr/>
          </p:nvSpPr>
          <p:spPr bwMode="auto">
            <a:xfrm>
              <a:off x="2126" y="2084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17" name="Text Box 33"/>
            <p:cNvSpPr txBox="1">
              <a:spLocks noChangeArrowheads="1"/>
            </p:cNvSpPr>
            <p:nvPr/>
          </p:nvSpPr>
          <p:spPr bwMode="auto">
            <a:xfrm>
              <a:off x="1961" y="1204"/>
              <a:ext cx="1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67618" name="Text Box 34"/>
            <p:cNvSpPr txBox="1">
              <a:spLocks noChangeArrowheads="1"/>
            </p:cNvSpPr>
            <p:nvPr/>
          </p:nvSpPr>
          <p:spPr bwMode="auto">
            <a:xfrm>
              <a:off x="1961" y="1758"/>
              <a:ext cx="1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67619" name="Text Box 35"/>
            <p:cNvSpPr txBox="1">
              <a:spLocks noChangeArrowheads="1"/>
            </p:cNvSpPr>
            <p:nvPr/>
          </p:nvSpPr>
          <p:spPr bwMode="auto">
            <a:xfrm>
              <a:off x="2021" y="2117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67620" name="Text Box 36"/>
            <p:cNvSpPr txBox="1">
              <a:spLocks noChangeArrowheads="1"/>
            </p:cNvSpPr>
            <p:nvPr/>
          </p:nvSpPr>
          <p:spPr bwMode="auto">
            <a:xfrm>
              <a:off x="1697" y="1448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u</a:t>
              </a:r>
              <a:r>
                <a:rPr lang="en-US" altLang="zh-CN" baseline="-25000">
                  <a:solidFill>
                    <a:schemeClr val="tx1"/>
                  </a:solidFill>
                </a:rPr>
                <a:t>C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67621" name="Text Box 37"/>
          <p:cNvSpPr txBox="1">
            <a:spLocks noChangeArrowheads="1"/>
          </p:cNvSpPr>
          <p:nvPr/>
        </p:nvSpPr>
        <p:spPr bwMode="auto">
          <a:xfrm>
            <a:off x="763588" y="3975100"/>
            <a:ext cx="209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b. </a:t>
            </a:r>
            <a:r>
              <a:rPr lang="zh-CN" altLang="en-US">
                <a:solidFill>
                  <a:schemeClr val="tx1"/>
                </a:solidFill>
              </a:rPr>
              <a:t>波形图</a:t>
            </a:r>
          </a:p>
        </p:txBody>
      </p:sp>
      <p:grpSp>
        <p:nvGrpSpPr>
          <p:cNvPr id="67656" name="Group 72"/>
          <p:cNvGrpSpPr>
            <a:grpSpLocks/>
          </p:cNvGrpSpPr>
          <p:nvPr/>
        </p:nvGrpSpPr>
        <p:grpSpPr bwMode="auto">
          <a:xfrm>
            <a:off x="2820988" y="3819525"/>
            <a:ext cx="5568950" cy="2641600"/>
            <a:chOff x="1444" y="2406"/>
            <a:chExt cx="3508" cy="1664"/>
          </a:xfrm>
        </p:grpSpPr>
        <p:sp>
          <p:nvSpPr>
            <p:cNvPr id="67624" name="Line 40"/>
            <p:cNvSpPr>
              <a:spLocks noChangeShapeType="1"/>
            </p:cNvSpPr>
            <p:nvPr/>
          </p:nvSpPr>
          <p:spPr bwMode="auto">
            <a:xfrm>
              <a:off x="1444" y="3357"/>
              <a:ext cx="3508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23" name="Line 39"/>
            <p:cNvSpPr>
              <a:spLocks noChangeShapeType="1"/>
            </p:cNvSpPr>
            <p:nvPr/>
          </p:nvSpPr>
          <p:spPr bwMode="auto">
            <a:xfrm flipV="1">
              <a:off x="1743" y="2478"/>
              <a:ext cx="0" cy="15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25" name="Text Box 41"/>
            <p:cNvSpPr txBox="1">
              <a:spLocks noChangeArrowheads="1"/>
            </p:cNvSpPr>
            <p:nvPr/>
          </p:nvSpPr>
          <p:spPr bwMode="auto">
            <a:xfrm>
              <a:off x="4589" y="3363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sym typeface="Symbol" panose="05050102010706020507" pitchFamily="18" charset="2"/>
                </a:rPr>
                <a:t> </a:t>
              </a:r>
              <a:r>
                <a:rPr lang="en-US" altLang="zh-CN" i="1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67629" name="Text Box 45"/>
            <p:cNvSpPr txBox="1">
              <a:spLocks noChangeArrowheads="1"/>
            </p:cNvSpPr>
            <p:nvPr/>
          </p:nvSpPr>
          <p:spPr bwMode="auto">
            <a:xfrm>
              <a:off x="1489" y="33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7630" name="Text Box 46"/>
            <p:cNvSpPr txBox="1">
              <a:spLocks noChangeArrowheads="1"/>
            </p:cNvSpPr>
            <p:nvPr/>
          </p:nvSpPr>
          <p:spPr bwMode="auto">
            <a:xfrm>
              <a:off x="1922" y="2478"/>
              <a:ext cx="3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FFCC00"/>
                  </a:solidFill>
                </a:rPr>
                <a:t>u</a:t>
              </a:r>
              <a:r>
                <a:rPr lang="en-US" altLang="zh-CN" baseline="-25000">
                  <a:solidFill>
                    <a:srgbClr val="FFCC00"/>
                  </a:solidFill>
                </a:rPr>
                <a:t>A</a:t>
              </a:r>
              <a:endParaRPr lang="en-US" altLang="zh-CN">
                <a:solidFill>
                  <a:srgbClr val="FFCC00"/>
                </a:solidFill>
              </a:endParaRPr>
            </a:p>
          </p:txBody>
        </p:sp>
        <p:sp>
          <p:nvSpPr>
            <p:cNvPr id="67631" name="Freeform 47"/>
            <p:cNvSpPr>
              <a:spLocks/>
            </p:cNvSpPr>
            <p:nvPr/>
          </p:nvSpPr>
          <p:spPr bwMode="auto">
            <a:xfrm>
              <a:off x="3346" y="2766"/>
              <a:ext cx="1096" cy="1200"/>
            </a:xfrm>
            <a:custGeom>
              <a:avLst/>
              <a:gdLst>
                <a:gd name="T0" fmla="*/ 1056 w 1056"/>
                <a:gd name="T1" fmla="*/ 61 h 1200"/>
                <a:gd name="T2" fmla="*/ 930 w 1056"/>
                <a:gd name="T3" fmla="*/ 332 h 1200"/>
                <a:gd name="T4" fmla="*/ 847 w 1056"/>
                <a:gd name="T5" fmla="*/ 583 h 1200"/>
                <a:gd name="T6" fmla="*/ 774 w 1056"/>
                <a:gd name="T7" fmla="*/ 870 h 1200"/>
                <a:gd name="T8" fmla="*/ 690 w 1056"/>
                <a:gd name="T9" fmla="*/ 1090 h 1200"/>
                <a:gd name="T10" fmla="*/ 574 w 1056"/>
                <a:gd name="T11" fmla="*/ 1191 h 1200"/>
                <a:gd name="T12" fmla="*/ 449 w 1056"/>
                <a:gd name="T13" fmla="*/ 1034 h 1200"/>
                <a:gd name="T14" fmla="*/ 276 w 1056"/>
                <a:gd name="T15" fmla="*/ 577 h 1200"/>
                <a:gd name="T16" fmla="*/ 218 w 1056"/>
                <a:gd name="T17" fmla="*/ 363 h 1200"/>
                <a:gd name="T18" fmla="*/ 95 w 1056"/>
                <a:gd name="T19" fmla="*/ 63 h 1200"/>
                <a:gd name="T20" fmla="*/ 13 w 1056"/>
                <a:gd name="T21" fmla="*/ 9 h 1200"/>
                <a:gd name="T22" fmla="*/ 18 w 1056"/>
                <a:gd name="T23" fmla="*/ 9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6" h="1200">
                  <a:moveTo>
                    <a:pt x="1056" y="61"/>
                  </a:moveTo>
                  <a:cubicBezTo>
                    <a:pt x="1035" y="106"/>
                    <a:pt x="964" y="245"/>
                    <a:pt x="930" y="332"/>
                  </a:cubicBezTo>
                  <a:cubicBezTo>
                    <a:pt x="896" y="418"/>
                    <a:pt x="873" y="493"/>
                    <a:pt x="847" y="583"/>
                  </a:cubicBezTo>
                  <a:cubicBezTo>
                    <a:pt x="821" y="672"/>
                    <a:pt x="800" y="786"/>
                    <a:pt x="774" y="870"/>
                  </a:cubicBezTo>
                  <a:cubicBezTo>
                    <a:pt x="749" y="955"/>
                    <a:pt x="724" y="1037"/>
                    <a:pt x="690" y="1090"/>
                  </a:cubicBezTo>
                  <a:cubicBezTo>
                    <a:pt x="656" y="1143"/>
                    <a:pt x="614" y="1200"/>
                    <a:pt x="574" y="1191"/>
                  </a:cubicBezTo>
                  <a:cubicBezTo>
                    <a:pt x="534" y="1182"/>
                    <a:pt x="500" y="1136"/>
                    <a:pt x="449" y="1034"/>
                  </a:cubicBezTo>
                  <a:cubicBezTo>
                    <a:pt x="399" y="932"/>
                    <a:pt x="315" y="688"/>
                    <a:pt x="276" y="577"/>
                  </a:cubicBezTo>
                  <a:cubicBezTo>
                    <a:pt x="238" y="465"/>
                    <a:pt x="249" y="449"/>
                    <a:pt x="218" y="363"/>
                  </a:cubicBezTo>
                  <a:cubicBezTo>
                    <a:pt x="188" y="278"/>
                    <a:pt x="129" y="122"/>
                    <a:pt x="95" y="63"/>
                  </a:cubicBezTo>
                  <a:cubicBezTo>
                    <a:pt x="61" y="5"/>
                    <a:pt x="26" y="17"/>
                    <a:pt x="13" y="9"/>
                  </a:cubicBezTo>
                  <a:cubicBezTo>
                    <a:pt x="0" y="0"/>
                    <a:pt x="18" y="9"/>
                    <a:pt x="18" y="9"/>
                  </a:cubicBezTo>
                </a:path>
              </a:pathLst>
            </a:custGeom>
            <a:noFill/>
            <a:ln w="317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32" name="Freeform 48"/>
            <p:cNvSpPr>
              <a:spLocks/>
            </p:cNvSpPr>
            <p:nvPr/>
          </p:nvSpPr>
          <p:spPr bwMode="auto">
            <a:xfrm>
              <a:off x="1743" y="2758"/>
              <a:ext cx="1621" cy="1208"/>
            </a:xfrm>
            <a:custGeom>
              <a:avLst/>
              <a:gdLst>
                <a:gd name="T0" fmla="*/ 0 w 966"/>
                <a:gd name="T1" fmla="*/ 616 h 1208"/>
                <a:gd name="T2" fmla="*/ 45 w 966"/>
                <a:gd name="T3" fmla="*/ 403 h 1208"/>
                <a:gd name="T4" fmla="*/ 84 w 966"/>
                <a:gd name="T5" fmla="*/ 232 h 1208"/>
                <a:gd name="T6" fmla="*/ 134 w 966"/>
                <a:gd name="T7" fmla="*/ 81 h 1208"/>
                <a:gd name="T8" fmla="*/ 190 w 966"/>
                <a:gd name="T9" fmla="*/ 11 h 1208"/>
                <a:gd name="T10" fmla="*/ 260 w 966"/>
                <a:gd name="T11" fmla="*/ 96 h 1208"/>
                <a:gd name="T12" fmla="*/ 330 w 966"/>
                <a:gd name="T13" fmla="*/ 348 h 1208"/>
                <a:gd name="T14" fmla="*/ 382 w 966"/>
                <a:gd name="T15" fmla="*/ 602 h 1208"/>
                <a:gd name="T16" fmla="*/ 441 w 966"/>
                <a:gd name="T17" fmla="*/ 876 h 1208"/>
                <a:gd name="T18" fmla="*/ 499 w 966"/>
                <a:gd name="T19" fmla="*/ 1097 h 1208"/>
                <a:gd name="T20" fmla="*/ 579 w 966"/>
                <a:gd name="T21" fmla="*/ 1200 h 1208"/>
                <a:gd name="T22" fmla="*/ 665 w 966"/>
                <a:gd name="T23" fmla="*/ 1041 h 1208"/>
                <a:gd name="T24" fmla="*/ 763 w 966"/>
                <a:gd name="T25" fmla="*/ 619 h 1208"/>
                <a:gd name="T26" fmla="*/ 808 w 966"/>
                <a:gd name="T27" fmla="*/ 391 h 1208"/>
                <a:gd name="T28" fmla="*/ 888 w 966"/>
                <a:gd name="T29" fmla="*/ 101 h 1208"/>
                <a:gd name="T30" fmla="*/ 954 w 966"/>
                <a:gd name="T31" fmla="*/ 14 h 1208"/>
                <a:gd name="T32" fmla="*/ 957 w 966"/>
                <a:gd name="T33" fmla="*/ 20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6" h="1208">
                  <a:moveTo>
                    <a:pt x="0" y="616"/>
                  </a:moveTo>
                  <a:cubicBezTo>
                    <a:pt x="7" y="579"/>
                    <a:pt x="31" y="467"/>
                    <a:pt x="45" y="403"/>
                  </a:cubicBezTo>
                  <a:cubicBezTo>
                    <a:pt x="59" y="340"/>
                    <a:pt x="69" y="286"/>
                    <a:pt x="84" y="232"/>
                  </a:cubicBezTo>
                  <a:cubicBezTo>
                    <a:pt x="99" y="178"/>
                    <a:pt x="116" y="117"/>
                    <a:pt x="134" y="81"/>
                  </a:cubicBezTo>
                  <a:cubicBezTo>
                    <a:pt x="151" y="44"/>
                    <a:pt x="169" y="8"/>
                    <a:pt x="190" y="11"/>
                  </a:cubicBezTo>
                  <a:cubicBezTo>
                    <a:pt x="211" y="15"/>
                    <a:pt x="236" y="41"/>
                    <a:pt x="260" y="96"/>
                  </a:cubicBezTo>
                  <a:cubicBezTo>
                    <a:pt x="283" y="153"/>
                    <a:pt x="309" y="264"/>
                    <a:pt x="330" y="348"/>
                  </a:cubicBezTo>
                  <a:cubicBezTo>
                    <a:pt x="349" y="431"/>
                    <a:pt x="363" y="514"/>
                    <a:pt x="382" y="602"/>
                  </a:cubicBezTo>
                  <a:cubicBezTo>
                    <a:pt x="401" y="690"/>
                    <a:pt x="421" y="793"/>
                    <a:pt x="441" y="876"/>
                  </a:cubicBezTo>
                  <a:cubicBezTo>
                    <a:pt x="461" y="958"/>
                    <a:pt x="476" y="1043"/>
                    <a:pt x="499" y="1097"/>
                  </a:cubicBezTo>
                  <a:cubicBezTo>
                    <a:pt x="522" y="1151"/>
                    <a:pt x="551" y="1208"/>
                    <a:pt x="579" y="1200"/>
                  </a:cubicBezTo>
                  <a:cubicBezTo>
                    <a:pt x="607" y="1190"/>
                    <a:pt x="634" y="1137"/>
                    <a:pt x="665" y="1041"/>
                  </a:cubicBezTo>
                  <a:cubicBezTo>
                    <a:pt x="696" y="944"/>
                    <a:pt x="739" y="727"/>
                    <a:pt x="763" y="619"/>
                  </a:cubicBezTo>
                  <a:cubicBezTo>
                    <a:pt x="787" y="511"/>
                    <a:pt x="788" y="477"/>
                    <a:pt x="808" y="391"/>
                  </a:cubicBezTo>
                  <a:cubicBezTo>
                    <a:pt x="829" y="305"/>
                    <a:pt x="864" y="164"/>
                    <a:pt x="888" y="101"/>
                  </a:cubicBezTo>
                  <a:cubicBezTo>
                    <a:pt x="912" y="38"/>
                    <a:pt x="942" y="28"/>
                    <a:pt x="954" y="14"/>
                  </a:cubicBezTo>
                  <a:cubicBezTo>
                    <a:pt x="966" y="0"/>
                    <a:pt x="957" y="19"/>
                    <a:pt x="957" y="20"/>
                  </a:cubicBezTo>
                </a:path>
              </a:pathLst>
            </a:custGeom>
            <a:noFill/>
            <a:ln w="317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33" name="Text Box 49"/>
            <p:cNvSpPr txBox="1">
              <a:spLocks noChangeArrowheads="1"/>
            </p:cNvSpPr>
            <p:nvPr/>
          </p:nvSpPr>
          <p:spPr bwMode="auto">
            <a:xfrm>
              <a:off x="2357" y="2472"/>
              <a:ext cx="3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accent1"/>
                  </a:solidFill>
                </a:rPr>
                <a:t>u</a:t>
              </a:r>
              <a:r>
                <a:rPr lang="en-US" altLang="zh-CN" baseline="-25000">
                  <a:solidFill>
                    <a:schemeClr val="accent1"/>
                  </a:solidFill>
                </a:rPr>
                <a:t>B</a:t>
              </a:r>
              <a:endParaRPr lang="en-US" altLang="zh-CN">
                <a:solidFill>
                  <a:schemeClr val="accent1"/>
                </a:solidFill>
              </a:endParaRPr>
            </a:p>
          </p:txBody>
        </p:sp>
        <p:sp>
          <p:nvSpPr>
            <p:cNvPr id="67636" name="Freeform 52"/>
            <p:cNvSpPr>
              <a:spLocks/>
            </p:cNvSpPr>
            <p:nvPr/>
          </p:nvSpPr>
          <p:spPr bwMode="auto">
            <a:xfrm>
              <a:off x="3792" y="2768"/>
              <a:ext cx="716" cy="1200"/>
            </a:xfrm>
            <a:custGeom>
              <a:avLst/>
              <a:gdLst>
                <a:gd name="T0" fmla="*/ 690 w 690"/>
                <a:gd name="T1" fmla="*/ 1090 h 1200"/>
                <a:gd name="T2" fmla="*/ 574 w 690"/>
                <a:gd name="T3" fmla="*/ 1191 h 1200"/>
                <a:gd name="T4" fmla="*/ 449 w 690"/>
                <a:gd name="T5" fmla="*/ 1034 h 1200"/>
                <a:gd name="T6" fmla="*/ 276 w 690"/>
                <a:gd name="T7" fmla="*/ 577 h 1200"/>
                <a:gd name="T8" fmla="*/ 218 w 690"/>
                <a:gd name="T9" fmla="*/ 363 h 1200"/>
                <a:gd name="T10" fmla="*/ 95 w 690"/>
                <a:gd name="T11" fmla="*/ 63 h 1200"/>
                <a:gd name="T12" fmla="*/ 13 w 690"/>
                <a:gd name="T13" fmla="*/ 9 h 1200"/>
                <a:gd name="T14" fmla="*/ 18 w 690"/>
                <a:gd name="T15" fmla="*/ 9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0" h="1200">
                  <a:moveTo>
                    <a:pt x="690" y="1090"/>
                  </a:moveTo>
                  <a:cubicBezTo>
                    <a:pt x="671" y="1107"/>
                    <a:pt x="614" y="1200"/>
                    <a:pt x="574" y="1191"/>
                  </a:cubicBezTo>
                  <a:cubicBezTo>
                    <a:pt x="534" y="1182"/>
                    <a:pt x="500" y="1136"/>
                    <a:pt x="449" y="1034"/>
                  </a:cubicBezTo>
                  <a:cubicBezTo>
                    <a:pt x="399" y="932"/>
                    <a:pt x="315" y="688"/>
                    <a:pt x="276" y="577"/>
                  </a:cubicBezTo>
                  <a:cubicBezTo>
                    <a:pt x="238" y="465"/>
                    <a:pt x="249" y="449"/>
                    <a:pt x="218" y="363"/>
                  </a:cubicBezTo>
                  <a:cubicBezTo>
                    <a:pt x="188" y="278"/>
                    <a:pt x="129" y="122"/>
                    <a:pt x="95" y="63"/>
                  </a:cubicBezTo>
                  <a:cubicBezTo>
                    <a:pt x="61" y="5"/>
                    <a:pt x="26" y="17"/>
                    <a:pt x="13" y="9"/>
                  </a:cubicBezTo>
                  <a:cubicBezTo>
                    <a:pt x="0" y="0"/>
                    <a:pt x="18" y="9"/>
                    <a:pt x="18" y="9"/>
                  </a:cubicBezTo>
                </a:path>
              </a:pathLst>
            </a:custGeom>
            <a:noFill/>
            <a:ln w="317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37" name="Freeform 53"/>
            <p:cNvSpPr>
              <a:spLocks/>
            </p:cNvSpPr>
            <p:nvPr/>
          </p:nvSpPr>
          <p:spPr bwMode="auto">
            <a:xfrm>
              <a:off x="2188" y="2760"/>
              <a:ext cx="1621" cy="1208"/>
            </a:xfrm>
            <a:custGeom>
              <a:avLst/>
              <a:gdLst>
                <a:gd name="T0" fmla="*/ 0 w 966"/>
                <a:gd name="T1" fmla="*/ 616 h 1208"/>
                <a:gd name="T2" fmla="*/ 45 w 966"/>
                <a:gd name="T3" fmla="*/ 403 h 1208"/>
                <a:gd name="T4" fmla="*/ 84 w 966"/>
                <a:gd name="T5" fmla="*/ 232 h 1208"/>
                <a:gd name="T6" fmla="*/ 134 w 966"/>
                <a:gd name="T7" fmla="*/ 81 h 1208"/>
                <a:gd name="T8" fmla="*/ 190 w 966"/>
                <a:gd name="T9" fmla="*/ 11 h 1208"/>
                <a:gd name="T10" fmla="*/ 260 w 966"/>
                <a:gd name="T11" fmla="*/ 96 h 1208"/>
                <a:gd name="T12" fmla="*/ 330 w 966"/>
                <a:gd name="T13" fmla="*/ 348 h 1208"/>
                <a:gd name="T14" fmla="*/ 382 w 966"/>
                <a:gd name="T15" fmla="*/ 602 h 1208"/>
                <a:gd name="T16" fmla="*/ 441 w 966"/>
                <a:gd name="T17" fmla="*/ 876 h 1208"/>
                <a:gd name="T18" fmla="*/ 499 w 966"/>
                <a:gd name="T19" fmla="*/ 1097 h 1208"/>
                <a:gd name="T20" fmla="*/ 579 w 966"/>
                <a:gd name="T21" fmla="*/ 1200 h 1208"/>
                <a:gd name="T22" fmla="*/ 665 w 966"/>
                <a:gd name="T23" fmla="*/ 1041 h 1208"/>
                <a:gd name="T24" fmla="*/ 763 w 966"/>
                <a:gd name="T25" fmla="*/ 619 h 1208"/>
                <a:gd name="T26" fmla="*/ 808 w 966"/>
                <a:gd name="T27" fmla="*/ 391 h 1208"/>
                <a:gd name="T28" fmla="*/ 888 w 966"/>
                <a:gd name="T29" fmla="*/ 101 h 1208"/>
                <a:gd name="T30" fmla="*/ 954 w 966"/>
                <a:gd name="T31" fmla="*/ 14 h 1208"/>
                <a:gd name="T32" fmla="*/ 957 w 966"/>
                <a:gd name="T33" fmla="*/ 20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6" h="1208">
                  <a:moveTo>
                    <a:pt x="0" y="616"/>
                  </a:moveTo>
                  <a:cubicBezTo>
                    <a:pt x="7" y="579"/>
                    <a:pt x="31" y="467"/>
                    <a:pt x="45" y="403"/>
                  </a:cubicBezTo>
                  <a:cubicBezTo>
                    <a:pt x="59" y="340"/>
                    <a:pt x="69" y="286"/>
                    <a:pt x="84" y="232"/>
                  </a:cubicBezTo>
                  <a:cubicBezTo>
                    <a:pt x="99" y="178"/>
                    <a:pt x="116" y="117"/>
                    <a:pt x="134" y="81"/>
                  </a:cubicBezTo>
                  <a:cubicBezTo>
                    <a:pt x="151" y="44"/>
                    <a:pt x="169" y="8"/>
                    <a:pt x="190" y="11"/>
                  </a:cubicBezTo>
                  <a:cubicBezTo>
                    <a:pt x="211" y="15"/>
                    <a:pt x="236" y="41"/>
                    <a:pt x="260" y="96"/>
                  </a:cubicBezTo>
                  <a:cubicBezTo>
                    <a:pt x="283" y="153"/>
                    <a:pt x="309" y="264"/>
                    <a:pt x="330" y="348"/>
                  </a:cubicBezTo>
                  <a:cubicBezTo>
                    <a:pt x="349" y="431"/>
                    <a:pt x="363" y="514"/>
                    <a:pt x="382" y="602"/>
                  </a:cubicBezTo>
                  <a:cubicBezTo>
                    <a:pt x="401" y="690"/>
                    <a:pt x="421" y="793"/>
                    <a:pt x="441" y="876"/>
                  </a:cubicBezTo>
                  <a:cubicBezTo>
                    <a:pt x="461" y="958"/>
                    <a:pt x="476" y="1043"/>
                    <a:pt x="499" y="1097"/>
                  </a:cubicBezTo>
                  <a:cubicBezTo>
                    <a:pt x="522" y="1151"/>
                    <a:pt x="551" y="1208"/>
                    <a:pt x="579" y="1200"/>
                  </a:cubicBezTo>
                  <a:cubicBezTo>
                    <a:pt x="607" y="1190"/>
                    <a:pt x="634" y="1137"/>
                    <a:pt x="665" y="1041"/>
                  </a:cubicBezTo>
                  <a:cubicBezTo>
                    <a:pt x="696" y="944"/>
                    <a:pt x="739" y="727"/>
                    <a:pt x="763" y="619"/>
                  </a:cubicBezTo>
                  <a:cubicBezTo>
                    <a:pt x="787" y="511"/>
                    <a:pt x="788" y="477"/>
                    <a:pt x="808" y="391"/>
                  </a:cubicBezTo>
                  <a:cubicBezTo>
                    <a:pt x="829" y="305"/>
                    <a:pt x="864" y="164"/>
                    <a:pt x="888" y="101"/>
                  </a:cubicBezTo>
                  <a:cubicBezTo>
                    <a:pt x="912" y="38"/>
                    <a:pt x="942" y="28"/>
                    <a:pt x="954" y="14"/>
                  </a:cubicBezTo>
                  <a:cubicBezTo>
                    <a:pt x="966" y="0"/>
                    <a:pt x="957" y="19"/>
                    <a:pt x="957" y="20"/>
                  </a:cubicBezTo>
                </a:path>
              </a:pathLst>
            </a:custGeom>
            <a:noFill/>
            <a:ln w="317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39" name="Freeform 55"/>
            <p:cNvSpPr>
              <a:spLocks/>
            </p:cNvSpPr>
            <p:nvPr/>
          </p:nvSpPr>
          <p:spPr bwMode="auto">
            <a:xfrm>
              <a:off x="1752" y="3366"/>
              <a:ext cx="435" cy="600"/>
            </a:xfrm>
            <a:custGeom>
              <a:avLst/>
              <a:gdLst>
                <a:gd name="T0" fmla="*/ 0 w 419"/>
                <a:gd name="T1" fmla="*/ 489 h 600"/>
                <a:gd name="T2" fmla="*/ 129 w 419"/>
                <a:gd name="T3" fmla="*/ 592 h 600"/>
                <a:gd name="T4" fmla="*/ 268 w 419"/>
                <a:gd name="T5" fmla="*/ 433 h 600"/>
                <a:gd name="T6" fmla="*/ 419 w 419"/>
                <a:gd name="T7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9" h="600">
                  <a:moveTo>
                    <a:pt x="0" y="489"/>
                  </a:moveTo>
                  <a:cubicBezTo>
                    <a:pt x="21" y="506"/>
                    <a:pt x="84" y="600"/>
                    <a:pt x="129" y="592"/>
                  </a:cubicBezTo>
                  <a:cubicBezTo>
                    <a:pt x="175" y="582"/>
                    <a:pt x="220" y="532"/>
                    <a:pt x="268" y="433"/>
                  </a:cubicBezTo>
                  <a:cubicBezTo>
                    <a:pt x="316" y="334"/>
                    <a:pt x="394" y="72"/>
                    <a:pt x="419" y="0"/>
                  </a:cubicBezTo>
                </a:path>
              </a:pathLst>
            </a:custGeom>
            <a:noFill/>
            <a:ln w="317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41" name="Freeform 57"/>
            <p:cNvSpPr>
              <a:spLocks/>
            </p:cNvSpPr>
            <p:nvPr/>
          </p:nvSpPr>
          <p:spPr bwMode="auto">
            <a:xfrm>
              <a:off x="2904" y="2786"/>
              <a:ext cx="1493" cy="1200"/>
            </a:xfrm>
            <a:custGeom>
              <a:avLst/>
              <a:gdLst>
                <a:gd name="T0" fmla="*/ 890 w 890"/>
                <a:gd name="T1" fmla="*/ 594 h 1248"/>
                <a:gd name="T2" fmla="*/ 860 w 890"/>
                <a:gd name="T3" fmla="*/ 423 h 1248"/>
                <a:gd name="T4" fmla="*/ 821 w 890"/>
                <a:gd name="T5" fmla="*/ 240 h 1248"/>
                <a:gd name="T6" fmla="*/ 764 w 890"/>
                <a:gd name="T7" fmla="*/ 81 h 1248"/>
                <a:gd name="T8" fmla="*/ 710 w 890"/>
                <a:gd name="T9" fmla="*/ 12 h 1248"/>
                <a:gd name="T10" fmla="*/ 653 w 890"/>
                <a:gd name="T11" fmla="*/ 63 h 1248"/>
                <a:gd name="T12" fmla="*/ 575 w 890"/>
                <a:gd name="T13" fmla="*/ 345 h 1248"/>
                <a:gd name="T14" fmla="*/ 524 w 890"/>
                <a:gd name="T15" fmla="*/ 606 h 1248"/>
                <a:gd name="T16" fmla="*/ 479 w 890"/>
                <a:gd name="T17" fmla="*/ 905 h 1248"/>
                <a:gd name="T18" fmla="*/ 427 w 890"/>
                <a:gd name="T19" fmla="*/ 1134 h 1248"/>
                <a:gd name="T20" fmla="*/ 355 w 890"/>
                <a:gd name="T21" fmla="*/ 1239 h 1248"/>
                <a:gd name="T22" fmla="*/ 278 w 890"/>
                <a:gd name="T23" fmla="*/ 1075 h 1248"/>
                <a:gd name="T24" fmla="*/ 171 w 890"/>
                <a:gd name="T25" fmla="*/ 600 h 1248"/>
                <a:gd name="T26" fmla="*/ 135 w 890"/>
                <a:gd name="T27" fmla="*/ 378 h 1248"/>
                <a:gd name="T28" fmla="*/ 59 w 890"/>
                <a:gd name="T29" fmla="*/ 66 h 1248"/>
                <a:gd name="T30" fmla="*/ 8 w 890"/>
                <a:gd name="T31" fmla="*/ 9 h 1248"/>
                <a:gd name="T32" fmla="*/ 11 w 890"/>
                <a:gd name="T33" fmla="*/ 9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0" h="1248">
                  <a:moveTo>
                    <a:pt x="890" y="594"/>
                  </a:moveTo>
                  <a:cubicBezTo>
                    <a:pt x="885" y="566"/>
                    <a:pt x="871" y="482"/>
                    <a:pt x="860" y="423"/>
                  </a:cubicBezTo>
                  <a:cubicBezTo>
                    <a:pt x="849" y="364"/>
                    <a:pt x="837" y="297"/>
                    <a:pt x="821" y="240"/>
                  </a:cubicBezTo>
                  <a:cubicBezTo>
                    <a:pt x="805" y="183"/>
                    <a:pt x="782" y="119"/>
                    <a:pt x="764" y="81"/>
                  </a:cubicBezTo>
                  <a:cubicBezTo>
                    <a:pt x="746" y="43"/>
                    <a:pt x="728" y="15"/>
                    <a:pt x="710" y="12"/>
                  </a:cubicBezTo>
                  <a:cubicBezTo>
                    <a:pt x="692" y="9"/>
                    <a:pt x="675" y="8"/>
                    <a:pt x="653" y="63"/>
                  </a:cubicBezTo>
                  <a:cubicBezTo>
                    <a:pt x="631" y="118"/>
                    <a:pt x="596" y="255"/>
                    <a:pt x="575" y="345"/>
                  </a:cubicBezTo>
                  <a:cubicBezTo>
                    <a:pt x="554" y="435"/>
                    <a:pt x="540" y="513"/>
                    <a:pt x="524" y="606"/>
                  </a:cubicBezTo>
                  <a:cubicBezTo>
                    <a:pt x="508" y="699"/>
                    <a:pt x="495" y="817"/>
                    <a:pt x="479" y="905"/>
                  </a:cubicBezTo>
                  <a:cubicBezTo>
                    <a:pt x="463" y="993"/>
                    <a:pt x="448" y="1078"/>
                    <a:pt x="427" y="1134"/>
                  </a:cubicBezTo>
                  <a:cubicBezTo>
                    <a:pt x="406" y="1189"/>
                    <a:pt x="380" y="1248"/>
                    <a:pt x="355" y="1239"/>
                  </a:cubicBezTo>
                  <a:cubicBezTo>
                    <a:pt x="330" y="1229"/>
                    <a:pt x="309" y="1181"/>
                    <a:pt x="278" y="1075"/>
                  </a:cubicBezTo>
                  <a:cubicBezTo>
                    <a:pt x="247" y="969"/>
                    <a:pt x="195" y="716"/>
                    <a:pt x="171" y="600"/>
                  </a:cubicBezTo>
                  <a:cubicBezTo>
                    <a:pt x="147" y="484"/>
                    <a:pt x="154" y="467"/>
                    <a:pt x="135" y="378"/>
                  </a:cubicBezTo>
                  <a:cubicBezTo>
                    <a:pt x="116" y="289"/>
                    <a:pt x="80" y="127"/>
                    <a:pt x="59" y="66"/>
                  </a:cubicBezTo>
                  <a:cubicBezTo>
                    <a:pt x="38" y="5"/>
                    <a:pt x="16" y="18"/>
                    <a:pt x="8" y="9"/>
                  </a:cubicBezTo>
                  <a:cubicBezTo>
                    <a:pt x="0" y="0"/>
                    <a:pt x="11" y="9"/>
                    <a:pt x="11" y="9"/>
                  </a:cubicBezTo>
                </a:path>
              </a:pathLst>
            </a:cu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42" name="Freeform 58"/>
            <p:cNvSpPr>
              <a:spLocks/>
            </p:cNvSpPr>
            <p:nvPr/>
          </p:nvSpPr>
          <p:spPr bwMode="auto">
            <a:xfrm>
              <a:off x="1743" y="2778"/>
              <a:ext cx="1185" cy="1208"/>
            </a:xfrm>
            <a:custGeom>
              <a:avLst/>
              <a:gdLst>
                <a:gd name="T0" fmla="*/ 0 w 1142"/>
                <a:gd name="T1" fmla="*/ 96 h 1208"/>
                <a:gd name="T2" fmla="*/ 114 w 1142"/>
                <a:gd name="T3" fmla="*/ 348 h 1208"/>
                <a:gd name="T4" fmla="*/ 198 w 1142"/>
                <a:gd name="T5" fmla="*/ 602 h 1208"/>
                <a:gd name="T6" fmla="*/ 293 w 1142"/>
                <a:gd name="T7" fmla="*/ 876 h 1208"/>
                <a:gd name="T8" fmla="*/ 387 w 1142"/>
                <a:gd name="T9" fmla="*/ 1097 h 1208"/>
                <a:gd name="T10" fmla="*/ 516 w 1142"/>
                <a:gd name="T11" fmla="*/ 1200 h 1208"/>
                <a:gd name="T12" fmla="*/ 655 w 1142"/>
                <a:gd name="T13" fmla="*/ 1041 h 1208"/>
                <a:gd name="T14" fmla="*/ 814 w 1142"/>
                <a:gd name="T15" fmla="*/ 619 h 1208"/>
                <a:gd name="T16" fmla="*/ 887 w 1142"/>
                <a:gd name="T17" fmla="*/ 391 h 1208"/>
                <a:gd name="T18" fmla="*/ 1016 w 1142"/>
                <a:gd name="T19" fmla="*/ 101 h 1208"/>
                <a:gd name="T20" fmla="*/ 1123 w 1142"/>
                <a:gd name="T21" fmla="*/ 14 h 1208"/>
                <a:gd name="T22" fmla="*/ 1127 w 1142"/>
                <a:gd name="T23" fmla="*/ 20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42" h="1208">
                  <a:moveTo>
                    <a:pt x="0" y="96"/>
                  </a:moveTo>
                  <a:cubicBezTo>
                    <a:pt x="19" y="138"/>
                    <a:pt x="80" y="264"/>
                    <a:pt x="114" y="348"/>
                  </a:cubicBezTo>
                  <a:cubicBezTo>
                    <a:pt x="144" y="431"/>
                    <a:pt x="167" y="514"/>
                    <a:pt x="198" y="602"/>
                  </a:cubicBezTo>
                  <a:cubicBezTo>
                    <a:pt x="228" y="690"/>
                    <a:pt x="261" y="793"/>
                    <a:pt x="293" y="876"/>
                  </a:cubicBezTo>
                  <a:cubicBezTo>
                    <a:pt x="325" y="958"/>
                    <a:pt x="350" y="1043"/>
                    <a:pt x="387" y="1097"/>
                  </a:cubicBezTo>
                  <a:cubicBezTo>
                    <a:pt x="424" y="1151"/>
                    <a:pt x="471" y="1208"/>
                    <a:pt x="516" y="1200"/>
                  </a:cubicBezTo>
                  <a:cubicBezTo>
                    <a:pt x="562" y="1190"/>
                    <a:pt x="605" y="1137"/>
                    <a:pt x="655" y="1041"/>
                  </a:cubicBezTo>
                  <a:cubicBezTo>
                    <a:pt x="705" y="944"/>
                    <a:pt x="775" y="727"/>
                    <a:pt x="814" y="619"/>
                  </a:cubicBezTo>
                  <a:cubicBezTo>
                    <a:pt x="853" y="511"/>
                    <a:pt x="854" y="477"/>
                    <a:pt x="887" y="391"/>
                  </a:cubicBezTo>
                  <a:cubicBezTo>
                    <a:pt x="920" y="305"/>
                    <a:pt x="977" y="164"/>
                    <a:pt x="1016" y="101"/>
                  </a:cubicBezTo>
                  <a:cubicBezTo>
                    <a:pt x="1055" y="38"/>
                    <a:pt x="1103" y="28"/>
                    <a:pt x="1123" y="14"/>
                  </a:cubicBezTo>
                  <a:cubicBezTo>
                    <a:pt x="1142" y="0"/>
                    <a:pt x="1127" y="19"/>
                    <a:pt x="1127" y="20"/>
                  </a:cubicBezTo>
                </a:path>
              </a:pathLst>
            </a:cu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43" name="Text Box 59"/>
            <p:cNvSpPr txBox="1">
              <a:spLocks noChangeArrowheads="1"/>
            </p:cNvSpPr>
            <p:nvPr/>
          </p:nvSpPr>
          <p:spPr bwMode="auto">
            <a:xfrm>
              <a:off x="1491" y="2406"/>
              <a:ext cx="2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u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7644" name="Text Box 60"/>
            <p:cNvSpPr txBox="1">
              <a:spLocks noChangeArrowheads="1"/>
            </p:cNvSpPr>
            <p:nvPr/>
          </p:nvSpPr>
          <p:spPr bwMode="auto">
            <a:xfrm>
              <a:off x="2794" y="2486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FF0000"/>
                  </a:solidFill>
                </a:rPr>
                <a:t>u</a:t>
              </a:r>
              <a:r>
                <a:rPr lang="en-US" altLang="zh-CN" baseline="-25000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67648" name="Object 64"/>
          <p:cNvGraphicFramePr>
            <a:graphicFrameLocks noChangeAspect="1"/>
          </p:cNvGraphicFramePr>
          <p:nvPr/>
        </p:nvGraphicFramePr>
        <p:xfrm>
          <a:off x="4808538" y="1863725"/>
          <a:ext cx="3373437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0" name="Equation" r:id="rId3" imgW="1714320" imgH="774360" progId="Equation.3">
                  <p:embed/>
                </p:oleObj>
              </mc:Choice>
              <mc:Fallback>
                <p:oleObj name="Equation" r:id="rId3" imgW="1714320" imgH="77436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8" y="1863725"/>
                        <a:ext cx="3373437" cy="152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54" name="Rectangle 70"/>
          <p:cNvSpPr>
            <a:spLocks noChangeArrowheads="1"/>
          </p:cNvSpPr>
          <p:nvPr/>
        </p:nvSpPr>
        <p:spPr bwMode="auto">
          <a:xfrm>
            <a:off x="0" y="298450"/>
            <a:ext cx="4008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2.  </a:t>
            </a:r>
            <a:r>
              <a:rPr lang="zh-CN" altLang="en-US">
                <a:solidFill>
                  <a:schemeClr val="tx1"/>
                </a:solidFill>
              </a:rPr>
              <a:t>对称三相电源的表示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autoUpdateAnimBg="0"/>
      <p:bldP spid="6762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076325" y="596900"/>
            <a:ext cx="333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c. </a:t>
            </a:r>
            <a:r>
              <a:rPr lang="zh-CN" altLang="en-US">
                <a:solidFill>
                  <a:schemeClr val="tx1"/>
                </a:solidFill>
              </a:rPr>
              <a:t>相量表示</a:t>
            </a:r>
          </a:p>
        </p:txBody>
      </p:sp>
      <p:sp>
        <p:nvSpPr>
          <p:cNvPr id="68626" name="Text Box 18"/>
          <p:cNvSpPr txBox="1">
            <a:spLocks noChangeArrowheads="1"/>
          </p:cNvSpPr>
          <p:nvPr/>
        </p:nvSpPr>
        <p:spPr bwMode="auto">
          <a:xfrm>
            <a:off x="819150" y="3892550"/>
            <a:ext cx="3738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3. </a:t>
            </a:r>
            <a:r>
              <a:rPr lang="zh-CN" altLang="en-US">
                <a:solidFill>
                  <a:schemeClr val="tx1"/>
                </a:solidFill>
              </a:rPr>
              <a:t>对称三相电源的特点</a:t>
            </a:r>
          </a:p>
        </p:txBody>
      </p:sp>
      <p:grpSp>
        <p:nvGrpSpPr>
          <p:cNvPr id="68637" name="Group 29"/>
          <p:cNvGrpSpPr>
            <a:grpSpLocks/>
          </p:cNvGrpSpPr>
          <p:nvPr/>
        </p:nvGrpSpPr>
        <p:grpSpPr bwMode="auto">
          <a:xfrm>
            <a:off x="2119313" y="4681538"/>
            <a:ext cx="2490787" cy="947737"/>
            <a:chOff x="1863" y="3057"/>
            <a:chExt cx="1569" cy="597"/>
          </a:xfrm>
        </p:grpSpPr>
        <p:graphicFrame>
          <p:nvGraphicFramePr>
            <p:cNvPr id="68627" name="Object 19"/>
            <p:cNvGraphicFramePr>
              <a:graphicFrameLocks noChangeAspect="1"/>
            </p:cNvGraphicFramePr>
            <p:nvPr/>
          </p:nvGraphicFramePr>
          <p:xfrm>
            <a:off x="2027" y="3057"/>
            <a:ext cx="1405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51" name="Equation" r:id="rId3" imgW="1130040" imgH="482400" progId="Equation.3">
                    <p:embed/>
                  </p:oleObj>
                </mc:Choice>
                <mc:Fallback>
                  <p:oleObj name="Equation" r:id="rId3" imgW="1130040" imgH="4824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7" y="3057"/>
                          <a:ext cx="1405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628" name="AutoShape 20"/>
            <p:cNvSpPr>
              <a:spLocks/>
            </p:cNvSpPr>
            <p:nvPr/>
          </p:nvSpPr>
          <p:spPr bwMode="auto">
            <a:xfrm>
              <a:off x="1863" y="3113"/>
              <a:ext cx="128" cy="505"/>
            </a:xfrm>
            <a:prstGeom prst="leftBrace">
              <a:avLst>
                <a:gd name="adj1" fmla="val 3287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8629" name="Object 21"/>
          <p:cNvGraphicFramePr>
            <a:graphicFrameLocks noChangeAspect="1"/>
          </p:cNvGraphicFramePr>
          <p:nvPr/>
        </p:nvGraphicFramePr>
        <p:xfrm>
          <a:off x="1851025" y="1333500"/>
          <a:ext cx="20320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52" name="Equation" r:id="rId5" imgW="2031840" imgH="1879560" progId="Equation.3">
                  <p:embed/>
                </p:oleObj>
              </mc:Choice>
              <mc:Fallback>
                <p:oleObj name="Equation" r:id="rId5" imgW="2031840" imgH="18795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025" y="1333500"/>
                        <a:ext cx="20320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636" name="Group 28"/>
          <p:cNvGrpSpPr>
            <a:grpSpLocks/>
          </p:cNvGrpSpPr>
          <p:nvPr/>
        </p:nvGrpSpPr>
        <p:grpSpPr bwMode="auto">
          <a:xfrm>
            <a:off x="4814888" y="925513"/>
            <a:ext cx="2992437" cy="2967037"/>
            <a:chOff x="2655" y="583"/>
            <a:chExt cx="1885" cy="1869"/>
          </a:xfrm>
        </p:grpSpPr>
        <p:sp>
          <p:nvSpPr>
            <p:cNvPr id="68612" name="Line 4"/>
            <p:cNvSpPr>
              <a:spLocks noChangeShapeType="1"/>
            </p:cNvSpPr>
            <p:nvPr/>
          </p:nvSpPr>
          <p:spPr bwMode="auto">
            <a:xfrm>
              <a:off x="3372" y="1452"/>
              <a:ext cx="9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4" name="Line 6"/>
            <p:cNvSpPr>
              <a:spLocks noChangeShapeType="1"/>
            </p:cNvSpPr>
            <p:nvPr/>
          </p:nvSpPr>
          <p:spPr bwMode="auto">
            <a:xfrm rot="7200000">
              <a:off x="2700" y="1842"/>
              <a:ext cx="9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5" name="Line 7"/>
            <p:cNvSpPr>
              <a:spLocks noChangeShapeType="1"/>
            </p:cNvSpPr>
            <p:nvPr/>
          </p:nvSpPr>
          <p:spPr bwMode="auto">
            <a:xfrm rot="14400000">
              <a:off x="2700" y="1074"/>
              <a:ext cx="9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8617" name="Object 9"/>
            <p:cNvGraphicFramePr>
              <a:graphicFrameLocks noChangeAspect="1"/>
            </p:cNvGraphicFramePr>
            <p:nvPr/>
          </p:nvGraphicFramePr>
          <p:xfrm>
            <a:off x="2919" y="2195"/>
            <a:ext cx="26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53" name="Equation" r:id="rId7" imgW="393480" imgH="380880" progId="Equation.3">
                    <p:embed/>
                  </p:oleObj>
                </mc:Choice>
                <mc:Fallback>
                  <p:oleObj name="Equation" r:id="rId7" imgW="393480" imgH="38088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9" y="2195"/>
                          <a:ext cx="26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619" name="Arc 11"/>
            <p:cNvSpPr>
              <a:spLocks/>
            </p:cNvSpPr>
            <p:nvPr/>
          </p:nvSpPr>
          <p:spPr bwMode="auto">
            <a:xfrm>
              <a:off x="3266" y="1243"/>
              <a:ext cx="305" cy="228"/>
            </a:xfrm>
            <a:custGeom>
              <a:avLst/>
              <a:gdLst>
                <a:gd name="G0" fmla="+- 12785 0 0"/>
                <a:gd name="G1" fmla="+- 21600 0 0"/>
                <a:gd name="G2" fmla="+- 21600 0 0"/>
                <a:gd name="T0" fmla="*/ 0 w 34324"/>
                <a:gd name="T1" fmla="*/ 4190 h 21600"/>
                <a:gd name="T2" fmla="*/ 34324 w 34324"/>
                <a:gd name="T3" fmla="*/ 19980 h 21600"/>
                <a:gd name="T4" fmla="*/ 12785 w 3432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324" h="21600" fill="none" extrusionOk="0">
                  <a:moveTo>
                    <a:pt x="0" y="4190"/>
                  </a:moveTo>
                  <a:cubicBezTo>
                    <a:pt x="3706" y="1467"/>
                    <a:pt x="8185" y="0"/>
                    <a:pt x="12785" y="0"/>
                  </a:cubicBezTo>
                  <a:cubicBezTo>
                    <a:pt x="24085" y="0"/>
                    <a:pt x="33476" y="8710"/>
                    <a:pt x="34324" y="19979"/>
                  </a:cubicBezTo>
                </a:path>
                <a:path w="34324" h="21600" stroke="0" extrusionOk="0">
                  <a:moveTo>
                    <a:pt x="0" y="4190"/>
                  </a:moveTo>
                  <a:cubicBezTo>
                    <a:pt x="3706" y="1467"/>
                    <a:pt x="8185" y="0"/>
                    <a:pt x="12785" y="0"/>
                  </a:cubicBezTo>
                  <a:cubicBezTo>
                    <a:pt x="24085" y="0"/>
                    <a:pt x="33476" y="8710"/>
                    <a:pt x="34324" y="19979"/>
                  </a:cubicBezTo>
                  <a:lnTo>
                    <a:pt x="12785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stealth" w="sm" len="med"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0" name="Arc 12"/>
            <p:cNvSpPr>
              <a:spLocks/>
            </p:cNvSpPr>
            <p:nvPr/>
          </p:nvSpPr>
          <p:spPr bwMode="auto">
            <a:xfrm rot="7200000">
              <a:off x="3283" y="1442"/>
              <a:ext cx="301" cy="228"/>
            </a:xfrm>
            <a:custGeom>
              <a:avLst/>
              <a:gdLst>
                <a:gd name="G0" fmla="+- 12304 0 0"/>
                <a:gd name="G1" fmla="+- 21600 0 0"/>
                <a:gd name="G2" fmla="+- 21600 0 0"/>
                <a:gd name="T0" fmla="*/ 0 w 33871"/>
                <a:gd name="T1" fmla="*/ 3847 h 21600"/>
                <a:gd name="T2" fmla="*/ 33871 w 33871"/>
                <a:gd name="T3" fmla="*/ 20405 h 21600"/>
                <a:gd name="T4" fmla="*/ 12304 w 3387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871" h="21600" fill="none" extrusionOk="0">
                  <a:moveTo>
                    <a:pt x="-1" y="3846"/>
                  </a:moveTo>
                  <a:cubicBezTo>
                    <a:pt x="3614" y="1342"/>
                    <a:pt x="7906" y="0"/>
                    <a:pt x="12304" y="0"/>
                  </a:cubicBezTo>
                  <a:cubicBezTo>
                    <a:pt x="23769" y="0"/>
                    <a:pt x="33236" y="8957"/>
                    <a:pt x="33870" y="20405"/>
                  </a:cubicBezTo>
                </a:path>
                <a:path w="33871" h="21600" stroke="0" extrusionOk="0">
                  <a:moveTo>
                    <a:pt x="-1" y="3846"/>
                  </a:moveTo>
                  <a:cubicBezTo>
                    <a:pt x="3614" y="1342"/>
                    <a:pt x="7906" y="0"/>
                    <a:pt x="12304" y="0"/>
                  </a:cubicBezTo>
                  <a:cubicBezTo>
                    <a:pt x="23769" y="0"/>
                    <a:pt x="33236" y="8957"/>
                    <a:pt x="33870" y="20405"/>
                  </a:cubicBezTo>
                  <a:lnTo>
                    <a:pt x="12304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stealth" w="sm" len="med"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1" name="Arc 13"/>
            <p:cNvSpPr>
              <a:spLocks/>
            </p:cNvSpPr>
            <p:nvPr/>
          </p:nvSpPr>
          <p:spPr bwMode="auto">
            <a:xfrm rot="14400000">
              <a:off x="3109" y="1354"/>
              <a:ext cx="299" cy="228"/>
            </a:xfrm>
            <a:custGeom>
              <a:avLst/>
              <a:gdLst>
                <a:gd name="G0" fmla="+- 12115 0 0"/>
                <a:gd name="G1" fmla="+- 21600 0 0"/>
                <a:gd name="G2" fmla="+- 21600 0 0"/>
                <a:gd name="T0" fmla="*/ 0 w 33654"/>
                <a:gd name="T1" fmla="*/ 3717 h 21600"/>
                <a:gd name="T2" fmla="*/ 33654 w 33654"/>
                <a:gd name="T3" fmla="*/ 19980 h 21600"/>
                <a:gd name="T4" fmla="*/ 12115 w 3365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654" h="21600" fill="none" extrusionOk="0">
                  <a:moveTo>
                    <a:pt x="0" y="3717"/>
                  </a:moveTo>
                  <a:cubicBezTo>
                    <a:pt x="3575" y="1294"/>
                    <a:pt x="7795" y="0"/>
                    <a:pt x="12115" y="0"/>
                  </a:cubicBezTo>
                  <a:cubicBezTo>
                    <a:pt x="23415" y="0"/>
                    <a:pt x="32806" y="8710"/>
                    <a:pt x="33654" y="19979"/>
                  </a:cubicBezTo>
                </a:path>
                <a:path w="33654" h="21600" stroke="0" extrusionOk="0">
                  <a:moveTo>
                    <a:pt x="0" y="3717"/>
                  </a:moveTo>
                  <a:cubicBezTo>
                    <a:pt x="3575" y="1294"/>
                    <a:pt x="7795" y="0"/>
                    <a:pt x="12115" y="0"/>
                  </a:cubicBezTo>
                  <a:cubicBezTo>
                    <a:pt x="23415" y="0"/>
                    <a:pt x="32806" y="8710"/>
                    <a:pt x="33654" y="19979"/>
                  </a:cubicBezTo>
                  <a:lnTo>
                    <a:pt x="12115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stealth" w="sm" len="med"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2" name="Text Box 14"/>
            <p:cNvSpPr txBox="1">
              <a:spLocks noChangeArrowheads="1"/>
            </p:cNvSpPr>
            <p:nvPr/>
          </p:nvSpPr>
          <p:spPr bwMode="auto">
            <a:xfrm>
              <a:off x="3282" y="978"/>
              <a:ext cx="6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120°</a:t>
              </a:r>
            </a:p>
          </p:txBody>
        </p:sp>
        <p:sp>
          <p:nvSpPr>
            <p:cNvPr id="68623" name="Text Box 15"/>
            <p:cNvSpPr txBox="1">
              <a:spLocks noChangeArrowheads="1"/>
            </p:cNvSpPr>
            <p:nvPr/>
          </p:nvSpPr>
          <p:spPr bwMode="auto">
            <a:xfrm>
              <a:off x="3282" y="1620"/>
              <a:ext cx="6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120°</a:t>
              </a:r>
            </a:p>
          </p:txBody>
        </p:sp>
        <p:sp>
          <p:nvSpPr>
            <p:cNvPr id="68624" name="Text Box 16"/>
            <p:cNvSpPr txBox="1">
              <a:spLocks noChangeArrowheads="1"/>
            </p:cNvSpPr>
            <p:nvPr/>
          </p:nvSpPr>
          <p:spPr bwMode="auto">
            <a:xfrm>
              <a:off x="2718" y="1339"/>
              <a:ext cx="6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120°</a:t>
              </a:r>
            </a:p>
          </p:txBody>
        </p:sp>
        <p:graphicFrame>
          <p:nvGraphicFramePr>
            <p:cNvPr id="68632" name="Object 24"/>
            <p:cNvGraphicFramePr>
              <a:graphicFrameLocks noChangeAspect="1"/>
            </p:cNvGraphicFramePr>
            <p:nvPr/>
          </p:nvGraphicFramePr>
          <p:xfrm>
            <a:off x="2655" y="583"/>
            <a:ext cx="26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54" name="Equation" r:id="rId9" imgW="393480" imgH="393480" progId="Equation.3">
                    <p:embed/>
                  </p:oleObj>
                </mc:Choice>
                <mc:Fallback>
                  <p:oleObj name="Equation" r:id="rId9" imgW="393480" imgH="39348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5" y="583"/>
                          <a:ext cx="26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33" name="Object 25"/>
            <p:cNvGraphicFramePr>
              <a:graphicFrameLocks noChangeAspect="1"/>
            </p:cNvGraphicFramePr>
            <p:nvPr/>
          </p:nvGraphicFramePr>
          <p:xfrm>
            <a:off x="4268" y="1360"/>
            <a:ext cx="272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55" name="Equation" r:id="rId11" imgW="406080" imgH="380880" progId="Equation.3">
                    <p:embed/>
                  </p:oleObj>
                </mc:Choice>
                <mc:Fallback>
                  <p:oleObj name="Equation" r:id="rId11" imgW="406080" imgH="3808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8" y="1360"/>
                          <a:ext cx="272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706438" y="1905000"/>
            <a:ext cx="39973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/>
              <a:t>正序（</a:t>
            </a:r>
            <a:r>
              <a:rPr lang="en-US" altLang="zh-CN"/>
              <a:t>positive sequence</a:t>
            </a:r>
            <a:r>
              <a:rPr lang="zh-CN" altLang="en-US"/>
              <a:t>）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          </a:t>
            </a:r>
            <a:r>
              <a:rPr lang="en-US" altLang="zh-CN">
                <a:solidFill>
                  <a:schemeClr val="tx1"/>
                </a:solidFill>
              </a:rPr>
              <a:t>A </a:t>
            </a:r>
            <a:r>
              <a:rPr lang="en-US" altLang="zh-CN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>
                <a:solidFill>
                  <a:schemeClr val="tx1"/>
                </a:solidFill>
              </a:rPr>
              <a:t> B </a:t>
            </a:r>
            <a:r>
              <a:rPr lang="en-US" altLang="zh-CN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>
                <a:solidFill>
                  <a:schemeClr val="tx1"/>
                </a:solidFill>
              </a:rPr>
              <a:t> C </a:t>
            </a:r>
            <a:r>
              <a:rPr lang="en-US" altLang="zh-CN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>
                <a:solidFill>
                  <a:schemeClr val="tx1"/>
                </a:solidFill>
              </a:rPr>
              <a:t> A</a:t>
            </a:r>
          </a:p>
        </p:txBody>
      </p:sp>
      <p:sp>
        <p:nvSpPr>
          <p:cNvPr id="69651" name="Text Box 19"/>
          <p:cNvSpPr txBox="1">
            <a:spLocks noChangeArrowheads="1"/>
          </p:cNvSpPr>
          <p:nvPr/>
        </p:nvSpPr>
        <p:spPr bwMode="auto">
          <a:xfrm>
            <a:off x="765175" y="4735513"/>
            <a:ext cx="6005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以后如果不加说明，一般都认为是正相序。</a:t>
            </a:r>
          </a:p>
        </p:txBody>
      </p:sp>
      <p:sp>
        <p:nvSpPr>
          <p:cNvPr id="69741" name="Text Box 109"/>
          <p:cNvSpPr txBox="1">
            <a:spLocks noChangeArrowheads="1"/>
          </p:cNvSpPr>
          <p:nvPr/>
        </p:nvSpPr>
        <p:spPr bwMode="auto">
          <a:xfrm>
            <a:off x="441325" y="488950"/>
            <a:ext cx="7921625" cy="115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333750" indent="-3333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714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3905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409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4286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7434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52006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56578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61150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/>
              <a:t>4.  </a:t>
            </a:r>
            <a:r>
              <a:rPr lang="zh-CN" altLang="en-US"/>
              <a:t>对称三相电源的</a:t>
            </a:r>
            <a:r>
              <a:rPr lang="zh-CN" altLang="en-US">
                <a:solidFill>
                  <a:srgbClr val="FF3300"/>
                </a:solidFill>
              </a:rPr>
              <a:t>相序（</a:t>
            </a:r>
            <a:r>
              <a:rPr lang="en-US" altLang="zh-CN">
                <a:solidFill>
                  <a:srgbClr val="FF3300"/>
                </a:solidFill>
              </a:rPr>
              <a:t>phase sequence</a:t>
            </a:r>
            <a:r>
              <a:rPr lang="zh-CN" altLang="en-US">
                <a:solidFill>
                  <a:srgbClr val="FF3300"/>
                </a:solidFill>
              </a:rPr>
              <a:t>）</a:t>
            </a:r>
            <a:r>
              <a:rPr lang="zh-CN" altLang="en-US"/>
              <a:t>：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/>
              <a:t>         每相电源经过同一值（如最大值） 的先后顺序。</a:t>
            </a: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4646613" y="1924050"/>
            <a:ext cx="39766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/>
              <a:t>负序（</a:t>
            </a:r>
            <a:r>
              <a:rPr lang="en-US" altLang="zh-CN"/>
              <a:t>negative sequence</a:t>
            </a:r>
            <a:r>
              <a:rPr lang="zh-CN" altLang="en-US"/>
              <a:t>）</a:t>
            </a:r>
          </a:p>
          <a:p>
            <a:r>
              <a:rPr lang="zh-CN" altLang="en-US">
                <a:solidFill>
                  <a:schemeClr val="tx1"/>
                </a:solidFill>
              </a:rPr>
              <a:t>          </a:t>
            </a:r>
            <a:r>
              <a:rPr lang="en-US" altLang="zh-CN">
                <a:solidFill>
                  <a:schemeClr val="tx1"/>
                </a:solidFill>
              </a:rPr>
              <a:t>A </a:t>
            </a:r>
            <a:r>
              <a:rPr lang="en-US" altLang="zh-CN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>
                <a:solidFill>
                  <a:schemeClr val="tx1"/>
                </a:solidFill>
              </a:rPr>
              <a:t> C </a:t>
            </a:r>
            <a:r>
              <a:rPr lang="en-US" altLang="zh-CN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>
                <a:solidFill>
                  <a:schemeClr val="tx1"/>
                </a:solidFill>
              </a:rPr>
              <a:t> B </a:t>
            </a:r>
            <a:r>
              <a:rPr lang="en-US" altLang="zh-CN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>
                <a:solidFill>
                  <a:schemeClr val="tx1"/>
                </a:solidFill>
              </a:rPr>
              <a:t> A</a:t>
            </a:r>
          </a:p>
        </p:txBody>
      </p:sp>
      <p:grpSp>
        <p:nvGrpSpPr>
          <p:cNvPr id="69749" name="Group 117"/>
          <p:cNvGrpSpPr>
            <a:grpSpLocks/>
          </p:cNvGrpSpPr>
          <p:nvPr/>
        </p:nvGrpSpPr>
        <p:grpSpPr bwMode="auto">
          <a:xfrm>
            <a:off x="700088" y="3106738"/>
            <a:ext cx="3224212" cy="1066800"/>
            <a:chOff x="422" y="1376"/>
            <a:chExt cx="2031" cy="672"/>
          </a:xfrm>
        </p:grpSpPr>
        <p:grpSp>
          <p:nvGrpSpPr>
            <p:cNvPr id="69636" name="Group 4"/>
            <p:cNvGrpSpPr>
              <a:grpSpLocks/>
            </p:cNvGrpSpPr>
            <p:nvPr/>
          </p:nvGrpSpPr>
          <p:grpSpPr bwMode="auto">
            <a:xfrm>
              <a:off x="1622" y="1376"/>
              <a:ext cx="831" cy="672"/>
              <a:chOff x="2976" y="0"/>
              <a:chExt cx="831" cy="672"/>
            </a:xfrm>
          </p:grpSpPr>
          <p:sp>
            <p:nvSpPr>
              <p:cNvPr id="69637" name="Line 5"/>
              <p:cNvSpPr>
                <a:spLocks noChangeShapeType="1"/>
              </p:cNvSpPr>
              <p:nvPr/>
            </p:nvSpPr>
            <p:spPr bwMode="auto">
              <a:xfrm>
                <a:off x="3346" y="393"/>
                <a:ext cx="2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38" name="Line 6"/>
              <p:cNvSpPr>
                <a:spLocks noChangeShapeType="1"/>
              </p:cNvSpPr>
              <p:nvPr/>
            </p:nvSpPr>
            <p:spPr bwMode="auto">
              <a:xfrm flipH="1" flipV="1">
                <a:off x="3235" y="198"/>
                <a:ext cx="111" cy="1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39" name="Line 7"/>
              <p:cNvSpPr>
                <a:spLocks noChangeShapeType="1"/>
              </p:cNvSpPr>
              <p:nvPr/>
            </p:nvSpPr>
            <p:spPr bwMode="auto">
              <a:xfrm flipH="1">
                <a:off x="3235" y="393"/>
                <a:ext cx="111" cy="1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40" name="Text Box 8"/>
              <p:cNvSpPr txBox="1">
                <a:spLocks noChangeArrowheads="1"/>
              </p:cNvSpPr>
              <p:nvPr/>
            </p:nvSpPr>
            <p:spPr bwMode="auto">
              <a:xfrm>
                <a:off x="3552" y="288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69641" name="Text Box 9"/>
              <p:cNvSpPr txBox="1">
                <a:spLocks noChangeArrowheads="1"/>
              </p:cNvSpPr>
              <p:nvPr/>
            </p:nvSpPr>
            <p:spPr bwMode="auto">
              <a:xfrm>
                <a:off x="2976" y="384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69642" name="Text Box 10"/>
              <p:cNvSpPr txBox="1">
                <a:spLocks noChangeArrowheads="1"/>
              </p:cNvSpPr>
              <p:nvPr/>
            </p:nvSpPr>
            <p:spPr bwMode="auto">
              <a:xfrm>
                <a:off x="2976" y="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C</a:t>
                </a:r>
              </a:p>
            </p:txBody>
          </p:sp>
        </p:grpSp>
        <p:sp>
          <p:nvSpPr>
            <p:cNvPr id="69746" name="Text Box 114"/>
            <p:cNvSpPr txBox="1">
              <a:spLocks noChangeArrowheads="1"/>
            </p:cNvSpPr>
            <p:nvPr/>
          </p:nvSpPr>
          <p:spPr bwMode="auto">
            <a:xfrm>
              <a:off x="422" y="1621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电压相量图</a:t>
              </a:r>
            </a:p>
          </p:txBody>
        </p:sp>
      </p:grpSp>
      <p:grpSp>
        <p:nvGrpSpPr>
          <p:cNvPr id="69750" name="Group 118"/>
          <p:cNvGrpSpPr>
            <a:grpSpLocks/>
          </p:cNvGrpSpPr>
          <p:nvPr/>
        </p:nvGrpSpPr>
        <p:grpSpPr bwMode="auto">
          <a:xfrm>
            <a:off x="4867275" y="3133725"/>
            <a:ext cx="3148013" cy="1066800"/>
            <a:chOff x="3002" y="1388"/>
            <a:chExt cx="1983" cy="672"/>
          </a:xfrm>
        </p:grpSpPr>
        <p:grpSp>
          <p:nvGrpSpPr>
            <p:cNvPr id="69652" name="Group 20"/>
            <p:cNvGrpSpPr>
              <a:grpSpLocks/>
            </p:cNvGrpSpPr>
            <p:nvPr/>
          </p:nvGrpSpPr>
          <p:grpSpPr bwMode="auto">
            <a:xfrm>
              <a:off x="4154" y="1388"/>
              <a:ext cx="831" cy="672"/>
              <a:chOff x="3086" y="807"/>
              <a:chExt cx="831" cy="672"/>
            </a:xfrm>
          </p:grpSpPr>
          <p:sp>
            <p:nvSpPr>
              <p:cNvPr id="69653" name="Line 21"/>
              <p:cNvSpPr>
                <a:spLocks noChangeShapeType="1"/>
              </p:cNvSpPr>
              <p:nvPr/>
            </p:nvSpPr>
            <p:spPr bwMode="auto">
              <a:xfrm>
                <a:off x="3456" y="1200"/>
                <a:ext cx="2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54" name="Line 22"/>
              <p:cNvSpPr>
                <a:spLocks noChangeShapeType="1"/>
              </p:cNvSpPr>
              <p:nvPr/>
            </p:nvSpPr>
            <p:spPr bwMode="auto">
              <a:xfrm flipH="1" flipV="1">
                <a:off x="3345" y="1005"/>
                <a:ext cx="111" cy="1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55" name="Line 23"/>
              <p:cNvSpPr>
                <a:spLocks noChangeShapeType="1"/>
              </p:cNvSpPr>
              <p:nvPr/>
            </p:nvSpPr>
            <p:spPr bwMode="auto">
              <a:xfrm flipH="1">
                <a:off x="3345" y="1200"/>
                <a:ext cx="111" cy="1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56" name="Text Box 24"/>
              <p:cNvSpPr txBox="1">
                <a:spLocks noChangeArrowheads="1"/>
              </p:cNvSpPr>
              <p:nvPr/>
            </p:nvSpPr>
            <p:spPr bwMode="auto">
              <a:xfrm>
                <a:off x="3662" y="1095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69657" name="Text Box 25"/>
              <p:cNvSpPr txBox="1">
                <a:spLocks noChangeArrowheads="1"/>
              </p:cNvSpPr>
              <p:nvPr/>
            </p:nvSpPr>
            <p:spPr bwMode="auto">
              <a:xfrm>
                <a:off x="3086" y="119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69658" name="Text Box 26"/>
              <p:cNvSpPr txBox="1">
                <a:spLocks noChangeArrowheads="1"/>
              </p:cNvSpPr>
              <p:nvPr/>
            </p:nvSpPr>
            <p:spPr bwMode="auto">
              <a:xfrm>
                <a:off x="3086" y="807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B</a:t>
                </a:r>
              </a:p>
            </p:txBody>
          </p:sp>
        </p:grpSp>
        <p:sp>
          <p:nvSpPr>
            <p:cNvPr id="69747" name="Text Box 115"/>
            <p:cNvSpPr txBox="1">
              <a:spLocks noChangeArrowheads="1"/>
            </p:cNvSpPr>
            <p:nvPr/>
          </p:nvSpPr>
          <p:spPr bwMode="auto">
            <a:xfrm>
              <a:off x="3002" y="1585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电压相量图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 autoUpdateAnimBg="0"/>
      <p:bldP spid="69651" grpId="0" autoUpdateAnimBg="0"/>
      <p:bldP spid="6963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38" name="Text Box 2282"/>
          <p:cNvSpPr txBox="1">
            <a:spLocks noChangeArrowheads="1"/>
          </p:cNvSpPr>
          <p:nvPr/>
        </p:nvSpPr>
        <p:spPr bwMode="auto">
          <a:xfrm>
            <a:off x="296863" y="287338"/>
            <a:ext cx="461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990033"/>
                </a:solidFill>
              </a:rPr>
              <a:t>二、对称三相电源的联接</a:t>
            </a:r>
          </a:p>
        </p:txBody>
      </p:sp>
      <p:sp>
        <p:nvSpPr>
          <p:cNvPr id="72939" name="Text Box 2283"/>
          <p:cNvSpPr txBox="1">
            <a:spLocks noChangeArrowheads="1"/>
          </p:cNvSpPr>
          <p:nvPr/>
        </p:nvSpPr>
        <p:spPr bwMode="auto">
          <a:xfrm>
            <a:off x="714375" y="1374775"/>
            <a:ext cx="8429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190750" indent="-2190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381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2571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762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52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099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671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243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781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       </a:t>
            </a:r>
            <a:r>
              <a:rPr lang="zh-CN" altLang="en-US"/>
              <a:t>三个绕组的末端 </a:t>
            </a:r>
            <a:r>
              <a:rPr lang="en-US" altLang="zh-CN"/>
              <a:t>X</a:t>
            </a:r>
            <a:r>
              <a:rPr lang="zh-CN" altLang="en-US"/>
              <a:t>， </a:t>
            </a:r>
            <a:r>
              <a:rPr lang="en-US" altLang="zh-CN"/>
              <a:t>Y</a:t>
            </a:r>
            <a:r>
              <a:rPr lang="zh-CN" altLang="en-US"/>
              <a:t>， </a:t>
            </a:r>
            <a:r>
              <a:rPr lang="en-US" altLang="zh-CN"/>
              <a:t>Z </a:t>
            </a:r>
            <a:r>
              <a:rPr lang="zh-CN" altLang="en-US"/>
              <a:t>接在一起，从始端 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，</a:t>
            </a:r>
          </a:p>
          <a:p>
            <a:r>
              <a:rPr lang="en-US" altLang="zh-CN"/>
              <a:t>C </a:t>
            </a:r>
            <a:r>
              <a:rPr lang="zh-CN" altLang="en-US"/>
              <a:t>引出线。</a:t>
            </a:r>
          </a:p>
        </p:txBody>
      </p:sp>
      <p:sp>
        <p:nvSpPr>
          <p:cNvPr id="72940" name="Text Box 2284"/>
          <p:cNvSpPr txBox="1">
            <a:spLocks noChangeArrowheads="1"/>
          </p:cNvSpPr>
          <p:nvPr/>
        </p:nvSpPr>
        <p:spPr bwMode="auto">
          <a:xfrm>
            <a:off x="4114800" y="2425700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名词介绍：</a:t>
            </a:r>
          </a:p>
        </p:txBody>
      </p:sp>
      <p:sp>
        <p:nvSpPr>
          <p:cNvPr id="72941" name="Rectangle 2285"/>
          <p:cNvSpPr>
            <a:spLocks noChangeArrowheads="1"/>
          </p:cNvSpPr>
          <p:nvPr/>
        </p:nvSpPr>
        <p:spPr bwMode="auto">
          <a:xfrm>
            <a:off x="4046538" y="3781425"/>
            <a:ext cx="5097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chemeClr val="tx1"/>
                </a:solidFill>
              </a:rPr>
              <a:t>② </a:t>
            </a:r>
            <a:r>
              <a:rPr lang="zh-CN" altLang="en-US">
                <a:solidFill>
                  <a:schemeClr val="tx1"/>
                </a:solidFill>
              </a:rPr>
              <a:t>中线： </a:t>
            </a:r>
            <a:r>
              <a:rPr lang="en-US" altLang="zh-CN">
                <a:solidFill>
                  <a:schemeClr val="tx1"/>
                </a:solidFill>
              </a:rPr>
              <a:t>X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Y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Z</a:t>
            </a:r>
            <a:r>
              <a:rPr lang="zh-CN" altLang="en-US">
                <a:solidFill>
                  <a:schemeClr val="tx1"/>
                </a:solidFill>
              </a:rPr>
              <a:t>连接点引出线。</a:t>
            </a:r>
          </a:p>
        </p:txBody>
      </p:sp>
      <p:sp>
        <p:nvSpPr>
          <p:cNvPr id="72944" name="Rectangle 2288"/>
          <p:cNvSpPr>
            <a:spLocks noChangeArrowheads="1"/>
          </p:cNvSpPr>
          <p:nvPr/>
        </p:nvSpPr>
        <p:spPr bwMode="auto">
          <a:xfrm>
            <a:off x="585788" y="917575"/>
            <a:ext cx="244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1. </a:t>
            </a:r>
            <a:r>
              <a:rPr lang="zh-CN" altLang="en-US">
                <a:solidFill>
                  <a:schemeClr val="tx1"/>
                </a:solidFill>
              </a:rPr>
              <a:t>星形联接</a:t>
            </a:r>
            <a:r>
              <a:rPr lang="en-US" altLang="zh-CN">
                <a:solidFill>
                  <a:schemeClr val="tx1"/>
                </a:solidFill>
              </a:rPr>
              <a:t>(Y</a:t>
            </a:r>
            <a:r>
              <a:rPr lang="zh-CN" altLang="en-US">
                <a:solidFill>
                  <a:schemeClr val="tx1"/>
                </a:solidFill>
              </a:rPr>
              <a:t>接</a:t>
            </a:r>
            <a:r>
              <a:rPr lang="en-US" altLang="zh-CN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72945" name="Group 2289"/>
          <p:cNvGrpSpPr>
            <a:grpSpLocks/>
          </p:cNvGrpSpPr>
          <p:nvPr/>
        </p:nvGrpSpPr>
        <p:grpSpPr bwMode="auto">
          <a:xfrm>
            <a:off x="381000" y="2139950"/>
            <a:ext cx="3546475" cy="2619375"/>
            <a:chOff x="417" y="1372"/>
            <a:chExt cx="2234" cy="1650"/>
          </a:xfrm>
        </p:grpSpPr>
        <p:sp>
          <p:nvSpPr>
            <p:cNvPr id="72946" name="Text Box 2290"/>
            <p:cNvSpPr txBox="1">
              <a:spLocks noChangeArrowheads="1"/>
            </p:cNvSpPr>
            <p:nvPr/>
          </p:nvSpPr>
          <p:spPr bwMode="auto">
            <a:xfrm>
              <a:off x="804" y="1372"/>
              <a:ext cx="2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2947" name="Oval 2291"/>
            <p:cNvSpPr>
              <a:spLocks noChangeArrowheads="1"/>
            </p:cNvSpPr>
            <p:nvPr/>
          </p:nvSpPr>
          <p:spPr bwMode="auto">
            <a:xfrm>
              <a:off x="894" y="1709"/>
              <a:ext cx="262" cy="24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48" name="Line 2292"/>
            <p:cNvSpPr>
              <a:spLocks noChangeShapeType="1"/>
            </p:cNvSpPr>
            <p:nvPr/>
          </p:nvSpPr>
          <p:spPr bwMode="auto">
            <a:xfrm flipH="1">
              <a:off x="1020" y="1507"/>
              <a:ext cx="12" cy="6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49" name="Oval 2293"/>
            <p:cNvSpPr>
              <a:spLocks noChangeArrowheads="1"/>
            </p:cNvSpPr>
            <p:nvPr/>
          </p:nvSpPr>
          <p:spPr bwMode="auto">
            <a:xfrm>
              <a:off x="1005" y="2154"/>
              <a:ext cx="29" cy="3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50" name="Text Box 2294"/>
            <p:cNvSpPr txBox="1">
              <a:spLocks noChangeArrowheads="1"/>
            </p:cNvSpPr>
            <p:nvPr/>
          </p:nvSpPr>
          <p:spPr bwMode="auto">
            <a:xfrm>
              <a:off x="859" y="1504"/>
              <a:ext cx="148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72951" name="Text Box 2295"/>
            <p:cNvSpPr txBox="1">
              <a:spLocks noChangeArrowheads="1"/>
            </p:cNvSpPr>
            <p:nvPr/>
          </p:nvSpPr>
          <p:spPr bwMode="auto">
            <a:xfrm>
              <a:off x="859" y="1923"/>
              <a:ext cx="1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72952" name="Text Box 2296"/>
            <p:cNvSpPr txBox="1">
              <a:spLocks noChangeArrowheads="1"/>
            </p:cNvSpPr>
            <p:nvPr/>
          </p:nvSpPr>
          <p:spPr bwMode="auto">
            <a:xfrm>
              <a:off x="814" y="2026"/>
              <a:ext cx="2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72953" name="Oval 2297"/>
            <p:cNvSpPr>
              <a:spLocks noChangeArrowheads="1"/>
            </p:cNvSpPr>
            <p:nvPr/>
          </p:nvSpPr>
          <p:spPr bwMode="auto">
            <a:xfrm rot="7200000">
              <a:off x="1149" y="2216"/>
              <a:ext cx="248" cy="234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54" name="Line 2298"/>
            <p:cNvSpPr>
              <a:spLocks noChangeShapeType="1"/>
            </p:cNvSpPr>
            <p:nvPr/>
          </p:nvSpPr>
          <p:spPr bwMode="auto">
            <a:xfrm rot="7200000" flipH="1" flipV="1">
              <a:off x="1312" y="2031"/>
              <a:ext cx="1" cy="6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55" name="Oval 2299"/>
            <p:cNvSpPr>
              <a:spLocks noChangeArrowheads="1"/>
            </p:cNvSpPr>
            <p:nvPr/>
          </p:nvSpPr>
          <p:spPr bwMode="auto">
            <a:xfrm rot="7200000">
              <a:off x="1006" y="2156"/>
              <a:ext cx="32" cy="29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56" name="Text Box 2300"/>
            <p:cNvSpPr txBox="1">
              <a:spLocks noChangeArrowheads="1"/>
            </p:cNvSpPr>
            <p:nvPr/>
          </p:nvSpPr>
          <p:spPr bwMode="auto">
            <a:xfrm rot="7200000">
              <a:off x="1452" y="2251"/>
              <a:ext cx="1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72957" name="Text Box 2301"/>
            <p:cNvSpPr txBox="1">
              <a:spLocks noChangeArrowheads="1"/>
            </p:cNvSpPr>
            <p:nvPr/>
          </p:nvSpPr>
          <p:spPr bwMode="auto">
            <a:xfrm rot="7200000">
              <a:off x="1118" y="2081"/>
              <a:ext cx="1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72958" name="Oval 2302"/>
            <p:cNvSpPr>
              <a:spLocks noChangeArrowheads="1"/>
            </p:cNvSpPr>
            <p:nvPr/>
          </p:nvSpPr>
          <p:spPr bwMode="auto">
            <a:xfrm rot="14400000">
              <a:off x="623" y="2239"/>
              <a:ext cx="247" cy="233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59" name="Line 2303"/>
            <p:cNvSpPr>
              <a:spLocks noChangeShapeType="1"/>
            </p:cNvSpPr>
            <p:nvPr/>
          </p:nvSpPr>
          <p:spPr bwMode="auto">
            <a:xfrm rot="14400000" flipH="1" flipV="1">
              <a:off x="737" y="2016"/>
              <a:ext cx="16" cy="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60" name="Oval 2304"/>
            <p:cNvSpPr>
              <a:spLocks noChangeArrowheads="1"/>
            </p:cNvSpPr>
            <p:nvPr/>
          </p:nvSpPr>
          <p:spPr bwMode="auto">
            <a:xfrm rot="14400000">
              <a:off x="1007" y="2155"/>
              <a:ext cx="32" cy="29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61" name="Text Box 2305"/>
            <p:cNvSpPr txBox="1">
              <a:spLocks noChangeArrowheads="1"/>
            </p:cNvSpPr>
            <p:nvPr/>
          </p:nvSpPr>
          <p:spPr bwMode="auto">
            <a:xfrm rot="14400000">
              <a:off x="574" y="2383"/>
              <a:ext cx="1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72962" name="Text Box 2306"/>
            <p:cNvSpPr txBox="1">
              <a:spLocks noChangeArrowheads="1"/>
            </p:cNvSpPr>
            <p:nvPr/>
          </p:nvSpPr>
          <p:spPr bwMode="auto">
            <a:xfrm rot="14400000">
              <a:off x="854" y="2219"/>
              <a:ext cx="1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72963" name="Text Box 2307"/>
            <p:cNvSpPr txBox="1">
              <a:spLocks noChangeArrowheads="1"/>
            </p:cNvSpPr>
            <p:nvPr/>
          </p:nvSpPr>
          <p:spPr bwMode="auto">
            <a:xfrm>
              <a:off x="1545" y="2285"/>
              <a:ext cx="2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2964" name="Text Box 2308"/>
            <p:cNvSpPr txBox="1">
              <a:spLocks noChangeArrowheads="1"/>
            </p:cNvSpPr>
            <p:nvPr/>
          </p:nvSpPr>
          <p:spPr bwMode="auto">
            <a:xfrm>
              <a:off x="465" y="2492"/>
              <a:ext cx="2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72965" name="Text Box 2309"/>
            <p:cNvSpPr txBox="1">
              <a:spLocks noChangeArrowheads="1"/>
            </p:cNvSpPr>
            <p:nvPr/>
          </p:nvSpPr>
          <p:spPr bwMode="auto">
            <a:xfrm>
              <a:off x="994" y="1947"/>
              <a:ext cx="2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72966" name="Text Box 2310"/>
            <p:cNvSpPr txBox="1">
              <a:spLocks noChangeArrowheads="1"/>
            </p:cNvSpPr>
            <p:nvPr/>
          </p:nvSpPr>
          <p:spPr bwMode="auto">
            <a:xfrm>
              <a:off x="941" y="2169"/>
              <a:ext cx="256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72967" name="Line 2311"/>
            <p:cNvSpPr>
              <a:spLocks noChangeShapeType="1"/>
            </p:cNvSpPr>
            <p:nvPr/>
          </p:nvSpPr>
          <p:spPr bwMode="auto">
            <a:xfrm>
              <a:off x="1035" y="1508"/>
              <a:ext cx="131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68" name="Line 2312"/>
            <p:cNvSpPr>
              <a:spLocks noChangeShapeType="1"/>
            </p:cNvSpPr>
            <p:nvPr/>
          </p:nvSpPr>
          <p:spPr bwMode="auto">
            <a:xfrm>
              <a:off x="1026" y="2181"/>
              <a:ext cx="13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69" name="Line 2313"/>
            <p:cNvSpPr>
              <a:spLocks noChangeShapeType="1"/>
            </p:cNvSpPr>
            <p:nvPr/>
          </p:nvSpPr>
          <p:spPr bwMode="auto">
            <a:xfrm>
              <a:off x="1578" y="2517"/>
              <a:ext cx="7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70" name="Freeform 2314"/>
            <p:cNvSpPr>
              <a:spLocks/>
            </p:cNvSpPr>
            <p:nvPr/>
          </p:nvSpPr>
          <p:spPr bwMode="auto">
            <a:xfrm>
              <a:off x="472" y="2520"/>
              <a:ext cx="1876" cy="388"/>
            </a:xfrm>
            <a:custGeom>
              <a:avLst/>
              <a:gdLst>
                <a:gd name="T0" fmla="*/ 0 w 2184"/>
                <a:gd name="T1" fmla="*/ 0 h 426"/>
                <a:gd name="T2" fmla="*/ 0 w 2184"/>
                <a:gd name="T3" fmla="*/ 426 h 426"/>
                <a:gd name="T4" fmla="*/ 2184 w 2184"/>
                <a:gd name="T5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4" h="426">
                  <a:moveTo>
                    <a:pt x="0" y="0"/>
                  </a:moveTo>
                  <a:lnTo>
                    <a:pt x="0" y="426"/>
                  </a:lnTo>
                  <a:lnTo>
                    <a:pt x="2184" y="42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71" name="Text Box 2315"/>
            <p:cNvSpPr txBox="1">
              <a:spLocks noChangeArrowheads="1"/>
            </p:cNvSpPr>
            <p:nvPr/>
          </p:nvSpPr>
          <p:spPr bwMode="auto">
            <a:xfrm>
              <a:off x="2394" y="1381"/>
              <a:ext cx="2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2972" name="Text Box 2316"/>
            <p:cNvSpPr txBox="1">
              <a:spLocks noChangeArrowheads="1"/>
            </p:cNvSpPr>
            <p:nvPr/>
          </p:nvSpPr>
          <p:spPr bwMode="auto">
            <a:xfrm>
              <a:off x="2394" y="2402"/>
              <a:ext cx="25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2973" name="Text Box 2317"/>
            <p:cNvSpPr txBox="1">
              <a:spLocks noChangeArrowheads="1"/>
            </p:cNvSpPr>
            <p:nvPr/>
          </p:nvSpPr>
          <p:spPr bwMode="auto">
            <a:xfrm>
              <a:off x="2394" y="2772"/>
              <a:ext cx="2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72974" name="Text Box 2318"/>
            <p:cNvSpPr txBox="1">
              <a:spLocks noChangeArrowheads="1"/>
            </p:cNvSpPr>
            <p:nvPr/>
          </p:nvSpPr>
          <p:spPr bwMode="auto">
            <a:xfrm>
              <a:off x="2394" y="2050"/>
              <a:ext cx="2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N</a:t>
              </a:r>
            </a:p>
          </p:txBody>
        </p:sp>
        <p:graphicFrame>
          <p:nvGraphicFramePr>
            <p:cNvPr id="72975" name="Object 2319"/>
            <p:cNvGraphicFramePr>
              <a:graphicFrameLocks noChangeAspect="1"/>
            </p:cNvGraphicFramePr>
            <p:nvPr/>
          </p:nvGraphicFramePr>
          <p:xfrm>
            <a:off x="678" y="1659"/>
            <a:ext cx="218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0" name="Equation" r:id="rId4" imgW="203040" imgH="241200" progId="Equation.3">
                    <p:embed/>
                  </p:oleObj>
                </mc:Choice>
                <mc:Fallback>
                  <p:oleObj name="Equation" r:id="rId4" imgW="203040" imgH="241200" progId="Equation.3">
                    <p:embed/>
                    <p:pic>
                      <p:nvPicPr>
                        <p:cNvPr id="0" name="Object 23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" y="1659"/>
                          <a:ext cx="218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976" name="Object 2320"/>
            <p:cNvGraphicFramePr>
              <a:graphicFrameLocks noChangeAspect="1"/>
            </p:cNvGraphicFramePr>
            <p:nvPr/>
          </p:nvGraphicFramePr>
          <p:xfrm>
            <a:off x="1163" y="2470"/>
            <a:ext cx="21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1" name="Equation" r:id="rId6" imgW="203040" imgH="253800" progId="Equation.3">
                    <p:embed/>
                  </p:oleObj>
                </mc:Choice>
                <mc:Fallback>
                  <p:oleObj name="Equation" r:id="rId6" imgW="203040" imgH="253800" progId="Equation.3">
                    <p:embed/>
                    <p:pic>
                      <p:nvPicPr>
                        <p:cNvPr id="0" name="Object 23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3" y="2470"/>
                          <a:ext cx="218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977" name="Object 2321"/>
            <p:cNvGraphicFramePr>
              <a:graphicFrameLocks noChangeAspect="1"/>
            </p:cNvGraphicFramePr>
            <p:nvPr/>
          </p:nvGraphicFramePr>
          <p:xfrm>
            <a:off x="720" y="2479"/>
            <a:ext cx="217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2" name="Equation" r:id="rId8" imgW="203040" imgH="253800" progId="Equation.3">
                    <p:embed/>
                  </p:oleObj>
                </mc:Choice>
                <mc:Fallback>
                  <p:oleObj name="Equation" r:id="rId8" imgW="203040" imgH="253800" progId="Equation.3">
                    <p:embed/>
                    <p:pic>
                      <p:nvPicPr>
                        <p:cNvPr id="0" name="Object 23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479"/>
                          <a:ext cx="217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978" name="Oval 2322"/>
            <p:cNvSpPr>
              <a:spLocks noChangeArrowheads="1"/>
            </p:cNvSpPr>
            <p:nvPr/>
          </p:nvSpPr>
          <p:spPr bwMode="auto">
            <a:xfrm>
              <a:off x="2346" y="1476"/>
              <a:ext cx="56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79" name="Oval 2323"/>
            <p:cNvSpPr>
              <a:spLocks noChangeArrowheads="1"/>
            </p:cNvSpPr>
            <p:nvPr/>
          </p:nvSpPr>
          <p:spPr bwMode="auto">
            <a:xfrm>
              <a:off x="2334" y="2880"/>
              <a:ext cx="56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80" name="Oval 2324"/>
            <p:cNvSpPr>
              <a:spLocks noChangeArrowheads="1"/>
            </p:cNvSpPr>
            <p:nvPr/>
          </p:nvSpPr>
          <p:spPr bwMode="auto">
            <a:xfrm>
              <a:off x="2346" y="2484"/>
              <a:ext cx="56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981" name="Oval 2325"/>
            <p:cNvSpPr>
              <a:spLocks noChangeArrowheads="1"/>
            </p:cNvSpPr>
            <p:nvPr/>
          </p:nvSpPr>
          <p:spPr bwMode="auto">
            <a:xfrm>
              <a:off x="2340" y="2142"/>
              <a:ext cx="56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2982" name="Group 2326"/>
          <p:cNvGrpSpPr>
            <a:grpSpLocks/>
          </p:cNvGrpSpPr>
          <p:nvPr/>
        </p:nvGrpSpPr>
        <p:grpSpPr bwMode="auto">
          <a:xfrm>
            <a:off x="347663" y="4692650"/>
            <a:ext cx="8796337" cy="722313"/>
            <a:chOff x="159" y="2092"/>
            <a:chExt cx="5601" cy="455"/>
          </a:xfrm>
        </p:grpSpPr>
        <p:graphicFrame>
          <p:nvGraphicFramePr>
            <p:cNvPr id="72983" name="Object 2327"/>
            <p:cNvGraphicFramePr>
              <a:graphicFrameLocks noChangeAspect="1"/>
            </p:cNvGraphicFramePr>
            <p:nvPr/>
          </p:nvGraphicFramePr>
          <p:xfrm>
            <a:off x="2844" y="2092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3" name="Equation" r:id="rId10" imgW="114120" imgH="215640" progId="Equation.3">
                    <p:embed/>
                  </p:oleObj>
                </mc:Choice>
                <mc:Fallback>
                  <p:oleObj name="Equation" r:id="rId10" imgW="114120" imgH="215640" progId="Equation.3">
                    <p:embed/>
                    <p:pic>
                      <p:nvPicPr>
                        <p:cNvPr id="0" name="Object 23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" y="2092"/>
                          <a:ext cx="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984" name="Text Box 2328"/>
            <p:cNvSpPr txBox="1">
              <a:spLocks noChangeArrowheads="1"/>
            </p:cNvSpPr>
            <p:nvPr/>
          </p:nvSpPr>
          <p:spPr bwMode="auto">
            <a:xfrm>
              <a:off x="159" y="2259"/>
              <a:ext cx="4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 </a:t>
              </a:r>
              <a:r>
                <a:rPr lang="en-US" altLang="zh-CN">
                  <a:solidFill>
                    <a:schemeClr val="tx1"/>
                  </a:solidFill>
                </a:rPr>
                <a:t>③ </a:t>
              </a:r>
              <a:r>
                <a:rPr lang="zh-CN" altLang="en-US">
                  <a:solidFill>
                    <a:schemeClr val="tx1"/>
                  </a:solidFill>
                </a:rPr>
                <a:t>线电压</a:t>
              </a:r>
              <a:r>
                <a:rPr lang="en-US" altLang="zh-CN">
                  <a:solidFill>
                    <a:schemeClr val="tx1"/>
                  </a:solidFill>
                </a:rPr>
                <a:t>(line voltage)</a:t>
              </a:r>
              <a:r>
                <a:rPr lang="zh-CN" altLang="en-US">
                  <a:solidFill>
                    <a:schemeClr val="tx1"/>
                  </a:solidFill>
                </a:rPr>
                <a:t>：火线与火线之间的电压</a:t>
              </a:r>
            </a:p>
          </p:txBody>
        </p:sp>
        <p:graphicFrame>
          <p:nvGraphicFramePr>
            <p:cNvPr id="72985" name="Object 2329"/>
            <p:cNvGraphicFramePr>
              <a:graphicFrameLocks noChangeAspect="1"/>
            </p:cNvGraphicFramePr>
            <p:nvPr/>
          </p:nvGraphicFramePr>
          <p:xfrm>
            <a:off x="4312" y="2254"/>
            <a:ext cx="144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4" name="Equation" r:id="rId12" imgW="1002960" imgH="253800" progId="Equation.3">
                    <p:embed/>
                  </p:oleObj>
                </mc:Choice>
                <mc:Fallback>
                  <p:oleObj name="Equation" r:id="rId12" imgW="1002960" imgH="253800" progId="Equation.3">
                    <p:embed/>
                    <p:pic>
                      <p:nvPicPr>
                        <p:cNvPr id="0" name="Object 23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2" y="2254"/>
                          <a:ext cx="144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986" name="Group 2330"/>
          <p:cNvGrpSpPr>
            <a:grpSpLocks/>
          </p:cNvGrpSpPr>
          <p:nvPr/>
        </p:nvGrpSpPr>
        <p:grpSpPr bwMode="auto">
          <a:xfrm>
            <a:off x="2214563" y="2419350"/>
            <a:ext cx="474662" cy="1504950"/>
            <a:chOff x="2161" y="588"/>
            <a:chExt cx="299" cy="948"/>
          </a:xfrm>
        </p:grpSpPr>
        <p:graphicFrame>
          <p:nvGraphicFramePr>
            <p:cNvPr id="72987" name="Object 2331"/>
            <p:cNvGraphicFramePr>
              <a:graphicFrameLocks noChangeAspect="1"/>
            </p:cNvGraphicFramePr>
            <p:nvPr/>
          </p:nvGraphicFramePr>
          <p:xfrm>
            <a:off x="2161" y="971"/>
            <a:ext cx="281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5" name="Equation" r:id="rId14" imgW="520560" imgH="393480" progId="Equation.3">
                    <p:embed/>
                  </p:oleObj>
                </mc:Choice>
                <mc:Fallback>
                  <p:oleObj name="Equation" r:id="rId14" imgW="520560" imgH="393480" progId="Equation.3">
                    <p:embed/>
                    <p:pic>
                      <p:nvPicPr>
                        <p:cNvPr id="0" name="Object 23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1" y="971"/>
                          <a:ext cx="281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988" name="Line 2332"/>
            <p:cNvSpPr>
              <a:spLocks noChangeShapeType="1"/>
            </p:cNvSpPr>
            <p:nvPr/>
          </p:nvSpPr>
          <p:spPr bwMode="auto">
            <a:xfrm>
              <a:off x="2460" y="588"/>
              <a:ext cx="0" cy="94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2989" name="Group 2333"/>
          <p:cNvGrpSpPr>
            <a:grpSpLocks/>
          </p:cNvGrpSpPr>
          <p:nvPr/>
        </p:nvGrpSpPr>
        <p:grpSpPr bwMode="auto">
          <a:xfrm>
            <a:off x="2413000" y="4048125"/>
            <a:ext cx="525463" cy="390525"/>
            <a:chOff x="2286" y="1614"/>
            <a:chExt cx="331" cy="246"/>
          </a:xfrm>
        </p:grpSpPr>
        <p:graphicFrame>
          <p:nvGraphicFramePr>
            <p:cNvPr id="72990" name="Object 2334"/>
            <p:cNvGraphicFramePr>
              <a:graphicFrameLocks noChangeAspect="1"/>
            </p:cNvGraphicFramePr>
            <p:nvPr/>
          </p:nvGraphicFramePr>
          <p:xfrm>
            <a:off x="2349" y="1647"/>
            <a:ext cx="268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6" name="Equation" r:id="rId16" imgW="495000" imgH="393480" progId="Equation.3">
                    <p:embed/>
                  </p:oleObj>
                </mc:Choice>
                <mc:Fallback>
                  <p:oleObj name="Equation" r:id="rId16" imgW="495000" imgH="393480" progId="Equation.3">
                    <p:embed/>
                    <p:pic>
                      <p:nvPicPr>
                        <p:cNvPr id="0" name="Object 23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9" y="1647"/>
                          <a:ext cx="268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991" name="Line 2335"/>
            <p:cNvSpPr>
              <a:spLocks noChangeShapeType="1"/>
            </p:cNvSpPr>
            <p:nvPr/>
          </p:nvSpPr>
          <p:spPr bwMode="auto">
            <a:xfrm>
              <a:off x="2286" y="1614"/>
              <a:ext cx="0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2992" name="Group 2336"/>
          <p:cNvGrpSpPr>
            <a:grpSpLocks/>
          </p:cNvGrpSpPr>
          <p:nvPr/>
        </p:nvGrpSpPr>
        <p:grpSpPr bwMode="auto">
          <a:xfrm>
            <a:off x="3032125" y="2400300"/>
            <a:ext cx="495300" cy="1962150"/>
            <a:chOff x="2676" y="576"/>
            <a:chExt cx="312" cy="1236"/>
          </a:xfrm>
        </p:grpSpPr>
        <p:graphicFrame>
          <p:nvGraphicFramePr>
            <p:cNvPr id="72993" name="Object 2337"/>
            <p:cNvGraphicFramePr>
              <a:graphicFrameLocks noChangeAspect="1"/>
            </p:cNvGraphicFramePr>
            <p:nvPr/>
          </p:nvGraphicFramePr>
          <p:xfrm>
            <a:off x="2707" y="940"/>
            <a:ext cx="281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7" name="Equation" r:id="rId18" imgW="520560" imgH="393480" progId="Equation.3">
                    <p:embed/>
                  </p:oleObj>
                </mc:Choice>
                <mc:Fallback>
                  <p:oleObj name="Equation" r:id="rId18" imgW="520560" imgH="393480" progId="Equation.3">
                    <p:embed/>
                    <p:pic>
                      <p:nvPicPr>
                        <p:cNvPr id="0" name="Object 23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7" y="940"/>
                          <a:ext cx="281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994" name="Line 2338"/>
            <p:cNvSpPr>
              <a:spLocks noChangeShapeType="1"/>
            </p:cNvSpPr>
            <p:nvPr/>
          </p:nvSpPr>
          <p:spPr bwMode="auto">
            <a:xfrm flipV="1">
              <a:off x="2676" y="576"/>
              <a:ext cx="0" cy="12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2995" name="Group 2339"/>
          <p:cNvGrpSpPr>
            <a:grpSpLocks/>
          </p:cNvGrpSpPr>
          <p:nvPr/>
        </p:nvGrpSpPr>
        <p:grpSpPr bwMode="auto">
          <a:xfrm>
            <a:off x="465138" y="5549900"/>
            <a:ext cx="8256587" cy="457200"/>
            <a:chOff x="212" y="2752"/>
            <a:chExt cx="5305" cy="288"/>
          </a:xfrm>
        </p:grpSpPr>
        <p:sp>
          <p:nvSpPr>
            <p:cNvPr id="72996" name="Rectangle 2340"/>
            <p:cNvSpPr>
              <a:spLocks noChangeArrowheads="1"/>
            </p:cNvSpPr>
            <p:nvPr/>
          </p:nvSpPr>
          <p:spPr bwMode="auto">
            <a:xfrm>
              <a:off x="212" y="2752"/>
              <a:ext cx="4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sym typeface="Wingdings 2" panose="05020102010507070707" pitchFamily="18" charset="2"/>
                </a:rPr>
                <a:t></a:t>
              </a:r>
              <a:r>
                <a:rPr lang="en-US" altLang="zh-CN">
                  <a:solidFill>
                    <a:schemeClr val="tx1"/>
                  </a:solidFill>
                </a:rPr>
                <a:t> </a:t>
              </a:r>
              <a:r>
                <a:rPr lang="zh-CN" altLang="en-US">
                  <a:solidFill>
                    <a:schemeClr val="tx1"/>
                  </a:solidFill>
                </a:rPr>
                <a:t>相电压</a:t>
              </a:r>
              <a:r>
                <a:rPr lang="en-US" altLang="zh-CN">
                  <a:solidFill>
                    <a:schemeClr val="tx1"/>
                  </a:solidFill>
                </a:rPr>
                <a:t>(phase voltage)</a:t>
              </a:r>
              <a:r>
                <a:rPr lang="zh-CN" altLang="en-US">
                  <a:solidFill>
                    <a:schemeClr val="tx1"/>
                  </a:solidFill>
                </a:rPr>
                <a:t>：每相电源</a:t>
              </a:r>
              <a:r>
                <a:rPr lang="en-US" altLang="zh-CN">
                  <a:solidFill>
                    <a:schemeClr val="tx1"/>
                  </a:solidFill>
                </a:rPr>
                <a:t>(</a:t>
              </a:r>
              <a:r>
                <a:rPr lang="zh-CN" altLang="en-US">
                  <a:solidFill>
                    <a:schemeClr val="tx1"/>
                  </a:solidFill>
                </a:rPr>
                <a:t>负载</a:t>
              </a:r>
              <a:r>
                <a:rPr lang="en-US" altLang="zh-CN">
                  <a:solidFill>
                    <a:schemeClr val="tx1"/>
                  </a:solidFill>
                </a:rPr>
                <a:t>)</a:t>
              </a:r>
              <a:r>
                <a:rPr lang="zh-CN" altLang="en-US">
                  <a:solidFill>
                    <a:schemeClr val="tx1"/>
                  </a:solidFill>
                </a:rPr>
                <a:t>的电压</a:t>
              </a:r>
            </a:p>
          </p:txBody>
        </p:sp>
        <p:graphicFrame>
          <p:nvGraphicFramePr>
            <p:cNvPr id="72997" name="Object 2341"/>
            <p:cNvGraphicFramePr>
              <a:graphicFrameLocks noChangeAspect="1"/>
            </p:cNvGraphicFramePr>
            <p:nvPr/>
          </p:nvGraphicFramePr>
          <p:xfrm>
            <a:off x="4515" y="2756"/>
            <a:ext cx="100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8" name="公式" r:id="rId20" imgW="927000" imgH="241200" progId="Equation.3">
                    <p:embed/>
                  </p:oleObj>
                </mc:Choice>
                <mc:Fallback>
                  <p:oleObj name="公式" r:id="rId20" imgW="927000" imgH="241200" progId="Equation.3">
                    <p:embed/>
                    <p:pic>
                      <p:nvPicPr>
                        <p:cNvPr id="0" name="Object 23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5" y="2756"/>
                          <a:ext cx="100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998" name="Text Box 2342"/>
          <p:cNvSpPr txBox="1">
            <a:spLocks noChangeArrowheads="1"/>
          </p:cNvSpPr>
          <p:nvPr/>
        </p:nvSpPr>
        <p:spPr bwMode="auto">
          <a:xfrm>
            <a:off x="3919538" y="3000375"/>
            <a:ext cx="540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chemeClr val="tx1"/>
                </a:solidFill>
              </a:rPr>
              <a:t>①</a:t>
            </a:r>
            <a:r>
              <a:rPr lang="zh-CN" altLang="en-US">
                <a:solidFill>
                  <a:schemeClr val="tx1"/>
                </a:solidFill>
              </a:rPr>
              <a:t>火线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端线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C </a:t>
            </a:r>
            <a:r>
              <a:rPr lang="zh-CN" altLang="en-US">
                <a:solidFill>
                  <a:schemeClr val="tx1"/>
                </a:solidFill>
              </a:rPr>
              <a:t>三端引出线。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2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2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7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7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2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7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38" grpId="0" autoUpdateAnimBg="0"/>
      <p:bldP spid="72939" grpId="0" autoUpdateAnimBg="0"/>
      <p:bldP spid="72940" grpId="0" autoUpdateAnimBg="0"/>
      <p:bldP spid="72941" grpId="0" autoUpdateAnimBg="0"/>
      <p:bldP spid="72944" grpId="0" autoUpdateAnimBg="0"/>
      <p:bldP spid="7299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Text Box 4"/>
          <p:cNvSpPr txBox="1">
            <a:spLocks noChangeArrowheads="1"/>
          </p:cNvSpPr>
          <p:nvPr/>
        </p:nvSpPr>
        <p:spPr bwMode="auto">
          <a:xfrm>
            <a:off x="501650" y="285750"/>
            <a:ext cx="6659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Y</a:t>
            </a:r>
            <a:r>
              <a:rPr lang="zh-CN" altLang="en-US"/>
              <a:t>接三相电源的线电压与 相电压的关系，</a:t>
            </a:r>
          </a:p>
        </p:txBody>
      </p:sp>
      <p:graphicFrame>
        <p:nvGraphicFramePr>
          <p:cNvPr id="147461" name="Object 5"/>
          <p:cNvGraphicFramePr>
            <a:graphicFrameLocks noChangeAspect="1"/>
          </p:cNvGraphicFramePr>
          <p:nvPr/>
        </p:nvGraphicFramePr>
        <p:xfrm>
          <a:off x="5092700" y="1560513"/>
          <a:ext cx="3192463" cy="147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38" name="Equation" r:id="rId3" imgW="3136680" imgH="1447560" progId="Equation.3">
                  <p:embed/>
                </p:oleObj>
              </mc:Choice>
              <mc:Fallback>
                <p:oleObj name="Equation" r:id="rId3" imgW="3136680" imgH="1447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1560513"/>
                        <a:ext cx="3192463" cy="147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2" name="Object 6"/>
          <p:cNvGraphicFramePr>
            <a:graphicFrameLocks noChangeAspect="1"/>
          </p:cNvGraphicFramePr>
          <p:nvPr/>
        </p:nvGraphicFramePr>
        <p:xfrm>
          <a:off x="1238250" y="3963988"/>
          <a:ext cx="26003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39" name="Equation" r:id="rId5" imgW="1143000" imgH="253800" progId="Equation.3">
                  <p:embed/>
                </p:oleObj>
              </mc:Choice>
              <mc:Fallback>
                <p:oleObj name="Equation" r:id="rId5" imgW="1143000" imgH="253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3963988"/>
                        <a:ext cx="26003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3" name="Object 7"/>
          <p:cNvGraphicFramePr>
            <a:graphicFrameLocks noChangeAspect="1"/>
          </p:cNvGraphicFramePr>
          <p:nvPr/>
        </p:nvGraphicFramePr>
        <p:xfrm>
          <a:off x="3844925" y="4010025"/>
          <a:ext cx="427196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0" name="Equation" r:id="rId7" imgW="2044440" imgH="228600" progId="Equation.3">
                  <p:embed/>
                </p:oleObj>
              </mc:Choice>
              <mc:Fallback>
                <p:oleObj name="Equation" r:id="rId7" imgW="20444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5" y="4010025"/>
                        <a:ext cx="4271963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4" name="Object 8"/>
          <p:cNvGraphicFramePr>
            <a:graphicFrameLocks noChangeAspect="1"/>
          </p:cNvGraphicFramePr>
          <p:nvPr/>
        </p:nvGraphicFramePr>
        <p:xfrm>
          <a:off x="1171575" y="4570413"/>
          <a:ext cx="68516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1" name="Equation" r:id="rId9" imgW="3441600" imgH="355320" progId="Equation.3">
                  <p:embed/>
                </p:oleObj>
              </mc:Choice>
              <mc:Fallback>
                <p:oleObj name="Equation" r:id="rId9" imgW="3441600" imgH="3553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4570413"/>
                        <a:ext cx="685165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5" name="Object 9"/>
          <p:cNvGraphicFramePr>
            <a:graphicFrameLocks noChangeAspect="1"/>
          </p:cNvGraphicFramePr>
          <p:nvPr/>
        </p:nvGraphicFramePr>
        <p:xfrm>
          <a:off x="1244600" y="5383213"/>
          <a:ext cx="64420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2" name="Equation" r:id="rId11" imgW="3098520" imgH="266400" progId="Equation.3">
                  <p:embed/>
                </p:oleObj>
              </mc:Choice>
              <mc:Fallback>
                <p:oleObj name="Equation" r:id="rId11" imgW="3098520" imgH="266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5383213"/>
                        <a:ext cx="644207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7468" name="Group 12"/>
          <p:cNvGrpSpPr>
            <a:grpSpLocks/>
          </p:cNvGrpSpPr>
          <p:nvPr/>
        </p:nvGrpSpPr>
        <p:grpSpPr bwMode="auto">
          <a:xfrm>
            <a:off x="639763" y="949325"/>
            <a:ext cx="4029075" cy="2760663"/>
            <a:chOff x="2767" y="778"/>
            <a:chExt cx="2538" cy="1739"/>
          </a:xfrm>
        </p:grpSpPr>
        <p:sp>
          <p:nvSpPr>
            <p:cNvPr id="147469" name="Text Box 13"/>
            <p:cNvSpPr txBox="1">
              <a:spLocks noChangeArrowheads="1"/>
            </p:cNvSpPr>
            <p:nvPr/>
          </p:nvSpPr>
          <p:spPr bwMode="auto">
            <a:xfrm>
              <a:off x="3174" y="778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47470" name="Oval 14"/>
            <p:cNvSpPr>
              <a:spLocks noChangeArrowheads="1"/>
            </p:cNvSpPr>
            <p:nvPr/>
          </p:nvSpPr>
          <p:spPr bwMode="auto">
            <a:xfrm>
              <a:off x="3280" y="1138"/>
              <a:ext cx="269" cy="263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71" name="Line 15"/>
            <p:cNvSpPr>
              <a:spLocks noChangeShapeType="1"/>
            </p:cNvSpPr>
            <p:nvPr/>
          </p:nvSpPr>
          <p:spPr bwMode="auto">
            <a:xfrm flipH="1">
              <a:off x="3424" y="942"/>
              <a:ext cx="0" cy="6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72" name="Oval 16"/>
            <p:cNvSpPr>
              <a:spLocks noChangeArrowheads="1"/>
            </p:cNvSpPr>
            <p:nvPr/>
          </p:nvSpPr>
          <p:spPr bwMode="auto">
            <a:xfrm>
              <a:off x="3403" y="904"/>
              <a:ext cx="45" cy="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73" name="Oval 17"/>
            <p:cNvSpPr>
              <a:spLocks noChangeArrowheads="1"/>
            </p:cNvSpPr>
            <p:nvPr/>
          </p:nvSpPr>
          <p:spPr bwMode="auto">
            <a:xfrm>
              <a:off x="3407" y="1616"/>
              <a:ext cx="34" cy="33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74" name="Text Box 18"/>
            <p:cNvSpPr txBox="1">
              <a:spLocks noChangeArrowheads="1"/>
            </p:cNvSpPr>
            <p:nvPr/>
          </p:nvSpPr>
          <p:spPr bwMode="auto">
            <a:xfrm>
              <a:off x="3240" y="918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47475" name="Text Box 19"/>
            <p:cNvSpPr txBox="1">
              <a:spLocks noChangeArrowheads="1"/>
            </p:cNvSpPr>
            <p:nvPr/>
          </p:nvSpPr>
          <p:spPr bwMode="auto">
            <a:xfrm>
              <a:off x="3240" y="1366"/>
              <a:ext cx="1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147476" name="Text Box 20"/>
            <p:cNvSpPr txBox="1">
              <a:spLocks noChangeArrowheads="1"/>
            </p:cNvSpPr>
            <p:nvPr/>
          </p:nvSpPr>
          <p:spPr bwMode="auto">
            <a:xfrm>
              <a:off x="3186" y="1475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47477" name="Oval 21"/>
            <p:cNvSpPr>
              <a:spLocks noChangeArrowheads="1"/>
            </p:cNvSpPr>
            <p:nvPr/>
          </p:nvSpPr>
          <p:spPr bwMode="auto">
            <a:xfrm rot="7200000">
              <a:off x="3622" y="1673"/>
              <a:ext cx="262" cy="269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78" name="Line 22"/>
            <p:cNvSpPr>
              <a:spLocks noChangeShapeType="1"/>
            </p:cNvSpPr>
            <p:nvPr/>
          </p:nvSpPr>
          <p:spPr bwMode="auto">
            <a:xfrm rot="7200000" flipH="1">
              <a:off x="3740" y="1465"/>
              <a:ext cx="0" cy="6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79" name="Oval 23"/>
            <p:cNvSpPr>
              <a:spLocks noChangeArrowheads="1"/>
            </p:cNvSpPr>
            <p:nvPr/>
          </p:nvSpPr>
          <p:spPr bwMode="auto">
            <a:xfrm rot="7200000">
              <a:off x="4030" y="1966"/>
              <a:ext cx="44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80" name="Oval 24"/>
            <p:cNvSpPr>
              <a:spLocks noChangeArrowheads="1"/>
            </p:cNvSpPr>
            <p:nvPr/>
          </p:nvSpPr>
          <p:spPr bwMode="auto">
            <a:xfrm rot="7200000">
              <a:off x="3409" y="1618"/>
              <a:ext cx="33" cy="3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81" name="Text Box 25"/>
            <p:cNvSpPr txBox="1">
              <a:spLocks noChangeArrowheads="1"/>
            </p:cNvSpPr>
            <p:nvPr/>
          </p:nvSpPr>
          <p:spPr bwMode="auto">
            <a:xfrm rot="7200000">
              <a:off x="3915" y="1743"/>
              <a:ext cx="1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47482" name="Text Box 26"/>
            <p:cNvSpPr txBox="1">
              <a:spLocks noChangeArrowheads="1"/>
            </p:cNvSpPr>
            <p:nvPr/>
          </p:nvSpPr>
          <p:spPr bwMode="auto">
            <a:xfrm rot="7200000">
              <a:off x="3565" y="1553"/>
              <a:ext cx="16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147483" name="Oval 27"/>
            <p:cNvSpPr>
              <a:spLocks noChangeArrowheads="1"/>
            </p:cNvSpPr>
            <p:nvPr/>
          </p:nvSpPr>
          <p:spPr bwMode="auto">
            <a:xfrm rot="14400000">
              <a:off x="2977" y="1689"/>
              <a:ext cx="263" cy="269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84" name="Line 28"/>
            <p:cNvSpPr>
              <a:spLocks noChangeShapeType="1"/>
            </p:cNvSpPr>
            <p:nvPr/>
          </p:nvSpPr>
          <p:spPr bwMode="auto">
            <a:xfrm rot="14400000" flipH="1">
              <a:off x="3113" y="1464"/>
              <a:ext cx="0" cy="6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85" name="Oval 29"/>
            <p:cNvSpPr>
              <a:spLocks noChangeArrowheads="1"/>
            </p:cNvSpPr>
            <p:nvPr/>
          </p:nvSpPr>
          <p:spPr bwMode="auto">
            <a:xfrm rot="14400000">
              <a:off x="2776" y="1963"/>
              <a:ext cx="43" cy="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86" name="Oval 30"/>
            <p:cNvSpPr>
              <a:spLocks noChangeArrowheads="1"/>
            </p:cNvSpPr>
            <p:nvPr/>
          </p:nvSpPr>
          <p:spPr bwMode="auto">
            <a:xfrm rot="14400000">
              <a:off x="3410" y="1617"/>
              <a:ext cx="33" cy="3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87" name="Text Box 31"/>
            <p:cNvSpPr txBox="1">
              <a:spLocks noChangeArrowheads="1"/>
            </p:cNvSpPr>
            <p:nvPr/>
          </p:nvSpPr>
          <p:spPr bwMode="auto">
            <a:xfrm rot="14400000">
              <a:off x="2901" y="1876"/>
              <a:ext cx="1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47488" name="Text Box 32"/>
            <p:cNvSpPr txBox="1">
              <a:spLocks noChangeArrowheads="1"/>
            </p:cNvSpPr>
            <p:nvPr/>
          </p:nvSpPr>
          <p:spPr bwMode="auto">
            <a:xfrm rot="14400000">
              <a:off x="3226" y="1697"/>
              <a:ext cx="1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147489" name="Text Box 33"/>
            <p:cNvSpPr txBox="1">
              <a:spLocks noChangeArrowheads="1"/>
            </p:cNvSpPr>
            <p:nvPr/>
          </p:nvSpPr>
          <p:spPr bwMode="auto">
            <a:xfrm>
              <a:off x="4029" y="1750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47490" name="Text Box 34"/>
            <p:cNvSpPr txBox="1">
              <a:spLocks noChangeArrowheads="1"/>
            </p:cNvSpPr>
            <p:nvPr/>
          </p:nvSpPr>
          <p:spPr bwMode="auto">
            <a:xfrm>
              <a:off x="2784" y="1967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47491" name="Text Box 35"/>
            <p:cNvSpPr txBox="1">
              <a:spLocks noChangeArrowheads="1"/>
            </p:cNvSpPr>
            <p:nvPr/>
          </p:nvSpPr>
          <p:spPr bwMode="auto">
            <a:xfrm>
              <a:off x="3394" y="1391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47492" name="Text Box 36"/>
            <p:cNvSpPr txBox="1">
              <a:spLocks noChangeArrowheads="1"/>
            </p:cNvSpPr>
            <p:nvPr/>
          </p:nvSpPr>
          <p:spPr bwMode="auto">
            <a:xfrm>
              <a:off x="3333" y="1625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47493" name="Line 37"/>
            <p:cNvSpPr>
              <a:spLocks noChangeShapeType="1"/>
            </p:cNvSpPr>
            <p:nvPr/>
          </p:nvSpPr>
          <p:spPr bwMode="auto">
            <a:xfrm>
              <a:off x="3442" y="924"/>
              <a:ext cx="15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94" name="Line 38"/>
            <p:cNvSpPr>
              <a:spLocks noChangeShapeType="1"/>
            </p:cNvSpPr>
            <p:nvPr/>
          </p:nvSpPr>
          <p:spPr bwMode="auto">
            <a:xfrm>
              <a:off x="3424" y="1626"/>
              <a:ext cx="1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95" name="Line 39"/>
            <p:cNvSpPr>
              <a:spLocks noChangeShapeType="1"/>
            </p:cNvSpPr>
            <p:nvPr/>
          </p:nvSpPr>
          <p:spPr bwMode="auto">
            <a:xfrm>
              <a:off x="4068" y="1995"/>
              <a:ext cx="8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96" name="Freeform 40"/>
            <p:cNvSpPr>
              <a:spLocks/>
            </p:cNvSpPr>
            <p:nvPr/>
          </p:nvSpPr>
          <p:spPr bwMode="auto">
            <a:xfrm>
              <a:off x="2793" y="1998"/>
              <a:ext cx="2163" cy="412"/>
            </a:xfrm>
            <a:custGeom>
              <a:avLst/>
              <a:gdLst>
                <a:gd name="T0" fmla="*/ 0 w 2184"/>
                <a:gd name="T1" fmla="*/ 0 h 426"/>
                <a:gd name="T2" fmla="*/ 0 w 2184"/>
                <a:gd name="T3" fmla="*/ 426 h 426"/>
                <a:gd name="T4" fmla="*/ 2184 w 2184"/>
                <a:gd name="T5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4" h="426">
                  <a:moveTo>
                    <a:pt x="0" y="0"/>
                  </a:moveTo>
                  <a:lnTo>
                    <a:pt x="0" y="426"/>
                  </a:lnTo>
                  <a:lnTo>
                    <a:pt x="2184" y="42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97" name="Oval 41"/>
            <p:cNvSpPr>
              <a:spLocks noChangeArrowheads="1"/>
            </p:cNvSpPr>
            <p:nvPr/>
          </p:nvSpPr>
          <p:spPr bwMode="auto">
            <a:xfrm>
              <a:off x="4956" y="901"/>
              <a:ext cx="47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98" name="Oval 42"/>
            <p:cNvSpPr>
              <a:spLocks noChangeArrowheads="1"/>
            </p:cNvSpPr>
            <p:nvPr/>
          </p:nvSpPr>
          <p:spPr bwMode="auto">
            <a:xfrm>
              <a:off x="4956" y="1598"/>
              <a:ext cx="47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99" name="Oval 43"/>
            <p:cNvSpPr>
              <a:spLocks noChangeArrowheads="1"/>
            </p:cNvSpPr>
            <p:nvPr/>
          </p:nvSpPr>
          <p:spPr bwMode="auto">
            <a:xfrm>
              <a:off x="4962" y="1967"/>
              <a:ext cx="47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00" name="Oval 44"/>
            <p:cNvSpPr>
              <a:spLocks noChangeArrowheads="1"/>
            </p:cNvSpPr>
            <p:nvPr/>
          </p:nvSpPr>
          <p:spPr bwMode="auto">
            <a:xfrm>
              <a:off x="4956" y="2382"/>
              <a:ext cx="47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01" name="Text Box 45"/>
            <p:cNvSpPr txBox="1">
              <a:spLocks noChangeArrowheads="1"/>
            </p:cNvSpPr>
            <p:nvPr/>
          </p:nvSpPr>
          <p:spPr bwMode="auto">
            <a:xfrm>
              <a:off x="5009" y="789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47502" name="Text Box 46"/>
            <p:cNvSpPr txBox="1">
              <a:spLocks noChangeArrowheads="1"/>
            </p:cNvSpPr>
            <p:nvPr/>
          </p:nvSpPr>
          <p:spPr bwMode="auto">
            <a:xfrm>
              <a:off x="5009" y="1871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47503" name="Text Box 47"/>
            <p:cNvSpPr txBox="1">
              <a:spLocks noChangeArrowheads="1"/>
            </p:cNvSpPr>
            <p:nvPr/>
          </p:nvSpPr>
          <p:spPr bwMode="auto">
            <a:xfrm>
              <a:off x="5010" y="2267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47504" name="Text Box 48"/>
            <p:cNvSpPr txBox="1">
              <a:spLocks noChangeArrowheads="1"/>
            </p:cNvSpPr>
            <p:nvPr/>
          </p:nvSpPr>
          <p:spPr bwMode="auto">
            <a:xfrm>
              <a:off x="5009" y="1497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N</a:t>
              </a:r>
            </a:p>
          </p:txBody>
        </p:sp>
        <p:graphicFrame>
          <p:nvGraphicFramePr>
            <p:cNvPr id="147505" name="Object 49"/>
            <p:cNvGraphicFramePr>
              <a:graphicFrameLocks noChangeAspect="1"/>
            </p:cNvGraphicFramePr>
            <p:nvPr/>
          </p:nvGraphicFramePr>
          <p:xfrm>
            <a:off x="3079" y="1963"/>
            <a:ext cx="236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43" name="Equation" r:id="rId13" imgW="368280" imgH="406080" progId="Equation.3">
                    <p:embed/>
                  </p:oleObj>
                </mc:Choice>
                <mc:Fallback>
                  <p:oleObj name="Equation" r:id="rId13" imgW="368280" imgH="40608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9" y="1963"/>
                          <a:ext cx="236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7506" name="Line 50"/>
            <p:cNvSpPr>
              <a:spLocks noChangeShapeType="1"/>
            </p:cNvSpPr>
            <p:nvPr/>
          </p:nvSpPr>
          <p:spPr bwMode="auto">
            <a:xfrm flipH="1">
              <a:off x="4534" y="965"/>
              <a:ext cx="0" cy="100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07" name="Line 51"/>
            <p:cNvSpPr>
              <a:spLocks noChangeShapeType="1"/>
            </p:cNvSpPr>
            <p:nvPr/>
          </p:nvSpPr>
          <p:spPr bwMode="auto">
            <a:xfrm>
              <a:off x="4522" y="2020"/>
              <a:ext cx="0" cy="37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08" name="Line 52"/>
            <p:cNvSpPr>
              <a:spLocks noChangeShapeType="1"/>
            </p:cNvSpPr>
            <p:nvPr/>
          </p:nvSpPr>
          <p:spPr bwMode="auto">
            <a:xfrm flipV="1">
              <a:off x="4872" y="964"/>
              <a:ext cx="0" cy="140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7509" name="Object 53"/>
            <p:cNvGraphicFramePr>
              <a:graphicFrameLocks noChangeAspect="1"/>
            </p:cNvGraphicFramePr>
            <p:nvPr/>
          </p:nvGraphicFramePr>
          <p:xfrm>
            <a:off x="2995" y="1151"/>
            <a:ext cx="26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44" name="Equation" r:id="rId15" imgW="406080" imgH="393480" progId="Equation.3">
                    <p:embed/>
                  </p:oleObj>
                </mc:Choice>
                <mc:Fallback>
                  <p:oleObj name="Equation" r:id="rId15" imgW="406080" imgH="39348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5" y="1151"/>
                          <a:ext cx="26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510" name="Object 54"/>
            <p:cNvGraphicFramePr>
              <a:graphicFrameLocks noChangeAspect="1"/>
            </p:cNvGraphicFramePr>
            <p:nvPr/>
          </p:nvGraphicFramePr>
          <p:xfrm>
            <a:off x="3563" y="1976"/>
            <a:ext cx="25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45" name="Equation" r:id="rId17" imgW="393480" imgH="393480" progId="Equation.3">
                    <p:embed/>
                  </p:oleObj>
                </mc:Choice>
                <mc:Fallback>
                  <p:oleObj name="Equation" r:id="rId17" imgW="393480" imgH="39348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" y="1976"/>
                          <a:ext cx="253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511" name="Object 55"/>
            <p:cNvGraphicFramePr>
              <a:graphicFrameLocks noChangeAspect="1"/>
            </p:cNvGraphicFramePr>
            <p:nvPr/>
          </p:nvGraphicFramePr>
          <p:xfrm>
            <a:off x="4534" y="1204"/>
            <a:ext cx="33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46" name="Equation" r:id="rId19" imgW="520560" imgH="393480" progId="Equation.3">
                    <p:embed/>
                  </p:oleObj>
                </mc:Choice>
                <mc:Fallback>
                  <p:oleObj name="Equation" r:id="rId19" imgW="520560" imgH="39348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1204"/>
                          <a:ext cx="33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512" name="Object 56"/>
            <p:cNvGraphicFramePr>
              <a:graphicFrameLocks noChangeAspect="1"/>
            </p:cNvGraphicFramePr>
            <p:nvPr/>
          </p:nvGraphicFramePr>
          <p:xfrm>
            <a:off x="4877" y="1229"/>
            <a:ext cx="33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47" name="Equation" r:id="rId21" imgW="520560" imgH="393480" progId="Equation.3">
                    <p:embed/>
                  </p:oleObj>
                </mc:Choice>
                <mc:Fallback>
                  <p:oleObj name="Equation" r:id="rId21" imgW="520560" imgH="39348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7" y="1229"/>
                          <a:ext cx="33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513" name="Object 57"/>
            <p:cNvGraphicFramePr>
              <a:graphicFrameLocks noChangeAspect="1"/>
            </p:cNvGraphicFramePr>
            <p:nvPr/>
          </p:nvGraphicFramePr>
          <p:xfrm>
            <a:off x="4547" y="2083"/>
            <a:ext cx="32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648" name="Equation" r:id="rId23" imgW="507960" imgH="393480" progId="Equation.3">
                    <p:embed/>
                  </p:oleObj>
                </mc:Choice>
                <mc:Fallback>
                  <p:oleObj name="Equation" r:id="rId23" imgW="507960" imgH="39348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7" y="2083"/>
                          <a:ext cx="32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7514" name="Text Box 58"/>
          <p:cNvSpPr txBox="1">
            <a:spLocks noChangeArrowheads="1"/>
          </p:cNvSpPr>
          <p:nvPr/>
        </p:nvSpPr>
        <p:spPr bwMode="auto">
          <a:xfrm>
            <a:off x="323850" y="4002088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则：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47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0" grpId="0" build="p" autoUpdateAnimBg="0"/>
      <p:bldP spid="147514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384175" y="661988"/>
            <a:ext cx="6311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利用相量图得到相电压和线电压之间的关系：</a:t>
            </a:r>
          </a:p>
        </p:txBody>
      </p:sp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1260475" y="5353050"/>
            <a:ext cx="685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线电压对称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大小相等，相位互差</a:t>
            </a:r>
            <a:r>
              <a:rPr lang="en-US" altLang="zh-CN">
                <a:solidFill>
                  <a:schemeClr val="tx1"/>
                </a:solidFill>
              </a:rPr>
              <a:t>120</a:t>
            </a:r>
            <a:r>
              <a:rPr lang="en-US" altLang="zh-CN" baseline="42000">
                <a:solidFill>
                  <a:schemeClr val="tx1"/>
                </a:solidFill>
              </a:rPr>
              <a:t>o</a:t>
            </a:r>
            <a:r>
              <a:rPr lang="en-US" altLang="zh-CN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8486" name="AutoShape 6"/>
          <p:cNvSpPr>
            <a:spLocks/>
          </p:cNvSpPr>
          <p:nvPr/>
        </p:nvSpPr>
        <p:spPr bwMode="auto">
          <a:xfrm>
            <a:off x="3771900" y="3540125"/>
            <a:ext cx="95250" cy="1243013"/>
          </a:xfrm>
          <a:prstGeom prst="rightBrace">
            <a:avLst>
              <a:gd name="adj1" fmla="val 1087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8489" name="Group 9"/>
          <p:cNvGrpSpPr>
            <a:grpSpLocks/>
          </p:cNvGrpSpPr>
          <p:nvPr/>
        </p:nvGrpSpPr>
        <p:grpSpPr bwMode="auto">
          <a:xfrm>
            <a:off x="5516563" y="1214438"/>
            <a:ext cx="1609725" cy="854075"/>
            <a:chOff x="3511" y="477"/>
            <a:chExt cx="1014" cy="538"/>
          </a:xfrm>
        </p:grpSpPr>
        <p:sp>
          <p:nvSpPr>
            <p:cNvPr id="148490" name="Line 10"/>
            <p:cNvSpPr>
              <a:spLocks noChangeShapeType="1"/>
            </p:cNvSpPr>
            <p:nvPr/>
          </p:nvSpPr>
          <p:spPr bwMode="auto">
            <a:xfrm rot="-7089965">
              <a:off x="4004" y="494"/>
              <a:ext cx="28" cy="101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8491" name="Object 11"/>
            <p:cNvGraphicFramePr>
              <a:graphicFrameLocks noChangeAspect="1"/>
            </p:cNvGraphicFramePr>
            <p:nvPr/>
          </p:nvGraphicFramePr>
          <p:xfrm>
            <a:off x="4071" y="477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33" name="Equation" r:id="rId3" imgW="291960" imgH="228600" progId="Equation.3">
                    <p:embed/>
                  </p:oleObj>
                </mc:Choice>
                <mc:Fallback>
                  <p:oleObj name="Equation" r:id="rId3" imgW="29196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1" y="477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8492" name="Group 12"/>
          <p:cNvGrpSpPr>
            <a:grpSpLocks/>
          </p:cNvGrpSpPr>
          <p:nvPr/>
        </p:nvGrpSpPr>
        <p:grpSpPr bwMode="auto">
          <a:xfrm>
            <a:off x="5959475" y="2093913"/>
            <a:ext cx="617538" cy="396875"/>
            <a:chOff x="3772" y="1037"/>
            <a:chExt cx="389" cy="250"/>
          </a:xfrm>
        </p:grpSpPr>
        <p:sp>
          <p:nvSpPr>
            <p:cNvPr id="148493" name="Text Box 13"/>
            <p:cNvSpPr txBox="1">
              <a:spLocks noChangeArrowheads="1"/>
            </p:cNvSpPr>
            <p:nvPr/>
          </p:nvSpPr>
          <p:spPr bwMode="auto">
            <a:xfrm>
              <a:off x="3833" y="1037"/>
              <a:ext cx="3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</a:rPr>
                <a:t>30</a:t>
              </a:r>
              <a:r>
                <a:rPr lang="en-US" altLang="zh-CN" sz="2000" baseline="40000">
                  <a:solidFill>
                    <a:schemeClr val="tx1"/>
                  </a:solidFill>
                </a:rPr>
                <a:t>o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148494" name="Arc 14"/>
            <p:cNvSpPr>
              <a:spLocks/>
            </p:cNvSpPr>
            <p:nvPr/>
          </p:nvSpPr>
          <p:spPr bwMode="auto">
            <a:xfrm rot="17161359" flipV="1">
              <a:off x="3753" y="1165"/>
              <a:ext cx="85" cy="48"/>
            </a:xfrm>
            <a:custGeom>
              <a:avLst/>
              <a:gdLst>
                <a:gd name="G0" fmla="+- 31 0 0"/>
                <a:gd name="G1" fmla="+- 21600 0 0"/>
                <a:gd name="G2" fmla="+- 21600 0 0"/>
                <a:gd name="T0" fmla="*/ 0 w 21631"/>
                <a:gd name="T1" fmla="*/ 0 h 21600"/>
                <a:gd name="T2" fmla="*/ 21631 w 21631"/>
                <a:gd name="T3" fmla="*/ 21600 h 21600"/>
                <a:gd name="T4" fmla="*/ 31 w 2163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31" h="21600" fill="none" extrusionOk="0">
                  <a:moveTo>
                    <a:pt x="0" y="0"/>
                  </a:moveTo>
                  <a:cubicBezTo>
                    <a:pt x="10" y="0"/>
                    <a:pt x="20" y="0"/>
                    <a:pt x="31" y="0"/>
                  </a:cubicBezTo>
                  <a:cubicBezTo>
                    <a:pt x="11960" y="0"/>
                    <a:pt x="21631" y="9670"/>
                    <a:pt x="21631" y="21600"/>
                  </a:cubicBezTo>
                </a:path>
                <a:path w="21631" h="21600" stroke="0" extrusionOk="0">
                  <a:moveTo>
                    <a:pt x="0" y="0"/>
                  </a:moveTo>
                  <a:cubicBezTo>
                    <a:pt x="10" y="0"/>
                    <a:pt x="20" y="0"/>
                    <a:pt x="31" y="0"/>
                  </a:cubicBezTo>
                  <a:cubicBezTo>
                    <a:pt x="11960" y="0"/>
                    <a:pt x="21631" y="9670"/>
                    <a:pt x="21631" y="21600"/>
                  </a:cubicBezTo>
                  <a:lnTo>
                    <a:pt x="31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8495" name="Group 15"/>
          <p:cNvGrpSpPr>
            <a:grpSpLocks/>
          </p:cNvGrpSpPr>
          <p:nvPr/>
        </p:nvGrpSpPr>
        <p:grpSpPr bwMode="auto">
          <a:xfrm>
            <a:off x="4052888" y="1716088"/>
            <a:ext cx="1609725" cy="552450"/>
            <a:chOff x="2589" y="793"/>
            <a:chExt cx="1014" cy="348"/>
          </a:xfrm>
        </p:grpSpPr>
        <p:sp>
          <p:nvSpPr>
            <p:cNvPr id="148496" name="Text Box 16"/>
            <p:cNvSpPr txBox="1">
              <a:spLocks noChangeArrowheads="1"/>
            </p:cNvSpPr>
            <p:nvPr/>
          </p:nvSpPr>
          <p:spPr bwMode="auto">
            <a:xfrm>
              <a:off x="3091" y="865"/>
              <a:ext cx="3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</a:rPr>
                <a:t>30</a:t>
              </a:r>
              <a:r>
                <a:rPr lang="en-US" altLang="zh-CN" sz="2000" baseline="40000">
                  <a:solidFill>
                    <a:schemeClr val="tx1"/>
                  </a:solidFill>
                </a:rPr>
                <a:t>o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148497" name="Arc 17"/>
            <p:cNvSpPr>
              <a:spLocks/>
            </p:cNvSpPr>
            <p:nvPr/>
          </p:nvSpPr>
          <p:spPr bwMode="auto">
            <a:xfrm rot="9386495" flipV="1">
              <a:off x="3376" y="1093"/>
              <a:ext cx="104" cy="48"/>
            </a:xfrm>
            <a:custGeom>
              <a:avLst/>
              <a:gdLst>
                <a:gd name="G0" fmla="+- 5220 0 0"/>
                <a:gd name="G1" fmla="+- 21600 0 0"/>
                <a:gd name="G2" fmla="+- 21600 0 0"/>
                <a:gd name="T0" fmla="*/ 0 w 26820"/>
                <a:gd name="T1" fmla="*/ 640 h 21600"/>
                <a:gd name="T2" fmla="*/ 26820 w 26820"/>
                <a:gd name="T3" fmla="*/ 21600 h 21600"/>
                <a:gd name="T4" fmla="*/ 5220 w 2682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820" h="21600" fill="none" extrusionOk="0">
                  <a:moveTo>
                    <a:pt x="0" y="640"/>
                  </a:moveTo>
                  <a:cubicBezTo>
                    <a:pt x="1707" y="215"/>
                    <a:pt x="3460" y="0"/>
                    <a:pt x="5220" y="0"/>
                  </a:cubicBezTo>
                  <a:cubicBezTo>
                    <a:pt x="17149" y="0"/>
                    <a:pt x="26820" y="9670"/>
                    <a:pt x="26820" y="21600"/>
                  </a:cubicBezTo>
                </a:path>
                <a:path w="26820" h="21600" stroke="0" extrusionOk="0">
                  <a:moveTo>
                    <a:pt x="0" y="640"/>
                  </a:moveTo>
                  <a:cubicBezTo>
                    <a:pt x="1707" y="215"/>
                    <a:pt x="3460" y="0"/>
                    <a:pt x="5220" y="0"/>
                  </a:cubicBezTo>
                  <a:cubicBezTo>
                    <a:pt x="17149" y="0"/>
                    <a:pt x="26820" y="9670"/>
                    <a:pt x="26820" y="21600"/>
                  </a:cubicBezTo>
                  <a:lnTo>
                    <a:pt x="522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8498" name="Object 18"/>
            <p:cNvGraphicFramePr>
              <a:graphicFrameLocks noChangeAspect="1"/>
            </p:cNvGraphicFramePr>
            <p:nvPr/>
          </p:nvGraphicFramePr>
          <p:xfrm>
            <a:off x="2589" y="793"/>
            <a:ext cx="368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34" name="Equation" r:id="rId5" imgW="291960" imgH="241200" progId="Equation.3">
                    <p:embed/>
                  </p:oleObj>
                </mc:Choice>
                <mc:Fallback>
                  <p:oleObj name="Equation" r:id="rId5" imgW="291960" imgH="2412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9" y="793"/>
                          <a:ext cx="368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499" name="Line 19"/>
            <p:cNvSpPr>
              <a:spLocks noChangeShapeType="1"/>
            </p:cNvSpPr>
            <p:nvPr/>
          </p:nvSpPr>
          <p:spPr bwMode="auto">
            <a:xfrm rot="7200000">
              <a:off x="3082" y="499"/>
              <a:ext cx="27" cy="101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8500" name="Group 20"/>
          <p:cNvGrpSpPr>
            <a:grpSpLocks/>
          </p:cNvGrpSpPr>
          <p:nvPr/>
        </p:nvGrpSpPr>
        <p:grpSpPr bwMode="auto">
          <a:xfrm>
            <a:off x="5586413" y="2433638"/>
            <a:ext cx="598487" cy="1631950"/>
            <a:chOff x="3555" y="1257"/>
            <a:chExt cx="377" cy="1028"/>
          </a:xfrm>
        </p:grpSpPr>
        <p:graphicFrame>
          <p:nvGraphicFramePr>
            <p:cNvPr id="148501" name="Object 21"/>
            <p:cNvGraphicFramePr>
              <a:graphicFrameLocks noChangeAspect="1"/>
            </p:cNvGraphicFramePr>
            <p:nvPr/>
          </p:nvGraphicFramePr>
          <p:xfrm>
            <a:off x="3578" y="1961"/>
            <a:ext cx="35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35" name="Equation" r:id="rId7" imgW="279360" imgH="241200" progId="Equation.3">
                    <p:embed/>
                  </p:oleObj>
                </mc:Choice>
                <mc:Fallback>
                  <p:oleObj name="Equation" r:id="rId7" imgW="279360" imgH="2412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8" y="1961"/>
                          <a:ext cx="354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502" name="Line 22"/>
            <p:cNvSpPr>
              <a:spLocks noChangeShapeType="1"/>
            </p:cNvSpPr>
            <p:nvPr/>
          </p:nvSpPr>
          <p:spPr bwMode="auto">
            <a:xfrm rot="21676899">
              <a:off x="3555" y="1257"/>
              <a:ext cx="23" cy="102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48503" name="Object 23"/>
          <p:cNvGraphicFramePr>
            <a:graphicFrameLocks noChangeAspect="1"/>
          </p:cNvGraphicFramePr>
          <p:nvPr/>
        </p:nvGraphicFramePr>
        <p:xfrm>
          <a:off x="1393825" y="1501775"/>
          <a:ext cx="21463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36" name="Equation" r:id="rId9" imgW="2145960" imgH="1358640" progId="Equation.3">
                  <p:embed/>
                </p:oleObj>
              </mc:Choice>
              <mc:Fallback>
                <p:oleObj name="Equation" r:id="rId9" imgW="2145960" imgH="13586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1501775"/>
                        <a:ext cx="21463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8504" name="Group 24"/>
          <p:cNvGrpSpPr>
            <a:grpSpLocks/>
          </p:cNvGrpSpPr>
          <p:nvPr/>
        </p:nvGrpSpPr>
        <p:grpSpPr bwMode="auto">
          <a:xfrm>
            <a:off x="5194300" y="2660650"/>
            <a:ext cx="520700" cy="530225"/>
            <a:chOff x="3308" y="1388"/>
            <a:chExt cx="328" cy="334"/>
          </a:xfrm>
        </p:grpSpPr>
        <p:sp>
          <p:nvSpPr>
            <p:cNvPr id="148505" name="Arc 25"/>
            <p:cNvSpPr>
              <a:spLocks/>
            </p:cNvSpPr>
            <p:nvPr/>
          </p:nvSpPr>
          <p:spPr bwMode="auto">
            <a:xfrm rot="2633826" flipV="1">
              <a:off x="3481" y="1388"/>
              <a:ext cx="80" cy="48"/>
            </a:xfrm>
            <a:custGeom>
              <a:avLst/>
              <a:gdLst>
                <a:gd name="G0" fmla="+- 31 0 0"/>
                <a:gd name="G1" fmla="+- 21600 0 0"/>
                <a:gd name="G2" fmla="+- 21600 0 0"/>
                <a:gd name="T0" fmla="*/ 0 w 20492"/>
                <a:gd name="T1" fmla="*/ 0 h 21600"/>
                <a:gd name="T2" fmla="*/ 20492 w 20492"/>
                <a:gd name="T3" fmla="*/ 14679 h 21600"/>
                <a:gd name="T4" fmla="*/ 31 w 2049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492" h="21600" fill="none" extrusionOk="0">
                  <a:moveTo>
                    <a:pt x="0" y="0"/>
                  </a:moveTo>
                  <a:cubicBezTo>
                    <a:pt x="10" y="0"/>
                    <a:pt x="20" y="0"/>
                    <a:pt x="31" y="0"/>
                  </a:cubicBezTo>
                  <a:cubicBezTo>
                    <a:pt x="9293" y="0"/>
                    <a:pt x="17524" y="5905"/>
                    <a:pt x="20492" y="14678"/>
                  </a:cubicBezTo>
                </a:path>
                <a:path w="20492" h="21600" stroke="0" extrusionOk="0">
                  <a:moveTo>
                    <a:pt x="0" y="0"/>
                  </a:moveTo>
                  <a:cubicBezTo>
                    <a:pt x="10" y="0"/>
                    <a:pt x="20" y="0"/>
                    <a:pt x="31" y="0"/>
                  </a:cubicBezTo>
                  <a:cubicBezTo>
                    <a:pt x="9293" y="0"/>
                    <a:pt x="17524" y="5905"/>
                    <a:pt x="20492" y="14678"/>
                  </a:cubicBezTo>
                  <a:lnTo>
                    <a:pt x="31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06" name="Rectangle 26"/>
            <p:cNvSpPr>
              <a:spLocks noChangeArrowheads="1"/>
            </p:cNvSpPr>
            <p:nvPr/>
          </p:nvSpPr>
          <p:spPr bwMode="auto">
            <a:xfrm>
              <a:off x="3308" y="1472"/>
              <a:ext cx="3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</a:rPr>
                <a:t>30</a:t>
              </a:r>
              <a:r>
                <a:rPr lang="en-US" altLang="zh-CN" sz="2000" baseline="40000">
                  <a:solidFill>
                    <a:schemeClr val="tx1"/>
                  </a:solidFill>
                </a:rPr>
                <a:t>o</a:t>
              </a:r>
            </a:p>
          </p:txBody>
        </p:sp>
      </p:grpSp>
      <p:graphicFrame>
        <p:nvGraphicFramePr>
          <p:cNvPr id="148507" name="Object 27"/>
          <p:cNvGraphicFramePr>
            <a:graphicFrameLocks noChangeAspect="1"/>
          </p:cNvGraphicFramePr>
          <p:nvPr/>
        </p:nvGraphicFramePr>
        <p:xfrm>
          <a:off x="1393825" y="3395663"/>
          <a:ext cx="22987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37" name="Equation" r:id="rId11" imgW="2298600" imgH="431640" progId="Equation.3">
                  <p:embed/>
                </p:oleObj>
              </mc:Choice>
              <mc:Fallback>
                <p:oleObj name="Equation" r:id="rId11" imgW="2298600" imgH="4316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3395663"/>
                        <a:ext cx="22987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8" name="Object 28"/>
          <p:cNvGraphicFramePr>
            <a:graphicFrameLocks noChangeAspect="1"/>
          </p:cNvGraphicFramePr>
          <p:nvPr/>
        </p:nvGraphicFramePr>
        <p:xfrm>
          <a:off x="1393825" y="3929063"/>
          <a:ext cx="2298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38" name="Equation" r:id="rId13" imgW="2298600" imgH="939600" progId="Equation.3">
                  <p:embed/>
                </p:oleObj>
              </mc:Choice>
              <mc:Fallback>
                <p:oleObj name="Equation" r:id="rId13" imgW="2298600" imgH="939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3929063"/>
                        <a:ext cx="2298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8509" name="Group 29"/>
          <p:cNvGrpSpPr>
            <a:grpSpLocks/>
          </p:cNvGrpSpPr>
          <p:nvPr/>
        </p:nvGrpSpPr>
        <p:grpSpPr bwMode="auto">
          <a:xfrm>
            <a:off x="4830763" y="1235075"/>
            <a:ext cx="2278062" cy="2528888"/>
            <a:chOff x="3079" y="503"/>
            <a:chExt cx="1435" cy="1593"/>
          </a:xfrm>
        </p:grpSpPr>
        <p:sp>
          <p:nvSpPr>
            <p:cNvPr id="148510" name="Line 30"/>
            <p:cNvSpPr>
              <a:spLocks noChangeShapeType="1"/>
            </p:cNvSpPr>
            <p:nvPr/>
          </p:nvSpPr>
          <p:spPr bwMode="auto">
            <a:xfrm>
              <a:off x="3561" y="1257"/>
              <a:ext cx="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11" name="Text Box 31"/>
            <p:cNvSpPr txBox="1">
              <a:spLocks noChangeArrowheads="1"/>
            </p:cNvSpPr>
            <p:nvPr/>
          </p:nvSpPr>
          <p:spPr bwMode="auto">
            <a:xfrm>
              <a:off x="3268" y="156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2000">
                <a:solidFill>
                  <a:schemeClr val="tx1"/>
                </a:solidFill>
              </a:endParaRPr>
            </a:p>
          </p:txBody>
        </p:sp>
        <p:graphicFrame>
          <p:nvGraphicFramePr>
            <p:cNvPr id="148512" name="Object 32"/>
            <p:cNvGraphicFramePr>
              <a:graphicFrameLocks noChangeAspect="1"/>
            </p:cNvGraphicFramePr>
            <p:nvPr/>
          </p:nvGraphicFramePr>
          <p:xfrm>
            <a:off x="3268" y="503"/>
            <a:ext cx="368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39" name="Equation" r:id="rId15" imgW="291960" imgH="241200" progId="Equation.3">
                    <p:embed/>
                  </p:oleObj>
                </mc:Choice>
                <mc:Fallback>
                  <p:oleObj name="Equation" r:id="rId15" imgW="291960" imgH="2412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8" y="503"/>
                          <a:ext cx="368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513" name="Line 33"/>
            <p:cNvSpPr>
              <a:spLocks noChangeShapeType="1"/>
            </p:cNvSpPr>
            <p:nvPr/>
          </p:nvSpPr>
          <p:spPr bwMode="auto">
            <a:xfrm rot="14400000">
              <a:off x="3116" y="994"/>
              <a:ext cx="5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14" name="Line 34"/>
            <p:cNvSpPr>
              <a:spLocks noChangeShapeType="1"/>
            </p:cNvSpPr>
            <p:nvPr/>
          </p:nvSpPr>
          <p:spPr bwMode="auto">
            <a:xfrm rot="7200000">
              <a:off x="3116" y="1508"/>
              <a:ext cx="5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15" name="Line 35"/>
            <p:cNvSpPr>
              <a:spLocks noChangeShapeType="1"/>
            </p:cNvSpPr>
            <p:nvPr/>
          </p:nvSpPr>
          <p:spPr bwMode="auto">
            <a:xfrm flipV="1">
              <a:off x="3243" y="1805"/>
              <a:ext cx="12" cy="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8516" name="Object 36"/>
            <p:cNvGraphicFramePr>
              <a:graphicFrameLocks noChangeAspect="1"/>
            </p:cNvGraphicFramePr>
            <p:nvPr/>
          </p:nvGraphicFramePr>
          <p:xfrm>
            <a:off x="4146" y="1132"/>
            <a:ext cx="368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40" name="Equation" r:id="rId17" imgW="291960" imgH="241200" progId="Equation.3">
                    <p:embed/>
                  </p:oleObj>
                </mc:Choice>
                <mc:Fallback>
                  <p:oleObj name="Equation" r:id="rId17" imgW="291960" imgH="2412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6" y="1132"/>
                          <a:ext cx="368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517" name="Object 37"/>
            <p:cNvGraphicFramePr>
              <a:graphicFrameLocks noChangeAspect="1"/>
            </p:cNvGraphicFramePr>
            <p:nvPr/>
          </p:nvGraphicFramePr>
          <p:xfrm>
            <a:off x="3079" y="1787"/>
            <a:ext cx="368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41" name="Equation" r:id="rId19" imgW="291960" imgH="241200" progId="Equation.3">
                    <p:embed/>
                  </p:oleObj>
                </mc:Choice>
                <mc:Fallback>
                  <p:oleObj name="Equation" r:id="rId19" imgW="291960" imgH="2412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9" y="1787"/>
                          <a:ext cx="368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8518" name="Group 38"/>
          <p:cNvGrpSpPr>
            <a:grpSpLocks/>
          </p:cNvGrpSpPr>
          <p:nvPr/>
        </p:nvGrpSpPr>
        <p:grpSpPr bwMode="auto">
          <a:xfrm>
            <a:off x="6748463" y="1584325"/>
            <a:ext cx="838200" cy="931863"/>
            <a:chOff x="4263" y="722"/>
            <a:chExt cx="528" cy="587"/>
          </a:xfrm>
        </p:grpSpPr>
        <p:sp>
          <p:nvSpPr>
            <p:cNvPr id="148519" name="Line 39"/>
            <p:cNvSpPr>
              <a:spLocks noChangeShapeType="1"/>
            </p:cNvSpPr>
            <p:nvPr/>
          </p:nvSpPr>
          <p:spPr bwMode="auto">
            <a:xfrm rot="7200000">
              <a:off x="3969" y="1016"/>
              <a:ext cx="587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stealth" w="sm" len="lg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8520" name="Object 40"/>
            <p:cNvGraphicFramePr>
              <a:graphicFrameLocks noChangeAspect="1"/>
            </p:cNvGraphicFramePr>
            <p:nvPr/>
          </p:nvGraphicFramePr>
          <p:xfrm>
            <a:off x="4328" y="854"/>
            <a:ext cx="46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42" name="Equation" r:id="rId21" imgW="393480" imgH="241200" progId="Equation.3">
                    <p:embed/>
                  </p:oleObj>
                </mc:Choice>
                <mc:Fallback>
                  <p:oleObj name="Equation" r:id="rId21" imgW="393480" imgH="2412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8" y="854"/>
                          <a:ext cx="46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4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48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4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4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4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48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5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 autoUpdateAnimBg="0"/>
      <p:bldP spid="14848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91" name="Text Box 163"/>
          <p:cNvSpPr txBox="1">
            <a:spLocks noChangeArrowheads="1"/>
          </p:cNvSpPr>
          <p:nvPr/>
        </p:nvSpPr>
        <p:spPr bwMode="auto">
          <a:xfrm>
            <a:off x="952500" y="896938"/>
            <a:ext cx="719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三个单相电源首尾相接，由三个连接点引出三条线。</a:t>
            </a:r>
          </a:p>
        </p:txBody>
      </p:sp>
      <p:sp>
        <p:nvSpPr>
          <p:cNvPr id="73892" name="Text Box 164"/>
          <p:cNvSpPr txBox="1">
            <a:spLocks noChangeArrowheads="1"/>
          </p:cNvSpPr>
          <p:nvPr/>
        </p:nvSpPr>
        <p:spPr bwMode="auto">
          <a:xfrm>
            <a:off x="1595438" y="5043488"/>
            <a:ext cx="536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注意</a:t>
            </a:r>
            <a:r>
              <a:rPr lang="zh-CN" altLang="en-US">
                <a:solidFill>
                  <a:srgbClr val="FF0000"/>
                </a:solidFill>
              </a:rPr>
              <a:t>：始端末端要依次相连不能搞错。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893" name="Text Box 165"/>
          <p:cNvSpPr txBox="1">
            <a:spLocks noChangeArrowheads="1"/>
          </p:cNvSpPr>
          <p:nvPr/>
        </p:nvSpPr>
        <p:spPr bwMode="auto">
          <a:xfrm>
            <a:off x="1990725" y="4292600"/>
            <a:ext cx="4702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</a:rPr>
              <a:t>I </a:t>
            </a:r>
            <a:r>
              <a:rPr lang="en-US" altLang="zh-CN">
                <a:solidFill>
                  <a:schemeClr val="tx1"/>
                </a:solidFill>
              </a:rPr>
              <a:t>=0 </a:t>
            </a:r>
            <a:r>
              <a:rPr lang="zh-CN" altLang="en-US">
                <a:solidFill>
                  <a:schemeClr val="tx1"/>
                </a:solidFill>
              </a:rPr>
              <a:t>， 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</a:t>
            </a:r>
            <a:r>
              <a:rPr lang="zh-CN" altLang="zh-CN">
                <a:solidFill>
                  <a:schemeClr val="tx1"/>
                </a:solidFill>
                <a:sym typeface="Symbol" panose="05050102010706020507" pitchFamily="18" charset="2"/>
              </a:rPr>
              <a:t>接电源</a:t>
            </a:r>
            <a:r>
              <a:rPr lang="zh-CN" altLang="zh-CN">
                <a:solidFill>
                  <a:schemeClr val="tx1"/>
                </a:solidFill>
              </a:rPr>
              <a:t>中不会产生环流。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73894" name="Object 166"/>
          <p:cNvGraphicFramePr>
            <a:graphicFrameLocks noChangeAspect="1"/>
          </p:cNvGraphicFramePr>
          <p:nvPr/>
        </p:nvGraphicFramePr>
        <p:xfrm>
          <a:off x="5507038" y="3060700"/>
          <a:ext cx="2654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80" name="Equation" r:id="rId3" imgW="2209680" imgH="393480" progId="Equation.3">
                  <p:embed/>
                </p:oleObj>
              </mc:Choice>
              <mc:Fallback>
                <p:oleObj name="Equation" r:id="rId3" imgW="2209680" imgH="393480" progId="Equation.3">
                  <p:embed/>
                  <p:pic>
                    <p:nvPicPr>
                      <p:cNvPr id="0" name="Object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3060700"/>
                        <a:ext cx="2654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95" name="Text Box 167"/>
          <p:cNvSpPr txBox="1">
            <a:spLocks noChangeArrowheads="1"/>
          </p:cNvSpPr>
          <p:nvPr/>
        </p:nvSpPr>
        <p:spPr bwMode="auto">
          <a:xfrm>
            <a:off x="4822825" y="1835150"/>
            <a:ext cx="353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思考：会否将电源毁坏？</a:t>
            </a:r>
          </a:p>
        </p:txBody>
      </p:sp>
      <p:sp>
        <p:nvSpPr>
          <p:cNvPr id="73898" name="Rectangle 170"/>
          <p:cNvSpPr>
            <a:spLocks noChangeArrowheads="1"/>
          </p:cNvSpPr>
          <p:nvPr/>
        </p:nvSpPr>
        <p:spPr bwMode="auto">
          <a:xfrm>
            <a:off x="479425" y="342900"/>
            <a:ext cx="2784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2. 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三角形联接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( </a:t>
            </a:r>
            <a:r>
              <a:rPr lang="zh-CN" altLang="en-US">
                <a:solidFill>
                  <a:schemeClr val="tx1"/>
                </a:solidFill>
              </a:rPr>
              <a:t>接</a:t>
            </a:r>
            <a:r>
              <a:rPr lang="en-US" altLang="zh-CN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73899" name="Group 171"/>
          <p:cNvGrpSpPr>
            <a:grpSpLocks/>
          </p:cNvGrpSpPr>
          <p:nvPr/>
        </p:nvGrpSpPr>
        <p:grpSpPr bwMode="auto">
          <a:xfrm>
            <a:off x="615950" y="1550988"/>
            <a:ext cx="4013200" cy="2590800"/>
            <a:chOff x="340" y="929"/>
            <a:chExt cx="2528" cy="1632"/>
          </a:xfrm>
        </p:grpSpPr>
        <p:sp>
          <p:nvSpPr>
            <p:cNvPr id="73900" name="Text Box 172"/>
            <p:cNvSpPr txBox="1">
              <a:spLocks noChangeArrowheads="1"/>
            </p:cNvSpPr>
            <p:nvPr/>
          </p:nvSpPr>
          <p:spPr bwMode="auto">
            <a:xfrm>
              <a:off x="1056" y="1024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3901" name="Oval 173"/>
            <p:cNvSpPr>
              <a:spLocks noChangeArrowheads="1"/>
            </p:cNvSpPr>
            <p:nvPr/>
          </p:nvSpPr>
          <p:spPr bwMode="auto">
            <a:xfrm rot="19800000">
              <a:off x="1109" y="1365"/>
              <a:ext cx="272" cy="27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02" name="Line 174"/>
            <p:cNvSpPr>
              <a:spLocks noChangeShapeType="1"/>
            </p:cNvSpPr>
            <p:nvPr/>
          </p:nvSpPr>
          <p:spPr bwMode="auto">
            <a:xfrm rot="19800000" flipH="1">
              <a:off x="1246" y="1012"/>
              <a:ext cx="17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03" name="Oval 175"/>
            <p:cNvSpPr>
              <a:spLocks noChangeArrowheads="1"/>
            </p:cNvSpPr>
            <p:nvPr/>
          </p:nvSpPr>
          <p:spPr bwMode="auto">
            <a:xfrm rot="19800000">
              <a:off x="1480" y="1924"/>
              <a:ext cx="34" cy="3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04" name="Text Box 176"/>
            <p:cNvSpPr txBox="1">
              <a:spLocks noChangeArrowheads="1"/>
            </p:cNvSpPr>
            <p:nvPr/>
          </p:nvSpPr>
          <p:spPr bwMode="auto">
            <a:xfrm rot="19800000">
              <a:off x="1099" y="1169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73905" name="Text Box 177"/>
            <p:cNvSpPr txBox="1">
              <a:spLocks noChangeArrowheads="1"/>
            </p:cNvSpPr>
            <p:nvPr/>
          </p:nvSpPr>
          <p:spPr bwMode="auto">
            <a:xfrm rot="19800000">
              <a:off x="1300" y="1492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73906" name="Text Box 178"/>
            <p:cNvSpPr txBox="1">
              <a:spLocks noChangeArrowheads="1"/>
            </p:cNvSpPr>
            <p:nvPr/>
          </p:nvSpPr>
          <p:spPr bwMode="auto">
            <a:xfrm>
              <a:off x="1447" y="1693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73907" name="Oval 179"/>
            <p:cNvSpPr>
              <a:spLocks noChangeArrowheads="1"/>
            </p:cNvSpPr>
            <p:nvPr/>
          </p:nvSpPr>
          <p:spPr bwMode="auto">
            <a:xfrm rot="5400000">
              <a:off x="895" y="1798"/>
              <a:ext cx="272" cy="27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08" name="Line 180"/>
            <p:cNvSpPr>
              <a:spLocks noChangeShapeType="1"/>
            </p:cNvSpPr>
            <p:nvPr/>
          </p:nvSpPr>
          <p:spPr bwMode="auto">
            <a:xfrm rot="-5400000" flipH="1" flipV="1">
              <a:off x="1009" y="1451"/>
              <a:ext cx="6" cy="9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09" name="Oval 181"/>
            <p:cNvSpPr>
              <a:spLocks noChangeArrowheads="1"/>
            </p:cNvSpPr>
            <p:nvPr/>
          </p:nvSpPr>
          <p:spPr bwMode="auto">
            <a:xfrm rot="5400000">
              <a:off x="506" y="1927"/>
              <a:ext cx="34" cy="3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10" name="Text Box 182"/>
            <p:cNvSpPr txBox="1">
              <a:spLocks noChangeArrowheads="1"/>
            </p:cNvSpPr>
            <p:nvPr/>
          </p:nvSpPr>
          <p:spPr bwMode="auto">
            <a:xfrm rot="5400000">
              <a:off x="1170" y="1949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73911" name="Text Box 183"/>
            <p:cNvSpPr txBox="1">
              <a:spLocks noChangeArrowheads="1"/>
            </p:cNvSpPr>
            <p:nvPr/>
          </p:nvSpPr>
          <p:spPr bwMode="auto">
            <a:xfrm>
              <a:off x="710" y="1941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73912" name="Oval 184"/>
            <p:cNvSpPr>
              <a:spLocks noChangeArrowheads="1"/>
            </p:cNvSpPr>
            <p:nvPr/>
          </p:nvSpPr>
          <p:spPr bwMode="auto">
            <a:xfrm rot="12600000">
              <a:off x="620" y="1382"/>
              <a:ext cx="271" cy="27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13" name="Line 185"/>
            <p:cNvSpPr>
              <a:spLocks noChangeShapeType="1"/>
            </p:cNvSpPr>
            <p:nvPr/>
          </p:nvSpPr>
          <p:spPr bwMode="auto">
            <a:xfrm rot="12600000">
              <a:off x="750" y="1024"/>
              <a:ext cx="13" cy="9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14" name="Oval 186"/>
            <p:cNvSpPr>
              <a:spLocks noChangeArrowheads="1"/>
            </p:cNvSpPr>
            <p:nvPr/>
          </p:nvSpPr>
          <p:spPr bwMode="auto">
            <a:xfrm rot="12600000">
              <a:off x="990" y="1056"/>
              <a:ext cx="34" cy="3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15" name="Text Box 187"/>
            <p:cNvSpPr txBox="1">
              <a:spLocks noChangeArrowheads="1"/>
            </p:cNvSpPr>
            <p:nvPr/>
          </p:nvSpPr>
          <p:spPr bwMode="auto">
            <a:xfrm rot="12600000">
              <a:off x="523" y="1566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73916" name="Text Box 188"/>
            <p:cNvSpPr txBox="1">
              <a:spLocks noChangeArrowheads="1"/>
            </p:cNvSpPr>
            <p:nvPr/>
          </p:nvSpPr>
          <p:spPr bwMode="auto">
            <a:xfrm rot="12600000">
              <a:off x="726" y="1186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73917" name="Text Box 189"/>
            <p:cNvSpPr txBox="1">
              <a:spLocks noChangeArrowheads="1"/>
            </p:cNvSpPr>
            <p:nvPr/>
          </p:nvSpPr>
          <p:spPr bwMode="auto">
            <a:xfrm>
              <a:off x="1306" y="1929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3918" name="Text Box 190"/>
            <p:cNvSpPr txBox="1">
              <a:spLocks noChangeArrowheads="1"/>
            </p:cNvSpPr>
            <p:nvPr/>
          </p:nvSpPr>
          <p:spPr bwMode="auto">
            <a:xfrm>
              <a:off x="340" y="1689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73919" name="Text Box 191"/>
            <p:cNvSpPr txBox="1">
              <a:spLocks noChangeArrowheads="1"/>
            </p:cNvSpPr>
            <p:nvPr/>
          </p:nvSpPr>
          <p:spPr bwMode="auto">
            <a:xfrm>
              <a:off x="523" y="1935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73920" name="Text Box 192"/>
            <p:cNvSpPr txBox="1">
              <a:spLocks noChangeArrowheads="1"/>
            </p:cNvSpPr>
            <p:nvPr/>
          </p:nvSpPr>
          <p:spPr bwMode="auto">
            <a:xfrm>
              <a:off x="770" y="991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73921" name="Line 193"/>
            <p:cNvSpPr>
              <a:spLocks noChangeShapeType="1"/>
            </p:cNvSpPr>
            <p:nvPr/>
          </p:nvSpPr>
          <p:spPr bwMode="auto">
            <a:xfrm>
              <a:off x="1012" y="1075"/>
              <a:ext cx="15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22" name="Line 194"/>
            <p:cNvSpPr>
              <a:spLocks noChangeShapeType="1"/>
            </p:cNvSpPr>
            <p:nvPr/>
          </p:nvSpPr>
          <p:spPr bwMode="auto">
            <a:xfrm>
              <a:off x="1496" y="1944"/>
              <a:ext cx="10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23" name="Freeform 195"/>
            <p:cNvSpPr>
              <a:spLocks/>
            </p:cNvSpPr>
            <p:nvPr/>
          </p:nvSpPr>
          <p:spPr bwMode="auto">
            <a:xfrm>
              <a:off x="519" y="1947"/>
              <a:ext cx="1998" cy="492"/>
            </a:xfrm>
            <a:custGeom>
              <a:avLst/>
              <a:gdLst>
                <a:gd name="T0" fmla="*/ 0 w 2184"/>
                <a:gd name="T1" fmla="*/ 0 h 426"/>
                <a:gd name="T2" fmla="*/ 0 w 2184"/>
                <a:gd name="T3" fmla="*/ 426 h 426"/>
                <a:gd name="T4" fmla="*/ 2184 w 2184"/>
                <a:gd name="T5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4" h="426">
                  <a:moveTo>
                    <a:pt x="0" y="0"/>
                  </a:moveTo>
                  <a:lnTo>
                    <a:pt x="0" y="426"/>
                  </a:lnTo>
                  <a:lnTo>
                    <a:pt x="2184" y="42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24" name="Oval 196"/>
            <p:cNvSpPr>
              <a:spLocks noChangeArrowheads="1"/>
            </p:cNvSpPr>
            <p:nvPr/>
          </p:nvSpPr>
          <p:spPr bwMode="auto">
            <a:xfrm>
              <a:off x="2541" y="1051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25" name="Oval 197"/>
            <p:cNvSpPr>
              <a:spLocks noChangeArrowheads="1"/>
            </p:cNvSpPr>
            <p:nvPr/>
          </p:nvSpPr>
          <p:spPr bwMode="auto">
            <a:xfrm>
              <a:off x="2517" y="1924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26" name="Oval 198"/>
            <p:cNvSpPr>
              <a:spLocks noChangeArrowheads="1"/>
            </p:cNvSpPr>
            <p:nvPr/>
          </p:nvSpPr>
          <p:spPr bwMode="auto">
            <a:xfrm>
              <a:off x="2523" y="2407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927" name="Text Box 199"/>
            <p:cNvSpPr txBox="1">
              <a:spLocks noChangeArrowheads="1"/>
            </p:cNvSpPr>
            <p:nvPr/>
          </p:nvSpPr>
          <p:spPr bwMode="auto">
            <a:xfrm>
              <a:off x="2570" y="929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3928" name="Text Box 200"/>
            <p:cNvSpPr txBox="1">
              <a:spLocks noChangeArrowheads="1"/>
            </p:cNvSpPr>
            <p:nvPr/>
          </p:nvSpPr>
          <p:spPr bwMode="auto">
            <a:xfrm>
              <a:off x="2565" y="1826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3929" name="Text Box 201"/>
            <p:cNvSpPr txBox="1">
              <a:spLocks noChangeArrowheads="1"/>
            </p:cNvSpPr>
            <p:nvPr/>
          </p:nvSpPr>
          <p:spPr bwMode="auto">
            <a:xfrm>
              <a:off x="2564" y="2311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</a:p>
          </p:txBody>
        </p:sp>
        <p:graphicFrame>
          <p:nvGraphicFramePr>
            <p:cNvPr id="73930" name="Object 202"/>
            <p:cNvGraphicFramePr>
              <a:graphicFrameLocks noChangeAspect="1"/>
            </p:cNvGraphicFramePr>
            <p:nvPr/>
          </p:nvGraphicFramePr>
          <p:xfrm>
            <a:off x="404" y="1274"/>
            <a:ext cx="237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981" name="Equation" r:id="rId5" imgW="368280" imgH="406080" progId="Equation.3">
                    <p:embed/>
                  </p:oleObj>
                </mc:Choice>
                <mc:Fallback>
                  <p:oleObj name="Equation" r:id="rId5" imgW="368280" imgH="406080" progId="Equation.3">
                    <p:embed/>
                    <p:pic>
                      <p:nvPicPr>
                        <p:cNvPr id="0" name="Object 2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" y="1274"/>
                          <a:ext cx="237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931" name="Object 203"/>
            <p:cNvGraphicFramePr>
              <a:graphicFrameLocks noChangeAspect="1"/>
            </p:cNvGraphicFramePr>
            <p:nvPr/>
          </p:nvGraphicFramePr>
          <p:xfrm>
            <a:off x="1355" y="1268"/>
            <a:ext cx="262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982" name="Equation" r:id="rId7" imgW="406080" imgH="393480" progId="Equation.3">
                    <p:embed/>
                  </p:oleObj>
                </mc:Choice>
                <mc:Fallback>
                  <p:oleObj name="Equation" r:id="rId7" imgW="406080" imgH="393480" progId="Equation.3">
                    <p:embed/>
                    <p:pic>
                      <p:nvPicPr>
                        <p:cNvPr id="0" name="Object 2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5" y="1268"/>
                          <a:ext cx="262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932" name="Object 204"/>
            <p:cNvGraphicFramePr>
              <a:graphicFrameLocks noChangeAspect="1"/>
            </p:cNvGraphicFramePr>
            <p:nvPr/>
          </p:nvGraphicFramePr>
          <p:xfrm>
            <a:off x="914" y="2129"/>
            <a:ext cx="25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983" name="Equation" r:id="rId9" imgW="393480" imgH="393480" progId="Equation.3">
                    <p:embed/>
                  </p:oleObj>
                </mc:Choice>
                <mc:Fallback>
                  <p:oleObj name="Equation" r:id="rId9" imgW="393480" imgH="393480" progId="Equation.3">
                    <p:embed/>
                    <p:pic>
                      <p:nvPicPr>
                        <p:cNvPr id="0" name="Object 2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2129"/>
                          <a:ext cx="25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933" name="Text Box 205"/>
          <p:cNvSpPr txBox="1">
            <a:spLocks noChangeArrowheads="1"/>
          </p:cNvSpPr>
          <p:nvPr/>
        </p:nvSpPr>
        <p:spPr bwMode="auto">
          <a:xfrm>
            <a:off x="5965825" y="2479675"/>
            <a:ext cx="86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不会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3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7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7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91" grpId="0" autoUpdateAnimBg="0"/>
      <p:bldP spid="73892" grpId="0" autoUpdateAnimBg="0"/>
      <p:bldP spid="73893" grpId="0" autoUpdateAnimBg="0"/>
      <p:bldP spid="73895" grpId="0" build="p" autoUpdateAnimBg="0"/>
      <p:bldP spid="7393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563563" y="476250"/>
            <a:ext cx="5273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ym typeface="Symbol" panose="05050102010706020507" pitchFamily="18" charset="2"/>
              </a:rPr>
              <a:t></a:t>
            </a:r>
            <a:r>
              <a:rPr lang="zh-CN" altLang="en-US"/>
              <a:t>接三相电源的线电压与相电压的关系</a:t>
            </a:r>
          </a:p>
        </p:txBody>
      </p:sp>
      <p:grpSp>
        <p:nvGrpSpPr>
          <p:cNvPr id="149512" name="Group 8"/>
          <p:cNvGrpSpPr>
            <a:grpSpLocks/>
          </p:cNvGrpSpPr>
          <p:nvPr/>
        </p:nvGrpSpPr>
        <p:grpSpPr bwMode="auto">
          <a:xfrm>
            <a:off x="1949450" y="998538"/>
            <a:ext cx="4013200" cy="2590800"/>
            <a:chOff x="340" y="929"/>
            <a:chExt cx="2528" cy="1632"/>
          </a:xfrm>
        </p:grpSpPr>
        <p:sp>
          <p:nvSpPr>
            <p:cNvPr id="149513" name="Text Box 9"/>
            <p:cNvSpPr txBox="1">
              <a:spLocks noChangeArrowheads="1"/>
            </p:cNvSpPr>
            <p:nvPr/>
          </p:nvSpPr>
          <p:spPr bwMode="auto">
            <a:xfrm>
              <a:off x="1056" y="1024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49514" name="Oval 10"/>
            <p:cNvSpPr>
              <a:spLocks noChangeArrowheads="1"/>
            </p:cNvSpPr>
            <p:nvPr/>
          </p:nvSpPr>
          <p:spPr bwMode="auto">
            <a:xfrm rot="19800000">
              <a:off x="1109" y="1365"/>
              <a:ext cx="272" cy="27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15" name="Line 11"/>
            <p:cNvSpPr>
              <a:spLocks noChangeShapeType="1"/>
            </p:cNvSpPr>
            <p:nvPr/>
          </p:nvSpPr>
          <p:spPr bwMode="auto">
            <a:xfrm rot="19800000" flipH="1">
              <a:off x="1246" y="1012"/>
              <a:ext cx="17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16" name="Oval 12"/>
            <p:cNvSpPr>
              <a:spLocks noChangeArrowheads="1"/>
            </p:cNvSpPr>
            <p:nvPr/>
          </p:nvSpPr>
          <p:spPr bwMode="auto">
            <a:xfrm rot="19800000">
              <a:off x="1480" y="1924"/>
              <a:ext cx="34" cy="3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17" name="Text Box 13"/>
            <p:cNvSpPr txBox="1">
              <a:spLocks noChangeArrowheads="1"/>
            </p:cNvSpPr>
            <p:nvPr/>
          </p:nvSpPr>
          <p:spPr bwMode="auto">
            <a:xfrm rot="19800000">
              <a:off x="1099" y="1169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49518" name="Text Box 14"/>
            <p:cNvSpPr txBox="1">
              <a:spLocks noChangeArrowheads="1"/>
            </p:cNvSpPr>
            <p:nvPr/>
          </p:nvSpPr>
          <p:spPr bwMode="auto">
            <a:xfrm rot="19800000">
              <a:off x="1300" y="1492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149519" name="Text Box 15"/>
            <p:cNvSpPr txBox="1">
              <a:spLocks noChangeArrowheads="1"/>
            </p:cNvSpPr>
            <p:nvPr/>
          </p:nvSpPr>
          <p:spPr bwMode="auto">
            <a:xfrm>
              <a:off x="1447" y="1693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49520" name="Oval 16"/>
            <p:cNvSpPr>
              <a:spLocks noChangeArrowheads="1"/>
            </p:cNvSpPr>
            <p:nvPr/>
          </p:nvSpPr>
          <p:spPr bwMode="auto">
            <a:xfrm rot="5400000">
              <a:off x="895" y="1798"/>
              <a:ext cx="272" cy="27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1" name="Line 17"/>
            <p:cNvSpPr>
              <a:spLocks noChangeShapeType="1"/>
            </p:cNvSpPr>
            <p:nvPr/>
          </p:nvSpPr>
          <p:spPr bwMode="auto">
            <a:xfrm rot="-5400000" flipH="1" flipV="1">
              <a:off x="1009" y="1451"/>
              <a:ext cx="6" cy="9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2" name="Oval 18"/>
            <p:cNvSpPr>
              <a:spLocks noChangeArrowheads="1"/>
            </p:cNvSpPr>
            <p:nvPr/>
          </p:nvSpPr>
          <p:spPr bwMode="auto">
            <a:xfrm rot="5400000">
              <a:off x="506" y="1927"/>
              <a:ext cx="34" cy="3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3" name="Text Box 19"/>
            <p:cNvSpPr txBox="1">
              <a:spLocks noChangeArrowheads="1"/>
            </p:cNvSpPr>
            <p:nvPr/>
          </p:nvSpPr>
          <p:spPr bwMode="auto">
            <a:xfrm rot="5400000">
              <a:off x="1170" y="1949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49524" name="Text Box 20"/>
            <p:cNvSpPr txBox="1">
              <a:spLocks noChangeArrowheads="1"/>
            </p:cNvSpPr>
            <p:nvPr/>
          </p:nvSpPr>
          <p:spPr bwMode="auto">
            <a:xfrm>
              <a:off x="710" y="1941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149525" name="Oval 21"/>
            <p:cNvSpPr>
              <a:spLocks noChangeArrowheads="1"/>
            </p:cNvSpPr>
            <p:nvPr/>
          </p:nvSpPr>
          <p:spPr bwMode="auto">
            <a:xfrm rot="12600000">
              <a:off x="620" y="1382"/>
              <a:ext cx="271" cy="27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6" name="Line 22"/>
            <p:cNvSpPr>
              <a:spLocks noChangeShapeType="1"/>
            </p:cNvSpPr>
            <p:nvPr/>
          </p:nvSpPr>
          <p:spPr bwMode="auto">
            <a:xfrm rot="12600000">
              <a:off x="750" y="1024"/>
              <a:ext cx="13" cy="9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7" name="Oval 23"/>
            <p:cNvSpPr>
              <a:spLocks noChangeArrowheads="1"/>
            </p:cNvSpPr>
            <p:nvPr/>
          </p:nvSpPr>
          <p:spPr bwMode="auto">
            <a:xfrm rot="12600000">
              <a:off x="990" y="1056"/>
              <a:ext cx="34" cy="34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8" name="Text Box 24"/>
            <p:cNvSpPr txBox="1">
              <a:spLocks noChangeArrowheads="1"/>
            </p:cNvSpPr>
            <p:nvPr/>
          </p:nvSpPr>
          <p:spPr bwMode="auto">
            <a:xfrm rot="12600000">
              <a:off x="523" y="1566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49529" name="Text Box 25"/>
            <p:cNvSpPr txBox="1">
              <a:spLocks noChangeArrowheads="1"/>
            </p:cNvSpPr>
            <p:nvPr/>
          </p:nvSpPr>
          <p:spPr bwMode="auto">
            <a:xfrm rot="12600000">
              <a:off x="726" y="1186"/>
              <a:ext cx="1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149530" name="Text Box 26"/>
            <p:cNvSpPr txBox="1">
              <a:spLocks noChangeArrowheads="1"/>
            </p:cNvSpPr>
            <p:nvPr/>
          </p:nvSpPr>
          <p:spPr bwMode="auto">
            <a:xfrm>
              <a:off x="1306" y="1929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49531" name="Text Box 27"/>
            <p:cNvSpPr txBox="1">
              <a:spLocks noChangeArrowheads="1"/>
            </p:cNvSpPr>
            <p:nvPr/>
          </p:nvSpPr>
          <p:spPr bwMode="auto">
            <a:xfrm>
              <a:off x="340" y="1689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49532" name="Text Box 28"/>
            <p:cNvSpPr txBox="1">
              <a:spLocks noChangeArrowheads="1"/>
            </p:cNvSpPr>
            <p:nvPr/>
          </p:nvSpPr>
          <p:spPr bwMode="auto">
            <a:xfrm>
              <a:off x="523" y="1935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49533" name="Text Box 29"/>
            <p:cNvSpPr txBox="1">
              <a:spLocks noChangeArrowheads="1"/>
            </p:cNvSpPr>
            <p:nvPr/>
          </p:nvSpPr>
          <p:spPr bwMode="auto">
            <a:xfrm>
              <a:off x="770" y="991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49534" name="Line 30"/>
            <p:cNvSpPr>
              <a:spLocks noChangeShapeType="1"/>
            </p:cNvSpPr>
            <p:nvPr/>
          </p:nvSpPr>
          <p:spPr bwMode="auto">
            <a:xfrm>
              <a:off x="1012" y="1075"/>
              <a:ext cx="15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35" name="Line 31"/>
            <p:cNvSpPr>
              <a:spLocks noChangeShapeType="1"/>
            </p:cNvSpPr>
            <p:nvPr/>
          </p:nvSpPr>
          <p:spPr bwMode="auto">
            <a:xfrm>
              <a:off x="1496" y="1944"/>
              <a:ext cx="10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36" name="Freeform 32"/>
            <p:cNvSpPr>
              <a:spLocks/>
            </p:cNvSpPr>
            <p:nvPr/>
          </p:nvSpPr>
          <p:spPr bwMode="auto">
            <a:xfrm>
              <a:off x="519" y="1947"/>
              <a:ext cx="1998" cy="492"/>
            </a:xfrm>
            <a:custGeom>
              <a:avLst/>
              <a:gdLst>
                <a:gd name="T0" fmla="*/ 0 w 2184"/>
                <a:gd name="T1" fmla="*/ 0 h 426"/>
                <a:gd name="T2" fmla="*/ 0 w 2184"/>
                <a:gd name="T3" fmla="*/ 426 h 426"/>
                <a:gd name="T4" fmla="*/ 2184 w 2184"/>
                <a:gd name="T5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4" h="426">
                  <a:moveTo>
                    <a:pt x="0" y="0"/>
                  </a:moveTo>
                  <a:lnTo>
                    <a:pt x="0" y="426"/>
                  </a:lnTo>
                  <a:lnTo>
                    <a:pt x="2184" y="42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37" name="Oval 33"/>
            <p:cNvSpPr>
              <a:spLocks noChangeArrowheads="1"/>
            </p:cNvSpPr>
            <p:nvPr/>
          </p:nvSpPr>
          <p:spPr bwMode="auto">
            <a:xfrm>
              <a:off x="2541" y="1051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38" name="Oval 34"/>
            <p:cNvSpPr>
              <a:spLocks noChangeArrowheads="1"/>
            </p:cNvSpPr>
            <p:nvPr/>
          </p:nvSpPr>
          <p:spPr bwMode="auto">
            <a:xfrm>
              <a:off x="2517" y="1924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39" name="Oval 35"/>
            <p:cNvSpPr>
              <a:spLocks noChangeArrowheads="1"/>
            </p:cNvSpPr>
            <p:nvPr/>
          </p:nvSpPr>
          <p:spPr bwMode="auto">
            <a:xfrm>
              <a:off x="2523" y="2407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40" name="Text Box 36"/>
            <p:cNvSpPr txBox="1">
              <a:spLocks noChangeArrowheads="1"/>
            </p:cNvSpPr>
            <p:nvPr/>
          </p:nvSpPr>
          <p:spPr bwMode="auto">
            <a:xfrm>
              <a:off x="2570" y="929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49541" name="Text Box 37"/>
            <p:cNvSpPr txBox="1">
              <a:spLocks noChangeArrowheads="1"/>
            </p:cNvSpPr>
            <p:nvPr/>
          </p:nvSpPr>
          <p:spPr bwMode="auto">
            <a:xfrm>
              <a:off x="2565" y="1826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49542" name="Text Box 38"/>
            <p:cNvSpPr txBox="1">
              <a:spLocks noChangeArrowheads="1"/>
            </p:cNvSpPr>
            <p:nvPr/>
          </p:nvSpPr>
          <p:spPr bwMode="auto">
            <a:xfrm>
              <a:off x="2564" y="2311"/>
              <a:ext cx="2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</a:p>
          </p:txBody>
        </p:sp>
        <p:graphicFrame>
          <p:nvGraphicFramePr>
            <p:cNvPr id="149543" name="Object 39"/>
            <p:cNvGraphicFramePr>
              <a:graphicFrameLocks noChangeAspect="1"/>
            </p:cNvGraphicFramePr>
            <p:nvPr/>
          </p:nvGraphicFramePr>
          <p:xfrm>
            <a:off x="404" y="1274"/>
            <a:ext cx="237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07" name="Equation" r:id="rId3" imgW="368280" imgH="406080" progId="Equation.3">
                    <p:embed/>
                  </p:oleObj>
                </mc:Choice>
                <mc:Fallback>
                  <p:oleObj name="Equation" r:id="rId3" imgW="368280" imgH="40608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" y="1274"/>
                          <a:ext cx="237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44" name="Object 40"/>
            <p:cNvGraphicFramePr>
              <a:graphicFrameLocks noChangeAspect="1"/>
            </p:cNvGraphicFramePr>
            <p:nvPr/>
          </p:nvGraphicFramePr>
          <p:xfrm>
            <a:off x="1355" y="1268"/>
            <a:ext cx="262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08" name="Equation" r:id="rId5" imgW="406080" imgH="393480" progId="Equation.3">
                    <p:embed/>
                  </p:oleObj>
                </mc:Choice>
                <mc:Fallback>
                  <p:oleObj name="Equation" r:id="rId5" imgW="406080" imgH="39348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5" y="1268"/>
                          <a:ext cx="262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45" name="Object 41"/>
            <p:cNvGraphicFramePr>
              <a:graphicFrameLocks noChangeAspect="1"/>
            </p:cNvGraphicFramePr>
            <p:nvPr/>
          </p:nvGraphicFramePr>
          <p:xfrm>
            <a:off x="914" y="2129"/>
            <a:ext cx="25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09" name="Equation" r:id="rId7" imgW="393480" imgH="393480" progId="Equation.3">
                    <p:embed/>
                  </p:oleObj>
                </mc:Choice>
                <mc:Fallback>
                  <p:oleObj name="Equation" r:id="rId7" imgW="393480" imgH="39348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2129"/>
                          <a:ext cx="25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9546" name="Object 42"/>
          <p:cNvGraphicFramePr>
            <a:graphicFrameLocks noChangeAspect="1"/>
          </p:cNvGraphicFramePr>
          <p:nvPr/>
        </p:nvGraphicFramePr>
        <p:xfrm>
          <a:off x="730250" y="3776663"/>
          <a:ext cx="2662238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10" name="Equation" r:id="rId9" imgW="1333440" imgH="736560" progId="Equation.3">
                  <p:embed/>
                </p:oleObj>
              </mc:Choice>
              <mc:Fallback>
                <p:oleObj name="Equation" r:id="rId9" imgW="1333440" imgH="73656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" y="3776663"/>
                        <a:ext cx="2662238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47" name="Object 43"/>
          <p:cNvGraphicFramePr>
            <a:graphicFrameLocks noChangeAspect="1"/>
          </p:cNvGraphicFramePr>
          <p:nvPr/>
        </p:nvGraphicFramePr>
        <p:xfrm>
          <a:off x="4578350" y="3821113"/>
          <a:ext cx="2865438" cy="149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11" name="Equation" r:id="rId11" imgW="1434960" imgH="749160" progId="Equation.3">
                  <p:embed/>
                </p:oleObj>
              </mc:Choice>
              <mc:Fallback>
                <p:oleObj name="Equation" r:id="rId11" imgW="1434960" imgH="74916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8350" y="3821113"/>
                        <a:ext cx="2865438" cy="149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48" name="Text Box 44"/>
          <p:cNvSpPr txBox="1">
            <a:spLocks noChangeArrowheads="1"/>
          </p:cNvSpPr>
          <p:nvPr/>
        </p:nvSpPr>
        <p:spPr bwMode="auto">
          <a:xfrm>
            <a:off x="1633538" y="5570538"/>
            <a:ext cx="4011612" cy="457200"/>
          </a:xfrm>
          <a:prstGeom prst="rect">
            <a:avLst/>
          </a:prstGeom>
          <a:solidFill>
            <a:srgbClr val="CC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线电压等于对应的相电压。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9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9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9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9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4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48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31" name="Text Box 135"/>
          <p:cNvSpPr txBox="1">
            <a:spLocks noChangeArrowheads="1"/>
          </p:cNvSpPr>
          <p:nvPr/>
        </p:nvSpPr>
        <p:spPr bwMode="auto">
          <a:xfrm>
            <a:off x="606425" y="1919288"/>
            <a:ext cx="4664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C3300"/>
                </a:solidFill>
              </a:rPr>
              <a:t>一、</a:t>
            </a:r>
            <a:r>
              <a:rPr lang="en-US" altLang="zh-CN">
                <a:solidFill>
                  <a:srgbClr val="CC3300"/>
                </a:solidFill>
              </a:rPr>
              <a:t>Y</a:t>
            </a:r>
            <a:r>
              <a:rPr lang="zh-CN" altLang="en-US">
                <a:solidFill>
                  <a:srgbClr val="CC3300"/>
                </a:solidFill>
              </a:rPr>
              <a:t>－</a:t>
            </a:r>
            <a:r>
              <a:rPr lang="en-US" altLang="zh-CN">
                <a:solidFill>
                  <a:srgbClr val="CC3300"/>
                </a:solidFill>
              </a:rPr>
              <a:t>Y </a:t>
            </a:r>
            <a:r>
              <a:rPr lang="zh-CN" altLang="en-US">
                <a:solidFill>
                  <a:srgbClr val="CC3300"/>
                </a:solidFill>
              </a:rPr>
              <a:t>接</a:t>
            </a:r>
            <a:r>
              <a:rPr lang="zh-CN" altLang="en-US">
                <a:solidFill>
                  <a:srgbClr val="CC3300"/>
                </a:solidFill>
                <a:latin typeface="宋体" panose="02010600030101010101" pitchFamily="2" charset="-122"/>
              </a:rPr>
              <a:t>对称三相电路的计算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1032" name="Text Box 136"/>
          <p:cNvSpPr txBox="1">
            <a:spLocks noChangeArrowheads="1"/>
          </p:cNvSpPr>
          <p:nvPr/>
        </p:nvSpPr>
        <p:spPr bwMode="auto">
          <a:xfrm>
            <a:off x="1873250" y="209550"/>
            <a:ext cx="4797425" cy="528638"/>
          </a:xfrm>
          <a:prstGeom prst="rect">
            <a:avLst/>
          </a:prstGeom>
          <a:noFill/>
          <a:ln w="9525" algn="ctr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_GB2312"/>
                <a:cs typeface="楷体_GB2312"/>
              </a:rPr>
              <a:t>12.3 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_GB2312"/>
                <a:cs typeface="楷体_GB2312"/>
              </a:rPr>
              <a:t>对称三相电路的计算 </a:t>
            </a:r>
          </a:p>
        </p:txBody>
      </p:sp>
      <p:grpSp>
        <p:nvGrpSpPr>
          <p:cNvPr id="81035" name="Group 139"/>
          <p:cNvGrpSpPr>
            <a:grpSpLocks/>
          </p:cNvGrpSpPr>
          <p:nvPr/>
        </p:nvGrpSpPr>
        <p:grpSpPr bwMode="auto">
          <a:xfrm>
            <a:off x="973138" y="2228850"/>
            <a:ext cx="5251450" cy="2855913"/>
            <a:chOff x="2101" y="667"/>
            <a:chExt cx="3488" cy="2030"/>
          </a:xfrm>
        </p:grpSpPr>
        <p:sp>
          <p:nvSpPr>
            <p:cNvPr id="81036" name="Oval 140"/>
            <p:cNvSpPr>
              <a:spLocks noChangeArrowheads="1"/>
            </p:cNvSpPr>
            <p:nvPr/>
          </p:nvSpPr>
          <p:spPr bwMode="auto">
            <a:xfrm>
              <a:off x="2366" y="1652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037" name="Oval 141"/>
            <p:cNvSpPr>
              <a:spLocks noChangeArrowheads="1"/>
            </p:cNvSpPr>
            <p:nvPr/>
          </p:nvSpPr>
          <p:spPr bwMode="auto">
            <a:xfrm>
              <a:off x="2882" y="1664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038" name="Oval 142"/>
            <p:cNvSpPr>
              <a:spLocks noChangeArrowheads="1"/>
            </p:cNvSpPr>
            <p:nvPr/>
          </p:nvSpPr>
          <p:spPr bwMode="auto">
            <a:xfrm>
              <a:off x="2615" y="1136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039" name="Line 143"/>
            <p:cNvSpPr>
              <a:spLocks noChangeShapeType="1"/>
            </p:cNvSpPr>
            <p:nvPr/>
          </p:nvSpPr>
          <p:spPr bwMode="auto">
            <a:xfrm>
              <a:off x="2762" y="1028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40" name="Line 144"/>
            <p:cNvSpPr>
              <a:spLocks noChangeShapeType="1"/>
            </p:cNvSpPr>
            <p:nvPr/>
          </p:nvSpPr>
          <p:spPr bwMode="auto">
            <a:xfrm>
              <a:off x="2762" y="1604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41" name="Line 145"/>
            <p:cNvSpPr>
              <a:spLocks noChangeShapeType="1"/>
            </p:cNvSpPr>
            <p:nvPr/>
          </p:nvSpPr>
          <p:spPr bwMode="auto">
            <a:xfrm flipH="1">
              <a:off x="2330" y="1604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42" name="Text Box 146"/>
            <p:cNvSpPr txBox="1">
              <a:spLocks noChangeArrowheads="1"/>
            </p:cNvSpPr>
            <p:nvPr/>
          </p:nvSpPr>
          <p:spPr bwMode="auto">
            <a:xfrm>
              <a:off x="2553" y="914"/>
              <a:ext cx="238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1043" name="Text Box 147"/>
            <p:cNvSpPr txBox="1">
              <a:spLocks noChangeArrowheads="1"/>
            </p:cNvSpPr>
            <p:nvPr/>
          </p:nvSpPr>
          <p:spPr bwMode="auto">
            <a:xfrm>
              <a:off x="2571" y="1242"/>
              <a:ext cx="212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1044" name="Line 148"/>
            <p:cNvSpPr>
              <a:spLocks noChangeShapeType="1"/>
            </p:cNvSpPr>
            <p:nvPr/>
          </p:nvSpPr>
          <p:spPr bwMode="auto">
            <a:xfrm>
              <a:off x="3194" y="194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45" name="Line 149"/>
            <p:cNvSpPr>
              <a:spLocks noChangeShapeType="1"/>
            </p:cNvSpPr>
            <p:nvPr/>
          </p:nvSpPr>
          <p:spPr bwMode="auto">
            <a:xfrm>
              <a:off x="2330" y="194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46" name="Line 150"/>
            <p:cNvSpPr>
              <a:spLocks noChangeShapeType="1"/>
            </p:cNvSpPr>
            <p:nvPr/>
          </p:nvSpPr>
          <p:spPr bwMode="auto">
            <a:xfrm>
              <a:off x="5066" y="1028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47" name="Line 151"/>
            <p:cNvSpPr>
              <a:spLocks noChangeShapeType="1"/>
            </p:cNvSpPr>
            <p:nvPr/>
          </p:nvSpPr>
          <p:spPr bwMode="auto">
            <a:xfrm>
              <a:off x="5066" y="1604"/>
              <a:ext cx="523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48" name="Line 152"/>
            <p:cNvSpPr>
              <a:spLocks noChangeShapeType="1"/>
            </p:cNvSpPr>
            <p:nvPr/>
          </p:nvSpPr>
          <p:spPr bwMode="auto">
            <a:xfrm flipH="1">
              <a:off x="4634" y="1604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49" name="Line 153"/>
            <p:cNvSpPr>
              <a:spLocks noChangeShapeType="1"/>
            </p:cNvSpPr>
            <p:nvPr/>
          </p:nvSpPr>
          <p:spPr bwMode="auto">
            <a:xfrm>
              <a:off x="4634" y="1844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50" name="Line 154"/>
            <p:cNvSpPr>
              <a:spLocks noChangeShapeType="1"/>
            </p:cNvSpPr>
            <p:nvPr/>
          </p:nvSpPr>
          <p:spPr bwMode="auto">
            <a:xfrm>
              <a:off x="3194" y="2084"/>
              <a:ext cx="23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51" name="Line 155"/>
            <p:cNvSpPr>
              <a:spLocks noChangeShapeType="1"/>
            </p:cNvSpPr>
            <p:nvPr/>
          </p:nvSpPr>
          <p:spPr bwMode="auto">
            <a:xfrm>
              <a:off x="5589" y="1895"/>
              <a:ext cx="0" cy="1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52" name="Line 156"/>
            <p:cNvSpPr>
              <a:spLocks noChangeShapeType="1"/>
            </p:cNvSpPr>
            <p:nvPr/>
          </p:nvSpPr>
          <p:spPr bwMode="auto">
            <a:xfrm>
              <a:off x="2330" y="2372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53" name="Line 157"/>
            <p:cNvSpPr>
              <a:spLocks noChangeShapeType="1"/>
            </p:cNvSpPr>
            <p:nvPr/>
          </p:nvSpPr>
          <p:spPr bwMode="auto">
            <a:xfrm>
              <a:off x="2762" y="1028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54" name="Line 158"/>
            <p:cNvSpPr>
              <a:spLocks noChangeShapeType="1"/>
            </p:cNvSpPr>
            <p:nvPr/>
          </p:nvSpPr>
          <p:spPr bwMode="auto">
            <a:xfrm>
              <a:off x="3841" y="956"/>
              <a:ext cx="3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55" name="Line 159"/>
            <p:cNvSpPr>
              <a:spLocks noChangeShapeType="1"/>
            </p:cNvSpPr>
            <p:nvPr/>
          </p:nvSpPr>
          <p:spPr bwMode="auto">
            <a:xfrm>
              <a:off x="3853" y="1988"/>
              <a:ext cx="4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56" name="Line 160"/>
            <p:cNvSpPr>
              <a:spLocks noChangeShapeType="1"/>
            </p:cNvSpPr>
            <p:nvPr/>
          </p:nvSpPr>
          <p:spPr bwMode="auto">
            <a:xfrm>
              <a:off x="3865" y="2288"/>
              <a:ext cx="4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57" name="Text Box 161"/>
            <p:cNvSpPr txBox="1">
              <a:spLocks noChangeArrowheads="1"/>
            </p:cNvSpPr>
            <p:nvPr/>
          </p:nvSpPr>
          <p:spPr bwMode="auto">
            <a:xfrm>
              <a:off x="2312" y="1874"/>
              <a:ext cx="237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1058" name="Text Box 162"/>
            <p:cNvSpPr txBox="1">
              <a:spLocks noChangeArrowheads="1"/>
            </p:cNvSpPr>
            <p:nvPr/>
          </p:nvSpPr>
          <p:spPr bwMode="auto">
            <a:xfrm rot="19800000">
              <a:off x="2558" y="1477"/>
              <a:ext cx="211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1059" name="Text Box 163"/>
            <p:cNvSpPr txBox="1">
              <a:spLocks noChangeArrowheads="1"/>
            </p:cNvSpPr>
            <p:nvPr/>
          </p:nvSpPr>
          <p:spPr bwMode="auto">
            <a:xfrm rot="1800000">
              <a:off x="2774" y="1472"/>
              <a:ext cx="212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1060" name="Text Box 164"/>
            <p:cNvSpPr txBox="1">
              <a:spLocks noChangeArrowheads="1"/>
            </p:cNvSpPr>
            <p:nvPr/>
          </p:nvSpPr>
          <p:spPr bwMode="auto">
            <a:xfrm>
              <a:off x="2997" y="1862"/>
              <a:ext cx="237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1061" name="Text Box 165"/>
            <p:cNvSpPr txBox="1">
              <a:spLocks noChangeArrowheads="1"/>
            </p:cNvSpPr>
            <p:nvPr/>
          </p:nvSpPr>
          <p:spPr bwMode="auto">
            <a:xfrm>
              <a:off x="2834" y="1352"/>
              <a:ext cx="269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  <p:sp>
          <p:nvSpPr>
            <p:cNvPr id="81062" name="Text Box 166"/>
            <p:cNvSpPr txBox="1">
              <a:spLocks noChangeArrowheads="1"/>
            </p:cNvSpPr>
            <p:nvPr/>
          </p:nvSpPr>
          <p:spPr bwMode="auto">
            <a:xfrm>
              <a:off x="5089" y="1377"/>
              <a:ext cx="235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  <p:sp>
          <p:nvSpPr>
            <p:cNvPr id="81063" name="Text Box 167"/>
            <p:cNvSpPr txBox="1">
              <a:spLocks noChangeArrowheads="1"/>
            </p:cNvSpPr>
            <p:nvPr/>
          </p:nvSpPr>
          <p:spPr bwMode="auto">
            <a:xfrm>
              <a:off x="5104" y="1103"/>
              <a:ext cx="246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81064" name="Text Box 168"/>
            <p:cNvSpPr txBox="1">
              <a:spLocks noChangeArrowheads="1"/>
            </p:cNvSpPr>
            <p:nvPr/>
          </p:nvSpPr>
          <p:spPr bwMode="auto">
            <a:xfrm>
              <a:off x="5312" y="1484"/>
              <a:ext cx="245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81065" name="Text Box 169"/>
            <p:cNvSpPr txBox="1">
              <a:spLocks noChangeArrowheads="1"/>
            </p:cNvSpPr>
            <p:nvPr/>
          </p:nvSpPr>
          <p:spPr bwMode="auto">
            <a:xfrm>
              <a:off x="4795" y="1723"/>
              <a:ext cx="246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</a:p>
          </p:txBody>
        </p:sp>
        <p:graphicFrame>
          <p:nvGraphicFramePr>
            <p:cNvPr id="81066" name="Object 170"/>
            <p:cNvGraphicFramePr>
              <a:graphicFrameLocks noChangeAspect="1"/>
            </p:cNvGraphicFramePr>
            <p:nvPr/>
          </p:nvGraphicFramePr>
          <p:xfrm>
            <a:off x="2101" y="1496"/>
            <a:ext cx="28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88" name="Equation" r:id="rId3" imgW="228600" imgH="241200" progId="Equation.3">
                    <p:embed/>
                  </p:oleObj>
                </mc:Choice>
                <mc:Fallback>
                  <p:oleObj name="Equation" r:id="rId3" imgW="228600" imgH="241200" progId="Equation.3">
                    <p:embed/>
                    <p:pic>
                      <p:nvPicPr>
                        <p:cNvPr id="0" name="Object 1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1" y="1496"/>
                          <a:ext cx="285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067" name="Rectangle 171"/>
            <p:cNvSpPr>
              <a:spLocks noChangeArrowheads="1"/>
            </p:cNvSpPr>
            <p:nvPr/>
          </p:nvSpPr>
          <p:spPr bwMode="auto">
            <a:xfrm>
              <a:off x="5012" y="1155"/>
              <a:ext cx="102" cy="27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68" name="Rectangle 172"/>
            <p:cNvSpPr>
              <a:spLocks noChangeArrowheads="1"/>
            </p:cNvSpPr>
            <p:nvPr/>
          </p:nvSpPr>
          <p:spPr bwMode="auto">
            <a:xfrm rot="7200000">
              <a:off x="5255" y="1602"/>
              <a:ext cx="102" cy="27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69" name="Rectangle 173"/>
            <p:cNvSpPr>
              <a:spLocks noChangeArrowheads="1"/>
            </p:cNvSpPr>
            <p:nvPr/>
          </p:nvSpPr>
          <p:spPr bwMode="auto">
            <a:xfrm rot="14400000">
              <a:off x="4789" y="1591"/>
              <a:ext cx="102" cy="27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70" name="Rectangle 174"/>
            <p:cNvSpPr>
              <a:spLocks noChangeArrowheads="1"/>
            </p:cNvSpPr>
            <p:nvPr/>
          </p:nvSpPr>
          <p:spPr bwMode="auto">
            <a:xfrm>
              <a:off x="3529" y="987"/>
              <a:ext cx="288" cy="96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71" name="Rectangle 175"/>
            <p:cNvSpPr>
              <a:spLocks noChangeArrowheads="1"/>
            </p:cNvSpPr>
            <p:nvPr/>
          </p:nvSpPr>
          <p:spPr bwMode="auto">
            <a:xfrm>
              <a:off x="3565" y="2331"/>
              <a:ext cx="288" cy="96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72" name="Rectangle 176"/>
            <p:cNvSpPr>
              <a:spLocks noChangeArrowheads="1"/>
            </p:cNvSpPr>
            <p:nvPr/>
          </p:nvSpPr>
          <p:spPr bwMode="auto">
            <a:xfrm>
              <a:off x="3565" y="2043"/>
              <a:ext cx="288" cy="96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73" name="Text Box 177"/>
            <p:cNvSpPr txBox="1">
              <a:spLocks noChangeArrowheads="1"/>
            </p:cNvSpPr>
            <p:nvPr/>
          </p:nvSpPr>
          <p:spPr bwMode="auto">
            <a:xfrm>
              <a:off x="3529" y="2372"/>
              <a:ext cx="424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i="1" baseline="-25000">
                  <a:solidFill>
                    <a:schemeClr val="tx1"/>
                  </a:solidFill>
                </a:rPr>
                <a:t>l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81074" name="Rectangle 178"/>
            <p:cNvSpPr>
              <a:spLocks noChangeArrowheads="1"/>
            </p:cNvSpPr>
            <p:nvPr/>
          </p:nvSpPr>
          <p:spPr bwMode="auto">
            <a:xfrm>
              <a:off x="3529" y="1735"/>
              <a:ext cx="283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i="1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81075" name="Rectangle 179"/>
            <p:cNvSpPr>
              <a:spLocks noChangeArrowheads="1"/>
            </p:cNvSpPr>
            <p:nvPr/>
          </p:nvSpPr>
          <p:spPr bwMode="auto">
            <a:xfrm>
              <a:off x="3493" y="667"/>
              <a:ext cx="283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i="1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81076" name="Line 180"/>
            <p:cNvSpPr>
              <a:spLocks noChangeShapeType="1"/>
            </p:cNvSpPr>
            <p:nvPr/>
          </p:nvSpPr>
          <p:spPr bwMode="auto">
            <a:xfrm>
              <a:off x="2761" y="1599"/>
              <a:ext cx="230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77" name="Rectangle 181"/>
            <p:cNvSpPr>
              <a:spLocks noChangeArrowheads="1"/>
            </p:cNvSpPr>
            <p:nvPr/>
          </p:nvSpPr>
          <p:spPr bwMode="auto">
            <a:xfrm>
              <a:off x="3625" y="1551"/>
              <a:ext cx="288" cy="96"/>
            </a:xfrm>
            <a:prstGeom prst="rect">
              <a:avLst/>
            </a:prstGeom>
            <a:solidFill>
              <a:srgbClr val="FF3300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078" name="Text Box 182"/>
            <p:cNvSpPr txBox="1">
              <a:spLocks noChangeArrowheads="1"/>
            </p:cNvSpPr>
            <p:nvPr/>
          </p:nvSpPr>
          <p:spPr bwMode="auto">
            <a:xfrm>
              <a:off x="3687" y="1256"/>
              <a:ext cx="48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N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graphicFrame>
          <p:nvGraphicFramePr>
            <p:cNvPr id="81079" name="Object 183"/>
            <p:cNvGraphicFramePr>
              <a:graphicFrameLocks noChangeAspect="1"/>
            </p:cNvGraphicFramePr>
            <p:nvPr/>
          </p:nvGraphicFramePr>
          <p:xfrm>
            <a:off x="4545" y="1523"/>
            <a:ext cx="103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89" name="公式" r:id="rId5" imgW="164880" imgH="355320" progId="Equation.3">
                    <p:embed/>
                  </p:oleObj>
                </mc:Choice>
                <mc:Fallback>
                  <p:oleObj name="公式" r:id="rId5" imgW="164880" imgH="355320" progId="Equation.3">
                    <p:embed/>
                    <p:pic>
                      <p:nvPicPr>
                        <p:cNvPr id="0" name="Object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5" y="1523"/>
                          <a:ext cx="103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1080" name="Group 184"/>
            <p:cNvGrpSpPr>
              <a:grpSpLocks/>
            </p:cNvGrpSpPr>
            <p:nvPr/>
          </p:nvGrpSpPr>
          <p:grpSpPr bwMode="auto">
            <a:xfrm>
              <a:off x="2650" y="1632"/>
              <a:ext cx="252" cy="263"/>
              <a:chOff x="1272" y="1531"/>
              <a:chExt cx="204" cy="227"/>
            </a:xfrm>
          </p:grpSpPr>
          <p:sp>
            <p:nvSpPr>
              <p:cNvPr id="81081" name="Line 185"/>
              <p:cNvSpPr>
                <a:spLocks noChangeShapeType="1"/>
              </p:cNvSpPr>
              <p:nvPr/>
            </p:nvSpPr>
            <p:spPr bwMode="auto">
              <a:xfrm flipV="1">
                <a:off x="1272" y="1668"/>
                <a:ext cx="20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082" name="Line 186"/>
              <p:cNvSpPr>
                <a:spLocks noChangeShapeType="1"/>
              </p:cNvSpPr>
              <p:nvPr/>
            </p:nvSpPr>
            <p:spPr bwMode="auto">
              <a:xfrm>
                <a:off x="1302" y="1716"/>
                <a:ext cx="132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083" name="Line 187"/>
              <p:cNvSpPr>
                <a:spLocks noChangeShapeType="1"/>
              </p:cNvSpPr>
              <p:nvPr/>
            </p:nvSpPr>
            <p:spPr bwMode="auto">
              <a:xfrm>
                <a:off x="1326" y="1758"/>
                <a:ext cx="87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084" name="Line 188"/>
              <p:cNvSpPr>
                <a:spLocks noChangeShapeType="1"/>
              </p:cNvSpPr>
              <p:nvPr/>
            </p:nvSpPr>
            <p:spPr bwMode="auto">
              <a:xfrm flipH="1">
                <a:off x="1371" y="1531"/>
                <a:ext cx="0" cy="137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81085" name="Object 189"/>
            <p:cNvGraphicFramePr>
              <a:graphicFrameLocks noChangeAspect="1"/>
            </p:cNvGraphicFramePr>
            <p:nvPr/>
          </p:nvGraphicFramePr>
          <p:xfrm>
            <a:off x="2762" y="1903"/>
            <a:ext cx="28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90" name="Equation" r:id="rId7" imgW="228600" imgH="228600" progId="Equation.3">
                    <p:embed/>
                  </p:oleObj>
                </mc:Choice>
                <mc:Fallback>
                  <p:oleObj name="Equation" r:id="rId7" imgW="228600" imgH="228600" progId="Equation.3">
                    <p:embed/>
                    <p:pic>
                      <p:nvPicPr>
                        <p:cNvPr id="0" name="Object 1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1903"/>
                          <a:ext cx="28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086" name="Object 190"/>
            <p:cNvGraphicFramePr>
              <a:graphicFrameLocks noChangeAspect="1"/>
            </p:cNvGraphicFramePr>
            <p:nvPr/>
          </p:nvGraphicFramePr>
          <p:xfrm>
            <a:off x="2348" y="1095"/>
            <a:ext cx="28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91" name="Equation" r:id="rId9" imgW="228600" imgH="228600" progId="Equation.3">
                    <p:embed/>
                  </p:oleObj>
                </mc:Choice>
                <mc:Fallback>
                  <p:oleObj name="Equation" r:id="rId9" imgW="228600" imgH="228600" progId="Equation.3">
                    <p:embed/>
                    <p:pic>
                      <p:nvPicPr>
                        <p:cNvPr id="0" name="Object 1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8" y="1095"/>
                          <a:ext cx="28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087" name="Object 191"/>
            <p:cNvGraphicFramePr>
              <a:graphicFrameLocks noChangeAspect="1"/>
            </p:cNvGraphicFramePr>
            <p:nvPr/>
          </p:nvGraphicFramePr>
          <p:xfrm>
            <a:off x="4309" y="2124"/>
            <a:ext cx="238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92" name="Equation" r:id="rId11" imgW="190440" imgH="241200" progId="Equation.3">
                    <p:embed/>
                  </p:oleObj>
                </mc:Choice>
                <mc:Fallback>
                  <p:oleObj name="Equation" r:id="rId11" imgW="190440" imgH="241200" progId="Equation.3">
                    <p:embed/>
                    <p:pic>
                      <p:nvPicPr>
                        <p:cNvPr id="0" name="Object 1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9" y="2124"/>
                          <a:ext cx="238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088" name="Object 192"/>
            <p:cNvGraphicFramePr>
              <a:graphicFrameLocks noChangeAspect="1"/>
            </p:cNvGraphicFramePr>
            <p:nvPr/>
          </p:nvGraphicFramePr>
          <p:xfrm>
            <a:off x="4309" y="1789"/>
            <a:ext cx="23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93" name="Equation" r:id="rId13" imgW="190440" imgH="228600" progId="Equation.3">
                    <p:embed/>
                  </p:oleObj>
                </mc:Choice>
                <mc:Fallback>
                  <p:oleObj name="Equation" r:id="rId13" imgW="190440" imgH="228600" progId="Equation.3">
                    <p:embed/>
                    <p:pic>
                      <p:nvPicPr>
                        <p:cNvPr id="0" name="Object 1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9" y="1789"/>
                          <a:ext cx="23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089" name="Object 193"/>
            <p:cNvGraphicFramePr>
              <a:graphicFrameLocks noChangeAspect="1"/>
            </p:cNvGraphicFramePr>
            <p:nvPr/>
          </p:nvGraphicFramePr>
          <p:xfrm>
            <a:off x="4286" y="761"/>
            <a:ext cx="23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94" name="Equation" r:id="rId15" imgW="190440" imgH="228600" progId="Equation.3">
                    <p:embed/>
                  </p:oleObj>
                </mc:Choice>
                <mc:Fallback>
                  <p:oleObj name="Equation" r:id="rId15" imgW="190440" imgH="228600" progId="Equation.3">
                    <p:embed/>
                    <p:pic>
                      <p:nvPicPr>
                        <p:cNvPr id="0" name="Object 1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761"/>
                          <a:ext cx="23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090" name="Text Box 194"/>
          <p:cNvSpPr txBox="1">
            <a:spLocks noChangeArrowheads="1"/>
          </p:cNvSpPr>
          <p:nvPr/>
        </p:nvSpPr>
        <p:spPr bwMode="auto">
          <a:xfrm>
            <a:off x="422275" y="849313"/>
            <a:ext cx="644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对称三相电路</a:t>
            </a:r>
            <a:r>
              <a:rPr lang="en-US" altLang="zh-CN">
                <a:solidFill>
                  <a:schemeClr val="tx1"/>
                </a:solidFill>
              </a:rPr>
              <a:t>(symmetrical three-phase circuit):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1091" name="Rectangle 195"/>
          <p:cNvSpPr>
            <a:spLocks noChangeArrowheads="1"/>
          </p:cNvSpPr>
          <p:nvPr/>
        </p:nvSpPr>
        <p:spPr bwMode="auto">
          <a:xfrm>
            <a:off x="1662113" y="1379538"/>
            <a:ext cx="6584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电源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对称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chemeClr val="tx1"/>
                </a:solidFill>
              </a:rPr>
              <a:t>负载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对称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火</a:t>
            </a:r>
            <a:r>
              <a:rPr lang="zh-CN" altLang="zh-CN">
                <a:solidFill>
                  <a:schemeClr val="tx1"/>
                </a:solidFill>
              </a:rPr>
              <a:t>线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阻抗相等的三相电路。</a:t>
            </a:r>
          </a:p>
        </p:txBody>
      </p:sp>
      <p:sp>
        <p:nvSpPr>
          <p:cNvPr id="81092" name="Text Box 196"/>
          <p:cNvSpPr txBox="1">
            <a:spLocks noChangeArrowheads="1"/>
          </p:cNvSpPr>
          <p:nvPr/>
        </p:nvSpPr>
        <p:spPr bwMode="auto">
          <a:xfrm>
            <a:off x="673100" y="5959475"/>
            <a:ext cx="6965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相电流</a:t>
            </a:r>
            <a:r>
              <a:rPr lang="en-US" altLang="zh-CN">
                <a:solidFill>
                  <a:schemeClr val="tx1"/>
                </a:solidFill>
              </a:rPr>
              <a:t>(phase current)</a:t>
            </a:r>
            <a:r>
              <a:rPr lang="zh-CN" altLang="en-US">
                <a:solidFill>
                  <a:schemeClr val="tx1"/>
                </a:solidFill>
              </a:rPr>
              <a:t>：流过每相电源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负载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的电流</a:t>
            </a:r>
          </a:p>
        </p:txBody>
      </p:sp>
      <p:grpSp>
        <p:nvGrpSpPr>
          <p:cNvPr id="81093" name="Group 197"/>
          <p:cNvGrpSpPr>
            <a:grpSpLocks/>
          </p:cNvGrpSpPr>
          <p:nvPr/>
        </p:nvGrpSpPr>
        <p:grpSpPr bwMode="auto">
          <a:xfrm>
            <a:off x="728663" y="5267325"/>
            <a:ext cx="7259637" cy="476250"/>
            <a:chOff x="231" y="3193"/>
            <a:chExt cx="4573" cy="300"/>
          </a:xfrm>
        </p:grpSpPr>
        <p:sp>
          <p:nvSpPr>
            <p:cNvPr id="81094" name="Rectangle 198"/>
            <p:cNvSpPr>
              <a:spLocks noChangeArrowheads="1"/>
            </p:cNvSpPr>
            <p:nvPr/>
          </p:nvSpPr>
          <p:spPr bwMode="auto">
            <a:xfrm>
              <a:off x="231" y="3193"/>
              <a:ext cx="3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线电流</a:t>
              </a:r>
              <a:r>
                <a:rPr lang="en-US" altLang="zh-CN">
                  <a:solidFill>
                    <a:schemeClr val="tx1"/>
                  </a:solidFill>
                </a:rPr>
                <a:t>(line current)</a:t>
              </a:r>
              <a:r>
                <a:rPr lang="zh-CN" altLang="en-US">
                  <a:solidFill>
                    <a:schemeClr val="tx1"/>
                  </a:solidFill>
                </a:rPr>
                <a:t>：流过火线的电流</a:t>
              </a:r>
            </a:p>
          </p:txBody>
        </p:sp>
        <p:graphicFrame>
          <p:nvGraphicFramePr>
            <p:cNvPr id="81095" name="Object 199"/>
            <p:cNvGraphicFramePr>
              <a:graphicFrameLocks noChangeAspect="1"/>
            </p:cNvGraphicFramePr>
            <p:nvPr/>
          </p:nvGraphicFramePr>
          <p:xfrm>
            <a:off x="3818" y="3200"/>
            <a:ext cx="98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195" name="Equation" r:id="rId17" imgW="812520" imgH="241200" progId="Equation.3">
                    <p:embed/>
                  </p:oleObj>
                </mc:Choice>
                <mc:Fallback>
                  <p:oleObj name="Equation" r:id="rId17" imgW="812520" imgH="241200" progId="Equation.3">
                    <p:embed/>
                    <p:pic>
                      <p:nvPicPr>
                        <p:cNvPr id="0" name="Object 1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8" y="3200"/>
                          <a:ext cx="986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096" name="Rectangle 200"/>
          <p:cNvSpPr>
            <a:spLocks noChangeArrowheads="1"/>
          </p:cNvSpPr>
          <p:nvPr/>
        </p:nvSpPr>
        <p:spPr bwMode="auto">
          <a:xfrm>
            <a:off x="6883400" y="3513138"/>
            <a:ext cx="2012950" cy="822325"/>
          </a:xfrm>
          <a:prstGeom prst="rect">
            <a:avLst/>
          </a:prstGeom>
          <a:solidFill>
            <a:srgbClr val="FF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线电流与对应</a:t>
            </a:r>
          </a:p>
          <a:p>
            <a:r>
              <a:rPr lang="zh-CN" altLang="en-US">
                <a:solidFill>
                  <a:schemeClr val="tx1"/>
                </a:solidFill>
              </a:rPr>
              <a:t>的相电流相同</a:t>
            </a:r>
          </a:p>
        </p:txBody>
      </p:sp>
      <p:sp>
        <p:nvSpPr>
          <p:cNvPr id="81097" name="Rectangle 201"/>
          <p:cNvSpPr>
            <a:spLocks noChangeArrowheads="1"/>
          </p:cNvSpPr>
          <p:nvPr/>
        </p:nvSpPr>
        <p:spPr bwMode="auto">
          <a:xfrm>
            <a:off x="342900" y="4751388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名词介绍：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8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8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8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8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031" grpId="0" autoUpdateAnimBg="0"/>
      <p:bldP spid="81032" grpId="0" animBg="1"/>
      <p:bldP spid="81090" grpId="0" autoUpdateAnimBg="0"/>
      <p:bldP spid="81091" grpId="0" autoUpdateAnimBg="0"/>
      <p:bldP spid="81092" grpId="0" autoUpdateAnimBg="0"/>
      <p:bldP spid="81096" grpId="0" animBg="1"/>
      <p:bldP spid="8109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496" name="Group 64"/>
          <p:cNvGrpSpPr>
            <a:grpSpLocks/>
          </p:cNvGrpSpPr>
          <p:nvPr/>
        </p:nvGrpSpPr>
        <p:grpSpPr bwMode="auto">
          <a:xfrm>
            <a:off x="420688" y="76200"/>
            <a:ext cx="5365750" cy="3000375"/>
            <a:chOff x="2101" y="667"/>
            <a:chExt cx="3488" cy="2011"/>
          </a:xfrm>
        </p:grpSpPr>
        <p:sp>
          <p:nvSpPr>
            <p:cNvPr id="146497" name="Oval 65"/>
            <p:cNvSpPr>
              <a:spLocks noChangeArrowheads="1"/>
            </p:cNvSpPr>
            <p:nvPr/>
          </p:nvSpPr>
          <p:spPr bwMode="auto">
            <a:xfrm>
              <a:off x="2366" y="1652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98" name="Oval 66"/>
            <p:cNvSpPr>
              <a:spLocks noChangeArrowheads="1"/>
            </p:cNvSpPr>
            <p:nvPr/>
          </p:nvSpPr>
          <p:spPr bwMode="auto">
            <a:xfrm>
              <a:off x="2882" y="1664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499" name="Oval 67"/>
            <p:cNvSpPr>
              <a:spLocks noChangeArrowheads="1"/>
            </p:cNvSpPr>
            <p:nvPr/>
          </p:nvSpPr>
          <p:spPr bwMode="auto">
            <a:xfrm>
              <a:off x="2615" y="1136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500" name="Line 68"/>
            <p:cNvSpPr>
              <a:spLocks noChangeShapeType="1"/>
            </p:cNvSpPr>
            <p:nvPr/>
          </p:nvSpPr>
          <p:spPr bwMode="auto">
            <a:xfrm>
              <a:off x="2762" y="1028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01" name="Line 69"/>
            <p:cNvSpPr>
              <a:spLocks noChangeShapeType="1"/>
            </p:cNvSpPr>
            <p:nvPr/>
          </p:nvSpPr>
          <p:spPr bwMode="auto">
            <a:xfrm>
              <a:off x="2762" y="1604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02" name="Line 70"/>
            <p:cNvSpPr>
              <a:spLocks noChangeShapeType="1"/>
            </p:cNvSpPr>
            <p:nvPr/>
          </p:nvSpPr>
          <p:spPr bwMode="auto">
            <a:xfrm flipH="1">
              <a:off x="2330" y="1604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03" name="Text Box 71"/>
            <p:cNvSpPr txBox="1">
              <a:spLocks noChangeArrowheads="1"/>
            </p:cNvSpPr>
            <p:nvPr/>
          </p:nvSpPr>
          <p:spPr bwMode="auto">
            <a:xfrm>
              <a:off x="2555" y="923"/>
              <a:ext cx="232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46504" name="Text Box 72"/>
            <p:cNvSpPr txBox="1">
              <a:spLocks noChangeArrowheads="1"/>
            </p:cNvSpPr>
            <p:nvPr/>
          </p:nvSpPr>
          <p:spPr bwMode="auto">
            <a:xfrm>
              <a:off x="2571" y="1251"/>
              <a:ext cx="212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46505" name="Line 73"/>
            <p:cNvSpPr>
              <a:spLocks noChangeShapeType="1"/>
            </p:cNvSpPr>
            <p:nvPr/>
          </p:nvSpPr>
          <p:spPr bwMode="auto">
            <a:xfrm>
              <a:off x="3194" y="194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06" name="Line 74"/>
            <p:cNvSpPr>
              <a:spLocks noChangeShapeType="1"/>
            </p:cNvSpPr>
            <p:nvPr/>
          </p:nvSpPr>
          <p:spPr bwMode="auto">
            <a:xfrm>
              <a:off x="2330" y="194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07" name="Line 75"/>
            <p:cNvSpPr>
              <a:spLocks noChangeShapeType="1"/>
            </p:cNvSpPr>
            <p:nvPr/>
          </p:nvSpPr>
          <p:spPr bwMode="auto">
            <a:xfrm>
              <a:off x="5066" y="1028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08" name="Line 76"/>
            <p:cNvSpPr>
              <a:spLocks noChangeShapeType="1"/>
            </p:cNvSpPr>
            <p:nvPr/>
          </p:nvSpPr>
          <p:spPr bwMode="auto">
            <a:xfrm>
              <a:off x="5066" y="1604"/>
              <a:ext cx="523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09" name="Line 77"/>
            <p:cNvSpPr>
              <a:spLocks noChangeShapeType="1"/>
            </p:cNvSpPr>
            <p:nvPr/>
          </p:nvSpPr>
          <p:spPr bwMode="auto">
            <a:xfrm flipH="1">
              <a:off x="4634" y="1604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10" name="Line 78"/>
            <p:cNvSpPr>
              <a:spLocks noChangeShapeType="1"/>
            </p:cNvSpPr>
            <p:nvPr/>
          </p:nvSpPr>
          <p:spPr bwMode="auto">
            <a:xfrm>
              <a:off x="4634" y="1844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11" name="Line 79"/>
            <p:cNvSpPr>
              <a:spLocks noChangeShapeType="1"/>
            </p:cNvSpPr>
            <p:nvPr/>
          </p:nvSpPr>
          <p:spPr bwMode="auto">
            <a:xfrm>
              <a:off x="3194" y="2084"/>
              <a:ext cx="23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12" name="Line 80"/>
            <p:cNvSpPr>
              <a:spLocks noChangeShapeType="1"/>
            </p:cNvSpPr>
            <p:nvPr/>
          </p:nvSpPr>
          <p:spPr bwMode="auto">
            <a:xfrm>
              <a:off x="5589" y="1895"/>
              <a:ext cx="0" cy="1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13" name="Line 81"/>
            <p:cNvSpPr>
              <a:spLocks noChangeShapeType="1"/>
            </p:cNvSpPr>
            <p:nvPr/>
          </p:nvSpPr>
          <p:spPr bwMode="auto">
            <a:xfrm>
              <a:off x="2330" y="2372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14" name="Line 82"/>
            <p:cNvSpPr>
              <a:spLocks noChangeShapeType="1"/>
            </p:cNvSpPr>
            <p:nvPr/>
          </p:nvSpPr>
          <p:spPr bwMode="auto">
            <a:xfrm>
              <a:off x="2762" y="1028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15" name="Line 83"/>
            <p:cNvSpPr>
              <a:spLocks noChangeShapeType="1"/>
            </p:cNvSpPr>
            <p:nvPr/>
          </p:nvSpPr>
          <p:spPr bwMode="auto">
            <a:xfrm>
              <a:off x="3841" y="956"/>
              <a:ext cx="3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16" name="Line 84"/>
            <p:cNvSpPr>
              <a:spLocks noChangeShapeType="1"/>
            </p:cNvSpPr>
            <p:nvPr/>
          </p:nvSpPr>
          <p:spPr bwMode="auto">
            <a:xfrm>
              <a:off x="3853" y="1988"/>
              <a:ext cx="4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17" name="Line 85"/>
            <p:cNvSpPr>
              <a:spLocks noChangeShapeType="1"/>
            </p:cNvSpPr>
            <p:nvPr/>
          </p:nvSpPr>
          <p:spPr bwMode="auto">
            <a:xfrm>
              <a:off x="3865" y="2288"/>
              <a:ext cx="4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18" name="Text Box 86"/>
            <p:cNvSpPr txBox="1">
              <a:spLocks noChangeArrowheads="1"/>
            </p:cNvSpPr>
            <p:nvPr/>
          </p:nvSpPr>
          <p:spPr bwMode="auto">
            <a:xfrm>
              <a:off x="2315" y="1883"/>
              <a:ext cx="232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46519" name="Text Box 87"/>
            <p:cNvSpPr txBox="1">
              <a:spLocks noChangeArrowheads="1"/>
            </p:cNvSpPr>
            <p:nvPr/>
          </p:nvSpPr>
          <p:spPr bwMode="auto">
            <a:xfrm rot="19800000">
              <a:off x="2558" y="1487"/>
              <a:ext cx="212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46520" name="Text Box 88"/>
            <p:cNvSpPr txBox="1">
              <a:spLocks noChangeArrowheads="1"/>
            </p:cNvSpPr>
            <p:nvPr/>
          </p:nvSpPr>
          <p:spPr bwMode="auto">
            <a:xfrm rot="1800000">
              <a:off x="2774" y="1481"/>
              <a:ext cx="212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46521" name="Text Box 89"/>
            <p:cNvSpPr txBox="1">
              <a:spLocks noChangeArrowheads="1"/>
            </p:cNvSpPr>
            <p:nvPr/>
          </p:nvSpPr>
          <p:spPr bwMode="auto">
            <a:xfrm>
              <a:off x="2999" y="1871"/>
              <a:ext cx="232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46522" name="Text Box 90"/>
            <p:cNvSpPr txBox="1">
              <a:spLocks noChangeArrowheads="1"/>
            </p:cNvSpPr>
            <p:nvPr/>
          </p:nvSpPr>
          <p:spPr bwMode="auto">
            <a:xfrm>
              <a:off x="2834" y="1352"/>
              <a:ext cx="263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  <p:sp>
          <p:nvSpPr>
            <p:cNvPr id="146523" name="Text Box 91"/>
            <p:cNvSpPr txBox="1">
              <a:spLocks noChangeArrowheads="1"/>
            </p:cNvSpPr>
            <p:nvPr/>
          </p:nvSpPr>
          <p:spPr bwMode="auto">
            <a:xfrm>
              <a:off x="5089" y="1376"/>
              <a:ext cx="230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  <p:sp>
          <p:nvSpPr>
            <p:cNvPr id="146524" name="Text Box 92"/>
            <p:cNvSpPr txBox="1">
              <a:spLocks noChangeArrowheads="1"/>
            </p:cNvSpPr>
            <p:nvPr/>
          </p:nvSpPr>
          <p:spPr bwMode="auto">
            <a:xfrm>
              <a:off x="5104" y="1102"/>
              <a:ext cx="240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46525" name="Text Box 93"/>
            <p:cNvSpPr txBox="1">
              <a:spLocks noChangeArrowheads="1"/>
            </p:cNvSpPr>
            <p:nvPr/>
          </p:nvSpPr>
          <p:spPr bwMode="auto">
            <a:xfrm>
              <a:off x="5312" y="1484"/>
              <a:ext cx="241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146526" name="Text Box 94"/>
            <p:cNvSpPr txBox="1">
              <a:spLocks noChangeArrowheads="1"/>
            </p:cNvSpPr>
            <p:nvPr/>
          </p:nvSpPr>
          <p:spPr bwMode="auto">
            <a:xfrm>
              <a:off x="4795" y="1723"/>
              <a:ext cx="241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</a:p>
          </p:txBody>
        </p:sp>
        <p:graphicFrame>
          <p:nvGraphicFramePr>
            <p:cNvPr id="146527" name="Object 95"/>
            <p:cNvGraphicFramePr>
              <a:graphicFrameLocks noChangeAspect="1"/>
            </p:cNvGraphicFramePr>
            <p:nvPr/>
          </p:nvGraphicFramePr>
          <p:xfrm>
            <a:off x="2101" y="1496"/>
            <a:ext cx="28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696" name="Equation" r:id="rId3" imgW="228600" imgH="241200" progId="Equation.3">
                    <p:embed/>
                  </p:oleObj>
                </mc:Choice>
                <mc:Fallback>
                  <p:oleObj name="Equation" r:id="rId3" imgW="228600" imgH="241200" progId="Equation.3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1" y="1496"/>
                          <a:ext cx="285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528" name="Rectangle 96"/>
            <p:cNvSpPr>
              <a:spLocks noChangeArrowheads="1"/>
            </p:cNvSpPr>
            <p:nvPr/>
          </p:nvSpPr>
          <p:spPr bwMode="auto">
            <a:xfrm>
              <a:off x="5012" y="1155"/>
              <a:ext cx="102" cy="27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29" name="Rectangle 97"/>
            <p:cNvSpPr>
              <a:spLocks noChangeArrowheads="1"/>
            </p:cNvSpPr>
            <p:nvPr/>
          </p:nvSpPr>
          <p:spPr bwMode="auto">
            <a:xfrm rot="7200000">
              <a:off x="5255" y="1602"/>
              <a:ext cx="102" cy="27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30" name="Rectangle 98"/>
            <p:cNvSpPr>
              <a:spLocks noChangeArrowheads="1"/>
            </p:cNvSpPr>
            <p:nvPr/>
          </p:nvSpPr>
          <p:spPr bwMode="auto">
            <a:xfrm rot="14400000">
              <a:off x="4789" y="1591"/>
              <a:ext cx="102" cy="27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31" name="Rectangle 99"/>
            <p:cNvSpPr>
              <a:spLocks noChangeArrowheads="1"/>
            </p:cNvSpPr>
            <p:nvPr/>
          </p:nvSpPr>
          <p:spPr bwMode="auto">
            <a:xfrm>
              <a:off x="3529" y="987"/>
              <a:ext cx="288" cy="96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32" name="Rectangle 100"/>
            <p:cNvSpPr>
              <a:spLocks noChangeArrowheads="1"/>
            </p:cNvSpPr>
            <p:nvPr/>
          </p:nvSpPr>
          <p:spPr bwMode="auto">
            <a:xfrm>
              <a:off x="3565" y="2331"/>
              <a:ext cx="288" cy="96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33" name="Rectangle 101"/>
            <p:cNvSpPr>
              <a:spLocks noChangeArrowheads="1"/>
            </p:cNvSpPr>
            <p:nvPr/>
          </p:nvSpPr>
          <p:spPr bwMode="auto">
            <a:xfrm>
              <a:off x="3565" y="2043"/>
              <a:ext cx="288" cy="96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34" name="Text Box 102"/>
            <p:cNvSpPr txBox="1">
              <a:spLocks noChangeArrowheads="1"/>
            </p:cNvSpPr>
            <p:nvPr/>
          </p:nvSpPr>
          <p:spPr bwMode="auto">
            <a:xfrm>
              <a:off x="3529" y="2372"/>
              <a:ext cx="424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i="1" baseline="-25000">
                  <a:solidFill>
                    <a:schemeClr val="tx1"/>
                  </a:solidFill>
                </a:rPr>
                <a:t>l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46535" name="Rectangle 103"/>
            <p:cNvSpPr>
              <a:spLocks noChangeArrowheads="1"/>
            </p:cNvSpPr>
            <p:nvPr/>
          </p:nvSpPr>
          <p:spPr bwMode="auto">
            <a:xfrm>
              <a:off x="3529" y="1735"/>
              <a:ext cx="278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i="1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46536" name="Rectangle 104"/>
            <p:cNvSpPr>
              <a:spLocks noChangeArrowheads="1"/>
            </p:cNvSpPr>
            <p:nvPr/>
          </p:nvSpPr>
          <p:spPr bwMode="auto">
            <a:xfrm>
              <a:off x="3493" y="667"/>
              <a:ext cx="278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i="1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46537" name="Line 105"/>
            <p:cNvSpPr>
              <a:spLocks noChangeShapeType="1"/>
            </p:cNvSpPr>
            <p:nvPr/>
          </p:nvSpPr>
          <p:spPr bwMode="auto">
            <a:xfrm>
              <a:off x="2761" y="1599"/>
              <a:ext cx="230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38" name="Rectangle 106"/>
            <p:cNvSpPr>
              <a:spLocks noChangeArrowheads="1"/>
            </p:cNvSpPr>
            <p:nvPr/>
          </p:nvSpPr>
          <p:spPr bwMode="auto">
            <a:xfrm>
              <a:off x="3625" y="1551"/>
              <a:ext cx="288" cy="96"/>
            </a:xfrm>
            <a:prstGeom prst="rect">
              <a:avLst/>
            </a:prstGeom>
            <a:solidFill>
              <a:srgbClr val="FF3300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539" name="Text Box 107"/>
            <p:cNvSpPr txBox="1">
              <a:spLocks noChangeArrowheads="1"/>
            </p:cNvSpPr>
            <p:nvPr/>
          </p:nvSpPr>
          <p:spPr bwMode="auto">
            <a:xfrm>
              <a:off x="3687" y="1256"/>
              <a:ext cx="480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N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graphicFrame>
          <p:nvGraphicFramePr>
            <p:cNvPr id="146540" name="Object 108"/>
            <p:cNvGraphicFramePr>
              <a:graphicFrameLocks noChangeAspect="1"/>
            </p:cNvGraphicFramePr>
            <p:nvPr/>
          </p:nvGraphicFramePr>
          <p:xfrm>
            <a:off x="4545" y="1523"/>
            <a:ext cx="103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697" name="公式" r:id="rId5" imgW="164880" imgH="355320" progId="Equation.3">
                    <p:embed/>
                  </p:oleObj>
                </mc:Choice>
                <mc:Fallback>
                  <p:oleObj name="公式" r:id="rId5" imgW="164880" imgH="355320" progId="Equation.3">
                    <p:embed/>
                    <p:pic>
                      <p:nvPicPr>
                        <p:cNvPr id="0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5" y="1523"/>
                          <a:ext cx="103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6541" name="Group 109"/>
            <p:cNvGrpSpPr>
              <a:grpSpLocks/>
            </p:cNvGrpSpPr>
            <p:nvPr/>
          </p:nvGrpSpPr>
          <p:grpSpPr bwMode="auto">
            <a:xfrm>
              <a:off x="2650" y="1632"/>
              <a:ext cx="252" cy="263"/>
              <a:chOff x="1272" y="1531"/>
              <a:chExt cx="204" cy="227"/>
            </a:xfrm>
          </p:grpSpPr>
          <p:sp>
            <p:nvSpPr>
              <p:cNvPr id="146542" name="Line 110"/>
              <p:cNvSpPr>
                <a:spLocks noChangeShapeType="1"/>
              </p:cNvSpPr>
              <p:nvPr/>
            </p:nvSpPr>
            <p:spPr bwMode="auto">
              <a:xfrm flipV="1">
                <a:off x="1272" y="1668"/>
                <a:ext cx="20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543" name="Line 111"/>
              <p:cNvSpPr>
                <a:spLocks noChangeShapeType="1"/>
              </p:cNvSpPr>
              <p:nvPr/>
            </p:nvSpPr>
            <p:spPr bwMode="auto">
              <a:xfrm>
                <a:off x="1302" y="1716"/>
                <a:ext cx="132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544" name="Line 112"/>
              <p:cNvSpPr>
                <a:spLocks noChangeShapeType="1"/>
              </p:cNvSpPr>
              <p:nvPr/>
            </p:nvSpPr>
            <p:spPr bwMode="auto">
              <a:xfrm>
                <a:off x="1326" y="1758"/>
                <a:ext cx="87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545" name="Line 113"/>
              <p:cNvSpPr>
                <a:spLocks noChangeShapeType="1"/>
              </p:cNvSpPr>
              <p:nvPr/>
            </p:nvSpPr>
            <p:spPr bwMode="auto">
              <a:xfrm flipH="1">
                <a:off x="1371" y="1531"/>
                <a:ext cx="0" cy="137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46546" name="Object 114"/>
            <p:cNvGraphicFramePr>
              <a:graphicFrameLocks noChangeAspect="1"/>
            </p:cNvGraphicFramePr>
            <p:nvPr/>
          </p:nvGraphicFramePr>
          <p:xfrm>
            <a:off x="2762" y="1903"/>
            <a:ext cx="28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698" name="Equation" r:id="rId7" imgW="228600" imgH="228600" progId="Equation.3">
                    <p:embed/>
                  </p:oleObj>
                </mc:Choice>
                <mc:Fallback>
                  <p:oleObj name="Equation" r:id="rId7" imgW="228600" imgH="228600" progId="Equation.3">
                    <p:embed/>
                    <p:pic>
                      <p:nvPicPr>
                        <p:cNvPr id="0" name="Object 1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1903"/>
                          <a:ext cx="28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547" name="Object 115"/>
            <p:cNvGraphicFramePr>
              <a:graphicFrameLocks noChangeAspect="1"/>
            </p:cNvGraphicFramePr>
            <p:nvPr/>
          </p:nvGraphicFramePr>
          <p:xfrm>
            <a:off x="2348" y="1095"/>
            <a:ext cx="28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699" name="Equation" r:id="rId9" imgW="228600" imgH="228600" progId="Equation.3">
                    <p:embed/>
                  </p:oleObj>
                </mc:Choice>
                <mc:Fallback>
                  <p:oleObj name="Equation" r:id="rId9" imgW="228600" imgH="228600" progId="Equation.3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8" y="1095"/>
                          <a:ext cx="28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548" name="Object 116"/>
            <p:cNvGraphicFramePr>
              <a:graphicFrameLocks noChangeAspect="1"/>
            </p:cNvGraphicFramePr>
            <p:nvPr/>
          </p:nvGraphicFramePr>
          <p:xfrm>
            <a:off x="4309" y="2124"/>
            <a:ext cx="238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700" name="Equation" r:id="rId11" imgW="190440" imgH="241200" progId="Equation.3">
                    <p:embed/>
                  </p:oleObj>
                </mc:Choice>
                <mc:Fallback>
                  <p:oleObj name="Equation" r:id="rId11" imgW="190440" imgH="241200" progId="Equation.3">
                    <p:embed/>
                    <p:pic>
                      <p:nvPicPr>
                        <p:cNvPr id="0" name="Object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9" y="2124"/>
                          <a:ext cx="238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549" name="Object 117"/>
            <p:cNvGraphicFramePr>
              <a:graphicFrameLocks noChangeAspect="1"/>
            </p:cNvGraphicFramePr>
            <p:nvPr/>
          </p:nvGraphicFramePr>
          <p:xfrm>
            <a:off x="4309" y="1789"/>
            <a:ext cx="23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701" name="Equation" r:id="rId13" imgW="190440" imgH="228600" progId="Equation.3">
                    <p:embed/>
                  </p:oleObj>
                </mc:Choice>
                <mc:Fallback>
                  <p:oleObj name="Equation" r:id="rId13" imgW="190440" imgH="228600" progId="Equation.3">
                    <p:embed/>
                    <p:pic>
                      <p:nvPicPr>
                        <p:cNvPr id="0" name="Object 1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9" y="1789"/>
                          <a:ext cx="23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550" name="Object 118"/>
            <p:cNvGraphicFramePr>
              <a:graphicFrameLocks noChangeAspect="1"/>
            </p:cNvGraphicFramePr>
            <p:nvPr/>
          </p:nvGraphicFramePr>
          <p:xfrm>
            <a:off x="4286" y="761"/>
            <a:ext cx="23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702" name="Equation" r:id="rId15" imgW="190440" imgH="228600" progId="Equation.3">
                    <p:embed/>
                  </p:oleObj>
                </mc:Choice>
                <mc:Fallback>
                  <p:oleObj name="Equation" r:id="rId15" imgW="190440" imgH="228600" progId="Equation.3">
                    <p:embed/>
                    <p:pic>
                      <p:nvPicPr>
                        <p:cNvPr id="0" name="Object 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761"/>
                          <a:ext cx="23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6551" name="Object 119"/>
          <p:cNvGraphicFramePr>
            <a:graphicFrameLocks noChangeAspect="1"/>
          </p:cNvGraphicFramePr>
          <p:nvPr/>
        </p:nvGraphicFramePr>
        <p:xfrm>
          <a:off x="1663700" y="5172075"/>
          <a:ext cx="15367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03" name="Equation" r:id="rId17" imgW="799920" imgH="457200" progId="Equation.3">
                  <p:embed/>
                </p:oleObj>
              </mc:Choice>
              <mc:Fallback>
                <p:oleObj name="Equation" r:id="rId17" imgW="799920" imgH="457200" progId="Equation.3">
                  <p:embed/>
                  <p:pic>
                    <p:nvPicPr>
                      <p:cNvPr id="0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5172075"/>
                        <a:ext cx="15367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52" name="Object 120"/>
          <p:cNvGraphicFramePr>
            <a:graphicFrameLocks noChangeAspect="1"/>
          </p:cNvGraphicFramePr>
          <p:nvPr/>
        </p:nvGraphicFramePr>
        <p:xfrm>
          <a:off x="3835400" y="5191125"/>
          <a:ext cx="15684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04" name="Equation" r:id="rId19" imgW="1511280" imgH="812520" progId="Equation.3">
                  <p:embed/>
                </p:oleObj>
              </mc:Choice>
              <mc:Fallback>
                <p:oleObj name="Equation" r:id="rId19" imgW="1511280" imgH="812520" progId="Equation.3">
                  <p:embed/>
                  <p:pic>
                    <p:nvPicPr>
                      <p:cNvPr id="0" name="Object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400" y="5191125"/>
                        <a:ext cx="156845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53" name="Object 121"/>
          <p:cNvGraphicFramePr>
            <a:graphicFrameLocks noChangeAspect="1"/>
          </p:cNvGraphicFramePr>
          <p:nvPr/>
        </p:nvGraphicFramePr>
        <p:xfrm>
          <a:off x="6330950" y="5114925"/>
          <a:ext cx="161766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05" name="Equation" r:id="rId21" imgW="1511280" imgH="812520" progId="Equation.3">
                  <p:embed/>
                </p:oleObj>
              </mc:Choice>
              <mc:Fallback>
                <p:oleObj name="Equation" r:id="rId21" imgW="1511280" imgH="812520" progId="Equation.3">
                  <p:embed/>
                  <p:pic>
                    <p:nvPicPr>
                      <p:cNvPr id="0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950" y="5114925"/>
                        <a:ext cx="1617663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554" name="Text Box 122"/>
          <p:cNvSpPr txBox="1">
            <a:spLocks noChangeArrowheads="1"/>
          </p:cNvSpPr>
          <p:nvPr/>
        </p:nvSpPr>
        <p:spPr bwMode="auto">
          <a:xfrm>
            <a:off x="673100" y="4737100"/>
            <a:ext cx="272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则三相负载电流为</a:t>
            </a:r>
            <a:r>
              <a:rPr lang="en-US" altLang="zh-CN"/>
              <a:t>:</a:t>
            </a:r>
          </a:p>
        </p:txBody>
      </p:sp>
      <p:graphicFrame>
        <p:nvGraphicFramePr>
          <p:cNvPr id="146555" name="Object 123"/>
          <p:cNvGraphicFramePr>
            <a:graphicFrameLocks noChangeAspect="1"/>
          </p:cNvGraphicFramePr>
          <p:nvPr/>
        </p:nvGraphicFramePr>
        <p:xfrm>
          <a:off x="3468688" y="4103688"/>
          <a:ext cx="12573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06" name="Equation" r:id="rId23" imgW="457200" imgH="228600" progId="Equation.3">
                  <p:embed/>
                </p:oleObj>
              </mc:Choice>
              <mc:Fallback>
                <p:oleObj name="Equation" r:id="rId23" imgW="457200" imgH="228600" progId="Equation.3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688" y="4103688"/>
                        <a:ext cx="12573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556" name="Text Box 124"/>
          <p:cNvSpPr txBox="1">
            <a:spLocks noChangeArrowheads="1"/>
          </p:cNvSpPr>
          <p:nvPr/>
        </p:nvSpPr>
        <p:spPr bwMode="auto">
          <a:xfrm>
            <a:off x="574675" y="4041775"/>
            <a:ext cx="2419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由节点方程解得</a:t>
            </a:r>
            <a:r>
              <a:rPr lang="en-US" altLang="zh-CN"/>
              <a:t>:</a:t>
            </a:r>
          </a:p>
        </p:txBody>
      </p:sp>
      <p:sp>
        <p:nvSpPr>
          <p:cNvPr id="146557" name="Rectangle 125"/>
          <p:cNvSpPr>
            <a:spLocks noChangeArrowheads="1"/>
          </p:cNvSpPr>
          <p:nvPr/>
        </p:nvSpPr>
        <p:spPr bwMode="auto">
          <a:xfrm>
            <a:off x="3675063" y="6097588"/>
            <a:ext cx="282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三相相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线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r>
              <a:rPr lang="zh-CN" altLang="en-US">
                <a:solidFill>
                  <a:srgbClr val="FF0000"/>
                </a:solidFill>
              </a:rPr>
              <a:t>电流对称</a:t>
            </a:r>
          </a:p>
        </p:txBody>
      </p:sp>
      <p:sp>
        <p:nvSpPr>
          <p:cNvPr id="146558" name="Text Box 126"/>
          <p:cNvSpPr txBox="1">
            <a:spLocks noChangeArrowheads="1"/>
          </p:cNvSpPr>
          <p:nvPr/>
        </p:nvSpPr>
        <p:spPr bwMode="auto">
          <a:xfrm>
            <a:off x="6324600" y="1006475"/>
            <a:ext cx="2500313" cy="1150938"/>
          </a:xfrm>
          <a:prstGeom prst="rect">
            <a:avLst/>
          </a:prstGeom>
          <a:solidFill>
            <a:srgbClr val="CC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N</a:t>
            </a:r>
            <a:r>
              <a:rPr lang="zh-CN" altLang="en-US">
                <a:solidFill>
                  <a:schemeClr val="tx1"/>
                </a:solidFill>
              </a:rPr>
              <a:t>点为参考点</a:t>
            </a:r>
            <a:r>
              <a:rPr lang="en-US" altLang="zh-CN">
                <a:solidFill>
                  <a:schemeClr val="tx1"/>
                </a:solidFill>
              </a:rPr>
              <a:t>,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列写节点方程</a:t>
            </a:r>
          </a:p>
        </p:txBody>
      </p:sp>
      <p:graphicFrame>
        <p:nvGraphicFramePr>
          <p:cNvPr id="146559" name="Object 127"/>
          <p:cNvGraphicFramePr>
            <a:graphicFrameLocks noChangeAspect="1"/>
          </p:cNvGraphicFramePr>
          <p:nvPr/>
        </p:nvGraphicFramePr>
        <p:xfrm>
          <a:off x="1430338" y="2959100"/>
          <a:ext cx="451643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07" name="Equation" r:id="rId25" imgW="2184120" imgH="457200" progId="Equation.3">
                  <p:embed/>
                </p:oleObj>
              </mc:Choice>
              <mc:Fallback>
                <p:oleObj name="Equation" r:id="rId25" imgW="2184120" imgH="457200" progId="Equation.3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2959100"/>
                        <a:ext cx="451643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4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6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4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554" grpId="0" build="p" autoUpdateAnimBg="0"/>
      <p:bldP spid="146556" grpId="0" autoUpdateAnimBg="0"/>
      <p:bldP spid="146557" grpId="0" autoUpdateAnimBg="0"/>
      <p:bldP spid="146558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8" name="Text Box 68"/>
          <p:cNvSpPr txBox="1">
            <a:spLocks noChangeArrowheads="1"/>
          </p:cNvSpPr>
          <p:nvPr/>
        </p:nvSpPr>
        <p:spPr bwMode="auto">
          <a:xfrm>
            <a:off x="2024063" y="2720975"/>
            <a:ext cx="408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） 每相计算具有独立性。</a:t>
            </a:r>
          </a:p>
        </p:txBody>
      </p:sp>
      <p:graphicFrame>
        <p:nvGraphicFramePr>
          <p:cNvPr id="81989" name="Object 69"/>
          <p:cNvGraphicFramePr>
            <a:graphicFrameLocks noChangeAspect="1"/>
          </p:cNvGraphicFramePr>
          <p:nvPr/>
        </p:nvGraphicFramePr>
        <p:xfrm>
          <a:off x="4527550" y="850900"/>
          <a:ext cx="3200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5" name="Equation" r:id="rId3" imgW="3200400" imgH="393480" progId="Equation.3">
                  <p:embed/>
                </p:oleObj>
              </mc:Choice>
              <mc:Fallback>
                <p:oleObj name="Equation" r:id="rId3" imgW="3200400" imgH="39348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550" y="850900"/>
                        <a:ext cx="3200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0" name="Text Box 70"/>
          <p:cNvSpPr txBox="1">
            <a:spLocks noChangeArrowheads="1"/>
          </p:cNvSpPr>
          <p:nvPr/>
        </p:nvSpPr>
        <p:spPr bwMode="auto">
          <a:xfrm>
            <a:off x="363538" y="400050"/>
            <a:ext cx="171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电路特点：</a:t>
            </a:r>
          </a:p>
        </p:txBody>
      </p:sp>
      <p:sp>
        <p:nvSpPr>
          <p:cNvPr id="82026" name="Rectangle 106"/>
          <p:cNvSpPr>
            <a:spLocks noChangeArrowheads="1"/>
          </p:cNvSpPr>
          <p:nvPr/>
        </p:nvSpPr>
        <p:spPr bwMode="auto">
          <a:xfrm>
            <a:off x="1806575" y="361950"/>
            <a:ext cx="5084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  各相电压、电流都是对称的；</a:t>
            </a:r>
          </a:p>
        </p:txBody>
      </p:sp>
      <p:grpSp>
        <p:nvGrpSpPr>
          <p:cNvPr id="82038" name="Group 118"/>
          <p:cNvGrpSpPr>
            <a:grpSpLocks/>
          </p:cNvGrpSpPr>
          <p:nvPr/>
        </p:nvGrpSpPr>
        <p:grpSpPr bwMode="auto">
          <a:xfrm>
            <a:off x="2208213" y="1357313"/>
            <a:ext cx="5386387" cy="1320800"/>
            <a:chOff x="1367" y="2966"/>
            <a:chExt cx="3393" cy="832"/>
          </a:xfrm>
        </p:grpSpPr>
        <p:grpSp>
          <p:nvGrpSpPr>
            <p:cNvPr id="82032" name="Group 112"/>
            <p:cNvGrpSpPr>
              <a:grpSpLocks/>
            </p:cNvGrpSpPr>
            <p:nvPr/>
          </p:nvGrpSpPr>
          <p:grpSpPr bwMode="auto">
            <a:xfrm>
              <a:off x="1880" y="2966"/>
              <a:ext cx="2880" cy="832"/>
              <a:chOff x="1454" y="2294"/>
              <a:chExt cx="2880" cy="832"/>
            </a:xfrm>
          </p:grpSpPr>
          <p:sp>
            <p:nvSpPr>
              <p:cNvPr id="82023" name="Rectangle 103"/>
              <p:cNvSpPr>
                <a:spLocks noChangeArrowheads="1"/>
              </p:cNvSpPr>
              <p:nvPr/>
            </p:nvSpPr>
            <p:spPr bwMode="auto">
              <a:xfrm>
                <a:off x="2240" y="2555"/>
                <a:ext cx="209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>
                    <a:solidFill>
                      <a:schemeClr val="tx1"/>
                    </a:solidFill>
                  </a:rPr>
                  <a:t>对电路情况没有影响 ；</a:t>
                </a:r>
              </a:p>
            </p:txBody>
          </p:sp>
          <p:graphicFrame>
            <p:nvGraphicFramePr>
              <p:cNvPr id="82024" name="Object 104"/>
              <p:cNvGraphicFramePr>
                <a:graphicFrameLocks noChangeAspect="1"/>
              </p:cNvGraphicFramePr>
              <p:nvPr/>
            </p:nvGraphicFramePr>
            <p:xfrm>
              <a:off x="1454" y="2294"/>
              <a:ext cx="715" cy="8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076" name="Equation" r:id="rId5" imgW="1130040" imgH="1320480" progId="Equation.3">
                      <p:embed/>
                    </p:oleObj>
                  </mc:Choice>
                  <mc:Fallback>
                    <p:oleObj name="Equation" r:id="rId5" imgW="1130040" imgH="1320480" progId="Equation.3">
                      <p:embed/>
                      <p:pic>
                        <p:nvPicPr>
                          <p:cNvPr id="0" name="Object 10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54" y="2294"/>
                            <a:ext cx="715" cy="8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2035" name="Text Box 115"/>
            <p:cNvSpPr txBox="1">
              <a:spLocks noChangeArrowheads="1"/>
            </p:cNvSpPr>
            <p:nvPr/>
          </p:nvSpPr>
          <p:spPr bwMode="auto">
            <a:xfrm>
              <a:off x="1367" y="3201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即</a:t>
              </a:r>
            </a:p>
          </p:txBody>
        </p:sp>
      </p:grpSp>
      <p:sp>
        <p:nvSpPr>
          <p:cNvPr id="82036" name="Rectangle 116"/>
          <p:cNvSpPr>
            <a:spLocks noChangeArrowheads="1"/>
          </p:cNvSpPr>
          <p:nvPr/>
        </p:nvSpPr>
        <p:spPr bwMode="auto">
          <a:xfrm>
            <a:off x="1806575" y="814388"/>
            <a:ext cx="2624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 中线无电流</a:t>
            </a:r>
          </a:p>
        </p:txBody>
      </p:sp>
      <p:grpSp>
        <p:nvGrpSpPr>
          <p:cNvPr id="82043" name="Group 123"/>
          <p:cNvGrpSpPr>
            <a:grpSpLocks/>
          </p:cNvGrpSpPr>
          <p:nvPr/>
        </p:nvGrpSpPr>
        <p:grpSpPr bwMode="auto">
          <a:xfrm>
            <a:off x="1101725" y="3184525"/>
            <a:ext cx="5867400" cy="741363"/>
            <a:chOff x="754" y="3313"/>
            <a:chExt cx="3696" cy="467"/>
          </a:xfrm>
        </p:grpSpPr>
        <p:sp>
          <p:nvSpPr>
            <p:cNvPr id="82039" name="Rectangle 119"/>
            <p:cNvSpPr>
              <a:spLocks noChangeArrowheads="1"/>
            </p:cNvSpPr>
            <p:nvPr/>
          </p:nvSpPr>
          <p:spPr bwMode="auto">
            <a:xfrm>
              <a:off x="754" y="3492"/>
              <a:ext cx="18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CC3300"/>
                  </a:solidFill>
                  <a:latin typeface="宋体" panose="02010600030101010101" pitchFamily="2" charset="-122"/>
                </a:rPr>
                <a:t>对称三相电路的计算</a:t>
              </a:r>
            </a:p>
          </p:txBody>
        </p:sp>
        <p:sp>
          <p:nvSpPr>
            <p:cNvPr id="82040" name="AutoShape 120"/>
            <p:cNvSpPr>
              <a:spLocks noChangeArrowheads="1"/>
            </p:cNvSpPr>
            <p:nvPr/>
          </p:nvSpPr>
          <p:spPr bwMode="auto">
            <a:xfrm>
              <a:off x="2724" y="3576"/>
              <a:ext cx="672" cy="104"/>
            </a:xfrm>
            <a:prstGeom prst="rightArrow">
              <a:avLst>
                <a:gd name="adj1" fmla="val 50000"/>
                <a:gd name="adj2" fmla="val 16153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41" name="Text Box 121"/>
            <p:cNvSpPr txBox="1">
              <a:spLocks noChangeArrowheads="1"/>
            </p:cNvSpPr>
            <p:nvPr/>
          </p:nvSpPr>
          <p:spPr bwMode="auto">
            <a:xfrm>
              <a:off x="3554" y="3481"/>
              <a:ext cx="8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990033"/>
                  </a:solidFill>
                </a:rPr>
                <a:t>分相计算</a:t>
              </a:r>
            </a:p>
          </p:txBody>
        </p:sp>
        <p:sp>
          <p:nvSpPr>
            <p:cNvPr id="82042" name="Text Box 122"/>
            <p:cNvSpPr txBox="1">
              <a:spLocks noChangeArrowheads="1"/>
            </p:cNvSpPr>
            <p:nvPr/>
          </p:nvSpPr>
          <p:spPr bwMode="auto">
            <a:xfrm>
              <a:off x="2702" y="3313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归结为</a:t>
              </a:r>
            </a:p>
          </p:txBody>
        </p:sp>
      </p:grpSp>
      <p:sp>
        <p:nvSpPr>
          <p:cNvPr id="82044" name="Text Box 124"/>
          <p:cNvSpPr txBox="1">
            <a:spLocks noChangeArrowheads="1"/>
          </p:cNvSpPr>
          <p:nvPr/>
        </p:nvSpPr>
        <p:spPr bwMode="auto">
          <a:xfrm>
            <a:off x="941388" y="5859463"/>
            <a:ext cx="6234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） 由对称性推出其它二相的电压、电流。</a:t>
            </a:r>
          </a:p>
        </p:txBody>
      </p:sp>
      <p:sp>
        <p:nvSpPr>
          <p:cNvPr id="82045" name="Rectangle 125"/>
          <p:cNvSpPr>
            <a:spLocks noChangeArrowheads="1"/>
          </p:cNvSpPr>
          <p:nvPr/>
        </p:nvSpPr>
        <p:spPr bwMode="auto">
          <a:xfrm>
            <a:off x="503238" y="4017963"/>
            <a:ext cx="51137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Y </a:t>
            </a:r>
            <a:r>
              <a:rPr lang="zh-CN" altLang="en-US" dirty="0"/>
              <a:t>接对称三相电路的分相计算步骤：</a:t>
            </a:r>
          </a:p>
        </p:txBody>
      </p:sp>
      <p:sp>
        <p:nvSpPr>
          <p:cNvPr id="82046" name="Text Box 126"/>
          <p:cNvSpPr txBox="1">
            <a:spLocks noChangeArrowheads="1"/>
          </p:cNvSpPr>
          <p:nvPr/>
        </p:nvSpPr>
        <p:spPr bwMode="auto">
          <a:xfrm>
            <a:off x="969963" y="4640263"/>
            <a:ext cx="72362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 以一相为例（一般为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相），分相计算电路。</a:t>
            </a:r>
          </a:p>
        </p:txBody>
      </p:sp>
      <p:sp>
        <p:nvSpPr>
          <p:cNvPr id="82047" name="Text Box 127"/>
          <p:cNvSpPr txBox="1">
            <a:spLocks noChangeArrowheads="1"/>
          </p:cNvSpPr>
          <p:nvPr/>
        </p:nvSpPr>
        <p:spPr bwMode="auto">
          <a:xfrm>
            <a:off x="1000125" y="5226050"/>
            <a:ext cx="646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）由单相计算电路计算待求的电压、电流。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2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82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2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82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8" grpId="0" autoUpdateAnimBg="0"/>
      <p:bldP spid="82026" grpId="0" autoUpdateAnimBg="0"/>
      <p:bldP spid="82036" grpId="0" build="p" autoUpdateAnimBg="0"/>
      <p:bldP spid="82044" grpId="0" build="p" autoUpdateAnimBg="0"/>
      <p:bldP spid="82045" grpId="0" build="p" autoUpdateAnimBg="0"/>
      <p:bldP spid="82046" grpId="0" build="p" autoUpdateAnimBg="0"/>
      <p:bldP spid="8204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134" name="Object 166"/>
          <p:cNvGraphicFramePr>
            <a:graphicFrameLocks noChangeAspect="1"/>
          </p:cNvGraphicFramePr>
          <p:nvPr/>
        </p:nvGraphicFramePr>
        <p:xfrm>
          <a:off x="5511800" y="5267325"/>
          <a:ext cx="27559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07" name="Equation" r:id="rId3" imgW="1282680" imgH="241200" progId="Equation.3">
                  <p:embed/>
                </p:oleObj>
              </mc:Choice>
              <mc:Fallback>
                <p:oleObj name="Equation" r:id="rId3" imgW="1282680" imgH="241200" progId="Equation.3">
                  <p:embed/>
                  <p:pic>
                    <p:nvPicPr>
                      <p:cNvPr id="0" name="Object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1800" y="5267325"/>
                        <a:ext cx="27559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94" name="Object 226"/>
          <p:cNvGraphicFramePr>
            <a:graphicFrameLocks noChangeAspect="1"/>
          </p:cNvGraphicFramePr>
          <p:nvPr/>
        </p:nvGraphicFramePr>
        <p:xfrm>
          <a:off x="5384800" y="4486275"/>
          <a:ext cx="302101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08" name="Equation" r:id="rId5" imgW="1384200" imgH="228600" progId="Equation.3">
                  <p:embed/>
                </p:oleObj>
              </mc:Choice>
              <mc:Fallback>
                <p:oleObj name="Equation" r:id="rId5" imgW="1384200" imgH="228600" progId="Equation.3">
                  <p:embed/>
                  <p:pic>
                    <p:nvPicPr>
                      <p:cNvPr id="0" name="Object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800" y="4486275"/>
                        <a:ext cx="3021013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196" name="Rectangle 228"/>
          <p:cNvSpPr>
            <a:spLocks noChangeArrowheads="1"/>
          </p:cNvSpPr>
          <p:nvPr/>
        </p:nvSpPr>
        <p:spPr bwMode="auto">
          <a:xfrm>
            <a:off x="350838" y="3084513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解：</a:t>
            </a:r>
            <a:endParaRPr lang="zh-CN" altLang="en-US"/>
          </a:p>
        </p:txBody>
      </p:sp>
      <p:grpSp>
        <p:nvGrpSpPr>
          <p:cNvPr id="84249" name="Group 281"/>
          <p:cNvGrpSpPr>
            <a:grpSpLocks/>
          </p:cNvGrpSpPr>
          <p:nvPr/>
        </p:nvGrpSpPr>
        <p:grpSpPr bwMode="auto">
          <a:xfrm>
            <a:off x="215900" y="238125"/>
            <a:ext cx="8928100" cy="2762250"/>
            <a:chOff x="136" y="150"/>
            <a:chExt cx="5624" cy="1740"/>
          </a:xfrm>
        </p:grpSpPr>
        <p:grpSp>
          <p:nvGrpSpPr>
            <p:cNvPr id="84248" name="Group 280"/>
            <p:cNvGrpSpPr>
              <a:grpSpLocks/>
            </p:cNvGrpSpPr>
            <p:nvPr/>
          </p:nvGrpSpPr>
          <p:grpSpPr bwMode="auto">
            <a:xfrm>
              <a:off x="136" y="278"/>
              <a:ext cx="5624" cy="1071"/>
              <a:chOff x="136" y="278"/>
              <a:chExt cx="5624" cy="1071"/>
            </a:xfrm>
          </p:grpSpPr>
          <p:sp>
            <p:nvSpPr>
              <p:cNvPr id="84197" name="Text Box 229"/>
              <p:cNvSpPr txBox="1">
                <a:spLocks noChangeArrowheads="1"/>
              </p:cNvSpPr>
              <p:nvPr/>
            </p:nvSpPr>
            <p:spPr bwMode="auto">
              <a:xfrm>
                <a:off x="136" y="278"/>
                <a:ext cx="5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>
                    <a:solidFill>
                      <a:srgbClr val="FF0000"/>
                    </a:solidFill>
                  </a:rPr>
                  <a:t>例</a:t>
                </a:r>
              </a:p>
            </p:txBody>
          </p:sp>
          <p:sp>
            <p:nvSpPr>
              <p:cNvPr id="84229" name="Text Box 261"/>
              <p:cNvSpPr txBox="1">
                <a:spLocks noChangeArrowheads="1"/>
              </p:cNvSpPr>
              <p:nvPr/>
            </p:nvSpPr>
            <p:spPr bwMode="auto">
              <a:xfrm>
                <a:off x="2628" y="342"/>
                <a:ext cx="3132" cy="6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666750" indent="-666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8572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047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zh-CN" altLang="en-US"/>
                  <a:t>已知对称三相电源线电压为</a:t>
                </a:r>
                <a:r>
                  <a:rPr lang="en-US" altLang="zh-CN"/>
                  <a:t>380V</a:t>
                </a:r>
                <a:r>
                  <a:rPr lang="zh-CN" altLang="en-US"/>
                  <a:t>，</a:t>
                </a:r>
                <a:r>
                  <a:rPr lang="en-US" altLang="zh-CN" i="1"/>
                  <a:t>Z</a:t>
                </a:r>
                <a:r>
                  <a:rPr lang="en-US" altLang="zh-CN"/>
                  <a:t>=6.4+j4.8</a:t>
                </a:r>
                <a:r>
                  <a:rPr lang="en-US" altLang="zh-CN">
                    <a:sym typeface="Symbol" panose="05050102010706020507" pitchFamily="18" charset="2"/>
                  </a:rPr>
                  <a:t></a:t>
                </a:r>
                <a:r>
                  <a:rPr lang="zh-CN" altLang="en-US">
                    <a:sym typeface="Symbol" panose="05050102010706020507" pitchFamily="18" charset="2"/>
                  </a:rPr>
                  <a:t>， </a:t>
                </a:r>
                <a:r>
                  <a:rPr lang="en-US" altLang="zh-CN" i="1"/>
                  <a:t>Z</a:t>
                </a:r>
                <a:r>
                  <a:rPr lang="en-US" altLang="zh-CN" i="1" baseline="-25000"/>
                  <a:t>l </a:t>
                </a:r>
                <a:r>
                  <a:rPr lang="en-US" altLang="zh-CN"/>
                  <a:t>=3+j4</a:t>
                </a:r>
                <a:r>
                  <a:rPr lang="en-US" altLang="zh-CN">
                    <a:sym typeface="Symbol" panose="05050102010706020507" pitchFamily="18" charset="2"/>
                  </a:rPr>
                  <a:t></a:t>
                </a:r>
                <a:r>
                  <a:rPr lang="zh-CN" altLang="en-US">
                    <a:sym typeface="Symbol" panose="05050102010706020507" pitchFamily="18" charset="2"/>
                  </a:rPr>
                  <a:t>。</a:t>
                </a:r>
              </a:p>
            </p:txBody>
          </p:sp>
          <p:sp>
            <p:nvSpPr>
              <p:cNvPr id="84236" name="Text Box 268"/>
              <p:cNvSpPr txBox="1">
                <a:spLocks noChangeArrowheads="1"/>
              </p:cNvSpPr>
              <p:nvPr/>
            </p:nvSpPr>
            <p:spPr bwMode="auto">
              <a:xfrm>
                <a:off x="2922" y="1061"/>
                <a:ext cx="2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>
                    <a:solidFill>
                      <a:schemeClr val="tx1"/>
                    </a:solidFill>
                  </a:rPr>
                  <a:t>求负载</a:t>
                </a: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zh-CN" altLang="en-US">
                    <a:solidFill>
                      <a:schemeClr val="tx1"/>
                    </a:solidFill>
                  </a:rPr>
                  <a:t>的相电压和电流。</a:t>
                </a:r>
              </a:p>
            </p:txBody>
          </p:sp>
        </p:grpSp>
        <p:grpSp>
          <p:nvGrpSpPr>
            <p:cNvPr id="84238" name="Group 270"/>
            <p:cNvGrpSpPr>
              <a:grpSpLocks/>
            </p:cNvGrpSpPr>
            <p:nvPr/>
          </p:nvGrpSpPr>
          <p:grpSpPr bwMode="auto">
            <a:xfrm>
              <a:off x="666" y="150"/>
              <a:ext cx="1921" cy="1740"/>
              <a:chOff x="666" y="150"/>
              <a:chExt cx="1921" cy="1740"/>
            </a:xfrm>
          </p:grpSpPr>
          <p:grpSp>
            <p:nvGrpSpPr>
              <p:cNvPr id="84234" name="Group 266"/>
              <p:cNvGrpSpPr>
                <a:grpSpLocks/>
              </p:cNvGrpSpPr>
              <p:nvPr/>
            </p:nvGrpSpPr>
            <p:grpSpPr bwMode="auto">
              <a:xfrm>
                <a:off x="666" y="150"/>
                <a:ext cx="1921" cy="1740"/>
                <a:chOff x="655" y="218"/>
                <a:chExt cx="1921" cy="1740"/>
              </a:xfrm>
            </p:grpSpPr>
            <p:sp>
              <p:nvSpPr>
                <p:cNvPr id="84199" name="Line 231"/>
                <p:cNvSpPr>
                  <a:spLocks noChangeShapeType="1"/>
                </p:cNvSpPr>
                <p:nvPr/>
              </p:nvSpPr>
              <p:spPr bwMode="auto">
                <a:xfrm flipV="1">
                  <a:off x="929" y="547"/>
                  <a:ext cx="114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00" name="Line 232"/>
                <p:cNvSpPr>
                  <a:spLocks noChangeShapeType="1"/>
                </p:cNvSpPr>
                <p:nvPr/>
              </p:nvSpPr>
              <p:spPr bwMode="auto">
                <a:xfrm flipV="1">
                  <a:off x="921" y="1449"/>
                  <a:ext cx="67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01" name="Freeform 233"/>
                <p:cNvSpPr>
                  <a:spLocks/>
                </p:cNvSpPr>
                <p:nvPr/>
              </p:nvSpPr>
              <p:spPr bwMode="auto">
                <a:xfrm flipH="1">
                  <a:off x="937" y="1442"/>
                  <a:ext cx="1622" cy="365"/>
                </a:xfrm>
                <a:custGeom>
                  <a:avLst/>
                  <a:gdLst>
                    <a:gd name="T0" fmla="*/ 0 w 2184"/>
                    <a:gd name="T1" fmla="*/ 0 h 426"/>
                    <a:gd name="T2" fmla="*/ 0 w 2184"/>
                    <a:gd name="T3" fmla="*/ 426 h 426"/>
                    <a:gd name="T4" fmla="*/ 2184 w 2184"/>
                    <a:gd name="T5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84" h="426">
                      <a:moveTo>
                        <a:pt x="0" y="0"/>
                      </a:moveTo>
                      <a:lnTo>
                        <a:pt x="0" y="426"/>
                      </a:lnTo>
                      <a:lnTo>
                        <a:pt x="2184" y="426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02" name="Oval 234"/>
                <p:cNvSpPr>
                  <a:spLocks noChangeArrowheads="1"/>
                </p:cNvSpPr>
                <p:nvPr/>
              </p:nvSpPr>
              <p:spPr bwMode="auto">
                <a:xfrm>
                  <a:off x="883" y="526"/>
                  <a:ext cx="38" cy="4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03" name="Oval 235"/>
                <p:cNvSpPr>
                  <a:spLocks noChangeArrowheads="1"/>
                </p:cNvSpPr>
                <p:nvPr/>
              </p:nvSpPr>
              <p:spPr bwMode="auto">
                <a:xfrm>
                  <a:off x="883" y="1423"/>
                  <a:ext cx="38" cy="4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04" name="Oval 236"/>
                <p:cNvSpPr>
                  <a:spLocks noChangeArrowheads="1"/>
                </p:cNvSpPr>
                <p:nvPr/>
              </p:nvSpPr>
              <p:spPr bwMode="auto">
                <a:xfrm>
                  <a:off x="893" y="1782"/>
                  <a:ext cx="45" cy="4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05" name="Text Box 237"/>
                <p:cNvSpPr txBox="1">
                  <a:spLocks noChangeArrowheads="1"/>
                </p:cNvSpPr>
                <p:nvPr/>
              </p:nvSpPr>
              <p:spPr bwMode="auto">
                <a:xfrm>
                  <a:off x="657" y="396"/>
                  <a:ext cx="23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84206" name="Text Box 238"/>
                <p:cNvSpPr txBox="1">
                  <a:spLocks noChangeArrowheads="1"/>
                </p:cNvSpPr>
                <p:nvPr/>
              </p:nvSpPr>
              <p:spPr bwMode="auto">
                <a:xfrm>
                  <a:off x="657" y="1304"/>
                  <a:ext cx="23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chemeClr val="tx1"/>
                      </a:solidFill>
                    </a:rPr>
                    <a:t>B</a:t>
                  </a:r>
                </a:p>
              </p:txBody>
            </p:sp>
            <p:sp>
              <p:nvSpPr>
                <p:cNvPr id="84207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655" y="1670"/>
                  <a:ext cx="23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84208" name="Rectangle 240"/>
                <p:cNvSpPr>
                  <a:spLocks noChangeArrowheads="1"/>
                </p:cNvSpPr>
                <p:nvPr/>
              </p:nvSpPr>
              <p:spPr bwMode="auto">
                <a:xfrm>
                  <a:off x="2027" y="732"/>
                  <a:ext cx="82" cy="251"/>
                </a:xfrm>
                <a:prstGeom prst="rect">
                  <a:avLst/>
                </a:prstGeom>
                <a:solidFill>
                  <a:schemeClr val="accent1"/>
                </a:solidFill>
                <a:ln w="317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09" name="Line 241"/>
                <p:cNvSpPr>
                  <a:spLocks noChangeShapeType="1"/>
                </p:cNvSpPr>
                <p:nvPr/>
              </p:nvSpPr>
              <p:spPr bwMode="auto">
                <a:xfrm>
                  <a:off x="2072" y="548"/>
                  <a:ext cx="0" cy="1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10" name="Line 242"/>
                <p:cNvSpPr>
                  <a:spLocks noChangeShapeType="1"/>
                </p:cNvSpPr>
                <p:nvPr/>
              </p:nvSpPr>
              <p:spPr bwMode="auto">
                <a:xfrm>
                  <a:off x="2072" y="988"/>
                  <a:ext cx="0" cy="1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12" name="Rectangle 244"/>
                <p:cNvSpPr>
                  <a:spLocks noChangeArrowheads="1"/>
                </p:cNvSpPr>
                <p:nvPr/>
              </p:nvSpPr>
              <p:spPr bwMode="auto">
                <a:xfrm rot="7200000">
                  <a:off x="2259" y="1175"/>
                  <a:ext cx="87" cy="235"/>
                </a:xfrm>
                <a:prstGeom prst="rect">
                  <a:avLst/>
                </a:prstGeom>
                <a:solidFill>
                  <a:schemeClr val="accent1"/>
                </a:solidFill>
                <a:ln w="317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13" name="Line 245"/>
                <p:cNvSpPr>
                  <a:spLocks noChangeShapeType="1"/>
                </p:cNvSpPr>
                <p:nvPr/>
              </p:nvSpPr>
              <p:spPr bwMode="auto">
                <a:xfrm rot="7200000">
                  <a:off x="2482" y="1306"/>
                  <a:ext cx="0" cy="1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14" name="Line 246"/>
                <p:cNvSpPr>
                  <a:spLocks noChangeShapeType="1"/>
                </p:cNvSpPr>
                <p:nvPr/>
              </p:nvSpPr>
              <p:spPr bwMode="auto">
                <a:xfrm rot="7200000">
                  <a:off x="2133" y="1118"/>
                  <a:ext cx="0" cy="15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16" name="Rectangle 248"/>
                <p:cNvSpPr>
                  <a:spLocks noChangeArrowheads="1"/>
                </p:cNvSpPr>
                <p:nvPr/>
              </p:nvSpPr>
              <p:spPr bwMode="auto">
                <a:xfrm rot="14400000">
                  <a:off x="1789" y="1182"/>
                  <a:ext cx="87" cy="235"/>
                </a:xfrm>
                <a:prstGeom prst="rect">
                  <a:avLst/>
                </a:prstGeom>
                <a:solidFill>
                  <a:schemeClr val="accent1"/>
                </a:solidFill>
                <a:ln w="317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17" name="Line 249"/>
                <p:cNvSpPr>
                  <a:spLocks noChangeShapeType="1"/>
                </p:cNvSpPr>
                <p:nvPr/>
              </p:nvSpPr>
              <p:spPr bwMode="auto">
                <a:xfrm rot="14400000">
                  <a:off x="1657" y="1319"/>
                  <a:ext cx="0" cy="1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18" name="Line 250"/>
                <p:cNvSpPr>
                  <a:spLocks noChangeShapeType="1"/>
                </p:cNvSpPr>
                <p:nvPr/>
              </p:nvSpPr>
              <p:spPr bwMode="auto">
                <a:xfrm rot="14400000">
                  <a:off x="2001" y="1121"/>
                  <a:ext cx="0" cy="15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19" name="Oval 251"/>
                <p:cNvSpPr>
                  <a:spLocks noChangeArrowheads="1"/>
                </p:cNvSpPr>
                <p:nvPr/>
              </p:nvSpPr>
              <p:spPr bwMode="auto">
                <a:xfrm>
                  <a:off x="2046" y="1148"/>
                  <a:ext cx="36" cy="3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20" name="Text Box 252"/>
                <p:cNvSpPr txBox="1">
                  <a:spLocks noChangeArrowheads="1"/>
                </p:cNvSpPr>
                <p:nvPr/>
              </p:nvSpPr>
              <p:spPr bwMode="auto">
                <a:xfrm>
                  <a:off x="2110" y="732"/>
                  <a:ext cx="23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i="1">
                      <a:solidFill>
                        <a:schemeClr val="tx1"/>
                      </a:solidFill>
                    </a:rPr>
                    <a:t>Z</a:t>
                  </a:r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221" name="Text Box 253"/>
                <p:cNvSpPr txBox="1">
                  <a:spLocks noChangeArrowheads="1"/>
                </p:cNvSpPr>
                <p:nvPr/>
              </p:nvSpPr>
              <p:spPr bwMode="auto">
                <a:xfrm>
                  <a:off x="2342" y="1047"/>
                  <a:ext cx="23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i="1">
                      <a:solidFill>
                        <a:schemeClr val="tx1"/>
                      </a:solidFill>
                    </a:rPr>
                    <a:t>Z</a:t>
                  </a:r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222" name="Text Box 254"/>
                <p:cNvSpPr txBox="1">
                  <a:spLocks noChangeArrowheads="1"/>
                </p:cNvSpPr>
                <p:nvPr/>
              </p:nvSpPr>
              <p:spPr bwMode="auto">
                <a:xfrm>
                  <a:off x="1610" y="1025"/>
                  <a:ext cx="23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i="1">
                      <a:solidFill>
                        <a:schemeClr val="tx1"/>
                      </a:solidFill>
                    </a:rPr>
                    <a:t>Z</a:t>
                  </a:r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223" name="Rectangle 255"/>
                <p:cNvSpPr>
                  <a:spLocks noChangeArrowheads="1"/>
                </p:cNvSpPr>
                <p:nvPr/>
              </p:nvSpPr>
              <p:spPr bwMode="auto">
                <a:xfrm rot="-5400000">
                  <a:off x="1262" y="426"/>
                  <a:ext cx="87" cy="234"/>
                </a:xfrm>
                <a:prstGeom prst="rect">
                  <a:avLst/>
                </a:prstGeom>
                <a:solidFill>
                  <a:schemeClr val="accent1"/>
                </a:solidFill>
                <a:ln w="317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24" name="Rectangle 256"/>
                <p:cNvSpPr>
                  <a:spLocks noChangeArrowheads="1"/>
                </p:cNvSpPr>
                <p:nvPr/>
              </p:nvSpPr>
              <p:spPr bwMode="auto">
                <a:xfrm rot="-5400000">
                  <a:off x="1282" y="1330"/>
                  <a:ext cx="88" cy="235"/>
                </a:xfrm>
                <a:prstGeom prst="rect">
                  <a:avLst/>
                </a:prstGeom>
                <a:solidFill>
                  <a:schemeClr val="accent1"/>
                </a:solidFill>
                <a:ln w="317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25" name="Rectangle 257"/>
                <p:cNvSpPr>
                  <a:spLocks noChangeArrowheads="1"/>
                </p:cNvSpPr>
                <p:nvPr/>
              </p:nvSpPr>
              <p:spPr bwMode="auto">
                <a:xfrm rot="-5400000">
                  <a:off x="1286" y="1693"/>
                  <a:ext cx="88" cy="234"/>
                </a:xfrm>
                <a:prstGeom prst="rect">
                  <a:avLst/>
                </a:prstGeom>
                <a:solidFill>
                  <a:schemeClr val="accent1"/>
                </a:solidFill>
                <a:ln w="317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226" name="Text Box 258"/>
                <p:cNvSpPr txBox="1">
                  <a:spLocks noChangeArrowheads="1"/>
                </p:cNvSpPr>
                <p:nvPr/>
              </p:nvSpPr>
              <p:spPr bwMode="auto">
                <a:xfrm>
                  <a:off x="1177" y="218"/>
                  <a:ext cx="33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i="1">
                      <a:solidFill>
                        <a:schemeClr val="tx1"/>
                      </a:solidFill>
                    </a:rPr>
                    <a:t>Z</a:t>
                  </a:r>
                  <a:r>
                    <a:rPr lang="en-US" altLang="zh-CN" i="1" baseline="-25000">
                      <a:solidFill>
                        <a:schemeClr val="tx1"/>
                      </a:solidFill>
                    </a:rPr>
                    <a:t>l</a:t>
                  </a:r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227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1194" y="1124"/>
                  <a:ext cx="32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i="1">
                      <a:solidFill>
                        <a:schemeClr val="tx1"/>
                      </a:solidFill>
                    </a:rPr>
                    <a:t>Z</a:t>
                  </a:r>
                  <a:r>
                    <a:rPr lang="en-US" altLang="zh-CN" i="1" baseline="-25000">
                      <a:solidFill>
                        <a:schemeClr val="tx1"/>
                      </a:solidFill>
                    </a:rPr>
                    <a:t>l</a:t>
                  </a:r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228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1194" y="1485"/>
                  <a:ext cx="39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i="1">
                      <a:solidFill>
                        <a:schemeClr val="tx1"/>
                      </a:solidFill>
                    </a:rPr>
                    <a:t>Z</a:t>
                  </a:r>
                  <a:r>
                    <a:rPr lang="en-US" altLang="zh-CN" i="1" baseline="-25000">
                      <a:solidFill>
                        <a:schemeClr val="tx1"/>
                      </a:solidFill>
                    </a:rPr>
                    <a:t>l</a:t>
                  </a:r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84237" name="Text Box 269"/>
              <p:cNvSpPr txBox="1">
                <a:spLocks noChangeArrowheads="1"/>
              </p:cNvSpPr>
              <p:nvPr/>
            </p:nvSpPr>
            <p:spPr bwMode="auto">
              <a:xfrm>
                <a:off x="1903" y="866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n</a:t>
                </a:r>
              </a:p>
            </p:txBody>
          </p:sp>
        </p:grpSp>
      </p:grpSp>
      <p:grpSp>
        <p:nvGrpSpPr>
          <p:cNvPr id="84246" name="Group 278"/>
          <p:cNvGrpSpPr>
            <a:grpSpLocks/>
          </p:cNvGrpSpPr>
          <p:nvPr/>
        </p:nvGrpSpPr>
        <p:grpSpPr bwMode="auto">
          <a:xfrm>
            <a:off x="674688" y="3789363"/>
            <a:ext cx="4394200" cy="2551112"/>
            <a:chOff x="425" y="1943"/>
            <a:chExt cx="2768" cy="1607"/>
          </a:xfrm>
        </p:grpSpPr>
        <p:grpSp>
          <p:nvGrpSpPr>
            <p:cNvPr id="84244" name="Group 276"/>
            <p:cNvGrpSpPr>
              <a:grpSpLocks/>
            </p:cNvGrpSpPr>
            <p:nvPr/>
          </p:nvGrpSpPr>
          <p:grpSpPr bwMode="auto">
            <a:xfrm>
              <a:off x="425" y="2047"/>
              <a:ext cx="2768" cy="1503"/>
              <a:chOff x="425" y="2047"/>
              <a:chExt cx="2768" cy="1503"/>
            </a:xfrm>
          </p:grpSpPr>
          <p:sp>
            <p:nvSpPr>
              <p:cNvPr id="84148" name="Oval 180"/>
              <p:cNvSpPr>
                <a:spLocks noChangeArrowheads="1"/>
              </p:cNvSpPr>
              <p:nvPr/>
            </p:nvSpPr>
            <p:spPr bwMode="auto">
              <a:xfrm rot="5400000">
                <a:off x="907" y="2246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49" name="Line 181"/>
              <p:cNvSpPr>
                <a:spLocks noChangeShapeType="1"/>
              </p:cNvSpPr>
              <p:nvPr/>
            </p:nvSpPr>
            <p:spPr bwMode="auto">
              <a:xfrm rot="5400000" flipH="1">
                <a:off x="1048" y="2004"/>
                <a:ext cx="0" cy="7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50" name="Text Box 182"/>
              <p:cNvSpPr txBox="1">
                <a:spLocks noChangeArrowheads="1"/>
              </p:cNvSpPr>
              <p:nvPr/>
            </p:nvSpPr>
            <p:spPr bwMode="auto">
              <a:xfrm rot="5400000">
                <a:off x="1195" y="2179"/>
                <a:ext cx="17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+</a:t>
                </a:r>
              </a:p>
            </p:txBody>
          </p:sp>
          <p:sp>
            <p:nvSpPr>
              <p:cNvPr id="84151" name="Text Box 183"/>
              <p:cNvSpPr txBox="1">
                <a:spLocks noChangeArrowheads="1"/>
              </p:cNvSpPr>
              <p:nvPr/>
            </p:nvSpPr>
            <p:spPr bwMode="auto">
              <a:xfrm>
                <a:off x="708" y="2179"/>
                <a:ext cx="17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–</a:t>
                </a:r>
              </a:p>
            </p:txBody>
          </p:sp>
          <p:sp>
            <p:nvSpPr>
              <p:cNvPr id="84152" name="Oval 184"/>
              <p:cNvSpPr>
                <a:spLocks noChangeArrowheads="1"/>
              </p:cNvSpPr>
              <p:nvPr/>
            </p:nvSpPr>
            <p:spPr bwMode="auto">
              <a:xfrm>
                <a:off x="1432" y="2365"/>
                <a:ext cx="47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53" name="Oval 185"/>
              <p:cNvSpPr>
                <a:spLocks noChangeArrowheads="1"/>
              </p:cNvSpPr>
              <p:nvPr/>
            </p:nvSpPr>
            <p:spPr bwMode="auto">
              <a:xfrm>
                <a:off x="2933" y="2877"/>
                <a:ext cx="47" cy="47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54" name="Text Box 186"/>
              <p:cNvSpPr txBox="1">
                <a:spLocks noChangeArrowheads="1"/>
              </p:cNvSpPr>
              <p:nvPr/>
            </p:nvSpPr>
            <p:spPr bwMode="auto">
              <a:xfrm>
                <a:off x="1340" y="2109"/>
                <a:ext cx="29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84155" name="Oval 187"/>
              <p:cNvSpPr>
                <a:spLocks noChangeArrowheads="1"/>
              </p:cNvSpPr>
              <p:nvPr/>
            </p:nvSpPr>
            <p:spPr bwMode="auto">
              <a:xfrm rot="5400000">
                <a:off x="908" y="2767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56" name="Line 188"/>
              <p:cNvSpPr>
                <a:spLocks noChangeShapeType="1"/>
              </p:cNvSpPr>
              <p:nvPr/>
            </p:nvSpPr>
            <p:spPr bwMode="auto">
              <a:xfrm rot="5400000" flipH="1">
                <a:off x="1062" y="2536"/>
                <a:ext cx="0" cy="75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57" name="Oval 189"/>
              <p:cNvSpPr>
                <a:spLocks noChangeArrowheads="1"/>
              </p:cNvSpPr>
              <p:nvPr/>
            </p:nvSpPr>
            <p:spPr bwMode="auto">
              <a:xfrm rot="5400000">
                <a:off x="651" y="2896"/>
                <a:ext cx="34" cy="34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58" name="Text Box 190"/>
              <p:cNvSpPr txBox="1">
                <a:spLocks noChangeArrowheads="1"/>
              </p:cNvSpPr>
              <p:nvPr/>
            </p:nvSpPr>
            <p:spPr bwMode="auto">
              <a:xfrm rot="5400000">
                <a:off x="1196" y="2688"/>
                <a:ext cx="17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+</a:t>
                </a:r>
              </a:p>
            </p:txBody>
          </p:sp>
          <p:sp>
            <p:nvSpPr>
              <p:cNvPr id="84159" name="Text Box 191"/>
              <p:cNvSpPr txBox="1">
                <a:spLocks noChangeArrowheads="1"/>
              </p:cNvSpPr>
              <p:nvPr/>
            </p:nvSpPr>
            <p:spPr bwMode="auto">
              <a:xfrm>
                <a:off x="709" y="2688"/>
                <a:ext cx="17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–</a:t>
                </a:r>
              </a:p>
            </p:txBody>
          </p:sp>
          <p:sp>
            <p:nvSpPr>
              <p:cNvPr id="84160" name="Line 192"/>
              <p:cNvSpPr>
                <a:spLocks noChangeShapeType="1"/>
              </p:cNvSpPr>
              <p:nvPr/>
            </p:nvSpPr>
            <p:spPr bwMode="auto">
              <a:xfrm flipV="1">
                <a:off x="1479" y="2386"/>
                <a:ext cx="291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61" name="Oval 193"/>
              <p:cNvSpPr>
                <a:spLocks noChangeArrowheads="1"/>
              </p:cNvSpPr>
              <p:nvPr/>
            </p:nvSpPr>
            <p:spPr bwMode="auto">
              <a:xfrm>
                <a:off x="1439" y="2892"/>
                <a:ext cx="47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62" name="Text Box 194"/>
              <p:cNvSpPr txBox="1">
                <a:spLocks noChangeArrowheads="1"/>
              </p:cNvSpPr>
              <p:nvPr/>
            </p:nvSpPr>
            <p:spPr bwMode="auto">
              <a:xfrm>
                <a:off x="1367" y="2630"/>
                <a:ext cx="29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84163" name="Text Box 195"/>
              <p:cNvSpPr txBox="1">
                <a:spLocks noChangeArrowheads="1"/>
              </p:cNvSpPr>
              <p:nvPr/>
            </p:nvSpPr>
            <p:spPr bwMode="auto">
              <a:xfrm>
                <a:off x="425" y="2764"/>
                <a:ext cx="29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84164" name="Oval 196"/>
              <p:cNvSpPr>
                <a:spLocks noChangeArrowheads="1"/>
              </p:cNvSpPr>
              <p:nvPr/>
            </p:nvSpPr>
            <p:spPr bwMode="auto">
              <a:xfrm rot="5400000">
                <a:off x="907" y="3278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65" name="Line 197"/>
              <p:cNvSpPr>
                <a:spLocks noChangeShapeType="1"/>
              </p:cNvSpPr>
              <p:nvPr/>
            </p:nvSpPr>
            <p:spPr bwMode="auto">
              <a:xfrm rot="5400000" flipH="1">
                <a:off x="1053" y="3031"/>
                <a:ext cx="0" cy="7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66" name="Text Box 198"/>
              <p:cNvSpPr txBox="1">
                <a:spLocks noChangeArrowheads="1"/>
              </p:cNvSpPr>
              <p:nvPr/>
            </p:nvSpPr>
            <p:spPr bwMode="auto">
              <a:xfrm rot="5400000">
                <a:off x="1195" y="3187"/>
                <a:ext cx="17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+</a:t>
                </a:r>
              </a:p>
            </p:txBody>
          </p:sp>
          <p:sp>
            <p:nvSpPr>
              <p:cNvPr id="84167" name="Text Box 199"/>
              <p:cNvSpPr txBox="1">
                <a:spLocks noChangeArrowheads="1"/>
              </p:cNvSpPr>
              <p:nvPr/>
            </p:nvSpPr>
            <p:spPr bwMode="auto">
              <a:xfrm>
                <a:off x="708" y="3193"/>
                <a:ext cx="17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–</a:t>
                </a:r>
              </a:p>
            </p:txBody>
          </p:sp>
          <p:sp>
            <p:nvSpPr>
              <p:cNvPr id="84168" name="Line 200"/>
              <p:cNvSpPr>
                <a:spLocks noChangeShapeType="1"/>
              </p:cNvSpPr>
              <p:nvPr/>
            </p:nvSpPr>
            <p:spPr bwMode="auto">
              <a:xfrm flipV="1">
                <a:off x="1478" y="3421"/>
                <a:ext cx="2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69" name="Oval 201"/>
              <p:cNvSpPr>
                <a:spLocks noChangeArrowheads="1"/>
              </p:cNvSpPr>
              <p:nvPr/>
            </p:nvSpPr>
            <p:spPr bwMode="auto">
              <a:xfrm>
                <a:off x="1432" y="3391"/>
                <a:ext cx="47" cy="4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70" name="Text Box 202"/>
              <p:cNvSpPr txBox="1">
                <a:spLocks noChangeArrowheads="1"/>
              </p:cNvSpPr>
              <p:nvPr/>
            </p:nvSpPr>
            <p:spPr bwMode="auto">
              <a:xfrm>
                <a:off x="1346" y="3141"/>
                <a:ext cx="29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84171" name="Line 203"/>
              <p:cNvSpPr>
                <a:spLocks noChangeShapeType="1"/>
              </p:cNvSpPr>
              <p:nvPr/>
            </p:nvSpPr>
            <p:spPr bwMode="auto">
              <a:xfrm>
                <a:off x="669" y="2389"/>
                <a:ext cx="0" cy="10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74" name="Line 206"/>
              <p:cNvSpPr>
                <a:spLocks noChangeShapeType="1"/>
              </p:cNvSpPr>
              <p:nvPr/>
            </p:nvSpPr>
            <p:spPr bwMode="auto">
              <a:xfrm flipV="1">
                <a:off x="1486" y="2913"/>
                <a:ext cx="2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75" name="Rectangle 207"/>
              <p:cNvSpPr>
                <a:spLocks noChangeArrowheads="1"/>
              </p:cNvSpPr>
              <p:nvPr/>
            </p:nvSpPr>
            <p:spPr bwMode="auto">
              <a:xfrm>
                <a:off x="1764" y="2329"/>
                <a:ext cx="272" cy="102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76" name="Rectangle 208"/>
              <p:cNvSpPr>
                <a:spLocks noChangeArrowheads="1"/>
              </p:cNvSpPr>
              <p:nvPr/>
            </p:nvSpPr>
            <p:spPr bwMode="auto">
              <a:xfrm>
                <a:off x="1764" y="2849"/>
                <a:ext cx="272" cy="102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77" name="Rectangle 209"/>
              <p:cNvSpPr>
                <a:spLocks noChangeArrowheads="1"/>
              </p:cNvSpPr>
              <p:nvPr/>
            </p:nvSpPr>
            <p:spPr bwMode="auto">
              <a:xfrm>
                <a:off x="1748" y="3359"/>
                <a:ext cx="272" cy="102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78" name="Rectangle 210"/>
              <p:cNvSpPr>
                <a:spLocks noChangeArrowheads="1"/>
              </p:cNvSpPr>
              <p:nvPr/>
            </p:nvSpPr>
            <p:spPr bwMode="auto">
              <a:xfrm>
                <a:off x="2472" y="2329"/>
                <a:ext cx="272" cy="102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79" name="Rectangle 211"/>
              <p:cNvSpPr>
                <a:spLocks noChangeArrowheads="1"/>
              </p:cNvSpPr>
              <p:nvPr/>
            </p:nvSpPr>
            <p:spPr bwMode="auto">
              <a:xfrm>
                <a:off x="2472" y="2849"/>
                <a:ext cx="272" cy="102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80" name="Rectangle 212"/>
              <p:cNvSpPr>
                <a:spLocks noChangeArrowheads="1"/>
              </p:cNvSpPr>
              <p:nvPr/>
            </p:nvSpPr>
            <p:spPr bwMode="auto">
              <a:xfrm>
                <a:off x="2456" y="3359"/>
                <a:ext cx="272" cy="102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81" name="Line 213"/>
              <p:cNvSpPr>
                <a:spLocks noChangeShapeType="1"/>
              </p:cNvSpPr>
              <p:nvPr/>
            </p:nvSpPr>
            <p:spPr bwMode="auto">
              <a:xfrm>
                <a:off x="2036" y="2386"/>
                <a:ext cx="436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82" name="Line 214"/>
              <p:cNvSpPr>
                <a:spLocks noChangeShapeType="1"/>
              </p:cNvSpPr>
              <p:nvPr/>
            </p:nvSpPr>
            <p:spPr bwMode="auto">
              <a:xfrm>
                <a:off x="2744" y="2386"/>
                <a:ext cx="208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83" name="Line 215"/>
              <p:cNvSpPr>
                <a:spLocks noChangeShapeType="1"/>
              </p:cNvSpPr>
              <p:nvPr/>
            </p:nvSpPr>
            <p:spPr bwMode="auto">
              <a:xfrm>
                <a:off x="2024" y="2901"/>
                <a:ext cx="4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84" name="Line 216"/>
              <p:cNvSpPr>
                <a:spLocks noChangeShapeType="1"/>
              </p:cNvSpPr>
              <p:nvPr/>
            </p:nvSpPr>
            <p:spPr bwMode="auto">
              <a:xfrm>
                <a:off x="2749" y="2901"/>
                <a:ext cx="2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85" name="Line 217"/>
              <p:cNvSpPr>
                <a:spLocks noChangeShapeType="1"/>
              </p:cNvSpPr>
              <p:nvPr/>
            </p:nvSpPr>
            <p:spPr bwMode="auto">
              <a:xfrm>
                <a:off x="2020" y="3421"/>
                <a:ext cx="4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86" name="Line 218"/>
              <p:cNvSpPr>
                <a:spLocks noChangeShapeType="1"/>
              </p:cNvSpPr>
              <p:nvPr/>
            </p:nvSpPr>
            <p:spPr bwMode="auto">
              <a:xfrm>
                <a:off x="2728" y="3418"/>
                <a:ext cx="2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87" name="Line 219"/>
              <p:cNvSpPr>
                <a:spLocks noChangeShapeType="1"/>
              </p:cNvSpPr>
              <p:nvPr/>
            </p:nvSpPr>
            <p:spPr bwMode="auto">
              <a:xfrm>
                <a:off x="2952" y="2386"/>
                <a:ext cx="0" cy="10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188" name="Text Box 220"/>
              <p:cNvSpPr txBox="1">
                <a:spLocks noChangeArrowheads="1"/>
              </p:cNvSpPr>
              <p:nvPr/>
            </p:nvSpPr>
            <p:spPr bwMode="auto">
              <a:xfrm>
                <a:off x="1748" y="2047"/>
                <a:ext cx="3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i="1" baseline="-25000">
                    <a:solidFill>
                      <a:schemeClr val="tx1"/>
                    </a:solidFill>
                  </a:rPr>
                  <a:t>l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4189" name="Text Box 221"/>
              <p:cNvSpPr txBox="1">
                <a:spLocks noChangeArrowheads="1"/>
              </p:cNvSpPr>
              <p:nvPr/>
            </p:nvSpPr>
            <p:spPr bwMode="auto">
              <a:xfrm>
                <a:off x="1760" y="2540"/>
                <a:ext cx="3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i="1" baseline="-25000">
                    <a:solidFill>
                      <a:schemeClr val="tx1"/>
                    </a:solidFill>
                  </a:rPr>
                  <a:t>l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4190" name="Text Box 222"/>
              <p:cNvSpPr txBox="1">
                <a:spLocks noChangeArrowheads="1"/>
              </p:cNvSpPr>
              <p:nvPr/>
            </p:nvSpPr>
            <p:spPr bwMode="auto">
              <a:xfrm>
                <a:off x="1760" y="3068"/>
                <a:ext cx="3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i="1" baseline="-25000">
                    <a:solidFill>
                      <a:schemeClr val="tx1"/>
                    </a:solidFill>
                  </a:rPr>
                  <a:t>l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4191" name="Text Box 223"/>
              <p:cNvSpPr txBox="1">
                <a:spLocks noChangeArrowheads="1"/>
              </p:cNvSpPr>
              <p:nvPr/>
            </p:nvSpPr>
            <p:spPr bwMode="auto">
              <a:xfrm>
                <a:off x="2486" y="2047"/>
                <a:ext cx="3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4192" name="Text Box 224"/>
              <p:cNvSpPr txBox="1">
                <a:spLocks noChangeArrowheads="1"/>
              </p:cNvSpPr>
              <p:nvPr/>
            </p:nvSpPr>
            <p:spPr bwMode="auto">
              <a:xfrm>
                <a:off x="2496" y="2579"/>
                <a:ext cx="3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4193" name="Text Box 225"/>
              <p:cNvSpPr txBox="1">
                <a:spLocks noChangeArrowheads="1"/>
              </p:cNvSpPr>
              <p:nvPr/>
            </p:nvSpPr>
            <p:spPr bwMode="auto">
              <a:xfrm>
                <a:off x="2480" y="3092"/>
                <a:ext cx="3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4239" name="Text Box 271"/>
              <p:cNvSpPr txBox="1">
                <a:spLocks noChangeArrowheads="1"/>
              </p:cNvSpPr>
              <p:nvPr/>
            </p:nvSpPr>
            <p:spPr bwMode="auto">
              <a:xfrm>
                <a:off x="2922" y="2737"/>
                <a:ext cx="27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 n</a:t>
                </a:r>
              </a:p>
            </p:txBody>
          </p:sp>
        </p:grpSp>
        <p:graphicFrame>
          <p:nvGraphicFramePr>
            <p:cNvPr id="84241" name="Object 273"/>
            <p:cNvGraphicFramePr>
              <a:graphicFrameLocks noChangeAspect="1"/>
            </p:cNvGraphicFramePr>
            <p:nvPr/>
          </p:nvGraphicFramePr>
          <p:xfrm>
            <a:off x="831" y="1943"/>
            <a:ext cx="36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09" name="Equation" r:id="rId7" imgW="291960" imgH="241200" progId="Equation.3">
                    <p:embed/>
                  </p:oleObj>
                </mc:Choice>
                <mc:Fallback>
                  <p:oleObj name="Equation" r:id="rId7" imgW="291960" imgH="241200" progId="Equation.3">
                    <p:embed/>
                    <p:pic>
                      <p:nvPicPr>
                        <p:cNvPr id="0" name="Object 2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1" y="1943"/>
                          <a:ext cx="365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242" name="Object 274"/>
            <p:cNvGraphicFramePr>
              <a:graphicFrameLocks noChangeAspect="1"/>
            </p:cNvGraphicFramePr>
            <p:nvPr/>
          </p:nvGraphicFramePr>
          <p:xfrm>
            <a:off x="859" y="2478"/>
            <a:ext cx="36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10" name="Equation" r:id="rId9" imgW="291960" imgH="241200" progId="Equation.3">
                    <p:embed/>
                  </p:oleObj>
                </mc:Choice>
                <mc:Fallback>
                  <p:oleObj name="Equation" r:id="rId9" imgW="291960" imgH="241200" progId="Equation.3">
                    <p:embed/>
                    <p:pic>
                      <p:nvPicPr>
                        <p:cNvPr id="0" name="Object 2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9" y="2478"/>
                          <a:ext cx="365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243" name="Object 275"/>
            <p:cNvGraphicFramePr>
              <a:graphicFrameLocks noChangeAspect="1"/>
            </p:cNvGraphicFramePr>
            <p:nvPr/>
          </p:nvGraphicFramePr>
          <p:xfrm>
            <a:off x="879" y="3014"/>
            <a:ext cx="36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311" name="Equation" r:id="rId11" imgW="291960" imgH="241200" progId="Equation.3">
                    <p:embed/>
                  </p:oleObj>
                </mc:Choice>
                <mc:Fallback>
                  <p:oleObj name="Equation" r:id="rId11" imgW="291960" imgH="241200" progId="Equation.3">
                    <p:embed/>
                    <p:pic>
                      <p:nvPicPr>
                        <p:cNvPr id="0" name="Object 2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9" y="3014"/>
                          <a:ext cx="365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247" name="Rectangle 279"/>
          <p:cNvSpPr>
            <a:spLocks noChangeArrowheads="1"/>
          </p:cNvSpPr>
          <p:nvPr/>
        </p:nvSpPr>
        <p:spPr bwMode="auto">
          <a:xfrm>
            <a:off x="1257300" y="3140075"/>
            <a:ext cx="7583488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设三相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电源用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Y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接电源替代，保证其线电压等于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380V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4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8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96" grpId="0" build="p" autoUpdateAnimBg="0"/>
      <p:bldP spid="84247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005" name="Object 13"/>
          <p:cNvGraphicFramePr>
            <a:graphicFrameLocks noChangeAspect="1"/>
          </p:cNvGraphicFramePr>
          <p:nvPr/>
        </p:nvGraphicFramePr>
        <p:xfrm>
          <a:off x="808038" y="2497138"/>
          <a:ext cx="767556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3" name="Equation" r:id="rId3" imgW="3835080" imgH="457200" progId="Equation.3">
                  <p:embed/>
                </p:oleObj>
              </mc:Choice>
              <mc:Fallback>
                <p:oleObj name="Equation" r:id="rId3" imgW="3835080" imgH="457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8" y="2497138"/>
                        <a:ext cx="767556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6" name="Object 14"/>
          <p:cNvGraphicFramePr>
            <a:graphicFrameLocks noChangeAspect="1"/>
          </p:cNvGraphicFramePr>
          <p:nvPr/>
        </p:nvGraphicFramePr>
        <p:xfrm>
          <a:off x="765175" y="5110163"/>
          <a:ext cx="729297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4" name="Equation" r:id="rId5" imgW="3657600" imgH="241200" progId="Equation.3">
                  <p:embed/>
                </p:oleObj>
              </mc:Choice>
              <mc:Fallback>
                <p:oleObj name="Equation" r:id="rId5" imgW="3657600" imgH="24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5110163"/>
                        <a:ext cx="729297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7" name="Object 15"/>
          <p:cNvGraphicFramePr>
            <a:graphicFrameLocks noChangeAspect="1"/>
          </p:cNvGraphicFramePr>
          <p:nvPr/>
        </p:nvGraphicFramePr>
        <p:xfrm>
          <a:off x="785813" y="3922713"/>
          <a:ext cx="27797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5" name="Equation" r:id="rId7" imgW="1371600" imgH="228600" progId="Equation.3">
                  <p:embed/>
                </p:oleObj>
              </mc:Choice>
              <mc:Fallback>
                <p:oleObj name="Equation" r:id="rId7" imgW="13716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3922713"/>
                        <a:ext cx="27797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8" name="Object 16"/>
          <p:cNvGraphicFramePr>
            <a:graphicFrameLocks noChangeAspect="1"/>
          </p:cNvGraphicFramePr>
          <p:nvPr/>
        </p:nvGraphicFramePr>
        <p:xfrm>
          <a:off x="4486275" y="3897313"/>
          <a:ext cx="25209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6" name="Equation" r:id="rId9" imgW="1168200" imgH="241200" progId="Equation.3">
                  <p:embed/>
                </p:oleObj>
              </mc:Choice>
              <mc:Fallback>
                <p:oleObj name="Equation" r:id="rId9" imgW="1168200" imgH="241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6275" y="3897313"/>
                        <a:ext cx="25209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9" name="Object 17"/>
          <p:cNvGraphicFramePr>
            <a:graphicFrameLocks noChangeAspect="1"/>
          </p:cNvGraphicFramePr>
          <p:nvPr/>
        </p:nvGraphicFramePr>
        <p:xfrm>
          <a:off x="704850" y="5799138"/>
          <a:ext cx="32083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7" name="Equation" r:id="rId11" imgW="1523880" imgH="241200" progId="Equation.3">
                  <p:embed/>
                </p:oleObj>
              </mc:Choice>
              <mc:Fallback>
                <p:oleObj name="Equation" r:id="rId11" imgW="1523880" imgH="241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5799138"/>
                        <a:ext cx="320833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0" name="Object 18"/>
          <p:cNvGraphicFramePr>
            <a:graphicFrameLocks noChangeAspect="1"/>
          </p:cNvGraphicFramePr>
          <p:nvPr/>
        </p:nvGraphicFramePr>
        <p:xfrm>
          <a:off x="4329113" y="5837238"/>
          <a:ext cx="2781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8" name="Equation" r:id="rId13" imgW="1320480" imgH="241200" progId="Equation.3">
                  <p:embed/>
                </p:oleObj>
              </mc:Choice>
              <mc:Fallback>
                <p:oleObj name="Equation" r:id="rId13" imgW="1320480" imgH="24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9113" y="5837238"/>
                        <a:ext cx="2781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34" name="Rectangle 42"/>
          <p:cNvSpPr>
            <a:spLocks noChangeArrowheads="1"/>
          </p:cNvSpPr>
          <p:nvPr/>
        </p:nvSpPr>
        <p:spPr bwMode="auto">
          <a:xfrm>
            <a:off x="1066800" y="889000"/>
            <a:ext cx="224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/>
              <a:t>取</a:t>
            </a:r>
            <a:r>
              <a:rPr lang="en-US" altLang="zh-CN"/>
              <a:t>A</a:t>
            </a:r>
            <a:r>
              <a:rPr lang="zh-CN" altLang="en-US"/>
              <a:t>相计算电路</a:t>
            </a:r>
          </a:p>
        </p:txBody>
      </p:sp>
      <p:grpSp>
        <p:nvGrpSpPr>
          <p:cNvPr id="85039" name="Group 47"/>
          <p:cNvGrpSpPr>
            <a:grpSpLocks/>
          </p:cNvGrpSpPr>
          <p:nvPr/>
        </p:nvGrpSpPr>
        <p:grpSpPr bwMode="auto">
          <a:xfrm>
            <a:off x="4389438" y="228600"/>
            <a:ext cx="3228975" cy="2106613"/>
            <a:chOff x="2033" y="253"/>
            <a:chExt cx="2034" cy="1327"/>
          </a:xfrm>
        </p:grpSpPr>
        <p:grpSp>
          <p:nvGrpSpPr>
            <p:cNvPr id="85038" name="Group 46"/>
            <p:cNvGrpSpPr>
              <a:grpSpLocks/>
            </p:cNvGrpSpPr>
            <p:nvPr/>
          </p:nvGrpSpPr>
          <p:grpSpPr bwMode="auto">
            <a:xfrm>
              <a:off x="2318" y="302"/>
              <a:ext cx="1749" cy="1278"/>
              <a:chOff x="2318" y="302"/>
              <a:chExt cx="1749" cy="1278"/>
            </a:xfrm>
          </p:grpSpPr>
          <p:sp>
            <p:nvSpPr>
              <p:cNvPr id="85012" name="Rectangle 20"/>
              <p:cNvSpPr>
                <a:spLocks noChangeArrowheads="1"/>
              </p:cNvSpPr>
              <p:nvPr/>
            </p:nvSpPr>
            <p:spPr bwMode="auto">
              <a:xfrm>
                <a:off x="3579" y="788"/>
                <a:ext cx="102" cy="295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13" name="Oval 21"/>
              <p:cNvSpPr>
                <a:spLocks noChangeArrowheads="1"/>
              </p:cNvSpPr>
              <p:nvPr/>
            </p:nvSpPr>
            <p:spPr bwMode="auto">
              <a:xfrm>
                <a:off x="2398" y="764"/>
                <a:ext cx="295" cy="295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14" name="Line 22"/>
              <p:cNvSpPr>
                <a:spLocks noChangeShapeType="1"/>
              </p:cNvSpPr>
              <p:nvPr/>
            </p:nvSpPr>
            <p:spPr bwMode="auto">
              <a:xfrm>
                <a:off x="2551" y="542"/>
                <a:ext cx="0" cy="82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15" name="Line 23"/>
              <p:cNvSpPr>
                <a:spLocks noChangeShapeType="1"/>
              </p:cNvSpPr>
              <p:nvPr/>
            </p:nvSpPr>
            <p:spPr bwMode="auto">
              <a:xfrm>
                <a:off x="3637" y="542"/>
                <a:ext cx="0" cy="2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16" name="Line 24"/>
              <p:cNvSpPr>
                <a:spLocks noChangeShapeType="1"/>
              </p:cNvSpPr>
              <p:nvPr/>
            </p:nvSpPr>
            <p:spPr bwMode="auto">
              <a:xfrm>
                <a:off x="3637" y="1092"/>
                <a:ext cx="0" cy="2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17" name="Line 25"/>
              <p:cNvSpPr>
                <a:spLocks noChangeShapeType="1"/>
              </p:cNvSpPr>
              <p:nvPr/>
            </p:nvSpPr>
            <p:spPr bwMode="auto">
              <a:xfrm>
                <a:off x="2545" y="1366"/>
                <a:ext cx="10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18" name="Line 26"/>
              <p:cNvSpPr>
                <a:spLocks noChangeShapeType="1"/>
              </p:cNvSpPr>
              <p:nvPr/>
            </p:nvSpPr>
            <p:spPr bwMode="auto">
              <a:xfrm>
                <a:off x="2551" y="542"/>
                <a:ext cx="3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19" name="Text Box 27"/>
              <p:cNvSpPr txBox="1">
                <a:spLocks noChangeArrowheads="1"/>
              </p:cNvSpPr>
              <p:nvPr/>
            </p:nvSpPr>
            <p:spPr bwMode="auto">
              <a:xfrm>
                <a:off x="2360" y="542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+</a:t>
                </a:r>
              </a:p>
            </p:txBody>
          </p:sp>
          <p:sp>
            <p:nvSpPr>
              <p:cNvPr id="85020" name="Text Box 28"/>
              <p:cNvSpPr txBox="1">
                <a:spLocks noChangeArrowheads="1"/>
              </p:cNvSpPr>
              <p:nvPr/>
            </p:nvSpPr>
            <p:spPr bwMode="auto">
              <a:xfrm>
                <a:off x="2366" y="999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–</a:t>
                </a:r>
              </a:p>
            </p:txBody>
          </p:sp>
          <p:sp>
            <p:nvSpPr>
              <p:cNvPr id="85022" name="Line 30"/>
              <p:cNvSpPr>
                <a:spLocks noChangeShapeType="1"/>
              </p:cNvSpPr>
              <p:nvPr/>
            </p:nvSpPr>
            <p:spPr bwMode="auto">
              <a:xfrm>
                <a:off x="2887" y="398"/>
                <a:ext cx="3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24" name="Text Box 32"/>
              <p:cNvSpPr txBox="1">
                <a:spLocks noChangeArrowheads="1"/>
              </p:cNvSpPr>
              <p:nvPr/>
            </p:nvSpPr>
            <p:spPr bwMode="auto">
              <a:xfrm>
                <a:off x="2318" y="344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85025" name="Text Box 33"/>
              <p:cNvSpPr txBox="1">
                <a:spLocks noChangeArrowheads="1"/>
              </p:cNvSpPr>
              <p:nvPr/>
            </p:nvSpPr>
            <p:spPr bwMode="auto">
              <a:xfrm>
                <a:off x="2321" y="1292"/>
                <a:ext cx="2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85026" name="Text Box 34"/>
              <p:cNvSpPr txBox="1">
                <a:spLocks noChangeArrowheads="1"/>
              </p:cNvSpPr>
              <p:nvPr/>
            </p:nvSpPr>
            <p:spPr bwMode="auto">
              <a:xfrm>
                <a:off x="3657" y="1238"/>
                <a:ext cx="2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85027" name="Text Box 35"/>
              <p:cNvSpPr txBox="1">
                <a:spLocks noChangeArrowheads="1"/>
              </p:cNvSpPr>
              <p:nvPr/>
            </p:nvSpPr>
            <p:spPr bwMode="auto">
              <a:xfrm>
                <a:off x="3637" y="302"/>
                <a:ext cx="2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85028" name="Text Box 36"/>
              <p:cNvSpPr txBox="1">
                <a:spLocks noChangeArrowheads="1"/>
              </p:cNvSpPr>
              <p:nvPr/>
            </p:nvSpPr>
            <p:spPr bwMode="auto">
              <a:xfrm>
                <a:off x="3661" y="795"/>
                <a:ext cx="4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5029" name="Rectangle 37"/>
              <p:cNvSpPr>
                <a:spLocks noChangeArrowheads="1"/>
              </p:cNvSpPr>
              <p:nvPr/>
            </p:nvSpPr>
            <p:spPr bwMode="auto">
              <a:xfrm rot="5400000">
                <a:off x="3040" y="398"/>
                <a:ext cx="96" cy="295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30" name="Line 38"/>
              <p:cNvSpPr>
                <a:spLocks noChangeShapeType="1"/>
              </p:cNvSpPr>
              <p:nvPr/>
            </p:nvSpPr>
            <p:spPr bwMode="auto">
              <a:xfrm>
                <a:off x="3242" y="548"/>
                <a:ext cx="3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31" name="Text Box 39"/>
              <p:cNvSpPr txBox="1">
                <a:spLocks noChangeArrowheads="1"/>
              </p:cNvSpPr>
              <p:nvPr/>
            </p:nvSpPr>
            <p:spPr bwMode="auto">
              <a:xfrm>
                <a:off x="2959" y="569"/>
                <a:ext cx="4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i="1" baseline="-25000">
                    <a:solidFill>
                      <a:schemeClr val="tx1"/>
                    </a:solidFill>
                  </a:rPr>
                  <a:t>l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graphicFrame>
          <p:nvGraphicFramePr>
            <p:cNvPr id="85036" name="Object 44"/>
            <p:cNvGraphicFramePr>
              <a:graphicFrameLocks noChangeAspect="1"/>
            </p:cNvGraphicFramePr>
            <p:nvPr/>
          </p:nvGraphicFramePr>
          <p:xfrm>
            <a:off x="2033" y="780"/>
            <a:ext cx="36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39" name="Equation" r:id="rId15" imgW="291960" imgH="241200" progId="Equation.3">
                    <p:embed/>
                  </p:oleObj>
                </mc:Choice>
                <mc:Fallback>
                  <p:oleObj name="Equation" r:id="rId15" imgW="291960" imgH="2412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3" y="780"/>
                          <a:ext cx="365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37" name="Object 45"/>
            <p:cNvGraphicFramePr>
              <a:graphicFrameLocks noChangeAspect="1"/>
            </p:cNvGraphicFramePr>
            <p:nvPr/>
          </p:nvGraphicFramePr>
          <p:xfrm>
            <a:off x="3298" y="253"/>
            <a:ext cx="23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40" name="Equation" r:id="rId17" imgW="190440" imgH="228600" progId="Equation.3">
                    <p:embed/>
                  </p:oleObj>
                </mc:Choice>
                <mc:Fallback>
                  <p:oleObj name="Equation" r:id="rId17" imgW="190440" imgH="2286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" y="253"/>
                          <a:ext cx="23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5040" name="Rectangle 48"/>
          <p:cNvSpPr>
            <a:spLocks noChangeArrowheads="1"/>
          </p:cNvSpPr>
          <p:nvPr/>
        </p:nvSpPr>
        <p:spPr bwMode="auto">
          <a:xfrm>
            <a:off x="573088" y="4552950"/>
            <a:ext cx="3433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负载</a:t>
            </a:r>
            <a:r>
              <a:rPr lang="en-US" altLang="zh-CN" i="1">
                <a:solidFill>
                  <a:schemeClr val="tx1"/>
                </a:solidFill>
              </a:rPr>
              <a:t>Z</a:t>
            </a:r>
            <a:r>
              <a:rPr lang="zh-CN" altLang="en-US">
                <a:solidFill>
                  <a:schemeClr val="tx1"/>
                </a:solidFill>
              </a:rPr>
              <a:t>的三相相电压为：</a:t>
            </a:r>
          </a:p>
        </p:txBody>
      </p:sp>
      <p:sp>
        <p:nvSpPr>
          <p:cNvPr id="85041" name="Rectangle 49"/>
          <p:cNvSpPr>
            <a:spLocks noChangeArrowheads="1"/>
          </p:cNvSpPr>
          <p:nvPr/>
        </p:nvSpPr>
        <p:spPr bwMode="auto">
          <a:xfrm>
            <a:off x="531813" y="1962150"/>
            <a:ext cx="3654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流过负载</a:t>
            </a:r>
            <a:r>
              <a:rPr lang="en-US" altLang="zh-CN" i="1">
                <a:solidFill>
                  <a:schemeClr val="tx1"/>
                </a:solidFill>
              </a:rPr>
              <a:t>Z</a:t>
            </a:r>
            <a:r>
              <a:rPr lang="zh-CN" altLang="en-US">
                <a:solidFill>
                  <a:schemeClr val="tx1"/>
                </a:solidFill>
              </a:rPr>
              <a:t>的电流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相为：</a:t>
            </a:r>
          </a:p>
        </p:txBody>
      </p:sp>
      <p:sp>
        <p:nvSpPr>
          <p:cNvPr id="85042" name="Rectangle 50"/>
          <p:cNvSpPr>
            <a:spLocks noChangeArrowheads="1"/>
          </p:cNvSpPr>
          <p:nvPr/>
        </p:nvSpPr>
        <p:spPr bwMode="auto">
          <a:xfrm>
            <a:off x="639763" y="3467100"/>
            <a:ext cx="3554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由对称性得其它二相电流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5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8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8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40" grpId="0" autoUpdateAnimBg="0"/>
      <p:bldP spid="85041" grpId="0" autoUpdateAnimBg="0"/>
      <p:bldP spid="8504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65" name="Text Box 49"/>
          <p:cNvSpPr txBox="1">
            <a:spLocks noChangeArrowheads="1"/>
          </p:cNvSpPr>
          <p:nvPr/>
        </p:nvSpPr>
        <p:spPr bwMode="auto">
          <a:xfrm>
            <a:off x="261938" y="198438"/>
            <a:ext cx="442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C3300"/>
                </a:solidFill>
              </a:rPr>
              <a:t>二、</a:t>
            </a:r>
            <a:r>
              <a:rPr lang="en-US" altLang="zh-CN">
                <a:solidFill>
                  <a:srgbClr val="CC3300"/>
                </a:solidFill>
              </a:rPr>
              <a:t>Y–</a:t>
            </a:r>
            <a:r>
              <a:rPr lang="en-US" altLang="zh-CN">
                <a:solidFill>
                  <a:srgbClr val="CC3300"/>
                </a:solidFill>
                <a:sym typeface="Symbol" panose="05050102010706020507" pitchFamily="18" charset="2"/>
              </a:rPr>
              <a:t></a:t>
            </a:r>
            <a:r>
              <a:rPr lang="zh-CN" altLang="en-US">
                <a:solidFill>
                  <a:srgbClr val="CC3300"/>
                </a:solidFill>
              </a:rPr>
              <a:t>接</a:t>
            </a:r>
            <a:r>
              <a:rPr lang="zh-CN" altLang="en-US">
                <a:solidFill>
                  <a:srgbClr val="CC3300"/>
                </a:solidFill>
                <a:latin typeface="宋体" panose="02010600030101010101" pitchFamily="2" charset="-122"/>
              </a:rPr>
              <a:t>对称三相电路的计算</a:t>
            </a:r>
          </a:p>
        </p:txBody>
      </p:sp>
      <p:sp>
        <p:nvSpPr>
          <p:cNvPr id="86078" name="Text Box 62"/>
          <p:cNvSpPr txBox="1">
            <a:spLocks noChangeArrowheads="1"/>
          </p:cNvSpPr>
          <p:nvPr/>
        </p:nvSpPr>
        <p:spPr bwMode="auto">
          <a:xfrm>
            <a:off x="379413" y="3330575"/>
            <a:ext cx="4310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负载上相电压与线电压相等</a:t>
            </a:r>
          </a:p>
        </p:txBody>
      </p:sp>
      <p:sp>
        <p:nvSpPr>
          <p:cNvPr id="86079" name="AutoShape 63"/>
          <p:cNvSpPr>
            <a:spLocks/>
          </p:cNvSpPr>
          <p:nvPr/>
        </p:nvSpPr>
        <p:spPr bwMode="auto">
          <a:xfrm>
            <a:off x="261938" y="3973513"/>
            <a:ext cx="204787" cy="1431925"/>
          </a:xfrm>
          <a:prstGeom prst="leftBrace">
            <a:avLst>
              <a:gd name="adj1" fmla="val 5826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6080" name="Object 64"/>
          <p:cNvGraphicFramePr>
            <a:graphicFrameLocks noChangeAspect="1"/>
          </p:cNvGraphicFramePr>
          <p:nvPr/>
        </p:nvGraphicFramePr>
        <p:xfrm>
          <a:off x="6207125" y="642938"/>
          <a:ext cx="2586038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88" name="Equation" r:id="rId3" imgW="1295280" imgH="965160" progId="Equation.3">
                  <p:embed/>
                </p:oleObj>
              </mc:Choice>
              <mc:Fallback>
                <p:oleObj name="Equation" r:id="rId3" imgW="1295280" imgH="96516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25" y="642938"/>
                        <a:ext cx="2586038" cy="192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135" name="Object 119"/>
          <p:cNvGraphicFramePr>
            <a:graphicFrameLocks noChangeAspect="1"/>
          </p:cNvGraphicFramePr>
          <p:nvPr/>
        </p:nvGraphicFramePr>
        <p:xfrm>
          <a:off x="5124450" y="3579813"/>
          <a:ext cx="3489325" cy="247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89" name="Equation" r:id="rId5" imgW="1993680" imgH="1409400" progId="Equation.3">
                  <p:embed/>
                </p:oleObj>
              </mc:Choice>
              <mc:Fallback>
                <p:oleObj name="Equation" r:id="rId5" imgW="1993680" imgH="1409400" progId="Equation.3">
                  <p:embed/>
                  <p:pic>
                    <p:nvPicPr>
                      <p:cNvPr id="0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0" y="3579813"/>
                        <a:ext cx="3489325" cy="247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136" name="AutoShape 120"/>
          <p:cNvSpPr>
            <a:spLocks/>
          </p:cNvSpPr>
          <p:nvPr/>
        </p:nvSpPr>
        <p:spPr bwMode="auto">
          <a:xfrm>
            <a:off x="4827588" y="3973513"/>
            <a:ext cx="257175" cy="1814512"/>
          </a:xfrm>
          <a:prstGeom prst="leftBrace">
            <a:avLst>
              <a:gd name="adj1" fmla="val 5879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137" name="Text Box 121"/>
          <p:cNvSpPr txBox="1">
            <a:spLocks noChangeArrowheads="1"/>
          </p:cNvSpPr>
          <p:nvPr/>
        </p:nvSpPr>
        <p:spPr bwMode="auto">
          <a:xfrm>
            <a:off x="5319713" y="3101975"/>
            <a:ext cx="207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计算相电流</a:t>
            </a:r>
          </a:p>
        </p:txBody>
      </p:sp>
      <p:sp>
        <p:nvSpPr>
          <p:cNvPr id="86141" name="Text Box 125"/>
          <p:cNvSpPr txBox="1">
            <a:spLocks noChangeArrowheads="1"/>
          </p:cNvSpPr>
          <p:nvPr/>
        </p:nvSpPr>
        <p:spPr bwMode="auto">
          <a:xfrm>
            <a:off x="339725" y="574675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思考：如何求线电流？</a:t>
            </a:r>
          </a:p>
        </p:txBody>
      </p:sp>
      <p:grpSp>
        <p:nvGrpSpPr>
          <p:cNvPr id="86152" name="Group 136"/>
          <p:cNvGrpSpPr>
            <a:grpSpLocks/>
          </p:cNvGrpSpPr>
          <p:nvPr/>
        </p:nvGrpSpPr>
        <p:grpSpPr bwMode="auto">
          <a:xfrm>
            <a:off x="434975" y="687388"/>
            <a:ext cx="5945188" cy="2560637"/>
            <a:chOff x="274" y="433"/>
            <a:chExt cx="3745" cy="1613"/>
          </a:xfrm>
        </p:grpSpPr>
        <p:sp>
          <p:nvSpPr>
            <p:cNvPr id="86019" name="Oval 3"/>
            <p:cNvSpPr>
              <a:spLocks noChangeArrowheads="1"/>
            </p:cNvSpPr>
            <p:nvPr/>
          </p:nvSpPr>
          <p:spPr bwMode="auto">
            <a:xfrm>
              <a:off x="565" y="1315"/>
              <a:ext cx="288" cy="284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6020" name="Oval 4"/>
            <p:cNvSpPr>
              <a:spLocks noChangeArrowheads="1"/>
            </p:cNvSpPr>
            <p:nvPr/>
          </p:nvSpPr>
          <p:spPr bwMode="auto">
            <a:xfrm>
              <a:off x="1081" y="1327"/>
              <a:ext cx="288" cy="283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6021" name="Oval 5"/>
            <p:cNvSpPr>
              <a:spLocks noChangeArrowheads="1"/>
            </p:cNvSpPr>
            <p:nvPr/>
          </p:nvSpPr>
          <p:spPr bwMode="auto">
            <a:xfrm>
              <a:off x="814" y="808"/>
              <a:ext cx="288" cy="283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6022" name="Line 6"/>
            <p:cNvSpPr>
              <a:spLocks noChangeShapeType="1"/>
            </p:cNvSpPr>
            <p:nvPr/>
          </p:nvSpPr>
          <p:spPr bwMode="auto">
            <a:xfrm>
              <a:off x="961" y="702"/>
              <a:ext cx="0" cy="5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23" name="Line 7"/>
            <p:cNvSpPr>
              <a:spLocks noChangeShapeType="1"/>
            </p:cNvSpPr>
            <p:nvPr/>
          </p:nvSpPr>
          <p:spPr bwMode="auto">
            <a:xfrm>
              <a:off x="961" y="1268"/>
              <a:ext cx="432" cy="3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24" name="Line 8"/>
            <p:cNvSpPr>
              <a:spLocks noChangeShapeType="1"/>
            </p:cNvSpPr>
            <p:nvPr/>
          </p:nvSpPr>
          <p:spPr bwMode="auto">
            <a:xfrm flipH="1">
              <a:off x="529" y="1268"/>
              <a:ext cx="432" cy="3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25" name="Text Box 9"/>
            <p:cNvSpPr txBox="1">
              <a:spLocks noChangeArrowheads="1"/>
            </p:cNvSpPr>
            <p:nvPr/>
          </p:nvSpPr>
          <p:spPr bwMode="auto">
            <a:xfrm>
              <a:off x="757" y="60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6026" name="Text Box 10"/>
            <p:cNvSpPr txBox="1">
              <a:spLocks noChangeArrowheads="1"/>
            </p:cNvSpPr>
            <p:nvPr/>
          </p:nvSpPr>
          <p:spPr bwMode="auto">
            <a:xfrm>
              <a:off x="770" y="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6027" name="Line 11"/>
            <p:cNvSpPr>
              <a:spLocks noChangeShapeType="1"/>
            </p:cNvSpPr>
            <p:nvPr/>
          </p:nvSpPr>
          <p:spPr bwMode="auto">
            <a:xfrm>
              <a:off x="1393" y="1589"/>
              <a:ext cx="0" cy="16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28" name="Line 12"/>
            <p:cNvSpPr>
              <a:spLocks noChangeShapeType="1"/>
            </p:cNvSpPr>
            <p:nvPr/>
          </p:nvSpPr>
          <p:spPr bwMode="auto">
            <a:xfrm>
              <a:off x="529" y="1599"/>
              <a:ext cx="0" cy="4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2" name="Line 16"/>
            <p:cNvSpPr>
              <a:spLocks noChangeShapeType="1"/>
            </p:cNvSpPr>
            <p:nvPr/>
          </p:nvSpPr>
          <p:spPr bwMode="auto">
            <a:xfrm>
              <a:off x="2770" y="1504"/>
              <a:ext cx="0" cy="5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3" name="Line 17"/>
            <p:cNvSpPr>
              <a:spLocks noChangeShapeType="1"/>
            </p:cNvSpPr>
            <p:nvPr/>
          </p:nvSpPr>
          <p:spPr bwMode="auto">
            <a:xfrm>
              <a:off x="1393" y="1758"/>
              <a:ext cx="2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4" name="Freeform 18"/>
            <p:cNvSpPr>
              <a:spLocks/>
            </p:cNvSpPr>
            <p:nvPr/>
          </p:nvSpPr>
          <p:spPr bwMode="auto">
            <a:xfrm>
              <a:off x="3727" y="1523"/>
              <a:ext cx="1" cy="245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5" name="Line 19"/>
            <p:cNvSpPr>
              <a:spLocks noChangeShapeType="1"/>
            </p:cNvSpPr>
            <p:nvPr/>
          </p:nvSpPr>
          <p:spPr bwMode="auto">
            <a:xfrm>
              <a:off x="530" y="2012"/>
              <a:ext cx="22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6" name="Line 20"/>
            <p:cNvSpPr>
              <a:spLocks noChangeShapeType="1"/>
            </p:cNvSpPr>
            <p:nvPr/>
          </p:nvSpPr>
          <p:spPr bwMode="auto">
            <a:xfrm>
              <a:off x="961" y="708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7" name="Line 21"/>
            <p:cNvSpPr>
              <a:spLocks noChangeShapeType="1"/>
            </p:cNvSpPr>
            <p:nvPr/>
          </p:nvSpPr>
          <p:spPr bwMode="auto">
            <a:xfrm>
              <a:off x="2004" y="641"/>
              <a:ext cx="3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8" name="Line 22"/>
            <p:cNvSpPr>
              <a:spLocks noChangeShapeType="1"/>
            </p:cNvSpPr>
            <p:nvPr/>
          </p:nvSpPr>
          <p:spPr bwMode="auto">
            <a:xfrm>
              <a:off x="1890" y="1657"/>
              <a:ext cx="4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9" name="Line 23"/>
            <p:cNvSpPr>
              <a:spLocks noChangeShapeType="1"/>
            </p:cNvSpPr>
            <p:nvPr/>
          </p:nvSpPr>
          <p:spPr bwMode="auto">
            <a:xfrm>
              <a:off x="1890" y="1857"/>
              <a:ext cx="4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40" name="Text Box 24"/>
            <p:cNvSpPr txBox="1">
              <a:spLocks noChangeArrowheads="1"/>
            </p:cNvSpPr>
            <p:nvPr/>
          </p:nvSpPr>
          <p:spPr bwMode="auto">
            <a:xfrm>
              <a:off x="517" y="1549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6041" name="Text Box 25"/>
            <p:cNvSpPr txBox="1">
              <a:spLocks noChangeArrowheads="1"/>
            </p:cNvSpPr>
            <p:nvPr/>
          </p:nvSpPr>
          <p:spPr bwMode="auto">
            <a:xfrm rot="19800000">
              <a:off x="757" y="11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6042" name="Text Box 26"/>
            <p:cNvSpPr txBox="1">
              <a:spLocks noChangeArrowheads="1"/>
            </p:cNvSpPr>
            <p:nvPr/>
          </p:nvSpPr>
          <p:spPr bwMode="auto">
            <a:xfrm rot="1800000">
              <a:off x="973" y="11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6043" name="Text Box 27"/>
            <p:cNvSpPr txBox="1">
              <a:spLocks noChangeArrowheads="1"/>
            </p:cNvSpPr>
            <p:nvPr/>
          </p:nvSpPr>
          <p:spPr bwMode="auto">
            <a:xfrm>
              <a:off x="1201" y="153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6044" name="Text Box 28"/>
            <p:cNvSpPr txBox="1">
              <a:spLocks noChangeArrowheads="1"/>
            </p:cNvSpPr>
            <p:nvPr/>
          </p:nvSpPr>
          <p:spPr bwMode="auto">
            <a:xfrm>
              <a:off x="997" y="103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  <p:sp>
          <p:nvSpPr>
            <p:cNvPr id="86046" name="Text Box 30"/>
            <p:cNvSpPr txBox="1">
              <a:spLocks noChangeArrowheads="1"/>
            </p:cNvSpPr>
            <p:nvPr/>
          </p:nvSpPr>
          <p:spPr bwMode="auto">
            <a:xfrm>
              <a:off x="3160" y="1215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86047" name="Text Box 31"/>
            <p:cNvSpPr txBox="1">
              <a:spLocks noChangeArrowheads="1"/>
            </p:cNvSpPr>
            <p:nvPr/>
          </p:nvSpPr>
          <p:spPr bwMode="auto">
            <a:xfrm>
              <a:off x="3223" y="99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86048" name="Text Box 32"/>
            <p:cNvSpPr txBox="1">
              <a:spLocks noChangeArrowheads="1"/>
            </p:cNvSpPr>
            <p:nvPr/>
          </p:nvSpPr>
          <p:spPr bwMode="auto">
            <a:xfrm>
              <a:off x="3020" y="1000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86058" name="Text Box 42"/>
            <p:cNvSpPr txBox="1">
              <a:spLocks noChangeArrowheads="1"/>
            </p:cNvSpPr>
            <p:nvPr/>
          </p:nvSpPr>
          <p:spPr bwMode="auto">
            <a:xfrm>
              <a:off x="832" y="440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6059" name="Text Box 43"/>
            <p:cNvSpPr txBox="1">
              <a:spLocks noChangeArrowheads="1"/>
            </p:cNvSpPr>
            <p:nvPr/>
          </p:nvSpPr>
          <p:spPr bwMode="auto">
            <a:xfrm>
              <a:off x="1398" y="1457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6060" name="Text Box 44"/>
            <p:cNvSpPr txBox="1">
              <a:spLocks noChangeArrowheads="1"/>
            </p:cNvSpPr>
            <p:nvPr/>
          </p:nvSpPr>
          <p:spPr bwMode="auto">
            <a:xfrm>
              <a:off x="274" y="1504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86061" name="Text Box 45"/>
            <p:cNvSpPr txBox="1">
              <a:spLocks noChangeArrowheads="1"/>
            </p:cNvSpPr>
            <p:nvPr/>
          </p:nvSpPr>
          <p:spPr bwMode="auto">
            <a:xfrm>
              <a:off x="3144" y="433"/>
              <a:ext cx="2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6062" name="Text Box 46"/>
            <p:cNvSpPr txBox="1">
              <a:spLocks noChangeArrowheads="1"/>
            </p:cNvSpPr>
            <p:nvPr/>
          </p:nvSpPr>
          <p:spPr bwMode="auto">
            <a:xfrm>
              <a:off x="3734" y="1357"/>
              <a:ext cx="2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6063" name="Text Box 47"/>
            <p:cNvSpPr txBox="1">
              <a:spLocks noChangeArrowheads="1"/>
            </p:cNvSpPr>
            <p:nvPr/>
          </p:nvSpPr>
          <p:spPr bwMode="auto">
            <a:xfrm>
              <a:off x="2590" y="1310"/>
              <a:ext cx="2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86066" name="AutoShape 50"/>
            <p:cNvSpPr>
              <a:spLocks noChangeArrowheads="1"/>
            </p:cNvSpPr>
            <p:nvPr/>
          </p:nvSpPr>
          <p:spPr bwMode="auto">
            <a:xfrm>
              <a:off x="2770" y="708"/>
              <a:ext cx="970" cy="79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55" name="Rectangle 39"/>
            <p:cNvSpPr>
              <a:spLocks noChangeArrowheads="1"/>
            </p:cNvSpPr>
            <p:nvPr/>
          </p:nvSpPr>
          <p:spPr bwMode="auto">
            <a:xfrm rot="19800000">
              <a:off x="3457" y="995"/>
              <a:ext cx="102" cy="26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57" name="Rectangle 41"/>
            <p:cNvSpPr>
              <a:spLocks noChangeArrowheads="1"/>
            </p:cNvSpPr>
            <p:nvPr/>
          </p:nvSpPr>
          <p:spPr bwMode="auto">
            <a:xfrm rot="1800000">
              <a:off x="2954" y="987"/>
              <a:ext cx="102" cy="26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56" name="Rectangle 40"/>
            <p:cNvSpPr>
              <a:spLocks noChangeArrowheads="1"/>
            </p:cNvSpPr>
            <p:nvPr/>
          </p:nvSpPr>
          <p:spPr bwMode="auto">
            <a:xfrm rot="5400000">
              <a:off x="3219" y="1365"/>
              <a:ext cx="100" cy="27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67" name="Oval 51"/>
            <p:cNvSpPr>
              <a:spLocks noChangeArrowheads="1"/>
            </p:cNvSpPr>
            <p:nvPr/>
          </p:nvSpPr>
          <p:spPr bwMode="auto">
            <a:xfrm>
              <a:off x="3235" y="696"/>
              <a:ext cx="45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68" name="Oval 52"/>
            <p:cNvSpPr>
              <a:spLocks noChangeArrowheads="1"/>
            </p:cNvSpPr>
            <p:nvPr/>
          </p:nvSpPr>
          <p:spPr bwMode="auto">
            <a:xfrm>
              <a:off x="2752" y="1469"/>
              <a:ext cx="45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69" name="Oval 53"/>
            <p:cNvSpPr>
              <a:spLocks noChangeArrowheads="1"/>
            </p:cNvSpPr>
            <p:nvPr/>
          </p:nvSpPr>
          <p:spPr bwMode="auto">
            <a:xfrm>
              <a:off x="3710" y="1472"/>
              <a:ext cx="45" cy="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70" name="Line 54"/>
            <p:cNvSpPr>
              <a:spLocks noChangeShapeType="1"/>
            </p:cNvSpPr>
            <p:nvPr/>
          </p:nvSpPr>
          <p:spPr bwMode="auto">
            <a:xfrm rot="3600000">
              <a:off x="3433" y="1039"/>
              <a:ext cx="39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6071" name="Object 55"/>
            <p:cNvGraphicFramePr>
              <a:graphicFrameLocks noChangeAspect="1"/>
            </p:cNvGraphicFramePr>
            <p:nvPr/>
          </p:nvGraphicFramePr>
          <p:xfrm>
            <a:off x="3679" y="802"/>
            <a:ext cx="270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90" name="Equation" r:id="rId7" imgW="215640" imgH="241200" progId="Equation.3">
                    <p:embed/>
                  </p:oleObj>
                </mc:Choice>
                <mc:Fallback>
                  <p:oleObj name="Equation" r:id="rId7" imgW="215640" imgH="24120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9" y="802"/>
                          <a:ext cx="270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6072" name="Line 56"/>
            <p:cNvSpPr>
              <a:spLocks noChangeShapeType="1"/>
            </p:cNvSpPr>
            <p:nvPr/>
          </p:nvSpPr>
          <p:spPr bwMode="auto">
            <a:xfrm flipH="1">
              <a:off x="3122" y="1640"/>
              <a:ext cx="433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74" name="Line 58"/>
            <p:cNvSpPr>
              <a:spLocks noChangeShapeType="1"/>
            </p:cNvSpPr>
            <p:nvPr/>
          </p:nvSpPr>
          <p:spPr bwMode="auto">
            <a:xfrm rot="7200000" flipH="1">
              <a:off x="2662" y="1091"/>
              <a:ext cx="42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6143" name="Object 127"/>
            <p:cNvGraphicFramePr>
              <a:graphicFrameLocks noChangeAspect="1"/>
            </p:cNvGraphicFramePr>
            <p:nvPr/>
          </p:nvGraphicFramePr>
          <p:xfrm>
            <a:off x="565" y="784"/>
            <a:ext cx="28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91" name="Equation" r:id="rId9" imgW="228600" imgH="228600" progId="Equation.3">
                    <p:embed/>
                  </p:oleObj>
                </mc:Choice>
                <mc:Fallback>
                  <p:oleObj name="Equation" r:id="rId9" imgW="228600" imgH="228600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" y="784"/>
                          <a:ext cx="28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144" name="Object 128"/>
            <p:cNvGraphicFramePr>
              <a:graphicFrameLocks noChangeAspect="1"/>
            </p:cNvGraphicFramePr>
            <p:nvPr/>
          </p:nvGraphicFramePr>
          <p:xfrm>
            <a:off x="1283" y="1185"/>
            <a:ext cx="28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92" name="Equation" r:id="rId11" imgW="228600" imgH="228600" progId="Equation.3">
                    <p:embed/>
                  </p:oleObj>
                </mc:Choice>
                <mc:Fallback>
                  <p:oleObj name="Equation" r:id="rId11" imgW="228600" imgH="228600" progId="Equation.3">
                    <p:embed/>
                    <p:pic>
                      <p:nvPicPr>
                        <p:cNvPr id="0" name="Object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3" y="1185"/>
                          <a:ext cx="28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145" name="Object 129"/>
            <p:cNvGraphicFramePr>
              <a:graphicFrameLocks noChangeAspect="1"/>
            </p:cNvGraphicFramePr>
            <p:nvPr/>
          </p:nvGraphicFramePr>
          <p:xfrm>
            <a:off x="328" y="1205"/>
            <a:ext cx="28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93" name="Equation" r:id="rId13" imgW="228600" imgH="241200" progId="Equation.3">
                    <p:embed/>
                  </p:oleObj>
                </mc:Choice>
                <mc:Fallback>
                  <p:oleObj name="Equation" r:id="rId13" imgW="228600" imgH="241200" progId="Equation.3">
                    <p:embed/>
                    <p:pic>
                      <p:nvPicPr>
                        <p:cNvPr id="0" name="Object 1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" y="1205"/>
                          <a:ext cx="285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146" name="Object 130"/>
            <p:cNvGraphicFramePr>
              <a:graphicFrameLocks noChangeAspect="1"/>
            </p:cNvGraphicFramePr>
            <p:nvPr/>
          </p:nvGraphicFramePr>
          <p:xfrm>
            <a:off x="2413" y="441"/>
            <a:ext cx="237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94" name="Equation" r:id="rId15" imgW="190440" imgH="228600" progId="Equation.3">
                    <p:embed/>
                  </p:oleObj>
                </mc:Choice>
                <mc:Fallback>
                  <p:oleObj name="Equation" r:id="rId15" imgW="190440" imgH="228600" progId="Equation.3">
                    <p:embed/>
                    <p:pic>
                      <p:nvPicPr>
                        <p:cNvPr id="0" name="Object 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3" y="441"/>
                          <a:ext cx="237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147" name="Object 131"/>
            <p:cNvGraphicFramePr>
              <a:graphicFrameLocks noChangeAspect="1"/>
            </p:cNvGraphicFramePr>
            <p:nvPr/>
          </p:nvGraphicFramePr>
          <p:xfrm>
            <a:off x="2323" y="1481"/>
            <a:ext cx="237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95" name="Equation" r:id="rId17" imgW="190440" imgH="228600" progId="Equation.3">
                    <p:embed/>
                  </p:oleObj>
                </mc:Choice>
                <mc:Fallback>
                  <p:oleObj name="Equation" r:id="rId17" imgW="190440" imgH="228600" progId="Equation.3">
                    <p:embed/>
                    <p:pic>
                      <p:nvPicPr>
                        <p:cNvPr id="0" name="Object 1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3" y="1481"/>
                          <a:ext cx="237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148" name="Object 132"/>
            <p:cNvGraphicFramePr>
              <a:graphicFrameLocks noChangeAspect="1"/>
            </p:cNvGraphicFramePr>
            <p:nvPr/>
          </p:nvGraphicFramePr>
          <p:xfrm>
            <a:off x="2272" y="1743"/>
            <a:ext cx="23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96" name="Equation" r:id="rId19" imgW="190440" imgH="241200" progId="Equation.3">
                    <p:embed/>
                  </p:oleObj>
                </mc:Choice>
                <mc:Fallback>
                  <p:oleObj name="Equation" r:id="rId19" imgW="190440" imgH="241200" progId="Equation.3">
                    <p:embed/>
                    <p:pic>
                      <p:nvPicPr>
                        <p:cNvPr id="0" name="Object 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2" y="1743"/>
                          <a:ext cx="237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150" name="Object 134"/>
            <p:cNvGraphicFramePr>
              <a:graphicFrameLocks noChangeAspect="1"/>
            </p:cNvGraphicFramePr>
            <p:nvPr/>
          </p:nvGraphicFramePr>
          <p:xfrm>
            <a:off x="2605" y="878"/>
            <a:ext cx="270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97" name="Equation" r:id="rId21" imgW="215640" imgH="241200" progId="Equation.3">
                    <p:embed/>
                  </p:oleObj>
                </mc:Choice>
                <mc:Fallback>
                  <p:oleObj name="Equation" r:id="rId21" imgW="215640" imgH="241200" progId="Equation.3">
                    <p:embed/>
                    <p:pic>
                      <p:nvPicPr>
                        <p:cNvPr id="0" name="Object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5" y="878"/>
                          <a:ext cx="270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151" name="Object 135"/>
            <p:cNvGraphicFramePr>
              <a:graphicFrameLocks noChangeAspect="1"/>
            </p:cNvGraphicFramePr>
            <p:nvPr/>
          </p:nvGraphicFramePr>
          <p:xfrm>
            <a:off x="2852" y="1516"/>
            <a:ext cx="270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298" name="Equation" r:id="rId23" imgW="215640" imgH="241200" progId="Equation.3">
                    <p:embed/>
                  </p:oleObj>
                </mc:Choice>
                <mc:Fallback>
                  <p:oleObj name="Equation" r:id="rId23" imgW="215640" imgH="241200" progId="Equation.3">
                    <p:embed/>
                    <p:pic>
                      <p:nvPicPr>
                        <p:cNvPr id="0" name="Object 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2" y="1516"/>
                          <a:ext cx="270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6153" name="Object 137"/>
          <p:cNvGraphicFramePr>
            <a:graphicFrameLocks noChangeAspect="1"/>
          </p:cNvGraphicFramePr>
          <p:nvPr/>
        </p:nvGraphicFramePr>
        <p:xfrm>
          <a:off x="565150" y="3929063"/>
          <a:ext cx="3679825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99" name="公式" r:id="rId25" imgW="1803240" imgH="787320" progId="Equation.3">
                  <p:embed/>
                </p:oleObj>
              </mc:Choice>
              <mc:Fallback>
                <p:oleObj name="公式" r:id="rId25" imgW="1803240" imgH="787320" progId="Equation.3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" y="3929063"/>
                        <a:ext cx="3679825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6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8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6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6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6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6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78" grpId="0" autoUpdateAnimBg="0"/>
      <p:bldP spid="86137" grpId="0" autoUpdateAnimBg="0"/>
      <p:bldP spid="8614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169863" y="287338"/>
            <a:ext cx="6280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利用相量图得到相电流和线电流之间的关系：</a:t>
            </a:r>
          </a:p>
        </p:txBody>
      </p:sp>
      <p:graphicFrame>
        <p:nvGraphicFramePr>
          <p:cNvPr id="150533" name="Object 5"/>
          <p:cNvGraphicFramePr>
            <a:graphicFrameLocks noChangeAspect="1"/>
          </p:cNvGraphicFramePr>
          <p:nvPr/>
        </p:nvGraphicFramePr>
        <p:xfrm>
          <a:off x="2259013" y="1233488"/>
          <a:ext cx="1717675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7" name="Equation" r:id="rId3" imgW="863280" imgH="736560" progId="Equation.3">
                  <p:embed/>
                </p:oleObj>
              </mc:Choice>
              <mc:Fallback>
                <p:oleObj name="Equation" r:id="rId3" imgW="863280" imgH="736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1233488"/>
                        <a:ext cx="1717675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0534" name="Group 6"/>
          <p:cNvGrpSpPr>
            <a:grpSpLocks/>
          </p:cNvGrpSpPr>
          <p:nvPr/>
        </p:nvGrpSpPr>
        <p:grpSpPr bwMode="auto">
          <a:xfrm>
            <a:off x="654050" y="5145088"/>
            <a:ext cx="8070850" cy="530225"/>
            <a:chOff x="244" y="3313"/>
            <a:chExt cx="5084" cy="334"/>
          </a:xfrm>
        </p:grpSpPr>
        <p:sp>
          <p:nvSpPr>
            <p:cNvPr id="150535" name="Text Box 7"/>
            <p:cNvSpPr txBox="1">
              <a:spLocks noChangeArrowheads="1"/>
            </p:cNvSpPr>
            <p:nvPr/>
          </p:nvSpPr>
          <p:spPr bwMode="auto">
            <a:xfrm>
              <a:off x="244" y="3313"/>
              <a:ext cx="508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81000" indent="-381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</a:rPr>
                <a:t> </a:t>
              </a:r>
              <a:r>
                <a:rPr lang="zh-CN" altLang="en-US">
                  <a:solidFill>
                    <a:schemeClr val="accent2"/>
                  </a:solidFill>
                </a:rPr>
                <a:t>线电流大小是相电流的    倍，相位落后相应相电流</a:t>
              </a:r>
              <a:r>
                <a:rPr lang="en-US" altLang="zh-CN">
                  <a:solidFill>
                    <a:schemeClr val="accent2"/>
                  </a:solidFill>
                </a:rPr>
                <a:t>30°</a:t>
              </a:r>
              <a:r>
                <a:rPr lang="zh-CN" altLang="en-US">
                  <a:solidFill>
                    <a:schemeClr val="accent2"/>
                  </a:solidFill>
                </a:rPr>
                <a:t>。</a:t>
              </a:r>
            </a:p>
          </p:txBody>
        </p:sp>
        <p:graphicFrame>
          <p:nvGraphicFramePr>
            <p:cNvPr id="150536" name="Object 8"/>
            <p:cNvGraphicFramePr>
              <a:graphicFrameLocks noChangeAspect="1"/>
            </p:cNvGraphicFramePr>
            <p:nvPr/>
          </p:nvGraphicFramePr>
          <p:xfrm>
            <a:off x="2208" y="3345"/>
            <a:ext cx="30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68" name="公式" r:id="rId5" imgW="241200" imgH="228600" progId="Equation.3">
                    <p:embed/>
                  </p:oleObj>
                </mc:Choice>
                <mc:Fallback>
                  <p:oleObj name="公式" r:id="rId5" imgW="241200" imgH="228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3345"/>
                          <a:ext cx="30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0537" name="Object 9"/>
          <p:cNvGraphicFramePr>
            <a:graphicFrameLocks noChangeAspect="1"/>
          </p:cNvGraphicFramePr>
          <p:nvPr/>
        </p:nvGraphicFramePr>
        <p:xfrm>
          <a:off x="1965325" y="3128963"/>
          <a:ext cx="2432050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9" name="Equation" r:id="rId7" imgW="1180800" imgH="787320" progId="Equation.3">
                  <p:embed/>
                </p:oleObj>
              </mc:Choice>
              <mc:Fallback>
                <p:oleObj name="Equation" r:id="rId7" imgW="1180800" imgH="7873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3128963"/>
                        <a:ext cx="2432050" cy="1622425"/>
                      </a:xfrm>
                      <a:prstGeom prst="rect">
                        <a:avLst/>
                      </a:prstGeom>
                      <a:solidFill>
                        <a:srgbClr val="CC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8" name="Rectangle 10"/>
          <p:cNvSpPr>
            <a:spLocks noChangeArrowheads="1"/>
          </p:cNvSpPr>
          <p:nvPr/>
        </p:nvSpPr>
        <p:spPr bwMode="auto">
          <a:xfrm>
            <a:off x="457200" y="100965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线电流为</a:t>
            </a:r>
          </a:p>
        </p:txBody>
      </p:sp>
      <p:grpSp>
        <p:nvGrpSpPr>
          <p:cNvPr id="150539" name="Group 11"/>
          <p:cNvGrpSpPr>
            <a:grpSpLocks/>
          </p:cNvGrpSpPr>
          <p:nvPr/>
        </p:nvGrpSpPr>
        <p:grpSpPr bwMode="auto">
          <a:xfrm>
            <a:off x="7104063" y="2287588"/>
            <a:ext cx="1893887" cy="1128712"/>
            <a:chOff x="3873" y="562"/>
            <a:chExt cx="1193" cy="711"/>
          </a:xfrm>
        </p:grpSpPr>
        <p:graphicFrame>
          <p:nvGraphicFramePr>
            <p:cNvPr id="150540" name="Object 12"/>
            <p:cNvGraphicFramePr>
              <a:graphicFrameLocks noChangeAspect="1"/>
            </p:cNvGraphicFramePr>
            <p:nvPr/>
          </p:nvGraphicFramePr>
          <p:xfrm>
            <a:off x="4808" y="963"/>
            <a:ext cx="258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70" name="Equation" r:id="rId9" imgW="190440" imgH="228600" progId="Equation.3">
                    <p:embed/>
                  </p:oleObj>
                </mc:Choice>
                <mc:Fallback>
                  <p:oleObj name="Equation" r:id="rId9" imgW="19044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8" y="963"/>
                          <a:ext cx="258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0541" name="Line 13"/>
            <p:cNvSpPr>
              <a:spLocks noChangeShapeType="1"/>
            </p:cNvSpPr>
            <p:nvPr/>
          </p:nvSpPr>
          <p:spPr bwMode="auto">
            <a:xfrm rot="7089965" flipV="1">
              <a:off x="4366" y="330"/>
              <a:ext cx="28" cy="101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2" name="Text Box 14"/>
            <p:cNvSpPr txBox="1">
              <a:spLocks noChangeArrowheads="1"/>
            </p:cNvSpPr>
            <p:nvPr/>
          </p:nvSpPr>
          <p:spPr bwMode="auto">
            <a:xfrm>
              <a:off x="4136" y="562"/>
              <a:ext cx="3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</a:rPr>
                <a:t>30</a:t>
              </a:r>
              <a:r>
                <a:rPr lang="en-US" altLang="zh-CN" sz="2000" baseline="40000">
                  <a:solidFill>
                    <a:schemeClr val="tx1"/>
                  </a:solidFill>
                </a:rPr>
                <a:t>o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150543" name="Arc 15"/>
            <p:cNvSpPr>
              <a:spLocks/>
            </p:cNvSpPr>
            <p:nvPr/>
          </p:nvSpPr>
          <p:spPr bwMode="auto">
            <a:xfrm rot="17161359" flipV="1">
              <a:off x="4032" y="606"/>
              <a:ext cx="85" cy="48"/>
            </a:xfrm>
            <a:custGeom>
              <a:avLst/>
              <a:gdLst>
                <a:gd name="G0" fmla="+- 31 0 0"/>
                <a:gd name="G1" fmla="+- 21600 0 0"/>
                <a:gd name="G2" fmla="+- 21600 0 0"/>
                <a:gd name="T0" fmla="*/ 0 w 21631"/>
                <a:gd name="T1" fmla="*/ 0 h 21600"/>
                <a:gd name="T2" fmla="*/ 21631 w 21631"/>
                <a:gd name="T3" fmla="*/ 21600 h 21600"/>
                <a:gd name="T4" fmla="*/ 31 w 2163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31" h="21600" fill="none" extrusionOk="0">
                  <a:moveTo>
                    <a:pt x="0" y="0"/>
                  </a:moveTo>
                  <a:cubicBezTo>
                    <a:pt x="10" y="0"/>
                    <a:pt x="20" y="0"/>
                    <a:pt x="31" y="0"/>
                  </a:cubicBezTo>
                  <a:cubicBezTo>
                    <a:pt x="11960" y="0"/>
                    <a:pt x="21631" y="9670"/>
                    <a:pt x="21631" y="21600"/>
                  </a:cubicBezTo>
                </a:path>
                <a:path w="21631" h="21600" stroke="0" extrusionOk="0">
                  <a:moveTo>
                    <a:pt x="0" y="0"/>
                  </a:moveTo>
                  <a:cubicBezTo>
                    <a:pt x="10" y="0"/>
                    <a:pt x="20" y="0"/>
                    <a:pt x="31" y="0"/>
                  </a:cubicBezTo>
                  <a:cubicBezTo>
                    <a:pt x="11960" y="0"/>
                    <a:pt x="21631" y="9670"/>
                    <a:pt x="21631" y="21600"/>
                  </a:cubicBezTo>
                  <a:lnTo>
                    <a:pt x="31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4" name="Line 16"/>
            <p:cNvSpPr>
              <a:spLocks noChangeShapeType="1"/>
            </p:cNvSpPr>
            <p:nvPr/>
          </p:nvSpPr>
          <p:spPr bwMode="auto">
            <a:xfrm>
              <a:off x="4492" y="564"/>
              <a:ext cx="300" cy="51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0545" name="Group 17"/>
          <p:cNvGrpSpPr>
            <a:grpSpLocks/>
          </p:cNvGrpSpPr>
          <p:nvPr/>
        </p:nvGrpSpPr>
        <p:grpSpPr bwMode="auto">
          <a:xfrm>
            <a:off x="6283325" y="1022350"/>
            <a:ext cx="2279650" cy="2351088"/>
            <a:chOff x="3310" y="687"/>
            <a:chExt cx="1436" cy="1481"/>
          </a:xfrm>
        </p:grpSpPr>
        <p:graphicFrame>
          <p:nvGraphicFramePr>
            <p:cNvPr id="150546" name="Object 18"/>
            <p:cNvGraphicFramePr>
              <a:graphicFrameLocks noChangeAspect="1"/>
            </p:cNvGraphicFramePr>
            <p:nvPr/>
          </p:nvGraphicFramePr>
          <p:xfrm>
            <a:off x="3361" y="687"/>
            <a:ext cx="29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71" name="Equation" r:id="rId11" imgW="215640" imgH="241200" progId="Equation.3">
                    <p:embed/>
                  </p:oleObj>
                </mc:Choice>
                <mc:Fallback>
                  <p:oleObj name="Equation" r:id="rId11" imgW="215640" imgH="2412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1" y="687"/>
                          <a:ext cx="29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0547" name="Line 19"/>
            <p:cNvSpPr>
              <a:spLocks noChangeShapeType="1"/>
            </p:cNvSpPr>
            <p:nvPr/>
          </p:nvSpPr>
          <p:spPr bwMode="auto">
            <a:xfrm>
              <a:off x="3873" y="1491"/>
              <a:ext cx="5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8" name="Line 20"/>
            <p:cNvSpPr>
              <a:spLocks noChangeShapeType="1"/>
            </p:cNvSpPr>
            <p:nvPr/>
          </p:nvSpPr>
          <p:spPr bwMode="auto">
            <a:xfrm rot="14400000">
              <a:off x="3428" y="1228"/>
              <a:ext cx="5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49" name="Line 21"/>
            <p:cNvSpPr>
              <a:spLocks noChangeShapeType="1"/>
            </p:cNvSpPr>
            <p:nvPr/>
          </p:nvSpPr>
          <p:spPr bwMode="auto">
            <a:xfrm rot="7200000">
              <a:off x="3428" y="1742"/>
              <a:ext cx="5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0550" name="Object 22"/>
            <p:cNvGraphicFramePr>
              <a:graphicFrameLocks noChangeAspect="1"/>
            </p:cNvGraphicFramePr>
            <p:nvPr/>
          </p:nvGraphicFramePr>
          <p:xfrm>
            <a:off x="4452" y="1342"/>
            <a:ext cx="29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72" name="Equation" r:id="rId13" imgW="215640" imgH="241200" progId="Equation.3">
                    <p:embed/>
                  </p:oleObj>
                </mc:Choice>
                <mc:Fallback>
                  <p:oleObj name="Equation" r:id="rId13" imgW="215640" imgH="2412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2" y="1342"/>
                          <a:ext cx="29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51" name="Object 23"/>
            <p:cNvGraphicFramePr>
              <a:graphicFrameLocks noChangeAspect="1"/>
            </p:cNvGraphicFramePr>
            <p:nvPr/>
          </p:nvGraphicFramePr>
          <p:xfrm>
            <a:off x="3310" y="1840"/>
            <a:ext cx="29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73" name="Equation" r:id="rId15" imgW="215640" imgH="241200" progId="Equation.3">
                    <p:embed/>
                  </p:oleObj>
                </mc:Choice>
                <mc:Fallback>
                  <p:oleObj name="Equation" r:id="rId15" imgW="215640" imgH="2412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0" y="1840"/>
                          <a:ext cx="29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0552" name="Group 24"/>
          <p:cNvGrpSpPr>
            <a:grpSpLocks/>
          </p:cNvGrpSpPr>
          <p:nvPr/>
        </p:nvGrpSpPr>
        <p:grpSpPr bwMode="auto">
          <a:xfrm>
            <a:off x="5357813" y="477838"/>
            <a:ext cx="2270125" cy="2817812"/>
            <a:chOff x="1763" y="564"/>
            <a:chExt cx="1430" cy="1775"/>
          </a:xfrm>
        </p:grpSpPr>
        <p:sp>
          <p:nvSpPr>
            <p:cNvPr id="150553" name="Text Box 25"/>
            <p:cNvSpPr txBox="1">
              <a:spLocks noChangeArrowheads="1"/>
            </p:cNvSpPr>
            <p:nvPr/>
          </p:nvSpPr>
          <p:spPr bwMode="auto">
            <a:xfrm>
              <a:off x="2637" y="1184"/>
              <a:ext cx="3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</a:rPr>
                <a:t>30</a:t>
              </a:r>
              <a:r>
                <a:rPr lang="en-US" altLang="zh-CN" sz="2000" baseline="40000">
                  <a:solidFill>
                    <a:schemeClr val="tx1"/>
                  </a:solidFill>
                </a:rPr>
                <a:t>o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grpSp>
          <p:nvGrpSpPr>
            <p:cNvPr id="150554" name="Group 26"/>
            <p:cNvGrpSpPr>
              <a:grpSpLocks/>
            </p:cNvGrpSpPr>
            <p:nvPr/>
          </p:nvGrpSpPr>
          <p:grpSpPr bwMode="auto">
            <a:xfrm>
              <a:off x="2443" y="1837"/>
              <a:ext cx="340" cy="275"/>
              <a:chOff x="1333" y="1489"/>
              <a:chExt cx="340" cy="275"/>
            </a:xfrm>
          </p:grpSpPr>
          <p:sp>
            <p:nvSpPr>
              <p:cNvPr id="150555" name="Text Box 27"/>
              <p:cNvSpPr txBox="1">
                <a:spLocks noChangeArrowheads="1"/>
              </p:cNvSpPr>
              <p:nvPr/>
            </p:nvSpPr>
            <p:spPr bwMode="auto">
              <a:xfrm>
                <a:off x="1333" y="1514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chemeClr val="tx1"/>
                    </a:solidFill>
                  </a:rPr>
                  <a:t>30</a:t>
                </a:r>
                <a:r>
                  <a:rPr lang="en-US" altLang="zh-CN" sz="2000" baseline="40000">
                    <a:solidFill>
                      <a:schemeClr val="tx1"/>
                    </a:solidFill>
                  </a:rPr>
                  <a:t>o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50556" name="Arc 28"/>
              <p:cNvSpPr>
                <a:spLocks/>
              </p:cNvSpPr>
              <p:nvPr/>
            </p:nvSpPr>
            <p:spPr bwMode="auto">
              <a:xfrm rot="2633826" flipV="1">
                <a:off x="1589" y="1489"/>
                <a:ext cx="84" cy="48"/>
              </a:xfrm>
              <a:custGeom>
                <a:avLst/>
                <a:gdLst>
                  <a:gd name="G0" fmla="+- 31 0 0"/>
                  <a:gd name="G1" fmla="+- 21600 0 0"/>
                  <a:gd name="G2" fmla="+- 21600 0 0"/>
                  <a:gd name="T0" fmla="*/ 0 w 21631"/>
                  <a:gd name="T1" fmla="*/ 0 h 21600"/>
                  <a:gd name="T2" fmla="*/ 21631 w 21631"/>
                  <a:gd name="T3" fmla="*/ 21600 h 21600"/>
                  <a:gd name="T4" fmla="*/ 31 w 2163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31" h="21600" fill="none" extrusionOk="0">
                    <a:moveTo>
                      <a:pt x="0" y="0"/>
                    </a:moveTo>
                    <a:cubicBezTo>
                      <a:pt x="10" y="0"/>
                      <a:pt x="20" y="0"/>
                      <a:pt x="31" y="0"/>
                    </a:cubicBezTo>
                    <a:cubicBezTo>
                      <a:pt x="11960" y="0"/>
                      <a:pt x="21631" y="9670"/>
                      <a:pt x="21631" y="21600"/>
                    </a:cubicBezTo>
                  </a:path>
                  <a:path w="21631" h="21600" stroke="0" extrusionOk="0">
                    <a:moveTo>
                      <a:pt x="0" y="0"/>
                    </a:moveTo>
                    <a:cubicBezTo>
                      <a:pt x="10" y="0"/>
                      <a:pt x="20" y="0"/>
                      <a:pt x="31" y="0"/>
                    </a:cubicBezTo>
                    <a:cubicBezTo>
                      <a:pt x="11960" y="0"/>
                      <a:pt x="21631" y="9670"/>
                      <a:pt x="21631" y="21600"/>
                    </a:cubicBezTo>
                    <a:lnTo>
                      <a:pt x="31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0557" name="Arc 29"/>
            <p:cNvSpPr>
              <a:spLocks/>
            </p:cNvSpPr>
            <p:nvPr/>
          </p:nvSpPr>
          <p:spPr bwMode="auto">
            <a:xfrm rot="9386495" flipV="1">
              <a:off x="2831" y="1502"/>
              <a:ext cx="84" cy="48"/>
            </a:xfrm>
            <a:custGeom>
              <a:avLst/>
              <a:gdLst>
                <a:gd name="G0" fmla="+- 31 0 0"/>
                <a:gd name="G1" fmla="+- 21600 0 0"/>
                <a:gd name="G2" fmla="+- 21600 0 0"/>
                <a:gd name="T0" fmla="*/ 0 w 21631"/>
                <a:gd name="T1" fmla="*/ 0 h 21600"/>
                <a:gd name="T2" fmla="*/ 21631 w 21631"/>
                <a:gd name="T3" fmla="*/ 21600 h 21600"/>
                <a:gd name="T4" fmla="*/ 31 w 2163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31" h="21600" fill="none" extrusionOk="0">
                  <a:moveTo>
                    <a:pt x="0" y="0"/>
                  </a:moveTo>
                  <a:cubicBezTo>
                    <a:pt x="10" y="0"/>
                    <a:pt x="20" y="0"/>
                    <a:pt x="31" y="0"/>
                  </a:cubicBezTo>
                  <a:cubicBezTo>
                    <a:pt x="11960" y="0"/>
                    <a:pt x="21631" y="9670"/>
                    <a:pt x="21631" y="21600"/>
                  </a:cubicBezTo>
                </a:path>
                <a:path w="21631" h="21600" stroke="0" extrusionOk="0">
                  <a:moveTo>
                    <a:pt x="0" y="0"/>
                  </a:moveTo>
                  <a:cubicBezTo>
                    <a:pt x="10" y="0"/>
                    <a:pt x="20" y="0"/>
                    <a:pt x="31" y="0"/>
                  </a:cubicBezTo>
                  <a:cubicBezTo>
                    <a:pt x="11960" y="0"/>
                    <a:pt x="21631" y="9670"/>
                    <a:pt x="21631" y="21600"/>
                  </a:cubicBezTo>
                  <a:lnTo>
                    <a:pt x="31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58" name="Line 30"/>
            <p:cNvSpPr>
              <a:spLocks noChangeShapeType="1"/>
            </p:cNvSpPr>
            <p:nvPr/>
          </p:nvSpPr>
          <p:spPr bwMode="auto">
            <a:xfrm rot="14400000" flipV="1">
              <a:off x="2414" y="1450"/>
              <a:ext cx="27" cy="101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59" name="Line 31"/>
            <p:cNvSpPr>
              <a:spLocks noChangeShapeType="1"/>
            </p:cNvSpPr>
            <p:nvPr/>
          </p:nvSpPr>
          <p:spPr bwMode="auto">
            <a:xfrm rot="21523101" flipV="1">
              <a:off x="2886" y="686"/>
              <a:ext cx="23" cy="102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60" name="Line 32"/>
            <p:cNvSpPr>
              <a:spLocks noChangeShapeType="1"/>
            </p:cNvSpPr>
            <p:nvPr/>
          </p:nvSpPr>
          <p:spPr bwMode="auto">
            <a:xfrm flipV="1">
              <a:off x="2634" y="732"/>
              <a:ext cx="264" cy="48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61" name="Line 33"/>
            <p:cNvSpPr>
              <a:spLocks noChangeShapeType="1"/>
            </p:cNvSpPr>
            <p:nvPr/>
          </p:nvSpPr>
          <p:spPr bwMode="auto">
            <a:xfrm>
              <a:off x="2022" y="2184"/>
              <a:ext cx="60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0562" name="Object 34"/>
            <p:cNvGraphicFramePr>
              <a:graphicFrameLocks noChangeAspect="1"/>
            </p:cNvGraphicFramePr>
            <p:nvPr/>
          </p:nvGraphicFramePr>
          <p:xfrm>
            <a:off x="1763" y="2029"/>
            <a:ext cx="258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74" name="Equation" r:id="rId17" imgW="190440" imgH="228600" progId="Equation.3">
                    <p:embed/>
                  </p:oleObj>
                </mc:Choice>
                <mc:Fallback>
                  <p:oleObj name="Equation" r:id="rId17" imgW="190440" imgH="2286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" y="2029"/>
                          <a:ext cx="258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63" name="Object 35"/>
            <p:cNvGraphicFramePr>
              <a:graphicFrameLocks noChangeAspect="1"/>
            </p:cNvGraphicFramePr>
            <p:nvPr/>
          </p:nvGraphicFramePr>
          <p:xfrm>
            <a:off x="2935" y="564"/>
            <a:ext cx="258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75" name="Equation" r:id="rId19" imgW="190440" imgH="241200" progId="Equation.3">
                    <p:embed/>
                  </p:oleObj>
                </mc:Choice>
                <mc:Fallback>
                  <p:oleObj name="Equation" r:id="rId19" imgW="190440" imgH="2412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5" y="564"/>
                          <a:ext cx="258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90" name="Rectangle 250"/>
          <p:cNvSpPr>
            <a:spLocks noChangeArrowheads="1"/>
          </p:cNvSpPr>
          <p:nvPr/>
        </p:nvSpPr>
        <p:spPr bwMode="auto">
          <a:xfrm>
            <a:off x="495300" y="512763"/>
            <a:ext cx="45159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上述电路也可用分相法进行计算</a:t>
            </a:r>
          </a:p>
        </p:txBody>
      </p:sp>
      <p:grpSp>
        <p:nvGrpSpPr>
          <p:cNvPr id="87291" name="Group 251"/>
          <p:cNvGrpSpPr>
            <a:grpSpLocks/>
          </p:cNvGrpSpPr>
          <p:nvPr/>
        </p:nvGrpSpPr>
        <p:grpSpPr bwMode="auto">
          <a:xfrm>
            <a:off x="6215063" y="1616075"/>
            <a:ext cx="2928937" cy="2103438"/>
            <a:chOff x="3915" y="1294"/>
            <a:chExt cx="1845" cy="1325"/>
          </a:xfrm>
        </p:grpSpPr>
        <p:sp>
          <p:nvSpPr>
            <p:cNvPr id="87292" name="Rectangle 252"/>
            <p:cNvSpPr>
              <a:spLocks noChangeArrowheads="1"/>
            </p:cNvSpPr>
            <p:nvPr/>
          </p:nvSpPr>
          <p:spPr bwMode="auto">
            <a:xfrm>
              <a:off x="5260" y="1875"/>
              <a:ext cx="102" cy="29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293" name="Oval 253"/>
            <p:cNvSpPr>
              <a:spLocks noChangeArrowheads="1"/>
            </p:cNvSpPr>
            <p:nvPr/>
          </p:nvSpPr>
          <p:spPr bwMode="auto">
            <a:xfrm>
              <a:off x="4169" y="1851"/>
              <a:ext cx="295" cy="295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294" name="Line 254"/>
            <p:cNvSpPr>
              <a:spLocks noChangeShapeType="1"/>
            </p:cNvSpPr>
            <p:nvPr/>
          </p:nvSpPr>
          <p:spPr bwMode="auto">
            <a:xfrm>
              <a:off x="4322" y="1629"/>
              <a:ext cx="0" cy="8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295" name="Line 255"/>
            <p:cNvSpPr>
              <a:spLocks noChangeShapeType="1"/>
            </p:cNvSpPr>
            <p:nvPr/>
          </p:nvSpPr>
          <p:spPr bwMode="auto">
            <a:xfrm>
              <a:off x="5309" y="1629"/>
              <a:ext cx="0" cy="2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296" name="Line 256"/>
            <p:cNvSpPr>
              <a:spLocks noChangeShapeType="1"/>
            </p:cNvSpPr>
            <p:nvPr/>
          </p:nvSpPr>
          <p:spPr bwMode="auto">
            <a:xfrm>
              <a:off x="5309" y="2170"/>
              <a:ext cx="0" cy="2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297" name="Line 257"/>
            <p:cNvSpPr>
              <a:spLocks noChangeShapeType="1"/>
            </p:cNvSpPr>
            <p:nvPr/>
          </p:nvSpPr>
          <p:spPr bwMode="auto">
            <a:xfrm>
              <a:off x="4322" y="2451"/>
              <a:ext cx="9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298" name="Line 258"/>
            <p:cNvSpPr>
              <a:spLocks noChangeShapeType="1"/>
            </p:cNvSpPr>
            <p:nvPr/>
          </p:nvSpPr>
          <p:spPr bwMode="auto">
            <a:xfrm>
              <a:off x="4322" y="1629"/>
              <a:ext cx="9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299" name="Text Box 259"/>
            <p:cNvSpPr txBox="1">
              <a:spLocks noChangeArrowheads="1"/>
            </p:cNvSpPr>
            <p:nvPr/>
          </p:nvSpPr>
          <p:spPr bwMode="auto">
            <a:xfrm>
              <a:off x="4131" y="1629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87300" name="Text Box 260"/>
            <p:cNvSpPr txBox="1">
              <a:spLocks noChangeArrowheads="1"/>
            </p:cNvSpPr>
            <p:nvPr/>
          </p:nvSpPr>
          <p:spPr bwMode="auto">
            <a:xfrm>
              <a:off x="4137" y="2086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–</a:t>
              </a:r>
            </a:p>
          </p:txBody>
        </p:sp>
        <p:graphicFrame>
          <p:nvGraphicFramePr>
            <p:cNvPr id="87301" name="Object 261"/>
            <p:cNvGraphicFramePr>
              <a:graphicFrameLocks noChangeAspect="1"/>
            </p:cNvGraphicFramePr>
            <p:nvPr/>
          </p:nvGraphicFramePr>
          <p:xfrm>
            <a:off x="3915" y="1823"/>
            <a:ext cx="28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21" name="Equation" r:id="rId3" imgW="228600" imgH="228600" progId="Equation.3">
                    <p:embed/>
                  </p:oleObj>
                </mc:Choice>
                <mc:Fallback>
                  <p:oleObj name="Equation" r:id="rId3" imgW="228600" imgH="228600" progId="Equation.3">
                    <p:embed/>
                    <p:pic>
                      <p:nvPicPr>
                        <p:cNvPr id="0" name="Object 2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5" y="1823"/>
                          <a:ext cx="28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302" name="Line 262"/>
            <p:cNvSpPr>
              <a:spLocks noChangeShapeType="1"/>
            </p:cNvSpPr>
            <p:nvPr/>
          </p:nvSpPr>
          <p:spPr bwMode="auto">
            <a:xfrm>
              <a:off x="4634" y="1557"/>
              <a:ext cx="3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7303" name="Object 263"/>
            <p:cNvGraphicFramePr>
              <a:graphicFrameLocks noChangeAspect="1"/>
            </p:cNvGraphicFramePr>
            <p:nvPr/>
          </p:nvGraphicFramePr>
          <p:xfrm>
            <a:off x="4988" y="1294"/>
            <a:ext cx="23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22" name="Equation" r:id="rId5" imgW="190440" imgH="228600" progId="Equation.3">
                    <p:embed/>
                  </p:oleObj>
                </mc:Choice>
                <mc:Fallback>
                  <p:oleObj name="Equation" r:id="rId5" imgW="190440" imgH="228600" progId="Equation.3">
                    <p:embed/>
                    <p:pic>
                      <p:nvPicPr>
                        <p:cNvPr id="0" name="Object 2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8" y="1294"/>
                          <a:ext cx="23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304" name="Text Box 264"/>
            <p:cNvSpPr txBox="1">
              <a:spLocks noChangeArrowheads="1"/>
            </p:cNvSpPr>
            <p:nvPr/>
          </p:nvSpPr>
          <p:spPr bwMode="auto">
            <a:xfrm>
              <a:off x="4089" y="1431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7305" name="Text Box 265"/>
            <p:cNvSpPr txBox="1">
              <a:spLocks noChangeArrowheads="1"/>
            </p:cNvSpPr>
            <p:nvPr/>
          </p:nvSpPr>
          <p:spPr bwMode="auto">
            <a:xfrm>
              <a:off x="4092" y="2331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87306" name="Text Box 266"/>
            <p:cNvSpPr txBox="1">
              <a:spLocks noChangeArrowheads="1"/>
            </p:cNvSpPr>
            <p:nvPr/>
          </p:nvSpPr>
          <p:spPr bwMode="auto">
            <a:xfrm>
              <a:off x="5296" y="2325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87307" name="Text Box 267"/>
            <p:cNvSpPr txBox="1">
              <a:spLocks noChangeArrowheads="1"/>
            </p:cNvSpPr>
            <p:nvPr/>
          </p:nvSpPr>
          <p:spPr bwMode="auto">
            <a:xfrm>
              <a:off x="5276" y="1389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7308" name="Text Box 268"/>
            <p:cNvSpPr txBox="1">
              <a:spLocks noChangeArrowheads="1"/>
            </p:cNvSpPr>
            <p:nvPr/>
          </p:nvSpPr>
          <p:spPr bwMode="auto">
            <a:xfrm>
              <a:off x="5354" y="1882"/>
              <a:ext cx="4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Z/</a:t>
              </a:r>
              <a:r>
                <a:rPr lang="en-US" altLang="zh-CN">
                  <a:solidFill>
                    <a:schemeClr val="tx1"/>
                  </a:solidFill>
                </a:rPr>
                <a:t>3</a:t>
              </a:r>
            </a:p>
          </p:txBody>
        </p:sp>
      </p:grpSp>
      <p:graphicFrame>
        <p:nvGraphicFramePr>
          <p:cNvPr id="87309" name="Object 269"/>
          <p:cNvGraphicFramePr>
            <a:graphicFrameLocks noChangeAspect="1"/>
          </p:cNvGraphicFramePr>
          <p:nvPr/>
        </p:nvGraphicFramePr>
        <p:xfrm>
          <a:off x="1903413" y="5389563"/>
          <a:ext cx="2459037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23" name="Equation" r:id="rId7" imgW="1079280" imgH="419040" progId="Equation.3">
                  <p:embed/>
                </p:oleObj>
              </mc:Choice>
              <mc:Fallback>
                <p:oleObj name="Equation" r:id="rId7" imgW="1079280" imgH="419040" progId="Equation.3">
                  <p:embed/>
                  <p:pic>
                    <p:nvPicPr>
                      <p:cNvPr id="0" name="Object 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5389563"/>
                        <a:ext cx="2459037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310" name="Object 270"/>
          <p:cNvGraphicFramePr>
            <a:graphicFrameLocks noChangeAspect="1"/>
          </p:cNvGraphicFramePr>
          <p:nvPr/>
        </p:nvGraphicFramePr>
        <p:xfrm>
          <a:off x="1635125" y="4324350"/>
          <a:ext cx="374015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24" name="Equation" r:id="rId9" imgW="1930320" imgH="444240" progId="Equation.3">
                  <p:embed/>
                </p:oleObj>
              </mc:Choice>
              <mc:Fallback>
                <p:oleObj name="Equation" r:id="rId9" imgW="1930320" imgH="444240" progId="Equation.3">
                  <p:embed/>
                  <p:pic>
                    <p:nvPicPr>
                      <p:cNvPr id="0" name="Object 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4324350"/>
                        <a:ext cx="374015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313" name="Group 273"/>
          <p:cNvGrpSpPr>
            <a:grpSpLocks/>
          </p:cNvGrpSpPr>
          <p:nvPr/>
        </p:nvGrpSpPr>
        <p:grpSpPr bwMode="auto">
          <a:xfrm>
            <a:off x="282575" y="1277938"/>
            <a:ext cx="5945188" cy="2655887"/>
            <a:chOff x="154" y="1141"/>
            <a:chExt cx="3745" cy="1673"/>
          </a:xfrm>
        </p:grpSpPr>
        <p:sp>
          <p:nvSpPr>
            <p:cNvPr id="87314" name="Oval 274"/>
            <p:cNvSpPr>
              <a:spLocks noChangeArrowheads="1"/>
            </p:cNvSpPr>
            <p:nvPr/>
          </p:nvSpPr>
          <p:spPr bwMode="auto">
            <a:xfrm>
              <a:off x="445" y="2039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315" name="Oval 275"/>
            <p:cNvSpPr>
              <a:spLocks noChangeArrowheads="1"/>
            </p:cNvSpPr>
            <p:nvPr/>
          </p:nvSpPr>
          <p:spPr bwMode="auto">
            <a:xfrm>
              <a:off x="961" y="2051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316" name="Oval 276"/>
            <p:cNvSpPr>
              <a:spLocks noChangeArrowheads="1"/>
            </p:cNvSpPr>
            <p:nvPr/>
          </p:nvSpPr>
          <p:spPr bwMode="auto">
            <a:xfrm>
              <a:off x="694" y="1523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317" name="Line 277"/>
            <p:cNvSpPr>
              <a:spLocks noChangeShapeType="1"/>
            </p:cNvSpPr>
            <p:nvPr/>
          </p:nvSpPr>
          <p:spPr bwMode="auto">
            <a:xfrm>
              <a:off x="841" y="141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18" name="Line 278"/>
            <p:cNvSpPr>
              <a:spLocks noChangeShapeType="1"/>
            </p:cNvSpPr>
            <p:nvPr/>
          </p:nvSpPr>
          <p:spPr bwMode="auto">
            <a:xfrm>
              <a:off x="841" y="1991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19" name="Line 279"/>
            <p:cNvSpPr>
              <a:spLocks noChangeShapeType="1"/>
            </p:cNvSpPr>
            <p:nvPr/>
          </p:nvSpPr>
          <p:spPr bwMode="auto">
            <a:xfrm flipH="1">
              <a:off x="409" y="1991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20" name="Text Box 280"/>
            <p:cNvSpPr txBox="1">
              <a:spLocks noChangeArrowheads="1"/>
            </p:cNvSpPr>
            <p:nvPr/>
          </p:nvSpPr>
          <p:spPr bwMode="auto">
            <a:xfrm>
              <a:off x="637" y="1319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7321" name="Text Box 281"/>
            <p:cNvSpPr txBox="1">
              <a:spLocks noChangeArrowheads="1"/>
            </p:cNvSpPr>
            <p:nvPr/>
          </p:nvSpPr>
          <p:spPr bwMode="auto">
            <a:xfrm>
              <a:off x="650" y="164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7322" name="Line 282"/>
            <p:cNvSpPr>
              <a:spLocks noChangeShapeType="1"/>
            </p:cNvSpPr>
            <p:nvPr/>
          </p:nvSpPr>
          <p:spPr bwMode="auto">
            <a:xfrm>
              <a:off x="1273" y="2317"/>
              <a:ext cx="0" cy="1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23" name="Line 283"/>
            <p:cNvSpPr>
              <a:spLocks noChangeShapeType="1"/>
            </p:cNvSpPr>
            <p:nvPr/>
          </p:nvSpPr>
          <p:spPr bwMode="auto">
            <a:xfrm>
              <a:off x="409" y="2327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24" name="Line 284"/>
            <p:cNvSpPr>
              <a:spLocks noChangeShapeType="1"/>
            </p:cNvSpPr>
            <p:nvPr/>
          </p:nvSpPr>
          <p:spPr bwMode="auto">
            <a:xfrm>
              <a:off x="2650" y="2231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25" name="Line 285"/>
            <p:cNvSpPr>
              <a:spLocks noChangeShapeType="1"/>
            </p:cNvSpPr>
            <p:nvPr/>
          </p:nvSpPr>
          <p:spPr bwMode="auto">
            <a:xfrm>
              <a:off x="1273" y="2489"/>
              <a:ext cx="2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26" name="Freeform 286"/>
            <p:cNvSpPr>
              <a:spLocks/>
            </p:cNvSpPr>
            <p:nvPr/>
          </p:nvSpPr>
          <p:spPr bwMode="auto">
            <a:xfrm>
              <a:off x="3607" y="2250"/>
              <a:ext cx="1" cy="249"/>
            </a:xfrm>
            <a:custGeom>
              <a:avLst/>
              <a:gdLst>
                <a:gd name="T0" fmla="*/ 0 w 1"/>
                <a:gd name="T1" fmla="*/ 0 h 240"/>
                <a:gd name="T2" fmla="*/ 0 w 1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0">
                  <a:moveTo>
                    <a:pt x="0" y="0"/>
                  </a:moveTo>
                  <a:lnTo>
                    <a:pt x="0" y="2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27" name="Line 287"/>
            <p:cNvSpPr>
              <a:spLocks noChangeShapeType="1"/>
            </p:cNvSpPr>
            <p:nvPr/>
          </p:nvSpPr>
          <p:spPr bwMode="auto">
            <a:xfrm>
              <a:off x="410" y="2748"/>
              <a:ext cx="22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28" name="Line 288"/>
            <p:cNvSpPr>
              <a:spLocks noChangeShapeType="1"/>
            </p:cNvSpPr>
            <p:nvPr/>
          </p:nvSpPr>
          <p:spPr bwMode="auto">
            <a:xfrm>
              <a:off x="841" y="1421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29" name="Line 289"/>
            <p:cNvSpPr>
              <a:spLocks noChangeShapeType="1"/>
            </p:cNvSpPr>
            <p:nvPr/>
          </p:nvSpPr>
          <p:spPr bwMode="auto">
            <a:xfrm>
              <a:off x="1884" y="1353"/>
              <a:ext cx="3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30" name="Line 290"/>
            <p:cNvSpPr>
              <a:spLocks noChangeShapeType="1"/>
            </p:cNvSpPr>
            <p:nvPr/>
          </p:nvSpPr>
          <p:spPr bwMode="auto">
            <a:xfrm>
              <a:off x="1770" y="2386"/>
              <a:ext cx="4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31" name="Line 291"/>
            <p:cNvSpPr>
              <a:spLocks noChangeShapeType="1"/>
            </p:cNvSpPr>
            <p:nvPr/>
          </p:nvSpPr>
          <p:spPr bwMode="auto">
            <a:xfrm>
              <a:off x="1770" y="2590"/>
              <a:ext cx="4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32" name="Text Box 292"/>
            <p:cNvSpPr txBox="1">
              <a:spLocks noChangeArrowheads="1"/>
            </p:cNvSpPr>
            <p:nvPr/>
          </p:nvSpPr>
          <p:spPr bwMode="auto">
            <a:xfrm>
              <a:off x="397" y="2279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7333" name="Text Box 293"/>
            <p:cNvSpPr txBox="1">
              <a:spLocks noChangeArrowheads="1"/>
            </p:cNvSpPr>
            <p:nvPr/>
          </p:nvSpPr>
          <p:spPr bwMode="auto">
            <a:xfrm rot="19800000">
              <a:off x="637" y="188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7334" name="Text Box 294"/>
            <p:cNvSpPr txBox="1">
              <a:spLocks noChangeArrowheads="1"/>
            </p:cNvSpPr>
            <p:nvPr/>
          </p:nvSpPr>
          <p:spPr bwMode="auto">
            <a:xfrm rot="1800000">
              <a:off x="853" y="187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7335" name="Text Box 295"/>
            <p:cNvSpPr txBox="1">
              <a:spLocks noChangeArrowheads="1"/>
            </p:cNvSpPr>
            <p:nvPr/>
          </p:nvSpPr>
          <p:spPr bwMode="auto">
            <a:xfrm>
              <a:off x="1081" y="2267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87336" name="Text Box 296"/>
            <p:cNvSpPr txBox="1">
              <a:spLocks noChangeArrowheads="1"/>
            </p:cNvSpPr>
            <p:nvPr/>
          </p:nvSpPr>
          <p:spPr bwMode="auto">
            <a:xfrm>
              <a:off x="877" y="175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  <p:sp>
          <p:nvSpPr>
            <p:cNvPr id="87337" name="Text Box 297"/>
            <p:cNvSpPr txBox="1">
              <a:spLocks noChangeArrowheads="1"/>
            </p:cNvSpPr>
            <p:nvPr/>
          </p:nvSpPr>
          <p:spPr bwMode="auto">
            <a:xfrm>
              <a:off x="3261" y="220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87338" name="Text Box 298"/>
            <p:cNvSpPr txBox="1">
              <a:spLocks noChangeArrowheads="1"/>
            </p:cNvSpPr>
            <p:nvPr/>
          </p:nvSpPr>
          <p:spPr bwMode="auto">
            <a:xfrm>
              <a:off x="3278" y="1443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87339" name="Text Box 299"/>
            <p:cNvSpPr txBox="1">
              <a:spLocks noChangeArrowheads="1"/>
            </p:cNvSpPr>
            <p:nvPr/>
          </p:nvSpPr>
          <p:spPr bwMode="auto">
            <a:xfrm>
              <a:off x="2755" y="145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graphicFrame>
          <p:nvGraphicFramePr>
            <p:cNvPr id="87340" name="Object 300"/>
            <p:cNvGraphicFramePr>
              <a:graphicFrameLocks noChangeAspect="1"/>
            </p:cNvGraphicFramePr>
            <p:nvPr/>
          </p:nvGraphicFramePr>
          <p:xfrm>
            <a:off x="401" y="1468"/>
            <a:ext cx="28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25" name="Equation" r:id="rId11" imgW="228600" imgH="228600" progId="Equation.3">
                    <p:embed/>
                  </p:oleObj>
                </mc:Choice>
                <mc:Fallback>
                  <p:oleObj name="Equation" r:id="rId11" imgW="228600" imgH="228600" progId="Equation.3">
                    <p:embed/>
                    <p:pic>
                      <p:nvPicPr>
                        <p:cNvPr id="0" name="Object 3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" y="1468"/>
                          <a:ext cx="28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341" name="Object 301"/>
            <p:cNvGraphicFramePr>
              <a:graphicFrameLocks noChangeAspect="1"/>
            </p:cNvGraphicFramePr>
            <p:nvPr/>
          </p:nvGraphicFramePr>
          <p:xfrm>
            <a:off x="2285" y="1141"/>
            <a:ext cx="237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26" name="Equation" r:id="rId13" imgW="190440" imgH="228600" progId="Equation.3">
                    <p:embed/>
                  </p:oleObj>
                </mc:Choice>
                <mc:Fallback>
                  <p:oleObj name="Equation" r:id="rId13" imgW="190440" imgH="228600" progId="Equation.3">
                    <p:embed/>
                    <p:pic>
                      <p:nvPicPr>
                        <p:cNvPr id="0" name="Object 3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" y="1141"/>
                          <a:ext cx="237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342" name="Text Box 302"/>
            <p:cNvSpPr txBox="1">
              <a:spLocks noChangeArrowheads="1"/>
            </p:cNvSpPr>
            <p:nvPr/>
          </p:nvSpPr>
          <p:spPr bwMode="auto">
            <a:xfrm>
              <a:off x="712" y="1148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7343" name="Text Box 303"/>
            <p:cNvSpPr txBox="1">
              <a:spLocks noChangeArrowheads="1"/>
            </p:cNvSpPr>
            <p:nvPr/>
          </p:nvSpPr>
          <p:spPr bwMode="auto">
            <a:xfrm>
              <a:off x="1278" y="2183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7344" name="Text Box 304"/>
            <p:cNvSpPr txBox="1">
              <a:spLocks noChangeArrowheads="1"/>
            </p:cNvSpPr>
            <p:nvPr/>
          </p:nvSpPr>
          <p:spPr bwMode="auto">
            <a:xfrm>
              <a:off x="154" y="2231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87345" name="Text Box 305"/>
            <p:cNvSpPr txBox="1">
              <a:spLocks noChangeArrowheads="1"/>
            </p:cNvSpPr>
            <p:nvPr/>
          </p:nvSpPr>
          <p:spPr bwMode="auto">
            <a:xfrm>
              <a:off x="3024" y="1141"/>
              <a:ext cx="2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7346" name="Text Box 306"/>
            <p:cNvSpPr txBox="1">
              <a:spLocks noChangeArrowheads="1"/>
            </p:cNvSpPr>
            <p:nvPr/>
          </p:nvSpPr>
          <p:spPr bwMode="auto">
            <a:xfrm>
              <a:off x="3614" y="2081"/>
              <a:ext cx="2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7347" name="Text Box 307"/>
            <p:cNvSpPr txBox="1">
              <a:spLocks noChangeArrowheads="1"/>
            </p:cNvSpPr>
            <p:nvPr/>
          </p:nvSpPr>
          <p:spPr bwMode="auto">
            <a:xfrm>
              <a:off x="2470" y="2009"/>
              <a:ext cx="2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87348" name="AutoShape 308"/>
            <p:cNvSpPr>
              <a:spLocks noChangeArrowheads="1"/>
            </p:cNvSpPr>
            <p:nvPr/>
          </p:nvSpPr>
          <p:spPr bwMode="auto">
            <a:xfrm>
              <a:off x="2650" y="1421"/>
              <a:ext cx="970" cy="81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49" name="Rectangle 309"/>
            <p:cNvSpPr>
              <a:spLocks noChangeArrowheads="1"/>
            </p:cNvSpPr>
            <p:nvPr/>
          </p:nvSpPr>
          <p:spPr bwMode="auto">
            <a:xfrm rot="19800000">
              <a:off x="3337" y="1713"/>
              <a:ext cx="102" cy="27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50" name="Rectangle 310"/>
            <p:cNvSpPr>
              <a:spLocks noChangeArrowheads="1"/>
            </p:cNvSpPr>
            <p:nvPr/>
          </p:nvSpPr>
          <p:spPr bwMode="auto">
            <a:xfrm rot="1800000">
              <a:off x="2834" y="1705"/>
              <a:ext cx="102" cy="27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51" name="Rectangle 311"/>
            <p:cNvSpPr>
              <a:spLocks noChangeArrowheads="1"/>
            </p:cNvSpPr>
            <p:nvPr/>
          </p:nvSpPr>
          <p:spPr bwMode="auto">
            <a:xfrm rot="5400000">
              <a:off x="3098" y="2092"/>
              <a:ext cx="102" cy="272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52" name="Oval 312"/>
            <p:cNvSpPr>
              <a:spLocks noChangeArrowheads="1"/>
            </p:cNvSpPr>
            <p:nvPr/>
          </p:nvSpPr>
          <p:spPr bwMode="auto">
            <a:xfrm>
              <a:off x="3115" y="1409"/>
              <a:ext cx="45" cy="4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53" name="Oval 313"/>
            <p:cNvSpPr>
              <a:spLocks noChangeArrowheads="1"/>
            </p:cNvSpPr>
            <p:nvPr/>
          </p:nvSpPr>
          <p:spPr bwMode="auto">
            <a:xfrm>
              <a:off x="2632" y="2195"/>
              <a:ext cx="45" cy="4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54" name="Oval 314"/>
            <p:cNvSpPr>
              <a:spLocks noChangeArrowheads="1"/>
            </p:cNvSpPr>
            <p:nvPr/>
          </p:nvSpPr>
          <p:spPr bwMode="auto">
            <a:xfrm>
              <a:off x="3590" y="2198"/>
              <a:ext cx="45" cy="4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55" name="Line 315"/>
            <p:cNvSpPr>
              <a:spLocks noChangeShapeType="1"/>
            </p:cNvSpPr>
            <p:nvPr/>
          </p:nvSpPr>
          <p:spPr bwMode="auto">
            <a:xfrm rot="3600000">
              <a:off x="3357" y="1914"/>
              <a:ext cx="39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56" name="Line 316"/>
            <p:cNvSpPr>
              <a:spLocks noChangeShapeType="1"/>
            </p:cNvSpPr>
            <p:nvPr/>
          </p:nvSpPr>
          <p:spPr bwMode="auto">
            <a:xfrm flipH="1">
              <a:off x="2978" y="2369"/>
              <a:ext cx="30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57" name="Line 317"/>
            <p:cNvSpPr>
              <a:spLocks noChangeShapeType="1"/>
            </p:cNvSpPr>
            <p:nvPr/>
          </p:nvSpPr>
          <p:spPr bwMode="auto">
            <a:xfrm rot="7200000" flipH="1">
              <a:off x="2502" y="1895"/>
              <a:ext cx="433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7358" name="Object 318"/>
            <p:cNvGraphicFramePr>
              <a:graphicFrameLocks noChangeAspect="1"/>
            </p:cNvGraphicFramePr>
            <p:nvPr/>
          </p:nvGraphicFramePr>
          <p:xfrm>
            <a:off x="2434" y="1631"/>
            <a:ext cx="27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27" name="Equation" r:id="rId15" imgW="215640" imgH="241200" progId="Equation.3">
                    <p:embed/>
                  </p:oleObj>
                </mc:Choice>
                <mc:Fallback>
                  <p:oleObj name="Equation" r:id="rId15" imgW="215640" imgH="241200" progId="Equation.3">
                    <p:embed/>
                    <p:pic>
                      <p:nvPicPr>
                        <p:cNvPr id="0" name="Object 3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4" y="1631"/>
                          <a:ext cx="27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359" name="Rectangle 319"/>
            <p:cNvSpPr>
              <a:spLocks noChangeArrowheads="1"/>
            </p:cNvSpPr>
            <p:nvPr/>
          </p:nvSpPr>
          <p:spPr bwMode="auto">
            <a:xfrm rot="10800000">
              <a:off x="3095" y="1591"/>
              <a:ext cx="91" cy="22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60" name="Rectangle 320"/>
            <p:cNvSpPr>
              <a:spLocks noChangeArrowheads="1"/>
            </p:cNvSpPr>
            <p:nvPr/>
          </p:nvSpPr>
          <p:spPr bwMode="auto">
            <a:xfrm rot="7200000">
              <a:off x="3320" y="1969"/>
              <a:ext cx="91" cy="22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61" name="Rectangle 321"/>
            <p:cNvSpPr>
              <a:spLocks noChangeArrowheads="1"/>
            </p:cNvSpPr>
            <p:nvPr/>
          </p:nvSpPr>
          <p:spPr bwMode="auto">
            <a:xfrm rot="14400000">
              <a:off x="2845" y="1972"/>
              <a:ext cx="91" cy="22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62" name="Line 322"/>
            <p:cNvSpPr>
              <a:spLocks noChangeShapeType="1"/>
            </p:cNvSpPr>
            <p:nvPr/>
          </p:nvSpPr>
          <p:spPr bwMode="auto">
            <a:xfrm>
              <a:off x="3139" y="1427"/>
              <a:ext cx="0" cy="1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63" name="Line 323"/>
            <p:cNvSpPr>
              <a:spLocks noChangeShapeType="1"/>
            </p:cNvSpPr>
            <p:nvPr/>
          </p:nvSpPr>
          <p:spPr bwMode="auto">
            <a:xfrm>
              <a:off x="3139" y="1818"/>
              <a:ext cx="0" cy="1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64" name="Line 324"/>
            <p:cNvSpPr>
              <a:spLocks noChangeShapeType="1"/>
            </p:cNvSpPr>
            <p:nvPr/>
          </p:nvSpPr>
          <p:spPr bwMode="auto">
            <a:xfrm>
              <a:off x="3139" y="1958"/>
              <a:ext cx="139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65" name="Line 325"/>
            <p:cNvSpPr>
              <a:spLocks noChangeShapeType="1"/>
            </p:cNvSpPr>
            <p:nvPr/>
          </p:nvSpPr>
          <p:spPr bwMode="auto">
            <a:xfrm>
              <a:off x="3464" y="2137"/>
              <a:ext cx="147" cy="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66" name="Line 326"/>
            <p:cNvSpPr>
              <a:spLocks noChangeShapeType="1"/>
            </p:cNvSpPr>
            <p:nvPr/>
          </p:nvSpPr>
          <p:spPr bwMode="auto">
            <a:xfrm flipV="1">
              <a:off x="2657" y="2143"/>
              <a:ext cx="129" cy="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67" name="Line 327"/>
            <p:cNvSpPr>
              <a:spLocks noChangeShapeType="1"/>
            </p:cNvSpPr>
            <p:nvPr/>
          </p:nvSpPr>
          <p:spPr bwMode="auto">
            <a:xfrm flipV="1">
              <a:off x="2988" y="1955"/>
              <a:ext cx="151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68" name="Oval 328"/>
            <p:cNvSpPr>
              <a:spLocks noChangeArrowheads="1"/>
            </p:cNvSpPr>
            <p:nvPr/>
          </p:nvSpPr>
          <p:spPr bwMode="auto">
            <a:xfrm>
              <a:off x="3112" y="1940"/>
              <a:ext cx="45" cy="4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369" name="Text Box 329"/>
            <p:cNvSpPr txBox="1">
              <a:spLocks noChangeArrowheads="1"/>
            </p:cNvSpPr>
            <p:nvPr/>
          </p:nvSpPr>
          <p:spPr bwMode="auto">
            <a:xfrm>
              <a:off x="3038" y="1905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  <p:graphicFrame>
          <p:nvGraphicFramePr>
            <p:cNvPr id="87370" name="Object 330"/>
            <p:cNvGraphicFramePr>
              <a:graphicFrameLocks noChangeAspect="1"/>
            </p:cNvGraphicFramePr>
            <p:nvPr/>
          </p:nvGraphicFramePr>
          <p:xfrm>
            <a:off x="1163" y="1841"/>
            <a:ext cx="28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28" name="Equation" r:id="rId17" imgW="228600" imgH="228600" progId="Equation.3">
                    <p:embed/>
                  </p:oleObj>
                </mc:Choice>
                <mc:Fallback>
                  <p:oleObj name="Equation" r:id="rId17" imgW="228600" imgH="228600" progId="Equation.3">
                    <p:embed/>
                    <p:pic>
                      <p:nvPicPr>
                        <p:cNvPr id="0" name="Object 3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3" y="1841"/>
                          <a:ext cx="28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371" name="Object 331"/>
            <p:cNvGraphicFramePr>
              <a:graphicFrameLocks noChangeAspect="1"/>
            </p:cNvGraphicFramePr>
            <p:nvPr/>
          </p:nvGraphicFramePr>
          <p:xfrm>
            <a:off x="212" y="1851"/>
            <a:ext cx="285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29" name="Equation" r:id="rId19" imgW="228600" imgH="241200" progId="Equation.3">
                    <p:embed/>
                  </p:oleObj>
                </mc:Choice>
                <mc:Fallback>
                  <p:oleObj name="Equation" r:id="rId19" imgW="228600" imgH="241200" progId="Equation.3">
                    <p:embed/>
                    <p:pic>
                      <p:nvPicPr>
                        <p:cNvPr id="0" name="Object 3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" y="1851"/>
                          <a:ext cx="285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372" name="Object 332"/>
            <p:cNvGraphicFramePr>
              <a:graphicFrameLocks noChangeAspect="1"/>
            </p:cNvGraphicFramePr>
            <p:nvPr/>
          </p:nvGraphicFramePr>
          <p:xfrm>
            <a:off x="2213" y="2225"/>
            <a:ext cx="237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30" name="Equation" r:id="rId21" imgW="190440" imgH="228600" progId="Equation.3">
                    <p:embed/>
                  </p:oleObj>
                </mc:Choice>
                <mc:Fallback>
                  <p:oleObj name="Equation" r:id="rId21" imgW="190440" imgH="228600" progId="Equation.3">
                    <p:embed/>
                    <p:pic>
                      <p:nvPicPr>
                        <p:cNvPr id="0" name="Object 3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3" y="2225"/>
                          <a:ext cx="237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373" name="Object 333"/>
            <p:cNvGraphicFramePr>
              <a:graphicFrameLocks noChangeAspect="1"/>
            </p:cNvGraphicFramePr>
            <p:nvPr/>
          </p:nvGraphicFramePr>
          <p:xfrm>
            <a:off x="2189" y="2511"/>
            <a:ext cx="23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31" name="Equation" r:id="rId23" imgW="190440" imgH="241200" progId="Equation.3">
                    <p:embed/>
                  </p:oleObj>
                </mc:Choice>
                <mc:Fallback>
                  <p:oleObj name="Equation" r:id="rId23" imgW="190440" imgH="241200" progId="Equation.3">
                    <p:embed/>
                    <p:pic>
                      <p:nvPicPr>
                        <p:cNvPr id="0" name="Object 3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9" y="2511"/>
                          <a:ext cx="237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374" name="Object 334"/>
            <p:cNvGraphicFramePr>
              <a:graphicFrameLocks noChangeAspect="1"/>
            </p:cNvGraphicFramePr>
            <p:nvPr/>
          </p:nvGraphicFramePr>
          <p:xfrm>
            <a:off x="3556" y="1647"/>
            <a:ext cx="27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32" name="Equation" r:id="rId25" imgW="215640" imgH="241200" progId="Equation.3">
                    <p:embed/>
                  </p:oleObj>
                </mc:Choice>
                <mc:Fallback>
                  <p:oleObj name="Equation" r:id="rId25" imgW="215640" imgH="241200" progId="Equation.3">
                    <p:embed/>
                    <p:pic>
                      <p:nvPicPr>
                        <p:cNvPr id="0" name="Object 3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6" y="1647"/>
                          <a:ext cx="27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375" name="Object 335"/>
            <p:cNvGraphicFramePr>
              <a:graphicFrameLocks noChangeAspect="1"/>
            </p:cNvGraphicFramePr>
            <p:nvPr/>
          </p:nvGraphicFramePr>
          <p:xfrm>
            <a:off x="2719" y="2222"/>
            <a:ext cx="27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533" name="Equation" r:id="rId27" imgW="215640" imgH="241200" progId="Equation.3">
                    <p:embed/>
                  </p:oleObj>
                </mc:Choice>
                <mc:Fallback>
                  <p:oleObj name="Equation" r:id="rId27" imgW="215640" imgH="241200" progId="Equation.3">
                    <p:embed/>
                    <p:pic>
                      <p:nvPicPr>
                        <p:cNvPr id="0" name="Object 3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9" y="2222"/>
                          <a:ext cx="27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7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90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66" name="Text Box 78"/>
          <p:cNvSpPr txBox="1">
            <a:spLocks noChangeArrowheads="1"/>
          </p:cNvSpPr>
          <p:nvPr/>
        </p:nvSpPr>
        <p:spPr bwMode="auto">
          <a:xfrm>
            <a:off x="350838" y="398463"/>
            <a:ext cx="7920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CC3300"/>
                </a:solidFill>
              </a:rPr>
              <a:t>三、 电源为</a:t>
            </a:r>
            <a:r>
              <a:rPr lang="zh-CN" altLang="en-US">
                <a:solidFill>
                  <a:srgbClr val="CC3300"/>
                </a:solidFill>
                <a:sym typeface="Symbol" panose="05050102010706020507" pitchFamily="18" charset="2"/>
              </a:rPr>
              <a:t>接时的对称三相电路的计算（</a:t>
            </a:r>
            <a:r>
              <a:rPr lang="en-US" altLang="zh-CN">
                <a:solidFill>
                  <a:srgbClr val="CC3300"/>
                </a:solidFill>
                <a:sym typeface="Symbol" panose="05050102010706020507" pitchFamily="18" charset="2"/>
              </a:rPr>
              <a:t>–Y</a:t>
            </a:r>
            <a:r>
              <a:rPr lang="zh-CN" altLang="en-US">
                <a:solidFill>
                  <a:srgbClr val="CC3300"/>
                </a:solidFill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89273" name="Text Box 185"/>
          <p:cNvSpPr txBox="1">
            <a:spLocks noChangeArrowheads="1"/>
          </p:cNvSpPr>
          <p:nvPr/>
        </p:nvSpPr>
        <p:spPr bwMode="auto">
          <a:xfrm>
            <a:off x="3849688" y="909638"/>
            <a:ext cx="5048250" cy="115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）将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接电源用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Y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接电源替代，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      保证其线电压相等。</a:t>
            </a:r>
          </a:p>
        </p:txBody>
      </p:sp>
      <p:grpSp>
        <p:nvGrpSpPr>
          <p:cNvPr id="89302" name="Group 214"/>
          <p:cNvGrpSpPr>
            <a:grpSpLocks/>
          </p:cNvGrpSpPr>
          <p:nvPr/>
        </p:nvGrpSpPr>
        <p:grpSpPr bwMode="auto">
          <a:xfrm>
            <a:off x="4935538" y="2243138"/>
            <a:ext cx="3033712" cy="2386012"/>
            <a:chOff x="3109" y="1568"/>
            <a:chExt cx="1911" cy="1503"/>
          </a:xfrm>
        </p:grpSpPr>
        <p:sp>
          <p:nvSpPr>
            <p:cNvPr id="89280" name="AutoShape 192"/>
            <p:cNvSpPr>
              <a:spLocks/>
            </p:cNvSpPr>
            <p:nvPr/>
          </p:nvSpPr>
          <p:spPr bwMode="auto">
            <a:xfrm>
              <a:off x="3109" y="1756"/>
              <a:ext cx="164" cy="1116"/>
            </a:xfrm>
            <a:prstGeom prst="leftBrace">
              <a:avLst>
                <a:gd name="adj1" fmla="val 5670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9281" name="Object 193"/>
            <p:cNvGraphicFramePr>
              <a:graphicFrameLocks noChangeAspect="1"/>
            </p:cNvGraphicFramePr>
            <p:nvPr/>
          </p:nvGraphicFramePr>
          <p:xfrm>
            <a:off x="3403" y="1568"/>
            <a:ext cx="1617" cy="1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4" name="Equation" r:id="rId4" imgW="1409400" imgH="1307880" progId="Equation.3">
                    <p:embed/>
                  </p:oleObj>
                </mc:Choice>
                <mc:Fallback>
                  <p:oleObj name="Equation" r:id="rId4" imgW="1409400" imgH="1307880" progId="Equation.3">
                    <p:embed/>
                    <p:pic>
                      <p:nvPicPr>
                        <p:cNvPr id="0" name="Object 1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568"/>
                          <a:ext cx="1617" cy="15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9292" name="Group 204"/>
          <p:cNvGrpSpPr>
            <a:grpSpLocks/>
          </p:cNvGrpSpPr>
          <p:nvPr/>
        </p:nvGrpSpPr>
        <p:grpSpPr bwMode="auto">
          <a:xfrm>
            <a:off x="350838" y="890588"/>
            <a:ext cx="3740150" cy="2689225"/>
            <a:chOff x="221" y="561"/>
            <a:chExt cx="2356" cy="1694"/>
          </a:xfrm>
        </p:grpSpPr>
        <p:sp>
          <p:nvSpPr>
            <p:cNvPr id="89223" name="Oval 135"/>
            <p:cNvSpPr>
              <a:spLocks noChangeArrowheads="1"/>
            </p:cNvSpPr>
            <p:nvPr/>
          </p:nvSpPr>
          <p:spPr bwMode="auto">
            <a:xfrm rot="19800000">
              <a:off x="986" y="1147"/>
              <a:ext cx="227" cy="227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24" name="Line 136"/>
            <p:cNvSpPr>
              <a:spLocks noChangeShapeType="1"/>
            </p:cNvSpPr>
            <p:nvPr/>
          </p:nvSpPr>
          <p:spPr bwMode="auto">
            <a:xfrm rot="19800000" flipH="1">
              <a:off x="1102" y="822"/>
              <a:ext cx="15" cy="9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25" name="Oval 137"/>
            <p:cNvSpPr>
              <a:spLocks noChangeArrowheads="1"/>
            </p:cNvSpPr>
            <p:nvPr/>
          </p:nvSpPr>
          <p:spPr bwMode="auto">
            <a:xfrm rot="19800000">
              <a:off x="1310" y="1652"/>
              <a:ext cx="30" cy="3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26" name="Text Box 138"/>
            <p:cNvSpPr txBox="1">
              <a:spLocks noChangeArrowheads="1"/>
            </p:cNvSpPr>
            <p:nvPr/>
          </p:nvSpPr>
          <p:spPr bwMode="auto">
            <a:xfrm rot="19800000">
              <a:off x="976" y="964"/>
              <a:ext cx="1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89227" name="Text Box 139"/>
            <p:cNvSpPr txBox="1">
              <a:spLocks noChangeArrowheads="1"/>
            </p:cNvSpPr>
            <p:nvPr/>
          </p:nvSpPr>
          <p:spPr bwMode="auto">
            <a:xfrm rot="19800000">
              <a:off x="1155" y="1257"/>
              <a:ext cx="1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89229" name="Oval 141"/>
            <p:cNvSpPr>
              <a:spLocks noChangeArrowheads="1"/>
            </p:cNvSpPr>
            <p:nvPr/>
          </p:nvSpPr>
          <p:spPr bwMode="auto">
            <a:xfrm rot="5400000">
              <a:off x="784" y="1559"/>
              <a:ext cx="227" cy="227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30" name="Line 142"/>
            <p:cNvSpPr>
              <a:spLocks noChangeShapeType="1"/>
            </p:cNvSpPr>
            <p:nvPr/>
          </p:nvSpPr>
          <p:spPr bwMode="auto">
            <a:xfrm rot="-5400000" flipH="1" flipV="1">
              <a:off x="891" y="1232"/>
              <a:ext cx="5" cy="8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31" name="Oval 143"/>
            <p:cNvSpPr>
              <a:spLocks noChangeArrowheads="1"/>
            </p:cNvSpPr>
            <p:nvPr/>
          </p:nvSpPr>
          <p:spPr bwMode="auto">
            <a:xfrm rot="5400000">
              <a:off x="443" y="1655"/>
              <a:ext cx="31" cy="3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32" name="Text Box 144"/>
            <p:cNvSpPr txBox="1">
              <a:spLocks noChangeArrowheads="1"/>
            </p:cNvSpPr>
            <p:nvPr/>
          </p:nvSpPr>
          <p:spPr bwMode="auto">
            <a:xfrm rot="5400000">
              <a:off x="1018" y="1663"/>
              <a:ext cx="15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89233" name="Text Box 145"/>
            <p:cNvSpPr txBox="1">
              <a:spLocks noChangeArrowheads="1"/>
            </p:cNvSpPr>
            <p:nvPr/>
          </p:nvSpPr>
          <p:spPr bwMode="auto">
            <a:xfrm>
              <a:off x="625" y="1612"/>
              <a:ext cx="1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89234" name="Oval 146"/>
            <p:cNvSpPr>
              <a:spLocks noChangeArrowheads="1"/>
            </p:cNvSpPr>
            <p:nvPr/>
          </p:nvSpPr>
          <p:spPr bwMode="auto">
            <a:xfrm rot="12600000">
              <a:off x="552" y="1179"/>
              <a:ext cx="227" cy="227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35" name="Line 147"/>
            <p:cNvSpPr>
              <a:spLocks noChangeShapeType="1"/>
            </p:cNvSpPr>
            <p:nvPr/>
          </p:nvSpPr>
          <p:spPr bwMode="auto">
            <a:xfrm rot="12600000">
              <a:off x="661" y="832"/>
              <a:ext cx="11" cy="8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36" name="Oval 148"/>
            <p:cNvSpPr>
              <a:spLocks noChangeArrowheads="1"/>
            </p:cNvSpPr>
            <p:nvPr/>
          </p:nvSpPr>
          <p:spPr bwMode="auto">
            <a:xfrm rot="12600000">
              <a:off x="880" y="862"/>
              <a:ext cx="30" cy="3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37" name="Text Box 149"/>
            <p:cNvSpPr txBox="1">
              <a:spLocks noChangeArrowheads="1"/>
            </p:cNvSpPr>
            <p:nvPr/>
          </p:nvSpPr>
          <p:spPr bwMode="auto">
            <a:xfrm rot="12600000">
              <a:off x="463" y="1304"/>
              <a:ext cx="1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89238" name="Text Box 150"/>
            <p:cNvSpPr txBox="1">
              <a:spLocks noChangeArrowheads="1"/>
            </p:cNvSpPr>
            <p:nvPr/>
          </p:nvSpPr>
          <p:spPr bwMode="auto">
            <a:xfrm rot="12600000">
              <a:off x="643" y="958"/>
              <a:ext cx="1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89243" name="Line 155"/>
            <p:cNvSpPr>
              <a:spLocks noChangeShapeType="1"/>
            </p:cNvSpPr>
            <p:nvPr/>
          </p:nvSpPr>
          <p:spPr bwMode="auto">
            <a:xfrm>
              <a:off x="894" y="879"/>
              <a:ext cx="136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44" name="Line 156"/>
            <p:cNvSpPr>
              <a:spLocks noChangeShapeType="1"/>
            </p:cNvSpPr>
            <p:nvPr/>
          </p:nvSpPr>
          <p:spPr bwMode="auto">
            <a:xfrm>
              <a:off x="1324" y="1670"/>
              <a:ext cx="9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45" name="Freeform 157"/>
            <p:cNvSpPr>
              <a:spLocks/>
            </p:cNvSpPr>
            <p:nvPr/>
          </p:nvSpPr>
          <p:spPr bwMode="auto">
            <a:xfrm>
              <a:off x="455" y="1673"/>
              <a:ext cx="1777" cy="447"/>
            </a:xfrm>
            <a:custGeom>
              <a:avLst/>
              <a:gdLst>
                <a:gd name="T0" fmla="*/ 0 w 2184"/>
                <a:gd name="T1" fmla="*/ 0 h 426"/>
                <a:gd name="T2" fmla="*/ 0 w 2184"/>
                <a:gd name="T3" fmla="*/ 426 h 426"/>
                <a:gd name="T4" fmla="*/ 2184 w 2184"/>
                <a:gd name="T5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4" h="426">
                  <a:moveTo>
                    <a:pt x="0" y="0"/>
                  </a:moveTo>
                  <a:lnTo>
                    <a:pt x="0" y="426"/>
                  </a:lnTo>
                  <a:lnTo>
                    <a:pt x="2184" y="42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46" name="Oval 158"/>
            <p:cNvSpPr>
              <a:spLocks noChangeArrowheads="1"/>
            </p:cNvSpPr>
            <p:nvPr/>
          </p:nvSpPr>
          <p:spPr bwMode="auto">
            <a:xfrm>
              <a:off x="2253" y="857"/>
              <a:ext cx="42" cy="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47" name="Oval 159"/>
            <p:cNvSpPr>
              <a:spLocks noChangeArrowheads="1"/>
            </p:cNvSpPr>
            <p:nvPr/>
          </p:nvSpPr>
          <p:spPr bwMode="auto">
            <a:xfrm>
              <a:off x="2232" y="1652"/>
              <a:ext cx="42" cy="4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48" name="Oval 160"/>
            <p:cNvSpPr>
              <a:spLocks noChangeArrowheads="1"/>
            </p:cNvSpPr>
            <p:nvPr/>
          </p:nvSpPr>
          <p:spPr bwMode="auto">
            <a:xfrm>
              <a:off x="2237" y="2091"/>
              <a:ext cx="42" cy="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49" name="Text Box 161"/>
            <p:cNvSpPr txBox="1">
              <a:spLocks noChangeArrowheads="1"/>
            </p:cNvSpPr>
            <p:nvPr/>
          </p:nvSpPr>
          <p:spPr bwMode="auto">
            <a:xfrm>
              <a:off x="2279" y="746"/>
              <a:ext cx="2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9250" name="Text Box 162"/>
            <p:cNvSpPr txBox="1">
              <a:spLocks noChangeArrowheads="1"/>
            </p:cNvSpPr>
            <p:nvPr/>
          </p:nvSpPr>
          <p:spPr bwMode="auto">
            <a:xfrm>
              <a:off x="2275" y="1562"/>
              <a:ext cx="2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9251" name="Text Box 163"/>
            <p:cNvSpPr txBox="1">
              <a:spLocks noChangeArrowheads="1"/>
            </p:cNvSpPr>
            <p:nvPr/>
          </p:nvSpPr>
          <p:spPr bwMode="auto">
            <a:xfrm>
              <a:off x="2274" y="2005"/>
              <a:ext cx="26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</a:p>
          </p:txBody>
        </p:sp>
        <p:graphicFrame>
          <p:nvGraphicFramePr>
            <p:cNvPr id="89253" name="Object 165"/>
            <p:cNvGraphicFramePr>
              <a:graphicFrameLocks noChangeAspect="1"/>
            </p:cNvGraphicFramePr>
            <p:nvPr/>
          </p:nvGraphicFramePr>
          <p:xfrm>
            <a:off x="221" y="994"/>
            <a:ext cx="324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5" name="Equation" r:id="rId6" imgW="291960" imgH="241200" progId="Equation.3">
                    <p:embed/>
                  </p:oleObj>
                </mc:Choice>
                <mc:Fallback>
                  <p:oleObj name="Equation" r:id="rId6" imgW="291960" imgH="241200" progId="Equation.3">
                    <p:embed/>
                    <p:pic>
                      <p:nvPicPr>
                        <p:cNvPr id="0" name="Object 1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" y="994"/>
                          <a:ext cx="324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255" name="Line 167"/>
            <p:cNvSpPr>
              <a:spLocks noChangeShapeType="1"/>
            </p:cNvSpPr>
            <p:nvPr/>
          </p:nvSpPr>
          <p:spPr bwMode="auto">
            <a:xfrm>
              <a:off x="1886" y="917"/>
              <a:ext cx="0" cy="71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56" name="Line 168"/>
            <p:cNvSpPr>
              <a:spLocks noChangeShapeType="1"/>
            </p:cNvSpPr>
            <p:nvPr/>
          </p:nvSpPr>
          <p:spPr bwMode="auto">
            <a:xfrm>
              <a:off x="1890" y="1718"/>
              <a:ext cx="0" cy="34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9257" name="Object 169"/>
            <p:cNvGraphicFramePr>
              <a:graphicFrameLocks noChangeAspect="1"/>
            </p:cNvGraphicFramePr>
            <p:nvPr/>
          </p:nvGraphicFramePr>
          <p:xfrm>
            <a:off x="1886" y="1109"/>
            <a:ext cx="32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6" name="Equation" r:id="rId8" imgW="291960" imgH="228600" progId="Equation.3">
                    <p:embed/>
                  </p:oleObj>
                </mc:Choice>
                <mc:Fallback>
                  <p:oleObj name="Equation" r:id="rId8" imgW="291960" imgH="228600" progId="Equation.3">
                    <p:embed/>
                    <p:pic>
                      <p:nvPicPr>
                        <p:cNvPr id="0" name="Object 1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6" y="1109"/>
                          <a:ext cx="324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259" name="Line 171"/>
            <p:cNvSpPr>
              <a:spLocks noChangeShapeType="1"/>
            </p:cNvSpPr>
            <p:nvPr/>
          </p:nvSpPr>
          <p:spPr bwMode="auto">
            <a:xfrm flipH="1" flipV="1">
              <a:off x="2209" y="945"/>
              <a:ext cx="0" cy="106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60" name="Line 172"/>
            <p:cNvSpPr>
              <a:spLocks noChangeShapeType="1"/>
            </p:cNvSpPr>
            <p:nvPr/>
          </p:nvSpPr>
          <p:spPr bwMode="auto">
            <a:xfrm rot="-5400000">
              <a:off x="1695" y="651"/>
              <a:ext cx="0" cy="34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9261" name="Object 173"/>
            <p:cNvGraphicFramePr>
              <a:graphicFrameLocks noChangeAspect="1"/>
            </p:cNvGraphicFramePr>
            <p:nvPr/>
          </p:nvGraphicFramePr>
          <p:xfrm>
            <a:off x="1610" y="561"/>
            <a:ext cx="183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7" name="Equation" r:id="rId10" imgW="164880" imgH="241200" progId="Equation.3">
                    <p:embed/>
                  </p:oleObj>
                </mc:Choice>
                <mc:Fallback>
                  <p:oleObj name="Equation" r:id="rId10" imgW="164880" imgH="241200" progId="Equation.3">
                    <p:embed/>
                    <p:pic>
                      <p:nvPicPr>
                        <p:cNvPr id="0" name="Object 1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0" y="561"/>
                          <a:ext cx="183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262" name="Line 174"/>
            <p:cNvSpPr>
              <a:spLocks noChangeShapeType="1"/>
            </p:cNvSpPr>
            <p:nvPr/>
          </p:nvSpPr>
          <p:spPr bwMode="auto">
            <a:xfrm rot="-5400000">
              <a:off x="1687" y="1417"/>
              <a:ext cx="0" cy="34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64" name="Line 176"/>
            <p:cNvSpPr>
              <a:spLocks noChangeShapeType="1"/>
            </p:cNvSpPr>
            <p:nvPr/>
          </p:nvSpPr>
          <p:spPr bwMode="auto">
            <a:xfrm rot="-5400000">
              <a:off x="1687" y="1875"/>
              <a:ext cx="0" cy="34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9286" name="Object 198"/>
            <p:cNvGraphicFramePr>
              <a:graphicFrameLocks noChangeAspect="1"/>
            </p:cNvGraphicFramePr>
            <p:nvPr/>
          </p:nvGraphicFramePr>
          <p:xfrm>
            <a:off x="739" y="1802"/>
            <a:ext cx="310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8" name="Equation" r:id="rId12" imgW="279360" imgH="241200" progId="Equation.3">
                    <p:embed/>
                  </p:oleObj>
                </mc:Choice>
                <mc:Fallback>
                  <p:oleObj name="Equation" r:id="rId12" imgW="279360" imgH="241200" progId="Equation.3">
                    <p:embed/>
                    <p:pic>
                      <p:nvPicPr>
                        <p:cNvPr id="0" name="Object 1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" y="1802"/>
                          <a:ext cx="310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287" name="Object 199"/>
            <p:cNvGraphicFramePr>
              <a:graphicFrameLocks noChangeAspect="1"/>
            </p:cNvGraphicFramePr>
            <p:nvPr/>
          </p:nvGraphicFramePr>
          <p:xfrm>
            <a:off x="1155" y="1036"/>
            <a:ext cx="32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9" name="Equation" r:id="rId14" imgW="291960" imgH="228600" progId="Equation.3">
                    <p:embed/>
                  </p:oleObj>
                </mc:Choice>
                <mc:Fallback>
                  <p:oleObj name="Equation" r:id="rId14" imgW="291960" imgH="228600" progId="Equation.3">
                    <p:embed/>
                    <p:pic>
                      <p:nvPicPr>
                        <p:cNvPr id="0" name="Object 1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5" y="1036"/>
                          <a:ext cx="324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288" name="Object 200"/>
            <p:cNvGraphicFramePr>
              <a:graphicFrameLocks noChangeAspect="1"/>
            </p:cNvGraphicFramePr>
            <p:nvPr/>
          </p:nvGraphicFramePr>
          <p:xfrm>
            <a:off x="1600" y="1325"/>
            <a:ext cx="211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0" name="Equation" r:id="rId16" imgW="190440" imgH="241200" progId="Equation.3">
                    <p:embed/>
                  </p:oleObj>
                </mc:Choice>
                <mc:Fallback>
                  <p:oleObj name="Equation" r:id="rId16" imgW="190440" imgH="241200" progId="Equation.3">
                    <p:embed/>
                    <p:pic>
                      <p:nvPicPr>
                        <p:cNvPr id="0" name="Object 2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" y="1325"/>
                          <a:ext cx="211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289" name="Object 201"/>
            <p:cNvGraphicFramePr>
              <a:graphicFrameLocks noChangeAspect="1"/>
            </p:cNvGraphicFramePr>
            <p:nvPr/>
          </p:nvGraphicFramePr>
          <p:xfrm>
            <a:off x="1586" y="1806"/>
            <a:ext cx="211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1" name="Equation" r:id="rId18" imgW="190440" imgH="241200" progId="Equation.3">
                    <p:embed/>
                  </p:oleObj>
                </mc:Choice>
                <mc:Fallback>
                  <p:oleObj name="Equation" r:id="rId18" imgW="190440" imgH="241200" progId="Equation.3">
                    <p:embed/>
                    <p:pic>
                      <p:nvPicPr>
                        <p:cNvPr id="0" name="Object 2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6" y="1806"/>
                          <a:ext cx="211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290" name="Object 202"/>
            <p:cNvGraphicFramePr>
              <a:graphicFrameLocks noChangeAspect="1"/>
            </p:cNvGraphicFramePr>
            <p:nvPr/>
          </p:nvGraphicFramePr>
          <p:xfrm>
            <a:off x="2253" y="1247"/>
            <a:ext cx="32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2" name="Equation" r:id="rId20" imgW="291960" imgH="241200" progId="Equation.3">
                    <p:embed/>
                  </p:oleObj>
                </mc:Choice>
                <mc:Fallback>
                  <p:oleObj name="Equation" r:id="rId20" imgW="291960" imgH="241200" progId="Equation.3">
                    <p:embed/>
                    <p:pic>
                      <p:nvPicPr>
                        <p:cNvPr id="0" name="Object 2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" y="1247"/>
                          <a:ext cx="324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291" name="Object 203"/>
            <p:cNvGraphicFramePr>
              <a:graphicFrameLocks noChangeAspect="1"/>
            </p:cNvGraphicFramePr>
            <p:nvPr/>
          </p:nvGraphicFramePr>
          <p:xfrm>
            <a:off x="1920" y="1779"/>
            <a:ext cx="310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3" name="Equation" r:id="rId22" imgW="279360" imgH="241200" progId="Equation.3">
                    <p:embed/>
                  </p:oleObj>
                </mc:Choice>
                <mc:Fallback>
                  <p:oleObj name="Equation" r:id="rId22" imgW="279360" imgH="241200" progId="Equation.3">
                    <p:embed/>
                    <p:pic>
                      <p:nvPicPr>
                        <p:cNvPr id="0" name="Object 2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779"/>
                          <a:ext cx="310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9299" name="Group 211"/>
          <p:cNvGrpSpPr>
            <a:grpSpLocks/>
          </p:cNvGrpSpPr>
          <p:nvPr/>
        </p:nvGrpSpPr>
        <p:grpSpPr bwMode="auto">
          <a:xfrm>
            <a:off x="596900" y="3427413"/>
            <a:ext cx="3443288" cy="2532062"/>
            <a:chOff x="3028" y="539"/>
            <a:chExt cx="2169" cy="1595"/>
          </a:xfrm>
        </p:grpSpPr>
        <p:sp>
          <p:nvSpPr>
            <p:cNvPr id="89170" name="Oval 82"/>
            <p:cNvSpPr>
              <a:spLocks noChangeArrowheads="1"/>
            </p:cNvSpPr>
            <p:nvPr/>
          </p:nvSpPr>
          <p:spPr bwMode="auto">
            <a:xfrm>
              <a:off x="3472" y="1034"/>
              <a:ext cx="229" cy="223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71" name="Line 83"/>
            <p:cNvSpPr>
              <a:spLocks noChangeShapeType="1"/>
            </p:cNvSpPr>
            <p:nvPr/>
          </p:nvSpPr>
          <p:spPr bwMode="auto">
            <a:xfrm flipH="1">
              <a:off x="3589" y="866"/>
              <a:ext cx="0" cy="5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74" name="Text Box 86"/>
            <p:cNvSpPr txBox="1">
              <a:spLocks noChangeArrowheads="1"/>
            </p:cNvSpPr>
            <p:nvPr/>
          </p:nvSpPr>
          <p:spPr bwMode="auto">
            <a:xfrm>
              <a:off x="3432" y="848"/>
              <a:ext cx="1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89175" name="Text Box 87"/>
            <p:cNvSpPr txBox="1">
              <a:spLocks noChangeArrowheads="1"/>
            </p:cNvSpPr>
            <p:nvPr/>
          </p:nvSpPr>
          <p:spPr bwMode="auto">
            <a:xfrm>
              <a:off x="3432" y="1192"/>
              <a:ext cx="1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89177" name="Oval 89"/>
            <p:cNvSpPr>
              <a:spLocks noChangeArrowheads="1"/>
            </p:cNvSpPr>
            <p:nvPr/>
          </p:nvSpPr>
          <p:spPr bwMode="auto">
            <a:xfrm rot="7200000">
              <a:off x="3753" y="1426"/>
              <a:ext cx="222" cy="22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78" name="Line 90"/>
            <p:cNvSpPr>
              <a:spLocks noChangeShapeType="1"/>
            </p:cNvSpPr>
            <p:nvPr/>
          </p:nvSpPr>
          <p:spPr bwMode="auto">
            <a:xfrm rot="7200000" flipH="1">
              <a:off x="3860" y="1238"/>
              <a:ext cx="0" cy="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81" name="Text Box 93"/>
            <p:cNvSpPr txBox="1">
              <a:spLocks noChangeArrowheads="1"/>
            </p:cNvSpPr>
            <p:nvPr/>
          </p:nvSpPr>
          <p:spPr bwMode="auto">
            <a:xfrm rot="7200000">
              <a:off x="3950" y="1537"/>
              <a:ext cx="1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89182" name="Text Box 94"/>
            <p:cNvSpPr txBox="1">
              <a:spLocks noChangeArrowheads="1"/>
            </p:cNvSpPr>
            <p:nvPr/>
          </p:nvSpPr>
          <p:spPr bwMode="auto">
            <a:xfrm rot="7200000">
              <a:off x="3650" y="1381"/>
              <a:ext cx="1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89183" name="Oval 95"/>
            <p:cNvSpPr>
              <a:spLocks noChangeArrowheads="1"/>
            </p:cNvSpPr>
            <p:nvPr/>
          </p:nvSpPr>
          <p:spPr bwMode="auto">
            <a:xfrm rot="14400000">
              <a:off x="3202" y="1421"/>
              <a:ext cx="222" cy="22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84" name="Line 96"/>
            <p:cNvSpPr>
              <a:spLocks noChangeShapeType="1"/>
            </p:cNvSpPr>
            <p:nvPr/>
          </p:nvSpPr>
          <p:spPr bwMode="auto">
            <a:xfrm rot="14400000" flipH="1">
              <a:off x="3324" y="1237"/>
              <a:ext cx="0" cy="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85" name="Oval 97"/>
            <p:cNvSpPr>
              <a:spLocks noChangeArrowheads="1"/>
            </p:cNvSpPr>
            <p:nvPr/>
          </p:nvSpPr>
          <p:spPr bwMode="auto">
            <a:xfrm rot="14400000">
              <a:off x="3566" y="1362"/>
              <a:ext cx="44" cy="45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87" name="Text Box 99"/>
            <p:cNvSpPr txBox="1">
              <a:spLocks noChangeArrowheads="1"/>
            </p:cNvSpPr>
            <p:nvPr/>
          </p:nvSpPr>
          <p:spPr bwMode="auto">
            <a:xfrm rot="14400000">
              <a:off x="3158" y="1597"/>
              <a:ext cx="1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89188" name="Text Box 100"/>
            <p:cNvSpPr txBox="1">
              <a:spLocks noChangeArrowheads="1"/>
            </p:cNvSpPr>
            <p:nvPr/>
          </p:nvSpPr>
          <p:spPr bwMode="auto">
            <a:xfrm rot="14400000">
              <a:off x="3443" y="1436"/>
              <a:ext cx="1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89193" name="Line 105"/>
            <p:cNvSpPr>
              <a:spLocks noChangeShapeType="1"/>
            </p:cNvSpPr>
            <p:nvPr/>
          </p:nvSpPr>
          <p:spPr bwMode="auto">
            <a:xfrm>
              <a:off x="3586" y="858"/>
              <a:ext cx="1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95" name="Line 107"/>
            <p:cNvSpPr>
              <a:spLocks noChangeShapeType="1"/>
            </p:cNvSpPr>
            <p:nvPr/>
          </p:nvSpPr>
          <p:spPr bwMode="auto">
            <a:xfrm>
              <a:off x="4121" y="1681"/>
              <a:ext cx="783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96" name="Freeform 108"/>
            <p:cNvSpPr>
              <a:spLocks/>
            </p:cNvSpPr>
            <p:nvPr/>
          </p:nvSpPr>
          <p:spPr bwMode="auto">
            <a:xfrm>
              <a:off x="3062" y="1678"/>
              <a:ext cx="1849" cy="316"/>
            </a:xfrm>
            <a:custGeom>
              <a:avLst/>
              <a:gdLst>
                <a:gd name="T0" fmla="*/ 0 w 2184"/>
                <a:gd name="T1" fmla="*/ 0 h 426"/>
                <a:gd name="T2" fmla="*/ 0 w 2184"/>
                <a:gd name="T3" fmla="*/ 426 h 426"/>
                <a:gd name="T4" fmla="*/ 2184 w 2184"/>
                <a:gd name="T5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4" h="426">
                  <a:moveTo>
                    <a:pt x="0" y="0"/>
                  </a:moveTo>
                  <a:lnTo>
                    <a:pt x="0" y="426"/>
                  </a:lnTo>
                  <a:lnTo>
                    <a:pt x="2184" y="42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97" name="Oval 109"/>
            <p:cNvSpPr>
              <a:spLocks noChangeArrowheads="1"/>
            </p:cNvSpPr>
            <p:nvPr/>
          </p:nvSpPr>
          <p:spPr bwMode="auto">
            <a:xfrm>
              <a:off x="4893" y="835"/>
              <a:ext cx="40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99" name="Oval 111"/>
            <p:cNvSpPr>
              <a:spLocks noChangeArrowheads="1"/>
            </p:cNvSpPr>
            <p:nvPr/>
          </p:nvSpPr>
          <p:spPr bwMode="auto">
            <a:xfrm>
              <a:off x="4904" y="1665"/>
              <a:ext cx="40" cy="3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00" name="Oval 112"/>
            <p:cNvSpPr>
              <a:spLocks noChangeArrowheads="1"/>
            </p:cNvSpPr>
            <p:nvPr/>
          </p:nvSpPr>
          <p:spPr bwMode="auto">
            <a:xfrm>
              <a:off x="4899" y="1973"/>
              <a:ext cx="40" cy="3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01" name="Text Box 113"/>
            <p:cNvSpPr txBox="1">
              <a:spLocks noChangeArrowheads="1"/>
            </p:cNvSpPr>
            <p:nvPr/>
          </p:nvSpPr>
          <p:spPr bwMode="auto">
            <a:xfrm>
              <a:off x="4944" y="749"/>
              <a:ext cx="2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9202" name="Text Box 114"/>
            <p:cNvSpPr txBox="1">
              <a:spLocks noChangeArrowheads="1"/>
            </p:cNvSpPr>
            <p:nvPr/>
          </p:nvSpPr>
          <p:spPr bwMode="auto">
            <a:xfrm>
              <a:off x="4944" y="1579"/>
              <a:ext cx="2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9203" name="Text Box 115"/>
            <p:cNvSpPr txBox="1">
              <a:spLocks noChangeArrowheads="1"/>
            </p:cNvSpPr>
            <p:nvPr/>
          </p:nvSpPr>
          <p:spPr bwMode="auto">
            <a:xfrm>
              <a:off x="4945" y="1884"/>
              <a:ext cx="2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C</a:t>
              </a:r>
            </a:p>
          </p:txBody>
        </p:sp>
        <p:graphicFrame>
          <p:nvGraphicFramePr>
            <p:cNvPr id="89205" name="Object 117"/>
            <p:cNvGraphicFramePr>
              <a:graphicFrameLocks noChangeAspect="1"/>
            </p:cNvGraphicFramePr>
            <p:nvPr/>
          </p:nvGraphicFramePr>
          <p:xfrm>
            <a:off x="3165" y="982"/>
            <a:ext cx="293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4" name="Equation" r:id="rId24" imgW="279360" imgH="241200" progId="Equation.3">
                    <p:embed/>
                  </p:oleObj>
                </mc:Choice>
                <mc:Fallback>
                  <p:oleObj name="Equation" r:id="rId24" imgW="279360" imgH="241200" progId="Equation.3">
                    <p:embed/>
                    <p:pic>
                      <p:nvPicPr>
                        <p:cNvPr id="0" name="Object 1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5" y="982"/>
                          <a:ext cx="293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208" name="Line 120"/>
            <p:cNvSpPr>
              <a:spLocks noChangeShapeType="1"/>
            </p:cNvSpPr>
            <p:nvPr/>
          </p:nvSpPr>
          <p:spPr bwMode="auto">
            <a:xfrm>
              <a:off x="4523" y="870"/>
              <a:ext cx="0" cy="77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09" name="Line 121"/>
            <p:cNvSpPr>
              <a:spLocks noChangeShapeType="1"/>
            </p:cNvSpPr>
            <p:nvPr/>
          </p:nvSpPr>
          <p:spPr bwMode="auto">
            <a:xfrm>
              <a:off x="4523" y="1702"/>
              <a:ext cx="0" cy="28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9210" name="Object 122"/>
            <p:cNvGraphicFramePr>
              <a:graphicFrameLocks noChangeAspect="1"/>
            </p:cNvGraphicFramePr>
            <p:nvPr/>
          </p:nvGraphicFramePr>
          <p:xfrm>
            <a:off x="4552" y="1018"/>
            <a:ext cx="282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5" name="Equation" r:id="rId26" imgW="266400" imgH="241200" progId="Equation.3">
                    <p:embed/>
                  </p:oleObj>
                </mc:Choice>
                <mc:Fallback>
                  <p:oleObj name="Equation" r:id="rId26" imgW="266400" imgH="241200" progId="Equation.3">
                    <p:embed/>
                    <p:pic>
                      <p:nvPicPr>
                        <p:cNvPr id="0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2" y="1018"/>
                          <a:ext cx="282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212" name="Line 124"/>
            <p:cNvSpPr>
              <a:spLocks noChangeShapeType="1"/>
            </p:cNvSpPr>
            <p:nvPr/>
          </p:nvSpPr>
          <p:spPr bwMode="auto">
            <a:xfrm flipV="1">
              <a:off x="4827" y="883"/>
              <a:ext cx="0" cy="107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14" name="Line 126"/>
            <p:cNvSpPr>
              <a:spLocks noChangeShapeType="1"/>
            </p:cNvSpPr>
            <p:nvPr/>
          </p:nvSpPr>
          <p:spPr bwMode="auto">
            <a:xfrm rot="-5400000">
              <a:off x="4349" y="634"/>
              <a:ext cx="0" cy="3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9215" name="Object 127"/>
            <p:cNvGraphicFramePr>
              <a:graphicFrameLocks noChangeAspect="1"/>
            </p:cNvGraphicFramePr>
            <p:nvPr/>
          </p:nvGraphicFramePr>
          <p:xfrm>
            <a:off x="4290" y="539"/>
            <a:ext cx="17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6" name="Equation" r:id="rId28" imgW="164880" imgH="241200" progId="Equation.3">
                    <p:embed/>
                  </p:oleObj>
                </mc:Choice>
                <mc:Fallback>
                  <p:oleObj name="Equation" r:id="rId28" imgW="164880" imgH="241200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0" y="539"/>
                          <a:ext cx="174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216" name="Line 128"/>
            <p:cNvSpPr>
              <a:spLocks noChangeShapeType="1"/>
            </p:cNvSpPr>
            <p:nvPr/>
          </p:nvSpPr>
          <p:spPr bwMode="auto">
            <a:xfrm rot="-5400000">
              <a:off x="4332" y="1445"/>
              <a:ext cx="0" cy="3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18" name="Line 130"/>
            <p:cNvSpPr>
              <a:spLocks noChangeShapeType="1"/>
            </p:cNvSpPr>
            <p:nvPr/>
          </p:nvSpPr>
          <p:spPr bwMode="auto">
            <a:xfrm rot="-5400000">
              <a:off x="4340" y="1780"/>
              <a:ext cx="0" cy="32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269" name="Text Box 181"/>
            <p:cNvSpPr txBox="1">
              <a:spLocks noChangeArrowheads="1"/>
            </p:cNvSpPr>
            <p:nvPr/>
          </p:nvSpPr>
          <p:spPr bwMode="auto">
            <a:xfrm>
              <a:off x="3592" y="1202"/>
              <a:ext cx="25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</a:rPr>
                <a:t>N</a:t>
              </a:r>
            </a:p>
          </p:txBody>
        </p:sp>
        <p:graphicFrame>
          <p:nvGraphicFramePr>
            <p:cNvPr id="89293" name="Object 205"/>
            <p:cNvGraphicFramePr>
              <a:graphicFrameLocks noChangeAspect="1"/>
            </p:cNvGraphicFramePr>
            <p:nvPr/>
          </p:nvGraphicFramePr>
          <p:xfrm>
            <a:off x="3254" y="1654"/>
            <a:ext cx="30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7" name="Equation" r:id="rId30" imgW="291960" imgH="241200" progId="Equation.3">
                    <p:embed/>
                  </p:oleObj>
                </mc:Choice>
                <mc:Fallback>
                  <p:oleObj name="Equation" r:id="rId30" imgW="291960" imgH="241200" progId="Equation.3">
                    <p:embed/>
                    <p:pic>
                      <p:nvPicPr>
                        <p:cNvPr id="0" name="Object 2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4" y="1654"/>
                          <a:ext cx="30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294" name="Object 206"/>
            <p:cNvGraphicFramePr>
              <a:graphicFrameLocks noChangeAspect="1"/>
            </p:cNvGraphicFramePr>
            <p:nvPr/>
          </p:nvGraphicFramePr>
          <p:xfrm>
            <a:off x="3604" y="1608"/>
            <a:ext cx="306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8" name="Equation" r:id="rId32" imgW="291960" imgH="241200" progId="Equation.3">
                    <p:embed/>
                  </p:oleObj>
                </mc:Choice>
                <mc:Fallback>
                  <p:oleObj name="Equation" r:id="rId32" imgW="291960" imgH="241200" progId="Equation.3">
                    <p:embed/>
                    <p:pic>
                      <p:nvPicPr>
                        <p:cNvPr id="0" name="Object 2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4" y="1608"/>
                          <a:ext cx="306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295" name="Object 207"/>
            <p:cNvGraphicFramePr>
              <a:graphicFrameLocks noChangeAspect="1"/>
            </p:cNvGraphicFramePr>
            <p:nvPr/>
          </p:nvGraphicFramePr>
          <p:xfrm>
            <a:off x="4255" y="1395"/>
            <a:ext cx="20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9" name="Equation" r:id="rId34" imgW="190440" imgH="241200" progId="Equation.3">
                    <p:embed/>
                  </p:oleObj>
                </mc:Choice>
                <mc:Fallback>
                  <p:oleObj name="Equation" r:id="rId34" imgW="190440" imgH="241200" progId="Equation.3">
                    <p:embed/>
                    <p:pic>
                      <p:nvPicPr>
                        <p:cNvPr id="0" name="Object 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5" y="1395"/>
                          <a:ext cx="200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296" name="Object 208"/>
            <p:cNvGraphicFramePr>
              <a:graphicFrameLocks noChangeAspect="1"/>
            </p:cNvGraphicFramePr>
            <p:nvPr/>
          </p:nvGraphicFramePr>
          <p:xfrm>
            <a:off x="4242" y="1725"/>
            <a:ext cx="20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30" name="Equation" r:id="rId36" imgW="190440" imgH="241200" progId="Equation.3">
                    <p:embed/>
                  </p:oleObj>
                </mc:Choice>
                <mc:Fallback>
                  <p:oleObj name="Equation" r:id="rId36" imgW="190440" imgH="241200" progId="Equation.3">
                    <p:embed/>
                    <p:pic>
                      <p:nvPicPr>
                        <p:cNvPr id="0" name="Object 2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2" y="1725"/>
                          <a:ext cx="200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297" name="Object 209"/>
            <p:cNvGraphicFramePr>
              <a:graphicFrameLocks noChangeAspect="1"/>
            </p:cNvGraphicFramePr>
            <p:nvPr/>
          </p:nvGraphicFramePr>
          <p:xfrm>
            <a:off x="4873" y="1184"/>
            <a:ext cx="309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31" name="Equation" r:id="rId38" imgW="291960" imgH="241200" progId="Equation.3">
                    <p:embed/>
                  </p:oleObj>
                </mc:Choice>
                <mc:Fallback>
                  <p:oleObj name="Equation" r:id="rId38" imgW="291960" imgH="241200" progId="Equation.3">
                    <p:embed/>
                    <p:pic>
                      <p:nvPicPr>
                        <p:cNvPr id="0" name="Object 2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3" y="1184"/>
                          <a:ext cx="309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298" name="Object 210"/>
            <p:cNvGraphicFramePr>
              <a:graphicFrameLocks noChangeAspect="1"/>
            </p:cNvGraphicFramePr>
            <p:nvPr/>
          </p:nvGraphicFramePr>
          <p:xfrm>
            <a:off x="4546" y="1737"/>
            <a:ext cx="295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32" name="Equation" r:id="rId40" imgW="279360" imgH="241200" progId="Equation.3">
                    <p:embed/>
                  </p:oleObj>
                </mc:Choice>
                <mc:Fallback>
                  <p:oleObj name="Equation" r:id="rId40" imgW="279360" imgH="241200" progId="Equation.3">
                    <p:embed/>
                    <p:pic>
                      <p:nvPicPr>
                        <p:cNvPr id="0" name="Object 2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6" y="1737"/>
                          <a:ext cx="295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9301" name="Rectangle 213"/>
          <p:cNvSpPr>
            <a:spLocks noChangeArrowheads="1"/>
          </p:cNvSpPr>
          <p:nvPr/>
        </p:nvSpPr>
        <p:spPr bwMode="auto">
          <a:xfrm>
            <a:off x="4238625" y="4637088"/>
            <a:ext cx="4905375" cy="115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） 根据前述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Y–Y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，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Y– 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接方法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      计算各待求量。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9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9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73" grpId="0" autoUpdateAnimBg="0"/>
      <p:bldP spid="89301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23" name="Group 111"/>
          <p:cNvGrpSpPr>
            <a:grpSpLocks/>
          </p:cNvGrpSpPr>
          <p:nvPr/>
        </p:nvGrpSpPr>
        <p:grpSpPr bwMode="auto">
          <a:xfrm>
            <a:off x="225425" y="876300"/>
            <a:ext cx="5815013" cy="2938463"/>
            <a:chOff x="1087" y="465"/>
            <a:chExt cx="3809" cy="2018"/>
          </a:xfrm>
        </p:grpSpPr>
        <p:sp>
          <p:nvSpPr>
            <p:cNvPr id="90162" name="Text Box 50"/>
            <p:cNvSpPr txBox="1">
              <a:spLocks noChangeArrowheads="1"/>
            </p:cNvSpPr>
            <p:nvPr/>
          </p:nvSpPr>
          <p:spPr bwMode="auto">
            <a:xfrm>
              <a:off x="4589" y="1567"/>
              <a:ext cx="30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90117" name="Oval 5"/>
            <p:cNvSpPr>
              <a:spLocks noChangeArrowheads="1"/>
            </p:cNvSpPr>
            <p:nvPr/>
          </p:nvSpPr>
          <p:spPr bwMode="auto">
            <a:xfrm>
              <a:off x="1918" y="1111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18" name="Oval 6"/>
            <p:cNvSpPr>
              <a:spLocks noChangeArrowheads="1"/>
            </p:cNvSpPr>
            <p:nvPr/>
          </p:nvSpPr>
          <p:spPr bwMode="auto">
            <a:xfrm>
              <a:off x="1678" y="1579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19" name="Oval 7"/>
            <p:cNvSpPr>
              <a:spLocks noChangeArrowheads="1"/>
            </p:cNvSpPr>
            <p:nvPr/>
          </p:nvSpPr>
          <p:spPr bwMode="auto">
            <a:xfrm>
              <a:off x="1438" y="1123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20" name="AutoShape 8"/>
            <p:cNvSpPr>
              <a:spLocks noChangeArrowheads="1"/>
            </p:cNvSpPr>
            <p:nvPr/>
          </p:nvSpPr>
          <p:spPr bwMode="auto">
            <a:xfrm>
              <a:off x="1342" y="811"/>
              <a:ext cx="960" cy="912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1" name="AutoShape 9"/>
            <p:cNvSpPr>
              <a:spLocks noChangeArrowheads="1"/>
            </p:cNvSpPr>
            <p:nvPr/>
          </p:nvSpPr>
          <p:spPr bwMode="auto">
            <a:xfrm>
              <a:off x="3634" y="811"/>
              <a:ext cx="960" cy="912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2" name="Line 10"/>
            <p:cNvSpPr>
              <a:spLocks noChangeShapeType="1"/>
            </p:cNvSpPr>
            <p:nvPr/>
          </p:nvSpPr>
          <p:spPr bwMode="auto">
            <a:xfrm>
              <a:off x="1822" y="811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3" name="Line 11"/>
            <p:cNvSpPr>
              <a:spLocks noChangeShapeType="1"/>
            </p:cNvSpPr>
            <p:nvPr/>
          </p:nvSpPr>
          <p:spPr bwMode="auto">
            <a:xfrm>
              <a:off x="2290" y="1723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4" name="Line 12"/>
            <p:cNvSpPr>
              <a:spLocks noChangeShapeType="1"/>
            </p:cNvSpPr>
            <p:nvPr/>
          </p:nvSpPr>
          <p:spPr bwMode="auto">
            <a:xfrm>
              <a:off x="4594" y="1723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5" name="Line 13"/>
            <p:cNvSpPr>
              <a:spLocks noChangeShapeType="1"/>
            </p:cNvSpPr>
            <p:nvPr/>
          </p:nvSpPr>
          <p:spPr bwMode="auto">
            <a:xfrm>
              <a:off x="2290" y="1915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6" name="Line 14"/>
            <p:cNvSpPr>
              <a:spLocks noChangeShapeType="1"/>
            </p:cNvSpPr>
            <p:nvPr/>
          </p:nvSpPr>
          <p:spPr bwMode="auto">
            <a:xfrm>
              <a:off x="3646" y="1723"/>
              <a:ext cx="0" cy="4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9" name="Line 17"/>
            <p:cNvSpPr>
              <a:spLocks noChangeShapeType="1"/>
            </p:cNvSpPr>
            <p:nvPr/>
          </p:nvSpPr>
          <p:spPr bwMode="auto">
            <a:xfrm>
              <a:off x="1342" y="1723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0" name="Line 18"/>
            <p:cNvSpPr>
              <a:spLocks noChangeShapeType="1"/>
            </p:cNvSpPr>
            <p:nvPr/>
          </p:nvSpPr>
          <p:spPr bwMode="auto">
            <a:xfrm>
              <a:off x="1348" y="2157"/>
              <a:ext cx="23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1" name="Text Box 19"/>
            <p:cNvSpPr txBox="1">
              <a:spLocks noChangeArrowheads="1"/>
            </p:cNvSpPr>
            <p:nvPr/>
          </p:nvSpPr>
          <p:spPr bwMode="auto">
            <a:xfrm>
              <a:off x="1278" y="1278"/>
              <a:ext cx="234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90132" name="Rectangle 20"/>
            <p:cNvSpPr>
              <a:spLocks noChangeArrowheads="1"/>
            </p:cNvSpPr>
            <p:nvPr/>
          </p:nvSpPr>
          <p:spPr bwMode="auto">
            <a:xfrm rot="-5400000">
              <a:off x="4090" y="1579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33" name="Rectangle 21"/>
            <p:cNvSpPr>
              <a:spLocks noChangeArrowheads="1"/>
            </p:cNvSpPr>
            <p:nvPr/>
          </p:nvSpPr>
          <p:spPr bwMode="auto">
            <a:xfrm rot="-1588970">
              <a:off x="4306" y="1147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34" name="Rectangle 22"/>
            <p:cNvSpPr>
              <a:spLocks noChangeArrowheads="1"/>
            </p:cNvSpPr>
            <p:nvPr/>
          </p:nvSpPr>
          <p:spPr bwMode="auto">
            <a:xfrm rot="1764512">
              <a:off x="3814" y="1123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35" name="Text Box 23"/>
            <p:cNvSpPr txBox="1">
              <a:spLocks noChangeArrowheads="1"/>
            </p:cNvSpPr>
            <p:nvPr/>
          </p:nvSpPr>
          <p:spPr bwMode="auto">
            <a:xfrm>
              <a:off x="1950" y="1482"/>
              <a:ext cx="234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90136" name="Text Box 24"/>
            <p:cNvSpPr txBox="1">
              <a:spLocks noChangeArrowheads="1"/>
            </p:cNvSpPr>
            <p:nvPr/>
          </p:nvSpPr>
          <p:spPr bwMode="auto">
            <a:xfrm>
              <a:off x="1931" y="847"/>
              <a:ext cx="234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90137" name="Text Box 25"/>
            <p:cNvSpPr txBox="1">
              <a:spLocks noChangeArrowheads="1"/>
            </p:cNvSpPr>
            <p:nvPr/>
          </p:nvSpPr>
          <p:spPr bwMode="auto">
            <a:xfrm>
              <a:off x="1468" y="1404"/>
              <a:ext cx="212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90138" name="Text Box 26"/>
            <p:cNvSpPr txBox="1">
              <a:spLocks noChangeArrowheads="1"/>
            </p:cNvSpPr>
            <p:nvPr/>
          </p:nvSpPr>
          <p:spPr bwMode="auto">
            <a:xfrm>
              <a:off x="2158" y="1200"/>
              <a:ext cx="212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90139" name="Text Box 27"/>
            <p:cNvSpPr txBox="1">
              <a:spLocks noChangeArrowheads="1"/>
            </p:cNvSpPr>
            <p:nvPr/>
          </p:nvSpPr>
          <p:spPr bwMode="auto">
            <a:xfrm>
              <a:off x="1492" y="751"/>
              <a:ext cx="212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90140" name="Text Box 28"/>
            <p:cNvSpPr txBox="1">
              <a:spLocks noChangeArrowheads="1"/>
            </p:cNvSpPr>
            <p:nvPr/>
          </p:nvSpPr>
          <p:spPr bwMode="auto">
            <a:xfrm>
              <a:off x="1692" y="537"/>
              <a:ext cx="265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90141" name="Text Box 29"/>
            <p:cNvSpPr txBox="1">
              <a:spLocks noChangeArrowheads="1"/>
            </p:cNvSpPr>
            <p:nvPr/>
          </p:nvSpPr>
          <p:spPr bwMode="auto">
            <a:xfrm>
              <a:off x="1092" y="1569"/>
              <a:ext cx="265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90142" name="Text Box 30"/>
            <p:cNvSpPr txBox="1">
              <a:spLocks noChangeArrowheads="1"/>
            </p:cNvSpPr>
            <p:nvPr/>
          </p:nvSpPr>
          <p:spPr bwMode="auto">
            <a:xfrm>
              <a:off x="2302" y="1579"/>
              <a:ext cx="253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90146" name="Rectangle 34"/>
            <p:cNvSpPr>
              <a:spLocks noChangeArrowheads="1"/>
            </p:cNvSpPr>
            <p:nvPr/>
          </p:nvSpPr>
          <p:spPr bwMode="auto">
            <a:xfrm rot="-5400000">
              <a:off x="2904" y="669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47" name="Rectangle 35"/>
            <p:cNvSpPr>
              <a:spLocks noChangeArrowheads="1"/>
            </p:cNvSpPr>
            <p:nvPr/>
          </p:nvSpPr>
          <p:spPr bwMode="auto">
            <a:xfrm rot="-5400000">
              <a:off x="2904" y="1761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48" name="Rectangle 36"/>
            <p:cNvSpPr>
              <a:spLocks noChangeArrowheads="1"/>
            </p:cNvSpPr>
            <p:nvPr/>
          </p:nvSpPr>
          <p:spPr bwMode="auto">
            <a:xfrm rot="-5400000">
              <a:off x="2904" y="1989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49" name="Text Box 37"/>
            <p:cNvSpPr txBox="1">
              <a:spLocks noChangeArrowheads="1"/>
            </p:cNvSpPr>
            <p:nvPr/>
          </p:nvSpPr>
          <p:spPr bwMode="auto">
            <a:xfrm>
              <a:off x="4018" y="1399"/>
              <a:ext cx="243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90150" name="Text Box 38"/>
            <p:cNvSpPr txBox="1">
              <a:spLocks noChangeArrowheads="1"/>
            </p:cNvSpPr>
            <p:nvPr/>
          </p:nvSpPr>
          <p:spPr bwMode="auto">
            <a:xfrm>
              <a:off x="2826" y="465"/>
              <a:ext cx="27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i="1" baseline="-25000">
                  <a:solidFill>
                    <a:schemeClr val="tx1"/>
                  </a:solidFill>
                </a:rPr>
                <a:t>l</a:t>
              </a:r>
              <a:endParaRPr lang="en-US" altLang="zh-CN" i="1">
                <a:solidFill>
                  <a:schemeClr val="tx1"/>
                </a:solidFill>
              </a:endParaRPr>
            </a:p>
          </p:txBody>
        </p:sp>
        <p:graphicFrame>
          <p:nvGraphicFramePr>
            <p:cNvPr id="90154" name="Object 42"/>
            <p:cNvGraphicFramePr>
              <a:graphicFrameLocks noChangeAspect="1"/>
            </p:cNvGraphicFramePr>
            <p:nvPr/>
          </p:nvGraphicFramePr>
          <p:xfrm>
            <a:off x="2220" y="1051"/>
            <a:ext cx="326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345" name="Equation" r:id="rId3" imgW="266400" imgH="241200" progId="Equation.3">
                    <p:embed/>
                  </p:oleObj>
                </mc:Choice>
                <mc:Fallback>
                  <p:oleObj name="Equation" r:id="rId3" imgW="266400" imgH="2412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0" y="1051"/>
                          <a:ext cx="326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55" name="Object 43"/>
            <p:cNvGraphicFramePr>
              <a:graphicFrameLocks noChangeAspect="1"/>
            </p:cNvGraphicFramePr>
            <p:nvPr/>
          </p:nvGraphicFramePr>
          <p:xfrm>
            <a:off x="1670" y="1855"/>
            <a:ext cx="329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346" name="Equation" r:id="rId5" imgW="266400" imgH="241200" progId="Equation.3">
                    <p:embed/>
                  </p:oleObj>
                </mc:Choice>
                <mc:Fallback>
                  <p:oleObj name="Equation" r:id="rId5" imgW="266400" imgH="2412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0" y="1855"/>
                          <a:ext cx="329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56" name="Object 44"/>
            <p:cNvGraphicFramePr>
              <a:graphicFrameLocks noChangeAspect="1"/>
            </p:cNvGraphicFramePr>
            <p:nvPr/>
          </p:nvGraphicFramePr>
          <p:xfrm>
            <a:off x="1087" y="949"/>
            <a:ext cx="343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347" name="Equation" r:id="rId7" imgW="279360" imgH="241200" progId="Equation.3">
                    <p:embed/>
                  </p:oleObj>
                </mc:Choice>
                <mc:Fallback>
                  <p:oleObj name="Equation" r:id="rId7" imgW="279360" imgH="2412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7" y="949"/>
                          <a:ext cx="343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57" name="Text Box 45"/>
            <p:cNvSpPr txBox="1">
              <a:spLocks noChangeArrowheads="1"/>
            </p:cNvSpPr>
            <p:nvPr/>
          </p:nvSpPr>
          <p:spPr bwMode="auto">
            <a:xfrm>
              <a:off x="2837" y="1573"/>
              <a:ext cx="280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i="1" baseline="-25000">
                  <a:solidFill>
                    <a:schemeClr val="tx1"/>
                  </a:solidFill>
                </a:rPr>
                <a:t>l</a:t>
              </a:r>
              <a:endParaRPr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90158" name="Text Box 46"/>
            <p:cNvSpPr txBox="1">
              <a:spLocks noChangeArrowheads="1"/>
            </p:cNvSpPr>
            <p:nvPr/>
          </p:nvSpPr>
          <p:spPr bwMode="auto">
            <a:xfrm>
              <a:off x="2849" y="2169"/>
              <a:ext cx="27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i="1" baseline="-25000">
                  <a:solidFill>
                    <a:schemeClr val="tx1"/>
                  </a:solidFill>
                </a:rPr>
                <a:t>l</a:t>
              </a:r>
              <a:endParaRPr lang="en-US" altLang="zh-CN" i="1">
                <a:solidFill>
                  <a:schemeClr val="tx1"/>
                </a:solidFill>
              </a:endParaRPr>
            </a:p>
          </p:txBody>
        </p:sp>
        <p:sp>
          <p:nvSpPr>
            <p:cNvPr id="90159" name="Text Box 47"/>
            <p:cNvSpPr txBox="1">
              <a:spLocks noChangeArrowheads="1"/>
            </p:cNvSpPr>
            <p:nvPr/>
          </p:nvSpPr>
          <p:spPr bwMode="auto">
            <a:xfrm>
              <a:off x="4426" y="1098"/>
              <a:ext cx="223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90160" name="Text Box 48"/>
            <p:cNvSpPr txBox="1">
              <a:spLocks noChangeArrowheads="1"/>
            </p:cNvSpPr>
            <p:nvPr/>
          </p:nvSpPr>
          <p:spPr bwMode="auto">
            <a:xfrm>
              <a:off x="3567" y="1098"/>
              <a:ext cx="242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</a:p>
          </p:txBody>
        </p:sp>
        <p:sp>
          <p:nvSpPr>
            <p:cNvPr id="90161" name="Text Box 49"/>
            <p:cNvSpPr txBox="1">
              <a:spLocks noChangeArrowheads="1"/>
            </p:cNvSpPr>
            <p:nvPr/>
          </p:nvSpPr>
          <p:spPr bwMode="auto">
            <a:xfrm>
              <a:off x="3994" y="501"/>
              <a:ext cx="30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90163" name="Text Box 51"/>
            <p:cNvSpPr txBox="1">
              <a:spLocks noChangeArrowheads="1"/>
            </p:cNvSpPr>
            <p:nvPr/>
          </p:nvSpPr>
          <p:spPr bwMode="auto">
            <a:xfrm>
              <a:off x="3416" y="1557"/>
              <a:ext cx="307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graphicFrame>
          <p:nvGraphicFramePr>
            <p:cNvPr id="90183" name="Object 71"/>
            <p:cNvGraphicFramePr>
              <a:graphicFrameLocks noChangeAspect="1"/>
            </p:cNvGraphicFramePr>
            <p:nvPr/>
          </p:nvGraphicFramePr>
          <p:xfrm>
            <a:off x="2469" y="469"/>
            <a:ext cx="23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348" name="Equation" r:id="rId9" imgW="190440" imgH="228600" progId="Equation.3">
                    <p:embed/>
                  </p:oleObj>
                </mc:Choice>
                <mc:Fallback>
                  <p:oleObj name="Equation" r:id="rId9" imgW="190440" imgH="228600" progId="Equation.3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9" y="469"/>
                          <a:ext cx="23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84" name="Line 72"/>
            <p:cNvSpPr>
              <a:spLocks noChangeShapeType="1"/>
            </p:cNvSpPr>
            <p:nvPr/>
          </p:nvSpPr>
          <p:spPr bwMode="auto">
            <a:xfrm>
              <a:off x="2134" y="705"/>
              <a:ext cx="3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90192" name="Object 80"/>
          <p:cNvGraphicFramePr>
            <a:graphicFrameLocks noChangeAspect="1"/>
          </p:cNvGraphicFramePr>
          <p:nvPr/>
        </p:nvGraphicFramePr>
        <p:xfrm>
          <a:off x="4489450" y="4014788"/>
          <a:ext cx="16351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49" name="公式" r:id="rId11" imgW="164880" imgH="355320" progId="Equation.3">
                  <p:embed/>
                </p:oleObj>
              </mc:Choice>
              <mc:Fallback>
                <p:oleObj name="公式" r:id="rId11" imgW="164880" imgH="355320" progId="Equation.3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450" y="4014788"/>
                        <a:ext cx="163513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94" name="Object 82"/>
          <p:cNvGraphicFramePr>
            <a:graphicFrameLocks noChangeAspect="1"/>
          </p:cNvGraphicFramePr>
          <p:nvPr/>
        </p:nvGraphicFramePr>
        <p:xfrm>
          <a:off x="4759325" y="3370263"/>
          <a:ext cx="30416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50" name="Equation" r:id="rId13" imgW="1409400" imgH="419040" progId="Equation.3">
                  <p:embed/>
                </p:oleObj>
              </mc:Choice>
              <mc:Fallback>
                <p:oleObj name="Equation" r:id="rId13" imgW="1409400" imgH="419040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325" y="3370263"/>
                        <a:ext cx="30416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95" name="Rectangle 83"/>
          <p:cNvSpPr>
            <a:spLocks noChangeArrowheads="1"/>
          </p:cNvSpPr>
          <p:nvPr/>
        </p:nvSpPr>
        <p:spPr bwMode="auto">
          <a:xfrm>
            <a:off x="198438" y="338138"/>
            <a:ext cx="4387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CC3300"/>
                </a:solidFill>
                <a:sym typeface="Symbol" panose="05050102010706020507" pitchFamily="18" charset="2"/>
              </a:rPr>
              <a:t>四、</a:t>
            </a:r>
            <a:r>
              <a:rPr lang="en-US" altLang="zh-CN">
                <a:solidFill>
                  <a:srgbClr val="CC3300"/>
                </a:solidFill>
                <a:sym typeface="Symbol" panose="05050102010706020507" pitchFamily="18" charset="2"/>
              </a:rPr>
              <a:t>–</a:t>
            </a:r>
            <a:r>
              <a:rPr lang="zh-CN" altLang="en-US">
                <a:solidFill>
                  <a:srgbClr val="CC3300"/>
                </a:solidFill>
                <a:sym typeface="Symbol" panose="05050102010706020507" pitchFamily="18" charset="2"/>
              </a:rPr>
              <a:t>接</a:t>
            </a:r>
            <a:r>
              <a:rPr lang="zh-CN" altLang="en-US">
                <a:solidFill>
                  <a:srgbClr val="CC3300"/>
                </a:solidFill>
                <a:latin typeface="宋体" panose="02010600030101010101" pitchFamily="2" charset="-122"/>
              </a:rPr>
              <a:t>对称三相电路的计算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0198" name="Object 86"/>
          <p:cNvGraphicFramePr>
            <a:graphicFrameLocks noChangeAspect="1"/>
          </p:cNvGraphicFramePr>
          <p:nvPr/>
        </p:nvGraphicFramePr>
        <p:xfrm>
          <a:off x="6359525" y="4446588"/>
          <a:ext cx="17780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51" name="Equation" r:id="rId15" imgW="1777680" imgH="749160" progId="Equation.3">
                  <p:embed/>
                </p:oleObj>
              </mc:Choice>
              <mc:Fallback>
                <p:oleObj name="Equation" r:id="rId15" imgW="1777680" imgH="749160" progId="Equation.3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9525" y="4446588"/>
                        <a:ext cx="17780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24" name="Text Box 112"/>
          <p:cNvSpPr txBox="1">
            <a:spLocks noChangeArrowheads="1"/>
          </p:cNvSpPr>
          <p:nvPr/>
        </p:nvSpPr>
        <p:spPr bwMode="auto">
          <a:xfrm>
            <a:off x="5715000" y="727075"/>
            <a:ext cx="27749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accent2"/>
                </a:solidFill>
              </a:rPr>
              <a:t>（</a:t>
            </a:r>
            <a:r>
              <a:rPr lang="en-US" altLang="zh-CN">
                <a:solidFill>
                  <a:schemeClr val="accent2"/>
                </a:solidFill>
              </a:rPr>
              <a:t>1</a:t>
            </a:r>
            <a:r>
              <a:rPr lang="zh-CN" altLang="en-US">
                <a:solidFill>
                  <a:schemeClr val="accent2"/>
                </a:solidFill>
              </a:rPr>
              <a:t>）化为等效的</a:t>
            </a:r>
          </a:p>
          <a:p>
            <a:r>
              <a:rPr lang="zh-CN" altLang="en-US">
                <a:solidFill>
                  <a:schemeClr val="accent2"/>
                </a:solidFill>
              </a:rPr>
              <a:t>       </a:t>
            </a:r>
            <a:r>
              <a:rPr lang="en-US" altLang="zh-CN">
                <a:solidFill>
                  <a:schemeClr val="accent2"/>
                </a:solidFill>
              </a:rPr>
              <a:t>Y</a:t>
            </a:r>
            <a:r>
              <a:rPr lang="zh-CN" altLang="en-US">
                <a:solidFill>
                  <a:schemeClr val="accent2"/>
                </a:solidFill>
                <a:sym typeface="Symbol" panose="05050102010706020507" pitchFamily="18" charset="2"/>
              </a:rPr>
              <a:t>－</a:t>
            </a:r>
            <a:r>
              <a:rPr lang="en-US" altLang="zh-CN">
                <a:solidFill>
                  <a:schemeClr val="accent2"/>
                </a:solidFill>
              </a:rPr>
              <a:t>Y</a:t>
            </a:r>
            <a:r>
              <a:rPr lang="zh-CN" altLang="en-US">
                <a:solidFill>
                  <a:schemeClr val="accent2"/>
                </a:solidFill>
              </a:rPr>
              <a:t>接电路。</a:t>
            </a:r>
          </a:p>
        </p:txBody>
      </p:sp>
      <p:sp>
        <p:nvSpPr>
          <p:cNvPr id="90226" name="Text Box 114"/>
          <p:cNvSpPr txBox="1">
            <a:spLocks noChangeArrowheads="1"/>
          </p:cNvSpPr>
          <p:nvPr/>
        </p:nvSpPr>
        <p:spPr bwMode="auto">
          <a:xfrm>
            <a:off x="5683250" y="1893888"/>
            <a:ext cx="31702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accent2"/>
                </a:solidFill>
              </a:rPr>
              <a:t>（</a:t>
            </a:r>
            <a:r>
              <a:rPr lang="en-US" altLang="zh-CN">
                <a:solidFill>
                  <a:schemeClr val="accent2"/>
                </a:solidFill>
              </a:rPr>
              <a:t>2</a:t>
            </a:r>
            <a:r>
              <a:rPr lang="zh-CN" altLang="en-US">
                <a:solidFill>
                  <a:schemeClr val="accent2"/>
                </a:solidFill>
              </a:rPr>
              <a:t>）画一相计算电路</a:t>
            </a:r>
            <a:r>
              <a:rPr lang="en-US" altLang="zh-CN">
                <a:solidFill>
                  <a:schemeClr val="accent2"/>
                </a:solidFill>
              </a:rPr>
              <a:t>,</a:t>
            </a:r>
          </a:p>
          <a:p>
            <a:r>
              <a:rPr lang="en-US" altLang="zh-CN">
                <a:solidFill>
                  <a:schemeClr val="accent2"/>
                </a:solidFill>
              </a:rPr>
              <a:t>   </a:t>
            </a:r>
            <a:r>
              <a:rPr lang="zh-CN" altLang="en-US">
                <a:solidFill>
                  <a:schemeClr val="accent2"/>
                </a:solidFill>
              </a:rPr>
              <a:t>求一相电压、电流。</a:t>
            </a:r>
          </a:p>
        </p:txBody>
      </p:sp>
      <p:graphicFrame>
        <p:nvGraphicFramePr>
          <p:cNvPr id="90227" name="Object 115"/>
          <p:cNvGraphicFramePr>
            <a:graphicFrameLocks noChangeAspect="1"/>
          </p:cNvGraphicFramePr>
          <p:nvPr/>
        </p:nvGraphicFramePr>
        <p:xfrm>
          <a:off x="4194175" y="4306888"/>
          <a:ext cx="187960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52" name="Equation" r:id="rId17" imgW="927000" imgH="419040" progId="Equation.3">
                  <p:embed/>
                </p:oleObj>
              </mc:Choice>
              <mc:Fallback>
                <p:oleObj name="Equation" r:id="rId17" imgW="927000" imgH="419040" progId="Equation.3">
                  <p:embed/>
                  <p:pic>
                    <p:nvPicPr>
                      <p:cNvPr id="0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5" y="4306888"/>
                        <a:ext cx="1879600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28" name="Text Box 116"/>
          <p:cNvSpPr txBox="1">
            <a:spLocks noChangeArrowheads="1"/>
          </p:cNvSpPr>
          <p:nvPr/>
        </p:nvSpPr>
        <p:spPr bwMode="auto">
          <a:xfrm>
            <a:off x="3522663" y="5370513"/>
            <a:ext cx="5621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 由对称性得其它二相电压、电流。</a:t>
            </a:r>
          </a:p>
        </p:txBody>
      </p:sp>
      <p:grpSp>
        <p:nvGrpSpPr>
          <p:cNvPr id="90232" name="Group 120"/>
          <p:cNvGrpSpPr>
            <a:grpSpLocks/>
          </p:cNvGrpSpPr>
          <p:nvPr/>
        </p:nvGrpSpPr>
        <p:grpSpPr bwMode="auto">
          <a:xfrm>
            <a:off x="406400" y="3741738"/>
            <a:ext cx="3333750" cy="2141537"/>
            <a:chOff x="228" y="2466"/>
            <a:chExt cx="2100" cy="1349"/>
          </a:xfrm>
        </p:grpSpPr>
        <p:grpSp>
          <p:nvGrpSpPr>
            <p:cNvPr id="90222" name="Group 110"/>
            <p:cNvGrpSpPr>
              <a:grpSpLocks/>
            </p:cNvGrpSpPr>
            <p:nvPr/>
          </p:nvGrpSpPr>
          <p:grpSpPr bwMode="auto">
            <a:xfrm>
              <a:off x="228" y="2466"/>
              <a:ext cx="2100" cy="1349"/>
              <a:chOff x="342" y="2310"/>
              <a:chExt cx="2100" cy="1349"/>
            </a:xfrm>
          </p:grpSpPr>
          <p:sp>
            <p:nvSpPr>
              <p:cNvPr id="90166" name="Rectangle 54"/>
              <p:cNvSpPr>
                <a:spLocks noChangeArrowheads="1"/>
              </p:cNvSpPr>
              <p:nvPr/>
            </p:nvSpPr>
            <p:spPr bwMode="auto">
              <a:xfrm>
                <a:off x="1934" y="2903"/>
                <a:ext cx="106" cy="303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67" name="Oval 55"/>
              <p:cNvSpPr>
                <a:spLocks noChangeArrowheads="1"/>
              </p:cNvSpPr>
              <p:nvPr/>
            </p:nvSpPr>
            <p:spPr bwMode="auto">
              <a:xfrm>
                <a:off x="703" y="2878"/>
                <a:ext cx="308" cy="303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68" name="Line 56"/>
              <p:cNvSpPr>
                <a:spLocks noChangeShapeType="1"/>
              </p:cNvSpPr>
              <p:nvPr/>
            </p:nvSpPr>
            <p:spPr bwMode="auto">
              <a:xfrm>
                <a:off x="863" y="2651"/>
                <a:ext cx="0" cy="8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69" name="Line 57"/>
              <p:cNvSpPr>
                <a:spLocks noChangeShapeType="1"/>
              </p:cNvSpPr>
              <p:nvPr/>
            </p:nvSpPr>
            <p:spPr bwMode="auto">
              <a:xfrm>
                <a:off x="1986" y="2653"/>
                <a:ext cx="0" cy="2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70" name="Line 58"/>
              <p:cNvSpPr>
                <a:spLocks noChangeShapeType="1"/>
              </p:cNvSpPr>
              <p:nvPr/>
            </p:nvSpPr>
            <p:spPr bwMode="auto">
              <a:xfrm>
                <a:off x="1986" y="3215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71" name="Line 59"/>
              <p:cNvSpPr>
                <a:spLocks noChangeShapeType="1"/>
              </p:cNvSpPr>
              <p:nvPr/>
            </p:nvSpPr>
            <p:spPr bwMode="auto">
              <a:xfrm>
                <a:off x="857" y="3496"/>
                <a:ext cx="11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72" name="Line 60"/>
              <p:cNvSpPr>
                <a:spLocks noChangeShapeType="1"/>
              </p:cNvSpPr>
              <p:nvPr/>
            </p:nvSpPr>
            <p:spPr bwMode="auto">
              <a:xfrm>
                <a:off x="863" y="2651"/>
                <a:ext cx="40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73" name="Text Box 61"/>
              <p:cNvSpPr txBox="1">
                <a:spLocks noChangeArrowheads="1"/>
              </p:cNvSpPr>
              <p:nvPr/>
            </p:nvSpPr>
            <p:spPr bwMode="auto">
              <a:xfrm>
                <a:off x="664" y="2651"/>
                <a:ext cx="26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+</a:t>
                </a:r>
              </a:p>
            </p:txBody>
          </p:sp>
          <p:sp>
            <p:nvSpPr>
              <p:cNvPr id="90174" name="Text Box 62"/>
              <p:cNvSpPr txBox="1">
                <a:spLocks noChangeArrowheads="1"/>
              </p:cNvSpPr>
              <p:nvPr/>
            </p:nvSpPr>
            <p:spPr bwMode="auto">
              <a:xfrm>
                <a:off x="670" y="3119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–</a:t>
                </a:r>
              </a:p>
            </p:txBody>
          </p:sp>
          <p:graphicFrame>
            <p:nvGraphicFramePr>
              <p:cNvPr id="90175" name="Object 63"/>
              <p:cNvGraphicFramePr>
                <a:graphicFrameLocks noChangeAspect="1"/>
              </p:cNvGraphicFramePr>
              <p:nvPr/>
            </p:nvGraphicFramePr>
            <p:xfrm>
              <a:off x="342" y="2841"/>
              <a:ext cx="381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353" name="Equation" r:id="rId19" imgW="291960" imgH="241200" progId="Equation.3">
                      <p:embed/>
                    </p:oleObj>
                  </mc:Choice>
                  <mc:Fallback>
                    <p:oleObj name="Equation" r:id="rId19" imgW="291960" imgH="241200" progId="Equation.3">
                      <p:embed/>
                      <p:pic>
                        <p:nvPicPr>
                          <p:cNvPr id="0" name="Object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" y="2841"/>
                            <a:ext cx="381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0176" name="Line 64"/>
              <p:cNvSpPr>
                <a:spLocks noChangeShapeType="1"/>
              </p:cNvSpPr>
              <p:nvPr/>
            </p:nvSpPr>
            <p:spPr bwMode="auto">
              <a:xfrm>
                <a:off x="1213" y="2503"/>
                <a:ext cx="3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0177" name="Object 65"/>
              <p:cNvGraphicFramePr>
                <a:graphicFrameLocks noChangeAspect="1"/>
              </p:cNvGraphicFramePr>
              <p:nvPr/>
            </p:nvGraphicFramePr>
            <p:xfrm>
              <a:off x="1587" y="2310"/>
              <a:ext cx="248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354" name="Equation" r:id="rId21" imgW="190440" imgH="228600" progId="Equation.3">
                      <p:embed/>
                    </p:oleObj>
                  </mc:Choice>
                  <mc:Fallback>
                    <p:oleObj name="Equation" r:id="rId21" imgW="190440" imgH="228600" progId="Equation.3">
                      <p:embed/>
                      <p:pic>
                        <p:nvPicPr>
                          <p:cNvPr id="0" name="Object 6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7" y="2310"/>
                            <a:ext cx="248" cy="2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0178" name="Text Box 66"/>
              <p:cNvSpPr txBox="1">
                <a:spLocks noChangeArrowheads="1"/>
              </p:cNvSpPr>
              <p:nvPr/>
            </p:nvSpPr>
            <p:spPr bwMode="auto">
              <a:xfrm>
                <a:off x="620" y="2447"/>
                <a:ext cx="2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90179" name="Text Box 67"/>
              <p:cNvSpPr txBox="1">
                <a:spLocks noChangeArrowheads="1"/>
              </p:cNvSpPr>
              <p:nvPr/>
            </p:nvSpPr>
            <p:spPr bwMode="auto">
              <a:xfrm>
                <a:off x="623" y="3371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90180" name="Text Box 68"/>
              <p:cNvSpPr txBox="1">
                <a:spLocks noChangeArrowheads="1"/>
              </p:cNvSpPr>
              <p:nvPr/>
            </p:nvSpPr>
            <p:spPr bwMode="auto">
              <a:xfrm>
                <a:off x="2015" y="3365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n</a:t>
                </a:r>
              </a:p>
            </p:txBody>
          </p:sp>
          <p:sp>
            <p:nvSpPr>
              <p:cNvPr id="90181" name="Text Box 69"/>
              <p:cNvSpPr txBox="1">
                <a:spLocks noChangeArrowheads="1"/>
              </p:cNvSpPr>
              <p:nvPr/>
            </p:nvSpPr>
            <p:spPr bwMode="auto">
              <a:xfrm>
                <a:off x="1994" y="2404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90182" name="Text Box 70"/>
              <p:cNvSpPr txBox="1">
                <a:spLocks noChangeArrowheads="1"/>
              </p:cNvSpPr>
              <p:nvPr/>
            </p:nvSpPr>
            <p:spPr bwMode="auto">
              <a:xfrm>
                <a:off x="2019" y="2910"/>
                <a:ext cx="4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Z/</a:t>
                </a:r>
                <a:r>
                  <a:rPr lang="en-US" altLang="zh-CN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0187" name="Rectangle 75"/>
              <p:cNvSpPr>
                <a:spLocks noChangeArrowheads="1"/>
              </p:cNvSpPr>
              <p:nvPr/>
            </p:nvSpPr>
            <p:spPr bwMode="auto">
              <a:xfrm rot="5400000">
                <a:off x="1372" y="2501"/>
                <a:ext cx="99" cy="307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88" name="Line 76"/>
              <p:cNvSpPr>
                <a:spLocks noChangeShapeType="1"/>
              </p:cNvSpPr>
              <p:nvPr/>
            </p:nvSpPr>
            <p:spPr bwMode="auto">
              <a:xfrm>
                <a:off x="1583" y="2657"/>
                <a:ext cx="40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189" name="Text Box 77"/>
              <p:cNvSpPr txBox="1">
                <a:spLocks noChangeArrowheads="1"/>
              </p:cNvSpPr>
              <p:nvPr/>
            </p:nvSpPr>
            <p:spPr bwMode="auto">
              <a:xfrm>
                <a:off x="1288" y="2678"/>
                <a:ext cx="4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i="1" baseline="-25000">
                    <a:solidFill>
                      <a:schemeClr val="tx1"/>
                    </a:solidFill>
                  </a:rPr>
                  <a:t>l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230" name="Text Box 118"/>
            <p:cNvSpPr txBox="1">
              <a:spLocks noChangeArrowheads="1"/>
            </p:cNvSpPr>
            <p:nvPr/>
          </p:nvSpPr>
          <p:spPr bwMode="auto">
            <a:xfrm>
              <a:off x="1778" y="2698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800">
                  <a:solidFill>
                    <a:schemeClr val="tx1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90231" name="Text Box 119"/>
            <p:cNvSpPr txBox="1">
              <a:spLocks noChangeArrowheads="1"/>
            </p:cNvSpPr>
            <p:nvPr/>
          </p:nvSpPr>
          <p:spPr bwMode="auto">
            <a:xfrm>
              <a:off x="1778" y="3526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800">
                  <a:solidFill>
                    <a:schemeClr val="tx1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9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9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9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224" grpId="0" autoUpdateAnimBg="0"/>
      <p:bldP spid="90226" grpId="0" build="p" autoUpdateAnimBg="0"/>
      <p:bldP spid="90228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1026"/>
          <p:cNvSpPr txBox="1">
            <a:spLocks noChangeArrowheads="1"/>
          </p:cNvSpPr>
          <p:nvPr/>
        </p:nvSpPr>
        <p:spPr bwMode="auto">
          <a:xfrm>
            <a:off x="657225" y="1289050"/>
            <a:ext cx="7058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 将三相电源、负载都化为等值</a:t>
            </a:r>
            <a:r>
              <a:rPr lang="en-US" altLang="zh-CN">
                <a:solidFill>
                  <a:schemeClr val="tx1"/>
                </a:solidFill>
              </a:rPr>
              <a:t>Y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－</a:t>
            </a:r>
            <a:r>
              <a:rPr lang="en-US" altLang="zh-CN">
                <a:solidFill>
                  <a:schemeClr val="tx1"/>
                </a:solidFill>
              </a:rPr>
              <a:t>Y</a:t>
            </a:r>
            <a:r>
              <a:rPr lang="zh-CN" altLang="en-US">
                <a:solidFill>
                  <a:schemeClr val="tx1"/>
                </a:solidFill>
              </a:rPr>
              <a:t>接电路； </a:t>
            </a:r>
          </a:p>
        </p:txBody>
      </p:sp>
      <p:sp>
        <p:nvSpPr>
          <p:cNvPr id="92163" name="Text Box 1027"/>
          <p:cNvSpPr txBox="1">
            <a:spLocks noChangeArrowheads="1"/>
          </p:cNvSpPr>
          <p:nvPr/>
        </p:nvSpPr>
        <p:spPr bwMode="auto">
          <a:xfrm>
            <a:off x="654050" y="2132013"/>
            <a:ext cx="7689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）连接各负载和电源中点，中线上若有阻抗则不计；</a:t>
            </a:r>
          </a:p>
        </p:txBody>
      </p:sp>
      <p:sp>
        <p:nvSpPr>
          <p:cNvPr id="92164" name="Text Box 1028"/>
          <p:cNvSpPr txBox="1">
            <a:spLocks noChangeArrowheads="1"/>
          </p:cNvSpPr>
          <p:nvPr/>
        </p:nvSpPr>
        <p:spPr bwMode="auto">
          <a:xfrm>
            <a:off x="657225" y="2976563"/>
            <a:ext cx="7077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）画出单相计算电路，求出一相的电压、电流。</a:t>
            </a:r>
          </a:p>
        </p:txBody>
      </p:sp>
      <p:sp>
        <p:nvSpPr>
          <p:cNvPr id="92165" name="Text Box 1029"/>
          <p:cNvSpPr txBox="1">
            <a:spLocks noChangeArrowheads="1"/>
          </p:cNvSpPr>
          <p:nvPr/>
        </p:nvSpPr>
        <p:spPr bwMode="auto">
          <a:xfrm>
            <a:off x="676275" y="3821113"/>
            <a:ext cx="763905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 根据</a:t>
            </a:r>
            <a:r>
              <a:rPr lang="zh-CN" altLang="en-US">
                <a:sym typeface="Symbol" panose="05050102010706020507" pitchFamily="18" charset="2"/>
              </a:rPr>
              <a:t> 、</a:t>
            </a:r>
            <a:r>
              <a:rPr lang="en-US" altLang="zh-CN">
                <a:sym typeface="Symbol" panose="05050102010706020507" pitchFamily="18" charset="2"/>
              </a:rPr>
              <a:t>Y</a:t>
            </a:r>
            <a:r>
              <a:rPr lang="zh-CN" altLang="zh-CN">
                <a:sym typeface="Symbol" panose="05050102010706020507" pitchFamily="18" charset="2"/>
              </a:rPr>
              <a:t>接</a:t>
            </a:r>
            <a:r>
              <a:rPr lang="zh-CN" altLang="en-US">
                <a:sym typeface="Symbol" panose="05050102010706020507" pitchFamily="18" charset="2"/>
              </a:rPr>
              <a:t> </a:t>
            </a:r>
            <a:r>
              <a:rPr lang="zh-CN" altLang="en-US"/>
              <a:t>线（相）电压及线（相）电流之间的关系，求出原电路的电流、电压。</a:t>
            </a:r>
          </a:p>
        </p:txBody>
      </p:sp>
      <p:sp>
        <p:nvSpPr>
          <p:cNvPr id="92166" name="Text Box 1030"/>
          <p:cNvSpPr txBox="1">
            <a:spLocks noChangeArrowheads="1"/>
          </p:cNvSpPr>
          <p:nvPr/>
        </p:nvSpPr>
        <p:spPr bwMode="auto">
          <a:xfrm>
            <a:off x="682625" y="5176838"/>
            <a:ext cx="646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5</a:t>
            </a:r>
            <a:r>
              <a:rPr lang="zh-CN" altLang="en-US">
                <a:solidFill>
                  <a:schemeClr val="tx1"/>
                </a:solidFill>
              </a:rPr>
              <a:t>）由对称性，得出其它两相的电压、电流。</a:t>
            </a:r>
          </a:p>
        </p:txBody>
      </p:sp>
      <p:sp>
        <p:nvSpPr>
          <p:cNvPr id="92167" name="Text Box 1031"/>
          <p:cNvSpPr txBox="1">
            <a:spLocks noChangeArrowheads="1"/>
          </p:cNvSpPr>
          <p:nvPr/>
        </p:nvSpPr>
        <p:spPr bwMode="auto">
          <a:xfrm>
            <a:off x="371475" y="719138"/>
            <a:ext cx="497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CC3300"/>
                </a:solidFill>
              </a:rPr>
              <a:t>五、 一般对称三相电路的计算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3" grpId="0" autoUpdateAnimBg="0"/>
      <p:bldP spid="92164" grpId="0" autoUpdateAnimBg="0"/>
      <p:bldP spid="92165" grpId="0" autoUpdateAnimBg="0"/>
      <p:bldP spid="9216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20" name="Group 160"/>
          <p:cNvGrpSpPr>
            <a:grpSpLocks/>
          </p:cNvGrpSpPr>
          <p:nvPr/>
        </p:nvGrpSpPr>
        <p:grpSpPr bwMode="auto">
          <a:xfrm>
            <a:off x="436563" y="427038"/>
            <a:ext cx="6915150" cy="927100"/>
            <a:chOff x="256" y="361"/>
            <a:chExt cx="4356" cy="584"/>
          </a:xfrm>
        </p:grpSpPr>
        <p:sp>
          <p:nvSpPr>
            <p:cNvPr id="40962" name="Text Box 2"/>
            <p:cNvSpPr txBox="1">
              <a:spLocks noChangeArrowheads="1"/>
            </p:cNvSpPr>
            <p:nvPr/>
          </p:nvSpPr>
          <p:spPr bwMode="auto">
            <a:xfrm>
              <a:off x="256" y="361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例</a:t>
              </a: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/>
            </a:p>
          </p:txBody>
        </p:sp>
        <p:graphicFrame>
          <p:nvGraphicFramePr>
            <p:cNvPr id="41035" name="Object 75"/>
            <p:cNvGraphicFramePr>
              <a:graphicFrameLocks noChangeAspect="1"/>
            </p:cNvGraphicFramePr>
            <p:nvPr/>
          </p:nvGraphicFramePr>
          <p:xfrm>
            <a:off x="738" y="361"/>
            <a:ext cx="3874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3" name="Equation" r:id="rId3" imgW="3073320" imgH="241200" progId="Equation.3">
                    <p:embed/>
                  </p:oleObj>
                </mc:Choice>
                <mc:Fallback>
                  <p:oleObj name="Equation" r:id="rId3" imgW="3073320" imgH="241200" progId="Equation.3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" y="361"/>
                          <a:ext cx="3874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36" name="Object 76"/>
            <p:cNvGraphicFramePr>
              <a:graphicFrameLocks noChangeAspect="1"/>
            </p:cNvGraphicFramePr>
            <p:nvPr/>
          </p:nvGraphicFramePr>
          <p:xfrm>
            <a:off x="712" y="643"/>
            <a:ext cx="1969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4" name="Equation" r:id="rId5" imgW="1562040" imgH="241200" progId="Equation.3">
                    <p:embed/>
                  </p:oleObj>
                </mc:Choice>
                <mc:Fallback>
                  <p:oleObj name="Equation" r:id="rId5" imgW="1562040" imgH="241200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" y="643"/>
                          <a:ext cx="1969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48" name="Object 88"/>
          <p:cNvGraphicFramePr>
            <a:graphicFrameLocks noChangeAspect="1"/>
          </p:cNvGraphicFramePr>
          <p:nvPr/>
        </p:nvGraphicFramePr>
        <p:xfrm>
          <a:off x="1533525" y="5559425"/>
          <a:ext cx="51022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5" name="Equation" r:id="rId7" imgW="2286000" imgH="419040" progId="Equation.3">
                  <p:embed/>
                </p:oleObj>
              </mc:Choice>
              <mc:Fallback>
                <p:oleObj name="Equation" r:id="rId7" imgW="2286000" imgH="41904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3525" y="5559425"/>
                        <a:ext cx="510222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9" name="Text Box 89"/>
          <p:cNvSpPr txBox="1">
            <a:spLocks noChangeArrowheads="1"/>
          </p:cNvSpPr>
          <p:nvPr/>
        </p:nvSpPr>
        <p:spPr bwMode="auto">
          <a:xfrm>
            <a:off x="463550" y="5154613"/>
            <a:ext cx="4386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 电源等效为</a:t>
            </a:r>
            <a:r>
              <a:rPr lang="en-US" altLang="zh-CN">
                <a:solidFill>
                  <a:schemeClr val="tx1"/>
                </a:solidFill>
              </a:rPr>
              <a:t>Y</a:t>
            </a:r>
            <a:r>
              <a:rPr lang="zh-CN" altLang="en-US">
                <a:solidFill>
                  <a:schemeClr val="tx1"/>
                </a:solidFill>
              </a:rPr>
              <a:t>接三相电源 </a:t>
            </a:r>
          </a:p>
        </p:txBody>
      </p:sp>
      <p:sp>
        <p:nvSpPr>
          <p:cNvPr id="41106" name="Text Box 146"/>
          <p:cNvSpPr txBox="1">
            <a:spLocks noChangeArrowheads="1"/>
          </p:cNvSpPr>
          <p:nvPr/>
        </p:nvSpPr>
        <p:spPr bwMode="auto">
          <a:xfrm>
            <a:off x="314325" y="4562475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解：</a:t>
            </a:r>
          </a:p>
        </p:txBody>
      </p:sp>
      <p:grpSp>
        <p:nvGrpSpPr>
          <p:cNvPr id="41118" name="Group 158"/>
          <p:cNvGrpSpPr>
            <a:grpSpLocks/>
          </p:cNvGrpSpPr>
          <p:nvPr/>
        </p:nvGrpSpPr>
        <p:grpSpPr bwMode="auto">
          <a:xfrm>
            <a:off x="1616075" y="1462088"/>
            <a:ext cx="1049338" cy="2438400"/>
            <a:chOff x="1006" y="921"/>
            <a:chExt cx="661" cy="1536"/>
          </a:xfrm>
        </p:grpSpPr>
        <p:sp>
          <p:nvSpPr>
            <p:cNvPr id="41087" name="Line 127"/>
            <p:cNvSpPr>
              <a:spLocks noChangeShapeType="1"/>
            </p:cNvSpPr>
            <p:nvPr/>
          </p:nvSpPr>
          <p:spPr bwMode="auto">
            <a:xfrm>
              <a:off x="1006" y="1355"/>
              <a:ext cx="12" cy="9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88" name="Text Box 128"/>
            <p:cNvSpPr txBox="1">
              <a:spLocks noChangeArrowheads="1"/>
            </p:cNvSpPr>
            <p:nvPr/>
          </p:nvSpPr>
          <p:spPr bwMode="auto">
            <a:xfrm>
              <a:off x="1428" y="1084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1089" name="Text Box 129"/>
            <p:cNvSpPr txBox="1">
              <a:spLocks noChangeArrowheads="1"/>
            </p:cNvSpPr>
            <p:nvPr/>
          </p:nvSpPr>
          <p:spPr bwMode="auto">
            <a:xfrm>
              <a:off x="1422" y="1553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1090" name="Text Box 130"/>
            <p:cNvSpPr txBox="1">
              <a:spLocks noChangeArrowheads="1"/>
            </p:cNvSpPr>
            <p:nvPr/>
          </p:nvSpPr>
          <p:spPr bwMode="auto">
            <a:xfrm>
              <a:off x="1442" y="2049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graphicFrame>
          <p:nvGraphicFramePr>
            <p:cNvPr id="41091" name="Object 131"/>
            <p:cNvGraphicFramePr>
              <a:graphicFrameLocks noChangeAspect="1"/>
            </p:cNvGraphicFramePr>
            <p:nvPr/>
          </p:nvGraphicFramePr>
          <p:xfrm>
            <a:off x="1194" y="921"/>
            <a:ext cx="34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6" name="Equation" r:id="rId9" imgW="291960" imgH="241200" progId="Equation.3">
                    <p:embed/>
                  </p:oleObj>
                </mc:Choice>
                <mc:Fallback>
                  <p:oleObj name="Equation" r:id="rId9" imgW="291960" imgH="241200" progId="Equation.3">
                    <p:embed/>
                    <p:pic>
                      <p:nvPicPr>
                        <p:cNvPr id="0" name="Object 1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4" y="921"/>
                          <a:ext cx="344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93" name="Oval 133"/>
            <p:cNvSpPr>
              <a:spLocks noChangeArrowheads="1"/>
            </p:cNvSpPr>
            <p:nvPr/>
          </p:nvSpPr>
          <p:spPr bwMode="auto">
            <a:xfrm>
              <a:off x="1198" y="1222"/>
              <a:ext cx="271" cy="265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94" name="Oval 134"/>
            <p:cNvSpPr>
              <a:spLocks noChangeArrowheads="1"/>
            </p:cNvSpPr>
            <p:nvPr/>
          </p:nvSpPr>
          <p:spPr bwMode="auto">
            <a:xfrm>
              <a:off x="1198" y="1708"/>
              <a:ext cx="271" cy="264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95" name="Oval 135"/>
            <p:cNvSpPr>
              <a:spLocks noChangeArrowheads="1"/>
            </p:cNvSpPr>
            <p:nvPr/>
          </p:nvSpPr>
          <p:spPr bwMode="auto">
            <a:xfrm>
              <a:off x="1198" y="2193"/>
              <a:ext cx="271" cy="264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96" name="Line 136"/>
            <p:cNvSpPr>
              <a:spLocks noChangeShapeType="1"/>
            </p:cNvSpPr>
            <p:nvPr/>
          </p:nvSpPr>
          <p:spPr bwMode="auto">
            <a:xfrm>
              <a:off x="1018" y="1355"/>
              <a:ext cx="6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97" name="Line 137"/>
            <p:cNvSpPr>
              <a:spLocks noChangeShapeType="1"/>
            </p:cNvSpPr>
            <p:nvPr/>
          </p:nvSpPr>
          <p:spPr bwMode="auto">
            <a:xfrm>
              <a:off x="1018" y="1840"/>
              <a:ext cx="6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98" name="Line 138"/>
            <p:cNvSpPr>
              <a:spLocks noChangeShapeType="1"/>
            </p:cNvSpPr>
            <p:nvPr/>
          </p:nvSpPr>
          <p:spPr bwMode="auto">
            <a:xfrm>
              <a:off x="1018" y="2325"/>
              <a:ext cx="6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99" name="Text Box 139"/>
            <p:cNvSpPr txBox="1">
              <a:spLocks noChangeArrowheads="1"/>
            </p:cNvSpPr>
            <p:nvPr/>
          </p:nvSpPr>
          <p:spPr bwMode="auto">
            <a:xfrm>
              <a:off x="1006" y="1024"/>
              <a:ext cx="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1100" name="Text Box 140"/>
            <p:cNvSpPr txBox="1">
              <a:spLocks noChangeArrowheads="1"/>
            </p:cNvSpPr>
            <p:nvPr/>
          </p:nvSpPr>
          <p:spPr bwMode="auto">
            <a:xfrm>
              <a:off x="1006" y="1487"/>
              <a:ext cx="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1101" name="Text Box 141"/>
            <p:cNvSpPr txBox="1">
              <a:spLocks noChangeArrowheads="1"/>
            </p:cNvSpPr>
            <p:nvPr/>
          </p:nvSpPr>
          <p:spPr bwMode="auto">
            <a:xfrm>
              <a:off x="1006" y="1988"/>
              <a:ext cx="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graphicFrame>
          <p:nvGraphicFramePr>
            <p:cNvPr id="41102" name="Object 142"/>
            <p:cNvGraphicFramePr>
              <a:graphicFrameLocks noChangeAspect="1"/>
            </p:cNvGraphicFramePr>
            <p:nvPr/>
          </p:nvGraphicFramePr>
          <p:xfrm>
            <a:off x="1198" y="1472"/>
            <a:ext cx="34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7" name="Equation" r:id="rId11" imgW="291960" imgH="241200" progId="Equation.3">
                    <p:embed/>
                  </p:oleObj>
                </mc:Choice>
                <mc:Fallback>
                  <p:oleObj name="Equation" r:id="rId11" imgW="291960" imgH="241200" progId="Equation.3">
                    <p:embed/>
                    <p:pic>
                      <p:nvPicPr>
                        <p:cNvPr id="0" name="Object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8" y="1472"/>
                          <a:ext cx="34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03" name="Object 143"/>
            <p:cNvGraphicFramePr>
              <a:graphicFrameLocks noChangeAspect="1"/>
            </p:cNvGraphicFramePr>
            <p:nvPr/>
          </p:nvGraphicFramePr>
          <p:xfrm>
            <a:off x="1198" y="1972"/>
            <a:ext cx="34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8" name="Equation" r:id="rId13" imgW="291960" imgH="241200" progId="Equation.3">
                    <p:embed/>
                  </p:oleObj>
                </mc:Choice>
                <mc:Fallback>
                  <p:oleObj name="Equation" r:id="rId13" imgW="291960" imgH="241200" progId="Equation.3">
                    <p:embed/>
                    <p:pic>
                      <p:nvPicPr>
                        <p:cNvPr id="0" name="Object 1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8" y="1972"/>
                          <a:ext cx="344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119" name="Group 159"/>
          <p:cNvGrpSpPr>
            <a:grpSpLocks/>
          </p:cNvGrpSpPr>
          <p:nvPr/>
        </p:nvGrpSpPr>
        <p:grpSpPr bwMode="auto">
          <a:xfrm>
            <a:off x="2432050" y="1462088"/>
            <a:ext cx="5767388" cy="3944937"/>
            <a:chOff x="1532" y="921"/>
            <a:chExt cx="3633" cy="2485"/>
          </a:xfrm>
        </p:grpSpPr>
        <p:sp>
          <p:nvSpPr>
            <p:cNvPr id="41007" name="Text Box 47"/>
            <p:cNvSpPr txBox="1">
              <a:spLocks noChangeArrowheads="1"/>
            </p:cNvSpPr>
            <p:nvPr/>
          </p:nvSpPr>
          <p:spPr bwMode="auto">
            <a:xfrm>
              <a:off x="2838" y="3118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2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grpSp>
          <p:nvGrpSpPr>
            <p:cNvPr id="41110" name="Group 150"/>
            <p:cNvGrpSpPr>
              <a:grpSpLocks/>
            </p:cNvGrpSpPr>
            <p:nvPr/>
          </p:nvGrpSpPr>
          <p:grpSpPr bwMode="auto">
            <a:xfrm>
              <a:off x="1575" y="921"/>
              <a:ext cx="3590" cy="2209"/>
              <a:chOff x="1575" y="969"/>
              <a:chExt cx="3590" cy="2209"/>
            </a:xfrm>
          </p:grpSpPr>
          <p:sp>
            <p:nvSpPr>
              <p:cNvPr id="41026" name="Text Box 66"/>
              <p:cNvSpPr txBox="1">
                <a:spLocks noChangeArrowheads="1"/>
              </p:cNvSpPr>
              <p:nvPr/>
            </p:nvSpPr>
            <p:spPr bwMode="auto">
              <a:xfrm>
                <a:off x="1575" y="1138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A</a:t>
                </a:r>
              </a:p>
            </p:txBody>
          </p:sp>
          <p:sp>
            <p:nvSpPr>
              <p:cNvPr id="41027" name="Text Box 67"/>
              <p:cNvSpPr txBox="1">
                <a:spLocks noChangeArrowheads="1"/>
              </p:cNvSpPr>
              <p:nvPr/>
            </p:nvSpPr>
            <p:spPr bwMode="auto">
              <a:xfrm>
                <a:off x="1586" y="1579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B</a:t>
                </a:r>
              </a:p>
            </p:txBody>
          </p:sp>
          <p:sp>
            <p:nvSpPr>
              <p:cNvPr id="41028" name="Text Box 68"/>
              <p:cNvSpPr txBox="1">
                <a:spLocks noChangeArrowheads="1"/>
              </p:cNvSpPr>
              <p:nvPr/>
            </p:nvSpPr>
            <p:spPr bwMode="auto">
              <a:xfrm>
                <a:off x="1575" y="208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C</a:t>
                </a:r>
              </a:p>
            </p:txBody>
          </p:sp>
          <p:sp>
            <p:nvSpPr>
              <p:cNvPr id="40968" name="Line 8"/>
              <p:cNvSpPr>
                <a:spLocks noChangeShapeType="1"/>
              </p:cNvSpPr>
              <p:nvPr/>
            </p:nvSpPr>
            <p:spPr bwMode="auto">
              <a:xfrm>
                <a:off x="2522" y="2373"/>
                <a:ext cx="0" cy="74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9" name="Line 9"/>
              <p:cNvSpPr>
                <a:spLocks noChangeShapeType="1"/>
              </p:cNvSpPr>
              <p:nvPr/>
            </p:nvSpPr>
            <p:spPr bwMode="auto">
              <a:xfrm>
                <a:off x="2950" y="1888"/>
                <a:ext cx="0" cy="9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70" name="Line 10"/>
              <p:cNvSpPr>
                <a:spLocks noChangeShapeType="1"/>
              </p:cNvSpPr>
              <p:nvPr/>
            </p:nvSpPr>
            <p:spPr bwMode="auto">
              <a:xfrm>
                <a:off x="3379" y="1403"/>
                <a:ext cx="0" cy="17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2" name="Line 22"/>
              <p:cNvSpPr>
                <a:spLocks noChangeShapeType="1"/>
              </p:cNvSpPr>
              <p:nvPr/>
            </p:nvSpPr>
            <p:spPr bwMode="auto">
              <a:xfrm>
                <a:off x="4372" y="1403"/>
                <a:ext cx="0" cy="9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3" name="Line 23"/>
              <p:cNvSpPr>
                <a:spLocks noChangeShapeType="1"/>
              </p:cNvSpPr>
              <p:nvPr/>
            </p:nvSpPr>
            <p:spPr bwMode="auto">
              <a:xfrm>
                <a:off x="1620" y="1403"/>
                <a:ext cx="320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4" name="Line 24"/>
              <p:cNvSpPr>
                <a:spLocks noChangeShapeType="1"/>
              </p:cNvSpPr>
              <p:nvPr/>
            </p:nvSpPr>
            <p:spPr bwMode="auto">
              <a:xfrm>
                <a:off x="1620" y="1888"/>
                <a:ext cx="275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sm" len="sm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5" name="Line 25"/>
              <p:cNvSpPr>
                <a:spLocks noChangeShapeType="1"/>
              </p:cNvSpPr>
              <p:nvPr/>
            </p:nvSpPr>
            <p:spPr bwMode="auto">
              <a:xfrm>
                <a:off x="1665" y="2373"/>
                <a:ext cx="315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6" name="Rectangle 26"/>
              <p:cNvSpPr>
                <a:spLocks noChangeArrowheads="1"/>
              </p:cNvSpPr>
              <p:nvPr/>
            </p:nvSpPr>
            <p:spPr bwMode="auto">
              <a:xfrm>
                <a:off x="4316" y="1976"/>
                <a:ext cx="112" cy="265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987" name="Line 27"/>
              <p:cNvSpPr>
                <a:spLocks noChangeShapeType="1"/>
              </p:cNvSpPr>
              <p:nvPr/>
            </p:nvSpPr>
            <p:spPr bwMode="auto">
              <a:xfrm>
                <a:off x="4823" y="1403"/>
                <a:ext cx="0" cy="9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8" name="Rectangle 28"/>
              <p:cNvSpPr>
                <a:spLocks noChangeArrowheads="1"/>
              </p:cNvSpPr>
              <p:nvPr/>
            </p:nvSpPr>
            <p:spPr bwMode="auto">
              <a:xfrm>
                <a:off x="4767" y="1733"/>
                <a:ext cx="112" cy="265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971" name="Rectangle 11"/>
              <p:cNvSpPr>
                <a:spLocks noChangeArrowheads="1"/>
              </p:cNvSpPr>
              <p:nvPr/>
            </p:nvSpPr>
            <p:spPr bwMode="auto">
              <a:xfrm>
                <a:off x="4316" y="1535"/>
                <a:ext cx="112" cy="265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977" name="Rectangle 17"/>
              <p:cNvSpPr>
                <a:spLocks noChangeArrowheads="1"/>
              </p:cNvSpPr>
              <p:nvPr/>
            </p:nvSpPr>
            <p:spPr bwMode="auto">
              <a:xfrm rot="-5400000">
                <a:off x="1971" y="1268"/>
                <a:ext cx="110" cy="270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980" name="Rectangle 20"/>
              <p:cNvSpPr>
                <a:spLocks noChangeArrowheads="1"/>
              </p:cNvSpPr>
              <p:nvPr/>
            </p:nvSpPr>
            <p:spPr bwMode="auto">
              <a:xfrm rot="-5400000">
                <a:off x="1971" y="1753"/>
                <a:ext cx="110" cy="270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981" name="Rectangle 21"/>
              <p:cNvSpPr>
                <a:spLocks noChangeArrowheads="1"/>
              </p:cNvSpPr>
              <p:nvPr/>
            </p:nvSpPr>
            <p:spPr bwMode="auto">
              <a:xfrm rot="-5400000">
                <a:off x="1971" y="2238"/>
                <a:ext cx="110" cy="270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997" name="Text Box 37"/>
              <p:cNvSpPr txBox="1">
                <a:spLocks noChangeArrowheads="1"/>
              </p:cNvSpPr>
              <p:nvPr/>
            </p:nvSpPr>
            <p:spPr bwMode="auto">
              <a:xfrm>
                <a:off x="1891" y="1094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0998" name="Text Box 38"/>
              <p:cNvSpPr txBox="1">
                <a:spLocks noChangeArrowheads="1"/>
              </p:cNvSpPr>
              <p:nvPr/>
            </p:nvSpPr>
            <p:spPr bwMode="auto">
              <a:xfrm>
                <a:off x="1891" y="1579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0999" name="Text Box 39"/>
              <p:cNvSpPr txBox="1">
                <a:spLocks noChangeArrowheads="1"/>
              </p:cNvSpPr>
              <p:nvPr/>
            </p:nvSpPr>
            <p:spPr bwMode="auto">
              <a:xfrm>
                <a:off x="1891" y="2064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1002" name="Line 42"/>
              <p:cNvSpPr>
                <a:spLocks noChangeShapeType="1"/>
              </p:cNvSpPr>
              <p:nvPr/>
            </p:nvSpPr>
            <p:spPr bwMode="auto">
              <a:xfrm>
                <a:off x="2522" y="2858"/>
                <a:ext cx="85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00" name="Rectangle 40"/>
              <p:cNvSpPr>
                <a:spLocks noChangeArrowheads="1"/>
              </p:cNvSpPr>
              <p:nvPr/>
            </p:nvSpPr>
            <p:spPr bwMode="auto">
              <a:xfrm rot="-5400000">
                <a:off x="2682" y="2722"/>
                <a:ext cx="110" cy="271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01" name="Rectangle 41"/>
              <p:cNvSpPr>
                <a:spLocks noChangeArrowheads="1"/>
              </p:cNvSpPr>
              <p:nvPr/>
            </p:nvSpPr>
            <p:spPr bwMode="auto">
              <a:xfrm rot="-5400000">
                <a:off x="3099" y="2722"/>
                <a:ext cx="110" cy="271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03" name="Line 43"/>
              <p:cNvSpPr>
                <a:spLocks noChangeShapeType="1"/>
              </p:cNvSpPr>
              <p:nvPr/>
            </p:nvSpPr>
            <p:spPr bwMode="auto">
              <a:xfrm>
                <a:off x="2522" y="3122"/>
                <a:ext cx="85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04" name="Rectangle 44"/>
              <p:cNvSpPr>
                <a:spLocks noChangeArrowheads="1"/>
              </p:cNvSpPr>
              <p:nvPr/>
            </p:nvSpPr>
            <p:spPr bwMode="auto">
              <a:xfrm rot="-5400000">
                <a:off x="2917" y="2988"/>
                <a:ext cx="111" cy="270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05" name="Text Box 45"/>
              <p:cNvSpPr txBox="1">
                <a:spLocks noChangeArrowheads="1"/>
              </p:cNvSpPr>
              <p:nvPr/>
            </p:nvSpPr>
            <p:spPr bwMode="auto">
              <a:xfrm>
                <a:off x="2575" y="2515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2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1006" name="Text Box 46"/>
              <p:cNvSpPr txBox="1">
                <a:spLocks noChangeArrowheads="1"/>
              </p:cNvSpPr>
              <p:nvPr/>
            </p:nvSpPr>
            <p:spPr bwMode="auto">
              <a:xfrm>
                <a:off x="3018" y="2515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2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1014" name="Text Box 54"/>
              <p:cNvSpPr txBox="1">
                <a:spLocks noChangeArrowheads="1"/>
              </p:cNvSpPr>
              <p:nvPr/>
            </p:nvSpPr>
            <p:spPr bwMode="auto">
              <a:xfrm>
                <a:off x="4056" y="1535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4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1015" name="Text Box 55"/>
              <p:cNvSpPr txBox="1">
                <a:spLocks noChangeArrowheads="1"/>
              </p:cNvSpPr>
              <p:nvPr/>
            </p:nvSpPr>
            <p:spPr bwMode="auto">
              <a:xfrm>
                <a:off x="4056" y="1976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4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1016" name="Text Box 56"/>
              <p:cNvSpPr txBox="1">
                <a:spLocks noChangeArrowheads="1"/>
              </p:cNvSpPr>
              <p:nvPr/>
            </p:nvSpPr>
            <p:spPr bwMode="auto">
              <a:xfrm>
                <a:off x="4868" y="1755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4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1017" name="Rectangle 57"/>
              <p:cNvSpPr>
                <a:spLocks noChangeArrowheads="1"/>
              </p:cNvSpPr>
              <p:nvPr/>
            </p:nvSpPr>
            <p:spPr bwMode="auto">
              <a:xfrm rot="-5400000">
                <a:off x="3820" y="1268"/>
                <a:ext cx="110" cy="270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8" name="Rectangle 58"/>
              <p:cNvSpPr>
                <a:spLocks noChangeArrowheads="1"/>
              </p:cNvSpPr>
              <p:nvPr/>
            </p:nvSpPr>
            <p:spPr bwMode="auto">
              <a:xfrm rot="-5400000">
                <a:off x="3820" y="1753"/>
                <a:ext cx="110" cy="270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19" name="Rectangle 59"/>
              <p:cNvSpPr>
                <a:spLocks noChangeArrowheads="1"/>
              </p:cNvSpPr>
              <p:nvPr/>
            </p:nvSpPr>
            <p:spPr bwMode="auto">
              <a:xfrm rot="-5400000">
                <a:off x="3820" y="2238"/>
                <a:ext cx="110" cy="270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1020" name="Text Box 60"/>
              <p:cNvSpPr txBox="1">
                <a:spLocks noChangeArrowheads="1"/>
              </p:cNvSpPr>
              <p:nvPr/>
            </p:nvSpPr>
            <p:spPr bwMode="auto">
              <a:xfrm>
                <a:off x="3740" y="1072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3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1021" name="Text Box 61"/>
              <p:cNvSpPr txBox="1">
                <a:spLocks noChangeArrowheads="1"/>
              </p:cNvSpPr>
              <p:nvPr/>
            </p:nvSpPr>
            <p:spPr bwMode="auto">
              <a:xfrm>
                <a:off x="3740" y="1579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3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1022" name="Text Box 62"/>
              <p:cNvSpPr txBox="1">
                <a:spLocks noChangeArrowheads="1"/>
              </p:cNvSpPr>
              <p:nvPr/>
            </p:nvSpPr>
            <p:spPr bwMode="auto">
              <a:xfrm>
                <a:off x="3740" y="2064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3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1023" name="Line 63"/>
              <p:cNvSpPr>
                <a:spLocks noChangeShapeType="1"/>
              </p:cNvSpPr>
              <p:nvPr/>
            </p:nvSpPr>
            <p:spPr bwMode="auto">
              <a:xfrm>
                <a:off x="2477" y="1337"/>
                <a:ext cx="316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24" name="Line 64"/>
              <p:cNvSpPr>
                <a:spLocks noChangeShapeType="1"/>
              </p:cNvSpPr>
              <p:nvPr/>
            </p:nvSpPr>
            <p:spPr bwMode="auto">
              <a:xfrm>
                <a:off x="3322" y="1491"/>
                <a:ext cx="0" cy="309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25" name="Line 65"/>
              <p:cNvSpPr>
                <a:spLocks noChangeShapeType="1"/>
              </p:cNvSpPr>
              <p:nvPr/>
            </p:nvSpPr>
            <p:spPr bwMode="auto">
              <a:xfrm flipV="1">
                <a:off x="4100" y="1315"/>
                <a:ext cx="271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29" name="Line 69"/>
              <p:cNvSpPr>
                <a:spLocks noChangeShapeType="1"/>
              </p:cNvSpPr>
              <p:nvPr/>
            </p:nvSpPr>
            <p:spPr bwMode="auto">
              <a:xfrm>
                <a:off x="4495" y="1491"/>
                <a:ext cx="0" cy="271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1037" name="Object 77"/>
              <p:cNvGraphicFramePr>
                <a:graphicFrameLocks noChangeAspect="1"/>
              </p:cNvGraphicFramePr>
              <p:nvPr/>
            </p:nvGraphicFramePr>
            <p:xfrm>
              <a:off x="2492" y="1020"/>
              <a:ext cx="269" cy="2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239" name="Equation" r:id="rId15" imgW="228600" imgH="228600" progId="Equation.3">
                      <p:embed/>
                    </p:oleObj>
                  </mc:Choice>
                  <mc:Fallback>
                    <p:oleObj name="Equation" r:id="rId15" imgW="228600" imgH="228600" progId="Equation.3">
                      <p:embed/>
                      <p:pic>
                        <p:nvPicPr>
                          <p:cNvPr id="0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92" y="1020"/>
                            <a:ext cx="269" cy="2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38" name="Object 78"/>
              <p:cNvGraphicFramePr>
                <a:graphicFrameLocks noChangeAspect="1"/>
              </p:cNvGraphicFramePr>
              <p:nvPr/>
            </p:nvGraphicFramePr>
            <p:xfrm>
              <a:off x="3025" y="1483"/>
              <a:ext cx="284" cy="2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240" name="Equation" r:id="rId17" imgW="241200" imgH="228600" progId="Equation.3">
                      <p:embed/>
                    </p:oleObj>
                  </mc:Choice>
                  <mc:Fallback>
                    <p:oleObj name="Equation" r:id="rId17" imgW="241200" imgH="228600" progId="Equation.3">
                      <p:embed/>
                      <p:pic>
                        <p:nvPicPr>
                          <p:cNvPr id="0" name="Object 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5" y="1483"/>
                            <a:ext cx="284" cy="2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39" name="Object 79"/>
              <p:cNvGraphicFramePr>
                <a:graphicFrameLocks noChangeAspect="1"/>
              </p:cNvGraphicFramePr>
              <p:nvPr/>
            </p:nvGraphicFramePr>
            <p:xfrm>
              <a:off x="4120" y="969"/>
              <a:ext cx="283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241" name="Equation" r:id="rId19" imgW="241200" imgH="241200" progId="Equation.3">
                      <p:embed/>
                    </p:oleObj>
                  </mc:Choice>
                  <mc:Fallback>
                    <p:oleObj name="Equation" r:id="rId19" imgW="241200" imgH="241200" progId="Equation.3">
                      <p:embed/>
                      <p:pic>
                        <p:nvPicPr>
                          <p:cNvPr id="0" name="Object 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0" y="969"/>
                            <a:ext cx="283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40" name="Object 80"/>
              <p:cNvGraphicFramePr>
                <a:graphicFrameLocks noChangeAspect="1"/>
              </p:cNvGraphicFramePr>
              <p:nvPr/>
            </p:nvGraphicFramePr>
            <p:xfrm>
              <a:off x="4486" y="1417"/>
              <a:ext cx="284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242" name="Equation" r:id="rId21" imgW="241200" imgH="228600" progId="Equation.3">
                      <p:embed/>
                    </p:oleObj>
                  </mc:Choice>
                  <mc:Fallback>
                    <p:oleObj name="Equation" r:id="rId21" imgW="241200" imgH="228600" progId="Equation.3">
                      <p:embed/>
                      <p:pic>
                        <p:nvPicPr>
                          <p:cNvPr id="0" name="Object 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6" y="1417"/>
                            <a:ext cx="284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112" name="Text Box 152"/>
            <p:cNvSpPr txBox="1">
              <a:spLocks noChangeArrowheads="1"/>
            </p:cNvSpPr>
            <p:nvPr/>
          </p:nvSpPr>
          <p:spPr bwMode="auto">
            <a:xfrm>
              <a:off x="1568" y="2092"/>
              <a:ext cx="19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chemeClr val="tx1"/>
                  </a:solidFill>
                  <a:cs typeface="Times New Roman" panose="02020603050405020304" pitchFamily="18" charset="0"/>
                </a:rPr>
                <a:t>·</a:t>
              </a:r>
              <a:endParaRPr lang="en-US" altLang="zh-CN" sz="4000">
                <a:solidFill>
                  <a:schemeClr val="tx1"/>
                </a:solidFill>
              </a:endParaRPr>
            </a:p>
          </p:txBody>
        </p:sp>
        <p:sp>
          <p:nvSpPr>
            <p:cNvPr id="41113" name="Text Box 153"/>
            <p:cNvSpPr txBox="1">
              <a:spLocks noChangeArrowheads="1"/>
            </p:cNvSpPr>
            <p:nvPr/>
          </p:nvSpPr>
          <p:spPr bwMode="auto">
            <a:xfrm>
              <a:off x="1532" y="1126"/>
              <a:ext cx="19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chemeClr val="tx1"/>
                  </a:solidFill>
                  <a:cs typeface="Times New Roman" panose="02020603050405020304" pitchFamily="18" charset="0"/>
                </a:rPr>
                <a:t>·</a:t>
              </a:r>
              <a:endParaRPr lang="en-US" altLang="zh-CN" sz="4000">
                <a:solidFill>
                  <a:schemeClr val="tx1"/>
                </a:solidFill>
              </a:endParaRPr>
            </a:p>
          </p:txBody>
        </p:sp>
        <p:sp>
          <p:nvSpPr>
            <p:cNvPr id="41114" name="Text Box 154"/>
            <p:cNvSpPr txBox="1">
              <a:spLocks noChangeArrowheads="1"/>
            </p:cNvSpPr>
            <p:nvPr/>
          </p:nvSpPr>
          <p:spPr bwMode="auto">
            <a:xfrm>
              <a:off x="1532" y="1612"/>
              <a:ext cx="19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chemeClr val="tx1"/>
                  </a:solidFill>
                  <a:cs typeface="Times New Roman" panose="02020603050405020304" pitchFamily="18" charset="0"/>
                </a:rPr>
                <a:t>·</a:t>
              </a:r>
              <a:endParaRPr lang="en-US" altLang="zh-CN" sz="4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41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1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49" grpId="0" build="p" autoUpdateAnimBg="0"/>
      <p:bldP spid="41106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34" name="Rectangle 66"/>
          <p:cNvSpPr>
            <a:spLocks noChangeArrowheads="1"/>
          </p:cNvSpPr>
          <p:nvPr/>
        </p:nvSpPr>
        <p:spPr bwMode="auto">
          <a:xfrm>
            <a:off x="509588" y="615950"/>
            <a:ext cx="277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 负载化为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Y</a:t>
            </a:r>
            <a:r>
              <a:rPr lang="zh-CN" altLang="en-US">
                <a:solidFill>
                  <a:schemeClr val="tx1"/>
                </a:solidFill>
              </a:rPr>
              <a:t>接</a:t>
            </a:r>
          </a:p>
        </p:txBody>
      </p:sp>
      <p:grpSp>
        <p:nvGrpSpPr>
          <p:cNvPr id="135279" name="Group 111"/>
          <p:cNvGrpSpPr>
            <a:grpSpLocks/>
          </p:cNvGrpSpPr>
          <p:nvPr/>
        </p:nvGrpSpPr>
        <p:grpSpPr bwMode="auto">
          <a:xfrm>
            <a:off x="1216025" y="1392238"/>
            <a:ext cx="6440488" cy="3867150"/>
            <a:chOff x="766" y="877"/>
            <a:chExt cx="4057" cy="2436"/>
          </a:xfrm>
        </p:grpSpPr>
        <p:sp>
          <p:nvSpPr>
            <p:cNvPr id="135266" name="Line 98"/>
            <p:cNvSpPr>
              <a:spLocks noChangeShapeType="1"/>
            </p:cNvSpPr>
            <p:nvPr/>
          </p:nvSpPr>
          <p:spPr bwMode="auto">
            <a:xfrm>
              <a:off x="1409" y="1768"/>
              <a:ext cx="341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1" name="Line 3"/>
            <p:cNvSpPr>
              <a:spLocks noChangeShapeType="1"/>
            </p:cNvSpPr>
            <p:nvPr/>
          </p:nvSpPr>
          <p:spPr bwMode="auto">
            <a:xfrm>
              <a:off x="2286" y="2252"/>
              <a:ext cx="0" cy="7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2" name="Line 4"/>
            <p:cNvSpPr>
              <a:spLocks noChangeShapeType="1"/>
            </p:cNvSpPr>
            <p:nvPr/>
          </p:nvSpPr>
          <p:spPr bwMode="auto">
            <a:xfrm>
              <a:off x="2714" y="1767"/>
              <a:ext cx="0" cy="1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3" name="Line 5"/>
            <p:cNvSpPr>
              <a:spLocks noChangeShapeType="1"/>
            </p:cNvSpPr>
            <p:nvPr/>
          </p:nvSpPr>
          <p:spPr bwMode="auto">
            <a:xfrm>
              <a:off x="3143" y="1282"/>
              <a:ext cx="0" cy="17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5" name="Line 7"/>
            <p:cNvSpPr>
              <a:spLocks noChangeShapeType="1"/>
            </p:cNvSpPr>
            <p:nvPr/>
          </p:nvSpPr>
          <p:spPr bwMode="auto">
            <a:xfrm>
              <a:off x="1384" y="1282"/>
              <a:ext cx="343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7" name="Line 9"/>
            <p:cNvSpPr>
              <a:spLocks noChangeShapeType="1"/>
            </p:cNvSpPr>
            <p:nvPr/>
          </p:nvSpPr>
          <p:spPr bwMode="auto">
            <a:xfrm flipV="1">
              <a:off x="1429" y="2248"/>
              <a:ext cx="3394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78" name="Rectangle 10"/>
            <p:cNvSpPr>
              <a:spLocks noChangeArrowheads="1"/>
            </p:cNvSpPr>
            <p:nvPr/>
          </p:nvSpPr>
          <p:spPr bwMode="auto">
            <a:xfrm>
              <a:off x="2670" y="2567"/>
              <a:ext cx="112" cy="26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180" name="Rectangle 12"/>
            <p:cNvSpPr>
              <a:spLocks noChangeArrowheads="1"/>
            </p:cNvSpPr>
            <p:nvPr/>
          </p:nvSpPr>
          <p:spPr bwMode="auto">
            <a:xfrm>
              <a:off x="2241" y="2567"/>
              <a:ext cx="112" cy="26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181" name="Rectangle 13"/>
            <p:cNvSpPr>
              <a:spLocks noChangeArrowheads="1"/>
            </p:cNvSpPr>
            <p:nvPr/>
          </p:nvSpPr>
          <p:spPr bwMode="auto">
            <a:xfrm>
              <a:off x="3081" y="2567"/>
              <a:ext cx="112" cy="26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182" name="Rectangle 14"/>
            <p:cNvSpPr>
              <a:spLocks noChangeArrowheads="1"/>
            </p:cNvSpPr>
            <p:nvPr/>
          </p:nvSpPr>
          <p:spPr bwMode="auto">
            <a:xfrm rot="-5400000">
              <a:off x="1735" y="1147"/>
              <a:ext cx="110" cy="27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183" name="Rectangle 15"/>
            <p:cNvSpPr>
              <a:spLocks noChangeArrowheads="1"/>
            </p:cNvSpPr>
            <p:nvPr/>
          </p:nvSpPr>
          <p:spPr bwMode="auto">
            <a:xfrm rot="-5400000">
              <a:off x="1735" y="1632"/>
              <a:ext cx="110" cy="27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184" name="Rectangle 16"/>
            <p:cNvSpPr>
              <a:spLocks noChangeArrowheads="1"/>
            </p:cNvSpPr>
            <p:nvPr/>
          </p:nvSpPr>
          <p:spPr bwMode="auto">
            <a:xfrm rot="-5400000">
              <a:off x="1735" y="2117"/>
              <a:ext cx="110" cy="27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185" name="Text Box 17"/>
            <p:cNvSpPr txBox="1">
              <a:spLocks noChangeArrowheads="1"/>
            </p:cNvSpPr>
            <p:nvPr/>
          </p:nvSpPr>
          <p:spPr bwMode="auto">
            <a:xfrm>
              <a:off x="1655" y="973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5186" name="Text Box 18"/>
            <p:cNvSpPr txBox="1">
              <a:spLocks noChangeArrowheads="1"/>
            </p:cNvSpPr>
            <p:nvPr/>
          </p:nvSpPr>
          <p:spPr bwMode="auto">
            <a:xfrm>
              <a:off x="1655" y="1458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5187" name="Text Box 19"/>
            <p:cNvSpPr txBox="1">
              <a:spLocks noChangeArrowheads="1"/>
            </p:cNvSpPr>
            <p:nvPr/>
          </p:nvSpPr>
          <p:spPr bwMode="auto">
            <a:xfrm>
              <a:off x="1655" y="1943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5189" name="Rectangle 21"/>
            <p:cNvSpPr>
              <a:spLocks noChangeArrowheads="1"/>
            </p:cNvSpPr>
            <p:nvPr/>
          </p:nvSpPr>
          <p:spPr bwMode="auto">
            <a:xfrm rot="-5400000">
              <a:off x="4397" y="1627"/>
              <a:ext cx="110" cy="271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190" name="Rectangle 22"/>
            <p:cNvSpPr>
              <a:spLocks noChangeArrowheads="1"/>
            </p:cNvSpPr>
            <p:nvPr/>
          </p:nvSpPr>
          <p:spPr bwMode="auto">
            <a:xfrm rot="-5400000">
              <a:off x="4397" y="1158"/>
              <a:ext cx="110" cy="271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191" name="Line 23"/>
            <p:cNvSpPr>
              <a:spLocks noChangeShapeType="1"/>
            </p:cNvSpPr>
            <p:nvPr/>
          </p:nvSpPr>
          <p:spPr bwMode="auto">
            <a:xfrm>
              <a:off x="2286" y="3001"/>
              <a:ext cx="8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199" name="Rectangle 31"/>
            <p:cNvSpPr>
              <a:spLocks noChangeArrowheads="1"/>
            </p:cNvSpPr>
            <p:nvPr/>
          </p:nvSpPr>
          <p:spPr bwMode="auto">
            <a:xfrm rot="-5400000">
              <a:off x="3584" y="1147"/>
              <a:ext cx="110" cy="27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00" name="Rectangle 32"/>
            <p:cNvSpPr>
              <a:spLocks noChangeArrowheads="1"/>
            </p:cNvSpPr>
            <p:nvPr/>
          </p:nvSpPr>
          <p:spPr bwMode="auto">
            <a:xfrm rot="-5400000">
              <a:off x="3584" y="1632"/>
              <a:ext cx="110" cy="27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01" name="Rectangle 33"/>
            <p:cNvSpPr>
              <a:spLocks noChangeArrowheads="1"/>
            </p:cNvSpPr>
            <p:nvPr/>
          </p:nvSpPr>
          <p:spPr bwMode="auto">
            <a:xfrm rot="-5400000">
              <a:off x="3584" y="2117"/>
              <a:ext cx="110" cy="27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02" name="Text Box 34"/>
            <p:cNvSpPr txBox="1">
              <a:spLocks noChangeArrowheads="1"/>
            </p:cNvSpPr>
            <p:nvPr/>
          </p:nvSpPr>
          <p:spPr bwMode="auto">
            <a:xfrm>
              <a:off x="3504" y="973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3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5203" name="Text Box 35"/>
            <p:cNvSpPr txBox="1">
              <a:spLocks noChangeArrowheads="1"/>
            </p:cNvSpPr>
            <p:nvPr/>
          </p:nvSpPr>
          <p:spPr bwMode="auto">
            <a:xfrm>
              <a:off x="3504" y="1458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3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5204" name="Text Box 36"/>
            <p:cNvSpPr txBox="1">
              <a:spLocks noChangeArrowheads="1"/>
            </p:cNvSpPr>
            <p:nvPr/>
          </p:nvSpPr>
          <p:spPr bwMode="auto">
            <a:xfrm>
              <a:off x="3504" y="1943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3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5205" name="Line 37"/>
            <p:cNvSpPr>
              <a:spLocks noChangeShapeType="1"/>
            </p:cNvSpPr>
            <p:nvPr/>
          </p:nvSpPr>
          <p:spPr bwMode="auto">
            <a:xfrm>
              <a:off x="2241" y="1216"/>
              <a:ext cx="31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06" name="Line 38"/>
            <p:cNvSpPr>
              <a:spLocks noChangeShapeType="1"/>
            </p:cNvSpPr>
            <p:nvPr/>
          </p:nvSpPr>
          <p:spPr bwMode="auto">
            <a:xfrm>
              <a:off x="3086" y="1370"/>
              <a:ext cx="0" cy="30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07" name="Line 39"/>
            <p:cNvSpPr>
              <a:spLocks noChangeShapeType="1"/>
            </p:cNvSpPr>
            <p:nvPr/>
          </p:nvSpPr>
          <p:spPr bwMode="auto">
            <a:xfrm flipV="1">
              <a:off x="3904" y="1194"/>
              <a:ext cx="27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08" name="Text Box 40"/>
            <p:cNvSpPr txBox="1">
              <a:spLocks noChangeArrowheads="1"/>
            </p:cNvSpPr>
            <p:nvPr/>
          </p:nvSpPr>
          <p:spPr bwMode="auto">
            <a:xfrm>
              <a:off x="1339" y="1017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A</a:t>
              </a:r>
            </a:p>
          </p:txBody>
        </p:sp>
        <p:sp>
          <p:nvSpPr>
            <p:cNvPr id="135209" name="Text Box 41"/>
            <p:cNvSpPr txBox="1">
              <a:spLocks noChangeArrowheads="1"/>
            </p:cNvSpPr>
            <p:nvPr/>
          </p:nvSpPr>
          <p:spPr bwMode="auto">
            <a:xfrm>
              <a:off x="1350" y="145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B</a:t>
              </a:r>
            </a:p>
          </p:txBody>
        </p:sp>
        <p:sp>
          <p:nvSpPr>
            <p:cNvPr id="135210" name="Text Box 42"/>
            <p:cNvSpPr txBox="1">
              <a:spLocks noChangeArrowheads="1"/>
            </p:cNvSpPr>
            <p:nvPr/>
          </p:nvSpPr>
          <p:spPr bwMode="auto">
            <a:xfrm>
              <a:off x="1339" y="196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C</a:t>
              </a:r>
            </a:p>
          </p:txBody>
        </p:sp>
        <p:graphicFrame>
          <p:nvGraphicFramePr>
            <p:cNvPr id="135212" name="Object 44"/>
            <p:cNvGraphicFramePr>
              <a:graphicFrameLocks noChangeAspect="1"/>
            </p:cNvGraphicFramePr>
            <p:nvPr/>
          </p:nvGraphicFramePr>
          <p:xfrm>
            <a:off x="2256" y="951"/>
            <a:ext cx="269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54" name="Equation" r:id="rId3" imgW="228600" imgH="228600" progId="Equation.3">
                    <p:embed/>
                  </p:oleObj>
                </mc:Choice>
                <mc:Fallback>
                  <p:oleObj name="Equation" r:id="rId3" imgW="228600" imgH="2286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951"/>
                          <a:ext cx="269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213" name="Object 45"/>
            <p:cNvGraphicFramePr>
              <a:graphicFrameLocks noChangeAspect="1"/>
            </p:cNvGraphicFramePr>
            <p:nvPr/>
          </p:nvGraphicFramePr>
          <p:xfrm>
            <a:off x="2789" y="1362"/>
            <a:ext cx="284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55" name="Equation" r:id="rId5" imgW="241200" imgH="228600" progId="Equation.3">
                    <p:embed/>
                  </p:oleObj>
                </mc:Choice>
                <mc:Fallback>
                  <p:oleObj name="Equation" r:id="rId5" imgW="241200" imgH="2286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1362"/>
                          <a:ext cx="284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214" name="Object 46"/>
            <p:cNvGraphicFramePr>
              <a:graphicFrameLocks noChangeAspect="1"/>
            </p:cNvGraphicFramePr>
            <p:nvPr/>
          </p:nvGraphicFramePr>
          <p:xfrm>
            <a:off x="3911" y="915"/>
            <a:ext cx="28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56" name="Equation" r:id="rId7" imgW="241200" imgH="241200" progId="Equation.3">
                    <p:embed/>
                  </p:oleObj>
                </mc:Choice>
                <mc:Fallback>
                  <p:oleObj name="Equation" r:id="rId7" imgW="241200" imgH="2412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1" y="915"/>
                          <a:ext cx="28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217" name="Line 49"/>
            <p:cNvSpPr>
              <a:spLocks noChangeShapeType="1"/>
            </p:cNvSpPr>
            <p:nvPr/>
          </p:nvSpPr>
          <p:spPr bwMode="auto">
            <a:xfrm>
              <a:off x="766" y="1260"/>
              <a:ext cx="12" cy="9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8" name="Text Box 50"/>
            <p:cNvSpPr txBox="1">
              <a:spLocks noChangeArrowheads="1"/>
            </p:cNvSpPr>
            <p:nvPr/>
          </p:nvSpPr>
          <p:spPr bwMode="auto">
            <a:xfrm>
              <a:off x="1188" y="1011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35219" name="Text Box 51"/>
            <p:cNvSpPr txBox="1">
              <a:spLocks noChangeArrowheads="1"/>
            </p:cNvSpPr>
            <p:nvPr/>
          </p:nvSpPr>
          <p:spPr bwMode="auto">
            <a:xfrm>
              <a:off x="1182" y="148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35220" name="Text Box 52"/>
            <p:cNvSpPr txBox="1">
              <a:spLocks noChangeArrowheads="1"/>
            </p:cNvSpPr>
            <p:nvPr/>
          </p:nvSpPr>
          <p:spPr bwMode="auto">
            <a:xfrm>
              <a:off x="1202" y="197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graphicFrame>
          <p:nvGraphicFramePr>
            <p:cNvPr id="135221" name="Object 53"/>
            <p:cNvGraphicFramePr>
              <a:graphicFrameLocks noChangeAspect="1"/>
            </p:cNvGraphicFramePr>
            <p:nvPr/>
          </p:nvGraphicFramePr>
          <p:xfrm>
            <a:off x="954" y="877"/>
            <a:ext cx="34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57" name="Equation" r:id="rId9" imgW="291960" imgH="241200" progId="Equation.3">
                    <p:embed/>
                  </p:oleObj>
                </mc:Choice>
                <mc:Fallback>
                  <p:oleObj name="Equation" r:id="rId9" imgW="291960" imgH="24120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4" y="877"/>
                          <a:ext cx="344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223" name="Oval 55"/>
            <p:cNvSpPr>
              <a:spLocks noChangeArrowheads="1"/>
            </p:cNvSpPr>
            <p:nvPr/>
          </p:nvSpPr>
          <p:spPr bwMode="auto">
            <a:xfrm>
              <a:off x="958" y="1149"/>
              <a:ext cx="271" cy="265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24" name="Oval 56"/>
            <p:cNvSpPr>
              <a:spLocks noChangeArrowheads="1"/>
            </p:cNvSpPr>
            <p:nvPr/>
          </p:nvSpPr>
          <p:spPr bwMode="auto">
            <a:xfrm>
              <a:off x="958" y="1635"/>
              <a:ext cx="271" cy="264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25" name="Oval 57"/>
            <p:cNvSpPr>
              <a:spLocks noChangeArrowheads="1"/>
            </p:cNvSpPr>
            <p:nvPr/>
          </p:nvSpPr>
          <p:spPr bwMode="auto">
            <a:xfrm>
              <a:off x="958" y="2120"/>
              <a:ext cx="271" cy="264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26" name="Line 58"/>
            <p:cNvSpPr>
              <a:spLocks noChangeShapeType="1"/>
            </p:cNvSpPr>
            <p:nvPr/>
          </p:nvSpPr>
          <p:spPr bwMode="auto">
            <a:xfrm>
              <a:off x="778" y="1282"/>
              <a:ext cx="6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7" name="Line 59"/>
            <p:cNvSpPr>
              <a:spLocks noChangeShapeType="1"/>
            </p:cNvSpPr>
            <p:nvPr/>
          </p:nvSpPr>
          <p:spPr bwMode="auto">
            <a:xfrm>
              <a:off x="778" y="1767"/>
              <a:ext cx="6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8" name="Line 60"/>
            <p:cNvSpPr>
              <a:spLocks noChangeShapeType="1"/>
            </p:cNvSpPr>
            <p:nvPr/>
          </p:nvSpPr>
          <p:spPr bwMode="auto">
            <a:xfrm>
              <a:off x="778" y="2252"/>
              <a:ext cx="6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29" name="Text Box 61"/>
            <p:cNvSpPr txBox="1">
              <a:spLocks noChangeArrowheads="1"/>
            </p:cNvSpPr>
            <p:nvPr/>
          </p:nvSpPr>
          <p:spPr bwMode="auto">
            <a:xfrm>
              <a:off x="766" y="951"/>
              <a:ext cx="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35230" name="Text Box 62"/>
            <p:cNvSpPr txBox="1">
              <a:spLocks noChangeArrowheads="1"/>
            </p:cNvSpPr>
            <p:nvPr/>
          </p:nvSpPr>
          <p:spPr bwMode="auto">
            <a:xfrm>
              <a:off x="766" y="1414"/>
              <a:ext cx="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35231" name="Text Box 63"/>
            <p:cNvSpPr txBox="1">
              <a:spLocks noChangeArrowheads="1"/>
            </p:cNvSpPr>
            <p:nvPr/>
          </p:nvSpPr>
          <p:spPr bwMode="auto">
            <a:xfrm>
              <a:off x="766" y="1915"/>
              <a:ext cx="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graphicFrame>
          <p:nvGraphicFramePr>
            <p:cNvPr id="135232" name="Object 64"/>
            <p:cNvGraphicFramePr>
              <a:graphicFrameLocks noChangeAspect="1"/>
            </p:cNvGraphicFramePr>
            <p:nvPr/>
          </p:nvGraphicFramePr>
          <p:xfrm>
            <a:off x="954" y="1414"/>
            <a:ext cx="34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58" name="Equation" r:id="rId11" imgW="291960" imgH="241200" progId="Equation.3">
                    <p:embed/>
                  </p:oleObj>
                </mc:Choice>
                <mc:Fallback>
                  <p:oleObj name="Equation" r:id="rId11" imgW="291960" imgH="241200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4" y="1414"/>
                          <a:ext cx="34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233" name="Object 65"/>
            <p:cNvGraphicFramePr>
              <a:graphicFrameLocks noChangeAspect="1"/>
            </p:cNvGraphicFramePr>
            <p:nvPr/>
          </p:nvGraphicFramePr>
          <p:xfrm>
            <a:off x="995" y="1885"/>
            <a:ext cx="34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59" name="Equation" r:id="rId13" imgW="291960" imgH="241200" progId="Equation.3">
                    <p:embed/>
                  </p:oleObj>
                </mc:Choice>
                <mc:Fallback>
                  <p:oleObj name="Equation" r:id="rId13" imgW="291960" imgH="24120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1885"/>
                          <a:ext cx="34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243" name="Line 75"/>
            <p:cNvSpPr>
              <a:spLocks noChangeShapeType="1"/>
            </p:cNvSpPr>
            <p:nvPr/>
          </p:nvSpPr>
          <p:spPr bwMode="auto">
            <a:xfrm>
              <a:off x="4823" y="1278"/>
              <a:ext cx="0" cy="9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44" name="Text Box 76"/>
            <p:cNvSpPr txBox="1">
              <a:spLocks noChangeArrowheads="1"/>
            </p:cNvSpPr>
            <p:nvPr/>
          </p:nvSpPr>
          <p:spPr bwMode="auto">
            <a:xfrm>
              <a:off x="4279" y="1391"/>
              <a:ext cx="4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4</a:t>
              </a:r>
              <a:r>
                <a:rPr lang="en-US" altLang="zh-CN" i="1">
                  <a:solidFill>
                    <a:schemeClr val="tx1"/>
                  </a:solidFill>
                </a:rPr>
                <a:t>/</a:t>
              </a:r>
              <a:r>
                <a:rPr lang="en-US" altLang="zh-CN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35245" name="Rectangle 77"/>
            <p:cNvSpPr>
              <a:spLocks noChangeArrowheads="1"/>
            </p:cNvSpPr>
            <p:nvPr/>
          </p:nvSpPr>
          <p:spPr bwMode="auto">
            <a:xfrm>
              <a:off x="4316" y="958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4</a:t>
              </a:r>
              <a:r>
                <a:rPr lang="en-US" altLang="zh-CN" i="1">
                  <a:solidFill>
                    <a:schemeClr val="tx1"/>
                  </a:solidFill>
                </a:rPr>
                <a:t>/</a:t>
              </a:r>
              <a:r>
                <a:rPr lang="en-US" altLang="zh-CN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35267" name="Rectangle 99"/>
            <p:cNvSpPr>
              <a:spLocks noChangeArrowheads="1"/>
            </p:cNvSpPr>
            <p:nvPr/>
          </p:nvSpPr>
          <p:spPr bwMode="auto">
            <a:xfrm rot="-5400000">
              <a:off x="4397" y="2085"/>
              <a:ext cx="110" cy="271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68" name="Rectangle 100"/>
            <p:cNvSpPr>
              <a:spLocks noChangeArrowheads="1"/>
            </p:cNvSpPr>
            <p:nvPr/>
          </p:nvSpPr>
          <p:spPr bwMode="auto">
            <a:xfrm>
              <a:off x="4279" y="1881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4</a:t>
              </a:r>
              <a:r>
                <a:rPr lang="en-US" altLang="zh-CN" i="1">
                  <a:solidFill>
                    <a:schemeClr val="tx1"/>
                  </a:solidFill>
                </a:rPr>
                <a:t>/</a:t>
              </a:r>
              <a:r>
                <a:rPr lang="en-US" altLang="zh-CN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35270" name="Rectangle 102"/>
            <p:cNvSpPr>
              <a:spLocks noChangeArrowheads="1"/>
            </p:cNvSpPr>
            <p:nvPr/>
          </p:nvSpPr>
          <p:spPr bwMode="auto">
            <a:xfrm>
              <a:off x="2540" y="3025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2</a:t>
              </a:r>
              <a:r>
                <a:rPr lang="en-US" altLang="zh-CN">
                  <a:solidFill>
                    <a:schemeClr val="tx1"/>
                  </a:solidFill>
                </a:rPr>
                <a:t>/3</a:t>
              </a:r>
            </a:p>
          </p:txBody>
        </p:sp>
      </p:grpSp>
      <p:grpSp>
        <p:nvGrpSpPr>
          <p:cNvPr id="135277" name="Group 109"/>
          <p:cNvGrpSpPr>
            <a:grpSpLocks/>
          </p:cNvGrpSpPr>
          <p:nvPr/>
        </p:nvGrpSpPr>
        <p:grpSpPr bwMode="auto">
          <a:xfrm>
            <a:off x="1235075" y="3541713"/>
            <a:ext cx="6429375" cy="1217612"/>
            <a:chOff x="777" y="2231"/>
            <a:chExt cx="4050" cy="767"/>
          </a:xfrm>
        </p:grpSpPr>
        <p:sp>
          <p:nvSpPr>
            <p:cNvPr id="135274" name="Line 106"/>
            <p:cNvSpPr>
              <a:spLocks noChangeShapeType="1"/>
            </p:cNvSpPr>
            <p:nvPr/>
          </p:nvSpPr>
          <p:spPr bwMode="auto">
            <a:xfrm flipH="1">
              <a:off x="777" y="2231"/>
              <a:ext cx="0" cy="76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75" name="Line 107"/>
            <p:cNvSpPr>
              <a:spLocks noChangeShapeType="1"/>
            </p:cNvSpPr>
            <p:nvPr/>
          </p:nvSpPr>
          <p:spPr bwMode="auto">
            <a:xfrm>
              <a:off x="777" y="2998"/>
              <a:ext cx="405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76" name="Line 108"/>
            <p:cNvSpPr>
              <a:spLocks noChangeShapeType="1"/>
            </p:cNvSpPr>
            <p:nvPr/>
          </p:nvSpPr>
          <p:spPr bwMode="auto">
            <a:xfrm>
              <a:off x="4827" y="2239"/>
              <a:ext cx="0" cy="75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5278" name="Text Box 110"/>
          <p:cNvSpPr txBox="1">
            <a:spLocks noChangeArrowheads="1"/>
          </p:cNvSpPr>
          <p:nvPr/>
        </p:nvSpPr>
        <p:spPr bwMode="auto">
          <a:xfrm>
            <a:off x="1073150" y="5443538"/>
            <a:ext cx="3236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连接电源和负载中点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5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7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484188" y="946150"/>
            <a:ext cx="3084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） 取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相计算电路</a:t>
            </a:r>
          </a:p>
        </p:txBody>
      </p:sp>
      <p:grpSp>
        <p:nvGrpSpPr>
          <p:cNvPr id="42046" name="Group 62"/>
          <p:cNvGrpSpPr>
            <a:grpSpLocks/>
          </p:cNvGrpSpPr>
          <p:nvPr/>
        </p:nvGrpSpPr>
        <p:grpSpPr bwMode="auto">
          <a:xfrm>
            <a:off x="3952875" y="536575"/>
            <a:ext cx="4506913" cy="1882775"/>
            <a:chOff x="2490" y="338"/>
            <a:chExt cx="2839" cy="1186"/>
          </a:xfrm>
        </p:grpSpPr>
        <p:sp>
          <p:nvSpPr>
            <p:cNvPr id="41992" name="Oval 8"/>
            <p:cNvSpPr>
              <a:spLocks noChangeArrowheads="1"/>
            </p:cNvSpPr>
            <p:nvPr/>
          </p:nvSpPr>
          <p:spPr bwMode="auto">
            <a:xfrm>
              <a:off x="2817" y="971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989" name="Rectangle 5"/>
            <p:cNvSpPr>
              <a:spLocks noChangeArrowheads="1"/>
            </p:cNvSpPr>
            <p:nvPr/>
          </p:nvSpPr>
          <p:spPr bwMode="auto">
            <a:xfrm>
              <a:off x="2961" y="708"/>
              <a:ext cx="1874" cy="81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3" name="Text Box 9"/>
            <p:cNvSpPr txBox="1">
              <a:spLocks noChangeArrowheads="1"/>
            </p:cNvSpPr>
            <p:nvPr/>
          </p:nvSpPr>
          <p:spPr bwMode="auto">
            <a:xfrm>
              <a:off x="2781" y="744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1994" name="Text Box 10"/>
            <p:cNvSpPr txBox="1">
              <a:spLocks noChangeArrowheads="1"/>
            </p:cNvSpPr>
            <p:nvPr/>
          </p:nvSpPr>
          <p:spPr bwMode="auto">
            <a:xfrm>
              <a:off x="2787" y="112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1996" name="Rectangle 12"/>
            <p:cNvSpPr>
              <a:spLocks noChangeArrowheads="1"/>
            </p:cNvSpPr>
            <p:nvPr/>
          </p:nvSpPr>
          <p:spPr bwMode="auto">
            <a:xfrm rot="-5400000">
              <a:off x="3293" y="558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997" name="Line 13"/>
            <p:cNvSpPr>
              <a:spLocks noChangeShapeType="1"/>
            </p:cNvSpPr>
            <p:nvPr/>
          </p:nvSpPr>
          <p:spPr bwMode="auto">
            <a:xfrm>
              <a:off x="3875" y="708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0" name="Rectangle 6"/>
            <p:cNvSpPr>
              <a:spLocks noChangeArrowheads="1"/>
            </p:cNvSpPr>
            <p:nvPr/>
          </p:nvSpPr>
          <p:spPr bwMode="auto">
            <a:xfrm>
              <a:off x="3809" y="972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998" name="Rectangle 14"/>
            <p:cNvSpPr>
              <a:spLocks noChangeArrowheads="1"/>
            </p:cNvSpPr>
            <p:nvPr/>
          </p:nvSpPr>
          <p:spPr bwMode="auto">
            <a:xfrm rot="-5400000">
              <a:off x="4295" y="564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999" name="Rectangle 15"/>
            <p:cNvSpPr>
              <a:spLocks noChangeArrowheads="1"/>
            </p:cNvSpPr>
            <p:nvPr/>
          </p:nvSpPr>
          <p:spPr bwMode="auto">
            <a:xfrm>
              <a:off x="4769" y="948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00" name="Text Box 16"/>
            <p:cNvSpPr txBox="1">
              <a:spLocks noChangeArrowheads="1"/>
            </p:cNvSpPr>
            <p:nvPr/>
          </p:nvSpPr>
          <p:spPr bwMode="auto">
            <a:xfrm>
              <a:off x="3227" y="360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2001" name="Text Box 17"/>
            <p:cNvSpPr txBox="1">
              <a:spLocks noChangeArrowheads="1"/>
            </p:cNvSpPr>
            <p:nvPr/>
          </p:nvSpPr>
          <p:spPr bwMode="auto">
            <a:xfrm>
              <a:off x="4211" y="360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3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2007" name="Line 23"/>
            <p:cNvSpPr>
              <a:spLocks noChangeShapeType="1"/>
            </p:cNvSpPr>
            <p:nvPr/>
          </p:nvSpPr>
          <p:spPr bwMode="auto">
            <a:xfrm flipH="1">
              <a:off x="3755" y="810"/>
              <a:ext cx="0" cy="30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0" name="Line 26"/>
            <p:cNvSpPr>
              <a:spLocks noChangeShapeType="1"/>
            </p:cNvSpPr>
            <p:nvPr/>
          </p:nvSpPr>
          <p:spPr bwMode="auto">
            <a:xfrm>
              <a:off x="3538" y="638"/>
              <a:ext cx="289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1" name="Line 27"/>
            <p:cNvSpPr>
              <a:spLocks noChangeShapeType="1"/>
            </p:cNvSpPr>
            <p:nvPr/>
          </p:nvSpPr>
          <p:spPr bwMode="auto">
            <a:xfrm>
              <a:off x="4547" y="660"/>
              <a:ext cx="28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30" name="Object 46"/>
            <p:cNvGraphicFramePr>
              <a:graphicFrameLocks noChangeAspect="1"/>
            </p:cNvGraphicFramePr>
            <p:nvPr/>
          </p:nvGraphicFramePr>
          <p:xfrm>
            <a:off x="3541" y="338"/>
            <a:ext cx="28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64" name="Equation" r:id="rId3" imgW="228600" imgH="228600" progId="Equation.3">
                    <p:embed/>
                  </p:oleObj>
                </mc:Choice>
                <mc:Fallback>
                  <p:oleObj name="Equation" r:id="rId3" imgW="228600" imgH="2286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1" y="338"/>
                          <a:ext cx="28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31" name="Object 47"/>
            <p:cNvGraphicFramePr>
              <a:graphicFrameLocks noChangeAspect="1"/>
            </p:cNvGraphicFramePr>
            <p:nvPr/>
          </p:nvGraphicFramePr>
          <p:xfrm>
            <a:off x="3452" y="810"/>
            <a:ext cx="30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65" name="Equation" r:id="rId5" imgW="241200" imgH="228600" progId="Equation.3">
                    <p:embed/>
                  </p:oleObj>
                </mc:Choice>
                <mc:Fallback>
                  <p:oleObj name="Equation" r:id="rId5" imgW="241200" imgH="2286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" y="810"/>
                          <a:ext cx="30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32" name="Object 48"/>
            <p:cNvGraphicFramePr>
              <a:graphicFrameLocks noChangeAspect="1"/>
            </p:cNvGraphicFramePr>
            <p:nvPr/>
          </p:nvGraphicFramePr>
          <p:xfrm>
            <a:off x="4536" y="356"/>
            <a:ext cx="30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66" name="Equation" r:id="rId7" imgW="241200" imgH="241200" progId="Equation.3">
                    <p:embed/>
                  </p:oleObj>
                </mc:Choice>
                <mc:Fallback>
                  <p:oleObj name="Equation" r:id="rId7" imgW="241200" imgH="24120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6" y="356"/>
                          <a:ext cx="30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3" name="Text Box 49"/>
            <p:cNvSpPr txBox="1">
              <a:spLocks noChangeArrowheads="1"/>
            </p:cNvSpPr>
            <p:nvPr/>
          </p:nvSpPr>
          <p:spPr bwMode="auto">
            <a:xfrm>
              <a:off x="3924" y="948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2</a:t>
              </a:r>
              <a:r>
                <a:rPr lang="en-US" altLang="zh-CN">
                  <a:solidFill>
                    <a:schemeClr val="tx1"/>
                  </a:solidFill>
                </a:rPr>
                <a:t>/3</a:t>
              </a:r>
            </a:p>
          </p:txBody>
        </p:sp>
        <p:sp>
          <p:nvSpPr>
            <p:cNvPr id="42034" name="Text Box 50"/>
            <p:cNvSpPr txBox="1">
              <a:spLocks noChangeArrowheads="1"/>
            </p:cNvSpPr>
            <p:nvPr/>
          </p:nvSpPr>
          <p:spPr bwMode="auto">
            <a:xfrm>
              <a:off x="4883" y="935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4</a:t>
              </a:r>
              <a:r>
                <a:rPr lang="en-US" altLang="zh-CN">
                  <a:solidFill>
                    <a:schemeClr val="tx1"/>
                  </a:solidFill>
                </a:rPr>
                <a:t>/3</a:t>
              </a:r>
            </a:p>
          </p:txBody>
        </p:sp>
        <p:graphicFrame>
          <p:nvGraphicFramePr>
            <p:cNvPr id="42035" name="Object 51"/>
            <p:cNvGraphicFramePr>
              <a:graphicFrameLocks noChangeAspect="1"/>
            </p:cNvGraphicFramePr>
            <p:nvPr/>
          </p:nvGraphicFramePr>
          <p:xfrm>
            <a:off x="2490" y="970"/>
            <a:ext cx="36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67" name="Equation" r:id="rId9" imgW="291960" imgH="241200" progId="Equation.3">
                    <p:embed/>
                  </p:oleObj>
                </mc:Choice>
                <mc:Fallback>
                  <p:oleObj name="Equation" r:id="rId9" imgW="291960" imgH="24120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0" y="970"/>
                          <a:ext cx="36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039" name="Object 55"/>
          <p:cNvGraphicFramePr>
            <a:graphicFrameLocks noChangeAspect="1"/>
          </p:cNvGraphicFramePr>
          <p:nvPr/>
        </p:nvGraphicFramePr>
        <p:xfrm>
          <a:off x="1452563" y="5345113"/>
          <a:ext cx="26162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8" name="Equation" r:id="rId11" imgW="1307880" imgH="419040" progId="Equation.3">
                  <p:embed/>
                </p:oleObj>
              </mc:Choice>
              <mc:Fallback>
                <p:oleObj name="Equation" r:id="rId11" imgW="1307880" imgH="41904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5345113"/>
                        <a:ext cx="26162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41" name="Object 57"/>
          <p:cNvGraphicFramePr>
            <a:graphicFrameLocks noChangeAspect="1"/>
          </p:cNvGraphicFramePr>
          <p:nvPr/>
        </p:nvGraphicFramePr>
        <p:xfrm>
          <a:off x="862013" y="3294063"/>
          <a:ext cx="3519487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9" name="Equation" r:id="rId13" imgW="1841400" imgH="609480" progId="Equation.3">
                  <p:embed/>
                </p:oleObj>
              </mc:Choice>
              <mc:Fallback>
                <p:oleObj name="Equation" r:id="rId13" imgW="1841400" imgH="60948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3294063"/>
                        <a:ext cx="3519487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45" name="Object 61"/>
          <p:cNvGraphicFramePr>
            <a:graphicFrameLocks noChangeAspect="1"/>
          </p:cNvGraphicFramePr>
          <p:nvPr/>
        </p:nvGraphicFramePr>
        <p:xfrm>
          <a:off x="5062538" y="2844800"/>
          <a:ext cx="32512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70" name="Equation" r:id="rId15" imgW="1511280" imgH="241200" progId="Equation.3">
                  <p:embed/>
                </p:oleObj>
              </mc:Choice>
              <mc:Fallback>
                <p:oleObj name="Equation" r:id="rId15" imgW="1511280" imgH="24120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538" y="2844800"/>
                        <a:ext cx="32512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47" name="Object 63"/>
          <p:cNvGraphicFramePr>
            <a:graphicFrameLocks noChangeAspect="1"/>
          </p:cNvGraphicFramePr>
          <p:nvPr/>
        </p:nvGraphicFramePr>
        <p:xfrm>
          <a:off x="1209675" y="4189413"/>
          <a:ext cx="24288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71" name="Equation" r:id="rId17" imgW="114120" imgH="215640" progId="Equation.3">
                  <p:embed/>
                </p:oleObj>
              </mc:Choice>
              <mc:Fallback>
                <p:oleObj name="Equation" r:id="rId17" imgW="114120" imgH="21564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4189413"/>
                        <a:ext cx="24288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52" name="Object 68"/>
          <p:cNvGraphicFramePr>
            <a:graphicFrameLocks noChangeAspect="1"/>
          </p:cNvGraphicFramePr>
          <p:nvPr/>
        </p:nvGraphicFramePr>
        <p:xfrm>
          <a:off x="4954588" y="3386138"/>
          <a:ext cx="337185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72" name="Equation" r:id="rId19" imgW="1765080" imgH="431640" progId="Equation.3">
                  <p:embed/>
                </p:oleObj>
              </mc:Choice>
              <mc:Fallback>
                <p:oleObj name="Equation" r:id="rId19" imgW="1765080" imgH="43164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588" y="3386138"/>
                        <a:ext cx="337185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53" name="Object 69"/>
          <p:cNvGraphicFramePr>
            <a:graphicFrameLocks noChangeAspect="1"/>
          </p:cNvGraphicFramePr>
          <p:nvPr/>
        </p:nvGraphicFramePr>
        <p:xfrm>
          <a:off x="4992688" y="4376738"/>
          <a:ext cx="337185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73" name="Equation" r:id="rId21" imgW="1765080" imgH="431640" progId="Equation.3">
                  <p:embed/>
                </p:oleObj>
              </mc:Choice>
              <mc:Fallback>
                <p:oleObj name="Equation" r:id="rId21" imgW="1765080" imgH="43164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4376738"/>
                        <a:ext cx="337185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55" name="Group 71"/>
          <p:cNvGrpSpPr>
            <a:grpSpLocks/>
          </p:cNvGrpSpPr>
          <p:nvPr/>
        </p:nvGrpSpPr>
        <p:grpSpPr bwMode="auto">
          <a:xfrm>
            <a:off x="534988" y="2376488"/>
            <a:ext cx="3379787" cy="504825"/>
            <a:chOff x="264" y="1461"/>
            <a:chExt cx="2129" cy="318"/>
          </a:xfrm>
        </p:grpSpPr>
        <p:graphicFrame>
          <p:nvGraphicFramePr>
            <p:cNvPr id="42048" name="Object 64"/>
            <p:cNvGraphicFramePr>
              <a:graphicFrameLocks noChangeAspect="1"/>
            </p:cNvGraphicFramePr>
            <p:nvPr/>
          </p:nvGraphicFramePr>
          <p:xfrm>
            <a:off x="760" y="1461"/>
            <a:ext cx="163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74" name="Equation" r:id="rId23" imgW="1295280" imgH="253800" progId="Equation.3">
                    <p:embed/>
                  </p:oleObj>
                </mc:Choice>
                <mc:Fallback>
                  <p:oleObj name="Equation" r:id="rId23" imgW="1295280" imgH="253800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0" y="1461"/>
                          <a:ext cx="1633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54" name="Text Box 70"/>
            <p:cNvSpPr txBox="1">
              <a:spLocks noChangeArrowheads="1"/>
            </p:cNvSpPr>
            <p:nvPr/>
          </p:nvSpPr>
          <p:spPr bwMode="auto">
            <a:xfrm>
              <a:off x="264" y="1490"/>
              <a:ext cx="6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4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</a:p>
          </p:txBody>
        </p:sp>
      </p:grpSp>
      <p:grpSp>
        <p:nvGrpSpPr>
          <p:cNvPr id="42057" name="Group 73"/>
          <p:cNvGrpSpPr>
            <a:grpSpLocks/>
          </p:cNvGrpSpPr>
          <p:nvPr/>
        </p:nvGrpSpPr>
        <p:grpSpPr bwMode="auto">
          <a:xfrm>
            <a:off x="712788" y="4649788"/>
            <a:ext cx="2690812" cy="495300"/>
            <a:chOff x="522" y="2984"/>
            <a:chExt cx="1695" cy="312"/>
          </a:xfrm>
        </p:grpSpPr>
        <p:graphicFrame>
          <p:nvGraphicFramePr>
            <p:cNvPr id="42051" name="Object 67"/>
            <p:cNvGraphicFramePr>
              <a:graphicFrameLocks noChangeAspect="1"/>
            </p:cNvGraphicFramePr>
            <p:nvPr/>
          </p:nvGraphicFramePr>
          <p:xfrm>
            <a:off x="1091" y="2984"/>
            <a:ext cx="112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75" name="Equation" r:id="rId25" imgW="888840" imgH="228600" progId="Equation.3">
                    <p:embed/>
                  </p:oleObj>
                </mc:Choice>
                <mc:Fallback>
                  <p:oleObj name="Equation" r:id="rId25" imgW="888840" imgH="228600" progId="Equation.3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1" y="2984"/>
                          <a:ext cx="1126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56" name="Text Box 72"/>
            <p:cNvSpPr txBox="1">
              <a:spLocks noChangeArrowheads="1"/>
            </p:cNvSpPr>
            <p:nvPr/>
          </p:nvSpPr>
          <p:spPr bwMode="auto">
            <a:xfrm>
              <a:off x="522" y="3008"/>
              <a:ext cx="5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5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4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4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291" name="Group 99"/>
          <p:cNvGrpSpPr>
            <a:grpSpLocks/>
          </p:cNvGrpSpPr>
          <p:nvPr/>
        </p:nvGrpSpPr>
        <p:grpSpPr bwMode="auto">
          <a:xfrm>
            <a:off x="334963" y="241300"/>
            <a:ext cx="8539162" cy="1395413"/>
            <a:chOff x="211" y="152"/>
            <a:chExt cx="5379" cy="879"/>
          </a:xfrm>
        </p:grpSpPr>
        <p:sp>
          <p:nvSpPr>
            <p:cNvPr id="136194" name="Text Box 2"/>
            <p:cNvSpPr txBox="1">
              <a:spLocks noChangeArrowheads="1"/>
            </p:cNvSpPr>
            <p:nvPr/>
          </p:nvSpPr>
          <p:spPr bwMode="auto">
            <a:xfrm>
              <a:off x="211" y="152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FF0000"/>
                  </a:solidFill>
                </a:rPr>
                <a:t>例</a:t>
              </a:r>
              <a:r>
                <a:rPr lang="en-US" altLang="zh-CN">
                  <a:solidFill>
                    <a:srgbClr val="FF0000"/>
                  </a:solidFill>
                </a:rPr>
                <a:t>2</a:t>
              </a:r>
              <a:r>
                <a:rPr lang="en-US" altLang="zh-CN"/>
                <a:t> </a:t>
              </a:r>
            </a:p>
          </p:txBody>
        </p:sp>
        <p:sp>
          <p:nvSpPr>
            <p:cNvPr id="136195" name="Text Box 3"/>
            <p:cNvSpPr txBox="1">
              <a:spLocks noChangeArrowheads="1"/>
            </p:cNvSpPr>
            <p:nvPr/>
          </p:nvSpPr>
          <p:spPr bwMode="auto">
            <a:xfrm>
              <a:off x="688" y="152"/>
              <a:ext cx="490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>
                  <a:solidFill>
                    <a:schemeClr val="tx1"/>
                  </a:solidFill>
                </a:rPr>
                <a:t>如图对称三相电路，电源线电压为</a:t>
              </a:r>
              <a:r>
                <a:rPr lang="en-US" altLang="zh-CN">
                  <a:solidFill>
                    <a:schemeClr val="tx1"/>
                  </a:solidFill>
                </a:rPr>
                <a:t>380V</a:t>
              </a:r>
              <a:r>
                <a:rPr lang="zh-CN" altLang="en-US">
                  <a:solidFill>
                    <a:schemeClr val="tx1"/>
                  </a:solidFill>
                </a:rPr>
                <a:t>，</a:t>
              </a:r>
              <a:r>
                <a:rPr lang="en-US" altLang="zh-CN">
                  <a:solidFill>
                    <a:schemeClr val="tx1"/>
                  </a:solidFill>
                </a:rPr>
                <a:t>|</a:t>
              </a: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r>
                <a:rPr lang="en-US" altLang="zh-CN">
                  <a:solidFill>
                    <a:schemeClr val="tx1"/>
                  </a:solidFill>
                </a:rPr>
                <a:t>|=10</a:t>
              </a:r>
              <a:r>
                <a:rPr lang="en-US" altLang="zh-CN">
                  <a:solidFill>
                    <a:schemeClr val="tx1"/>
                  </a:solidFill>
                  <a:sym typeface="Symbol" panose="05050102010706020507" pitchFamily="18" charset="2"/>
                </a:rPr>
                <a:t></a:t>
              </a:r>
              <a:r>
                <a:rPr lang="zh-CN" altLang="en-US">
                  <a:solidFill>
                    <a:schemeClr val="tx1"/>
                  </a:solidFill>
                  <a:sym typeface="Symbol" panose="05050102010706020507" pitchFamily="18" charset="2"/>
                </a:rPr>
                <a:t>，</a:t>
              </a:r>
              <a:r>
                <a:rPr lang="en-US" altLang="zh-CN">
                  <a:solidFill>
                    <a:schemeClr val="tx1"/>
                  </a:solidFill>
                  <a:sym typeface="Symbol" panose="05050102010706020507" pitchFamily="18" charset="2"/>
                </a:rPr>
                <a:t>cos</a:t>
              </a:r>
              <a:r>
                <a:rPr lang="en-US" altLang="zh-CN" i="1">
                  <a:solidFill>
                    <a:schemeClr val="tx1"/>
                  </a:solidFill>
                  <a:sym typeface="Symbol" panose="05050102010706020507" pitchFamily="18" charset="2"/>
                </a:rPr>
                <a:t></a:t>
              </a:r>
              <a:r>
                <a:rPr lang="en-US" altLang="zh-CN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1</a:t>
              </a:r>
              <a:r>
                <a:rPr lang="en-US" altLang="zh-CN" i="1">
                  <a:solidFill>
                    <a:schemeClr val="tx1"/>
                  </a:solidFill>
                  <a:sym typeface="Symbol" panose="05050102010706020507" pitchFamily="18" charset="2"/>
                </a:rPr>
                <a:t> </a:t>
              </a:r>
              <a:r>
                <a:rPr lang="en-US" altLang="zh-CN">
                  <a:solidFill>
                    <a:schemeClr val="tx1"/>
                  </a:solidFill>
                  <a:sym typeface="Symbol" panose="05050102010706020507" pitchFamily="18" charset="2"/>
                </a:rPr>
                <a:t>=0.6(</a:t>
              </a:r>
              <a:r>
                <a:rPr lang="zh-CN" altLang="zh-CN">
                  <a:solidFill>
                    <a:schemeClr val="tx1"/>
                  </a:solidFill>
                  <a:sym typeface="Symbol" panose="05050102010706020507" pitchFamily="18" charset="2"/>
                </a:rPr>
                <a:t>滞后</a:t>
              </a:r>
              <a:r>
                <a:rPr lang="en-US" altLang="zh-CN">
                  <a:solidFill>
                    <a:schemeClr val="tx1"/>
                  </a:solidFill>
                  <a:sym typeface="Symbol" panose="05050102010706020507" pitchFamily="18" charset="2"/>
                </a:rPr>
                <a:t>)</a:t>
              </a:r>
              <a:r>
                <a:rPr lang="zh-CN" altLang="en-US">
                  <a:solidFill>
                    <a:schemeClr val="tx1"/>
                  </a:solidFill>
                  <a:sym typeface="Symbol" panose="05050102010706020507" pitchFamily="18" charset="2"/>
                </a:rPr>
                <a:t>， </a:t>
              </a: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2</a:t>
              </a:r>
              <a:r>
                <a:rPr lang="en-US" altLang="zh-CN">
                  <a:solidFill>
                    <a:schemeClr val="tx1"/>
                  </a:solidFill>
                </a:rPr>
                <a:t>= –j50</a:t>
              </a:r>
              <a:r>
                <a:rPr lang="en-US" altLang="zh-CN">
                  <a:solidFill>
                    <a:schemeClr val="tx1"/>
                  </a:solidFill>
                  <a:sym typeface="Symbol" panose="05050102010706020507" pitchFamily="18" charset="2"/>
                </a:rPr>
                <a:t></a:t>
              </a:r>
              <a:r>
                <a:rPr lang="zh-CN" altLang="en-US">
                  <a:solidFill>
                    <a:schemeClr val="tx1"/>
                  </a:solidFill>
                  <a:sym typeface="Symbol" panose="05050102010706020507" pitchFamily="18" charset="2"/>
                </a:rPr>
                <a:t>， </a:t>
              </a: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N</a:t>
              </a:r>
              <a:r>
                <a:rPr lang="en-US" altLang="zh-CN">
                  <a:solidFill>
                    <a:schemeClr val="tx1"/>
                  </a:solidFill>
                </a:rPr>
                <a:t>=1+ j2</a:t>
              </a:r>
              <a:r>
                <a:rPr lang="en-US" altLang="zh-CN">
                  <a:solidFill>
                    <a:schemeClr val="tx1"/>
                  </a:solidFill>
                  <a:sym typeface="Symbol" panose="05050102010706020507" pitchFamily="18" charset="2"/>
                </a:rPr>
                <a:t></a:t>
              </a:r>
              <a:r>
                <a:rPr lang="zh-CN" altLang="en-US">
                  <a:solidFill>
                    <a:schemeClr val="tx1"/>
                  </a:solidFill>
                  <a:sym typeface="Symbol" panose="05050102010706020507" pitchFamily="18" charset="2"/>
                </a:rPr>
                <a:t>。</a:t>
              </a:r>
            </a:p>
          </p:txBody>
        </p:sp>
        <p:sp>
          <p:nvSpPr>
            <p:cNvPr id="136196" name="Text Box 4"/>
            <p:cNvSpPr txBox="1">
              <a:spLocks noChangeArrowheads="1"/>
            </p:cNvSpPr>
            <p:nvPr/>
          </p:nvSpPr>
          <p:spPr bwMode="auto">
            <a:xfrm>
              <a:off x="506" y="743"/>
              <a:ext cx="50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tx1"/>
                  </a:solidFill>
                </a:rPr>
                <a:t>求：线电流、相电流，并定性画出相量图</a:t>
              </a:r>
              <a:r>
                <a:rPr lang="en-US" altLang="zh-CN">
                  <a:solidFill>
                    <a:schemeClr val="tx1"/>
                  </a:solidFill>
                </a:rPr>
                <a:t>(</a:t>
              </a:r>
              <a:r>
                <a:rPr lang="zh-CN" altLang="en-US">
                  <a:solidFill>
                    <a:schemeClr val="tx1"/>
                  </a:solidFill>
                </a:rPr>
                <a:t>以</a:t>
              </a:r>
              <a:r>
                <a:rPr lang="en-US" altLang="zh-CN">
                  <a:solidFill>
                    <a:schemeClr val="tx1"/>
                  </a:solidFill>
                </a:rPr>
                <a:t>A</a:t>
              </a:r>
              <a:r>
                <a:rPr lang="zh-CN" altLang="en-US">
                  <a:solidFill>
                    <a:schemeClr val="tx1"/>
                  </a:solidFill>
                </a:rPr>
                <a:t>相为例</a:t>
              </a:r>
              <a:r>
                <a:rPr lang="en-US" altLang="zh-CN">
                  <a:solidFill>
                    <a:schemeClr val="tx1"/>
                  </a:solidFill>
                </a:rPr>
                <a:t>)</a:t>
              </a:r>
              <a:r>
                <a:rPr lang="zh-CN" altLang="en-US">
                  <a:solidFill>
                    <a:schemeClr val="tx1"/>
                  </a:solidFill>
                </a:rPr>
                <a:t>。</a:t>
              </a:r>
            </a:p>
          </p:txBody>
        </p:sp>
      </p:grpSp>
      <p:sp>
        <p:nvSpPr>
          <p:cNvPr id="136243" name="Text Box 51"/>
          <p:cNvSpPr txBox="1">
            <a:spLocks noChangeArrowheads="1"/>
          </p:cNvSpPr>
          <p:nvPr/>
        </p:nvSpPr>
        <p:spPr bwMode="auto">
          <a:xfrm>
            <a:off x="5364163" y="202565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解：</a:t>
            </a:r>
            <a:r>
              <a:rPr lang="zh-CN" altLang="en-US"/>
              <a:t> </a:t>
            </a:r>
          </a:p>
        </p:txBody>
      </p:sp>
      <p:graphicFrame>
        <p:nvGraphicFramePr>
          <p:cNvPr id="136244" name="Object 52"/>
          <p:cNvGraphicFramePr>
            <a:graphicFrameLocks noChangeAspect="1"/>
          </p:cNvGraphicFramePr>
          <p:nvPr/>
        </p:nvGraphicFramePr>
        <p:xfrm>
          <a:off x="5986463" y="2017713"/>
          <a:ext cx="2719387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10" name="Equation" r:id="rId3" imgW="1358640" imgH="723600" progId="Equation.3">
                  <p:embed/>
                </p:oleObj>
              </mc:Choice>
              <mc:Fallback>
                <p:oleObj name="Equation" r:id="rId3" imgW="1358640" imgH="7236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463" y="2017713"/>
                        <a:ext cx="2719387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271" name="Group 79"/>
          <p:cNvGrpSpPr>
            <a:grpSpLocks/>
          </p:cNvGrpSpPr>
          <p:nvPr/>
        </p:nvGrpSpPr>
        <p:grpSpPr bwMode="auto">
          <a:xfrm>
            <a:off x="5427663" y="3779838"/>
            <a:ext cx="3716337" cy="1992312"/>
            <a:chOff x="3313" y="2141"/>
            <a:chExt cx="2341" cy="1255"/>
          </a:xfrm>
        </p:grpSpPr>
        <p:sp>
          <p:nvSpPr>
            <p:cNvPr id="136246" name="Oval 54"/>
            <p:cNvSpPr>
              <a:spLocks noChangeArrowheads="1"/>
            </p:cNvSpPr>
            <p:nvPr/>
          </p:nvSpPr>
          <p:spPr bwMode="auto">
            <a:xfrm>
              <a:off x="3313" y="2832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47" name="Rectangle 55"/>
            <p:cNvSpPr>
              <a:spLocks noChangeArrowheads="1"/>
            </p:cNvSpPr>
            <p:nvPr/>
          </p:nvSpPr>
          <p:spPr bwMode="auto">
            <a:xfrm>
              <a:off x="3449" y="2532"/>
              <a:ext cx="1824" cy="8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48" name="Line 56"/>
            <p:cNvSpPr>
              <a:spLocks noChangeShapeType="1"/>
            </p:cNvSpPr>
            <p:nvPr/>
          </p:nvSpPr>
          <p:spPr bwMode="auto">
            <a:xfrm>
              <a:off x="4377" y="2531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49" name="Text Box 57"/>
            <p:cNvSpPr txBox="1">
              <a:spLocks noChangeArrowheads="1"/>
            </p:cNvSpPr>
            <p:nvPr/>
          </p:nvSpPr>
          <p:spPr bwMode="auto">
            <a:xfrm>
              <a:off x="3437" y="261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36250" name="Text Box 58"/>
            <p:cNvSpPr txBox="1">
              <a:spLocks noChangeArrowheads="1"/>
            </p:cNvSpPr>
            <p:nvPr/>
          </p:nvSpPr>
          <p:spPr bwMode="auto">
            <a:xfrm>
              <a:off x="3450" y="298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36251" name="Text Box 59"/>
            <p:cNvSpPr txBox="1">
              <a:spLocks noChangeArrowheads="1"/>
            </p:cNvSpPr>
            <p:nvPr/>
          </p:nvSpPr>
          <p:spPr bwMode="auto">
            <a:xfrm>
              <a:off x="4435" y="2864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graphicFrame>
          <p:nvGraphicFramePr>
            <p:cNvPr id="136252" name="Object 60"/>
            <p:cNvGraphicFramePr>
              <a:graphicFrameLocks noChangeAspect="1"/>
            </p:cNvGraphicFramePr>
            <p:nvPr/>
          </p:nvGraphicFramePr>
          <p:xfrm>
            <a:off x="3616" y="2808"/>
            <a:ext cx="36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11" name="Equation" r:id="rId5" imgW="291960" imgH="241200" progId="Equation.3">
                    <p:embed/>
                  </p:oleObj>
                </mc:Choice>
                <mc:Fallback>
                  <p:oleObj name="Equation" r:id="rId5" imgW="291960" imgH="241200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6" y="2808"/>
                          <a:ext cx="36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254" name="Line 62"/>
            <p:cNvSpPr>
              <a:spLocks noChangeShapeType="1"/>
            </p:cNvSpPr>
            <p:nvPr/>
          </p:nvSpPr>
          <p:spPr bwMode="auto">
            <a:xfrm>
              <a:off x="4491" y="2571"/>
              <a:ext cx="0" cy="27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55" name="Line 63"/>
            <p:cNvSpPr>
              <a:spLocks noChangeShapeType="1"/>
            </p:cNvSpPr>
            <p:nvPr/>
          </p:nvSpPr>
          <p:spPr bwMode="auto">
            <a:xfrm>
              <a:off x="3944" y="245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6256" name="Object 64"/>
            <p:cNvGraphicFramePr>
              <a:graphicFrameLocks noChangeAspect="1"/>
            </p:cNvGraphicFramePr>
            <p:nvPr/>
          </p:nvGraphicFramePr>
          <p:xfrm>
            <a:off x="3985" y="2161"/>
            <a:ext cx="240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12" name="Equation" r:id="rId7" imgW="190440" imgH="228600" progId="Equation.3">
                    <p:embed/>
                  </p:oleObj>
                </mc:Choice>
                <mc:Fallback>
                  <p:oleObj name="Equation" r:id="rId7" imgW="190440" imgH="228600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5" y="2161"/>
                          <a:ext cx="240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257" name="Line 65"/>
            <p:cNvSpPr>
              <a:spLocks noChangeShapeType="1"/>
            </p:cNvSpPr>
            <p:nvPr/>
          </p:nvSpPr>
          <p:spPr bwMode="auto">
            <a:xfrm>
              <a:off x="4511" y="2451"/>
              <a:ext cx="27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6258" name="Object 66"/>
            <p:cNvGraphicFramePr>
              <a:graphicFrameLocks noChangeAspect="1"/>
            </p:cNvGraphicFramePr>
            <p:nvPr/>
          </p:nvGraphicFramePr>
          <p:xfrm>
            <a:off x="4511" y="2141"/>
            <a:ext cx="30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13" name="Equation" r:id="rId9" imgW="241200" imgH="228600" progId="Equation.3">
                    <p:embed/>
                  </p:oleObj>
                </mc:Choice>
                <mc:Fallback>
                  <p:oleObj name="Equation" r:id="rId9" imgW="241200" imgH="228600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1" y="2141"/>
                          <a:ext cx="304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259" name="Rectangle 67"/>
            <p:cNvSpPr>
              <a:spLocks noChangeArrowheads="1"/>
            </p:cNvSpPr>
            <p:nvPr/>
          </p:nvSpPr>
          <p:spPr bwMode="auto">
            <a:xfrm>
              <a:off x="4319" y="2820"/>
              <a:ext cx="102" cy="29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60" name="Rectangle 68"/>
            <p:cNvSpPr>
              <a:spLocks noChangeArrowheads="1"/>
            </p:cNvSpPr>
            <p:nvPr/>
          </p:nvSpPr>
          <p:spPr bwMode="auto">
            <a:xfrm>
              <a:off x="5219" y="2826"/>
              <a:ext cx="102" cy="29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6261" name="Object 69"/>
            <p:cNvGraphicFramePr>
              <a:graphicFrameLocks noChangeAspect="1"/>
            </p:cNvGraphicFramePr>
            <p:nvPr/>
          </p:nvGraphicFramePr>
          <p:xfrm>
            <a:off x="5334" y="2722"/>
            <a:ext cx="320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14" name="公式" r:id="rId11" imgW="253800" imgH="406080" progId="Equation.3">
                    <p:embed/>
                  </p:oleObj>
                </mc:Choice>
                <mc:Fallback>
                  <p:oleObj name="公式" r:id="rId11" imgW="253800" imgH="40608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4" y="2722"/>
                          <a:ext cx="320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70" name="Object 78"/>
            <p:cNvGraphicFramePr>
              <a:graphicFrameLocks noChangeAspect="1"/>
            </p:cNvGraphicFramePr>
            <p:nvPr/>
          </p:nvGraphicFramePr>
          <p:xfrm>
            <a:off x="4509" y="2573"/>
            <a:ext cx="27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15" name="Equation" r:id="rId13" imgW="215640" imgH="228600" progId="Equation.3">
                    <p:embed/>
                  </p:oleObj>
                </mc:Choice>
                <mc:Fallback>
                  <p:oleObj name="Equation" r:id="rId13" imgW="215640" imgH="228600" progId="Equation.3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9" y="2573"/>
                          <a:ext cx="27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6289" name="Group 97"/>
          <p:cNvGrpSpPr>
            <a:grpSpLocks/>
          </p:cNvGrpSpPr>
          <p:nvPr/>
        </p:nvGrpSpPr>
        <p:grpSpPr bwMode="auto">
          <a:xfrm>
            <a:off x="549275" y="1838325"/>
            <a:ext cx="5146675" cy="3709988"/>
            <a:chOff x="346" y="1158"/>
            <a:chExt cx="3242" cy="2337"/>
          </a:xfrm>
        </p:grpSpPr>
        <p:sp>
          <p:nvSpPr>
            <p:cNvPr id="136198" name="Oval 6"/>
            <p:cNvSpPr>
              <a:spLocks noChangeArrowheads="1"/>
            </p:cNvSpPr>
            <p:nvPr/>
          </p:nvSpPr>
          <p:spPr bwMode="auto">
            <a:xfrm>
              <a:off x="757" y="1878"/>
              <a:ext cx="265" cy="276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199" name="Oval 7"/>
            <p:cNvSpPr>
              <a:spLocks noChangeArrowheads="1"/>
            </p:cNvSpPr>
            <p:nvPr/>
          </p:nvSpPr>
          <p:spPr bwMode="auto">
            <a:xfrm>
              <a:off x="757" y="2292"/>
              <a:ext cx="265" cy="276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00" name="Oval 8"/>
            <p:cNvSpPr>
              <a:spLocks noChangeArrowheads="1"/>
            </p:cNvSpPr>
            <p:nvPr/>
          </p:nvSpPr>
          <p:spPr bwMode="auto">
            <a:xfrm>
              <a:off x="757" y="1463"/>
              <a:ext cx="255" cy="276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01" name="Line 9"/>
            <p:cNvSpPr>
              <a:spLocks noChangeShapeType="1"/>
            </p:cNvSpPr>
            <p:nvPr/>
          </p:nvSpPr>
          <p:spPr bwMode="auto">
            <a:xfrm>
              <a:off x="580" y="1601"/>
              <a:ext cx="25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02" name="Line 10"/>
            <p:cNvSpPr>
              <a:spLocks noChangeShapeType="1"/>
            </p:cNvSpPr>
            <p:nvPr/>
          </p:nvSpPr>
          <p:spPr bwMode="auto">
            <a:xfrm>
              <a:off x="580" y="2016"/>
              <a:ext cx="2113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03" name="Line 11"/>
            <p:cNvSpPr>
              <a:spLocks noChangeShapeType="1"/>
            </p:cNvSpPr>
            <p:nvPr/>
          </p:nvSpPr>
          <p:spPr bwMode="auto">
            <a:xfrm>
              <a:off x="580" y="2430"/>
              <a:ext cx="25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04" name="Line 12"/>
            <p:cNvSpPr>
              <a:spLocks noChangeShapeType="1"/>
            </p:cNvSpPr>
            <p:nvPr/>
          </p:nvSpPr>
          <p:spPr bwMode="auto">
            <a:xfrm>
              <a:off x="580" y="1601"/>
              <a:ext cx="0" cy="8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05" name="Text Box 13"/>
            <p:cNvSpPr txBox="1">
              <a:spLocks noChangeArrowheads="1"/>
            </p:cNvSpPr>
            <p:nvPr/>
          </p:nvSpPr>
          <p:spPr bwMode="auto">
            <a:xfrm>
              <a:off x="1012" y="1349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36206" name="Text Box 14"/>
            <p:cNvSpPr txBox="1">
              <a:spLocks noChangeArrowheads="1"/>
            </p:cNvSpPr>
            <p:nvPr/>
          </p:nvSpPr>
          <p:spPr bwMode="auto">
            <a:xfrm>
              <a:off x="568" y="1263"/>
              <a:ext cx="1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36207" name="Line 15"/>
            <p:cNvSpPr>
              <a:spLocks noChangeShapeType="1"/>
            </p:cNvSpPr>
            <p:nvPr/>
          </p:nvSpPr>
          <p:spPr bwMode="auto">
            <a:xfrm>
              <a:off x="2693" y="1601"/>
              <a:ext cx="0" cy="8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08" name="Rectangle 16"/>
            <p:cNvSpPr>
              <a:spLocks noChangeArrowheads="1"/>
            </p:cNvSpPr>
            <p:nvPr/>
          </p:nvSpPr>
          <p:spPr bwMode="auto">
            <a:xfrm>
              <a:off x="2638" y="2062"/>
              <a:ext cx="100" cy="276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09" name="Line 17"/>
            <p:cNvSpPr>
              <a:spLocks noChangeShapeType="1"/>
            </p:cNvSpPr>
            <p:nvPr/>
          </p:nvSpPr>
          <p:spPr bwMode="auto">
            <a:xfrm>
              <a:off x="3092" y="1601"/>
              <a:ext cx="0" cy="8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10" name="Rectangle 18"/>
            <p:cNvSpPr>
              <a:spLocks noChangeArrowheads="1"/>
            </p:cNvSpPr>
            <p:nvPr/>
          </p:nvSpPr>
          <p:spPr bwMode="auto">
            <a:xfrm>
              <a:off x="2638" y="1682"/>
              <a:ext cx="100" cy="276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11" name="Line 19"/>
            <p:cNvSpPr>
              <a:spLocks noChangeShapeType="1"/>
            </p:cNvSpPr>
            <p:nvPr/>
          </p:nvSpPr>
          <p:spPr bwMode="auto">
            <a:xfrm>
              <a:off x="1598" y="1601"/>
              <a:ext cx="0" cy="14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12" name="Line 20"/>
            <p:cNvSpPr>
              <a:spLocks noChangeShapeType="1"/>
            </p:cNvSpPr>
            <p:nvPr/>
          </p:nvSpPr>
          <p:spPr bwMode="auto">
            <a:xfrm>
              <a:off x="1863" y="2016"/>
              <a:ext cx="0" cy="10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13" name="Line 21"/>
            <p:cNvSpPr>
              <a:spLocks noChangeShapeType="1"/>
            </p:cNvSpPr>
            <p:nvPr/>
          </p:nvSpPr>
          <p:spPr bwMode="auto">
            <a:xfrm>
              <a:off x="2129" y="2430"/>
              <a:ext cx="0" cy="6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14" name="Line 22"/>
            <p:cNvSpPr>
              <a:spLocks noChangeShapeType="1"/>
            </p:cNvSpPr>
            <p:nvPr/>
          </p:nvSpPr>
          <p:spPr bwMode="auto">
            <a:xfrm>
              <a:off x="1598" y="3075"/>
              <a:ext cx="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15" name="Rectangle 23"/>
            <p:cNvSpPr>
              <a:spLocks noChangeArrowheads="1"/>
            </p:cNvSpPr>
            <p:nvPr/>
          </p:nvSpPr>
          <p:spPr bwMode="auto">
            <a:xfrm>
              <a:off x="1542" y="2660"/>
              <a:ext cx="111" cy="27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16" name="Rectangle 24"/>
            <p:cNvSpPr>
              <a:spLocks noChangeArrowheads="1"/>
            </p:cNvSpPr>
            <p:nvPr/>
          </p:nvSpPr>
          <p:spPr bwMode="auto">
            <a:xfrm>
              <a:off x="1808" y="2648"/>
              <a:ext cx="111" cy="27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17" name="Rectangle 25"/>
            <p:cNvSpPr>
              <a:spLocks noChangeArrowheads="1"/>
            </p:cNvSpPr>
            <p:nvPr/>
          </p:nvSpPr>
          <p:spPr bwMode="auto">
            <a:xfrm>
              <a:off x="2073" y="2648"/>
              <a:ext cx="111" cy="277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18" name="Line 26"/>
            <p:cNvSpPr>
              <a:spLocks noChangeShapeType="1"/>
            </p:cNvSpPr>
            <p:nvPr/>
          </p:nvSpPr>
          <p:spPr bwMode="auto">
            <a:xfrm>
              <a:off x="1863" y="3075"/>
              <a:ext cx="0" cy="4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19" name="Line 27"/>
            <p:cNvSpPr>
              <a:spLocks noChangeShapeType="1"/>
            </p:cNvSpPr>
            <p:nvPr/>
          </p:nvSpPr>
          <p:spPr bwMode="auto">
            <a:xfrm>
              <a:off x="346" y="2022"/>
              <a:ext cx="0" cy="14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20" name="Line 28"/>
            <p:cNvSpPr>
              <a:spLocks noChangeShapeType="1"/>
            </p:cNvSpPr>
            <p:nvPr/>
          </p:nvSpPr>
          <p:spPr bwMode="auto">
            <a:xfrm>
              <a:off x="346" y="3489"/>
              <a:ext cx="15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21" name="Line 29"/>
            <p:cNvSpPr>
              <a:spLocks noChangeShapeType="1"/>
            </p:cNvSpPr>
            <p:nvPr/>
          </p:nvSpPr>
          <p:spPr bwMode="auto">
            <a:xfrm flipH="1">
              <a:off x="346" y="2019"/>
              <a:ext cx="230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22" name="Rectangle 30"/>
            <p:cNvSpPr>
              <a:spLocks noChangeArrowheads="1"/>
            </p:cNvSpPr>
            <p:nvPr/>
          </p:nvSpPr>
          <p:spPr bwMode="auto">
            <a:xfrm>
              <a:off x="1808" y="3132"/>
              <a:ext cx="111" cy="276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223" name="Text Box 31"/>
            <p:cNvSpPr txBox="1">
              <a:spLocks noChangeArrowheads="1"/>
            </p:cNvSpPr>
            <p:nvPr/>
          </p:nvSpPr>
          <p:spPr bwMode="auto">
            <a:xfrm>
              <a:off x="582" y="1704"/>
              <a:ext cx="1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36224" name="Text Box 32"/>
            <p:cNvSpPr txBox="1">
              <a:spLocks noChangeArrowheads="1"/>
            </p:cNvSpPr>
            <p:nvPr/>
          </p:nvSpPr>
          <p:spPr bwMode="auto">
            <a:xfrm>
              <a:off x="588" y="2102"/>
              <a:ext cx="1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36225" name="Text Box 33"/>
            <p:cNvSpPr txBox="1">
              <a:spLocks noChangeArrowheads="1"/>
            </p:cNvSpPr>
            <p:nvPr/>
          </p:nvSpPr>
          <p:spPr bwMode="auto">
            <a:xfrm>
              <a:off x="1014" y="178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36226" name="Text Box 34"/>
            <p:cNvSpPr txBox="1">
              <a:spLocks noChangeArrowheads="1"/>
            </p:cNvSpPr>
            <p:nvPr/>
          </p:nvSpPr>
          <p:spPr bwMode="auto">
            <a:xfrm>
              <a:off x="1014" y="219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36227" name="Line 35"/>
            <p:cNvSpPr>
              <a:spLocks noChangeShapeType="1"/>
            </p:cNvSpPr>
            <p:nvPr/>
          </p:nvSpPr>
          <p:spPr bwMode="auto">
            <a:xfrm>
              <a:off x="1680" y="1647"/>
              <a:ext cx="0" cy="27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28" name="Line 36"/>
            <p:cNvSpPr>
              <a:spLocks noChangeShapeType="1"/>
            </p:cNvSpPr>
            <p:nvPr/>
          </p:nvSpPr>
          <p:spPr bwMode="auto">
            <a:xfrm>
              <a:off x="1964" y="1537"/>
              <a:ext cx="27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29" name="Line 37"/>
            <p:cNvSpPr>
              <a:spLocks noChangeShapeType="1"/>
            </p:cNvSpPr>
            <p:nvPr/>
          </p:nvSpPr>
          <p:spPr bwMode="auto">
            <a:xfrm>
              <a:off x="1246" y="1525"/>
              <a:ext cx="26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30" name="Text Box 38"/>
            <p:cNvSpPr txBox="1">
              <a:spLocks noChangeArrowheads="1"/>
            </p:cNvSpPr>
            <p:nvPr/>
          </p:nvSpPr>
          <p:spPr bwMode="auto">
            <a:xfrm>
              <a:off x="350" y="176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  <p:sp>
          <p:nvSpPr>
            <p:cNvPr id="136231" name="Text Box 39"/>
            <p:cNvSpPr txBox="1">
              <a:spLocks noChangeArrowheads="1"/>
            </p:cNvSpPr>
            <p:nvPr/>
          </p:nvSpPr>
          <p:spPr bwMode="auto">
            <a:xfrm>
              <a:off x="1494" y="127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36232" name="Text Box 40"/>
            <p:cNvSpPr txBox="1">
              <a:spLocks noChangeArrowheads="1"/>
            </p:cNvSpPr>
            <p:nvPr/>
          </p:nvSpPr>
          <p:spPr bwMode="auto">
            <a:xfrm>
              <a:off x="2097" y="214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36233" name="Text Box 41"/>
            <p:cNvSpPr txBox="1">
              <a:spLocks noChangeArrowheads="1"/>
            </p:cNvSpPr>
            <p:nvPr/>
          </p:nvSpPr>
          <p:spPr bwMode="auto">
            <a:xfrm>
              <a:off x="1940" y="177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36234" name="Text Box 42"/>
            <p:cNvSpPr txBox="1">
              <a:spLocks noChangeArrowheads="1"/>
            </p:cNvSpPr>
            <p:nvPr/>
          </p:nvSpPr>
          <p:spPr bwMode="auto">
            <a:xfrm>
              <a:off x="2172" y="2691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6235" name="Text Box 43"/>
            <p:cNvSpPr txBox="1">
              <a:spLocks noChangeArrowheads="1"/>
            </p:cNvSpPr>
            <p:nvPr/>
          </p:nvSpPr>
          <p:spPr bwMode="auto">
            <a:xfrm>
              <a:off x="2754" y="1872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2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6236" name="Text Box 44"/>
            <p:cNvSpPr txBox="1">
              <a:spLocks noChangeArrowheads="1"/>
            </p:cNvSpPr>
            <p:nvPr/>
          </p:nvSpPr>
          <p:spPr bwMode="auto">
            <a:xfrm>
              <a:off x="1922" y="3139"/>
              <a:ext cx="3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N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6238" name="Rectangle 46"/>
            <p:cNvSpPr>
              <a:spLocks noChangeArrowheads="1"/>
            </p:cNvSpPr>
            <p:nvPr/>
          </p:nvSpPr>
          <p:spPr bwMode="auto">
            <a:xfrm>
              <a:off x="3044" y="1890"/>
              <a:ext cx="100" cy="276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36239" name="Object 47"/>
            <p:cNvGraphicFramePr>
              <a:graphicFrameLocks noChangeAspect="1"/>
            </p:cNvGraphicFramePr>
            <p:nvPr/>
          </p:nvGraphicFramePr>
          <p:xfrm>
            <a:off x="1255" y="1238"/>
            <a:ext cx="240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16" name="Equation" r:id="rId15" imgW="190440" imgH="228600" progId="Equation.3">
                    <p:embed/>
                  </p:oleObj>
                </mc:Choice>
                <mc:Fallback>
                  <p:oleObj name="Equation" r:id="rId15" imgW="190440" imgH="2286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5" y="1238"/>
                          <a:ext cx="240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40" name="Object 48"/>
            <p:cNvGraphicFramePr>
              <a:graphicFrameLocks noChangeAspect="1"/>
            </p:cNvGraphicFramePr>
            <p:nvPr/>
          </p:nvGraphicFramePr>
          <p:xfrm>
            <a:off x="1684" y="1619"/>
            <a:ext cx="27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17" name="Equation" r:id="rId17" imgW="215640" imgH="228600" progId="Equation.3">
                    <p:embed/>
                  </p:oleObj>
                </mc:Choice>
                <mc:Fallback>
                  <p:oleObj name="Equation" r:id="rId17" imgW="215640" imgH="22860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" y="1619"/>
                          <a:ext cx="27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41" name="Object 49"/>
            <p:cNvGraphicFramePr>
              <a:graphicFrameLocks noChangeAspect="1"/>
            </p:cNvGraphicFramePr>
            <p:nvPr/>
          </p:nvGraphicFramePr>
          <p:xfrm>
            <a:off x="1964" y="1247"/>
            <a:ext cx="240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18" name="Equation" r:id="rId19" imgW="190440" imgH="228600" progId="Equation.3">
                    <p:embed/>
                  </p:oleObj>
                </mc:Choice>
                <mc:Fallback>
                  <p:oleObj name="Equation" r:id="rId19" imgW="190440" imgH="22860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4" y="1247"/>
                          <a:ext cx="240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42" name="Object 50"/>
            <p:cNvGraphicFramePr>
              <a:graphicFrameLocks noChangeAspect="1"/>
            </p:cNvGraphicFramePr>
            <p:nvPr/>
          </p:nvGraphicFramePr>
          <p:xfrm>
            <a:off x="688" y="1158"/>
            <a:ext cx="36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19" name="Equation" r:id="rId21" imgW="291960" imgH="241200" progId="Equation.3">
                    <p:embed/>
                  </p:oleObj>
                </mc:Choice>
                <mc:Fallback>
                  <p:oleObj name="Equation" r:id="rId21" imgW="291960" imgH="2412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" y="1158"/>
                          <a:ext cx="369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68" name="Object 76"/>
            <p:cNvGraphicFramePr>
              <a:graphicFrameLocks noChangeAspect="1"/>
            </p:cNvGraphicFramePr>
            <p:nvPr/>
          </p:nvGraphicFramePr>
          <p:xfrm>
            <a:off x="1512" y="3098"/>
            <a:ext cx="235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20" name="Equation" r:id="rId23" imgW="228600" imgH="164880" progId="Equation.3">
                    <p:embed/>
                  </p:oleObj>
                </mc:Choice>
                <mc:Fallback>
                  <p:oleObj name="Equation" r:id="rId23" imgW="228600" imgH="164880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" y="3098"/>
                          <a:ext cx="235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272" name="Line 80"/>
            <p:cNvSpPr>
              <a:spLocks noChangeShapeType="1"/>
            </p:cNvSpPr>
            <p:nvPr/>
          </p:nvSpPr>
          <p:spPr bwMode="auto">
            <a:xfrm>
              <a:off x="1908" y="2103"/>
              <a:ext cx="0" cy="27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74" name="Line 82"/>
            <p:cNvSpPr>
              <a:spLocks noChangeShapeType="1"/>
            </p:cNvSpPr>
            <p:nvPr/>
          </p:nvSpPr>
          <p:spPr bwMode="auto">
            <a:xfrm>
              <a:off x="2244" y="2487"/>
              <a:ext cx="0" cy="27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6276" name="Object 84"/>
            <p:cNvGraphicFramePr>
              <a:graphicFrameLocks noChangeAspect="1"/>
            </p:cNvGraphicFramePr>
            <p:nvPr/>
          </p:nvGraphicFramePr>
          <p:xfrm>
            <a:off x="1912" y="2027"/>
            <a:ext cx="27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21" name="Equation" r:id="rId25" imgW="215640" imgH="228600" progId="Equation.3">
                    <p:embed/>
                  </p:oleObj>
                </mc:Choice>
                <mc:Fallback>
                  <p:oleObj name="Equation" r:id="rId25" imgW="215640" imgH="228600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2" y="2027"/>
                          <a:ext cx="27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77" name="Object 85"/>
            <p:cNvGraphicFramePr>
              <a:graphicFrameLocks noChangeAspect="1"/>
            </p:cNvGraphicFramePr>
            <p:nvPr/>
          </p:nvGraphicFramePr>
          <p:xfrm>
            <a:off x="2266" y="2457"/>
            <a:ext cx="272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22" name="Equation" r:id="rId27" imgW="215640" imgH="241200" progId="Equation.3">
                    <p:embed/>
                  </p:oleObj>
                </mc:Choice>
                <mc:Fallback>
                  <p:oleObj name="Equation" r:id="rId27" imgW="215640" imgH="241200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6" y="2457"/>
                          <a:ext cx="272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278" name="Line 86"/>
            <p:cNvSpPr>
              <a:spLocks noChangeShapeType="1"/>
            </p:cNvSpPr>
            <p:nvPr/>
          </p:nvSpPr>
          <p:spPr bwMode="auto">
            <a:xfrm>
              <a:off x="2586" y="1671"/>
              <a:ext cx="0" cy="27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6279" name="Object 87"/>
            <p:cNvGraphicFramePr>
              <a:graphicFrameLocks noChangeAspect="1"/>
            </p:cNvGraphicFramePr>
            <p:nvPr/>
          </p:nvGraphicFramePr>
          <p:xfrm>
            <a:off x="2218" y="1619"/>
            <a:ext cx="36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23" name="Equation" r:id="rId29" imgW="291960" imgH="228600" progId="Equation.3">
                    <p:embed/>
                  </p:oleObj>
                </mc:Choice>
                <mc:Fallback>
                  <p:oleObj name="Equation" r:id="rId29" imgW="291960" imgH="228600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8" y="1619"/>
                          <a:ext cx="368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280" name="Line 88"/>
            <p:cNvSpPr>
              <a:spLocks noChangeShapeType="1"/>
            </p:cNvSpPr>
            <p:nvPr/>
          </p:nvSpPr>
          <p:spPr bwMode="auto">
            <a:xfrm>
              <a:off x="2598" y="2067"/>
              <a:ext cx="0" cy="27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81" name="Line 89"/>
            <p:cNvSpPr>
              <a:spLocks noChangeShapeType="1"/>
            </p:cNvSpPr>
            <p:nvPr/>
          </p:nvSpPr>
          <p:spPr bwMode="auto">
            <a:xfrm flipV="1">
              <a:off x="3192" y="1887"/>
              <a:ext cx="0" cy="27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6282" name="Object 90"/>
            <p:cNvGraphicFramePr>
              <a:graphicFrameLocks noChangeAspect="1"/>
            </p:cNvGraphicFramePr>
            <p:nvPr/>
          </p:nvGraphicFramePr>
          <p:xfrm>
            <a:off x="3220" y="1821"/>
            <a:ext cx="36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24" name="Equation" r:id="rId31" imgW="291960" imgH="241200" progId="Equation.3">
                    <p:embed/>
                  </p:oleObj>
                </mc:Choice>
                <mc:Fallback>
                  <p:oleObj name="Equation" r:id="rId31" imgW="291960" imgH="241200" progId="Equation.3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1821"/>
                          <a:ext cx="368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83" name="Object 91"/>
            <p:cNvGraphicFramePr>
              <a:graphicFrameLocks noChangeAspect="1"/>
            </p:cNvGraphicFramePr>
            <p:nvPr/>
          </p:nvGraphicFramePr>
          <p:xfrm>
            <a:off x="2236" y="2013"/>
            <a:ext cx="36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25" name="Equation" r:id="rId33" imgW="291960" imgH="241200" progId="Equation.3">
                    <p:embed/>
                  </p:oleObj>
                </mc:Choice>
                <mc:Fallback>
                  <p:oleObj name="Equation" r:id="rId33" imgW="291960" imgH="241200" progId="Equation.3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6" y="2013"/>
                          <a:ext cx="368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285" name="Line 93"/>
            <p:cNvSpPr>
              <a:spLocks noChangeShapeType="1"/>
            </p:cNvSpPr>
            <p:nvPr/>
          </p:nvSpPr>
          <p:spPr bwMode="auto">
            <a:xfrm>
              <a:off x="1246" y="1957"/>
              <a:ext cx="26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6286" name="Object 94"/>
            <p:cNvGraphicFramePr>
              <a:graphicFrameLocks noChangeAspect="1"/>
            </p:cNvGraphicFramePr>
            <p:nvPr/>
          </p:nvGraphicFramePr>
          <p:xfrm>
            <a:off x="1255" y="1670"/>
            <a:ext cx="240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26" name="Equation" r:id="rId35" imgW="190440" imgH="228600" progId="Equation.3">
                    <p:embed/>
                  </p:oleObj>
                </mc:Choice>
                <mc:Fallback>
                  <p:oleObj name="Equation" r:id="rId35" imgW="190440" imgH="228600" progId="Equation.3">
                    <p:embed/>
                    <p:pic>
                      <p:nvPicPr>
                        <p:cNvPr id="0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5" y="1670"/>
                          <a:ext cx="240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287" name="Line 95"/>
            <p:cNvSpPr>
              <a:spLocks noChangeShapeType="1"/>
            </p:cNvSpPr>
            <p:nvPr/>
          </p:nvSpPr>
          <p:spPr bwMode="auto">
            <a:xfrm>
              <a:off x="1270" y="2365"/>
              <a:ext cx="26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6288" name="Object 96"/>
            <p:cNvGraphicFramePr>
              <a:graphicFrameLocks noChangeAspect="1"/>
            </p:cNvGraphicFramePr>
            <p:nvPr/>
          </p:nvGraphicFramePr>
          <p:xfrm>
            <a:off x="1279" y="2070"/>
            <a:ext cx="24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27" name="Equation" r:id="rId37" imgW="190440" imgH="241200" progId="Equation.3">
                    <p:embed/>
                  </p:oleObj>
                </mc:Choice>
                <mc:Fallback>
                  <p:oleObj name="Equation" r:id="rId37" imgW="190440" imgH="241200" progId="Equation.3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9" y="2070"/>
                          <a:ext cx="240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290" name="Rectangle 98"/>
          <p:cNvSpPr>
            <a:spLocks noChangeArrowheads="1"/>
          </p:cNvSpPr>
          <p:nvPr/>
        </p:nvSpPr>
        <p:spPr bwMode="auto">
          <a:xfrm>
            <a:off x="6042025" y="3295650"/>
            <a:ext cx="224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取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相计算电路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6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6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3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43" grpId="0" build="p" autoUpdateAnimBg="0"/>
      <p:bldP spid="13629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235" name="Object 19"/>
          <p:cNvGraphicFramePr>
            <a:graphicFrameLocks noChangeAspect="1"/>
          </p:cNvGraphicFramePr>
          <p:nvPr/>
        </p:nvGraphicFramePr>
        <p:xfrm>
          <a:off x="1339850" y="612775"/>
          <a:ext cx="2817813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16" name="Equation" r:id="rId3" imgW="1409400" imgH="634680" progId="Equation.3">
                  <p:embed/>
                </p:oleObj>
              </mc:Choice>
              <mc:Fallback>
                <p:oleObj name="Equation" r:id="rId3" imgW="1409400" imgH="6346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612775"/>
                        <a:ext cx="2817813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6" name="Object 20"/>
          <p:cNvGraphicFramePr>
            <a:graphicFrameLocks noChangeAspect="1"/>
          </p:cNvGraphicFramePr>
          <p:nvPr/>
        </p:nvGraphicFramePr>
        <p:xfrm>
          <a:off x="1282700" y="2192338"/>
          <a:ext cx="71342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17" name="Equation" r:id="rId5" imgW="3568680" imgH="457200" progId="Equation.3">
                  <p:embed/>
                </p:oleObj>
              </mc:Choice>
              <mc:Fallback>
                <p:oleObj name="Equation" r:id="rId5" imgW="3568680" imgH="457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2192338"/>
                        <a:ext cx="71342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7" name="Object 21"/>
          <p:cNvGraphicFramePr>
            <a:graphicFrameLocks noChangeAspect="1"/>
          </p:cNvGraphicFramePr>
          <p:nvPr/>
        </p:nvGraphicFramePr>
        <p:xfrm>
          <a:off x="1263650" y="3040063"/>
          <a:ext cx="38338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18" name="Equation" r:id="rId7" imgW="1917360" imgH="457200" progId="Equation.3">
                  <p:embed/>
                </p:oleObj>
              </mc:Choice>
              <mc:Fallback>
                <p:oleObj name="Equation" r:id="rId7" imgW="1917360" imgH="457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3040063"/>
                        <a:ext cx="383381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8" name="Object 22"/>
          <p:cNvGraphicFramePr>
            <a:graphicFrameLocks noChangeAspect="1"/>
          </p:cNvGraphicFramePr>
          <p:nvPr/>
        </p:nvGraphicFramePr>
        <p:xfrm>
          <a:off x="1276350" y="4043363"/>
          <a:ext cx="3859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19" name="Equation" r:id="rId9" imgW="1930320" imgH="228600" progId="Equation.3">
                  <p:embed/>
                </p:oleObj>
              </mc:Choice>
              <mc:Fallback>
                <p:oleObj name="Equation" r:id="rId9" imgW="193032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4043363"/>
                        <a:ext cx="38592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39" name="Text Box 23"/>
          <p:cNvSpPr txBox="1">
            <a:spLocks noChangeArrowheads="1"/>
          </p:cNvSpPr>
          <p:nvPr/>
        </p:nvSpPr>
        <p:spPr bwMode="auto">
          <a:xfrm>
            <a:off x="666750" y="4743450"/>
            <a:ext cx="581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根据对称性，得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C</a:t>
            </a:r>
            <a:r>
              <a:rPr lang="zh-CN" altLang="en-US">
                <a:solidFill>
                  <a:schemeClr val="tx1"/>
                </a:solidFill>
              </a:rPr>
              <a:t>相的线电流、相电流</a:t>
            </a:r>
          </a:p>
        </p:txBody>
      </p:sp>
      <p:graphicFrame>
        <p:nvGraphicFramePr>
          <p:cNvPr id="137240" name="Object 24"/>
          <p:cNvGraphicFramePr>
            <a:graphicFrameLocks noChangeAspect="1"/>
          </p:cNvGraphicFramePr>
          <p:nvPr/>
        </p:nvGraphicFramePr>
        <p:xfrm>
          <a:off x="1390650" y="5213350"/>
          <a:ext cx="2768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20" name="Equation" r:id="rId11" imgW="1384200" imgH="482400" progId="Equation.3">
                  <p:embed/>
                </p:oleObj>
              </mc:Choice>
              <mc:Fallback>
                <p:oleObj name="Equation" r:id="rId11" imgW="1384200" imgH="4824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5213350"/>
                        <a:ext cx="2768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7277" name="Group 61"/>
          <p:cNvGrpSpPr>
            <a:grpSpLocks/>
          </p:cNvGrpSpPr>
          <p:nvPr/>
        </p:nvGrpSpPr>
        <p:grpSpPr bwMode="auto">
          <a:xfrm>
            <a:off x="5011738" y="236538"/>
            <a:ext cx="3716337" cy="1992312"/>
            <a:chOff x="3313" y="2141"/>
            <a:chExt cx="2341" cy="1255"/>
          </a:xfrm>
        </p:grpSpPr>
        <p:sp>
          <p:nvSpPr>
            <p:cNvPr id="137278" name="Oval 62"/>
            <p:cNvSpPr>
              <a:spLocks noChangeArrowheads="1"/>
            </p:cNvSpPr>
            <p:nvPr/>
          </p:nvSpPr>
          <p:spPr bwMode="auto">
            <a:xfrm>
              <a:off x="3313" y="2832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279" name="Rectangle 63"/>
            <p:cNvSpPr>
              <a:spLocks noChangeArrowheads="1"/>
            </p:cNvSpPr>
            <p:nvPr/>
          </p:nvSpPr>
          <p:spPr bwMode="auto">
            <a:xfrm>
              <a:off x="3449" y="2532"/>
              <a:ext cx="1824" cy="86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80" name="Line 64"/>
            <p:cNvSpPr>
              <a:spLocks noChangeShapeType="1"/>
            </p:cNvSpPr>
            <p:nvPr/>
          </p:nvSpPr>
          <p:spPr bwMode="auto">
            <a:xfrm>
              <a:off x="4377" y="2531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81" name="Text Box 65"/>
            <p:cNvSpPr txBox="1">
              <a:spLocks noChangeArrowheads="1"/>
            </p:cNvSpPr>
            <p:nvPr/>
          </p:nvSpPr>
          <p:spPr bwMode="auto">
            <a:xfrm>
              <a:off x="3437" y="261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137282" name="Text Box 66"/>
            <p:cNvSpPr txBox="1">
              <a:spLocks noChangeArrowheads="1"/>
            </p:cNvSpPr>
            <p:nvPr/>
          </p:nvSpPr>
          <p:spPr bwMode="auto">
            <a:xfrm>
              <a:off x="3450" y="298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137283" name="Text Box 67"/>
            <p:cNvSpPr txBox="1">
              <a:spLocks noChangeArrowheads="1"/>
            </p:cNvSpPr>
            <p:nvPr/>
          </p:nvSpPr>
          <p:spPr bwMode="auto">
            <a:xfrm>
              <a:off x="4435" y="2864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graphicFrame>
          <p:nvGraphicFramePr>
            <p:cNvPr id="137284" name="Object 68"/>
            <p:cNvGraphicFramePr>
              <a:graphicFrameLocks noChangeAspect="1"/>
            </p:cNvGraphicFramePr>
            <p:nvPr/>
          </p:nvGraphicFramePr>
          <p:xfrm>
            <a:off x="3616" y="2808"/>
            <a:ext cx="36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21" name="Equation" r:id="rId13" imgW="291960" imgH="241200" progId="Equation.3">
                    <p:embed/>
                  </p:oleObj>
                </mc:Choice>
                <mc:Fallback>
                  <p:oleObj name="Equation" r:id="rId13" imgW="291960" imgH="241200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6" y="2808"/>
                          <a:ext cx="36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85" name="Line 69"/>
            <p:cNvSpPr>
              <a:spLocks noChangeShapeType="1"/>
            </p:cNvSpPr>
            <p:nvPr/>
          </p:nvSpPr>
          <p:spPr bwMode="auto">
            <a:xfrm>
              <a:off x="4491" y="2571"/>
              <a:ext cx="0" cy="27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86" name="Line 70"/>
            <p:cNvSpPr>
              <a:spLocks noChangeShapeType="1"/>
            </p:cNvSpPr>
            <p:nvPr/>
          </p:nvSpPr>
          <p:spPr bwMode="auto">
            <a:xfrm>
              <a:off x="3944" y="2450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7287" name="Object 71"/>
            <p:cNvGraphicFramePr>
              <a:graphicFrameLocks noChangeAspect="1"/>
            </p:cNvGraphicFramePr>
            <p:nvPr/>
          </p:nvGraphicFramePr>
          <p:xfrm>
            <a:off x="3985" y="2161"/>
            <a:ext cx="240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22" name="Equation" r:id="rId15" imgW="190440" imgH="228600" progId="Equation.3">
                    <p:embed/>
                  </p:oleObj>
                </mc:Choice>
                <mc:Fallback>
                  <p:oleObj name="Equation" r:id="rId15" imgW="190440" imgH="228600" progId="Equation.3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5" y="2161"/>
                          <a:ext cx="240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88" name="Line 72"/>
            <p:cNvSpPr>
              <a:spLocks noChangeShapeType="1"/>
            </p:cNvSpPr>
            <p:nvPr/>
          </p:nvSpPr>
          <p:spPr bwMode="auto">
            <a:xfrm>
              <a:off x="4511" y="2451"/>
              <a:ext cx="27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7289" name="Object 73"/>
            <p:cNvGraphicFramePr>
              <a:graphicFrameLocks noChangeAspect="1"/>
            </p:cNvGraphicFramePr>
            <p:nvPr/>
          </p:nvGraphicFramePr>
          <p:xfrm>
            <a:off x="4511" y="2141"/>
            <a:ext cx="30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23" name="Equation" r:id="rId17" imgW="241200" imgH="228600" progId="Equation.3">
                    <p:embed/>
                  </p:oleObj>
                </mc:Choice>
                <mc:Fallback>
                  <p:oleObj name="Equation" r:id="rId17" imgW="241200" imgH="228600" progId="Equation.3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1" y="2141"/>
                          <a:ext cx="304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90" name="Rectangle 74"/>
            <p:cNvSpPr>
              <a:spLocks noChangeArrowheads="1"/>
            </p:cNvSpPr>
            <p:nvPr/>
          </p:nvSpPr>
          <p:spPr bwMode="auto">
            <a:xfrm>
              <a:off x="4319" y="2820"/>
              <a:ext cx="102" cy="29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91" name="Rectangle 75"/>
            <p:cNvSpPr>
              <a:spLocks noChangeArrowheads="1"/>
            </p:cNvSpPr>
            <p:nvPr/>
          </p:nvSpPr>
          <p:spPr bwMode="auto">
            <a:xfrm>
              <a:off x="5219" y="2826"/>
              <a:ext cx="102" cy="29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7292" name="Object 76"/>
            <p:cNvGraphicFramePr>
              <a:graphicFrameLocks noChangeAspect="1"/>
            </p:cNvGraphicFramePr>
            <p:nvPr/>
          </p:nvGraphicFramePr>
          <p:xfrm>
            <a:off x="5334" y="2722"/>
            <a:ext cx="320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24" name="公式" r:id="rId19" imgW="253800" imgH="406080" progId="Equation.3">
                    <p:embed/>
                  </p:oleObj>
                </mc:Choice>
                <mc:Fallback>
                  <p:oleObj name="公式" r:id="rId19" imgW="253800" imgH="406080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4" y="2722"/>
                          <a:ext cx="320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93" name="Object 77"/>
            <p:cNvGraphicFramePr>
              <a:graphicFrameLocks noChangeAspect="1"/>
            </p:cNvGraphicFramePr>
            <p:nvPr/>
          </p:nvGraphicFramePr>
          <p:xfrm>
            <a:off x="4509" y="2573"/>
            <a:ext cx="27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25" name="Equation" r:id="rId21" imgW="215640" imgH="228600" progId="Equation.3">
                    <p:embed/>
                  </p:oleObj>
                </mc:Choice>
                <mc:Fallback>
                  <p:oleObj name="Equation" r:id="rId21" imgW="215640" imgH="228600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9" y="2573"/>
                          <a:ext cx="27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3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3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3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3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3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3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1026"/>
          <p:cNvSpPr txBox="1">
            <a:spLocks noChangeArrowheads="1"/>
          </p:cNvSpPr>
          <p:nvPr/>
        </p:nvSpPr>
        <p:spPr bwMode="auto">
          <a:xfrm>
            <a:off x="314325" y="2586038"/>
            <a:ext cx="4694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由此可以画出相量图（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相为例）</a:t>
            </a:r>
          </a:p>
        </p:txBody>
      </p:sp>
      <p:graphicFrame>
        <p:nvGraphicFramePr>
          <p:cNvPr id="138243" name="Object 1027"/>
          <p:cNvGraphicFramePr>
            <a:graphicFrameLocks noChangeAspect="1"/>
          </p:cNvGraphicFramePr>
          <p:nvPr/>
        </p:nvGraphicFramePr>
        <p:xfrm>
          <a:off x="388938" y="336550"/>
          <a:ext cx="3325812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83" name="Equation" r:id="rId3" imgW="1587240" imgH="965160" progId="Equation.3">
                  <p:embed/>
                </p:oleObj>
              </mc:Choice>
              <mc:Fallback>
                <p:oleObj name="Equation" r:id="rId3" imgW="1587240" imgH="96516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336550"/>
                        <a:ext cx="3325812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4" name="AutoShape 1028"/>
          <p:cNvSpPr>
            <a:spLocks/>
          </p:cNvSpPr>
          <p:nvPr/>
        </p:nvSpPr>
        <p:spPr bwMode="auto">
          <a:xfrm>
            <a:off x="465138" y="819150"/>
            <a:ext cx="125412" cy="1447800"/>
          </a:xfrm>
          <a:prstGeom prst="leftBrace">
            <a:avLst>
              <a:gd name="adj1" fmla="val 9620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8282" name="Group 1066"/>
          <p:cNvGrpSpPr>
            <a:grpSpLocks/>
          </p:cNvGrpSpPr>
          <p:nvPr/>
        </p:nvGrpSpPr>
        <p:grpSpPr bwMode="auto">
          <a:xfrm>
            <a:off x="4362450" y="293688"/>
            <a:ext cx="4781550" cy="2327275"/>
            <a:chOff x="2748" y="185"/>
            <a:chExt cx="3012" cy="1466"/>
          </a:xfrm>
        </p:grpSpPr>
        <p:graphicFrame>
          <p:nvGraphicFramePr>
            <p:cNvPr id="138245" name="Object 1029"/>
            <p:cNvGraphicFramePr>
              <a:graphicFrameLocks noChangeAspect="1"/>
            </p:cNvGraphicFramePr>
            <p:nvPr/>
          </p:nvGraphicFramePr>
          <p:xfrm>
            <a:off x="2748" y="185"/>
            <a:ext cx="3012" cy="1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384" name="Equation" r:id="rId5" imgW="2400120" imgH="1168200" progId="Equation.3">
                    <p:embed/>
                  </p:oleObj>
                </mc:Choice>
                <mc:Fallback>
                  <p:oleObj name="Equation" r:id="rId5" imgW="2400120" imgH="1168200" progId="Equation.3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8" y="185"/>
                          <a:ext cx="3012" cy="1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46" name="AutoShape 1030"/>
            <p:cNvSpPr>
              <a:spLocks/>
            </p:cNvSpPr>
            <p:nvPr/>
          </p:nvSpPr>
          <p:spPr bwMode="auto">
            <a:xfrm>
              <a:off x="2909" y="607"/>
              <a:ext cx="79" cy="1032"/>
            </a:xfrm>
            <a:prstGeom prst="leftBrace">
              <a:avLst>
                <a:gd name="adj1" fmla="val 10886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8271" name="Group 1055"/>
          <p:cNvGrpSpPr>
            <a:grpSpLocks/>
          </p:cNvGrpSpPr>
          <p:nvPr/>
        </p:nvGrpSpPr>
        <p:grpSpPr bwMode="auto">
          <a:xfrm>
            <a:off x="3352800" y="4708525"/>
            <a:ext cx="1895475" cy="703263"/>
            <a:chOff x="2112" y="2966"/>
            <a:chExt cx="1194" cy="443"/>
          </a:xfrm>
        </p:grpSpPr>
        <p:sp>
          <p:nvSpPr>
            <p:cNvPr id="138251" name="Line 1035"/>
            <p:cNvSpPr>
              <a:spLocks noChangeShapeType="1"/>
            </p:cNvSpPr>
            <p:nvPr/>
          </p:nvSpPr>
          <p:spPr bwMode="auto">
            <a:xfrm>
              <a:off x="2112" y="2991"/>
              <a:ext cx="642" cy="248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256" name="Text Box 1040"/>
            <p:cNvSpPr txBox="1">
              <a:spLocks noChangeArrowheads="1"/>
            </p:cNvSpPr>
            <p:nvPr/>
          </p:nvSpPr>
          <p:spPr bwMode="auto">
            <a:xfrm>
              <a:off x="2694" y="2966"/>
              <a:ext cx="6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99FF"/>
                  </a:solidFill>
                </a:rPr>
                <a:t>–18.4</a:t>
              </a:r>
              <a:r>
                <a:rPr lang="en-US" altLang="zh-CN" baseline="50000">
                  <a:solidFill>
                    <a:srgbClr val="FF99FF"/>
                  </a:solidFill>
                </a:rPr>
                <a:t>o</a:t>
              </a:r>
              <a:endParaRPr lang="en-US" altLang="zh-CN">
                <a:solidFill>
                  <a:srgbClr val="FF99FF"/>
                </a:solidFill>
              </a:endParaRPr>
            </a:p>
          </p:txBody>
        </p:sp>
        <p:graphicFrame>
          <p:nvGraphicFramePr>
            <p:cNvPr id="138257" name="Object 1041"/>
            <p:cNvGraphicFramePr>
              <a:graphicFrameLocks noChangeAspect="1"/>
            </p:cNvGraphicFramePr>
            <p:nvPr/>
          </p:nvGraphicFramePr>
          <p:xfrm>
            <a:off x="2734" y="3121"/>
            <a:ext cx="23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385" name="Equation" r:id="rId7" imgW="190440" imgH="228600" progId="Equation.3">
                    <p:embed/>
                  </p:oleObj>
                </mc:Choice>
                <mc:Fallback>
                  <p:oleObj name="Equation" r:id="rId7" imgW="190440" imgH="228600" progId="Equation.3">
                    <p:embed/>
                    <p:pic>
                      <p:nvPicPr>
                        <p:cNvPr id="0" name="Object 10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4" y="3121"/>
                          <a:ext cx="23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1" name="Arc 1045"/>
            <p:cNvSpPr>
              <a:spLocks/>
            </p:cNvSpPr>
            <p:nvPr/>
          </p:nvSpPr>
          <p:spPr bwMode="auto">
            <a:xfrm rot="1420729">
              <a:off x="2598" y="2987"/>
              <a:ext cx="27" cy="195"/>
            </a:xfrm>
            <a:custGeom>
              <a:avLst/>
              <a:gdLst>
                <a:gd name="G0" fmla="+- 7968 0 0"/>
                <a:gd name="G1" fmla="+- 21600 0 0"/>
                <a:gd name="G2" fmla="+- 21600 0 0"/>
                <a:gd name="T0" fmla="*/ 0 w 29568"/>
                <a:gd name="T1" fmla="*/ 1523 h 39807"/>
                <a:gd name="T2" fmla="*/ 19590 w 29568"/>
                <a:gd name="T3" fmla="*/ 39807 h 39807"/>
                <a:gd name="T4" fmla="*/ 7968 w 29568"/>
                <a:gd name="T5" fmla="*/ 21600 h 39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568" h="39807" fill="none" extrusionOk="0">
                  <a:moveTo>
                    <a:pt x="0" y="1523"/>
                  </a:moveTo>
                  <a:cubicBezTo>
                    <a:pt x="2536" y="516"/>
                    <a:pt x="5239" y="0"/>
                    <a:pt x="7968" y="0"/>
                  </a:cubicBezTo>
                  <a:cubicBezTo>
                    <a:pt x="19897" y="0"/>
                    <a:pt x="29568" y="9670"/>
                    <a:pt x="29568" y="21600"/>
                  </a:cubicBezTo>
                  <a:cubicBezTo>
                    <a:pt x="29568" y="28974"/>
                    <a:pt x="25805" y="35839"/>
                    <a:pt x="19589" y="39806"/>
                  </a:cubicBezTo>
                </a:path>
                <a:path w="29568" h="39807" stroke="0" extrusionOk="0">
                  <a:moveTo>
                    <a:pt x="0" y="1523"/>
                  </a:moveTo>
                  <a:cubicBezTo>
                    <a:pt x="2536" y="516"/>
                    <a:pt x="5239" y="0"/>
                    <a:pt x="7968" y="0"/>
                  </a:cubicBezTo>
                  <a:cubicBezTo>
                    <a:pt x="19897" y="0"/>
                    <a:pt x="29568" y="9670"/>
                    <a:pt x="29568" y="21600"/>
                  </a:cubicBezTo>
                  <a:cubicBezTo>
                    <a:pt x="29568" y="28974"/>
                    <a:pt x="25805" y="35839"/>
                    <a:pt x="19589" y="39806"/>
                  </a:cubicBezTo>
                  <a:lnTo>
                    <a:pt x="7968" y="21600"/>
                  </a:lnTo>
                  <a:close/>
                </a:path>
              </a:pathLst>
            </a:custGeom>
            <a:noFill/>
            <a:ln w="19050">
              <a:solidFill>
                <a:srgbClr val="FF99FF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8272" name="Group 1056"/>
          <p:cNvGrpSpPr>
            <a:grpSpLocks/>
          </p:cNvGrpSpPr>
          <p:nvPr/>
        </p:nvGrpSpPr>
        <p:grpSpPr bwMode="auto">
          <a:xfrm>
            <a:off x="3371850" y="4691063"/>
            <a:ext cx="1397000" cy="1652587"/>
            <a:chOff x="2124" y="2955"/>
            <a:chExt cx="880" cy="1041"/>
          </a:xfrm>
        </p:grpSpPr>
        <p:sp>
          <p:nvSpPr>
            <p:cNvPr id="138252" name="Line 1036"/>
            <p:cNvSpPr>
              <a:spLocks noChangeShapeType="1"/>
            </p:cNvSpPr>
            <p:nvPr/>
          </p:nvSpPr>
          <p:spPr bwMode="auto">
            <a:xfrm rot="21420000">
              <a:off x="2124" y="2955"/>
              <a:ext cx="630" cy="102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255" name="Text Box 1039"/>
            <p:cNvSpPr txBox="1">
              <a:spLocks noChangeArrowheads="1"/>
            </p:cNvSpPr>
            <p:nvPr/>
          </p:nvSpPr>
          <p:spPr bwMode="auto">
            <a:xfrm rot="1868746">
              <a:off x="2320" y="3232"/>
              <a:ext cx="6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–53.1</a:t>
              </a:r>
              <a:r>
                <a:rPr lang="en-US" altLang="zh-CN" baseline="50000"/>
                <a:t>o</a:t>
              </a:r>
              <a:endParaRPr lang="en-US" altLang="zh-CN"/>
            </a:p>
          </p:txBody>
        </p:sp>
        <p:graphicFrame>
          <p:nvGraphicFramePr>
            <p:cNvPr id="138258" name="Object 1042"/>
            <p:cNvGraphicFramePr>
              <a:graphicFrameLocks noChangeAspect="1"/>
            </p:cNvGraphicFramePr>
            <p:nvPr/>
          </p:nvGraphicFramePr>
          <p:xfrm>
            <a:off x="2766" y="3708"/>
            <a:ext cx="23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386" name="Equation" r:id="rId9" imgW="190440" imgH="228600" progId="Equation.3">
                    <p:embed/>
                  </p:oleObj>
                </mc:Choice>
                <mc:Fallback>
                  <p:oleObj name="Equation" r:id="rId9" imgW="190440" imgH="228600" progId="Equation.3">
                    <p:embed/>
                    <p:pic>
                      <p:nvPicPr>
                        <p:cNvPr id="0" name="Object 1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6" y="3708"/>
                          <a:ext cx="23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2" name="Arc 1046"/>
            <p:cNvSpPr>
              <a:spLocks/>
            </p:cNvSpPr>
            <p:nvPr/>
          </p:nvSpPr>
          <p:spPr bwMode="auto">
            <a:xfrm rot="1840410">
              <a:off x="2272" y="2961"/>
              <a:ext cx="122" cy="315"/>
            </a:xfrm>
            <a:custGeom>
              <a:avLst/>
              <a:gdLst>
                <a:gd name="G0" fmla="+- 0 0 0"/>
                <a:gd name="G1" fmla="+- 15781 0 0"/>
                <a:gd name="G2" fmla="+- 21600 0 0"/>
                <a:gd name="T0" fmla="*/ 14748 w 21600"/>
                <a:gd name="T1" fmla="*/ 0 h 31810"/>
                <a:gd name="T2" fmla="*/ 14478 w 21600"/>
                <a:gd name="T3" fmla="*/ 31810 h 31810"/>
                <a:gd name="T4" fmla="*/ 0 w 21600"/>
                <a:gd name="T5" fmla="*/ 15781 h 31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1810" fill="none" extrusionOk="0">
                  <a:moveTo>
                    <a:pt x="14748" y="-1"/>
                  </a:moveTo>
                  <a:cubicBezTo>
                    <a:pt x="19119" y="4084"/>
                    <a:pt x="21600" y="9798"/>
                    <a:pt x="21600" y="15781"/>
                  </a:cubicBezTo>
                  <a:cubicBezTo>
                    <a:pt x="21600" y="21890"/>
                    <a:pt x="19012" y="27714"/>
                    <a:pt x="14478" y="31810"/>
                  </a:cubicBezTo>
                </a:path>
                <a:path w="21600" h="31810" stroke="0" extrusionOk="0">
                  <a:moveTo>
                    <a:pt x="14748" y="-1"/>
                  </a:moveTo>
                  <a:cubicBezTo>
                    <a:pt x="19119" y="4084"/>
                    <a:pt x="21600" y="9798"/>
                    <a:pt x="21600" y="15781"/>
                  </a:cubicBezTo>
                  <a:cubicBezTo>
                    <a:pt x="21600" y="21890"/>
                    <a:pt x="19012" y="27714"/>
                    <a:pt x="14478" y="31810"/>
                  </a:cubicBezTo>
                  <a:lnTo>
                    <a:pt x="0" y="15781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8270" name="Group 1054"/>
          <p:cNvGrpSpPr>
            <a:grpSpLocks/>
          </p:cNvGrpSpPr>
          <p:nvPr/>
        </p:nvGrpSpPr>
        <p:grpSpPr bwMode="auto">
          <a:xfrm>
            <a:off x="3352800" y="3178175"/>
            <a:ext cx="3140075" cy="1581150"/>
            <a:chOff x="2112" y="2002"/>
            <a:chExt cx="1978" cy="996"/>
          </a:xfrm>
        </p:grpSpPr>
        <p:sp>
          <p:nvSpPr>
            <p:cNvPr id="138248" name="Line 1032"/>
            <p:cNvSpPr>
              <a:spLocks noChangeShapeType="1"/>
            </p:cNvSpPr>
            <p:nvPr/>
          </p:nvSpPr>
          <p:spPr bwMode="auto">
            <a:xfrm>
              <a:off x="2112" y="2991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250" name="Line 1034"/>
            <p:cNvSpPr>
              <a:spLocks noChangeShapeType="1"/>
            </p:cNvSpPr>
            <p:nvPr/>
          </p:nvSpPr>
          <p:spPr bwMode="auto">
            <a:xfrm flipV="1">
              <a:off x="2112" y="2031"/>
              <a:ext cx="1679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254" name="Text Box 1038"/>
            <p:cNvSpPr txBox="1">
              <a:spLocks noChangeArrowheads="1"/>
            </p:cNvSpPr>
            <p:nvPr/>
          </p:nvSpPr>
          <p:spPr bwMode="auto">
            <a:xfrm>
              <a:off x="2544" y="2703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30</a:t>
              </a:r>
              <a:r>
                <a:rPr lang="en-US" altLang="zh-CN" baseline="50000">
                  <a:solidFill>
                    <a:schemeClr val="tx1"/>
                  </a:solidFill>
                </a:rPr>
                <a:t>o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8260" name="Arc 1044"/>
            <p:cNvSpPr>
              <a:spLocks/>
            </p:cNvSpPr>
            <p:nvPr/>
          </p:nvSpPr>
          <p:spPr bwMode="auto">
            <a:xfrm rot="20179271" flipV="1">
              <a:off x="2455" y="2740"/>
              <a:ext cx="133" cy="258"/>
            </a:xfrm>
            <a:custGeom>
              <a:avLst/>
              <a:gdLst>
                <a:gd name="G0" fmla="+- 0 0 0"/>
                <a:gd name="G1" fmla="+- 18765 0 0"/>
                <a:gd name="G2" fmla="+- 21600 0 0"/>
                <a:gd name="T0" fmla="*/ 10697 w 21600"/>
                <a:gd name="T1" fmla="*/ 0 h 20109"/>
                <a:gd name="T2" fmla="*/ 21558 w 21600"/>
                <a:gd name="T3" fmla="*/ 20109 h 20109"/>
                <a:gd name="T4" fmla="*/ 0 w 21600"/>
                <a:gd name="T5" fmla="*/ 18765 h 20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109" fill="none" extrusionOk="0">
                  <a:moveTo>
                    <a:pt x="10697" y="-1"/>
                  </a:moveTo>
                  <a:cubicBezTo>
                    <a:pt x="17438" y="3842"/>
                    <a:pt x="21600" y="11005"/>
                    <a:pt x="21600" y="18765"/>
                  </a:cubicBezTo>
                  <a:cubicBezTo>
                    <a:pt x="21600" y="19213"/>
                    <a:pt x="21586" y="19661"/>
                    <a:pt x="21558" y="20109"/>
                  </a:cubicBezTo>
                </a:path>
                <a:path w="21600" h="20109" stroke="0" extrusionOk="0">
                  <a:moveTo>
                    <a:pt x="10697" y="-1"/>
                  </a:moveTo>
                  <a:cubicBezTo>
                    <a:pt x="17438" y="3842"/>
                    <a:pt x="21600" y="11005"/>
                    <a:pt x="21600" y="18765"/>
                  </a:cubicBezTo>
                  <a:cubicBezTo>
                    <a:pt x="21600" y="19213"/>
                    <a:pt x="21586" y="19661"/>
                    <a:pt x="21558" y="20109"/>
                  </a:cubicBezTo>
                  <a:lnTo>
                    <a:pt x="0" y="18765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8264" name="Object 1048"/>
            <p:cNvGraphicFramePr>
              <a:graphicFrameLocks noChangeAspect="1"/>
            </p:cNvGraphicFramePr>
            <p:nvPr/>
          </p:nvGraphicFramePr>
          <p:xfrm>
            <a:off x="3724" y="2002"/>
            <a:ext cx="36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387" name="Equation" r:id="rId11" imgW="291960" imgH="228600" progId="Equation.3">
                    <p:embed/>
                  </p:oleObj>
                </mc:Choice>
                <mc:Fallback>
                  <p:oleObj name="Equation" r:id="rId11" imgW="291960" imgH="228600" progId="Equation.3">
                    <p:embed/>
                    <p:pic>
                      <p:nvPicPr>
                        <p:cNvPr id="0" name="Object 10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4" y="2002"/>
                          <a:ext cx="36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65" name="Object 1049"/>
            <p:cNvGraphicFramePr>
              <a:graphicFrameLocks noChangeAspect="1"/>
            </p:cNvGraphicFramePr>
            <p:nvPr/>
          </p:nvGraphicFramePr>
          <p:xfrm>
            <a:off x="3119" y="2645"/>
            <a:ext cx="36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388" name="Equation" r:id="rId13" imgW="291960" imgH="241200" progId="Equation.3">
                    <p:embed/>
                  </p:oleObj>
                </mc:Choice>
                <mc:Fallback>
                  <p:oleObj name="Equation" r:id="rId13" imgW="291960" imgH="241200" progId="Equation.3">
                    <p:embed/>
                    <p:pic>
                      <p:nvPicPr>
                        <p:cNvPr id="0" name="Object 10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9" y="2645"/>
                          <a:ext cx="36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276" name="Group 1060"/>
          <p:cNvGrpSpPr>
            <a:grpSpLocks/>
          </p:cNvGrpSpPr>
          <p:nvPr/>
        </p:nvGrpSpPr>
        <p:grpSpPr bwMode="auto">
          <a:xfrm>
            <a:off x="2374900" y="3741738"/>
            <a:ext cx="1168400" cy="1006475"/>
            <a:chOff x="1496" y="2357"/>
            <a:chExt cx="736" cy="634"/>
          </a:xfrm>
        </p:grpSpPr>
        <p:sp>
          <p:nvSpPr>
            <p:cNvPr id="138253" name="Line 1037"/>
            <p:cNvSpPr>
              <a:spLocks noChangeShapeType="1"/>
            </p:cNvSpPr>
            <p:nvPr/>
          </p:nvSpPr>
          <p:spPr bwMode="auto">
            <a:xfrm flipH="1" flipV="1">
              <a:off x="1878" y="2621"/>
              <a:ext cx="234" cy="37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8263" name="Object 1047"/>
            <p:cNvGraphicFramePr>
              <a:graphicFrameLocks noChangeAspect="1"/>
            </p:cNvGraphicFramePr>
            <p:nvPr/>
          </p:nvGraphicFramePr>
          <p:xfrm>
            <a:off x="1496" y="2357"/>
            <a:ext cx="36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389" name="Equation" r:id="rId15" imgW="291960" imgH="228600" progId="Equation.3">
                    <p:embed/>
                  </p:oleObj>
                </mc:Choice>
                <mc:Fallback>
                  <p:oleObj name="Equation" r:id="rId15" imgW="291960" imgH="228600" progId="Equation.3">
                    <p:embed/>
                    <p:pic>
                      <p:nvPicPr>
                        <p:cNvPr id="0" name="Object 10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6" y="2357"/>
                          <a:ext cx="36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74" name="Line 1058"/>
            <p:cNvSpPr>
              <a:spLocks noChangeShapeType="1"/>
            </p:cNvSpPr>
            <p:nvPr/>
          </p:nvSpPr>
          <p:spPr bwMode="auto">
            <a:xfrm flipV="1">
              <a:off x="2058" y="2826"/>
              <a:ext cx="114" cy="7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75" name="Line 1059"/>
            <p:cNvSpPr>
              <a:spLocks noChangeShapeType="1"/>
            </p:cNvSpPr>
            <p:nvPr/>
          </p:nvSpPr>
          <p:spPr bwMode="auto">
            <a:xfrm>
              <a:off x="2172" y="2826"/>
              <a:ext cx="60" cy="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8281" name="Group 1065"/>
          <p:cNvGrpSpPr>
            <a:grpSpLocks/>
          </p:cNvGrpSpPr>
          <p:nvPr/>
        </p:nvGrpSpPr>
        <p:grpSpPr bwMode="auto">
          <a:xfrm>
            <a:off x="3255963" y="3182938"/>
            <a:ext cx="379412" cy="1589087"/>
            <a:chOff x="2051" y="2005"/>
            <a:chExt cx="239" cy="1001"/>
          </a:xfrm>
        </p:grpSpPr>
        <p:sp>
          <p:nvSpPr>
            <p:cNvPr id="138249" name="Line 1033"/>
            <p:cNvSpPr>
              <a:spLocks noChangeShapeType="1"/>
            </p:cNvSpPr>
            <p:nvPr/>
          </p:nvSpPr>
          <p:spPr bwMode="auto">
            <a:xfrm flipV="1">
              <a:off x="2124" y="2319"/>
              <a:ext cx="0" cy="6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8259" name="Object 1043"/>
            <p:cNvGraphicFramePr>
              <a:graphicFrameLocks noChangeAspect="1"/>
            </p:cNvGraphicFramePr>
            <p:nvPr/>
          </p:nvGraphicFramePr>
          <p:xfrm>
            <a:off x="2051" y="2005"/>
            <a:ext cx="23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390" name="Equation" r:id="rId17" imgW="190440" imgH="228600" progId="Equation.3">
                    <p:embed/>
                  </p:oleObj>
                </mc:Choice>
                <mc:Fallback>
                  <p:oleObj name="Equation" r:id="rId17" imgW="190440" imgH="228600" progId="Equation.3">
                    <p:embed/>
                    <p:pic>
                      <p:nvPicPr>
                        <p:cNvPr id="0" name="Object 1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" y="2005"/>
                          <a:ext cx="23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79" name="Line 1063"/>
            <p:cNvSpPr>
              <a:spLocks noChangeShapeType="1"/>
            </p:cNvSpPr>
            <p:nvPr/>
          </p:nvSpPr>
          <p:spPr bwMode="auto">
            <a:xfrm>
              <a:off x="2130" y="2880"/>
              <a:ext cx="96" cy="6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80" name="Line 1064"/>
            <p:cNvSpPr>
              <a:spLocks noChangeShapeType="1"/>
            </p:cNvSpPr>
            <p:nvPr/>
          </p:nvSpPr>
          <p:spPr bwMode="auto">
            <a:xfrm>
              <a:off x="2226" y="2886"/>
              <a:ext cx="0" cy="12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8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133600" y="1697038"/>
            <a:ext cx="5468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电源不对称，程度小（由系统保证） 。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2152650" y="2230438"/>
            <a:ext cx="505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电路参数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负载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不对称，情况很多 。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876300" y="2857500"/>
            <a:ext cx="7231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讨论对象：电源对称，负载不对称（低压电力网）。</a:t>
            </a:r>
          </a:p>
        </p:txBody>
      </p:sp>
      <p:grpSp>
        <p:nvGrpSpPr>
          <p:cNvPr id="37906" name="Group 18"/>
          <p:cNvGrpSpPr>
            <a:grpSpLocks/>
          </p:cNvGrpSpPr>
          <p:nvPr/>
        </p:nvGrpSpPr>
        <p:grpSpPr bwMode="auto">
          <a:xfrm>
            <a:off x="857250" y="1828800"/>
            <a:ext cx="1219200" cy="685800"/>
            <a:chOff x="540" y="1152"/>
            <a:chExt cx="768" cy="432"/>
          </a:xfrm>
        </p:grpSpPr>
        <p:sp>
          <p:nvSpPr>
            <p:cNvPr id="37897" name="Rectangle 9"/>
            <p:cNvSpPr>
              <a:spLocks noChangeArrowheads="1"/>
            </p:cNvSpPr>
            <p:nvPr/>
          </p:nvSpPr>
          <p:spPr bwMode="auto">
            <a:xfrm>
              <a:off x="540" y="1224"/>
              <a:ext cx="6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不对称</a:t>
              </a:r>
            </a:p>
          </p:txBody>
        </p:sp>
        <p:sp>
          <p:nvSpPr>
            <p:cNvPr id="37898" name="AutoShape 10"/>
            <p:cNvSpPr>
              <a:spLocks/>
            </p:cNvSpPr>
            <p:nvPr/>
          </p:nvSpPr>
          <p:spPr bwMode="auto">
            <a:xfrm>
              <a:off x="1212" y="1152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2590800" y="4229100"/>
            <a:ext cx="3248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复杂交流电路分析方法</a:t>
            </a: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2571750" y="3581400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不能分相</a:t>
            </a:r>
          </a:p>
        </p:txBody>
      </p:sp>
      <p:grpSp>
        <p:nvGrpSpPr>
          <p:cNvPr id="37907" name="Group 19"/>
          <p:cNvGrpSpPr>
            <a:grpSpLocks/>
          </p:cNvGrpSpPr>
          <p:nvPr/>
        </p:nvGrpSpPr>
        <p:grpSpPr bwMode="auto">
          <a:xfrm>
            <a:off x="971550" y="3771900"/>
            <a:ext cx="1619250" cy="762000"/>
            <a:chOff x="612" y="2376"/>
            <a:chExt cx="1020" cy="480"/>
          </a:xfrm>
        </p:grpSpPr>
        <p:sp>
          <p:nvSpPr>
            <p:cNvPr id="37894" name="Text Box 6"/>
            <p:cNvSpPr txBox="1">
              <a:spLocks noChangeArrowheads="1"/>
            </p:cNvSpPr>
            <p:nvPr/>
          </p:nvSpPr>
          <p:spPr bwMode="auto">
            <a:xfrm>
              <a:off x="612" y="2460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分析方法</a:t>
              </a:r>
            </a:p>
          </p:txBody>
        </p:sp>
        <p:sp>
          <p:nvSpPr>
            <p:cNvPr id="37901" name="AutoShape 13"/>
            <p:cNvSpPr>
              <a:spLocks/>
            </p:cNvSpPr>
            <p:nvPr/>
          </p:nvSpPr>
          <p:spPr bwMode="auto">
            <a:xfrm>
              <a:off x="1536" y="2376"/>
              <a:ext cx="96" cy="4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876300" y="4973638"/>
            <a:ext cx="5868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主要了解：中性点（</a:t>
            </a:r>
            <a:r>
              <a:rPr lang="en-US" altLang="zh-CN">
                <a:solidFill>
                  <a:schemeClr val="tx1"/>
                </a:solidFill>
              </a:rPr>
              <a:t>neutral point</a:t>
            </a:r>
            <a:r>
              <a:rPr lang="zh-CN" altLang="en-US">
                <a:solidFill>
                  <a:schemeClr val="tx1"/>
                </a:solidFill>
              </a:rPr>
              <a:t>）位移。</a:t>
            </a:r>
          </a:p>
        </p:txBody>
      </p:sp>
      <p:sp>
        <p:nvSpPr>
          <p:cNvPr id="37903" name="Text Box 15"/>
          <p:cNvSpPr txBox="1">
            <a:spLocks noChangeArrowheads="1"/>
          </p:cNvSpPr>
          <p:nvPr/>
        </p:nvSpPr>
        <p:spPr bwMode="auto">
          <a:xfrm>
            <a:off x="2514600" y="465138"/>
            <a:ext cx="3836430" cy="528638"/>
          </a:xfrm>
          <a:prstGeom prst="rect">
            <a:avLst/>
          </a:prstGeom>
          <a:noFill/>
          <a:ln w="9525" algn="ctr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_GB2312"/>
                <a:cs typeface="楷体_GB2312"/>
              </a:rPr>
              <a:t>12.4 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_GB2312"/>
                <a:cs typeface="楷体_GB2312"/>
              </a:rPr>
              <a:t>不对称三相电路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utoUpdateAnimBg="0"/>
      <p:bldP spid="37892" grpId="0" autoUpdateAnimBg="0"/>
      <p:bldP spid="37893" grpId="0" autoUpdateAnimBg="0"/>
      <p:bldP spid="37899" grpId="0" autoUpdateAnimBg="0"/>
      <p:bldP spid="37900" grpId="0" autoUpdateAnimBg="0"/>
      <p:bldP spid="37902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108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449607"/>
              </p:ext>
            </p:extLst>
          </p:nvPr>
        </p:nvGraphicFramePr>
        <p:xfrm>
          <a:off x="2101851" y="4276252"/>
          <a:ext cx="66563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2" name="Equation" r:id="rId3" imgW="3225600" imgH="241200" progId="Equation.DSMT4">
                  <p:embed/>
                </p:oleObj>
              </mc:Choice>
              <mc:Fallback>
                <p:oleObj name="Equation" r:id="rId3" imgW="3225600" imgH="241200" progId="Equation.DSMT4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1" y="4276252"/>
                        <a:ext cx="6656387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14" name="Line 82"/>
          <p:cNvSpPr>
            <a:spLocks noChangeShapeType="1"/>
          </p:cNvSpPr>
          <p:nvPr/>
        </p:nvSpPr>
        <p:spPr bwMode="auto">
          <a:xfrm>
            <a:off x="5129213" y="636588"/>
            <a:ext cx="274637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4146" name="Rectangle 114"/>
          <p:cNvSpPr>
            <a:spLocks noChangeArrowheads="1"/>
          </p:cNvSpPr>
          <p:nvPr/>
        </p:nvSpPr>
        <p:spPr bwMode="auto">
          <a:xfrm>
            <a:off x="863601" y="3573290"/>
            <a:ext cx="3619500" cy="457200"/>
          </a:xfrm>
          <a:prstGeom prst="rect">
            <a:avLst/>
          </a:prstGeom>
          <a:solidFill>
            <a:srgbClr val="00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(1)  S</a:t>
            </a:r>
            <a:r>
              <a:rPr lang="zh-CN" altLang="en-US" dirty="0">
                <a:solidFill>
                  <a:schemeClr val="tx1"/>
                </a:solidFill>
              </a:rPr>
              <a:t>打开（无中线情况）</a:t>
            </a:r>
          </a:p>
        </p:txBody>
      </p:sp>
      <p:grpSp>
        <p:nvGrpSpPr>
          <p:cNvPr id="44174" name="Group 142"/>
          <p:cNvGrpSpPr>
            <a:grpSpLocks/>
          </p:cNvGrpSpPr>
          <p:nvPr/>
        </p:nvGrpSpPr>
        <p:grpSpPr bwMode="auto">
          <a:xfrm>
            <a:off x="1023938" y="247650"/>
            <a:ext cx="5889625" cy="3365500"/>
            <a:chOff x="645" y="156"/>
            <a:chExt cx="3710" cy="2120"/>
          </a:xfrm>
        </p:grpSpPr>
        <p:grpSp>
          <p:nvGrpSpPr>
            <p:cNvPr id="44171" name="Group 139"/>
            <p:cNvGrpSpPr>
              <a:grpSpLocks/>
            </p:cNvGrpSpPr>
            <p:nvPr/>
          </p:nvGrpSpPr>
          <p:grpSpPr bwMode="auto">
            <a:xfrm>
              <a:off x="774" y="156"/>
              <a:ext cx="3581" cy="1592"/>
              <a:chOff x="654" y="0"/>
              <a:chExt cx="3581" cy="1592"/>
            </a:xfrm>
          </p:grpSpPr>
          <p:sp>
            <p:nvSpPr>
              <p:cNvPr id="44037" name="Oval 5"/>
              <p:cNvSpPr>
                <a:spLocks noChangeArrowheads="1"/>
              </p:cNvSpPr>
              <p:nvPr/>
            </p:nvSpPr>
            <p:spPr bwMode="auto">
              <a:xfrm>
                <a:off x="955" y="872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38" name="Oval 6"/>
              <p:cNvSpPr>
                <a:spLocks noChangeArrowheads="1"/>
              </p:cNvSpPr>
              <p:nvPr/>
            </p:nvSpPr>
            <p:spPr bwMode="auto">
              <a:xfrm>
                <a:off x="1471" y="884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39" name="Oval 7"/>
              <p:cNvSpPr>
                <a:spLocks noChangeArrowheads="1"/>
              </p:cNvSpPr>
              <p:nvPr/>
            </p:nvSpPr>
            <p:spPr bwMode="auto">
              <a:xfrm>
                <a:off x="1204" y="344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40" name="Line 8"/>
              <p:cNvSpPr>
                <a:spLocks noChangeShapeType="1"/>
              </p:cNvSpPr>
              <p:nvPr/>
            </p:nvSpPr>
            <p:spPr bwMode="auto">
              <a:xfrm>
                <a:off x="1351" y="248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sm" len="sm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41" name="Line 9"/>
              <p:cNvSpPr>
                <a:spLocks noChangeShapeType="1"/>
              </p:cNvSpPr>
              <p:nvPr/>
            </p:nvSpPr>
            <p:spPr bwMode="auto">
              <a:xfrm>
                <a:off x="1351" y="824"/>
                <a:ext cx="432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sm" len="sm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42" name="Line 10"/>
              <p:cNvSpPr>
                <a:spLocks noChangeShapeType="1"/>
              </p:cNvSpPr>
              <p:nvPr/>
            </p:nvSpPr>
            <p:spPr bwMode="auto">
              <a:xfrm flipH="1">
                <a:off x="919" y="824"/>
                <a:ext cx="432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sm" len="sm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43" name="Text Box 11"/>
              <p:cNvSpPr txBox="1">
                <a:spLocks noChangeArrowheads="1"/>
              </p:cNvSpPr>
              <p:nvPr/>
            </p:nvSpPr>
            <p:spPr bwMode="auto">
              <a:xfrm>
                <a:off x="1135" y="140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44044" name="Text Box 12"/>
              <p:cNvSpPr txBox="1">
                <a:spLocks noChangeArrowheads="1"/>
              </p:cNvSpPr>
              <p:nvPr/>
            </p:nvSpPr>
            <p:spPr bwMode="auto">
              <a:xfrm>
                <a:off x="1130" y="4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_</a:t>
                </a:r>
              </a:p>
            </p:txBody>
          </p:sp>
          <p:sp>
            <p:nvSpPr>
              <p:cNvPr id="44045" name="Line 13"/>
              <p:cNvSpPr>
                <a:spLocks noChangeShapeType="1"/>
              </p:cNvSpPr>
              <p:nvPr/>
            </p:nvSpPr>
            <p:spPr bwMode="auto">
              <a:xfrm>
                <a:off x="1783" y="1160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46" name="Line 14"/>
              <p:cNvSpPr>
                <a:spLocks noChangeShapeType="1"/>
              </p:cNvSpPr>
              <p:nvPr/>
            </p:nvSpPr>
            <p:spPr bwMode="auto">
              <a:xfrm>
                <a:off x="919" y="11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47" name="Line 15"/>
              <p:cNvSpPr>
                <a:spLocks noChangeShapeType="1"/>
              </p:cNvSpPr>
              <p:nvPr/>
            </p:nvSpPr>
            <p:spPr bwMode="auto">
              <a:xfrm flipV="1">
                <a:off x="1351" y="824"/>
                <a:ext cx="10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48" name="Line 16"/>
              <p:cNvSpPr>
                <a:spLocks noChangeShapeType="1"/>
              </p:cNvSpPr>
              <p:nvPr/>
            </p:nvSpPr>
            <p:spPr bwMode="auto">
              <a:xfrm>
                <a:off x="3655" y="248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49" name="Line 17"/>
              <p:cNvSpPr>
                <a:spLocks noChangeShapeType="1"/>
              </p:cNvSpPr>
              <p:nvPr/>
            </p:nvSpPr>
            <p:spPr bwMode="auto">
              <a:xfrm>
                <a:off x="3655" y="824"/>
                <a:ext cx="432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0" name="Line 18"/>
              <p:cNvSpPr>
                <a:spLocks noChangeShapeType="1"/>
              </p:cNvSpPr>
              <p:nvPr/>
            </p:nvSpPr>
            <p:spPr bwMode="auto">
              <a:xfrm flipH="1">
                <a:off x="3223" y="824"/>
                <a:ext cx="432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1" name="Line 19"/>
              <p:cNvSpPr>
                <a:spLocks noChangeShapeType="1"/>
              </p:cNvSpPr>
              <p:nvPr/>
            </p:nvSpPr>
            <p:spPr bwMode="auto">
              <a:xfrm>
                <a:off x="3223" y="11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2" name="Line 20"/>
              <p:cNvSpPr>
                <a:spLocks noChangeShapeType="1"/>
              </p:cNvSpPr>
              <p:nvPr/>
            </p:nvSpPr>
            <p:spPr bwMode="auto">
              <a:xfrm>
                <a:off x="1783" y="1304"/>
                <a:ext cx="23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3" name="Line 21"/>
              <p:cNvSpPr>
                <a:spLocks noChangeShapeType="1"/>
              </p:cNvSpPr>
              <p:nvPr/>
            </p:nvSpPr>
            <p:spPr bwMode="auto">
              <a:xfrm>
                <a:off x="4087" y="1160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4" name="Line 22"/>
              <p:cNvSpPr>
                <a:spLocks noChangeShapeType="1"/>
              </p:cNvSpPr>
              <p:nvPr/>
            </p:nvSpPr>
            <p:spPr bwMode="auto">
              <a:xfrm>
                <a:off x="919" y="1592"/>
                <a:ext cx="23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5" name="Line 23"/>
              <p:cNvSpPr>
                <a:spLocks noChangeShapeType="1"/>
              </p:cNvSpPr>
              <p:nvPr/>
            </p:nvSpPr>
            <p:spPr bwMode="auto">
              <a:xfrm>
                <a:off x="1351" y="248"/>
                <a:ext cx="23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56" name="Rectangle 24"/>
              <p:cNvSpPr>
                <a:spLocks noChangeArrowheads="1"/>
              </p:cNvSpPr>
              <p:nvPr/>
            </p:nvSpPr>
            <p:spPr bwMode="auto">
              <a:xfrm>
                <a:off x="3595" y="392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7" name="Rectangle 25"/>
              <p:cNvSpPr>
                <a:spLocks noChangeArrowheads="1"/>
              </p:cNvSpPr>
              <p:nvPr/>
            </p:nvSpPr>
            <p:spPr bwMode="auto">
              <a:xfrm rot="-3081491">
                <a:off x="3828" y="860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8" name="Rectangle 26"/>
              <p:cNvSpPr>
                <a:spLocks noChangeArrowheads="1"/>
              </p:cNvSpPr>
              <p:nvPr/>
            </p:nvSpPr>
            <p:spPr bwMode="auto">
              <a:xfrm rot="3244221">
                <a:off x="3357" y="860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73" name="Text Box 41"/>
              <p:cNvSpPr txBox="1">
                <a:spLocks noChangeArrowheads="1"/>
              </p:cNvSpPr>
              <p:nvPr/>
            </p:nvSpPr>
            <p:spPr bwMode="auto">
              <a:xfrm rot="-2281704">
                <a:off x="883" y="1070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44074" name="Text Box 42"/>
              <p:cNvSpPr txBox="1">
                <a:spLocks noChangeArrowheads="1"/>
              </p:cNvSpPr>
              <p:nvPr/>
            </p:nvSpPr>
            <p:spPr bwMode="auto">
              <a:xfrm rot="-2468153">
                <a:off x="1123" y="72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_</a:t>
                </a:r>
              </a:p>
            </p:txBody>
          </p:sp>
          <p:sp>
            <p:nvSpPr>
              <p:cNvPr id="44075" name="Text Box 43"/>
              <p:cNvSpPr txBox="1">
                <a:spLocks noChangeArrowheads="1"/>
              </p:cNvSpPr>
              <p:nvPr/>
            </p:nvSpPr>
            <p:spPr bwMode="auto">
              <a:xfrm rot="2397863">
                <a:off x="1375" y="70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_</a:t>
                </a:r>
              </a:p>
            </p:txBody>
          </p:sp>
          <p:sp>
            <p:nvSpPr>
              <p:cNvPr id="44076" name="Text Box 44"/>
              <p:cNvSpPr txBox="1">
                <a:spLocks noChangeArrowheads="1"/>
              </p:cNvSpPr>
              <p:nvPr/>
            </p:nvSpPr>
            <p:spPr bwMode="auto">
              <a:xfrm rot="-2578573">
                <a:off x="1597" y="1082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44077" name="Text Box 45"/>
              <p:cNvSpPr txBox="1">
                <a:spLocks noChangeArrowheads="1"/>
              </p:cNvSpPr>
              <p:nvPr/>
            </p:nvSpPr>
            <p:spPr bwMode="auto">
              <a:xfrm>
                <a:off x="1345" y="572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N</a:t>
                </a:r>
              </a:p>
            </p:txBody>
          </p:sp>
          <p:sp>
            <p:nvSpPr>
              <p:cNvPr id="44078" name="Text Box 46"/>
              <p:cNvSpPr txBox="1">
                <a:spLocks noChangeArrowheads="1"/>
              </p:cNvSpPr>
              <p:nvPr/>
            </p:nvSpPr>
            <p:spPr bwMode="auto">
              <a:xfrm>
                <a:off x="3655" y="577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zh-CN"/>
              </a:p>
            </p:txBody>
          </p:sp>
          <p:sp>
            <p:nvSpPr>
              <p:cNvPr id="44083" name="Text Box 51"/>
              <p:cNvSpPr txBox="1">
                <a:spLocks noChangeArrowheads="1"/>
              </p:cNvSpPr>
              <p:nvPr/>
            </p:nvSpPr>
            <p:spPr bwMode="auto">
              <a:xfrm>
                <a:off x="3693" y="322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a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4084" name="Text Box 52"/>
              <p:cNvSpPr txBox="1">
                <a:spLocks noChangeArrowheads="1"/>
              </p:cNvSpPr>
              <p:nvPr/>
            </p:nvSpPr>
            <p:spPr bwMode="auto">
              <a:xfrm>
                <a:off x="3931" y="776"/>
                <a:ext cx="30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b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4085" name="Text Box 53"/>
              <p:cNvSpPr txBox="1">
                <a:spLocks noChangeArrowheads="1"/>
              </p:cNvSpPr>
              <p:nvPr/>
            </p:nvSpPr>
            <p:spPr bwMode="auto">
              <a:xfrm>
                <a:off x="3396" y="968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c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44095" name="Object 63"/>
              <p:cNvGraphicFramePr>
                <a:graphicFrameLocks noChangeAspect="1"/>
              </p:cNvGraphicFramePr>
              <p:nvPr/>
            </p:nvGraphicFramePr>
            <p:xfrm>
              <a:off x="851" y="266"/>
              <a:ext cx="320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03" name="Equation" r:id="rId5" imgW="253800" imgH="253800" progId="Equation.3">
                      <p:embed/>
                    </p:oleObj>
                  </mc:Choice>
                  <mc:Fallback>
                    <p:oleObj name="Equation" r:id="rId5" imgW="253800" imgH="253800" progId="Equation.3">
                      <p:embed/>
                      <p:pic>
                        <p:nvPicPr>
                          <p:cNvPr id="0" name="Object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1" y="266"/>
                            <a:ext cx="320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96" name="Object 64"/>
              <p:cNvGraphicFramePr>
                <a:graphicFrameLocks noChangeAspect="1"/>
              </p:cNvGraphicFramePr>
              <p:nvPr/>
            </p:nvGraphicFramePr>
            <p:xfrm>
              <a:off x="654" y="669"/>
              <a:ext cx="318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04" name="Equation" r:id="rId7" imgW="253800" imgH="253800" progId="Equation.3">
                      <p:embed/>
                    </p:oleObj>
                  </mc:Choice>
                  <mc:Fallback>
                    <p:oleObj name="Equation" r:id="rId7" imgW="253800" imgH="253800" progId="Equation.3">
                      <p:embed/>
                      <p:pic>
                        <p:nvPicPr>
                          <p:cNvPr id="0" name="Object 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4" y="669"/>
                            <a:ext cx="318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97" name="Object 65"/>
              <p:cNvGraphicFramePr>
                <a:graphicFrameLocks noChangeAspect="1"/>
              </p:cNvGraphicFramePr>
              <p:nvPr/>
            </p:nvGraphicFramePr>
            <p:xfrm>
              <a:off x="1788" y="822"/>
              <a:ext cx="318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05" name="Equation" r:id="rId9" imgW="253800" imgH="253800" progId="Equation.3">
                      <p:embed/>
                    </p:oleObj>
                  </mc:Choice>
                  <mc:Fallback>
                    <p:oleObj name="Equation" r:id="rId9" imgW="253800" imgH="253800" progId="Equation.3">
                      <p:embed/>
                      <p:pic>
                        <p:nvPicPr>
                          <p:cNvPr id="0" name="Object 6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88" y="822"/>
                            <a:ext cx="318" cy="3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103" name="Line 71"/>
              <p:cNvSpPr>
                <a:spLocks noChangeShapeType="1"/>
              </p:cNvSpPr>
              <p:nvPr/>
            </p:nvSpPr>
            <p:spPr bwMode="auto">
              <a:xfrm>
                <a:off x="2383" y="728"/>
                <a:ext cx="204" cy="12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04" name="Line 72"/>
              <p:cNvSpPr>
                <a:spLocks noChangeShapeType="1"/>
              </p:cNvSpPr>
              <p:nvPr/>
            </p:nvSpPr>
            <p:spPr bwMode="auto">
              <a:xfrm>
                <a:off x="2575" y="848"/>
                <a:ext cx="109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05" name="Line 73"/>
              <p:cNvSpPr>
                <a:spLocks noChangeShapeType="1"/>
              </p:cNvSpPr>
              <p:nvPr/>
            </p:nvSpPr>
            <p:spPr bwMode="auto">
              <a:xfrm flipH="1">
                <a:off x="2449" y="626"/>
                <a:ext cx="144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106" name="Text Box 74"/>
              <p:cNvSpPr txBox="1">
                <a:spLocks noChangeArrowheads="1"/>
              </p:cNvSpPr>
              <p:nvPr/>
            </p:nvSpPr>
            <p:spPr bwMode="auto">
              <a:xfrm>
                <a:off x="2625" y="50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44116" name="Line 84"/>
              <p:cNvSpPr>
                <a:spLocks noChangeShapeType="1"/>
              </p:cNvSpPr>
              <p:nvPr/>
            </p:nvSpPr>
            <p:spPr bwMode="auto">
              <a:xfrm>
                <a:off x="2945" y="1550"/>
                <a:ext cx="20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117" name="Line 85"/>
              <p:cNvSpPr>
                <a:spLocks noChangeShapeType="1"/>
              </p:cNvSpPr>
              <p:nvPr/>
            </p:nvSpPr>
            <p:spPr bwMode="auto">
              <a:xfrm>
                <a:off x="2945" y="1249"/>
                <a:ext cx="23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118" name="Line 86"/>
              <p:cNvSpPr>
                <a:spLocks noChangeShapeType="1"/>
              </p:cNvSpPr>
              <p:nvPr/>
            </p:nvSpPr>
            <p:spPr bwMode="auto">
              <a:xfrm>
                <a:off x="2999" y="172"/>
                <a:ext cx="23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44119" name="Object 87"/>
              <p:cNvGraphicFramePr>
                <a:graphicFrameLocks noChangeAspect="1"/>
              </p:cNvGraphicFramePr>
              <p:nvPr/>
            </p:nvGraphicFramePr>
            <p:xfrm>
              <a:off x="2784" y="0"/>
              <a:ext cx="17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06" name="Equation" r:id="rId11" imgW="279360" imgH="393480" progId="Equation.3">
                      <p:embed/>
                    </p:oleObj>
                  </mc:Choice>
                  <mc:Fallback>
                    <p:oleObj name="Equation" r:id="rId11" imgW="279360" imgH="393480" progId="Equation.3">
                      <p:embed/>
                      <p:pic>
                        <p:nvPicPr>
                          <p:cNvPr id="0" name="Object 8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0"/>
                            <a:ext cx="176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120" name="Object 88"/>
              <p:cNvGraphicFramePr>
                <a:graphicFrameLocks noChangeAspect="1"/>
              </p:cNvGraphicFramePr>
              <p:nvPr/>
            </p:nvGraphicFramePr>
            <p:xfrm>
              <a:off x="2743" y="1043"/>
              <a:ext cx="184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07" name="Equation" r:id="rId13" imgW="291960" imgH="393480" progId="Equation.3">
                      <p:embed/>
                    </p:oleObj>
                  </mc:Choice>
                  <mc:Fallback>
                    <p:oleObj name="Equation" r:id="rId13" imgW="291960" imgH="393480" progId="Equation.3">
                      <p:embed/>
                      <p:pic>
                        <p:nvPicPr>
                          <p:cNvPr id="0" name="Object 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3" y="1043"/>
                            <a:ext cx="184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121" name="Object 89"/>
              <p:cNvGraphicFramePr>
                <a:graphicFrameLocks noChangeAspect="1"/>
              </p:cNvGraphicFramePr>
              <p:nvPr/>
            </p:nvGraphicFramePr>
            <p:xfrm>
              <a:off x="2747" y="1341"/>
              <a:ext cx="17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08" name="Equation" r:id="rId15" imgW="279360" imgH="393480" progId="Equation.3">
                      <p:embed/>
                    </p:oleObj>
                  </mc:Choice>
                  <mc:Fallback>
                    <p:oleObj name="Equation" r:id="rId15" imgW="279360" imgH="393480" progId="Equation.3">
                      <p:embed/>
                      <p:pic>
                        <p:nvPicPr>
                          <p:cNvPr id="0" name="Object 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7" y="1341"/>
                            <a:ext cx="176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142" name="Line 110"/>
              <p:cNvSpPr>
                <a:spLocks noChangeShapeType="1"/>
              </p:cNvSpPr>
              <p:nvPr/>
            </p:nvSpPr>
            <p:spPr bwMode="auto">
              <a:xfrm flipH="1">
                <a:off x="2794" y="794"/>
                <a:ext cx="2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44144" name="Object 112"/>
              <p:cNvGraphicFramePr>
                <a:graphicFrameLocks noChangeAspect="1"/>
              </p:cNvGraphicFramePr>
              <p:nvPr/>
            </p:nvGraphicFramePr>
            <p:xfrm>
              <a:off x="2940" y="529"/>
              <a:ext cx="208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09" name="Equation" r:id="rId17" imgW="330120" imgH="393480" progId="Equation.3">
                      <p:embed/>
                    </p:oleObj>
                  </mc:Choice>
                  <mc:Fallback>
                    <p:oleObj name="Equation" r:id="rId17" imgW="330120" imgH="393480" progId="Equation.3">
                      <p:embed/>
                      <p:pic>
                        <p:nvPicPr>
                          <p:cNvPr id="0" name="Object 1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40" y="529"/>
                            <a:ext cx="208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148" name="Text Box 116"/>
              <p:cNvSpPr txBox="1">
                <a:spLocks noChangeArrowheads="1"/>
              </p:cNvSpPr>
              <p:nvPr/>
            </p:nvSpPr>
            <p:spPr bwMode="auto">
              <a:xfrm>
                <a:off x="1351" y="3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A</a:t>
                </a:r>
              </a:p>
            </p:txBody>
          </p:sp>
          <p:sp>
            <p:nvSpPr>
              <p:cNvPr id="44149" name="Text Box 117"/>
              <p:cNvSpPr txBox="1">
                <a:spLocks noChangeArrowheads="1"/>
              </p:cNvSpPr>
              <p:nvPr/>
            </p:nvSpPr>
            <p:spPr bwMode="auto">
              <a:xfrm>
                <a:off x="1785" y="107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B</a:t>
                </a:r>
              </a:p>
            </p:txBody>
          </p:sp>
          <p:sp>
            <p:nvSpPr>
              <p:cNvPr id="44150" name="Text Box 118"/>
              <p:cNvSpPr txBox="1">
                <a:spLocks noChangeArrowheads="1"/>
              </p:cNvSpPr>
              <p:nvPr/>
            </p:nvSpPr>
            <p:spPr bwMode="auto">
              <a:xfrm>
                <a:off x="664" y="1082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C</a:t>
                </a:r>
              </a:p>
            </p:txBody>
          </p:sp>
          <p:graphicFrame>
            <p:nvGraphicFramePr>
              <p:cNvPr id="44157" name="Object 125"/>
              <p:cNvGraphicFramePr>
                <a:graphicFrameLocks noChangeAspect="1"/>
              </p:cNvGraphicFramePr>
              <p:nvPr/>
            </p:nvGraphicFramePr>
            <p:xfrm>
              <a:off x="3668" y="670"/>
              <a:ext cx="258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10" name="Equation" r:id="rId19" imgW="203040" imgH="177480" progId="Equation.3">
                      <p:embed/>
                    </p:oleObj>
                  </mc:Choice>
                  <mc:Fallback>
                    <p:oleObj name="Equation" r:id="rId19" imgW="203040" imgH="177480" progId="Equation.3">
                      <p:embed/>
                      <p:pic>
                        <p:nvPicPr>
                          <p:cNvPr id="0" name="Object 1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68" y="670"/>
                            <a:ext cx="258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4172" name="Group 140"/>
            <p:cNvGrpSpPr>
              <a:grpSpLocks/>
            </p:cNvGrpSpPr>
            <p:nvPr/>
          </p:nvGrpSpPr>
          <p:grpSpPr bwMode="auto">
            <a:xfrm>
              <a:off x="645" y="1852"/>
              <a:ext cx="3475" cy="424"/>
              <a:chOff x="645" y="1852"/>
              <a:chExt cx="3475" cy="424"/>
            </a:xfrm>
          </p:grpSpPr>
          <p:graphicFrame>
            <p:nvGraphicFramePr>
              <p:cNvPr id="44143" name="Object 111"/>
              <p:cNvGraphicFramePr>
                <a:graphicFrameLocks noChangeAspect="1"/>
              </p:cNvGraphicFramePr>
              <p:nvPr/>
            </p:nvGraphicFramePr>
            <p:xfrm>
              <a:off x="2824" y="2044"/>
              <a:ext cx="112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11" name="Equation" r:id="rId21" imgW="177480" imgH="368280" progId="Equation.3">
                      <p:embed/>
                    </p:oleObj>
                  </mc:Choice>
                  <mc:Fallback>
                    <p:oleObj name="Equation" r:id="rId21" imgW="177480" imgH="368280" progId="Equation.3">
                      <p:embed/>
                      <p:pic>
                        <p:nvPicPr>
                          <p:cNvPr id="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24" y="2044"/>
                            <a:ext cx="112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99" name="Text Box 67"/>
              <p:cNvSpPr txBox="1">
                <a:spLocks noChangeArrowheads="1"/>
              </p:cNvSpPr>
              <p:nvPr/>
            </p:nvSpPr>
            <p:spPr bwMode="auto">
              <a:xfrm>
                <a:off x="3171" y="1852"/>
                <a:ext cx="9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a</a:t>
                </a:r>
                <a:r>
                  <a:rPr lang="en-US" altLang="zh-CN">
                    <a:solidFill>
                      <a:schemeClr val="tx1"/>
                    </a:solidFill>
                    <a:sym typeface="Symbol" panose="05050102010706020507" pitchFamily="18" charset="2"/>
                  </a:rPr>
                  <a:t></a:t>
                </a: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b</a:t>
                </a:r>
                <a:r>
                  <a:rPr lang="en-US" altLang="zh-CN">
                    <a:solidFill>
                      <a:schemeClr val="tx1"/>
                    </a:solidFill>
                  </a:rPr>
                  <a:t> </a:t>
                </a:r>
                <a:r>
                  <a:rPr lang="en-US" altLang="zh-CN">
                    <a:solidFill>
                      <a:schemeClr val="tx1"/>
                    </a:solidFill>
                    <a:sym typeface="Symbol" panose="05050102010706020507" pitchFamily="18" charset="2"/>
                  </a:rPr>
                  <a:t></a:t>
                </a: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44170" name="Rectangle 138"/>
              <p:cNvSpPr>
                <a:spLocks noChangeArrowheads="1"/>
              </p:cNvSpPr>
              <p:nvPr/>
            </p:nvSpPr>
            <p:spPr bwMode="auto">
              <a:xfrm>
                <a:off x="645" y="1872"/>
                <a:ext cx="2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>
                    <a:solidFill>
                      <a:schemeClr val="tx1"/>
                    </a:solidFill>
                  </a:rPr>
                  <a:t>三相电源对称，负载不对称</a:t>
                </a:r>
              </a:p>
            </p:txBody>
          </p:sp>
        </p:grpSp>
      </p:grpSp>
      <p:sp>
        <p:nvSpPr>
          <p:cNvPr id="44173" name="Text Box 141"/>
          <p:cNvSpPr txBox="1">
            <a:spLocks noChangeArrowheads="1"/>
          </p:cNvSpPr>
          <p:nvPr/>
        </p:nvSpPr>
        <p:spPr bwMode="auto">
          <a:xfrm>
            <a:off x="284163" y="4298777"/>
            <a:ext cx="1817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由节点法得</a:t>
            </a:r>
            <a:r>
              <a:rPr lang="en-US" altLang="zh-CN" dirty="0"/>
              <a:t>:</a:t>
            </a:r>
          </a:p>
        </p:txBody>
      </p:sp>
      <p:sp>
        <p:nvSpPr>
          <p:cNvPr id="44175" name="Text Box 143"/>
          <p:cNvSpPr txBox="1">
            <a:spLocks noChangeArrowheads="1"/>
          </p:cNvSpPr>
          <p:nvPr/>
        </p:nvSpPr>
        <p:spPr bwMode="auto">
          <a:xfrm>
            <a:off x="769145" y="5922962"/>
            <a:ext cx="70564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       </a:t>
            </a:r>
            <a:r>
              <a:rPr lang="zh-CN" altLang="en-US" dirty="0">
                <a:solidFill>
                  <a:schemeClr val="tx1"/>
                </a:solidFill>
              </a:rPr>
              <a:t>负载中点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的电位</a:t>
            </a:r>
            <a:r>
              <a:rPr lang="zh-CN" altLang="en-US" dirty="0">
                <a:solidFill>
                  <a:schemeClr val="tx1"/>
                </a:solidFill>
              </a:rPr>
              <a:t>与电源中点</a:t>
            </a:r>
            <a:r>
              <a:rPr lang="en-US" altLang="zh-CN" dirty="0">
                <a:solidFill>
                  <a:schemeClr val="tx1"/>
                </a:solidFill>
              </a:rPr>
              <a:t>N</a:t>
            </a:r>
            <a:r>
              <a:rPr lang="zh-CN" altLang="en-US" dirty="0">
                <a:solidFill>
                  <a:schemeClr val="tx1"/>
                </a:solidFill>
              </a:rPr>
              <a:t>的电位不相等，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这个现象称为</a:t>
            </a:r>
            <a:r>
              <a:rPr lang="zh-CN" altLang="en-US" dirty="0">
                <a:solidFill>
                  <a:srgbClr val="FF0000"/>
                </a:solidFill>
              </a:rPr>
              <a:t>中点位移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</p:txBody>
      </p:sp>
      <p:graphicFrame>
        <p:nvGraphicFramePr>
          <p:cNvPr id="63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789510"/>
              </p:ext>
            </p:extLst>
          </p:nvPr>
        </p:nvGraphicFramePr>
        <p:xfrm>
          <a:off x="2165223" y="4903270"/>
          <a:ext cx="492601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12" name="Equation" r:id="rId23" imgW="2387520" imgH="457200" progId="Equation.3">
                  <p:embed/>
                </p:oleObj>
              </mc:Choice>
              <mc:Fallback>
                <p:oleObj name="Equation" r:id="rId23" imgW="2387520" imgH="457200" progId="Equation.3">
                  <p:embed/>
                  <p:pic>
                    <p:nvPicPr>
                      <p:cNvPr id="44108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223" y="4903270"/>
                        <a:ext cx="492601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4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46" grpId="0" animBg="1" autoUpdateAnimBg="0"/>
      <p:bldP spid="44173" grpId="0" build="p" autoUpdateAnimBg="0"/>
      <p:bldP spid="4417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1395413" y="3427413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相量图</a:t>
            </a: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43394" name="Group 34"/>
          <p:cNvGrpSpPr>
            <a:grpSpLocks/>
          </p:cNvGrpSpPr>
          <p:nvPr/>
        </p:nvGrpSpPr>
        <p:grpSpPr bwMode="auto">
          <a:xfrm>
            <a:off x="4638675" y="3851275"/>
            <a:ext cx="901700" cy="512763"/>
            <a:chOff x="4833" y="2014"/>
            <a:chExt cx="568" cy="323"/>
          </a:xfrm>
        </p:grpSpPr>
        <p:graphicFrame>
          <p:nvGraphicFramePr>
            <p:cNvPr id="143366" name="Object 6"/>
            <p:cNvGraphicFramePr>
              <a:graphicFrameLocks noChangeAspect="1"/>
            </p:cNvGraphicFramePr>
            <p:nvPr/>
          </p:nvGraphicFramePr>
          <p:xfrm>
            <a:off x="4833" y="2014"/>
            <a:ext cx="368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15" name="Equation" r:id="rId3" imgW="330120" imgH="228600" progId="Equation.3">
                    <p:embed/>
                  </p:oleObj>
                </mc:Choice>
                <mc:Fallback>
                  <p:oleObj name="Equation" r:id="rId3" imgW="33012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3" y="2014"/>
                          <a:ext cx="368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367" name="Line 7"/>
            <p:cNvSpPr>
              <a:spLocks noChangeShapeType="1"/>
            </p:cNvSpPr>
            <p:nvPr/>
          </p:nvSpPr>
          <p:spPr bwMode="auto">
            <a:xfrm rot="-7089965">
              <a:off x="5091" y="2028"/>
              <a:ext cx="93" cy="52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3368" name="Group 8"/>
          <p:cNvGrpSpPr>
            <a:grpSpLocks/>
          </p:cNvGrpSpPr>
          <p:nvPr/>
        </p:nvGrpSpPr>
        <p:grpSpPr bwMode="auto">
          <a:xfrm>
            <a:off x="3732213" y="3354388"/>
            <a:ext cx="2598737" cy="2417762"/>
            <a:chOff x="3443" y="2557"/>
            <a:chExt cx="1637" cy="1523"/>
          </a:xfrm>
        </p:grpSpPr>
        <p:grpSp>
          <p:nvGrpSpPr>
            <p:cNvPr id="143369" name="Group 9"/>
            <p:cNvGrpSpPr>
              <a:grpSpLocks/>
            </p:cNvGrpSpPr>
            <p:nvPr/>
          </p:nvGrpSpPr>
          <p:grpSpPr bwMode="auto">
            <a:xfrm>
              <a:off x="3443" y="2557"/>
              <a:ext cx="1637" cy="1523"/>
              <a:chOff x="3443" y="2563"/>
              <a:chExt cx="1637" cy="1523"/>
            </a:xfrm>
          </p:grpSpPr>
          <p:graphicFrame>
            <p:nvGraphicFramePr>
              <p:cNvPr id="143370" name="Object 10"/>
              <p:cNvGraphicFramePr>
                <a:graphicFrameLocks noChangeAspect="1"/>
              </p:cNvGraphicFramePr>
              <p:nvPr/>
            </p:nvGraphicFramePr>
            <p:xfrm>
              <a:off x="4760" y="3308"/>
              <a:ext cx="320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516" name="Equation" r:id="rId5" imgW="291960" imgH="241200" progId="Equation.3">
                      <p:embed/>
                    </p:oleObj>
                  </mc:Choice>
                  <mc:Fallback>
                    <p:oleObj name="Equation" r:id="rId5" imgW="291960" imgH="2412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0" y="3308"/>
                            <a:ext cx="320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371" name="Object 11"/>
              <p:cNvGraphicFramePr>
                <a:graphicFrameLocks noChangeAspect="1"/>
              </p:cNvGraphicFramePr>
              <p:nvPr/>
            </p:nvGraphicFramePr>
            <p:xfrm>
              <a:off x="3488" y="2634"/>
              <a:ext cx="320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517" name="Equation" r:id="rId7" imgW="291960" imgH="241200" progId="Equation.3">
                      <p:embed/>
                    </p:oleObj>
                  </mc:Choice>
                  <mc:Fallback>
                    <p:oleObj name="Equation" r:id="rId7" imgW="291960" imgH="2412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88" y="2634"/>
                            <a:ext cx="320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372" name="Text Box 12"/>
              <p:cNvSpPr txBox="1">
                <a:spLocks noChangeArrowheads="1"/>
              </p:cNvSpPr>
              <p:nvPr/>
            </p:nvSpPr>
            <p:spPr bwMode="auto">
              <a:xfrm>
                <a:off x="3821" y="3181"/>
                <a:ext cx="24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43373" name="Line 13"/>
              <p:cNvSpPr>
                <a:spLocks noChangeShapeType="1"/>
              </p:cNvSpPr>
              <p:nvPr/>
            </p:nvSpPr>
            <p:spPr bwMode="auto">
              <a:xfrm>
                <a:off x="4094" y="3329"/>
                <a:ext cx="8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374" name="Line 14"/>
              <p:cNvSpPr>
                <a:spLocks noChangeShapeType="1"/>
              </p:cNvSpPr>
              <p:nvPr/>
            </p:nvSpPr>
            <p:spPr bwMode="auto">
              <a:xfrm rot="14400000">
                <a:off x="3481" y="2972"/>
                <a:ext cx="81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375" name="Line 15"/>
              <p:cNvSpPr>
                <a:spLocks noChangeShapeType="1"/>
              </p:cNvSpPr>
              <p:nvPr/>
            </p:nvSpPr>
            <p:spPr bwMode="auto">
              <a:xfrm rot="7200000">
                <a:off x="3482" y="3678"/>
                <a:ext cx="8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43376" name="Object 16"/>
              <p:cNvGraphicFramePr>
                <a:graphicFrameLocks noChangeAspect="1"/>
              </p:cNvGraphicFramePr>
              <p:nvPr/>
            </p:nvGraphicFramePr>
            <p:xfrm>
              <a:off x="3443" y="3707"/>
              <a:ext cx="320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518" name="Equation" r:id="rId9" imgW="291960" imgH="241200" progId="Equation.3">
                      <p:embed/>
                    </p:oleObj>
                  </mc:Choice>
                  <mc:Fallback>
                    <p:oleObj name="Equation" r:id="rId9" imgW="291960" imgH="24120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43" y="3707"/>
                            <a:ext cx="320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377" name="Text Box 17"/>
            <p:cNvSpPr txBox="1">
              <a:spLocks noChangeArrowheads="1"/>
            </p:cNvSpPr>
            <p:nvPr/>
          </p:nvSpPr>
          <p:spPr bwMode="auto">
            <a:xfrm>
              <a:off x="4022" y="3150"/>
              <a:ext cx="1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chemeClr val="tx1"/>
                  </a:solidFill>
                  <a:cs typeface="Times New Roman" panose="02020603050405020304" pitchFamily="18" charset="0"/>
                </a:rPr>
                <a:t>·</a:t>
              </a:r>
              <a:endParaRPr lang="en-US" altLang="zh-CN" sz="2800">
                <a:solidFill>
                  <a:schemeClr val="tx1"/>
                </a:solidFill>
              </a:endParaRPr>
            </a:p>
          </p:txBody>
        </p:sp>
      </p:grpSp>
      <p:grpSp>
        <p:nvGrpSpPr>
          <p:cNvPr id="143395" name="Group 35"/>
          <p:cNvGrpSpPr>
            <a:grpSpLocks/>
          </p:cNvGrpSpPr>
          <p:nvPr/>
        </p:nvGrpSpPr>
        <p:grpSpPr bwMode="auto">
          <a:xfrm>
            <a:off x="4235450" y="3173413"/>
            <a:ext cx="2295525" cy="2752725"/>
            <a:chOff x="4314" y="2109"/>
            <a:chExt cx="1446" cy="1734"/>
          </a:xfrm>
        </p:grpSpPr>
        <p:sp>
          <p:nvSpPr>
            <p:cNvPr id="143380" name="Line 20"/>
            <p:cNvSpPr>
              <a:spLocks noChangeShapeType="1"/>
            </p:cNvSpPr>
            <p:nvPr/>
          </p:nvSpPr>
          <p:spPr bwMode="auto">
            <a:xfrm rot="7305563">
              <a:off x="4007" y="3099"/>
              <a:ext cx="1315" cy="17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381" name="Line 21"/>
            <p:cNvSpPr>
              <a:spLocks noChangeShapeType="1"/>
            </p:cNvSpPr>
            <p:nvPr/>
          </p:nvSpPr>
          <p:spPr bwMode="auto">
            <a:xfrm rot="18936317">
              <a:off x="5228" y="2571"/>
              <a:ext cx="108" cy="52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382" name="Line 22"/>
            <p:cNvSpPr>
              <a:spLocks noChangeShapeType="1"/>
            </p:cNvSpPr>
            <p:nvPr/>
          </p:nvSpPr>
          <p:spPr bwMode="auto">
            <a:xfrm rot="14469272" flipV="1">
              <a:off x="4312" y="2233"/>
              <a:ext cx="701" cy="52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383" name="Object 23"/>
            <p:cNvGraphicFramePr>
              <a:graphicFrameLocks noChangeAspect="1"/>
            </p:cNvGraphicFramePr>
            <p:nvPr/>
          </p:nvGraphicFramePr>
          <p:xfrm>
            <a:off x="4385" y="3478"/>
            <a:ext cx="33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19" name="Equation" r:id="rId11" imgW="304560" imgH="241200" progId="Equation.3">
                    <p:embed/>
                  </p:oleObj>
                </mc:Choice>
                <mc:Fallback>
                  <p:oleObj name="Equation" r:id="rId11" imgW="304560" imgH="2412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5" y="3478"/>
                          <a:ext cx="335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84" name="Object 24"/>
            <p:cNvGraphicFramePr>
              <a:graphicFrameLocks noChangeAspect="1"/>
            </p:cNvGraphicFramePr>
            <p:nvPr/>
          </p:nvGraphicFramePr>
          <p:xfrm>
            <a:off x="5411" y="2672"/>
            <a:ext cx="349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20" name="Equation" r:id="rId13" imgW="317160" imgH="241200" progId="Equation.3">
                    <p:embed/>
                  </p:oleObj>
                </mc:Choice>
                <mc:Fallback>
                  <p:oleObj name="Equation" r:id="rId13" imgW="317160" imgH="2412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1" y="2672"/>
                          <a:ext cx="349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85" name="Object 25"/>
            <p:cNvGraphicFramePr>
              <a:graphicFrameLocks noChangeAspect="1"/>
            </p:cNvGraphicFramePr>
            <p:nvPr/>
          </p:nvGraphicFramePr>
          <p:xfrm>
            <a:off x="4314" y="2109"/>
            <a:ext cx="349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21" name="Equation" r:id="rId15" imgW="317160" imgH="241200" progId="Equation.3">
                    <p:embed/>
                  </p:oleObj>
                </mc:Choice>
                <mc:Fallback>
                  <p:oleObj name="Equation" r:id="rId15" imgW="317160" imgH="2412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4" y="2109"/>
                          <a:ext cx="349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387" name="Text Box 27"/>
            <p:cNvSpPr txBox="1">
              <a:spLocks noChangeArrowheads="1"/>
            </p:cNvSpPr>
            <p:nvPr/>
          </p:nvSpPr>
          <p:spPr bwMode="auto">
            <a:xfrm>
              <a:off x="4992" y="2501"/>
              <a:ext cx="1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>
                  <a:cs typeface="Times New Roman" panose="02020603050405020304" pitchFamily="18" charset="0"/>
                </a:rPr>
                <a:t>·</a:t>
              </a:r>
              <a:endParaRPr lang="en-US" altLang="zh-CN" sz="2800"/>
            </a:p>
          </p:txBody>
        </p:sp>
      </p:grpSp>
      <p:sp>
        <p:nvSpPr>
          <p:cNvPr id="143388" name="Text Box 28"/>
          <p:cNvSpPr txBox="1">
            <a:spLocks noChangeArrowheads="1"/>
          </p:cNvSpPr>
          <p:nvPr/>
        </p:nvSpPr>
        <p:spPr bwMode="auto">
          <a:xfrm>
            <a:off x="581025" y="890588"/>
            <a:ext cx="294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三相负载上的相电压</a:t>
            </a:r>
          </a:p>
        </p:txBody>
      </p:sp>
      <p:graphicFrame>
        <p:nvGraphicFramePr>
          <p:cNvPr id="143389" name="Object 29"/>
          <p:cNvGraphicFramePr>
            <a:graphicFrameLocks noChangeAspect="1"/>
          </p:cNvGraphicFramePr>
          <p:nvPr/>
        </p:nvGraphicFramePr>
        <p:xfrm>
          <a:off x="4335463" y="581025"/>
          <a:ext cx="2309812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2" name="Equation" r:id="rId17" imgW="1155600" imgH="736560" progId="Equation.3">
                  <p:embed/>
                </p:oleObj>
              </mc:Choice>
              <mc:Fallback>
                <p:oleObj name="Equation" r:id="rId17" imgW="1155600" imgH="7365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463" y="581025"/>
                        <a:ext cx="2309812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393" name="Group 33"/>
          <p:cNvGrpSpPr>
            <a:grpSpLocks/>
          </p:cNvGrpSpPr>
          <p:nvPr/>
        </p:nvGrpSpPr>
        <p:grpSpPr bwMode="auto">
          <a:xfrm>
            <a:off x="1354138" y="2432050"/>
            <a:ext cx="5792787" cy="479425"/>
            <a:chOff x="841" y="1172"/>
            <a:chExt cx="3649" cy="302"/>
          </a:xfrm>
        </p:grpSpPr>
        <p:sp>
          <p:nvSpPr>
            <p:cNvPr id="143390" name="Rectangle 30"/>
            <p:cNvSpPr>
              <a:spLocks noChangeArrowheads="1"/>
            </p:cNvSpPr>
            <p:nvPr/>
          </p:nvSpPr>
          <p:spPr bwMode="auto">
            <a:xfrm>
              <a:off x="2107" y="1172"/>
              <a:ext cx="2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, </a:t>
              </a:r>
              <a:r>
                <a:rPr lang="zh-CN" altLang="en-US"/>
                <a:t>所 以负载三相电压不对称</a:t>
              </a:r>
            </a:p>
          </p:txBody>
        </p:sp>
        <p:sp>
          <p:nvSpPr>
            <p:cNvPr id="143391" name="Rectangle 31"/>
            <p:cNvSpPr>
              <a:spLocks noChangeArrowheads="1"/>
            </p:cNvSpPr>
            <p:nvPr/>
          </p:nvSpPr>
          <p:spPr bwMode="auto">
            <a:xfrm>
              <a:off x="841" y="1176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由于</a:t>
              </a:r>
            </a:p>
          </p:txBody>
        </p:sp>
        <p:graphicFrame>
          <p:nvGraphicFramePr>
            <p:cNvPr id="143392" name="Object 32"/>
            <p:cNvGraphicFramePr>
              <a:graphicFrameLocks noChangeAspect="1"/>
            </p:cNvGraphicFramePr>
            <p:nvPr/>
          </p:nvGraphicFramePr>
          <p:xfrm>
            <a:off x="1332" y="1176"/>
            <a:ext cx="744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23" name="Equation" r:id="rId19" imgW="571320" imgH="228600" progId="Equation.3">
                    <p:embed/>
                  </p:oleObj>
                </mc:Choice>
                <mc:Fallback>
                  <p:oleObj name="Equation" r:id="rId19" imgW="571320" imgH="2286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2" y="1176"/>
                          <a:ext cx="744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127570" y="5841458"/>
            <a:ext cx="88825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57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47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lnSpc>
                <a:spcPct val="120000"/>
              </a:lnSpc>
            </a:pP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在电源对称情况下，可以根据中点位移的情况来判断负载端不对称的程度。当中点位移较大时，会造成负载相电压严重不对称，使负载的工作状态不正常。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3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3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43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3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autoUpdateAnimBg="0"/>
      <p:bldP spid="30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386" name="Group 2"/>
          <p:cNvGrpSpPr>
            <a:grpSpLocks/>
          </p:cNvGrpSpPr>
          <p:nvPr/>
        </p:nvGrpSpPr>
        <p:grpSpPr bwMode="auto">
          <a:xfrm>
            <a:off x="1004888" y="228600"/>
            <a:ext cx="5889625" cy="3365500"/>
            <a:chOff x="645" y="156"/>
            <a:chExt cx="3710" cy="2120"/>
          </a:xfrm>
        </p:grpSpPr>
        <p:grpSp>
          <p:nvGrpSpPr>
            <p:cNvPr id="144387" name="Group 3"/>
            <p:cNvGrpSpPr>
              <a:grpSpLocks/>
            </p:cNvGrpSpPr>
            <p:nvPr/>
          </p:nvGrpSpPr>
          <p:grpSpPr bwMode="auto">
            <a:xfrm>
              <a:off x="774" y="156"/>
              <a:ext cx="3581" cy="1592"/>
              <a:chOff x="654" y="0"/>
              <a:chExt cx="3581" cy="1592"/>
            </a:xfrm>
          </p:grpSpPr>
          <p:sp>
            <p:nvSpPr>
              <p:cNvPr id="144388" name="Oval 4"/>
              <p:cNvSpPr>
                <a:spLocks noChangeArrowheads="1"/>
              </p:cNvSpPr>
              <p:nvPr/>
            </p:nvSpPr>
            <p:spPr bwMode="auto">
              <a:xfrm>
                <a:off x="955" y="872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89" name="Oval 5"/>
              <p:cNvSpPr>
                <a:spLocks noChangeArrowheads="1"/>
              </p:cNvSpPr>
              <p:nvPr/>
            </p:nvSpPr>
            <p:spPr bwMode="auto">
              <a:xfrm>
                <a:off x="1471" y="884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90" name="Oval 6"/>
              <p:cNvSpPr>
                <a:spLocks noChangeArrowheads="1"/>
              </p:cNvSpPr>
              <p:nvPr/>
            </p:nvSpPr>
            <p:spPr bwMode="auto">
              <a:xfrm>
                <a:off x="1204" y="344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91" name="Line 7"/>
              <p:cNvSpPr>
                <a:spLocks noChangeShapeType="1"/>
              </p:cNvSpPr>
              <p:nvPr/>
            </p:nvSpPr>
            <p:spPr bwMode="auto">
              <a:xfrm>
                <a:off x="1351" y="248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sm" len="sm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392" name="Line 8"/>
              <p:cNvSpPr>
                <a:spLocks noChangeShapeType="1"/>
              </p:cNvSpPr>
              <p:nvPr/>
            </p:nvSpPr>
            <p:spPr bwMode="auto">
              <a:xfrm>
                <a:off x="1351" y="824"/>
                <a:ext cx="432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sm" len="sm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393" name="Line 9"/>
              <p:cNvSpPr>
                <a:spLocks noChangeShapeType="1"/>
              </p:cNvSpPr>
              <p:nvPr/>
            </p:nvSpPr>
            <p:spPr bwMode="auto">
              <a:xfrm flipH="1">
                <a:off x="919" y="824"/>
                <a:ext cx="432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sm" len="sm"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394" name="Text Box 10"/>
              <p:cNvSpPr txBox="1">
                <a:spLocks noChangeArrowheads="1"/>
              </p:cNvSpPr>
              <p:nvPr/>
            </p:nvSpPr>
            <p:spPr bwMode="auto">
              <a:xfrm>
                <a:off x="1135" y="140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144395" name="Text Box 11"/>
              <p:cNvSpPr txBox="1">
                <a:spLocks noChangeArrowheads="1"/>
              </p:cNvSpPr>
              <p:nvPr/>
            </p:nvSpPr>
            <p:spPr bwMode="auto">
              <a:xfrm>
                <a:off x="1130" y="4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_</a:t>
                </a:r>
              </a:p>
            </p:txBody>
          </p:sp>
          <p:sp>
            <p:nvSpPr>
              <p:cNvPr id="144396" name="Line 12"/>
              <p:cNvSpPr>
                <a:spLocks noChangeShapeType="1"/>
              </p:cNvSpPr>
              <p:nvPr/>
            </p:nvSpPr>
            <p:spPr bwMode="auto">
              <a:xfrm>
                <a:off x="1783" y="1160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397" name="Line 13"/>
              <p:cNvSpPr>
                <a:spLocks noChangeShapeType="1"/>
              </p:cNvSpPr>
              <p:nvPr/>
            </p:nvSpPr>
            <p:spPr bwMode="auto">
              <a:xfrm>
                <a:off x="919" y="11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398" name="Line 14"/>
              <p:cNvSpPr>
                <a:spLocks noChangeShapeType="1"/>
              </p:cNvSpPr>
              <p:nvPr/>
            </p:nvSpPr>
            <p:spPr bwMode="auto">
              <a:xfrm flipV="1">
                <a:off x="1351" y="824"/>
                <a:ext cx="10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399" name="Line 15"/>
              <p:cNvSpPr>
                <a:spLocks noChangeShapeType="1"/>
              </p:cNvSpPr>
              <p:nvPr/>
            </p:nvSpPr>
            <p:spPr bwMode="auto">
              <a:xfrm>
                <a:off x="3655" y="248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00" name="Line 16"/>
              <p:cNvSpPr>
                <a:spLocks noChangeShapeType="1"/>
              </p:cNvSpPr>
              <p:nvPr/>
            </p:nvSpPr>
            <p:spPr bwMode="auto">
              <a:xfrm>
                <a:off x="3655" y="824"/>
                <a:ext cx="432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01" name="Line 17"/>
              <p:cNvSpPr>
                <a:spLocks noChangeShapeType="1"/>
              </p:cNvSpPr>
              <p:nvPr/>
            </p:nvSpPr>
            <p:spPr bwMode="auto">
              <a:xfrm flipH="1">
                <a:off x="3223" y="824"/>
                <a:ext cx="432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02" name="Line 18"/>
              <p:cNvSpPr>
                <a:spLocks noChangeShapeType="1"/>
              </p:cNvSpPr>
              <p:nvPr/>
            </p:nvSpPr>
            <p:spPr bwMode="auto">
              <a:xfrm>
                <a:off x="3223" y="11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03" name="Line 19"/>
              <p:cNvSpPr>
                <a:spLocks noChangeShapeType="1"/>
              </p:cNvSpPr>
              <p:nvPr/>
            </p:nvSpPr>
            <p:spPr bwMode="auto">
              <a:xfrm>
                <a:off x="1783" y="1304"/>
                <a:ext cx="23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04" name="Line 20"/>
              <p:cNvSpPr>
                <a:spLocks noChangeShapeType="1"/>
              </p:cNvSpPr>
              <p:nvPr/>
            </p:nvSpPr>
            <p:spPr bwMode="auto">
              <a:xfrm>
                <a:off x="4087" y="1160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05" name="Line 21"/>
              <p:cNvSpPr>
                <a:spLocks noChangeShapeType="1"/>
              </p:cNvSpPr>
              <p:nvPr/>
            </p:nvSpPr>
            <p:spPr bwMode="auto">
              <a:xfrm>
                <a:off x="919" y="1592"/>
                <a:ext cx="23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06" name="Line 22"/>
              <p:cNvSpPr>
                <a:spLocks noChangeShapeType="1"/>
              </p:cNvSpPr>
              <p:nvPr/>
            </p:nvSpPr>
            <p:spPr bwMode="auto">
              <a:xfrm>
                <a:off x="1351" y="248"/>
                <a:ext cx="23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07" name="Rectangle 23"/>
              <p:cNvSpPr>
                <a:spLocks noChangeArrowheads="1"/>
              </p:cNvSpPr>
              <p:nvPr/>
            </p:nvSpPr>
            <p:spPr bwMode="auto">
              <a:xfrm>
                <a:off x="3595" y="392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8" name="Rectangle 24"/>
              <p:cNvSpPr>
                <a:spLocks noChangeArrowheads="1"/>
              </p:cNvSpPr>
              <p:nvPr/>
            </p:nvSpPr>
            <p:spPr bwMode="auto">
              <a:xfrm rot="-3081491">
                <a:off x="3828" y="860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09" name="Rectangle 25"/>
              <p:cNvSpPr>
                <a:spLocks noChangeArrowheads="1"/>
              </p:cNvSpPr>
              <p:nvPr/>
            </p:nvSpPr>
            <p:spPr bwMode="auto">
              <a:xfrm rot="3244221">
                <a:off x="3357" y="860"/>
                <a:ext cx="120" cy="288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10" name="Text Box 26"/>
              <p:cNvSpPr txBox="1">
                <a:spLocks noChangeArrowheads="1"/>
              </p:cNvSpPr>
              <p:nvPr/>
            </p:nvSpPr>
            <p:spPr bwMode="auto">
              <a:xfrm rot="-2281704">
                <a:off x="883" y="1070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144411" name="Text Box 27"/>
              <p:cNvSpPr txBox="1">
                <a:spLocks noChangeArrowheads="1"/>
              </p:cNvSpPr>
              <p:nvPr/>
            </p:nvSpPr>
            <p:spPr bwMode="auto">
              <a:xfrm rot="-2468153">
                <a:off x="1123" y="72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_</a:t>
                </a:r>
              </a:p>
            </p:txBody>
          </p:sp>
          <p:sp>
            <p:nvSpPr>
              <p:cNvPr id="144412" name="Text Box 28"/>
              <p:cNvSpPr txBox="1">
                <a:spLocks noChangeArrowheads="1"/>
              </p:cNvSpPr>
              <p:nvPr/>
            </p:nvSpPr>
            <p:spPr bwMode="auto">
              <a:xfrm rot="2397863">
                <a:off x="1375" y="70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_</a:t>
                </a:r>
              </a:p>
            </p:txBody>
          </p:sp>
          <p:sp>
            <p:nvSpPr>
              <p:cNvPr id="144413" name="Text Box 29"/>
              <p:cNvSpPr txBox="1">
                <a:spLocks noChangeArrowheads="1"/>
              </p:cNvSpPr>
              <p:nvPr/>
            </p:nvSpPr>
            <p:spPr bwMode="auto">
              <a:xfrm rot="-2578573">
                <a:off x="1597" y="1082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2"/>
                    </a:solidFill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144414" name="Text Box 30"/>
              <p:cNvSpPr txBox="1">
                <a:spLocks noChangeArrowheads="1"/>
              </p:cNvSpPr>
              <p:nvPr/>
            </p:nvSpPr>
            <p:spPr bwMode="auto">
              <a:xfrm>
                <a:off x="1345" y="572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N</a:t>
                </a:r>
              </a:p>
            </p:txBody>
          </p:sp>
          <p:sp>
            <p:nvSpPr>
              <p:cNvPr id="144415" name="Text Box 31"/>
              <p:cNvSpPr txBox="1">
                <a:spLocks noChangeArrowheads="1"/>
              </p:cNvSpPr>
              <p:nvPr/>
            </p:nvSpPr>
            <p:spPr bwMode="auto">
              <a:xfrm>
                <a:off x="3655" y="577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zh-CN"/>
              </a:p>
            </p:txBody>
          </p:sp>
          <p:sp>
            <p:nvSpPr>
              <p:cNvPr id="144416" name="Text Box 32"/>
              <p:cNvSpPr txBox="1">
                <a:spLocks noChangeArrowheads="1"/>
              </p:cNvSpPr>
              <p:nvPr/>
            </p:nvSpPr>
            <p:spPr bwMode="auto">
              <a:xfrm>
                <a:off x="3693" y="322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a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44417" name="Text Box 33"/>
              <p:cNvSpPr txBox="1">
                <a:spLocks noChangeArrowheads="1"/>
              </p:cNvSpPr>
              <p:nvPr/>
            </p:nvSpPr>
            <p:spPr bwMode="auto">
              <a:xfrm>
                <a:off x="3931" y="776"/>
                <a:ext cx="30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b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44418" name="Text Box 34"/>
              <p:cNvSpPr txBox="1">
                <a:spLocks noChangeArrowheads="1"/>
              </p:cNvSpPr>
              <p:nvPr/>
            </p:nvSpPr>
            <p:spPr bwMode="auto">
              <a:xfrm>
                <a:off x="3396" y="968"/>
                <a:ext cx="2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c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144419" name="Object 35"/>
              <p:cNvGraphicFramePr>
                <a:graphicFrameLocks noChangeAspect="1"/>
              </p:cNvGraphicFramePr>
              <p:nvPr/>
            </p:nvGraphicFramePr>
            <p:xfrm>
              <a:off x="851" y="266"/>
              <a:ext cx="320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596" name="Equation" r:id="rId3" imgW="253800" imgH="253800" progId="Equation.3">
                      <p:embed/>
                    </p:oleObj>
                  </mc:Choice>
                  <mc:Fallback>
                    <p:oleObj name="Equation" r:id="rId3" imgW="253800" imgH="25380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1" y="266"/>
                            <a:ext cx="320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4420" name="Object 36"/>
              <p:cNvGraphicFramePr>
                <a:graphicFrameLocks noChangeAspect="1"/>
              </p:cNvGraphicFramePr>
              <p:nvPr/>
            </p:nvGraphicFramePr>
            <p:xfrm>
              <a:off x="654" y="669"/>
              <a:ext cx="318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597" name="Equation" r:id="rId5" imgW="253800" imgH="253800" progId="Equation.3">
                      <p:embed/>
                    </p:oleObj>
                  </mc:Choice>
                  <mc:Fallback>
                    <p:oleObj name="Equation" r:id="rId5" imgW="253800" imgH="253800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4" y="669"/>
                            <a:ext cx="318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4421" name="Object 37"/>
              <p:cNvGraphicFramePr>
                <a:graphicFrameLocks noChangeAspect="1"/>
              </p:cNvGraphicFramePr>
              <p:nvPr/>
            </p:nvGraphicFramePr>
            <p:xfrm>
              <a:off x="1788" y="822"/>
              <a:ext cx="318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598" name="Equation" r:id="rId7" imgW="253800" imgH="253800" progId="Equation.3">
                      <p:embed/>
                    </p:oleObj>
                  </mc:Choice>
                  <mc:Fallback>
                    <p:oleObj name="Equation" r:id="rId7" imgW="253800" imgH="253800" progId="Equation.3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88" y="822"/>
                            <a:ext cx="318" cy="3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33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4422" name="Line 38"/>
              <p:cNvSpPr>
                <a:spLocks noChangeShapeType="1"/>
              </p:cNvSpPr>
              <p:nvPr/>
            </p:nvSpPr>
            <p:spPr bwMode="auto">
              <a:xfrm>
                <a:off x="2383" y="728"/>
                <a:ext cx="204" cy="12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23" name="Line 39"/>
              <p:cNvSpPr>
                <a:spLocks noChangeShapeType="1"/>
              </p:cNvSpPr>
              <p:nvPr/>
            </p:nvSpPr>
            <p:spPr bwMode="auto">
              <a:xfrm>
                <a:off x="2575" y="848"/>
                <a:ext cx="109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24" name="Line 40"/>
              <p:cNvSpPr>
                <a:spLocks noChangeShapeType="1"/>
              </p:cNvSpPr>
              <p:nvPr/>
            </p:nvSpPr>
            <p:spPr bwMode="auto">
              <a:xfrm flipH="1">
                <a:off x="2449" y="626"/>
                <a:ext cx="144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25" name="Text Box 41"/>
              <p:cNvSpPr txBox="1">
                <a:spLocks noChangeArrowheads="1"/>
              </p:cNvSpPr>
              <p:nvPr/>
            </p:nvSpPr>
            <p:spPr bwMode="auto">
              <a:xfrm>
                <a:off x="2625" y="50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44426" name="Line 42"/>
              <p:cNvSpPr>
                <a:spLocks noChangeShapeType="1"/>
              </p:cNvSpPr>
              <p:nvPr/>
            </p:nvSpPr>
            <p:spPr bwMode="auto">
              <a:xfrm>
                <a:off x="2945" y="1550"/>
                <a:ext cx="20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7" name="Line 43"/>
              <p:cNvSpPr>
                <a:spLocks noChangeShapeType="1"/>
              </p:cNvSpPr>
              <p:nvPr/>
            </p:nvSpPr>
            <p:spPr bwMode="auto">
              <a:xfrm>
                <a:off x="2945" y="1249"/>
                <a:ext cx="23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8" name="Line 44"/>
              <p:cNvSpPr>
                <a:spLocks noChangeShapeType="1"/>
              </p:cNvSpPr>
              <p:nvPr/>
            </p:nvSpPr>
            <p:spPr bwMode="auto">
              <a:xfrm>
                <a:off x="2999" y="172"/>
                <a:ext cx="23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44429" name="Object 45"/>
              <p:cNvGraphicFramePr>
                <a:graphicFrameLocks noChangeAspect="1"/>
              </p:cNvGraphicFramePr>
              <p:nvPr/>
            </p:nvGraphicFramePr>
            <p:xfrm>
              <a:off x="2784" y="0"/>
              <a:ext cx="17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599" name="Equation" r:id="rId9" imgW="279360" imgH="393480" progId="Equation.3">
                      <p:embed/>
                    </p:oleObj>
                  </mc:Choice>
                  <mc:Fallback>
                    <p:oleObj name="Equation" r:id="rId9" imgW="279360" imgH="393480" progId="Equation.3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0"/>
                            <a:ext cx="176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4430" name="Object 46"/>
              <p:cNvGraphicFramePr>
                <a:graphicFrameLocks noChangeAspect="1"/>
              </p:cNvGraphicFramePr>
              <p:nvPr/>
            </p:nvGraphicFramePr>
            <p:xfrm>
              <a:off x="2743" y="1043"/>
              <a:ext cx="184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600" name="Equation" r:id="rId11" imgW="291960" imgH="393480" progId="Equation.3">
                      <p:embed/>
                    </p:oleObj>
                  </mc:Choice>
                  <mc:Fallback>
                    <p:oleObj name="Equation" r:id="rId11" imgW="291960" imgH="393480" progId="Equation.3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3" y="1043"/>
                            <a:ext cx="184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4431" name="Object 47"/>
              <p:cNvGraphicFramePr>
                <a:graphicFrameLocks noChangeAspect="1"/>
              </p:cNvGraphicFramePr>
              <p:nvPr/>
            </p:nvGraphicFramePr>
            <p:xfrm>
              <a:off x="2747" y="1341"/>
              <a:ext cx="17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601" name="Equation" r:id="rId13" imgW="279360" imgH="393480" progId="Equation.3">
                      <p:embed/>
                    </p:oleObj>
                  </mc:Choice>
                  <mc:Fallback>
                    <p:oleObj name="Equation" r:id="rId13" imgW="279360" imgH="393480" progId="Equation.3">
                      <p:embed/>
                      <p:pic>
                        <p:nvPicPr>
                          <p:cNvPr id="0" name="Object 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7" y="1341"/>
                            <a:ext cx="176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4432" name="Line 48"/>
              <p:cNvSpPr>
                <a:spLocks noChangeShapeType="1"/>
              </p:cNvSpPr>
              <p:nvPr/>
            </p:nvSpPr>
            <p:spPr bwMode="auto">
              <a:xfrm flipH="1">
                <a:off x="2794" y="794"/>
                <a:ext cx="2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44433" name="Object 49"/>
              <p:cNvGraphicFramePr>
                <a:graphicFrameLocks noChangeAspect="1"/>
              </p:cNvGraphicFramePr>
              <p:nvPr/>
            </p:nvGraphicFramePr>
            <p:xfrm>
              <a:off x="2940" y="529"/>
              <a:ext cx="208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602" name="Equation" r:id="rId15" imgW="330120" imgH="393480" progId="Equation.3">
                      <p:embed/>
                    </p:oleObj>
                  </mc:Choice>
                  <mc:Fallback>
                    <p:oleObj name="Equation" r:id="rId15" imgW="330120" imgH="393480" progId="Equation.3">
                      <p:embed/>
                      <p:pic>
                        <p:nvPicPr>
                          <p:cNvPr id="0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40" y="529"/>
                            <a:ext cx="208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4434" name="Text Box 50"/>
              <p:cNvSpPr txBox="1">
                <a:spLocks noChangeArrowheads="1"/>
              </p:cNvSpPr>
              <p:nvPr/>
            </p:nvSpPr>
            <p:spPr bwMode="auto">
              <a:xfrm>
                <a:off x="1351" y="3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A</a:t>
                </a:r>
              </a:p>
            </p:txBody>
          </p:sp>
          <p:sp>
            <p:nvSpPr>
              <p:cNvPr id="144435" name="Text Box 51"/>
              <p:cNvSpPr txBox="1">
                <a:spLocks noChangeArrowheads="1"/>
              </p:cNvSpPr>
              <p:nvPr/>
            </p:nvSpPr>
            <p:spPr bwMode="auto">
              <a:xfrm>
                <a:off x="1785" y="107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B</a:t>
                </a:r>
              </a:p>
            </p:txBody>
          </p:sp>
          <p:sp>
            <p:nvSpPr>
              <p:cNvPr id="144436" name="Text Box 52"/>
              <p:cNvSpPr txBox="1">
                <a:spLocks noChangeArrowheads="1"/>
              </p:cNvSpPr>
              <p:nvPr/>
            </p:nvSpPr>
            <p:spPr bwMode="auto">
              <a:xfrm>
                <a:off x="664" y="1082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C</a:t>
                </a:r>
              </a:p>
            </p:txBody>
          </p:sp>
          <p:graphicFrame>
            <p:nvGraphicFramePr>
              <p:cNvPr id="144437" name="Object 53"/>
              <p:cNvGraphicFramePr>
                <a:graphicFrameLocks noChangeAspect="1"/>
              </p:cNvGraphicFramePr>
              <p:nvPr/>
            </p:nvGraphicFramePr>
            <p:xfrm>
              <a:off x="3668" y="670"/>
              <a:ext cx="258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603" name="Equation" r:id="rId17" imgW="203040" imgH="177480" progId="Equation.3">
                      <p:embed/>
                    </p:oleObj>
                  </mc:Choice>
                  <mc:Fallback>
                    <p:oleObj name="Equation" r:id="rId17" imgW="203040" imgH="177480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68" y="670"/>
                            <a:ext cx="258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4438" name="Group 54"/>
            <p:cNvGrpSpPr>
              <a:grpSpLocks/>
            </p:cNvGrpSpPr>
            <p:nvPr/>
          </p:nvGrpSpPr>
          <p:grpSpPr bwMode="auto">
            <a:xfrm>
              <a:off x="645" y="1852"/>
              <a:ext cx="3475" cy="424"/>
              <a:chOff x="645" y="1852"/>
              <a:chExt cx="3475" cy="424"/>
            </a:xfrm>
          </p:grpSpPr>
          <p:graphicFrame>
            <p:nvGraphicFramePr>
              <p:cNvPr id="144439" name="Object 55"/>
              <p:cNvGraphicFramePr>
                <a:graphicFrameLocks noChangeAspect="1"/>
              </p:cNvGraphicFramePr>
              <p:nvPr/>
            </p:nvGraphicFramePr>
            <p:xfrm>
              <a:off x="2824" y="2044"/>
              <a:ext cx="112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604" name="Equation" r:id="rId19" imgW="177480" imgH="368280" progId="Equation.3">
                      <p:embed/>
                    </p:oleObj>
                  </mc:Choice>
                  <mc:Fallback>
                    <p:oleObj name="Equation" r:id="rId19" imgW="177480" imgH="368280" progId="Equation.3">
                      <p:embed/>
                      <p:pic>
                        <p:nvPicPr>
                          <p:cNvPr id="0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24" y="2044"/>
                            <a:ext cx="112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4440" name="Text Box 56"/>
              <p:cNvSpPr txBox="1">
                <a:spLocks noChangeArrowheads="1"/>
              </p:cNvSpPr>
              <p:nvPr/>
            </p:nvSpPr>
            <p:spPr bwMode="auto">
              <a:xfrm>
                <a:off x="3171" y="1852"/>
                <a:ext cx="9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a</a:t>
                </a:r>
                <a:r>
                  <a:rPr lang="en-US" altLang="zh-CN">
                    <a:solidFill>
                      <a:schemeClr val="tx1"/>
                    </a:solidFill>
                    <a:sym typeface="Symbol" panose="05050102010706020507" pitchFamily="18" charset="2"/>
                  </a:rPr>
                  <a:t></a:t>
                </a: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b</a:t>
                </a:r>
                <a:r>
                  <a:rPr lang="en-US" altLang="zh-CN">
                    <a:solidFill>
                      <a:schemeClr val="tx1"/>
                    </a:solidFill>
                  </a:rPr>
                  <a:t> </a:t>
                </a:r>
                <a:r>
                  <a:rPr lang="en-US" altLang="zh-CN">
                    <a:solidFill>
                      <a:schemeClr val="tx1"/>
                    </a:solidFill>
                    <a:sym typeface="Symbol" panose="05050102010706020507" pitchFamily="18" charset="2"/>
                  </a:rPr>
                  <a:t></a:t>
                </a: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144441" name="Rectangle 57"/>
              <p:cNvSpPr>
                <a:spLocks noChangeArrowheads="1"/>
              </p:cNvSpPr>
              <p:nvPr/>
            </p:nvSpPr>
            <p:spPr bwMode="auto">
              <a:xfrm>
                <a:off x="645" y="1872"/>
                <a:ext cx="2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>
                    <a:solidFill>
                      <a:schemeClr val="tx1"/>
                    </a:solidFill>
                  </a:rPr>
                  <a:t>三相电源对称，负载不对称</a:t>
                </a:r>
              </a:p>
            </p:txBody>
          </p:sp>
        </p:grpSp>
      </p:grpSp>
      <p:sp>
        <p:nvSpPr>
          <p:cNvPr id="144442" name="Line 58"/>
          <p:cNvSpPr>
            <a:spLocks noChangeShapeType="1"/>
          </p:cNvSpPr>
          <p:nvPr/>
        </p:nvSpPr>
        <p:spPr bwMode="auto">
          <a:xfrm flipH="1">
            <a:off x="2457450" y="4476750"/>
            <a:ext cx="19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443" name="Rectangle 59"/>
          <p:cNvSpPr>
            <a:spLocks noChangeArrowheads="1"/>
          </p:cNvSpPr>
          <p:nvPr/>
        </p:nvSpPr>
        <p:spPr bwMode="auto">
          <a:xfrm>
            <a:off x="623888" y="423545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负载电流</a:t>
            </a:r>
          </a:p>
        </p:txBody>
      </p:sp>
      <p:graphicFrame>
        <p:nvGraphicFramePr>
          <p:cNvPr id="144444" name="Object 60"/>
          <p:cNvGraphicFramePr>
            <a:graphicFrameLocks noChangeAspect="1"/>
          </p:cNvGraphicFramePr>
          <p:nvPr/>
        </p:nvGraphicFramePr>
        <p:xfrm>
          <a:off x="2405063" y="3911600"/>
          <a:ext cx="1495425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5" name="Equation" r:id="rId21" imgW="647640" imgH="457200" progId="Equation.3">
                  <p:embed/>
                </p:oleObj>
              </mc:Choice>
              <mc:Fallback>
                <p:oleObj name="Equation" r:id="rId21" imgW="647640" imgH="4572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3911600"/>
                        <a:ext cx="1495425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45" name="Object 61"/>
          <p:cNvGraphicFramePr>
            <a:graphicFrameLocks noChangeAspect="1"/>
          </p:cNvGraphicFramePr>
          <p:nvPr/>
        </p:nvGraphicFramePr>
        <p:xfrm>
          <a:off x="6153150" y="3968750"/>
          <a:ext cx="1425575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6" name="Equation" r:id="rId23" imgW="634680" imgH="457200" progId="Equation.3">
                  <p:embed/>
                </p:oleObj>
              </mc:Choice>
              <mc:Fallback>
                <p:oleObj name="Equation" r:id="rId23" imgW="634680" imgH="45720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3150" y="3968750"/>
                        <a:ext cx="1425575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46" name="Object 62"/>
          <p:cNvGraphicFramePr>
            <a:graphicFrameLocks noChangeAspect="1"/>
          </p:cNvGraphicFramePr>
          <p:nvPr/>
        </p:nvGraphicFramePr>
        <p:xfrm>
          <a:off x="4319588" y="3968750"/>
          <a:ext cx="14605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7" name="Equation" r:id="rId25" imgW="647640" imgH="457200" progId="Equation.3">
                  <p:embed/>
                </p:oleObj>
              </mc:Choice>
              <mc:Fallback>
                <p:oleObj name="Equation" r:id="rId25" imgW="647640" imgH="45720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3968750"/>
                        <a:ext cx="146050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47" name="Text Box 63"/>
          <p:cNvSpPr txBox="1">
            <a:spLocks noChangeArrowheads="1"/>
          </p:cNvSpPr>
          <p:nvPr/>
        </p:nvSpPr>
        <p:spPr bwMode="auto">
          <a:xfrm>
            <a:off x="1465263" y="5265738"/>
            <a:ext cx="6157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由于负载三相电压不对称</a:t>
            </a:r>
            <a:r>
              <a:rPr lang="en-US" altLang="zh-CN"/>
              <a:t>, </a:t>
            </a:r>
            <a:r>
              <a:rPr lang="zh-CN" altLang="en-US"/>
              <a:t>故三相电流不对称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4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4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4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4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44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43" grpId="0" build="p" autoUpdateAnimBg="0"/>
      <p:bldP spid="144447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124" name="Object 68"/>
          <p:cNvGraphicFramePr>
            <a:graphicFrameLocks noChangeAspect="1"/>
          </p:cNvGraphicFramePr>
          <p:nvPr/>
        </p:nvGraphicFramePr>
        <p:xfrm>
          <a:off x="1585913" y="3635375"/>
          <a:ext cx="14859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9" name="Equation" r:id="rId3" imgW="558720" imgH="241200" progId="Equation.3">
                  <p:embed/>
                </p:oleObj>
              </mc:Choice>
              <mc:Fallback>
                <p:oleObj name="Equation" r:id="rId3" imgW="558720" imgH="2412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913" y="3635375"/>
                        <a:ext cx="14859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25" name="Text Box 69"/>
          <p:cNvSpPr txBox="1">
            <a:spLocks noChangeArrowheads="1"/>
          </p:cNvSpPr>
          <p:nvPr/>
        </p:nvSpPr>
        <p:spPr bwMode="auto">
          <a:xfrm>
            <a:off x="989013" y="598170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中线电流</a:t>
            </a:r>
          </a:p>
        </p:txBody>
      </p:sp>
      <p:sp>
        <p:nvSpPr>
          <p:cNvPr id="45133" name="Rectangle 77"/>
          <p:cNvSpPr>
            <a:spLocks noChangeArrowheads="1"/>
          </p:cNvSpPr>
          <p:nvPr/>
        </p:nvSpPr>
        <p:spPr bwMode="auto">
          <a:xfrm>
            <a:off x="3287713" y="3717925"/>
            <a:ext cx="4167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负载三相电压为电源三相电压</a:t>
            </a:r>
          </a:p>
        </p:txBody>
      </p:sp>
      <p:sp>
        <p:nvSpPr>
          <p:cNvPr id="45134" name="Rectangle 78"/>
          <p:cNvSpPr>
            <a:spLocks noChangeArrowheads="1"/>
          </p:cNvSpPr>
          <p:nvPr/>
        </p:nvSpPr>
        <p:spPr bwMode="auto">
          <a:xfrm>
            <a:off x="938213" y="4530725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负载电流</a:t>
            </a:r>
          </a:p>
        </p:txBody>
      </p:sp>
      <p:sp>
        <p:nvSpPr>
          <p:cNvPr id="45135" name="Line 79"/>
          <p:cNvSpPr>
            <a:spLocks noChangeShapeType="1"/>
          </p:cNvSpPr>
          <p:nvPr/>
        </p:nvSpPr>
        <p:spPr bwMode="auto">
          <a:xfrm flipH="1">
            <a:off x="2686050" y="4810125"/>
            <a:ext cx="19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136" name="Object 80"/>
          <p:cNvGraphicFramePr>
            <a:graphicFrameLocks noChangeAspect="1"/>
          </p:cNvGraphicFramePr>
          <p:nvPr/>
        </p:nvGraphicFramePr>
        <p:xfrm>
          <a:off x="2552700" y="4346575"/>
          <a:ext cx="14224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80" name="Equation" r:id="rId5" imgW="1168200" imgH="812520" progId="Equation.3">
                  <p:embed/>
                </p:oleObj>
              </mc:Choice>
              <mc:Fallback>
                <p:oleObj name="Equation" r:id="rId5" imgW="1168200" imgH="812520" progId="Equation.3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346575"/>
                        <a:ext cx="142240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7" name="Object 81"/>
          <p:cNvGraphicFramePr>
            <a:graphicFrameLocks noChangeAspect="1"/>
          </p:cNvGraphicFramePr>
          <p:nvPr/>
        </p:nvGraphicFramePr>
        <p:xfrm>
          <a:off x="6521450" y="4333875"/>
          <a:ext cx="144145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81" name="Equation" r:id="rId7" imgW="1231560" imgH="850680" progId="Equation.3">
                  <p:embed/>
                </p:oleObj>
              </mc:Choice>
              <mc:Fallback>
                <p:oleObj name="Equation" r:id="rId7" imgW="1231560" imgH="850680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1450" y="4333875"/>
                        <a:ext cx="144145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8" name="Object 82"/>
          <p:cNvGraphicFramePr>
            <a:graphicFrameLocks noChangeAspect="1"/>
          </p:cNvGraphicFramePr>
          <p:nvPr/>
        </p:nvGraphicFramePr>
        <p:xfrm>
          <a:off x="4543425" y="4391025"/>
          <a:ext cx="1333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82" name="Equation" r:id="rId9" imgW="1168200" imgH="812520" progId="Equation.3">
                  <p:embed/>
                </p:oleObj>
              </mc:Choice>
              <mc:Fallback>
                <p:oleObj name="Equation" r:id="rId9" imgW="1168200" imgH="812520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3425" y="4391025"/>
                        <a:ext cx="1333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39" name="Object 83"/>
          <p:cNvGraphicFramePr>
            <a:graphicFrameLocks noChangeAspect="1"/>
          </p:cNvGraphicFramePr>
          <p:nvPr/>
        </p:nvGraphicFramePr>
        <p:xfrm>
          <a:off x="2841625" y="6045200"/>
          <a:ext cx="2514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83" name="Equation" r:id="rId11" imgW="2514600" imgH="393480" progId="Equation.3">
                  <p:embed/>
                </p:oleObj>
              </mc:Choice>
              <mc:Fallback>
                <p:oleObj name="Equation" r:id="rId11" imgW="2514600" imgH="393480" progId="Equation.3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6045200"/>
                        <a:ext cx="2514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40" name="Rectangle 84"/>
          <p:cNvSpPr>
            <a:spLocks noChangeArrowheads="1"/>
          </p:cNvSpPr>
          <p:nvPr/>
        </p:nvSpPr>
        <p:spPr bwMode="auto">
          <a:xfrm>
            <a:off x="1992313" y="5386388"/>
            <a:ext cx="5186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由于</a:t>
            </a:r>
            <a:r>
              <a:rPr lang="en-US" altLang="zh-CN" i="1"/>
              <a:t>Z</a:t>
            </a:r>
            <a:r>
              <a:rPr lang="en-US" altLang="zh-CN" baseline="-25000"/>
              <a:t>a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 i="1"/>
              <a:t>Z</a:t>
            </a:r>
            <a:r>
              <a:rPr lang="en-US" altLang="zh-CN" baseline="-25000"/>
              <a:t>b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 i="1"/>
              <a:t>Z</a:t>
            </a:r>
            <a:r>
              <a:rPr lang="en-US" altLang="zh-CN" baseline="-25000"/>
              <a:t>c</a:t>
            </a:r>
            <a:r>
              <a:rPr lang="en-US" altLang="zh-CN" baseline="-25000">
                <a:solidFill>
                  <a:schemeClr val="tx1"/>
                </a:solidFill>
              </a:rPr>
              <a:t>  </a:t>
            </a:r>
            <a:r>
              <a:rPr lang="zh-CN" altLang="en-US"/>
              <a:t>，故三相电流不对称</a:t>
            </a:r>
          </a:p>
        </p:txBody>
      </p:sp>
      <p:sp>
        <p:nvSpPr>
          <p:cNvPr id="45141" name="Rectangle 85"/>
          <p:cNvSpPr>
            <a:spLocks noChangeArrowheads="1"/>
          </p:cNvSpPr>
          <p:nvPr/>
        </p:nvSpPr>
        <p:spPr bwMode="auto">
          <a:xfrm>
            <a:off x="320675" y="223838"/>
            <a:ext cx="2328863" cy="822325"/>
          </a:xfrm>
          <a:prstGeom prst="rect">
            <a:avLst/>
          </a:prstGeom>
          <a:solidFill>
            <a:srgbClr val="00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</a:rPr>
              <a:t>(2) S</a:t>
            </a:r>
            <a:r>
              <a:rPr lang="zh-CN" altLang="en-US">
                <a:solidFill>
                  <a:schemeClr val="tx1"/>
                </a:solidFill>
              </a:rPr>
              <a:t>闭合</a:t>
            </a:r>
          </a:p>
          <a:p>
            <a:r>
              <a:rPr lang="zh-CN" altLang="en-US">
                <a:solidFill>
                  <a:schemeClr val="tx1"/>
                </a:solidFill>
              </a:rPr>
              <a:t>（有中线情况）</a:t>
            </a:r>
          </a:p>
        </p:txBody>
      </p:sp>
      <p:grpSp>
        <p:nvGrpSpPr>
          <p:cNvPr id="45208" name="Group 152"/>
          <p:cNvGrpSpPr>
            <a:grpSpLocks/>
          </p:cNvGrpSpPr>
          <p:nvPr/>
        </p:nvGrpSpPr>
        <p:grpSpPr bwMode="auto">
          <a:xfrm>
            <a:off x="2224088" y="247650"/>
            <a:ext cx="5889625" cy="3365500"/>
            <a:chOff x="1401" y="156"/>
            <a:chExt cx="3710" cy="2120"/>
          </a:xfrm>
        </p:grpSpPr>
        <p:sp>
          <p:nvSpPr>
            <p:cNvPr id="45151" name="Oval 95"/>
            <p:cNvSpPr>
              <a:spLocks noChangeArrowheads="1"/>
            </p:cNvSpPr>
            <p:nvPr/>
          </p:nvSpPr>
          <p:spPr bwMode="auto">
            <a:xfrm>
              <a:off x="1831" y="1028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152" name="Oval 96"/>
            <p:cNvSpPr>
              <a:spLocks noChangeArrowheads="1"/>
            </p:cNvSpPr>
            <p:nvPr/>
          </p:nvSpPr>
          <p:spPr bwMode="auto">
            <a:xfrm>
              <a:off x="2347" y="1040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153" name="Oval 97"/>
            <p:cNvSpPr>
              <a:spLocks noChangeArrowheads="1"/>
            </p:cNvSpPr>
            <p:nvPr/>
          </p:nvSpPr>
          <p:spPr bwMode="auto">
            <a:xfrm>
              <a:off x="2080" y="500"/>
              <a:ext cx="288" cy="28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154" name="Line 98"/>
            <p:cNvSpPr>
              <a:spLocks noChangeShapeType="1"/>
            </p:cNvSpPr>
            <p:nvPr/>
          </p:nvSpPr>
          <p:spPr bwMode="auto">
            <a:xfrm>
              <a:off x="2227" y="40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55" name="Line 99"/>
            <p:cNvSpPr>
              <a:spLocks noChangeShapeType="1"/>
            </p:cNvSpPr>
            <p:nvPr/>
          </p:nvSpPr>
          <p:spPr bwMode="auto">
            <a:xfrm>
              <a:off x="2227" y="980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56" name="Line 100"/>
            <p:cNvSpPr>
              <a:spLocks noChangeShapeType="1"/>
            </p:cNvSpPr>
            <p:nvPr/>
          </p:nvSpPr>
          <p:spPr bwMode="auto">
            <a:xfrm flipH="1">
              <a:off x="1795" y="980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57" name="Text Box 101"/>
            <p:cNvSpPr txBox="1">
              <a:spLocks noChangeArrowheads="1"/>
            </p:cNvSpPr>
            <p:nvPr/>
          </p:nvSpPr>
          <p:spPr bwMode="auto">
            <a:xfrm>
              <a:off x="2011" y="29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5158" name="Text Box 102"/>
            <p:cNvSpPr txBox="1">
              <a:spLocks noChangeArrowheads="1"/>
            </p:cNvSpPr>
            <p:nvPr/>
          </p:nvSpPr>
          <p:spPr bwMode="auto">
            <a:xfrm>
              <a:off x="2006" y="6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5159" name="Line 103"/>
            <p:cNvSpPr>
              <a:spLocks noChangeShapeType="1"/>
            </p:cNvSpPr>
            <p:nvPr/>
          </p:nvSpPr>
          <p:spPr bwMode="auto">
            <a:xfrm>
              <a:off x="2659" y="131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0" name="Line 104"/>
            <p:cNvSpPr>
              <a:spLocks noChangeShapeType="1"/>
            </p:cNvSpPr>
            <p:nvPr/>
          </p:nvSpPr>
          <p:spPr bwMode="auto">
            <a:xfrm>
              <a:off x="1795" y="1316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1" name="Line 105"/>
            <p:cNvSpPr>
              <a:spLocks noChangeShapeType="1"/>
            </p:cNvSpPr>
            <p:nvPr/>
          </p:nvSpPr>
          <p:spPr bwMode="auto">
            <a:xfrm flipV="1">
              <a:off x="2227" y="980"/>
              <a:ext cx="10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2" name="Line 106"/>
            <p:cNvSpPr>
              <a:spLocks noChangeShapeType="1"/>
            </p:cNvSpPr>
            <p:nvPr/>
          </p:nvSpPr>
          <p:spPr bwMode="auto">
            <a:xfrm>
              <a:off x="4531" y="40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3" name="Line 107"/>
            <p:cNvSpPr>
              <a:spLocks noChangeShapeType="1"/>
            </p:cNvSpPr>
            <p:nvPr/>
          </p:nvSpPr>
          <p:spPr bwMode="auto">
            <a:xfrm>
              <a:off x="4531" y="980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4" name="Line 108"/>
            <p:cNvSpPr>
              <a:spLocks noChangeShapeType="1"/>
            </p:cNvSpPr>
            <p:nvPr/>
          </p:nvSpPr>
          <p:spPr bwMode="auto">
            <a:xfrm flipH="1">
              <a:off x="4099" y="980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5" name="Line 109"/>
            <p:cNvSpPr>
              <a:spLocks noChangeShapeType="1"/>
            </p:cNvSpPr>
            <p:nvPr/>
          </p:nvSpPr>
          <p:spPr bwMode="auto">
            <a:xfrm>
              <a:off x="4099" y="1316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6" name="Line 110"/>
            <p:cNvSpPr>
              <a:spLocks noChangeShapeType="1"/>
            </p:cNvSpPr>
            <p:nvPr/>
          </p:nvSpPr>
          <p:spPr bwMode="auto">
            <a:xfrm>
              <a:off x="2659" y="1460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7" name="Line 111"/>
            <p:cNvSpPr>
              <a:spLocks noChangeShapeType="1"/>
            </p:cNvSpPr>
            <p:nvPr/>
          </p:nvSpPr>
          <p:spPr bwMode="auto">
            <a:xfrm>
              <a:off x="4963" y="131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8" name="Line 112"/>
            <p:cNvSpPr>
              <a:spLocks noChangeShapeType="1"/>
            </p:cNvSpPr>
            <p:nvPr/>
          </p:nvSpPr>
          <p:spPr bwMode="auto">
            <a:xfrm>
              <a:off x="1795" y="1748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69" name="Line 113"/>
            <p:cNvSpPr>
              <a:spLocks noChangeShapeType="1"/>
            </p:cNvSpPr>
            <p:nvPr/>
          </p:nvSpPr>
          <p:spPr bwMode="auto">
            <a:xfrm>
              <a:off x="2227" y="404"/>
              <a:ext cx="2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70" name="Rectangle 114"/>
            <p:cNvSpPr>
              <a:spLocks noChangeArrowheads="1"/>
            </p:cNvSpPr>
            <p:nvPr/>
          </p:nvSpPr>
          <p:spPr bwMode="auto">
            <a:xfrm>
              <a:off x="4471" y="548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171" name="Rectangle 115"/>
            <p:cNvSpPr>
              <a:spLocks noChangeArrowheads="1"/>
            </p:cNvSpPr>
            <p:nvPr/>
          </p:nvSpPr>
          <p:spPr bwMode="auto">
            <a:xfrm rot="-3081491">
              <a:off x="4704" y="1016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172" name="Rectangle 116"/>
            <p:cNvSpPr>
              <a:spLocks noChangeArrowheads="1"/>
            </p:cNvSpPr>
            <p:nvPr/>
          </p:nvSpPr>
          <p:spPr bwMode="auto">
            <a:xfrm rot="3244221">
              <a:off x="4233" y="1016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173" name="Text Box 117"/>
            <p:cNvSpPr txBox="1">
              <a:spLocks noChangeArrowheads="1"/>
            </p:cNvSpPr>
            <p:nvPr/>
          </p:nvSpPr>
          <p:spPr bwMode="auto">
            <a:xfrm rot="-2281704">
              <a:off x="1759" y="122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5174" name="Text Box 118"/>
            <p:cNvSpPr txBox="1">
              <a:spLocks noChangeArrowheads="1"/>
            </p:cNvSpPr>
            <p:nvPr/>
          </p:nvSpPr>
          <p:spPr bwMode="auto">
            <a:xfrm rot="-2468153">
              <a:off x="1999" y="8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5175" name="Text Box 119"/>
            <p:cNvSpPr txBox="1">
              <a:spLocks noChangeArrowheads="1"/>
            </p:cNvSpPr>
            <p:nvPr/>
          </p:nvSpPr>
          <p:spPr bwMode="auto">
            <a:xfrm rot="2397863">
              <a:off x="2251" y="8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5176" name="Text Box 120"/>
            <p:cNvSpPr txBox="1">
              <a:spLocks noChangeArrowheads="1"/>
            </p:cNvSpPr>
            <p:nvPr/>
          </p:nvSpPr>
          <p:spPr bwMode="auto">
            <a:xfrm rot="-2578573">
              <a:off x="2473" y="123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5177" name="Text Box 121"/>
            <p:cNvSpPr txBox="1">
              <a:spLocks noChangeArrowheads="1"/>
            </p:cNvSpPr>
            <p:nvPr/>
          </p:nvSpPr>
          <p:spPr bwMode="auto">
            <a:xfrm>
              <a:off x="2221" y="72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  <p:sp>
          <p:nvSpPr>
            <p:cNvPr id="45178" name="Text Box 122"/>
            <p:cNvSpPr txBox="1">
              <a:spLocks noChangeArrowheads="1"/>
            </p:cNvSpPr>
            <p:nvPr/>
          </p:nvSpPr>
          <p:spPr bwMode="auto">
            <a:xfrm>
              <a:off x="4531" y="733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/>
            </a:p>
          </p:txBody>
        </p:sp>
        <p:sp>
          <p:nvSpPr>
            <p:cNvPr id="45179" name="Text Box 123"/>
            <p:cNvSpPr txBox="1">
              <a:spLocks noChangeArrowheads="1"/>
            </p:cNvSpPr>
            <p:nvPr/>
          </p:nvSpPr>
          <p:spPr bwMode="auto">
            <a:xfrm>
              <a:off x="4569" y="478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a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5180" name="Text Box 124"/>
            <p:cNvSpPr txBox="1">
              <a:spLocks noChangeArrowheads="1"/>
            </p:cNvSpPr>
            <p:nvPr/>
          </p:nvSpPr>
          <p:spPr bwMode="auto">
            <a:xfrm>
              <a:off x="4807" y="932"/>
              <a:ext cx="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b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5181" name="Text Box 125"/>
            <p:cNvSpPr txBox="1">
              <a:spLocks noChangeArrowheads="1"/>
            </p:cNvSpPr>
            <p:nvPr/>
          </p:nvSpPr>
          <p:spPr bwMode="auto">
            <a:xfrm>
              <a:off x="4272" y="1124"/>
              <a:ext cx="2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c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graphicFrame>
          <p:nvGraphicFramePr>
            <p:cNvPr id="45182" name="Object 126"/>
            <p:cNvGraphicFramePr>
              <a:graphicFrameLocks noChangeAspect="1"/>
            </p:cNvGraphicFramePr>
            <p:nvPr/>
          </p:nvGraphicFramePr>
          <p:xfrm>
            <a:off x="1727" y="422"/>
            <a:ext cx="320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84" name="Equation" r:id="rId13" imgW="253800" imgH="253800" progId="Equation.3">
                    <p:embed/>
                  </p:oleObj>
                </mc:Choice>
                <mc:Fallback>
                  <p:oleObj name="Equation" r:id="rId13" imgW="253800" imgH="253800" progId="Equation.3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7" y="422"/>
                          <a:ext cx="320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83" name="Object 127"/>
            <p:cNvGraphicFramePr>
              <a:graphicFrameLocks noChangeAspect="1"/>
            </p:cNvGraphicFramePr>
            <p:nvPr/>
          </p:nvGraphicFramePr>
          <p:xfrm>
            <a:off x="1530" y="825"/>
            <a:ext cx="318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85" name="Equation" r:id="rId15" imgW="253800" imgH="253800" progId="Equation.3">
                    <p:embed/>
                  </p:oleObj>
                </mc:Choice>
                <mc:Fallback>
                  <p:oleObj name="Equation" r:id="rId15" imgW="253800" imgH="253800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0" y="825"/>
                          <a:ext cx="318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84" name="Object 128"/>
            <p:cNvGraphicFramePr>
              <a:graphicFrameLocks noChangeAspect="1"/>
            </p:cNvGraphicFramePr>
            <p:nvPr/>
          </p:nvGraphicFramePr>
          <p:xfrm>
            <a:off x="2664" y="978"/>
            <a:ext cx="31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86" name="Equation" r:id="rId17" imgW="253800" imgH="253800" progId="Equation.3">
                    <p:embed/>
                  </p:oleObj>
                </mc:Choice>
                <mc:Fallback>
                  <p:oleObj name="Equation" r:id="rId17" imgW="253800" imgH="253800" progId="Equation.3">
                    <p:embed/>
                    <p:pic>
                      <p:nvPicPr>
                        <p:cNvPr id="0" name="Object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4" y="978"/>
                          <a:ext cx="31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186" name="Line 130"/>
            <p:cNvSpPr>
              <a:spLocks noChangeShapeType="1"/>
            </p:cNvSpPr>
            <p:nvPr/>
          </p:nvSpPr>
          <p:spPr bwMode="auto">
            <a:xfrm>
              <a:off x="3451" y="1004"/>
              <a:ext cx="109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87" name="Line 131"/>
            <p:cNvSpPr>
              <a:spLocks noChangeShapeType="1"/>
            </p:cNvSpPr>
            <p:nvPr/>
          </p:nvSpPr>
          <p:spPr bwMode="auto">
            <a:xfrm flipH="1">
              <a:off x="3353" y="846"/>
              <a:ext cx="144" cy="1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88" name="Text Box 132"/>
            <p:cNvSpPr txBox="1">
              <a:spLocks noChangeArrowheads="1"/>
            </p:cNvSpPr>
            <p:nvPr/>
          </p:nvSpPr>
          <p:spPr bwMode="auto">
            <a:xfrm>
              <a:off x="3501" y="658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45189" name="Line 133"/>
            <p:cNvSpPr>
              <a:spLocks noChangeShapeType="1"/>
            </p:cNvSpPr>
            <p:nvPr/>
          </p:nvSpPr>
          <p:spPr bwMode="auto">
            <a:xfrm>
              <a:off x="3821" y="1706"/>
              <a:ext cx="2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5190" name="Line 134"/>
            <p:cNvSpPr>
              <a:spLocks noChangeShapeType="1"/>
            </p:cNvSpPr>
            <p:nvPr/>
          </p:nvSpPr>
          <p:spPr bwMode="auto">
            <a:xfrm>
              <a:off x="3821" y="1405"/>
              <a:ext cx="2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5191" name="Line 135"/>
            <p:cNvSpPr>
              <a:spLocks noChangeShapeType="1"/>
            </p:cNvSpPr>
            <p:nvPr/>
          </p:nvSpPr>
          <p:spPr bwMode="auto">
            <a:xfrm>
              <a:off x="3875" y="328"/>
              <a:ext cx="2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5192" name="Object 136"/>
            <p:cNvGraphicFramePr>
              <a:graphicFrameLocks noChangeAspect="1"/>
            </p:cNvGraphicFramePr>
            <p:nvPr/>
          </p:nvGraphicFramePr>
          <p:xfrm>
            <a:off x="3660" y="156"/>
            <a:ext cx="17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87" name="Equation" r:id="rId19" imgW="279360" imgH="393480" progId="Equation.3">
                    <p:embed/>
                  </p:oleObj>
                </mc:Choice>
                <mc:Fallback>
                  <p:oleObj name="Equation" r:id="rId19" imgW="279360" imgH="393480" progId="Equation.3">
                    <p:embed/>
                    <p:pic>
                      <p:nvPicPr>
                        <p:cNvPr id="0" name="Object 1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" y="156"/>
                          <a:ext cx="176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93" name="Object 137"/>
            <p:cNvGraphicFramePr>
              <a:graphicFrameLocks noChangeAspect="1"/>
            </p:cNvGraphicFramePr>
            <p:nvPr/>
          </p:nvGraphicFramePr>
          <p:xfrm>
            <a:off x="3619" y="1199"/>
            <a:ext cx="1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88" name="Equation" r:id="rId21" imgW="291960" imgH="393480" progId="Equation.3">
                    <p:embed/>
                  </p:oleObj>
                </mc:Choice>
                <mc:Fallback>
                  <p:oleObj name="Equation" r:id="rId21" imgW="291960" imgH="393480" progId="Equation.3">
                    <p:embed/>
                    <p:pic>
                      <p:nvPicPr>
                        <p:cNvPr id="0" name="Object 1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9" y="1199"/>
                          <a:ext cx="18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94" name="Object 138"/>
            <p:cNvGraphicFramePr>
              <a:graphicFrameLocks noChangeAspect="1"/>
            </p:cNvGraphicFramePr>
            <p:nvPr/>
          </p:nvGraphicFramePr>
          <p:xfrm>
            <a:off x="3623" y="1497"/>
            <a:ext cx="17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89" name="Equation" r:id="rId23" imgW="279360" imgH="393480" progId="Equation.3">
                    <p:embed/>
                  </p:oleObj>
                </mc:Choice>
                <mc:Fallback>
                  <p:oleObj name="Equation" r:id="rId23" imgW="279360" imgH="393480" progId="Equation.3">
                    <p:embed/>
                    <p:pic>
                      <p:nvPicPr>
                        <p:cNvPr id="0" name="Object 1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3" y="1497"/>
                          <a:ext cx="176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195" name="Line 139"/>
            <p:cNvSpPr>
              <a:spLocks noChangeShapeType="1"/>
            </p:cNvSpPr>
            <p:nvPr/>
          </p:nvSpPr>
          <p:spPr bwMode="auto">
            <a:xfrm flipH="1">
              <a:off x="3670" y="950"/>
              <a:ext cx="2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5196" name="Object 140"/>
            <p:cNvGraphicFramePr>
              <a:graphicFrameLocks noChangeAspect="1"/>
            </p:cNvGraphicFramePr>
            <p:nvPr/>
          </p:nvGraphicFramePr>
          <p:xfrm>
            <a:off x="3816" y="685"/>
            <a:ext cx="20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90" name="Equation" r:id="rId25" imgW="330120" imgH="393480" progId="Equation.3">
                    <p:embed/>
                  </p:oleObj>
                </mc:Choice>
                <mc:Fallback>
                  <p:oleObj name="Equation" r:id="rId25" imgW="330120" imgH="393480" progId="Equation.3">
                    <p:embed/>
                    <p:pic>
                      <p:nvPicPr>
                        <p:cNvPr id="0" name="Object 1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685"/>
                          <a:ext cx="20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197" name="Text Box 141"/>
            <p:cNvSpPr txBox="1">
              <a:spLocks noChangeArrowheads="1"/>
            </p:cNvSpPr>
            <p:nvPr/>
          </p:nvSpPr>
          <p:spPr bwMode="auto">
            <a:xfrm>
              <a:off x="2227" y="15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A</a:t>
              </a:r>
            </a:p>
          </p:txBody>
        </p:sp>
        <p:sp>
          <p:nvSpPr>
            <p:cNvPr id="45198" name="Text Box 142"/>
            <p:cNvSpPr txBox="1">
              <a:spLocks noChangeArrowheads="1"/>
            </p:cNvSpPr>
            <p:nvPr/>
          </p:nvSpPr>
          <p:spPr bwMode="auto">
            <a:xfrm>
              <a:off x="2661" y="122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B</a:t>
              </a:r>
            </a:p>
          </p:txBody>
        </p:sp>
        <p:sp>
          <p:nvSpPr>
            <p:cNvPr id="45199" name="Text Box 143"/>
            <p:cNvSpPr txBox="1">
              <a:spLocks noChangeArrowheads="1"/>
            </p:cNvSpPr>
            <p:nvPr/>
          </p:nvSpPr>
          <p:spPr bwMode="auto">
            <a:xfrm>
              <a:off x="1540" y="123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C</a:t>
              </a:r>
            </a:p>
          </p:txBody>
        </p:sp>
        <p:graphicFrame>
          <p:nvGraphicFramePr>
            <p:cNvPr id="45200" name="Object 144"/>
            <p:cNvGraphicFramePr>
              <a:graphicFrameLocks noChangeAspect="1"/>
            </p:cNvGraphicFramePr>
            <p:nvPr/>
          </p:nvGraphicFramePr>
          <p:xfrm>
            <a:off x="4544" y="826"/>
            <a:ext cx="258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391" name="Equation" r:id="rId27" imgW="203040" imgH="177480" progId="Equation.3">
                    <p:embed/>
                  </p:oleObj>
                </mc:Choice>
                <mc:Fallback>
                  <p:oleObj name="Equation" r:id="rId27" imgW="203040" imgH="177480" progId="Equation.3">
                    <p:embed/>
                    <p:pic>
                      <p:nvPicPr>
                        <p:cNvPr id="0" name="Object 1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4" y="826"/>
                          <a:ext cx="258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5205" name="Group 149"/>
            <p:cNvGrpSpPr>
              <a:grpSpLocks/>
            </p:cNvGrpSpPr>
            <p:nvPr/>
          </p:nvGrpSpPr>
          <p:grpSpPr bwMode="auto">
            <a:xfrm>
              <a:off x="1401" y="1852"/>
              <a:ext cx="3475" cy="424"/>
              <a:chOff x="1401" y="1852"/>
              <a:chExt cx="3475" cy="424"/>
            </a:xfrm>
          </p:grpSpPr>
          <p:graphicFrame>
            <p:nvGraphicFramePr>
              <p:cNvPr id="45202" name="Object 146"/>
              <p:cNvGraphicFramePr>
                <a:graphicFrameLocks noChangeAspect="1"/>
              </p:cNvGraphicFramePr>
              <p:nvPr/>
            </p:nvGraphicFramePr>
            <p:xfrm>
              <a:off x="3580" y="2044"/>
              <a:ext cx="112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392" name="Equation" r:id="rId29" imgW="177480" imgH="368280" progId="Equation.3">
                      <p:embed/>
                    </p:oleObj>
                  </mc:Choice>
                  <mc:Fallback>
                    <p:oleObj name="Equation" r:id="rId29" imgW="177480" imgH="368280" progId="Equation.3">
                      <p:embed/>
                      <p:pic>
                        <p:nvPicPr>
                          <p:cNvPr id="0" name="Object 1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80" y="2044"/>
                            <a:ext cx="112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203" name="Text Box 147"/>
              <p:cNvSpPr txBox="1">
                <a:spLocks noChangeArrowheads="1"/>
              </p:cNvSpPr>
              <p:nvPr/>
            </p:nvSpPr>
            <p:spPr bwMode="auto">
              <a:xfrm>
                <a:off x="3927" y="1852"/>
                <a:ext cx="9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a</a:t>
                </a:r>
                <a:r>
                  <a:rPr lang="en-US" altLang="zh-CN">
                    <a:solidFill>
                      <a:schemeClr val="tx1"/>
                    </a:solidFill>
                    <a:sym typeface="Symbol" panose="05050102010706020507" pitchFamily="18" charset="2"/>
                  </a:rPr>
                  <a:t></a:t>
                </a: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b</a:t>
                </a:r>
                <a:r>
                  <a:rPr lang="en-US" altLang="zh-CN">
                    <a:solidFill>
                      <a:schemeClr val="tx1"/>
                    </a:solidFill>
                  </a:rPr>
                  <a:t> </a:t>
                </a:r>
                <a:r>
                  <a:rPr lang="en-US" altLang="zh-CN">
                    <a:solidFill>
                      <a:schemeClr val="tx1"/>
                    </a:solidFill>
                    <a:sym typeface="Symbol" panose="05050102010706020507" pitchFamily="18" charset="2"/>
                  </a:rPr>
                  <a:t></a:t>
                </a: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r>
                  <a:rPr lang="en-US" altLang="zh-CN" baseline="-2500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45204" name="Rectangle 148"/>
              <p:cNvSpPr>
                <a:spLocks noChangeArrowheads="1"/>
              </p:cNvSpPr>
              <p:nvPr/>
            </p:nvSpPr>
            <p:spPr bwMode="auto">
              <a:xfrm>
                <a:off x="1401" y="1872"/>
                <a:ext cx="2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>
                    <a:solidFill>
                      <a:schemeClr val="tx1"/>
                    </a:solidFill>
                  </a:rPr>
                  <a:t>三相电源对称，负载不对称</a:t>
                </a:r>
              </a:p>
            </p:txBody>
          </p:sp>
        </p:grpSp>
        <p:sp>
          <p:nvSpPr>
            <p:cNvPr id="45207" name="Line 151"/>
            <p:cNvSpPr>
              <a:spLocks noChangeShapeType="1"/>
            </p:cNvSpPr>
            <p:nvPr/>
          </p:nvSpPr>
          <p:spPr bwMode="auto">
            <a:xfrm flipH="1" flipV="1">
              <a:off x="3278" y="979"/>
              <a:ext cx="183" cy="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5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5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25" grpId="0" build="p" autoUpdateAnimBg="0"/>
      <p:bldP spid="45133" grpId="0" build="p" autoUpdateAnimBg="0"/>
      <p:bldP spid="45134" grpId="0" build="p" autoUpdateAnimBg="0"/>
      <p:bldP spid="45140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57" name="Text Box 29"/>
          <p:cNvSpPr txBox="1">
            <a:spLocks noChangeArrowheads="1"/>
          </p:cNvSpPr>
          <p:nvPr/>
        </p:nvSpPr>
        <p:spPr bwMode="auto">
          <a:xfrm>
            <a:off x="695325" y="695325"/>
            <a:ext cx="26543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1500" indent="-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2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0000"/>
                </a:solidFill>
              </a:rPr>
              <a:t>例     </a:t>
            </a:r>
            <a:r>
              <a:rPr lang="zh-CN" altLang="en-US"/>
              <a:t>相序仪电路</a:t>
            </a:r>
          </a:p>
        </p:txBody>
      </p:sp>
      <p:sp>
        <p:nvSpPr>
          <p:cNvPr id="48214" name="Text Box 86"/>
          <p:cNvSpPr txBox="1">
            <a:spLocks noChangeArrowheads="1"/>
          </p:cNvSpPr>
          <p:nvPr/>
        </p:nvSpPr>
        <p:spPr bwMode="auto">
          <a:xfrm>
            <a:off x="682625" y="2178050"/>
            <a:ext cx="1817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</a:rPr>
              <a:t>测相序方法</a:t>
            </a:r>
            <a:r>
              <a:rPr lang="en-US" altLang="zh-CN">
                <a:solidFill>
                  <a:srgbClr val="FF3300"/>
                </a:solidFill>
              </a:rPr>
              <a:t>:</a:t>
            </a:r>
          </a:p>
        </p:txBody>
      </p:sp>
      <p:sp>
        <p:nvSpPr>
          <p:cNvPr id="48215" name="Text Box 87"/>
          <p:cNvSpPr txBox="1">
            <a:spLocks noChangeArrowheads="1"/>
          </p:cNvSpPr>
          <p:nvPr/>
        </p:nvSpPr>
        <p:spPr bwMode="auto">
          <a:xfrm>
            <a:off x="1524000" y="2651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zh-CN" altLang="zh-CN">
              <a:solidFill>
                <a:schemeClr val="tx1"/>
              </a:solidFill>
            </a:endParaRPr>
          </a:p>
        </p:txBody>
      </p:sp>
      <p:sp>
        <p:nvSpPr>
          <p:cNvPr id="48218" name="Text Box 90"/>
          <p:cNvSpPr txBox="1">
            <a:spLocks noChangeArrowheads="1"/>
          </p:cNvSpPr>
          <p:nvPr/>
        </p:nvSpPr>
        <p:spPr bwMode="auto">
          <a:xfrm>
            <a:off x="2914650" y="3757613"/>
            <a:ext cx="2263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</a:rPr>
              <a:t>A</a:t>
            </a:r>
            <a:r>
              <a:rPr lang="zh-CN" altLang="en-US" sz="2800">
                <a:solidFill>
                  <a:schemeClr val="tx1"/>
                </a:solidFill>
              </a:rPr>
              <a:t>－</a:t>
            </a:r>
            <a:r>
              <a:rPr lang="en-US" altLang="zh-CN" sz="2800">
                <a:solidFill>
                  <a:schemeClr val="tx1"/>
                </a:solidFill>
              </a:rPr>
              <a:t>B</a:t>
            </a:r>
            <a:r>
              <a:rPr lang="zh-CN" altLang="en-US" sz="2800">
                <a:solidFill>
                  <a:schemeClr val="tx1"/>
                </a:solidFill>
              </a:rPr>
              <a:t>－</a:t>
            </a:r>
            <a:r>
              <a:rPr lang="en-US" altLang="zh-CN" sz="2800">
                <a:solidFill>
                  <a:schemeClr val="tx1"/>
                </a:solidFill>
              </a:rPr>
              <a:t>C</a:t>
            </a:r>
            <a:r>
              <a:rPr lang="zh-CN" altLang="en-US" sz="2800">
                <a:solidFill>
                  <a:schemeClr val="tx1"/>
                </a:solidFill>
              </a:rPr>
              <a:t>－</a:t>
            </a:r>
            <a:r>
              <a:rPr lang="en-US" altLang="zh-CN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8219" name="Text Box 91"/>
          <p:cNvSpPr txBox="1">
            <a:spLocks noChangeArrowheads="1"/>
          </p:cNvSpPr>
          <p:nvPr/>
        </p:nvSpPr>
        <p:spPr bwMode="auto">
          <a:xfrm>
            <a:off x="800100" y="2671763"/>
            <a:ext cx="7534275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        </a:t>
            </a:r>
            <a:r>
              <a:rPr lang="zh-CN" altLang="en-US">
                <a:solidFill>
                  <a:schemeClr val="tx1"/>
                </a:solidFill>
              </a:rPr>
              <a:t>将相序仪三端分别接至电源三端，若设接电容一相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为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相，则灯亮的为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相，灯暗的为</a:t>
            </a:r>
            <a:r>
              <a:rPr lang="en-US" altLang="zh-CN">
                <a:solidFill>
                  <a:schemeClr val="tx1"/>
                </a:solidFill>
              </a:rPr>
              <a:t>C</a:t>
            </a:r>
            <a:r>
              <a:rPr lang="zh-CN" altLang="en-US">
                <a:solidFill>
                  <a:schemeClr val="tx1"/>
                </a:solidFill>
              </a:rPr>
              <a:t>相。</a:t>
            </a:r>
          </a:p>
        </p:txBody>
      </p:sp>
      <p:graphicFrame>
        <p:nvGraphicFramePr>
          <p:cNvPr id="48222" name="Object 94"/>
          <p:cNvGraphicFramePr>
            <a:graphicFrameLocks noChangeAspect="1"/>
          </p:cNvGraphicFramePr>
          <p:nvPr/>
        </p:nvGraphicFramePr>
        <p:xfrm>
          <a:off x="4502150" y="4637088"/>
          <a:ext cx="2576513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3" name="Equation" r:id="rId3" imgW="1295280" imgH="749160" progId="Equation.3">
                  <p:embed/>
                </p:oleObj>
              </mc:Choice>
              <mc:Fallback>
                <p:oleObj name="Equation" r:id="rId3" imgW="1295280" imgH="74916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4637088"/>
                        <a:ext cx="2576513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23" name="Text Box 95"/>
          <p:cNvSpPr txBox="1">
            <a:spLocks noChangeArrowheads="1"/>
          </p:cNvSpPr>
          <p:nvPr/>
        </p:nvSpPr>
        <p:spPr bwMode="auto">
          <a:xfrm>
            <a:off x="1177925" y="5110163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设三相对称电源为</a:t>
            </a:r>
          </a:p>
        </p:txBody>
      </p:sp>
      <p:sp>
        <p:nvSpPr>
          <p:cNvPr id="48224" name="Rectangle 96"/>
          <p:cNvSpPr>
            <a:spLocks noChangeArrowheads="1"/>
          </p:cNvSpPr>
          <p:nvPr/>
        </p:nvSpPr>
        <p:spPr bwMode="auto">
          <a:xfrm>
            <a:off x="895350" y="4302125"/>
            <a:ext cx="1716088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分析其原理</a:t>
            </a:r>
          </a:p>
        </p:txBody>
      </p:sp>
      <p:grpSp>
        <p:nvGrpSpPr>
          <p:cNvPr id="48226" name="Group 98"/>
          <p:cNvGrpSpPr>
            <a:grpSpLocks/>
          </p:cNvGrpSpPr>
          <p:nvPr/>
        </p:nvGrpSpPr>
        <p:grpSpPr bwMode="auto">
          <a:xfrm>
            <a:off x="4164013" y="239713"/>
            <a:ext cx="3530600" cy="2266950"/>
            <a:chOff x="2623" y="242"/>
            <a:chExt cx="2224" cy="1428"/>
          </a:xfrm>
        </p:grpSpPr>
        <p:sp>
          <p:nvSpPr>
            <p:cNvPr id="48172" name="Line 44"/>
            <p:cNvSpPr>
              <a:spLocks noChangeShapeType="1"/>
            </p:cNvSpPr>
            <p:nvPr/>
          </p:nvSpPr>
          <p:spPr bwMode="auto">
            <a:xfrm>
              <a:off x="4147" y="730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8173" name="AutoShape 45"/>
            <p:cNvCxnSpPr>
              <a:cxnSpLocks noChangeShapeType="1"/>
              <a:stCxn id="48172" idx="1"/>
            </p:cNvCxnSpPr>
            <p:nvPr/>
          </p:nvCxnSpPr>
          <p:spPr bwMode="auto">
            <a:xfrm>
              <a:off x="4147" y="1008"/>
              <a:ext cx="519" cy="2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174" name="AutoShape 46"/>
            <p:cNvCxnSpPr>
              <a:cxnSpLocks noChangeShapeType="1"/>
              <a:endCxn id="48172" idx="1"/>
            </p:cNvCxnSpPr>
            <p:nvPr/>
          </p:nvCxnSpPr>
          <p:spPr bwMode="auto">
            <a:xfrm flipV="1">
              <a:off x="3629" y="1008"/>
              <a:ext cx="518" cy="2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175" name="Line 47"/>
            <p:cNvSpPr>
              <a:spLocks noChangeShapeType="1"/>
            </p:cNvSpPr>
            <p:nvPr/>
          </p:nvSpPr>
          <p:spPr bwMode="auto">
            <a:xfrm flipH="1">
              <a:off x="2917" y="413"/>
              <a:ext cx="12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6" name="Text Box 48"/>
            <p:cNvSpPr txBox="1">
              <a:spLocks noChangeArrowheads="1"/>
            </p:cNvSpPr>
            <p:nvPr/>
          </p:nvSpPr>
          <p:spPr bwMode="auto">
            <a:xfrm>
              <a:off x="2628" y="24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8177" name="Text Box 49"/>
            <p:cNvSpPr txBox="1">
              <a:spLocks noChangeArrowheads="1"/>
            </p:cNvSpPr>
            <p:nvPr/>
          </p:nvSpPr>
          <p:spPr bwMode="auto">
            <a:xfrm>
              <a:off x="2623" y="1136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48178" name="Text Box 50"/>
            <p:cNvSpPr txBox="1">
              <a:spLocks noChangeArrowheads="1"/>
            </p:cNvSpPr>
            <p:nvPr/>
          </p:nvSpPr>
          <p:spPr bwMode="auto">
            <a:xfrm>
              <a:off x="2629" y="138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8179" name="Line 51"/>
            <p:cNvSpPr>
              <a:spLocks noChangeShapeType="1"/>
            </p:cNvSpPr>
            <p:nvPr/>
          </p:nvSpPr>
          <p:spPr bwMode="auto">
            <a:xfrm flipH="1">
              <a:off x="2912" y="1541"/>
              <a:ext cx="17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80" name="Line 52"/>
            <p:cNvSpPr>
              <a:spLocks noChangeShapeType="1"/>
            </p:cNvSpPr>
            <p:nvPr/>
          </p:nvSpPr>
          <p:spPr bwMode="auto">
            <a:xfrm>
              <a:off x="4666" y="1297"/>
              <a:ext cx="0" cy="2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81" name="Line 53"/>
            <p:cNvSpPr>
              <a:spLocks noChangeShapeType="1"/>
            </p:cNvSpPr>
            <p:nvPr/>
          </p:nvSpPr>
          <p:spPr bwMode="auto">
            <a:xfrm flipH="1">
              <a:off x="2912" y="1294"/>
              <a:ext cx="717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186" name="Group 58"/>
            <p:cNvGrpSpPr>
              <a:grpSpLocks/>
            </p:cNvGrpSpPr>
            <p:nvPr/>
          </p:nvGrpSpPr>
          <p:grpSpPr bwMode="auto">
            <a:xfrm>
              <a:off x="4298" y="1026"/>
              <a:ext cx="213" cy="231"/>
              <a:chOff x="2363" y="1120"/>
              <a:chExt cx="277" cy="272"/>
            </a:xfrm>
          </p:grpSpPr>
          <p:sp>
            <p:nvSpPr>
              <p:cNvPr id="48187" name="Oval 59"/>
              <p:cNvSpPr>
                <a:spLocks noChangeArrowheads="1"/>
              </p:cNvSpPr>
              <p:nvPr/>
            </p:nvSpPr>
            <p:spPr bwMode="auto">
              <a:xfrm>
                <a:off x="2368" y="1120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8" name="Line 60"/>
              <p:cNvSpPr>
                <a:spLocks noChangeShapeType="1"/>
              </p:cNvSpPr>
              <p:nvPr/>
            </p:nvSpPr>
            <p:spPr bwMode="auto">
              <a:xfrm rot="2700000">
                <a:off x="2500" y="1121"/>
                <a:ext cx="0" cy="27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89" name="Line 61"/>
              <p:cNvSpPr>
                <a:spLocks noChangeShapeType="1"/>
              </p:cNvSpPr>
              <p:nvPr/>
            </p:nvSpPr>
            <p:spPr bwMode="auto">
              <a:xfrm rot="8100000">
                <a:off x="2499" y="1128"/>
                <a:ext cx="0" cy="26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8190" name="Group 62"/>
            <p:cNvGrpSpPr>
              <a:grpSpLocks/>
            </p:cNvGrpSpPr>
            <p:nvPr/>
          </p:nvGrpSpPr>
          <p:grpSpPr bwMode="auto">
            <a:xfrm>
              <a:off x="3749" y="1048"/>
              <a:ext cx="213" cy="232"/>
              <a:chOff x="2363" y="1120"/>
              <a:chExt cx="277" cy="272"/>
            </a:xfrm>
          </p:grpSpPr>
          <p:sp>
            <p:nvSpPr>
              <p:cNvPr id="48191" name="Oval 63"/>
              <p:cNvSpPr>
                <a:spLocks noChangeArrowheads="1"/>
              </p:cNvSpPr>
              <p:nvPr/>
            </p:nvSpPr>
            <p:spPr bwMode="auto">
              <a:xfrm>
                <a:off x="2368" y="1120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92" name="Line 64"/>
              <p:cNvSpPr>
                <a:spLocks noChangeShapeType="1"/>
              </p:cNvSpPr>
              <p:nvPr/>
            </p:nvSpPr>
            <p:spPr bwMode="auto">
              <a:xfrm rot="2700000">
                <a:off x="2500" y="1121"/>
                <a:ext cx="0" cy="27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93" name="Line 65"/>
              <p:cNvSpPr>
                <a:spLocks noChangeShapeType="1"/>
              </p:cNvSpPr>
              <p:nvPr/>
            </p:nvSpPr>
            <p:spPr bwMode="auto">
              <a:xfrm rot="8100000">
                <a:off x="2499" y="1128"/>
                <a:ext cx="0" cy="26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194" name="Oval 66"/>
            <p:cNvSpPr>
              <a:spLocks noChangeArrowheads="1"/>
            </p:cNvSpPr>
            <p:nvPr/>
          </p:nvSpPr>
          <p:spPr bwMode="auto">
            <a:xfrm>
              <a:off x="2870" y="383"/>
              <a:ext cx="42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95" name="Oval 67"/>
            <p:cNvSpPr>
              <a:spLocks noChangeArrowheads="1"/>
            </p:cNvSpPr>
            <p:nvPr/>
          </p:nvSpPr>
          <p:spPr bwMode="auto">
            <a:xfrm>
              <a:off x="2870" y="1267"/>
              <a:ext cx="42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96" name="Oval 68"/>
            <p:cNvSpPr>
              <a:spLocks noChangeArrowheads="1"/>
            </p:cNvSpPr>
            <p:nvPr/>
          </p:nvSpPr>
          <p:spPr bwMode="auto">
            <a:xfrm>
              <a:off x="2875" y="1515"/>
              <a:ext cx="42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99" name="Line 71"/>
            <p:cNvSpPr>
              <a:spLocks noChangeShapeType="1"/>
            </p:cNvSpPr>
            <p:nvPr/>
          </p:nvSpPr>
          <p:spPr bwMode="auto">
            <a:xfrm>
              <a:off x="4034" y="730"/>
              <a:ext cx="24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00" name="Line 72"/>
            <p:cNvSpPr>
              <a:spLocks noChangeShapeType="1"/>
            </p:cNvSpPr>
            <p:nvPr/>
          </p:nvSpPr>
          <p:spPr bwMode="auto">
            <a:xfrm>
              <a:off x="4034" y="657"/>
              <a:ext cx="24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01" name="Line 73"/>
            <p:cNvSpPr>
              <a:spLocks noChangeShapeType="1"/>
            </p:cNvSpPr>
            <p:nvPr/>
          </p:nvSpPr>
          <p:spPr bwMode="auto">
            <a:xfrm>
              <a:off x="4143" y="413"/>
              <a:ext cx="0" cy="2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07" name="Text Box 79"/>
            <p:cNvSpPr txBox="1">
              <a:spLocks noChangeArrowheads="1"/>
            </p:cNvSpPr>
            <p:nvPr/>
          </p:nvSpPr>
          <p:spPr bwMode="auto">
            <a:xfrm>
              <a:off x="3523" y="870"/>
              <a:ext cx="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R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8208" name="Text Box 80"/>
            <p:cNvSpPr txBox="1">
              <a:spLocks noChangeArrowheads="1"/>
            </p:cNvSpPr>
            <p:nvPr/>
          </p:nvSpPr>
          <p:spPr bwMode="auto">
            <a:xfrm>
              <a:off x="4317" y="524"/>
              <a:ext cx="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C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8209" name="Text Box 81"/>
            <p:cNvSpPr txBox="1">
              <a:spLocks noChangeArrowheads="1"/>
            </p:cNvSpPr>
            <p:nvPr/>
          </p:nvSpPr>
          <p:spPr bwMode="auto">
            <a:xfrm>
              <a:off x="4479" y="854"/>
              <a:ext cx="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R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graphicFrame>
          <p:nvGraphicFramePr>
            <p:cNvPr id="48225" name="Object 97"/>
            <p:cNvGraphicFramePr>
              <a:graphicFrameLocks noChangeAspect="1"/>
            </p:cNvGraphicFramePr>
            <p:nvPr/>
          </p:nvGraphicFramePr>
          <p:xfrm>
            <a:off x="4028" y="1042"/>
            <a:ext cx="29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54" name="Equation" r:id="rId5" imgW="203040" imgH="177480" progId="Equation.3">
                    <p:embed/>
                  </p:oleObj>
                </mc:Choice>
                <mc:Fallback>
                  <p:oleObj name="Equation" r:id="rId5" imgW="203040" imgH="177480" progId="Equation.3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8" y="1042"/>
                          <a:ext cx="29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8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8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8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8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14" grpId="0" build="p" autoUpdateAnimBg="0"/>
      <p:bldP spid="48218" grpId="0" build="p" autoUpdateAnimBg="0"/>
      <p:bldP spid="48219" grpId="0" autoUpdateAnimBg="0"/>
      <p:bldP spid="48223" grpId="0" build="p" autoUpdateAnimBg="0"/>
      <p:bldP spid="48224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65" name="Rectangle 149"/>
          <p:cNvSpPr>
            <a:spLocks noChangeArrowheads="1"/>
          </p:cNvSpPr>
          <p:nvPr/>
        </p:nvSpPr>
        <p:spPr bwMode="auto">
          <a:xfrm>
            <a:off x="488950" y="222250"/>
            <a:ext cx="1871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令 </a:t>
            </a:r>
            <a:r>
              <a:rPr lang="en-US" altLang="zh-CN">
                <a:solidFill>
                  <a:schemeClr val="tx1"/>
                </a:solidFill>
              </a:rPr>
              <a:t>1/(</a:t>
            </a:r>
            <a:r>
              <a:rPr lang="en-US" altLang="zh-CN" i="1">
                <a:solidFill>
                  <a:schemeClr val="tx1"/>
                </a:solidFill>
                <a:latin typeface="Symbol" panose="05050102010706020507" pitchFamily="18" charset="2"/>
              </a:rPr>
              <a:t>w </a:t>
            </a:r>
            <a:r>
              <a:rPr lang="en-US" altLang="zh-CN" i="1">
                <a:solidFill>
                  <a:schemeClr val="tx1"/>
                </a:solidFill>
              </a:rPr>
              <a:t>C</a:t>
            </a:r>
            <a:r>
              <a:rPr lang="en-US" altLang="zh-CN">
                <a:solidFill>
                  <a:schemeClr val="tx1"/>
                </a:solidFill>
              </a:rPr>
              <a:t>)=</a:t>
            </a:r>
            <a:r>
              <a:rPr lang="en-US" altLang="zh-CN" i="1">
                <a:solidFill>
                  <a:schemeClr val="tx1"/>
                </a:solidFill>
              </a:rPr>
              <a:t>R</a:t>
            </a:r>
          </a:p>
        </p:txBody>
      </p:sp>
      <p:graphicFrame>
        <p:nvGraphicFramePr>
          <p:cNvPr id="111775" name="Object 159"/>
          <p:cNvGraphicFramePr>
            <a:graphicFrameLocks noChangeAspect="1"/>
          </p:cNvGraphicFramePr>
          <p:nvPr/>
        </p:nvGraphicFramePr>
        <p:xfrm>
          <a:off x="4725988" y="2773363"/>
          <a:ext cx="2566987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4" name="Equation" r:id="rId3" imgW="1307880" imgH="444240" progId="Equation.3">
                  <p:embed/>
                </p:oleObj>
              </mc:Choice>
              <mc:Fallback>
                <p:oleObj name="Equation" r:id="rId3" imgW="1307880" imgH="444240" progId="Equation.3">
                  <p:embed/>
                  <p:pic>
                    <p:nvPicPr>
                      <p:cNvPr id="0" name="Object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988" y="2773363"/>
                        <a:ext cx="2566987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77" name="Object 161"/>
          <p:cNvGraphicFramePr>
            <a:graphicFrameLocks noChangeAspect="1"/>
          </p:cNvGraphicFramePr>
          <p:nvPr/>
        </p:nvGraphicFramePr>
        <p:xfrm>
          <a:off x="630238" y="2743200"/>
          <a:ext cx="4027487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5" name="Equation" r:id="rId5" imgW="2120760" imgH="444240" progId="Equation.3">
                  <p:embed/>
                </p:oleObj>
              </mc:Choice>
              <mc:Fallback>
                <p:oleObj name="Equation" r:id="rId5" imgW="2120760" imgH="444240" progId="Equation.3">
                  <p:embed/>
                  <p:pic>
                    <p:nvPicPr>
                      <p:cNvPr id="0" name="Object 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8" y="2743200"/>
                        <a:ext cx="4027487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80" name="Object 164"/>
          <p:cNvGraphicFramePr>
            <a:graphicFrameLocks noChangeAspect="1"/>
          </p:cNvGraphicFramePr>
          <p:nvPr/>
        </p:nvGraphicFramePr>
        <p:xfrm>
          <a:off x="1341438" y="3783013"/>
          <a:ext cx="23939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6" name="Equation" r:id="rId7" imgW="1257120" imgH="203040" progId="Equation.3">
                  <p:embed/>
                </p:oleObj>
              </mc:Choice>
              <mc:Fallback>
                <p:oleObj name="Equation" r:id="rId7" imgW="1257120" imgH="203040" progId="Equation.3">
                  <p:embed/>
                  <p:pic>
                    <p:nvPicPr>
                      <p:cNvPr id="0" name="Object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3783013"/>
                        <a:ext cx="23939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81" name="Object 165"/>
          <p:cNvGraphicFramePr>
            <a:graphicFrameLocks noChangeAspect="1"/>
          </p:cNvGraphicFramePr>
          <p:nvPr/>
        </p:nvGraphicFramePr>
        <p:xfrm>
          <a:off x="465138" y="4302125"/>
          <a:ext cx="232886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7" name="Equation" r:id="rId9" imgW="1091880" imgH="253800" progId="Equation.3">
                  <p:embed/>
                </p:oleObj>
              </mc:Choice>
              <mc:Fallback>
                <p:oleObj name="Equation" r:id="rId9" imgW="1091880" imgH="253800" progId="Equation.3">
                  <p:embed/>
                  <p:pic>
                    <p:nvPicPr>
                      <p:cNvPr id="0" name="Object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4302125"/>
                        <a:ext cx="232886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82" name="Object 166"/>
          <p:cNvGraphicFramePr>
            <a:graphicFrameLocks noChangeAspect="1"/>
          </p:cNvGraphicFramePr>
          <p:nvPr/>
        </p:nvGraphicFramePr>
        <p:xfrm>
          <a:off x="2787650" y="4340225"/>
          <a:ext cx="63563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8" name="Equation" r:id="rId11" imgW="3124080" imgH="203040" progId="Equation.3">
                  <p:embed/>
                </p:oleObj>
              </mc:Choice>
              <mc:Fallback>
                <p:oleObj name="Equation" r:id="rId11" imgW="3124080" imgH="203040" progId="Equation.3">
                  <p:embed/>
                  <p:pic>
                    <p:nvPicPr>
                      <p:cNvPr id="0" name="Object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0" y="4340225"/>
                        <a:ext cx="63563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83" name="Object 167"/>
          <p:cNvGraphicFramePr>
            <a:graphicFrameLocks noChangeAspect="1"/>
          </p:cNvGraphicFramePr>
          <p:nvPr/>
        </p:nvGraphicFramePr>
        <p:xfrm>
          <a:off x="487363" y="5010150"/>
          <a:ext cx="8089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9" name="Equation" r:id="rId13" imgW="3936960" imgH="253800" progId="Equation.3">
                  <p:embed/>
                </p:oleObj>
              </mc:Choice>
              <mc:Fallback>
                <p:oleObj name="Equation" r:id="rId13" imgW="3936960" imgH="253800" progId="Equation.3">
                  <p:embed/>
                  <p:pic>
                    <p:nvPicPr>
                      <p:cNvPr id="0" name="Object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5010150"/>
                        <a:ext cx="8089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84" name="Object 168"/>
          <p:cNvGraphicFramePr>
            <a:graphicFrameLocks noChangeAspect="1"/>
          </p:cNvGraphicFramePr>
          <p:nvPr/>
        </p:nvGraphicFramePr>
        <p:xfrm>
          <a:off x="1412875" y="5614988"/>
          <a:ext cx="17526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0" name="Equation" r:id="rId15" imgW="749160" imgH="228600" progId="Equation.3">
                  <p:embed/>
                </p:oleObj>
              </mc:Choice>
              <mc:Fallback>
                <p:oleObj name="Equation" r:id="rId15" imgW="749160" imgH="228600" progId="Equation.3">
                  <p:embed/>
                  <p:pic>
                    <p:nvPicPr>
                      <p:cNvPr id="0" name="Object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5614988"/>
                        <a:ext cx="175260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1786" name="Group 170"/>
          <p:cNvGrpSpPr>
            <a:grpSpLocks/>
          </p:cNvGrpSpPr>
          <p:nvPr/>
        </p:nvGrpSpPr>
        <p:grpSpPr bwMode="auto">
          <a:xfrm>
            <a:off x="1250950" y="334963"/>
            <a:ext cx="6002338" cy="2265362"/>
            <a:chOff x="788" y="211"/>
            <a:chExt cx="3781" cy="1427"/>
          </a:xfrm>
        </p:grpSpPr>
        <p:sp>
          <p:nvSpPr>
            <p:cNvPr id="111623" name="Line 7"/>
            <p:cNvSpPr>
              <a:spLocks noChangeShapeType="1"/>
            </p:cNvSpPr>
            <p:nvPr/>
          </p:nvSpPr>
          <p:spPr bwMode="auto">
            <a:xfrm>
              <a:off x="3869" y="807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11624" name="AutoShape 8"/>
            <p:cNvCxnSpPr>
              <a:cxnSpLocks noChangeShapeType="1"/>
              <a:stCxn id="111623" idx="1"/>
            </p:cNvCxnSpPr>
            <p:nvPr/>
          </p:nvCxnSpPr>
          <p:spPr bwMode="auto">
            <a:xfrm>
              <a:off x="3869" y="1085"/>
              <a:ext cx="519" cy="2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1625" name="AutoShape 9"/>
            <p:cNvCxnSpPr>
              <a:cxnSpLocks noChangeShapeType="1"/>
              <a:endCxn id="111623" idx="1"/>
            </p:cNvCxnSpPr>
            <p:nvPr/>
          </p:nvCxnSpPr>
          <p:spPr bwMode="auto">
            <a:xfrm flipV="1">
              <a:off x="3351" y="1085"/>
              <a:ext cx="518" cy="2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1626" name="Line 10"/>
            <p:cNvSpPr>
              <a:spLocks noChangeShapeType="1"/>
            </p:cNvSpPr>
            <p:nvPr/>
          </p:nvSpPr>
          <p:spPr bwMode="auto">
            <a:xfrm flipH="1">
              <a:off x="2639" y="490"/>
              <a:ext cx="12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7" name="Text Box 11"/>
            <p:cNvSpPr txBox="1">
              <a:spLocks noChangeArrowheads="1"/>
            </p:cNvSpPr>
            <p:nvPr/>
          </p:nvSpPr>
          <p:spPr bwMode="auto">
            <a:xfrm>
              <a:off x="2494" y="21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11628" name="Text Box 12"/>
            <p:cNvSpPr txBox="1">
              <a:spLocks noChangeArrowheads="1"/>
            </p:cNvSpPr>
            <p:nvPr/>
          </p:nvSpPr>
          <p:spPr bwMode="auto">
            <a:xfrm>
              <a:off x="2477" y="1093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11629" name="Text Box 13"/>
            <p:cNvSpPr txBox="1">
              <a:spLocks noChangeArrowheads="1"/>
            </p:cNvSpPr>
            <p:nvPr/>
          </p:nvSpPr>
          <p:spPr bwMode="auto">
            <a:xfrm>
              <a:off x="2495" y="1339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11630" name="Line 14"/>
            <p:cNvSpPr>
              <a:spLocks noChangeShapeType="1"/>
            </p:cNvSpPr>
            <p:nvPr/>
          </p:nvSpPr>
          <p:spPr bwMode="auto">
            <a:xfrm flipH="1">
              <a:off x="2634" y="1618"/>
              <a:ext cx="17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1" name="Line 15"/>
            <p:cNvSpPr>
              <a:spLocks noChangeShapeType="1"/>
            </p:cNvSpPr>
            <p:nvPr/>
          </p:nvSpPr>
          <p:spPr bwMode="auto">
            <a:xfrm>
              <a:off x="4388" y="1374"/>
              <a:ext cx="0" cy="2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2" name="Line 16"/>
            <p:cNvSpPr>
              <a:spLocks noChangeShapeType="1"/>
            </p:cNvSpPr>
            <p:nvPr/>
          </p:nvSpPr>
          <p:spPr bwMode="auto">
            <a:xfrm flipH="1">
              <a:off x="2634" y="1371"/>
              <a:ext cx="717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4" name="Oval 18"/>
            <p:cNvSpPr>
              <a:spLocks noChangeArrowheads="1"/>
            </p:cNvSpPr>
            <p:nvPr/>
          </p:nvSpPr>
          <p:spPr bwMode="auto">
            <a:xfrm>
              <a:off x="4024" y="1103"/>
              <a:ext cx="209" cy="231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5" name="Line 19"/>
            <p:cNvSpPr>
              <a:spLocks noChangeShapeType="1"/>
            </p:cNvSpPr>
            <p:nvPr/>
          </p:nvSpPr>
          <p:spPr bwMode="auto">
            <a:xfrm rot="2700000">
              <a:off x="4126" y="1114"/>
              <a:ext cx="0" cy="21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6" name="Line 20"/>
            <p:cNvSpPr>
              <a:spLocks noChangeShapeType="1"/>
            </p:cNvSpPr>
            <p:nvPr/>
          </p:nvSpPr>
          <p:spPr bwMode="auto">
            <a:xfrm rot="8100000">
              <a:off x="4125" y="1110"/>
              <a:ext cx="0" cy="22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8" name="Oval 22"/>
            <p:cNvSpPr>
              <a:spLocks noChangeArrowheads="1"/>
            </p:cNvSpPr>
            <p:nvPr/>
          </p:nvSpPr>
          <p:spPr bwMode="auto">
            <a:xfrm>
              <a:off x="3475" y="1125"/>
              <a:ext cx="209" cy="23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9" name="Line 23"/>
            <p:cNvSpPr>
              <a:spLocks noChangeShapeType="1"/>
            </p:cNvSpPr>
            <p:nvPr/>
          </p:nvSpPr>
          <p:spPr bwMode="auto">
            <a:xfrm rot="2700000">
              <a:off x="3577" y="1137"/>
              <a:ext cx="0" cy="21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0" name="Line 24"/>
            <p:cNvSpPr>
              <a:spLocks noChangeShapeType="1"/>
            </p:cNvSpPr>
            <p:nvPr/>
          </p:nvSpPr>
          <p:spPr bwMode="auto">
            <a:xfrm rot="8100000">
              <a:off x="3576" y="1132"/>
              <a:ext cx="0" cy="22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1" name="Oval 25"/>
            <p:cNvSpPr>
              <a:spLocks noChangeArrowheads="1"/>
            </p:cNvSpPr>
            <p:nvPr/>
          </p:nvSpPr>
          <p:spPr bwMode="auto">
            <a:xfrm>
              <a:off x="2592" y="460"/>
              <a:ext cx="42" cy="46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2" name="Oval 26"/>
            <p:cNvSpPr>
              <a:spLocks noChangeArrowheads="1"/>
            </p:cNvSpPr>
            <p:nvPr/>
          </p:nvSpPr>
          <p:spPr bwMode="auto">
            <a:xfrm>
              <a:off x="2592" y="1344"/>
              <a:ext cx="42" cy="45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3" name="Oval 27"/>
            <p:cNvSpPr>
              <a:spLocks noChangeArrowheads="1"/>
            </p:cNvSpPr>
            <p:nvPr/>
          </p:nvSpPr>
          <p:spPr bwMode="auto">
            <a:xfrm>
              <a:off x="2597" y="1592"/>
              <a:ext cx="42" cy="46"/>
            </a:xfrm>
            <a:prstGeom prst="ellipse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5" name="Line 29"/>
            <p:cNvSpPr>
              <a:spLocks noChangeShapeType="1"/>
            </p:cNvSpPr>
            <p:nvPr/>
          </p:nvSpPr>
          <p:spPr bwMode="auto">
            <a:xfrm>
              <a:off x="3756" y="807"/>
              <a:ext cx="24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6" name="Line 30"/>
            <p:cNvSpPr>
              <a:spLocks noChangeShapeType="1"/>
            </p:cNvSpPr>
            <p:nvPr/>
          </p:nvSpPr>
          <p:spPr bwMode="auto">
            <a:xfrm>
              <a:off x="3756" y="734"/>
              <a:ext cx="24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7" name="Line 31"/>
            <p:cNvSpPr>
              <a:spLocks noChangeShapeType="1"/>
            </p:cNvSpPr>
            <p:nvPr/>
          </p:nvSpPr>
          <p:spPr bwMode="auto">
            <a:xfrm>
              <a:off x="3865" y="490"/>
              <a:ext cx="0" cy="2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8" name="Text Box 32"/>
            <p:cNvSpPr txBox="1">
              <a:spLocks noChangeArrowheads="1"/>
            </p:cNvSpPr>
            <p:nvPr/>
          </p:nvSpPr>
          <p:spPr bwMode="auto">
            <a:xfrm>
              <a:off x="3245" y="947"/>
              <a:ext cx="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R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11649" name="Text Box 33"/>
            <p:cNvSpPr txBox="1">
              <a:spLocks noChangeArrowheads="1"/>
            </p:cNvSpPr>
            <p:nvPr/>
          </p:nvSpPr>
          <p:spPr bwMode="auto">
            <a:xfrm>
              <a:off x="4039" y="601"/>
              <a:ext cx="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C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11650" name="Text Box 34"/>
            <p:cNvSpPr txBox="1">
              <a:spLocks noChangeArrowheads="1"/>
            </p:cNvSpPr>
            <p:nvPr/>
          </p:nvSpPr>
          <p:spPr bwMode="auto">
            <a:xfrm>
              <a:off x="4201" y="931"/>
              <a:ext cx="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R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11745" name="Oval 129"/>
            <p:cNvSpPr>
              <a:spLocks noChangeArrowheads="1"/>
            </p:cNvSpPr>
            <p:nvPr/>
          </p:nvSpPr>
          <p:spPr bwMode="auto">
            <a:xfrm>
              <a:off x="1244" y="698"/>
              <a:ext cx="229" cy="22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46" name="Line 130"/>
            <p:cNvSpPr>
              <a:spLocks noChangeShapeType="1"/>
            </p:cNvSpPr>
            <p:nvPr/>
          </p:nvSpPr>
          <p:spPr bwMode="auto">
            <a:xfrm flipH="1">
              <a:off x="1349" y="478"/>
              <a:ext cx="12" cy="5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47" name="Text Box 131"/>
            <p:cNvSpPr txBox="1">
              <a:spLocks noChangeArrowheads="1"/>
            </p:cNvSpPr>
            <p:nvPr/>
          </p:nvSpPr>
          <p:spPr bwMode="auto">
            <a:xfrm>
              <a:off x="1192" y="484"/>
              <a:ext cx="1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11748" name="Text Box 132"/>
            <p:cNvSpPr txBox="1">
              <a:spLocks noChangeArrowheads="1"/>
            </p:cNvSpPr>
            <p:nvPr/>
          </p:nvSpPr>
          <p:spPr bwMode="auto">
            <a:xfrm>
              <a:off x="1192" y="836"/>
              <a:ext cx="1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111749" name="Oval 133"/>
            <p:cNvSpPr>
              <a:spLocks noChangeArrowheads="1"/>
            </p:cNvSpPr>
            <p:nvPr/>
          </p:nvSpPr>
          <p:spPr bwMode="auto">
            <a:xfrm rot="7200000">
              <a:off x="1499" y="1076"/>
              <a:ext cx="226" cy="22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50" name="Line 134"/>
            <p:cNvSpPr>
              <a:spLocks noChangeShapeType="1"/>
            </p:cNvSpPr>
            <p:nvPr/>
          </p:nvSpPr>
          <p:spPr bwMode="auto">
            <a:xfrm rot="7200000" flipH="1">
              <a:off x="1605" y="896"/>
              <a:ext cx="36" cy="6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51" name="Text Box 135"/>
            <p:cNvSpPr txBox="1">
              <a:spLocks noChangeArrowheads="1"/>
            </p:cNvSpPr>
            <p:nvPr/>
          </p:nvSpPr>
          <p:spPr bwMode="auto">
            <a:xfrm rot="7200000">
              <a:off x="1708" y="1190"/>
              <a:ext cx="1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11752" name="Text Box 136"/>
            <p:cNvSpPr txBox="1">
              <a:spLocks noChangeArrowheads="1"/>
            </p:cNvSpPr>
            <p:nvPr/>
          </p:nvSpPr>
          <p:spPr bwMode="auto">
            <a:xfrm rot="7200000">
              <a:off x="1409" y="1030"/>
              <a:ext cx="1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111753" name="Oval 137"/>
            <p:cNvSpPr>
              <a:spLocks noChangeArrowheads="1"/>
            </p:cNvSpPr>
            <p:nvPr/>
          </p:nvSpPr>
          <p:spPr bwMode="auto">
            <a:xfrm rot="14400000">
              <a:off x="960" y="1071"/>
              <a:ext cx="226" cy="228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54" name="Line 138"/>
            <p:cNvSpPr>
              <a:spLocks noChangeShapeType="1"/>
            </p:cNvSpPr>
            <p:nvPr/>
          </p:nvSpPr>
          <p:spPr bwMode="auto">
            <a:xfrm rot="14400000" flipH="1">
              <a:off x="1084" y="887"/>
              <a:ext cx="0" cy="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55" name="Oval 139"/>
            <p:cNvSpPr>
              <a:spLocks noChangeArrowheads="1"/>
            </p:cNvSpPr>
            <p:nvPr/>
          </p:nvSpPr>
          <p:spPr bwMode="auto">
            <a:xfrm rot="14400000">
              <a:off x="1325" y="1010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56" name="Text Box 140"/>
            <p:cNvSpPr txBox="1">
              <a:spLocks noChangeArrowheads="1"/>
            </p:cNvSpPr>
            <p:nvPr/>
          </p:nvSpPr>
          <p:spPr bwMode="auto">
            <a:xfrm rot="14400000">
              <a:off x="916" y="1252"/>
              <a:ext cx="13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11757" name="Text Box 141"/>
            <p:cNvSpPr txBox="1">
              <a:spLocks noChangeArrowheads="1"/>
            </p:cNvSpPr>
            <p:nvPr/>
          </p:nvSpPr>
          <p:spPr bwMode="auto">
            <a:xfrm rot="14400000">
              <a:off x="1202" y="1086"/>
              <a:ext cx="1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</a:rPr>
                <a:t>–</a:t>
              </a:r>
            </a:p>
          </p:txBody>
        </p:sp>
        <p:sp>
          <p:nvSpPr>
            <p:cNvPr id="111758" name="Line 142"/>
            <p:cNvSpPr>
              <a:spLocks noChangeShapeType="1"/>
            </p:cNvSpPr>
            <p:nvPr/>
          </p:nvSpPr>
          <p:spPr bwMode="auto">
            <a:xfrm>
              <a:off x="1352" y="484"/>
              <a:ext cx="12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59" name="Freeform 143"/>
            <p:cNvSpPr>
              <a:spLocks/>
            </p:cNvSpPr>
            <p:nvPr/>
          </p:nvSpPr>
          <p:spPr bwMode="auto">
            <a:xfrm>
              <a:off x="822" y="1338"/>
              <a:ext cx="1849" cy="280"/>
            </a:xfrm>
            <a:custGeom>
              <a:avLst/>
              <a:gdLst>
                <a:gd name="T0" fmla="*/ 0 w 2184"/>
                <a:gd name="T1" fmla="*/ 0 h 426"/>
                <a:gd name="T2" fmla="*/ 0 w 2184"/>
                <a:gd name="T3" fmla="*/ 426 h 426"/>
                <a:gd name="T4" fmla="*/ 2184 w 2184"/>
                <a:gd name="T5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4" h="426">
                  <a:moveTo>
                    <a:pt x="0" y="0"/>
                  </a:moveTo>
                  <a:lnTo>
                    <a:pt x="0" y="426"/>
                  </a:lnTo>
                  <a:lnTo>
                    <a:pt x="2184" y="42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1760" name="Object 144"/>
            <p:cNvGraphicFramePr>
              <a:graphicFrameLocks noChangeAspect="1"/>
            </p:cNvGraphicFramePr>
            <p:nvPr/>
          </p:nvGraphicFramePr>
          <p:xfrm>
            <a:off x="862" y="615"/>
            <a:ext cx="356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31" name="Equation" r:id="rId17" imgW="279360" imgH="241200" progId="Equation.3">
                    <p:embed/>
                  </p:oleObj>
                </mc:Choice>
                <mc:Fallback>
                  <p:oleObj name="Equation" r:id="rId17" imgW="279360" imgH="241200" progId="Equation.3">
                    <p:embed/>
                    <p:pic>
                      <p:nvPicPr>
                        <p:cNvPr id="0" name="Object 1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" y="615"/>
                          <a:ext cx="356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761" name="Object 145"/>
            <p:cNvGraphicFramePr>
              <a:graphicFrameLocks noChangeAspect="1"/>
            </p:cNvGraphicFramePr>
            <p:nvPr/>
          </p:nvGraphicFramePr>
          <p:xfrm>
            <a:off x="1031" y="1298"/>
            <a:ext cx="333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32" name="Equation" r:id="rId19" imgW="266400" imgH="253800" progId="Equation.3">
                    <p:embed/>
                  </p:oleObj>
                </mc:Choice>
                <mc:Fallback>
                  <p:oleObj name="Equation" r:id="rId19" imgW="266400" imgH="253800" progId="Equation.3">
                    <p:embed/>
                    <p:pic>
                      <p:nvPicPr>
                        <p:cNvPr id="0" name="Object 1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1298"/>
                          <a:ext cx="333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762" name="Object 146"/>
            <p:cNvGraphicFramePr>
              <a:graphicFrameLocks noChangeAspect="1"/>
            </p:cNvGraphicFramePr>
            <p:nvPr/>
          </p:nvGraphicFramePr>
          <p:xfrm>
            <a:off x="1421" y="1266"/>
            <a:ext cx="307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33" name="Equation" r:id="rId21" imgW="279360" imgH="253800" progId="Equation.3">
                    <p:embed/>
                  </p:oleObj>
                </mc:Choice>
                <mc:Fallback>
                  <p:oleObj name="Equation" r:id="rId21" imgW="279360" imgH="253800" progId="Equation.3">
                    <p:embed/>
                    <p:pic>
                      <p:nvPicPr>
                        <p:cNvPr id="0" name="Object 1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1" y="1266"/>
                          <a:ext cx="307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763" name="Text Box 147"/>
            <p:cNvSpPr txBox="1">
              <a:spLocks noChangeArrowheads="1"/>
            </p:cNvSpPr>
            <p:nvPr/>
          </p:nvSpPr>
          <p:spPr bwMode="auto">
            <a:xfrm>
              <a:off x="1352" y="846"/>
              <a:ext cx="253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</a:rPr>
                <a:t>N</a:t>
              </a:r>
            </a:p>
          </p:txBody>
        </p:sp>
        <p:sp>
          <p:nvSpPr>
            <p:cNvPr id="111764" name="Line 148"/>
            <p:cNvSpPr>
              <a:spLocks noChangeShapeType="1"/>
            </p:cNvSpPr>
            <p:nvPr/>
          </p:nvSpPr>
          <p:spPr bwMode="auto">
            <a:xfrm>
              <a:off x="1889" y="1365"/>
              <a:ext cx="75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1785" name="Object 169"/>
            <p:cNvGraphicFramePr>
              <a:graphicFrameLocks noChangeAspect="1"/>
            </p:cNvGraphicFramePr>
            <p:nvPr/>
          </p:nvGraphicFramePr>
          <p:xfrm>
            <a:off x="3752" y="1150"/>
            <a:ext cx="23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34" name="Equation" r:id="rId23" imgW="203040" imgH="177480" progId="Equation.3">
                    <p:embed/>
                  </p:oleObj>
                </mc:Choice>
                <mc:Fallback>
                  <p:oleObj name="Equation" r:id="rId23" imgW="203040" imgH="177480" progId="Equation.3">
                    <p:embed/>
                    <p:pic>
                      <p:nvPicPr>
                        <p:cNvPr id="0" name="Object 1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2" y="1150"/>
                          <a:ext cx="231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1787" name="Rectangle 171"/>
          <p:cNvSpPr>
            <a:spLocks noChangeArrowheads="1"/>
          </p:cNvSpPr>
          <p:nvPr/>
        </p:nvSpPr>
        <p:spPr bwMode="auto">
          <a:xfrm>
            <a:off x="3725863" y="5657850"/>
            <a:ext cx="2752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B</a:t>
            </a:r>
            <a:r>
              <a:rPr lang="zh-CN" altLang="en-US">
                <a:solidFill>
                  <a:srgbClr val="FF0000"/>
                </a:solidFill>
              </a:rPr>
              <a:t>相灯亮，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zh-CN" altLang="en-US">
                <a:solidFill>
                  <a:srgbClr val="FF0000"/>
                </a:solidFill>
              </a:rPr>
              <a:t>相灯暗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1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87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510917" y="319859"/>
            <a:ext cx="7229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kumimoji="1"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若三相三线制</a:t>
            </a:r>
            <a:r>
              <a:rPr kumimoji="1"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kumimoji="1" lang="en-US" altLang="zh-CN" sz="2800" b="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相断路</a:t>
            </a:r>
            <a:r>
              <a:rPr kumimoji="1"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三相不对称</a:t>
            </a:r>
            <a:r>
              <a:rPr kumimoji="1"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5622667" y="1810521"/>
            <a:ext cx="2951163" cy="9461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>
            <a:spAutoFit/>
          </a:bodyPr>
          <a:lstStyle/>
          <a:p>
            <a:r>
              <a:rPr kumimoji="1"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灯泡电压低，灯光昏暗。</a:t>
            </a:r>
          </a:p>
        </p:txBody>
      </p: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1447542" y="823097"/>
            <a:ext cx="3657600" cy="2295526"/>
            <a:chOff x="457" y="2452"/>
            <a:chExt cx="2304" cy="1446"/>
          </a:xfrm>
        </p:grpSpPr>
        <p:sp>
          <p:nvSpPr>
            <p:cNvPr id="5" name="Line 53"/>
            <p:cNvSpPr>
              <a:spLocks noChangeShapeType="1"/>
            </p:cNvSpPr>
            <p:nvPr/>
          </p:nvSpPr>
          <p:spPr bwMode="auto">
            <a:xfrm>
              <a:off x="2209" y="2652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" name="AutoShape 54"/>
            <p:cNvCxnSpPr>
              <a:cxnSpLocks noChangeShapeType="1"/>
              <a:stCxn id="5" idx="1"/>
            </p:cNvCxnSpPr>
            <p:nvPr/>
          </p:nvCxnSpPr>
          <p:spPr bwMode="auto">
            <a:xfrm>
              <a:off x="2209" y="3234"/>
              <a:ext cx="552" cy="28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AutoShape 55"/>
            <p:cNvCxnSpPr>
              <a:cxnSpLocks noChangeShapeType="1"/>
              <a:endCxn id="5" idx="1"/>
            </p:cNvCxnSpPr>
            <p:nvPr/>
          </p:nvCxnSpPr>
          <p:spPr bwMode="auto">
            <a:xfrm flipV="1">
              <a:off x="1657" y="3234"/>
              <a:ext cx="552" cy="28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" name="Line 56"/>
            <p:cNvSpPr>
              <a:spLocks noChangeShapeType="1"/>
            </p:cNvSpPr>
            <p:nvPr/>
          </p:nvSpPr>
          <p:spPr bwMode="auto">
            <a:xfrm flipH="1">
              <a:off x="1348" y="2652"/>
              <a:ext cx="8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Line 57"/>
            <p:cNvSpPr>
              <a:spLocks noChangeShapeType="1"/>
            </p:cNvSpPr>
            <p:nvPr/>
          </p:nvSpPr>
          <p:spPr bwMode="auto">
            <a:xfrm flipH="1">
              <a:off x="745" y="265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Text Box 58"/>
            <p:cNvSpPr txBox="1">
              <a:spLocks noChangeArrowheads="1"/>
            </p:cNvSpPr>
            <p:nvPr/>
          </p:nvSpPr>
          <p:spPr bwMode="auto">
            <a:xfrm>
              <a:off x="472" y="2452"/>
              <a:ext cx="229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0"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1" name="Text Box 59"/>
            <p:cNvSpPr txBox="1">
              <a:spLocks noChangeArrowheads="1"/>
            </p:cNvSpPr>
            <p:nvPr/>
          </p:nvSpPr>
          <p:spPr bwMode="auto">
            <a:xfrm>
              <a:off x="457" y="3340"/>
              <a:ext cx="229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0"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" name="Text Box 60"/>
            <p:cNvSpPr txBox="1">
              <a:spLocks noChangeArrowheads="1"/>
            </p:cNvSpPr>
            <p:nvPr/>
          </p:nvSpPr>
          <p:spPr bwMode="auto">
            <a:xfrm>
              <a:off x="463" y="3568"/>
              <a:ext cx="229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3" name="Line 61"/>
            <p:cNvSpPr>
              <a:spLocks noChangeShapeType="1"/>
            </p:cNvSpPr>
            <p:nvPr/>
          </p:nvSpPr>
          <p:spPr bwMode="auto">
            <a:xfrm flipH="1">
              <a:off x="745" y="3756"/>
              <a:ext cx="20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Line 62"/>
            <p:cNvSpPr>
              <a:spLocks noChangeShapeType="1"/>
            </p:cNvSpPr>
            <p:nvPr/>
          </p:nvSpPr>
          <p:spPr bwMode="auto">
            <a:xfrm>
              <a:off x="2761" y="351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Line 63"/>
            <p:cNvSpPr>
              <a:spLocks noChangeShapeType="1"/>
            </p:cNvSpPr>
            <p:nvPr/>
          </p:nvSpPr>
          <p:spPr bwMode="auto">
            <a:xfrm flipH="1">
              <a:off x="745" y="3514"/>
              <a:ext cx="912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6" name="Group 64"/>
            <p:cNvGrpSpPr>
              <a:grpSpLocks/>
            </p:cNvGrpSpPr>
            <p:nvPr/>
          </p:nvGrpSpPr>
          <p:grpSpPr bwMode="auto">
            <a:xfrm>
              <a:off x="2091" y="2800"/>
              <a:ext cx="227" cy="227"/>
              <a:chOff x="2363" y="1120"/>
              <a:chExt cx="277" cy="272"/>
            </a:xfrm>
          </p:grpSpPr>
          <p:sp>
            <p:nvSpPr>
              <p:cNvPr id="32" name="Oval 65"/>
              <p:cNvSpPr>
                <a:spLocks noChangeArrowheads="1"/>
              </p:cNvSpPr>
              <p:nvPr/>
            </p:nvSpPr>
            <p:spPr bwMode="auto">
              <a:xfrm>
                <a:off x="2368" y="1120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66"/>
              <p:cNvSpPr>
                <a:spLocks noChangeShapeType="1"/>
              </p:cNvSpPr>
              <p:nvPr/>
            </p:nvSpPr>
            <p:spPr bwMode="auto">
              <a:xfrm rot="2700000">
                <a:off x="2500" y="1121"/>
                <a:ext cx="0" cy="2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67"/>
              <p:cNvSpPr>
                <a:spLocks noChangeShapeType="1"/>
              </p:cNvSpPr>
              <p:nvPr/>
            </p:nvSpPr>
            <p:spPr bwMode="auto">
              <a:xfrm rot="8100000">
                <a:off x="2499" y="1128"/>
                <a:ext cx="0" cy="2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" name="Group 68"/>
            <p:cNvGrpSpPr>
              <a:grpSpLocks/>
            </p:cNvGrpSpPr>
            <p:nvPr/>
          </p:nvGrpSpPr>
          <p:grpSpPr bwMode="auto">
            <a:xfrm>
              <a:off x="2369" y="3251"/>
              <a:ext cx="227" cy="227"/>
              <a:chOff x="2363" y="1120"/>
              <a:chExt cx="277" cy="272"/>
            </a:xfrm>
          </p:grpSpPr>
          <p:sp>
            <p:nvSpPr>
              <p:cNvPr id="29" name="Oval 69"/>
              <p:cNvSpPr>
                <a:spLocks noChangeArrowheads="1"/>
              </p:cNvSpPr>
              <p:nvPr/>
            </p:nvSpPr>
            <p:spPr bwMode="auto">
              <a:xfrm>
                <a:off x="2368" y="1120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70"/>
              <p:cNvSpPr>
                <a:spLocks noChangeShapeType="1"/>
              </p:cNvSpPr>
              <p:nvPr/>
            </p:nvSpPr>
            <p:spPr bwMode="auto">
              <a:xfrm rot="2700000">
                <a:off x="2500" y="1121"/>
                <a:ext cx="0" cy="2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71"/>
              <p:cNvSpPr>
                <a:spLocks noChangeShapeType="1"/>
              </p:cNvSpPr>
              <p:nvPr/>
            </p:nvSpPr>
            <p:spPr bwMode="auto">
              <a:xfrm rot="8100000">
                <a:off x="2499" y="1128"/>
                <a:ext cx="0" cy="2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8" name="Group 72"/>
            <p:cNvGrpSpPr>
              <a:grpSpLocks/>
            </p:cNvGrpSpPr>
            <p:nvPr/>
          </p:nvGrpSpPr>
          <p:grpSpPr bwMode="auto">
            <a:xfrm>
              <a:off x="1785" y="3273"/>
              <a:ext cx="227" cy="227"/>
              <a:chOff x="2363" y="1120"/>
              <a:chExt cx="277" cy="272"/>
            </a:xfrm>
          </p:grpSpPr>
          <p:sp>
            <p:nvSpPr>
              <p:cNvPr id="26" name="Oval 73"/>
              <p:cNvSpPr>
                <a:spLocks noChangeArrowheads="1"/>
              </p:cNvSpPr>
              <p:nvPr/>
            </p:nvSpPr>
            <p:spPr bwMode="auto">
              <a:xfrm>
                <a:off x="2368" y="1120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74"/>
              <p:cNvSpPr>
                <a:spLocks noChangeShapeType="1"/>
              </p:cNvSpPr>
              <p:nvPr/>
            </p:nvSpPr>
            <p:spPr bwMode="auto">
              <a:xfrm rot="2700000">
                <a:off x="2500" y="1121"/>
                <a:ext cx="0" cy="2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75"/>
              <p:cNvSpPr>
                <a:spLocks noChangeShapeType="1"/>
              </p:cNvSpPr>
              <p:nvPr/>
            </p:nvSpPr>
            <p:spPr bwMode="auto">
              <a:xfrm rot="8100000">
                <a:off x="2499" y="1128"/>
                <a:ext cx="0" cy="2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" name="Group 76"/>
            <p:cNvGrpSpPr>
              <a:grpSpLocks/>
            </p:cNvGrpSpPr>
            <p:nvPr/>
          </p:nvGrpSpPr>
          <p:grpSpPr bwMode="auto">
            <a:xfrm>
              <a:off x="1126" y="2523"/>
              <a:ext cx="225" cy="150"/>
              <a:chOff x="1126" y="2523"/>
              <a:chExt cx="225" cy="150"/>
            </a:xfrm>
          </p:grpSpPr>
          <p:sp>
            <p:nvSpPr>
              <p:cNvPr id="24" name="Line 77"/>
              <p:cNvSpPr>
                <a:spLocks noChangeShapeType="1"/>
              </p:cNvSpPr>
              <p:nvPr/>
            </p:nvSpPr>
            <p:spPr bwMode="auto">
              <a:xfrm flipH="1" flipV="1">
                <a:off x="1126" y="2523"/>
                <a:ext cx="192" cy="1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Oval 78"/>
              <p:cNvSpPr>
                <a:spLocks noChangeArrowheads="1"/>
              </p:cNvSpPr>
              <p:nvPr/>
            </p:nvSpPr>
            <p:spPr bwMode="auto">
              <a:xfrm>
                <a:off x="1306" y="2628"/>
                <a:ext cx="45" cy="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" name="Oval 79"/>
            <p:cNvSpPr>
              <a:spLocks noChangeArrowheads="1"/>
            </p:cNvSpPr>
            <p:nvPr/>
          </p:nvSpPr>
          <p:spPr bwMode="auto">
            <a:xfrm>
              <a:off x="704" y="2622"/>
              <a:ext cx="45" cy="4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Oval 80"/>
            <p:cNvSpPr>
              <a:spLocks noChangeArrowheads="1"/>
            </p:cNvSpPr>
            <p:nvPr/>
          </p:nvSpPr>
          <p:spPr bwMode="auto">
            <a:xfrm>
              <a:off x="694" y="3493"/>
              <a:ext cx="45" cy="4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Oval 81"/>
            <p:cNvSpPr>
              <a:spLocks noChangeArrowheads="1"/>
            </p:cNvSpPr>
            <p:nvPr/>
          </p:nvSpPr>
          <p:spPr bwMode="auto">
            <a:xfrm>
              <a:off x="692" y="3730"/>
              <a:ext cx="45" cy="4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Text Box 82"/>
            <p:cNvSpPr txBox="1">
              <a:spLocks noChangeArrowheads="1"/>
            </p:cNvSpPr>
            <p:nvPr/>
          </p:nvSpPr>
          <p:spPr bwMode="auto">
            <a:xfrm>
              <a:off x="2204" y="2974"/>
              <a:ext cx="343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0">
                  <a:latin typeface="宋体" panose="02010600030101010101" pitchFamily="2" charset="-122"/>
                  <a:ea typeface="宋体" panose="02010600030101010101" pitchFamily="2" charset="-122"/>
                </a:rPr>
                <a:t>N'</a:t>
              </a:r>
            </a:p>
          </p:txBody>
        </p:sp>
      </p:grpSp>
      <p:sp>
        <p:nvSpPr>
          <p:cNvPr id="35" name="Text Box 2"/>
          <p:cNvSpPr txBox="1">
            <a:spLocks noChangeArrowheads="1"/>
          </p:cNvSpPr>
          <p:nvPr/>
        </p:nvSpPr>
        <p:spPr bwMode="auto">
          <a:xfrm>
            <a:off x="562061" y="3196326"/>
            <a:ext cx="2447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0" dirty="0">
                <a:latin typeface="宋体" panose="02010600030101010101" pitchFamily="2" charset="-122"/>
                <a:ea typeface="宋体" panose="02010600030101010101" pitchFamily="2" charset="-122"/>
              </a:rPr>
              <a:t>(2) A</a:t>
            </a:r>
            <a:r>
              <a:rPr kumimoji="1"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相短路</a:t>
            </a:r>
            <a:endParaRPr kumimoji="1"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Rectangle 3"/>
          <p:cNvSpPr>
            <a:spLocks noChangeArrowheads="1"/>
          </p:cNvSpPr>
          <p:nvPr/>
        </p:nvSpPr>
        <p:spPr bwMode="auto">
          <a:xfrm>
            <a:off x="5618188" y="4117683"/>
            <a:ext cx="3261783" cy="9461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/>
          <a:p>
            <a:r>
              <a:rPr kumimoji="1"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超过灯泡的额定电压，灯泡可能烧坏。</a:t>
            </a:r>
            <a:endParaRPr kumimoji="1"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7" name="Group 50"/>
          <p:cNvGrpSpPr>
            <a:grpSpLocks/>
          </p:cNvGrpSpPr>
          <p:nvPr/>
        </p:nvGrpSpPr>
        <p:grpSpPr bwMode="auto">
          <a:xfrm>
            <a:off x="1323830" y="3604550"/>
            <a:ext cx="3424237" cy="2295526"/>
            <a:chOff x="3107" y="178"/>
            <a:chExt cx="2157" cy="1446"/>
          </a:xfrm>
        </p:grpSpPr>
        <p:grpSp>
          <p:nvGrpSpPr>
            <p:cNvPr id="38" name="Group 6"/>
            <p:cNvGrpSpPr>
              <a:grpSpLocks/>
            </p:cNvGrpSpPr>
            <p:nvPr/>
          </p:nvGrpSpPr>
          <p:grpSpPr bwMode="auto">
            <a:xfrm>
              <a:off x="3107" y="178"/>
              <a:ext cx="2157" cy="1446"/>
              <a:chOff x="617" y="604"/>
              <a:chExt cx="2157" cy="1446"/>
            </a:xfrm>
          </p:grpSpPr>
          <p:sp>
            <p:nvSpPr>
              <p:cNvPr id="45" name="Line 7"/>
              <p:cNvSpPr>
                <a:spLocks noChangeShapeType="1"/>
              </p:cNvSpPr>
              <p:nvPr/>
            </p:nvSpPr>
            <p:spPr bwMode="auto">
              <a:xfrm>
                <a:off x="2222" y="804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cxnSp>
            <p:nvCxnSpPr>
              <p:cNvPr id="46" name="AutoShape 8"/>
              <p:cNvCxnSpPr>
                <a:cxnSpLocks noChangeShapeType="1"/>
                <a:stCxn id="45" idx="1"/>
              </p:cNvCxnSpPr>
              <p:nvPr/>
            </p:nvCxnSpPr>
            <p:spPr bwMode="auto">
              <a:xfrm>
                <a:off x="2222" y="1386"/>
                <a:ext cx="552" cy="283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7" name="AutoShape 9"/>
              <p:cNvCxnSpPr>
                <a:cxnSpLocks noChangeShapeType="1"/>
                <a:endCxn id="45" idx="1"/>
              </p:cNvCxnSpPr>
              <p:nvPr/>
            </p:nvCxnSpPr>
            <p:spPr bwMode="auto">
              <a:xfrm flipV="1">
                <a:off x="1670" y="1386"/>
                <a:ext cx="552" cy="283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8" name="Line 10"/>
              <p:cNvSpPr>
                <a:spLocks noChangeShapeType="1"/>
              </p:cNvSpPr>
              <p:nvPr/>
            </p:nvSpPr>
            <p:spPr bwMode="auto">
              <a:xfrm flipH="1">
                <a:off x="912" y="804"/>
                <a:ext cx="131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Text Box 11"/>
              <p:cNvSpPr txBox="1">
                <a:spLocks noChangeArrowheads="1"/>
              </p:cNvSpPr>
              <p:nvPr/>
            </p:nvSpPr>
            <p:spPr bwMode="auto">
              <a:xfrm>
                <a:off x="617" y="604"/>
                <a:ext cx="229" cy="33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b="0"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50" name="Text Box 12"/>
              <p:cNvSpPr txBox="1">
                <a:spLocks noChangeArrowheads="1"/>
              </p:cNvSpPr>
              <p:nvPr/>
            </p:nvSpPr>
            <p:spPr bwMode="auto">
              <a:xfrm>
                <a:off x="650" y="1486"/>
                <a:ext cx="229" cy="33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b="0"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51" name="Text Box 13"/>
              <p:cNvSpPr txBox="1">
                <a:spLocks noChangeArrowheads="1"/>
              </p:cNvSpPr>
              <p:nvPr/>
            </p:nvSpPr>
            <p:spPr bwMode="auto">
              <a:xfrm>
                <a:off x="650" y="1720"/>
                <a:ext cx="229" cy="33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b="0">
                    <a:latin typeface="宋体" panose="02010600030101010101" pitchFamily="2" charset="-122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52" name="Line 14"/>
              <p:cNvSpPr>
                <a:spLocks noChangeShapeType="1"/>
              </p:cNvSpPr>
              <p:nvPr/>
            </p:nvSpPr>
            <p:spPr bwMode="auto">
              <a:xfrm flipH="1">
                <a:off x="906" y="1908"/>
                <a:ext cx="18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15"/>
              <p:cNvSpPr>
                <a:spLocks noChangeShapeType="1"/>
              </p:cNvSpPr>
              <p:nvPr/>
            </p:nvSpPr>
            <p:spPr bwMode="auto">
              <a:xfrm>
                <a:off x="2774" y="1668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16"/>
              <p:cNvSpPr>
                <a:spLocks noChangeShapeType="1"/>
              </p:cNvSpPr>
              <p:nvPr/>
            </p:nvSpPr>
            <p:spPr bwMode="auto">
              <a:xfrm flipH="1">
                <a:off x="906" y="1666"/>
                <a:ext cx="764" cy="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55" name="Group 17"/>
              <p:cNvGrpSpPr>
                <a:grpSpLocks/>
              </p:cNvGrpSpPr>
              <p:nvPr/>
            </p:nvGrpSpPr>
            <p:grpSpPr bwMode="auto">
              <a:xfrm>
                <a:off x="2104" y="952"/>
                <a:ext cx="227" cy="227"/>
                <a:chOff x="2363" y="1120"/>
                <a:chExt cx="277" cy="272"/>
              </a:xfrm>
            </p:grpSpPr>
            <p:sp>
              <p:nvSpPr>
                <p:cNvPr id="69" name="Oval 18"/>
                <p:cNvSpPr>
                  <a:spLocks noChangeArrowheads="1"/>
                </p:cNvSpPr>
                <p:nvPr/>
              </p:nvSpPr>
              <p:spPr bwMode="auto">
                <a:xfrm>
                  <a:off x="2368" y="1120"/>
                  <a:ext cx="272" cy="272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0" name="Line 19"/>
                <p:cNvSpPr>
                  <a:spLocks noChangeShapeType="1"/>
                </p:cNvSpPr>
                <p:nvPr/>
              </p:nvSpPr>
              <p:spPr bwMode="auto">
                <a:xfrm rot="2700000">
                  <a:off x="2500" y="1121"/>
                  <a:ext cx="0" cy="27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" name="Line 20"/>
                <p:cNvSpPr>
                  <a:spLocks noChangeShapeType="1"/>
                </p:cNvSpPr>
                <p:nvPr/>
              </p:nvSpPr>
              <p:spPr bwMode="auto">
                <a:xfrm rot="8100000">
                  <a:off x="2499" y="1128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" name="Group 21"/>
              <p:cNvGrpSpPr>
                <a:grpSpLocks/>
              </p:cNvGrpSpPr>
              <p:nvPr/>
            </p:nvGrpSpPr>
            <p:grpSpPr bwMode="auto">
              <a:xfrm>
                <a:off x="2382" y="1403"/>
                <a:ext cx="227" cy="227"/>
                <a:chOff x="2363" y="1120"/>
                <a:chExt cx="277" cy="272"/>
              </a:xfrm>
            </p:grpSpPr>
            <p:sp>
              <p:nvSpPr>
                <p:cNvPr id="66" name="Oval 22"/>
                <p:cNvSpPr>
                  <a:spLocks noChangeArrowheads="1"/>
                </p:cNvSpPr>
                <p:nvPr/>
              </p:nvSpPr>
              <p:spPr bwMode="auto">
                <a:xfrm>
                  <a:off x="2368" y="1120"/>
                  <a:ext cx="272" cy="272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7" name="Line 23"/>
                <p:cNvSpPr>
                  <a:spLocks noChangeShapeType="1"/>
                </p:cNvSpPr>
                <p:nvPr/>
              </p:nvSpPr>
              <p:spPr bwMode="auto">
                <a:xfrm rot="2700000">
                  <a:off x="2500" y="1121"/>
                  <a:ext cx="0" cy="27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" name="Line 24"/>
                <p:cNvSpPr>
                  <a:spLocks noChangeShapeType="1"/>
                </p:cNvSpPr>
                <p:nvPr/>
              </p:nvSpPr>
              <p:spPr bwMode="auto">
                <a:xfrm rot="8100000">
                  <a:off x="2499" y="1128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7" name="Group 25"/>
              <p:cNvGrpSpPr>
                <a:grpSpLocks/>
              </p:cNvGrpSpPr>
              <p:nvPr/>
            </p:nvGrpSpPr>
            <p:grpSpPr bwMode="auto">
              <a:xfrm>
                <a:off x="1798" y="1425"/>
                <a:ext cx="227" cy="227"/>
                <a:chOff x="2363" y="1120"/>
                <a:chExt cx="277" cy="272"/>
              </a:xfrm>
            </p:grpSpPr>
            <p:sp>
              <p:nvSpPr>
                <p:cNvPr id="63" name="Oval 26"/>
                <p:cNvSpPr>
                  <a:spLocks noChangeArrowheads="1"/>
                </p:cNvSpPr>
                <p:nvPr/>
              </p:nvSpPr>
              <p:spPr bwMode="auto">
                <a:xfrm>
                  <a:off x="2368" y="1120"/>
                  <a:ext cx="272" cy="272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" name="Line 27"/>
                <p:cNvSpPr>
                  <a:spLocks noChangeShapeType="1"/>
                </p:cNvSpPr>
                <p:nvPr/>
              </p:nvSpPr>
              <p:spPr bwMode="auto">
                <a:xfrm rot="2700000">
                  <a:off x="2500" y="1121"/>
                  <a:ext cx="0" cy="27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" name="Line 28"/>
                <p:cNvSpPr>
                  <a:spLocks noChangeShapeType="1"/>
                </p:cNvSpPr>
                <p:nvPr/>
              </p:nvSpPr>
              <p:spPr bwMode="auto">
                <a:xfrm rot="8100000">
                  <a:off x="2499" y="1128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8" name="Oval 29"/>
              <p:cNvSpPr>
                <a:spLocks noChangeArrowheads="1"/>
              </p:cNvSpPr>
              <p:nvPr/>
            </p:nvSpPr>
            <p:spPr bwMode="auto">
              <a:xfrm>
                <a:off x="861" y="774"/>
                <a:ext cx="45" cy="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Oval 30"/>
              <p:cNvSpPr>
                <a:spLocks noChangeArrowheads="1"/>
              </p:cNvSpPr>
              <p:nvPr/>
            </p:nvSpPr>
            <p:spPr bwMode="auto">
              <a:xfrm>
                <a:off x="861" y="1639"/>
                <a:ext cx="45" cy="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Oval 31"/>
              <p:cNvSpPr>
                <a:spLocks noChangeArrowheads="1"/>
              </p:cNvSpPr>
              <p:nvPr/>
            </p:nvSpPr>
            <p:spPr bwMode="auto">
              <a:xfrm>
                <a:off x="867" y="1882"/>
                <a:ext cx="45" cy="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Text Box 32"/>
              <p:cNvSpPr txBox="1">
                <a:spLocks noChangeArrowheads="1"/>
              </p:cNvSpPr>
              <p:nvPr/>
            </p:nvSpPr>
            <p:spPr bwMode="auto">
              <a:xfrm>
                <a:off x="2217" y="1126"/>
                <a:ext cx="343" cy="33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b="0">
                    <a:latin typeface="宋体" panose="02010600030101010101" pitchFamily="2" charset="-122"/>
                    <a:ea typeface="宋体" panose="02010600030101010101" pitchFamily="2" charset="-122"/>
                  </a:rPr>
                  <a:t>N'</a:t>
                </a:r>
              </a:p>
            </p:txBody>
          </p:sp>
          <p:sp>
            <p:nvSpPr>
              <p:cNvPr id="62" name="Arc 33"/>
              <p:cNvSpPr>
                <a:spLocks/>
              </p:cNvSpPr>
              <p:nvPr/>
            </p:nvSpPr>
            <p:spPr bwMode="auto">
              <a:xfrm flipH="1">
                <a:off x="1909" y="797"/>
                <a:ext cx="306" cy="58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3197"/>
                  <a:gd name="T2" fmla="*/ 355 w 21600"/>
                  <a:gd name="T3" fmla="*/ 43197 h 43197"/>
                  <a:gd name="T4" fmla="*/ 0 w 21600"/>
                  <a:gd name="T5" fmla="*/ 21600 h 43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3197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390"/>
                      <a:pt x="12144" y="43003"/>
                      <a:pt x="355" y="43197"/>
                    </a:cubicBezTo>
                  </a:path>
                  <a:path w="21600" h="43197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390"/>
                      <a:pt x="12144" y="43003"/>
                      <a:pt x="355" y="4319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4513" y="1434"/>
              <a:ext cx="4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3606" y="1162"/>
              <a:ext cx="4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1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9898487"/>
                </p:ext>
              </p:extLst>
            </p:nvPr>
          </p:nvGraphicFramePr>
          <p:xfrm>
            <a:off x="4613" y="1108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818" name="Equation" r:id="rId3" imgW="177480" imgH="241200" progId="Equation.DSMT4">
                    <p:embed/>
                  </p:oleObj>
                </mc:Choice>
                <mc:Fallback>
                  <p:oleObj name="Equation" r:id="rId3" imgW="177480" imgH="241200" progId="Equation.DSMT4">
                    <p:embed/>
                    <p:pic>
                      <p:nvPicPr>
                        <p:cNvPr id="66602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3" y="1108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8403967"/>
                </p:ext>
              </p:extLst>
            </p:nvPr>
          </p:nvGraphicFramePr>
          <p:xfrm>
            <a:off x="3660" y="790"/>
            <a:ext cx="253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819" name="Equation" r:id="rId5" imgW="177480" imgH="241200" progId="Equation.DSMT4">
                    <p:embed/>
                  </p:oleObj>
                </mc:Choice>
                <mc:Fallback>
                  <p:oleObj name="Equation" r:id="rId5" imgW="177480" imgH="241200" progId="Equation.DSMT4">
                    <p:embed/>
                    <p:pic>
                      <p:nvPicPr>
                        <p:cNvPr id="66603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" y="790"/>
                          <a:ext cx="253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3817394"/>
                </p:ext>
              </p:extLst>
            </p:nvPr>
          </p:nvGraphicFramePr>
          <p:xfrm>
            <a:off x="3796" y="337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820" name="Equation" r:id="rId7" imgW="177480" imgH="241200" progId="Equation.DSMT4">
                    <p:embed/>
                  </p:oleObj>
                </mc:Choice>
                <mc:Fallback>
                  <p:oleObj name="Equation" r:id="rId7" imgW="177480" imgH="241200" progId="Equation.DSMT4">
                    <p:embed/>
                    <p:pic>
                      <p:nvPicPr>
                        <p:cNvPr id="66605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6" y="337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Line 46"/>
            <p:cNvSpPr>
              <a:spLocks noChangeShapeType="1"/>
            </p:cNvSpPr>
            <p:nvPr/>
          </p:nvSpPr>
          <p:spPr bwMode="auto">
            <a:xfrm>
              <a:off x="3379" y="436"/>
              <a:ext cx="4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72" name="Text Box 71"/>
          <p:cNvSpPr txBox="1">
            <a:spLocks noChangeArrowheads="1"/>
          </p:cNvSpPr>
          <p:nvPr/>
        </p:nvSpPr>
        <p:spPr bwMode="auto">
          <a:xfrm>
            <a:off x="589112" y="5946892"/>
            <a:ext cx="8317909" cy="83099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b="1" dirty="0">
                <a:latin typeface="宋体" panose="02010600030101010101" pitchFamily="2" charset="-122"/>
              </a:rPr>
              <a:t>民用配电网基本上采用三相四线制，</a:t>
            </a:r>
            <a:r>
              <a:rPr lang="zh-CN" altLang="en-US" dirty="0">
                <a:latin typeface="宋体" panose="02010600030101010101" pitchFamily="2" charset="-122"/>
              </a:rPr>
              <a:t>三相三线制只适用于三相对称负荷（如三相电力变压器，三相电机等）</a:t>
            </a:r>
            <a:endParaRPr kumimoji="1" lang="zh-CN" altLang="en-US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204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nimBg="1" autoUpdateAnimBg="0"/>
      <p:bldP spid="35" grpId="0" autoUpdateAnimBg="0"/>
      <p:bldP spid="36" grpId="0" animBg="1" autoUpdateAnimBg="0"/>
      <p:bldP spid="72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灯片编号占位符 3"/>
          <p:cNvSpPr txBox="1">
            <a:spLocks noGrp="1"/>
          </p:cNvSpPr>
          <p:nvPr/>
        </p:nvSpPr>
        <p:spPr bwMode="auto">
          <a:xfrm>
            <a:off x="7267575" y="65341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kumimoji="1" lang="en-US" altLang="zh-CN" sz="1400" b="0">
                <a:latin typeface="Times New Roman" panose="02020603050405020304" pitchFamily="18" charset="0"/>
              </a:rPr>
              <a:t>4-</a:t>
            </a:r>
            <a:fld id="{A4C4EDCC-F008-4C5F-8812-9407A290FEBC}" type="slidenum">
              <a:rPr kumimoji="1" lang="en-US" altLang="zh-CN" sz="1400" b="0">
                <a:latin typeface="Times New Roman" panose="02020603050405020304" pitchFamily="18" charset="0"/>
              </a:rPr>
              <a:pPr algn="r"/>
              <a:t>44</a:t>
            </a:fld>
            <a:endParaRPr kumimoji="1"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129027" name="Text Box 2"/>
          <p:cNvSpPr txBox="1">
            <a:spLocks noChangeArrowheads="1"/>
          </p:cNvSpPr>
          <p:nvPr/>
        </p:nvSpPr>
        <p:spPr bwMode="auto">
          <a:xfrm>
            <a:off x="228600" y="185738"/>
            <a:ext cx="38779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照明电路的一般画法</a:t>
            </a:r>
          </a:p>
        </p:txBody>
      </p:sp>
      <p:sp>
        <p:nvSpPr>
          <p:cNvPr id="374787" name="AutoShape 3"/>
          <p:cNvSpPr>
            <a:spLocks noChangeArrowheads="1"/>
          </p:cNvSpPr>
          <p:nvPr/>
        </p:nvSpPr>
        <p:spPr bwMode="auto">
          <a:xfrm>
            <a:off x="407988" y="1277938"/>
            <a:ext cx="2460625" cy="1524000"/>
          </a:xfrm>
          <a:prstGeom prst="cloudCallout">
            <a:avLst>
              <a:gd name="adj1" fmla="val 106065"/>
              <a:gd name="adj2" fmla="val 68023"/>
            </a:avLst>
          </a:prstGeom>
          <a:solidFill>
            <a:srgbClr val="FF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kumimoji="1" lang="en-US" altLang="zh-CN" sz="2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ctr"/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零线上不能加</a:t>
            </a:r>
          </a:p>
          <a:p>
            <a:pPr algn="ctr"/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刀闸和保险</a:t>
            </a:r>
          </a:p>
          <a:p>
            <a:pPr algn="ctr"/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330575" y="912813"/>
            <a:ext cx="5602288" cy="3275012"/>
            <a:chOff x="542" y="720"/>
            <a:chExt cx="4899" cy="2868"/>
          </a:xfrm>
        </p:grpSpPr>
        <p:sp>
          <p:nvSpPr>
            <p:cNvPr id="129030" name="Rectangle 5"/>
            <p:cNvSpPr>
              <a:spLocks noChangeArrowheads="1"/>
            </p:cNvSpPr>
            <p:nvPr/>
          </p:nvSpPr>
          <p:spPr bwMode="auto">
            <a:xfrm flipV="1">
              <a:off x="1692" y="1693"/>
              <a:ext cx="276" cy="95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1" lang="zh-CN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29031" name="Rectangle 6"/>
            <p:cNvSpPr>
              <a:spLocks noChangeArrowheads="1"/>
            </p:cNvSpPr>
            <p:nvPr/>
          </p:nvSpPr>
          <p:spPr bwMode="auto">
            <a:xfrm flipV="1">
              <a:off x="1692" y="949"/>
              <a:ext cx="276" cy="95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1" lang="zh-CN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29032" name="Rectangle 7"/>
            <p:cNvSpPr>
              <a:spLocks noChangeArrowheads="1"/>
            </p:cNvSpPr>
            <p:nvPr/>
          </p:nvSpPr>
          <p:spPr bwMode="auto">
            <a:xfrm flipV="1">
              <a:off x="1704" y="1345"/>
              <a:ext cx="276" cy="95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1" lang="zh-CN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29033" name="Line 8"/>
            <p:cNvSpPr>
              <a:spLocks noChangeShapeType="1"/>
            </p:cNvSpPr>
            <p:nvPr/>
          </p:nvSpPr>
          <p:spPr bwMode="auto">
            <a:xfrm>
              <a:off x="1284" y="720"/>
              <a:ext cx="276" cy="2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34" name="Line 9"/>
            <p:cNvSpPr>
              <a:spLocks noChangeShapeType="1"/>
            </p:cNvSpPr>
            <p:nvPr/>
          </p:nvSpPr>
          <p:spPr bwMode="auto">
            <a:xfrm>
              <a:off x="1284" y="1104"/>
              <a:ext cx="276" cy="2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35" name="Line 10"/>
            <p:cNvSpPr>
              <a:spLocks noChangeShapeType="1"/>
            </p:cNvSpPr>
            <p:nvPr/>
          </p:nvSpPr>
          <p:spPr bwMode="auto">
            <a:xfrm>
              <a:off x="1284" y="1464"/>
              <a:ext cx="276" cy="27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36" name="Line 11"/>
            <p:cNvSpPr>
              <a:spLocks noChangeShapeType="1"/>
            </p:cNvSpPr>
            <p:nvPr/>
          </p:nvSpPr>
          <p:spPr bwMode="auto">
            <a:xfrm>
              <a:off x="1560" y="996"/>
              <a:ext cx="37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37" name="Line 12"/>
            <p:cNvSpPr>
              <a:spLocks noChangeShapeType="1"/>
            </p:cNvSpPr>
            <p:nvPr/>
          </p:nvSpPr>
          <p:spPr bwMode="auto">
            <a:xfrm>
              <a:off x="1560" y="1392"/>
              <a:ext cx="370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38" name="Line 13"/>
            <p:cNvSpPr>
              <a:spLocks noChangeShapeType="1"/>
            </p:cNvSpPr>
            <p:nvPr/>
          </p:nvSpPr>
          <p:spPr bwMode="auto">
            <a:xfrm>
              <a:off x="1560" y="1740"/>
              <a:ext cx="37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39" name="Line 14"/>
            <p:cNvSpPr>
              <a:spLocks noChangeShapeType="1"/>
            </p:cNvSpPr>
            <p:nvPr/>
          </p:nvSpPr>
          <p:spPr bwMode="auto">
            <a:xfrm>
              <a:off x="864" y="984"/>
              <a:ext cx="3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40" name="Line 15"/>
            <p:cNvSpPr>
              <a:spLocks noChangeShapeType="1"/>
            </p:cNvSpPr>
            <p:nvPr/>
          </p:nvSpPr>
          <p:spPr bwMode="auto">
            <a:xfrm>
              <a:off x="876" y="1380"/>
              <a:ext cx="3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41" name="Line 16"/>
            <p:cNvSpPr>
              <a:spLocks noChangeShapeType="1"/>
            </p:cNvSpPr>
            <p:nvPr/>
          </p:nvSpPr>
          <p:spPr bwMode="auto">
            <a:xfrm>
              <a:off x="900" y="1752"/>
              <a:ext cx="3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42" name="Line 17"/>
            <p:cNvSpPr>
              <a:spLocks noChangeShapeType="1"/>
            </p:cNvSpPr>
            <p:nvPr/>
          </p:nvSpPr>
          <p:spPr bwMode="auto">
            <a:xfrm>
              <a:off x="1392" y="840"/>
              <a:ext cx="0" cy="72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43" name="Line 18"/>
            <p:cNvSpPr>
              <a:spLocks noChangeShapeType="1"/>
            </p:cNvSpPr>
            <p:nvPr/>
          </p:nvSpPr>
          <p:spPr bwMode="auto">
            <a:xfrm>
              <a:off x="888" y="2736"/>
              <a:ext cx="43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44" name="Text Box 19"/>
            <p:cNvSpPr txBox="1">
              <a:spLocks noChangeArrowheads="1"/>
            </p:cNvSpPr>
            <p:nvPr/>
          </p:nvSpPr>
          <p:spPr bwMode="auto">
            <a:xfrm>
              <a:off x="542" y="758"/>
              <a:ext cx="339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29045" name="Text Box 20"/>
            <p:cNvSpPr txBox="1">
              <a:spLocks noChangeArrowheads="1"/>
            </p:cNvSpPr>
            <p:nvPr/>
          </p:nvSpPr>
          <p:spPr bwMode="auto">
            <a:xfrm>
              <a:off x="542" y="1190"/>
              <a:ext cx="339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i="1">
                  <a:latin typeface="Times New Roman" panose="02020603050405020304" pitchFamily="18" charset="0"/>
                </a:rPr>
                <a:t>B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29046" name="Text Box 21"/>
            <p:cNvSpPr txBox="1">
              <a:spLocks noChangeArrowheads="1"/>
            </p:cNvSpPr>
            <p:nvPr/>
          </p:nvSpPr>
          <p:spPr bwMode="auto">
            <a:xfrm>
              <a:off x="566" y="1610"/>
              <a:ext cx="338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i="1">
                  <a:latin typeface="Times New Roman" panose="02020603050405020304" pitchFamily="18" charset="0"/>
                </a:rPr>
                <a:t>C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29047" name="Text Box 22"/>
            <p:cNvSpPr txBox="1">
              <a:spLocks noChangeArrowheads="1"/>
            </p:cNvSpPr>
            <p:nvPr/>
          </p:nvSpPr>
          <p:spPr bwMode="auto">
            <a:xfrm>
              <a:off x="627" y="2474"/>
              <a:ext cx="354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i="1">
                  <a:latin typeface="Times New Roman" panose="02020603050405020304" pitchFamily="18" charset="0"/>
                </a:rPr>
                <a:t>N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29048" name="Group 23"/>
            <p:cNvGrpSpPr>
              <a:grpSpLocks/>
            </p:cNvGrpSpPr>
            <p:nvPr/>
          </p:nvGrpSpPr>
          <p:grpSpPr bwMode="auto">
            <a:xfrm>
              <a:off x="2652" y="972"/>
              <a:ext cx="747" cy="1776"/>
              <a:chOff x="2148" y="972"/>
              <a:chExt cx="747" cy="1776"/>
            </a:xfrm>
          </p:grpSpPr>
          <p:sp>
            <p:nvSpPr>
              <p:cNvPr id="129049" name="AutoShape 24"/>
              <p:cNvSpPr>
                <a:spLocks noChangeArrowheads="1"/>
              </p:cNvSpPr>
              <p:nvPr/>
            </p:nvSpPr>
            <p:spPr bwMode="auto">
              <a:xfrm>
                <a:off x="2148" y="2148"/>
                <a:ext cx="264" cy="252"/>
              </a:xfrm>
              <a:prstGeom prst="flowChartSummingJunction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1" lang="zh-CN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0" name="Line 25"/>
              <p:cNvSpPr>
                <a:spLocks noChangeShapeType="1"/>
              </p:cNvSpPr>
              <p:nvPr/>
            </p:nvSpPr>
            <p:spPr bwMode="auto">
              <a:xfrm>
                <a:off x="2280" y="996"/>
                <a:ext cx="0" cy="115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1" name="Line 26"/>
              <p:cNvSpPr>
                <a:spLocks noChangeShapeType="1"/>
              </p:cNvSpPr>
              <p:nvPr/>
            </p:nvSpPr>
            <p:spPr bwMode="auto">
              <a:xfrm>
                <a:off x="2280" y="2388"/>
                <a:ext cx="0" cy="3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2" name="Oval 27"/>
              <p:cNvSpPr>
                <a:spLocks noChangeArrowheads="1"/>
              </p:cNvSpPr>
              <p:nvPr/>
            </p:nvSpPr>
            <p:spPr bwMode="auto">
              <a:xfrm>
                <a:off x="2256" y="97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1" lang="zh-CN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3" name="Oval 28"/>
              <p:cNvSpPr>
                <a:spLocks noChangeArrowheads="1"/>
              </p:cNvSpPr>
              <p:nvPr/>
            </p:nvSpPr>
            <p:spPr bwMode="auto">
              <a:xfrm>
                <a:off x="2256" y="270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1" lang="zh-CN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4" name="Text Box 29"/>
              <p:cNvSpPr txBox="1">
                <a:spLocks noChangeArrowheads="1"/>
              </p:cNvSpPr>
              <p:nvPr/>
            </p:nvSpPr>
            <p:spPr bwMode="auto">
              <a:xfrm>
                <a:off x="2401" y="2102"/>
                <a:ext cx="494" cy="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400">
                    <a:latin typeface="Times New Roman" panose="02020603050405020304" pitchFamily="18" charset="0"/>
                  </a:rPr>
                  <a:t>. . .</a:t>
                </a:r>
              </a:p>
            </p:txBody>
          </p:sp>
        </p:grpSp>
        <p:grpSp>
          <p:nvGrpSpPr>
            <p:cNvPr id="129055" name="Group 30"/>
            <p:cNvGrpSpPr>
              <a:grpSpLocks/>
            </p:cNvGrpSpPr>
            <p:nvPr/>
          </p:nvGrpSpPr>
          <p:grpSpPr bwMode="auto">
            <a:xfrm>
              <a:off x="3720" y="1356"/>
              <a:ext cx="748" cy="1392"/>
              <a:chOff x="3720" y="1356"/>
              <a:chExt cx="748" cy="1392"/>
            </a:xfrm>
          </p:grpSpPr>
          <p:sp>
            <p:nvSpPr>
              <p:cNvPr id="129056" name="Line 31"/>
              <p:cNvSpPr>
                <a:spLocks noChangeShapeType="1"/>
              </p:cNvSpPr>
              <p:nvPr/>
            </p:nvSpPr>
            <p:spPr bwMode="auto">
              <a:xfrm>
                <a:off x="3864" y="2388"/>
                <a:ext cx="0" cy="3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29057" name="Group 32"/>
              <p:cNvGrpSpPr>
                <a:grpSpLocks/>
              </p:cNvGrpSpPr>
              <p:nvPr/>
            </p:nvGrpSpPr>
            <p:grpSpPr bwMode="auto">
              <a:xfrm>
                <a:off x="3720" y="1356"/>
                <a:ext cx="748" cy="1392"/>
                <a:chOff x="3372" y="1356"/>
                <a:chExt cx="748" cy="1392"/>
              </a:xfrm>
            </p:grpSpPr>
            <p:sp>
              <p:nvSpPr>
                <p:cNvPr id="129058" name="AutoShape 33"/>
                <p:cNvSpPr>
                  <a:spLocks noChangeArrowheads="1"/>
                </p:cNvSpPr>
                <p:nvPr/>
              </p:nvSpPr>
              <p:spPr bwMode="auto">
                <a:xfrm>
                  <a:off x="3372" y="2136"/>
                  <a:ext cx="264" cy="252"/>
                </a:xfrm>
                <a:prstGeom prst="flowChartSummingJunction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kumimoji="1" lang="zh-CN" altLang="zh-CN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9059" name="Line 34"/>
                <p:cNvSpPr>
                  <a:spLocks noChangeShapeType="1"/>
                </p:cNvSpPr>
                <p:nvPr/>
              </p:nvSpPr>
              <p:spPr bwMode="auto">
                <a:xfrm>
                  <a:off x="3516" y="1392"/>
                  <a:ext cx="0" cy="75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9060" name="Oval 35"/>
                <p:cNvSpPr>
                  <a:spLocks noChangeArrowheads="1"/>
                </p:cNvSpPr>
                <p:nvPr/>
              </p:nvSpPr>
              <p:spPr bwMode="auto">
                <a:xfrm>
                  <a:off x="3492" y="1356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kumimoji="1" lang="zh-CN" altLang="zh-CN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9061" name="Oval 36"/>
                <p:cNvSpPr>
                  <a:spLocks noChangeArrowheads="1"/>
                </p:cNvSpPr>
                <p:nvPr/>
              </p:nvSpPr>
              <p:spPr bwMode="auto">
                <a:xfrm>
                  <a:off x="3480" y="2700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kumimoji="1" lang="zh-CN" altLang="zh-CN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9062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626" y="2102"/>
                  <a:ext cx="494" cy="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kumimoji="1" lang="en-US" altLang="zh-CN" sz="2400">
                      <a:latin typeface="Times New Roman" panose="02020603050405020304" pitchFamily="18" charset="0"/>
                    </a:rPr>
                    <a:t>. . .</a:t>
                  </a:r>
                </a:p>
              </p:txBody>
            </p:sp>
          </p:grpSp>
        </p:grpSp>
        <p:grpSp>
          <p:nvGrpSpPr>
            <p:cNvPr id="129063" name="Group 38"/>
            <p:cNvGrpSpPr>
              <a:grpSpLocks/>
            </p:cNvGrpSpPr>
            <p:nvPr/>
          </p:nvGrpSpPr>
          <p:grpSpPr bwMode="auto">
            <a:xfrm>
              <a:off x="4680" y="1728"/>
              <a:ext cx="761" cy="1020"/>
              <a:chOff x="4560" y="1728"/>
              <a:chExt cx="761" cy="1020"/>
            </a:xfrm>
          </p:grpSpPr>
          <p:sp>
            <p:nvSpPr>
              <p:cNvPr id="129064" name="AutoShape 39"/>
              <p:cNvSpPr>
                <a:spLocks noChangeArrowheads="1"/>
              </p:cNvSpPr>
              <p:nvPr/>
            </p:nvSpPr>
            <p:spPr bwMode="auto">
              <a:xfrm>
                <a:off x="4560" y="2148"/>
                <a:ext cx="264" cy="252"/>
              </a:xfrm>
              <a:prstGeom prst="flowChartSummingJunction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1" lang="zh-CN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65" name="Line 40"/>
              <p:cNvSpPr>
                <a:spLocks noChangeShapeType="1"/>
              </p:cNvSpPr>
              <p:nvPr/>
            </p:nvSpPr>
            <p:spPr bwMode="auto">
              <a:xfrm>
                <a:off x="4692" y="1740"/>
                <a:ext cx="0" cy="4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6" name="Line 41"/>
              <p:cNvSpPr>
                <a:spLocks noChangeShapeType="1"/>
              </p:cNvSpPr>
              <p:nvPr/>
            </p:nvSpPr>
            <p:spPr bwMode="auto">
              <a:xfrm>
                <a:off x="4704" y="2400"/>
                <a:ext cx="0" cy="34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67" name="Oval 42"/>
              <p:cNvSpPr>
                <a:spLocks noChangeArrowheads="1"/>
              </p:cNvSpPr>
              <p:nvPr/>
            </p:nvSpPr>
            <p:spPr bwMode="auto">
              <a:xfrm>
                <a:off x="4668" y="172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1" lang="zh-CN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68" name="Oval 43"/>
              <p:cNvSpPr>
                <a:spLocks noChangeArrowheads="1"/>
              </p:cNvSpPr>
              <p:nvPr/>
            </p:nvSpPr>
            <p:spPr bwMode="auto">
              <a:xfrm>
                <a:off x="4680" y="270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1" lang="zh-CN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69" name="Text Box 44"/>
              <p:cNvSpPr txBox="1">
                <a:spLocks noChangeArrowheads="1"/>
              </p:cNvSpPr>
              <p:nvPr/>
            </p:nvSpPr>
            <p:spPr bwMode="auto">
              <a:xfrm>
                <a:off x="4827" y="2066"/>
                <a:ext cx="494" cy="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400">
                    <a:latin typeface="Times New Roman" panose="02020603050405020304" pitchFamily="18" charset="0"/>
                  </a:rPr>
                  <a:t>. . .</a:t>
                </a:r>
              </a:p>
            </p:txBody>
          </p:sp>
        </p:grpSp>
        <p:sp>
          <p:nvSpPr>
            <p:cNvPr id="129070" name="Text Box 45"/>
            <p:cNvSpPr txBox="1">
              <a:spLocks noChangeArrowheads="1"/>
            </p:cNvSpPr>
            <p:nvPr/>
          </p:nvSpPr>
          <p:spPr bwMode="auto">
            <a:xfrm>
              <a:off x="2630" y="2833"/>
              <a:ext cx="43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400" dirty="0">
                  <a:latin typeface="Times New Roman" panose="02020603050405020304" pitchFamily="18" charset="0"/>
                </a:rPr>
                <a:t>一</a:t>
              </a:r>
            </a:p>
            <a:p>
              <a:r>
                <a:rPr kumimoji="1" lang="zh-CN" altLang="en-US" sz="2400" dirty="0">
                  <a:latin typeface="Times New Roman" panose="02020603050405020304" pitchFamily="18" charset="0"/>
                </a:rPr>
                <a:t>层</a:t>
              </a:r>
            </a:p>
          </p:txBody>
        </p:sp>
        <p:sp>
          <p:nvSpPr>
            <p:cNvPr id="129071" name="Text Box 46"/>
            <p:cNvSpPr txBox="1">
              <a:spLocks noChangeArrowheads="1"/>
            </p:cNvSpPr>
            <p:nvPr/>
          </p:nvSpPr>
          <p:spPr bwMode="auto">
            <a:xfrm>
              <a:off x="3710" y="2868"/>
              <a:ext cx="43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400">
                  <a:latin typeface="Times New Roman" panose="02020603050405020304" pitchFamily="18" charset="0"/>
                </a:rPr>
                <a:t>二</a:t>
              </a:r>
            </a:p>
            <a:p>
              <a:r>
                <a:rPr kumimoji="1" lang="zh-CN" altLang="en-US" sz="2400">
                  <a:latin typeface="Times New Roman" panose="02020603050405020304" pitchFamily="18" charset="0"/>
                </a:rPr>
                <a:t>层</a:t>
              </a:r>
            </a:p>
          </p:txBody>
        </p:sp>
        <p:sp>
          <p:nvSpPr>
            <p:cNvPr id="129072" name="Text Box 47"/>
            <p:cNvSpPr txBox="1">
              <a:spLocks noChangeArrowheads="1"/>
            </p:cNvSpPr>
            <p:nvPr/>
          </p:nvSpPr>
          <p:spPr bwMode="auto">
            <a:xfrm>
              <a:off x="4718" y="2857"/>
              <a:ext cx="43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400">
                  <a:latin typeface="Times New Roman" panose="02020603050405020304" pitchFamily="18" charset="0"/>
                </a:rPr>
                <a:t>三</a:t>
              </a:r>
            </a:p>
            <a:p>
              <a:r>
                <a:rPr kumimoji="1" lang="zh-CN" altLang="en-US" sz="2400">
                  <a:latin typeface="Times New Roman" panose="02020603050405020304" pitchFamily="18" charset="0"/>
                </a:rPr>
                <a:t>层</a:t>
              </a:r>
            </a:p>
          </p:txBody>
        </p:sp>
      </p:grpSp>
      <p:sp>
        <p:nvSpPr>
          <p:cNvPr id="374832" name="Text Box 48"/>
          <p:cNvSpPr txBox="1">
            <a:spLocks noChangeArrowheads="1"/>
          </p:cNvSpPr>
          <p:nvPr/>
        </p:nvSpPr>
        <p:spPr bwMode="auto">
          <a:xfrm>
            <a:off x="274295" y="4379666"/>
            <a:ext cx="861536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关于中线的结论</a:t>
            </a:r>
            <a:endParaRPr kumimoji="1"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中线的作用在于：使星形连接的不对称负载上得到对称的相电压。</a:t>
            </a:r>
          </a:p>
          <a:p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为了确保零线在运行中不断开，其上不允许接保险丝也不允许接刀闸。</a:t>
            </a:r>
          </a:p>
        </p:txBody>
      </p:sp>
    </p:spTree>
    <p:extLst>
      <p:ext uri="{BB962C8B-B14F-4D97-AF65-F5344CB8AC3E}">
        <p14:creationId xmlns:p14="http://schemas.microsoft.com/office/powerpoint/2010/main" val="220192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4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48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48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7" grpId="0" animBg="1" autoUpdateAnimBg="0"/>
      <p:bldP spid="374832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18" name="Picture 2" descr="http://www.kingsmartsi.com/ckfinder/userfiles/images/%E5%85%AC%E5%8F%B8/%E4%BA%A4%E6%B5%81%E4%B8%8E%E5%88%86%E4%BA%AB/%E5%B7%A5%E7%A8%8B%E4%B8%93%E9%A2%98/%E5%B7%A5%E7%A8%8B%E4%B8%93%E9%A2%98_%E6%9C%BA%E6%88%BF%E4%BE%9B%E7%94%B5%E7%B3%BB%E7%BB%9F%E4%B8%AD%E7%9A%84%E4%B8%89%E7%9B%B8%E4%BA%94%E7%BA%BF%E5%88%B6_%E5%9B%B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42" y="687859"/>
            <a:ext cx="8717842" cy="495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9082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436563" y="1128713"/>
            <a:ext cx="4303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1.  </a:t>
            </a:r>
            <a:r>
              <a:rPr lang="zh-CN" altLang="en-US"/>
              <a:t>对称三相电路的平均功率</a:t>
            </a:r>
            <a:r>
              <a:rPr lang="en-US" altLang="zh-CN" i="1"/>
              <a:t>P</a:t>
            </a:r>
            <a:endParaRPr lang="en-US" altLang="zh-CN"/>
          </a:p>
        </p:txBody>
      </p:sp>
      <p:sp>
        <p:nvSpPr>
          <p:cNvPr id="51211" name="Text Box 11"/>
          <p:cNvSpPr txBox="1">
            <a:spLocks noChangeArrowheads="1"/>
          </p:cNvSpPr>
          <p:nvPr/>
        </p:nvSpPr>
        <p:spPr bwMode="auto">
          <a:xfrm>
            <a:off x="2360613" y="325438"/>
            <a:ext cx="3686175" cy="528637"/>
          </a:xfrm>
          <a:prstGeom prst="rect">
            <a:avLst/>
          </a:prstGeom>
          <a:noFill/>
          <a:ln w="9525" algn="ctr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_GB2312"/>
                <a:cs typeface="楷体_GB2312"/>
              </a:rPr>
              <a:t>12.5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_GB2312"/>
                <a:cs typeface="楷体_GB2312"/>
              </a:rPr>
              <a:t>三相电路的功率 </a:t>
            </a:r>
          </a:p>
        </p:txBody>
      </p:sp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1104900" y="2222500"/>
            <a:ext cx="2774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对称三相负载</a:t>
            </a:r>
            <a:r>
              <a:rPr lang="en-US" altLang="zh-CN" i="1">
                <a:solidFill>
                  <a:schemeClr val="tx1"/>
                </a:solidFill>
              </a:rPr>
              <a:t>Z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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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4076700" y="2222500"/>
            <a:ext cx="443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>
                <a:solidFill>
                  <a:schemeClr val="tx1"/>
                </a:solidFill>
              </a:rPr>
              <a:t>三相总功率</a:t>
            </a:r>
            <a:r>
              <a:rPr lang="zh-CN" altLang="zh-CN" i="1">
                <a:solidFill>
                  <a:schemeClr val="tx1"/>
                </a:solidFill>
              </a:rPr>
              <a:t> </a:t>
            </a:r>
            <a:r>
              <a:rPr lang="en-US" altLang="zh-CN" i="1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rgbClr val="FF0000"/>
                </a:solidFill>
              </a:rPr>
              <a:t>=3</a:t>
            </a:r>
            <a:r>
              <a:rPr lang="en-US" altLang="zh-CN" i="1">
                <a:solidFill>
                  <a:srgbClr val="FF0000"/>
                </a:solidFill>
              </a:rPr>
              <a:t>P</a:t>
            </a:r>
            <a:r>
              <a:rPr lang="en-US" altLang="zh-CN" i="1" baseline="-25000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rgbClr val="FF0000"/>
                </a:solidFill>
              </a:rPr>
              <a:t>=3</a:t>
            </a:r>
            <a:r>
              <a:rPr lang="en-US" altLang="zh-CN" i="1">
                <a:solidFill>
                  <a:srgbClr val="FF0000"/>
                </a:solidFill>
              </a:rPr>
              <a:t>U</a:t>
            </a:r>
            <a:r>
              <a:rPr lang="en-US" altLang="zh-CN" i="1" baseline="-25000">
                <a:solidFill>
                  <a:srgbClr val="FF0000"/>
                </a:solidFill>
              </a:rPr>
              <a:t>p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i="1" baseline="-25000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rgbClr val="FF0000"/>
                </a:solidFill>
              </a:rPr>
              <a:t>cos</a:t>
            </a:r>
            <a:r>
              <a:rPr lang="en-US" altLang="zh-CN" i="1">
                <a:solidFill>
                  <a:srgbClr val="FF0000"/>
                </a:solidFill>
                <a:sym typeface="Symbol" panose="05050102010706020507" pitchFamily="18" charset="2"/>
              </a:rPr>
              <a:t> </a:t>
            </a:r>
            <a:endParaRPr lang="en-US" altLang="zh-CN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1403350" y="3441700"/>
          <a:ext cx="36909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7" name="Equation" r:id="rId3" imgW="1739880" imgH="266400" progId="Equation.3">
                  <p:embed/>
                </p:oleObj>
              </mc:Choice>
              <mc:Fallback>
                <p:oleObj name="Equation" r:id="rId3" imgW="1739880" imgH="266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441700"/>
                        <a:ext cx="36909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7" name="Object 17"/>
          <p:cNvGraphicFramePr>
            <a:graphicFrameLocks noChangeAspect="1"/>
          </p:cNvGraphicFramePr>
          <p:nvPr/>
        </p:nvGraphicFramePr>
        <p:xfrm>
          <a:off x="2152650" y="4194175"/>
          <a:ext cx="45720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8" name="Equation" r:id="rId5" imgW="2286000" imgH="419040" progId="Equation.3">
                  <p:embed/>
                </p:oleObj>
              </mc:Choice>
              <mc:Fallback>
                <p:oleObj name="Equation" r:id="rId5" imgW="2286000" imgH="4190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4194175"/>
                        <a:ext cx="45720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FFCC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18"/>
          <p:cNvGraphicFramePr>
            <a:graphicFrameLocks noChangeAspect="1"/>
          </p:cNvGraphicFramePr>
          <p:nvPr/>
        </p:nvGraphicFramePr>
        <p:xfrm>
          <a:off x="1447800" y="5041900"/>
          <a:ext cx="35829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9" name="公式" r:id="rId7" imgW="1790640" imgH="266400" progId="Equation.3">
                  <p:embed/>
                </p:oleObj>
              </mc:Choice>
              <mc:Fallback>
                <p:oleObj name="公式" r:id="rId7" imgW="1790640" imgH="2664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041900"/>
                        <a:ext cx="358298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9" name="Object 19"/>
          <p:cNvGraphicFramePr>
            <a:graphicFrameLocks noChangeAspect="1"/>
          </p:cNvGraphicFramePr>
          <p:nvPr/>
        </p:nvGraphicFramePr>
        <p:xfrm>
          <a:off x="2076450" y="5572125"/>
          <a:ext cx="477202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0" name="公式" r:id="rId9" imgW="2374560" imgH="431640" progId="Equation.3">
                  <p:embed/>
                </p:oleObj>
              </mc:Choice>
              <mc:Fallback>
                <p:oleObj name="公式" r:id="rId9" imgW="2374560" imgH="431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5572125"/>
                        <a:ext cx="477202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FFCC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1" name="Object 21"/>
          <p:cNvGraphicFramePr>
            <a:graphicFrameLocks noChangeAspect="1"/>
          </p:cNvGraphicFramePr>
          <p:nvPr/>
        </p:nvGraphicFramePr>
        <p:xfrm>
          <a:off x="1546225" y="1714500"/>
          <a:ext cx="24336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1" name="Equation" r:id="rId11" imgW="2095200" imgH="380880" progId="Equation.3">
                  <p:embed/>
                </p:oleObj>
              </mc:Choice>
              <mc:Fallback>
                <p:oleObj name="Equation" r:id="rId11" imgW="2095200" imgH="3808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1714500"/>
                        <a:ext cx="24336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4" name="Text Box 24"/>
          <p:cNvSpPr txBox="1">
            <a:spLocks noChangeArrowheads="1"/>
          </p:cNvSpPr>
          <p:nvPr/>
        </p:nvSpPr>
        <p:spPr bwMode="auto">
          <a:xfrm>
            <a:off x="1127125" y="2822575"/>
            <a:ext cx="48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9900"/>
                </a:solidFill>
              </a:rPr>
              <a:t>用线电压、线电流表示</a:t>
            </a:r>
            <a:r>
              <a:rPr lang="zh-CN" altLang="zh-CN">
                <a:solidFill>
                  <a:srgbClr val="009900"/>
                </a:solidFill>
              </a:rPr>
              <a:t>三相总功率</a:t>
            </a:r>
            <a:r>
              <a:rPr lang="zh-CN" altLang="zh-CN" i="1">
                <a:solidFill>
                  <a:srgbClr val="009900"/>
                </a:solidFill>
              </a:rPr>
              <a:t> </a:t>
            </a:r>
            <a:endParaRPr lang="zh-CN" altLang="en-US" i="1">
              <a:solidFill>
                <a:srgbClr val="00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utoUpdateAnimBg="0"/>
      <p:bldP spid="51212" grpId="0" autoUpdateAnimBg="0"/>
      <p:bldP spid="51214" grpId="0" autoUpdateAnimBg="0"/>
      <p:bldP spid="51224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469900" y="574675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</a:rPr>
              <a:t>注意：</a:t>
            </a: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203200" y="1054100"/>
            <a:ext cx="842486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 </a:t>
            </a:r>
            <a:r>
              <a:rPr lang="zh-CN" altLang="en-US" i="1">
                <a:sym typeface="Symbol" panose="05050102010706020507" pitchFamily="18" charset="2"/>
              </a:rPr>
              <a:t> </a:t>
            </a:r>
            <a:r>
              <a:rPr lang="zh-CN" altLang="en-US"/>
              <a:t>为相电压与相电流的相位差角（每相阻抗的阻抗角）。</a:t>
            </a: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252413" y="1770063"/>
            <a:ext cx="86741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 </a:t>
            </a:r>
            <a:r>
              <a:rPr lang="en-US" altLang="zh-CN"/>
              <a:t>cos</a:t>
            </a:r>
            <a:r>
              <a:rPr lang="en-US" altLang="zh-CN" i="1">
                <a:sym typeface="Symbol" panose="05050102010706020507" pitchFamily="18" charset="2"/>
              </a:rPr>
              <a:t></a:t>
            </a:r>
            <a:r>
              <a:rPr lang="zh-CN" altLang="en-US"/>
              <a:t>为每相的功率因数，在对称三相制中即三相功率因数</a:t>
            </a:r>
          </a:p>
          <a:p>
            <a:pPr>
              <a:lnSpc>
                <a:spcPct val="120000"/>
              </a:lnSpc>
            </a:pPr>
            <a:r>
              <a:rPr lang="zh-CN" altLang="en-US"/>
              <a:t>               </a:t>
            </a:r>
            <a:r>
              <a:rPr lang="en-US" altLang="zh-CN"/>
              <a:t>cos</a:t>
            </a:r>
            <a:r>
              <a:rPr lang="en-US" altLang="zh-CN" i="1">
                <a:sym typeface="Symbol" panose="05050102010706020507" pitchFamily="18" charset="2"/>
              </a:rPr>
              <a:t> </a:t>
            </a:r>
            <a:r>
              <a:rPr lang="en-US" altLang="zh-CN" baseline="-25000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= </a:t>
            </a:r>
            <a:r>
              <a:rPr lang="en-US" altLang="zh-CN"/>
              <a:t>cos</a:t>
            </a:r>
            <a:r>
              <a:rPr lang="en-US" altLang="zh-CN" i="1">
                <a:sym typeface="Symbol" panose="05050102010706020507" pitchFamily="18" charset="2"/>
              </a:rPr>
              <a:t> </a:t>
            </a:r>
            <a:r>
              <a:rPr lang="en-US" altLang="zh-CN" baseline="-25000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 = </a:t>
            </a:r>
            <a:r>
              <a:rPr lang="en-US" altLang="zh-CN"/>
              <a:t>cos</a:t>
            </a:r>
            <a:r>
              <a:rPr lang="en-US" altLang="zh-CN" i="1">
                <a:sym typeface="Symbol" panose="05050102010706020507" pitchFamily="18" charset="2"/>
              </a:rPr>
              <a:t> </a:t>
            </a:r>
            <a:r>
              <a:rPr lang="en-US" altLang="zh-CN" baseline="-25000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 = </a:t>
            </a:r>
            <a:r>
              <a:rPr lang="en-US" altLang="zh-CN"/>
              <a:t>cos</a:t>
            </a:r>
            <a:r>
              <a:rPr lang="en-US" altLang="zh-CN" i="1">
                <a:sym typeface="Symbol" panose="05050102010706020507" pitchFamily="18" charset="2"/>
              </a:rPr>
              <a:t> </a:t>
            </a:r>
            <a:r>
              <a:rPr lang="en-US" altLang="zh-CN" baseline="-25000">
                <a:sym typeface="Symbol" panose="05050102010706020507" pitchFamily="18" charset="2"/>
              </a:rPr>
              <a:t> 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476250" y="4103688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2. </a:t>
            </a:r>
            <a:r>
              <a:rPr lang="zh-CN" altLang="en-US"/>
              <a:t>无功功率</a:t>
            </a: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2520950" y="4560888"/>
            <a:ext cx="2824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</a:rPr>
              <a:t>Q=Q</a:t>
            </a:r>
            <a:r>
              <a:rPr lang="en-US" altLang="zh-CN" baseline="-25000">
                <a:solidFill>
                  <a:schemeClr val="tx1"/>
                </a:solidFill>
              </a:rPr>
              <a:t>A</a:t>
            </a:r>
            <a:r>
              <a:rPr lang="en-US" altLang="zh-CN" i="1">
                <a:solidFill>
                  <a:schemeClr val="tx1"/>
                </a:solidFill>
              </a:rPr>
              <a:t>+Q</a:t>
            </a:r>
            <a:r>
              <a:rPr lang="en-US" altLang="zh-CN" baseline="-25000">
                <a:solidFill>
                  <a:schemeClr val="tx1"/>
                </a:solidFill>
              </a:rPr>
              <a:t>B</a:t>
            </a:r>
            <a:r>
              <a:rPr lang="en-US" altLang="zh-CN" i="1">
                <a:solidFill>
                  <a:schemeClr val="tx1"/>
                </a:solidFill>
              </a:rPr>
              <a:t>+Q</a:t>
            </a:r>
            <a:r>
              <a:rPr lang="en-US" altLang="zh-CN" baseline="-25000">
                <a:solidFill>
                  <a:schemeClr val="tx1"/>
                </a:solidFill>
              </a:rPr>
              <a:t>C</a:t>
            </a:r>
            <a:r>
              <a:rPr lang="en-US" altLang="zh-CN">
                <a:solidFill>
                  <a:schemeClr val="tx1"/>
                </a:solidFill>
              </a:rPr>
              <a:t>= 3</a:t>
            </a:r>
            <a:r>
              <a:rPr lang="en-US" altLang="zh-CN" i="1">
                <a:solidFill>
                  <a:schemeClr val="tx1"/>
                </a:solidFill>
              </a:rPr>
              <a:t>Q</a:t>
            </a:r>
            <a:r>
              <a:rPr lang="en-US" altLang="zh-CN" i="1" baseline="-25000">
                <a:solidFill>
                  <a:schemeClr val="tx1"/>
                </a:solidFill>
              </a:rPr>
              <a:t>p</a:t>
            </a:r>
            <a:endParaRPr lang="en-US" altLang="zh-CN" baseline="-25000">
              <a:solidFill>
                <a:schemeClr val="tx1"/>
              </a:solidFill>
            </a:endParaRPr>
          </a:p>
        </p:txBody>
      </p:sp>
      <p:graphicFrame>
        <p:nvGraphicFramePr>
          <p:cNvPr id="52237" name="Object 13"/>
          <p:cNvGraphicFramePr>
            <a:graphicFrameLocks noChangeAspect="1"/>
          </p:cNvGraphicFramePr>
          <p:nvPr/>
        </p:nvGraphicFramePr>
        <p:xfrm>
          <a:off x="2520950" y="3187700"/>
          <a:ext cx="3379788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0" name="公式" r:id="rId3" imgW="1688760" imgH="457200" progId="Equation.3">
                  <p:embed/>
                </p:oleObj>
              </mc:Choice>
              <mc:Fallback>
                <p:oleObj name="公式" r:id="rId3" imgW="1688760" imgH="457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3187700"/>
                        <a:ext cx="3379788" cy="915988"/>
                      </a:xfrm>
                      <a:prstGeom prst="rect">
                        <a:avLst/>
                      </a:prstGeom>
                      <a:solidFill>
                        <a:srgbClr val="00FFCC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00FFCC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Object 17"/>
          <p:cNvGraphicFramePr>
            <a:graphicFrameLocks noChangeAspect="1"/>
          </p:cNvGraphicFramePr>
          <p:nvPr/>
        </p:nvGraphicFramePr>
        <p:xfrm>
          <a:off x="2184400" y="5265738"/>
          <a:ext cx="43449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1" name="公式" r:id="rId5" imgW="2006280" imgH="266400" progId="Equation.3">
                  <p:embed/>
                </p:oleObj>
              </mc:Choice>
              <mc:Fallback>
                <p:oleObj name="公式" r:id="rId5" imgW="2006280" imgH="2664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5265738"/>
                        <a:ext cx="4344988" cy="574675"/>
                      </a:xfrm>
                      <a:prstGeom prst="rect">
                        <a:avLst/>
                      </a:prstGeom>
                      <a:solidFill>
                        <a:srgbClr val="00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FF99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autoUpdateAnimBg="0"/>
      <p:bldP spid="52228" grpId="0" build="p" autoUpdateAnimBg="0"/>
      <p:bldP spid="52232" grpId="0" build="p" autoUpdateAnimBg="0"/>
      <p:bldP spid="52233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361950" y="457200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3. </a:t>
            </a:r>
            <a:r>
              <a:rPr lang="zh-CN" altLang="en-US"/>
              <a:t>视在功率</a:t>
            </a: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438150" y="2589213"/>
            <a:ext cx="171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4. </a:t>
            </a:r>
            <a:r>
              <a:rPr lang="zh-CN" altLang="en-US"/>
              <a:t>瞬时功率</a:t>
            </a:r>
          </a:p>
        </p:txBody>
      </p:sp>
      <p:graphicFrame>
        <p:nvGraphicFramePr>
          <p:cNvPr id="53263" name="Object 15"/>
          <p:cNvGraphicFramePr>
            <a:graphicFrameLocks noChangeAspect="1"/>
          </p:cNvGraphicFramePr>
          <p:nvPr/>
        </p:nvGraphicFramePr>
        <p:xfrm>
          <a:off x="1733550" y="857250"/>
          <a:ext cx="44656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96" name="公式" r:id="rId3" imgW="2222280" imgH="291960" progId="Equation.3">
                  <p:embed/>
                </p:oleObj>
              </mc:Choice>
              <mc:Fallback>
                <p:oleObj name="公式" r:id="rId3" imgW="2222280" imgH="2919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857250"/>
                        <a:ext cx="4465638" cy="58420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CCEC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4" name="Rectangle 16"/>
          <p:cNvSpPr>
            <a:spLocks noChangeArrowheads="1"/>
          </p:cNvSpPr>
          <p:nvPr/>
        </p:nvSpPr>
        <p:spPr bwMode="auto">
          <a:xfrm>
            <a:off x="781050" y="1487488"/>
            <a:ext cx="6310313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</a:rPr>
              <a:t>功率因数也可定义为</a:t>
            </a: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</a:rPr>
              <a:t>                 </a:t>
            </a:r>
            <a:r>
              <a:rPr lang="en-US" altLang="zh-CN"/>
              <a:t>cos</a:t>
            </a:r>
            <a:r>
              <a:rPr lang="en-US" altLang="zh-CN" i="1">
                <a:sym typeface="Symbol" panose="05050102010706020507" pitchFamily="18" charset="2"/>
              </a:rPr>
              <a:t>  </a:t>
            </a:r>
            <a:r>
              <a:rPr lang="en-US" altLang="zh-CN">
                <a:sym typeface="Symbol" panose="05050102010706020507" pitchFamily="18" charset="2"/>
              </a:rPr>
              <a:t>=</a:t>
            </a:r>
            <a:r>
              <a:rPr lang="en-US" altLang="zh-CN" i="1">
                <a:sym typeface="Symbol" panose="05050102010706020507" pitchFamily="18" charset="2"/>
              </a:rPr>
              <a:t>P</a:t>
            </a:r>
            <a:r>
              <a:rPr lang="en-US" altLang="zh-CN">
                <a:sym typeface="Symbol" panose="05050102010706020507" pitchFamily="18" charset="2"/>
              </a:rPr>
              <a:t>/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      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（</a:t>
            </a:r>
            <a:r>
              <a:rPr lang="zh-CN" altLang="zh-CN">
                <a:solidFill>
                  <a:schemeClr val="tx1"/>
                </a:solidFill>
                <a:sym typeface="Symbol" panose="05050102010706020507" pitchFamily="18" charset="2"/>
              </a:rPr>
              <a:t>不对称时</a:t>
            </a:r>
            <a:r>
              <a:rPr lang="zh-CN" altLang="en-US" i="1">
                <a:solidFill>
                  <a:schemeClr val="tx1"/>
                </a:solidFill>
                <a:sym typeface="Symbol" panose="05050102010706020507" pitchFamily="18" charset="2"/>
              </a:rPr>
              <a:t> 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无意义）</a:t>
            </a:r>
          </a:p>
        </p:txBody>
      </p:sp>
      <p:graphicFrame>
        <p:nvGraphicFramePr>
          <p:cNvPr id="53267" name="Object 19"/>
          <p:cNvGraphicFramePr>
            <a:graphicFrameLocks noChangeAspect="1"/>
          </p:cNvGraphicFramePr>
          <p:nvPr/>
        </p:nvGraphicFramePr>
        <p:xfrm>
          <a:off x="2387600" y="4927600"/>
          <a:ext cx="581501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97" name="Equation" r:id="rId5" imgW="2997000" imgH="482400" progId="Equation.3">
                  <p:embed/>
                </p:oleObj>
              </mc:Choice>
              <mc:Fallback>
                <p:oleObj name="Equation" r:id="rId5" imgW="2997000" imgH="4824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4927600"/>
                        <a:ext cx="5815013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0" name="Object 22"/>
          <p:cNvGraphicFramePr>
            <a:graphicFrameLocks noChangeAspect="1"/>
          </p:cNvGraphicFramePr>
          <p:nvPr/>
        </p:nvGraphicFramePr>
        <p:xfrm>
          <a:off x="1785938" y="3008313"/>
          <a:ext cx="322421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98" name="Equation" r:id="rId7" imgW="1638000" imgH="507960" progId="Equation.3">
                  <p:embed/>
                </p:oleObj>
              </mc:Choice>
              <mc:Fallback>
                <p:oleObj name="Equation" r:id="rId7" imgW="1638000" imgH="50796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3008313"/>
                        <a:ext cx="3224212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225143"/>
              </p:ext>
            </p:extLst>
          </p:nvPr>
        </p:nvGraphicFramePr>
        <p:xfrm>
          <a:off x="1831975" y="4067175"/>
          <a:ext cx="440055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99" name="Equation" r:id="rId9" imgW="2450880" imgH="457200" progId="Equation.DSMT4">
                  <p:embed/>
                </p:oleObj>
              </mc:Choice>
              <mc:Fallback>
                <p:oleObj name="Equation" r:id="rId9" imgW="2450880" imgH="4572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5" y="4067175"/>
                        <a:ext cx="440055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 autoUpdateAnimBg="0"/>
      <p:bldP spid="53264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1046163" y="4457700"/>
            <a:ext cx="294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单相：瞬时功率脉动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4816475" y="4532313"/>
            <a:ext cx="294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三相：瞬时功率平稳</a:t>
            </a:r>
          </a:p>
        </p:txBody>
      </p:sp>
      <p:graphicFrame>
        <p:nvGraphicFramePr>
          <p:cNvPr id="54302" name="Object 30"/>
          <p:cNvGraphicFramePr>
            <a:graphicFrameLocks noChangeAspect="1"/>
          </p:cNvGraphicFramePr>
          <p:nvPr/>
        </p:nvGraphicFramePr>
        <p:xfrm>
          <a:off x="1117600" y="742950"/>
          <a:ext cx="3833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1" name="公式" r:id="rId3" imgW="1917360" imgH="228600" progId="Equation.3">
                  <p:embed/>
                </p:oleObj>
              </mc:Choice>
              <mc:Fallback>
                <p:oleObj name="公式" r:id="rId3" imgW="191736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742950"/>
                        <a:ext cx="38338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312" name="Group 40"/>
          <p:cNvGrpSpPr>
            <a:grpSpLocks/>
          </p:cNvGrpSpPr>
          <p:nvPr/>
        </p:nvGrpSpPr>
        <p:grpSpPr bwMode="auto">
          <a:xfrm>
            <a:off x="5681663" y="2278063"/>
            <a:ext cx="2681287" cy="2057400"/>
            <a:chOff x="3819" y="1735"/>
            <a:chExt cx="1689" cy="1296"/>
          </a:xfrm>
        </p:grpSpPr>
        <p:sp>
          <p:nvSpPr>
            <p:cNvPr id="54284" name="Text Box 12"/>
            <p:cNvSpPr txBox="1">
              <a:spLocks noChangeArrowheads="1"/>
            </p:cNvSpPr>
            <p:nvPr/>
          </p:nvSpPr>
          <p:spPr bwMode="auto">
            <a:xfrm>
              <a:off x="5207" y="2659"/>
              <a:ext cx="3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latin typeface="Symbol" panose="05050102010706020507" pitchFamily="18" charset="2"/>
                </a:rPr>
                <a:t>w</a:t>
              </a:r>
              <a:r>
                <a:rPr lang="en-US" altLang="zh-CN" i="1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54279" name="Line 7"/>
            <p:cNvSpPr>
              <a:spLocks noChangeShapeType="1"/>
            </p:cNvSpPr>
            <p:nvPr/>
          </p:nvSpPr>
          <p:spPr bwMode="auto">
            <a:xfrm flipV="1">
              <a:off x="4059" y="1879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0" name="Line 8"/>
            <p:cNvSpPr>
              <a:spLocks noChangeShapeType="1"/>
            </p:cNvSpPr>
            <p:nvPr/>
          </p:nvSpPr>
          <p:spPr bwMode="auto">
            <a:xfrm>
              <a:off x="4059" y="2743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1" name="Line 9"/>
            <p:cNvSpPr>
              <a:spLocks noChangeShapeType="1"/>
            </p:cNvSpPr>
            <p:nvPr/>
          </p:nvSpPr>
          <p:spPr bwMode="auto">
            <a:xfrm>
              <a:off x="4059" y="2167"/>
              <a:ext cx="115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2" name="Line 10"/>
            <p:cNvSpPr>
              <a:spLocks noChangeShapeType="1"/>
            </p:cNvSpPr>
            <p:nvPr/>
          </p:nvSpPr>
          <p:spPr bwMode="auto">
            <a:xfrm>
              <a:off x="4347" y="2167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sm" len="med"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5" name="Text Box 13"/>
            <p:cNvSpPr txBox="1">
              <a:spLocks noChangeArrowheads="1"/>
            </p:cNvSpPr>
            <p:nvPr/>
          </p:nvSpPr>
          <p:spPr bwMode="auto">
            <a:xfrm>
              <a:off x="3819" y="173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54306" name="Text Box 34"/>
            <p:cNvSpPr txBox="1">
              <a:spLocks noChangeArrowheads="1"/>
            </p:cNvSpPr>
            <p:nvPr/>
          </p:nvSpPr>
          <p:spPr bwMode="auto">
            <a:xfrm>
              <a:off x="3916" y="2743"/>
              <a:ext cx="2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4307" name="Rectangle 35"/>
            <p:cNvSpPr>
              <a:spLocks noChangeArrowheads="1"/>
            </p:cNvSpPr>
            <p:nvPr/>
          </p:nvSpPr>
          <p:spPr bwMode="auto">
            <a:xfrm>
              <a:off x="4345" y="2291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3</a:t>
              </a:r>
              <a:r>
                <a:rPr lang="en-US" altLang="zh-CN" i="1">
                  <a:solidFill>
                    <a:schemeClr val="tx1"/>
                  </a:solidFill>
                </a:rPr>
                <a:t>UI</a:t>
              </a:r>
              <a:r>
                <a:rPr lang="en-US" altLang="zh-CN">
                  <a:solidFill>
                    <a:schemeClr val="tx1"/>
                  </a:solidFill>
                </a:rPr>
                <a:t>cos</a:t>
              </a:r>
              <a:r>
                <a:rPr lang="en-US" altLang="zh-CN" i="1">
                  <a:solidFill>
                    <a:schemeClr val="tx1"/>
                  </a:solidFill>
                  <a:sym typeface="Symbol" panose="05050102010706020507" pitchFamily="18" charset="2"/>
                </a:rPr>
                <a:t></a:t>
              </a:r>
            </a:p>
          </p:txBody>
        </p:sp>
      </p:grpSp>
      <p:grpSp>
        <p:nvGrpSpPr>
          <p:cNvPr id="54309" name="Group 37"/>
          <p:cNvGrpSpPr>
            <a:grpSpLocks/>
          </p:cNvGrpSpPr>
          <p:nvPr/>
        </p:nvGrpSpPr>
        <p:grpSpPr bwMode="auto">
          <a:xfrm>
            <a:off x="533400" y="2152650"/>
            <a:ext cx="4784725" cy="2190750"/>
            <a:chOff x="576" y="1596"/>
            <a:chExt cx="3014" cy="1380"/>
          </a:xfrm>
        </p:grpSpPr>
        <p:sp>
          <p:nvSpPr>
            <p:cNvPr id="54289" name="Line 17"/>
            <p:cNvSpPr>
              <a:spLocks noChangeShapeType="1"/>
            </p:cNvSpPr>
            <p:nvPr/>
          </p:nvSpPr>
          <p:spPr bwMode="auto">
            <a:xfrm flipV="1">
              <a:off x="834" y="1692"/>
              <a:ext cx="0" cy="12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0" name="Line 18"/>
            <p:cNvSpPr>
              <a:spLocks noChangeShapeType="1"/>
            </p:cNvSpPr>
            <p:nvPr/>
          </p:nvSpPr>
          <p:spPr bwMode="auto">
            <a:xfrm>
              <a:off x="831" y="2676"/>
              <a:ext cx="26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1" name="Line 19"/>
            <p:cNvSpPr>
              <a:spLocks noChangeShapeType="1"/>
            </p:cNvSpPr>
            <p:nvPr/>
          </p:nvSpPr>
          <p:spPr bwMode="auto">
            <a:xfrm>
              <a:off x="831" y="2328"/>
              <a:ext cx="256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2" name="Text Box 20"/>
            <p:cNvSpPr txBox="1">
              <a:spLocks noChangeArrowheads="1"/>
            </p:cNvSpPr>
            <p:nvPr/>
          </p:nvSpPr>
          <p:spPr bwMode="auto">
            <a:xfrm>
              <a:off x="624" y="15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p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54293" name="Text Box 21"/>
            <p:cNvSpPr txBox="1">
              <a:spLocks noChangeArrowheads="1"/>
            </p:cNvSpPr>
            <p:nvPr/>
          </p:nvSpPr>
          <p:spPr bwMode="auto">
            <a:xfrm>
              <a:off x="3241" y="2640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  <a:latin typeface="Symbol" panose="05050102010706020507" pitchFamily="18" charset="2"/>
                </a:rPr>
                <a:t>w </a:t>
              </a:r>
              <a:r>
                <a:rPr lang="en-US" altLang="zh-CN" i="1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54303" name="Freeform 31"/>
            <p:cNvSpPr>
              <a:spLocks/>
            </p:cNvSpPr>
            <p:nvPr/>
          </p:nvSpPr>
          <p:spPr bwMode="auto">
            <a:xfrm>
              <a:off x="840" y="1919"/>
              <a:ext cx="2079" cy="874"/>
            </a:xfrm>
            <a:custGeom>
              <a:avLst/>
              <a:gdLst>
                <a:gd name="T0" fmla="*/ 0 w 2079"/>
                <a:gd name="T1" fmla="*/ 763 h 874"/>
                <a:gd name="T2" fmla="*/ 54 w 2079"/>
                <a:gd name="T3" fmla="*/ 814 h 874"/>
                <a:gd name="T4" fmla="*/ 132 w 2079"/>
                <a:gd name="T5" fmla="*/ 718 h 874"/>
                <a:gd name="T6" fmla="*/ 285 w 2079"/>
                <a:gd name="T7" fmla="*/ 172 h 874"/>
                <a:gd name="T8" fmla="*/ 393 w 2079"/>
                <a:gd name="T9" fmla="*/ 10 h 874"/>
                <a:gd name="T10" fmla="*/ 498 w 2079"/>
                <a:gd name="T11" fmla="*/ 235 h 874"/>
                <a:gd name="T12" fmla="*/ 603 w 2079"/>
                <a:gd name="T13" fmla="*/ 628 h 874"/>
                <a:gd name="T14" fmla="*/ 705 w 2079"/>
                <a:gd name="T15" fmla="*/ 820 h 874"/>
                <a:gd name="T16" fmla="*/ 795 w 2079"/>
                <a:gd name="T17" fmla="*/ 685 h 874"/>
                <a:gd name="T18" fmla="*/ 936 w 2079"/>
                <a:gd name="T19" fmla="*/ 181 h 874"/>
                <a:gd name="T20" fmla="*/ 1023 w 2079"/>
                <a:gd name="T21" fmla="*/ 13 h 874"/>
                <a:gd name="T22" fmla="*/ 1116 w 2079"/>
                <a:gd name="T23" fmla="*/ 115 h 874"/>
                <a:gd name="T24" fmla="*/ 1227 w 2079"/>
                <a:gd name="T25" fmla="*/ 511 h 874"/>
                <a:gd name="T26" fmla="*/ 1320 w 2079"/>
                <a:gd name="T27" fmla="*/ 784 h 874"/>
                <a:gd name="T28" fmla="*/ 1431 w 2079"/>
                <a:gd name="T29" fmla="*/ 748 h 874"/>
                <a:gd name="T30" fmla="*/ 1602 w 2079"/>
                <a:gd name="T31" fmla="*/ 157 h 874"/>
                <a:gd name="T32" fmla="*/ 1692 w 2079"/>
                <a:gd name="T33" fmla="*/ 10 h 874"/>
                <a:gd name="T34" fmla="*/ 1782 w 2079"/>
                <a:gd name="T35" fmla="*/ 154 h 874"/>
                <a:gd name="T36" fmla="*/ 1968 w 2079"/>
                <a:gd name="T37" fmla="*/ 772 h 874"/>
                <a:gd name="T38" fmla="*/ 2079 w 2079"/>
                <a:gd name="T39" fmla="*/ 766 h 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79" h="874">
                  <a:moveTo>
                    <a:pt x="0" y="763"/>
                  </a:moveTo>
                  <a:cubicBezTo>
                    <a:pt x="9" y="771"/>
                    <a:pt x="32" y="821"/>
                    <a:pt x="54" y="814"/>
                  </a:cubicBezTo>
                  <a:cubicBezTo>
                    <a:pt x="76" y="807"/>
                    <a:pt x="94" y="825"/>
                    <a:pt x="132" y="718"/>
                  </a:cubicBezTo>
                  <a:cubicBezTo>
                    <a:pt x="170" y="611"/>
                    <a:pt x="242" y="290"/>
                    <a:pt x="285" y="172"/>
                  </a:cubicBezTo>
                  <a:cubicBezTo>
                    <a:pt x="328" y="54"/>
                    <a:pt x="358" y="0"/>
                    <a:pt x="393" y="10"/>
                  </a:cubicBezTo>
                  <a:cubicBezTo>
                    <a:pt x="428" y="20"/>
                    <a:pt x="463" y="132"/>
                    <a:pt x="498" y="235"/>
                  </a:cubicBezTo>
                  <a:cubicBezTo>
                    <a:pt x="533" y="338"/>
                    <a:pt x="568" y="531"/>
                    <a:pt x="603" y="628"/>
                  </a:cubicBezTo>
                  <a:cubicBezTo>
                    <a:pt x="638" y="725"/>
                    <a:pt x="673" y="811"/>
                    <a:pt x="705" y="820"/>
                  </a:cubicBezTo>
                  <a:cubicBezTo>
                    <a:pt x="737" y="829"/>
                    <a:pt x="756" y="791"/>
                    <a:pt x="795" y="685"/>
                  </a:cubicBezTo>
                  <a:cubicBezTo>
                    <a:pt x="834" y="579"/>
                    <a:pt x="898" y="293"/>
                    <a:pt x="936" y="181"/>
                  </a:cubicBezTo>
                  <a:cubicBezTo>
                    <a:pt x="974" y="69"/>
                    <a:pt x="993" y="24"/>
                    <a:pt x="1023" y="13"/>
                  </a:cubicBezTo>
                  <a:cubicBezTo>
                    <a:pt x="1053" y="2"/>
                    <a:pt x="1082" y="32"/>
                    <a:pt x="1116" y="115"/>
                  </a:cubicBezTo>
                  <a:cubicBezTo>
                    <a:pt x="1150" y="198"/>
                    <a:pt x="1193" y="399"/>
                    <a:pt x="1227" y="511"/>
                  </a:cubicBezTo>
                  <a:cubicBezTo>
                    <a:pt x="1261" y="623"/>
                    <a:pt x="1286" y="745"/>
                    <a:pt x="1320" y="784"/>
                  </a:cubicBezTo>
                  <a:cubicBezTo>
                    <a:pt x="1354" y="823"/>
                    <a:pt x="1384" y="852"/>
                    <a:pt x="1431" y="748"/>
                  </a:cubicBezTo>
                  <a:cubicBezTo>
                    <a:pt x="1478" y="644"/>
                    <a:pt x="1559" y="280"/>
                    <a:pt x="1602" y="157"/>
                  </a:cubicBezTo>
                  <a:cubicBezTo>
                    <a:pt x="1645" y="34"/>
                    <a:pt x="1662" y="11"/>
                    <a:pt x="1692" y="10"/>
                  </a:cubicBezTo>
                  <a:cubicBezTo>
                    <a:pt x="1722" y="9"/>
                    <a:pt x="1736" y="27"/>
                    <a:pt x="1782" y="154"/>
                  </a:cubicBezTo>
                  <a:cubicBezTo>
                    <a:pt x="1828" y="281"/>
                    <a:pt x="1918" y="670"/>
                    <a:pt x="1968" y="772"/>
                  </a:cubicBezTo>
                  <a:cubicBezTo>
                    <a:pt x="2018" y="874"/>
                    <a:pt x="2056" y="767"/>
                    <a:pt x="2079" y="766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304" name="Text Box 32"/>
            <p:cNvSpPr txBox="1">
              <a:spLocks noChangeArrowheads="1"/>
            </p:cNvSpPr>
            <p:nvPr/>
          </p:nvSpPr>
          <p:spPr bwMode="auto">
            <a:xfrm>
              <a:off x="576" y="2580"/>
              <a:ext cx="3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4308" name="Rectangle 36"/>
            <p:cNvSpPr>
              <a:spLocks noChangeArrowheads="1"/>
            </p:cNvSpPr>
            <p:nvPr/>
          </p:nvSpPr>
          <p:spPr bwMode="auto">
            <a:xfrm>
              <a:off x="2743" y="2051"/>
              <a:ext cx="7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UI</a:t>
              </a:r>
              <a:r>
                <a:rPr lang="en-US" altLang="zh-CN">
                  <a:solidFill>
                    <a:schemeClr val="tx1"/>
                  </a:solidFill>
                </a:rPr>
                <a:t>cos</a:t>
              </a:r>
              <a:r>
                <a:rPr lang="en-US" altLang="zh-CN" i="1">
                  <a:solidFill>
                    <a:schemeClr val="tx1"/>
                  </a:solidFill>
                  <a:sym typeface="Symbol" panose="05050102010706020507" pitchFamily="18" charset="2"/>
                </a:rPr>
                <a:t></a:t>
              </a:r>
            </a:p>
          </p:txBody>
        </p:sp>
      </p:grpSp>
      <p:sp>
        <p:nvSpPr>
          <p:cNvPr id="54315" name="Rectangle 43"/>
          <p:cNvSpPr>
            <a:spLocks noChangeArrowheads="1"/>
          </p:cNvSpPr>
          <p:nvPr/>
        </p:nvSpPr>
        <p:spPr bwMode="auto">
          <a:xfrm>
            <a:off x="1257300" y="1371600"/>
            <a:ext cx="447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对称三相电路的瞬时功率为常数</a:t>
            </a:r>
          </a:p>
        </p:txBody>
      </p:sp>
      <p:sp>
        <p:nvSpPr>
          <p:cNvPr id="24" name="Rectangle 26"/>
          <p:cNvSpPr>
            <a:spLocks noChangeArrowheads="1"/>
          </p:cNvSpPr>
          <p:nvPr/>
        </p:nvSpPr>
        <p:spPr bwMode="auto">
          <a:xfrm>
            <a:off x="833437" y="5257799"/>
            <a:ext cx="756126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/>
              <a:t>电动机转矩</a:t>
            </a:r>
            <a:r>
              <a:rPr kumimoji="1" lang="en-US" altLang="zh-CN" sz="2800" dirty="0">
                <a:ea typeface="仿宋_GB2312"/>
                <a:cs typeface="仿宋_GB2312"/>
              </a:rPr>
              <a:t>:   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仿宋_GB2312"/>
                <a:cs typeface="仿宋_GB2312"/>
              </a:rPr>
              <a:t>m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 </a:t>
            </a:r>
            <a:r>
              <a:rPr kumimoji="1" lang="en-US" altLang="zh-CN" sz="2800" b="0" i="1" dirty="0">
                <a:latin typeface="Times New Roman" panose="02020603050405020304" pitchFamily="18" charset="0"/>
                <a:ea typeface="仿宋_GB2312"/>
                <a:cs typeface="仿宋_GB2312"/>
              </a:rPr>
              <a:t>p</a:t>
            </a:r>
            <a:endParaRPr kumimoji="1" lang="en-US" altLang="zh-CN" sz="2800" b="0" dirty="0">
              <a:latin typeface="Times New Roman" panose="02020603050405020304" pitchFamily="18" charset="0"/>
              <a:ea typeface="仿宋_GB2312"/>
              <a:cs typeface="仿宋_GB2312"/>
            </a:endParaRPr>
          </a:p>
          <a:p>
            <a:r>
              <a:rPr kumimoji="1" lang="zh-CN" altLang="en-US" sz="2800" dirty="0"/>
              <a:t>可以得到均衡的机械力矩。避免了机械振动。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4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 autoUpdateAnimBg="0"/>
      <p:bldP spid="54278" grpId="0" autoUpdateAnimBg="0"/>
      <p:bldP spid="54315" grpId="0" autoUpdateAnimBg="0"/>
      <p:bldP spid="2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111" name="Group 111"/>
          <p:cNvGrpSpPr>
            <a:grpSpLocks/>
          </p:cNvGrpSpPr>
          <p:nvPr/>
        </p:nvGrpSpPr>
        <p:grpSpPr bwMode="auto">
          <a:xfrm>
            <a:off x="5573713" y="1757363"/>
            <a:ext cx="3008312" cy="2408237"/>
            <a:chOff x="562" y="887"/>
            <a:chExt cx="1895" cy="1517"/>
          </a:xfrm>
        </p:grpSpPr>
        <p:sp>
          <p:nvSpPr>
            <p:cNvPr id="128034" name="Line 34"/>
            <p:cNvSpPr>
              <a:spLocks noChangeShapeType="1"/>
            </p:cNvSpPr>
            <p:nvPr/>
          </p:nvSpPr>
          <p:spPr bwMode="auto">
            <a:xfrm flipV="1">
              <a:off x="866" y="1201"/>
              <a:ext cx="10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5" name="Line 35"/>
            <p:cNvSpPr>
              <a:spLocks noChangeShapeType="1"/>
            </p:cNvSpPr>
            <p:nvPr/>
          </p:nvSpPr>
          <p:spPr bwMode="auto">
            <a:xfrm flipV="1">
              <a:off x="856" y="1926"/>
              <a:ext cx="5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6" name="Freeform 36"/>
            <p:cNvSpPr>
              <a:spLocks/>
            </p:cNvSpPr>
            <p:nvPr/>
          </p:nvSpPr>
          <p:spPr bwMode="auto">
            <a:xfrm flipH="1">
              <a:off x="856" y="1908"/>
              <a:ext cx="1588" cy="376"/>
            </a:xfrm>
            <a:custGeom>
              <a:avLst/>
              <a:gdLst>
                <a:gd name="T0" fmla="*/ 0 w 2184"/>
                <a:gd name="T1" fmla="*/ 0 h 426"/>
                <a:gd name="T2" fmla="*/ 0 w 2184"/>
                <a:gd name="T3" fmla="*/ 426 h 426"/>
                <a:gd name="T4" fmla="*/ 2184 w 2184"/>
                <a:gd name="T5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4" h="426">
                  <a:moveTo>
                    <a:pt x="0" y="0"/>
                  </a:moveTo>
                  <a:lnTo>
                    <a:pt x="0" y="426"/>
                  </a:lnTo>
                  <a:lnTo>
                    <a:pt x="2184" y="42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7" name="Oval 37"/>
            <p:cNvSpPr>
              <a:spLocks noChangeArrowheads="1"/>
            </p:cNvSpPr>
            <p:nvPr/>
          </p:nvSpPr>
          <p:spPr bwMode="auto">
            <a:xfrm>
              <a:off x="820" y="1177"/>
              <a:ext cx="45" cy="4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38" name="Text Box 38"/>
            <p:cNvSpPr txBox="1">
              <a:spLocks noChangeArrowheads="1"/>
            </p:cNvSpPr>
            <p:nvPr/>
          </p:nvSpPr>
          <p:spPr bwMode="auto">
            <a:xfrm>
              <a:off x="594" y="1044"/>
              <a:ext cx="2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28039" name="Text Box 39"/>
            <p:cNvSpPr txBox="1">
              <a:spLocks noChangeArrowheads="1"/>
            </p:cNvSpPr>
            <p:nvPr/>
          </p:nvSpPr>
          <p:spPr bwMode="auto">
            <a:xfrm>
              <a:off x="576" y="1777"/>
              <a:ext cx="2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28040" name="Text Box 40"/>
            <p:cNvSpPr txBox="1">
              <a:spLocks noChangeArrowheads="1"/>
            </p:cNvSpPr>
            <p:nvPr/>
          </p:nvSpPr>
          <p:spPr bwMode="auto">
            <a:xfrm>
              <a:off x="562" y="2116"/>
              <a:ext cx="2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28041" name="Line 41"/>
            <p:cNvSpPr>
              <a:spLocks noChangeShapeType="1"/>
            </p:cNvSpPr>
            <p:nvPr/>
          </p:nvSpPr>
          <p:spPr bwMode="auto">
            <a:xfrm rot="-5400000">
              <a:off x="1066" y="994"/>
              <a:ext cx="0" cy="31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8042" name="Object 42"/>
            <p:cNvGraphicFramePr>
              <a:graphicFrameLocks noChangeAspect="1"/>
            </p:cNvGraphicFramePr>
            <p:nvPr/>
          </p:nvGraphicFramePr>
          <p:xfrm>
            <a:off x="908" y="887"/>
            <a:ext cx="34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205" name="Equation" r:id="rId3" imgW="241200" imgH="241200" progId="Equation.3">
                    <p:embed/>
                  </p:oleObj>
                </mc:Choice>
                <mc:Fallback>
                  <p:oleObj name="Equation" r:id="rId3" imgW="241200" imgH="2412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8" y="887"/>
                          <a:ext cx="346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043" name="Rectangle 43"/>
            <p:cNvSpPr>
              <a:spLocks noChangeArrowheads="1"/>
            </p:cNvSpPr>
            <p:nvPr/>
          </p:nvSpPr>
          <p:spPr bwMode="auto">
            <a:xfrm>
              <a:off x="1898" y="1324"/>
              <a:ext cx="91" cy="225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4" name="Line 44"/>
            <p:cNvSpPr>
              <a:spLocks noChangeShapeType="1"/>
            </p:cNvSpPr>
            <p:nvPr/>
          </p:nvSpPr>
          <p:spPr bwMode="auto">
            <a:xfrm flipH="1">
              <a:off x="1948" y="1203"/>
              <a:ext cx="2" cy="1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5" name="Line 45"/>
            <p:cNvSpPr>
              <a:spLocks noChangeShapeType="1"/>
            </p:cNvSpPr>
            <p:nvPr/>
          </p:nvSpPr>
          <p:spPr bwMode="auto">
            <a:xfrm>
              <a:off x="1948" y="1543"/>
              <a:ext cx="0" cy="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6" name="Rectangle 46"/>
            <p:cNvSpPr>
              <a:spLocks noChangeArrowheads="1"/>
            </p:cNvSpPr>
            <p:nvPr/>
          </p:nvSpPr>
          <p:spPr bwMode="auto">
            <a:xfrm rot="7200000">
              <a:off x="2139" y="1672"/>
              <a:ext cx="85" cy="24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7" name="Line 47"/>
            <p:cNvSpPr>
              <a:spLocks noChangeShapeType="1"/>
            </p:cNvSpPr>
            <p:nvPr/>
          </p:nvSpPr>
          <p:spPr bwMode="auto">
            <a:xfrm rot="7200000">
              <a:off x="2369" y="1791"/>
              <a:ext cx="0" cy="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8" name="Line 48"/>
            <p:cNvSpPr>
              <a:spLocks noChangeShapeType="1"/>
            </p:cNvSpPr>
            <p:nvPr/>
          </p:nvSpPr>
          <p:spPr bwMode="auto">
            <a:xfrm rot="7200000">
              <a:off x="2012" y="1611"/>
              <a:ext cx="0" cy="1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49" name="Rectangle 49"/>
            <p:cNvSpPr>
              <a:spLocks noChangeArrowheads="1"/>
            </p:cNvSpPr>
            <p:nvPr/>
          </p:nvSpPr>
          <p:spPr bwMode="auto">
            <a:xfrm rot="14400000">
              <a:off x="1662" y="1663"/>
              <a:ext cx="85" cy="240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50" name="Line 50"/>
            <p:cNvSpPr>
              <a:spLocks noChangeShapeType="1"/>
            </p:cNvSpPr>
            <p:nvPr/>
          </p:nvSpPr>
          <p:spPr bwMode="auto">
            <a:xfrm rot="14400000">
              <a:off x="1525" y="1802"/>
              <a:ext cx="0" cy="1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51" name="Line 51"/>
            <p:cNvSpPr>
              <a:spLocks noChangeShapeType="1"/>
            </p:cNvSpPr>
            <p:nvPr/>
          </p:nvSpPr>
          <p:spPr bwMode="auto">
            <a:xfrm rot="14400000">
              <a:off x="1877" y="1613"/>
              <a:ext cx="0" cy="1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52" name="Oval 52"/>
            <p:cNvSpPr>
              <a:spLocks noChangeArrowheads="1"/>
            </p:cNvSpPr>
            <p:nvPr/>
          </p:nvSpPr>
          <p:spPr bwMode="auto">
            <a:xfrm>
              <a:off x="1929" y="1646"/>
              <a:ext cx="34" cy="3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53" name="Text Box 53"/>
            <p:cNvSpPr txBox="1">
              <a:spLocks noChangeArrowheads="1"/>
            </p:cNvSpPr>
            <p:nvPr/>
          </p:nvSpPr>
          <p:spPr bwMode="auto">
            <a:xfrm>
              <a:off x="1989" y="129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28054" name="Text Box 54"/>
            <p:cNvSpPr txBox="1">
              <a:spLocks noChangeArrowheads="1"/>
            </p:cNvSpPr>
            <p:nvPr/>
          </p:nvSpPr>
          <p:spPr bwMode="auto">
            <a:xfrm>
              <a:off x="2185" y="154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28055" name="Text Box 55"/>
            <p:cNvSpPr txBox="1">
              <a:spLocks noChangeArrowheads="1"/>
            </p:cNvSpPr>
            <p:nvPr/>
          </p:nvSpPr>
          <p:spPr bwMode="auto">
            <a:xfrm>
              <a:off x="1462" y="1536"/>
              <a:ext cx="2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28056" name="Oval 56"/>
            <p:cNvSpPr>
              <a:spLocks noChangeArrowheads="1"/>
            </p:cNvSpPr>
            <p:nvPr/>
          </p:nvSpPr>
          <p:spPr bwMode="auto">
            <a:xfrm>
              <a:off x="811" y="1902"/>
              <a:ext cx="45" cy="4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57" name="Oval 57"/>
            <p:cNvSpPr>
              <a:spLocks noChangeArrowheads="1"/>
            </p:cNvSpPr>
            <p:nvPr/>
          </p:nvSpPr>
          <p:spPr bwMode="auto">
            <a:xfrm>
              <a:off x="818" y="2259"/>
              <a:ext cx="45" cy="4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8059" name="Text Box 59"/>
          <p:cNvSpPr txBox="1">
            <a:spLocks noChangeArrowheads="1"/>
          </p:cNvSpPr>
          <p:nvPr/>
        </p:nvSpPr>
        <p:spPr bwMode="auto">
          <a:xfrm>
            <a:off x="520700" y="2038350"/>
            <a:ext cx="552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解：</a:t>
            </a:r>
            <a:r>
              <a:rPr lang="zh-CN" altLang="en-US"/>
              <a:t> </a:t>
            </a:r>
          </a:p>
        </p:txBody>
      </p:sp>
      <p:graphicFrame>
        <p:nvGraphicFramePr>
          <p:cNvPr id="128060" name="Object 60"/>
          <p:cNvGraphicFramePr>
            <a:graphicFrameLocks noChangeAspect="1"/>
          </p:cNvGraphicFramePr>
          <p:nvPr/>
        </p:nvGraphicFramePr>
        <p:xfrm>
          <a:off x="1789113" y="2992438"/>
          <a:ext cx="142081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06" name="Equation" r:id="rId5" imgW="711000" imgH="419040" progId="Equation.3">
                  <p:embed/>
                </p:oleObj>
              </mc:Choice>
              <mc:Fallback>
                <p:oleObj name="Equation" r:id="rId5" imgW="711000" imgH="41904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2992438"/>
                        <a:ext cx="1420812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70" name="Object 70"/>
          <p:cNvGraphicFramePr>
            <a:graphicFrameLocks noChangeAspect="1"/>
          </p:cNvGraphicFramePr>
          <p:nvPr/>
        </p:nvGraphicFramePr>
        <p:xfrm>
          <a:off x="2116138" y="3941763"/>
          <a:ext cx="4056062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07" name="Equation" r:id="rId7" imgW="1993680" imgH="444240" progId="Equation.3">
                  <p:embed/>
                </p:oleObj>
              </mc:Choice>
              <mc:Fallback>
                <p:oleObj name="Equation" r:id="rId7" imgW="1993680" imgH="44424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138" y="3941763"/>
                        <a:ext cx="4056062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8119" name="Group 119"/>
          <p:cNvGrpSpPr>
            <a:grpSpLocks/>
          </p:cNvGrpSpPr>
          <p:nvPr/>
        </p:nvGrpSpPr>
        <p:grpSpPr bwMode="auto">
          <a:xfrm>
            <a:off x="1327150" y="2193925"/>
            <a:ext cx="2724150" cy="482600"/>
            <a:chOff x="2846" y="768"/>
            <a:chExt cx="1716" cy="304"/>
          </a:xfrm>
        </p:grpSpPr>
        <p:graphicFrame>
          <p:nvGraphicFramePr>
            <p:cNvPr id="128116" name="Object 116"/>
            <p:cNvGraphicFramePr>
              <a:graphicFrameLocks noChangeAspect="1"/>
            </p:cNvGraphicFramePr>
            <p:nvPr/>
          </p:nvGraphicFramePr>
          <p:xfrm>
            <a:off x="3160" y="768"/>
            <a:ext cx="140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208" name="Equation" r:id="rId9" imgW="1054080" imgH="228600" progId="Equation.3">
                    <p:embed/>
                  </p:oleObj>
                </mc:Choice>
                <mc:Fallback>
                  <p:oleObj name="Equation" r:id="rId9" imgW="1054080" imgH="228600" progId="Equation.3">
                    <p:embed/>
                    <p:pic>
                      <p:nvPicPr>
                        <p:cNvPr id="0" name="Object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0" y="768"/>
                          <a:ext cx="140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118" name="Text Box 118"/>
            <p:cNvSpPr txBox="1">
              <a:spLocks noChangeArrowheads="1"/>
            </p:cNvSpPr>
            <p:nvPr/>
          </p:nvSpPr>
          <p:spPr bwMode="auto">
            <a:xfrm>
              <a:off x="2846" y="781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设</a:t>
              </a:r>
            </a:p>
          </p:txBody>
        </p:sp>
      </p:grpSp>
      <p:graphicFrame>
        <p:nvGraphicFramePr>
          <p:cNvPr id="128127" name="Object 127"/>
          <p:cNvGraphicFramePr>
            <a:graphicFrameLocks noChangeAspect="1"/>
          </p:cNvGraphicFramePr>
          <p:nvPr/>
        </p:nvGraphicFramePr>
        <p:xfrm>
          <a:off x="1624013" y="5178425"/>
          <a:ext cx="4470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09" name="Equation" r:id="rId11" imgW="4470120" imgH="406080" progId="Equation.3">
                  <p:embed/>
                </p:oleObj>
              </mc:Choice>
              <mc:Fallback>
                <p:oleObj name="Equation" r:id="rId11" imgW="4470120" imgH="406080" progId="Equation.3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5178425"/>
                        <a:ext cx="4470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8130" name="Group 130"/>
          <p:cNvGrpSpPr>
            <a:grpSpLocks/>
          </p:cNvGrpSpPr>
          <p:nvPr/>
        </p:nvGrpSpPr>
        <p:grpSpPr bwMode="auto">
          <a:xfrm>
            <a:off x="285750" y="209550"/>
            <a:ext cx="8393113" cy="1625600"/>
            <a:chOff x="180" y="132"/>
            <a:chExt cx="5287" cy="1024"/>
          </a:xfrm>
        </p:grpSpPr>
        <p:sp>
          <p:nvSpPr>
            <p:cNvPr id="128002" name="Text Box 2"/>
            <p:cNvSpPr txBox="1">
              <a:spLocks noChangeArrowheads="1"/>
            </p:cNvSpPr>
            <p:nvPr/>
          </p:nvSpPr>
          <p:spPr bwMode="auto">
            <a:xfrm>
              <a:off x="180" y="132"/>
              <a:ext cx="385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rgbClr val="FF0000"/>
                  </a:solidFill>
                </a:rPr>
                <a:t>例</a:t>
              </a:r>
              <a:r>
                <a:rPr lang="zh-CN" altLang="en-US"/>
                <a:t> </a:t>
              </a:r>
            </a:p>
          </p:txBody>
        </p:sp>
        <p:sp>
          <p:nvSpPr>
            <p:cNvPr id="128058" name="Text Box 58"/>
            <p:cNvSpPr txBox="1">
              <a:spLocks noChangeArrowheads="1"/>
            </p:cNvSpPr>
            <p:nvPr/>
          </p:nvSpPr>
          <p:spPr bwMode="auto">
            <a:xfrm>
              <a:off x="618" y="132"/>
              <a:ext cx="4849" cy="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>
                  <a:solidFill>
                    <a:schemeClr val="tx1"/>
                  </a:solidFill>
                </a:rPr>
                <a:t>三相电动机在</a:t>
              </a:r>
              <a:r>
                <a:rPr lang="en-US" altLang="zh-CN">
                  <a:solidFill>
                    <a:schemeClr val="tx1"/>
                  </a:solidFill>
                </a:rPr>
                <a:t>220V</a:t>
              </a:r>
              <a:r>
                <a:rPr lang="zh-CN" altLang="en-US">
                  <a:solidFill>
                    <a:schemeClr val="tx1"/>
                  </a:solidFill>
                </a:rPr>
                <a:t>线电压下工作，分别接成</a:t>
              </a:r>
              <a:r>
                <a:rPr lang="en-US" altLang="zh-CN">
                  <a:solidFill>
                    <a:schemeClr val="tx1"/>
                  </a:solidFill>
                </a:rPr>
                <a:t>Y</a:t>
              </a:r>
              <a:r>
                <a:rPr lang="zh-CN" altLang="en-US">
                  <a:solidFill>
                    <a:schemeClr val="tx1"/>
                  </a:solidFill>
                </a:rPr>
                <a:t>接和</a:t>
              </a:r>
              <a:r>
                <a:rPr lang="zh-CN" altLang="en-US">
                  <a:solidFill>
                    <a:schemeClr val="tx1"/>
                  </a:solidFill>
                  <a:sym typeface="Symbol" panose="05050102010706020507" pitchFamily="18" charset="2"/>
                </a:rPr>
                <a:t>接。求两种接法下的有功功率。</a:t>
              </a:r>
            </a:p>
            <a:p>
              <a:pPr>
                <a:lnSpc>
                  <a:spcPct val="140000"/>
                </a:lnSpc>
              </a:pPr>
              <a:r>
                <a:rPr lang="zh-CN" altLang="en-US">
                  <a:solidFill>
                    <a:schemeClr val="tx1"/>
                  </a:solidFill>
                  <a:sym typeface="Symbol" panose="05050102010706020507" pitchFamily="18" charset="2"/>
                </a:rPr>
                <a:t>（电动机每相等效阻抗为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28129" name="Group 129"/>
            <p:cNvGrpSpPr>
              <a:grpSpLocks/>
            </p:cNvGrpSpPr>
            <p:nvPr/>
          </p:nvGrpSpPr>
          <p:grpSpPr bwMode="auto">
            <a:xfrm>
              <a:off x="2852" y="859"/>
              <a:ext cx="1600" cy="288"/>
              <a:chOff x="2852" y="859"/>
              <a:chExt cx="1600" cy="288"/>
            </a:xfrm>
          </p:grpSpPr>
          <p:graphicFrame>
            <p:nvGraphicFramePr>
              <p:cNvPr id="128066" name="Object 66"/>
              <p:cNvGraphicFramePr>
                <a:graphicFrameLocks noChangeAspect="1"/>
              </p:cNvGraphicFramePr>
              <p:nvPr/>
            </p:nvGraphicFramePr>
            <p:xfrm>
              <a:off x="2852" y="892"/>
              <a:ext cx="1303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210" name="Equation" r:id="rId13" imgW="1054080" imgH="203040" progId="Equation.3">
                      <p:embed/>
                    </p:oleObj>
                  </mc:Choice>
                  <mc:Fallback>
                    <p:oleObj name="Equation" r:id="rId13" imgW="1054080" imgH="203040" progId="Equation.3">
                      <p:embed/>
                      <p:pic>
                        <p:nvPicPr>
                          <p:cNvPr id="0" name="Object 6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52" y="892"/>
                            <a:ext cx="1303" cy="2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8128" name="Text Box 128"/>
              <p:cNvSpPr txBox="1">
                <a:spLocks noChangeArrowheads="1"/>
              </p:cNvSpPr>
              <p:nvPr/>
            </p:nvSpPr>
            <p:spPr bwMode="auto">
              <a:xfrm>
                <a:off x="4050" y="859"/>
                <a:ext cx="40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>
                    <a:solidFill>
                      <a:schemeClr val="tx1"/>
                    </a:solidFill>
                  </a:rPr>
                  <a:t>）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8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8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28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59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98" name="Group 78"/>
          <p:cNvGrpSpPr>
            <a:grpSpLocks/>
          </p:cNvGrpSpPr>
          <p:nvPr/>
        </p:nvGrpSpPr>
        <p:grpSpPr bwMode="auto">
          <a:xfrm>
            <a:off x="5360988" y="560388"/>
            <a:ext cx="3227387" cy="2387600"/>
            <a:chOff x="293" y="2405"/>
            <a:chExt cx="2033" cy="1504"/>
          </a:xfrm>
        </p:grpSpPr>
        <p:sp>
          <p:nvSpPr>
            <p:cNvPr id="133199" name="Text Box 79"/>
            <p:cNvSpPr txBox="1">
              <a:spLocks noChangeArrowheads="1"/>
            </p:cNvSpPr>
            <p:nvPr/>
          </p:nvSpPr>
          <p:spPr bwMode="auto">
            <a:xfrm>
              <a:off x="303" y="3621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grpSp>
          <p:nvGrpSpPr>
            <p:cNvPr id="133200" name="Group 80"/>
            <p:cNvGrpSpPr>
              <a:grpSpLocks/>
            </p:cNvGrpSpPr>
            <p:nvPr/>
          </p:nvGrpSpPr>
          <p:grpSpPr bwMode="auto">
            <a:xfrm>
              <a:off x="293" y="2405"/>
              <a:ext cx="2033" cy="1391"/>
              <a:chOff x="293" y="2405"/>
              <a:chExt cx="2033" cy="1391"/>
            </a:xfrm>
          </p:grpSpPr>
          <p:sp>
            <p:nvSpPr>
              <p:cNvPr id="133201" name="Line 81"/>
              <p:cNvSpPr>
                <a:spLocks noChangeShapeType="1"/>
              </p:cNvSpPr>
              <p:nvPr/>
            </p:nvSpPr>
            <p:spPr bwMode="auto">
              <a:xfrm flipV="1">
                <a:off x="586" y="2789"/>
                <a:ext cx="1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02" name="Line 82"/>
              <p:cNvSpPr>
                <a:spLocks noChangeShapeType="1"/>
              </p:cNvSpPr>
              <p:nvPr/>
            </p:nvSpPr>
            <p:spPr bwMode="auto">
              <a:xfrm>
                <a:off x="585" y="3293"/>
                <a:ext cx="117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03" name="Freeform 83"/>
              <p:cNvSpPr>
                <a:spLocks/>
              </p:cNvSpPr>
              <p:nvPr/>
            </p:nvSpPr>
            <p:spPr bwMode="auto">
              <a:xfrm flipH="1">
                <a:off x="580" y="3294"/>
                <a:ext cx="1611" cy="489"/>
              </a:xfrm>
              <a:custGeom>
                <a:avLst/>
                <a:gdLst>
                  <a:gd name="T0" fmla="*/ 0 w 2184"/>
                  <a:gd name="T1" fmla="*/ 0 h 426"/>
                  <a:gd name="T2" fmla="*/ 0 w 2184"/>
                  <a:gd name="T3" fmla="*/ 426 h 426"/>
                  <a:gd name="T4" fmla="*/ 2184 w 2184"/>
                  <a:gd name="T5" fmla="*/ 42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84" h="426">
                    <a:moveTo>
                      <a:pt x="0" y="0"/>
                    </a:moveTo>
                    <a:lnTo>
                      <a:pt x="0" y="426"/>
                    </a:lnTo>
                    <a:lnTo>
                      <a:pt x="2184" y="42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04" name="Oval 84"/>
              <p:cNvSpPr>
                <a:spLocks noChangeArrowheads="1"/>
              </p:cNvSpPr>
              <p:nvPr/>
            </p:nvSpPr>
            <p:spPr bwMode="auto">
              <a:xfrm>
                <a:off x="539" y="2767"/>
                <a:ext cx="41" cy="3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05" name="Oval 85"/>
              <p:cNvSpPr>
                <a:spLocks noChangeArrowheads="1"/>
              </p:cNvSpPr>
              <p:nvPr/>
            </p:nvSpPr>
            <p:spPr bwMode="auto">
              <a:xfrm>
                <a:off x="538" y="3279"/>
                <a:ext cx="41" cy="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06" name="Oval 86"/>
              <p:cNvSpPr>
                <a:spLocks noChangeArrowheads="1"/>
              </p:cNvSpPr>
              <p:nvPr/>
            </p:nvSpPr>
            <p:spPr bwMode="auto">
              <a:xfrm>
                <a:off x="533" y="3758"/>
                <a:ext cx="41" cy="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07" name="Text Box 87"/>
              <p:cNvSpPr txBox="1">
                <a:spLocks noChangeArrowheads="1"/>
              </p:cNvSpPr>
              <p:nvPr/>
            </p:nvSpPr>
            <p:spPr bwMode="auto">
              <a:xfrm>
                <a:off x="308" y="2673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133208" name="Text Box 88"/>
              <p:cNvSpPr txBox="1">
                <a:spLocks noChangeArrowheads="1"/>
              </p:cNvSpPr>
              <p:nvPr/>
            </p:nvSpPr>
            <p:spPr bwMode="auto">
              <a:xfrm>
                <a:off x="293" y="3153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33209" name="Line 89"/>
              <p:cNvSpPr>
                <a:spLocks noChangeShapeType="1"/>
              </p:cNvSpPr>
              <p:nvPr/>
            </p:nvSpPr>
            <p:spPr bwMode="auto">
              <a:xfrm rot="-5400000">
                <a:off x="807" y="2538"/>
                <a:ext cx="0" cy="33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210" name="Object 90"/>
              <p:cNvGraphicFramePr>
                <a:graphicFrameLocks noChangeAspect="1"/>
              </p:cNvGraphicFramePr>
              <p:nvPr/>
            </p:nvGraphicFramePr>
            <p:xfrm>
              <a:off x="650" y="2405"/>
              <a:ext cx="306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308" name="Equation" r:id="rId3" imgW="228600" imgH="241200" progId="Equation.3">
                      <p:embed/>
                    </p:oleObj>
                  </mc:Choice>
                  <mc:Fallback>
                    <p:oleObj name="Equation" r:id="rId3" imgW="228600" imgH="241200" progId="Equation.3">
                      <p:embed/>
                      <p:pic>
                        <p:nvPicPr>
                          <p:cNvPr id="0" name="Object 9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0" y="2405"/>
                            <a:ext cx="306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211" name="Rectangle 91"/>
              <p:cNvSpPr>
                <a:spLocks noChangeArrowheads="1"/>
              </p:cNvSpPr>
              <p:nvPr/>
            </p:nvSpPr>
            <p:spPr bwMode="auto">
              <a:xfrm rot="19800000">
                <a:off x="1991" y="2919"/>
                <a:ext cx="89" cy="239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12" name="Line 92"/>
              <p:cNvSpPr>
                <a:spLocks noChangeShapeType="1"/>
              </p:cNvSpPr>
              <p:nvPr/>
            </p:nvSpPr>
            <p:spPr bwMode="auto">
              <a:xfrm rot="19800000">
                <a:off x="1929" y="2772"/>
                <a:ext cx="0" cy="1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13" name="Line 93"/>
              <p:cNvSpPr>
                <a:spLocks noChangeShapeType="1"/>
              </p:cNvSpPr>
              <p:nvPr/>
            </p:nvSpPr>
            <p:spPr bwMode="auto">
              <a:xfrm rot="19800000">
                <a:off x="2138" y="3131"/>
                <a:ext cx="0" cy="1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14" name="Rectangle 94"/>
              <p:cNvSpPr>
                <a:spLocks noChangeArrowheads="1"/>
              </p:cNvSpPr>
              <p:nvPr/>
            </p:nvSpPr>
            <p:spPr bwMode="auto">
              <a:xfrm rot="5400000">
                <a:off x="1836" y="3164"/>
                <a:ext cx="84" cy="254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15" name="Line 95"/>
              <p:cNvSpPr>
                <a:spLocks noChangeShapeType="1"/>
              </p:cNvSpPr>
              <p:nvPr/>
            </p:nvSpPr>
            <p:spPr bwMode="auto">
              <a:xfrm rot="5400000">
                <a:off x="2098" y="3195"/>
                <a:ext cx="0" cy="1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16" name="Line 96"/>
              <p:cNvSpPr>
                <a:spLocks noChangeShapeType="1"/>
              </p:cNvSpPr>
              <p:nvPr/>
            </p:nvSpPr>
            <p:spPr bwMode="auto">
              <a:xfrm rot="5400000">
                <a:off x="1664" y="3207"/>
                <a:ext cx="0" cy="1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17" name="Rectangle 97"/>
              <p:cNvSpPr>
                <a:spLocks noChangeArrowheads="1"/>
              </p:cNvSpPr>
              <p:nvPr/>
            </p:nvSpPr>
            <p:spPr bwMode="auto">
              <a:xfrm rot="1800000">
                <a:off x="1680" y="2916"/>
                <a:ext cx="88" cy="240"/>
              </a:xfrm>
              <a:prstGeom prst="rect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18" name="Line 98"/>
              <p:cNvSpPr>
                <a:spLocks noChangeShapeType="1"/>
              </p:cNvSpPr>
              <p:nvPr/>
            </p:nvSpPr>
            <p:spPr bwMode="auto">
              <a:xfrm rot="1800000">
                <a:off x="1825" y="2766"/>
                <a:ext cx="0" cy="1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19" name="Line 99"/>
              <p:cNvSpPr>
                <a:spLocks noChangeShapeType="1"/>
              </p:cNvSpPr>
              <p:nvPr/>
            </p:nvSpPr>
            <p:spPr bwMode="auto">
              <a:xfrm rot="1800000">
                <a:off x="1626" y="3131"/>
                <a:ext cx="0" cy="1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20" name="Oval 100"/>
              <p:cNvSpPr>
                <a:spLocks noChangeArrowheads="1"/>
              </p:cNvSpPr>
              <p:nvPr/>
            </p:nvSpPr>
            <p:spPr bwMode="auto">
              <a:xfrm>
                <a:off x="2164" y="3265"/>
                <a:ext cx="39" cy="3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21" name="Text Box 101"/>
              <p:cNvSpPr txBox="1">
                <a:spLocks noChangeArrowheads="1"/>
              </p:cNvSpPr>
              <p:nvPr/>
            </p:nvSpPr>
            <p:spPr bwMode="auto">
              <a:xfrm>
                <a:off x="1745" y="3297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33222" name="Text Box 102"/>
              <p:cNvSpPr txBox="1">
                <a:spLocks noChangeArrowheads="1"/>
              </p:cNvSpPr>
              <p:nvPr/>
            </p:nvSpPr>
            <p:spPr bwMode="auto">
              <a:xfrm>
                <a:off x="1440" y="2843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33223" name="Text Box 103"/>
              <p:cNvSpPr txBox="1">
                <a:spLocks noChangeArrowheads="1"/>
              </p:cNvSpPr>
              <p:nvPr/>
            </p:nvSpPr>
            <p:spPr bwMode="auto">
              <a:xfrm>
                <a:off x="2071" y="2833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tx1"/>
                    </a:solidFill>
                  </a:rPr>
                  <a:t>Z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33224" name="Oval 104"/>
              <p:cNvSpPr>
                <a:spLocks noChangeArrowheads="1"/>
              </p:cNvSpPr>
              <p:nvPr/>
            </p:nvSpPr>
            <p:spPr bwMode="auto">
              <a:xfrm>
                <a:off x="1856" y="2772"/>
                <a:ext cx="39" cy="3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25" name="Oval 105"/>
              <p:cNvSpPr>
                <a:spLocks noChangeArrowheads="1"/>
              </p:cNvSpPr>
              <p:nvPr/>
            </p:nvSpPr>
            <p:spPr bwMode="auto">
              <a:xfrm>
                <a:off x="1557" y="3275"/>
                <a:ext cx="39" cy="3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33226" name="Object 106"/>
          <p:cNvGraphicFramePr>
            <a:graphicFrameLocks noChangeAspect="1"/>
          </p:cNvGraphicFramePr>
          <p:nvPr/>
        </p:nvGraphicFramePr>
        <p:xfrm>
          <a:off x="1077913" y="1011238"/>
          <a:ext cx="25431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9" name="Equation" r:id="rId5" imgW="1269720" imgH="419040" progId="Equation.3">
                  <p:embed/>
                </p:oleObj>
              </mc:Choice>
              <mc:Fallback>
                <p:oleObj name="Equation" r:id="rId5" imgW="1269720" imgH="419040" progId="Equation.3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1011238"/>
                        <a:ext cx="254317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7" name="Object 107"/>
          <p:cNvGraphicFramePr>
            <a:graphicFrameLocks noChangeAspect="1"/>
          </p:cNvGraphicFramePr>
          <p:nvPr/>
        </p:nvGraphicFramePr>
        <p:xfrm>
          <a:off x="1644650" y="2257425"/>
          <a:ext cx="262731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0" name="Equation" r:id="rId7" imgW="1257120" imgH="203040" progId="Equation.3">
                  <p:embed/>
                </p:oleObj>
              </mc:Choice>
              <mc:Fallback>
                <p:oleObj name="Equation" r:id="rId7" imgW="1257120" imgH="203040" progId="Equation.3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2257425"/>
                        <a:ext cx="262731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8" name="Object 108"/>
          <p:cNvGraphicFramePr>
            <a:graphicFrameLocks noChangeAspect="1"/>
          </p:cNvGraphicFramePr>
          <p:nvPr/>
        </p:nvGraphicFramePr>
        <p:xfrm>
          <a:off x="1104900" y="3227388"/>
          <a:ext cx="4876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1" name="Equation" r:id="rId9" imgW="4876560" imgH="406080" progId="Equation.3">
                  <p:embed/>
                </p:oleObj>
              </mc:Choice>
              <mc:Fallback>
                <p:oleObj name="Equation" r:id="rId9" imgW="4876560" imgH="406080" progId="Equation.3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3227388"/>
                        <a:ext cx="48768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9" name="Text Box 109"/>
          <p:cNvSpPr txBox="1">
            <a:spLocks noChangeArrowheads="1"/>
          </p:cNvSpPr>
          <p:nvPr/>
        </p:nvSpPr>
        <p:spPr bwMode="auto">
          <a:xfrm>
            <a:off x="1797050" y="4986338"/>
            <a:ext cx="4102100" cy="46672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应用：电动机</a:t>
            </a:r>
            <a:r>
              <a:rPr lang="en-US" altLang="zh-CN">
                <a:solidFill>
                  <a:schemeClr val="tx1"/>
                </a:solidFill>
              </a:rPr>
              <a:t>Y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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降压起动。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33230" name="Object 110"/>
          <p:cNvGraphicFramePr>
            <a:graphicFrameLocks noChangeAspect="1"/>
          </p:cNvGraphicFramePr>
          <p:nvPr/>
        </p:nvGraphicFramePr>
        <p:xfrm>
          <a:off x="4011613" y="4140200"/>
          <a:ext cx="1228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2" name="Equation" r:id="rId11" imgW="647640" imgH="215640" progId="Equation.3">
                  <p:embed/>
                </p:oleObj>
              </mc:Choice>
              <mc:Fallback>
                <p:oleObj name="Equation" r:id="rId11" imgW="647640" imgH="215640" progId="Equation.3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3" y="4140200"/>
                        <a:ext cx="12287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1" name="Object 111"/>
          <p:cNvGraphicFramePr>
            <a:graphicFrameLocks noChangeAspect="1"/>
          </p:cNvGraphicFramePr>
          <p:nvPr/>
        </p:nvGraphicFramePr>
        <p:xfrm>
          <a:off x="5562600" y="4122738"/>
          <a:ext cx="11652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3" name="Equation" r:id="rId13" imgW="596880" imgH="215640" progId="Equation.3">
                  <p:embed/>
                </p:oleObj>
              </mc:Choice>
              <mc:Fallback>
                <p:oleObj name="Equation" r:id="rId13" imgW="596880" imgH="215640" progId="Equation.3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122738"/>
                        <a:ext cx="116522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2" name="Text Box 112"/>
          <p:cNvSpPr txBox="1">
            <a:spLocks noChangeArrowheads="1"/>
          </p:cNvSpPr>
          <p:nvPr/>
        </p:nvSpPr>
        <p:spPr bwMode="auto">
          <a:xfrm>
            <a:off x="782638" y="4143375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</a:rPr>
              <a:t>结论：</a:t>
            </a:r>
          </a:p>
        </p:txBody>
      </p:sp>
      <p:sp>
        <p:nvSpPr>
          <p:cNvPr id="133233" name="Text Box 113"/>
          <p:cNvSpPr txBox="1">
            <a:spLocks noChangeArrowheads="1"/>
          </p:cNvSpPr>
          <p:nvPr/>
        </p:nvSpPr>
        <p:spPr bwMode="auto">
          <a:xfrm>
            <a:off x="1878013" y="4143375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线电压不变时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3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9" grpId="0" animBg="1" autoUpdateAnimBg="0"/>
      <p:bldP spid="133232" grpId="0" build="p" autoUpdateAnimBg="0"/>
      <p:bldP spid="133233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609600" y="935038"/>
            <a:ext cx="5160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</a:rPr>
              <a:t>5.  </a:t>
            </a:r>
            <a:r>
              <a:rPr lang="zh-CN" altLang="en-US">
                <a:solidFill>
                  <a:schemeClr val="tx1"/>
                </a:solidFill>
              </a:rPr>
              <a:t>三相功率的测量（对称、不对称）</a:t>
            </a: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696913" y="1463675"/>
            <a:ext cx="2174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）三表法：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1462088" y="5245100"/>
            <a:ext cx="5621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若负载对称，则需一块表，读数乘以 </a:t>
            </a:r>
            <a:r>
              <a:rPr lang="en-US" altLang="zh-CN">
                <a:solidFill>
                  <a:srgbClr val="FF3300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rgbClr val="FF3300"/>
              </a:solidFill>
            </a:endParaRPr>
          </a:p>
        </p:txBody>
      </p:sp>
      <p:grpSp>
        <p:nvGrpSpPr>
          <p:cNvPr id="55353" name="Group 57"/>
          <p:cNvGrpSpPr>
            <a:grpSpLocks/>
          </p:cNvGrpSpPr>
          <p:nvPr/>
        </p:nvGrpSpPr>
        <p:grpSpPr bwMode="auto">
          <a:xfrm>
            <a:off x="2400300" y="1639888"/>
            <a:ext cx="4206875" cy="2733675"/>
            <a:chOff x="1512" y="1033"/>
            <a:chExt cx="2650" cy="1722"/>
          </a:xfrm>
        </p:grpSpPr>
        <p:sp>
          <p:nvSpPr>
            <p:cNvPr id="55337" name="Text Box 41"/>
            <p:cNvSpPr txBox="1">
              <a:spLocks noChangeArrowheads="1"/>
            </p:cNvSpPr>
            <p:nvPr/>
          </p:nvSpPr>
          <p:spPr bwMode="auto">
            <a:xfrm>
              <a:off x="2232" y="10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55303" name="Rectangle 7"/>
            <p:cNvSpPr>
              <a:spLocks noChangeArrowheads="1"/>
            </p:cNvSpPr>
            <p:nvPr/>
          </p:nvSpPr>
          <p:spPr bwMode="auto">
            <a:xfrm>
              <a:off x="3442" y="1268"/>
              <a:ext cx="720" cy="1382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三</a:t>
              </a: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相</a:t>
              </a: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负</a:t>
              </a: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载</a:t>
              </a:r>
            </a:p>
          </p:txBody>
        </p:sp>
        <p:sp>
          <p:nvSpPr>
            <p:cNvPr id="55304" name="Line 8"/>
            <p:cNvSpPr>
              <a:spLocks noChangeShapeType="1"/>
            </p:cNvSpPr>
            <p:nvPr/>
          </p:nvSpPr>
          <p:spPr bwMode="auto">
            <a:xfrm>
              <a:off x="1810" y="1366"/>
              <a:ext cx="16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5" name="Line 9"/>
            <p:cNvSpPr>
              <a:spLocks noChangeShapeType="1"/>
            </p:cNvSpPr>
            <p:nvPr/>
          </p:nvSpPr>
          <p:spPr bwMode="auto">
            <a:xfrm>
              <a:off x="1810" y="1811"/>
              <a:ext cx="16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6" name="Line 10"/>
            <p:cNvSpPr>
              <a:spLocks noChangeShapeType="1"/>
            </p:cNvSpPr>
            <p:nvPr/>
          </p:nvSpPr>
          <p:spPr bwMode="auto">
            <a:xfrm>
              <a:off x="1810" y="2255"/>
              <a:ext cx="16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09" name="Line 13"/>
            <p:cNvSpPr>
              <a:spLocks noChangeShapeType="1"/>
            </p:cNvSpPr>
            <p:nvPr/>
          </p:nvSpPr>
          <p:spPr bwMode="auto">
            <a:xfrm>
              <a:off x="1810" y="2601"/>
              <a:ext cx="16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3" name="Line 17"/>
            <p:cNvSpPr>
              <a:spLocks noChangeShapeType="1"/>
            </p:cNvSpPr>
            <p:nvPr/>
          </p:nvSpPr>
          <p:spPr bwMode="auto">
            <a:xfrm>
              <a:off x="3142" y="2058"/>
              <a:ext cx="0" cy="5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4" name="Line 18"/>
            <p:cNvSpPr>
              <a:spLocks noChangeShapeType="1"/>
            </p:cNvSpPr>
            <p:nvPr/>
          </p:nvSpPr>
          <p:spPr bwMode="auto">
            <a:xfrm>
              <a:off x="2698" y="1613"/>
              <a:ext cx="0" cy="9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5" name="Line 19"/>
            <p:cNvSpPr>
              <a:spLocks noChangeShapeType="1"/>
            </p:cNvSpPr>
            <p:nvPr/>
          </p:nvSpPr>
          <p:spPr bwMode="auto">
            <a:xfrm>
              <a:off x="2266" y="1119"/>
              <a:ext cx="0" cy="14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6" name="Line 20"/>
            <p:cNvSpPr>
              <a:spLocks noChangeShapeType="1"/>
            </p:cNvSpPr>
            <p:nvPr/>
          </p:nvSpPr>
          <p:spPr bwMode="auto">
            <a:xfrm flipV="1">
              <a:off x="2908" y="2058"/>
              <a:ext cx="0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7" name="Line 21"/>
            <p:cNvSpPr>
              <a:spLocks noChangeShapeType="1"/>
            </p:cNvSpPr>
            <p:nvPr/>
          </p:nvSpPr>
          <p:spPr bwMode="auto">
            <a:xfrm>
              <a:off x="2908" y="205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2" name="Oval 16"/>
            <p:cNvSpPr>
              <a:spLocks noChangeArrowheads="1"/>
            </p:cNvSpPr>
            <p:nvPr/>
          </p:nvSpPr>
          <p:spPr bwMode="auto">
            <a:xfrm>
              <a:off x="3010" y="2156"/>
              <a:ext cx="240" cy="247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55318" name="Line 22"/>
            <p:cNvSpPr>
              <a:spLocks noChangeShapeType="1"/>
            </p:cNvSpPr>
            <p:nvPr/>
          </p:nvSpPr>
          <p:spPr bwMode="auto">
            <a:xfrm flipV="1">
              <a:off x="2482" y="1613"/>
              <a:ext cx="0" cy="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5320" name="AutoShape 24"/>
            <p:cNvCxnSpPr>
              <a:cxnSpLocks noChangeShapeType="1"/>
              <a:stCxn id="55318" idx="1"/>
              <a:endCxn id="55314" idx="0"/>
            </p:cNvCxnSpPr>
            <p:nvPr/>
          </p:nvCxnSpPr>
          <p:spPr bwMode="auto">
            <a:xfrm>
              <a:off x="2482" y="1607"/>
              <a:ext cx="21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5311" name="Oval 15"/>
            <p:cNvSpPr>
              <a:spLocks noChangeArrowheads="1"/>
            </p:cNvSpPr>
            <p:nvPr/>
          </p:nvSpPr>
          <p:spPr bwMode="auto">
            <a:xfrm>
              <a:off x="2578" y="1700"/>
              <a:ext cx="240" cy="246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55321" name="Line 25"/>
            <p:cNvSpPr>
              <a:spLocks noChangeShapeType="1"/>
            </p:cNvSpPr>
            <p:nvPr/>
          </p:nvSpPr>
          <p:spPr bwMode="auto">
            <a:xfrm flipV="1">
              <a:off x="2050" y="1119"/>
              <a:ext cx="0" cy="2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5323" name="AutoShape 27"/>
            <p:cNvCxnSpPr>
              <a:cxnSpLocks noChangeShapeType="1"/>
              <a:stCxn id="55321" idx="1"/>
              <a:endCxn id="55315" idx="0"/>
            </p:cNvCxnSpPr>
            <p:nvPr/>
          </p:nvCxnSpPr>
          <p:spPr bwMode="auto">
            <a:xfrm>
              <a:off x="2050" y="1113"/>
              <a:ext cx="21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5307" name="Oval 11"/>
            <p:cNvSpPr>
              <a:spLocks noChangeArrowheads="1"/>
            </p:cNvSpPr>
            <p:nvPr/>
          </p:nvSpPr>
          <p:spPr bwMode="auto">
            <a:xfrm>
              <a:off x="2146" y="1218"/>
              <a:ext cx="240" cy="247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55328" name="Text Box 32"/>
            <p:cNvSpPr txBox="1">
              <a:spLocks noChangeArrowheads="1"/>
            </p:cNvSpPr>
            <p:nvPr/>
          </p:nvSpPr>
          <p:spPr bwMode="auto">
            <a:xfrm>
              <a:off x="1536" y="1233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5329" name="Text Box 33"/>
            <p:cNvSpPr txBox="1">
              <a:spLocks noChangeArrowheads="1"/>
            </p:cNvSpPr>
            <p:nvPr/>
          </p:nvSpPr>
          <p:spPr bwMode="auto">
            <a:xfrm>
              <a:off x="1542" y="165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5330" name="Text Box 34"/>
            <p:cNvSpPr txBox="1">
              <a:spLocks noChangeArrowheads="1"/>
            </p:cNvSpPr>
            <p:nvPr/>
          </p:nvSpPr>
          <p:spPr bwMode="auto">
            <a:xfrm>
              <a:off x="1512" y="208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55331" name="Text Box 35"/>
            <p:cNvSpPr txBox="1">
              <a:spLocks noChangeArrowheads="1"/>
            </p:cNvSpPr>
            <p:nvPr/>
          </p:nvSpPr>
          <p:spPr bwMode="auto">
            <a:xfrm>
              <a:off x="1536" y="2467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55333" name="Text Box 37"/>
            <p:cNvSpPr txBox="1">
              <a:spLocks noChangeArrowheads="1"/>
            </p:cNvSpPr>
            <p:nvPr/>
          </p:nvSpPr>
          <p:spPr bwMode="auto">
            <a:xfrm>
              <a:off x="2864" y="220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55334" name="Text Box 38"/>
            <p:cNvSpPr txBox="1">
              <a:spLocks noChangeArrowheads="1"/>
            </p:cNvSpPr>
            <p:nvPr/>
          </p:nvSpPr>
          <p:spPr bwMode="auto">
            <a:xfrm>
              <a:off x="3096" y="197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55335" name="Text Box 39"/>
            <p:cNvSpPr txBox="1">
              <a:spLocks noChangeArrowheads="1"/>
            </p:cNvSpPr>
            <p:nvPr/>
          </p:nvSpPr>
          <p:spPr bwMode="auto">
            <a:xfrm>
              <a:off x="2664" y="152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55336" name="Text Box 40"/>
            <p:cNvSpPr txBox="1">
              <a:spLocks noChangeArrowheads="1"/>
            </p:cNvSpPr>
            <p:nvPr/>
          </p:nvSpPr>
          <p:spPr bwMode="auto">
            <a:xfrm>
              <a:off x="2428" y="176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55338" name="Text Box 42"/>
            <p:cNvSpPr txBox="1">
              <a:spLocks noChangeArrowheads="1"/>
            </p:cNvSpPr>
            <p:nvPr/>
          </p:nvSpPr>
          <p:spPr bwMode="auto">
            <a:xfrm>
              <a:off x="1982" y="132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55343" name="Oval 47"/>
            <p:cNvSpPr>
              <a:spLocks noChangeArrowheads="1"/>
            </p:cNvSpPr>
            <p:nvPr/>
          </p:nvSpPr>
          <p:spPr bwMode="auto">
            <a:xfrm>
              <a:off x="1765" y="1335"/>
              <a:ext cx="45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4" name="Oval 48"/>
            <p:cNvSpPr>
              <a:spLocks noChangeArrowheads="1"/>
            </p:cNvSpPr>
            <p:nvPr/>
          </p:nvSpPr>
          <p:spPr bwMode="auto">
            <a:xfrm>
              <a:off x="1759" y="1786"/>
              <a:ext cx="45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5" name="Oval 49"/>
            <p:cNvSpPr>
              <a:spLocks noChangeArrowheads="1"/>
            </p:cNvSpPr>
            <p:nvPr/>
          </p:nvSpPr>
          <p:spPr bwMode="auto">
            <a:xfrm>
              <a:off x="1768" y="2224"/>
              <a:ext cx="45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6" name="Oval 50"/>
            <p:cNvSpPr>
              <a:spLocks noChangeArrowheads="1"/>
            </p:cNvSpPr>
            <p:nvPr/>
          </p:nvSpPr>
          <p:spPr bwMode="auto">
            <a:xfrm>
              <a:off x="1773" y="2576"/>
              <a:ext cx="45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5348" name="Object 52"/>
          <p:cNvGraphicFramePr>
            <a:graphicFrameLocks noChangeAspect="1"/>
          </p:cNvGraphicFramePr>
          <p:nvPr/>
        </p:nvGraphicFramePr>
        <p:xfrm>
          <a:off x="2359025" y="4602163"/>
          <a:ext cx="22574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8" name="公式" r:id="rId3" imgW="1130040" imgH="228600" progId="Equation.3">
                  <p:embed/>
                </p:oleObj>
              </mc:Choice>
              <mc:Fallback>
                <p:oleObj name="公式" r:id="rId3" imgW="1130040" imgH="2286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4602163"/>
                        <a:ext cx="22574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5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utoUpdateAnimBg="0"/>
      <p:bldP spid="55300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569913" y="509588"/>
            <a:ext cx="2327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  二表法：</a:t>
            </a:r>
          </a:p>
        </p:txBody>
      </p:sp>
      <p:sp>
        <p:nvSpPr>
          <p:cNvPr id="58404" name="Text Box 36"/>
          <p:cNvSpPr txBox="1">
            <a:spLocks noChangeArrowheads="1"/>
          </p:cNvSpPr>
          <p:nvPr/>
        </p:nvSpPr>
        <p:spPr bwMode="auto">
          <a:xfrm>
            <a:off x="898525" y="3832225"/>
            <a:ext cx="73406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57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47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/>
              <a:t>若</a:t>
            </a:r>
            <a:r>
              <a:rPr lang="en-US" altLang="zh-CN"/>
              <a:t>W</a:t>
            </a:r>
            <a:r>
              <a:rPr lang="en-US" altLang="zh-CN" baseline="-25000"/>
              <a:t>1</a:t>
            </a:r>
            <a:r>
              <a:rPr lang="zh-CN" altLang="en-US"/>
              <a:t>的读数为</a:t>
            </a:r>
            <a:r>
              <a:rPr lang="en-US" altLang="zh-CN" i="1">
                <a:solidFill>
                  <a:srgbClr val="FF3300"/>
                </a:solidFill>
              </a:rPr>
              <a:t>P</a:t>
            </a:r>
            <a:r>
              <a:rPr lang="en-US" altLang="zh-CN" baseline="-25000">
                <a:solidFill>
                  <a:srgbClr val="FF3300"/>
                </a:solidFill>
              </a:rPr>
              <a:t>1</a:t>
            </a:r>
            <a:r>
              <a:rPr lang="en-US" altLang="zh-CN"/>
              <a:t> </a:t>
            </a:r>
            <a:r>
              <a:rPr lang="zh-CN" altLang="en-US"/>
              <a:t>， </a:t>
            </a:r>
            <a:r>
              <a:rPr lang="en-US" altLang="zh-CN"/>
              <a:t>W</a:t>
            </a:r>
            <a:r>
              <a:rPr lang="en-US" altLang="zh-CN" baseline="-25000"/>
              <a:t>2</a:t>
            </a:r>
            <a:r>
              <a:rPr lang="zh-CN" altLang="en-US"/>
              <a:t>的读数为</a:t>
            </a:r>
            <a:r>
              <a:rPr lang="en-US" altLang="zh-CN" i="1">
                <a:solidFill>
                  <a:srgbClr val="FF3300"/>
                </a:solidFill>
              </a:rPr>
              <a:t>P</a:t>
            </a:r>
            <a:r>
              <a:rPr lang="en-US" altLang="zh-CN" baseline="-25000">
                <a:solidFill>
                  <a:srgbClr val="FF3300"/>
                </a:solidFill>
              </a:rPr>
              <a:t>2</a:t>
            </a:r>
            <a:r>
              <a:rPr lang="en-US" altLang="zh-CN"/>
              <a:t> </a:t>
            </a:r>
            <a:r>
              <a:rPr lang="zh-CN" altLang="en-US"/>
              <a:t>，则  </a:t>
            </a:r>
            <a:r>
              <a:rPr lang="en-US" altLang="zh-CN" i="1">
                <a:solidFill>
                  <a:srgbClr val="FF3300"/>
                </a:solidFill>
              </a:rPr>
              <a:t>P</a:t>
            </a:r>
            <a:r>
              <a:rPr lang="en-US" altLang="zh-CN">
                <a:solidFill>
                  <a:srgbClr val="FF3300"/>
                </a:solidFill>
              </a:rPr>
              <a:t>=</a:t>
            </a:r>
            <a:r>
              <a:rPr lang="en-US" altLang="zh-CN" i="1">
                <a:solidFill>
                  <a:srgbClr val="FF3300"/>
                </a:solidFill>
              </a:rPr>
              <a:t>P</a:t>
            </a:r>
            <a:r>
              <a:rPr lang="en-US" altLang="zh-CN" baseline="-25000">
                <a:solidFill>
                  <a:srgbClr val="FF3300"/>
                </a:solidFill>
              </a:rPr>
              <a:t>1</a:t>
            </a:r>
            <a:r>
              <a:rPr lang="en-US" altLang="zh-CN">
                <a:solidFill>
                  <a:srgbClr val="FF3300"/>
                </a:solidFill>
              </a:rPr>
              <a:t>+</a:t>
            </a:r>
            <a:r>
              <a:rPr lang="en-US" altLang="zh-CN" i="1">
                <a:solidFill>
                  <a:srgbClr val="FF3300"/>
                </a:solidFill>
              </a:rPr>
              <a:t>P</a:t>
            </a:r>
            <a:r>
              <a:rPr lang="en-US" altLang="zh-CN" baseline="-25000">
                <a:solidFill>
                  <a:srgbClr val="FF3300"/>
                </a:solidFill>
              </a:rPr>
              <a:t>2</a:t>
            </a:r>
            <a:r>
              <a:rPr lang="en-US" altLang="zh-CN" baseline="-25000"/>
              <a:t>   </a:t>
            </a:r>
            <a:r>
              <a:rPr lang="zh-CN" altLang="en-US"/>
              <a:t>即为三相总功率。</a:t>
            </a:r>
          </a:p>
        </p:txBody>
      </p:sp>
      <p:grpSp>
        <p:nvGrpSpPr>
          <p:cNvPr id="58412" name="Group 44"/>
          <p:cNvGrpSpPr>
            <a:grpSpLocks/>
          </p:cNvGrpSpPr>
          <p:nvPr/>
        </p:nvGrpSpPr>
        <p:grpSpPr bwMode="auto">
          <a:xfrm>
            <a:off x="2019300" y="966788"/>
            <a:ext cx="4187825" cy="2290762"/>
            <a:chOff x="1272" y="609"/>
            <a:chExt cx="2638" cy="1443"/>
          </a:xfrm>
        </p:grpSpPr>
        <p:sp>
          <p:nvSpPr>
            <p:cNvPr id="58373" name="Rectangle 5"/>
            <p:cNvSpPr>
              <a:spLocks noChangeArrowheads="1"/>
            </p:cNvSpPr>
            <p:nvPr/>
          </p:nvSpPr>
          <p:spPr bwMode="auto">
            <a:xfrm>
              <a:off x="3190" y="685"/>
              <a:ext cx="720" cy="1367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三</a:t>
              </a: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相</a:t>
              </a: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负</a:t>
              </a: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载</a:t>
              </a:r>
            </a:p>
          </p:txBody>
        </p:sp>
        <p:sp>
          <p:nvSpPr>
            <p:cNvPr id="58374" name="Line 6"/>
            <p:cNvSpPr>
              <a:spLocks noChangeShapeType="1"/>
            </p:cNvSpPr>
            <p:nvPr/>
          </p:nvSpPr>
          <p:spPr bwMode="auto">
            <a:xfrm>
              <a:off x="1558" y="929"/>
              <a:ext cx="16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5" name="Line 7"/>
            <p:cNvSpPr>
              <a:spLocks noChangeShapeType="1"/>
            </p:cNvSpPr>
            <p:nvPr/>
          </p:nvSpPr>
          <p:spPr bwMode="auto">
            <a:xfrm>
              <a:off x="1558" y="1369"/>
              <a:ext cx="16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6" name="Line 8"/>
            <p:cNvSpPr>
              <a:spLocks noChangeShapeType="1"/>
            </p:cNvSpPr>
            <p:nvPr/>
          </p:nvSpPr>
          <p:spPr bwMode="auto">
            <a:xfrm>
              <a:off x="1558" y="1808"/>
              <a:ext cx="16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9" name="Line 11"/>
            <p:cNvSpPr>
              <a:spLocks noChangeShapeType="1"/>
            </p:cNvSpPr>
            <p:nvPr/>
          </p:nvSpPr>
          <p:spPr bwMode="auto">
            <a:xfrm>
              <a:off x="2446" y="1131"/>
              <a:ext cx="0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0" name="Line 12"/>
            <p:cNvSpPr>
              <a:spLocks noChangeShapeType="1"/>
            </p:cNvSpPr>
            <p:nvPr/>
          </p:nvSpPr>
          <p:spPr bwMode="auto">
            <a:xfrm>
              <a:off x="2014" y="685"/>
              <a:ext cx="0" cy="11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4" name="Line 16"/>
            <p:cNvSpPr>
              <a:spLocks noChangeShapeType="1"/>
            </p:cNvSpPr>
            <p:nvPr/>
          </p:nvSpPr>
          <p:spPr bwMode="auto">
            <a:xfrm flipV="1">
              <a:off x="2212" y="1131"/>
              <a:ext cx="0" cy="2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8385" name="AutoShape 17"/>
            <p:cNvCxnSpPr>
              <a:cxnSpLocks noChangeShapeType="1"/>
            </p:cNvCxnSpPr>
            <p:nvPr/>
          </p:nvCxnSpPr>
          <p:spPr bwMode="auto">
            <a:xfrm>
              <a:off x="2212" y="1131"/>
              <a:ext cx="234" cy="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8387" name="Line 19"/>
            <p:cNvSpPr>
              <a:spLocks noChangeShapeType="1"/>
            </p:cNvSpPr>
            <p:nvPr/>
          </p:nvSpPr>
          <p:spPr bwMode="auto">
            <a:xfrm flipV="1">
              <a:off x="1780" y="685"/>
              <a:ext cx="0" cy="2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8388" name="AutoShape 20"/>
            <p:cNvCxnSpPr>
              <a:cxnSpLocks noChangeShapeType="1"/>
            </p:cNvCxnSpPr>
            <p:nvPr/>
          </p:nvCxnSpPr>
          <p:spPr bwMode="auto">
            <a:xfrm>
              <a:off x="1780" y="685"/>
              <a:ext cx="234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8389" name="Oval 21"/>
            <p:cNvSpPr>
              <a:spLocks noChangeArrowheads="1"/>
            </p:cNvSpPr>
            <p:nvPr/>
          </p:nvSpPr>
          <p:spPr bwMode="auto">
            <a:xfrm>
              <a:off x="1884" y="795"/>
              <a:ext cx="272" cy="277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</a:rPr>
                <a:t>W</a:t>
              </a:r>
              <a:r>
                <a:rPr lang="en-US" altLang="zh-CN" sz="2000" baseline="-25000">
                  <a:solidFill>
                    <a:schemeClr val="tx1"/>
                  </a:solidFill>
                </a:rPr>
                <a:t>1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58394" name="Text Box 26"/>
            <p:cNvSpPr txBox="1">
              <a:spLocks noChangeArrowheads="1"/>
            </p:cNvSpPr>
            <p:nvPr/>
          </p:nvSpPr>
          <p:spPr bwMode="auto">
            <a:xfrm>
              <a:off x="1284" y="767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8395" name="Text Box 27"/>
            <p:cNvSpPr txBox="1">
              <a:spLocks noChangeArrowheads="1"/>
            </p:cNvSpPr>
            <p:nvPr/>
          </p:nvSpPr>
          <p:spPr bwMode="auto">
            <a:xfrm>
              <a:off x="1296" y="122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8396" name="Text Box 28"/>
            <p:cNvSpPr txBox="1">
              <a:spLocks noChangeArrowheads="1"/>
            </p:cNvSpPr>
            <p:nvPr/>
          </p:nvSpPr>
          <p:spPr bwMode="auto">
            <a:xfrm>
              <a:off x="1272" y="163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58400" name="Text Box 32"/>
            <p:cNvSpPr txBox="1">
              <a:spLocks noChangeArrowheads="1"/>
            </p:cNvSpPr>
            <p:nvPr/>
          </p:nvSpPr>
          <p:spPr bwMode="auto">
            <a:xfrm>
              <a:off x="2412" y="105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58401" name="Text Box 33"/>
            <p:cNvSpPr txBox="1">
              <a:spLocks noChangeArrowheads="1"/>
            </p:cNvSpPr>
            <p:nvPr/>
          </p:nvSpPr>
          <p:spPr bwMode="auto">
            <a:xfrm>
              <a:off x="2168" y="133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58402" name="Text Box 34"/>
            <p:cNvSpPr txBox="1">
              <a:spLocks noChangeArrowheads="1"/>
            </p:cNvSpPr>
            <p:nvPr/>
          </p:nvSpPr>
          <p:spPr bwMode="auto">
            <a:xfrm>
              <a:off x="1980" y="60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58403" name="Text Box 35"/>
            <p:cNvSpPr txBox="1">
              <a:spLocks noChangeArrowheads="1"/>
            </p:cNvSpPr>
            <p:nvPr/>
          </p:nvSpPr>
          <p:spPr bwMode="auto">
            <a:xfrm>
              <a:off x="1720" y="88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58405" name="Oval 37"/>
            <p:cNvSpPr>
              <a:spLocks noChangeArrowheads="1"/>
            </p:cNvSpPr>
            <p:nvPr/>
          </p:nvSpPr>
          <p:spPr bwMode="auto">
            <a:xfrm>
              <a:off x="1521" y="902"/>
              <a:ext cx="45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6" name="Oval 38"/>
            <p:cNvSpPr>
              <a:spLocks noChangeArrowheads="1"/>
            </p:cNvSpPr>
            <p:nvPr/>
          </p:nvSpPr>
          <p:spPr bwMode="auto">
            <a:xfrm>
              <a:off x="1521" y="1347"/>
              <a:ext cx="45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7" name="Oval 39"/>
            <p:cNvSpPr>
              <a:spLocks noChangeArrowheads="1"/>
            </p:cNvSpPr>
            <p:nvPr/>
          </p:nvSpPr>
          <p:spPr bwMode="auto">
            <a:xfrm>
              <a:off x="1522" y="1780"/>
              <a:ext cx="45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8" name="Oval 40"/>
            <p:cNvSpPr>
              <a:spLocks noChangeArrowheads="1"/>
            </p:cNvSpPr>
            <p:nvPr/>
          </p:nvSpPr>
          <p:spPr bwMode="auto">
            <a:xfrm>
              <a:off x="2312" y="1234"/>
              <a:ext cx="272" cy="277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</a:rPr>
                <a:t>W</a:t>
              </a:r>
              <a:r>
                <a:rPr lang="en-US" altLang="zh-CN" sz="2000" baseline="-25000">
                  <a:solidFill>
                    <a:schemeClr val="tx1"/>
                  </a:solidFill>
                </a:rPr>
                <a:t>2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04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422275" y="554038"/>
            <a:ext cx="3468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</a:rPr>
              <a:t>证明</a:t>
            </a:r>
            <a:r>
              <a:rPr lang="zh-CN" altLang="en-US">
                <a:solidFill>
                  <a:schemeClr val="tx1"/>
                </a:solidFill>
              </a:rPr>
              <a:t>：（设负载为</a:t>
            </a:r>
            <a:r>
              <a:rPr lang="en-US" altLang="zh-CN">
                <a:solidFill>
                  <a:schemeClr val="tx1"/>
                </a:solidFill>
              </a:rPr>
              <a:t>Y</a:t>
            </a:r>
            <a:r>
              <a:rPr lang="zh-CN" altLang="en-US">
                <a:solidFill>
                  <a:schemeClr val="tx1"/>
                </a:solidFill>
              </a:rPr>
              <a:t>接）</a:t>
            </a:r>
          </a:p>
        </p:txBody>
      </p:sp>
      <p:sp>
        <p:nvSpPr>
          <p:cNvPr id="59424" name="Text Box 32"/>
          <p:cNvSpPr txBox="1">
            <a:spLocks noChangeArrowheads="1"/>
          </p:cNvSpPr>
          <p:nvPr/>
        </p:nvSpPr>
        <p:spPr bwMode="auto">
          <a:xfrm>
            <a:off x="852488" y="5232400"/>
            <a:ext cx="63119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</a:rPr>
              <a:t>两个功率表的读数的代数和就是三相总功率。</a:t>
            </a:r>
          </a:p>
        </p:txBody>
      </p:sp>
      <p:sp>
        <p:nvSpPr>
          <p:cNvPr id="59427" name="Text Box 35"/>
          <p:cNvSpPr txBox="1">
            <a:spLocks noChangeArrowheads="1"/>
          </p:cNvSpPr>
          <p:nvPr/>
        </p:nvSpPr>
        <p:spPr bwMode="auto">
          <a:xfrm>
            <a:off x="852488" y="1104900"/>
            <a:ext cx="3649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>
                <a:solidFill>
                  <a:schemeClr val="tx1"/>
                </a:solidFill>
              </a:rPr>
              <a:t>p=u</a:t>
            </a:r>
            <a:r>
              <a:rPr lang="en-US" altLang="zh-CN" baseline="-25000">
                <a:solidFill>
                  <a:schemeClr val="tx1"/>
                </a:solidFill>
              </a:rPr>
              <a:t>AN 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A </a:t>
            </a:r>
            <a:r>
              <a:rPr lang="en-US" altLang="zh-CN" i="1">
                <a:solidFill>
                  <a:schemeClr val="tx1"/>
                </a:solidFill>
              </a:rPr>
              <a:t>+ u</a:t>
            </a:r>
            <a:r>
              <a:rPr lang="en-US" altLang="zh-CN" baseline="-25000">
                <a:solidFill>
                  <a:schemeClr val="tx1"/>
                </a:solidFill>
              </a:rPr>
              <a:t>BN 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B</a:t>
            </a:r>
            <a:r>
              <a:rPr lang="en-US" altLang="zh-CN" i="1">
                <a:solidFill>
                  <a:schemeClr val="tx1"/>
                </a:solidFill>
              </a:rPr>
              <a:t>+ u</a:t>
            </a:r>
            <a:r>
              <a:rPr lang="en-US" altLang="zh-CN" baseline="-25000">
                <a:solidFill>
                  <a:schemeClr val="tx1"/>
                </a:solidFill>
              </a:rPr>
              <a:t>CN 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C</a:t>
            </a:r>
            <a:r>
              <a:rPr lang="en-US" altLang="zh-CN" i="1">
                <a:solidFill>
                  <a:schemeClr val="tx1"/>
                </a:solidFill>
              </a:rPr>
              <a:t> </a:t>
            </a:r>
            <a:endParaRPr lang="en-US" altLang="zh-CN" i="1" baseline="-25000">
              <a:solidFill>
                <a:schemeClr val="tx1"/>
              </a:solidFill>
            </a:endParaRPr>
          </a:p>
        </p:txBody>
      </p:sp>
      <p:sp>
        <p:nvSpPr>
          <p:cNvPr id="59428" name="Text Box 36"/>
          <p:cNvSpPr txBox="1">
            <a:spLocks noChangeArrowheads="1"/>
          </p:cNvSpPr>
          <p:nvPr/>
        </p:nvSpPr>
        <p:spPr bwMode="auto">
          <a:xfrm>
            <a:off x="852488" y="1619250"/>
            <a:ext cx="3262312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i="1"/>
              <a:t>i</a:t>
            </a:r>
            <a:r>
              <a:rPr lang="en-US" altLang="zh-CN" baseline="-25000"/>
              <a:t>A </a:t>
            </a:r>
            <a:r>
              <a:rPr lang="en-US" altLang="zh-CN" i="1"/>
              <a:t>+</a:t>
            </a:r>
            <a:r>
              <a:rPr lang="en-US" altLang="zh-CN" baseline="-25000"/>
              <a:t> </a:t>
            </a:r>
            <a:r>
              <a:rPr lang="en-US" altLang="zh-CN" i="1"/>
              <a:t>i</a:t>
            </a:r>
            <a:r>
              <a:rPr lang="en-US" altLang="zh-CN" baseline="-25000"/>
              <a:t>B</a:t>
            </a:r>
            <a:r>
              <a:rPr lang="en-US" altLang="zh-CN" i="1"/>
              <a:t>+</a:t>
            </a:r>
            <a:r>
              <a:rPr lang="en-US" altLang="zh-CN" baseline="-25000"/>
              <a:t> </a:t>
            </a:r>
            <a:r>
              <a:rPr lang="en-US" altLang="zh-CN" i="1"/>
              <a:t>i</a:t>
            </a:r>
            <a:r>
              <a:rPr lang="en-US" altLang="zh-CN" baseline="-25000"/>
              <a:t>C</a:t>
            </a:r>
            <a:r>
              <a:rPr lang="en-US" altLang="zh-CN"/>
              <a:t>=0     (KCL)</a:t>
            </a:r>
            <a:r>
              <a:rPr lang="en-US" altLang="zh-CN" i="1"/>
              <a:t> </a:t>
            </a:r>
          </a:p>
          <a:p>
            <a:pPr>
              <a:lnSpc>
                <a:spcPct val="115000"/>
              </a:lnSpc>
            </a:pPr>
            <a:r>
              <a:rPr lang="en-US" altLang="zh-CN" i="1"/>
              <a:t>i</a:t>
            </a:r>
            <a:r>
              <a:rPr lang="en-US" altLang="zh-CN" baseline="-25000"/>
              <a:t>C</a:t>
            </a:r>
            <a:r>
              <a:rPr lang="en-US" altLang="zh-CN"/>
              <a:t>= –(</a:t>
            </a:r>
            <a:r>
              <a:rPr lang="en-US" altLang="zh-CN" i="1"/>
              <a:t>i</a:t>
            </a:r>
            <a:r>
              <a:rPr lang="en-US" altLang="zh-CN" baseline="-25000"/>
              <a:t>A </a:t>
            </a:r>
            <a:r>
              <a:rPr lang="en-US" altLang="zh-CN" i="1"/>
              <a:t>+</a:t>
            </a:r>
            <a:r>
              <a:rPr lang="en-US" altLang="zh-CN" baseline="-25000"/>
              <a:t> </a:t>
            </a:r>
            <a:r>
              <a:rPr lang="en-US" altLang="zh-CN" i="1"/>
              <a:t>i</a:t>
            </a:r>
            <a:r>
              <a:rPr lang="en-US" altLang="zh-CN" baseline="-25000"/>
              <a:t>B</a:t>
            </a:r>
            <a:r>
              <a:rPr lang="en-US" altLang="zh-CN"/>
              <a:t>)</a:t>
            </a:r>
            <a:r>
              <a:rPr lang="en-US" altLang="zh-CN" baseline="-25000"/>
              <a:t> </a:t>
            </a:r>
          </a:p>
        </p:txBody>
      </p:sp>
      <p:sp>
        <p:nvSpPr>
          <p:cNvPr id="59429" name="Text Box 37"/>
          <p:cNvSpPr txBox="1">
            <a:spLocks noChangeArrowheads="1"/>
          </p:cNvSpPr>
          <p:nvPr/>
        </p:nvSpPr>
        <p:spPr bwMode="auto">
          <a:xfrm>
            <a:off x="852488" y="2470150"/>
            <a:ext cx="465296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i="1">
                <a:solidFill>
                  <a:schemeClr val="tx1"/>
                </a:solidFill>
              </a:rPr>
              <a:t>p= 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en-US" altLang="zh-CN" i="1">
                <a:solidFill>
                  <a:schemeClr val="tx1"/>
                </a:solidFill>
              </a:rPr>
              <a:t>u</a:t>
            </a:r>
            <a:r>
              <a:rPr lang="en-US" altLang="zh-CN" baseline="-25000">
                <a:solidFill>
                  <a:schemeClr val="tx1"/>
                </a:solidFill>
              </a:rPr>
              <a:t>AN </a:t>
            </a:r>
            <a:r>
              <a:rPr lang="en-US" altLang="zh-CN">
                <a:solidFill>
                  <a:schemeClr val="tx1"/>
                </a:solidFill>
              </a:rPr>
              <a:t>–</a:t>
            </a:r>
            <a:r>
              <a:rPr lang="en-US" altLang="zh-CN" baseline="-25000">
                <a:solidFill>
                  <a:schemeClr val="tx1"/>
                </a:solidFill>
              </a:rPr>
              <a:t> </a:t>
            </a:r>
            <a:r>
              <a:rPr lang="en-US" altLang="zh-CN" i="1">
                <a:solidFill>
                  <a:schemeClr val="tx1"/>
                </a:solidFill>
              </a:rPr>
              <a:t> u</a:t>
            </a:r>
            <a:r>
              <a:rPr lang="en-US" altLang="zh-CN" baseline="-25000">
                <a:solidFill>
                  <a:schemeClr val="tx1"/>
                </a:solidFill>
              </a:rPr>
              <a:t>CN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A </a:t>
            </a:r>
            <a:r>
              <a:rPr lang="en-US" altLang="zh-CN" i="1">
                <a:solidFill>
                  <a:schemeClr val="tx1"/>
                </a:solidFill>
              </a:rPr>
              <a:t>+ 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en-US" altLang="zh-CN" i="1">
                <a:solidFill>
                  <a:schemeClr val="tx1"/>
                </a:solidFill>
              </a:rPr>
              <a:t>u</a:t>
            </a:r>
            <a:r>
              <a:rPr lang="en-US" altLang="zh-CN" baseline="-25000">
                <a:solidFill>
                  <a:schemeClr val="tx1"/>
                </a:solidFill>
              </a:rPr>
              <a:t>BN </a:t>
            </a:r>
            <a:r>
              <a:rPr lang="en-US" altLang="zh-CN">
                <a:solidFill>
                  <a:schemeClr val="tx1"/>
                </a:solidFill>
              </a:rPr>
              <a:t>–</a:t>
            </a:r>
            <a:r>
              <a:rPr lang="en-US" altLang="zh-CN" baseline="-25000">
                <a:solidFill>
                  <a:schemeClr val="tx1"/>
                </a:solidFill>
              </a:rPr>
              <a:t> </a:t>
            </a:r>
            <a:r>
              <a:rPr lang="en-US" altLang="zh-CN" i="1">
                <a:solidFill>
                  <a:schemeClr val="tx1"/>
                </a:solidFill>
              </a:rPr>
              <a:t> u</a:t>
            </a:r>
            <a:r>
              <a:rPr lang="en-US" altLang="zh-CN" baseline="-25000">
                <a:solidFill>
                  <a:schemeClr val="tx1"/>
                </a:solidFill>
              </a:rPr>
              <a:t>CN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en-US" altLang="zh-CN" baseline="-25000">
                <a:solidFill>
                  <a:schemeClr val="tx1"/>
                </a:solidFill>
              </a:rPr>
              <a:t> 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B</a:t>
            </a:r>
            <a:r>
              <a:rPr lang="en-US" altLang="zh-CN" i="1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i="1">
                <a:solidFill>
                  <a:schemeClr val="tx1"/>
                </a:solidFill>
              </a:rPr>
              <a:t>  </a:t>
            </a:r>
            <a:r>
              <a:rPr lang="en-US" altLang="zh-CN">
                <a:solidFill>
                  <a:schemeClr val="tx1"/>
                </a:solidFill>
              </a:rPr>
              <a:t>= </a:t>
            </a:r>
            <a:r>
              <a:rPr lang="en-US" altLang="zh-CN" i="1">
                <a:solidFill>
                  <a:schemeClr val="tx1"/>
                </a:solidFill>
              </a:rPr>
              <a:t>u</a:t>
            </a:r>
            <a:r>
              <a:rPr lang="en-US" altLang="zh-CN" baseline="-25000">
                <a:solidFill>
                  <a:schemeClr val="tx1"/>
                </a:solidFill>
              </a:rPr>
              <a:t>AC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A </a:t>
            </a:r>
            <a:r>
              <a:rPr lang="en-US" altLang="zh-CN" i="1">
                <a:solidFill>
                  <a:schemeClr val="tx1"/>
                </a:solidFill>
              </a:rPr>
              <a:t>+u</a:t>
            </a:r>
            <a:r>
              <a:rPr lang="en-US" altLang="zh-CN" baseline="-25000">
                <a:solidFill>
                  <a:schemeClr val="tx1"/>
                </a:solidFill>
              </a:rPr>
              <a:t>BC 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B</a:t>
            </a:r>
            <a:r>
              <a:rPr lang="en-US" altLang="zh-CN" i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9430" name="Text Box 38"/>
          <p:cNvSpPr txBox="1">
            <a:spLocks noChangeArrowheads="1"/>
          </p:cNvSpPr>
          <p:nvPr/>
        </p:nvSpPr>
        <p:spPr bwMode="auto">
          <a:xfrm>
            <a:off x="852488" y="3981450"/>
            <a:ext cx="443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tx1"/>
                </a:solidFill>
              </a:rPr>
              <a:t>P</a:t>
            </a:r>
            <a:r>
              <a:rPr lang="en-US" altLang="zh-CN">
                <a:solidFill>
                  <a:schemeClr val="tx1"/>
                </a:solidFill>
              </a:rPr>
              <a:t>=</a:t>
            </a:r>
            <a:r>
              <a:rPr lang="en-US" altLang="zh-CN" i="1">
                <a:solidFill>
                  <a:schemeClr val="tx1"/>
                </a:solidFill>
              </a:rPr>
              <a:t>U</a:t>
            </a:r>
            <a:r>
              <a:rPr lang="en-US" altLang="zh-CN" baseline="-25000">
                <a:solidFill>
                  <a:schemeClr val="tx1"/>
                </a:solidFill>
              </a:rPr>
              <a:t>AC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A</a:t>
            </a:r>
            <a:r>
              <a:rPr lang="en-US" altLang="zh-CN">
                <a:solidFill>
                  <a:schemeClr val="tx1"/>
                </a:solidFill>
              </a:rPr>
              <a:t>cos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 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 + </a:t>
            </a:r>
            <a:r>
              <a:rPr lang="en-US" altLang="zh-CN" i="1">
                <a:solidFill>
                  <a:schemeClr val="tx1"/>
                </a:solidFill>
              </a:rPr>
              <a:t>U</a:t>
            </a:r>
            <a:r>
              <a:rPr lang="en-US" altLang="zh-CN" baseline="-25000">
                <a:solidFill>
                  <a:schemeClr val="tx1"/>
                </a:solidFill>
              </a:rPr>
              <a:t>BC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B</a:t>
            </a:r>
            <a:r>
              <a:rPr lang="en-US" altLang="zh-CN">
                <a:solidFill>
                  <a:schemeClr val="tx1"/>
                </a:solidFill>
              </a:rPr>
              <a:t>cos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 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</a:p>
        </p:txBody>
      </p:sp>
      <p:grpSp>
        <p:nvGrpSpPr>
          <p:cNvPr id="59440" name="Group 48"/>
          <p:cNvGrpSpPr>
            <a:grpSpLocks/>
          </p:cNvGrpSpPr>
          <p:nvPr/>
        </p:nvGrpSpPr>
        <p:grpSpPr bwMode="auto">
          <a:xfrm>
            <a:off x="5443538" y="577850"/>
            <a:ext cx="3132137" cy="2443163"/>
            <a:chOff x="3603" y="474"/>
            <a:chExt cx="1973" cy="1539"/>
          </a:xfrm>
        </p:grpSpPr>
        <p:sp>
          <p:nvSpPr>
            <p:cNvPr id="59415" name="Text Box 23"/>
            <p:cNvSpPr txBox="1">
              <a:spLocks noChangeArrowheads="1"/>
            </p:cNvSpPr>
            <p:nvPr/>
          </p:nvSpPr>
          <p:spPr bwMode="auto">
            <a:xfrm>
              <a:off x="3713" y="474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</a:rPr>
                <a:t>A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59396" name="Line 4"/>
            <p:cNvSpPr>
              <a:spLocks noChangeShapeType="1"/>
            </p:cNvSpPr>
            <p:nvPr/>
          </p:nvSpPr>
          <p:spPr bwMode="auto">
            <a:xfrm>
              <a:off x="4728" y="827"/>
              <a:ext cx="0" cy="5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9397" name="AutoShape 5"/>
            <p:cNvCxnSpPr>
              <a:cxnSpLocks noChangeShapeType="1"/>
              <a:endCxn id="59396" idx="1"/>
            </p:cNvCxnSpPr>
            <p:nvPr/>
          </p:nvCxnSpPr>
          <p:spPr bwMode="auto">
            <a:xfrm flipH="1" flipV="1">
              <a:off x="4728" y="1383"/>
              <a:ext cx="624" cy="29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398" name="AutoShape 6"/>
            <p:cNvCxnSpPr>
              <a:cxnSpLocks noChangeShapeType="1"/>
              <a:endCxn id="59396" idx="1"/>
            </p:cNvCxnSpPr>
            <p:nvPr/>
          </p:nvCxnSpPr>
          <p:spPr bwMode="auto">
            <a:xfrm flipV="1">
              <a:off x="4104" y="1383"/>
              <a:ext cx="624" cy="2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9399" name="Rectangle 7"/>
            <p:cNvSpPr>
              <a:spLocks noChangeArrowheads="1"/>
            </p:cNvSpPr>
            <p:nvPr/>
          </p:nvSpPr>
          <p:spPr bwMode="auto">
            <a:xfrm rot="-6824727">
              <a:off x="4372" y="1370"/>
              <a:ext cx="112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00" name="Rectangle 8"/>
            <p:cNvSpPr>
              <a:spLocks noChangeArrowheads="1"/>
            </p:cNvSpPr>
            <p:nvPr/>
          </p:nvSpPr>
          <p:spPr bwMode="auto">
            <a:xfrm rot="-10800000">
              <a:off x="4668" y="951"/>
              <a:ext cx="120" cy="269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01" name="Rectangle 9"/>
            <p:cNvSpPr>
              <a:spLocks noChangeArrowheads="1"/>
            </p:cNvSpPr>
            <p:nvPr/>
          </p:nvSpPr>
          <p:spPr bwMode="auto">
            <a:xfrm rot="-14522146">
              <a:off x="4996" y="1378"/>
              <a:ext cx="112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02" name="Line 10"/>
            <p:cNvSpPr>
              <a:spLocks noChangeShapeType="1"/>
            </p:cNvSpPr>
            <p:nvPr/>
          </p:nvSpPr>
          <p:spPr bwMode="auto">
            <a:xfrm flipH="1" flipV="1">
              <a:off x="3651" y="827"/>
              <a:ext cx="1077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3" name="Line 11"/>
            <p:cNvSpPr>
              <a:spLocks noChangeShapeType="1"/>
            </p:cNvSpPr>
            <p:nvPr/>
          </p:nvSpPr>
          <p:spPr bwMode="auto">
            <a:xfrm flipH="1">
              <a:off x="3678" y="166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4" name="Line 12"/>
            <p:cNvSpPr>
              <a:spLocks noChangeShapeType="1"/>
            </p:cNvSpPr>
            <p:nvPr/>
          </p:nvSpPr>
          <p:spPr bwMode="auto">
            <a:xfrm>
              <a:off x="5352" y="1674"/>
              <a:ext cx="0" cy="3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5" name="Line 13"/>
            <p:cNvSpPr>
              <a:spLocks noChangeShapeType="1"/>
            </p:cNvSpPr>
            <p:nvPr/>
          </p:nvSpPr>
          <p:spPr bwMode="auto">
            <a:xfrm flipH="1">
              <a:off x="3672" y="1999"/>
              <a:ext cx="16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9" name="Text Box 17"/>
            <p:cNvSpPr txBox="1">
              <a:spLocks noChangeArrowheads="1"/>
            </p:cNvSpPr>
            <p:nvPr/>
          </p:nvSpPr>
          <p:spPr bwMode="auto">
            <a:xfrm>
              <a:off x="4611" y="56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9410" name="Text Box 18"/>
            <p:cNvSpPr txBox="1">
              <a:spLocks noChangeArrowheads="1"/>
            </p:cNvSpPr>
            <p:nvPr/>
          </p:nvSpPr>
          <p:spPr bwMode="auto">
            <a:xfrm>
              <a:off x="4026" y="161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59411" name="Text Box 19"/>
            <p:cNvSpPr txBox="1">
              <a:spLocks noChangeArrowheads="1"/>
            </p:cNvSpPr>
            <p:nvPr/>
          </p:nvSpPr>
          <p:spPr bwMode="auto">
            <a:xfrm>
              <a:off x="5332" y="155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9412" name="Line 20"/>
            <p:cNvSpPr>
              <a:spLocks noChangeShapeType="1"/>
            </p:cNvSpPr>
            <p:nvPr/>
          </p:nvSpPr>
          <p:spPr bwMode="auto">
            <a:xfrm>
              <a:off x="3672" y="743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3" name="Line 21"/>
            <p:cNvSpPr>
              <a:spLocks noChangeShapeType="1"/>
            </p:cNvSpPr>
            <p:nvPr/>
          </p:nvSpPr>
          <p:spPr bwMode="auto">
            <a:xfrm>
              <a:off x="3720" y="1601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4" name="Line 22"/>
            <p:cNvSpPr>
              <a:spLocks noChangeShapeType="1"/>
            </p:cNvSpPr>
            <p:nvPr/>
          </p:nvSpPr>
          <p:spPr bwMode="auto">
            <a:xfrm>
              <a:off x="3690" y="1920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6" name="Text Box 24"/>
            <p:cNvSpPr txBox="1">
              <a:spLocks noChangeArrowheads="1"/>
            </p:cNvSpPr>
            <p:nvPr/>
          </p:nvSpPr>
          <p:spPr bwMode="auto">
            <a:xfrm>
              <a:off x="3720" y="1315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</a:rPr>
                <a:t>B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59417" name="Text Box 25"/>
            <p:cNvSpPr txBox="1">
              <a:spLocks noChangeArrowheads="1"/>
            </p:cNvSpPr>
            <p:nvPr/>
          </p:nvSpPr>
          <p:spPr bwMode="auto">
            <a:xfrm>
              <a:off x="3720" y="1640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i</a:t>
              </a:r>
              <a:r>
                <a:rPr lang="en-US" altLang="zh-CN" baseline="-25000">
                  <a:solidFill>
                    <a:schemeClr val="tx1"/>
                  </a:solidFill>
                </a:rPr>
                <a:t>C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59418" name="Text Box 26"/>
            <p:cNvSpPr txBox="1">
              <a:spLocks noChangeArrowheads="1"/>
            </p:cNvSpPr>
            <p:nvPr/>
          </p:nvSpPr>
          <p:spPr bwMode="auto">
            <a:xfrm>
              <a:off x="4740" y="1186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N</a:t>
              </a:r>
            </a:p>
          </p:txBody>
        </p:sp>
        <p:sp>
          <p:nvSpPr>
            <p:cNvPr id="59431" name="Oval 39"/>
            <p:cNvSpPr>
              <a:spLocks noChangeArrowheads="1"/>
            </p:cNvSpPr>
            <p:nvPr/>
          </p:nvSpPr>
          <p:spPr bwMode="auto">
            <a:xfrm>
              <a:off x="3624" y="1971"/>
              <a:ext cx="45" cy="4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2" name="Oval 40"/>
            <p:cNvSpPr>
              <a:spLocks noChangeArrowheads="1"/>
            </p:cNvSpPr>
            <p:nvPr/>
          </p:nvSpPr>
          <p:spPr bwMode="auto">
            <a:xfrm>
              <a:off x="3627" y="1643"/>
              <a:ext cx="45" cy="4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3" name="Oval 41"/>
            <p:cNvSpPr>
              <a:spLocks noChangeArrowheads="1"/>
            </p:cNvSpPr>
            <p:nvPr/>
          </p:nvSpPr>
          <p:spPr bwMode="auto">
            <a:xfrm>
              <a:off x="3603" y="805"/>
              <a:ext cx="45" cy="4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9435" name="Text Box 43"/>
          <p:cNvSpPr txBox="1">
            <a:spLocks noChangeArrowheads="1"/>
          </p:cNvSpPr>
          <p:nvPr/>
        </p:nvSpPr>
        <p:spPr bwMode="auto">
          <a:xfrm>
            <a:off x="852488" y="4552950"/>
            <a:ext cx="6813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 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:  </a:t>
            </a:r>
            <a:r>
              <a:rPr lang="en-US" altLang="zh-CN" i="1">
                <a:solidFill>
                  <a:schemeClr val="tx1"/>
                </a:solidFill>
              </a:rPr>
              <a:t>u</a:t>
            </a:r>
            <a:r>
              <a:rPr lang="en-US" altLang="zh-CN" baseline="-25000">
                <a:solidFill>
                  <a:schemeClr val="tx1"/>
                </a:solidFill>
              </a:rPr>
              <a:t>AC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与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的相位差， </a:t>
            </a:r>
            <a:r>
              <a:rPr lang="zh-CN" altLang="en-US" i="1">
                <a:solidFill>
                  <a:schemeClr val="tx1"/>
                </a:solidFill>
                <a:sym typeface="Symbol" panose="05050102010706020507" pitchFamily="18" charset="2"/>
              </a:rPr>
              <a:t> 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:  </a:t>
            </a:r>
            <a:r>
              <a:rPr lang="en-US" altLang="zh-CN" i="1">
                <a:solidFill>
                  <a:schemeClr val="tx1"/>
                </a:solidFill>
              </a:rPr>
              <a:t>u</a:t>
            </a:r>
            <a:r>
              <a:rPr lang="en-US" altLang="zh-CN" baseline="-25000">
                <a:solidFill>
                  <a:schemeClr val="tx1"/>
                </a:solidFill>
              </a:rPr>
              <a:t>BC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与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的相位差。 </a:t>
            </a:r>
            <a:r>
              <a:rPr lang="zh-CN" altLang="en-US" i="1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24" grpId="0" autoUpdateAnimBg="0"/>
      <p:bldP spid="59427" grpId="0" autoUpdateAnimBg="0"/>
      <p:bldP spid="59428" grpId="0" autoUpdateAnimBg="0"/>
      <p:bldP spid="59429" grpId="0" autoUpdateAnimBg="0"/>
      <p:bldP spid="59430" grpId="0" autoUpdateAnimBg="0"/>
      <p:bldP spid="59435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665163" y="671513"/>
            <a:ext cx="80962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57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76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/>
              <a:t>1. </a:t>
            </a:r>
            <a:r>
              <a:rPr lang="zh-CN" altLang="en-US"/>
              <a:t>只有在 </a:t>
            </a:r>
            <a:r>
              <a:rPr lang="en-US" altLang="zh-CN" i="1"/>
              <a:t>i</a:t>
            </a:r>
            <a:r>
              <a:rPr lang="en-US" altLang="zh-CN" baseline="-25000"/>
              <a:t>A</a:t>
            </a:r>
            <a:r>
              <a:rPr lang="en-US" altLang="zh-CN"/>
              <a:t>+</a:t>
            </a:r>
            <a:r>
              <a:rPr lang="en-US" altLang="zh-CN" i="1"/>
              <a:t>i</a:t>
            </a:r>
            <a:r>
              <a:rPr lang="en-US" altLang="zh-CN" baseline="-25000"/>
              <a:t>B</a:t>
            </a:r>
            <a:r>
              <a:rPr lang="en-US" altLang="zh-CN"/>
              <a:t>+</a:t>
            </a:r>
            <a:r>
              <a:rPr lang="en-US" altLang="zh-CN" i="1"/>
              <a:t>i</a:t>
            </a:r>
            <a:r>
              <a:rPr lang="en-US" altLang="zh-CN" baseline="-25000"/>
              <a:t>C</a:t>
            </a:r>
            <a:r>
              <a:rPr lang="en-US" altLang="zh-CN"/>
              <a:t>=0 </a:t>
            </a:r>
            <a:r>
              <a:rPr lang="zh-CN" altLang="en-US"/>
              <a:t>这个条件下，才能用二表法</a:t>
            </a:r>
            <a:r>
              <a:rPr lang="zh-CN" altLang="en-US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417513" y="290513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</a:rPr>
              <a:t>注意：</a:t>
            </a:r>
          </a:p>
        </p:txBody>
      </p:sp>
      <p:sp>
        <p:nvSpPr>
          <p:cNvPr id="56328" name="Rectangle 8"/>
          <p:cNvSpPr>
            <a:spLocks noChangeArrowheads="1"/>
          </p:cNvSpPr>
          <p:nvPr/>
        </p:nvSpPr>
        <p:spPr bwMode="auto">
          <a:xfrm>
            <a:off x="665163" y="1328738"/>
            <a:ext cx="80962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/>
              <a:t>2. </a:t>
            </a:r>
            <a:r>
              <a:rPr lang="zh-CN" altLang="en-US"/>
              <a:t>两块表读数的代数和为三相总功率，每块表的单独读数无意义。</a:t>
            </a:r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665163" y="2108200"/>
            <a:ext cx="809625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57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76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/>
              <a:t>3.  </a:t>
            </a:r>
            <a:r>
              <a:rPr lang="zh-CN" altLang="en-US"/>
              <a:t>两表法测三相功率的接线方式有三种，注意功率表的极</a:t>
            </a:r>
          </a:p>
          <a:p>
            <a:pPr algn="just">
              <a:lnSpc>
                <a:spcPct val="120000"/>
              </a:lnSpc>
            </a:pPr>
            <a:r>
              <a:rPr lang="zh-CN" altLang="en-US"/>
              <a:t>     性端的正确接法。</a:t>
            </a:r>
          </a:p>
        </p:txBody>
      </p:sp>
      <p:grpSp>
        <p:nvGrpSpPr>
          <p:cNvPr id="56418" name="Group 98"/>
          <p:cNvGrpSpPr>
            <a:grpSpLocks/>
          </p:cNvGrpSpPr>
          <p:nvPr/>
        </p:nvGrpSpPr>
        <p:grpSpPr bwMode="auto">
          <a:xfrm>
            <a:off x="608013" y="2941638"/>
            <a:ext cx="2568575" cy="2166937"/>
            <a:chOff x="383" y="1853"/>
            <a:chExt cx="1618" cy="1365"/>
          </a:xfrm>
        </p:grpSpPr>
        <p:grpSp>
          <p:nvGrpSpPr>
            <p:cNvPr id="56411" name="Group 91"/>
            <p:cNvGrpSpPr>
              <a:grpSpLocks/>
            </p:cNvGrpSpPr>
            <p:nvPr/>
          </p:nvGrpSpPr>
          <p:grpSpPr bwMode="auto">
            <a:xfrm>
              <a:off x="383" y="1853"/>
              <a:ext cx="1618" cy="1169"/>
              <a:chOff x="383" y="2273"/>
              <a:chExt cx="1618" cy="1169"/>
            </a:xfrm>
          </p:grpSpPr>
          <p:sp>
            <p:nvSpPr>
              <p:cNvPr id="56332" name="Line 12"/>
              <p:cNvSpPr>
                <a:spLocks noChangeShapeType="1"/>
              </p:cNvSpPr>
              <p:nvPr/>
            </p:nvSpPr>
            <p:spPr bwMode="auto">
              <a:xfrm>
                <a:off x="624" y="2547"/>
                <a:ext cx="13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33" name="Line 13"/>
              <p:cNvSpPr>
                <a:spLocks noChangeShapeType="1"/>
              </p:cNvSpPr>
              <p:nvPr/>
            </p:nvSpPr>
            <p:spPr bwMode="auto">
              <a:xfrm>
                <a:off x="624" y="2923"/>
                <a:ext cx="13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34" name="Line 14"/>
              <p:cNvSpPr>
                <a:spLocks noChangeShapeType="1"/>
              </p:cNvSpPr>
              <p:nvPr/>
            </p:nvSpPr>
            <p:spPr bwMode="auto">
              <a:xfrm>
                <a:off x="624" y="3298"/>
                <a:ext cx="13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35" name="Line 15"/>
              <p:cNvSpPr>
                <a:spLocks noChangeShapeType="1"/>
              </p:cNvSpPr>
              <p:nvPr/>
            </p:nvSpPr>
            <p:spPr bwMode="auto">
              <a:xfrm>
                <a:off x="1373" y="2719"/>
                <a:ext cx="0" cy="57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36" name="Line 16"/>
              <p:cNvSpPr>
                <a:spLocks noChangeShapeType="1"/>
              </p:cNvSpPr>
              <p:nvPr/>
            </p:nvSpPr>
            <p:spPr bwMode="auto">
              <a:xfrm>
                <a:off x="1009" y="2338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37" name="Line 17"/>
              <p:cNvSpPr>
                <a:spLocks noChangeShapeType="1"/>
              </p:cNvSpPr>
              <p:nvPr/>
            </p:nvSpPr>
            <p:spPr bwMode="auto">
              <a:xfrm flipV="1">
                <a:off x="1176" y="2719"/>
                <a:ext cx="0" cy="2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56338" name="AutoShape 18"/>
              <p:cNvCxnSpPr>
                <a:cxnSpLocks noChangeShapeType="1"/>
              </p:cNvCxnSpPr>
              <p:nvPr/>
            </p:nvCxnSpPr>
            <p:spPr bwMode="auto">
              <a:xfrm>
                <a:off x="1176" y="2719"/>
                <a:ext cx="197" cy="1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6339" name="Line 19"/>
              <p:cNvSpPr>
                <a:spLocks noChangeShapeType="1"/>
              </p:cNvSpPr>
              <p:nvPr/>
            </p:nvSpPr>
            <p:spPr bwMode="auto">
              <a:xfrm flipV="1">
                <a:off x="812" y="2338"/>
                <a:ext cx="0" cy="2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56340" name="AutoShape 20"/>
              <p:cNvCxnSpPr>
                <a:cxnSpLocks noChangeShapeType="1"/>
              </p:cNvCxnSpPr>
              <p:nvPr/>
            </p:nvCxnSpPr>
            <p:spPr bwMode="auto">
              <a:xfrm>
                <a:off x="812" y="2338"/>
                <a:ext cx="197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6341" name="Oval 21"/>
              <p:cNvSpPr>
                <a:spLocks noChangeArrowheads="1"/>
              </p:cNvSpPr>
              <p:nvPr/>
            </p:nvSpPr>
            <p:spPr bwMode="auto">
              <a:xfrm>
                <a:off x="899" y="2432"/>
                <a:ext cx="230" cy="237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>
                    <a:solidFill>
                      <a:schemeClr val="tx1"/>
                    </a:solidFill>
                  </a:rPr>
                  <a:t>W</a:t>
                </a:r>
                <a:r>
                  <a:rPr lang="en-US" altLang="zh-CN" sz="2000" baseline="-25000">
                    <a:solidFill>
                      <a:schemeClr val="tx1"/>
                    </a:solidFill>
                  </a:rPr>
                  <a:t>1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56342" name="Text Box 22"/>
              <p:cNvSpPr txBox="1">
                <a:spLocks noChangeArrowheads="1"/>
              </p:cNvSpPr>
              <p:nvPr/>
            </p:nvSpPr>
            <p:spPr bwMode="auto">
              <a:xfrm>
                <a:off x="394" y="2408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56343" name="Text Box 23"/>
              <p:cNvSpPr txBox="1">
                <a:spLocks noChangeArrowheads="1"/>
              </p:cNvSpPr>
              <p:nvPr/>
            </p:nvSpPr>
            <p:spPr bwMode="auto">
              <a:xfrm>
                <a:off x="403" y="2799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56344" name="Text Box 24"/>
              <p:cNvSpPr txBox="1">
                <a:spLocks noChangeArrowheads="1"/>
              </p:cNvSpPr>
              <p:nvPr/>
            </p:nvSpPr>
            <p:spPr bwMode="auto">
              <a:xfrm>
                <a:off x="383" y="315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56345" name="Text Box 25"/>
              <p:cNvSpPr txBox="1">
                <a:spLocks noChangeArrowheads="1"/>
              </p:cNvSpPr>
              <p:nvPr/>
            </p:nvSpPr>
            <p:spPr bwMode="auto">
              <a:xfrm>
                <a:off x="1345" y="265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46" name="Text Box 26"/>
              <p:cNvSpPr txBox="1">
                <a:spLocks noChangeArrowheads="1"/>
              </p:cNvSpPr>
              <p:nvPr/>
            </p:nvSpPr>
            <p:spPr bwMode="auto">
              <a:xfrm>
                <a:off x="1139" y="289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47" name="Text Box 27"/>
              <p:cNvSpPr txBox="1">
                <a:spLocks noChangeArrowheads="1"/>
              </p:cNvSpPr>
              <p:nvPr/>
            </p:nvSpPr>
            <p:spPr bwMode="auto">
              <a:xfrm>
                <a:off x="980" y="2273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48" name="Text Box 28"/>
              <p:cNvSpPr txBox="1">
                <a:spLocks noChangeArrowheads="1"/>
              </p:cNvSpPr>
              <p:nvPr/>
            </p:nvSpPr>
            <p:spPr bwMode="auto">
              <a:xfrm>
                <a:off x="761" y="2505"/>
                <a:ext cx="17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49" name="Oval 29"/>
              <p:cNvSpPr>
                <a:spLocks noChangeArrowheads="1"/>
              </p:cNvSpPr>
              <p:nvPr/>
            </p:nvSpPr>
            <p:spPr bwMode="auto">
              <a:xfrm>
                <a:off x="593" y="2524"/>
                <a:ext cx="38" cy="3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50" name="Oval 30"/>
              <p:cNvSpPr>
                <a:spLocks noChangeArrowheads="1"/>
              </p:cNvSpPr>
              <p:nvPr/>
            </p:nvSpPr>
            <p:spPr bwMode="auto">
              <a:xfrm>
                <a:off x="593" y="2904"/>
                <a:ext cx="38" cy="3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51" name="Oval 31"/>
              <p:cNvSpPr>
                <a:spLocks noChangeArrowheads="1"/>
              </p:cNvSpPr>
              <p:nvPr/>
            </p:nvSpPr>
            <p:spPr bwMode="auto">
              <a:xfrm>
                <a:off x="594" y="3274"/>
                <a:ext cx="38" cy="4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52" name="Oval 32"/>
              <p:cNvSpPr>
                <a:spLocks noChangeArrowheads="1"/>
              </p:cNvSpPr>
              <p:nvPr/>
            </p:nvSpPr>
            <p:spPr bwMode="auto">
              <a:xfrm>
                <a:off x="1260" y="2807"/>
                <a:ext cx="230" cy="237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>
                    <a:solidFill>
                      <a:schemeClr val="tx1"/>
                    </a:solidFill>
                  </a:rPr>
                  <a:t>W</a:t>
                </a:r>
                <a:r>
                  <a:rPr lang="en-US" altLang="zh-CN" sz="2000" baseline="-25000">
                    <a:solidFill>
                      <a:schemeClr val="tx1"/>
                    </a:solidFill>
                  </a:rPr>
                  <a:t>2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415" name="Text Box 95"/>
            <p:cNvSpPr txBox="1">
              <a:spLocks noChangeArrowheads="1"/>
            </p:cNvSpPr>
            <p:nvPr/>
          </p:nvSpPr>
          <p:spPr bwMode="auto">
            <a:xfrm>
              <a:off x="938" y="2930"/>
              <a:ext cx="4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共</a:t>
              </a:r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</p:grpSp>
      <p:grpSp>
        <p:nvGrpSpPr>
          <p:cNvPr id="56420" name="Group 100"/>
          <p:cNvGrpSpPr>
            <a:grpSpLocks/>
          </p:cNvGrpSpPr>
          <p:nvPr/>
        </p:nvGrpSpPr>
        <p:grpSpPr bwMode="auto">
          <a:xfrm>
            <a:off x="5964238" y="3025775"/>
            <a:ext cx="2622550" cy="2006600"/>
            <a:chOff x="3757" y="1906"/>
            <a:chExt cx="1652" cy="1264"/>
          </a:xfrm>
        </p:grpSpPr>
        <p:grpSp>
          <p:nvGrpSpPr>
            <p:cNvPr id="56413" name="Group 93"/>
            <p:cNvGrpSpPr>
              <a:grpSpLocks/>
            </p:cNvGrpSpPr>
            <p:nvPr/>
          </p:nvGrpSpPr>
          <p:grpSpPr bwMode="auto">
            <a:xfrm>
              <a:off x="3757" y="1906"/>
              <a:ext cx="1652" cy="1192"/>
              <a:chOff x="3757" y="2326"/>
              <a:chExt cx="1652" cy="1192"/>
            </a:xfrm>
          </p:grpSpPr>
          <p:sp>
            <p:nvSpPr>
              <p:cNvPr id="56377" name="Line 57"/>
              <p:cNvSpPr>
                <a:spLocks noChangeShapeType="1"/>
              </p:cNvSpPr>
              <p:nvPr/>
            </p:nvSpPr>
            <p:spPr bwMode="auto">
              <a:xfrm flipV="1">
                <a:off x="4032" y="3244"/>
                <a:ext cx="13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78" name="Line 58"/>
              <p:cNvSpPr>
                <a:spLocks noChangeShapeType="1"/>
              </p:cNvSpPr>
              <p:nvPr/>
            </p:nvSpPr>
            <p:spPr bwMode="auto">
              <a:xfrm flipV="1">
                <a:off x="4032" y="2868"/>
                <a:ext cx="13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79" name="Line 59"/>
              <p:cNvSpPr>
                <a:spLocks noChangeShapeType="1"/>
              </p:cNvSpPr>
              <p:nvPr/>
            </p:nvSpPr>
            <p:spPr bwMode="auto">
              <a:xfrm flipV="1">
                <a:off x="4032" y="2492"/>
                <a:ext cx="13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80" name="Line 60"/>
              <p:cNvSpPr>
                <a:spLocks noChangeShapeType="1"/>
              </p:cNvSpPr>
              <p:nvPr/>
            </p:nvSpPr>
            <p:spPr bwMode="auto">
              <a:xfrm flipV="1">
                <a:off x="4781" y="2492"/>
                <a:ext cx="0" cy="57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81" name="Line 61"/>
              <p:cNvSpPr>
                <a:spLocks noChangeShapeType="1"/>
              </p:cNvSpPr>
              <p:nvPr/>
            </p:nvSpPr>
            <p:spPr bwMode="auto">
              <a:xfrm flipV="1">
                <a:off x="4417" y="2492"/>
                <a:ext cx="0" cy="9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82" name="Line 62"/>
              <p:cNvSpPr>
                <a:spLocks noChangeShapeType="1"/>
              </p:cNvSpPr>
              <p:nvPr/>
            </p:nvSpPr>
            <p:spPr bwMode="auto">
              <a:xfrm>
                <a:off x="4584" y="2868"/>
                <a:ext cx="0" cy="20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56383" name="AutoShape 63"/>
              <p:cNvCxnSpPr>
                <a:cxnSpLocks noChangeShapeType="1"/>
              </p:cNvCxnSpPr>
              <p:nvPr/>
            </p:nvCxnSpPr>
            <p:spPr bwMode="auto">
              <a:xfrm flipV="1">
                <a:off x="4584" y="3071"/>
                <a:ext cx="197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6384" name="Line 64"/>
              <p:cNvSpPr>
                <a:spLocks noChangeShapeType="1"/>
              </p:cNvSpPr>
              <p:nvPr/>
            </p:nvSpPr>
            <p:spPr bwMode="auto">
              <a:xfrm>
                <a:off x="4220" y="3244"/>
                <a:ext cx="0" cy="2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56385" name="AutoShape 65"/>
              <p:cNvCxnSpPr>
                <a:cxnSpLocks noChangeShapeType="1"/>
              </p:cNvCxnSpPr>
              <p:nvPr/>
            </p:nvCxnSpPr>
            <p:spPr bwMode="auto">
              <a:xfrm flipV="1">
                <a:off x="4220" y="3453"/>
                <a:ext cx="197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6386" name="Oval 66"/>
              <p:cNvSpPr>
                <a:spLocks noChangeArrowheads="1"/>
              </p:cNvSpPr>
              <p:nvPr/>
            </p:nvSpPr>
            <p:spPr bwMode="auto">
              <a:xfrm flipV="1">
                <a:off x="4307" y="3122"/>
                <a:ext cx="230" cy="237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pPr algn="ctr"/>
                <a:endParaRPr lang="zh-CN" altLang="zh-CN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56390" name="Text Box 70"/>
              <p:cNvSpPr txBox="1">
                <a:spLocks noChangeArrowheads="1"/>
              </p:cNvSpPr>
              <p:nvPr/>
            </p:nvSpPr>
            <p:spPr bwMode="auto">
              <a:xfrm flipV="1">
                <a:off x="4753" y="2847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91" name="Text Box 71"/>
              <p:cNvSpPr txBox="1">
                <a:spLocks noChangeArrowheads="1"/>
              </p:cNvSpPr>
              <p:nvPr/>
            </p:nvSpPr>
            <p:spPr bwMode="auto">
              <a:xfrm flipV="1">
                <a:off x="4547" y="2613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92" name="Text Box 72"/>
              <p:cNvSpPr txBox="1">
                <a:spLocks noChangeArrowheads="1"/>
              </p:cNvSpPr>
              <p:nvPr/>
            </p:nvSpPr>
            <p:spPr bwMode="auto">
              <a:xfrm flipV="1">
                <a:off x="4388" y="323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93" name="Text Box 73"/>
              <p:cNvSpPr txBox="1">
                <a:spLocks noChangeArrowheads="1"/>
              </p:cNvSpPr>
              <p:nvPr/>
            </p:nvSpPr>
            <p:spPr bwMode="auto">
              <a:xfrm flipV="1">
                <a:off x="4169" y="2998"/>
                <a:ext cx="17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94" name="Oval 74"/>
              <p:cNvSpPr>
                <a:spLocks noChangeArrowheads="1"/>
              </p:cNvSpPr>
              <p:nvPr/>
            </p:nvSpPr>
            <p:spPr bwMode="auto">
              <a:xfrm flipV="1">
                <a:off x="4001" y="3228"/>
                <a:ext cx="38" cy="3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95" name="Oval 75"/>
              <p:cNvSpPr>
                <a:spLocks noChangeArrowheads="1"/>
              </p:cNvSpPr>
              <p:nvPr/>
            </p:nvSpPr>
            <p:spPr bwMode="auto">
              <a:xfrm flipV="1">
                <a:off x="4001" y="2847"/>
                <a:ext cx="38" cy="4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96" name="Oval 76"/>
              <p:cNvSpPr>
                <a:spLocks noChangeArrowheads="1"/>
              </p:cNvSpPr>
              <p:nvPr/>
            </p:nvSpPr>
            <p:spPr bwMode="auto">
              <a:xfrm flipV="1">
                <a:off x="4002" y="2477"/>
                <a:ext cx="38" cy="3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97" name="Oval 77"/>
              <p:cNvSpPr>
                <a:spLocks noChangeArrowheads="1"/>
              </p:cNvSpPr>
              <p:nvPr/>
            </p:nvSpPr>
            <p:spPr bwMode="auto">
              <a:xfrm flipV="1">
                <a:off x="4668" y="2746"/>
                <a:ext cx="230" cy="237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pPr algn="ctr"/>
                <a:endParaRPr lang="zh-CN" altLang="zh-CN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56403" name="Text Box 83"/>
              <p:cNvSpPr txBox="1">
                <a:spLocks noChangeArrowheads="1"/>
              </p:cNvSpPr>
              <p:nvPr/>
            </p:nvSpPr>
            <p:spPr bwMode="auto">
              <a:xfrm>
                <a:off x="3757" y="2326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56404" name="Text Box 84"/>
              <p:cNvSpPr txBox="1">
                <a:spLocks noChangeArrowheads="1"/>
              </p:cNvSpPr>
              <p:nvPr/>
            </p:nvSpPr>
            <p:spPr bwMode="auto">
              <a:xfrm>
                <a:off x="3757" y="2710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56405" name="Text Box 85"/>
              <p:cNvSpPr txBox="1">
                <a:spLocks noChangeArrowheads="1"/>
              </p:cNvSpPr>
              <p:nvPr/>
            </p:nvSpPr>
            <p:spPr bwMode="auto">
              <a:xfrm>
                <a:off x="3768" y="3122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56406" name="Text Box 86"/>
              <p:cNvSpPr txBox="1">
                <a:spLocks noChangeArrowheads="1"/>
              </p:cNvSpPr>
              <p:nvPr/>
            </p:nvSpPr>
            <p:spPr bwMode="auto">
              <a:xfrm>
                <a:off x="4256" y="3087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W</a:t>
                </a:r>
                <a:r>
                  <a:rPr lang="en-US" altLang="zh-CN" sz="2000" baseline="-25000">
                    <a:solidFill>
                      <a:schemeClr val="tx1"/>
                    </a:solidFill>
                  </a:rPr>
                  <a:t>2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56407" name="Text Box 87"/>
              <p:cNvSpPr txBox="1">
                <a:spLocks noChangeArrowheads="1"/>
              </p:cNvSpPr>
              <p:nvPr/>
            </p:nvSpPr>
            <p:spPr bwMode="auto">
              <a:xfrm>
                <a:off x="4621" y="2719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W</a:t>
                </a:r>
                <a:r>
                  <a:rPr lang="en-US" altLang="zh-CN" sz="2000" baseline="-25000">
                    <a:solidFill>
                      <a:schemeClr val="tx1"/>
                    </a:solidFill>
                  </a:rPr>
                  <a:t>1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416" name="Text Box 96"/>
            <p:cNvSpPr txBox="1">
              <a:spLocks noChangeArrowheads="1"/>
            </p:cNvSpPr>
            <p:nvPr/>
          </p:nvSpPr>
          <p:spPr bwMode="auto">
            <a:xfrm>
              <a:off x="4610" y="2882"/>
              <a:ext cx="4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共</a:t>
              </a:r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56419" name="Group 99"/>
          <p:cNvGrpSpPr>
            <a:grpSpLocks/>
          </p:cNvGrpSpPr>
          <p:nvPr/>
        </p:nvGrpSpPr>
        <p:grpSpPr bwMode="auto">
          <a:xfrm>
            <a:off x="3465513" y="2960688"/>
            <a:ext cx="2187575" cy="2276475"/>
            <a:chOff x="2183" y="1865"/>
            <a:chExt cx="1378" cy="1434"/>
          </a:xfrm>
        </p:grpSpPr>
        <p:grpSp>
          <p:nvGrpSpPr>
            <p:cNvPr id="56412" name="Group 92"/>
            <p:cNvGrpSpPr>
              <a:grpSpLocks/>
            </p:cNvGrpSpPr>
            <p:nvPr/>
          </p:nvGrpSpPr>
          <p:grpSpPr bwMode="auto">
            <a:xfrm>
              <a:off x="2183" y="1865"/>
              <a:ext cx="1378" cy="1434"/>
              <a:chOff x="2183" y="2285"/>
              <a:chExt cx="1378" cy="1434"/>
            </a:xfrm>
          </p:grpSpPr>
          <p:sp>
            <p:nvSpPr>
              <p:cNvPr id="56355" name="Line 35"/>
              <p:cNvSpPr>
                <a:spLocks noChangeShapeType="1"/>
              </p:cNvSpPr>
              <p:nvPr/>
            </p:nvSpPr>
            <p:spPr bwMode="auto">
              <a:xfrm>
                <a:off x="2424" y="2559"/>
                <a:ext cx="112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56" name="Line 36"/>
              <p:cNvSpPr>
                <a:spLocks noChangeShapeType="1"/>
              </p:cNvSpPr>
              <p:nvPr/>
            </p:nvSpPr>
            <p:spPr bwMode="auto">
              <a:xfrm>
                <a:off x="2424" y="2935"/>
                <a:ext cx="11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57" name="Line 37"/>
              <p:cNvSpPr>
                <a:spLocks noChangeShapeType="1"/>
              </p:cNvSpPr>
              <p:nvPr/>
            </p:nvSpPr>
            <p:spPr bwMode="auto">
              <a:xfrm>
                <a:off x="2424" y="3310"/>
                <a:ext cx="11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59" name="Line 39"/>
              <p:cNvSpPr>
                <a:spLocks noChangeShapeType="1"/>
              </p:cNvSpPr>
              <p:nvPr/>
            </p:nvSpPr>
            <p:spPr bwMode="auto">
              <a:xfrm>
                <a:off x="2809" y="2350"/>
                <a:ext cx="0" cy="6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60" name="Line 40"/>
              <p:cNvSpPr>
                <a:spLocks noChangeShapeType="1"/>
              </p:cNvSpPr>
              <p:nvPr/>
            </p:nvSpPr>
            <p:spPr bwMode="auto">
              <a:xfrm>
                <a:off x="2616" y="3295"/>
                <a:ext cx="0" cy="2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62" name="Line 42"/>
              <p:cNvSpPr>
                <a:spLocks noChangeShapeType="1"/>
              </p:cNvSpPr>
              <p:nvPr/>
            </p:nvSpPr>
            <p:spPr bwMode="auto">
              <a:xfrm flipV="1">
                <a:off x="2612" y="2350"/>
                <a:ext cx="0" cy="2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56363" name="AutoShape 43"/>
              <p:cNvCxnSpPr>
                <a:cxnSpLocks noChangeShapeType="1"/>
              </p:cNvCxnSpPr>
              <p:nvPr/>
            </p:nvCxnSpPr>
            <p:spPr bwMode="auto">
              <a:xfrm>
                <a:off x="2612" y="2350"/>
                <a:ext cx="197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6364" name="Oval 44"/>
              <p:cNvSpPr>
                <a:spLocks noChangeArrowheads="1"/>
              </p:cNvSpPr>
              <p:nvPr/>
            </p:nvSpPr>
            <p:spPr bwMode="auto">
              <a:xfrm>
                <a:off x="2699" y="2444"/>
                <a:ext cx="230" cy="237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>
                    <a:solidFill>
                      <a:schemeClr val="tx1"/>
                    </a:solidFill>
                  </a:rPr>
                  <a:t>W</a:t>
                </a:r>
                <a:r>
                  <a:rPr lang="en-US" altLang="zh-CN" sz="2000" baseline="-25000">
                    <a:solidFill>
                      <a:schemeClr val="tx1"/>
                    </a:solidFill>
                  </a:rPr>
                  <a:t>1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56365" name="Text Box 45"/>
              <p:cNvSpPr txBox="1">
                <a:spLocks noChangeArrowheads="1"/>
              </p:cNvSpPr>
              <p:nvPr/>
            </p:nvSpPr>
            <p:spPr bwMode="auto">
              <a:xfrm>
                <a:off x="2194" y="242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56366" name="Text Box 46"/>
              <p:cNvSpPr txBox="1">
                <a:spLocks noChangeArrowheads="1"/>
              </p:cNvSpPr>
              <p:nvPr/>
            </p:nvSpPr>
            <p:spPr bwMode="auto">
              <a:xfrm>
                <a:off x="2203" y="2811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56367" name="Text Box 47"/>
              <p:cNvSpPr txBox="1">
                <a:spLocks noChangeArrowheads="1"/>
              </p:cNvSpPr>
              <p:nvPr/>
            </p:nvSpPr>
            <p:spPr bwMode="auto">
              <a:xfrm>
                <a:off x="2183" y="3166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56369" name="Text Box 49"/>
              <p:cNvSpPr txBox="1">
                <a:spLocks noChangeArrowheads="1"/>
              </p:cNvSpPr>
              <p:nvPr/>
            </p:nvSpPr>
            <p:spPr bwMode="auto">
              <a:xfrm>
                <a:off x="2663" y="343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70" name="Text Box 50"/>
              <p:cNvSpPr txBox="1">
                <a:spLocks noChangeArrowheads="1"/>
              </p:cNvSpPr>
              <p:nvPr/>
            </p:nvSpPr>
            <p:spPr bwMode="auto">
              <a:xfrm>
                <a:off x="2780" y="228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71" name="Text Box 51"/>
              <p:cNvSpPr txBox="1">
                <a:spLocks noChangeArrowheads="1"/>
              </p:cNvSpPr>
              <p:nvPr/>
            </p:nvSpPr>
            <p:spPr bwMode="auto">
              <a:xfrm>
                <a:off x="2561" y="2517"/>
                <a:ext cx="17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72" name="Oval 52"/>
              <p:cNvSpPr>
                <a:spLocks noChangeArrowheads="1"/>
              </p:cNvSpPr>
              <p:nvPr/>
            </p:nvSpPr>
            <p:spPr bwMode="auto">
              <a:xfrm>
                <a:off x="2393" y="2536"/>
                <a:ext cx="38" cy="3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73" name="Oval 53"/>
              <p:cNvSpPr>
                <a:spLocks noChangeArrowheads="1"/>
              </p:cNvSpPr>
              <p:nvPr/>
            </p:nvSpPr>
            <p:spPr bwMode="auto">
              <a:xfrm>
                <a:off x="2393" y="2916"/>
                <a:ext cx="38" cy="3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74" name="Oval 54"/>
              <p:cNvSpPr>
                <a:spLocks noChangeArrowheads="1"/>
              </p:cNvSpPr>
              <p:nvPr/>
            </p:nvSpPr>
            <p:spPr bwMode="auto">
              <a:xfrm>
                <a:off x="2394" y="3286"/>
                <a:ext cx="38" cy="4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68" name="Text Box 48"/>
              <p:cNvSpPr txBox="1">
                <a:spLocks noChangeArrowheads="1"/>
              </p:cNvSpPr>
              <p:nvPr/>
            </p:nvSpPr>
            <p:spPr bwMode="auto">
              <a:xfrm>
                <a:off x="2557" y="31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rgbClr val="FF3300"/>
                    </a:solidFill>
                  </a:rPr>
                  <a:t>*</a:t>
                </a:r>
              </a:p>
            </p:txBody>
          </p:sp>
          <p:sp>
            <p:nvSpPr>
              <p:cNvPr id="56375" name="Oval 55"/>
              <p:cNvSpPr>
                <a:spLocks noChangeArrowheads="1"/>
              </p:cNvSpPr>
              <p:nvPr/>
            </p:nvSpPr>
            <p:spPr bwMode="auto">
              <a:xfrm>
                <a:off x="2700" y="3191"/>
                <a:ext cx="230" cy="237"/>
              </a:xfrm>
              <a:prstGeom prst="ellipse">
                <a:avLst/>
              </a:prstGeom>
              <a:solidFill>
                <a:schemeClr val="accent1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000">
                    <a:solidFill>
                      <a:schemeClr val="tx1"/>
                    </a:solidFill>
                  </a:rPr>
                  <a:t>W</a:t>
                </a:r>
                <a:r>
                  <a:rPr lang="en-US" altLang="zh-CN" sz="2000" baseline="-25000">
                    <a:solidFill>
                      <a:schemeClr val="tx1"/>
                    </a:solidFill>
                  </a:rPr>
                  <a:t>2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56399" name="Line 79"/>
              <p:cNvSpPr>
                <a:spLocks noChangeShapeType="1"/>
              </p:cNvSpPr>
              <p:nvPr/>
            </p:nvSpPr>
            <p:spPr bwMode="auto">
              <a:xfrm flipV="1">
                <a:off x="2807" y="2936"/>
                <a:ext cx="0" cy="2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400" name="Line 80"/>
              <p:cNvSpPr>
                <a:spLocks noChangeShapeType="1"/>
              </p:cNvSpPr>
              <p:nvPr/>
            </p:nvSpPr>
            <p:spPr bwMode="auto">
              <a:xfrm>
                <a:off x="2615" y="3500"/>
                <a:ext cx="19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401" name="Line 81"/>
              <p:cNvSpPr>
                <a:spLocks noChangeShapeType="1"/>
              </p:cNvSpPr>
              <p:nvPr/>
            </p:nvSpPr>
            <p:spPr bwMode="auto">
              <a:xfrm flipV="1">
                <a:off x="2807" y="3428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6417" name="Text Box 97"/>
            <p:cNvSpPr txBox="1">
              <a:spLocks noChangeArrowheads="1"/>
            </p:cNvSpPr>
            <p:nvPr/>
          </p:nvSpPr>
          <p:spPr bwMode="auto">
            <a:xfrm>
              <a:off x="3014" y="2954"/>
              <a:ext cx="4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共</a:t>
              </a:r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autoUpdateAnimBg="0"/>
      <p:bldP spid="56328" grpId="0" autoUpdateAnimBg="0"/>
      <p:bldP spid="56329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13" name="Rectangle 49"/>
          <p:cNvSpPr>
            <a:spLocks noChangeArrowheads="1"/>
          </p:cNvSpPr>
          <p:nvPr/>
        </p:nvSpPr>
        <p:spPr bwMode="auto">
          <a:xfrm>
            <a:off x="425450" y="293688"/>
            <a:ext cx="81788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solidFill>
                  <a:srgbClr val="FF0000"/>
                </a:solidFill>
              </a:rPr>
              <a:t>        </a:t>
            </a:r>
            <a:r>
              <a:rPr lang="zh-CN" altLang="en-US">
                <a:solidFill>
                  <a:srgbClr val="FF0000"/>
                </a:solidFill>
              </a:rPr>
              <a:t>例    </a:t>
            </a:r>
            <a:r>
              <a:rPr lang="zh-CN" altLang="en-US">
                <a:solidFill>
                  <a:schemeClr val="tx1"/>
                </a:solidFill>
              </a:rPr>
              <a:t>已知对称三相电路中</a:t>
            </a:r>
            <a:r>
              <a:rPr lang="en-US" altLang="zh-CN" i="1">
                <a:solidFill>
                  <a:schemeClr val="tx1"/>
                </a:solidFill>
              </a:rPr>
              <a:t>U</a:t>
            </a:r>
            <a:r>
              <a:rPr lang="en-US" altLang="zh-CN" i="1" baseline="-25000">
                <a:solidFill>
                  <a:schemeClr val="tx1"/>
                </a:solidFill>
              </a:rPr>
              <a:t>l  </a:t>
            </a:r>
            <a:r>
              <a:rPr lang="en-US" altLang="zh-CN">
                <a:solidFill>
                  <a:schemeClr val="tx1"/>
                </a:solidFill>
              </a:rPr>
              <a:t>=380V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 i="1">
                <a:solidFill>
                  <a:schemeClr val="tx1"/>
                </a:solidFill>
              </a:rPr>
              <a:t>Z</a:t>
            </a:r>
            <a:r>
              <a:rPr lang="en-US" altLang="zh-CN" baseline="-25000">
                <a:solidFill>
                  <a:schemeClr val="tx1"/>
                </a:solidFill>
              </a:rPr>
              <a:t>1</a:t>
            </a:r>
            <a:r>
              <a:rPr lang="en-US" altLang="zh-CN">
                <a:solidFill>
                  <a:schemeClr val="tx1"/>
                </a:solidFill>
              </a:rPr>
              <a:t>=30+j40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</a:t>
            </a:r>
            <a:r>
              <a:rPr lang="zh-CN" altLang="en-US">
                <a:solidFill>
                  <a:schemeClr val="tx1"/>
                </a:solidFill>
              </a:rPr>
              <a:t>，电动机 </a:t>
            </a:r>
            <a:r>
              <a:rPr lang="en-US" altLang="zh-CN" i="1">
                <a:solidFill>
                  <a:schemeClr val="tx1"/>
                </a:solidFill>
              </a:rPr>
              <a:t>P</a:t>
            </a:r>
            <a:r>
              <a:rPr lang="en-US" altLang="zh-CN">
                <a:solidFill>
                  <a:schemeClr val="tx1"/>
                </a:solidFill>
              </a:rPr>
              <a:t>=1700W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cos</a:t>
            </a:r>
            <a:r>
              <a:rPr lang="en-US" altLang="zh-CN" i="1">
                <a:solidFill>
                  <a:schemeClr val="tx1"/>
                </a:solidFill>
                <a:latin typeface="Symbol" panose="05050102010706020507" pitchFamily="18" charset="2"/>
              </a:rPr>
              <a:t>j</a:t>
            </a:r>
            <a:r>
              <a:rPr lang="en-US" altLang="zh-CN">
                <a:solidFill>
                  <a:schemeClr val="tx1"/>
                </a:solidFill>
              </a:rPr>
              <a:t>=0.8(</a:t>
            </a:r>
            <a:r>
              <a:rPr lang="zh-CN" altLang="en-US">
                <a:solidFill>
                  <a:schemeClr val="tx1"/>
                </a:solidFill>
              </a:rPr>
              <a:t>滞后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。求  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   线电流和电源发出总功率；（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  画出用两表法测电动机负载功率的功率表接线图，并求出两表读数。</a:t>
            </a:r>
          </a:p>
        </p:txBody>
      </p:sp>
      <p:sp>
        <p:nvSpPr>
          <p:cNvPr id="62511" name="Text Box 47"/>
          <p:cNvSpPr txBox="1">
            <a:spLocks noChangeArrowheads="1"/>
          </p:cNvSpPr>
          <p:nvPr/>
        </p:nvSpPr>
        <p:spPr bwMode="auto">
          <a:xfrm>
            <a:off x="1046163" y="4973638"/>
            <a:ext cx="49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解</a:t>
            </a:r>
          </a:p>
        </p:txBody>
      </p:sp>
      <p:grpSp>
        <p:nvGrpSpPr>
          <p:cNvPr id="62534" name="Group 70"/>
          <p:cNvGrpSpPr>
            <a:grpSpLocks/>
          </p:cNvGrpSpPr>
          <p:nvPr/>
        </p:nvGrpSpPr>
        <p:grpSpPr bwMode="auto">
          <a:xfrm>
            <a:off x="3713163" y="2263775"/>
            <a:ext cx="5062537" cy="2901950"/>
            <a:chOff x="1294" y="1137"/>
            <a:chExt cx="3189" cy="1828"/>
          </a:xfrm>
        </p:grpSpPr>
        <p:sp>
          <p:nvSpPr>
            <p:cNvPr id="62472" name="Oval 8"/>
            <p:cNvSpPr>
              <a:spLocks noChangeArrowheads="1"/>
            </p:cNvSpPr>
            <p:nvPr/>
          </p:nvSpPr>
          <p:spPr bwMode="auto">
            <a:xfrm>
              <a:off x="3800" y="1603"/>
              <a:ext cx="432" cy="43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2473" name="Line 9"/>
            <p:cNvSpPr>
              <a:spLocks noChangeShapeType="1"/>
            </p:cNvSpPr>
            <p:nvPr/>
          </p:nvSpPr>
          <p:spPr bwMode="auto">
            <a:xfrm flipH="1">
              <a:off x="1592" y="1849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4" name="Line 10"/>
            <p:cNvSpPr>
              <a:spLocks noChangeShapeType="1"/>
            </p:cNvSpPr>
            <p:nvPr/>
          </p:nvSpPr>
          <p:spPr bwMode="auto">
            <a:xfrm flipH="1" flipV="1">
              <a:off x="3656" y="1477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5" name="Line 11"/>
            <p:cNvSpPr>
              <a:spLocks noChangeShapeType="1"/>
            </p:cNvSpPr>
            <p:nvPr/>
          </p:nvSpPr>
          <p:spPr bwMode="auto">
            <a:xfrm flipH="1">
              <a:off x="1592" y="1477"/>
              <a:ext cx="2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7" name="Line 13"/>
            <p:cNvSpPr>
              <a:spLocks noChangeShapeType="1"/>
            </p:cNvSpPr>
            <p:nvPr/>
          </p:nvSpPr>
          <p:spPr bwMode="auto">
            <a:xfrm flipH="1">
              <a:off x="3656" y="2005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8" name="Line 14"/>
            <p:cNvSpPr>
              <a:spLocks noChangeShapeType="1"/>
            </p:cNvSpPr>
            <p:nvPr/>
          </p:nvSpPr>
          <p:spPr bwMode="auto">
            <a:xfrm flipH="1">
              <a:off x="1592" y="2245"/>
              <a:ext cx="2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1" name="Line 27"/>
            <p:cNvSpPr>
              <a:spLocks noChangeShapeType="1"/>
            </p:cNvSpPr>
            <p:nvPr/>
          </p:nvSpPr>
          <p:spPr bwMode="auto">
            <a:xfrm>
              <a:off x="2306" y="2245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2" name="Line 28"/>
            <p:cNvSpPr>
              <a:spLocks noChangeShapeType="1"/>
            </p:cNvSpPr>
            <p:nvPr/>
          </p:nvSpPr>
          <p:spPr bwMode="auto">
            <a:xfrm>
              <a:off x="2306" y="2965"/>
              <a:ext cx="5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3" name="Line 29"/>
            <p:cNvSpPr>
              <a:spLocks noChangeShapeType="1"/>
            </p:cNvSpPr>
            <p:nvPr/>
          </p:nvSpPr>
          <p:spPr bwMode="auto">
            <a:xfrm>
              <a:off x="2816" y="1471"/>
              <a:ext cx="0" cy="14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4" name="Line 30"/>
            <p:cNvSpPr>
              <a:spLocks noChangeShapeType="1"/>
            </p:cNvSpPr>
            <p:nvPr/>
          </p:nvSpPr>
          <p:spPr bwMode="auto">
            <a:xfrm>
              <a:off x="2558" y="1849"/>
              <a:ext cx="0" cy="11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6" name="Rectangle 32"/>
            <p:cNvSpPr>
              <a:spLocks noChangeArrowheads="1"/>
            </p:cNvSpPr>
            <p:nvPr/>
          </p:nvSpPr>
          <p:spPr bwMode="auto">
            <a:xfrm>
              <a:off x="2498" y="2533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497" name="Rectangle 33"/>
            <p:cNvSpPr>
              <a:spLocks noChangeArrowheads="1"/>
            </p:cNvSpPr>
            <p:nvPr/>
          </p:nvSpPr>
          <p:spPr bwMode="auto">
            <a:xfrm>
              <a:off x="2246" y="2533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471" name="Rectangle 7"/>
            <p:cNvSpPr>
              <a:spLocks noChangeArrowheads="1"/>
            </p:cNvSpPr>
            <p:nvPr/>
          </p:nvSpPr>
          <p:spPr bwMode="auto">
            <a:xfrm>
              <a:off x="2756" y="2521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502" name="Text Box 38"/>
            <p:cNvSpPr txBox="1">
              <a:spLocks noChangeArrowheads="1"/>
            </p:cNvSpPr>
            <p:nvPr/>
          </p:nvSpPr>
          <p:spPr bwMode="auto">
            <a:xfrm>
              <a:off x="1294" y="1293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2503" name="Text Box 39"/>
            <p:cNvSpPr txBox="1">
              <a:spLocks noChangeArrowheads="1"/>
            </p:cNvSpPr>
            <p:nvPr/>
          </p:nvSpPr>
          <p:spPr bwMode="auto">
            <a:xfrm>
              <a:off x="1304" y="1669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62504" name="Text Box 40"/>
            <p:cNvSpPr txBox="1">
              <a:spLocks noChangeArrowheads="1"/>
            </p:cNvSpPr>
            <p:nvPr/>
          </p:nvSpPr>
          <p:spPr bwMode="auto">
            <a:xfrm>
              <a:off x="1294" y="2097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2505" name="Line 41"/>
            <p:cNvSpPr>
              <a:spLocks noChangeShapeType="1"/>
            </p:cNvSpPr>
            <p:nvPr/>
          </p:nvSpPr>
          <p:spPr bwMode="auto">
            <a:xfrm>
              <a:off x="2768" y="1525"/>
              <a:ext cx="0" cy="28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6" name="Line 42"/>
            <p:cNvSpPr>
              <a:spLocks noChangeShapeType="1"/>
            </p:cNvSpPr>
            <p:nvPr/>
          </p:nvSpPr>
          <p:spPr bwMode="auto">
            <a:xfrm>
              <a:off x="3224" y="1411"/>
              <a:ext cx="38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09" name="Text Box 45"/>
            <p:cNvSpPr txBox="1">
              <a:spLocks noChangeArrowheads="1"/>
            </p:cNvSpPr>
            <p:nvPr/>
          </p:nvSpPr>
          <p:spPr bwMode="auto">
            <a:xfrm>
              <a:off x="2864" y="2533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2515" name="Oval 51"/>
            <p:cNvSpPr>
              <a:spLocks noChangeArrowheads="1"/>
            </p:cNvSpPr>
            <p:nvPr/>
          </p:nvSpPr>
          <p:spPr bwMode="auto">
            <a:xfrm>
              <a:off x="1537" y="2212"/>
              <a:ext cx="57" cy="5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6" name="Oval 52"/>
            <p:cNvSpPr>
              <a:spLocks noChangeArrowheads="1"/>
            </p:cNvSpPr>
            <p:nvPr/>
          </p:nvSpPr>
          <p:spPr bwMode="auto">
            <a:xfrm>
              <a:off x="1540" y="1813"/>
              <a:ext cx="57" cy="5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7" name="Oval 53"/>
            <p:cNvSpPr>
              <a:spLocks noChangeArrowheads="1"/>
            </p:cNvSpPr>
            <p:nvPr/>
          </p:nvSpPr>
          <p:spPr bwMode="auto">
            <a:xfrm>
              <a:off x="1537" y="1441"/>
              <a:ext cx="57" cy="5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2518" name="Object 54"/>
            <p:cNvGraphicFramePr>
              <a:graphicFrameLocks noChangeAspect="1"/>
            </p:cNvGraphicFramePr>
            <p:nvPr/>
          </p:nvGraphicFramePr>
          <p:xfrm>
            <a:off x="2498" y="1498"/>
            <a:ext cx="28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85" name="Equation" r:id="rId3" imgW="228600" imgH="228600" progId="Equation.3">
                    <p:embed/>
                  </p:oleObj>
                </mc:Choice>
                <mc:Fallback>
                  <p:oleObj name="Equation" r:id="rId3" imgW="228600" imgH="22860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8" y="1498"/>
                          <a:ext cx="288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519" name="Object 55"/>
            <p:cNvGraphicFramePr>
              <a:graphicFrameLocks noChangeAspect="1"/>
            </p:cNvGraphicFramePr>
            <p:nvPr/>
          </p:nvGraphicFramePr>
          <p:xfrm>
            <a:off x="3292" y="1148"/>
            <a:ext cx="30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86" name="Equation" r:id="rId5" imgW="241200" imgH="228600" progId="Equation.3">
                    <p:embed/>
                  </p:oleObj>
                </mc:Choice>
                <mc:Fallback>
                  <p:oleObj name="Equation" r:id="rId5" imgW="241200" imgH="22860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2" y="1148"/>
                          <a:ext cx="30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521" name="Rectangle 57"/>
            <p:cNvSpPr>
              <a:spLocks noChangeArrowheads="1"/>
            </p:cNvSpPr>
            <p:nvPr/>
          </p:nvSpPr>
          <p:spPr bwMode="auto">
            <a:xfrm>
              <a:off x="3788" y="2049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电动机</a:t>
              </a:r>
            </a:p>
          </p:txBody>
        </p:sp>
        <p:graphicFrame>
          <p:nvGraphicFramePr>
            <p:cNvPr id="62527" name="Object 63"/>
            <p:cNvGraphicFramePr>
              <a:graphicFrameLocks noChangeAspect="1"/>
            </p:cNvGraphicFramePr>
            <p:nvPr/>
          </p:nvGraphicFramePr>
          <p:xfrm>
            <a:off x="2145" y="1137"/>
            <a:ext cx="24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87" name="Equation" r:id="rId7" imgW="190440" imgH="228600" progId="Equation.3">
                    <p:embed/>
                  </p:oleObj>
                </mc:Choice>
                <mc:Fallback>
                  <p:oleObj name="Equation" r:id="rId7" imgW="190440" imgH="22860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" y="1137"/>
                          <a:ext cx="24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528" name="Line 64"/>
            <p:cNvSpPr>
              <a:spLocks noChangeShapeType="1"/>
            </p:cNvSpPr>
            <p:nvPr/>
          </p:nvSpPr>
          <p:spPr bwMode="auto">
            <a:xfrm>
              <a:off x="2102" y="1411"/>
              <a:ext cx="38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2538" name="Group 74"/>
          <p:cNvGrpSpPr>
            <a:grpSpLocks/>
          </p:cNvGrpSpPr>
          <p:nvPr/>
        </p:nvGrpSpPr>
        <p:grpSpPr bwMode="auto">
          <a:xfrm>
            <a:off x="1104900" y="5527675"/>
            <a:ext cx="3490913" cy="488950"/>
            <a:chOff x="696" y="3482"/>
            <a:chExt cx="2199" cy="308"/>
          </a:xfrm>
        </p:grpSpPr>
        <p:graphicFrame>
          <p:nvGraphicFramePr>
            <p:cNvPr id="62523" name="Object 59"/>
            <p:cNvGraphicFramePr>
              <a:graphicFrameLocks noChangeAspect="1"/>
            </p:cNvGraphicFramePr>
            <p:nvPr/>
          </p:nvGraphicFramePr>
          <p:xfrm>
            <a:off x="1494" y="3484"/>
            <a:ext cx="1401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88" name="Equation" r:id="rId9" imgW="1104840" imgH="241200" progId="Equation.3">
                    <p:embed/>
                  </p:oleObj>
                </mc:Choice>
                <mc:Fallback>
                  <p:oleObj name="Equation" r:id="rId9" imgW="1104840" imgH="24120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4" y="3484"/>
                          <a:ext cx="1401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526" name="Text Box 62"/>
            <p:cNvSpPr txBox="1">
              <a:spLocks noChangeArrowheads="1"/>
            </p:cNvSpPr>
            <p:nvPr/>
          </p:nvSpPr>
          <p:spPr bwMode="auto">
            <a:xfrm>
              <a:off x="696" y="3482"/>
              <a:ext cx="4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1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</a:p>
          </p:txBody>
        </p:sp>
        <p:sp>
          <p:nvSpPr>
            <p:cNvPr id="62535" name="Text Box 71"/>
            <p:cNvSpPr txBox="1">
              <a:spLocks noChangeArrowheads="1"/>
            </p:cNvSpPr>
            <p:nvPr/>
          </p:nvSpPr>
          <p:spPr bwMode="auto">
            <a:xfrm>
              <a:off x="1207" y="3487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11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654050" y="1763713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电动机负载</a:t>
            </a:r>
          </a:p>
        </p:txBody>
      </p:sp>
      <p:graphicFrame>
        <p:nvGraphicFramePr>
          <p:cNvPr id="64521" name="Object 9"/>
          <p:cNvGraphicFramePr>
            <a:graphicFrameLocks noChangeAspect="1"/>
          </p:cNvGraphicFramePr>
          <p:nvPr/>
        </p:nvGraphicFramePr>
        <p:xfrm>
          <a:off x="1262063" y="2359025"/>
          <a:ext cx="3733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7" name="公式" r:id="rId3" imgW="1866600" imgH="253800" progId="Equation.3">
                  <p:embed/>
                </p:oleObj>
              </mc:Choice>
              <mc:Fallback>
                <p:oleObj name="公式" r:id="rId3" imgW="1866600" imgH="253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2359025"/>
                        <a:ext cx="37338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FFCC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2" name="Object 10"/>
          <p:cNvGraphicFramePr>
            <a:graphicFrameLocks noChangeAspect="1"/>
          </p:cNvGraphicFramePr>
          <p:nvPr/>
        </p:nvGraphicFramePr>
        <p:xfrm>
          <a:off x="1262063" y="2863850"/>
          <a:ext cx="54102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8" name="Equation" r:id="rId5" imgW="2705040" imgH="927000" progId="Equation.3">
                  <p:embed/>
                </p:oleObj>
              </mc:Choice>
              <mc:Fallback>
                <p:oleObj name="Equation" r:id="rId5" imgW="2705040" imgH="927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2863850"/>
                        <a:ext cx="541020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FFCC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3" name="Object 11"/>
          <p:cNvGraphicFramePr>
            <a:graphicFrameLocks noChangeAspect="1"/>
          </p:cNvGraphicFramePr>
          <p:nvPr/>
        </p:nvGraphicFramePr>
        <p:xfrm>
          <a:off x="1262063" y="4921250"/>
          <a:ext cx="297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9" name="Equation" r:id="rId7" imgW="1485720" imgH="228600" progId="Equation.3">
                  <p:embed/>
                </p:oleObj>
              </mc:Choice>
              <mc:Fallback>
                <p:oleObj name="Equation" r:id="rId7" imgW="148572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4921250"/>
                        <a:ext cx="2971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FFCC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8" name="Object 16"/>
          <p:cNvGraphicFramePr>
            <a:graphicFrameLocks noChangeAspect="1"/>
          </p:cNvGraphicFramePr>
          <p:nvPr/>
        </p:nvGraphicFramePr>
        <p:xfrm>
          <a:off x="1365250" y="611188"/>
          <a:ext cx="5084763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0" name="Equation" r:id="rId9" imgW="2527200" imgH="444240" progId="Equation.3">
                  <p:embed/>
                </p:oleObj>
              </mc:Choice>
              <mc:Fallback>
                <p:oleObj name="Equation" r:id="rId9" imgW="2527200" imgH="4442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611188"/>
                        <a:ext cx="5084763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0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457200" y="2986088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总电流</a:t>
            </a:r>
          </a:p>
        </p:txBody>
      </p:sp>
      <p:graphicFrame>
        <p:nvGraphicFramePr>
          <p:cNvPr id="116739" name="Object 3"/>
          <p:cNvGraphicFramePr>
            <a:graphicFrameLocks noChangeAspect="1"/>
          </p:cNvGraphicFramePr>
          <p:nvPr/>
        </p:nvGraphicFramePr>
        <p:xfrm>
          <a:off x="1047750" y="3700463"/>
          <a:ext cx="6781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0" name="Equation" r:id="rId3" imgW="3390840" imgH="431640" progId="Equation.3">
                  <p:embed/>
                </p:oleObj>
              </mc:Choice>
              <mc:Fallback>
                <p:oleObj name="Equation" r:id="rId3" imgW="339084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3700463"/>
                        <a:ext cx="6781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FFCC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0" name="Object 4"/>
          <p:cNvGraphicFramePr>
            <a:graphicFrameLocks noChangeAspect="1"/>
          </p:cNvGraphicFramePr>
          <p:nvPr/>
        </p:nvGraphicFramePr>
        <p:xfrm>
          <a:off x="1047750" y="4656138"/>
          <a:ext cx="58832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1" name="公式" r:id="rId5" imgW="2616120" imgH="457200" progId="Equation.3">
                  <p:embed/>
                </p:oleObj>
              </mc:Choice>
              <mc:Fallback>
                <p:oleObj name="公式" r:id="rId5" imgW="261612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4656138"/>
                        <a:ext cx="58832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FFCC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1" name="Object 5"/>
          <p:cNvGraphicFramePr>
            <a:graphicFrameLocks noChangeAspect="1"/>
          </p:cNvGraphicFramePr>
          <p:nvPr/>
        </p:nvGraphicFramePr>
        <p:xfrm>
          <a:off x="1047750" y="5710238"/>
          <a:ext cx="63976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2" name="公式" r:id="rId7" imgW="2844720" imgH="228600" progId="Equation.3">
                  <p:embed/>
                </p:oleObj>
              </mc:Choice>
              <mc:Fallback>
                <p:oleObj name="公式" r:id="rId7" imgW="28447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5710238"/>
                        <a:ext cx="63976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FFCC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6800" name="Group 64"/>
          <p:cNvGrpSpPr>
            <a:grpSpLocks/>
          </p:cNvGrpSpPr>
          <p:nvPr/>
        </p:nvGrpSpPr>
        <p:grpSpPr bwMode="auto">
          <a:xfrm>
            <a:off x="2070100" y="173038"/>
            <a:ext cx="5062538" cy="2927350"/>
            <a:chOff x="1304" y="109"/>
            <a:chExt cx="3189" cy="1844"/>
          </a:xfrm>
        </p:grpSpPr>
        <p:sp>
          <p:nvSpPr>
            <p:cNvPr id="116773" name="Oval 37"/>
            <p:cNvSpPr>
              <a:spLocks noChangeArrowheads="1"/>
            </p:cNvSpPr>
            <p:nvPr/>
          </p:nvSpPr>
          <p:spPr bwMode="auto">
            <a:xfrm>
              <a:off x="3810" y="591"/>
              <a:ext cx="432" cy="43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16774" name="Line 38"/>
            <p:cNvSpPr>
              <a:spLocks noChangeShapeType="1"/>
            </p:cNvSpPr>
            <p:nvPr/>
          </p:nvSpPr>
          <p:spPr bwMode="auto">
            <a:xfrm flipH="1">
              <a:off x="1602" y="837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75" name="Line 39"/>
            <p:cNvSpPr>
              <a:spLocks noChangeShapeType="1"/>
            </p:cNvSpPr>
            <p:nvPr/>
          </p:nvSpPr>
          <p:spPr bwMode="auto">
            <a:xfrm flipH="1" flipV="1">
              <a:off x="3666" y="465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76" name="Line 40"/>
            <p:cNvSpPr>
              <a:spLocks noChangeShapeType="1"/>
            </p:cNvSpPr>
            <p:nvPr/>
          </p:nvSpPr>
          <p:spPr bwMode="auto">
            <a:xfrm flipH="1">
              <a:off x="1602" y="465"/>
              <a:ext cx="2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77" name="Line 41"/>
            <p:cNvSpPr>
              <a:spLocks noChangeShapeType="1"/>
            </p:cNvSpPr>
            <p:nvPr/>
          </p:nvSpPr>
          <p:spPr bwMode="auto">
            <a:xfrm flipH="1">
              <a:off x="3666" y="993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78" name="Line 42"/>
            <p:cNvSpPr>
              <a:spLocks noChangeShapeType="1"/>
            </p:cNvSpPr>
            <p:nvPr/>
          </p:nvSpPr>
          <p:spPr bwMode="auto">
            <a:xfrm flipH="1">
              <a:off x="1602" y="1233"/>
              <a:ext cx="2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79" name="Line 43"/>
            <p:cNvSpPr>
              <a:spLocks noChangeShapeType="1"/>
            </p:cNvSpPr>
            <p:nvPr/>
          </p:nvSpPr>
          <p:spPr bwMode="auto">
            <a:xfrm>
              <a:off x="2316" y="1233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0" name="Line 44"/>
            <p:cNvSpPr>
              <a:spLocks noChangeShapeType="1"/>
            </p:cNvSpPr>
            <p:nvPr/>
          </p:nvSpPr>
          <p:spPr bwMode="auto">
            <a:xfrm>
              <a:off x="2316" y="1953"/>
              <a:ext cx="5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1" name="Line 45"/>
            <p:cNvSpPr>
              <a:spLocks noChangeShapeType="1"/>
            </p:cNvSpPr>
            <p:nvPr/>
          </p:nvSpPr>
          <p:spPr bwMode="auto">
            <a:xfrm>
              <a:off x="2826" y="459"/>
              <a:ext cx="0" cy="14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2" name="Line 46"/>
            <p:cNvSpPr>
              <a:spLocks noChangeShapeType="1"/>
            </p:cNvSpPr>
            <p:nvPr/>
          </p:nvSpPr>
          <p:spPr bwMode="auto">
            <a:xfrm>
              <a:off x="2568" y="837"/>
              <a:ext cx="0" cy="11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83" name="Rectangle 47"/>
            <p:cNvSpPr>
              <a:spLocks noChangeArrowheads="1"/>
            </p:cNvSpPr>
            <p:nvPr/>
          </p:nvSpPr>
          <p:spPr bwMode="auto">
            <a:xfrm>
              <a:off x="2508" y="1521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84" name="Rectangle 48"/>
            <p:cNvSpPr>
              <a:spLocks noChangeArrowheads="1"/>
            </p:cNvSpPr>
            <p:nvPr/>
          </p:nvSpPr>
          <p:spPr bwMode="auto">
            <a:xfrm>
              <a:off x="2256" y="1521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85" name="Rectangle 49"/>
            <p:cNvSpPr>
              <a:spLocks noChangeArrowheads="1"/>
            </p:cNvSpPr>
            <p:nvPr/>
          </p:nvSpPr>
          <p:spPr bwMode="auto">
            <a:xfrm>
              <a:off x="2766" y="1509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86" name="Text Box 50"/>
            <p:cNvSpPr txBox="1">
              <a:spLocks noChangeArrowheads="1"/>
            </p:cNvSpPr>
            <p:nvPr/>
          </p:nvSpPr>
          <p:spPr bwMode="auto">
            <a:xfrm>
              <a:off x="1304" y="28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16787" name="Text Box 51"/>
            <p:cNvSpPr txBox="1">
              <a:spLocks noChangeArrowheads="1"/>
            </p:cNvSpPr>
            <p:nvPr/>
          </p:nvSpPr>
          <p:spPr bwMode="auto">
            <a:xfrm>
              <a:off x="1314" y="657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16788" name="Text Box 52"/>
            <p:cNvSpPr txBox="1">
              <a:spLocks noChangeArrowheads="1"/>
            </p:cNvSpPr>
            <p:nvPr/>
          </p:nvSpPr>
          <p:spPr bwMode="auto">
            <a:xfrm>
              <a:off x="1304" y="108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16789" name="Line 53"/>
            <p:cNvSpPr>
              <a:spLocks noChangeShapeType="1"/>
            </p:cNvSpPr>
            <p:nvPr/>
          </p:nvSpPr>
          <p:spPr bwMode="auto">
            <a:xfrm>
              <a:off x="2778" y="513"/>
              <a:ext cx="0" cy="28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0" name="Line 54"/>
            <p:cNvSpPr>
              <a:spLocks noChangeShapeType="1"/>
            </p:cNvSpPr>
            <p:nvPr/>
          </p:nvSpPr>
          <p:spPr bwMode="auto">
            <a:xfrm>
              <a:off x="3234" y="399"/>
              <a:ext cx="38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1" name="Text Box 55"/>
            <p:cNvSpPr txBox="1">
              <a:spLocks noChangeArrowheads="1"/>
            </p:cNvSpPr>
            <p:nvPr/>
          </p:nvSpPr>
          <p:spPr bwMode="auto">
            <a:xfrm>
              <a:off x="2874" y="1521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16792" name="Oval 56"/>
            <p:cNvSpPr>
              <a:spLocks noChangeArrowheads="1"/>
            </p:cNvSpPr>
            <p:nvPr/>
          </p:nvSpPr>
          <p:spPr bwMode="auto">
            <a:xfrm>
              <a:off x="1547" y="1200"/>
              <a:ext cx="57" cy="5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3" name="Oval 57"/>
            <p:cNvSpPr>
              <a:spLocks noChangeArrowheads="1"/>
            </p:cNvSpPr>
            <p:nvPr/>
          </p:nvSpPr>
          <p:spPr bwMode="auto">
            <a:xfrm>
              <a:off x="1550" y="801"/>
              <a:ext cx="57" cy="5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794" name="Oval 58"/>
            <p:cNvSpPr>
              <a:spLocks noChangeArrowheads="1"/>
            </p:cNvSpPr>
            <p:nvPr/>
          </p:nvSpPr>
          <p:spPr bwMode="auto">
            <a:xfrm>
              <a:off x="1547" y="429"/>
              <a:ext cx="57" cy="5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6795" name="Object 59"/>
            <p:cNvGraphicFramePr>
              <a:graphicFrameLocks noChangeAspect="1"/>
            </p:cNvGraphicFramePr>
            <p:nvPr/>
          </p:nvGraphicFramePr>
          <p:xfrm>
            <a:off x="2500" y="486"/>
            <a:ext cx="28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843" name="Equation" r:id="rId9" imgW="228600" imgH="228600" progId="Equation.3">
                    <p:embed/>
                  </p:oleObj>
                </mc:Choice>
                <mc:Fallback>
                  <p:oleObj name="Equation" r:id="rId9" imgW="228600" imgH="22860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0" y="486"/>
                          <a:ext cx="288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796" name="Object 60"/>
            <p:cNvGraphicFramePr>
              <a:graphicFrameLocks noChangeAspect="1"/>
            </p:cNvGraphicFramePr>
            <p:nvPr/>
          </p:nvGraphicFramePr>
          <p:xfrm>
            <a:off x="3302" y="136"/>
            <a:ext cx="30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844" name="Equation" r:id="rId11" imgW="241200" imgH="228600" progId="Equation.3">
                    <p:embed/>
                  </p:oleObj>
                </mc:Choice>
                <mc:Fallback>
                  <p:oleObj name="Equation" r:id="rId11" imgW="241200" imgH="228600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2" y="136"/>
                          <a:ext cx="30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797" name="Rectangle 61"/>
            <p:cNvSpPr>
              <a:spLocks noChangeArrowheads="1"/>
            </p:cNvSpPr>
            <p:nvPr/>
          </p:nvSpPr>
          <p:spPr bwMode="auto">
            <a:xfrm>
              <a:off x="3798" y="1037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电动机</a:t>
              </a:r>
            </a:p>
          </p:txBody>
        </p:sp>
        <p:graphicFrame>
          <p:nvGraphicFramePr>
            <p:cNvPr id="116798" name="Object 62"/>
            <p:cNvGraphicFramePr>
              <a:graphicFrameLocks noChangeAspect="1"/>
            </p:cNvGraphicFramePr>
            <p:nvPr/>
          </p:nvGraphicFramePr>
          <p:xfrm>
            <a:off x="2156" y="109"/>
            <a:ext cx="239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845" name="Equation" r:id="rId13" imgW="190440" imgH="228600" progId="Equation.3">
                    <p:embed/>
                  </p:oleObj>
                </mc:Choice>
                <mc:Fallback>
                  <p:oleObj name="Equation" r:id="rId13" imgW="190440" imgH="228600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" y="109"/>
                          <a:ext cx="239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799" name="Line 63"/>
            <p:cNvSpPr>
              <a:spLocks noChangeShapeType="1"/>
            </p:cNvSpPr>
            <p:nvPr/>
          </p:nvSpPr>
          <p:spPr bwMode="auto">
            <a:xfrm>
              <a:off x="2112" y="399"/>
              <a:ext cx="38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41" name="Text Box 53"/>
          <p:cNvSpPr txBox="1">
            <a:spLocks noChangeArrowheads="1"/>
          </p:cNvSpPr>
          <p:nvPr/>
        </p:nvSpPr>
        <p:spPr bwMode="auto">
          <a:xfrm>
            <a:off x="0" y="284163"/>
            <a:ext cx="333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 两表的接法如图。</a:t>
            </a:r>
          </a:p>
        </p:txBody>
      </p:sp>
      <p:grpSp>
        <p:nvGrpSpPr>
          <p:cNvPr id="63565" name="Group 77"/>
          <p:cNvGrpSpPr>
            <a:grpSpLocks/>
          </p:cNvGrpSpPr>
          <p:nvPr/>
        </p:nvGrpSpPr>
        <p:grpSpPr bwMode="auto">
          <a:xfrm>
            <a:off x="3946525" y="84138"/>
            <a:ext cx="5060950" cy="2925762"/>
            <a:chOff x="2486" y="53"/>
            <a:chExt cx="3188" cy="1843"/>
          </a:xfrm>
        </p:grpSpPr>
        <p:graphicFrame>
          <p:nvGraphicFramePr>
            <p:cNvPr id="63539" name="Object 51"/>
            <p:cNvGraphicFramePr>
              <a:graphicFrameLocks noChangeAspect="1"/>
            </p:cNvGraphicFramePr>
            <p:nvPr/>
          </p:nvGraphicFramePr>
          <p:xfrm>
            <a:off x="4484" y="53"/>
            <a:ext cx="30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7" name="Equation" r:id="rId3" imgW="241200" imgH="228600" progId="Equation.3">
                    <p:embed/>
                  </p:oleObj>
                </mc:Choice>
                <mc:Fallback>
                  <p:oleObj name="Equation" r:id="rId3" imgW="241200" imgH="22860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4" y="53"/>
                          <a:ext cx="30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04" name="Oval 16"/>
            <p:cNvSpPr>
              <a:spLocks noChangeArrowheads="1"/>
            </p:cNvSpPr>
            <p:nvPr/>
          </p:nvSpPr>
          <p:spPr bwMode="auto">
            <a:xfrm>
              <a:off x="4992" y="534"/>
              <a:ext cx="432" cy="43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63505" name="Line 17"/>
            <p:cNvSpPr>
              <a:spLocks noChangeShapeType="1"/>
            </p:cNvSpPr>
            <p:nvPr/>
          </p:nvSpPr>
          <p:spPr bwMode="auto">
            <a:xfrm flipH="1">
              <a:off x="2784" y="780"/>
              <a:ext cx="2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6" name="Line 18"/>
            <p:cNvSpPr>
              <a:spLocks noChangeShapeType="1"/>
            </p:cNvSpPr>
            <p:nvPr/>
          </p:nvSpPr>
          <p:spPr bwMode="auto">
            <a:xfrm flipH="1" flipV="1">
              <a:off x="4848" y="408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7" name="Line 19"/>
            <p:cNvSpPr>
              <a:spLocks noChangeShapeType="1"/>
            </p:cNvSpPr>
            <p:nvPr/>
          </p:nvSpPr>
          <p:spPr bwMode="auto">
            <a:xfrm flipH="1">
              <a:off x="2784" y="408"/>
              <a:ext cx="2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8" name="Line 20"/>
            <p:cNvSpPr>
              <a:spLocks noChangeShapeType="1"/>
            </p:cNvSpPr>
            <p:nvPr/>
          </p:nvSpPr>
          <p:spPr bwMode="auto">
            <a:xfrm flipH="1">
              <a:off x="4848" y="936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9" name="Line 21"/>
            <p:cNvSpPr>
              <a:spLocks noChangeShapeType="1"/>
            </p:cNvSpPr>
            <p:nvPr/>
          </p:nvSpPr>
          <p:spPr bwMode="auto">
            <a:xfrm flipH="1">
              <a:off x="2784" y="1176"/>
              <a:ext cx="2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21" name="Line 33"/>
            <p:cNvSpPr>
              <a:spLocks noChangeShapeType="1"/>
            </p:cNvSpPr>
            <p:nvPr/>
          </p:nvSpPr>
          <p:spPr bwMode="auto">
            <a:xfrm>
              <a:off x="3138" y="1176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22" name="Line 34"/>
            <p:cNvSpPr>
              <a:spLocks noChangeShapeType="1"/>
            </p:cNvSpPr>
            <p:nvPr/>
          </p:nvSpPr>
          <p:spPr bwMode="auto">
            <a:xfrm>
              <a:off x="3138" y="1896"/>
              <a:ext cx="5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23" name="Line 35"/>
            <p:cNvSpPr>
              <a:spLocks noChangeShapeType="1"/>
            </p:cNvSpPr>
            <p:nvPr/>
          </p:nvSpPr>
          <p:spPr bwMode="auto">
            <a:xfrm>
              <a:off x="3648" y="402"/>
              <a:ext cx="0" cy="14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24" name="Line 36"/>
            <p:cNvSpPr>
              <a:spLocks noChangeShapeType="1"/>
            </p:cNvSpPr>
            <p:nvPr/>
          </p:nvSpPr>
          <p:spPr bwMode="auto">
            <a:xfrm>
              <a:off x="3390" y="780"/>
              <a:ext cx="0" cy="11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25" name="Rectangle 37"/>
            <p:cNvSpPr>
              <a:spLocks noChangeArrowheads="1"/>
            </p:cNvSpPr>
            <p:nvPr/>
          </p:nvSpPr>
          <p:spPr bwMode="auto">
            <a:xfrm>
              <a:off x="3330" y="1464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26" name="Rectangle 38"/>
            <p:cNvSpPr>
              <a:spLocks noChangeArrowheads="1"/>
            </p:cNvSpPr>
            <p:nvPr/>
          </p:nvSpPr>
          <p:spPr bwMode="auto">
            <a:xfrm>
              <a:off x="3078" y="1464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27" name="Rectangle 39"/>
            <p:cNvSpPr>
              <a:spLocks noChangeArrowheads="1"/>
            </p:cNvSpPr>
            <p:nvPr/>
          </p:nvSpPr>
          <p:spPr bwMode="auto">
            <a:xfrm>
              <a:off x="3588" y="1452"/>
              <a:ext cx="120" cy="288"/>
            </a:xfrm>
            <a:prstGeom prst="rect">
              <a:avLst/>
            </a:prstGeom>
            <a:solidFill>
              <a:schemeClr val="accent1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528" name="Text Box 40"/>
            <p:cNvSpPr txBox="1">
              <a:spLocks noChangeArrowheads="1"/>
            </p:cNvSpPr>
            <p:nvPr/>
          </p:nvSpPr>
          <p:spPr bwMode="auto">
            <a:xfrm>
              <a:off x="2486" y="22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3529" name="Text Box 41"/>
            <p:cNvSpPr txBox="1">
              <a:spLocks noChangeArrowheads="1"/>
            </p:cNvSpPr>
            <p:nvPr/>
          </p:nvSpPr>
          <p:spPr bwMode="auto">
            <a:xfrm>
              <a:off x="2496" y="60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63530" name="Text Box 42"/>
            <p:cNvSpPr txBox="1">
              <a:spLocks noChangeArrowheads="1"/>
            </p:cNvSpPr>
            <p:nvPr/>
          </p:nvSpPr>
          <p:spPr bwMode="auto">
            <a:xfrm>
              <a:off x="2486" y="102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3531" name="Line 43"/>
            <p:cNvSpPr>
              <a:spLocks noChangeShapeType="1"/>
            </p:cNvSpPr>
            <p:nvPr/>
          </p:nvSpPr>
          <p:spPr bwMode="auto">
            <a:xfrm>
              <a:off x="3600" y="456"/>
              <a:ext cx="0" cy="28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32" name="Line 44"/>
            <p:cNvSpPr>
              <a:spLocks noChangeShapeType="1"/>
            </p:cNvSpPr>
            <p:nvPr/>
          </p:nvSpPr>
          <p:spPr bwMode="auto">
            <a:xfrm>
              <a:off x="4416" y="342"/>
              <a:ext cx="38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33" name="Text Box 45"/>
            <p:cNvSpPr txBox="1">
              <a:spLocks noChangeArrowheads="1"/>
            </p:cNvSpPr>
            <p:nvPr/>
          </p:nvSpPr>
          <p:spPr bwMode="auto">
            <a:xfrm>
              <a:off x="3696" y="1464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tx1"/>
                  </a:solidFill>
                </a:rPr>
                <a:t>Z</a:t>
              </a:r>
              <a:r>
                <a:rPr lang="en-US" altLang="zh-CN" baseline="-25000">
                  <a:solidFill>
                    <a:schemeClr val="tx1"/>
                  </a:solidFill>
                </a:rPr>
                <a:t>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3535" name="Oval 47"/>
            <p:cNvSpPr>
              <a:spLocks noChangeArrowheads="1"/>
            </p:cNvSpPr>
            <p:nvPr/>
          </p:nvSpPr>
          <p:spPr bwMode="auto">
            <a:xfrm>
              <a:off x="2729" y="1143"/>
              <a:ext cx="57" cy="5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36" name="Oval 48"/>
            <p:cNvSpPr>
              <a:spLocks noChangeArrowheads="1"/>
            </p:cNvSpPr>
            <p:nvPr/>
          </p:nvSpPr>
          <p:spPr bwMode="auto">
            <a:xfrm>
              <a:off x="2732" y="744"/>
              <a:ext cx="57" cy="5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37" name="Oval 49"/>
            <p:cNvSpPr>
              <a:spLocks noChangeArrowheads="1"/>
            </p:cNvSpPr>
            <p:nvPr/>
          </p:nvSpPr>
          <p:spPr bwMode="auto">
            <a:xfrm>
              <a:off x="2729" y="372"/>
              <a:ext cx="57" cy="5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3538" name="Object 50"/>
            <p:cNvGraphicFramePr>
              <a:graphicFrameLocks noChangeAspect="1"/>
            </p:cNvGraphicFramePr>
            <p:nvPr/>
          </p:nvGraphicFramePr>
          <p:xfrm>
            <a:off x="3322" y="429"/>
            <a:ext cx="288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8" name="Equation" r:id="rId5" imgW="228600" imgH="228600" progId="Equation.3">
                    <p:embed/>
                  </p:oleObj>
                </mc:Choice>
                <mc:Fallback>
                  <p:oleObj name="Equation" r:id="rId5" imgW="228600" imgH="2286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2" y="429"/>
                          <a:ext cx="288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40" name="Rectangle 52"/>
            <p:cNvSpPr>
              <a:spLocks noChangeArrowheads="1"/>
            </p:cNvSpPr>
            <p:nvPr/>
          </p:nvSpPr>
          <p:spPr bwMode="auto">
            <a:xfrm>
              <a:off x="4980" y="980"/>
              <a:ext cx="6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1"/>
                  </a:solidFill>
                </a:rPr>
                <a:t>电动机</a:t>
              </a:r>
            </a:p>
          </p:txBody>
        </p:sp>
        <p:sp>
          <p:nvSpPr>
            <p:cNvPr id="63515" name="Line 27"/>
            <p:cNvSpPr>
              <a:spLocks noChangeShapeType="1"/>
            </p:cNvSpPr>
            <p:nvPr/>
          </p:nvSpPr>
          <p:spPr bwMode="auto">
            <a:xfrm>
              <a:off x="3986" y="194"/>
              <a:ext cx="0" cy="9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6" name="Line 28"/>
            <p:cNvSpPr>
              <a:spLocks noChangeShapeType="1"/>
            </p:cNvSpPr>
            <p:nvPr/>
          </p:nvSpPr>
          <p:spPr bwMode="auto">
            <a:xfrm flipV="1">
              <a:off x="3728" y="194"/>
              <a:ext cx="0" cy="2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3517" name="AutoShape 29"/>
            <p:cNvCxnSpPr>
              <a:cxnSpLocks noChangeShapeType="1"/>
            </p:cNvCxnSpPr>
            <p:nvPr/>
          </p:nvCxnSpPr>
          <p:spPr bwMode="auto">
            <a:xfrm>
              <a:off x="3728" y="194"/>
              <a:ext cx="258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3518" name="Oval 30"/>
            <p:cNvSpPr>
              <a:spLocks noChangeArrowheads="1"/>
            </p:cNvSpPr>
            <p:nvPr/>
          </p:nvSpPr>
          <p:spPr bwMode="auto">
            <a:xfrm>
              <a:off x="3854" y="290"/>
              <a:ext cx="272" cy="27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</a:rPr>
                <a:t>W</a:t>
              </a:r>
              <a:r>
                <a:rPr lang="en-US" altLang="zh-CN" sz="2000" baseline="-25000">
                  <a:solidFill>
                    <a:schemeClr val="tx1"/>
                  </a:solidFill>
                </a:rPr>
                <a:t>1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63519" name="Text Box 31"/>
            <p:cNvSpPr txBox="1">
              <a:spLocks noChangeArrowheads="1"/>
            </p:cNvSpPr>
            <p:nvPr/>
          </p:nvSpPr>
          <p:spPr bwMode="auto">
            <a:xfrm>
              <a:off x="3952" y="1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63520" name="Text Box 32"/>
            <p:cNvSpPr txBox="1">
              <a:spLocks noChangeArrowheads="1"/>
            </p:cNvSpPr>
            <p:nvPr/>
          </p:nvSpPr>
          <p:spPr bwMode="auto">
            <a:xfrm>
              <a:off x="3686" y="3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63510" name="Line 22"/>
            <p:cNvSpPr>
              <a:spLocks noChangeShapeType="1"/>
            </p:cNvSpPr>
            <p:nvPr/>
          </p:nvSpPr>
          <p:spPr bwMode="auto">
            <a:xfrm>
              <a:off x="4502" y="562"/>
              <a:ext cx="0" cy="6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1" name="Line 23"/>
            <p:cNvSpPr>
              <a:spLocks noChangeShapeType="1"/>
            </p:cNvSpPr>
            <p:nvPr/>
          </p:nvSpPr>
          <p:spPr bwMode="auto">
            <a:xfrm flipV="1">
              <a:off x="4248" y="560"/>
              <a:ext cx="0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3512" name="AutoShape 24"/>
            <p:cNvCxnSpPr>
              <a:cxnSpLocks noChangeShapeType="1"/>
            </p:cNvCxnSpPr>
            <p:nvPr/>
          </p:nvCxnSpPr>
          <p:spPr bwMode="auto">
            <a:xfrm flipV="1">
              <a:off x="4254" y="558"/>
              <a:ext cx="254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3513" name="Text Box 25"/>
            <p:cNvSpPr txBox="1">
              <a:spLocks noChangeArrowheads="1"/>
            </p:cNvSpPr>
            <p:nvPr/>
          </p:nvSpPr>
          <p:spPr bwMode="auto">
            <a:xfrm>
              <a:off x="4468" y="4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63514" name="Text Box 26"/>
            <p:cNvSpPr txBox="1">
              <a:spLocks noChangeArrowheads="1"/>
            </p:cNvSpPr>
            <p:nvPr/>
          </p:nvSpPr>
          <p:spPr bwMode="auto">
            <a:xfrm>
              <a:off x="4216" y="7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3300"/>
                  </a:solidFill>
                </a:rPr>
                <a:t>*</a:t>
              </a:r>
            </a:p>
          </p:txBody>
        </p:sp>
        <p:sp>
          <p:nvSpPr>
            <p:cNvPr id="63534" name="Oval 46"/>
            <p:cNvSpPr>
              <a:spLocks noChangeArrowheads="1"/>
            </p:cNvSpPr>
            <p:nvPr/>
          </p:nvSpPr>
          <p:spPr bwMode="auto">
            <a:xfrm>
              <a:off x="4365" y="660"/>
              <a:ext cx="272" cy="272"/>
            </a:xfrm>
            <a:prstGeom prst="ellipse">
              <a:avLst/>
            </a:prstGeom>
            <a:solidFill>
              <a:schemeClr val="accent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solidFill>
                    <a:schemeClr val="tx1"/>
                  </a:solidFill>
                </a:rPr>
                <a:t>W</a:t>
              </a:r>
              <a:r>
                <a:rPr lang="en-US" altLang="zh-CN" sz="2000" baseline="-25000">
                  <a:solidFill>
                    <a:schemeClr val="tx1"/>
                  </a:solidFill>
                </a:rPr>
                <a:t>2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63545" name="Object 57"/>
          <p:cNvGraphicFramePr>
            <a:graphicFrameLocks noChangeAspect="1"/>
          </p:cNvGraphicFramePr>
          <p:nvPr/>
        </p:nvGraphicFramePr>
        <p:xfrm>
          <a:off x="830263" y="822325"/>
          <a:ext cx="23749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9" name="Equation" r:id="rId7" imgW="1180800" imgH="228600" progId="Equation.3">
                  <p:embed/>
                </p:oleObj>
              </mc:Choice>
              <mc:Fallback>
                <p:oleObj name="Equation" r:id="rId7" imgW="1180800" imgH="22860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822325"/>
                        <a:ext cx="23749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46" name="Object 58"/>
          <p:cNvGraphicFramePr>
            <a:graphicFrameLocks noChangeAspect="1"/>
          </p:cNvGraphicFramePr>
          <p:nvPr/>
        </p:nvGraphicFramePr>
        <p:xfrm>
          <a:off x="830263" y="1530350"/>
          <a:ext cx="28352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0" name="Equation" r:id="rId9" imgW="1409400" imgH="228600" progId="Equation.3">
                  <p:embed/>
                </p:oleObj>
              </mc:Choice>
              <mc:Fallback>
                <p:oleObj name="Equation" r:id="rId9" imgW="1409400" imgH="2286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1530350"/>
                        <a:ext cx="28352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47" name="Object 59"/>
          <p:cNvGraphicFramePr>
            <a:graphicFrameLocks noChangeAspect="1"/>
          </p:cNvGraphicFramePr>
          <p:nvPr/>
        </p:nvGraphicFramePr>
        <p:xfrm>
          <a:off x="830263" y="2165350"/>
          <a:ext cx="3783012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1" name="Equation" r:id="rId11" imgW="1879560" imgH="431640" progId="Equation.3">
                  <p:embed/>
                </p:oleObj>
              </mc:Choice>
              <mc:Fallback>
                <p:oleObj name="Equation" r:id="rId11" imgW="1879560" imgH="43164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2165350"/>
                        <a:ext cx="3783012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48" name="Object 60"/>
          <p:cNvGraphicFramePr>
            <a:graphicFrameLocks noChangeAspect="1"/>
          </p:cNvGraphicFramePr>
          <p:nvPr/>
        </p:nvGraphicFramePr>
        <p:xfrm>
          <a:off x="830263" y="3240088"/>
          <a:ext cx="296386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2" name="Equation" r:id="rId13" imgW="1473120" imgH="228600" progId="Equation.3">
                  <p:embed/>
                </p:oleObj>
              </mc:Choice>
              <mc:Fallback>
                <p:oleObj name="Equation" r:id="rId13" imgW="1473120" imgH="2286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3240088"/>
                        <a:ext cx="296386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49" name="Object 61"/>
          <p:cNvGraphicFramePr>
            <a:graphicFrameLocks noChangeAspect="1"/>
          </p:cNvGraphicFramePr>
          <p:nvPr/>
        </p:nvGraphicFramePr>
        <p:xfrm>
          <a:off x="830263" y="3903663"/>
          <a:ext cx="26320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3" name="Equation" r:id="rId15" imgW="1307880" imgH="241200" progId="Equation.3">
                  <p:embed/>
                </p:oleObj>
              </mc:Choice>
              <mc:Fallback>
                <p:oleObj name="Equation" r:id="rId15" imgW="1307880" imgH="24120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3903663"/>
                        <a:ext cx="26320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57" name="Text Box 69"/>
          <p:cNvSpPr txBox="1">
            <a:spLocks noChangeArrowheads="1"/>
          </p:cNvSpPr>
          <p:nvPr/>
        </p:nvSpPr>
        <p:spPr bwMode="auto">
          <a:xfrm>
            <a:off x="4870450" y="3189288"/>
            <a:ext cx="2103438" cy="45720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表</a:t>
            </a:r>
            <a:r>
              <a:rPr lang="en-US" altLang="zh-CN">
                <a:solidFill>
                  <a:schemeClr val="tx1"/>
                </a:solidFill>
              </a:rPr>
              <a:t>W</a:t>
            </a:r>
            <a:r>
              <a:rPr lang="en-US" altLang="zh-CN" baseline="-25000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的读数</a:t>
            </a:r>
            <a:r>
              <a:rPr lang="en-US" altLang="zh-CN" i="1">
                <a:solidFill>
                  <a:schemeClr val="tx1"/>
                </a:solidFill>
              </a:rPr>
              <a:t>P</a:t>
            </a:r>
            <a:r>
              <a:rPr lang="en-US" altLang="zh-CN" baseline="-25000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3558" name="Text Box 70"/>
          <p:cNvSpPr txBox="1">
            <a:spLocks noChangeArrowheads="1"/>
          </p:cNvSpPr>
          <p:nvPr/>
        </p:nvSpPr>
        <p:spPr bwMode="auto">
          <a:xfrm>
            <a:off x="4886325" y="3646488"/>
            <a:ext cx="39719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tx1"/>
                </a:solidFill>
              </a:rPr>
              <a:t>P</a:t>
            </a:r>
            <a:r>
              <a:rPr lang="en-US" altLang="zh-CN" baseline="-25000">
                <a:solidFill>
                  <a:schemeClr val="tx1"/>
                </a:solidFill>
              </a:rPr>
              <a:t>1</a:t>
            </a:r>
            <a:r>
              <a:rPr lang="en-US" altLang="zh-CN">
                <a:solidFill>
                  <a:schemeClr val="tx1"/>
                </a:solidFill>
              </a:rPr>
              <a:t>=</a:t>
            </a:r>
            <a:r>
              <a:rPr lang="en-US" altLang="zh-CN" i="1">
                <a:solidFill>
                  <a:schemeClr val="tx1"/>
                </a:solidFill>
              </a:rPr>
              <a:t>U</a:t>
            </a:r>
            <a:r>
              <a:rPr lang="en-US" altLang="zh-CN" baseline="-25000">
                <a:solidFill>
                  <a:schemeClr val="tx1"/>
                </a:solidFill>
              </a:rPr>
              <a:t>AC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A2</a:t>
            </a:r>
            <a:r>
              <a:rPr lang="en-US" altLang="zh-CN">
                <a:solidFill>
                  <a:schemeClr val="tx1"/>
                </a:solidFill>
              </a:rPr>
              <a:t>cos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 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 =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3803.23</a:t>
            </a:r>
            <a:r>
              <a:rPr lang="en-US" altLang="zh-CN">
                <a:solidFill>
                  <a:schemeClr val="tx1"/>
                </a:solidFill>
              </a:rPr>
              <a:t>cos(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–</a:t>
            </a:r>
            <a:r>
              <a:rPr lang="en-US" altLang="zh-CN">
                <a:solidFill>
                  <a:schemeClr val="tx1"/>
                </a:solidFill>
              </a:rPr>
              <a:t> 30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+ </a:t>
            </a:r>
            <a:r>
              <a:rPr lang="en-US" altLang="zh-CN">
                <a:solidFill>
                  <a:schemeClr val="tx1"/>
                </a:solidFill>
              </a:rPr>
              <a:t>36.9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 =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1218.5W</a:t>
            </a:r>
            <a:endParaRPr lang="en-US" altLang="zh-CN" i="1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3559" name="Text Box 71"/>
          <p:cNvSpPr txBox="1">
            <a:spLocks noChangeArrowheads="1"/>
          </p:cNvSpPr>
          <p:nvPr/>
        </p:nvSpPr>
        <p:spPr bwMode="auto">
          <a:xfrm>
            <a:off x="814388" y="4762500"/>
            <a:ext cx="2103437" cy="457200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表</a:t>
            </a:r>
            <a:r>
              <a:rPr lang="en-US" altLang="zh-CN">
                <a:solidFill>
                  <a:schemeClr val="tx1"/>
                </a:solidFill>
              </a:rPr>
              <a:t>W</a:t>
            </a:r>
            <a:r>
              <a:rPr lang="en-US" altLang="zh-CN" baseline="-25000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的读数</a:t>
            </a:r>
            <a:r>
              <a:rPr lang="en-US" altLang="zh-CN" i="1">
                <a:solidFill>
                  <a:schemeClr val="tx1"/>
                </a:solidFill>
              </a:rPr>
              <a:t>P</a:t>
            </a:r>
            <a:r>
              <a:rPr lang="en-US" altLang="zh-CN" baseline="-25000">
                <a:solidFill>
                  <a:schemeClr val="tx1"/>
                </a:solidFill>
              </a:rPr>
              <a:t>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3560" name="Text Box 72"/>
          <p:cNvSpPr txBox="1">
            <a:spLocks noChangeArrowheads="1"/>
          </p:cNvSpPr>
          <p:nvPr/>
        </p:nvSpPr>
        <p:spPr bwMode="auto">
          <a:xfrm>
            <a:off x="849313" y="5380038"/>
            <a:ext cx="7613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tx1"/>
                </a:solidFill>
              </a:rPr>
              <a:t>P</a:t>
            </a:r>
            <a:r>
              <a:rPr lang="en-US" altLang="zh-CN" baseline="-25000">
                <a:solidFill>
                  <a:schemeClr val="tx1"/>
                </a:solidFill>
              </a:rPr>
              <a:t>2</a:t>
            </a:r>
            <a:r>
              <a:rPr lang="en-US" altLang="zh-CN">
                <a:solidFill>
                  <a:schemeClr val="tx1"/>
                </a:solidFill>
              </a:rPr>
              <a:t>=</a:t>
            </a:r>
            <a:r>
              <a:rPr lang="en-US" altLang="zh-CN" i="1">
                <a:solidFill>
                  <a:schemeClr val="tx1"/>
                </a:solidFill>
              </a:rPr>
              <a:t>U</a:t>
            </a:r>
            <a:r>
              <a:rPr lang="en-US" altLang="zh-CN" baseline="-25000">
                <a:solidFill>
                  <a:schemeClr val="tx1"/>
                </a:solidFill>
              </a:rPr>
              <a:t>BC</a:t>
            </a:r>
            <a:r>
              <a:rPr lang="en-US" altLang="zh-CN" i="1">
                <a:solidFill>
                  <a:schemeClr val="tx1"/>
                </a:solidFill>
              </a:rPr>
              <a:t>I</a:t>
            </a:r>
            <a:r>
              <a:rPr lang="en-US" altLang="zh-CN" baseline="-25000">
                <a:solidFill>
                  <a:schemeClr val="tx1"/>
                </a:solidFill>
              </a:rPr>
              <a:t>B2</a:t>
            </a:r>
            <a:r>
              <a:rPr lang="en-US" altLang="zh-CN">
                <a:solidFill>
                  <a:schemeClr val="tx1"/>
                </a:solidFill>
              </a:rPr>
              <a:t>cos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  </a:t>
            </a:r>
            <a:r>
              <a:rPr lang="en-US" altLang="zh-CN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=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3803.23</a:t>
            </a:r>
            <a:r>
              <a:rPr lang="en-US" altLang="zh-CN">
                <a:solidFill>
                  <a:schemeClr val="tx1"/>
                </a:solidFill>
              </a:rPr>
              <a:t>cos(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–</a:t>
            </a:r>
            <a:r>
              <a:rPr lang="en-US" altLang="zh-CN">
                <a:solidFill>
                  <a:schemeClr val="tx1"/>
                </a:solidFill>
              </a:rPr>
              <a:t> 156.9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+</a:t>
            </a:r>
            <a:r>
              <a:rPr lang="en-US" altLang="zh-CN">
                <a:solidFill>
                  <a:schemeClr val="tx1"/>
                </a:solidFill>
              </a:rPr>
              <a:t>90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i="1">
                <a:solidFill>
                  <a:schemeClr val="tx1"/>
                </a:solidFill>
                <a:sym typeface="Symbol" panose="05050102010706020507" pitchFamily="18" charset="2"/>
              </a:rPr>
              <a:t> =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481.6W</a:t>
            </a:r>
            <a:endParaRPr lang="en-US" altLang="zh-CN" i="1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6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6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63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63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6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57" grpId="0" animBg="1" autoUpdateAnimBg="0"/>
      <p:bldP spid="63558" grpId="0" autoUpdateAnimBg="0"/>
      <p:bldP spid="63559" grpId="0" animBg="1" autoUpdateAnimBg="0"/>
      <p:bldP spid="63560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628650" y="-8733"/>
            <a:ext cx="7886700" cy="1325563"/>
          </a:xfrm>
        </p:spPr>
        <p:txBody>
          <a:bodyPr/>
          <a:lstStyle/>
          <a:p>
            <a:pPr algn="ctr"/>
            <a:r>
              <a:rPr lang="zh-CN" altLang="en-US" dirty="0"/>
              <a:t>作业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4688" cy="5181600"/>
          </a:xfrm>
        </p:spPr>
        <p:txBody>
          <a:bodyPr/>
          <a:lstStyle/>
          <a:p>
            <a:r>
              <a:rPr lang="zh-CN" altLang="en-US" dirty="0"/>
              <a:t>第十一章 </a:t>
            </a:r>
            <a:r>
              <a:rPr lang="en-US" altLang="zh-CN" dirty="0"/>
              <a:t>P462 </a:t>
            </a:r>
            <a:r>
              <a:rPr lang="zh-CN" altLang="en-US" dirty="0"/>
              <a:t>例</a:t>
            </a:r>
            <a:r>
              <a:rPr lang="en-US" altLang="zh-CN" dirty="0"/>
              <a:t>11-7-2(</a:t>
            </a:r>
            <a:r>
              <a:rPr lang="zh-CN" altLang="en-US" dirty="0"/>
              <a:t>要求：抄题画图；采用开路电压与短路电流比值法求等效阻抗；答题完整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12.3</a:t>
            </a:r>
            <a:r>
              <a:rPr lang="zh-CN" altLang="en-US" dirty="0"/>
              <a:t>节：</a:t>
            </a:r>
            <a:r>
              <a:rPr lang="en-US" altLang="zh-CN" dirty="0"/>
              <a:t>12-8</a:t>
            </a:r>
          </a:p>
          <a:p>
            <a:r>
              <a:rPr lang="en-US" altLang="zh-CN" dirty="0"/>
              <a:t>12.4</a:t>
            </a:r>
            <a:r>
              <a:rPr lang="zh-CN" altLang="en-US" dirty="0"/>
              <a:t>节：</a:t>
            </a:r>
            <a:r>
              <a:rPr lang="en-US" altLang="zh-CN" dirty="0"/>
              <a:t>12-20</a:t>
            </a:r>
          </a:p>
          <a:p>
            <a:r>
              <a:rPr lang="en-US" altLang="zh-CN" dirty="0"/>
              <a:t>12.5</a:t>
            </a:r>
            <a:r>
              <a:rPr lang="zh-CN" altLang="en-US" dirty="0"/>
              <a:t>节：</a:t>
            </a:r>
            <a:r>
              <a:rPr lang="en-US" altLang="zh-CN" dirty="0"/>
              <a:t>12-26</a:t>
            </a:r>
          </a:p>
          <a:p>
            <a:r>
              <a:rPr lang="en-US" altLang="zh-CN" dirty="0"/>
              <a:t>12.6</a:t>
            </a:r>
            <a:r>
              <a:rPr lang="zh-CN" altLang="en-US" dirty="0"/>
              <a:t>节：</a:t>
            </a:r>
            <a:r>
              <a:rPr lang="en-US" altLang="zh-CN" dirty="0"/>
              <a:t>12-28</a:t>
            </a:r>
          </a:p>
          <a:p>
            <a:r>
              <a:rPr lang="zh-CN" altLang="en-US" dirty="0"/>
              <a:t>综合：</a:t>
            </a:r>
            <a:r>
              <a:rPr lang="en-US" altLang="zh-CN" dirty="0"/>
              <a:t>12-34</a:t>
            </a: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2024/5/10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ECC24-E164-4786-A8C5-2CB7D75106FC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9867347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6773</TotalTime>
  <Words>3092</Words>
  <Application>Microsoft Office PowerPoint</Application>
  <PresentationFormat>全屏显示(4:3)</PresentationFormat>
  <Paragraphs>810</Paragraphs>
  <Slides>60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60</vt:i4>
      </vt:variant>
    </vt:vector>
  </HeadingPairs>
  <TitlesOfParts>
    <vt:vector size="74" baseType="lpstr">
      <vt:lpstr>黑体</vt:lpstr>
      <vt:lpstr>楷体_GB2312</vt:lpstr>
      <vt:lpstr>隶书</vt:lpstr>
      <vt:lpstr>宋体</vt:lpstr>
      <vt:lpstr>微软雅黑</vt:lpstr>
      <vt:lpstr>-윤고딕120</vt:lpstr>
      <vt:lpstr>Arial</vt:lpstr>
      <vt:lpstr>Symbol</vt:lpstr>
      <vt:lpstr>Times New Roman</vt:lpstr>
      <vt:lpstr>Wingdings</vt:lpstr>
      <vt:lpstr>默认设计模板</vt:lpstr>
      <vt:lpstr>公式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thcic</dc:creator>
  <cp:lastModifiedBy>Administrator</cp:lastModifiedBy>
  <cp:revision>295</cp:revision>
  <cp:lastPrinted>2001-04-09T08:21:20Z</cp:lastPrinted>
  <dcterms:created xsi:type="dcterms:W3CDTF">1998-05-18T06:26:14Z</dcterms:created>
  <dcterms:modified xsi:type="dcterms:W3CDTF">2024-05-10T00:47:49Z</dcterms:modified>
</cp:coreProperties>
</file>