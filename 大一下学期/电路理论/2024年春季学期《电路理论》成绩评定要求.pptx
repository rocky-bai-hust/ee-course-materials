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301" r:id="rId2"/>
    <p:sldId id="302" r:id="rId3"/>
    <p:sldId id="303" r:id="rId4"/>
  </p:sldIdLst>
  <p:sldSz cx="10566400" cy="7924800"/>
  <p:notesSz cx="14389100" cy="79248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158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499" autoAdjust="0"/>
  </p:normalViewPr>
  <p:slideViewPr>
    <p:cSldViewPr>
      <p:cViewPr varScale="1">
        <p:scale>
          <a:sx n="60" d="100"/>
          <a:sy n="60" d="100"/>
        </p:scale>
        <p:origin x="1497" y="33"/>
      </p:cViewPr>
      <p:guideLst>
        <p:guide orient="horz" pos="2880"/>
        <p:guide pos="1586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6235700" cy="3968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8150225" y="0"/>
            <a:ext cx="6235700" cy="3968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A3A99F-8D1D-4B43-9E9A-254256F5E120}" type="datetimeFigureOut">
              <a:rPr lang="zh-CN" altLang="en-US" smtClean="0"/>
              <a:t>2024/2/22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5411788" y="990600"/>
            <a:ext cx="3565525" cy="267493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1438275" y="3813175"/>
            <a:ext cx="11512550" cy="31210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7527925"/>
            <a:ext cx="6235700" cy="3968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8150225" y="7527925"/>
            <a:ext cx="6235700" cy="3968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E0395A-745F-4D3C-8A1A-CE9E20A06F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08262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.png"/><Relationship Id="rId7" Type="http://schemas.openxmlformats.org/officeDocument/2006/relationships/image" Target="../media/image5.jp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8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jp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93109" y="2456691"/>
            <a:ext cx="8988574" cy="1664207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86218" y="4437888"/>
            <a:ext cx="7402355" cy="1981200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/>
          <a:p>
            <a:pPr marL="9326"/>
            <a:r>
              <a:rPr lang="en-US" altLang="zh-CN" sz="881" spc="-15">
                <a:solidFill>
                  <a:srgbClr val="FF9966"/>
                </a:solidFill>
                <a:latin typeface="Arial"/>
                <a:cs typeface="Arial"/>
              </a:rPr>
              <a:t>10</a:t>
            </a:r>
            <a:r>
              <a:rPr lang="en-US" altLang="zh-CN" sz="881" spc="59">
                <a:solidFill>
                  <a:srgbClr val="FF9966"/>
                </a:solidFill>
                <a:latin typeface="Arial"/>
                <a:cs typeface="Arial"/>
              </a:rPr>
              <a:t>/5/</a:t>
            </a:r>
            <a:r>
              <a:rPr lang="en-US" altLang="zh-CN" sz="881" spc="84">
                <a:solidFill>
                  <a:srgbClr val="FF9966"/>
                </a:solidFill>
                <a:latin typeface="Arial"/>
                <a:cs typeface="Arial"/>
              </a:rPr>
              <a:t>2</a:t>
            </a:r>
            <a:r>
              <a:rPr lang="en-US" altLang="zh-CN" sz="881" spc="-15">
                <a:solidFill>
                  <a:srgbClr val="FF9966"/>
                </a:solidFill>
                <a:latin typeface="Arial"/>
                <a:cs typeface="Arial"/>
              </a:rPr>
              <a:t>01</a:t>
            </a:r>
            <a:r>
              <a:rPr lang="en-US" altLang="zh-CN" sz="881" spc="-7">
                <a:solidFill>
                  <a:srgbClr val="FF9966"/>
                </a:solidFill>
                <a:latin typeface="Arial"/>
                <a:cs typeface="Arial"/>
              </a:rPr>
              <a:t>8</a:t>
            </a:r>
            <a:endParaRPr lang="zh-CN" altLang="en-US" sz="881">
              <a:latin typeface="Arial"/>
              <a:cs typeface="Arial"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/>
          <a:p>
            <a:pPr marL="9326"/>
            <a:r>
              <a:rPr lang="zh-CN" altLang="en-US" sz="881" spc="-4">
                <a:solidFill>
                  <a:srgbClr val="FF9966"/>
                </a:solidFill>
                <a:latin typeface="Adobe 黑体 Std R"/>
                <a:cs typeface="Adobe 黑体 Std R"/>
              </a:rPr>
              <a:t>华中科技大学</a:t>
            </a:r>
            <a:endParaRPr lang="zh-CN" altLang="en-US" sz="881">
              <a:latin typeface="Adobe 黑体 Std R"/>
              <a:cs typeface="Adobe 黑体 Std R"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/>
          <a:p>
            <a:pPr marL="80197"/>
            <a:fld id="{81D60167-4931-47E6-BA6A-407CBD079E47}" type="slidenum">
              <a:rPr lang="en-US" altLang="zh-CN" sz="881" spc="-7" smtClean="0">
                <a:solidFill>
                  <a:srgbClr val="FF9966"/>
                </a:solidFill>
                <a:latin typeface="Arial"/>
                <a:cs typeface="Arial"/>
              </a:rPr>
              <a:pPr marL="80197"/>
              <a:t>‹#›</a:t>
            </a:fld>
            <a:endParaRPr lang="zh-CN" altLang="en-US" sz="881">
              <a:latin typeface="Arial"/>
              <a:cs typeface="Aria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/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/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/>
          <a:p>
            <a:pPr marL="9326"/>
            <a:r>
              <a:rPr lang="en-US" altLang="zh-CN" sz="881" spc="-15">
                <a:solidFill>
                  <a:srgbClr val="FF9966"/>
                </a:solidFill>
                <a:latin typeface="Arial"/>
                <a:cs typeface="Arial"/>
              </a:rPr>
              <a:t>10</a:t>
            </a:r>
            <a:r>
              <a:rPr lang="en-US" altLang="zh-CN" sz="881" spc="59">
                <a:solidFill>
                  <a:srgbClr val="FF9966"/>
                </a:solidFill>
                <a:latin typeface="Arial"/>
                <a:cs typeface="Arial"/>
              </a:rPr>
              <a:t>/5/</a:t>
            </a:r>
            <a:r>
              <a:rPr lang="en-US" altLang="zh-CN" sz="881" spc="84">
                <a:solidFill>
                  <a:srgbClr val="FF9966"/>
                </a:solidFill>
                <a:latin typeface="Arial"/>
                <a:cs typeface="Arial"/>
              </a:rPr>
              <a:t>2</a:t>
            </a:r>
            <a:r>
              <a:rPr lang="en-US" altLang="zh-CN" sz="881" spc="-15">
                <a:solidFill>
                  <a:srgbClr val="FF9966"/>
                </a:solidFill>
                <a:latin typeface="Arial"/>
                <a:cs typeface="Arial"/>
              </a:rPr>
              <a:t>01</a:t>
            </a:r>
            <a:r>
              <a:rPr lang="en-US" altLang="zh-CN" sz="881" spc="-7">
                <a:solidFill>
                  <a:srgbClr val="FF9966"/>
                </a:solidFill>
                <a:latin typeface="Arial"/>
                <a:cs typeface="Arial"/>
              </a:rPr>
              <a:t>8</a:t>
            </a:r>
            <a:endParaRPr lang="zh-CN" altLang="en-US" sz="881">
              <a:latin typeface="Arial"/>
              <a:cs typeface="Arial"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/>
          <a:p>
            <a:pPr marL="9326"/>
            <a:r>
              <a:rPr lang="zh-CN" altLang="en-US" sz="881" spc="-4">
                <a:solidFill>
                  <a:srgbClr val="FF9966"/>
                </a:solidFill>
                <a:latin typeface="Adobe 黑体 Std R"/>
                <a:cs typeface="Adobe 黑体 Std R"/>
              </a:rPr>
              <a:t>华中科技大学</a:t>
            </a:r>
            <a:endParaRPr lang="zh-CN" altLang="en-US" sz="881">
              <a:latin typeface="Adobe 黑体 Std R"/>
              <a:cs typeface="Adobe 黑体 Std R"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/>
          <a:p>
            <a:pPr marL="80197"/>
            <a:fld id="{81D60167-4931-47E6-BA6A-407CBD079E47}" type="slidenum">
              <a:rPr lang="en-US" altLang="zh-CN" sz="881" spc="-7" smtClean="0">
                <a:solidFill>
                  <a:srgbClr val="FF9966"/>
                </a:solidFill>
                <a:latin typeface="Arial"/>
                <a:cs typeface="Arial"/>
              </a:rPr>
              <a:pPr marL="80197"/>
              <a:t>‹#›</a:t>
            </a:fld>
            <a:endParaRPr lang="zh-CN" altLang="en-US" sz="881">
              <a:latin typeface="Arial"/>
              <a:cs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1" y="0"/>
            <a:ext cx="10574607" cy="792022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sz="1322"/>
          </a:p>
        </p:txBody>
      </p:sp>
      <p:sp>
        <p:nvSpPr>
          <p:cNvPr id="17" name="bk object 17"/>
          <p:cNvSpPr/>
          <p:nvPr/>
        </p:nvSpPr>
        <p:spPr>
          <a:xfrm>
            <a:off x="0" y="3"/>
            <a:ext cx="10574606" cy="118770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sz="1322"/>
          </a:p>
        </p:txBody>
      </p:sp>
      <p:sp>
        <p:nvSpPr>
          <p:cNvPr id="18" name="bk object 18"/>
          <p:cNvSpPr/>
          <p:nvPr/>
        </p:nvSpPr>
        <p:spPr>
          <a:xfrm>
            <a:off x="5087913" y="3"/>
            <a:ext cx="5486693" cy="69273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sz="1322"/>
          </a:p>
        </p:txBody>
      </p:sp>
      <p:sp>
        <p:nvSpPr>
          <p:cNvPr id="19" name="bk object 19"/>
          <p:cNvSpPr/>
          <p:nvPr/>
        </p:nvSpPr>
        <p:spPr>
          <a:xfrm>
            <a:off x="1" y="3"/>
            <a:ext cx="10255805" cy="126837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sz="1322"/>
          </a:p>
        </p:txBody>
      </p:sp>
      <p:sp>
        <p:nvSpPr>
          <p:cNvPr id="20" name="bk object 20"/>
          <p:cNvSpPr/>
          <p:nvPr/>
        </p:nvSpPr>
        <p:spPr>
          <a:xfrm>
            <a:off x="1" y="3"/>
            <a:ext cx="10500095" cy="1192841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sz="1322"/>
          </a:p>
        </p:txBody>
      </p:sp>
      <p:sp>
        <p:nvSpPr>
          <p:cNvPr id="21" name="bk object 21"/>
          <p:cNvSpPr/>
          <p:nvPr/>
        </p:nvSpPr>
        <p:spPr>
          <a:xfrm>
            <a:off x="0" y="0"/>
            <a:ext cx="10574606" cy="7920224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sz="1322"/>
          </a:p>
        </p:txBody>
      </p:sp>
      <p:sp>
        <p:nvSpPr>
          <p:cNvPr id="22" name="bk object 22"/>
          <p:cNvSpPr/>
          <p:nvPr/>
        </p:nvSpPr>
        <p:spPr>
          <a:xfrm>
            <a:off x="6361104" y="1941576"/>
            <a:ext cx="1161650" cy="4754880"/>
          </a:xfrm>
          <a:custGeom>
            <a:avLst/>
            <a:gdLst/>
            <a:ahLst/>
            <a:cxnLst/>
            <a:rect l="l" t="t" r="r" b="b"/>
            <a:pathLst>
              <a:path w="1581911" h="4754880">
                <a:moveTo>
                  <a:pt x="1433702" y="0"/>
                </a:moveTo>
                <a:lnTo>
                  <a:pt x="140762" y="184"/>
                </a:lnTo>
                <a:lnTo>
                  <a:pt x="98683" y="8492"/>
                </a:lnTo>
                <a:lnTo>
                  <a:pt x="61799" y="27821"/>
                </a:lnTo>
                <a:lnTo>
                  <a:pt x="31951" y="56328"/>
                </a:lnTo>
                <a:lnTo>
                  <a:pt x="10978" y="92175"/>
                </a:lnTo>
                <a:lnTo>
                  <a:pt x="720" y="133522"/>
                </a:lnTo>
                <a:lnTo>
                  <a:pt x="0" y="148209"/>
                </a:lnTo>
                <a:lnTo>
                  <a:pt x="184" y="4614117"/>
                </a:lnTo>
                <a:lnTo>
                  <a:pt x="8492" y="4656196"/>
                </a:lnTo>
                <a:lnTo>
                  <a:pt x="27821" y="4693080"/>
                </a:lnTo>
                <a:lnTo>
                  <a:pt x="56328" y="4722928"/>
                </a:lnTo>
                <a:lnTo>
                  <a:pt x="92175" y="4743901"/>
                </a:lnTo>
                <a:lnTo>
                  <a:pt x="133522" y="4754159"/>
                </a:lnTo>
                <a:lnTo>
                  <a:pt x="148208" y="4754880"/>
                </a:lnTo>
                <a:lnTo>
                  <a:pt x="1441149" y="4754695"/>
                </a:lnTo>
                <a:lnTo>
                  <a:pt x="1483228" y="4746387"/>
                </a:lnTo>
                <a:lnTo>
                  <a:pt x="1520112" y="4727058"/>
                </a:lnTo>
                <a:lnTo>
                  <a:pt x="1549960" y="4698551"/>
                </a:lnTo>
                <a:lnTo>
                  <a:pt x="1570933" y="4662704"/>
                </a:lnTo>
                <a:lnTo>
                  <a:pt x="1581191" y="4621357"/>
                </a:lnTo>
                <a:lnTo>
                  <a:pt x="1581911" y="4606671"/>
                </a:lnTo>
                <a:lnTo>
                  <a:pt x="1581727" y="140762"/>
                </a:lnTo>
                <a:lnTo>
                  <a:pt x="1573419" y="98683"/>
                </a:lnTo>
                <a:lnTo>
                  <a:pt x="1554090" y="61799"/>
                </a:lnTo>
                <a:lnTo>
                  <a:pt x="1525583" y="31951"/>
                </a:lnTo>
                <a:lnTo>
                  <a:pt x="1489736" y="10978"/>
                </a:lnTo>
                <a:lnTo>
                  <a:pt x="1448389" y="720"/>
                </a:lnTo>
                <a:lnTo>
                  <a:pt x="1433702" y="0"/>
                </a:lnTo>
                <a:close/>
              </a:path>
            </a:pathLst>
          </a:custGeom>
          <a:solidFill>
            <a:srgbClr val="91C5F7"/>
          </a:solidFill>
        </p:spPr>
        <p:txBody>
          <a:bodyPr wrap="square" lIns="0" tIns="0" rIns="0" bIns="0" rtlCol="0">
            <a:noAutofit/>
          </a:bodyPr>
          <a:lstStyle/>
          <a:p>
            <a:endParaRPr sz="1322"/>
          </a:p>
        </p:txBody>
      </p:sp>
      <p:sp>
        <p:nvSpPr>
          <p:cNvPr id="23" name="bk object 23"/>
          <p:cNvSpPr/>
          <p:nvPr/>
        </p:nvSpPr>
        <p:spPr>
          <a:xfrm>
            <a:off x="3876647" y="1941576"/>
            <a:ext cx="2415070" cy="4754880"/>
          </a:xfrm>
          <a:custGeom>
            <a:avLst/>
            <a:gdLst/>
            <a:ahLst/>
            <a:cxnLst/>
            <a:rect l="l" t="t" r="r" b="b"/>
            <a:pathLst>
              <a:path w="3288792" h="4754880">
                <a:moveTo>
                  <a:pt x="2980563" y="0"/>
                </a:moveTo>
                <a:lnTo>
                  <a:pt x="308228" y="0"/>
                </a:lnTo>
                <a:lnTo>
                  <a:pt x="282956" y="1022"/>
                </a:lnTo>
                <a:lnTo>
                  <a:pt x="234174" y="8960"/>
                </a:lnTo>
                <a:lnTo>
                  <a:pt x="188273" y="24229"/>
                </a:lnTo>
                <a:lnTo>
                  <a:pt x="145889" y="46191"/>
                </a:lnTo>
                <a:lnTo>
                  <a:pt x="107657" y="74212"/>
                </a:lnTo>
                <a:lnTo>
                  <a:pt x="74212" y="107657"/>
                </a:lnTo>
                <a:lnTo>
                  <a:pt x="46191" y="145889"/>
                </a:lnTo>
                <a:lnTo>
                  <a:pt x="24229" y="188273"/>
                </a:lnTo>
                <a:lnTo>
                  <a:pt x="8960" y="234174"/>
                </a:lnTo>
                <a:lnTo>
                  <a:pt x="1022" y="282956"/>
                </a:lnTo>
                <a:lnTo>
                  <a:pt x="0" y="308228"/>
                </a:lnTo>
                <a:lnTo>
                  <a:pt x="0" y="4446651"/>
                </a:lnTo>
                <a:lnTo>
                  <a:pt x="4035" y="4496635"/>
                </a:lnTo>
                <a:lnTo>
                  <a:pt x="15718" y="4544055"/>
                </a:lnTo>
                <a:lnTo>
                  <a:pt x="34413" y="4588277"/>
                </a:lnTo>
                <a:lnTo>
                  <a:pt x="59484" y="4628665"/>
                </a:lnTo>
                <a:lnTo>
                  <a:pt x="90297" y="4664583"/>
                </a:lnTo>
                <a:lnTo>
                  <a:pt x="126214" y="4695395"/>
                </a:lnTo>
                <a:lnTo>
                  <a:pt x="166602" y="4720466"/>
                </a:lnTo>
                <a:lnTo>
                  <a:pt x="210824" y="4739161"/>
                </a:lnTo>
                <a:lnTo>
                  <a:pt x="258244" y="4750844"/>
                </a:lnTo>
                <a:lnTo>
                  <a:pt x="308228" y="4754880"/>
                </a:lnTo>
                <a:lnTo>
                  <a:pt x="2980563" y="4754880"/>
                </a:lnTo>
                <a:lnTo>
                  <a:pt x="3030547" y="4750844"/>
                </a:lnTo>
                <a:lnTo>
                  <a:pt x="3077967" y="4739161"/>
                </a:lnTo>
                <a:lnTo>
                  <a:pt x="3122189" y="4720466"/>
                </a:lnTo>
                <a:lnTo>
                  <a:pt x="3162577" y="4695395"/>
                </a:lnTo>
                <a:lnTo>
                  <a:pt x="3198494" y="4664583"/>
                </a:lnTo>
                <a:lnTo>
                  <a:pt x="3229307" y="4628665"/>
                </a:lnTo>
                <a:lnTo>
                  <a:pt x="3254378" y="4588277"/>
                </a:lnTo>
                <a:lnTo>
                  <a:pt x="3273073" y="4544055"/>
                </a:lnTo>
                <a:lnTo>
                  <a:pt x="3284756" y="4496635"/>
                </a:lnTo>
                <a:lnTo>
                  <a:pt x="3288791" y="4446651"/>
                </a:lnTo>
                <a:lnTo>
                  <a:pt x="3288791" y="308228"/>
                </a:lnTo>
                <a:lnTo>
                  <a:pt x="3284756" y="258244"/>
                </a:lnTo>
                <a:lnTo>
                  <a:pt x="3273073" y="210824"/>
                </a:lnTo>
                <a:lnTo>
                  <a:pt x="3254378" y="166602"/>
                </a:lnTo>
                <a:lnTo>
                  <a:pt x="3229307" y="126214"/>
                </a:lnTo>
                <a:lnTo>
                  <a:pt x="3198495" y="90297"/>
                </a:lnTo>
                <a:lnTo>
                  <a:pt x="3162577" y="59484"/>
                </a:lnTo>
                <a:lnTo>
                  <a:pt x="3122189" y="34413"/>
                </a:lnTo>
                <a:lnTo>
                  <a:pt x="3077967" y="15718"/>
                </a:lnTo>
                <a:lnTo>
                  <a:pt x="3030547" y="4035"/>
                </a:lnTo>
                <a:lnTo>
                  <a:pt x="2980563" y="0"/>
                </a:lnTo>
                <a:close/>
              </a:path>
            </a:pathLst>
          </a:custGeom>
          <a:solidFill>
            <a:srgbClr val="91C5F7"/>
          </a:solidFill>
        </p:spPr>
        <p:txBody>
          <a:bodyPr wrap="square" lIns="0" tIns="0" rIns="0" bIns="0" rtlCol="0">
            <a:noAutofit/>
          </a:bodyPr>
          <a:lstStyle/>
          <a:p>
            <a:endParaRPr sz="1322"/>
          </a:p>
        </p:txBody>
      </p:sp>
      <p:sp>
        <p:nvSpPr>
          <p:cNvPr id="24" name="bk object 24"/>
          <p:cNvSpPr/>
          <p:nvPr/>
        </p:nvSpPr>
        <p:spPr>
          <a:xfrm>
            <a:off x="1338474" y="1941576"/>
            <a:ext cx="2467669" cy="4754880"/>
          </a:xfrm>
          <a:custGeom>
            <a:avLst/>
            <a:gdLst/>
            <a:ahLst/>
            <a:cxnLst/>
            <a:rect l="l" t="t" r="r" b="b"/>
            <a:pathLst>
              <a:path w="3360420" h="4754880">
                <a:moveTo>
                  <a:pt x="3045460" y="0"/>
                </a:moveTo>
                <a:lnTo>
                  <a:pt x="314959" y="0"/>
                </a:lnTo>
                <a:lnTo>
                  <a:pt x="289122" y="1043"/>
                </a:lnTo>
                <a:lnTo>
                  <a:pt x="239257" y="9151"/>
                </a:lnTo>
                <a:lnTo>
                  <a:pt x="192345" y="24745"/>
                </a:lnTo>
                <a:lnTo>
                  <a:pt x="149033" y="47178"/>
                </a:lnTo>
                <a:lnTo>
                  <a:pt x="109970" y="75802"/>
                </a:lnTo>
                <a:lnTo>
                  <a:pt x="75802" y="109970"/>
                </a:lnTo>
                <a:lnTo>
                  <a:pt x="47178" y="149033"/>
                </a:lnTo>
                <a:lnTo>
                  <a:pt x="24745" y="192345"/>
                </a:lnTo>
                <a:lnTo>
                  <a:pt x="9151" y="239257"/>
                </a:lnTo>
                <a:lnTo>
                  <a:pt x="1043" y="289122"/>
                </a:lnTo>
                <a:lnTo>
                  <a:pt x="0" y="314960"/>
                </a:lnTo>
                <a:lnTo>
                  <a:pt x="0" y="4439920"/>
                </a:lnTo>
                <a:lnTo>
                  <a:pt x="4121" y="4491018"/>
                </a:lnTo>
                <a:lnTo>
                  <a:pt x="16052" y="4539487"/>
                </a:lnTo>
                <a:lnTo>
                  <a:pt x="35147" y="4584680"/>
                </a:lnTo>
                <a:lnTo>
                  <a:pt x="60756" y="4625949"/>
                </a:lnTo>
                <a:lnTo>
                  <a:pt x="92233" y="4662646"/>
                </a:lnTo>
                <a:lnTo>
                  <a:pt x="128930" y="4694123"/>
                </a:lnTo>
                <a:lnTo>
                  <a:pt x="170199" y="4719732"/>
                </a:lnTo>
                <a:lnTo>
                  <a:pt x="215392" y="4738827"/>
                </a:lnTo>
                <a:lnTo>
                  <a:pt x="263861" y="4750758"/>
                </a:lnTo>
                <a:lnTo>
                  <a:pt x="314959" y="4754880"/>
                </a:lnTo>
                <a:lnTo>
                  <a:pt x="3045460" y="4754880"/>
                </a:lnTo>
                <a:lnTo>
                  <a:pt x="3096558" y="4750758"/>
                </a:lnTo>
                <a:lnTo>
                  <a:pt x="3145028" y="4738827"/>
                </a:lnTo>
                <a:lnTo>
                  <a:pt x="3190220" y="4719732"/>
                </a:lnTo>
                <a:lnTo>
                  <a:pt x="3231489" y="4694123"/>
                </a:lnTo>
                <a:lnTo>
                  <a:pt x="3268186" y="4662646"/>
                </a:lnTo>
                <a:lnTo>
                  <a:pt x="3299663" y="4625949"/>
                </a:lnTo>
                <a:lnTo>
                  <a:pt x="3325272" y="4584680"/>
                </a:lnTo>
                <a:lnTo>
                  <a:pt x="3344367" y="4539487"/>
                </a:lnTo>
                <a:lnTo>
                  <a:pt x="3356298" y="4491018"/>
                </a:lnTo>
                <a:lnTo>
                  <a:pt x="3360420" y="4439920"/>
                </a:lnTo>
                <a:lnTo>
                  <a:pt x="3360420" y="314960"/>
                </a:lnTo>
                <a:lnTo>
                  <a:pt x="3356298" y="263861"/>
                </a:lnTo>
                <a:lnTo>
                  <a:pt x="3344367" y="215391"/>
                </a:lnTo>
                <a:lnTo>
                  <a:pt x="3325272" y="170199"/>
                </a:lnTo>
                <a:lnTo>
                  <a:pt x="3299663" y="128930"/>
                </a:lnTo>
                <a:lnTo>
                  <a:pt x="3268186" y="92233"/>
                </a:lnTo>
                <a:lnTo>
                  <a:pt x="3231489" y="60756"/>
                </a:lnTo>
                <a:lnTo>
                  <a:pt x="3190220" y="35147"/>
                </a:lnTo>
                <a:lnTo>
                  <a:pt x="3145028" y="16052"/>
                </a:lnTo>
                <a:lnTo>
                  <a:pt x="3096558" y="4121"/>
                </a:lnTo>
                <a:lnTo>
                  <a:pt x="3045460" y="0"/>
                </a:lnTo>
                <a:close/>
              </a:path>
            </a:pathLst>
          </a:custGeom>
          <a:solidFill>
            <a:srgbClr val="91C5F7"/>
          </a:solidFill>
        </p:spPr>
        <p:txBody>
          <a:bodyPr wrap="square" lIns="0" tIns="0" rIns="0" bIns="0" rtlCol="0">
            <a:noAutofit/>
          </a:bodyPr>
          <a:lstStyle/>
          <a:p>
            <a:endParaRPr sz="1322"/>
          </a:p>
        </p:txBody>
      </p:sp>
      <p:sp>
        <p:nvSpPr>
          <p:cNvPr id="25" name="bk object 25"/>
          <p:cNvSpPr/>
          <p:nvPr/>
        </p:nvSpPr>
        <p:spPr>
          <a:xfrm>
            <a:off x="1329520" y="1231395"/>
            <a:ext cx="581945" cy="754379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sz="1322"/>
          </a:p>
        </p:txBody>
      </p:sp>
      <p:sp>
        <p:nvSpPr>
          <p:cNvPr id="26" name="bk object 26"/>
          <p:cNvSpPr/>
          <p:nvPr/>
        </p:nvSpPr>
        <p:spPr>
          <a:xfrm>
            <a:off x="1607064" y="1255779"/>
            <a:ext cx="2314349" cy="682751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sz="1322"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/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28739" y="1822704"/>
            <a:ext cx="4600035" cy="5230368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446019" y="1822704"/>
            <a:ext cx="4600035" cy="5230368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/>
          <a:p>
            <a:pPr marL="9326"/>
            <a:r>
              <a:rPr lang="en-US" altLang="zh-CN" sz="881" spc="-15">
                <a:solidFill>
                  <a:srgbClr val="FF9966"/>
                </a:solidFill>
                <a:latin typeface="Arial"/>
                <a:cs typeface="Arial"/>
              </a:rPr>
              <a:t>10</a:t>
            </a:r>
            <a:r>
              <a:rPr lang="en-US" altLang="zh-CN" sz="881" spc="59">
                <a:solidFill>
                  <a:srgbClr val="FF9966"/>
                </a:solidFill>
                <a:latin typeface="Arial"/>
                <a:cs typeface="Arial"/>
              </a:rPr>
              <a:t>/5/</a:t>
            </a:r>
            <a:r>
              <a:rPr lang="en-US" altLang="zh-CN" sz="881" spc="84">
                <a:solidFill>
                  <a:srgbClr val="FF9966"/>
                </a:solidFill>
                <a:latin typeface="Arial"/>
                <a:cs typeface="Arial"/>
              </a:rPr>
              <a:t>2</a:t>
            </a:r>
            <a:r>
              <a:rPr lang="en-US" altLang="zh-CN" sz="881" spc="-15">
                <a:solidFill>
                  <a:srgbClr val="FF9966"/>
                </a:solidFill>
                <a:latin typeface="Arial"/>
                <a:cs typeface="Arial"/>
              </a:rPr>
              <a:t>01</a:t>
            </a:r>
            <a:r>
              <a:rPr lang="en-US" altLang="zh-CN" sz="881" spc="-7">
                <a:solidFill>
                  <a:srgbClr val="FF9966"/>
                </a:solidFill>
                <a:latin typeface="Arial"/>
                <a:cs typeface="Arial"/>
              </a:rPr>
              <a:t>8</a:t>
            </a:r>
            <a:endParaRPr lang="zh-CN" altLang="en-US" sz="881">
              <a:latin typeface="Arial"/>
              <a:cs typeface="Arial"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/>
          <a:p>
            <a:pPr marL="9326"/>
            <a:r>
              <a:rPr lang="zh-CN" altLang="en-US" sz="881" spc="-4">
                <a:solidFill>
                  <a:srgbClr val="FF9966"/>
                </a:solidFill>
                <a:latin typeface="Adobe 黑体 Std R"/>
                <a:cs typeface="Adobe 黑体 Std R"/>
              </a:rPr>
              <a:t>华中科技大学</a:t>
            </a:r>
            <a:endParaRPr lang="zh-CN" altLang="en-US" sz="881">
              <a:latin typeface="Adobe 黑体 Std R"/>
              <a:cs typeface="Adobe 黑体 Std R"/>
            </a:endParaRP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/>
          <a:p>
            <a:pPr marL="80197"/>
            <a:fld id="{81D60167-4931-47E6-BA6A-407CBD079E47}" type="slidenum">
              <a:rPr lang="en-US" altLang="zh-CN" sz="881" spc="-7" smtClean="0">
                <a:solidFill>
                  <a:srgbClr val="FF9966"/>
                </a:solidFill>
                <a:latin typeface="Arial"/>
                <a:cs typeface="Arial"/>
              </a:rPr>
              <a:pPr marL="80197"/>
              <a:t>‹#›</a:t>
            </a:fld>
            <a:endParaRPr lang="zh-CN" altLang="en-US" sz="881">
              <a:latin typeface="Arial"/>
              <a:cs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/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/>
          <a:p>
            <a:pPr marL="9326"/>
            <a:r>
              <a:rPr lang="en-US" altLang="zh-CN" sz="881" spc="-15">
                <a:solidFill>
                  <a:srgbClr val="FF9966"/>
                </a:solidFill>
                <a:latin typeface="Arial"/>
                <a:cs typeface="Arial"/>
              </a:rPr>
              <a:t>10</a:t>
            </a:r>
            <a:r>
              <a:rPr lang="en-US" altLang="zh-CN" sz="881" spc="59">
                <a:solidFill>
                  <a:srgbClr val="FF9966"/>
                </a:solidFill>
                <a:latin typeface="Arial"/>
                <a:cs typeface="Arial"/>
              </a:rPr>
              <a:t>/5/</a:t>
            </a:r>
            <a:r>
              <a:rPr lang="en-US" altLang="zh-CN" sz="881" spc="84">
                <a:solidFill>
                  <a:srgbClr val="FF9966"/>
                </a:solidFill>
                <a:latin typeface="Arial"/>
                <a:cs typeface="Arial"/>
              </a:rPr>
              <a:t>2</a:t>
            </a:r>
            <a:r>
              <a:rPr lang="en-US" altLang="zh-CN" sz="881" spc="-15">
                <a:solidFill>
                  <a:srgbClr val="FF9966"/>
                </a:solidFill>
                <a:latin typeface="Arial"/>
                <a:cs typeface="Arial"/>
              </a:rPr>
              <a:t>01</a:t>
            </a:r>
            <a:r>
              <a:rPr lang="en-US" altLang="zh-CN" sz="881" spc="-7">
                <a:solidFill>
                  <a:srgbClr val="FF9966"/>
                </a:solidFill>
                <a:latin typeface="Arial"/>
                <a:cs typeface="Arial"/>
              </a:rPr>
              <a:t>8</a:t>
            </a:r>
            <a:endParaRPr lang="zh-CN" altLang="en-US" sz="881">
              <a:latin typeface="Arial"/>
              <a:cs typeface="Arial"/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/>
          <a:p>
            <a:pPr marL="9326"/>
            <a:r>
              <a:rPr lang="zh-CN" altLang="en-US" sz="881" spc="-4">
                <a:solidFill>
                  <a:srgbClr val="FF9966"/>
                </a:solidFill>
                <a:latin typeface="Adobe 黑体 Std R"/>
                <a:cs typeface="Adobe 黑体 Std R"/>
              </a:rPr>
              <a:t>华中科技大学</a:t>
            </a:r>
            <a:endParaRPr lang="zh-CN" altLang="en-US" sz="881">
              <a:latin typeface="Adobe 黑体 Std R"/>
              <a:cs typeface="Adobe 黑体 Std R"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/>
          <a:p>
            <a:pPr marL="80197"/>
            <a:fld id="{81D60167-4931-47E6-BA6A-407CBD079E47}" type="slidenum">
              <a:rPr lang="en-US" altLang="zh-CN" sz="881" spc="-7" smtClean="0">
                <a:solidFill>
                  <a:srgbClr val="FF9966"/>
                </a:solidFill>
                <a:latin typeface="Arial"/>
                <a:cs typeface="Arial"/>
              </a:rPr>
              <a:pPr marL="80197"/>
              <a:t>‹#›</a:t>
            </a:fld>
            <a:endParaRPr lang="zh-CN" altLang="en-US" sz="881">
              <a:latin typeface="Arial"/>
              <a:cs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1" y="0"/>
            <a:ext cx="10574607" cy="792022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sz="1322"/>
          </a:p>
        </p:txBody>
      </p:sp>
      <p:sp>
        <p:nvSpPr>
          <p:cNvPr id="17" name="bk object 17"/>
          <p:cNvSpPr/>
          <p:nvPr/>
        </p:nvSpPr>
        <p:spPr>
          <a:xfrm>
            <a:off x="0" y="3"/>
            <a:ext cx="10574606" cy="118770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sz="1322"/>
          </a:p>
        </p:txBody>
      </p:sp>
      <p:sp>
        <p:nvSpPr>
          <p:cNvPr id="18" name="bk object 18"/>
          <p:cNvSpPr/>
          <p:nvPr/>
        </p:nvSpPr>
        <p:spPr>
          <a:xfrm>
            <a:off x="5087913" y="3"/>
            <a:ext cx="5486693" cy="69273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sz="1322"/>
          </a:p>
        </p:txBody>
      </p:sp>
      <p:sp>
        <p:nvSpPr>
          <p:cNvPr id="19" name="bk object 19"/>
          <p:cNvSpPr/>
          <p:nvPr/>
        </p:nvSpPr>
        <p:spPr>
          <a:xfrm>
            <a:off x="1" y="3"/>
            <a:ext cx="10255805" cy="126837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sz="1322"/>
          </a:p>
        </p:txBody>
      </p:sp>
      <p:sp>
        <p:nvSpPr>
          <p:cNvPr id="20" name="bk object 20"/>
          <p:cNvSpPr/>
          <p:nvPr/>
        </p:nvSpPr>
        <p:spPr>
          <a:xfrm>
            <a:off x="1" y="3"/>
            <a:ext cx="10500095" cy="1192841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sz="1322"/>
          </a:p>
        </p:txBody>
      </p:sp>
      <p:sp>
        <p:nvSpPr>
          <p:cNvPr id="21" name="bk object 21"/>
          <p:cNvSpPr/>
          <p:nvPr/>
        </p:nvSpPr>
        <p:spPr>
          <a:xfrm>
            <a:off x="0" y="0"/>
            <a:ext cx="10574606" cy="7920224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sz="1322"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/>
          <a:p>
            <a:pPr marL="9326"/>
            <a:r>
              <a:rPr lang="en-US" altLang="zh-CN" sz="881" spc="-15">
                <a:solidFill>
                  <a:srgbClr val="FF9966"/>
                </a:solidFill>
                <a:latin typeface="Arial"/>
                <a:cs typeface="Arial"/>
              </a:rPr>
              <a:t>10</a:t>
            </a:r>
            <a:r>
              <a:rPr lang="en-US" altLang="zh-CN" sz="881" spc="59">
                <a:solidFill>
                  <a:srgbClr val="FF9966"/>
                </a:solidFill>
                <a:latin typeface="Arial"/>
                <a:cs typeface="Arial"/>
              </a:rPr>
              <a:t>/5/</a:t>
            </a:r>
            <a:r>
              <a:rPr lang="en-US" altLang="zh-CN" sz="881" spc="84">
                <a:solidFill>
                  <a:srgbClr val="FF9966"/>
                </a:solidFill>
                <a:latin typeface="Arial"/>
                <a:cs typeface="Arial"/>
              </a:rPr>
              <a:t>2</a:t>
            </a:r>
            <a:r>
              <a:rPr lang="en-US" altLang="zh-CN" sz="881" spc="-15">
                <a:solidFill>
                  <a:srgbClr val="FF9966"/>
                </a:solidFill>
                <a:latin typeface="Arial"/>
                <a:cs typeface="Arial"/>
              </a:rPr>
              <a:t>01</a:t>
            </a:r>
            <a:r>
              <a:rPr lang="en-US" altLang="zh-CN" sz="881" spc="-7">
                <a:solidFill>
                  <a:srgbClr val="FF9966"/>
                </a:solidFill>
                <a:latin typeface="Arial"/>
                <a:cs typeface="Arial"/>
              </a:rPr>
              <a:t>8</a:t>
            </a:r>
            <a:endParaRPr lang="zh-CN" altLang="en-US" sz="881">
              <a:latin typeface="Arial"/>
              <a:cs typeface="Arial"/>
            </a:endParaRP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/>
          <a:p>
            <a:pPr marL="9326"/>
            <a:r>
              <a:rPr lang="zh-CN" altLang="en-US" sz="881" spc="-4">
                <a:solidFill>
                  <a:srgbClr val="FF9966"/>
                </a:solidFill>
                <a:latin typeface="Adobe 黑体 Std R"/>
                <a:cs typeface="Adobe 黑体 Std R"/>
              </a:rPr>
              <a:t>华中科技大学</a:t>
            </a:r>
            <a:endParaRPr lang="zh-CN" altLang="en-US" sz="881">
              <a:latin typeface="Adobe 黑体 Std R"/>
              <a:cs typeface="Adobe 黑体 Std R"/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/>
          <a:p>
            <a:pPr marL="80197"/>
            <a:fld id="{81D60167-4931-47E6-BA6A-407CBD079E47}" type="slidenum">
              <a:rPr lang="en-US" altLang="zh-CN" sz="881" spc="-7" smtClean="0">
                <a:solidFill>
                  <a:srgbClr val="FF9966"/>
                </a:solidFill>
                <a:latin typeface="Arial"/>
                <a:cs typeface="Arial"/>
              </a:rPr>
              <a:pPr marL="80197"/>
              <a:t>‹#›</a:t>
            </a:fld>
            <a:endParaRPr lang="zh-CN" altLang="en-US" sz="881">
              <a:latin typeface="Arial"/>
              <a:cs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11" Type="http://schemas.openxmlformats.org/officeDocument/2006/relationships/image" Target="../media/image5.jp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4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3"/>
            <a:ext cx="10574606" cy="1187701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sz="1322"/>
          </a:p>
        </p:txBody>
      </p:sp>
      <p:sp>
        <p:nvSpPr>
          <p:cNvPr id="17" name="bk object 17"/>
          <p:cNvSpPr/>
          <p:nvPr/>
        </p:nvSpPr>
        <p:spPr>
          <a:xfrm>
            <a:off x="5087913" y="3"/>
            <a:ext cx="5486693" cy="692739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sz="1322"/>
          </a:p>
        </p:txBody>
      </p:sp>
      <p:sp>
        <p:nvSpPr>
          <p:cNvPr id="18" name="bk object 18"/>
          <p:cNvSpPr/>
          <p:nvPr/>
        </p:nvSpPr>
        <p:spPr>
          <a:xfrm>
            <a:off x="1" y="3"/>
            <a:ext cx="10255805" cy="1268375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sz="1322"/>
          </a:p>
        </p:txBody>
      </p:sp>
      <p:sp>
        <p:nvSpPr>
          <p:cNvPr id="19" name="bk object 19"/>
          <p:cNvSpPr/>
          <p:nvPr/>
        </p:nvSpPr>
        <p:spPr>
          <a:xfrm>
            <a:off x="1" y="3"/>
            <a:ext cx="10500095" cy="1192841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sz="1322"/>
          </a:p>
        </p:txBody>
      </p:sp>
      <p:sp>
        <p:nvSpPr>
          <p:cNvPr id="20" name="bk object 20"/>
          <p:cNvSpPr/>
          <p:nvPr/>
        </p:nvSpPr>
        <p:spPr>
          <a:xfrm>
            <a:off x="0" y="0"/>
            <a:ext cx="10574606" cy="7920224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sz="1322"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35402" y="372109"/>
            <a:ext cx="8703990" cy="534194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881529" y="2501265"/>
            <a:ext cx="6811737" cy="2871008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19349" y="7576416"/>
            <a:ext cx="548607" cy="199145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pPr marL="9326"/>
            <a:r>
              <a:rPr lang="en-US" altLang="zh-CN" sz="881" spc="-15">
                <a:solidFill>
                  <a:srgbClr val="FF9966"/>
                </a:solidFill>
                <a:latin typeface="Arial"/>
                <a:cs typeface="Arial"/>
              </a:rPr>
              <a:t>10</a:t>
            </a:r>
            <a:r>
              <a:rPr lang="en-US" altLang="zh-CN" sz="881" spc="59">
                <a:solidFill>
                  <a:srgbClr val="FF9966"/>
                </a:solidFill>
                <a:latin typeface="Arial"/>
                <a:cs typeface="Arial"/>
              </a:rPr>
              <a:t>/5/</a:t>
            </a:r>
            <a:r>
              <a:rPr lang="en-US" altLang="zh-CN" sz="881" spc="84">
                <a:solidFill>
                  <a:srgbClr val="FF9966"/>
                </a:solidFill>
                <a:latin typeface="Arial"/>
                <a:cs typeface="Arial"/>
              </a:rPr>
              <a:t>2</a:t>
            </a:r>
            <a:r>
              <a:rPr lang="en-US" altLang="zh-CN" sz="881" spc="-15">
                <a:solidFill>
                  <a:srgbClr val="FF9966"/>
                </a:solidFill>
                <a:latin typeface="Arial"/>
                <a:cs typeface="Arial"/>
              </a:rPr>
              <a:t>01</a:t>
            </a:r>
            <a:r>
              <a:rPr lang="en-US" altLang="zh-CN" sz="881" spc="-7">
                <a:solidFill>
                  <a:srgbClr val="FF9966"/>
                </a:solidFill>
                <a:latin typeface="Arial"/>
                <a:cs typeface="Arial"/>
              </a:rPr>
              <a:t>8</a:t>
            </a:r>
            <a:endParaRPr lang="zh-CN" altLang="en-US" sz="881">
              <a:latin typeface="Arial"/>
              <a:cs typeface="Arial"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41046" y="7576416"/>
            <a:ext cx="690127" cy="199145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pPr marL="9326"/>
            <a:r>
              <a:rPr lang="zh-CN" altLang="en-US" sz="881" spc="-4">
                <a:solidFill>
                  <a:srgbClr val="FF9966"/>
                </a:solidFill>
                <a:latin typeface="Adobe 黑体 Std R"/>
                <a:cs typeface="Adobe 黑体 Std R"/>
              </a:rPr>
              <a:t>华中科技大学</a:t>
            </a:r>
            <a:endParaRPr lang="zh-CN" altLang="en-US" sz="881">
              <a:latin typeface="Adobe 黑体 Std R"/>
              <a:cs typeface="Adobe 黑体 Std R"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903507" y="7576416"/>
            <a:ext cx="160407" cy="199145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pPr marL="80197"/>
            <a:fld id="{81D60167-4931-47E6-BA6A-407CBD079E47}" type="slidenum">
              <a:rPr lang="en-US" altLang="zh-CN" sz="881" spc="-7" smtClean="0">
                <a:solidFill>
                  <a:srgbClr val="FF9966"/>
                </a:solidFill>
                <a:latin typeface="Arial"/>
                <a:cs typeface="Arial"/>
              </a:rPr>
              <a:pPr marL="80197"/>
              <a:t>‹#›</a:t>
            </a:fld>
            <a:endParaRPr lang="zh-CN" altLang="en-US" sz="881">
              <a:latin typeface="Arial"/>
              <a:cs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 algn="l" defTabSz="671423" rtl="0" eaLnBrk="1" latinLnBrk="0" hangingPunct="1">
        <a:lnSpc>
          <a:spcPct val="90000"/>
        </a:lnSpc>
        <a:spcBef>
          <a:spcPct val="0"/>
        </a:spcBef>
        <a:buNone/>
        <a:defRPr sz="323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67856" indent="-167856" algn="l" defTabSz="671423" rtl="0" eaLnBrk="1" latinLnBrk="0" hangingPunct="1">
        <a:lnSpc>
          <a:spcPct val="90000"/>
        </a:lnSpc>
        <a:spcBef>
          <a:spcPts val="734"/>
        </a:spcBef>
        <a:buFont typeface="Arial" panose="020B0604020202020204" pitchFamily="34" charset="0"/>
        <a:buChar char="•"/>
        <a:defRPr sz="2056" kern="1200">
          <a:solidFill>
            <a:schemeClr val="tx1"/>
          </a:solidFill>
          <a:latin typeface="+mn-lt"/>
          <a:ea typeface="+mn-ea"/>
          <a:cs typeface="+mn-cs"/>
        </a:defRPr>
      </a:lvl1pPr>
      <a:lvl2pPr marL="503568" indent="-167856" algn="l" defTabSz="671423" rtl="0" eaLnBrk="1" latinLnBrk="0" hangingPunct="1">
        <a:lnSpc>
          <a:spcPct val="90000"/>
        </a:lnSpc>
        <a:spcBef>
          <a:spcPts val="367"/>
        </a:spcBef>
        <a:buFont typeface="Arial" panose="020B0604020202020204" pitchFamily="34" charset="0"/>
        <a:buChar char="•"/>
        <a:defRPr sz="1762" kern="1200">
          <a:solidFill>
            <a:schemeClr val="tx1"/>
          </a:solidFill>
          <a:latin typeface="+mn-lt"/>
          <a:ea typeface="+mn-ea"/>
          <a:cs typeface="+mn-cs"/>
        </a:defRPr>
      </a:lvl2pPr>
      <a:lvl3pPr marL="839280" indent="-167856" algn="l" defTabSz="671423" rtl="0" eaLnBrk="1" latinLnBrk="0" hangingPunct="1">
        <a:lnSpc>
          <a:spcPct val="90000"/>
        </a:lnSpc>
        <a:spcBef>
          <a:spcPts val="367"/>
        </a:spcBef>
        <a:buFont typeface="Arial" panose="020B0604020202020204" pitchFamily="34" charset="0"/>
        <a:buChar char="•"/>
        <a:defRPr sz="1469" kern="1200">
          <a:solidFill>
            <a:schemeClr val="tx1"/>
          </a:solidFill>
          <a:latin typeface="+mn-lt"/>
          <a:ea typeface="+mn-ea"/>
          <a:cs typeface="+mn-cs"/>
        </a:defRPr>
      </a:lvl3pPr>
      <a:lvl4pPr marL="1174992" indent="-167856" algn="l" defTabSz="671423" rtl="0" eaLnBrk="1" latinLnBrk="0" hangingPunct="1">
        <a:lnSpc>
          <a:spcPct val="90000"/>
        </a:lnSpc>
        <a:spcBef>
          <a:spcPts val="367"/>
        </a:spcBef>
        <a:buFont typeface="Arial" panose="020B0604020202020204" pitchFamily="34" charset="0"/>
        <a:buChar char="•"/>
        <a:defRPr sz="1322" kern="1200">
          <a:solidFill>
            <a:schemeClr val="tx1"/>
          </a:solidFill>
          <a:latin typeface="+mn-lt"/>
          <a:ea typeface="+mn-ea"/>
          <a:cs typeface="+mn-cs"/>
        </a:defRPr>
      </a:lvl4pPr>
      <a:lvl5pPr marL="1510703" indent="-167856" algn="l" defTabSz="671423" rtl="0" eaLnBrk="1" latinLnBrk="0" hangingPunct="1">
        <a:lnSpc>
          <a:spcPct val="90000"/>
        </a:lnSpc>
        <a:spcBef>
          <a:spcPts val="367"/>
        </a:spcBef>
        <a:buFont typeface="Arial" panose="020B0604020202020204" pitchFamily="34" charset="0"/>
        <a:buChar char="•"/>
        <a:defRPr sz="1322" kern="1200">
          <a:solidFill>
            <a:schemeClr val="tx1"/>
          </a:solidFill>
          <a:latin typeface="+mn-lt"/>
          <a:ea typeface="+mn-ea"/>
          <a:cs typeface="+mn-cs"/>
        </a:defRPr>
      </a:lvl5pPr>
      <a:lvl6pPr marL="1846415" indent="-167856" algn="l" defTabSz="671423" rtl="0" eaLnBrk="1" latinLnBrk="0" hangingPunct="1">
        <a:lnSpc>
          <a:spcPct val="90000"/>
        </a:lnSpc>
        <a:spcBef>
          <a:spcPts val="367"/>
        </a:spcBef>
        <a:buFont typeface="Arial" panose="020B0604020202020204" pitchFamily="34" charset="0"/>
        <a:buChar char="•"/>
        <a:defRPr sz="1322" kern="1200">
          <a:solidFill>
            <a:schemeClr val="tx1"/>
          </a:solidFill>
          <a:latin typeface="+mn-lt"/>
          <a:ea typeface="+mn-ea"/>
          <a:cs typeface="+mn-cs"/>
        </a:defRPr>
      </a:lvl6pPr>
      <a:lvl7pPr marL="2182127" indent="-167856" algn="l" defTabSz="671423" rtl="0" eaLnBrk="1" latinLnBrk="0" hangingPunct="1">
        <a:lnSpc>
          <a:spcPct val="90000"/>
        </a:lnSpc>
        <a:spcBef>
          <a:spcPts val="367"/>
        </a:spcBef>
        <a:buFont typeface="Arial" panose="020B0604020202020204" pitchFamily="34" charset="0"/>
        <a:buChar char="•"/>
        <a:defRPr sz="1322" kern="1200">
          <a:solidFill>
            <a:schemeClr val="tx1"/>
          </a:solidFill>
          <a:latin typeface="+mn-lt"/>
          <a:ea typeface="+mn-ea"/>
          <a:cs typeface="+mn-cs"/>
        </a:defRPr>
      </a:lvl7pPr>
      <a:lvl8pPr marL="2517839" indent="-167856" algn="l" defTabSz="671423" rtl="0" eaLnBrk="1" latinLnBrk="0" hangingPunct="1">
        <a:lnSpc>
          <a:spcPct val="90000"/>
        </a:lnSpc>
        <a:spcBef>
          <a:spcPts val="367"/>
        </a:spcBef>
        <a:buFont typeface="Arial" panose="020B0604020202020204" pitchFamily="34" charset="0"/>
        <a:buChar char="•"/>
        <a:defRPr sz="1322" kern="1200">
          <a:solidFill>
            <a:schemeClr val="tx1"/>
          </a:solidFill>
          <a:latin typeface="+mn-lt"/>
          <a:ea typeface="+mn-ea"/>
          <a:cs typeface="+mn-cs"/>
        </a:defRPr>
      </a:lvl8pPr>
      <a:lvl9pPr marL="2853551" indent="-167856" algn="l" defTabSz="671423" rtl="0" eaLnBrk="1" latinLnBrk="0" hangingPunct="1">
        <a:lnSpc>
          <a:spcPct val="90000"/>
        </a:lnSpc>
        <a:spcBef>
          <a:spcPts val="367"/>
        </a:spcBef>
        <a:buFont typeface="Arial" panose="020B0604020202020204" pitchFamily="34" charset="0"/>
        <a:buChar char="•"/>
        <a:defRPr sz="132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71423" rtl="0" eaLnBrk="1" latinLnBrk="0" hangingPunct="1">
        <a:defRPr sz="1322" kern="1200">
          <a:solidFill>
            <a:schemeClr val="tx1"/>
          </a:solidFill>
          <a:latin typeface="+mn-lt"/>
          <a:ea typeface="+mn-ea"/>
          <a:cs typeface="+mn-cs"/>
        </a:defRPr>
      </a:lvl1pPr>
      <a:lvl2pPr marL="335712" algn="l" defTabSz="671423" rtl="0" eaLnBrk="1" latinLnBrk="0" hangingPunct="1">
        <a:defRPr sz="1322" kern="1200">
          <a:solidFill>
            <a:schemeClr val="tx1"/>
          </a:solidFill>
          <a:latin typeface="+mn-lt"/>
          <a:ea typeface="+mn-ea"/>
          <a:cs typeface="+mn-cs"/>
        </a:defRPr>
      </a:lvl2pPr>
      <a:lvl3pPr marL="671423" algn="l" defTabSz="671423" rtl="0" eaLnBrk="1" latinLnBrk="0" hangingPunct="1">
        <a:defRPr sz="1322" kern="1200">
          <a:solidFill>
            <a:schemeClr val="tx1"/>
          </a:solidFill>
          <a:latin typeface="+mn-lt"/>
          <a:ea typeface="+mn-ea"/>
          <a:cs typeface="+mn-cs"/>
        </a:defRPr>
      </a:lvl3pPr>
      <a:lvl4pPr marL="1007136" algn="l" defTabSz="671423" rtl="0" eaLnBrk="1" latinLnBrk="0" hangingPunct="1">
        <a:defRPr sz="1322" kern="1200">
          <a:solidFill>
            <a:schemeClr val="tx1"/>
          </a:solidFill>
          <a:latin typeface="+mn-lt"/>
          <a:ea typeface="+mn-ea"/>
          <a:cs typeface="+mn-cs"/>
        </a:defRPr>
      </a:lvl4pPr>
      <a:lvl5pPr marL="1342847" algn="l" defTabSz="671423" rtl="0" eaLnBrk="1" latinLnBrk="0" hangingPunct="1">
        <a:defRPr sz="1322" kern="1200">
          <a:solidFill>
            <a:schemeClr val="tx1"/>
          </a:solidFill>
          <a:latin typeface="+mn-lt"/>
          <a:ea typeface="+mn-ea"/>
          <a:cs typeface="+mn-cs"/>
        </a:defRPr>
      </a:lvl5pPr>
      <a:lvl6pPr marL="1678559" algn="l" defTabSz="671423" rtl="0" eaLnBrk="1" latinLnBrk="0" hangingPunct="1">
        <a:defRPr sz="1322" kern="1200">
          <a:solidFill>
            <a:schemeClr val="tx1"/>
          </a:solidFill>
          <a:latin typeface="+mn-lt"/>
          <a:ea typeface="+mn-ea"/>
          <a:cs typeface="+mn-cs"/>
        </a:defRPr>
      </a:lvl6pPr>
      <a:lvl7pPr marL="2014271" algn="l" defTabSz="671423" rtl="0" eaLnBrk="1" latinLnBrk="0" hangingPunct="1">
        <a:defRPr sz="1322" kern="1200">
          <a:solidFill>
            <a:schemeClr val="tx1"/>
          </a:solidFill>
          <a:latin typeface="+mn-lt"/>
          <a:ea typeface="+mn-ea"/>
          <a:cs typeface="+mn-cs"/>
        </a:defRPr>
      </a:lvl7pPr>
      <a:lvl8pPr marL="2349983" algn="l" defTabSz="671423" rtl="0" eaLnBrk="1" latinLnBrk="0" hangingPunct="1">
        <a:defRPr sz="1322" kern="1200">
          <a:solidFill>
            <a:schemeClr val="tx1"/>
          </a:solidFill>
          <a:latin typeface="+mn-lt"/>
          <a:ea typeface="+mn-ea"/>
          <a:cs typeface="+mn-cs"/>
        </a:defRPr>
      </a:lvl8pPr>
      <a:lvl9pPr marL="2685695" algn="l" defTabSz="671423" rtl="0" eaLnBrk="1" latinLnBrk="0" hangingPunct="1">
        <a:defRPr sz="132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object 15"/>
          <p:cNvSpPr txBox="1"/>
          <p:nvPr/>
        </p:nvSpPr>
        <p:spPr>
          <a:xfrm>
            <a:off x="1510013" y="2685276"/>
            <a:ext cx="2979959" cy="76846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9326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56" b="1" i="0" u="none" strike="noStrike" kern="1200" cap="none" spc="-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dobe 黑体 Std R"/>
                <a:ea typeface="+mn-ea"/>
                <a:cs typeface="Adobe 黑体 Std R"/>
              </a:rPr>
              <a:t>《电路理</a:t>
            </a:r>
            <a:r>
              <a:rPr kumimoji="0" sz="2056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dobe 黑体 Std R"/>
                <a:ea typeface="+mn-ea"/>
                <a:cs typeface="Adobe 黑体 Std R"/>
              </a:rPr>
              <a:t>论</a:t>
            </a:r>
            <a:r>
              <a:rPr kumimoji="0" sz="2056" b="1" i="0" u="none" strike="noStrike" kern="1200" cap="none" spc="-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dobe 黑体 Std R"/>
                <a:ea typeface="+mn-ea"/>
                <a:cs typeface="Adobe 黑体 Std R"/>
              </a:rPr>
              <a:t>——基础篇</a:t>
            </a:r>
            <a:r>
              <a:rPr kumimoji="0" sz="2056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dobe 黑体 Std R"/>
                <a:ea typeface="+mn-ea"/>
                <a:cs typeface="Adobe 黑体 Std R"/>
              </a:rPr>
              <a:t>》</a:t>
            </a:r>
          </a:p>
          <a:p>
            <a:pPr marL="0" marR="0" lvl="0" indent="0" algn="l" defTabSz="914400" rtl="0" eaLnBrk="1" fontAlgn="auto" latinLnBrk="0" hangingPunct="1">
              <a:lnSpc>
                <a:spcPts val="73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056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955"/>
              </a:lnSpc>
              <a:spcBef>
                <a:spcPts val="1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056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9326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56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dobe 黑体 Std R"/>
                <a:ea typeface="+mn-ea"/>
                <a:cs typeface="Adobe 黑体 Std R"/>
              </a:rPr>
              <a:t>《电路理论——高级篇》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1641656" y="4047989"/>
            <a:ext cx="1361601" cy="283512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9326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762" b="0" i="0" u="none" strike="noStrike" kern="1200" cap="none" spc="-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dobe 黑体 Std R"/>
                <a:ea typeface="+mn-ea"/>
                <a:cs typeface="Adobe 黑体 Std R"/>
              </a:rPr>
              <a:t>华中科技大学</a:t>
            </a:r>
            <a:endParaRPr kumimoji="0" sz="1762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dobe 黑体 Std R"/>
              <a:ea typeface="+mn-ea"/>
              <a:cs typeface="Adobe 黑体 Std R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294043" y="4047988"/>
            <a:ext cx="1417558" cy="283512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9326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960043" algn="l"/>
              </a:tabLst>
              <a:defRPr/>
            </a:pPr>
            <a:r>
              <a:rPr kumimoji="0" sz="1762" b="0" i="0" u="none" strike="noStrike" kern="1200" cap="none" spc="-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dobe 黑体 Std R"/>
                <a:ea typeface="+mn-ea"/>
                <a:cs typeface="Adobe 黑体 Std R"/>
              </a:rPr>
              <a:t>颜秋</a:t>
            </a:r>
            <a:r>
              <a:rPr kumimoji="0" sz="1762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dobe 黑体 Std R"/>
                <a:ea typeface="+mn-ea"/>
                <a:cs typeface="Adobe 黑体 Std R"/>
              </a:rPr>
              <a:t>容	</a:t>
            </a:r>
            <a:r>
              <a:rPr kumimoji="0" sz="1762" b="0" i="0" u="none" strike="noStrike" kern="1200" cap="none" spc="-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dobe 黑体 Std R"/>
                <a:ea typeface="+mn-ea"/>
                <a:cs typeface="Adobe 黑体 Std R"/>
              </a:rPr>
              <a:t>编著</a:t>
            </a:r>
            <a:endParaRPr kumimoji="0" sz="1762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dobe 黑体 Std R"/>
              <a:ea typeface="+mn-ea"/>
              <a:cs typeface="Adobe 黑体 Std R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454235" y="4594474"/>
            <a:ext cx="2257367" cy="28304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9326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799321" algn="l"/>
              </a:tabLst>
              <a:defRPr/>
            </a:pPr>
            <a:r>
              <a:rPr kumimoji="0" sz="1762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dobe 黑体 Std R"/>
                <a:ea typeface="+mn-ea"/>
                <a:cs typeface="Adobe 黑体 Std R"/>
              </a:rPr>
              <a:t>高等教育出版社	出版</a:t>
            </a:r>
          </a:p>
        </p:txBody>
      </p:sp>
      <p:sp>
        <p:nvSpPr>
          <p:cNvPr id="25" name="object 25"/>
          <p:cNvSpPr/>
          <p:nvPr/>
        </p:nvSpPr>
        <p:spPr>
          <a:xfrm>
            <a:off x="6767906" y="1466752"/>
            <a:ext cx="3180038" cy="383859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22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4917098" y="1399772"/>
            <a:ext cx="3113740" cy="390554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22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8" name="object 16"/>
          <p:cNvSpPr txBox="1">
            <a:spLocks noGrp="1"/>
          </p:cNvSpPr>
          <p:nvPr>
            <p:ph type="title"/>
          </p:nvPr>
        </p:nvSpPr>
        <p:spPr>
          <a:xfrm>
            <a:off x="482600" y="428006"/>
            <a:ext cx="8703990" cy="392277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9326">
              <a:lnSpc>
                <a:spcPts val="3088"/>
              </a:lnSpc>
            </a:pPr>
            <a:r>
              <a:rPr sz="2643" b="1" spc="209" dirty="0" err="1">
                <a:solidFill>
                  <a:srgbClr val="0E6EC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dobe 黑体 Std R"/>
              </a:rPr>
              <a:t>电路理论课程</a:t>
            </a:r>
            <a:r>
              <a:rPr lang="zh-CN" altLang="en-US" sz="2643" b="1" spc="209" dirty="0">
                <a:solidFill>
                  <a:srgbClr val="0E6EC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dobe 黑体 Std R"/>
              </a:rPr>
              <a:t>信息</a:t>
            </a:r>
            <a:endParaRPr sz="2643" b="1" dirty="0">
              <a:latin typeface="微软雅黑" panose="020B0503020204020204" pitchFamily="34" charset="-122"/>
              <a:ea typeface="微软雅黑" panose="020B0503020204020204" pitchFamily="34" charset="-122"/>
              <a:cs typeface="Adobe 黑体 Std R"/>
            </a:endParaRPr>
          </a:p>
        </p:txBody>
      </p:sp>
      <p:sp>
        <p:nvSpPr>
          <p:cNvPr id="29" name="Rectangle 3"/>
          <p:cNvSpPr txBox="1">
            <a:spLocks noChangeArrowheads="1"/>
          </p:cNvSpPr>
          <p:nvPr/>
        </p:nvSpPr>
        <p:spPr bwMode="auto">
          <a:xfrm>
            <a:off x="621886" y="1600200"/>
            <a:ext cx="6043272" cy="6155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7147" tIns="33574" rIns="67147" bIns="33574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b="1"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b="1"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zh-CN" altLang="en-US" sz="2643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配套教材：</a:t>
            </a:r>
            <a:endParaRPr kumimoji="0" lang="en-US" altLang="zh-CN" sz="2643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638834" y="5472233"/>
            <a:ext cx="9000558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参考教材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Helvetica Neue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rPr>
              <a:t>[1] 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rPr>
              <a:t>邱关源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rPr>
              <a:t>, 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rPr>
              <a:t>罗先觉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rPr>
              <a:t>. 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rPr>
              <a:t>电路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rPr>
              <a:t>[M], 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rPr>
              <a:t>第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rPr>
              <a:t>6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rPr>
              <a:t>版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rPr>
              <a:t>. 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rPr>
              <a:t>北京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rPr>
              <a:t>: 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rPr>
              <a:t>高等教育出版社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rPr>
              <a:t>, 2022.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Helvetica Neue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rPr>
              <a:t>[2] Charles K. Alexander, Matthew N. O. </a:t>
            </a:r>
            <a:r>
              <a:rPr kumimoji="0" lang="en-US" altLang="zh-CN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rPr>
              <a:t>Sadiku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rPr>
              <a:t>. Fundamentals of Electric  Circuits[M]. 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rPr>
              <a:t>北京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rPr>
              <a:t>: 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rPr>
              <a:t>清华大学出版社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rPr>
              <a:t>, 2000.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Helvetica Neue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rPr>
              <a:t>[3] James W. Nilsson, Susan A. Riedel. Electric Circuits[M], Ninth Edition. 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rPr>
              <a:t>北京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rPr>
              <a:t>: 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rPr>
              <a:t>电子工业出版社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rPr>
              <a:t>, 2013.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Helvetica Neue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724279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xfrm>
            <a:off x="482600" y="381000"/>
            <a:ext cx="8703990" cy="534194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9326">
              <a:lnSpc>
                <a:spcPts val="3088"/>
              </a:lnSpc>
            </a:pPr>
            <a:r>
              <a:rPr sz="2643" b="1" spc="209" dirty="0" err="1">
                <a:solidFill>
                  <a:srgbClr val="0E6EC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dobe 黑体 Std R"/>
              </a:rPr>
              <a:t>电路理论课程</a:t>
            </a:r>
            <a:r>
              <a:rPr lang="zh-CN" altLang="en-US" sz="2643" b="1" spc="209" dirty="0">
                <a:solidFill>
                  <a:srgbClr val="0E6EC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dobe 黑体 Std R"/>
              </a:rPr>
              <a:t>信息</a:t>
            </a:r>
            <a:endParaRPr sz="2643" b="1" dirty="0">
              <a:latin typeface="微软雅黑" panose="020B0503020204020204" pitchFamily="34" charset="-122"/>
              <a:ea typeface="微软雅黑" panose="020B0503020204020204" pitchFamily="34" charset="-122"/>
              <a:cs typeface="Adobe 黑体 Std R"/>
            </a:endParaRPr>
          </a:p>
        </p:txBody>
      </p:sp>
      <p:sp>
        <p:nvSpPr>
          <p:cNvPr id="27" name="Rectangle 3"/>
          <p:cNvSpPr txBox="1">
            <a:spLocks noChangeArrowheads="1"/>
          </p:cNvSpPr>
          <p:nvPr/>
        </p:nvSpPr>
        <p:spPr bwMode="auto">
          <a:xfrm>
            <a:off x="101600" y="1981200"/>
            <a:ext cx="10210800" cy="46469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7147" tIns="33574" rIns="67147" bIns="33574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b="1"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b="1"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447675">
              <a:lnSpc>
                <a:spcPct val="150000"/>
              </a:lnSpc>
              <a:buNone/>
            </a:pPr>
            <a:r>
              <a:rPr lang="zh-CN" altLang="en-US" sz="2643" dirty="0">
                <a:solidFill>
                  <a:srgbClr val="FF0000"/>
                </a:solidFill>
              </a:rPr>
              <a:t>成绩评定标准：</a:t>
            </a:r>
            <a:endParaRPr lang="en-US" altLang="zh-CN" sz="2643" dirty="0">
              <a:solidFill>
                <a:srgbClr val="FF0000"/>
              </a:solidFill>
            </a:endParaRPr>
          </a:p>
          <a:p>
            <a:pPr lvl="1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350" dirty="0"/>
              <a:t>课程成绩（</a:t>
            </a:r>
            <a:r>
              <a:rPr lang="en-US" altLang="zh-CN" sz="2350" dirty="0"/>
              <a:t>100%</a:t>
            </a:r>
            <a:r>
              <a:rPr lang="zh-CN" altLang="en-US" sz="2350" dirty="0"/>
              <a:t>）</a:t>
            </a:r>
            <a:r>
              <a:rPr lang="en-US" altLang="zh-CN" sz="2350" dirty="0"/>
              <a:t>= </a:t>
            </a:r>
            <a:r>
              <a:rPr lang="zh-CN" altLang="en-US" sz="2350" dirty="0"/>
              <a:t>平时成绩（</a:t>
            </a:r>
            <a:r>
              <a:rPr lang="en-US" altLang="zh-CN" sz="2350" dirty="0"/>
              <a:t>30%</a:t>
            </a:r>
            <a:r>
              <a:rPr lang="zh-CN" altLang="en-US" sz="2350" dirty="0"/>
              <a:t>）</a:t>
            </a:r>
            <a:r>
              <a:rPr lang="en-US" altLang="zh-CN" sz="2350" dirty="0"/>
              <a:t>+ </a:t>
            </a:r>
            <a:r>
              <a:rPr lang="zh-CN" altLang="en-US" sz="2350" dirty="0"/>
              <a:t>期末考试成绩（</a:t>
            </a:r>
            <a:r>
              <a:rPr lang="en-US" altLang="zh-CN" sz="2350" dirty="0"/>
              <a:t>70%</a:t>
            </a:r>
            <a:r>
              <a:rPr lang="zh-CN" altLang="en-US" sz="2350" dirty="0"/>
              <a:t>）</a:t>
            </a:r>
            <a:endParaRPr lang="en-US" altLang="zh-CN" sz="2350" dirty="0"/>
          </a:p>
          <a:p>
            <a:pPr lvl="1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350" dirty="0"/>
              <a:t>平时成绩（</a:t>
            </a:r>
            <a:r>
              <a:rPr lang="en-US" altLang="zh-CN" sz="2350" dirty="0"/>
              <a:t>30%</a:t>
            </a:r>
            <a:r>
              <a:rPr lang="zh-CN" altLang="en-US" sz="2350" dirty="0"/>
              <a:t>）</a:t>
            </a:r>
            <a:r>
              <a:rPr lang="en-US" altLang="zh-CN" sz="2350" dirty="0"/>
              <a:t>= </a:t>
            </a:r>
            <a:r>
              <a:rPr lang="zh-CN" altLang="en-US" sz="2350" dirty="0"/>
              <a:t>书面作业成绩（</a:t>
            </a:r>
            <a:r>
              <a:rPr lang="en-US" altLang="zh-CN" sz="2350" dirty="0"/>
              <a:t>20%</a:t>
            </a:r>
            <a:r>
              <a:rPr lang="zh-CN" altLang="en-US" sz="2350" dirty="0"/>
              <a:t>）</a:t>
            </a:r>
            <a:r>
              <a:rPr lang="en-US" altLang="zh-CN" sz="2350" dirty="0"/>
              <a:t>+ MOOC</a:t>
            </a:r>
            <a:r>
              <a:rPr lang="zh-CN" altLang="en-US" sz="2350" dirty="0"/>
              <a:t>学习成绩（</a:t>
            </a:r>
            <a:r>
              <a:rPr lang="en-US" altLang="zh-CN" sz="2350" dirty="0"/>
              <a:t>10%</a:t>
            </a:r>
            <a:r>
              <a:rPr lang="zh-CN" altLang="en-US" sz="2350" dirty="0"/>
              <a:t>）</a:t>
            </a:r>
            <a:endParaRPr lang="en-US" altLang="zh-CN" sz="2350" dirty="0"/>
          </a:p>
          <a:p>
            <a:pPr lvl="2">
              <a:lnSpc>
                <a:spcPct val="150000"/>
              </a:lnSpc>
            </a:pPr>
            <a:r>
              <a:rPr lang="zh-CN" altLang="en-US" sz="2056" b="1" dirty="0">
                <a:solidFill>
                  <a:srgbClr val="0070C0"/>
                </a:solidFill>
              </a:rPr>
              <a:t>期末考试要求</a:t>
            </a:r>
            <a:r>
              <a:rPr lang="zh-CN" altLang="en-US" sz="2056" b="1" dirty="0"/>
              <a:t>：</a:t>
            </a:r>
            <a:r>
              <a:rPr lang="en-US" altLang="zh-CN" sz="2056" b="1" dirty="0"/>
              <a:t>150</a:t>
            </a:r>
            <a:r>
              <a:rPr lang="zh-CN" altLang="en-US" sz="2056" b="1" dirty="0"/>
              <a:t>分钟闭卷考试，</a:t>
            </a:r>
            <a:r>
              <a:rPr lang="en-US" altLang="zh-CN" sz="2056" b="1" dirty="0"/>
              <a:t>10</a:t>
            </a:r>
            <a:r>
              <a:rPr lang="zh-CN" altLang="en-US" sz="2056" b="1" dirty="0"/>
              <a:t>道计算大题。</a:t>
            </a:r>
            <a:endParaRPr lang="en-US" altLang="zh-CN" sz="2056" b="1" dirty="0"/>
          </a:p>
          <a:p>
            <a:pPr lvl="2">
              <a:lnSpc>
                <a:spcPct val="150000"/>
              </a:lnSpc>
            </a:pPr>
            <a:r>
              <a:rPr lang="zh-CN" altLang="en-US" sz="2056" b="1" dirty="0">
                <a:solidFill>
                  <a:srgbClr val="0070C0"/>
                </a:solidFill>
              </a:rPr>
              <a:t>书面作业要求</a:t>
            </a:r>
            <a:r>
              <a:rPr lang="zh-CN" altLang="en-US" sz="2056" b="1" dirty="0"/>
              <a:t>：每章</a:t>
            </a:r>
            <a:r>
              <a:rPr lang="en-US" altLang="zh-CN" sz="2056" b="1" dirty="0"/>
              <a:t>1</a:t>
            </a:r>
            <a:r>
              <a:rPr lang="zh-CN" altLang="en-US" sz="2056" b="1" dirty="0"/>
              <a:t>次交书面作业。按学校规定，缺交书面作业次数超过</a:t>
            </a:r>
            <a:r>
              <a:rPr lang="en-US" altLang="zh-CN" sz="2056" b="1" dirty="0"/>
              <a:t>1/3</a:t>
            </a:r>
            <a:r>
              <a:rPr lang="zh-CN" altLang="en-US" sz="2056" b="1" dirty="0"/>
              <a:t>者，不能参加期末考试（以助教统计为准，不接受补交）。</a:t>
            </a:r>
            <a:endParaRPr lang="en-US" altLang="zh-CN" sz="2056" b="1" dirty="0"/>
          </a:p>
          <a:p>
            <a:pPr lvl="2">
              <a:lnSpc>
                <a:spcPct val="150000"/>
              </a:lnSpc>
            </a:pPr>
            <a:r>
              <a:rPr lang="en-US" altLang="zh-CN" sz="2056" b="1" dirty="0">
                <a:solidFill>
                  <a:srgbClr val="0070C0"/>
                </a:solidFill>
              </a:rPr>
              <a:t>MOOC</a:t>
            </a:r>
            <a:r>
              <a:rPr lang="zh-CN" altLang="en-US" sz="2056" b="1" dirty="0">
                <a:solidFill>
                  <a:srgbClr val="0070C0"/>
                </a:solidFill>
              </a:rPr>
              <a:t>学习要求</a:t>
            </a:r>
            <a:r>
              <a:rPr lang="zh-CN" altLang="en-US" sz="2056" b="1" dirty="0"/>
              <a:t>：见下页。</a:t>
            </a:r>
            <a:endParaRPr lang="en-US" altLang="zh-CN" sz="2056" b="1" dirty="0"/>
          </a:p>
          <a:p>
            <a:pPr lvl="1">
              <a:lnSpc>
                <a:spcPct val="150000"/>
              </a:lnSpc>
            </a:pPr>
            <a:endParaRPr lang="en-US" altLang="zh-CN" sz="2350" dirty="0"/>
          </a:p>
        </p:txBody>
      </p:sp>
    </p:spTree>
    <p:extLst>
      <p:ext uri="{BB962C8B-B14F-4D97-AF65-F5344CB8AC3E}">
        <p14:creationId xmlns:p14="http://schemas.microsoft.com/office/powerpoint/2010/main" val="22024386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xfrm>
            <a:off x="482600" y="381000"/>
            <a:ext cx="8703990" cy="534194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9326">
              <a:lnSpc>
                <a:spcPts val="3088"/>
              </a:lnSpc>
            </a:pPr>
            <a:r>
              <a:rPr sz="2643" b="1" spc="209" dirty="0" err="1">
                <a:solidFill>
                  <a:srgbClr val="0E6EC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dobe 黑体 Std R"/>
              </a:rPr>
              <a:t>电路理论</a:t>
            </a:r>
            <a:r>
              <a:rPr lang="en-US" altLang="zh-CN" sz="2643" b="1" spc="209" dirty="0" err="1">
                <a:solidFill>
                  <a:srgbClr val="0E6EC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dobe 黑体 Std R"/>
              </a:rPr>
              <a:t>MOOC</a:t>
            </a:r>
            <a:r>
              <a:rPr sz="2643" b="1" spc="209" dirty="0" err="1">
                <a:solidFill>
                  <a:srgbClr val="0E6EC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dobe 黑体 Std R"/>
              </a:rPr>
              <a:t>课程</a:t>
            </a:r>
            <a:r>
              <a:rPr lang="zh-CN" altLang="en-US" sz="2643" b="1" spc="209" dirty="0">
                <a:solidFill>
                  <a:srgbClr val="0E6EC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dobe 黑体 Std R"/>
              </a:rPr>
              <a:t>信息</a:t>
            </a:r>
            <a:endParaRPr sz="2643" b="1" dirty="0">
              <a:latin typeface="微软雅黑" panose="020B0503020204020204" pitchFamily="34" charset="-122"/>
              <a:ea typeface="微软雅黑" panose="020B0503020204020204" pitchFamily="34" charset="-122"/>
              <a:cs typeface="Adobe 黑体 Std R"/>
            </a:endParaRPr>
          </a:p>
        </p:txBody>
      </p:sp>
      <p:sp>
        <p:nvSpPr>
          <p:cNvPr id="27" name="Rectangle 3"/>
          <p:cNvSpPr txBox="1">
            <a:spLocks noChangeArrowheads="1"/>
          </p:cNvSpPr>
          <p:nvPr/>
        </p:nvSpPr>
        <p:spPr bwMode="auto">
          <a:xfrm>
            <a:off x="303096" y="3469042"/>
            <a:ext cx="9960208" cy="41612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7147" tIns="33574" rIns="67147" bIns="33574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b="1"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b="1"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FF0000"/>
                </a:solidFill>
              </a:rPr>
              <a:t>账号使用真实姓名和学号</a:t>
            </a:r>
            <a:r>
              <a:rPr lang="zh-CN" altLang="en-US" sz="2400" dirty="0"/>
              <a:t>，以保证期末导出数据时，助教可检索到本人</a:t>
            </a:r>
            <a:r>
              <a:rPr lang="en-US" altLang="zh-CN" sz="2400" dirty="0"/>
              <a:t>MOOC</a:t>
            </a:r>
            <a:r>
              <a:rPr lang="zh-CN" altLang="en-US" sz="2400" dirty="0"/>
              <a:t>成绩。</a:t>
            </a:r>
            <a:endParaRPr lang="en-US" altLang="zh-CN" sz="2400" dirty="0"/>
          </a:p>
          <a:p>
            <a:pPr>
              <a:buFont typeface="Wingdings" panose="05000000000000000000" pitchFamily="2" charset="2"/>
              <a:buChar char="Ø"/>
            </a:pPr>
            <a:r>
              <a:rPr lang="zh-CN" altLang="en-US" sz="2400" dirty="0"/>
              <a:t>教学视频、课件、测验、考试已全部发布。</a:t>
            </a:r>
            <a:r>
              <a:rPr lang="zh-CN" altLang="en-US" sz="2400" dirty="0">
                <a:solidFill>
                  <a:srgbClr val="FF0000"/>
                </a:solidFill>
              </a:rPr>
              <a:t>测验、考试都有提交截止日期，错过了就不能再提交，请务必注意</a:t>
            </a:r>
            <a:r>
              <a:rPr lang="zh-CN" altLang="en-US" sz="2400" dirty="0"/>
              <a:t>。</a:t>
            </a:r>
            <a:endParaRPr lang="en-US" altLang="zh-CN" sz="2400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altLang="zh-CN" sz="2400" dirty="0">
                <a:solidFill>
                  <a:srgbClr val="FF0000"/>
                </a:solidFill>
              </a:rPr>
              <a:t>MOOC</a:t>
            </a:r>
            <a:r>
              <a:rPr lang="zh-CN" altLang="en-US" sz="2400" dirty="0">
                <a:solidFill>
                  <a:srgbClr val="FF0000"/>
                </a:solidFill>
              </a:rPr>
              <a:t>成绩评定：课程总分</a:t>
            </a:r>
            <a:r>
              <a:rPr lang="en-US" altLang="zh-CN" sz="2400" dirty="0">
                <a:solidFill>
                  <a:srgbClr val="FF0000"/>
                </a:solidFill>
              </a:rPr>
              <a:t>100</a:t>
            </a:r>
            <a:r>
              <a:rPr lang="zh-CN" altLang="en-US" sz="2400" dirty="0">
                <a:solidFill>
                  <a:srgbClr val="FF0000"/>
                </a:solidFill>
              </a:rPr>
              <a:t>分，包含以下</a:t>
            </a:r>
            <a:r>
              <a:rPr lang="en-US" altLang="zh-CN" sz="2400" dirty="0">
                <a:solidFill>
                  <a:srgbClr val="FF0000"/>
                </a:solidFill>
              </a:rPr>
              <a:t>3</a:t>
            </a:r>
            <a:r>
              <a:rPr lang="zh-CN" altLang="en-US" sz="2400" dirty="0">
                <a:solidFill>
                  <a:srgbClr val="FF0000"/>
                </a:solidFill>
              </a:rPr>
              <a:t>个部分</a:t>
            </a:r>
            <a:endParaRPr lang="en-US" altLang="zh-CN" sz="2400" dirty="0">
              <a:solidFill>
                <a:srgbClr val="FF0000"/>
              </a:solidFill>
            </a:endParaRPr>
          </a:p>
          <a:p>
            <a:pPr marL="914400" lvl="1" indent="-457200">
              <a:buFont typeface="+mj-lt"/>
              <a:buAutoNum type="arabicPeriod"/>
            </a:pPr>
            <a:r>
              <a:rPr lang="zh-CN" altLang="en-US" sz="2000" dirty="0"/>
              <a:t>第</a:t>
            </a:r>
            <a:r>
              <a:rPr lang="en-US" altLang="zh-CN" sz="2000" dirty="0"/>
              <a:t>1-5</a:t>
            </a:r>
            <a:r>
              <a:rPr lang="zh-CN" altLang="en-US" sz="2000" dirty="0"/>
              <a:t>章、第</a:t>
            </a:r>
            <a:r>
              <a:rPr lang="en-US" altLang="zh-CN" sz="2000" dirty="0"/>
              <a:t>7-16</a:t>
            </a:r>
            <a:r>
              <a:rPr lang="zh-CN" altLang="en-US" sz="2000" dirty="0"/>
              <a:t>章的单元测验（共</a:t>
            </a:r>
            <a:r>
              <a:rPr lang="en-US" altLang="zh-CN" sz="2000" dirty="0"/>
              <a:t>15</a:t>
            </a:r>
            <a:r>
              <a:rPr lang="zh-CN" altLang="en-US" sz="2000" dirty="0"/>
              <a:t>个）占</a:t>
            </a:r>
            <a:r>
              <a:rPr lang="en-US" altLang="zh-CN" sz="2000" dirty="0">
                <a:solidFill>
                  <a:srgbClr val="FF0000"/>
                </a:solidFill>
              </a:rPr>
              <a:t>40%</a:t>
            </a:r>
            <a:r>
              <a:rPr lang="zh-CN" altLang="en-US" sz="2000" dirty="0"/>
              <a:t>。每章</a:t>
            </a:r>
            <a:r>
              <a:rPr lang="en-US" altLang="zh-CN" sz="2000" dirty="0"/>
              <a:t>1</a:t>
            </a:r>
            <a:r>
              <a:rPr lang="zh-CN" altLang="en-US" sz="2000" dirty="0"/>
              <a:t>个单元测验，不包含电路仿真的单元测验。单元测验在左边菜单栏中的测验与作业模块内。</a:t>
            </a:r>
          </a:p>
          <a:p>
            <a:pPr marL="914400" lvl="1" indent="-457200">
              <a:buFont typeface="+mj-lt"/>
              <a:buAutoNum type="arabicPeriod"/>
            </a:pPr>
            <a:r>
              <a:rPr lang="zh-CN" altLang="en-US" sz="2000" dirty="0"/>
              <a:t>期末考试占</a:t>
            </a:r>
            <a:r>
              <a:rPr lang="en-US" altLang="zh-CN" sz="2000" dirty="0">
                <a:solidFill>
                  <a:srgbClr val="FF0000"/>
                </a:solidFill>
              </a:rPr>
              <a:t>50%</a:t>
            </a:r>
            <a:r>
              <a:rPr lang="zh-CN" altLang="en-US" sz="2000" dirty="0"/>
              <a:t>。期末考试在左边菜单栏中的考试模块内，同在该模块内的</a:t>
            </a:r>
            <a:r>
              <a:rPr lang="en-US" altLang="zh-CN" sz="2000" dirty="0"/>
              <a:t>4</a:t>
            </a:r>
            <a:r>
              <a:rPr lang="zh-CN" altLang="en-US" sz="2000" dirty="0"/>
              <a:t>个单元考试不计入总成绩，作为自测与模拟考试。</a:t>
            </a:r>
          </a:p>
          <a:p>
            <a:pPr marL="914400" lvl="1" indent="-457200">
              <a:buFont typeface="+mj-lt"/>
              <a:buAutoNum type="arabicPeriod"/>
            </a:pPr>
            <a:r>
              <a:rPr lang="zh-CN" altLang="en-US" sz="2000" dirty="0"/>
              <a:t>课堂讨论占</a:t>
            </a:r>
            <a:r>
              <a:rPr lang="en-US" altLang="zh-CN" sz="2000" dirty="0">
                <a:solidFill>
                  <a:srgbClr val="FF0000"/>
                </a:solidFill>
              </a:rPr>
              <a:t>10%</a:t>
            </a:r>
            <a:r>
              <a:rPr lang="zh-CN" altLang="en-US" sz="2000" dirty="0"/>
              <a:t>。只统计在课堂交流区回答的问题，回答问题</a:t>
            </a:r>
            <a:r>
              <a:rPr lang="en-US" altLang="zh-CN" sz="2000" dirty="0"/>
              <a:t>8</a:t>
            </a:r>
            <a:r>
              <a:rPr lang="zh-CN" altLang="en-US" sz="2000" dirty="0"/>
              <a:t>个及以上得本部分的满分。课堂交流区在在左边菜单栏中的讨论区模块内。</a:t>
            </a:r>
            <a:endParaRPr lang="en-US" altLang="zh-CN" sz="2000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779CF77-8C0E-4653-BF97-21B6D4B642C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7273"/>
          <a:stretch/>
        </p:blipFill>
        <p:spPr>
          <a:xfrm>
            <a:off x="1473200" y="886039"/>
            <a:ext cx="7782067" cy="2462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32840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2359</TotalTime>
  <Words>415</Words>
  <Application>Microsoft Office PowerPoint</Application>
  <PresentationFormat>自定义</PresentationFormat>
  <Paragraphs>27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2" baseType="lpstr">
      <vt:lpstr>Adobe 黑体 Std R</vt:lpstr>
      <vt:lpstr>Helvetica Neue</vt:lpstr>
      <vt:lpstr>等线</vt:lpstr>
      <vt:lpstr>华文细黑</vt:lpstr>
      <vt:lpstr>微软雅黑</vt:lpstr>
      <vt:lpstr>Arial</vt:lpstr>
      <vt:lpstr>Calibri</vt:lpstr>
      <vt:lpstr>Wingdings</vt:lpstr>
      <vt:lpstr>Office Theme</vt:lpstr>
      <vt:lpstr>电路理论课程信息</vt:lpstr>
      <vt:lpstr>电路理论课程信息</vt:lpstr>
      <vt:lpstr>电路理论MOOC课程信息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yan</dc:creator>
  <cp:lastModifiedBy>y</cp:lastModifiedBy>
  <cp:revision>89</cp:revision>
  <dcterms:created xsi:type="dcterms:W3CDTF">2019-01-30T11:06:22Z</dcterms:created>
  <dcterms:modified xsi:type="dcterms:W3CDTF">2024-02-22T03:34:26Z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2018-10-05T00:00:00Z</vt:filetime>
  </property>
  <property fmtid="{D5CDD505-2E9C-101B-9397-08002B2CF9AE}" pid="3" name="LastSaved">
    <vt:filetime>2019-01-30T00:00:00Z</vt:filetime>
  </property>
</Properties>
</file>