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345" r:id="rId2"/>
    <p:sldId id="297" r:id="rId3"/>
    <p:sldId id="299" r:id="rId4"/>
    <p:sldId id="363" r:id="rId5"/>
    <p:sldId id="336" r:id="rId6"/>
    <p:sldId id="301" r:id="rId7"/>
    <p:sldId id="308" r:id="rId8"/>
    <p:sldId id="302" r:id="rId9"/>
    <p:sldId id="337" r:id="rId10"/>
    <p:sldId id="305" r:id="rId11"/>
    <p:sldId id="306" r:id="rId12"/>
    <p:sldId id="263" r:id="rId13"/>
    <p:sldId id="339" r:id="rId14"/>
    <p:sldId id="340" r:id="rId15"/>
    <p:sldId id="266" r:id="rId16"/>
    <p:sldId id="338" r:id="rId17"/>
    <p:sldId id="309" r:id="rId18"/>
    <p:sldId id="310" r:id="rId19"/>
    <p:sldId id="268" r:id="rId20"/>
    <p:sldId id="311" r:id="rId21"/>
    <p:sldId id="350" r:id="rId22"/>
    <p:sldId id="351" r:id="rId23"/>
    <p:sldId id="312" r:id="rId24"/>
    <p:sldId id="313" r:id="rId25"/>
    <p:sldId id="347" r:id="rId26"/>
    <p:sldId id="348" r:id="rId27"/>
    <p:sldId id="352" r:id="rId28"/>
    <p:sldId id="353" r:id="rId29"/>
    <p:sldId id="365" r:id="rId30"/>
    <p:sldId id="354" r:id="rId31"/>
    <p:sldId id="349" r:id="rId32"/>
    <p:sldId id="355" r:id="rId33"/>
    <p:sldId id="356" r:id="rId34"/>
    <p:sldId id="364" r:id="rId35"/>
    <p:sldId id="319" r:id="rId36"/>
    <p:sldId id="320" r:id="rId37"/>
    <p:sldId id="323" r:id="rId38"/>
    <p:sldId id="343" r:id="rId39"/>
    <p:sldId id="358" r:id="rId40"/>
    <p:sldId id="360" r:id="rId41"/>
    <p:sldId id="361" r:id="rId42"/>
    <p:sldId id="366" r:id="rId43"/>
    <p:sldId id="362" r:id="rId44"/>
    <p:sldId id="325" r:id="rId45"/>
    <p:sldId id="326" r:id="rId46"/>
    <p:sldId id="327" r:id="rId47"/>
    <p:sldId id="328" r:id="rId48"/>
    <p:sldId id="368" r:id="rId49"/>
  </p:sldIdLst>
  <p:sldSz cx="9144000" cy="6858000" type="screen4x3"/>
  <p:notesSz cx="6858000" cy="9144000"/>
  <p:defaultTextStyle>
    <a:defPPr>
      <a:defRPr lang="zh-CN"/>
    </a:defPPr>
    <a:lvl1pPr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8">
          <p15:clr>
            <a:srgbClr val="A4A3A4"/>
          </p15:clr>
        </p15:guide>
        <p15:guide id="2" pos="14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0F8F8"/>
    <a:srgbClr val="CFF1F1"/>
    <a:srgbClr val="CCFFFF"/>
    <a:srgbClr val="A50021"/>
    <a:srgbClr val="FFFF99"/>
    <a:srgbClr val="660066"/>
    <a:srgbClr val="FF66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0"/>
  </p:normalViewPr>
  <p:slideViewPr>
    <p:cSldViewPr snapToGrid="0">
      <p:cViewPr varScale="1">
        <p:scale>
          <a:sx n="116" d="100"/>
          <a:sy n="116" d="100"/>
        </p:scale>
        <p:origin x="1407" y="57"/>
      </p:cViewPr>
      <p:guideLst>
        <p:guide orient="horz" pos="2238"/>
        <p:guide pos="14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1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10" Type="http://schemas.openxmlformats.org/officeDocument/2006/relationships/image" Target="../media/image31.wmf"/><Relationship Id="rId4" Type="http://schemas.openxmlformats.org/officeDocument/2006/relationships/image" Target="../media/image25.wmf"/><Relationship Id="rId9"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52.emf"/><Relationship Id="rId3" Type="http://schemas.openxmlformats.org/officeDocument/2006/relationships/image" Target="../media/image42.wmf"/><Relationship Id="rId7" Type="http://schemas.openxmlformats.org/officeDocument/2006/relationships/image" Target="../media/image46.wmf"/><Relationship Id="rId12" Type="http://schemas.openxmlformats.org/officeDocument/2006/relationships/image" Target="../media/image51.e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45.wmf"/><Relationship Id="rId11" Type="http://schemas.openxmlformats.org/officeDocument/2006/relationships/image" Target="../media/image50.emf"/><Relationship Id="rId5" Type="http://schemas.openxmlformats.org/officeDocument/2006/relationships/image" Target="../media/image44.wmf"/><Relationship Id="rId10" Type="http://schemas.openxmlformats.org/officeDocument/2006/relationships/image" Target="../media/image49.wmf"/><Relationship Id="rId4" Type="http://schemas.openxmlformats.org/officeDocument/2006/relationships/image" Target="../media/image43.wmf"/><Relationship Id="rId9" Type="http://schemas.openxmlformats.org/officeDocument/2006/relationships/image" Target="../media/image48.wmf"/><Relationship Id="rId14"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64.emf"/><Relationship Id="rId13" Type="http://schemas.openxmlformats.org/officeDocument/2006/relationships/image" Target="../media/image66.wmf"/><Relationship Id="rId3" Type="http://schemas.openxmlformats.org/officeDocument/2006/relationships/image" Target="../media/image59.wmf"/><Relationship Id="rId7" Type="http://schemas.openxmlformats.org/officeDocument/2006/relationships/image" Target="../media/image63.emf"/><Relationship Id="rId12" Type="http://schemas.openxmlformats.org/officeDocument/2006/relationships/image" Target="../media/image42.wmf"/><Relationship Id="rId2" Type="http://schemas.openxmlformats.org/officeDocument/2006/relationships/image" Target="../media/image58.wmf"/><Relationship Id="rId1" Type="http://schemas.openxmlformats.org/officeDocument/2006/relationships/image" Target="../media/image43.wmf"/><Relationship Id="rId6" Type="http://schemas.openxmlformats.org/officeDocument/2006/relationships/image" Target="../media/image62.wmf"/><Relationship Id="rId11" Type="http://schemas.openxmlformats.org/officeDocument/2006/relationships/image" Target="../media/image29.wmf"/><Relationship Id="rId5" Type="http://schemas.openxmlformats.org/officeDocument/2006/relationships/image" Target="../media/image61.wmf"/><Relationship Id="rId10" Type="http://schemas.openxmlformats.org/officeDocument/2006/relationships/image" Target="../media/image28.wmf"/><Relationship Id="rId4" Type="http://schemas.openxmlformats.org/officeDocument/2006/relationships/image" Target="../media/image60.wmf"/><Relationship Id="rId9" Type="http://schemas.openxmlformats.org/officeDocument/2006/relationships/image" Target="../media/image65.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5" Type="http://schemas.openxmlformats.org/officeDocument/2006/relationships/image" Target="../media/image80.wmf"/><Relationship Id="rId4"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image" Target="../media/image83.wmf"/><Relationship Id="rId7" Type="http://schemas.openxmlformats.org/officeDocument/2006/relationships/image" Target="../media/image79.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image" Target="../media/image31.wmf"/><Relationship Id="rId7" Type="http://schemas.openxmlformats.org/officeDocument/2006/relationships/image" Target="../media/image87.wmf"/><Relationship Id="rId2" Type="http://schemas.openxmlformats.org/officeDocument/2006/relationships/image" Target="../media/image30.wmf"/><Relationship Id="rId1" Type="http://schemas.openxmlformats.org/officeDocument/2006/relationships/image" Target="../media/image43.wmf"/><Relationship Id="rId6" Type="http://schemas.openxmlformats.org/officeDocument/2006/relationships/image" Target="../media/image86.wmf"/><Relationship Id="rId11" Type="http://schemas.openxmlformats.org/officeDocument/2006/relationships/image" Target="../media/image91.wmf"/><Relationship Id="rId5" Type="http://schemas.openxmlformats.org/officeDocument/2006/relationships/image" Target="../media/image85.wmf"/><Relationship Id="rId10" Type="http://schemas.openxmlformats.org/officeDocument/2006/relationships/image" Target="../media/image90.wmf"/><Relationship Id="rId4" Type="http://schemas.openxmlformats.org/officeDocument/2006/relationships/image" Target="../media/image84.wmf"/><Relationship Id="rId9" Type="http://schemas.openxmlformats.org/officeDocument/2006/relationships/image" Target="../media/image89.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94.wmf"/><Relationship Id="rId7" Type="http://schemas.openxmlformats.org/officeDocument/2006/relationships/image" Target="../media/image30.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43.wmf"/><Relationship Id="rId11" Type="http://schemas.openxmlformats.org/officeDocument/2006/relationships/image" Target="../media/image91.wmf"/><Relationship Id="rId5" Type="http://schemas.openxmlformats.org/officeDocument/2006/relationships/image" Target="../media/image96.wmf"/><Relationship Id="rId10" Type="http://schemas.openxmlformats.org/officeDocument/2006/relationships/image" Target="../media/image90.wmf"/><Relationship Id="rId4" Type="http://schemas.openxmlformats.org/officeDocument/2006/relationships/image" Target="../media/image95.wmf"/><Relationship Id="rId9" Type="http://schemas.openxmlformats.org/officeDocument/2006/relationships/image" Target="../media/image8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103.wmf"/><Relationship Id="rId2" Type="http://schemas.openxmlformats.org/officeDocument/2006/relationships/image" Target="../media/image98.emf"/><Relationship Id="rId1" Type="http://schemas.openxmlformats.org/officeDocument/2006/relationships/image" Target="../media/image97.e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image" Target="../media/image106.wmf"/><Relationship Id="rId7" Type="http://schemas.openxmlformats.org/officeDocument/2006/relationships/image" Target="../media/image110.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9.emf"/><Relationship Id="rId5" Type="http://schemas.openxmlformats.org/officeDocument/2006/relationships/image" Target="../media/image108.wmf"/><Relationship Id="rId10" Type="http://schemas.openxmlformats.org/officeDocument/2006/relationships/image" Target="../media/image113.wmf"/><Relationship Id="rId4" Type="http://schemas.openxmlformats.org/officeDocument/2006/relationships/image" Target="../media/image107.wmf"/><Relationship Id="rId9" Type="http://schemas.openxmlformats.org/officeDocument/2006/relationships/image" Target="../media/image11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 Id="rId5" Type="http://schemas.openxmlformats.org/officeDocument/2006/relationships/image" Target="../media/image118.wmf"/><Relationship Id="rId4" Type="http://schemas.openxmlformats.org/officeDocument/2006/relationships/image" Target="../media/image11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image" Target="../media/image123.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image" Target="../media/image127.wmf"/><Relationship Id="rId7" Type="http://schemas.openxmlformats.org/officeDocument/2006/relationships/image" Target="../media/image131.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emf"/><Relationship Id="rId5" Type="http://schemas.openxmlformats.org/officeDocument/2006/relationships/image" Target="../media/image129.wmf"/><Relationship Id="rId4" Type="http://schemas.openxmlformats.org/officeDocument/2006/relationships/image" Target="../media/image128.wmf"/><Relationship Id="rId9" Type="http://schemas.openxmlformats.org/officeDocument/2006/relationships/image" Target="../media/image133.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34.wmf"/><Relationship Id="rId5" Type="http://schemas.openxmlformats.org/officeDocument/2006/relationships/image" Target="../media/image135.wmf"/><Relationship Id="rId4" Type="http://schemas.openxmlformats.org/officeDocument/2006/relationships/image" Target="../media/image127.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36.wmf"/><Relationship Id="rId5" Type="http://schemas.openxmlformats.org/officeDocument/2006/relationships/image" Target="../media/image137.wmf"/><Relationship Id="rId4" Type="http://schemas.openxmlformats.org/officeDocument/2006/relationships/image" Target="../media/image12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 Id="rId6" Type="http://schemas.openxmlformats.org/officeDocument/2006/relationships/image" Target="../media/image142.wmf"/><Relationship Id="rId5" Type="http://schemas.openxmlformats.org/officeDocument/2006/relationships/image" Target="../media/image31.wmf"/><Relationship Id="rId4" Type="http://schemas.openxmlformats.org/officeDocument/2006/relationships/image" Target="../media/image141.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145.wmf"/><Relationship Id="rId7" Type="http://schemas.openxmlformats.org/officeDocument/2006/relationships/image" Target="../media/image149.wmf"/><Relationship Id="rId12" Type="http://schemas.openxmlformats.org/officeDocument/2006/relationships/image" Target="../media/image151.wmf"/><Relationship Id="rId2" Type="http://schemas.openxmlformats.org/officeDocument/2006/relationships/image" Target="../media/image144.wmf"/><Relationship Id="rId1" Type="http://schemas.openxmlformats.org/officeDocument/2006/relationships/image" Target="../media/image143.wmf"/><Relationship Id="rId6" Type="http://schemas.openxmlformats.org/officeDocument/2006/relationships/image" Target="../media/image148.wmf"/><Relationship Id="rId11" Type="http://schemas.openxmlformats.org/officeDocument/2006/relationships/image" Target="../media/image142.wmf"/><Relationship Id="rId5" Type="http://schemas.openxmlformats.org/officeDocument/2006/relationships/image" Target="../media/image147.wmf"/><Relationship Id="rId10" Type="http://schemas.openxmlformats.org/officeDocument/2006/relationships/image" Target="../media/image150.wmf"/><Relationship Id="rId4" Type="http://schemas.openxmlformats.org/officeDocument/2006/relationships/image" Target="../media/image146.wmf"/><Relationship Id="rId9" Type="http://schemas.openxmlformats.org/officeDocument/2006/relationships/image" Target="../media/image90.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154.wmf"/><Relationship Id="rId7" Type="http://schemas.openxmlformats.org/officeDocument/2006/relationships/image" Target="../media/image29.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28.wmf"/><Relationship Id="rId5" Type="http://schemas.openxmlformats.org/officeDocument/2006/relationships/image" Target="../media/image156.wmf"/><Relationship Id="rId10" Type="http://schemas.openxmlformats.org/officeDocument/2006/relationships/image" Target="../media/image157.wmf"/><Relationship Id="rId4" Type="http://schemas.openxmlformats.org/officeDocument/2006/relationships/image" Target="../media/image155.wmf"/><Relationship Id="rId9" Type="http://schemas.openxmlformats.org/officeDocument/2006/relationships/image" Target="../media/image31.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65.wmf"/><Relationship Id="rId3" Type="http://schemas.openxmlformats.org/officeDocument/2006/relationships/image" Target="../media/image160.emf"/><Relationship Id="rId7" Type="http://schemas.openxmlformats.org/officeDocument/2006/relationships/image" Target="../media/image164.wmf"/><Relationship Id="rId2" Type="http://schemas.openxmlformats.org/officeDocument/2006/relationships/image" Target="../media/image159.emf"/><Relationship Id="rId1" Type="http://schemas.openxmlformats.org/officeDocument/2006/relationships/image" Target="../media/image158.e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9" Type="http://schemas.openxmlformats.org/officeDocument/2006/relationships/image" Target="../media/image166.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4.emf"/><Relationship Id="rId3" Type="http://schemas.openxmlformats.org/officeDocument/2006/relationships/image" Target="../media/image169.wmf"/><Relationship Id="rId7" Type="http://schemas.openxmlformats.org/officeDocument/2006/relationships/image" Target="../media/image173.emf"/><Relationship Id="rId2" Type="http://schemas.openxmlformats.org/officeDocument/2006/relationships/image" Target="../media/image168.emf"/><Relationship Id="rId1" Type="http://schemas.openxmlformats.org/officeDocument/2006/relationships/image" Target="../media/image167.emf"/><Relationship Id="rId6" Type="http://schemas.openxmlformats.org/officeDocument/2006/relationships/image" Target="../media/image172.wmf"/><Relationship Id="rId5" Type="http://schemas.openxmlformats.org/officeDocument/2006/relationships/image" Target="../media/image171.wmf"/><Relationship Id="rId10" Type="http://schemas.openxmlformats.org/officeDocument/2006/relationships/image" Target="../media/image176.emf"/><Relationship Id="rId4" Type="http://schemas.openxmlformats.org/officeDocument/2006/relationships/image" Target="../media/image170.wmf"/><Relationship Id="rId9" Type="http://schemas.openxmlformats.org/officeDocument/2006/relationships/image" Target="../media/image175.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77.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emf"/><Relationship Id="rId1" Type="http://schemas.openxmlformats.org/officeDocument/2006/relationships/image" Target="../media/image181.wmf"/><Relationship Id="rId5" Type="http://schemas.openxmlformats.org/officeDocument/2006/relationships/image" Target="../media/image185.wmf"/><Relationship Id="rId4" Type="http://schemas.openxmlformats.org/officeDocument/2006/relationships/image" Target="../media/image184.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2.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11" Type="http://schemas.openxmlformats.org/officeDocument/2006/relationships/image" Target="../media/image196.wmf"/><Relationship Id="rId5" Type="http://schemas.openxmlformats.org/officeDocument/2006/relationships/image" Target="../media/image190.wmf"/><Relationship Id="rId10" Type="http://schemas.openxmlformats.org/officeDocument/2006/relationships/image" Target="../media/image195.wmf"/><Relationship Id="rId4" Type="http://schemas.openxmlformats.org/officeDocument/2006/relationships/image" Target="../media/image189.wmf"/><Relationship Id="rId9" Type="http://schemas.openxmlformats.org/officeDocument/2006/relationships/image" Target="../media/image194.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04.wmf"/><Relationship Id="rId13" Type="http://schemas.openxmlformats.org/officeDocument/2006/relationships/image" Target="../media/image209.wmf"/><Relationship Id="rId3" Type="http://schemas.openxmlformats.org/officeDocument/2006/relationships/image" Target="../media/image199.wmf"/><Relationship Id="rId7" Type="http://schemas.openxmlformats.org/officeDocument/2006/relationships/image" Target="../media/image203.wmf"/><Relationship Id="rId12" Type="http://schemas.openxmlformats.org/officeDocument/2006/relationships/image" Target="../media/image208.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2.wmf"/><Relationship Id="rId11" Type="http://schemas.openxmlformats.org/officeDocument/2006/relationships/image" Target="../media/image207.wmf"/><Relationship Id="rId5" Type="http://schemas.openxmlformats.org/officeDocument/2006/relationships/image" Target="../media/image201.wmf"/><Relationship Id="rId10" Type="http://schemas.openxmlformats.org/officeDocument/2006/relationships/image" Target="../media/image206.wmf"/><Relationship Id="rId4" Type="http://schemas.openxmlformats.org/officeDocument/2006/relationships/image" Target="../media/image200.wmf"/><Relationship Id="rId9" Type="http://schemas.openxmlformats.org/officeDocument/2006/relationships/image" Target="../media/image205.wmf"/><Relationship Id="rId14" Type="http://schemas.openxmlformats.org/officeDocument/2006/relationships/image" Target="../media/image210.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1"/>
            </a:lvl1pPr>
          </a:lstStyle>
          <a:p>
            <a:endParaRPr lang="en-US" altLang="zh-CN"/>
          </a:p>
        </p:txBody>
      </p:sp>
      <p:sp>
        <p:nvSpPr>
          <p:cNvPr id="9216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endParaRPr lang="en-US" altLang="zh-CN"/>
          </a:p>
        </p:txBody>
      </p:sp>
      <p:sp>
        <p:nvSpPr>
          <p:cNvPr id="9216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1"/>
            </a:lvl1pPr>
          </a:lstStyle>
          <a:p>
            <a:endParaRPr lang="en-US" altLang="zh-CN"/>
          </a:p>
        </p:txBody>
      </p:sp>
      <p:sp>
        <p:nvSpPr>
          <p:cNvPr id="9216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fld id="{8F70D7DD-DC57-4D6F-86D0-E10BDD876D6B}"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4F36C1-65EB-4E70-8EC5-33CAD1ACF5A6}" type="datetimeFigureOut">
              <a:rPr lang="zh-CN" altLang="en-US" smtClean="0"/>
              <a:t>2019/5/21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8A5124-C017-437F-9D70-522F09C08804}" type="slidenum">
              <a:rPr lang="zh-CN" altLang="en-US" smtClean="0"/>
              <a:t>‹#›</a:t>
            </a:fld>
            <a:endParaRPr lang="zh-CN" altLang="en-US"/>
          </a:p>
        </p:txBody>
      </p:sp>
    </p:spTree>
    <p:extLst>
      <p:ext uri="{BB962C8B-B14F-4D97-AF65-F5344CB8AC3E}">
        <p14:creationId xmlns:p14="http://schemas.microsoft.com/office/powerpoint/2010/main" val="3164248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463E20-6516-4F42-A29E-5A92713281CC}" type="slidenum">
              <a:rPr lang="en-US" altLang="zh-CN"/>
              <a:pPr/>
              <a:t>21</a:t>
            </a:fld>
            <a:endParaRPr lang="en-US" altLang="zh-CN"/>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201035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D88402-7307-4AAF-84B0-0809BDBD5EFC}" type="slidenum">
              <a:rPr lang="en-US" altLang="zh-CN"/>
              <a:pPr/>
              <a:t>22</a:t>
            </a:fld>
            <a:endParaRPr lang="en-US" altLang="zh-CN"/>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04393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6B77BB-703F-4240-BE2D-938F5B9E5BFD}" type="slidenum">
              <a:rPr lang="en-US" altLang="zh-CN"/>
              <a:pPr/>
              <a:t>27</a:t>
            </a:fld>
            <a:endParaRPr lang="en-US" altLang="zh-CN"/>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063624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94AFB2-5900-4FBC-A246-D784F27372EF}" type="slidenum">
              <a:rPr lang="en-US" altLang="zh-CN"/>
              <a:pPr/>
              <a:t>28</a:t>
            </a:fld>
            <a:endParaRPr lang="en-US" altLang="zh-CN"/>
          </a:p>
        </p:txBody>
      </p:sp>
      <p:sp>
        <p:nvSpPr>
          <p:cNvPr id="735234" name="Rectangle 2"/>
          <p:cNvSpPr>
            <a:spLocks noGrp="1" noRot="1" noChangeAspect="1" noChangeArrowheads="1" noTextEdit="1"/>
          </p:cNvSpPr>
          <p:nvPr>
            <p:ph type="sldImg"/>
          </p:nvPr>
        </p:nvSpPr>
        <p:spPr>
          <a:ln/>
        </p:spPr>
      </p:sp>
      <p:sp>
        <p:nvSpPr>
          <p:cNvPr id="73523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673178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EF4090-391E-4681-BC86-96281401E6E3}" type="slidenum">
              <a:rPr lang="en-US" altLang="zh-CN"/>
              <a:pPr/>
              <a:t>30</a:t>
            </a:fld>
            <a:endParaRPr lang="en-US" altLang="zh-CN"/>
          </a:p>
        </p:txBody>
      </p:sp>
      <p:sp>
        <p:nvSpPr>
          <p:cNvPr id="737282" name="Rectangle 2"/>
          <p:cNvSpPr>
            <a:spLocks noGrp="1" noRot="1" noChangeAspect="1" noChangeArrowheads="1" noTextEdit="1"/>
          </p:cNvSpPr>
          <p:nvPr>
            <p:ph type="sldImg"/>
          </p:nvPr>
        </p:nvSpPr>
        <p:spPr>
          <a:ln/>
        </p:spPr>
      </p:sp>
      <p:sp>
        <p:nvSpPr>
          <p:cNvPr id="73728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220217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9378E5-AB05-4041-8BD2-C7FD9D26FEB8}" type="slidenum">
              <a:rPr lang="en-US" altLang="zh-CN"/>
              <a:pPr/>
              <a:t>32</a:t>
            </a:fld>
            <a:endParaRPr lang="en-US" altLang="zh-CN"/>
          </a:p>
        </p:txBody>
      </p:sp>
      <p:sp>
        <p:nvSpPr>
          <p:cNvPr id="739330" name="Rectangle 2"/>
          <p:cNvSpPr>
            <a:spLocks noGrp="1" noRot="1" noChangeAspect="1" noChangeArrowheads="1" noTextEdit="1"/>
          </p:cNvSpPr>
          <p:nvPr>
            <p:ph type="sldImg"/>
          </p:nvPr>
        </p:nvSpPr>
        <p:spPr>
          <a:ln/>
        </p:spPr>
      </p:sp>
      <p:sp>
        <p:nvSpPr>
          <p:cNvPr id="73933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624191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26D7CB-B20A-49AF-AA60-7092B2DD607B}" type="slidenum">
              <a:rPr lang="en-US" altLang="zh-CN"/>
              <a:pPr/>
              <a:t>33</a:t>
            </a:fld>
            <a:endParaRPr lang="en-US" altLang="zh-CN"/>
          </a:p>
        </p:txBody>
      </p:sp>
      <p:sp>
        <p:nvSpPr>
          <p:cNvPr id="741378" name="Rectangle 2"/>
          <p:cNvSpPr>
            <a:spLocks noGrp="1" noRot="1" noChangeAspect="1" noChangeArrowheads="1" noTextEdit="1"/>
          </p:cNvSpPr>
          <p:nvPr>
            <p:ph type="sldImg"/>
          </p:nvPr>
        </p:nvSpPr>
        <p:spPr>
          <a:ln/>
        </p:spPr>
      </p:sp>
      <p:sp>
        <p:nvSpPr>
          <p:cNvPr id="74137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980555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26D7CB-B20A-49AF-AA60-7092B2DD607B}" type="slidenum">
              <a:rPr lang="en-US" altLang="zh-CN"/>
              <a:pPr/>
              <a:t>34</a:t>
            </a:fld>
            <a:endParaRPr lang="en-US" altLang="zh-CN"/>
          </a:p>
        </p:txBody>
      </p:sp>
      <p:sp>
        <p:nvSpPr>
          <p:cNvPr id="741378" name="Rectangle 2"/>
          <p:cNvSpPr>
            <a:spLocks noGrp="1" noRot="1" noChangeAspect="1" noChangeArrowheads="1" noTextEdit="1"/>
          </p:cNvSpPr>
          <p:nvPr>
            <p:ph type="sldImg"/>
          </p:nvPr>
        </p:nvSpPr>
        <p:spPr>
          <a:ln/>
        </p:spPr>
      </p:sp>
      <p:sp>
        <p:nvSpPr>
          <p:cNvPr id="74137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859439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1FB957-99CC-4EB7-BEDF-C9E8E6A4DF69}" type="slidenum">
              <a:rPr lang="en-US" altLang="zh-CN"/>
              <a:pPr/>
              <a:t>39</a:t>
            </a:fld>
            <a:endParaRPr lang="en-US" altLang="zh-CN"/>
          </a:p>
        </p:txBody>
      </p:sp>
      <p:sp>
        <p:nvSpPr>
          <p:cNvPr id="751618" name="Rectangle 2"/>
          <p:cNvSpPr>
            <a:spLocks noGrp="1" noRot="1" noChangeAspect="1" noChangeArrowheads="1" noTextEdit="1"/>
          </p:cNvSpPr>
          <p:nvPr>
            <p:ph type="sldImg"/>
          </p:nvPr>
        </p:nvSpPr>
        <p:spPr>
          <a:ln/>
        </p:spPr>
      </p:sp>
      <p:sp>
        <p:nvSpPr>
          <p:cNvPr id="75161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712623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232626-DFE2-4875-9756-7ABFF4B7AAE9}" type="slidenum">
              <a:rPr lang="en-US" altLang="zh-CN"/>
              <a:pPr/>
              <a:t>40</a:t>
            </a:fld>
            <a:endParaRPr lang="en-US" altLang="zh-CN"/>
          </a:p>
        </p:txBody>
      </p:sp>
      <p:sp>
        <p:nvSpPr>
          <p:cNvPr id="755714" name="Rectangle 2"/>
          <p:cNvSpPr>
            <a:spLocks noGrp="1" noRot="1" noChangeAspect="1" noChangeArrowheads="1" noTextEdit="1"/>
          </p:cNvSpPr>
          <p:nvPr>
            <p:ph type="sldImg"/>
          </p:nvPr>
        </p:nvSpPr>
        <p:spPr>
          <a:ln/>
        </p:spPr>
      </p:sp>
      <p:sp>
        <p:nvSpPr>
          <p:cNvPr id="75571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253291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37AF9-C739-4200-84BB-61BCF3435F80}" type="slidenum">
              <a:rPr lang="en-US" altLang="zh-CN"/>
              <a:pPr/>
              <a:t>41</a:t>
            </a:fld>
            <a:endParaRPr lang="en-US" altLang="zh-CN"/>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714889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37AF9-C739-4200-84BB-61BCF3435F80}" type="slidenum">
              <a:rPr lang="en-US" altLang="zh-CN"/>
              <a:pPr/>
              <a:t>42</a:t>
            </a:fld>
            <a:endParaRPr lang="en-US" altLang="zh-CN"/>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467015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C012F3D-AF66-45C7-B7A1-C4605EFE67E6}" type="slidenum">
              <a:rPr lang="en-US" altLang="zh-CN"/>
              <a:pPr/>
              <a:t>‹#›</a:t>
            </a:fld>
            <a:endParaRPr lang="en-US" altLang="zh-CN"/>
          </a:p>
        </p:txBody>
      </p:sp>
    </p:spTree>
    <p:extLst>
      <p:ext uri="{BB962C8B-B14F-4D97-AF65-F5344CB8AC3E}">
        <p14:creationId xmlns:p14="http://schemas.microsoft.com/office/powerpoint/2010/main" val="3977941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5DA5CF0-8169-440D-816D-F325457A722E}" type="slidenum">
              <a:rPr lang="en-US" altLang="zh-CN"/>
              <a:pPr/>
              <a:t>‹#›</a:t>
            </a:fld>
            <a:endParaRPr lang="en-US" altLang="zh-CN"/>
          </a:p>
        </p:txBody>
      </p:sp>
    </p:spTree>
    <p:extLst>
      <p:ext uri="{BB962C8B-B14F-4D97-AF65-F5344CB8AC3E}">
        <p14:creationId xmlns:p14="http://schemas.microsoft.com/office/powerpoint/2010/main" val="2215501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4C8ACFB-F919-42A7-A563-3C90C4083A5F}" type="slidenum">
              <a:rPr lang="en-US" altLang="zh-CN"/>
              <a:pPr/>
              <a:t>‹#›</a:t>
            </a:fld>
            <a:endParaRPr lang="en-US" altLang="zh-CN"/>
          </a:p>
        </p:txBody>
      </p:sp>
    </p:spTree>
    <p:extLst>
      <p:ext uri="{BB962C8B-B14F-4D97-AF65-F5344CB8AC3E}">
        <p14:creationId xmlns:p14="http://schemas.microsoft.com/office/powerpoint/2010/main" val="928654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36DDDA6-24B9-48C4-9E97-3D8C4EF81961}" type="slidenum">
              <a:rPr lang="en-US" altLang="zh-CN"/>
              <a:pPr/>
              <a:t>‹#›</a:t>
            </a:fld>
            <a:endParaRPr lang="en-US" altLang="zh-CN"/>
          </a:p>
        </p:txBody>
      </p:sp>
    </p:spTree>
    <p:extLst>
      <p:ext uri="{BB962C8B-B14F-4D97-AF65-F5344CB8AC3E}">
        <p14:creationId xmlns:p14="http://schemas.microsoft.com/office/powerpoint/2010/main" val="3854454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3944DA47-A573-4CDA-9270-B18BDD9D10F0}" type="slidenum">
              <a:rPr lang="en-US" altLang="zh-CN"/>
              <a:pPr/>
              <a:t>‹#›</a:t>
            </a:fld>
            <a:endParaRPr lang="en-US" altLang="zh-CN"/>
          </a:p>
        </p:txBody>
      </p:sp>
    </p:spTree>
    <p:extLst>
      <p:ext uri="{BB962C8B-B14F-4D97-AF65-F5344CB8AC3E}">
        <p14:creationId xmlns:p14="http://schemas.microsoft.com/office/powerpoint/2010/main" val="455277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547049D1-42BF-44D2-9284-2548236653C6}" type="slidenum">
              <a:rPr lang="en-US" altLang="zh-CN"/>
              <a:pPr/>
              <a:t>‹#›</a:t>
            </a:fld>
            <a:endParaRPr lang="en-US" altLang="zh-CN"/>
          </a:p>
        </p:txBody>
      </p:sp>
    </p:spTree>
    <p:extLst>
      <p:ext uri="{BB962C8B-B14F-4D97-AF65-F5344CB8AC3E}">
        <p14:creationId xmlns:p14="http://schemas.microsoft.com/office/powerpoint/2010/main" val="2294908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9B7CEFFF-BF6E-48FB-A3DA-85883D4530C7}" type="slidenum">
              <a:rPr lang="en-US" altLang="zh-CN"/>
              <a:pPr/>
              <a:t>‹#›</a:t>
            </a:fld>
            <a:endParaRPr lang="en-US" altLang="zh-CN"/>
          </a:p>
        </p:txBody>
      </p:sp>
    </p:spTree>
    <p:extLst>
      <p:ext uri="{BB962C8B-B14F-4D97-AF65-F5344CB8AC3E}">
        <p14:creationId xmlns:p14="http://schemas.microsoft.com/office/powerpoint/2010/main" val="3091137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F4B990D-90B2-4492-9BE1-CD139DBA2ECB}" type="slidenum">
              <a:rPr lang="en-US" altLang="zh-CN"/>
              <a:pPr/>
              <a:t>‹#›</a:t>
            </a:fld>
            <a:endParaRPr lang="en-US" altLang="zh-CN"/>
          </a:p>
        </p:txBody>
      </p:sp>
    </p:spTree>
    <p:extLst>
      <p:ext uri="{BB962C8B-B14F-4D97-AF65-F5344CB8AC3E}">
        <p14:creationId xmlns:p14="http://schemas.microsoft.com/office/powerpoint/2010/main" val="2456217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99F9154-4E3D-450F-A51E-8CCBF3013C3E}" type="slidenum">
              <a:rPr lang="en-US" altLang="zh-CN"/>
              <a:pPr/>
              <a:t>‹#›</a:t>
            </a:fld>
            <a:endParaRPr lang="en-US" altLang="zh-CN"/>
          </a:p>
        </p:txBody>
      </p:sp>
    </p:spTree>
    <p:extLst>
      <p:ext uri="{BB962C8B-B14F-4D97-AF65-F5344CB8AC3E}">
        <p14:creationId xmlns:p14="http://schemas.microsoft.com/office/powerpoint/2010/main" val="150960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4204A0A-D3FE-4782-ADE7-E2FF0E85DA50}" type="slidenum">
              <a:rPr lang="en-US" altLang="zh-CN"/>
              <a:pPr/>
              <a:t>‹#›</a:t>
            </a:fld>
            <a:endParaRPr lang="en-US" altLang="zh-CN"/>
          </a:p>
        </p:txBody>
      </p:sp>
    </p:spTree>
    <p:extLst>
      <p:ext uri="{BB962C8B-B14F-4D97-AF65-F5344CB8AC3E}">
        <p14:creationId xmlns:p14="http://schemas.microsoft.com/office/powerpoint/2010/main" val="426575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93F890-39DC-4B0D-84B5-5F3414A2C322}" type="slidenum">
              <a:rPr lang="en-US" altLang="zh-CN"/>
              <a:pPr/>
              <a:t>‹#›</a:t>
            </a:fld>
            <a:endParaRPr lang="en-US" altLang="zh-CN"/>
          </a:p>
        </p:txBody>
      </p:sp>
    </p:spTree>
    <p:extLst>
      <p:ext uri="{BB962C8B-B14F-4D97-AF65-F5344CB8AC3E}">
        <p14:creationId xmlns:p14="http://schemas.microsoft.com/office/powerpoint/2010/main" val="189594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1D8C9A9D-5314-4602-BACA-F2895BECFCA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5.bin"/><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4.wmf"/><Relationship Id="rId5" Type="http://schemas.openxmlformats.org/officeDocument/2006/relationships/oleObject" Target="../embeddings/oleObject1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8.wmf"/><Relationship Id="rId5" Type="http://schemas.openxmlformats.org/officeDocument/2006/relationships/oleObject" Target="../embeddings/oleObject16.bin"/><Relationship Id="rId4" Type="http://schemas.openxmlformats.org/officeDocument/2006/relationships/image" Target="../media/image1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wmf"/></Relationships>
</file>

<file path=ppt/slides/_rels/slide12.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5.bin"/><Relationship Id="rId18" Type="http://schemas.openxmlformats.org/officeDocument/2006/relationships/image" Target="../media/image29.wmf"/><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6.wmf"/><Relationship Id="rId17"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vmlDrawing" Target="../drawings/vmlDrawing10.vml"/><Relationship Id="rId6" Type="http://schemas.openxmlformats.org/officeDocument/2006/relationships/image" Target="../media/image23.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5.wmf"/><Relationship Id="rId19" Type="http://schemas.openxmlformats.org/officeDocument/2006/relationships/oleObject" Target="../embeddings/oleObject28.bin"/><Relationship Id="rId4" Type="http://schemas.openxmlformats.org/officeDocument/2006/relationships/image" Target="../media/image22.wmf"/><Relationship Id="rId9" Type="http://schemas.openxmlformats.org/officeDocument/2006/relationships/oleObject" Target="../embeddings/oleObject23.bin"/><Relationship Id="rId14" Type="http://schemas.openxmlformats.org/officeDocument/2006/relationships/image" Target="../media/image27.wmf"/><Relationship Id="rId22" Type="http://schemas.openxmlformats.org/officeDocument/2006/relationships/image" Target="../media/image31.wmf"/></Relationships>
</file>

<file path=ppt/slides/_rels/slide13.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3.wmf"/><Relationship Id="rId5" Type="http://schemas.openxmlformats.org/officeDocument/2006/relationships/oleObject" Target="../embeddings/oleObject31.bin"/><Relationship Id="rId4" Type="http://schemas.openxmlformats.org/officeDocument/2006/relationships/image" Target="../media/image32.wmf"/></Relationships>
</file>

<file path=ppt/slides/_rels/slide1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6.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39.bin"/><Relationship Id="rId4" Type="http://schemas.openxmlformats.org/officeDocument/2006/relationships/image" Target="../media/image40.wmf"/></Relationships>
</file>

<file path=ppt/slides/_rels/slide16.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45.bin"/><Relationship Id="rId18" Type="http://schemas.openxmlformats.org/officeDocument/2006/relationships/image" Target="../media/image47.wmf"/><Relationship Id="rId26" Type="http://schemas.openxmlformats.org/officeDocument/2006/relationships/oleObject" Target="../embeddings/oleObject52.bin"/><Relationship Id="rId3" Type="http://schemas.openxmlformats.org/officeDocument/2006/relationships/oleObject" Target="../embeddings/oleObject40.bin"/><Relationship Id="rId21" Type="http://schemas.openxmlformats.org/officeDocument/2006/relationships/oleObject" Target="../embeddings/oleObject49.bin"/><Relationship Id="rId7" Type="http://schemas.openxmlformats.org/officeDocument/2006/relationships/oleObject" Target="../embeddings/oleObject42.bin"/><Relationship Id="rId12" Type="http://schemas.openxmlformats.org/officeDocument/2006/relationships/image" Target="../media/image44.wmf"/><Relationship Id="rId17" Type="http://schemas.openxmlformats.org/officeDocument/2006/relationships/oleObject" Target="../embeddings/oleObject47.bin"/><Relationship Id="rId25" Type="http://schemas.openxmlformats.org/officeDocument/2006/relationships/image" Target="../media/image50.emf"/><Relationship Id="rId2" Type="http://schemas.openxmlformats.org/officeDocument/2006/relationships/slideLayout" Target="../slideLayouts/slideLayout7.xml"/><Relationship Id="rId16" Type="http://schemas.openxmlformats.org/officeDocument/2006/relationships/image" Target="../media/image46.wmf"/><Relationship Id="rId20" Type="http://schemas.openxmlformats.org/officeDocument/2006/relationships/image" Target="../media/image48.wmf"/><Relationship Id="rId29" Type="http://schemas.openxmlformats.org/officeDocument/2006/relationships/image" Target="../media/image52.emf"/><Relationship Id="rId1" Type="http://schemas.openxmlformats.org/officeDocument/2006/relationships/vmlDrawing" Target="../drawings/vmlDrawing14.vml"/><Relationship Id="rId6" Type="http://schemas.openxmlformats.org/officeDocument/2006/relationships/image" Target="../media/image29.wmf"/><Relationship Id="rId11" Type="http://schemas.openxmlformats.org/officeDocument/2006/relationships/oleObject" Target="../embeddings/oleObject44.bin"/><Relationship Id="rId24" Type="http://schemas.openxmlformats.org/officeDocument/2006/relationships/oleObject" Target="../embeddings/oleObject51.bin"/><Relationship Id="rId5" Type="http://schemas.openxmlformats.org/officeDocument/2006/relationships/oleObject" Target="../embeddings/oleObject41.bin"/><Relationship Id="rId15" Type="http://schemas.openxmlformats.org/officeDocument/2006/relationships/oleObject" Target="../embeddings/oleObject46.bin"/><Relationship Id="rId23" Type="http://schemas.openxmlformats.org/officeDocument/2006/relationships/oleObject" Target="../embeddings/oleObject50.bin"/><Relationship Id="rId28" Type="http://schemas.openxmlformats.org/officeDocument/2006/relationships/oleObject" Target="../embeddings/oleObject53.bin"/><Relationship Id="rId10" Type="http://schemas.openxmlformats.org/officeDocument/2006/relationships/image" Target="../media/image43.wmf"/><Relationship Id="rId19" Type="http://schemas.openxmlformats.org/officeDocument/2006/relationships/oleObject" Target="../embeddings/oleObject48.bin"/><Relationship Id="rId31" Type="http://schemas.openxmlformats.org/officeDocument/2006/relationships/image" Target="../media/image53.wmf"/><Relationship Id="rId4" Type="http://schemas.openxmlformats.org/officeDocument/2006/relationships/image" Target="../media/image28.wmf"/><Relationship Id="rId9" Type="http://schemas.openxmlformats.org/officeDocument/2006/relationships/oleObject" Target="../embeddings/oleObject43.bin"/><Relationship Id="rId14" Type="http://schemas.openxmlformats.org/officeDocument/2006/relationships/image" Target="../media/image45.wmf"/><Relationship Id="rId22" Type="http://schemas.openxmlformats.org/officeDocument/2006/relationships/image" Target="../media/image49.wmf"/><Relationship Id="rId27" Type="http://schemas.openxmlformats.org/officeDocument/2006/relationships/image" Target="../media/image51.emf"/><Relationship Id="rId30" Type="http://schemas.openxmlformats.org/officeDocument/2006/relationships/oleObject" Target="../embeddings/oleObject54.bin"/></Relationships>
</file>

<file path=ppt/slides/_rels/slide17.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5.wmf"/><Relationship Id="rId5" Type="http://schemas.openxmlformats.org/officeDocument/2006/relationships/oleObject" Target="../embeddings/oleObject56.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58.bin"/></Relationships>
</file>

<file path=ppt/slides/_rels/slide18.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64.bin"/><Relationship Id="rId18" Type="http://schemas.openxmlformats.org/officeDocument/2006/relationships/oleObject" Target="../embeddings/oleObject67.bin"/><Relationship Id="rId26" Type="http://schemas.openxmlformats.org/officeDocument/2006/relationships/oleObject" Target="../embeddings/oleObject71.bin"/><Relationship Id="rId3" Type="http://schemas.openxmlformats.org/officeDocument/2006/relationships/oleObject" Target="../embeddings/oleObject59.bin"/><Relationship Id="rId21" Type="http://schemas.openxmlformats.org/officeDocument/2006/relationships/image" Target="../media/image65.emf"/><Relationship Id="rId7" Type="http://schemas.openxmlformats.org/officeDocument/2006/relationships/oleObject" Target="../embeddings/oleObject61.bin"/><Relationship Id="rId12" Type="http://schemas.openxmlformats.org/officeDocument/2006/relationships/image" Target="../media/image61.wmf"/><Relationship Id="rId17" Type="http://schemas.openxmlformats.org/officeDocument/2006/relationships/image" Target="../media/image63.emf"/><Relationship Id="rId25" Type="http://schemas.openxmlformats.org/officeDocument/2006/relationships/image" Target="../media/image29.wmf"/><Relationship Id="rId2" Type="http://schemas.openxmlformats.org/officeDocument/2006/relationships/slideLayout" Target="../slideLayouts/slideLayout7.xml"/><Relationship Id="rId16" Type="http://schemas.openxmlformats.org/officeDocument/2006/relationships/oleObject" Target="../embeddings/oleObject66.bin"/><Relationship Id="rId20" Type="http://schemas.openxmlformats.org/officeDocument/2006/relationships/oleObject" Target="../embeddings/oleObject68.bin"/><Relationship Id="rId29" Type="http://schemas.openxmlformats.org/officeDocument/2006/relationships/oleObject" Target="../embeddings/oleObject73.bin"/><Relationship Id="rId1" Type="http://schemas.openxmlformats.org/officeDocument/2006/relationships/vmlDrawing" Target="../drawings/vmlDrawing16.vml"/><Relationship Id="rId6" Type="http://schemas.openxmlformats.org/officeDocument/2006/relationships/image" Target="../media/image58.wmf"/><Relationship Id="rId11" Type="http://schemas.openxmlformats.org/officeDocument/2006/relationships/oleObject" Target="../embeddings/oleObject63.bin"/><Relationship Id="rId24" Type="http://schemas.openxmlformats.org/officeDocument/2006/relationships/oleObject" Target="../embeddings/oleObject70.bin"/><Relationship Id="rId5" Type="http://schemas.openxmlformats.org/officeDocument/2006/relationships/oleObject" Target="../embeddings/oleObject60.bin"/><Relationship Id="rId15" Type="http://schemas.openxmlformats.org/officeDocument/2006/relationships/oleObject" Target="../embeddings/oleObject65.bin"/><Relationship Id="rId23" Type="http://schemas.openxmlformats.org/officeDocument/2006/relationships/image" Target="../media/image28.wmf"/><Relationship Id="rId28" Type="http://schemas.openxmlformats.org/officeDocument/2006/relationships/oleObject" Target="../embeddings/oleObject72.bin"/><Relationship Id="rId10" Type="http://schemas.openxmlformats.org/officeDocument/2006/relationships/image" Target="../media/image60.wmf"/><Relationship Id="rId19" Type="http://schemas.openxmlformats.org/officeDocument/2006/relationships/image" Target="../media/image64.emf"/><Relationship Id="rId4" Type="http://schemas.openxmlformats.org/officeDocument/2006/relationships/image" Target="../media/image43.wmf"/><Relationship Id="rId9" Type="http://schemas.openxmlformats.org/officeDocument/2006/relationships/oleObject" Target="../embeddings/oleObject62.bin"/><Relationship Id="rId14" Type="http://schemas.openxmlformats.org/officeDocument/2006/relationships/image" Target="../media/image62.wmf"/><Relationship Id="rId22" Type="http://schemas.openxmlformats.org/officeDocument/2006/relationships/oleObject" Target="../embeddings/oleObject69.bin"/><Relationship Id="rId27" Type="http://schemas.openxmlformats.org/officeDocument/2006/relationships/image" Target="../media/image42.wmf"/><Relationship Id="rId30" Type="http://schemas.openxmlformats.org/officeDocument/2006/relationships/image" Target="../media/image66.wmf"/></Relationships>
</file>

<file path=ppt/slides/_rels/slide19.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71.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8.w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77.bin"/></Relationships>
</file>

<file path=ppt/slides/_rels/slide20.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79.bin"/><Relationship Id="rId7"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3.wmf"/><Relationship Id="rId5" Type="http://schemas.openxmlformats.org/officeDocument/2006/relationships/oleObject" Target="../embeddings/oleObject80.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8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80.wmf"/><Relationship Id="rId3" Type="http://schemas.openxmlformats.org/officeDocument/2006/relationships/notesSlide" Target="../notesSlides/notesSlide1.xml"/><Relationship Id="rId7" Type="http://schemas.openxmlformats.org/officeDocument/2006/relationships/image" Target="../media/image77.wmf"/><Relationship Id="rId12"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84.bin"/><Relationship Id="rId11" Type="http://schemas.openxmlformats.org/officeDocument/2006/relationships/image" Target="../media/image79.wmf"/><Relationship Id="rId5" Type="http://schemas.openxmlformats.org/officeDocument/2006/relationships/image" Target="../media/image76.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7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77.wmf"/><Relationship Id="rId18" Type="http://schemas.openxmlformats.org/officeDocument/2006/relationships/oleObject" Target="../embeddings/oleObject87.bin"/><Relationship Id="rId3" Type="http://schemas.openxmlformats.org/officeDocument/2006/relationships/notesSlide" Target="../notesSlides/notesSlide2.xml"/><Relationship Id="rId7" Type="http://schemas.openxmlformats.org/officeDocument/2006/relationships/image" Target="../media/image82.wmf"/><Relationship Id="rId12" Type="http://schemas.openxmlformats.org/officeDocument/2006/relationships/oleObject" Target="../embeddings/oleObject84.bin"/><Relationship Id="rId17" Type="http://schemas.openxmlformats.org/officeDocument/2006/relationships/image" Target="../media/image79.wmf"/><Relationship Id="rId2" Type="http://schemas.openxmlformats.org/officeDocument/2006/relationships/slideLayout" Target="../slideLayouts/slideLayout7.xml"/><Relationship Id="rId16" Type="http://schemas.openxmlformats.org/officeDocument/2006/relationships/oleObject" Target="../embeddings/oleObject86.bin"/><Relationship Id="rId1" Type="http://schemas.openxmlformats.org/officeDocument/2006/relationships/vmlDrawing" Target="../drawings/vmlDrawing20.vml"/><Relationship Id="rId6" Type="http://schemas.openxmlformats.org/officeDocument/2006/relationships/oleObject" Target="../embeddings/oleObject89.bin"/><Relationship Id="rId11" Type="http://schemas.openxmlformats.org/officeDocument/2006/relationships/image" Target="../media/image76.wmf"/><Relationship Id="rId5" Type="http://schemas.openxmlformats.org/officeDocument/2006/relationships/image" Target="../media/image81.wmf"/><Relationship Id="rId15" Type="http://schemas.openxmlformats.org/officeDocument/2006/relationships/image" Target="../media/image78.wmf"/><Relationship Id="rId10" Type="http://schemas.openxmlformats.org/officeDocument/2006/relationships/oleObject" Target="../embeddings/oleObject83.bin"/><Relationship Id="rId19" Type="http://schemas.openxmlformats.org/officeDocument/2006/relationships/image" Target="../media/image80.wmf"/><Relationship Id="rId4" Type="http://schemas.openxmlformats.org/officeDocument/2006/relationships/oleObject" Target="../embeddings/oleObject88.bin"/><Relationship Id="rId9" Type="http://schemas.openxmlformats.org/officeDocument/2006/relationships/image" Target="../media/image83.wmf"/><Relationship Id="rId14" Type="http://schemas.openxmlformats.org/officeDocument/2006/relationships/oleObject" Target="../embeddings/oleObject85.bin"/></Relationships>
</file>

<file path=ppt/slides/_rels/slide23.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96.bin"/><Relationship Id="rId18" Type="http://schemas.openxmlformats.org/officeDocument/2006/relationships/image" Target="../media/image88.wmf"/><Relationship Id="rId3" Type="http://schemas.openxmlformats.org/officeDocument/2006/relationships/oleObject" Target="../embeddings/oleObject91.bin"/><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85.wmf"/><Relationship Id="rId17" Type="http://schemas.openxmlformats.org/officeDocument/2006/relationships/oleObject" Target="../embeddings/oleObject98.bin"/><Relationship Id="rId25" Type="http://schemas.openxmlformats.org/officeDocument/2006/relationships/oleObject" Target="../embeddings/oleObject102.bin"/><Relationship Id="rId2" Type="http://schemas.openxmlformats.org/officeDocument/2006/relationships/slideLayout" Target="../slideLayouts/slideLayout7.xml"/><Relationship Id="rId16" Type="http://schemas.openxmlformats.org/officeDocument/2006/relationships/image" Target="../media/image87.wmf"/><Relationship Id="rId20" Type="http://schemas.openxmlformats.org/officeDocument/2006/relationships/image" Target="../media/image89.wmf"/><Relationship Id="rId1" Type="http://schemas.openxmlformats.org/officeDocument/2006/relationships/vmlDrawing" Target="../drawings/vmlDrawing21.vml"/><Relationship Id="rId6" Type="http://schemas.openxmlformats.org/officeDocument/2006/relationships/image" Target="../media/image30.wmf"/><Relationship Id="rId11" Type="http://schemas.openxmlformats.org/officeDocument/2006/relationships/oleObject" Target="../embeddings/oleObject95.bin"/><Relationship Id="rId24" Type="http://schemas.openxmlformats.org/officeDocument/2006/relationships/image" Target="../media/image91.wmf"/><Relationship Id="rId5" Type="http://schemas.openxmlformats.org/officeDocument/2006/relationships/oleObject" Target="../embeddings/oleObject92.bin"/><Relationship Id="rId15" Type="http://schemas.openxmlformats.org/officeDocument/2006/relationships/oleObject" Target="../embeddings/oleObject97.bin"/><Relationship Id="rId23" Type="http://schemas.openxmlformats.org/officeDocument/2006/relationships/oleObject" Target="../embeddings/oleObject101.bin"/><Relationship Id="rId10" Type="http://schemas.openxmlformats.org/officeDocument/2006/relationships/image" Target="../media/image84.wmf"/><Relationship Id="rId19" Type="http://schemas.openxmlformats.org/officeDocument/2006/relationships/oleObject" Target="../embeddings/oleObject99.bin"/><Relationship Id="rId4" Type="http://schemas.openxmlformats.org/officeDocument/2006/relationships/image" Target="../media/image43.wmf"/><Relationship Id="rId9" Type="http://schemas.openxmlformats.org/officeDocument/2006/relationships/oleObject" Target="../embeddings/oleObject94.bin"/><Relationship Id="rId14" Type="http://schemas.openxmlformats.org/officeDocument/2006/relationships/image" Target="../media/image86.wmf"/><Relationship Id="rId22" Type="http://schemas.openxmlformats.org/officeDocument/2006/relationships/image" Target="../media/image90.wmf"/></Relationships>
</file>

<file path=ppt/slides/_rels/slide24.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108.bin"/><Relationship Id="rId18" Type="http://schemas.openxmlformats.org/officeDocument/2006/relationships/image" Target="../media/image31.wmf"/><Relationship Id="rId3" Type="http://schemas.openxmlformats.org/officeDocument/2006/relationships/oleObject" Target="../embeddings/oleObject103.bin"/><Relationship Id="rId21" Type="http://schemas.openxmlformats.org/officeDocument/2006/relationships/oleObject" Target="../embeddings/oleObject112.bin"/><Relationship Id="rId7" Type="http://schemas.openxmlformats.org/officeDocument/2006/relationships/oleObject" Target="../embeddings/oleObject105.bin"/><Relationship Id="rId12" Type="http://schemas.openxmlformats.org/officeDocument/2006/relationships/image" Target="../media/image96.wmf"/><Relationship Id="rId17" Type="http://schemas.openxmlformats.org/officeDocument/2006/relationships/oleObject" Target="../embeddings/oleObject110.bin"/><Relationship Id="rId25" Type="http://schemas.openxmlformats.org/officeDocument/2006/relationships/oleObject" Target="../embeddings/oleObject114.bin"/><Relationship Id="rId2" Type="http://schemas.openxmlformats.org/officeDocument/2006/relationships/slideLayout" Target="../slideLayouts/slideLayout7.xml"/><Relationship Id="rId16" Type="http://schemas.openxmlformats.org/officeDocument/2006/relationships/image" Target="../media/image30.wmf"/><Relationship Id="rId20" Type="http://schemas.openxmlformats.org/officeDocument/2006/relationships/image" Target="../media/image89.wmf"/><Relationship Id="rId1" Type="http://schemas.openxmlformats.org/officeDocument/2006/relationships/vmlDrawing" Target="../drawings/vmlDrawing22.vml"/><Relationship Id="rId6" Type="http://schemas.openxmlformats.org/officeDocument/2006/relationships/image" Target="../media/image93.wmf"/><Relationship Id="rId11" Type="http://schemas.openxmlformats.org/officeDocument/2006/relationships/oleObject" Target="../embeddings/oleObject107.bin"/><Relationship Id="rId24" Type="http://schemas.openxmlformats.org/officeDocument/2006/relationships/image" Target="../media/image91.wmf"/><Relationship Id="rId5" Type="http://schemas.openxmlformats.org/officeDocument/2006/relationships/oleObject" Target="../embeddings/oleObject104.bin"/><Relationship Id="rId15" Type="http://schemas.openxmlformats.org/officeDocument/2006/relationships/oleObject" Target="../embeddings/oleObject109.bin"/><Relationship Id="rId23" Type="http://schemas.openxmlformats.org/officeDocument/2006/relationships/oleObject" Target="../embeddings/oleObject113.bin"/><Relationship Id="rId10" Type="http://schemas.openxmlformats.org/officeDocument/2006/relationships/image" Target="../media/image95.wmf"/><Relationship Id="rId19" Type="http://schemas.openxmlformats.org/officeDocument/2006/relationships/oleObject" Target="../embeddings/oleObject111.bin"/><Relationship Id="rId4" Type="http://schemas.openxmlformats.org/officeDocument/2006/relationships/image" Target="../media/image92.wmf"/><Relationship Id="rId9" Type="http://schemas.openxmlformats.org/officeDocument/2006/relationships/oleObject" Target="../embeddings/oleObject106.bin"/><Relationship Id="rId14" Type="http://schemas.openxmlformats.org/officeDocument/2006/relationships/image" Target="../media/image43.wmf"/><Relationship Id="rId22" Type="http://schemas.openxmlformats.org/officeDocument/2006/relationships/image" Target="../media/image90.wmf"/></Relationships>
</file>

<file path=ppt/slides/_rels/slide25.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120.bin"/><Relationship Id="rId3" Type="http://schemas.openxmlformats.org/officeDocument/2006/relationships/oleObject" Target="../embeddings/oleObject115.bin"/><Relationship Id="rId7" Type="http://schemas.openxmlformats.org/officeDocument/2006/relationships/oleObject" Target="../embeddings/oleObject117.bin"/><Relationship Id="rId12" Type="http://schemas.openxmlformats.org/officeDocument/2006/relationships/image" Target="../media/image101.wmf"/><Relationship Id="rId2" Type="http://schemas.openxmlformats.org/officeDocument/2006/relationships/slideLayout" Target="../slideLayouts/slideLayout7.xml"/><Relationship Id="rId16" Type="http://schemas.openxmlformats.org/officeDocument/2006/relationships/image" Target="../media/image103.wmf"/><Relationship Id="rId1" Type="http://schemas.openxmlformats.org/officeDocument/2006/relationships/vmlDrawing" Target="../drawings/vmlDrawing23.vml"/><Relationship Id="rId6" Type="http://schemas.openxmlformats.org/officeDocument/2006/relationships/image" Target="../media/image98.emf"/><Relationship Id="rId11" Type="http://schemas.openxmlformats.org/officeDocument/2006/relationships/oleObject" Target="../embeddings/oleObject119.bin"/><Relationship Id="rId5" Type="http://schemas.openxmlformats.org/officeDocument/2006/relationships/oleObject" Target="../embeddings/oleObject116.bin"/><Relationship Id="rId15" Type="http://schemas.openxmlformats.org/officeDocument/2006/relationships/oleObject" Target="../embeddings/oleObject121.bin"/><Relationship Id="rId10" Type="http://schemas.openxmlformats.org/officeDocument/2006/relationships/image" Target="../media/image100.wmf"/><Relationship Id="rId4" Type="http://schemas.openxmlformats.org/officeDocument/2006/relationships/image" Target="../media/image97.emf"/><Relationship Id="rId9" Type="http://schemas.openxmlformats.org/officeDocument/2006/relationships/oleObject" Target="../embeddings/oleObject118.bin"/><Relationship Id="rId14" Type="http://schemas.openxmlformats.org/officeDocument/2006/relationships/image" Target="../media/image102.wmf"/></Relationships>
</file>

<file path=ppt/slides/_rels/slide26.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127.bin"/><Relationship Id="rId18" Type="http://schemas.openxmlformats.org/officeDocument/2006/relationships/image" Target="../media/image111.wmf"/><Relationship Id="rId3" Type="http://schemas.openxmlformats.org/officeDocument/2006/relationships/oleObject" Target="../embeddings/oleObject122.bin"/><Relationship Id="rId21" Type="http://schemas.openxmlformats.org/officeDocument/2006/relationships/oleObject" Target="../embeddings/oleObject131.bin"/><Relationship Id="rId7" Type="http://schemas.openxmlformats.org/officeDocument/2006/relationships/oleObject" Target="../embeddings/oleObject124.bin"/><Relationship Id="rId12" Type="http://schemas.openxmlformats.org/officeDocument/2006/relationships/image" Target="../media/image108.wmf"/><Relationship Id="rId17" Type="http://schemas.openxmlformats.org/officeDocument/2006/relationships/oleObject" Target="../embeddings/oleObject129.bin"/><Relationship Id="rId2" Type="http://schemas.openxmlformats.org/officeDocument/2006/relationships/slideLayout" Target="../slideLayouts/slideLayout7.xml"/><Relationship Id="rId16" Type="http://schemas.openxmlformats.org/officeDocument/2006/relationships/image" Target="../media/image110.wmf"/><Relationship Id="rId20" Type="http://schemas.openxmlformats.org/officeDocument/2006/relationships/image" Target="../media/image112.wmf"/><Relationship Id="rId1" Type="http://schemas.openxmlformats.org/officeDocument/2006/relationships/vmlDrawing" Target="../drawings/vmlDrawing24.vml"/><Relationship Id="rId6" Type="http://schemas.openxmlformats.org/officeDocument/2006/relationships/image" Target="../media/image105.wmf"/><Relationship Id="rId11" Type="http://schemas.openxmlformats.org/officeDocument/2006/relationships/oleObject" Target="../embeddings/oleObject126.bin"/><Relationship Id="rId5" Type="http://schemas.openxmlformats.org/officeDocument/2006/relationships/oleObject" Target="../embeddings/oleObject123.bin"/><Relationship Id="rId15" Type="http://schemas.openxmlformats.org/officeDocument/2006/relationships/oleObject" Target="../embeddings/oleObject128.bin"/><Relationship Id="rId10" Type="http://schemas.openxmlformats.org/officeDocument/2006/relationships/image" Target="../media/image107.wmf"/><Relationship Id="rId19" Type="http://schemas.openxmlformats.org/officeDocument/2006/relationships/oleObject" Target="../embeddings/oleObject130.bin"/><Relationship Id="rId4" Type="http://schemas.openxmlformats.org/officeDocument/2006/relationships/image" Target="../media/image104.wmf"/><Relationship Id="rId9" Type="http://schemas.openxmlformats.org/officeDocument/2006/relationships/oleObject" Target="../embeddings/oleObject125.bin"/><Relationship Id="rId14" Type="http://schemas.openxmlformats.org/officeDocument/2006/relationships/image" Target="../media/image109.emf"/><Relationship Id="rId22" Type="http://schemas.openxmlformats.org/officeDocument/2006/relationships/image" Target="../media/image113.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image" Target="../media/image118.wmf"/><Relationship Id="rId3" Type="http://schemas.openxmlformats.org/officeDocument/2006/relationships/notesSlide" Target="../notesSlides/notesSlide3.xml"/><Relationship Id="rId7" Type="http://schemas.openxmlformats.org/officeDocument/2006/relationships/image" Target="../media/image115.wmf"/><Relationship Id="rId12" Type="http://schemas.openxmlformats.org/officeDocument/2006/relationships/oleObject" Target="../embeddings/oleObject136.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33.bin"/><Relationship Id="rId11" Type="http://schemas.openxmlformats.org/officeDocument/2006/relationships/image" Target="../media/image117.wmf"/><Relationship Id="rId5" Type="http://schemas.openxmlformats.org/officeDocument/2006/relationships/image" Target="../media/image114.wmf"/><Relationship Id="rId10" Type="http://schemas.openxmlformats.org/officeDocument/2006/relationships/oleObject" Target="../embeddings/oleObject135.bin"/><Relationship Id="rId4" Type="http://schemas.openxmlformats.org/officeDocument/2006/relationships/oleObject" Target="../embeddings/oleObject132.bin"/><Relationship Id="rId9" Type="http://schemas.openxmlformats.org/officeDocument/2006/relationships/image" Target="../media/image116.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jpeg"/><Relationship Id="rId1" Type="http://schemas.openxmlformats.org/officeDocument/2006/relationships/slideLayout" Target="../slideLayouts/slideLayout7.xml"/><Relationship Id="rId4" Type="http://schemas.openxmlformats.org/officeDocument/2006/relationships/image" Target="../media/image121.jpe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24.emf"/><Relationship Id="rId5" Type="http://schemas.openxmlformats.org/officeDocument/2006/relationships/oleObject" Target="../embeddings/oleObject138.bin"/><Relationship Id="rId4" Type="http://schemas.openxmlformats.org/officeDocument/2006/relationships/image" Target="../media/image123.e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129.wmf"/><Relationship Id="rId18" Type="http://schemas.openxmlformats.org/officeDocument/2006/relationships/oleObject" Target="../embeddings/oleObject147.bin"/><Relationship Id="rId3" Type="http://schemas.openxmlformats.org/officeDocument/2006/relationships/notesSlide" Target="../notesSlides/notesSlide6.xml"/><Relationship Id="rId21" Type="http://schemas.openxmlformats.org/officeDocument/2006/relationships/image" Target="../media/image132.wmf"/><Relationship Id="rId7" Type="http://schemas.openxmlformats.org/officeDocument/2006/relationships/image" Target="../media/image126.wmf"/><Relationship Id="rId12" Type="http://schemas.openxmlformats.org/officeDocument/2006/relationships/oleObject" Target="../embeddings/oleObject143.bin"/><Relationship Id="rId17" Type="http://schemas.openxmlformats.org/officeDocument/2006/relationships/oleObject" Target="../embeddings/oleObject146.bin"/><Relationship Id="rId2" Type="http://schemas.openxmlformats.org/officeDocument/2006/relationships/slideLayout" Target="../slideLayouts/slideLayout7.xml"/><Relationship Id="rId16" Type="http://schemas.openxmlformats.org/officeDocument/2006/relationships/oleObject" Target="../embeddings/oleObject145.bin"/><Relationship Id="rId20" Type="http://schemas.openxmlformats.org/officeDocument/2006/relationships/oleObject" Target="../embeddings/oleObject148.bin"/><Relationship Id="rId1" Type="http://schemas.openxmlformats.org/officeDocument/2006/relationships/vmlDrawing" Target="../drawings/vmlDrawing27.vml"/><Relationship Id="rId6" Type="http://schemas.openxmlformats.org/officeDocument/2006/relationships/oleObject" Target="../embeddings/oleObject140.bin"/><Relationship Id="rId11" Type="http://schemas.openxmlformats.org/officeDocument/2006/relationships/image" Target="../media/image128.wmf"/><Relationship Id="rId5" Type="http://schemas.openxmlformats.org/officeDocument/2006/relationships/image" Target="../media/image125.wmf"/><Relationship Id="rId15" Type="http://schemas.openxmlformats.org/officeDocument/2006/relationships/image" Target="../media/image130.emf"/><Relationship Id="rId23" Type="http://schemas.openxmlformats.org/officeDocument/2006/relationships/image" Target="../media/image133.wmf"/><Relationship Id="rId10" Type="http://schemas.openxmlformats.org/officeDocument/2006/relationships/oleObject" Target="../embeddings/oleObject142.bin"/><Relationship Id="rId19" Type="http://schemas.openxmlformats.org/officeDocument/2006/relationships/image" Target="../media/image131.wmf"/><Relationship Id="rId4" Type="http://schemas.openxmlformats.org/officeDocument/2006/relationships/oleObject" Target="../embeddings/oleObject139.bin"/><Relationship Id="rId9" Type="http://schemas.openxmlformats.org/officeDocument/2006/relationships/image" Target="../media/image127.wmf"/><Relationship Id="rId14" Type="http://schemas.openxmlformats.org/officeDocument/2006/relationships/oleObject" Target="../embeddings/oleObject144.bin"/><Relationship Id="rId22" Type="http://schemas.openxmlformats.org/officeDocument/2006/relationships/oleObject" Target="../embeddings/oleObject14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oleObject" Target="../embeddings/oleObject155.bin"/><Relationship Id="rId3" Type="http://schemas.openxmlformats.org/officeDocument/2006/relationships/notesSlide" Target="../notesSlides/notesSlide7.xml"/><Relationship Id="rId7" Type="http://schemas.openxmlformats.org/officeDocument/2006/relationships/image" Target="../media/image125.wmf"/><Relationship Id="rId12"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51.bin"/><Relationship Id="rId11" Type="http://schemas.openxmlformats.org/officeDocument/2006/relationships/image" Target="../media/image127.wmf"/><Relationship Id="rId5" Type="http://schemas.openxmlformats.org/officeDocument/2006/relationships/image" Target="../media/image134.wmf"/><Relationship Id="rId15" Type="http://schemas.openxmlformats.org/officeDocument/2006/relationships/image" Target="../media/image135.wmf"/><Relationship Id="rId10" Type="http://schemas.openxmlformats.org/officeDocument/2006/relationships/oleObject" Target="../embeddings/oleObject153.bin"/><Relationship Id="rId4" Type="http://schemas.openxmlformats.org/officeDocument/2006/relationships/oleObject" Target="../embeddings/oleObject150.bin"/><Relationship Id="rId9" Type="http://schemas.openxmlformats.org/officeDocument/2006/relationships/image" Target="../media/image126.wmf"/><Relationship Id="rId14" Type="http://schemas.openxmlformats.org/officeDocument/2006/relationships/oleObject" Target="../embeddings/oleObject156.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37.wmf"/><Relationship Id="rId3" Type="http://schemas.openxmlformats.org/officeDocument/2006/relationships/notesSlide" Target="../notesSlides/notesSlide8.xml"/><Relationship Id="rId7" Type="http://schemas.openxmlformats.org/officeDocument/2006/relationships/image" Target="../media/image125.wmf"/><Relationship Id="rId12"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151.bin"/><Relationship Id="rId11" Type="http://schemas.openxmlformats.org/officeDocument/2006/relationships/image" Target="../media/image127.wmf"/><Relationship Id="rId5" Type="http://schemas.openxmlformats.org/officeDocument/2006/relationships/image" Target="../media/image136.wmf"/><Relationship Id="rId10" Type="http://schemas.openxmlformats.org/officeDocument/2006/relationships/oleObject" Target="../embeddings/oleObject153.bin"/><Relationship Id="rId4" Type="http://schemas.openxmlformats.org/officeDocument/2006/relationships/oleObject" Target="../embeddings/oleObject157.bin"/><Relationship Id="rId9" Type="http://schemas.openxmlformats.org/officeDocument/2006/relationships/image" Target="../media/image126.wmf"/></Relationships>
</file>

<file path=ppt/slides/_rels/slide35.xml.rels><?xml version="1.0" encoding="UTF-8" standalone="yes"?>
<Relationships xmlns="http://schemas.openxmlformats.org/package/2006/relationships"><Relationship Id="rId8" Type="http://schemas.openxmlformats.org/officeDocument/2006/relationships/image" Target="../media/image140.wmf"/><Relationship Id="rId13" Type="http://schemas.openxmlformats.org/officeDocument/2006/relationships/oleObject" Target="../embeddings/oleObject164.bin"/><Relationship Id="rId3" Type="http://schemas.openxmlformats.org/officeDocument/2006/relationships/oleObject" Target="../embeddings/oleObject159.bin"/><Relationship Id="rId7" Type="http://schemas.openxmlformats.org/officeDocument/2006/relationships/oleObject" Target="../embeddings/oleObject161.bin"/><Relationship Id="rId12"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39.wmf"/><Relationship Id="rId11" Type="http://schemas.openxmlformats.org/officeDocument/2006/relationships/oleObject" Target="../embeddings/oleObject163.bin"/><Relationship Id="rId5" Type="http://schemas.openxmlformats.org/officeDocument/2006/relationships/oleObject" Target="../embeddings/oleObject160.bin"/><Relationship Id="rId15" Type="http://schemas.openxmlformats.org/officeDocument/2006/relationships/oleObject" Target="../embeddings/oleObject165.bin"/><Relationship Id="rId10" Type="http://schemas.openxmlformats.org/officeDocument/2006/relationships/image" Target="../media/image141.wmf"/><Relationship Id="rId4" Type="http://schemas.openxmlformats.org/officeDocument/2006/relationships/image" Target="../media/image138.wmf"/><Relationship Id="rId9" Type="http://schemas.openxmlformats.org/officeDocument/2006/relationships/oleObject" Target="../embeddings/oleObject162.bin"/><Relationship Id="rId14" Type="http://schemas.openxmlformats.org/officeDocument/2006/relationships/image" Target="../media/image142.wmf"/></Relationships>
</file>

<file path=ppt/slides/_rels/slide36.xml.rels><?xml version="1.0" encoding="UTF-8" standalone="yes"?>
<Relationships xmlns="http://schemas.openxmlformats.org/package/2006/relationships"><Relationship Id="rId8" Type="http://schemas.openxmlformats.org/officeDocument/2006/relationships/image" Target="../media/image145.wmf"/><Relationship Id="rId13" Type="http://schemas.openxmlformats.org/officeDocument/2006/relationships/oleObject" Target="../embeddings/oleObject171.bin"/><Relationship Id="rId18" Type="http://schemas.openxmlformats.org/officeDocument/2006/relationships/image" Target="../media/image30.wmf"/><Relationship Id="rId26" Type="http://schemas.openxmlformats.org/officeDocument/2006/relationships/oleObject" Target="../embeddings/oleObject178.bin"/><Relationship Id="rId3" Type="http://schemas.openxmlformats.org/officeDocument/2006/relationships/oleObject" Target="../embeddings/oleObject166.bin"/><Relationship Id="rId21" Type="http://schemas.openxmlformats.org/officeDocument/2006/relationships/oleObject" Target="../embeddings/oleObject175.bin"/><Relationship Id="rId7" Type="http://schemas.openxmlformats.org/officeDocument/2006/relationships/oleObject" Target="../embeddings/oleObject168.bin"/><Relationship Id="rId12" Type="http://schemas.openxmlformats.org/officeDocument/2006/relationships/image" Target="../media/image147.wmf"/><Relationship Id="rId17" Type="http://schemas.openxmlformats.org/officeDocument/2006/relationships/oleObject" Target="../embeddings/oleObject173.bin"/><Relationship Id="rId25" Type="http://schemas.openxmlformats.org/officeDocument/2006/relationships/image" Target="../media/image142.wmf"/><Relationship Id="rId2" Type="http://schemas.openxmlformats.org/officeDocument/2006/relationships/slideLayout" Target="../slideLayouts/slideLayout7.xml"/><Relationship Id="rId16" Type="http://schemas.openxmlformats.org/officeDocument/2006/relationships/image" Target="../media/image149.wmf"/><Relationship Id="rId20" Type="http://schemas.openxmlformats.org/officeDocument/2006/relationships/image" Target="../media/image90.wmf"/><Relationship Id="rId1" Type="http://schemas.openxmlformats.org/officeDocument/2006/relationships/vmlDrawing" Target="../drawings/vmlDrawing31.vml"/><Relationship Id="rId6" Type="http://schemas.openxmlformats.org/officeDocument/2006/relationships/image" Target="../media/image144.wmf"/><Relationship Id="rId11" Type="http://schemas.openxmlformats.org/officeDocument/2006/relationships/oleObject" Target="../embeddings/oleObject170.bin"/><Relationship Id="rId24" Type="http://schemas.openxmlformats.org/officeDocument/2006/relationships/oleObject" Target="../embeddings/oleObject177.bin"/><Relationship Id="rId5" Type="http://schemas.openxmlformats.org/officeDocument/2006/relationships/oleObject" Target="../embeddings/oleObject167.bin"/><Relationship Id="rId15" Type="http://schemas.openxmlformats.org/officeDocument/2006/relationships/oleObject" Target="../embeddings/oleObject172.bin"/><Relationship Id="rId23" Type="http://schemas.openxmlformats.org/officeDocument/2006/relationships/oleObject" Target="../embeddings/oleObject176.bin"/><Relationship Id="rId10" Type="http://schemas.openxmlformats.org/officeDocument/2006/relationships/image" Target="../media/image146.wmf"/><Relationship Id="rId19" Type="http://schemas.openxmlformats.org/officeDocument/2006/relationships/oleObject" Target="../embeddings/oleObject174.bin"/><Relationship Id="rId4" Type="http://schemas.openxmlformats.org/officeDocument/2006/relationships/image" Target="../media/image143.wmf"/><Relationship Id="rId9" Type="http://schemas.openxmlformats.org/officeDocument/2006/relationships/oleObject" Target="../embeddings/oleObject169.bin"/><Relationship Id="rId14" Type="http://schemas.openxmlformats.org/officeDocument/2006/relationships/image" Target="../media/image148.wmf"/><Relationship Id="rId22" Type="http://schemas.openxmlformats.org/officeDocument/2006/relationships/image" Target="../media/image150.wmf"/><Relationship Id="rId27" Type="http://schemas.openxmlformats.org/officeDocument/2006/relationships/image" Target="../media/image151.wmf"/></Relationships>
</file>

<file path=ppt/slides/_rels/slide37.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oleObject" Target="../embeddings/oleObject184.bin"/><Relationship Id="rId18" Type="http://schemas.openxmlformats.org/officeDocument/2006/relationships/image" Target="../media/image30.wmf"/><Relationship Id="rId3" Type="http://schemas.openxmlformats.org/officeDocument/2006/relationships/oleObject" Target="../embeddings/oleObject179.bin"/><Relationship Id="rId21" Type="http://schemas.openxmlformats.org/officeDocument/2006/relationships/oleObject" Target="../embeddings/oleObject188.bin"/><Relationship Id="rId7" Type="http://schemas.openxmlformats.org/officeDocument/2006/relationships/oleObject" Target="../embeddings/oleObject181.bin"/><Relationship Id="rId12" Type="http://schemas.openxmlformats.org/officeDocument/2006/relationships/image" Target="../media/image156.wmf"/><Relationship Id="rId17" Type="http://schemas.openxmlformats.org/officeDocument/2006/relationships/oleObject" Target="../embeddings/oleObject186.bin"/><Relationship Id="rId2" Type="http://schemas.openxmlformats.org/officeDocument/2006/relationships/slideLayout" Target="../slideLayouts/slideLayout7.xml"/><Relationship Id="rId16" Type="http://schemas.openxmlformats.org/officeDocument/2006/relationships/image" Target="../media/image29.wmf"/><Relationship Id="rId20" Type="http://schemas.openxmlformats.org/officeDocument/2006/relationships/image" Target="../media/image31.wmf"/><Relationship Id="rId1" Type="http://schemas.openxmlformats.org/officeDocument/2006/relationships/vmlDrawing" Target="../drawings/vmlDrawing32.vml"/><Relationship Id="rId6" Type="http://schemas.openxmlformats.org/officeDocument/2006/relationships/image" Target="../media/image153.wmf"/><Relationship Id="rId11" Type="http://schemas.openxmlformats.org/officeDocument/2006/relationships/oleObject" Target="../embeddings/oleObject183.bin"/><Relationship Id="rId5" Type="http://schemas.openxmlformats.org/officeDocument/2006/relationships/oleObject" Target="../embeddings/oleObject180.bin"/><Relationship Id="rId15" Type="http://schemas.openxmlformats.org/officeDocument/2006/relationships/oleObject" Target="../embeddings/oleObject185.bin"/><Relationship Id="rId10" Type="http://schemas.openxmlformats.org/officeDocument/2006/relationships/image" Target="../media/image155.wmf"/><Relationship Id="rId19" Type="http://schemas.openxmlformats.org/officeDocument/2006/relationships/oleObject" Target="../embeddings/oleObject187.bin"/><Relationship Id="rId4" Type="http://schemas.openxmlformats.org/officeDocument/2006/relationships/image" Target="../media/image152.wmf"/><Relationship Id="rId9" Type="http://schemas.openxmlformats.org/officeDocument/2006/relationships/oleObject" Target="../embeddings/oleObject182.bin"/><Relationship Id="rId14" Type="http://schemas.openxmlformats.org/officeDocument/2006/relationships/image" Target="../media/image28.wmf"/><Relationship Id="rId22" Type="http://schemas.openxmlformats.org/officeDocument/2006/relationships/image" Target="../media/image157.wmf"/></Relationships>
</file>

<file path=ppt/slides/_rels/slide38.xml.rels><?xml version="1.0" encoding="UTF-8" standalone="yes"?>
<Relationships xmlns="http://schemas.openxmlformats.org/package/2006/relationships"><Relationship Id="rId8" Type="http://schemas.openxmlformats.org/officeDocument/2006/relationships/image" Target="../media/image160.emf"/><Relationship Id="rId13" Type="http://schemas.openxmlformats.org/officeDocument/2006/relationships/oleObject" Target="../embeddings/oleObject194.bin"/><Relationship Id="rId18" Type="http://schemas.openxmlformats.org/officeDocument/2006/relationships/image" Target="../media/image165.wmf"/><Relationship Id="rId3" Type="http://schemas.openxmlformats.org/officeDocument/2006/relationships/oleObject" Target="../embeddings/oleObject189.bin"/><Relationship Id="rId7" Type="http://schemas.openxmlformats.org/officeDocument/2006/relationships/oleObject" Target="../embeddings/oleObject191.bin"/><Relationship Id="rId12" Type="http://schemas.openxmlformats.org/officeDocument/2006/relationships/image" Target="../media/image162.wmf"/><Relationship Id="rId17" Type="http://schemas.openxmlformats.org/officeDocument/2006/relationships/oleObject" Target="../embeddings/oleObject196.bin"/><Relationship Id="rId2" Type="http://schemas.openxmlformats.org/officeDocument/2006/relationships/slideLayout" Target="../slideLayouts/slideLayout7.xml"/><Relationship Id="rId16" Type="http://schemas.openxmlformats.org/officeDocument/2006/relationships/image" Target="../media/image164.wmf"/><Relationship Id="rId20" Type="http://schemas.openxmlformats.org/officeDocument/2006/relationships/image" Target="../media/image166.wmf"/><Relationship Id="rId1" Type="http://schemas.openxmlformats.org/officeDocument/2006/relationships/vmlDrawing" Target="../drawings/vmlDrawing33.vml"/><Relationship Id="rId6" Type="http://schemas.openxmlformats.org/officeDocument/2006/relationships/image" Target="../media/image159.emf"/><Relationship Id="rId11" Type="http://schemas.openxmlformats.org/officeDocument/2006/relationships/oleObject" Target="../embeddings/oleObject193.bin"/><Relationship Id="rId5" Type="http://schemas.openxmlformats.org/officeDocument/2006/relationships/oleObject" Target="../embeddings/oleObject190.bin"/><Relationship Id="rId15" Type="http://schemas.openxmlformats.org/officeDocument/2006/relationships/oleObject" Target="../embeddings/oleObject195.bin"/><Relationship Id="rId10" Type="http://schemas.openxmlformats.org/officeDocument/2006/relationships/image" Target="../media/image161.wmf"/><Relationship Id="rId19" Type="http://schemas.openxmlformats.org/officeDocument/2006/relationships/oleObject" Target="../embeddings/oleObject197.bin"/><Relationship Id="rId4" Type="http://schemas.openxmlformats.org/officeDocument/2006/relationships/image" Target="../media/image158.emf"/><Relationship Id="rId9" Type="http://schemas.openxmlformats.org/officeDocument/2006/relationships/oleObject" Target="../embeddings/oleObject192.bin"/><Relationship Id="rId14" Type="http://schemas.openxmlformats.org/officeDocument/2006/relationships/image" Target="../media/image163.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171.wmf"/><Relationship Id="rId18" Type="http://schemas.openxmlformats.org/officeDocument/2006/relationships/oleObject" Target="../embeddings/oleObject205.bin"/><Relationship Id="rId3" Type="http://schemas.openxmlformats.org/officeDocument/2006/relationships/notesSlide" Target="../notesSlides/notesSlide9.xml"/><Relationship Id="rId21" Type="http://schemas.openxmlformats.org/officeDocument/2006/relationships/image" Target="../media/image175.emf"/><Relationship Id="rId7" Type="http://schemas.openxmlformats.org/officeDocument/2006/relationships/image" Target="../media/image168.emf"/><Relationship Id="rId12" Type="http://schemas.openxmlformats.org/officeDocument/2006/relationships/oleObject" Target="../embeddings/oleObject202.bin"/><Relationship Id="rId17" Type="http://schemas.openxmlformats.org/officeDocument/2006/relationships/image" Target="../media/image173.emf"/><Relationship Id="rId2" Type="http://schemas.openxmlformats.org/officeDocument/2006/relationships/slideLayout" Target="../slideLayouts/slideLayout7.xml"/><Relationship Id="rId16" Type="http://schemas.openxmlformats.org/officeDocument/2006/relationships/oleObject" Target="../embeddings/oleObject204.bin"/><Relationship Id="rId20" Type="http://schemas.openxmlformats.org/officeDocument/2006/relationships/oleObject" Target="../embeddings/oleObject206.bin"/><Relationship Id="rId1" Type="http://schemas.openxmlformats.org/officeDocument/2006/relationships/vmlDrawing" Target="../drawings/vmlDrawing34.vml"/><Relationship Id="rId6" Type="http://schemas.openxmlformats.org/officeDocument/2006/relationships/oleObject" Target="../embeddings/oleObject199.bin"/><Relationship Id="rId11" Type="http://schemas.openxmlformats.org/officeDocument/2006/relationships/image" Target="../media/image170.wmf"/><Relationship Id="rId5" Type="http://schemas.openxmlformats.org/officeDocument/2006/relationships/image" Target="../media/image167.emf"/><Relationship Id="rId15" Type="http://schemas.openxmlformats.org/officeDocument/2006/relationships/image" Target="../media/image172.wmf"/><Relationship Id="rId23" Type="http://schemas.openxmlformats.org/officeDocument/2006/relationships/image" Target="../media/image176.emf"/><Relationship Id="rId10" Type="http://schemas.openxmlformats.org/officeDocument/2006/relationships/oleObject" Target="../embeddings/oleObject201.bin"/><Relationship Id="rId19" Type="http://schemas.openxmlformats.org/officeDocument/2006/relationships/image" Target="../media/image174.emf"/><Relationship Id="rId4" Type="http://schemas.openxmlformats.org/officeDocument/2006/relationships/oleObject" Target="../embeddings/oleObject198.bin"/><Relationship Id="rId9" Type="http://schemas.openxmlformats.org/officeDocument/2006/relationships/image" Target="../media/image169.wmf"/><Relationship Id="rId14" Type="http://schemas.openxmlformats.org/officeDocument/2006/relationships/oleObject" Target="../embeddings/oleObject203.bin"/><Relationship Id="rId22" Type="http://schemas.openxmlformats.org/officeDocument/2006/relationships/oleObject" Target="../embeddings/oleObject207.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10.bin"/><Relationship Id="rId13" Type="http://schemas.openxmlformats.org/officeDocument/2006/relationships/image" Target="../media/image172.wmf"/><Relationship Id="rId3" Type="http://schemas.openxmlformats.org/officeDocument/2006/relationships/notesSlide" Target="../notesSlides/notesSlide10.xml"/><Relationship Id="rId7" Type="http://schemas.openxmlformats.org/officeDocument/2006/relationships/image" Target="../media/image169.wmf"/><Relationship Id="rId12"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09.bin"/><Relationship Id="rId11" Type="http://schemas.openxmlformats.org/officeDocument/2006/relationships/image" Target="../media/image171.wmf"/><Relationship Id="rId5" Type="http://schemas.openxmlformats.org/officeDocument/2006/relationships/image" Target="../media/image177.wmf"/><Relationship Id="rId15" Type="http://schemas.openxmlformats.org/officeDocument/2006/relationships/oleObject" Target="../embeddings/oleObject214.bin"/><Relationship Id="rId10" Type="http://schemas.openxmlformats.org/officeDocument/2006/relationships/oleObject" Target="../embeddings/oleObject211.bin"/><Relationship Id="rId4" Type="http://schemas.openxmlformats.org/officeDocument/2006/relationships/oleObject" Target="../embeddings/oleObject208.bin"/><Relationship Id="rId9" Type="http://schemas.openxmlformats.org/officeDocument/2006/relationships/image" Target="../media/image170.wmf"/><Relationship Id="rId14" Type="http://schemas.openxmlformats.org/officeDocument/2006/relationships/oleObject" Target="../embeddings/oleObject213.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17.bin"/><Relationship Id="rId3" Type="http://schemas.openxmlformats.org/officeDocument/2006/relationships/notesSlide" Target="../notesSlides/notesSlide11.xml"/><Relationship Id="rId7" Type="http://schemas.openxmlformats.org/officeDocument/2006/relationships/image" Target="../media/image179.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216.bin"/><Relationship Id="rId5" Type="http://schemas.openxmlformats.org/officeDocument/2006/relationships/image" Target="../media/image178.wmf"/><Relationship Id="rId4" Type="http://schemas.openxmlformats.org/officeDocument/2006/relationships/oleObject" Target="../embeddings/oleObject215.bin"/><Relationship Id="rId9" Type="http://schemas.openxmlformats.org/officeDocument/2006/relationships/image" Target="../media/image180.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oleObject" Target="../embeddings/oleObject218.bin"/><Relationship Id="rId7" Type="http://schemas.openxmlformats.org/officeDocument/2006/relationships/oleObject" Target="../embeddings/oleObject220.bin"/><Relationship Id="rId12" Type="http://schemas.openxmlformats.org/officeDocument/2006/relationships/image" Target="../media/image185.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82.emf"/><Relationship Id="rId11" Type="http://schemas.openxmlformats.org/officeDocument/2006/relationships/oleObject" Target="../embeddings/oleObject222.bin"/><Relationship Id="rId5" Type="http://schemas.openxmlformats.org/officeDocument/2006/relationships/oleObject" Target="../embeddings/oleObject219.bin"/><Relationship Id="rId10" Type="http://schemas.openxmlformats.org/officeDocument/2006/relationships/image" Target="../media/image184.wmf"/><Relationship Id="rId4" Type="http://schemas.openxmlformats.org/officeDocument/2006/relationships/image" Target="../media/image181.wmf"/><Relationship Id="rId9" Type="http://schemas.openxmlformats.org/officeDocument/2006/relationships/oleObject" Target="../embeddings/oleObject221.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228.bin"/><Relationship Id="rId18" Type="http://schemas.openxmlformats.org/officeDocument/2006/relationships/image" Target="../media/image193.wmf"/><Relationship Id="rId3" Type="http://schemas.openxmlformats.org/officeDocument/2006/relationships/oleObject" Target="../embeddings/oleObject223.bin"/><Relationship Id="rId21" Type="http://schemas.openxmlformats.org/officeDocument/2006/relationships/oleObject" Target="../embeddings/oleObject232.bin"/><Relationship Id="rId7" Type="http://schemas.openxmlformats.org/officeDocument/2006/relationships/oleObject" Target="../embeddings/oleObject225.bin"/><Relationship Id="rId12" Type="http://schemas.openxmlformats.org/officeDocument/2006/relationships/image" Target="../media/image190.wmf"/><Relationship Id="rId17" Type="http://schemas.openxmlformats.org/officeDocument/2006/relationships/oleObject" Target="../embeddings/oleObject230.bin"/><Relationship Id="rId2" Type="http://schemas.openxmlformats.org/officeDocument/2006/relationships/slideLayout" Target="../slideLayouts/slideLayout7.xml"/><Relationship Id="rId16" Type="http://schemas.openxmlformats.org/officeDocument/2006/relationships/image" Target="../media/image192.wmf"/><Relationship Id="rId20" Type="http://schemas.openxmlformats.org/officeDocument/2006/relationships/image" Target="../media/image194.wmf"/><Relationship Id="rId1" Type="http://schemas.openxmlformats.org/officeDocument/2006/relationships/vmlDrawing" Target="../drawings/vmlDrawing38.vml"/><Relationship Id="rId6" Type="http://schemas.openxmlformats.org/officeDocument/2006/relationships/image" Target="../media/image187.wmf"/><Relationship Id="rId11" Type="http://schemas.openxmlformats.org/officeDocument/2006/relationships/oleObject" Target="../embeddings/oleObject227.bin"/><Relationship Id="rId24" Type="http://schemas.openxmlformats.org/officeDocument/2006/relationships/image" Target="../media/image196.wmf"/><Relationship Id="rId5" Type="http://schemas.openxmlformats.org/officeDocument/2006/relationships/oleObject" Target="../embeddings/oleObject224.bin"/><Relationship Id="rId15" Type="http://schemas.openxmlformats.org/officeDocument/2006/relationships/oleObject" Target="../embeddings/oleObject229.bin"/><Relationship Id="rId23" Type="http://schemas.openxmlformats.org/officeDocument/2006/relationships/oleObject" Target="../embeddings/oleObject233.bin"/><Relationship Id="rId10" Type="http://schemas.openxmlformats.org/officeDocument/2006/relationships/image" Target="../media/image189.wmf"/><Relationship Id="rId19" Type="http://schemas.openxmlformats.org/officeDocument/2006/relationships/oleObject" Target="../embeddings/oleObject231.bin"/><Relationship Id="rId4" Type="http://schemas.openxmlformats.org/officeDocument/2006/relationships/image" Target="../media/image186.wmf"/><Relationship Id="rId9" Type="http://schemas.openxmlformats.org/officeDocument/2006/relationships/oleObject" Target="../embeddings/oleObject226.bin"/><Relationship Id="rId14" Type="http://schemas.openxmlformats.org/officeDocument/2006/relationships/image" Target="../media/image191.wmf"/><Relationship Id="rId22" Type="http://schemas.openxmlformats.org/officeDocument/2006/relationships/image" Target="../media/image195.wmf"/></Relationships>
</file>

<file path=ppt/slides/_rels/slide46.xml.rels><?xml version="1.0" encoding="UTF-8" standalone="yes"?>
<Relationships xmlns="http://schemas.openxmlformats.org/package/2006/relationships"><Relationship Id="rId8" Type="http://schemas.openxmlformats.org/officeDocument/2006/relationships/image" Target="../media/image199.wmf"/><Relationship Id="rId13" Type="http://schemas.openxmlformats.org/officeDocument/2006/relationships/oleObject" Target="../embeddings/oleObject239.bin"/><Relationship Id="rId18" Type="http://schemas.openxmlformats.org/officeDocument/2006/relationships/image" Target="../media/image204.wmf"/><Relationship Id="rId26" Type="http://schemas.openxmlformats.org/officeDocument/2006/relationships/image" Target="../media/image208.wmf"/><Relationship Id="rId3" Type="http://schemas.openxmlformats.org/officeDocument/2006/relationships/oleObject" Target="../embeddings/oleObject234.bin"/><Relationship Id="rId21" Type="http://schemas.openxmlformats.org/officeDocument/2006/relationships/oleObject" Target="../embeddings/oleObject243.bin"/><Relationship Id="rId7" Type="http://schemas.openxmlformats.org/officeDocument/2006/relationships/oleObject" Target="../embeddings/oleObject236.bin"/><Relationship Id="rId12" Type="http://schemas.openxmlformats.org/officeDocument/2006/relationships/image" Target="../media/image201.wmf"/><Relationship Id="rId17" Type="http://schemas.openxmlformats.org/officeDocument/2006/relationships/oleObject" Target="../embeddings/oleObject241.bin"/><Relationship Id="rId25" Type="http://schemas.openxmlformats.org/officeDocument/2006/relationships/oleObject" Target="../embeddings/oleObject245.bin"/><Relationship Id="rId2" Type="http://schemas.openxmlformats.org/officeDocument/2006/relationships/slideLayout" Target="../slideLayouts/slideLayout7.xml"/><Relationship Id="rId16" Type="http://schemas.openxmlformats.org/officeDocument/2006/relationships/image" Target="../media/image203.wmf"/><Relationship Id="rId20" Type="http://schemas.openxmlformats.org/officeDocument/2006/relationships/image" Target="../media/image205.wmf"/><Relationship Id="rId29" Type="http://schemas.openxmlformats.org/officeDocument/2006/relationships/oleObject" Target="../embeddings/oleObject247.bin"/><Relationship Id="rId1" Type="http://schemas.openxmlformats.org/officeDocument/2006/relationships/vmlDrawing" Target="../drawings/vmlDrawing39.vml"/><Relationship Id="rId6" Type="http://schemas.openxmlformats.org/officeDocument/2006/relationships/image" Target="../media/image198.wmf"/><Relationship Id="rId11" Type="http://schemas.openxmlformats.org/officeDocument/2006/relationships/oleObject" Target="../embeddings/oleObject238.bin"/><Relationship Id="rId24" Type="http://schemas.openxmlformats.org/officeDocument/2006/relationships/image" Target="../media/image207.wmf"/><Relationship Id="rId5" Type="http://schemas.openxmlformats.org/officeDocument/2006/relationships/oleObject" Target="../embeddings/oleObject235.bin"/><Relationship Id="rId15" Type="http://schemas.openxmlformats.org/officeDocument/2006/relationships/oleObject" Target="../embeddings/oleObject240.bin"/><Relationship Id="rId23" Type="http://schemas.openxmlformats.org/officeDocument/2006/relationships/oleObject" Target="../embeddings/oleObject244.bin"/><Relationship Id="rId28" Type="http://schemas.openxmlformats.org/officeDocument/2006/relationships/image" Target="../media/image209.wmf"/><Relationship Id="rId10" Type="http://schemas.openxmlformats.org/officeDocument/2006/relationships/image" Target="../media/image200.wmf"/><Relationship Id="rId19" Type="http://schemas.openxmlformats.org/officeDocument/2006/relationships/oleObject" Target="../embeddings/oleObject242.bin"/><Relationship Id="rId4" Type="http://schemas.openxmlformats.org/officeDocument/2006/relationships/image" Target="../media/image197.wmf"/><Relationship Id="rId9" Type="http://schemas.openxmlformats.org/officeDocument/2006/relationships/oleObject" Target="../embeddings/oleObject237.bin"/><Relationship Id="rId14" Type="http://schemas.openxmlformats.org/officeDocument/2006/relationships/image" Target="../media/image202.wmf"/><Relationship Id="rId22" Type="http://schemas.openxmlformats.org/officeDocument/2006/relationships/image" Target="../media/image206.wmf"/><Relationship Id="rId27" Type="http://schemas.openxmlformats.org/officeDocument/2006/relationships/oleObject" Target="../embeddings/oleObject246.bin"/><Relationship Id="rId30" Type="http://schemas.openxmlformats.org/officeDocument/2006/relationships/image" Target="../media/image210.wmf"/></Relationships>
</file>

<file path=ppt/slides/_rels/slide47.x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oleObject" Target="../embeddings/oleObject248.bin"/><Relationship Id="rId7" Type="http://schemas.openxmlformats.org/officeDocument/2006/relationships/oleObject" Target="../embeddings/oleObject250.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212.wmf"/><Relationship Id="rId5" Type="http://schemas.openxmlformats.org/officeDocument/2006/relationships/oleObject" Target="../embeddings/oleObject249.bin"/><Relationship Id="rId4" Type="http://schemas.openxmlformats.org/officeDocument/2006/relationships/image" Target="../media/image211.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6483132C-522C-43D2-99BA-0B35F209338D}" type="datetime1">
              <a:rPr lang="zh-CN" altLang="en-US" sz="1000" smtClean="0">
                <a:solidFill>
                  <a:srgbClr val="FF6600"/>
                </a:solidFill>
                <a:ea typeface="宋体" panose="02010600030101010101" pitchFamily="2" charset="-122"/>
              </a:rPr>
              <a:pPr>
                <a:spcBef>
                  <a:spcPct val="0"/>
                </a:spcBef>
                <a:buFontTx/>
                <a:buNone/>
              </a:pPr>
              <a:t>2019/5/21</a:t>
            </a:fld>
            <a:endParaRPr lang="en-US" altLang="zh-CN" sz="1000" smtClean="0">
              <a:solidFill>
                <a:srgbClr val="FF6600"/>
              </a:solidFill>
              <a:ea typeface="宋体" panose="02010600030101010101" pitchFamily="2" charset="-122"/>
            </a:endParaRPr>
          </a:p>
        </p:txBody>
      </p:sp>
      <p:sp>
        <p:nvSpPr>
          <p:cNvPr id="4099" name="页脚占位符 2"/>
          <p:cNvSpPr>
            <a:spLocks noGrp="1"/>
          </p:cNvSpPr>
          <p:nvPr>
            <p:ph type="ftr" sz="quarter" idx="11"/>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sz="1000" dirty="0" smtClean="0">
                <a:solidFill>
                  <a:srgbClr val="FF6600"/>
                </a:solidFill>
                <a:ea typeface="宋体" panose="02010600030101010101" pitchFamily="2" charset="-122"/>
              </a:rPr>
              <a:t>电路理论</a:t>
            </a:r>
            <a:endParaRPr lang="en-US" altLang="zh-CN" sz="1000" dirty="0" smtClean="0">
              <a:solidFill>
                <a:srgbClr val="FF6600"/>
              </a:solidFill>
              <a:ea typeface="宋体" panose="02010600030101010101" pitchFamily="2" charset="-122"/>
            </a:endParaRPr>
          </a:p>
        </p:txBody>
      </p:sp>
      <p:sp>
        <p:nvSpPr>
          <p:cNvPr id="4100" name="灯片编号占位符 3"/>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7C411E53-91F9-428B-BBF4-BB37D8B16F49}" type="slidenum">
              <a:rPr lang="en-US" altLang="zh-CN" sz="1000" smtClean="0">
                <a:solidFill>
                  <a:srgbClr val="FF6600"/>
                </a:solidFill>
                <a:ea typeface="宋体" panose="02010600030101010101" pitchFamily="2" charset="-122"/>
              </a:rPr>
              <a:pPr>
                <a:spcBef>
                  <a:spcPct val="0"/>
                </a:spcBef>
                <a:buFontTx/>
                <a:buNone/>
              </a:pPr>
              <a:t>1</a:t>
            </a:fld>
            <a:endParaRPr lang="en-US" altLang="zh-CN" sz="1000" smtClean="0">
              <a:solidFill>
                <a:srgbClr val="FF6600"/>
              </a:solidFill>
              <a:ea typeface="宋体" panose="02010600030101010101" pitchFamily="2" charset="-122"/>
            </a:endParaRPr>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3" name="Picture 1074"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75" name="Text Box 1075"/>
          <p:cNvSpPr txBox="1">
            <a:spLocks noChangeArrowheads="1"/>
          </p:cNvSpPr>
          <p:nvPr/>
        </p:nvSpPr>
        <p:spPr bwMode="auto">
          <a:xfrm>
            <a:off x="803275" y="0"/>
            <a:ext cx="83058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n-US" altLang="zh-CN" sz="4400" dirty="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Chapter </a:t>
            </a:r>
            <a:r>
              <a:rPr lang="en-US" altLang="zh-CN" sz="4400" dirty="0" smtClean="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13  </a:t>
            </a:r>
            <a:endParaRPr lang="en-US" altLang="zh-CN" sz="4400" dirty="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a:p>
            <a:pPr algn="ctr" eaLnBrk="1" hangingPunct="1">
              <a:defRPr/>
            </a:pPr>
            <a:r>
              <a:rPr lang="zh-CN" altLang="en-US" sz="4400" dirty="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含</a:t>
            </a:r>
            <a:r>
              <a:rPr lang="zh-CN" altLang="en-US" sz="4400" dirty="0" smtClean="0">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磁耦合的电路</a:t>
            </a:r>
            <a:endParaRPr lang="zh-CN" altLang="en-US" sz="4400" dirty="0">
              <a:solidFill>
                <a:schemeClr val="hlink"/>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
        <p:nvSpPr>
          <p:cNvPr id="77879" name="Text Box 1079"/>
          <p:cNvSpPr txBox="1">
            <a:spLocks noChangeArrowheads="1"/>
          </p:cNvSpPr>
          <p:nvPr/>
        </p:nvSpPr>
        <p:spPr bwMode="auto">
          <a:xfrm>
            <a:off x="935038" y="1557338"/>
            <a:ext cx="31406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400" dirty="0" smtClean="0">
                <a:effectLst>
                  <a:outerShdw blurRad="38100" dist="38100" dir="2700000" algn="tl">
                    <a:srgbClr val="C0C0C0"/>
                  </a:outerShdw>
                </a:effectLst>
                <a:latin typeface="隶书" panose="02010509060101010101" pitchFamily="49" charset="-122"/>
                <a:ea typeface="隶书" panose="02010509060101010101" pitchFamily="49" charset="-122"/>
              </a:rPr>
              <a:t>13.1 </a:t>
            </a:r>
            <a:r>
              <a:rPr lang="zh-CN" altLang="en-US" sz="2400" dirty="0">
                <a:effectLst>
                  <a:outerShdw blurRad="38100" dist="38100" dir="2700000" algn="tl">
                    <a:srgbClr val="C0C0C0"/>
                  </a:outerShdw>
                </a:effectLst>
                <a:latin typeface="隶书" panose="02010509060101010101" pitchFamily="49" charset="-122"/>
                <a:ea typeface="隶书" panose="02010509060101010101" pitchFamily="49" charset="-122"/>
              </a:rPr>
              <a:t>耦合电感 </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Coupled inductors </a:t>
            </a:r>
          </a:p>
        </p:txBody>
      </p:sp>
      <p:sp>
        <p:nvSpPr>
          <p:cNvPr id="77880" name="Text Box 1080"/>
          <p:cNvSpPr txBox="1">
            <a:spLocks noChangeArrowheads="1"/>
          </p:cNvSpPr>
          <p:nvPr/>
        </p:nvSpPr>
        <p:spPr bwMode="auto">
          <a:xfrm>
            <a:off x="900113" y="2420938"/>
            <a:ext cx="42418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dirty="0">
                <a:effectLst>
                  <a:outerShdw blurRad="38100" dist="38100" dir="2700000" algn="tl">
                    <a:srgbClr val="C0C0C0"/>
                  </a:outerShdw>
                </a:effectLst>
                <a:latin typeface="隶书" panose="02010509060101010101" pitchFamily="49" charset="-122"/>
                <a:ea typeface="隶书" panose="02010509060101010101" pitchFamily="49" charset="-122"/>
              </a:rPr>
              <a:t>13.2 </a:t>
            </a:r>
            <a:r>
              <a:rPr lang="zh-CN" altLang="en-US" dirty="0">
                <a:effectLst>
                  <a:outerShdw blurRad="38100" dist="38100" dir="2700000" algn="tl">
                    <a:srgbClr val="C0C0C0"/>
                  </a:outerShdw>
                </a:effectLst>
                <a:latin typeface="隶书" panose="02010509060101010101" pitchFamily="49" charset="-122"/>
                <a:ea typeface="隶书" panose="02010509060101010101" pitchFamily="49" charset="-122"/>
              </a:rPr>
              <a:t>含耦合电感电路的分析</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Analysis of coupled circuits</a:t>
            </a:r>
          </a:p>
        </p:txBody>
      </p:sp>
      <p:sp>
        <p:nvSpPr>
          <p:cNvPr id="77881" name="Text Box 1081"/>
          <p:cNvSpPr txBox="1">
            <a:spLocks noChangeArrowheads="1"/>
          </p:cNvSpPr>
          <p:nvPr/>
        </p:nvSpPr>
        <p:spPr bwMode="auto">
          <a:xfrm>
            <a:off x="912813" y="3261589"/>
            <a:ext cx="24413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dirty="0">
                <a:effectLst>
                  <a:outerShdw blurRad="38100" dist="38100" dir="2700000" algn="tl">
                    <a:srgbClr val="C0C0C0"/>
                  </a:outerShdw>
                </a:effectLst>
                <a:latin typeface="隶书" panose="02010509060101010101" pitchFamily="49" charset="-122"/>
                <a:ea typeface="隶书" panose="02010509060101010101" pitchFamily="49" charset="-122"/>
              </a:rPr>
              <a:t>13.3 </a:t>
            </a:r>
            <a:r>
              <a:rPr lang="zh-CN" altLang="en-US" dirty="0">
                <a:effectLst>
                  <a:outerShdw blurRad="38100" dist="38100" dir="2700000" algn="tl">
                    <a:srgbClr val="C0C0C0"/>
                  </a:outerShdw>
                </a:effectLst>
                <a:latin typeface="隶书" panose="02010509060101010101" pitchFamily="49" charset="-122"/>
                <a:ea typeface="隶书" panose="02010509060101010101" pitchFamily="49" charset="-122"/>
              </a:rPr>
              <a:t>变压器</a:t>
            </a:r>
          </a:p>
          <a:p>
            <a:pPr eaLnBrk="1" hangingPunct="1">
              <a:defRPr/>
            </a:pPr>
            <a:r>
              <a:rPr lang="zh-CN" altLang="en-US" sz="2400" dirty="0">
                <a:effectLst>
                  <a:outerShdw blurRad="38100" dist="38100" dir="2700000" algn="tl">
                    <a:srgbClr val="C0C0C0"/>
                  </a:outerShdw>
                </a:effectLst>
              </a:rPr>
              <a:t>        </a:t>
            </a:r>
            <a:r>
              <a:rPr lang="en-US" altLang="zh-CN" sz="2400" dirty="0">
                <a:effectLst>
                  <a:outerShdw blurRad="38100" dist="38100" dir="2700000" algn="tl">
                    <a:srgbClr val="C0C0C0"/>
                  </a:outerShdw>
                </a:effectLst>
              </a:rPr>
              <a:t>Transformers</a:t>
            </a:r>
          </a:p>
        </p:txBody>
      </p:sp>
    </p:spTree>
    <p:extLst>
      <p:ext uri="{BB962C8B-B14F-4D97-AF65-F5344CB8AC3E}">
        <p14:creationId xmlns:p14="http://schemas.microsoft.com/office/powerpoint/2010/main" val="12294995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9" name="Text Box 13"/>
          <p:cNvSpPr txBox="1">
            <a:spLocks noChangeArrowheads="1"/>
          </p:cNvSpPr>
          <p:nvPr/>
        </p:nvSpPr>
        <p:spPr bwMode="auto">
          <a:xfrm>
            <a:off x="2584450" y="258763"/>
            <a:ext cx="3733800" cy="531812"/>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p>
            <a:pPr eaLnBrk="0" hangingPunct="0">
              <a:spcBef>
                <a:spcPct val="50000"/>
              </a:spcBef>
            </a:pPr>
            <a:r>
              <a:rPr lang="en-US" altLang="zh-CN" sz="2800" b="1" dirty="0" smtClean="0">
                <a:solidFill>
                  <a:schemeClr val="tx2"/>
                </a:solidFill>
                <a:latin typeface="楷体_GB2312" pitchFamily="49" charset="-122"/>
                <a:ea typeface="楷体_GB2312" pitchFamily="49" charset="-122"/>
              </a:rPr>
              <a:t>13.1 </a:t>
            </a:r>
            <a:r>
              <a:rPr lang="zh-CN" altLang="en-US" sz="2800" b="1" dirty="0">
                <a:solidFill>
                  <a:schemeClr val="tx2"/>
                </a:solidFill>
                <a:latin typeface="楷体_GB2312" pitchFamily="49" charset="-122"/>
                <a:ea typeface="楷体_GB2312" pitchFamily="49" charset="-122"/>
              </a:rPr>
              <a:t>互感和互感电压</a:t>
            </a:r>
          </a:p>
        </p:txBody>
      </p:sp>
      <p:sp>
        <p:nvSpPr>
          <p:cNvPr id="45070" name="Text Box 14"/>
          <p:cNvSpPr txBox="1">
            <a:spLocks noChangeArrowheads="1"/>
          </p:cNvSpPr>
          <p:nvPr/>
        </p:nvSpPr>
        <p:spPr bwMode="auto">
          <a:xfrm>
            <a:off x="133350" y="1047750"/>
            <a:ext cx="8604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一、 互感</a:t>
            </a:r>
            <a:r>
              <a:rPr lang="zh-CN" altLang="en-US" b="1"/>
              <a:t>（</a:t>
            </a:r>
            <a:r>
              <a:rPr lang="en-US" altLang="zh-CN" b="1">
                <a:solidFill>
                  <a:srgbClr val="FF3300"/>
                </a:solidFill>
              </a:rPr>
              <a:t>mutual inductance</a:t>
            </a:r>
            <a:r>
              <a:rPr lang="zh-CN" altLang="en-US" b="1"/>
              <a:t>）</a:t>
            </a:r>
            <a:r>
              <a:rPr lang="zh-CN" altLang="en-US" b="1">
                <a:solidFill>
                  <a:schemeClr val="accent2"/>
                </a:solidFill>
              </a:rPr>
              <a:t>和互感电压（</a:t>
            </a:r>
            <a:r>
              <a:rPr lang="en-US" altLang="zh-CN" b="1">
                <a:solidFill>
                  <a:srgbClr val="FF3300"/>
                </a:solidFill>
              </a:rPr>
              <a:t>mutual voltage</a:t>
            </a:r>
            <a:r>
              <a:rPr lang="zh-CN" altLang="en-US" b="1"/>
              <a:t>）</a:t>
            </a:r>
          </a:p>
        </p:txBody>
      </p:sp>
      <p:grpSp>
        <p:nvGrpSpPr>
          <p:cNvPr id="45122" name="Group 66"/>
          <p:cNvGrpSpPr>
            <a:grpSpLocks/>
          </p:cNvGrpSpPr>
          <p:nvPr/>
        </p:nvGrpSpPr>
        <p:grpSpPr bwMode="auto">
          <a:xfrm>
            <a:off x="1109663" y="1504950"/>
            <a:ext cx="5881687" cy="2514600"/>
            <a:chOff x="855" y="1008"/>
            <a:chExt cx="3705" cy="1584"/>
          </a:xfrm>
        </p:grpSpPr>
        <p:sp>
          <p:nvSpPr>
            <p:cNvPr id="45074" name="Arc 18"/>
            <p:cNvSpPr>
              <a:spLocks/>
            </p:cNvSpPr>
            <p:nvPr/>
          </p:nvSpPr>
          <p:spPr bwMode="auto">
            <a:xfrm flipH="1" flipV="1">
              <a:off x="855" y="124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76" name="Rectangle 20"/>
            <p:cNvSpPr>
              <a:spLocks noChangeArrowheads="1"/>
            </p:cNvSpPr>
            <p:nvPr/>
          </p:nvSpPr>
          <p:spPr bwMode="auto">
            <a:xfrm>
              <a:off x="1248" y="1296"/>
              <a:ext cx="2496" cy="57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5090" name="Group 34"/>
            <p:cNvGrpSpPr>
              <a:grpSpLocks/>
            </p:cNvGrpSpPr>
            <p:nvPr/>
          </p:nvGrpSpPr>
          <p:grpSpPr bwMode="auto">
            <a:xfrm>
              <a:off x="1420" y="1152"/>
              <a:ext cx="904" cy="1220"/>
              <a:chOff x="1420" y="1152"/>
              <a:chExt cx="904" cy="1220"/>
            </a:xfrm>
          </p:grpSpPr>
          <p:sp>
            <p:nvSpPr>
              <p:cNvPr id="45078" name="Freeform 22"/>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0" name="Freeform 24"/>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2" name="Freeform 26"/>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3" name="Freeform 27"/>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4" name="Freeform 28"/>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5" name="Freeform 29"/>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7" name="Freeform 31"/>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8" name="Oval 32"/>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9" name="Oval 33"/>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091" name="Group 35"/>
            <p:cNvGrpSpPr>
              <a:grpSpLocks/>
            </p:cNvGrpSpPr>
            <p:nvPr/>
          </p:nvGrpSpPr>
          <p:grpSpPr bwMode="auto">
            <a:xfrm>
              <a:off x="2688" y="1152"/>
              <a:ext cx="904" cy="1220"/>
              <a:chOff x="1420" y="1152"/>
              <a:chExt cx="904" cy="1220"/>
            </a:xfrm>
          </p:grpSpPr>
          <p:sp>
            <p:nvSpPr>
              <p:cNvPr id="45092" name="Freeform 36"/>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3" name="Freeform 37"/>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4" name="Freeform 38"/>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5" name="Freeform 39"/>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6" name="Freeform 40"/>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7" name="Freeform 41"/>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8" name="Freeform 42"/>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99" name="Oval 43"/>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0" name="Oval 44"/>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5101" name="Arc 45"/>
            <p:cNvSpPr>
              <a:spLocks/>
            </p:cNvSpPr>
            <p:nvPr/>
          </p:nvSpPr>
          <p:spPr bwMode="auto">
            <a:xfrm flipH="1" flipV="1">
              <a:off x="864" y="1344"/>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2" name="Line 46"/>
            <p:cNvSpPr>
              <a:spLocks noChangeShapeType="1"/>
            </p:cNvSpPr>
            <p:nvPr/>
          </p:nvSpPr>
          <p:spPr bwMode="auto">
            <a:xfrm flipH="1">
              <a:off x="864" y="1584"/>
              <a:ext cx="3312" cy="0"/>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3" name="Arc 47"/>
            <p:cNvSpPr>
              <a:spLocks/>
            </p:cNvSpPr>
            <p:nvPr/>
          </p:nvSpPr>
          <p:spPr bwMode="auto">
            <a:xfrm flipH="1">
              <a:off x="864" y="172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4" name="Arc 48"/>
            <p:cNvSpPr>
              <a:spLocks/>
            </p:cNvSpPr>
            <p:nvPr/>
          </p:nvSpPr>
          <p:spPr bwMode="auto">
            <a:xfrm flipH="1">
              <a:off x="864" y="1632"/>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7" name="Arc 51"/>
            <p:cNvSpPr>
              <a:spLocks/>
            </p:cNvSpPr>
            <p:nvPr/>
          </p:nvSpPr>
          <p:spPr bwMode="auto">
            <a:xfrm flipV="1">
              <a:off x="1392" y="1776"/>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8" name="Arc 52"/>
            <p:cNvSpPr>
              <a:spLocks/>
            </p:cNvSpPr>
            <p:nvPr/>
          </p:nvSpPr>
          <p:spPr bwMode="auto">
            <a:xfrm>
              <a:off x="1344" y="1008"/>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09" name="Text Box 53"/>
            <p:cNvSpPr txBox="1">
              <a:spLocks noChangeArrowheads="1"/>
            </p:cNvSpPr>
            <p:nvPr/>
          </p:nvSpPr>
          <p:spPr bwMode="auto">
            <a:xfrm>
              <a:off x="1344"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45110" name="Text Box 54"/>
            <p:cNvSpPr txBox="1">
              <a:spLocks noChangeArrowheads="1"/>
            </p:cNvSpPr>
            <p:nvPr/>
          </p:nvSpPr>
          <p:spPr bwMode="auto">
            <a:xfrm>
              <a:off x="216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45111" name="Text Box 55"/>
            <p:cNvSpPr txBox="1">
              <a:spLocks noChangeArrowheads="1"/>
            </p:cNvSpPr>
            <p:nvPr/>
          </p:nvSpPr>
          <p:spPr bwMode="auto">
            <a:xfrm>
              <a:off x="1680"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11</a:t>
              </a:r>
              <a:endParaRPr lang="en-US" altLang="zh-CN" b="1"/>
            </a:p>
          </p:txBody>
        </p:sp>
        <p:sp>
          <p:nvSpPr>
            <p:cNvPr id="45112" name="Text Box 56"/>
            <p:cNvSpPr txBox="1">
              <a:spLocks noChangeArrowheads="1"/>
            </p:cNvSpPr>
            <p:nvPr/>
          </p:nvSpPr>
          <p:spPr bwMode="auto">
            <a:xfrm>
              <a:off x="264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45113" name="Text Box 57"/>
            <p:cNvSpPr txBox="1">
              <a:spLocks noChangeArrowheads="1"/>
            </p:cNvSpPr>
            <p:nvPr/>
          </p:nvSpPr>
          <p:spPr bwMode="auto">
            <a:xfrm>
              <a:off x="3456"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45114" name="Text Box 58"/>
            <p:cNvSpPr txBox="1">
              <a:spLocks noChangeArrowheads="1"/>
            </p:cNvSpPr>
            <p:nvPr/>
          </p:nvSpPr>
          <p:spPr bwMode="auto">
            <a:xfrm>
              <a:off x="2976"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21</a:t>
              </a:r>
              <a:endParaRPr lang="en-US" altLang="zh-CN" b="1"/>
            </a:p>
          </p:txBody>
        </p:sp>
        <p:sp>
          <p:nvSpPr>
            <p:cNvPr id="45115" name="Line 59"/>
            <p:cNvSpPr>
              <a:spLocks noChangeShapeType="1"/>
            </p:cNvSpPr>
            <p:nvPr/>
          </p:nvSpPr>
          <p:spPr bwMode="auto">
            <a:xfrm flipV="1">
              <a:off x="1344" y="2016"/>
              <a:ext cx="0" cy="336"/>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116" name="Text Box 60"/>
            <p:cNvSpPr txBox="1">
              <a:spLocks noChangeArrowheads="1"/>
            </p:cNvSpPr>
            <p:nvPr/>
          </p:nvSpPr>
          <p:spPr bwMode="auto">
            <a:xfrm>
              <a:off x="1104" y="20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rPr>
                <a:t>i</a:t>
              </a:r>
              <a:r>
                <a:rPr lang="en-US" altLang="zh-CN" b="1" baseline="-25000">
                  <a:solidFill>
                    <a:schemeClr val="accent2"/>
                  </a:solidFill>
                </a:rPr>
                <a:t>1</a:t>
              </a:r>
              <a:endParaRPr lang="en-US" altLang="zh-CN" b="1">
                <a:solidFill>
                  <a:schemeClr val="accent2"/>
                </a:solidFill>
              </a:endParaRPr>
            </a:p>
          </p:txBody>
        </p:sp>
        <p:sp>
          <p:nvSpPr>
            <p:cNvPr id="45118" name="Text Box 62"/>
            <p:cNvSpPr txBox="1">
              <a:spLocks noChangeArrowheads="1"/>
            </p:cNvSpPr>
            <p:nvPr/>
          </p:nvSpPr>
          <p:spPr bwMode="auto">
            <a:xfrm>
              <a:off x="864" y="10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11</a:t>
              </a:r>
              <a:endParaRPr lang="en-US" altLang="zh-CN" b="1">
                <a:solidFill>
                  <a:schemeClr val="accent2"/>
                </a:solidFill>
              </a:endParaRPr>
            </a:p>
          </p:txBody>
        </p:sp>
        <p:sp>
          <p:nvSpPr>
            <p:cNvPr id="45119" name="Text Box 63"/>
            <p:cNvSpPr txBox="1">
              <a:spLocks noChangeArrowheads="1"/>
            </p:cNvSpPr>
            <p:nvPr/>
          </p:nvSpPr>
          <p:spPr bwMode="auto">
            <a:xfrm>
              <a:off x="4128" y="144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 21</a:t>
              </a:r>
            </a:p>
          </p:txBody>
        </p:sp>
        <p:sp>
          <p:nvSpPr>
            <p:cNvPr id="45120" name="Text Box 64"/>
            <p:cNvSpPr txBox="1">
              <a:spLocks noChangeArrowheads="1"/>
            </p:cNvSpPr>
            <p:nvPr/>
          </p:nvSpPr>
          <p:spPr bwMode="auto">
            <a:xfrm>
              <a:off x="1680" y="182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1</a:t>
              </a:r>
              <a:endParaRPr lang="en-US" altLang="zh-CN" b="1"/>
            </a:p>
          </p:txBody>
        </p:sp>
        <p:sp>
          <p:nvSpPr>
            <p:cNvPr id="45121" name="Text Box 65"/>
            <p:cNvSpPr txBox="1">
              <a:spLocks noChangeArrowheads="1"/>
            </p:cNvSpPr>
            <p:nvPr/>
          </p:nvSpPr>
          <p:spPr bwMode="auto">
            <a:xfrm>
              <a:off x="2976" y="18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2</a:t>
              </a:r>
              <a:endParaRPr lang="en-US" altLang="zh-CN" b="1"/>
            </a:p>
          </p:txBody>
        </p:sp>
      </p:grpSp>
      <p:sp>
        <p:nvSpPr>
          <p:cNvPr id="45123" name="Text Box 67"/>
          <p:cNvSpPr txBox="1">
            <a:spLocks noChangeArrowheads="1"/>
          </p:cNvSpPr>
          <p:nvPr/>
        </p:nvSpPr>
        <p:spPr bwMode="auto">
          <a:xfrm>
            <a:off x="190500" y="4591050"/>
            <a:ext cx="42862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lgn="l">
              <a:defRPr kumimoji="1" sz="2400">
                <a:solidFill>
                  <a:schemeClr val="tx1"/>
                </a:solidFill>
                <a:latin typeface="Times New Roman" panose="02020603050405020304" pitchFamily="18" charset="0"/>
                <a:ea typeface="宋体" panose="02010600030101010101" pitchFamily="2" charset="-122"/>
              </a:defRPr>
            </a:lvl1pPr>
            <a:lvl2pPr marL="762000" algn="l">
              <a:defRPr kumimoji="1" sz="2400">
                <a:solidFill>
                  <a:schemeClr val="tx1"/>
                </a:solidFill>
                <a:latin typeface="Times New Roman" panose="02020603050405020304" pitchFamily="18" charset="0"/>
                <a:ea typeface="宋体" panose="02010600030101010101" pitchFamily="2" charset="-122"/>
              </a:defRPr>
            </a:lvl2pPr>
            <a:lvl3pPr marL="95250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lang="zh-CN" altLang="en-US" b="1"/>
              <a:t>当线圈</a:t>
            </a:r>
            <a:r>
              <a:rPr lang="en-US" altLang="zh-CN" b="1"/>
              <a:t>1</a:t>
            </a:r>
            <a:r>
              <a:rPr lang="zh-CN" altLang="en-US" b="1"/>
              <a:t>中通入电流</a:t>
            </a:r>
            <a:r>
              <a:rPr lang="en-US" altLang="zh-CN" b="1" i="1"/>
              <a:t>i</a:t>
            </a:r>
            <a:r>
              <a:rPr lang="en-US" altLang="zh-CN" b="1" baseline="-25000"/>
              <a:t>1</a:t>
            </a:r>
            <a:r>
              <a:rPr lang="zh-CN" altLang="en-US" b="1"/>
              <a:t>时</a:t>
            </a:r>
          </a:p>
        </p:txBody>
      </p:sp>
      <p:graphicFrame>
        <p:nvGraphicFramePr>
          <p:cNvPr id="45125" name="Object 69"/>
          <p:cNvGraphicFramePr>
            <a:graphicFrameLocks noChangeAspect="1"/>
          </p:cNvGraphicFramePr>
          <p:nvPr/>
        </p:nvGraphicFramePr>
        <p:xfrm>
          <a:off x="4514850" y="3333750"/>
          <a:ext cx="112713" cy="214313"/>
        </p:xfrm>
        <a:graphic>
          <a:graphicData uri="http://schemas.openxmlformats.org/presentationml/2006/ole">
            <mc:AlternateContent xmlns:mc="http://schemas.openxmlformats.org/markup-compatibility/2006">
              <mc:Choice xmlns:v="urn:schemas-microsoft-com:vml" Requires="v">
                <p:oleObj spid="_x0000_s45147" name="公式" r:id="rId3" imgW="114120" imgH="215640" progId="Equation.3">
                  <p:embed/>
                </p:oleObj>
              </mc:Choice>
              <mc:Fallback>
                <p:oleObj name="公式" r:id="rId3" imgW="114120" imgH="215640" progId="Equation.3">
                  <p:embed/>
                  <p:pic>
                    <p:nvPicPr>
                      <p:cNvPr id="0"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337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28" name="Rectangle 72"/>
          <p:cNvSpPr>
            <a:spLocks noChangeArrowheads="1"/>
          </p:cNvSpPr>
          <p:nvPr/>
        </p:nvSpPr>
        <p:spPr bwMode="auto">
          <a:xfrm>
            <a:off x="808038" y="4019550"/>
            <a:ext cx="6656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a:spAutoFit/>
          </a:bodyPr>
          <a:lstStyle/>
          <a:p>
            <a:pPr algn="ctr"/>
            <a:r>
              <a:rPr lang="zh-CN" altLang="en-US" b="1"/>
              <a:t>参考方向设定：</a:t>
            </a:r>
            <a:r>
              <a:rPr lang="en-US" altLang="zh-CN" b="1" i="1"/>
              <a:t>i</a:t>
            </a:r>
            <a:r>
              <a:rPr lang="zh-CN" altLang="en-US" b="1" i="1"/>
              <a:t>～ </a:t>
            </a:r>
            <a:r>
              <a:rPr lang="zh-CN" altLang="en-US" b="1" i="1">
                <a:sym typeface="Symbol" panose="05050102010706020507" pitchFamily="18" charset="2"/>
              </a:rPr>
              <a:t>  </a:t>
            </a:r>
            <a:r>
              <a:rPr lang="zh-CN" altLang="en-US" b="1">
                <a:sym typeface="Symbol" panose="05050102010706020507" pitchFamily="18" charset="2"/>
              </a:rPr>
              <a:t>，</a:t>
            </a:r>
            <a:r>
              <a:rPr lang="en-US" altLang="zh-CN" b="1" i="1">
                <a:sym typeface="Symbol" panose="05050102010706020507" pitchFamily="18" charset="2"/>
              </a:rPr>
              <a:t>u </a:t>
            </a:r>
            <a:r>
              <a:rPr lang="zh-CN" altLang="en-US" b="1" i="1"/>
              <a:t>～ </a:t>
            </a:r>
            <a:r>
              <a:rPr lang="zh-CN" altLang="en-US" b="1" i="1">
                <a:sym typeface="Symbol" panose="05050102010706020507" pitchFamily="18" charset="2"/>
              </a:rPr>
              <a:t> </a:t>
            </a:r>
            <a:r>
              <a:rPr lang="zh-CN" altLang="zh-CN" b="1">
                <a:sym typeface="Symbol" panose="05050102010706020507" pitchFamily="18" charset="2"/>
              </a:rPr>
              <a:t>符合右手定则</a:t>
            </a:r>
            <a:endParaRPr lang="zh-CN" altLang="en-US" b="1">
              <a:sym typeface="Symbol" panose="05050102010706020507" pitchFamily="18" charset="2"/>
            </a:endParaRPr>
          </a:p>
        </p:txBody>
      </p:sp>
      <p:sp>
        <p:nvSpPr>
          <p:cNvPr id="51" name="Text Box 42"/>
          <p:cNvSpPr txBox="1">
            <a:spLocks noChangeArrowheads="1"/>
          </p:cNvSpPr>
          <p:nvPr/>
        </p:nvSpPr>
        <p:spPr bwMode="auto">
          <a:xfrm>
            <a:off x="190500" y="5470009"/>
            <a:ext cx="1619250" cy="831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载流回路</a:t>
            </a:r>
            <a:r>
              <a:rPr lang="en-US" altLang="zh-CN" sz="2400" b="1"/>
              <a:t>1</a:t>
            </a:r>
            <a:r>
              <a:rPr lang="zh-CN" altLang="en-US" sz="2400" b="1"/>
              <a:t>中的电流 </a:t>
            </a:r>
            <a:r>
              <a:rPr lang="en-US" altLang="zh-CN" sz="2400" b="1" i="1">
                <a:latin typeface="Times New Roman" panose="02020603050405020304" pitchFamily="18" charset="0"/>
                <a:cs typeface="Times New Roman" panose="02020603050405020304" pitchFamily="18" charset="0"/>
              </a:rPr>
              <a:t>i</a:t>
            </a:r>
          </a:p>
        </p:txBody>
      </p:sp>
      <p:sp>
        <p:nvSpPr>
          <p:cNvPr id="52" name="AutoShape 43"/>
          <p:cNvSpPr>
            <a:spLocks noChangeArrowheads="1"/>
          </p:cNvSpPr>
          <p:nvPr/>
        </p:nvSpPr>
        <p:spPr bwMode="auto">
          <a:xfrm>
            <a:off x="1888799" y="5812305"/>
            <a:ext cx="550863" cy="122238"/>
          </a:xfrm>
          <a:prstGeom prst="rightArrow">
            <a:avLst>
              <a:gd name="adj1" fmla="val 50000"/>
              <a:gd name="adj2" fmla="val 1126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Text Box 44"/>
          <p:cNvSpPr txBox="1">
            <a:spLocks noChangeArrowheads="1"/>
          </p:cNvSpPr>
          <p:nvPr/>
        </p:nvSpPr>
        <p:spPr bwMode="auto">
          <a:xfrm>
            <a:off x="2539674" y="5633243"/>
            <a:ext cx="2033588"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磁感应强度 </a:t>
            </a:r>
            <a:r>
              <a:rPr lang="en-US" altLang="zh-CN" sz="2400" b="1" i="1">
                <a:latin typeface="Times New Roman" panose="02020603050405020304" pitchFamily="18" charset="0"/>
                <a:cs typeface="Times New Roman" panose="02020603050405020304" pitchFamily="18" charset="0"/>
              </a:rPr>
              <a:t>B</a:t>
            </a:r>
          </a:p>
        </p:txBody>
      </p:sp>
      <p:sp>
        <p:nvSpPr>
          <p:cNvPr id="54" name="Text Box 45"/>
          <p:cNvSpPr txBox="1">
            <a:spLocks noChangeArrowheads="1"/>
          </p:cNvSpPr>
          <p:nvPr/>
        </p:nvSpPr>
        <p:spPr bwMode="auto">
          <a:xfrm>
            <a:off x="5313363" y="5614987"/>
            <a:ext cx="15113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磁通 </a:t>
            </a:r>
            <a:r>
              <a:rPr lang="el-GR" altLang="zh-CN" sz="2400" b="1" i="1"/>
              <a:t>Φ</a:t>
            </a:r>
            <a:r>
              <a:rPr lang="en-US" altLang="zh-CN" sz="2400" b="1" baseline="-25000"/>
              <a:t>11</a:t>
            </a:r>
          </a:p>
        </p:txBody>
      </p:sp>
      <p:sp>
        <p:nvSpPr>
          <p:cNvPr id="55" name="Text Box 50"/>
          <p:cNvSpPr txBox="1">
            <a:spLocks noChangeArrowheads="1"/>
          </p:cNvSpPr>
          <p:nvPr/>
        </p:nvSpPr>
        <p:spPr bwMode="auto">
          <a:xfrm>
            <a:off x="6318250" y="5052711"/>
            <a:ext cx="1465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11</a:t>
            </a:r>
            <a:r>
              <a:rPr kumimoji="1"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l-GR" altLang="zh-CN" b="1" i="1" dirty="0"/>
              <a:t>Φ</a:t>
            </a:r>
            <a:r>
              <a:rPr kumimoji="1" lang="en-US" altLang="zh-CN" dirty="0">
                <a:sym typeface="Symbol" panose="05050102010706020507" pitchFamily="18" charset="2"/>
              </a:rPr>
              <a:t> </a:t>
            </a:r>
            <a:r>
              <a:rPr kumimoji="1" lang="en-US" altLang="zh-CN"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11</a:t>
            </a:r>
          </a:p>
        </p:txBody>
      </p:sp>
      <p:sp>
        <p:nvSpPr>
          <p:cNvPr id="57" name="Text Box 56"/>
          <p:cNvSpPr txBox="1">
            <a:spLocks noChangeArrowheads="1"/>
          </p:cNvSpPr>
          <p:nvPr/>
        </p:nvSpPr>
        <p:spPr bwMode="auto">
          <a:xfrm>
            <a:off x="7564764" y="5614986"/>
            <a:ext cx="14398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dirty="0"/>
              <a:t>磁链 </a:t>
            </a:r>
            <a:r>
              <a:rPr lang="el-GR" altLang="zh-CN" sz="2400" b="1" i="1" dirty="0">
                <a:latin typeface="Times New Roman" panose="02020603050405020304" pitchFamily="18" charset="0"/>
              </a:rPr>
              <a:t>Ψ</a:t>
            </a:r>
            <a:r>
              <a:rPr lang="en-US" altLang="zh-CN" sz="2400" b="1" baseline="-25000" dirty="0"/>
              <a:t>11</a:t>
            </a:r>
          </a:p>
        </p:txBody>
      </p:sp>
      <p:sp>
        <p:nvSpPr>
          <p:cNvPr id="58" name="AutoShape 43"/>
          <p:cNvSpPr>
            <a:spLocks noChangeArrowheads="1"/>
          </p:cNvSpPr>
          <p:nvPr/>
        </p:nvSpPr>
        <p:spPr bwMode="auto">
          <a:xfrm>
            <a:off x="4660900" y="5812305"/>
            <a:ext cx="550863" cy="122238"/>
          </a:xfrm>
          <a:prstGeom prst="rightArrow">
            <a:avLst>
              <a:gd name="adj1" fmla="val 50000"/>
              <a:gd name="adj2" fmla="val 1126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AutoShape 43"/>
          <p:cNvSpPr>
            <a:spLocks noChangeArrowheads="1"/>
          </p:cNvSpPr>
          <p:nvPr/>
        </p:nvSpPr>
        <p:spPr bwMode="auto">
          <a:xfrm>
            <a:off x="6916380" y="5787229"/>
            <a:ext cx="550863" cy="122238"/>
          </a:xfrm>
          <a:prstGeom prst="rightArrow">
            <a:avLst>
              <a:gd name="adj1" fmla="val 50000"/>
              <a:gd name="adj2" fmla="val 1126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withEffect">
                                  <p:stCondLst>
                                    <p:cond delay="0"/>
                                  </p:stCondLst>
                                  <p:childTnLst>
                                    <p:set>
                                      <p:cBhvr>
                                        <p:cTn id="6" dur="1" fill="hold">
                                          <p:stCondLst>
                                            <p:cond delay="0"/>
                                          </p:stCondLst>
                                        </p:cTn>
                                        <p:tgtEl>
                                          <p:spTgt spid="45069"/>
                                        </p:tgtEl>
                                        <p:attrNameLst>
                                          <p:attrName>style.visibility</p:attrName>
                                        </p:attrNameLst>
                                      </p:cBhvr>
                                      <p:to>
                                        <p:strVal val="visible"/>
                                      </p:to>
                                    </p:set>
                                    <p:anim calcmode="lin" valueType="num">
                                      <p:cBhvr additive="base">
                                        <p:cTn id="7" dur="500" fill="hold"/>
                                        <p:tgtEl>
                                          <p:spTgt spid="45069"/>
                                        </p:tgtEl>
                                        <p:attrNameLst>
                                          <p:attrName>ppt_x</p:attrName>
                                        </p:attrNameLst>
                                      </p:cBhvr>
                                      <p:tavLst>
                                        <p:tav tm="0">
                                          <p:val>
                                            <p:strVal val="#ppt_x"/>
                                          </p:val>
                                        </p:tav>
                                        <p:tav tm="100000">
                                          <p:val>
                                            <p:strVal val="#ppt_x"/>
                                          </p:val>
                                        </p:tav>
                                      </p:tavLst>
                                    </p:anim>
                                    <p:anim calcmode="lin" valueType="num">
                                      <p:cBhvr additive="base">
                                        <p:cTn id="8" dur="500" fill="hold"/>
                                        <p:tgtEl>
                                          <p:spTgt spid="4506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5070"/>
                                        </p:tgtEl>
                                        <p:attrNameLst>
                                          <p:attrName>style.visibility</p:attrName>
                                        </p:attrNameLst>
                                      </p:cBhvr>
                                      <p:to>
                                        <p:strVal val="visible"/>
                                      </p:to>
                                    </p:set>
                                    <p:animEffect transition="in" filter="blinds(horizontal)">
                                      <p:cBhvr>
                                        <p:cTn id="13" dur="500"/>
                                        <p:tgtEl>
                                          <p:spTgt spid="4507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5122"/>
                                        </p:tgtEl>
                                        <p:attrNameLst>
                                          <p:attrName>style.visibility</p:attrName>
                                        </p:attrNameLst>
                                      </p:cBhvr>
                                      <p:to>
                                        <p:strVal val="visible"/>
                                      </p:to>
                                    </p:set>
                                    <p:anim calcmode="lin" valueType="num">
                                      <p:cBhvr>
                                        <p:cTn id="18" dur="500" fill="hold"/>
                                        <p:tgtEl>
                                          <p:spTgt spid="45122"/>
                                        </p:tgtEl>
                                        <p:attrNameLst>
                                          <p:attrName>ppt_w</p:attrName>
                                        </p:attrNameLst>
                                      </p:cBhvr>
                                      <p:tavLst>
                                        <p:tav tm="0">
                                          <p:val>
                                            <p:fltVal val="0"/>
                                          </p:val>
                                        </p:tav>
                                        <p:tav tm="100000">
                                          <p:val>
                                            <p:strVal val="#ppt_w"/>
                                          </p:val>
                                        </p:tav>
                                      </p:tavLst>
                                    </p:anim>
                                    <p:anim calcmode="lin" valueType="num">
                                      <p:cBhvr>
                                        <p:cTn id="19" dur="500" fill="hold"/>
                                        <p:tgtEl>
                                          <p:spTgt spid="45122"/>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5128">
                                            <p:txEl>
                                              <p:pRg st="0" end="0"/>
                                            </p:txEl>
                                          </p:spTgt>
                                        </p:tgtEl>
                                        <p:attrNameLst>
                                          <p:attrName>style.visibility</p:attrName>
                                        </p:attrNameLst>
                                      </p:cBhvr>
                                      <p:to>
                                        <p:strVal val="visible"/>
                                      </p:to>
                                    </p:set>
                                    <p:animEffect transition="in" filter="wipe(left)">
                                      <p:cBhvr>
                                        <p:cTn id="24" dur="500"/>
                                        <p:tgtEl>
                                          <p:spTgt spid="45128">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123"/>
                                        </p:tgtEl>
                                        <p:attrNameLst>
                                          <p:attrName>style.visibility</p:attrName>
                                        </p:attrNameLst>
                                      </p:cBhvr>
                                      <p:to>
                                        <p:strVal val="visible"/>
                                      </p:to>
                                    </p:set>
                                    <p:animEffect transition="in" filter="wipe(left)">
                                      <p:cBhvr>
                                        <p:cTn id="29" dur="500"/>
                                        <p:tgtEl>
                                          <p:spTgt spid="4512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dissolve">
                                      <p:cBhvr>
                                        <p:cTn id="34" dur="500"/>
                                        <p:tgtEl>
                                          <p:spTgt spid="51"/>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wipe(left)">
                                      <p:cBhvr>
                                        <p:cTn id="38" dur="500"/>
                                        <p:tgtEl>
                                          <p:spTgt spid="52"/>
                                        </p:tgtEl>
                                      </p:cBhvr>
                                    </p:animEffect>
                                  </p:childTnLst>
                                </p:cTn>
                              </p:par>
                            </p:childTnLst>
                          </p:cTn>
                        </p:par>
                        <p:par>
                          <p:cTn id="39" fill="hold">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dissolve">
                                      <p:cBhvr>
                                        <p:cTn id="42" dur="500"/>
                                        <p:tgtEl>
                                          <p:spTgt spid="53"/>
                                        </p:tgtEl>
                                      </p:cBhvr>
                                    </p:animEffect>
                                  </p:childTnLst>
                                </p:cTn>
                              </p:par>
                            </p:childTnLst>
                          </p:cTn>
                        </p:par>
                        <p:par>
                          <p:cTn id="43" fill="hold">
                            <p:stCondLst>
                              <p:cond delay="1500"/>
                            </p:stCondLst>
                            <p:childTnLst>
                              <p:par>
                                <p:cTn id="44" presetID="9" presetClass="entr" presetSubtype="0" fill="hold" grpId="0" nodeType="after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dissolve">
                                      <p:cBhvr>
                                        <p:cTn id="46" dur="500"/>
                                        <p:tgtEl>
                                          <p:spTgt spid="54"/>
                                        </p:tgtEl>
                                      </p:cBhvr>
                                    </p:animEffect>
                                  </p:childTnLst>
                                </p:cTn>
                              </p:par>
                            </p:childTnLst>
                          </p:cTn>
                        </p:par>
                        <p:par>
                          <p:cTn id="47" fill="hold">
                            <p:stCondLst>
                              <p:cond delay="2000"/>
                            </p:stCondLst>
                            <p:childTnLst>
                              <p:par>
                                <p:cTn id="48" presetID="9" presetClass="entr" presetSubtype="0" fill="hold" grpId="0" nodeType="after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dissolve">
                                      <p:cBhvr>
                                        <p:cTn id="50" dur="500"/>
                                        <p:tgtEl>
                                          <p:spTgt spid="55"/>
                                        </p:tgtEl>
                                      </p:cBhvr>
                                    </p:animEffect>
                                  </p:childTnLst>
                                </p:cTn>
                              </p:par>
                            </p:childTnLst>
                          </p:cTn>
                        </p:par>
                        <p:par>
                          <p:cTn id="51" fill="hold">
                            <p:stCondLst>
                              <p:cond delay="2500"/>
                            </p:stCondLst>
                            <p:childTnLst>
                              <p:par>
                                <p:cTn id="52" presetID="9" presetClass="entr" presetSubtype="0" fill="hold" grpId="0" nodeType="after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dissolve">
                                      <p:cBhvr>
                                        <p:cTn id="54" dur="500"/>
                                        <p:tgtEl>
                                          <p:spTgt spid="57"/>
                                        </p:tgtEl>
                                      </p:cBhvr>
                                    </p:animEffect>
                                  </p:childTnLst>
                                </p:cTn>
                              </p:par>
                            </p:childTnLst>
                          </p:cTn>
                        </p:par>
                        <p:par>
                          <p:cTn id="55" fill="hold">
                            <p:stCondLst>
                              <p:cond delay="3000"/>
                            </p:stCondLst>
                            <p:childTnLst>
                              <p:par>
                                <p:cTn id="56" presetID="22" presetClass="entr" presetSubtype="8" fill="hold" nodeType="after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left)">
                                      <p:cBhvr>
                                        <p:cTn id="58" dur="500"/>
                                        <p:tgtEl>
                                          <p:spTgt spid="58"/>
                                        </p:tgtEl>
                                      </p:cBhvr>
                                    </p:animEffect>
                                  </p:childTnLst>
                                </p:cTn>
                              </p:par>
                            </p:childTnLst>
                          </p:cTn>
                        </p:par>
                        <p:par>
                          <p:cTn id="59" fill="hold">
                            <p:stCondLst>
                              <p:cond delay="3500"/>
                            </p:stCondLst>
                            <p:childTnLst>
                              <p:par>
                                <p:cTn id="60" presetID="22" presetClass="entr" presetSubtype="8" fill="hold" nodeType="after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wipe(left)">
                                      <p:cBhvr>
                                        <p:cTn id="6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9" grpId="0" animBg="1" autoUpdateAnimBg="0"/>
      <p:bldP spid="45070" grpId="0" autoUpdateAnimBg="0"/>
      <p:bldP spid="45123" grpId="0" autoUpdateAnimBg="0"/>
      <p:bldP spid="45128" grpId="0" build="p" autoUpdateAnimBg="0"/>
      <p:bldP spid="51" grpId="0" animBg="1" autoUpdateAnimBg="0"/>
      <p:bldP spid="53" grpId="0" animBg="1" autoUpdateAnimBg="0"/>
      <p:bldP spid="54" grpId="0" animBg="1" autoUpdateAnimBg="0"/>
      <p:bldP spid="55" grpId="0" autoUpdateAnimBg="0"/>
      <p:bldP spid="57"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extLst>
              <p:ext uri="{D42A27DB-BD31-4B8C-83A1-F6EECF244321}">
                <p14:modId xmlns:p14="http://schemas.microsoft.com/office/powerpoint/2010/main" val="1291415746"/>
              </p:ext>
            </p:extLst>
          </p:nvPr>
        </p:nvGraphicFramePr>
        <p:xfrm>
          <a:off x="1630621" y="4635296"/>
          <a:ext cx="2987675" cy="787400"/>
        </p:xfrm>
        <a:graphic>
          <a:graphicData uri="http://schemas.openxmlformats.org/presentationml/2006/ole">
            <mc:AlternateContent xmlns:mc="http://schemas.openxmlformats.org/markup-compatibility/2006">
              <mc:Choice xmlns:v="urn:schemas-microsoft-com:vml" Requires="v">
                <p:oleObj spid="_x0000_s47180" name="Equation" r:id="rId3" imgW="1485720" imgH="393480" progId="Equation.3">
                  <p:embed/>
                </p:oleObj>
              </mc:Choice>
              <mc:Fallback>
                <p:oleObj name="Equation" r:id="rId3" imgW="1485720" imgH="393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621" y="4635296"/>
                        <a:ext cx="29876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3" name="Object 9"/>
          <p:cNvGraphicFramePr>
            <a:graphicFrameLocks noChangeAspect="1"/>
          </p:cNvGraphicFramePr>
          <p:nvPr>
            <p:extLst>
              <p:ext uri="{D42A27DB-BD31-4B8C-83A1-F6EECF244321}">
                <p14:modId xmlns:p14="http://schemas.microsoft.com/office/powerpoint/2010/main" val="3236740537"/>
              </p:ext>
            </p:extLst>
          </p:nvPr>
        </p:nvGraphicFramePr>
        <p:xfrm>
          <a:off x="1567121" y="5434301"/>
          <a:ext cx="3013075" cy="812800"/>
        </p:xfrm>
        <a:graphic>
          <a:graphicData uri="http://schemas.openxmlformats.org/presentationml/2006/ole">
            <mc:AlternateContent xmlns:mc="http://schemas.openxmlformats.org/markup-compatibility/2006">
              <mc:Choice xmlns:v="urn:schemas-microsoft-com:vml" Requires="v">
                <p:oleObj spid="_x0000_s47181" name="Equation" r:id="rId5" imgW="1498320" imgH="406080" progId="Equation.3">
                  <p:embed/>
                </p:oleObj>
              </mc:Choice>
              <mc:Fallback>
                <p:oleObj name="Equation" r:id="rId5" imgW="1498320" imgH="40608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7121" y="5434301"/>
                        <a:ext cx="3013075"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4" name="Text Box 10"/>
          <p:cNvSpPr txBox="1">
            <a:spLocks noChangeArrowheads="1"/>
          </p:cNvSpPr>
          <p:nvPr/>
        </p:nvSpPr>
        <p:spPr bwMode="auto">
          <a:xfrm>
            <a:off x="4919921" y="4787696"/>
            <a:ext cx="2476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r>
              <a:rPr lang="zh-CN" altLang="en-US" b="1"/>
              <a:t>自感电压</a:t>
            </a:r>
          </a:p>
        </p:txBody>
      </p:sp>
      <p:sp>
        <p:nvSpPr>
          <p:cNvPr id="47115" name="Text Box 11"/>
          <p:cNvSpPr txBox="1">
            <a:spLocks noChangeArrowheads="1"/>
          </p:cNvSpPr>
          <p:nvPr/>
        </p:nvSpPr>
        <p:spPr bwMode="auto">
          <a:xfrm>
            <a:off x="4951671" y="5605751"/>
            <a:ext cx="246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dirty="0"/>
              <a:t>—</a:t>
            </a:r>
            <a:r>
              <a:rPr lang="zh-CN" altLang="en-US" b="1" dirty="0"/>
              <a:t>互感电压</a:t>
            </a:r>
          </a:p>
        </p:txBody>
      </p:sp>
      <p:sp>
        <p:nvSpPr>
          <p:cNvPr id="17" name="Text Box 68"/>
          <p:cNvSpPr txBox="1">
            <a:spLocks noChangeArrowheads="1"/>
          </p:cNvSpPr>
          <p:nvPr/>
        </p:nvSpPr>
        <p:spPr bwMode="auto">
          <a:xfrm>
            <a:off x="114558" y="4082687"/>
            <a:ext cx="893127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indent="0" algn="just">
              <a:lnSpc>
                <a:spcPct val="120000"/>
              </a:lnSpc>
              <a:spcBef>
                <a:spcPct val="50000"/>
              </a:spcBef>
            </a:pPr>
            <a:r>
              <a:rPr lang="zh-CN" altLang="en-US" b="1" dirty="0">
                <a:sym typeface="Symbol" panose="05050102010706020507" pitchFamily="18" charset="2"/>
              </a:rPr>
              <a:t>由</a:t>
            </a:r>
            <a:r>
              <a:rPr lang="zh-CN" altLang="zh-CN" b="1" dirty="0">
                <a:sym typeface="Symbol" panose="05050102010706020507" pitchFamily="18" charset="2"/>
              </a:rPr>
              <a:t>电磁感应定律（</a:t>
            </a:r>
            <a:r>
              <a:rPr lang="en-US" altLang="zh-CN" b="1" dirty="0" err="1">
                <a:solidFill>
                  <a:srgbClr val="FF3300"/>
                </a:solidFill>
                <a:sym typeface="Symbol" panose="05050102010706020507" pitchFamily="18" charset="2"/>
              </a:rPr>
              <a:t>Faradys</a:t>
            </a:r>
            <a:r>
              <a:rPr lang="en-US" altLang="zh-CN" b="1" dirty="0">
                <a:solidFill>
                  <a:srgbClr val="FF3300"/>
                </a:solidFill>
                <a:sym typeface="Symbol" panose="05050102010706020507" pitchFamily="18" charset="2"/>
              </a:rPr>
              <a:t>  law</a:t>
            </a:r>
            <a:r>
              <a:rPr lang="zh-CN" altLang="en-US" b="1" dirty="0">
                <a:sym typeface="Symbol" panose="05050102010706020507" pitchFamily="18" charset="2"/>
              </a:rPr>
              <a:t>）</a:t>
            </a:r>
            <a:r>
              <a:rPr lang="zh-CN" altLang="zh-CN" b="1" dirty="0">
                <a:sym typeface="Symbol" panose="05050102010706020507" pitchFamily="18" charset="2"/>
              </a:rPr>
              <a:t>和楞次定律（</a:t>
            </a:r>
            <a:r>
              <a:rPr lang="en-US" altLang="zh-CN" b="1" dirty="0" err="1">
                <a:solidFill>
                  <a:srgbClr val="FF3300"/>
                </a:solidFill>
                <a:sym typeface="Symbol" panose="05050102010706020507" pitchFamily="18" charset="2"/>
              </a:rPr>
              <a:t>Lenzs</a:t>
            </a:r>
            <a:r>
              <a:rPr lang="en-US" altLang="zh-CN" b="1" dirty="0">
                <a:solidFill>
                  <a:srgbClr val="FF3300"/>
                </a:solidFill>
                <a:sym typeface="Symbol" panose="05050102010706020507" pitchFamily="18" charset="2"/>
              </a:rPr>
              <a:t> law</a:t>
            </a:r>
            <a:r>
              <a:rPr lang="zh-CN" altLang="en-US" b="1" dirty="0">
                <a:sym typeface="Symbol" panose="05050102010706020507" pitchFamily="18" charset="2"/>
              </a:rPr>
              <a:t>）可得</a:t>
            </a:r>
          </a:p>
        </p:txBody>
      </p:sp>
      <p:grpSp>
        <p:nvGrpSpPr>
          <p:cNvPr id="15" name="Group 66"/>
          <p:cNvGrpSpPr>
            <a:grpSpLocks/>
          </p:cNvGrpSpPr>
          <p:nvPr/>
        </p:nvGrpSpPr>
        <p:grpSpPr bwMode="auto">
          <a:xfrm>
            <a:off x="1567121" y="984363"/>
            <a:ext cx="5881687" cy="2514600"/>
            <a:chOff x="855" y="1008"/>
            <a:chExt cx="3705" cy="1584"/>
          </a:xfrm>
        </p:grpSpPr>
        <p:sp>
          <p:nvSpPr>
            <p:cNvPr id="16" name="Arc 18"/>
            <p:cNvSpPr>
              <a:spLocks/>
            </p:cNvSpPr>
            <p:nvPr/>
          </p:nvSpPr>
          <p:spPr bwMode="auto">
            <a:xfrm flipH="1" flipV="1">
              <a:off x="855" y="124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Rectangle 20"/>
            <p:cNvSpPr>
              <a:spLocks noChangeArrowheads="1"/>
            </p:cNvSpPr>
            <p:nvPr/>
          </p:nvSpPr>
          <p:spPr bwMode="auto">
            <a:xfrm>
              <a:off x="1248" y="1296"/>
              <a:ext cx="2496" cy="57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 name="Group 34"/>
            <p:cNvGrpSpPr>
              <a:grpSpLocks/>
            </p:cNvGrpSpPr>
            <p:nvPr/>
          </p:nvGrpSpPr>
          <p:grpSpPr bwMode="auto">
            <a:xfrm>
              <a:off x="1420" y="1152"/>
              <a:ext cx="904" cy="1220"/>
              <a:chOff x="1420" y="1152"/>
              <a:chExt cx="904" cy="1220"/>
            </a:xfrm>
          </p:grpSpPr>
          <p:sp>
            <p:nvSpPr>
              <p:cNvPr id="48" name="Freeform 22"/>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24"/>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26"/>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7"/>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8"/>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9"/>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31"/>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Oval 32"/>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33"/>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 name="Group 35"/>
            <p:cNvGrpSpPr>
              <a:grpSpLocks/>
            </p:cNvGrpSpPr>
            <p:nvPr/>
          </p:nvGrpSpPr>
          <p:grpSpPr bwMode="auto">
            <a:xfrm>
              <a:off x="2688" y="1152"/>
              <a:ext cx="904" cy="1220"/>
              <a:chOff x="1420" y="1152"/>
              <a:chExt cx="904" cy="1220"/>
            </a:xfrm>
          </p:grpSpPr>
          <p:sp>
            <p:nvSpPr>
              <p:cNvPr id="39" name="Freeform 36"/>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37"/>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38"/>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39"/>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40"/>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41"/>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42"/>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Oval 43"/>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Oval 44"/>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 name="Arc 45"/>
            <p:cNvSpPr>
              <a:spLocks/>
            </p:cNvSpPr>
            <p:nvPr/>
          </p:nvSpPr>
          <p:spPr bwMode="auto">
            <a:xfrm flipH="1" flipV="1">
              <a:off x="864" y="1344"/>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46"/>
            <p:cNvSpPr>
              <a:spLocks noChangeShapeType="1"/>
            </p:cNvSpPr>
            <p:nvPr/>
          </p:nvSpPr>
          <p:spPr bwMode="auto">
            <a:xfrm flipH="1">
              <a:off x="864" y="1584"/>
              <a:ext cx="3312" cy="0"/>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rc 47"/>
            <p:cNvSpPr>
              <a:spLocks/>
            </p:cNvSpPr>
            <p:nvPr/>
          </p:nvSpPr>
          <p:spPr bwMode="auto">
            <a:xfrm flipH="1">
              <a:off x="864" y="172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rc 48"/>
            <p:cNvSpPr>
              <a:spLocks/>
            </p:cNvSpPr>
            <p:nvPr/>
          </p:nvSpPr>
          <p:spPr bwMode="auto">
            <a:xfrm flipH="1">
              <a:off x="864" y="1632"/>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rc 51"/>
            <p:cNvSpPr>
              <a:spLocks/>
            </p:cNvSpPr>
            <p:nvPr/>
          </p:nvSpPr>
          <p:spPr bwMode="auto">
            <a:xfrm flipV="1">
              <a:off x="1392" y="1776"/>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rc 52"/>
            <p:cNvSpPr>
              <a:spLocks/>
            </p:cNvSpPr>
            <p:nvPr/>
          </p:nvSpPr>
          <p:spPr bwMode="auto">
            <a:xfrm>
              <a:off x="1344" y="1008"/>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Text Box 53"/>
            <p:cNvSpPr txBox="1">
              <a:spLocks noChangeArrowheads="1"/>
            </p:cNvSpPr>
            <p:nvPr/>
          </p:nvSpPr>
          <p:spPr bwMode="auto">
            <a:xfrm>
              <a:off x="1344"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28" name="Text Box 54"/>
            <p:cNvSpPr txBox="1">
              <a:spLocks noChangeArrowheads="1"/>
            </p:cNvSpPr>
            <p:nvPr/>
          </p:nvSpPr>
          <p:spPr bwMode="auto">
            <a:xfrm>
              <a:off x="216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29" name="Text Box 55"/>
            <p:cNvSpPr txBox="1">
              <a:spLocks noChangeArrowheads="1"/>
            </p:cNvSpPr>
            <p:nvPr/>
          </p:nvSpPr>
          <p:spPr bwMode="auto">
            <a:xfrm>
              <a:off x="1680"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11</a:t>
              </a:r>
              <a:endParaRPr lang="en-US" altLang="zh-CN" b="1"/>
            </a:p>
          </p:txBody>
        </p:sp>
        <p:sp>
          <p:nvSpPr>
            <p:cNvPr id="30" name="Text Box 56"/>
            <p:cNvSpPr txBox="1">
              <a:spLocks noChangeArrowheads="1"/>
            </p:cNvSpPr>
            <p:nvPr/>
          </p:nvSpPr>
          <p:spPr bwMode="auto">
            <a:xfrm>
              <a:off x="264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31" name="Text Box 57"/>
            <p:cNvSpPr txBox="1">
              <a:spLocks noChangeArrowheads="1"/>
            </p:cNvSpPr>
            <p:nvPr/>
          </p:nvSpPr>
          <p:spPr bwMode="auto">
            <a:xfrm>
              <a:off x="3456"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32" name="Text Box 58"/>
            <p:cNvSpPr txBox="1">
              <a:spLocks noChangeArrowheads="1"/>
            </p:cNvSpPr>
            <p:nvPr/>
          </p:nvSpPr>
          <p:spPr bwMode="auto">
            <a:xfrm>
              <a:off x="2976"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21</a:t>
              </a:r>
              <a:endParaRPr lang="en-US" altLang="zh-CN" b="1"/>
            </a:p>
          </p:txBody>
        </p:sp>
        <p:sp>
          <p:nvSpPr>
            <p:cNvPr id="33" name="Line 59"/>
            <p:cNvSpPr>
              <a:spLocks noChangeShapeType="1"/>
            </p:cNvSpPr>
            <p:nvPr/>
          </p:nvSpPr>
          <p:spPr bwMode="auto">
            <a:xfrm flipV="1">
              <a:off x="1344" y="2016"/>
              <a:ext cx="0" cy="336"/>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60"/>
            <p:cNvSpPr txBox="1">
              <a:spLocks noChangeArrowheads="1"/>
            </p:cNvSpPr>
            <p:nvPr/>
          </p:nvSpPr>
          <p:spPr bwMode="auto">
            <a:xfrm>
              <a:off x="1104" y="20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rPr>
                <a:t>i</a:t>
              </a:r>
              <a:r>
                <a:rPr lang="en-US" altLang="zh-CN" b="1" baseline="-25000">
                  <a:solidFill>
                    <a:schemeClr val="accent2"/>
                  </a:solidFill>
                </a:rPr>
                <a:t>1</a:t>
              </a:r>
              <a:endParaRPr lang="en-US" altLang="zh-CN" b="1">
                <a:solidFill>
                  <a:schemeClr val="accent2"/>
                </a:solidFill>
              </a:endParaRPr>
            </a:p>
          </p:txBody>
        </p:sp>
        <p:sp>
          <p:nvSpPr>
            <p:cNvPr id="35" name="Text Box 62"/>
            <p:cNvSpPr txBox="1">
              <a:spLocks noChangeArrowheads="1"/>
            </p:cNvSpPr>
            <p:nvPr/>
          </p:nvSpPr>
          <p:spPr bwMode="auto">
            <a:xfrm>
              <a:off x="864" y="10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11</a:t>
              </a:r>
              <a:endParaRPr lang="en-US" altLang="zh-CN" b="1">
                <a:solidFill>
                  <a:schemeClr val="accent2"/>
                </a:solidFill>
              </a:endParaRPr>
            </a:p>
          </p:txBody>
        </p:sp>
        <p:sp>
          <p:nvSpPr>
            <p:cNvPr id="36" name="Text Box 63"/>
            <p:cNvSpPr txBox="1">
              <a:spLocks noChangeArrowheads="1"/>
            </p:cNvSpPr>
            <p:nvPr/>
          </p:nvSpPr>
          <p:spPr bwMode="auto">
            <a:xfrm>
              <a:off x="4128" y="144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 21</a:t>
              </a:r>
            </a:p>
          </p:txBody>
        </p:sp>
        <p:sp>
          <p:nvSpPr>
            <p:cNvPr id="37" name="Text Box 64"/>
            <p:cNvSpPr txBox="1">
              <a:spLocks noChangeArrowheads="1"/>
            </p:cNvSpPr>
            <p:nvPr/>
          </p:nvSpPr>
          <p:spPr bwMode="auto">
            <a:xfrm>
              <a:off x="1680" y="182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1</a:t>
              </a:r>
              <a:endParaRPr lang="en-US" altLang="zh-CN" b="1"/>
            </a:p>
          </p:txBody>
        </p:sp>
        <p:sp>
          <p:nvSpPr>
            <p:cNvPr id="38" name="Text Box 65"/>
            <p:cNvSpPr txBox="1">
              <a:spLocks noChangeArrowheads="1"/>
            </p:cNvSpPr>
            <p:nvPr/>
          </p:nvSpPr>
          <p:spPr bwMode="auto">
            <a:xfrm>
              <a:off x="2976" y="18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2</a:t>
              </a:r>
              <a:endParaRPr lang="en-US" altLang="zh-CN" b="1"/>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47106"/>
                                        </p:tgtEl>
                                        <p:attrNameLst>
                                          <p:attrName>style.visibility</p:attrName>
                                        </p:attrNameLst>
                                      </p:cBhvr>
                                      <p:to>
                                        <p:strVal val="visible"/>
                                      </p:to>
                                    </p:set>
                                    <p:animEffect transition="in" filter="slide(fromLeft)">
                                      <p:cBhvr>
                                        <p:cTn id="12" dur="500"/>
                                        <p:tgtEl>
                                          <p:spTgt spid="4710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7114"/>
                                        </p:tgtEl>
                                        <p:attrNameLst>
                                          <p:attrName>style.visibility</p:attrName>
                                        </p:attrNameLst>
                                      </p:cBhvr>
                                      <p:to>
                                        <p:strVal val="visible"/>
                                      </p:to>
                                    </p:set>
                                    <p:animEffect transition="in" filter="wipe(left)">
                                      <p:cBhvr>
                                        <p:cTn id="21" dur="500"/>
                                        <p:tgtEl>
                                          <p:spTgt spid="47114"/>
                                        </p:tgtEl>
                                      </p:cBhvr>
                                    </p:animEffect>
                                  </p:childTnLst>
                                </p:cTn>
                              </p:par>
                            </p:childTnLst>
                          </p:cTn>
                        </p:par>
                        <p:par>
                          <p:cTn id="22" fill="hold" nodeType="afterGroup">
                            <p:stCondLst>
                              <p:cond delay="500"/>
                            </p:stCondLst>
                            <p:childTnLst>
                              <p:par>
                                <p:cTn id="23" presetID="12" presetClass="entr" presetSubtype="8" fill="hold" nodeType="afterEffect">
                                  <p:stCondLst>
                                    <p:cond delay="0"/>
                                  </p:stCondLst>
                                  <p:childTnLst>
                                    <p:set>
                                      <p:cBhvr>
                                        <p:cTn id="24" dur="1" fill="hold">
                                          <p:stCondLst>
                                            <p:cond delay="0"/>
                                          </p:stCondLst>
                                        </p:cTn>
                                        <p:tgtEl>
                                          <p:spTgt spid="47113"/>
                                        </p:tgtEl>
                                        <p:attrNameLst>
                                          <p:attrName>style.visibility</p:attrName>
                                        </p:attrNameLst>
                                      </p:cBhvr>
                                      <p:to>
                                        <p:strVal val="visible"/>
                                      </p:to>
                                    </p:set>
                                    <p:animEffect transition="in" filter="slide(fromLeft)">
                                      <p:cBhvr>
                                        <p:cTn id="25" dur="500"/>
                                        <p:tgtEl>
                                          <p:spTgt spid="471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7115"/>
                                        </p:tgtEl>
                                        <p:attrNameLst>
                                          <p:attrName>style.visibility</p:attrName>
                                        </p:attrNameLst>
                                      </p:cBhvr>
                                      <p:to>
                                        <p:strVal val="visible"/>
                                      </p:to>
                                    </p:set>
                                    <p:animEffect transition="in" filter="wipe(left)">
                                      <p:cBhvr>
                                        <p:cTn id="30" dur="500"/>
                                        <p:tgtEl>
                                          <p:spTgt spid="47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4" grpId="0" autoUpdateAnimBg="0"/>
      <p:bldP spid="47115" grpId="0" autoUpdateAnimBg="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p:cNvSpPr txBox="1">
            <a:spLocks noChangeArrowheads="1"/>
          </p:cNvSpPr>
          <p:nvPr/>
        </p:nvSpPr>
        <p:spPr bwMode="auto">
          <a:xfrm>
            <a:off x="361950" y="2634051"/>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t>当线圈周围无铁磁物质（空心线圈）时，有</a:t>
            </a:r>
          </a:p>
        </p:txBody>
      </p:sp>
      <p:graphicFrame>
        <p:nvGraphicFramePr>
          <p:cNvPr id="47108" name="Object 4"/>
          <p:cNvGraphicFramePr>
            <a:graphicFrameLocks noChangeAspect="1"/>
          </p:cNvGraphicFramePr>
          <p:nvPr>
            <p:extLst>
              <p:ext uri="{D42A27DB-BD31-4B8C-83A1-F6EECF244321}">
                <p14:modId xmlns:p14="http://schemas.microsoft.com/office/powerpoint/2010/main" val="2391272612"/>
              </p:ext>
            </p:extLst>
          </p:nvPr>
        </p:nvGraphicFramePr>
        <p:xfrm>
          <a:off x="1198563" y="3091251"/>
          <a:ext cx="1811337" cy="969963"/>
        </p:xfrm>
        <a:graphic>
          <a:graphicData uri="http://schemas.openxmlformats.org/presentationml/2006/ole">
            <mc:AlternateContent xmlns:mc="http://schemas.openxmlformats.org/markup-compatibility/2006">
              <mc:Choice xmlns:v="urn:schemas-microsoft-com:vml" Requires="v">
                <p:oleObj spid="_x0000_s121882" name="Equation" r:id="rId3" imgW="901440" imgH="482400" progId="Equation.3">
                  <p:embed/>
                </p:oleObj>
              </mc:Choice>
              <mc:Fallback>
                <p:oleObj name="Equation" r:id="rId3" imgW="901440" imgH="482400" progId="Equation.3">
                  <p:embed/>
                  <p:pic>
                    <p:nvPicPr>
                      <p:cNvPr id="471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3091251"/>
                        <a:ext cx="1811337"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9" name="Text Box 5"/>
          <p:cNvSpPr txBox="1">
            <a:spLocks noChangeArrowheads="1"/>
          </p:cNvSpPr>
          <p:nvPr/>
        </p:nvSpPr>
        <p:spPr bwMode="auto">
          <a:xfrm>
            <a:off x="2987675" y="4211167"/>
            <a:ext cx="4732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b="1"/>
              <a:t>—</a:t>
            </a:r>
            <a:r>
              <a:rPr lang="zh-CN" altLang="en-US" b="1"/>
              <a:t>线圈</a:t>
            </a:r>
            <a:r>
              <a:rPr lang="en-US" altLang="zh-CN" b="1"/>
              <a:t>1</a:t>
            </a:r>
            <a:r>
              <a:rPr lang="zh-CN" altLang="en-US" b="1"/>
              <a:t>对线圈</a:t>
            </a:r>
            <a:r>
              <a:rPr lang="en-US" altLang="zh-CN" b="1"/>
              <a:t>2</a:t>
            </a:r>
            <a:r>
              <a:rPr lang="zh-CN" altLang="en-US" b="1"/>
              <a:t>的互感系数</a:t>
            </a:r>
          </a:p>
        </p:txBody>
      </p:sp>
      <p:sp>
        <p:nvSpPr>
          <p:cNvPr id="47110" name="Text Box 6"/>
          <p:cNvSpPr txBox="1">
            <a:spLocks noChangeArrowheads="1"/>
          </p:cNvSpPr>
          <p:nvPr/>
        </p:nvSpPr>
        <p:spPr bwMode="auto">
          <a:xfrm>
            <a:off x="7386638" y="3690510"/>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单位：</a:t>
            </a:r>
            <a:r>
              <a:rPr lang="en-US" altLang="zh-CN" b="1">
                <a:solidFill>
                  <a:srgbClr val="FF3300"/>
                </a:solidFill>
              </a:rPr>
              <a:t>H</a:t>
            </a:r>
          </a:p>
        </p:txBody>
      </p:sp>
      <p:graphicFrame>
        <p:nvGraphicFramePr>
          <p:cNvPr id="47116" name="Object 12"/>
          <p:cNvGraphicFramePr>
            <a:graphicFrameLocks noChangeAspect="1"/>
          </p:cNvGraphicFramePr>
          <p:nvPr>
            <p:extLst>
              <p:ext uri="{D42A27DB-BD31-4B8C-83A1-F6EECF244321}">
                <p14:modId xmlns:p14="http://schemas.microsoft.com/office/powerpoint/2010/main" val="2558289256"/>
              </p:ext>
            </p:extLst>
          </p:nvPr>
        </p:nvGraphicFramePr>
        <p:xfrm>
          <a:off x="522288" y="5049324"/>
          <a:ext cx="3346450" cy="1682750"/>
        </p:xfrm>
        <a:graphic>
          <a:graphicData uri="http://schemas.openxmlformats.org/presentationml/2006/ole">
            <mc:AlternateContent xmlns:mc="http://schemas.openxmlformats.org/markup-compatibility/2006">
              <mc:Choice xmlns:v="urn:schemas-microsoft-com:vml" Requires="v">
                <p:oleObj spid="_x0000_s121883" name="Equation" r:id="rId5" imgW="1663560" imgH="838080" progId="Equation.3">
                  <p:embed/>
                </p:oleObj>
              </mc:Choice>
              <mc:Fallback>
                <p:oleObj name="Equation" r:id="rId5" imgW="1663560" imgH="838080" progId="Equation.3">
                  <p:embed/>
                  <p:pic>
                    <p:nvPicPr>
                      <p:cNvPr id="47116"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288" y="5049324"/>
                        <a:ext cx="3346450" cy="168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7" name="Text Box 13"/>
          <p:cNvSpPr txBox="1">
            <a:spLocks noChangeArrowheads="1"/>
          </p:cNvSpPr>
          <p:nvPr/>
        </p:nvSpPr>
        <p:spPr bwMode="auto">
          <a:xfrm>
            <a:off x="3009900" y="3299214"/>
            <a:ext cx="4491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b="1"/>
              <a:t>—</a:t>
            </a:r>
            <a:r>
              <a:rPr lang="zh-CN" altLang="en-US" b="1"/>
              <a:t>线圈</a:t>
            </a:r>
            <a:r>
              <a:rPr lang="en-US" altLang="zh-CN" b="1"/>
              <a:t>1</a:t>
            </a:r>
            <a:r>
              <a:rPr lang="zh-CN" altLang="en-US" b="1"/>
              <a:t>的自感系数</a:t>
            </a:r>
          </a:p>
        </p:txBody>
      </p:sp>
      <p:graphicFrame>
        <p:nvGraphicFramePr>
          <p:cNvPr id="47118" name="Object 14"/>
          <p:cNvGraphicFramePr>
            <a:graphicFrameLocks noChangeAspect="1"/>
          </p:cNvGraphicFramePr>
          <p:nvPr>
            <p:extLst>
              <p:ext uri="{D42A27DB-BD31-4B8C-83A1-F6EECF244321}">
                <p14:modId xmlns:p14="http://schemas.microsoft.com/office/powerpoint/2010/main" val="724836903"/>
              </p:ext>
            </p:extLst>
          </p:nvPr>
        </p:nvGraphicFramePr>
        <p:xfrm>
          <a:off x="1238250" y="4015905"/>
          <a:ext cx="1863725" cy="969962"/>
        </p:xfrm>
        <a:graphic>
          <a:graphicData uri="http://schemas.openxmlformats.org/presentationml/2006/ole">
            <mc:AlternateContent xmlns:mc="http://schemas.openxmlformats.org/markup-compatibility/2006">
              <mc:Choice xmlns:v="urn:schemas-microsoft-com:vml" Requires="v">
                <p:oleObj spid="_x0000_s121884" name="Equation" r:id="rId7" imgW="927000" imgH="482400" progId="Equation.3">
                  <p:embed/>
                </p:oleObj>
              </mc:Choice>
              <mc:Fallback>
                <p:oleObj name="Equation" r:id="rId7" imgW="927000" imgH="482400" progId="Equation.3">
                  <p:embed/>
                  <p:pic>
                    <p:nvPicPr>
                      <p:cNvPr id="47118"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8250" y="4015905"/>
                        <a:ext cx="1863725"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9" name="AutoShape 15"/>
          <p:cNvSpPr>
            <a:spLocks/>
          </p:cNvSpPr>
          <p:nvPr/>
        </p:nvSpPr>
        <p:spPr bwMode="auto">
          <a:xfrm>
            <a:off x="7067550" y="3272997"/>
            <a:ext cx="319088" cy="1165225"/>
          </a:xfrm>
          <a:prstGeom prst="rightBrace">
            <a:avLst>
              <a:gd name="adj1" fmla="val 30431"/>
              <a:gd name="adj2" fmla="val 54903"/>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 name="Group 66"/>
          <p:cNvGrpSpPr>
            <a:grpSpLocks/>
          </p:cNvGrpSpPr>
          <p:nvPr/>
        </p:nvGrpSpPr>
        <p:grpSpPr bwMode="auto">
          <a:xfrm>
            <a:off x="1838326" y="111125"/>
            <a:ext cx="5881687" cy="2514600"/>
            <a:chOff x="855" y="1008"/>
            <a:chExt cx="3705" cy="1584"/>
          </a:xfrm>
        </p:grpSpPr>
        <p:sp>
          <p:nvSpPr>
            <p:cNvPr id="16" name="Arc 18"/>
            <p:cNvSpPr>
              <a:spLocks/>
            </p:cNvSpPr>
            <p:nvPr/>
          </p:nvSpPr>
          <p:spPr bwMode="auto">
            <a:xfrm flipH="1" flipV="1">
              <a:off x="855" y="124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Rectangle 20"/>
            <p:cNvSpPr>
              <a:spLocks noChangeArrowheads="1"/>
            </p:cNvSpPr>
            <p:nvPr/>
          </p:nvSpPr>
          <p:spPr bwMode="auto">
            <a:xfrm>
              <a:off x="1248" y="1296"/>
              <a:ext cx="2496" cy="57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 name="Group 34"/>
            <p:cNvGrpSpPr>
              <a:grpSpLocks/>
            </p:cNvGrpSpPr>
            <p:nvPr/>
          </p:nvGrpSpPr>
          <p:grpSpPr bwMode="auto">
            <a:xfrm>
              <a:off x="1420" y="1152"/>
              <a:ext cx="904" cy="1220"/>
              <a:chOff x="1420" y="1152"/>
              <a:chExt cx="904" cy="1220"/>
            </a:xfrm>
          </p:grpSpPr>
          <p:sp>
            <p:nvSpPr>
              <p:cNvPr id="48" name="Freeform 22"/>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24"/>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26"/>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7"/>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8"/>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9"/>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31"/>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Oval 32"/>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33"/>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 name="Group 35"/>
            <p:cNvGrpSpPr>
              <a:grpSpLocks/>
            </p:cNvGrpSpPr>
            <p:nvPr/>
          </p:nvGrpSpPr>
          <p:grpSpPr bwMode="auto">
            <a:xfrm>
              <a:off x="2688" y="1152"/>
              <a:ext cx="904" cy="1220"/>
              <a:chOff x="1420" y="1152"/>
              <a:chExt cx="904" cy="1220"/>
            </a:xfrm>
          </p:grpSpPr>
          <p:sp>
            <p:nvSpPr>
              <p:cNvPr id="39" name="Freeform 36"/>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37"/>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38"/>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39"/>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40"/>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41"/>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42"/>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Oval 43"/>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Oval 44"/>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 name="Arc 45"/>
            <p:cNvSpPr>
              <a:spLocks/>
            </p:cNvSpPr>
            <p:nvPr/>
          </p:nvSpPr>
          <p:spPr bwMode="auto">
            <a:xfrm flipH="1" flipV="1">
              <a:off x="864" y="1344"/>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46"/>
            <p:cNvSpPr>
              <a:spLocks noChangeShapeType="1"/>
            </p:cNvSpPr>
            <p:nvPr/>
          </p:nvSpPr>
          <p:spPr bwMode="auto">
            <a:xfrm flipH="1">
              <a:off x="864" y="1584"/>
              <a:ext cx="3312" cy="0"/>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rc 47"/>
            <p:cNvSpPr>
              <a:spLocks/>
            </p:cNvSpPr>
            <p:nvPr/>
          </p:nvSpPr>
          <p:spPr bwMode="auto">
            <a:xfrm flipH="1">
              <a:off x="864" y="1728"/>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rc 48"/>
            <p:cNvSpPr>
              <a:spLocks/>
            </p:cNvSpPr>
            <p:nvPr/>
          </p:nvSpPr>
          <p:spPr bwMode="auto">
            <a:xfrm flipH="1">
              <a:off x="864" y="1632"/>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rc 51"/>
            <p:cNvSpPr>
              <a:spLocks/>
            </p:cNvSpPr>
            <p:nvPr/>
          </p:nvSpPr>
          <p:spPr bwMode="auto">
            <a:xfrm flipV="1">
              <a:off x="1392" y="1776"/>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rc 52"/>
            <p:cNvSpPr>
              <a:spLocks/>
            </p:cNvSpPr>
            <p:nvPr/>
          </p:nvSpPr>
          <p:spPr bwMode="auto">
            <a:xfrm>
              <a:off x="1344" y="1008"/>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Text Box 53"/>
            <p:cNvSpPr txBox="1">
              <a:spLocks noChangeArrowheads="1"/>
            </p:cNvSpPr>
            <p:nvPr/>
          </p:nvSpPr>
          <p:spPr bwMode="auto">
            <a:xfrm>
              <a:off x="1344"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28" name="Text Box 54"/>
            <p:cNvSpPr txBox="1">
              <a:spLocks noChangeArrowheads="1"/>
            </p:cNvSpPr>
            <p:nvPr/>
          </p:nvSpPr>
          <p:spPr bwMode="auto">
            <a:xfrm>
              <a:off x="216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29" name="Text Box 55"/>
            <p:cNvSpPr txBox="1">
              <a:spLocks noChangeArrowheads="1"/>
            </p:cNvSpPr>
            <p:nvPr/>
          </p:nvSpPr>
          <p:spPr bwMode="auto">
            <a:xfrm>
              <a:off x="1680"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11</a:t>
              </a:r>
              <a:endParaRPr lang="en-US" altLang="zh-CN" b="1"/>
            </a:p>
          </p:txBody>
        </p:sp>
        <p:sp>
          <p:nvSpPr>
            <p:cNvPr id="30" name="Text Box 56"/>
            <p:cNvSpPr txBox="1">
              <a:spLocks noChangeArrowheads="1"/>
            </p:cNvSpPr>
            <p:nvPr/>
          </p:nvSpPr>
          <p:spPr bwMode="auto">
            <a:xfrm>
              <a:off x="2640"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31" name="Text Box 57"/>
            <p:cNvSpPr txBox="1">
              <a:spLocks noChangeArrowheads="1"/>
            </p:cNvSpPr>
            <p:nvPr/>
          </p:nvSpPr>
          <p:spPr bwMode="auto">
            <a:xfrm>
              <a:off x="3456" y="23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32" name="Text Box 58"/>
            <p:cNvSpPr txBox="1">
              <a:spLocks noChangeArrowheads="1"/>
            </p:cNvSpPr>
            <p:nvPr/>
          </p:nvSpPr>
          <p:spPr bwMode="auto">
            <a:xfrm>
              <a:off x="2976"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21</a:t>
              </a:r>
              <a:endParaRPr lang="en-US" altLang="zh-CN" b="1"/>
            </a:p>
          </p:txBody>
        </p:sp>
        <p:sp>
          <p:nvSpPr>
            <p:cNvPr id="33" name="Line 59"/>
            <p:cNvSpPr>
              <a:spLocks noChangeShapeType="1"/>
            </p:cNvSpPr>
            <p:nvPr/>
          </p:nvSpPr>
          <p:spPr bwMode="auto">
            <a:xfrm flipV="1">
              <a:off x="1344" y="2016"/>
              <a:ext cx="0" cy="336"/>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60"/>
            <p:cNvSpPr txBox="1">
              <a:spLocks noChangeArrowheads="1"/>
            </p:cNvSpPr>
            <p:nvPr/>
          </p:nvSpPr>
          <p:spPr bwMode="auto">
            <a:xfrm>
              <a:off x="1104" y="20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rPr>
                <a:t>i</a:t>
              </a:r>
              <a:r>
                <a:rPr lang="en-US" altLang="zh-CN" b="1" baseline="-25000">
                  <a:solidFill>
                    <a:schemeClr val="accent2"/>
                  </a:solidFill>
                </a:rPr>
                <a:t>1</a:t>
              </a:r>
              <a:endParaRPr lang="en-US" altLang="zh-CN" b="1">
                <a:solidFill>
                  <a:schemeClr val="accent2"/>
                </a:solidFill>
              </a:endParaRPr>
            </a:p>
          </p:txBody>
        </p:sp>
        <p:sp>
          <p:nvSpPr>
            <p:cNvPr id="35" name="Text Box 62"/>
            <p:cNvSpPr txBox="1">
              <a:spLocks noChangeArrowheads="1"/>
            </p:cNvSpPr>
            <p:nvPr/>
          </p:nvSpPr>
          <p:spPr bwMode="auto">
            <a:xfrm>
              <a:off x="864" y="10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11</a:t>
              </a:r>
              <a:endParaRPr lang="en-US" altLang="zh-CN" b="1">
                <a:solidFill>
                  <a:schemeClr val="accent2"/>
                </a:solidFill>
              </a:endParaRPr>
            </a:p>
          </p:txBody>
        </p:sp>
        <p:sp>
          <p:nvSpPr>
            <p:cNvPr id="36" name="Text Box 63"/>
            <p:cNvSpPr txBox="1">
              <a:spLocks noChangeArrowheads="1"/>
            </p:cNvSpPr>
            <p:nvPr/>
          </p:nvSpPr>
          <p:spPr bwMode="auto">
            <a:xfrm>
              <a:off x="4128" y="144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 21</a:t>
              </a:r>
            </a:p>
          </p:txBody>
        </p:sp>
        <p:sp>
          <p:nvSpPr>
            <p:cNvPr id="37" name="Text Box 64"/>
            <p:cNvSpPr txBox="1">
              <a:spLocks noChangeArrowheads="1"/>
            </p:cNvSpPr>
            <p:nvPr/>
          </p:nvSpPr>
          <p:spPr bwMode="auto">
            <a:xfrm>
              <a:off x="1680" y="182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1</a:t>
              </a:r>
              <a:endParaRPr lang="en-US" altLang="zh-CN" b="1"/>
            </a:p>
          </p:txBody>
        </p:sp>
        <p:sp>
          <p:nvSpPr>
            <p:cNvPr id="38" name="Text Box 65"/>
            <p:cNvSpPr txBox="1">
              <a:spLocks noChangeArrowheads="1"/>
            </p:cNvSpPr>
            <p:nvPr/>
          </p:nvSpPr>
          <p:spPr bwMode="auto">
            <a:xfrm>
              <a:off x="2976" y="18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2</a:t>
              </a:r>
              <a:endParaRPr lang="en-US" altLang="zh-CN" b="1"/>
            </a:p>
          </p:txBody>
        </p:sp>
      </p:grpSp>
    </p:spTree>
    <p:extLst>
      <p:ext uri="{BB962C8B-B14F-4D97-AF65-F5344CB8AC3E}">
        <p14:creationId xmlns:p14="http://schemas.microsoft.com/office/powerpoint/2010/main" val="2935124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grpId="0" nodeType="clickEffect">
                                  <p:stCondLst>
                                    <p:cond delay="0"/>
                                  </p:stCondLst>
                                  <p:childTnLst>
                                    <p:set>
                                      <p:cBhvr>
                                        <p:cTn id="12" dur="1" fill="hold">
                                          <p:stCondLst>
                                            <p:cond delay="0"/>
                                          </p:stCondLst>
                                        </p:cTn>
                                        <p:tgtEl>
                                          <p:spTgt spid="47107"/>
                                        </p:tgtEl>
                                        <p:attrNameLst>
                                          <p:attrName>style.visibility</p:attrName>
                                        </p:attrNameLst>
                                      </p:cBhvr>
                                      <p:to>
                                        <p:strVal val="visible"/>
                                      </p:to>
                                    </p:set>
                                    <p:animEffect transition="in" filter="slide(fromRight)">
                                      <p:cBhvr>
                                        <p:cTn id="13" dur="500"/>
                                        <p:tgtEl>
                                          <p:spTgt spid="4710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7108"/>
                                        </p:tgtEl>
                                        <p:attrNameLst>
                                          <p:attrName>style.visibility</p:attrName>
                                        </p:attrNameLst>
                                      </p:cBhvr>
                                      <p:to>
                                        <p:strVal val="visible"/>
                                      </p:to>
                                    </p:set>
                                    <p:animEffect transition="in" filter="blinds(horizontal)">
                                      <p:cBhvr>
                                        <p:cTn id="18" dur="500"/>
                                        <p:tgtEl>
                                          <p:spTgt spid="471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47117"/>
                                        </p:tgtEl>
                                        <p:attrNameLst>
                                          <p:attrName>style.visibility</p:attrName>
                                        </p:attrNameLst>
                                      </p:cBhvr>
                                      <p:to>
                                        <p:strVal val="visible"/>
                                      </p:to>
                                    </p:set>
                                    <p:anim calcmode="lin" valueType="num">
                                      <p:cBhvr>
                                        <p:cTn id="23" dur="500" fill="hold"/>
                                        <p:tgtEl>
                                          <p:spTgt spid="47117"/>
                                        </p:tgtEl>
                                        <p:attrNameLst>
                                          <p:attrName>ppt_w</p:attrName>
                                        </p:attrNameLst>
                                      </p:cBhvr>
                                      <p:tavLst>
                                        <p:tav tm="0">
                                          <p:val>
                                            <p:fltVal val="0"/>
                                          </p:val>
                                        </p:tav>
                                        <p:tav tm="100000">
                                          <p:val>
                                            <p:strVal val="#ppt_w"/>
                                          </p:val>
                                        </p:tav>
                                      </p:tavLst>
                                    </p:anim>
                                    <p:anim calcmode="lin" valueType="num">
                                      <p:cBhvr>
                                        <p:cTn id="24" dur="500" fill="hold"/>
                                        <p:tgtEl>
                                          <p:spTgt spid="47117"/>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7118"/>
                                        </p:tgtEl>
                                        <p:attrNameLst>
                                          <p:attrName>style.visibility</p:attrName>
                                        </p:attrNameLst>
                                      </p:cBhvr>
                                      <p:to>
                                        <p:strVal val="visible"/>
                                      </p:to>
                                    </p:set>
                                    <p:animEffect transition="in" filter="blinds(horizontal)">
                                      <p:cBhvr>
                                        <p:cTn id="29" dur="500"/>
                                        <p:tgtEl>
                                          <p:spTgt spid="471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47109"/>
                                        </p:tgtEl>
                                        <p:attrNameLst>
                                          <p:attrName>style.visibility</p:attrName>
                                        </p:attrNameLst>
                                      </p:cBhvr>
                                      <p:to>
                                        <p:strVal val="visible"/>
                                      </p:to>
                                    </p:set>
                                    <p:anim calcmode="lin" valueType="num">
                                      <p:cBhvr>
                                        <p:cTn id="34" dur="500" fill="hold"/>
                                        <p:tgtEl>
                                          <p:spTgt spid="47109"/>
                                        </p:tgtEl>
                                        <p:attrNameLst>
                                          <p:attrName>ppt_w</p:attrName>
                                        </p:attrNameLst>
                                      </p:cBhvr>
                                      <p:tavLst>
                                        <p:tav tm="0">
                                          <p:val>
                                            <p:fltVal val="0"/>
                                          </p:val>
                                        </p:tav>
                                        <p:tav tm="100000">
                                          <p:val>
                                            <p:strVal val="#ppt_w"/>
                                          </p:val>
                                        </p:tav>
                                      </p:tavLst>
                                    </p:anim>
                                    <p:anim calcmode="lin" valueType="num">
                                      <p:cBhvr>
                                        <p:cTn id="35" dur="500" fill="hold"/>
                                        <p:tgtEl>
                                          <p:spTgt spid="47109"/>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nodeType="clickEffect">
                                  <p:stCondLst>
                                    <p:cond delay="0"/>
                                  </p:stCondLst>
                                  <p:childTnLst>
                                    <p:set>
                                      <p:cBhvr>
                                        <p:cTn id="39" dur="1" fill="hold">
                                          <p:stCondLst>
                                            <p:cond delay="0"/>
                                          </p:stCondLst>
                                        </p:cTn>
                                        <p:tgtEl>
                                          <p:spTgt spid="47119"/>
                                        </p:tgtEl>
                                        <p:attrNameLst>
                                          <p:attrName>style.visibility</p:attrName>
                                        </p:attrNameLst>
                                      </p:cBhvr>
                                      <p:to>
                                        <p:strVal val="visible"/>
                                      </p:to>
                                    </p:set>
                                    <p:anim calcmode="lin" valueType="num">
                                      <p:cBhvr additive="base">
                                        <p:cTn id="40" dur="500" fill="hold"/>
                                        <p:tgtEl>
                                          <p:spTgt spid="47119"/>
                                        </p:tgtEl>
                                        <p:attrNameLst>
                                          <p:attrName>ppt_x</p:attrName>
                                        </p:attrNameLst>
                                      </p:cBhvr>
                                      <p:tavLst>
                                        <p:tav tm="0">
                                          <p:val>
                                            <p:strVal val="1+#ppt_w/2"/>
                                          </p:val>
                                        </p:tav>
                                        <p:tav tm="100000">
                                          <p:val>
                                            <p:strVal val="#ppt_x"/>
                                          </p:val>
                                        </p:tav>
                                      </p:tavLst>
                                    </p:anim>
                                    <p:anim calcmode="lin" valueType="num">
                                      <p:cBhvr additive="base">
                                        <p:cTn id="41" dur="500" fill="hold"/>
                                        <p:tgtEl>
                                          <p:spTgt spid="47119"/>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47110"/>
                                        </p:tgtEl>
                                        <p:attrNameLst>
                                          <p:attrName>style.visibility</p:attrName>
                                        </p:attrNameLst>
                                      </p:cBhvr>
                                      <p:to>
                                        <p:strVal val="visible"/>
                                      </p:to>
                                    </p:set>
                                    <p:animEffect transition="in" filter="checkerboard(across)">
                                      <p:cBhvr>
                                        <p:cTn id="46" dur="500"/>
                                        <p:tgtEl>
                                          <p:spTgt spid="4711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47116"/>
                                        </p:tgtEl>
                                        <p:attrNameLst>
                                          <p:attrName>style.visibility</p:attrName>
                                        </p:attrNameLst>
                                      </p:cBhvr>
                                      <p:to>
                                        <p:strVal val="visible"/>
                                      </p:to>
                                    </p:set>
                                    <p:animEffect transition="in" filter="blinds(horizontal)">
                                      <p:cBhvr>
                                        <p:cTn id="51" dur="500"/>
                                        <p:tgtEl>
                                          <p:spTgt spid="47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utoUpdateAnimBg="0"/>
      <p:bldP spid="47109" grpId="0" autoUpdateAnimBg="0"/>
      <p:bldP spid="47110" grpId="0" autoUpdateAnimBg="0"/>
      <p:bldP spid="4711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457200" y="177800"/>
            <a:ext cx="52959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7625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zh-CN" altLang="en-US" b="1"/>
              <a:t>同理，当线圈</a:t>
            </a:r>
            <a:r>
              <a:rPr lang="en-US" altLang="zh-CN" b="1"/>
              <a:t>2</a:t>
            </a:r>
            <a:r>
              <a:rPr lang="zh-CN" altLang="en-US" b="1"/>
              <a:t>中通电流</a:t>
            </a:r>
            <a:r>
              <a:rPr lang="en-US" altLang="zh-CN" b="1" i="1"/>
              <a:t>i</a:t>
            </a:r>
            <a:r>
              <a:rPr lang="en-US" altLang="zh-CN" b="1" baseline="-25000"/>
              <a:t>2</a:t>
            </a:r>
            <a:r>
              <a:rPr lang="zh-CN" altLang="en-US" b="1"/>
              <a:t>时，有</a:t>
            </a:r>
            <a:endParaRPr lang="zh-CN" altLang="en-US" b="1">
              <a:sym typeface="Symbol" panose="05050102010706020507" pitchFamily="18" charset="2"/>
            </a:endParaRPr>
          </a:p>
        </p:txBody>
      </p:sp>
      <p:grpSp>
        <p:nvGrpSpPr>
          <p:cNvPr id="86019" name="Group 3"/>
          <p:cNvGrpSpPr>
            <a:grpSpLocks/>
          </p:cNvGrpSpPr>
          <p:nvPr/>
        </p:nvGrpSpPr>
        <p:grpSpPr bwMode="auto">
          <a:xfrm>
            <a:off x="1035050" y="762000"/>
            <a:ext cx="6491288" cy="2514600"/>
            <a:chOff x="672" y="384"/>
            <a:chExt cx="4089" cy="1584"/>
          </a:xfrm>
        </p:grpSpPr>
        <p:sp>
          <p:nvSpPr>
            <p:cNvPr id="86020" name="Arc 4"/>
            <p:cNvSpPr>
              <a:spLocks/>
            </p:cNvSpPr>
            <p:nvPr/>
          </p:nvSpPr>
          <p:spPr bwMode="auto">
            <a:xfrm flipH="1" flipV="1">
              <a:off x="1056" y="624"/>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1" name="Rectangle 5"/>
            <p:cNvSpPr>
              <a:spLocks noChangeArrowheads="1"/>
            </p:cNvSpPr>
            <p:nvPr/>
          </p:nvSpPr>
          <p:spPr bwMode="auto">
            <a:xfrm>
              <a:off x="1449" y="672"/>
              <a:ext cx="2496" cy="57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22" name="Group 6"/>
            <p:cNvGrpSpPr>
              <a:grpSpLocks/>
            </p:cNvGrpSpPr>
            <p:nvPr/>
          </p:nvGrpSpPr>
          <p:grpSpPr bwMode="auto">
            <a:xfrm>
              <a:off x="1621" y="528"/>
              <a:ext cx="904" cy="1220"/>
              <a:chOff x="1420" y="1152"/>
              <a:chExt cx="904" cy="1220"/>
            </a:xfrm>
          </p:grpSpPr>
          <p:sp>
            <p:nvSpPr>
              <p:cNvPr id="86023" name="Freeform 7"/>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4" name="Freeform 8"/>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5" name="Freeform 9"/>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6" name="Freeform 10"/>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7" name="Freeform 11"/>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8" name="Freeform 12"/>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9" name="Freeform 13"/>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0" name="Oval 14"/>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1" name="Oval 15"/>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32" name="Group 16"/>
            <p:cNvGrpSpPr>
              <a:grpSpLocks/>
            </p:cNvGrpSpPr>
            <p:nvPr/>
          </p:nvGrpSpPr>
          <p:grpSpPr bwMode="auto">
            <a:xfrm>
              <a:off x="2889" y="528"/>
              <a:ext cx="904" cy="1220"/>
              <a:chOff x="1420" y="1152"/>
              <a:chExt cx="904" cy="1220"/>
            </a:xfrm>
          </p:grpSpPr>
          <p:sp>
            <p:nvSpPr>
              <p:cNvPr id="86033" name="Freeform 17"/>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Freeform 18"/>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5" name="Freeform 19"/>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6" name="Freeform 20"/>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7" name="Freeform 21"/>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8" name="Freeform 22"/>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9" name="Freeform 23"/>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0" name="Oval 24"/>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1" name="Oval 25"/>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42" name="Arc 26"/>
            <p:cNvSpPr>
              <a:spLocks/>
            </p:cNvSpPr>
            <p:nvPr/>
          </p:nvSpPr>
          <p:spPr bwMode="auto">
            <a:xfrm flipH="1" flipV="1">
              <a:off x="1065" y="720"/>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3" name="Line 27"/>
            <p:cNvSpPr>
              <a:spLocks noChangeShapeType="1"/>
            </p:cNvSpPr>
            <p:nvPr/>
          </p:nvSpPr>
          <p:spPr bwMode="auto">
            <a:xfrm flipH="1">
              <a:off x="1065" y="960"/>
              <a:ext cx="3312"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4" name="Arc 28"/>
            <p:cNvSpPr>
              <a:spLocks/>
            </p:cNvSpPr>
            <p:nvPr/>
          </p:nvSpPr>
          <p:spPr bwMode="auto">
            <a:xfrm flipH="1">
              <a:off x="1065" y="1104"/>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5" name="Arc 29"/>
            <p:cNvSpPr>
              <a:spLocks/>
            </p:cNvSpPr>
            <p:nvPr/>
          </p:nvSpPr>
          <p:spPr bwMode="auto">
            <a:xfrm flipH="1">
              <a:off x="1065" y="1008"/>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6" name="Arc 30"/>
            <p:cNvSpPr>
              <a:spLocks/>
            </p:cNvSpPr>
            <p:nvPr/>
          </p:nvSpPr>
          <p:spPr bwMode="auto">
            <a:xfrm flipV="1">
              <a:off x="2832" y="1152"/>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7" name="Arc 31"/>
            <p:cNvSpPr>
              <a:spLocks/>
            </p:cNvSpPr>
            <p:nvPr/>
          </p:nvSpPr>
          <p:spPr bwMode="auto">
            <a:xfrm>
              <a:off x="2832" y="384"/>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rgbClr val="FF3300"/>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8" name="Text Box 32"/>
            <p:cNvSpPr txBox="1">
              <a:spLocks noChangeArrowheads="1"/>
            </p:cNvSpPr>
            <p:nvPr/>
          </p:nvSpPr>
          <p:spPr bwMode="auto">
            <a:xfrm>
              <a:off x="1545" y="16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6049" name="Text Box 33"/>
            <p:cNvSpPr txBox="1">
              <a:spLocks noChangeArrowheads="1"/>
            </p:cNvSpPr>
            <p:nvPr/>
          </p:nvSpPr>
          <p:spPr bwMode="auto">
            <a:xfrm>
              <a:off x="2361" y="16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6050" name="Text Box 34"/>
            <p:cNvSpPr txBox="1">
              <a:spLocks noChangeArrowheads="1"/>
            </p:cNvSpPr>
            <p:nvPr/>
          </p:nvSpPr>
          <p:spPr bwMode="auto">
            <a:xfrm>
              <a:off x="1881" y="168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12</a:t>
              </a:r>
              <a:endParaRPr lang="en-US" altLang="zh-CN" b="1"/>
            </a:p>
          </p:txBody>
        </p:sp>
        <p:sp>
          <p:nvSpPr>
            <p:cNvPr id="86051" name="Text Box 35"/>
            <p:cNvSpPr txBox="1">
              <a:spLocks noChangeArrowheads="1"/>
            </p:cNvSpPr>
            <p:nvPr/>
          </p:nvSpPr>
          <p:spPr bwMode="auto">
            <a:xfrm>
              <a:off x="2841" y="16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6052" name="Text Box 36"/>
            <p:cNvSpPr txBox="1">
              <a:spLocks noChangeArrowheads="1"/>
            </p:cNvSpPr>
            <p:nvPr/>
          </p:nvSpPr>
          <p:spPr bwMode="auto">
            <a:xfrm>
              <a:off x="3657" y="16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6053" name="Text Box 37"/>
            <p:cNvSpPr txBox="1">
              <a:spLocks noChangeArrowheads="1"/>
            </p:cNvSpPr>
            <p:nvPr/>
          </p:nvSpPr>
          <p:spPr bwMode="auto">
            <a:xfrm>
              <a:off x="3177" y="168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22</a:t>
              </a:r>
              <a:endParaRPr lang="en-US" altLang="zh-CN" b="1"/>
            </a:p>
          </p:txBody>
        </p:sp>
        <p:sp>
          <p:nvSpPr>
            <p:cNvPr id="86054" name="Line 38"/>
            <p:cNvSpPr>
              <a:spLocks noChangeShapeType="1"/>
            </p:cNvSpPr>
            <p:nvPr/>
          </p:nvSpPr>
          <p:spPr bwMode="auto">
            <a:xfrm flipV="1">
              <a:off x="2832" y="1344"/>
              <a:ext cx="0" cy="336"/>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55" name="Text Box 39"/>
            <p:cNvSpPr txBox="1">
              <a:spLocks noChangeArrowheads="1"/>
            </p:cNvSpPr>
            <p:nvPr/>
          </p:nvSpPr>
          <p:spPr bwMode="auto">
            <a:xfrm>
              <a:off x="2592" y="139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3300"/>
                  </a:solidFill>
                </a:rPr>
                <a:t>i</a:t>
              </a:r>
              <a:r>
                <a:rPr lang="en-US" altLang="zh-CN" b="1" baseline="-25000">
                  <a:solidFill>
                    <a:srgbClr val="FF3300"/>
                  </a:solidFill>
                </a:rPr>
                <a:t>2</a:t>
              </a:r>
              <a:endParaRPr lang="en-US" altLang="zh-CN" b="1">
                <a:solidFill>
                  <a:srgbClr val="FF3300"/>
                </a:solidFill>
              </a:endParaRPr>
            </a:p>
          </p:txBody>
        </p:sp>
        <p:sp>
          <p:nvSpPr>
            <p:cNvPr id="86056" name="Text Box 40"/>
            <p:cNvSpPr txBox="1">
              <a:spLocks noChangeArrowheads="1"/>
            </p:cNvSpPr>
            <p:nvPr/>
          </p:nvSpPr>
          <p:spPr bwMode="auto">
            <a:xfrm>
              <a:off x="672" y="81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3300"/>
                  </a:solidFill>
                  <a:sym typeface="Symbol" panose="05050102010706020507" pitchFamily="18" charset="2"/>
                </a:rPr>
                <a:t></a:t>
              </a:r>
              <a:r>
                <a:rPr lang="en-US" altLang="zh-CN" b="1" baseline="-25000">
                  <a:solidFill>
                    <a:srgbClr val="FF3300"/>
                  </a:solidFill>
                </a:rPr>
                <a:t> 12</a:t>
              </a:r>
            </a:p>
          </p:txBody>
        </p:sp>
        <p:sp>
          <p:nvSpPr>
            <p:cNvPr id="86057" name="Text Box 41"/>
            <p:cNvSpPr txBox="1">
              <a:spLocks noChangeArrowheads="1"/>
            </p:cNvSpPr>
            <p:nvPr/>
          </p:nvSpPr>
          <p:spPr bwMode="auto">
            <a:xfrm>
              <a:off x="4329" y="81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3300"/>
                  </a:solidFill>
                  <a:sym typeface="Symbol" panose="05050102010706020507" pitchFamily="18" charset="2"/>
                </a:rPr>
                <a:t></a:t>
              </a:r>
              <a:r>
                <a:rPr lang="en-US" altLang="zh-CN" b="1" baseline="-25000">
                  <a:solidFill>
                    <a:srgbClr val="FF3300"/>
                  </a:solidFill>
                </a:rPr>
                <a:t> 22</a:t>
              </a:r>
            </a:p>
          </p:txBody>
        </p:sp>
        <p:sp>
          <p:nvSpPr>
            <p:cNvPr id="86058" name="Text Box 42"/>
            <p:cNvSpPr txBox="1">
              <a:spLocks noChangeArrowheads="1"/>
            </p:cNvSpPr>
            <p:nvPr/>
          </p:nvSpPr>
          <p:spPr bwMode="auto">
            <a:xfrm>
              <a:off x="1881" y="120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1</a:t>
              </a:r>
              <a:endParaRPr lang="en-US" altLang="zh-CN" b="1"/>
            </a:p>
          </p:txBody>
        </p:sp>
        <p:sp>
          <p:nvSpPr>
            <p:cNvPr id="86059" name="Text Box 43"/>
            <p:cNvSpPr txBox="1">
              <a:spLocks noChangeArrowheads="1"/>
            </p:cNvSpPr>
            <p:nvPr/>
          </p:nvSpPr>
          <p:spPr bwMode="auto">
            <a:xfrm>
              <a:off x="3177" y="124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2</a:t>
              </a:r>
              <a:endParaRPr lang="en-US" altLang="zh-CN" b="1"/>
            </a:p>
          </p:txBody>
        </p:sp>
      </p:grpSp>
      <p:graphicFrame>
        <p:nvGraphicFramePr>
          <p:cNvPr id="86060" name="Object 44"/>
          <p:cNvGraphicFramePr>
            <a:graphicFrameLocks noChangeAspect="1"/>
          </p:cNvGraphicFramePr>
          <p:nvPr/>
        </p:nvGraphicFramePr>
        <p:xfrm>
          <a:off x="1071563" y="4132263"/>
          <a:ext cx="6407150" cy="1684337"/>
        </p:xfrm>
        <a:graphic>
          <a:graphicData uri="http://schemas.openxmlformats.org/presentationml/2006/ole">
            <mc:AlternateContent xmlns:mc="http://schemas.openxmlformats.org/markup-compatibility/2006">
              <mc:Choice xmlns:v="urn:schemas-microsoft-com:vml" Requires="v">
                <p:oleObj spid="_x0000_s86100" name="Equation" r:id="rId3" imgW="3187440" imgH="838080" progId="Equation.3">
                  <p:embed/>
                </p:oleObj>
              </mc:Choice>
              <mc:Fallback>
                <p:oleObj name="Equation" r:id="rId3" imgW="3187440" imgH="838080"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4132263"/>
                        <a:ext cx="6407150" cy="168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61" name="Text Box 45"/>
          <p:cNvSpPr txBox="1">
            <a:spLocks noChangeArrowheads="1"/>
          </p:cNvSpPr>
          <p:nvPr/>
        </p:nvSpPr>
        <p:spPr bwMode="auto">
          <a:xfrm>
            <a:off x="1244600" y="5897563"/>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可以证明        </a:t>
            </a:r>
            <a:r>
              <a:rPr lang="en-US" altLang="zh-CN" b="1" i="1">
                <a:solidFill>
                  <a:srgbClr val="FF3300"/>
                </a:solidFill>
              </a:rPr>
              <a:t>M</a:t>
            </a:r>
            <a:r>
              <a:rPr lang="en-US" altLang="zh-CN" b="1" baseline="-25000">
                <a:solidFill>
                  <a:srgbClr val="FF3300"/>
                </a:solidFill>
              </a:rPr>
              <a:t>12</a:t>
            </a:r>
            <a:r>
              <a:rPr lang="en-US" altLang="zh-CN" b="1">
                <a:solidFill>
                  <a:srgbClr val="FF3300"/>
                </a:solidFill>
              </a:rPr>
              <a:t>= </a:t>
            </a:r>
            <a:r>
              <a:rPr lang="en-US" altLang="zh-CN" b="1" i="1">
                <a:solidFill>
                  <a:srgbClr val="FF3300"/>
                </a:solidFill>
              </a:rPr>
              <a:t>M</a:t>
            </a:r>
            <a:r>
              <a:rPr lang="en-US" altLang="zh-CN" b="1" baseline="-25000">
                <a:solidFill>
                  <a:srgbClr val="FF3300"/>
                </a:solidFill>
              </a:rPr>
              <a:t>21</a:t>
            </a:r>
            <a:r>
              <a:rPr lang="en-US" altLang="zh-CN" b="1">
                <a:solidFill>
                  <a:srgbClr val="FF3300"/>
                </a:solidFill>
              </a:rPr>
              <a:t>= </a:t>
            </a:r>
            <a:r>
              <a:rPr lang="en-US" altLang="zh-CN" b="1" i="1">
                <a:solidFill>
                  <a:srgbClr val="FF3300"/>
                </a:solidFill>
              </a:rPr>
              <a:t>M</a:t>
            </a:r>
            <a:endParaRPr lang="en-US" altLang="zh-CN" b="1" baseline="-25000">
              <a:solidFill>
                <a:srgbClr val="FF3300"/>
              </a:solidFill>
            </a:endParaRPr>
          </a:p>
        </p:txBody>
      </p:sp>
      <p:graphicFrame>
        <p:nvGraphicFramePr>
          <p:cNvPr id="86062" name="Object 46"/>
          <p:cNvGraphicFramePr>
            <a:graphicFrameLocks noChangeAspect="1"/>
          </p:cNvGraphicFramePr>
          <p:nvPr/>
        </p:nvGraphicFramePr>
        <p:xfrm>
          <a:off x="1271588" y="3276600"/>
          <a:ext cx="1454150" cy="969963"/>
        </p:xfrm>
        <a:graphic>
          <a:graphicData uri="http://schemas.openxmlformats.org/presentationml/2006/ole">
            <mc:AlternateContent xmlns:mc="http://schemas.openxmlformats.org/markup-compatibility/2006">
              <mc:Choice xmlns:v="urn:schemas-microsoft-com:vml" Requires="v">
                <p:oleObj spid="_x0000_s86101" name="Equation" r:id="rId5" imgW="723600" imgH="482400" progId="Equation.3">
                  <p:embed/>
                </p:oleObj>
              </mc:Choice>
              <mc:Fallback>
                <p:oleObj name="Equation" r:id="rId5" imgW="723600" imgH="482400" progId="Equation.3">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1588" y="3276600"/>
                        <a:ext cx="145415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63" name="Text Box 47"/>
          <p:cNvSpPr txBox="1">
            <a:spLocks noChangeArrowheads="1"/>
          </p:cNvSpPr>
          <p:nvPr/>
        </p:nvSpPr>
        <p:spPr bwMode="auto">
          <a:xfrm>
            <a:off x="2925763" y="3503613"/>
            <a:ext cx="4432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b="1"/>
              <a:t>—</a:t>
            </a:r>
            <a:r>
              <a:rPr lang="zh-CN" altLang="en-US" b="1"/>
              <a:t>线圈</a:t>
            </a:r>
            <a:r>
              <a:rPr lang="en-US" altLang="zh-CN" b="1"/>
              <a:t>2</a:t>
            </a:r>
            <a:r>
              <a:rPr lang="zh-CN" altLang="en-US" b="1"/>
              <a:t>对线圈</a:t>
            </a:r>
            <a:r>
              <a:rPr lang="en-US" altLang="zh-CN" b="1"/>
              <a:t>1</a:t>
            </a:r>
            <a:r>
              <a:rPr lang="zh-CN" altLang="en-US" b="1"/>
              <a:t>的互感系数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86019"/>
                                        </p:tgtEl>
                                        <p:attrNameLst>
                                          <p:attrName>style.visibility</p:attrName>
                                        </p:attrNameLst>
                                      </p:cBhvr>
                                      <p:to>
                                        <p:strVal val="visible"/>
                                      </p:to>
                                    </p:set>
                                    <p:anim calcmode="lin" valueType="num">
                                      <p:cBhvr>
                                        <p:cTn id="7" dur="500" fill="hold"/>
                                        <p:tgtEl>
                                          <p:spTgt spid="86019"/>
                                        </p:tgtEl>
                                        <p:attrNameLst>
                                          <p:attrName>ppt_w</p:attrName>
                                        </p:attrNameLst>
                                      </p:cBhvr>
                                      <p:tavLst>
                                        <p:tav tm="0">
                                          <p:val>
                                            <p:fltVal val="0"/>
                                          </p:val>
                                        </p:tav>
                                        <p:tav tm="100000">
                                          <p:val>
                                            <p:strVal val="#ppt_w"/>
                                          </p:val>
                                        </p:tav>
                                      </p:tavLst>
                                    </p:anim>
                                    <p:anim calcmode="lin" valueType="num">
                                      <p:cBhvr>
                                        <p:cTn id="8" dur="500" fill="hold"/>
                                        <p:tgtEl>
                                          <p:spTgt spid="8601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86062"/>
                                        </p:tgtEl>
                                        <p:attrNameLst>
                                          <p:attrName>style.visibility</p:attrName>
                                        </p:attrNameLst>
                                      </p:cBhvr>
                                      <p:to>
                                        <p:strVal val="visible"/>
                                      </p:to>
                                    </p:set>
                                    <p:animEffect transition="in" filter="dissolve">
                                      <p:cBhvr>
                                        <p:cTn id="13" dur="500"/>
                                        <p:tgtEl>
                                          <p:spTgt spid="8606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86063"/>
                                        </p:tgtEl>
                                        <p:attrNameLst>
                                          <p:attrName>style.visibility</p:attrName>
                                        </p:attrNameLst>
                                      </p:cBhvr>
                                      <p:to>
                                        <p:strVal val="visible"/>
                                      </p:to>
                                    </p:set>
                                    <p:anim calcmode="lin" valueType="num">
                                      <p:cBhvr>
                                        <p:cTn id="18" dur="500" fill="hold"/>
                                        <p:tgtEl>
                                          <p:spTgt spid="86063"/>
                                        </p:tgtEl>
                                        <p:attrNameLst>
                                          <p:attrName>ppt_w</p:attrName>
                                        </p:attrNameLst>
                                      </p:cBhvr>
                                      <p:tavLst>
                                        <p:tav tm="0">
                                          <p:val>
                                            <p:fltVal val="0"/>
                                          </p:val>
                                        </p:tav>
                                        <p:tav tm="100000">
                                          <p:val>
                                            <p:strVal val="#ppt_w"/>
                                          </p:val>
                                        </p:tav>
                                      </p:tavLst>
                                    </p:anim>
                                    <p:anim calcmode="lin" valueType="num">
                                      <p:cBhvr>
                                        <p:cTn id="19" dur="500" fill="hold"/>
                                        <p:tgtEl>
                                          <p:spTgt spid="86063"/>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86060"/>
                                        </p:tgtEl>
                                        <p:attrNameLst>
                                          <p:attrName>style.visibility</p:attrName>
                                        </p:attrNameLst>
                                      </p:cBhvr>
                                      <p:to>
                                        <p:strVal val="visible"/>
                                      </p:to>
                                    </p:set>
                                    <p:animEffect transition="in" filter="dissolve">
                                      <p:cBhvr>
                                        <p:cTn id="24" dur="500"/>
                                        <p:tgtEl>
                                          <p:spTgt spid="860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2" fill="hold" grpId="0" nodeType="clickEffect">
                                  <p:stCondLst>
                                    <p:cond delay="0"/>
                                  </p:stCondLst>
                                  <p:childTnLst>
                                    <p:set>
                                      <p:cBhvr>
                                        <p:cTn id="28" dur="1" fill="hold">
                                          <p:stCondLst>
                                            <p:cond delay="0"/>
                                          </p:stCondLst>
                                        </p:cTn>
                                        <p:tgtEl>
                                          <p:spTgt spid="86061"/>
                                        </p:tgtEl>
                                        <p:attrNameLst>
                                          <p:attrName>style.visibility</p:attrName>
                                        </p:attrNameLst>
                                      </p:cBhvr>
                                      <p:to>
                                        <p:strVal val="visible"/>
                                      </p:to>
                                    </p:set>
                                    <p:animEffect transition="in" filter="slide(fromRight)">
                                      <p:cBhvr>
                                        <p:cTn id="29" dur="500"/>
                                        <p:tgtEl>
                                          <p:spTgt spid="86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61" grpId="0" autoUpdateAnimBg="0"/>
      <p:bldP spid="8606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457200" y="304800"/>
            <a:ext cx="469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当两个线圈同时通以电流时，有</a:t>
            </a:r>
          </a:p>
        </p:txBody>
      </p:sp>
      <p:graphicFrame>
        <p:nvGraphicFramePr>
          <p:cNvPr id="49155" name="Object 3"/>
          <p:cNvGraphicFramePr>
            <a:graphicFrameLocks noChangeAspect="1"/>
          </p:cNvGraphicFramePr>
          <p:nvPr/>
        </p:nvGraphicFramePr>
        <p:xfrm>
          <a:off x="1770063" y="1006475"/>
          <a:ext cx="4264025" cy="1679575"/>
        </p:xfrm>
        <a:graphic>
          <a:graphicData uri="http://schemas.openxmlformats.org/presentationml/2006/ole">
            <mc:AlternateContent xmlns:mc="http://schemas.openxmlformats.org/markup-compatibility/2006">
              <mc:Choice xmlns:v="urn:schemas-microsoft-com:vml" Requires="v">
                <p:oleObj spid="_x0000_s49201" name="Equation" r:id="rId3" imgW="2120760" imgH="838080" progId="Equation.3">
                  <p:embed/>
                </p:oleObj>
              </mc:Choice>
              <mc:Fallback>
                <p:oleObj name="Equation" r:id="rId3" imgW="2120760" imgH="8380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0063" y="1006475"/>
                        <a:ext cx="4264025" cy="167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6" name="Text Box 4"/>
          <p:cNvSpPr txBox="1">
            <a:spLocks noChangeArrowheads="1"/>
          </p:cNvSpPr>
          <p:nvPr/>
        </p:nvSpPr>
        <p:spPr bwMode="auto">
          <a:xfrm>
            <a:off x="533400" y="2990850"/>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在正弦稳态电路中，其相量形式的方程为</a:t>
            </a:r>
          </a:p>
        </p:txBody>
      </p:sp>
      <p:graphicFrame>
        <p:nvGraphicFramePr>
          <p:cNvPr id="49157" name="Object 5"/>
          <p:cNvGraphicFramePr>
            <a:graphicFrameLocks noChangeAspect="1"/>
          </p:cNvGraphicFramePr>
          <p:nvPr/>
        </p:nvGraphicFramePr>
        <p:xfrm>
          <a:off x="2049463" y="3690938"/>
          <a:ext cx="2927350" cy="1014412"/>
        </p:xfrm>
        <a:graphic>
          <a:graphicData uri="http://schemas.openxmlformats.org/presentationml/2006/ole">
            <mc:AlternateContent xmlns:mc="http://schemas.openxmlformats.org/markup-compatibility/2006">
              <mc:Choice xmlns:v="urn:schemas-microsoft-com:vml" Requires="v">
                <p:oleObj spid="_x0000_s49202" name="Equation" r:id="rId5" imgW="1460160" imgH="507960" progId="Equation.3">
                  <p:embed/>
                </p:oleObj>
              </mc:Choice>
              <mc:Fallback>
                <p:oleObj name="Equation" r:id="rId5" imgW="1460160" imgH="50796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9463" y="3690938"/>
                        <a:ext cx="292735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slide(fromRight)">
                                      <p:cBhvr>
                                        <p:cTn id="7" dur="500"/>
                                        <p:tgtEl>
                                          <p:spTgt spid="49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dissolve">
                                      <p:cBhvr>
                                        <p:cTn id="12" dur="500"/>
                                        <p:tgtEl>
                                          <p:spTgt spid="49155"/>
                                        </p:tgtEl>
                                      </p:cBhvr>
                                    </p:animEffect>
                                  </p:childTnLst>
                                </p:cTn>
                              </p:par>
                            </p:childTnLst>
                          </p:cTn>
                        </p:par>
                        <p:par>
                          <p:cTn id="13" fill="hold" nodeType="afterGroup">
                            <p:stCondLst>
                              <p:cond delay="500"/>
                            </p:stCondLst>
                            <p:childTnLst>
                              <p:par>
                                <p:cTn id="14" presetID="12" presetClass="entr" presetSubtype="2" fill="hold" grpId="0" nodeType="afterEffect">
                                  <p:stCondLst>
                                    <p:cond delay="0"/>
                                  </p:stCondLst>
                                  <p:childTnLst>
                                    <p:set>
                                      <p:cBhvr>
                                        <p:cTn id="15" dur="1" fill="hold">
                                          <p:stCondLst>
                                            <p:cond delay="0"/>
                                          </p:stCondLst>
                                        </p:cTn>
                                        <p:tgtEl>
                                          <p:spTgt spid="49156"/>
                                        </p:tgtEl>
                                        <p:attrNameLst>
                                          <p:attrName>style.visibility</p:attrName>
                                        </p:attrNameLst>
                                      </p:cBhvr>
                                      <p:to>
                                        <p:strVal val="visible"/>
                                      </p:to>
                                    </p:set>
                                    <p:animEffect transition="in" filter="slide(fromRight)">
                                      <p:cBhvr>
                                        <p:cTn id="16" dur="500"/>
                                        <p:tgtEl>
                                          <p:spTgt spid="4915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49157"/>
                                        </p:tgtEl>
                                        <p:attrNameLst>
                                          <p:attrName>style.visibility</p:attrName>
                                        </p:attrNameLst>
                                      </p:cBhvr>
                                      <p:to>
                                        <p:strVal val="visible"/>
                                      </p:to>
                                    </p:set>
                                    <p:animEffect transition="in" filter="dissolve">
                                      <p:cBhvr>
                                        <p:cTn id="21" dur="500"/>
                                        <p:tgtEl>
                                          <p:spTgt spid="49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p:bldP spid="4915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6146"/>
          <p:cNvSpPr txBox="1">
            <a:spLocks noChangeArrowheads="1"/>
          </p:cNvSpPr>
          <p:nvPr/>
        </p:nvSpPr>
        <p:spPr bwMode="auto">
          <a:xfrm>
            <a:off x="304800" y="533400"/>
            <a:ext cx="546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 </a:t>
            </a:r>
            <a:r>
              <a:rPr lang="en-US" altLang="zh-CN" b="1">
                <a:solidFill>
                  <a:srgbClr val="FF3300"/>
                </a:solidFill>
              </a:rPr>
              <a:t> </a:t>
            </a:r>
            <a:r>
              <a:rPr lang="zh-CN" altLang="en-US" b="1">
                <a:solidFill>
                  <a:schemeClr val="accent2"/>
                </a:solidFill>
              </a:rPr>
              <a:t>二、耦合系数（</a:t>
            </a:r>
            <a:r>
              <a:rPr lang="en-US" altLang="zh-CN" b="1">
                <a:solidFill>
                  <a:srgbClr val="FF3300"/>
                </a:solidFill>
              </a:rPr>
              <a:t>coupling coefficient</a:t>
            </a:r>
            <a:r>
              <a:rPr lang="zh-CN" altLang="en-US" b="1">
                <a:solidFill>
                  <a:schemeClr val="accent2"/>
                </a:solidFill>
              </a:rPr>
              <a:t>）</a:t>
            </a:r>
            <a:r>
              <a:rPr lang="en-US" altLang="zh-CN" b="1" i="1">
                <a:solidFill>
                  <a:schemeClr val="accent2"/>
                </a:solidFill>
              </a:rPr>
              <a:t>k</a:t>
            </a:r>
            <a:endParaRPr lang="en-US" altLang="zh-CN" b="1">
              <a:solidFill>
                <a:schemeClr val="accent2"/>
              </a:solidFill>
            </a:endParaRPr>
          </a:p>
        </p:txBody>
      </p:sp>
      <p:sp>
        <p:nvSpPr>
          <p:cNvPr id="56323" name="Text Box 6147"/>
          <p:cNvSpPr txBox="1">
            <a:spLocks noChangeArrowheads="1"/>
          </p:cNvSpPr>
          <p:nvPr/>
        </p:nvSpPr>
        <p:spPr bwMode="auto">
          <a:xfrm>
            <a:off x="990600" y="1366838"/>
            <a:ext cx="7999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k </a:t>
            </a:r>
            <a:r>
              <a:rPr lang="zh-CN" altLang="en-US" b="1"/>
              <a:t>表示两个线圈磁耦合（</a:t>
            </a:r>
            <a:r>
              <a:rPr lang="en-US" altLang="zh-CN" b="1"/>
              <a:t>magnetic coupling</a:t>
            </a:r>
            <a:r>
              <a:rPr lang="zh-CN" altLang="en-US" b="1"/>
              <a:t>）的紧密程度。</a:t>
            </a:r>
          </a:p>
        </p:txBody>
      </p:sp>
      <p:sp>
        <p:nvSpPr>
          <p:cNvPr id="56324" name="Text Box 6148"/>
          <p:cNvSpPr txBox="1">
            <a:spLocks noChangeArrowheads="1"/>
          </p:cNvSpPr>
          <p:nvPr/>
        </p:nvSpPr>
        <p:spPr bwMode="auto">
          <a:xfrm>
            <a:off x="1028700" y="3629025"/>
            <a:ext cx="15247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t>全耦合时</a:t>
            </a:r>
            <a:r>
              <a:rPr lang="en-US" altLang="zh-CN" b="1" dirty="0" smtClean="0"/>
              <a:t>:</a:t>
            </a:r>
            <a:endParaRPr lang="en-US" altLang="zh-CN" b="1" baseline="-25000" dirty="0"/>
          </a:p>
        </p:txBody>
      </p:sp>
      <p:graphicFrame>
        <p:nvGraphicFramePr>
          <p:cNvPr id="56325" name="Object 6149"/>
          <p:cNvGraphicFramePr>
            <a:graphicFrameLocks noChangeAspect="1"/>
          </p:cNvGraphicFramePr>
          <p:nvPr/>
        </p:nvGraphicFramePr>
        <p:xfrm>
          <a:off x="3317875" y="1900238"/>
          <a:ext cx="1289050" cy="744537"/>
        </p:xfrm>
        <a:graphic>
          <a:graphicData uri="http://schemas.openxmlformats.org/presentationml/2006/ole">
            <mc:AlternateContent xmlns:mc="http://schemas.openxmlformats.org/markup-compatibility/2006">
              <mc:Choice xmlns:v="urn:schemas-microsoft-com:vml" Requires="v">
                <p:oleObj spid="_x0000_s56399" name="公式" r:id="rId3" imgW="761760" imgH="457200" progId="Equation.3">
                  <p:embed/>
                </p:oleObj>
              </mc:Choice>
              <mc:Fallback>
                <p:oleObj name="公式" r:id="rId3" imgW="761760" imgH="457200" progId="Equation.3">
                  <p:embed/>
                  <p:pic>
                    <p:nvPicPr>
                      <p:cNvPr id="0" name="Object 61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7875" y="1900238"/>
                        <a:ext cx="1289050" cy="744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6" name="Rectangle 6150"/>
          <p:cNvSpPr>
            <a:spLocks noChangeArrowheads="1"/>
          </p:cNvSpPr>
          <p:nvPr/>
        </p:nvSpPr>
        <p:spPr bwMode="auto">
          <a:xfrm>
            <a:off x="2553476" y="3594101"/>
            <a:ext cx="2774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dirty="0" smtClean="0">
                <a:latin typeface="Symbol" panose="05050102010706020507" pitchFamily="18" charset="2"/>
              </a:rPr>
              <a:t>F</a:t>
            </a:r>
            <a:r>
              <a:rPr lang="en-US" altLang="zh-CN" b="1" baseline="-25000" dirty="0" smtClean="0"/>
              <a:t>11</a:t>
            </a:r>
            <a:r>
              <a:rPr lang="en-US" altLang="zh-CN" b="1" dirty="0"/>
              <a:t>= </a:t>
            </a:r>
            <a:r>
              <a:rPr lang="en-US" altLang="zh-CN" b="1" i="1" dirty="0">
                <a:latin typeface="Symbol" panose="05050102010706020507" pitchFamily="18" charset="2"/>
              </a:rPr>
              <a:t>F</a:t>
            </a:r>
            <a:r>
              <a:rPr lang="en-US" altLang="zh-CN" b="1" baseline="-25000" dirty="0"/>
              <a:t>21 </a:t>
            </a:r>
            <a:r>
              <a:rPr lang="zh-CN" altLang="en-US" b="1" dirty="0"/>
              <a:t>，</a:t>
            </a:r>
            <a:r>
              <a:rPr lang="en-US" altLang="zh-CN" b="1" i="1" dirty="0">
                <a:latin typeface="Symbol" panose="05050102010706020507" pitchFamily="18" charset="2"/>
              </a:rPr>
              <a:t>F</a:t>
            </a:r>
            <a:r>
              <a:rPr lang="en-US" altLang="zh-CN" b="1" baseline="-25000" dirty="0"/>
              <a:t>22 </a:t>
            </a:r>
            <a:r>
              <a:rPr lang="en-US" altLang="zh-CN" b="1" dirty="0"/>
              <a:t>=</a:t>
            </a:r>
            <a:r>
              <a:rPr lang="en-US" altLang="zh-CN" b="1" i="1" dirty="0">
                <a:latin typeface="Symbol" panose="05050102010706020507" pitchFamily="18" charset="2"/>
              </a:rPr>
              <a:t>F</a:t>
            </a:r>
            <a:r>
              <a:rPr lang="en-US" altLang="zh-CN" b="1" baseline="-25000" dirty="0"/>
              <a:t>12</a:t>
            </a:r>
          </a:p>
        </p:txBody>
      </p:sp>
      <p:graphicFrame>
        <p:nvGraphicFramePr>
          <p:cNvPr id="56327" name="Object 6151"/>
          <p:cNvGraphicFramePr>
            <a:graphicFrameLocks noChangeAspect="1"/>
          </p:cNvGraphicFramePr>
          <p:nvPr/>
        </p:nvGraphicFramePr>
        <p:xfrm>
          <a:off x="2354263" y="4181475"/>
          <a:ext cx="4157662" cy="846138"/>
        </p:xfrm>
        <a:graphic>
          <a:graphicData uri="http://schemas.openxmlformats.org/presentationml/2006/ole">
            <mc:AlternateContent xmlns:mc="http://schemas.openxmlformats.org/markup-compatibility/2006">
              <mc:Choice xmlns:v="urn:schemas-microsoft-com:vml" Requires="v">
                <p:oleObj spid="_x0000_s56400" name="Equation" r:id="rId5" imgW="2120760" imgH="431640" progId="Equation.3">
                  <p:embed/>
                </p:oleObj>
              </mc:Choice>
              <mc:Fallback>
                <p:oleObj name="Equation" r:id="rId5" imgW="2120760" imgH="431640" progId="Equation.3">
                  <p:embed/>
                  <p:pic>
                    <p:nvPicPr>
                      <p:cNvPr id="0" name="Object 61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4263" y="4181475"/>
                        <a:ext cx="4157662"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8" name="Text Box 6152"/>
          <p:cNvSpPr txBox="1">
            <a:spLocks noChangeArrowheads="1"/>
          </p:cNvSpPr>
          <p:nvPr/>
        </p:nvSpPr>
        <p:spPr bwMode="auto">
          <a:xfrm>
            <a:off x="1071563" y="2890838"/>
            <a:ext cx="2890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可以证明，</a:t>
            </a:r>
            <a:r>
              <a:rPr lang="en-US" altLang="zh-CN" b="1" i="1">
                <a:solidFill>
                  <a:srgbClr val="FF3300"/>
                </a:solidFill>
              </a:rPr>
              <a:t>k</a:t>
            </a:r>
            <a:r>
              <a:rPr lang="en-US" altLang="zh-CN" b="1">
                <a:solidFill>
                  <a:srgbClr val="FF3300"/>
                </a:solidFill>
                <a:sym typeface="Symbol" panose="05050102010706020507" pitchFamily="18" charset="2"/>
              </a:rPr>
              <a:t>1</a:t>
            </a:r>
            <a:endParaRPr lang="en-US" altLang="zh-CN" b="1">
              <a:solidFill>
                <a:srgbClr val="FF3300"/>
              </a:solidFill>
            </a:endParaRPr>
          </a:p>
        </p:txBody>
      </p:sp>
      <p:graphicFrame>
        <p:nvGraphicFramePr>
          <p:cNvPr id="56329" name="Object 6153"/>
          <p:cNvGraphicFramePr>
            <a:graphicFrameLocks noChangeAspect="1"/>
          </p:cNvGraphicFramePr>
          <p:nvPr/>
        </p:nvGraphicFramePr>
        <p:xfrm>
          <a:off x="2432050" y="5029200"/>
          <a:ext cx="4308475" cy="795338"/>
        </p:xfrm>
        <a:graphic>
          <a:graphicData uri="http://schemas.openxmlformats.org/presentationml/2006/ole">
            <mc:AlternateContent xmlns:mc="http://schemas.openxmlformats.org/markup-compatibility/2006">
              <mc:Choice xmlns:v="urn:schemas-microsoft-com:vml" Requires="v">
                <p:oleObj spid="_x0000_s56401" name="Equation" r:id="rId7" imgW="2197080" imgH="406080" progId="Equation.3">
                  <p:embed/>
                </p:oleObj>
              </mc:Choice>
              <mc:Fallback>
                <p:oleObj name="Equation" r:id="rId7" imgW="2197080" imgH="406080" progId="Equation.3">
                  <p:embed/>
                  <p:pic>
                    <p:nvPicPr>
                      <p:cNvPr id="0" name="Object 61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2050" y="5029200"/>
                        <a:ext cx="4308475"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0" name="Object 6154"/>
          <p:cNvGraphicFramePr>
            <a:graphicFrameLocks noChangeAspect="1"/>
          </p:cNvGraphicFramePr>
          <p:nvPr/>
        </p:nvGraphicFramePr>
        <p:xfrm>
          <a:off x="2365375" y="5849938"/>
          <a:ext cx="5078413" cy="447675"/>
        </p:xfrm>
        <a:graphic>
          <a:graphicData uri="http://schemas.openxmlformats.org/presentationml/2006/ole">
            <mc:AlternateContent xmlns:mc="http://schemas.openxmlformats.org/markup-compatibility/2006">
              <mc:Choice xmlns:v="urn:schemas-microsoft-com:vml" Requires="v">
                <p:oleObj spid="_x0000_s56402" name="Equation" r:id="rId9" imgW="2590560" imgH="228600" progId="Equation.3">
                  <p:embed/>
                </p:oleObj>
              </mc:Choice>
              <mc:Fallback>
                <p:oleObj name="Equation" r:id="rId9" imgW="2590560" imgH="228600" progId="Equation.3">
                  <p:embed/>
                  <p:pic>
                    <p:nvPicPr>
                      <p:cNvPr id="0" name="Object 61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5375" y="5849938"/>
                        <a:ext cx="5078413"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0-#ppt_w/2"/>
                                          </p:val>
                                        </p:tav>
                                        <p:tav tm="100000">
                                          <p:val>
                                            <p:strVal val="#ppt_x"/>
                                          </p:val>
                                        </p:tav>
                                      </p:tavLst>
                                    </p:anim>
                                    <p:anim calcmode="lin" valueType="num">
                                      <p:cBhvr additive="base">
                                        <p:cTn id="8" dur="500" fill="hold"/>
                                        <p:tgtEl>
                                          <p:spTgt spid="563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56323"/>
                                        </p:tgtEl>
                                        <p:attrNameLst>
                                          <p:attrName>style.visibility</p:attrName>
                                        </p:attrNameLst>
                                      </p:cBhvr>
                                      <p:to>
                                        <p:strVal val="visible"/>
                                      </p:to>
                                    </p:set>
                                    <p:animEffect transition="in" filter="slide(fromTop)">
                                      <p:cBhvr>
                                        <p:cTn id="13" dur="500"/>
                                        <p:tgtEl>
                                          <p:spTgt spid="56323"/>
                                        </p:tgtEl>
                                      </p:cBhvr>
                                    </p:animEffect>
                                  </p:childTnLst>
                                </p:cTn>
                              </p:par>
                            </p:childTnLst>
                          </p:cTn>
                        </p:par>
                        <p:par>
                          <p:cTn id="14" fill="hold" nodeType="afterGroup">
                            <p:stCondLst>
                              <p:cond delay="500"/>
                            </p:stCondLst>
                            <p:childTnLst>
                              <p:par>
                                <p:cTn id="15" presetID="17" presetClass="entr" presetSubtype="10" fill="hold" nodeType="afterEffect">
                                  <p:stCondLst>
                                    <p:cond delay="0"/>
                                  </p:stCondLst>
                                  <p:childTnLst>
                                    <p:set>
                                      <p:cBhvr>
                                        <p:cTn id="16" dur="1" fill="hold">
                                          <p:stCondLst>
                                            <p:cond delay="0"/>
                                          </p:stCondLst>
                                        </p:cTn>
                                        <p:tgtEl>
                                          <p:spTgt spid="56325"/>
                                        </p:tgtEl>
                                        <p:attrNameLst>
                                          <p:attrName>style.visibility</p:attrName>
                                        </p:attrNameLst>
                                      </p:cBhvr>
                                      <p:to>
                                        <p:strVal val="visible"/>
                                      </p:to>
                                    </p:set>
                                    <p:anim calcmode="lin" valueType="num">
                                      <p:cBhvr>
                                        <p:cTn id="17" dur="500" fill="hold"/>
                                        <p:tgtEl>
                                          <p:spTgt spid="56325"/>
                                        </p:tgtEl>
                                        <p:attrNameLst>
                                          <p:attrName>ppt_w</p:attrName>
                                        </p:attrNameLst>
                                      </p:cBhvr>
                                      <p:tavLst>
                                        <p:tav tm="0">
                                          <p:val>
                                            <p:fltVal val="0"/>
                                          </p:val>
                                        </p:tav>
                                        <p:tav tm="100000">
                                          <p:val>
                                            <p:strVal val="#ppt_w"/>
                                          </p:val>
                                        </p:tav>
                                      </p:tavLst>
                                    </p:anim>
                                    <p:anim calcmode="lin" valueType="num">
                                      <p:cBhvr>
                                        <p:cTn id="18" dur="500" fill="hold"/>
                                        <p:tgtEl>
                                          <p:spTgt spid="5632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6328"/>
                                        </p:tgtEl>
                                        <p:attrNameLst>
                                          <p:attrName>style.visibility</p:attrName>
                                        </p:attrNameLst>
                                      </p:cBhvr>
                                      <p:to>
                                        <p:strVal val="visible"/>
                                      </p:to>
                                    </p:set>
                                    <p:anim calcmode="lin" valueType="num">
                                      <p:cBhvr additive="base">
                                        <p:cTn id="23" dur="500" fill="hold"/>
                                        <p:tgtEl>
                                          <p:spTgt spid="56328"/>
                                        </p:tgtEl>
                                        <p:attrNameLst>
                                          <p:attrName>ppt_x</p:attrName>
                                        </p:attrNameLst>
                                      </p:cBhvr>
                                      <p:tavLst>
                                        <p:tav tm="0">
                                          <p:val>
                                            <p:strVal val="0-#ppt_w/2"/>
                                          </p:val>
                                        </p:tav>
                                        <p:tav tm="100000">
                                          <p:val>
                                            <p:strVal val="#ppt_x"/>
                                          </p:val>
                                        </p:tav>
                                      </p:tavLst>
                                    </p:anim>
                                    <p:anim calcmode="lin" valueType="num">
                                      <p:cBhvr additive="base">
                                        <p:cTn id="24" dur="500" fill="hold"/>
                                        <p:tgtEl>
                                          <p:spTgt spid="5632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6324"/>
                                        </p:tgtEl>
                                        <p:attrNameLst>
                                          <p:attrName>style.visibility</p:attrName>
                                        </p:attrNameLst>
                                      </p:cBhvr>
                                      <p:to>
                                        <p:strVal val="visible"/>
                                      </p:to>
                                    </p:set>
                                    <p:anim calcmode="lin" valueType="num">
                                      <p:cBhvr additive="base">
                                        <p:cTn id="29" dur="500" fill="hold"/>
                                        <p:tgtEl>
                                          <p:spTgt spid="56324"/>
                                        </p:tgtEl>
                                        <p:attrNameLst>
                                          <p:attrName>ppt_x</p:attrName>
                                        </p:attrNameLst>
                                      </p:cBhvr>
                                      <p:tavLst>
                                        <p:tav tm="0">
                                          <p:val>
                                            <p:strVal val="0-#ppt_w/2"/>
                                          </p:val>
                                        </p:tav>
                                        <p:tav tm="100000">
                                          <p:val>
                                            <p:strVal val="#ppt_x"/>
                                          </p:val>
                                        </p:tav>
                                      </p:tavLst>
                                    </p:anim>
                                    <p:anim calcmode="lin" valueType="num">
                                      <p:cBhvr additive="base">
                                        <p:cTn id="30"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56326"/>
                                        </p:tgtEl>
                                        <p:attrNameLst>
                                          <p:attrName>style.visibility</p:attrName>
                                        </p:attrNameLst>
                                      </p:cBhvr>
                                      <p:to>
                                        <p:strVal val="visible"/>
                                      </p:to>
                                    </p:set>
                                    <p:anim calcmode="lin" valueType="num">
                                      <p:cBhvr additive="base">
                                        <p:cTn id="35" dur="500" fill="hold"/>
                                        <p:tgtEl>
                                          <p:spTgt spid="56326"/>
                                        </p:tgtEl>
                                        <p:attrNameLst>
                                          <p:attrName>ppt_x</p:attrName>
                                        </p:attrNameLst>
                                      </p:cBhvr>
                                      <p:tavLst>
                                        <p:tav tm="0">
                                          <p:val>
                                            <p:strVal val="1+#ppt_w/2"/>
                                          </p:val>
                                        </p:tav>
                                        <p:tav tm="100000">
                                          <p:val>
                                            <p:strVal val="#ppt_x"/>
                                          </p:val>
                                        </p:tav>
                                      </p:tavLst>
                                    </p:anim>
                                    <p:anim calcmode="lin" valueType="num">
                                      <p:cBhvr additive="base">
                                        <p:cTn id="36" dur="500" fill="hold"/>
                                        <p:tgtEl>
                                          <p:spTgt spid="56326"/>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56327"/>
                                        </p:tgtEl>
                                        <p:attrNameLst>
                                          <p:attrName>style.visibility</p:attrName>
                                        </p:attrNameLst>
                                      </p:cBhvr>
                                      <p:to>
                                        <p:strVal val="visible"/>
                                      </p:to>
                                    </p:set>
                                    <p:anim calcmode="lin" valueType="num">
                                      <p:cBhvr>
                                        <p:cTn id="41" dur="500" fill="hold"/>
                                        <p:tgtEl>
                                          <p:spTgt spid="56327"/>
                                        </p:tgtEl>
                                        <p:attrNameLst>
                                          <p:attrName>ppt_x</p:attrName>
                                        </p:attrNameLst>
                                      </p:cBhvr>
                                      <p:tavLst>
                                        <p:tav tm="0">
                                          <p:val>
                                            <p:strVal val="#ppt_x-#ppt_w/2"/>
                                          </p:val>
                                        </p:tav>
                                        <p:tav tm="100000">
                                          <p:val>
                                            <p:strVal val="#ppt_x"/>
                                          </p:val>
                                        </p:tav>
                                      </p:tavLst>
                                    </p:anim>
                                    <p:anim calcmode="lin" valueType="num">
                                      <p:cBhvr>
                                        <p:cTn id="42" dur="500" fill="hold"/>
                                        <p:tgtEl>
                                          <p:spTgt spid="56327"/>
                                        </p:tgtEl>
                                        <p:attrNameLst>
                                          <p:attrName>ppt_y</p:attrName>
                                        </p:attrNameLst>
                                      </p:cBhvr>
                                      <p:tavLst>
                                        <p:tav tm="0">
                                          <p:val>
                                            <p:strVal val="#ppt_y"/>
                                          </p:val>
                                        </p:tav>
                                        <p:tav tm="100000">
                                          <p:val>
                                            <p:strVal val="#ppt_y"/>
                                          </p:val>
                                        </p:tav>
                                      </p:tavLst>
                                    </p:anim>
                                    <p:anim calcmode="lin" valueType="num">
                                      <p:cBhvr>
                                        <p:cTn id="43" dur="500" fill="hold"/>
                                        <p:tgtEl>
                                          <p:spTgt spid="56327"/>
                                        </p:tgtEl>
                                        <p:attrNameLst>
                                          <p:attrName>ppt_w</p:attrName>
                                        </p:attrNameLst>
                                      </p:cBhvr>
                                      <p:tavLst>
                                        <p:tav tm="0">
                                          <p:val>
                                            <p:fltVal val="0"/>
                                          </p:val>
                                        </p:tav>
                                        <p:tav tm="100000">
                                          <p:val>
                                            <p:strVal val="#ppt_w"/>
                                          </p:val>
                                        </p:tav>
                                      </p:tavLst>
                                    </p:anim>
                                    <p:anim calcmode="lin" valueType="num">
                                      <p:cBhvr>
                                        <p:cTn id="44" dur="500" fill="hold"/>
                                        <p:tgtEl>
                                          <p:spTgt spid="56327"/>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nodeType="clickEffect">
                                  <p:stCondLst>
                                    <p:cond delay="0"/>
                                  </p:stCondLst>
                                  <p:childTnLst>
                                    <p:set>
                                      <p:cBhvr>
                                        <p:cTn id="48" dur="1" fill="hold">
                                          <p:stCondLst>
                                            <p:cond delay="0"/>
                                          </p:stCondLst>
                                        </p:cTn>
                                        <p:tgtEl>
                                          <p:spTgt spid="56329"/>
                                        </p:tgtEl>
                                        <p:attrNameLst>
                                          <p:attrName>style.visibility</p:attrName>
                                        </p:attrNameLst>
                                      </p:cBhvr>
                                      <p:to>
                                        <p:strVal val="visible"/>
                                      </p:to>
                                    </p:set>
                                    <p:anim calcmode="lin" valueType="num">
                                      <p:cBhvr>
                                        <p:cTn id="49" dur="500" fill="hold"/>
                                        <p:tgtEl>
                                          <p:spTgt spid="56329"/>
                                        </p:tgtEl>
                                        <p:attrNameLst>
                                          <p:attrName>ppt_x</p:attrName>
                                        </p:attrNameLst>
                                      </p:cBhvr>
                                      <p:tavLst>
                                        <p:tav tm="0">
                                          <p:val>
                                            <p:strVal val="#ppt_x-#ppt_w/2"/>
                                          </p:val>
                                        </p:tav>
                                        <p:tav tm="100000">
                                          <p:val>
                                            <p:strVal val="#ppt_x"/>
                                          </p:val>
                                        </p:tav>
                                      </p:tavLst>
                                    </p:anim>
                                    <p:anim calcmode="lin" valueType="num">
                                      <p:cBhvr>
                                        <p:cTn id="50" dur="500" fill="hold"/>
                                        <p:tgtEl>
                                          <p:spTgt spid="56329"/>
                                        </p:tgtEl>
                                        <p:attrNameLst>
                                          <p:attrName>ppt_y</p:attrName>
                                        </p:attrNameLst>
                                      </p:cBhvr>
                                      <p:tavLst>
                                        <p:tav tm="0">
                                          <p:val>
                                            <p:strVal val="#ppt_y"/>
                                          </p:val>
                                        </p:tav>
                                        <p:tav tm="100000">
                                          <p:val>
                                            <p:strVal val="#ppt_y"/>
                                          </p:val>
                                        </p:tav>
                                      </p:tavLst>
                                    </p:anim>
                                    <p:anim calcmode="lin" valueType="num">
                                      <p:cBhvr>
                                        <p:cTn id="51" dur="500" fill="hold"/>
                                        <p:tgtEl>
                                          <p:spTgt spid="56329"/>
                                        </p:tgtEl>
                                        <p:attrNameLst>
                                          <p:attrName>ppt_w</p:attrName>
                                        </p:attrNameLst>
                                      </p:cBhvr>
                                      <p:tavLst>
                                        <p:tav tm="0">
                                          <p:val>
                                            <p:fltVal val="0"/>
                                          </p:val>
                                        </p:tav>
                                        <p:tav tm="100000">
                                          <p:val>
                                            <p:strVal val="#ppt_w"/>
                                          </p:val>
                                        </p:tav>
                                      </p:tavLst>
                                    </p:anim>
                                    <p:anim calcmode="lin" valueType="num">
                                      <p:cBhvr>
                                        <p:cTn id="52" dur="500" fill="hold"/>
                                        <p:tgtEl>
                                          <p:spTgt spid="56329"/>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nodeType="clickEffect">
                                  <p:stCondLst>
                                    <p:cond delay="0"/>
                                  </p:stCondLst>
                                  <p:childTnLst>
                                    <p:set>
                                      <p:cBhvr>
                                        <p:cTn id="56" dur="1" fill="hold">
                                          <p:stCondLst>
                                            <p:cond delay="0"/>
                                          </p:stCondLst>
                                        </p:cTn>
                                        <p:tgtEl>
                                          <p:spTgt spid="56330"/>
                                        </p:tgtEl>
                                        <p:attrNameLst>
                                          <p:attrName>style.visibility</p:attrName>
                                        </p:attrNameLst>
                                      </p:cBhvr>
                                      <p:to>
                                        <p:strVal val="visible"/>
                                      </p:to>
                                    </p:set>
                                    <p:anim calcmode="lin" valueType="num">
                                      <p:cBhvr>
                                        <p:cTn id="57" dur="500" fill="hold"/>
                                        <p:tgtEl>
                                          <p:spTgt spid="56330"/>
                                        </p:tgtEl>
                                        <p:attrNameLst>
                                          <p:attrName>ppt_x</p:attrName>
                                        </p:attrNameLst>
                                      </p:cBhvr>
                                      <p:tavLst>
                                        <p:tav tm="0">
                                          <p:val>
                                            <p:strVal val="#ppt_x-#ppt_w/2"/>
                                          </p:val>
                                        </p:tav>
                                        <p:tav tm="100000">
                                          <p:val>
                                            <p:strVal val="#ppt_x"/>
                                          </p:val>
                                        </p:tav>
                                      </p:tavLst>
                                    </p:anim>
                                    <p:anim calcmode="lin" valueType="num">
                                      <p:cBhvr>
                                        <p:cTn id="58" dur="500" fill="hold"/>
                                        <p:tgtEl>
                                          <p:spTgt spid="56330"/>
                                        </p:tgtEl>
                                        <p:attrNameLst>
                                          <p:attrName>ppt_y</p:attrName>
                                        </p:attrNameLst>
                                      </p:cBhvr>
                                      <p:tavLst>
                                        <p:tav tm="0">
                                          <p:val>
                                            <p:strVal val="#ppt_y"/>
                                          </p:val>
                                        </p:tav>
                                        <p:tav tm="100000">
                                          <p:val>
                                            <p:strVal val="#ppt_y"/>
                                          </p:val>
                                        </p:tav>
                                      </p:tavLst>
                                    </p:anim>
                                    <p:anim calcmode="lin" valueType="num">
                                      <p:cBhvr>
                                        <p:cTn id="59" dur="500" fill="hold"/>
                                        <p:tgtEl>
                                          <p:spTgt spid="56330"/>
                                        </p:tgtEl>
                                        <p:attrNameLst>
                                          <p:attrName>ppt_w</p:attrName>
                                        </p:attrNameLst>
                                      </p:cBhvr>
                                      <p:tavLst>
                                        <p:tav tm="0">
                                          <p:val>
                                            <p:fltVal val="0"/>
                                          </p:val>
                                        </p:tav>
                                        <p:tav tm="100000">
                                          <p:val>
                                            <p:strVal val="#ppt_w"/>
                                          </p:val>
                                        </p:tav>
                                      </p:tavLst>
                                    </p:anim>
                                    <p:anim calcmode="lin" valueType="num">
                                      <p:cBhvr>
                                        <p:cTn id="60" dur="500" fill="hold"/>
                                        <p:tgtEl>
                                          <p:spTgt spid="563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3" grpId="0" autoUpdateAnimBg="0"/>
      <p:bldP spid="56324" grpId="0" autoUpdateAnimBg="0"/>
      <p:bldP spid="56326" grpId="0" autoUpdateAnimBg="0"/>
      <p:bldP spid="5632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457200" y="609600"/>
            <a:ext cx="624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三、互感线圈的同名端</a:t>
            </a:r>
            <a:r>
              <a:rPr lang="zh-CN" altLang="en-US" b="1">
                <a:solidFill>
                  <a:srgbClr val="FF3300"/>
                </a:solidFill>
              </a:rPr>
              <a:t>（</a:t>
            </a:r>
            <a:r>
              <a:rPr lang="en-US" altLang="zh-CN" b="1">
                <a:solidFill>
                  <a:srgbClr val="FF3300"/>
                </a:solidFill>
              </a:rPr>
              <a:t>dotted terminal</a:t>
            </a:r>
            <a:r>
              <a:rPr lang="zh-CN" altLang="en-US" b="1">
                <a:solidFill>
                  <a:srgbClr val="FF3300"/>
                </a:solidFill>
              </a:rPr>
              <a:t>）</a:t>
            </a:r>
            <a:endParaRPr lang="zh-CN" altLang="en-US" b="1"/>
          </a:p>
        </p:txBody>
      </p:sp>
      <p:sp>
        <p:nvSpPr>
          <p:cNvPr id="50184" name="Text Box 8"/>
          <p:cNvSpPr txBox="1">
            <a:spLocks noChangeArrowheads="1"/>
          </p:cNvSpPr>
          <p:nvPr/>
        </p:nvSpPr>
        <p:spPr bwMode="auto">
          <a:xfrm>
            <a:off x="457200" y="1160463"/>
            <a:ext cx="80010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pPr>
            <a:r>
              <a:rPr lang="zh-CN" altLang="en-US" b="1"/>
              <a:t>互感电压不仅与参考方向有关，而且与线圈的绕向有关，这在电路分析中显得很不方便。</a:t>
            </a:r>
          </a:p>
        </p:txBody>
      </p:sp>
      <p:grpSp>
        <p:nvGrpSpPr>
          <p:cNvPr id="50185" name="Group 9"/>
          <p:cNvGrpSpPr>
            <a:grpSpLocks/>
          </p:cNvGrpSpPr>
          <p:nvPr/>
        </p:nvGrpSpPr>
        <p:grpSpPr bwMode="auto">
          <a:xfrm>
            <a:off x="1325563" y="2209800"/>
            <a:ext cx="6034087" cy="2667000"/>
            <a:chOff x="1152" y="1296"/>
            <a:chExt cx="3801" cy="1680"/>
          </a:xfrm>
        </p:grpSpPr>
        <p:sp>
          <p:nvSpPr>
            <p:cNvPr id="50186" name="Arc 10"/>
            <p:cNvSpPr>
              <a:spLocks/>
            </p:cNvSpPr>
            <p:nvPr/>
          </p:nvSpPr>
          <p:spPr bwMode="auto">
            <a:xfrm flipH="1" flipV="1">
              <a:off x="1248" y="1632"/>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7" name="Rectangle 11"/>
            <p:cNvSpPr>
              <a:spLocks noChangeArrowheads="1"/>
            </p:cNvSpPr>
            <p:nvPr/>
          </p:nvSpPr>
          <p:spPr bwMode="auto">
            <a:xfrm>
              <a:off x="1536" y="1680"/>
              <a:ext cx="2880" cy="52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0188" name="Group 12"/>
            <p:cNvGrpSpPr>
              <a:grpSpLocks/>
            </p:cNvGrpSpPr>
            <p:nvPr/>
          </p:nvGrpSpPr>
          <p:grpSpPr bwMode="auto">
            <a:xfrm>
              <a:off x="1632" y="1536"/>
              <a:ext cx="720" cy="1152"/>
              <a:chOff x="1420" y="1152"/>
              <a:chExt cx="904" cy="1220"/>
            </a:xfrm>
          </p:grpSpPr>
          <p:sp>
            <p:nvSpPr>
              <p:cNvPr id="50189" name="Freeform 13"/>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0" name="Freeform 14"/>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1" name="Freeform 15"/>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2" name="Freeform 16"/>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3" name="Freeform 17"/>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4" name="Freeform 18"/>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5" name="Freeform 19"/>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6" name="Oval 20"/>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7" name="Oval 21"/>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198" name="Group 22"/>
            <p:cNvGrpSpPr>
              <a:grpSpLocks/>
            </p:cNvGrpSpPr>
            <p:nvPr/>
          </p:nvGrpSpPr>
          <p:grpSpPr bwMode="auto">
            <a:xfrm>
              <a:off x="2640" y="1536"/>
              <a:ext cx="720" cy="1152"/>
              <a:chOff x="1420" y="1152"/>
              <a:chExt cx="904" cy="1220"/>
            </a:xfrm>
          </p:grpSpPr>
          <p:sp>
            <p:nvSpPr>
              <p:cNvPr id="50199" name="Freeform 23"/>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0" name="Freeform 24"/>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1" name="Freeform 25"/>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2" name="Freeform 26"/>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3" name="Freeform 27"/>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4" name="Freeform 28"/>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5" name="Freeform 29"/>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6" name="Oval 30"/>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7" name="Oval 31"/>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208" name="Arc 32"/>
            <p:cNvSpPr>
              <a:spLocks/>
            </p:cNvSpPr>
            <p:nvPr/>
          </p:nvSpPr>
          <p:spPr bwMode="auto">
            <a:xfrm flipH="1" flipV="1">
              <a:off x="1257" y="1728"/>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9" name="Line 33"/>
            <p:cNvSpPr>
              <a:spLocks noChangeShapeType="1"/>
            </p:cNvSpPr>
            <p:nvPr/>
          </p:nvSpPr>
          <p:spPr bwMode="auto">
            <a:xfrm flipH="1">
              <a:off x="1257" y="1968"/>
              <a:ext cx="3312" cy="0"/>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0" name="Arc 34"/>
            <p:cNvSpPr>
              <a:spLocks/>
            </p:cNvSpPr>
            <p:nvPr/>
          </p:nvSpPr>
          <p:spPr bwMode="auto">
            <a:xfrm flipH="1">
              <a:off x="1257" y="2112"/>
              <a:ext cx="3268" cy="192"/>
            </a:xfrm>
            <a:custGeom>
              <a:avLst/>
              <a:gdLst>
                <a:gd name="G0" fmla="+- 20002 0 0"/>
                <a:gd name="G1" fmla="+- 21600 0 0"/>
                <a:gd name="G2" fmla="+- 21600 0 0"/>
                <a:gd name="T0" fmla="*/ 0 w 39984"/>
                <a:gd name="T1" fmla="*/ 13446 h 21600"/>
                <a:gd name="T2" fmla="*/ 39984 w 39984"/>
                <a:gd name="T3" fmla="*/ 13397 h 21600"/>
                <a:gd name="T4" fmla="*/ 20002 w 39984"/>
                <a:gd name="T5" fmla="*/ 21600 h 21600"/>
              </a:gdLst>
              <a:ahLst/>
              <a:cxnLst>
                <a:cxn ang="0">
                  <a:pos x="T0" y="T1"/>
                </a:cxn>
                <a:cxn ang="0">
                  <a:pos x="T2" y="T3"/>
                </a:cxn>
                <a:cxn ang="0">
                  <a:pos x="T4" y="T5"/>
                </a:cxn>
              </a:cxnLst>
              <a:rect l="0" t="0" r="r" b="b"/>
              <a:pathLst>
                <a:path w="39984" h="21600" fill="none" extrusionOk="0">
                  <a:moveTo>
                    <a:pt x="0" y="13446"/>
                  </a:moveTo>
                  <a:cubicBezTo>
                    <a:pt x="3314" y="5315"/>
                    <a:pt x="11221" y="0"/>
                    <a:pt x="20002" y="0"/>
                  </a:cubicBezTo>
                  <a:cubicBezTo>
                    <a:pt x="28763" y="0"/>
                    <a:pt x="36656" y="5292"/>
                    <a:pt x="39983" y="13397"/>
                  </a:cubicBezTo>
                </a:path>
                <a:path w="39984" h="21600" stroke="0" extrusionOk="0">
                  <a:moveTo>
                    <a:pt x="0" y="13446"/>
                  </a:moveTo>
                  <a:cubicBezTo>
                    <a:pt x="3314" y="5315"/>
                    <a:pt x="11221" y="0"/>
                    <a:pt x="20002" y="0"/>
                  </a:cubicBezTo>
                  <a:cubicBezTo>
                    <a:pt x="28763" y="0"/>
                    <a:pt x="36656" y="5292"/>
                    <a:pt x="39983" y="13397"/>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1" name="Arc 35"/>
            <p:cNvSpPr>
              <a:spLocks/>
            </p:cNvSpPr>
            <p:nvPr/>
          </p:nvSpPr>
          <p:spPr bwMode="auto">
            <a:xfrm flipH="1">
              <a:off x="1257" y="2016"/>
              <a:ext cx="3312" cy="192"/>
            </a:xfrm>
            <a:custGeom>
              <a:avLst/>
              <a:gdLst>
                <a:gd name="G0" fmla="+- 20002 0 0"/>
                <a:gd name="G1" fmla="+- 21600 0 0"/>
                <a:gd name="G2" fmla="+- 21600 0 0"/>
                <a:gd name="T0" fmla="*/ 0 w 38424"/>
                <a:gd name="T1" fmla="*/ 13446 h 21600"/>
                <a:gd name="T2" fmla="*/ 38424 w 38424"/>
                <a:gd name="T3" fmla="*/ 10322 h 21600"/>
                <a:gd name="T4" fmla="*/ 20002 w 38424"/>
                <a:gd name="T5" fmla="*/ 21600 h 21600"/>
              </a:gdLst>
              <a:ahLst/>
              <a:cxnLst>
                <a:cxn ang="0">
                  <a:pos x="T0" y="T1"/>
                </a:cxn>
                <a:cxn ang="0">
                  <a:pos x="T2" y="T3"/>
                </a:cxn>
                <a:cxn ang="0">
                  <a:pos x="T4" y="T5"/>
                </a:cxn>
              </a:cxnLst>
              <a:rect l="0" t="0" r="r" b="b"/>
              <a:pathLst>
                <a:path w="38424" h="21600" fill="none" extrusionOk="0">
                  <a:moveTo>
                    <a:pt x="0" y="13446"/>
                  </a:moveTo>
                  <a:cubicBezTo>
                    <a:pt x="3314" y="5315"/>
                    <a:pt x="11221" y="0"/>
                    <a:pt x="20002" y="0"/>
                  </a:cubicBezTo>
                  <a:cubicBezTo>
                    <a:pt x="27520" y="0"/>
                    <a:pt x="34498" y="3909"/>
                    <a:pt x="38423" y="10322"/>
                  </a:cubicBezTo>
                </a:path>
                <a:path w="38424" h="21600" stroke="0" extrusionOk="0">
                  <a:moveTo>
                    <a:pt x="0" y="13446"/>
                  </a:moveTo>
                  <a:cubicBezTo>
                    <a:pt x="3314" y="5315"/>
                    <a:pt x="11221" y="0"/>
                    <a:pt x="20002" y="0"/>
                  </a:cubicBezTo>
                  <a:cubicBezTo>
                    <a:pt x="27520" y="0"/>
                    <a:pt x="34498" y="3909"/>
                    <a:pt x="38423" y="10322"/>
                  </a:cubicBezTo>
                  <a:lnTo>
                    <a:pt x="20002"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2" name="Arc 36"/>
            <p:cNvSpPr>
              <a:spLocks/>
            </p:cNvSpPr>
            <p:nvPr/>
          </p:nvSpPr>
          <p:spPr bwMode="auto">
            <a:xfrm flipV="1">
              <a:off x="1488" y="2160"/>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3" name="Arc 37"/>
            <p:cNvSpPr>
              <a:spLocks/>
            </p:cNvSpPr>
            <p:nvPr/>
          </p:nvSpPr>
          <p:spPr bwMode="auto">
            <a:xfrm>
              <a:off x="1488" y="1392"/>
              <a:ext cx="960" cy="336"/>
            </a:xfrm>
            <a:custGeom>
              <a:avLst/>
              <a:gdLst>
                <a:gd name="G0" fmla="+- 21600 0 0"/>
                <a:gd name="G1" fmla="+- 21600 0 0"/>
                <a:gd name="G2" fmla="+- 21600 0 0"/>
                <a:gd name="T0" fmla="*/ 21600 w 43200"/>
                <a:gd name="T1" fmla="*/ 0 h 43200"/>
                <a:gd name="T2" fmla="*/ 20765 w 43200"/>
                <a:gd name="T3" fmla="*/ 1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close/>
                </a:path>
              </a:pathLst>
            </a:custGeom>
            <a:noFill/>
            <a:ln w="19050">
              <a:solidFill>
                <a:schemeClr val="accent2"/>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4" name="Text Box 38"/>
            <p:cNvSpPr txBox="1">
              <a:spLocks noChangeArrowheads="1"/>
            </p:cNvSpPr>
            <p:nvPr/>
          </p:nvSpPr>
          <p:spPr bwMode="auto">
            <a:xfrm>
              <a:off x="1536"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15" name="Text Box 39"/>
            <p:cNvSpPr txBox="1">
              <a:spLocks noChangeArrowheads="1"/>
            </p:cNvSpPr>
            <p:nvPr/>
          </p:nvSpPr>
          <p:spPr bwMode="auto">
            <a:xfrm>
              <a:off x="2208"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16" name="Text Box 40"/>
            <p:cNvSpPr txBox="1">
              <a:spLocks noChangeArrowheads="1"/>
            </p:cNvSpPr>
            <p:nvPr/>
          </p:nvSpPr>
          <p:spPr bwMode="auto">
            <a:xfrm>
              <a:off x="1872" y="268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11</a:t>
              </a:r>
              <a:endParaRPr lang="en-US" altLang="zh-CN" b="1"/>
            </a:p>
          </p:txBody>
        </p:sp>
        <p:sp>
          <p:nvSpPr>
            <p:cNvPr id="50217" name="Text Box 41"/>
            <p:cNvSpPr txBox="1">
              <a:spLocks noChangeArrowheads="1"/>
            </p:cNvSpPr>
            <p:nvPr/>
          </p:nvSpPr>
          <p:spPr bwMode="auto">
            <a:xfrm>
              <a:off x="2544"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18" name="Text Box 42"/>
            <p:cNvSpPr txBox="1">
              <a:spLocks noChangeArrowheads="1"/>
            </p:cNvSpPr>
            <p:nvPr/>
          </p:nvSpPr>
          <p:spPr bwMode="auto">
            <a:xfrm>
              <a:off x="3216"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19" name="Text Box 43"/>
            <p:cNvSpPr txBox="1">
              <a:spLocks noChangeArrowheads="1"/>
            </p:cNvSpPr>
            <p:nvPr/>
          </p:nvSpPr>
          <p:spPr bwMode="auto">
            <a:xfrm>
              <a:off x="2832" y="268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3300"/>
                  </a:solidFill>
                </a:rPr>
                <a:t>u</a:t>
              </a:r>
              <a:r>
                <a:rPr lang="en-US" altLang="zh-CN" b="1" baseline="-25000">
                  <a:solidFill>
                    <a:srgbClr val="FF3300"/>
                  </a:solidFill>
                </a:rPr>
                <a:t>21</a:t>
              </a:r>
              <a:endParaRPr lang="en-US" altLang="zh-CN" b="1"/>
            </a:p>
          </p:txBody>
        </p:sp>
        <p:sp>
          <p:nvSpPr>
            <p:cNvPr id="50220" name="Line 44"/>
            <p:cNvSpPr>
              <a:spLocks noChangeShapeType="1"/>
            </p:cNvSpPr>
            <p:nvPr/>
          </p:nvSpPr>
          <p:spPr bwMode="auto">
            <a:xfrm flipV="1">
              <a:off x="1536" y="2400"/>
              <a:ext cx="0" cy="336"/>
            </a:xfrm>
            <a:prstGeom prst="line">
              <a:avLst/>
            </a:prstGeom>
            <a:noFill/>
            <a:ln w="19050">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1" name="Text Box 45"/>
            <p:cNvSpPr txBox="1">
              <a:spLocks noChangeArrowheads="1"/>
            </p:cNvSpPr>
            <p:nvPr/>
          </p:nvSpPr>
          <p:spPr bwMode="auto">
            <a:xfrm>
              <a:off x="1296" y="24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rPr>
                <a:t>i</a:t>
              </a:r>
              <a:r>
                <a:rPr lang="en-US" altLang="zh-CN" b="1" baseline="-25000">
                  <a:solidFill>
                    <a:schemeClr val="accent2"/>
                  </a:solidFill>
                </a:rPr>
                <a:t>1</a:t>
              </a:r>
              <a:endParaRPr lang="en-US" altLang="zh-CN" b="1">
                <a:solidFill>
                  <a:schemeClr val="accent2"/>
                </a:solidFill>
              </a:endParaRPr>
            </a:p>
          </p:txBody>
        </p:sp>
        <p:sp>
          <p:nvSpPr>
            <p:cNvPr id="50222" name="Text Box 46"/>
            <p:cNvSpPr txBox="1">
              <a:spLocks noChangeArrowheads="1"/>
            </p:cNvSpPr>
            <p:nvPr/>
          </p:nvSpPr>
          <p:spPr bwMode="auto">
            <a:xfrm>
              <a:off x="1152" y="134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11</a:t>
              </a:r>
              <a:endParaRPr lang="en-US" altLang="zh-CN" b="1">
                <a:solidFill>
                  <a:schemeClr val="accent2"/>
                </a:solidFill>
              </a:endParaRPr>
            </a:p>
          </p:txBody>
        </p:sp>
        <p:sp>
          <p:nvSpPr>
            <p:cNvPr id="50223" name="Text Box 47"/>
            <p:cNvSpPr txBox="1">
              <a:spLocks noChangeArrowheads="1"/>
            </p:cNvSpPr>
            <p:nvPr/>
          </p:nvSpPr>
          <p:spPr bwMode="auto">
            <a:xfrm>
              <a:off x="4521" y="182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 0</a:t>
              </a:r>
            </a:p>
          </p:txBody>
        </p:sp>
        <p:sp>
          <p:nvSpPr>
            <p:cNvPr id="50224" name="Text Box 48"/>
            <p:cNvSpPr txBox="1">
              <a:spLocks noChangeArrowheads="1"/>
            </p:cNvSpPr>
            <p:nvPr/>
          </p:nvSpPr>
          <p:spPr bwMode="auto">
            <a:xfrm>
              <a:off x="1824" y="220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1</a:t>
              </a:r>
              <a:endParaRPr lang="en-US" altLang="zh-CN" b="1"/>
            </a:p>
          </p:txBody>
        </p:sp>
        <p:sp>
          <p:nvSpPr>
            <p:cNvPr id="50225" name="Text Box 49"/>
            <p:cNvSpPr txBox="1">
              <a:spLocks noChangeArrowheads="1"/>
            </p:cNvSpPr>
            <p:nvPr/>
          </p:nvSpPr>
          <p:spPr bwMode="auto">
            <a:xfrm>
              <a:off x="2880" y="22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2</a:t>
              </a:r>
              <a:endParaRPr lang="en-US" altLang="zh-CN" b="1"/>
            </a:p>
          </p:txBody>
        </p:sp>
        <p:grpSp>
          <p:nvGrpSpPr>
            <p:cNvPr id="50226" name="Group 50"/>
            <p:cNvGrpSpPr>
              <a:grpSpLocks/>
            </p:cNvGrpSpPr>
            <p:nvPr/>
          </p:nvGrpSpPr>
          <p:grpSpPr bwMode="auto">
            <a:xfrm flipH="1">
              <a:off x="3552" y="1536"/>
              <a:ext cx="720" cy="1152"/>
              <a:chOff x="1420" y="1152"/>
              <a:chExt cx="904" cy="1220"/>
            </a:xfrm>
          </p:grpSpPr>
          <p:sp>
            <p:nvSpPr>
              <p:cNvPr id="50227" name="Freeform 51"/>
              <p:cNvSpPr>
                <a:spLocks/>
              </p:cNvSpPr>
              <p:nvPr/>
            </p:nvSpPr>
            <p:spPr bwMode="auto">
              <a:xfrm>
                <a:off x="1440" y="1152"/>
                <a:ext cx="48" cy="1152"/>
              </a:xfrm>
              <a:custGeom>
                <a:avLst/>
                <a:gdLst>
                  <a:gd name="T0" fmla="*/ 6 w 60"/>
                  <a:gd name="T1" fmla="*/ 880 h 880"/>
                  <a:gd name="T2" fmla="*/ 9 w 60"/>
                  <a:gd name="T3" fmla="*/ 127 h 880"/>
                  <a:gd name="T4" fmla="*/ 60 w 60"/>
                  <a:gd name="T5" fmla="*/ 115 h 880"/>
                </a:gdLst>
                <a:ahLst/>
                <a:cxnLst>
                  <a:cxn ang="0">
                    <a:pos x="T0" y="T1"/>
                  </a:cxn>
                  <a:cxn ang="0">
                    <a:pos x="T2" y="T3"/>
                  </a:cxn>
                  <a:cxn ang="0">
                    <a:pos x="T4" y="T5"/>
                  </a:cxn>
                </a:cxnLst>
                <a:rect l="0" t="0" r="r" b="b"/>
                <a:pathLst>
                  <a:path w="60" h="880">
                    <a:moveTo>
                      <a:pt x="6" y="880"/>
                    </a:moveTo>
                    <a:cubicBezTo>
                      <a:pt x="6" y="754"/>
                      <a:pt x="0" y="254"/>
                      <a:pt x="9" y="127"/>
                    </a:cubicBezTo>
                    <a:cubicBezTo>
                      <a:pt x="18" y="0"/>
                      <a:pt x="50" y="117"/>
                      <a:pt x="60" y="115"/>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8" name="Freeform 52"/>
              <p:cNvSpPr>
                <a:spLocks/>
              </p:cNvSpPr>
              <p:nvPr/>
            </p:nvSpPr>
            <p:spPr bwMode="auto">
              <a:xfrm>
                <a:off x="1536" y="1205"/>
                <a:ext cx="126" cy="705"/>
              </a:xfrm>
              <a:custGeom>
                <a:avLst/>
                <a:gdLst>
                  <a:gd name="T0" fmla="*/ 0 w 126"/>
                  <a:gd name="T1" fmla="*/ 667 h 705"/>
                  <a:gd name="T2" fmla="*/ 36 w 126"/>
                  <a:gd name="T3" fmla="*/ 691 h 705"/>
                  <a:gd name="T4" fmla="*/ 60 w 126"/>
                  <a:gd name="T5" fmla="*/ 604 h 705"/>
                  <a:gd name="T6" fmla="*/ 72 w 126"/>
                  <a:gd name="T7" fmla="*/ 85 h 705"/>
                  <a:gd name="T8" fmla="*/ 126 w 126"/>
                  <a:gd name="T9" fmla="*/ 94 h 705"/>
                </a:gdLst>
                <a:ahLst/>
                <a:cxnLst>
                  <a:cxn ang="0">
                    <a:pos x="T0" y="T1"/>
                  </a:cxn>
                  <a:cxn ang="0">
                    <a:pos x="T2" y="T3"/>
                  </a:cxn>
                  <a:cxn ang="0">
                    <a:pos x="T4" y="T5"/>
                  </a:cxn>
                  <a:cxn ang="0">
                    <a:pos x="T6" y="T7"/>
                  </a:cxn>
                  <a:cxn ang="0">
                    <a:pos x="T8" y="T9"/>
                  </a:cxn>
                </a:cxnLst>
                <a:rect l="0" t="0" r="r" b="b"/>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9" name="Freeform 53"/>
              <p:cNvSpPr>
                <a:spLocks/>
              </p:cNvSpPr>
              <p:nvPr/>
            </p:nvSpPr>
            <p:spPr bwMode="auto">
              <a:xfrm>
                <a:off x="1680"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0" name="Freeform 54"/>
              <p:cNvSpPr>
                <a:spLocks/>
              </p:cNvSpPr>
              <p:nvPr/>
            </p:nvSpPr>
            <p:spPr bwMode="auto">
              <a:xfrm>
                <a:off x="1824"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1" name="Freeform 55"/>
              <p:cNvSpPr>
                <a:spLocks/>
              </p:cNvSpPr>
              <p:nvPr/>
            </p:nvSpPr>
            <p:spPr bwMode="auto">
              <a:xfrm>
                <a:off x="1968"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2" name="Freeform 56"/>
              <p:cNvSpPr>
                <a:spLocks/>
              </p:cNvSpPr>
              <p:nvPr/>
            </p:nvSpPr>
            <p:spPr bwMode="auto">
              <a:xfrm>
                <a:off x="2112" y="1212"/>
                <a:ext cx="123" cy="708"/>
              </a:xfrm>
              <a:custGeom>
                <a:avLst/>
                <a:gdLst>
                  <a:gd name="T0" fmla="*/ 0 w 123"/>
                  <a:gd name="T1" fmla="*/ 657 h 708"/>
                  <a:gd name="T2" fmla="*/ 33 w 123"/>
                  <a:gd name="T3" fmla="*/ 694 h 708"/>
                  <a:gd name="T4" fmla="*/ 57 w 123"/>
                  <a:gd name="T5" fmla="*/ 607 h 708"/>
                  <a:gd name="T6" fmla="*/ 69 w 123"/>
                  <a:gd name="T7" fmla="*/ 88 h 708"/>
                  <a:gd name="T8" fmla="*/ 123 w 123"/>
                  <a:gd name="T9" fmla="*/ 81 h 708"/>
                </a:gdLst>
                <a:ahLst/>
                <a:cxnLst>
                  <a:cxn ang="0">
                    <a:pos x="T0" y="T1"/>
                  </a:cxn>
                  <a:cxn ang="0">
                    <a:pos x="T2" y="T3"/>
                  </a:cxn>
                  <a:cxn ang="0">
                    <a:pos x="T4" y="T5"/>
                  </a:cxn>
                  <a:cxn ang="0">
                    <a:pos x="T6" y="T7"/>
                  </a:cxn>
                  <a:cxn ang="0">
                    <a:pos x="T8" y="T9"/>
                  </a:cxn>
                </a:cxnLst>
                <a:rect l="0" t="0" r="r" b="b"/>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3" name="Freeform 57"/>
              <p:cNvSpPr>
                <a:spLocks/>
              </p:cNvSpPr>
              <p:nvPr/>
            </p:nvSpPr>
            <p:spPr bwMode="auto">
              <a:xfrm>
                <a:off x="2280" y="1878"/>
                <a:ext cx="1" cy="432"/>
              </a:xfrm>
              <a:custGeom>
                <a:avLst/>
                <a:gdLst>
                  <a:gd name="T0" fmla="*/ 0 w 1"/>
                  <a:gd name="T1" fmla="*/ 0 h 432"/>
                  <a:gd name="T2" fmla="*/ 0 w 1"/>
                  <a:gd name="T3" fmla="*/ 432 h 432"/>
                </a:gdLst>
                <a:ahLst/>
                <a:cxnLst>
                  <a:cxn ang="0">
                    <a:pos x="T0" y="T1"/>
                  </a:cxn>
                  <a:cxn ang="0">
                    <a:pos x="T2" y="T3"/>
                  </a:cxn>
                </a:cxnLst>
                <a:rect l="0" t="0" r="r" b="b"/>
                <a:pathLst>
                  <a:path w="1" h="432">
                    <a:moveTo>
                      <a:pt x="0" y="0"/>
                    </a:moveTo>
                    <a:lnTo>
                      <a:pt x="0" y="432"/>
                    </a:lnTo>
                  </a:path>
                </a:pathLst>
              </a:custGeom>
              <a:noFill/>
              <a:ln w="1905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4" name="Oval 58"/>
              <p:cNvSpPr>
                <a:spLocks noChangeArrowheads="1"/>
              </p:cNvSpPr>
              <p:nvPr/>
            </p:nvSpPr>
            <p:spPr bwMode="auto">
              <a:xfrm>
                <a:off x="1420"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5" name="Oval 59"/>
              <p:cNvSpPr>
                <a:spLocks noChangeArrowheads="1"/>
              </p:cNvSpPr>
              <p:nvPr/>
            </p:nvSpPr>
            <p:spPr bwMode="auto">
              <a:xfrm>
                <a:off x="2256" y="230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236" name="Text Box 60"/>
            <p:cNvSpPr txBox="1">
              <a:spLocks noChangeArrowheads="1"/>
            </p:cNvSpPr>
            <p:nvPr/>
          </p:nvSpPr>
          <p:spPr bwMode="auto">
            <a:xfrm>
              <a:off x="3504"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37" name="Text Box 61"/>
            <p:cNvSpPr txBox="1">
              <a:spLocks noChangeArrowheads="1"/>
            </p:cNvSpPr>
            <p:nvPr/>
          </p:nvSpPr>
          <p:spPr bwMode="auto">
            <a:xfrm>
              <a:off x="4176" y="268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0238" name="Text Box 62"/>
            <p:cNvSpPr txBox="1">
              <a:spLocks noChangeArrowheads="1"/>
            </p:cNvSpPr>
            <p:nvPr/>
          </p:nvSpPr>
          <p:spPr bwMode="auto">
            <a:xfrm>
              <a:off x="3792" y="268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rgbClr val="FF3300"/>
                  </a:solidFill>
                </a:rPr>
                <a:t>u</a:t>
              </a:r>
              <a:r>
                <a:rPr lang="en-US" altLang="zh-CN" b="1" baseline="-25000">
                  <a:solidFill>
                    <a:srgbClr val="FF3300"/>
                  </a:solidFill>
                </a:rPr>
                <a:t>31</a:t>
              </a:r>
              <a:endParaRPr lang="en-US" altLang="zh-CN" b="1">
                <a:solidFill>
                  <a:srgbClr val="FF3300"/>
                </a:solidFill>
              </a:endParaRPr>
            </a:p>
          </p:txBody>
        </p:sp>
        <p:sp>
          <p:nvSpPr>
            <p:cNvPr id="50239" name="Text Box 63"/>
            <p:cNvSpPr txBox="1">
              <a:spLocks noChangeArrowheads="1"/>
            </p:cNvSpPr>
            <p:nvPr/>
          </p:nvSpPr>
          <p:spPr bwMode="auto">
            <a:xfrm>
              <a:off x="3888" y="225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ym typeface="Symbol" panose="05050102010706020507" pitchFamily="18" charset="2"/>
                </a:rPr>
                <a:t>N</a:t>
              </a:r>
              <a:r>
                <a:rPr lang="en-US" altLang="zh-CN" b="1" baseline="-25000"/>
                <a:t>3</a:t>
              </a:r>
              <a:endParaRPr lang="en-US" altLang="zh-CN" b="1"/>
            </a:p>
          </p:txBody>
        </p:sp>
        <p:sp>
          <p:nvSpPr>
            <p:cNvPr id="50240" name="Text Box 64"/>
            <p:cNvSpPr txBox="1">
              <a:spLocks noChangeArrowheads="1"/>
            </p:cNvSpPr>
            <p:nvPr/>
          </p:nvSpPr>
          <p:spPr bwMode="auto">
            <a:xfrm>
              <a:off x="2352" y="129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solidFill>
                    <a:schemeClr val="accent2"/>
                  </a:solidFill>
                  <a:sym typeface="Symbol" panose="05050102010706020507" pitchFamily="18" charset="2"/>
                </a:rPr>
                <a:t></a:t>
              </a:r>
              <a:r>
                <a:rPr lang="en-US" altLang="zh-CN" b="1" baseline="-25000">
                  <a:solidFill>
                    <a:schemeClr val="accent2"/>
                  </a:solidFill>
                </a:rPr>
                <a:t> s</a:t>
              </a:r>
            </a:p>
          </p:txBody>
        </p:sp>
      </p:grpSp>
      <p:graphicFrame>
        <p:nvGraphicFramePr>
          <p:cNvPr id="50241" name="Object 65"/>
          <p:cNvGraphicFramePr>
            <a:graphicFrameLocks noChangeAspect="1"/>
          </p:cNvGraphicFramePr>
          <p:nvPr/>
        </p:nvGraphicFramePr>
        <p:xfrm>
          <a:off x="3259138" y="4856163"/>
          <a:ext cx="2144712" cy="817562"/>
        </p:xfrm>
        <a:graphic>
          <a:graphicData uri="http://schemas.openxmlformats.org/presentationml/2006/ole">
            <mc:AlternateContent xmlns:mc="http://schemas.openxmlformats.org/markup-compatibility/2006">
              <mc:Choice xmlns:v="urn:schemas-microsoft-com:vml" Requires="v">
                <p:oleObj spid="_x0000_s50284" name="Equation" r:id="rId3" imgW="1066680" imgH="406080" progId="Equation.3">
                  <p:embed/>
                </p:oleObj>
              </mc:Choice>
              <mc:Fallback>
                <p:oleObj name="Equation" r:id="rId3" imgW="1066680" imgH="406080" progId="Equation.3">
                  <p:embed/>
                  <p:pic>
                    <p:nvPicPr>
                      <p:cNvPr id="0"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9138" y="4856163"/>
                        <a:ext cx="2144712"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42" name="Text Box 66"/>
          <p:cNvSpPr txBox="1">
            <a:spLocks noChangeArrowheads="1"/>
          </p:cNvSpPr>
          <p:nvPr/>
        </p:nvSpPr>
        <p:spPr bwMode="auto">
          <a:xfrm>
            <a:off x="457200" y="59817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引入同名端可以解决这个问题。</a:t>
            </a:r>
          </a:p>
        </p:txBody>
      </p:sp>
      <p:graphicFrame>
        <p:nvGraphicFramePr>
          <p:cNvPr id="50247" name="Object 71"/>
          <p:cNvGraphicFramePr>
            <a:graphicFrameLocks noChangeAspect="1"/>
          </p:cNvGraphicFramePr>
          <p:nvPr/>
        </p:nvGraphicFramePr>
        <p:xfrm>
          <a:off x="5341938" y="4894263"/>
          <a:ext cx="2017712" cy="817562"/>
        </p:xfrm>
        <a:graphic>
          <a:graphicData uri="http://schemas.openxmlformats.org/presentationml/2006/ole">
            <mc:AlternateContent xmlns:mc="http://schemas.openxmlformats.org/markup-compatibility/2006">
              <mc:Choice xmlns:v="urn:schemas-microsoft-com:vml" Requires="v">
                <p:oleObj spid="_x0000_s50285" name="Equation" r:id="rId5" imgW="1002960" imgH="406080" progId="Equation.3">
                  <p:embed/>
                </p:oleObj>
              </mc:Choice>
              <mc:Fallback>
                <p:oleObj name="Equation" r:id="rId5" imgW="1002960" imgH="406080" progId="Equation.3">
                  <p:embed/>
                  <p:pic>
                    <p:nvPicPr>
                      <p:cNvPr id="0" name="Object 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1938" y="4894263"/>
                        <a:ext cx="2017712"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additive="base">
                                        <p:cTn id="7" dur="500" fill="hold"/>
                                        <p:tgtEl>
                                          <p:spTgt spid="50178"/>
                                        </p:tgtEl>
                                        <p:attrNameLst>
                                          <p:attrName>ppt_x</p:attrName>
                                        </p:attrNameLst>
                                      </p:cBhvr>
                                      <p:tavLst>
                                        <p:tav tm="0">
                                          <p:val>
                                            <p:strVal val="0-#ppt_w/2"/>
                                          </p:val>
                                        </p:tav>
                                        <p:tav tm="100000">
                                          <p:val>
                                            <p:strVal val="#ppt_x"/>
                                          </p:val>
                                        </p:tav>
                                      </p:tavLst>
                                    </p:anim>
                                    <p:anim calcmode="lin" valueType="num">
                                      <p:cBhvr additive="base">
                                        <p:cTn id="8" dur="500" fill="hold"/>
                                        <p:tgtEl>
                                          <p:spTgt spid="5017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0184"/>
                                        </p:tgtEl>
                                        <p:attrNameLst>
                                          <p:attrName>style.visibility</p:attrName>
                                        </p:attrNameLst>
                                      </p:cBhvr>
                                      <p:to>
                                        <p:strVal val="visible"/>
                                      </p:to>
                                    </p:set>
                                    <p:animEffect transition="in" filter="wipe(left)">
                                      <p:cBhvr>
                                        <p:cTn id="12" dur="500"/>
                                        <p:tgtEl>
                                          <p:spTgt spid="501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0185"/>
                                        </p:tgtEl>
                                        <p:attrNameLst>
                                          <p:attrName>style.visibility</p:attrName>
                                        </p:attrNameLst>
                                      </p:cBhvr>
                                      <p:to>
                                        <p:strVal val="visible"/>
                                      </p:to>
                                    </p:set>
                                    <p:anim calcmode="lin" valueType="num">
                                      <p:cBhvr>
                                        <p:cTn id="17" dur="500" fill="hold"/>
                                        <p:tgtEl>
                                          <p:spTgt spid="50185"/>
                                        </p:tgtEl>
                                        <p:attrNameLst>
                                          <p:attrName>ppt_w</p:attrName>
                                        </p:attrNameLst>
                                      </p:cBhvr>
                                      <p:tavLst>
                                        <p:tav tm="0">
                                          <p:val>
                                            <p:fltVal val="0"/>
                                          </p:val>
                                        </p:tav>
                                        <p:tav tm="100000">
                                          <p:val>
                                            <p:strVal val="#ppt_w"/>
                                          </p:val>
                                        </p:tav>
                                      </p:tavLst>
                                    </p:anim>
                                    <p:anim calcmode="lin" valueType="num">
                                      <p:cBhvr>
                                        <p:cTn id="18" dur="500" fill="hold"/>
                                        <p:tgtEl>
                                          <p:spTgt spid="50185"/>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1" fill="hold" nodeType="clickEffect">
                                  <p:stCondLst>
                                    <p:cond delay="0"/>
                                  </p:stCondLst>
                                  <p:childTnLst>
                                    <p:set>
                                      <p:cBhvr>
                                        <p:cTn id="22" dur="1" fill="hold">
                                          <p:stCondLst>
                                            <p:cond delay="0"/>
                                          </p:stCondLst>
                                        </p:cTn>
                                        <p:tgtEl>
                                          <p:spTgt spid="50241"/>
                                        </p:tgtEl>
                                        <p:attrNameLst>
                                          <p:attrName>style.visibility</p:attrName>
                                        </p:attrNameLst>
                                      </p:cBhvr>
                                      <p:to>
                                        <p:strVal val="visible"/>
                                      </p:to>
                                    </p:set>
                                    <p:animEffect transition="in" filter="slide(fromTop)">
                                      <p:cBhvr>
                                        <p:cTn id="23" dur="500"/>
                                        <p:tgtEl>
                                          <p:spTgt spid="5024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1" fill="hold" nodeType="clickEffect">
                                  <p:stCondLst>
                                    <p:cond delay="0"/>
                                  </p:stCondLst>
                                  <p:childTnLst>
                                    <p:set>
                                      <p:cBhvr>
                                        <p:cTn id="27" dur="1" fill="hold">
                                          <p:stCondLst>
                                            <p:cond delay="0"/>
                                          </p:stCondLst>
                                        </p:cTn>
                                        <p:tgtEl>
                                          <p:spTgt spid="50247"/>
                                        </p:tgtEl>
                                        <p:attrNameLst>
                                          <p:attrName>style.visibility</p:attrName>
                                        </p:attrNameLst>
                                      </p:cBhvr>
                                      <p:to>
                                        <p:strVal val="visible"/>
                                      </p:to>
                                    </p:set>
                                    <p:animEffect transition="in" filter="slide(fromTop)">
                                      <p:cBhvr>
                                        <p:cTn id="28" dur="500"/>
                                        <p:tgtEl>
                                          <p:spTgt spid="5024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8" fill="hold" grpId="0" nodeType="clickEffect">
                                  <p:stCondLst>
                                    <p:cond delay="0"/>
                                  </p:stCondLst>
                                  <p:childTnLst>
                                    <p:set>
                                      <p:cBhvr>
                                        <p:cTn id="32" dur="1" fill="hold">
                                          <p:stCondLst>
                                            <p:cond delay="0"/>
                                          </p:stCondLst>
                                        </p:cTn>
                                        <p:tgtEl>
                                          <p:spTgt spid="50242"/>
                                        </p:tgtEl>
                                        <p:attrNameLst>
                                          <p:attrName>style.visibility</p:attrName>
                                        </p:attrNameLst>
                                      </p:cBhvr>
                                      <p:to>
                                        <p:strVal val="visible"/>
                                      </p:to>
                                    </p:set>
                                    <p:anim calcmode="lin" valueType="num">
                                      <p:cBhvr>
                                        <p:cTn id="33" dur="500" fill="hold"/>
                                        <p:tgtEl>
                                          <p:spTgt spid="50242"/>
                                        </p:tgtEl>
                                        <p:attrNameLst>
                                          <p:attrName>ppt_x</p:attrName>
                                        </p:attrNameLst>
                                      </p:cBhvr>
                                      <p:tavLst>
                                        <p:tav tm="0">
                                          <p:val>
                                            <p:strVal val="#ppt_x-#ppt_w/2"/>
                                          </p:val>
                                        </p:tav>
                                        <p:tav tm="100000">
                                          <p:val>
                                            <p:strVal val="#ppt_x"/>
                                          </p:val>
                                        </p:tav>
                                      </p:tavLst>
                                    </p:anim>
                                    <p:anim calcmode="lin" valueType="num">
                                      <p:cBhvr>
                                        <p:cTn id="34" dur="500" fill="hold"/>
                                        <p:tgtEl>
                                          <p:spTgt spid="50242"/>
                                        </p:tgtEl>
                                        <p:attrNameLst>
                                          <p:attrName>ppt_y</p:attrName>
                                        </p:attrNameLst>
                                      </p:cBhvr>
                                      <p:tavLst>
                                        <p:tav tm="0">
                                          <p:val>
                                            <p:strVal val="#ppt_y"/>
                                          </p:val>
                                        </p:tav>
                                        <p:tav tm="100000">
                                          <p:val>
                                            <p:strVal val="#ppt_y"/>
                                          </p:val>
                                        </p:tav>
                                      </p:tavLst>
                                    </p:anim>
                                    <p:anim calcmode="lin" valueType="num">
                                      <p:cBhvr>
                                        <p:cTn id="35" dur="500" fill="hold"/>
                                        <p:tgtEl>
                                          <p:spTgt spid="50242"/>
                                        </p:tgtEl>
                                        <p:attrNameLst>
                                          <p:attrName>ppt_w</p:attrName>
                                        </p:attrNameLst>
                                      </p:cBhvr>
                                      <p:tavLst>
                                        <p:tav tm="0">
                                          <p:val>
                                            <p:fltVal val="0"/>
                                          </p:val>
                                        </p:tav>
                                        <p:tav tm="100000">
                                          <p:val>
                                            <p:strVal val="#ppt_w"/>
                                          </p:val>
                                        </p:tav>
                                      </p:tavLst>
                                    </p:anim>
                                    <p:anim calcmode="lin" valueType="num">
                                      <p:cBhvr>
                                        <p:cTn id="36" dur="500" fill="hold"/>
                                        <p:tgtEl>
                                          <p:spTgt spid="502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84" grpId="0" autoUpdateAnimBg="0"/>
      <p:bldP spid="5024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026"/>
          <p:cNvSpPr txBox="1">
            <a:spLocks noChangeArrowheads="1"/>
          </p:cNvSpPr>
          <p:nvPr/>
        </p:nvSpPr>
        <p:spPr bwMode="auto">
          <a:xfrm>
            <a:off x="533400" y="590550"/>
            <a:ext cx="2495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b="1"/>
              <a:t>1.  </a:t>
            </a:r>
            <a:r>
              <a:rPr kumimoji="0" lang="zh-CN" altLang="en-US" b="1"/>
              <a:t>同名端的定义：</a:t>
            </a:r>
          </a:p>
        </p:txBody>
      </p:sp>
      <p:sp>
        <p:nvSpPr>
          <p:cNvPr id="87044" name="Text Box 1028"/>
          <p:cNvSpPr txBox="1">
            <a:spLocks noChangeArrowheads="1"/>
          </p:cNvSpPr>
          <p:nvPr/>
        </p:nvSpPr>
        <p:spPr bwMode="auto">
          <a:xfrm>
            <a:off x="1066800" y="1047750"/>
            <a:ext cx="744855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kumimoji="0" lang="zh-CN" altLang="en-US" b="1"/>
              <a:t>同名端是分别属于两个线圈的这样两个端点：当两个电流分别从这两个端点流入，与每个线圈相链的自感磁通同由另一线圈的电流产生的互感磁通方向相同，因而互相加强，这两个端点便是同名端。</a:t>
            </a:r>
          </a:p>
        </p:txBody>
      </p:sp>
      <p:grpSp>
        <p:nvGrpSpPr>
          <p:cNvPr id="87129" name="Group 1113"/>
          <p:cNvGrpSpPr>
            <a:grpSpLocks/>
          </p:cNvGrpSpPr>
          <p:nvPr/>
        </p:nvGrpSpPr>
        <p:grpSpPr bwMode="auto">
          <a:xfrm>
            <a:off x="1066800" y="3856038"/>
            <a:ext cx="2819400" cy="1630362"/>
            <a:chOff x="672" y="2429"/>
            <a:chExt cx="1776" cy="1027"/>
          </a:xfrm>
        </p:grpSpPr>
        <p:sp>
          <p:nvSpPr>
            <p:cNvPr id="87046" name="Rectangle 1030"/>
            <p:cNvSpPr>
              <a:spLocks noChangeArrowheads="1"/>
            </p:cNvSpPr>
            <p:nvPr/>
          </p:nvSpPr>
          <p:spPr bwMode="auto">
            <a:xfrm>
              <a:off x="1087" y="2538"/>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47" name="Rectangle 1031"/>
            <p:cNvSpPr>
              <a:spLocks noChangeArrowheads="1"/>
            </p:cNvSpPr>
            <p:nvPr/>
          </p:nvSpPr>
          <p:spPr bwMode="auto">
            <a:xfrm>
              <a:off x="1248" y="2701"/>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48" name="AutoShape 1032"/>
            <p:cNvSpPr>
              <a:spLocks noChangeArrowheads="1"/>
            </p:cNvSpPr>
            <p:nvPr/>
          </p:nvSpPr>
          <p:spPr bwMode="auto">
            <a:xfrm>
              <a:off x="1152" y="2623"/>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49" name="Line 1033"/>
            <p:cNvSpPr>
              <a:spLocks noChangeShapeType="1"/>
            </p:cNvSpPr>
            <p:nvPr/>
          </p:nvSpPr>
          <p:spPr bwMode="auto">
            <a:xfrm>
              <a:off x="1776" y="2973"/>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87050" name="Group 1034"/>
            <p:cNvGrpSpPr>
              <a:grpSpLocks/>
            </p:cNvGrpSpPr>
            <p:nvPr/>
          </p:nvGrpSpPr>
          <p:grpSpPr bwMode="auto">
            <a:xfrm>
              <a:off x="862" y="2750"/>
              <a:ext cx="423" cy="450"/>
              <a:chOff x="862" y="2612"/>
              <a:chExt cx="423" cy="450"/>
            </a:xfrm>
          </p:grpSpPr>
          <p:sp>
            <p:nvSpPr>
              <p:cNvPr id="87051" name="Freeform 1035"/>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2" name="Line 1036"/>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3" name="Freeform 1037"/>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4" name="Freeform 1038"/>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5" name="Freeform 1039"/>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6" name="Freeform 1040"/>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7" name="Oval 1041"/>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58" name="Oval 1042"/>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7059" name="Line 1043"/>
            <p:cNvSpPr>
              <a:spLocks noChangeShapeType="1"/>
            </p:cNvSpPr>
            <p:nvPr/>
          </p:nvSpPr>
          <p:spPr bwMode="auto">
            <a:xfrm>
              <a:off x="894" y="2730"/>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0" name="Text Box 1044"/>
            <p:cNvSpPr txBox="1">
              <a:spLocks noChangeArrowheads="1"/>
            </p:cNvSpPr>
            <p:nvPr/>
          </p:nvSpPr>
          <p:spPr bwMode="auto">
            <a:xfrm>
              <a:off x="1296" y="2457"/>
              <a:ext cx="336"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a:sym typeface="Symbol" panose="05050102010706020507" pitchFamily="18" charset="2"/>
                </a:rPr>
                <a:t></a:t>
              </a:r>
              <a:endParaRPr lang="en-US" altLang="zh-CN" b="1"/>
            </a:p>
          </p:txBody>
        </p:sp>
        <p:sp>
          <p:nvSpPr>
            <p:cNvPr id="87061" name="Text Box 1045"/>
            <p:cNvSpPr txBox="1">
              <a:spLocks noChangeArrowheads="1"/>
            </p:cNvSpPr>
            <p:nvPr/>
          </p:nvSpPr>
          <p:spPr bwMode="auto">
            <a:xfrm>
              <a:off x="888" y="2429"/>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a:t>i</a:t>
              </a:r>
              <a:endParaRPr lang="en-US" altLang="zh-CN" b="1"/>
            </a:p>
          </p:txBody>
        </p:sp>
        <p:grpSp>
          <p:nvGrpSpPr>
            <p:cNvPr id="87062" name="Group 1046"/>
            <p:cNvGrpSpPr>
              <a:grpSpLocks/>
            </p:cNvGrpSpPr>
            <p:nvPr/>
          </p:nvGrpSpPr>
          <p:grpSpPr bwMode="auto">
            <a:xfrm flipH="1">
              <a:off x="1632" y="2778"/>
              <a:ext cx="528" cy="432"/>
              <a:chOff x="862" y="2612"/>
              <a:chExt cx="423" cy="450"/>
            </a:xfrm>
          </p:grpSpPr>
          <p:sp>
            <p:nvSpPr>
              <p:cNvPr id="87063" name="Freeform 1047"/>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4" name="Line 1048"/>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5" name="Freeform 1049"/>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6" name="Freeform 1050"/>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7" name="Freeform 1051"/>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8" name="Freeform 1052"/>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69" name="Oval 1053"/>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70" name="Oval 1054"/>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7071" name="Text Box 1055"/>
            <p:cNvSpPr txBox="1">
              <a:spLocks noChangeArrowheads="1"/>
            </p:cNvSpPr>
            <p:nvPr/>
          </p:nvSpPr>
          <p:spPr bwMode="auto">
            <a:xfrm>
              <a:off x="672" y="263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a:t>
              </a:r>
            </a:p>
          </p:txBody>
        </p:sp>
        <p:sp>
          <p:nvSpPr>
            <p:cNvPr id="87072" name="Text Box 1056"/>
            <p:cNvSpPr txBox="1">
              <a:spLocks noChangeArrowheads="1"/>
            </p:cNvSpPr>
            <p:nvPr/>
          </p:nvSpPr>
          <p:spPr bwMode="auto">
            <a:xfrm>
              <a:off x="672" y="301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a:t>
              </a:r>
            </a:p>
          </p:txBody>
        </p:sp>
        <p:sp>
          <p:nvSpPr>
            <p:cNvPr id="87073" name="Text Box 1057"/>
            <p:cNvSpPr txBox="1">
              <a:spLocks noChangeArrowheads="1"/>
            </p:cNvSpPr>
            <p:nvPr/>
          </p:nvSpPr>
          <p:spPr bwMode="auto">
            <a:xfrm>
              <a:off x="2160" y="263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2</a:t>
              </a:r>
            </a:p>
          </p:txBody>
        </p:sp>
        <p:sp>
          <p:nvSpPr>
            <p:cNvPr id="87074" name="Text Box 1058"/>
            <p:cNvSpPr txBox="1">
              <a:spLocks noChangeArrowheads="1"/>
            </p:cNvSpPr>
            <p:nvPr/>
          </p:nvSpPr>
          <p:spPr bwMode="auto">
            <a:xfrm>
              <a:off x="2160" y="301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2'</a:t>
              </a:r>
            </a:p>
          </p:txBody>
        </p:sp>
      </p:grpSp>
      <p:sp>
        <p:nvSpPr>
          <p:cNvPr id="87075" name="Text Box 1059"/>
          <p:cNvSpPr txBox="1">
            <a:spLocks noChangeArrowheads="1"/>
          </p:cNvSpPr>
          <p:nvPr/>
        </p:nvSpPr>
        <p:spPr bwMode="auto">
          <a:xfrm>
            <a:off x="1228725" y="40290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sp>
        <p:nvSpPr>
          <p:cNvPr id="87076" name="Text Box 1060"/>
          <p:cNvSpPr txBox="1">
            <a:spLocks noChangeArrowheads="1"/>
          </p:cNvSpPr>
          <p:nvPr/>
        </p:nvSpPr>
        <p:spPr bwMode="auto">
          <a:xfrm>
            <a:off x="3124200" y="41052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grpSp>
        <p:nvGrpSpPr>
          <p:cNvPr id="87077" name="Group 1061"/>
          <p:cNvGrpSpPr>
            <a:grpSpLocks/>
          </p:cNvGrpSpPr>
          <p:nvPr/>
        </p:nvGrpSpPr>
        <p:grpSpPr bwMode="auto">
          <a:xfrm>
            <a:off x="5257800" y="4114800"/>
            <a:ext cx="838200" cy="1143000"/>
            <a:chOff x="2352" y="3600"/>
            <a:chExt cx="528" cy="720"/>
          </a:xfrm>
        </p:grpSpPr>
        <p:sp>
          <p:nvSpPr>
            <p:cNvPr id="87078" name="Line 1062"/>
            <p:cNvSpPr>
              <a:spLocks noChangeShapeType="1"/>
            </p:cNvSpPr>
            <p:nvPr/>
          </p:nvSpPr>
          <p:spPr bwMode="auto">
            <a:xfrm rot="-5400000">
              <a:off x="2668" y="3572"/>
              <a:ext cx="0" cy="55"/>
            </a:xfrm>
            <a:prstGeom prst="line">
              <a:avLst/>
            </a:prstGeom>
            <a:noFill/>
            <a:ln w="19050">
              <a:solidFill>
                <a:srgbClr val="FF3300"/>
              </a:solidFill>
              <a:prstDash val="dash"/>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79" name="AutoShape 1063"/>
            <p:cNvSpPr>
              <a:spLocks noChangeArrowheads="1"/>
            </p:cNvSpPr>
            <p:nvPr/>
          </p:nvSpPr>
          <p:spPr bwMode="auto">
            <a:xfrm>
              <a:off x="2352" y="3600"/>
              <a:ext cx="528" cy="720"/>
            </a:xfrm>
            <a:prstGeom prst="roundRect">
              <a:avLst>
                <a:gd name="adj" fmla="val 16667"/>
              </a:avLst>
            </a:prstGeom>
            <a:noFill/>
            <a:ln w="19050">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80" name="Group 1064"/>
          <p:cNvGrpSpPr>
            <a:grpSpLocks/>
          </p:cNvGrpSpPr>
          <p:nvPr/>
        </p:nvGrpSpPr>
        <p:grpSpPr bwMode="auto">
          <a:xfrm>
            <a:off x="5105400" y="4038600"/>
            <a:ext cx="1905000" cy="1295400"/>
            <a:chOff x="3216" y="3648"/>
            <a:chExt cx="1200" cy="816"/>
          </a:xfrm>
        </p:grpSpPr>
        <p:sp>
          <p:nvSpPr>
            <p:cNvPr id="87081" name="Line 1065"/>
            <p:cNvSpPr>
              <a:spLocks noChangeShapeType="1"/>
            </p:cNvSpPr>
            <p:nvPr/>
          </p:nvSpPr>
          <p:spPr bwMode="auto">
            <a:xfrm rot="16200000" flipH="1">
              <a:off x="3868" y="3620"/>
              <a:ext cx="0" cy="55"/>
            </a:xfrm>
            <a:prstGeom prst="line">
              <a:avLst/>
            </a:prstGeom>
            <a:noFill/>
            <a:ln w="19050">
              <a:solidFill>
                <a:srgbClr val="FF3300"/>
              </a:solidFill>
              <a:prstDash val="dash"/>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82" name="AutoShape 1066"/>
            <p:cNvSpPr>
              <a:spLocks noChangeArrowheads="1"/>
            </p:cNvSpPr>
            <p:nvPr/>
          </p:nvSpPr>
          <p:spPr bwMode="auto">
            <a:xfrm>
              <a:off x="3216" y="3648"/>
              <a:ext cx="1200" cy="816"/>
            </a:xfrm>
            <a:prstGeom prst="roundRect">
              <a:avLst>
                <a:gd name="adj" fmla="val 16667"/>
              </a:avLst>
            </a:prstGeom>
            <a:noFill/>
            <a:ln w="19050">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130" name="Group 1114"/>
          <p:cNvGrpSpPr>
            <a:grpSpLocks/>
          </p:cNvGrpSpPr>
          <p:nvPr/>
        </p:nvGrpSpPr>
        <p:grpSpPr bwMode="auto">
          <a:xfrm>
            <a:off x="4419600" y="3989388"/>
            <a:ext cx="3505200" cy="1411287"/>
            <a:chOff x="2784" y="2513"/>
            <a:chExt cx="2208" cy="889"/>
          </a:xfrm>
        </p:grpSpPr>
        <p:sp>
          <p:nvSpPr>
            <p:cNvPr id="87084" name="Rectangle 1068"/>
            <p:cNvSpPr>
              <a:spLocks noChangeArrowheads="1"/>
            </p:cNvSpPr>
            <p:nvPr/>
          </p:nvSpPr>
          <p:spPr bwMode="auto">
            <a:xfrm>
              <a:off x="3166" y="2513"/>
              <a:ext cx="1368" cy="889"/>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85" name="Rectangle 1069"/>
            <p:cNvSpPr>
              <a:spLocks noChangeArrowheads="1"/>
            </p:cNvSpPr>
            <p:nvPr/>
          </p:nvSpPr>
          <p:spPr bwMode="auto">
            <a:xfrm>
              <a:off x="3371" y="2686"/>
              <a:ext cx="373" cy="551"/>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86" name="Rectangle 1070"/>
            <p:cNvSpPr>
              <a:spLocks noChangeArrowheads="1"/>
            </p:cNvSpPr>
            <p:nvPr/>
          </p:nvSpPr>
          <p:spPr bwMode="auto">
            <a:xfrm>
              <a:off x="3951" y="2686"/>
              <a:ext cx="373" cy="551"/>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87087" name="Group 1071"/>
            <p:cNvGrpSpPr>
              <a:grpSpLocks/>
            </p:cNvGrpSpPr>
            <p:nvPr/>
          </p:nvGrpSpPr>
          <p:grpSpPr bwMode="auto">
            <a:xfrm>
              <a:off x="2985" y="2734"/>
              <a:ext cx="451" cy="467"/>
              <a:chOff x="2985" y="2734"/>
              <a:chExt cx="451" cy="467"/>
            </a:xfrm>
          </p:grpSpPr>
          <p:sp>
            <p:nvSpPr>
              <p:cNvPr id="87088" name="Freeform 1072"/>
              <p:cNvSpPr>
                <a:spLocks/>
              </p:cNvSpPr>
              <p:nvPr/>
            </p:nvSpPr>
            <p:spPr bwMode="auto">
              <a:xfrm>
                <a:off x="3104" y="2820"/>
                <a:ext cx="332" cy="88"/>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89" name="Freeform 1073"/>
              <p:cNvSpPr>
                <a:spLocks/>
              </p:cNvSpPr>
              <p:nvPr/>
            </p:nvSpPr>
            <p:spPr bwMode="auto">
              <a:xfrm>
                <a:off x="3101" y="2936"/>
                <a:ext cx="331" cy="89"/>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0" name="Freeform 1074"/>
              <p:cNvSpPr>
                <a:spLocks/>
              </p:cNvSpPr>
              <p:nvPr/>
            </p:nvSpPr>
            <p:spPr bwMode="auto">
              <a:xfrm>
                <a:off x="3104" y="3053"/>
                <a:ext cx="332" cy="88"/>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1" name="Freeform 1075"/>
              <p:cNvSpPr>
                <a:spLocks/>
              </p:cNvSpPr>
              <p:nvPr/>
            </p:nvSpPr>
            <p:spPr bwMode="auto">
              <a:xfrm>
                <a:off x="3032" y="2754"/>
                <a:ext cx="354" cy="2"/>
              </a:xfrm>
              <a:custGeom>
                <a:avLst/>
                <a:gdLst>
                  <a:gd name="T0" fmla="*/ 0 w 354"/>
                  <a:gd name="T1" fmla="*/ 2 h 2"/>
                  <a:gd name="T2" fmla="*/ 354 w 354"/>
                  <a:gd name="T3" fmla="*/ 0 h 2"/>
                </a:gdLst>
                <a:ahLst/>
                <a:cxnLst>
                  <a:cxn ang="0">
                    <a:pos x="T0" y="T1"/>
                  </a:cxn>
                  <a:cxn ang="0">
                    <a:pos x="T2" y="T3"/>
                  </a:cxn>
                </a:cxnLst>
                <a:rect l="0" t="0" r="r" b="b"/>
                <a:pathLst>
                  <a:path w="354" h="2">
                    <a:moveTo>
                      <a:pt x="0" y="2"/>
                    </a:moveTo>
                    <a:lnTo>
                      <a:pt x="354" y="0"/>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2" name="Freeform 1076"/>
              <p:cNvSpPr>
                <a:spLocks/>
              </p:cNvSpPr>
              <p:nvPr/>
            </p:nvSpPr>
            <p:spPr bwMode="auto">
              <a:xfrm>
                <a:off x="3032" y="3177"/>
                <a:ext cx="130" cy="3"/>
              </a:xfrm>
              <a:custGeom>
                <a:avLst/>
                <a:gdLst>
                  <a:gd name="T0" fmla="*/ 0 w 130"/>
                  <a:gd name="T1" fmla="*/ 3 h 3"/>
                  <a:gd name="T2" fmla="*/ 130 w 130"/>
                  <a:gd name="T3" fmla="*/ 0 h 3"/>
                </a:gdLst>
                <a:ahLst/>
                <a:cxnLst>
                  <a:cxn ang="0">
                    <a:pos x="T0" y="T1"/>
                  </a:cxn>
                  <a:cxn ang="0">
                    <a:pos x="T2" y="T3"/>
                  </a:cxn>
                </a:cxnLst>
                <a:rect l="0" t="0" r="r" b="b"/>
                <a:pathLst>
                  <a:path w="130" h="3">
                    <a:moveTo>
                      <a:pt x="0" y="3"/>
                    </a:moveTo>
                    <a:lnTo>
                      <a:pt x="130" y="0"/>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3" name="Freeform 1077"/>
              <p:cNvSpPr>
                <a:spLocks/>
              </p:cNvSpPr>
              <p:nvPr/>
            </p:nvSpPr>
            <p:spPr bwMode="auto">
              <a:xfrm>
                <a:off x="3375" y="2753"/>
                <a:ext cx="44" cy="28"/>
              </a:xfrm>
              <a:custGeom>
                <a:avLst/>
                <a:gdLst>
                  <a:gd name="T0" fmla="*/ 14 w 90"/>
                  <a:gd name="T1" fmla="*/ 1 h 53"/>
                  <a:gd name="T2" fmla="*/ 82 w 90"/>
                  <a:gd name="T3" fmla="*/ 7 h 53"/>
                  <a:gd name="T4" fmla="*/ 60 w 90"/>
                  <a:gd name="T5" fmla="*/ 45 h 53"/>
                  <a:gd name="T6" fmla="*/ 0 w 90"/>
                  <a:gd name="T7" fmla="*/ 53 h 53"/>
                </a:gdLst>
                <a:ahLst/>
                <a:cxnLst>
                  <a:cxn ang="0">
                    <a:pos x="T0" y="T1"/>
                  </a:cxn>
                  <a:cxn ang="0">
                    <a:pos x="T2" y="T3"/>
                  </a:cxn>
                  <a:cxn ang="0">
                    <a:pos x="T4" y="T5"/>
                  </a:cxn>
                  <a:cxn ang="0">
                    <a:pos x="T6" y="T7"/>
                  </a:cxn>
                </a:cxnLst>
                <a:rect l="0" t="0" r="r" b="b"/>
                <a:pathLst>
                  <a:path w="90" h="53">
                    <a:moveTo>
                      <a:pt x="14" y="1"/>
                    </a:moveTo>
                    <a:cubicBezTo>
                      <a:pt x="44" y="0"/>
                      <a:pt x="74" y="0"/>
                      <a:pt x="82" y="7"/>
                    </a:cubicBezTo>
                    <a:cubicBezTo>
                      <a:pt x="90" y="14"/>
                      <a:pt x="74" y="37"/>
                      <a:pt x="60" y="45"/>
                    </a:cubicBezTo>
                    <a:cubicBezTo>
                      <a:pt x="46" y="53"/>
                      <a:pt x="23" y="53"/>
                      <a:pt x="0" y="53"/>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4" name="Oval 1078"/>
              <p:cNvSpPr>
                <a:spLocks noChangeArrowheads="1"/>
              </p:cNvSpPr>
              <p:nvPr/>
            </p:nvSpPr>
            <p:spPr bwMode="auto">
              <a:xfrm>
                <a:off x="2985" y="3159"/>
                <a:ext cx="39"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5" name="Oval 1079"/>
              <p:cNvSpPr>
                <a:spLocks noChangeArrowheads="1"/>
              </p:cNvSpPr>
              <p:nvPr/>
            </p:nvSpPr>
            <p:spPr bwMode="auto">
              <a:xfrm>
                <a:off x="2985" y="2734"/>
                <a:ext cx="39"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7096" name="Group 1080"/>
            <p:cNvGrpSpPr>
              <a:grpSpLocks/>
            </p:cNvGrpSpPr>
            <p:nvPr/>
          </p:nvGrpSpPr>
          <p:grpSpPr bwMode="auto">
            <a:xfrm>
              <a:off x="3600" y="2736"/>
              <a:ext cx="399" cy="432"/>
              <a:chOff x="3600" y="2736"/>
              <a:chExt cx="399" cy="432"/>
            </a:xfrm>
          </p:grpSpPr>
          <p:sp>
            <p:nvSpPr>
              <p:cNvPr id="87097" name="Freeform 1081"/>
              <p:cNvSpPr>
                <a:spLocks/>
              </p:cNvSpPr>
              <p:nvPr/>
            </p:nvSpPr>
            <p:spPr bwMode="auto">
              <a:xfrm>
                <a:off x="3699" y="2822"/>
                <a:ext cx="300" cy="88"/>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8" name="Freeform 1082"/>
              <p:cNvSpPr>
                <a:spLocks/>
              </p:cNvSpPr>
              <p:nvPr/>
            </p:nvSpPr>
            <p:spPr bwMode="auto">
              <a:xfrm>
                <a:off x="3696" y="2938"/>
                <a:ext cx="299" cy="89"/>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099" name="Freeform 1083"/>
              <p:cNvSpPr>
                <a:spLocks/>
              </p:cNvSpPr>
              <p:nvPr/>
            </p:nvSpPr>
            <p:spPr bwMode="auto">
              <a:xfrm>
                <a:off x="3699" y="3055"/>
                <a:ext cx="300" cy="88"/>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0" name="Freeform 1084"/>
              <p:cNvSpPr>
                <a:spLocks/>
              </p:cNvSpPr>
              <p:nvPr/>
            </p:nvSpPr>
            <p:spPr bwMode="auto">
              <a:xfrm>
                <a:off x="3643" y="2756"/>
                <a:ext cx="320" cy="2"/>
              </a:xfrm>
              <a:custGeom>
                <a:avLst/>
                <a:gdLst>
                  <a:gd name="T0" fmla="*/ 0 w 354"/>
                  <a:gd name="T1" fmla="*/ 2 h 2"/>
                  <a:gd name="T2" fmla="*/ 354 w 354"/>
                  <a:gd name="T3" fmla="*/ 0 h 2"/>
                </a:gdLst>
                <a:ahLst/>
                <a:cxnLst>
                  <a:cxn ang="0">
                    <a:pos x="T0" y="T1"/>
                  </a:cxn>
                  <a:cxn ang="0">
                    <a:pos x="T2" y="T3"/>
                  </a:cxn>
                </a:cxnLst>
                <a:rect l="0" t="0" r="r" b="b"/>
                <a:pathLst>
                  <a:path w="354" h="2">
                    <a:moveTo>
                      <a:pt x="0" y="2"/>
                    </a:moveTo>
                    <a:lnTo>
                      <a:pt x="354" y="0"/>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1" name="Freeform 1085"/>
              <p:cNvSpPr>
                <a:spLocks/>
              </p:cNvSpPr>
              <p:nvPr/>
            </p:nvSpPr>
            <p:spPr bwMode="auto">
              <a:xfrm>
                <a:off x="3652" y="3156"/>
                <a:ext cx="96" cy="4"/>
              </a:xfrm>
              <a:custGeom>
                <a:avLst/>
                <a:gdLst>
                  <a:gd name="T0" fmla="*/ 0 w 96"/>
                  <a:gd name="T1" fmla="*/ 0 h 4"/>
                  <a:gd name="T2" fmla="*/ 96 w 96"/>
                  <a:gd name="T3" fmla="*/ 4 h 4"/>
                </a:gdLst>
                <a:ahLst/>
                <a:cxnLst>
                  <a:cxn ang="0">
                    <a:pos x="T0" y="T1"/>
                  </a:cxn>
                  <a:cxn ang="0">
                    <a:pos x="T2" y="T3"/>
                  </a:cxn>
                </a:cxnLst>
                <a:rect l="0" t="0" r="r" b="b"/>
                <a:pathLst>
                  <a:path w="96" h="4">
                    <a:moveTo>
                      <a:pt x="0" y="0"/>
                    </a:moveTo>
                    <a:lnTo>
                      <a:pt x="96" y="4"/>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2" name="Freeform 1086"/>
              <p:cNvSpPr>
                <a:spLocks/>
              </p:cNvSpPr>
              <p:nvPr/>
            </p:nvSpPr>
            <p:spPr bwMode="auto">
              <a:xfrm>
                <a:off x="3944" y="2755"/>
                <a:ext cx="40" cy="28"/>
              </a:xfrm>
              <a:custGeom>
                <a:avLst/>
                <a:gdLst>
                  <a:gd name="T0" fmla="*/ 14 w 90"/>
                  <a:gd name="T1" fmla="*/ 1 h 53"/>
                  <a:gd name="T2" fmla="*/ 82 w 90"/>
                  <a:gd name="T3" fmla="*/ 7 h 53"/>
                  <a:gd name="T4" fmla="*/ 60 w 90"/>
                  <a:gd name="T5" fmla="*/ 45 h 53"/>
                  <a:gd name="T6" fmla="*/ 0 w 90"/>
                  <a:gd name="T7" fmla="*/ 53 h 53"/>
                </a:gdLst>
                <a:ahLst/>
                <a:cxnLst>
                  <a:cxn ang="0">
                    <a:pos x="T0" y="T1"/>
                  </a:cxn>
                  <a:cxn ang="0">
                    <a:pos x="T2" y="T3"/>
                  </a:cxn>
                  <a:cxn ang="0">
                    <a:pos x="T4" y="T5"/>
                  </a:cxn>
                  <a:cxn ang="0">
                    <a:pos x="T6" y="T7"/>
                  </a:cxn>
                </a:cxnLst>
                <a:rect l="0" t="0" r="r" b="b"/>
                <a:pathLst>
                  <a:path w="90" h="53">
                    <a:moveTo>
                      <a:pt x="14" y="1"/>
                    </a:moveTo>
                    <a:cubicBezTo>
                      <a:pt x="44" y="0"/>
                      <a:pt x="74" y="0"/>
                      <a:pt x="82" y="7"/>
                    </a:cubicBezTo>
                    <a:cubicBezTo>
                      <a:pt x="90" y="14"/>
                      <a:pt x="74" y="37"/>
                      <a:pt x="60" y="45"/>
                    </a:cubicBezTo>
                    <a:cubicBezTo>
                      <a:pt x="46" y="53"/>
                      <a:pt x="23" y="53"/>
                      <a:pt x="0" y="53"/>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3" name="Oval 1087"/>
              <p:cNvSpPr>
                <a:spLocks noChangeArrowheads="1"/>
              </p:cNvSpPr>
              <p:nvPr/>
            </p:nvSpPr>
            <p:spPr bwMode="auto">
              <a:xfrm>
                <a:off x="3613" y="3126"/>
                <a:ext cx="35"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4" name="Oval 1088"/>
              <p:cNvSpPr>
                <a:spLocks noChangeArrowheads="1"/>
              </p:cNvSpPr>
              <p:nvPr/>
            </p:nvSpPr>
            <p:spPr bwMode="auto">
              <a:xfrm>
                <a:off x="3600" y="2736"/>
                <a:ext cx="35"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7105" name="Group 1089"/>
            <p:cNvGrpSpPr>
              <a:grpSpLocks/>
            </p:cNvGrpSpPr>
            <p:nvPr/>
          </p:nvGrpSpPr>
          <p:grpSpPr bwMode="auto">
            <a:xfrm>
              <a:off x="4272" y="2742"/>
              <a:ext cx="384" cy="426"/>
              <a:chOff x="4272" y="2742"/>
              <a:chExt cx="384" cy="426"/>
            </a:xfrm>
          </p:grpSpPr>
          <p:sp>
            <p:nvSpPr>
              <p:cNvPr id="87106" name="Freeform 1090"/>
              <p:cNvSpPr>
                <a:spLocks/>
              </p:cNvSpPr>
              <p:nvPr/>
            </p:nvSpPr>
            <p:spPr bwMode="auto">
              <a:xfrm flipH="1" flipV="1">
                <a:off x="4272" y="3016"/>
                <a:ext cx="317" cy="56"/>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7" name="Freeform 1091"/>
              <p:cNvSpPr>
                <a:spLocks/>
              </p:cNvSpPr>
              <p:nvPr/>
            </p:nvSpPr>
            <p:spPr bwMode="auto">
              <a:xfrm flipH="1" flipV="1">
                <a:off x="4276" y="2925"/>
                <a:ext cx="317" cy="51"/>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8" name="Freeform 1092"/>
              <p:cNvSpPr>
                <a:spLocks/>
              </p:cNvSpPr>
              <p:nvPr/>
            </p:nvSpPr>
            <p:spPr bwMode="auto">
              <a:xfrm flipH="1" flipV="1">
                <a:off x="4272" y="2784"/>
                <a:ext cx="317" cy="65"/>
              </a:xfrm>
              <a:custGeom>
                <a:avLst/>
                <a:gdLst>
                  <a:gd name="T0" fmla="*/ 118 w 680"/>
                  <a:gd name="T1" fmla="*/ 0 h 169"/>
                  <a:gd name="T2" fmla="*/ 60 w 680"/>
                  <a:gd name="T3" fmla="*/ 13 h 169"/>
                  <a:gd name="T4" fmla="*/ 88 w 680"/>
                  <a:gd name="T5" fmla="*/ 60 h 169"/>
                  <a:gd name="T6" fmla="*/ 590 w 680"/>
                  <a:gd name="T7" fmla="*/ 90 h 169"/>
                  <a:gd name="T8" fmla="*/ 627 w 680"/>
                  <a:gd name="T9" fmla="*/ 148 h 169"/>
                  <a:gd name="T10" fmla="*/ 558 w 680"/>
                  <a:gd name="T11" fmla="*/ 169 h 169"/>
                </a:gdLst>
                <a:ahLst/>
                <a:cxnLst>
                  <a:cxn ang="0">
                    <a:pos x="T0" y="T1"/>
                  </a:cxn>
                  <a:cxn ang="0">
                    <a:pos x="T2" y="T3"/>
                  </a:cxn>
                  <a:cxn ang="0">
                    <a:pos x="T4" y="T5"/>
                  </a:cxn>
                  <a:cxn ang="0">
                    <a:pos x="T6" y="T7"/>
                  </a:cxn>
                  <a:cxn ang="0">
                    <a:pos x="T8" y="T9"/>
                  </a:cxn>
                  <a:cxn ang="0">
                    <a:pos x="T10" y="T11"/>
                  </a:cxn>
                </a:cxnLst>
                <a:rect l="0" t="0" r="r" b="b"/>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09" name="Freeform 1093"/>
              <p:cNvSpPr>
                <a:spLocks/>
              </p:cNvSpPr>
              <p:nvPr/>
            </p:nvSpPr>
            <p:spPr bwMode="auto">
              <a:xfrm flipH="1" flipV="1">
                <a:off x="4308" y="3146"/>
                <a:ext cx="320" cy="2"/>
              </a:xfrm>
              <a:custGeom>
                <a:avLst/>
                <a:gdLst>
                  <a:gd name="T0" fmla="*/ 0 w 354"/>
                  <a:gd name="T1" fmla="*/ 2 h 2"/>
                  <a:gd name="T2" fmla="*/ 354 w 354"/>
                  <a:gd name="T3" fmla="*/ 0 h 2"/>
                </a:gdLst>
                <a:ahLst/>
                <a:cxnLst>
                  <a:cxn ang="0">
                    <a:pos x="T0" y="T1"/>
                  </a:cxn>
                  <a:cxn ang="0">
                    <a:pos x="T2" y="T3"/>
                  </a:cxn>
                </a:cxnLst>
                <a:rect l="0" t="0" r="r" b="b"/>
                <a:pathLst>
                  <a:path w="354" h="2">
                    <a:moveTo>
                      <a:pt x="0" y="2"/>
                    </a:moveTo>
                    <a:lnTo>
                      <a:pt x="354" y="0"/>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10" name="Freeform 1094"/>
              <p:cNvSpPr>
                <a:spLocks/>
              </p:cNvSpPr>
              <p:nvPr/>
            </p:nvSpPr>
            <p:spPr bwMode="auto">
              <a:xfrm>
                <a:off x="4532" y="2764"/>
                <a:ext cx="88" cy="1"/>
              </a:xfrm>
              <a:custGeom>
                <a:avLst/>
                <a:gdLst>
                  <a:gd name="T0" fmla="*/ 88 w 88"/>
                  <a:gd name="T1" fmla="*/ 0 h 1"/>
                  <a:gd name="T2" fmla="*/ 0 w 88"/>
                  <a:gd name="T3" fmla="*/ 0 h 1"/>
                </a:gdLst>
                <a:ahLst/>
                <a:cxnLst>
                  <a:cxn ang="0">
                    <a:pos x="T0" y="T1"/>
                  </a:cxn>
                  <a:cxn ang="0">
                    <a:pos x="T2" y="T3"/>
                  </a:cxn>
                </a:cxnLst>
                <a:rect l="0" t="0" r="r" b="b"/>
                <a:pathLst>
                  <a:path w="88" h="1">
                    <a:moveTo>
                      <a:pt x="88" y="0"/>
                    </a:moveTo>
                    <a:lnTo>
                      <a:pt x="0" y="0"/>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11" name="Freeform 1095"/>
              <p:cNvSpPr>
                <a:spLocks/>
              </p:cNvSpPr>
              <p:nvPr/>
            </p:nvSpPr>
            <p:spPr bwMode="auto">
              <a:xfrm flipH="1" flipV="1">
                <a:off x="4287" y="3121"/>
                <a:ext cx="40" cy="28"/>
              </a:xfrm>
              <a:custGeom>
                <a:avLst/>
                <a:gdLst>
                  <a:gd name="T0" fmla="*/ 14 w 90"/>
                  <a:gd name="T1" fmla="*/ 1 h 53"/>
                  <a:gd name="T2" fmla="*/ 82 w 90"/>
                  <a:gd name="T3" fmla="*/ 7 h 53"/>
                  <a:gd name="T4" fmla="*/ 60 w 90"/>
                  <a:gd name="T5" fmla="*/ 45 h 53"/>
                  <a:gd name="T6" fmla="*/ 0 w 90"/>
                  <a:gd name="T7" fmla="*/ 53 h 53"/>
                </a:gdLst>
                <a:ahLst/>
                <a:cxnLst>
                  <a:cxn ang="0">
                    <a:pos x="T0" y="T1"/>
                  </a:cxn>
                  <a:cxn ang="0">
                    <a:pos x="T2" y="T3"/>
                  </a:cxn>
                  <a:cxn ang="0">
                    <a:pos x="T4" y="T5"/>
                  </a:cxn>
                  <a:cxn ang="0">
                    <a:pos x="T6" y="T7"/>
                  </a:cxn>
                </a:cxnLst>
                <a:rect l="0" t="0" r="r" b="b"/>
                <a:pathLst>
                  <a:path w="90" h="53">
                    <a:moveTo>
                      <a:pt x="14" y="1"/>
                    </a:moveTo>
                    <a:cubicBezTo>
                      <a:pt x="44" y="0"/>
                      <a:pt x="74" y="0"/>
                      <a:pt x="82" y="7"/>
                    </a:cubicBezTo>
                    <a:cubicBezTo>
                      <a:pt x="90" y="14"/>
                      <a:pt x="74" y="37"/>
                      <a:pt x="60" y="45"/>
                    </a:cubicBezTo>
                    <a:cubicBezTo>
                      <a:pt x="46" y="53"/>
                      <a:pt x="23" y="53"/>
                      <a:pt x="0" y="53"/>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12" name="Oval 1096"/>
              <p:cNvSpPr>
                <a:spLocks noChangeArrowheads="1"/>
              </p:cNvSpPr>
              <p:nvPr/>
            </p:nvSpPr>
            <p:spPr bwMode="auto">
              <a:xfrm flipH="1" flipV="1">
                <a:off x="4621" y="2742"/>
                <a:ext cx="35"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13" name="Oval 1097"/>
              <p:cNvSpPr>
                <a:spLocks noChangeArrowheads="1"/>
              </p:cNvSpPr>
              <p:nvPr/>
            </p:nvSpPr>
            <p:spPr bwMode="auto">
              <a:xfrm flipH="1" flipV="1">
                <a:off x="4621" y="3126"/>
                <a:ext cx="35" cy="42"/>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7114" name="Text Box 1098"/>
            <p:cNvSpPr txBox="1">
              <a:spLocks noChangeArrowheads="1"/>
            </p:cNvSpPr>
            <p:nvPr/>
          </p:nvSpPr>
          <p:spPr bwMode="auto">
            <a:xfrm>
              <a:off x="2784" y="26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1</a:t>
              </a:r>
            </a:p>
          </p:txBody>
        </p:sp>
        <p:sp>
          <p:nvSpPr>
            <p:cNvPr id="87115" name="Text Box 1099"/>
            <p:cNvSpPr txBox="1">
              <a:spLocks noChangeArrowheads="1"/>
            </p:cNvSpPr>
            <p:nvPr/>
          </p:nvSpPr>
          <p:spPr bwMode="auto">
            <a:xfrm>
              <a:off x="2784" y="306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1'</a:t>
              </a:r>
            </a:p>
          </p:txBody>
        </p:sp>
        <p:sp>
          <p:nvSpPr>
            <p:cNvPr id="87116" name="Text Box 1100"/>
            <p:cNvSpPr txBox="1">
              <a:spLocks noChangeArrowheads="1"/>
            </p:cNvSpPr>
            <p:nvPr/>
          </p:nvSpPr>
          <p:spPr bwMode="auto">
            <a:xfrm>
              <a:off x="3456" y="26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2</a:t>
              </a:r>
            </a:p>
          </p:txBody>
        </p:sp>
        <p:sp>
          <p:nvSpPr>
            <p:cNvPr id="87117" name="Text Box 1101"/>
            <p:cNvSpPr txBox="1">
              <a:spLocks noChangeArrowheads="1"/>
            </p:cNvSpPr>
            <p:nvPr/>
          </p:nvSpPr>
          <p:spPr bwMode="auto">
            <a:xfrm>
              <a:off x="3456" y="301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2'</a:t>
              </a:r>
            </a:p>
          </p:txBody>
        </p:sp>
        <p:sp>
          <p:nvSpPr>
            <p:cNvPr id="87118" name="Text Box 1102"/>
            <p:cNvSpPr txBox="1">
              <a:spLocks noChangeArrowheads="1"/>
            </p:cNvSpPr>
            <p:nvPr/>
          </p:nvSpPr>
          <p:spPr bwMode="auto">
            <a:xfrm>
              <a:off x="4656" y="301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3'</a:t>
              </a:r>
            </a:p>
          </p:txBody>
        </p:sp>
        <p:sp>
          <p:nvSpPr>
            <p:cNvPr id="87119" name="Text Box 1103"/>
            <p:cNvSpPr txBox="1">
              <a:spLocks noChangeArrowheads="1"/>
            </p:cNvSpPr>
            <p:nvPr/>
          </p:nvSpPr>
          <p:spPr bwMode="auto">
            <a:xfrm>
              <a:off x="4656" y="264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3</a:t>
              </a:r>
            </a:p>
          </p:txBody>
        </p:sp>
      </p:grpSp>
      <p:sp>
        <p:nvSpPr>
          <p:cNvPr id="87120" name="Text Box 1104"/>
          <p:cNvSpPr txBox="1">
            <a:spLocks noChangeArrowheads="1"/>
          </p:cNvSpPr>
          <p:nvPr/>
        </p:nvSpPr>
        <p:spPr bwMode="auto">
          <a:xfrm>
            <a:off x="4724400" y="4038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sp>
        <p:nvSpPr>
          <p:cNvPr id="87121" name="Text Box 1105"/>
          <p:cNvSpPr txBox="1">
            <a:spLocks noChangeArrowheads="1"/>
          </p:cNvSpPr>
          <p:nvPr/>
        </p:nvSpPr>
        <p:spPr bwMode="auto">
          <a:xfrm>
            <a:off x="5638800" y="467677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sp>
        <p:nvSpPr>
          <p:cNvPr id="87122" name="Text Box 1106"/>
          <p:cNvSpPr txBox="1">
            <a:spLocks noChangeArrowheads="1"/>
          </p:cNvSpPr>
          <p:nvPr/>
        </p:nvSpPr>
        <p:spPr bwMode="auto">
          <a:xfrm>
            <a:off x="7239000" y="4953000"/>
            <a:ext cx="30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sp>
        <p:nvSpPr>
          <p:cNvPr id="87123" name="Text Box 1107"/>
          <p:cNvSpPr txBox="1">
            <a:spLocks noChangeArrowheads="1"/>
          </p:cNvSpPr>
          <p:nvPr/>
        </p:nvSpPr>
        <p:spPr bwMode="auto">
          <a:xfrm>
            <a:off x="4572000" y="4022725"/>
            <a:ext cx="30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sp>
        <p:nvSpPr>
          <p:cNvPr id="87124" name="Text Box 1108"/>
          <p:cNvSpPr txBox="1">
            <a:spLocks noChangeArrowheads="1"/>
          </p:cNvSpPr>
          <p:nvPr/>
        </p:nvSpPr>
        <p:spPr bwMode="auto">
          <a:xfrm>
            <a:off x="5562600" y="43434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660066"/>
                </a:solidFill>
                <a:sym typeface="Symbol" panose="05050102010706020507" pitchFamily="18" charset="2"/>
              </a:rPr>
              <a:t></a:t>
            </a:r>
            <a:endParaRPr lang="en-US" altLang="zh-CN" sz="1800" b="1">
              <a:solidFill>
                <a:srgbClr val="660066"/>
              </a:solidFill>
            </a:endParaRPr>
          </a:p>
        </p:txBody>
      </p:sp>
      <p:sp>
        <p:nvSpPr>
          <p:cNvPr id="87125" name="Text Box 1109"/>
          <p:cNvSpPr txBox="1">
            <a:spLocks noChangeArrowheads="1"/>
          </p:cNvSpPr>
          <p:nvPr/>
        </p:nvSpPr>
        <p:spPr bwMode="auto">
          <a:xfrm>
            <a:off x="7467600" y="4967288"/>
            <a:ext cx="457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solidFill>
                  <a:srgbClr val="660066"/>
                </a:solidFill>
                <a:sym typeface="Symbol" panose="05050102010706020507" pitchFamily="18" charset="2"/>
              </a:rPr>
              <a:t></a:t>
            </a:r>
            <a:endParaRPr lang="en-US" altLang="zh-CN" sz="1800" b="1">
              <a:solidFill>
                <a:srgbClr val="660066"/>
              </a:solidFill>
            </a:endParaRPr>
          </a:p>
        </p:txBody>
      </p:sp>
      <p:sp>
        <p:nvSpPr>
          <p:cNvPr id="87126" name="Text Box 1110"/>
          <p:cNvSpPr txBox="1">
            <a:spLocks noChangeArrowheads="1"/>
          </p:cNvSpPr>
          <p:nvPr/>
        </p:nvSpPr>
        <p:spPr bwMode="auto">
          <a:xfrm>
            <a:off x="609600" y="3657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例</a:t>
            </a:r>
          </a:p>
        </p:txBody>
      </p:sp>
      <p:grpSp>
        <p:nvGrpSpPr>
          <p:cNvPr id="87131" name="Group 1115"/>
          <p:cNvGrpSpPr>
            <a:grpSpLocks/>
          </p:cNvGrpSpPr>
          <p:nvPr/>
        </p:nvGrpSpPr>
        <p:grpSpPr bwMode="auto">
          <a:xfrm>
            <a:off x="6146800" y="4127500"/>
            <a:ext cx="838200" cy="1143000"/>
            <a:chOff x="2352" y="3600"/>
            <a:chExt cx="528" cy="720"/>
          </a:xfrm>
        </p:grpSpPr>
        <p:sp>
          <p:nvSpPr>
            <p:cNvPr id="87132" name="Line 1116"/>
            <p:cNvSpPr>
              <a:spLocks noChangeShapeType="1"/>
            </p:cNvSpPr>
            <p:nvPr/>
          </p:nvSpPr>
          <p:spPr bwMode="auto">
            <a:xfrm rot="-5400000">
              <a:off x="2668" y="3572"/>
              <a:ext cx="0" cy="55"/>
            </a:xfrm>
            <a:prstGeom prst="line">
              <a:avLst/>
            </a:prstGeom>
            <a:noFill/>
            <a:ln w="19050">
              <a:solidFill>
                <a:srgbClr val="0000FF"/>
              </a:solidFill>
              <a:prstDash val="dash"/>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133" name="AutoShape 1117"/>
            <p:cNvSpPr>
              <a:spLocks noChangeArrowheads="1"/>
            </p:cNvSpPr>
            <p:nvPr/>
          </p:nvSpPr>
          <p:spPr bwMode="auto">
            <a:xfrm>
              <a:off x="2352" y="3600"/>
              <a:ext cx="528" cy="720"/>
            </a:xfrm>
            <a:prstGeom prst="roundRect">
              <a:avLst>
                <a:gd name="adj" fmla="val 16667"/>
              </a:avLst>
            </a:prstGeom>
            <a:noFill/>
            <a:ln w="19050">
              <a:solidFill>
                <a:srgbClr val="00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7042"/>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87044"/>
                                        </p:tgtEl>
                                        <p:attrNameLst>
                                          <p:attrName>style.visibility</p:attrName>
                                        </p:attrNameLst>
                                      </p:cBhvr>
                                      <p:to>
                                        <p:strVal val="visible"/>
                                      </p:to>
                                    </p:set>
                                    <p:animEffect transition="in" filter="wipe(left)">
                                      <p:cBhvr>
                                        <p:cTn id="10" dur="500"/>
                                        <p:tgtEl>
                                          <p:spTgt spid="8704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87126"/>
                                        </p:tgtEl>
                                        <p:attrNameLst>
                                          <p:attrName>style.visibility</p:attrName>
                                        </p:attrNameLst>
                                      </p:cBhvr>
                                      <p:to>
                                        <p:strVal val="visible"/>
                                      </p:to>
                                    </p:set>
                                    <p:anim calcmode="lin" valueType="num">
                                      <p:cBhvr>
                                        <p:cTn id="15" dur="1000" fill="hold"/>
                                        <p:tgtEl>
                                          <p:spTgt spid="87126"/>
                                        </p:tgtEl>
                                        <p:attrNameLst>
                                          <p:attrName>ppt_w</p:attrName>
                                        </p:attrNameLst>
                                      </p:cBhvr>
                                      <p:tavLst>
                                        <p:tav tm="0">
                                          <p:val>
                                            <p:fltVal val="0"/>
                                          </p:val>
                                        </p:tav>
                                        <p:tav tm="100000">
                                          <p:val>
                                            <p:strVal val="#ppt_w"/>
                                          </p:val>
                                        </p:tav>
                                      </p:tavLst>
                                    </p:anim>
                                    <p:anim calcmode="lin" valueType="num">
                                      <p:cBhvr>
                                        <p:cTn id="16" dur="1000" fill="hold"/>
                                        <p:tgtEl>
                                          <p:spTgt spid="87126"/>
                                        </p:tgtEl>
                                        <p:attrNameLst>
                                          <p:attrName>ppt_h</p:attrName>
                                        </p:attrNameLst>
                                      </p:cBhvr>
                                      <p:tavLst>
                                        <p:tav tm="0">
                                          <p:val>
                                            <p:fltVal val="0"/>
                                          </p:val>
                                        </p:tav>
                                        <p:tav tm="100000">
                                          <p:val>
                                            <p:strVal val="#ppt_h"/>
                                          </p:val>
                                        </p:tav>
                                      </p:tavLst>
                                    </p:anim>
                                    <p:anim calcmode="lin" valueType="num">
                                      <p:cBhvr>
                                        <p:cTn id="17" dur="1000" fill="hold"/>
                                        <p:tgtEl>
                                          <p:spTgt spid="87126"/>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71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7129"/>
                                        </p:tgtEl>
                                        <p:attrNameLst>
                                          <p:attrName>style.visibility</p:attrName>
                                        </p:attrNameLst>
                                      </p:cBhvr>
                                      <p:to>
                                        <p:strVal val="visible"/>
                                      </p:to>
                                    </p:set>
                                    <p:animEffect transition="in" filter="wipe(left)">
                                      <p:cBhvr>
                                        <p:cTn id="23" dur="500"/>
                                        <p:tgtEl>
                                          <p:spTgt spid="8712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32" fill="hold" grpId="0" nodeType="clickEffect">
                                  <p:stCondLst>
                                    <p:cond delay="0"/>
                                  </p:stCondLst>
                                  <p:childTnLst>
                                    <p:set>
                                      <p:cBhvr>
                                        <p:cTn id="27" dur="1" fill="hold">
                                          <p:stCondLst>
                                            <p:cond delay="0"/>
                                          </p:stCondLst>
                                        </p:cTn>
                                        <p:tgtEl>
                                          <p:spTgt spid="87075"/>
                                        </p:tgtEl>
                                        <p:attrNameLst>
                                          <p:attrName>style.visibility</p:attrName>
                                        </p:attrNameLst>
                                      </p:cBhvr>
                                      <p:to>
                                        <p:strVal val="visible"/>
                                      </p:to>
                                    </p:set>
                                    <p:anim calcmode="lin" valueType="num">
                                      <p:cBhvr>
                                        <p:cTn id="28" dur="500" fill="hold"/>
                                        <p:tgtEl>
                                          <p:spTgt spid="87075"/>
                                        </p:tgtEl>
                                        <p:attrNameLst>
                                          <p:attrName>ppt_w</p:attrName>
                                        </p:attrNameLst>
                                      </p:cBhvr>
                                      <p:tavLst>
                                        <p:tav tm="0">
                                          <p:val>
                                            <p:strVal val="4*#ppt_w"/>
                                          </p:val>
                                        </p:tav>
                                        <p:tav tm="100000">
                                          <p:val>
                                            <p:strVal val="#ppt_w"/>
                                          </p:val>
                                        </p:tav>
                                      </p:tavLst>
                                    </p:anim>
                                    <p:anim calcmode="lin" valueType="num">
                                      <p:cBhvr>
                                        <p:cTn id="29" dur="500" fill="hold"/>
                                        <p:tgtEl>
                                          <p:spTgt spid="87075"/>
                                        </p:tgtEl>
                                        <p:attrNameLst>
                                          <p:attrName>ppt_h</p:attrName>
                                        </p:attrNameLst>
                                      </p:cBhvr>
                                      <p:tavLst>
                                        <p:tav tm="0">
                                          <p:val>
                                            <p:strVal val="4*#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32" fill="hold" grpId="0" nodeType="clickEffect">
                                  <p:stCondLst>
                                    <p:cond delay="0"/>
                                  </p:stCondLst>
                                  <p:childTnLst>
                                    <p:set>
                                      <p:cBhvr>
                                        <p:cTn id="33" dur="1" fill="hold">
                                          <p:stCondLst>
                                            <p:cond delay="0"/>
                                          </p:stCondLst>
                                        </p:cTn>
                                        <p:tgtEl>
                                          <p:spTgt spid="87076"/>
                                        </p:tgtEl>
                                        <p:attrNameLst>
                                          <p:attrName>style.visibility</p:attrName>
                                        </p:attrNameLst>
                                      </p:cBhvr>
                                      <p:to>
                                        <p:strVal val="visible"/>
                                      </p:to>
                                    </p:set>
                                    <p:anim calcmode="lin" valueType="num">
                                      <p:cBhvr>
                                        <p:cTn id="34" dur="500" fill="hold"/>
                                        <p:tgtEl>
                                          <p:spTgt spid="87076"/>
                                        </p:tgtEl>
                                        <p:attrNameLst>
                                          <p:attrName>ppt_w</p:attrName>
                                        </p:attrNameLst>
                                      </p:cBhvr>
                                      <p:tavLst>
                                        <p:tav tm="0">
                                          <p:val>
                                            <p:strVal val="4*#ppt_w"/>
                                          </p:val>
                                        </p:tav>
                                        <p:tav tm="100000">
                                          <p:val>
                                            <p:strVal val="#ppt_w"/>
                                          </p:val>
                                        </p:tav>
                                      </p:tavLst>
                                    </p:anim>
                                    <p:anim calcmode="lin" valueType="num">
                                      <p:cBhvr>
                                        <p:cTn id="35" dur="500" fill="hold"/>
                                        <p:tgtEl>
                                          <p:spTgt spid="87076"/>
                                        </p:tgtEl>
                                        <p:attrNameLst>
                                          <p:attrName>ppt_h</p:attrName>
                                        </p:attrNameLst>
                                      </p:cBhvr>
                                      <p:tavLst>
                                        <p:tav tm="0">
                                          <p:val>
                                            <p:strVal val="4*#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7130"/>
                                        </p:tgtEl>
                                        <p:attrNameLst>
                                          <p:attrName>style.visibility</p:attrName>
                                        </p:attrNameLst>
                                      </p:cBhvr>
                                      <p:to>
                                        <p:strVal val="visible"/>
                                      </p:to>
                                    </p:set>
                                    <p:animEffect transition="in" filter="wipe(left)">
                                      <p:cBhvr>
                                        <p:cTn id="40" dur="500"/>
                                        <p:tgtEl>
                                          <p:spTgt spid="871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32" fill="hold" nodeType="clickEffect">
                                  <p:stCondLst>
                                    <p:cond delay="0"/>
                                  </p:stCondLst>
                                  <p:childTnLst>
                                    <p:set>
                                      <p:cBhvr>
                                        <p:cTn id="44" dur="1" fill="hold">
                                          <p:stCondLst>
                                            <p:cond delay="0"/>
                                          </p:stCondLst>
                                        </p:cTn>
                                        <p:tgtEl>
                                          <p:spTgt spid="87077"/>
                                        </p:tgtEl>
                                        <p:attrNameLst>
                                          <p:attrName>style.visibility</p:attrName>
                                        </p:attrNameLst>
                                      </p:cBhvr>
                                      <p:to>
                                        <p:strVal val="visible"/>
                                      </p:to>
                                    </p:set>
                                    <p:animEffect transition="in" filter="box(out)">
                                      <p:cBhvr>
                                        <p:cTn id="45" dur="500"/>
                                        <p:tgtEl>
                                          <p:spTgt spid="8707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3" presetClass="entr" presetSubtype="16" fill="hold" grpId="0" nodeType="clickEffect">
                                  <p:stCondLst>
                                    <p:cond delay="0"/>
                                  </p:stCondLst>
                                  <p:childTnLst>
                                    <p:set>
                                      <p:cBhvr>
                                        <p:cTn id="49" dur="1" fill="hold">
                                          <p:stCondLst>
                                            <p:cond delay="0"/>
                                          </p:stCondLst>
                                        </p:cTn>
                                        <p:tgtEl>
                                          <p:spTgt spid="87120"/>
                                        </p:tgtEl>
                                        <p:attrNameLst>
                                          <p:attrName>style.visibility</p:attrName>
                                        </p:attrNameLst>
                                      </p:cBhvr>
                                      <p:to>
                                        <p:strVal val="visible"/>
                                      </p:to>
                                    </p:set>
                                    <p:anim calcmode="lin" valueType="num">
                                      <p:cBhvr>
                                        <p:cTn id="50" dur="500" fill="hold"/>
                                        <p:tgtEl>
                                          <p:spTgt spid="87120"/>
                                        </p:tgtEl>
                                        <p:attrNameLst>
                                          <p:attrName>ppt_w</p:attrName>
                                        </p:attrNameLst>
                                      </p:cBhvr>
                                      <p:tavLst>
                                        <p:tav tm="0">
                                          <p:val>
                                            <p:fltVal val="0"/>
                                          </p:val>
                                        </p:tav>
                                        <p:tav tm="100000">
                                          <p:val>
                                            <p:strVal val="#ppt_w"/>
                                          </p:val>
                                        </p:tav>
                                      </p:tavLst>
                                    </p:anim>
                                    <p:anim calcmode="lin" valueType="num">
                                      <p:cBhvr>
                                        <p:cTn id="51" dur="500" fill="hold"/>
                                        <p:tgtEl>
                                          <p:spTgt spid="87120"/>
                                        </p:tgtEl>
                                        <p:attrNameLst>
                                          <p:attrName>ppt_h</p:attrName>
                                        </p:attrNameLst>
                                      </p:cBhvr>
                                      <p:tavLst>
                                        <p:tav tm="0">
                                          <p:val>
                                            <p:fltVal val="0"/>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3" presetClass="entr" presetSubtype="16" fill="hold" grpId="0" nodeType="clickEffect">
                                  <p:stCondLst>
                                    <p:cond delay="0"/>
                                  </p:stCondLst>
                                  <p:childTnLst>
                                    <p:set>
                                      <p:cBhvr>
                                        <p:cTn id="55" dur="1" fill="hold">
                                          <p:stCondLst>
                                            <p:cond delay="0"/>
                                          </p:stCondLst>
                                        </p:cTn>
                                        <p:tgtEl>
                                          <p:spTgt spid="87121"/>
                                        </p:tgtEl>
                                        <p:attrNameLst>
                                          <p:attrName>style.visibility</p:attrName>
                                        </p:attrNameLst>
                                      </p:cBhvr>
                                      <p:to>
                                        <p:strVal val="visible"/>
                                      </p:to>
                                    </p:set>
                                    <p:anim calcmode="lin" valueType="num">
                                      <p:cBhvr>
                                        <p:cTn id="56" dur="500" fill="hold"/>
                                        <p:tgtEl>
                                          <p:spTgt spid="87121"/>
                                        </p:tgtEl>
                                        <p:attrNameLst>
                                          <p:attrName>ppt_w</p:attrName>
                                        </p:attrNameLst>
                                      </p:cBhvr>
                                      <p:tavLst>
                                        <p:tav tm="0">
                                          <p:val>
                                            <p:fltVal val="0"/>
                                          </p:val>
                                        </p:tav>
                                        <p:tav tm="100000">
                                          <p:val>
                                            <p:strVal val="#ppt_w"/>
                                          </p:val>
                                        </p:tav>
                                      </p:tavLst>
                                    </p:anim>
                                    <p:anim calcmode="lin" valueType="num">
                                      <p:cBhvr>
                                        <p:cTn id="57" dur="500" fill="hold"/>
                                        <p:tgtEl>
                                          <p:spTgt spid="87121"/>
                                        </p:tgtEl>
                                        <p:attrNameLst>
                                          <p:attrName>ppt_h</p:attrName>
                                        </p:attrNameLst>
                                      </p:cBhvr>
                                      <p:tavLst>
                                        <p:tav tm="0">
                                          <p:val>
                                            <p:fltVal val="0"/>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nodeType="clickEffect">
                                  <p:stCondLst>
                                    <p:cond delay="0"/>
                                  </p:stCondLst>
                                  <p:childTnLst>
                                    <p:set>
                                      <p:cBhvr>
                                        <p:cTn id="61" dur="1" fill="hold">
                                          <p:stCondLst>
                                            <p:cond delay="0"/>
                                          </p:stCondLst>
                                        </p:cTn>
                                        <p:tgtEl>
                                          <p:spTgt spid="87080"/>
                                        </p:tgtEl>
                                        <p:attrNameLst>
                                          <p:attrName>style.visibility</p:attrName>
                                        </p:attrNameLst>
                                      </p:cBhvr>
                                      <p:to>
                                        <p:strVal val="visible"/>
                                      </p:to>
                                    </p:set>
                                    <p:animEffect transition="in" filter="box(out)">
                                      <p:cBhvr>
                                        <p:cTn id="62" dur="500"/>
                                        <p:tgtEl>
                                          <p:spTgt spid="8708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3" presetClass="entr" presetSubtype="32" fill="hold" grpId="0" nodeType="clickEffect">
                                  <p:stCondLst>
                                    <p:cond delay="0"/>
                                  </p:stCondLst>
                                  <p:childTnLst>
                                    <p:set>
                                      <p:cBhvr>
                                        <p:cTn id="66" dur="1" fill="hold">
                                          <p:stCondLst>
                                            <p:cond delay="0"/>
                                          </p:stCondLst>
                                        </p:cTn>
                                        <p:tgtEl>
                                          <p:spTgt spid="87123"/>
                                        </p:tgtEl>
                                        <p:attrNameLst>
                                          <p:attrName>style.visibility</p:attrName>
                                        </p:attrNameLst>
                                      </p:cBhvr>
                                      <p:to>
                                        <p:strVal val="visible"/>
                                      </p:to>
                                    </p:set>
                                    <p:anim calcmode="lin" valueType="num">
                                      <p:cBhvr>
                                        <p:cTn id="67" dur="500" fill="hold"/>
                                        <p:tgtEl>
                                          <p:spTgt spid="87123"/>
                                        </p:tgtEl>
                                        <p:attrNameLst>
                                          <p:attrName>ppt_w</p:attrName>
                                        </p:attrNameLst>
                                      </p:cBhvr>
                                      <p:tavLst>
                                        <p:tav tm="0">
                                          <p:val>
                                            <p:strVal val="4*#ppt_w"/>
                                          </p:val>
                                        </p:tav>
                                        <p:tav tm="100000">
                                          <p:val>
                                            <p:strVal val="#ppt_w"/>
                                          </p:val>
                                        </p:tav>
                                      </p:tavLst>
                                    </p:anim>
                                    <p:anim calcmode="lin" valueType="num">
                                      <p:cBhvr>
                                        <p:cTn id="68" dur="500" fill="hold"/>
                                        <p:tgtEl>
                                          <p:spTgt spid="87123"/>
                                        </p:tgtEl>
                                        <p:attrNameLst>
                                          <p:attrName>ppt_h</p:attrName>
                                        </p:attrNameLst>
                                      </p:cBhvr>
                                      <p:tavLst>
                                        <p:tav tm="0">
                                          <p:val>
                                            <p:strVal val="4*#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32" fill="hold" grpId="0" nodeType="clickEffect">
                                  <p:stCondLst>
                                    <p:cond delay="0"/>
                                  </p:stCondLst>
                                  <p:childTnLst>
                                    <p:set>
                                      <p:cBhvr>
                                        <p:cTn id="72" dur="1" fill="hold">
                                          <p:stCondLst>
                                            <p:cond delay="0"/>
                                          </p:stCondLst>
                                        </p:cTn>
                                        <p:tgtEl>
                                          <p:spTgt spid="87122"/>
                                        </p:tgtEl>
                                        <p:attrNameLst>
                                          <p:attrName>style.visibility</p:attrName>
                                        </p:attrNameLst>
                                      </p:cBhvr>
                                      <p:to>
                                        <p:strVal val="visible"/>
                                      </p:to>
                                    </p:set>
                                    <p:anim calcmode="lin" valueType="num">
                                      <p:cBhvr>
                                        <p:cTn id="73" dur="500" fill="hold"/>
                                        <p:tgtEl>
                                          <p:spTgt spid="87122"/>
                                        </p:tgtEl>
                                        <p:attrNameLst>
                                          <p:attrName>ppt_w</p:attrName>
                                        </p:attrNameLst>
                                      </p:cBhvr>
                                      <p:tavLst>
                                        <p:tav tm="0">
                                          <p:val>
                                            <p:strVal val="4*#ppt_w"/>
                                          </p:val>
                                        </p:tav>
                                        <p:tav tm="100000">
                                          <p:val>
                                            <p:strVal val="#ppt_w"/>
                                          </p:val>
                                        </p:tav>
                                      </p:tavLst>
                                    </p:anim>
                                    <p:anim calcmode="lin" valueType="num">
                                      <p:cBhvr>
                                        <p:cTn id="74" dur="500" fill="hold"/>
                                        <p:tgtEl>
                                          <p:spTgt spid="87122"/>
                                        </p:tgtEl>
                                        <p:attrNameLst>
                                          <p:attrName>ppt_h</p:attrName>
                                        </p:attrNameLst>
                                      </p:cBhvr>
                                      <p:tavLst>
                                        <p:tav tm="0">
                                          <p:val>
                                            <p:strVal val="4*#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4" presetClass="entr" presetSubtype="32" fill="hold" nodeType="clickEffect">
                                  <p:stCondLst>
                                    <p:cond delay="0"/>
                                  </p:stCondLst>
                                  <p:childTnLst>
                                    <p:set>
                                      <p:cBhvr>
                                        <p:cTn id="78" dur="1" fill="hold">
                                          <p:stCondLst>
                                            <p:cond delay="0"/>
                                          </p:stCondLst>
                                        </p:cTn>
                                        <p:tgtEl>
                                          <p:spTgt spid="87131"/>
                                        </p:tgtEl>
                                        <p:attrNameLst>
                                          <p:attrName>style.visibility</p:attrName>
                                        </p:attrNameLst>
                                      </p:cBhvr>
                                      <p:to>
                                        <p:strVal val="visible"/>
                                      </p:to>
                                    </p:set>
                                    <p:animEffect transition="in" filter="box(out)">
                                      <p:cBhvr>
                                        <p:cTn id="79" dur="500"/>
                                        <p:tgtEl>
                                          <p:spTgt spid="8713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5" presetClass="entr" presetSubtype="0" fill="hold" grpId="0" nodeType="clickEffect">
                                  <p:stCondLst>
                                    <p:cond delay="0"/>
                                  </p:stCondLst>
                                  <p:childTnLst>
                                    <p:set>
                                      <p:cBhvr>
                                        <p:cTn id="83" dur="1" fill="hold">
                                          <p:stCondLst>
                                            <p:cond delay="0"/>
                                          </p:stCondLst>
                                        </p:cTn>
                                        <p:tgtEl>
                                          <p:spTgt spid="87124"/>
                                        </p:tgtEl>
                                        <p:attrNameLst>
                                          <p:attrName>style.visibility</p:attrName>
                                        </p:attrNameLst>
                                      </p:cBhvr>
                                      <p:to>
                                        <p:strVal val="visible"/>
                                      </p:to>
                                    </p:set>
                                    <p:anim calcmode="lin" valueType="num">
                                      <p:cBhvr>
                                        <p:cTn id="84" dur="1000" fill="hold"/>
                                        <p:tgtEl>
                                          <p:spTgt spid="87124"/>
                                        </p:tgtEl>
                                        <p:attrNameLst>
                                          <p:attrName>ppt_w</p:attrName>
                                        </p:attrNameLst>
                                      </p:cBhvr>
                                      <p:tavLst>
                                        <p:tav tm="0">
                                          <p:val>
                                            <p:fltVal val="0"/>
                                          </p:val>
                                        </p:tav>
                                        <p:tav tm="100000">
                                          <p:val>
                                            <p:strVal val="#ppt_w"/>
                                          </p:val>
                                        </p:tav>
                                      </p:tavLst>
                                    </p:anim>
                                    <p:anim calcmode="lin" valueType="num">
                                      <p:cBhvr>
                                        <p:cTn id="85" dur="1000" fill="hold"/>
                                        <p:tgtEl>
                                          <p:spTgt spid="87124"/>
                                        </p:tgtEl>
                                        <p:attrNameLst>
                                          <p:attrName>ppt_h</p:attrName>
                                        </p:attrNameLst>
                                      </p:cBhvr>
                                      <p:tavLst>
                                        <p:tav tm="0">
                                          <p:val>
                                            <p:fltVal val="0"/>
                                          </p:val>
                                        </p:tav>
                                        <p:tav tm="100000">
                                          <p:val>
                                            <p:strVal val="#ppt_h"/>
                                          </p:val>
                                        </p:tav>
                                      </p:tavLst>
                                    </p:anim>
                                    <p:anim calcmode="lin" valueType="num">
                                      <p:cBhvr>
                                        <p:cTn id="86" dur="1000" fill="hold"/>
                                        <p:tgtEl>
                                          <p:spTgt spid="87124"/>
                                        </p:tgtEl>
                                        <p:attrNameLst>
                                          <p:attrName>ppt_x</p:attrName>
                                        </p:attrNameLst>
                                      </p:cBhvr>
                                      <p:tavLst>
                                        <p:tav tm="0" fmla="#ppt_x+(cos(-2*pi*(1-$))*-#ppt_x-sin(-2*pi*(1-$))*(1-#ppt_y))*(1-$)">
                                          <p:val>
                                            <p:fltVal val="0"/>
                                          </p:val>
                                        </p:tav>
                                        <p:tav tm="100000">
                                          <p:val>
                                            <p:fltVal val="1"/>
                                          </p:val>
                                        </p:tav>
                                      </p:tavLst>
                                    </p:anim>
                                    <p:anim calcmode="lin" valueType="num">
                                      <p:cBhvr>
                                        <p:cTn id="87" dur="1000" fill="hold"/>
                                        <p:tgtEl>
                                          <p:spTgt spid="871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5" presetClass="entr" presetSubtype="0" fill="hold" grpId="0" nodeType="clickEffect">
                                  <p:stCondLst>
                                    <p:cond delay="0"/>
                                  </p:stCondLst>
                                  <p:childTnLst>
                                    <p:set>
                                      <p:cBhvr>
                                        <p:cTn id="91" dur="1" fill="hold">
                                          <p:stCondLst>
                                            <p:cond delay="0"/>
                                          </p:stCondLst>
                                        </p:cTn>
                                        <p:tgtEl>
                                          <p:spTgt spid="87125"/>
                                        </p:tgtEl>
                                        <p:attrNameLst>
                                          <p:attrName>style.visibility</p:attrName>
                                        </p:attrNameLst>
                                      </p:cBhvr>
                                      <p:to>
                                        <p:strVal val="visible"/>
                                      </p:to>
                                    </p:set>
                                    <p:anim calcmode="lin" valueType="num">
                                      <p:cBhvr>
                                        <p:cTn id="92" dur="1000" fill="hold"/>
                                        <p:tgtEl>
                                          <p:spTgt spid="87125"/>
                                        </p:tgtEl>
                                        <p:attrNameLst>
                                          <p:attrName>ppt_w</p:attrName>
                                        </p:attrNameLst>
                                      </p:cBhvr>
                                      <p:tavLst>
                                        <p:tav tm="0">
                                          <p:val>
                                            <p:fltVal val="0"/>
                                          </p:val>
                                        </p:tav>
                                        <p:tav tm="100000">
                                          <p:val>
                                            <p:strVal val="#ppt_w"/>
                                          </p:val>
                                        </p:tav>
                                      </p:tavLst>
                                    </p:anim>
                                    <p:anim calcmode="lin" valueType="num">
                                      <p:cBhvr>
                                        <p:cTn id="93" dur="1000" fill="hold"/>
                                        <p:tgtEl>
                                          <p:spTgt spid="87125"/>
                                        </p:tgtEl>
                                        <p:attrNameLst>
                                          <p:attrName>ppt_h</p:attrName>
                                        </p:attrNameLst>
                                      </p:cBhvr>
                                      <p:tavLst>
                                        <p:tav tm="0">
                                          <p:val>
                                            <p:fltVal val="0"/>
                                          </p:val>
                                        </p:tav>
                                        <p:tav tm="100000">
                                          <p:val>
                                            <p:strVal val="#ppt_h"/>
                                          </p:val>
                                        </p:tav>
                                      </p:tavLst>
                                    </p:anim>
                                    <p:anim calcmode="lin" valueType="num">
                                      <p:cBhvr>
                                        <p:cTn id="94" dur="1000" fill="hold"/>
                                        <p:tgtEl>
                                          <p:spTgt spid="87125"/>
                                        </p:tgtEl>
                                        <p:attrNameLst>
                                          <p:attrName>ppt_x</p:attrName>
                                        </p:attrNameLst>
                                      </p:cBhvr>
                                      <p:tavLst>
                                        <p:tav tm="0" fmla="#ppt_x+(cos(-2*pi*(1-$))*-#ppt_x-sin(-2*pi*(1-$))*(1-#ppt_y))*(1-$)">
                                          <p:val>
                                            <p:fltVal val="0"/>
                                          </p:val>
                                        </p:tav>
                                        <p:tav tm="100000">
                                          <p:val>
                                            <p:fltVal val="1"/>
                                          </p:val>
                                        </p:tav>
                                      </p:tavLst>
                                    </p:anim>
                                    <p:anim calcmode="lin" valueType="num">
                                      <p:cBhvr>
                                        <p:cTn id="95" dur="1000" fill="hold"/>
                                        <p:tgtEl>
                                          <p:spTgt spid="8712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87044" grpId="0" autoUpdateAnimBg="0"/>
      <p:bldP spid="87075" grpId="0" autoUpdateAnimBg="0"/>
      <p:bldP spid="87076" grpId="0" autoUpdateAnimBg="0"/>
      <p:bldP spid="87120" grpId="0" autoUpdateAnimBg="0"/>
      <p:bldP spid="87121" grpId="0" autoUpdateAnimBg="0"/>
      <p:bldP spid="87122" grpId="0" autoUpdateAnimBg="0"/>
      <p:bldP spid="87123" grpId="0" autoUpdateAnimBg="0"/>
      <p:bldP spid="87124" grpId="0" autoUpdateAnimBg="0"/>
      <p:bldP spid="87125" grpId="0" autoUpdateAnimBg="0"/>
      <p:bldP spid="8712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1026"/>
          <p:cNvSpPr txBox="1">
            <a:spLocks noChangeArrowheads="1"/>
          </p:cNvSpPr>
          <p:nvPr/>
        </p:nvSpPr>
        <p:spPr bwMode="auto">
          <a:xfrm>
            <a:off x="381000" y="381000"/>
            <a:ext cx="3092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 2.  </a:t>
            </a:r>
            <a:r>
              <a:rPr lang="zh-CN" altLang="en-US" b="1"/>
              <a:t>同名端的实验测定</a:t>
            </a:r>
          </a:p>
        </p:txBody>
      </p:sp>
      <p:grpSp>
        <p:nvGrpSpPr>
          <p:cNvPr id="53333" name="Group 1109"/>
          <p:cNvGrpSpPr>
            <a:grpSpLocks/>
          </p:cNvGrpSpPr>
          <p:nvPr/>
        </p:nvGrpSpPr>
        <p:grpSpPr bwMode="auto">
          <a:xfrm>
            <a:off x="1676400" y="1809750"/>
            <a:ext cx="1238250" cy="1095375"/>
            <a:chOff x="1044" y="828"/>
            <a:chExt cx="780" cy="690"/>
          </a:xfrm>
        </p:grpSpPr>
        <p:grpSp>
          <p:nvGrpSpPr>
            <p:cNvPr id="53286" name="Group 1062"/>
            <p:cNvGrpSpPr>
              <a:grpSpLocks/>
            </p:cNvGrpSpPr>
            <p:nvPr/>
          </p:nvGrpSpPr>
          <p:grpSpPr bwMode="auto">
            <a:xfrm>
              <a:off x="1044" y="1308"/>
              <a:ext cx="204" cy="61"/>
              <a:chOff x="768" y="1104"/>
              <a:chExt cx="192" cy="48"/>
            </a:xfrm>
          </p:grpSpPr>
          <p:sp>
            <p:nvSpPr>
              <p:cNvPr id="53284" name="Line 1060"/>
              <p:cNvSpPr>
                <a:spLocks noChangeShapeType="1"/>
              </p:cNvSpPr>
              <p:nvPr/>
            </p:nvSpPr>
            <p:spPr bwMode="auto">
              <a:xfrm>
                <a:off x="768" y="1104"/>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5" name="Line 1061"/>
              <p:cNvSpPr>
                <a:spLocks noChangeShapeType="1"/>
              </p:cNvSpPr>
              <p:nvPr/>
            </p:nvSpPr>
            <p:spPr bwMode="auto">
              <a:xfrm>
                <a:off x="816" y="115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287" name="Rectangle 1063"/>
            <p:cNvSpPr>
              <a:spLocks noChangeArrowheads="1"/>
            </p:cNvSpPr>
            <p:nvPr/>
          </p:nvSpPr>
          <p:spPr bwMode="auto">
            <a:xfrm>
              <a:off x="1237" y="1068"/>
              <a:ext cx="226" cy="96"/>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8" name="Line 1064"/>
            <p:cNvSpPr>
              <a:spLocks noChangeShapeType="1"/>
            </p:cNvSpPr>
            <p:nvPr/>
          </p:nvSpPr>
          <p:spPr bwMode="auto">
            <a:xfrm>
              <a:off x="1463" y="1116"/>
              <a:ext cx="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9" name="Line 1065"/>
            <p:cNvSpPr>
              <a:spLocks noChangeShapeType="1"/>
            </p:cNvSpPr>
            <p:nvPr/>
          </p:nvSpPr>
          <p:spPr bwMode="auto">
            <a:xfrm flipH="1">
              <a:off x="1146" y="1518"/>
              <a:ext cx="67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0" name="Line 1066"/>
            <p:cNvSpPr>
              <a:spLocks noChangeShapeType="1"/>
            </p:cNvSpPr>
            <p:nvPr/>
          </p:nvSpPr>
          <p:spPr bwMode="auto">
            <a:xfrm>
              <a:off x="1146" y="1374"/>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1" name="Line 1067"/>
            <p:cNvSpPr>
              <a:spLocks noChangeShapeType="1"/>
            </p:cNvSpPr>
            <p:nvPr/>
          </p:nvSpPr>
          <p:spPr bwMode="auto">
            <a:xfrm flipH="1">
              <a:off x="1146" y="1116"/>
              <a:ext cx="9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3" name="Line 1069"/>
            <p:cNvSpPr>
              <a:spLocks noChangeShapeType="1"/>
            </p:cNvSpPr>
            <p:nvPr/>
          </p:nvSpPr>
          <p:spPr bwMode="auto">
            <a:xfrm flipV="1">
              <a:off x="1146" y="111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4" name="Oval 1070"/>
            <p:cNvSpPr>
              <a:spLocks noChangeArrowheads="1"/>
            </p:cNvSpPr>
            <p:nvPr/>
          </p:nvSpPr>
          <p:spPr bwMode="auto">
            <a:xfrm>
              <a:off x="1553" y="1086"/>
              <a:ext cx="42"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5" name="Line 1071"/>
            <p:cNvSpPr>
              <a:spLocks noChangeShapeType="1"/>
            </p:cNvSpPr>
            <p:nvPr/>
          </p:nvSpPr>
          <p:spPr bwMode="auto">
            <a:xfrm>
              <a:off x="1688" y="1116"/>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6" name="Freeform 1072"/>
            <p:cNvSpPr>
              <a:spLocks/>
            </p:cNvSpPr>
            <p:nvPr/>
          </p:nvSpPr>
          <p:spPr bwMode="auto">
            <a:xfrm>
              <a:off x="1592" y="1026"/>
              <a:ext cx="136" cy="66"/>
            </a:xfrm>
            <a:custGeom>
              <a:avLst/>
              <a:gdLst>
                <a:gd name="T0" fmla="*/ 0 w 144"/>
                <a:gd name="T1" fmla="*/ 66 h 66"/>
                <a:gd name="T2" fmla="*/ 144 w 144"/>
                <a:gd name="T3" fmla="*/ 0 h 66"/>
              </a:gdLst>
              <a:ahLst/>
              <a:cxnLst>
                <a:cxn ang="0">
                  <a:pos x="T0" y="T1"/>
                </a:cxn>
                <a:cxn ang="0">
                  <a:pos x="T2" y="T3"/>
                </a:cxn>
              </a:cxnLst>
              <a:rect l="0" t="0" r="r" b="b"/>
              <a:pathLst>
                <a:path w="144" h="66">
                  <a:moveTo>
                    <a:pt x="0" y="66"/>
                  </a:moveTo>
                  <a:lnTo>
                    <a:pt x="144" y="0"/>
                  </a:lnTo>
                </a:path>
              </a:pathLst>
            </a:custGeom>
            <a:noFill/>
            <a:ln w="317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8" name="Text Box 1084"/>
            <p:cNvSpPr txBox="1">
              <a:spLocks noChangeArrowheads="1"/>
            </p:cNvSpPr>
            <p:nvPr/>
          </p:nvSpPr>
          <p:spPr bwMode="auto">
            <a:xfrm>
              <a:off x="1230" y="82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endParaRPr lang="en-US" altLang="zh-CN" b="1"/>
            </a:p>
          </p:txBody>
        </p:sp>
        <p:sp>
          <p:nvSpPr>
            <p:cNvPr id="53309" name="Text Box 1085"/>
            <p:cNvSpPr txBox="1">
              <a:spLocks noChangeArrowheads="1"/>
            </p:cNvSpPr>
            <p:nvPr/>
          </p:nvSpPr>
          <p:spPr bwMode="auto">
            <a:xfrm>
              <a:off x="1488" y="8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S</a:t>
              </a:r>
            </a:p>
          </p:txBody>
        </p:sp>
      </p:grpSp>
      <p:grpSp>
        <p:nvGrpSpPr>
          <p:cNvPr id="53334" name="Group 1110"/>
          <p:cNvGrpSpPr>
            <a:grpSpLocks/>
          </p:cNvGrpSpPr>
          <p:nvPr/>
        </p:nvGrpSpPr>
        <p:grpSpPr bwMode="auto">
          <a:xfrm>
            <a:off x="4883150" y="2047875"/>
            <a:ext cx="1212850" cy="1066800"/>
            <a:chOff x="3076" y="966"/>
            <a:chExt cx="764" cy="672"/>
          </a:xfrm>
        </p:grpSpPr>
        <p:sp>
          <p:nvSpPr>
            <p:cNvPr id="53298" name="Oval 1074"/>
            <p:cNvSpPr>
              <a:spLocks noChangeArrowheads="1"/>
            </p:cNvSpPr>
            <p:nvPr/>
          </p:nvSpPr>
          <p:spPr bwMode="auto">
            <a:xfrm>
              <a:off x="3469" y="1206"/>
              <a:ext cx="227" cy="227"/>
            </a:xfrm>
            <a:prstGeom prst="ellipse">
              <a:avLst/>
            </a:pr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9" name="Freeform 1075"/>
            <p:cNvSpPr>
              <a:spLocks/>
            </p:cNvSpPr>
            <p:nvPr/>
          </p:nvSpPr>
          <p:spPr bwMode="auto">
            <a:xfrm>
              <a:off x="3076" y="1128"/>
              <a:ext cx="510" cy="1"/>
            </a:xfrm>
            <a:custGeom>
              <a:avLst/>
              <a:gdLst>
                <a:gd name="T0" fmla="*/ 0 w 510"/>
                <a:gd name="T1" fmla="*/ 0 h 1"/>
                <a:gd name="T2" fmla="*/ 510 w 510"/>
                <a:gd name="T3" fmla="*/ 0 h 1"/>
              </a:gdLst>
              <a:ahLst/>
              <a:cxnLst>
                <a:cxn ang="0">
                  <a:pos x="T0" y="T1"/>
                </a:cxn>
                <a:cxn ang="0">
                  <a:pos x="T2" y="T3"/>
                </a:cxn>
              </a:cxnLst>
              <a:rect l="0" t="0" r="r" b="b"/>
              <a:pathLst>
                <a:path w="510" h="1">
                  <a:moveTo>
                    <a:pt x="0" y="0"/>
                  </a:moveTo>
                  <a:lnTo>
                    <a:pt x="51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0" name="Freeform 1076"/>
            <p:cNvSpPr>
              <a:spLocks/>
            </p:cNvSpPr>
            <p:nvPr/>
          </p:nvSpPr>
          <p:spPr bwMode="auto">
            <a:xfrm>
              <a:off x="3079" y="1530"/>
              <a:ext cx="516" cy="1"/>
            </a:xfrm>
            <a:custGeom>
              <a:avLst/>
              <a:gdLst>
                <a:gd name="T0" fmla="*/ 0 w 516"/>
                <a:gd name="T1" fmla="*/ 0 h 1"/>
                <a:gd name="T2" fmla="*/ 516 w 516"/>
                <a:gd name="T3" fmla="*/ 0 h 1"/>
              </a:gdLst>
              <a:ahLst/>
              <a:cxnLst>
                <a:cxn ang="0">
                  <a:pos x="T0" y="T1"/>
                </a:cxn>
                <a:cxn ang="0">
                  <a:pos x="T2" y="T3"/>
                </a:cxn>
              </a:cxnLst>
              <a:rect l="0" t="0" r="r" b="b"/>
              <a:pathLst>
                <a:path w="516" h="1">
                  <a:moveTo>
                    <a:pt x="0" y="0"/>
                  </a:moveTo>
                  <a:lnTo>
                    <a:pt x="51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Freeform 1077"/>
            <p:cNvSpPr>
              <a:spLocks/>
            </p:cNvSpPr>
            <p:nvPr/>
          </p:nvSpPr>
          <p:spPr bwMode="auto">
            <a:xfrm>
              <a:off x="3586" y="1128"/>
              <a:ext cx="1" cy="75"/>
            </a:xfrm>
            <a:custGeom>
              <a:avLst/>
              <a:gdLst>
                <a:gd name="T0" fmla="*/ 0 w 1"/>
                <a:gd name="T1" fmla="*/ 0 h 75"/>
                <a:gd name="T2" fmla="*/ 0 w 1"/>
                <a:gd name="T3" fmla="*/ 75 h 75"/>
              </a:gdLst>
              <a:ahLst/>
              <a:cxnLst>
                <a:cxn ang="0">
                  <a:pos x="T0" y="T1"/>
                </a:cxn>
                <a:cxn ang="0">
                  <a:pos x="T2" y="T3"/>
                </a:cxn>
              </a:cxnLst>
              <a:rect l="0" t="0" r="r" b="b"/>
              <a:pathLst>
                <a:path w="1" h="75">
                  <a:moveTo>
                    <a:pt x="0" y="0"/>
                  </a:moveTo>
                  <a:lnTo>
                    <a:pt x="0" y="75"/>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2" name="Freeform 1078"/>
            <p:cNvSpPr>
              <a:spLocks/>
            </p:cNvSpPr>
            <p:nvPr/>
          </p:nvSpPr>
          <p:spPr bwMode="auto">
            <a:xfrm>
              <a:off x="3586" y="1440"/>
              <a:ext cx="1" cy="90"/>
            </a:xfrm>
            <a:custGeom>
              <a:avLst/>
              <a:gdLst>
                <a:gd name="T0" fmla="*/ 0 w 1"/>
                <a:gd name="T1" fmla="*/ 0 h 90"/>
                <a:gd name="T2" fmla="*/ 0 w 1"/>
                <a:gd name="T3" fmla="*/ 90 h 90"/>
              </a:gdLst>
              <a:ahLst/>
              <a:cxnLst>
                <a:cxn ang="0">
                  <a:pos x="T0" y="T1"/>
                </a:cxn>
                <a:cxn ang="0">
                  <a:pos x="T2" y="T3"/>
                </a:cxn>
              </a:cxnLst>
              <a:rect l="0" t="0" r="r" b="b"/>
              <a:pathLst>
                <a:path w="1" h="90">
                  <a:moveTo>
                    <a:pt x="0" y="0"/>
                  </a:moveTo>
                  <a:lnTo>
                    <a:pt x="0" y="9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3" name="Text Box 1079"/>
            <p:cNvSpPr txBox="1">
              <a:spLocks noChangeArrowheads="1"/>
            </p:cNvSpPr>
            <p:nvPr/>
          </p:nvSpPr>
          <p:spPr bwMode="auto">
            <a:xfrm>
              <a:off x="3517" y="1254"/>
              <a:ext cx="1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CN" altLang="zh-CN" b="1"/>
            </a:p>
          </p:txBody>
        </p:sp>
        <p:sp>
          <p:nvSpPr>
            <p:cNvPr id="53305" name="Text Box 1081"/>
            <p:cNvSpPr txBox="1">
              <a:spLocks noChangeArrowheads="1"/>
            </p:cNvSpPr>
            <p:nvPr/>
          </p:nvSpPr>
          <p:spPr bwMode="auto">
            <a:xfrm>
              <a:off x="3460" y="118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V</a:t>
              </a:r>
            </a:p>
          </p:txBody>
        </p:sp>
        <p:sp>
          <p:nvSpPr>
            <p:cNvPr id="53311" name="Text Box 1087"/>
            <p:cNvSpPr txBox="1">
              <a:spLocks noChangeArrowheads="1"/>
            </p:cNvSpPr>
            <p:nvPr/>
          </p:nvSpPr>
          <p:spPr bwMode="auto">
            <a:xfrm>
              <a:off x="3600" y="96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3312" name="Text Box 1088"/>
            <p:cNvSpPr txBox="1">
              <a:spLocks noChangeArrowheads="1"/>
            </p:cNvSpPr>
            <p:nvPr/>
          </p:nvSpPr>
          <p:spPr bwMode="auto">
            <a:xfrm>
              <a:off x="3600" y="135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grpSp>
      <p:graphicFrame>
        <p:nvGraphicFramePr>
          <p:cNvPr id="53321" name="Object 1097"/>
          <p:cNvGraphicFramePr>
            <a:graphicFrameLocks noChangeAspect="1"/>
          </p:cNvGraphicFramePr>
          <p:nvPr/>
        </p:nvGraphicFramePr>
        <p:xfrm>
          <a:off x="3943350" y="4362450"/>
          <a:ext cx="3805238" cy="747713"/>
        </p:xfrm>
        <a:graphic>
          <a:graphicData uri="http://schemas.openxmlformats.org/presentationml/2006/ole">
            <mc:AlternateContent xmlns:mc="http://schemas.openxmlformats.org/markup-compatibility/2006">
              <mc:Choice xmlns:v="urn:schemas-microsoft-com:vml" Requires="v">
                <p:oleObj spid="_x0000_s97295" name="公式" r:id="rId3" imgW="1803240" imgH="355320" progId="Equation.3">
                  <p:embed/>
                </p:oleObj>
              </mc:Choice>
              <mc:Fallback>
                <p:oleObj name="公式" r:id="rId3" imgW="1803240" imgH="355320" progId="Equation.3">
                  <p:embed/>
                  <p:pic>
                    <p:nvPicPr>
                      <p:cNvPr id="0" name="Object 10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4362450"/>
                        <a:ext cx="3805238"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22" name="Text Box 1098"/>
          <p:cNvSpPr txBox="1">
            <a:spLocks noChangeArrowheads="1"/>
          </p:cNvSpPr>
          <p:nvPr/>
        </p:nvSpPr>
        <p:spPr bwMode="auto">
          <a:xfrm>
            <a:off x="1219200" y="35814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当闭合开关</a:t>
            </a:r>
            <a:r>
              <a:rPr lang="en-US" altLang="zh-CN" b="1">
                <a:solidFill>
                  <a:schemeClr val="accent2"/>
                </a:solidFill>
              </a:rPr>
              <a:t>S</a:t>
            </a:r>
            <a:r>
              <a:rPr lang="zh-CN" altLang="en-US" b="1">
                <a:solidFill>
                  <a:schemeClr val="accent2"/>
                </a:solidFill>
              </a:rPr>
              <a:t>时，电压表指针正偏一下，又回到零。</a:t>
            </a:r>
          </a:p>
        </p:txBody>
      </p:sp>
      <p:sp>
        <p:nvSpPr>
          <p:cNvPr id="53323" name="Text Box 1099"/>
          <p:cNvSpPr txBox="1">
            <a:spLocks noChangeArrowheads="1"/>
          </p:cNvSpPr>
          <p:nvPr/>
        </p:nvSpPr>
        <p:spPr bwMode="auto">
          <a:xfrm>
            <a:off x="477838" y="5276850"/>
            <a:ext cx="74676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b="1"/>
              <a:t>当两个线圈是封装的，只引出接线端子，要确定其同名端，就可以利用上面的结论来加以判断。</a:t>
            </a:r>
          </a:p>
        </p:txBody>
      </p:sp>
      <p:grpSp>
        <p:nvGrpSpPr>
          <p:cNvPr id="53347" name="Group 1123"/>
          <p:cNvGrpSpPr>
            <a:grpSpLocks/>
          </p:cNvGrpSpPr>
          <p:nvPr/>
        </p:nvGrpSpPr>
        <p:grpSpPr bwMode="auto">
          <a:xfrm>
            <a:off x="2687638" y="1790700"/>
            <a:ext cx="2438400" cy="1571625"/>
            <a:chOff x="1693" y="1128"/>
            <a:chExt cx="1536" cy="990"/>
          </a:xfrm>
        </p:grpSpPr>
        <p:grpSp>
          <p:nvGrpSpPr>
            <p:cNvPr id="53343" name="Group 1119"/>
            <p:cNvGrpSpPr>
              <a:grpSpLocks/>
            </p:cNvGrpSpPr>
            <p:nvPr/>
          </p:nvGrpSpPr>
          <p:grpSpPr bwMode="auto">
            <a:xfrm>
              <a:off x="1693" y="1128"/>
              <a:ext cx="1536" cy="990"/>
              <a:chOff x="1693" y="804"/>
              <a:chExt cx="1536" cy="990"/>
            </a:xfrm>
          </p:grpSpPr>
          <p:sp>
            <p:nvSpPr>
              <p:cNvPr id="53252" name="Rectangle 1028"/>
              <p:cNvSpPr>
                <a:spLocks noChangeArrowheads="1"/>
              </p:cNvSpPr>
              <p:nvPr/>
            </p:nvSpPr>
            <p:spPr bwMode="auto">
              <a:xfrm>
                <a:off x="2060" y="876"/>
                <a:ext cx="785" cy="918"/>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53" name="Rectangle 1029"/>
              <p:cNvSpPr>
                <a:spLocks noChangeArrowheads="1"/>
              </p:cNvSpPr>
              <p:nvPr/>
            </p:nvSpPr>
            <p:spPr bwMode="auto">
              <a:xfrm>
                <a:off x="2221" y="1039"/>
                <a:ext cx="432" cy="580"/>
              </a:xfrm>
              <a:prstGeom prst="rect">
                <a:avLst/>
              </a:prstGeom>
              <a:noFill/>
              <a:ln w="317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3341" name="Group 1117"/>
              <p:cNvGrpSpPr>
                <a:grpSpLocks/>
              </p:cNvGrpSpPr>
              <p:nvPr/>
            </p:nvGrpSpPr>
            <p:grpSpPr bwMode="auto">
              <a:xfrm>
                <a:off x="1865" y="1100"/>
                <a:ext cx="393" cy="412"/>
                <a:chOff x="1865" y="1100"/>
                <a:chExt cx="393" cy="412"/>
              </a:xfrm>
            </p:grpSpPr>
            <p:sp>
              <p:nvSpPr>
                <p:cNvPr id="53257" name="Freeform 1033"/>
                <p:cNvSpPr>
                  <a:spLocks/>
                </p:cNvSpPr>
                <p:nvPr/>
              </p:nvSpPr>
              <p:spPr bwMode="auto">
                <a:xfrm>
                  <a:off x="1865" y="1102"/>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58" name="Line 1034"/>
                <p:cNvSpPr>
                  <a:spLocks noChangeShapeType="1"/>
                </p:cNvSpPr>
                <p:nvPr/>
              </p:nvSpPr>
              <p:spPr bwMode="auto">
                <a:xfrm flipV="1">
                  <a:off x="1873" y="1511"/>
                  <a:ext cx="192" cy="1"/>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59" name="Freeform 1035"/>
                <p:cNvSpPr>
                  <a:spLocks/>
                </p:cNvSpPr>
                <p:nvPr/>
              </p:nvSpPr>
              <p:spPr bwMode="auto">
                <a:xfrm>
                  <a:off x="2212" y="1100"/>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60" name="Freeform 1036"/>
                <p:cNvSpPr>
                  <a:spLocks/>
                </p:cNvSpPr>
                <p:nvPr/>
              </p:nvSpPr>
              <p:spPr bwMode="auto">
                <a:xfrm>
                  <a:off x="2034" y="1173"/>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61" name="Freeform 1037"/>
                <p:cNvSpPr>
                  <a:spLocks/>
                </p:cNvSpPr>
                <p:nvPr/>
              </p:nvSpPr>
              <p:spPr bwMode="auto">
                <a:xfrm>
                  <a:off x="2034" y="1277"/>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62" name="Freeform 1038"/>
                <p:cNvSpPr>
                  <a:spLocks/>
                </p:cNvSpPr>
                <p:nvPr/>
              </p:nvSpPr>
              <p:spPr bwMode="auto">
                <a:xfrm>
                  <a:off x="2028" y="1389"/>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265" name="Line 1041"/>
              <p:cNvSpPr>
                <a:spLocks noChangeShapeType="1"/>
              </p:cNvSpPr>
              <p:nvPr/>
            </p:nvSpPr>
            <p:spPr bwMode="auto">
              <a:xfrm>
                <a:off x="1934" y="1056"/>
                <a:ext cx="113"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67" name="Text Box 1043"/>
              <p:cNvSpPr txBox="1">
                <a:spLocks noChangeArrowheads="1"/>
              </p:cNvSpPr>
              <p:nvPr/>
            </p:nvSpPr>
            <p:spPr bwMode="auto">
              <a:xfrm>
                <a:off x="1863" y="804"/>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a:t>i</a:t>
                </a:r>
                <a:endParaRPr lang="en-US" altLang="zh-CN" b="1"/>
              </a:p>
            </p:txBody>
          </p:sp>
          <p:sp>
            <p:nvSpPr>
              <p:cNvPr id="53269" name="Freeform 1045"/>
              <p:cNvSpPr>
                <a:spLocks/>
              </p:cNvSpPr>
              <p:nvPr/>
            </p:nvSpPr>
            <p:spPr bwMode="auto">
              <a:xfrm flipH="1">
                <a:off x="2661" y="1129"/>
                <a:ext cx="376" cy="47"/>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1" name="Freeform 1047"/>
              <p:cNvSpPr>
                <a:spLocks/>
              </p:cNvSpPr>
              <p:nvPr/>
            </p:nvSpPr>
            <p:spPr bwMode="auto">
              <a:xfrm flipH="1">
                <a:off x="2606" y="1128"/>
                <a:ext cx="56" cy="34"/>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2" name="Freeform 1048"/>
              <p:cNvSpPr>
                <a:spLocks/>
              </p:cNvSpPr>
              <p:nvPr/>
            </p:nvSpPr>
            <p:spPr bwMode="auto">
              <a:xfrm flipH="1">
                <a:off x="2606" y="1198"/>
                <a:ext cx="279" cy="72"/>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3" name="Freeform 1049"/>
              <p:cNvSpPr>
                <a:spLocks/>
              </p:cNvSpPr>
              <p:nvPr/>
            </p:nvSpPr>
            <p:spPr bwMode="auto">
              <a:xfrm flipH="1">
                <a:off x="2606" y="1297"/>
                <a:ext cx="279" cy="72"/>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4" name="Freeform 1050"/>
              <p:cNvSpPr>
                <a:spLocks/>
              </p:cNvSpPr>
              <p:nvPr/>
            </p:nvSpPr>
            <p:spPr bwMode="auto">
              <a:xfrm flipH="1">
                <a:off x="2605" y="1405"/>
                <a:ext cx="287" cy="83"/>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277" name="Text Box 1053"/>
              <p:cNvSpPr txBox="1">
                <a:spLocks noChangeArrowheads="1"/>
              </p:cNvSpPr>
              <p:nvPr/>
            </p:nvSpPr>
            <p:spPr bwMode="auto">
              <a:xfrm>
                <a:off x="1693" y="82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1</a:t>
                </a:r>
              </a:p>
            </p:txBody>
          </p:sp>
          <p:sp>
            <p:nvSpPr>
              <p:cNvPr id="53278" name="Text Box 1054"/>
              <p:cNvSpPr txBox="1">
                <a:spLocks noChangeArrowheads="1"/>
              </p:cNvSpPr>
              <p:nvPr/>
            </p:nvSpPr>
            <p:spPr bwMode="auto">
              <a:xfrm>
                <a:off x="1693" y="150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1'</a:t>
                </a:r>
              </a:p>
            </p:txBody>
          </p:sp>
          <p:sp>
            <p:nvSpPr>
              <p:cNvPr id="53279" name="Text Box 1055"/>
              <p:cNvSpPr txBox="1">
                <a:spLocks noChangeArrowheads="1"/>
              </p:cNvSpPr>
              <p:nvPr/>
            </p:nvSpPr>
            <p:spPr bwMode="auto">
              <a:xfrm>
                <a:off x="2941" y="86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2</a:t>
                </a:r>
              </a:p>
            </p:txBody>
          </p:sp>
          <p:sp>
            <p:nvSpPr>
              <p:cNvPr id="53280" name="Text Box 1056"/>
              <p:cNvSpPr txBox="1">
                <a:spLocks noChangeArrowheads="1"/>
              </p:cNvSpPr>
              <p:nvPr/>
            </p:nvSpPr>
            <p:spPr bwMode="auto">
              <a:xfrm>
                <a:off x="2941" y="153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2'</a:t>
                </a:r>
              </a:p>
            </p:txBody>
          </p:sp>
        </p:grpSp>
        <p:sp>
          <p:nvSpPr>
            <p:cNvPr id="53281" name="Text Box 1057"/>
            <p:cNvSpPr txBox="1">
              <a:spLocks noChangeArrowheads="1"/>
            </p:cNvSpPr>
            <p:nvPr/>
          </p:nvSpPr>
          <p:spPr bwMode="auto">
            <a:xfrm>
              <a:off x="1837" y="1392"/>
              <a:ext cx="2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sp>
          <p:nvSpPr>
            <p:cNvPr id="53282" name="Text Box 1058"/>
            <p:cNvSpPr txBox="1">
              <a:spLocks noChangeArrowheads="1"/>
            </p:cNvSpPr>
            <p:nvPr/>
          </p:nvSpPr>
          <p:spPr bwMode="auto">
            <a:xfrm>
              <a:off x="2821" y="1260"/>
              <a:ext cx="2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FF3300"/>
                  </a:solidFill>
                </a:rPr>
                <a:t>*</a:t>
              </a:r>
            </a:p>
          </p:txBody>
        </p:sp>
        <p:sp>
          <p:nvSpPr>
            <p:cNvPr id="53337" name="Oval 1113"/>
            <p:cNvSpPr>
              <a:spLocks noChangeArrowheads="1"/>
            </p:cNvSpPr>
            <p:nvPr/>
          </p:nvSpPr>
          <p:spPr bwMode="auto">
            <a:xfrm>
              <a:off x="1824" y="181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tx1">
                        <a:gamma/>
                        <a:shade val="60000"/>
                        <a:invGamma/>
                      </a:schemeClr>
                    </a:outerShdw>
                  </a:effectLst>
                </a14:hiddenEffects>
              </a:ext>
            </a:extLst>
          </p:spPr>
          <p:txBody>
            <a:bodyPr wrap="none" anchor="ctr">
              <a:spAutoFit/>
            </a:bodyPr>
            <a:lstStyle/>
            <a:p>
              <a:endParaRPr lang="zh-CN" altLang="en-US"/>
            </a:p>
          </p:txBody>
        </p:sp>
        <p:sp>
          <p:nvSpPr>
            <p:cNvPr id="53338" name="Oval 1114"/>
            <p:cNvSpPr>
              <a:spLocks noChangeArrowheads="1"/>
            </p:cNvSpPr>
            <p:nvPr/>
          </p:nvSpPr>
          <p:spPr bwMode="auto">
            <a:xfrm>
              <a:off x="3036" y="1834"/>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tx1">
                        <a:gamma/>
                        <a:shade val="60000"/>
                        <a:invGamma/>
                      </a:schemeClr>
                    </a:outerShdw>
                  </a:effectLst>
                </a14:hiddenEffects>
              </a:ext>
            </a:extLst>
          </p:spPr>
          <p:txBody>
            <a:bodyPr wrap="none" anchor="ctr">
              <a:spAutoFit/>
            </a:bodyPr>
            <a:lstStyle/>
            <a:p>
              <a:endParaRPr lang="zh-CN" altLang="en-US"/>
            </a:p>
          </p:txBody>
        </p:sp>
        <p:sp>
          <p:nvSpPr>
            <p:cNvPr id="53339" name="Oval 1115"/>
            <p:cNvSpPr>
              <a:spLocks noChangeArrowheads="1"/>
            </p:cNvSpPr>
            <p:nvPr/>
          </p:nvSpPr>
          <p:spPr bwMode="auto">
            <a:xfrm>
              <a:off x="3028" y="143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tx1">
                        <a:gamma/>
                        <a:shade val="60000"/>
                        <a:invGamma/>
                      </a:schemeClr>
                    </a:outerShdw>
                  </a:effectLst>
                </a14:hiddenEffects>
              </a:ext>
            </a:extLst>
          </p:spPr>
          <p:txBody>
            <a:bodyPr wrap="none" anchor="ctr">
              <a:spAutoFit/>
            </a:bodyPr>
            <a:lstStyle/>
            <a:p>
              <a:endParaRPr lang="zh-CN" altLang="en-US"/>
            </a:p>
          </p:txBody>
        </p:sp>
        <p:sp>
          <p:nvSpPr>
            <p:cNvPr id="53340" name="Oval 1116"/>
            <p:cNvSpPr>
              <a:spLocks noChangeArrowheads="1"/>
            </p:cNvSpPr>
            <p:nvPr/>
          </p:nvSpPr>
          <p:spPr bwMode="auto">
            <a:xfrm>
              <a:off x="1824" y="141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tx1">
                        <a:gamma/>
                        <a:shade val="60000"/>
                        <a:invGamma/>
                      </a:schemeClr>
                    </a:outerShdw>
                  </a:effectLst>
                </a14:hiddenEffects>
              </a:ext>
            </a:extLst>
          </p:spPr>
          <p:txBody>
            <a:bodyPr wrap="none" anchor="ctr">
              <a:spAutoFit/>
            </a:bodyPr>
            <a:lstStyle/>
            <a:p>
              <a:endParaRPr lang="zh-CN" altLang="en-US"/>
            </a:p>
          </p:txBody>
        </p:sp>
        <p:sp>
          <p:nvSpPr>
            <p:cNvPr id="53342" name="Line 1118"/>
            <p:cNvSpPr>
              <a:spLocks noChangeShapeType="1"/>
            </p:cNvSpPr>
            <p:nvPr/>
          </p:nvSpPr>
          <p:spPr bwMode="auto">
            <a:xfrm>
              <a:off x="2848" y="1856"/>
              <a:ext cx="18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tx1">
                        <a:gamma/>
                        <a:shade val="60000"/>
                        <a:invGamma/>
                      </a:schemeClr>
                    </a:outerShdw>
                  </a:effectLst>
                </a14:hiddenEffects>
              </a:ext>
            </a:extLst>
          </p:spPr>
          <p:txBody>
            <a:bodyPr>
              <a:spAutoFit/>
            </a:bodyPr>
            <a:lstStyle/>
            <a:p>
              <a:endParaRPr lang="zh-CN" altLang="en-US"/>
            </a:p>
          </p:txBody>
        </p:sp>
      </p:grpSp>
      <p:sp>
        <p:nvSpPr>
          <p:cNvPr id="53344" name="Text Box 1120"/>
          <p:cNvSpPr txBox="1">
            <a:spLocks noChangeArrowheads="1"/>
          </p:cNvSpPr>
          <p:nvPr/>
        </p:nvSpPr>
        <p:spPr bwMode="auto">
          <a:xfrm>
            <a:off x="819150" y="915988"/>
            <a:ext cx="569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spAutoFit/>
          </a:bodyPr>
          <a:lstStyle/>
          <a:p>
            <a:pPr algn="ctr"/>
            <a:r>
              <a:rPr lang="zh-CN" altLang="en-US" b="1"/>
              <a:t>假设线圈的同名端已知，观察实验的现象</a:t>
            </a:r>
          </a:p>
        </p:txBody>
      </p:sp>
      <p:sp>
        <p:nvSpPr>
          <p:cNvPr id="53345" name="Rectangle 1121"/>
          <p:cNvSpPr>
            <a:spLocks noChangeArrowheads="1"/>
          </p:cNvSpPr>
          <p:nvPr/>
        </p:nvSpPr>
        <p:spPr bwMode="auto">
          <a:xfrm>
            <a:off x="1089025" y="4514850"/>
            <a:ext cx="2582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spAutoFit/>
          </a:bodyPr>
          <a:lstStyle/>
          <a:p>
            <a:pPr algn="ctr"/>
            <a:r>
              <a:rPr lang="zh-CN" altLang="en-US" b="1"/>
              <a:t>开关</a:t>
            </a:r>
            <a:r>
              <a:rPr lang="en-US" altLang="zh-CN" b="1"/>
              <a:t>S</a:t>
            </a:r>
            <a:r>
              <a:rPr lang="zh-CN" altLang="en-US" b="1"/>
              <a:t>闭合，</a:t>
            </a:r>
            <a:r>
              <a:rPr lang="en-US" altLang="zh-CN" b="1" i="1"/>
              <a:t>i</a:t>
            </a:r>
            <a:r>
              <a:rPr lang="zh-CN" altLang="en-US" b="1"/>
              <a:t>增加</a:t>
            </a:r>
          </a:p>
        </p:txBody>
      </p:sp>
      <p:sp>
        <p:nvSpPr>
          <p:cNvPr id="53346" name="Text Box 1122"/>
          <p:cNvSpPr txBox="1">
            <a:spLocks noChangeArrowheads="1"/>
          </p:cNvSpPr>
          <p:nvPr/>
        </p:nvSpPr>
        <p:spPr bwMode="auto">
          <a:xfrm>
            <a:off x="401638" y="4021138"/>
            <a:ext cx="1103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spAutoFit/>
          </a:bodyPr>
          <a:lstStyle/>
          <a:p>
            <a:pPr algn="ctr"/>
            <a:r>
              <a:rPr lang="zh-CN" altLang="en-US" b="1"/>
              <a:t>分析：</a:t>
            </a:r>
          </a:p>
        </p:txBody>
      </p:sp>
      <p:sp>
        <p:nvSpPr>
          <p:cNvPr id="53324" name="Rectangle 1100"/>
          <p:cNvSpPr>
            <a:spLocks noChangeArrowheads="1"/>
          </p:cNvSpPr>
          <p:nvPr/>
        </p:nvSpPr>
        <p:spPr bwMode="auto">
          <a:xfrm>
            <a:off x="3014663" y="1835150"/>
            <a:ext cx="1711325" cy="1577975"/>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ppt_x"/>
                                          </p:val>
                                        </p:tav>
                                        <p:tav tm="100000">
                                          <p:val>
                                            <p:strVal val="#ppt_x"/>
                                          </p:val>
                                        </p:tav>
                                      </p:tavLst>
                                    </p:anim>
                                    <p:anim calcmode="lin" valueType="num">
                                      <p:cBhvr additive="base">
                                        <p:cTn id="8" dur="500" fill="hold"/>
                                        <p:tgtEl>
                                          <p:spTgt spid="5325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344">
                                            <p:txEl>
                                              <p:pRg st="0" end="0"/>
                                            </p:txEl>
                                          </p:spTgt>
                                        </p:tgtEl>
                                        <p:attrNameLst>
                                          <p:attrName>style.visibility</p:attrName>
                                        </p:attrNameLst>
                                      </p:cBhvr>
                                      <p:to>
                                        <p:strVal val="visible"/>
                                      </p:to>
                                    </p:set>
                                    <p:animEffect transition="in" filter="wipe(left)">
                                      <p:cBhvr>
                                        <p:cTn id="13" dur="500"/>
                                        <p:tgtEl>
                                          <p:spTgt spid="53344">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3347"/>
                                        </p:tgtEl>
                                        <p:attrNameLst>
                                          <p:attrName>style.visibility</p:attrName>
                                        </p:attrNameLst>
                                      </p:cBhvr>
                                      <p:to>
                                        <p:strVal val="visible"/>
                                      </p:to>
                                    </p:set>
                                    <p:animEffect transition="in" filter="wipe(left)">
                                      <p:cBhvr>
                                        <p:cTn id="18" dur="500"/>
                                        <p:tgtEl>
                                          <p:spTgt spid="5334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53333"/>
                                        </p:tgtEl>
                                        <p:attrNameLst>
                                          <p:attrName>style.visibility</p:attrName>
                                        </p:attrNameLst>
                                      </p:cBhvr>
                                      <p:to>
                                        <p:strVal val="visible"/>
                                      </p:to>
                                    </p:set>
                                    <p:anim calcmode="lin" valueType="num">
                                      <p:cBhvr additive="base">
                                        <p:cTn id="23" dur="500" fill="hold"/>
                                        <p:tgtEl>
                                          <p:spTgt spid="53333"/>
                                        </p:tgtEl>
                                        <p:attrNameLst>
                                          <p:attrName>ppt_x</p:attrName>
                                        </p:attrNameLst>
                                      </p:cBhvr>
                                      <p:tavLst>
                                        <p:tav tm="0">
                                          <p:val>
                                            <p:strVal val="0-#ppt_w/2"/>
                                          </p:val>
                                        </p:tav>
                                        <p:tav tm="100000">
                                          <p:val>
                                            <p:strVal val="#ppt_x"/>
                                          </p:val>
                                        </p:tav>
                                      </p:tavLst>
                                    </p:anim>
                                    <p:anim calcmode="lin" valueType="num">
                                      <p:cBhvr additive="base">
                                        <p:cTn id="24" dur="500" fill="hold"/>
                                        <p:tgtEl>
                                          <p:spTgt spid="5333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53334"/>
                                        </p:tgtEl>
                                        <p:attrNameLst>
                                          <p:attrName>style.visibility</p:attrName>
                                        </p:attrNameLst>
                                      </p:cBhvr>
                                      <p:to>
                                        <p:strVal val="visible"/>
                                      </p:to>
                                    </p:set>
                                    <p:anim calcmode="lin" valueType="num">
                                      <p:cBhvr additive="base">
                                        <p:cTn id="29" dur="500" fill="hold"/>
                                        <p:tgtEl>
                                          <p:spTgt spid="53334"/>
                                        </p:tgtEl>
                                        <p:attrNameLst>
                                          <p:attrName>ppt_x</p:attrName>
                                        </p:attrNameLst>
                                      </p:cBhvr>
                                      <p:tavLst>
                                        <p:tav tm="0">
                                          <p:val>
                                            <p:strVal val="1+#ppt_w/2"/>
                                          </p:val>
                                        </p:tav>
                                        <p:tav tm="100000">
                                          <p:val>
                                            <p:strVal val="#ppt_x"/>
                                          </p:val>
                                        </p:tav>
                                      </p:tavLst>
                                    </p:anim>
                                    <p:anim calcmode="lin" valueType="num">
                                      <p:cBhvr additive="base">
                                        <p:cTn id="30" dur="500" fill="hold"/>
                                        <p:tgtEl>
                                          <p:spTgt spid="53334"/>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3322"/>
                                        </p:tgtEl>
                                        <p:attrNameLst>
                                          <p:attrName>style.visibility</p:attrName>
                                        </p:attrNameLst>
                                      </p:cBhvr>
                                      <p:to>
                                        <p:strVal val="visible"/>
                                      </p:to>
                                    </p:set>
                                    <p:animEffect transition="in" filter="wipe(left)">
                                      <p:cBhvr>
                                        <p:cTn id="35" dur="500"/>
                                        <p:tgtEl>
                                          <p:spTgt spid="533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3346">
                                            <p:txEl>
                                              <p:pRg st="0" end="0"/>
                                            </p:txEl>
                                          </p:spTgt>
                                        </p:tgtEl>
                                        <p:attrNameLst>
                                          <p:attrName>style.visibility</p:attrName>
                                        </p:attrNameLst>
                                      </p:cBhvr>
                                      <p:to>
                                        <p:strVal val="visible"/>
                                      </p:to>
                                    </p:set>
                                    <p:animEffect transition="in" filter="wipe(left)">
                                      <p:cBhvr>
                                        <p:cTn id="40" dur="500"/>
                                        <p:tgtEl>
                                          <p:spTgt spid="53346">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3345">
                                            <p:txEl>
                                              <p:pRg st="0" end="0"/>
                                            </p:txEl>
                                          </p:spTgt>
                                        </p:tgtEl>
                                        <p:attrNameLst>
                                          <p:attrName>style.visibility</p:attrName>
                                        </p:attrNameLst>
                                      </p:cBhvr>
                                      <p:to>
                                        <p:strVal val="visible"/>
                                      </p:to>
                                    </p:set>
                                    <p:animEffect transition="in" filter="wipe(left)">
                                      <p:cBhvr>
                                        <p:cTn id="45" dur="500"/>
                                        <p:tgtEl>
                                          <p:spTgt spid="53345">
                                            <p:txEl>
                                              <p:pRg st="0" end="0"/>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10" fill="hold" nodeType="clickEffect">
                                  <p:stCondLst>
                                    <p:cond delay="0"/>
                                  </p:stCondLst>
                                  <p:childTnLst>
                                    <p:set>
                                      <p:cBhvr>
                                        <p:cTn id="49" dur="1" fill="hold">
                                          <p:stCondLst>
                                            <p:cond delay="0"/>
                                          </p:stCondLst>
                                        </p:cTn>
                                        <p:tgtEl>
                                          <p:spTgt spid="53321"/>
                                        </p:tgtEl>
                                        <p:attrNameLst>
                                          <p:attrName>style.visibility</p:attrName>
                                        </p:attrNameLst>
                                      </p:cBhvr>
                                      <p:to>
                                        <p:strVal val="visible"/>
                                      </p:to>
                                    </p:set>
                                    <p:anim calcmode="lin" valueType="num">
                                      <p:cBhvr>
                                        <p:cTn id="50" dur="500" fill="hold"/>
                                        <p:tgtEl>
                                          <p:spTgt spid="53321"/>
                                        </p:tgtEl>
                                        <p:attrNameLst>
                                          <p:attrName>ppt_w</p:attrName>
                                        </p:attrNameLst>
                                      </p:cBhvr>
                                      <p:tavLst>
                                        <p:tav tm="0">
                                          <p:val>
                                            <p:fltVal val="0"/>
                                          </p:val>
                                        </p:tav>
                                        <p:tav tm="100000">
                                          <p:val>
                                            <p:strVal val="#ppt_w"/>
                                          </p:val>
                                        </p:tav>
                                      </p:tavLst>
                                    </p:anim>
                                    <p:anim calcmode="lin" valueType="num">
                                      <p:cBhvr>
                                        <p:cTn id="51" dur="500" fill="hold"/>
                                        <p:tgtEl>
                                          <p:spTgt spid="53321"/>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53323"/>
                                        </p:tgtEl>
                                        <p:attrNameLst>
                                          <p:attrName>style.visibility</p:attrName>
                                        </p:attrNameLst>
                                      </p:cBhvr>
                                      <p:to>
                                        <p:strVal val="visible"/>
                                      </p:to>
                                    </p:set>
                                    <p:animEffect transition="in" filter="slide(fromBottom)">
                                      <p:cBhvr>
                                        <p:cTn id="56" dur="500"/>
                                        <p:tgtEl>
                                          <p:spTgt spid="53323"/>
                                        </p:tgtEl>
                                      </p:cBhvr>
                                    </p:animEffect>
                                  </p:childTnLst>
                                </p:cTn>
                              </p:par>
                            </p:childTnLst>
                          </p:cTn>
                        </p:par>
                        <p:par>
                          <p:cTn id="57" fill="hold" nodeType="afterGroup">
                            <p:stCondLst>
                              <p:cond delay="500"/>
                            </p:stCondLst>
                            <p:childTnLst>
                              <p:par>
                                <p:cTn id="58" presetID="4" presetClass="entr" presetSubtype="16" fill="hold" nodeType="afterEffect">
                                  <p:stCondLst>
                                    <p:cond delay="0"/>
                                  </p:stCondLst>
                                  <p:childTnLst>
                                    <p:set>
                                      <p:cBhvr>
                                        <p:cTn id="59" dur="1" fill="hold">
                                          <p:stCondLst>
                                            <p:cond delay="0"/>
                                          </p:stCondLst>
                                        </p:cTn>
                                        <p:tgtEl>
                                          <p:spTgt spid="53324"/>
                                        </p:tgtEl>
                                        <p:attrNameLst>
                                          <p:attrName>style.visibility</p:attrName>
                                        </p:attrNameLst>
                                      </p:cBhvr>
                                      <p:to>
                                        <p:strVal val="visible"/>
                                      </p:to>
                                    </p:set>
                                    <p:animEffect transition="in" filter="box(in)">
                                      <p:cBhvr>
                                        <p:cTn id="60" dur="500"/>
                                        <p:tgtEl>
                                          <p:spTgt spid="5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322" grpId="0" autoUpdateAnimBg="0"/>
      <p:bldP spid="53323" grpId="0" autoUpdateAnimBg="0"/>
      <p:bldP spid="53344" grpId="0" build="p" autoUpdateAnimBg="0"/>
      <p:bldP spid="53345" grpId="0" build="p" autoUpdateAnimBg="0"/>
      <p:bldP spid="5334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9" name="Text Box 7"/>
          <p:cNvSpPr txBox="1">
            <a:spLocks noChangeArrowheads="1"/>
          </p:cNvSpPr>
          <p:nvPr/>
        </p:nvSpPr>
        <p:spPr bwMode="auto">
          <a:xfrm>
            <a:off x="457200" y="533400"/>
            <a:ext cx="821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四、由同名端及</a:t>
            </a:r>
            <a:r>
              <a:rPr lang="en-US" altLang="zh-CN" b="1" i="1">
                <a:solidFill>
                  <a:schemeClr val="accent2"/>
                </a:solidFill>
              </a:rPr>
              <a:t>u</a:t>
            </a:r>
            <a:r>
              <a:rPr lang="zh-CN" altLang="en-US" b="1">
                <a:solidFill>
                  <a:schemeClr val="accent2"/>
                </a:solidFill>
              </a:rPr>
              <a:t>，</a:t>
            </a:r>
            <a:r>
              <a:rPr lang="en-US" altLang="zh-CN" b="1" i="1">
                <a:solidFill>
                  <a:schemeClr val="accent2"/>
                </a:solidFill>
              </a:rPr>
              <a:t>i</a:t>
            </a:r>
            <a:r>
              <a:rPr lang="zh-CN" altLang="en-US" b="1">
                <a:solidFill>
                  <a:schemeClr val="accent2"/>
                </a:solidFill>
              </a:rPr>
              <a:t>参考方向确定互感电压表达式的正负号</a:t>
            </a:r>
          </a:p>
        </p:txBody>
      </p:sp>
      <p:graphicFrame>
        <p:nvGraphicFramePr>
          <p:cNvPr id="54305" name="Object 33"/>
          <p:cNvGraphicFramePr>
            <a:graphicFrameLocks noChangeAspect="1"/>
          </p:cNvGraphicFramePr>
          <p:nvPr/>
        </p:nvGraphicFramePr>
        <p:xfrm>
          <a:off x="6191250" y="3360738"/>
          <a:ext cx="1600200" cy="773112"/>
        </p:xfrm>
        <a:graphic>
          <a:graphicData uri="http://schemas.openxmlformats.org/presentationml/2006/ole">
            <mc:AlternateContent xmlns:mc="http://schemas.openxmlformats.org/markup-compatibility/2006">
              <mc:Choice xmlns:v="urn:schemas-microsoft-com:vml" Requires="v">
                <p:oleObj spid="_x0000_s54402" name="公式" r:id="rId3" imgW="812520" imgH="393480" progId="Equation.3">
                  <p:embed/>
                </p:oleObj>
              </mc:Choice>
              <mc:Fallback>
                <p:oleObj name="公式" r:id="rId3" imgW="812520" imgH="393480"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3360738"/>
                        <a:ext cx="1600200" cy="773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06" name="Object 34"/>
          <p:cNvGraphicFramePr>
            <a:graphicFrameLocks noChangeAspect="1"/>
          </p:cNvGraphicFramePr>
          <p:nvPr/>
        </p:nvGraphicFramePr>
        <p:xfrm>
          <a:off x="6191250" y="4794250"/>
          <a:ext cx="1943100" cy="844550"/>
        </p:xfrm>
        <a:graphic>
          <a:graphicData uri="http://schemas.openxmlformats.org/presentationml/2006/ole">
            <mc:AlternateContent xmlns:mc="http://schemas.openxmlformats.org/markup-compatibility/2006">
              <mc:Choice xmlns:v="urn:schemas-microsoft-com:vml" Requires="v">
                <p:oleObj spid="_x0000_s54403" name="公式" r:id="rId5" imgW="901440" imgH="393480" progId="Equation.3">
                  <p:embed/>
                </p:oleObj>
              </mc:Choice>
              <mc:Fallback>
                <p:oleObj name="公式" r:id="rId5" imgW="901440" imgH="393480" progId="Equation.3">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1250" y="4794250"/>
                        <a:ext cx="1943100"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4366" name="Group 94"/>
          <p:cNvGrpSpPr>
            <a:grpSpLocks/>
          </p:cNvGrpSpPr>
          <p:nvPr/>
        </p:nvGrpSpPr>
        <p:grpSpPr bwMode="auto">
          <a:xfrm>
            <a:off x="1054100" y="2838450"/>
            <a:ext cx="4340225" cy="1371600"/>
            <a:chOff x="664" y="1788"/>
            <a:chExt cx="2734" cy="864"/>
          </a:xfrm>
        </p:grpSpPr>
        <p:sp>
          <p:nvSpPr>
            <p:cNvPr id="54282" name="Line 10"/>
            <p:cNvSpPr>
              <a:spLocks noChangeShapeType="1"/>
            </p:cNvSpPr>
            <p:nvPr/>
          </p:nvSpPr>
          <p:spPr bwMode="auto">
            <a:xfrm>
              <a:off x="1446" y="2316"/>
              <a:ext cx="3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p:cNvSpPr>
              <a:spLocks noChangeShapeType="1"/>
            </p:cNvSpPr>
            <p:nvPr/>
          </p:nvSpPr>
          <p:spPr bwMode="auto">
            <a:xfrm>
              <a:off x="732" y="2316"/>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Line 24"/>
            <p:cNvSpPr>
              <a:spLocks noChangeShapeType="1"/>
            </p:cNvSpPr>
            <p:nvPr/>
          </p:nvSpPr>
          <p:spPr bwMode="auto">
            <a:xfrm>
              <a:off x="732" y="2412"/>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Text Box 25"/>
            <p:cNvSpPr txBox="1">
              <a:spLocks noChangeArrowheads="1"/>
            </p:cNvSpPr>
            <p:nvPr/>
          </p:nvSpPr>
          <p:spPr bwMode="auto">
            <a:xfrm>
              <a:off x="780" y="236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54298" name="Text Box 26"/>
            <p:cNvSpPr txBox="1">
              <a:spLocks noChangeArrowheads="1"/>
            </p:cNvSpPr>
            <p:nvPr/>
          </p:nvSpPr>
          <p:spPr bwMode="auto">
            <a:xfrm>
              <a:off x="828" y="207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54300" name="Text Box 28"/>
            <p:cNvSpPr txBox="1">
              <a:spLocks noChangeArrowheads="1"/>
            </p:cNvSpPr>
            <p:nvPr/>
          </p:nvSpPr>
          <p:spPr bwMode="auto">
            <a:xfrm>
              <a:off x="2316" y="207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54302" name="Text Box 30"/>
            <p:cNvSpPr txBox="1">
              <a:spLocks noChangeArrowheads="1"/>
            </p:cNvSpPr>
            <p:nvPr/>
          </p:nvSpPr>
          <p:spPr bwMode="auto">
            <a:xfrm>
              <a:off x="2652" y="2316"/>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21</a:t>
              </a:r>
              <a:endParaRPr lang="en-US" altLang="zh-CN" b="1"/>
            </a:p>
          </p:txBody>
        </p:sp>
        <p:grpSp>
          <p:nvGrpSpPr>
            <p:cNvPr id="54312" name="Group 40"/>
            <p:cNvGrpSpPr>
              <a:grpSpLocks/>
            </p:cNvGrpSpPr>
            <p:nvPr/>
          </p:nvGrpSpPr>
          <p:grpSpPr bwMode="auto">
            <a:xfrm>
              <a:off x="1068" y="2268"/>
              <a:ext cx="379" cy="57"/>
              <a:chOff x="1200" y="1584"/>
              <a:chExt cx="379" cy="45"/>
            </a:xfrm>
          </p:grpSpPr>
          <p:sp>
            <p:nvSpPr>
              <p:cNvPr id="54308" name="Arc 3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9" name="Arc 3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0" name="Arc 3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1" name="Arc 3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314" name="Oval 42"/>
            <p:cNvSpPr>
              <a:spLocks noChangeArrowheads="1"/>
            </p:cNvSpPr>
            <p:nvPr/>
          </p:nvSpPr>
          <p:spPr bwMode="auto">
            <a:xfrm>
              <a:off x="664" y="226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5" name="Oval 43"/>
            <p:cNvSpPr>
              <a:spLocks noChangeArrowheads="1"/>
            </p:cNvSpPr>
            <p:nvPr/>
          </p:nvSpPr>
          <p:spPr bwMode="auto">
            <a:xfrm>
              <a:off x="1836" y="226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6" name="Line 44"/>
            <p:cNvSpPr>
              <a:spLocks noChangeShapeType="1"/>
            </p:cNvSpPr>
            <p:nvPr/>
          </p:nvSpPr>
          <p:spPr bwMode="auto">
            <a:xfrm>
              <a:off x="2940" y="2316"/>
              <a:ext cx="3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7" name="Line 45"/>
            <p:cNvSpPr>
              <a:spLocks noChangeShapeType="1"/>
            </p:cNvSpPr>
            <p:nvPr/>
          </p:nvSpPr>
          <p:spPr bwMode="auto">
            <a:xfrm>
              <a:off x="2226" y="2316"/>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318" name="Group 46"/>
            <p:cNvGrpSpPr>
              <a:grpSpLocks/>
            </p:cNvGrpSpPr>
            <p:nvPr/>
          </p:nvGrpSpPr>
          <p:grpSpPr bwMode="auto">
            <a:xfrm>
              <a:off x="2562" y="2268"/>
              <a:ext cx="379" cy="57"/>
              <a:chOff x="1200" y="1584"/>
              <a:chExt cx="379" cy="45"/>
            </a:xfrm>
          </p:grpSpPr>
          <p:sp>
            <p:nvSpPr>
              <p:cNvPr id="54319" name="Arc 4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0" name="Arc 4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1" name="Arc 4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2" name="Arc 5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323" name="Oval 51"/>
            <p:cNvSpPr>
              <a:spLocks noChangeArrowheads="1"/>
            </p:cNvSpPr>
            <p:nvPr/>
          </p:nvSpPr>
          <p:spPr bwMode="auto">
            <a:xfrm>
              <a:off x="2158" y="226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4" name="Oval 52"/>
            <p:cNvSpPr>
              <a:spLocks noChangeArrowheads="1"/>
            </p:cNvSpPr>
            <p:nvPr/>
          </p:nvSpPr>
          <p:spPr bwMode="auto">
            <a:xfrm>
              <a:off x="3330" y="226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5" name="Arc 53"/>
            <p:cNvSpPr>
              <a:spLocks/>
            </p:cNvSpPr>
            <p:nvPr/>
          </p:nvSpPr>
          <p:spPr bwMode="auto">
            <a:xfrm>
              <a:off x="1788" y="1932"/>
              <a:ext cx="592" cy="288"/>
            </a:xfrm>
            <a:custGeom>
              <a:avLst/>
              <a:gdLst>
                <a:gd name="G0" fmla="+- 0 0 0"/>
                <a:gd name="G1" fmla="+- 21600 0 0"/>
                <a:gd name="G2" fmla="+- 21600 0 0"/>
                <a:gd name="T0" fmla="*/ 0 w 20759"/>
                <a:gd name="T1" fmla="*/ 0 h 21600"/>
                <a:gd name="T2" fmla="*/ 20759 w 20759"/>
                <a:gd name="T3" fmla="*/ 15630 h 21600"/>
                <a:gd name="T4" fmla="*/ 0 w 20759"/>
                <a:gd name="T5" fmla="*/ 21600 h 21600"/>
              </a:gdLst>
              <a:ahLst/>
              <a:cxnLst>
                <a:cxn ang="0">
                  <a:pos x="T0" y="T1"/>
                </a:cxn>
                <a:cxn ang="0">
                  <a:pos x="T2" y="T3"/>
                </a:cxn>
                <a:cxn ang="0">
                  <a:pos x="T4" y="T5"/>
                </a:cxn>
              </a:cxnLst>
              <a:rect l="0" t="0" r="r" b="b"/>
              <a:pathLst>
                <a:path w="20759" h="21600" fill="none" extrusionOk="0">
                  <a:moveTo>
                    <a:pt x="0" y="0"/>
                  </a:moveTo>
                  <a:cubicBezTo>
                    <a:pt x="9630" y="0"/>
                    <a:pt x="18097" y="6375"/>
                    <a:pt x="20758" y="15630"/>
                  </a:cubicBezTo>
                </a:path>
                <a:path w="20759" h="21600" stroke="0" extrusionOk="0">
                  <a:moveTo>
                    <a:pt x="0" y="0"/>
                  </a:moveTo>
                  <a:cubicBezTo>
                    <a:pt x="9630" y="0"/>
                    <a:pt x="18097" y="6375"/>
                    <a:pt x="20758" y="1563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6" name="Arc 54"/>
            <p:cNvSpPr>
              <a:spLocks/>
            </p:cNvSpPr>
            <p:nvPr/>
          </p:nvSpPr>
          <p:spPr bwMode="auto">
            <a:xfrm flipH="1">
              <a:off x="1020" y="1932"/>
              <a:ext cx="544" cy="288"/>
            </a:xfrm>
            <a:custGeom>
              <a:avLst/>
              <a:gdLst>
                <a:gd name="G0" fmla="+- 0 0 0"/>
                <a:gd name="G1" fmla="+- 21600 0 0"/>
                <a:gd name="G2" fmla="+- 21600 0 0"/>
                <a:gd name="T0" fmla="*/ 0 w 20759"/>
                <a:gd name="T1" fmla="*/ 0 h 21600"/>
                <a:gd name="T2" fmla="*/ 20759 w 20759"/>
                <a:gd name="T3" fmla="*/ 15630 h 21600"/>
                <a:gd name="T4" fmla="*/ 0 w 20759"/>
                <a:gd name="T5" fmla="*/ 21600 h 21600"/>
              </a:gdLst>
              <a:ahLst/>
              <a:cxnLst>
                <a:cxn ang="0">
                  <a:pos x="T0" y="T1"/>
                </a:cxn>
                <a:cxn ang="0">
                  <a:pos x="T2" y="T3"/>
                </a:cxn>
                <a:cxn ang="0">
                  <a:pos x="T4" y="T5"/>
                </a:cxn>
              </a:cxnLst>
              <a:rect l="0" t="0" r="r" b="b"/>
              <a:pathLst>
                <a:path w="20759" h="21600" fill="none" extrusionOk="0">
                  <a:moveTo>
                    <a:pt x="0" y="0"/>
                  </a:moveTo>
                  <a:cubicBezTo>
                    <a:pt x="9630" y="0"/>
                    <a:pt x="18097" y="6375"/>
                    <a:pt x="20758" y="15630"/>
                  </a:cubicBezTo>
                </a:path>
                <a:path w="20759" h="21600" stroke="0" extrusionOk="0">
                  <a:moveTo>
                    <a:pt x="0" y="0"/>
                  </a:moveTo>
                  <a:cubicBezTo>
                    <a:pt x="9630" y="0"/>
                    <a:pt x="18097" y="6375"/>
                    <a:pt x="20758" y="1563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7" name="Text Box 55"/>
            <p:cNvSpPr txBox="1">
              <a:spLocks noChangeArrowheads="1"/>
            </p:cNvSpPr>
            <p:nvPr/>
          </p:nvSpPr>
          <p:spPr bwMode="auto">
            <a:xfrm>
              <a:off x="2268" y="236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4328" name="Text Box 56"/>
            <p:cNvSpPr txBox="1">
              <a:spLocks noChangeArrowheads="1"/>
            </p:cNvSpPr>
            <p:nvPr/>
          </p:nvSpPr>
          <p:spPr bwMode="auto">
            <a:xfrm>
              <a:off x="3084" y="236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4329" name="Text Box 57"/>
            <p:cNvSpPr txBox="1">
              <a:spLocks noChangeArrowheads="1"/>
            </p:cNvSpPr>
            <p:nvPr/>
          </p:nvSpPr>
          <p:spPr bwMode="auto">
            <a:xfrm>
              <a:off x="1548" y="178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M</a:t>
              </a:r>
              <a:endParaRPr lang="en-US" altLang="zh-CN" b="1"/>
            </a:p>
          </p:txBody>
        </p:sp>
      </p:grpSp>
      <p:grpSp>
        <p:nvGrpSpPr>
          <p:cNvPr id="54367" name="Group 95"/>
          <p:cNvGrpSpPr>
            <a:grpSpLocks/>
          </p:cNvGrpSpPr>
          <p:nvPr/>
        </p:nvGrpSpPr>
        <p:grpSpPr bwMode="auto">
          <a:xfrm>
            <a:off x="1009650" y="4419600"/>
            <a:ext cx="4340225" cy="1371600"/>
            <a:chOff x="636" y="2784"/>
            <a:chExt cx="2734" cy="864"/>
          </a:xfrm>
        </p:grpSpPr>
        <p:sp>
          <p:nvSpPr>
            <p:cNvPr id="54332" name="Line 60"/>
            <p:cNvSpPr>
              <a:spLocks noChangeShapeType="1"/>
            </p:cNvSpPr>
            <p:nvPr/>
          </p:nvSpPr>
          <p:spPr bwMode="auto">
            <a:xfrm>
              <a:off x="1418" y="3312"/>
              <a:ext cx="3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3" name="Line 61"/>
            <p:cNvSpPr>
              <a:spLocks noChangeShapeType="1"/>
            </p:cNvSpPr>
            <p:nvPr/>
          </p:nvSpPr>
          <p:spPr bwMode="auto">
            <a:xfrm>
              <a:off x="704" y="3312"/>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4" name="Line 62"/>
            <p:cNvSpPr>
              <a:spLocks noChangeShapeType="1"/>
            </p:cNvSpPr>
            <p:nvPr/>
          </p:nvSpPr>
          <p:spPr bwMode="auto">
            <a:xfrm>
              <a:off x="704" y="340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5" name="Text Box 63"/>
            <p:cNvSpPr txBox="1">
              <a:spLocks noChangeArrowheads="1"/>
            </p:cNvSpPr>
            <p:nvPr/>
          </p:nvSpPr>
          <p:spPr bwMode="auto">
            <a:xfrm>
              <a:off x="752" y="336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54336" name="Text Box 64"/>
            <p:cNvSpPr txBox="1">
              <a:spLocks noChangeArrowheads="1"/>
            </p:cNvSpPr>
            <p:nvPr/>
          </p:nvSpPr>
          <p:spPr bwMode="auto">
            <a:xfrm>
              <a:off x="800" y="3072"/>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54337" name="Text Box 65"/>
            <p:cNvSpPr txBox="1">
              <a:spLocks noChangeArrowheads="1"/>
            </p:cNvSpPr>
            <p:nvPr/>
          </p:nvSpPr>
          <p:spPr bwMode="auto">
            <a:xfrm>
              <a:off x="2288" y="30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54338" name="Text Box 66"/>
            <p:cNvSpPr txBox="1">
              <a:spLocks noChangeArrowheads="1"/>
            </p:cNvSpPr>
            <p:nvPr/>
          </p:nvSpPr>
          <p:spPr bwMode="auto">
            <a:xfrm>
              <a:off x="2624" y="331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21</a:t>
              </a:r>
              <a:endParaRPr lang="en-US" altLang="zh-CN" b="1"/>
            </a:p>
          </p:txBody>
        </p:sp>
        <p:grpSp>
          <p:nvGrpSpPr>
            <p:cNvPr id="54339" name="Group 67"/>
            <p:cNvGrpSpPr>
              <a:grpSpLocks/>
            </p:cNvGrpSpPr>
            <p:nvPr/>
          </p:nvGrpSpPr>
          <p:grpSpPr bwMode="auto">
            <a:xfrm>
              <a:off x="1040" y="3264"/>
              <a:ext cx="379" cy="57"/>
              <a:chOff x="1200" y="1584"/>
              <a:chExt cx="379" cy="45"/>
            </a:xfrm>
          </p:grpSpPr>
          <p:sp>
            <p:nvSpPr>
              <p:cNvPr id="54340" name="Arc 6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1" name="Arc 6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2" name="Arc 7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3" name="Arc 7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344" name="Oval 72"/>
            <p:cNvSpPr>
              <a:spLocks noChangeArrowheads="1"/>
            </p:cNvSpPr>
            <p:nvPr/>
          </p:nvSpPr>
          <p:spPr bwMode="auto">
            <a:xfrm>
              <a:off x="636" y="326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5" name="Oval 73"/>
            <p:cNvSpPr>
              <a:spLocks noChangeArrowheads="1"/>
            </p:cNvSpPr>
            <p:nvPr/>
          </p:nvSpPr>
          <p:spPr bwMode="auto">
            <a:xfrm>
              <a:off x="1808" y="326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6" name="Line 74"/>
            <p:cNvSpPr>
              <a:spLocks noChangeShapeType="1"/>
            </p:cNvSpPr>
            <p:nvPr/>
          </p:nvSpPr>
          <p:spPr bwMode="auto">
            <a:xfrm>
              <a:off x="2912" y="3312"/>
              <a:ext cx="39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7" name="Line 75"/>
            <p:cNvSpPr>
              <a:spLocks noChangeShapeType="1"/>
            </p:cNvSpPr>
            <p:nvPr/>
          </p:nvSpPr>
          <p:spPr bwMode="auto">
            <a:xfrm>
              <a:off x="2198" y="3312"/>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348" name="Group 76"/>
            <p:cNvGrpSpPr>
              <a:grpSpLocks/>
            </p:cNvGrpSpPr>
            <p:nvPr/>
          </p:nvGrpSpPr>
          <p:grpSpPr bwMode="auto">
            <a:xfrm>
              <a:off x="2534" y="3264"/>
              <a:ext cx="379" cy="57"/>
              <a:chOff x="1200" y="1584"/>
              <a:chExt cx="379" cy="45"/>
            </a:xfrm>
          </p:grpSpPr>
          <p:sp>
            <p:nvSpPr>
              <p:cNvPr id="54349" name="Arc 7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0" name="Arc 7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1" name="Arc 7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2" name="Arc 8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353" name="Oval 81"/>
            <p:cNvSpPr>
              <a:spLocks noChangeArrowheads="1"/>
            </p:cNvSpPr>
            <p:nvPr/>
          </p:nvSpPr>
          <p:spPr bwMode="auto">
            <a:xfrm>
              <a:off x="2130" y="326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4" name="Oval 82"/>
            <p:cNvSpPr>
              <a:spLocks noChangeArrowheads="1"/>
            </p:cNvSpPr>
            <p:nvPr/>
          </p:nvSpPr>
          <p:spPr bwMode="auto">
            <a:xfrm>
              <a:off x="3302" y="326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5" name="Arc 83"/>
            <p:cNvSpPr>
              <a:spLocks/>
            </p:cNvSpPr>
            <p:nvPr/>
          </p:nvSpPr>
          <p:spPr bwMode="auto">
            <a:xfrm>
              <a:off x="1760" y="2928"/>
              <a:ext cx="592" cy="288"/>
            </a:xfrm>
            <a:custGeom>
              <a:avLst/>
              <a:gdLst>
                <a:gd name="G0" fmla="+- 0 0 0"/>
                <a:gd name="G1" fmla="+- 21600 0 0"/>
                <a:gd name="G2" fmla="+- 21600 0 0"/>
                <a:gd name="T0" fmla="*/ 0 w 20759"/>
                <a:gd name="T1" fmla="*/ 0 h 21600"/>
                <a:gd name="T2" fmla="*/ 20759 w 20759"/>
                <a:gd name="T3" fmla="*/ 15630 h 21600"/>
                <a:gd name="T4" fmla="*/ 0 w 20759"/>
                <a:gd name="T5" fmla="*/ 21600 h 21600"/>
              </a:gdLst>
              <a:ahLst/>
              <a:cxnLst>
                <a:cxn ang="0">
                  <a:pos x="T0" y="T1"/>
                </a:cxn>
                <a:cxn ang="0">
                  <a:pos x="T2" y="T3"/>
                </a:cxn>
                <a:cxn ang="0">
                  <a:pos x="T4" y="T5"/>
                </a:cxn>
              </a:cxnLst>
              <a:rect l="0" t="0" r="r" b="b"/>
              <a:pathLst>
                <a:path w="20759" h="21600" fill="none" extrusionOk="0">
                  <a:moveTo>
                    <a:pt x="0" y="0"/>
                  </a:moveTo>
                  <a:cubicBezTo>
                    <a:pt x="9630" y="0"/>
                    <a:pt x="18097" y="6375"/>
                    <a:pt x="20758" y="15630"/>
                  </a:cubicBezTo>
                </a:path>
                <a:path w="20759" h="21600" stroke="0" extrusionOk="0">
                  <a:moveTo>
                    <a:pt x="0" y="0"/>
                  </a:moveTo>
                  <a:cubicBezTo>
                    <a:pt x="9630" y="0"/>
                    <a:pt x="18097" y="6375"/>
                    <a:pt x="20758" y="1563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6" name="Arc 84"/>
            <p:cNvSpPr>
              <a:spLocks/>
            </p:cNvSpPr>
            <p:nvPr/>
          </p:nvSpPr>
          <p:spPr bwMode="auto">
            <a:xfrm flipH="1">
              <a:off x="992" y="2928"/>
              <a:ext cx="544" cy="288"/>
            </a:xfrm>
            <a:custGeom>
              <a:avLst/>
              <a:gdLst>
                <a:gd name="G0" fmla="+- 0 0 0"/>
                <a:gd name="G1" fmla="+- 21600 0 0"/>
                <a:gd name="G2" fmla="+- 21600 0 0"/>
                <a:gd name="T0" fmla="*/ 0 w 20759"/>
                <a:gd name="T1" fmla="*/ 0 h 21600"/>
                <a:gd name="T2" fmla="*/ 20759 w 20759"/>
                <a:gd name="T3" fmla="*/ 15630 h 21600"/>
                <a:gd name="T4" fmla="*/ 0 w 20759"/>
                <a:gd name="T5" fmla="*/ 21600 h 21600"/>
              </a:gdLst>
              <a:ahLst/>
              <a:cxnLst>
                <a:cxn ang="0">
                  <a:pos x="T0" y="T1"/>
                </a:cxn>
                <a:cxn ang="0">
                  <a:pos x="T2" y="T3"/>
                </a:cxn>
                <a:cxn ang="0">
                  <a:pos x="T4" y="T5"/>
                </a:cxn>
              </a:cxnLst>
              <a:rect l="0" t="0" r="r" b="b"/>
              <a:pathLst>
                <a:path w="20759" h="21600" fill="none" extrusionOk="0">
                  <a:moveTo>
                    <a:pt x="0" y="0"/>
                  </a:moveTo>
                  <a:cubicBezTo>
                    <a:pt x="9630" y="0"/>
                    <a:pt x="18097" y="6375"/>
                    <a:pt x="20758" y="15630"/>
                  </a:cubicBezTo>
                </a:path>
                <a:path w="20759" h="21600" stroke="0" extrusionOk="0">
                  <a:moveTo>
                    <a:pt x="0" y="0"/>
                  </a:moveTo>
                  <a:cubicBezTo>
                    <a:pt x="9630" y="0"/>
                    <a:pt x="18097" y="6375"/>
                    <a:pt x="20758" y="1563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57" name="Text Box 85"/>
            <p:cNvSpPr txBox="1">
              <a:spLocks noChangeArrowheads="1"/>
            </p:cNvSpPr>
            <p:nvPr/>
          </p:nvSpPr>
          <p:spPr bwMode="auto">
            <a:xfrm>
              <a:off x="2240" y="336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4358" name="Text Box 86"/>
            <p:cNvSpPr txBox="1">
              <a:spLocks noChangeArrowheads="1"/>
            </p:cNvSpPr>
            <p:nvPr/>
          </p:nvSpPr>
          <p:spPr bwMode="auto">
            <a:xfrm>
              <a:off x="3056" y="33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4359" name="Text Box 87"/>
            <p:cNvSpPr txBox="1">
              <a:spLocks noChangeArrowheads="1"/>
            </p:cNvSpPr>
            <p:nvPr/>
          </p:nvSpPr>
          <p:spPr bwMode="auto">
            <a:xfrm>
              <a:off x="1520" y="278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M</a:t>
              </a:r>
              <a:endParaRPr lang="en-US" altLang="zh-CN" b="1"/>
            </a:p>
          </p:txBody>
        </p:sp>
      </p:grpSp>
      <p:sp>
        <p:nvSpPr>
          <p:cNvPr id="54362" name="Text Box 90"/>
          <p:cNvSpPr txBox="1">
            <a:spLocks noChangeArrowheads="1"/>
          </p:cNvSpPr>
          <p:nvPr/>
        </p:nvSpPr>
        <p:spPr bwMode="auto">
          <a:xfrm>
            <a:off x="463550" y="974725"/>
            <a:ext cx="802005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lgn="l">
              <a:defRPr kumimoji="1" sz="2400">
                <a:solidFill>
                  <a:schemeClr val="tx1"/>
                </a:solidFill>
                <a:latin typeface="Times New Roman" panose="02020603050405020304" pitchFamily="18" charset="0"/>
                <a:ea typeface="宋体" panose="02010600030101010101" pitchFamily="2" charset="-122"/>
              </a:defRPr>
            </a:lvl1pPr>
            <a:lvl2pPr marL="1524000" algn="l">
              <a:defRPr kumimoji="1" sz="2400">
                <a:solidFill>
                  <a:schemeClr val="tx1"/>
                </a:solidFill>
                <a:latin typeface="Times New Roman" panose="02020603050405020304" pitchFamily="18" charset="0"/>
                <a:ea typeface="宋体" panose="02010600030101010101" pitchFamily="2" charset="-122"/>
              </a:defRPr>
            </a:lvl2pPr>
            <a:lvl3pPr marL="1714500" algn="l">
              <a:defRPr kumimoji="1" sz="2400">
                <a:solidFill>
                  <a:schemeClr val="tx1"/>
                </a:solidFill>
                <a:latin typeface="Times New Roman" panose="02020603050405020304" pitchFamily="18" charset="0"/>
                <a:ea typeface="宋体" panose="02010600030101010101" pitchFamily="2" charset="-122"/>
              </a:defRPr>
            </a:lvl3pPr>
            <a:lvl4pPr marL="1905000" algn="l">
              <a:defRPr kumimoji="1" sz="2400">
                <a:solidFill>
                  <a:schemeClr val="tx1"/>
                </a:solidFill>
                <a:latin typeface="Times New Roman" panose="02020603050405020304" pitchFamily="18" charset="0"/>
                <a:ea typeface="宋体" panose="02010600030101010101" pitchFamily="2" charset="-122"/>
              </a:defRPr>
            </a:lvl4pPr>
            <a:lvl5pPr marL="2095500" algn="l">
              <a:defRPr kumimoji="1" sz="2400">
                <a:solidFill>
                  <a:schemeClr val="tx1"/>
                </a:solidFill>
                <a:latin typeface="Times New Roman" panose="02020603050405020304" pitchFamily="18" charset="0"/>
                <a:ea typeface="宋体" panose="02010600030101010101" pitchFamily="2" charset="-122"/>
              </a:defRPr>
            </a:lvl5pPr>
            <a:lvl6pPr marL="25527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9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71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243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pPr>
            <a:r>
              <a:rPr lang="zh-CN" altLang="en-US" b="1"/>
              <a:t>当</a:t>
            </a:r>
            <a:r>
              <a:rPr lang="zh-CN" altLang="zh-CN" b="1"/>
              <a:t>一个线圈的</a:t>
            </a:r>
            <a:r>
              <a:rPr lang="zh-CN" altLang="en-US" b="1"/>
              <a:t>电流</a:t>
            </a:r>
            <a:r>
              <a:rPr lang="en-US" altLang="zh-CN" b="1" i="1">
                <a:solidFill>
                  <a:srgbClr val="FF3300"/>
                </a:solidFill>
              </a:rPr>
              <a:t>i</a:t>
            </a:r>
            <a:r>
              <a:rPr lang="zh-CN" altLang="en-US" b="1"/>
              <a:t>和其</a:t>
            </a:r>
            <a:r>
              <a:rPr lang="zh-CN" altLang="zh-CN" b="1"/>
              <a:t>在另一个线圈两端产生的</a:t>
            </a:r>
            <a:r>
              <a:rPr lang="zh-CN" altLang="en-US" b="1"/>
              <a:t>互感电压</a:t>
            </a:r>
            <a:r>
              <a:rPr lang="en-US" altLang="zh-CN" b="1" i="1">
                <a:solidFill>
                  <a:srgbClr val="FF3300"/>
                </a:solidFill>
              </a:rPr>
              <a:t>u</a:t>
            </a:r>
            <a:r>
              <a:rPr lang="en-US" altLang="zh-CN" b="1" i="1" baseline="-25000">
                <a:solidFill>
                  <a:srgbClr val="FF3300"/>
                </a:solidFill>
              </a:rPr>
              <a:t>M</a:t>
            </a:r>
            <a:r>
              <a:rPr lang="zh-CN" altLang="en-US" b="1"/>
              <a:t>的参考方向相对于各自</a:t>
            </a:r>
            <a:r>
              <a:rPr lang="zh-CN" altLang="zh-CN" b="1"/>
              <a:t>线圈的</a:t>
            </a:r>
            <a:r>
              <a:rPr lang="zh-CN" altLang="en-US" b="1"/>
              <a:t>同名端一致时，</a:t>
            </a:r>
            <a:r>
              <a:rPr lang="zh-CN" altLang="zh-CN" b="1"/>
              <a:t>则互感电压</a:t>
            </a:r>
            <a:r>
              <a:rPr lang="zh-CN" altLang="en-US" b="1"/>
              <a:t> </a:t>
            </a:r>
            <a:r>
              <a:rPr lang="en-US" altLang="zh-CN" b="1" i="1"/>
              <a:t>u</a:t>
            </a:r>
            <a:r>
              <a:rPr lang="en-US" altLang="zh-CN" b="1" i="1" baseline="-25000"/>
              <a:t>M</a:t>
            </a:r>
            <a:r>
              <a:rPr lang="en-US" altLang="zh-CN" b="1"/>
              <a:t>=</a:t>
            </a:r>
            <a:r>
              <a:rPr lang="en-US" altLang="zh-CN" b="1" i="1"/>
              <a:t>M</a:t>
            </a:r>
            <a:r>
              <a:rPr lang="en-US" altLang="zh-CN" b="1"/>
              <a:t>d</a:t>
            </a:r>
            <a:r>
              <a:rPr lang="en-US" altLang="zh-CN" b="1" i="1"/>
              <a:t>i</a:t>
            </a:r>
            <a:r>
              <a:rPr lang="en-US" altLang="zh-CN" b="1"/>
              <a:t>/d</a:t>
            </a:r>
            <a:r>
              <a:rPr lang="en-US" altLang="zh-CN" b="1" i="1"/>
              <a:t>t  </a:t>
            </a:r>
            <a:r>
              <a:rPr lang="zh-CN" altLang="zh-CN" b="1"/>
              <a:t>。</a:t>
            </a:r>
            <a:r>
              <a:rPr lang="zh-CN" altLang="en-US"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4279"/>
                                        </p:tgtEl>
                                        <p:attrNameLst>
                                          <p:attrName>style.visibility</p:attrName>
                                        </p:attrNameLst>
                                      </p:cBhvr>
                                      <p:to>
                                        <p:strVal val="visible"/>
                                      </p:to>
                                    </p:set>
                                    <p:animEffect transition="in" filter="slide(fromLeft)">
                                      <p:cBhvr>
                                        <p:cTn id="7" dur="500"/>
                                        <p:tgtEl>
                                          <p:spTgt spid="542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362">
                                            <p:txEl>
                                              <p:pRg st="0" end="0"/>
                                            </p:txEl>
                                          </p:spTgt>
                                        </p:tgtEl>
                                        <p:attrNameLst>
                                          <p:attrName>style.visibility</p:attrName>
                                        </p:attrNameLst>
                                      </p:cBhvr>
                                      <p:to>
                                        <p:strVal val="visible"/>
                                      </p:to>
                                    </p:set>
                                    <p:animEffect transition="in" filter="wipe(left)">
                                      <p:cBhvr>
                                        <p:cTn id="12" dur="500"/>
                                        <p:tgtEl>
                                          <p:spTgt spid="5436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4366"/>
                                        </p:tgtEl>
                                        <p:attrNameLst>
                                          <p:attrName>style.visibility</p:attrName>
                                        </p:attrNameLst>
                                      </p:cBhvr>
                                      <p:to>
                                        <p:strVal val="visible"/>
                                      </p:to>
                                    </p:set>
                                    <p:anim calcmode="lin" valueType="num">
                                      <p:cBhvr>
                                        <p:cTn id="17" dur="500" fill="hold"/>
                                        <p:tgtEl>
                                          <p:spTgt spid="54366"/>
                                        </p:tgtEl>
                                        <p:attrNameLst>
                                          <p:attrName>ppt_w</p:attrName>
                                        </p:attrNameLst>
                                      </p:cBhvr>
                                      <p:tavLst>
                                        <p:tav tm="0">
                                          <p:val>
                                            <p:fltVal val="0"/>
                                          </p:val>
                                        </p:tav>
                                        <p:tav tm="100000">
                                          <p:val>
                                            <p:strVal val="#ppt_w"/>
                                          </p:val>
                                        </p:tav>
                                      </p:tavLst>
                                    </p:anim>
                                    <p:anim calcmode="lin" valueType="num">
                                      <p:cBhvr>
                                        <p:cTn id="18" dur="500" fill="hold"/>
                                        <p:tgtEl>
                                          <p:spTgt spid="54366"/>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54305"/>
                                        </p:tgtEl>
                                        <p:attrNameLst>
                                          <p:attrName>style.visibility</p:attrName>
                                        </p:attrNameLst>
                                      </p:cBhvr>
                                      <p:to>
                                        <p:strVal val="visible"/>
                                      </p:to>
                                    </p:set>
                                    <p:anim calcmode="lin" valueType="num">
                                      <p:cBhvr additive="base">
                                        <p:cTn id="23" dur="500" fill="hold"/>
                                        <p:tgtEl>
                                          <p:spTgt spid="54305"/>
                                        </p:tgtEl>
                                        <p:attrNameLst>
                                          <p:attrName>ppt_x</p:attrName>
                                        </p:attrNameLst>
                                      </p:cBhvr>
                                      <p:tavLst>
                                        <p:tav tm="0">
                                          <p:val>
                                            <p:strVal val="1+#ppt_w/2"/>
                                          </p:val>
                                        </p:tav>
                                        <p:tav tm="100000">
                                          <p:val>
                                            <p:strVal val="#ppt_x"/>
                                          </p:val>
                                        </p:tav>
                                      </p:tavLst>
                                    </p:anim>
                                    <p:anim calcmode="lin" valueType="num">
                                      <p:cBhvr additive="base">
                                        <p:cTn id="24" dur="500" fill="hold"/>
                                        <p:tgtEl>
                                          <p:spTgt spid="54305"/>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54367"/>
                                        </p:tgtEl>
                                        <p:attrNameLst>
                                          <p:attrName>style.visibility</p:attrName>
                                        </p:attrNameLst>
                                      </p:cBhvr>
                                      <p:to>
                                        <p:strVal val="visible"/>
                                      </p:to>
                                    </p:set>
                                    <p:anim calcmode="lin" valueType="num">
                                      <p:cBhvr>
                                        <p:cTn id="29" dur="500" fill="hold"/>
                                        <p:tgtEl>
                                          <p:spTgt spid="54367"/>
                                        </p:tgtEl>
                                        <p:attrNameLst>
                                          <p:attrName>ppt_w</p:attrName>
                                        </p:attrNameLst>
                                      </p:cBhvr>
                                      <p:tavLst>
                                        <p:tav tm="0">
                                          <p:val>
                                            <p:fltVal val="0"/>
                                          </p:val>
                                        </p:tav>
                                        <p:tav tm="100000">
                                          <p:val>
                                            <p:strVal val="#ppt_w"/>
                                          </p:val>
                                        </p:tav>
                                      </p:tavLst>
                                    </p:anim>
                                    <p:anim calcmode="lin" valueType="num">
                                      <p:cBhvr>
                                        <p:cTn id="30" dur="500" fill="hold"/>
                                        <p:tgtEl>
                                          <p:spTgt spid="54367"/>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54306"/>
                                        </p:tgtEl>
                                        <p:attrNameLst>
                                          <p:attrName>style.visibility</p:attrName>
                                        </p:attrNameLst>
                                      </p:cBhvr>
                                      <p:to>
                                        <p:strVal val="visible"/>
                                      </p:to>
                                    </p:set>
                                    <p:anim calcmode="lin" valueType="num">
                                      <p:cBhvr additive="base">
                                        <p:cTn id="35" dur="500" fill="hold"/>
                                        <p:tgtEl>
                                          <p:spTgt spid="54306"/>
                                        </p:tgtEl>
                                        <p:attrNameLst>
                                          <p:attrName>ppt_x</p:attrName>
                                        </p:attrNameLst>
                                      </p:cBhvr>
                                      <p:tavLst>
                                        <p:tav tm="0">
                                          <p:val>
                                            <p:strVal val="1+#ppt_w/2"/>
                                          </p:val>
                                        </p:tav>
                                        <p:tav tm="100000">
                                          <p:val>
                                            <p:strVal val="#ppt_x"/>
                                          </p:val>
                                        </p:tav>
                                      </p:tavLst>
                                    </p:anim>
                                    <p:anim calcmode="lin" valueType="num">
                                      <p:cBhvr additive="base">
                                        <p:cTn id="36" dur="500" fill="hold"/>
                                        <p:tgtEl>
                                          <p:spTgt spid="543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autoUpdateAnimBg="0"/>
      <p:bldP spid="54362"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78" name="Object 62"/>
          <p:cNvGraphicFramePr>
            <a:graphicFrameLocks noChangeAspect="1"/>
          </p:cNvGraphicFramePr>
          <p:nvPr/>
        </p:nvGraphicFramePr>
        <p:xfrm>
          <a:off x="1000125" y="2400300"/>
          <a:ext cx="2428875" cy="728663"/>
        </p:xfrm>
        <a:graphic>
          <a:graphicData uri="http://schemas.openxmlformats.org/presentationml/2006/ole">
            <mc:AlternateContent xmlns:mc="http://schemas.openxmlformats.org/markup-compatibility/2006">
              <mc:Choice xmlns:v="urn:schemas-microsoft-com:vml" Requires="v">
                <p:oleObj spid="_x0000_s9639" name="公式" r:id="rId3" imgW="1307880" imgH="393480" progId="Equation.3">
                  <p:embed/>
                </p:oleObj>
              </mc:Choice>
              <mc:Fallback>
                <p:oleObj name="公式" r:id="rId3" imgW="1307880" imgH="393480" progId="Equation.3">
                  <p:embed/>
                  <p:pic>
                    <p:nvPicPr>
                      <p:cNvPr id="0"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2400300"/>
                        <a:ext cx="2428875"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79" name="Object 63"/>
          <p:cNvGraphicFramePr>
            <a:graphicFrameLocks noChangeAspect="1"/>
          </p:cNvGraphicFramePr>
          <p:nvPr/>
        </p:nvGraphicFramePr>
        <p:xfrm>
          <a:off x="968375" y="3200400"/>
          <a:ext cx="2473325" cy="735013"/>
        </p:xfrm>
        <a:graphic>
          <a:graphicData uri="http://schemas.openxmlformats.org/presentationml/2006/ole">
            <mc:AlternateContent xmlns:mc="http://schemas.openxmlformats.org/markup-compatibility/2006">
              <mc:Choice xmlns:v="urn:schemas-microsoft-com:vml" Requires="v">
                <p:oleObj spid="_x0000_s9640" name="公式" r:id="rId5" imgW="1320480" imgH="393480" progId="Equation.3">
                  <p:embed/>
                </p:oleObj>
              </mc:Choice>
              <mc:Fallback>
                <p:oleObj name="公式" r:id="rId5" imgW="1320480" imgH="393480" progId="Equation.3">
                  <p:embed/>
                  <p:pic>
                    <p:nvPicPr>
                      <p:cNvPr id="0"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8375" y="3200400"/>
                        <a:ext cx="2473325"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83" name="Object 67"/>
          <p:cNvGraphicFramePr>
            <a:graphicFrameLocks noChangeAspect="1"/>
          </p:cNvGraphicFramePr>
          <p:nvPr/>
        </p:nvGraphicFramePr>
        <p:xfrm>
          <a:off x="5256213" y="5029200"/>
          <a:ext cx="2940050" cy="468313"/>
        </p:xfrm>
        <a:graphic>
          <a:graphicData uri="http://schemas.openxmlformats.org/presentationml/2006/ole">
            <mc:AlternateContent xmlns:mc="http://schemas.openxmlformats.org/markup-compatibility/2006">
              <mc:Choice xmlns:v="urn:schemas-microsoft-com:vml" Requires="v">
                <p:oleObj spid="_x0000_s9641" name="公式" r:id="rId7" imgW="1434960" imgH="228600" progId="Equation.3">
                  <p:embed/>
                </p:oleObj>
              </mc:Choice>
              <mc:Fallback>
                <p:oleObj name="公式" r:id="rId7" imgW="1434960" imgH="228600" progId="Equation.3">
                  <p:embed/>
                  <p:pic>
                    <p:nvPicPr>
                      <p:cNvPr id="0" name="Object 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6213" y="5029200"/>
                        <a:ext cx="294005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84" name="Object 68"/>
          <p:cNvGraphicFramePr>
            <a:graphicFrameLocks noChangeAspect="1"/>
          </p:cNvGraphicFramePr>
          <p:nvPr/>
        </p:nvGraphicFramePr>
        <p:xfrm>
          <a:off x="5275263" y="5657850"/>
          <a:ext cx="2895600" cy="457200"/>
        </p:xfrm>
        <a:graphic>
          <a:graphicData uri="http://schemas.openxmlformats.org/presentationml/2006/ole">
            <mc:AlternateContent xmlns:mc="http://schemas.openxmlformats.org/markup-compatibility/2006">
              <mc:Choice xmlns:v="urn:schemas-microsoft-com:vml" Requires="v">
                <p:oleObj spid="_x0000_s9642" name="公式" r:id="rId9" imgW="1447560" imgH="228600" progId="Equation.3">
                  <p:embed/>
                </p:oleObj>
              </mc:Choice>
              <mc:Fallback>
                <p:oleObj name="公式" r:id="rId9" imgW="1447560" imgH="228600" progId="Equation.3">
                  <p:embed/>
                  <p:pic>
                    <p:nvPicPr>
                      <p:cNvPr id="0" name="Object 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75263" y="56578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480" name="Group 264"/>
          <p:cNvGrpSpPr>
            <a:grpSpLocks/>
          </p:cNvGrpSpPr>
          <p:nvPr/>
        </p:nvGrpSpPr>
        <p:grpSpPr bwMode="auto">
          <a:xfrm>
            <a:off x="846138" y="152400"/>
            <a:ext cx="2516187" cy="1863725"/>
            <a:chOff x="533" y="96"/>
            <a:chExt cx="1585" cy="1174"/>
          </a:xfrm>
        </p:grpSpPr>
        <p:sp>
          <p:nvSpPr>
            <p:cNvPr id="9245" name="Text Box 29"/>
            <p:cNvSpPr txBox="1">
              <a:spLocks noChangeArrowheads="1"/>
            </p:cNvSpPr>
            <p:nvPr/>
          </p:nvSpPr>
          <p:spPr bwMode="auto">
            <a:xfrm>
              <a:off x="715" y="9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9221" name="Line 5"/>
            <p:cNvSpPr>
              <a:spLocks noChangeShapeType="1"/>
            </p:cNvSpPr>
            <p:nvPr/>
          </p:nvSpPr>
          <p:spPr bwMode="auto">
            <a:xfrm flipV="1">
              <a:off x="1157" y="48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Line 6"/>
            <p:cNvSpPr>
              <a:spLocks noChangeShapeType="1"/>
            </p:cNvSpPr>
            <p:nvPr/>
          </p:nvSpPr>
          <p:spPr bwMode="auto">
            <a:xfrm flipH="1" flipV="1">
              <a:off x="1157" y="105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3" name="Line 7"/>
            <p:cNvSpPr>
              <a:spLocks noChangeShapeType="1"/>
            </p:cNvSpPr>
            <p:nvPr/>
          </p:nvSpPr>
          <p:spPr bwMode="auto">
            <a:xfrm flipV="1">
              <a:off x="1421" y="106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flipV="1">
              <a:off x="1421" y="50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677" y="48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p:cNvSpPr>
              <a:spLocks noChangeShapeType="1"/>
            </p:cNvSpPr>
            <p:nvPr/>
          </p:nvSpPr>
          <p:spPr bwMode="auto">
            <a:xfrm>
              <a:off x="677" y="124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p:cNvSpPr>
              <a:spLocks noChangeShapeType="1"/>
            </p:cNvSpPr>
            <p:nvPr/>
          </p:nvSpPr>
          <p:spPr bwMode="auto">
            <a:xfrm>
              <a:off x="1421" y="50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1421" y="124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Text Box 13"/>
            <p:cNvSpPr txBox="1">
              <a:spLocks noChangeArrowheads="1"/>
            </p:cNvSpPr>
            <p:nvPr/>
          </p:nvSpPr>
          <p:spPr bwMode="auto">
            <a:xfrm>
              <a:off x="953" y="49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230" name="Text Box 14"/>
            <p:cNvSpPr txBox="1">
              <a:spLocks noChangeArrowheads="1"/>
            </p:cNvSpPr>
            <p:nvPr/>
          </p:nvSpPr>
          <p:spPr bwMode="auto">
            <a:xfrm>
              <a:off x="1409"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231" name="Line 15"/>
            <p:cNvSpPr>
              <a:spLocks noChangeShapeType="1"/>
            </p:cNvSpPr>
            <p:nvPr/>
          </p:nvSpPr>
          <p:spPr bwMode="auto">
            <a:xfrm>
              <a:off x="677" y="406"/>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907" y="720"/>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9238" name="Text Box 22"/>
            <p:cNvSpPr txBox="1">
              <a:spLocks noChangeArrowheads="1"/>
            </p:cNvSpPr>
            <p:nvPr/>
          </p:nvSpPr>
          <p:spPr bwMode="auto">
            <a:xfrm>
              <a:off x="1445" y="74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9239" name="Text Box 23"/>
            <p:cNvSpPr txBox="1">
              <a:spLocks noChangeArrowheads="1"/>
            </p:cNvSpPr>
            <p:nvPr/>
          </p:nvSpPr>
          <p:spPr bwMode="auto">
            <a:xfrm>
              <a:off x="541" y="46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240" name="Text Box 24"/>
            <p:cNvSpPr txBox="1">
              <a:spLocks noChangeArrowheads="1"/>
            </p:cNvSpPr>
            <p:nvPr/>
          </p:nvSpPr>
          <p:spPr bwMode="auto">
            <a:xfrm>
              <a:off x="551" y="86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241" name="Text Box 25"/>
            <p:cNvSpPr txBox="1">
              <a:spLocks noChangeArrowheads="1"/>
            </p:cNvSpPr>
            <p:nvPr/>
          </p:nvSpPr>
          <p:spPr bwMode="auto">
            <a:xfrm>
              <a:off x="533" y="69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9242" name="Text Box 26"/>
            <p:cNvSpPr txBox="1">
              <a:spLocks noChangeArrowheads="1"/>
            </p:cNvSpPr>
            <p:nvPr/>
          </p:nvSpPr>
          <p:spPr bwMode="auto">
            <a:xfrm>
              <a:off x="1819"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243" name="Text Box 27"/>
            <p:cNvSpPr txBox="1">
              <a:spLocks noChangeArrowheads="1"/>
            </p:cNvSpPr>
            <p:nvPr/>
          </p:nvSpPr>
          <p:spPr bwMode="auto">
            <a:xfrm>
              <a:off x="1817" y="88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244" name="Text Box 28"/>
            <p:cNvSpPr txBox="1">
              <a:spLocks noChangeArrowheads="1"/>
            </p:cNvSpPr>
            <p:nvPr/>
          </p:nvSpPr>
          <p:spPr bwMode="auto">
            <a:xfrm>
              <a:off x="1831" y="74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9246" name="Text Box 30"/>
            <p:cNvSpPr txBox="1">
              <a:spLocks noChangeArrowheads="1"/>
            </p:cNvSpPr>
            <p:nvPr/>
          </p:nvSpPr>
          <p:spPr bwMode="auto">
            <a:xfrm>
              <a:off x="1685" y="11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9247" name="Text Box 31"/>
            <p:cNvSpPr txBox="1">
              <a:spLocks noChangeArrowheads="1"/>
            </p:cNvSpPr>
            <p:nvPr/>
          </p:nvSpPr>
          <p:spPr bwMode="auto">
            <a:xfrm>
              <a:off x="1157" y="17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9323" name="Group 107"/>
            <p:cNvGrpSpPr>
              <a:grpSpLocks/>
            </p:cNvGrpSpPr>
            <p:nvPr/>
          </p:nvGrpSpPr>
          <p:grpSpPr bwMode="auto">
            <a:xfrm rot="5400000">
              <a:off x="996" y="838"/>
              <a:ext cx="379" cy="57"/>
              <a:chOff x="1200" y="1584"/>
              <a:chExt cx="379" cy="45"/>
            </a:xfrm>
          </p:grpSpPr>
          <p:sp>
            <p:nvSpPr>
              <p:cNvPr id="9324" name="Arc 10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5" name="Arc 10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6" name="Arc 11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7" name="Arc 11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28" name="Oval 112"/>
            <p:cNvSpPr>
              <a:spLocks noChangeArrowheads="1"/>
            </p:cNvSpPr>
            <p:nvPr/>
          </p:nvSpPr>
          <p:spPr bwMode="auto">
            <a:xfrm>
              <a:off x="629" y="45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29" name="Oval 113"/>
            <p:cNvSpPr>
              <a:spLocks noChangeArrowheads="1"/>
            </p:cNvSpPr>
            <p:nvPr/>
          </p:nvSpPr>
          <p:spPr bwMode="auto">
            <a:xfrm>
              <a:off x="629"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330" name="Group 114"/>
            <p:cNvGrpSpPr>
              <a:grpSpLocks/>
            </p:cNvGrpSpPr>
            <p:nvPr/>
          </p:nvGrpSpPr>
          <p:grpSpPr bwMode="auto">
            <a:xfrm rot="16200000" flipH="1">
              <a:off x="1206" y="850"/>
              <a:ext cx="379" cy="57"/>
              <a:chOff x="1200" y="1584"/>
              <a:chExt cx="379" cy="45"/>
            </a:xfrm>
          </p:grpSpPr>
          <p:sp>
            <p:nvSpPr>
              <p:cNvPr id="9331" name="Arc 11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2" name="Arc 11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3" name="Arc 11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4" name="Arc 11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35" name="Line 119"/>
            <p:cNvSpPr>
              <a:spLocks noChangeShapeType="1"/>
            </p:cNvSpPr>
            <p:nvPr/>
          </p:nvSpPr>
          <p:spPr bwMode="auto">
            <a:xfrm flipH="1">
              <a:off x="1637" y="42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6" name="Oval 120"/>
            <p:cNvSpPr>
              <a:spLocks noChangeArrowheads="1"/>
            </p:cNvSpPr>
            <p:nvPr/>
          </p:nvSpPr>
          <p:spPr bwMode="auto">
            <a:xfrm>
              <a:off x="1901"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7" name="Oval 121"/>
            <p:cNvSpPr>
              <a:spLocks noChangeArrowheads="1"/>
            </p:cNvSpPr>
            <p:nvPr/>
          </p:nvSpPr>
          <p:spPr bwMode="auto">
            <a:xfrm>
              <a:off x="1895" y="4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38" name="Arc 122"/>
            <p:cNvSpPr>
              <a:spLocks/>
            </p:cNvSpPr>
            <p:nvPr/>
          </p:nvSpPr>
          <p:spPr bwMode="auto">
            <a:xfrm flipH="1">
              <a:off x="1061" y="34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0" name="Arc 124"/>
            <p:cNvSpPr>
              <a:spLocks/>
            </p:cNvSpPr>
            <p:nvPr/>
          </p:nvSpPr>
          <p:spPr bwMode="auto">
            <a:xfrm>
              <a:off x="1367" y="353"/>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81" name="Group 265"/>
          <p:cNvGrpSpPr>
            <a:grpSpLocks/>
          </p:cNvGrpSpPr>
          <p:nvPr/>
        </p:nvGrpSpPr>
        <p:grpSpPr bwMode="auto">
          <a:xfrm>
            <a:off x="4267200" y="171450"/>
            <a:ext cx="2516188" cy="1930400"/>
            <a:chOff x="2688" y="108"/>
            <a:chExt cx="1585" cy="1216"/>
          </a:xfrm>
        </p:grpSpPr>
        <p:sp>
          <p:nvSpPr>
            <p:cNvPr id="9343" name="Line 127"/>
            <p:cNvSpPr>
              <a:spLocks noChangeShapeType="1"/>
            </p:cNvSpPr>
            <p:nvPr/>
          </p:nvSpPr>
          <p:spPr bwMode="auto">
            <a:xfrm flipV="1">
              <a:off x="3312" y="49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4" name="Line 128"/>
            <p:cNvSpPr>
              <a:spLocks noChangeShapeType="1"/>
            </p:cNvSpPr>
            <p:nvPr/>
          </p:nvSpPr>
          <p:spPr bwMode="auto">
            <a:xfrm flipH="1" flipV="1">
              <a:off x="3312" y="106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5" name="Line 129"/>
            <p:cNvSpPr>
              <a:spLocks noChangeShapeType="1"/>
            </p:cNvSpPr>
            <p:nvPr/>
          </p:nvSpPr>
          <p:spPr bwMode="auto">
            <a:xfrm flipV="1">
              <a:off x="3576" y="107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6" name="Line 130"/>
            <p:cNvSpPr>
              <a:spLocks noChangeShapeType="1"/>
            </p:cNvSpPr>
            <p:nvPr/>
          </p:nvSpPr>
          <p:spPr bwMode="auto">
            <a:xfrm flipV="1">
              <a:off x="3576" y="51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7" name="Line 131"/>
            <p:cNvSpPr>
              <a:spLocks noChangeShapeType="1"/>
            </p:cNvSpPr>
            <p:nvPr/>
          </p:nvSpPr>
          <p:spPr bwMode="auto">
            <a:xfrm>
              <a:off x="2832" y="49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8" name="Line 132"/>
            <p:cNvSpPr>
              <a:spLocks noChangeShapeType="1"/>
            </p:cNvSpPr>
            <p:nvPr/>
          </p:nvSpPr>
          <p:spPr bwMode="auto">
            <a:xfrm>
              <a:off x="2832" y="126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49" name="Line 133"/>
            <p:cNvSpPr>
              <a:spLocks noChangeShapeType="1"/>
            </p:cNvSpPr>
            <p:nvPr/>
          </p:nvSpPr>
          <p:spPr bwMode="auto">
            <a:xfrm>
              <a:off x="3576" y="51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0" name="Line 134"/>
            <p:cNvSpPr>
              <a:spLocks noChangeShapeType="1"/>
            </p:cNvSpPr>
            <p:nvPr/>
          </p:nvSpPr>
          <p:spPr bwMode="auto">
            <a:xfrm>
              <a:off x="3576" y="125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1" name="Text Box 135"/>
            <p:cNvSpPr txBox="1">
              <a:spLocks noChangeArrowheads="1"/>
            </p:cNvSpPr>
            <p:nvPr/>
          </p:nvSpPr>
          <p:spPr bwMode="auto">
            <a:xfrm>
              <a:off x="3108"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352" name="Text Box 136"/>
            <p:cNvSpPr txBox="1">
              <a:spLocks noChangeArrowheads="1"/>
            </p:cNvSpPr>
            <p:nvPr/>
          </p:nvSpPr>
          <p:spPr bwMode="auto">
            <a:xfrm>
              <a:off x="3564" y="103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353" name="Line 137"/>
            <p:cNvSpPr>
              <a:spLocks noChangeShapeType="1"/>
            </p:cNvSpPr>
            <p:nvPr/>
          </p:nvSpPr>
          <p:spPr bwMode="auto">
            <a:xfrm>
              <a:off x="2832" y="41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54" name="Text Box 138"/>
            <p:cNvSpPr txBox="1">
              <a:spLocks noChangeArrowheads="1"/>
            </p:cNvSpPr>
            <p:nvPr/>
          </p:nvSpPr>
          <p:spPr bwMode="auto">
            <a:xfrm>
              <a:off x="3062" y="73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9355" name="Text Box 139"/>
            <p:cNvSpPr txBox="1">
              <a:spLocks noChangeArrowheads="1"/>
            </p:cNvSpPr>
            <p:nvPr/>
          </p:nvSpPr>
          <p:spPr bwMode="auto">
            <a:xfrm>
              <a:off x="3600" y="754"/>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9356" name="Text Box 140"/>
            <p:cNvSpPr txBox="1">
              <a:spLocks noChangeArrowheads="1"/>
            </p:cNvSpPr>
            <p:nvPr/>
          </p:nvSpPr>
          <p:spPr bwMode="auto">
            <a:xfrm>
              <a:off x="2696"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357" name="Text Box 141"/>
            <p:cNvSpPr txBox="1">
              <a:spLocks noChangeArrowheads="1"/>
            </p:cNvSpPr>
            <p:nvPr/>
          </p:nvSpPr>
          <p:spPr bwMode="auto">
            <a:xfrm>
              <a:off x="2706" y="8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358" name="Text Box 142"/>
            <p:cNvSpPr txBox="1">
              <a:spLocks noChangeArrowheads="1"/>
            </p:cNvSpPr>
            <p:nvPr/>
          </p:nvSpPr>
          <p:spPr bwMode="auto">
            <a:xfrm>
              <a:off x="2688" y="70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9359" name="Text Box 143"/>
            <p:cNvSpPr txBox="1">
              <a:spLocks noChangeArrowheads="1"/>
            </p:cNvSpPr>
            <p:nvPr/>
          </p:nvSpPr>
          <p:spPr bwMode="auto">
            <a:xfrm>
              <a:off x="3974" y="486"/>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360" name="Text Box 144"/>
            <p:cNvSpPr txBox="1">
              <a:spLocks noChangeArrowheads="1"/>
            </p:cNvSpPr>
            <p:nvPr/>
          </p:nvSpPr>
          <p:spPr bwMode="auto">
            <a:xfrm>
              <a:off x="3972" y="8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361" name="Text Box 145"/>
            <p:cNvSpPr txBox="1">
              <a:spLocks noChangeArrowheads="1"/>
            </p:cNvSpPr>
            <p:nvPr/>
          </p:nvSpPr>
          <p:spPr bwMode="auto">
            <a:xfrm>
              <a:off x="3986" y="75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9362" name="Text Box 146"/>
            <p:cNvSpPr txBox="1">
              <a:spLocks noChangeArrowheads="1"/>
            </p:cNvSpPr>
            <p:nvPr/>
          </p:nvSpPr>
          <p:spPr bwMode="auto">
            <a:xfrm>
              <a:off x="3840" y="13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9363" name="Text Box 147"/>
            <p:cNvSpPr txBox="1">
              <a:spLocks noChangeArrowheads="1"/>
            </p:cNvSpPr>
            <p:nvPr/>
          </p:nvSpPr>
          <p:spPr bwMode="auto">
            <a:xfrm>
              <a:off x="3312" y="19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9364" name="Group 148"/>
            <p:cNvGrpSpPr>
              <a:grpSpLocks/>
            </p:cNvGrpSpPr>
            <p:nvPr/>
          </p:nvGrpSpPr>
          <p:grpSpPr bwMode="auto">
            <a:xfrm rot="5400000">
              <a:off x="3151" y="850"/>
              <a:ext cx="379" cy="57"/>
              <a:chOff x="1200" y="1584"/>
              <a:chExt cx="379" cy="45"/>
            </a:xfrm>
          </p:grpSpPr>
          <p:sp>
            <p:nvSpPr>
              <p:cNvPr id="9365" name="Arc 14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6" name="Arc 15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7" name="Arc 15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68" name="Arc 15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69" name="Oval 153"/>
            <p:cNvSpPr>
              <a:spLocks noChangeArrowheads="1"/>
            </p:cNvSpPr>
            <p:nvPr/>
          </p:nvSpPr>
          <p:spPr bwMode="auto">
            <a:xfrm>
              <a:off x="2784" y="47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0" name="Oval 154"/>
            <p:cNvSpPr>
              <a:spLocks noChangeArrowheads="1"/>
            </p:cNvSpPr>
            <p:nvPr/>
          </p:nvSpPr>
          <p:spPr bwMode="auto">
            <a:xfrm>
              <a:off x="2784"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371" name="Group 155"/>
            <p:cNvGrpSpPr>
              <a:grpSpLocks/>
            </p:cNvGrpSpPr>
            <p:nvPr/>
          </p:nvGrpSpPr>
          <p:grpSpPr bwMode="auto">
            <a:xfrm rot="16200000" flipH="1">
              <a:off x="3361" y="862"/>
              <a:ext cx="379" cy="57"/>
              <a:chOff x="1200" y="1584"/>
              <a:chExt cx="379" cy="45"/>
            </a:xfrm>
          </p:grpSpPr>
          <p:sp>
            <p:nvSpPr>
              <p:cNvPr id="9372" name="Arc 15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3" name="Arc 15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4" name="Arc 15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5" name="Arc 15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76" name="Line 160"/>
            <p:cNvSpPr>
              <a:spLocks noChangeShapeType="1"/>
            </p:cNvSpPr>
            <p:nvPr/>
          </p:nvSpPr>
          <p:spPr bwMode="auto">
            <a:xfrm flipH="1">
              <a:off x="3792" y="44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7" name="Oval 161"/>
            <p:cNvSpPr>
              <a:spLocks noChangeArrowheads="1"/>
            </p:cNvSpPr>
            <p:nvPr/>
          </p:nvSpPr>
          <p:spPr bwMode="auto">
            <a:xfrm>
              <a:off x="4056"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8" name="Oval 162"/>
            <p:cNvSpPr>
              <a:spLocks noChangeArrowheads="1"/>
            </p:cNvSpPr>
            <p:nvPr/>
          </p:nvSpPr>
          <p:spPr bwMode="auto">
            <a:xfrm>
              <a:off x="4050" y="49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79" name="Arc 163"/>
            <p:cNvSpPr>
              <a:spLocks/>
            </p:cNvSpPr>
            <p:nvPr/>
          </p:nvSpPr>
          <p:spPr bwMode="auto">
            <a:xfrm flipH="1">
              <a:off x="3216" y="357"/>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80" name="Arc 164"/>
            <p:cNvSpPr>
              <a:spLocks/>
            </p:cNvSpPr>
            <p:nvPr/>
          </p:nvSpPr>
          <p:spPr bwMode="auto">
            <a:xfrm>
              <a:off x="3522" y="36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82" name="Text Box 166"/>
            <p:cNvSpPr txBox="1">
              <a:spLocks noChangeArrowheads="1"/>
            </p:cNvSpPr>
            <p:nvPr/>
          </p:nvSpPr>
          <p:spPr bwMode="auto">
            <a:xfrm>
              <a:off x="2820" y="10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grpSp>
      <p:graphicFrame>
        <p:nvGraphicFramePr>
          <p:cNvPr id="9384" name="Object 168"/>
          <p:cNvGraphicFramePr>
            <a:graphicFrameLocks noChangeAspect="1"/>
          </p:cNvGraphicFramePr>
          <p:nvPr/>
        </p:nvGraphicFramePr>
        <p:xfrm>
          <a:off x="4343400" y="2362200"/>
          <a:ext cx="2428875" cy="728663"/>
        </p:xfrm>
        <a:graphic>
          <a:graphicData uri="http://schemas.openxmlformats.org/presentationml/2006/ole">
            <mc:AlternateContent xmlns:mc="http://schemas.openxmlformats.org/markup-compatibility/2006">
              <mc:Choice xmlns:v="urn:schemas-microsoft-com:vml" Requires="v">
                <p:oleObj spid="_x0000_s9643" name="公式" r:id="rId11" imgW="1307880" imgH="393480" progId="Equation.3">
                  <p:embed/>
                </p:oleObj>
              </mc:Choice>
              <mc:Fallback>
                <p:oleObj name="公式" r:id="rId11" imgW="1307880" imgH="393480" progId="Equation.3">
                  <p:embed/>
                  <p:pic>
                    <p:nvPicPr>
                      <p:cNvPr id="0" name="Object 16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43400" y="2362200"/>
                        <a:ext cx="2428875"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85" name="Object 169"/>
          <p:cNvGraphicFramePr>
            <a:graphicFrameLocks noChangeAspect="1"/>
          </p:cNvGraphicFramePr>
          <p:nvPr/>
        </p:nvGraphicFramePr>
        <p:xfrm>
          <a:off x="4276725" y="3200400"/>
          <a:ext cx="2663825" cy="735013"/>
        </p:xfrm>
        <a:graphic>
          <a:graphicData uri="http://schemas.openxmlformats.org/presentationml/2006/ole">
            <mc:AlternateContent xmlns:mc="http://schemas.openxmlformats.org/markup-compatibility/2006">
              <mc:Choice xmlns:v="urn:schemas-microsoft-com:vml" Requires="v">
                <p:oleObj spid="_x0000_s9644" name="公式" r:id="rId13" imgW="1422360" imgH="393480" progId="Equation.3">
                  <p:embed/>
                </p:oleObj>
              </mc:Choice>
              <mc:Fallback>
                <p:oleObj name="公式" r:id="rId13" imgW="1422360" imgH="393480" progId="Equation.3">
                  <p:embed/>
                  <p:pic>
                    <p:nvPicPr>
                      <p:cNvPr id="0" name="Object 1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6725" y="3200400"/>
                        <a:ext cx="2663825"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86" name="Text Box 170"/>
          <p:cNvSpPr txBox="1">
            <a:spLocks noChangeArrowheads="1"/>
          </p:cNvSpPr>
          <p:nvPr/>
        </p:nvSpPr>
        <p:spPr bwMode="auto">
          <a:xfrm>
            <a:off x="460375" y="207645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rPr>
              <a:t>时域形式</a:t>
            </a:r>
            <a:endParaRPr lang="zh-CN" altLang="en-US" b="1"/>
          </a:p>
        </p:txBody>
      </p:sp>
      <p:grpSp>
        <p:nvGrpSpPr>
          <p:cNvPr id="9483" name="Group 267"/>
          <p:cNvGrpSpPr>
            <a:grpSpLocks/>
          </p:cNvGrpSpPr>
          <p:nvPr/>
        </p:nvGrpSpPr>
        <p:grpSpPr bwMode="auto">
          <a:xfrm>
            <a:off x="1576388" y="4441825"/>
            <a:ext cx="2913062" cy="1920875"/>
            <a:chOff x="1029" y="2750"/>
            <a:chExt cx="1835" cy="1210"/>
          </a:xfrm>
        </p:grpSpPr>
        <p:sp>
          <p:nvSpPr>
            <p:cNvPr id="9429" name="Line 213"/>
            <p:cNvSpPr>
              <a:spLocks noChangeShapeType="1"/>
            </p:cNvSpPr>
            <p:nvPr/>
          </p:nvSpPr>
          <p:spPr bwMode="auto">
            <a:xfrm flipV="1">
              <a:off x="1806" y="315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0" name="Line 214"/>
            <p:cNvSpPr>
              <a:spLocks noChangeShapeType="1"/>
            </p:cNvSpPr>
            <p:nvPr/>
          </p:nvSpPr>
          <p:spPr bwMode="auto">
            <a:xfrm flipH="1" flipV="1">
              <a:off x="1806" y="372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1" name="Line 215"/>
            <p:cNvSpPr>
              <a:spLocks noChangeShapeType="1"/>
            </p:cNvSpPr>
            <p:nvPr/>
          </p:nvSpPr>
          <p:spPr bwMode="auto">
            <a:xfrm flipV="1">
              <a:off x="2070" y="373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2" name="Line 216"/>
            <p:cNvSpPr>
              <a:spLocks noChangeShapeType="1"/>
            </p:cNvSpPr>
            <p:nvPr/>
          </p:nvSpPr>
          <p:spPr bwMode="auto">
            <a:xfrm flipV="1">
              <a:off x="2070" y="317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 name="Line 217"/>
            <p:cNvSpPr>
              <a:spLocks noChangeShapeType="1"/>
            </p:cNvSpPr>
            <p:nvPr/>
          </p:nvSpPr>
          <p:spPr bwMode="auto">
            <a:xfrm>
              <a:off x="1326" y="315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4" name="Line 218"/>
            <p:cNvSpPr>
              <a:spLocks noChangeShapeType="1"/>
            </p:cNvSpPr>
            <p:nvPr/>
          </p:nvSpPr>
          <p:spPr bwMode="auto">
            <a:xfrm>
              <a:off x="1326" y="392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5" name="Line 219"/>
            <p:cNvSpPr>
              <a:spLocks noChangeShapeType="1"/>
            </p:cNvSpPr>
            <p:nvPr/>
          </p:nvSpPr>
          <p:spPr bwMode="auto">
            <a:xfrm>
              <a:off x="2070" y="317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6" name="Line 220"/>
            <p:cNvSpPr>
              <a:spLocks noChangeShapeType="1"/>
            </p:cNvSpPr>
            <p:nvPr/>
          </p:nvSpPr>
          <p:spPr bwMode="auto">
            <a:xfrm>
              <a:off x="2070" y="391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7" name="Text Box 221"/>
            <p:cNvSpPr txBox="1">
              <a:spLocks noChangeArrowheads="1"/>
            </p:cNvSpPr>
            <p:nvPr/>
          </p:nvSpPr>
          <p:spPr bwMode="auto">
            <a:xfrm>
              <a:off x="1602" y="316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438" name="Text Box 222"/>
            <p:cNvSpPr txBox="1">
              <a:spLocks noChangeArrowheads="1"/>
            </p:cNvSpPr>
            <p:nvPr/>
          </p:nvSpPr>
          <p:spPr bwMode="auto">
            <a:xfrm>
              <a:off x="2058" y="318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439" name="Line 223"/>
            <p:cNvSpPr>
              <a:spLocks noChangeShapeType="1"/>
            </p:cNvSpPr>
            <p:nvPr/>
          </p:nvSpPr>
          <p:spPr bwMode="auto">
            <a:xfrm>
              <a:off x="1326" y="307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40" name="Text Box 224"/>
            <p:cNvSpPr txBox="1">
              <a:spLocks noChangeArrowheads="1"/>
            </p:cNvSpPr>
            <p:nvPr/>
          </p:nvSpPr>
          <p:spPr bwMode="auto">
            <a:xfrm>
              <a:off x="1322" y="334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1</a:t>
              </a:r>
            </a:p>
          </p:txBody>
        </p:sp>
        <p:sp>
          <p:nvSpPr>
            <p:cNvPr id="9441" name="Text Box 225"/>
            <p:cNvSpPr txBox="1">
              <a:spLocks noChangeArrowheads="1"/>
            </p:cNvSpPr>
            <p:nvPr/>
          </p:nvSpPr>
          <p:spPr bwMode="auto">
            <a:xfrm>
              <a:off x="2052" y="334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2</a:t>
              </a:r>
            </a:p>
          </p:txBody>
        </p:sp>
        <p:sp>
          <p:nvSpPr>
            <p:cNvPr id="9442" name="Text Box 226"/>
            <p:cNvSpPr txBox="1">
              <a:spLocks noChangeArrowheads="1"/>
            </p:cNvSpPr>
            <p:nvPr/>
          </p:nvSpPr>
          <p:spPr bwMode="auto">
            <a:xfrm>
              <a:off x="1029" y="301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443" name="Text Box 227"/>
            <p:cNvSpPr txBox="1">
              <a:spLocks noChangeArrowheads="1"/>
            </p:cNvSpPr>
            <p:nvPr/>
          </p:nvSpPr>
          <p:spPr bwMode="auto">
            <a:xfrm>
              <a:off x="1030" y="364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449" name="Text Box 233"/>
            <p:cNvSpPr txBox="1">
              <a:spLocks noChangeArrowheads="1"/>
            </p:cNvSpPr>
            <p:nvPr/>
          </p:nvSpPr>
          <p:spPr bwMode="auto">
            <a:xfrm>
              <a:off x="1686" y="2750"/>
              <a:ext cx="5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chemeClr val="accent2"/>
                  </a:solidFill>
                </a:rPr>
                <a:t>j</a:t>
              </a:r>
              <a:r>
                <a:rPr lang="en-US" altLang="zh-CN" b="1" i="1">
                  <a:solidFill>
                    <a:schemeClr val="accent2"/>
                  </a:solidFill>
                  <a:sym typeface="Symbol" panose="05050102010706020507" pitchFamily="18" charset="2"/>
                </a:rPr>
                <a:t></a:t>
              </a:r>
              <a:r>
                <a:rPr lang="en-US" altLang="zh-CN" b="1" i="1">
                  <a:solidFill>
                    <a:schemeClr val="accent2"/>
                  </a:solidFill>
                </a:rPr>
                <a:t>M</a:t>
              </a:r>
              <a:endParaRPr lang="en-US" altLang="zh-CN" b="1"/>
            </a:p>
          </p:txBody>
        </p:sp>
        <p:grpSp>
          <p:nvGrpSpPr>
            <p:cNvPr id="9450" name="Group 234"/>
            <p:cNvGrpSpPr>
              <a:grpSpLocks/>
            </p:cNvGrpSpPr>
            <p:nvPr/>
          </p:nvGrpSpPr>
          <p:grpSpPr bwMode="auto">
            <a:xfrm rot="5400000">
              <a:off x="1645" y="3510"/>
              <a:ext cx="379" cy="57"/>
              <a:chOff x="1200" y="1584"/>
              <a:chExt cx="379" cy="45"/>
            </a:xfrm>
          </p:grpSpPr>
          <p:sp>
            <p:nvSpPr>
              <p:cNvPr id="9451" name="Arc 23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2" name="Arc 23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3" name="Arc 23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4" name="Arc 23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55" name="Oval 239"/>
            <p:cNvSpPr>
              <a:spLocks noChangeArrowheads="1"/>
            </p:cNvSpPr>
            <p:nvPr/>
          </p:nvSpPr>
          <p:spPr bwMode="auto">
            <a:xfrm>
              <a:off x="1278" y="313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6" name="Oval 240"/>
            <p:cNvSpPr>
              <a:spLocks noChangeArrowheads="1"/>
            </p:cNvSpPr>
            <p:nvPr/>
          </p:nvSpPr>
          <p:spPr bwMode="auto">
            <a:xfrm>
              <a:off x="1278"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57" name="Group 241"/>
            <p:cNvGrpSpPr>
              <a:grpSpLocks/>
            </p:cNvGrpSpPr>
            <p:nvPr/>
          </p:nvGrpSpPr>
          <p:grpSpPr bwMode="auto">
            <a:xfrm rot="16200000" flipH="1">
              <a:off x="1855" y="3522"/>
              <a:ext cx="379" cy="57"/>
              <a:chOff x="1200" y="1584"/>
              <a:chExt cx="379" cy="45"/>
            </a:xfrm>
          </p:grpSpPr>
          <p:sp>
            <p:nvSpPr>
              <p:cNvPr id="9458" name="Arc 24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59" name="Arc 24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0" name="Arc 24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1" name="Arc 24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62" name="Line 246"/>
            <p:cNvSpPr>
              <a:spLocks noChangeShapeType="1"/>
            </p:cNvSpPr>
            <p:nvPr/>
          </p:nvSpPr>
          <p:spPr bwMode="auto">
            <a:xfrm flipH="1">
              <a:off x="2286" y="310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3" name="Oval 247"/>
            <p:cNvSpPr>
              <a:spLocks noChangeArrowheads="1"/>
            </p:cNvSpPr>
            <p:nvPr/>
          </p:nvSpPr>
          <p:spPr bwMode="auto">
            <a:xfrm>
              <a:off x="2550"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4" name="Oval 248"/>
            <p:cNvSpPr>
              <a:spLocks noChangeArrowheads="1"/>
            </p:cNvSpPr>
            <p:nvPr/>
          </p:nvSpPr>
          <p:spPr bwMode="auto">
            <a:xfrm>
              <a:off x="2544" y="315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5" name="Arc 249"/>
            <p:cNvSpPr>
              <a:spLocks/>
            </p:cNvSpPr>
            <p:nvPr/>
          </p:nvSpPr>
          <p:spPr bwMode="auto">
            <a:xfrm flipH="1">
              <a:off x="1709" y="3033"/>
              <a:ext cx="138" cy="115"/>
            </a:xfrm>
            <a:custGeom>
              <a:avLst/>
              <a:gdLst>
                <a:gd name="G0" fmla="+- 0 0 0"/>
                <a:gd name="G1" fmla="+- 18960 0 0"/>
                <a:gd name="G2" fmla="+- 21600 0 0"/>
                <a:gd name="T0" fmla="*/ 10347 w 21163"/>
                <a:gd name="T1" fmla="*/ 0 h 18960"/>
                <a:gd name="T2" fmla="*/ 21163 w 21163"/>
                <a:gd name="T3" fmla="*/ 14636 h 18960"/>
                <a:gd name="T4" fmla="*/ 0 w 21163"/>
                <a:gd name="T5" fmla="*/ 18960 h 18960"/>
              </a:gdLst>
              <a:ahLst/>
              <a:cxnLst>
                <a:cxn ang="0">
                  <a:pos x="T0" y="T1"/>
                </a:cxn>
                <a:cxn ang="0">
                  <a:pos x="T2" y="T3"/>
                </a:cxn>
                <a:cxn ang="0">
                  <a:pos x="T4" y="T5"/>
                </a:cxn>
              </a:cxnLst>
              <a:rect l="0" t="0" r="r" b="b"/>
              <a:pathLst>
                <a:path w="21163" h="18960" fill="none" extrusionOk="0">
                  <a:moveTo>
                    <a:pt x="10347" y="-1"/>
                  </a:moveTo>
                  <a:cubicBezTo>
                    <a:pt x="15932" y="3047"/>
                    <a:pt x="19889" y="8402"/>
                    <a:pt x="21162" y="14636"/>
                  </a:cubicBezTo>
                </a:path>
                <a:path w="21163" h="18960" stroke="0" extrusionOk="0">
                  <a:moveTo>
                    <a:pt x="10347" y="-1"/>
                  </a:moveTo>
                  <a:cubicBezTo>
                    <a:pt x="15932" y="3047"/>
                    <a:pt x="19889" y="8402"/>
                    <a:pt x="21162" y="14636"/>
                  </a:cubicBezTo>
                  <a:lnTo>
                    <a:pt x="0" y="1896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66" name="Arc 250"/>
            <p:cNvSpPr>
              <a:spLocks/>
            </p:cNvSpPr>
            <p:nvPr/>
          </p:nvSpPr>
          <p:spPr bwMode="auto">
            <a:xfrm>
              <a:off x="2026" y="3017"/>
              <a:ext cx="138" cy="141"/>
            </a:xfrm>
            <a:custGeom>
              <a:avLst/>
              <a:gdLst>
                <a:gd name="G0" fmla="+- 0 0 0"/>
                <a:gd name="G1" fmla="+- 19908 0 0"/>
                <a:gd name="G2" fmla="+- 21600 0 0"/>
                <a:gd name="T0" fmla="*/ 8380 w 21163"/>
                <a:gd name="T1" fmla="*/ 0 h 19908"/>
                <a:gd name="T2" fmla="*/ 21163 w 21163"/>
                <a:gd name="T3" fmla="*/ 15584 h 19908"/>
                <a:gd name="T4" fmla="*/ 0 w 21163"/>
                <a:gd name="T5" fmla="*/ 19908 h 19908"/>
              </a:gdLst>
              <a:ahLst/>
              <a:cxnLst>
                <a:cxn ang="0">
                  <a:pos x="T0" y="T1"/>
                </a:cxn>
                <a:cxn ang="0">
                  <a:pos x="T2" y="T3"/>
                </a:cxn>
                <a:cxn ang="0">
                  <a:pos x="T4" y="T5"/>
                </a:cxn>
              </a:cxnLst>
              <a:rect l="0" t="0" r="r" b="b"/>
              <a:pathLst>
                <a:path w="21163" h="19908" fill="none" extrusionOk="0">
                  <a:moveTo>
                    <a:pt x="8380" y="-1"/>
                  </a:moveTo>
                  <a:cubicBezTo>
                    <a:pt x="14952" y="2766"/>
                    <a:pt x="19735" y="8597"/>
                    <a:pt x="21162" y="15584"/>
                  </a:cubicBezTo>
                </a:path>
                <a:path w="21163" h="19908" stroke="0" extrusionOk="0">
                  <a:moveTo>
                    <a:pt x="8380" y="-1"/>
                  </a:moveTo>
                  <a:cubicBezTo>
                    <a:pt x="14952" y="2766"/>
                    <a:pt x="19735" y="8597"/>
                    <a:pt x="21162" y="15584"/>
                  </a:cubicBezTo>
                  <a:lnTo>
                    <a:pt x="0" y="19908"/>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467" name="Object 251"/>
            <p:cNvGraphicFramePr>
              <a:graphicFrameLocks noChangeAspect="1"/>
            </p:cNvGraphicFramePr>
            <p:nvPr/>
          </p:nvGraphicFramePr>
          <p:xfrm>
            <a:off x="1039" y="3402"/>
            <a:ext cx="228" cy="259"/>
          </p:xfrm>
          <a:graphic>
            <a:graphicData uri="http://schemas.openxmlformats.org/presentationml/2006/ole">
              <mc:AlternateContent xmlns:mc="http://schemas.openxmlformats.org/markup-compatibility/2006">
                <mc:Choice xmlns:v="urn:schemas-microsoft-com:vml" Requires="v">
                  <p:oleObj spid="_x0000_s9645" name="Equation" r:id="rId15" imgW="203040" imgH="228600" progId="Equation.3">
                    <p:embed/>
                  </p:oleObj>
                </mc:Choice>
                <mc:Fallback>
                  <p:oleObj name="Equation" r:id="rId15" imgW="203040" imgH="228600" progId="Equation.3">
                    <p:embed/>
                    <p:pic>
                      <p:nvPicPr>
                        <p:cNvPr id="0" name="Object 2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39" y="3402"/>
                          <a:ext cx="22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68" name="Text Box 252"/>
            <p:cNvSpPr txBox="1">
              <a:spLocks noChangeArrowheads="1"/>
            </p:cNvSpPr>
            <p:nvPr/>
          </p:nvSpPr>
          <p:spPr bwMode="auto">
            <a:xfrm>
              <a:off x="2619" y="304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469" name="Text Box 253"/>
            <p:cNvSpPr txBox="1">
              <a:spLocks noChangeArrowheads="1"/>
            </p:cNvSpPr>
            <p:nvPr/>
          </p:nvSpPr>
          <p:spPr bwMode="auto">
            <a:xfrm>
              <a:off x="2620" y="36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graphicFrame>
          <p:nvGraphicFramePr>
            <p:cNvPr id="9472" name="Object 256"/>
            <p:cNvGraphicFramePr>
              <a:graphicFrameLocks noChangeAspect="1"/>
            </p:cNvGraphicFramePr>
            <p:nvPr/>
          </p:nvGraphicFramePr>
          <p:xfrm>
            <a:off x="2621" y="3420"/>
            <a:ext cx="243" cy="259"/>
          </p:xfrm>
          <a:graphic>
            <a:graphicData uri="http://schemas.openxmlformats.org/presentationml/2006/ole">
              <mc:AlternateContent xmlns:mc="http://schemas.openxmlformats.org/markup-compatibility/2006">
                <mc:Choice xmlns:v="urn:schemas-microsoft-com:vml" Requires="v">
                  <p:oleObj spid="_x0000_s9646" name="Equation" r:id="rId17" imgW="215640" imgH="228600" progId="Equation.3">
                    <p:embed/>
                  </p:oleObj>
                </mc:Choice>
                <mc:Fallback>
                  <p:oleObj name="Equation" r:id="rId17" imgW="215640" imgH="228600" progId="Equation.3">
                    <p:embed/>
                    <p:pic>
                      <p:nvPicPr>
                        <p:cNvPr id="0" name="Object 2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21" y="3420"/>
                          <a:ext cx="24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73" name="Object 257"/>
            <p:cNvGraphicFramePr>
              <a:graphicFrameLocks noChangeAspect="1"/>
            </p:cNvGraphicFramePr>
            <p:nvPr/>
          </p:nvGraphicFramePr>
          <p:xfrm>
            <a:off x="1383" y="2819"/>
            <a:ext cx="185" cy="259"/>
          </p:xfrm>
          <a:graphic>
            <a:graphicData uri="http://schemas.openxmlformats.org/presentationml/2006/ole">
              <mc:AlternateContent xmlns:mc="http://schemas.openxmlformats.org/markup-compatibility/2006">
                <mc:Choice xmlns:v="urn:schemas-microsoft-com:vml" Requires="v">
                  <p:oleObj spid="_x0000_s9647" name="Equation" r:id="rId19" imgW="164880" imgH="228600" progId="Equation.3">
                    <p:embed/>
                  </p:oleObj>
                </mc:Choice>
                <mc:Fallback>
                  <p:oleObj name="Equation" r:id="rId19" imgW="164880" imgH="228600" progId="Equation.3">
                    <p:embed/>
                    <p:pic>
                      <p:nvPicPr>
                        <p:cNvPr id="0" name="Object 2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3" y="2819"/>
                          <a:ext cx="185"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74" name="Object 258"/>
            <p:cNvGraphicFramePr>
              <a:graphicFrameLocks noChangeAspect="1"/>
            </p:cNvGraphicFramePr>
            <p:nvPr/>
          </p:nvGraphicFramePr>
          <p:xfrm>
            <a:off x="2382" y="2842"/>
            <a:ext cx="201" cy="259"/>
          </p:xfrm>
          <a:graphic>
            <a:graphicData uri="http://schemas.openxmlformats.org/presentationml/2006/ole">
              <mc:AlternateContent xmlns:mc="http://schemas.openxmlformats.org/markup-compatibility/2006">
                <mc:Choice xmlns:v="urn:schemas-microsoft-com:vml" Requires="v">
                  <p:oleObj spid="_x0000_s9648" name="Equation" r:id="rId21" imgW="177480" imgH="228600" progId="Equation.3">
                    <p:embed/>
                  </p:oleObj>
                </mc:Choice>
                <mc:Fallback>
                  <p:oleObj name="Equation" r:id="rId21" imgW="177480" imgH="228600" progId="Equation.3">
                    <p:embed/>
                    <p:pic>
                      <p:nvPicPr>
                        <p:cNvPr id="0" name="Object 25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82" y="2842"/>
                          <a:ext cx="201"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476" name="Text Box 260"/>
          <p:cNvSpPr txBox="1">
            <a:spLocks noChangeArrowheads="1"/>
          </p:cNvSpPr>
          <p:nvPr/>
        </p:nvSpPr>
        <p:spPr bwMode="auto">
          <a:xfrm>
            <a:off x="438150" y="3968750"/>
            <a:ext cx="793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在正弦交流电路中，其</a:t>
            </a:r>
            <a:r>
              <a:rPr lang="zh-CN" altLang="en-US" b="1">
                <a:solidFill>
                  <a:schemeClr val="accent2"/>
                </a:solidFill>
              </a:rPr>
              <a:t>相量形式</a:t>
            </a:r>
            <a:r>
              <a:rPr lang="zh-CN" altLang="en-US" b="1"/>
              <a:t>的电路模型和方程分别为</a:t>
            </a:r>
          </a:p>
        </p:txBody>
      </p:sp>
      <p:sp>
        <p:nvSpPr>
          <p:cNvPr id="9477" name="AutoShape 261"/>
          <p:cNvSpPr>
            <a:spLocks/>
          </p:cNvSpPr>
          <p:nvPr/>
        </p:nvSpPr>
        <p:spPr bwMode="auto">
          <a:xfrm>
            <a:off x="819150" y="2686050"/>
            <a:ext cx="161925" cy="1123950"/>
          </a:xfrm>
          <a:prstGeom prst="leftBrace">
            <a:avLst>
              <a:gd name="adj1" fmla="val 5784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79" name="AutoShape 263"/>
          <p:cNvSpPr>
            <a:spLocks/>
          </p:cNvSpPr>
          <p:nvPr/>
        </p:nvSpPr>
        <p:spPr bwMode="auto">
          <a:xfrm>
            <a:off x="4143375" y="2686050"/>
            <a:ext cx="161925" cy="1123950"/>
          </a:xfrm>
          <a:prstGeom prst="leftBrace">
            <a:avLst>
              <a:gd name="adj1" fmla="val 5784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84" name="AutoShape 268"/>
          <p:cNvSpPr>
            <a:spLocks/>
          </p:cNvSpPr>
          <p:nvPr/>
        </p:nvSpPr>
        <p:spPr bwMode="auto">
          <a:xfrm>
            <a:off x="5029200" y="5099050"/>
            <a:ext cx="252413" cy="987425"/>
          </a:xfrm>
          <a:prstGeom prst="leftBrace">
            <a:avLst>
              <a:gd name="adj1" fmla="val 326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9480"/>
                                        </p:tgtEl>
                                        <p:attrNameLst>
                                          <p:attrName>style.visibility</p:attrName>
                                        </p:attrNameLst>
                                      </p:cBhvr>
                                      <p:to>
                                        <p:strVal val="visible"/>
                                      </p:to>
                                    </p:set>
                                    <p:animEffect transition="in" filter="slide(fromTop)">
                                      <p:cBhvr>
                                        <p:cTn id="7" dur="500"/>
                                        <p:tgtEl>
                                          <p:spTgt spid="94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386"/>
                                        </p:tgtEl>
                                        <p:attrNameLst>
                                          <p:attrName>style.visibility</p:attrName>
                                        </p:attrNameLst>
                                      </p:cBhvr>
                                      <p:to>
                                        <p:strVal val="visible"/>
                                      </p:to>
                                    </p:set>
                                    <p:anim calcmode="lin" valueType="num">
                                      <p:cBhvr additive="base">
                                        <p:cTn id="12" dur="500" fill="hold"/>
                                        <p:tgtEl>
                                          <p:spTgt spid="9386"/>
                                        </p:tgtEl>
                                        <p:attrNameLst>
                                          <p:attrName>ppt_x</p:attrName>
                                        </p:attrNameLst>
                                      </p:cBhvr>
                                      <p:tavLst>
                                        <p:tav tm="0">
                                          <p:val>
                                            <p:strVal val="0-#ppt_w/2"/>
                                          </p:val>
                                        </p:tav>
                                        <p:tav tm="100000">
                                          <p:val>
                                            <p:strVal val="#ppt_x"/>
                                          </p:val>
                                        </p:tav>
                                      </p:tavLst>
                                    </p:anim>
                                    <p:anim calcmode="lin" valueType="num">
                                      <p:cBhvr additive="base">
                                        <p:cTn id="13" dur="500" fill="hold"/>
                                        <p:tgtEl>
                                          <p:spTgt spid="938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9278"/>
                                        </p:tgtEl>
                                        <p:attrNameLst>
                                          <p:attrName>style.visibility</p:attrName>
                                        </p:attrNameLst>
                                      </p:cBhvr>
                                      <p:to>
                                        <p:strVal val="visible"/>
                                      </p:to>
                                    </p:set>
                                    <p:anim calcmode="lin" valueType="num">
                                      <p:cBhvr additive="base">
                                        <p:cTn id="18" dur="500" fill="hold"/>
                                        <p:tgtEl>
                                          <p:spTgt spid="9278"/>
                                        </p:tgtEl>
                                        <p:attrNameLst>
                                          <p:attrName>ppt_x</p:attrName>
                                        </p:attrNameLst>
                                      </p:cBhvr>
                                      <p:tavLst>
                                        <p:tav tm="0">
                                          <p:val>
                                            <p:strVal val="0-#ppt_w/2"/>
                                          </p:val>
                                        </p:tav>
                                        <p:tav tm="100000">
                                          <p:val>
                                            <p:strVal val="#ppt_x"/>
                                          </p:val>
                                        </p:tav>
                                      </p:tavLst>
                                    </p:anim>
                                    <p:anim calcmode="lin" valueType="num">
                                      <p:cBhvr additive="base">
                                        <p:cTn id="19" dur="500" fill="hold"/>
                                        <p:tgtEl>
                                          <p:spTgt spid="9278"/>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9279"/>
                                        </p:tgtEl>
                                        <p:attrNameLst>
                                          <p:attrName>style.visibility</p:attrName>
                                        </p:attrNameLst>
                                      </p:cBhvr>
                                      <p:to>
                                        <p:strVal val="visible"/>
                                      </p:to>
                                    </p:set>
                                    <p:anim calcmode="lin" valueType="num">
                                      <p:cBhvr additive="base">
                                        <p:cTn id="24" dur="500" fill="hold"/>
                                        <p:tgtEl>
                                          <p:spTgt spid="9279"/>
                                        </p:tgtEl>
                                        <p:attrNameLst>
                                          <p:attrName>ppt_x</p:attrName>
                                        </p:attrNameLst>
                                      </p:cBhvr>
                                      <p:tavLst>
                                        <p:tav tm="0">
                                          <p:val>
                                            <p:strVal val="0-#ppt_w/2"/>
                                          </p:val>
                                        </p:tav>
                                        <p:tav tm="100000">
                                          <p:val>
                                            <p:strVal val="#ppt_x"/>
                                          </p:val>
                                        </p:tav>
                                      </p:tavLst>
                                    </p:anim>
                                    <p:anim calcmode="lin" valueType="num">
                                      <p:cBhvr additive="base">
                                        <p:cTn id="25" dur="500" fill="hold"/>
                                        <p:tgtEl>
                                          <p:spTgt spid="9279"/>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947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1" fill="hold" nodeType="clickEffect">
                                  <p:stCondLst>
                                    <p:cond delay="0"/>
                                  </p:stCondLst>
                                  <p:childTnLst>
                                    <p:set>
                                      <p:cBhvr>
                                        <p:cTn id="32" dur="1" fill="hold">
                                          <p:stCondLst>
                                            <p:cond delay="0"/>
                                          </p:stCondLst>
                                        </p:cTn>
                                        <p:tgtEl>
                                          <p:spTgt spid="9481"/>
                                        </p:tgtEl>
                                        <p:attrNameLst>
                                          <p:attrName>style.visibility</p:attrName>
                                        </p:attrNameLst>
                                      </p:cBhvr>
                                      <p:to>
                                        <p:strVal val="visible"/>
                                      </p:to>
                                    </p:set>
                                    <p:animEffect transition="in" filter="slide(fromTop)">
                                      <p:cBhvr>
                                        <p:cTn id="33" dur="500"/>
                                        <p:tgtEl>
                                          <p:spTgt spid="94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9384"/>
                                        </p:tgtEl>
                                        <p:attrNameLst>
                                          <p:attrName>style.visibility</p:attrName>
                                        </p:attrNameLst>
                                      </p:cBhvr>
                                      <p:to>
                                        <p:strVal val="visible"/>
                                      </p:to>
                                    </p:set>
                                    <p:anim calcmode="lin" valueType="num">
                                      <p:cBhvr additive="base">
                                        <p:cTn id="38" dur="500" fill="hold"/>
                                        <p:tgtEl>
                                          <p:spTgt spid="9384"/>
                                        </p:tgtEl>
                                        <p:attrNameLst>
                                          <p:attrName>ppt_x</p:attrName>
                                        </p:attrNameLst>
                                      </p:cBhvr>
                                      <p:tavLst>
                                        <p:tav tm="0">
                                          <p:val>
                                            <p:strVal val="1+#ppt_w/2"/>
                                          </p:val>
                                        </p:tav>
                                        <p:tav tm="100000">
                                          <p:val>
                                            <p:strVal val="#ppt_x"/>
                                          </p:val>
                                        </p:tav>
                                      </p:tavLst>
                                    </p:anim>
                                    <p:anim calcmode="lin" valueType="num">
                                      <p:cBhvr additive="base">
                                        <p:cTn id="39" dur="500" fill="hold"/>
                                        <p:tgtEl>
                                          <p:spTgt spid="9384"/>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nodeType="clickEffect">
                                  <p:stCondLst>
                                    <p:cond delay="0"/>
                                  </p:stCondLst>
                                  <p:childTnLst>
                                    <p:set>
                                      <p:cBhvr>
                                        <p:cTn id="43" dur="1" fill="hold">
                                          <p:stCondLst>
                                            <p:cond delay="0"/>
                                          </p:stCondLst>
                                        </p:cTn>
                                        <p:tgtEl>
                                          <p:spTgt spid="9385"/>
                                        </p:tgtEl>
                                        <p:attrNameLst>
                                          <p:attrName>style.visibility</p:attrName>
                                        </p:attrNameLst>
                                      </p:cBhvr>
                                      <p:to>
                                        <p:strVal val="visible"/>
                                      </p:to>
                                    </p:set>
                                    <p:anim calcmode="lin" valueType="num">
                                      <p:cBhvr additive="base">
                                        <p:cTn id="44" dur="500" fill="hold"/>
                                        <p:tgtEl>
                                          <p:spTgt spid="9385"/>
                                        </p:tgtEl>
                                        <p:attrNameLst>
                                          <p:attrName>ppt_x</p:attrName>
                                        </p:attrNameLst>
                                      </p:cBhvr>
                                      <p:tavLst>
                                        <p:tav tm="0">
                                          <p:val>
                                            <p:strVal val="1+#ppt_w/2"/>
                                          </p:val>
                                        </p:tav>
                                        <p:tav tm="100000">
                                          <p:val>
                                            <p:strVal val="#ppt_x"/>
                                          </p:val>
                                        </p:tav>
                                      </p:tavLst>
                                    </p:anim>
                                    <p:anim calcmode="lin" valueType="num">
                                      <p:cBhvr additive="base">
                                        <p:cTn id="45" dur="500" fill="hold"/>
                                        <p:tgtEl>
                                          <p:spTgt spid="9385"/>
                                        </p:tgtEl>
                                        <p:attrNameLst>
                                          <p:attrName>ppt_y</p:attrName>
                                        </p:attrNameLst>
                                      </p:cBhvr>
                                      <p:tavLst>
                                        <p:tav tm="0">
                                          <p:val>
                                            <p:strVal val="#ppt_y"/>
                                          </p:val>
                                        </p:tav>
                                        <p:tav tm="100000">
                                          <p:val>
                                            <p:strVal val="#ppt_y"/>
                                          </p:val>
                                        </p:tav>
                                      </p:tavLst>
                                    </p:anim>
                                  </p:childTnLst>
                                </p:cTn>
                              </p:par>
                            </p:childTnLst>
                          </p:cTn>
                        </p:par>
                        <p:par>
                          <p:cTn id="46" fill="hold" nodeType="afterGroup">
                            <p:stCondLst>
                              <p:cond delay="500"/>
                            </p:stCondLst>
                            <p:childTnLst>
                              <p:par>
                                <p:cTn id="47" presetID="1" presetClass="entr" presetSubtype="0" fill="hold" nodeType="afterEffect">
                                  <p:stCondLst>
                                    <p:cond delay="0"/>
                                  </p:stCondLst>
                                  <p:childTnLst>
                                    <p:set>
                                      <p:cBhvr>
                                        <p:cTn id="48" dur="1" fill="hold">
                                          <p:stCondLst>
                                            <p:cond delay="499"/>
                                          </p:stCondLst>
                                        </p:cTn>
                                        <p:tgtEl>
                                          <p:spTgt spid="947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476"/>
                                        </p:tgtEl>
                                        <p:attrNameLst>
                                          <p:attrName>style.visibility</p:attrName>
                                        </p:attrNameLst>
                                      </p:cBhvr>
                                      <p:to>
                                        <p:strVal val="visible"/>
                                      </p:to>
                                    </p:set>
                                    <p:animEffect transition="in" filter="wipe(left)">
                                      <p:cBhvr>
                                        <p:cTn id="53" dur="500"/>
                                        <p:tgtEl>
                                          <p:spTgt spid="94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nodeType="clickEffect">
                                  <p:stCondLst>
                                    <p:cond delay="0"/>
                                  </p:stCondLst>
                                  <p:childTnLst>
                                    <p:set>
                                      <p:cBhvr>
                                        <p:cTn id="57" dur="1" fill="hold">
                                          <p:stCondLst>
                                            <p:cond delay="0"/>
                                          </p:stCondLst>
                                        </p:cTn>
                                        <p:tgtEl>
                                          <p:spTgt spid="9483"/>
                                        </p:tgtEl>
                                        <p:attrNameLst>
                                          <p:attrName>style.visibility</p:attrName>
                                        </p:attrNameLst>
                                      </p:cBhvr>
                                      <p:to>
                                        <p:strVal val="visible"/>
                                      </p:to>
                                    </p:set>
                                    <p:anim calcmode="lin" valueType="num">
                                      <p:cBhvr>
                                        <p:cTn id="58" dur="500" fill="hold"/>
                                        <p:tgtEl>
                                          <p:spTgt spid="9483"/>
                                        </p:tgtEl>
                                        <p:attrNameLst>
                                          <p:attrName>ppt_w</p:attrName>
                                        </p:attrNameLst>
                                      </p:cBhvr>
                                      <p:tavLst>
                                        <p:tav tm="0">
                                          <p:val>
                                            <p:fltVal val="0"/>
                                          </p:val>
                                        </p:tav>
                                        <p:tav tm="100000">
                                          <p:val>
                                            <p:strVal val="#ppt_w"/>
                                          </p:val>
                                        </p:tav>
                                      </p:tavLst>
                                    </p:anim>
                                    <p:anim calcmode="lin" valueType="num">
                                      <p:cBhvr>
                                        <p:cTn id="59" dur="500" fill="hold"/>
                                        <p:tgtEl>
                                          <p:spTgt spid="9483"/>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9283"/>
                                        </p:tgtEl>
                                        <p:attrNameLst>
                                          <p:attrName>style.visibility</p:attrName>
                                        </p:attrNameLst>
                                      </p:cBhvr>
                                      <p:to>
                                        <p:strVal val="visible"/>
                                      </p:to>
                                    </p:set>
                                    <p:anim calcmode="lin" valueType="num">
                                      <p:cBhvr additive="base">
                                        <p:cTn id="64" dur="500" fill="hold"/>
                                        <p:tgtEl>
                                          <p:spTgt spid="9283"/>
                                        </p:tgtEl>
                                        <p:attrNameLst>
                                          <p:attrName>ppt_x</p:attrName>
                                        </p:attrNameLst>
                                      </p:cBhvr>
                                      <p:tavLst>
                                        <p:tav tm="0">
                                          <p:val>
                                            <p:strVal val="#ppt_x"/>
                                          </p:val>
                                        </p:tav>
                                        <p:tav tm="100000">
                                          <p:val>
                                            <p:strVal val="#ppt_x"/>
                                          </p:val>
                                        </p:tav>
                                      </p:tavLst>
                                    </p:anim>
                                    <p:anim calcmode="lin" valueType="num">
                                      <p:cBhvr additive="base">
                                        <p:cTn id="65" dur="500" fill="hold"/>
                                        <p:tgtEl>
                                          <p:spTgt spid="9283"/>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nodeType="clickEffect">
                                  <p:stCondLst>
                                    <p:cond delay="0"/>
                                  </p:stCondLst>
                                  <p:childTnLst>
                                    <p:set>
                                      <p:cBhvr>
                                        <p:cTn id="69" dur="1" fill="hold">
                                          <p:stCondLst>
                                            <p:cond delay="0"/>
                                          </p:stCondLst>
                                        </p:cTn>
                                        <p:tgtEl>
                                          <p:spTgt spid="9284"/>
                                        </p:tgtEl>
                                        <p:attrNameLst>
                                          <p:attrName>style.visibility</p:attrName>
                                        </p:attrNameLst>
                                      </p:cBhvr>
                                      <p:to>
                                        <p:strVal val="visible"/>
                                      </p:to>
                                    </p:set>
                                    <p:anim calcmode="lin" valueType="num">
                                      <p:cBhvr additive="base">
                                        <p:cTn id="70" dur="500" fill="hold"/>
                                        <p:tgtEl>
                                          <p:spTgt spid="9284"/>
                                        </p:tgtEl>
                                        <p:attrNameLst>
                                          <p:attrName>ppt_x</p:attrName>
                                        </p:attrNameLst>
                                      </p:cBhvr>
                                      <p:tavLst>
                                        <p:tav tm="0">
                                          <p:val>
                                            <p:strVal val="#ppt_x"/>
                                          </p:val>
                                        </p:tav>
                                        <p:tav tm="100000">
                                          <p:val>
                                            <p:strVal val="#ppt_x"/>
                                          </p:val>
                                        </p:tav>
                                      </p:tavLst>
                                    </p:anim>
                                    <p:anim calcmode="lin" valueType="num">
                                      <p:cBhvr additive="base">
                                        <p:cTn id="71" dur="500" fill="hold"/>
                                        <p:tgtEl>
                                          <p:spTgt spid="9284"/>
                                        </p:tgtEl>
                                        <p:attrNameLst>
                                          <p:attrName>ppt_y</p:attrName>
                                        </p:attrNameLst>
                                      </p:cBhvr>
                                      <p:tavLst>
                                        <p:tav tm="0">
                                          <p:val>
                                            <p:strVal val="1+#ppt_h/2"/>
                                          </p:val>
                                        </p:tav>
                                        <p:tav tm="100000">
                                          <p:val>
                                            <p:strVal val="#ppt_y"/>
                                          </p:val>
                                        </p:tav>
                                      </p:tavLst>
                                    </p:anim>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9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86" grpId="0" autoUpdateAnimBg="0"/>
      <p:bldP spid="947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457200" y="304800"/>
            <a:ext cx="329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五、互感线圈的储能</a:t>
            </a:r>
          </a:p>
        </p:txBody>
      </p:sp>
      <p:grpSp>
        <p:nvGrpSpPr>
          <p:cNvPr id="89091" name="Group 3"/>
          <p:cNvGrpSpPr>
            <a:grpSpLocks/>
          </p:cNvGrpSpPr>
          <p:nvPr/>
        </p:nvGrpSpPr>
        <p:grpSpPr bwMode="auto">
          <a:xfrm>
            <a:off x="2493963" y="654050"/>
            <a:ext cx="2516187" cy="1863725"/>
            <a:chOff x="533" y="96"/>
            <a:chExt cx="1585" cy="1174"/>
          </a:xfrm>
        </p:grpSpPr>
        <p:sp>
          <p:nvSpPr>
            <p:cNvPr id="89092" name="Text Box 4"/>
            <p:cNvSpPr txBox="1">
              <a:spLocks noChangeArrowheads="1"/>
            </p:cNvSpPr>
            <p:nvPr/>
          </p:nvSpPr>
          <p:spPr bwMode="auto">
            <a:xfrm>
              <a:off x="715" y="9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89093" name="Line 5"/>
            <p:cNvSpPr>
              <a:spLocks noChangeShapeType="1"/>
            </p:cNvSpPr>
            <p:nvPr/>
          </p:nvSpPr>
          <p:spPr bwMode="auto">
            <a:xfrm flipV="1">
              <a:off x="1157" y="48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4" name="Line 6"/>
            <p:cNvSpPr>
              <a:spLocks noChangeShapeType="1"/>
            </p:cNvSpPr>
            <p:nvPr/>
          </p:nvSpPr>
          <p:spPr bwMode="auto">
            <a:xfrm flipH="1" flipV="1">
              <a:off x="1157" y="105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5" name="Line 7"/>
            <p:cNvSpPr>
              <a:spLocks noChangeShapeType="1"/>
            </p:cNvSpPr>
            <p:nvPr/>
          </p:nvSpPr>
          <p:spPr bwMode="auto">
            <a:xfrm flipV="1">
              <a:off x="1421" y="1060"/>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6" name="Line 8"/>
            <p:cNvSpPr>
              <a:spLocks noChangeShapeType="1"/>
            </p:cNvSpPr>
            <p:nvPr/>
          </p:nvSpPr>
          <p:spPr bwMode="auto">
            <a:xfrm flipV="1">
              <a:off x="1421" y="50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7" name="Line 9"/>
            <p:cNvSpPr>
              <a:spLocks noChangeShapeType="1"/>
            </p:cNvSpPr>
            <p:nvPr/>
          </p:nvSpPr>
          <p:spPr bwMode="auto">
            <a:xfrm>
              <a:off x="677" y="48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8" name="Line 10"/>
            <p:cNvSpPr>
              <a:spLocks noChangeShapeType="1"/>
            </p:cNvSpPr>
            <p:nvPr/>
          </p:nvSpPr>
          <p:spPr bwMode="auto">
            <a:xfrm>
              <a:off x="677" y="124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9" name="Line 11"/>
            <p:cNvSpPr>
              <a:spLocks noChangeShapeType="1"/>
            </p:cNvSpPr>
            <p:nvPr/>
          </p:nvSpPr>
          <p:spPr bwMode="auto">
            <a:xfrm>
              <a:off x="1421" y="50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0" name="Line 12"/>
            <p:cNvSpPr>
              <a:spLocks noChangeShapeType="1"/>
            </p:cNvSpPr>
            <p:nvPr/>
          </p:nvSpPr>
          <p:spPr bwMode="auto">
            <a:xfrm>
              <a:off x="1421" y="124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1" name="Text Box 13"/>
            <p:cNvSpPr txBox="1">
              <a:spLocks noChangeArrowheads="1"/>
            </p:cNvSpPr>
            <p:nvPr/>
          </p:nvSpPr>
          <p:spPr bwMode="auto">
            <a:xfrm>
              <a:off x="953" y="49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89102" name="Text Box 14"/>
            <p:cNvSpPr txBox="1">
              <a:spLocks noChangeArrowheads="1"/>
            </p:cNvSpPr>
            <p:nvPr/>
          </p:nvSpPr>
          <p:spPr bwMode="auto">
            <a:xfrm>
              <a:off x="1409"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89103" name="Line 15"/>
            <p:cNvSpPr>
              <a:spLocks noChangeShapeType="1"/>
            </p:cNvSpPr>
            <p:nvPr/>
          </p:nvSpPr>
          <p:spPr bwMode="auto">
            <a:xfrm>
              <a:off x="677" y="406"/>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4" name="Text Box 16"/>
            <p:cNvSpPr txBox="1">
              <a:spLocks noChangeArrowheads="1"/>
            </p:cNvSpPr>
            <p:nvPr/>
          </p:nvSpPr>
          <p:spPr bwMode="auto">
            <a:xfrm>
              <a:off x="907" y="720"/>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89105" name="Text Box 17"/>
            <p:cNvSpPr txBox="1">
              <a:spLocks noChangeArrowheads="1"/>
            </p:cNvSpPr>
            <p:nvPr/>
          </p:nvSpPr>
          <p:spPr bwMode="auto">
            <a:xfrm>
              <a:off x="1445" y="74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89106" name="Text Box 18"/>
            <p:cNvSpPr txBox="1">
              <a:spLocks noChangeArrowheads="1"/>
            </p:cNvSpPr>
            <p:nvPr/>
          </p:nvSpPr>
          <p:spPr bwMode="auto">
            <a:xfrm>
              <a:off x="541" y="46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89107" name="Text Box 19"/>
            <p:cNvSpPr txBox="1">
              <a:spLocks noChangeArrowheads="1"/>
            </p:cNvSpPr>
            <p:nvPr/>
          </p:nvSpPr>
          <p:spPr bwMode="auto">
            <a:xfrm>
              <a:off x="551" y="86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89108" name="Text Box 20"/>
            <p:cNvSpPr txBox="1">
              <a:spLocks noChangeArrowheads="1"/>
            </p:cNvSpPr>
            <p:nvPr/>
          </p:nvSpPr>
          <p:spPr bwMode="auto">
            <a:xfrm>
              <a:off x="533" y="69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89109" name="Text Box 21"/>
            <p:cNvSpPr txBox="1">
              <a:spLocks noChangeArrowheads="1"/>
            </p:cNvSpPr>
            <p:nvPr/>
          </p:nvSpPr>
          <p:spPr bwMode="auto">
            <a:xfrm>
              <a:off x="1819"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89110" name="Text Box 22"/>
            <p:cNvSpPr txBox="1">
              <a:spLocks noChangeArrowheads="1"/>
            </p:cNvSpPr>
            <p:nvPr/>
          </p:nvSpPr>
          <p:spPr bwMode="auto">
            <a:xfrm>
              <a:off x="1817" y="88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89111" name="Text Box 23"/>
            <p:cNvSpPr txBox="1">
              <a:spLocks noChangeArrowheads="1"/>
            </p:cNvSpPr>
            <p:nvPr/>
          </p:nvSpPr>
          <p:spPr bwMode="auto">
            <a:xfrm>
              <a:off x="1831" y="74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89112" name="Text Box 24"/>
            <p:cNvSpPr txBox="1">
              <a:spLocks noChangeArrowheads="1"/>
            </p:cNvSpPr>
            <p:nvPr/>
          </p:nvSpPr>
          <p:spPr bwMode="auto">
            <a:xfrm>
              <a:off x="1685" y="11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89113" name="Text Box 25"/>
            <p:cNvSpPr txBox="1">
              <a:spLocks noChangeArrowheads="1"/>
            </p:cNvSpPr>
            <p:nvPr/>
          </p:nvSpPr>
          <p:spPr bwMode="auto">
            <a:xfrm>
              <a:off x="1157" y="17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89114" name="Group 26"/>
            <p:cNvGrpSpPr>
              <a:grpSpLocks/>
            </p:cNvGrpSpPr>
            <p:nvPr/>
          </p:nvGrpSpPr>
          <p:grpSpPr bwMode="auto">
            <a:xfrm rot="5400000">
              <a:off x="996" y="838"/>
              <a:ext cx="379" cy="57"/>
              <a:chOff x="1200" y="1584"/>
              <a:chExt cx="379" cy="45"/>
            </a:xfrm>
          </p:grpSpPr>
          <p:sp>
            <p:nvSpPr>
              <p:cNvPr id="89115" name="Arc 2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16" name="Arc 2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17" name="Arc 2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18" name="Arc 3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9119" name="Oval 31"/>
            <p:cNvSpPr>
              <a:spLocks noChangeArrowheads="1"/>
            </p:cNvSpPr>
            <p:nvPr/>
          </p:nvSpPr>
          <p:spPr bwMode="auto">
            <a:xfrm>
              <a:off x="629" y="45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0" name="Oval 32"/>
            <p:cNvSpPr>
              <a:spLocks noChangeArrowheads="1"/>
            </p:cNvSpPr>
            <p:nvPr/>
          </p:nvSpPr>
          <p:spPr bwMode="auto">
            <a:xfrm>
              <a:off x="629"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9121" name="Group 33"/>
            <p:cNvGrpSpPr>
              <a:grpSpLocks/>
            </p:cNvGrpSpPr>
            <p:nvPr/>
          </p:nvGrpSpPr>
          <p:grpSpPr bwMode="auto">
            <a:xfrm rot="16200000" flipH="1">
              <a:off x="1206" y="850"/>
              <a:ext cx="379" cy="57"/>
              <a:chOff x="1200" y="1584"/>
              <a:chExt cx="379" cy="45"/>
            </a:xfrm>
          </p:grpSpPr>
          <p:sp>
            <p:nvSpPr>
              <p:cNvPr id="89122" name="Arc 3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3" name="Arc 3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4" name="Arc 3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5" name="Arc 3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9126" name="Line 38"/>
            <p:cNvSpPr>
              <a:spLocks noChangeShapeType="1"/>
            </p:cNvSpPr>
            <p:nvPr/>
          </p:nvSpPr>
          <p:spPr bwMode="auto">
            <a:xfrm flipH="1">
              <a:off x="1637" y="42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7" name="Oval 39"/>
            <p:cNvSpPr>
              <a:spLocks noChangeArrowheads="1"/>
            </p:cNvSpPr>
            <p:nvPr/>
          </p:nvSpPr>
          <p:spPr bwMode="auto">
            <a:xfrm>
              <a:off x="1901" y="122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8" name="Oval 40"/>
            <p:cNvSpPr>
              <a:spLocks noChangeArrowheads="1"/>
            </p:cNvSpPr>
            <p:nvPr/>
          </p:nvSpPr>
          <p:spPr bwMode="auto">
            <a:xfrm>
              <a:off x="1895" y="4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29" name="Arc 41"/>
            <p:cNvSpPr>
              <a:spLocks/>
            </p:cNvSpPr>
            <p:nvPr/>
          </p:nvSpPr>
          <p:spPr bwMode="auto">
            <a:xfrm flipH="1">
              <a:off x="1061" y="34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30" name="Arc 42"/>
            <p:cNvSpPr>
              <a:spLocks/>
            </p:cNvSpPr>
            <p:nvPr/>
          </p:nvSpPr>
          <p:spPr bwMode="auto">
            <a:xfrm>
              <a:off x="1367" y="353"/>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9131" name="Text Box 43"/>
          <p:cNvSpPr txBox="1">
            <a:spLocks noChangeArrowheads="1"/>
          </p:cNvSpPr>
          <p:nvPr/>
        </p:nvSpPr>
        <p:spPr bwMode="auto">
          <a:xfrm>
            <a:off x="1009650" y="2613025"/>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b="1" i="1"/>
              <a:t>t </a:t>
            </a:r>
            <a:r>
              <a:rPr kumimoji="0" lang="zh-CN" altLang="en-US" b="1"/>
              <a:t>时刻互感线圈吸收的功率</a:t>
            </a:r>
          </a:p>
        </p:txBody>
      </p:sp>
      <p:graphicFrame>
        <p:nvGraphicFramePr>
          <p:cNvPr id="89132" name="Object 44"/>
          <p:cNvGraphicFramePr>
            <a:graphicFrameLocks noChangeAspect="1"/>
          </p:cNvGraphicFramePr>
          <p:nvPr/>
        </p:nvGraphicFramePr>
        <p:xfrm>
          <a:off x="1901825" y="3105150"/>
          <a:ext cx="3606800" cy="431800"/>
        </p:xfrm>
        <a:graphic>
          <a:graphicData uri="http://schemas.openxmlformats.org/presentationml/2006/ole">
            <mc:AlternateContent xmlns:mc="http://schemas.openxmlformats.org/markup-compatibility/2006">
              <mc:Choice xmlns:v="urn:schemas-microsoft-com:vml" Requires="v">
                <p:oleObj spid="_x0000_s89185" name="Equation" r:id="rId3" imgW="1803240" imgH="215640" progId="Equation.3">
                  <p:embed/>
                </p:oleObj>
              </mc:Choice>
              <mc:Fallback>
                <p:oleObj name="Equation" r:id="rId3" imgW="1803240" imgH="215640"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825" y="3105150"/>
                        <a:ext cx="3606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33" name="Text Box 45"/>
          <p:cNvSpPr txBox="1">
            <a:spLocks noChangeArrowheads="1"/>
          </p:cNvSpPr>
          <p:nvPr/>
        </p:nvSpPr>
        <p:spPr bwMode="auto">
          <a:xfrm>
            <a:off x="1009650" y="3765550"/>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b="1" i="1"/>
              <a:t>t~t+</a:t>
            </a:r>
            <a:r>
              <a:rPr kumimoji="0" lang="en-US" altLang="zh-CN" b="1"/>
              <a:t>d</a:t>
            </a:r>
            <a:r>
              <a:rPr kumimoji="0" lang="en-US" altLang="zh-CN" b="1" i="1"/>
              <a:t>t </a:t>
            </a:r>
            <a:r>
              <a:rPr kumimoji="0" lang="zh-CN" altLang="en-US" b="1"/>
              <a:t>时间段互感线圈储能的增量</a:t>
            </a:r>
          </a:p>
        </p:txBody>
      </p:sp>
      <p:graphicFrame>
        <p:nvGraphicFramePr>
          <p:cNvPr id="89134" name="Object 46"/>
          <p:cNvGraphicFramePr>
            <a:graphicFrameLocks noChangeAspect="1"/>
          </p:cNvGraphicFramePr>
          <p:nvPr/>
        </p:nvGraphicFramePr>
        <p:xfrm>
          <a:off x="1673225" y="4286250"/>
          <a:ext cx="5003800" cy="431800"/>
        </p:xfrm>
        <a:graphic>
          <a:graphicData uri="http://schemas.openxmlformats.org/presentationml/2006/ole">
            <mc:AlternateContent xmlns:mc="http://schemas.openxmlformats.org/markup-compatibility/2006">
              <mc:Choice xmlns:v="urn:schemas-microsoft-com:vml" Requires="v">
                <p:oleObj spid="_x0000_s89186" name="Equation" r:id="rId5" imgW="2501640" imgH="215640" progId="Equation.3">
                  <p:embed/>
                </p:oleObj>
              </mc:Choice>
              <mc:Fallback>
                <p:oleObj name="Equation" r:id="rId5" imgW="2501640" imgH="215640" progId="Equation.3">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3225" y="4286250"/>
                        <a:ext cx="5003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135" name="Object 47"/>
          <p:cNvGraphicFramePr>
            <a:graphicFrameLocks noChangeAspect="1"/>
          </p:cNvGraphicFramePr>
          <p:nvPr/>
        </p:nvGraphicFramePr>
        <p:xfrm>
          <a:off x="2260600" y="4718050"/>
          <a:ext cx="4699000" cy="1828800"/>
        </p:xfrm>
        <a:graphic>
          <a:graphicData uri="http://schemas.openxmlformats.org/presentationml/2006/ole">
            <mc:AlternateContent xmlns:mc="http://schemas.openxmlformats.org/markup-compatibility/2006">
              <mc:Choice xmlns:v="urn:schemas-microsoft-com:vml" Requires="v">
                <p:oleObj spid="_x0000_s89187" name="Equation" r:id="rId7" imgW="2349360" imgH="914400" progId="Equation.3">
                  <p:embed/>
                </p:oleObj>
              </mc:Choice>
              <mc:Fallback>
                <p:oleObj name="Equation" r:id="rId7" imgW="2349360" imgH="914400" progId="Equation.3">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0600" y="4718050"/>
                        <a:ext cx="469900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slide(fromLeft)">
                                      <p:cBhvr>
                                        <p:cTn id="7" dur="500"/>
                                        <p:tgtEl>
                                          <p:spTgt spid="89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p:cTn id="11" dur="1" fill="hold">
                                          <p:stCondLst>
                                            <p:cond delay="0"/>
                                          </p:stCondLst>
                                        </p:cTn>
                                        <p:tgtEl>
                                          <p:spTgt spid="89091"/>
                                        </p:tgtEl>
                                        <p:attrNameLst>
                                          <p:attrName>style.visibility</p:attrName>
                                        </p:attrNameLst>
                                      </p:cBhvr>
                                      <p:to>
                                        <p:strVal val="visible"/>
                                      </p:to>
                                    </p:set>
                                    <p:animEffect transition="in" filter="slide(fromTop)">
                                      <p:cBhvr>
                                        <p:cTn id="12" dur="500"/>
                                        <p:tgtEl>
                                          <p:spTgt spid="890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9131"/>
                                        </p:tgtEl>
                                        <p:attrNameLst>
                                          <p:attrName>style.visibility</p:attrName>
                                        </p:attrNameLst>
                                      </p:cBhvr>
                                      <p:to>
                                        <p:strVal val="visible"/>
                                      </p:to>
                                    </p:set>
                                    <p:anim calcmode="lin" valueType="num">
                                      <p:cBhvr additive="base">
                                        <p:cTn id="17" dur="500" fill="hold"/>
                                        <p:tgtEl>
                                          <p:spTgt spid="89131"/>
                                        </p:tgtEl>
                                        <p:attrNameLst>
                                          <p:attrName>ppt_x</p:attrName>
                                        </p:attrNameLst>
                                      </p:cBhvr>
                                      <p:tavLst>
                                        <p:tav tm="0">
                                          <p:val>
                                            <p:strVal val="0-#ppt_w/2"/>
                                          </p:val>
                                        </p:tav>
                                        <p:tav tm="100000">
                                          <p:val>
                                            <p:strVal val="#ppt_x"/>
                                          </p:val>
                                        </p:tav>
                                      </p:tavLst>
                                    </p:anim>
                                    <p:anim calcmode="lin" valueType="num">
                                      <p:cBhvr additive="base">
                                        <p:cTn id="18" dur="500" fill="hold"/>
                                        <p:tgtEl>
                                          <p:spTgt spid="8913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1" fill="hold" nodeType="clickEffect">
                                  <p:stCondLst>
                                    <p:cond delay="0"/>
                                  </p:stCondLst>
                                  <p:childTnLst>
                                    <p:set>
                                      <p:cBhvr>
                                        <p:cTn id="22" dur="1" fill="hold">
                                          <p:stCondLst>
                                            <p:cond delay="0"/>
                                          </p:stCondLst>
                                        </p:cTn>
                                        <p:tgtEl>
                                          <p:spTgt spid="89132"/>
                                        </p:tgtEl>
                                        <p:attrNameLst>
                                          <p:attrName>style.visibility</p:attrName>
                                        </p:attrNameLst>
                                      </p:cBhvr>
                                      <p:to>
                                        <p:strVal val="visible"/>
                                      </p:to>
                                    </p:set>
                                    <p:animEffect transition="in" filter="slide(fromTop)">
                                      <p:cBhvr>
                                        <p:cTn id="23" dur="500"/>
                                        <p:tgtEl>
                                          <p:spTgt spid="8913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89133"/>
                                        </p:tgtEl>
                                        <p:attrNameLst>
                                          <p:attrName>style.visibility</p:attrName>
                                        </p:attrNameLst>
                                      </p:cBhvr>
                                      <p:to>
                                        <p:strVal val="visible"/>
                                      </p:to>
                                    </p:set>
                                    <p:anim calcmode="lin" valueType="num">
                                      <p:cBhvr additive="base">
                                        <p:cTn id="28" dur="500" fill="hold"/>
                                        <p:tgtEl>
                                          <p:spTgt spid="89133"/>
                                        </p:tgtEl>
                                        <p:attrNameLst>
                                          <p:attrName>ppt_x</p:attrName>
                                        </p:attrNameLst>
                                      </p:cBhvr>
                                      <p:tavLst>
                                        <p:tav tm="0">
                                          <p:val>
                                            <p:strVal val="0-#ppt_w/2"/>
                                          </p:val>
                                        </p:tav>
                                        <p:tav tm="100000">
                                          <p:val>
                                            <p:strVal val="#ppt_x"/>
                                          </p:val>
                                        </p:tav>
                                      </p:tavLst>
                                    </p:anim>
                                    <p:anim calcmode="lin" valueType="num">
                                      <p:cBhvr additive="base">
                                        <p:cTn id="29" dur="500" fill="hold"/>
                                        <p:tgtEl>
                                          <p:spTgt spid="89133"/>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1" fill="hold" nodeType="clickEffect">
                                  <p:stCondLst>
                                    <p:cond delay="0"/>
                                  </p:stCondLst>
                                  <p:childTnLst>
                                    <p:set>
                                      <p:cBhvr>
                                        <p:cTn id="33" dur="1" fill="hold">
                                          <p:stCondLst>
                                            <p:cond delay="0"/>
                                          </p:stCondLst>
                                        </p:cTn>
                                        <p:tgtEl>
                                          <p:spTgt spid="89134"/>
                                        </p:tgtEl>
                                        <p:attrNameLst>
                                          <p:attrName>style.visibility</p:attrName>
                                        </p:attrNameLst>
                                      </p:cBhvr>
                                      <p:to>
                                        <p:strVal val="visible"/>
                                      </p:to>
                                    </p:set>
                                    <p:animEffect transition="in" filter="slide(fromTop)">
                                      <p:cBhvr>
                                        <p:cTn id="34" dur="500"/>
                                        <p:tgtEl>
                                          <p:spTgt spid="8913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1" fill="hold" nodeType="clickEffect">
                                  <p:stCondLst>
                                    <p:cond delay="0"/>
                                  </p:stCondLst>
                                  <p:childTnLst>
                                    <p:set>
                                      <p:cBhvr>
                                        <p:cTn id="38" dur="1" fill="hold">
                                          <p:stCondLst>
                                            <p:cond delay="0"/>
                                          </p:stCondLst>
                                        </p:cTn>
                                        <p:tgtEl>
                                          <p:spTgt spid="89135"/>
                                        </p:tgtEl>
                                        <p:attrNameLst>
                                          <p:attrName>style.visibility</p:attrName>
                                        </p:attrNameLst>
                                      </p:cBhvr>
                                      <p:to>
                                        <p:strVal val="visible"/>
                                      </p:to>
                                    </p:set>
                                    <p:animEffect transition="in" filter="slide(fromTop)">
                                      <p:cBhvr>
                                        <p:cTn id="39" dur="500"/>
                                        <p:tgtEl>
                                          <p:spTgt spid="89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131" grpId="0" autoUpdateAnimBg="0"/>
      <p:bldP spid="8913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5" name="Object 3"/>
          <p:cNvGraphicFramePr>
            <a:graphicFrameLocks noChangeAspect="1"/>
          </p:cNvGraphicFramePr>
          <p:nvPr/>
        </p:nvGraphicFramePr>
        <p:xfrm>
          <a:off x="830263" y="425450"/>
          <a:ext cx="7493000" cy="431800"/>
        </p:xfrm>
        <a:graphic>
          <a:graphicData uri="http://schemas.openxmlformats.org/presentationml/2006/ole">
            <mc:AlternateContent xmlns:mc="http://schemas.openxmlformats.org/markup-compatibility/2006">
              <mc:Choice xmlns:v="urn:schemas-microsoft-com:vml" Requires="v">
                <p:oleObj spid="_x0000_s90242" name="Equation" r:id="rId3" imgW="3746160" imgH="215640" progId="Equation.3">
                  <p:embed/>
                </p:oleObj>
              </mc:Choice>
              <mc:Fallback>
                <p:oleObj name="Equation" r:id="rId3" imgW="3746160" imgH="2156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63" y="425450"/>
                        <a:ext cx="7493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16" name="Object 4"/>
          <p:cNvGraphicFramePr>
            <a:graphicFrameLocks noChangeAspect="1"/>
          </p:cNvGraphicFramePr>
          <p:nvPr/>
        </p:nvGraphicFramePr>
        <p:xfrm>
          <a:off x="912813" y="1149350"/>
          <a:ext cx="5842000" cy="431800"/>
        </p:xfrm>
        <a:graphic>
          <a:graphicData uri="http://schemas.openxmlformats.org/presentationml/2006/ole">
            <mc:AlternateContent xmlns:mc="http://schemas.openxmlformats.org/markup-compatibility/2006">
              <mc:Choice xmlns:v="urn:schemas-microsoft-com:vml" Requires="v">
                <p:oleObj spid="_x0000_s90243" name="Equation" r:id="rId5" imgW="2920680" imgH="215640" progId="Equation.3">
                  <p:embed/>
                </p:oleObj>
              </mc:Choice>
              <mc:Fallback>
                <p:oleObj name="Equation" r:id="rId5" imgW="2920680" imgH="21564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813" y="1149350"/>
                        <a:ext cx="5842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17" name="Text Box 5"/>
          <p:cNvSpPr txBox="1">
            <a:spLocks noChangeArrowheads="1"/>
          </p:cNvSpPr>
          <p:nvPr/>
        </p:nvSpPr>
        <p:spPr bwMode="auto">
          <a:xfrm>
            <a:off x="311150" y="1847850"/>
            <a:ext cx="749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zh-CN" altLang="en-US" b="1"/>
              <a:t>设电流由零增至</a:t>
            </a:r>
            <a:r>
              <a:rPr kumimoji="0" lang="en-US" altLang="zh-CN" b="1" i="1"/>
              <a:t>i</a:t>
            </a:r>
            <a:r>
              <a:rPr kumimoji="0" lang="en-US" altLang="zh-CN" b="1" baseline="-25000"/>
              <a:t>1</a:t>
            </a:r>
            <a:r>
              <a:rPr kumimoji="0" lang="en-US" altLang="zh-CN" b="1"/>
              <a:t>(</a:t>
            </a:r>
            <a:r>
              <a:rPr kumimoji="0" lang="en-US" altLang="zh-CN" b="1" i="1"/>
              <a:t>t</a:t>
            </a:r>
            <a:r>
              <a:rPr kumimoji="0" lang="en-US" altLang="zh-CN" b="1"/>
              <a:t>)</a:t>
            </a:r>
            <a:r>
              <a:rPr kumimoji="0" lang="zh-CN" altLang="en-US" b="1"/>
              <a:t>、</a:t>
            </a:r>
            <a:r>
              <a:rPr kumimoji="0" lang="en-US" altLang="zh-CN" b="1" i="1"/>
              <a:t>i</a:t>
            </a:r>
            <a:r>
              <a:rPr kumimoji="0" lang="en-US" altLang="zh-CN" b="1" baseline="-25000"/>
              <a:t>2</a:t>
            </a:r>
            <a:r>
              <a:rPr kumimoji="0" lang="en-US" altLang="zh-CN" b="1"/>
              <a:t>(</a:t>
            </a:r>
            <a:r>
              <a:rPr kumimoji="0" lang="en-US" altLang="zh-CN" b="1" i="1"/>
              <a:t>t</a:t>
            </a:r>
            <a:r>
              <a:rPr kumimoji="0" lang="en-US" altLang="zh-CN" b="1"/>
              <a:t>)</a:t>
            </a:r>
            <a:r>
              <a:rPr kumimoji="0" lang="zh-CN" altLang="en-US" b="1"/>
              <a:t>，则</a:t>
            </a:r>
            <a:r>
              <a:rPr kumimoji="0" lang="en-US" altLang="zh-CN" b="1" i="1"/>
              <a:t>t </a:t>
            </a:r>
            <a:r>
              <a:rPr kumimoji="0" lang="zh-CN" altLang="en-US" b="1"/>
              <a:t>时刻互感的储能为</a:t>
            </a:r>
          </a:p>
        </p:txBody>
      </p:sp>
      <p:graphicFrame>
        <p:nvGraphicFramePr>
          <p:cNvPr id="90118" name="Object 6"/>
          <p:cNvGraphicFramePr>
            <a:graphicFrameLocks noChangeAspect="1"/>
          </p:cNvGraphicFramePr>
          <p:nvPr/>
        </p:nvGraphicFramePr>
        <p:xfrm>
          <a:off x="419100" y="2622550"/>
          <a:ext cx="8458200" cy="660400"/>
        </p:xfrm>
        <a:graphic>
          <a:graphicData uri="http://schemas.openxmlformats.org/presentationml/2006/ole">
            <mc:AlternateContent xmlns:mc="http://schemas.openxmlformats.org/markup-compatibility/2006">
              <mc:Choice xmlns:v="urn:schemas-microsoft-com:vml" Requires="v">
                <p:oleObj spid="_x0000_s90244" name="Equation" r:id="rId7" imgW="4228920" imgH="330120" progId="Equation.3">
                  <p:embed/>
                </p:oleObj>
              </mc:Choice>
              <mc:Fallback>
                <p:oleObj name="Equation" r:id="rId7" imgW="4228920" imgH="33012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 y="2622550"/>
                        <a:ext cx="84582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19" name="Object 7"/>
          <p:cNvGraphicFramePr>
            <a:graphicFrameLocks noChangeAspect="1"/>
          </p:cNvGraphicFramePr>
          <p:nvPr/>
        </p:nvGraphicFramePr>
        <p:xfrm>
          <a:off x="804863" y="3384550"/>
          <a:ext cx="4597400" cy="812800"/>
        </p:xfrm>
        <a:graphic>
          <a:graphicData uri="http://schemas.openxmlformats.org/presentationml/2006/ole">
            <mc:AlternateContent xmlns:mc="http://schemas.openxmlformats.org/markup-compatibility/2006">
              <mc:Choice xmlns:v="urn:schemas-microsoft-com:vml" Requires="v">
                <p:oleObj spid="_x0000_s90245" name="Equation" r:id="rId9" imgW="2298600" imgH="406080" progId="Equation.3">
                  <p:embed/>
                </p:oleObj>
              </mc:Choice>
              <mc:Fallback>
                <p:oleObj name="Equation" r:id="rId9" imgW="2298600" imgH="40608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4863" y="3384550"/>
                        <a:ext cx="4597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0120" name="Group 8"/>
          <p:cNvGrpSpPr>
            <a:grpSpLocks/>
          </p:cNvGrpSpPr>
          <p:nvPr/>
        </p:nvGrpSpPr>
        <p:grpSpPr bwMode="auto">
          <a:xfrm>
            <a:off x="823913" y="4387850"/>
            <a:ext cx="2516187" cy="1930400"/>
            <a:chOff x="2688" y="108"/>
            <a:chExt cx="1585" cy="1216"/>
          </a:xfrm>
        </p:grpSpPr>
        <p:sp>
          <p:nvSpPr>
            <p:cNvPr id="90121" name="Line 9"/>
            <p:cNvSpPr>
              <a:spLocks noChangeShapeType="1"/>
            </p:cNvSpPr>
            <p:nvPr/>
          </p:nvSpPr>
          <p:spPr bwMode="auto">
            <a:xfrm flipV="1">
              <a:off x="3312" y="49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2" name="Line 10"/>
            <p:cNvSpPr>
              <a:spLocks noChangeShapeType="1"/>
            </p:cNvSpPr>
            <p:nvPr/>
          </p:nvSpPr>
          <p:spPr bwMode="auto">
            <a:xfrm flipH="1" flipV="1">
              <a:off x="3312" y="106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3" name="Line 11"/>
            <p:cNvSpPr>
              <a:spLocks noChangeShapeType="1"/>
            </p:cNvSpPr>
            <p:nvPr/>
          </p:nvSpPr>
          <p:spPr bwMode="auto">
            <a:xfrm flipV="1">
              <a:off x="3576" y="107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4" name="Line 12"/>
            <p:cNvSpPr>
              <a:spLocks noChangeShapeType="1"/>
            </p:cNvSpPr>
            <p:nvPr/>
          </p:nvSpPr>
          <p:spPr bwMode="auto">
            <a:xfrm flipV="1">
              <a:off x="3576" y="51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5" name="Line 13"/>
            <p:cNvSpPr>
              <a:spLocks noChangeShapeType="1"/>
            </p:cNvSpPr>
            <p:nvPr/>
          </p:nvSpPr>
          <p:spPr bwMode="auto">
            <a:xfrm>
              <a:off x="2832" y="49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6" name="Line 14"/>
            <p:cNvSpPr>
              <a:spLocks noChangeShapeType="1"/>
            </p:cNvSpPr>
            <p:nvPr/>
          </p:nvSpPr>
          <p:spPr bwMode="auto">
            <a:xfrm>
              <a:off x="2832" y="126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7" name="Line 15"/>
            <p:cNvSpPr>
              <a:spLocks noChangeShapeType="1"/>
            </p:cNvSpPr>
            <p:nvPr/>
          </p:nvSpPr>
          <p:spPr bwMode="auto">
            <a:xfrm>
              <a:off x="3576" y="51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8" name="Line 16"/>
            <p:cNvSpPr>
              <a:spLocks noChangeShapeType="1"/>
            </p:cNvSpPr>
            <p:nvPr/>
          </p:nvSpPr>
          <p:spPr bwMode="auto">
            <a:xfrm>
              <a:off x="3576" y="125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9" name="Text Box 17"/>
            <p:cNvSpPr txBox="1">
              <a:spLocks noChangeArrowheads="1"/>
            </p:cNvSpPr>
            <p:nvPr/>
          </p:nvSpPr>
          <p:spPr bwMode="auto">
            <a:xfrm>
              <a:off x="3108" y="50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0130" name="Text Box 18"/>
            <p:cNvSpPr txBox="1">
              <a:spLocks noChangeArrowheads="1"/>
            </p:cNvSpPr>
            <p:nvPr/>
          </p:nvSpPr>
          <p:spPr bwMode="auto">
            <a:xfrm>
              <a:off x="3564" y="103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90131" name="Line 19"/>
            <p:cNvSpPr>
              <a:spLocks noChangeShapeType="1"/>
            </p:cNvSpPr>
            <p:nvPr/>
          </p:nvSpPr>
          <p:spPr bwMode="auto">
            <a:xfrm>
              <a:off x="2832" y="41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2" name="Text Box 20"/>
            <p:cNvSpPr txBox="1">
              <a:spLocks noChangeArrowheads="1"/>
            </p:cNvSpPr>
            <p:nvPr/>
          </p:nvSpPr>
          <p:spPr bwMode="auto">
            <a:xfrm>
              <a:off x="3062" y="73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90133" name="Text Box 21"/>
            <p:cNvSpPr txBox="1">
              <a:spLocks noChangeArrowheads="1"/>
            </p:cNvSpPr>
            <p:nvPr/>
          </p:nvSpPr>
          <p:spPr bwMode="auto">
            <a:xfrm>
              <a:off x="3600" y="754"/>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90134" name="Text Box 22"/>
            <p:cNvSpPr txBox="1">
              <a:spLocks noChangeArrowheads="1"/>
            </p:cNvSpPr>
            <p:nvPr/>
          </p:nvSpPr>
          <p:spPr bwMode="auto">
            <a:xfrm>
              <a:off x="2696" y="47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0135" name="Text Box 23"/>
            <p:cNvSpPr txBox="1">
              <a:spLocks noChangeArrowheads="1"/>
            </p:cNvSpPr>
            <p:nvPr/>
          </p:nvSpPr>
          <p:spPr bwMode="auto">
            <a:xfrm>
              <a:off x="2706" y="8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0136" name="Text Box 24"/>
            <p:cNvSpPr txBox="1">
              <a:spLocks noChangeArrowheads="1"/>
            </p:cNvSpPr>
            <p:nvPr/>
          </p:nvSpPr>
          <p:spPr bwMode="auto">
            <a:xfrm>
              <a:off x="2688" y="70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90137" name="Text Box 25"/>
            <p:cNvSpPr txBox="1">
              <a:spLocks noChangeArrowheads="1"/>
            </p:cNvSpPr>
            <p:nvPr/>
          </p:nvSpPr>
          <p:spPr bwMode="auto">
            <a:xfrm>
              <a:off x="3974" y="486"/>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90138" name="Text Box 26"/>
            <p:cNvSpPr txBox="1">
              <a:spLocks noChangeArrowheads="1"/>
            </p:cNvSpPr>
            <p:nvPr/>
          </p:nvSpPr>
          <p:spPr bwMode="auto">
            <a:xfrm>
              <a:off x="3972" y="8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90139" name="Text Box 27"/>
            <p:cNvSpPr txBox="1">
              <a:spLocks noChangeArrowheads="1"/>
            </p:cNvSpPr>
            <p:nvPr/>
          </p:nvSpPr>
          <p:spPr bwMode="auto">
            <a:xfrm>
              <a:off x="3986" y="75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sp>
          <p:nvSpPr>
            <p:cNvPr id="90140" name="Text Box 28"/>
            <p:cNvSpPr txBox="1">
              <a:spLocks noChangeArrowheads="1"/>
            </p:cNvSpPr>
            <p:nvPr/>
          </p:nvSpPr>
          <p:spPr bwMode="auto">
            <a:xfrm>
              <a:off x="3840" y="13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90141" name="Text Box 29"/>
            <p:cNvSpPr txBox="1">
              <a:spLocks noChangeArrowheads="1"/>
            </p:cNvSpPr>
            <p:nvPr/>
          </p:nvSpPr>
          <p:spPr bwMode="auto">
            <a:xfrm>
              <a:off x="3312" y="19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p>
          </p:txBody>
        </p:sp>
        <p:grpSp>
          <p:nvGrpSpPr>
            <p:cNvPr id="90142" name="Group 30"/>
            <p:cNvGrpSpPr>
              <a:grpSpLocks/>
            </p:cNvGrpSpPr>
            <p:nvPr/>
          </p:nvGrpSpPr>
          <p:grpSpPr bwMode="auto">
            <a:xfrm rot="5400000">
              <a:off x="3151" y="850"/>
              <a:ext cx="379" cy="57"/>
              <a:chOff x="1200" y="1584"/>
              <a:chExt cx="379" cy="45"/>
            </a:xfrm>
          </p:grpSpPr>
          <p:sp>
            <p:nvSpPr>
              <p:cNvPr id="90143" name="Arc 3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4" name="Arc 3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5" name="Arc 3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6" name="Arc 3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0147" name="Oval 35"/>
            <p:cNvSpPr>
              <a:spLocks noChangeArrowheads="1"/>
            </p:cNvSpPr>
            <p:nvPr/>
          </p:nvSpPr>
          <p:spPr bwMode="auto">
            <a:xfrm>
              <a:off x="2784" y="47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8" name="Oval 36"/>
            <p:cNvSpPr>
              <a:spLocks noChangeArrowheads="1"/>
            </p:cNvSpPr>
            <p:nvPr/>
          </p:nvSpPr>
          <p:spPr bwMode="auto">
            <a:xfrm>
              <a:off x="2784"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0149" name="Group 37"/>
            <p:cNvGrpSpPr>
              <a:grpSpLocks/>
            </p:cNvGrpSpPr>
            <p:nvPr/>
          </p:nvGrpSpPr>
          <p:grpSpPr bwMode="auto">
            <a:xfrm rot="16200000" flipH="1">
              <a:off x="3361" y="862"/>
              <a:ext cx="379" cy="57"/>
              <a:chOff x="1200" y="1584"/>
              <a:chExt cx="379" cy="45"/>
            </a:xfrm>
          </p:grpSpPr>
          <p:sp>
            <p:nvSpPr>
              <p:cNvPr id="90150" name="Arc 3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1" name="Arc 3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2" name="Arc 4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3" name="Arc 4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0154" name="Line 42"/>
            <p:cNvSpPr>
              <a:spLocks noChangeShapeType="1"/>
            </p:cNvSpPr>
            <p:nvPr/>
          </p:nvSpPr>
          <p:spPr bwMode="auto">
            <a:xfrm flipH="1">
              <a:off x="3792" y="44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5" name="Oval 43"/>
            <p:cNvSpPr>
              <a:spLocks noChangeArrowheads="1"/>
            </p:cNvSpPr>
            <p:nvPr/>
          </p:nvSpPr>
          <p:spPr bwMode="auto">
            <a:xfrm>
              <a:off x="4056" y="123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6" name="Oval 44"/>
            <p:cNvSpPr>
              <a:spLocks noChangeArrowheads="1"/>
            </p:cNvSpPr>
            <p:nvPr/>
          </p:nvSpPr>
          <p:spPr bwMode="auto">
            <a:xfrm>
              <a:off x="4050" y="49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7" name="Arc 45"/>
            <p:cNvSpPr>
              <a:spLocks/>
            </p:cNvSpPr>
            <p:nvPr/>
          </p:nvSpPr>
          <p:spPr bwMode="auto">
            <a:xfrm flipH="1">
              <a:off x="3216" y="357"/>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8" name="Arc 46"/>
            <p:cNvSpPr>
              <a:spLocks/>
            </p:cNvSpPr>
            <p:nvPr/>
          </p:nvSpPr>
          <p:spPr bwMode="auto">
            <a:xfrm>
              <a:off x="3522" y="365"/>
              <a:ext cx="148" cy="131"/>
            </a:xfrm>
            <a:custGeom>
              <a:avLst/>
              <a:gdLst>
                <a:gd name="G0" fmla="+- 1539 0 0"/>
                <a:gd name="G1" fmla="+- 21600 0 0"/>
                <a:gd name="G2" fmla="+- 21600 0 0"/>
                <a:gd name="T0" fmla="*/ 0 w 22702"/>
                <a:gd name="T1" fmla="*/ 55 h 21600"/>
                <a:gd name="T2" fmla="*/ 22702 w 22702"/>
                <a:gd name="T3" fmla="*/ 17276 h 21600"/>
                <a:gd name="T4" fmla="*/ 1539 w 22702"/>
                <a:gd name="T5" fmla="*/ 21600 h 21600"/>
              </a:gdLst>
              <a:ahLst/>
              <a:cxnLst>
                <a:cxn ang="0">
                  <a:pos x="T0" y="T1"/>
                </a:cxn>
                <a:cxn ang="0">
                  <a:pos x="T2" y="T3"/>
                </a:cxn>
                <a:cxn ang="0">
                  <a:pos x="T4" y="T5"/>
                </a:cxn>
              </a:cxnLst>
              <a:rect l="0" t="0" r="r" b="b"/>
              <a:pathLst>
                <a:path w="22702" h="21600" fill="none" extrusionOk="0">
                  <a:moveTo>
                    <a:pt x="-1" y="54"/>
                  </a:moveTo>
                  <a:cubicBezTo>
                    <a:pt x="512" y="18"/>
                    <a:pt x="1025" y="0"/>
                    <a:pt x="1539" y="0"/>
                  </a:cubicBezTo>
                  <a:cubicBezTo>
                    <a:pt x="11801" y="0"/>
                    <a:pt x="20647" y="7221"/>
                    <a:pt x="22701" y="17276"/>
                  </a:cubicBezTo>
                </a:path>
                <a:path w="22702" h="21600" stroke="0" extrusionOk="0">
                  <a:moveTo>
                    <a:pt x="-1" y="54"/>
                  </a:moveTo>
                  <a:cubicBezTo>
                    <a:pt x="512" y="18"/>
                    <a:pt x="1025" y="0"/>
                    <a:pt x="1539" y="0"/>
                  </a:cubicBezTo>
                  <a:cubicBezTo>
                    <a:pt x="11801" y="0"/>
                    <a:pt x="20647" y="7221"/>
                    <a:pt x="22701" y="17276"/>
                  </a:cubicBezTo>
                  <a:lnTo>
                    <a:pt x="1539"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59" name="Text Box 47"/>
            <p:cNvSpPr txBox="1">
              <a:spLocks noChangeArrowheads="1"/>
            </p:cNvSpPr>
            <p:nvPr/>
          </p:nvSpPr>
          <p:spPr bwMode="auto">
            <a:xfrm>
              <a:off x="2820" y="10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grpSp>
      <p:graphicFrame>
        <p:nvGraphicFramePr>
          <p:cNvPr id="90160" name="Object 48"/>
          <p:cNvGraphicFramePr>
            <a:graphicFrameLocks noChangeAspect="1"/>
          </p:cNvGraphicFramePr>
          <p:nvPr/>
        </p:nvGraphicFramePr>
        <p:xfrm>
          <a:off x="3706813" y="5197475"/>
          <a:ext cx="4978400" cy="812800"/>
        </p:xfrm>
        <a:graphic>
          <a:graphicData uri="http://schemas.openxmlformats.org/presentationml/2006/ole">
            <mc:AlternateContent xmlns:mc="http://schemas.openxmlformats.org/markup-compatibility/2006">
              <mc:Choice xmlns:v="urn:schemas-microsoft-com:vml" Requires="v">
                <p:oleObj spid="_x0000_s90246" name="Equation" r:id="rId11" imgW="2489040" imgH="406080" progId="Equation.3">
                  <p:embed/>
                </p:oleObj>
              </mc:Choice>
              <mc:Fallback>
                <p:oleObj name="Equation" r:id="rId11" imgW="2489040" imgH="406080" progId="Equation.3">
                  <p:embed/>
                  <p:pic>
                    <p:nvPicPr>
                      <p:cNvPr id="0" name="Object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6813" y="5197475"/>
                        <a:ext cx="4978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slide(fromTop)">
                                      <p:cBhvr>
                                        <p:cTn id="7" dur="500"/>
                                        <p:tgtEl>
                                          <p:spTgt spid="901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7"/>
                                        </p:tgtEl>
                                        <p:attrNameLst>
                                          <p:attrName>style.visibility</p:attrName>
                                        </p:attrNameLst>
                                      </p:cBhvr>
                                      <p:to>
                                        <p:strVal val="visible"/>
                                      </p:to>
                                    </p:set>
                                    <p:animEffect transition="in" filter="wipe(left)">
                                      <p:cBhvr>
                                        <p:cTn id="12" dur="500"/>
                                        <p:tgtEl>
                                          <p:spTgt spid="901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118"/>
                                        </p:tgtEl>
                                        <p:attrNameLst>
                                          <p:attrName>style.visibility</p:attrName>
                                        </p:attrNameLst>
                                      </p:cBhvr>
                                      <p:to>
                                        <p:strVal val="visible"/>
                                      </p:to>
                                    </p:set>
                                    <p:animEffect transition="in" filter="wipe(left)">
                                      <p:cBhvr>
                                        <p:cTn id="17" dur="500"/>
                                        <p:tgtEl>
                                          <p:spTgt spid="901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90119"/>
                                        </p:tgtEl>
                                        <p:attrNameLst>
                                          <p:attrName>style.visibility</p:attrName>
                                        </p:attrNameLst>
                                      </p:cBhvr>
                                      <p:to>
                                        <p:strVal val="visible"/>
                                      </p:to>
                                    </p:set>
                                    <p:animEffect transition="in" filter="slide(fromTop)">
                                      <p:cBhvr>
                                        <p:cTn id="22" dur="500"/>
                                        <p:tgtEl>
                                          <p:spTgt spid="901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90120"/>
                                        </p:tgtEl>
                                        <p:attrNameLst>
                                          <p:attrName>style.visibility</p:attrName>
                                        </p:attrNameLst>
                                      </p:cBhvr>
                                      <p:to>
                                        <p:strVal val="visible"/>
                                      </p:to>
                                    </p:set>
                                    <p:anim calcmode="lin" valueType="num">
                                      <p:cBhvr>
                                        <p:cTn id="27" dur="500" fill="hold"/>
                                        <p:tgtEl>
                                          <p:spTgt spid="90120"/>
                                        </p:tgtEl>
                                        <p:attrNameLst>
                                          <p:attrName>ppt_w</p:attrName>
                                        </p:attrNameLst>
                                      </p:cBhvr>
                                      <p:tavLst>
                                        <p:tav tm="0">
                                          <p:val>
                                            <p:fltVal val="0"/>
                                          </p:val>
                                        </p:tav>
                                        <p:tav tm="100000">
                                          <p:val>
                                            <p:strVal val="#ppt_w"/>
                                          </p:val>
                                        </p:tav>
                                      </p:tavLst>
                                    </p:anim>
                                    <p:anim calcmode="lin" valueType="num">
                                      <p:cBhvr>
                                        <p:cTn id="28" dur="500" fill="hold"/>
                                        <p:tgtEl>
                                          <p:spTgt spid="90120"/>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nodeType="clickEffect">
                                  <p:stCondLst>
                                    <p:cond delay="0"/>
                                  </p:stCondLst>
                                  <p:childTnLst>
                                    <p:set>
                                      <p:cBhvr>
                                        <p:cTn id="32" dur="1" fill="hold">
                                          <p:stCondLst>
                                            <p:cond delay="0"/>
                                          </p:stCondLst>
                                        </p:cTn>
                                        <p:tgtEl>
                                          <p:spTgt spid="90160"/>
                                        </p:tgtEl>
                                        <p:attrNameLst>
                                          <p:attrName>style.visibility</p:attrName>
                                        </p:attrNameLst>
                                      </p:cBhvr>
                                      <p:to>
                                        <p:strVal val="visible"/>
                                      </p:to>
                                    </p:set>
                                    <p:animEffect transition="in" filter="slide(fromLeft)">
                                      <p:cBhvr>
                                        <p:cTn id="33" dur="500"/>
                                        <p:tgtEl>
                                          <p:spTgt spid="90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957388" y="225425"/>
            <a:ext cx="4887912" cy="531813"/>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p>
            <a:pPr eaLnBrk="0" hangingPunct="0">
              <a:spcBef>
                <a:spcPct val="50000"/>
              </a:spcBef>
            </a:pPr>
            <a:r>
              <a:rPr lang="en-US" altLang="zh-CN" sz="2800" b="1">
                <a:solidFill>
                  <a:schemeClr val="tx2"/>
                </a:solidFill>
                <a:latin typeface="楷体_GB2312" pitchFamily="49" charset="-122"/>
                <a:ea typeface="楷体_GB2312" pitchFamily="49" charset="-122"/>
              </a:rPr>
              <a:t>11.2 </a:t>
            </a:r>
            <a:r>
              <a:rPr lang="zh-CN" altLang="en-US" sz="2800" b="1">
                <a:solidFill>
                  <a:schemeClr val="tx2"/>
                </a:solidFill>
                <a:latin typeface="楷体_GB2312" pitchFamily="49" charset="-122"/>
                <a:ea typeface="楷体_GB2312" pitchFamily="49" charset="-122"/>
              </a:rPr>
              <a:t>互感线圈的串联和并联</a:t>
            </a:r>
          </a:p>
        </p:txBody>
      </p:sp>
      <p:sp>
        <p:nvSpPr>
          <p:cNvPr id="12291" name="Text Box 3"/>
          <p:cNvSpPr txBox="1">
            <a:spLocks noChangeArrowheads="1"/>
          </p:cNvSpPr>
          <p:nvPr/>
        </p:nvSpPr>
        <p:spPr bwMode="auto">
          <a:xfrm>
            <a:off x="365125" y="915988"/>
            <a:ext cx="2941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rPr>
              <a:t>一、互感线圈的串联</a:t>
            </a:r>
            <a:endParaRPr lang="zh-CN" altLang="en-US" b="1"/>
          </a:p>
        </p:txBody>
      </p:sp>
      <p:sp>
        <p:nvSpPr>
          <p:cNvPr id="12292" name="Text Box 4"/>
          <p:cNvSpPr txBox="1">
            <a:spLocks noChangeArrowheads="1"/>
          </p:cNvSpPr>
          <p:nvPr/>
        </p:nvSpPr>
        <p:spPr bwMode="auto">
          <a:xfrm>
            <a:off x="571500" y="1466850"/>
            <a:ext cx="2020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1. </a:t>
            </a:r>
            <a:r>
              <a:rPr lang="zh-CN" altLang="en-US" b="1"/>
              <a:t>同名端顺串</a:t>
            </a:r>
          </a:p>
        </p:txBody>
      </p:sp>
      <p:graphicFrame>
        <p:nvGraphicFramePr>
          <p:cNvPr id="12314" name="Object 26"/>
          <p:cNvGraphicFramePr>
            <a:graphicFrameLocks noChangeAspect="1"/>
          </p:cNvGraphicFramePr>
          <p:nvPr/>
        </p:nvGraphicFramePr>
        <p:xfrm>
          <a:off x="1204913" y="4597400"/>
          <a:ext cx="6007100" cy="1449388"/>
        </p:xfrm>
        <a:graphic>
          <a:graphicData uri="http://schemas.openxmlformats.org/presentationml/2006/ole">
            <mc:AlternateContent xmlns:mc="http://schemas.openxmlformats.org/markup-compatibility/2006">
              <mc:Choice xmlns:v="urn:schemas-microsoft-com:vml" Requires="v">
                <p:oleObj spid="_x0000_s12474" name="公式" r:id="rId3" imgW="2997000" imgH="723600" progId="Equation.3">
                  <p:embed/>
                </p:oleObj>
              </mc:Choice>
              <mc:Fallback>
                <p:oleObj name="公式" r:id="rId3" imgW="2997000" imgH="72360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913" y="4597400"/>
                        <a:ext cx="6007100"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66" name="Object 78"/>
          <p:cNvGraphicFramePr>
            <a:graphicFrameLocks noChangeAspect="1"/>
          </p:cNvGraphicFramePr>
          <p:nvPr/>
        </p:nvGraphicFramePr>
        <p:xfrm>
          <a:off x="473075" y="6046788"/>
          <a:ext cx="5133975" cy="431800"/>
        </p:xfrm>
        <a:graphic>
          <a:graphicData uri="http://schemas.openxmlformats.org/presentationml/2006/ole">
            <mc:AlternateContent xmlns:mc="http://schemas.openxmlformats.org/markup-compatibility/2006">
              <mc:Choice xmlns:v="urn:schemas-microsoft-com:vml" Requires="v">
                <p:oleObj spid="_x0000_s12475" name="Equation" r:id="rId5" imgW="2552400" imgH="215640" progId="Equation.3">
                  <p:embed/>
                </p:oleObj>
              </mc:Choice>
              <mc:Fallback>
                <p:oleObj name="Equation" r:id="rId5" imgW="2552400" imgH="215640" progId="Equation.3">
                  <p:embed/>
                  <p:pic>
                    <p:nvPicPr>
                      <p:cNvPr id="0" name="Object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075" y="6046788"/>
                        <a:ext cx="51339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437" name="Group 149"/>
          <p:cNvGrpSpPr>
            <a:grpSpLocks/>
          </p:cNvGrpSpPr>
          <p:nvPr/>
        </p:nvGrpSpPr>
        <p:grpSpPr bwMode="auto">
          <a:xfrm>
            <a:off x="2519363" y="1452563"/>
            <a:ext cx="2693987" cy="3248025"/>
            <a:chOff x="1465" y="931"/>
            <a:chExt cx="1697" cy="2046"/>
          </a:xfrm>
        </p:grpSpPr>
        <p:sp>
          <p:nvSpPr>
            <p:cNvPr id="12339" name="Line 51"/>
            <p:cNvSpPr>
              <a:spLocks noChangeShapeType="1"/>
            </p:cNvSpPr>
            <p:nvPr/>
          </p:nvSpPr>
          <p:spPr bwMode="auto">
            <a:xfrm>
              <a:off x="2238" y="1333"/>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0" name="Line 52"/>
            <p:cNvSpPr>
              <a:spLocks noChangeShapeType="1"/>
            </p:cNvSpPr>
            <p:nvPr/>
          </p:nvSpPr>
          <p:spPr bwMode="auto">
            <a:xfrm>
              <a:off x="1634" y="1225"/>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1" name="Text Box 53"/>
            <p:cNvSpPr txBox="1">
              <a:spLocks noChangeArrowheads="1"/>
            </p:cNvSpPr>
            <p:nvPr/>
          </p:nvSpPr>
          <p:spPr bwMode="auto">
            <a:xfrm>
              <a:off x="1688" y="931"/>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endParaRPr lang="en-US" altLang="zh-CN" b="1"/>
            </a:p>
          </p:txBody>
        </p:sp>
        <p:sp>
          <p:nvSpPr>
            <p:cNvPr id="12342" name="Text Box 54"/>
            <p:cNvSpPr txBox="1">
              <a:spLocks noChangeArrowheads="1"/>
            </p:cNvSpPr>
            <p:nvPr/>
          </p:nvSpPr>
          <p:spPr bwMode="auto">
            <a:xfrm>
              <a:off x="2562" y="1261"/>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12343" name="Text Box 55"/>
            <p:cNvSpPr txBox="1">
              <a:spLocks noChangeArrowheads="1"/>
            </p:cNvSpPr>
            <p:nvPr/>
          </p:nvSpPr>
          <p:spPr bwMode="auto">
            <a:xfrm>
              <a:off x="2553" y="193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12344" name="Text Box 56"/>
            <p:cNvSpPr txBox="1">
              <a:spLocks noChangeArrowheads="1"/>
            </p:cNvSpPr>
            <p:nvPr/>
          </p:nvSpPr>
          <p:spPr bwMode="auto">
            <a:xfrm>
              <a:off x="2060" y="222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grpSp>
          <p:nvGrpSpPr>
            <p:cNvPr id="12345" name="Group 57"/>
            <p:cNvGrpSpPr>
              <a:grpSpLocks/>
            </p:cNvGrpSpPr>
            <p:nvPr/>
          </p:nvGrpSpPr>
          <p:grpSpPr bwMode="auto">
            <a:xfrm rot="5400000">
              <a:off x="2410" y="1614"/>
              <a:ext cx="379" cy="57"/>
              <a:chOff x="1200" y="1584"/>
              <a:chExt cx="379" cy="45"/>
            </a:xfrm>
          </p:grpSpPr>
          <p:sp>
            <p:nvSpPr>
              <p:cNvPr id="12346" name="Arc 5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7" name="Arc 5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8" name="Arc 6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9" name="Arc 6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50" name="Oval 62"/>
            <p:cNvSpPr>
              <a:spLocks noChangeArrowheads="1"/>
            </p:cNvSpPr>
            <p:nvPr/>
          </p:nvSpPr>
          <p:spPr bwMode="auto">
            <a:xfrm>
              <a:off x="1552" y="129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2" name="Line 64"/>
            <p:cNvSpPr>
              <a:spLocks noChangeShapeType="1"/>
            </p:cNvSpPr>
            <p:nvPr/>
          </p:nvSpPr>
          <p:spPr bwMode="auto">
            <a:xfrm>
              <a:off x="1620" y="2665"/>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354" name="Group 66"/>
            <p:cNvGrpSpPr>
              <a:grpSpLocks/>
            </p:cNvGrpSpPr>
            <p:nvPr/>
          </p:nvGrpSpPr>
          <p:grpSpPr bwMode="auto">
            <a:xfrm rot="5400000">
              <a:off x="2401" y="2295"/>
              <a:ext cx="379" cy="57"/>
              <a:chOff x="1200" y="1584"/>
              <a:chExt cx="379" cy="45"/>
            </a:xfrm>
          </p:grpSpPr>
          <p:sp>
            <p:nvSpPr>
              <p:cNvPr id="12355" name="Arc 6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6" name="Arc 6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7" name="Arc 6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8" name="Arc 7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60" name="Oval 72"/>
            <p:cNvSpPr>
              <a:spLocks noChangeArrowheads="1"/>
            </p:cNvSpPr>
            <p:nvPr/>
          </p:nvSpPr>
          <p:spPr bwMode="auto">
            <a:xfrm>
              <a:off x="1544" y="262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1" name="Arc 73"/>
            <p:cNvSpPr>
              <a:spLocks/>
            </p:cNvSpPr>
            <p:nvPr/>
          </p:nvSpPr>
          <p:spPr bwMode="auto">
            <a:xfrm rot="5400000">
              <a:off x="2672" y="1915"/>
              <a:ext cx="324" cy="281"/>
            </a:xfrm>
            <a:custGeom>
              <a:avLst/>
              <a:gdLst>
                <a:gd name="G0" fmla="+- 0 0 0"/>
                <a:gd name="G1" fmla="+- 21600 0 0"/>
                <a:gd name="G2" fmla="+- 21600 0 0"/>
                <a:gd name="T0" fmla="*/ 0 w 19335"/>
                <a:gd name="T1" fmla="*/ 0 h 21600"/>
                <a:gd name="T2" fmla="*/ 19335 w 19335"/>
                <a:gd name="T3" fmla="*/ 11971 h 21600"/>
                <a:gd name="T4" fmla="*/ 0 w 19335"/>
                <a:gd name="T5" fmla="*/ 21600 h 21600"/>
              </a:gdLst>
              <a:ahLst/>
              <a:cxnLst>
                <a:cxn ang="0">
                  <a:pos x="T0" y="T1"/>
                </a:cxn>
                <a:cxn ang="0">
                  <a:pos x="T2" y="T3"/>
                </a:cxn>
                <a:cxn ang="0">
                  <a:pos x="T4" y="T5"/>
                </a:cxn>
              </a:cxnLst>
              <a:rect l="0" t="0" r="r" b="b"/>
              <a:pathLst>
                <a:path w="19335" h="21600" fill="none" extrusionOk="0">
                  <a:moveTo>
                    <a:pt x="0" y="0"/>
                  </a:moveTo>
                  <a:cubicBezTo>
                    <a:pt x="8193" y="0"/>
                    <a:pt x="15682" y="4636"/>
                    <a:pt x="19335" y="11970"/>
                  </a:cubicBezTo>
                </a:path>
                <a:path w="19335" h="21600" stroke="0" extrusionOk="0">
                  <a:moveTo>
                    <a:pt x="0" y="0"/>
                  </a:moveTo>
                  <a:cubicBezTo>
                    <a:pt x="8193" y="0"/>
                    <a:pt x="15682" y="4636"/>
                    <a:pt x="19335" y="1197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2" name="Arc 74"/>
            <p:cNvSpPr>
              <a:spLocks/>
            </p:cNvSpPr>
            <p:nvPr/>
          </p:nvSpPr>
          <p:spPr bwMode="auto">
            <a:xfrm rot="5400000" flipH="1">
              <a:off x="2651" y="1463"/>
              <a:ext cx="347" cy="281"/>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3" name="Text Box 75"/>
            <p:cNvSpPr txBox="1">
              <a:spLocks noChangeArrowheads="1"/>
            </p:cNvSpPr>
            <p:nvPr/>
          </p:nvSpPr>
          <p:spPr bwMode="auto">
            <a:xfrm>
              <a:off x="2292" y="196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64" name="Text Box 76"/>
            <p:cNvSpPr txBox="1">
              <a:spLocks noChangeArrowheads="1"/>
            </p:cNvSpPr>
            <p:nvPr/>
          </p:nvSpPr>
          <p:spPr bwMode="auto">
            <a:xfrm>
              <a:off x="1712" y="238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65" name="Text Box 77"/>
            <p:cNvSpPr txBox="1">
              <a:spLocks noChangeArrowheads="1"/>
            </p:cNvSpPr>
            <p:nvPr/>
          </p:nvSpPr>
          <p:spPr bwMode="auto">
            <a:xfrm>
              <a:off x="2874" y="1633"/>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M</a:t>
              </a:r>
              <a:endParaRPr lang="en-US" altLang="zh-CN" b="1"/>
            </a:p>
          </p:txBody>
        </p:sp>
        <p:sp>
          <p:nvSpPr>
            <p:cNvPr id="12367" name="Rectangle 79"/>
            <p:cNvSpPr>
              <a:spLocks noChangeArrowheads="1"/>
            </p:cNvSpPr>
            <p:nvPr/>
          </p:nvSpPr>
          <p:spPr bwMode="auto">
            <a:xfrm>
              <a:off x="1952" y="2601"/>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8" name="Rectangle 80"/>
            <p:cNvSpPr>
              <a:spLocks noChangeArrowheads="1"/>
            </p:cNvSpPr>
            <p:nvPr/>
          </p:nvSpPr>
          <p:spPr bwMode="auto">
            <a:xfrm>
              <a:off x="1934" y="1276"/>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9" name="Line 81"/>
            <p:cNvSpPr>
              <a:spLocks noChangeShapeType="1"/>
            </p:cNvSpPr>
            <p:nvPr/>
          </p:nvSpPr>
          <p:spPr bwMode="auto">
            <a:xfrm>
              <a:off x="1620" y="1333"/>
              <a:ext cx="3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0" name="Text Box 82"/>
            <p:cNvSpPr txBox="1">
              <a:spLocks noChangeArrowheads="1"/>
            </p:cNvSpPr>
            <p:nvPr/>
          </p:nvSpPr>
          <p:spPr bwMode="auto">
            <a:xfrm>
              <a:off x="1964" y="970"/>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1</a:t>
              </a:r>
              <a:endParaRPr lang="en-US" altLang="zh-CN" b="1"/>
            </a:p>
          </p:txBody>
        </p:sp>
        <p:sp>
          <p:nvSpPr>
            <p:cNvPr id="12371" name="Text Box 83"/>
            <p:cNvSpPr txBox="1">
              <a:spLocks noChangeArrowheads="1"/>
            </p:cNvSpPr>
            <p:nvPr/>
          </p:nvSpPr>
          <p:spPr bwMode="auto">
            <a:xfrm>
              <a:off x="1964" y="2689"/>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2</a:t>
              </a:r>
              <a:endParaRPr lang="en-US" altLang="zh-CN" b="1"/>
            </a:p>
          </p:txBody>
        </p:sp>
        <p:sp>
          <p:nvSpPr>
            <p:cNvPr id="12372" name="Text Box 84"/>
            <p:cNvSpPr txBox="1">
              <a:spLocks noChangeArrowheads="1"/>
            </p:cNvSpPr>
            <p:nvPr/>
          </p:nvSpPr>
          <p:spPr bwMode="auto">
            <a:xfrm>
              <a:off x="2646" y="1495"/>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r>
                <a:rPr lang="en-US" altLang="zh-CN" b="1" baseline="-25000"/>
                <a:t>1</a:t>
              </a:r>
              <a:endParaRPr lang="en-US" altLang="zh-CN" b="1"/>
            </a:p>
          </p:txBody>
        </p:sp>
        <p:sp>
          <p:nvSpPr>
            <p:cNvPr id="12373" name="Text Box 85"/>
            <p:cNvSpPr txBox="1">
              <a:spLocks noChangeArrowheads="1"/>
            </p:cNvSpPr>
            <p:nvPr/>
          </p:nvSpPr>
          <p:spPr bwMode="auto">
            <a:xfrm>
              <a:off x="2610" y="2176"/>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r>
                <a:rPr lang="en-US" altLang="zh-CN" b="1" baseline="-25000"/>
                <a:t>2</a:t>
              </a:r>
              <a:endParaRPr lang="en-US" altLang="zh-CN" b="1"/>
            </a:p>
          </p:txBody>
        </p:sp>
        <p:sp>
          <p:nvSpPr>
            <p:cNvPr id="12374" name="Text Box 86"/>
            <p:cNvSpPr txBox="1">
              <a:spLocks noChangeArrowheads="1"/>
            </p:cNvSpPr>
            <p:nvPr/>
          </p:nvSpPr>
          <p:spPr bwMode="auto">
            <a:xfrm>
              <a:off x="2060" y="1495"/>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12377" name="Text Box 89"/>
            <p:cNvSpPr txBox="1">
              <a:spLocks noChangeArrowheads="1"/>
            </p:cNvSpPr>
            <p:nvPr/>
          </p:nvSpPr>
          <p:spPr bwMode="auto">
            <a:xfrm>
              <a:off x="1736" y="130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78" name="Text Box 90"/>
            <p:cNvSpPr txBox="1">
              <a:spLocks noChangeArrowheads="1"/>
            </p:cNvSpPr>
            <p:nvPr/>
          </p:nvSpPr>
          <p:spPr bwMode="auto">
            <a:xfrm>
              <a:off x="2286" y="174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79" name="Text Box 91"/>
            <p:cNvSpPr txBox="1">
              <a:spLocks noChangeArrowheads="1"/>
            </p:cNvSpPr>
            <p:nvPr/>
          </p:nvSpPr>
          <p:spPr bwMode="auto">
            <a:xfrm>
              <a:off x="1465" y="1819"/>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endParaRPr lang="en-US" altLang="zh-CN" b="1"/>
            </a:p>
          </p:txBody>
        </p:sp>
        <p:sp>
          <p:nvSpPr>
            <p:cNvPr id="12382" name="Text Box 94"/>
            <p:cNvSpPr txBox="1">
              <a:spLocks noChangeArrowheads="1"/>
            </p:cNvSpPr>
            <p:nvPr/>
          </p:nvSpPr>
          <p:spPr bwMode="auto">
            <a:xfrm>
              <a:off x="1472" y="1345"/>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83" name="Text Box 95"/>
            <p:cNvSpPr txBox="1">
              <a:spLocks noChangeArrowheads="1"/>
            </p:cNvSpPr>
            <p:nvPr/>
          </p:nvSpPr>
          <p:spPr bwMode="auto">
            <a:xfrm>
              <a:off x="1466" y="2349"/>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384" name="Line 96"/>
            <p:cNvSpPr>
              <a:spLocks noChangeShapeType="1"/>
            </p:cNvSpPr>
            <p:nvPr/>
          </p:nvSpPr>
          <p:spPr bwMode="auto">
            <a:xfrm flipH="1">
              <a:off x="2570" y="1327"/>
              <a:ext cx="0" cy="1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5" name="Line 97"/>
            <p:cNvSpPr>
              <a:spLocks noChangeShapeType="1"/>
            </p:cNvSpPr>
            <p:nvPr/>
          </p:nvSpPr>
          <p:spPr bwMode="auto">
            <a:xfrm>
              <a:off x="2570" y="1838"/>
              <a:ext cx="0" cy="2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6" name="Line 98"/>
            <p:cNvSpPr>
              <a:spLocks noChangeShapeType="1"/>
            </p:cNvSpPr>
            <p:nvPr/>
          </p:nvSpPr>
          <p:spPr bwMode="auto">
            <a:xfrm>
              <a:off x="2562" y="2513"/>
              <a:ext cx="0"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7" name="Line 99"/>
            <p:cNvSpPr>
              <a:spLocks noChangeShapeType="1"/>
            </p:cNvSpPr>
            <p:nvPr/>
          </p:nvSpPr>
          <p:spPr bwMode="auto">
            <a:xfrm>
              <a:off x="2256" y="2665"/>
              <a:ext cx="3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88" name="AutoShape 100"/>
          <p:cNvSpPr>
            <a:spLocks noChangeArrowheads="1"/>
          </p:cNvSpPr>
          <p:nvPr/>
        </p:nvSpPr>
        <p:spPr bwMode="auto">
          <a:xfrm>
            <a:off x="5276850" y="2765425"/>
            <a:ext cx="581025" cy="328613"/>
          </a:xfrm>
          <a:prstGeom prst="rightArrow">
            <a:avLst>
              <a:gd name="adj1" fmla="val 50000"/>
              <a:gd name="adj2" fmla="val 44203"/>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438" name="Group 150"/>
          <p:cNvGrpSpPr>
            <a:grpSpLocks/>
          </p:cNvGrpSpPr>
          <p:nvPr/>
        </p:nvGrpSpPr>
        <p:grpSpPr bwMode="auto">
          <a:xfrm>
            <a:off x="6202363" y="1254125"/>
            <a:ext cx="1997075" cy="2800350"/>
            <a:chOff x="3907" y="925"/>
            <a:chExt cx="1258" cy="1764"/>
          </a:xfrm>
        </p:grpSpPr>
        <p:sp>
          <p:nvSpPr>
            <p:cNvPr id="12394" name="Line 106"/>
            <p:cNvSpPr>
              <a:spLocks noChangeShapeType="1"/>
            </p:cNvSpPr>
            <p:nvPr/>
          </p:nvSpPr>
          <p:spPr bwMode="auto">
            <a:xfrm>
              <a:off x="4064" y="1327"/>
              <a:ext cx="71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5" name="Line 107"/>
            <p:cNvSpPr>
              <a:spLocks noChangeShapeType="1"/>
            </p:cNvSpPr>
            <p:nvPr/>
          </p:nvSpPr>
          <p:spPr bwMode="auto">
            <a:xfrm>
              <a:off x="4147" y="1219"/>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6" name="Text Box 108"/>
            <p:cNvSpPr txBox="1">
              <a:spLocks noChangeArrowheads="1"/>
            </p:cNvSpPr>
            <p:nvPr/>
          </p:nvSpPr>
          <p:spPr bwMode="auto">
            <a:xfrm>
              <a:off x="4195" y="925"/>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endParaRPr lang="en-US" altLang="zh-CN" b="1"/>
            </a:p>
          </p:txBody>
        </p:sp>
        <p:sp>
          <p:nvSpPr>
            <p:cNvPr id="12405" name="Oval 117"/>
            <p:cNvSpPr>
              <a:spLocks noChangeArrowheads="1"/>
            </p:cNvSpPr>
            <p:nvPr/>
          </p:nvSpPr>
          <p:spPr bwMode="auto">
            <a:xfrm>
              <a:off x="3990" y="129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407" name="Group 119"/>
            <p:cNvGrpSpPr>
              <a:grpSpLocks/>
            </p:cNvGrpSpPr>
            <p:nvPr/>
          </p:nvGrpSpPr>
          <p:grpSpPr bwMode="auto">
            <a:xfrm rot="5400000">
              <a:off x="4608" y="2253"/>
              <a:ext cx="379" cy="57"/>
              <a:chOff x="1200" y="1584"/>
              <a:chExt cx="379" cy="45"/>
            </a:xfrm>
          </p:grpSpPr>
          <p:sp>
            <p:nvSpPr>
              <p:cNvPr id="12408" name="Arc 1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09" name="Arc 1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0" name="Arc 1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1" name="Arc 1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412" name="Oval 124"/>
            <p:cNvSpPr>
              <a:spLocks noChangeArrowheads="1"/>
            </p:cNvSpPr>
            <p:nvPr/>
          </p:nvSpPr>
          <p:spPr bwMode="auto">
            <a:xfrm>
              <a:off x="3978" y="262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19" name="Rectangle 131"/>
            <p:cNvSpPr>
              <a:spLocks noChangeArrowheads="1"/>
            </p:cNvSpPr>
            <p:nvPr/>
          </p:nvSpPr>
          <p:spPr bwMode="auto">
            <a:xfrm rot="5400000">
              <a:off x="4621" y="1618"/>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21" name="Text Box 133"/>
            <p:cNvSpPr txBox="1">
              <a:spLocks noChangeArrowheads="1"/>
            </p:cNvSpPr>
            <p:nvPr/>
          </p:nvSpPr>
          <p:spPr bwMode="auto">
            <a:xfrm>
              <a:off x="4853" y="1535"/>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endParaRPr lang="en-US" altLang="zh-CN" b="1"/>
            </a:p>
          </p:txBody>
        </p:sp>
        <p:sp>
          <p:nvSpPr>
            <p:cNvPr id="12423" name="Text Box 135"/>
            <p:cNvSpPr txBox="1">
              <a:spLocks noChangeArrowheads="1"/>
            </p:cNvSpPr>
            <p:nvPr/>
          </p:nvSpPr>
          <p:spPr bwMode="auto">
            <a:xfrm>
              <a:off x="4853" y="2134"/>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endParaRPr lang="en-US" altLang="zh-CN" b="1"/>
            </a:p>
          </p:txBody>
        </p:sp>
        <p:sp>
          <p:nvSpPr>
            <p:cNvPr id="12428" name="Text Box 140"/>
            <p:cNvSpPr txBox="1">
              <a:spLocks noChangeArrowheads="1"/>
            </p:cNvSpPr>
            <p:nvPr/>
          </p:nvSpPr>
          <p:spPr bwMode="auto">
            <a:xfrm>
              <a:off x="3907" y="184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endParaRPr lang="en-US" altLang="zh-CN" b="1"/>
            </a:p>
          </p:txBody>
        </p:sp>
        <p:sp>
          <p:nvSpPr>
            <p:cNvPr id="12429" name="Text Box 141"/>
            <p:cNvSpPr txBox="1">
              <a:spLocks noChangeArrowheads="1"/>
            </p:cNvSpPr>
            <p:nvPr/>
          </p:nvSpPr>
          <p:spPr bwMode="auto">
            <a:xfrm>
              <a:off x="3907" y="133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430" name="Text Box 142"/>
            <p:cNvSpPr txBox="1">
              <a:spLocks noChangeArrowheads="1"/>
            </p:cNvSpPr>
            <p:nvPr/>
          </p:nvSpPr>
          <p:spPr bwMode="auto">
            <a:xfrm>
              <a:off x="3907" y="2313"/>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2431" name="Line 143"/>
            <p:cNvSpPr>
              <a:spLocks noChangeShapeType="1"/>
            </p:cNvSpPr>
            <p:nvPr/>
          </p:nvSpPr>
          <p:spPr bwMode="auto">
            <a:xfrm flipH="1">
              <a:off x="4777" y="1321"/>
              <a:ext cx="0" cy="1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32" name="Line 144"/>
            <p:cNvSpPr>
              <a:spLocks noChangeShapeType="1"/>
            </p:cNvSpPr>
            <p:nvPr/>
          </p:nvSpPr>
          <p:spPr bwMode="auto">
            <a:xfrm flipH="1">
              <a:off x="4777" y="1832"/>
              <a:ext cx="0" cy="2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33" name="Line 145"/>
            <p:cNvSpPr>
              <a:spLocks noChangeShapeType="1"/>
            </p:cNvSpPr>
            <p:nvPr/>
          </p:nvSpPr>
          <p:spPr bwMode="auto">
            <a:xfrm>
              <a:off x="4768" y="2464"/>
              <a:ext cx="1" cy="1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34" name="Line 146"/>
            <p:cNvSpPr>
              <a:spLocks noChangeShapeType="1"/>
            </p:cNvSpPr>
            <p:nvPr/>
          </p:nvSpPr>
          <p:spPr bwMode="auto">
            <a:xfrm>
              <a:off x="4046" y="2659"/>
              <a:ext cx="7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439" name="Text Box 151"/>
          <p:cNvSpPr txBox="1">
            <a:spLocks noChangeArrowheads="1"/>
          </p:cNvSpPr>
          <p:nvPr/>
        </p:nvSpPr>
        <p:spPr bwMode="auto">
          <a:xfrm>
            <a:off x="1204913" y="2125663"/>
            <a:ext cx="928687"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zh-CN" altLang="en-US" b="1">
                <a:solidFill>
                  <a:schemeClr val="accent2"/>
                </a:solidFill>
              </a:rPr>
              <a:t>时域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291"/>
                                        </p:tgtEl>
                                        <p:attrNameLst>
                                          <p:attrName>style.visibility</p:attrName>
                                        </p:attrNameLst>
                                      </p:cBhvr>
                                      <p:to>
                                        <p:strVal val="visible"/>
                                      </p:to>
                                    </p:set>
                                    <p:anim calcmode="lin" valueType="num">
                                      <p:cBhvr additive="base">
                                        <p:cTn id="12" dur="500" fill="hold"/>
                                        <p:tgtEl>
                                          <p:spTgt spid="12291"/>
                                        </p:tgtEl>
                                        <p:attrNameLst>
                                          <p:attrName>ppt_x</p:attrName>
                                        </p:attrNameLst>
                                      </p:cBhvr>
                                      <p:tavLst>
                                        <p:tav tm="0">
                                          <p:val>
                                            <p:strVal val="0-#ppt_w/2"/>
                                          </p:val>
                                        </p:tav>
                                        <p:tav tm="100000">
                                          <p:val>
                                            <p:strVal val="#ppt_x"/>
                                          </p:val>
                                        </p:tav>
                                      </p:tavLst>
                                    </p:anim>
                                    <p:anim calcmode="lin" valueType="num">
                                      <p:cBhvr additive="base">
                                        <p:cTn id="13" dur="500" fill="hold"/>
                                        <p:tgtEl>
                                          <p:spTgt spid="12291"/>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292"/>
                                        </p:tgtEl>
                                        <p:attrNameLst>
                                          <p:attrName>style.visibility</p:attrName>
                                        </p:attrNameLst>
                                      </p:cBhvr>
                                      <p:to>
                                        <p:strVal val="visible"/>
                                      </p:to>
                                    </p:set>
                                    <p:anim calcmode="lin" valueType="num">
                                      <p:cBhvr additive="base">
                                        <p:cTn id="18" dur="500" fill="hold"/>
                                        <p:tgtEl>
                                          <p:spTgt spid="12292"/>
                                        </p:tgtEl>
                                        <p:attrNameLst>
                                          <p:attrName>ppt_x</p:attrName>
                                        </p:attrNameLst>
                                      </p:cBhvr>
                                      <p:tavLst>
                                        <p:tav tm="0">
                                          <p:val>
                                            <p:strVal val="0-#ppt_w/2"/>
                                          </p:val>
                                        </p:tav>
                                        <p:tav tm="100000">
                                          <p:val>
                                            <p:strVal val="#ppt_x"/>
                                          </p:val>
                                        </p:tav>
                                      </p:tavLst>
                                    </p:anim>
                                    <p:anim calcmode="lin" valueType="num">
                                      <p:cBhvr additive="base">
                                        <p:cTn id="19" dur="500" fill="hold"/>
                                        <p:tgtEl>
                                          <p:spTgt spid="1229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2439">
                                            <p:txEl>
                                              <p:pRg st="0" end="0"/>
                                            </p:txEl>
                                          </p:spTgt>
                                        </p:tgtEl>
                                        <p:attrNameLst>
                                          <p:attrName>style.visibility</p:attrName>
                                        </p:attrNameLst>
                                      </p:cBhvr>
                                      <p:to>
                                        <p:strVal val="visible"/>
                                      </p:to>
                                    </p:set>
                                    <p:anim calcmode="lin" valueType="num">
                                      <p:cBhvr additive="base">
                                        <p:cTn id="24" dur="500" fill="hold"/>
                                        <p:tgtEl>
                                          <p:spTgt spid="12439">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24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12437"/>
                                        </p:tgtEl>
                                        <p:attrNameLst>
                                          <p:attrName>style.visibility</p:attrName>
                                        </p:attrNameLst>
                                      </p:cBhvr>
                                      <p:to>
                                        <p:strVal val="visible"/>
                                      </p:to>
                                    </p:set>
                                    <p:anim calcmode="lin" valueType="num">
                                      <p:cBhvr>
                                        <p:cTn id="30" dur="500" fill="hold"/>
                                        <p:tgtEl>
                                          <p:spTgt spid="12437"/>
                                        </p:tgtEl>
                                        <p:attrNameLst>
                                          <p:attrName>ppt_w</p:attrName>
                                        </p:attrNameLst>
                                      </p:cBhvr>
                                      <p:tavLst>
                                        <p:tav tm="0">
                                          <p:val>
                                            <p:fltVal val="0"/>
                                          </p:val>
                                        </p:tav>
                                        <p:tav tm="100000">
                                          <p:val>
                                            <p:strVal val="#ppt_w"/>
                                          </p:val>
                                        </p:tav>
                                      </p:tavLst>
                                    </p:anim>
                                    <p:anim calcmode="lin" valueType="num">
                                      <p:cBhvr>
                                        <p:cTn id="31" dur="500" fill="hold"/>
                                        <p:tgtEl>
                                          <p:spTgt spid="12437"/>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 fill="hold" nodeType="clickEffect">
                                  <p:stCondLst>
                                    <p:cond delay="0"/>
                                  </p:stCondLst>
                                  <p:childTnLst>
                                    <p:set>
                                      <p:cBhvr>
                                        <p:cTn id="35" dur="1" fill="hold">
                                          <p:stCondLst>
                                            <p:cond delay="0"/>
                                          </p:stCondLst>
                                        </p:cTn>
                                        <p:tgtEl>
                                          <p:spTgt spid="12314"/>
                                        </p:tgtEl>
                                        <p:attrNameLst>
                                          <p:attrName>style.visibility</p:attrName>
                                        </p:attrNameLst>
                                      </p:cBhvr>
                                      <p:to>
                                        <p:strVal val="visible"/>
                                      </p:to>
                                    </p:set>
                                    <p:anim calcmode="lin" valueType="num">
                                      <p:cBhvr>
                                        <p:cTn id="36" dur="500" fill="hold"/>
                                        <p:tgtEl>
                                          <p:spTgt spid="12314"/>
                                        </p:tgtEl>
                                        <p:attrNameLst>
                                          <p:attrName>ppt_x</p:attrName>
                                        </p:attrNameLst>
                                      </p:cBhvr>
                                      <p:tavLst>
                                        <p:tav tm="0">
                                          <p:val>
                                            <p:strVal val="#ppt_x"/>
                                          </p:val>
                                        </p:tav>
                                        <p:tav tm="100000">
                                          <p:val>
                                            <p:strVal val="#ppt_x"/>
                                          </p:val>
                                        </p:tav>
                                      </p:tavLst>
                                    </p:anim>
                                    <p:anim calcmode="lin" valueType="num">
                                      <p:cBhvr>
                                        <p:cTn id="37" dur="500" fill="hold"/>
                                        <p:tgtEl>
                                          <p:spTgt spid="12314"/>
                                        </p:tgtEl>
                                        <p:attrNameLst>
                                          <p:attrName>ppt_y</p:attrName>
                                        </p:attrNameLst>
                                      </p:cBhvr>
                                      <p:tavLst>
                                        <p:tav tm="0">
                                          <p:val>
                                            <p:strVal val="#ppt_y-#ppt_h/2"/>
                                          </p:val>
                                        </p:tav>
                                        <p:tav tm="100000">
                                          <p:val>
                                            <p:strVal val="#ppt_y"/>
                                          </p:val>
                                        </p:tav>
                                      </p:tavLst>
                                    </p:anim>
                                    <p:anim calcmode="lin" valueType="num">
                                      <p:cBhvr>
                                        <p:cTn id="38" dur="500" fill="hold"/>
                                        <p:tgtEl>
                                          <p:spTgt spid="12314"/>
                                        </p:tgtEl>
                                        <p:attrNameLst>
                                          <p:attrName>ppt_w</p:attrName>
                                        </p:attrNameLst>
                                      </p:cBhvr>
                                      <p:tavLst>
                                        <p:tav tm="0">
                                          <p:val>
                                            <p:strVal val="#ppt_w"/>
                                          </p:val>
                                        </p:tav>
                                        <p:tav tm="100000">
                                          <p:val>
                                            <p:strVal val="#ppt_w"/>
                                          </p:val>
                                        </p:tav>
                                      </p:tavLst>
                                    </p:anim>
                                    <p:anim calcmode="lin" valueType="num">
                                      <p:cBhvr>
                                        <p:cTn id="39" dur="500" fill="hold"/>
                                        <p:tgtEl>
                                          <p:spTgt spid="12314"/>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 fill="hold" nodeType="clickEffect">
                                  <p:stCondLst>
                                    <p:cond delay="0"/>
                                  </p:stCondLst>
                                  <p:childTnLst>
                                    <p:set>
                                      <p:cBhvr>
                                        <p:cTn id="43" dur="1" fill="hold">
                                          <p:stCondLst>
                                            <p:cond delay="0"/>
                                          </p:stCondLst>
                                        </p:cTn>
                                        <p:tgtEl>
                                          <p:spTgt spid="12366"/>
                                        </p:tgtEl>
                                        <p:attrNameLst>
                                          <p:attrName>style.visibility</p:attrName>
                                        </p:attrNameLst>
                                      </p:cBhvr>
                                      <p:to>
                                        <p:strVal val="visible"/>
                                      </p:to>
                                    </p:set>
                                    <p:anim calcmode="lin" valueType="num">
                                      <p:cBhvr>
                                        <p:cTn id="44" dur="500" fill="hold"/>
                                        <p:tgtEl>
                                          <p:spTgt spid="12366"/>
                                        </p:tgtEl>
                                        <p:attrNameLst>
                                          <p:attrName>ppt_x</p:attrName>
                                        </p:attrNameLst>
                                      </p:cBhvr>
                                      <p:tavLst>
                                        <p:tav tm="0">
                                          <p:val>
                                            <p:strVal val="#ppt_x"/>
                                          </p:val>
                                        </p:tav>
                                        <p:tav tm="100000">
                                          <p:val>
                                            <p:strVal val="#ppt_x"/>
                                          </p:val>
                                        </p:tav>
                                      </p:tavLst>
                                    </p:anim>
                                    <p:anim calcmode="lin" valueType="num">
                                      <p:cBhvr>
                                        <p:cTn id="45" dur="500" fill="hold"/>
                                        <p:tgtEl>
                                          <p:spTgt spid="12366"/>
                                        </p:tgtEl>
                                        <p:attrNameLst>
                                          <p:attrName>ppt_y</p:attrName>
                                        </p:attrNameLst>
                                      </p:cBhvr>
                                      <p:tavLst>
                                        <p:tav tm="0">
                                          <p:val>
                                            <p:strVal val="#ppt_y-#ppt_h/2"/>
                                          </p:val>
                                        </p:tav>
                                        <p:tav tm="100000">
                                          <p:val>
                                            <p:strVal val="#ppt_y"/>
                                          </p:val>
                                        </p:tav>
                                      </p:tavLst>
                                    </p:anim>
                                    <p:anim calcmode="lin" valueType="num">
                                      <p:cBhvr>
                                        <p:cTn id="46" dur="500" fill="hold"/>
                                        <p:tgtEl>
                                          <p:spTgt spid="12366"/>
                                        </p:tgtEl>
                                        <p:attrNameLst>
                                          <p:attrName>ppt_w</p:attrName>
                                        </p:attrNameLst>
                                      </p:cBhvr>
                                      <p:tavLst>
                                        <p:tav tm="0">
                                          <p:val>
                                            <p:strVal val="#ppt_w"/>
                                          </p:val>
                                        </p:tav>
                                        <p:tav tm="100000">
                                          <p:val>
                                            <p:strVal val="#ppt_w"/>
                                          </p:val>
                                        </p:tav>
                                      </p:tavLst>
                                    </p:anim>
                                    <p:anim calcmode="lin" valueType="num">
                                      <p:cBhvr>
                                        <p:cTn id="47" dur="500" fill="hold"/>
                                        <p:tgtEl>
                                          <p:spTgt spid="12366"/>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8" fill="hold" nodeType="clickEffect">
                                  <p:stCondLst>
                                    <p:cond delay="0"/>
                                  </p:stCondLst>
                                  <p:childTnLst>
                                    <p:set>
                                      <p:cBhvr>
                                        <p:cTn id="51" dur="1" fill="hold">
                                          <p:stCondLst>
                                            <p:cond delay="0"/>
                                          </p:stCondLst>
                                        </p:cTn>
                                        <p:tgtEl>
                                          <p:spTgt spid="12388"/>
                                        </p:tgtEl>
                                        <p:attrNameLst>
                                          <p:attrName>style.visibility</p:attrName>
                                        </p:attrNameLst>
                                      </p:cBhvr>
                                      <p:to>
                                        <p:strVal val="visible"/>
                                      </p:to>
                                    </p:set>
                                    <p:animEffect transition="in" filter="slide(fromLeft)">
                                      <p:cBhvr>
                                        <p:cTn id="52" dur="500"/>
                                        <p:tgtEl>
                                          <p:spTgt spid="123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12438"/>
                                        </p:tgtEl>
                                        <p:attrNameLst>
                                          <p:attrName>style.visibility</p:attrName>
                                        </p:attrNameLst>
                                      </p:cBhvr>
                                      <p:to>
                                        <p:strVal val="visible"/>
                                      </p:to>
                                    </p:set>
                                    <p:animEffect transition="in" filter="slide(fromLeft)">
                                      <p:cBhvr>
                                        <p:cTn id="57" dur="500"/>
                                        <p:tgtEl>
                                          <p:spTgt spid="1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autoUpdateAnimBg="0"/>
      <p:bldP spid="12291" grpId="0" autoUpdateAnimBg="0"/>
      <p:bldP spid="12292" grpId="0" autoUpdateAnimBg="0"/>
      <p:bldP spid="1243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609600" y="381000"/>
            <a:ext cx="2354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在正弦稳态下</a:t>
            </a:r>
          </a:p>
        </p:txBody>
      </p:sp>
      <p:grpSp>
        <p:nvGrpSpPr>
          <p:cNvPr id="88156" name="Group 92"/>
          <p:cNvGrpSpPr>
            <a:grpSpLocks/>
          </p:cNvGrpSpPr>
          <p:nvPr/>
        </p:nvGrpSpPr>
        <p:grpSpPr bwMode="auto">
          <a:xfrm>
            <a:off x="1792288" y="700088"/>
            <a:ext cx="4556125" cy="1792287"/>
            <a:chOff x="1129" y="441"/>
            <a:chExt cx="2870" cy="1129"/>
          </a:xfrm>
        </p:grpSpPr>
        <p:sp>
          <p:nvSpPr>
            <p:cNvPr id="88068" name="Line 4"/>
            <p:cNvSpPr>
              <a:spLocks noChangeShapeType="1"/>
            </p:cNvSpPr>
            <p:nvPr/>
          </p:nvSpPr>
          <p:spPr bwMode="auto">
            <a:xfrm>
              <a:off x="1829" y="993"/>
              <a:ext cx="21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9" name="Line 5"/>
            <p:cNvSpPr>
              <a:spLocks noChangeShapeType="1"/>
            </p:cNvSpPr>
            <p:nvPr/>
          </p:nvSpPr>
          <p:spPr bwMode="auto">
            <a:xfrm>
              <a:off x="1225" y="885"/>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8072" name="Group 8"/>
            <p:cNvGrpSpPr>
              <a:grpSpLocks/>
            </p:cNvGrpSpPr>
            <p:nvPr/>
          </p:nvGrpSpPr>
          <p:grpSpPr bwMode="auto">
            <a:xfrm>
              <a:off x="2049" y="947"/>
              <a:ext cx="379" cy="57"/>
              <a:chOff x="1200" y="1584"/>
              <a:chExt cx="379" cy="45"/>
            </a:xfrm>
          </p:grpSpPr>
          <p:sp>
            <p:nvSpPr>
              <p:cNvPr id="88073" name="Arc 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4" name="Arc 1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5" name="Arc 1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6" name="Arc 1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8077" name="Oval 13"/>
            <p:cNvSpPr>
              <a:spLocks noChangeArrowheads="1"/>
            </p:cNvSpPr>
            <p:nvPr/>
          </p:nvSpPr>
          <p:spPr bwMode="auto">
            <a:xfrm>
              <a:off x="1143" y="95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8" name="Line 14"/>
            <p:cNvSpPr>
              <a:spLocks noChangeShapeType="1"/>
            </p:cNvSpPr>
            <p:nvPr/>
          </p:nvSpPr>
          <p:spPr bwMode="auto">
            <a:xfrm>
              <a:off x="3595" y="993"/>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8079" name="Group 15"/>
            <p:cNvGrpSpPr>
              <a:grpSpLocks/>
            </p:cNvGrpSpPr>
            <p:nvPr/>
          </p:nvGrpSpPr>
          <p:grpSpPr bwMode="auto">
            <a:xfrm>
              <a:off x="3216" y="940"/>
              <a:ext cx="379" cy="57"/>
              <a:chOff x="1200" y="1584"/>
              <a:chExt cx="379" cy="45"/>
            </a:xfrm>
          </p:grpSpPr>
          <p:sp>
            <p:nvSpPr>
              <p:cNvPr id="88080" name="Arc 1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1" name="Arc 1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2" name="Arc 1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3" name="Arc 1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8084" name="Oval 20"/>
            <p:cNvSpPr>
              <a:spLocks noChangeArrowheads="1"/>
            </p:cNvSpPr>
            <p:nvPr/>
          </p:nvSpPr>
          <p:spPr bwMode="auto">
            <a:xfrm>
              <a:off x="3927" y="955"/>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5" name="Arc 21"/>
            <p:cNvSpPr>
              <a:spLocks/>
            </p:cNvSpPr>
            <p:nvPr/>
          </p:nvSpPr>
          <p:spPr bwMode="auto">
            <a:xfrm>
              <a:off x="2754" y="600"/>
              <a:ext cx="324" cy="281"/>
            </a:xfrm>
            <a:custGeom>
              <a:avLst/>
              <a:gdLst>
                <a:gd name="G0" fmla="+- 0 0 0"/>
                <a:gd name="G1" fmla="+- 21600 0 0"/>
                <a:gd name="G2" fmla="+- 21600 0 0"/>
                <a:gd name="T0" fmla="*/ 0 w 19335"/>
                <a:gd name="T1" fmla="*/ 0 h 21600"/>
                <a:gd name="T2" fmla="*/ 19335 w 19335"/>
                <a:gd name="T3" fmla="*/ 11971 h 21600"/>
                <a:gd name="T4" fmla="*/ 0 w 19335"/>
                <a:gd name="T5" fmla="*/ 21600 h 21600"/>
              </a:gdLst>
              <a:ahLst/>
              <a:cxnLst>
                <a:cxn ang="0">
                  <a:pos x="T0" y="T1"/>
                </a:cxn>
                <a:cxn ang="0">
                  <a:pos x="T2" y="T3"/>
                </a:cxn>
                <a:cxn ang="0">
                  <a:pos x="T4" y="T5"/>
                </a:cxn>
              </a:cxnLst>
              <a:rect l="0" t="0" r="r" b="b"/>
              <a:pathLst>
                <a:path w="19335" h="21600" fill="none" extrusionOk="0">
                  <a:moveTo>
                    <a:pt x="0" y="0"/>
                  </a:moveTo>
                  <a:cubicBezTo>
                    <a:pt x="8193" y="0"/>
                    <a:pt x="15682" y="4636"/>
                    <a:pt x="19335" y="11970"/>
                  </a:cubicBezTo>
                </a:path>
                <a:path w="19335" h="21600" stroke="0" extrusionOk="0">
                  <a:moveTo>
                    <a:pt x="0" y="0"/>
                  </a:moveTo>
                  <a:cubicBezTo>
                    <a:pt x="8193" y="0"/>
                    <a:pt x="15682" y="4636"/>
                    <a:pt x="19335" y="1197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6" name="Arc 22"/>
            <p:cNvSpPr>
              <a:spLocks/>
            </p:cNvSpPr>
            <p:nvPr/>
          </p:nvSpPr>
          <p:spPr bwMode="auto">
            <a:xfrm rot="10800000" flipV="1">
              <a:off x="2020" y="607"/>
              <a:ext cx="347" cy="281"/>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7" name="Text Box 23"/>
            <p:cNvSpPr txBox="1">
              <a:spLocks noChangeArrowheads="1"/>
            </p:cNvSpPr>
            <p:nvPr/>
          </p:nvSpPr>
          <p:spPr bwMode="auto">
            <a:xfrm>
              <a:off x="2607" y="102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88" name="Text Box 24"/>
            <p:cNvSpPr txBox="1">
              <a:spLocks noChangeArrowheads="1"/>
            </p:cNvSpPr>
            <p:nvPr/>
          </p:nvSpPr>
          <p:spPr bwMode="auto">
            <a:xfrm>
              <a:off x="3595" y="1001"/>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89" name="Rectangle 25"/>
            <p:cNvSpPr>
              <a:spLocks noChangeArrowheads="1"/>
            </p:cNvSpPr>
            <p:nvPr/>
          </p:nvSpPr>
          <p:spPr bwMode="auto">
            <a:xfrm>
              <a:off x="2743" y="936"/>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0" name="Rectangle 26"/>
            <p:cNvSpPr>
              <a:spLocks noChangeArrowheads="1"/>
            </p:cNvSpPr>
            <p:nvPr/>
          </p:nvSpPr>
          <p:spPr bwMode="auto">
            <a:xfrm>
              <a:off x="1525" y="936"/>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1" name="Line 27"/>
            <p:cNvSpPr>
              <a:spLocks noChangeShapeType="1"/>
            </p:cNvSpPr>
            <p:nvPr/>
          </p:nvSpPr>
          <p:spPr bwMode="auto">
            <a:xfrm>
              <a:off x="1211" y="993"/>
              <a:ext cx="3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2" name="Text Box 28"/>
            <p:cNvSpPr txBox="1">
              <a:spLocks noChangeArrowheads="1"/>
            </p:cNvSpPr>
            <p:nvPr/>
          </p:nvSpPr>
          <p:spPr bwMode="auto">
            <a:xfrm>
              <a:off x="1555" y="630"/>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1</a:t>
              </a:r>
              <a:endParaRPr lang="en-US" altLang="zh-CN" b="1"/>
            </a:p>
          </p:txBody>
        </p:sp>
        <p:sp>
          <p:nvSpPr>
            <p:cNvPr id="88093" name="Text Box 29"/>
            <p:cNvSpPr txBox="1">
              <a:spLocks noChangeArrowheads="1"/>
            </p:cNvSpPr>
            <p:nvPr/>
          </p:nvSpPr>
          <p:spPr bwMode="auto">
            <a:xfrm>
              <a:off x="2744" y="639"/>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2</a:t>
              </a:r>
              <a:endParaRPr lang="en-US" altLang="zh-CN" b="1"/>
            </a:p>
          </p:txBody>
        </p:sp>
        <p:sp>
          <p:nvSpPr>
            <p:cNvPr id="88094" name="Text Box 30"/>
            <p:cNvSpPr txBox="1">
              <a:spLocks noChangeArrowheads="1"/>
            </p:cNvSpPr>
            <p:nvPr/>
          </p:nvSpPr>
          <p:spPr bwMode="auto">
            <a:xfrm>
              <a:off x="2047" y="663"/>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L</a:t>
              </a:r>
              <a:r>
                <a:rPr lang="en-US" altLang="zh-CN" b="1" baseline="-25000"/>
                <a:t>1</a:t>
              </a:r>
              <a:endParaRPr lang="en-US" altLang="zh-CN" b="1"/>
            </a:p>
          </p:txBody>
        </p:sp>
        <p:sp>
          <p:nvSpPr>
            <p:cNvPr id="88095" name="Text Box 31"/>
            <p:cNvSpPr txBox="1">
              <a:spLocks noChangeArrowheads="1"/>
            </p:cNvSpPr>
            <p:nvPr/>
          </p:nvSpPr>
          <p:spPr bwMode="auto">
            <a:xfrm>
              <a:off x="1315" y="106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96" name="Text Box 32"/>
            <p:cNvSpPr txBox="1">
              <a:spLocks noChangeArrowheads="1"/>
            </p:cNvSpPr>
            <p:nvPr/>
          </p:nvSpPr>
          <p:spPr bwMode="auto">
            <a:xfrm>
              <a:off x="2367" y="1023"/>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97" name="Text Box 33"/>
            <p:cNvSpPr txBox="1">
              <a:spLocks noChangeArrowheads="1"/>
            </p:cNvSpPr>
            <p:nvPr/>
          </p:nvSpPr>
          <p:spPr bwMode="auto">
            <a:xfrm>
              <a:off x="1129" y="128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98" name="Text Box 34"/>
            <p:cNvSpPr txBox="1">
              <a:spLocks noChangeArrowheads="1"/>
            </p:cNvSpPr>
            <p:nvPr/>
          </p:nvSpPr>
          <p:spPr bwMode="auto">
            <a:xfrm>
              <a:off x="3759" y="1233"/>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88099" name="Line 35"/>
            <p:cNvSpPr>
              <a:spLocks noChangeShapeType="1"/>
            </p:cNvSpPr>
            <p:nvPr/>
          </p:nvSpPr>
          <p:spPr bwMode="auto">
            <a:xfrm>
              <a:off x="3047" y="993"/>
              <a:ext cx="16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0" name="Line 36"/>
            <p:cNvSpPr>
              <a:spLocks noChangeShapeType="1"/>
            </p:cNvSpPr>
            <p:nvPr/>
          </p:nvSpPr>
          <p:spPr bwMode="auto">
            <a:xfrm flipV="1">
              <a:off x="2428" y="993"/>
              <a:ext cx="315"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1" name="Text Box 37"/>
            <p:cNvSpPr txBox="1">
              <a:spLocks noChangeArrowheads="1"/>
            </p:cNvSpPr>
            <p:nvPr/>
          </p:nvSpPr>
          <p:spPr bwMode="auto">
            <a:xfrm>
              <a:off x="3216" y="63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L</a:t>
              </a:r>
              <a:r>
                <a:rPr lang="en-US" altLang="zh-CN" b="1" baseline="-25000"/>
                <a:t>2</a:t>
              </a:r>
              <a:endParaRPr lang="en-US" altLang="zh-CN" b="1"/>
            </a:p>
          </p:txBody>
        </p:sp>
        <p:graphicFrame>
          <p:nvGraphicFramePr>
            <p:cNvPr id="88102" name="Object 38"/>
            <p:cNvGraphicFramePr>
              <a:graphicFrameLocks noChangeAspect="1"/>
            </p:cNvGraphicFramePr>
            <p:nvPr/>
          </p:nvGraphicFramePr>
          <p:xfrm>
            <a:off x="1812" y="1008"/>
            <a:ext cx="261" cy="294"/>
          </p:xfrm>
          <a:graphic>
            <a:graphicData uri="http://schemas.openxmlformats.org/presentationml/2006/ole">
              <mc:AlternateContent xmlns:mc="http://schemas.openxmlformats.org/markup-compatibility/2006">
                <mc:Choice xmlns:v="urn:schemas-microsoft-com:vml" Requires="v">
                  <p:oleObj spid="_x0000_s88400" name="Equation" r:id="rId3" imgW="203040" imgH="228600" progId="Equation.3">
                    <p:embed/>
                  </p:oleObj>
                </mc:Choice>
                <mc:Fallback>
                  <p:oleObj name="Equation" r:id="rId3" imgW="203040" imgH="228600" progId="Equation.3">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2" y="1008"/>
                          <a:ext cx="261"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3" name="Object 39"/>
            <p:cNvGraphicFramePr>
              <a:graphicFrameLocks noChangeAspect="1"/>
            </p:cNvGraphicFramePr>
            <p:nvPr/>
          </p:nvGraphicFramePr>
          <p:xfrm>
            <a:off x="3130" y="996"/>
            <a:ext cx="278" cy="294"/>
          </p:xfrm>
          <a:graphic>
            <a:graphicData uri="http://schemas.openxmlformats.org/presentationml/2006/ole">
              <mc:AlternateContent xmlns:mc="http://schemas.openxmlformats.org/markup-compatibility/2006">
                <mc:Choice xmlns:v="urn:schemas-microsoft-com:vml" Requires="v">
                  <p:oleObj spid="_x0000_s88401" name="Equation" r:id="rId5" imgW="215640" imgH="228600" progId="Equation.3">
                    <p:embed/>
                  </p:oleObj>
                </mc:Choice>
                <mc:Fallback>
                  <p:oleObj name="Equation" r:id="rId5" imgW="215640" imgH="228600" progId="Equation.3">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0" y="996"/>
                          <a:ext cx="278"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04" name="Text Box 40"/>
            <p:cNvSpPr txBox="1">
              <a:spLocks noChangeArrowheads="1"/>
            </p:cNvSpPr>
            <p:nvPr/>
          </p:nvSpPr>
          <p:spPr bwMode="auto">
            <a:xfrm>
              <a:off x="2269" y="441"/>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M</a:t>
              </a:r>
              <a:endParaRPr lang="en-US" altLang="zh-CN" b="1"/>
            </a:p>
          </p:txBody>
        </p:sp>
        <p:graphicFrame>
          <p:nvGraphicFramePr>
            <p:cNvPr id="88105" name="Object 41"/>
            <p:cNvGraphicFramePr>
              <a:graphicFrameLocks noChangeAspect="1"/>
            </p:cNvGraphicFramePr>
            <p:nvPr/>
          </p:nvGraphicFramePr>
          <p:xfrm>
            <a:off x="2389" y="1258"/>
            <a:ext cx="211" cy="262"/>
          </p:xfrm>
          <a:graphic>
            <a:graphicData uri="http://schemas.openxmlformats.org/presentationml/2006/ole">
              <mc:AlternateContent xmlns:mc="http://schemas.openxmlformats.org/markup-compatibility/2006">
                <mc:Choice xmlns:v="urn:schemas-microsoft-com:vml" Requires="v">
                  <p:oleObj spid="_x0000_s88402" name="Equation" r:id="rId7" imgW="164880" imgH="203040" progId="Equation.3">
                    <p:embed/>
                  </p:oleObj>
                </mc:Choice>
                <mc:Fallback>
                  <p:oleObj name="Equation" r:id="rId7" imgW="164880" imgH="203040"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9" y="1258"/>
                          <a:ext cx="211"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6" name="Object 42"/>
            <p:cNvGraphicFramePr>
              <a:graphicFrameLocks noChangeAspect="1"/>
            </p:cNvGraphicFramePr>
            <p:nvPr/>
          </p:nvGraphicFramePr>
          <p:xfrm>
            <a:off x="1267" y="571"/>
            <a:ext cx="162" cy="244"/>
          </p:xfrm>
          <a:graphic>
            <a:graphicData uri="http://schemas.openxmlformats.org/presentationml/2006/ole">
              <mc:AlternateContent xmlns:mc="http://schemas.openxmlformats.org/markup-compatibility/2006">
                <mc:Choice xmlns:v="urn:schemas-microsoft-com:vml" Requires="v">
                  <p:oleObj spid="_x0000_s88403" name="Equation" r:id="rId9" imgW="126720" imgH="190440" progId="Equation.3">
                    <p:embed/>
                  </p:oleObj>
                </mc:Choice>
                <mc:Fallback>
                  <p:oleObj name="Equation" r:id="rId9" imgW="126720" imgH="190440" progId="Equation.3">
                    <p:embed/>
                    <p:pic>
                      <p:nvPicPr>
                        <p:cNvPr id="0"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7" y="571"/>
                          <a:ext cx="162"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07" name="Text Box 43"/>
            <p:cNvSpPr txBox="1">
              <a:spLocks noChangeArrowheads="1"/>
            </p:cNvSpPr>
            <p:nvPr/>
          </p:nvSpPr>
          <p:spPr bwMode="auto">
            <a:xfrm>
              <a:off x="1867" y="783"/>
              <a:ext cx="3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sp>
          <p:nvSpPr>
            <p:cNvPr id="88108" name="Text Box 44"/>
            <p:cNvSpPr txBox="1">
              <a:spLocks noChangeArrowheads="1"/>
            </p:cNvSpPr>
            <p:nvPr/>
          </p:nvSpPr>
          <p:spPr bwMode="auto">
            <a:xfrm>
              <a:off x="3034" y="793"/>
              <a:ext cx="3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grpSp>
      <p:graphicFrame>
        <p:nvGraphicFramePr>
          <p:cNvPr id="88109" name="Object 45"/>
          <p:cNvGraphicFramePr>
            <a:graphicFrameLocks noChangeAspect="1"/>
          </p:cNvGraphicFramePr>
          <p:nvPr/>
        </p:nvGraphicFramePr>
        <p:xfrm>
          <a:off x="1538288" y="2452688"/>
          <a:ext cx="5422900" cy="455612"/>
        </p:xfrm>
        <a:graphic>
          <a:graphicData uri="http://schemas.openxmlformats.org/presentationml/2006/ole">
            <mc:AlternateContent xmlns:mc="http://schemas.openxmlformats.org/markup-compatibility/2006">
              <mc:Choice xmlns:v="urn:schemas-microsoft-com:vml" Requires="v">
                <p:oleObj spid="_x0000_s88404" name="Equation" r:id="rId11" imgW="2400120" imgH="228600" progId="Equation.3">
                  <p:embed/>
                </p:oleObj>
              </mc:Choice>
              <mc:Fallback>
                <p:oleObj name="Equation" r:id="rId11" imgW="2400120" imgH="228600" progId="Equation.3">
                  <p:embed/>
                  <p:pic>
                    <p:nvPicPr>
                      <p:cNvPr id="0" name="Object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8288" y="2452688"/>
                        <a:ext cx="54229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159" name="Group 95"/>
          <p:cNvGrpSpPr>
            <a:grpSpLocks/>
          </p:cNvGrpSpPr>
          <p:nvPr/>
        </p:nvGrpSpPr>
        <p:grpSpPr bwMode="auto">
          <a:xfrm>
            <a:off x="2825750" y="5894388"/>
            <a:ext cx="2403475" cy="357187"/>
            <a:chOff x="1780" y="3713"/>
            <a:chExt cx="1514" cy="225"/>
          </a:xfrm>
        </p:grpSpPr>
        <p:sp>
          <p:nvSpPr>
            <p:cNvPr id="88111" name="Line 47"/>
            <p:cNvSpPr>
              <a:spLocks noChangeShapeType="1"/>
            </p:cNvSpPr>
            <p:nvPr/>
          </p:nvSpPr>
          <p:spPr bwMode="auto">
            <a:xfrm flipV="1">
              <a:off x="1780" y="3852"/>
              <a:ext cx="1373" cy="8"/>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1" name="Object 57"/>
            <p:cNvGraphicFramePr>
              <a:graphicFrameLocks noChangeAspect="1"/>
            </p:cNvGraphicFramePr>
            <p:nvPr/>
          </p:nvGraphicFramePr>
          <p:xfrm>
            <a:off x="3145" y="3713"/>
            <a:ext cx="149" cy="225"/>
          </p:xfrm>
          <a:graphic>
            <a:graphicData uri="http://schemas.openxmlformats.org/presentationml/2006/ole">
              <mc:AlternateContent xmlns:mc="http://schemas.openxmlformats.org/markup-compatibility/2006">
                <mc:Choice xmlns:v="urn:schemas-microsoft-com:vml" Requires="v">
                  <p:oleObj spid="_x0000_s88405" name="Equation" r:id="rId13" imgW="126720" imgH="190440" progId="Equation.3">
                    <p:embed/>
                  </p:oleObj>
                </mc:Choice>
                <mc:Fallback>
                  <p:oleObj name="Equation" r:id="rId13" imgW="126720" imgH="190440" progId="Equation.3">
                    <p:embed/>
                    <p:pic>
                      <p:nvPicPr>
                        <p:cNvPr id="0" name="Object 5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5" y="3713"/>
                          <a:ext cx="149"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0" name="Group 96"/>
          <p:cNvGrpSpPr>
            <a:grpSpLocks/>
          </p:cNvGrpSpPr>
          <p:nvPr/>
        </p:nvGrpSpPr>
        <p:grpSpPr bwMode="auto">
          <a:xfrm>
            <a:off x="2867025" y="5743575"/>
            <a:ext cx="735013" cy="354013"/>
            <a:chOff x="1806" y="3618"/>
            <a:chExt cx="463" cy="223"/>
          </a:xfrm>
        </p:grpSpPr>
        <p:sp>
          <p:nvSpPr>
            <p:cNvPr id="88112" name="Line 48"/>
            <p:cNvSpPr>
              <a:spLocks noChangeShapeType="1"/>
            </p:cNvSpPr>
            <p:nvPr/>
          </p:nvSpPr>
          <p:spPr bwMode="auto">
            <a:xfrm>
              <a:off x="1806" y="3833"/>
              <a:ext cx="463"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2" name="Object 58"/>
            <p:cNvGraphicFramePr>
              <a:graphicFrameLocks noChangeAspect="1"/>
            </p:cNvGraphicFramePr>
            <p:nvPr/>
          </p:nvGraphicFramePr>
          <p:xfrm>
            <a:off x="1890" y="3618"/>
            <a:ext cx="284" cy="223"/>
          </p:xfrm>
          <a:graphic>
            <a:graphicData uri="http://schemas.openxmlformats.org/presentationml/2006/ole">
              <mc:AlternateContent xmlns:mc="http://schemas.openxmlformats.org/markup-compatibility/2006">
                <mc:Choice xmlns:v="urn:schemas-microsoft-com:vml" Requires="v">
                  <p:oleObj spid="_x0000_s88406" name="Equation" r:id="rId15" imgW="291960" imgH="228600" progId="Equation.3">
                    <p:embed/>
                  </p:oleObj>
                </mc:Choice>
                <mc:Fallback>
                  <p:oleObj name="Equation" r:id="rId15" imgW="291960" imgH="228600" progId="Equation.3">
                    <p:embed/>
                    <p:pic>
                      <p:nvPicPr>
                        <p:cNvPr id="0" name="Object 5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90" y="3618"/>
                          <a:ext cx="284"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1" name="Group 97"/>
          <p:cNvGrpSpPr>
            <a:grpSpLocks/>
          </p:cNvGrpSpPr>
          <p:nvPr/>
        </p:nvGrpSpPr>
        <p:grpSpPr bwMode="auto">
          <a:xfrm>
            <a:off x="3578225" y="5413375"/>
            <a:ext cx="660400" cy="671513"/>
            <a:chOff x="2254" y="3410"/>
            <a:chExt cx="416" cy="423"/>
          </a:xfrm>
        </p:grpSpPr>
        <p:sp>
          <p:nvSpPr>
            <p:cNvPr id="88113" name="Line 49"/>
            <p:cNvSpPr>
              <a:spLocks noChangeShapeType="1"/>
            </p:cNvSpPr>
            <p:nvPr/>
          </p:nvSpPr>
          <p:spPr bwMode="auto">
            <a:xfrm rot="-5400000">
              <a:off x="2043" y="3621"/>
              <a:ext cx="423" cy="1"/>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3" name="Object 59"/>
            <p:cNvGraphicFramePr>
              <a:graphicFrameLocks noChangeAspect="1"/>
            </p:cNvGraphicFramePr>
            <p:nvPr/>
          </p:nvGraphicFramePr>
          <p:xfrm>
            <a:off x="2254" y="3520"/>
            <a:ext cx="416" cy="220"/>
          </p:xfrm>
          <a:graphic>
            <a:graphicData uri="http://schemas.openxmlformats.org/presentationml/2006/ole">
              <mc:AlternateContent xmlns:mc="http://schemas.openxmlformats.org/markup-compatibility/2006">
                <mc:Choice xmlns:v="urn:schemas-microsoft-com:vml" Requires="v">
                  <p:oleObj spid="_x0000_s88407" name="Equation" r:id="rId17" imgW="431640" imgH="228600" progId="Equation.3">
                    <p:embed/>
                  </p:oleObj>
                </mc:Choice>
                <mc:Fallback>
                  <p:oleObj name="Equation" r:id="rId17" imgW="431640" imgH="228600" progId="Equation.3">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54" y="3520"/>
                          <a:ext cx="416"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2" name="Group 98"/>
          <p:cNvGrpSpPr>
            <a:grpSpLocks/>
          </p:cNvGrpSpPr>
          <p:nvPr/>
        </p:nvGrpSpPr>
        <p:grpSpPr bwMode="auto">
          <a:xfrm>
            <a:off x="3578225" y="4922838"/>
            <a:ext cx="660400" cy="503237"/>
            <a:chOff x="2254" y="3101"/>
            <a:chExt cx="416" cy="317"/>
          </a:xfrm>
        </p:grpSpPr>
        <p:sp>
          <p:nvSpPr>
            <p:cNvPr id="88119" name="Line 55"/>
            <p:cNvSpPr>
              <a:spLocks noChangeShapeType="1"/>
            </p:cNvSpPr>
            <p:nvPr/>
          </p:nvSpPr>
          <p:spPr bwMode="auto">
            <a:xfrm rot="-5400000">
              <a:off x="2095" y="3260"/>
              <a:ext cx="317"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4" name="Object 60"/>
            <p:cNvGraphicFramePr>
              <a:graphicFrameLocks noChangeAspect="1"/>
            </p:cNvGraphicFramePr>
            <p:nvPr/>
          </p:nvGraphicFramePr>
          <p:xfrm>
            <a:off x="2268" y="3167"/>
            <a:ext cx="402" cy="221"/>
          </p:xfrm>
          <a:graphic>
            <a:graphicData uri="http://schemas.openxmlformats.org/presentationml/2006/ole">
              <mc:AlternateContent xmlns:mc="http://schemas.openxmlformats.org/markup-compatibility/2006">
                <mc:Choice xmlns:v="urn:schemas-microsoft-com:vml" Requires="v">
                  <p:oleObj spid="_x0000_s88408" name="Equation" r:id="rId19" imgW="419040" imgH="228600" progId="Equation.3">
                    <p:embed/>
                  </p:oleObj>
                </mc:Choice>
                <mc:Fallback>
                  <p:oleObj name="Equation" r:id="rId19" imgW="419040" imgH="228600" progId="Equation.3">
                    <p:embed/>
                    <p:pic>
                      <p:nvPicPr>
                        <p:cNvPr id="0" name="Object 6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68" y="3167"/>
                          <a:ext cx="40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5" name="Group 101"/>
          <p:cNvGrpSpPr>
            <a:grpSpLocks/>
          </p:cNvGrpSpPr>
          <p:nvPr/>
        </p:nvGrpSpPr>
        <p:grpSpPr bwMode="auto">
          <a:xfrm>
            <a:off x="4081463" y="3970338"/>
            <a:ext cx="703262" cy="998537"/>
            <a:chOff x="2571" y="2501"/>
            <a:chExt cx="443" cy="629"/>
          </a:xfrm>
        </p:grpSpPr>
        <p:sp>
          <p:nvSpPr>
            <p:cNvPr id="88116" name="Line 52"/>
            <p:cNvSpPr>
              <a:spLocks noChangeShapeType="1"/>
            </p:cNvSpPr>
            <p:nvPr/>
          </p:nvSpPr>
          <p:spPr bwMode="auto">
            <a:xfrm rot="-5400000">
              <a:off x="2256" y="2816"/>
              <a:ext cx="629"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6" name="Object 62"/>
            <p:cNvGraphicFramePr>
              <a:graphicFrameLocks noChangeAspect="1"/>
            </p:cNvGraphicFramePr>
            <p:nvPr/>
          </p:nvGraphicFramePr>
          <p:xfrm>
            <a:off x="2588" y="2687"/>
            <a:ext cx="426" cy="219"/>
          </p:xfrm>
          <a:graphic>
            <a:graphicData uri="http://schemas.openxmlformats.org/presentationml/2006/ole">
              <mc:AlternateContent xmlns:mc="http://schemas.openxmlformats.org/markup-compatibility/2006">
                <mc:Choice xmlns:v="urn:schemas-microsoft-com:vml" Requires="v">
                  <p:oleObj spid="_x0000_s88409" name="Equation" r:id="rId21" imgW="444240" imgH="228600" progId="Equation.3">
                    <p:embed/>
                  </p:oleObj>
                </mc:Choice>
                <mc:Fallback>
                  <p:oleObj name="Equation" r:id="rId21" imgW="444240" imgH="228600" progId="Equation.3">
                    <p:embed/>
                    <p:pic>
                      <p:nvPicPr>
                        <p:cNvPr id="0" name="Object 6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88" y="2687"/>
                          <a:ext cx="42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6" name="Group 102"/>
          <p:cNvGrpSpPr>
            <a:grpSpLocks/>
          </p:cNvGrpSpPr>
          <p:nvPr/>
        </p:nvGrpSpPr>
        <p:grpSpPr bwMode="auto">
          <a:xfrm>
            <a:off x="4078288" y="3440113"/>
            <a:ext cx="687387" cy="576262"/>
            <a:chOff x="2569" y="2167"/>
            <a:chExt cx="433" cy="363"/>
          </a:xfrm>
        </p:grpSpPr>
        <p:sp>
          <p:nvSpPr>
            <p:cNvPr id="88120" name="Line 56"/>
            <p:cNvSpPr>
              <a:spLocks noChangeShapeType="1"/>
            </p:cNvSpPr>
            <p:nvPr/>
          </p:nvSpPr>
          <p:spPr bwMode="auto">
            <a:xfrm rot="5400000" flipH="1">
              <a:off x="2389" y="2349"/>
              <a:ext cx="361" cy="2"/>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7" name="Object 63"/>
            <p:cNvGraphicFramePr>
              <a:graphicFrameLocks noChangeAspect="1"/>
            </p:cNvGraphicFramePr>
            <p:nvPr/>
          </p:nvGraphicFramePr>
          <p:xfrm>
            <a:off x="2600" y="2167"/>
            <a:ext cx="402" cy="219"/>
          </p:xfrm>
          <a:graphic>
            <a:graphicData uri="http://schemas.openxmlformats.org/presentationml/2006/ole">
              <mc:AlternateContent xmlns:mc="http://schemas.openxmlformats.org/markup-compatibility/2006">
                <mc:Choice xmlns:v="urn:schemas-microsoft-com:vml" Requires="v">
                  <p:oleObj spid="_x0000_s88410" name="Equation" r:id="rId23" imgW="419040" imgH="228600" progId="Equation.3">
                    <p:embed/>
                  </p:oleObj>
                </mc:Choice>
                <mc:Fallback>
                  <p:oleObj name="Equation" r:id="rId23" imgW="419040" imgH="228600" progId="Equation.3">
                    <p:embed/>
                    <p:pic>
                      <p:nvPicPr>
                        <p:cNvPr id="0" name="Object 6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00" y="2167"/>
                          <a:ext cx="402"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71" name="Group 107"/>
          <p:cNvGrpSpPr>
            <a:grpSpLocks/>
          </p:cNvGrpSpPr>
          <p:nvPr/>
        </p:nvGrpSpPr>
        <p:grpSpPr bwMode="auto">
          <a:xfrm>
            <a:off x="3055938" y="4905375"/>
            <a:ext cx="471487" cy="1222375"/>
            <a:chOff x="1925" y="3090"/>
            <a:chExt cx="297" cy="770"/>
          </a:xfrm>
        </p:grpSpPr>
        <p:sp>
          <p:nvSpPr>
            <p:cNvPr id="88114" name="Line 50"/>
            <p:cNvSpPr>
              <a:spLocks noChangeShapeType="1"/>
            </p:cNvSpPr>
            <p:nvPr/>
          </p:nvSpPr>
          <p:spPr bwMode="auto">
            <a:xfrm rot="-4331339">
              <a:off x="1647" y="3368"/>
              <a:ext cx="770" cy="214"/>
            </a:xfrm>
            <a:prstGeom prst="line">
              <a:avLst/>
            </a:prstGeom>
            <a:noFill/>
            <a:ln w="28575">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8" name="Object 64"/>
            <p:cNvGraphicFramePr>
              <a:graphicFrameLocks noChangeAspect="1"/>
            </p:cNvGraphicFramePr>
            <p:nvPr/>
          </p:nvGraphicFramePr>
          <p:xfrm>
            <a:off x="2040" y="3420"/>
            <a:ext cx="182" cy="204"/>
          </p:xfrm>
          <a:graphic>
            <a:graphicData uri="http://schemas.openxmlformats.org/presentationml/2006/ole">
              <mc:AlternateContent xmlns:mc="http://schemas.openxmlformats.org/markup-compatibility/2006">
                <mc:Choice xmlns:v="urn:schemas-microsoft-com:vml" Requires="v">
                  <p:oleObj spid="_x0000_s88411" name="Equation" r:id="rId24" imgW="203040" imgH="228600" progId="Equation.3">
                    <p:embed/>
                  </p:oleObj>
                </mc:Choice>
                <mc:Fallback>
                  <p:oleObj name="Equation" r:id="rId24" imgW="203040" imgH="228600" progId="Equation.3">
                    <p:embed/>
                    <p:pic>
                      <p:nvPicPr>
                        <p:cNvPr id="0" name="Object 6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40" y="3420"/>
                          <a:ext cx="18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72" name="Group 108"/>
          <p:cNvGrpSpPr>
            <a:grpSpLocks/>
          </p:cNvGrpSpPr>
          <p:nvPr/>
        </p:nvGrpSpPr>
        <p:grpSpPr bwMode="auto">
          <a:xfrm>
            <a:off x="3600450" y="3443288"/>
            <a:ext cx="477838" cy="1516062"/>
            <a:chOff x="2268" y="2169"/>
            <a:chExt cx="301" cy="955"/>
          </a:xfrm>
        </p:grpSpPr>
        <p:sp>
          <p:nvSpPr>
            <p:cNvPr id="88117" name="Freeform 53"/>
            <p:cNvSpPr>
              <a:spLocks/>
            </p:cNvSpPr>
            <p:nvPr/>
          </p:nvSpPr>
          <p:spPr bwMode="auto">
            <a:xfrm>
              <a:off x="2268" y="2169"/>
              <a:ext cx="301" cy="955"/>
            </a:xfrm>
            <a:custGeom>
              <a:avLst/>
              <a:gdLst>
                <a:gd name="T0" fmla="*/ 0 w 436"/>
                <a:gd name="T1" fmla="*/ 782 h 782"/>
                <a:gd name="T2" fmla="*/ 436 w 436"/>
                <a:gd name="T3" fmla="*/ 0 h 782"/>
              </a:gdLst>
              <a:ahLst/>
              <a:cxnLst>
                <a:cxn ang="0">
                  <a:pos x="T0" y="T1"/>
                </a:cxn>
                <a:cxn ang="0">
                  <a:pos x="T2" y="T3"/>
                </a:cxn>
              </a:cxnLst>
              <a:rect l="0" t="0" r="r" b="b"/>
              <a:pathLst>
                <a:path w="436" h="782">
                  <a:moveTo>
                    <a:pt x="0" y="782"/>
                  </a:moveTo>
                  <a:lnTo>
                    <a:pt x="436" y="0"/>
                  </a:lnTo>
                </a:path>
              </a:pathLst>
            </a:custGeom>
            <a:noFill/>
            <a:ln w="28575" cap="flat" cmpd="sng">
              <a:solidFill>
                <a:schemeClr val="accent2"/>
              </a:solidFill>
              <a:prstDash val="solid"/>
              <a:round/>
              <a:headEnd type="none" w="med" len="me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29" name="Object 65"/>
            <p:cNvGraphicFramePr>
              <a:graphicFrameLocks noChangeAspect="1"/>
            </p:cNvGraphicFramePr>
            <p:nvPr/>
          </p:nvGraphicFramePr>
          <p:xfrm>
            <a:off x="2361" y="2727"/>
            <a:ext cx="194" cy="205"/>
          </p:xfrm>
          <a:graphic>
            <a:graphicData uri="http://schemas.openxmlformats.org/presentationml/2006/ole">
              <mc:AlternateContent xmlns:mc="http://schemas.openxmlformats.org/markup-compatibility/2006">
                <mc:Choice xmlns:v="urn:schemas-microsoft-com:vml" Requires="v">
                  <p:oleObj spid="_x0000_s88412" name="Equation" r:id="rId26" imgW="215640" imgH="228600" progId="Equation.3">
                    <p:embed/>
                  </p:oleObj>
                </mc:Choice>
                <mc:Fallback>
                  <p:oleObj name="Equation" r:id="rId26" imgW="215640" imgH="228600" progId="Equation.3">
                    <p:embed/>
                    <p:pic>
                      <p:nvPicPr>
                        <p:cNvPr id="0" name="Object 6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61" y="2727"/>
                          <a:ext cx="194"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8168" name="Group 104"/>
          <p:cNvGrpSpPr>
            <a:grpSpLocks/>
          </p:cNvGrpSpPr>
          <p:nvPr/>
        </p:nvGrpSpPr>
        <p:grpSpPr bwMode="auto">
          <a:xfrm>
            <a:off x="2867025" y="3443288"/>
            <a:ext cx="1211263" cy="2638425"/>
            <a:chOff x="1806" y="2169"/>
            <a:chExt cx="763" cy="1662"/>
          </a:xfrm>
        </p:grpSpPr>
        <p:sp>
          <p:nvSpPr>
            <p:cNvPr id="88118" name="Freeform 54"/>
            <p:cNvSpPr>
              <a:spLocks/>
            </p:cNvSpPr>
            <p:nvPr/>
          </p:nvSpPr>
          <p:spPr bwMode="auto">
            <a:xfrm>
              <a:off x="1806" y="2169"/>
              <a:ext cx="763" cy="1662"/>
            </a:xfrm>
            <a:custGeom>
              <a:avLst/>
              <a:gdLst>
                <a:gd name="T0" fmla="*/ 0 w 526"/>
                <a:gd name="T1" fmla="*/ 1295 h 1295"/>
                <a:gd name="T2" fmla="*/ 526 w 526"/>
                <a:gd name="T3" fmla="*/ 0 h 1295"/>
              </a:gdLst>
              <a:ahLst/>
              <a:cxnLst>
                <a:cxn ang="0">
                  <a:pos x="T0" y="T1"/>
                </a:cxn>
                <a:cxn ang="0">
                  <a:pos x="T2" y="T3"/>
                </a:cxn>
              </a:cxnLst>
              <a:rect l="0" t="0" r="r" b="b"/>
              <a:pathLst>
                <a:path w="526" h="1295">
                  <a:moveTo>
                    <a:pt x="0" y="1295"/>
                  </a:moveTo>
                  <a:lnTo>
                    <a:pt x="526" y="0"/>
                  </a:lnTo>
                </a:path>
              </a:pathLst>
            </a:custGeom>
            <a:noFill/>
            <a:ln w="28575" cap="flat" cmpd="sng">
              <a:solidFill>
                <a:srgbClr val="FF3300"/>
              </a:solidFill>
              <a:prstDash val="solid"/>
              <a:round/>
              <a:headEnd type="none" w="med" len="me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8130" name="Object 66"/>
            <p:cNvGraphicFramePr>
              <a:graphicFrameLocks noChangeAspect="1"/>
            </p:cNvGraphicFramePr>
            <p:nvPr/>
          </p:nvGraphicFramePr>
          <p:xfrm>
            <a:off x="2254" y="2214"/>
            <a:ext cx="194" cy="242"/>
          </p:xfrm>
          <a:graphic>
            <a:graphicData uri="http://schemas.openxmlformats.org/presentationml/2006/ole">
              <mc:AlternateContent xmlns:mc="http://schemas.openxmlformats.org/markup-compatibility/2006">
                <mc:Choice xmlns:v="urn:schemas-microsoft-com:vml" Requires="v">
                  <p:oleObj spid="_x0000_s88413" name="Equation" r:id="rId28" imgW="164880" imgH="203040" progId="Equation.3">
                    <p:embed/>
                  </p:oleObj>
                </mc:Choice>
                <mc:Fallback>
                  <p:oleObj name="Equation" r:id="rId28" imgW="164880" imgH="203040" progId="Equation.3">
                    <p:embed/>
                    <p:pic>
                      <p:nvPicPr>
                        <p:cNvPr id="0" name="Object 6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54" y="2214"/>
                          <a:ext cx="194"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8152" name="Text Box 88"/>
          <p:cNvSpPr txBox="1">
            <a:spLocks noChangeArrowheads="1"/>
          </p:cNvSpPr>
          <p:nvPr/>
        </p:nvSpPr>
        <p:spPr bwMode="auto">
          <a:xfrm>
            <a:off x="660400" y="3263900"/>
            <a:ext cx="1577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相量图</a:t>
            </a:r>
            <a:endParaRPr lang="zh-CN" altLang="en-US" b="1"/>
          </a:p>
        </p:txBody>
      </p:sp>
      <p:grpSp>
        <p:nvGrpSpPr>
          <p:cNvPr id="88164" name="Group 100"/>
          <p:cNvGrpSpPr>
            <a:grpSpLocks/>
          </p:cNvGrpSpPr>
          <p:nvPr/>
        </p:nvGrpSpPr>
        <p:grpSpPr bwMode="auto">
          <a:xfrm>
            <a:off x="3602038" y="4635500"/>
            <a:ext cx="496887" cy="352425"/>
            <a:chOff x="2269" y="2920"/>
            <a:chExt cx="313" cy="222"/>
          </a:xfrm>
        </p:grpSpPr>
        <p:graphicFrame>
          <p:nvGraphicFramePr>
            <p:cNvPr id="88125" name="Object 61"/>
            <p:cNvGraphicFramePr>
              <a:graphicFrameLocks noChangeAspect="1"/>
            </p:cNvGraphicFramePr>
            <p:nvPr/>
          </p:nvGraphicFramePr>
          <p:xfrm>
            <a:off x="2297" y="2920"/>
            <a:ext cx="285" cy="222"/>
          </p:xfrm>
          <a:graphic>
            <a:graphicData uri="http://schemas.openxmlformats.org/presentationml/2006/ole">
              <mc:AlternateContent xmlns:mc="http://schemas.openxmlformats.org/markup-compatibility/2006">
                <mc:Choice xmlns:v="urn:schemas-microsoft-com:vml" Requires="v">
                  <p:oleObj spid="_x0000_s88414" name="Equation" r:id="rId30" imgW="291960" imgH="228600" progId="Equation.3">
                    <p:embed/>
                  </p:oleObj>
                </mc:Choice>
                <mc:Fallback>
                  <p:oleObj name="Equation" r:id="rId30" imgW="291960" imgH="228600" progId="Equation.3">
                    <p:embed/>
                    <p:pic>
                      <p:nvPicPr>
                        <p:cNvPr id="0" name="Object 6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297" y="2920"/>
                          <a:ext cx="285"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57" name="Line 93"/>
            <p:cNvSpPr>
              <a:spLocks noChangeShapeType="1"/>
            </p:cNvSpPr>
            <p:nvPr/>
          </p:nvSpPr>
          <p:spPr bwMode="auto">
            <a:xfrm>
              <a:off x="2269" y="3131"/>
              <a:ext cx="302"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80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88156"/>
                                        </p:tgtEl>
                                        <p:attrNameLst>
                                          <p:attrName>style.visibility</p:attrName>
                                        </p:attrNameLst>
                                      </p:cBhvr>
                                      <p:to>
                                        <p:strVal val="visible"/>
                                      </p:to>
                                    </p:set>
                                    <p:anim calcmode="lin" valueType="num">
                                      <p:cBhvr>
                                        <p:cTn id="11" dur="500" fill="hold"/>
                                        <p:tgtEl>
                                          <p:spTgt spid="88156"/>
                                        </p:tgtEl>
                                        <p:attrNameLst>
                                          <p:attrName>ppt_w</p:attrName>
                                        </p:attrNameLst>
                                      </p:cBhvr>
                                      <p:tavLst>
                                        <p:tav tm="0">
                                          <p:val>
                                            <p:fltVal val="0"/>
                                          </p:val>
                                        </p:tav>
                                        <p:tav tm="100000">
                                          <p:val>
                                            <p:strVal val="#ppt_w"/>
                                          </p:val>
                                        </p:tav>
                                      </p:tavLst>
                                    </p:anim>
                                    <p:anim calcmode="lin" valueType="num">
                                      <p:cBhvr>
                                        <p:cTn id="12" dur="500" fill="hold"/>
                                        <p:tgtEl>
                                          <p:spTgt spid="88156"/>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88109"/>
                                        </p:tgtEl>
                                        <p:attrNameLst>
                                          <p:attrName>style.visibility</p:attrName>
                                        </p:attrNameLst>
                                      </p:cBhvr>
                                      <p:to>
                                        <p:strVal val="visible"/>
                                      </p:to>
                                    </p:set>
                                    <p:anim calcmode="lin" valueType="num">
                                      <p:cBhvr additive="base">
                                        <p:cTn id="17" dur="500" fill="hold"/>
                                        <p:tgtEl>
                                          <p:spTgt spid="88109"/>
                                        </p:tgtEl>
                                        <p:attrNameLst>
                                          <p:attrName>ppt_x</p:attrName>
                                        </p:attrNameLst>
                                      </p:cBhvr>
                                      <p:tavLst>
                                        <p:tav tm="0">
                                          <p:val>
                                            <p:strVal val="0-#ppt_w/2"/>
                                          </p:val>
                                        </p:tav>
                                        <p:tav tm="100000">
                                          <p:val>
                                            <p:strVal val="#ppt_x"/>
                                          </p:val>
                                        </p:tav>
                                      </p:tavLst>
                                    </p:anim>
                                    <p:anim calcmode="lin" valueType="num">
                                      <p:cBhvr additive="base">
                                        <p:cTn id="18" dur="500" fill="hold"/>
                                        <p:tgtEl>
                                          <p:spTgt spid="88109"/>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 presetClass="entr" presetSubtype="8" fill="hold" grpId="0" nodeType="afterEffect">
                                  <p:stCondLst>
                                    <p:cond delay="0"/>
                                  </p:stCondLst>
                                  <p:childTnLst>
                                    <p:set>
                                      <p:cBhvr>
                                        <p:cTn id="21" dur="1" fill="hold">
                                          <p:stCondLst>
                                            <p:cond delay="0"/>
                                          </p:stCondLst>
                                        </p:cTn>
                                        <p:tgtEl>
                                          <p:spTgt spid="88152"/>
                                        </p:tgtEl>
                                        <p:attrNameLst>
                                          <p:attrName>style.visibility</p:attrName>
                                        </p:attrNameLst>
                                      </p:cBhvr>
                                      <p:to>
                                        <p:strVal val="visible"/>
                                      </p:to>
                                    </p:set>
                                    <p:anim calcmode="lin" valueType="num">
                                      <p:cBhvr additive="base">
                                        <p:cTn id="22" dur="500" fill="hold"/>
                                        <p:tgtEl>
                                          <p:spTgt spid="88152"/>
                                        </p:tgtEl>
                                        <p:attrNameLst>
                                          <p:attrName>ppt_x</p:attrName>
                                        </p:attrNameLst>
                                      </p:cBhvr>
                                      <p:tavLst>
                                        <p:tav tm="0">
                                          <p:val>
                                            <p:strVal val="0-#ppt_w/2"/>
                                          </p:val>
                                        </p:tav>
                                        <p:tav tm="100000">
                                          <p:val>
                                            <p:strVal val="#ppt_x"/>
                                          </p:val>
                                        </p:tav>
                                      </p:tavLst>
                                    </p:anim>
                                    <p:anim calcmode="lin" valueType="num">
                                      <p:cBhvr additive="base">
                                        <p:cTn id="23" dur="500" fill="hold"/>
                                        <p:tgtEl>
                                          <p:spTgt spid="88152"/>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8159"/>
                                        </p:tgtEl>
                                        <p:attrNameLst>
                                          <p:attrName>style.visibility</p:attrName>
                                        </p:attrNameLst>
                                      </p:cBhvr>
                                      <p:to>
                                        <p:strVal val="visible"/>
                                      </p:to>
                                    </p:set>
                                    <p:animEffect transition="in" filter="wipe(left)">
                                      <p:cBhvr>
                                        <p:cTn id="28" dur="500"/>
                                        <p:tgtEl>
                                          <p:spTgt spid="8815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8160"/>
                                        </p:tgtEl>
                                        <p:attrNameLst>
                                          <p:attrName>style.visibility</p:attrName>
                                        </p:attrNameLst>
                                      </p:cBhvr>
                                      <p:to>
                                        <p:strVal val="visible"/>
                                      </p:to>
                                    </p:set>
                                    <p:animEffect transition="in" filter="wipe(left)">
                                      <p:cBhvr>
                                        <p:cTn id="33" dur="500"/>
                                        <p:tgtEl>
                                          <p:spTgt spid="881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88161"/>
                                        </p:tgtEl>
                                        <p:attrNameLst>
                                          <p:attrName>style.visibility</p:attrName>
                                        </p:attrNameLst>
                                      </p:cBhvr>
                                      <p:to>
                                        <p:strVal val="visible"/>
                                      </p:to>
                                    </p:set>
                                    <p:animEffect transition="in" filter="wipe(down)">
                                      <p:cBhvr>
                                        <p:cTn id="38" dur="500"/>
                                        <p:tgtEl>
                                          <p:spTgt spid="8816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88162"/>
                                        </p:tgtEl>
                                        <p:attrNameLst>
                                          <p:attrName>style.visibility</p:attrName>
                                        </p:attrNameLst>
                                      </p:cBhvr>
                                      <p:to>
                                        <p:strVal val="visible"/>
                                      </p:to>
                                    </p:set>
                                    <p:animEffect transition="in" filter="wipe(down)">
                                      <p:cBhvr>
                                        <p:cTn id="43" dur="500"/>
                                        <p:tgtEl>
                                          <p:spTgt spid="8816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8171"/>
                                        </p:tgtEl>
                                        <p:attrNameLst>
                                          <p:attrName>style.visibility</p:attrName>
                                        </p:attrNameLst>
                                      </p:cBhvr>
                                      <p:to>
                                        <p:strVal val="visible"/>
                                      </p:to>
                                    </p:set>
                                    <p:animEffect transition="in" filter="wipe(left)">
                                      <p:cBhvr>
                                        <p:cTn id="48" dur="500"/>
                                        <p:tgtEl>
                                          <p:spTgt spid="8817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88164"/>
                                        </p:tgtEl>
                                        <p:attrNameLst>
                                          <p:attrName>style.visibility</p:attrName>
                                        </p:attrNameLst>
                                      </p:cBhvr>
                                      <p:to>
                                        <p:strVal val="visible"/>
                                      </p:to>
                                    </p:set>
                                    <p:animEffect transition="in" filter="wipe(left)">
                                      <p:cBhvr>
                                        <p:cTn id="53" dur="500"/>
                                        <p:tgtEl>
                                          <p:spTgt spid="8816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nodeType="clickEffect">
                                  <p:stCondLst>
                                    <p:cond delay="0"/>
                                  </p:stCondLst>
                                  <p:childTnLst>
                                    <p:set>
                                      <p:cBhvr>
                                        <p:cTn id="57" dur="1" fill="hold">
                                          <p:stCondLst>
                                            <p:cond delay="0"/>
                                          </p:stCondLst>
                                        </p:cTn>
                                        <p:tgtEl>
                                          <p:spTgt spid="88165"/>
                                        </p:tgtEl>
                                        <p:attrNameLst>
                                          <p:attrName>style.visibility</p:attrName>
                                        </p:attrNameLst>
                                      </p:cBhvr>
                                      <p:to>
                                        <p:strVal val="visible"/>
                                      </p:to>
                                    </p:set>
                                    <p:animEffect transition="in" filter="wipe(down)">
                                      <p:cBhvr>
                                        <p:cTn id="58" dur="500"/>
                                        <p:tgtEl>
                                          <p:spTgt spid="8816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88166"/>
                                        </p:tgtEl>
                                        <p:attrNameLst>
                                          <p:attrName>style.visibility</p:attrName>
                                        </p:attrNameLst>
                                      </p:cBhvr>
                                      <p:to>
                                        <p:strVal val="visible"/>
                                      </p:to>
                                    </p:set>
                                    <p:animEffect transition="in" filter="wipe(down)">
                                      <p:cBhvr>
                                        <p:cTn id="63" dur="500"/>
                                        <p:tgtEl>
                                          <p:spTgt spid="8816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88172"/>
                                        </p:tgtEl>
                                        <p:attrNameLst>
                                          <p:attrName>style.visibility</p:attrName>
                                        </p:attrNameLst>
                                      </p:cBhvr>
                                      <p:to>
                                        <p:strVal val="visible"/>
                                      </p:to>
                                    </p:set>
                                    <p:animEffect transition="in" filter="wipe(left)">
                                      <p:cBhvr>
                                        <p:cTn id="68" dur="500"/>
                                        <p:tgtEl>
                                          <p:spTgt spid="8817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88168"/>
                                        </p:tgtEl>
                                        <p:attrNameLst>
                                          <p:attrName>style.visibility</p:attrName>
                                        </p:attrNameLst>
                                      </p:cBhvr>
                                      <p:to>
                                        <p:strVal val="visible"/>
                                      </p:to>
                                    </p:set>
                                    <p:animEffect transition="in" filter="wipe(left)">
                                      <p:cBhvr>
                                        <p:cTn id="73" dur="500"/>
                                        <p:tgtEl>
                                          <p:spTgt spid="88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autoUpdateAnimBg="0"/>
      <p:bldP spid="8815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68" name="Text Box 24"/>
          <p:cNvSpPr txBox="1">
            <a:spLocks noChangeArrowheads="1"/>
          </p:cNvSpPr>
          <p:nvPr/>
        </p:nvSpPr>
        <p:spPr bwMode="auto">
          <a:xfrm>
            <a:off x="482600" y="490538"/>
            <a:ext cx="2020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2. </a:t>
            </a:r>
            <a:r>
              <a:rPr lang="zh-CN" altLang="en-US" b="1"/>
              <a:t>同名端反串</a:t>
            </a:r>
          </a:p>
        </p:txBody>
      </p:sp>
      <p:graphicFrame>
        <p:nvGraphicFramePr>
          <p:cNvPr id="57370" name="Object 26"/>
          <p:cNvGraphicFramePr>
            <a:graphicFrameLocks noChangeAspect="1"/>
          </p:cNvGraphicFramePr>
          <p:nvPr/>
        </p:nvGraphicFramePr>
        <p:xfrm>
          <a:off x="704850" y="5051425"/>
          <a:ext cx="5129213" cy="431800"/>
        </p:xfrm>
        <a:graphic>
          <a:graphicData uri="http://schemas.openxmlformats.org/presentationml/2006/ole">
            <mc:AlternateContent xmlns:mc="http://schemas.openxmlformats.org/markup-compatibility/2006">
              <mc:Choice xmlns:v="urn:schemas-microsoft-com:vml" Requires="v">
                <p:oleObj spid="_x0000_s57506" name="Equation" r:id="rId3" imgW="2565360" imgH="215640" progId="Equation.3">
                  <p:embed/>
                </p:oleObj>
              </mc:Choice>
              <mc:Fallback>
                <p:oleObj name="Equation" r:id="rId3" imgW="2565360" imgH="21564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 y="5051425"/>
                        <a:ext cx="51292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7440" name="Group 96"/>
          <p:cNvGrpSpPr>
            <a:grpSpLocks/>
          </p:cNvGrpSpPr>
          <p:nvPr/>
        </p:nvGrpSpPr>
        <p:grpSpPr bwMode="auto">
          <a:xfrm>
            <a:off x="2643188" y="311150"/>
            <a:ext cx="2601912" cy="3248025"/>
            <a:chOff x="1465" y="180"/>
            <a:chExt cx="1639" cy="2046"/>
          </a:xfrm>
        </p:grpSpPr>
        <p:sp>
          <p:nvSpPr>
            <p:cNvPr id="57372" name="Line 28"/>
            <p:cNvSpPr>
              <a:spLocks noChangeShapeType="1"/>
            </p:cNvSpPr>
            <p:nvPr/>
          </p:nvSpPr>
          <p:spPr bwMode="auto">
            <a:xfrm>
              <a:off x="2238" y="582"/>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3" name="Line 29"/>
            <p:cNvSpPr>
              <a:spLocks noChangeShapeType="1"/>
            </p:cNvSpPr>
            <p:nvPr/>
          </p:nvSpPr>
          <p:spPr bwMode="auto">
            <a:xfrm>
              <a:off x="1634" y="474"/>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4" name="Text Box 30"/>
            <p:cNvSpPr txBox="1">
              <a:spLocks noChangeArrowheads="1"/>
            </p:cNvSpPr>
            <p:nvPr/>
          </p:nvSpPr>
          <p:spPr bwMode="auto">
            <a:xfrm>
              <a:off x="1688" y="180"/>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endParaRPr lang="en-US" altLang="zh-CN" b="1"/>
            </a:p>
          </p:txBody>
        </p:sp>
        <p:sp>
          <p:nvSpPr>
            <p:cNvPr id="57375" name="Text Box 31"/>
            <p:cNvSpPr txBox="1">
              <a:spLocks noChangeArrowheads="1"/>
            </p:cNvSpPr>
            <p:nvPr/>
          </p:nvSpPr>
          <p:spPr bwMode="auto">
            <a:xfrm>
              <a:off x="2562" y="51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57376" name="Text Box 32"/>
            <p:cNvSpPr txBox="1">
              <a:spLocks noChangeArrowheads="1"/>
            </p:cNvSpPr>
            <p:nvPr/>
          </p:nvSpPr>
          <p:spPr bwMode="auto">
            <a:xfrm>
              <a:off x="2577" y="173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57377" name="Text Box 33"/>
            <p:cNvSpPr txBox="1">
              <a:spLocks noChangeArrowheads="1"/>
            </p:cNvSpPr>
            <p:nvPr/>
          </p:nvSpPr>
          <p:spPr bwMode="auto">
            <a:xfrm>
              <a:off x="2060" y="1473"/>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a:p>
          </p:txBody>
        </p:sp>
        <p:grpSp>
          <p:nvGrpSpPr>
            <p:cNvPr id="57378" name="Group 34"/>
            <p:cNvGrpSpPr>
              <a:grpSpLocks/>
            </p:cNvGrpSpPr>
            <p:nvPr/>
          </p:nvGrpSpPr>
          <p:grpSpPr bwMode="auto">
            <a:xfrm rot="5400000">
              <a:off x="2410" y="863"/>
              <a:ext cx="379" cy="57"/>
              <a:chOff x="1200" y="1584"/>
              <a:chExt cx="379" cy="45"/>
            </a:xfrm>
          </p:grpSpPr>
          <p:sp>
            <p:nvSpPr>
              <p:cNvPr id="57379" name="Arc 3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0" name="Arc 3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1" name="Arc 3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2" name="Arc 3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383" name="Oval 39"/>
            <p:cNvSpPr>
              <a:spLocks noChangeArrowheads="1"/>
            </p:cNvSpPr>
            <p:nvPr/>
          </p:nvSpPr>
          <p:spPr bwMode="auto">
            <a:xfrm>
              <a:off x="1552" y="54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4" name="Line 40"/>
            <p:cNvSpPr>
              <a:spLocks noChangeShapeType="1"/>
            </p:cNvSpPr>
            <p:nvPr/>
          </p:nvSpPr>
          <p:spPr bwMode="auto">
            <a:xfrm>
              <a:off x="1620" y="1914"/>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385" name="Group 41"/>
            <p:cNvGrpSpPr>
              <a:grpSpLocks/>
            </p:cNvGrpSpPr>
            <p:nvPr/>
          </p:nvGrpSpPr>
          <p:grpSpPr bwMode="auto">
            <a:xfrm rot="5400000">
              <a:off x="2401" y="1544"/>
              <a:ext cx="379" cy="57"/>
              <a:chOff x="1200" y="1584"/>
              <a:chExt cx="379" cy="45"/>
            </a:xfrm>
          </p:grpSpPr>
          <p:sp>
            <p:nvSpPr>
              <p:cNvPr id="57386" name="Arc 4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7" name="Arc 4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8" name="Arc 4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9" name="Arc 4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390" name="Oval 46"/>
            <p:cNvSpPr>
              <a:spLocks noChangeArrowheads="1"/>
            </p:cNvSpPr>
            <p:nvPr/>
          </p:nvSpPr>
          <p:spPr bwMode="auto">
            <a:xfrm>
              <a:off x="1544" y="187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1" name="Arc 47"/>
            <p:cNvSpPr>
              <a:spLocks/>
            </p:cNvSpPr>
            <p:nvPr/>
          </p:nvSpPr>
          <p:spPr bwMode="auto">
            <a:xfrm rot="5400000">
              <a:off x="2573" y="1447"/>
              <a:ext cx="525" cy="281"/>
            </a:xfrm>
            <a:custGeom>
              <a:avLst/>
              <a:gdLst>
                <a:gd name="G0" fmla="+- 0 0 0"/>
                <a:gd name="G1" fmla="+- 21600 0 0"/>
                <a:gd name="G2" fmla="+- 21600 0 0"/>
                <a:gd name="T0" fmla="*/ 0 w 20765"/>
                <a:gd name="T1" fmla="*/ 0 h 21600"/>
                <a:gd name="T2" fmla="*/ 20765 w 20765"/>
                <a:gd name="T3" fmla="*/ 15652 h 21600"/>
                <a:gd name="T4" fmla="*/ 0 w 20765"/>
                <a:gd name="T5" fmla="*/ 21600 h 21600"/>
              </a:gdLst>
              <a:ahLst/>
              <a:cxnLst>
                <a:cxn ang="0">
                  <a:pos x="T0" y="T1"/>
                </a:cxn>
                <a:cxn ang="0">
                  <a:pos x="T2" y="T3"/>
                </a:cxn>
                <a:cxn ang="0">
                  <a:pos x="T4" y="T5"/>
                </a:cxn>
              </a:cxnLst>
              <a:rect l="0" t="0" r="r" b="b"/>
              <a:pathLst>
                <a:path w="20765" h="21600" fill="none" extrusionOk="0">
                  <a:moveTo>
                    <a:pt x="0" y="0"/>
                  </a:moveTo>
                  <a:cubicBezTo>
                    <a:pt x="9638" y="0"/>
                    <a:pt x="18110" y="6386"/>
                    <a:pt x="20764" y="15652"/>
                  </a:cubicBezTo>
                </a:path>
                <a:path w="20765" h="21600" stroke="0" extrusionOk="0">
                  <a:moveTo>
                    <a:pt x="0" y="0"/>
                  </a:moveTo>
                  <a:cubicBezTo>
                    <a:pt x="9638" y="0"/>
                    <a:pt x="18110" y="6386"/>
                    <a:pt x="20764" y="15652"/>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2" name="Arc 48"/>
            <p:cNvSpPr>
              <a:spLocks/>
            </p:cNvSpPr>
            <p:nvPr/>
          </p:nvSpPr>
          <p:spPr bwMode="auto">
            <a:xfrm rot="5400000" flipH="1">
              <a:off x="2563" y="799"/>
              <a:ext cx="550" cy="281"/>
            </a:xfrm>
            <a:custGeom>
              <a:avLst/>
              <a:gdLst>
                <a:gd name="G0" fmla="+- 0 0 0"/>
                <a:gd name="G1" fmla="+- 21109 0 0"/>
                <a:gd name="G2" fmla="+- 21600 0 0"/>
                <a:gd name="T0" fmla="*/ 4580 w 21322"/>
                <a:gd name="T1" fmla="*/ 0 h 21109"/>
                <a:gd name="T2" fmla="*/ 21322 w 21322"/>
                <a:gd name="T3" fmla="*/ 17653 h 21109"/>
                <a:gd name="T4" fmla="*/ 0 w 21322"/>
                <a:gd name="T5" fmla="*/ 21109 h 21109"/>
              </a:gdLst>
              <a:ahLst/>
              <a:cxnLst>
                <a:cxn ang="0">
                  <a:pos x="T0" y="T1"/>
                </a:cxn>
                <a:cxn ang="0">
                  <a:pos x="T2" y="T3"/>
                </a:cxn>
                <a:cxn ang="0">
                  <a:pos x="T4" y="T5"/>
                </a:cxn>
              </a:cxnLst>
              <a:rect l="0" t="0" r="r" b="b"/>
              <a:pathLst>
                <a:path w="21322" h="21109" fill="none" extrusionOk="0">
                  <a:moveTo>
                    <a:pt x="4579" y="0"/>
                  </a:moveTo>
                  <a:cubicBezTo>
                    <a:pt x="13258" y="1883"/>
                    <a:pt x="19900" y="8886"/>
                    <a:pt x="21321" y="17653"/>
                  </a:cubicBezTo>
                </a:path>
                <a:path w="21322" h="21109" stroke="0" extrusionOk="0">
                  <a:moveTo>
                    <a:pt x="4579" y="0"/>
                  </a:moveTo>
                  <a:cubicBezTo>
                    <a:pt x="13258" y="1883"/>
                    <a:pt x="19900" y="8886"/>
                    <a:pt x="21321" y="17653"/>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3" name="Text Box 49"/>
            <p:cNvSpPr txBox="1">
              <a:spLocks noChangeArrowheads="1"/>
            </p:cNvSpPr>
            <p:nvPr/>
          </p:nvSpPr>
          <p:spPr bwMode="auto">
            <a:xfrm>
              <a:off x="2292" y="1215"/>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394" name="Text Box 50"/>
            <p:cNvSpPr txBox="1">
              <a:spLocks noChangeArrowheads="1"/>
            </p:cNvSpPr>
            <p:nvPr/>
          </p:nvSpPr>
          <p:spPr bwMode="auto">
            <a:xfrm>
              <a:off x="1712" y="1635"/>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395" name="Text Box 51"/>
            <p:cNvSpPr txBox="1">
              <a:spLocks noChangeArrowheads="1"/>
            </p:cNvSpPr>
            <p:nvPr/>
          </p:nvSpPr>
          <p:spPr bwMode="auto">
            <a:xfrm>
              <a:off x="2816" y="108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M</a:t>
              </a:r>
              <a:endParaRPr lang="en-US" altLang="zh-CN" b="1"/>
            </a:p>
          </p:txBody>
        </p:sp>
        <p:sp>
          <p:nvSpPr>
            <p:cNvPr id="57396" name="Rectangle 52"/>
            <p:cNvSpPr>
              <a:spLocks noChangeArrowheads="1"/>
            </p:cNvSpPr>
            <p:nvPr/>
          </p:nvSpPr>
          <p:spPr bwMode="auto">
            <a:xfrm>
              <a:off x="1952" y="1857"/>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7" name="Rectangle 53"/>
            <p:cNvSpPr>
              <a:spLocks noChangeArrowheads="1"/>
            </p:cNvSpPr>
            <p:nvPr/>
          </p:nvSpPr>
          <p:spPr bwMode="auto">
            <a:xfrm>
              <a:off x="1934" y="525"/>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8" name="Line 54"/>
            <p:cNvSpPr>
              <a:spLocks noChangeShapeType="1"/>
            </p:cNvSpPr>
            <p:nvPr/>
          </p:nvSpPr>
          <p:spPr bwMode="auto">
            <a:xfrm>
              <a:off x="1620" y="582"/>
              <a:ext cx="3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9" name="Text Box 55"/>
            <p:cNvSpPr txBox="1">
              <a:spLocks noChangeArrowheads="1"/>
            </p:cNvSpPr>
            <p:nvPr/>
          </p:nvSpPr>
          <p:spPr bwMode="auto">
            <a:xfrm>
              <a:off x="1964" y="219"/>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1</a:t>
              </a:r>
              <a:endParaRPr lang="en-US" altLang="zh-CN" b="1"/>
            </a:p>
          </p:txBody>
        </p:sp>
        <p:sp>
          <p:nvSpPr>
            <p:cNvPr id="57400" name="Text Box 56"/>
            <p:cNvSpPr txBox="1">
              <a:spLocks noChangeArrowheads="1"/>
            </p:cNvSpPr>
            <p:nvPr/>
          </p:nvSpPr>
          <p:spPr bwMode="auto">
            <a:xfrm>
              <a:off x="1964" y="1938"/>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2</a:t>
              </a:r>
              <a:endParaRPr lang="en-US" altLang="zh-CN" b="1"/>
            </a:p>
          </p:txBody>
        </p:sp>
        <p:sp>
          <p:nvSpPr>
            <p:cNvPr id="57401" name="Text Box 57"/>
            <p:cNvSpPr txBox="1">
              <a:spLocks noChangeArrowheads="1"/>
            </p:cNvSpPr>
            <p:nvPr/>
          </p:nvSpPr>
          <p:spPr bwMode="auto">
            <a:xfrm>
              <a:off x="2646" y="744"/>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r>
                <a:rPr lang="en-US" altLang="zh-CN" b="1" baseline="-25000"/>
                <a:t>1</a:t>
              </a:r>
              <a:endParaRPr lang="en-US" altLang="zh-CN" b="1"/>
            </a:p>
          </p:txBody>
        </p:sp>
        <p:sp>
          <p:nvSpPr>
            <p:cNvPr id="57402" name="Text Box 58"/>
            <p:cNvSpPr txBox="1">
              <a:spLocks noChangeArrowheads="1"/>
            </p:cNvSpPr>
            <p:nvPr/>
          </p:nvSpPr>
          <p:spPr bwMode="auto">
            <a:xfrm>
              <a:off x="2610" y="1425"/>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r>
                <a:rPr lang="en-US" altLang="zh-CN" b="1" baseline="-25000"/>
                <a:t>2</a:t>
              </a:r>
              <a:endParaRPr lang="en-US" altLang="zh-CN" b="1"/>
            </a:p>
          </p:txBody>
        </p:sp>
        <p:sp>
          <p:nvSpPr>
            <p:cNvPr id="57403" name="Text Box 59"/>
            <p:cNvSpPr txBox="1">
              <a:spLocks noChangeArrowheads="1"/>
            </p:cNvSpPr>
            <p:nvPr/>
          </p:nvSpPr>
          <p:spPr bwMode="auto">
            <a:xfrm>
              <a:off x="2060" y="74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a:p>
          </p:txBody>
        </p:sp>
        <p:sp>
          <p:nvSpPr>
            <p:cNvPr id="57404" name="Text Box 60"/>
            <p:cNvSpPr txBox="1">
              <a:spLocks noChangeArrowheads="1"/>
            </p:cNvSpPr>
            <p:nvPr/>
          </p:nvSpPr>
          <p:spPr bwMode="auto">
            <a:xfrm>
              <a:off x="1736" y="54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05" name="Text Box 61"/>
            <p:cNvSpPr txBox="1">
              <a:spLocks noChangeArrowheads="1"/>
            </p:cNvSpPr>
            <p:nvPr/>
          </p:nvSpPr>
          <p:spPr bwMode="auto">
            <a:xfrm>
              <a:off x="2286" y="995"/>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06" name="Text Box 62"/>
            <p:cNvSpPr txBox="1">
              <a:spLocks noChangeArrowheads="1"/>
            </p:cNvSpPr>
            <p:nvPr/>
          </p:nvSpPr>
          <p:spPr bwMode="auto">
            <a:xfrm>
              <a:off x="1465" y="106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endParaRPr lang="en-US" altLang="zh-CN" b="1"/>
            </a:p>
          </p:txBody>
        </p:sp>
        <p:sp>
          <p:nvSpPr>
            <p:cNvPr id="57407" name="Text Box 63"/>
            <p:cNvSpPr txBox="1">
              <a:spLocks noChangeArrowheads="1"/>
            </p:cNvSpPr>
            <p:nvPr/>
          </p:nvSpPr>
          <p:spPr bwMode="auto">
            <a:xfrm>
              <a:off x="1472" y="59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08" name="Text Box 64"/>
            <p:cNvSpPr txBox="1">
              <a:spLocks noChangeArrowheads="1"/>
            </p:cNvSpPr>
            <p:nvPr/>
          </p:nvSpPr>
          <p:spPr bwMode="auto">
            <a:xfrm>
              <a:off x="1466" y="159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09" name="Line 65"/>
            <p:cNvSpPr>
              <a:spLocks noChangeShapeType="1"/>
            </p:cNvSpPr>
            <p:nvPr/>
          </p:nvSpPr>
          <p:spPr bwMode="auto">
            <a:xfrm flipH="1">
              <a:off x="2570" y="576"/>
              <a:ext cx="0" cy="1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0" name="Line 66"/>
            <p:cNvSpPr>
              <a:spLocks noChangeShapeType="1"/>
            </p:cNvSpPr>
            <p:nvPr/>
          </p:nvSpPr>
          <p:spPr bwMode="auto">
            <a:xfrm>
              <a:off x="2570" y="1087"/>
              <a:ext cx="0" cy="2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1" name="Line 67"/>
            <p:cNvSpPr>
              <a:spLocks noChangeShapeType="1"/>
            </p:cNvSpPr>
            <p:nvPr/>
          </p:nvSpPr>
          <p:spPr bwMode="auto">
            <a:xfrm>
              <a:off x="2562" y="1762"/>
              <a:ext cx="0" cy="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2" name="Line 68"/>
            <p:cNvSpPr>
              <a:spLocks noChangeShapeType="1"/>
            </p:cNvSpPr>
            <p:nvPr/>
          </p:nvSpPr>
          <p:spPr bwMode="auto">
            <a:xfrm>
              <a:off x="2256" y="1914"/>
              <a:ext cx="3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413" name="AutoShape 69"/>
          <p:cNvSpPr>
            <a:spLocks noChangeArrowheads="1"/>
          </p:cNvSpPr>
          <p:nvPr/>
        </p:nvSpPr>
        <p:spPr bwMode="auto">
          <a:xfrm>
            <a:off x="5499100" y="1801813"/>
            <a:ext cx="561975" cy="338137"/>
          </a:xfrm>
          <a:prstGeom prst="rightArrow">
            <a:avLst>
              <a:gd name="adj1" fmla="val 50000"/>
              <a:gd name="adj2" fmla="val 41549"/>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441" name="Group 97"/>
          <p:cNvGrpSpPr>
            <a:grpSpLocks/>
          </p:cNvGrpSpPr>
          <p:nvPr/>
        </p:nvGrpSpPr>
        <p:grpSpPr bwMode="auto">
          <a:xfrm>
            <a:off x="6202363" y="276225"/>
            <a:ext cx="1997075" cy="2800350"/>
            <a:chOff x="3907" y="174"/>
            <a:chExt cx="1258" cy="1764"/>
          </a:xfrm>
        </p:grpSpPr>
        <p:sp>
          <p:nvSpPr>
            <p:cNvPr id="57415" name="Line 71"/>
            <p:cNvSpPr>
              <a:spLocks noChangeShapeType="1"/>
            </p:cNvSpPr>
            <p:nvPr/>
          </p:nvSpPr>
          <p:spPr bwMode="auto">
            <a:xfrm>
              <a:off x="4064" y="576"/>
              <a:ext cx="71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6" name="Line 72"/>
            <p:cNvSpPr>
              <a:spLocks noChangeShapeType="1"/>
            </p:cNvSpPr>
            <p:nvPr/>
          </p:nvSpPr>
          <p:spPr bwMode="auto">
            <a:xfrm>
              <a:off x="4147" y="46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7" name="Text Box 73"/>
            <p:cNvSpPr txBox="1">
              <a:spLocks noChangeArrowheads="1"/>
            </p:cNvSpPr>
            <p:nvPr/>
          </p:nvSpPr>
          <p:spPr bwMode="auto">
            <a:xfrm>
              <a:off x="4195" y="174"/>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endParaRPr lang="en-US" altLang="zh-CN" b="1"/>
            </a:p>
          </p:txBody>
        </p:sp>
        <p:sp>
          <p:nvSpPr>
            <p:cNvPr id="57418" name="Oval 74"/>
            <p:cNvSpPr>
              <a:spLocks noChangeArrowheads="1"/>
            </p:cNvSpPr>
            <p:nvPr/>
          </p:nvSpPr>
          <p:spPr bwMode="auto">
            <a:xfrm>
              <a:off x="3990" y="54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419" name="Group 75"/>
            <p:cNvGrpSpPr>
              <a:grpSpLocks/>
            </p:cNvGrpSpPr>
            <p:nvPr/>
          </p:nvGrpSpPr>
          <p:grpSpPr bwMode="auto">
            <a:xfrm rot="5400000">
              <a:off x="4608" y="1502"/>
              <a:ext cx="379" cy="57"/>
              <a:chOff x="1200" y="1584"/>
              <a:chExt cx="379" cy="45"/>
            </a:xfrm>
          </p:grpSpPr>
          <p:sp>
            <p:nvSpPr>
              <p:cNvPr id="57420" name="Arc 7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1" name="Arc 7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2" name="Arc 7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3" name="Arc 7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424" name="Oval 80"/>
            <p:cNvSpPr>
              <a:spLocks noChangeArrowheads="1"/>
            </p:cNvSpPr>
            <p:nvPr/>
          </p:nvSpPr>
          <p:spPr bwMode="auto">
            <a:xfrm>
              <a:off x="3978" y="187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5" name="Rectangle 81"/>
            <p:cNvSpPr>
              <a:spLocks noChangeArrowheads="1"/>
            </p:cNvSpPr>
            <p:nvPr/>
          </p:nvSpPr>
          <p:spPr bwMode="auto">
            <a:xfrm rot="5400000">
              <a:off x="4621" y="867"/>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26" name="Text Box 82"/>
            <p:cNvSpPr txBox="1">
              <a:spLocks noChangeArrowheads="1"/>
            </p:cNvSpPr>
            <p:nvPr/>
          </p:nvSpPr>
          <p:spPr bwMode="auto">
            <a:xfrm>
              <a:off x="4853" y="784"/>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endParaRPr lang="en-US" altLang="zh-CN" b="1"/>
            </a:p>
          </p:txBody>
        </p:sp>
        <p:sp>
          <p:nvSpPr>
            <p:cNvPr id="57427" name="Text Box 83"/>
            <p:cNvSpPr txBox="1">
              <a:spLocks noChangeArrowheads="1"/>
            </p:cNvSpPr>
            <p:nvPr/>
          </p:nvSpPr>
          <p:spPr bwMode="auto">
            <a:xfrm>
              <a:off x="4853" y="1383"/>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L</a:t>
              </a:r>
              <a:endParaRPr lang="en-US" altLang="zh-CN" b="1"/>
            </a:p>
          </p:txBody>
        </p:sp>
        <p:sp>
          <p:nvSpPr>
            <p:cNvPr id="57428" name="Text Box 84"/>
            <p:cNvSpPr txBox="1">
              <a:spLocks noChangeArrowheads="1"/>
            </p:cNvSpPr>
            <p:nvPr/>
          </p:nvSpPr>
          <p:spPr bwMode="auto">
            <a:xfrm>
              <a:off x="3907" y="1089"/>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endParaRPr lang="en-US" altLang="zh-CN" b="1"/>
            </a:p>
          </p:txBody>
        </p:sp>
        <p:sp>
          <p:nvSpPr>
            <p:cNvPr id="57429" name="Text Box 85"/>
            <p:cNvSpPr txBox="1">
              <a:spLocks noChangeArrowheads="1"/>
            </p:cNvSpPr>
            <p:nvPr/>
          </p:nvSpPr>
          <p:spPr bwMode="auto">
            <a:xfrm>
              <a:off x="3907" y="5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30" name="Text Box 86"/>
            <p:cNvSpPr txBox="1">
              <a:spLocks noChangeArrowheads="1"/>
            </p:cNvSpPr>
            <p:nvPr/>
          </p:nvSpPr>
          <p:spPr bwMode="auto">
            <a:xfrm>
              <a:off x="3907" y="156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7431" name="Line 87"/>
            <p:cNvSpPr>
              <a:spLocks noChangeShapeType="1"/>
            </p:cNvSpPr>
            <p:nvPr/>
          </p:nvSpPr>
          <p:spPr bwMode="auto">
            <a:xfrm flipH="1">
              <a:off x="4777" y="570"/>
              <a:ext cx="0" cy="1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2" name="Line 88"/>
            <p:cNvSpPr>
              <a:spLocks noChangeShapeType="1"/>
            </p:cNvSpPr>
            <p:nvPr/>
          </p:nvSpPr>
          <p:spPr bwMode="auto">
            <a:xfrm flipH="1">
              <a:off x="4777" y="1081"/>
              <a:ext cx="0" cy="2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3" name="Line 89"/>
            <p:cNvSpPr>
              <a:spLocks noChangeShapeType="1"/>
            </p:cNvSpPr>
            <p:nvPr/>
          </p:nvSpPr>
          <p:spPr bwMode="auto">
            <a:xfrm>
              <a:off x="4768" y="1713"/>
              <a:ext cx="1" cy="19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34" name="Line 90"/>
            <p:cNvSpPr>
              <a:spLocks noChangeShapeType="1"/>
            </p:cNvSpPr>
            <p:nvPr/>
          </p:nvSpPr>
          <p:spPr bwMode="auto">
            <a:xfrm>
              <a:off x="4046" y="1908"/>
              <a:ext cx="7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7436" name="Object 92"/>
          <p:cNvGraphicFramePr>
            <a:graphicFrameLocks noChangeAspect="1"/>
          </p:cNvGraphicFramePr>
          <p:nvPr/>
        </p:nvGraphicFramePr>
        <p:xfrm>
          <a:off x="1273175" y="3533775"/>
          <a:ext cx="6007100" cy="1449388"/>
        </p:xfrm>
        <a:graphic>
          <a:graphicData uri="http://schemas.openxmlformats.org/presentationml/2006/ole">
            <mc:AlternateContent xmlns:mc="http://schemas.openxmlformats.org/markup-compatibility/2006">
              <mc:Choice xmlns:v="urn:schemas-microsoft-com:vml" Requires="v">
                <p:oleObj spid="_x0000_s57507" name="公式" r:id="rId5" imgW="2997000" imgH="723600" progId="Equation.3">
                  <p:embed/>
                </p:oleObj>
              </mc:Choice>
              <mc:Fallback>
                <p:oleObj name="公式" r:id="rId5" imgW="2997000" imgH="723600" progId="Equation.3">
                  <p:embed/>
                  <p:pic>
                    <p:nvPicPr>
                      <p:cNvPr id="0" name="Object 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3175" y="3533775"/>
                        <a:ext cx="6007100"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437" name="Object 93"/>
          <p:cNvGraphicFramePr>
            <a:graphicFrameLocks noChangeAspect="1"/>
          </p:cNvGraphicFramePr>
          <p:nvPr/>
        </p:nvGraphicFramePr>
        <p:xfrm>
          <a:off x="4818063" y="5530850"/>
          <a:ext cx="2411412" cy="711200"/>
        </p:xfrm>
        <a:graphic>
          <a:graphicData uri="http://schemas.openxmlformats.org/presentationml/2006/ole">
            <mc:AlternateContent xmlns:mc="http://schemas.openxmlformats.org/markup-compatibility/2006">
              <mc:Choice xmlns:v="urn:schemas-microsoft-com:vml" Requires="v">
                <p:oleObj spid="_x0000_s57508" name="公式" r:id="rId7" imgW="1206360" imgH="355320" progId="Equation.3">
                  <p:embed/>
                </p:oleObj>
              </mc:Choice>
              <mc:Fallback>
                <p:oleObj name="公式" r:id="rId7" imgW="1206360" imgH="355320" progId="Equation.3">
                  <p:embed/>
                  <p:pic>
                    <p:nvPicPr>
                      <p:cNvPr id="0" name="Object 9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18063" y="5530850"/>
                        <a:ext cx="241141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438" name="Text Box 94"/>
          <p:cNvSpPr txBox="1">
            <a:spLocks noChangeArrowheads="1"/>
          </p:cNvSpPr>
          <p:nvPr/>
        </p:nvSpPr>
        <p:spPr bwMode="auto">
          <a:xfrm>
            <a:off x="1090613" y="6156325"/>
            <a:ext cx="511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互感不大于两个自感的算术平均值。</a:t>
            </a:r>
          </a:p>
        </p:txBody>
      </p:sp>
      <p:graphicFrame>
        <p:nvGraphicFramePr>
          <p:cNvPr id="57439" name="Object 95"/>
          <p:cNvGraphicFramePr>
            <a:graphicFrameLocks noChangeAspect="1"/>
          </p:cNvGraphicFramePr>
          <p:nvPr/>
        </p:nvGraphicFramePr>
        <p:xfrm>
          <a:off x="1492250" y="5651500"/>
          <a:ext cx="2894013" cy="431800"/>
        </p:xfrm>
        <a:graphic>
          <a:graphicData uri="http://schemas.openxmlformats.org/presentationml/2006/ole">
            <mc:AlternateContent xmlns:mc="http://schemas.openxmlformats.org/markup-compatibility/2006">
              <mc:Choice xmlns:v="urn:schemas-microsoft-com:vml" Requires="v">
                <p:oleObj spid="_x0000_s57509" name="公式" r:id="rId9" imgW="1447560" imgH="215640" progId="Equation.3">
                  <p:embed/>
                </p:oleObj>
              </mc:Choice>
              <mc:Fallback>
                <p:oleObj name="公式" r:id="rId9" imgW="1447560" imgH="215640" progId="Equation.3">
                  <p:embed/>
                  <p:pic>
                    <p:nvPicPr>
                      <p:cNvPr id="0" name="Object 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2250" y="5651500"/>
                        <a:ext cx="28940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7368"/>
                                        </p:tgtEl>
                                        <p:attrNameLst>
                                          <p:attrName>style.visibility</p:attrName>
                                        </p:attrNameLst>
                                      </p:cBhvr>
                                      <p:to>
                                        <p:strVal val="visible"/>
                                      </p:to>
                                    </p:set>
                                    <p:anim calcmode="lin" valueType="num">
                                      <p:cBhvr additive="base">
                                        <p:cTn id="7" dur="500" fill="hold"/>
                                        <p:tgtEl>
                                          <p:spTgt spid="57368"/>
                                        </p:tgtEl>
                                        <p:attrNameLst>
                                          <p:attrName>ppt_x</p:attrName>
                                        </p:attrNameLst>
                                      </p:cBhvr>
                                      <p:tavLst>
                                        <p:tav tm="0">
                                          <p:val>
                                            <p:strVal val="#ppt_x"/>
                                          </p:val>
                                        </p:tav>
                                        <p:tav tm="100000">
                                          <p:val>
                                            <p:strVal val="#ppt_x"/>
                                          </p:val>
                                        </p:tav>
                                      </p:tavLst>
                                    </p:anim>
                                    <p:anim calcmode="lin" valueType="num">
                                      <p:cBhvr additive="base">
                                        <p:cTn id="8" dur="500" fill="hold"/>
                                        <p:tgtEl>
                                          <p:spTgt spid="5736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57440"/>
                                        </p:tgtEl>
                                        <p:attrNameLst>
                                          <p:attrName>style.visibility</p:attrName>
                                        </p:attrNameLst>
                                      </p:cBhvr>
                                      <p:to>
                                        <p:strVal val="visible"/>
                                      </p:to>
                                    </p:set>
                                    <p:anim calcmode="lin" valueType="num">
                                      <p:cBhvr>
                                        <p:cTn id="13" dur="500" fill="hold"/>
                                        <p:tgtEl>
                                          <p:spTgt spid="57440"/>
                                        </p:tgtEl>
                                        <p:attrNameLst>
                                          <p:attrName>ppt_w</p:attrName>
                                        </p:attrNameLst>
                                      </p:cBhvr>
                                      <p:tavLst>
                                        <p:tav tm="0">
                                          <p:val>
                                            <p:fltVal val="0"/>
                                          </p:val>
                                        </p:tav>
                                        <p:tav tm="100000">
                                          <p:val>
                                            <p:strVal val="#ppt_w"/>
                                          </p:val>
                                        </p:tav>
                                      </p:tavLst>
                                    </p:anim>
                                    <p:anim calcmode="lin" valueType="num">
                                      <p:cBhvr>
                                        <p:cTn id="14" dur="500" fill="hold"/>
                                        <p:tgtEl>
                                          <p:spTgt spid="5744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 fill="hold" nodeType="clickEffect">
                                  <p:stCondLst>
                                    <p:cond delay="0"/>
                                  </p:stCondLst>
                                  <p:childTnLst>
                                    <p:set>
                                      <p:cBhvr>
                                        <p:cTn id="18" dur="1" fill="hold">
                                          <p:stCondLst>
                                            <p:cond delay="0"/>
                                          </p:stCondLst>
                                        </p:cTn>
                                        <p:tgtEl>
                                          <p:spTgt spid="57436"/>
                                        </p:tgtEl>
                                        <p:attrNameLst>
                                          <p:attrName>style.visibility</p:attrName>
                                        </p:attrNameLst>
                                      </p:cBhvr>
                                      <p:to>
                                        <p:strVal val="visible"/>
                                      </p:to>
                                    </p:set>
                                    <p:anim calcmode="lin" valueType="num">
                                      <p:cBhvr>
                                        <p:cTn id="19" dur="500" fill="hold"/>
                                        <p:tgtEl>
                                          <p:spTgt spid="57436"/>
                                        </p:tgtEl>
                                        <p:attrNameLst>
                                          <p:attrName>ppt_x</p:attrName>
                                        </p:attrNameLst>
                                      </p:cBhvr>
                                      <p:tavLst>
                                        <p:tav tm="0">
                                          <p:val>
                                            <p:strVal val="#ppt_x"/>
                                          </p:val>
                                        </p:tav>
                                        <p:tav tm="100000">
                                          <p:val>
                                            <p:strVal val="#ppt_x"/>
                                          </p:val>
                                        </p:tav>
                                      </p:tavLst>
                                    </p:anim>
                                    <p:anim calcmode="lin" valueType="num">
                                      <p:cBhvr>
                                        <p:cTn id="20" dur="500" fill="hold"/>
                                        <p:tgtEl>
                                          <p:spTgt spid="57436"/>
                                        </p:tgtEl>
                                        <p:attrNameLst>
                                          <p:attrName>ppt_y</p:attrName>
                                        </p:attrNameLst>
                                      </p:cBhvr>
                                      <p:tavLst>
                                        <p:tav tm="0">
                                          <p:val>
                                            <p:strVal val="#ppt_y-#ppt_h/2"/>
                                          </p:val>
                                        </p:tav>
                                        <p:tav tm="100000">
                                          <p:val>
                                            <p:strVal val="#ppt_y"/>
                                          </p:val>
                                        </p:tav>
                                      </p:tavLst>
                                    </p:anim>
                                    <p:anim calcmode="lin" valueType="num">
                                      <p:cBhvr>
                                        <p:cTn id="21" dur="500" fill="hold"/>
                                        <p:tgtEl>
                                          <p:spTgt spid="57436"/>
                                        </p:tgtEl>
                                        <p:attrNameLst>
                                          <p:attrName>ppt_w</p:attrName>
                                        </p:attrNameLst>
                                      </p:cBhvr>
                                      <p:tavLst>
                                        <p:tav tm="0">
                                          <p:val>
                                            <p:strVal val="#ppt_w"/>
                                          </p:val>
                                        </p:tav>
                                        <p:tav tm="100000">
                                          <p:val>
                                            <p:strVal val="#ppt_w"/>
                                          </p:val>
                                        </p:tav>
                                      </p:tavLst>
                                    </p:anim>
                                    <p:anim calcmode="lin" valueType="num">
                                      <p:cBhvr>
                                        <p:cTn id="22" dur="500" fill="hold"/>
                                        <p:tgtEl>
                                          <p:spTgt spid="57436"/>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 fill="hold" nodeType="clickEffect">
                                  <p:stCondLst>
                                    <p:cond delay="0"/>
                                  </p:stCondLst>
                                  <p:childTnLst>
                                    <p:set>
                                      <p:cBhvr>
                                        <p:cTn id="26" dur="1" fill="hold">
                                          <p:stCondLst>
                                            <p:cond delay="0"/>
                                          </p:stCondLst>
                                        </p:cTn>
                                        <p:tgtEl>
                                          <p:spTgt spid="57370"/>
                                        </p:tgtEl>
                                        <p:attrNameLst>
                                          <p:attrName>style.visibility</p:attrName>
                                        </p:attrNameLst>
                                      </p:cBhvr>
                                      <p:to>
                                        <p:strVal val="visible"/>
                                      </p:to>
                                    </p:set>
                                    <p:anim calcmode="lin" valueType="num">
                                      <p:cBhvr>
                                        <p:cTn id="27" dur="500" fill="hold"/>
                                        <p:tgtEl>
                                          <p:spTgt spid="57370"/>
                                        </p:tgtEl>
                                        <p:attrNameLst>
                                          <p:attrName>ppt_x</p:attrName>
                                        </p:attrNameLst>
                                      </p:cBhvr>
                                      <p:tavLst>
                                        <p:tav tm="0">
                                          <p:val>
                                            <p:strVal val="#ppt_x"/>
                                          </p:val>
                                        </p:tav>
                                        <p:tav tm="100000">
                                          <p:val>
                                            <p:strVal val="#ppt_x"/>
                                          </p:val>
                                        </p:tav>
                                      </p:tavLst>
                                    </p:anim>
                                    <p:anim calcmode="lin" valueType="num">
                                      <p:cBhvr>
                                        <p:cTn id="28" dur="500" fill="hold"/>
                                        <p:tgtEl>
                                          <p:spTgt spid="57370"/>
                                        </p:tgtEl>
                                        <p:attrNameLst>
                                          <p:attrName>ppt_y</p:attrName>
                                        </p:attrNameLst>
                                      </p:cBhvr>
                                      <p:tavLst>
                                        <p:tav tm="0">
                                          <p:val>
                                            <p:strVal val="#ppt_y-#ppt_h/2"/>
                                          </p:val>
                                        </p:tav>
                                        <p:tav tm="100000">
                                          <p:val>
                                            <p:strVal val="#ppt_y"/>
                                          </p:val>
                                        </p:tav>
                                      </p:tavLst>
                                    </p:anim>
                                    <p:anim calcmode="lin" valueType="num">
                                      <p:cBhvr>
                                        <p:cTn id="29" dur="500" fill="hold"/>
                                        <p:tgtEl>
                                          <p:spTgt spid="57370"/>
                                        </p:tgtEl>
                                        <p:attrNameLst>
                                          <p:attrName>ppt_w</p:attrName>
                                        </p:attrNameLst>
                                      </p:cBhvr>
                                      <p:tavLst>
                                        <p:tav tm="0">
                                          <p:val>
                                            <p:strVal val="#ppt_w"/>
                                          </p:val>
                                        </p:tav>
                                        <p:tav tm="100000">
                                          <p:val>
                                            <p:strVal val="#ppt_w"/>
                                          </p:val>
                                        </p:tav>
                                      </p:tavLst>
                                    </p:anim>
                                    <p:anim calcmode="lin" valueType="num">
                                      <p:cBhvr>
                                        <p:cTn id="30" dur="500" fill="hold"/>
                                        <p:tgtEl>
                                          <p:spTgt spid="57370"/>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8" fill="hold" nodeType="clickEffect">
                                  <p:stCondLst>
                                    <p:cond delay="0"/>
                                  </p:stCondLst>
                                  <p:childTnLst>
                                    <p:set>
                                      <p:cBhvr>
                                        <p:cTn id="34" dur="1" fill="hold">
                                          <p:stCondLst>
                                            <p:cond delay="0"/>
                                          </p:stCondLst>
                                        </p:cTn>
                                        <p:tgtEl>
                                          <p:spTgt spid="57413"/>
                                        </p:tgtEl>
                                        <p:attrNameLst>
                                          <p:attrName>style.visibility</p:attrName>
                                        </p:attrNameLst>
                                      </p:cBhvr>
                                      <p:to>
                                        <p:strVal val="visible"/>
                                      </p:to>
                                    </p:set>
                                    <p:animEffect transition="in" filter="slide(fromLeft)">
                                      <p:cBhvr>
                                        <p:cTn id="35" dur="500"/>
                                        <p:tgtEl>
                                          <p:spTgt spid="574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8" fill="hold" nodeType="clickEffect">
                                  <p:stCondLst>
                                    <p:cond delay="0"/>
                                  </p:stCondLst>
                                  <p:childTnLst>
                                    <p:set>
                                      <p:cBhvr>
                                        <p:cTn id="39" dur="1" fill="hold">
                                          <p:stCondLst>
                                            <p:cond delay="0"/>
                                          </p:stCondLst>
                                        </p:cTn>
                                        <p:tgtEl>
                                          <p:spTgt spid="57441"/>
                                        </p:tgtEl>
                                        <p:attrNameLst>
                                          <p:attrName>style.visibility</p:attrName>
                                        </p:attrNameLst>
                                      </p:cBhvr>
                                      <p:to>
                                        <p:strVal val="visible"/>
                                      </p:to>
                                    </p:set>
                                    <p:animEffect transition="in" filter="slide(fromLeft)">
                                      <p:cBhvr>
                                        <p:cTn id="40" dur="500"/>
                                        <p:tgtEl>
                                          <p:spTgt spid="5744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nodeType="clickEffect">
                                  <p:stCondLst>
                                    <p:cond delay="0"/>
                                  </p:stCondLst>
                                  <p:childTnLst>
                                    <p:set>
                                      <p:cBhvr>
                                        <p:cTn id="44" dur="1" fill="hold">
                                          <p:stCondLst>
                                            <p:cond delay="0"/>
                                          </p:stCondLst>
                                        </p:cTn>
                                        <p:tgtEl>
                                          <p:spTgt spid="57439"/>
                                        </p:tgtEl>
                                        <p:attrNameLst>
                                          <p:attrName>style.visibility</p:attrName>
                                        </p:attrNameLst>
                                      </p:cBhvr>
                                      <p:to>
                                        <p:strVal val="visible"/>
                                      </p:to>
                                    </p:set>
                                    <p:anim calcmode="lin" valueType="num">
                                      <p:cBhvr>
                                        <p:cTn id="45" dur="500" fill="hold"/>
                                        <p:tgtEl>
                                          <p:spTgt spid="57439"/>
                                        </p:tgtEl>
                                        <p:attrNameLst>
                                          <p:attrName>ppt_w</p:attrName>
                                        </p:attrNameLst>
                                      </p:cBhvr>
                                      <p:tavLst>
                                        <p:tav tm="0">
                                          <p:val>
                                            <p:fltVal val="0"/>
                                          </p:val>
                                        </p:tav>
                                        <p:tav tm="100000">
                                          <p:val>
                                            <p:strVal val="#ppt_w"/>
                                          </p:val>
                                        </p:tav>
                                      </p:tavLst>
                                    </p:anim>
                                    <p:anim calcmode="lin" valueType="num">
                                      <p:cBhvr>
                                        <p:cTn id="46" dur="500" fill="hold"/>
                                        <p:tgtEl>
                                          <p:spTgt spid="57439"/>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nodeType="clickEffect">
                                  <p:stCondLst>
                                    <p:cond delay="0"/>
                                  </p:stCondLst>
                                  <p:childTnLst>
                                    <p:set>
                                      <p:cBhvr>
                                        <p:cTn id="50" dur="1" fill="hold">
                                          <p:stCondLst>
                                            <p:cond delay="0"/>
                                          </p:stCondLst>
                                        </p:cTn>
                                        <p:tgtEl>
                                          <p:spTgt spid="57437"/>
                                        </p:tgtEl>
                                        <p:attrNameLst>
                                          <p:attrName>style.visibility</p:attrName>
                                        </p:attrNameLst>
                                      </p:cBhvr>
                                      <p:to>
                                        <p:strVal val="visible"/>
                                      </p:to>
                                    </p:set>
                                    <p:anim calcmode="lin" valueType="num">
                                      <p:cBhvr additive="base">
                                        <p:cTn id="51" dur="500" fill="hold"/>
                                        <p:tgtEl>
                                          <p:spTgt spid="57437"/>
                                        </p:tgtEl>
                                        <p:attrNameLst>
                                          <p:attrName>ppt_x</p:attrName>
                                        </p:attrNameLst>
                                      </p:cBhvr>
                                      <p:tavLst>
                                        <p:tav tm="0">
                                          <p:val>
                                            <p:strVal val="1+#ppt_w/2"/>
                                          </p:val>
                                        </p:tav>
                                        <p:tav tm="100000">
                                          <p:val>
                                            <p:strVal val="#ppt_x"/>
                                          </p:val>
                                        </p:tav>
                                      </p:tavLst>
                                    </p:anim>
                                    <p:anim calcmode="lin" valueType="num">
                                      <p:cBhvr additive="base">
                                        <p:cTn id="52" dur="500" fill="hold"/>
                                        <p:tgtEl>
                                          <p:spTgt spid="57437"/>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7438"/>
                                        </p:tgtEl>
                                        <p:attrNameLst>
                                          <p:attrName>style.visibility</p:attrName>
                                        </p:attrNameLst>
                                      </p:cBhvr>
                                      <p:to>
                                        <p:strVal val="visible"/>
                                      </p:to>
                                    </p:set>
                                    <p:anim calcmode="lin" valueType="num">
                                      <p:cBhvr additive="base">
                                        <p:cTn id="57" dur="500" fill="hold"/>
                                        <p:tgtEl>
                                          <p:spTgt spid="57438"/>
                                        </p:tgtEl>
                                        <p:attrNameLst>
                                          <p:attrName>ppt_x</p:attrName>
                                        </p:attrNameLst>
                                      </p:cBhvr>
                                      <p:tavLst>
                                        <p:tav tm="0">
                                          <p:val>
                                            <p:strVal val="#ppt_x"/>
                                          </p:val>
                                        </p:tav>
                                        <p:tav tm="100000">
                                          <p:val>
                                            <p:strVal val="#ppt_x"/>
                                          </p:val>
                                        </p:tav>
                                      </p:tavLst>
                                    </p:anim>
                                    <p:anim calcmode="lin" valueType="num">
                                      <p:cBhvr additive="base">
                                        <p:cTn id="58" dur="500" fill="hold"/>
                                        <p:tgtEl>
                                          <p:spTgt spid="57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8" grpId="0" autoUpdateAnimBg="0"/>
      <p:bldP spid="5743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525" name="Group 1181"/>
          <p:cNvGrpSpPr>
            <a:grpSpLocks/>
          </p:cNvGrpSpPr>
          <p:nvPr/>
        </p:nvGrpSpPr>
        <p:grpSpPr bwMode="auto">
          <a:xfrm>
            <a:off x="2838450" y="4941888"/>
            <a:ext cx="2851150" cy="450850"/>
            <a:chOff x="1788" y="3113"/>
            <a:chExt cx="1796" cy="284"/>
          </a:xfrm>
        </p:grpSpPr>
        <p:sp>
          <p:nvSpPr>
            <p:cNvPr id="58454" name="Line 1110"/>
            <p:cNvSpPr>
              <a:spLocks noChangeShapeType="1"/>
            </p:cNvSpPr>
            <p:nvPr/>
          </p:nvSpPr>
          <p:spPr bwMode="auto">
            <a:xfrm flipV="1">
              <a:off x="1788" y="3356"/>
              <a:ext cx="1610" cy="11"/>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4" name="Object 1120"/>
            <p:cNvGraphicFramePr>
              <a:graphicFrameLocks noChangeAspect="1"/>
            </p:cNvGraphicFramePr>
            <p:nvPr/>
          </p:nvGraphicFramePr>
          <p:xfrm>
            <a:off x="3409" y="3113"/>
            <a:ext cx="175" cy="284"/>
          </p:xfrm>
          <a:graphic>
            <a:graphicData uri="http://schemas.openxmlformats.org/presentationml/2006/ole">
              <mc:AlternateContent xmlns:mc="http://schemas.openxmlformats.org/markup-compatibility/2006">
                <mc:Choice xmlns:v="urn:schemas-microsoft-com:vml" Requires="v">
                  <p:oleObj spid="_x0000_s58768" name="Equation" r:id="rId3" imgW="126720" imgH="190440" progId="Equation.3">
                    <p:embed/>
                  </p:oleObj>
                </mc:Choice>
                <mc:Fallback>
                  <p:oleObj name="Equation" r:id="rId3" imgW="126720" imgH="190440" progId="Equation.3">
                    <p:embed/>
                    <p:pic>
                      <p:nvPicPr>
                        <p:cNvPr id="0" name="Object 1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9" y="3113"/>
                          <a:ext cx="175"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26" name="Group 1182"/>
          <p:cNvGrpSpPr>
            <a:grpSpLocks/>
          </p:cNvGrpSpPr>
          <p:nvPr/>
        </p:nvGrpSpPr>
        <p:grpSpPr bwMode="auto">
          <a:xfrm>
            <a:off x="2867025" y="4838700"/>
            <a:ext cx="796925" cy="458788"/>
            <a:chOff x="1806" y="3048"/>
            <a:chExt cx="502" cy="289"/>
          </a:xfrm>
        </p:grpSpPr>
        <p:sp>
          <p:nvSpPr>
            <p:cNvPr id="58455" name="Line 1111"/>
            <p:cNvSpPr>
              <a:spLocks noChangeShapeType="1"/>
            </p:cNvSpPr>
            <p:nvPr/>
          </p:nvSpPr>
          <p:spPr bwMode="auto">
            <a:xfrm>
              <a:off x="1806" y="3337"/>
              <a:ext cx="502"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5" name="Object 1121"/>
            <p:cNvGraphicFramePr>
              <a:graphicFrameLocks noChangeAspect="1"/>
            </p:cNvGraphicFramePr>
            <p:nvPr/>
          </p:nvGraphicFramePr>
          <p:xfrm>
            <a:off x="1896" y="3048"/>
            <a:ext cx="333" cy="282"/>
          </p:xfrm>
          <a:graphic>
            <a:graphicData uri="http://schemas.openxmlformats.org/presentationml/2006/ole">
              <mc:AlternateContent xmlns:mc="http://schemas.openxmlformats.org/markup-compatibility/2006">
                <mc:Choice xmlns:v="urn:schemas-microsoft-com:vml" Requires="v">
                  <p:oleObj spid="_x0000_s58769" name="Equation" r:id="rId5" imgW="291960" imgH="228600" progId="Equation.3">
                    <p:embed/>
                  </p:oleObj>
                </mc:Choice>
                <mc:Fallback>
                  <p:oleObj name="Equation" r:id="rId5" imgW="291960" imgH="228600" progId="Equation.3">
                    <p:embed/>
                    <p:pic>
                      <p:nvPicPr>
                        <p:cNvPr id="0" name="Object 11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6" y="3048"/>
                          <a:ext cx="333"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27" name="Group 1183"/>
          <p:cNvGrpSpPr>
            <a:grpSpLocks/>
          </p:cNvGrpSpPr>
          <p:nvPr/>
        </p:nvGrpSpPr>
        <p:grpSpPr bwMode="auto">
          <a:xfrm>
            <a:off x="2824163" y="4348163"/>
            <a:ext cx="795337" cy="920750"/>
            <a:chOff x="1779" y="2739"/>
            <a:chExt cx="501" cy="580"/>
          </a:xfrm>
        </p:grpSpPr>
        <p:sp>
          <p:nvSpPr>
            <p:cNvPr id="58456" name="Line 1112"/>
            <p:cNvSpPr>
              <a:spLocks noChangeShapeType="1"/>
            </p:cNvSpPr>
            <p:nvPr/>
          </p:nvSpPr>
          <p:spPr bwMode="auto">
            <a:xfrm rot="-5400000">
              <a:off x="2012" y="3051"/>
              <a:ext cx="535" cy="1"/>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6" name="Object 1122"/>
            <p:cNvGraphicFramePr>
              <a:graphicFrameLocks noChangeAspect="1"/>
            </p:cNvGraphicFramePr>
            <p:nvPr/>
          </p:nvGraphicFramePr>
          <p:xfrm>
            <a:off x="1779" y="2739"/>
            <a:ext cx="489" cy="277"/>
          </p:xfrm>
          <a:graphic>
            <a:graphicData uri="http://schemas.openxmlformats.org/presentationml/2006/ole">
              <mc:AlternateContent xmlns:mc="http://schemas.openxmlformats.org/markup-compatibility/2006">
                <mc:Choice xmlns:v="urn:schemas-microsoft-com:vml" Requires="v">
                  <p:oleObj spid="_x0000_s58770" name="Equation" r:id="rId7" imgW="431640" imgH="228600" progId="Equation.3">
                    <p:embed/>
                  </p:oleObj>
                </mc:Choice>
                <mc:Fallback>
                  <p:oleObj name="Equation" r:id="rId7" imgW="431640" imgH="228600" progId="Equation.3">
                    <p:embed/>
                    <p:pic>
                      <p:nvPicPr>
                        <p:cNvPr id="0" name="Object 11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9" y="2739"/>
                          <a:ext cx="489"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28" name="Group 1184"/>
          <p:cNvGrpSpPr>
            <a:grpSpLocks/>
          </p:cNvGrpSpPr>
          <p:nvPr/>
        </p:nvGrpSpPr>
        <p:grpSpPr bwMode="auto">
          <a:xfrm>
            <a:off x="3663950" y="4397375"/>
            <a:ext cx="790575" cy="1362075"/>
            <a:chOff x="2308" y="2770"/>
            <a:chExt cx="498" cy="858"/>
          </a:xfrm>
        </p:grpSpPr>
        <p:sp>
          <p:nvSpPr>
            <p:cNvPr id="58462" name="Line 1118"/>
            <p:cNvSpPr>
              <a:spLocks noChangeShapeType="1"/>
            </p:cNvSpPr>
            <p:nvPr/>
          </p:nvSpPr>
          <p:spPr bwMode="auto">
            <a:xfrm rot="5400000" flipV="1">
              <a:off x="1889" y="3209"/>
              <a:ext cx="838"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7" name="Object 1123"/>
            <p:cNvGraphicFramePr>
              <a:graphicFrameLocks noChangeAspect="1"/>
            </p:cNvGraphicFramePr>
            <p:nvPr/>
          </p:nvGraphicFramePr>
          <p:xfrm>
            <a:off x="2334" y="2770"/>
            <a:ext cx="472" cy="278"/>
          </p:xfrm>
          <a:graphic>
            <a:graphicData uri="http://schemas.openxmlformats.org/presentationml/2006/ole">
              <mc:AlternateContent xmlns:mc="http://schemas.openxmlformats.org/markup-compatibility/2006">
                <mc:Choice xmlns:v="urn:schemas-microsoft-com:vml" Requires="v">
                  <p:oleObj spid="_x0000_s58771" name="Equation" r:id="rId9" imgW="419040" imgH="228600" progId="Equation.3">
                    <p:embed/>
                  </p:oleObj>
                </mc:Choice>
                <mc:Fallback>
                  <p:oleObj name="Equation" r:id="rId9" imgW="419040" imgH="228600" progId="Equation.3">
                    <p:embed/>
                    <p:pic>
                      <p:nvPicPr>
                        <p:cNvPr id="0" name="Object 11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4" y="2770"/>
                          <a:ext cx="472"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31" name="Group 1187"/>
          <p:cNvGrpSpPr>
            <a:grpSpLocks/>
          </p:cNvGrpSpPr>
          <p:nvPr/>
        </p:nvGrpSpPr>
        <p:grpSpPr bwMode="auto">
          <a:xfrm>
            <a:off x="3663950" y="5759450"/>
            <a:ext cx="1455738" cy="449263"/>
            <a:chOff x="2308" y="3628"/>
            <a:chExt cx="917" cy="283"/>
          </a:xfrm>
        </p:grpSpPr>
        <p:sp>
          <p:nvSpPr>
            <p:cNvPr id="58458" name="Line 1114"/>
            <p:cNvSpPr>
              <a:spLocks noChangeShapeType="1"/>
            </p:cNvSpPr>
            <p:nvPr/>
          </p:nvSpPr>
          <p:spPr bwMode="auto">
            <a:xfrm>
              <a:off x="2308" y="3628"/>
              <a:ext cx="917"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8" name="Object 1124"/>
            <p:cNvGraphicFramePr>
              <a:graphicFrameLocks noChangeAspect="1"/>
            </p:cNvGraphicFramePr>
            <p:nvPr/>
          </p:nvGraphicFramePr>
          <p:xfrm>
            <a:off x="2710" y="3629"/>
            <a:ext cx="335" cy="282"/>
          </p:xfrm>
          <a:graphic>
            <a:graphicData uri="http://schemas.openxmlformats.org/presentationml/2006/ole">
              <mc:AlternateContent xmlns:mc="http://schemas.openxmlformats.org/markup-compatibility/2006">
                <mc:Choice xmlns:v="urn:schemas-microsoft-com:vml" Requires="v">
                  <p:oleObj spid="_x0000_s58772" name="Equation" r:id="rId11" imgW="291960" imgH="228600" progId="Equation.3">
                    <p:embed/>
                  </p:oleObj>
                </mc:Choice>
                <mc:Fallback>
                  <p:oleObj name="Equation" r:id="rId11" imgW="291960" imgH="228600" progId="Equation.3">
                    <p:embed/>
                    <p:pic>
                      <p:nvPicPr>
                        <p:cNvPr id="0" name="Object 11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0" y="3629"/>
                          <a:ext cx="335"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32" name="Group 1188"/>
          <p:cNvGrpSpPr>
            <a:grpSpLocks/>
          </p:cNvGrpSpPr>
          <p:nvPr/>
        </p:nvGrpSpPr>
        <p:grpSpPr bwMode="auto">
          <a:xfrm>
            <a:off x="4300538" y="3492500"/>
            <a:ext cx="819150" cy="2266950"/>
            <a:chOff x="2709" y="2200"/>
            <a:chExt cx="516" cy="1428"/>
          </a:xfrm>
        </p:grpSpPr>
        <p:sp>
          <p:nvSpPr>
            <p:cNvPr id="58459" name="Line 1115"/>
            <p:cNvSpPr>
              <a:spLocks noChangeShapeType="1"/>
            </p:cNvSpPr>
            <p:nvPr/>
          </p:nvSpPr>
          <p:spPr bwMode="auto">
            <a:xfrm rot="-5400000">
              <a:off x="2511" y="2914"/>
              <a:ext cx="1428"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69" name="Object 1125"/>
            <p:cNvGraphicFramePr>
              <a:graphicFrameLocks noChangeAspect="1"/>
            </p:cNvGraphicFramePr>
            <p:nvPr/>
          </p:nvGraphicFramePr>
          <p:xfrm>
            <a:off x="2709" y="2318"/>
            <a:ext cx="500" cy="278"/>
          </p:xfrm>
          <a:graphic>
            <a:graphicData uri="http://schemas.openxmlformats.org/presentationml/2006/ole">
              <mc:AlternateContent xmlns:mc="http://schemas.openxmlformats.org/markup-compatibility/2006">
                <mc:Choice xmlns:v="urn:schemas-microsoft-com:vml" Requires="v">
                  <p:oleObj spid="_x0000_s58773" name="Equation" r:id="rId13" imgW="444240" imgH="228600" progId="Equation.3">
                    <p:embed/>
                  </p:oleObj>
                </mc:Choice>
                <mc:Fallback>
                  <p:oleObj name="Equation" r:id="rId13" imgW="444240" imgH="228600" progId="Equation.3">
                    <p:embed/>
                    <p:pic>
                      <p:nvPicPr>
                        <p:cNvPr id="0" name="Object 11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09" y="2318"/>
                          <a:ext cx="500"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33" name="Group 1189"/>
          <p:cNvGrpSpPr>
            <a:grpSpLocks/>
          </p:cNvGrpSpPr>
          <p:nvPr/>
        </p:nvGrpSpPr>
        <p:grpSpPr bwMode="auto">
          <a:xfrm>
            <a:off x="5170488" y="3546475"/>
            <a:ext cx="841375" cy="1150938"/>
            <a:chOff x="3257" y="2234"/>
            <a:chExt cx="530" cy="725"/>
          </a:xfrm>
        </p:grpSpPr>
        <p:sp>
          <p:nvSpPr>
            <p:cNvPr id="58463" name="Line 1119"/>
            <p:cNvSpPr>
              <a:spLocks noChangeShapeType="1"/>
            </p:cNvSpPr>
            <p:nvPr/>
          </p:nvSpPr>
          <p:spPr bwMode="auto">
            <a:xfrm rot="5400000" flipV="1">
              <a:off x="2894" y="2597"/>
              <a:ext cx="725" cy="0"/>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70" name="Object 1126"/>
            <p:cNvGraphicFramePr>
              <a:graphicFrameLocks noChangeAspect="1"/>
            </p:cNvGraphicFramePr>
            <p:nvPr/>
          </p:nvGraphicFramePr>
          <p:xfrm>
            <a:off x="3316" y="2284"/>
            <a:ext cx="471" cy="277"/>
          </p:xfrm>
          <a:graphic>
            <a:graphicData uri="http://schemas.openxmlformats.org/presentationml/2006/ole">
              <mc:AlternateContent xmlns:mc="http://schemas.openxmlformats.org/markup-compatibility/2006">
                <mc:Choice xmlns:v="urn:schemas-microsoft-com:vml" Requires="v">
                  <p:oleObj spid="_x0000_s58774" name="Equation" r:id="rId15" imgW="419040" imgH="228600" progId="Equation.3">
                    <p:embed/>
                  </p:oleObj>
                </mc:Choice>
                <mc:Fallback>
                  <p:oleObj name="Equation" r:id="rId15" imgW="419040" imgH="228600" progId="Equation.3">
                    <p:embed/>
                    <p:pic>
                      <p:nvPicPr>
                        <p:cNvPr id="0" name="Object 11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6" y="2284"/>
                          <a:ext cx="471"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40" name="Group 1196"/>
          <p:cNvGrpSpPr>
            <a:grpSpLocks/>
          </p:cNvGrpSpPr>
          <p:nvPr/>
        </p:nvGrpSpPr>
        <p:grpSpPr bwMode="auto">
          <a:xfrm>
            <a:off x="2817813" y="5507038"/>
            <a:ext cx="903287" cy="454025"/>
            <a:chOff x="1775" y="3469"/>
            <a:chExt cx="569" cy="286"/>
          </a:xfrm>
        </p:grpSpPr>
        <p:sp>
          <p:nvSpPr>
            <p:cNvPr id="58457" name="Line 1113"/>
            <p:cNvSpPr>
              <a:spLocks noChangeShapeType="1"/>
            </p:cNvSpPr>
            <p:nvPr/>
          </p:nvSpPr>
          <p:spPr bwMode="auto">
            <a:xfrm rot="-3388474">
              <a:off x="2031" y="3213"/>
              <a:ext cx="57" cy="569"/>
            </a:xfrm>
            <a:prstGeom prst="line">
              <a:avLst/>
            </a:prstGeom>
            <a:noFill/>
            <a:ln w="28575">
              <a:solidFill>
                <a:schemeClr val="accent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71" name="Object 1127"/>
            <p:cNvGraphicFramePr>
              <a:graphicFrameLocks noChangeAspect="1"/>
            </p:cNvGraphicFramePr>
            <p:nvPr/>
          </p:nvGraphicFramePr>
          <p:xfrm>
            <a:off x="1910" y="3483"/>
            <a:ext cx="224" cy="272"/>
          </p:xfrm>
          <a:graphic>
            <a:graphicData uri="http://schemas.openxmlformats.org/presentationml/2006/ole">
              <mc:AlternateContent xmlns:mc="http://schemas.openxmlformats.org/markup-compatibility/2006">
                <mc:Choice xmlns:v="urn:schemas-microsoft-com:vml" Requires="v">
                  <p:oleObj spid="_x0000_s58775" name="Equation" r:id="rId16" imgW="203040" imgH="228600" progId="Equation.3">
                    <p:embed/>
                  </p:oleObj>
                </mc:Choice>
                <mc:Fallback>
                  <p:oleObj name="Equation" r:id="rId16" imgW="203040" imgH="228600" progId="Equation.3">
                    <p:embed/>
                    <p:pic>
                      <p:nvPicPr>
                        <p:cNvPr id="0" name="Object 11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10" y="3483"/>
                          <a:ext cx="22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39" name="Group 1195"/>
          <p:cNvGrpSpPr>
            <a:grpSpLocks/>
          </p:cNvGrpSpPr>
          <p:nvPr/>
        </p:nvGrpSpPr>
        <p:grpSpPr bwMode="auto">
          <a:xfrm>
            <a:off x="3711575" y="4643438"/>
            <a:ext cx="1481138" cy="1095375"/>
            <a:chOff x="2338" y="2925"/>
            <a:chExt cx="933" cy="690"/>
          </a:xfrm>
        </p:grpSpPr>
        <p:sp>
          <p:nvSpPr>
            <p:cNvPr id="58460" name="Freeform 1116"/>
            <p:cNvSpPr>
              <a:spLocks/>
            </p:cNvSpPr>
            <p:nvPr/>
          </p:nvSpPr>
          <p:spPr bwMode="auto">
            <a:xfrm>
              <a:off x="2338" y="2925"/>
              <a:ext cx="933" cy="690"/>
            </a:xfrm>
            <a:custGeom>
              <a:avLst/>
              <a:gdLst>
                <a:gd name="T0" fmla="*/ 0 w 436"/>
                <a:gd name="T1" fmla="*/ 782 h 782"/>
                <a:gd name="T2" fmla="*/ 436 w 436"/>
                <a:gd name="T3" fmla="*/ 0 h 782"/>
              </a:gdLst>
              <a:ahLst/>
              <a:cxnLst>
                <a:cxn ang="0">
                  <a:pos x="T0" y="T1"/>
                </a:cxn>
                <a:cxn ang="0">
                  <a:pos x="T2" y="T3"/>
                </a:cxn>
              </a:cxnLst>
              <a:rect l="0" t="0" r="r" b="b"/>
              <a:pathLst>
                <a:path w="436" h="782">
                  <a:moveTo>
                    <a:pt x="0" y="782"/>
                  </a:moveTo>
                  <a:lnTo>
                    <a:pt x="436" y="0"/>
                  </a:lnTo>
                </a:path>
              </a:pathLst>
            </a:custGeom>
            <a:noFill/>
            <a:ln w="28575" cap="flat" cmpd="sng">
              <a:solidFill>
                <a:schemeClr val="accent2"/>
              </a:solidFill>
              <a:prstDash val="solid"/>
              <a:round/>
              <a:headEnd type="none" w="med" len="me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72" name="Object 1128"/>
            <p:cNvGraphicFramePr>
              <a:graphicFrameLocks noChangeAspect="1"/>
            </p:cNvGraphicFramePr>
            <p:nvPr/>
          </p:nvGraphicFramePr>
          <p:xfrm>
            <a:off x="2984" y="3080"/>
            <a:ext cx="228" cy="259"/>
          </p:xfrm>
          <a:graphic>
            <a:graphicData uri="http://schemas.openxmlformats.org/presentationml/2006/ole">
              <mc:AlternateContent xmlns:mc="http://schemas.openxmlformats.org/markup-compatibility/2006">
                <mc:Choice xmlns:v="urn:schemas-microsoft-com:vml" Requires="v">
                  <p:oleObj spid="_x0000_s58776" name="Equation" r:id="rId18" imgW="215640" imgH="228600" progId="Equation.3">
                    <p:embed/>
                  </p:oleObj>
                </mc:Choice>
                <mc:Fallback>
                  <p:oleObj name="Equation" r:id="rId18" imgW="215640" imgH="228600" progId="Equation.3">
                    <p:embed/>
                    <p:pic>
                      <p:nvPicPr>
                        <p:cNvPr id="0" name="Object 11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84" y="3080"/>
                          <a:ext cx="22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535" name="Group 1191"/>
          <p:cNvGrpSpPr>
            <a:grpSpLocks/>
          </p:cNvGrpSpPr>
          <p:nvPr/>
        </p:nvGrpSpPr>
        <p:grpSpPr bwMode="auto">
          <a:xfrm>
            <a:off x="2886075" y="4327525"/>
            <a:ext cx="2306638" cy="946150"/>
            <a:chOff x="1818" y="2726"/>
            <a:chExt cx="1453" cy="596"/>
          </a:xfrm>
        </p:grpSpPr>
        <p:sp>
          <p:nvSpPr>
            <p:cNvPr id="58461" name="Freeform 1117"/>
            <p:cNvSpPr>
              <a:spLocks/>
            </p:cNvSpPr>
            <p:nvPr/>
          </p:nvSpPr>
          <p:spPr bwMode="auto">
            <a:xfrm>
              <a:off x="1818" y="2925"/>
              <a:ext cx="1453" cy="397"/>
            </a:xfrm>
            <a:custGeom>
              <a:avLst/>
              <a:gdLst>
                <a:gd name="T0" fmla="*/ 0 w 526"/>
                <a:gd name="T1" fmla="*/ 1295 h 1295"/>
                <a:gd name="T2" fmla="*/ 526 w 526"/>
                <a:gd name="T3" fmla="*/ 0 h 1295"/>
              </a:gdLst>
              <a:ahLst/>
              <a:cxnLst>
                <a:cxn ang="0">
                  <a:pos x="T0" y="T1"/>
                </a:cxn>
                <a:cxn ang="0">
                  <a:pos x="T2" y="T3"/>
                </a:cxn>
              </a:cxnLst>
              <a:rect l="0" t="0" r="r" b="b"/>
              <a:pathLst>
                <a:path w="526" h="1295">
                  <a:moveTo>
                    <a:pt x="0" y="1295"/>
                  </a:moveTo>
                  <a:lnTo>
                    <a:pt x="526" y="0"/>
                  </a:lnTo>
                </a:path>
              </a:pathLst>
            </a:custGeom>
            <a:noFill/>
            <a:ln w="28575" cap="flat" cmpd="sng">
              <a:solidFill>
                <a:srgbClr val="FF3300"/>
              </a:solidFill>
              <a:prstDash val="solid"/>
              <a:round/>
              <a:headEnd type="none" w="med" len="me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8473" name="Object 1129"/>
            <p:cNvGraphicFramePr>
              <a:graphicFrameLocks noChangeAspect="1"/>
            </p:cNvGraphicFramePr>
            <p:nvPr/>
          </p:nvGraphicFramePr>
          <p:xfrm>
            <a:off x="2942" y="2726"/>
            <a:ext cx="203" cy="273"/>
          </p:xfrm>
          <a:graphic>
            <a:graphicData uri="http://schemas.openxmlformats.org/presentationml/2006/ole">
              <mc:AlternateContent xmlns:mc="http://schemas.openxmlformats.org/markup-compatibility/2006">
                <mc:Choice xmlns:v="urn:schemas-microsoft-com:vml" Requires="v">
                  <p:oleObj spid="_x0000_s58777" name="Equation" r:id="rId20" imgW="164880" imgH="203040" progId="Equation.3">
                    <p:embed/>
                  </p:oleObj>
                </mc:Choice>
                <mc:Fallback>
                  <p:oleObj name="Equation" r:id="rId20" imgW="164880" imgH="203040" progId="Equation.3">
                    <p:embed/>
                    <p:pic>
                      <p:nvPicPr>
                        <p:cNvPr id="0" name="Object 11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42" y="2726"/>
                          <a:ext cx="203"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8476" name="Text Box 1132"/>
          <p:cNvSpPr txBox="1">
            <a:spLocks noChangeArrowheads="1"/>
          </p:cNvSpPr>
          <p:nvPr/>
        </p:nvSpPr>
        <p:spPr bwMode="auto">
          <a:xfrm>
            <a:off x="660400" y="3035300"/>
            <a:ext cx="1577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相量图</a:t>
            </a:r>
            <a:endParaRPr lang="zh-CN" altLang="en-US" b="1"/>
          </a:p>
        </p:txBody>
      </p:sp>
      <p:sp>
        <p:nvSpPr>
          <p:cNvPr id="58482" name="Text Box 1138"/>
          <p:cNvSpPr txBox="1">
            <a:spLocks noChangeArrowheads="1"/>
          </p:cNvSpPr>
          <p:nvPr/>
        </p:nvSpPr>
        <p:spPr bwMode="auto">
          <a:xfrm>
            <a:off x="609600" y="381000"/>
            <a:ext cx="2354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在正弦稳态下</a:t>
            </a:r>
          </a:p>
        </p:txBody>
      </p:sp>
      <p:grpSp>
        <p:nvGrpSpPr>
          <p:cNvPr id="58524" name="Group 1180"/>
          <p:cNvGrpSpPr>
            <a:grpSpLocks/>
          </p:cNvGrpSpPr>
          <p:nvPr/>
        </p:nvGrpSpPr>
        <p:grpSpPr bwMode="auto">
          <a:xfrm>
            <a:off x="1792288" y="700088"/>
            <a:ext cx="4633912" cy="1792287"/>
            <a:chOff x="1129" y="441"/>
            <a:chExt cx="2919" cy="1129"/>
          </a:xfrm>
        </p:grpSpPr>
        <p:sp>
          <p:nvSpPr>
            <p:cNvPr id="58484" name="Line 1140"/>
            <p:cNvSpPr>
              <a:spLocks noChangeShapeType="1"/>
            </p:cNvSpPr>
            <p:nvPr/>
          </p:nvSpPr>
          <p:spPr bwMode="auto">
            <a:xfrm>
              <a:off x="1829" y="993"/>
              <a:ext cx="21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85" name="Line 1141"/>
            <p:cNvSpPr>
              <a:spLocks noChangeShapeType="1"/>
            </p:cNvSpPr>
            <p:nvPr/>
          </p:nvSpPr>
          <p:spPr bwMode="auto">
            <a:xfrm>
              <a:off x="1225" y="885"/>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8486" name="Group 1142"/>
            <p:cNvGrpSpPr>
              <a:grpSpLocks/>
            </p:cNvGrpSpPr>
            <p:nvPr/>
          </p:nvGrpSpPr>
          <p:grpSpPr bwMode="auto">
            <a:xfrm>
              <a:off x="2049" y="947"/>
              <a:ext cx="379" cy="57"/>
              <a:chOff x="1200" y="1584"/>
              <a:chExt cx="379" cy="45"/>
            </a:xfrm>
          </p:grpSpPr>
          <p:sp>
            <p:nvSpPr>
              <p:cNvPr id="58487" name="Arc 114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88" name="Arc 114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89" name="Arc 114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0" name="Arc 114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491" name="Oval 1147"/>
            <p:cNvSpPr>
              <a:spLocks noChangeArrowheads="1"/>
            </p:cNvSpPr>
            <p:nvPr/>
          </p:nvSpPr>
          <p:spPr bwMode="auto">
            <a:xfrm>
              <a:off x="1143" y="95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2" name="Line 1148"/>
            <p:cNvSpPr>
              <a:spLocks noChangeShapeType="1"/>
            </p:cNvSpPr>
            <p:nvPr/>
          </p:nvSpPr>
          <p:spPr bwMode="auto">
            <a:xfrm>
              <a:off x="3595" y="993"/>
              <a:ext cx="3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8493" name="Group 1149"/>
            <p:cNvGrpSpPr>
              <a:grpSpLocks/>
            </p:cNvGrpSpPr>
            <p:nvPr/>
          </p:nvGrpSpPr>
          <p:grpSpPr bwMode="auto">
            <a:xfrm>
              <a:off x="3216" y="940"/>
              <a:ext cx="379" cy="57"/>
              <a:chOff x="1200" y="1584"/>
              <a:chExt cx="379" cy="45"/>
            </a:xfrm>
          </p:grpSpPr>
          <p:sp>
            <p:nvSpPr>
              <p:cNvPr id="58494" name="Arc 115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5" name="Arc 115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6" name="Arc 115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7" name="Arc 115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498" name="Oval 1154"/>
            <p:cNvSpPr>
              <a:spLocks noChangeArrowheads="1"/>
            </p:cNvSpPr>
            <p:nvPr/>
          </p:nvSpPr>
          <p:spPr bwMode="auto">
            <a:xfrm>
              <a:off x="3927" y="955"/>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99" name="Arc 1155"/>
            <p:cNvSpPr>
              <a:spLocks/>
            </p:cNvSpPr>
            <p:nvPr/>
          </p:nvSpPr>
          <p:spPr bwMode="auto">
            <a:xfrm>
              <a:off x="2754" y="600"/>
              <a:ext cx="324" cy="281"/>
            </a:xfrm>
            <a:custGeom>
              <a:avLst/>
              <a:gdLst>
                <a:gd name="G0" fmla="+- 0 0 0"/>
                <a:gd name="G1" fmla="+- 21600 0 0"/>
                <a:gd name="G2" fmla="+- 21600 0 0"/>
                <a:gd name="T0" fmla="*/ 0 w 19335"/>
                <a:gd name="T1" fmla="*/ 0 h 21600"/>
                <a:gd name="T2" fmla="*/ 19335 w 19335"/>
                <a:gd name="T3" fmla="*/ 11971 h 21600"/>
                <a:gd name="T4" fmla="*/ 0 w 19335"/>
                <a:gd name="T5" fmla="*/ 21600 h 21600"/>
              </a:gdLst>
              <a:ahLst/>
              <a:cxnLst>
                <a:cxn ang="0">
                  <a:pos x="T0" y="T1"/>
                </a:cxn>
                <a:cxn ang="0">
                  <a:pos x="T2" y="T3"/>
                </a:cxn>
                <a:cxn ang="0">
                  <a:pos x="T4" y="T5"/>
                </a:cxn>
              </a:cxnLst>
              <a:rect l="0" t="0" r="r" b="b"/>
              <a:pathLst>
                <a:path w="19335" h="21600" fill="none" extrusionOk="0">
                  <a:moveTo>
                    <a:pt x="0" y="0"/>
                  </a:moveTo>
                  <a:cubicBezTo>
                    <a:pt x="8193" y="0"/>
                    <a:pt x="15682" y="4636"/>
                    <a:pt x="19335" y="11970"/>
                  </a:cubicBezTo>
                </a:path>
                <a:path w="19335" h="21600" stroke="0" extrusionOk="0">
                  <a:moveTo>
                    <a:pt x="0" y="0"/>
                  </a:moveTo>
                  <a:cubicBezTo>
                    <a:pt x="8193" y="0"/>
                    <a:pt x="15682" y="4636"/>
                    <a:pt x="19335" y="11970"/>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00" name="Arc 1156"/>
            <p:cNvSpPr>
              <a:spLocks/>
            </p:cNvSpPr>
            <p:nvPr/>
          </p:nvSpPr>
          <p:spPr bwMode="auto">
            <a:xfrm rot="10800000" flipV="1">
              <a:off x="2020" y="607"/>
              <a:ext cx="347" cy="281"/>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01" name="Text Box 1157"/>
            <p:cNvSpPr txBox="1">
              <a:spLocks noChangeArrowheads="1"/>
            </p:cNvSpPr>
            <p:nvPr/>
          </p:nvSpPr>
          <p:spPr bwMode="auto">
            <a:xfrm>
              <a:off x="2607" y="1029"/>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02" name="Text Box 1158"/>
            <p:cNvSpPr txBox="1">
              <a:spLocks noChangeArrowheads="1"/>
            </p:cNvSpPr>
            <p:nvPr/>
          </p:nvSpPr>
          <p:spPr bwMode="auto">
            <a:xfrm>
              <a:off x="3595" y="1001"/>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03" name="Rectangle 1159"/>
            <p:cNvSpPr>
              <a:spLocks noChangeArrowheads="1"/>
            </p:cNvSpPr>
            <p:nvPr/>
          </p:nvSpPr>
          <p:spPr bwMode="auto">
            <a:xfrm>
              <a:off x="2743" y="936"/>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04" name="Rectangle 1160"/>
            <p:cNvSpPr>
              <a:spLocks noChangeArrowheads="1"/>
            </p:cNvSpPr>
            <p:nvPr/>
          </p:nvSpPr>
          <p:spPr bwMode="auto">
            <a:xfrm>
              <a:off x="1525" y="936"/>
              <a:ext cx="304" cy="105"/>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05" name="Line 1161"/>
            <p:cNvSpPr>
              <a:spLocks noChangeShapeType="1"/>
            </p:cNvSpPr>
            <p:nvPr/>
          </p:nvSpPr>
          <p:spPr bwMode="auto">
            <a:xfrm>
              <a:off x="1211" y="993"/>
              <a:ext cx="3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06" name="Text Box 1162"/>
            <p:cNvSpPr txBox="1">
              <a:spLocks noChangeArrowheads="1"/>
            </p:cNvSpPr>
            <p:nvPr/>
          </p:nvSpPr>
          <p:spPr bwMode="auto">
            <a:xfrm>
              <a:off x="1555" y="630"/>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1</a:t>
              </a:r>
              <a:endParaRPr lang="en-US" altLang="zh-CN" b="1"/>
            </a:p>
          </p:txBody>
        </p:sp>
        <p:sp>
          <p:nvSpPr>
            <p:cNvPr id="58507" name="Text Box 1163"/>
            <p:cNvSpPr txBox="1">
              <a:spLocks noChangeArrowheads="1"/>
            </p:cNvSpPr>
            <p:nvPr/>
          </p:nvSpPr>
          <p:spPr bwMode="auto">
            <a:xfrm>
              <a:off x="2744" y="639"/>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2</a:t>
              </a:r>
              <a:endParaRPr lang="en-US" altLang="zh-CN" b="1"/>
            </a:p>
          </p:txBody>
        </p:sp>
        <p:sp>
          <p:nvSpPr>
            <p:cNvPr id="58508" name="Text Box 1164"/>
            <p:cNvSpPr txBox="1">
              <a:spLocks noChangeArrowheads="1"/>
            </p:cNvSpPr>
            <p:nvPr/>
          </p:nvSpPr>
          <p:spPr bwMode="auto">
            <a:xfrm>
              <a:off x="2047" y="663"/>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L</a:t>
              </a:r>
              <a:r>
                <a:rPr lang="en-US" altLang="zh-CN" b="1" baseline="-25000"/>
                <a:t>1</a:t>
              </a:r>
              <a:endParaRPr lang="en-US" altLang="zh-CN" b="1"/>
            </a:p>
          </p:txBody>
        </p:sp>
        <p:sp>
          <p:nvSpPr>
            <p:cNvPr id="58509" name="Text Box 1165"/>
            <p:cNvSpPr txBox="1">
              <a:spLocks noChangeArrowheads="1"/>
            </p:cNvSpPr>
            <p:nvPr/>
          </p:nvSpPr>
          <p:spPr bwMode="auto">
            <a:xfrm>
              <a:off x="1315" y="106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10" name="Text Box 1166"/>
            <p:cNvSpPr txBox="1">
              <a:spLocks noChangeArrowheads="1"/>
            </p:cNvSpPr>
            <p:nvPr/>
          </p:nvSpPr>
          <p:spPr bwMode="auto">
            <a:xfrm>
              <a:off x="2367" y="1023"/>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11" name="Text Box 1167"/>
            <p:cNvSpPr txBox="1">
              <a:spLocks noChangeArrowheads="1"/>
            </p:cNvSpPr>
            <p:nvPr/>
          </p:nvSpPr>
          <p:spPr bwMode="auto">
            <a:xfrm>
              <a:off x="1129" y="128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12" name="Text Box 1168"/>
            <p:cNvSpPr txBox="1">
              <a:spLocks noChangeArrowheads="1"/>
            </p:cNvSpPr>
            <p:nvPr/>
          </p:nvSpPr>
          <p:spPr bwMode="auto">
            <a:xfrm>
              <a:off x="3759" y="1233"/>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8513" name="Line 1169"/>
            <p:cNvSpPr>
              <a:spLocks noChangeShapeType="1"/>
            </p:cNvSpPr>
            <p:nvPr/>
          </p:nvSpPr>
          <p:spPr bwMode="auto">
            <a:xfrm>
              <a:off x="3047" y="993"/>
              <a:ext cx="16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14" name="Line 1170"/>
            <p:cNvSpPr>
              <a:spLocks noChangeShapeType="1"/>
            </p:cNvSpPr>
            <p:nvPr/>
          </p:nvSpPr>
          <p:spPr bwMode="auto">
            <a:xfrm flipV="1">
              <a:off x="2428" y="993"/>
              <a:ext cx="315"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15" name="Text Box 1171"/>
            <p:cNvSpPr txBox="1">
              <a:spLocks noChangeArrowheads="1"/>
            </p:cNvSpPr>
            <p:nvPr/>
          </p:nvSpPr>
          <p:spPr bwMode="auto">
            <a:xfrm>
              <a:off x="3216" y="63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L</a:t>
              </a:r>
              <a:r>
                <a:rPr lang="en-US" altLang="zh-CN" b="1" baseline="-25000"/>
                <a:t>2</a:t>
              </a:r>
              <a:endParaRPr lang="en-US" altLang="zh-CN" b="1"/>
            </a:p>
          </p:txBody>
        </p:sp>
        <p:graphicFrame>
          <p:nvGraphicFramePr>
            <p:cNvPr id="58516" name="Object 1172"/>
            <p:cNvGraphicFramePr>
              <a:graphicFrameLocks noChangeAspect="1"/>
            </p:cNvGraphicFramePr>
            <p:nvPr/>
          </p:nvGraphicFramePr>
          <p:xfrm>
            <a:off x="1812" y="1008"/>
            <a:ext cx="261" cy="294"/>
          </p:xfrm>
          <a:graphic>
            <a:graphicData uri="http://schemas.openxmlformats.org/presentationml/2006/ole">
              <mc:AlternateContent xmlns:mc="http://schemas.openxmlformats.org/markup-compatibility/2006">
                <mc:Choice xmlns:v="urn:schemas-microsoft-com:vml" Requires="v">
                  <p:oleObj spid="_x0000_s58778" name="Equation" r:id="rId22" imgW="203040" imgH="228600" progId="Equation.3">
                    <p:embed/>
                  </p:oleObj>
                </mc:Choice>
                <mc:Fallback>
                  <p:oleObj name="Equation" r:id="rId22" imgW="203040" imgH="228600" progId="Equation.3">
                    <p:embed/>
                    <p:pic>
                      <p:nvPicPr>
                        <p:cNvPr id="0" name="Object 117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12" y="1008"/>
                          <a:ext cx="261"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517" name="Object 1173"/>
            <p:cNvGraphicFramePr>
              <a:graphicFrameLocks noChangeAspect="1"/>
            </p:cNvGraphicFramePr>
            <p:nvPr/>
          </p:nvGraphicFramePr>
          <p:xfrm>
            <a:off x="3130" y="996"/>
            <a:ext cx="278" cy="294"/>
          </p:xfrm>
          <a:graphic>
            <a:graphicData uri="http://schemas.openxmlformats.org/presentationml/2006/ole">
              <mc:AlternateContent xmlns:mc="http://schemas.openxmlformats.org/markup-compatibility/2006">
                <mc:Choice xmlns:v="urn:schemas-microsoft-com:vml" Requires="v">
                  <p:oleObj spid="_x0000_s58779" name="Equation" r:id="rId24" imgW="215640" imgH="228600" progId="Equation.3">
                    <p:embed/>
                  </p:oleObj>
                </mc:Choice>
                <mc:Fallback>
                  <p:oleObj name="Equation" r:id="rId24" imgW="215640" imgH="228600" progId="Equation.3">
                    <p:embed/>
                    <p:pic>
                      <p:nvPicPr>
                        <p:cNvPr id="0" name="Object 117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30" y="996"/>
                          <a:ext cx="278"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518" name="Text Box 1174"/>
            <p:cNvSpPr txBox="1">
              <a:spLocks noChangeArrowheads="1"/>
            </p:cNvSpPr>
            <p:nvPr/>
          </p:nvSpPr>
          <p:spPr bwMode="auto">
            <a:xfrm>
              <a:off x="2269" y="441"/>
              <a:ext cx="6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j</a:t>
              </a:r>
              <a:r>
                <a:rPr lang="en-US" altLang="zh-CN" b="1" i="1">
                  <a:sym typeface="Symbol" panose="05050102010706020507" pitchFamily="18" charset="2"/>
                </a:rPr>
                <a:t></a:t>
              </a:r>
              <a:r>
                <a:rPr lang="en-US" altLang="zh-CN" b="1" i="1"/>
                <a:t>M</a:t>
              </a:r>
              <a:endParaRPr lang="en-US" altLang="zh-CN" b="1"/>
            </a:p>
          </p:txBody>
        </p:sp>
        <p:graphicFrame>
          <p:nvGraphicFramePr>
            <p:cNvPr id="58519" name="Object 1175"/>
            <p:cNvGraphicFramePr>
              <a:graphicFrameLocks noChangeAspect="1"/>
            </p:cNvGraphicFramePr>
            <p:nvPr/>
          </p:nvGraphicFramePr>
          <p:xfrm>
            <a:off x="2389" y="1258"/>
            <a:ext cx="211" cy="262"/>
          </p:xfrm>
          <a:graphic>
            <a:graphicData uri="http://schemas.openxmlformats.org/presentationml/2006/ole">
              <mc:AlternateContent xmlns:mc="http://schemas.openxmlformats.org/markup-compatibility/2006">
                <mc:Choice xmlns:v="urn:schemas-microsoft-com:vml" Requires="v">
                  <p:oleObj spid="_x0000_s58780" name="Equation" r:id="rId26" imgW="164880" imgH="203040" progId="Equation.3">
                    <p:embed/>
                  </p:oleObj>
                </mc:Choice>
                <mc:Fallback>
                  <p:oleObj name="Equation" r:id="rId26" imgW="164880" imgH="203040" progId="Equation.3">
                    <p:embed/>
                    <p:pic>
                      <p:nvPicPr>
                        <p:cNvPr id="0" name="Object 117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389" y="1258"/>
                          <a:ext cx="211"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520" name="Object 1176"/>
            <p:cNvGraphicFramePr>
              <a:graphicFrameLocks noChangeAspect="1"/>
            </p:cNvGraphicFramePr>
            <p:nvPr/>
          </p:nvGraphicFramePr>
          <p:xfrm>
            <a:off x="1267" y="571"/>
            <a:ext cx="162" cy="244"/>
          </p:xfrm>
          <a:graphic>
            <a:graphicData uri="http://schemas.openxmlformats.org/presentationml/2006/ole">
              <mc:AlternateContent xmlns:mc="http://schemas.openxmlformats.org/markup-compatibility/2006">
                <mc:Choice xmlns:v="urn:schemas-microsoft-com:vml" Requires="v">
                  <p:oleObj spid="_x0000_s58781" name="Equation" r:id="rId28" imgW="126720" imgH="190440" progId="Equation.3">
                    <p:embed/>
                  </p:oleObj>
                </mc:Choice>
                <mc:Fallback>
                  <p:oleObj name="Equation" r:id="rId28" imgW="126720" imgH="190440" progId="Equation.3">
                    <p:embed/>
                    <p:pic>
                      <p:nvPicPr>
                        <p:cNvPr id="0" name="Object 11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 y="571"/>
                          <a:ext cx="162"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521" name="Text Box 1177"/>
            <p:cNvSpPr txBox="1">
              <a:spLocks noChangeArrowheads="1"/>
            </p:cNvSpPr>
            <p:nvPr/>
          </p:nvSpPr>
          <p:spPr bwMode="auto">
            <a:xfrm>
              <a:off x="1867" y="783"/>
              <a:ext cx="3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sp>
          <p:nvSpPr>
            <p:cNvPr id="58522" name="Text Box 1178"/>
            <p:cNvSpPr txBox="1">
              <a:spLocks noChangeArrowheads="1"/>
            </p:cNvSpPr>
            <p:nvPr/>
          </p:nvSpPr>
          <p:spPr bwMode="auto">
            <a:xfrm>
              <a:off x="3679" y="793"/>
              <a:ext cx="3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chemeClr val="accent2"/>
                  </a:solidFill>
                  <a:sym typeface="Symbol" panose="05050102010706020507" pitchFamily="18" charset="2"/>
                </a:rPr>
                <a:t></a:t>
              </a:r>
              <a:endParaRPr lang="en-US" altLang="zh-CN" sz="2000" b="1">
                <a:solidFill>
                  <a:schemeClr val="accent2"/>
                </a:solidFill>
              </a:endParaRPr>
            </a:p>
          </p:txBody>
        </p:sp>
      </p:grpSp>
      <p:graphicFrame>
        <p:nvGraphicFramePr>
          <p:cNvPr id="58523" name="Object 1179"/>
          <p:cNvGraphicFramePr>
            <a:graphicFrameLocks noChangeAspect="1"/>
          </p:cNvGraphicFramePr>
          <p:nvPr/>
        </p:nvGraphicFramePr>
        <p:xfrm>
          <a:off x="1538288" y="2452688"/>
          <a:ext cx="5422900" cy="455612"/>
        </p:xfrm>
        <a:graphic>
          <a:graphicData uri="http://schemas.openxmlformats.org/presentationml/2006/ole">
            <mc:AlternateContent xmlns:mc="http://schemas.openxmlformats.org/markup-compatibility/2006">
              <mc:Choice xmlns:v="urn:schemas-microsoft-com:vml" Requires="v">
                <p:oleObj spid="_x0000_s58782" name="Equation" r:id="rId29" imgW="2400120" imgH="228600" progId="Equation.3">
                  <p:embed/>
                </p:oleObj>
              </mc:Choice>
              <mc:Fallback>
                <p:oleObj name="Equation" r:id="rId29" imgW="2400120" imgH="228600" progId="Equation.3">
                  <p:embed/>
                  <p:pic>
                    <p:nvPicPr>
                      <p:cNvPr id="0" name="Object 117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38288" y="2452688"/>
                        <a:ext cx="54229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84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58524"/>
                                        </p:tgtEl>
                                        <p:attrNameLst>
                                          <p:attrName>style.visibility</p:attrName>
                                        </p:attrNameLst>
                                      </p:cBhvr>
                                      <p:to>
                                        <p:strVal val="visible"/>
                                      </p:to>
                                    </p:set>
                                    <p:anim calcmode="lin" valueType="num">
                                      <p:cBhvr>
                                        <p:cTn id="11" dur="500" fill="hold"/>
                                        <p:tgtEl>
                                          <p:spTgt spid="58524"/>
                                        </p:tgtEl>
                                        <p:attrNameLst>
                                          <p:attrName>ppt_w</p:attrName>
                                        </p:attrNameLst>
                                      </p:cBhvr>
                                      <p:tavLst>
                                        <p:tav tm="0">
                                          <p:val>
                                            <p:fltVal val="0"/>
                                          </p:val>
                                        </p:tav>
                                        <p:tav tm="100000">
                                          <p:val>
                                            <p:strVal val="#ppt_w"/>
                                          </p:val>
                                        </p:tav>
                                      </p:tavLst>
                                    </p:anim>
                                    <p:anim calcmode="lin" valueType="num">
                                      <p:cBhvr>
                                        <p:cTn id="12" dur="500" fill="hold"/>
                                        <p:tgtEl>
                                          <p:spTgt spid="58524"/>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58523"/>
                                        </p:tgtEl>
                                        <p:attrNameLst>
                                          <p:attrName>style.visibility</p:attrName>
                                        </p:attrNameLst>
                                      </p:cBhvr>
                                      <p:to>
                                        <p:strVal val="visible"/>
                                      </p:to>
                                    </p:set>
                                    <p:anim calcmode="lin" valueType="num">
                                      <p:cBhvr additive="base">
                                        <p:cTn id="17" dur="500" fill="hold"/>
                                        <p:tgtEl>
                                          <p:spTgt spid="58523"/>
                                        </p:tgtEl>
                                        <p:attrNameLst>
                                          <p:attrName>ppt_x</p:attrName>
                                        </p:attrNameLst>
                                      </p:cBhvr>
                                      <p:tavLst>
                                        <p:tav tm="0">
                                          <p:val>
                                            <p:strVal val="0-#ppt_w/2"/>
                                          </p:val>
                                        </p:tav>
                                        <p:tav tm="100000">
                                          <p:val>
                                            <p:strVal val="#ppt_x"/>
                                          </p:val>
                                        </p:tav>
                                      </p:tavLst>
                                    </p:anim>
                                    <p:anim calcmode="lin" valueType="num">
                                      <p:cBhvr additive="base">
                                        <p:cTn id="18" dur="500" fill="hold"/>
                                        <p:tgtEl>
                                          <p:spTgt spid="58523"/>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500"/>
                            </p:stCondLst>
                            <p:childTnLst>
                              <p:par>
                                <p:cTn id="20" presetID="2" presetClass="entr" presetSubtype="8" fill="hold" grpId="0" nodeType="afterEffect">
                                  <p:stCondLst>
                                    <p:cond delay="0"/>
                                  </p:stCondLst>
                                  <p:childTnLst>
                                    <p:set>
                                      <p:cBhvr>
                                        <p:cTn id="21" dur="1" fill="hold">
                                          <p:stCondLst>
                                            <p:cond delay="0"/>
                                          </p:stCondLst>
                                        </p:cTn>
                                        <p:tgtEl>
                                          <p:spTgt spid="58476"/>
                                        </p:tgtEl>
                                        <p:attrNameLst>
                                          <p:attrName>style.visibility</p:attrName>
                                        </p:attrNameLst>
                                      </p:cBhvr>
                                      <p:to>
                                        <p:strVal val="visible"/>
                                      </p:to>
                                    </p:set>
                                    <p:anim calcmode="lin" valueType="num">
                                      <p:cBhvr additive="base">
                                        <p:cTn id="22" dur="500" fill="hold"/>
                                        <p:tgtEl>
                                          <p:spTgt spid="58476"/>
                                        </p:tgtEl>
                                        <p:attrNameLst>
                                          <p:attrName>ppt_x</p:attrName>
                                        </p:attrNameLst>
                                      </p:cBhvr>
                                      <p:tavLst>
                                        <p:tav tm="0">
                                          <p:val>
                                            <p:strVal val="0-#ppt_w/2"/>
                                          </p:val>
                                        </p:tav>
                                        <p:tav tm="100000">
                                          <p:val>
                                            <p:strVal val="#ppt_x"/>
                                          </p:val>
                                        </p:tav>
                                      </p:tavLst>
                                    </p:anim>
                                    <p:anim calcmode="lin" valueType="num">
                                      <p:cBhvr additive="base">
                                        <p:cTn id="23" dur="500" fill="hold"/>
                                        <p:tgtEl>
                                          <p:spTgt spid="58476"/>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8525"/>
                                        </p:tgtEl>
                                        <p:attrNameLst>
                                          <p:attrName>style.visibility</p:attrName>
                                        </p:attrNameLst>
                                      </p:cBhvr>
                                      <p:to>
                                        <p:strVal val="visible"/>
                                      </p:to>
                                    </p:set>
                                    <p:animEffect transition="in" filter="wipe(left)">
                                      <p:cBhvr>
                                        <p:cTn id="28" dur="500"/>
                                        <p:tgtEl>
                                          <p:spTgt spid="5852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8526"/>
                                        </p:tgtEl>
                                        <p:attrNameLst>
                                          <p:attrName>style.visibility</p:attrName>
                                        </p:attrNameLst>
                                      </p:cBhvr>
                                      <p:to>
                                        <p:strVal val="visible"/>
                                      </p:to>
                                    </p:set>
                                    <p:animEffect transition="in" filter="wipe(left)">
                                      <p:cBhvr>
                                        <p:cTn id="33" dur="500"/>
                                        <p:tgtEl>
                                          <p:spTgt spid="5852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58527"/>
                                        </p:tgtEl>
                                        <p:attrNameLst>
                                          <p:attrName>style.visibility</p:attrName>
                                        </p:attrNameLst>
                                      </p:cBhvr>
                                      <p:to>
                                        <p:strVal val="visible"/>
                                      </p:to>
                                    </p:set>
                                    <p:animEffect transition="in" filter="wipe(down)">
                                      <p:cBhvr>
                                        <p:cTn id="38" dur="500"/>
                                        <p:tgtEl>
                                          <p:spTgt spid="585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58528"/>
                                        </p:tgtEl>
                                        <p:attrNameLst>
                                          <p:attrName>style.visibility</p:attrName>
                                        </p:attrNameLst>
                                      </p:cBhvr>
                                      <p:to>
                                        <p:strVal val="visible"/>
                                      </p:to>
                                    </p:set>
                                    <p:animEffect transition="in" filter="wipe(up)">
                                      <p:cBhvr>
                                        <p:cTn id="43" dur="500"/>
                                        <p:tgtEl>
                                          <p:spTgt spid="585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8540"/>
                                        </p:tgtEl>
                                        <p:attrNameLst>
                                          <p:attrName>style.visibility</p:attrName>
                                        </p:attrNameLst>
                                      </p:cBhvr>
                                      <p:to>
                                        <p:strVal val="visible"/>
                                      </p:to>
                                    </p:set>
                                    <p:animEffect transition="in" filter="wipe(left)">
                                      <p:cBhvr>
                                        <p:cTn id="48" dur="500"/>
                                        <p:tgtEl>
                                          <p:spTgt spid="5854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58531"/>
                                        </p:tgtEl>
                                        <p:attrNameLst>
                                          <p:attrName>style.visibility</p:attrName>
                                        </p:attrNameLst>
                                      </p:cBhvr>
                                      <p:to>
                                        <p:strVal val="visible"/>
                                      </p:to>
                                    </p:set>
                                    <p:animEffect transition="in" filter="wipe(left)">
                                      <p:cBhvr>
                                        <p:cTn id="53" dur="500"/>
                                        <p:tgtEl>
                                          <p:spTgt spid="5853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nodeType="clickEffect">
                                  <p:stCondLst>
                                    <p:cond delay="0"/>
                                  </p:stCondLst>
                                  <p:childTnLst>
                                    <p:set>
                                      <p:cBhvr>
                                        <p:cTn id="57" dur="1" fill="hold">
                                          <p:stCondLst>
                                            <p:cond delay="0"/>
                                          </p:stCondLst>
                                        </p:cTn>
                                        <p:tgtEl>
                                          <p:spTgt spid="58532"/>
                                        </p:tgtEl>
                                        <p:attrNameLst>
                                          <p:attrName>style.visibility</p:attrName>
                                        </p:attrNameLst>
                                      </p:cBhvr>
                                      <p:to>
                                        <p:strVal val="visible"/>
                                      </p:to>
                                    </p:set>
                                    <p:animEffect transition="in" filter="wipe(down)">
                                      <p:cBhvr>
                                        <p:cTn id="58" dur="500"/>
                                        <p:tgtEl>
                                          <p:spTgt spid="5853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58533"/>
                                        </p:tgtEl>
                                        <p:attrNameLst>
                                          <p:attrName>style.visibility</p:attrName>
                                        </p:attrNameLst>
                                      </p:cBhvr>
                                      <p:to>
                                        <p:strVal val="visible"/>
                                      </p:to>
                                    </p:set>
                                    <p:animEffect transition="in" filter="wipe(up)">
                                      <p:cBhvr>
                                        <p:cTn id="63" dur="500"/>
                                        <p:tgtEl>
                                          <p:spTgt spid="5853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58539"/>
                                        </p:tgtEl>
                                        <p:attrNameLst>
                                          <p:attrName>style.visibility</p:attrName>
                                        </p:attrNameLst>
                                      </p:cBhvr>
                                      <p:to>
                                        <p:strVal val="visible"/>
                                      </p:to>
                                    </p:set>
                                    <p:animEffect transition="in" filter="wipe(left)">
                                      <p:cBhvr>
                                        <p:cTn id="68" dur="500"/>
                                        <p:tgtEl>
                                          <p:spTgt spid="5853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8535"/>
                                        </p:tgtEl>
                                        <p:attrNameLst>
                                          <p:attrName>style.visibility</p:attrName>
                                        </p:attrNameLst>
                                      </p:cBhvr>
                                      <p:to>
                                        <p:strVal val="visible"/>
                                      </p:to>
                                    </p:set>
                                    <p:animEffect transition="in" filter="wipe(left)">
                                      <p:cBhvr>
                                        <p:cTn id="73" dur="500"/>
                                        <p:tgtEl>
                                          <p:spTgt spid="58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6" grpId="0" autoUpdateAnimBg="0"/>
      <p:bldP spid="5848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781050" y="1011238"/>
            <a:ext cx="24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1.  </a:t>
            </a:r>
            <a:r>
              <a:rPr lang="zh-CN" altLang="en-US" b="1"/>
              <a:t>同名端在同侧</a:t>
            </a:r>
          </a:p>
        </p:txBody>
      </p:sp>
      <p:graphicFrame>
        <p:nvGraphicFramePr>
          <p:cNvPr id="14369" name="Object 33"/>
          <p:cNvGraphicFramePr>
            <a:graphicFrameLocks noChangeAspect="1"/>
          </p:cNvGraphicFramePr>
          <p:nvPr/>
        </p:nvGraphicFramePr>
        <p:xfrm>
          <a:off x="4972050" y="1430338"/>
          <a:ext cx="2354263" cy="741362"/>
        </p:xfrm>
        <a:graphic>
          <a:graphicData uri="http://schemas.openxmlformats.org/presentationml/2006/ole">
            <mc:AlternateContent xmlns:mc="http://schemas.openxmlformats.org/markup-compatibility/2006">
              <mc:Choice xmlns:v="urn:schemas-microsoft-com:vml" Requires="v">
                <p:oleObj spid="_x0000_s98379" name="Equation" r:id="rId3" imgW="1244520" imgH="393480" progId="Equation.3">
                  <p:embed/>
                </p:oleObj>
              </mc:Choice>
              <mc:Fallback>
                <p:oleObj name="Equation" r:id="rId3" imgW="1244520" imgH="393480"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2050" y="1430338"/>
                        <a:ext cx="2354263"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71" name="AutoShape 35"/>
          <p:cNvSpPr>
            <a:spLocks/>
          </p:cNvSpPr>
          <p:nvPr/>
        </p:nvSpPr>
        <p:spPr bwMode="auto">
          <a:xfrm>
            <a:off x="4629150" y="1752600"/>
            <a:ext cx="304800" cy="1438275"/>
          </a:xfrm>
          <a:prstGeom prst="leftBrace">
            <a:avLst>
              <a:gd name="adj1" fmla="val 3932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75" name="Object 39"/>
          <p:cNvGraphicFramePr>
            <a:graphicFrameLocks noChangeAspect="1"/>
          </p:cNvGraphicFramePr>
          <p:nvPr/>
        </p:nvGraphicFramePr>
        <p:xfrm>
          <a:off x="1782763" y="4021138"/>
          <a:ext cx="2733675" cy="882650"/>
        </p:xfrm>
        <a:graphic>
          <a:graphicData uri="http://schemas.openxmlformats.org/presentationml/2006/ole">
            <mc:AlternateContent xmlns:mc="http://schemas.openxmlformats.org/markup-compatibility/2006">
              <mc:Choice xmlns:v="urn:schemas-microsoft-com:vml" Requires="v">
                <p:oleObj spid="_x0000_s98380" name="Equation" r:id="rId5" imgW="1371600" imgH="444240" progId="Equation.3">
                  <p:embed/>
                </p:oleObj>
              </mc:Choice>
              <mc:Fallback>
                <p:oleObj name="Equation" r:id="rId5" imgW="1371600" imgH="444240" progId="Equation.3">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2763" y="4021138"/>
                        <a:ext cx="2733675"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76" name="Object 40"/>
          <p:cNvGraphicFramePr>
            <a:graphicFrameLocks noChangeAspect="1"/>
          </p:cNvGraphicFramePr>
          <p:nvPr/>
        </p:nvGraphicFramePr>
        <p:xfrm>
          <a:off x="5143500" y="4065588"/>
          <a:ext cx="3048000" cy="838200"/>
        </p:xfrm>
        <a:graphic>
          <a:graphicData uri="http://schemas.openxmlformats.org/presentationml/2006/ole">
            <mc:AlternateContent xmlns:mc="http://schemas.openxmlformats.org/markup-compatibility/2006">
              <mc:Choice xmlns:v="urn:schemas-microsoft-com:vml" Requires="v">
                <p:oleObj spid="_x0000_s98381" name="Equation" r:id="rId7" imgW="1612800" imgH="444240" progId="Equation.3">
                  <p:embed/>
                </p:oleObj>
              </mc:Choice>
              <mc:Fallback>
                <p:oleObj name="Equation" r:id="rId7" imgW="1612800" imgH="444240" progId="Equation.3">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3500" y="4065588"/>
                        <a:ext cx="3048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77" name="Text Box 41"/>
          <p:cNvSpPr txBox="1">
            <a:spLocks noChangeArrowheads="1"/>
          </p:cNvSpPr>
          <p:nvPr/>
        </p:nvSpPr>
        <p:spPr bwMode="auto">
          <a:xfrm>
            <a:off x="4927600" y="2873375"/>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a:t> = </a:t>
            </a:r>
            <a:r>
              <a:rPr lang="en-US" altLang="zh-CN" b="1" i="1"/>
              <a:t>i</a:t>
            </a:r>
            <a:r>
              <a:rPr lang="en-US" altLang="zh-CN" b="1" baseline="-25000"/>
              <a:t>1</a:t>
            </a:r>
            <a:r>
              <a:rPr lang="en-US" altLang="zh-CN" b="1"/>
              <a:t> +</a:t>
            </a:r>
            <a:r>
              <a:rPr lang="en-US" altLang="zh-CN" b="1" i="1"/>
              <a:t>i</a:t>
            </a:r>
            <a:r>
              <a:rPr lang="en-US" altLang="zh-CN" b="1" baseline="-25000"/>
              <a:t>2 </a:t>
            </a:r>
            <a:endParaRPr lang="en-US" altLang="zh-CN" b="1"/>
          </a:p>
        </p:txBody>
      </p:sp>
      <p:sp>
        <p:nvSpPr>
          <p:cNvPr id="14378" name="Text Box 42"/>
          <p:cNvSpPr txBox="1">
            <a:spLocks noChangeArrowheads="1"/>
          </p:cNvSpPr>
          <p:nvPr/>
        </p:nvSpPr>
        <p:spPr bwMode="auto">
          <a:xfrm>
            <a:off x="1282700" y="3563938"/>
            <a:ext cx="2122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解得</a:t>
            </a:r>
            <a:r>
              <a:rPr lang="en-US" altLang="zh-CN" b="1" i="1"/>
              <a:t>u</a:t>
            </a:r>
            <a:r>
              <a:rPr lang="en-US" altLang="zh-CN" b="1"/>
              <a:t>, </a:t>
            </a:r>
            <a:r>
              <a:rPr lang="en-US" altLang="zh-CN" b="1" i="1"/>
              <a:t>i</a:t>
            </a:r>
            <a:r>
              <a:rPr lang="zh-CN" altLang="en-US" b="1"/>
              <a:t>的关系</a:t>
            </a:r>
          </a:p>
        </p:txBody>
      </p:sp>
      <p:sp>
        <p:nvSpPr>
          <p:cNvPr id="14382" name="Text Box 46"/>
          <p:cNvSpPr txBox="1">
            <a:spLocks noChangeArrowheads="1"/>
          </p:cNvSpPr>
          <p:nvPr/>
        </p:nvSpPr>
        <p:spPr bwMode="auto">
          <a:xfrm>
            <a:off x="320675" y="458788"/>
            <a:ext cx="2941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rPr>
              <a:t>二、互感线圈的并联</a:t>
            </a:r>
            <a:endParaRPr lang="zh-CN" altLang="en-US" b="1"/>
          </a:p>
        </p:txBody>
      </p:sp>
      <p:grpSp>
        <p:nvGrpSpPr>
          <p:cNvPr id="14433" name="Group 97"/>
          <p:cNvGrpSpPr>
            <a:grpSpLocks/>
          </p:cNvGrpSpPr>
          <p:nvPr/>
        </p:nvGrpSpPr>
        <p:grpSpPr bwMode="auto">
          <a:xfrm>
            <a:off x="1219200" y="1333500"/>
            <a:ext cx="2776538" cy="1933575"/>
            <a:chOff x="768" y="840"/>
            <a:chExt cx="1749" cy="1218"/>
          </a:xfrm>
        </p:grpSpPr>
        <p:sp>
          <p:nvSpPr>
            <p:cNvPr id="14343" name="Line 7"/>
            <p:cNvSpPr>
              <a:spLocks noChangeShapeType="1"/>
            </p:cNvSpPr>
            <p:nvPr/>
          </p:nvSpPr>
          <p:spPr bwMode="auto">
            <a:xfrm>
              <a:off x="1680" y="1832"/>
              <a:ext cx="0" cy="2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4" name="Line 8"/>
            <p:cNvSpPr>
              <a:spLocks noChangeShapeType="1"/>
            </p:cNvSpPr>
            <p:nvPr/>
          </p:nvSpPr>
          <p:spPr bwMode="auto">
            <a:xfrm>
              <a:off x="1680" y="1212"/>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6" name="Line 10"/>
            <p:cNvSpPr>
              <a:spLocks noChangeShapeType="1"/>
            </p:cNvSpPr>
            <p:nvPr/>
          </p:nvSpPr>
          <p:spPr bwMode="auto">
            <a:xfrm>
              <a:off x="2160" y="1814"/>
              <a:ext cx="0" cy="2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7" name="Line 11"/>
            <p:cNvSpPr>
              <a:spLocks noChangeShapeType="1"/>
            </p:cNvSpPr>
            <p:nvPr/>
          </p:nvSpPr>
          <p:spPr bwMode="auto">
            <a:xfrm>
              <a:off x="2160" y="1212"/>
              <a:ext cx="0" cy="2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8" name="Line 12"/>
            <p:cNvSpPr>
              <a:spLocks noChangeShapeType="1"/>
            </p:cNvSpPr>
            <p:nvPr/>
          </p:nvSpPr>
          <p:spPr bwMode="auto">
            <a:xfrm>
              <a:off x="912" y="1212"/>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9" name="Line 13"/>
            <p:cNvSpPr>
              <a:spLocks noChangeShapeType="1"/>
            </p:cNvSpPr>
            <p:nvPr/>
          </p:nvSpPr>
          <p:spPr bwMode="auto">
            <a:xfrm>
              <a:off x="912" y="2040"/>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Line 14"/>
            <p:cNvSpPr>
              <a:spLocks noChangeShapeType="1"/>
            </p:cNvSpPr>
            <p:nvPr/>
          </p:nvSpPr>
          <p:spPr bwMode="auto">
            <a:xfrm>
              <a:off x="1614" y="1248"/>
              <a:ext cx="0" cy="24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Line 15"/>
            <p:cNvSpPr>
              <a:spLocks noChangeShapeType="1"/>
            </p:cNvSpPr>
            <p:nvPr/>
          </p:nvSpPr>
          <p:spPr bwMode="auto">
            <a:xfrm>
              <a:off x="2256" y="1224"/>
              <a:ext cx="0" cy="24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Text Box 16"/>
            <p:cNvSpPr txBox="1">
              <a:spLocks noChangeArrowheads="1"/>
            </p:cNvSpPr>
            <p:nvPr/>
          </p:nvSpPr>
          <p:spPr bwMode="auto">
            <a:xfrm>
              <a:off x="1658" y="126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14353" name="Text Box 17"/>
            <p:cNvSpPr txBox="1">
              <a:spLocks noChangeArrowheads="1"/>
            </p:cNvSpPr>
            <p:nvPr/>
          </p:nvSpPr>
          <p:spPr bwMode="auto">
            <a:xfrm>
              <a:off x="1968" y="124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14356" name="Text Box 20"/>
            <p:cNvSpPr txBox="1">
              <a:spLocks noChangeArrowheads="1"/>
            </p:cNvSpPr>
            <p:nvPr/>
          </p:nvSpPr>
          <p:spPr bwMode="auto">
            <a:xfrm>
              <a:off x="1776" y="84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solidFill>
                  <a:schemeClr val="accent2"/>
                </a:solidFill>
              </a:endParaRPr>
            </a:p>
          </p:txBody>
        </p:sp>
        <p:sp>
          <p:nvSpPr>
            <p:cNvPr id="14357" name="Text Box 21"/>
            <p:cNvSpPr txBox="1">
              <a:spLocks noChangeArrowheads="1"/>
            </p:cNvSpPr>
            <p:nvPr/>
          </p:nvSpPr>
          <p:spPr bwMode="auto">
            <a:xfrm>
              <a:off x="2234" y="114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14359" name="Text Box 23"/>
            <p:cNvSpPr txBox="1">
              <a:spLocks noChangeArrowheads="1"/>
            </p:cNvSpPr>
            <p:nvPr/>
          </p:nvSpPr>
          <p:spPr bwMode="auto">
            <a:xfrm>
              <a:off x="1380" y="116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14360" name="Text Box 24"/>
            <p:cNvSpPr txBox="1">
              <a:spLocks noChangeArrowheads="1"/>
            </p:cNvSpPr>
            <p:nvPr/>
          </p:nvSpPr>
          <p:spPr bwMode="auto">
            <a:xfrm>
              <a:off x="1388" y="1490"/>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14361" name="Text Box 25"/>
            <p:cNvSpPr txBox="1">
              <a:spLocks noChangeArrowheads="1"/>
            </p:cNvSpPr>
            <p:nvPr/>
          </p:nvSpPr>
          <p:spPr bwMode="auto">
            <a:xfrm>
              <a:off x="2220" y="147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14365" name="Text Box 29"/>
            <p:cNvSpPr txBox="1">
              <a:spLocks noChangeArrowheads="1"/>
            </p:cNvSpPr>
            <p:nvPr/>
          </p:nvSpPr>
          <p:spPr bwMode="auto">
            <a:xfrm>
              <a:off x="768" y="149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p>
          </p:txBody>
        </p:sp>
        <p:sp>
          <p:nvSpPr>
            <p:cNvPr id="14366" name="Text Box 30"/>
            <p:cNvSpPr txBox="1">
              <a:spLocks noChangeArrowheads="1"/>
            </p:cNvSpPr>
            <p:nvPr/>
          </p:nvSpPr>
          <p:spPr bwMode="auto">
            <a:xfrm>
              <a:off x="954" y="858"/>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p>
          </p:txBody>
        </p:sp>
        <p:sp>
          <p:nvSpPr>
            <p:cNvPr id="14367" name="Line 31"/>
            <p:cNvSpPr>
              <a:spLocks noChangeShapeType="1"/>
            </p:cNvSpPr>
            <p:nvPr/>
          </p:nvSpPr>
          <p:spPr bwMode="auto">
            <a:xfrm>
              <a:off x="900" y="1134"/>
              <a:ext cx="336"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88" name="Group 52"/>
            <p:cNvGrpSpPr>
              <a:grpSpLocks/>
            </p:cNvGrpSpPr>
            <p:nvPr/>
          </p:nvGrpSpPr>
          <p:grpSpPr bwMode="auto">
            <a:xfrm rot="5400000">
              <a:off x="1994" y="1593"/>
              <a:ext cx="379" cy="57"/>
              <a:chOff x="1200" y="1584"/>
              <a:chExt cx="379" cy="45"/>
            </a:xfrm>
          </p:grpSpPr>
          <p:sp>
            <p:nvSpPr>
              <p:cNvPr id="14389" name="Arc 5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0" name="Arc 5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1" name="Arc 5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2" name="Arc 5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93" name="Oval 57"/>
            <p:cNvSpPr>
              <a:spLocks noChangeArrowheads="1"/>
            </p:cNvSpPr>
            <p:nvPr/>
          </p:nvSpPr>
          <p:spPr bwMode="auto">
            <a:xfrm>
              <a:off x="856" y="1187"/>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95" name="Group 59"/>
            <p:cNvGrpSpPr>
              <a:grpSpLocks/>
            </p:cNvGrpSpPr>
            <p:nvPr/>
          </p:nvGrpSpPr>
          <p:grpSpPr bwMode="auto">
            <a:xfrm rot="5400000">
              <a:off x="1517" y="1614"/>
              <a:ext cx="379" cy="57"/>
              <a:chOff x="1200" y="1584"/>
              <a:chExt cx="379" cy="45"/>
            </a:xfrm>
          </p:grpSpPr>
          <p:sp>
            <p:nvSpPr>
              <p:cNvPr id="14396" name="Arc 6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7" name="Arc 6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8" name="Arc 6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9" name="Arc 6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402" name="Arc 66"/>
            <p:cNvSpPr>
              <a:spLocks/>
            </p:cNvSpPr>
            <p:nvPr/>
          </p:nvSpPr>
          <p:spPr bwMode="auto">
            <a:xfrm rot="10800000" flipV="1">
              <a:off x="1675" y="1012"/>
              <a:ext cx="195" cy="205"/>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1" name="Text Box 75"/>
            <p:cNvSpPr txBox="1">
              <a:spLocks noChangeArrowheads="1"/>
            </p:cNvSpPr>
            <p:nvPr/>
          </p:nvSpPr>
          <p:spPr bwMode="auto">
            <a:xfrm>
              <a:off x="768" y="121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4412" name="Text Box 76"/>
            <p:cNvSpPr txBox="1">
              <a:spLocks noChangeArrowheads="1"/>
            </p:cNvSpPr>
            <p:nvPr/>
          </p:nvSpPr>
          <p:spPr bwMode="auto">
            <a:xfrm>
              <a:off x="780" y="175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14425" name="Arc 89"/>
            <p:cNvSpPr>
              <a:spLocks/>
            </p:cNvSpPr>
            <p:nvPr/>
          </p:nvSpPr>
          <p:spPr bwMode="auto">
            <a:xfrm rot="-10800000" flipH="1" flipV="1">
              <a:off x="1968" y="1015"/>
              <a:ext cx="195" cy="205"/>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6" name="Oval 90"/>
            <p:cNvSpPr>
              <a:spLocks noChangeArrowheads="1"/>
            </p:cNvSpPr>
            <p:nvPr/>
          </p:nvSpPr>
          <p:spPr bwMode="auto">
            <a:xfrm>
              <a:off x="856" y="201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4428" name="Object 92"/>
          <p:cNvGraphicFramePr>
            <a:graphicFrameLocks noChangeAspect="1"/>
          </p:cNvGraphicFramePr>
          <p:nvPr/>
        </p:nvGraphicFramePr>
        <p:xfrm>
          <a:off x="4960938" y="2176463"/>
          <a:ext cx="2378075" cy="741362"/>
        </p:xfrm>
        <a:graphic>
          <a:graphicData uri="http://schemas.openxmlformats.org/presentationml/2006/ole">
            <mc:AlternateContent xmlns:mc="http://schemas.openxmlformats.org/markup-compatibility/2006">
              <mc:Choice xmlns:v="urn:schemas-microsoft-com:vml" Requires="v">
                <p:oleObj spid="_x0000_s98382" name="Equation" r:id="rId9" imgW="1257120" imgH="393480" progId="Equation.3">
                  <p:embed/>
                </p:oleObj>
              </mc:Choice>
              <mc:Fallback>
                <p:oleObj name="Equation" r:id="rId9" imgW="1257120" imgH="393480" progId="Equation.3">
                  <p:embed/>
                  <p:pic>
                    <p:nvPicPr>
                      <p:cNvPr id="0" name="Object 9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60938" y="2176463"/>
                        <a:ext cx="2378075"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29" name="AutoShape 93"/>
          <p:cNvSpPr>
            <a:spLocks noChangeArrowheads="1"/>
          </p:cNvSpPr>
          <p:nvPr/>
        </p:nvSpPr>
        <p:spPr bwMode="auto">
          <a:xfrm>
            <a:off x="4629150" y="4438650"/>
            <a:ext cx="514350" cy="190500"/>
          </a:xfrm>
          <a:prstGeom prst="rightArrow">
            <a:avLst>
              <a:gd name="adj1" fmla="val 50000"/>
              <a:gd name="adj2" fmla="val 67500"/>
            </a:avLst>
          </a:prstGeom>
          <a:solidFill>
            <a:srgbClr val="FF3300"/>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0" name="Text Box 94"/>
          <p:cNvSpPr txBox="1">
            <a:spLocks noChangeArrowheads="1"/>
          </p:cNvSpPr>
          <p:nvPr/>
        </p:nvSpPr>
        <p:spPr bwMode="auto">
          <a:xfrm>
            <a:off x="1339850" y="53165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故</a:t>
            </a:r>
          </a:p>
        </p:txBody>
      </p:sp>
      <p:graphicFrame>
        <p:nvGraphicFramePr>
          <p:cNvPr id="14431" name="Object 95"/>
          <p:cNvGraphicFramePr>
            <a:graphicFrameLocks noChangeAspect="1"/>
          </p:cNvGraphicFramePr>
          <p:nvPr/>
        </p:nvGraphicFramePr>
        <p:xfrm>
          <a:off x="2057400" y="5307013"/>
          <a:ext cx="1657350" cy="522287"/>
        </p:xfrm>
        <a:graphic>
          <a:graphicData uri="http://schemas.openxmlformats.org/presentationml/2006/ole">
            <mc:AlternateContent xmlns:mc="http://schemas.openxmlformats.org/markup-compatibility/2006">
              <mc:Choice xmlns:v="urn:schemas-microsoft-com:vml" Requires="v">
                <p:oleObj spid="_x0000_s98383" name="Equation" r:id="rId11" imgW="799920" imgH="253800" progId="Equation.3">
                  <p:embed/>
                </p:oleObj>
              </mc:Choice>
              <mc:Fallback>
                <p:oleObj name="Equation" r:id="rId11" imgW="799920" imgH="253800" progId="Equation.3">
                  <p:embed/>
                  <p:pic>
                    <p:nvPicPr>
                      <p:cNvPr id="0" name="Object 9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5307013"/>
                        <a:ext cx="165735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32" name="Text Box 96"/>
          <p:cNvSpPr txBox="1">
            <a:spLocks noChangeArrowheads="1"/>
          </p:cNvSpPr>
          <p:nvPr/>
        </p:nvSpPr>
        <p:spPr bwMode="auto">
          <a:xfrm>
            <a:off x="1358900" y="5876925"/>
            <a:ext cx="5067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互感小于两元件自感的几何平均值。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43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4339"/>
                                        </p:tgtEl>
                                        <p:attrNameLst>
                                          <p:attrName>style.visibility</p:attrName>
                                        </p:attrNameLst>
                                      </p:cBhvr>
                                      <p:to>
                                        <p:strVal val="visible"/>
                                      </p:to>
                                    </p:set>
                                    <p:anim calcmode="lin" valueType="num">
                                      <p:cBhvr additive="base">
                                        <p:cTn id="11" dur="500" fill="hold"/>
                                        <p:tgtEl>
                                          <p:spTgt spid="14339"/>
                                        </p:tgtEl>
                                        <p:attrNameLst>
                                          <p:attrName>ppt_x</p:attrName>
                                        </p:attrNameLst>
                                      </p:cBhvr>
                                      <p:tavLst>
                                        <p:tav tm="0">
                                          <p:val>
                                            <p:strVal val="0-#ppt_w/2"/>
                                          </p:val>
                                        </p:tav>
                                        <p:tav tm="100000">
                                          <p:val>
                                            <p:strVal val="#ppt_x"/>
                                          </p:val>
                                        </p:tav>
                                      </p:tavLst>
                                    </p:anim>
                                    <p:anim calcmode="lin" valueType="num">
                                      <p:cBhvr additive="base">
                                        <p:cTn id="12"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4433"/>
                                        </p:tgtEl>
                                        <p:attrNameLst>
                                          <p:attrName>style.visibility</p:attrName>
                                        </p:attrNameLst>
                                      </p:cBhvr>
                                      <p:to>
                                        <p:strVal val="visible"/>
                                      </p:to>
                                    </p:set>
                                    <p:animEffect transition="in" filter="box(in)">
                                      <p:cBhvr>
                                        <p:cTn id="17" dur="500"/>
                                        <p:tgtEl>
                                          <p:spTgt spid="144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14369"/>
                                        </p:tgtEl>
                                        <p:attrNameLst>
                                          <p:attrName>style.visibility</p:attrName>
                                        </p:attrNameLst>
                                      </p:cBhvr>
                                      <p:to>
                                        <p:strVal val="visible"/>
                                      </p:to>
                                    </p:set>
                                    <p:anim calcmode="lin" valueType="num">
                                      <p:cBhvr additive="base">
                                        <p:cTn id="22" dur="500" fill="hold"/>
                                        <p:tgtEl>
                                          <p:spTgt spid="14369"/>
                                        </p:tgtEl>
                                        <p:attrNameLst>
                                          <p:attrName>ppt_x</p:attrName>
                                        </p:attrNameLst>
                                      </p:cBhvr>
                                      <p:tavLst>
                                        <p:tav tm="0">
                                          <p:val>
                                            <p:strVal val="1+#ppt_w/2"/>
                                          </p:val>
                                        </p:tav>
                                        <p:tav tm="100000">
                                          <p:val>
                                            <p:strVal val="#ppt_x"/>
                                          </p:val>
                                        </p:tav>
                                      </p:tavLst>
                                    </p:anim>
                                    <p:anim calcmode="lin" valueType="num">
                                      <p:cBhvr additive="base">
                                        <p:cTn id="23" dur="500" fill="hold"/>
                                        <p:tgtEl>
                                          <p:spTgt spid="14369"/>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nodeType="clickEffect">
                                  <p:stCondLst>
                                    <p:cond delay="0"/>
                                  </p:stCondLst>
                                  <p:childTnLst>
                                    <p:set>
                                      <p:cBhvr>
                                        <p:cTn id="27" dur="1" fill="hold">
                                          <p:stCondLst>
                                            <p:cond delay="0"/>
                                          </p:stCondLst>
                                        </p:cTn>
                                        <p:tgtEl>
                                          <p:spTgt spid="14428"/>
                                        </p:tgtEl>
                                        <p:attrNameLst>
                                          <p:attrName>style.visibility</p:attrName>
                                        </p:attrNameLst>
                                      </p:cBhvr>
                                      <p:to>
                                        <p:strVal val="visible"/>
                                      </p:to>
                                    </p:set>
                                    <p:anim calcmode="lin" valueType="num">
                                      <p:cBhvr additive="base">
                                        <p:cTn id="28" dur="500" fill="hold"/>
                                        <p:tgtEl>
                                          <p:spTgt spid="14428"/>
                                        </p:tgtEl>
                                        <p:attrNameLst>
                                          <p:attrName>ppt_x</p:attrName>
                                        </p:attrNameLst>
                                      </p:cBhvr>
                                      <p:tavLst>
                                        <p:tav tm="0">
                                          <p:val>
                                            <p:strVal val="1+#ppt_w/2"/>
                                          </p:val>
                                        </p:tav>
                                        <p:tav tm="100000">
                                          <p:val>
                                            <p:strVal val="#ppt_x"/>
                                          </p:val>
                                        </p:tav>
                                      </p:tavLst>
                                    </p:anim>
                                    <p:anim calcmode="lin" valueType="num">
                                      <p:cBhvr additive="base">
                                        <p:cTn id="29" dur="500" fill="hold"/>
                                        <p:tgtEl>
                                          <p:spTgt spid="14428"/>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4377"/>
                                        </p:tgtEl>
                                        <p:attrNameLst>
                                          <p:attrName>style.visibility</p:attrName>
                                        </p:attrNameLst>
                                      </p:cBhvr>
                                      <p:to>
                                        <p:strVal val="visible"/>
                                      </p:to>
                                    </p:set>
                                    <p:anim calcmode="lin" valueType="num">
                                      <p:cBhvr additive="base">
                                        <p:cTn id="34" dur="500" fill="hold"/>
                                        <p:tgtEl>
                                          <p:spTgt spid="14377"/>
                                        </p:tgtEl>
                                        <p:attrNameLst>
                                          <p:attrName>ppt_x</p:attrName>
                                        </p:attrNameLst>
                                      </p:cBhvr>
                                      <p:tavLst>
                                        <p:tav tm="0">
                                          <p:val>
                                            <p:strVal val="1+#ppt_w/2"/>
                                          </p:val>
                                        </p:tav>
                                        <p:tav tm="100000">
                                          <p:val>
                                            <p:strVal val="#ppt_x"/>
                                          </p:val>
                                        </p:tav>
                                      </p:tavLst>
                                    </p:anim>
                                    <p:anim calcmode="lin" valueType="num">
                                      <p:cBhvr additive="base">
                                        <p:cTn id="35" dur="500" fill="hold"/>
                                        <p:tgtEl>
                                          <p:spTgt spid="14377"/>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14371"/>
                                        </p:tgtEl>
                                        <p:attrNameLst>
                                          <p:attrName>style.visibility</p:attrName>
                                        </p:attrNameLst>
                                      </p:cBhvr>
                                      <p:to>
                                        <p:strVal val="visible"/>
                                      </p:to>
                                    </p:set>
                                  </p:childTnLst>
                                </p:cTn>
                              </p:par>
                            </p:childTnLst>
                          </p:cTn>
                        </p:par>
                        <p:par>
                          <p:cTn id="39" fill="hold" nodeType="afterGroup">
                            <p:stCondLst>
                              <p:cond delay="1000"/>
                            </p:stCondLst>
                            <p:childTnLst>
                              <p:par>
                                <p:cTn id="40" presetID="2" presetClass="entr" presetSubtype="8" fill="hold" grpId="0" nodeType="afterEffect">
                                  <p:stCondLst>
                                    <p:cond delay="0"/>
                                  </p:stCondLst>
                                  <p:childTnLst>
                                    <p:set>
                                      <p:cBhvr>
                                        <p:cTn id="41" dur="1" fill="hold">
                                          <p:stCondLst>
                                            <p:cond delay="0"/>
                                          </p:stCondLst>
                                        </p:cTn>
                                        <p:tgtEl>
                                          <p:spTgt spid="14378"/>
                                        </p:tgtEl>
                                        <p:attrNameLst>
                                          <p:attrName>style.visibility</p:attrName>
                                        </p:attrNameLst>
                                      </p:cBhvr>
                                      <p:to>
                                        <p:strVal val="visible"/>
                                      </p:to>
                                    </p:set>
                                    <p:anim calcmode="lin" valueType="num">
                                      <p:cBhvr additive="base">
                                        <p:cTn id="42" dur="500" fill="hold"/>
                                        <p:tgtEl>
                                          <p:spTgt spid="14378"/>
                                        </p:tgtEl>
                                        <p:attrNameLst>
                                          <p:attrName>ppt_x</p:attrName>
                                        </p:attrNameLst>
                                      </p:cBhvr>
                                      <p:tavLst>
                                        <p:tav tm="0">
                                          <p:val>
                                            <p:strVal val="0-#ppt_w/2"/>
                                          </p:val>
                                        </p:tav>
                                        <p:tav tm="100000">
                                          <p:val>
                                            <p:strVal val="#ppt_x"/>
                                          </p:val>
                                        </p:tav>
                                      </p:tavLst>
                                    </p:anim>
                                    <p:anim calcmode="lin" valueType="num">
                                      <p:cBhvr additive="base">
                                        <p:cTn id="43" dur="500" fill="hold"/>
                                        <p:tgtEl>
                                          <p:spTgt spid="14378"/>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1500"/>
                            </p:stCondLst>
                            <p:childTnLst>
                              <p:par>
                                <p:cTn id="45" presetID="17" presetClass="entr" presetSubtype="1" fill="hold" nodeType="afterEffect">
                                  <p:stCondLst>
                                    <p:cond delay="0"/>
                                  </p:stCondLst>
                                  <p:childTnLst>
                                    <p:set>
                                      <p:cBhvr>
                                        <p:cTn id="46" dur="1" fill="hold">
                                          <p:stCondLst>
                                            <p:cond delay="0"/>
                                          </p:stCondLst>
                                        </p:cTn>
                                        <p:tgtEl>
                                          <p:spTgt spid="14375"/>
                                        </p:tgtEl>
                                        <p:attrNameLst>
                                          <p:attrName>style.visibility</p:attrName>
                                        </p:attrNameLst>
                                      </p:cBhvr>
                                      <p:to>
                                        <p:strVal val="visible"/>
                                      </p:to>
                                    </p:set>
                                    <p:anim calcmode="lin" valueType="num">
                                      <p:cBhvr>
                                        <p:cTn id="47" dur="500" fill="hold"/>
                                        <p:tgtEl>
                                          <p:spTgt spid="14375"/>
                                        </p:tgtEl>
                                        <p:attrNameLst>
                                          <p:attrName>ppt_x</p:attrName>
                                        </p:attrNameLst>
                                      </p:cBhvr>
                                      <p:tavLst>
                                        <p:tav tm="0">
                                          <p:val>
                                            <p:strVal val="#ppt_x"/>
                                          </p:val>
                                        </p:tav>
                                        <p:tav tm="100000">
                                          <p:val>
                                            <p:strVal val="#ppt_x"/>
                                          </p:val>
                                        </p:tav>
                                      </p:tavLst>
                                    </p:anim>
                                    <p:anim calcmode="lin" valueType="num">
                                      <p:cBhvr>
                                        <p:cTn id="48" dur="500" fill="hold"/>
                                        <p:tgtEl>
                                          <p:spTgt spid="14375"/>
                                        </p:tgtEl>
                                        <p:attrNameLst>
                                          <p:attrName>ppt_y</p:attrName>
                                        </p:attrNameLst>
                                      </p:cBhvr>
                                      <p:tavLst>
                                        <p:tav tm="0">
                                          <p:val>
                                            <p:strVal val="#ppt_y-#ppt_h/2"/>
                                          </p:val>
                                        </p:tav>
                                        <p:tav tm="100000">
                                          <p:val>
                                            <p:strVal val="#ppt_y"/>
                                          </p:val>
                                        </p:tav>
                                      </p:tavLst>
                                    </p:anim>
                                    <p:anim calcmode="lin" valueType="num">
                                      <p:cBhvr>
                                        <p:cTn id="49" dur="500" fill="hold"/>
                                        <p:tgtEl>
                                          <p:spTgt spid="14375"/>
                                        </p:tgtEl>
                                        <p:attrNameLst>
                                          <p:attrName>ppt_w</p:attrName>
                                        </p:attrNameLst>
                                      </p:cBhvr>
                                      <p:tavLst>
                                        <p:tav tm="0">
                                          <p:val>
                                            <p:strVal val="#ppt_w"/>
                                          </p:val>
                                        </p:tav>
                                        <p:tav tm="100000">
                                          <p:val>
                                            <p:strVal val="#ppt_w"/>
                                          </p:val>
                                        </p:tav>
                                      </p:tavLst>
                                    </p:anim>
                                    <p:anim calcmode="lin" valueType="num">
                                      <p:cBhvr>
                                        <p:cTn id="50" dur="500" fill="hold"/>
                                        <p:tgtEl>
                                          <p:spTgt spid="14375"/>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8" fill="hold" nodeType="clickEffect">
                                  <p:stCondLst>
                                    <p:cond delay="0"/>
                                  </p:stCondLst>
                                  <p:childTnLst>
                                    <p:set>
                                      <p:cBhvr>
                                        <p:cTn id="54" dur="1" fill="hold">
                                          <p:stCondLst>
                                            <p:cond delay="0"/>
                                          </p:stCondLst>
                                        </p:cTn>
                                        <p:tgtEl>
                                          <p:spTgt spid="14429"/>
                                        </p:tgtEl>
                                        <p:attrNameLst>
                                          <p:attrName>style.visibility</p:attrName>
                                        </p:attrNameLst>
                                      </p:cBhvr>
                                      <p:to>
                                        <p:strVal val="visible"/>
                                      </p:to>
                                    </p:set>
                                    <p:animEffect transition="in" filter="slide(fromLeft)">
                                      <p:cBhvr>
                                        <p:cTn id="55" dur="500"/>
                                        <p:tgtEl>
                                          <p:spTgt spid="14429"/>
                                        </p:tgtEl>
                                      </p:cBhvr>
                                    </p:animEffect>
                                  </p:childTnLst>
                                </p:cTn>
                              </p:par>
                            </p:childTnLst>
                          </p:cTn>
                        </p:par>
                        <p:par>
                          <p:cTn id="56" fill="hold" nodeType="afterGroup">
                            <p:stCondLst>
                              <p:cond delay="500"/>
                            </p:stCondLst>
                            <p:childTnLst>
                              <p:par>
                                <p:cTn id="57" presetID="17" presetClass="entr" presetSubtype="1" fill="hold" nodeType="afterEffect">
                                  <p:stCondLst>
                                    <p:cond delay="0"/>
                                  </p:stCondLst>
                                  <p:childTnLst>
                                    <p:set>
                                      <p:cBhvr>
                                        <p:cTn id="58" dur="1" fill="hold">
                                          <p:stCondLst>
                                            <p:cond delay="0"/>
                                          </p:stCondLst>
                                        </p:cTn>
                                        <p:tgtEl>
                                          <p:spTgt spid="14376"/>
                                        </p:tgtEl>
                                        <p:attrNameLst>
                                          <p:attrName>style.visibility</p:attrName>
                                        </p:attrNameLst>
                                      </p:cBhvr>
                                      <p:to>
                                        <p:strVal val="visible"/>
                                      </p:to>
                                    </p:set>
                                    <p:anim calcmode="lin" valueType="num">
                                      <p:cBhvr>
                                        <p:cTn id="59" dur="500" fill="hold"/>
                                        <p:tgtEl>
                                          <p:spTgt spid="14376"/>
                                        </p:tgtEl>
                                        <p:attrNameLst>
                                          <p:attrName>ppt_x</p:attrName>
                                        </p:attrNameLst>
                                      </p:cBhvr>
                                      <p:tavLst>
                                        <p:tav tm="0">
                                          <p:val>
                                            <p:strVal val="#ppt_x"/>
                                          </p:val>
                                        </p:tav>
                                        <p:tav tm="100000">
                                          <p:val>
                                            <p:strVal val="#ppt_x"/>
                                          </p:val>
                                        </p:tav>
                                      </p:tavLst>
                                    </p:anim>
                                    <p:anim calcmode="lin" valueType="num">
                                      <p:cBhvr>
                                        <p:cTn id="60" dur="500" fill="hold"/>
                                        <p:tgtEl>
                                          <p:spTgt spid="14376"/>
                                        </p:tgtEl>
                                        <p:attrNameLst>
                                          <p:attrName>ppt_y</p:attrName>
                                        </p:attrNameLst>
                                      </p:cBhvr>
                                      <p:tavLst>
                                        <p:tav tm="0">
                                          <p:val>
                                            <p:strVal val="#ppt_y-#ppt_h/2"/>
                                          </p:val>
                                        </p:tav>
                                        <p:tav tm="100000">
                                          <p:val>
                                            <p:strVal val="#ppt_y"/>
                                          </p:val>
                                        </p:tav>
                                      </p:tavLst>
                                    </p:anim>
                                    <p:anim calcmode="lin" valueType="num">
                                      <p:cBhvr>
                                        <p:cTn id="61" dur="500" fill="hold"/>
                                        <p:tgtEl>
                                          <p:spTgt spid="14376"/>
                                        </p:tgtEl>
                                        <p:attrNameLst>
                                          <p:attrName>ppt_w</p:attrName>
                                        </p:attrNameLst>
                                      </p:cBhvr>
                                      <p:tavLst>
                                        <p:tav tm="0">
                                          <p:val>
                                            <p:strVal val="#ppt_w"/>
                                          </p:val>
                                        </p:tav>
                                        <p:tav tm="100000">
                                          <p:val>
                                            <p:strVal val="#ppt_w"/>
                                          </p:val>
                                        </p:tav>
                                      </p:tavLst>
                                    </p:anim>
                                    <p:anim calcmode="lin" valueType="num">
                                      <p:cBhvr>
                                        <p:cTn id="62" dur="500" fill="hold"/>
                                        <p:tgtEl>
                                          <p:spTgt spid="14376"/>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4430"/>
                                        </p:tgtEl>
                                        <p:attrNameLst>
                                          <p:attrName>style.visibility</p:attrName>
                                        </p:attrNameLst>
                                      </p:cBhvr>
                                      <p:to>
                                        <p:strVal val="visible"/>
                                      </p:to>
                                    </p:set>
                                    <p:anim calcmode="lin" valueType="num">
                                      <p:cBhvr additive="base">
                                        <p:cTn id="67" dur="500" fill="hold"/>
                                        <p:tgtEl>
                                          <p:spTgt spid="14430"/>
                                        </p:tgtEl>
                                        <p:attrNameLst>
                                          <p:attrName>ppt_x</p:attrName>
                                        </p:attrNameLst>
                                      </p:cBhvr>
                                      <p:tavLst>
                                        <p:tav tm="0">
                                          <p:val>
                                            <p:strVal val="0-#ppt_w/2"/>
                                          </p:val>
                                        </p:tav>
                                        <p:tav tm="100000">
                                          <p:val>
                                            <p:strVal val="#ppt_x"/>
                                          </p:val>
                                        </p:tav>
                                      </p:tavLst>
                                    </p:anim>
                                    <p:anim calcmode="lin" valueType="num">
                                      <p:cBhvr additive="base">
                                        <p:cTn id="68" dur="500" fill="hold"/>
                                        <p:tgtEl>
                                          <p:spTgt spid="14430"/>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2" presetClass="entr" presetSubtype="2" fill="hold" nodeType="clickEffect">
                                  <p:stCondLst>
                                    <p:cond delay="0"/>
                                  </p:stCondLst>
                                  <p:childTnLst>
                                    <p:set>
                                      <p:cBhvr>
                                        <p:cTn id="72" dur="1" fill="hold">
                                          <p:stCondLst>
                                            <p:cond delay="0"/>
                                          </p:stCondLst>
                                        </p:cTn>
                                        <p:tgtEl>
                                          <p:spTgt spid="14431"/>
                                        </p:tgtEl>
                                        <p:attrNameLst>
                                          <p:attrName>style.visibility</p:attrName>
                                        </p:attrNameLst>
                                      </p:cBhvr>
                                      <p:to>
                                        <p:strVal val="visible"/>
                                      </p:to>
                                    </p:set>
                                    <p:animEffect transition="in" filter="slide(fromRight)">
                                      <p:cBhvr>
                                        <p:cTn id="73" dur="500"/>
                                        <p:tgtEl>
                                          <p:spTgt spid="1443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5" presetClass="entr" presetSubtype="0" fill="hold" grpId="0" nodeType="clickEffect">
                                  <p:stCondLst>
                                    <p:cond delay="0"/>
                                  </p:stCondLst>
                                  <p:childTnLst>
                                    <p:set>
                                      <p:cBhvr>
                                        <p:cTn id="77" dur="1" fill="hold">
                                          <p:stCondLst>
                                            <p:cond delay="0"/>
                                          </p:stCondLst>
                                        </p:cTn>
                                        <p:tgtEl>
                                          <p:spTgt spid="14432"/>
                                        </p:tgtEl>
                                        <p:attrNameLst>
                                          <p:attrName>style.visibility</p:attrName>
                                        </p:attrNameLst>
                                      </p:cBhvr>
                                      <p:to>
                                        <p:strVal val="visible"/>
                                      </p:to>
                                    </p:set>
                                    <p:anim calcmode="lin" valueType="num">
                                      <p:cBhvr>
                                        <p:cTn id="78" dur="1000" fill="hold"/>
                                        <p:tgtEl>
                                          <p:spTgt spid="14432"/>
                                        </p:tgtEl>
                                        <p:attrNameLst>
                                          <p:attrName>ppt_w</p:attrName>
                                        </p:attrNameLst>
                                      </p:cBhvr>
                                      <p:tavLst>
                                        <p:tav tm="0">
                                          <p:val>
                                            <p:fltVal val="0"/>
                                          </p:val>
                                        </p:tav>
                                        <p:tav tm="100000">
                                          <p:val>
                                            <p:strVal val="#ppt_w"/>
                                          </p:val>
                                        </p:tav>
                                      </p:tavLst>
                                    </p:anim>
                                    <p:anim calcmode="lin" valueType="num">
                                      <p:cBhvr>
                                        <p:cTn id="79" dur="1000" fill="hold"/>
                                        <p:tgtEl>
                                          <p:spTgt spid="14432"/>
                                        </p:tgtEl>
                                        <p:attrNameLst>
                                          <p:attrName>ppt_h</p:attrName>
                                        </p:attrNameLst>
                                      </p:cBhvr>
                                      <p:tavLst>
                                        <p:tav tm="0">
                                          <p:val>
                                            <p:fltVal val="0"/>
                                          </p:val>
                                        </p:tav>
                                        <p:tav tm="100000">
                                          <p:val>
                                            <p:strVal val="#ppt_h"/>
                                          </p:val>
                                        </p:tav>
                                      </p:tavLst>
                                    </p:anim>
                                    <p:anim calcmode="lin" valueType="num">
                                      <p:cBhvr>
                                        <p:cTn id="80" dur="1000" fill="hold"/>
                                        <p:tgtEl>
                                          <p:spTgt spid="14432"/>
                                        </p:tgtEl>
                                        <p:attrNameLst>
                                          <p:attrName>ppt_x</p:attrName>
                                        </p:attrNameLst>
                                      </p:cBhvr>
                                      <p:tavLst>
                                        <p:tav tm="0" fmla="#ppt_x+(cos(-2*pi*(1-$))*-#ppt_x-sin(-2*pi*(1-$))*(1-#ppt_y))*(1-$)">
                                          <p:val>
                                            <p:fltVal val="0"/>
                                          </p:val>
                                        </p:tav>
                                        <p:tav tm="100000">
                                          <p:val>
                                            <p:fltVal val="1"/>
                                          </p:val>
                                        </p:tav>
                                      </p:tavLst>
                                    </p:anim>
                                    <p:anim calcmode="lin" valueType="num">
                                      <p:cBhvr>
                                        <p:cTn id="81" dur="1000" fill="hold"/>
                                        <p:tgtEl>
                                          <p:spTgt spid="1443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4377" grpId="0" autoUpdateAnimBg="0"/>
      <p:bldP spid="14378" grpId="0" autoUpdateAnimBg="0"/>
      <p:bldP spid="14382" grpId="0" autoUpdateAnimBg="0"/>
      <p:bldP spid="14430" grpId="0" autoUpdateAnimBg="0"/>
      <p:bldP spid="1443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1027"/>
          <p:cNvSpPr txBox="1">
            <a:spLocks noChangeArrowheads="1"/>
          </p:cNvSpPr>
          <p:nvPr/>
        </p:nvSpPr>
        <p:spPr bwMode="auto">
          <a:xfrm>
            <a:off x="628650" y="401638"/>
            <a:ext cx="24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2.  </a:t>
            </a:r>
            <a:r>
              <a:rPr lang="zh-CN" altLang="en-US" b="1"/>
              <a:t>同名端在异侧</a:t>
            </a:r>
            <a:endParaRPr lang="zh-CN" altLang="en-US"/>
          </a:p>
        </p:txBody>
      </p:sp>
      <p:graphicFrame>
        <p:nvGraphicFramePr>
          <p:cNvPr id="59396" name="Object 1028"/>
          <p:cNvGraphicFramePr>
            <a:graphicFrameLocks noChangeAspect="1"/>
          </p:cNvGraphicFramePr>
          <p:nvPr/>
        </p:nvGraphicFramePr>
        <p:xfrm>
          <a:off x="4959350" y="830263"/>
          <a:ext cx="2354263" cy="741362"/>
        </p:xfrm>
        <a:graphic>
          <a:graphicData uri="http://schemas.openxmlformats.org/presentationml/2006/ole">
            <mc:AlternateContent xmlns:mc="http://schemas.openxmlformats.org/markup-compatibility/2006">
              <mc:Choice xmlns:v="urn:schemas-microsoft-com:vml" Requires="v">
                <p:oleObj spid="_x0000_s59504" name="公式" r:id="rId3" imgW="1244520" imgH="393480" progId="Equation.3">
                  <p:embed/>
                </p:oleObj>
              </mc:Choice>
              <mc:Fallback>
                <p:oleObj name="公式" r:id="rId3" imgW="1244520" imgH="393480"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9350" y="830263"/>
                        <a:ext cx="2354263"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397" name="AutoShape 1029"/>
          <p:cNvSpPr>
            <a:spLocks/>
          </p:cNvSpPr>
          <p:nvPr/>
        </p:nvSpPr>
        <p:spPr bwMode="auto">
          <a:xfrm>
            <a:off x="4616450" y="1152525"/>
            <a:ext cx="304800" cy="1438275"/>
          </a:xfrm>
          <a:prstGeom prst="leftBrace">
            <a:avLst>
              <a:gd name="adj1" fmla="val 3932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9398" name="Object 1030"/>
          <p:cNvGraphicFramePr>
            <a:graphicFrameLocks noChangeAspect="1"/>
          </p:cNvGraphicFramePr>
          <p:nvPr/>
        </p:nvGraphicFramePr>
        <p:xfrm>
          <a:off x="2187575" y="3611563"/>
          <a:ext cx="2733675" cy="882650"/>
        </p:xfrm>
        <a:graphic>
          <a:graphicData uri="http://schemas.openxmlformats.org/presentationml/2006/ole">
            <mc:AlternateContent xmlns:mc="http://schemas.openxmlformats.org/markup-compatibility/2006">
              <mc:Choice xmlns:v="urn:schemas-microsoft-com:vml" Requires="v">
                <p:oleObj spid="_x0000_s59505" name="公式" r:id="rId5" imgW="1371600" imgH="444240" progId="Equation.3">
                  <p:embed/>
                </p:oleObj>
              </mc:Choice>
              <mc:Fallback>
                <p:oleObj name="公式" r:id="rId5" imgW="1371600" imgH="444240" progId="Equation.3">
                  <p:embed/>
                  <p:pic>
                    <p:nvPicPr>
                      <p:cNvPr id="0"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7575" y="3611563"/>
                        <a:ext cx="2733675"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9" name="Object 1031"/>
          <p:cNvGraphicFramePr>
            <a:graphicFrameLocks noChangeAspect="1"/>
          </p:cNvGraphicFramePr>
          <p:nvPr/>
        </p:nvGraphicFramePr>
        <p:xfrm>
          <a:off x="2082800" y="4589463"/>
          <a:ext cx="3048000" cy="838200"/>
        </p:xfrm>
        <a:graphic>
          <a:graphicData uri="http://schemas.openxmlformats.org/presentationml/2006/ole">
            <mc:AlternateContent xmlns:mc="http://schemas.openxmlformats.org/markup-compatibility/2006">
              <mc:Choice xmlns:v="urn:schemas-microsoft-com:vml" Requires="v">
                <p:oleObj spid="_x0000_s59506" name="公式" r:id="rId7" imgW="1612800" imgH="444240" progId="Equation.3">
                  <p:embed/>
                </p:oleObj>
              </mc:Choice>
              <mc:Fallback>
                <p:oleObj name="公式" r:id="rId7" imgW="1612800" imgH="444240" progId="Equation.3">
                  <p:embed/>
                  <p:pic>
                    <p:nvPicPr>
                      <p:cNvPr id="0" name="Object 10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2800" y="4589463"/>
                        <a:ext cx="3048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400" name="Text Box 1032"/>
          <p:cNvSpPr txBox="1">
            <a:spLocks noChangeArrowheads="1"/>
          </p:cNvSpPr>
          <p:nvPr/>
        </p:nvSpPr>
        <p:spPr bwMode="auto">
          <a:xfrm>
            <a:off x="4914900" y="2273300"/>
            <a:ext cx="126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a:t> = </a:t>
            </a:r>
            <a:r>
              <a:rPr lang="en-US" altLang="zh-CN" b="1" i="1"/>
              <a:t>i</a:t>
            </a:r>
            <a:r>
              <a:rPr lang="en-US" altLang="zh-CN" b="1" baseline="-25000"/>
              <a:t>1</a:t>
            </a:r>
            <a:r>
              <a:rPr lang="en-US" altLang="zh-CN" b="1"/>
              <a:t> +</a:t>
            </a:r>
            <a:r>
              <a:rPr lang="en-US" altLang="zh-CN" b="1" i="1"/>
              <a:t>i</a:t>
            </a:r>
            <a:r>
              <a:rPr lang="en-US" altLang="zh-CN" b="1" baseline="-25000"/>
              <a:t>2 </a:t>
            </a:r>
            <a:endParaRPr lang="en-US" altLang="zh-CN" b="1"/>
          </a:p>
        </p:txBody>
      </p:sp>
      <p:sp>
        <p:nvSpPr>
          <p:cNvPr id="59401" name="Text Box 1033"/>
          <p:cNvSpPr txBox="1">
            <a:spLocks noChangeArrowheads="1"/>
          </p:cNvSpPr>
          <p:nvPr/>
        </p:nvSpPr>
        <p:spPr bwMode="auto">
          <a:xfrm>
            <a:off x="1270000" y="3078163"/>
            <a:ext cx="2122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解得</a:t>
            </a:r>
            <a:r>
              <a:rPr lang="en-US" altLang="zh-CN" b="1" i="1"/>
              <a:t>u</a:t>
            </a:r>
            <a:r>
              <a:rPr lang="en-US" altLang="zh-CN" b="1"/>
              <a:t>, </a:t>
            </a:r>
            <a:r>
              <a:rPr lang="en-US" altLang="zh-CN" b="1" i="1"/>
              <a:t>i</a:t>
            </a:r>
            <a:r>
              <a:rPr lang="zh-CN" altLang="en-US" b="1"/>
              <a:t>的关系</a:t>
            </a:r>
          </a:p>
        </p:txBody>
      </p:sp>
      <p:grpSp>
        <p:nvGrpSpPr>
          <p:cNvPr id="59439" name="Group 1071"/>
          <p:cNvGrpSpPr>
            <a:grpSpLocks/>
          </p:cNvGrpSpPr>
          <p:nvPr/>
        </p:nvGrpSpPr>
        <p:grpSpPr bwMode="auto">
          <a:xfrm>
            <a:off x="1206500" y="847725"/>
            <a:ext cx="2776538" cy="1981200"/>
            <a:chOff x="760" y="534"/>
            <a:chExt cx="1749" cy="1248"/>
          </a:xfrm>
        </p:grpSpPr>
        <p:sp>
          <p:nvSpPr>
            <p:cNvPr id="59403" name="Line 1035"/>
            <p:cNvSpPr>
              <a:spLocks noChangeShapeType="1"/>
            </p:cNvSpPr>
            <p:nvPr/>
          </p:nvSpPr>
          <p:spPr bwMode="auto">
            <a:xfrm>
              <a:off x="1672" y="1526"/>
              <a:ext cx="0" cy="2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4" name="Line 1036"/>
            <p:cNvSpPr>
              <a:spLocks noChangeShapeType="1"/>
            </p:cNvSpPr>
            <p:nvPr/>
          </p:nvSpPr>
          <p:spPr bwMode="auto">
            <a:xfrm>
              <a:off x="1672" y="906"/>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5" name="Line 1037"/>
            <p:cNvSpPr>
              <a:spLocks noChangeShapeType="1"/>
            </p:cNvSpPr>
            <p:nvPr/>
          </p:nvSpPr>
          <p:spPr bwMode="auto">
            <a:xfrm>
              <a:off x="2152" y="1508"/>
              <a:ext cx="0" cy="2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6" name="Line 1038"/>
            <p:cNvSpPr>
              <a:spLocks noChangeShapeType="1"/>
            </p:cNvSpPr>
            <p:nvPr/>
          </p:nvSpPr>
          <p:spPr bwMode="auto">
            <a:xfrm>
              <a:off x="2152" y="906"/>
              <a:ext cx="0" cy="2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7" name="Line 1039"/>
            <p:cNvSpPr>
              <a:spLocks noChangeShapeType="1"/>
            </p:cNvSpPr>
            <p:nvPr/>
          </p:nvSpPr>
          <p:spPr bwMode="auto">
            <a:xfrm>
              <a:off x="904" y="906"/>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8" name="Line 1040"/>
            <p:cNvSpPr>
              <a:spLocks noChangeShapeType="1"/>
            </p:cNvSpPr>
            <p:nvPr/>
          </p:nvSpPr>
          <p:spPr bwMode="auto">
            <a:xfrm>
              <a:off x="904" y="1734"/>
              <a:ext cx="1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9" name="Line 1041"/>
            <p:cNvSpPr>
              <a:spLocks noChangeShapeType="1"/>
            </p:cNvSpPr>
            <p:nvPr/>
          </p:nvSpPr>
          <p:spPr bwMode="auto">
            <a:xfrm>
              <a:off x="1606" y="942"/>
              <a:ext cx="0" cy="24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0" name="Line 1042"/>
            <p:cNvSpPr>
              <a:spLocks noChangeShapeType="1"/>
            </p:cNvSpPr>
            <p:nvPr/>
          </p:nvSpPr>
          <p:spPr bwMode="auto">
            <a:xfrm>
              <a:off x="2248" y="918"/>
              <a:ext cx="0" cy="24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1" name="Text Box 1043"/>
            <p:cNvSpPr txBox="1">
              <a:spLocks noChangeArrowheads="1"/>
            </p:cNvSpPr>
            <p:nvPr/>
          </p:nvSpPr>
          <p:spPr bwMode="auto">
            <a:xfrm>
              <a:off x="1650" y="954"/>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59412" name="Text Box 1044"/>
            <p:cNvSpPr txBox="1">
              <a:spLocks noChangeArrowheads="1"/>
            </p:cNvSpPr>
            <p:nvPr/>
          </p:nvSpPr>
          <p:spPr bwMode="auto">
            <a:xfrm>
              <a:off x="2116" y="149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59413" name="Text Box 1045"/>
            <p:cNvSpPr txBox="1">
              <a:spLocks noChangeArrowheads="1"/>
            </p:cNvSpPr>
            <p:nvPr/>
          </p:nvSpPr>
          <p:spPr bwMode="auto">
            <a:xfrm>
              <a:off x="1768" y="53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accent2"/>
                  </a:solidFill>
                </a:rPr>
                <a:t>M</a:t>
              </a:r>
              <a:endParaRPr lang="en-US" altLang="zh-CN" b="1">
                <a:solidFill>
                  <a:schemeClr val="accent2"/>
                </a:solidFill>
              </a:endParaRPr>
            </a:p>
          </p:txBody>
        </p:sp>
        <p:sp>
          <p:nvSpPr>
            <p:cNvPr id="59414" name="Text Box 1046"/>
            <p:cNvSpPr txBox="1">
              <a:spLocks noChangeArrowheads="1"/>
            </p:cNvSpPr>
            <p:nvPr/>
          </p:nvSpPr>
          <p:spPr bwMode="auto">
            <a:xfrm>
              <a:off x="2226" y="83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a:p>
          </p:txBody>
        </p:sp>
        <p:sp>
          <p:nvSpPr>
            <p:cNvPr id="59415" name="Text Box 1047"/>
            <p:cNvSpPr txBox="1">
              <a:spLocks noChangeArrowheads="1"/>
            </p:cNvSpPr>
            <p:nvPr/>
          </p:nvSpPr>
          <p:spPr bwMode="auto">
            <a:xfrm>
              <a:off x="1372" y="858"/>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a:p>
          </p:txBody>
        </p:sp>
        <p:sp>
          <p:nvSpPr>
            <p:cNvPr id="59416" name="Text Box 1048"/>
            <p:cNvSpPr txBox="1">
              <a:spLocks noChangeArrowheads="1"/>
            </p:cNvSpPr>
            <p:nvPr/>
          </p:nvSpPr>
          <p:spPr bwMode="auto">
            <a:xfrm>
              <a:off x="1380" y="1184"/>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1</a:t>
              </a:r>
              <a:endParaRPr lang="en-US" altLang="zh-CN" b="1"/>
            </a:p>
          </p:txBody>
        </p:sp>
        <p:sp>
          <p:nvSpPr>
            <p:cNvPr id="59417" name="Text Box 1049"/>
            <p:cNvSpPr txBox="1">
              <a:spLocks noChangeArrowheads="1"/>
            </p:cNvSpPr>
            <p:nvPr/>
          </p:nvSpPr>
          <p:spPr bwMode="auto">
            <a:xfrm>
              <a:off x="2212" y="1170"/>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L</a:t>
              </a:r>
              <a:r>
                <a:rPr lang="en-US" altLang="zh-CN" b="1" baseline="-25000"/>
                <a:t>2</a:t>
              </a:r>
              <a:endParaRPr lang="en-US" altLang="zh-CN" b="1"/>
            </a:p>
          </p:txBody>
        </p:sp>
        <p:sp>
          <p:nvSpPr>
            <p:cNvPr id="59418" name="Text Box 1050"/>
            <p:cNvSpPr txBox="1">
              <a:spLocks noChangeArrowheads="1"/>
            </p:cNvSpPr>
            <p:nvPr/>
          </p:nvSpPr>
          <p:spPr bwMode="auto">
            <a:xfrm>
              <a:off x="760" y="118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p>
          </p:txBody>
        </p:sp>
        <p:sp>
          <p:nvSpPr>
            <p:cNvPr id="59419" name="Text Box 1051"/>
            <p:cNvSpPr txBox="1">
              <a:spLocks noChangeArrowheads="1"/>
            </p:cNvSpPr>
            <p:nvPr/>
          </p:nvSpPr>
          <p:spPr bwMode="auto">
            <a:xfrm>
              <a:off x="946" y="552"/>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p>
          </p:txBody>
        </p:sp>
        <p:sp>
          <p:nvSpPr>
            <p:cNvPr id="59420" name="Line 1052"/>
            <p:cNvSpPr>
              <a:spLocks noChangeShapeType="1"/>
            </p:cNvSpPr>
            <p:nvPr/>
          </p:nvSpPr>
          <p:spPr bwMode="auto">
            <a:xfrm>
              <a:off x="892" y="828"/>
              <a:ext cx="336"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421" name="Group 1053"/>
            <p:cNvGrpSpPr>
              <a:grpSpLocks/>
            </p:cNvGrpSpPr>
            <p:nvPr/>
          </p:nvGrpSpPr>
          <p:grpSpPr bwMode="auto">
            <a:xfrm rot="5400000">
              <a:off x="1986" y="1287"/>
              <a:ext cx="379" cy="57"/>
              <a:chOff x="1200" y="1584"/>
              <a:chExt cx="379" cy="45"/>
            </a:xfrm>
          </p:grpSpPr>
          <p:sp>
            <p:nvSpPr>
              <p:cNvPr id="59422" name="Arc 105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3" name="Arc 105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4" name="Arc 105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5" name="Arc 105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426" name="Oval 1058"/>
            <p:cNvSpPr>
              <a:spLocks noChangeArrowheads="1"/>
            </p:cNvSpPr>
            <p:nvPr/>
          </p:nvSpPr>
          <p:spPr bwMode="auto">
            <a:xfrm>
              <a:off x="848" y="881"/>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427" name="Group 1059"/>
            <p:cNvGrpSpPr>
              <a:grpSpLocks/>
            </p:cNvGrpSpPr>
            <p:nvPr/>
          </p:nvGrpSpPr>
          <p:grpSpPr bwMode="auto">
            <a:xfrm rot="5400000">
              <a:off x="1509" y="1308"/>
              <a:ext cx="379" cy="57"/>
              <a:chOff x="1200" y="1584"/>
              <a:chExt cx="379" cy="45"/>
            </a:xfrm>
          </p:grpSpPr>
          <p:sp>
            <p:nvSpPr>
              <p:cNvPr id="59428" name="Arc 106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9" name="Arc 106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0" name="Arc 106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1" name="Arc 106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432" name="Arc 1064"/>
            <p:cNvSpPr>
              <a:spLocks/>
            </p:cNvSpPr>
            <p:nvPr/>
          </p:nvSpPr>
          <p:spPr bwMode="auto">
            <a:xfrm rot="10800000" flipV="1">
              <a:off x="1667" y="706"/>
              <a:ext cx="195" cy="205"/>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3" name="Text Box 1065"/>
            <p:cNvSpPr txBox="1">
              <a:spLocks noChangeArrowheads="1"/>
            </p:cNvSpPr>
            <p:nvPr/>
          </p:nvSpPr>
          <p:spPr bwMode="auto">
            <a:xfrm>
              <a:off x="760" y="90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9434" name="Text Box 1066"/>
            <p:cNvSpPr txBox="1">
              <a:spLocks noChangeArrowheads="1"/>
            </p:cNvSpPr>
            <p:nvPr/>
          </p:nvSpPr>
          <p:spPr bwMode="auto">
            <a:xfrm>
              <a:off x="772" y="144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59435" name="Arc 1067"/>
            <p:cNvSpPr>
              <a:spLocks/>
            </p:cNvSpPr>
            <p:nvPr/>
          </p:nvSpPr>
          <p:spPr bwMode="auto">
            <a:xfrm rot="-10800000" flipH="1" flipV="1">
              <a:off x="1960" y="709"/>
              <a:ext cx="195" cy="205"/>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6" name="Oval 1068"/>
            <p:cNvSpPr>
              <a:spLocks noChangeArrowheads="1"/>
            </p:cNvSpPr>
            <p:nvPr/>
          </p:nvSpPr>
          <p:spPr bwMode="auto">
            <a:xfrm>
              <a:off x="848" y="170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9437" name="Object 1069"/>
          <p:cNvGraphicFramePr>
            <a:graphicFrameLocks noChangeAspect="1"/>
          </p:cNvGraphicFramePr>
          <p:nvPr/>
        </p:nvGraphicFramePr>
        <p:xfrm>
          <a:off x="4948238" y="1576388"/>
          <a:ext cx="2378075" cy="741362"/>
        </p:xfrm>
        <a:graphic>
          <a:graphicData uri="http://schemas.openxmlformats.org/presentationml/2006/ole">
            <mc:AlternateContent xmlns:mc="http://schemas.openxmlformats.org/markup-compatibility/2006">
              <mc:Choice xmlns:v="urn:schemas-microsoft-com:vml" Requires="v">
                <p:oleObj spid="_x0000_s59507" name="公式" r:id="rId9" imgW="1257120" imgH="393480" progId="Equation.3">
                  <p:embed/>
                </p:oleObj>
              </mc:Choice>
              <mc:Fallback>
                <p:oleObj name="公式" r:id="rId9" imgW="1257120" imgH="393480" progId="Equation.3">
                  <p:embed/>
                  <p:pic>
                    <p:nvPicPr>
                      <p:cNvPr id="0" name="Object 10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48238" y="1576388"/>
                        <a:ext cx="2378075"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ppt_x"/>
                                          </p:val>
                                        </p:tav>
                                        <p:tav tm="100000">
                                          <p:val>
                                            <p:strVal val="#ppt_x"/>
                                          </p:val>
                                        </p:tav>
                                      </p:tavLst>
                                    </p:anim>
                                    <p:anim calcmode="lin" valueType="num">
                                      <p:cBhvr additive="base">
                                        <p:cTn id="8" dur="500" fill="hold"/>
                                        <p:tgtEl>
                                          <p:spTgt spid="5939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59439"/>
                                        </p:tgtEl>
                                        <p:attrNameLst>
                                          <p:attrName>style.visibility</p:attrName>
                                        </p:attrNameLst>
                                      </p:cBhvr>
                                      <p:to>
                                        <p:strVal val="visible"/>
                                      </p:to>
                                    </p:set>
                                    <p:animEffect transition="in" filter="box(in)">
                                      <p:cBhvr>
                                        <p:cTn id="13" dur="500"/>
                                        <p:tgtEl>
                                          <p:spTgt spid="594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nodeType="clickEffect">
                                  <p:stCondLst>
                                    <p:cond delay="0"/>
                                  </p:stCondLst>
                                  <p:childTnLst>
                                    <p:set>
                                      <p:cBhvr>
                                        <p:cTn id="17" dur="1" fill="hold">
                                          <p:stCondLst>
                                            <p:cond delay="0"/>
                                          </p:stCondLst>
                                        </p:cTn>
                                        <p:tgtEl>
                                          <p:spTgt spid="59396"/>
                                        </p:tgtEl>
                                        <p:attrNameLst>
                                          <p:attrName>style.visibility</p:attrName>
                                        </p:attrNameLst>
                                      </p:cBhvr>
                                      <p:to>
                                        <p:strVal val="visible"/>
                                      </p:to>
                                    </p:set>
                                    <p:anim calcmode="lin" valueType="num">
                                      <p:cBhvr additive="base">
                                        <p:cTn id="18" dur="500" fill="hold"/>
                                        <p:tgtEl>
                                          <p:spTgt spid="59396"/>
                                        </p:tgtEl>
                                        <p:attrNameLst>
                                          <p:attrName>ppt_x</p:attrName>
                                        </p:attrNameLst>
                                      </p:cBhvr>
                                      <p:tavLst>
                                        <p:tav tm="0">
                                          <p:val>
                                            <p:strVal val="1+#ppt_w/2"/>
                                          </p:val>
                                        </p:tav>
                                        <p:tav tm="100000">
                                          <p:val>
                                            <p:strVal val="#ppt_x"/>
                                          </p:val>
                                        </p:tav>
                                      </p:tavLst>
                                    </p:anim>
                                    <p:anim calcmode="lin" valueType="num">
                                      <p:cBhvr additive="base">
                                        <p:cTn id="19"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59437"/>
                                        </p:tgtEl>
                                        <p:attrNameLst>
                                          <p:attrName>style.visibility</p:attrName>
                                        </p:attrNameLst>
                                      </p:cBhvr>
                                      <p:to>
                                        <p:strVal val="visible"/>
                                      </p:to>
                                    </p:set>
                                    <p:anim calcmode="lin" valueType="num">
                                      <p:cBhvr additive="base">
                                        <p:cTn id="24" dur="500" fill="hold"/>
                                        <p:tgtEl>
                                          <p:spTgt spid="59437"/>
                                        </p:tgtEl>
                                        <p:attrNameLst>
                                          <p:attrName>ppt_x</p:attrName>
                                        </p:attrNameLst>
                                      </p:cBhvr>
                                      <p:tavLst>
                                        <p:tav tm="0">
                                          <p:val>
                                            <p:strVal val="1+#ppt_w/2"/>
                                          </p:val>
                                        </p:tav>
                                        <p:tav tm="100000">
                                          <p:val>
                                            <p:strVal val="#ppt_x"/>
                                          </p:val>
                                        </p:tav>
                                      </p:tavLst>
                                    </p:anim>
                                    <p:anim calcmode="lin" valueType="num">
                                      <p:cBhvr additive="base">
                                        <p:cTn id="25" dur="500" fill="hold"/>
                                        <p:tgtEl>
                                          <p:spTgt spid="59437"/>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59400"/>
                                        </p:tgtEl>
                                        <p:attrNameLst>
                                          <p:attrName>style.visibility</p:attrName>
                                        </p:attrNameLst>
                                      </p:cBhvr>
                                      <p:to>
                                        <p:strVal val="visible"/>
                                      </p:to>
                                    </p:set>
                                    <p:anim calcmode="lin" valueType="num">
                                      <p:cBhvr additive="base">
                                        <p:cTn id="30" dur="500" fill="hold"/>
                                        <p:tgtEl>
                                          <p:spTgt spid="59400"/>
                                        </p:tgtEl>
                                        <p:attrNameLst>
                                          <p:attrName>ppt_x</p:attrName>
                                        </p:attrNameLst>
                                      </p:cBhvr>
                                      <p:tavLst>
                                        <p:tav tm="0">
                                          <p:val>
                                            <p:strVal val="1+#ppt_w/2"/>
                                          </p:val>
                                        </p:tav>
                                        <p:tav tm="100000">
                                          <p:val>
                                            <p:strVal val="#ppt_x"/>
                                          </p:val>
                                        </p:tav>
                                      </p:tavLst>
                                    </p:anim>
                                    <p:anim calcmode="lin" valueType="num">
                                      <p:cBhvr additive="base">
                                        <p:cTn id="31" dur="500" fill="hold"/>
                                        <p:tgtEl>
                                          <p:spTgt spid="59400"/>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499"/>
                                          </p:stCondLst>
                                        </p:cTn>
                                        <p:tgtEl>
                                          <p:spTgt spid="5939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9401"/>
                                        </p:tgtEl>
                                        <p:attrNameLst>
                                          <p:attrName>style.visibility</p:attrName>
                                        </p:attrNameLst>
                                      </p:cBhvr>
                                      <p:to>
                                        <p:strVal val="visible"/>
                                      </p:to>
                                    </p:set>
                                    <p:anim calcmode="lin" valueType="num">
                                      <p:cBhvr additive="base">
                                        <p:cTn id="39" dur="500" fill="hold"/>
                                        <p:tgtEl>
                                          <p:spTgt spid="59401"/>
                                        </p:tgtEl>
                                        <p:attrNameLst>
                                          <p:attrName>ppt_x</p:attrName>
                                        </p:attrNameLst>
                                      </p:cBhvr>
                                      <p:tavLst>
                                        <p:tav tm="0">
                                          <p:val>
                                            <p:strVal val="0-#ppt_w/2"/>
                                          </p:val>
                                        </p:tav>
                                        <p:tav tm="100000">
                                          <p:val>
                                            <p:strVal val="#ppt_x"/>
                                          </p:val>
                                        </p:tav>
                                      </p:tavLst>
                                    </p:anim>
                                    <p:anim calcmode="lin" valueType="num">
                                      <p:cBhvr additive="base">
                                        <p:cTn id="40" dur="500" fill="hold"/>
                                        <p:tgtEl>
                                          <p:spTgt spid="59401"/>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 fill="hold" nodeType="clickEffect">
                                  <p:stCondLst>
                                    <p:cond delay="0"/>
                                  </p:stCondLst>
                                  <p:childTnLst>
                                    <p:set>
                                      <p:cBhvr>
                                        <p:cTn id="44" dur="1" fill="hold">
                                          <p:stCondLst>
                                            <p:cond delay="0"/>
                                          </p:stCondLst>
                                        </p:cTn>
                                        <p:tgtEl>
                                          <p:spTgt spid="59398"/>
                                        </p:tgtEl>
                                        <p:attrNameLst>
                                          <p:attrName>style.visibility</p:attrName>
                                        </p:attrNameLst>
                                      </p:cBhvr>
                                      <p:to>
                                        <p:strVal val="visible"/>
                                      </p:to>
                                    </p:set>
                                    <p:anim calcmode="lin" valueType="num">
                                      <p:cBhvr>
                                        <p:cTn id="45" dur="500" fill="hold"/>
                                        <p:tgtEl>
                                          <p:spTgt spid="59398"/>
                                        </p:tgtEl>
                                        <p:attrNameLst>
                                          <p:attrName>ppt_x</p:attrName>
                                        </p:attrNameLst>
                                      </p:cBhvr>
                                      <p:tavLst>
                                        <p:tav tm="0">
                                          <p:val>
                                            <p:strVal val="#ppt_x"/>
                                          </p:val>
                                        </p:tav>
                                        <p:tav tm="100000">
                                          <p:val>
                                            <p:strVal val="#ppt_x"/>
                                          </p:val>
                                        </p:tav>
                                      </p:tavLst>
                                    </p:anim>
                                    <p:anim calcmode="lin" valueType="num">
                                      <p:cBhvr>
                                        <p:cTn id="46" dur="500" fill="hold"/>
                                        <p:tgtEl>
                                          <p:spTgt spid="59398"/>
                                        </p:tgtEl>
                                        <p:attrNameLst>
                                          <p:attrName>ppt_y</p:attrName>
                                        </p:attrNameLst>
                                      </p:cBhvr>
                                      <p:tavLst>
                                        <p:tav tm="0">
                                          <p:val>
                                            <p:strVal val="#ppt_y-#ppt_h/2"/>
                                          </p:val>
                                        </p:tav>
                                        <p:tav tm="100000">
                                          <p:val>
                                            <p:strVal val="#ppt_y"/>
                                          </p:val>
                                        </p:tav>
                                      </p:tavLst>
                                    </p:anim>
                                    <p:anim calcmode="lin" valueType="num">
                                      <p:cBhvr>
                                        <p:cTn id="47" dur="500" fill="hold"/>
                                        <p:tgtEl>
                                          <p:spTgt spid="59398"/>
                                        </p:tgtEl>
                                        <p:attrNameLst>
                                          <p:attrName>ppt_w</p:attrName>
                                        </p:attrNameLst>
                                      </p:cBhvr>
                                      <p:tavLst>
                                        <p:tav tm="0">
                                          <p:val>
                                            <p:strVal val="#ppt_w"/>
                                          </p:val>
                                        </p:tav>
                                        <p:tav tm="100000">
                                          <p:val>
                                            <p:strVal val="#ppt_w"/>
                                          </p:val>
                                        </p:tav>
                                      </p:tavLst>
                                    </p:anim>
                                    <p:anim calcmode="lin" valueType="num">
                                      <p:cBhvr>
                                        <p:cTn id="48" dur="500" fill="hold"/>
                                        <p:tgtEl>
                                          <p:spTgt spid="59398"/>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 fill="hold" nodeType="clickEffect">
                                  <p:stCondLst>
                                    <p:cond delay="0"/>
                                  </p:stCondLst>
                                  <p:childTnLst>
                                    <p:set>
                                      <p:cBhvr>
                                        <p:cTn id="52" dur="1" fill="hold">
                                          <p:stCondLst>
                                            <p:cond delay="0"/>
                                          </p:stCondLst>
                                        </p:cTn>
                                        <p:tgtEl>
                                          <p:spTgt spid="59399"/>
                                        </p:tgtEl>
                                        <p:attrNameLst>
                                          <p:attrName>style.visibility</p:attrName>
                                        </p:attrNameLst>
                                      </p:cBhvr>
                                      <p:to>
                                        <p:strVal val="visible"/>
                                      </p:to>
                                    </p:set>
                                    <p:anim calcmode="lin" valueType="num">
                                      <p:cBhvr>
                                        <p:cTn id="53" dur="500" fill="hold"/>
                                        <p:tgtEl>
                                          <p:spTgt spid="59399"/>
                                        </p:tgtEl>
                                        <p:attrNameLst>
                                          <p:attrName>ppt_x</p:attrName>
                                        </p:attrNameLst>
                                      </p:cBhvr>
                                      <p:tavLst>
                                        <p:tav tm="0">
                                          <p:val>
                                            <p:strVal val="#ppt_x"/>
                                          </p:val>
                                        </p:tav>
                                        <p:tav tm="100000">
                                          <p:val>
                                            <p:strVal val="#ppt_x"/>
                                          </p:val>
                                        </p:tav>
                                      </p:tavLst>
                                    </p:anim>
                                    <p:anim calcmode="lin" valueType="num">
                                      <p:cBhvr>
                                        <p:cTn id="54" dur="500" fill="hold"/>
                                        <p:tgtEl>
                                          <p:spTgt spid="59399"/>
                                        </p:tgtEl>
                                        <p:attrNameLst>
                                          <p:attrName>ppt_y</p:attrName>
                                        </p:attrNameLst>
                                      </p:cBhvr>
                                      <p:tavLst>
                                        <p:tav tm="0">
                                          <p:val>
                                            <p:strVal val="#ppt_y-#ppt_h/2"/>
                                          </p:val>
                                        </p:tav>
                                        <p:tav tm="100000">
                                          <p:val>
                                            <p:strVal val="#ppt_y"/>
                                          </p:val>
                                        </p:tav>
                                      </p:tavLst>
                                    </p:anim>
                                    <p:anim calcmode="lin" valueType="num">
                                      <p:cBhvr>
                                        <p:cTn id="55" dur="500" fill="hold"/>
                                        <p:tgtEl>
                                          <p:spTgt spid="59399"/>
                                        </p:tgtEl>
                                        <p:attrNameLst>
                                          <p:attrName>ppt_w</p:attrName>
                                        </p:attrNameLst>
                                      </p:cBhvr>
                                      <p:tavLst>
                                        <p:tav tm="0">
                                          <p:val>
                                            <p:strVal val="#ppt_w"/>
                                          </p:val>
                                        </p:tav>
                                        <p:tav tm="100000">
                                          <p:val>
                                            <p:strVal val="#ppt_w"/>
                                          </p:val>
                                        </p:tav>
                                      </p:tavLst>
                                    </p:anim>
                                    <p:anim calcmode="lin" valueType="num">
                                      <p:cBhvr>
                                        <p:cTn id="56" dur="500" fill="hold"/>
                                        <p:tgtEl>
                                          <p:spTgt spid="5939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utoUpdateAnimBg="0"/>
      <p:bldP spid="59400" grpId="0" autoUpdateAnimBg="0"/>
      <p:bldP spid="5940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9" name="Text Box 3"/>
          <p:cNvSpPr txBox="1">
            <a:spLocks noChangeArrowheads="1"/>
          </p:cNvSpPr>
          <p:nvPr/>
        </p:nvSpPr>
        <p:spPr bwMode="auto">
          <a:xfrm>
            <a:off x="1042988" y="908050"/>
            <a:ext cx="77057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400" b="1">
                <a:latin typeface="Times New Roman" panose="02020603050405020304" pitchFamily="18" charset="0"/>
              </a:rPr>
              <a:t>     </a:t>
            </a:r>
            <a:r>
              <a:rPr kumimoji="1" lang="zh-CN" altLang="en-US" sz="2400" b="1">
                <a:solidFill>
                  <a:srgbClr val="3333FF"/>
                </a:solidFill>
                <a:latin typeface="Times New Roman" panose="02020603050405020304" pitchFamily="18" charset="0"/>
              </a:rPr>
              <a:t>有互感的电路的计算仍属</a:t>
            </a:r>
            <a:r>
              <a:rPr kumimoji="1" lang="zh-CN" altLang="en-US" sz="2400" b="1">
                <a:solidFill>
                  <a:srgbClr val="FF3300"/>
                </a:solidFill>
                <a:latin typeface="Times New Roman" panose="02020603050405020304" pitchFamily="18" charset="0"/>
              </a:rPr>
              <a:t>正弦稳态分析</a:t>
            </a:r>
            <a:r>
              <a:rPr kumimoji="1" lang="zh-CN" altLang="en-US" sz="2400" b="1">
                <a:solidFill>
                  <a:srgbClr val="3333FF"/>
                </a:solidFill>
                <a:latin typeface="Times New Roman" panose="02020603050405020304" pitchFamily="18" charset="0"/>
              </a:rPr>
              <a:t>，前面介</a:t>
            </a:r>
          </a:p>
          <a:p>
            <a:pPr algn="l">
              <a:spcBef>
                <a:spcPct val="0"/>
              </a:spcBef>
            </a:pPr>
            <a:r>
              <a:rPr kumimoji="1" lang="zh-CN" altLang="en-US" sz="2400" b="1">
                <a:solidFill>
                  <a:srgbClr val="3333FF"/>
                </a:solidFill>
                <a:latin typeface="Times New Roman" panose="02020603050405020304" pitchFamily="18" charset="0"/>
              </a:rPr>
              <a:t>绍的相量分析的的方法均适用。只需注意互感线圈</a:t>
            </a:r>
          </a:p>
          <a:p>
            <a:pPr algn="l">
              <a:spcBef>
                <a:spcPct val="0"/>
              </a:spcBef>
            </a:pPr>
            <a:r>
              <a:rPr kumimoji="1" lang="zh-CN" altLang="en-US" sz="2400" b="1">
                <a:solidFill>
                  <a:srgbClr val="3333FF"/>
                </a:solidFill>
                <a:latin typeface="Times New Roman" panose="02020603050405020304" pitchFamily="18" charset="0"/>
              </a:rPr>
              <a:t>上的电压除自感电压外，还应包含</a:t>
            </a:r>
            <a:r>
              <a:rPr kumimoji="1" lang="zh-CN" altLang="en-US" sz="2400" b="1">
                <a:solidFill>
                  <a:srgbClr val="FF3300"/>
                </a:solidFill>
                <a:latin typeface="Times New Roman" panose="02020603050405020304" pitchFamily="18" charset="0"/>
              </a:rPr>
              <a:t>互感电压</a:t>
            </a:r>
            <a:r>
              <a:rPr kumimoji="1" lang="zh-CN" altLang="en-US" sz="2400" b="1">
                <a:solidFill>
                  <a:srgbClr val="3333FF"/>
                </a:solidFill>
                <a:latin typeface="Times New Roman" panose="02020603050405020304" pitchFamily="18" charset="0"/>
              </a:rPr>
              <a:t>。</a:t>
            </a:r>
          </a:p>
        </p:txBody>
      </p:sp>
      <p:sp>
        <p:nvSpPr>
          <p:cNvPr id="715780" name="Text Box 4"/>
          <p:cNvSpPr txBox="1">
            <a:spLocks noChangeArrowheads="1"/>
          </p:cNvSpPr>
          <p:nvPr/>
        </p:nvSpPr>
        <p:spPr bwMode="auto">
          <a:xfrm>
            <a:off x="827088" y="2276475"/>
            <a:ext cx="4011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solidFill>
                  <a:srgbClr val="0000FF"/>
                </a:solidFill>
                <a:latin typeface="Times New Roman" panose="02020603050405020304" pitchFamily="18" charset="0"/>
              </a:rPr>
              <a:t>例 </a:t>
            </a:r>
            <a:r>
              <a:rPr kumimoji="1" lang="en-US" altLang="zh-CN" sz="2400" b="1">
                <a:solidFill>
                  <a:srgbClr val="0000FF"/>
                </a:solidFill>
                <a:latin typeface="Times New Roman" panose="02020603050405020304" pitchFamily="18" charset="0"/>
              </a:rPr>
              <a:t>1</a:t>
            </a:r>
            <a:r>
              <a:rPr kumimoji="1" lang="en-US" altLang="zh-CN" sz="2400" b="1">
                <a:solidFill>
                  <a:schemeClr val="accent2"/>
                </a:solidFill>
                <a:latin typeface="Times New Roman" panose="02020603050405020304" pitchFamily="18" charset="0"/>
              </a:rPr>
              <a:t>   </a:t>
            </a:r>
            <a:r>
              <a:rPr kumimoji="1" lang="zh-CN" altLang="en-US" sz="2400" b="1">
                <a:latin typeface="Times New Roman" panose="02020603050405020304" pitchFamily="18" charset="0"/>
              </a:rPr>
              <a:t>列写下图电路的方程。</a:t>
            </a:r>
          </a:p>
        </p:txBody>
      </p:sp>
      <p:grpSp>
        <p:nvGrpSpPr>
          <p:cNvPr id="715781" name="Group 5"/>
          <p:cNvGrpSpPr>
            <a:grpSpLocks/>
          </p:cNvGrpSpPr>
          <p:nvPr/>
        </p:nvGrpSpPr>
        <p:grpSpPr bwMode="auto">
          <a:xfrm>
            <a:off x="1116013" y="2636838"/>
            <a:ext cx="6892925" cy="2943225"/>
            <a:chOff x="232" y="2292"/>
            <a:chExt cx="4342" cy="1854"/>
          </a:xfrm>
        </p:grpSpPr>
        <p:sp>
          <p:nvSpPr>
            <p:cNvPr id="715782" name="Text Box 6"/>
            <p:cNvSpPr txBox="1">
              <a:spLocks noChangeArrowheads="1"/>
            </p:cNvSpPr>
            <p:nvPr/>
          </p:nvSpPr>
          <p:spPr bwMode="auto">
            <a:xfrm>
              <a:off x="2141" y="2292"/>
              <a:ext cx="4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solidFill>
                    <a:schemeClr val="accent2"/>
                  </a:solidFill>
                  <a:latin typeface="Times New Roman" panose="02020603050405020304" pitchFamily="18" charset="0"/>
                </a:rPr>
                <a:t>M</a:t>
              </a:r>
              <a:r>
                <a:rPr kumimoji="1" lang="en-US" altLang="zh-CN" sz="2400" b="1" baseline="-25000">
                  <a:solidFill>
                    <a:schemeClr val="accent2"/>
                  </a:solidFill>
                  <a:latin typeface="Times New Roman" panose="02020603050405020304" pitchFamily="18" charset="0"/>
                </a:rPr>
                <a:t>12</a:t>
              </a:r>
              <a:endParaRPr kumimoji="1" lang="en-US" altLang="zh-CN" sz="2400" b="1">
                <a:solidFill>
                  <a:schemeClr val="accent2"/>
                </a:solidFill>
                <a:latin typeface="Times New Roman" panose="02020603050405020304" pitchFamily="18" charset="0"/>
              </a:endParaRPr>
            </a:p>
          </p:txBody>
        </p:sp>
        <p:sp>
          <p:nvSpPr>
            <p:cNvPr id="715783" name="Oval 7"/>
            <p:cNvSpPr>
              <a:spLocks noChangeArrowheads="1"/>
            </p:cNvSpPr>
            <p:nvPr/>
          </p:nvSpPr>
          <p:spPr bwMode="auto">
            <a:xfrm>
              <a:off x="3781" y="3364"/>
              <a:ext cx="340" cy="340"/>
            </a:xfrm>
            <a:prstGeom prst="ellipse">
              <a:avLst/>
            </a:prstGeom>
            <a:solidFill>
              <a:schemeClr val="accent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5784" name="Oval 8"/>
            <p:cNvSpPr>
              <a:spLocks noChangeArrowheads="1"/>
            </p:cNvSpPr>
            <p:nvPr/>
          </p:nvSpPr>
          <p:spPr bwMode="auto">
            <a:xfrm>
              <a:off x="623" y="3352"/>
              <a:ext cx="340" cy="340"/>
            </a:xfrm>
            <a:prstGeom prst="ellipse">
              <a:avLst/>
            </a:prstGeom>
            <a:solidFill>
              <a:schemeClr val="accent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5785" name="Text Box 9"/>
            <p:cNvSpPr txBox="1">
              <a:spLocks noChangeArrowheads="1"/>
            </p:cNvSpPr>
            <p:nvPr/>
          </p:nvSpPr>
          <p:spPr bwMode="auto">
            <a:xfrm>
              <a:off x="542" y="3072"/>
              <a:ext cx="225"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715786" name="Text Box 10"/>
            <p:cNvSpPr txBox="1">
              <a:spLocks noChangeArrowheads="1"/>
            </p:cNvSpPr>
            <p:nvPr/>
          </p:nvSpPr>
          <p:spPr bwMode="auto">
            <a:xfrm>
              <a:off x="549" y="3592"/>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715787" name="Line 11"/>
            <p:cNvSpPr>
              <a:spLocks noChangeShapeType="1"/>
            </p:cNvSpPr>
            <p:nvPr/>
          </p:nvSpPr>
          <p:spPr bwMode="auto">
            <a:xfrm>
              <a:off x="2153" y="2904"/>
              <a:ext cx="3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88" name="Line 12"/>
            <p:cNvSpPr>
              <a:spLocks noChangeShapeType="1"/>
            </p:cNvSpPr>
            <p:nvPr/>
          </p:nvSpPr>
          <p:spPr bwMode="auto">
            <a:xfrm>
              <a:off x="2303" y="2902"/>
              <a:ext cx="0" cy="192"/>
            </a:xfrm>
            <a:prstGeom prst="line">
              <a:avLst/>
            </a:prstGeom>
            <a:noFill/>
            <a:ln w="190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89" name="Line 13"/>
            <p:cNvSpPr>
              <a:spLocks noChangeShapeType="1"/>
            </p:cNvSpPr>
            <p:nvPr/>
          </p:nvSpPr>
          <p:spPr bwMode="auto">
            <a:xfrm>
              <a:off x="2903" y="2904"/>
              <a:ext cx="10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0" name="Line 14"/>
            <p:cNvSpPr>
              <a:spLocks noChangeShapeType="1"/>
            </p:cNvSpPr>
            <p:nvPr/>
          </p:nvSpPr>
          <p:spPr bwMode="auto">
            <a:xfrm>
              <a:off x="797" y="2904"/>
              <a:ext cx="9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1" name="Rectangle 15"/>
            <p:cNvSpPr>
              <a:spLocks noChangeArrowheads="1"/>
            </p:cNvSpPr>
            <p:nvPr/>
          </p:nvSpPr>
          <p:spPr bwMode="auto">
            <a:xfrm rot="-5400000">
              <a:off x="1241" y="2760"/>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5792" name="Rectangle 16"/>
            <p:cNvSpPr>
              <a:spLocks noChangeArrowheads="1"/>
            </p:cNvSpPr>
            <p:nvPr/>
          </p:nvSpPr>
          <p:spPr bwMode="auto">
            <a:xfrm rot="-5400000">
              <a:off x="3275" y="2748"/>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5793" name="Line 17"/>
            <p:cNvSpPr>
              <a:spLocks noChangeShapeType="1"/>
            </p:cNvSpPr>
            <p:nvPr/>
          </p:nvSpPr>
          <p:spPr bwMode="auto">
            <a:xfrm>
              <a:off x="2309" y="3504"/>
              <a:ext cx="0" cy="636"/>
            </a:xfrm>
            <a:prstGeom prst="line">
              <a:avLst/>
            </a:prstGeom>
            <a:noFill/>
            <a:ln w="190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4" name="Rectangle 18"/>
            <p:cNvSpPr>
              <a:spLocks noChangeArrowheads="1"/>
            </p:cNvSpPr>
            <p:nvPr/>
          </p:nvSpPr>
          <p:spPr bwMode="auto">
            <a:xfrm>
              <a:off x="2249" y="3672"/>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5795" name="Line 19"/>
            <p:cNvSpPr>
              <a:spLocks noChangeShapeType="1"/>
            </p:cNvSpPr>
            <p:nvPr/>
          </p:nvSpPr>
          <p:spPr bwMode="auto">
            <a:xfrm>
              <a:off x="791" y="4140"/>
              <a:ext cx="31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6" name="Line 20"/>
            <p:cNvSpPr>
              <a:spLocks noChangeShapeType="1"/>
            </p:cNvSpPr>
            <p:nvPr/>
          </p:nvSpPr>
          <p:spPr bwMode="auto">
            <a:xfrm flipH="1">
              <a:off x="3959" y="2904"/>
              <a:ext cx="0" cy="1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7" name="Line 21"/>
            <p:cNvSpPr>
              <a:spLocks noChangeShapeType="1"/>
            </p:cNvSpPr>
            <p:nvPr/>
          </p:nvSpPr>
          <p:spPr bwMode="auto">
            <a:xfrm>
              <a:off x="791" y="2898"/>
              <a:ext cx="0" cy="12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8" name="Text Box 22"/>
            <p:cNvSpPr txBox="1">
              <a:spLocks noChangeArrowheads="1"/>
            </p:cNvSpPr>
            <p:nvPr/>
          </p:nvSpPr>
          <p:spPr bwMode="auto">
            <a:xfrm>
              <a:off x="3970" y="3096"/>
              <a:ext cx="225"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715799" name="Text Box 23"/>
            <p:cNvSpPr txBox="1">
              <a:spLocks noChangeArrowheads="1"/>
            </p:cNvSpPr>
            <p:nvPr/>
          </p:nvSpPr>
          <p:spPr bwMode="auto">
            <a:xfrm>
              <a:off x="3977" y="3606"/>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_</a:t>
              </a:r>
            </a:p>
          </p:txBody>
        </p:sp>
        <p:graphicFrame>
          <p:nvGraphicFramePr>
            <p:cNvPr id="715800" name="Object 24"/>
            <p:cNvGraphicFramePr>
              <a:graphicFrameLocks noChangeAspect="1"/>
            </p:cNvGraphicFramePr>
            <p:nvPr/>
          </p:nvGraphicFramePr>
          <p:xfrm>
            <a:off x="232" y="3297"/>
            <a:ext cx="416" cy="395"/>
          </p:xfrm>
          <a:graphic>
            <a:graphicData uri="http://schemas.openxmlformats.org/presentationml/2006/ole">
              <mc:AlternateContent xmlns:mc="http://schemas.openxmlformats.org/markup-compatibility/2006">
                <mc:Choice xmlns:v="urn:schemas-microsoft-com:vml" Requires="v">
                  <p:oleObj spid="_x0000_s110662" name="公式" r:id="rId4" imgW="253800" imgH="241200" progId="Equation.3">
                    <p:embed/>
                  </p:oleObj>
                </mc:Choice>
                <mc:Fallback>
                  <p:oleObj name="公式" r:id="rId4" imgW="253800" imgH="241200" progId="Equation.3">
                    <p:embed/>
                    <p:pic>
                      <p:nvPicPr>
                        <p:cNvPr id="71580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 y="3297"/>
                          <a:ext cx="416" cy="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5801" name="Object 25"/>
            <p:cNvGraphicFramePr>
              <a:graphicFrameLocks noChangeAspect="1"/>
            </p:cNvGraphicFramePr>
            <p:nvPr/>
          </p:nvGraphicFramePr>
          <p:xfrm>
            <a:off x="4120" y="3342"/>
            <a:ext cx="454" cy="410"/>
          </p:xfrm>
          <a:graphic>
            <a:graphicData uri="http://schemas.openxmlformats.org/presentationml/2006/ole">
              <mc:AlternateContent xmlns:mc="http://schemas.openxmlformats.org/markup-compatibility/2006">
                <mc:Choice xmlns:v="urn:schemas-microsoft-com:vml" Requires="v">
                  <p:oleObj spid="_x0000_s110663" name="公式" r:id="rId6" imgW="266400" imgH="241200" progId="Equation.3">
                    <p:embed/>
                  </p:oleObj>
                </mc:Choice>
                <mc:Fallback>
                  <p:oleObj name="公式" r:id="rId6" imgW="266400" imgH="241200" progId="Equation.3">
                    <p:embed/>
                    <p:pic>
                      <p:nvPicPr>
                        <p:cNvPr id="715801"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0" y="3342"/>
                          <a:ext cx="454"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5802" name="Line 26"/>
            <p:cNvSpPr>
              <a:spLocks noChangeShapeType="1"/>
            </p:cNvSpPr>
            <p:nvPr/>
          </p:nvSpPr>
          <p:spPr bwMode="auto">
            <a:xfrm>
              <a:off x="791" y="2814"/>
              <a:ext cx="240"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03" name="Line 27"/>
            <p:cNvSpPr>
              <a:spLocks noChangeShapeType="1"/>
            </p:cNvSpPr>
            <p:nvPr/>
          </p:nvSpPr>
          <p:spPr bwMode="auto">
            <a:xfrm flipH="1" flipV="1">
              <a:off x="3646" y="2814"/>
              <a:ext cx="307"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04" name="Line 28"/>
            <p:cNvSpPr>
              <a:spLocks noChangeShapeType="1"/>
            </p:cNvSpPr>
            <p:nvPr/>
          </p:nvSpPr>
          <p:spPr bwMode="auto">
            <a:xfrm>
              <a:off x="2441" y="3828"/>
              <a:ext cx="0" cy="24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05" name="Text Box 29"/>
            <p:cNvSpPr txBox="1">
              <a:spLocks noChangeArrowheads="1"/>
            </p:cNvSpPr>
            <p:nvPr/>
          </p:nvSpPr>
          <p:spPr bwMode="auto">
            <a:xfrm>
              <a:off x="1589" y="2652"/>
              <a:ext cx="2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solidFill>
                    <a:srgbClr val="FF3300"/>
                  </a:solidFill>
                  <a:latin typeface="Times New Roman" panose="02020603050405020304" pitchFamily="18" charset="0"/>
                  <a:sym typeface="Symbol" panose="05050102010706020507" pitchFamily="18" charset="2"/>
                </a:rPr>
                <a:t></a:t>
              </a:r>
              <a:endParaRPr kumimoji="1" lang="en-US" altLang="zh-CN" sz="2400" b="1">
                <a:solidFill>
                  <a:srgbClr val="FF3300"/>
                </a:solidFill>
                <a:latin typeface="Times New Roman" panose="02020603050405020304" pitchFamily="18" charset="0"/>
              </a:endParaRPr>
            </a:p>
          </p:txBody>
        </p:sp>
        <p:sp>
          <p:nvSpPr>
            <p:cNvPr id="715806" name="Text Box 30"/>
            <p:cNvSpPr txBox="1">
              <a:spLocks noChangeArrowheads="1"/>
            </p:cNvSpPr>
            <p:nvPr/>
          </p:nvSpPr>
          <p:spPr bwMode="auto">
            <a:xfrm>
              <a:off x="2867" y="2652"/>
              <a:ext cx="2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solidFill>
                    <a:srgbClr val="FF3300"/>
                  </a:solidFill>
                  <a:latin typeface="Times New Roman" panose="02020603050405020304" pitchFamily="18" charset="0"/>
                  <a:sym typeface="Symbol" panose="05050102010706020507" pitchFamily="18" charset="2"/>
                </a:rPr>
                <a:t></a:t>
              </a:r>
              <a:endParaRPr kumimoji="1" lang="en-US" altLang="zh-CN" sz="2400" b="1">
                <a:solidFill>
                  <a:srgbClr val="FF3300"/>
                </a:solidFill>
                <a:latin typeface="Times New Roman" panose="02020603050405020304" pitchFamily="18" charset="0"/>
              </a:endParaRPr>
            </a:p>
          </p:txBody>
        </p:sp>
        <p:sp>
          <p:nvSpPr>
            <p:cNvPr id="715807" name="Text Box 31"/>
            <p:cNvSpPr txBox="1">
              <a:spLocks noChangeArrowheads="1"/>
            </p:cNvSpPr>
            <p:nvPr/>
          </p:nvSpPr>
          <p:spPr bwMode="auto">
            <a:xfrm>
              <a:off x="1823" y="255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15808" name="Text Box 32"/>
            <p:cNvSpPr txBox="1">
              <a:spLocks noChangeArrowheads="1"/>
            </p:cNvSpPr>
            <p:nvPr/>
          </p:nvSpPr>
          <p:spPr bwMode="auto">
            <a:xfrm>
              <a:off x="2543" y="255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715809" name="Text Box 33"/>
            <p:cNvSpPr txBox="1">
              <a:spLocks noChangeArrowheads="1"/>
            </p:cNvSpPr>
            <p:nvPr/>
          </p:nvSpPr>
          <p:spPr bwMode="auto">
            <a:xfrm>
              <a:off x="2351" y="313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sp>
          <p:nvSpPr>
            <p:cNvPr id="715810" name="Text Box 34"/>
            <p:cNvSpPr txBox="1">
              <a:spLocks noChangeArrowheads="1"/>
            </p:cNvSpPr>
            <p:nvPr/>
          </p:nvSpPr>
          <p:spPr bwMode="auto">
            <a:xfrm>
              <a:off x="1190" y="255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15811" name="Text Box 35"/>
            <p:cNvSpPr txBox="1">
              <a:spLocks noChangeArrowheads="1"/>
            </p:cNvSpPr>
            <p:nvPr/>
          </p:nvSpPr>
          <p:spPr bwMode="auto">
            <a:xfrm>
              <a:off x="3185" y="252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715812" name="Text Box 36"/>
            <p:cNvSpPr txBox="1">
              <a:spLocks noChangeArrowheads="1"/>
            </p:cNvSpPr>
            <p:nvPr/>
          </p:nvSpPr>
          <p:spPr bwMode="auto">
            <a:xfrm>
              <a:off x="1950" y="372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graphicFrame>
          <p:nvGraphicFramePr>
            <p:cNvPr id="715813" name="Object 37"/>
            <p:cNvGraphicFramePr>
              <a:graphicFrameLocks noChangeAspect="1"/>
            </p:cNvGraphicFramePr>
            <p:nvPr/>
          </p:nvGraphicFramePr>
          <p:xfrm>
            <a:off x="778" y="2496"/>
            <a:ext cx="230" cy="322"/>
          </p:xfrm>
          <a:graphic>
            <a:graphicData uri="http://schemas.openxmlformats.org/presentationml/2006/ole">
              <mc:AlternateContent xmlns:mc="http://schemas.openxmlformats.org/markup-compatibility/2006">
                <mc:Choice xmlns:v="urn:schemas-microsoft-com:vml" Requires="v">
                  <p:oleObj spid="_x0000_s110664" name="公式" r:id="rId8" imgW="164880" imgH="228600" progId="Equation.3">
                    <p:embed/>
                  </p:oleObj>
                </mc:Choice>
                <mc:Fallback>
                  <p:oleObj name="公式" r:id="rId8" imgW="164880" imgH="228600" progId="Equation.3">
                    <p:embed/>
                    <p:pic>
                      <p:nvPicPr>
                        <p:cNvPr id="715813"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 y="2496"/>
                          <a:ext cx="230"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5814" name="Object 38"/>
            <p:cNvGraphicFramePr>
              <a:graphicFrameLocks noChangeAspect="1"/>
            </p:cNvGraphicFramePr>
            <p:nvPr/>
          </p:nvGraphicFramePr>
          <p:xfrm>
            <a:off x="3711" y="2478"/>
            <a:ext cx="262" cy="339"/>
          </p:xfrm>
          <a:graphic>
            <a:graphicData uri="http://schemas.openxmlformats.org/presentationml/2006/ole">
              <mc:AlternateContent xmlns:mc="http://schemas.openxmlformats.org/markup-compatibility/2006">
                <mc:Choice xmlns:v="urn:schemas-microsoft-com:vml" Requires="v">
                  <p:oleObj spid="_x0000_s110665" name="公式" r:id="rId10" imgW="177480" imgH="228600" progId="Equation.3">
                    <p:embed/>
                  </p:oleObj>
                </mc:Choice>
                <mc:Fallback>
                  <p:oleObj name="公式" r:id="rId10" imgW="177480" imgH="228600" progId="Equation.3">
                    <p:embed/>
                    <p:pic>
                      <p:nvPicPr>
                        <p:cNvPr id="715814"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1" y="2478"/>
                          <a:ext cx="262"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5815" name="Object 39"/>
            <p:cNvGraphicFramePr>
              <a:graphicFrameLocks noChangeAspect="1"/>
            </p:cNvGraphicFramePr>
            <p:nvPr/>
          </p:nvGraphicFramePr>
          <p:xfrm>
            <a:off x="2458" y="3754"/>
            <a:ext cx="270" cy="367"/>
          </p:xfrm>
          <a:graphic>
            <a:graphicData uri="http://schemas.openxmlformats.org/presentationml/2006/ole">
              <mc:AlternateContent xmlns:mc="http://schemas.openxmlformats.org/markup-compatibility/2006">
                <mc:Choice xmlns:v="urn:schemas-microsoft-com:vml" Requires="v">
                  <p:oleObj spid="_x0000_s110666" name="公式" r:id="rId12" imgW="177480" imgH="241200" progId="Equation.3">
                    <p:embed/>
                  </p:oleObj>
                </mc:Choice>
                <mc:Fallback>
                  <p:oleObj name="公式" r:id="rId12" imgW="177480" imgH="241200" progId="Equation.3">
                    <p:embed/>
                    <p:pic>
                      <p:nvPicPr>
                        <p:cNvPr id="715815"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58" y="3754"/>
                          <a:ext cx="270"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5816" name="Arc 40"/>
            <p:cNvSpPr>
              <a:spLocks/>
            </p:cNvSpPr>
            <p:nvPr/>
          </p:nvSpPr>
          <p:spPr bwMode="auto">
            <a:xfrm flipH="1">
              <a:off x="1725" y="2448"/>
              <a:ext cx="420" cy="276"/>
            </a:xfrm>
            <a:custGeom>
              <a:avLst/>
              <a:gdLst>
                <a:gd name="G0" fmla="+- 495 0 0"/>
                <a:gd name="G1" fmla="+- 21600 0 0"/>
                <a:gd name="G2" fmla="+- 21600 0 0"/>
                <a:gd name="T0" fmla="*/ 0 w 21811"/>
                <a:gd name="T1" fmla="*/ 6 h 21600"/>
                <a:gd name="T2" fmla="*/ 21811 w 21811"/>
                <a:gd name="T3" fmla="*/ 18107 h 21600"/>
                <a:gd name="T4" fmla="*/ 495 w 21811"/>
                <a:gd name="T5" fmla="*/ 21600 h 21600"/>
              </a:gdLst>
              <a:ahLst/>
              <a:cxnLst>
                <a:cxn ang="0">
                  <a:pos x="T0" y="T1"/>
                </a:cxn>
                <a:cxn ang="0">
                  <a:pos x="T2" y="T3"/>
                </a:cxn>
                <a:cxn ang="0">
                  <a:pos x="T4" y="T5"/>
                </a:cxn>
              </a:cxnLst>
              <a:rect l="0" t="0" r="r" b="b"/>
              <a:pathLst>
                <a:path w="21811" h="21600" fill="none" extrusionOk="0">
                  <a:moveTo>
                    <a:pt x="-1" y="5"/>
                  </a:moveTo>
                  <a:cubicBezTo>
                    <a:pt x="164" y="1"/>
                    <a:pt x="329" y="0"/>
                    <a:pt x="495" y="0"/>
                  </a:cubicBezTo>
                  <a:cubicBezTo>
                    <a:pt x="11076" y="0"/>
                    <a:pt x="20099" y="7665"/>
                    <a:pt x="21810" y="18107"/>
                  </a:cubicBezTo>
                </a:path>
                <a:path w="21811" h="21600" stroke="0" extrusionOk="0">
                  <a:moveTo>
                    <a:pt x="-1" y="5"/>
                  </a:moveTo>
                  <a:cubicBezTo>
                    <a:pt x="164" y="1"/>
                    <a:pt x="329" y="0"/>
                    <a:pt x="495" y="0"/>
                  </a:cubicBezTo>
                  <a:cubicBezTo>
                    <a:pt x="11076" y="0"/>
                    <a:pt x="20099" y="7665"/>
                    <a:pt x="21810" y="18107"/>
                  </a:cubicBezTo>
                  <a:lnTo>
                    <a:pt x="495"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17" name="Arc 41"/>
            <p:cNvSpPr>
              <a:spLocks/>
            </p:cNvSpPr>
            <p:nvPr/>
          </p:nvSpPr>
          <p:spPr bwMode="auto">
            <a:xfrm>
              <a:off x="2507" y="2428"/>
              <a:ext cx="426" cy="288"/>
            </a:xfrm>
            <a:custGeom>
              <a:avLst/>
              <a:gdLst>
                <a:gd name="G0" fmla="+- 0 0 0"/>
                <a:gd name="G1" fmla="+- 21600 0 0"/>
                <a:gd name="G2" fmla="+- 21600 0 0"/>
                <a:gd name="T0" fmla="*/ 0 w 21206"/>
                <a:gd name="T1" fmla="*/ 0 h 21600"/>
                <a:gd name="T2" fmla="*/ 21206 w 21206"/>
                <a:gd name="T3" fmla="*/ 17496 h 21600"/>
                <a:gd name="T4" fmla="*/ 0 w 21206"/>
                <a:gd name="T5" fmla="*/ 21600 h 21600"/>
              </a:gdLst>
              <a:ahLst/>
              <a:cxnLst>
                <a:cxn ang="0">
                  <a:pos x="T0" y="T1"/>
                </a:cxn>
                <a:cxn ang="0">
                  <a:pos x="T2" y="T3"/>
                </a:cxn>
                <a:cxn ang="0">
                  <a:pos x="T4" y="T5"/>
                </a:cxn>
              </a:cxnLst>
              <a:rect l="0" t="0" r="r" b="b"/>
              <a:pathLst>
                <a:path w="21206" h="21600" fill="none" extrusionOk="0">
                  <a:moveTo>
                    <a:pt x="0" y="0"/>
                  </a:moveTo>
                  <a:cubicBezTo>
                    <a:pt x="10346" y="0"/>
                    <a:pt x="19240" y="7337"/>
                    <a:pt x="21206" y="17495"/>
                  </a:cubicBezTo>
                </a:path>
                <a:path w="21206" h="21600" stroke="0" extrusionOk="0">
                  <a:moveTo>
                    <a:pt x="0" y="0"/>
                  </a:moveTo>
                  <a:cubicBezTo>
                    <a:pt x="10346" y="0"/>
                    <a:pt x="19240" y="7337"/>
                    <a:pt x="21206" y="17495"/>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5818" name="Group 42"/>
            <p:cNvGrpSpPr>
              <a:grpSpLocks/>
            </p:cNvGrpSpPr>
            <p:nvPr/>
          </p:nvGrpSpPr>
          <p:grpSpPr bwMode="auto">
            <a:xfrm flipH="1">
              <a:off x="1752" y="2844"/>
              <a:ext cx="401" cy="65"/>
              <a:chOff x="1200" y="1584"/>
              <a:chExt cx="379" cy="45"/>
            </a:xfrm>
          </p:grpSpPr>
          <p:sp>
            <p:nvSpPr>
              <p:cNvPr id="715819" name="Arc 4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0" name="Arc 4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1" name="Arc 4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2" name="Arc 4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5823" name="Group 47"/>
            <p:cNvGrpSpPr>
              <a:grpSpLocks/>
            </p:cNvGrpSpPr>
            <p:nvPr/>
          </p:nvGrpSpPr>
          <p:grpSpPr bwMode="auto">
            <a:xfrm flipH="1">
              <a:off x="2502" y="2840"/>
              <a:ext cx="401" cy="65"/>
              <a:chOff x="1200" y="1584"/>
              <a:chExt cx="379" cy="45"/>
            </a:xfrm>
          </p:grpSpPr>
          <p:sp>
            <p:nvSpPr>
              <p:cNvPr id="715824" name="Arc 4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5" name="Arc 4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6" name="Arc 5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27" name="Arc 5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5828" name="Group 52"/>
            <p:cNvGrpSpPr>
              <a:grpSpLocks/>
            </p:cNvGrpSpPr>
            <p:nvPr/>
          </p:nvGrpSpPr>
          <p:grpSpPr bwMode="auto">
            <a:xfrm rot="5400000" flipH="1">
              <a:off x="2136" y="3258"/>
              <a:ext cx="401" cy="65"/>
              <a:chOff x="1200" y="1584"/>
              <a:chExt cx="379" cy="45"/>
            </a:xfrm>
          </p:grpSpPr>
          <p:sp>
            <p:nvSpPr>
              <p:cNvPr id="715829" name="Arc 5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30" name="Arc 5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31" name="Arc 5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832" name="Arc 5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9" name="Rectangle 6"/>
          <p:cNvSpPr txBox="1">
            <a:spLocks noChangeArrowheads="1"/>
          </p:cNvSpPr>
          <p:nvPr/>
        </p:nvSpPr>
        <p:spPr bwMode="auto">
          <a:xfrm>
            <a:off x="203201" y="217488"/>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defRPr/>
            </a:pPr>
            <a:r>
              <a:rPr lang="en-US" altLang="zh-CN" sz="2800" smtClean="0">
                <a:solidFill>
                  <a:schemeClr val="tx1"/>
                </a:solidFill>
                <a:effectLst>
                  <a:outerShdw blurRad="38100" dist="38100" dir="2700000" algn="tl">
                    <a:srgbClr val="C0C0C0"/>
                  </a:outerShdw>
                </a:effectLst>
                <a:ea typeface="隶书" panose="02010509060101010101" pitchFamily="49" charset="-122"/>
              </a:rPr>
              <a:t>13.3 </a:t>
            </a:r>
            <a:r>
              <a:rPr lang="zh-CN" altLang="en-US" sz="2800" smtClean="0">
                <a:solidFill>
                  <a:schemeClr val="tx1"/>
                </a:solidFill>
                <a:effectLst>
                  <a:outerShdw blurRad="38100" dist="38100" dir="2700000" algn="tl">
                    <a:srgbClr val="C0C0C0"/>
                  </a:outerShdw>
                </a:effectLst>
                <a:ea typeface="隶书" panose="02010509060101010101" pitchFamily="49" charset="-122"/>
              </a:rPr>
              <a:t>含耦合电感电路分析</a:t>
            </a:r>
            <a:r>
              <a:rPr lang="en-US" altLang="zh-CN" sz="2800" smtClean="0">
                <a:solidFill>
                  <a:schemeClr val="tx1"/>
                </a:solidFill>
                <a:effectLst>
                  <a:outerShdw blurRad="38100" dist="38100" dir="2700000" algn="tl">
                    <a:srgbClr val="C0C0C0"/>
                  </a:outerShdw>
                </a:effectLst>
                <a:ea typeface="隶书" panose="02010509060101010101" pitchFamily="49" charset="-122"/>
              </a:rPr>
              <a:t>Analysis of coupled circuits</a:t>
            </a:r>
            <a:endParaRPr lang="en-US" altLang="zh-CN" sz="2800" b="1" dirty="0" smtClean="0">
              <a:ea typeface="隶书" panose="02010509060101010101" pitchFamily="49" charset="-122"/>
            </a:endParaRPr>
          </a:p>
        </p:txBody>
      </p:sp>
    </p:spTree>
    <p:extLst>
      <p:ext uri="{BB962C8B-B14F-4D97-AF65-F5344CB8AC3E}">
        <p14:creationId xmlns:p14="http://schemas.microsoft.com/office/powerpoint/2010/main" val="618987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5779"/>
                                        </p:tgtEl>
                                        <p:attrNameLst>
                                          <p:attrName>style.visibility</p:attrName>
                                        </p:attrNameLst>
                                      </p:cBhvr>
                                      <p:to>
                                        <p:strVal val="visible"/>
                                      </p:to>
                                    </p:set>
                                    <p:animEffect transition="in" filter="dissolve">
                                      <p:cBhvr>
                                        <p:cTn id="7" dur="500"/>
                                        <p:tgtEl>
                                          <p:spTgt spid="715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5780"/>
                                        </p:tgtEl>
                                        <p:attrNameLst>
                                          <p:attrName>style.visibility</p:attrName>
                                        </p:attrNameLst>
                                      </p:cBhvr>
                                      <p:to>
                                        <p:strVal val="visible"/>
                                      </p:to>
                                    </p:set>
                                    <p:animEffect transition="in" filter="dissolve">
                                      <p:cBhvr>
                                        <p:cTn id="12" dur="500"/>
                                        <p:tgtEl>
                                          <p:spTgt spid="715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15781"/>
                                        </p:tgtEl>
                                        <p:attrNameLst>
                                          <p:attrName>style.visibility</p:attrName>
                                        </p:attrNameLst>
                                      </p:cBhvr>
                                      <p:to>
                                        <p:strVal val="visible"/>
                                      </p:to>
                                    </p:set>
                                    <p:animEffect transition="in" filter="dissolve">
                                      <p:cBhvr>
                                        <p:cTn id="17" dur="500"/>
                                        <p:tgtEl>
                                          <p:spTgt spid="71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9" grpId="0" autoUpdateAnimBg="0"/>
      <p:bldP spid="715780"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Text Box 2"/>
          <p:cNvSpPr txBox="1">
            <a:spLocks noChangeArrowheads="1"/>
          </p:cNvSpPr>
          <p:nvPr/>
        </p:nvSpPr>
        <p:spPr bwMode="auto">
          <a:xfrm>
            <a:off x="308790" y="3164176"/>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dirty="0" smtClean="0">
                <a:solidFill>
                  <a:srgbClr val="FF3300"/>
                </a:solidFill>
                <a:latin typeface="Times New Roman" panose="02020603050405020304" pitchFamily="18" charset="0"/>
              </a:rPr>
              <a:t>网孔分析法：</a:t>
            </a:r>
            <a:endParaRPr kumimoji="1" lang="zh-CN" altLang="en-US" sz="2400" b="1" dirty="0">
              <a:latin typeface="Times New Roman" panose="02020603050405020304" pitchFamily="18" charset="0"/>
            </a:endParaRPr>
          </a:p>
        </p:txBody>
      </p:sp>
      <p:graphicFrame>
        <p:nvGraphicFramePr>
          <p:cNvPr id="717827" name="Object 3"/>
          <p:cNvGraphicFramePr>
            <a:graphicFrameLocks noChangeAspect="1"/>
          </p:cNvGraphicFramePr>
          <p:nvPr>
            <p:extLst>
              <p:ext uri="{D42A27DB-BD31-4B8C-83A1-F6EECF244321}">
                <p14:modId xmlns:p14="http://schemas.microsoft.com/office/powerpoint/2010/main" val="1485427945"/>
              </p:ext>
            </p:extLst>
          </p:nvPr>
        </p:nvGraphicFramePr>
        <p:xfrm>
          <a:off x="1856602" y="3816639"/>
          <a:ext cx="5915025" cy="498475"/>
        </p:xfrm>
        <a:graphic>
          <a:graphicData uri="http://schemas.openxmlformats.org/presentationml/2006/ole">
            <mc:AlternateContent xmlns:mc="http://schemas.openxmlformats.org/markup-compatibility/2006">
              <mc:Choice xmlns:v="urn:schemas-microsoft-com:vml" Requires="v">
                <p:oleObj spid="_x0000_s111718" name="公式" r:id="rId4" imgW="2844720" imgH="241200" progId="Equation.3">
                  <p:embed/>
                </p:oleObj>
              </mc:Choice>
              <mc:Fallback>
                <p:oleObj name="公式" r:id="rId4" imgW="2844720" imgH="241200" progId="Equation.3">
                  <p:embed/>
                  <p:pic>
                    <p:nvPicPr>
                      <p:cNvPr id="7178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6602" y="3816639"/>
                        <a:ext cx="5915025"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828" name="Object 4"/>
          <p:cNvGraphicFramePr>
            <a:graphicFrameLocks noChangeAspect="1"/>
          </p:cNvGraphicFramePr>
          <p:nvPr>
            <p:extLst>
              <p:ext uri="{D42A27DB-BD31-4B8C-83A1-F6EECF244321}">
                <p14:modId xmlns:p14="http://schemas.microsoft.com/office/powerpoint/2010/main" val="941746692"/>
              </p:ext>
            </p:extLst>
          </p:nvPr>
        </p:nvGraphicFramePr>
        <p:xfrm>
          <a:off x="1799452" y="4388139"/>
          <a:ext cx="5992813" cy="498475"/>
        </p:xfrm>
        <a:graphic>
          <a:graphicData uri="http://schemas.openxmlformats.org/presentationml/2006/ole">
            <mc:AlternateContent xmlns:mc="http://schemas.openxmlformats.org/markup-compatibility/2006">
              <mc:Choice xmlns:v="urn:schemas-microsoft-com:vml" Requires="v">
                <p:oleObj spid="_x0000_s111719" name="公式" r:id="rId6" imgW="2882880" imgH="241200" progId="Equation.3">
                  <p:embed/>
                </p:oleObj>
              </mc:Choice>
              <mc:Fallback>
                <p:oleObj name="公式" r:id="rId6" imgW="2882880" imgH="241200" progId="Equation.3">
                  <p:embed/>
                  <p:pic>
                    <p:nvPicPr>
                      <p:cNvPr id="71782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9452" y="4388139"/>
                        <a:ext cx="5992813"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829" name="Object 5"/>
          <p:cNvGraphicFramePr>
            <a:graphicFrameLocks noChangeAspect="1"/>
          </p:cNvGraphicFramePr>
          <p:nvPr>
            <p:extLst>
              <p:ext uri="{D42A27DB-BD31-4B8C-83A1-F6EECF244321}">
                <p14:modId xmlns:p14="http://schemas.microsoft.com/office/powerpoint/2010/main" val="3049906973"/>
              </p:ext>
            </p:extLst>
          </p:nvPr>
        </p:nvGraphicFramePr>
        <p:xfrm>
          <a:off x="1756590" y="4940589"/>
          <a:ext cx="1574800" cy="512762"/>
        </p:xfrm>
        <a:graphic>
          <a:graphicData uri="http://schemas.openxmlformats.org/presentationml/2006/ole">
            <mc:AlternateContent xmlns:mc="http://schemas.openxmlformats.org/markup-compatibility/2006">
              <mc:Choice xmlns:v="urn:schemas-microsoft-com:vml" Requires="v">
                <p:oleObj spid="_x0000_s111720" name="公式" r:id="rId8" imgW="736560" imgH="241200" progId="Equation.3">
                  <p:embed/>
                </p:oleObj>
              </mc:Choice>
              <mc:Fallback>
                <p:oleObj name="公式" r:id="rId8" imgW="736560" imgH="241200" progId="Equation.3">
                  <p:embed/>
                  <p:pic>
                    <p:nvPicPr>
                      <p:cNvPr id="717829"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6590" y="4940589"/>
                        <a:ext cx="15748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30" name="AutoShape 6"/>
          <p:cNvSpPr>
            <a:spLocks/>
          </p:cNvSpPr>
          <p:nvPr/>
        </p:nvSpPr>
        <p:spPr bwMode="auto">
          <a:xfrm>
            <a:off x="1634352" y="3784889"/>
            <a:ext cx="128588" cy="1636712"/>
          </a:xfrm>
          <a:prstGeom prst="leftBrace">
            <a:avLst>
              <a:gd name="adj1" fmla="val 106070"/>
              <a:gd name="adj2" fmla="val 50000"/>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39" name="Text Box 15"/>
          <p:cNvSpPr txBox="1">
            <a:spLocks noChangeArrowheads="1"/>
          </p:cNvSpPr>
          <p:nvPr/>
        </p:nvSpPr>
        <p:spPr bwMode="auto">
          <a:xfrm>
            <a:off x="770949" y="5794664"/>
            <a:ext cx="587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dirty="0">
                <a:solidFill>
                  <a:schemeClr val="accent2"/>
                </a:solidFill>
                <a:latin typeface="Times New Roman" panose="02020603050405020304" pitchFamily="18" charset="0"/>
              </a:rPr>
              <a:t>注意</a:t>
            </a:r>
            <a:r>
              <a:rPr kumimoji="1" lang="en-US" altLang="zh-CN" sz="2400" b="1" dirty="0">
                <a:solidFill>
                  <a:schemeClr val="accent2"/>
                </a:solidFill>
                <a:latin typeface="Times New Roman" panose="02020603050405020304" pitchFamily="18" charset="0"/>
              </a:rPr>
              <a:t>: </a:t>
            </a:r>
            <a:r>
              <a:rPr kumimoji="1" lang="zh-CN" altLang="en-US" sz="2400" b="1" dirty="0">
                <a:solidFill>
                  <a:schemeClr val="accent2"/>
                </a:solidFill>
                <a:latin typeface="Times New Roman" panose="02020603050405020304" pitchFamily="18" charset="0"/>
              </a:rPr>
              <a:t>线圈上互感电压的表示式及正负号。</a:t>
            </a:r>
            <a:endParaRPr kumimoji="1" lang="zh-CN" altLang="en-US" sz="2400" dirty="0">
              <a:solidFill>
                <a:schemeClr val="accent2"/>
              </a:solidFill>
              <a:latin typeface="Times New Roman" panose="02020603050405020304" pitchFamily="18" charset="0"/>
            </a:endParaRPr>
          </a:p>
        </p:txBody>
      </p:sp>
      <p:sp>
        <p:nvSpPr>
          <p:cNvPr id="717840" name="Text Box 16"/>
          <p:cNvSpPr txBox="1">
            <a:spLocks noChangeArrowheads="1"/>
          </p:cNvSpPr>
          <p:nvPr/>
        </p:nvSpPr>
        <p:spPr bwMode="auto">
          <a:xfrm>
            <a:off x="745331" y="6277264"/>
            <a:ext cx="661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dirty="0">
                <a:solidFill>
                  <a:srgbClr val="FF0000"/>
                </a:solidFill>
                <a:latin typeface="Times New Roman" panose="02020603050405020304" pitchFamily="18" charset="0"/>
              </a:rPr>
              <a:t>含互感的电路，直接用节点法列写方程不方便。</a:t>
            </a:r>
          </a:p>
        </p:txBody>
      </p:sp>
      <p:grpSp>
        <p:nvGrpSpPr>
          <p:cNvPr id="17" name="Group 5"/>
          <p:cNvGrpSpPr>
            <a:grpSpLocks/>
          </p:cNvGrpSpPr>
          <p:nvPr/>
        </p:nvGrpSpPr>
        <p:grpSpPr bwMode="auto">
          <a:xfrm>
            <a:off x="1116013" y="139194"/>
            <a:ext cx="6892925" cy="2943225"/>
            <a:chOff x="232" y="2292"/>
            <a:chExt cx="4342" cy="1854"/>
          </a:xfrm>
        </p:grpSpPr>
        <p:sp>
          <p:nvSpPr>
            <p:cNvPr id="18" name="Text Box 6"/>
            <p:cNvSpPr txBox="1">
              <a:spLocks noChangeArrowheads="1"/>
            </p:cNvSpPr>
            <p:nvPr/>
          </p:nvSpPr>
          <p:spPr bwMode="auto">
            <a:xfrm>
              <a:off x="2141" y="2292"/>
              <a:ext cx="4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solidFill>
                    <a:schemeClr val="accent2"/>
                  </a:solidFill>
                  <a:latin typeface="Times New Roman" panose="02020603050405020304" pitchFamily="18" charset="0"/>
                </a:rPr>
                <a:t>M</a:t>
              </a:r>
              <a:r>
                <a:rPr kumimoji="1" lang="en-US" altLang="zh-CN" sz="2400" b="1" baseline="-25000">
                  <a:solidFill>
                    <a:schemeClr val="accent2"/>
                  </a:solidFill>
                  <a:latin typeface="Times New Roman" panose="02020603050405020304" pitchFamily="18" charset="0"/>
                </a:rPr>
                <a:t>12</a:t>
              </a:r>
              <a:endParaRPr kumimoji="1" lang="en-US" altLang="zh-CN" sz="2400" b="1">
                <a:solidFill>
                  <a:schemeClr val="accent2"/>
                </a:solidFill>
                <a:latin typeface="Times New Roman" panose="02020603050405020304" pitchFamily="18" charset="0"/>
              </a:endParaRPr>
            </a:p>
          </p:txBody>
        </p:sp>
        <p:sp>
          <p:nvSpPr>
            <p:cNvPr id="19" name="Oval 7"/>
            <p:cNvSpPr>
              <a:spLocks noChangeArrowheads="1"/>
            </p:cNvSpPr>
            <p:nvPr/>
          </p:nvSpPr>
          <p:spPr bwMode="auto">
            <a:xfrm>
              <a:off x="3781" y="3364"/>
              <a:ext cx="340" cy="340"/>
            </a:xfrm>
            <a:prstGeom prst="ellipse">
              <a:avLst/>
            </a:prstGeom>
            <a:solidFill>
              <a:schemeClr val="accent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 name="Oval 8"/>
            <p:cNvSpPr>
              <a:spLocks noChangeArrowheads="1"/>
            </p:cNvSpPr>
            <p:nvPr/>
          </p:nvSpPr>
          <p:spPr bwMode="auto">
            <a:xfrm>
              <a:off x="623" y="3352"/>
              <a:ext cx="340" cy="340"/>
            </a:xfrm>
            <a:prstGeom prst="ellipse">
              <a:avLst/>
            </a:prstGeom>
            <a:solidFill>
              <a:schemeClr val="accent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 name="Text Box 9"/>
            <p:cNvSpPr txBox="1">
              <a:spLocks noChangeArrowheads="1"/>
            </p:cNvSpPr>
            <p:nvPr/>
          </p:nvSpPr>
          <p:spPr bwMode="auto">
            <a:xfrm>
              <a:off x="542" y="3072"/>
              <a:ext cx="225"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22" name="Text Box 10"/>
            <p:cNvSpPr txBox="1">
              <a:spLocks noChangeArrowheads="1"/>
            </p:cNvSpPr>
            <p:nvPr/>
          </p:nvSpPr>
          <p:spPr bwMode="auto">
            <a:xfrm>
              <a:off x="549" y="3592"/>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_</a:t>
              </a:r>
            </a:p>
          </p:txBody>
        </p:sp>
        <p:sp>
          <p:nvSpPr>
            <p:cNvPr id="23" name="Line 11"/>
            <p:cNvSpPr>
              <a:spLocks noChangeShapeType="1"/>
            </p:cNvSpPr>
            <p:nvPr/>
          </p:nvSpPr>
          <p:spPr bwMode="auto">
            <a:xfrm>
              <a:off x="2153" y="2904"/>
              <a:ext cx="3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2"/>
            <p:cNvSpPr>
              <a:spLocks noChangeShapeType="1"/>
            </p:cNvSpPr>
            <p:nvPr/>
          </p:nvSpPr>
          <p:spPr bwMode="auto">
            <a:xfrm>
              <a:off x="2303" y="2902"/>
              <a:ext cx="0" cy="192"/>
            </a:xfrm>
            <a:prstGeom prst="line">
              <a:avLst/>
            </a:prstGeom>
            <a:noFill/>
            <a:ln w="1905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3"/>
            <p:cNvSpPr>
              <a:spLocks noChangeShapeType="1"/>
            </p:cNvSpPr>
            <p:nvPr/>
          </p:nvSpPr>
          <p:spPr bwMode="auto">
            <a:xfrm>
              <a:off x="2903" y="2904"/>
              <a:ext cx="10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4"/>
            <p:cNvSpPr>
              <a:spLocks noChangeShapeType="1"/>
            </p:cNvSpPr>
            <p:nvPr/>
          </p:nvSpPr>
          <p:spPr bwMode="auto">
            <a:xfrm>
              <a:off x="797" y="2904"/>
              <a:ext cx="9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Rectangle 15"/>
            <p:cNvSpPr>
              <a:spLocks noChangeArrowheads="1"/>
            </p:cNvSpPr>
            <p:nvPr/>
          </p:nvSpPr>
          <p:spPr bwMode="auto">
            <a:xfrm rot="-5400000">
              <a:off x="1241" y="2760"/>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 name="Rectangle 16"/>
            <p:cNvSpPr>
              <a:spLocks noChangeArrowheads="1"/>
            </p:cNvSpPr>
            <p:nvPr/>
          </p:nvSpPr>
          <p:spPr bwMode="auto">
            <a:xfrm rot="-5400000">
              <a:off x="3275" y="2748"/>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 name="Line 17"/>
            <p:cNvSpPr>
              <a:spLocks noChangeShapeType="1"/>
            </p:cNvSpPr>
            <p:nvPr/>
          </p:nvSpPr>
          <p:spPr bwMode="auto">
            <a:xfrm>
              <a:off x="2309" y="3504"/>
              <a:ext cx="0" cy="636"/>
            </a:xfrm>
            <a:prstGeom prst="line">
              <a:avLst/>
            </a:prstGeom>
            <a:noFill/>
            <a:ln w="190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Rectangle 18"/>
            <p:cNvSpPr>
              <a:spLocks noChangeArrowheads="1"/>
            </p:cNvSpPr>
            <p:nvPr/>
          </p:nvSpPr>
          <p:spPr bwMode="auto">
            <a:xfrm>
              <a:off x="2249" y="3672"/>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Line 19"/>
            <p:cNvSpPr>
              <a:spLocks noChangeShapeType="1"/>
            </p:cNvSpPr>
            <p:nvPr/>
          </p:nvSpPr>
          <p:spPr bwMode="auto">
            <a:xfrm>
              <a:off x="791" y="4140"/>
              <a:ext cx="31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0"/>
            <p:cNvSpPr>
              <a:spLocks noChangeShapeType="1"/>
            </p:cNvSpPr>
            <p:nvPr/>
          </p:nvSpPr>
          <p:spPr bwMode="auto">
            <a:xfrm flipH="1">
              <a:off x="3959" y="2904"/>
              <a:ext cx="0" cy="1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1"/>
            <p:cNvSpPr>
              <a:spLocks noChangeShapeType="1"/>
            </p:cNvSpPr>
            <p:nvPr/>
          </p:nvSpPr>
          <p:spPr bwMode="auto">
            <a:xfrm>
              <a:off x="791" y="2898"/>
              <a:ext cx="0" cy="12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22"/>
            <p:cNvSpPr txBox="1">
              <a:spLocks noChangeArrowheads="1"/>
            </p:cNvSpPr>
            <p:nvPr/>
          </p:nvSpPr>
          <p:spPr bwMode="auto">
            <a:xfrm>
              <a:off x="3970" y="3096"/>
              <a:ext cx="225"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a:t>
              </a:r>
            </a:p>
          </p:txBody>
        </p:sp>
        <p:sp>
          <p:nvSpPr>
            <p:cNvPr id="35" name="Text Box 23"/>
            <p:cNvSpPr txBox="1">
              <a:spLocks noChangeArrowheads="1"/>
            </p:cNvSpPr>
            <p:nvPr/>
          </p:nvSpPr>
          <p:spPr bwMode="auto">
            <a:xfrm>
              <a:off x="3977" y="3606"/>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_</a:t>
              </a:r>
            </a:p>
          </p:txBody>
        </p:sp>
        <p:graphicFrame>
          <p:nvGraphicFramePr>
            <p:cNvPr id="36" name="Object 24"/>
            <p:cNvGraphicFramePr>
              <a:graphicFrameLocks noChangeAspect="1"/>
            </p:cNvGraphicFramePr>
            <p:nvPr/>
          </p:nvGraphicFramePr>
          <p:xfrm>
            <a:off x="232" y="3297"/>
            <a:ext cx="416" cy="395"/>
          </p:xfrm>
          <a:graphic>
            <a:graphicData uri="http://schemas.openxmlformats.org/presentationml/2006/ole">
              <mc:AlternateContent xmlns:mc="http://schemas.openxmlformats.org/markup-compatibility/2006">
                <mc:Choice xmlns:v="urn:schemas-microsoft-com:vml" Requires="v">
                  <p:oleObj spid="_x0000_s111721" name="公式" r:id="rId10" imgW="253800" imgH="241200" progId="Equation.3">
                    <p:embed/>
                  </p:oleObj>
                </mc:Choice>
                <mc:Fallback>
                  <p:oleObj name="公式" r:id="rId10" imgW="253800" imgH="241200" progId="Equation.3">
                    <p:embed/>
                    <p:pic>
                      <p:nvPicPr>
                        <p:cNvPr id="71580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 y="3297"/>
                          <a:ext cx="416" cy="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25"/>
            <p:cNvGraphicFramePr>
              <a:graphicFrameLocks noChangeAspect="1"/>
            </p:cNvGraphicFramePr>
            <p:nvPr/>
          </p:nvGraphicFramePr>
          <p:xfrm>
            <a:off x="4120" y="3342"/>
            <a:ext cx="454" cy="410"/>
          </p:xfrm>
          <a:graphic>
            <a:graphicData uri="http://schemas.openxmlformats.org/presentationml/2006/ole">
              <mc:AlternateContent xmlns:mc="http://schemas.openxmlformats.org/markup-compatibility/2006">
                <mc:Choice xmlns:v="urn:schemas-microsoft-com:vml" Requires="v">
                  <p:oleObj spid="_x0000_s111722" name="公式" r:id="rId12" imgW="266400" imgH="241200" progId="Equation.3">
                    <p:embed/>
                  </p:oleObj>
                </mc:Choice>
                <mc:Fallback>
                  <p:oleObj name="公式" r:id="rId12" imgW="266400" imgH="241200" progId="Equation.3">
                    <p:embed/>
                    <p:pic>
                      <p:nvPicPr>
                        <p:cNvPr id="715801"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20" y="3342"/>
                          <a:ext cx="454"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Line 26"/>
            <p:cNvSpPr>
              <a:spLocks noChangeShapeType="1"/>
            </p:cNvSpPr>
            <p:nvPr/>
          </p:nvSpPr>
          <p:spPr bwMode="auto">
            <a:xfrm>
              <a:off x="791" y="2814"/>
              <a:ext cx="240"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7"/>
            <p:cNvSpPr>
              <a:spLocks noChangeShapeType="1"/>
            </p:cNvSpPr>
            <p:nvPr/>
          </p:nvSpPr>
          <p:spPr bwMode="auto">
            <a:xfrm flipH="1" flipV="1">
              <a:off x="3646" y="2814"/>
              <a:ext cx="307" cy="0"/>
            </a:xfrm>
            <a:prstGeom prst="line">
              <a:avLst/>
            </a:prstGeom>
            <a:noFill/>
            <a:ln w="19050">
              <a:solidFill>
                <a:srgbClr val="FF33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28"/>
            <p:cNvSpPr>
              <a:spLocks noChangeShapeType="1"/>
            </p:cNvSpPr>
            <p:nvPr/>
          </p:nvSpPr>
          <p:spPr bwMode="auto">
            <a:xfrm>
              <a:off x="2441" y="3828"/>
              <a:ext cx="0" cy="24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Text Box 29"/>
            <p:cNvSpPr txBox="1">
              <a:spLocks noChangeArrowheads="1"/>
            </p:cNvSpPr>
            <p:nvPr/>
          </p:nvSpPr>
          <p:spPr bwMode="auto">
            <a:xfrm>
              <a:off x="1589" y="2652"/>
              <a:ext cx="2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solidFill>
                    <a:srgbClr val="FF3300"/>
                  </a:solidFill>
                  <a:latin typeface="Times New Roman" panose="02020603050405020304" pitchFamily="18" charset="0"/>
                  <a:sym typeface="Symbol" panose="05050102010706020507" pitchFamily="18" charset="2"/>
                </a:rPr>
                <a:t></a:t>
              </a:r>
              <a:endParaRPr kumimoji="1" lang="en-US" altLang="zh-CN" sz="2400" b="1">
                <a:solidFill>
                  <a:srgbClr val="FF3300"/>
                </a:solidFill>
                <a:latin typeface="Times New Roman" panose="02020603050405020304" pitchFamily="18" charset="0"/>
              </a:endParaRPr>
            </a:p>
          </p:txBody>
        </p:sp>
        <p:sp>
          <p:nvSpPr>
            <p:cNvPr id="42" name="Text Box 30"/>
            <p:cNvSpPr txBox="1">
              <a:spLocks noChangeArrowheads="1"/>
            </p:cNvSpPr>
            <p:nvPr/>
          </p:nvSpPr>
          <p:spPr bwMode="auto">
            <a:xfrm>
              <a:off x="2867" y="2652"/>
              <a:ext cx="2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solidFill>
                    <a:srgbClr val="FF3300"/>
                  </a:solidFill>
                  <a:latin typeface="Times New Roman" panose="02020603050405020304" pitchFamily="18" charset="0"/>
                  <a:sym typeface="Symbol" panose="05050102010706020507" pitchFamily="18" charset="2"/>
                </a:rPr>
                <a:t></a:t>
              </a:r>
              <a:endParaRPr kumimoji="1" lang="en-US" altLang="zh-CN" sz="2400" b="1">
                <a:solidFill>
                  <a:srgbClr val="FF3300"/>
                </a:solidFill>
                <a:latin typeface="Times New Roman" panose="02020603050405020304" pitchFamily="18" charset="0"/>
              </a:endParaRPr>
            </a:p>
          </p:txBody>
        </p:sp>
        <p:sp>
          <p:nvSpPr>
            <p:cNvPr id="43" name="Text Box 31"/>
            <p:cNvSpPr txBox="1">
              <a:spLocks noChangeArrowheads="1"/>
            </p:cNvSpPr>
            <p:nvPr/>
          </p:nvSpPr>
          <p:spPr bwMode="auto">
            <a:xfrm>
              <a:off x="1823" y="255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44" name="Text Box 32"/>
            <p:cNvSpPr txBox="1">
              <a:spLocks noChangeArrowheads="1"/>
            </p:cNvSpPr>
            <p:nvPr/>
          </p:nvSpPr>
          <p:spPr bwMode="auto">
            <a:xfrm>
              <a:off x="2543" y="255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45" name="Text Box 33"/>
            <p:cNvSpPr txBox="1">
              <a:spLocks noChangeArrowheads="1"/>
            </p:cNvSpPr>
            <p:nvPr/>
          </p:nvSpPr>
          <p:spPr bwMode="auto">
            <a:xfrm>
              <a:off x="2351" y="313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sp>
          <p:nvSpPr>
            <p:cNvPr id="46" name="Text Box 34"/>
            <p:cNvSpPr txBox="1">
              <a:spLocks noChangeArrowheads="1"/>
            </p:cNvSpPr>
            <p:nvPr/>
          </p:nvSpPr>
          <p:spPr bwMode="auto">
            <a:xfrm>
              <a:off x="1190" y="255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47" name="Text Box 35"/>
            <p:cNvSpPr txBox="1">
              <a:spLocks noChangeArrowheads="1"/>
            </p:cNvSpPr>
            <p:nvPr/>
          </p:nvSpPr>
          <p:spPr bwMode="auto">
            <a:xfrm>
              <a:off x="3185" y="252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48" name="Text Box 36"/>
            <p:cNvSpPr txBox="1">
              <a:spLocks noChangeArrowheads="1"/>
            </p:cNvSpPr>
            <p:nvPr/>
          </p:nvSpPr>
          <p:spPr bwMode="auto">
            <a:xfrm>
              <a:off x="1950" y="372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graphicFrame>
          <p:nvGraphicFramePr>
            <p:cNvPr id="49" name="Object 37"/>
            <p:cNvGraphicFramePr>
              <a:graphicFrameLocks noChangeAspect="1"/>
            </p:cNvGraphicFramePr>
            <p:nvPr/>
          </p:nvGraphicFramePr>
          <p:xfrm>
            <a:off x="778" y="2496"/>
            <a:ext cx="230" cy="322"/>
          </p:xfrm>
          <a:graphic>
            <a:graphicData uri="http://schemas.openxmlformats.org/presentationml/2006/ole">
              <mc:AlternateContent xmlns:mc="http://schemas.openxmlformats.org/markup-compatibility/2006">
                <mc:Choice xmlns:v="urn:schemas-microsoft-com:vml" Requires="v">
                  <p:oleObj spid="_x0000_s111723" name="公式" r:id="rId14" imgW="164880" imgH="228600" progId="Equation.3">
                    <p:embed/>
                  </p:oleObj>
                </mc:Choice>
                <mc:Fallback>
                  <p:oleObj name="公式" r:id="rId14" imgW="164880" imgH="228600" progId="Equation.3">
                    <p:embed/>
                    <p:pic>
                      <p:nvPicPr>
                        <p:cNvPr id="715813"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8" y="2496"/>
                          <a:ext cx="230"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38"/>
            <p:cNvGraphicFramePr>
              <a:graphicFrameLocks noChangeAspect="1"/>
            </p:cNvGraphicFramePr>
            <p:nvPr/>
          </p:nvGraphicFramePr>
          <p:xfrm>
            <a:off x="3711" y="2478"/>
            <a:ext cx="262" cy="339"/>
          </p:xfrm>
          <a:graphic>
            <a:graphicData uri="http://schemas.openxmlformats.org/presentationml/2006/ole">
              <mc:AlternateContent xmlns:mc="http://schemas.openxmlformats.org/markup-compatibility/2006">
                <mc:Choice xmlns:v="urn:schemas-microsoft-com:vml" Requires="v">
                  <p:oleObj spid="_x0000_s111724" name="公式" r:id="rId16" imgW="177480" imgH="228600" progId="Equation.3">
                    <p:embed/>
                  </p:oleObj>
                </mc:Choice>
                <mc:Fallback>
                  <p:oleObj name="公式" r:id="rId16" imgW="177480" imgH="228600" progId="Equation.3">
                    <p:embed/>
                    <p:pic>
                      <p:nvPicPr>
                        <p:cNvPr id="715814"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1" y="2478"/>
                          <a:ext cx="262"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39"/>
            <p:cNvGraphicFramePr>
              <a:graphicFrameLocks noChangeAspect="1"/>
            </p:cNvGraphicFramePr>
            <p:nvPr/>
          </p:nvGraphicFramePr>
          <p:xfrm>
            <a:off x="2458" y="3754"/>
            <a:ext cx="270" cy="367"/>
          </p:xfrm>
          <a:graphic>
            <a:graphicData uri="http://schemas.openxmlformats.org/presentationml/2006/ole">
              <mc:AlternateContent xmlns:mc="http://schemas.openxmlformats.org/markup-compatibility/2006">
                <mc:Choice xmlns:v="urn:schemas-microsoft-com:vml" Requires="v">
                  <p:oleObj spid="_x0000_s111725" name="公式" r:id="rId18" imgW="177480" imgH="241200" progId="Equation.3">
                    <p:embed/>
                  </p:oleObj>
                </mc:Choice>
                <mc:Fallback>
                  <p:oleObj name="公式" r:id="rId18" imgW="177480" imgH="241200" progId="Equation.3">
                    <p:embed/>
                    <p:pic>
                      <p:nvPicPr>
                        <p:cNvPr id="715815"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58" y="3754"/>
                          <a:ext cx="270"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Arc 40"/>
            <p:cNvSpPr>
              <a:spLocks/>
            </p:cNvSpPr>
            <p:nvPr/>
          </p:nvSpPr>
          <p:spPr bwMode="auto">
            <a:xfrm flipH="1">
              <a:off x="1725" y="2448"/>
              <a:ext cx="420" cy="276"/>
            </a:xfrm>
            <a:custGeom>
              <a:avLst/>
              <a:gdLst>
                <a:gd name="G0" fmla="+- 495 0 0"/>
                <a:gd name="G1" fmla="+- 21600 0 0"/>
                <a:gd name="G2" fmla="+- 21600 0 0"/>
                <a:gd name="T0" fmla="*/ 0 w 21811"/>
                <a:gd name="T1" fmla="*/ 6 h 21600"/>
                <a:gd name="T2" fmla="*/ 21811 w 21811"/>
                <a:gd name="T3" fmla="*/ 18107 h 21600"/>
                <a:gd name="T4" fmla="*/ 495 w 21811"/>
                <a:gd name="T5" fmla="*/ 21600 h 21600"/>
              </a:gdLst>
              <a:ahLst/>
              <a:cxnLst>
                <a:cxn ang="0">
                  <a:pos x="T0" y="T1"/>
                </a:cxn>
                <a:cxn ang="0">
                  <a:pos x="T2" y="T3"/>
                </a:cxn>
                <a:cxn ang="0">
                  <a:pos x="T4" y="T5"/>
                </a:cxn>
              </a:cxnLst>
              <a:rect l="0" t="0" r="r" b="b"/>
              <a:pathLst>
                <a:path w="21811" h="21600" fill="none" extrusionOk="0">
                  <a:moveTo>
                    <a:pt x="-1" y="5"/>
                  </a:moveTo>
                  <a:cubicBezTo>
                    <a:pt x="164" y="1"/>
                    <a:pt x="329" y="0"/>
                    <a:pt x="495" y="0"/>
                  </a:cubicBezTo>
                  <a:cubicBezTo>
                    <a:pt x="11076" y="0"/>
                    <a:pt x="20099" y="7665"/>
                    <a:pt x="21810" y="18107"/>
                  </a:cubicBezTo>
                </a:path>
                <a:path w="21811" h="21600" stroke="0" extrusionOk="0">
                  <a:moveTo>
                    <a:pt x="-1" y="5"/>
                  </a:moveTo>
                  <a:cubicBezTo>
                    <a:pt x="164" y="1"/>
                    <a:pt x="329" y="0"/>
                    <a:pt x="495" y="0"/>
                  </a:cubicBezTo>
                  <a:cubicBezTo>
                    <a:pt x="11076" y="0"/>
                    <a:pt x="20099" y="7665"/>
                    <a:pt x="21810" y="18107"/>
                  </a:cubicBezTo>
                  <a:lnTo>
                    <a:pt x="495"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rc 41"/>
            <p:cNvSpPr>
              <a:spLocks/>
            </p:cNvSpPr>
            <p:nvPr/>
          </p:nvSpPr>
          <p:spPr bwMode="auto">
            <a:xfrm>
              <a:off x="2507" y="2428"/>
              <a:ext cx="426" cy="288"/>
            </a:xfrm>
            <a:custGeom>
              <a:avLst/>
              <a:gdLst>
                <a:gd name="G0" fmla="+- 0 0 0"/>
                <a:gd name="G1" fmla="+- 21600 0 0"/>
                <a:gd name="G2" fmla="+- 21600 0 0"/>
                <a:gd name="T0" fmla="*/ 0 w 21206"/>
                <a:gd name="T1" fmla="*/ 0 h 21600"/>
                <a:gd name="T2" fmla="*/ 21206 w 21206"/>
                <a:gd name="T3" fmla="*/ 17496 h 21600"/>
                <a:gd name="T4" fmla="*/ 0 w 21206"/>
                <a:gd name="T5" fmla="*/ 21600 h 21600"/>
              </a:gdLst>
              <a:ahLst/>
              <a:cxnLst>
                <a:cxn ang="0">
                  <a:pos x="T0" y="T1"/>
                </a:cxn>
                <a:cxn ang="0">
                  <a:pos x="T2" y="T3"/>
                </a:cxn>
                <a:cxn ang="0">
                  <a:pos x="T4" y="T5"/>
                </a:cxn>
              </a:cxnLst>
              <a:rect l="0" t="0" r="r" b="b"/>
              <a:pathLst>
                <a:path w="21206" h="21600" fill="none" extrusionOk="0">
                  <a:moveTo>
                    <a:pt x="0" y="0"/>
                  </a:moveTo>
                  <a:cubicBezTo>
                    <a:pt x="10346" y="0"/>
                    <a:pt x="19240" y="7337"/>
                    <a:pt x="21206" y="17495"/>
                  </a:cubicBezTo>
                </a:path>
                <a:path w="21206" h="21600" stroke="0" extrusionOk="0">
                  <a:moveTo>
                    <a:pt x="0" y="0"/>
                  </a:moveTo>
                  <a:cubicBezTo>
                    <a:pt x="10346" y="0"/>
                    <a:pt x="19240" y="7337"/>
                    <a:pt x="21206" y="17495"/>
                  </a:cubicBezTo>
                  <a:lnTo>
                    <a:pt x="0" y="2160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4" name="Group 42"/>
            <p:cNvGrpSpPr>
              <a:grpSpLocks/>
            </p:cNvGrpSpPr>
            <p:nvPr/>
          </p:nvGrpSpPr>
          <p:grpSpPr bwMode="auto">
            <a:xfrm flipH="1">
              <a:off x="1752" y="2844"/>
              <a:ext cx="401" cy="65"/>
              <a:chOff x="1200" y="1584"/>
              <a:chExt cx="379" cy="45"/>
            </a:xfrm>
          </p:grpSpPr>
          <p:sp>
            <p:nvSpPr>
              <p:cNvPr id="65" name="Arc 4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Arc 4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rc 4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Arc 4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5" name="Group 47"/>
            <p:cNvGrpSpPr>
              <a:grpSpLocks/>
            </p:cNvGrpSpPr>
            <p:nvPr/>
          </p:nvGrpSpPr>
          <p:grpSpPr bwMode="auto">
            <a:xfrm flipH="1">
              <a:off x="2502" y="2840"/>
              <a:ext cx="401" cy="65"/>
              <a:chOff x="1200" y="1584"/>
              <a:chExt cx="379" cy="45"/>
            </a:xfrm>
          </p:grpSpPr>
          <p:sp>
            <p:nvSpPr>
              <p:cNvPr id="61" name="Arc 4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Arc 4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Arc 5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Arc 5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6" name="Group 52"/>
            <p:cNvGrpSpPr>
              <a:grpSpLocks/>
            </p:cNvGrpSpPr>
            <p:nvPr/>
          </p:nvGrpSpPr>
          <p:grpSpPr bwMode="auto">
            <a:xfrm rot="5400000" flipH="1">
              <a:off x="2136" y="3258"/>
              <a:ext cx="401" cy="65"/>
              <a:chOff x="1200" y="1584"/>
              <a:chExt cx="379" cy="45"/>
            </a:xfrm>
          </p:grpSpPr>
          <p:sp>
            <p:nvSpPr>
              <p:cNvPr id="57" name="Arc 5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Arc 5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Arc 5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Arc 5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1054158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178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717827"/>
                                        </p:tgtEl>
                                        <p:attrNameLst>
                                          <p:attrName>style.visibility</p:attrName>
                                        </p:attrNameLst>
                                      </p:cBhvr>
                                      <p:to>
                                        <p:strVal val="visible"/>
                                      </p:to>
                                    </p:set>
                                    <p:anim calcmode="lin" valueType="num">
                                      <p:cBhvr additive="base">
                                        <p:cTn id="16" dur="500" fill="hold"/>
                                        <p:tgtEl>
                                          <p:spTgt spid="717827"/>
                                        </p:tgtEl>
                                        <p:attrNameLst>
                                          <p:attrName>ppt_x</p:attrName>
                                        </p:attrNameLst>
                                      </p:cBhvr>
                                      <p:tavLst>
                                        <p:tav tm="0">
                                          <p:val>
                                            <p:strVal val="1+#ppt_w/2"/>
                                          </p:val>
                                        </p:tav>
                                        <p:tav tm="100000">
                                          <p:val>
                                            <p:strVal val="#ppt_x"/>
                                          </p:val>
                                        </p:tav>
                                      </p:tavLst>
                                    </p:anim>
                                    <p:anim calcmode="lin" valueType="num">
                                      <p:cBhvr additive="base">
                                        <p:cTn id="17" dur="500" fill="hold"/>
                                        <p:tgtEl>
                                          <p:spTgt spid="717827"/>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nodeType="clickEffect">
                                  <p:stCondLst>
                                    <p:cond delay="0"/>
                                  </p:stCondLst>
                                  <p:childTnLst>
                                    <p:set>
                                      <p:cBhvr>
                                        <p:cTn id="21" dur="1" fill="hold">
                                          <p:stCondLst>
                                            <p:cond delay="0"/>
                                          </p:stCondLst>
                                        </p:cTn>
                                        <p:tgtEl>
                                          <p:spTgt spid="717828"/>
                                        </p:tgtEl>
                                        <p:attrNameLst>
                                          <p:attrName>style.visibility</p:attrName>
                                        </p:attrNameLst>
                                      </p:cBhvr>
                                      <p:to>
                                        <p:strVal val="visible"/>
                                      </p:to>
                                    </p:set>
                                    <p:anim calcmode="lin" valueType="num">
                                      <p:cBhvr additive="base">
                                        <p:cTn id="22" dur="500" fill="hold"/>
                                        <p:tgtEl>
                                          <p:spTgt spid="717828"/>
                                        </p:tgtEl>
                                        <p:attrNameLst>
                                          <p:attrName>ppt_x</p:attrName>
                                        </p:attrNameLst>
                                      </p:cBhvr>
                                      <p:tavLst>
                                        <p:tav tm="0">
                                          <p:val>
                                            <p:strVal val="1+#ppt_w/2"/>
                                          </p:val>
                                        </p:tav>
                                        <p:tav tm="100000">
                                          <p:val>
                                            <p:strVal val="#ppt_x"/>
                                          </p:val>
                                        </p:tav>
                                      </p:tavLst>
                                    </p:anim>
                                    <p:anim calcmode="lin" valueType="num">
                                      <p:cBhvr additive="base">
                                        <p:cTn id="23" dur="500" fill="hold"/>
                                        <p:tgtEl>
                                          <p:spTgt spid="717828"/>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nodeType="clickEffect">
                                  <p:stCondLst>
                                    <p:cond delay="0"/>
                                  </p:stCondLst>
                                  <p:childTnLst>
                                    <p:set>
                                      <p:cBhvr>
                                        <p:cTn id="27" dur="1" fill="hold">
                                          <p:stCondLst>
                                            <p:cond delay="0"/>
                                          </p:stCondLst>
                                        </p:cTn>
                                        <p:tgtEl>
                                          <p:spTgt spid="717829"/>
                                        </p:tgtEl>
                                        <p:attrNameLst>
                                          <p:attrName>style.visibility</p:attrName>
                                        </p:attrNameLst>
                                      </p:cBhvr>
                                      <p:to>
                                        <p:strVal val="visible"/>
                                      </p:to>
                                    </p:set>
                                    <p:anim calcmode="lin" valueType="num">
                                      <p:cBhvr additive="base">
                                        <p:cTn id="28" dur="500" fill="hold"/>
                                        <p:tgtEl>
                                          <p:spTgt spid="717829"/>
                                        </p:tgtEl>
                                        <p:attrNameLst>
                                          <p:attrName>ppt_x</p:attrName>
                                        </p:attrNameLst>
                                      </p:cBhvr>
                                      <p:tavLst>
                                        <p:tav tm="0">
                                          <p:val>
                                            <p:strVal val="1+#ppt_w/2"/>
                                          </p:val>
                                        </p:tav>
                                        <p:tav tm="100000">
                                          <p:val>
                                            <p:strVal val="#ppt_x"/>
                                          </p:val>
                                        </p:tav>
                                      </p:tavLst>
                                    </p:anim>
                                    <p:anim calcmode="lin" valueType="num">
                                      <p:cBhvr additive="base">
                                        <p:cTn id="29" dur="500" fill="hold"/>
                                        <p:tgtEl>
                                          <p:spTgt spid="717829"/>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717830"/>
                                        </p:tgtEl>
                                        <p:attrNameLst>
                                          <p:attrName>style.visibility</p:attrName>
                                        </p:attrNameLst>
                                      </p:cBhvr>
                                      <p:to>
                                        <p:strVal val="visible"/>
                                      </p:to>
                                    </p:set>
                                    <p:anim calcmode="lin" valueType="num">
                                      <p:cBhvr additive="base">
                                        <p:cTn id="34" dur="500" fill="hold"/>
                                        <p:tgtEl>
                                          <p:spTgt spid="717830"/>
                                        </p:tgtEl>
                                        <p:attrNameLst>
                                          <p:attrName>ppt_x</p:attrName>
                                        </p:attrNameLst>
                                      </p:cBhvr>
                                      <p:tavLst>
                                        <p:tav tm="0">
                                          <p:val>
                                            <p:strVal val="0-#ppt_w/2"/>
                                          </p:val>
                                        </p:tav>
                                        <p:tav tm="100000">
                                          <p:val>
                                            <p:strVal val="#ppt_x"/>
                                          </p:val>
                                        </p:tav>
                                      </p:tavLst>
                                    </p:anim>
                                    <p:anim calcmode="lin" valueType="num">
                                      <p:cBhvr additive="base">
                                        <p:cTn id="35" dur="500" fill="hold"/>
                                        <p:tgtEl>
                                          <p:spTgt spid="717830"/>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717839"/>
                                        </p:tgtEl>
                                        <p:attrNameLst>
                                          <p:attrName>style.visibility</p:attrName>
                                        </p:attrNameLst>
                                      </p:cBhvr>
                                      <p:to>
                                        <p:strVal val="visible"/>
                                      </p:to>
                                    </p:set>
                                    <p:animEffect transition="in" filter="slide(fromBottom)">
                                      <p:cBhvr>
                                        <p:cTn id="40" dur="500"/>
                                        <p:tgtEl>
                                          <p:spTgt spid="71783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5" fill="hold" grpId="0" nodeType="clickEffect">
                                  <p:stCondLst>
                                    <p:cond delay="0"/>
                                  </p:stCondLst>
                                  <p:childTnLst>
                                    <p:set>
                                      <p:cBhvr>
                                        <p:cTn id="44" dur="1" fill="hold">
                                          <p:stCondLst>
                                            <p:cond delay="0"/>
                                          </p:stCondLst>
                                        </p:cTn>
                                        <p:tgtEl>
                                          <p:spTgt spid="717840"/>
                                        </p:tgtEl>
                                        <p:attrNameLst>
                                          <p:attrName>style.visibility</p:attrName>
                                        </p:attrNameLst>
                                      </p:cBhvr>
                                      <p:to>
                                        <p:strVal val="visible"/>
                                      </p:to>
                                    </p:set>
                                    <p:animEffect transition="in" filter="randombar(vertical)">
                                      <p:cBhvr>
                                        <p:cTn id="45" dur="500"/>
                                        <p:tgtEl>
                                          <p:spTgt spid="717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6" grpId="0"/>
      <p:bldP spid="717839" grpId="0" autoUpdateAnimBg="0"/>
      <p:bldP spid="717840"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3"/>
          <p:cNvSpPr txBox="1">
            <a:spLocks noChangeArrowheads="1"/>
          </p:cNvSpPr>
          <p:nvPr/>
        </p:nvSpPr>
        <p:spPr bwMode="auto">
          <a:xfrm>
            <a:off x="292528" y="207963"/>
            <a:ext cx="588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dirty="0" smtClean="0">
                <a:solidFill>
                  <a:srgbClr val="FF0000"/>
                </a:solidFill>
              </a:rPr>
              <a:t>2.</a:t>
            </a:r>
            <a:r>
              <a:rPr lang="zh-CN" altLang="en-US" b="1" dirty="0">
                <a:solidFill>
                  <a:srgbClr val="FF0000"/>
                </a:solidFill>
              </a:rPr>
              <a:t>互感的去耦等效（两电感有公共端）</a:t>
            </a:r>
          </a:p>
        </p:txBody>
      </p:sp>
      <p:grpSp>
        <p:nvGrpSpPr>
          <p:cNvPr id="60533" name="Group 117"/>
          <p:cNvGrpSpPr>
            <a:grpSpLocks/>
          </p:cNvGrpSpPr>
          <p:nvPr/>
        </p:nvGrpSpPr>
        <p:grpSpPr bwMode="auto">
          <a:xfrm>
            <a:off x="895350" y="2475823"/>
            <a:ext cx="2697163" cy="2378075"/>
            <a:chOff x="564" y="1160"/>
            <a:chExt cx="1699" cy="1498"/>
          </a:xfrm>
        </p:grpSpPr>
        <p:sp>
          <p:nvSpPr>
            <p:cNvPr id="60421" name="Line 5"/>
            <p:cNvSpPr>
              <a:spLocks noChangeShapeType="1"/>
            </p:cNvSpPr>
            <p:nvPr/>
          </p:nvSpPr>
          <p:spPr bwMode="auto">
            <a:xfrm flipH="1">
              <a:off x="1228" y="1924"/>
              <a:ext cx="0" cy="1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2" name="Line 6"/>
            <p:cNvSpPr>
              <a:spLocks noChangeShapeType="1"/>
            </p:cNvSpPr>
            <p:nvPr/>
          </p:nvSpPr>
          <p:spPr bwMode="auto">
            <a:xfrm>
              <a:off x="1234" y="1509"/>
              <a:ext cx="0" cy="1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3" name="Line 7"/>
            <p:cNvSpPr>
              <a:spLocks noChangeShapeType="1"/>
            </p:cNvSpPr>
            <p:nvPr/>
          </p:nvSpPr>
          <p:spPr bwMode="auto">
            <a:xfrm flipH="1">
              <a:off x="1607" y="1912"/>
              <a:ext cx="4" cy="1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4" name="Line 8"/>
            <p:cNvSpPr>
              <a:spLocks noChangeShapeType="1"/>
            </p:cNvSpPr>
            <p:nvPr/>
          </p:nvSpPr>
          <p:spPr bwMode="auto">
            <a:xfrm>
              <a:off x="1607" y="1509"/>
              <a:ext cx="4" cy="1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9"/>
            <p:cNvSpPr>
              <a:spLocks noChangeShapeType="1"/>
            </p:cNvSpPr>
            <p:nvPr/>
          </p:nvSpPr>
          <p:spPr bwMode="auto">
            <a:xfrm>
              <a:off x="804" y="1509"/>
              <a:ext cx="426"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10"/>
            <p:cNvSpPr>
              <a:spLocks noChangeShapeType="1"/>
            </p:cNvSpPr>
            <p:nvPr/>
          </p:nvSpPr>
          <p:spPr bwMode="auto">
            <a:xfrm>
              <a:off x="1226" y="2032"/>
              <a:ext cx="38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1"/>
            <p:cNvSpPr>
              <a:spLocks noChangeShapeType="1"/>
            </p:cNvSpPr>
            <p:nvPr/>
          </p:nvSpPr>
          <p:spPr bwMode="auto">
            <a:xfrm>
              <a:off x="1502" y="2292"/>
              <a:ext cx="0" cy="24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2"/>
            <p:cNvSpPr>
              <a:spLocks noChangeShapeType="1"/>
            </p:cNvSpPr>
            <p:nvPr/>
          </p:nvSpPr>
          <p:spPr bwMode="auto">
            <a:xfrm rot="5400000">
              <a:off x="1942" y="1340"/>
              <a:ext cx="0" cy="22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Text Box 13"/>
            <p:cNvSpPr txBox="1">
              <a:spLocks noChangeArrowheads="1"/>
            </p:cNvSpPr>
            <p:nvPr/>
          </p:nvSpPr>
          <p:spPr bwMode="auto">
            <a:xfrm>
              <a:off x="1211" y="1457"/>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60430" name="Text Box 14"/>
            <p:cNvSpPr txBox="1">
              <a:spLocks noChangeArrowheads="1"/>
            </p:cNvSpPr>
            <p:nvPr/>
          </p:nvSpPr>
          <p:spPr bwMode="auto">
            <a:xfrm>
              <a:off x="1448" y="1449"/>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60434" name="Text Box 18"/>
            <p:cNvSpPr txBox="1">
              <a:spLocks noChangeArrowheads="1"/>
            </p:cNvSpPr>
            <p:nvPr/>
          </p:nvSpPr>
          <p:spPr bwMode="auto">
            <a:xfrm>
              <a:off x="836" y="1664"/>
              <a:ext cx="3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L</a:t>
              </a:r>
              <a:r>
                <a:rPr lang="en-US" altLang="zh-CN" sz="1800" b="1" baseline="-25000"/>
                <a:t>1</a:t>
              </a:r>
              <a:endParaRPr lang="en-US" altLang="zh-CN" sz="1800" b="1"/>
            </a:p>
          </p:txBody>
        </p:sp>
        <p:sp>
          <p:nvSpPr>
            <p:cNvPr id="60438" name="Line 22"/>
            <p:cNvSpPr>
              <a:spLocks noChangeShapeType="1"/>
            </p:cNvSpPr>
            <p:nvPr/>
          </p:nvSpPr>
          <p:spPr bwMode="auto">
            <a:xfrm>
              <a:off x="793" y="1453"/>
              <a:ext cx="212"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39" name="Group 23"/>
            <p:cNvGrpSpPr>
              <a:grpSpLocks/>
            </p:cNvGrpSpPr>
            <p:nvPr/>
          </p:nvGrpSpPr>
          <p:grpSpPr bwMode="auto">
            <a:xfrm rot="5400000">
              <a:off x="1503" y="1761"/>
              <a:ext cx="253" cy="45"/>
              <a:chOff x="1200" y="1584"/>
              <a:chExt cx="379" cy="45"/>
            </a:xfrm>
          </p:grpSpPr>
          <p:sp>
            <p:nvSpPr>
              <p:cNvPr id="60440" name="Arc 2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Arc 2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2" name="Arc 2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3" name="Arc 2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44" name="Oval 28"/>
            <p:cNvSpPr>
              <a:spLocks noChangeArrowheads="1"/>
            </p:cNvSpPr>
            <p:nvPr/>
          </p:nvSpPr>
          <p:spPr bwMode="auto">
            <a:xfrm>
              <a:off x="754" y="149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45" name="Group 29"/>
            <p:cNvGrpSpPr>
              <a:grpSpLocks/>
            </p:cNvGrpSpPr>
            <p:nvPr/>
          </p:nvGrpSpPr>
          <p:grpSpPr bwMode="auto">
            <a:xfrm rot="5400000">
              <a:off x="1128" y="1776"/>
              <a:ext cx="253" cy="44"/>
              <a:chOff x="1200" y="1584"/>
              <a:chExt cx="379" cy="45"/>
            </a:xfrm>
          </p:grpSpPr>
          <p:sp>
            <p:nvSpPr>
              <p:cNvPr id="60446" name="Arc 3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Arc 3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Arc 3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Arc 3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50" name="Arc 34"/>
            <p:cNvSpPr>
              <a:spLocks/>
            </p:cNvSpPr>
            <p:nvPr/>
          </p:nvSpPr>
          <p:spPr bwMode="auto">
            <a:xfrm rot="10800000" flipV="1">
              <a:off x="1230" y="1375"/>
              <a:ext cx="153" cy="137"/>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Arc 37"/>
            <p:cNvSpPr>
              <a:spLocks/>
            </p:cNvSpPr>
            <p:nvPr/>
          </p:nvSpPr>
          <p:spPr bwMode="auto">
            <a:xfrm rot="-10800000" flipH="1" flipV="1">
              <a:off x="1460" y="1377"/>
              <a:ext cx="154" cy="137"/>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4" name="Oval 38"/>
            <p:cNvSpPr>
              <a:spLocks noChangeArrowheads="1"/>
            </p:cNvSpPr>
            <p:nvPr/>
          </p:nvSpPr>
          <p:spPr bwMode="auto">
            <a:xfrm>
              <a:off x="2037" y="149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0455" name="Object 39"/>
            <p:cNvGraphicFramePr>
              <a:graphicFrameLocks noChangeAspect="1"/>
            </p:cNvGraphicFramePr>
            <p:nvPr/>
          </p:nvGraphicFramePr>
          <p:xfrm>
            <a:off x="1532" y="2306"/>
            <a:ext cx="168" cy="218"/>
          </p:xfrm>
          <a:graphic>
            <a:graphicData uri="http://schemas.openxmlformats.org/presentationml/2006/ole">
              <mc:AlternateContent xmlns:mc="http://schemas.openxmlformats.org/markup-compatibility/2006">
                <mc:Choice xmlns:v="urn:schemas-microsoft-com:vml" Requires="v">
                  <p:oleObj spid="_x0000_s99532" name="Equation" r:id="rId3" imgW="126720" imgH="190440" progId="Equation.3">
                    <p:embed/>
                  </p:oleObj>
                </mc:Choice>
                <mc:Fallback>
                  <p:oleObj name="Equation" r:id="rId3" imgW="126720" imgH="19044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 y="2306"/>
                          <a:ext cx="168"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56" name="Line 40"/>
            <p:cNvSpPr>
              <a:spLocks noChangeShapeType="1"/>
            </p:cNvSpPr>
            <p:nvPr/>
          </p:nvSpPr>
          <p:spPr bwMode="auto">
            <a:xfrm>
              <a:off x="1606" y="1509"/>
              <a:ext cx="43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7" name="Line 41"/>
            <p:cNvSpPr>
              <a:spLocks noChangeShapeType="1"/>
            </p:cNvSpPr>
            <p:nvPr/>
          </p:nvSpPr>
          <p:spPr bwMode="auto">
            <a:xfrm>
              <a:off x="1421" y="2032"/>
              <a:ext cx="0" cy="5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Oval 42"/>
            <p:cNvSpPr>
              <a:spLocks noChangeArrowheads="1"/>
            </p:cNvSpPr>
            <p:nvPr/>
          </p:nvSpPr>
          <p:spPr bwMode="auto">
            <a:xfrm>
              <a:off x="1390" y="253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0459" name="Object 43"/>
            <p:cNvGraphicFramePr>
              <a:graphicFrameLocks noChangeAspect="1"/>
            </p:cNvGraphicFramePr>
            <p:nvPr/>
          </p:nvGraphicFramePr>
          <p:xfrm>
            <a:off x="783" y="1189"/>
            <a:ext cx="220" cy="261"/>
          </p:xfrm>
          <a:graphic>
            <a:graphicData uri="http://schemas.openxmlformats.org/presentationml/2006/ole">
              <mc:AlternateContent xmlns:mc="http://schemas.openxmlformats.org/markup-compatibility/2006">
                <mc:Choice xmlns:v="urn:schemas-microsoft-com:vml" Requires="v">
                  <p:oleObj spid="_x0000_s99533" name="Equation" r:id="rId5" imgW="164880" imgH="228600" progId="Equation.3">
                    <p:embed/>
                  </p:oleObj>
                </mc:Choice>
                <mc:Fallback>
                  <p:oleObj name="Equation" r:id="rId5" imgW="164880" imgH="228600" progId="Equation.3">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 y="1189"/>
                          <a:ext cx="22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60" name="Object 44"/>
            <p:cNvGraphicFramePr>
              <a:graphicFrameLocks noChangeAspect="1"/>
            </p:cNvGraphicFramePr>
            <p:nvPr/>
          </p:nvGraphicFramePr>
          <p:xfrm>
            <a:off x="1903" y="1205"/>
            <a:ext cx="238" cy="259"/>
          </p:xfrm>
          <a:graphic>
            <a:graphicData uri="http://schemas.openxmlformats.org/presentationml/2006/ole">
              <mc:AlternateContent xmlns:mc="http://schemas.openxmlformats.org/markup-compatibility/2006">
                <mc:Choice xmlns:v="urn:schemas-microsoft-com:vml" Requires="v">
                  <p:oleObj spid="_x0000_s99534" name="Equation" r:id="rId7" imgW="177480" imgH="228600" progId="Equation.3">
                    <p:embed/>
                  </p:oleObj>
                </mc:Choice>
                <mc:Fallback>
                  <p:oleObj name="Equation" r:id="rId7" imgW="177480" imgH="228600"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3" y="1205"/>
                          <a:ext cx="23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61" name="Text Box 45"/>
            <p:cNvSpPr txBox="1">
              <a:spLocks noChangeArrowheads="1"/>
            </p:cNvSpPr>
            <p:nvPr/>
          </p:nvSpPr>
          <p:spPr bwMode="auto">
            <a:xfrm>
              <a:off x="564" y="1382"/>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1</a:t>
              </a:r>
            </a:p>
          </p:txBody>
        </p:sp>
        <p:sp>
          <p:nvSpPr>
            <p:cNvPr id="60462" name="Text Box 46"/>
            <p:cNvSpPr txBox="1">
              <a:spLocks noChangeArrowheads="1"/>
            </p:cNvSpPr>
            <p:nvPr/>
          </p:nvSpPr>
          <p:spPr bwMode="auto">
            <a:xfrm>
              <a:off x="2089" y="1400"/>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2</a:t>
              </a:r>
            </a:p>
          </p:txBody>
        </p:sp>
        <p:sp>
          <p:nvSpPr>
            <p:cNvPr id="60463" name="Text Box 47"/>
            <p:cNvSpPr txBox="1">
              <a:spLocks noChangeArrowheads="1"/>
            </p:cNvSpPr>
            <p:nvPr/>
          </p:nvSpPr>
          <p:spPr bwMode="auto">
            <a:xfrm>
              <a:off x="1208" y="2427"/>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3</a:t>
              </a:r>
            </a:p>
          </p:txBody>
        </p:sp>
        <p:sp>
          <p:nvSpPr>
            <p:cNvPr id="60464" name="Text Box 48"/>
            <p:cNvSpPr txBox="1">
              <a:spLocks noChangeArrowheads="1"/>
            </p:cNvSpPr>
            <p:nvPr/>
          </p:nvSpPr>
          <p:spPr bwMode="auto">
            <a:xfrm>
              <a:off x="1662" y="1664"/>
              <a:ext cx="4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L</a:t>
              </a:r>
              <a:r>
                <a:rPr lang="en-US" altLang="zh-CN" sz="1800" b="1" baseline="-25000"/>
                <a:t>2</a:t>
              </a:r>
              <a:endParaRPr lang="en-US" altLang="zh-CN" sz="1800" b="1"/>
            </a:p>
          </p:txBody>
        </p:sp>
        <p:sp>
          <p:nvSpPr>
            <p:cNvPr id="60465" name="Text Box 49"/>
            <p:cNvSpPr txBox="1">
              <a:spLocks noChangeArrowheads="1"/>
            </p:cNvSpPr>
            <p:nvPr/>
          </p:nvSpPr>
          <p:spPr bwMode="auto">
            <a:xfrm>
              <a:off x="1216" y="1160"/>
              <a:ext cx="3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M</a:t>
              </a:r>
              <a:endParaRPr lang="en-US" altLang="zh-CN" sz="1800" b="1"/>
            </a:p>
          </p:txBody>
        </p:sp>
      </p:grpSp>
      <p:sp>
        <p:nvSpPr>
          <p:cNvPr id="60512" name="AutoShape 96"/>
          <p:cNvSpPr>
            <a:spLocks noChangeArrowheads="1"/>
          </p:cNvSpPr>
          <p:nvPr/>
        </p:nvSpPr>
        <p:spPr bwMode="auto">
          <a:xfrm>
            <a:off x="4056063" y="3452136"/>
            <a:ext cx="706437" cy="268287"/>
          </a:xfrm>
          <a:prstGeom prst="rightArrow">
            <a:avLst>
              <a:gd name="adj1" fmla="val 50000"/>
              <a:gd name="adj2" fmla="val 65828"/>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0515" name="Object 99"/>
          <p:cNvGraphicFramePr>
            <a:graphicFrameLocks noChangeAspect="1"/>
          </p:cNvGraphicFramePr>
          <p:nvPr>
            <p:extLst>
              <p:ext uri="{D42A27DB-BD31-4B8C-83A1-F6EECF244321}">
                <p14:modId xmlns:p14="http://schemas.microsoft.com/office/powerpoint/2010/main" val="2716231992"/>
              </p:ext>
            </p:extLst>
          </p:nvPr>
        </p:nvGraphicFramePr>
        <p:xfrm>
          <a:off x="574675" y="4880886"/>
          <a:ext cx="3022600" cy="501650"/>
        </p:xfrm>
        <a:graphic>
          <a:graphicData uri="http://schemas.openxmlformats.org/presentationml/2006/ole">
            <mc:AlternateContent xmlns:mc="http://schemas.openxmlformats.org/markup-compatibility/2006">
              <mc:Choice xmlns:v="urn:schemas-microsoft-com:vml" Requires="v">
                <p:oleObj spid="_x0000_s99535" name="Equation" r:id="rId9" imgW="1447560" imgH="241200" progId="Equation.3">
                  <p:embed/>
                </p:oleObj>
              </mc:Choice>
              <mc:Fallback>
                <p:oleObj name="Equation" r:id="rId9" imgW="1447560" imgH="241200" progId="Equation.3">
                  <p:embed/>
                  <p:pic>
                    <p:nvPicPr>
                      <p:cNvPr id="0" name="Object 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675" y="4880886"/>
                        <a:ext cx="302260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517" name="Object 101"/>
          <p:cNvGraphicFramePr>
            <a:graphicFrameLocks noChangeAspect="1"/>
          </p:cNvGraphicFramePr>
          <p:nvPr>
            <p:extLst>
              <p:ext uri="{D42A27DB-BD31-4B8C-83A1-F6EECF244321}">
                <p14:modId xmlns:p14="http://schemas.microsoft.com/office/powerpoint/2010/main" val="2147490403"/>
              </p:ext>
            </p:extLst>
          </p:nvPr>
        </p:nvGraphicFramePr>
        <p:xfrm>
          <a:off x="549275" y="5533348"/>
          <a:ext cx="3071813" cy="501650"/>
        </p:xfrm>
        <a:graphic>
          <a:graphicData uri="http://schemas.openxmlformats.org/presentationml/2006/ole">
            <mc:AlternateContent xmlns:mc="http://schemas.openxmlformats.org/markup-compatibility/2006">
              <mc:Choice xmlns:v="urn:schemas-microsoft-com:vml" Requires="v">
                <p:oleObj spid="_x0000_s99536" name="Equation" r:id="rId11" imgW="1473120" imgH="241200" progId="Equation.3">
                  <p:embed/>
                </p:oleObj>
              </mc:Choice>
              <mc:Fallback>
                <p:oleObj name="Equation" r:id="rId11" imgW="1473120" imgH="241200" progId="Equation.3">
                  <p:embed/>
                  <p:pic>
                    <p:nvPicPr>
                      <p:cNvPr id="0" name="Object 10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9275" y="5533348"/>
                        <a:ext cx="307181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518" name="Object 102"/>
          <p:cNvGraphicFramePr>
            <a:graphicFrameLocks noChangeAspect="1"/>
          </p:cNvGraphicFramePr>
          <p:nvPr>
            <p:extLst>
              <p:ext uri="{D42A27DB-BD31-4B8C-83A1-F6EECF244321}">
                <p14:modId xmlns:p14="http://schemas.microsoft.com/office/powerpoint/2010/main" val="2686941328"/>
              </p:ext>
            </p:extLst>
          </p:nvPr>
        </p:nvGraphicFramePr>
        <p:xfrm>
          <a:off x="442913" y="6135011"/>
          <a:ext cx="1484312" cy="477837"/>
        </p:xfrm>
        <a:graphic>
          <a:graphicData uri="http://schemas.openxmlformats.org/presentationml/2006/ole">
            <mc:AlternateContent xmlns:mc="http://schemas.openxmlformats.org/markup-compatibility/2006">
              <mc:Choice xmlns:v="urn:schemas-microsoft-com:vml" Requires="v">
                <p:oleObj spid="_x0000_s99537" name="Equation" r:id="rId13" imgW="711000" imgH="228600" progId="Equation.3">
                  <p:embed/>
                </p:oleObj>
              </mc:Choice>
              <mc:Fallback>
                <p:oleObj name="Equation" r:id="rId13" imgW="711000" imgH="228600" progId="Equation.3">
                  <p:embed/>
                  <p:pic>
                    <p:nvPicPr>
                      <p:cNvPr id="0" name="Object 10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2913" y="6135011"/>
                        <a:ext cx="1484312"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519" name="AutoShape 103"/>
          <p:cNvSpPr>
            <a:spLocks/>
          </p:cNvSpPr>
          <p:nvPr/>
        </p:nvSpPr>
        <p:spPr bwMode="auto">
          <a:xfrm>
            <a:off x="304800" y="5053923"/>
            <a:ext cx="138113" cy="1612900"/>
          </a:xfrm>
          <a:prstGeom prst="leftBrace">
            <a:avLst>
              <a:gd name="adj1" fmla="val 97318"/>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20" name="AutoShape 104"/>
          <p:cNvSpPr>
            <a:spLocks noChangeArrowheads="1"/>
          </p:cNvSpPr>
          <p:nvPr/>
        </p:nvSpPr>
        <p:spPr bwMode="auto">
          <a:xfrm>
            <a:off x="3941763" y="5776236"/>
            <a:ext cx="706437" cy="268287"/>
          </a:xfrm>
          <a:prstGeom prst="rightArrow">
            <a:avLst>
              <a:gd name="adj1" fmla="val 50000"/>
              <a:gd name="adj2" fmla="val 65828"/>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21" name="Text Box 105"/>
          <p:cNvSpPr txBox="1">
            <a:spLocks noChangeArrowheads="1"/>
          </p:cNvSpPr>
          <p:nvPr/>
        </p:nvSpPr>
        <p:spPr bwMode="auto">
          <a:xfrm>
            <a:off x="3770313" y="5244423"/>
            <a:ext cx="1400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整理得</a:t>
            </a:r>
          </a:p>
        </p:txBody>
      </p:sp>
      <p:graphicFrame>
        <p:nvGraphicFramePr>
          <p:cNvPr id="60522" name="Object 106"/>
          <p:cNvGraphicFramePr>
            <a:graphicFrameLocks noChangeAspect="1"/>
          </p:cNvGraphicFramePr>
          <p:nvPr>
            <p:extLst>
              <p:ext uri="{D42A27DB-BD31-4B8C-83A1-F6EECF244321}">
                <p14:modId xmlns:p14="http://schemas.microsoft.com/office/powerpoint/2010/main" val="4095949989"/>
              </p:ext>
            </p:extLst>
          </p:nvPr>
        </p:nvGraphicFramePr>
        <p:xfrm>
          <a:off x="5016500" y="4961848"/>
          <a:ext cx="3706813" cy="501650"/>
        </p:xfrm>
        <a:graphic>
          <a:graphicData uri="http://schemas.openxmlformats.org/presentationml/2006/ole">
            <mc:AlternateContent xmlns:mc="http://schemas.openxmlformats.org/markup-compatibility/2006">
              <mc:Choice xmlns:v="urn:schemas-microsoft-com:vml" Requires="v">
                <p:oleObj spid="_x0000_s99538" name="Equation" r:id="rId15" imgW="1777680" imgH="241200" progId="Equation.3">
                  <p:embed/>
                </p:oleObj>
              </mc:Choice>
              <mc:Fallback>
                <p:oleObj name="Equation" r:id="rId15" imgW="1777680" imgH="241200" progId="Equation.3">
                  <p:embed/>
                  <p:pic>
                    <p:nvPicPr>
                      <p:cNvPr id="0" name="Object 10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6500" y="4961848"/>
                        <a:ext cx="370681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523" name="Object 107"/>
          <p:cNvGraphicFramePr>
            <a:graphicFrameLocks noChangeAspect="1"/>
          </p:cNvGraphicFramePr>
          <p:nvPr>
            <p:extLst>
              <p:ext uri="{D42A27DB-BD31-4B8C-83A1-F6EECF244321}">
                <p14:modId xmlns:p14="http://schemas.microsoft.com/office/powerpoint/2010/main" val="1596369937"/>
              </p:ext>
            </p:extLst>
          </p:nvPr>
        </p:nvGraphicFramePr>
        <p:xfrm>
          <a:off x="4979988" y="5512711"/>
          <a:ext cx="3894137" cy="501650"/>
        </p:xfrm>
        <a:graphic>
          <a:graphicData uri="http://schemas.openxmlformats.org/presentationml/2006/ole">
            <mc:AlternateContent xmlns:mc="http://schemas.openxmlformats.org/markup-compatibility/2006">
              <mc:Choice xmlns:v="urn:schemas-microsoft-com:vml" Requires="v">
                <p:oleObj spid="_x0000_s99539" name="Equation" r:id="rId17" imgW="1866600" imgH="241200" progId="Equation.3">
                  <p:embed/>
                </p:oleObj>
              </mc:Choice>
              <mc:Fallback>
                <p:oleObj name="Equation" r:id="rId17" imgW="1866600" imgH="241200" progId="Equation.3">
                  <p:embed/>
                  <p:pic>
                    <p:nvPicPr>
                      <p:cNvPr id="0" name="Object 10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79988" y="5512711"/>
                        <a:ext cx="389413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524" name="AutoShape 108"/>
          <p:cNvSpPr>
            <a:spLocks/>
          </p:cNvSpPr>
          <p:nvPr/>
        </p:nvSpPr>
        <p:spPr bwMode="auto">
          <a:xfrm>
            <a:off x="4762500" y="4953911"/>
            <a:ext cx="220663" cy="1533525"/>
          </a:xfrm>
          <a:prstGeom prst="leftBrace">
            <a:avLst>
              <a:gd name="adj1" fmla="val 5791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25" name="Text Box 109"/>
          <p:cNvSpPr txBox="1">
            <a:spLocks noChangeArrowheads="1"/>
          </p:cNvSpPr>
          <p:nvPr/>
        </p:nvSpPr>
        <p:spPr bwMode="auto">
          <a:xfrm>
            <a:off x="539750" y="1961473"/>
            <a:ext cx="5221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t>（</a:t>
            </a:r>
            <a:r>
              <a:rPr lang="en-US" altLang="zh-CN" b="1" dirty="0"/>
              <a:t>a</a:t>
            </a:r>
            <a:r>
              <a:rPr lang="zh-CN" altLang="en-US" b="1" dirty="0"/>
              <a:t>） 两个线圈的</a:t>
            </a:r>
            <a:r>
              <a:rPr lang="zh-CN" altLang="zh-CN" b="1" dirty="0"/>
              <a:t>同名端接在</a:t>
            </a:r>
            <a:r>
              <a:rPr lang="zh-CN" altLang="en-US" b="1" dirty="0"/>
              <a:t>公共端</a:t>
            </a:r>
          </a:p>
        </p:txBody>
      </p:sp>
      <p:grpSp>
        <p:nvGrpSpPr>
          <p:cNvPr id="60534" name="Group 118"/>
          <p:cNvGrpSpPr>
            <a:grpSpLocks/>
          </p:cNvGrpSpPr>
          <p:nvPr/>
        </p:nvGrpSpPr>
        <p:grpSpPr bwMode="auto">
          <a:xfrm>
            <a:off x="5102225" y="2425023"/>
            <a:ext cx="3079750" cy="2443163"/>
            <a:chOff x="3214" y="1128"/>
            <a:chExt cx="1940" cy="1539"/>
          </a:xfrm>
        </p:grpSpPr>
        <p:sp>
          <p:nvSpPr>
            <p:cNvPr id="60468" name="Line 52"/>
            <p:cNvSpPr>
              <a:spLocks noChangeShapeType="1"/>
            </p:cNvSpPr>
            <p:nvPr/>
          </p:nvSpPr>
          <p:spPr bwMode="auto">
            <a:xfrm>
              <a:off x="3911" y="1896"/>
              <a:ext cx="2" cy="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9" name="Line 53"/>
            <p:cNvSpPr>
              <a:spLocks noChangeShapeType="1"/>
            </p:cNvSpPr>
            <p:nvPr/>
          </p:nvSpPr>
          <p:spPr bwMode="auto">
            <a:xfrm flipH="1">
              <a:off x="3919" y="1460"/>
              <a:ext cx="0" cy="1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0" name="Line 54"/>
            <p:cNvSpPr>
              <a:spLocks noChangeShapeType="1"/>
            </p:cNvSpPr>
            <p:nvPr/>
          </p:nvSpPr>
          <p:spPr bwMode="auto">
            <a:xfrm flipH="1">
              <a:off x="4300" y="1884"/>
              <a:ext cx="4" cy="1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1" name="Line 55"/>
            <p:cNvSpPr>
              <a:spLocks noChangeShapeType="1"/>
            </p:cNvSpPr>
            <p:nvPr/>
          </p:nvSpPr>
          <p:spPr bwMode="auto">
            <a:xfrm>
              <a:off x="4300" y="1460"/>
              <a:ext cx="4" cy="15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2" name="Line 56"/>
            <p:cNvSpPr>
              <a:spLocks noChangeShapeType="1"/>
            </p:cNvSpPr>
            <p:nvPr/>
          </p:nvSpPr>
          <p:spPr bwMode="auto">
            <a:xfrm>
              <a:off x="3475" y="1460"/>
              <a:ext cx="43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3" name="Line 57"/>
            <p:cNvSpPr>
              <a:spLocks noChangeShapeType="1"/>
            </p:cNvSpPr>
            <p:nvPr/>
          </p:nvSpPr>
          <p:spPr bwMode="auto">
            <a:xfrm>
              <a:off x="3908" y="2009"/>
              <a:ext cx="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4" name="Line 58"/>
            <p:cNvSpPr>
              <a:spLocks noChangeShapeType="1"/>
            </p:cNvSpPr>
            <p:nvPr/>
          </p:nvSpPr>
          <p:spPr bwMode="auto">
            <a:xfrm>
              <a:off x="4192" y="2369"/>
              <a:ext cx="0" cy="202"/>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5" name="Line 59"/>
            <p:cNvSpPr>
              <a:spLocks noChangeShapeType="1"/>
            </p:cNvSpPr>
            <p:nvPr/>
          </p:nvSpPr>
          <p:spPr bwMode="auto">
            <a:xfrm rot="5400000">
              <a:off x="4643" y="1285"/>
              <a:ext cx="0" cy="232"/>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Text Box 62"/>
            <p:cNvSpPr txBox="1">
              <a:spLocks noChangeArrowheads="1"/>
            </p:cNvSpPr>
            <p:nvPr/>
          </p:nvSpPr>
          <p:spPr bwMode="auto">
            <a:xfrm>
              <a:off x="3214" y="1665"/>
              <a:ext cx="6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a:sym typeface="Symbol" panose="05050102010706020507" pitchFamily="18" charset="2"/>
                </a:rPr>
                <a:t>(</a:t>
              </a:r>
              <a:r>
                <a:rPr lang="en-US" altLang="zh-CN" sz="1800" b="1" i="1"/>
                <a:t>L</a:t>
              </a:r>
              <a:r>
                <a:rPr lang="en-US" altLang="zh-CN" sz="1800" b="1" baseline="-25000"/>
                <a:t>1</a:t>
              </a:r>
              <a:r>
                <a:rPr lang="en-US" altLang="zh-CN" sz="1800" b="1"/>
                <a:t>–</a:t>
              </a:r>
              <a:r>
                <a:rPr lang="en-US" altLang="zh-CN" sz="1800" b="1" i="1"/>
                <a:t>M</a:t>
              </a:r>
              <a:r>
                <a:rPr lang="en-US" altLang="zh-CN" sz="1800" b="1"/>
                <a:t>)</a:t>
              </a:r>
            </a:p>
          </p:txBody>
        </p:sp>
        <p:sp>
          <p:nvSpPr>
            <p:cNvPr id="60479" name="Line 63"/>
            <p:cNvSpPr>
              <a:spLocks noChangeShapeType="1"/>
            </p:cNvSpPr>
            <p:nvPr/>
          </p:nvSpPr>
          <p:spPr bwMode="auto">
            <a:xfrm>
              <a:off x="3464" y="1401"/>
              <a:ext cx="21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80" name="Group 64"/>
            <p:cNvGrpSpPr>
              <a:grpSpLocks/>
            </p:cNvGrpSpPr>
            <p:nvPr/>
          </p:nvGrpSpPr>
          <p:grpSpPr bwMode="auto">
            <a:xfrm rot="5400000">
              <a:off x="4189" y="1726"/>
              <a:ext cx="267" cy="46"/>
              <a:chOff x="1200" y="1584"/>
              <a:chExt cx="379" cy="45"/>
            </a:xfrm>
          </p:grpSpPr>
          <p:sp>
            <p:nvSpPr>
              <p:cNvPr id="60481" name="Arc 6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2" name="Arc 6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3" name="Arc 6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4" name="Arc 6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85" name="Oval 69"/>
            <p:cNvSpPr>
              <a:spLocks noChangeArrowheads="1"/>
            </p:cNvSpPr>
            <p:nvPr/>
          </p:nvSpPr>
          <p:spPr bwMode="auto">
            <a:xfrm>
              <a:off x="3437" y="144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86" name="Group 70"/>
            <p:cNvGrpSpPr>
              <a:grpSpLocks/>
            </p:cNvGrpSpPr>
            <p:nvPr/>
          </p:nvGrpSpPr>
          <p:grpSpPr bwMode="auto">
            <a:xfrm rot="5400000">
              <a:off x="3805" y="1734"/>
              <a:ext cx="266" cy="46"/>
              <a:chOff x="1200" y="1584"/>
              <a:chExt cx="379" cy="45"/>
            </a:xfrm>
          </p:grpSpPr>
          <p:sp>
            <p:nvSpPr>
              <p:cNvPr id="60487" name="Arc 7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8" name="Arc 7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9" name="Arc 7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0" name="Arc 7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93" name="Oval 77"/>
            <p:cNvSpPr>
              <a:spLocks noChangeArrowheads="1"/>
            </p:cNvSpPr>
            <p:nvPr/>
          </p:nvSpPr>
          <p:spPr bwMode="auto">
            <a:xfrm>
              <a:off x="4741" y="143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5" name="Line 79"/>
            <p:cNvSpPr>
              <a:spLocks noChangeShapeType="1"/>
            </p:cNvSpPr>
            <p:nvPr/>
          </p:nvSpPr>
          <p:spPr bwMode="auto">
            <a:xfrm>
              <a:off x="4299" y="1460"/>
              <a:ext cx="4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6" name="Line 80"/>
            <p:cNvSpPr>
              <a:spLocks noChangeShapeType="1"/>
            </p:cNvSpPr>
            <p:nvPr/>
          </p:nvSpPr>
          <p:spPr bwMode="auto">
            <a:xfrm>
              <a:off x="4109" y="2396"/>
              <a:ext cx="0" cy="1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7" name="Oval 81"/>
            <p:cNvSpPr>
              <a:spLocks noChangeArrowheads="1"/>
            </p:cNvSpPr>
            <p:nvPr/>
          </p:nvSpPr>
          <p:spPr bwMode="auto">
            <a:xfrm>
              <a:off x="4087" y="253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0" name="Text Box 84"/>
            <p:cNvSpPr txBox="1">
              <a:spLocks noChangeArrowheads="1"/>
            </p:cNvSpPr>
            <p:nvPr/>
          </p:nvSpPr>
          <p:spPr bwMode="auto">
            <a:xfrm>
              <a:off x="3223" y="1371"/>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1</a:t>
              </a:r>
            </a:p>
          </p:txBody>
        </p:sp>
        <p:sp>
          <p:nvSpPr>
            <p:cNvPr id="60501" name="Text Box 85"/>
            <p:cNvSpPr txBox="1">
              <a:spLocks noChangeArrowheads="1"/>
            </p:cNvSpPr>
            <p:nvPr/>
          </p:nvSpPr>
          <p:spPr bwMode="auto">
            <a:xfrm>
              <a:off x="4794" y="1329"/>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2</a:t>
              </a:r>
            </a:p>
          </p:txBody>
        </p:sp>
        <p:sp>
          <p:nvSpPr>
            <p:cNvPr id="60502" name="Text Box 86"/>
            <p:cNvSpPr txBox="1">
              <a:spLocks noChangeArrowheads="1"/>
            </p:cNvSpPr>
            <p:nvPr/>
          </p:nvSpPr>
          <p:spPr bwMode="auto">
            <a:xfrm>
              <a:off x="3896" y="2436"/>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3</a:t>
              </a:r>
            </a:p>
          </p:txBody>
        </p:sp>
        <p:sp>
          <p:nvSpPr>
            <p:cNvPr id="60503" name="Text Box 87"/>
            <p:cNvSpPr txBox="1">
              <a:spLocks noChangeArrowheads="1"/>
            </p:cNvSpPr>
            <p:nvPr/>
          </p:nvSpPr>
          <p:spPr bwMode="auto">
            <a:xfrm>
              <a:off x="4363" y="1649"/>
              <a:ext cx="7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a:sym typeface="Symbol" panose="05050102010706020507" pitchFamily="18" charset="2"/>
                </a:rPr>
                <a:t>(</a:t>
              </a:r>
              <a:r>
                <a:rPr lang="en-US" altLang="zh-CN" sz="1800" b="1" i="1"/>
                <a:t>L</a:t>
              </a:r>
              <a:r>
                <a:rPr lang="en-US" altLang="zh-CN" sz="1800" b="1" baseline="-25000"/>
                <a:t>2</a:t>
              </a:r>
              <a:r>
                <a:rPr lang="en-US" altLang="zh-CN" sz="1800" b="1"/>
                <a:t>–</a:t>
              </a:r>
              <a:r>
                <a:rPr lang="en-US" altLang="zh-CN" sz="1800" b="1" i="1"/>
                <a:t>M</a:t>
              </a:r>
              <a:r>
                <a:rPr lang="en-US" altLang="zh-CN" sz="1800" b="1"/>
                <a:t>)</a:t>
              </a:r>
            </a:p>
          </p:txBody>
        </p:sp>
        <p:sp>
          <p:nvSpPr>
            <p:cNvPr id="60504" name="Text Box 88"/>
            <p:cNvSpPr txBox="1">
              <a:spLocks noChangeArrowheads="1"/>
            </p:cNvSpPr>
            <p:nvPr/>
          </p:nvSpPr>
          <p:spPr bwMode="auto">
            <a:xfrm>
              <a:off x="4145" y="2114"/>
              <a:ext cx="52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M</a:t>
              </a:r>
              <a:endParaRPr lang="en-US" altLang="zh-CN" sz="1800" b="1"/>
            </a:p>
          </p:txBody>
        </p:sp>
        <p:grpSp>
          <p:nvGrpSpPr>
            <p:cNvPr id="60505" name="Group 89"/>
            <p:cNvGrpSpPr>
              <a:grpSpLocks/>
            </p:cNvGrpSpPr>
            <p:nvPr/>
          </p:nvGrpSpPr>
          <p:grpSpPr bwMode="auto">
            <a:xfrm rot="5400000">
              <a:off x="3994" y="2240"/>
              <a:ext cx="266" cy="46"/>
              <a:chOff x="1200" y="1584"/>
              <a:chExt cx="379" cy="45"/>
            </a:xfrm>
          </p:grpSpPr>
          <p:sp>
            <p:nvSpPr>
              <p:cNvPr id="60506" name="Arc 9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7" name="Arc 9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8" name="Arc 9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9" name="Arc 9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510" name="Line 94"/>
            <p:cNvSpPr>
              <a:spLocks noChangeShapeType="1"/>
            </p:cNvSpPr>
            <p:nvPr/>
          </p:nvSpPr>
          <p:spPr bwMode="auto">
            <a:xfrm>
              <a:off x="4103" y="2009"/>
              <a:ext cx="0" cy="1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0529" name="Object 113"/>
            <p:cNvGraphicFramePr>
              <a:graphicFrameLocks noChangeAspect="1"/>
            </p:cNvGraphicFramePr>
            <p:nvPr/>
          </p:nvGraphicFramePr>
          <p:xfrm>
            <a:off x="3473" y="1128"/>
            <a:ext cx="220" cy="261"/>
          </p:xfrm>
          <a:graphic>
            <a:graphicData uri="http://schemas.openxmlformats.org/presentationml/2006/ole">
              <mc:AlternateContent xmlns:mc="http://schemas.openxmlformats.org/markup-compatibility/2006">
                <mc:Choice xmlns:v="urn:schemas-microsoft-com:vml" Requires="v">
                  <p:oleObj spid="_x0000_s99540" name="Equation" r:id="rId19" imgW="164880" imgH="228600" progId="Equation.3">
                    <p:embed/>
                  </p:oleObj>
                </mc:Choice>
                <mc:Fallback>
                  <p:oleObj name="Equation" r:id="rId19" imgW="164880" imgH="228600" progId="Equation.3">
                    <p:embed/>
                    <p:pic>
                      <p:nvPicPr>
                        <p:cNvPr id="0" name="Object 1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73" y="1128"/>
                          <a:ext cx="22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530" name="Object 114"/>
            <p:cNvGraphicFramePr>
              <a:graphicFrameLocks noChangeAspect="1"/>
            </p:cNvGraphicFramePr>
            <p:nvPr/>
          </p:nvGraphicFramePr>
          <p:xfrm>
            <a:off x="4584" y="1148"/>
            <a:ext cx="238" cy="259"/>
          </p:xfrm>
          <a:graphic>
            <a:graphicData uri="http://schemas.openxmlformats.org/presentationml/2006/ole">
              <mc:AlternateContent xmlns:mc="http://schemas.openxmlformats.org/markup-compatibility/2006">
                <mc:Choice xmlns:v="urn:schemas-microsoft-com:vml" Requires="v">
                  <p:oleObj spid="_x0000_s99541" name="Equation" r:id="rId21" imgW="177480" imgH="228600" progId="Equation.3">
                    <p:embed/>
                  </p:oleObj>
                </mc:Choice>
                <mc:Fallback>
                  <p:oleObj name="Equation" r:id="rId21" imgW="177480" imgH="228600" progId="Equation.3">
                    <p:embed/>
                    <p:pic>
                      <p:nvPicPr>
                        <p:cNvPr id="0" name="Object 1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84" y="1148"/>
                          <a:ext cx="23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531" name="Object 115"/>
            <p:cNvGraphicFramePr>
              <a:graphicFrameLocks noChangeAspect="1"/>
            </p:cNvGraphicFramePr>
            <p:nvPr/>
          </p:nvGraphicFramePr>
          <p:xfrm>
            <a:off x="4220" y="2353"/>
            <a:ext cx="168" cy="218"/>
          </p:xfrm>
          <a:graphic>
            <a:graphicData uri="http://schemas.openxmlformats.org/presentationml/2006/ole">
              <mc:AlternateContent xmlns:mc="http://schemas.openxmlformats.org/markup-compatibility/2006">
                <mc:Choice xmlns:v="urn:schemas-microsoft-com:vml" Requires="v">
                  <p:oleObj spid="_x0000_s99542" name="Equation" r:id="rId23" imgW="126720" imgH="190440" progId="Equation.3">
                    <p:embed/>
                  </p:oleObj>
                </mc:Choice>
                <mc:Fallback>
                  <p:oleObj name="Equation" r:id="rId23" imgW="126720" imgH="190440" progId="Equation.3">
                    <p:embed/>
                    <p:pic>
                      <p:nvPicPr>
                        <p:cNvPr id="0" name="Object 1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20" y="2353"/>
                          <a:ext cx="168"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0537" name="Object 121"/>
          <p:cNvGraphicFramePr>
            <a:graphicFrameLocks noChangeAspect="1"/>
          </p:cNvGraphicFramePr>
          <p:nvPr>
            <p:extLst>
              <p:ext uri="{D42A27DB-BD31-4B8C-83A1-F6EECF244321}">
                <p14:modId xmlns:p14="http://schemas.microsoft.com/office/powerpoint/2010/main" val="547249112"/>
              </p:ext>
            </p:extLst>
          </p:nvPr>
        </p:nvGraphicFramePr>
        <p:xfrm>
          <a:off x="5053013" y="6071511"/>
          <a:ext cx="1484312" cy="477837"/>
        </p:xfrm>
        <a:graphic>
          <a:graphicData uri="http://schemas.openxmlformats.org/presentationml/2006/ole">
            <mc:AlternateContent xmlns:mc="http://schemas.openxmlformats.org/markup-compatibility/2006">
              <mc:Choice xmlns:v="urn:schemas-microsoft-com:vml" Requires="v">
                <p:oleObj spid="_x0000_s99543" name="Equation" r:id="rId25" imgW="711000" imgH="228600" progId="Equation.3">
                  <p:embed/>
                </p:oleObj>
              </mc:Choice>
              <mc:Fallback>
                <p:oleObj name="Equation" r:id="rId25" imgW="711000" imgH="228600" progId="Equation.3">
                  <p:embed/>
                  <p:pic>
                    <p:nvPicPr>
                      <p:cNvPr id="0" name="Object 1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53013" y="6071511"/>
                        <a:ext cx="1484312"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 name="Text Box 109"/>
          <p:cNvSpPr txBox="1">
            <a:spLocks noChangeArrowheads="1"/>
          </p:cNvSpPr>
          <p:nvPr/>
        </p:nvSpPr>
        <p:spPr bwMode="auto">
          <a:xfrm>
            <a:off x="304800" y="852623"/>
            <a:ext cx="86636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b="1" dirty="0" smtClean="0">
                <a:solidFill>
                  <a:schemeClr val="accent2"/>
                </a:solidFill>
              </a:rPr>
              <a:t>当耦合的两个线圈有一个公共端时，可以等效为非耦合的三个电感，称为</a:t>
            </a:r>
            <a:r>
              <a:rPr lang="zh-CN" altLang="en-US" b="1" dirty="0" smtClean="0">
                <a:solidFill>
                  <a:srgbClr val="FF0000"/>
                </a:solidFill>
              </a:rPr>
              <a:t>去耦等效电路</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0419"/>
                                        </p:tgtEl>
                                        <p:attrNameLst>
                                          <p:attrName>style.visibility</p:attrName>
                                        </p:attrNameLst>
                                      </p:cBhvr>
                                      <p:to>
                                        <p:strVal val="visible"/>
                                      </p:to>
                                    </p:set>
                                    <p:anim calcmode="lin" valueType="num">
                                      <p:cBhvr additive="base">
                                        <p:cTn id="7" dur="500" fill="hold"/>
                                        <p:tgtEl>
                                          <p:spTgt spid="60419"/>
                                        </p:tgtEl>
                                        <p:attrNameLst>
                                          <p:attrName>ppt_x</p:attrName>
                                        </p:attrNameLst>
                                      </p:cBhvr>
                                      <p:tavLst>
                                        <p:tav tm="0">
                                          <p:val>
                                            <p:strVal val="0-#ppt_w/2"/>
                                          </p:val>
                                        </p:tav>
                                        <p:tav tm="100000">
                                          <p:val>
                                            <p:strVal val="#ppt_x"/>
                                          </p:val>
                                        </p:tav>
                                      </p:tavLst>
                                    </p:anim>
                                    <p:anim calcmode="lin" valueType="num">
                                      <p:cBhvr additive="base">
                                        <p:cTn id="8" dur="500" fill="hold"/>
                                        <p:tgtEl>
                                          <p:spTgt spid="604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
                                        </p:tgtEl>
                                        <p:attrNameLst>
                                          <p:attrName>style.visibility</p:attrName>
                                        </p:attrNameLst>
                                      </p:cBhvr>
                                      <p:to>
                                        <p:strVal val="visible"/>
                                      </p:to>
                                    </p:set>
                                    <p:anim calcmode="lin" valueType="num">
                                      <p:cBhvr additive="base">
                                        <p:cTn id="13" dur="500" fill="hold"/>
                                        <p:tgtEl>
                                          <p:spTgt spid="93"/>
                                        </p:tgtEl>
                                        <p:attrNameLst>
                                          <p:attrName>ppt_x</p:attrName>
                                        </p:attrNameLst>
                                      </p:cBhvr>
                                      <p:tavLst>
                                        <p:tav tm="0">
                                          <p:val>
                                            <p:strVal val="0-#ppt_w/2"/>
                                          </p:val>
                                        </p:tav>
                                        <p:tav tm="100000">
                                          <p:val>
                                            <p:strVal val="#ppt_x"/>
                                          </p:val>
                                        </p:tav>
                                      </p:tavLst>
                                    </p:anim>
                                    <p:anim calcmode="lin" valueType="num">
                                      <p:cBhvr additive="base">
                                        <p:cTn id="14"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525"/>
                                        </p:tgtEl>
                                        <p:attrNameLst>
                                          <p:attrName>style.visibility</p:attrName>
                                        </p:attrNameLst>
                                      </p:cBhvr>
                                      <p:to>
                                        <p:strVal val="visible"/>
                                      </p:to>
                                    </p:set>
                                    <p:anim calcmode="lin" valueType="num">
                                      <p:cBhvr additive="base">
                                        <p:cTn id="19" dur="500" fill="hold"/>
                                        <p:tgtEl>
                                          <p:spTgt spid="60525"/>
                                        </p:tgtEl>
                                        <p:attrNameLst>
                                          <p:attrName>ppt_x</p:attrName>
                                        </p:attrNameLst>
                                      </p:cBhvr>
                                      <p:tavLst>
                                        <p:tav tm="0">
                                          <p:val>
                                            <p:strVal val="0-#ppt_w/2"/>
                                          </p:val>
                                        </p:tav>
                                        <p:tav tm="100000">
                                          <p:val>
                                            <p:strVal val="#ppt_x"/>
                                          </p:val>
                                        </p:tav>
                                      </p:tavLst>
                                    </p:anim>
                                    <p:anim calcmode="lin" valueType="num">
                                      <p:cBhvr additive="base">
                                        <p:cTn id="20" dur="500" fill="hold"/>
                                        <p:tgtEl>
                                          <p:spTgt spid="6052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60533"/>
                                        </p:tgtEl>
                                        <p:attrNameLst>
                                          <p:attrName>style.visibility</p:attrName>
                                        </p:attrNameLst>
                                      </p:cBhvr>
                                      <p:to>
                                        <p:strVal val="visible"/>
                                      </p:to>
                                    </p:set>
                                    <p:anim calcmode="lin" valueType="num">
                                      <p:cBhvr>
                                        <p:cTn id="25" dur="500" fill="hold"/>
                                        <p:tgtEl>
                                          <p:spTgt spid="60533"/>
                                        </p:tgtEl>
                                        <p:attrNameLst>
                                          <p:attrName>ppt_w</p:attrName>
                                        </p:attrNameLst>
                                      </p:cBhvr>
                                      <p:tavLst>
                                        <p:tav tm="0">
                                          <p:val>
                                            <p:fltVal val="0"/>
                                          </p:val>
                                        </p:tav>
                                        <p:tav tm="100000">
                                          <p:val>
                                            <p:strVal val="#ppt_w"/>
                                          </p:val>
                                        </p:tav>
                                      </p:tavLst>
                                    </p:anim>
                                    <p:anim calcmode="lin" valueType="num">
                                      <p:cBhvr>
                                        <p:cTn id="26" dur="500" fill="hold"/>
                                        <p:tgtEl>
                                          <p:spTgt spid="60533"/>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60515"/>
                                        </p:tgtEl>
                                        <p:attrNameLst>
                                          <p:attrName>style.visibility</p:attrName>
                                        </p:attrNameLst>
                                      </p:cBhvr>
                                      <p:to>
                                        <p:strVal val="visible"/>
                                      </p:to>
                                    </p:set>
                                    <p:anim calcmode="lin" valueType="num">
                                      <p:cBhvr additive="base">
                                        <p:cTn id="31" dur="500" fill="hold"/>
                                        <p:tgtEl>
                                          <p:spTgt spid="60515"/>
                                        </p:tgtEl>
                                        <p:attrNameLst>
                                          <p:attrName>ppt_x</p:attrName>
                                        </p:attrNameLst>
                                      </p:cBhvr>
                                      <p:tavLst>
                                        <p:tav tm="0">
                                          <p:val>
                                            <p:strVal val="0-#ppt_w/2"/>
                                          </p:val>
                                        </p:tav>
                                        <p:tav tm="100000">
                                          <p:val>
                                            <p:strVal val="#ppt_x"/>
                                          </p:val>
                                        </p:tav>
                                      </p:tavLst>
                                    </p:anim>
                                    <p:anim calcmode="lin" valueType="num">
                                      <p:cBhvr additive="base">
                                        <p:cTn id="32" dur="500" fill="hold"/>
                                        <p:tgtEl>
                                          <p:spTgt spid="6051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0517"/>
                                        </p:tgtEl>
                                        <p:attrNameLst>
                                          <p:attrName>style.visibility</p:attrName>
                                        </p:attrNameLst>
                                      </p:cBhvr>
                                      <p:to>
                                        <p:strVal val="visible"/>
                                      </p:to>
                                    </p:set>
                                    <p:anim calcmode="lin" valueType="num">
                                      <p:cBhvr additive="base">
                                        <p:cTn id="37" dur="500" fill="hold"/>
                                        <p:tgtEl>
                                          <p:spTgt spid="60517"/>
                                        </p:tgtEl>
                                        <p:attrNameLst>
                                          <p:attrName>ppt_x</p:attrName>
                                        </p:attrNameLst>
                                      </p:cBhvr>
                                      <p:tavLst>
                                        <p:tav tm="0">
                                          <p:val>
                                            <p:strVal val="0-#ppt_w/2"/>
                                          </p:val>
                                        </p:tav>
                                        <p:tav tm="100000">
                                          <p:val>
                                            <p:strVal val="#ppt_x"/>
                                          </p:val>
                                        </p:tav>
                                      </p:tavLst>
                                    </p:anim>
                                    <p:anim calcmode="lin" valueType="num">
                                      <p:cBhvr additive="base">
                                        <p:cTn id="38" dur="500" fill="hold"/>
                                        <p:tgtEl>
                                          <p:spTgt spid="6051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60518"/>
                                        </p:tgtEl>
                                        <p:attrNameLst>
                                          <p:attrName>style.visibility</p:attrName>
                                        </p:attrNameLst>
                                      </p:cBhvr>
                                      <p:to>
                                        <p:strVal val="visible"/>
                                      </p:to>
                                    </p:set>
                                    <p:anim calcmode="lin" valueType="num">
                                      <p:cBhvr additive="base">
                                        <p:cTn id="43" dur="500" fill="hold"/>
                                        <p:tgtEl>
                                          <p:spTgt spid="60518"/>
                                        </p:tgtEl>
                                        <p:attrNameLst>
                                          <p:attrName>ppt_x</p:attrName>
                                        </p:attrNameLst>
                                      </p:cBhvr>
                                      <p:tavLst>
                                        <p:tav tm="0">
                                          <p:val>
                                            <p:strVal val="0-#ppt_w/2"/>
                                          </p:val>
                                        </p:tav>
                                        <p:tav tm="100000">
                                          <p:val>
                                            <p:strVal val="#ppt_x"/>
                                          </p:val>
                                        </p:tav>
                                      </p:tavLst>
                                    </p:anim>
                                    <p:anim calcmode="lin" valueType="num">
                                      <p:cBhvr additive="base">
                                        <p:cTn id="44" dur="500" fill="hold"/>
                                        <p:tgtEl>
                                          <p:spTgt spid="60518"/>
                                        </p:tgtEl>
                                        <p:attrNameLst>
                                          <p:attrName>ppt_y</p:attrName>
                                        </p:attrNameLst>
                                      </p:cBhvr>
                                      <p:tavLst>
                                        <p:tav tm="0">
                                          <p:val>
                                            <p:strVal val="#ppt_y"/>
                                          </p:val>
                                        </p:tav>
                                        <p:tav tm="100000">
                                          <p:val>
                                            <p:strVal val="#ppt_y"/>
                                          </p:val>
                                        </p:tav>
                                      </p:tavLst>
                                    </p:anim>
                                  </p:childTnLst>
                                </p:cTn>
                              </p:par>
                            </p:childTnLst>
                          </p:cTn>
                        </p:par>
                        <p:par>
                          <p:cTn id="45" fill="hold" nodeType="afterGroup">
                            <p:stCondLst>
                              <p:cond delay="500"/>
                            </p:stCondLst>
                            <p:childTnLst>
                              <p:par>
                                <p:cTn id="46" presetID="1" presetClass="entr" presetSubtype="0" fill="hold" nodeType="afterEffect">
                                  <p:stCondLst>
                                    <p:cond delay="0"/>
                                  </p:stCondLst>
                                  <p:childTnLst>
                                    <p:set>
                                      <p:cBhvr>
                                        <p:cTn id="47" dur="1" fill="hold">
                                          <p:stCondLst>
                                            <p:cond delay="499"/>
                                          </p:stCondLst>
                                        </p:cTn>
                                        <p:tgtEl>
                                          <p:spTgt spid="60519"/>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8" fill="hold" nodeType="clickEffect">
                                  <p:stCondLst>
                                    <p:cond delay="0"/>
                                  </p:stCondLst>
                                  <p:childTnLst>
                                    <p:set>
                                      <p:cBhvr>
                                        <p:cTn id="51" dur="1" fill="hold">
                                          <p:stCondLst>
                                            <p:cond delay="0"/>
                                          </p:stCondLst>
                                        </p:cTn>
                                        <p:tgtEl>
                                          <p:spTgt spid="60520"/>
                                        </p:tgtEl>
                                        <p:attrNameLst>
                                          <p:attrName>style.visibility</p:attrName>
                                        </p:attrNameLst>
                                      </p:cBhvr>
                                      <p:to>
                                        <p:strVal val="visible"/>
                                      </p:to>
                                    </p:set>
                                    <p:animEffect transition="in" filter="slide(fromLeft)">
                                      <p:cBhvr>
                                        <p:cTn id="52" dur="500"/>
                                        <p:tgtEl>
                                          <p:spTgt spid="60520"/>
                                        </p:tgtEl>
                                      </p:cBhvr>
                                    </p:animEffect>
                                  </p:childTnLst>
                                </p:cTn>
                              </p:par>
                            </p:childTnLst>
                          </p:cTn>
                        </p:par>
                        <p:par>
                          <p:cTn id="53" fill="hold" nodeType="afterGroup">
                            <p:stCondLst>
                              <p:cond delay="500"/>
                            </p:stCondLst>
                            <p:childTnLst>
                              <p:par>
                                <p:cTn id="54" presetID="1" presetClass="entr" presetSubtype="0" fill="hold" grpId="0" nodeType="afterEffect">
                                  <p:stCondLst>
                                    <p:cond delay="0"/>
                                  </p:stCondLst>
                                  <p:childTnLst>
                                    <p:set>
                                      <p:cBhvr>
                                        <p:cTn id="55" dur="1" fill="hold">
                                          <p:stCondLst>
                                            <p:cond delay="499"/>
                                          </p:stCondLst>
                                        </p:cTn>
                                        <p:tgtEl>
                                          <p:spTgt spid="60521"/>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2" fill="hold" nodeType="clickEffect">
                                  <p:stCondLst>
                                    <p:cond delay="0"/>
                                  </p:stCondLst>
                                  <p:childTnLst>
                                    <p:set>
                                      <p:cBhvr>
                                        <p:cTn id="59" dur="1" fill="hold">
                                          <p:stCondLst>
                                            <p:cond delay="0"/>
                                          </p:stCondLst>
                                        </p:cTn>
                                        <p:tgtEl>
                                          <p:spTgt spid="60522"/>
                                        </p:tgtEl>
                                        <p:attrNameLst>
                                          <p:attrName>style.visibility</p:attrName>
                                        </p:attrNameLst>
                                      </p:cBhvr>
                                      <p:to>
                                        <p:strVal val="visible"/>
                                      </p:to>
                                    </p:set>
                                    <p:anim calcmode="lin" valueType="num">
                                      <p:cBhvr additive="base">
                                        <p:cTn id="60" dur="500" fill="hold"/>
                                        <p:tgtEl>
                                          <p:spTgt spid="60522"/>
                                        </p:tgtEl>
                                        <p:attrNameLst>
                                          <p:attrName>ppt_x</p:attrName>
                                        </p:attrNameLst>
                                      </p:cBhvr>
                                      <p:tavLst>
                                        <p:tav tm="0">
                                          <p:val>
                                            <p:strVal val="1+#ppt_w/2"/>
                                          </p:val>
                                        </p:tav>
                                        <p:tav tm="100000">
                                          <p:val>
                                            <p:strVal val="#ppt_x"/>
                                          </p:val>
                                        </p:tav>
                                      </p:tavLst>
                                    </p:anim>
                                    <p:anim calcmode="lin" valueType="num">
                                      <p:cBhvr additive="base">
                                        <p:cTn id="61" dur="500" fill="hold"/>
                                        <p:tgtEl>
                                          <p:spTgt spid="60522"/>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2" fill="hold" nodeType="clickEffect">
                                  <p:stCondLst>
                                    <p:cond delay="0"/>
                                  </p:stCondLst>
                                  <p:childTnLst>
                                    <p:set>
                                      <p:cBhvr>
                                        <p:cTn id="65" dur="1" fill="hold">
                                          <p:stCondLst>
                                            <p:cond delay="0"/>
                                          </p:stCondLst>
                                        </p:cTn>
                                        <p:tgtEl>
                                          <p:spTgt spid="60523"/>
                                        </p:tgtEl>
                                        <p:attrNameLst>
                                          <p:attrName>style.visibility</p:attrName>
                                        </p:attrNameLst>
                                      </p:cBhvr>
                                      <p:to>
                                        <p:strVal val="visible"/>
                                      </p:to>
                                    </p:set>
                                    <p:anim calcmode="lin" valueType="num">
                                      <p:cBhvr additive="base">
                                        <p:cTn id="66" dur="500" fill="hold"/>
                                        <p:tgtEl>
                                          <p:spTgt spid="60523"/>
                                        </p:tgtEl>
                                        <p:attrNameLst>
                                          <p:attrName>ppt_x</p:attrName>
                                        </p:attrNameLst>
                                      </p:cBhvr>
                                      <p:tavLst>
                                        <p:tav tm="0">
                                          <p:val>
                                            <p:strVal val="1+#ppt_w/2"/>
                                          </p:val>
                                        </p:tav>
                                        <p:tav tm="100000">
                                          <p:val>
                                            <p:strVal val="#ppt_x"/>
                                          </p:val>
                                        </p:tav>
                                      </p:tavLst>
                                    </p:anim>
                                    <p:anim calcmode="lin" valueType="num">
                                      <p:cBhvr additive="base">
                                        <p:cTn id="67" dur="500" fill="hold"/>
                                        <p:tgtEl>
                                          <p:spTgt spid="60523"/>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2" fill="hold" nodeType="clickEffect">
                                  <p:stCondLst>
                                    <p:cond delay="0"/>
                                  </p:stCondLst>
                                  <p:childTnLst>
                                    <p:set>
                                      <p:cBhvr>
                                        <p:cTn id="71" dur="1" fill="hold">
                                          <p:stCondLst>
                                            <p:cond delay="0"/>
                                          </p:stCondLst>
                                        </p:cTn>
                                        <p:tgtEl>
                                          <p:spTgt spid="60537"/>
                                        </p:tgtEl>
                                        <p:attrNameLst>
                                          <p:attrName>style.visibility</p:attrName>
                                        </p:attrNameLst>
                                      </p:cBhvr>
                                      <p:to>
                                        <p:strVal val="visible"/>
                                      </p:to>
                                    </p:set>
                                    <p:anim calcmode="lin" valueType="num">
                                      <p:cBhvr additive="base">
                                        <p:cTn id="72" dur="500" fill="hold"/>
                                        <p:tgtEl>
                                          <p:spTgt spid="60537"/>
                                        </p:tgtEl>
                                        <p:attrNameLst>
                                          <p:attrName>ppt_x</p:attrName>
                                        </p:attrNameLst>
                                      </p:cBhvr>
                                      <p:tavLst>
                                        <p:tav tm="0">
                                          <p:val>
                                            <p:strVal val="1+#ppt_w/2"/>
                                          </p:val>
                                        </p:tav>
                                        <p:tav tm="100000">
                                          <p:val>
                                            <p:strVal val="#ppt_x"/>
                                          </p:val>
                                        </p:tav>
                                      </p:tavLst>
                                    </p:anim>
                                    <p:anim calcmode="lin" valueType="num">
                                      <p:cBhvr additive="base">
                                        <p:cTn id="73" dur="500" fill="hold"/>
                                        <p:tgtEl>
                                          <p:spTgt spid="60537"/>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500"/>
                            </p:stCondLst>
                            <p:childTnLst>
                              <p:par>
                                <p:cTn id="75" presetID="1" presetClass="entr" presetSubtype="0" fill="hold" nodeType="afterEffect">
                                  <p:stCondLst>
                                    <p:cond delay="0"/>
                                  </p:stCondLst>
                                  <p:childTnLst>
                                    <p:set>
                                      <p:cBhvr>
                                        <p:cTn id="76" dur="1" fill="hold">
                                          <p:stCondLst>
                                            <p:cond delay="499"/>
                                          </p:stCondLst>
                                        </p:cTn>
                                        <p:tgtEl>
                                          <p:spTgt spid="60524"/>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2" presetClass="entr" presetSubtype="8" fill="hold" nodeType="clickEffect">
                                  <p:stCondLst>
                                    <p:cond delay="0"/>
                                  </p:stCondLst>
                                  <p:childTnLst>
                                    <p:set>
                                      <p:cBhvr>
                                        <p:cTn id="80" dur="1" fill="hold">
                                          <p:stCondLst>
                                            <p:cond delay="0"/>
                                          </p:stCondLst>
                                        </p:cTn>
                                        <p:tgtEl>
                                          <p:spTgt spid="60512"/>
                                        </p:tgtEl>
                                        <p:attrNameLst>
                                          <p:attrName>style.visibility</p:attrName>
                                        </p:attrNameLst>
                                      </p:cBhvr>
                                      <p:to>
                                        <p:strVal val="visible"/>
                                      </p:to>
                                    </p:set>
                                    <p:animEffect transition="in" filter="slide(fromLeft)">
                                      <p:cBhvr>
                                        <p:cTn id="81" dur="500"/>
                                        <p:tgtEl>
                                          <p:spTgt spid="6051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2" presetClass="entr" presetSubtype="8" fill="hold" nodeType="clickEffect">
                                  <p:stCondLst>
                                    <p:cond delay="0"/>
                                  </p:stCondLst>
                                  <p:childTnLst>
                                    <p:set>
                                      <p:cBhvr>
                                        <p:cTn id="85" dur="1" fill="hold">
                                          <p:stCondLst>
                                            <p:cond delay="0"/>
                                          </p:stCondLst>
                                        </p:cTn>
                                        <p:tgtEl>
                                          <p:spTgt spid="60534"/>
                                        </p:tgtEl>
                                        <p:attrNameLst>
                                          <p:attrName>style.visibility</p:attrName>
                                        </p:attrNameLst>
                                      </p:cBhvr>
                                      <p:to>
                                        <p:strVal val="visible"/>
                                      </p:to>
                                    </p:set>
                                    <p:animEffect transition="in" filter="slide(fromLeft)">
                                      <p:cBhvr>
                                        <p:cTn id="86" dur="500"/>
                                        <p:tgtEl>
                                          <p:spTgt spid="60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autoUpdateAnimBg="0"/>
      <p:bldP spid="60521" grpId="0" autoUpdateAnimBg="0"/>
      <p:bldP spid="60525" grpId="0" autoUpdateAnimBg="0"/>
      <p:bldP spid="9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524" name="Object 84"/>
          <p:cNvGraphicFramePr>
            <a:graphicFrameLocks noChangeAspect="1"/>
          </p:cNvGraphicFramePr>
          <p:nvPr/>
        </p:nvGraphicFramePr>
        <p:xfrm>
          <a:off x="628650" y="3808413"/>
          <a:ext cx="2913063" cy="501650"/>
        </p:xfrm>
        <a:graphic>
          <a:graphicData uri="http://schemas.openxmlformats.org/presentationml/2006/ole">
            <mc:AlternateContent xmlns:mc="http://schemas.openxmlformats.org/markup-compatibility/2006">
              <mc:Choice xmlns:v="urn:schemas-microsoft-com:vml" Requires="v">
                <p:oleObj spid="_x0000_s61803" name="Equation" r:id="rId3" imgW="1396800" imgH="241200" progId="Equation.3">
                  <p:embed/>
                </p:oleObj>
              </mc:Choice>
              <mc:Fallback>
                <p:oleObj name="Equation" r:id="rId3" imgW="1396800" imgH="241200" progId="Equation.3">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3808413"/>
                        <a:ext cx="291306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25" name="Object 85"/>
          <p:cNvGraphicFramePr>
            <a:graphicFrameLocks noChangeAspect="1"/>
          </p:cNvGraphicFramePr>
          <p:nvPr/>
        </p:nvGraphicFramePr>
        <p:xfrm>
          <a:off x="615950" y="4460875"/>
          <a:ext cx="2940050" cy="501650"/>
        </p:xfrm>
        <a:graphic>
          <a:graphicData uri="http://schemas.openxmlformats.org/presentationml/2006/ole">
            <mc:AlternateContent xmlns:mc="http://schemas.openxmlformats.org/markup-compatibility/2006">
              <mc:Choice xmlns:v="urn:schemas-microsoft-com:vml" Requires="v">
                <p:oleObj spid="_x0000_s61804" name="Equation" r:id="rId5" imgW="1409400" imgH="241200" progId="Equation.3">
                  <p:embed/>
                </p:oleObj>
              </mc:Choice>
              <mc:Fallback>
                <p:oleObj name="Equation" r:id="rId5" imgW="1409400" imgH="241200" progId="Equation.3">
                  <p:embed/>
                  <p:pic>
                    <p:nvPicPr>
                      <p:cNvPr id="0" name="Object 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950" y="4460875"/>
                        <a:ext cx="29400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26" name="Object 86"/>
          <p:cNvGraphicFramePr>
            <a:graphicFrameLocks noChangeAspect="1"/>
          </p:cNvGraphicFramePr>
          <p:nvPr/>
        </p:nvGraphicFramePr>
        <p:xfrm>
          <a:off x="520700" y="5119688"/>
          <a:ext cx="1404938" cy="477837"/>
        </p:xfrm>
        <a:graphic>
          <a:graphicData uri="http://schemas.openxmlformats.org/presentationml/2006/ole">
            <mc:AlternateContent xmlns:mc="http://schemas.openxmlformats.org/markup-compatibility/2006">
              <mc:Choice xmlns:v="urn:schemas-microsoft-com:vml" Requires="v">
                <p:oleObj spid="_x0000_s61805" name="Equation" r:id="rId7" imgW="672840" imgH="228600" progId="Equation.3">
                  <p:embed/>
                </p:oleObj>
              </mc:Choice>
              <mc:Fallback>
                <p:oleObj name="Equation" r:id="rId7" imgW="672840" imgH="228600" progId="Equation.3">
                  <p:embed/>
                  <p:pic>
                    <p:nvPicPr>
                      <p:cNvPr id="0" name="Object 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700" y="5119688"/>
                        <a:ext cx="1404938"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27" name="AutoShape 87"/>
          <p:cNvSpPr>
            <a:spLocks/>
          </p:cNvSpPr>
          <p:nvPr/>
        </p:nvSpPr>
        <p:spPr bwMode="auto">
          <a:xfrm>
            <a:off x="342900" y="3924300"/>
            <a:ext cx="138113" cy="1612900"/>
          </a:xfrm>
          <a:prstGeom prst="leftBrace">
            <a:avLst>
              <a:gd name="adj1" fmla="val 97318"/>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28" name="AutoShape 88"/>
          <p:cNvSpPr>
            <a:spLocks noChangeArrowheads="1"/>
          </p:cNvSpPr>
          <p:nvPr/>
        </p:nvSpPr>
        <p:spPr bwMode="auto">
          <a:xfrm>
            <a:off x="3941763" y="4576763"/>
            <a:ext cx="706437" cy="268287"/>
          </a:xfrm>
          <a:prstGeom prst="rightArrow">
            <a:avLst>
              <a:gd name="adj1" fmla="val 50000"/>
              <a:gd name="adj2" fmla="val 65828"/>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29" name="Text Box 89"/>
          <p:cNvSpPr txBox="1">
            <a:spLocks noChangeArrowheads="1"/>
          </p:cNvSpPr>
          <p:nvPr/>
        </p:nvSpPr>
        <p:spPr bwMode="auto">
          <a:xfrm>
            <a:off x="3770313" y="4019550"/>
            <a:ext cx="1400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整理得</a:t>
            </a:r>
          </a:p>
        </p:txBody>
      </p:sp>
      <p:graphicFrame>
        <p:nvGraphicFramePr>
          <p:cNvPr id="61530" name="Object 90"/>
          <p:cNvGraphicFramePr>
            <a:graphicFrameLocks noChangeAspect="1"/>
          </p:cNvGraphicFramePr>
          <p:nvPr/>
        </p:nvGraphicFramePr>
        <p:xfrm>
          <a:off x="5141913" y="3914775"/>
          <a:ext cx="3709987" cy="501650"/>
        </p:xfrm>
        <a:graphic>
          <a:graphicData uri="http://schemas.openxmlformats.org/presentationml/2006/ole">
            <mc:AlternateContent xmlns:mc="http://schemas.openxmlformats.org/markup-compatibility/2006">
              <mc:Choice xmlns:v="urn:schemas-microsoft-com:vml" Requires="v">
                <p:oleObj spid="_x0000_s61806" name="Equation" r:id="rId9" imgW="1777680" imgH="241200" progId="Equation.3">
                  <p:embed/>
                </p:oleObj>
              </mc:Choice>
              <mc:Fallback>
                <p:oleObj name="Equation" r:id="rId9" imgW="1777680" imgH="241200" progId="Equation.3">
                  <p:embed/>
                  <p:pic>
                    <p:nvPicPr>
                      <p:cNvPr id="0" name="Object 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1913" y="3914775"/>
                        <a:ext cx="370998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31" name="Object 91"/>
          <p:cNvGraphicFramePr>
            <a:graphicFrameLocks noChangeAspect="1"/>
          </p:cNvGraphicFramePr>
          <p:nvPr/>
        </p:nvGraphicFramePr>
        <p:xfrm>
          <a:off x="5097463" y="4479925"/>
          <a:ext cx="3762375" cy="500063"/>
        </p:xfrm>
        <a:graphic>
          <a:graphicData uri="http://schemas.openxmlformats.org/presentationml/2006/ole">
            <mc:AlternateContent xmlns:mc="http://schemas.openxmlformats.org/markup-compatibility/2006">
              <mc:Choice xmlns:v="urn:schemas-microsoft-com:vml" Requires="v">
                <p:oleObj spid="_x0000_s61807" name="Equation" r:id="rId11" imgW="1803240" imgH="241200" progId="Equation.3">
                  <p:embed/>
                </p:oleObj>
              </mc:Choice>
              <mc:Fallback>
                <p:oleObj name="Equation" r:id="rId11" imgW="1803240" imgH="241200" progId="Equation.3">
                  <p:embed/>
                  <p:pic>
                    <p:nvPicPr>
                      <p:cNvPr id="0" name="Object 9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97463" y="4479925"/>
                        <a:ext cx="376237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32" name="AutoShape 92"/>
          <p:cNvSpPr>
            <a:spLocks/>
          </p:cNvSpPr>
          <p:nvPr/>
        </p:nvSpPr>
        <p:spPr bwMode="auto">
          <a:xfrm>
            <a:off x="4762500" y="4033838"/>
            <a:ext cx="220663" cy="1381125"/>
          </a:xfrm>
          <a:prstGeom prst="leftBrace">
            <a:avLst>
              <a:gd name="adj1" fmla="val 52158"/>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3" name="Text Box 93"/>
          <p:cNvSpPr txBox="1">
            <a:spLocks noChangeArrowheads="1"/>
          </p:cNvSpPr>
          <p:nvPr/>
        </p:nvSpPr>
        <p:spPr bwMode="auto">
          <a:xfrm>
            <a:off x="552450" y="642938"/>
            <a:ext cx="5192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a:t>
            </a:r>
            <a:r>
              <a:rPr lang="en-US" altLang="zh-CN" b="1"/>
              <a:t>b</a:t>
            </a:r>
            <a:r>
              <a:rPr lang="zh-CN" altLang="en-US" b="1"/>
              <a:t>）两个线圈的</a:t>
            </a:r>
            <a:r>
              <a:rPr lang="zh-CN" altLang="zh-CN" b="1"/>
              <a:t>异名端接在</a:t>
            </a:r>
            <a:r>
              <a:rPr lang="zh-CN" altLang="en-US" b="1"/>
              <a:t>公共端</a:t>
            </a:r>
          </a:p>
        </p:txBody>
      </p:sp>
      <p:grpSp>
        <p:nvGrpSpPr>
          <p:cNvPr id="61617" name="Group 177"/>
          <p:cNvGrpSpPr>
            <a:grpSpLocks/>
          </p:cNvGrpSpPr>
          <p:nvPr/>
        </p:nvGrpSpPr>
        <p:grpSpPr bwMode="auto">
          <a:xfrm>
            <a:off x="857250" y="1246188"/>
            <a:ext cx="2697163" cy="2378075"/>
            <a:chOff x="540" y="785"/>
            <a:chExt cx="1699" cy="1498"/>
          </a:xfrm>
        </p:grpSpPr>
        <p:sp>
          <p:nvSpPr>
            <p:cNvPr id="61538" name="Line 98"/>
            <p:cNvSpPr>
              <a:spLocks noChangeShapeType="1"/>
            </p:cNvSpPr>
            <p:nvPr/>
          </p:nvSpPr>
          <p:spPr bwMode="auto">
            <a:xfrm flipH="1">
              <a:off x="1204" y="1549"/>
              <a:ext cx="0" cy="1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9" name="Line 99"/>
            <p:cNvSpPr>
              <a:spLocks noChangeShapeType="1"/>
            </p:cNvSpPr>
            <p:nvPr/>
          </p:nvSpPr>
          <p:spPr bwMode="auto">
            <a:xfrm>
              <a:off x="1210" y="1134"/>
              <a:ext cx="0" cy="1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0" name="Line 100"/>
            <p:cNvSpPr>
              <a:spLocks noChangeShapeType="1"/>
            </p:cNvSpPr>
            <p:nvPr/>
          </p:nvSpPr>
          <p:spPr bwMode="auto">
            <a:xfrm flipH="1">
              <a:off x="1583" y="1537"/>
              <a:ext cx="4" cy="1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1" name="Line 101"/>
            <p:cNvSpPr>
              <a:spLocks noChangeShapeType="1"/>
            </p:cNvSpPr>
            <p:nvPr/>
          </p:nvSpPr>
          <p:spPr bwMode="auto">
            <a:xfrm>
              <a:off x="1583" y="1134"/>
              <a:ext cx="4" cy="1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2" name="Line 102"/>
            <p:cNvSpPr>
              <a:spLocks noChangeShapeType="1"/>
            </p:cNvSpPr>
            <p:nvPr/>
          </p:nvSpPr>
          <p:spPr bwMode="auto">
            <a:xfrm>
              <a:off x="780" y="1134"/>
              <a:ext cx="426"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3" name="Line 103"/>
            <p:cNvSpPr>
              <a:spLocks noChangeShapeType="1"/>
            </p:cNvSpPr>
            <p:nvPr/>
          </p:nvSpPr>
          <p:spPr bwMode="auto">
            <a:xfrm>
              <a:off x="1202" y="1657"/>
              <a:ext cx="38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4" name="Line 104"/>
            <p:cNvSpPr>
              <a:spLocks noChangeShapeType="1"/>
            </p:cNvSpPr>
            <p:nvPr/>
          </p:nvSpPr>
          <p:spPr bwMode="auto">
            <a:xfrm>
              <a:off x="1478" y="1917"/>
              <a:ext cx="0" cy="24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5" name="Line 105"/>
            <p:cNvSpPr>
              <a:spLocks noChangeShapeType="1"/>
            </p:cNvSpPr>
            <p:nvPr/>
          </p:nvSpPr>
          <p:spPr bwMode="auto">
            <a:xfrm rot="5400000">
              <a:off x="1918" y="965"/>
              <a:ext cx="0" cy="22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6" name="Text Box 106"/>
            <p:cNvSpPr txBox="1">
              <a:spLocks noChangeArrowheads="1"/>
            </p:cNvSpPr>
            <p:nvPr/>
          </p:nvSpPr>
          <p:spPr bwMode="auto">
            <a:xfrm>
              <a:off x="1187" y="1082"/>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61547" name="Text Box 107"/>
            <p:cNvSpPr txBox="1">
              <a:spLocks noChangeArrowheads="1"/>
            </p:cNvSpPr>
            <p:nvPr/>
          </p:nvSpPr>
          <p:spPr bwMode="auto">
            <a:xfrm>
              <a:off x="1555" y="144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61548" name="Text Box 108"/>
            <p:cNvSpPr txBox="1">
              <a:spLocks noChangeArrowheads="1"/>
            </p:cNvSpPr>
            <p:nvPr/>
          </p:nvSpPr>
          <p:spPr bwMode="auto">
            <a:xfrm>
              <a:off x="812" y="1289"/>
              <a:ext cx="3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L</a:t>
              </a:r>
              <a:r>
                <a:rPr lang="en-US" altLang="zh-CN" sz="1800" b="1" baseline="-25000"/>
                <a:t>1</a:t>
              </a:r>
              <a:endParaRPr lang="en-US" altLang="zh-CN" sz="1800" b="1"/>
            </a:p>
          </p:txBody>
        </p:sp>
        <p:sp>
          <p:nvSpPr>
            <p:cNvPr id="61549" name="Line 109"/>
            <p:cNvSpPr>
              <a:spLocks noChangeShapeType="1"/>
            </p:cNvSpPr>
            <p:nvPr/>
          </p:nvSpPr>
          <p:spPr bwMode="auto">
            <a:xfrm>
              <a:off x="769" y="1078"/>
              <a:ext cx="212"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50" name="Group 110"/>
            <p:cNvGrpSpPr>
              <a:grpSpLocks/>
            </p:cNvGrpSpPr>
            <p:nvPr/>
          </p:nvGrpSpPr>
          <p:grpSpPr bwMode="auto">
            <a:xfrm rot="5400000">
              <a:off x="1479" y="1386"/>
              <a:ext cx="253" cy="45"/>
              <a:chOff x="1200" y="1584"/>
              <a:chExt cx="379" cy="45"/>
            </a:xfrm>
          </p:grpSpPr>
          <p:sp>
            <p:nvSpPr>
              <p:cNvPr id="61551" name="Arc 11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2" name="Arc 11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3" name="Arc 11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4" name="Arc 11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555" name="Oval 115"/>
            <p:cNvSpPr>
              <a:spLocks noChangeArrowheads="1"/>
            </p:cNvSpPr>
            <p:nvPr/>
          </p:nvSpPr>
          <p:spPr bwMode="auto">
            <a:xfrm>
              <a:off x="730" y="1117"/>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56" name="Group 116"/>
            <p:cNvGrpSpPr>
              <a:grpSpLocks/>
            </p:cNvGrpSpPr>
            <p:nvPr/>
          </p:nvGrpSpPr>
          <p:grpSpPr bwMode="auto">
            <a:xfrm rot="5400000">
              <a:off x="1104" y="1401"/>
              <a:ext cx="253" cy="44"/>
              <a:chOff x="1200" y="1584"/>
              <a:chExt cx="379" cy="45"/>
            </a:xfrm>
          </p:grpSpPr>
          <p:sp>
            <p:nvSpPr>
              <p:cNvPr id="61557" name="Arc 11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8" name="Arc 11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9" name="Arc 11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0" name="Arc 12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561" name="Arc 121"/>
            <p:cNvSpPr>
              <a:spLocks/>
            </p:cNvSpPr>
            <p:nvPr/>
          </p:nvSpPr>
          <p:spPr bwMode="auto">
            <a:xfrm rot="10800000" flipV="1">
              <a:off x="1206" y="1000"/>
              <a:ext cx="153" cy="137"/>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2" name="Arc 122"/>
            <p:cNvSpPr>
              <a:spLocks/>
            </p:cNvSpPr>
            <p:nvPr/>
          </p:nvSpPr>
          <p:spPr bwMode="auto">
            <a:xfrm rot="-10800000" flipH="1" flipV="1">
              <a:off x="1436" y="1002"/>
              <a:ext cx="154" cy="137"/>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3" name="Oval 123"/>
            <p:cNvSpPr>
              <a:spLocks noChangeArrowheads="1"/>
            </p:cNvSpPr>
            <p:nvPr/>
          </p:nvSpPr>
          <p:spPr bwMode="auto">
            <a:xfrm>
              <a:off x="2013" y="111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564" name="Object 124"/>
            <p:cNvGraphicFramePr>
              <a:graphicFrameLocks noChangeAspect="1"/>
            </p:cNvGraphicFramePr>
            <p:nvPr/>
          </p:nvGraphicFramePr>
          <p:xfrm>
            <a:off x="1508" y="1931"/>
            <a:ext cx="168" cy="218"/>
          </p:xfrm>
          <a:graphic>
            <a:graphicData uri="http://schemas.openxmlformats.org/presentationml/2006/ole">
              <mc:AlternateContent xmlns:mc="http://schemas.openxmlformats.org/markup-compatibility/2006">
                <mc:Choice xmlns:v="urn:schemas-microsoft-com:vml" Requires="v">
                  <p:oleObj spid="_x0000_s61808" name="Equation" r:id="rId13" imgW="126720" imgH="190440" progId="Equation.3">
                    <p:embed/>
                  </p:oleObj>
                </mc:Choice>
                <mc:Fallback>
                  <p:oleObj name="Equation" r:id="rId13" imgW="126720" imgH="190440" progId="Equation.3">
                    <p:embed/>
                    <p:pic>
                      <p:nvPicPr>
                        <p:cNvPr id="0" name="Object 1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8" y="1931"/>
                          <a:ext cx="168"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65" name="Line 125"/>
            <p:cNvSpPr>
              <a:spLocks noChangeShapeType="1"/>
            </p:cNvSpPr>
            <p:nvPr/>
          </p:nvSpPr>
          <p:spPr bwMode="auto">
            <a:xfrm>
              <a:off x="1582" y="1134"/>
              <a:ext cx="43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6" name="Line 126"/>
            <p:cNvSpPr>
              <a:spLocks noChangeShapeType="1"/>
            </p:cNvSpPr>
            <p:nvPr/>
          </p:nvSpPr>
          <p:spPr bwMode="auto">
            <a:xfrm>
              <a:off x="1397" y="1657"/>
              <a:ext cx="0" cy="5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7" name="Oval 127"/>
            <p:cNvSpPr>
              <a:spLocks noChangeArrowheads="1"/>
            </p:cNvSpPr>
            <p:nvPr/>
          </p:nvSpPr>
          <p:spPr bwMode="auto">
            <a:xfrm>
              <a:off x="1366" y="216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568" name="Object 128"/>
            <p:cNvGraphicFramePr>
              <a:graphicFrameLocks noChangeAspect="1"/>
            </p:cNvGraphicFramePr>
            <p:nvPr/>
          </p:nvGraphicFramePr>
          <p:xfrm>
            <a:off x="759" y="814"/>
            <a:ext cx="220" cy="261"/>
          </p:xfrm>
          <a:graphic>
            <a:graphicData uri="http://schemas.openxmlformats.org/presentationml/2006/ole">
              <mc:AlternateContent xmlns:mc="http://schemas.openxmlformats.org/markup-compatibility/2006">
                <mc:Choice xmlns:v="urn:schemas-microsoft-com:vml" Requires="v">
                  <p:oleObj spid="_x0000_s61809" name="Equation" r:id="rId15" imgW="164880" imgH="228600" progId="Equation.3">
                    <p:embed/>
                  </p:oleObj>
                </mc:Choice>
                <mc:Fallback>
                  <p:oleObj name="Equation" r:id="rId15" imgW="164880" imgH="228600" progId="Equation.3">
                    <p:embed/>
                    <p:pic>
                      <p:nvPicPr>
                        <p:cNvPr id="0" name="Object 1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9" y="814"/>
                          <a:ext cx="22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69" name="Object 129"/>
            <p:cNvGraphicFramePr>
              <a:graphicFrameLocks noChangeAspect="1"/>
            </p:cNvGraphicFramePr>
            <p:nvPr/>
          </p:nvGraphicFramePr>
          <p:xfrm>
            <a:off x="1879" y="830"/>
            <a:ext cx="238" cy="259"/>
          </p:xfrm>
          <a:graphic>
            <a:graphicData uri="http://schemas.openxmlformats.org/presentationml/2006/ole">
              <mc:AlternateContent xmlns:mc="http://schemas.openxmlformats.org/markup-compatibility/2006">
                <mc:Choice xmlns:v="urn:schemas-microsoft-com:vml" Requires="v">
                  <p:oleObj spid="_x0000_s61810" name="Equation" r:id="rId17" imgW="177480" imgH="228600" progId="Equation.3">
                    <p:embed/>
                  </p:oleObj>
                </mc:Choice>
                <mc:Fallback>
                  <p:oleObj name="Equation" r:id="rId17" imgW="177480" imgH="228600" progId="Equation.3">
                    <p:embed/>
                    <p:pic>
                      <p:nvPicPr>
                        <p:cNvPr id="0" name="Object 1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79" y="830"/>
                          <a:ext cx="23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70" name="Text Box 130"/>
            <p:cNvSpPr txBox="1">
              <a:spLocks noChangeArrowheads="1"/>
            </p:cNvSpPr>
            <p:nvPr/>
          </p:nvSpPr>
          <p:spPr bwMode="auto">
            <a:xfrm>
              <a:off x="540" y="1007"/>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1</a:t>
              </a:r>
            </a:p>
          </p:txBody>
        </p:sp>
        <p:sp>
          <p:nvSpPr>
            <p:cNvPr id="61571" name="Text Box 131"/>
            <p:cNvSpPr txBox="1">
              <a:spLocks noChangeArrowheads="1"/>
            </p:cNvSpPr>
            <p:nvPr/>
          </p:nvSpPr>
          <p:spPr bwMode="auto">
            <a:xfrm>
              <a:off x="2065" y="1025"/>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2</a:t>
              </a:r>
            </a:p>
          </p:txBody>
        </p:sp>
        <p:sp>
          <p:nvSpPr>
            <p:cNvPr id="61572" name="Text Box 132"/>
            <p:cNvSpPr txBox="1">
              <a:spLocks noChangeArrowheads="1"/>
            </p:cNvSpPr>
            <p:nvPr/>
          </p:nvSpPr>
          <p:spPr bwMode="auto">
            <a:xfrm>
              <a:off x="1184" y="2052"/>
              <a:ext cx="1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3</a:t>
              </a:r>
            </a:p>
          </p:txBody>
        </p:sp>
        <p:sp>
          <p:nvSpPr>
            <p:cNvPr id="61573" name="Text Box 133"/>
            <p:cNvSpPr txBox="1">
              <a:spLocks noChangeArrowheads="1"/>
            </p:cNvSpPr>
            <p:nvPr/>
          </p:nvSpPr>
          <p:spPr bwMode="auto">
            <a:xfrm>
              <a:off x="1638" y="1289"/>
              <a:ext cx="4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L</a:t>
              </a:r>
              <a:r>
                <a:rPr lang="en-US" altLang="zh-CN" sz="1800" b="1" baseline="-25000"/>
                <a:t>2</a:t>
              </a:r>
              <a:endParaRPr lang="en-US" altLang="zh-CN" sz="1800" b="1"/>
            </a:p>
          </p:txBody>
        </p:sp>
        <p:sp>
          <p:nvSpPr>
            <p:cNvPr id="61574" name="Text Box 134"/>
            <p:cNvSpPr txBox="1">
              <a:spLocks noChangeArrowheads="1"/>
            </p:cNvSpPr>
            <p:nvPr/>
          </p:nvSpPr>
          <p:spPr bwMode="auto">
            <a:xfrm>
              <a:off x="1192" y="785"/>
              <a:ext cx="3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i="1"/>
                <a:t>M</a:t>
              </a:r>
              <a:endParaRPr lang="en-US" altLang="zh-CN" sz="1800" b="1"/>
            </a:p>
          </p:txBody>
        </p:sp>
      </p:grpSp>
      <p:sp>
        <p:nvSpPr>
          <p:cNvPr id="61575" name="AutoShape 135"/>
          <p:cNvSpPr>
            <a:spLocks noChangeArrowheads="1"/>
          </p:cNvSpPr>
          <p:nvPr/>
        </p:nvSpPr>
        <p:spPr bwMode="auto">
          <a:xfrm>
            <a:off x="4017963" y="2222500"/>
            <a:ext cx="706437" cy="268288"/>
          </a:xfrm>
          <a:prstGeom prst="rightArrow">
            <a:avLst>
              <a:gd name="adj1" fmla="val 50000"/>
              <a:gd name="adj2" fmla="val 65828"/>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77" name="Group 137"/>
          <p:cNvGrpSpPr>
            <a:grpSpLocks/>
          </p:cNvGrpSpPr>
          <p:nvPr/>
        </p:nvGrpSpPr>
        <p:grpSpPr bwMode="auto">
          <a:xfrm>
            <a:off x="5064125" y="1195388"/>
            <a:ext cx="3079750" cy="2443162"/>
            <a:chOff x="3214" y="1128"/>
            <a:chExt cx="1940" cy="1539"/>
          </a:xfrm>
        </p:grpSpPr>
        <p:sp>
          <p:nvSpPr>
            <p:cNvPr id="61578" name="Line 138"/>
            <p:cNvSpPr>
              <a:spLocks noChangeShapeType="1"/>
            </p:cNvSpPr>
            <p:nvPr/>
          </p:nvSpPr>
          <p:spPr bwMode="auto">
            <a:xfrm>
              <a:off x="3911" y="1896"/>
              <a:ext cx="2" cy="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79" name="Line 139"/>
            <p:cNvSpPr>
              <a:spLocks noChangeShapeType="1"/>
            </p:cNvSpPr>
            <p:nvPr/>
          </p:nvSpPr>
          <p:spPr bwMode="auto">
            <a:xfrm flipH="1">
              <a:off x="3919" y="1460"/>
              <a:ext cx="0" cy="1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0" name="Line 140"/>
            <p:cNvSpPr>
              <a:spLocks noChangeShapeType="1"/>
            </p:cNvSpPr>
            <p:nvPr/>
          </p:nvSpPr>
          <p:spPr bwMode="auto">
            <a:xfrm flipH="1">
              <a:off x="4300" y="1884"/>
              <a:ext cx="4" cy="1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1" name="Line 141"/>
            <p:cNvSpPr>
              <a:spLocks noChangeShapeType="1"/>
            </p:cNvSpPr>
            <p:nvPr/>
          </p:nvSpPr>
          <p:spPr bwMode="auto">
            <a:xfrm>
              <a:off x="4300" y="1460"/>
              <a:ext cx="4" cy="15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2" name="Line 142"/>
            <p:cNvSpPr>
              <a:spLocks noChangeShapeType="1"/>
            </p:cNvSpPr>
            <p:nvPr/>
          </p:nvSpPr>
          <p:spPr bwMode="auto">
            <a:xfrm>
              <a:off x="3475" y="1460"/>
              <a:ext cx="43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3" name="Line 143"/>
            <p:cNvSpPr>
              <a:spLocks noChangeShapeType="1"/>
            </p:cNvSpPr>
            <p:nvPr/>
          </p:nvSpPr>
          <p:spPr bwMode="auto">
            <a:xfrm>
              <a:off x="3908" y="2009"/>
              <a:ext cx="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4" name="Line 144"/>
            <p:cNvSpPr>
              <a:spLocks noChangeShapeType="1"/>
            </p:cNvSpPr>
            <p:nvPr/>
          </p:nvSpPr>
          <p:spPr bwMode="auto">
            <a:xfrm>
              <a:off x="4192" y="2369"/>
              <a:ext cx="0" cy="202"/>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5" name="Line 145"/>
            <p:cNvSpPr>
              <a:spLocks noChangeShapeType="1"/>
            </p:cNvSpPr>
            <p:nvPr/>
          </p:nvSpPr>
          <p:spPr bwMode="auto">
            <a:xfrm rot="5400000">
              <a:off x="4643" y="1285"/>
              <a:ext cx="0" cy="232"/>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6" name="Text Box 146"/>
            <p:cNvSpPr txBox="1">
              <a:spLocks noChangeArrowheads="1"/>
            </p:cNvSpPr>
            <p:nvPr/>
          </p:nvSpPr>
          <p:spPr bwMode="auto">
            <a:xfrm>
              <a:off x="3214" y="1665"/>
              <a:ext cx="69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a:sym typeface="Symbol" panose="05050102010706020507" pitchFamily="18" charset="2"/>
                </a:rPr>
                <a:t>(</a:t>
              </a:r>
              <a:r>
                <a:rPr lang="en-US" altLang="zh-CN" sz="1800" b="1" i="1"/>
                <a:t>L</a:t>
              </a:r>
              <a:r>
                <a:rPr lang="en-US" altLang="zh-CN" sz="1800" b="1" baseline="-25000"/>
                <a:t>1</a:t>
              </a:r>
              <a:r>
                <a:rPr lang="en-US" altLang="zh-CN" sz="1800" b="1"/>
                <a:t>+</a:t>
              </a:r>
              <a:r>
                <a:rPr lang="en-US" altLang="zh-CN" sz="1800" b="1" i="1"/>
                <a:t>M</a:t>
              </a:r>
              <a:r>
                <a:rPr lang="en-US" altLang="zh-CN" sz="1800" b="1"/>
                <a:t>)</a:t>
              </a:r>
            </a:p>
          </p:txBody>
        </p:sp>
        <p:sp>
          <p:nvSpPr>
            <p:cNvPr id="61587" name="Line 147"/>
            <p:cNvSpPr>
              <a:spLocks noChangeShapeType="1"/>
            </p:cNvSpPr>
            <p:nvPr/>
          </p:nvSpPr>
          <p:spPr bwMode="auto">
            <a:xfrm>
              <a:off x="3464" y="1401"/>
              <a:ext cx="21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88" name="Group 148"/>
            <p:cNvGrpSpPr>
              <a:grpSpLocks/>
            </p:cNvGrpSpPr>
            <p:nvPr/>
          </p:nvGrpSpPr>
          <p:grpSpPr bwMode="auto">
            <a:xfrm rot="5400000">
              <a:off x="4189" y="1726"/>
              <a:ext cx="267" cy="46"/>
              <a:chOff x="1200" y="1584"/>
              <a:chExt cx="379" cy="45"/>
            </a:xfrm>
          </p:grpSpPr>
          <p:sp>
            <p:nvSpPr>
              <p:cNvPr id="61589" name="Arc 14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0" name="Arc 15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1" name="Arc 15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2" name="Arc 15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593" name="Oval 153"/>
            <p:cNvSpPr>
              <a:spLocks noChangeArrowheads="1"/>
            </p:cNvSpPr>
            <p:nvPr/>
          </p:nvSpPr>
          <p:spPr bwMode="auto">
            <a:xfrm>
              <a:off x="3437" y="144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594" name="Group 154"/>
            <p:cNvGrpSpPr>
              <a:grpSpLocks/>
            </p:cNvGrpSpPr>
            <p:nvPr/>
          </p:nvGrpSpPr>
          <p:grpSpPr bwMode="auto">
            <a:xfrm rot="5400000">
              <a:off x="3805" y="1734"/>
              <a:ext cx="266" cy="46"/>
              <a:chOff x="1200" y="1584"/>
              <a:chExt cx="379" cy="45"/>
            </a:xfrm>
          </p:grpSpPr>
          <p:sp>
            <p:nvSpPr>
              <p:cNvPr id="61595" name="Arc 15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6" name="Arc 15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7" name="Arc 15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8" name="Arc 15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599" name="Oval 159"/>
            <p:cNvSpPr>
              <a:spLocks noChangeArrowheads="1"/>
            </p:cNvSpPr>
            <p:nvPr/>
          </p:nvSpPr>
          <p:spPr bwMode="auto">
            <a:xfrm>
              <a:off x="4741" y="143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0" name="Line 160"/>
            <p:cNvSpPr>
              <a:spLocks noChangeShapeType="1"/>
            </p:cNvSpPr>
            <p:nvPr/>
          </p:nvSpPr>
          <p:spPr bwMode="auto">
            <a:xfrm>
              <a:off x="4299" y="1460"/>
              <a:ext cx="4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1" name="Line 161"/>
            <p:cNvSpPr>
              <a:spLocks noChangeShapeType="1"/>
            </p:cNvSpPr>
            <p:nvPr/>
          </p:nvSpPr>
          <p:spPr bwMode="auto">
            <a:xfrm>
              <a:off x="4109" y="2396"/>
              <a:ext cx="0" cy="1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2" name="Oval 162"/>
            <p:cNvSpPr>
              <a:spLocks noChangeArrowheads="1"/>
            </p:cNvSpPr>
            <p:nvPr/>
          </p:nvSpPr>
          <p:spPr bwMode="auto">
            <a:xfrm>
              <a:off x="4087" y="253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3" name="Text Box 163"/>
            <p:cNvSpPr txBox="1">
              <a:spLocks noChangeArrowheads="1"/>
            </p:cNvSpPr>
            <p:nvPr/>
          </p:nvSpPr>
          <p:spPr bwMode="auto">
            <a:xfrm>
              <a:off x="3223" y="1371"/>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1</a:t>
              </a:r>
            </a:p>
          </p:txBody>
        </p:sp>
        <p:sp>
          <p:nvSpPr>
            <p:cNvPr id="61604" name="Text Box 164"/>
            <p:cNvSpPr txBox="1">
              <a:spLocks noChangeArrowheads="1"/>
            </p:cNvSpPr>
            <p:nvPr/>
          </p:nvSpPr>
          <p:spPr bwMode="auto">
            <a:xfrm>
              <a:off x="4794" y="1329"/>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2</a:t>
              </a:r>
            </a:p>
          </p:txBody>
        </p:sp>
        <p:sp>
          <p:nvSpPr>
            <p:cNvPr id="61605" name="Text Box 165"/>
            <p:cNvSpPr txBox="1">
              <a:spLocks noChangeArrowheads="1"/>
            </p:cNvSpPr>
            <p:nvPr/>
          </p:nvSpPr>
          <p:spPr bwMode="auto">
            <a:xfrm>
              <a:off x="3896" y="2436"/>
              <a:ext cx="1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800" b="1"/>
                <a:t>3</a:t>
              </a:r>
            </a:p>
          </p:txBody>
        </p:sp>
        <p:sp>
          <p:nvSpPr>
            <p:cNvPr id="61606" name="Text Box 166"/>
            <p:cNvSpPr txBox="1">
              <a:spLocks noChangeArrowheads="1"/>
            </p:cNvSpPr>
            <p:nvPr/>
          </p:nvSpPr>
          <p:spPr bwMode="auto">
            <a:xfrm>
              <a:off x="4363" y="1649"/>
              <a:ext cx="7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t>j</a:t>
              </a:r>
              <a:r>
                <a:rPr lang="en-US" altLang="zh-CN" sz="1800" b="1" i="1">
                  <a:sym typeface="Symbol" panose="05050102010706020507" pitchFamily="18" charset="2"/>
                </a:rPr>
                <a:t></a:t>
              </a:r>
              <a:r>
                <a:rPr lang="en-US" altLang="zh-CN" sz="1800" b="1">
                  <a:sym typeface="Symbol" panose="05050102010706020507" pitchFamily="18" charset="2"/>
                </a:rPr>
                <a:t>(</a:t>
              </a:r>
              <a:r>
                <a:rPr lang="en-US" altLang="zh-CN" sz="1800" b="1" i="1"/>
                <a:t>L</a:t>
              </a:r>
              <a:r>
                <a:rPr lang="en-US" altLang="zh-CN" sz="1800" b="1" baseline="-25000"/>
                <a:t>2</a:t>
              </a:r>
              <a:r>
                <a:rPr lang="en-US" altLang="zh-CN" sz="1800" b="1"/>
                <a:t>+</a:t>
              </a:r>
              <a:r>
                <a:rPr lang="en-US" altLang="zh-CN" sz="1800" b="1" i="1"/>
                <a:t>M</a:t>
              </a:r>
              <a:r>
                <a:rPr lang="en-US" altLang="zh-CN" sz="1800" b="1"/>
                <a:t>)</a:t>
              </a:r>
            </a:p>
          </p:txBody>
        </p:sp>
        <p:sp>
          <p:nvSpPr>
            <p:cNvPr id="61607" name="Text Box 167"/>
            <p:cNvSpPr txBox="1">
              <a:spLocks noChangeArrowheads="1"/>
            </p:cNvSpPr>
            <p:nvPr/>
          </p:nvSpPr>
          <p:spPr bwMode="auto">
            <a:xfrm>
              <a:off x="4145" y="2114"/>
              <a:ext cx="52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b="1">
                  <a:latin typeface="宋体" panose="02010600030101010101" pitchFamily="2" charset="-122"/>
                </a:rPr>
                <a:t>-</a:t>
              </a:r>
              <a:r>
                <a:rPr lang="en-US" altLang="zh-CN" sz="1800" b="1"/>
                <a:t>j</a:t>
              </a:r>
              <a:r>
                <a:rPr lang="en-US" altLang="zh-CN" sz="1800" b="1" i="1">
                  <a:sym typeface="Symbol" panose="05050102010706020507" pitchFamily="18" charset="2"/>
                </a:rPr>
                <a:t></a:t>
              </a:r>
              <a:r>
                <a:rPr lang="en-US" altLang="zh-CN" sz="1800" b="1" i="1"/>
                <a:t>M</a:t>
              </a:r>
              <a:endParaRPr lang="en-US" altLang="zh-CN" sz="1800" b="1"/>
            </a:p>
          </p:txBody>
        </p:sp>
        <p:grpSp>
          <p:nvGrpSpPr>
            <p:cNvPr id="61608" name="Group 168"/>
            <p:cNvGrpSpPr>
              <a:grpSpLocks/>
            </p:cNvGrpSpPr>
            <p:nvPr/>
          </p:nvGrpSpPr>
          <p:grpSpPr bwMode="auto">
            <a:xfrm rot="5400000">
              <a:off x="3994" y="2240"/>
              <a:ext cx="266" cy="46"/>
              <a:chOff x="1200" y="1584"/>
              <a:chExt cx="379" cy="45"/>
            </a:xfrm>
          </p:grpSpPr>
          <p:sp>
            <p:nvSpPr>
              <p:cNvPr id="61609" name="Arc 16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0" name="Arc 17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1" name="Arc 17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2" name="Arc 17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613" name="Line 173"/>
            <p:cNvSpPr>
              <a:spLocks noChangeShapeType="1"/>
            </p:cNvSpPr>
            <p:nvPr/>
          </p:nvSpPr>
          <p:spPr bwMode="auto">
            <a:xfrm>
              <a:off x="4103" y="2009"/>
              <a:ext cx="0" cy="1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614" name="Object 174"/>
            <p:cNvGraphicFramePr>
              <a:graphicFrameLocks noChangeAspect="1"/>
            </p:cNvGraphicFramePr>
            <p:nvPr/>
          </p:nvGraphicFramePr>
          <p:xfrm>
            <a:off x="3473" y="1128"/>
            <a:ext cx="220" cy="261"/>
          </p:xfrm>
          <a:graphic>
            <a:graphicData uri="http://schemas.openxmlformats.org/presentationml/2006/ole">
              <mc:AlternateContent xmlns:mc="http://schemas.openxmlformats.org/markup-compatibility/2006">
                <mc:Choice xmlns:v="urn:schemas-microsoft-com:vml" Requires="v">
                  <p:oleObj spid="_x0000_s61811" name="Equation" r:id="rId19" imgW="164880" imgH="228600" progId="Equation.3">
                    <p:embed/>
                  </p:oleObj>
                </mc:Choice>
                <mc:Fallback>
                  <p:oleObj name="Equation" r:id="rId19" imgW="164880" imgH="228600" progId="Equation.3">
                    <p:embed/>
                    <p:pic>
                      <p:nvPicPr>
                        <p:cNvPr id="0" name="Object 17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73" y="1128"/>
                          <a:ext cx="22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15" name="Object 175"/>
            <p:cNvGraphicFramePr>
              <a:graphicFrameLocks noChangeAspect="1"/>
            </p:cNvGraphicFramePr>
            <p:nvPr/>
          </p:nvGraphicFramePr>
          <p:xfrm>
            <a:off x="4584" y="1148"/>
            <a:ext cx="238" cy="259"/>
          </p:xfrm>
          <a:graphic>
            <a:graphicData uri="http://schemas.openxmlformats.org/presentationml/2006/ole">
              <mc:AlternateContent xmlns:mc="http://schemas.openxmlformats.org/markup-compatibility/2006">
                <mc:Choice xmlns:v="urn:schemas-microsoft-com:vml" Requires="v">
                  <p:oleObj spid="_x0000_s61812" name="Equation" r:id="rId21" imgW="177480" imgH="228600" progId="Equation.3">
                    <p:embed/>
                  </p:oleObj>
                </mc:Choice>
                <mc:Fallback>
                  <p:oleObj name="Equation" r:id="rId21" imgW="177480" imgH="228600" progId="Equation.3">
                    <p:embed/>
                    <p:pic>
                      <p:nvPicPr>
                        <p:cNvPr id="0" name="Object 17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84" y="1148"/>
                          <a:ext cx="23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16" name="Object 176"/>
            <p:cNvGraphicFramePr>
              <a:graphicFrameLocks noChangeAspect="1"/>
            </p:cNvGraphicFramePr>
            <p:nvPr/>
          </p:nvGraphicFramePr>
          <p:xfrm>
            <a:off x="4220" y="2353"/>
            <a:ext cx="168" cy="218"/>
          </p:xfrm>
          <a:graphic>
            <a:graphicData uri="http://schemas.openxmlformats.org/presentationml/2006/ole">
              <mc:AlternateContent xmlns:mc="http://schemas.openxmlformats.org/markup-compatibility/2006">
                <mc:Choice xmlns:v="urn:schemas-microsoft-com:vml" Requires="v">
                  <p:oleObj spid="_x0000_s61813" name="Equation" r:id="rId23" imgW="126720" imgH="190440" progId="Equation.3">
                    <p:embed/>
                  </p:oleObj>
                </mc:Choice>
                <mc:Fallback>
                  <p:oleObj name="Equation" r:id="rId23" imgW="126720" imgH="190440" progId="Equation.3">
                    <p:embed/>
                    <p:pic>
                      <p:nvPicPr>
                        <p:cNvPr id="0" name="Object 17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20" y="2353"/>
                          <a:ext cx="168"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620" name="Object 180"/>
          <p:cNvGraphicFramePr>
            <a:graphicFrameLocks noChangeAspect="1"/>
          </p:cNvGraphicFramePr>
          <p:nvPr/>
        </p:nvGraphicFramePr>
        <p:xfrm>
          <a:off x="5130800" y="4979988"/>
          <a:ext cx="1404938" cy="477837"/>
        </p:xfrm>
        <a:graphic>
          <a:graphicData uri="http://schemas.openxmlformats.org/presentationml/2006/ole">
            <mc:AlternateContent xmlns:mc="http://schemas.openxmlformats.org/markup-compatibility/2006">
              <mc:Choice xmlns:v="urn:schemas-microsoft-com:vml" Requires="v">
                <p:oleObj spid="_x0000_s61814" name="Equation" r:id="rId25" imgW="672840" imgH="228600" progId="Equation.3">
                  <p:embed/>
                </p:oleObj>
              </mc:Choice>
              <mc:Fallback>
                <p:oleObj name="Equation" r:id="rId25" imgW="672840" imgH="228600" progId="Equation.3">
                  <p:embed/>
                  <p:pic>
                    <p:nvPicPr>
                      <p:cNvPr id="0" name="Object 1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0800" y="4979988"/>
                        <a:ext cx="1404938"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1533"/>
                                        </p:tgtEl>
                                        <p:attrNameLst>
                                          <p:attrName>style.visibility</p:attrName>
                                        </p:attrNameLst>
                                      </p:cBhvr>
                                      <p:to>
                                        <p:strVal val="visible"/>
                                      </p:to>
                                    </p:set>
                                    <p:anim calcmode="lin" valueType="num">
                                      <p:cBhvr additive="base">
                                        <p:cTn id="7" dur="500" fill="hold"/>
                                        <p:tgtEl>
                                          <p:spTgt spid="61533"/>
                                        </p:tgtEl>
                                        <p:attrNameLst>
                                          <p:attrName>ppt_x</p:attrName>
                                        </p:attrNameLst>
                                      </p:cBhvr>
                                      <p:tavLst>
                                        <p:tav tm="0">
                                          <p:val>
                                            <p:strVal val="#ppt_x"/>
                                          </p:val>
                                        </p:tav>
                                        <p:tav tm="100000">
                                          <p:val>
                                            <p:strVal val="#ppt_x"/>
                                          </p:val>
                                        </p:tav>
                                      </p:tavLst>
                                    </p:anim>
                                    <p:anim calcmode="lin" valueType="num">
                                      <p:cBhvr additive="base">
                                        <p:cTn id="8" dur="500" fill="hold"/>
                                        <p:tgtEl>
                                          <p:spTgt spid="6153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61617"/>
                                        </p:tgtEl>
                                        <p:attrNameLst>
                                          <p:attrName>style.visibility</p:attrName>
                                        </p:attrNameLst>
                                      </p:cBhvr>
                                      <p:to>
                                        <p:strVal val="visible"/>
                                      </p:to>
                                    </p:set>
                                    <p:anim calcmode="lin" valueType="num">
                                      <p:cBhvr>
                                        <p:cTn id="13" dur="500" fill="hold"/>
                                        <p:tgtEl>
                                          <p:spTgt spid="61617"/>
                                        </p:tgtEl>
                                        <p:attrNameLst>
                                          <p:attrName>ppt_w</p:attrName>
                                        </p:attrNameLst>
                                      </p:cBhvr>
                                      <p:tavLst>
                                        <p:tav tm="0">
                                          <p:val>
                                            <p:fltVal val="0"/>
                                          </p:val>
                                        </p:tav>
                                        <p:tav tm="100000">
                                          <p:val>
                                            <p:strVal val="#ppt_w"/>
                                          </p:val>
                                        </p:tav>
                                      </p:tavLst>
                                    </p:anim>
                                    <p:anim calcmode="lin" valueType="num">
                                      <p:cBhvr>
                                        <p:cTn id="14" dur="500" fill="hold"/>
                                        <p:tgtEl>
                                          <p:spTgt spid="61617"/>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1524"/>
                                        </p:tgtEl>
                                        <p:attrNameLst>
                                          <p:attrName>style.visibility</p:attrName>
                                        </p:attrNameLst>
                                      </p:cBhvr>
                                      <p:to>
                                        <p:strVal val="visible"/>
                                      </p:to>
                                    </p:set>
                                    <p:anim calcmode="lin" valueType="num">
                                      <p:cBhvr additive="base">
                                        <p:cTn id="19" dur="500" fill="hold"/>
                                        <p:tgtEl>
                                          <p:spTgt spid="61524"/>
                                        </p:tgtEl>
                                        <p:attrNameLst>
                                          <p:attrName>ppt_x</p:attrName>
                                        </p:attrNameLst>
                                      </p:cBhvr>
                                      <p:tavLst>
                                        <p:tav tm="0">
                                          <p:val>
                                            <p:strVal val="0-#ppt_w/2"/>
                                          </p:val>
                                        </p:tav>
                                        <p:tav tm="100000">
                                          <p:val>
                                            <p:strVal val="#ppt_x"/>
                                          </p:val>
                                        </p:tav>
                                      </p:tavLst>
                                    </p:anim>
                                    <p:anim calcmode="lin" valueType="num">
                                      <p:cBhvr additive="base">
                                        <p:cTn id="20" dur="500" fill="hold"/>
                                        <p:tgtEl>
                                          <p:spTgt spid="6152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61525"/>
                                        </p:tgtEl>
                                        <p:attrNameLst>
                                          <p:attrName>style.visibility</p:attrName>
                                        </p:attrNameLst>
                                      </p:cBhvr>
                                      <p:to>
                                        <p:strVal val="visible"/>
                                      </p:to>
                                    </p:set>
                                    <p:anim calcmode="lin" valueType="num">
                                      <p:cBhvr additive="base">
                                        <p:cTn id="25" dur="500" fill="hold"/>
                                        <p:tgtEl>
                                          <p:spTgt spid="61525"/>
                                        </p:tgtEl>
                                        <p:attrNameLst>
                                          <p:attrName>ppt_x</p:attrName>
                                        </p:attrNameLst>
                                      </p:cBhvr>
                                      <p:tavLst>
                                        <p:tav tm="0">
                                          <p:val>
                                            <p:strVal val="0-#ppt_w/2"/>
                                          </p:val>
                                        </p:tav>
                                        <p:tav tm="100000">
                                          <p:val>
                                            <p:strVal val="#ppt_x"/>
                                          </p:val>
                                        </p:tav>
                                      </p:tavLst>
                                    </p:anim>
                                    <p:anim calcmode="lin" valueType="num">
                                      <p:cBhvr additive="base">
                                        <p:cTn id="26" dur="500" fill="hold"/>
                                        <p:tgtEl>
                                          <p:spTgt spid="6152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61526"/>
                                        </p:tgtEl>
                                        <p:attrNameLst>
                                          <p:attrName>style.visibility</p:attrName>
                                        </p:attrNameLst>
                                      </p:cBhvr>
                                      <p:to>
                                        <p:strVal val="visible"/>
                                      </p:to>
                                    </p:set>
                                    <p:anim calcmode="lin" valueType="num">
                                      <p:cBhvr additive="base">
                                        <p:cTn id="31" dur="500" fill="hold"/>
                                        <p:tgtEl>
                                          <p:spTgt spid="61526"/>
                                        </p:tgtEl>
                                        <p:attrNameLst>
                                          <p:attrName>ppt_x</p:attrName>
                                        </p:attrNameLst>
                                      </p:cBhvr>
                                      <p:tavLst>
                                        <p:tav tm="0">
                                          <p:val>
                                            <p:strVal val="0-#ppt_w/2"/>
                                          </p:val>
                                        </p:tav>
                                        <p:tav tm="100000">
                                          <p:val>
                                            <p:strVal val="#ppt_x"/>
                                          </p:val>
                                        </p:tav>
                                      </p:tavLst>
                                    </p:anim>
                                    <p:anim calcmode="lin" valueType="num">
                                      <p:cBhvr additive="base">
                                        <p:cTn id="32" dur="500" fill="hold"/>
                                        <p:tgtEl>
                                          <p:spTgt spid="61526"/>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61527"/>
                                        </p:tgtEl>
                                        <p:attrNameLst>
                                          <p:attrName>style.visibility</p:attrName>
                                        </p:attrNameLst>
                                      </p:cBhvr>
                                      <p:to>
                                        <p:strVal val="visible"/>
                                      </p:to>
                                    </p:set>
                                  </p:childTnLst>
                                </p:cTn>
                              </p:par>
                            </p:childTnLst>
                          </p:cTn>
                        </p:par>
                        <p:par>
                          <p:cTn id="36" fill="hold" nodeType="afterGroup">
                            <p:stCondLst>
                              <p:cond delay="1000"/>
                            </p:stCondLst>
                            <p:childTnLst>
                              <p:par>
                                <p:cTn id="37" presetID="12" presetClass="entr" presetSubtype="8" fill="hold" nodeType="afterEffect">
                                  <p:stCondLst>
                                    <p:cond delay="0"/>
                                  </p:stCondLst>
                                  <p:childTnLst>
                                    <p:set>
                                      <p:cBhvr>
                                        <p:cTn id="38" dur="1" fill="hold">
                                          <p:stCondLst>
                                            <p:cond delay="0"/>
                                          </p:stCondLst>
                                        </p:cTn>
                                        <p:tgtEl>
                                          <p:spTgt spid="61528"/>
                                        </p:tgtEl>
                                        <p:attrNameLst>
                                          <p:attrName>style.visibility</p:attrName>
                                        </p:attrNameLst>
                                      </p:cBhvr>
                                      <p:to>
                                        <p:strVal val="visible"/>
                                      </p:to>
                                    </p:set>
                                    <p:animEffect transition="in" filter="slide(fromLeft)">
                                      <p:cBhvr>
                                        <p:cTn id="39" dur="500"/>
                                        <p:tgtEl>
                                          <p:spTgt spid="61528"/>
                                        </p:tgtEl>
                                      </p:cBhvr>
                                    </p:animEffect>
                                  </p:childTnLst>
                                </p:cTn>
                              </p:par>
                            </p:childTnLst>
                          </p:cTn>
                        </p:par>
                        <p:par>
                          <p:cTn id="40" fill="hold" nodeType="afterGroup">
                            <p:stCondLst>
                              <p:cond delay="1500"/>
                            </p:stCondLst>
                            <p:childTnLst>
                              <p:par>
                                <p:cTn id="41" presetID="12" presetClass="entr" presetSubtype="8" fill="hold" grpId="0" nodeType="afterEffect">
                                  <p:stCondLst>
                                    <p:cond delay="0"/>
                                  </p:stCondLst>
                                  <p:childTnLst>
                                    <p:set>
                                      <p:cBhvr>
                                        <p:cTn id="42" dur="1" fill="hold">
                                          <p:stCondLst>
                                            <p:cond delay="0"/>
                                          </p:stCondLst>
                                        </p:cTn>
                                        <p:tgtEl>
                                          <p:spTgt spid="61529"/>
                                        </p:tgtEl>
                                        <p:attrNameLst>
                                          <p:attrName>style.visibility</p:attrName>
                                        </p:attrNameLst>
                                      </p:cBhvr>
                                      <p:to>
                                        <p:strVal val="visible"/>
                                      </p:to>
                                    </p:set>
                                    <p:animEffect transition="in" filter="slide(fromLeft)">
                                      <p:cBhvr>
                                        <p:cTn id="43" dur="500"/>
                                        <p:tgtEl>
                                          <p:spTgt spid="6152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2" fill="hold" nodeType="clickEffect">
                                  <p:stCondLst>
                                    <p:cond delay="0"/>
                                  </p:stCondLst>
                                  <p:childTnLst>
                                    <p:set>
                                      <p:cBhvr>
                                        <p:cTn id="47" dur="1" fill="hold">
                                          <p:stCondLst>
                                            <p:cond delay="0"/>
                                          </p:stCondLst>
                                        </p:cTn>
                                        <p:tgtEl>
                                          <p:spTgt spid="61530"/>
                                        </p:tgtEl>
                                        <p:attrNameLst>
                                          <p:attrName>style.visibility</p:attrName>
                                        </p:attrNameLst>
                                      </p:cBhvr>
                                      <p:to>
                                        <p:strVal val="visible"/>
                                      </p:to>
                                    </p:set>
                                    <p:anim calcmode="lin" valueType="num">
                                      <p:cBhvr additive="base">
                                        <p:cTn id="48" dur="500" fill="hold"/>
                                        <p:tgtEl>
                                          <p:spTgt spid="61530"/>
                                        </p:tgtEl>
                                        <p:attrNameLst>
                                          <p:attrName>ppt_x</p:attrName>
                                        </p:attrNameLst>
                                      </p:cBhvr>
                                      <p:tavLst>
                                        <p:tav tm="0">
                                          <p:val>
                                            <p:strVal val="1+#ppt_w/2"/>
                                          </p:val>
                                        </p:tav>
                                        <p:tav tm="100000">
                                          <p:val>
                                            <p:strVal val="#ppt_x"/>
                                          </p:val>
                                        </p:tav>
                                      </p:tavLst>
                                    </p:anim>
                                    <p:anim calcmode="lin" valueType="num">
                                      <p:cBhvr additive="base">
                                        <p:cTn id="49" dur="500" fill="hold"/>
                                        <p:tgtEl>
                                          <p:spTgt spid="61530"/>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2" fill="hold" nodeType="clickEffect">
                                  <p:stCondLst>
                                    <p:cond delay="0"/>
                                  </p:stCondLst>
                                  <p:childTnLst>
                                    <p:set>
                                      <p:cBhvr>
                                        <p:cTn id="53" dur="1" fill="hold">
                                          <p:stCondLst>
                                            <p:cond delay="0"/>
                                          </p:stCondLst>
                                        </p:cTn>
                                        <p:tgtEl>
                                          <p:spTgt spid="61531"/>
                                        </p:tgtEl>
                                        <p:attrNameLst>
                                          <p:attrName>style.visibility</p:attrName>
                                        </p:attrNameLst>
                                      </p:cBhvr>
                                      <p:to>
                                        <p:strVal val="visible"/>
                                      </p:to>
                                    </p:set>
                                    <p:anim calcmode="lin" valueType="num">
                                      <p:cBhvr additive="base">
                                        <p:cTn id="54" dur="500" fill="hold"/>
                                        <p:tgtEl>
                                          <p:spTgt spid="61531"/>
                                        </p:tgtEl>
                                        <p:attrNameLst>
                                          <p:attrName>ppt_x</p:attrName>
                                        </p:attrNameLst>
                                      </p:cBhvr>
                                      <p:tavLst>
                                        <p:tav tm="0">
                                          <p:val>
                                            <p:strVal val="1+#ppt_w/2"/>
                                          </p:val>
                                        </p:tav>
                                        <p:tav tm="100000">
                                          <p:val>
                                            <p:strVal val="#ppt_x"/>
                                          </p:val>
                                        </p:tav>
                                      </p:tavLst>
                                    </p:anim>
                                    <p:anim calcmode="lin" valueType="num">
                                      <p:cBhvr additive="base">
                                        <p:cTn id="55" dur="500" fill="hold"/>
                                        <p:tgtEl>
                                          <p:spTgt spid="61531"/>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2" fill="hold" nodeType="clickEffect">
                                  <p:stCondLst>
                                    <p:cond delay="0"/>
                                  </p:stCondLst>
                                  <p:childTnLst>
                                    <p:set>
                                      <p:cBhvr>
                                        <p:cTn id="59" dur="1" fill="hold">
                                          <p:stCondLst>
                                            <p:cond delay="0"/>
                                          </p:stCondLst>
                                        </p:cTn>
                                        <p:tgtEl>
                                          <p:spTgt spid="61620"/>
                                        </p:tgtEl>
                                        <p:attrNameLst>
                                          <p:attrName>style.visibility</p:attrName>
                                        </p:attrNameLst>
                                      </p:cBhvr>
                                      <p:to>
                                        <p:strVal val="visible"/>
                                      </p:to>
                                    </p:set>
                                    <p:anim calcmode="lin" valueType="num">
                                      <p:cBhvr additive="base">
                                        <p:cTn id="60" dur="500" fill="hold"/>
                                        <p:tgtEl>
                                          <p:spTgt spid="61620"/>
                                        </p:tgtEl>
                                        <p:attrNameLst>
                                          <p:attrName>ppt_x</p:attrName>
                                        </p:attrNameLst>
                                      </p:cBhvr>
                                      <p:tavLst>
                                        <p:tav tm="0">
                                          <p:val>
                                            <p:strVal val="1+#ppt_w/2"/>
                                          </p:val>
                                        </p:tav>
                                        <p:tav tm="100000">
                                          <p:val>
                                            <p:strVal val="#ppt_x"/>
                                          </p:val>
                                        </p:tav>
                                      </p:tavLst>
                                    </p:anim>
                                    <p:anim calcmode="lin" valueType="num">
                                      <p:cBhvr additive="base">
                                        <p:cTn id="61" dur="500" fill="hold"/>
                                        <p:tgtEl>
                                          <p:spTgt spid="61620"/>
                                        </p:tgtEl>
                                        <p:attrNameLst>
                                          <p:attrName>ppt_y</p:attrName>
                                        </p:attrNameLst>
                                      </p:cBhvr>
                                      <p:tavLst>
                                        <p:tav tm="0">
                                          <p:val>
                                            <p:strVal val="#ppt_y"/>
                                          </p:val>
                                        </p:tav>
                                        <p:tav tm="100000">
                                          <p:val>
                                            <p:strVal val="#ppt_y"/>
                                          </p:val>
                                        </p:tav>
                                      </p:tavLst>
                                    </p:anim>
                                  </p:childTnLst>
                                </p:cTn>
                              </p:par>
                            </p:childTnLst>
                          </p:cTn>
                        </p:par>
                        <p:par>
                          <p:cTn id="62" fill="hold" nodeType="afterGroup">
                            <p:stCondLst>
                              <p:cond delay="500"/>
                            </p:stCondLst>
                            <p:childTnLst>
                              <p:par>
                                <p:cTn id="63" presetID="1" presetClass="entr" presetSubtype="0" fill="hold" nodeType="afterEffect">
                                  <p:stCondLst>
                                    <p:cond delay="0"/>
                                  </p:stCondLst>
                                  <p:childTnLst>
                                    <p:set>
                                      <p:cBhvr>
                                        <p:cTn id="64" dur="1" fill="hold">
                                          <p:stCondLst>
                                            <p:cond delay="499"/>
                                          </p:stCondLst>
                                        </p:cTn>
                                        <p:tgtEl>
                                          <p:spTgt spid="6153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2" presetClass="entr" presetSubtype="8" fill="hold" nodeType="clickEffect">
                                  <p:stCondLst>
                                    <p:cond delay="0"/>
                                  </p:stCondLst>
                                  <p:childTnLst>
                                    <p:set>
                                      <p:cBhvr>
                                        <p:cTn id="68" dur="1" fill="hold">
                                          <p:stCondLst>
                                            <p:cond delay="0"/>
                                          </p:stCondLst>
                                        </p:cTn>
                                        <p:tgtEl>
                                          <p:spTgt spid="61575"/>
                                        </p:tgtEl>
                                        <p:attrNameLst>
                                          <p:attrName>style.visibility</p:attrName>
                                        </p:attrNameLst>
                                      </p:cBhvr>
                                      <p:to>
                                        <p:strVal val="visible"/>
                                      </p:to>
                                    </p:set>
                                    <p:animEffect transition="in" filter="slide(fromLeft)">
                                      <p:cBhvr>
                                        <p:cTn id="69" dur="500"/>
                                        <p:tgtEl>
                                          <p:spTgt spid="6157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8" fill="hold" nodeType="clickEffect">
                                  <p:stCondLst>
                                    <p:cond delay="0"/>
                                  </p:stCondLst>
                                  <p:childTnLst>
                                    <p:set>
                                      <p:cBhvr>
                                        <p:cTn id="73" dur="1" fill="hold">
                                          <p:stCondLst>
                                            <p:cond delay="0"/>
                                          </p:stCondLst>
                                        </p:cTn>
                                        <p:tgtEl>
                                          <p:spTgt spid="61577"/>
                                        </p:tgtEl>
                                        <p:attrNameLst>
                                          <p:attrName>style.visibility</p:attrName>
                                        </p:attrNameLst>
                                      </p:cBhvr>
                                      <p:to>
                                        <p:strVal val="visible"/>
                                      </p:to>
                                    </p:set>
                                    <p:animEffect transition="in" filter="slide(fromLeft)">
                                      <p:cBhvr>
                                        <p:cTn id="74" dur="500"/>
                                        <p:tgtEl>
                                          <p:spTgt spid="61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9" grpId="0" autoUpdateAnimBg="0"/>
      <p:bldP spid="6153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灯片编号占位符 3"/>
          <p:cNvSpPr>
            <a:spLocks noGrp="1"/>
          </p:cNvSpPr>
          <p:nvPr>
            <p:ph type="sldNum" sz="quarter" idx="12"/>
          </p:nvPr>
        </p:nvSpPr>
        <p:spPr>
          <a:xfrm>
            <a:off x="6553200" y="6256638"/>
            <a:ext cx="1905000" cy="457200"/>
          </a:xfrm>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DD9B8792-76B6-4B5D-A7DD-7BCE1C15371F}" type="slidenum">
              <a:rPr lang="en-US" altLang="zh-CN" sz="1000" smtClean="0">
                <a:solidFill>
                  <a:srgbClr val="FF6600"/>
                </a:solidFill>
                <a:ea typeface="宋体" panose="02010600030101010101" pitchFamily="2" charset="-122"/>
              </a:rPr>
              <a:pPr>
                <a:spcBef>
                  <a:spcPct val="0"/>
                </a:spcBef>
                <a:buFontTx/>
                <a:buNone/>
              </a:pPr>
              <a:t>25</a:t>
            </a:fld>
            <a:endParaRPr lang="en-US" altLang="zh-CN" sz="1000" smtClean="0">
              <a:solidFill>
                <a:srgbClr val="FF6600"/>
              </a:solidFill>
              <a:ea typeface="宋体" panose="02010600030101010101" pitchFamily="2" charset="-122"/>
            </a:endParaRPr>
          </a:p>
        </p:txBody>
      </p:sp>
      <p:sp>
        <p:nvSpPr>
          <p:cNvPr id="260103" name="Rectangle 7"/>
          <p:cNvSpPr>
            <a:spLocks noChangeArrowheads="1"/>
          </p:cNvSpPr>
          <p:nvPr/>
        </p:nvSpPr>
        <p:spPr bwMode="auto">
          <a:xfrm>
            <a:off x="228600" y="132533"/>
            <a:ext cx="5059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dirty="0" smtClean="0">
                <a:solidFill>
                  <a:srgbClr val="FF0000"/>
                </a:solidFill>
                <a:effectLst>
                  <a:outerShdw blurRad="38100" dist="38100" dir="2700000" algn="tl">
                    <a:srgbClr val="C0C0C0"/>
                  </a:outerShdw>
                </a:effectLst>
                <a:ea typeface="隶书" panose="02010509060101010101" pitchFamily="49" charset="-122"/>
              </a:rPr>
              <a:t>3. By reflected impedance  </a:t>
            </a:r>
            <a:r>
              <a:rPr lang="zh-CN" altLang="en-US" dirty="0" smtClean="0">
                <a:solidFill>
                  <a:srgbClr val="FF0000"/>
                </a:solidFill>
                <a:ea typeface="隶书" panose="02010509060101010101" pitchFamily="49" charset="-122"/>
              </a:rPr>
              <a:t>映射阻抗</a:t>
            </a:r>
            <a:r>
              <a:rPr lang="zh-CN" altLang="en-US" sz="2000" dirty="0" smtClean="0">
                <a:solidFill>
                  <a:srgbClr val="FF0000"/>
                </a:solidFill>
                <a:ea typeface="隶书" panose="02010509060101010101" pitchFamily="49" charset="-122"/>
              </a:rPr>
              <a:t> </a:t>
            </a:r>
          </a:p>
        </p:txBody>
      </p:sp>
      <p:graphicFrame>
        <p:nvGraphicFramePr>
          <p:cNvPr id="260104" name="Object 8"/>
          <p:cNvGraphicFramePr>
            <a:graphicFrameLocks noChangeAspect="1"/>
          </p:cNvGraphicFramePr>
          <p:nvPr>
            <p:extLst>
              <p:ext uri="{D42A27DB-BD31-4B8C-83A1-F6EECF244321}">
                <p14:modId xmlns:p14="http://schemas.microsoft.com/office/powerpoint/2010/main" val="2455588914"/>
              </p:ext>
            </p:extLst>
          </p:nvPr>
        </p:nvGraphicFramePr>
        <p:xfrm>
          <a:off x="228600" y="522798"/>
          <a:ext cx="4851400" cy="2278062"/>
        </p:xfrm>
        <a:graphic>
          <a:graphicData uri="http://schemas.openxmlformats.org/presentationml/2006/ole">
            <mc:AlternateContent xmlns:mc="http://schemas.openxmlformats.org/markup-compatibility/2006">
              <mc:Choice xmlns:v="urn:schemas-microsoft-com:vml" Requires="v">
                <p:oleObj spid="_x0000_s107620" name="Visio" r:id="rId3" imgW="2455164" imgH="1168432" progId="Visio.Drawing.11">
                  <p:embed/>
                </p:oleObj>
              </mc:Choice>
              <mc:Fallback>
                <p:oleObj name="Visio" r:id="rId3" imgW="2455164" imgH="1168432" progId="Visio.Drawing.11">
                  <p:embed/>
                  <p:pic>
                    <p:nvPicPr>
                      <p:cNvPr id="26010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22798"/>
                        <a:ext cx="4851400" cy="227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05" name="Object 9"/>
          <p:cNvGraphicFramePr>
            <a:graphicFrameLocks noChangeAspect="1"/>
          </p:cNvGraphicFramePr>
          <p:nvPr>
            <p:extLst>
              <p:ext uri="{D42A27DB-BD31-4B8C-83A1-F6EECF244321}">
                <p14:modId xmlns:p14="http://schemas.microsoft.com/office/powerpoint/2010/main" val="1929327860"/>
              </p:ext>
            </p:extLst>
          </p:nvPr>
        </p:nvGraphicFramePr>
        <p:xfrm>
          <a:off x="6019800" y="27237"/>
          <a:ext cx="2744788" cy="2897187"/>
        </p:xfrm>
        <a:graphic>
          <a:graphicData uri="http://schemas.openxmlformats.org/presentationml/2006/ole">
            <mc:AlternateContent xmlns:mc="http://schemas.openxmlformats.org/markup-compatibility/2006">
              <mc:Choice xmlns:v="urn:schemas-microsoft-com:vml" Requires="v">
                <p:oleObj spid="_x0000_s107621" name="Visio" r:id="rId5" imgW="1401604" imgH="1477899" progId="Visio.Drawing.11">
                  <p:embed/>
                </p:oleObj>
              </mc:Choice>
              <mc:Fallback>
                <p:oleObj name="Visio" r:id="rId5" imgW="1401604" imgH="1477899" progId="Visio.Drawing.11">
                  <p:embed/>
                  <p:pic>
                    <p:nvPicPr>
                      <p:cNvPr id="26010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27237"/>
                        <a:ext cx="2744788" cy="289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06" name="Object 10"/>
          <p:cNvGraphicFramePr>
            <a:graphicFrameLocks noChangeAspect="1"/>
          </p:cNvGraphicFramePr>
          <p:nvPr>
            <p:extLst>
              <p:ext uri="{D42A27DB-BD31-4B8C-83A1-F6EECF244321}">
                <p14:modId xmlns:p14="http://schemas.microsoft.com/office/powerpoint/2010/main" val="2496996311"/>
              </p:ext>
            </p:extLst>
          </p:nvPr>
        </p:nvGraphicFramePr>
        <p:xfrm>
          <a:off x="228600" y="3589638"/>
          <a:ext cx="3935413" cy="912813"/>
        </p:xfrm>
        <a:graphic>
          <a:graphicData uri="http://schemas.openxmlformats.org/presentationml/2006/ole">
            <mc:AlternateContent xmlns:mc="http://schemas.openxmlformats.org/markup-compatibility/2006">
              <mc:Choice xmlns:v="urn:schemas-microsoft-com:vml" Requires="v">
                <p:oleObj spid="_x0000_s107622" name="Equation" r:id="rId7" imgW="1968500" imgH="457200" progId="Equation.3">
                  <p:embed/>
                </p:oleObj>
              </mc:Choice>
              <mc:Fallback>
                <p:oleObj name="Equation" r:id="rId7" imgW="1968500" imgH="457200" progId="Equation.3">
                  <p:embed/>
                  <p:pic>
                    <p:nvPicPr>
                      <p:cNvPr id="26010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3589638"/>
                        <a:ext cx="393541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07" name="Object 11"/>
          <p:cNvGraphicFramePr>
            <a:graphicFrameLocks noChangeAspect="1"/>
          </p:cNvGraphicFramePr>
          <p:nvPr>
            <p:extLst>
              <p:ext uri="{D42A27DB-BD31-4B8C-83A1-F6EECF244321}">
                <p14:modId xmlns:p14="http://schemas.microsoft.com/office/powerpoint/2010/main" val="2507877556"/>
              </p:ext>
            </p:extLst>
          </p:nvPr>
        </p:nvGraphicFramePr>
        <p:xfrm>
          <a:off x="457200" y="4732638"/>
          <a:ext cx="3656013" cy="457200"/>
        </p:xfrm>
        <a:graphic>
          <a:graphicData uri="http://schemas.openxmlformats.org/presentationml/2006/ole">
            <mc:AlternateContent xmlns:mc="http://schemas.openxmlformats.org/markup-compatibility/2006">
              <mc:Choice xmlns:v="urn:schemas-microsoft-com:vml" Requires="v">
                <p:oleObj spid="_x0000_s107623" name="Equation" r:id="rId9" imgW="1828800" imgH="228600" progId="Equation.3">
                  <p:embed/>
                </p:oleObj>
              </mc:Choice>
              <mc:Fallback>
                <p:oleObj name="Equation" r:id="rId9" imgW="1828800" imgH="228600" progId="Equation.3">
                  <p:embed/>
                  <p:pic>
                    <p:nvPicPr>
                      <p:cNvPr id="260107"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4732638"/>
                        <a:ext cx="3656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08" name="Object 12"/>
          <p:cNvGraphicFramePr>
            <a:graphicFrameLocks noChangeAspect="1"/>
          </p:cNvGraphicFramePr>
          <p:nvPr>
            <p:extLst>
              <p:ext uri="{D42A27DB-BD31-4B8C-83A1-F6EECF244321}">
                <p14:modId xmlns:p14="http://schemas.microsoft.com/office/powerpoint/2010/main" val="866670138"/>
              </p:ext>
            </p:extLst>
          </p:nvPr>
        </p:nvGraphicFramePr>
        <p:xfrm>
          <a:off x="4267200" y="3589638"/>
          <a:ext cx="3300413" cy="914400"/>
        </p:xfrm>
        <a:graphic>
          <a:graphicData uri="http://schemas.openxmlformats.org/presentationml/2006/ole">
            <mc:AlternateContent xmlns:mc="http://schemas.openxmlformats.org/markup-compatibility/2006">
              <mc:Choice xmlns:v="urn:schemas-microsoft-com:vml" Requires="v">
                <p:oleObj spid="_x0000_s107624" name="Equation" r:id="rId11" imgW="1651000" imgH="457200" progId="Equation.3">
                  <p:embed/>
                </p:oleObj>
              </mc:Choice>
              <mc:Fallback>
                <p:oleObj name="Equation" r:id="rId11" imgW="1651000" imgH="457200" progId="Equation.3">
                  <p:embed/>
                  <p:pic>
                    <p:nvPicPr>
                      <p:cNvPr id="260108"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3589638"/>
                        <a:ext cx="3300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09" name="Object 13"/>
          <p:cNvGraphicFramePr>
            <a:graphicFrameLocks noChangeAspect="1"/>
          </p:cNvGraphicFramePr>
          <p:nvPr>
            <p:extLst>
              <p:ext uri="{D42A27DB-BD31-4B8C-83A1-F6EECF244321}">
                <p14:modId xmlns:p14="http://schemas.microsoft.com/office/powerpoint/2010/main" val="940429444"/>
              </p:ext>
            </p:extLst>
          </p:nvPr>
        </p:nvGraphicFramePr>
        <p:xfrm>
          <a:off x="457200" y="5418438"/>
          <a:ext cx="2157413" cy="914400"/>
        </p:xfrm>
        <a:graphic>
          <a:graphicData uri="http://schemas.openxmlformats.org/presentationml/2006/ole">
            <mc:AlternateContent xmlns:mc="http://schemas.openxmlformats.org/markup-compatibility/2006">
              <mc:Choice xmlns:v="urn:schemas-microsoft-com:vml" Requires="v">
                <p:oleObj spid="_x0000_s107625" name="Equation" r:id="rId13" imgW="1079500" imgH="457200" progId="Equation.3">
                  <p:embed/>
                </p:oleObj>
              </mc:Choice>
              <mc:Fallback>
                <p:oleObj name="Equation" r:id="rId13" imgW="1079500" imgH="457200" progId="Equation.3">
                  <p:embed/>
                  <p:pic>
                    <p:nvPicPr>
                      <p:cNvPr id="260109"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 y="5418438"/>
                        <a:ext cx="21574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0110" name="Object 14"/>
          <p:cNvGraphicFramePr>
            <a:graphicFrameLocks noChangeAspect="1"/>
          </p:cNvGraphicFramePr>
          <p:nvPr>
            <p:extLst>
              <p:ext uri="{D42A27DB-BD31-4B8C-83A1-F6EECF244321}">
                <p14:modId xmlns:p14="http://schemas.microsoft.com/office/powerpoint/2010/main" val="4169854582"/>
              </p:ext>
            </p:extLst>
          </p:nvPr>
        </p:nvGraphicFramePr>
        <p:xfrm>
          <a:off x="5119688" y="4391326"/>
          <a:ext cx="3656012" cy="2286000"/>
        </p:xfrm>
        <a:graphic>
          <a:graphicData uri="http://schemas.openxmlformats.org/presentationml/2006/ole">
            <mc:AlternateContent xmlns:mc="http://schemas.openxmlformats.org/markup-compatibility/2006">
              <mc:Choice xmlns:v="urn:schemas-microsoft-com:vml" Requires="v">
                <p:oleObj spid="_x0000_s107626" name="Equation" r:id="rId15" imgW="1828800" imgH="1143000" progId="Equation.DSMT4">
                  <p:embed/>
                </p:oleObj>
              </mc:Choice>
              <mc:Fallback>
                <p:oleObj name="Equation" r:id="rId15" imgW="1828800" imgH="1143000" progId="Equation.DSMT4">
                  <p:embed/>
                  <p:pic>
                    <p:nvPicPr>
                      <p:cNvPr id="26011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19688" y="4391326"/>
                        <a:ext cx="3656012" cy="22860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5"/>
          <p:cNvSpPr txBox="1">
            <a:spLocks noChangeArrowheads="1"/>
          </p:cNvSpPr>
          <p:nvPr/>
        </p:nvSpPr>
        <p:spPr bwMode="auto">
          <a:xfrm>
            <a:off x="325395" y="2881752"/>
            <a:ext cx="8132805" cy="707886"/>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zh-CN" altLang="en-US" sz="2000" b="1" dirty="0" smtClean="0">
                <a:solidFill>
                  <a:schemeClr val="accent2"/>
                </a:solidFill>
                <a:latin typeface="Times New Roman" panose="02020603050405020304" pitchFamily="18" charset="0"/>
              </a:rPr>
              <a:t>负载回路对电源回路的影响可用</a:t>
            </a:r>
            <a:r>
              <a:rPr kumimoji="1" lang="en-US" altLang="zh-CN" sz="2000" b="1" dirty="0" err="1" smtClean="0">
                <a:solidFill>
                  <a:schemeClr val="accent2"/>
                </a:solidFill>
                <a:latin typeface="Times New Roman" panose="02020603050405020304" pitchFamily="18" charset="0"/>
              </a:rPr>
              <a:t>Z</a:t>
            </a:r>
            <a:r>
              <a:rPr kumimoji="1" lang="en-US" altLang="zh-CN" sz="2000" b="1" baseline="-25000" dirty="0" err="1" smtClean="0">
                <a:solidFill>
                  <a:schemeClr val="accent2"/>
                </a:solidFill>
                <a:latin typeface="Times New Roman" panose="02020603050405020304" pitchFamily="18" charset="0"/>
              </a:rPr>
              <a:t>ref</a:t>
            </a:r>
            <a:r>
              <a:rPr kumimoji="1" lang="zh-CN" altLang="en-US" sz="2000" b="1" dirty="0" smtClean="0">
                <a:solidFill>
                  <a:schemeClr val="accent2"/>
                </a:solidFill>
                <a:latin typeface="Times New Roman" panose="02020603050405020304" pitchFamily="18" charset="0"/>
              </a:rPr>
              <a:t>表示，称</a:t>
            </a:r>
            <a:r>
              <a:rPr kumimoji="1" lang="en-US" altLang="zh-CN" sz="2000" b="1" dirty="0" err="1" smtClean="0">
                <a:solidFill>
                  <a:schemeClr val="accent2"/>
                </a:solidFill>
                <a:latin typeface="Times New Roman" panose="02020603050405020304" pitchFamily="18" charset="0"/>
              </a:rPr>
              <a:t>Z</a:t>
            </a:r>
            <a:r>
              <a:rPr kumimoji="1" lang="en-US" altLang="zh-CN" sz="2000" b="1" baseline="-25000" dirty="0" err="1" smtClean="0">
                <a:solidFill>
                  <a:schemeClr val="accent2"/>
                </a:solidFill>
                <a:latin typeface="Times New Roman" panose="02020603050405020304" pitchFamily="18" charset="0"/>
              </a:rPr>
              <a:t>ref</a:t>
            </a:r>
            <a:r>
              <a:rPr kumimoji="1" lang="zh-CN" altLang="en-US" sz="2000" b="1" dirty="0" smtClean="0">
                <a:solidFill>
                  <a:schemeClr val="accent2"/>
                </a:solidFill>
                <a:latin typeface="Times New Roman" panose="02020603050405020304" pitchFamily="18" charset="0"/>
              </a:rPr>
              <a:t>为负载回路在电源回路的映射阻抗。</a:t>
            </a:r>
            <a:endParaRPr kumimoji="1" lang="zh-CN" altLang="en-US" sz="2000" dirty="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2108164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0104"/>
                                        </p:tgtEl>
                                        <p:attrNameLst>
                                          <p:attrName>style.visibility</p:attrName>
                                        </p:attrNameLst>
                                      </p:cBhvr>
                                      <p:to>
                                        <p:strVal val="visible"/>
                                      </p:to>
                                    </p:set>
                                    <p:animEffect transition="in" filter="box(in)">
                                      <p:cBhvr>
                                        <p:cTn id="7" dur="500"/>
                                        <p:tgtEl>
                                          <p:spTgt spid="2601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lide(fromBottom)">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60105"/>
                                        </p:tgtEl>
                                        <p:attrNameLst>
                                          <p:attrName>style.visibility</p:attrName>
                                        </p:attrNameLst>
                                      </p:cBhvr>
                                      <p:to>
                                        <p:strVal val="visible"/>
                                      </p:to>
                                    </p:set>
                                    <p:animEffect transition="in" filter="box(in)">
                                      <p:cBhvr>
                                        <p:cTn id="17" dur="500"/>
                                        <p:tgtEl>
                                          <p:spTgt spid="2601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60106"/>
                                        </p:tgtEl>
                                        <p:attrNameLst>
                                          <p:attrName>style.visibility</p:attrName>
                                        </p:attrNameLst>
                                      </p:cBhvr>
                                      <p:to>
                                        <p:strVal val="visible"/>
                                      </p:to>
                                    </p:set>
                                    <p:animEffect transition="in" filter="box(in)">
                                      <p:cBhvr>
                                        <p:cTn id="22" dur="500"/>
                                        <p:tgtEl>
                                          <p:spTgt spid="2601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60108"/>
                                        </p:tgtEl>
                                        <p:attrNameLst>
                                          <p:attrName>style.visibility</p:attrName>
                                        </p:attrNameLst>
                                      </p:cBhvr>
                                      <p:to>
                                        <p:strVal val="visible"/>
                                      </p:to>
                                    </p:set>
                                    <p:animEffect transition="in" filter="box(in)">
                                      <p:cBhvr>
                                        <p:cTn id="27" dur="500"/>
                                        <p:tgtEl>
                                          <p:spTgt spid="2601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60107"/>
                                        </p:tgtEl>
                                        <p:attrNameLst>
                                          <p:attrName>style.visibility</p:attrName>
                                        </p:attrNameLst>
                                      </p:cBhvr>
                                      <p:to>
                                        <p:strVal val="visible"/>
                                      </p:to>
                                    </p:set>
                                    <p:animEffect transition="in" filter="box(in)">
                                      <p:cBhvr>
                                        <p:cTn id="32" dur="500"/>
                                        <p:tgtEl>
                                          <p:spTgt spid="2601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60109"/>
                                        </p:tgtEl>
                                        <p:attrNameLst>
                                          <p:attrName>style.visibility</p:attrName>
                                        </p:attrNameLst>
                                      </p:cBhvr>
                                      <p:to>
                                        <p:strVal val="visible"/>
                                      </p:to>
                                    </p:set>
                                    <p:animEffect transition="in" filter="box(in)">
                                      <p:cBhvr>
                                        <p:cTn id="37" dur="500"/>
                                        <p:tgtEl>
                                          <p:spTgt spid="2601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260110"/>
                                        </p:tgtEl>
                                        <p:attrNameLst>
                                          <p:attrName>style.visibility</p:attrName>
                                        </p:attrNameLst>
                                      </p:cBhvr>
                                      <p:to>
                                        <p:strVal val="visible"/>
                                      </p:to>
                                    </p:set>
                                    <p:animEffect transition="in" filter="box(in)">
                                      <p:cBhvr>
                                        <p:cTn id="42" dur="500"/>
                                        <p:tgtEl>
                                          <p:spTgt spid="260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3"/>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E4D9D1C3-DAA2-4148-9689-F11624AB3E1B}" type="slidenum">
              <a:rPr lang="en-US" altLang="zh-CN" sz="1000" smtClean="0">
                <a:solidFill>
                  <a:srgbClr val="FF6600"/>
                </a:solidFill>
                <a:ea typeface="宋体" panose="02010600030101010101" pitchFamily="2" charset="-122"/>
              </a:rPr>
              <a:pPr>
                <a:spcBef>
                  <a:spcPct val="0"/>
                </a:spcBef>
                <a:buFontTx/>
                <a:buNone/>
              </a:pPr>
              <a:t>26</a:t>
            </a:fld>
            <a:endParaRPr lang="en-US" altLang="zh-CN" sz="1000" smtClean="0">
              <a:solidFill>
                <a:srgbClr val="FF6600"/>
              </a:solidFill>
              <a:ea typeface="宋体" panose="02010600030101010101" pitchFamily="2" charset="-122"/>
            </a:endParaRPr>
          </a:p>
        </p:txBody>
      </p:sp>
      <p:graphicFrame>
        <p:nvGraphicFramePr>
          <p:cNvPr id="17413" name="Object 7"/>
          <p:cNvGraphicFramePr>
            <a:graphicFrameLocks noChangeAspect="1"/>
          </p:cNvGraphicFramePr>
          <p:nvPr/>
        </p:nvGraphicFramePr>
        <p:xfrm>
          <a:off x="3924300" y="981075"/>
          <a:ext cx="5119688" cy="1981200"/>
        </p:xfrm>
        <a:graphic>
          <a:graphicData uri="http://schemas.openxmlformats.org/presentationml/2006/ole">
            <mc:AlternateContent xmlns:mc="http://schemas.openxmlformats.org/markup-compatibility/2006">
              <mc:Choice xmlns:v="urn:schemas-microsoft-com:vml" Requires="v">
                <p:oleObj spid="_x0000_s108666" name="VISIO" r:id="rId3" imgW="2584764" imgH="959667" progId="Visio.Drawing.5">
                  <p:embed/>
                </p:oleObj>
              </mc:Choice>
              <mc:Fallback>
                <p:oleObj name="VISIO" r:id="rId3" imgW="2584764" imgH="959667" progId="Visio.Drawing.5">
                  <p:embed/>
                  <p:pic>
                    <p:nvPicPr>
                      <p:cNvPr id="1741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981075"/>
                        <a:ext cx="5119688"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28" name="Object 8"/>
          <p:cNvGraphicFramePr>
            <a:graphicFrameLocks noChangeAspect="1"/>
          </p:cNvGraphicFramePr>
          <p:nvPr/>
        </p:nvGraphicFramePr>
        <p:xfrm>
          <a:off x="469900" y="1676400"/>
          <a:ext cx="2617788" cy="914400"/>
        </p:xfrm>
        <a:graphic>
          <a:graphicData uri="http://schemas.openxmlformats.org/presentationml/2006/ole">
            <mc:AlternateContent xmlns:mc="http://schemas.openxmlformats.org/markup-compatibility/2006">
              <mc:Choice xmlns:v="urn:schemas-microsoft-com:vml" Requires="v">
                <p:oleObj spid="_x0000_s108667" name="Equation" r:id="rId5" imgW="1308100" imgH="457200" progId="Equation.DSMT4">
                  <p:embed/>
                </p:oleObj>
              </mc:Choice>
              <mc:Fallback>
                <p:oleObj name="Equation" r:id="rId5" imgW="1308100" imgH="457200" progId="Equation.DSMT4">
                  <p:embed/>
                  <p:pic>
                    <p:nvPicPr>
                      <p:cNvPr id="26112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900" y="1676400"/>
                        <a:ext cx="26177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381000" y="2636838"/>
          <a:ext cx="4956175" cy="890587"/>
        </p:xfrm>
        <a:graphic>
          <a:graphicData uri="http://schemas.openxmlformats.org/presentationml/2006/ole">
            <mc:AlternateContent xmlns:mc="http://schemas.openxmlformats.org/markup-compatibility/2006">
              <mc:Choice xmlns:v="urn:schemas-microsoft-com:vml" Requires="v">
                <p:oleObj spid="_x0000_s108668" name="Equation" r:id="rId7" imgW="2476500" imgH="444500" progId="Equation.3">
                  <p:embed/>
                </p:oleObj>
              </mc:Choice>
              <mc:Fallback>
                <p:oleObj name="Equation" r:id="rId7" imgW="2476500" imgH="444500" progId="Equation.3">
                  <p:embed/>
                  <p:pic>
                    <p:nvPicPr>
                      <p:cNvPr id="261129"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636838"/>
                        <a:ext cx="4956175"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0" name="Object 10"/>
          <p:cNvGraphicFramePr>
            <a:graphicFrameLocks noChangeAspect="1"/>
          </p:cNvGraphicFramePr>
          <p:nvPr/>
        </p:nvGraphicFramePr>
        <p:xfrm>
          <a:off x="433388" y="3644900"/>
          <a:ext cx="3910012" cy="457200"/>
        </p:xfrm>
        <a:graphic>
          <a:graphicData uri="http://schemas.openxmlformats.org/presentationml/2006/ole">
            <mc:AlternateContent xmlns:mc="http://schemas.openxmlformats.org/markup-compatibility/2006">
              <mc:Choice xmlns:v="urn:schemas-microsoft-com:vml" Requires="v">
                <p:oleObj spid="_x0000_s108669" name="Equation" r:id="rId9" imgW="1955800" imgH="228600" progId="Equation.3">
                  <p:embed/>
                </p:oleObj>
              </mc:Choice>
              <mc:Fallback>
                <p:oleObj name="Equation" r:id="rId9" imgW="1955800" imgH="228600" progId="Equation.3">
                  <p:embed/>
                  <p:pic>
                    <p:nvPicPr>
                      <p:cNvPr id="26113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388" y="3644900"/>
                        <a:ext cx="3910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31" name="Rectangle 11"/>
          <p:cNvSpPr>
            <a:spLocks noChangeArrowheads="1"/>
          </p:cNvSpPr>
          <p:nvPr/>
        </p:nvSpPr>
        <p:spPr bwMode="auto">
          <a:xfrm>
            <a:off x="170656" y="307976"/>
            <a:ext cx="5275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dirty="0" smtClean="0">
                <a:solidFill>
                  <a:srgbClr val="FF0000"/>
                </a:solidFill>
                <a:effectLst>
                  <a:outerShdw blurRad="38100" dist="38100" dir="2700000" algn="tl">
                    <a:srgbClr val="C0C0C0"/>
                  </a:outerShdw>
                </a:effectLst>
                <a:ea typeface="隶书" panose="02010509060101010101" pitchFamily="49" charset="-122"/>
              </a:rPr>
              <a:t>3. By reflected impedance </a:t>
            </a:r>
            <a:r>
              <a:rPr lang="zh-CN" altLang="en-US" dirty="0" smtClean="0">
                <a:solidFill>
                  <a:srgbClr val="FF0000"/>
                </a:solidFill>
                <a:ea typeface="隶书" panose="02010509060101010101" pitchFamily="49" charset="-122"/>
              </a:rPr>
              <a:t>映射阻抗 </a:t>
            </a:r>
            <a:r>
              <a:rPr lang="zh-CN" altLang="en-US" dirty="0" smtClean="0">
                <a:solidFill>
                  <a:srgbClr val="FF0000"/>
                </a:solidFill>
                <a:effectLst>
                  <a:outerShdw blurRad="38100" dist="38100" dir="2700000" algn="tl">
                    <a:srgbClr val="C0C0C0"/>
                  </a:outerShdw>
                </a:effectLst>
                <a:ea typeface="隶书" panose="02010509060101010101" pitchFamily="49" charset="-122"/>
              </a:rPr>
              <a:t> </a:t>
            </a:r>
          </a:p>
        </p:txBody>
      </p:sp>
      <p:grpSp>
        <p:nvGrpSpPr>
          <p:cNvPr id="261132" name="Group 12"/>
          <p:cNvGrpSpPr>
            <a:grpSpLocks/>
          </p:cNvGrpSpPr>
          <p:nvPr/>
        </p:nvGrpSpPr>
        <p:grpSpPr bwMode="auto">
          <a:xfrm>
            <a:off x="622300" y="4292600"/>
            <a:ext cx="2185988" cy="461963"/>
            <a:chOff x="3394" y="3453"/>
            <a:chExt cx="1377" cy="291"/>
          </a:xfrm>
        </p:grpSpPr>
        <p:sp>
          <p:nvSpPr>
            <p:cNvPr id="261133" name="Rectangle 13"/>
            <p:cNvSpPr>
              <a:spLocks noChangeArrowheads="1"/>
            </p:cNvSpPr>
            <p:nvPr/>
          </p:nvSpPr>
          <p:spPr bwMode="auto">
            <a:xfrm>
              <a:off x="3394" y="3453"/>
              <a:ext cx="1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defRPr/>
              </a:pPr>
              <a:r>
                <a:rPr lang="zh-CN" altLang="en-US" sz="2400" dirty="0">
                  <a:solidFill>
                    <a:srgbClr val="FF0000"/>
                  </a:solidFill>
                  <a:effectLst>
                    <a:outerShdw blurRad="38100" dist="38100" dir="2700000" algn="tl">
                      <a:srgbClr val="C0C0C0"/>
                    </a:outerShdw>
                  </a:effectLst>
                </a:rPr>
                <a:t>如何先求     ？</a:t>
              </a:r>
              <a:endParaRPr lang="en-US" altLang="zh-CN" sz="2400" dirty="0">
                <a:solidFill>
                  <a:srgbClr val="FF0000"/>
                </a:solidFill>
                <a:effectLst>
                  <a:outerShdw blurRad="38100" dist="38100" dir="2700000" algn="tl">
                    <a:srgbClr val="C0C0C0"/>
                  </a:outerShdw>
                </a:effectLst>
              </a:endParaRPr>
            </a:p>
          </p:txBody>
        </p:sp>
        <p:graphicFrame>
          <p:nvGraphicFramePr>
            <p:cNvPr id="17426" name="Object 14"/>
            <p:cNvGraphicFramePr>
              <a:graphicFrameLocks noChangeAspect="1"/>
            </p:cNvGraphicFramePr>
            <p:nvPr/>
          </p:nvGraphicFramePr>
          <p:xfrm>
            <a:off x="4320" y="3456"/>
            <a:ext cx="208" cy="288"/>
          </p:xfrm>
          <a:graphic>
            <a:graphicData uri="http://schemas.openxmlformats.org/presentationml/2006/ole">
              <mc:AlternateContent xmlns:mc="http://schemas.openxmlformats.org/markup-compatibility/2006">
                <mc:Choice xmlns:v="urn:schemas-microsoft-com:vml" Requires="v">
                  <p:oleObj spid="_x0000_s108670" name="Equation" r:id="rId11" imgW="165028" imgH="228501" progId="Equation.3">
                    <p:embed/>
                  </p:oleObj>
                </mc:Choice>
                <mc:Fallback>
                  <p:oleObj name="Equation" r:id="rId11" imgW="165028" imgH="228501" progId="Equation.3">
                    <p:embed/>
                    <p:pic>
                      <p:nvPicPr>
                        <p:cNvPr id="17426"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0" y="3456"/>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1135" name="Object 15"/>
          <p:cNvGraphicFramePr>
            <a:graphicFrameLocks noChangeAspect="1"/>
          </p:cNvGraphicFramePr>
          <p:nvPr/>
        </p:nvGraphicFramePr>
        <p:xfrm>
          <a:off x="6227763" y="2781300"/>
          <a:ext cx="2751137" cy="2036763"/>
        </p:xfrm>
        <a:graphic>
          <a:graphicData uri="http://schemas.openxmlformats.org/presentationml/2006/ole">
            <mc:AlternateContent xmlns:mc="http://schemas.openxmlformats.org/markup-compatibility/2006">
              <mc:Choice xmlns:v="urn:schemas-microsoft-com:vml" Requires="v">
                <p:oleObj spid="_x0000_s108671" name="Visio" r:id="rId13" imgW="1425607" imgH="1057846" progId="Visio.Drawing.11">
                  <p:embed/>
                </p:oleObj>
              </mc:Choice>
              <mc:Fallback>
                <p:oleObj name="Visio" r:id="rId13" imgW="1425607" imgH="1057846" progId="Visio.Drawing.11">
                  <p:embed/>
                  <p:pic>
                    <p:nvPicPr>
                      <p:cNvPr id="261135"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27763" y="2781300"/>
                        <a:ext cx="2751137" cy="203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nvGraphicFramePr>
        <p:xfrm>
          <a:off x="254000" y="4652963"/>
          <a:ext cx="5719763" cy="914400"/>
        </p:xfrm>
        <a:graphic>
          <a:graphicData uri="http://schemas.openxmlformats.org/presentationml/2006/ole">
            <mc:AlternateContent xmlns:mc="http://schemas.openxmlformats.org/markup-compatibility/2006">
              <mc:Choice xmlns:v="urn:schemas-microsoft-com:vml" Requires="v">
                <p:oleObj spid="_x0000_s108672" name="Equation" r:id="rId15" imgW="2857320" imgH="457200" progId="Equation.DSMT4">
                  <p:embed/>
                </p:oleObj>
              </mc:Choice>
              <mc:Fallback>
                <p:oleObj name="Equation" r:id="rId15" imgW="2857320" imgH="457200" progId="Equation.DSMT4">
                  <p:embed/>
                  <p:pic>
                    <p:nvPicPr>
                      <p:cNvPr id="261137"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4000" y="4652963"/>
                        <a:ext cx="57197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179388" y="5445125"/>
          <a:ext cx="3355975" cy="889000"/>
        </p:xfrm>
        <a:graphic>
          <a:graphicData uri="http://schemas.openxmlformats.org/presentationml/2006/ole">
            <mc:AlternateContent xmlns:mc="http://schemas.openxmlformats.org/markup-compatibility/2006">
              <mc:Choice xmlns:v="urn:schemas-microsoft-com:vml" Requires="v">
                <p:oleObj spid="_x0000_s108673" name="Equation" r:id="rId17" imgW="1675673" imgH="444307" progId="Equation.DSMT4">
                  <p:embed/>
                </p:oleObj>
              </mc:Choice>
              <mc:Fallback>
                <p:oleObj name="Equation" r:id="rId17" imgW="1675673" imgH="444307" progId="Equation.DSMT4">
                  <p:embed/>
                  <p:pic>
                    <p:nvPicPr>
                      <p:cNvPr id="261138"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9388" y="5445125"/>
                        <a:ext cx="3355975"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211638" y="5518150"/>
          <a:ext cx="1627187" cy="941388"/>
        </p:xfrm>
        <a:graphic>
          <a:graphicData uri="http://schemas.openxmlformats.org/presentationml/2006/ole">
            <mc:AlternateContent xmlns:mc="http://schemas.openxmlformats.org/markup-compatibility/2006">
              <mc:Choice xmlns:v="urn:schemas-microsoft-com:vml" Requires="v">
                <p:oleObj spid="_x0000_s108674" name="Equation" r:id="rId19" imgW="812447" imgH="469696" progId="Equation.DSMT4">
                  <p:embed/>
                </p:oleObj>
              </mc:Choice>
              <mc:Fallback>
                <p:oleObj name="Equation" r:id="rId19" imgW="812447" imgH="469696" progId="Equation.DSMT4">
                  <p:embed/>
                  <p:pic>
                    <p:nvPicPr>
                      <p:cNvPr id="261139"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11638" y="5518150"/>
                        <a:ext cx="162718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6443663" y="5734050"/>
          <a:ext cx="2360612" cy="863600"/>
        </p:xfrm>
        <a:graphic>
          <a:graphicData uri="http://schemas.openxmlformats.org/presentationml/2006/ole">
            <mc:AlternateContent xmlns:mc="http://schemas.openxmlformats.org/markup-compatibility/2006">
              <mc:Choice xmlns:v="urn:schemas-microsoft-com:vml" Requires="v">
                <p:oleObj spid="_x0000_s108675" name="Equation" r:id="rId21" imgW="1180588" imgH="431613" progId="Equation.DSMT4">
                  <p:embed/>
                </p:oleObj>
              </mc:Choice>
              <mc:Fallback>
                <p:oleObj name="Equation" r:id="rId21" imgW="1180588" imgH="431613" progId="Equation.DSMT4">
                  <p:embed/>
                  <p:pic>
                    <p:nvPicPr>
                      <p:cNvPr id="26114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43663" y="5734050"/>
                        <a:ext cx="23606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6323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1128"/>
                                        </p:tgtEl>
                                        <p:attrNameLst>
                                          <p:attrName>style.visibility</p:attrName>
                                        </p:attrNameLst>
                                      </p:cBhvr>
                                      <p:to>
                                        <p:strVal val="visible"/>
                                      </p:to>
                                    </p:set>
                                    <p:animEffect transition="in" filter="wipe(left)">
                                      <p:cBhvr>
                                        <p:cTn id="7" dur="2000"/>
                                        <p:tgtEl>
                                          <p:spTgt spid="2611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1129"/>
                                        </p:tgtEl>
                                        <p:attrNameLst>
                                          <p:attrName>style.visibility</p:attrName>
                                        </p:attrNameLst>
                                      </p:cBhvr>
                                      <p:to>
                                        <p:strVal val="visible"/>
                                      </p:to>
                                    </p:set>
                                    <p:animEffect transition="in" filter="wipe(left)">
                                      <p:cBhvr>
                                        <p:cTn id="12" dur="2000"/>
                                        <p:tgtEl>
                                          <p:spTgt spid="2611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1130"/>
                                        </p:tgtEl>
                                        <p:attrNameLst>
                                          <p:attrName>style.visibility</p:attrName>
                                        </p:attrNameLst>
                                      </p:cBhvr>
                                      <p:to>
                                        <p:strVal val="visible"/>
                                      </p:to>
                                    </p:set>
                                    <p:animEffect transition="in" filter="wipe(left)">
                                      <p:cBhvr>
                                        <p:cTn id="17" dur="2000"/>
                                        <p:tgtEl>
                                          <p:spTgt spid="2611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1132"/>
                                        </p:tgtEl>
                                        <p:attrNameLst>
                                          <p:attrName>style.visibility</p:attrName>
                                        </p:attrNameLst>
                                      </p:cBhvr>
                                      <p:to>
                                        <p:strVal val="visible"/>
                                      </p:to>
                                    </p:set>
                                    <p:animEffect transition="in" filter="wipe(left)">
                                      <p:cBhvr>
                                        <p:cTn id="22" dur="2000"/>
                                        <p:tgtEl>
                                          <p:spTgt spid="2611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35"/>
                                        </p:tgtEl>
                                        <p:attrNameLst>
                                          <p:attrName>style.visibility</p:attrName>
                                        </p:attrNameLst>
                                      </p:cBhvr>
                                      <p:to>
                                        <p:strVal val="visible"/>
                                      </p:to>
                                    </p:set>
                                    <p:animEffect transition="in" filter="wipe(left)">
                                      <p:cBhvr>
                                        <p:cTn id="27" dur="2000"/>
                                        <p:tgtEl>
                                          <p:spTgt spid="2611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1137"/>
                                        </p:tgtEl>
                                        <p:attrNameLst>
                                          <p:attrName>style.visibility</p:attrName>
                                        </p:attrNameLst>
                                      </p:cBhvr>
                                      <p:to>
                                        <p:strVal val="visible"/>
                                      </p:to>
                                    </p:set>
                                    <p:animEffect transition="in" filter="wipe(left)">
                                      <p:cBhvr>
                                        <p:cTn id="32" dur="2000"/>
                                        <p:tgtEl>
                                          <p:spTgt spid="2611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1138"/>
                                        </p:tgtEl>
                                        <p:attrNameLst>
                                          <p:attrName>style.visibility</p:attrName>
                                        </p:attrNameLst>
                                      </p:cBhvr>
                                      <p:to>
                                        <p:strVal val="visible"/>
                                      </p:to>
                                    </p:set>
                                    <p:animEffect transition="in" filter="wipe(left)">
                                      <p:cBhvr>
                                        <p:cTn id="37" dur="2000"/>
                                        <p:tgtEl>
                                          <p:spTgt spid="2611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1139"/>
                                        </p:tgtEl>
                                        <p:attrNameLst>
                                          <p:attrName>style.visibility</p:attrName>
                                        </p:attrNameLst>
                                      </p:cBhvr>
                                      <p:to>
                                        <p:strVal val="visible"/>
                                      </p:to>
                                    </p:set>
                                    <p:animEffect transition="in" filter="wipe(left)">
                                      <p:cBhvr>
                                        <p:cTn id="42" dur="2000"/>
                                        <p:tgtEl>
                                          <p:spTgt spid="2611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1140"/>
                                        </p:tgtEl>
                                        <p:attrNameLst>
                                          <p:attrName>style.visibility</p:attrName>
                                        </p:attrNameLst>
                                      </p:cBhvr>
                                      <p:to>
                                        <p:strVal val="visible"/>
                                      </p:to>
                                    </p:set>
                                    <p:animEffect transition="in" filter="wipe(left)">
                                      <p:cBhvr>
                                        <p:cTn id="47" dur="2000"/>
                                        <p:tgtEl>
                                          <p:spTgt spid="26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5" name="Text Box 3"/>
          <p:cNvSpPr txBox="1">
            <a:spLocks noChangeArrowheads="1"/>
          </p:cNvSpPr>
          <p:nvPr/>
        </p:nvSpPr>
        <p:spPr bwMode="auto">
          <a:xfrm>
            <a:off x="468313" y="765175"/>
            <a:ext cx="4608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400" b="1">
                <a:solidFill>
                  <a:srgbClr val="0000FF"/>
                </a:solidFill>
                <a:latin typeface="宋体" panose="02010600030101010101" pitchFamily="2" charset="-122"/>
              </a:rPr>
              <a:t>1.</a:t>
            </a:r>
            <a:r>
              <a:rPr lang="zh-CN" altLang="en-US" sz="2400" b="1">
                <a:solidFill>
                  <a:srgbClr val="0000FF"/>
                </a:solidFill>
                <a:latin typeface="宋体" panose="02010600030101010101" pitchFamily="2" charset="-122"/>
              </a:rPr>
              <a:t>变压器线圈的基本电磁关系</a:t>
            </a:r>
          </a:p>
        </p:txBody>
      </p:sp>
      <p:sp>
        <p:nvSpPr>
          <p:cNvPr id="730116" name="Text Box 4"/>
          <p:cNvSpPr txBox="1">
            <a:spLocks noChangeArrowheads="1"/>
          </p:cNvSpPr>
          <p:nvPr/>
        </p:nvSpPr>
        <p:spPr bwMode="auto">
          <a:xfrm>
            <a:off x="1108075" y="2998788"/>
            <a:ext cx="1709738" cy="831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载流回路中的电流 </a:t>
            </a:r>
            <a:r>
              <a:rPr lang="en-US" altLang="zh-CN" sz="2400" b="1" i="1">
                <a:latin typeface="Times New Roman" panose="02020603050405020304" pitchFamily="18" charset="0"/>
                <a:cs typeface="Times New Roman" panose="02020603050405020304" pitchFamily="18" charset="0"/>
              </a:rPr>
              <a:t>i</a:t>
            </a:r>
          </a:p>
        </p:txBody>
      </p:sp>
      <p:sp>
        <p:nvSpPr>
          <p:cNvPr id="730117" name="Text Box 5"/>
          <p:cNvSpPr txBox="1">
            <a:spLocks noChangeArrowheads="1"/>
          </p:cNvSpPr>
          <p:nvPr/>
        </p:nvSpPr>
        <p:spPr bwMode="auto">
          <a:xfrm>
            <a:off x="2708018" y="2817019"/>
            <a:ext cx="2022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b="1"/>
              <a:t>安培环路定律</a:t>
            </a:r>
            <a:endParaRPr lang="zh-CN" altLang="en-US" b="1" i="1">
              <a:latin typeface="Times New Roman" panose="02020603050405020304" pitchFamily="18" charset="0"/>
              <a:cs typeface="Times New Roman" panose="02020603050405020304" pitchFamily="18" charset="0"/>
            </a:endParaRPr>
          </a:p>
        </p:txBody>
      </p:sp>
      <p:sp>
        <p:nvSpPr>
          <p:cNvPr id="730118" name="AutoShape 6"/>
          <p:cNvSpPr>
            <a:spLocks noChangeArrowheads="1"/>
          </p:cNvSpPr>
          <p:nvPr/>
        </p:nvSpPr>
        <p:spPr bwMode="auto">
          <a:xfrm>
            <a:off x="7858125" y="3792538"/>
            <a:ext cx="431800" cy="1223962"/>
          </a:xfrm>
          <a:prstGeom prst="downArrow">
            <a:avLst>
              <a:gd name="adj1" fmla="val 50000"/>
              <a:gd name="adj2" fmla="val 7086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30119" name="Text Box 7"/>
          <p:cNvSpPr txBox="1">
            <a:spLocks noChangeArrowheads="1"/>
          </p:cNvSpPr>
          <p:nvPr/>
        </p:nvSpPr>
        <p:spPr bwMode="auto">
          <a:xfrm>
            <a:off x="6778625" y="3143250"/>
            <a:ext cx="205105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磁感应强度 </a:t>
            </a:r>
            <a:r>
              <a:rPr lang="en-US" altLang="zh-CN" sz="2400" b="1" i="1">
                <a:latin typeface="Times New Roman" panose="02020603050405020304" pitchFamily="18" charset="0"/>
              </a:rPr>
              <a:t>B</a:t>
            </a:r>
          </a:p>
        </p:txBody>
      </p:sp>
      <p:sp>
        <p:nvSpPr>
          <p:cNvPr id="730120" name="Text Box 8"/>
          <p:cNvSpPr txBox="1">
            <a:spLocks noChangeArrowheads="1"/>
          </p:cNvSpPr>
          <p:nvPr/>
        </p:nvSpPr>
        <p:spPr bwMode="auto">
          <a:xfrm>
            <a:off x="6283754" y="4215754"/>
            <a:ext cx="1841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lang="zh-CN" altLang="en-US" b="1" dirty="0"/>
              <a:t>磁通的定义</a:t>
            </a:r>
            <a:endParaRPr lang="zh-CN" altLang="el-GR" b="1" i="1" dirty="0"/>
          </a:p>
        </p:txBody>
      </p:sp>
      <p:graphicFrame>
        <p:nvGraphicFramePr>
          <p:cNvPr id="730121" name="Object 9"/>
          <p:cNvGraphicFramePr>
            <a:graphicFrameLocks noChangeAspect="1"/>
          </p:cNvGraphicFramePr>
          <p:nvPr/>
        </p:nvGraphicFramePr>
        <p:xfrm>
          <a:off x="2889250" y="3648075"/>
          <a:ext cx="1763713" cy="509588"/>
        </p:xfrm>
        <a:graphic>
          <a:graphicData uri="http://schemas.openxmlformats.org/presentationml/2006/ole">
            <mc:AlternateContent xmlns:mc="http://schemas.openxmlformats.org/markup-compatibility/2006">
              <mc:Choice xmlns:v="urn:schemas-microsoft-com:vml" Requires="v">
                <p:oleObj spid="_x0000_s112702" name="公式" r:id="rId4" imgW="965160" imgH="279360" progId="Equation.3">
                  <p:embed/>
                </p:oleObj>
              </mc:Choice>
              <mc:Fallback>
                <p:oleObj name="公式" r:id="rId4" imgW="965160" imgH="279360" progId="Equation.3">
                  <p:embed/>
                  <p:pic>
                    <p:nvPicPr>
                      <p:cNvPr id="73012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250" y="3648075"/>
                        <a:ext cx="1763713"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0122" name="Object 10"/>
          <p:cNvGraphicFramePr>
            <a:graphicFrameLocks noChangeAspect="1"/>
          </p:cNvGraphicFramePr>
          <p:nvPr/>
        </p:nvGraphicFramePr>
        <p:xfrm>
          <a:off x="6461125" y="4575175"/>
          <a:ext cx="1355725" cy="463550"/>
        </p:xfrm>
        <a:graphic>
          <a:graphicData uri="http://schemas.openxmlformats.org/presentationml/2006/ole">
            <mc:AlternateContent xmlns:mc="http://schemas.openxmlformats.org/markup-compatibility/2006">
              <mc:Choice xmlns:v="urn:schemas-microsoft-com:vml" Requires="v">
                <p:oleObj spid="_x0000_s112703" name="公式" r:id="rId6" imgW="850680" imgH="291960" progId="Equation.3">
                  <p:embed/>
                </p:oleObj>
              </mc:Choice>
              <mc:Fallback>
                <p:oleObj name="公式" r:id="rId6" imgW="850680" imgH="291960" progId="Equation.3">
                  <p:embed/>
                  <p:pic>
                    <p:nvPicPr>
                      <p:cNvPr id="730122"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61125" y="4575175"/>
                        <a:ext cx="13557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23" name="Text Box 11"/>
          <p:cNvSpPr txBox="1">
            <a:spLocks noChangeArrowheads="1"/>
          </p:cNvSpPr>
          <p:nvPr/>
        </p:nvSpPr>
        <p:spPr bwMode="auto">
          <a:xfrm>
            <a:off x="5659438" y="2790825"/>
            <a:ext cx="1908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b="1" i="1" dirty="0">
                <a:latin typeface="Times New Roman" panose="02020603050405020304" pitchFamily="18" charset="0"/>
              </a:rPr>
              <a:t>B</a:t>
            </a:r>
            <a:r>
              <a:rPr lang="zh-CN" altLang="en-US" b="1" dirty="0">
                <a:latin typeface="Times New Roman" panose="02020603050405020304" pitchFamily="18" charset="0"/>
              </a:rPr>
              <a:t>和</a:t>
            </a:r>
            <a:r>
              <a:rPr lang="en-US" altLang="zh-CN" b="1" i="1" dirty="0">
                <a:latin typeface="Times New Roman" panose="02020603050405020304" pitchFamily="18" charset="0"/>
              </a:rPr>
              <a:t>H</a:t>
            </a:r>
            <a:r>
              <a:rPr lang="zh-CN" altLang="en-US" b="1" dirty="0"/>
              <a:t>的关系</a:t>
            </a:r>
            <a:endParaRPr lang="zh-CN" altLang="el-GR" b="1" i="1" dirty="0"/>
          </a:p>
        </p:txBody>
      </p:sp>
      <p:sp>
        <p:nvSpPr>
          <p:cNvPr id="730124" name="Text Box 12"/>
          <p:cNvSpPr txBox="1">
            <a:spLocks noChangeArrowheads="1"/>
          </p:cNvSpPr>
          <p:nvPr/>
        </p:nvSpPr>
        <p:spPr bwMode="auto">
          <a:xfrm>
            <a:off x="7426325" y="5087938"/>
            <a:ext cx="12414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磁通</a:t>
            </a:r>
            <a:r>
              <a:rPr lang="el-GR" altLang="zh-CN" sz="2400" b="1" i="1">
                <a:latin typeface="Times New Roman" panose="02020603050405020304" pitchFamily="18" charset="0"/>
                <a:sym typeface="Symbol" panose="05050102010706020507" pitchFamily="18" charset="2"/>
              </a:rPr>
              <a:t></a:t>
            </a:r>
          </a:p>
        </p:txBody>
      </p:sp>
      <p:sp>
        <p:nvSpPr>
          <p:cNvPr id="730125" name="AutoShape 13"/>
          <p:cNvSpPr>
            <a:spLocks noChangeArrowheads="1"/>
          </p:cNvSpPr>
          <p:nvPr/>
        </p:nvSpPr>
        <p:spPr bwMode="auto">
          <a:xfrm flipH="1">
            <a:off x="6705600" y="5232400"/>
            <a:ext cx="647700" cy="144463"/>
          </a:xfrm>
          <a:prstGeom prst="rightArrow">
            <a:avLst>
              <a:gd name="adj1" fmla="val 50000"/>
              <a:gd name="adj2" fmla="val 11208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26" name="Text Box 14"/>
          <p:cNvSpPr txBox="1">
            <a:spLocks noChangeArrowheads="1"/>
          </p:cNvSpPr>
          <p:nvPr/>
        </p:nvSpPr>
        <p:spPr bwMode="auto">
          <a:xfrm>
            <a:off x="4041775" y="4727575"/>
            <a:ext cx="20335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lang="zh-CN" altLang="en-US" b="1" dirty="0"/>
              <a:t>电磁感应定律</a:t>
            </a:r>
            <a:endParaRPr lang="zh-CN" altLang="el-GR" b="1" i="1" dirty="0"/>
          </a:p>
        </p:txBody>
      </p:sp>
      <p:sp>
        <p:nvSpPr>
          <p:cNvPr id="730127" name="AutoShape 15"/>
          <p:cNvSpPr>
            <a:spLocks noChangeArrowheads="1"/>
          </p:cNvSpPr>
          <p:nvPr/>
        </p:nvSpPr>
        <p:spPr bwMode="auto">
          <a:xfrm flipH="1">
            <a:off x="4473575" y="5303838"/>
            <a:ext cx="1006475" cy="144462"/>
          </a:xfrm>
          <a:prstGeom prst="rightArrow">
            <a:avLst>
              <a:gd name="adj1" fmla="val 50000"/>
              <a:gd name="adj2" fmla="val 17417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30128" name="Object 16"/>
          <p:cNvGraphicFramePr>
            <a:graphicFrameLocks noChangeAspect="1"/>
          </p:cNvGraphicFramePr>
          <p:nvPr/>
        </p:nvGraphicFramePr>
        <p:xfrm>
          <a:off x="4473575" y="5553075"/>
          <a:ext cx="1185863" cy="758825"/>
        </p:xfrm>
        <a:graphic>
          <a:graphicData uri="http://schemas.openxmlformats.org/presentationml/2006/ole">
            <mc:AlternateContent xmlns:mc="http://schemas.openxmlformats.org/markup-compatibility/2006">
              <mc:Choice xmlns:v="urn:schemas-microsoft-com:vml" Requires="v">
                <p:oleObj spid="_x0000_s112704" name="公式" r:id="rId8" imgW="634680" imgH="406080" progId="Equation.3">
                  <p:embed/>
                </p:oleObj>
              </mc:Choice>
              <mc:Fallback>
                <p:oleObj name="公式" r:id="rId8" imgW="634680" imgH="406080" progId="Equation.3">
                  <p:embed/>
                  <p:pic>
                    <p:nvPicPr>
                      <p:cNvPr id="730128"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3575" y="5553075"/>
                        <a:ext cx="1185863"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29" name="AutoShape 17"/>
          <p:cNvSpPr>
            <a:spLocks noChangeArrowheads="1"/>
          </p:cNvSpPr>
          <p:nvPr/>
        </p:nvSpPr>
        <p:spPr bwMode="auto">
          <a:xfrm>
            <a:off x="2962275" y="3359150"/>
            <a:ext cx="889000" cy="142875"/>
          </a:xfrm>
          <a:prstGeom prst="rightArrow">
            <a:avLst>
              <a:gd name="adj1" fmla="val 50000"/>
              <a:gd name="adj2" fmla="val 15555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0" name="Text Box 18"/>
          <p:cNvSpPr txBox="1">
            <a:spLocks noChangeArrowheads="1"/>
          </p:cNvSpPr>
          <p:nvPr/>
        </p:nvSpPr>
        <p:spPr bwMode="auto">
          <a:xfrm>
            <a:off x="4329113" y="3216275"/>
            <a:ext cx="18002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磁场强度</a:t>
            </a:r>
            <a:r>
              <a:rPr lang="en-US" altLang="zh-CN" sz="2400" b="1" i="1">
                <a:latin typeface="Times New Roman" panose="02020603050405020304" pitchFamily="18" charset="0"/>
                <a:cs typeface="Times New Roman" panose="02020603050405020304" pitchFamily="18" charset="0"/>
              </a:rPr>
              <a:t>H</a:t>
            </a:r>
          </a:p>
        </p:txBody>
      </p:sp>
      <p:sp>
        <p:nvSpPr>
          <p:cNvPr id="730131" name="AutoShape 19"/>
          <p:cNvSpPr>
            <a:spLocks noChangeArrowheads="1"/>
          </p:cNvSpPr>
          <p:nvPr/>
        </p:nvSpPr>
        <p:spPr bwMode="auto">
          <a:xfrm>
            <a:off x="6202363" y="3359150"/>
            <a:ext cx="576262" cy="144463"/>
          </a:xfrm>
          <a:prstGeom prst="rightArrow">
            <a:avLst>
              <a:gd name="adj1" fmla="val 50000"/>
              <a:gd name="adj2" fmla="val 9972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2" name="Text Box 20"/>
          <p:cNvSpPr txBox="1">
            <a:spLocks noChangeArrowheads="1"/>
          </p:cNvSpPr>
          <p:nvPr/>
        </p:nvSpPr>
        <p:spPr bwMode="auto">
          <a:xfrm>
            <a:off x="6235701" y="5503517"/>
            <a:ext cx="172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lang="zh-CN" altLang="en-US" b="1" dirty="0"/>
              <a:t>磁链的定义</a:t>
            </a:r>
            <a:endParaRPr lang="zh-CN" altLang="el-GR" b="1" i="1" dirty="0"/>
          </a:p>
        </p:txBody>
      </p:sp>
      <p:graphicFrame>
        <p:nvGraphicFramePr>
          <p:cNvPr id="730133" name="Object 21"/>
          <p:cNvGraphicFramePr>
            <a:graphicFrameLocks noChangeAspect="1"/>
          </p:cNvGraphicFramePr>
          <p:nvPr/>
        </p:nvGraphicFramePr>
        <p:xfrm>
          <a:off x="6523038" y="5910263"/>
          <a:ext cx="949325" cy="263525"/>
        </p:xfrm>
        <a:graphic>
          <a:graphicData uri="http://schemas.openxmlformats.org/presentationml/2006/ole">
            <mc:AlternateContent xmlns:mc="http://schemas.openxmlformats.org/markup-compatibility/2006">
              <mc:Choice xmlns:v="urn:schemas-microsoft-com:vml" Requires="v">
                <p:oleObj spid="_x0000_s112705" name="Equation" r:id="rId10" imgW="596880" imgH="164880" progId="Equation.DSMT4">
                  <p:embed/>
                </p:oleObj>
              </mc:Choice>
              <mc:Fallback>
                <p:oleObj name="Equation" r:id="rId10" imgW="596880" imgH="164880" progId="Equation.DSMT4">
                  <p:embed/>
                  <p:pic>
                    <p:nvPicPr>
                      <p:cNvPr id="730133"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3038" y="5910263"/>
                        <a:ext cx="949325"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34" name="Text Box 22"/>
          <p:cNvSpPr txBox="1">
            <a:spLocks noChangeArrowheads="1"/>
          </p:cNvSpPr>
          <p:nvPr/>
        </p:nvSpPr>
        <p:spPr bwMode="auto">
          <a:xfrm>
            <a:off x="5481638" y="5087938"/>
            <a:ext cx="12414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磁链</a:t>
            </a:r>
            <a:r>
              <a:rPr lang="el-GR" altLang="zh-CN" sz="2400" b="1" i="1">
                <a:latin typeface="Times New Roman" panose="02020603050405020304" pitchFamily="18" charset="0"/>
                <a:sym typeface="Symbol" panose="05050102010706020507" pitchFamily="18" charset="2"/>
              </a:rPr>
              <a:t></a:t>
            </a:r>
          </a:p>
        </p:txBody>
      </p:sp>
      <p:sp>
        <p:nvSpPr>
          <p:cNvPr id="730135" name="Text Box 23"/>
          <p:cNvSpPr txBox="1">
            <a:spLocks noChangeArrowheads="1"/>
          </p:cNvSpPr>
          <p:nvPr/>
        </p:nvSpPr>
        <p:spPr bwMode="auto">
          <a:xfrm>
            <a:off x="3105150" y="5159375"/>
            <a:ext cx="13684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电动势</a:t>
            </a:r>
            <a:r>
              <a:rPr lang="en-US" altLang="zh-CN" sz="2400" b="1" i="1">
                <a:latin typeface="Times New Roman" panose="02020603050405020304" pitchFamily="18" charset="0"/>
              </a:rPr>
              <a:t>e</a:t>
            </a:r>
            <a:endParaRPr lang="el-GR" altLang="zh-CN" sz="2400" b="1" i="1">
              <a:latin typeface="Times New Roman" panose="02020603050405020304" pitchFamily="18" charset="0"/>
            </a:endParaRPr>
          </a:p>
        </p:txBody>
      </p:sp>
      <p:sp>
        <p:nvSpPr>
          <p:cNvPr id="730136" name="Text Box 24"/>
          <p:cNvSpPr txBox="1">
            <a:spLocks noChangeArrowheads="1"/>
          </p:cNvSpPr>
          <p:nvPr/>
        </p:nvSpPr>
        <p:spPr bwMode="auto">
          <a:xfrm>
            <a:off x="2025650" y="4727575"/>
            <a:ext cx="18256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lang="en-US" altLang="zh-CN" b="1" i="1" dirty="0">
                <a:latin typeface="Times New Roman" panose="02020603050405020304" pitchFamily="18" charset="0"/>
              </a:rPr>
              <a:t>u</a:t>
            </a:r>
            <a:r>
              <a:rPr lang="zh-CN" altLang="en-US" b="1" dirty="0">
                <a:latin typeface="Times New Roman" panose="02020603050405020304" pitchFamily="18" charset="0"/>
              </a:rPr>
              <a:t>和</a:t>
            </a:r>
            <a:r>
              <a:rPr lang="en-US" altLang="zh-CN" b="1" i="1" dirty="0">
                <a:latin typeface="Times New Roman" panose="02020603050405020304" pitchFamily="18" charset="0"/>
              </a:rPr>
              <a:t>e</a:t>
            </a:r>
            <a:r>
              <a:rPr lang="zh-CN" altLang="en-US" b="1" dirty="0">
                <a:latin typeface="Times New Roman" panose="02020603050405020304" pitchFamily="18" charset="0"/>
              </a:rPr>
              <a:t>的关系</a:t>
            </a:r>
            <a:endParaRPr lang="zh-CN" altLang="el-GR" b="1" i="1" dirty="0">
              <a:latin typeface="Times New Roman" panose="02020603050405020304" pitchFamily="18" charset="0"/>
            </a:endParaRPr>
          </a:p>
        </p:txBody>
      </p:sp>
      <p:sp>
        <p:nvSpPr>
          <p:cNvPr id="730137" name="AutoShape 25"/>
          <p:cNvSpPr>
            <a:spLocks noChangeArrowheads="1"/>
          </p:cNvSpPr>
          <p:nvPr/>
        </p:nvSpPr>
        <p:spPr bwMode="auto">
          <a:xfrm flipH="1">
            <a:off x="2457450" y="5303838"/>
            <a:ext cx="646113" cy="144462"/>
          </a:xfrm>
          <a:prstGeom prst="rightArrow">
            <a:avLst>
              <a:gd name="adj1" fmla="val 50000"/>
              <a:gd name="adj2" fmla="val 1118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38" name="Text Box 26"/>
          <p:cNvSpPr txBox="1">
            <a:spLocks noChangeArrowheads="1"/>
          </p:cNvSpPr>
          <p:nvPr/>
        </p:nvSpPr>
        <p:spPr bwMode="auto">
          <a:xfrm>
            <a:off x="728663" y="5159375"/>
            <a:ext cx="1728787"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t>感应电压</a:t>
            </a:r>
            <a:r>
              <a:rPr lang="en-US" altLang="zh-CN" sz="2400" b="1" i="1">
                <a:latin typeface="Times New Roman" panose="02020603050405020304" pitchFamily="18" charset="0"/>
              </a:rPr>
              <a:t>u</a:t>
            </a:r>
            <a:endParaRPr lang="el-GR" altLang="zh-CN" sz="2400" b="1" i="1">
              <a:latin typeface="Times New Roman" panose="02020603050405020304" pitchFamily="18" charset="0"/>
            </a:endParaRPr>
          </a:p>
        </p:txBody>
      </p:sp>
      <p:sp>
        <p:nvSpPr>
          <p:cNvPr id="730139" name="Text Box 27"/>
          <p:cNvSpPr txBox="1">
            <a:spLocks noChangeArrowheads="1"/>
          </p:cNvSpPr>
          <p:nvPr/>
        </p:nvSpPr>
        <p:spPr bwMode="auto">
          <a:xfrm>
            <a:off x="6464300" y="814388"/>
            <a:ext cx="557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i="1">
                <a:solidFill>
                  <a:srgbClr val="000000"/>
                </a:solidFill>
                <a:latin typeface="Times New Roman" panose="02020603050405020304" pitchFamily="18" charset="0"/>
                <a:sym typeface="Symbol" panose="05050102010706020507" pitchFamily="18" charset="2"/>
              </a:rPr>
              <a:t></a:t>
            </a:r>
            <a:endParaRPr kumimoji="1" lang="en-US" altLang="zh-CN" sz="2400" b="1">
              <a:solidFill>
                <a:srgbClr val="000000"/>
              </a:solidFill>
              <a:latin typeface="Times New Roman" panose="02020603050405020304" pitchFamily="18" charset="0"/>
              <a:sym typeface="Symbol" panose="05050102010706020507" pitchFamily="18" charset="2"/>
            </a:endParaRPr>
          </a:p>
        </p:txBody>
      </p:sp>
      <p:grpSp>
        <p:nvGrpSpPr>
          <p:cNvPr id="730140" name="Group 28"/>
          <p:cNvGrpSpPr>
            <a:grpSpLocks/>
          </p:cNvGrpSpPr>
          <p:nvPr/>
        </p:nvGrpSpPr>
        <p:grpSpPr bwMode="auto">
          <a:xfrm>
            <a:off x="5110163" y="981075"/>
            <a:ext cx="1422400" cy="1676400"/>
            <a:chOff x="4560" y="879"/>
            <a:chExt cx="896" cy="1056"/>
          </a:xfrm>
        </p:grpSpPr>
        <p:sp>
          <p:nvSpPr>
            <p:cNvPr id="730141" name="Line 29"/>
            <p:cNvSpPr>
              <a:spLocks noChangeShapeType="1"/>
            </p:cNvSpPr>
            <p:nvPr/>
          </p:nvSpPr>
          <p:spPr bwMode="auto">
            <a:xfrm>
              <a:off x="5280" y="879"/>
              <a:ext cx="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2" name="Line 30"/>
            <p:cNvSpPr>
              <a:spLocks noChangeShapeType="1"/>
            </p:cNvSpPr>
            <p:nvPr/>
          </p:nvSpPr>
          <p:spPr bwMode="auto">
            <a:xfrm>
              <a:off x="5424" y="879"/>
              <a:ext cx="0" cy="105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3" name="Line 31"/>
            <p:cNvSpPr>
              <a:spLocks noChangeShapeType="1"/>
            </p:cNvSpPr>
            <p:nvPr/>
          </p:nvSpPr>
          <p:spPr bwMode="auto">
            <a:xfrm flipH="1">
              <a:off x="4560" y="1839"/>
              <a:ext cx="28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4" name="Line 32"/>
            <p:cNvSpPr>
              <a:spLocks noChangeShapeType="1"/>
            </p:cNvSpPr>
            <p:nvPr/>
          </p:nvSpPr>
          <p:spPr bwMode="auto">
            <a:xfrm>
              <a:off x="4560" y="1071"/>
              <a:ext cx="86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5" name="Line 33"/>
            <p:cNvSpPr>
              <a:spLocks noChangeShapeType="1"/>
            </p:cNvSpPr>
            <p:nvPr/>
          </p:nvSpPr>
          <p:spPr bwMode="auto">
            <a:xfrm flipV="1">
              <a:off x="4848" y="879"/>
              <a:ext cx="0" cy="105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6" name="Line 34"/>
            <p:cNvSpPr>
              <a:spLocks noChangeShapeType="1"/>
            </p:cNvSpPr>
            <p:nvPr/>
          </p:nvSpPr>
          <p:spPr bwMode="auto">
            <a:xfrm>
              <a:off x="4848" y="1215"/>
              <a:ext cx="576" cy="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7" name="Line 35"/>
            <p:cNvSpPr>
              <a:spLocks noChangeShapeType="1"/>
            </p:cNvSpPr>
            <p:nvPr/>
          </p:nvSpPr>
          <p:spPr bwMode="auto">
            <a:xfrm>
              <a:off x="4848" y="1359"/>
              <a:ext cx="576" cy="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8" name="Line 36"/>
            <p:cNvSpPr>
              <a:spLocks noChangeShapeType="1"/>
            </p:cNvSpPr>
            <p:nvPr/>
          </p:nvSpPr>
          <p:spPr bwMode="auto">
            <a:xfrm>
              <a:off x="4848" y="1503"/>
              <a:ext cx="576" cy="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49" name="Line 37"/>
            <p:cNvSpPr>
              <a:spLocks noChangeShapeType="1"/>
            </p:cNvSpPr>
            <p:nvPr/>
          </p:nvSpPr>
          <p:spPr bwMode="auto">
            <a:xfrm>
              <a:off x="4848" y="1647"/>
              <a:ext cx="576" cy="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0" name="Freeform 38"/>
            <p:cNvSpPr>
              <a:spLocks/>
            </p:cNvSpPr>
            <p:nvPr/>
          </p:nvSpPr>
          <p:spPr bwMode="auto">
            <a:xfrm>
              <a:off x="4821" y="1173"/>
              <a:ext cx="27" cy="54"/>
            </a:xfrm>
            <a:custGeom>
              <a:avLst/>
              <a:gdLst>
                <a:gd name="T0" fmla="*/ 21 w 27"/>
                <a:gd name="T1" fmla="*/ 0 h 54"/>
                <a:gd name="T2" fmla="*/ 3 w 27"/>
                <a:gd name="T3" fmla="*/ 36 h 54"/>
                <a:gd name="T4" fmla="*/ 27 w 27"/>
                <a:gd name="T5" fmla="*/ 54 h 54"/>
              </a:gdLst>
              <a:ahLst/>
              <a:cxnLst>
                <a:cxn ang="0">
                  <a:pos x="T0" y="T1"/>
                </a:cxn>
                <a:cxn ang="0">
                  <a:pos x="T2" y="T3"/>
                </a:cxn>
                <a:cxn ang="0">
                  <a:pos x="T4" y="T5"/>
                </a:cxn>
              </a:cxnLst>
              <a:rect l="0" t="0" r="r" b="b"/>
              <a:pathLst>
                <a:path w="27" h="54">
                  <a:moveTo>
                    <a:pt x="21" y="0"/>
                  </a:moveTo>
                  <a:cubicBezTo>
                    <a:pt x="18" y="4"/>
                    <a:pt x="0" y="28"/>
                    <a:pt x="3" y="36"/>
                  </a:cubicBezTo>
                  <a:cubicBezTo>
                    <a:pt x="7" y="45"/>
                    <a:pt x="20" y="47"/>
                    <a:pt x="27" y="54"/>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1" name="Freeform 39"/>
            <p:cNvSpPr>
              <a:spLocks/>
            </p:cNvSpPr>
            <p:nvPr/>
          </p:nvSpPr>
          <p:spPr bwMode="auto">
            <a:xfrm>
              <a:off x="5424" y="1311"/>
              <a:ext cx="19" cy="36"/>
            </a:xfrm>
            <a:custGeom>
              <a:avLst/>
              <a:gdLst>
                <a:gd name="T0" fmla="*/ 6 w 19"/>
                <a:gd name="T1" fmla="*/ 0 h 36"/>
                <a:gd name="T2" fmla="*/ 18 w 19"/>
                <a:gd name="T3" fmla="*/ 18 h 36"/>
                <a:gd name="T4" fmla="*/ 0 w 19"/>
                <a:gd name="T5" fmla="*/ 36 h 36"/>
              </a:gdLst>
              <a:ahLst/>
              <a:cxnLst>
                <a:cxn ang="0">
                  <a:pos x="T0" y="T1"/>
                </a:cxn>
                <a:cxn ang="0">
                  <a:pos x="T2" y="T3"/>
                </a:cxn>
                <a:cxn ang="0">
                  <a:pos x="T4" y="T5"/>
                </a:cxn>
              </a:cxnLst>
              <a:rect l="0" t="0" r="r" b="b"/>
              <a:pathLst>
                <a:path w="19" h="36">
                  <a:moveTo>
                    <a:pt x="6" y="0"/>
                  </a:moveTo>
                  <a:cubicBezTo>
                    <a:pt x="10" y="6"/>
                    <a:pt x="19" y="11"/>
                    <a:pt x="18" y="18"/>
                  </a:cubicBezTo>
                  <a:cubicBezTo>
                    <a:pt x="17" y="26"/>
                    <a:pt x="0" y="36"/>
                    <a:pt x="0" y="36"/>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2" name="Freeform 40"/>
            <p:cNvSpPr>
              <a:spLocks/>
            </p:cNvSpPr>
            <p:nvPr/>
          </p:nvSpPr>
          <p:spPr bwMode="auto">
            <a:xfrm>
              <a:off x="4822" y="1333"/>
              <a:ext cx="22" cy="26"/>
            </a:xfrm>
            <a:custGeom>
              <a:avLst/>
              <a:gdLst>
                <a:gd name="T0" fmla="*/ 20 w 22"/>
                <a:gd name="T1" fmla="*/ 26 h 26"/>
                <a:gd name="T2" fmla="*/ 2 w 22"/>
                <a:gd name="T3" fmla="*/ 20 h 26"/>
                <a:gd name="T4" fmla="*/ 14 w 22"/>
                <a:gd name="T5" fmla="*/ 2 h 26"/>
                <a:gd name="T6" fmla="*/ 20 w 22"/>
                <a:gd name="T7" fmla="*/ 26 h 26"/>
              </a:gdLst>
              <a:ahLst/>
              <a:cxnLst>
                <a:cxn ang="0">
                  <a:pos x="T0" y="T1"/>
                </a:cxn>
                <a:cxn ang="0">
                  <a:pos x="T2" y="T3"/>
                </a:cxn>
                <a:cxn ang="0">
                  <a:pos x="T4" y="T5"/>
                </a:cxn>
                <a:cxn ang="0">
                  <a:pos x="T6" y="T7"/>
                </a:cxn>
              </a:cxnLst>
              <a:rect l="0" t="0" r="r" b="b"/>
              <a:pathLst>
                <a:path w="22" h="26">
                  <a:moveTo>
                    <a:pt x="20" y="26"/>
                  </a:moveTo>
                  <a:cubicBezTo>
                    <a:pt x="14" y="24"/>
                    <a:pt x="4" y="26"/>
                    <a:pt x="2" y="20"/>
                  </a:cubicBezTo>
                  <a:cubicBezTo>
                    <a:pt x="0" y="13"/>
                    <a:pt x="7" y="0"/>
                    <a:pt x="14" y="2"/>
                  </a:cubicBezTo>
                  <a:cubicBezTo>
                    <a:pt x="22" y="5"/>
                    <a:pt x="18" y="18"/>
                    <a:pt x="20" y="26"/>
                  </a:cubicBezTo>
                  <a:close/>
                </a:path>
              </a:pathLst>
            </a:custGeom>
            <a:solidFill>
              <a:srgbClr val="FFFFFF"/>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3" name="Freeform 41"/>
            <p:cNvSpPr>
              <a:spLocks/>
            </p:cNvSpPr>
            <p:nvPr/>
          </p:nvSpPr>
          <p:spPr bwMode="auto">
            <a:xfrm>
              <a:off x="5424" y="1455"/>
              <a:ext cx="28" cy="36"/>
            </a:xfrm>
            <a:custGeom>
              <a:avLst/>
              <a:gdLst>
                <a:gd name="T0" fmla="*/ 6 w 28"/>
                <a:gd name="T1" fmla="*/ 0 h 36"/>
                <a:gd name="T2" fmla="*/ 0 w 28"/>
                <a:gd name="T3" fmla="*/ 36 h 36"/>
              </a:gdLst>
              <a:ahLst/>
              <a:cxnLst>
                <a:cxn ang="0">
                  <a:pos x="T0" y="T1"/>
                </a:cxn>
                <a:cxn ang="0">
                  <a:pos x="T2" y="T3"/>
                </a:cxn>
              </a:cxnLst>
              <a:rect l="0" t="0" r="r" b="b"/>
              <a:pathLst>
                <a:path w="28" h="36">
                  <a:moveTo>
                    <a:pt x="6" y="0"/>
                  </a:moveTo>
                  <a:cubicBezTo>
                    <a:pt x="16" y="15"/>
                    <a:pt x="28" y="36"/>
                    <a:pt x="0" y="36"/>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4" name="Freeform 42"/>
            <p:cNvSpPr>
              <a:spLocks/>
            </p:cNvSpPr>
            <p:nvPr/>
          </p:nvSpPr>
          <p:spPr bwMode="auto">
            <a:xfrm>
              <a:off x="4822" y="1467"/>
              <a:ext cx="26" cy="36"/>
            </a:xfrm>
            <a:custGeom>
              <a:avLst/>
              <a:gdLst>
                <a:gd name="T0" fmla="*/ 20 w 26"/>
                <a:gd name="T1" fmla="*/ 0 h 36"/>
                <a:gd name="T2" fmla="*/ 2 w 26"/>
                <a:gd name="T3" fmla="*/ 12 h 36"/>
                <a:gd name="T4" fmla="*/ 8 w 26"/>
                <a:gd name="T5" fmla="*/ 30 h 36"/>
                <a:gd name="T6" fmla="*/ 26 w 26"/>
                <a:gd name="T7" fmla="*/ 36 h 36"/>
              </a:gdLst>
              <a:ahLst/>
              <a:cxnLst>
                <a:cxn ang="0">
                  <a:pos x="T0" y="T1"/>
                </a:cxn>
                <a:cxn ang="0">
                  <a:pos x="T2" y="T3"/>
                </a:cxn>
                <a:cxn ang="0">
                  <a:pos x="T4" y="T5"/>
                </a:cxn>
                <a:cxn ang="0">
                  <a:pos x="T6" y="T7"/>
                </a:cxn>
              </a:cxnLst>
              <a:rect l="0" t="0" r="r" b="b"/>
              <a:pathLst>
                <a:path w="26" h="36">
                  <a:moveTo>
                    <a:pt x="20" y="0"/>
                  </a:moveTo>
                  <a:cubicBezTo>
                    <a:pt x="14" y="4"/>
                    <a:pt x="5" y="5"/>
                    <a:pt x="2" y="12"/>
                  </a:cubicBezTo>
                  <a:cubicBezTo>
                    <a:pt x="0" y="18"/>
                    <a:pt x="4" y="26"/>
                    <a:pt x="8" y="30"/>
                  </a:cubicBezTo>
                  <a:cubicBezTo>
                    <a:pt x="12" y="34"/>
                    <a:pt x="26" y="36"/>
                    <a:pt x="26" y="36"/>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5" name="Freeform 43"/>
            <p:cNvSpPr>
              <a:spLocks/>
            </p:cNvSpPr>
            <p:nvPr/>
          </p:nvSpPr>
          <p:spPr bwMode="auto">
            <a:xfrm>
              <a:off x="5418" y="1599"/>
              <a:ext cx="27" cy="33"/>
            </a:xfrm>
            <a:custGeom>
              <a:avLst/>
              <a:gdLst>
                <a:gd name="T0" fmla="*/ 0 w 27"/>
                <a:gd name="T1" fmla="*/ 0 h 33"/>
                <a:gd name="T2" fmla="*/ 24 w 27"/>
                <a:gd name="T3" fmla="*/ 12 h 33"/>
                <a:gd name="T4" fmla="*/ 18 w 27"/>
                <a:gd name="T5" fmla="*/ 30 h 33"/>
                <a:gd name="T6" fmla="*/ 0 w 27"/>
                <a:gd name="T7" fmla="*/ 0 h 33"/>
              </a:gdLst>
              <a:ahLst/>
              <a:cxnLst>
                <a:cxn ang="0">
                  <a:pos x="T0" y="T1"/>
                </a:cxn>
                <a:cxn ang="0">
                  <a:pos x="T2" y="T3"/>
                </a:cxn>
                <a:cxn ang="0">
                  <a:pos x="T4" y="T5"/>
                </a:cxn>
                <a:cxn ang="0">
                  <a:pos x="T6" y="T7"/>
                </a:cxn>
              </a:cxnLst>
              <a:rect l="0" t="0" r="r" b="b"/>
              <a:pathLst>
                <a:path w="27" h="33">
                  <a:moveTo>
                    <a:pt x="0" y="0"/>
                  </a:moveTo>
                  <a:cubicBezTo>
                    <a:pt x="8" y="4"/>
                    <a:pt x="19" y="4"/>
                    <a:pt x="24" y="12"/>
                  </a:cubicBezTo>
                  <a:cubicBezTo>
                    <a:pt x="27" y="17"/>
                    <a:pt x="24" y="33"/>
                    <a:pt x="18" y="30"/>
                  </a:cubicBezTo>
                  <a:cubicBezTo>
                    <a:pt x="8" y="25"/>
                    <a:pt x="6" y="10"/>
                    <a:pt x="0" y="0"/>
                  </a:cubicBezTo>
                  <a:close/>
                </a:path>
              </a:pathLst>
            </a:custGeom>
            <a:solidFill>
              <a:srgbClr val="FFFFFF"/>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6" name="Freeform 44"/>
            <p:cNvSpPr>
              <a:spLocks/>
            </p:cNvSpPr>
            <p:nvPr/>
          </p:nvSpPr>
          <p:spPr bwMode="auto">
            <a:xfrm>
              <a:off x="4828" y="1611"/>
              <a:ext cx="24" cy="48"/>
            </a:xfrm>
            <a:custGeom>
              <a:avLst/>
              <a:gdLst>
                <a:gd name="T0" fmla="*/ 14 w 24"/>
                <a:gd name="T1" fmla="*/ 0 h 48"/>
                <a:gd name="T2" fmla="*/ 2 w 24"/>
                <a:gd name="T3" fmla="*/ 36 h 48"/>
                <a:gd name="T4" fmla="*/ 20 w 24"/>
                <a:gd name="T5" fmla="*/ 48 h 48"/>
                <a:gd name="T6" fmla="*/ 20 w 24"/>
                <a:gd name="T7" fmla="*/ 36 h 48"/>
              </a:gdLst>
              <a:ahLst/>
              <a:cxnLst>
                <a:cxn ang="0">
                  <a:pos x="T0" y="T1"/>
                </a:cxn>
                <a:cxn ang="0">
                  <a:pos x="T2" y="T3"/>
                </a:cxn>
                <a:cxn ang="0">
                  <a:pos x="T4" y="T5"/>
                </a:cxn>
                <a:cxn ang="0">
                  <a:pos x="T6" y="T7"/>
                </a:cxn>
              </a:cxnLst>
              <a:rect l="0" t="0" r="r" b="b"/>
              <a:pathLst>
                <a:path w="24" h="48">
                  <a:moveTo>
                    <a:pt x="14" y="0"/>
                  </a:moveTo>
                  <a:cubicBezTo>
                    <a:pt x="10" y="12"/>
                    <a:pt x="6" y="24"/>
                    <a:pt x="2" y="36"/>
                  </a:cubicBezTo>
                  <a:cubicBezTo>
                    <a:pt x="0" y="43"/>
                    <a:pt x="13" y="48"/>
                    <a:pt x="20" y="48"/>
                  </a:cubicBezTo>
                  <a:cubicBezTo>
                    <a:pt x="24" y="48"/>
                    <a:pt x="20" y="40"/>
                    <a:pt x="20" y="36"/>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7" name="Freeform 45"/>
            <p:cNvSpPr>
              <a:spLocks/>
            </p:cNvSpPr>
            <p:nvPr/>
          </p:nvSpPr>
          <p:spPr bwMode="auto">
            <a:xfrm>
              <a:off x="5424" y="1743"/>
              <a:ext cx="31" cy="48"/>
            </a:xfrm>
            <a:custGeom>
              <a:avLst/>
              <a:gdLst>
                <a:gd name="T0" fmla="*/ 0 w 31"/>
                <a:gd name="T1" fmla="*/ 0 h 48"/>
                <a:gd name="T2" fmla="*/ 6 w 31"/>
                <a:gd name="T3" fmla="*/ 18 h 48"/>
                <a:gd name="T4" fmla="*/ 24 w 31"/>
                <a:gd name="T5" fmla="*/ 24 h 48"/>
                <a:gd name="T6" fmla="*/ 6 w 31"/>
                <a:gd name="T7" fmla="*/ 48 h 48"/>
              </a:gdLst>
              <a:ahLst/>
              <a:cxnLst>
                <a:cxn ang="0">
                  <a:pos x="T0" y="T1"/>
                </a:cxn>
                <a:cxn ang="0">
                  <a:pos x="T2" y="T3"/>
                </a:cxn>
                <a:cxn ang="0">
                  <a:pos x="T4" y="T5"/>
                </a:cxn>
                <a:cxn ang="0">
                  <a:pos x="T6" y="T7"/>
                </a:cxn>
              </a:cxnLst>
              <a:rect l="0" t="0" r="r" b="b"/>
              <a:pathLst>
                <a:path w="31" h="48">
                  <a:moveTo>
                    <a:pt x="0" y="0"/>
                  </a:moveTo>
                  <a:cubicBezTo>
                    <a:pt x="2" y="6"/>
                    <a:pt x="2" y="14"/>
                    <a:pt x="6" y="18"/>
                  </a:cubicBezTo>
                  <a:cubicBezTo>
                    <a:pt x="10" y="22"/>
                    <a:pt x="21" y="18"/>
                    <a:pt x="24" y="24"/>
                  </a:cubicBezTo>
                  <a:cubicBezTo>
                    <a:pt x="31" y="39"/>
                    <a:pt x="13" y="44"/>
                    <a:pt x="6" y="48"/>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58" name="Freeform 46"/>
            <p:cNvSpPr>
              <a:spLocks/>
            </p:cNvSpPr>
            <p:nvPr/>
          </p:nvSpPr>
          <p:spPr bwMode="auto">
            <a:xfrm>
              <a:off x="5424" y="1077"/>
              <a:ext cx="32" cy="42"/>
            </a:xfrm>
            <a:custGeom>
              <a:avLst/>
              <a:gdLst>
                <a:gd name="T0" fmla="*/ 0 w 32"/>
                <a:gd name="T1" fmla="*/ 0 h 42"/>
                <a:gd name="T2" fmla="*/ 6 w 32"/>
                <a:gd name="T3" fmla="*/ 42 h 42"/>
              </a:gdLst>
              <a:ahLst/>
              <a:cxnLst>
                <a:cxn ang="0">
                  <a:pos x="T0" y="T1"/>
                </a:cxn>
                <a:cxn ang="0">
                  <a:pos x="T2" y="T3"/>
                </a:cxn>
              </a:cxnLst>
              <a:rect l="0" t="0" r="r" b="b"/>
              <a:pathLst>
                <a:path w="32" h="42">
                  <a:moveTo>
                    <a:pt x="0" y="0"/>
                  </a:moveTo>
                  <a:cubicBezTo>
                    <a:pt x="32" y="11"/>
                    <a:pt x="19" y="17"/>
                    <a:pt x="6" y="42"/>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0159" name="AutoShape 47"/>
          <p:cNvSpPr>
            <a:spLocks noChangeArrowheads="1"/>
          </p:cNvSpPr>
          <p:nvPr/>
        </p:nvSpPr>
        <p:spPr bwMode="auto">
          <a:xfrm>
            <a:off x="5795963" y="981075"/>
            <a:ext cx="457200" cy="1676400"/>
          </a:xfrm>
          <a:prstGeom prst="upArrow">
            <a:avLst>
              <a:gd name="adj1" fmla="val 50000"/>
              <a:gd name="adj2" fmla="val 91667"/>
            </a:avLst>
          </a:prstGeom>
          <a:solidFill>
            <a:srgbClr val="FF0000">
              <a:alpha val="50000"/>
            </a:srgbClr>
          </a:solidFill>
          <a:ln w="12700" cap="rnd">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30160" name="Group 48"/>
          <p:cNvGrpSpPr>
            <a:grpSpLocks/>
          </p:cNvGrpSpPr>
          <p:nvPr/>
        </p:nvGrpSpPr>
        <p:grpSpPr bwMode="auto">
          <a:xfrm>
            <a:off x="4819650" y="1247775"/>
            <a:ext cx="420688" cy="1333500"/>
            <a:chOff x="4377" y="1047"/>
            <a:chExt cx="265" cy="840"/>
          </a:xfrm>
        </p:grpSpPr>
        <p:sp>
          <p:nvSpPr>
            <p:cNvPr id="730161" name="Text Box 49"/>
            <p:cNvSpPr txBox="1">
              <a:spLocks noChangeArrowheads="1"/>
            </p:cNvSpPr>
            <p:nvPr/>
          </p:nvSpPr>
          <p:spPr bwMode="auto">
            <a:xfrm>
              <a:off x="4400" y="1047"/>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rgbClr val="000000"/>
                  </a:solidFill>
                  <a:latin typeface="Times New Roman" panose="02020603050405020304" pitchFamily="18" charset="0"/>
                </a:rPr>
                <a:t>+</a:t>
              </a:r>
            </a:p>
          </p:txBody>
        </p:sp>
        <p:sp>
          <p:nvSpPr>
            <p:cNvPr id="730162" name="Text Box 50"/>
            <p:cNvSpPr txBox="1">
              <a:spLocks noChangeArrowheads="1"/>
            </p:cNvSpPr>
            <p:nvPr/>
          </p:nvSpPr>
          <p:spPr bwMode="auto">
            <a:xfrm>
              <a:off x="4430" y="1599"/>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rgbClr val="000000"/>
                  </a:solidFill>
                  <a:latin typeface="Times New Roman" panose="02020603050405020304" pitchFamily="18" charset="0"/>
                </a:rPr>
                <a:t>–</a:t>
              </a:r>
            </a:p>
          </p:txBody>
        </p:sp>
        <p:sp>
          <p:nvSpPr>
            <p:cNvPr id="730163" name="Text Box 51"/>
            <p:cNvSpPr txBox="1">
              <a:spLocks noChangeArrowheads="1"/>
            </p:cNvSpPr>
            <p:nvPr/>
          </p:nvSpPr>
          <p:spPr bwMode="auto">
            <a:xfrm>
              <a:off x="4377" y="1359"/>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a:solidFill>
                    <a:srgbClr val="000000"/>
                  </a:solidFill>
                  <a:latin typeface="Times New Roman" panose="02020603050405020304" pitchFamily="18" charset="0"/>
                </a:rPr>
                <a:t>u</a:t>
              </a:r>
              <a:endParaRPr kumimoji="1" lang="en-US" altLang="zh-CN" sz="2400" b="1">
                <a:solidFill>
                  <a:srgbClr val="000000"/>
                </a:solidFill>
                <a:latin typeface="Times New Roman" panose="02020603050405020304" pitchFamily="18" charset="0"/>
              </a:endParaRPr>
            </a:p>
          </p:txBody>
        </p:sp>
      </p:grpSp>
      <p:grpSp>
        <p:nvGrpSpPr>
          <p:cNvPr id="730164" name="Group 52"/>
          <p:cNvGrpSpPr>
            <a:grpSpLocks/>
          </p:cNvGrpSpPr>
          <p:nvPr/>
        </p:nvGrpSpPr>
        <p:grpSpPr bwMode="auto">
          <a:xfrm>
            <a:off x="5160963" y="1209675"/>
            <a:ext cx="382587" cy="1371600"/>
            <a:chOff x="4592" y="1023"/>
            <a:chExt cx="241" cy="864"/>
          </a:xfrm>
        </p:grpSpPr>
        <p:sp>
          <p:nvSpPr>
            <p:cNvPr id="730165" name="Text Box 53"/>
            <p:cNvSpPr txBox="1">
              <a:spLocks noChangeArrowheads="1"/>
            </p:cNvSpPr>
            <p:nvPr/>
          </p:nvSpPr>
          <p:spPr bwMode="auto">
            <a:xfrm>
              <a:off x="4592" y="1023"/>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rgbClr val="000000"/>
                  </a:solidFill>
                  <a:latin typeface="Times New Roman" panose="02020603050405020304" pitchFamily="18" charset="0"/>
                </a:rPr>
                <a:t>–</a:t>
              </a:r>
            </a:p>
          </p:txBody>
        </p:sp>
        <p:sp>
          <p:nvSpPr>
            <p:cNvPr id="730166" name="Text Box 54"/>
            <p:cNvSpPr txBox="1">
              <a:spLocks noChangeArrowheads="1"/>
            </p:cNvSpPr>
            <p:nvPr/>
          </p:nvSpPr>
          <p:spPr bwMode="auto">
            <a:xfrm>
              <a:off x="4608" y="1599"/>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a:solidFill>
                    <a:srgbClr val="000000"/>
                  </a:solidFill>
                  <a:latin typeface="Times New Roman" panose="02020603050405020304" pitchFamily="18" charset="0"/>
                </a:rPr>
                <a:t>+</a:t>
              </a:r>
            </a:p>
          </p:txBody>
        </p:sp>
        <p:sp>
          <p:nvSpPr>
            <p:cNvPr id="730167" name="Text Box 55"/>
            <p:cNvSpPr txBox="1">
              <a:spLocks noChangeArrowheads="1"/>
            </p:cNvSpPr>
            <p:nvPr/>
          </p:nvSpPr>
          <p:spPr bwMode="auto">
            <a:xfrm>
              <a:off x="4599" y="1311"/>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a:solidFill>
                    <a:srgbClr val="000000"/>
                  </a:solidFill>
                  <a:latin typeface="Times New Roman" panose="02020603050405020304" pitchFamily="18" charset="0"/>
                </a:rPr>
                <a:t>e</a:t>
              </a:r>
              <a:endParaRPr kumimoji="1" lang="en-US" altLang="zh-CN" sz="2400" b="1">
                <a:solidFill>
                  <a:srgbClr val="000000"/>
                </a:solidFill>
                <a:latin typeface="Times New Roman" panose="02020603050405020304" pitchFamily="18" charset="0"/>
              </a:endParaRPr>
            </a:p>
          </p:txBody>
        </p:sp>
      </p:grpSp>
      <p:grpSp>
        <p:nvGrpSpPr>
          <p:cNvPr id="730168" name="Group 56"/>
          <p:cNvGrpSpPr>
            <a:grpSpLocks/>
          </p:cNvGrpSpPr>
          <p:nvPr/>
        </p:nvGrpSpPr>
        <p:grpSpPr bwMode="auto">
          <a:xfrm>
            <a:off x="5035550" y="719138"/>
            <a:ext cx="379413" cy="495300"/>
            <a:chOff x="4513" y="735"/>
            <a:chExt cx="239" cy="312"/>
          </a:xfrm>
        </p:grpSpPr>
        <p:sp>
          <p:nvSpPr>
            <p:cNvPr id="730169" name="Line 57"/>
            <p:cNvSpPr>
              <a:spLocks noChangeShapeType="1"/>
            </p:cNvSpPr>
            <p:nvPr/>
          </p:nvSpPr>
          <p:spPr bwMode="auto">
            <a:xfrm>
              <a:off x="4560" y="1023"/>
              <a:ext cx="192"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170" name="Text Box 58"/>
            <p:cNvSpPr txBox="1">
              <a:spLocks noChangeArrowheads="1"/>
            </p:cNvSpPr>
            <p:nvPr/>
          </p:nvSpPr>
          <p:spPr bwMode="auto">
            <a:xfrm>
              <a:off x="4560" y="735"/>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kumimoji="1" lang="en-US" altLang="zh-CN" sz="2400" b="1" i="1">
                  <a:solidFill>
                    <a:srgbClr val="000000"/>
                  </a:solidFill>
                  <a:latin typeface="Times New Roman" panose="02020603050405020304" pitchFamily="18" charset="0"/>
                </a:rPr>
                <a:t>i</a:t>
              </a:r>
              <a:endParaRPr kumimoji="1" lang="en-US" altLang="zh-CN" sz="2400" b="1">
                <a:solidFill>
                  <a:srgbClr val="000000"/>
                </a:solidFill>
                <a:latin typeface="Times New Roman" panose="02020603050405020304" pitchFamily="18" charset="0"/>
              </a:endParaRPr>
            </a:p>
          </p:txBody>
        </p:sp>
        <p:cxnSp>
          <p:nvCxnSpPr>
            <p:cNvPr id="730171" name="AutoShape 59"/>
            <p:cNvCxnSpPr>
              <a:cxnSpLocks noChangeShapeType="1"/>
              <a:stCxn id="730161" idx="0"/>
              <a:endCxn id="730161" idx="0"/>
            </p:cNvCxnSpPr>
            <p:nvPr/>
          </p:nvCxnSpPr>
          <p:spPr bwMode="auto">
            <a:xfrm>
              <a:off x="4513" y="1047"/>
              <a:ext cx="0" cy="0"/>
            </a:xfrm>
            <a:prstGeom prst="straightConnector1">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730172" name="Object 60"/>
          <p:cNvGraphicFramePr>
            <a:graphicFrameLocks noChangeAspect="1"/>
          </p:cNvGraphicFramePr>
          <p:nvPr/>
        </p:nvGraphicFramePr>
        <p:xfrm>
          <a:off x="993775" y="5638800"/>
          <a:ext cx="1066800" cy="758825"/>
        </p:xfrm>
        <a:graphic>
          <a:graphicData uri="http://schemas.openxmlformats.org/presentationml/2006/ole">
            <mc:AlternateContent xmlns:mc="http://schemas.openxmlformats.org/markup-compatibility/2006">
              <mc:Choice xmlns:v="urn:schemas-microsoft-com:vml" Requires="v">
                <p:oleObj spid="_x0000_s112706" name="公式" r:id="rId12" imgW="571320" imgH="406080" progId="Equation.3">
                  <p:embed/>
                </p:oleObj>
              </mc:Choice>
              <mc:Fallback>
                <p:oleObj name="公式" r:id="rId12" imgW="571320" imgH="406080" progId="Equation.3">
                  <p:embed/>
                  <p:pic>
                    <p:nvPicPr>
                      <p:cNvPr id="730172" name="Object 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3775" y="5638800"/>
                        <a:ext cx="1066800" cy="7588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 name="Rectangle 6"/>
          <p:cNvSpPr txBox="1">
            <a:spLocks noChangeArrowheads="1"/>
          </p:cNvSpPr>
          <p:nvPr/>
        </p:nvSpPr>
        <p:spPr bwMode="auto">
          <a:xfrm>
            <a:off x="304800" y="115888"/>
            <a:ext cx="8153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defRPr/>
            </a:pPr>
            <a:r>
              <a:rPr lang="en-US" altLang="zh-CN" sz="2800" smtClean="0">
                <a:solidFill>
                  <a:schemeClr val="tx1"/>
                </a:solidFill>
                <a:effectLst>
                  <a:outerShdw blurRad="38100" dist="38100" dir="2700000" algn="tl">
                    <a:srgbClr val="C0C0C0"/>
                  </a:outerShdw>
                </a:effectLst>
                <a:ea typeface="隶书" panose="02010509060101010101" pitchFamily="49" charset="-122"/>
              </a:rPr>
              <a:t>13.4 </a:t>
            </a:r>
            <a:r>
              <a:rPr lang="zh-CN" altLang="en-US" sz="2800" smtClean="0">
                <a:solidFill>
                  <a:schemeClr val="tx1"/>
                </a:solidFill>
                <a:effectLst>
                  <a:outerShdw blurRad="38100" dist="38100" dir="2700000" algn="tl">
                    <a:srgbClr val="C0C0C0"/>
                  </a:outerShdw>
                </a:effectLst>
                <a:ea typeface="隶书" panose="02010509060101010101" pitchFamily="49" charset="-122"/>
              </a:rPr>
              <a:t>变压器　</a:t>
            </a:r>
            <a:r>
              <a:rPr lang="en-US" altLang="zh-CN" sz="2800" smtClean="0">
                <a:solidFill>
                  <a:schemeClr val="tx1"/>
                </a:solidFill>
                <a:effectLst>
                  <a:outerShdw blurRad="38100" dist="38100" dir="2700000" algn="tl">
                    <a:srgbClr val="C0C0C0"/>
                  </a:outerShdw>
                </a:effectLst>
                <a:ea typeface="隶书" panose="02010509060101010101" pitchFamily="49" charset="-122"/>
              </a:rPr>
              <a:t>Transformers</a:t>
            </a:r>
            <a:endParaRPr lang="en-US" altLang="zh-CN" sz="2800" b="1" dirty="0" smtClean="0">
              <a:ea typeface="隶书" panose="02010509060101010101" pitchFamily="49" charset="-122"/>
            </a:endParaRPr>
          </a:p>
        </p:txBody>
      </p:sp>
    </p:spTree>
    <p:extLst>
      <p:ext uri="{BB962C8B-B14F-4D97-AF65-F5344CB8AC3E}">
        <p14:creationId xmlns:p14="http://schemas.microsoft.com/office/powerpoint/2010/main" val="34414001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0115"/>
                                        </p:tgtEl>
                                        <p:attrNameLst>
                                          <p:attrName>style.visibility</p:attrName>
                                        </p:attrNameLst>
                                      </p:cBhvr>
                                      <p:to>
                                        <p:strVal val="visible"/>
                                      </p:to>
                                    </p:set>
                                    <p:animEffect transition="in" filter="dissolve">
                                      <p:cBhvr>
                                        <p:cTn id="7" dur="500"/>
                                        <p:tgtEl>
                                          <p:spTgt spid="730115"/>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30140"/>
                                        </p:tgtEl>
                                        <p:attrNameLst>
                                          <p:attrName>style.visibility</p:attrName>
                                        </p:attrNameLst>
                                      </p:cBhvr>
                                      <p:to>
                                        <p:strVal val="visible"/>
                                      </p:to>
                                    </p:set>
                                    <p:animEffect transition="in" filter="dissolve">
                                      <p:cBhvr>
                                        <p:cTn id="11" dur="500"/>
                                        <p:tgtEl>
                                          <p:spTgt spid="7301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30116"/>
                                        </p:tgtEl>
                                        <p:attrNameLst>
                                          <p:attrName>style.visibility</p:attrName>
                                        </p:attrNameLst>
                                      </p:cBhvr>
                                      <p:to>
                                        <p:strVal val="visible"/>
                                      </p:to>
                                    </p:set>
                                    <p:animEffect transition="in" filter="dissolve">
                                      <p:cBhvr>
                                        <p:cTn id="16" dur="500"/>
                                        <p:tgtEl>
                                          <p:spTgt spid="730116"/>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30168"/>
                                        </p:tgtEl>
                                        <p:attrNameLst>
                                          <p:attrName>style.visibility</p:attrName>
                                        </p:attrNameLst>
                                      </p:cBhvr>
                                      <p:to>
                                        <p:strVal val="visible"/>
                                      </p:to>
                                    </p:set>
                                    <p:animEffect transition="in" filter="dissolve">
                                      <p:cBhvr>
                                        <p:cTn id="20" dur="500"/>
                                        <p:tgtEl>
                                          <p:spTgt spid="7301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30129"/>
                                        </p:tgtEl>
                                        <p:attrNameLst>
                                          <p:attrName>style.visibility</p:attrName>
                                        </p:attrNameLst>
                                      </p:cBhvr>
                                      <p:to>
                                        <p:strVal val="visible"/>
                                      </p:to>
                                    </p:set>
                                    <p:animEffect transition="in" filter="wipe(left)">
                                      <p:cBhvr>
                                        <p:cTn id="25" dur="500"/>
                                        <p:tgtEl>
                                          <p:spTgt spid="730129"/>
                                        </p:tgtEl>
                                      </p:cBhvr>
                                    </p:animEffect>
                                  </p:childTnLst>
                                </p:cTn>
                              </p:par>
                            </p:childTnLst>
                          </p:cTn>
                        </p:par>
                        <p:par>
                          <p:cTn id="26" fill="hold" nodeType="afterGroup">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730117"/>
                                        </p:tgtEl>
                                        <p:attrNameLst>
                                          <p:attrName>style.visibility</p:attrName>
                                        </p:attrNameLst>
                                      </p:cBhvr>
                                      <p:to>
                                        <p:strVal val="visible"/>
                                      </p:to>
                                    </p:set>
                                    <p:animEffect transition="in" filter="dissolve">
                                      <p:cBhvr>
                                        <p:cTn id="29" dur="500"/>
                                        <p:tgtEl>
                                          <p:spTgt spid="730117"/>
                                        </p:tgtEl>
                                      </p:cBhvr>
                                    </p:animEffect>
                                  </p:childTnLst>
                                </p:cTn>
                              </p:par>
                            </p:childTnLst>
                          </p:cTn>
                        </p:par>
                        <p:par>
                          <p:cTn id="30" fill="hold" nodeType="afterGroup">
                            <p:stCondLst>
                              <p:cond delay="1000"/>
                            </p:stCondLst>
                            <p:childTnLst>
                              <p:par>
                                <p:cTn id="31" presetID="9" presetClass="entr" presetSubtype="0" fill="hold" nodeType="afterEffect">
                                  <p:stCondLst>
                                    <p:cond delay="0"/>
                                  </p:stCondLst>
                                  <p:childTnLst>
                                    <p:set>
                                      <p:cBhvr>
                                        <p:cTn id="32" dur="1" fill="hold">
                                          <p:stCondLst>
                                            <p:cond delay="0"/>
                                          </p:stCondLst>
                                        </p:cTn>
                                        <p:tgtEl>
                                          <p:spTgt spid="730121"/>
                                        </p:tgtEl>
                                        <p:attrNameLst>
                                          <p:attrName>style.visibility</p:attrName>
                                        </p:attrNameLst>
                                      </p:cBhvr>
                                      <p:to>
                                        <p:strVal val="visible"/>
                                      </p:to>
                                    </p:set>
                                    <p:animEffect transition="in" filter="dissolve">
                                      <p:cBhvr>
                                        <p:cTn id="33" dur="500"/>
                                        <p:tgtEl>
                                          <p:spTgt spid="730121"/>
                                        </p:tgtEl>
                                      </p:cBhvr>
                                    </p:animEffect>
                                  </p:childTnLst>
                                </p:cTn>
                              </p:par>
                            </p:childTnLst>
                          </p:cTn>
                        </p:par>
                        <p:par>
                          <p:cTn id="34" fill="hold" nodeType="afterGroup">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730130"/>
                                        </p:tgtEl>
                                        <p:attrNameLst>
                                          <p:attrName>style.visibility</p:attrName>
                                        </p:attrNameLst>
                                      </p:cBhvr>
                                      <p:to>
                                        <p:strVal val="visible"/>
                                      </p:to>
                                    </p:set>
                                    <p:animEffect transition="in" filter="dissolve">
                                      <p:cBhvr>
                                        <p:cTn id="37" dur="500"/>
                                        <p:tgtEl>
                                          <p:spTgt spid="7301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30131"/>
                                        </p:tgtEl>
                                        <p:attrNameLst>
                                          <p:attrName>style.visibility</p:attrName>
                                        </p:attrNameLst>
                                      </p:cBhvr>
                                      <p:to>
                                        <p:strVal val="visible"/>
                                      </p:to>
                                    </p:set>
                                    <p:animEffect transition="in" filter="wipe(left)">
                                      <p:cBhvr>
                                        <p:cTn id="42" dur="500"/>
                                        <p:tgtEl>
                                          <p:spTgt spid="730131"/>
                                        </p:tgtEl>
                                      </p:cBhvr>
                                    </p:animEffect>
                                  </p:childTnLst>
                                </p:cTn>
                              </p:par>
                            </p:childTnLst>
                          </p:cTn>
                        </p:par>
                        <p:par>
                          <p:cTn id="43" fill="hold" nodeType="afterGroup">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730123"/>
                                        </p:tgtEl>
                                        <p:attrNameLst>
                                          <p:attrName>style.visibility</p:attrName>
                                        </p:attrNameLst>
                                      </p:cBhvr>
                                      <p:to>
                                        <p:strVal val="visible"/>
                                      </p:to>
                                    </p:set>
                                    <p:animEffect transition="in" filter="dissolve">
                                      <p:cBhvr>
                                        <p:cTn id="46" dur="500"/>
                                        <p:tgtEl>
                                          <p:spTgt spid="730123"/>
                                        </p:tgtEl>
                                      </p:cBhvr>
                                    </p:animEffect>
                                  </p:childTnLst>
                                </p:cTn>
                              </p:par>
                            </p:childTnLst>
                          </p:cTn>
                        </p:par>
                        <p:par>
                          <p:cTn id="47" fill="hold" nodeType="afterGroup">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730119"/>
                                        </p:tgtEl>
                                        <p:attrNameLst>
                                          <p:attrName>style.visibility</p:attrName>
                                        </p:attrNameLst>
                                      </p:cBhvr>
                                      <p:to>
                                        <p:strVal val="visible"/>
                                      </p:to>
                                    </p:set>
                                    <p:animEffect transition="in" filter="dissolve">
                                      <p:cBhvr>
                                        <p:cTn id="50" dur="500"/>
                                        <p:tgtEl>
                                          <p:spTgt spid="73011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730118"/>
                                        </p:tgtEl>
                                        <p:attrNameLst>
                                          <p:attrName>style.visibility</p:attrName>
                                        </p:attrNameLst>
                                      </p:cBhvr>
                                      <p:to>
                                        <p:strVal val="visible"/>
                                      </p:to>
                                    </p:set>
                                    <p:animEffect transition="in" filter="wipe(up)">
                                      <p:cBhvr>
                                        <p:cTn id="55" dur="500"/>
                                        <p:tgtEl>
                                          <p:spTgt spid="730118"/>
                                        </p:tgtEl>
                                      </p:cBhvr>
                                    </p:animEffect>
                                  </p:childTnLst>
                                </p:cTn>
                              </p:par>
                            </p:childTnLst>
                          </p:cTn>
                        </p:par>
                        <p:par>
                          <p:cTn id="56" fill="hold" nodeType="afterGroup">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730120"/>
                                        </p:tgtEl>
                                        <p:attrNameLst>
                                          <p:attrName>style.visibility</p:attrName>
                                        </p:attrNameLst>
                                      </p:cBhvr>
                                      <p:to>
                                        <p:strVal val="visible"/>
                                      </p:to>
                                    </p:set>
                                    <p:animEffect transition="in" filter="dissolve">
                                      <p:cBhvr>
                                        <p:cTn id="59" dur="500"/>
                                        <p:tgtEl>
                                          <p:spTgt spid="730120"/>
                                        </p:tgtEl>
                                      </p:cBhvr>
                                    </p:animEffect>
                                  </p:childTnLst>
                                </p:cTn>
                              </p:par>
                            </p:childTnLst>
                          </p:cTn>
                        </p:par>
                        <p:par>
                          <p:cTn id="60" fill="hold" nodeType="afterGroup">
                            <p:stCondLst>
                              <p:cond delay="1000"/>
                            </p:stCondLst>
                            <p:childTnLst>
                              <p:par>
                                <p:cTn id="61" presetID="9" presetClass="entr" presetSubtype="0" fill="hold" nodeType="afterEffect">
                                  <p:stCondLst>
                                    <p:cond delay="0"/>
                                  </p:stCondLst>
                                  <p:childTnLst>
                                    <p:set>
                                      <p:cBhvr>
                                        <p:cTn id="62" dur="1" fill="hold">
                                          <p:stCondLst>
                                            <p:cond delay="0"/>
                                          </p:stCondLst>
                                        </p:cTn>
                                        <p:tgtEl>
                                          <p:spTgt spid="730122"/>
                                        </p:tgtEl>
                                        <p:attrNameLst>
                                          <p:attrName>style.visibility</p:attrName>
                                        </p:attrNameLst>
                                      </p:cBhvr>
                                      <p:to>
                                        <p:strVal val="visible"/>
                                      </p:to>
                                    </p:set>
                                    <p:animEffect transition="in" filter="dissolve">
                                      <p:cBhvr>
                                        <p:cTn id="63" dur="500"/>
                                        <p:tgtEl>
                                          <p:spTgt spid="730122"/>
                                        </p:tgtEl>
                                      </p:cBhvr>
                                    </p:animEffect>
                                  </p:childTnLst>
                                </p:cTn>
                              </p:par>
                            </p:childTnLst>
                          </p:cTn>
                        </p:par>
                        <p:par>
                          <p:cTn id="64" fill="hold" nodeType="afterGroup">
                            <p:stCondLst>
                              <p:cond delay="1500"/>
                            </p:stCondLst>
                            <p:childTnLst>
                              <p:par>
                                <p:cTn id="65" presetID="9" presetClass="entr" presetSubtype="0" fill="hold" grpId="0" nodeType="afterEffect">
                                  <p:stCondLst>
                                    <p:cond delay="0"/>
                                  </p:stCondLst>
                                  <p:childTnLst>
                                    <p:set>
                                      <p:cBhvr>
                                        <p:cTn id="66" dur="1" fill="hold">
                                          <p:stCondLst>
                                            <p:cond delay="0"/>
                                          </p:stCondLst>
                                        </p:cTn>
                                        <p:tgtEl>
                                          <p:spTgt spid="730124"/>
                                        </p:tgtEl>
                                        <p:attrNameLst>
                                          <p:attrName>style.visibility</p:attrName>
                                        </p:attrNameLst>
                                      </p:cBhvr>
                                      <p:to>
                                        <p:strVal val="visible"/>
                                      </p:to>
                                    </p:set>
                                    <p:animEffect transition="in" filter="dissolve">
                                      <p:cBhvr>
                                        <p:cTn id="67" dur="500"/>
                                        <p:tgtEl>
                                          <p:spTgt spid="730124"/>
                                        </p:tgtEl>
                                      </p:cBhvr>
                                    </p:animEffect>
                                  </p:childTnLst>
                                </p:cTn>
                              </p:par>
                            </p:childTnLst>
                          </p:cTn>
                        </p:par>
                        <p:par>
                          <p:cTn id="68" fill="hold" nodeType="afterGroup">
                            <p:stCondLst>
                              <p:cond delay="2000"/>
                            </p:stCondLst>
                            <p:childTnLst>
                              <p:par>
                                <p:cTn id="69" presetID="22" presetClass="entr" presetSubtype="4" fill="hold" nodeType="afterEffect">
                                  <p:stCondLst>
                                    <p:cond delay="0"/>
                                  </p:stCondLst>
                                  <p:childTnLst>
                                    <p:set>
                                      <p:cBhvr>
                                        <p:cTn id="70" dur="1" fill="hold">
                                          <p:stCondLst>
                                            <p:cond delay="0"/>
                                          </p:stCondLst>
                                        </p:cTn>
                                        <p:tgtEl>
                                          <p:spTgt spid="730159"/>
                                        </p:tgtEl>
                                        <p:attrNameLst>
                                          <p:attrName>style.visibility</p:attrName>
                                        </p:attrNameLst>
                                      </p:cBhvr>
                                      <p:to>
                                        <p:strVal val="visible"/>
                                      </p:to>
                                    </p:set>
                                    <p:animEffect transition="in" filter="wipe(down)">
                                      <p:cBhvr>
                                        <p:cTn id="71" dur="500"/>
                                        <p:tgtEl>
                                          <p:spTgt spid="730159"/>
                                        </p:tgtEl>
                                      </p:cBhvr>
                                    </p:animEffect>
                                  </p:childTnLst>
                                </p:cTn>
                              </p:par>
                            </p:childTnLst>
                          </p:cTn>
                        </p:par>
                        <p:par>
                          <p:cTn id="72" fill="hold" nodeType="afterGroup">
                            <p:stCondLst>
                              <p:cond delay="2500"/>
                            </p:stCondLst>
                            <p:childTnLst>
                              <p:par>
                                <p:cTn id="73" presetID="9" presetClass="entr" presetSubtype="0" fill="hold" grpId="0" nodeType="afterEffect">
                                  <p:stCondLst>
                                    <p:cond delay="0"/>
                                  </p:stCondLst>
                                  <p:childTnLst>
                                    <p:set>
                                      <p:cBhvr>
                                        <p:cTn id="74" dur="1" fill="hold">
                                          <p:stCondLst>
                                            <p:cond delay="0"/>
                                          </p:stCondLst>
                                        </p:cTn>
                                        <p:tgtEl>
                                          <p:spTgt spid="730139"/>
                                        </p:tgtEl>
                                        <p:attrNameLst>
                                          <p:attrName>style.visibility</p:attrName>
                                        </p:attrNameLst>
                                      </p:cBhvr>
                                      <p:to>
                                        <p:strVal val="visible"/>
                                      </p:to>
                                    </p:set>
                                    <p:animEffect transition="in" filter="dissolve">
                                      <p:cBhvr>
                                        <p:cTn id="75" dur="500"/>
                                        <p:tgtEl>
                                          <p:spTgt spid="73013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2" fill="hold" nodeType="clickEffect">
                                  <p:stCondLst>
                                    <p:cond delay="0"/>
                                  </p:stCondLst>
                                  <p:childTnLst>
                                    <p:set>
                                      <p:cBhvr>
                                        <p:cTn id="79" dur="1" fill="hold">
                                          <p:stCondLst>
                                            <p:cond delay="0"/>
                                          </p:stCondLst>
                                        </p:cTn>
                                        <p:tgtEl>
                                          <p:spTgt spid="730125"/>
                                        </p:tgtEl>
                                        <p:attrNameLst>
                                          <p:attrName>style.visibility</p:attrName>
                                        </p:attrNameLst>
                                      </p:cBhvr>
                                      <p:to>
                                        <p:strVal val="visible"/>
                                      </p:to>
                                    </p:set>
                                    <p:animEffect transition="in" filter="wipe(right)">
                                      <p:cBhvr>
                                        <p:cTn id="80" dur="500"/>
                                        <p:tgtEl>
                                          <p:spTgt spid="730125"/>
                                        </p:tgtEl>
                                      </p:cBhvr>
                                    </p:animEffect>
                                  </p:childTnLst>
                                </p:cTn>
                              </p:par>
                            </p:childTnLst>
                          </p:cTn>
                        </p:par>
                        <p:par>
                          <p:cTn id="81" fill="hold" nodeType="afterGroup">
                            <p:stCondLst>
                              <p:cond delay="500"/>
                            </p:stCondLst>
                            <p:childTnLst>
                              <p:par>
                                <p:cTn id="82" presetID="9" presetClass="entr" presetSubtype="0" fill="hold" grpId="0" nodeType="afterEffect">
                                  <p:stCondLst>
                                    <p:cond delay="0"/>
                                  </p:stCondLst>
                                  <p:childTnLst>
                                    <p:set>
                                      <p:cBhvr>
                                        <p:cTn id="83" dur="1" fill="hold">
                                          <p:stCondLst>
                                            <p:cond delay="0"/>
                                          </p:stCondLst>
                                        </p:cTn>
                                        <p:tgtEl>
                                          <p:spTgt spid="730132"/>
                                        </p:tgtEl>
                                        <p:attrNameLst>
                                          <p:attrName>style.visibility</p:attrName>
                                        </p:attrNameLst>
                                      </p:cBhvr>
                                      <p:to>
                                        <p:strVal val="visible"/>
                                      </p:to>
                                    </p:set>
                                    <p:animEffect transition="in" filter="dissolve">
                                      <p:cBhvr>
                                        <p:cTn id="84" dur="500"/>
                                        <p:tgtEl>
                                          <p:spTgt spid="730132"/>
                                        </p:tgtEl>
                                      </p:cBhvr>
                                    </p:animEffect>
                                  </p:childTnLst>
                                </p:cTn>
                              </p:par>
                            </p:childTnLst>
                          </p:cTn>
                        </p:par>
                        <p:par>
                          <p:cTn id="85" fill="hold" nodeType="afterGroup">
                            <p:stCondLst>
                              <p:cond delay="1000"/>
                            </p:stCondLst>
                            <p:childTnLst>
                              <p:par>
                                <p:cTn id="86" presetID="9" presetClass="entr" presetSubtype="0" fill="hold" nodeType="afterEffect">
                                  <p:stCondLst>
                                    <p:cond delay="0"/>
                                  </p:stCondLst>
                                  <p:childTnLst>
                                    <p:set>
                                      <p:cBhvr>
                                        <p:cTn id="87" dur="1" fill="hold">
                                          <p:stCondLst>
                                            <p:cond delay="0"/>
                                          </p:stCondLst>
                                        </p:cTn>
                                        <p:tgtEl>
                                          <p:spTgt spid="730133"/>
                                        </p:tgtEl>
                                        <p:attrNameLst>
                                          <p:attrName>style.visibility</p:attrName>
                                        </p:attrNameLst>
                                      </p:cBhvr>
                                      <p:to>
                                        <p:strVal val="visible"/>
                                      </p:to>
                                    </p:set>
                                    <p:animEffect transition="in" filter="dissolve">
                                      <p:cBhvr>
                                        <p:cTn id="88" dur="500"/>
                                        <p:tgtEl>
                                          <p:spTgt spid="730133"/>
                                        </p:tgtEl>
                                      </p:cBhvr>
                                    </p:animEffect>
                                  </p:childTnLst>
                                </p:cTn>
                              </p:par>
                            </p:childTnLst>
                          </p:cTn>
                        </p:par>
                        <p:par>
                          <p:cTn id="89" fill="hold" nodeType="afterGroup">
                            <p:stCondLst>
                              <p:cond delay="1500"/>
                            </p:stCondLst>
                            <p:childTnLst>
                              <p:par>
                                <p:cTn id="90" presetID="9" presetClass="entr" presetSubtype="0" fill="hold" grpId="0" nodeType="afterEffect">
                                  <p:stCondLst>
                                    <p:cond delay="0"/>
                                  </p:stCondLst>
                                  <p:childTnLst>
                                    <p:set>
                                      <p:cBhvr>
                                        <p:cTn id="91" dur="1" fill="hold">
                                          <p:stCondLst>
                                            <p:cond delay="0"/>
                                          </p:stCondLst>
                                        </p:cTn>
                                        <p:tgtEl>
                                          <p:spTgt spid="730134"/>
                                        </p:tgtEl>
                                        <p:attrNameLst>
                                          <p:attrName>style.visibility</p:attrName>
                                        </p:attrNameLst>
                                      </p:cBhvr>
                                      <p:to>
                                        <p:strVal val="visible"/>
                                      </p:to>
                                    </p:set>
                                    <p:animEffect transition="in" filter="dissolve">
                                      <p:cBhvr>
                                        <p:cTn id="92" dur="500"/>
                                        <p:tgtEl>
                                          <p:spTgt spid="73013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730164"/>
                                        </p:tgtEl>
                                        <p:attrNameLst>
                                          <p:attrName>style.visibility</p:attrName>
                                        </p:attrNameLst>
                                      </p:cBhvr>
                                      <p:to>
                                        <p:strVal val="visible"/>
                                      </p:to>
                                    </p:set>
                                    <p:animEffect transition="in" filter="dissolve">
                                      <p:cBhvr>
                                        <p:cTn id="97" dur="500"/>
                                        <p:tgtEl>
                                          <p:spTgt spid="73016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2" fill="hold" nodeType="clickEffect">
                                  <p:stCondLst>
                                    <p:cond delay="0"/>
                                  </p:stCondLst>
                                  <p:childTnLst>
                                    <p:set>
                                      <p:cBhvr>
                                        <p:cTn id="101" dur="1" fill="hold">
                                          <p:stCondLst>
                                            <p:cond delay="0"/>
                                          </p:stCondLst>
                                        </p:cTn>
                                        <p:tgtEl>
                                          <p:spTgt spid="730127"/>
                                        </p:tgtEl>
                                        <p:attrNameLst>
                                          <p:attrName>style.visibility</p:attrName>
                                        </p:attrNameLst>
                                      </p:cBhvr>
                                      <p:to>
                                        <p:strVal val="visible"/>
                                      </p:to>
                                    </p:set>
                                    <p:animEffect transition="in" filter="wipe(right)">
                                      <p:cBhvr>
                                        <p:cTn id="102" dur="500"/>
                                        <p:tgtEl>
                                          <p:spTgt spid="730127"/>
                                        </p:tgtEl>
                                      </p:cBhvr>
                                    </p:animEffect>
                                  </p:childTnLst>
                                </p:cTn>
                              </p:par>
                            </p:childTnLst>
                          </p:cTn>
                        </p:par>
                        <p:par>
                          <p:cTn id="103" fill="hold" nodeType="afterGroup">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730126"/>
                                        </p:tgtEl>
                                        <p:attrNameLst>
                                          <p:attrName>style.visibility</p:attrName>
                                        </p:attrNameLst>
                                      </p:cBhvr>
                                      <p:to>
                                        <p:strVal val="visible"/>
                                      </p:to>
                                    </p:set>
                                    <p:animEffect transition="in" filter="dissolve">
                                      <p:cBhvr>
                                        <p:cTn id="106" dur="500"/>
                                        <p:tgtEl>
                                          <p:spTgt spid="730126"/>
                                        </p:tgtEl>
                                      </p:cBhvr>
                                    </p:animEffect>
                                  </p:childTnLst>
                                </p:cTn>
                              </p:par>
                            </p:childTnLst>
                          </p:cTn>
                        </p:par>
                        <p:par>
                          <p:cTn id="107" fill="hold" nodeType="afterGroup">
                            <p:stCondLst>
                              <p:cond delay="1000"/>
                            </p:stCondLst>
                            <p:childTnLst>
                              <p:par>
                                <p:cTn id="108" presetID="9" presetClass="entr" presetSubtype="0" fill="hold" nodeType="afterEffect">
                                  <p:stCondLst>
                                    <p:cond delay="0"/>
                                  </p:stCondLst>
                                  <p:childTnLst>
                                    <p:set>
                                      <p:cBhvr>
                                        <p:cTn id="109" dur="1" fill="hold">
                                          <p:stCondLst>
                                            <p:cond delay="0"/>
                                          </p:stCondLst>
                                        </p:cTn>
                                        <p:tgtEl>
                                          <p:spTgt spid="730128"/>
                                        </p:tgtEl>
                                        <p:attrNameLst>
                                          <p:attrName>style.visibility</p:attrName>
                                        </p:attrNameLst>
                                      </p:cBhvr>
                                      <p:to>
                                        <p:strVal val="visible"/>
                                      </p:to>
                                    </p:set>
                                    <p:animEffect transition="in" filter="dissolve">
                                      <p:cBhvr>
                                        <p:cTn id="110" dur="500"/>
                                        <p:tgtEl>
                                          <p:spTgt spid="730128"/>
                                        </p:tgtEl>
                                      </p:cBhvr>
                                    </p:animEffect>
                                  </p:childTnLst>
                                </p:cTn>
                              </p:par>
                            </p:childTnLst>
                          </p:cTn>
                        </p:par>
                        <p:par>
                          <p:cTn id="111" fill="hold" nodeType="afterGroup">
                            <p:stCondLst>
                              <p:cond delay="1500"/>
                            </p:stCondLst>
                            <p:childTnLst>
                              <p:par>
                                <p:cTn id="112" presetID="9" presetClass="entr" presetSubtype="0" fill="hold" grpId="0" nodeType="afterEffect">
                                  <p:stCondLst>
                                    <p:cond delay="0"/>
                                  </p:stCondLst>
                                  <p:childTnLst>
                                    <p:set>
                                      <p:cBhvr>
                                        <p:cTn id="113" dur="1" fill="hold">
                                          <p:stCondLst>
                                            <p:cond delay="0"/>
                                          </p:stCondLst>
                                        </p:cTn>
                                        <p:tgtEl>
                                          <p:spTgt spid="730135"/>
                                        </p:tgtEl>
                                        <p:attrNameLst>
                                          <p:attrName>style.visibility</p:attrName>
                                        </p:attrNameLst>
                                      </p:cBhvr>
                                      <p:to>
                                        <p:strVal val="visible"/>
                                      </p:to>
                                    </p:set>
                                    <p:animEffect transition="in" filter="dissolve">
                                      <p:cBhvr>
                                        <p:cTn id="114" dur="500"/>
                                        <p:tgtEl>
                                          <p:spTgt spid="73013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nodeType="clickEffect">
                                  <p:stCondLst>
                                    <p:cond delay="0"/>
                                  </p:stCondLst>
                                  <p:childTnLst>
                                    <p:set>
                                      <p:cBhvr>
                                        <p:cTn id="118" dur="1" fill="hold">
                                          <p:stCondLst>
                                            <p:cond delay="0"/>
                                          </p:stCondLst>
                                        </p:cTn>
                                        <p:tgtEl>
                                          <p:spTgt spid="730160"/>
                                        </p:tgtEl>
                                        <p:attrNameLst>
                                          <p:attrName>style.visibility</p:attrName>
                                        </p:attrNameLst>
                                      </p:cBhvr>
                                      <p:to>
                                        <p:strVal val="visible"/>
                                      </p:to>
                                    </p:set>
                                    <p:animEffect transition="in" filter="dissolve">
                                      <p:cBhvr>
                                        <p:cTn id="119" dur="500"/>
                                        <p:tgtEl>
                                          <p:spTgt spid="73016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2" fill="hold" nodeType="clickEffect">
                                  <p:stCondLst>
                                    <p:cond delay="0"/>
                                  </p:stCondLst>
                                  <p:childTnLst>
                                    <p:set>
                                      <p:cBhvr>
                                        <p:cTn id="123" dur="1" fill="hold">
                                          <p:stCondLst>
                                            <p:cond delay="0"/>
                                          </p:stCondLst>
                                        </p:cTn>
                                        <p:tgtEl>
                                          <p:spTgt spid="730137"/>
                                        </p:tgtEl>
                                        <p:attrNameLst>
                                          <p:attrName>style.visibility</p:attrName>
                                        </p:attrNameLst>
                                      </p:cBhvr>
                                      <p:to>
                                        <p:strVal val="visible"/>
                                      </p:to>
                                    </p:set>
                                    <p:animEffect transition="in" filter="wipe(right)">
                                      <p:cBhvr>
                                        <p:cTn id="124" dur="500"/>
                                        <p:tgtEl>
                                          <p:spTgt spid="730137"/>
                                        </p:tgtEl>
                                      </p:cBhvr>
                                    </p:animEffect>
                                  </p:childTnLst>
                                </p:cTn>
                              </p:par>
                            </p:childTnLst>
                          </p:cTn>
                        </p:par>
                        <p:par>
                          <p:cTn id="125" fill="hold" nodeType="afterGroup">
                            <p:stCondLst>
                              <p:cond delay="500"/>
                            </p:stCondLst>
                            <p:childTnLst>
                              <p:par>
                                <p:cTn id="126" presetID="9" presetClass="entr" presetSubtype="0" fill="hold" grpId="0" nodeType="afterEffect">
                                  <p:stCondLst>
                                    <p:cond delay="0"/>
                                  </p:stCondLst>
                                  <p:childTnLst>
                                    <p:set>
                                      <p:cBhvr>
                                        <p:cTn id="127" dur="1" fill="hold">
                                          <p:stCondLst>
                                            <p:cond delay="0"/>
                                          </p:stCondLst>
                                        </p:cTn>
                                        <p:tgtEl>
                                          <p:spTgt spid="730136"/>
                                        </p:tgtEl>
                                        <p:attrNameLst>
                                          <p:attrName>style.visibility</p:attrName>
                                        </p:attrNameLst>
                                      </p:cBhvr>
                                      <p:to>
                                        <p:strVal val="visible"/>
                                      </p:to>
                                    </p:set>
                                    <p:animEffect transition="in" filter="dissolve">
                                      <p:cBhvr>
                                        <p:cTn id="128" dur="500"/>
                                        <p:tgtEl>
                                          <p:spTgt spid="730136"/>
                                        </p:tgtEl>
                                      </p:cBhvr>
                                    </p:animEffect>
                                  </p:childTnLst>
                                </p:cTn>
                              </p:par>
                            </p:childTnLst>
                          </p:cTn>
                        </p:par>
                        <p:par>
                          <p:cTn id="129" fill="hold" nodeType="afterGroup">
                            <p:stCondLst>
                              <p:cond delay="1000"/>
                            </p:stCondLst>
                            <p:childTnLst>
                              <p:par>
                                <p:cTn id="130" presetID="9" presetClass="entr" presetSubtype="0" fill="hold" grpId="0" nodeType="afterEffect">
                                  <p:stCondLst>
                                    <p:cond delay="0"/>
                                  </p:stCondLst>
                                  <p:childTnLst>
                                    <p:set>
                                      <p:cBhvr>
                                        <p:cTn id="131" dur="1" fill="hold">
                                          <p:stCondLst>
                                            <p:cond delay="0"/>
                                          </p:stCondLst>
                                        </p:cTn>
                                        <p:tgtEl>
                                          <p:spTgt spid="730138"/>
                                        </p:tgtEl>
                                        <p:attrNameLst>
                                          <p:attrName>style.visibility</p:attrName>
                                        </p:attrNameLst>
                                      </p:cBhvr>
                                      <p:to>
                                        <p:strVal val="visible"/>
                                      </p:to>
                                    </p:set>
                                    <p:animEffect transition="in" filter="dissolve">
                                      <p:cBhvr>
                                        <p:cTn id="132" dur="500"/>
                                        <p:tgtEl>
                                          <p:spTgt spid="730138"/>
                                        </p:tgtEl>
                                      </p:cBhvr>
                                    </p:animEffect>
                                  </p:childTnLst>
                                </p:cTn>
                              </p:par>
                            </p:childTnLst>
                          </p:cTn>
                        </p:par>
                        <p:par>
                          <p:cTn id="133" fill="hold" nodeType="afterGroup">
                            <p:stCondLst>
                              <p:cond delay="1500"/>
                            </p:stCondLst>
                            <p:childTnLst>
                              <p:par>
                                <p:cTn id="134" presetID="9" presetClass="entr" presetSubtype="0" fill="hold" nodeType="afterEffect">
                                  <p:stCondLst>
                                    <p:cond delay="0"/>
                                  </p:stCondLst>
                                  <p:childTnLst>
                                    <p:set>
                                      <p:cBhvr>
                                        <p:cTn id="135" dur="1" fill="hold">
                                          <p:stCondLst>
                                            <p:cond delay="0"/>
                                          </p:stCondLst>
                                        </p:cTn>
                                        <p:tgtEl>
                                          <p:spTgt spid="730172"/>
                                        </p:tgtEl>
                                        <p:attrNameLst>
                                          <p:attrName>style.visibility</p:attrName>
                                        </p:attrNameLst>
                                      </p:cBhvr>
                                      <p:to>
                                        <p:strVal val="visible"/>
                                      </p:to>
                                    </p:set>
                                    <p:animEffect transition="in" filter="dissolve">
                                      <p:cBhvr>
                                        <p:cTn id="136" dur="500"/>
                                        <p:tgtEl>
                                          <p:spTgt spid="730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5" grpId="0" autoUpdateAnimBg="0"/>
      <p:bldP spid="730116" grpId="0" animBg="1" autoUpdateAnimBg="0"/>
      <p:bldP spid="730117" grpId="0" autoUpdateAnimBg="0"/>
      <p:bldP spid="730119" grpId="0" animBg="1" autoUpdateAnimBg="0"/>
      <p:bldP spid="730120" grpId="0" autoUpdateAnimBg="0"/>
      <p:bldP spid="730123" grpId="0" autoUpdateAnimBg="0"/>
      <p:bldP spid="730124" grpId="0" animBg="1" autoUpdateAnimBg="0"/>
      <p:bldP spid="730126" grpId="0" autoUpdateAnimBg="0"/>
      <p:bldP spid="730130" grpId="0" animBg="1" autoUpdateAnimBg="0"/>
      <p:bldP spid="730132" grpId="0" autoUpdateAnimBg="0"/>
      <p:bldP spid="730134" grpId="0" animBg="1" autoUpdateAnimBg="0"/>
      <p:bldP spid="730135" grpId="0" animBg="1" autoUpdateAnimBg="0"/>
      <p:bldP spid="730136" grpId="0" autoUpdateAnimBg="0"/>
      <p:bldP spid="730138" grpId="0" animBg="1" autoUpdateAnimBg="0"/>
      <p:bldP spid="73013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Text Box 2"/>
          <p:cNvSpPr txBox="1">
            <a:spLocks noChangeArrowheads="1"/>
          </p:cNvSpPr>
          <p:nvPr/>
        </p:nvSpPr>
        <p:spPr bwMode="auto">
          <a:xfrm>
            <a:off x="468313" y="333375"/>
            <a:ext cx="3887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800" b="1">
                <a:solidFill>
                  <a:srgbClr val="0000FF"/>
                </a:solidFill>
                <a:latin typeface="宋体" panose="02010600030101010101" pitchFamily="2" charset="-122"/>
              </a:rPr>
              <a:t>2. </a:t>
            </a:r>
            <a:r>
              <a:rPr kumimoji="1" lang="zh-CN" altLang="en-US" sz="2800" b="1">
                <a:solidFill>
                  <a:srgbClr val="0000FF"/>
                </a:solidFill>
                <a:latin typeface="宋体" panose="02010600030101010101" pitchFamily="2" charset="-122"/>
              </a:rPr>
              <a:t>变压器的作用</a:t>
            </a:r>
          </a:p>
        </p:txBody>
      </p:sp>
      <p:sp>
        <p:nvSpPr>
          <p:cNvPr id="734211" name="Text Box 3"/>
          <p:cNvSpPr txBox="1">
            <a:spLocks noChangeArrowheads="1"/>
          </p:cNvSpPr>
          <p:nvPr/>
        </p:nvSpPr>
        <p:spPr bwMode="auto">
          <a:xfrm>
            <a:off x="2051050" y="5492750"/>
            <a:ext cx="175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Char char="•"/>
            </a:pPr>
            <a:r>
              <a:rPr kumimoji="1" lang="en-US" altLang="zh-CN" sz="2400" b="1">
                <a:solidFill>
                  <a:srgbClr val="FF0000"/>
                </a:solidFill>
                <a:latin typeface="Times New Roman" panose="02020603050405020304" pitchFamily="18" charset="0"/>
              </a:rPr>
              <a:t> </a:t>
            </a:r>
            <a:r>
              <a:rPr kumimoji="1" lang="zh-CN" altLang="en-US" sz="2400" b="1">
                <a:solidFill>
                  <a:srgbClr val="FF0000"/>
                </a:solidFill>
                <a:latin typeface="Times New Roman" panose="02020603050405020304" pitchFamily="18" charset="0"/>
              </a:rPr>
              <a:t>阻抗匹配</a:t>
            </a:r>
          </a:p>
        </p:txBody>
      </p:sp>
      <p:sp>
        <p:nvSpPr>
          <p:cNvPr id="734212" name="Text Box 4"/>
          <p:cNvSpPr txBox="1">
            <a:spLocks noChangeArrowheads="1"/>
          </p:cNvSpPr>
          <p:nvPr/>
        </p:nvSpPr>
        <p:spPr bwMode="auto">
          <a:xfrm>
            <a:off x="2051050" y="4076700"/>
            <a:ext cx="1835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Char char="•"/>
            </a:pPr>
            <a:r>
              <a:rPr kumimoji="1" lang="en-US" altLang="zh-CN" sz="2400" b="1">
                <a:latin typeface="Times New Roman" panose="02020603050405020304" pitchFamily="18" charset="0"/>
              </a:rPr>
              <a:t> </a:t>
            </a:r>
            <a:r>
              <a:rPr kumimoji="1" lang="zh-CN" altLang="en-US" sz="2400" b="1">
                <a:solidFill>
                  <a:srgbClr val="FF0000"/>
                </a:solidFill>
                <a:latin typeface="Times New Roman" panose="02020603050405020304" pitchFamily="18" charset="0"/>
              </a:rPr>
              <a:t>传送功率</a:t>
            </a:r>
          </a:p>
        </p:txBody>
      </p:sp>
      <p:sp>
        <p:nvSpPr>
          <p:cNvPr id="734213" name="Text Box 5"/>
          <p:cNvSpPr txBox="1">
            <a:spLocks noChangeArrowheads="1"/>
          </p:cNvSpPr>
          <p:nvPr/>
        </p:nvSpPr>
        <p:spPr bwMode="auto">
          <a:xfrm>
            <a:off x="2051050" y="4797425"/>
            <a:ext cx="198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Char char="•"/>
            </a:pP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电隔离</a:t>
            </a:r>
          </a:p>
        </p:txBody>
      </p:sp>
      <p:sp>
        <p:nvSpPr>
          <p:cNvPr id="734214" name="Text Box 6"/>
          <p:cNvSpPr txBox="1">
            <a:spLocks noChangeArrowheads="1"/>
          </p:cNvSpPr>
          <p:nvPr/>
        </p:nvSpPr>
        <p:spPr bwMode="auto">
          <a:xfrm>
            <a:off x="2051050" y="3473450"/>
            <a:ext cx="2749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Char char="•"/>
            </a:pP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交流变压、</a:t>
            </a:r>
            <a:r>
              <a:rPr kumimoji="1" lang="zh-CN" altLang="en-US" sz="2400" b="1">
                <a:solidFill>
                  <a:srgbClr val="0000FF"/>
                </a:solidFill>
                <a:latin typeface="Times New Roman" panose="02020603050405020304" pitchFamily="18" charset="0"/>
              </a:rPr>
              <a:t>变流</a:t>
            </a:r>
          </a:p>
        </p:txBody>
      </p:sp>
      <p:grpSp>
        <p:nvGrpSpPr>
          <p:cNvPr id="734215" name="Group 7"/>
          <p:cNvGrpSpPr>
            <a:grpSpLocks/>
          </p:cNvGrpSpPr>
          <p:nvPr/>
        </p:nvGrpSpPr>
        <p:grpSpPr bwMode="auto">
          <a:xfrm>
            <a:off x="3048000" y="1219200"/>
            <a:ext cx="3119438" cy="1685925"/>
            <a:chOff x="2263" y="845"/>
            <a:chExt cx="1965" cy="1062"/>
          </a:xfrm>
        </p:grpSpPr>
        <p:sp>
          <p:nvSpPr>
            <p:cNvPr id="734216" name="Rectangle 8"/>
            <p:cNvSpPr>
              <a:spLocks noChangeArrowheads="1"/>
            </p:cNvSpPr>
            <p:nvPr/>
          </p:nvSpPr>
          <p:spPr bwMode="auto">
            <a:xfrm>
              <a:off x="2808" y="989"/>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17" name="Rectangle 9"/>
            <p:cNvSpPr>
              <a:spLocks noChangeArrowheads="1"/>
            </p:cNvSpPr>
            <p:nvPr/>
          </p:nvSpPr>
          <p:spPr bwMode="auto">
            <a:xfrm>
              <a:off x="2969" y="1152"/>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18" name="AutoShape 10"/>
            <p:cNvSpPr>
              <a:spLocks noChangeArrowheads="1"/>
            </p:cNvSpPr>
            <p:nvPr/>
          </p:nvSpPr>
          <p:spPr bwMode="auto">
            <a:xfrm>
              <a:off x="2873" y="1074"/>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19" name="Line 11"/>
            <p:cNvSpPr>
              <a:spLocks noChangeShapeType="1"/>
            </p:cNvSpPr>
            <p:nvPr/>
          </p:nvSpPr>
          <p:spPr bwMode="auto">
            <a:xfrm>
              <a:off x="3497" y="1424"/>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34220" name="Group 12"/>
            <p:cNvGrpSpPr>
              <a:grpSpLocks/>
            </p:cNvGrpSpPr>
            <p:nvPr/>
          </p:nvGrpSpPr>
          <p:grpSpPr bwMode="auto">
            <a:xfrm>
              <a:off x="2583" y="1201"/>
              <a:ext cx="423" cy="450"/>
              <a:chOff x="862" y="2612"/>
              <a:chExt cx="423" cy="450"/>
            </a:xfrm>
          </p:grpSpPr>
          <p:sp>
            <p:nvSpPr>
              <p:cNvPr id="734221" name="Freeform 13"/>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2" name="Line 14"/>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3" name="Freeform 15"/>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4" name="Freeform 16"/>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5" name="Freeform 17"/>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6" name="Freeform 18"/>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7" name="Oval 19"/>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28" name="Oval 20"/>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4229" name="Line 21"/>
            <p:cNvSpPr>
              <a:spLocks noChangeShapeType="1"/>
            </p:cNvSpPr>
            <p:nvPr/>
          </p:nvSpPr>
          <p:spPr bwMode="auto">
            <a:xfrm>
              <a:off x="2582" y="1133"/>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0" name="Text Box 22"/>
            <p:cNvSpPr txBox="1">
              <a:spLocks noChangeArrowheads="1"/>
            </p:cNvSpPr>
            <p:nvPr/>
          </p:nvSpPr>
          <p:spPr bwMode="auto">
            <a:xfrm>
              <a:off x="3017" y="908"/>
              <a:ext cx="336"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sp>
          <p:nvSpPr>
            <p:cNvPr id="734231" name="Text Box 23"/>
            <p:cNvSpPr txBox="1">
              <a:spLocks noChangeArrowheads="1"/>
            </p:cNvSpPr>
            <p:nvPr/>
          </p:nvSpPr>
          <p:spPr bwMode="auto">
            <a:xfrm>
              <a:off x="2562" y="845"/>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p>
          </p:txBody>
        </p:sp>
        <p:grpSp>
          <p:nvGrpSpPr>
            <p:cNvPr id="734232" name="Group 24"/>
            <p:cNvGrpSpPr>
              <a:grpSpLocks/>
            </p:cNvGrpSpPr>
            <p:nvPr/>
          </p:nvGrpSpPr>
          <p:grpSpPr bwMode="auto">
            <a:xfrm flipH="1">
              <a:off x="3353" y="1229"/>
              <a:ext cx="528" cy="432"/>
              <a:chOff x="862" y="2612"/>
              <a:chExt cx="423" cy="450"/>
            </a:xfrm>
          </p:grpSpPr>
          <p:sp>
            <p:nvSpPr>
              <p:cNvPr id="734233" name="Freeform 25"/>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4" name="Line 26"/>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5" name="Freeform 27"/>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6" name="Freeform 28"/>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7" name="Freeform 29"/>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8" name="Freeform 30"/>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39" name="Oval 31"/>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40" name="Oval 32"/>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4241" name="Text Box 33"/>
            <p:cNvSpPr txBox="1">
              <a:spLocks noChangeArrowheads="1"/>
            </p:cNvSpPr>
            <p:nvPr/>
          </p:nvSpPr>
          <p:spPr bwMode="auto">
            <a:xfrm>
              <a:off x="3941" y="104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a:t>
              </a:r>
              <a:endParaRPr kumimoji="1" lang="en-US" altLang="zh-CN" sz="2400">
                <a:latin typeface="Times New Roman" panose="02020603050405020304" pitchFamily="18" charset="0"/>
              </a:endParaRPr>
            </a:p>
          </p:txBody>
        </p:sp>
        <p:sp>
          <p:nvSpPr>
            <p:cNvPr id="734242" name="Text Box 34"/>
            <p:cNvSpPr txBox="1">
              <a:spLocks noChangeArrowheads="1"/>
            </p:cNvSpPr>
            <p:nvPr/>
          </p:nvSpPr>
          <p:spPr bwMode="auto">
            <a:xfrm>
              <a:off x="3981" y="157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a:latin typeface="黑体" panose="02010609060101010101" pitchFamily="49" charset="-122"/>
                  <a:ea typeface="黑体" panose="02010609060101010101" pitchFamily="49" charset="-122"/>
                </a:rPr>
                <a:t>-</a:t>
              </a:r>
              <a:endParaRPr kumimoji="1" lang="en-US" altLang="zh-CN" sz="2400">
                <a:latin typeface="Times New Roman" panose="02020603050405020304" pitchFamily="18" charset="0"/>
              </a:endParaRPr>
            </a:p>
          </p:txBody>
        </p:sp>
        <p:sp>
          <p:nvSpPr>
            <p:cNvPr id="734243" name="Text Box 35"/>
            <p:cNvSpPr txBox="1">
              <a:spLocks noChangeArrowheads="1"/>
            </p:cNvSpPr>
            <p:nvPr/>
          </p:nvSpPr>
          <p:spPr bwMode="auto">
            <a:xfrm>
              <a:off x="3941" y="128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sym typeface="Symbol" panose="05050102010706020507" pitchFamily="18" charset="2"/>
                </a:rPr>
                <a:t>u</a:t>
              </a:r>
              <a:r>
                <a:rPr kumimoji="1" lang="en-US" altLang="zh-CN" sz="2400" b="1" baseline="-25000">
                  <a:latin typeface="Times New Roman" panose="02020603050405020304" pitchFamily="18" charset="0"/>
                </a:rPr>
                <a:t>2</a:t>
              </a:r>
            </a:p>
          </p:txBody>
        </p:sp>
        <p:sp>
          <p:nvSpPr>
            <p:cNvPr id="734244" name="Line 36"/>
            <p:cNvSpPr>
              <a:spLocks noChangeShapeType="1"/>
            </p:cNvSpPr>
            <p:nvPr/>
          </p:nvSpPr>
          <p:spPr bwMode="auto">
            <a:xfrm flipH="1">
              <a:off x="3663" y="1163"/>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4245" name="Text Box 37"/>
            <p:cNvSpPr txBox="1">
              <a:spLocks noChangeArrowheads="1"/>
            </p:cNvSpPr>
            <p:nvPr/>
          </p:nvSpPr>
          <p:spPr bwMode="auto">
            <a:xfrm>
              <a:off x="3663" y="845"/>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p>
          </p:txBody>
        </p:sp>
        <p:sp>
          <p:nvSpPr>
            <p:cNvPr id="734246" name="Text Box 38"/>
            <p:cNvSpPr txBox="1">
              <a:spLocks noChangeArrowheads="1"/>
            </p:cNvSpPr>
            <p:nvPr/>
          </p:nvSpPr>
          <p:spPr bwMode="auto">
            <a:xfrm>
              <a:off x="2263" y="104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a:t>
              </a:r>
              <a:endParaRPr kumimoji="1" lang="en-US" altLang="zh-CN" sz="2400">
                <a:latin typeface="Times New Roman" panose="02020603050405020304" pitchFamily="18" charset="0"/>
              </a:endParaRPr>
            </a:p>
          </p:txBody>
        </p:sp>
        <p:sp>
          <p:nvSpPr>
            <p:cNvPr id="734247" name="Text Box 39"/>
            <p:cNvSpPr txBox="1">
              <a:spLocks noChangeArrowheads="1"/>
            </p:cNvSpPr>
            <p:nvPr/>
          </p:nvSpPr>
          <p:spPr bwMode="auto">
            <a:xfrm>
              <a:off x="2303" y="157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a:latin typeface="黑体" panose="02010609060101010101" pitchFamily="49" charset="-122"/>
                  <a:ea typeface="黑体" panose="02010609060101010101" pitchFamily="49" charset="-122"/>
                </a:rPr>
                <a:t>-</a:t>
              </a:r>
              <a:endParaRPr kumimoji="1" lang="en-US" altLang="zh-CN" sz="2400">
                <a:latin typeface="Times New Roman" panose="02020603050405020304" pitchFamily="18" charset="0"/>
              </a:endParaRPr>
            </a:p>
          </p:txBody>
        </p:sp>
        <p:sp>
          <p:nvSpPr>
            <p:cNvPr id="734248" name="Text Box 40"/>
            <p:cNvSpPr txBox="1">
              <a:spLocks noChangeArrowheads="1"/>
            </p:cNvSpPr>
            <p:nvPr/>
          </p:nvSpPr>
          <p:spPr bwMode="auto">
            <a:xfrm>
              <a:off x="2263" y="128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sym typeface="Symbol" panose="05050102010706020507" pitchFamily="18" charset="2"/>
                </a:rPr>
                <a:t>u</a:t>
              </a:r>
              <a:r>
                <a:rPr kumimoji="1" lang="en-US" altLang="zh-CN" sz="2400" b="1" baseline="-25000">
                  <a:latin typeface="Times New Roman" panose="02020603050405020304" pitchFamily="18" charset="0"/>
                </a:rPr>
                <a:t>1</a:t>
              </a:r>
            </a:p>
          </p:txBody>
        </p:sp>
      </p:grpSp>
    </p:spTree>
    <p:extLst>
      <p:ext uri="{BB962C8B-B14F-4D97-AF65-F5344CB8AC3E}">
        <p14:creationId xmlns:p14="http://schemas.microsoft.com/office/powerpoint/2010/main" val="1632996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34210"/>
                                        </p:tgtEl>
                                        <p:attrNameLst>
                                          <p:attrName>style.visibility</p:attrName>
                                        </p:attrNameLst>
                                      </p:cBhvr>
                                      <p:to>
                                        <p:strVal val="visible"/>
                                      </p:to>
                                    </p:set>
                                    <p:animEffect transition="in" filter="randombar(horizontal)">
                                      <p:cBhvr>
                                        <p:cTn id="7" dur="500"/>
                                        <p:tgtEl>
                                          <p:spTgt spid="73421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34215"/>
                                        </p:tgtEl>
                                        <p:attrNameLst>
                                          <p:attrName>style.visibility</p:attrName>
                                        </p:attrNameLst>
                                      </p:cBhvr>
                                      <p:to>
                                        <p:strVal val="visible"/>
                                      </p:to>
                                    </p:set>
                                    <p:animEffect transition="in" filter="dissolve">
                                      <p:cBhvr>
                                        <p:cTn id="11" dur="500"/>
                                        <p:tgtEl>
                                          <p:spTgt spid="7342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34214"/>
                                        </p:tgtEl>
                                        <p:attrNameLst>
                                          <p:attrName>style.visibility</p:attrName>
                                        </p:attrNameLst>
                                      </p:cBhvr>
                                      <p:to>
                                        <p:strVal val="visible"/>
                                      </p:to>
                                    </p:set>
                                    <p:animEffect transition="in" filter="wipe(left)">
                                      <p:cBhvr>
                                        <p:cTn id="16" dur="500"/>
                                        <p:tgtEl>
                                          <p:spTgt spid="73421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34212"/>
                                        </p:tgtEl>
                                        <p:attrNameLst>
                                          <p:attrName>style.visibility</p:attrName>
                                        </p:attrNameLst>
                                      </p:cBhvr>
                                      <p:to>
                                        <p:strVal val="visible"/>
                                      </p:to>
                                    </p:set>
                                    <p:animEffect transition="in" filter="wipe(left)">
                                      <p:cBhvr>
                                        <p:cTn id="21" dur="500"/>
                                        <p:tgtEl>
                                          <p:spTgt spid="7342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34213"/>
                                        </p:tgtEl>
                                        <p:attrNameLst>
                                          <p:attrName>style.visibility</p:attrName>
                                        </p:attrNameLst>
                                      </p:cBhvr>
                                      <p:to>
                                        <p:strVal val="visible"/>
                                      </p:to>
                                    </p:set>
                                    <p:animEffect transition="in" filter="wipe(left)">
                                      <p:cBhvr>
                                        <p:cTn id="26" dur="500"/>
                                        <p:tgtEl>
                                          <p:spTgt spid="7342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34211"/>
                                        </p:tgtEl>
                                        <p:attrNameLst>
                                          <p:attrName>style.visibility</p:attrName>
                                        </p:attrNameLst>
                                      </p:cBhvr>
                                      <p:to>
                                        <p:strVal val="visible"/>
                                      </p:to>
                                    </p:set>
                                    <p:animEffect transition="in" filter="wipe(left)">
                                      <p:cBhvr>
                                        <p:cTn id="31" dur="500"/>
                                        <p:tgtEl>
                                          <p:spTgt spid="73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210" grpId="0" autoUpdateAnimBg="0"/>
      <p:bldP spid="734211" grpId="0" autoUpdateAnimBg="0"/>
      <p:bldP spid="734212" grpId="0" autoUpdateAnimBg="0"/>
      <p:bldP spid="734213" grpId="0" autoUpdateAnimBg="0"/>
      <p:bldP spid="73421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https://timgsa.baidu.com/timg?image&amp;quality=80&amp;size=b9999_10000&amp;sec=1558353753109&amp;di=30dddb93b50de6229325997d4a44f6f8&amp;imgtype=0&amp;src=http%3A%2F%2F5b0988e595225.cdn.sohucs.com%2Fimages%2F20170822%2F5de2fed8acae4452826c7ce66b7e4a8e.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08" y="388627"/>
            <a:ext cx="5847292" cy="3924081"/>
          </a:xfrm>
          <a:prstGeom prst="rect">
            <a:avLst/>
          </a:prstGeom>
          <a:noFill/>
          <a:extLst>
            <a:ext uri="{909E8E84-426E-40DD-AFC4-6F175D3DCCD1}">
              <a14:hiddenFill xmlns:a14="http://schemas.microsoft.com/office/drawing/2010/main">
                <a:solidFill>
                  <a:srgbClr val="FFFFFF"/>
                </a:solidFill>
              </a14:hiddenFill>
            </a:ext>
          </a:extLst>
        </p:spPr>
      </p:pic>
      <p:pic>
        <p:nvPicPr>
          <p:cNvPr id="123908" name="Picture 4" descr="https://timgsa.baidu.com/timg?image&amp;quality=80&amp;size=b9999_10000&amp;sec=1558353814699&amp;di=de84fb8b52b2f32781ae6589d35b81df&amp;imgtype=0&amp;src=http%3A%2F%2Fd.img.youboy.com%2F20113%2F17%2F14%2Fg0%2Fg0_1262469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4299" y="3884945"/>
            <a:ext cx="3743826" cy="2829122"/>
          </a:xfrm>
          <a:prstGeom prst="rect">
            <a:avLst/>
          </a:prstGeom>
          <a:noFill/>
          <a:extLst>
            <a:ext uri="{909E8E84-426E-40DD-AFC4-6F175D3DCCD1}">
              <a14:hiddenFill xmlns:a14="http://schemas.microsoft.com/office/drawing/2010/main">
                <a:solidFill>
                  <a:srgbClr val="FFFFFF"/>
                </a:solidFill>
              </a14:hiddenFill>
            </a:ext>
          </a:extLst>
        </p:spPr>
      </p:pic>
      <p:pic>
        <p:nvPicPr>
          <p:cNvPr id="123910" name="Picture 6" descr="https://timgsa.baidu.com/timg?image&amp;quality=80&amp;size=b9999_10000&amp;sec=1558353995445&amp;di=386478a4b726fcc835aed3844e457b14&amp;imgtype=0&amp;src=http%3A%2F%2Fi5.hexunimg.cn%2F2013-04-03%2F15278727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342" y="4114367"/>
            <a:ext cx="3497355" cy="259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1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9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9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6258" name="Group 2"/>
          <p:cNvGrpSpPr>
            <a:grpSpLocks/>
          </p:cNvGrpSpPr>
          <p:nvPr/>
        </p:nvGrpSpPr>
        <p:grpSpPr bwMode="auto">
          <a:xfrm>
            <a:off x="2832100" y="412750"/>
            <a:ext cx="3119438" cy="1685925"/>
            <a:chOff x="2063" y="260"/>
            <a:chExt cx="1965" cy="1062"/>
          </a:xfrm>
        </p:grpSpPr>
        <p:sp>
          <p:nvSpPr>
            <p:cNvPr id="736259" name="Rectangle 3"/>
            <p:cNvSpPr>
              <a:spLocks noChangeArrowheads="1"/>
            </p:cNvSpPr>
            <p:nvPr/>
          </p:nvSpPr>
          <p:spPr bwMode="auto">
            <a:xfrm>
              <a:off x="2608" y="404"/>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0" name="Rectangle 4"/>
            <p:cNvSpPr>
              <a:spLocks noChangeArrowheads="1"/>
            </p:cNvSpPr>
            <p:nvPr/>
          </p:nvSpPr>
          <p:spPr bwMode="auto">
            <a:xfrm>
              <a:off x="2769" y="567"/>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1" name="AutoShape 5"/>
            <p:cNvSpPr>
              <a:spLocks noChangeArrowheads="1"/>
            </p:cNvSpPr>
            <p:nvPr/>
          </p:nvSpPr>
          <p:spPr bwMode="auto">
            <a:xfrm>
              <a:off x="2673" y="489"/>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2" name="Line 6"/>
            <p:cNvSpPr>
              <a:spLocks noChangeShapeType="1"/>
            </p:cNvSpPr>
            <p:nvPr/>
          </p:nvSpPr>
          <p:spPr bwMode="auto">
            <a:xfrm>
              <a:off x="3297" y="839"/>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36263" name="Group 7"/>
            <p:cNvGrpSpPr>
              <a:grpSpLocks/>
            </p:cNvGrpSpPr>
            <p:nvPr/>
          </p:nvGrpSpPr>
          <p:grpSpPr bwMode="auto">
            <a:xfrm>
              <a:off x="2383" y="616"/>
              <a:ext cx="423" cy="450"/>
              <a:chOff x="862" y="2612"/>
              <a:chExt cx="423" cy="450"/>
            </a:xfrm>
          </p:grpSpPr>
          <p:sp>
            <p:nvSpPr>
              <p:cNvPr id="736264" name="Freeform 8"/>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5" name="Line 9"/>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6" name="Freeform 10"/>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7" name="Freeform 11"/>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8" name="Freeform 12"/>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69" name="Freeform 13"/>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0" name="Oval 14"/>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1" name="Oval 15"/>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6272" name="Line 16"/>
            <p:cNvSpPr>
              <a:spLocks noChangeShapeType="1"/>
            </p:cNvSpPr>
            <p:nvPr/>
          </p:nvSpPr>
          <p:spPr bwMode="auto">
            <a:xfrm>
              <a:off x="2382" y="548"/>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3" name="Text Box 17"/>
            <p:cNvSpPr txBox="1">
              <a:spLocks noChangeArrowheads="1"/>
            </p:cNvSpPr>
            <p:nvPr/>
          </p:nvSpPr>
          <p:spPr bwMode="auto">
            <a:xfrm>
              <a:off x="2817" y="323"/>
              <a:ext cx="336"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sp>
          <p:nvSpPr>
            <p:cNvPr id="736274" name="Text Box 18"/>
            <p:cNvSpPr txBox="1">
              <a:spLocks noChangeArrowheads="1"/>
            </p:cNvSpPr>
            <p:nvPr/>
          </p:nvSpPr>
          <p:spPr bwMode="auto">
            <a:xfrm>
              <a:off x="2362" y="260"/>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p>
          </p:txBody>
        </p:sp>
        <p:grpSp>
          <p:nvGrpSpPr>
            <p:cNvPr id="736275" name="Group 19"/>
            <p:cNvGrpSpPr>
              <a:grpSpLocks/>
            </p:cNvGrpSpPr>
            <p:nvPr/>
          </p:nvGrpSpPr>
          <p:grpSpPr bwMode="auto">
            <a:xfrm flipH="1">
              <a:off x="3153" y="644"/>
              <a:ext cx="528" cy="432"/>
              <a:chOff x="862" y="2612"/>
              <a:chExt cx="423" cy="450"/>
            </a:xfrm>
          </p:grpSpPr>
          <p:sp>
            <p:nvSpPr>
              <p:cNvPr id="736276" name="Freeform 20"/>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7" name="Line 21"/>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8" name="Freeform 22"/>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79" name="Freeform 23"/>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80" name="Freeform 24"/>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81" name="Freeform 25"/>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82" name="Oval 26"/>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83" name="Oval 27"/>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6284" name="Text Box 28"/>
            <p:cNvSpPr txBox="1">
              <a:spLocks noChangeArrowheads="1"/>
            </p:cNvSpPr>
            <p:nvPr/>
          </p:nvSpPr>
          <p:spPr bwMode="auto">
            <a:xfrm>
              <a:off x="3741" y="463"/>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a:t>
              </a:r>
              <a:endParaRPr kumimoji="1" lang="en-US" altLang="zh-CN" sz="2400">
                <a:latin typeface="Times New Roman" panose="02020603050405020304" pitchFamily="18" charset="0"/>
              </a:endParaRPr>
            </a:p>
          </p:txBody>
        </p:sp>
        <p:sp>
          <p:nvSpPr>
            <p:cNvPr id="736285" name="Text Box 29"/>
            <p:cNvSpPr txBox="1">
              <a:spLocks noChangeArrowheads="1"/>
            </p:cNvSpPr>
            <p:nvPr/>
          </p:nvSpPr>
          <p:spPr bwMode="auto">
            <a:xfrm>
              <a:off x="3781" y="98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a:latin typeface="黑体" panose="02010609060101010101" pitchFamily="49" charset="-122"/>
                  <a:ea typeface="黑体" panose="02010609060101010101" pitchFamily="49" charset="-122"/>
                </a:rPr>
                <a:t>-</a:t>
              </a:r>
              <a:endParaRPr kumimoji="1" lang="en-US" altLang="zh-CN" sz="2400">
                <a:latin typeface="Times New Roman" panose="02020603050405020304" pitchFamily="18" charset="0"/>
              </a:endParaRPr>
            </a:p>
          </p:txBody>
        </p:sp>
        <p:sp>
          <p:nvSpPr>
            <p:cNvPr id="736286" name="Text Box 30"/>
            <p:cNvSpPr txBox="1">
              <a:spLocks noChangeArrowheads="1"/>
            </p:cNvSpPr>
            <p:nvPr/>
          </p:nvSpPr>
          <p:spPr bwMode="auto">
            <a:xfrm>
              <a:off x="3741" y="695"/>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sym typeface="Symbol" panose="05050102010706020507" pitchFamily="18" charset="2"/>
                </a:rPr>
                <a:t>u</a:t>
              </a:r>
              <a:r>
                <a:rPr kumimoji="1" lang="en-US" altLang="zh-CN" sz="2400" b="1" baseline="-25000">
                  <a:latin typeface="Times New Roman" panose="02020603050405020304" pitchFamily="18" charset="0"/>
                </a:rPr>
                <a:t>2</a:t>
              </a:r>
            </a:p>
          </p:txBody>
        </p:sp>
        <p:sp>
          <p:nvSpPr>
            <p:cNvPr id="736287" name="Line 31"/>
            <p:cNvSpPr>
              <a:spLocks noChangeShapeType="1"/>
            </p:cNvSpPr>
            <p:nvPr/>
          </p:nvSpPr>
          <p:spPr bwMode="auto">
            <a:xfrm flipH="1">
              <a:off x="3463" y="578"/>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6288" name="Text Box 32"/>
            <p:cNvSpPr txBox="1">
              <a:spLocks noChangeArrowheads="1"/>
            </p:cNvSpPr>
            <p:nvPr/>
          </p:nvSpPr>
          <p:spPr bwMode="auto">
            <a:xfrm>
              <a:off x="3463" y="260"/>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p>
          </p:txBody>
        </p:sp>
        <p:sp>
          <p:nvSpPr>
            <p:cNvPr id="736289" name="Text Box 33"/>
            <p:cNvSpPr txBox="1">
              <a:spLocks noChangeArrowheads="1"/>
            </p:cNvSpPr>
            <p:nvPr/>
          </p:nvSpPr>
          <p:spPr bwMode="auto">
            <a:xfrm>
              <a:off x="2063" y="463"/>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a:t>
              </a:r>
              <a:endParaRPr kumimoji="1" lang="en-US" altLang="zh-CN" sz="2400">
                <a:latin typeface="Times New Roman" panose="02020603050405020304" pitchFamily="18" charset="0"/>
              </a:endParaRPr>
            </a:p>
          </p:txBody>
        </p:sp>
        <p:sp>
          <p:nvSpPr>
            <p:cNvPr id="736290" name="Text Box 34"/>
            <p:cNvSpPr txBox="1">
              <a:spLocks noChangeArrowheads="1"/>
            </p:cNvSpPr>
            <p:nvPr/>
          </p:nvSpPr>
          <p:spPr bwMode="auto">
            <a:xfrm>
              <a:off x="2103" y="98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a:latin typeface="黑体" panose="02010609060101010101" pitchFamily="49" charset="-122"/>
                  <a:ea typeface="黑体" panose="02010609060101010101" pitchFamily="49" charset="-122"/>
                </a:rPr>
                <a:t>-</a:t>
              </a:r>
              <a:endParaRPr kumimoji="1" lang="en-US" altLang="zh-CN" sz="2400">
                <a:latin typeface="Times New Roman" panose="02020603050405020304" pitchFamily="18" charset="0"/>
              </a:endParaRPr>
            </a:p>
          </p:txBody>
        </p:sp>
        <p:sp>
          <p:nvSpPr>
            <p:cNvPr id="736291" name="Text Box 35"/>
            <p:cNvSpPr txBox="1">
              <a:spLocks noChangeArrowheads="1"/>
            </p:cNvSpPr>
            <p:nvPr/>
          </p:nvSpPr>
          <p:spPr bwMode="auto">
            <a:xfrm>
              <a:off x="2063" y="695"/>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sym typeface="Symbol" panose="05050102010706020507" pitchFamily="18" charset="2"/>
                </a:rPr>
                <a:t>u</a:t>
              </a:r>
              <a:r>
                <a:rPr kumimoji="1" lang="en-US" altLang="zh-CN" sz="2400" b="1" baseline="-25000">
                  <a:latin typeface="Times New Roman" panose="02020603050405020304" pitchFamily="18" charset="0"/>
                </a:rPr>
                <a:t>1</a:t>
              </a:r>
            </a:p>
          </p:txBody>
        </p:sp>
      </p:grpSp>
      <p:pic>
        <p:nvPicPr>
          <p:cNvPr id="736292"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9450" y="2657475"/>
            <a:ext cx="389255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6293" name="Line 37"/>
          <p:cNvSpPr>
            <a:spLocks noChangeShapeType="1"/>
          </p:cNvSpPr>
          <p:nvPr/>
        </p:nvSpPr>
        <p:spPr bwMode="auto">
          <a:xfrm>
            <a:off x="4344988" y="2009775"/>
            <a:ext cx="360362" cy="6477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294" name="Oval 38"/>
          <p:cNvSpPr>
            <a:spLocks noChangeArrowheads="1"/>
          </p:cNvSpPr>
          <p:nvPr/>
        </p:nvSpPr>
        <p:spPr bwMode="auto">
          <a:xfrm>
            <a:off x="6073775" y="2657475"/>
            <a:ext cx="433388" cy="433388"/>
          </a:xfrm>
          <a:prstGeom prst="ellipse">
            <a:avLst/>
          </a:prstGeom>
          <a:noFill/>
          <a:ln w="349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6295" name="Oval 39"/>
          <p:cNvSpPr>
            <a:spLocks noChangeArrowheads="1"/>
          </p:cNvSpPr>
          <p:nvPr/>
        </p:nvSpPr>
        <p:spPr bwMode="auto">
          <a:xfrm>
            <a:off x="7772400" y="3954463"/>
            <a:ext cx="360363" cy="360362"/>
          </a:xfrm>
          <a:prstGeom prst="ellipse">
            <a:avLst/>
          </a:prstGeom>
          <a:noFill/>
          <a:ln w="349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zh-CN" altLang="zh-CN" sz="2400">
              <a:latin typeface="Times New Roman" panose="02020603050405020304" pitchFamily="18" charset="0"/>
            </a:endParaRPr>
          </a:p>
        </p:txBody>
      </p:sp>
      <p:sp>
        <p:nvSpPr>
          <p:cNvPr id="736296" name="Text Box 40"/>
          <p:cNvSpPr txBox="1">
            <a:spLocks noChangeArrowheads="1"/>
          </p:cNvSpPr>
          <p:nvPr/>
        </p:nvSpPr>
        <p:spPr bwMode="auto">
          <a:xfrm>
            <a:off x="5208588" y="5924550"/>
            <a:ext cx="3144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latin typeface="Times New Roman" panose="02020603050405020304" pitchFamily="18" charset="0"/>
              </a:rPr>
              <a:t>相同电流产生的</a:t>
            </a:r>
            <a:r>
              <a:rPr lang="en-US" altLang="zh-CN" sz="2400" b="1" i="1">
                <a:latin typeface="Times New Roman" panose="02020603050405020304" pitchFamily="18" charset="0"/>
              </a:rPr>
              <a:t>B</a:t>
            </a:r>
            <a:r>
              <a:rPr lang="zh-CN" altLang="en-US" sz="2400" b="1">
                <a:latin typeface="Times New Roman" panose="02020603050405020304" pitchFamily="18" charset="0"/>
              </a:rPr>
              <a:t>大。</a:t>
            </a:r>
          </a:p>
        </p:txBody>
      </p:sp>
      <p:sp>
        <p:nvSpPr>
          <p:cNvPr id="736297" name="Text Box 41"/>
          <p:cNvSpPr txBox="1">
            <a:spLocks noChangeArrowheads="1"/>
          </p:cNvSpPr>
          <p:nvPr/>
        </p:nvSpPr>
        <p:spPr bwMode="auto">
          <a:xfrm>
            <a:off x="1968500" y="2081213"/>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空气</a:t>
            </a:r>
          </a:p>
        </p:txBody>
      </p:sp>
      <p:sp>
        <p:nvSpPr>
          <p:cNvPr id="736298" name="Line 42"/>
          <p:cNvSpPr>
            <a:spLocks noChangeShapeType="1"/>
          </p:cNvSpPr>
          <p:nvPr/>
        </p:nvSpPr>
        <p:spPr bwMode="auto">
          <a:xfrm flipH="1">
            <a:off x="4560888" y="6186488"/>
            <a:ext cx="647700"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299" name="Text Box 43"/>
          <p:cNvSpPr txBox="1">
            <a:spLocks noChangeArrowheads="1"/>
          </p:cNvSpPr>
          <p:nvPr/>
        </p:nvSpPr>
        <p:spPr bwMode="auto">
          <a:xfrm>
            <a:off x="3028950" y="5775325"/>
            <a:ext cx="17924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dirty="0">
                <a:latin typeface="Times New Roman" panose="02020603050405020304" pitchFamily="18" charset="0"/>
              </a:rPr>
              <a:t>相同体积下</a:t>
            </a:r>
          </a:p>
          <a:p>
            <a:pPr algn="l">
              <a:spcBef>
                <a:spcPct val="0"/>
              </a:spcBef>
            </a:pPr>
            <a:r>
              <a:rPr lang="en-US" altLang="zh-CN" b="1" dirty="0" smtClean="0"/>
              <a:t>L</a:t>
            </a:r>
            <a:r>
              <a:rPr lang="zh-CN" altLang="en-US" b="1" dirty="0" smtClean="0"/>
              <a:t>比较</a:t>
            </a:r>
            <a:r>
              <a:rPr lang="zh-CN" altLang="en-US" sz="2400" b="1" dirty="0" smtClean="0">
                <a:latin typeface="Times New Roman" panose="02020603050405020304" pitchFamily="18" charset="0"/>
              </a:rPr>
              <a:t>大</a:t>
            </a:r>
            <a:endParaRPr lang="zh-CN" altLang="en-US" sz="2400" b="1" dirty="0">
              <a:latin typeface="Times New Roman" panose="02020603050405020304" pitchFamily="18" charset="0"/>
            </a:endParaRPr>
          </a:p>
        </p:txBody>
      </p:sp>
      <p:sp>
        <p:nvSpPr>
          <p:cNvPr id="736300" name="Line 44"/>
          <p:cNvSpPr>
            <a:spLocks noChangeShapeType="1"/>
          </p:cNvSpPr>
          <p:nvPr/>
        </p:nvSpPr>
        <p:spPr bwMode="auto">
          <a:xfrm flipH="1">
            <a:off x="3049588" y="2009775"/>
            <a:ext cx="719137" cy="6477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6301" name="Group 45"/>
          <p:cNvGrpSpPr>
            <a:grpSpLocks/>
          </p:cNvGrpSpPr>
          <p:nvPr/>
        </p:nvGrpSpPr>
        <p:grpSpPr bwMode="auto">
          <a:xfrm>
            <a:off x="1681163" y="2514600"/>
            <a:ext cx="2128837" cy="1682750"/>
            <a:chOff x="1247" y="1706"/>
            <a:chExt cx="1341" cy="1060"/>
          </a:xfrm>
        </p:grpSpPr>
        <p:sp>
          <p:nvSpPr>
            <p:cNvPr id="736302" name="Line 46"/>
            <p:cNvSpPr>
              <a:spLocks noChangeShapeType="1"/>
            </p:cNvSpPr>
            <p:nvPr/>
          </p:nvSpPr>
          <p:spPr bwMode="auto">
            <a:xfrm>
              <a:off x="1383" y="2523"/>
              <a:ext cx="99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303" name="Line 47"/>
            <p:cNvSpPr>
              <a:spLocks noChangeShapeType="1"/>
            </p:cNvSpPr>
            <p:nvPr/>
          </p:nvSpPr>
          <p:spPr bwMode="auto">
            <a:xfrm flipV="1">
              <a:off x="1565" y="1842"/>
              <a:ext cx="0" cy="8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304" name="Text Box 48"/>
            <p:cNvSpPr txBox="1">
              <a:spLocks noChangeArrowheads="1"/>
            </p:cNvSpPr>
            <p:nvPr/>
          </p:nvSpPr>
          <p:spPr bwMode="auto">
            <a:xfrm>
              <a:off x="2323" y="2264"/>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b="1" i="1">
                  <a:latin typeface="Times New Roman" panose="02020603050405020304" pitchFamily="18" charset="0"/>
                </a:rPr>
                <a:t>H</a:t>
              </a:r>
            </a:p>
          </p:txBody>
        </p:sp>
        <p:sp>
          <p:nvSpPr>
            <p:cNvPr id="736305" name="Text Box 49"/>
            <p:cNvSpPr txBox="1">
              <a:spLocks noChangeArrowheads="1"/>
            </p:cNvSpPr>
            <p:nvPr/>
          </p:nvSpPr>
          <p:spPr bwMode="auto">
            <a:xfrm>
              <a:off x="1247" y="170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b="1" i="1">
                  <a:latin typeface="Times New Roman" panose="02020603050405020304" pitchFamily="18" charset="0"/>
                </a:rPr>
                <a:t>B</a:t>
              </a:r>
            </a:p>
          </p:txBody>
        </p:sp>
        <p:sp>
          <p:nvSpPr>
            <p:cNvPr id="736306" name="Text Box 50"/>
            <p:cNvSpPr txBox="1">
              <a:spLocks noChangeArrowheads="1"/>
            </p:cNvSpPr>
            <p:nvPr/>
          </p:nvSpPr>
          <p:spPr bwMode="auto">
            <a:xfrm>
              <a:off x="1338" y="247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b="1">
                  <a:latin typeface="Times New Roman" panose="02020603050405020304" pitchFamily="18" charset="0"/>
                </a:rPr>
                <a:t>0</a:t>
              </a:r>
            </a:p>
          </p:txBody>
        </p:sp>
        <p:sp>
          <p:nvSpPr>
            <p:cNvPr id="736307" name="Line 51"/>
            <p:cNvSpPr>
              <a:spLocks noChangeShapeType="1"/>
            </p:cNvSpPr>
            <p:nvPr/>
          </p:nvSpPr>
          <p:spPr bwMode="auto">
            <a:xfrm flipV="1">
              <a:off x="1565" y="1934"/>
              <a:ext cx="589" cy="5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6308" name="Text Box 52"/>
          <p:cNvSpPr txBox="1">
            <a:spLocks noChangeArrowheads="1"/>
          </p:cNvSpPr>
          <p:nvPr/>
        </p:nvSpPr>
        <p:spPr bwMode="auto">
          <a:xfrm>
            <a:off x="4859338" y="2154238"/>
            <a:ext cx="4284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硅钢片、铁氧体、非晶合金</a:t>
            </a:r>
          </a:p>
        </p:txBody>
      </p:sp>
      <p:sp>
        <p:nvSpPr>
          <p:cNvPr id="736309" name="Text Box 53"/>
          <p:cNvSpPr txBox="1">
            <a:spLocks noChangeArrowheads="1"/>
          </p:cNvSpPr>
          <p:nvPr/>
        </p:nvSpPr>
        <p:spPr bwMode="auto">
          <a:xfrm>
            <a:off x="1392238" y="4241800"/>
            <a:ext cx="3248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sz="2400" b="1">
                <a:latin typeface="Times New Roman" panose="02020603050405020304" pitchFamily="18" charset="0"/>
              </a:rPr>
              <a:t>物理量之间关系简单，</a:t>
            </a:r>
          </a:p>
          <a:p>
            <a:pPr algn="l">
              <a:spcBef>
                <a:spcPct val="0"/>
              </a:spcBef>
            </a:pPr>
            <a:r>
              <a:rPr lang="zh-CN" altLang="en-US" sz="2400" b="1">
                <a:latin typeface="Times New Roman" panose="02020603050405020304" pitchFamily="18" charset="0"/>
              </a:rPr>
              <a:t>容易分析。</a:t>
            </a:r>
          </a:p>
        </p:txBody>
      </p:sp>
      <p:sp>
        <p:nvSpPr>
          <p:cNvPr id="736310" name="Text Box 54"/>
          <p:cNvSpPr txBox="1">
            <a:spLocks noChangeArrowheads="1"/>
          </p:cNvSpPr>
          <p:nvPr/>
        </p:nvSpPr>
        <p:spPr bwMode="auto">
          <a:xfrm>
            <a:off x="1465263" y="5106988"/>
            <a:ext cx="2027237" cy="4572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空心变压器</a:t>
            </a:r>
          </a:p>
        </p:txBody>
      </p:sp>
      <p:sp>
        <p:nvSpPr>
          <p:cNvPr id="736311" name="Text Box 55"/>
          <p:cNvSpPr txBox="1">
            <a:spLocks noChangeArrowheads="1"/>
          </p:cNvSpPr>
          <p:nvPr/>
        </p:nvSpPr>
        <p:spPr bwMode="auto">
          <a:xfrm>
            <a:off x="4662488" y="5181600"/>
            <a:ext cx="1962150" cy="4572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400" b="1">
                <a:latin typeface="Times New Roman" panose="02020603050405020304" pitchFamily="18" charset="0"/>
              </a:rPr>
              <a:t>铁心变压器</a:t>
            </a:r>
          </a:p>
        </p:txBody>
      </p:sp>
      <p:sp>
        <p:nvSpPr>
          <p:cNvPr id="736312" name="Text Box 56"/>
          <p:cNvSpPr txBox="1">
            <a:spLocks noChangeArrowheads="1"/>
          </p:cNvSpPr>
          <p:nvPr/>
        </p:nvSpPr>
        <p:spPr bwMode="auto">
          <a:xfrm>
            <a:off x="539750" y="260350"/>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400" b="1">
                <a:solidFill>
                  <a:srgbClr val="0000FF"/>
                </a:solidFill>
                <a:latin typeface="宋体" panose="02010600030101010101" pitchFamily="2" charset="-122"/>
              </a:rPr>
              <a:t>3. </a:t>
            </a:r>
            <a:r>
              <a:rPr lang="zh-CN" altLang="en-US" sz="2400" b="1">
                <a:solidFill>
                  <a:srgbClr val="0000FF"/>
                </a:solidFill>
                <a:latin typeface="宋体" panose="02010600030101010101" pitchFamily="2" charset="-122"/>
              </a:rPr>
              <a:t>变压器的分类</a:t>
            </a:r>
          </a:p>
        </p:txBody>
      </p:sp>
      <p:sp>
        <p:nvSpPr>
          <p:cNvPr id="736313" name="Rectangle 57"/>
          <p:cNvSpPr>
            <a:spLocks noChangeArrowheads="1"/>
          </p:cNvSpPr>
          <p:nvPr/>
        </p:nvSpPr>
        <p:spPr bwMode="auto">
          <a:xfrm>
            <a:off x="6491288" y="5181600"/>
            <a:ext cx="2293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400" b="1" i="1">
                <a:latin typeface="Times New Roman" panose="02020603050405020304" pitchFamily="18" charset="0"/>
              </a:rPr>
              <a:t>B</a:t>
            </a:r>
            <a:r>
              <a:rPr lang="en-US" altLang="zh-CN" sz="2400" b="1">
                <a:latin typeface="Times New Roman" panose="02020603050405020304" pitchFamily="18" charset="0"/>
              </a:rPr>
              <a:t>-</a:t>
            </a:r>
            <a:r>
              <a:rPr lang="en-US" altLang="zh-CN" sz="2400" b="1" i="1">
                <a:latin typeface="Times New Roman" panose="02020603050405020304" pitchFamily="18" charset="0"/>
              </a:rPr>
              <a:t>H</a:t>
            </a:r>
            <a:r>
              <a:rPr lang="zh-CN" altLang="en-US" sz="2400" b="1">
                <a:latin typeface="Times New Roman" panose="02020603050405020304" pitchFamily="18" charset="0"/>
              </a:rPr>
              <a:t>间非线性</a:t>
            </a:r>
          </a:p>
        </p:txBody>
      </p:sp>
    </p:spTree>
    <p:extLst>
      <p:ext uri="{BB962C8B-B14F-4D97-AF65-F5344CB8AC3E}">
        <p14:creationId xmlns:p14="http://schemas.microsoft.com/office/powerpoint/2010/main" val="22820441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36312"/>
                                        </p:tgtEl>
                                        <p:attrNameLst>
                                          <p:attrName>style.visibility</p:attrName>
                                        </p:attrNameLst>
                                      </p:cBhvr>
                                      <p:to>
                                        <p:strVal val="visible"/>
                                      </p:to>
                                    </p:set>
                                    <p:animEffect transition="in" filter="dissolve">
                                      <p:cBhvr>
                                        <p:cTn id="7" dur="500"/>
                                        <p:tgtEl>
                                          <p:spTgt spid="73631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36258"/>
                                        </p:tgtEl>
                                        <p:attrNameLst>
                                          <p:attrName>style.visibility</p:attrName>
                                        </p:attrNameLst>
                                      </p:cBhvr>
                                      <p:to>
                                        <p:strVal val="visible"/>
                                      </p:to>
                                    </p:set>
                                    <p:animEffect transition="in" filter="dissolve">
                                      <p:cBhvr>
                                        <p:cTn id="11" dur="500"/>
                                        <p:tgtEl>
                                          <p:spTgt spid="7362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36300"/>
                                        </p:tgtEl>
                                        <p:attrNameLst>
                                          <p:attrName>style.visibility</p:attrName>
                                        </p:attrNameLst>
                                      </p:cBhvr>
                                      <p:to>
                                        <p:strVal val="visible"/>
                                      </p:to>
                                    </p:set>
                                    <p:animEffect transition="in" filter="wipe(up)">
                                      <p:cBhvr>
                                        <p:cTn id="16" dur="500"/>
                                        <p:tgtEl>
                                          <p:spTgt spid="736300"/>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36297"/>
                                        </p:tgtEl>
                                        <p:attrNameLst>
                                          <p:attrName>style.visibility</p:attrName>
                                        </p:attrNameLst>
                                      </p:cBhvr>
                                      <p:to>
                                        <p:strVal val="visible"/>
                                      </p:to>
                                    </p:set>
                                    <p:animEffect transition="in" filter="dissolve">
                                      <p:cBhvr>
                                        <p:cTn id="20" dur="500"/>
                                        <p:tgtEl>
                                          <p:spTgt spid="7362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736301"/>
                                        </p:tgtEl>
                                        <p:attrNameLst>
                                          <p:attrName>style.visibility</p:attrName>
                                        </p:attrNameLst>
                                      </p:cBhvr>
                                      <p:to>
                                        <p:strVal val="visible"/>
                                      </p:to>
                                    </p:set>
                                    <p:animEffect transition="in" filter="dissolve">
                                      <p:cBhvr>
                                        <p:cTn id="25" dur="500"/>
                                        <p:tgtEl>
                                          <p:spTgt spid="73630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36309"/>
                                        </p:tgtEl>
                                        <p:attrNameLst>
                                          <p:attrName>style.visibility</p:attrName>
                                        </p:attrNameLst>
                                      </p:cBhvr>
                                      <p:to>
                                        <p:strVal val="visible"/>
                                      </p:to>
                                    </p:set>
                                    <p:animEffect transition="in" filter="dissolve">
                                      <p:cBhvr>
                                        <p:cTn id="30" dur="500"/>
                                        <p:tgtEl>
                                          <p:spTgt spid="73630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736310"/>
                                        </p:tgtEl>
                                        <p:attrNameLst>
                                          <p:attrName>style.visibility</p:attrName>
                                        </p:attrNameLst>
                                      </p:cBhvr>
                                      <p:to>
                                        <p:strVal val="visible"/>
                                      </p:to>
                                    </p:set>
                                    <p:animEffect transition="in" filter="dissolve">
                                      <p:cBhvr>
                                        <p:cTn id="35" dur="500"/>
                                        <p:tgtEl>
                                          <p:spTgt spid="7363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736293"/>
                                        </p:tgtEl>
                                        <p:attrNameLst>
                                          <p:attrName>style.visibility</p:attrName>
                                        </p:attrNameLst>
                                      </p:cBhvr>
                                      <p:to>
                                        <p:strVal val="visible"/>
                                      </p:to>
                                    </p:set>
                                    <p:animEffect transition="in" filter="wipe(up)">
                                      <p:cBhvr>
                                        <p:cTn id="40" dur="500"/>
                                        <p:tgtEl>
                                          <p:spTgt spid="736293"/>
                                        </p:tgtEl>
                                      </p:cBhvr>
                                    </p:animEffect>
                                  </p:childTnLst>
                                </p:cTn>
                              </p:par>
                            </p:childTnLst>
                          </p:cTn>
                        </p:par>
                        <p:par>
                          <p:cTn id="41" fill="hold" nodeType="afterGroup">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736308"/>
                                        </p:tgtEl>
                                        <p:attrNameLst>
                                          <p:attrName>style.visibility</p:attrName>
                                        </p:attrNameLst>
                                      </p:cBhvr>
                                      <p:to>
                                        <p:strVal val="visible"/>
                                      </p:to>
                                    </p:set>
                                    <p:animEffect transition="in" filter="dissolve">
                                      <p:cBhvr>
                                        <p:cTn id="44" dur="500"/>
                                        <p:tgtEl>
                                          <p:spTgt spid="73630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736292"/>
                                        </p:tgtEl>
                                        <p:attrNameLst>
                                          <p:attrName>style.visibility</p:attrName>
                                        </p:attrNameLst>
                                      </p:cBhvr>
                                      <p:to>
                                        <p:strVal val="visible"/>
                                      </p:to>
                                    </p:set>
                                    <p:animEffect transition="in" filter="dissolve">
                                      <p:cBhvr>
                                        <p:cTn id="49" dur="500"/>
                                        <p:tgtEl>
                                          <p:spTgt spid="73629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736311"/>
                                        </p:tgtEl>
                                        <p:attrNameLst>
                                          <p:attrName>style.visibility</p:attrName>
                                        </p:attrNameLst>
                                      </p:cBhvr>
                                      <p:to>
                                        <p:strVal val="visible"/>
                                      </p:to>
                                    </p:set>
                                    <p:animEffect transition="in" filter="dissolve">
                                      <p:cBhvr>
                                        <p:cTn id="54" dur="500"/>
                                        <p:tgtEl>
                                          <p:spTgt spid="736311"/>
                                        </p:tgtEl>
                                      </p:cBhvr>
                                    </p:animEffect>
                                  </p:childTnLst>
                                </p:cTn>
                              </p:par>
                            </p:childTnLst>
                          </p:cTn>
                        </p:par>
                        <p:par>
                          <p:cTn id="55" fill="hold" nodeType="afterGroup">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736313"/>
                                        </p:tgtEl>
                                        <p:attrNameLst>
                                          <p:attrName>style.visibility</p:attrName>
                                        </p:attrNameLst>
                                      </p:cBhvr>
                                      <p:to>
                                        <p:strVal val="visible"/>
                                      </p:to>
                                    </p:set>
                                    <p:animEffect transition="in" filter="dissolve">
                                      <p:cBhvr>
                                        <p:cTn id="58" dur="500"/>
                                        <p:tgtEl>
                                          <p:spTgt spid="73631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736296"/>
                                        </p:tgtEl>
                                        <p:attrNameLst>
                                          <p:attrName>style.visibility</p:attrName>
                                        </p:attrNameLst>
                                      </p:cBhvr>
                                      <p:to>
                                        <p:strVal val="visible"/>
                                      </p:to>
                                    </p:set>
                                    <p:animEffect transition="in" filter="dissolve">
                                      <p:cBhvr>
                                        <p:cTn id="63" dur="500"/>
                                        <p:tgtEl>
                                          <p:spTgt spid="736296"/>
                                        </p:tgtEl>
                                      </p:cBhvr>
                                    </p:animEffect>
                                  </p:childTnLst>
                                </p:cTn>
                              </p:par>
                            </p:childTnLst>
                          </p:cTn>
                        </p:par>
                        <p:par>
                          <p:cTn id="64" fill="hold" nodeType="afterGroup">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736295"/>
                                        </p:tgtEl>
                                        <p:attrNameLst>
                                          <p:attrName>style.visibility</p:attrName>
                                        </p:attrNameLst>
                                      </p:cBhvr>
                                      <p:to>
                                        <p:strVal val="visible"/>
                                      </p:to>
                                    </p:set>
                                    <p:animEffect transition="in" filter="dissolve">
                                      <p:cBhvr>
                                        <p:cTn id="67" dur="500"/>
                                        <p:tgtEl>
                                          <p:spTgt spid="736295"/>
                                        </p:tgtEl>
                                      </p:cBhvr>
                                    </p:animEffect>
                                  </p:childTnLst>
                                </p:cTn>
                              </p:par>
                            </p:childTnLst>
                          </p:cTn>
                        </p:par>
                        <p:par>
                          <p:cTn id="68" fill="hold" nodeType="afterGroup">
                            <p:stCondLst>
                              <p:cond delay="1000"/>
                            </p:stCondLst>
                            <p:childTnLst>
                              <p:par>
                                <p:cTn id="69" presetID="9" presetClass="entr" presetSubtype="0" fill="hold" nodeType="afterEffect">
                                  <p:stCondLst>
                                    <p:cond delay="0"/>
                                  </p:stCondLst>
                                  <p:childTnLst>
                                    <p:set>
                                      <p:cBhvr>
                                        <p:cTn id="70" dur="1" fill="hold">
                                          <p:stCondLst>
                                            <p:cond delay="0"/>
                                          </p:stCondLst>
                                        </p:cTn>
                                        <p:tgtEl>
                                          <p:spTgt spid="736294"/>
                                        </p:tgtEl>
                                        <p:attrNameLst>
                                          <p:attrName>style.visibility</p:attrName>
                                        </p:attrNameLst>
                                      </p:cBhvr>
                                      <p:to>
                                        <p:strVal val="visible"/>
                                      </p:to>
                                    </p:set>
                                    <p:animEffect transition="in" filter="dissolve">
                                      <p:cBhvr>
                                        <p:cTn id="71" dur="500"/>
                                        <p:tgtEl>
                                          <p:spTgt spid="73629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2" fill="hold" nodeType="clickEffect">
                                  <p:stCondLst>
                                    <p:cond delay="0"/>
                                  </p:stCondLst>
                                  <p:childTnLst>
                                    <p:set>
                                      <p:cBhvr>
                                        <p:cTn id="75" dur="1" fill="hold">
                                          <p:stCondLst>
                                            <p:cond delay="0"/>
                                          </p:stCondLst>
                                        </p:cTn>
                                        <p:tgtEl>
                                          <p:spTgt spid="736298"/>
                                        </p:tgtEl>
                                        <p:attrNameLst>
                                          <p:attrName>style.visibility</p:attrName>
                                        </p:attrNameLst>
                                      </p:cBhvr>
                                      <p:to>
                                        <p:strVal val="visible"/>
                                      </p:to>
                                    </p:set>
                                    <p:animEffect transition="in" filter="wipe(right)">
                                      <p:cBhvr>
                                        <p:cTn id="76" dur="500"/>
                                        <p:tgtEl>
                                          <p:spTgt spid="736298"/>
                                        </p:tgtEl>
                                      </p:cBhvr>
                                    </p:animEffect>
                                  </p:childTnLst>
                                </p:cTn>
                              </p:par>
                            </p:childTnLst>
                          </p:cTn>
                        </p:par>
                        <p:par>
                          <p:cTn id="77" fill="hold" nodeType="afterGroup">
                            <p:stCondLst>
                              <p:cond delay="500"/>
                            </p:stCondLst>
                            <p:childTnLst>
                              <p:par>
                                <p:cTn id="78" presetID="9" presetClass="entr" presetSubtype="0" fill="hold" grpId="0" nodeType="afterEffect">
                                  <p:stCondLst>
                                    <p:cond delay="0"/>
                                  </p:stCondLst>
                                  <p:childTnLst>
                                    <p:set>
                                      <p:cBhvr>
                                        <p:cTn id="79" dur="1" fill="hold">
                                          <p:stCondLst>
                                            <p:cond delay="0"/>
                                          </p:stCondLst>
                                        </p:cTn>
                                        <p:tgtEl>
                                          <p:spTgt spid="736299"/>
                                        </p:tgtEl>
                                        <p:attrNameLst>
                                          <p:attrName>style.visibility</p:attrName>
                                        </p:attrNameLst>
                                      </p:cBhvr>
                                      <p:to>
                                        <p:strVal val="visible"/>
                                      </p:to>
                                    </p:set>
                                    <p:animEffect transition="in" filter="dissolve">
                                      <p:cBhvr>
                                        <p:cTn id="80" dur="500"/>
                                        <p:tgtEl>
                                          <p:spTgt spid="736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95" grpId="0" animBg="1" autoUpdateAnimBg="0"/>
      <p:bldP spid="736296" grpId="0" autoUpdateAnimBg="0"/>
      <p:bldP spid="736297" grpId="0" autoUpdateAnimBg="0"/>
      <p:bldP spid="736299" grpId="0" autoUpdateAnimBg="0"/>
      <p:bldP spid="736308" grpId="0" autoUpdateAnimBg="0"/>
      <p:bldP spid="736309" grpId="0" autoUpdateAnimBg="0"/>
      <p:bldP spid="736310" grpId="0" animBg="1" autoUpdateAnimBg="0"/>
      <p:bldP spid="736311" grpId="0" animBg="1" autoUpdateAnimBg="0"/>
      <p:bldP spid="736312" grpId="0" autoUpdateAnimBg="0"/>
      <p:bldP spid="73631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47" name="Object 7"/>
          <p:cNvGraphicFramePr>
            <a:graphicFrameLocks noChangeAspect="1"/>
          </p:cNvGraphicFramePr>
          <p:nvPr/>
        </p:nvGraphicFramePr>
        <p:xfrm>
          <a:off x="6999288" y="2065338"/>
          <a:ext cx="1622425" cy="381000"/>
        </p:xfrm>
        <a:graphic>
          <a:graphicData uri="http://schemas.openxmlformats.org/presentationml/2006/ole">
            <mc:AlternateContent xmlns:mc="http://schemas.openxmlformats.org/markup-compatibility/2006">
              <mc:Choice xmlns:v="urn:schemas-microsoft-com:vml" Requires="v">
                <p:oleObj spid="_x0000_s109598" name="Equation" r:id="rId3" imgW="804741" imgH="181065" progId="Equation.3">
                  <p:embed/>
                </p:oleObj>
              </mc:Choice>
              <mc:Fallback>
                <p:oleObj name="Equation" r:id="rId3" imgW="804741" imgH="181065" progId="Equation.3">
                  <p:embed/>
                  <p:pic>
                    <p:nvPicPr>
                      <p:cNvPr id="2662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9288" y="2065338"/>
                        <a:ext cx="1622425" cy="381000"/>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48" name="Rectangle 8"/>
          <p:cNvSpPr>
            <a:spLocks noChangeArrowheads="1"/>
          </p:cNvSpPr>
          <p:nvPr/>
        </p:nvSpPr>
        <p:spPr bwMode="auto">
          <a:xfrm>
            <a:off x="84524" y="436563"/>
            <a:ext cx="761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defRPr/>
            </a:pPr>
            <a:r>
              <a:rPr lang="zh-CN" altLang="en-US" dirty="0" smtClean="0">
                <a:solidFill>
                  <a:srgbClr val="FF0000"/>
                </a:solidFill>
                <a:effectLst>
                  <a:outerShdw blurRad="38100" dist="38100" dir="2700000" algn="tl">
                    <a:srgbClr val="C0C0C0"/>
                  </a:outerShdw>
                </a:effectLst>
                <a:ea typeface="隶书" panose="02010509060101010101" pitchFamily="49" charset="-122"/>
              </a:rPr>
              <a:t>线性变压器 </a:t>
            </a:r>
            <a:r>
              <a:rPr lang="en-US" altLang="zh-CN" dirty="0" smtClean="0">
                <a:solidFill>
                  <a:srgbClr val="FF0000"/>
                </a:solidFill>
                <a:effectLst>
                  <a:outerShdw blurRad="38100" dist="38100" dir="2700000" algn="tl">
                    <a:srgbClr val="C0C0C0"/>
                  </a:outerShdw>
                </a:effectLst>
                <a:ea typeface="隶书" panose="02010509060101010101" pitchFamily="49" charset="-122"/>
              </a:rPr>
              <a:t>Linear transformers  (</a:t>
            </a:r>
            <a:r>
              <a:rPr lang="en-US" altLang="zh-CN" i="1" dirty="0" smtClean="0">
                <a:solidFill>
                  <a:srgbClr val="FF0000"/>
                </a:solidFill>
                <a:effectLst>
                  <a:outerShdw blurRad="38100" dist="38100" dir="2700000" algn="tl">
                    <a:srgbClr val="C0C0C0"/>
                  </a:outerShdw>
                </a:effectLst>
                <a:ea typeface="隶书" panose="02010509060101010101" pitchFamily="49" charset="-122"/>
              </a:rPr>
              <a:t>Air-core transformers</a:t>
            </a:r>
            <a:r>
              <a:rPr lang="en-US" altLang="zh-CN" dirty="0" smtClean="0">
                <a:solidFill>
                  <a:srgbClr val="FF0000"/>
                </a:solidFill>
                <a:effectLst>
                  <a:outerShdw blurRad="38100" dist="38100" dir="2700000" algn="tl">
                    <a:srgbClr val="C0C0C0"/>
                  </a:outerShdw>
                </a:effectLst>
                <a:ea typeface="隶书" panose="02010509060101010101" pitchFamily="49" charset="-122"/>
              </a:rPr>
              <a:t>) </a:t>
            </a:r>
          </a:p>
        </p:txBody>
      </p:sp>
      <p:sp>
        <p:nvSpPr>
          <p:cNvPr id="266249" name="Rectangle 9"/>
          <p:cNvSpPr>
            <a:spLocks noChangeArrowheads="1"/>
          </p:cNvSpPr>
          <p:nvPr/>
        </p:nvSpPr>
        <p:spPr bwMode="auto">
          <a:xfrm>
            <a:off x="1982788" y="2962275"/>
            <a:ext cx="2255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defRPr/>
            </a:pPr>
            <a:r>
              <a:rPr lang="en-US" altLang="zh-CN" smtClean="0">
                <a:effectLst>
                  <a:outerShdw blurRad="38100" dist="38100" dir="2700000" algn="tl">
                    <a:srgbClr val="C0C0C0"/>
                  </a:outerShdw>
                </a:effectLst>
                <a:ea typeface="隶书" panose="02010509060101010101" pitchFamily="49" charset="-122"/>
              </a:rPr>
              <a:t>Primary winding </a:t>
            </a:r>
          </a:p>
        </p:txBody>
      </p:sp>
      <p:graphicFrame>
        <p:nvGraphicFramePr>
          <p:cNvPr id="266251" name="Object 11"/>
          <p:cNvGraphicFramePr>
            <a:graphicFrameLocks noChangeAspect="1"/>
          </p:cNvGraphicFramePr>
          <p:nvPr/>
        </p:nvGraphicFramePr>
        <p:xfrm>
          <a:off x="1689100" y="981075"/>
          <a:ext cx="5170488" cy="2219325"/>
        </p:xfrm>
        <a:graphic>
          <a:graphicData uri="http://schemas.openxmlformats.org/presentationml/2006/ole">
            <mc:AlternateContent xmlns:mc="http://schemas.openxmlformats.org/markup-compatibility/2006">
              <mc:Choice xmlns:v="urn:schemas-microsoft-com:vml" Requires="v">
                <p:oleObj spid="_x0000_s109599" name="Visio" r:id="rId5" imgW="2650617" imgH="1147000" progId="Visio.Drawing.11">
                  <p:embed/>
                </p:oleObj>
              </mc:Choice>
              <mc:Fallback>
                <p:oleObj name="Visio" r:id="rId5" imgW="2650617" imgH="1147000" progId="Visio.Drawing.11">
                  <p:embed/>
                  <p:pic>
                    <p:nvPicPr>
                      <p:cNvPr id="26625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9100" y="981075"/>
                        <a:ext cx="5170488"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52" name="Rectangle 12"/>
          <p:cNvSpPr>
            <a:spLocks noChangeArrowheads="1"/>
          </p:cNvSpPr>
          <p:nvPr/>
        </p:nvSpPr>
        <p:spPr bwMode="auto">
          <a:xfrm>
            <a:off x="4649788" y="2962275"/>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defRPr/>
            </a:pPr>
            <a:r>
              <a:rPr lang="en-US" altLang="zh-CN" smtClean="0">
                <a:effectLst>
                  <a:outerShdw blurRad="38100" dist="38100" dir="2700000" algn="tl">
                    <a:srgbClr val="C0C0C0"/>
                  </a:outerShdw>
                </a:effectLst>
                <a:ea typeface="隶书" panose="02010509060101010101" pitchFamily="49" charset="-122"/>
              </a:rPr>
              <a:t>secondary winding </a:t>
            </a:r>
          </a:p>
        </p:txBody>
      </p:sp>
      <p:sp>
        <p:nvSpPr>
          <p:cNvPr id="266255" name="Rectangle 15"/>
          <p:cNvSpPr>
            <a:spLocks noChangeArrowheads="1"/>
          </p:cNvSpPr>
          <p:nvPr/>
        </p:nvSpPr>
        <p:spPr bwMode="auto">
          <a:xfrm>
            <a:off x="311944" y="4006849"/>
            <a:ext cx="8675687"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a:solidFill>
                  <a:schemeClr val="tx1"/>
                </a:solidFill>
                <a:latin typeface="Times New Roman" panose="02020603050405020304" pitchFamily="18" charset="0"/>
                <a:ea typeface="隶书" panose="02010509060101010101" pitchFamily="49" charset="-122"/>
              </a:defRPr>
            </a:lvl1pPr>
            <a:lvl2pPr marL="914400" indent="-457200">
              <a:defRPr kumimoji="1">
                <a:solidFill>
                  <a:schemeClr val="tx1"/>
                </a:solidFill>
                <a:latin typeface="Times New Roman" panose="02020603050405020304" pitchFamily="18" charset="0"/>
                <a:ea typeface="隶书" panose="02010509060101010101" pitchFamily="49" charset="-122"/>
              </a:defRPr>
            </a:lvl2pPr>
            <a:lvl3pPr marL="1371600" indent="-457200">
              <a:defRPr kumimoji="1">
                <a:solidFill>
                  <a:schemeClr val="tx1"/>
                </a:solidFill>
                <a:latin typeface="Times New Roman" panose="02020603050405020304" pitchFamily="18" charset="0"/>
                <a:ea typeface="隶书" panose="02010509060101010101" pitchFamily="49" charset="-122"/>
              </a:defRPr>
            </a:lvl3pPr>
            <a:lvl4pPr marL="1828800" indent="-457200">
              <a:defRPr kumimoji="1">
                <a:solidFill>
                  <a:schemeClr val="tx1"/>
                </a:solidFill>
                <a:latin typeface="Times New Roman" panose="02020603050405020304" pitchFamily="18" charset="0"/>
                <a:ea typeface="隶书" panose="02010509060101010101" pitchFamily="49" charset="-122"/>
              </a:defRPr>
            </a:lvl4pPr>
            <a:lvl5pPr marL="2286000" indent="-457200">
              <a:defRPr kumimoji="1">
                <a:solidFill>
                  <a:schemeClr val="tx1"/>
                </a:solidFill>
                <a:latin typeface="Times New Roman" panose="02020603050405020304" pitchFamily="18" charset="0"/>
                <a:ea typeface="隶书" panose="02010509060101010101" pitchFamily="49" charset="-122"/>
              </a:defRPr>
            </a:lvl5pPr>
            <a:lvl6pPr marL="2743200" indent="-457200" eaLnBrk="0" fontAlgn="base" hangingPunct="0">
              <a:spcBef>
                <a:spcPct val="0"/>
              </a:spcBef>
              <a:spcAft>
                <a:spcPct val="0"/>
              </a:spcAft>
              <a:defRPr kumimoji="1">
                <a:solidFill>
                  <a:schemeClr val="tx1"/>
                </a:solidFill>
                <a:latin typeface="Times New Roman" panose="02020603050405020304" pitchFamily="18" charset="0"/>
                <a:ea typeface="隶书" panose="02010509060101010101" pitchFamily="49" charset="-122"/>
              </a:defRPr>
            </a:lvl6pPr>
            <a:lvl7pPr marL="3200400" indent="-457200" eaLnBrk="0" fontAlgn="base" hangingPunct="0">
              <a:spcBef>
                <a:spcPct val="0"/>
              </a:spcBef>
              <a:spcAft>
                <a:spcPct val="0"/>
              </a:spcAft>
              <a:defRPr kumimoji="1">
                <a:solidFill>
                  <a:schemeClr val="tx1"/>
                </a:solidFill>
                <a:latin typeface="Times New Roman" panose="02020603050405020304" pitchFamily="18" charset="0"/>
                <a:ea typeface="隶书" panose="02010509060101010101" pitchFamily="49" charset="-122"/>
              </a:defRPr>
            </a:lvl7pPr>
            <a:lvl8pPr marL="3657600" indent="-457200" eaLnBrk="0" fontAlgn="base" hangingPunct="0">
              <a:spcBef>
                <a:spcPct val="0"/>
              </a:spcBef>
              <a:spcAft>
                <a:spcPct val="0"/>
              </a:spcAft>
              <a:defRPr kumimoji="1">
                <a:solidFill>
                  <a:schemeClr val="tx1"/>
                </a:solidFill>
                <a:latin typeface="Times New Roman" panose="02020603050405020304" pitchFamily="18" charset="0"/>
                <a:ea typeface="隶书" panose="02010509060101010101" pitchFamily="49" charset="-122"/>
              </a:defRPr>
            </a:lvl8pPr>
            <a:lvl9pPr marL="4114800" indent="-457200" eaLnBrk="0" fontAlgn="base" hangingPunct="0">
              <a:spcBef>
                <a:spcPct val="0"/>
              </a:spcBef>
              <a:spcAft>
                <a:spcPct val="0"/>
              </a:spcAft>
              <a:defRPr kumimoji="1">
                <a:solidFill>
                  <a:schemeClr val="tx1"/>
                </a:solidFill>
                <a:latin typeface="Times New Roman" panose="02020603050405020304" pitchFamily="18" charset="0"/>
                <a:ea typeface="隶书" panose="02010509060101010101" pitchFamily="49" charset="-122"/>
              </a:defRPr>
            </a:lvl9pPr>
          </a:lstStyle>
          <a:p>
            <a:pPr eaLnBrk="1" hangingPunct="1">
              <a:buFontTx/>
              <a:buChar char="•"/>
            </a:pPr>
            <a:r>
              <a:rPr lang="zh-CN" altLang="en-US" sz="2400" dirty="0">
                <a:solidFill>
                  <a:srgbClr val="CC3300"/>
                </a:solidFill>
              </a:rPr>
              <a:t>线性</a:t>
            </a:r>
            <a:r>
              <a:rPr lang="zh-CN" altLang="en-US" sz="2400" dirty="0" smtClean="0">
                <a:solidFill>
                  <a:srgbClr val="CC3300"/>
                </a:solidFill>
              </a:rPr>
              <a:t>变压器（空心变压器）</a:t>
            </a:r>
            <a:r>
              <a:rPr lang="zh-CN" altLang="en-US" sz="2400" dirty="0"/>
              <a:t>　自感不大，低频下自感抗低，因而线圈电流大。一般用在高频下。优点是</a:t>
            </a:r>
            <a:r>
              <a:rPr lang="zh-CN" altLang="en-US" sz="2400" dirty="0" smtClean="0"/>
              <a:t>没有铁心损耗</a:t>
            </a:r>
            <a:r>
              <a:rPr lang="zh-CN" altLang="en-US" sz="2400" dirty="0"/>
              <a:t>。分析时用线性耦合电感为模型。</a:t>
            </a:r>
            <a:endParaRPr lang="en-US" altLang="zh-CN" sz="2400" dirty="0"/>
          </a:p>
          <a:p>
            <a:pPr eaLnBrk="1" hangingPunct="1">
              <a:buFontTx/>
              <a:buChar char="•"/>
            </a:pPr>
            <a:r>
              <a:rPr lang="zh-CN" altLang="en-US" sz="2400" dirty="0"/>
              <a:t>为了加大自感，</a:t>
            </a:r>
            <a:r>
              <a:rPr lang="zh-CN" altLang="en-US" sz="2400" dirty="0" smtClean="0"/>
              <a:t>采用铁心，</a:t>
            </a:r>
            <a:r>
              <a:rPr lang="zh-CN" altLang="en-US" sz="2400" dirty="0"/>
              <a:t>即</a:t>
            </a:r>
            <a:r>
              <a:rPr lang="zh-CN" altLang="en-US" sz="2400" dirty="0" smtClean="0"/>
              <a:t>为</a:t>
            </a:r>
            <a:r>
              <a:rPr lang="zh-CN" altLang="en-US" sz="2400" dirty="0" smtClean="0">
                <a:solidFill>
                  <a:srgbClr val="CC3300"/>
                </a:solidFill>
              </a:rPr>
              <a:t>铁心变压器</a:t>
            </a:r>
            <a:r>
              <a:rPr lang="zh-CN" altLang="en-US" sz="2400" dirty="0"/>
              <a:t>，是</a:t>
            </a:r>
            <a:r>
              <a:rPr lang="zh-CN" altLang="en-US" sz="2400" dirty="0">
                <a:solidFill>
                  <a:srgbClr val="CC3300"/>
                </a:solidFill>
              </a:rPr>
              <a:t>非线性耦合系统</a:t>
            </a:r>
            <a:r>
              <a:rPr lang="zh-CN" altLang="en-US" sz="2400" dirty="0"/>
              <a:t>。由于自感大，可以用于低频下。</a:t>
            </a:r>
            <a:r>
              <a:rPr lang="zh-CN" altLang="en-US" sz="2400" dirty="0" smtClean="0"/>
              <a:t>存在铁心损耗</a:t>
            </a:r>
            <a:r>
              <a:rPr lang="zh-CN" altLang="en-US" sz="2400" dirty="0"/>
              <a:t>。分析时近似为</a:t>
            </a:r>
            <a:r>
              <a:rPr lang="zh-CN" altLang="en-US" sz="2400" dirty="0">
                <a:solidFill>
                  <a:srgbClr val="CC3300"/>
                </a:solidFill>
              </a:rPr>
              <a:t>理想变压器</a:t>
            </a:r>
            <a:r>
              <a:rPr lang="zh-CN" altLang="en-US" sz="2400" dirty="0"/>
              <a:t>。</a:t>
            </a:r>
          </a:p>
        </p:txBody>
      </p:sp>
      <p:sp>
        <p:nvSpPr>
          <p:cNvPr id="266256" name="Rectangle 16"/>
          <p:cNvSpPr>
            <a:spLocks noChangeArrowheads="1"/>
          </p:cNvSpPr>
          <p:nvPr/>
        </p:nvSpPr>
        <p:spPr bwMode="auto">
          <a:xfrm>
            <a:off x="1911897" y="3375025"/>
            <a:ext cx="23166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lang="zh-CN" altLang="en-US" dirty="0" smtClean="0">
                <a:ea typeface="隶书" panose="02010509060101010101" pitchFamily="49" charset="-122"/>
              </a:rPr>
              <a:t>一次绕组</a:t>
            </a:r>
            <a:r>
              <a:rPr lang="en-US" altLang="zh-CN" dirty="0" smtClean="0">
                <a:ea typeface="隶书" panose="02010509060101010101" pitchFamily="49" charset="-122"/>
              </a:rPr>
              <a:t>(</a:t>
            </a:r>
            <a:r>
              <a:rPr lang="zh-CN" altLang="en-US" dirty="0">
                <a:ea typeface="隶书" panose="02010509060101010101" pitchFamily="49" charset="-122"/>
              </a:rPr>
              <a:t>原方</a:t>
            </a:r>
            <a:r>
              <a:rPr lang="en-US" altLang="zh-CN" dirty="0">
                <a:ea typeface="隶书" panose="02010509060101010101" pitchFamily="49" charset="-122"/>
              </a:rPr>
              <a:t>)</a:t>
            </a:r>
          </a:p>
        </p:txBody>
      </p:sp>
      <p:sp>
        <p:nvSpPr>
          <p:cNvPr id="266257" name="Rectangle 17"/>
          <p:cNvSpPr>
            <a:spLocks noChangeArrowheads="1"/>
          </p:cNvSpPr>
          <p:nvPr/>
        </p:nvSpPr>
        <p:spPr bwMode="auto">
          <a:xfrm>
            <a:off x="4615795" y="3375025"/>
            <a:ext cx="22365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r>
              <a:rPr kumimoji="0" lang="zh-CN" altLang="en-US" dirty="0" smtClean="0">
                <a:ea typeface="隶书" panose="02010509060101010101" pitchFamily="49" charset="-122"/>
              </a:rPr>
              <a:t>二次绕组</a:t>
            </a:r>
            <a:r>
              <a:rPr lang="en-US" altLang="zh-CN" dirty="0" smtClean="0">
                <a:ea typeface="隶书" panose="02010509060101010101" pitchFamily="49" charset="-122"/>
              </a:rPr>
              <a:t>(</a:t>
            </a:r>
            <a:r>
              <a:rPr lang="zh-CN" altLang="en-US" dirty="0">
                <a:ea typeface="隶书" panose="02010509060101010101" pitchFamily="49" charset="-122"/>
              </a:rPr>
              <a:t>副方</a:t>
            </a:r>
            <a:r>
              <a:rPr lang="en-US" altLang="zh-CN" dirty="0">
                <a:ea typeface="隶书" panose="02010509060101010101" pitchFamily="49" charset="-122"/>
              </a:rPr>
              <a:t>)</a:t>
            </a:r>
          </a:p>
        </p:txBody>
      </p:sp>
    </p:spTree>
    <p:extLst>
      <p:ext uri="{BB962C8B-B14F-4D97-AF65-F5344CB8AC3E}">
        <p14:creationId xmlns:p14="http://schemas.microsoft.com/office/powerpoint/2010/main" val="760895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6248"/>
                                        </p:tgtEl>
                                        <p:attrNameLst>
                                          <p:attrName>style.visibility</p:attrName>
                                        </p:attrNameLst>
                                      </p:cBhvr>
                                      <p:to>
                                        <p:strVal val="visible"/>
                                      </p:to>
                                    </p:set>
                                    <p:animEffect transition="in" filter="wipe(up)">
                                      <p:cBhvr>
                                        <p:cTn id="7" dur="500"/>
                                        <p:tgtEl>
                                          <p:spTgt spid="2662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66247"/>
                                        </p:tgtEl>
                                        <p:attrNameLst>
                                          <p:attrName>style.visibility</p:attrName>
                                        </p:attrNameLst>
                                      </p:cBhvr>
                                      <p:to>
                                        <p:strVal val="visible"/>
                                      </p:to>
                                    </p:set>
                                    <p:animEffect transition="in" filter="wipe(up)">
                                      <p:cBhvr>
                                        <p:cTn id="12" dur="500"/>
                                        <p:tgtEl>
                                          <p:spTgt spid="2662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66251"/>
                                        </p:tgtEl>
                                        <p:attrNameLst>
                                          <p:attrName>style.visibility</p:attrName>
                                        </p:attrNameLst>
                                      </p:cBhvr>
                                      <p:to>
                                        <p:strVal val="visible"/>
                                      </p:to>
                                    </p:set>
                                    <p:animEffect transition="in" filter="wipe(up)">
                                      <p:cBhvr>
                                        <p:cTn id="17" dur="500"/>
                                        <p:tgtEl>
                                          <p:spTgt spid="266251"/>
                                        </p:tgtEl>
                                      </p:cBhvr>
                                    </p:animEffect>
                                  </p:childTnLst>
                                </p:cTn>
                              </p:par>
                            </p:childTnLst>
                          </p:cTn>
                        </p:par>
                        <p:par>
                          <p:cTn id="18" fill="hold" nodeType="afterGroup">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66249"/>
                                        </p:tgtEl>
                                        <p:attrNameLst>
                                          <p:attrName>style.visibility</p:attrName>
                                        </p:attrNameLst>
                                      </p:cBhvr>
                                      <p:to>
                                        <p:strVal val="visible"/>
                                      </p:to>
                                    </p:set>
                                    <p:animEffect transition="in" filter="wipe(up)">
                                      <p:cBhvr>
                                        <p:cTn id="21" dur="500"/>
                                        <p:tgtEl>
                                          <p:spTgt spid="266249"/>
                                        </p:tgtEl>
                                      </p:cBhvr>
                                    </p:animEffect>
                                  </p:childTnLst>
                                </p:cTn>
                              </p:par>
                            </p:childTnLst>
                          </p:cTn>
                        </p:par>
                        <p:par>
                          <p:cTn id="22" fill="hold" nodeType="afterGroup">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66252"/>
                                        </p:tgtEl>
                                        <p:attrNameLst>
                                          <p:attrName>style.visibility</p:attrName>
                                        </p:attrNameLst>
                                      </p:cBhvr>
                                      <p:to>
                                        <p:strVal val="visible"/>
                                      </p:to>
                                    </p:set>
                                    <p:animEffect transition="in" filter="wipe(up)">
                                      <p:cBhvr>
                                        <p:cTn id="25" dur="500"/>
                                        <p:tgtEl>
                                          <p:spTgt spid="266252"/>
                                        </p:tgtEl>
                                      </p:cBhvr>
                                    </p:animEffect>
                                  </p:childTnLst>
                                </p:cTn>
                              </p:par>
                            </p:childTnLst>
                          </p:cTn>
                        </p:par>
                        <p:par>
                          <p:cTn id="26" fill="hold" nodeType="afterGroup">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266256"/>
                                        </p:tgtEl>
                                        <p:attrNameLst>
                                          <p:attrName>style.visibility</p:attrName>
                                        </p:attrNameLst>
                                      </p:cBhvr>
                                      <p:to>
                                        <p:strVal val="visible"/>
                                      </p:to>
                                    </p:set>
                                    <p:animEffect transition="in" filter="wipe(left)">
                                      <p:cBhvr>
                                        <p:cTn id="29" dur="1000"/>
                                        <p:tgtEl>
                                          <p:spTgt spid="266256"/>
                                        </p:tgtEl>
                                      </p:cBhvr>
                                    </p:animEffect>
                                  </p:childTnLst>
                                </p:cTn>
                              </p:par>
                            </p:childTnLst>
                          </p:cTn>
                        </p:par>
                        <p:par>
                          <p:cTn id="30" fill="hold" nodeType="afterGroup">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266257"/>
                                        </p:tgtEl>
                                        <p:attrNameLst>
                                          <p:attrName>style.visibility</p:attrName>
                                        </p:attrNameLst>
                                      </p:cBhvr>
                                      <p:to>
                                        <p:strVal val="visible"/>
                                      </p:to>
                                    </p:set>
                                    <p:animEffect transition="in" filter="wipe(left)">
                                      <p:cBhvr>
                                        <p:cTn id="33" dur="1000"/>
                                        <p:tgtEl>
                                          <p:spTgt spid="26625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66255">
                                            <p:txEl>
                                              <p:pRg st="0" end="0"/>
                                            </p:txEl>
                                          </p:spTgt>
                                        </p:tgtEl>
                                        <p:attrNameLst>
                                          <p:attrName>style.visibility</p:attrName>
                                        </p:attrNameLst>
                                      </p:cBhvr>
                                      <p:to>
                                        <p:strVal val="visible"/>
                                      </p:to>
                                    </p:set>
                                    <p:animEffect transition="in" filter="wipe(up)">
                                      <p:cBhvr>
                                        <p:cTn id="38" dur="500"/>
                                        <p:tgtEl>
                                          <p:spTgt spid="266255">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66255">
                                            <p:txEl>
                                              <p:pRg st="1" end="1"/>
                                            </p:txEl>
                                          </p:spTgt>
                                        </p:tgtEl>
                                        <p:attrNameLst>
                                          <p:attrName>style.visibility</p:attrName>
                                        </p:attrNameLst>
                                      </p:cBhvr>
                                      <p:to>
                                        <p:strVal val="visible"/>
                                      </p:to>
                                    </p:set>
                                    <p:animEffect transition="in" filter="wipe(up)">
                                      <p:cBhvr>
                                        <p:cTn id="43" dur="500"/>
                                        <p:tgtEl>
                                          <p:spTgt spid="2662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8" grpId="0" autoUpdateAnimBg="0"/>
      <p:bldP spid="266249" grpId="0" autoUpdateAnimBg="0"/>
      <p:bldP spid="266252" grpId="0" autoUpdateAnimBg="0"/>
      <p:bldP spid="266255" grpId="0" build="p" autoUpdateAnimBg="0" advAuto="30000"/>
      <p:bldP spid="266256" grpId="0"/>
      <p:bldP spid="2662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8306" name="Group 2"/>
          <p:cNvGrpSpPr>
            <a:grpSpLocks/>
          </p:cNvGrpSpPr>
          <p:nvPr/>
        </p:nvGrpSpPr>
        <p:grpSpPr bwMode="auto">
          <a:xfrm>
            <a:off x="533400" y="830263"/>
            <a:ext cx="5238750" cy="1844675"/>
            <a:chOff x="852" y="895"/>
            <a:chExt cx="3300" cy="1162"/>
          </a:xfrm>
        </p:grpSpPr>
        <p:sp>
          <p:nvSpPr>
            <p:cNvPr id="738307" name="Line 3"/>
            <p:cNvSpPr>
              <a:spLocks noChangeShapeType="1"/>
            </p:cNvSpPr>
            <p:nvPr/>
          </p:nvSpPr>
          <p:spPr bwMode="auto">
            <a:xfrm flipH="1">
              <a:off x="2098" y="1780"/>
              <a:ext cx="2" cy="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08" name="Line 4"/>
            <p:cNvSpPr>
              <a:spLocks noChangeShapeType="1"/>
            </p:cNvSpPr>
            <p:nvPr/>
          </p:nvSpPr>
          <p:spPr bwMode="auto">
            <a:xfrm>
              <a:off x="2095" y="1270"/>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09" name="Line 5"/>
            <p:cNvSpPr>
              <a:spLocks noChangeShapeType="1"/>
            </p:cNvSpPr>
            <p:nvPr/>
          </p:nvSpPr>
          <p:spPr bwMode="auto">
            <a:xfrm flipH="1">
              <a:off x="2438" y="1806"/>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10" name="Line 6"/>
            <p:cNvSpPr>
              <a:spLocks noChangeShapeType="1"/>
            </p:cNvSpPr>
            <p:nvPr/>
          </p:nvSpPr>
          <p:spPr bwMode="auto">
            <a:xfrm>
              <a:off x="2439" y="1283"/>
              <a:ext cx="0" cy="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11" name="Line 7"/>
            <p:cNvSpPr>
              <a:spLocks noChangeShapeType="1"/>
            </p:cNvSpPr>
            <p:nvPr/>
          </p:nvSpPr>
          <p:spPr bwMode="auto">
            <a:xfrm flipV="1">
              <a:off x="1795" y="1273"/>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12" name="Line 8"/>
            <p:cNvSpPr>
              <a:spLocks noChangeShapeType="1"/>
            </p:cNvSpPr>
            <p:nvPr/>
          </p:nvSpPr>
          <p:spPr bwMode="auto">
            <a:xfrm flipV="1">
              <a:off x="2439" y="2051"/>
              <a:ext cx="8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13" name="Line 9"/>
            <p:cNvSpPr>
              <a:spLocks noChangeShapeType="1"/>
            </p:cNvSpPr>
            <p:nvPr/>
          </p:nvSpPr>
          <p:spPr bwMode="auto">
            <a:xfrm>
              <a:off x="3415" y="1292"/>
              <a:ext cx="0" cy="24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14" name="Text Box 10"/>
            <p:cNvSpPr txBox="1">
              <a:spLocks noChangeArrowheads="1"/>
            </p:cNvSpPr>
            <p:nvPr/>
          </p:nvSpPr>
          <p:spPr bwMode="auto">
            <a:xfrm>
              <a:off x="2063" y="126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solidFill>
                    <a:srgbClr val="FF3300"/>
                  </a:solidFill>
                  <a:latin typeface="Times New Roman" panose="02020603050405020304" pitchFamily="18" charset="0"/>
                </a:rPr>
                <a:t>*</a:t>
              </a:r>
            </a:p>
          </p:txBody>
        </p:sp>
        <p:sp>
          <p:nvSpPr>
            <p:cNvPr id="738315" name="Text Box 11"/>
            <p:cNvSpPr txBox="1">
              <a:spLocks noChangeArrowheads="1"/>
            </p:cNvSpPr>
            <p:nvPr/>
          </p:nvSpPr>
          <p:spPr bwMode="auto">
            <a:xfrm>
              <a:off x="2251" y="1279"/>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a:solidFill>
                    <a:srgbClr val="FF3300"/>
                  </a:solidFill>
                  <a:latin typeface="Times New Roman" panose="02020603050405020304" pitchFamily="18" charset="0"/>
                </a:rPr>
                <a:t>*</a:t>
              </a:r>
            </a:p>
          </p:txBody>
        </p:sp>
        <p:sp>
          <p:nvSpPr>
            <p:cNvPr id="738316" name="Text Box 12"/>
            <p:cNvSpPr txBox="1">
              <a:spLocks noChangeArrowheads="1"/>
            </p:cNvSpPr>
            <p:nvPr/>
          </p:nvSpPr>
          <p:spPr bwMode="auto">
            <a:xfrm>
              <a:off x="1626" y="1526"/>
              <a:ext cx="4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dirty="0">
                  <a:latin typeface="Times New Roman" panose="02020603050405020304" pitchFamily="18" charset="0"/>
                </a:rPr>
                <a:t>j</a:t>
              </a:r>
              <a:r>
                <a:rPr kumimoji="1" lang="en-US" altLang="zh-CN" b="1" i="1" dirty="0" smtClean="0">
                  <a:latin typeface="Times New Roman" panose="02020603050405020304" pitchFamily="18" charset="0"/>
                  <a:sym typeface="Symbol" panose="05050102010706020507" pitchFamily="18" charset="2"/>
                </a:rPr>
                <a:t></a:t>
              </a:r>
              <a:r>
                <a:rPr kumimoji="1" lang="en-US" altLang="zh-CN" b="1" i="1" dirty="0" smtClean="0">
                  <a:latin typeface="Times New Roman" panose="02020603050405020304" pitchFamily="18" charset="0"/>
                </a:rPr>
                <a:t>L</a:t>
              </a:r>
              <a:r>
                <a:rPr kumimoji="1" lang="en-US" altLang="zh-CN" b="1" baseline="-25000" dirty="0" smtClean="0">
                  <a:latin typeface="Times New Roman" panose="02020603050405020304" pitchFamily="18" charset="0"/>
                </a:rPr>
                <a:t>1</a:t>
              </a:r>
              <a:endParaRPr kumimoji="1" lang="en-US" altLang="zh-CN" b="1" dirty="0">
                <a:latin typeface="Times New Roman" panose="02020603050405020304" pitchFamily="18" charset="0"/>
              </a:endParaRPr>
            </a:p>
          </p:txBody>
        </p:sp>
        <p:sp>
          <p:nvSpPr>
            <p:cNvPr id="738317" name="Line 13"/>
            <p:cNvSpPr>
              <a:spLocks noChangeShapeType="1"/>
            </p:cNvSpPr>
            <p:nvPr/>
          </p:nvSpPr>
          <p:spPr bwMode="auto">
            <a:xfrm>
              <a:off x="1268" y="1193"/>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38318" name="Group 14"/>
            <p:cNvGrpSpPr>
              <a:grpSpLocks/>
            </p:cNvGrpSpPr>
            <p:nvPr/>
          </p:nvGrpSpPr>
          <p:grpSpPr bwMode="auto">
            <a:xfrm rot="16200000" flipH="1">
              <a:off x="2274" y="1633"/>
              <a:ext cx="299" cy="49"/>
              <a:chOff x="1200" y="1584"/>
              <a:chExt cx="379" cy="45"/>
            </a:xfrm>
          </p:grpSpPr>
          <p:sp>
            <p:nvSpPr>
              <p:cNvPr id="738319" name="Arc 1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0" name="Arc 1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1" name="Arc 1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2" name="Arc 1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8323" name="Group 19"/>
            <p:cNvGrpSpPr>
              <a:grpSpLocks/>
            </p:cNvGrpSpPr>
            <p:nvPr/>
          </p:nvGrpSpPr>
          <p:grpSpPr bwMode="auto">
            <a:xfrm rot="5400000">
              <a:off x="1975" y="1621"/>
              <a:ext cx="299" cy="48"/>
              <a:chOff x="1200" y="1584"/>
              <a:chExt cx="379" cy="45"/>
            </a:xfrm>
          </p:grpSpPr>
          <p:sp>
            <p:nvSpPr>
              <p:cNvPr id="738324"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5"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6"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7"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8328" name="Arc 24"/>
            <p:cNvSpPr>
              <a:spLocks/>
            </p:cNvSpPr>
            <p:nvPr/>
          </p:nvSpPr>
          <p:spPr bwMode="auto">
            <a:xfrm rot="10800000" flipV="1">
              <a:off x="2060" y="1124"/>
              <a:ext cx="166" cy="163"/>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29" name="Arc 25"/>
            <p:cNvSpPr>
              <a:spLocks/>
            </p:cNvSpPr>
            <p:nvPr/>
          </p:nvSpPr>
          <p:spPr bwMode="auto">
            <a:xfrm rot="-10800000" flipH="1" flipV="1">
              <a:off x="2286" y="1127"/>
              <a:ext cx="167" cy="162"/>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30" name="Line 26"/>
            <p:cNvSpPr>
              <a:spLocks noChangeShapeType="1"/>
            </p:cNvSpPr>
            <p:nvPr/>
          </p:nvSpPr>
          <p:spPr bwMode="auto">
            <a:xfrm>
              <a:off x="2438" y="1283"/>
              <a:ext cx="31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38331" name="Object 27"/>
            <p:cNvGraphicFramePr>
              <a:graphicFrameLocks noChangeAspect="1"/>
            </p:cNvGraphicFramePr>
            <p:nvPr/>
          </p:nvGraphicFramePr>
          <p:xfrm>
            <a:off x="1306" y="895"/>
            <a:ext cx="192" cy="282"/>
          </p:xfrm>
          <a:graphic>
            <a:graphicData uri="http://schemas.openxmlformats.org/presentationml/2006/ole">
              <mc:AlternateContent xmlns:mc="http://schemas.openxmlformats.org/markup-compatibility/2006">
                <mc:Choice xmlns:v="urn:schemas-microsoft-com:vml" Requires="v">
                  <p:oleObj spid="_x0000_s113809" name="公式" r:id="rId4" imgW="177480" imgH="279360" progId="Equation.3">
                    <p:embed/>
                  </p:oleObj>
                </mc:Choice>
                <mc:Fallback>
                  <p:oleObj name="公式" r:id="rId4" imgW="177480" imgH="279360" progId="Equation.3">
                    <p:embed/>
                    <p:pic>
                      <p:nvPicPr>
                        <p:cNvPr id="738331"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 y="895"/>
                          <a:ext cx="19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332" name="Object 28"/>
            <p:cNvGraphicFramePr>
              <a:graphicFrameLocks noChangeAspect="1"/>
            </p:cNvGraphicFramePr>
            <p:nvPr/>
          </p:nvGraphicFramePr>
          <p:xfrm>
            <a:off x="3445" y="1234"/>
            <a:ext cx="209" cy="282"/>
          </p:xfrm>
          <a:graphic>
            <a:graphicData uri="http://schemas.openxmlformats.org/presentationml/2006/ole">
              <mc:AlternateContent xmlns:mc="http://schemas.openxmlformats.org/markup-compatibility/2006">
                <mc:Choice xmlns:v="urn:schemas-microsoft-com:vml" Requires="v">
                  <p:oleObj spid="_x0000_s113810" name="公式" r:id="rId6" imgW="190440" imgH="279360" progId="Equation.3">
                    <p:embed/>
                  </p:oleObj>
                </mc:Choice>
                <mc:Fallback>
                  <p:oleObj name="公式" r:id="rId6" imgW="190440" imgH="279360" progId="Equation.3">
                    <p:embed/>
                    <p:pic>
                      <p:nvPicPr>
                        <p:cNvPr id="738332"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5" y="1234"/>
                          <a:ext cx="209"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33" name="Text Box 29"/>
            <p:cNvSpPr txBox="1">
              <a:spLocks noChangeArrowheads="1"/>
            </p:cNvSpPr>
            <p:nvPr/>
          </p:nvSpPr>
          <p:spPr bwMode="auto">
            <a:xfrm>
              <a:off x="2433" y="1514"/>
              <a:ext cx="56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en-US" altLang="zh-CN" b="1" dirty="0">
                  <a:latin typeface="Times New Roman" panose="02020603050405020304" pitchFamily="18" charset="0"/>
                </a:rPr>
                <a:t>j</a:t>
              </a:r>
              <a:r>
                <a:rPr kumimoji="1" lang="en-US" altLang="zh-CN" b="1" i="1" dirty="0" smtClean="0">
                  <a:latin typeface="Times New Roman" panose="02020603050405020304" pitchFamily="18" charset="0"/>
                  <a:sym typeface="Symbol" panose="05050102010706020507" pitchFamily="18" charset="2"/>
                </a:rPr>
                <a:t></a:t>
              </a:r>
              <a:r>
                <a:rPr kumimoji="1" lang="en-US" altLang="zh-CN" b="1" i="1" dirty="0" smtClean="0">
                  <a:latin typeface="Times New Roman" panose="02020603050405020304" pitchFamily="18" charset="0"/>
                </a:rPr>
                <a:t>L</a:t>
              </a:r>
              <a:r>
                <a:rPr kumimoji="1" lang="en-US" altLang="zh-CN" b="1" baseline="-25000" dirty="0" smtClean="0">
                  <a:latin typeface="Times New Roman" panose="02020603050405020304" pitchFamily="18" charset="0"/>
                </a:rPr>
                <a:t>2</a:t>
              </a:r>
              <a:endParaRPr kumimoji="1" lang="en-US" altLang="zh-CN" b="1" dirty="0">
                <a:latin typeface="Times New Roman" panose="02020603050405020304" pitchFamily="18" charset="0"/>
              </a:endParaRPr>
            </a:p>
          </p:txBody>
        </p:sp>
        <p:sp>
          <p:nvSpPr>
            <p:cNvPr id="738334" name="Text Box 30"/>
            <p:cNvSpPr txBox="1">
              <a:spLocks noChangeArrowheads="1"/>
            </p:cNvSpPr>
            <p:nvPr/>
          </p:nvSpPr>
          <p:spPr bwMode="auto">
            <a:xfrm>
              <a:off x="2015" y="906"/>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M</a:t>
              </a:r>
              <a:endParaRPr kumimoji="1" lang="en-US" altLang="zh-CN" b="1">
                <a:latin typeface="Times New Roman" panose="02020603050405020304" pitchFamily="18" charset="0"/>
              </a:endParaRPr>
            </a:p>
          </p:txBody>
        </p:sp>
        <p:sp>
          <p:nvSpPr>
            <p:cNvPr id="738335" name="Line 31"/>
            <p:cNvSpPr>
              <a:spLocks noChangeShapeType="1"/>
            </p:cNvSpPr>
            <p:nvPr/>
          </p:nvSpPr>
          <p:spPr bwMode="auto">
            <a:xfrm flipH="1">
              <a:off x="1227" y="2050"/>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36" name="Text Box 32"/>
            <p:cNvSpPr txBox="1">
              <a:spLocks noChangeArrowheads="1"/>
            </p:cNvSpPr>
            <p:nvPr/>
          </p:nvSpPr>
          <p:spPr bwMode="auto">
            <a:xfrm>
              <a:off x="1043" y="1246"/>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38337" name="Text Box 33"/>
            <p:cNvSpPr txBox="1">
              <a:spLocks noChangeArrowheads="1"/>
            </p:cNvSpPr>
            <p:nvPr/>
          </p:nvSpPr>
          <p:spPr bwMode="auto">
            <a:xfrm>
              <a:off x="1037" y="1642"/>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738338" name="Object 34"/>
            <p:cNvGraphicFramePr>
              <a:graphicFrameLocks noChangeAspect="1"/>
            </p:cNvGraphicFramePr>
            <p:nvPr/>
          </p:nvGraphicFramePr>
          <p:xfrm>
            <a:off x="852" y="1382"/>
            <a:ext cx="253" cy="337"/>
          </p:xfrm>
          <a:graphic>
            <a:graphicData uri="http://schemas.openxmlformats.org/presentationml/2006/ole">
              <mc:AlternateContent xmlns:mc="http://schemas.openxmlformats.org/markup-compatibility/2006">
                <mc:Choice xmlns:v="urn:schemas-microsoft-com:vml" Requires="v">
                  <p:oleObj spid="_x0000_s113811" name="公式" r:id="rId8" imgW="228600" imgH="279360" progId="Equation.3">
                    <p:embed/>
                  </p:oleObj>
                </mc:Choice>
                <mc:Fallback>
                  <p:oleObj name="公式" r:id="rId8" imgW="228600" imgH="279360" progId="Equation.3">
                    <p:embed/>
                    <p:pic>
                      <p:nvPicPr>
                        <p:cNvPr id="738338"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 y="1382"/>
                          <a:ext cx="25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39" name="Rectangle 35"/>
            <p:cNvSpPr>
              <a:spLocks noChangeArrowheads="1"/>
            </p:cNvSpPr>
            <p:nvPr/>
          </p:nvSpPr>
          <p:spPr bwMode="auto">
            <a:xfrm>
              <a:off x="1568" y="1237"/>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0" name="Oval 36"/>
            <p:cNvSpPr>
              <a:spLocks noChangeArrowheads="1"/>
            </p:cNvSpPr>
            <p:nvPr/>
          </p:nvSpPr>
          <p:spPr bwMode="auto">
            <a:xfrm>
              <a:off x="1113" y="1488"/>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1" name="Line 37"/>
            <p:cNvSpPr>
              <a:spLocks noChangeShapeType="1"/>
            </p:cNvSpPr>
            <p:nvPr/>
          </p:nvSpPr>
          <p:spPr bwMode="auto">
            <a:xfrm>
              <a:off x="1227" y="1264"/>
              <a:ext cx="0" cy="7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2" name="Line 38"/>
            <p:cNvSpPr>
              <a:spLocks noChangeShapeType="1"/>
            </p:cNvSpPr>
            <p:nvPr/>
          </p:nvSpPr>
          <p:spPr bwMode="auto">
            <a:xfrm flipH="1">
              <a:off x="1227" y="1269"/>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3" name="Rectangle 39"/>
            <p:cNvSpPr>
              <a:spLocks noChangeArrowheads="1"/>
            </p:cNvSpPr>
            <p:nvPr/>
          </p:nvSpPr>
          <p:spPr bwMode="auto">
            <a:xfrm>
              <a:off x="2754" y="1248"/>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4" name="Rectangle 40"/>
            <p:cNvSpPr>
              <a:spLocks noChangeArrowheads="1"/>
            </p:cNvSpPr>
            <p:nvPr/>
          </p:nvSpPr>
          <p:spPr bwMode="auto">
            <a:xfrm rot="5400000">
              <a:off x="3197" y="1614"/>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5" name="Line 41"/>
            <p:cNvSpPr>
              <a:spLocks noChangeShapeType="1"/>
            </p:cNvSpPr>
            <p:nvPr/>
          </p:nvSpPr>
          <p:spPr bwMode="auto">
            <a:xfrm>
              <a:off x="3314" y="1761"/>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6" name="Line 42"/>
            <p:cNvSpPr>
              <a:spLocks noChangeShapeType="1"/>
            </p:cNvSpPr>
            <p:nvPr/>
          </p:nvSpPr>
          <p:spPr bwMode="auto">
            <a:xfrm flipV="1">
              <a:off x="3314" y="1289"/>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7" name="Line 43"/>
            <p:cNvSpPr>
              <a:spLocks noChangeShapeType="1"/>
            </p:cNvSpPr>
            <p:nvPr/>
          </p:nvSpPr>
          <p:spPr bwMode="auto">
            <a:xfrm>
              <a:off x="2981" y="1289"/>
              <a:ext cx="3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48" name="Text Box 44"/>
            <p:cNvSpPr txBox="1">
              <a:spLocks noChangeArrowheads="1"/>
            </p:cNvSpPr>
            <p:nvPr/>
          </p:nvSpPr>
          <p:spPr bwMode="auto">
            <a:xfrm>
              <a:off x="1568" y="995"/>
              <a:ext cx="3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en-US" altLang="zh-CN" b="1" i="1" dirty="0">
                  <a:latin typeface="Times New Roman" panose="02020603050405020304" pitchFamily="18" charset="0"/>
                </a:rPr>
                <a:t>R</a:t>
              </a:r>
              <a:r>
                <a:rPr kumimoji="1" lang="en-US" altLang="zh-CN" b="1" baseline="-25000" dirty="0">
                  <a:latin typeface="Times New Roman" panose="02020603050405020304" pitchFamily="18" charset="0"/>
                </a:rPr>
                <a:t>1</a:t>
              </a:r>
              <a:endParaRPr kumimoji="1" lang="en-US" altLang="zh-CN" b="1" dirty="0">
                <a:latin typeface="Times New Roman" panose="02020603050405020304" pitchFamily="18" charset="0"/>
              </a:endParaRPr>
            </a:p>
          </p:txBody>
        </p:sp>
        <p:sp>
          <p:nvSpPr>
            <p:cNvPr id="738349" name="Text Box 45"/>
            <p:cNvSpPr txBox="1">
              <a:spLocks noChangeArrowheads="1"/>
            </p:cNvSpPr>
            <p:nvPr/>
          </p:nvSpPr>
          <p:spPr bwMode="auto">
            <a:xfrm>
              <a:off x="2745" y="995"/>
              <a:ext cx="3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en-US" altLang="zh-CN" b="1" i="1" dirty="0">
                  <a:latin typeface="Times New Roman" panose="02020603050405020304" pitchFamily="18" charset="0"/>
                </a:rPr>
                <a:t>R</a:t>
              </a:r>
              <a:r>
                <a:rPr kumimoji="1" lang="en-US" altLang="zh-CN" b="1" baseline="-25000" dirty="0">
                  <a:latin typeface="Times New Roman" panose="02020603050405020304" pitchFamily="18" charset="0"/>
                </a:rPr>
                <a:t>2</a:t>
              </a:r>
              <a:endParaRPr kumimoji="1" lang="en-US" altLang="zh-CN" b="1" dirty="0">
                <a:latin typeface="Times New Roman" panose="02020603050405020304" pitchFamily="18" charset="0"/>
              </a:endParaRPr>
            </a:p>
          </p:txBody>
        </p:sp>
        <p:sp>
          <p:nvSpPr>
            <p:cNvPr id="738350" name="Text Box 46"/>
            <p:cNvSpPr txBox="1">
              <a:spLocks noChangeArrowheads="1"/>
            </p:cNvSpPr>
            <p:nvPr/>
          </p:nvSpPr>
          <p:spPr bwMode="auto">
            <a:xfrm>
              <a:off x="3338" y="1549"/>
              <a:ext cx="8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Z=R+</a:t>
              </a:r>
              <a:r>
                <a:rPr kumimoji="1" lang="en-US" altLang="zh-CN" b="1">
                  <a:latin typeface="Times New Roman" panose="02020603050405020304" pitchFamily="18" charset="0"/>
                </a:rPr>
                <a:t>j</a:t>
              </a:r>
              <a:r>
                <a:rPr kumimoji="1" lang="en-US" altLang="zh-CN" b="1" i="1">
                  <a:latin typeface="Times New Roman" panose="02020603050405020304" pitchFamily="18" charset="0"/>
                </a:rPr>
                <a:t>X</a:t>
              </a:r>
              <a:endParaRPr kumimoji="1" lang="en-US" altLang="zh-CN" b="1">
                <a:latin typeface="Times New Roman" panose="02020603050405020304" pitchFamily="18" charset="0"/>
              </a:endParaRPr>
            </a:p>
          </p:txBody>
        </p:sp>
      </p:grpSp>
      <p:graphicFrame>
        <p:nvGraphicFramePr>
          <p:cNvPr id="738351" name="Object 47"/>
          <p:cNvGraphicFramePr>
            <a:graphicFrameLocks noChangeAspect="1"/>
          </p:cNvGraphicFramePr>
          <p:nvPr/>
        </p:nvGraphicFramePr>
        <p:xfrm>
          <a:off x="990600" y="3962400"/>
          <a:ext cx="2752725" cy="633413"/>
        </p:xfrm>
        <a:graphic>
          <a:graphicData uri="http://schemas.openxmlformats.org/presentationml/2006/ole">
            <mc:AlternateContent xmlns:mc="http://schemas.openxmlformats.org/markup-compatibility/2006">
              <mc:Choice xmlns:v="urn:schemas-microsoft-com:vml" Requires="v">
                <p:oleObj spid="_x0000_s113812" name="Equation" r:id="rId10" imgW="1320480" imgH="304560" progId="Equation.3">
                  <p:embed/>
                </p:oleObj>
              </mc:Choice>
              <mc:Fallback>
                <p:oleObj name="Equation" r:id="rId10" imgW="1320480" imgH="304560" progId="Equation.3">
                  <p:embed/>
                  <p:pic>
                    <p:nvPicPr>
                      <p:cNvPr id="738351"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962400"/>
                        <a:ext cx="275272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352" name="Object 48"/>
          <p:cNvGraphicFramePr>
            <a:graphicFrameLocks noChangeAspect="1"/>
          </p:cNvGraphicFramePr>
          <p:nvPr/>
        </p:nvGraphicFramePr>
        <p:xfrm>
          <a:off x="998538" y="4572000"/>
          <a:ext cx="2887662" cy="633413"/>
        </p:xfrm>
        <a:graphic>
          <a:graphicData uri="http://schemas.openxmlformats.org/presentationml/2006/ole">
            <mc:AlternateContent xmlns:mc="http://schemas.openxmlformats.org/markup-compatibility/2006">
              <mc:Choice xmlns:v="urn:schemas-microsoft-com:vml" Requires="v">
                <p:oleObj spid="_x0000_s113813" name="公式" r:id="rId12" imgW="1384200" imgH="304560" progId="Equation.3">
                  <p:embed/>
                </p:oleObj>
              </mc:Choice>
              <mc:Fallback>
                <p:oleObj name="公式" r:id="rId12" imgW="1384200" imgH="304560" progId="Equation.3">
                  <p:embed/>
                  <p:pic>
                    <p:nvPicPr>
                      <p:cNvPr id="738352"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8538" y="4572000"/>
                        <a:ext cx="2887662"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53" name="AutoShape 49"/>
          <p:cNvSpPr>
            <a:spLocks/>
          </p:cNvSpPr>
          <p:nvPr/>
        </p:nvSpPr>
        <p:spPr bwMode="auto">
          <a:xfrm>
            <a:off x="776288" y="4100513"/>
            <a:ext cx="133350" cy="1009650"/>
          </a:xfrm>
          <a:prstGeom prst="leftBrace">
            <a:avLst>
              <a:gd name="adj1" fmla="val 63095"/>
              <a:gd name="adj2" fmla="val 50000"/>
            </a:avLst>
          </a:prstGeom>
          <a:noFill/>
          <a:ln w="317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54" name="Text Box 50"/>
          <p:cNvSpPr txBox="1">
            <a:spLocks noChangeArrowheads="1"/>
          </p:cNvSpPr>
          <p:nvPr/>
        </p:nvSpPr>
        <p:spPr bwMode="auto">
          <a:xfrm>
            <a:off x="457200" y="152400"/>
            <a:ext cx="2746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0000FF"/>
                </a:solidFill>
                <a:latin typeface="Times New Roman" panose="02020603050405020304" pitchFamily="18" charset="0"/>
              </a:rPr>
              <a:t>4.  </a:t>
            </a:r>
            <a:r>
              <a:rPr kumimoji="1" lang="zh-CN" altLang="en-US" sz="2400" b="1">
                <a:solidFill>
                  <a:srgbClr val="0000FF"/>
                </a:solidFill>
                <a:latin typeface="Times New Roman" panose="02020603050405020304" pitchFamily="18" charset="0"/>
              </a:rPr>
              <a:t>空心变压器</a:t>
            </a:r>
          </a:p>
        </p:txBody>
      </p:sp>
      <p:graphicFrame>
        <p:nvGraphicFramePr>
          <p:cNvPr id="738355" name="Object 51"/>
          <p:cNvGraphicFramePr>
            <a:graphicFrameLocks noChangeAspect="1"/>
          </p:cNvGraphicFramePr>
          <p:nvPr/>
        </p:nvGraphicFramePr>
        <p:xfrm>
          <a:off x="838200" y="5410200"/>
          <a:ext cx="3286125" cy="1193800"/>
        </p:xfrm>
        <a:graphic>
          <a:graphicData uri="http://schemas.openxmlformats.org/presentationml/2006/ole">
            <mc:AlternateContent xmlns:mc="http://schemas.openxmlformats.org/markup-compatibility/2006">
              <mc:Choice xmlns:v="urn:schemas-microsoft-com:vml" Requires="v">
                <p:oleObj spid="_x0000_s113814" name="Equation" r:id="rId14" imgW="1574640" imgH="571320" progId="Equation.3">
                  <p:embed/>
                </p:oleObj>
              </mc:Choice>
              <mc:Fallback>
                <p:oleObj name="Equation" r:id="rId14" imgW="1574640" imgH="571320" progId="Equation.3">
                  <p:embed/>
                  <p:pic>
                    <p:nvPicPr>
                      <p:cNvPr id="738355" name="Object 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8200" y="5410200"/>
                        <a:ext cx="3286125"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56" name="Text Box 52"/>
          <p:cNvSpPr txBox="1">
            <a:spLocks noChangeArrowheads="1"/>
          </p:cNvSpPr>
          <p:nvPr/>
        </p:nvSpPr>
        <p:spPr bwMode="auto">
          <a:xfrm>
            <a:off x="685800" y="2819400"/>
            <a:ext cx="75438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0000FF"/>
                </a:solidFill>
                <a:latin typeface="Times New Roman" panose="02020603050405020304" pitchFamily="18" charset="0"/>
              </a:rPr>
              <a:t>原边回路总阻抗</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baseline="-25000">
                <a:latin typeface="Times New Roman" panose="02020603050405020304" pitchFamily="18" charset="0"/>
              </a:rPr>
              <a:t>11</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1</a:t>
            </a: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L</a:t>
            </a:r>
            <a:r>
              <a:rPr kumimoji="1" lang="en-US" altLang="zh-CN" sz="2400" b="1" baseline="-25000">
                <a:latin typeface="Times New Roman" panose="02020603050405020304" pitchFamily="18" charset="0"/>
                <a:sym typeface="Symbol" panose="05050102010706020507" pitchFamily="18" charset="2"/>
              </a:rPr>
              <a:t>1</a:t>
            </a:r>
          </a:p>
          <a:p>
            <a:pPr algn="l"/>
            <a:r>
              <a:rPr kumimoji="1" lang="zh-CN" altLang="en-US" sz="2400" b="1">
                <a:solidFill>
                  <a:srgbClr val="0000FF"/>
                </a:solidFill>
                <a:latin typeface="Times New Roman" panose="02020603050405020304" pitchFamily="18" charset="0"/>
              </a:rPr>
              <a:t>副边回路总阻抗</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baseline="-25000">
                <a:latin typeface="Times New Roman" panose="02020603050405020304" pitchFamily="18" charset="0"/>
              </a:rPr>
              <a:t>22</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2</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R</a:t>
            </a: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L</a:t>
            </a:r>
            <a:r>
              <a:rPr kumimoji="1" lang="en-US" altLang="zh-CN" sz="2400" b="1" baseline="-25000">
                <a:latin typeface="Times New Roman" panose="02020603050405020304" pitchFamily="18" charset="0"/>
                <a:sym typeface="Symbol" panose="05050102010706020507" pitchFamily="18" charset="2"/>
              </a:rPr>
              <a:t>2</a:t>
            </a:r>
            <a:r>
              <a:rPr kumimoji="1" lang="en-US" altLang="zh-CN"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sym typeface="Symbol" panose="05050102010706020507" pitchFamily="18" charset="2"/>
              </a:rPr>
              <a:t>X</a:t>
            </a:r>
            <a:r>
              <a:rPr kumimoji="1" lang="en-US" altLang="zh-CN" sz="2400" b="1">
                <a:latin typeface="Times New Roman" panose="02020603050405020304" pitchFamily="18" charset="0"/>
                <a:sym typeface="Symbol" panose="05050102010706020507" pitchFamily="18" charset="2"/>
              </a:rPr>
              <a:t>) = </a:t>
            </a:r>
            <a:r>
              <a:rPr kumimoji="1" lang="en-US" altLang="zh-CN" sz="2400" b="1" i="1">
                <a:latin typeface="Times New Roman" panose="02020603050405020304" pitchFamily="18" charset="0"/>
              </a:rPr>
              <a:t>R</a:t>
            </a:r>
            <a:r>
              <a:rPr kumimoji="1" lang="en-US" altLang="zh-CN" sz="2400" b="1" baseline="-25000">
                <a:latin typeface="Times New Roman" panose="02020603050405020304" pitchFamily="18" charset="0"/>
              </a:rPr>
              <a:t>22</a:t>
            </a: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L</a:t>
            </a:r>
            <a:r>
              <a:rPr kumimoji="1" lang="en-US" altLang="zh-CN" sz="2400" b="1" baseline="-25000">
                <a:latin typeface="Times New Roman" panose="02020603050405020304" pitchFamily="18" charset="0"/>
                <a:sym typeface="Symbol" panose="05050102010706020507" pitchFamily="18" charset="2"/>
              </a:rPr>
              <a:t>22</a:t>
            </a:r>
          </a:p>
        </p:txBody>
      </p:sp>
      <p:grpSp>
        <p:nvGrpSpPr>
          <p:cNvPr id="738357" name="Group 53"/>
          <p:cNvGrpSpPr>
            <a:grpSpLocks/>
          </p:cNvGrpSpPr>
          <p:nvPr/>
        </p:nvGrpSpPr>
        <p:grpSpPr bwMode="auto">
          <a:xfrm>
            <a:off x="5791200" y="561975"/>
            <a:ext cx="2884488" cy="1844675"/>
            <a:chOff x="3600" y="870"/>
            <a:chExt cx="1817" cy="1162"/>
          </a:xfrm>
        </p:grpSpPr>
        <p:sp>
          <p:nvSpPr>
            <p:cNvPr id="738358" name="Line 54"/>
            <p:cNvSpPr>
              <a:spLocks noChangeShapeType="1"/>
            </p:cNvSpPr>
            <p:nvPr/>
          </p:nvSpPr>
          <p:spPr bwMode="auto">
            <a:xfrm flipH="1">
              <a:off x="4846" y="1730"/>
              <a:ext cx="2"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59" name="Line 55"/>
            <p:cNvSpPr>
              <a:spLocks noChangeShapeType="1"/>
            </p:cNvSpPr>
            <p:nvPr/>
          </p:nvSpPr>
          <p:spPr bwMode="auto">
            <a:xfrm>
              <a:off x="4843" y="1251"/>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60" name="Line 56"/>
            <p:cNvSpPr>
              <a:spLocks noChangeShapeType="1"/>
            </p:cNvSpPr>
            <p:nvPr/>
          </p:nvSpPr>
          <p:spPr bwMode="auto">
            <a:xfrm flipV="1">
              <a:off x="4543" y="1248"/>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61" name="Line 57"/>
            <p:cNvSpPr>
              <a:spLocks noChangeShapeType="1"/>
            </p:cNvSpPr>
            <p:nvPr/>
          </p:nvSpPr>
          <p:spPr bwMode="auto">
            <a:xfrm>
              <a:off x="4016" y="1168"/>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38362" name="Object 58"/>
            <p:cNvGraphicFramePr>
              <a:graphicFrameLocks noChangeAspect="1"/>
            </p:cNvGraphicFramePr>
            <p:nvPr/>
          </p:nvGraphicFramePr>
          <p:xfrm>
            <a:off x="4054" y="870"/>
            <a:ext cx="192" cy="282"/>
          </p:xfrm>
          <a:graphic>
            <a:graphicData uri="http://schemas.openxmlformats.org/presentationml/2006/ole">
              <mc:AlternateContent xmlns:mc="http://schemas.openxmlformats.org/markup-compatibility/2006">
                <mc:Choice xmlns:v="urn:schemas-microsoft-com:vml" Requires="v">
                  <p:oleObj spid="_x0000_s113815" name="公式" r:id="rId16" imgW="177480" imgH="279360" progId="Equation.3">
                    <p:embed/>
                  </p:oleObj>
                </mc:Choice>
                <mc:Fallback>
                  <p:oleObj name="公式" r:id="rId16" imgW="177480" imgH="279360" progId="Equation.3">
                    <p:embed/>
                    <p:pic>
                      <p:nvPicPr>
                        <p:cNvPr id="738362" name="Object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4" y="870"/>
                          <a:ext cx="19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63" name="Line 59"/>
            <p:cNvSpPr>
              <a:spLocks noChangeShapeType="1"/>
            </p:cNvSpPr>
            <p:nvPr/>
          </p:nvSpPr>
          <p:spPr bwMode="auto">
            <a:xfrm flipH="1">
              <a:off x="3975" y="2025"/>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64" name="Text Box 60"/>
            <p:cNvSpPr txBox="1">
              <a:spLocks noChangeArrowheads="1"/>
            </p:cNvSpPr>
            <p:nvPr/>
          </p:nvSpPr>
          <p:spPr bwMode="auto">
            <a:xfrm>
              <a:off x="3773" y="1221"/>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38365" name="Text Box 61"/>
            <p:cNvSpPr txBox="1">
              <a:spLocks noChangeArrowheads="1"/>
            </p:cNvSpPr>
            <p:nvPr/>
          </p:nvSpPr>
          <p:spPr bwMode="auto">
            <a:xfrm>
              <a:off x="3785" y="1659"/>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738366" name="Object 62"/>
            <p:cNvGraphicFramePr>
              <a:graphicFrameLocks noChangeAspect="1"/>
            </p:cNvGraphicFramePr>
            <p:nvPr/>
          </p:nvGraphicFramePr>
          <p:xfrm>
            <a:off x="3600" y="1357"/>
            <a:ext cx="253" cy="337"/>
          </p:xfrm>
          <a:graphic>
            <a:graphicData uri="http://schemas.openxmlformats.org/presentationml/2006/ole">
              <mc:AlternateContent xmlns:mc="http://schemas.openxmlformats.org/markup-compatibility/2006">
                <mc:Choice xmlns:v="urn:schemas-microsoft-com:vml" Requires="v">
                  <p:oleObj spid="_x0000_s113816" name="公式" r:id="rId17" imgW="228600" imgH="279360" progId="Equation.3">
                    <p:embed/>
                  </p:oleObj>
                </mc:Choice>
                <mc:Fallback>
                  <p:oleObj name="公式" r:id="rId17" imgW="228600" imgH="279360" progId="Equation.3">
                    <p:embed/>
                    <p:pic>
                      <p:nvPicPr>
                        <p:cNvPr id="738366" name="Object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0" y="1357"/>
                          <a:ext cx="25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67" name="Rectangle 63"/>
            <p:cNvSpPr>
              <a:spLocks noChangeArrowheads="1"/>
            </p:cNvSpPr>
            <p:nvPr/>
          </p:nvSpPr>
          <p:spPr bwMode="auto">
            <a:xfrm>
              <a:off x="4316" y="1212"/>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68" name="Oval 64"/>
            <p:cNvSpPr>
              <a:spLocks noChangeArrowheads="1"/>
            </p:cNvSpPr>
            <p:nvPr/>
          </p:nvSpPr>
          <p:spPr bwMode="auto">
            <a:xfrm>
              <a:off x="3855" y="1487"/>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69" name="Line 65"/>
            <p:cNvSpPr>
              <a:spLocks noChangeShapeType="1"/>
            </p:cNvSpPr>
            <p:nvPr/>
          </p:nvSpPr>
          <p:spPr bwMode="auto">
            <a:xfrm flipH="1">
              <a:off x="3975" y="1244"/>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70" name="Rectangle 66"/>
            <p:cNvSpPr>
              <a:spLocks noChangeArrowheads="1"/>
            </p:cNvSpPr>
            <p:nvPr/>
          </p:nvSpPr>
          <p:spPr bwMode="auto">
            <a:xfrm rot="5400000">
              <a:off x="4734" y="1577"/>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71" name="Text Box 67"/>
            <p:cNvSpPr txBox="1">
              <a:spLocks noChangeArrowheads="1"/>
            </p:cNvSpPr>
            <p:nvPr/>
          </p:nvSpPr>
          <p:spPr bwMode="auto">
            <a:xfrm>
              <a:off x="4316" y="970"/>
              <a:ext cx="3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Z</a:t>
              </a:r>
              <a:r>
                <a:rPr kumimoji="1" lang="en-US" altLang="zh-CN" b="1" baseline="-25000">
                  <a:latin typeface="Times New Roman" panose="02020603050405020304" pitchFamily="18" charset="0"/>
                </a:rPr>
                <a:t>11</a:t>
              </a:r>
              <a:endParaRPr kumimoji="1" lang="en-US" altLang="zh-CN" b="1">
                <a:latin typeface="Times New Roman" panose="02020603050405020304" pitchFamily="18" charset="0"/>
              </a:endParaRPr>
            </a:p>
          </p:txBody>
        </p:sp>
        <p:sp>
          <p:nvSpPr>
            <p:cNvPr id="738372" name="Freeform 68"/>
            <p:cNvSpPr>
              <a:spLocks/>
            </p:cNvSpPr>
            <p:nvPr/>
          </p:nvSpPr>
          <p:spPr bwMode="auto">
            <a:xfrm>
              <a:off x="3972" y="1241"/>
              <a:ext cx="3" cy="787"/>
            </a:xfrm>
            <a:custGeom>
              <a:avLst/>
              <a:gdLst>
                <a:gd name="T0" fmla="*/ 3 w 3"/>
                <a:gd name="T1" fmla="*/ 0 h 787"/>
                <a:gd name="T2" fmla="*/ 0 w 3"/>
                <a:gd name="T3" fmla="*/ 787 h 787"/>
              </a:gdLst>
              <a:ahLst/>
              <a:cxnLst>
                <a:cxn ang="0">
                  <a:pos x="T0" y="T1"/>
                </a:cxn>
                <a:cxn ang="0">
                  <a:pos x="T2" y="T3"/>
                </a:cxn>
              </a:cxnLst>
              <a:rect l="0" t="0" r="r" b="b"/>
              <a:pathLst>
                <a:path w="3" h="787">
                  <a:moveTo>
                    <a:pt x="3" y="0"/>
                  </a:moveTo>
                  <a:lnTo>
                    <a:pt x="0" y="787"/>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38373" name="Object 69"/>
            <p:cNvGraphicFramePr>
              <a:graphicFrameLocks noChangeAspect="1"/>
            </p:cNvGraphicFramePr>
            <p:nvPr/>
          </p:nvGraphicFramePr>
          <p:xfrm>
            <a:off x="4935" y="1400"/>
            <a:ext cx="482" cy="435"/>
          </p:xfrm>
          <a:graphic>
            <a:graphicData uri="http://schemas.openxmlformats.org/presentationml/2006/ole">
              <mc:AlternateContent xmlns:mc="http://schemas.openxmlformats.org/markup-compatibility/2006">
                <mc:Choice xmlns:v="urn:schemas-microsoft-com:vml" Requires="v">
                  <p:oleObj spid="_x0000_s113817" name="公式" r:id="rId18" imgW="507960" imgH="457200" progId="Equation.3">
                    <p:embed/>
                  </p:oleObj>
                </mc:Choice>
                <mc:Fallback>
                  <p:oleObj name="公式" r:id="rId18" imgW="507960" imgH="457200" progId="Equation.3">
                    <p:embed/>
                    <p:pic>
                      <p:nvPicPr>
                        <p:cNvPr id="738373" name="Object 6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35" y="1400"/>
                          <a:ext cx="482"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8374" name="Text Box 70"/>
          <p:cNvSpPr txBox="1">
            <a:spLocks noChangeArrowheads="1"/>
          </p:cNvSpPr>
          <p:nvPr/>
        </p:nvSpPr>
        <p:spPr bwMode="auto">
          <a:xfrm>
            <a:off x="5857103" y="2652755"/>
            <a:ext cx="26977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zh-CN" altLang="en-US" sz="2400" b="1" dirty="0" smtClean="0">
                <a:solidFill>
                  <a:srgbClr val="FF3300"/>
                </a:solidFill>
                <a:latin typeface="Times New Roman" panose="02020603050405020304" pitchFamily="18" charset="0"/>
              </a:rPr>
              <a:t>一次绕组等效电路</a:t>
            </a:r>
            <a:endParaRPr kumimoji="1" lang="zh-CN" altLang="en-US" sz="2400" b="1" dirty="0">
              <a:solidFill>
                <a:srgbClr val="FF3300"/>
              </a:solidFill>
              <a:latin typeface="Times New Roman" panose="02020603050405020304" pitchFamily="18" charset="0"/>
            </a:endParaRPr>
          </a:p>
        </p:txBody>
      </p:sp>
      <p:grpSp>
        <p:nvGrpSpPr>
          <p:cNvPr id="738375" name="Group 71"/>
          <p:cNvGrpSpPr>
            <a:grpSpLocks/>
          </p:cNvGrpSpPr>
          <p:nvPr/>
        </p:nvGrpSpPr>
        <p:grpSpPr bwMode="auto">
          <a:xfrm>
            <a:off x="5364163" y="3789363"/>
            <a:ext cx="2438400" cy="2222500"/>
            <a:chOff x="3360" y="2448"/>
            <a:chExt cx="1536" cy="1400"/>
          </a:xfrm>
        </p:grpSpPr>
        <p:graphicFrame>
          <p:nvGraphicFramePr>
            <p:cNvPr id="738376" name="Object 72"/>
            <p:cNvGraphicFramePr>
              <a:graphicFrameLocks noChangeAspect="1"/>
            </p:cNvGraphicFramePr>
            <p:nvPr/>
          </p:nvGraphicFramePr>
          <p:xfrm>
            <a:off x="3504" y="3312"/>
            <a:ext cx="1000" cy="536"/>
          </p:xfrm>
          <a:graphic>
            <a:graphicData uri="http://schemas.openxmlformats.org/presentationml/2006/ole">
              <mc:AlternateContent xmlns:mc="http://schemas.openxmlformats.org/markup-compatibility/2006">
                <mc:Choice xmlns:v="urn:schemas-microsoft-com:vml" Requires="v">
                  <p:oleObj spid="_x0000_s113818" name="公式" r:id="rId20" imgW="825480" imgH="444240" progId="Equation.3">
                    <p:embed/>
                  </p:oleObj>
                </mc:Choice>
                <mc:Fallback>
                  <p:oleObj name="公式" r:id="rId20" imgW="825480" imgH="444240" progId="Equation.3">
                    <p:embed/>
                    <p:pic>
                      <p:nvPicPr>
                        <p:cNvPr id="738376" name="Object 7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504" y="3312"/>
                          <a:ext cx="1000"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8377" name="Object 73"/>
            <p:cNvGraphicFramePr>
              <a:graphicFrameLocks noChangeAspect="1"/>
            </p:cNvGraphicFramePr>
            <p:nvPr/>
          </p:nvGraphicFramePr>
          <p:xfrm>
            <a:off x="3504" y="2448"/>
            <a:ext cx="1392" cy="825"/>
          </p:xfrm>
          <a:graphic>
            <a:graphicData uri="http://schemas.openxmlformats.org/presentationml/2006/ole">
              <mc:AlternateContent xmlns:mc="http://schemas.openxmlformats.org/markup-compatibility/2006">
                <mc:Choice xmlns:v="urn:schemas-microsoft-com:vml" Requires="v">
                  <p:oleObj spid="_x0000_s113819" name="Equation" r:id="rId22" imgW="1244520" imgH="736560" progId="Equation.3">
                    <p:embed/>
                  </p:oleObj>
                </mc:Choice>
                <mc:Fallback>
                  <p:oleObj name="Equation" r:id="rId22" imgW="1244520" imgH="736560" progId="Equation.3">
                    <p:embed/>
                    <p:pic>
                      <p:nvPicPr>
                        <p:cNvPr id="738377" name="Object 7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04" y="2448"/>
                          <a:ext cx="1392" cy="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8378" name="AutoShape 74"/>
            <p:cNvSpPr>
              <a:spLocks/>
            </p:cNvSpPr>
            <p:nvPr/>
          </p:nvSpPr>
          <p:spPr bwMode="auto">
            <a:xfrm>
              <a:off x="3360" y="2784"/>
              <a:ext cx="96" cy="816"/>
            </a:xfrm>
            <a:prstGeom prst="leftBrace">
              <a:avLst>
                <a:gd name="adj1" fmla="val 70833"/>
                <a:gd name="adj2" fmla="val 50000"/>
              </a:avLst>
            </a:prstGeom>
            <a:noFill/>
            <a:ln w="317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8379" name="AutoShape 75"/>
          <p:cNvSpPr>
            <a:spLocks noChangeArrowheads="1"/>
          </p:cNvSpPr>
          <p:nvPr/>
        </p:nvSpPr>
        <p:spPr bwMode="auto">
          <a:xfrm>
            <a:off x="4211638" y="4797425"/>
            <a:ext cx="914400" cy="304800"/>
          </a:xfrm>
          <a:prstGeom prst="right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80" name="Freeform 76"/>
          <p:cNvSpPr>
            <a:spLocks/>
          </p:cNvSpPr>
          <p:nvPr/>
        </p:nvSpPr>
        <p:spPr bwMode="auto">
          <a:xfrm>
            <a:off x="4495800" y="3302000"/>
            <a:ext cx="3892550" cy="3295650"/>
          </a:xfrm>
          <a:custGeom>
            <a:avLst/>
            <a:gdLst>
              <a:gd name="T0" fmla="*/ 0 w 2592"/>
              <a:gd name="T1" fmla="*/ 1920 h 2240"/>
              <a:gd name="T2" fmla="*/ 2208 w 2592"/>
              <a:gd name="T3" fmla="*/ 1920 h 2240"/>
              <a:gd name="T4" fmla="*/ 2304 w 2592"/>
              <a:gd name="T5" fmla="*/ 0 h 2240"/>
            </a:gdLst>
            <a:ahLst/>
            <a:cxnLst>
              <a:cxn ang="0">
                <a:pos x="T0" y="T1"/>
              </a:cxn>
              <a:cxn ang="0">
                <a:pos x="T2" y="T3"/>
              </a:cxn>
              <a:cxn ang="0">
                <a:pos x="T4" y="T5"/>
              </a:cxn>
            </a:cxnLst>
            <a:rect l="0" t="0" r="r" b="b"/>
            <a:pathLst>
              <a:path w="2592" h="2240">
                <a:moveTo>
                  <a:pt x="0" y="1920"/>
                </a:moveTo>
                <a:cubicBezTo>
                  <a:pt x="912" y="2080"/>
                  <a:pt x="1824" y="2240"/>
                  <a:pt x="2208" y="1920"/>
                </a:cubicBezTo>
                <a:cubicBezTo>
                  <a:pt x="2592" y="1600"/>
                  <a:pt x="2448" y="800"/>
                  <a:pt x="2304" y="0"/>
                </a:cubicBezTo>
              </a:path>
            </a:pathLst>
          </a:custGeom>
          <a:noFill/>
          <a:ln w="34925">
            <a:solidFill>
              <a:srgbClr val="FF0000"/>
            </a:solidFill>
            <a:round/>
            <a:headEn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8381" name="Rectangle 77"/>
          <p:cNvSpPr>
            <a:spLocks noChangeArrowheads="1"/>
          </p:cNvSpPr>
          <p:nvPr/>
        </p:nvSpPr>
        <p:spPr bwMode="auto">
          <a:xfrm>
            <a:off x="1600200" y="838200"/>
            <a:ext cx="2438400" cy="1981200"/>
          </a:xfrm>
          <a:prstGeom prst="rect">
            <a:avLst/>
          </a:prstGeom>
          <a:noFill/>
          <a:ln w="25400">
            <a:solidFill>
              <a:srgbClr val="FF00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32821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38354"/>
                                        </p:tgtEl>
                                        <p:attrNameLst>
                                          <p:attrName>style.visibility</p:attrName>
                                        </p:attrNameLst>
                                      </p:cBhvr>
                                      <p:to>
                                        <p:strVal val="visible"/>
                                      </p:to>
                                    </p:set>
                                    <p:anim calcmode="lin" valueType="num">
                                      <p:cBhvr>
                                        <p:cTn id="7" dur="1000" fill="hold"/>
                                        <p:tgtEl>
                                          <p:spTgt spid="738354"/>
                                        </p:tgtEl>
                                        <p:attrNameLst>
                                          <p:attrName>ppt_w</p:attrName>
                                        </p:attrNameLst>
                                      </p:cBhvr>
                                      <p:tavLst>
                                        <p:tav tm="0">
                                          <p:val>
                                            <p:fltVal val="0"/>
                                          </p:val>
                                        </p:tav>
                                        <p:tav tm="100000">
                                          <p:val>
                                            <p:strVal val="#ppt_w"/>
                                          </p:val>
                                        </p:tav>
                                      </p:tavLst>
                                    </p:anim>
                                    <p:anim calcmode="lin" valueType="num">
                                      <p:cBhvr>
                                        <p:cTn id="8" dur="1000" fill="hold"/>
                                        <p:tgtEl>
                                          <p:spTgt spid="738354"/>
                                        </p:tgtEl>
                                        <p:attrNameLst>
                                          <p:attrName>ppt_h</p:attrName>
                                        </p:attrNameLst>
                                      </p:cBhvr>
                                      <p:tavLst>
                                        <p:tav tm="0">
                                          <p:val>
                                            <p:fltVal val="0"/>
                                          </p:val>
                                        </p:tav>
                                        <p:tav tm="100000">
                                          <p:val>
                                            <p:strVal val="#ppt_h"/>
                                          </p:val>
                                        </p:tav>
                                      </p:tavLst>
                                    </p:anim>
                                    <p:anim calcmode="lin" valueType="num">
                                      <p:cBhvr>
                                        <p:cTn id="9" dur="1000" fill="hold"/>
                                        <p:tgtEl>
                                          <p:spTgt spid="73835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383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16" fill="hold" nodeType="clickEffect">
                                  <p:stCondLst>
                                    <p:cond delay="0"/>
                                  </p:stCondLst>
                                  <p:childTnLst>
                                    <p:set>
                                      <p:cBhvr>
                                        <p:cTn id="14" dur="1" fill="hold">
                                          <p:stCondLst>
                                            <p:cond delay="0"/>
                                          </p:stCondLst>
                                        </p:cTn>
                                        <p:tgtEl>
                                          <p:spTgt spid="738306"/>
                                        </p:tgtEl>
                                        <p:attrNameLst>
                                          <p:attrName>style.visibility</p:attrName>
                                        </p:attrNameLst>
                                      </p:cBhvr>
                                      <p:to>
                                        <p:strVal val="visible"/>
                                      </p:to>
                                    </p:set>
                                    <p:anim calcmode="lin" valueType="num">
                                      <p:cBhvr>
                                        <p:cTn id="15" dur="500" fill="hold"/>
                                        <p:tgtEl>
                                          <p:spTgt spid="738306"/>
                                        </p:tgtEl>
                                        <p:attrNameLst>
                                          <p:attrName>ppt_w</p:attrName>
                                        </p:attrNameLst>
                                      </p:cBhvr>
                                      <p:tavLst>
                                        <p:tav tm="0">
                                          <p:val>
                                            <p:fltVal val="0"/>
                                          </p:val>
                                        </p:tav>
                                        <p:tav tm="100000">
                                          <p:val>
                                            <p:strVal val="#ppt_w"/>
                                          </p:val>
                                        </p:tav>
                                      </p:tavLst>
                                    </p:anim>
                                    <p:anim calcmode="lin" valueType="num">
                                      <p:cBhvr>
                                        <p:cTn id="16" dur="500" fill="hold"/>
                                        <p:tgtEl>
                                          <p:spTgt spid="738306"/>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38381"/>
                                        </p:tgtEl>
                                        <p:attrNameLst>
                                          <p:attrName>style.visibility</p:attrName>
                                        </p:attrNameLst>
                                      </p:cBhvr>
                                      <p:to>
                                        <p:strVal val="visible"/>
                                      </p:to>
                                    </p:set>
                                    <p:animEffect transition="in" filter="wipe(left)">
                                      <p:cBhvr>
                                        <p:cTn id="21" dur="500"/>
                                        <p:tgtEl>
                                          <p:spTgt spid="73838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38356"/>
                                        </p:tgtEl>
                                        <p:attrNameLst>
                                          <p:attrName>style.visibility</p:attrName>
                                        </p:attrNameLst>
                                      </p:cBhvr>
                                      <p:to>
                                        <p:strVal val="visible"/>
                                      </p:to>
                                    </p:set>
                                    <p:animEffect transition="in" filter="wipe(left)">
                                      <p:cBhvr>
                                        <p:cTn id="26" dur="500"/>
                                        <p:tgtEl>
                                          <p:spTgt spid="738356"/>
                                        </p:tgtEl>
                                      </p:cBhvr>
                                    </p:animEffec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73835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nodeType="clickEffect">
                                  <p:stCondLst>
                                    <p:cond delay="0"/>
                                  </p:stCondLst>
                                  <p:childTnLst>
                                    <p:set>
                                      <p:cBhvr>
                                        <p:cTn id="33" dur="1" fill="hold">
                                          <p:stCondLst>
                                            <p:cond delay="0"/>
                                          </p:stCondLst>
                                        </p:cTn>
                                        <p:tgtEl>
                                          <p:spTgt spid="738351"/>
                                        </p:tgtEl>
                                        <p:attrNameLst>
                                          <p:attrName>style.visibility</p:attrName>
                                        </p:attrNameLst>
                                      </p:cBhvr>
                                      <p:to>
                                        <p:strVal val="visible"/>
                                      </p:to>
                                    </p:set>
                                    <p:anim calcmode="lin" valueType="num">
                                      <p:cBhvr additive="base">
                                        <p:cTn id="34" dur="500" fill="hold"/>
                                        <p:tgtEl>
                                          <p:spTgt spid="738351"/>
                                        </p:tgtEl>
                                        <p:attrNameLst>
                                          <p:attrName>ppt_x</p:attrName>
                                        </p:attrNameLst>
                                      </p:cBhvr>
                                      <p:tavLst>
                                        <p:tav tm="0">
                                          <p:val>
                                            <p:strVal val="0-#ppt_w/2"/>
                                          </p:val>
                                        </p:tav>
                                        <p:tav tm="100000">
                                          <p:val>
                                            <p:strVal val="#ppt_x"/>
                                          </p:val>
                                        </p:tav>
                                      </p:tavLst>
                                    </p:anim>
                                    <p:anim calcmode="lin" valueType="num">
                                      <p:cBhvr additive="base">
                                        <p:cTn id="35" dur="500" fill="hold"/>
                                        <p:tgtEl>
                                          <p:spTgt spid="738351"/>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738352"/>
                                        </p:tgtEl>
                                        <p:attrNameLst>
                                          <p:attrName>style.visibility</p:attrName>
                                        </p:attrNameLst>
                                      </p:cBhvr>
                                      <p:to>
                                        <p:strVal val="visible"/>
                                      </p:to>
                                    </p:set>
                                    <p:anim calcmode="lin" valueType="num">
                                      <p:cBhvr additive="base">
                                        <p:cTn id="40" dur="500" fill="hold"/>
                                        <p:tgtEl>
                                          <p:spTgt spid="738352"/>
                                        </p:tgtEl>
                                        <p:attrNameLst>
                                          <p:attrName>ppt_x</p:attrName>
                                        </p:attrNameLst>
                                      </p:cBhvr>
                                      <p:tavLst>
                                        <p:tav tm="0">
                                          <p:val>
                                            <p:strVal val="0-#ppt_w/2"/>
                                          </p:val>
                                        </p:tav>
                                        <p:tav tm="100000">
                                          <p:val>
                                            <p:strVal val="#ppt_x"/>
                                          </p:val>
                                        </p:tav>
                                      </p:tavLst>
                                    </p:anim>
                                    <p:anim calcmode="lin" valueType="num">
                                      <p:cBhvr additive="base">
                                        <p:cTn id="41" dur="500" fill="hold"/>
                                        <p:tgtEl>
                                          <p:spTgt spid="738352"/>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38379"/>
                                        </p:tgtEl>
                                        <p:attrNameLst>
                                          <p:attrName>style.visibility</p:attrName>
                                        </p:attrNameLst>
                                      </p:cBhvr>
                                      <p:to>
                                        <p:strVal val="visible"/>
                                      </p:to>
                                    </p:set>
                                    <p:animEffect transition="in" filter="wipe(left)">
                                      <p:cBhvr>
                                        <p:cTn id="46" dur="500"/>
                                        <p:tgtEl>
                                          <p:spTgt spid="73837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38375"/>
                                        </p:tgtEl>
                                        <p:attrNameLst>
                                          <p:attrName>style.visibility</p:attrName>
                                        </p:attrNameLst>
                                      </p:cBhvr>
                                      <p:to>
                                        <p:strVal val="visible"/>
                                      </p:to>
                                    </p:set>
                                    <p:animEffect transition="in" filter="wipe(left)">
                                      <p:cBhvr>
                                        <p:cTn id="51" dur="500"/>
                                        <p:tgtEl>
                                          <p:spTgt spid="73837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1" fill="hold" nodeType="clickEffect">
                                  <p:stCondLst>
                                    <p:cond delay="0"/>
                                  </p:stCondLst>
                                  <p:childTnLst>
                                    <p:set>
                                      <p:cBhvr>
                                        <p:cTn id="55" dur="1" fill="hold">
                                          <p:stCondLst>
                                            <p:cond delay="0"/>
                                          </p:stCondLst>
                                        </p:cTn>
                                        <p:tgtEl>
                                          <p:spTgt spid="738355"/>
                                        </p:tgtEl>
                                        <p:attrNameLst>
                                          <p:attrName>style.visibility</p:attrName>
                                        </p:attrNameLst>
                                      </p:cBhvr>
                                      <p:to>
                                        <p:strVal val="visible"/>
                                      </p:to>
                                    </p:set>
                                    <p:anim calcmode="lin" valueType="num">
                                      <p:cBhvr>
                                        <p:cTn id="56" dur="500" fill="hold"/>
                                        <p:tgtEl>
                                          <p:spTgt spid="738355"/>
                                        </p:tgtEl>
                                        <p:attrNameLst>
                                          <p:attrName>ppt_x</p:attrName>
                                        </p:attrNameLst>
                                      </p:cBhvr>
                                      <p:tavLst>
                                        <p:tav tm="0">
                                          <p:val>
                                            <p:strVal val="#ppt_x"/>
                                          </p:val>
                                        </p:tav>
                                        <p:tav tm="100000">
                                          <p:val>
                                            <p:strVal val="#ppt_x"/>
                                          </p:val>
                                        </p:tav>
                                      </p:tavLst>
                                    </p:anim>
                                    <p:anim calcmode="lin" valueType="num">
                                      <p:cBhvr>
                                        <p:cTn id="57" dur="500" fill="hold"/>
                                        <p:tgtEl>
                                          <p:spTgt spid="738355"/>
                                        </p:tgtEl>
                                        <p:attrNameLst>
                                          <p:attrName>ppt_y</p:attrName>
                                        </p:attrNameLst>
                                      </p:cBhvr>
                                      <p:tavLst>
                                        <p:tav tm="0">
                                          <p:val>
                                            <p:strVal val="#ppt_y-#ppt_h/2"/>
                                          </p:val>
                                        </p:tav>
                                        <p:tav tm="100000">
                                          <p:val>
                                            <p:strVal val="#ppt_y"/>
                                          </p:val>
                                        </p:tav>
                                      </p:tavLst>
                                    </p:anim>
                                    <p:anim calcmode="lin" valueType="num">
                                      <p:cBhvr>
                                        <p:cTn id="58" dur="500" fill="hold"/>
                                        <p:tgtEl>
                                          <p:spTgt spid="738355"/>
                                        </p:tgtEl>
                                        <p:attrNameLst>
                                          <p:attrName>ppt_w</p:attrName>
                                        </p:attrNameLst>
                                      </p:cBhvr>
                                      <p:tavLst>
                                        <p:tav tm="0">
                                          <p:val>
                                            <p:strVal val="#ppt_w"/>
                                          </p:val>
                                        </p:tav>
                                        <p:tav tm="100000">
                                          <p:val>
                                            <p:strVal val="#ppt_w"/>
                                          </p:val>
                                        </p:tav>
                                      </p:tavLst>
                                    </p:anim>
                                    <p:anim calcmode="lin" valueType="num">
                                      <p:cBhvr>
                                        <p:cTn id="59" dur="500" fill="hold"/>
                                        <p:tgtEl>
                                          <p:spTgt spid="738355"/>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738380"/>
                                        </p:tgtEl>
                                        <p:attrNameLst>
                                          <p:attrName>style.visibility</p:attrName>
                                        </p:attrNameLst>
                                      </p:cBhvr>
                                      <p:to>
                                        <p:strVal val="visible"/>
                                      </p:to>
                                    </p:set>
                                    <p:animEffect transition="in" filter="wipe(down)">
                                      <p:cBhvr>
                                        <p:cTn id="64" dur="500"/>
                                        <p:tgtEl>
                                          <p:spTgt spid="73838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nodeType="clickEffect">
                                  <p:stCondLst>
                                    <p:cond delay="0"/>
                                  </p:stCondLst>
                                  <p:childTnLst>
                                    <p:set>
                                      <p:cBhvr>
                                        <p:cTn id="68" dur="1" fill="hold">
                                          <p:stCondLst>
                                            <p:cond delay="0"/>
                                          </p:stCondLst>
                                        </p:cTn>
                                        <p:tgtEl>
                                          <p:spTgt spid="738357"/>
                                        </p:tgtEl>
                                        <p:attrNameLst>
                                          <p:attrName>style.visibility</p:attrName>
                                        </p:attrNameLst>
                                      </p:cBhvr>
                                      <p:to>
                                        <p:strVal val="visible"/>
                                      </p:to>
                                    </p:set>
                                    <p:anim calcmode="lin" valueType="num">
                                      <p:cBhvr additive="base">
                                        <p:cTn id="69" dur="500" fill="hold"/>
                                        <p:tgtEl>
                                          <p:spTgt spid="738357"/>
                                        </p:tgtEl>
                                        <p:attrNameLst>
                                          <p:attrName>ppt_x</p:attrName>
                                        </p:attrNameLst>
                                      </p:cBhvr>
                                      <p:tavLst>
                                        <p:tav tm="0">
                                          <p:val>
                                            <p:strVal val="1+#ppt_w/2"/>
                                          </p:val>
                                        </p:tav>
                                        <p:tav tm="100000">
                                          <p:val>
                                            <p:strVal val="#ppt_x"/>
                                          </p:val>
                                        </p:tav>
                                      </p:tavLst>
                                    </p:anim>
                                    <p:anim calcmode="lin" valueType="num">
                                      <p:cBhvr additive="base">
                                        <p:cTn id="70" dur="500" fill="hold"/>
                                        <p:tgtEl>
                                          <p:spTgt spid="738357"/>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738374"/>
                                        </p:tgtEl>
                                        <p:attrNameLst>
                                          <p:attrName>style.visibility</p:attrName>
                                        </p:attrNameLst>
                                      </p:cBhvr>
                                      <p:to>
                                        <p:strVal val="visible"/>
                                      </p:to>
                                    </p:set>
                                    <p:animEffect transition="in" filter="box(in)">
                                      <p:cBhvr>
                                        <p:cTn id="75" dur="500"/>
                                        <p:tgtEl>
                                          <p:spTgt spid="738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54" grpId="0" autoUpdateAnimBg="0"/>
      <p:bldP spid="738356" grpId="0" autoUpdateAnimBg="0"/>
      <p:bldP spid="73837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0354" name="Object 2"/>
          <p:cNvGraphicFramePr>
            <a:graphicFrameLocks noChangeAspect="1"/>
          </p:cNvGraphicFramePr>
          <p:nvPr/>
        </p:nvGraphicFramePr>
        <p:xfrm>
          <a:off x="654050" y="2722563"/>
          <a:ext cx="7442200" cy="871537"/>
        </p:xfrm>
        <a:graphic>
          <a:graphicData uri="http://schemas.openxmlformats.org/presentationml/2006/ole">
            <mc:AlternateContent xmlns:mc="http://schemas.openxmlformats.org/markup-compatibility/2006">
              <mc:Choice xmlns:v="urn:schemas-microsoft-com:vml" Requires="v">
                <p:oleObj spid="_x0000_s114792" name="公式" r:id="rId4" imgW="3911400" imgH="457200" progId="Equation.3">
                  <p:embed/>
                </p:oleObj>
              </mc:Choice>
              <mc:Fallback>
                <p:oleObj name="公式" r:id="rId4" imgW="3911400" imgH="457200" progId="Equation.3">
                  <p:embed/>
                  <p:pic>
                    <p:nvPicPr>
                      <p:cNvPr id="74035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050" y="2722563"/>
                        <a:ext cx="7442200" cy="871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40356" name="Group 4"/>
          <p:cNvGrpSpPr>
            <a:grpSpLocks/>
          </p:cNvGrpSpPr>
          <p:nvPr/>
        </p:nvGrpSpPr>
        <p:grpSpPr bwMode="auto">
          <a:xfrm>
            <a:off x="533400" y="296863"/>
            <a:ext cx="5238750" cy="1844675"/>
            <a:chOff x="852" y="895"/>
            <a:chExt cx="3300" cy="1162"/>
          </a:xfrm>
        </p:grpSpPr>
        <p:sp>
          <p:nvSpPr>
            <p:cNvPr id="740357" name="Line 5"/>
            <p:cNvSpPr>
              <a:spLocks noChangeShapeType="1"/>
            </p:cNvSpPr>
            <p:nvPr/>
          </p:nvSpPr>
          <p:spPr bwMode="auto">
            <a:xfrm flipH="1">
              <a:off x="2098" y="1780"/>
              <a:ext cx="2" cy="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58" name="Line 6"/>
            <p:cNvSpPr>
              <a:spLocks noChangeShapeType="1"/>
            </p:cNvSpPr>
            <p:nvPr/>
          </p:nvSpPr>
          <p:spPr bwMode="auto">
            <a:xfrm>
              <a:off x="2095" y="1270"/>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59" name="Line 7"/>
            <p:cNvSpPr>
              <a:spLocks noChangeShapeType="1"/>
            </p:cNvSpPr>
            <p:nvPr/>
          </p:nvSpPr>
          <p:spPr bwMode="auto">
            <a:xfrm flipH="1">
              <a:off x="2438" y="1806"/>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0" name="Line 8"/>
            <p:cNvSpPr>
              <a:spLocks noChangeShapeType="1"/>
            </p:cNvSpPr>
            <p:nvPr/>
          </p:nvSpPr>
          <p:spPr bwMode="auto">
            <a:xfrm>
              <a:off x="2439" y="1283"/>
              <a:ext cx="0" cy="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1" name="Line 9"/>
            <p:cNvSpPr>
              <a:spLocks noChangeShapeType="1"/>
            </p:cNvSpPr>
            <p:nvPr/>
          </p:nvSpPr>
          <p:spPr bwMode="auto">
            <a:xfrm flipV="1">
              <a:off x="1795" y="1273"/>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2" name="Line 10"/>
            <p:cNvSpPr>
              <a:spLocks noChangeShapeType="1"/>
            </p:cNvSpPr>
            <p:nvPr/>
          </p:nvSpPr>
          <p:spPr bwMode="auto">
            <a:xfrm flipV="1">
              <a:off x="2439" y="2051"/>
              <a:ext cx="8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3" name="Line 11"/>
            <p:cNvSpPr>
              <a:spLocks noChangeShapeType="1"/>
            </p:cNvSpPr>
            <p:nvPr/>
          </p:nvSpPr>
          <p:spPr bwMode="auto">
            <a:xfrm>
              <a:off x="3415" y="1292"/>
              <a:ext cx="0" cy="24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4" name="Text Box 12"/>
            <p:cNvSpPr txBox="1">
              <a:spLocks noChangeArrowheads="1"/>
            </p:cNvSpPr>
            <p:nvPr/>
          </p:nvSpPr>
          <p:spPr bwMode="auto">
            <a:xfrm>
              <a:off x="2063" y="126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solidFill>
                    <a:srgbClr val="FF3300"/>
                  </a:solidFill>
                  <a:latin typeface="Times New Roman" panose="02020603050405020304" pitchFamily="18" charset="0"/>
                </a:rPr>
                <a:t>*</a:t>
              </a:r>
            </a:p>
          </p:txBody>
        </p:sp>
        <p:sp>
          <p:nvSpPr>
            <p:cNvPr id="740365" name="Text Box 13"/>
            <p:cNvSpPr txBox="1">
              <a:spLocks noChangeArrowheads="1"/>
            </p:cNvSpPr>
            <p:nvPr/>
          </p:nvSpPr>
          <p:spPr bwMode="auto">
            <a:xfrm>
              <a:off x="2251" y="1279"/>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dirty="0">
                  <a:solidFill>
                    <a:srgbClr val="FF3300"/>
                  </a:solidFill>
                  <a:latin typeface="Times New Roman" panose="02020603050405020304" pitchFamily="18" charset="0"/>
                </a:rPr>
                <a:t>*</a:t>
              </a:r>
            </a:p>
          </p:txBody>
        </p:sp>
        <p:sp>
          <p:nvSpPr>
            <p:cNvPr id="740366" name="Text Box 14"/>
            <p:cNvSpPr txBox="1">
              <a:spLocks noChangeArrowheads="1"/>
            </p:cNvSpPr>
            <p:nvPr/>
          </p:nvSpPr>
          <p:spPr bwMode="auto">
            <a:xfrm>
              <a:off x="1672" y="1526"/>
              <a:ext cx="4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L</a:t>
              </a:r>
              <a:r>
                <a:rPr kumimoji="1" lang="en-US" altLang="zh-CN" b="1" baseline="-25000">
                  <a:latin typeface="Times New Roman" panose="02020603050405020304" pitchFamily="18" charset="0"/>
                </a:rPr>
                <a:t>1</a:t>
              </a:r>
              <a:endParaRPr kumimoji="1" lang="en-US" altLang="zh-CN" b="1">
                <a:latin typeface="Times New Roman" panose="02020603050405020304" pitchFamily="18" charset="0"/>
              </a:endParaRPr>
            </a:p>
          </p:txBody>
        </p:sp>
        <p:sp>
          <p:nvSpPr>
            <p:cNvPr id="740367" name="Line 15"/>
            <p:cNvSpPr>
              <a:spLocks noChangeShapeType="1"/>
            </p:cNvSpPr>
            <p:nvPr/>
          </p:nvSpPr>
          <p:spPr bwMode="auto">
            <a:xfrm>
              <a:off x="1268" y="1193"/>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40368" name="Group 16"/>
            <p:cNvGrpSpPr>
              <a:grpSpLocks/>
            </p:cNvGrpSpPr>
            <p:nvPr/>
          </p:nvGrpSpPr>
          <p:grpSpPr bwMode="auto">
            <a:xfrm rot="16200000" flipH="1">
              <a:off x="2274" y="1633"/>
              <a:ext cx="299" cy="49"/>
              <a:chOff x="1200" y="1584"/>
              <a:chExt cx="379" cy="45"/>
            </a:xfrm>
          </p:grpSpPr>
          <p:sp>
            <p:nvSpPr>
              <p:cNvPr id="740369" name="Arc 1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0" name="Arc 1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1" name="Arc 1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2" name="Arc 2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0373" name="Group 21"/>
            <p:cNvGrpSpPr>
              <a:grpSpLocks/>
            </p:cNvGrpSpPr>
            <p:nvPr/>
          </p:nvGrpSpPr>
          <p:grpSpPr bwMode="auto">
            <a:xfrm rot="5400000">
              <a:off x="1975" y="1621"/>
              <a:ext cx="299" cy="48"/>
              <a:chOff x="1200" y="1584"/>
              <a:chExt cx="379" cy="45"/>
            </a:xfrm>
          </p:grpSpPr>
          <p:sp>
            <p:nvSpPr>
              <p:cNvPr id="740374" name="Arc 2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5" name="Arc 2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6" name="Arc 2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7" name="Arc 2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0378" name="Arc 26"/>
            <p:cNvSpPr>
              <a:spLocks/>
            </p:cNvSpPr>
            <p:nvPr/>
          </p:nvSpPr>
          <p:spPr bwMode="auto">
            <a:xfrm rot="10800000" flipV="1">
              <a:off x="2060" y="1124"/>
              <a:ext cx="166" cy="163"/>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9" name="Arc 27"/>
            <p:cNvSpPr>
              <a:spLocks/>
            </p:cNvSpPr>
            <p:nvPr/>
          </p:nvSpPr>
          <p:spPr bwMode="auto">
            <a:xfrm rot="-10800000" flipH="1" flipV="1">
              <a:off x="2286" y="1127"/>
              <a:ext cx="167" cy="162"/>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80" name="Line 28"/>
            <p:cNvSpPr>
              <a:spLocks noChangeShapeType="1"/>
            </p:cNvSpPr>
            <p:nvPr/>
          </p:nvSpPr>
          <p:spPr bwMode="auto">
            <a:xfrm>
              <a:off x="2438" y="1283"/>
              <a:ext cx="31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0381" name="Object 29"/>
            <p:cNvGraphicFramePr>
              <a:graphicFrameLocks noChangeAspect="1"/>
            </p:cNvGraphicFramePr>
            <p:nvPr/>
          </p:nvGraphicFramePr>
          <p:xfrm>
            <a:off x="1306" y="895"/>
            <a:ext cx="192" cy="282"/>
          </p:xfrm>
          <a:graphic>
            <a:graphicData uri="http://schemas.openxmlformats.org/presentationml/2006/ole">
              <mc:AlternateContent xmlns:mc="http://schemas.openxmlformats.org/markup-compatibility/2006">
                <mc:Choice xmlns:v="urn:schemas-microsoft-com:vml" Requires="v">
                  <p:oleObj spid="_x0000_s114793" name="公式" r:id="rId6" imgW="177480" imgH="279360" progId="Equation.3">
                    <p:embed/>
                  </p:oleObj>
                </mc:Choice>
                <mc:Fallback>
                  <p:oleObj name="公式" r:id="rId6" imgW="177480" imgH="279360" progId="Equation.3">
                    <p:embed/>
                    <p:pic>
                      <p:nvPicPr>
                        <p:cNvPr id="740381"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 y="895"/>
                          <a:ext cx="19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0382" name="Object 30"/>
            <p:cNvGraphicFramePr>
              <a:graphicFrameLocks noChangeAspect="1"/>
            </p:cNvGraphicFramePr>
            <p:nvPr/>
          </p:nvGraphicFramePr>
          <p:xfrm>
            <a:off x="3445" y="1234"/>
            <a:ext cx="209" cy="282"/>
          </p:xfrm>
          <a:graphic>
            <a:graphicData uri="http://schemas.openxmlformats.org/presentationml/2006/ole">
              <mc:AlternateContent xmlns:mc="http://schemas.openxmlformats.org/markup-compatibility/2006">
                <mc:Choice xmlns:v="urn:schemas-microsoft-com:vml" Requires="v">
                  <p:oleObj spid="_x0000_s114794" name="公式" r:id="rId8" imgW="190440" imgH="279360" progId="Equation.3">
                    <p:embed/>
                  </p:oleObj>
                </mc:Choice>
                <mc:Fallback>
                  <p:oleObj name="公式" r:id="rId8" imgW="190440" imgH="279360" progId="Equation.3">
                    <p:embed/>
                    <p:pic>
                      <p:nvPicPr>
                        <p:cNvPr id="740382"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5" y="1234"/>
                          <a:ext cx="209"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383" name="Text Box 31"/>
            <p:cNvSpPr txBox="1">
              <a:spLocks noChangeArrowheads="1"/>
            </p:cNvSpPr>
            <p:nvPr/>
          </p:nvSpPr>
          <p:spPr bwMode="auto">
            <a:xfrm>
              <a:off x="2433" y="1514"/>
              <a:ext cx="4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L</a:t>
              </a:r>
              <a:r>
                <a:rPr kumimoji="1" lang="en-US" altLang="zh-CN" b="1" baseline="-25000">
                  <a:latin typeface="Times New Roman" panose="02020603050405020304" pitchFamily="18" charset="0"/>
                </a:rPr>
                <a:t>2</a:t>
              </a:r>
              <a:endParaRPr kumimoji="1" lang="en-US" altLang="zh-CN" b="1">
                <a:latin typeface="Times New Roman" panose="02020603050405020304" pitchFamily="18" charset="0"/>
              </a:endParaRPr>
            </a:p>
          </p:txBody>
        </p:sp>
        <p:sp>
          <p:nvSpPr>
            <p:cNvPr id="740384" name="Text Box 32"/>
            <p:cNvSpPr txBox="1">
              <a:spLocks noChangeArrowheads="1"/>
            </p:cNvSpPr>
            <p:nvPr/>
          </p:nvSpPr>
          <p:spPr bwMode="auto">
            <a:xfrm>
              <a:off x="2015" y="906"/>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M</a:t>
              </a:r>
              <a:endParaRPr kumimoji="1" lang="en-US" altLang="zh-CN" b="1">
                <a:latin typeface="Times New Roman" panose="02020603050405020304" pitchFamily="18" charset="0"/>
              </a:endParaRPr>
            </a:p>
          </p:txBody>
        </p:sp>
        <p:sp>
          <p:nvSpPr>
            <p:cNvPr id="740385" name="Line 33"/>
            <p:cNvSpPr>
              <a:spLocks noChangeShapeType="1"/>
            </p:cNvSpPr>
            <p:nvPr/>
          </p:nvSpPr>
          <p:spPr bwMode="auto">
            <a:xfrm flipH="1">
              <a:off x="1227" y="2050"/>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86" name="Text Box 34"/>
            <p:cNvSpPr txBox="1">
              <a:spLocks noChangeArrowheads="1"/>
            </p:cNvSpPr>
            <p:nvPr/>
          </p:nvSpPr>
          <p:spPr bwMode="auto">
            <a:xfrm>
              <a:off x="1043" y="1246"/>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40387" name="Text Box 35"/>
            <p:cNvSpPr txBox="1">
              <a:spLocks noChangeArrowheads="1"/>
            </p:cNvSpPr>
            <p:nvPr/>
          </p:nvSpPr>
          <p:spPr bwMode="auto">
            <a:xfrm>
              <a:off x="1037" y="1642"/>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740388" name="Object 36"/>
            <p:cNvGraphicFramePr>
              <a:graphicFrameLocks noChangeAspect="1"/>
            </p:cNvGraphicFramePr>
            <p:nvPr/>
          </p:nvGraphicFramePr>
          <p:xfrm>
            <a:off x="852" y="1382"/>
            <a:ext cx="253" cy="337"/>
          </p:xfrm>
          <a:graphic>
            <a:graphicData uri="http://schemas.openxmlformats.org/presentationml/2006/ole">
              <mc:AlternateContent xmlns:mc="http://schemas.openxmlformats.org/markup-compatibility/2006">
                <mc:Choice xmlns:v="urn:schemas-microsoft-com:vml" Requires="v">
                  <p:oleObj spid="_x0000_s114795" name="公式" r:id="rId10" imgW="228600" imgH="279360" progId="Equation.3">
                    <p:embed/>
                  </p:oleObj>
                </mc:Choice>
                <mc:Fallback>
                  <p:oleObj name="公式" r:id="rId10" imgW="228600" imgH="279360" progId="Equation.3">
                    <p:embed/>
                    <p:pic>
                      <p:nvPicPr>
                        <p:cNvPr id="740388"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2" y="1382"/>
                          <a:ext cx="25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389" name="Rectangle 37"/>
            <p:cNvSpPr>
              <a:spLocks noChangeArrowheads="1"/>
            </p:cNvSpPr>
            <p:nvPr/>
          </p:nvSpPr>
          <p:spPr bwMode="auto">
            <a:xfrm>
              <a:off x="1568" y="1237"/>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0" name="Oval 38"/>
            <p:cNvSpPr>
              <a:spLocks noChangeArrowheads="1"/>
            </p:cNvSpPr>
            <p:nvPr/>
          </p:nvSpPr>
          <p:spPr bwMode="auto">
            <a:xfrm>
              <a:off x="1113" y="1488"/>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1" name="Line 39"/>
            <p:cNvSpPr>
              <a:spLocks noChangeShapeType="1"/>
            </p:cNvSpPr>
            <p:nvPr/>
          </p:nvSpPr>
          <p:spPr bwMode="auto">
            <a:xfrm>
              <a:off x="1227" y="1264"/>
              <a:ext cx="0" cy="7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2" name="Line 40"/>
            <p:cNvSpPr>
              <a:spLocks noChangeShapeType="1"/>
            </p:cNvSpPr>
            <p:nvPr/>
          </p:nvSpPr>
          <p:spPr bwMode="auto">
            <a:xfrm flipH="1">
              <a:off x="1227" y="1269"/>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3" name="Rectangle 41"/>
            <p:cNvSpPr>
              <a:spLocks noChangeArrowheads="1"/>
            </p:cNvSpPr>
            <p:nvPr/>
          </p:nvSpPr>
          <p:spPr bwMode="auto">
            <a:xfrm>
              <a:off x="2754" y="1248"/>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4" name="Rectangle 42"/>
            <p:cNvSpPr>
              <a:spLocks noChangeArrowheads="1"/>
            </p:cNvSpPr>
            <p:nvPr/>
          </p:nvSpPr>
          <p:spPr bwMode="auto">
            <a:xfrm rot="5400000">
              <a:off x="3197" y="1614"/>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5" name="Line 43"/>
            <p:cNvSpPr>
              <a:spLocks noChangeShapeType="1"/>
            </p:cNvSpPr>
            <p:nvPr/>
          </p:nvSpPr>
          <p:spPr bwMode="auto">
            <a:xfrm>
              <a:off x="3314" y="1761"/>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6" name="Line 44"/>
            <p:cNvSpPr>
              <a:spLocks noChangeShapeType="1"/>
            </p:cNvSpPr>
            <p:nvPr/>
          </p:nvSpPr>
          <p:spPr bwMode="auto">
            <a:xfrm flipV="1">
              <a:off x="3314" y="1289"/>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7" name="Line 45"/>
            <p:cNvSpPr>
              <a:spLocks noChangeShapeType="1"/>
            </p:cNvSpPr>
            <p:nvPr/>
          </p:nvSpPr>
          <p:spPr bwMode="auto">
            <a:xfrm>
              <a:off x="2981" y="1289"/>
              <a:ext cx="3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8" name="Text Box 46"/>
            <p:cNvSpPr txBox="1">
              <a:spLocks noChangeArrowheads="1"/>
            </p:cNvSpPr>
            <p:nvPr/>
          </p:nvSpPr>
          <p:spPr bwMode="auto">
            <a:xfrm>
              <a:off x="1568" y="995"/>
              <a:ext cx="3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en-US" altLang="zh-CN" b="1" i="1" dirty="0">
                  <a:latin typeface="Times New Roman" panose="02020603050405020304" pitchFamily="18" charset="0"/>
                </a:rPr>
                <a:t>R</a:t>
              </a:r>
              <a:r>
                <a:rPr kumimoji="1" lang="en-US" altLang="zh-CN" b="1" baseline="-25000" dirty="0">
                  <a:latin typeface="Times New Roman" panose="02020603050405020304" pitchFamily="18" charset="0"/>
                </a:rPr>
                <a:t>1</a:t>
              </a:r>
              <a:endParaRPr kumimoji="1" lang="en-US" altLang="zh-CN" b="1" dirty="0">
                <a:latin typeface="Times New Roman" panose="02020603050405020304" pitchFamily="18" charset="0"/>
              </a:endParaRPr>
            </a:p>
          </p:txBody>
        </p:sp>
        <p:sp>
          <p:nvSpPr>
            <p:cNvPr id="740399" name="Text Box 47"/>
            <p:cNvSpPr txBox="1">
              <a:spLocks noChangeArrowheads="1"/>
            </p:cNvSpPr>
            <p:nvPr/>
          </p:nvSpPr>
          <p:spPr bwMode="auto">
            <a:xfrm>
              <a:off x="2745" y="995"/>
              <a:ext cx="35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0"/>
                </a:spcBef>
              </a:pPr>
              <a:r>
                <a:rPr kumimoji="1" lang="en-US" altLang="zh-CN" b="1" i="1" dirty="0">
                  <a:latin typeface="Times New Roman" panose="02020603050405020304" pitchFamily="18" charset="0"/>
                </a:rPr>
                <a:t>R</a:t>
              </a:r>
              <a:r>
                <a:rPr kumimoji="1" lang="en-US" altLang="zh-CN" b="1" baseline="-25000" dirty="0">
                  <a:latin typeface="Times New Roman" panose="02020603050405020304" pitchFamily="18" charset="0"/>
                </a:rPr>
                <a:t>2</a:t>
              </a:r>
              <a:endParaRPr kumimoji="1" lang="en-US" altLang="zh-CN" b="1" dirty="0">
                <a:latin typeface="Times New Roman" panose="02020603050405020304" pitchFamily="18" charset="0"/>
              </a:endParaRPr>
            </a:p>
          </p:txBody>
        </p:sp>
        <p:sp>
          <p:nvSpPr>
            <p:cNvPr id="740400" name="Text Box 48"/>
            <p:cNvSpPr txBox="1">
              <a:spLocks noChangeArrowheads="1"/>
            </p:cNvSpPr>
            <p:nvPr/>
          </p:nvSpPr>
          <p:spPr bwMode="auto">
            <a:xfrm>
              <a:off x="3338" y="1549"/>
              <a:ext cx="8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Z=R+</a:t>
              </a:r>
              <a:r>
                <a:rPr kumimoji="1" lang="en-US" altLang="zh-CN" b="1">
                  <a:latin typeface="Times New Roman" panose="02020603050405020304" pitchFamily="18" charset="0"/>
                </a:rPr>
                <a:t>j</a:t>
              </a:r>
              <a:r>
                <a:rPr kumimoji="1" lang="en-US" altLang="zh-CN" b="1" i="1">
                  <a:latin typeface="Times New Roman" panose="02020603050405020304" pitchFamily="18" charset="0"/>
                </a:rPr>
                <a:t>X</a:t>
              </a:r>
              <a:endParaRPr kumimoji="1" lang="en-US" altLang="zh-CN" b="1">
                <a:latin typeface="Times New Roman" panose="02020603050405020304" pitchFamily="18" charset="0"/>
              </a:endParaRPr>
            </a:p>
          </p:txBody>
        </p:sp>
      </p:grpSp>
      <p:grpSp>
        <p:nvGrpSpPr>
          <p:cNvPr id="740401" name="Group 49"/>
          <p:cNvGrpSpPr>
            <a:grpSpLocks/>
          </p:cNvGrpSpPr>
          <p:nvPr/>
        </p:nvGrpSpPr>
        <p:grpSpPr bwMode="auto">
          <a:xfrm>
            <a:off x="5715000" y="85725"/>
            <a:ext cx="2874963" cy="1844675"/>
            <a:chOff x="3600" y="870"/>
            <a:chExt cx="1811" cy="1162"/>
          </a:xfrm>
        </p:grpSpPr>
        <p:sp>
          <p:nvSpPr>
            <p:cNvPr id="740402" name="Line 50"/>
            <p:cNvSpPr>
              <a:spLocks noChangeShapeType="1"/>
            </p:cNvSpPr>
            <p:nvPr/>
          </p:nvSpPr>
          <p:spPr bwMode="auto">
            <a:xfrm flipH="1">
              <a:off x="4846" y="1730"/>
              <a:ext cx="2"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03" name="Line 51"/>
            <p:cNvSpPr>
              <a:spLocks noChangeShapeType="1"/>
            </p:cNvSpPr>
            <p:nvPr/>
          </p:nvSpPr>
          <p:spPr bwMode="auto">
            <a:xfrm>
              <a:off x="4843" y="1251"/>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04" name="Line 52"/>
            <p:cNvSpPr>
              <a:spLocks noChangeShapeType="1"/>
            </p:cNvSpPr>
            <p:nvPr/>
          </p:nvSpPr>
          <p:spPr bwMode="auto">
            <a:xfrm flipV="1">
              <a:off x="4543" y="1248"/>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05" name="Line 53"/>
            <p:cNvSpPr>
              <a:spLocks noChangeShapeType="1"/>
            </p:cNvSpPr>
            <p:nvPr/>
          </p:nvSpPr>
          <p:spPr bwMode="auto">
            <a:xfrm>
              <a:off x="4016" y="1168"/>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0406" name="Object 54"/>
            <p:cNvGraphicFramePr>
              <a:graphicFrameLocks noChangeAspect="1"/>
            </p:cNvGraphicFramePr>
            <p:nvPr/>
          </p:nvGraphicFramePr>
          <p:xfrm>
            <a:off x="4054" y="870"/>
            <a:ext cx="192" cy="282"/>
          </p:xfrm>
          <a:graphic>
            <a:graphicData uri="http://schemas.openxmlformats.org/presentationml/2006/ole">
              <mc:AlternateContent xmlns:mc="http://schemas.openxmlformats.org/markup-compatibility/2006">
                <mc:Choice xmlns:v="urn:schemas-microsoft-com:vml" Requires="v">
                  <p:oleObj spid="_x0000_s114796" name="公式" r:id="rId12" imgW="177480" imgH="279360" progId="Equation.3">
                    <p:embed/>
                  </p:oleObj>
                </mc:Choice>
                <mc:Fallback>
                  <p:oleObj name="公式" r:id="rId12" imgW="177480" imgH="279360" progId="Equation.3">
                    <p:embed/>
                    <p:pic>
                      <p:nvPicPr>
                        <p:cNvPr id="740406" name="Object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4" y="870"/>
                          <a:ext cx="19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407" name="Line 55"/>
            <p:cNvSpPr>
              <a:spLocks noChangeShapeType="1"/>
            </p:cNvSpPr>
            <p:nvPr/>
          </p:nvSpPr>
          <p:spPr bwMode="auto">
            <a:xfrm flipH="1">
              <a:off x="3975" y="2025"/>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08" name="Text Box 56"/>
            <p:cNvSpPr txBox="1">
              <a:spLocks noChangeArrowheads="1"/>
            </p:cNvSpPr>
            <p:nvPr/>
          </p:nvSpPr>
          <p:spPr bwMode="auto">
            <a:xfrm>
              <a:off x="3773" y="1221"/>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40409" name="Text Box 57"/>
            <p:cNvSpPr txBox="1">
              <a:spLocks noChangeArrowheads="1"/>
            </p:cNvSpPr>
            <p:nvPr/>
          </p:nvSpPr>
          <p:spPr bwMode="auto">
            <a:xfrm>
              <a:off x="3785" y="1659"/>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740410" name="Object 58"/>
            <p:cNvGraphicFramePr>
              <a:graphicFrameLocks noChangeAspect="1"/>
            </p:cNvGraphicFramePr>
            <p:nvPr/>
          </p:nvGraphicFramePr>
          <p:xfrm>
            <a:off x="3600" y="1357"/>
            <a:ext cx="253" cy="337"/>
          </p:xfrm>
          <a:graphic>
            <a:graphicData uri="http://schemas.openxmlformats.org/presentationml/2006/ole">
              <mc:AlternateContent xmlns:mc="http://schemas.openxmlformats.org/markup-compatibility/2006">
                <mc:Choice xmlns:v="urn:schemas-microsoft-com:vml" Requires="v">
                  <p:oleObj spid="_x0000_s114797" name="公式" r:id="rId13" imgW="228600" imgH="279360" progId="Equation.3">
                    <p:embed/>
                  </p:oleObj>
                </mc:Choice>
                <mc:Fallback>
                  <p:oleObj name="公式" r:id="rId13" imgW="228600" imgH="279360" progId="Equation.3">
                    <p:embed/>
                    <p:pic>
                      <p:nvPicPr>
                        <p:cNvPr id="740410" name="Object 5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0" y="1357"/>
                          <a:ext cx="25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411" name="Rectangle 59"/>
            <p:cNvSpPr>
              <a:spLocks noChangeArrowheads="1"/>
            </p:cNvSpPr>
            <p:nvPr/>
          </p:nvSpPr>
          <p:spPr bwMode="auto">
            <a:xfrm>
              <a:off x="4316" y="1212"/>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12" name="Oval 60"/>
            <p:cNvSpPr>
              <a:spLocks noChangeArrowheads="1"/>
            </p:cNvSpPr>
            <p:nvPr/>
          </p:nvSpPr>
          <p:spPr bwMode="auto">
            <a:xfrm>
              <a:off x="3855" y="1487"/>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13" name="Line 61"/>
            <p:cNvSpPr>
              <a:spLocks noChangeShapeType="1"/>
            </p:cNvSpPr>
            <p:nvPr/>
          </p:nvSpPr>
          <p:spPr bwMode="auto">
            <a:xfrm flipH="1">
              <a:off x="3975" y="1244"/>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14" name="Rectangle 62"/>
            <p:cNvSpPr>
              <a:spLocks noChangeArrowheads="1"/>
            </p:cNvSpPr>
            <p:nvPr/>
          </p:nvSpPr>
          <p:spPr bwMode="auto">
            <a:xfrm rot="5400000">
              <a:off x="4734" y="1577"/>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15" name="Text Box 63"/>
            <p:cNvSpPr txBox="1">
              <a:spLocks noChangeArrowheads="1"/>
            </p:cNvSpPr>
            <p:nvPr/>
          </p:nvSpPr>
          <p:spPr bwMode="auto">
            <a:xfrm>
              <a:off x="4316" y="970"/>
              <a:ext cx="3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Z</a:t>
              </a:r>
              <a:r>
                <a:rPr kumimoji="1" lang="en-US" altLang="zh-CN" b="1" baseline="-25000">
                  <a:latin typeface="Times New Roman" panose="02020603050405020304" pitchFamily="18" charset="0"/>
                </a:rPr>
                <a:t>11</a:t>
              </a:r>
              <a:endParaRPr kumimoji="1" lang="en-US" altLang="zh-CN" b="1">
                <a:latin typeface="Times New Roman" panose="02020603050405020304" pitchFamily="18" charset="0"/>
              </a:endParaRPr>
            </a:p>
          </p:txBody>
        </p:sp>
        <p:sp>
          <p:nvSpPr>
            <p:cNvPr id="740416" name="Freeform 64"/>
            <p:cNvSpPr>
              <a:spLocks/>
            </p:cNvSpPr>
            <p:nvPr/>
          </p:nvSpPr>
          <p:spPr bwMode="auto">
            <a:xfrm>
              <a:off x="3972" y="1241"/>
              <a:ext cx="3" cy="787"/>
            </a:xfrm>
            <a:custGeom>
              <a:avLst/>
              <a:gdLst>
                <a:gd name="T0" fmla="*/ 3 w 3"/>
                <a:gd name="T1" fmla="*/ 0 h 787"/>
                <a:gd name="T2" fmla="*/ 0 w 3"/>
                <a:gd name="T3" fmla="*/ 787 h 787"/>
              </a:gdLst>
              <a:ahLst/>
              <a:cxnLst>
                <a:cxn ang="0">
                  <a:pos x="T0" y="T1"/>
                </a:cxn>
                <a:cxn ang="0">
                  <a:pos x="T2" y="T3"/>
                </a:cxn>
              </a:cxnLst>
              <a:rect l="0" t="0" r="r" b="b"/>
              <a:pathLst>
                <a:path w="3" h="787">
                  <a:moveTo>
                    <a:pt x="3" y="0"/>
                  </a:moveTo>
                  <a:lnTo>
                    <a:pt x="0" y="787"/>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0417" name="Object 65"/>
            <p:cNvGraphicFramePr>
              <a:graphicFrameLocks noChangeAspect="1"/>
            </p:cNvGraphicFramePr>
            <p:nvPr/>
          </p:nvGraphicFramePr>
          <p:xfrm>
            <a:off x="4941" y="1400"/>
            <a:ext cx="470" cy="435"/>
          </p:xfrm>
          <a:graphic>
            <a:graphicData uri="http://schemas.openxmlformats.org/presentationml/2006/ole">
              <mc:AlternateContent xmlns:mc="http://schemas.openxmlformats.org/markup-compatibility/2006">
                <mc:Choice xmlns:v="urn:schemas-microsoft-com:vml" Requires="v">
                  <p:oleObj spid="_x0000_s114798" name="公式" r:id="rId14" imgW="495000" imgH="457200" progId="Equation.3">
                    <p:embed/>
                  </p:oleObj>
                </mc:Choice>
                <mc:Fallback>
                  <p:oleObj name="公式" r:id="rId14" imgW="495000" imgH="457200" progId="Equation.3">
                    <p:embed/>
                    <p:pic>
                      <p:nvPicPr>
                        <p:cNvPr id="740417" name="Object 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41" y="1400"/>
                          <a:ext cx="470"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0418" name="Text Box 66"/>
          <p:cNvSpPr txBox="1">
            <a:spLocks noChangeArrowheads="1"/>
          </p:cNvSpPr>
          <p:nvPr/>
        </p:nvSpPr>
        <p:spPr bwMode="auto">
          <a:xfrm>
            <a:off x="6043613" y="2154238"/>
            <a:ext cx="2524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原边等效电路</a:t>
            </a:r>
          </a:p>
        </p:txBody>
      </p:sp>
      <p:grpSp>
        <p:nvGrpSpPr>
          <p:cNvPr id="740419" name="Group 67"/>
          <p:cNvGrpSpPr>
            <a:grpSpLocks/>
          </p:cNvGrpSpPr>
          <p:nvPr/>
        </p:nvGrpSpPr>
        <p:grpSpPr bwMode="auto">
          <a:xfrm>
            <a:off x="395288" y="3429000"/>
            <a:ext cx="2016125" cy="1355725"/>
            <a:chOff x="240" y="2160"/>
            <a:chExt cx="1178" cy="854"/>
          </a:xfrm>
        </p:grpSpPr>
        <p:sp>
          <p:nvSpPr>
            <p:cNvPr id="740420" name="Text Box 68"/>
            <p:cNvSpPr txBox="1">
              <a:spLocks noChangeArrowheads="1"/>
            </p:cNvSpPr>
            <p:nvPr/>
          </p:nvSpPr>
          <p:spPr bwMode="auto">
            <a:xfrm>
              <a:off x="240" y="2496"/>
              <a:ext cx="117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3300"/>
                  </a:solidFill>
                  <a:latin typeface="Times New Roman" panose="02020603050405020304" pitchFamily="18" charset="0"/>
                </a:rPr>
                <a:t>副边对原边的引入阻抗</a:t>
              </a:r>
              <a:endParaRPr kumimoji="1" lang="zh-CN" altLang="en-US" sz="2400" b="1" i="1" baseline="-25000">
                <a:latin typeface="Times New Roman" panose="02020603050405020304" pitchFamily="18" charset="0"/>
              </a:endParaRPr>
            </a:p>
          </p:txBody>
        </p:sp>
        <p:sp>
          <p:nvSpPr>
            <p:cNvPr id="740421" name="Line 69"/>
            <p:cNvSpPr>
              <a:spLocks noChangeShapeType="1"/>
            </p:cNvSpPr>
            <p:nvPr/>
          </p:nvSpPr>
          <p:spPr bwMode="auto">
            <a:xfrm flipV="1">
              <a:off x="576" y="2160"/>
              <a:ext cx="0" cy="384"/>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40422" name="Group 70"/>
          <p:cNvGrpSpPr>
            <a:grpSpLocks/>
          </p:cNvGrpSpPr>
          <p:nvPr/>
        </p:nvGrpSpPr>
        <p:grpSpPr bwMode="auto">
          <a:xfrm>
            <a:off x="4114800" y="3657600"/>
            <a:ext cx="914400" cy="1355725"/>
            <a:chOff x="2592" y="2304"/>
            <a:chExt cx="576" cy="854"/>
          </a:xfrm>
        </p:grpSpPr>
        <p:sp>
          <p:nvSpPr>
            <p:cNvPr id="740423" name="Text Box 71"/>
            <p:cNvSpPr txBox="1">
              <a:spLocks noChangeArrowheads="1"/>
            </p:cNvSpPr>
            <p:nvPr/>
          </p:nvSpPr>
          <p:spPr bwMode="auto">
            <a:xfrm>
              <a:off x="2592" y="2640"/>
              <a:ext cx="57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3300"/>
                  </a:solidFill>
                  <a:latin typeface="Times New Roman" panose="02020603050405020304" pitchFamily="18" charset="0"/>
                </a:rPr>
                <a:t>引入电阻</a:t>
              </a:r>
              <a:endParaRPr kumimoji="1" lang="zh-CN" altLang="en-US" sz="2400" b="1" i="1" baseline="-25000">
                <a:latin typeface="Times New Roman" panose="02020603050405020304" pitchFamily="18" charset="0"/>
              </a:endParaRPr>
            </a:p>
          </p:txBody>
        </p:sp>
        <p:sp>
          <p:nvSpPr>
            <p:cNvPr id="740424" name="Line 72"/>
            <p:cNvSpPr>
              <a:spLocks noChangeShapeType="1"/>
            </p:cNvSpPr>
            <p:nvPr/>
          </p:nvSpPr>
          <p:spPr bwMode="auto">
            <a:xfrm flipV="1">
              <a:off x="2832" y="2304"/>
              <a:ext cx="0" cy="384"/>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40425" name="Group 73"/>
          <p:cNvGrpSpPr>
            <a:grpSpLocks/>
          </p:cNvGrpSpPr>
          <p:nvPr/>
        </p:nvGrpSpPr>
        <p:grpSpPr bwMode="auto">
          <a:xfrm>
            <a:off x="5943600" y="3581400"/>
            <a:ext cx="914400" cy="1355725"/>
            <a:chOff x="3744" y="2256"/>
            <a:chExt cx="576" cy="854"/>
          </a:xfrm>
        </p:grpSpPr>
        <p:sp>
          <p:nvSpPr>
            <p:cNvPr id="740426" name="Text Box 74"/>
            <p:cNvSpPr txBox="1">
              <a:spLocks noChangeArrowheads="1"/>
            </p:cNvSpPr>
            <p:nvPr/>
          </p:nvSpPr>
          <p:spPr bwMode="auto">
            <a:xfrm>
              <a:off x="3744" y="2592"/>
              <a:ext cx="57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FF3300"/>
                  </a:solidFill>
                  <a:latin typeface="Times New Roman" panose="02020603050405020304" pitchFamily="18" charset="0"/>
                </a:rPr>
                <a:t>引入电抗</a:t>
              </a:r>
              <a:endParaRPr kumimoji="1" lang="zh-CN" altLang="en-US" sz="2400" b="1" i="1" baseline="-25000">
                <a:latin typeface="Times New Roman" panose="02020603050405020304" pitchFamily="18" charset="0"/>
              </a:endParaRPr>
            </a:p>
          </p:txBody>
        </p:sp>
        <p:sp>
          <p:nvSpPr>
            <p:cNvPr id="740427" name="Line 75"/>
            <p:cNvSpPr>
              <a:spLocks noChangeShapeType="1"/>
            </p:cNvSpPr>
            <p:nvPr/>
          </p:nvSpPr>
          <p:spPr bwMode="auto">
            <a:xfrm flipV="1">
              <a:off x="3984" y="2256"/>
              <a:ext cx="0" cy="384"/>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0428" name="Oval 76"/>
          <p:cNvSpPr>
            <a:spLocks noChangeArrowheads="1"/>
          </p:cNvSpPr>
          <p:nvPr/>
        </p:nvSpPr>
        <p:spPr bwMode="auto">
          <a:xfrm>
            <a:off x="5153025" y="2990850"/>
            <a:ext cx="304800" cy="304800"/>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40429" name="Group 77"/>
          <p:cNvGrpSpPr>
            <a:grpSpLocks/>
          </p:cNvGrpSpPr>
          <p:nvPr/>
        </p:nvGrpSpPr>
        <p:grpSpPr bwMode="auto">
          <a:xfrm>
            <a:off x="4103688" y="3357563"/>
            <a:ext cx="3870325" cy="2508250"/>
            <a:chOff x="2544" y="2112"/>
            <a:chExt cx="2438" cy="1580"/>
          </a:xfrm>
        </p:grpSpPr>
        <p:sp>
          <p:nvSpPr>
            <p:cNvPr id="740430" name="Text Box 78"/>
            <p:cNvSpPr txBox="1">
              <a:spLocks noChangeArrowheads="1"/>
            </p:cNvSpPr>
            <p:nvPr/>
          </p:nvSpPr>
          <p:spPr bwMode="auto">
            <a:xfrm>
              <a:off x="2544" y="3168"/>
              <a:ext cx="2438" cy="524"/>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solidFill>
                    <a:srgbClr val="0000FF"/>
                  </a:solidFill>
                  <a:latin typeface="Times New Roman" panose="02020603050405020304" pitchFamily="18" charset="0"/>
                </a:rPr>
                <a:t>负号反映了副边的感性阻抗</a:t>
              </a:r>
            </a:p>
            <a:p>
              <a:pPr algn="l">
                <a:spcBef>
                  <a:spcPct val="0"/>
                </a:spcBef>
              </a:pPr>
              <a:r>
                <a:rPr kumimoji="1" lang="zh-CN" altLang="en-US" sz="2400" b="1">
                  <a:solidFill>
                    <a:srgbClr val="0000FF"/>
                  </a:solidFill>
                  <a:latin typeface="Times New Roman" panose="02020603050405020304" pitchFamily="18" charset="0"/>
                </a:rPr>
                <a:t>反映到原边为一个容性阻抗</a:t>
              </a:r>
            </a:p>
          </p:txBody>
        </p:sp>
        <p:sp>
          <p:nvSpPr>
            <p:cNvPr id="740431" name="Line 79"/>
            <p:cNvSpPr>
              <a:spLocks noChangeShapeType="1"/>
            </p:cNvSpPr>
            <p:nvPr/>
          </p:nvSpPr>
          <p:spPr bwMode="auto">
            <a:xfrm flipV="1">
              <a:off x="3360" y="2112"/>
              <a:ext cx="0" cy="1008"/>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260380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740356"/>
                                        </p:tgtEl>
                                        <p:attrNameLst>
                                          <p:attrName>style.visibility</p:attrName>
                                        </p:attrNameLst>
                                      </p:cBhvr>
                                      <p:to>
                                        <p:strVal val="visible"/>
                                      </p:to>
                                    </p:set>
                                    <p:anim calcmode="lin" valueType="num">
                                      <p:cBhvr>
                                        <p:cTn id="7" dur="500" fill="hold"/>
                                        <p:tgtEl>
                                          <p:spTgt spid="740356"/>
                                        </p:tgtEl>
                                        <p:attrNameLst>
                                          <p:attrName>ppt_w</p:attrName>
                                        </p:attrNameLst>
                                      </p:cBhvr>
                                      <p:tavLst>
                                        <p:tav tm="0">
                                          <p:val>
                                            <p:fltVal val="0"/>
                                          </p:val>
                                        </p:tav>
                                        <p:tav tm="100000">
                                          <p:val>
                                            <p:strVal val="#ppt_w"/>
                                          </p:val>
                                        </p:tav>
                                      </p:tavLst>
                                    </p:anim>
                                    <p:anim calcmode="lin" valueType="num">
                                      <p:cBhvr>
                                        <p:cTn id="8" dur="500" fill="hold"/>
                                        <p:tgtEl>
                                          <p:spTgt spid="74035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740401"/>
                                        </p:tgtEl>
                                        <p:attrNameLst>
                                          <p:attrName>style.visibility</p:attrName>
                                        </p:attrNameLst>
                                      </p:cBhvr>
                                      <p:to>
                                        <p:strVal val="visible"/>
                                      </p:to>
                                    </p:set>
                                    <p:anim calcmode="lin" valueType="num">
                                      <p:cBhvr additive="base">
                                        <p:cTn id="12" dur="500" fill="hold"/>
                                        <p:tgtEl>
                                          <p:spTgt spid="740401"/>
                                        </p:tgtEl>
                                        <p:attrNameLst>
                                          <p:attrName>ppt_x</p:attrName>
                                        </p:attrNameLst>
                                      </p:cBhvr>
                                      <p:tavLst>
                                        <p:tav tm="0">
                                          <p:val>
                                            <p:strVal val="1+#ppt_w/2"/>
                                          </p:val>
                                        </p:tav>
                                        <p:tav tm="100000">
                                          <p:val>
                                            <p:strVal val="#ppt_x"/>
                                          </p:val>
                                        </p:tav>
                                      </p:tavLst>
                                    </p:anim>
                                    <p:anim calcmode="lin" valueType="num">
                                      <p:cBhvr additive="base">
                                        <p:cTn id="13" dur="500" fill="hold"/>
                                        <p:tgtEl>
                                          <p:spTgt spid="740401"/>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9" presetClass="entr" presetSubtype="0" fill="hold" grpId="0" nodeType="afterEffect">
                                  <p:stCondLst>
                                    <p:cond delay="0"/>
                                  </p:stCondLst>
                                  <p:childTnLst>
                                    <p:set>
                                      <p:cBhvr>
                                        <p:cTn id="16" dur="1" fill="hold">
                                          <p:stCondLst>
                                            <p:cond delay="0"/>
                                          </p:stCondLst>
                                        </p:cTn>
                                        <p:tgtEl>
                                          <p:spTgt spid="740418"/>
                                        </p:tgtEl>
                                        <p:attrNameLst>
                                          <p:attrName>style.visibility</p:attrName>
                                        </p:attrNameLst>
                                      </p:cBhvr>
                                      <p:to>
                                        <p:strVal val="visible"/>
                                      </p:to>
                                    </p:set>
                                    <p:animEffect transition="in" filter="dissolve">
                                      <p:cBhvr>
                                        <p:cTn id="17" dur="500"/>
                                        <p:tgtEl>
                                          <p:spTgt spid="7404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740354"/>
                                        </p:tgtEl>
                                        <p:attrNameLst>
                                          <p:attrName>style.visibility</p:attrName>
                                        </p:attrNameLst>
                                      </p:cBhvr>
                                      <p:to>
                                        <p:strVal val="visible"/>
                                      </p:to>
                                    </p:set>
                                    <p:anim calcmode="lin" valueType="num">
                                      <p:cBhvr>
                                        <p:cTn id="22" dur="500" fill="hold"/>
                                        <p:tgtEl>
                                          <p:spTgt spid="740354"/>
                                        </p:tgtEl>
                                        <p:attrNameLst>
                                          <p:attrName>ppt_x</p:attrName>
                                        </p:attrNameLst>
                                      </p:cBhvr>
                                      <p:tavLst>
                                        <p:tav tm="0">
                                          <p:val>
                                            <p:strVal val="#ppt_x-#ppt_w/2"/>
                                          </p:val>
                                        </p:tav>
                                        <p:tav tm="100000">
                                          <p:val>
                                            <p:strVal val="#ppt_x"/>
                                          </p:val>
                                        </p:tav>
                                      </p:tavLst>
                                    </p:anim>
                                    <p:anim calcmode="lin" valueType="num">
                                      <p:cBhvr>
                                        <p:cTn id="23" dur="500" fill="hold"/>
                                        <p:tgtEl>
                                          <p:spTgt spid="740354"/>
                                        </p:tgtEl>
                                        <p:attrNameLst>
                                          <p:attrName>ppt_y</p:attrName>
                                        </p:attrNameLst>
                                      </p:cBhvr>
                                      <p:tavLst>
                                        <p:tav tm="0">
                                          <p:val>
                                            <p:strVal val="#ppt_y"/>
                                          </p:val>
                                        </p:tav>
                                        <p:tav tm="100000">
                                          <p:val>
                                            <p:strVal val="#ppt_y"/>
                                          </p:val>
                                        </p:tav>
                                      </p:tavLst>
                                    </p:anim>
                                    <p:anim calcmode="lin" valueType="num">
                                      <p:cBhvr>
                                        <p:cTn id="24" dur="500" fill="hold"/>
                                        <p:tgtEl>
                                          <p:spTgt spid="740354"/>
                                        </p:tgtEl>
                                        <p:attrNameLst>
                                          <p:attrName>ppt_w</p:attrName>
                                        </p:attrNameLst>
                                      </p:cBhvr>
                                      <p:tavLst>
                                        <p:tav tm="0">
                                          <p:val>
                                            <p:fltVal val="0"/>
                                          </p:val>
                                        </p:tav>
                                        <p:tav tm="100000">
                                          <p:val>
                                            <p:strVal val="#ppt_w"/>
                                          </p:val>
                                        </p:tav>
                                      </p:tavLst>
                                    </p:anim>
                                    <p:anim calcmode="lin" valueType="num">
                                      <p:cBhvr>
                                        <p:cTn id="25" dur="500" fill="hold"/>
                                        <p:tgtEl>
                                          <p:spTgt spid="740354"/>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40419"/>
                                        </p:tgtEl>
                                        <p:attrNameLst>
                                          <p:attrName>style.visibility</p:attrName>
                                        </p:attrNameLst>
                                      </p:cBhvr>
                                      <p:to>
                                        <p:strVal val="visible"/>
                                      </p:to>
                                    </p:set>
                                    <p:animEffect transition="in" filter="wipe(up)">
                                      <p:cBhvr>
                                        <p:cTn id="30" dur="500"/>
                                        <p:tgtEl>
                                          <p:spTgt spid="7404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740422"/>
                                        </p:tgtEl>
                                        <p:attrNameLst>
                                          <p:attrName>style.visibility</p:attrName>
                                        </p:attrNameLst>
                                      </p:cBhvr>
                                      <p:to>
                                        <p:strVal val="visible"/>
                                      </p:to>
                                    </p:set>
                                    <p:animEffect transition="in" filter="wipe(up)">
                                      <p:cBhvr>
                                        <p:cTn id="35" dur="500"/>
                                        <p:tgtEl>
                                          <p:spTgt spid="7404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740425"/>
                                        </p:tgtEl>
                                        <p:attrNameLst>
                                          <p:attrName>style.visibility</p:attrName>
                                        </p:attrNameLst>
                                      </p:cBhvr>
                                      <p:to>
                                        <p:strVal val="visible"/>
                                      </p:to>
                                    </p:set>
                                    <p:animEffect transition="in" filter="wipe(up)">
                                      <p:cBhvr>
                                        <p:cTn id="40" dur="500"/>
                                        <p:tgtEl>
                                          <p:spTgt spid="7404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nodeType="clickEffect">
                                  <p:stCondLst>
                                    <p:cond delay="0"/>
                                  </p:stCondLst>
                                  <p:childTnLst>
                                    <p:set>
                                      <p:cBhvr>
                                        <p:cTn id="44" dur="1" fill="hold">
                                          <p:stCondLst>
                                            <p:cond delay="0"/>
                                          </p:stCondLst>
                                        </p:cTn>
                                        <p:tgtEl>
                                          <p:spTgt spid="740428"/>
                                        </p:tgtEl>
                                        <p:attrNameLst>
                                          <p:attrName>style.visibility</p:attrName>
                                        </p:attrNameLst>
                                      </p:cBhvr>
                                      <p:to>
                                        <p:strVal val="visible"/>
                                      </p:to>
                                    </p:set>
                                    <p:animEffect transition="in" filter="wipe(right)">
                                      <p:cBhvr>
                                        <p:cTn id="45" dur="500"/>
                                        <p:tgtEl>
                                          <p:spTgt spid="7404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740429"/>
                                        </p:tgtEl>
                                        <p:attrNameLst>
                                          <p:attrName>style.visibility</p:attrName>
                                        </p:attrNameLst>
                                      </p:cBhvr>
                                      <p:to>
                                        <p:strVal val="visible"/>
                                      </p:to>
                                    </p:set>
                                    <p:animEffect transition="in" filter="wipe(up)">
                                      <p:cBhvr>
                                        <p:cTn id="50" dur="500"/>
                                        <p:tgtEl>
                                          <p:spTgt spid="740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41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0355" name="Object 3"/>
          <p:cNvGraphicFramePr>
            <a:graphicFrameLocks noChangeAspect="1"/>
          </p:cNvGraphicFramePr>
          <p:nvPr>
            <p:extLst>
              <p:ext uri="{D42A27DB-BD31-4B8C-83A1-F6EECF244321}">
                <p14:modId xmlns:p14="http://schemas.microsoft.com/office/powerpoint/2010/main" val="2715711047"/>
              </p:ext>
            </p:extLst>
          </p:nvPr>
        </p:nvGraphicFramePr>
        <p:xfrm>
          <a:off x="457993" y="2795895"/>
          <a:ext cx="4249737" cy="442913"/>
        </p:xfrm>
        <a:graphic>
          <a:graphicData uri="http://schemas.openxmlformats.org/presentationml/2006/ole">
            <mc:AlternateContent xmlns:mc="http://schemas.openxmlformats.org/markup-compatibility/2006">
              <mc:Choice xmlns:v="urn:schemas-microsoft-com:vml" Requires="v">
                <p:oleObj spid="_x0000_s122902" name="公式" r:id="rId4" imgW="2197080" imgH="228600" progId="Equation.3">
                  <p:embed/>
                </p:oleObj>
              </mc:Choice>
              <mc:Fallback>
                <p:oleObj name="公式" r:id="rId4" imgW="2197080" imgH="228600" progId="Equation.3">
                  <p:embed/>
                  <p:pic>
                    <p:nvPicPr>
                      <p:cNvPr id="74035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993" y="2795895"/>
                        <a:ext cx="4249737"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40356" name="Group 4"/>
          <p:cNvGrpSpPr>
            <a:grpSpLocks/>
          </p:cNvGrpSpPr>
          <p:nvPr/>
        </p:nvGrpSpPr>
        <p:grpSpPr bwMode="auto">
          <a:xfrm>
            <a:off x="533400" y="296863"/>
            <a:ext cx="5238750" cy="1844675"/>
            <a:chOff x="852" y="895"/>
            <a:chExt cx="3300" cy="1162"/>
          </a:xfrm>
        </p:grpSpPr>
        <p:sp>
          <p:nvSpPr>
            <p:cNvPr id="740357" name="Line 5"/>
            <p:cNvSpPr>
              <a:spLocks noChangeShapeType="1"/>
            </p:cNvSpPr>
            <p:nvPr/>
          </p:nvSpPr>
          <p:spPr bwMode="auto">
            <a:xfrm flipH="1">
              <a:off x="2098" y="1780"/>
              <a:ext cx="2" cy="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58" name="Line 6"/>
            <p:cNvSpPr>
              <a:spLocks noChangeShapeType="1"/>
            </p:cNvSpPr>
            <p:nvPr/>
          </p:nvSpPr>
          <p:spPr bwMode="auto">
            <a:xfrm>
              <a:off x="2095" y="1270"/>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59" name="Line 7"/>
            <p:cNvSpPr>
              <a:spLocks noChangeShapeType="1"/>
            </p:cNvSpPr>
            <p:nvPr/>
          </p:nvSpPr>
          <p:spPr bwMode="auto">
            <a:xfrm flipH="1">
              <a:off x="2438" y="1806"/>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0" name="Line 8"/>
            <p:cNvSpPr>
              <a:spLocks noChangeShapeType="1"/>
            </p:cNvSpPr>
            <p:nvPr/>
          </p:nvSpPr>
          <p:spPr bwMode="auto">
            <a:xfrm>
              <a:off x="2439" y="1283"/>
              <a:ext cx="0" cy="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1" name="Line 9"/>
            <p:cNvSpPr>
              <a:spLocks noChangeShapeType="1"/>
            </p:cNvSpPr>
            <p:nvPr/>
          </p:nvSpPr>
          <p:spPr bwMode="auto">
            <a:xfrm flipV="1">
              <a:off x="1795" y="1273"/>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2" name="Line 10"/>
            <p:cNvSpPr>
              <a:spLocks noChangeShapeType="1"/>
            </p:cNvSpPr>
            <p:nvPr/>
          </p:nvSpPr>
          <p:spPr bwMode="auto">
            <a:xfrm flipV="1">
              <a:off x="2439" y="2051"/>
              <a:ext cx="8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3" name="Line 11"/>
            <p:cNvSpPr>
              <a:spLocks noChangeShapeType="1"/>
            </p:cNvSpPr>
            <p:nvPr/>
          </p:nvSpPr>
          <p:spPr bwMode="auto">
            <a:xfrm>
              <a:off x="3415" y="1292"/>
              <a:ext cx="0" cy="24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64" name="Text Box 12"/>
            <p:cNvSpPr txBox="1">
              <a:spLocks noChangeArrowheads="1"/>
            </p:cNvSpPr>
            <p:nvPr/>
          </p:nvSpPr>
          <p:spPr bwMode="auto">
            <a:xfrm>
              <a:off x="2063" y="126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solidFill>
                    <a:srgbClr val="FF3300"/>
                  </a:solidFill>
                  <a:latin typeface="Times New Roman" panose="02020603050405020304" pitchFamily="18" charset="0"/>
                </a:rPr>
                <a:t>*</a:t>
              </a:r>
            </a:p>
          </p:txBody>
        </p:sp>
        <p:sp>
          <p:nvSpPr>
            <p:cNvPr id="740365" name="Text Box 13"/>
            <p:cNvSpPr txBox="1">
              <a:spLocks noChangeArrowheads="1"/>
            </p:cNvSpPr>
            <p:nvPr/>
          </p:nvSpPr>
          <p:spPr bwMode="auto">
            <a:xfrm>
              <a:off x="2251" y="1279"/>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dirty="0">
                  <a:solidFill>
                    <a:srgbClr val="FF3300"/>
                  </a:solidFill>
                  <a:latin typeface="Times New Roman" panose="02020603050405020304" pitchFamily="18" charset="0"/>
                </a:rPr>
                <a:t>*</a:t>
              </a:r>
            </a:p>
          </p:txBody>
        </p:sp>
        <p:sp>
          <p:nvSpPr>
            <p:cNvPr id="740366" name="Text Box 14"/>
            <p:cNvSpPr txBox="1">
              <a:spLocks noChangeArrowheads="1"/>
            </p:cNvSpPr>
            <p:nvPr/>
          </p:nvSpPr>
          <p:spPr bwMode="auto">
            <a:xfrm>
              <a:off x="1607" y="1529"/>
              <a:ext cx="4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dirty="0">
                  <a:latin typeface="Times New Roman" panose="02020603050405020304" pitchFamily="18" charset="0"/>
                </a:rPr>
                <a:t>j</a:t>
              </a:r>
              <a:r>
                <a:rPr kumimoji="1" lang="en-US" altLang="zh-CN" b="1" i="1" dirty="0">
                  <a:latin typeface="Times New Roman" panose="02020603050405020304" pitchFamily="18" charset="0"/>
                  <a:sym typeface="Symbol" panose="05050102010706020507" pitchFamily="18" charset="2"/>
                </a:rPr>
                <a:t> </a:t>
              </a:r>
              <a:r>
                <a:rPr kumimoji="1" lang="en-US" altLang="zh-CN" b="1" i="1" dirty="0">
                  <a:latin typeface="Times New Roman" panose="02020603050405020304" pitchFamily="18" charset="0"/>
                </a:rPr>
                <a:t>L</a:t>
              </a:r>
              <a:r>
                <a:rPr kumimoji="1" lang="en-US" altLang="zh-CN" b="1" baseline="-25000" dirty="0">
                  <a:latin typeface="Times New Roman" panose="02020603050405020304" pitchFamily="18" charset="0"/>
                </a:rPr>
                <a:t>1</a:t>
              </a:r>
              <a:endParaRPr kumimoji="1" lang="en-US" altLang="zh-CN" b="1" dirty="0">
                <a:latin typeface="Times New Roman" panose="02020603050405020304" pitchFamily="18" charset="0"/>
              </a:endParaRPr>
            </a:p>
          </p:txBody>
        </p:sp>
        <p:sp>
          <p:nvSpPr>
            <p:cNvPr id="740367" name="Line 15"/>
            <p:cNvSpPr>
              <a:spLocks noChangeShapeType="1"/>
            </p:cNvSpPr>
            <p:nvPr/>
          </p:nvSpPr>
          <p:spPr bwMode="auto">
            <a:xfrm>
              <a:off x="1268" y="1193"/>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40368" name="Group 16"/>
            <p:cNvGrpSpPr>
              <a:grpSpLocks/>
            </p:cNvGrpSpPr>
            <p:nvPr/>
          </p:nvGrpSpPr>
          <p:grpSpPr bwMode="auto">
            <a:xfrm rot="16200000" flipH="1">
              <a:off x="2274" y="1633"/>
              <a:ext cx="299" cy="49"/>
              <a:chOff x="1200" y="1584"/>
              <a:chExt cx="379" cy="45"/>
            </a:xfrm>
          </p:grpSpPr>
          <p:sp>
            <p:nvSpPr>
              <p:cNvPr id="740369" name="Arc 1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0" name="Arc 1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1" name="Arc 1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2" name="Arc 2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0373" name="Group 21"/>
            <p:cNvGrpSpPr>
              <a:grpSpLocks/>
            </p:cNvGrpSpPr>
            <p:nvPr/>
          </p:nvGrpSpPr>
          <p:grpSpPr bwMode="auto">
            <a:xfrm rot="5400000">
              <a:off x="1975" y="1621"/>
              <a:ext cx="299" cy="48"/>
              <a:chOff x="1200" y="1584"/>
              <a:chExt cx="379" cy="45"/>
            </a:xfrm>
          </p:grpSpPr>
          <p:sp>
            <p:nvSpPr>
              <p:cNvPr id="740374" name="Arc 2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5" name="Arc 2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6" name="Arc 2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7" name="Arc 2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0378" name="Arc 26"/>
            <p:cNvSpPr>
              <a:spLocks/>
            </p:cNvSpPr>
            <p:nvPr/>
          </p:nvSpPr>
          <p:spPr bwMode="auto">
            <a:xfrm rot="10800000" flipV="1">
              <a:off x="2060" y="1124"/>
              <a:ext cx="166" cy="163"/>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79" name="Arc 27"/>
            <p:cNvSpPr>
              <a:spLocks/>
            </p:cNvSpPr>
            <p:nvPr/>
          </p:nvSpPr>
          <p:spPr bwMode="auto">
            <a:xfrm rot="-10800000" flipH="1" flipV="1">
              <a:off x="2286" y="1127"/>
              <a:ext cx="167" cy="162"/>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80" name="Line 28"/>
            <p:cNvSpPr>
              <a:spLocks noChangeShapeType="1"/>
            </p:cNvSpPr>
            <p:nvPr/>
          </p:nvSpPr>
          <p:spPr bwMode="auto">
            <a:xfrm>
              <a:off x="2438" y="1283"/>
              <a:ext cx="31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0381" name="Object 29"/>
            <p:cNvGraphicFramePr>
              <a:graphicFrameLocks noChangeAspect="1"/>
            </p:cNvGraphicFramePr>
            <p:nvPr/>
          </p:nvGraphicFramePr>
          <p:xfrm>
            <a:off x="1306" y="895"/>
            <a:ext cx="192" cy="282"/>
          </p:xfrm>
          <a:graphic>
            <a:graphicData uri="http://schemas.openxmlformats.org/presentationml/2006/ole">
              <mc:AlternateContent xmlns:mc="http://schemas.openxmlformats.org/markup-compatibility/2006">
                <mc:Choice xmlns:v="urn:schemas-microsoft-com:vml" Requires="v">
                  <p:oleObj spid="_x0000_s122903" name="公式" r:id="rId6" imgW="177480" imgH="279360" progId="Equation.3">
                    <p:embed/>
                  </p:oleObj>
                </mc:Choice>
                <mc:Fallback>
                  <p:oleObj name="公式" r:id="rId6" imgW="177480" imgH="279360" progId="Equation.3">
                    <p:embed/>
                    <p:pic>
                      <p:nvPicPr>
                        <p:cNvPr id="740381"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 y="895"/>
                          <a:ext cx="19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0382" name="Object 30"/>
            <p:cNvGraphicFramePr>
              <a:graphicFrameLocks noChangeAspect="1"/>
            </p:cNvGraphicFramePr>
            <p:nvPr/>
          </p:nvGraphicFramePr>
          <p:xfrm>
            <a:off x="3445" y="1234"/>
            <a:ext cx="209" cy="282"/>
          </p:xfrm>
          <a:graphic>
            <a:graphicData uri="http://schemas.openxmlformats.org/presentationml/2006/ole">
              <mc:AlternateContent xmlns:mc="http://schemas.openxmlformats.org/markup-compatibility/2006">
                <mc:Choice xmlns:v="urn:schemas-microsoft-com:vml" Requires="v">
                  <p:oleObj spid="_x0000_s122904" name="公式" r:id="rId8" imgW="190440" imgH="279360" progId="Equation.3">
                    <p:embed/>
                  </p:oleObj>
                </mc:Choice>
                <mc:Fallback>
                  <p:oleObj name="公式" r:id="rId8" imgW="190440" imgH="279360" progId="Equation.3">
                    <p:embed/>
                    <p:pic>
                      <p:nvPicPr>
                        <p:cNvPr id="740382"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5" y="1234"/>
                          <a:ext cx="209"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383" name="Text Box 31"/>
            <p:cNvSpPr txBox="1">
              <a:spLocks noChangeArrowheads="1"/>
            </p:cNvSpPr>
            <p:nvPr/>
          </p:nvSpPr>
          <p:spPr bwMode="auto">
            <a:xfrm>
              <a:off x="2433" y="1514"/>
              <a:ext cx="4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L</a:t>
              </a:r>
              <a:r>
                <a:rPr kumimoji="1" lang="en-US" altLang="zh-CN" b="1" baseline="-25000">
                  <a:latin typeface="Times New Roman" panose="02020603050405020304" pitchFamily="18" charset="0"/>
                </a:rPr>
                <a:t>2</a:t>
              </a:r>
              <a:endParaRPr kumimoji="1" lang="en-US" altLang="zh-CN" b="1">
                <a:latin typeface="Times New Roman" panose="02020603050405020304" pitchFamily="18" charset="0"/>
              </a:endParaRPr>
            </a:p>
          </p:txBody>
        </p:sp>
        <p:sp>
          <p:nvSpPr>
            <p:cNvPr id="740384" name="Text Box 32"/>
            <p:cNvSpPr txBox="1">
              <a:spLocks noChangeArrowheads="1"/>
            </p:cNvSpPr>
            <p:nvPr/>
          </p:nvSpPr>
          <p:spPr bwMode="auto">
            <a:xfrm>
              <a:off x="2015" y="906"/>
              <a:ext cx="4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b="1">
                  <a:latin typeface="Times New Roman" panose="02020603050405020304" pitchFamily="18" charset="0"/>
                </a:rPr>
                <a:t>j</a:t>
              </a:r>
              <a:r>
                <a:rPr kumimoji="1" lang="en-US" altLang="zh-CN" b="1" i="1">
                  <a:latin typeface="Times New Roman" panose="02020603050405020304" pitchFamily="18" charset="0"/>
                  <a:sym typeface="Symbol" panose="05050102010706020507" pitchFamily="18" charset="2"/>
                </a:rPr>
                <a:t> </a:t>
              </a:r>
              <a:r>
                <a:rPr kumimoji="1" lang="en-US" altLang="zh-CN" b="1" i="1">
                  <a:latin typeface="Times New Roman" panose="02020603050405020304" pitchFamily="18" charset="0"/>
                </a:rPr>
                <a:t>M</a:t>
              </a:r>
              <a:endParaRPr kumimoji="1" lang="en-US" altLang="zh-CN" b="1">
                <a:latin typeface="Times New Roman" panose="02020603050405020304" pitchFamily="18" charset="0"/>
              </a:endParaRPr>
            </a:p>
          </p:txBody>
        </p:sp>
        <p:sp>
          <p:nvSpPr>
            <p:cNvPr id="740385" name="Line 33"/>
            <p:cNvSpPr>
              <a:spLocks noChangeShapeType="1"/>
            </p:cNvSpPr>
            <p:nvPr/>
          </p:nvSpPr>
          <p:spPr bwMode="auto">
            <a:xfrm flipH="1">
              <a:off x="1227" y="2050"/>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86" name="Text Box 34"/>
            <p:cNvSpPr txBox="1">
              <a:spLocks noChangeArrowheads="1"/>
            </p:cNvSpPr>
            <p:nvPr/>
          </p:nvSpPr>
          <p:spPr bwMode="auto">
            <a:xfrm>
              <a:off x="1043" y="1246"/>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40387" name="Text Box 35"/>
            <p:cNvSpPr txBox="1">
              <a:spLocks noChangeArrowheads="1"/>
            </p:cNvSpPr>
            <p:nvPr/>
          </p:nvSpPr>
          <p:spPr bwMode="auto">
            <a:xfrm>
              <a:off x="1037" y="1642"/>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a:t>
              </a:r>
            </a:p>
          </p:txBody>
        </p:sp>
        <p:graphicFrame>
          <p:nvGraphicFramePr>
            <p:cNvPr id="740388" name="Object 36"/>
            <p:cNvGraphicFramePr>
              <a:graphicFrameLocks noChangeAspect="1"/>
            </p:cNvGraphicFramePr>
            <p:nvPr/>
          </p:nvGraphicFramePr>
          <p:xfrm>
            <a:off x="852" y="1382"/>
            <a:ext cx="253" cy="337"/>
          </p:xfrm>
          <a:graphic>
            <a:graphicData uri="http://schemas.openxmlformats.org/presentationml/2006/ole">
              <mc:AlternateContent xmlns:mc="http://schemas.openxmlformats.org/markup-compatibility/2006">
                <mc:Choice xmlns:v="urn:schemas-microsoft-com:vml" Requires="v">
                  <p:oleObj spid="_x0000_s122905" name="公式" r:id="rId10" imgW="228600" imgH="279360" progId="Equation.3">
                    <p:embed/>
                  </p:oleObj>
                </mc:Choice>
                <mc:Fallback>
                  <p:oleObj name="公式" r:id="rId10" imgW="228600" imgH="279360" progId="Equation.3">
                    <p:embed/>
                    <p:pic>
                      <p:nvPicPr>
                        <p:cNvPr id="740388"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2" y="1382"/>
                          <a:ext cx="253"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0389" name="Rectangle 37"/>
            <p:cNvSpPr>
              <a:spLocks noChangeArrowheads="1"/>
            </p:cNvSpPr>
            <p:nvPr/>
          </p:nvSpPr>
          <p:spPr bwMode="auto">
            <a:xfrm>
              <a:off x="1568" y="1237"/>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0" name="Oval 38"/>
            <p:cNvSpPr>
              <a:spLocks noChangeArrowheads="1"/>
            </p:cNvSpPr>
            <p:nvPr/>
          </p:nvSpPr>
          <p:spPr bwMode="auto">
            <a:xfrm>
              <a:off x="1113" y="1488"/>
              <a:ext cx="227" cy="22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1" name="Line 39"/>
            <p:cNvSpPr>
              <a:spLocks noChangeShapeType="1"/>
            </p:cNvSpPr>
            <p:nvPr/>
          </p:nvSpPr>
          <p:spPr bwMode="auto">
            <a:xfrm>
              <a:off x="1227" y="1264"/>
              <a:ext cx="0" cy="7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2" name="Line 40"/>
            <p:cNvSpPr>
              <a:spLocks noChangeShapeType="1"/>
            </p:cNvSpPr>
            <p:nvPr/>
          </p:nvSpPr>
          <p:spPr bwMode="auto">
            <a:xfrm flipH="1">
              <a:off x="1227" y="1269"/>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3" name="Rectangle 41"/>
            <p:cNvSpPr>
              <a:spLocks noChangeArrowheads="1"/>
            </p:cNvSpPr>
            <p:nvPr/>
          </p:nvSpPr>
          <p:spPr bwMode="auto">
            <a:xfrm>
              <a:off x="2754" y="1248"/>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4" name="Rectangle 42"/>
            <p:cNvSpPr>
              <a:spLocks noChangeArrowheads="1"/>
            </p:cNvSpPr>
            <p:nvPr/>
          </p:nvSpPr>
          <p:spPr bwMode="auto">
            <a:xfrm rot="5400000">
              <a:off x="3197" y="1614"/>
              <a:ext cx="227" cy="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5" name="Line 43"/>
            <p:cNvSpPr>
              <a:spLocks noChangeShapeType="1"/>
            </p:cNvSpPr>
            <p:nvPr/>
          </p:nvSpPr>
          <p:spPr bwMode="auto">
            <a:xfrm>
              <a:off x="3314" y="1761"/>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6" name="Line 44"/>
            <p:cNvSpPr>
              <a:spLocks noChangeShapeType="1"/>
            </p:cNvSpPr>
            <p:nvPr/>
          </p:nvSpPr>
          <p:spPr bwMode="auto">
            <a:xfrm flipV="1">
              <a:off x="3314" y="1289"/>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7" name="Line 45"/>
            <p:cNvSpPr>
              <a:spLocks noChangeShapeType="1"/>
            </p:cNvSpPr>
            <p:nvPr/>
          </p:nvSpPr>
          <p:spPr bwMode="auto">
            <a:xfrm>
              <a:off x="2981" y="1289"/>
              <a:ext cx="3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98" name="Text Box 46"/>
            <p:cNvSpPr txBox="1">
              <a:spLocks noChangeArrowheads="1"/>
            </p:cNvSpPr>
            <p:nvPr/>
          </p:nvSpPr>
          <p:spPr bwMode="auto">
            <a:xfrm>
              <a:off x="1568" y="995"/>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R</a:t>
              </a:r>
              <a:r>
                <a:rPr kumimoji="1" lang="en-US" altLang="zh-CN" b="1" baseline="-25000">
                  <a:latin typeface="Times New Roman" panose="02020603050405020304" pitchFamily="18" charset="0"/>
                </a:rPr>
                <a:t>1</a:t>
              </a:r>
              <a:endParaRPr kumimoji="1" lang="en-US" altLang="zh-CN" b="1">
                <a:latin typeface="Times New Roman" panose="02020603050405020304" pitchFamily="18" charset="0"/>
              </a:endParaRPr>
            </a:p>
          </p:txBody>
        </p:sp>
        <p:sp>
          <p:nvSpPr>
            <p:cNvPr id="740399" name="Text Box 47"/>
            <p:cNvSpPr txBox="1">
              <a:spLocks noChangeArrowheads="1"/>
            </p:cNvSpPr>
            <p:nvPr/>
          </p:nvSpPr>
          <p:spPr bwMode="auto">
            <a:xfrm>
              <a:off x="2745" y="995"/>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R</a:t>
              </a:r>
              <a:r>
                <a:rPr kumimoji="1" lang="en-US" altLang="zh-CN" b="1" baseline="-25000">
                  <a:latin typeface="Times New Roman" panose="02020603050405020304" pitchFamily="18" charset="0"/>
                </a:rPr>
                <a:t>2</a:t>
              </a:r>
              <a:endParaRPr kumimoji="1" lang="en-US" altLang="zh-CN" b="1">
                <a:latin typeface="Times New Roman" panose="02020603050405020304" pitchFamily="18" charset="0"/>
              </a:endParaRPr>
            </a:p>
          </p:txBody>
        </p:sp>
        <p:sp>
          <p:nvSpPr>
            <p:cNvPr id="740400" name="Text Box 48"/>
            <p:cNvSpPr txBox="1">
              <a:spLocks noChangeArrowheads="1"/>
            </p:cNvSpPr>
            <p:nvPr/>
          </p:nvSpPr>
          <p:spPr bwMode="auto">
            <a:xfrm>
              <a:off x="3338" y="1549"/>
              <a:ext cx="8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b="1" i="1">
                  <a:latin typeface="Times New Roman" panose="02020603050405020304" pitchFamily="18" charset="0"/>
                </a:rPr>
                <a:t>Z=R+</a:t>
              </a:r>
              <a:r>
                <a:rPr kumimoji="1" lang="en-US" altLang="zh-CN" b="1">
                  <a:latin typeface="Times New Roman" panose="02020603050405020304" pitchFamily="18" charset="0"/>
                </a:rPr>
                <a:t>j</a:t>
              </a:r>
              <a:r>
                <a:rPr kumimoji="1" lang="en-US" altLang="zh-CN" b="1" i="1">
                  <a:latin typeface="Times New Roman" panose="02020603050405020304" pitchFamily="18" charset="0"/>
                </a:rPr>
                <a:t>X</a:t>
              </a:r>
              <a:endParaRPr kumimoji="1" lang="en-US" altLang="zh-CN" b="1">
                <a:latin typeface="Times New Roman" panose="02020603050405020304" pitchFamily="18" charset="0"/>
              </a:endParaRPr>
            </a:p>
          </p:txBody>
        </p:sp>
      </p:grpSp>
      <p:graphicFrame>
        <p:nvGraphicFramePr>
          <p:cNvPr id="80" name="Object 73"/>
          <p:cNvGraphicFramePr>
            <a:graphicFrameLocks noChangeAspect="1"/>
          </p:cNvGraphicFramePr>
          <p:nvPr>
            <p:extLst>
              <p:ext uri="{D42A27DB-BD31-4B8C-83A1-F6EECF244321}">
                <p14:modId xmlns:p14="http://schemas.microsoft.com/office/powerpoint/2010/main" val="553251191"/>
              </p:ext>
            </p:extLst>
          </p:nvPr>
        </p:nvGraphicFramePr>
        <p:xfrm>
          <a:off x="5545138" y="2554594"/>
          <a:ext cx="2322512" cy="925513"/>
        </p:xfrm>
        <a:graphic>
          <a:graphicData uri="http://schemas.openxmlformats.org/presentationml/2006/ole">
            <mc:AlternateContent xmlns:mc="http://schemas.openxmlformats.org/markup-compatibility/2006">
              <mc:Choice xmlns:v="urn:schemas-microsoft-com:vml" Requires="v">
                <p:oleObj spid="_x0000_s122906" name="Equation" r:id="rId12" imgW="1307880" imgH="520560" progId="Equation.DSMT4">
                  <p:embed/>
                </p:oleObj>
              </mc:Choice>
              <mc:Fallback>
                <p:oleObj name="Equation" r:id="rId12" imgW="1307880" imgH="520560" progId="Equation.DSMT4">
                  <p:embed/>
                  <p:pic>
                    <p:nvPicPr>
                      <p:cNvPr id="738377" name="Object 73"/>
                      <p:cNvPicPr>
                        <a:picLocks noChangeAspect="1" noChangeArrowheads="1"/>
                      </p:cNvPicPr>
                      <p:nvPr/>
                    </p:nvPicPr>
                    <p:blipFill>
                      <a:blip r:embed="rId13"/>
                      <a:srcRect/>
                      <a:stretch>
                        <a:fillRect/>
                      </a:stretch>
                    </p:blipFill>
                    <p:spPr bwMode="auto">
                      <a:xfrm>
                        <a:off x="5545138" y="2554594"/>
                        <a:ext cx="2322512" cy="92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 name="AutoShape 121"/>
          <p:cNvSpPr>
            <a:spLocks noChangeArrowheads="1"/>
          </p:cNvSpPr>
          <p:nvPr/>
        </p:nvSpPr>
        <p:spPr bwMode="auto">
          <a:xfrm>
            <a:off x="4806681" y="2929630"/>
            <a:ext cx="673100" cy="246062"/>
          </a:xfrm>
          <a:prstGeom prst="rightArrow">
            <a:avLst>
              <a:gd name="adj1" fmla="val 50000"/>
              <a:gd name="adj2" fmla="val 68387"/>
            </a:avLst>
          </a:prstGeom>
          <a:solidFill>
            <a:srgbClr val="FF33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Text Box 4"/>
          <p:cNvSpPr txBox="1">
            <a:spLocks noChangeArrowheads="1"/>
          </p:cNvSpPr>
          <p:nvPr/>
        </p:nvSpPr>
        <p:spPr bwMode="auto">
          <a:xfrm>
            <a:off x="276847" y="3727451"/>
            <a:ext cx="8318843" cy="193899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spcBef>
                <a:spcPct val="0"/>
              </a:spcBef>
              <a:buFont typeface="Wingdings" panose="05000000000000000000" pitchFamily="2" charset="2"/>
              <a:buChar char="l"/>
            </a:pPr>
            <a:r>
              <a:rPr kumimoji="1" lang="en-US" altLang="zh-CN" sz="2400" b="1" dirty="0" smtClean="0">
                <a:latin typeface="Times New Roman" panose="02020603050405020304" pitchFamily="18" charset="0"/>
              </a:rPr>
              <a:t>R</a:t>
            </a:r>
            <a:r>
              <a:rPr kumimoji="1" lang="zh-CN" altLang="en-US" sz="2400" b="1" dirty="0" smtClean="0">
                <a:latin typeface="Times New Roman" panose="02020603050405020304" pitchFamily="18" charset="0"/>
              </a:rPr>
              <a:t>为线圈内阻，一般情况下较小；空心线圈</a:t>
            </a:r>
            <a:r>
              <a:rPr kumimoji="1" lang="en-US" altLang="zh-CN" sz="2400" b="1" dirty="0" smtClean="0">
                <a:latin typeface="Times New Roman" panose="02020603050405020304" pitchFamily="18" charset="0"/>
              </a:rPr>
              <a:t>L</a:t>
            </a:r>
            <a:r>
              <a:rPr kumimoji="1" lang="zh-CN" altLang="en-US" sz="2400" b="1" dirty="0" smtClean="0">
                <a:latin typeface="Times New Roman" panose="02020603050405020304" pitchFamily="18" charset="0"/>
              </a:rPr>
              <a:t>较小，为避免空载电流太大，只适用于高频场合。</a:t>
            </a:r>
            <a:endParaRPr kumimoji="1" lang="en-US" altLang="zh-CN" sz="2400" b="1" dirty="0" smtClean="0">
              <a:latin typeface="Times New Roman" panose="02020603050405020304" pitchFamily="18" charset="0"/>
            </a:endParaRPr>
          </a:p>
          <a:p>
            <a:pPr marL="342900" indent="-342900" algn="l">
              <a:spcBef>
                <a:spcPct val="0"/>
              </a:spcBef>
              <a:buFont typeface="Wingdings" panose="05000000000000000000" pitchFamily="2" charset="2"/>
              <a:buChar char="l"/>
            </a:pPr>
            <a:r>
              <a:rPr lang="zh-CN" altLang="en-US" b="1" dirty="0" smtClean="0"/>
              <a:t>为了提高线圈的自感系数，使其能够应用于低频场合，常采用磁导率高的铁合金磁心，且合理增加线圈匝数，这就是</a:t>
            </a:r>
            <a:r>
              <a:rPr lang="zh-CN" altLang="en-US" b="1" dirty="0" smtClean="0">
                <a:solidFill>
                  <a:srgbClr val="FF0000"/>
                </a:solidFill>
              </a:rPr>
              <a:t>铁心变压器</a:t>
            </a:r>
            <a:endParaRPr kumimoji="1" lang="en-US" altLang="zh-CN" sz="2400" b="1" dirty="0">
              <a:solidFill>
                <a:srgbClr val="FF0000"/>
              </a:solidFill>
            </a:endParaRPr>
          </a:p>
        </p:txBody>
      </p:sp>
    </p:spTree>
    <p:extLst>
      <p:ext uri="{BB962C8B-B14F-4D97-AF65-F5344CB8AC3E}">
        <p14:creationId xmlns:p14="http://schemas.microsoft.com/office/powerpoint/2010/main" val="2096715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740356"/>
                                        </p:tgtEl>
                                        <p:attrNameLst>
                                          <p:attrName>style.visibility</p:attrName>
                                        </p:attrNameLst>
                                      </p:cBhvr>
                                      <p:to>
                                        <p:strVal val="visible"/>
                                      </p:to>
                                    </p:set>
                                    <p:anim calcmode="lin" valueType="num">
                                      <p:cBhvr>
                                        <p:cTn id="7" dur="500" fill="hold"/>
                                        <p:tgtEl>
                                          <p:spTgt spid="740356"/>
                                        </p:tgtEl>
                                        <p:attrNameLst>
                                          <p:attrName>ppt_w</p:attrName>
                                        </p:attrNameLst>
                                      </p:cBhvr>
                                      <p:tavLst>
                                        <p:tav tm="0">
                                          <p:val>
                                            <p:fltVal val="0"/>
                                          </p:val>
                                        </p:tav>
                                        <p:tav tm="100000">
                                          <p:val>
                                            <p:strVal val="#ppt_w"/>
                                          </p:val>
                                        </p:tav>
                                      </p:tavLst>
                                    </p:anim>
                                    <p:anim calcmode="lin" valueType="num">
                                      <p:cBhvr>
                                        <p:cTn id="8" dur="500" fill="hold"/>
                                        <p:tgtEl>
                                          <p:spTgt spid="74035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740355"/>
                                        </p:tgtEl>
                                        <p:attrNameLst>
                                          <p:attrName>style.visibility</p:attrName>
                                        </p:attrNameLst>
                                      </p:cBhvr>
                                      <p:to>
                                        <p:strVal val="visible"/>
                                      </p:to>
                                    </p:set>
                                    <p:animEffect transition="in" filter="wipe(left)">
                                      <p:cBhvr>
                                        <p:cTn id="13" dur="500"/>
                                        <p:tgtEl>
                                          <p:spTgt spid="740355"/>
                                        </p:tgtEl>
                                      </p:cBhvr>
                                    </p:animEffect>
                                  </p:childTnLst>
                                </p:cTn>
                              </p:par>
                            </p:childTnLst>
                          </p:cTn>
                        </p:par>
                        <p:par>
                          <p:cTn id="14" fill="hold">
                            <p:stCondLst>
                              <p:cond delay="500"/>
                            </p:stCondLst>
                            <p:childTnLst>
                              <p:par>
                                <p:cTn id="15" presetID="12" presetClass="entr" presetSubtype="8" fill="hold" nodeType="after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slide(fromLeft)">
                                      <p:cBhvr>
                                        <p:cTn id="17" dur="500"/>
                                        <p:tgtEl>
                                          <p:spTgt spid="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wipe(left)">
                                      <p:cBhvr>
                                        <p:cTn id="2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714" name="Group 130"/>
          <p:cNvGrpSpPr>
            <a:grpSpLocks/>
          </p:cNvGrpSpPr>
          <p:nvPr/>
        </p:nvGrpSpPr>
        <p:grpSpPr bwMode="auto">
          <a:xfrm>
            <a:off x="400050" y="414338"/>
            <a:ext cx="7029450" cy="957262"/>
            <a:chOff x="252" y="261"/>
            <a:chExt cx="4428" cy="603"/>
          </a:xfrm>
        </p:grpSpPr>
        <p:sp>
          <p:nvSpPr>
            <p:cNvPr id="67586" name="Text Box 2"/>
            <p:cNvSpPr txBox="1">
              <a:spLocks noChangeArrowheads="1"/>
            </p:cNvSpPr>
            <p:nvPr/>
          </p:nvSpPr>
          <p:spPr bwMode="auto">
            <a:xfrm>
              <a:off x="252" y="261"/>
              <a:ext cx="44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a:solidFill>
                    <a:srgbClr val="FF3300"/>
                  </a:solidFill>
                </a:rPr>
                <a:t>例</a:t>
              </a:r>
              <a:r>
                <a:rPr lang="en-US" altLang="zh-CN" b="1">
                  <a:solidFill>
                    <a:srgbClr val="FF3300"/>
                  </a:solidFill>
                </a:rPr>
                <a:t>1</a:t>
              </a:r>
              <a:r>
                <a:rPr lang="en-US" altLang="zh-CN" b="1"/>
                <a:t>  </a:t>
              </a:r>
              <a:r>
                <a:rPr lang="zh-CN" altLang="en-US" b="1"/>
                <a:t>已知  </a:t>
              </a:r>
              <a:r>
                <a:rPr lang="en-US" altLang="zh-CN" b="1" i="1"/>
                <a:t>U</a:t>
              </a:r>
              <a:r>
                <a:rPr lang="en-US" altLang="zh-CN" b="1" baseline="-25000"/>
                <a:t>S</a:t>
              </a:r>
              <a:r>
                <a:rPr lang="en-US" altLang="zh-CN" b="1"/>
                <a:t>=20 V , </a:t>
              </a:r>
              <a:r>
                <a:rPr lang="zh-CN" altLang="en-US" b="1"/>
                <a:t>原边引入阻抗  </a:t>
              </a:r>
              <a:r>
                <a:rPr lang="en-US" altLang="zh-CN" b="1" i="1"/>
                <a:t>Z</a:t>
              </a:r>
              <a:r>
                <a:rPr lang="en-US" altLang="zh-CN" b="1" i="1" baseline="-25000"/>
                <a:t>l</a:t>
              </a:r>
              <a:r>
                <a:rPr lang="en-US" altLang="zh-CN" b="1"/>
                <a:t>=10</a:t>
              </a:r>
              <a:r>
                <a:rPr lang="zh-CN" altLang="en-US">
                  <a:ea typeface="黑体" panose="02010609060101010101" pitchFamily="49" charset="-122"/>
                </a:rPr>
                <a:t>－</a:t>
              </a:r>
              <a:r>
                <a:rPr lang="en-US" altLang="zh-CN" b="1"/>
                <a:t>j10</a:t>
              </a:r>
              <a:r>
                <a:rPr lang="en-US" altLang="zh-CN" b="1">
                  <a:sym typeface="Symbol" panose="05050102010706020507" pitchFamily="18" charset="2"/>
                </a:rPr>
                <a:t></a:t>
              </a:r>
              <a:r>
                <a:rPr lang="zh-CN" altLang="en-US" b="1">
                  <a:sym typeface="Symbol" panose="05050102010706020507" pitchFamily="18" charset="2"/>
                </a:rPr>
                <a:t>。</a:t>
              </a:r>
              <a:endParaRPr lang="zh-CN" altLang="en-US" b="1"/>
            </a:p>
          </p:txBody>
        </p:sp>
        <p:sp>
          <p:nvSpPr>
            <p:cNvPr id="67587" name="Rectangle 3"/>
            <p:cNvSpPr>
              <a:spLocks noChangeArrowheads="1"/>
            </p:cNvSpPr>
            <p:nvPr/>
          </p:nvSpPr>
          <p:spPr bwMode="auto">
            <a:xfrm>
              <a:off x="607" y="576"/>
              <a:ext cx="30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 </a:t>
              </a:r>
              <a:r>
                <a:rPr lang="zh-CN" altLang="en-US" b="1"/>
                <a:t>求</a:t>
              </a:r>
              <a:r>
                <a:rPr lang="en-US" altLang="zh-CN" b="1"/>
                <a:t>:  </a:t>
              </a:r>
              <a:r>
                <a:rPr lang="en-US" altLang="zh-CN" b="1" i="1"/>
                <a:t>Z</a:t>
              </a:r>
              <a:r>
                <a:rPr lang="en-US" altLang="zh-CN" b="1" i="1" baseline="-25000"/>
                <a:t>X</a:t>
              </a:r>
              <a:r>
                <a:rPr lang="en-US" altLang="zh-CN" b="1" baseline="-25000"/>
                <a:t> </a:t>
              </a:r>
              <a:r>
                <a:rPr lang="zh-CN" altLang="en-US" b="1"/>
                <a:t>并求负载获得的有功功率。</a:t>
              </a:r>
            </a:p>
          </p:txBody>
        </p:sp>
      </p:grpSp>
      <p:graphicFrame>
        <p:nvGraphicFramePr>
          <p:cNvPr id="67588" name="Object 4"/>
          <p:cNvGraphicFramePr>
            <a:graphicFrameLocks noChangeAspect="1"/>
          </p:cNvGraphicFramePr>
          <p:nvPr/>
        </p:nvGraphicFramePr>
        <p:xfrm>
          <a:off x="1135063" y="3189288"/>
          <a:ext cx="2952750" cy="765175"/>
        </p:xfrm>
        <a:graphic>
          <a:graphicData uri="http://schemas.openxmlformats.org/presentationml/2006/ole">
            <mc:AlternateContent xmlns:mc="http://schemas.openxmlformats.org/markup-compatibility/2006">
              <mc:Choice xmlns:v="urn:schemas-microsoft-com:vml" Requires="v">
                <p:oleObj spid="_x0000_s67829" name="公式" r:id="rId3" imgW="1562040" imgH="406080" progId="Equation.3">
                  <p:embed/>
                </p:oleObj>
              </mc:Choice>
              <mc:Fallback>
                <p:oleObj name="公式" r:id="rId3" imgW="1562040" imgH="406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5063" y="3189288"/>
                        <a:ext cx="295275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89" name="Object 5"/>
          <p:cNvGraphicFramePr>
            <a:graphicFrameLocks noChangeAspect="1"/>
          </p:cNvGraphicFramePr>
          <p:nvPr/>
        </p:nvGraphicFramePr>
        <p:xfrm>
          <a:off x="1162050" y="4203700"/>
          <a:ext cx="2459038" cy="420688"/>
        </p:xfrm>
        <a:graphic>
          <a:graphicData uri="http://schemas.openxmlformats.org/presentationml/2006/ole">
            <mc:AlternateContent xmlns:mc="http://schemas.openxmlformats.org/markup-compatibility/2006">
              <mc:Choice xmlns:v="urn:schemas-microsoft-com:vml" Requires="v">
                <p:oleObj spid="_x0000_s67830" name="公式" r:id="rId5" imgW="1257120" imgH="215640" progId="Equation.3">
                  <p:embed/>
                </p:oleObj>
              </mc:Choice>
              <mc:Fallback>
                <p:oleObj name="公式" r:id="rId5" imgW="1257120" imgH="215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2050" y="4203700"/>
                        <a:ext cx="2459038"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91" name="Text Box 7"/>
          <p:cNvSpPr txBox="1">
            <a:spLocks noChangeArrowheads="1"/>
          </p:cNvSpPr>
          <p:nvPr/>
        </p:nvSpPr>
        <p:spPr bwMode="auto">
          <a:xfrm>
            <a:off x="966788" y="4724400"/>
            <a:ext cx="2941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此时负载获得的功率</a:t>
            </a:r>
          </a:p>
        </p:txBody>
      </p:sp>
      <p:graphicFrame>
        <p:nvGraphicFramePr>
          <p:cNvPr id="67592" name="Object 8"/>
          <p:cNvGraphicFramePr>
            <a:graphicFrameLocks noChangeAspect="1"/>
          </p:cNvGraphicFramePr>
          <p:nvPr/>
        </p:nvGraphicFramePr>
        <p:xfrm>
          <a:off x="4087813" y="4625975"/>
          <a:ext cx="4152900" cy="709613"/>
        </p:xfrm>
        <a:graphic>
          <a:graphicData uri="http://schemas.openxmlformats.org/presentationml/2006/ole">
            <mc:AlternateContent xmlns:mc="http://schemas.openxmlformats.org/markup-compatibility/2006">
              <mc:Choice xmlns:v="urn:schemas-microsoft-com:vml" Requires="v">
                <p:oleObj spid="_x0000_s67831" name="公式" r:id="rId7" imgW="2070000" imgH="355320" progId="Equation.3">
                  <p:embed/>
                </p:oleObj>
              </mc:Choice>
              <mc:Fallback>
                <p:oleObj name="公式" r:id="rId7" imgW="2070000" imgH="35532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7813" y="4625975"/>
                        <a:ext cx="41529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94" name="Object 10"/>
          <p:cNvGraphicFramePr>
            <a:graphicFrameLocks noChangeAspect="1"/>
          </p:cNvGraphicFramePr>
          <p:nvPr/>
        </p:nvGraphicFramePr>
        <p:xfrm>
          <a:off x="2335213" y="5605463"/>
          <a:ext cx="3648075" cy="776287"/>
        </p:xfrm>
        <a:graphic>
          <a:graphicData uri="http://schemas.openxmlformats.org/presentationml/2006/ole">
            <mc:AlternateContent xmlns:mc="http://schemas.openxmlformats.org/markup-compatibility/2006">
              <mc:Choice xmlns:v="urn:schemas-microsoft-com:vml" Requires="v">
                <p:oleObj spid="_x0000_s67832" name="公式" r:id="rId9" imgW="1968480" imgH="419040" progId="Equation.3">
                  <p:embed/>
                </p:oleObj>
              </mc:Choice>
              <mc:Fallback>
                <p:oleObj name="公式" r:id="rId9" imgW="1968480" imgH="4190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5213" y="5605463"/>
                        <a:ext cx="3648075" cy="776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5" name="Rectangle 11"/>
          <p:cNvSpPr>
            <a:spLocks noChangeArrowheads="1"/>
          </p:cNvSpPr>
          <p:nvPr/>
        </p:nvSpPr>
        <p:spPr bwMode="auto">
          <a:xfrm>
            <a:off x="965200" y="5207000"/>
            <a:ext cx="355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本例实际是</a:t>
            </a:r>
            <a:r>
              <a:rPr lang="zh-CN" altLang="en-US" b="1">
                <a:solidFill>
                  <a:srgbClr val="FF3300"/>
                </a:solidFill>
              </a:rPr>
              <a:t>最佳匹配状态</a:t>
            </a:r>
            <a:endParaRPr lang="zh-CN" altLang="en-US" b="1"/>
          </a:p>
        </p:txBody>
      </p:sp>
      <p:sp>
        <p:nvSpPr>
          <p:cNvPr id="67623" name="Text Box 39"/>
          <p:cNvSpPr txBox="1">
            <a:spLocks noChangeArrowheads="1"/>
          </p:cNvSpPr>
          <p:nvPr/>
        </p:nvSpPr>
        <p:spPr bwMode="auto">
          <a:xfrm>
            <a:off x="358775" y="32591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解</a:t>
            </a:r>
          </a:p>
        </p:txBody>
      </p:sp>
      <p:grpSp>
        <p:nvGrpSpPr>
          <p:cNvPr id="67706" name="Group 122"/>
          <p:cNvGrpSpPr>
            <a:grpSpLocks/>
          </p:cNvGrpSpPr>
          <p:nvPr/>
        </p:nvGrpSpPr>
        <p:grpSpPr bwMode="auto">
          <a:xfrm>
            <a:off x="411163" y="1293813"/>
            <a:ext cx="4100512" cy="1808162"/>
            <a:chOff x="259" y="863"/>
            <a:chExt cx="2583" cy="1139"/>
          </a:xfrm>
        </p:grpSpPr>
        <p:sp>
          <p:nvSpPr>
            <p:cNvPr id="67638" name="Line 54"/>
            <p:cNvSpPr>
              <a:spLocks noChangeShapeType="1"/>
            </p:cNvSpPr>
            <p:nvPr/>
          </p:nvSpPr>
          <p:spPr bwMode="auto">
            <a:xfrm flipH="1">
              <a:off x="1498" y="1725"/>
              <a:ext cx="2" cy="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9" name="Line 55"/>
            <p:cNvSpPr>
              <a:spLocks noChangeShapeType="1"/>
            </p:cNvSpPr>
            <p:nvPr/>
          </p:nvSpPr>
          <p:spPr bwMode="auto">
            <a:xfrm>
              <a:off x="1495" y="1215"/>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0" name="Line 56"/>
            <p:cNvSpPr>
              <a:spLocks noChangeShapeType="1"/>
            </p:cNvSpPr>
            <p:nvPr/>
          </p:nvSpPr>
          <p:spPr bwMode="auto">
            <a:xfrm flipH="1">
              <a:off x="1838" y="1751"/>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1" name="Line 57"/>
            <p:cNvSpPr>
              <a:spLocks noChangeShapeType="1"/>
            </p:cNvSpPr>
            <p:nvPr/>
          </p:nvSpPr>
          <p:spPr bwMode="auto">
            <a:xfrm flipH="1">
              <a:off x="1838" y="1228"/>
              <a:ext cx="1" cy="2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2" name="Line 58"/>
            <p:cNvSpPr>
              <a:spLocks noChangeShapeType="1"/>
            </p:cNvSpPr>
            <p:nvPr/>
          </p:nvSpPr>
          <p:spPr bwMode="auto">
            <a:xfrm flipV="1">
              <a:off x="1195" y="1218"/>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3" name="Line 59"/>
            <p:cNvSpPr>
              <a:spLocks noChangeShapeType="1"/>
            </p:cNvSpPr>
            <p:nvPr/>
          </p:nvSpPr>
          <p:spPr bwMode="auto">
            <a:xfrm flipV="1">
              <a:off x="1839" y="1983"/>
              <a:ext cx="647"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4" name="Line 60"/>
            <p:cNvSpPr>
              <a:spLocks noChangeShapeType="1"/>
            </p:cNvSpPr>
            <p:nvPr/>
          </p:nvSpPr>
          <p:spPr bwMode="auto">
            <a:xfrm>
              <a:off x="2575" y="1237"/>
              <a:ext cx="0" cy="24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5" name="Text Box 61"/>
            <p:cNvSpPr txBox="1">
              <a:spLocks noChangeArrowheads="1"/>
            </p:cNvSpPr>
            <p:nvPr/>
          </p:nvSpPr>
          <p:spPr bwMode="auto">
            <a:xfrm>
              <a:off x="1475" y="122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67646" name="Text Box 62"/>
            <p:cNvSpPr txBox="1">
              <a:spLocks noChangeArrowheads="1"/>
            </p:cNvSpPr>
            <p:nvPr/>
          </p:nvSpPr>
          <p:spPr bwMode="auto">
            <a:xfrm>
              <a:off x="1675" y="1224"/>
              <a:ext cx="1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67647" name="Text Box 63"/>
            <p:cNvSpPr txBox="1">
              <a:spLocks noChangeArrowheads="1"/>
            </p:cNvSpPr>
            <p:nvPr/>
          </p:nvSpPr>
          <p:spPr bwMode="auto">
            <a:xfrm>
              <a:off x="1072" y="1455"/>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t>j10</a:t>
              </a:r>
              <a:r>
                <a:rPr lang="en-US" altLang="zh-CN" sz="2000" b="1">
                  <a:sym typeface="Symbol" panose="05050102010706020507" pitchFamily="18" charset="2"/>
                </a:rPr>
                <a:t></a:t>
              </a:r>
            </a:p>
          </p:txBody>
        </p:sp>
        <p:grpSp>
          <p:nvGrpSpPr>
            <p:cNvPr id="67649" name="Group 65"/>
            <p:cNvGrpSpPr>
              <a:grpSpLocks/>
            </p:cNvGrpSpPr>
            <p:nvPr/>
          </p:nvGrpSpPr>
          <p:grpSpPr bwMode="auto">
            <a:xfrm rot="16200000" flipH="1">
              <a:off x="1674" y="1578"/>
              <a:ext cx="299" cy="49"/>
              <a:chOff x="1200" y="1584"/>
              <a:chExt cx="379" cy="45"/>
            </a:xfrm>
          </p:grpSpPr>
          <p:sp>
            <p:nvSpPr>
              <p:cNvPr id="67650" name="Arc 6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1" name="Arc 6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2" name="Arc 6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3" name="Arc 6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654" name="Group 70"/>
            <p:cNvGrpSpPr>
              <a:grpSpLocks/>
            </p:cNvGrpSpPr>
            <p:nvPr/>
          </p:nvGrpSpPr>
          <p:grpSpPr bwMode="auto">
            <a:xfrm rot="5400000">
              <a:off x="1375" y="1566"/>
              <a:ext cx="299" cy="48"/>
              <a:chOff x="1200" y="1584"/>
              <a:chExt cx="379" cy="45"/>
            </a:xfrm>
          </p:grpSpPr>
          <p:sp>
            <p:nvSpPr>
              <p:cNvPr id="67655" name="Arc 7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6" name="Arc 7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7" name="Arc 7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8" name="Arc 7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659" name="Arc 75"/>
            <p:cNvSpPr>
              <a:spLocks/>
            </p:cNvSpPr>
            <p:nvPr/>
          </p:nvSpPr>
          <p:spPr bwMode="auto">
            <a:xfrm rot="10800000" flipV="1">
              <a:off x="1460" y="1069"/>
              <a:ext cx="166" cy="163"/>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60" name="Arc 76"/>
            <p:cNvSpPr>
              <a:spLocks/>
            </p:cNvSpPr>
            <p:nvPr/>
          </p:nvSpPr>
          <p:spPr bwMode="auto">
            <a:xfrm rot="-10800000" flipH="1" flipV="1">
              <a:off x="1686" y="1072"/>
              <a:ext cx="167" cy="162"/>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61" name="Line 77"/>
            <p:cNvSpPr>
              <a:spLocks noChangeShapeType="1"/>
            </p:cNvSpPr>
            <p:nvPr/>
          </p:nvSpPr>
          <p:spPr bwMode="auto">
            <a:xfrm flipV="1">
              <a:off x="1838" y="1222"/>
              <a:ext cx="651"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7663" name="Object 79"/>
            <p:cNvGraphicFramePr>
              <a:graphicFrameLocks noChangeAspect="1"/>
            </p:cNvGraphicFramePr>
            <p:nvPr/>
          </p:nvGraphicFramePr>
          <p:xfrm>
            <a:off x="2588" y="1217"/>
            <a:ext cx="243" cy="287"/>
          </p:xfrm>
          <a:graphic>
            <a:graphicData uri="http://schemas.openxmlformats.org/presentationml/2006/ole">
              <mc:AlternateContent xmlns:mc="http://schemas.openxmlformats.org/markup-compatibility/2006">
                <mc:Choice xmlns:v="urn:schemas-microsoft-com:vml" Requires="v">
                  <p:oleObj spid="_x0000_s67833" name="Equation" r:id="rId11" imgW="177480" imgH="228600" progId="Equation.3">
                    <p:embed/>
                  </p:oleObj>
                </mc:Choice>
                <mc:Fallback>
                  <p:oleObj name="Equation" r:id="rId11" imgW="177480" imgH="228600" progId="Equation.3">
                    <p:embed/>
                    <p:pic>
                      <p:nvPicPr>
                        <p:cNvPr id="0" name="Object 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88" y="1217"/>
                          <a:ext cx="24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64" name="Text Box 80"/>
            <p:cNvSpPr txBox="1">
              <a:spLocks noChangeArrowheads="1"/>
            </p:cNvSpPr>
            <p:nvPr/>
          </p:nvSpPr>
          <p:spPr bwMode="auto">
            <a:xfrm>
              <a:off x="1857" y="1459"/>
              <a:ext cx="4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a:t>j10</a:t>
              </a:r>
              <a:r>
                <a:rPr lang="en-US" altLang="zh-CN" sz="2000" b="1">
                  <a:sym typeface="Symbol" panose="05050102010706020507" pitchFamily="18" charset="2"/>
                </a:rPr>
                <a:t></a:t>
              </a:r>
            </a:p>
          </p:txBody>
        </p:sp>
        <p:sp>
          <p:nvSpPr>
            <p:cNvPr id="67665" name="Text Box 81"/>
            <p:cNvSpPr txBox="1">
              <a:spLocks noChangeArrowheads="1"/>
            </p:cNvSpPr>
            <p:nvPr/>
          </p:nvSpPr>
          <p:spPr bwMode="auto">
            <a:xfrm>
              <a:off x="1547" y="863"/>
              <a:ext cx="2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t>j</a:t>
              </a:r>
              <a:r>
                <a:rPr lang="en-US" altLang="zh-CN" sz="2000" b="1">
                  <a:sym typeface="Symbol" panose="05050102010706020507" pitchFamily="18" charset="2"/>
                </a:rPr>
                <a:t>2</a:t>
              </a:r>
              <a:endParaRPr lang="en-US" altLang="zh-CN" sz="2000" b="1"/>
            </a:p>
          </p:txBody>
        </p:sp>
        <p:sp>
          <p:nvSpPr>
            <p:cNvPr id="67666" name="Line 82"/>
            <p:cNvSpPr>
              <a:spLocks noChangeShapeType="1"/>
            </p:cNvSpPr>
            <p:nvPr/>
          </p:nvSpPr>
          <p:spPr bwMode="auto">
            <a:xfrm flipH="1">
              <a:off x="627" y="1995"/>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67" name="Text Box 83"/>
            <p:cNvSpPr txBox="1">
              <a:spLocks noChangeArrowheads="1"/>
            </p:cNvSpPr>
            <p:nvPr/>
          </p:nvSpPr>
          <p:spPr bwMode="auto">
            <a:xfrm>
              <a:off x="443" y="1191"/>
              <a:ext cx="2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a:t>
              </a:r>
            </a:p>
          </p:txBody>
        </p:sp>
        <p:sp>
          <p:nvSpPr>
            <p:cNvPr id="67668" name="Text Box 84"/>
            <p:cNvSpPr txBox="1">
              <a:spLocks noChangeArrowheads="1"/>
            </p:cNvSpPr>
            <p:nvPr/>
          </p:nvSpPr>
          <p:spPr bwMode="auto">
            <a:xfrm>
              <a:off x="437" y="1587"/>
              <a:ext cx="2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t>–</a:t>
              </a:r>
            </a:p>
          </p:txBody>
        </p:sp>
        <p:graphicFrame>
          <p:nvGraphicFramePr>
            <p:cNvPr id="67669" name="Object 85"/>
            <p:cNvGraphicFramePr>
              <a:graphicFrameLocks noChangeAspect="1"/>
            </p:cNvGraphicFramePr>
            <p:nvPr/>
          </p:nvGraphicFramePr>
          <p:xfrm>
            <a:off x="259" y="1386"/>
            <a:ext cx="239" cy="291"/>
          </p:xfrm>
          <a:graphic>
            <a:graphicData uri="http://schemas.openxmlformats.org/presentationml/2006/ole">
              <mc:AlternateContent xmlns:mc="http://schemas.openxmlformats.org/markup-compatibility/2006">
                <mc:Choice xmlns:v="urn:schemas-microsoft-com:vml" Requires="v">
                  <p:oleObj spid="_x0000_s67834" name="Equation" r:id="rId13" imgW="215640" imgH="241200" progId="Equation.3">
                    <p:embed/>
                  </p:oleObj>
                </mc:Choice>
                <mc:Fallback>
                  <p:oleObj name="Equation" r:id="rId13" imgW="215640" imgH="241200" progId="Equation.3">
                    <p:embed/>
                    <p:pic>
                      <p:nvPicPr>
                        <p:cNvPr id="0" name="Object 8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9" y="1386"/>
                          <a:ext cx="2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70" name="Rectangle 86"/>
            <p:cNvSpPr>
              <a:spLocks noChangeArrowheads="1"/>
            </p:cNvSpPr>
            <p:nvPr/>
          </p:nvSpPr>
          <p:spPr bwMode="auto">
            <a:xfrm>
              <a:off x="968" y="1182"/>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1" name="Oval 87"/>
            <p:cNvSpPr>
              <a:spLocks noChangeArrowheads="1"/>
            </p:cNvSpPr>
            <p:nvPr/>
          </p:nvSpPr>
          <p:spPr bwMode="auto">
            <a:xfrm>
              <a:off x="513" y="1433"/>
              <a:ext cx="227" cy="227"/>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2" name="Line 88"/>
            <p:cNvSpPr>
              <a:spLocks noChangeShapeType="1"/>
            </p:cNvSpPr>
            <p:nvPr/>
          </p:nvSpPr>
          <p:spPr bwMode="auto">
            <a:xfrm>
              <a:off x="627" y="1209"/>
              <a:ext cx="0" cy="7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3" name="Line 89"/>
            <p:cNvSpPr>
              <a:spLocks noChangeShapeType="1"/>
            </p:cNvSpPr>
            <p:nvPr/>
          </p:nvSpPr>
          <p:spPr bwMode="auto">
            <a:xfrm flipH="1">
              <a:off x="627" y="1214"/>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5" name="Rectangle 91"/>
            <p:cNvSpPr>
              <a:spLocks noChangeArrowheads="1"/>
            </p:cNvSpPr>
            <p:nvPr/>
          </p:nvSpPr>
          <p:spPr bwMode="auto">
            <a:xfrm rot="5400000">
              <a:off x="2369" y="1559"/>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6" name="Line 92"/>
            <p:cNvSpPr>
              <a:spLocks noChangeShapeType="1"/>
            </p:cNvSpPr>
            <p:nvPr/>
          </p:nvSpPr>
          <p:spPr bwMode="auto">
            <a:xfrm>
              <a:off x="2486" y="1706"/>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7" name="Line 93"/>
            <p:cNvSpPr>
              <a:spLocks noChangeShapeType="1"/>
            </p:cNvSpPr>
            <p:nvPr/>
          </p:nvSpPr>
          <p:spPr bwMode="auto">
            <a:xfrm flipV="1">
              <a:off x="2486" y="1222"/>
              <a:ext cx="0" cy="26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79" name="Text Box 95"/>
            <p:cNvSpPr txBox="1">
              <a:spLocks noChangeArrowheads="1"/>
            </p:cNvSpPr>
            <p:nvPr/>
          </p:nvSpPr>
          <p:spPr bwMode="auto">
            <a:xfrm>
              <a:off x="908" y="952"/>
              <a:ext cx="4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a:t>10</a:t>
              </a:r>
              <a:r>
                <a:rPr lang="en-US" altLang="zh-CN" sz="2000" b="1">
                  <a:sym typeface="Symbol" panose="05050102010706020507" pitchFamily="18" charset="2"/>
                </a:rPr>
                <a:t></a:t>
              </a:r>
              <a:endParaRPr lang="en-US" altLang="zh-CN" sz="2000" b="1"/>
            </a:p>
          </p:txBody>
        </p:sp>
        <p:sp>
          <p:nvSpPr>
            <p:cNvPr id="67681" name="Text Box 97"/>
            <p:cNvSpPr txBox="1">
              <a:spLocks noChangeArrowheads="1"/>
            </p:cNvSpPr>
            <p:nvPr/>
          </p:nvSpPr>
          <p:spPr bwMode="auto">
            <a:xfrm>
              <a:off x="2526" y="1494"/>
              <a:ext cx="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t>Z</a:t>
              </a:r>
              <a:r>
                <a:rPr lang="en-US" altLang="zh-CN" sz="2000" b="1" i="1" baseline="-25000"/>
                <a:t>X</a:t>
              </a:r>
              <a:endParaRPr lang="en-US" altLang="zh-CN" sz="2000" b="1"/>
            </a:p>
          </p:txBody>
        </p:sp>
      </p:grpSp>
      <p:sp>
        <p:nvSpPr>
          <p:cNvPr id="67705" name="AutoShape 121"/>
          <p:cNvSpPr>
            <a:spLocks noChangeArrowheads="1"/>
          </p:cNvSpPr>
          <p:nvPr/>
        </p:nvSpPr>
        <p:spPr bwMode="auto">
          <a:xfrm>
            <a:off x="4568825" y="2344738"/>
            <a:ext cx="673100" cy="246062"/>
          </a:xfrm>
          <a:prstGeom prst="rightArrow">
            <a:avLst>
              <a:gd name="adj1" fmla="val 50000"/>
              <a:gd name="adj2" fmla="val 68387"/>
            </a:avLst>
          </a:prstGeom>
          <a:solidFill>
            <a:srgbClr val="FF33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7713" name="Group 129"/>
          <p:cNvGrpSpPr>
            <a:grpSpLocks/>
          </p:cNvGrpSpPr>
          <p:nvPr/>
        </p:nvGrpSpPr>
        <p:grpSpPr bwMode="auto">
          <a:xfrm>
            <a:off x="5434013" y="1460500"/>
            <a:ext cx="3529012" cy="2147888"/>
            <a:chOff x="3423" y="968"/>
            <a:chExt cx="2223" cy="1353"/>
          </a:xfrm>
        </p:grpSpPr>
        <p:grpSp>
          <p:nvGrpSpPr>
            <p:cNvPr id="67707" name="Group 123"/>
            <p:cNvGrpSpPr>
              <a:grpSpLocks/>
            </p:cNvGrpSpPr>
            <p:nvPr/>
          </p:nvGrpSpPr>
          <p:grpSpPr bwMode="auto">
            <a:xfrm>
              <a:off x="3423" y="968"/>
              <a:ext cx="2223" cy="1074"/>
              <a:chOff x="3423" y="968"/>
              <a:chExt cx="2223" cy="1074"/>
            </a:xfrm>
          </p:grpSpPr>
          <p:sp>
            <p:nvSpPr>
              <p:cNvPr id="67683" name="Line 99"/>
              <p:cNvSpPr>
                <a:spLocks noChangeShapeType="1"/>
              </p:cNvSpPr>
              <p:nvPr/>
            </p:nvSpPr>
            <p:spPr bwMode="auto">
              <a:xfrm flipH="1">
                <a:off x="4656" y="1740"/>
                <a:ext cx="2"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84" name="Line 100"/>
              <p:cNvSpPr>
                <a:spLocks noChangeShapeType="1"/>
              </p:cNvSpPr>
              <p:nvPr/>
            </p:nvSpPr>
            <p:spPr bwMode="auto">
              <a:xfrm flipH="1">
                <a:off x="4652" y="1262"/>
                <a:ext cx="0" cy="2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85" name="Line 101"/>
              <p:cNvSpPr>
                <a:spLocks noChangeShapeType="1"/>
              </p:cNvSpPr>
              <p:nvPr/>
            </p:nvSpPr>
            <p:spPr bwMode="auto">
              <a:xfrm flipV="1">
                <a:off x="4347" y="1258"/>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88" name="Line 104"/>
              <p:cNvSpPr>
                <a:spLocks noChangeShapeType="1"/>
              </p:cNvSpPr>
              <p:nvPr/>
            </p:nvSpPr>
            <p:spPr bwMode="auto">
              <a:xfrm flipH="1">
                <a:off x="3779" y="2035"/>
                <a:ext cx="87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89" name="Text Box 105"/>
              <p:cNvSpPr txBox="1">
                <a:spLocks noChangeArrowheads="1"/>
              </p:cNvSpPr>
              <p:nvPr/>
            </p:nvSpPr>
            <p:spPr bwMode="auto">
              <a:xfrm>
                <a:off x="3577" y="1231"/>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67690" name="Text Box 106"/>
              <p:cNvSpPr txBox="1">
                <a:spLocks noChangeArrowheads="1"/>
              </p:cNvSpPr>
              <p:nvPr/>
            </p:nvSpPr>
            <p:spPr bwMode="auto">
              <a:xfrm>
                <a:off x="3589" y="1669"/>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graphicFrame>
            <p:nvGraphicFramePr>
              <p:cNvPr id="67691" name="Object 107"/>
              <p:cNvGraphicFramePr>
                <a:graphicFrameLocks noChangeAspect="1"/>
              </p:cNvGraphicFramePr>
              <p:nvPr/>
            </p:nvGraphicFramePr>
            <p:xfrm>
              <a:off x="3423" y="1474"/>
              <a:ext cx="239" cy="291"/>
            </p:xfrm>
            <a:graphic>
              <a:graphicData uri="http://schemas.openxmlformats.org/presentationml/2006/ole">
                <mc:AlternateContent xmlns:mc="http://schemas.openxmlformats.org/markup-compatibility/2006">
                  <mc:Choice xmlns:v="urn:schemas-microsoft-com:vml" Requires="v">
                    <p:oleObj spid="_x0000_s67835" name="Equation" r:id="rId15" imgW="215640" imgH="241200" progId="Equation.3">
                      <p:embed/>
                    </p:oleObj>
                  </mc:Choice>
                  <mc:Fallback>
                    <p:oleObj name="Equation" r:id="rId15" imgW="215640" imgH="241200" progId="Equation.3">
                      <p:embed/>
                      <p:pic>
                        <p:nvPicPr>
                          <p:cNvPr id="0" name="Object 10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23" y="1474"/>
                            <a:ext cx="2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92" name="Rectangle 108"/>
              <p:cNvSpPr>
                <a:spLocks noChangeArrowheads="1"/>
              </p:cNvSpPr>
              <p:nvPr/>
            </p:nvSpPr>
            <p:spPr bwMode="auto">
              <a:xfrm>
                <a:off x="4120" y="1222"/>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93" name="Oval 109"/>
              <p:cNvSpPr>
                <a:spLocks noChangeArrowheads="1"/>
              </p:cNvSpPr>
              <p:nvPr/>
            </p:nvSpPr>
            <p:spPr bwMode="auto">
              <a:xfrm>
                <a:off x="3659" y="1497"/>
                <a:ext cx="227" cy="227"/>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94" name="Line 110"/>
              <p:cNvSpPr>
                <a:spLocks noChangeShapeType="1"/>
              </p:cNvSpPr>
              <p:nvPr/>
            </p:nvSpPr>
            <p:spPr bwMode="auto">
              <a:xfrm flipH="1">
                <a:off x="3779" y="1254"/>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95" name="Rectangle 111"/>
              <p:cNvSpPr>
                <a:spLocks noChangeArrowheads="1"/>
              </p:cNvSpPr>
              <p:nvPr/>
            </p:nvSpPr>
            <p:spPr bwMode="auto">
              <a:xfrm rot="5400000">
                <a:off x="4538" y="1587"/>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96" name="Text Box 112"/>
              <p:cNvSpPr txBox="1">
                <a:spLocks noChangeArrowheads="1"/>
              </p:cNvSpPr>
              <p:nvPr/>
            </p:nvSpPr>
            <p:spPr bwMode="auto">
              <a:xfrm>
                <a:off x="3940" y="968"/>
                <a:ext cx="87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a:t>10+j10</a:t>
                </a:r>
                <a:r>
                  <a:rPr lang="en-US" altLang="zh-CN" sz="2000" b="1">
                    <a:sym typeface="Symbol" panose="05050102010706020507" pitchFamily="18" charset="2"/>
                  </a:rPr>
                  <a:t></a:t>
                </a:r>
              </a:p>
            </p:txBody>
          </p:sp>
          <p:sp>
            <p:nvSpPr>
              <p:cNvPr id="67699" name="Text Box 115"/>
              <p:cNvSpPr txBox="1">
                <a:spLocks noChangeArrowheads="1"/>
              </p:cNvSpPr>
              <p:nvPr/>
            </p:nvSpPr>
            <p:spPr bwMode="auto">
              <a:xfrm>
                <a:off x="4691" y="1481"/>
                <a:ext cx="9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t>Z</a:t>
                </a:r>
                <a:r>
                  <a:rPr lang="en-US" altLang="zh-CN" sz="2000" b="1" i="1" baseline="-25000"/>
                  <a:t>l</a:t>
                </a:r>
                <a:r>
                  <a:rPr lang="en-US" altLang="zh-CN" sz="2000" b="1" i="1"/>
                  <a:t>=</a:t>
                </a:r>
                <a:r>
                  <a:rPr lang="en-US" altLang="zh-CN" sz="2000" b="1"/>
                  <a:t>10–j10</a:t>
                </a:r>
                <a:r>
                  <a:rPr lang="en-US" altLang="zh-CN" sz="2000" b="1">
                    <a:sym typeface="Symbol" panose="05050102010706020507" pitchFamily="18" charset="2"/>
                  </a:rPr>
                  <a:t></a:t>
                </a:r>
              </a:p>
            </p:txBody>
          </p:sp>
          <p:sp>
            <p:nvSpPr>
              <p:cNvPr id="67701" name="Line 117"/>
              <p:cNvSpPr>
                <a:spLocks noChangeShapeType="1"/>
              </p:cNvSpPr>
              <p:nvPr/>
            </p:nvSpPr>
            <p:spPr bwMode="auto">
              <a:xfrm>
                <a:off x="3779" y="1254"/>
                <a:ext cx="0" cy="7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712" name="Rectangle 128"/>
            <p:cNvSpPr>
              <a:spLocks noChangeArrowheads="1"/>
            </p:cNvSpPr>
            <p:nvPr/>
          </p:nvSpPr>
          <p:spPr bwMode="auto">
            <a:xfrm>
              <a:off x="3559" y="2033"/>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txBody>
            <a:bodyPr wrap="none">
              <a:spAutoFit/>
            </a:bodyPr>
            <a:lstStyle/>
            <a:p>
              <a:pPr algn="ctr"/>
              <a:r>
                <a:rPr lang="zh-CN" altLang="en-US" b="1">
                  <a:solidFill>
                    <a:schemeClr val="accent2"/>
                  </a:solidFill>
                </a:rPr>
                <a:t>原边等效电路</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7714"/>
                                        </p:tgtEl>
                                        <p:attrNameLst>
                                          <p:attrName>style.visibility</p:attrName>
                                        </p:attrNameLst>
                                      </p:cBhvr>
                                      <p:to>
                                        <p:strVal val="visible"/>
                                      </p:to>
                                    </p:set>
                                    <p:animEffect transition="in" filter="wipe(left)">
                                      <p:cBhvr>
                                        <p:cTn id="7" dur="500"/>
                                        <p:tgtEl>
                                          <p:spTgt spid="677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706"/>
                                        </p:tgtEl>
                                        <p:attrNameLst>
                                          <p:attrName>style.visibility</p:attrName>
                                        </p:attrNameLst>
                                      </p:cBhvr>
                                      <p:to>
                                        <p:strVal val="visible"/>
                                      </p:to>
                                    </p:set>
                                    <p:animEffect transition="in" filter="wipe(left)">
                                      <p:cBhvr>
                                        <p:cTn id="12" dur="500"/>
                                        <p:tgtEl>
                                          <p:spTgt spid="677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67623"/>
                                        </p:tgtEl>
                                        <p:attrNameLst>
                                          <p:attrName>style.visibility</p:attrName>
                                        </p:attrNameLst>
                                      </p:cBhvr>
                                      <p:to>
                                        <p:strVal val="visible"/>
                                      </p:to>
                                    </p:set>
                                    <p:anim calcmode="lin" valueType="num">
                                      <p:cBhvr>
                                        <p:cTn id="17" dur="1000" fill="hold"/>
                                        <p:tgtEl>
                                          <p:spTgt spid="67623"/>
                                        </p:tgtEl>
                                        <p:attrNameLst>
                                          <p:attrName>ppt_w</p:attrName>
                                        </p:attrNameLst>
                                      </p:cBhvr>
                                      <p:tavLst>
                                        <p:tav tm="0">
                                          <p:val>
                                            <p:fltVal val="0"/>
                                          </p:val>
                                        </p:tav>
                                        <p:tav tm="100000">
                                          <p:val>
                                            <p:strVal val="#ppt_w"/>
                                          </p:val>
                                        </p:tav>
                                      </p:tavLst>
                                    </p:anim>
                                    <p:anim calcmode="lin" valueType="num">
                                      <p:cBhvr>
                                        <p:cTn id="18" dur="1000" fill="hold"/>
                                        <p:tgtEl>
                                          <p:spTgt spid="67623"/>
                                        </p:tgtEl>
                                        <p:attrNameLst>
                                          <p:attrName>ppt_h</p:attrName>
                                        </p:attrNameLst>
                                      </p:cBhvr>
                                      <p:tavLst>
                                        <p:tav tm="0">
                                          <p:val>
                                            <p:fltVal val="0"/>
                                          </p:val>
                                        </p:tav>
                                        <p:tav tm="100000">
                                          <p:val>
                                            <p:strVal val="#ppt_h"/>
                                          </p:val>
                                        </p:tav>
                                      </p:tavLst>
                                    </p:anim>
                                    <p:anim calcmode="lin" valueType="num">
                                      <p:cBhvr>
                                        <p:cTn id="19" dur="1000" fill="hold"/>
                                        <p:tgtEl>
                                          <p:spTgt spid="67623"/>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67623"/>
                                        </p:tgtEl>
                                        <p:attrNameLst>
                                          <p:attrName>ppt_y</p:attrName>
                                        </p:attrNameLst>
                                      </p:cBhvr>
                                      <p:tavLst>
                                        <p:tav tm="0" fmla="#ppt_y+(sin(-2*pi*(1-$))*-#ppt_x+cos(-2*pi*(1-$))*(1-#ppt_y))*(1-$)">
                                          <p:val>
                                            <p:fltVal val="0"/>
                                          </p:val>
                                        </p:tav>
                                        <p:tav tm="100000">
                                          <p:val>
                                            <p:fltVal val="1"/>
                                          </p:val>
                                        </p:tav>
                                      </p:tavLst>
                                    </p:anim>
                                  </p:childTnLst>
                                </p:cTn>
                              </p:par>
                            </p:childTnLst>
                          </p:cTn>
                        </p:par>
                        <p:par>
                          <p:cTn id="21" fill="hold" nodeType="afterGroup">
                            <p:stCondLst>
                              <p:cond delay="1000"/>
                            </p:stCondLst>
                            <p:childTnLst>
                              <p:par>
                                <p:cTn id="22" presetID="12" presetClass="entr" presetSubtype="8" fill="hold" nodeType="afterEffect">
                                  <p:stCondLst>
                                    <p:cond delay="0"/>
                                  </p:stCondLst>
                                  <p:childTnLst>
                                    <p:set>
                                      <p:cBhvr>
                                        <p:cTn id="23" dur="1" fill="hold">
                                          <p:stCondLst>
                                            <p:cond delay="0"/>
                                          </p:stCondLst>
                                        </p:cTn>
                                        <p:tgtEl>
                                          <p:spTgt spid="67705"/>
                                        </p:tgtEl>
                                        <p:attrNameLst>
                                          <p:attrName>style.visibility</p:attrName>
                                        </p:attrNameLst>
                                      </p:cBhvr>
                                      <p:to>
                                        <p:strVal val="visible"/>
                                      </p:to>
                                    </p:set>
                                    <p:animEffect transition="in" filter="slide(fromLeft)">
                                      <p:cBhvr>
                                        <p:cTn id="24" dur="500"/>
                                        <p:tgtEl>
                                          <p:spTgt spid="6770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7713"/>
                                        </p:tgtEl>
                                        <p:attrNameLst>
                                          <p:attrName>style.visibility</p:attrName>
                                        </p:attrNameLst>
                                      </p:cBhvr>
                                      <p:to>
                                        <p:strVal val="visible"/>
                                      </p:to>
                                    </p:set>
                                    <p:animEffect transition="in" filter="wipe(left)">
                                      <p:cBhvr>
                                        <p:cTn id="29" dur="500"/>
                                        <p:tgtEl>
                                          <p:spTgt spid="677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7588"/>
                                        </p:tgtEl>
                                        <p:attrNameLst>
                                          <p:attrName>style.visibility</p:attrName>
                                        </p:attrNameLst>
                                      </p:cBhvr>
                                      <p:to>
                                        <p:strVal val="visible"/>
                                      </p:to>
                                    </p:set>
                                    <p:animEffect transition="in" filter="wipe(left)">
                                      <p:cBhvr>
                                        <p:cTn id="34" dur="500"/>
                                        <p:tgtEl>
                                          <p:spTgt spid="6758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7589"/>
                                        </p:tgtEl>
                                        <p:attrNameLst>
                                          <p:attrName>style.visibility</p:attrName>
                                        </p:attrNameLst>
                                      </p:cBhvr>
                                      <p:to>
                                        <p:strVal val="visible"/>
                                      </p:to>
                                    </p:set>
                                    <p:animEffect transition="in" filter="wipe(left)">
                                      <p:cBhvr>
                                        <p:cTn id="39" dur="500"/>
                                        <p:tgtEl>
                                          <p:spTgt spid="6758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67591"/>
                                        </p:tgtEl>
                                        <p:attrNameLst>
                                          <p:attrName>style.visibility</p:attrName>
                                        </p:attrNameLst>
                                      </p:cBhvr>
                                      <p:to>
                                        <p:strVal val="visible"/>
                                      </p:to>
                                    </p:set>
                                    <p:anim calcmode="lin" valueType="num">
                                      <p:cBhvr additive="base">
                                        <p:cTn id="44" dur="500" fill="hold"/>
                                        <p:tgtEl>
                                          <p:spTgt spid="67591"/>
                                        </p:tgtEl>
                                        <p:attrNameLst>
                                          <p:attrName>ppt_x</p:attrName>
                                        </p:attrNameLst>
                                      </p:cBhvr>
                                      <p:tavLst>
                                        <p:tav tm="0">
                                          <p:val>
                                            <p:strVal val="0-#ppt_w/2"/>
                                          </p:val>
                                        </p:tav>
                                        <p:tav tm="100000">
                                          <p:val>
                                            <p:strVal val="#ppt_x"/>
                                          </p:val>
                                        </p:tav>
                                      </p:tavLst>
                                    </p:anim>
                                    <p:anim calcmode="lin" valueType="num">
                                      <p:cBhvr additive="base">
                                        <p:cTn id="45" dur="500" fill="hold"/>
                                        <p:tgtEl>
                                          <p:spTgt spid="67591"/>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2" fill="hold" nodeType="clickEffect">
                                  <p:stCondLst>
                                    <p:cond delay="0"/>
                                  </p:stCondLst>
                                  <p:childTnLst>
                                    <p:set>
                                      <p:cBhvr>
                                        <p:cTn id="49" dur="1" fill="hold">
                                          <p:stCondLst>
                                            <p:cond delay="0"/>
                                          </p:stCondLst>
                                        </p:cTn>
                                        <p:tgtEl>
                                          <p:spTgt spid="67592"/>
                                        </p:tgtEl>
                                        <p:attrNameLst>
                                          <p:attrName>style.visibility</p:attrName>
                                        </p:attrNameLst>
                                      </p:cBhvr>
                                      <p:to>
                                        <p:strVal val="visible"/>
                                      </p:to>
                                    </p:set>
                                    <p:anim calcmode="lin" valueType="num">
                                      <p:cBhvr additive="base">
                                        <p:cTn id="50" dur="500" fill="hold"/>
                                        <p:tgtEl>
                                          <p:spTgt spid="67592"/>
                                        </p:tgtEl>
                                        <p:attrNameLst>
                                          <p:attrName>ppt_x</p:attrName>
                                        </p:attrNameLst>
                                      </p:cBhvr>
                                      <p:tavLst>
                                        <p:tav tm="0">
                                          <p:val>
                                            <p:strVal val="1+#ppt_w/2"/>
                                          </p:val>
                                        </p:tav>
                                        <p:tav tm="100000">
                                          <p:val>
                                            <p:strVal val="#ppt_x"/>
                                          </p:val>
                                        </p:tav>
                                      </p:tavLst>
                                    </p:anim>
                                    <p:anim calcmode="lin" valueType="num">
                                      <p:cBhvr additive="base">
                                        <p:cTn id="51" dur="500" fill="hold"/>
                                        <p:tgtEl>
                                          <p:spTgt spid="67592"/>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67595"/>
                                        </p:tgtEl>
                                        <p:attrNameLst>
                                          <p:attrName>style.visibility</p:attrName>
                                        </p:attrNameLst>
                                      </p:cBhvr>
                                      <p:to>
                                        <p:strVal val="visible"/>
                                      </p:to>
                                    </p:set>
                                    <p:anim calcmode="lin" valueType="num">
                                      <p:cBhvr additive="base">
                                        <p:cTn id="56" dur="500" fill="hold"/>
                                        <p:tgtEl>
                                          <p:spTgt spid="67595"/>
                                        </p:tgtEl>
                                        <p:attrNameLst>
                                          <p:attrName>ppt_x</p:attrName>
                                        </p:attrNameLst>
                                      </p:cBhvr>
                                      <p:tavLst>
                                        <p:tav tm="0">
                                          <p:val>
                                            <p:strVal val="0-#ppt_w/2"/>
                                          </p:val>
                                        </p:tav>
                                        <p:tav tm="100000">
                                          <p:val>
                                            <p:strVal val="#ppt_x"/>
                                          </p:val>
                                        </p:tav>
                                      </p:tavLst>
                                    </p:anim>
                                    <p:anim calcmode="lin" valueType="num">
                                      <p:cBhvr additive="base">
                                        <p:cTn id="57" dur="500" fill="hold"/>
                                        <p:tgtEl>
                                          <p:spTgt spid="67595"/>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2" fill="hold" nodeType="clickEffect">
                                  <p:stCondLst>
                                    <p:cond delay="0"/>
                                  </p:stCondLst>
                                  <p:childTnLst>
                                    <p:set>
                                      <p:cBhvr>
                                        <p:cTn id="61" dur="1" fill="hold">
                                          <p:stCondLst>
                                            <p:cond delay="0"/>
                                          </p:stCondLst>
                                        </p:cTn>
                                        <p:tgtEl>
                                          <p:spTgt spid="67594"/>
                                        </p:tgtEl>
                                        <p:attrNameLst>
                                          <p:attrName>style.visibility</p:attrName>
                                        </p:attrNameLst>
                                      </p:cBhvr>
                                      <p:to>
                                        <p:strVal val="visible"/>
                                      </p:to>
                                    </p:set>
                                    <p:anim calcmode="lin" valueType="num">
                                      <p:cBhvr additive="base">
                                        <p:cTn id="62" dur="500" fill="hold"/>
                                        <p:tgtEl>
                                          <p:spTgt spid="67594"/>
                                        </p:tgtEl>
                                        <p:attrNameLst>
                                          <p:attrName>ppt_x</p:attrName>
                                        </p:attrNameLst>
                                      </p:cBhvr>
                                      <p:tavLst>
                                        <p:tav tm="0">
                                          <p:val>
                                            <p:strVal val="1+#ppt_w/2"/>
                                          </p:val>
                                        </p:tav>
                                        <p:tav tm="100000">
                                          <p:val>
                                            <p:strVal val="#ppt_x"/>
                                          </p:val>
                                        </p:tav>
                                      </p:tavLst>
                                    </p:anim>
                                    <p:anim calcmode="lin" valueType="num">
                                      <p:cBhvr additive="base">
                                        <p:cTn id="63" dur="500" fill="hold"/>
                                        <p:tgtEl>
                                          <p:spTgt spid="675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1" grpId="0" autoUpdateAnimBg="0"/>
      <p:bldP spid="67595" grpId="0" autoUpdateAnimBg="0"/>
      <p:bldP spid="6762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20" name="Object 12"/>
          <p:cNvGraphicFramePr>
            <a:graphicFrameLocks noChangeAspect="1"/>
          </p:cNvGraphicFramePr>
          <p:nvPr/>
        </p:nvGraphicFramePr>
        <p:xfrm>
          <a:off x="5292725" y="5522913"/>
          <a:ext cx="3041650" cy="752475"/>
        </p:xfrm>
        <a:graphic>
          <a:graphicData uri="http://schemas.openxmlformats.org/presentationml/2006/ole">
            <mc:AlternateContent xmlns:mc="http://schemas.openxmlformats.org/markup-compatibility/2006">
              <mc:Choice xmlns:v="urn:schemas-microsoft-com:vml" Requires="v">
                <p:oleObj spid="_x0000_s69076" name="Equation" r:id="rId3" imgW="1739880" imgH="431640" progId="Equation.3">
                  <p:embed/>
                </p:oleObj>
              </mc:Choice>
              <mc:Fallback>
                <p:oleObj name="Equation" r:id="rId3" imgW="1739880" imgH="43164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5522913"/>
                        <a:ext cx="3041650"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1" name="Object 13"/>
          <p:cNvGraphicFramePr>
            <a:graphicFrameLocks noChangeAspect="1"/>
          </p:cNvGraphicFramePr>
          <p:nvPr/>
        </p:nvGraphicFramePr>
        <p:xfrm>
          <a:off x="3986213" y="3608388"/>
          <a:ext cx="4046537" cy="431800"/>
        </p:xfrm>
        <a:graphic>
          <a:graphicData uri="http://schemas.openxmlformats.org/presentationml/2006/ole">
            <mc:AlternateContent xmlns:mc="http://schemas.openxmlformats.org/markup-compatibility/2006">
              <mc:Choice xmlns:v="urn:schemas-microsoft-com:vml" Requires="v">
                <p:oleObj spid="_x0000_s69077" name="Equation" r:id="rId5" imgW="2006280" imgH="215640" progId="Equation.3">
                  <p:embed/>
                </p:oleObj>
              </mc:Choice>
              <mc:Fallback>
                <p:oleObj name="Equation" r:id="rId5" imgW="2006280" imgH="21564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6213" y="3608388"/>
                        <a:ext cx="40465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22" name="Object 14"/>
          <p:cNvGraphicFramePr>
            <a:graphicFrameLocks noChangeAspect="1"/>
          </p:cNvGraphicFramePr>
          <p:nvPr/>
        </p:nvGraphicFramePr>
        <p:xfrm>
          <a:off x="3916363" y="4148138"/>
          <a:ext cx="4905375" cy="400050"/>
        </p:xfrm>
        <a:graphic>
          <a:graphicData uri="http://schemas.openxmlformats.org/presentationml/2006/ole">
            <mc:AlternateContent xmlns:mc="http://schemas.openxmlformats.org/markup-compatibility/2006">
              <mc:Choice xmlns:v="urn:schemas-microsoft-com:vml" Requires="v">
                <p:oleObj spid="_x0000_s69078" name="Equation" r:id="rId7" imgW="2628720" imgH="215640" progId="Equation.3">
                  <p:embed/>
                </p:oleObj>
              </mc:Choice>
              <mc:Fallback>
                <p:oleObj name="Equation" r:id="rId7" imgW="2628720" imgH="21564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6363" y="4148138"/>
                        <a:ext cx="4905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23" name="Object 15"/>
          <p:cNvGraphicFramePr>
            <a:graphicFrameLocks noChangeAspect="1"/>
          </p:cNvGraphicFramePr>
          <p:nvPr/>
        </p:nvGraphicFramePr>
        <p:xfrm>
          <a:off x="3973513" y="4616450"/>
          <a:ext cx="3279775" cy="795338"/>
        </p:xfrm>
        <a:graphic>
          <a:graphicData uri="http://schemas.openxmlformats.org/presentationml/2006/ole">
            <mc:AlternateContent xmlns:mc="http://schemas.openxmlformats.org/markup-compatibility/2006">
              <mc:Choice xmlns:v="urn:schemas-microsoft-com:vml" Requires="v">
                <p:oleObj spid="_x0000_s69079" name="Equation" r:id="rId9" imgW="1777680" imgH="431640" progId="Equation.3">
                  <p:embed/>
                </p:oleObj>
              </mc:Choice>
              <mc:Fallback>
                <p:oleObj name="Equation" r:id="rId9" imgW="1777680" imgH="43164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3513" y="4616450"/>
                        <a:ext cx="3279775"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24" name="Object 16"/>
          <p:cNvGraphicFramePr>
            <a:graphicFrameLocks noChangeAspect="1"/>
          </p:cNvGraphicFramePr>
          <p:nvPr/>
        </p:nvGraphicFramePr>
        <p:xfrm>
          <a:off x="968375" y="5459413"/>
          <a:ext cx="4011613" cy="814387"/>
        </p:xfrm>
        <a:graphic>
          <a:graphicData uri="http://schemas.openxmlformats.org/presentationml/2006/ole">
            <mc:AlternateContent xmlns:mc="http://schemas.openxmlformats.org/markup-compatibility/2006">
              <mc:Choice xmlns:v="urn:schemas-microsoft-com:vml" Requires="v">
                <p:oleObj spid="_x0000_s69080" name="Equation" r:id="rId11" imgW="2120760" imgH="431640" progId="Equation.3">
                  <p:embed/>
                </p:oleObj>
              </mc:Choice>
              <mc:Fallback>
                <p:oleObj name="Equation" r:id="rId11" imgW="2120760" imgH="43164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8375" y="5459413"/>
                        <a:ext cx="4011613"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9" name="Text Box 11"/>
          <p:cNvSpPr txBox="1">
            <a:spLocks noChangeArrowheads="1"/>
          </p:cNvSpPr>
          <p:nvPr/>
        </p:nvSpPr>
        <p:spPr bwMode="auto">
          <a:xfrm>
            <a:off x="419100" y="2973388"/>
            <a:ext cx="4778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解</a:t>
            </a:r>
            <a:r>
              <a:rPr lang="zh-CN" altLang="en-US" b="1">
                <a:solidFill>
                  <a:schemeClr val="accent2"/>
                </a:solidFill>
              </a:rPr>
              <a:t>    </a:t>
            </a:r>
            <a:r>
              <a:rPr lang="zh-CN" altLang="en-US" b="1"/>
              <a:t>利用空心变压器原边等效电路</a:t>
            </a:r>
          </a:p>
        </p:txBody>
      </p:sp>
      <p:grpSp>
        <p:nvGrpSpPr>
          <p:cNvPr id="68865" name="Group 257"/>
          <p:cNvGrpSpPr>
            <a:grpSpLocks/>
          </p:cNvGrpSpPr>
          <p:nvPr/>
        </p:nvGrpSpPr>
        <p:grpSpPr bwMode="auto">
          <a:xfrm>
            <a:off x="149225" y="304800"/>
            <a:ext cx="8583613" cy="2490788"/>
            <a:chOff x="94" y="192"/>
            <a:chExt cx="5407" cy="1569"/>
          </a:xfrm>
        </p:grpSpPr>
        <p:sp>
          <p:nvSpPr>
            <p:cNvPr id="68610" name="Text Box 2"/>
            <p:cNvSpPr txBox="1">
              <a:spLocks noChangeArrowheads="1"/>
            </p:cNvSpPr>
            <p:nvPr/>
          </p:nvSpPr>
          <p:spPr bwMode="auto">
            <a:xfrm>
              <a:off x="94" y="192"/>
              <a:ext cx="5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例</a:t>
              </a:r>
              <a:r>
                <a:rPr lang="en-US" altLang="zh-CN" b="1">
                  <a:solidFill>
                    <a:srgbClr val="FF3300"/>
                  </a:solidFill>
                </a:rPr>
                <a:t>2  </a:t>
              </a:r>
            </a:p>
          </p:txBody>
        </p:sp>
        <p:sp>
          <p:nvSpPr>
            <p:cNvPr id="68612" name="Rectangle 4"/>
            <p:cNvSpPr>
              <a:spLocks noChangeArrowheads="1"/>
            </p:cNvSpPr>
            <p:nvPr/>
          </p:nvSpPr>
          <p:spPr bwMode="auto">
            <a:xfrm>
              <a:off x="3220" y="528"/>
              <a:ext cx="20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R</a:t>
              </a:r>
              <a:r>
                <a:rPr lang="en-US" altLang="zh-CN" b="1" baseline="-25000"/>
                <a:t>L</a:t>
              </a:r>
              <a:r>
                <a:rPr lang="en-US" altLang="zh-CN" b="1"/>
                <a:t>=42</a:t>
              </a:r>
              <a:r>
                <a:rPr lang="en-US" altLang="zh-CN" b="1">
                  <a:latin typeface="Symbol" panose="05050102010706020507" pitchFamily="18" charset="2"/>
                </a:rPr>
                <a:t>W</a:t>
              </a:r>
              <a:r>
                <a:rPr lang="en-US" altLang="zh-CN" b="1"/>
                <a:t> , </a:t>
              </a:r>
              <a:r>
                <a:rPr lang="en-US" altLang="zh-CN" b="1" i="1">
                  <a:latin typeface="Symbol" panose="05050102010706020507" pitchFamily="18" charset="2"/>
                </a:rPr>
                <a:t>w</a:t>
              </a:r>
              <a:r>
                <a:rPr lang="en-US" altLang="zh-CN" b="1">
                  <a:latin typeface="Symbol" panose="05050102010706020507" pitchFamily="18" charset="2"/>
                </a:rPr>
                <a:t> =314</a:t>
              </a:r>
              <a:r>
                <a:rPr lang="en-US" altLang="zh-CN" b="1"/>
                <a:t>rad/s,</a:t>
              </a:r>
            </a:p>
          </p:txBody>
        </p:sp>
        <p:graphicFrame>
          <p:nvGraphicFramePr>
            <p:cNvPr id="68613" name="Object 5"/>
            <p:cNvGraphicFramePr>
              <a:graphicFrameLocks noChangeAspect="1"/>
            </p:cNvGraphicFramePr>
            <p:nvPr/>
          </p:nvGraphicFramePr>
          <p:xfrm>
            <a:off x="3228" y="827"/>
            <a:ext cx="1379" cy="322"/>
          </p:xfrm>
          <a:graphic>
            <a:graphicData uri="http://schemas.openxmlformats.org/presentationml/2006/ole">
              <mc:AlternateContent xmlns:mc="http://schemas.openxmlformats.org/markup-compatibility/2006">
                <mc:Choice xmlns:v="urn:schemas-microsoft-com:vml" Requires="v">
                  <p:oleObj spid="_x0000_s69081" name="Equation" r:id="rId13" imgW="1028520" imgH="241200" progId="Equation.3">
                    <p:embed/>
                  </p:oleObj>
                </mc:Choice>
                <mc:Fallback>
                  <p:oleObj name="Equation" r:id="rId13" imgW="1028520" imgH="24120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28" y="827"/>
                          <a:ext cx="1379"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6" name="Object 8"/>
            <p:cNvGraphicFramePr>
              <a:graphicFrameLocks noChangeAspect="1"/>
            </p:cNvGraphicFramePr>
            <p:nvPr/>
          </p:nvGraphicFramePr>
          <p:xfrm>
            <a:off x="3167" y="1284"/>
            <a:ext cx="1086" cy="296"/>
          </p:xfrm>
          <a:graphic>
            <a:graphicData uri="http://schemas.openxmlformats.org/presentationml/2006/ole">
              <mc:AlternateContent xmlns:mc="http://schemas.openxmlformats.org/markup-compatibility/2006">
                <mc:Choice xmlns:v="urn:schemas-microsoft-com:vml" Requires="v">
                  <p:oleObj spid="_x0000_s69082" name="Equation" r:id="rId15" imgW="838080" imgH="228600" progId="Equation.3">
                    <p:embed/>
                  </p:oleObj>
                </mc:Choice>
                <mc:Fallback>
                  <p:oleObj name="Equation" r:id="rId15" imgW="83808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7" y="1284"/>
                          <a:ext cx="1086"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8798" name="Group 190"/>
            <p:cNvGrpSpPr>
              <a:grpSpLocks/>
            </p:cNvGrpSpPr>
            <p:nvPr/>
          </p:nvGrpSpPr>
          <p:grpSpPr bwMode="auto">
            <a:xfrm>
              <a:off x="111" y="575"/>
              <a:ext cx="3293" cy="1186"/>
              <a:chOff x="343" y="823"/>
              <a:chExt cx="3293" cy="1186"/>
            </a:xfrm>
          </p:grpSpPr>
          <p:sp>
            <p:nvSpPr>
              <p:cNvPr id="68799" name="Line 191"/>
              <p:cNvSpPr>
                <a:spLocks noChangeShapeType="1"/>
              </p:cNvSpPr>
              <p:nvPr/>
            </p:nvSpPr>
            <p:spPr bwMode="auto">
              <a:xfrm flipH="1">
                <a:off x="1582" y="1732"/>
                <a:ext cx="2" cy="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0" name="Line 192"/>
              <p:cNvSpPr>
                <a:spLocks noChangeShapeType="1"/>
              </p:cNvSpPr>
              <p:nvPr/>
            </p:nvSpPr>
            <p:spPr bwMode="auto">
              <a:xfrm>
                <a:off x="1579" y="1222"/>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1" name="Line 193"/>
              <p:cNvSpPr>
                <a:spLocks noChangeShapeType="1"/>
              </p:cNvSpPr>
              <p:nvPr/>
            </p:nvSpPr>
            <p:spPr bwMode="auto">
              <a:xfrm flipH="1">
                <a:off x="1922" y="1758"/>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2" name="Line 194"/>
              <p:cNvSpPr>
                <a:spLocks noChangeShapeType="1"/>
              </p:cNvSpPr>
              <p:nvPr/>
            </p:nvSpPr>
            <p:spPr bwMode="auto">
              <a:xfrm>
                <a:off x="1923" y="1235"/>
                <a:ext cx="0" cy="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3" name="Line 195"/>
              <p:cNvSpPr>
                <a:spLocks noChangeShapeType="1"/>
              </p:cNvSpPr>
              <p:nvPr/>
            </p:nvSpPr>
            <p:spPr bwMode="auto">
              <a:xfrm flipV="1">
                <a:off x="1279" y="1225"/>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4" name="Line 196"/>
              <p:cNvSpPr>
                <a:spLocks noChangeShapeType="1"/>
              </p:cNvSpPr>
              <p:nvPr/>
            </p:nvSpPr>
            <p:spPr bwMode="auto">
              <a:xfrm flipV="1">
                <a:off x="1923" y="2003"/>
                <a:ext cx="8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5" name="Line 197"/>
              <p:cNvSpPr>
                <a:spLocks noChangeShapeType="1"/>
              </p:cNvSpPr>
              <p:nvPr/>
            </p:nvSpPr>
            <p:spPr bwMode="auto">
              <a:xfrm>
                <a:off x="2899" y="1244"/>
                <a:ext cx="0" cy="24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06" name="Text Box 198"/>
              <p:cNvSpPr txBox="1">
                <a:spLocks noChangeArrowheads="1"/>
              </p:cNvSpPr>
              <p:nvPr/>
            </p:nvSpPr>
            <p:spPr bwMode="auto">
              <a:xfrm>
                <a:off x="1559" y="1211"/>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68807" name="Text Box 199"/>
              <p:cNvSpPr txBox="1">
                <a:spLocks noChangeArrowheads="1"/>
              </p:cNvSpPr>
              <p:nvPr/>
            </p:nvSpPr>
            <p:spPr bwMode="auto">
              <a:xfrm>
                <a:off x="1759" y="1231"/>
                <a:ext cx="1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68808" name="Text Box 200"/>
              <p:cNvSpPr txBox="1">
                <a:spLocks noChangeArrowheads="1"/>
              </p:cNvSpPr>
              <p:nvPr/>
            </p:nvSpPr>
            <p:spPr bwMode="auto">
              <a:xfrm>
                <a:off x="1108" y="143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1</a:t>
                </a:r>
                <a:endParaRPr lang="en-US" altLang="zh-CN" b="1"/>
              </a:p>
            </p:txBody>
          </p:sp>
          <p:sp>
            <p:nvSpPr>
              <p:cNvPr id="68809" name="Line 201"/>
              <p:cNvSpPr>
                <a:spLocks noChangeShapeType="1"/>
              </p:cNvSpPr>
              <p:nvPr/>
            </p:nvSpPr>
            <p:spPr bwMode="auto">
              <a:xfrm>
                <a:off x="752" y="1145"/>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8810" name="Group 202"/>
              <p:cNvGrpSpPr>
                <a:grpSpLocks/>
              </p:cNvGrpSpPr>
              <p:nvPr/>
            </p:nvGrpSpPr>
            <p:grpSpPr bwMode="auto">
              <a:xfrm rot="16200000" flipH="1">
                <a:off x="1758" y="1585"/>
                <a:ext cx="299" cy="49"/>
                <a:chOff x="1200" y="1584"/>
                <a:chExt cx="379" cy="45"/>
              </a:xfrm>
            </p:grpSpPr>
            <p:sp>
              <p:nvSpPr>
                <p:cNvPr id="68811" name="Arc 20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2" name="Arc 20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3" name="Arc 20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4" name="Arc 20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8815" name="Group 207"/>
              <p:cNvGrpSpPr>
                <a:grpSpLocks/>
              </p:cNvGrpSpPr>
              <p:nvPr/>
            </p:nvGrpSpPr>
            <p:grpSpPr bwMode="auto">
              <a:xfrm rot="5400000">
                <a:off x="1459" y="1573"/>
                <a:ext cx="299" cy="48"/>
                <a:chOff x="1200" y="1584"/>
                <a:chExt cx="379" cy="45"/>
              </a:xfrm>
            </p:grpSpPr>
            <p:sp>
              <p:nvSpPr>
                <p:cNvPr id="68816" name="Arc 20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7" name="Arc 20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8" name="Arc 21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19" name="Arc 21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8820" name="Arc 212"/>
              <p:cNvSpPr>
                <a:spLocks/>
              </p:cNvSpPr>
              <p:nvPr/>
            </p:nvSpPr>
            <p:spPr bwMode="auto">
              <a:xfrm rot="10800000" flipV="1">
                <a:off x="1544" y="1076"/>
                <a:ext cx="166" cy="163"/>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21" name="Arc 213"/>
              <p:cNvSpPr>
                <a:spLocks/>
              </p:cNvSpPr>
              <p:nvPr/>
            </p:nvSpPr>
            <p:spPr bwMode="auto">
              <a:xfrm rot="-10800000" flipH="1" flipV="1">
                <a:off x="1770" y="1079"/>
                <a:ext cx="167" cy="162"/>
              </a:xfrm>
              <a:custGeom>
                <a:avLst/>
                <a:gdLst>
                  <a:gd name="G0" fmla="+- 0 0 0"/>
                  <a:gd name="G1" fmla="+- 21109 0 0"/>
                  <a:gd name="G2" fmla="+- 21600 0 0"/>
                  <a:gd name="T0" fmla="*/ 4580 w 20759"/>
                  <a:gd name="T1" fmla="*/ 0 h 21109"/>
                  <a:gd name="T2" fmla="*/ 20759 w 20759"/>
                  <a:gd name="T3" fmla="*/ 15139 h 21109"/>
                  <a:gd name="T4" fmla="*/ 0 w 20759"/>
                  <a:gd name="T5" fmla="*/ 21109 h 21109"/>
                </a:gdLst>
                <a:ahLst/>
                <a:cxnLst>
                  <a:cxn ang="0">
                    <a:pos x="T0" y="T1"/>
                  </a:cxn>
                  <a:cxn ang="0">
                    <a:pos x="T2" y="T3"/>
                  </a:cxn>
                  <a:cxn ang="0">
                    <a:pos x="T4" y="T5"/>
                  </a:cxn>
                </a:cxnLst>
                <a:rect l="0" t="0" r="r" b="b"/>
                <a:pathLst>
                  <a:path w="20759" h="21109" fill="none" extrusionOk="0">
                    <a:moveTo>
                      <a:pt x="4579" y="0"/>
                    </a:moveTo>
                    <a:cubicBezTo>
                      <a:pt x="12347" y="1685"/>
                      <a:pt x="18561" y="7500"/>
                      <a:pt x="20758" y="15139"/>
                    </a:cubicBezTo>
                  </a:path>
                  <a:path w="20759" h="21109" stroke="0" extrusionOk="0">
                    <a:moveTo>
                      <a:pt x="4579" y="0"/>
                    </a:moveTo>
                    <a:cubicBezTo>
                      <a:pt x="12347" y="1685"/>
                      <a:pt x="18561" y="7500"/>
                      <a:pt x="20758" y="15139"/>
                    </a:cubicBezTo>
                    <a:lnTo>
                      <a:pt x="0" y="21109"/>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22" name="Line 214"/>
              <p:cNvSpPr>
                <a:spLocks noChangeShapeType="1"/>
              </p:cNvSpPr>
              <p:nvPr/>
            </p:nvSpPr>
            <p:spPr bwMode="auto">
              <a:xfrm>
                <a:off x="1922" y="1235"/>
                <a:ext cx="31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8823" name="Object 215"/>
              <p:cNvGraphicFramePr>
                <a:graphicFrameLocks noChangeAspect="1"/>
              </p:cNvGraphicFramePr>
              <p:nvPr/>
            </p:nvGraphicFramePr>
            <p:xfrm>
              <a:off x="773" y="860"/>
              <a:ext cx="224" cy="291"/>
            </p:xfrm>
            <a:graphic>
              <a:graphicData uri="http://schemas.openxmlformats.org/presentationml/2006/ole">
                <mc:AlternateContent xmlns:mc="http://schemas.openxmlformats.org/markup-compatibility/2006">
                  <mc:Choice xmlns:v="urn:schemas-microsoft-com:vml" Requires="v">
                    <p:oleObj spid="_x0000_s69083" name="Equation" r:id="rId17" imgW="164880" imgH="228600" progId="Equation.3">
                      <p:embed/>
                    </p:oleObj>
                  </mc:Choice>
                  <mc:Fallback>
                    <p:oleObj name="Equation" r:id="rId17" imgW="164880" imgH="228600" progId="Equation.3">
                      <p:embed/>
                      <p:pic>
                        <p:nvPicPr>
                          <p:cNvPr id="0" name="Object 2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3" y="860"/>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824" name="Object 216"/>
              <p:cNvGraphicFramePr>
                <a:graphicFrameLocks noChangeAspect="1"/>
              </p:cNvGraphicFramePr>
              <p:nvPr/>
            </p:nvGraphicFramePr>
            <p:xfrm>
              <a:off x="2936" y="1211"/>
              <a:ext cx="245" cy="290"/>
            </p:xfrm>
            <a:graphic>
              <a:graphicData uri="http://schemas.openxmlformats.org/presentationml/2006/ole">
                <mc:AlternateContent xmlns:mc="http://schemas.openxmlformats.org/markup-compatibility/2006">
                  <mc:Choice xmlns:v="urn:schemas-microsoft-com:vml" Requires="v">
                    <p:oleObj spid="_x0000_s69084" name="Equation" r:id="rId19" imgW="177480" imgH="228600" progId="Equation.3">
                      <p:embed/>
                    </p:oleObj>
                  </mc:Choice>
                  <mc:Fallback>
                    <p:oleObj name="Equation" r:id="rId19" imgW="177480" imgH="228600" progId="Equation.3">
                      <p:embed/>
                      <p:pic>
                        <p:nvPicPr>
                          <p:cNvPr id="0" name="Object 2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36" y="1211"/>
                            <a:ext cx="24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825" name="Text Box 217"/>
              <p:cNvSpPr txBox="1">
                <a:spLocks noChangeArrowheads="1"/>
              </p:cNvSpPr>
              <p:nvPr/>
            </p:nvSpPr>
            <p:spPr bwMode="auto">
              <a:xfrm>
                <a:off x="1917" y="1466"/>
                <a:ext cx="5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2</a:t>
                </a:r>
                <a:endParaRPr lang="en-US" altLang="zh-CN" b="1"/>
              </a:p>
            </p:txBody>
          </p:sp>
          <p:sp>
            <p:nvSpPr>
              <p:cNvPr id="68826" name="Text Box 218"/>
              <p:cNvSpPr txBox="1">
                <a:spLocks noChangeArrowheads="1"/>
              </p:cNvSpPr>
              <p:nvPr/>
            </p:nvSpPr>
            <p:spPr bwMode="auto">
              <a:xfrm>
                <a:off x="1511" y="823"/>
                <a:ext cx="7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M</a:t>
                </a:r>
                <a:endParaRPr lang="en-US" altLang="zh-CN" b="1"/>
              </a:p>
            </p:txBody>
          </p:sp>
          <p:sp>
            <p:nvSpPr>
              <p:cNvPr id="68827" name="Line 219"/>
              <p:cNvSpPr>
                <a:spLocks noChangeShapeType="1"/>
              </p:cNvSpPr>
              <p:nvPr/>
            </p:nvSpPr>
            <p:spPr bwMode="auto">
              <a:xfrm flipH="1">
                <a:off x="711" y="2002"/>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28" name="Text Box 220"/>
              <p:cNvSpPr txBox="1">
                <a:spLocks noChangeArrowheads="1"/>
              </p:cNvSpPr>
              <p:nvPr/>
            </p:nvSpPr>
            <p:spPr bwMode="auto">
              <a:xfrm>
                <a:off x="527" y="1198"/>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68829" name="Text Box 221"/>
              <p:cNvSpPr txBox="1">
                <a:spLocks noChangeArrowheads="1"/>
              </p:cNvSpPr>
              <p:nvPr/>
            </p:nvSpPr>
            <p:spPr bwMode="auto">
              <a:xfrm>
                <a:off x="521" y="1594"/>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graphicFrame>
            <p:nvGraphicFramePr>
              <p:cNvPr id="68830" name="Object 222"/>
              <p:cNvGraphicFramePr>
                <a:graphicFrameLocks noChangeAspect="1"/>
              </p:cNvGraphicFramePr>
              <p:nvPr/>
            </p:nvGraphicFramePr>
            <p:xfrm>
              <a:off x="343" y="1405"/>
              <a:ext cx="247" cy="301"/>
            </p:xfrm>
            <a:graphic>
              <a:graphicData uri="http://schemas.openxmlformats.org/presentationml/2006/ole">
                <mc:AlternateContent xmlns:mc="http://schemas.openxmlformats.org/markup-compatibility/2006">
                  <mc:Choice xmlns:v="urn:schemas-microsoft-com:vml" Requires="v">
                    <p:oleObj spid="_x0000_s69085" name="Equation" r:id="rId21" imgW="215640" imgH="241200" progId="Equation.3">
                      <p:embed/>
                    </p:oleObj>
                  </mc:Choice>
                  <mc:Fallback>
                    <p:oleObj name="Equation" r:id="rId21" imgW="215640" imgH="241200" progId="Equation.3">
                      <p:embed/>
                      <p:pic>
                        <p:nvPicPr>
                          <p:cNvPr id="0" name="Object 2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3" y="1405"/>
                            <a:ext cx="247"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831" name="Rectangle 223"/>
              <p:cNvSpPr>
                <a:spLocks noChangeArrowheads="1"/>
              </p:cNvSpPr>
              <p:nvPr/>
            </p:nvSpPr>
            <p:spPr bwMode="auto">
              <a:xfrm>
                <a:off x="1052" y="1189"/>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2" name="Oval 224"/>
              <p:cNvSpPr>
                <a:spLocks noChangeArrowheads="1"/>
              </p:cNvSpPr>
              <p:nvPr/>
            </p:nvSpPr>
            <p:spPr bwMode="auto">
              <a:xfrm>
                <a:off x="597" y="1440"/>
                <a:ext cx="227" cy="227"/>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3" name="Line 225"/>
              <p:cNvSpPr>
                <a:spLocks noChangeShapeType="1"/>
              </p:cNvSpPr>
              <p:nvPr/>
            </p:nvSpPr>
            <p:spPr bwMode="auto">
              <a:xfrm>
                <a:off x="711" y="1216"/>
                <a:ext cx="0" cy="7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4" name="Line 226"/>
              <p:cNvSpPr>
                <a:spLocks noChangeShapeType="1"/>
              </p:cNvSpPr>
              <p:nvPr/>
            </p:nvSpPr>
            <p:spPr bwMode="auto">
              <a:xfrm flipH="1">
                <a:off x="711" y="1221"/>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5" name="Rectangle 227"/>
              <p:cNvSpPr>
                <a:spLocks noChangeArrowheads="1"/>
              </p:cNvSpPr>
              <p:nvPr/>
            </p:nvSpPr>
            <p:spPr bwMode="auto">
              <a:xfrm>
                <a:off x="2238" y="1200"/>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6" name="Rectangle 228"/>
              <p:cNvSpPr>
                <a:spLocks noChangeArrowheads="1"/>
              </p:cNvSpPr>
              <p:nvPr/>
            </p:nvSpPr>
            <p:spPr bwMode="auto">
              <a:xfrm rot="5400000">
                <a:off x="2681" y="1566"/>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7" name="Line 229"/>
              <p:cNvSpPr>
                <a:spLocks noChangeShapeType="1"/>
              </p:cNvSpPr>
              <p:nvPr/>
            </p:nvSpPr>
            <p:spPr bwMode="auto">
              <a:xfrm>
                <a:off x="2798" y="1713"/>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8" name="Line 230"/>
              <p:cNvSpPr>
                <a:spLocks noChangeShapeType="1"/>
              </p:cNvSpPr>
              <p:nvPr/>
            </p:nvSpPr>
            <p:spPr bwMode="auto">
              <a:xfrm flipV="1">
                <a:off x="2798" y="1241"/>
                <a:ext cx="0" cy="2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39" name="Line 231"/>
              <p:cNvSpPr>
                <a:spLocks noChangeShapeType="1"/>
              </p:cNvSpPr>
              <p:nvPr/>
            </p:nvSpPr>
            <p:spPr bwMode="auto">
              <a:xfrm>
                <a:off x="2465" y="1241"/>
                <a:ext cx="3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40" name="Text Box 232"/>
              <p:cNvSpPr txBox="1">
                <a:spLocks noChangeArrowheads="1"/>
              </p:cNvSpPr>
              <p:nvPr/>
            </p:nvSpPr>
            <p:spPr bwMode="auto">
              <a:xfrm>
                <a:off x="1040" y="887"/>
                <a:ext cx="4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R</a:t>
                </a:r>
                <a:r>
                  <a:rPr lang="en-US" altLang="zh-CN" b="1" baseline="-25000"/>
                  <a:t>1</a:t>
                </a:r>
                <a:endParaRPr lang="en-US" altLang="zh-CN" b="1"/>
              </a:p>
            </p:txBody>
          </p:sp>
          <p:sp>
            <p:nvSpPr>
              <p:cNvPr id="68841" name="Text Box 233"/>
              <p:cNvSpPr txBox="1">
                <a:spLocks noChangeArrowheads="1"/>
              </p:cNvSpPr>
              <p:nvPr/>
            </p:nvSpPr>
            <p:spPr bwMode="auto">
              <a:xfrm>
                <a:off x="2203" y="887"/>
                <a:ext cx="4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R</a:t>
                </a:r>
                <a:r>
                  <a:rPr lang="en-US" altLang="zh-CN" b="1" baseline="-25000"/>
                  <a:t>2</a:t>
                </a:r>
                <a:endParaRPr lang="en-US" altLang="zh-CN" b="1"/>
              </a:p>
            </p:txBody>
          </p:sp>
          <p:sp>
            <p:nvSpPr>
              <p:cNvPr id="68842" name="Text Box 234"/>
              <p:cNvSpPr txBox="1">
                <a:spLocks noChangeArrowheads="1"/>
              </p:cNvSpPr>
              <p:nvPr/>
            </p:nvSpPr>
            <p:spPr bwMode="auto">
              <a:xfrm>
                <a:off x="2822" y="1501"/>
                <a:ext cx="8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R</a:t>
                </a:r>
                <a:r>
                  <a:rPr lang="en-US" altLang="zh-CN" b="1" baseline="-25000"/>
                  <a:t>L</a:t>
                </a:r>
                <a:endParaRPr lang="en-US" altLang="zh-CN" b="1"/>
              </a:p>
            </p:txBody>
          </p:sp>
        </p:grpSp>
        <p:sp>
          <p:nvSpPr>
            <p:cNvPr id="68843" name="Text Box 235"/>
            <p:cNvSpPr txBox="1">
              <a:spLocks noChangeArrowheads="1"/>
            </p:cNvSpPr>
            <p:nvPr/>
          </p:nvSpPr>
          <p:spPr bwMode="auto">
            <a:xfrm>
              <a:off x="538" y="192"/>
              <a:ext cx="49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已知</a:t>
              </a:r>
              <a:r>
                <a:rPr lang="en-US" altLang="zh-CN" b="1" i="1"/>
                <a:t>L</a:t>
              </a:r>
              <a:r>
                <a:rPr lang="en-US" altLang="zh-CN" b="1" baseline="-25000"/>
                <a:t>1</a:t>
              </a:r>
              <a:r>
                <a:rPr lang="en-US" altLang="zh-CN" b="1"/>
                <a:t>=3.6H , </a:t>
              </a:r>
              <a:r>
                <a:rPr lang="en-US" altLang="zh-CN" b="1" i="1"/>
                <a:t>L</a:t>
              </a:r>
              <a:r>
                <a:rPr lang="en-US" altLang="zh-CN" b="1" baseline="-25000"/>
                <a:t>2</a:t>
              </a:r>
              <a:r>
                <a:rPr lang="en-US" altLang="zh-CN" b="1"/>
                <a:t>=0.06H , </a:t>
              </a:r>
              <a:r>
                <a:rPr lang="en-US" altLang="zh-CN" b="1" i="1"/>
                <a:t>M</a:t>
              </a:r>
              <a:r>
                <a:rPr lang="en-US" altLang="zh-CN" b="1"/>
                <a:t>=0.465H , </a:t>
              </a:r>
              <a:r>
                <a:rPr lang="en-US" altLang="zh-CN" b="1" i="1"/>
                <a:t>R</a:t>
              </a:r>
              <a:r>
                <a:rPr lang="en-US" altLang="zh-CN" b="1" baseline="-25000"/>
                <a:t>1</a:t>
              </a:r>
              <a:r>
                <a:rPr lang="en-US" altLang="zh-CN" b="1"/>
                <a:t>=20</a:t>
              </a:r>
              <a:r>
                <a:rPr lang="en-US" altLang="zh-CN" b="1">
                  <a:latin typeface="Symbol" panose="05050102010706020507" pitchFamily="18" charset="2"/>
                </a:rPr>
                <a:t>W</a:t>
              </a:r>
              <a:r>
                <a:rPr lang="en-US" altLang="zh-CN" b="1"/>
                <a:t> , </a:t>
              </a:r>
              <a:r>
                <a:rPr lang="en-US" altLang="zh-CN" b="1" i="1"/>
                <a:t>R</a:t>
              </a:r>
              <a:r>
                <a:rPr lang="en-US" altLang="zh-CN" b="1" baseline="-25000"/>
                <a:t>2</a:t>
              </a:r>
              <a:r>
                <a:rPr lang="en-US" altLang="zh-CN" b="1"/>
                <a:t>=0.08</a:t>
              </a:r>
              <a:r>
                <a:rPr lang="en-US" altLang="zh-CN" b="1">
                  <a:latin typeface="Symbol" panose="05050102010706020507" pitchFamily="18" charset="2"/>
                </a:rPr>
                <a:t>W</a:t>
              </a:r>
              <a:r>
                <a:rPr lang="en-US" altLang="zh-CN" b="1"/>
                <a:t> , </a:t>
              </a:r>
            </a:p>
          </p:txBody>
        </p:sp>
      </p:grpSp>
      <p:grpSp>
        <p:nvGrpSpPr>
          <p:cNvPr id="68844" name="Group 236"/>
          <p:cNvGrpSpPr>
            <a:grpSpLocks/>
          </p:cNvGrpSpPr>
          <p:nvPr/>
        </p:nvGrpSpPr>
        <p:grpSpPr bwMode="auto">
          <a:xfrm>
            <a:off x="522288" y="3497263"/>
            <a:ext cx="3121025" cy="1855787"/>
            <a:chOff x="3607" y="871"/>
            <a:chExt cx="1966" cy="1169"/>
          </a:xfrm>
        </p:grpSpPr>
        <p:sp>
          <p:nvSpPr>
            <p:cNvPr id="68845" name="Line 237"/>
            <p:cNvSpPr>
              <a:spLocks noChangeShapeType="1"/>
            </p:cNvSpPr>
            <p:nvPr/>
          </p:nvSpPr>
          <p:spPr bwMode="auto">
            <a:xfrm flipH="1">
              <a:off x="4846" y="1730"/>
              <a:ext cx="2"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46" name="Line 238"/>
            <p:cNvSpPr>
              <a:spLocks noChangeShapeType="1"/>
            </p:cNvSpPr>
            <p:nvPr/>
          </p:nvSpPr>
          <p:spPr bwMode="auto">
            <a:xfrm>
              <a:off x="4843" y="1251"/>
              <a:ext cx="0" cy="2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47" name="Line 239"/>
            <p:cNvSpPr>
              <a:spLocks noChangeShapeType="1"/>
            </p:cNvSpPr>
            <p:nvPr/>
          </p:nvSpPr>
          <p:spPr bwMode="auto">
            <a:xfrm flipV="1">
              <a:off x="4543" y="1248"/>
              <a:ext cx="303"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48" name="Line 240"/>
            <p:cNvSpPr>
              <a:spLocks noChangeShapeType="1"/>
            </p:cNvSpPr>
            <p:nvPr/>
          </p:nvSpPr>
          <p:spPr bwMode="auto">
            <a:xfrm>
              <a:off x="4016" y="1168"/>
              <a:ext cx="23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8849" name="Object 241"/>
            <p:cNvGraphicFramePr>
              <a:graphicFrameLocks noChangeAspect="1"/>
            </p:cNvGraphicFramePr>
            <p:nvPr/>
          </p:nvGraphicFramePr>
          <p:xfrm>
            <a:off x="4036" y="871"/>
            <a:ext cx="224" cy="289"/>
          </p:xfrm>
          <a:graphic>
            <a:graphicData uri="http://schemas.openxmlformats.org/presentationml/2006/ole">
              <mc:AlternateContent xmlns:mc="http://schemas.openxmlformats.org/markup-compatibility/2006">
                <mc:Choice xmlns:v="urn:schemas-microsoft-com:vml" Requires="v">
                  <p:oleObj spid="_x0000_s69086" name="Equation" r:id="rId23" imgW="164880" imgH="228600" progId="Equation.3">
                    <p:embed/>
                  </p:oleObj>
                </mc:Choice>
                <mc:Fallback>
                  <p:oleObj name="Equation" r:id="rId23" imgW="164880" imgH="228600" progId="Equation.3">
                    <p:embed/>
                    <p:pic>
                      <p:nvPicPr>
                        <p:cNvPr id="0" name="Object 2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36" y="871"/>
                          <a:ext cx="224"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850" name="Line 242"/>
            <p:cNvSpPr>
              <a:spLocks noChangeShapeType="1"/>
            </p:cNvSpPr>
            <p:nvPr/>
          </p:nvSpPr>
          <p:spPr bwMode="auto">
            <a:xfrm flipH="1">
              <a:off x="3975" y="2025"/>
              <a:ext cx="86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51" name="Text Box 243"/>
            <p:cNvSpPr txBox="1">
              <a:spLocks noChangeArrowheads="1"/>
            </p:cNvSpPr>
            <p:nvPr/>
          </p:nvSpPr>
          <p:spPr bwMode="auto">
            <a:xfrm>
              <a:off x="3773" y="1221"/>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68852" name="Text Box 244"/>
            <p:cNvSpPr txBox="1">
              <a:spLocks noChangeArrowheads="1"/>
            </p:cNvSpPr>
            <p:nvPr/>
          </p:nvSpPr>
          <p:spPr bwMode="auto">
            <a:xfrm>
              <a:off x="3785" y="1659"/>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graphicFrame>
          <p:nvGraphicFramePr>
            <p:cNvPr id="68853" name="Object 245"/>
            <p:cNvGraphicFramePr>
              <a:graphicFrameLocks noChangeAspect="1"/>
            </p:cNvGraphicFramePr>
            <p:nvPr/>
          </p:nvGraphicFramePr>
          <p:xfrm>
            <a:off x="3607" y="1476"/>
            <a:ext cx="247" cy="301"/>
          </p:xfrm>
          <a:graphic>
            <a:graphicData uri="http://schemas.openxmlformats.org/presentationml/2006/ole">
              <mc:AlternateContent xmlns:mc="http://schemas.openxmlformats.org/markup-compatibility/2006">
                <mc:Choice xmlns:v="urn:schemas-microsoft-com:vml" Requires="v">
                  <p:oleObj spid="_x0000_s69087" name="Equation" r:id="rId24" imgW="215640" imgH="241200" progId="Equation.3">
                    <p:embed/>
                  </p:oleObj>
                </mc:Choice>
                <mc:Fallback>
                  <p:oleObj name="Equation" r:id="rId24" imgW="215640" imgH="241200" progId="Equation.3">
                    <p:embed/>
                    <p:pic>
                      <p:nvPicPr>
                        <p:cNvPr id="0" name="Object 24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07" y="1476"/>
                          <a:ext cx="247"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854" name="Rectangle 246"/>
            <p:cNvSpPr>
              <a:spLocks noChangeArrowheads="1"/>
            </p:cNvSpPr>
            <p:nvPr/>
          </p:nvSpPr>
          <p:spPr bwMode="auto">
            <a:xfrm>
              <a:off x="4316" y="1212"/>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55" name="Oval 247"/>
            <p:cNvSpPr>
              <a:spLocks noChangeArrowheads="1"/>
            </p:cNvSpPr>
            <p:nvPr/>
          </p:nvSpPr>
          <p:spPr bwMode="auto">
            <a:xfrm>
              <a:off x="3855" y="1487"/>
              <a:ext cx="227" cy="227"/>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56" name="Line 248"/>
            <p:cNvSpPr>
              <a:spLocks noChangeShapeType="1"/>
            </p:cNvSpPr>
            <p:nvPr/>
          </p:nvSpPr>
          <p:spPr bwMode="auto">
            <a:xfrm flipH="1">
              <a:off x="3975" y="1244"/>
              <a:ext cx="341"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57" name="Rectangle 249"/>
            <p:cNvSpPr>
              <a:spLocks noChangeArrowheads="1"/>
            </p:cNvSpPr>
            <p:nvPr/>
          </p:nvSpPr>
          <p:spPr bwMode="auto">
            <a:xfrm rot="5400000">
              <a:off x="4734" y="1577"/>
              <a:ext cx="227" cy="79"/>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858" name="Text Box 250"/>
            <p:cNvSpPr txBox="1">
              <a:spLocks noChangeArrowheads="1"/>
            </p:cNvSpPr>
            <p:nvPr/>
          </p:nvSpPr>
          <p:spPr bwMode="auto">
            <a:xfrm>
              <a:off x="4256" y="910"/>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Z</a:t>
              </a:r>
              <a:r>
                <a:rPr lang="en-US" altLang="zh-CN" b="1" baseline="-25000"/>
                <a:t>11</a:t>
              </a:r>
              <a:endParaRPr lang="en-US" altLang="zh-CN" b="1"/>
            </a:p>
          </p:txBody>
        </p:sp>
        <p:sp>
          <p:nvSpPr>
            <p:cNvPr id="68859" name="Freeform 251"/>
            <p:cNvSpPr>
              <a:spLocks/>
            </p:cNvSpPr>
            <p:nvPr/>
          </p:nvSpPr>
          <p:spPr bwMode="auto">
            <a:xfrm>
              <a:off x="3972" y="1253"/>
              <a:ext cx="3" cy="787"/>
            </a:xfrm>
            <a:custGeom>
              <a:avLst/>
              <a:gdLst>
                <a:gd name="T0" fmla="*/ 3 w 3"/>
                <a:gd name="T1" fmla="*/ 0 h 787"/>
                <a:gd name="T2" fmla="*/ 0 w 3"/>
                <a:gd name="T3" fmla="*/ 787 h 787"/>
              </a:gdLst>
              <a:ahLst/>
              <a:cxnLst>
                <a:cxn ang="0">
                  <a:pos x="T0" y="T1"/>
                </a:cxn>
                <a:cxn ang="0">
                  <a:pos x="T2" y="T3"/>
                </a:cxn>
              </a:cxnLst>
              <a:rect l="0" t="0" r="r" b="b"/>
              <a:pathLst>
                <a:path w="3" h="787">
                  <a:moveTo>
                    <a:pt x="3" y="0"/>
                  </a:moveTo>
                  <a:lnTo>
                    <a:pt x="0" y="787"/>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8860" name="Object 252"/>
            <p:cNvGraphicFramePr>
              <a:graphicFrameLocks noChangeAspect="1"/>
            </p:cNvGraphicFramePr>
            <p:nvPr/>
          </p:nvGraphicFramePr>
          <p:xfrm>
            <a:off x="4934" y="1340"/>
            <a:ext cx="639" cy="574"/>
          </p:xfrm>
          <a:graphic>
            <a:graphicData uri="http://schemas.openxmlformats.org/presentationml/2006/ole">
              <mc:AlternateContent xmlns:mc="http://schemas.openxmlformats.org/markup-compatibility/2006">
                <mc:Choice xmlns:v="urn:schemas-microsoft-com:vml" Requires="v">
                  <p:oleObj spid="_x0000_s69088" name="Equation" r:id="rId26" imgW="507960" imgH="457200" progId="Equation.3">
                    <p:embed/>
                  </p:oleObj>
                </mc:Choice>
                <mc:Fallback>
                  <p:oleObj name="Equation" r:id="rId26" imgW="507960" imgH="457200" progId="Equation.3">
                    <p:embed/>
                    <p:pic>
                      <p:nvPicPr>
                        <p:cNvPr id="0" name="Object 25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34" y="1340"/>
                          <a:ext cx="639" cy="5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68865"/>
                                        </p:tgtEl>
                                        <p:attrNameLst>
                                          <p:attrName>style.visibility</p:attrName>
                                        </p:attrNameLst>
                                      </p:cBhvr>
                                      <p:to>
                                        <p:strVal val="visible"/>
                                      </p:to>
                                    </p:set>
                                    <p:animEffect transition="in" filter="dissolve">
                                      <p:cBhvr>
                                        <p:cTn id="7" dur="500"/>
                                        <p:tgtEl>
                                          <p:spTgt spid="688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8619"/>
                                        </p:tgtEl>
                                        <p:attrNameLst>
                                          <p:attrName>style.visibility</p:attrName>
                                        </p:attrNameLst>
                                      </p:cBhvr>
                                      <p:to>
                                        <p:strVal val="visible"/>
                                      </p:to>
                                    </p:set>
                                    <p:anim calcmode="lin" valueType="num">
                                      <p:cBhvr additive="base">
                                        <p:cTn id="12" dur="500" fill="hold"/>
                                        <p:tgtEl>
                                          <p:spTgt spid="68619"/>
                                        </p:tgtEl>
                                        <p:attrNameLst>
                                          <p:attrName>ppt_x</p:attrName>
                                        </p:attrNameLst>
                                      </p:cBhvr>
                                      <p:tavLst>
                                        <p:tav tm="0">
                                          <p:val>
                                            <p:strVal val="0-#ppt_w/2"/>
                                          </p:val>
                                        </p:tav>
                                        <p:tav tm="100000">
                                          <p:val>
                                            <p:strVal val="#ppt_x"/>
                                          </p:val>
                                        </p:tav>
                                      </p:tavLst>
                                    </p:anim>
                                    <p:anim calcmode="lin" valueType="num">
                                      <p:cBhvr additive="base">
                                        <p:cTn id="13" dur="500" fill="hold"/>
                                        <p:tgtEl>
                                          <p:spTgt spid="68619"/>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nodeType="clickEffect">
                                  <p:stCondLst>
                                    <p:cond delay="0"/>
                                  </p:stCondLst>
                                  <p:childTnLst>
                                    <p:set>
                                      <p:cBhvr>
                                        <p:cTn id="17" dur="1" fill="hold">
                                          <p:stCondLst>
                                            <p:cond delay="0"/>
                                          </p:stCondLst>
                                        </p:cTn>
                                        <p:tgtEl>
                                          <p:spTgt spid="68844"/>
                                        </p:tgtEl>
                                        <p:attrNameLst>
                                          <p:attrName>style.visibility</p:attrName>
                                        </p:attrNameLst>
                                      </p:cBhvr>
                                      <p:to>
                                        <p:strVal val="visible"/>
                                      </p:to>
                                    </p:set>
                                    <p:animEffect transition="in" filter="slide(fromLeft)">
                                      <p:cBhvr>
                                        <p:cTn id="18" dur="500"/>
                                        <p:tgtEl>
                                          <p:spTgt spid="6884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8621"/>
                                        </p:tgtEl>
                                        <p:attrNameLst>
                                          <p:attrName>style.visibility</p:attrName>
                                        </p:attrNameLst>
                                      </p:cBhvr>
                                      <p:to>
                                        <p:strVal val="visible"/>
                                      </p:to>
                                    </p:set>
                                    <p:animEffect transition="in" filter="wipe(left)">
                                      <p:cBhvr>
                                        <p:cTn id="23" dur="500"/>
                                        <p:tgtEl>
                                          <p:spTgt spid="6862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8622"/>
                                        </p:tgtEl>
                                        <p:attrNameLst>
                                          <p:attrName>style.visibility</p:attrName>
                                        </p:attrNameLst>
                                      </p:cBhvr>
                                      <p:to>
                                        <p:strVal val="visible"/>
                                      </p:to>
                                    </p:set>
                                    <p:animEffect transition="in" filter="wipe(left)">
                                      <p:cBhvr>
                                        <p:cTn id="28" dur="500"/>
                                        <p:tgtEl>
                                          <p:spTgt spid="6862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68623"/>
                                        </p:tgtEl>
                                        <p:attrNameLst>
                                          <p:attrName>style.visibility</p:attrName>
                                        </p:attrNameLst>
                                      </p:cBhvr>
                                      <p:to>
                                        <p:strVal val="visible"/>
                                      </p:to>
                                    </p:set>
                                    <p:animEffect transition="in" filter="wipe(left)">
                                      <p:cBhvr>
                                        <p:cTn id="33" dur="500"/>
                                        <p:tgtEl>
                                          <p:spTgt spid="68623"/>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68624"/>
                                        </p:tgtEl>
                                        <p:attrNameLst>
                                          <p:attrName>style.visibility</p:attrName>
                                        </p:attrNameLst>
                                      </p:cBhvr>
                                      <p:to>
                                        <p:strVal val="visible"/>
                                      </p:to>
                                    </p:set>
                                    <p:animEffect transition="in" filter="wipe(left)">
                                      <p:cBhvr>
                                        <p:cTn id="37" dur="500"/>
                                        <p:tgtEl>
                                          <p:spTgt spid="68624"/>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68620"/>
                                        </p:tgtEl>
                                        <p:attrNameLst>
                                          <p:attrName>style.visibility</p:attrName>
                                        </p:attrNameLst>
                                      </p:cBhvr>
                                      <p:to>
                                        <p:strVal val="visible"/>
                                      </p:to>
                                    </p:set>
                                    <p:animEffect transition="in" filter="wipe(left)">
                                      <p:cBhvr>
                                        <p:cTn id="41" dur="500"/>
                                        <p:tgtEl>
                                          <p:spTgt spid="68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Object 2"/>
          <p:cNvGraphicFramePr>
            <a:graphicFrameLocks noChangeAspect="1"/>
          </p:cNvGraphicFramePr>
          <p:nvPr/>
        </p:nvGraphicFramePr>
        <p:xfrm>
          <a:off x="4827588" y="1658938"/>
          <a:ext cx="2940050" cy="528637"/>
        </p:xfrm>
        <a:graphic>
          <a:graphicData uri="http://schemas.openxmlformats.org/presentationml/2006/ole">
            <mc:AlternateContent xmlns:mc="http://schemas.openxmlformats.org/markup-compatibility/2006">
              <mc:Choice xmlns:v="urn:schemas-microsoft-com:vml" Requires="v">
                <p:oleObj spid="_x0000_s100508" name="Equation" r:id="rId3" imgW="1409400" imgH="253800" progId="Equation.3">
                  <p:embed/>
                </p:oleObj>
              </mc:Choice>
              <mc:Fallback>
                <p:oleObj name="Equation" r:id="rId3" imgW="1409400" imgH="253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7588" y="1658938"/>
                        <a:ext cx="2940050"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 name="Object 3"/>
          <p:cNvGraphicFramePr>
            <a:graphicFrameLocks noChangeAspect="1"/>
          </p:cNvGraphicFramePr>
          <p:nvPr/>
        </p:nvGraphicFramePr>
        <p:xfrm>
          <a:off x="4797425" y="2292350"/>
          <a:ext cx="2962275" cy="527050"/>
        </p:xfrm>
        <a:graphic>
          <a:graphicData uri="http://schemas.openxmlformats.org/presentationml/2006/ole">
            <mc:AlternateContent xmlns:mc="http://schemas.openxmlformats.org/markup-compatibility/2006">
              <mc:Choice xmlns:v="urn:schemas-microsoft-com:vml" Requires="v">
                <p:oleObj spid="_x0000_s100509" name="Equation" r:id="rId5" imgW="1422360" imgH="253800" progId="Equation.3">
                  <p:embed/>
                </p:oleObj>
              </mc:Choice>
              <mc:Fallback>
                <p:oleObj name="Equation" r:id="rId5" imgW="1422360" imgH="253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7425" y="2292350"/>
                        <a:ext cx="296227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4" name="AutoShape 4"/>
          <p:cNvSpPr>
            <a:spLocks/>
          </p:cNvSpPr>
          <p:nvPr/>
        </p:nvSpPr>
        <p:spPr bwMode="auto">
          <a:xfrm>
            <a:off x="4591050" y="1754188"/>
            <a:ext cx="149225" cy="909637"/>
          </a:xfrm>
          <a:prstGeom prst="leftBrace">
            <a:avLst>
              <a:gd name="adj1" fmla="val 50798"/>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25" name="Text Box 45"/>
          <p:cNvSpPr txBox="1">
            <a:spLocks noChangeArrowheads="1"/>
          </p:cNvSpPr>
          <p:nvPr/>
        </p:nvSpPr>
        <p:spPr bwMode="auto">
          <a:xfrm>
            <a:off x="1651000" y="268288"/>
            <a:ext cx="5426075" cy="531812"/>
          </a:xfrm>
          <a:prstGeom prst="rect">
            <a:avLst/>
          </a:prstGeom>
          <a:noFill/>
          <a:ln w="12700" algn="ctr">
            <a:solidFill>
              <a:srgbClr val="FFFFAF"/>
            </a:solidFill>
            <a:miter lim="800000"/>
            <a:headEnd/>
            <a:tailEnd/>
          </a:ln>
          <a:effectLst>
            <a:prstShdw prst="shdw17" dist="17961" dir="2700000">
              <a:srgbClr val="FFFFAF">
                <a:gamma/>
                <a:shade val="60000"/>
                <a:invGamma/>
              </a:srgbClr>
            </a:prstShdw>
          </a:effectLst>
          <a:extLst>
            <a:ext uri="{909E8E84-426E-40DD-AFC4-6F175D3DCCD1}">
              <a14:hiddenFill xmlns:a14="http://schemas.microsoft.com/office/drawing/2010/main">
                <a:solidFill>
                  <a:srgbClr val="CCFFFF"/>
                </a:solidFill>
              </a14:hiddenFill>
            </a:ext>
          </a:extLst>
        </p:spPr>
        <p:txBody>
          <a:bodyPr anchor="ctr">
            <a:spAutoFit/>
          </a:bodyPr>
          <a:lstStyle/>
          <a:p>
            <a:pPr eaLnBrk="0" hangingPunct="0">
              <a:spcBef>
                <a:spcPct val="50000"/>
              </a:spcBef>
            </a:pPr>
            <a:r>
              <a:rPr lang="en-US" altLang="zh-CN" sz="2800" b="1">
                <a:solidFill>
                  <a:schemeClr val="tx2"/>
                </a:solidFill>
                <a:latin typeface="楷体_GB2312" pitchFamily="49" charset="-122"/>
                <a:ea typeface="楷体_GB2312" pitchFamily="49" charset="-122"/>
              </a:rPr>
              <a:t>11.4 </a:t>
            </a:r>
            <a:r>
              <a:rPr lang="zh-CN" altLang="en-US" sz="2800" b="1">
                <a:solidFill>
                  <a:schemeClr val="tx2"/>
                </a:solidFill>
                <a:latin typeface="楷体_GB2312" pitchFamily="49" charset="-122"/>
                <a:ea typeface="楷体_GB2312" pitchFamily="49" charset="-122"/>
              </a:rPr>
              <a:t>全耦合变压器和理想变压器</a:t>
            </a:r>
          </a:p>
        </p:txBody>
      </p:sp>
      <p:graphicFrame>
        <p:nvGraphicFramePr>
          <p:cNvPr id="71733" name="Object 53"/>
          <p:cNvGraphicFramePr>
            <a:graphicFrameLocks noChangeAspect="1"/>
          </p:cNvGraphicFramePr>
          <p:nvPr/>
        </p:nvGraphicFramePr>
        <p:xfrm>
          <a:off x="1284288" y="3875088"/>
          <a:ext cx="2420937" cy="890587"/>
        </p:xfrm>
        <a:graphic>
          <a:graphicData uri="http://schemas.openxmlformats.org/presentationml/2006/ole">
            <mc:AlternateContent xmlns:mc="http://schemas.openxmlformats.org/markup-compatibility/2006">
              <mc:Choice xmlns:v="urn:schemas-microsoft-com:vml" Requires="v">
                <p:oleObj spid="_x0000_s100510" name="Equation" r:id="rId7" imgW="1168200" imgH="431640" progId="Equation.3">
                  <p:embed/>
                </p:oleObj>
              </mc:Choice>
              <mc:Fallback>
                <p:oleObj name="Equation" r:id="rId7" imgW="1168200" imgH="431640" progId="Equation.3">
                  <p:embed/>
                  <p:pic>
                    <p:nvPicPr>
                      <p:cNvPr id="0"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4288" y="3875088"/>
                        <a:ext cx="2420937" cy="89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34" name="Object 54"/>
          <p:cNvGraphicFramePr>
            <a:graphicFrameLocks noChangeAspect="1"/>
          </p:cNvGraphicFramePr>
          <p:nvPr/>
        </p:nvGraphicFramePr>
        <p:xfrm>
          <a:off x="1298575" y="4722813"/>
          <a:ext cx="5110163" cy="765175"/>
        </p:xfrm>
        <a:graphic>
          <a:graphicData uri="http://schemas.openxmlformats.org/presentationml/2006/ole">
            <mc:AlternateContent xmlns:mc="http://schemas.openxmlformats.org/markup-compatibility/2006">
              <mc:Choice xmlns:v="urn:schemas-microsoft-com:vml" Requires="v">
                <p:oleObj spid="_x0000_s100511" name="Equation" r:id="rId9" imgW="2628720" imgH="393480" progId="Equation.3">
                  <p:embed/>
                </p:oleObj>
              </mc:Choice>
              <mc:Fallback>
                <p:oleObj name="Equation" r:id="rId9" imgW="2628720" imgH="393480" progId="Equation.3">
                  <p:embed/>
                  <p:pic>
                    <p:nvPicPr>
                      <p:cNvPr id="0" name="Object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8575" y="4722813"/>
                        <a:ext cx="5110163"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38" name="Object 58"/>
          <p:cNvGraphicFramePr>
            <a:graphicFrameLocks noChangeAspect="1"/>
          </p:cNvGraphicFramePr>
          <p:nvPr/>
        </p:nvGraphicFramePr>
        <p:xfrm>
          <a:off x="4400550" y="3211513"/>
          <a:ext cx="4222750" cy="506412"/>
        </p:xfrm>
        <a:graphic>
          <a:graphicData uri="http://schemas.openxmlformats.org/presentationml/2006/ole">
            <mc:AlternateContent xmlns:mc="http://schemas.openxmlformats.org/markup-compatibility/2006">
              <mc:Choice xmlns:v="urn:schemas-microsoft-com:vml" Requires="v">
                <p:oleObj spid="_x0000_s100512" name="Equation" r:id="rId11" imgW="2108160" imgH="253800" progId="Equation.3">
                  <p:embed/>
                </p:oleObj>
              </mc:Choice>
              <mc:Fallback>
                <p:oleObj name="Equation" r:id="rId11" imgW="2108160" imgH="253800" progId="Equation.3">
                  <p:embed/>
                  <p:pic>
                    <p:nvPicPr>
                      <p:cNvPr id="0"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00550" y="3211513"/>
                        <a:ext cx="4222750" cy="506412"/>
                      </a:xfrm>
                      <a:prstGeom prst="rect">
                        <a:avLst/>
                      </a:prstGeom>
                      <a:solidFill>
                        <a:srgbClr val="FFFF99"/>
                      </a:solidFill>
                      <a:ln>
                        <a:noFill/>
                      </a:ln>
                      <a:effectLst>
                        <a:prstShdw prst="shdw17" dist="17961" dir="2700000">
                          <a:srgbClr val="FFFF99">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40" name="Text Box 60"/>
          <p:cNvSpPr txBox="1">
            <a:spLocks noChangeArrowheads="1"/>
          </p:cNvSpPr>
          <p:nvPr/>
        </p:nvSpPr>
        <p:spPr bwMode="auto">
          <a:xfrm>
            <a:off x="323850" y="1033463"/>
            <a:ext cx="714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chemeClr val="accent2"/>
                </a:solidFill>
              </a:rPr>
              <a:t>一、全耦合变压器</a:t>
            </a:r>
            <a:r>
              <a:rPr lang="zh-CN" altLang="en-US" b="1"/>
              <a:t> （</a:t>
            </a:r>
            <a:r>
              <a:rPr lang="en-US" altLang="zh-CN" b="1">
                <a:solidFill>
                  <a:srgbClr val="FF3300"/>
                </a:solidFill>
              </a:rPr>
              <a:t>perfect coupling</a:t>
            </a:r>
            <a:r>
              <a:rPr lang="en-US" altLang="zh-CN" b="1"/>
              <a:t> </a:t>
            </a:r>
            <a:r>
              <a:rPr lang="en-US" altLang="zh-CN" b="1">
                <a:solidFill>
                  <a:srgbClr val="FF3300"/>
                </a:solidFill>
              </a:rPr>
              <a:t>transformer</a:t>
            </a:r>
            <a:r>
              <a:rPr lang="zh-CN" altLang="en-US" b="1"/>
              <a:t>）</a:t>
            </a:r>
          </a:p>
        </p:txBody>
      </p:sp>
      <p:grpSp>
        <p:nvGrpSpPr>
          <p:cNvPr id="71742" name="Group 62"/>
          <p:cNvGrpSpPr>
            <a:grpSpLocks/>
          </p:cNvGrpSpPr>
          <p:nvPr/>
        </p:nvGrpSpPr>
        <p:grpSpPr bwMode="auto">
          <a:xfrm>
            <a:off x="822325" y="1597025"/>
            <a:ext cx="2913063" cy="1920875"/>
            <a:chOff x="1029" y="2750"/>
            <a:chExt cx="1835" cy="1210"/>
          </a:xfrm>
        </p:grpSpPr>
        <p:sp>
          <p:nvSpPr>
            <p:cNvPr id="71743" name="Line 63"/>
            <p:cNvSpPr>
              <a:spLocks noChangeShapeType="1"/>
            </p:cNvSpPr>
            <p:nvPr/>
          </p:nvSpPr>
          <p:spPr bwMode="auto">
            <a:xfrm flipV="1">
              <a:off x="1806" y="3152"/>
              <a:ext cx="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4" name="Line 64"/>
            <p:cNvSpPr>
              <a:spLocks noChangeShapeType="1"/>
            </p:cNvSpPr>
            <p:nvPr/>
          </p:nvSpPr>
          <p:spPr bwMode="auto">
            <a:xfrm flipH="1" flipV="1">
              <a:off x="1806" y="3728"/>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5" name="Line 65"/>
            <p:cNvSpPr>
              <a:spLocks noChangeShapeType="1"/>
            </p:cNvSpPr>
            <p:nvPr/>
          </p:nvSpPr>
          <p:spPr bwMode="auto">
            <a:xfrm flipV="1">
              <a:off x="2070" y="373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6" name="Line 66"/>
            <p:cNvSpPr>
              <a:spLocks noChangeShapeType="1"/>
            </p:cNvSpPr>
            <p:nvPr/>
          </p:nvSpPr>
          <p:spPr bwMode="auto">
            <a:xfrm flipV="1">
              <a:off x="2070" y="317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7" name="Line 67"/>
            <p:cNvSpPr>
              <a:spLocks noChangeShapeType="1"/>
            </p:cNvSpPr>
            <p:nvPr/>
          </p:nvSpPr>
          <p:spPr bwMode="auto">
            <a:xfrm>
              <a:off x="1326" y="3152"/>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8" name="Line 68"/>
            <p:cNvSpPr>
              <a:spLocks noChangeShapeType="1"/>
            </p:cNvSpPr>
            <p:nvPr/>
          </p:nvSpPr>
          <p:spPr bwMode="auto">
            <a:xfrm>
              <a:off x="1326" y="3920"/>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9" name="Line 69"/>
            <p:cNvSpPr>
              <a:spLocks noChangeShapeType="1"/>
            </p:cNvSpPr>
            <p:nvPr/>
          </p:nvSpPr>
          <p:spPr bwMode="auto">
            <a:xfrm>
              <a:off x="2070" y="3174"/>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0" name="Line 70"/>
            <p:cNvSpPr>
              <a:spLocks noChangeShapeType="1"/>
            </p:cNvSpPr>
            <p:nvPr/>
          </p:nvSpPr>
          <p:spPr bwMode="auto">
            <a:xfrm>
              <a:off x="2070" y="3918"/>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1" name="Text Box 71"/>
            <p:cNvSpPr txBox="1">
              <a:spLocks noChangeArrowheads="1"/>
            </p:cNvSpPr>
            <p:nvPr/>
          </p:nvSpPr>
          <p:spPr bwMode="auto">
            <a:xfrm>
              <a:off x="1602" y="3168"/>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1752" name="Text Box 72"/>
            <p:cNvSpPr txBox="1">
              <a:spLocks noChangeArrowheads="1"/>
            </p:cNvSpPr>
            <p:nvPr/>
          </p:nvSpPr>
          <p:spPr bwMode="auto">
            <a:xfrm>
              <a:off x="2058" y="318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1753" name="Line 73"/>
            <p:cNvSpPr>
              <a:spLocks noChangeShapeType="1"/>
            </p:cNvSpPr>
            <p:nvPr/>
          </p:nvSpPr>
          <p:spPr bwMode="auto">
            <a:xfrm>
              <a:off x="1326" y="3078"/>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4" name="Text Box 74"/>
            <p:cNvSpPr txBox="1">
              <a:spLocks noChangeArrowheads="1"/>
            </p:cNvSpPr>
            <p:nvPr/>
          </p:nvSpPr>
          <p:spPr bwMode="auto">
            <a:xfrm>
              <a:off x="1322" y="334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1</a:t>
              </a:r>
            </a:p>
          </p:txBody>
        </p:sp>
        <p:sp>
          <p:nvSpPr>
            <p:cNvPr id="71755" name="Text Box 75"/>
            <p:cNvSpPr txBox="1">
              <a:spLocks noChangeArrowheads="1"/>
            </p:cNvSpPr>
            <p:nvPr/>
          </p:nvSpPr>
          <p:spPr bwMode="auto">
            <a:xfrm>
              <a:off x="2052" y="334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L</a:t>
              </a:r>
              <a:r>
                <a:rPr lang="en-US" altLang="zh-CN" b="1" baseline="-25000"/>
                <a:t>2</a:t>
              </a:r>
            </a:p>
          </p:txBody>
        </p:sp>
        <p:sp>
          <p:nvSpPr>
            <p:cNvPr id="71756" name="Text Box 76"/>
            <p:cNvSpPr txBox="1">
              <a:spLocks noChangeArrowheads="1"/>
            </p:cNvSpPr>
            <p:nvPr/>
          </p:nvSpPr>
          <p:spPr bwMode="auto">
            <a:xfrm>
              <a:off x="1029" y="301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71757" name="Text Box 77"/>
            <p:cNvSpPr txBox="1">
              <a:spLocks noChangeArrowheads="1"/>
            </p:cNvSpPr>
            <p:nvPr/>
          </p:nvSpPr>
          <p:spPr bwMode="auto">
            <a:xfrm>
              <a:off x="1030" y="364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sp>
          <p:nvSpPr>
            <p:cNvPr id="71758" name="Text Box 78"/>
            <p:cNvSpPr txBox="1">
              <a:spLocks noChangeArrowheads="1"/>
            </p:cNvSpPr>
            <p:nvPr/>
          </p:nvSpPr>
          <p:spPr bwMode="auto">
            <a:xfrm>
              <a:off x="1686" y="2750"/>
              <a:ext cx="5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t>j</a:t>
              </a:r>
              <a:r>
                <a:rPr lang="en-US" altLang="zh-CN" b="1" i="1">
                  <a:sym typeface="Symbol" panose="05050102010706020507" pitchFamily="18" charset="2"/>
                </a:rPr>
                <a:t></a:t>
              </a:r>
              <a:r>
                <a:rPr lang="en-US" altLang="zh-CN" b="1" i="1"/>
                <a:t>M</a:t>
              </a:r>
              <a:endParaRPr lang="en-US" altLang="zh-CN" b="1"/>
            </a:p>
          </p:txBody>
        </p:sp>
        <p:grpSp>
          <p:nvGrpSpPr>
            <p:cNvPr id="71759" name="Group 79"/>
            <p:cNvGrpSpPr>
              <a:grpSpLocks/>
            </p:cNvGrpSpPr>
            <p:nvPr/>
          </p:nvGrpSpPr>
          <p:grpSpPr bwMode="auto">
            <a:xfrm rot="5400000">
              <a:off x="1645" y="3510"/>
              <a:ext cx="379" cy="57"/>
              <a:chOff x="1200" y="1584"/>
              <a:chExt cx="379" cy="45"/>
            </a:xfrm>
          </p:grpSpPr>
          <p:sp>
            <p:nvSpPr>
              <p:cNvPr id="71760" name="Arc 8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1" name="Arc 8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2" name="Arc 8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3" name="Arc 8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64" name="Oval 84"/>
            <p:cNvSpPr>
              <a:spLocks noChangeArrowheads="1"/>
            </p:cNvSpPr>
            <p:nvPr/>
          </p:nvSpPr>
          <p:spPr bwMode="auto">
            <a:xfrm>
              <a:off x="1278" y="313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5" name="Oval 85"/>
            <p:cNvSpPr>
              <a:spLocks noChangeArrowheads="1"/>
            </p:cNvSpPr>
            <p:nvPr/>
          </p:nvSpPr>
          <p:spPr bwMode="auto">
            <a:xfrm>
              <a:off x="1278"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766" name="Group 86"/>
            <p:cNvGrpSpPr>
              <a:grpSpLocks/>
            </p:cNvGrpSpPr>
            <p:nvPr/>
          </p:nvGrpSpPr>
          <p:grpSpPr bwMode="auto">
            <a:xfrm rot="16200000" flipH="1">
              <a:off x="1855" y="3522"/>
              <a:ext cx="379" cy="57"/>
              <a:chOff x="1200" y="1584"/>
              <a:chExt cx="379" cy="45"/>
            </a:xfrm>
          </p:grpSpPr>
          <p:sp>
            <p:nvSpPr>
              <p:cNvPr id="71767" name="Arc 8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8" name="Arc 8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9" name="Arc 8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0" name="Arc 9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71" name="Line 91"/>
            <p:cNvSpPr>
              <a:spLocks noChangeShapeType="1"/>
            </p:cNvSpPr>
            <p:nvPr/>
          </p:nvSpPr>
          <p:spPr bwMode="auto">
            <a:xfrm flipH="1">
              <a:off x="2286" y="3100"/>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2" name="Oval 92"/>
            <p:cNvSpPr>
              <a:spLocks noChangeArrowheads="1"/>
            </p:cNvSpPr>
            <p:nvPr/>
          </p:nvSpPr>
          <p:spPr bwMode="auto">
            <a:xfrm>
              <a:off x="2550" y="389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3" name="Oval 93"/>
            <p:cNvSpPr>
              <a:spLocks noChangeArrowheads="1"/>
            </p:cNvSpPr>
            <p:nvPr/>
          </p:nvSpPr>
          <p:spPr bwMode="auto">
            <a:xfrm>
              <a:off x="2544" y="315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4" name="Arc 94"/>
            <p:cNvSpPr>
              <a:spLocks/>
            </p:cNvSpPr>
            <p:nvPr/>
          </p:nvSpPr>
          <p:spPr bwMode="auto">
            <a:xfrm flipH="1">
              <a:off x="1709" y="3033"/>
              <a:ext cx="138" cy="115"/>
            </a:xfrm>
            <a:custGeom>
              <a:avLst/>
              <a:gdLst>
                <a:gd name="G0" fmla="+- 0 0 0"/>
                <a:gd name="G1" fmla="+- 18960 0 0"/>
                <a:gd name="G2" fmla="+- 21600 0 0"/>
                <a:gd name="T0" fmla="*/ 10347 w 21163"/>
                <a:gd name="T1" fmla="*/ 0 h 18960"/>
                <a:gd name="T2" fmla="*/ 21163 w 21163"/>
                <a:gd name="T3" fmla="*/ 14636 h 18960"/>
                <a:gd name="T4" fmla="*/ 0 w 21163"/>
                <a:gd name="T5" fmla="*/ 18960 h 18960"/>
              </a:gdLst>
              <a:ahLst/>
              <a:cxnLst>
                <a:cxn ang="0">
                  <a:pos x="T0" y="T1"/>
                </a:cxn>
                <a:cxn ang="0">
                  <a:pos x="T2" y="T3"/>
                </a:cxn>
                <a:cxn ang="0">
                  <a:pos x="T4" y="T5"/>
                </a:cxn>
              </a:cxnLst>
              <a:rect l="0" t="0" r="r" b="b"/>
              <a:pathLst>
                <a:path w="21163" h="18960" fill="none" extrusionOk="0">
                  <a:moveTo>
                    <a:pt x="10347" y="-1"/>
                  </a:moveTo>
                  <a:cubicBezTo>
                    <a:pt x="15932" y="3047"/>
                    <a:pt x="19889" y="8402"/>
                    <a:pt x="21162" y="14636"/>
                  </a:cubicBezTo>
                </a:path>
                <a:path w="21163" h="18960" stroke="0" extrusionOk="0">
                  <a:moveTo>
                    <a:pt x="10347" y="-1"/>
                  </a:moveTo>
                  <a:cubicBezTo>
                    <a:pt x="15932" y="3047"/>
                    <a:pt x="19889" y="8402"/>
                    <a:pt x="21162" y="14636"/>
                  </a:cubicBezTo>
                  <a:lnTo>
                    <a:pt x="0" y="18960"/>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5" name="Arc 95"/>
            <p:cNvSpPr>
              <a:spLocks/>
            </p:cNvSpPr>
            <p:nvPr/>
          </p:nvSpPr>
          <p:spPr bwMode="auto">
            <a:xfrm>
              <a:off x="2026" y="3017"/>
              <a:ext cx="138" cy="141"/>
            </a:xfrm>
            <a:custGeom>
              <a:avLst/>
              <a:gdLst>
                <a:gd name="G0" fmla="+- 0 0 0"/>
                <a:gd name="G1" fmla="+- 19908 0 0"/>
                <a:gd name="G2" fmla="+- 21600 0 0"/>
                <a:gd name="T0" fmla="*/ 8380 w 21163"/>
                <a:gd name="T1" fmla="*/ 0 h 19908"/>
                <a:gd name="T2" fmla="*/ 21163 w 21163"/>
                <a:gd name="T3" fmla="*/ 15584 h 19908"/>
                <a:gd name="T4" fmla="*/ 0 w 21163"/>
                <a:gd name="T5" fmla="*/ 19908 h 19908"/>
              </a:gdLst>
              <a:ahLst/>
              <a:cxnLst>
                <a:cxn ang="0">
                  <a:pos x="T0" y="T1"/>
                </a:cxn>
                <a:cxn ang="0">
                  <a:pos x="T2" y="T3"/>
                </a:cxn>
                <a:cxn ang="0">
                  <a:pos x="T4" y="T5"/>
                </a:cxn>
              </a:cxnLst>
              <a:rect l="0" t="0" r="r" b="b"/>
              <a:pathLst>
                <a:path w="21163" h="19908" fill="none" extrusionOk="0">
                  <a:moveTo>
                    <a:pt x="8380" y="-1"/>
                  </a:moveTo>
                  <a:cubicBezTo>
                    <a:pt x="14952" y="2766"/>
                    <a:pt x="19735" y="8597"/>
                    <a:pt x="21162" y="15584"/>
                  </a:cubicBezTo>
                </a:path>
                <a:path w="21163" h="19908" stroke="0" extrusionOk="0">
                  <a:moveTo>
                    <a:pt x="8380" y="-1"/>
                  </a:moveTo>
                  <a:cubicBezTo>
                    <a:pt x="14952" y="2766"/>
                    <a:pt x="19735" y="8597"/>
                    <a:pt x="21162" y="15584"/>
                  </a:cubicBezTo>
                  <a:lnTo>
                    <a:pt x="0" y="19908"/>
                  </a:lnTo>
                  <a:close/>
                </a:path>
              </a:pathLst>
            </a:custGeom>
            <a:noFill/>
            <a:ln w="19050">
              <a:solidFill>
                <a:schemeClr val="tx1"/>
              </a:solidFill>
              <a:round/>
              <a:headEnd/>
              <a:tailEnd type="stealth"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776" name="Object 96"/>
            <p:cNvGraphicFramePr>
              <a:graphicFrameLocks noChangeAspect="1"/>
            </p:cNvGraphicFramePr>
            <p:nvPr/>
          </p:nvGraphicFramePr>
          <p:xfrm>
            <a:off x="1039" y="3402"/>
            <a:ext cx="228" cy="259"/>
          </p:xfrm>
          <a:graphic>
            <a:graphicData uri="http://schemas.openxmlformats.org/presentationml/2006/ole">
              <mc:AlternateContent xmlns:mc="http://schemas.openxmlformats.org/markup-compatibility/2006">
                <mc:Choice xmlns:v="urn:schemas-microsoft-com:vml" Requires="v">
                  <p:oleObj spid="_x0000_s100513" name="Equation" r:id="rId13" imgW="203040" imgH="228600" progId="Equation.3">
                    <p:embed/>
                  </p:oleObj>
                </mc:Choice>
                <mc:Fallback>
                  <p:oleObj name="Equation" r:id="rId13" imgW="203040" imgH="228600" progId="Equation.3">
                    <p:embed/>
                    <p:pic>
                      <p:nvPicPr>
                        <p:cNvPr id="0" name="Object 9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9" y="3402"/>
                          <a:ext cx="22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77" name="Text Box 97"/>
            <p:cNvSpPr txBox="1">
              <a:spLocks noChangeArrowheads="1"/>
            </p:cNvSpPr>
            <p:nvPr/>
          </p:nvSpPr>
          <p:spPr bwMode="auto">
            <a:xfrm>
              <a:off x="2619" y="3047"/>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a:t>
              </a:r>
            </a:p>
          </p:txBody>
        </p:sp>
        <p:sp>
          <p:nvSpPr>
            <p:cNvPr id="71778" name="Text Box 98"/>
            <p:cNvSpPr txBox="1">
              <a:spLocks noChangeArrowheads="1"/>
            </p:cNvSpPr>
            <p:nvPr/>
          </p:nvSpPr>
          <p:spPr bwMode="auto">
            <a:xfrm>
              <a:off x="2620" y="36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t>_</a:t>
              </a:r>
            </a:p>
          </p:txBody>
        </p:sp>
        <p:graphicFrame>
          <p:nvGraphicFramePr>
            <p:cNvPr id="71779" name="Object 99"/>
            <p:cNvGraphicFramePr>
              <a:graphicFrameLocks noChangeAspect="1"/>
            </p:cNvGraphicFramePr>
            <p:nvPr/>
          </p:nvGraphicFramePr>
          <p:xfrm>
            <a:off x="2621" y="3420"/>
            <a:ext cx="243" cy="259"/>
          </p:xfrm>
          <a:graphic>
            <a:graphicData uri="http://schemas.openxmlformats.org/presentationml/2006/ole">
              <mc:AlternateContent xmlns:mc="http://schemas.openxmlformats.org/markup-compatibility/2006">
                <mc:Choice xmlns:v="urn:schemas-microsoft-com:vml" Requires="v">
                  <p:oleObj spid="_x0000_s100514" name="Equation" r:id="rId15" imgW="215640" imgH="228600" progId="Equation.3">
                    <p:embed/>
                  </p:oleObj>
                </mc:Choice>
                <mc:Fallback>
                  <p:oleObj name="Equation" r:id="rId15" imgW="215640" imgH="228600" progId="Equation.3">
                    <p:embed/>
                    <p:pic>
                      <p:nvPicPr>
                        <p:cNvPr id="0" name="Object 9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1" y="3420"/>
                          <a:ext cx="24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80" name="Object 100"/>
            <p:cNvGraphicFramePr>
              <a:graphicFrameLocks noChangeAspect="1"/>
            </p:cNvGraphicFramePr>
            <p:nvPr/>
          </p:nvGraphicFramePr>
          <p:xfrm>
            <a:off x="1383" y="2819"/>
            <a:ext cx="185" cy="259"/>
          </p:xfrm>
          <a:graphic>
            <a:graphicData uri="http://schemas.openxmlformats.org/presentationml/2006/ole">
              <mc:AlternateContent xmlns:mc="http://schemas.openxmlformats.org/markup-compatibility/2006">
                <mc:Choice xmlns:v="urn:schemas-microsoft-com:vml" Requires="v">
                  <p:oleObj spid="_x0000_s100515" name="Equation" r:id="rId17" imgW="164880" imgH="228600" progId="Equation.3">
                    <p:embed/>
                  </p:oleObj>
                </mc:Choice>
                <mc:Fallback>
                  <p:oleObj name="Equation" r:id="rId17" imgW="164880" imgH="228600" progId="Equation.3">
                    <p:embed/>
                    <p:pic>
                      <p:nvPicPr>
                        <p:cNvPr id="0" name="Object 10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83" y="2819"/>
                          <a:ext cx="185"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81" name="Object 101"/>
            <p:cNvGraphicFramePr>
              <a:graphicFrameLocks noChangeAspect="1"/>
            </p:cNvGraphicFramePr>
            <p:nvPr/>
          </p:nvGraphicFramePr>
          <p:xfrm>
            <a:off x="2382" y="2842"/>
            <a:ext cx="201" cy="259"/>
          </p:xfrm>
          <a:graphic>
            <a:graphicData uri="http://schemas.openxmlformats.org/presentationml/2006/ole">
              <mc:AlternateContent xmlns:mc="http://schemas.openxmlformats.org/markup-compatibility/2006">
                <mc:Choice xmlns:v="urn:schemas-microsoft-com:vml" Requires="v">
                  <p:oleObj spid="_x0000_s100516" name="Equation" r:id="rId19" imgW="177480" imgH="228600" progId="Equation.3">
                    <p:embed/>
                  </p:oleObj>
                </mc:Choice>
                <mc:Fallback>
                  <p:oleObj name="Equation" r:id="rId19" imgW="177480" imgH="228600" progId="Equation.3">
                    <p:embed/>
                    <p:pic>
                      <p:nvPicPr>
                        <p:cNvPr id="0" name="Object 10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82" y="2842"/>
                          <a:ext cx="201"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0" name="Object 54"/>
          <p:cNvGraphicFramePr>
            <a:graphicFrameLocks noChangeAspect="1"/>
          </p:cNvGraphicFramePr>
          <p:nvPr>
            <p:extLst>
              <p:ext uri="{D42A27DB-BD31-4B8C-83A1-F6EECF244321}">
                <p14:modId xmlns:p14="http://schemas.microsoft.com/office/powerpoint/2010/main" val="1744937827"/>
              </p:ext>
            </p:extLst>
          </p:nvPr>
        </p:nvGraphicFramePr>
        <p:xfrm>
          <a:off x="1284288" y="5554663"/>
          <a:ext cx="1308100" cy="938213"/>
        </p:xfrm>
        <a:graphic>
          <a:graphicData uri="http://schemas.openxmlformats.org/presentationml/2006/ole">
            <mc:AlternateContent xmlns:mc="http://schemas.openxmlformats.org/markup-compatibility/2006">
              <mc:Choice xmlns:v="urn:schemas-microsoft-com:vml" Requires="v">
                <p:oleObj spid="_x0000_s100517" name="Equation" r:id="rId21" imgW="672840" imgH="482400" progId="Equation.DSMT4">
                  <p:embed/>
                </p:oleObj>
              </mc:Choice>
              <mc:Fallback>
                <p:oleObj name="Equation" r:id="rId21" imgW="672840" imgH="482400" progId="Equation.DSMT4">
                  <p:embed/>
                  <p:pic>
                    <p:nvPicPr>
                      <p:cNvPr id="71734" name="Object 54"/>
                      <p:cNvPicPr>
                        <a:picLocks noChangeAspect="1" noChangeArrowheads="1"/>
                      </p:cNvPicPr>
                      <p:nvPr/>
                    </p:nvPicPr>
                    <p:blipFill>
                      <a:blip r:embed="rId22"/>
                      <a:srcRect/>
                      <a:stretch>
                        <a:fillRect/>
                      </a:stretch>
                    </p:blipFill>
                    <p:spPr bwMode="auto">
                      <a:xfrm>
                        <a:off x="1284288" y="5554663"/>
                        <a:ext cx="1308100"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1725"/>
                                        </p:tgtEl>
                                        <p:attrNameLst>
                                          <p:attrName>style.visibility</p:attrName>
                                        </p:attrNameLst>
                                      </p:cBhvr>
                                      <p:to>
                                        <p:strVal val="visible"/>
                                      </p:to>
                                    </p:set>
                                    <p:anim calcmode="lin" valueType="num">
                                      <p:cBhvr additive="base">
                                        <p:cTn id="7" dur="500" fill="hold"/>
                                        <p:tgtEl>
                                          <p:spTgt spid="71725"/>
                                        </p:tgtEl>
                                        <p:attrNameLst>
                                          <p:attrName>ppt_x</p:attrName>
                                        </p:attrNameLst>
                                      </p:cBhvr>
                                      <p:tavLst>
                                        <p:tav tm="0">
                                          <p:val>
                                            <p:strVal val="#ppt_x"/>
                                          </p:val>
                                        </p:tav>
                                        <p:tav tm="100000">
                                          <p:val>
                                            <p:strVal val="#ppt_x"/>
                                          </p:val>
                                        </p:tav>
                                      </p:tavLst>
                                    </p:anim>
                                    <p:anim calcmode="lin" valueType="num">
                                      <p:cBhvr additive="base">
                                        <p:cTn id="8" dur="500" fill="hold"/>
                                        <p:tgtEl>
                                          <p:spTgt spid="7172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40"/>
                                        </p:tgtEl>
                                        <p:attrNameLst>
                                          <p:attrName>style.visibility</p:attrName>
                                        </p:attrNameLst>
                                      </p:cBhvr>
                                      <p:to>
                                        <p:strVal val="visible"/>
                                      </p:to>
                                    </p:set>
                                    <p:anim calcmode="lin" valueType="num">
                                      <p:cBhvr additive="base">
                                        <p:cTn id="13" dur="500" fill="hold"/>
                                        <p:tgtEl>
                                          <p:spTgt spid="71740"/>
                                        </p:tgtEl>
                                        <p:attrNameLst>
                                          <p:attrName>ppt_x</p:attrName>
                                        </p:attrNameLst>
                                      </p:cBhvr>
                                      <p:tavLst>
                                        <p:tav tm="0">
                                          <p:val>
                                            <p:strVal val="0-#ppt_w/2"/>
                                          </p:val>
                                        </p:tav>
                                        <p:tav tm="100000">
                                          <p:val>
                                            <p:strVal val="#ppt_x"/>
                                          </p:val>
                                        </p:tav>
                                      </p:tavLst>
                                    </p:anim>
                                    <p:anim calcmode="lin" valueType="num">
                                      <p:cBhvr additive="base">
                                        <p:cTn id="14" dur="500" fill="hold"/>
                                        <p:tgtEl>
                                          <p:spTgt spid="7174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71742"/>
                                        </p:tgtEl>
                                        <p:attrNameLst>
                                          <p:attrName>style.visibility</p:attrName>
                                        </p:attrNameLst>
                                      </p:cBhvr>
                                      <p:to>
                                        <p:strVal val="visible"/>
                                      </p:to>
                                    </p:set>
                                    <p:anim calcmode="lin" valueType="num">
                                      <p:cBhvr>
                                        <p:cTn id="19" dur="500" fill="hold"/>
                                        <p:tgtEl>
                                          <p:spTgt spid="71742"/>
                                        </p:tgtEl>
                                        <p:attrNameLst>
                                          <p:attrName>ppt_w</p:attrName>
                                        </p:attrNameLst>
                                      </p:cBhvr>
                                      <p:tavLst>
                                        <p:tav tm="0">
                                          <p:val>
                                            <p:fltVal val="0"/>
                                          </p:val>
                                        </p:tav>
                                        <p:tav tm="100000">
                                          <p:val>
                                            <p:strVal val="#ppt_w"/>
                                          </p:val>
                                        </p:tav>
                                      </p:tavLst>
                                    </p:anim>
                                    <p:anim calcmode="lin" valueType="num">
                                      <p:cBhvr>
                                        <p:cTn id="20" dur="500" fill="hold"/>
                                        <p:tgtEl>
                                          <p:spTgt spid="7174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71682"/>
                                        </p:tgtEl>
                                        <p:attrNameLst>
                                          <p:attrName>style.visibility</p:attrName>
                                        </p:attrNameLst>
                                      </p:cBhvr>
                                      <p:to>
                                        <p:strVal val="visible"/>
                                      </p:to>
                                    </p:set>
                                    <p:anim calcmode="lin" valueType="num">
                                      <p:cBhvr additive="base">
                                        <p:cTn id="25" dur="500" fill="hold"/>
                                        <p:tgtEl>
                                          <p:spTgt spid="71682"/>
                                        </p:tgtEl>
                                        <p:attrNameLst>
                                          <p:attrName>ppt_x</p:attrName>
                                        </p:attrNameLst>
                                      </p:cBhvr>
                                      <p:tavLst>
                                        <p:tav tm="0">
                                          <p:val>
                                            <p:strVal val="1+#ppt_w/2"/>
                                          </p:val>
                                        </p:tav>
                                        <p:tav tm="100000">
                                          <p:val>
                                            <p:strVal val="#ppt_x"/>
                                          </p:val>
                                        </p:tav>
                                      </p:tavLst>
                                    </p:anim>
                                    <p:anim calcmode="lin" valueType="num">
                                      <p:cBhvr additive="base">
                                        <p:cTn id="26" dur="500" fill="hold"/>
                                        <p:tgtEl>
                                          <p:spTgt spid="7168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71683"/>
                                        </p:tgtEl>
                                        <p:attrNameLst>
                                          <p:attrName>style.visibility</p:attrName>
                                        </p:attrNameLst>
                                      </p:cBhvr>
                                      <p:to>
                                        <p:strVal val="visible"/>
                                      </p:to>
                                    </p:set>
                                    <p:anim calcmode="lin" valueType="num">
                                      <p:cBhvr additive="base">
                                        <p:cTn id="31" dur="500" fill="hold"/>
                                        <p:tgtEl>
                                          <p:spTgt spid="71683"/>
                                        </p:tgtEl>
                                        <p:attrNameLst>
                                          <p:attrName>ppt_x</p:attrName>
                                        </p:attrNameLst>
                                      </p:cBhvr>
                                      <p:tavLst>
                                        <p:tav tm="0">
                                          <p:val>
                                            <p:strVal val="1+#ppt_w/2"/>
                                          </p:val>
                                        </p:tav>
                                        <p:tav tm="100000">
                                          <p:val>
                                            <p:strVal val="#ppt_x"/>
                                          </p:val>
                                        </p:tav>
                                      </p:tavLst>
                                    </p:anim>
                                    <p:anim calcmode="lin" valueType="num">
                                      <p:cBhvr additive="base">
                                        <p:cTn id="32" dur="500" fill="hold"/>
                                        <p:tgtEl>
                                          <p:spTgt spid="71683"/>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7168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71738"/>
                                        </p:tgtEl>
                                        <p:attrNameLst>
                                          <p:attrName>style.visibility</p:attrName>
                                        </p:attrNameLst>
                                      </p:cBhvr>
                                      <p:to>
                                        <p:strVal val="visible"/>
                                      </p:to>
                                    </p:set>
                                    <p:animEffect transition="in" filter="wipe(up)">
                                      <p:cBhvr>
                                        <p:cTn id="40" dur="500"/>
                                        <p:tgtEl>
                                          <p:spTgt spid="7173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1733"/>
                                        </p:tgtEl>
                                        <p:attrNameLst>
                                          <p:attrName>style.visibility</p:attrName>
                                        </p:attrNameLst>
                                      </p:cBhvr>
                                      <p:to>
                                        <p:strVal val="visible"/>
                                      </p:to>
                                    </p:set>
                                    <p:animEffect transition="in" filter="wipe(left)">
                                      <p:cBhvr>
                                        <p:cTn id="45" dur="500"/>
                                        <p:tgtEl>
                                          <p:spTgt spid="7173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1734"/>
                                        </p:tgtEl>
                                        <p:attrNameLst>
                                          <p:attrName>style.visibility</p:attrName>
                                        </p:attrNameLst>
                                      </p:cBhvr>
                                      <p:to>
                                        <p:strVal val="visible"/>
                                      </p:to>
                                    </p:set>
                                    <p:animEffect transition="in" filter="wipe(left)">
                                      <p:cBhvr>
                                        <p:cTn id="50" dur="500"/>
                                        <p:tgtEl>
                                          <p:spTgt spid="7173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wipe(left)">
                                      <p:cBhvr>
                                        <p:cTn id="5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5" grpId="0" animBg="1" autoUpdateAnimBg="0"/>
      <p:bldP spid="71740"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3903663" y="517525"/>
          <a:ext cx="2339975" cy="571500"/>
        </p:xfrm>
        <a:graphic>
          <a:graphicData uri="http://schemas.openxmlformats.org/presentationml/2006/ole">
            <mc:AlternateContent xmlns:mc="http://schemas.openxmlformats.org/markup-compatibility/2006">
              <mc:Choice xmlns:v="urn:schemas-microsoft-com:vml" Requires="v">
                <p:oleObj spid="_x0000_s95430" name="Equation" r:id="rId3" imgW="876240" imgH="215640" progId="Equation.3">
                  <p:embed/>
                </p:oleObj>
              </mc:Choice>
              <mc:Fallback>
                <p:oleObj name="Equation" r:id="rId3" imgW="876240" imgH="215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3663" y="517525"/>
                        <a:ext cx="233997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5294" name="Group 62"/>
          <p:cNvGrpSpPr>
            <a:grpSpLocks/>
          </p:cNvGrpSpPr>
          <p:nvPr/>
        </p:nvGrpSpPr>
        <p:grpSpPr bwMode="auto">
          <a:xfrm>
            <a:off x="590550" y="266700"/>
            <a:ext cx="2947988" cy="2370138"/>
            <a:chOff x="372" y="168"/>
            <a:chExt cx="1857" cy="1493"/>
          </a:xfrm>
        </p:grpSpPr>
        <p:sp>
          <p:nvSpPr>
            <p:cNvPr id="95236" name="Rectangle 4"/>
            <p:cNvSpPr>
              <a:spLocks noChangeArrowheads="1"/>
            </p:cNvSpPr>
            <p:nvPr/>
          </p:nvSpPr>
          <p:spPr bwMode="auto">
            <a:xfrm>
              <a:off x="869" y="471"/>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37" name="Rectangle 5"/>
            <p:cNvSpPr>
              <a:spLocks noChangeArrowheads="1"/>
            </p:cNvSpPr>
            <p:nvPr/>
          </p:nvSpPr>
          <p:spPr bwMode="auto">
            <a:xfrm>
              <a:off x="1030" y="634"/>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38" name="AutoShape 6"/>
            <p:cNvSpPr>
              <a:spLocks noChangeArrowheads="1"/>
            </p:cNvSpPr>
            <p:nvPr/>
          </p:nvSpPr>
          <p:spPr bwMode="auto">
            <a:xfrm>
              <a:off x="940" y="562"/>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39" name="Line 7"/>
            <p:cNvSpPr>
              <a:spLocks noChangeShapeType="1"/>
            </p:cNvSpPr>
            <p:nvPr/>
          </p:nvSpPr>
          <p:spPr bwMode="auto">
            <a:xfrm>
              <a:off x="1558" y="906"/>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95240" name="Group 8"/>
            <p:cNvGrpSpPr>
              <a:grpSpLocks/>
            </p:cNvGrpSpPr>
            <p:nvPr/>
          </p:nvGrpSpPr>
          <p:grpSpPr bwMode="auto">
            <a:xfrm>
              <a:off x="644" y="683"/>
              <a:ext cx="423" cy="450"/>
              <a:chOff x="862" y="2612"/>
              <a:chExt cx="423" cy="450"/>
            </a:xfrm>
          </p:grpSpPr>
          <p:sp>
            <p:nvSpPr>
              <p:cNvPr id="95241" name="Freeform 9"/>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2" name="Line 10"/>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3" name="Freeform 11"/>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4" name="Freeform 12"/>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5" name="Freeform 13"/>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6" name="Freeform 14"/>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7" name="Oval 15"/>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48" name="Oval 16"/>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5249" name="Line 17"/>
            <p:cNvSpPr>
              <a:spLocks noChangeShapeType="1"/>
            </p:cNvSpPr>
            <p:nvPr/>
          </p:nvSpPr>
          <p:spPr bwMode="auto">
            <a:xfrm>
              <a:off x="643" y="615"/>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0" name="Text Box 18"/>
            <p:cNvSpPr txBox="1">
              <a:spLocks noChangeArrowheads="1"/>
            </p:cNvSpPr>
            <p:nvPr/>
          </p:nvSpPr>
          <p:spPr bwMode="auto">
            <a:xfrm>
              <a:off x="623" y="327"/>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b="1"/>
            </a:p>
          </p:txBody>
        </p:sp>
        <p:grpSp>
          <p:nvGrpSpPr>
            <p:cNvPr id="95251" name="Group 19"/>
            <p:cNvGrpSpPr>
              <a:grpSpLocks/>
            </p:cNvGrpSpPr>
            <p:nvPr/>
          </p:nvGrpSpPr>
          <p:grpSpPr bwMode="auto">
            <a:xfrm flipH="1">
              <a:off x="1414" y="711"/>
              <a:ext cx="528" cy="432"/>
              <a:chOff x="862" y="2612"/>
              <a:chExt cx="423" cy="450"/>
            </a:xfrm>
          </p:grpSpPr>
          <p:sp>
            <p:nvSpPr>
              <p:cNvPr id="95252" name="Freeform 20"/>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3" name="Line 21"/>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4" name="Freeform 22"/>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5" name="Freeform 23"/>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6" name="Freeform 24"/>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7" name="Freeform 25"/>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8" name="Oval 26"/>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59" name="Oval 27"/>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95260" name="Text Box 28"/>
            <p:cNvSpPr txBox="1">
              <a:spLocks noChangeArrowheads="1"/>
            </p:cNvSpPr>
            <p:nvPr/>
          </p:nvSpPr>
          <p:spPr bwMode="auto">
            <a:xfrm>
              <a:off x="454" y="459"/>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a:t>
              </a:r>
            </a:p>
          </p:txBody>
        </p:sp>
        <p:sp>
          <p:nvSpPr>
            <p:cNvPr id="95261" name="Text Box 29"/>
            <p:cNvSpPr txBox="1">
              <a:spLocks noChangeArrowheads="1"/>
            </p:cNvSpPr>
            <p:nvPr/>
          </p:nvSpPr>
          <p:spPr bwMode="auto">
            <a:xfrm>
              <a:off x="430" y="1083"/>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a:t>
              </a:r>
            </a:p>
          </p:txBody>
        </p:sp>
        <p:sp>
          <p:nvSpPr>
            <p:cNvPr id="95262" name="Text Box 30"/>
            <p:cNvSpPr txBox="1">
              <a:spLocks noChangeArrowheads="1"/>
            </p:cNvSpPr>
            <p:nvPr/>
          </p:nvSpPr>
          <p:spPr bwMode="auto">
            <a:xfrm>
              <a:off x="1918" y="44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2</a:t>
              </a:r>
            </a:p>
          </p:txBody>
        </p:sp>
        <p:sp>
          <p:nvSpPr>
            <p:cNvPr id="95263" name="Text Box 31"/>
            <p:cNvSpPr txBox="1">
              <a:spLocks noChangeArrowheads="1"/>
            </p:cNvSpPr>
            <p:nvPr/>
          </p:nvSpPr>
          <p:spPr bwMode="auto">
            <a:xfrm>
              <a:off x="1858" y="110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2'</a:t>
              </a:r>
            </a:p>
          </p:txBody>
        </p:sp>
        <p:sp>
          <p:nvSpPr>
            <p:cNvPr id="95264" name="AutoShape 32"/>
            <p:cNvSpPr>
              <a:spLocks noChangeArrowheads="1"/>
            </p:cNvSpPr>
            <p:nvPr/>
          </p:nvSpPr>
          <p:spPr bwMode="auto">
            <a:xfrm>
              <a:off x="897" y="507"/>
              <a:ext cx="696" cy="822"/>
            </a:xfrm>
            <a:prstGeom prst="roundRect">
              <a:avLst>
                <a:gd name="adj" fmla="val 16667"/>
              </a:avLst>
            </a:prstGeom>
            <a:noFill/>
            <a:ln w="19050">
              <a:solidFill>
                <a:schemeClr val="accent2"/>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65" name="Line 33"/>
            <p:cNvSpPr>
              <a:spLocks noChangeShapeType="1"/>
            </p:cNvSpPr>
            <p:nvPr/>
          </p:nvSpPr>
          <p:spPr bwMode="auto">
            <a:xfrm rot="-5400000">
              <a:off x="1150" y="424"/>
              <a:ext cx="0" cy="166"/>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5266" name="Object 34"/>
            <p:cNvGraphicFramePr>
              <a:graphicFrameLocks noChangeAspect="1"/>
            </p:cNvGraphicFramePr>
            <p:nvPr/>
          </p:nvGraphicFramePr>
          <p:xfrm>
            <a:off x="1141" y="843"/>
            <a:ext cx="336" cy="318"/>
          </p:xfrm>
          <a:graphic>
            <a:graphicData uri="http://schemas.openxmlformats.org/presentationml/2006/ole">
              <mc:AlternateContent xmlns:mc="http://schemas.openxmlformats.org/markup-compatibility/2006">
                <mc:Choice xmlns:v="urn:schemas-microsoft-com:vml" Requires="v">
                  <p:oleObj spid="_x0000_s95431" name="Equation" r:id="rId5" imgW="241200" imgH="228600" progId="Equation.DSMT4">
                    <p:embed/>
                  </p:oleObj>
                </mc:Choice>
                <mc:Fallback>
                  <p:oleObj name="Equation" r:id="rId5" imgW="241200" imgH="2286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 y="843"/>
                          <a:ext cx="336"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67" name="Object 35"/>
            <p:cNvGraphicFramePr>
              <a:graphicFrameLocks noChangeAspect="1"/>
            </p:cNvGraphicFramePr>
            <p:nvPr/>
          </p:nvGraphicFramePr>
          <p:xfrm>
            <a:off x="1048" y="168"/>
            <a:ext cx="358" cy="319"/>
          </p:xfrm>
          <a:graphic>
            <a:graphicData uri="http://schemas.openxmlformats.org/presentationml/2006/ole">
              <mc:AlternateContent xmlns:mc="http://schemas.openxmlformats.org/markup-compatibility/2006">
                <mc:Choice xmlns:v="urn:schemas-microsoft-com:vml" Requires="v">
                  <p:oleObj spid="_x0000_s95432" name="Equation" r:id="rId7" imgW="253800" imgH="228600" progId="Equation.DSMT4">
                    <p:embed/>
                  </p:oleObj>
                </mc:Choice>
                <mc:Fallback>
                  <p:oleObj name="Equation" r:id="rId7" imgW="253800" imgH="228600" progId="Equation.DSMT4">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8" y="168"/>
                          <a:ext cx="358"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68" name="Text Box 36"/>
            <p:cNvSpPr txBox="1">
              <a:spLocks noChangeArrowheads="1"/>
            </p:cNvSpPr>
            <p:nvPr/>
          </p:nvSpPr>
          <p:spPr bwMode="auto">
            <a:xfrm>
              <a:off x="803" y="1373"/>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t>N</a:t>
              </a:r>
              <a:r>
                <a:rPr lang="en-US" altLang="zh-CN" sz="1400" b="1"/>
                <a:t>1</a:t>
              </a:r>
              <a:endParaRPr lang="en-US" altLang="zh-CN" b="1" i="1"/>
            </a:p>
          </p:txBody>
        </p:sp>
        <p:sp>
          <p:nvSpPr>
            <p:cNvPr id="95269" name="Text Box 37"/>
            <p:cNvSpPr txBox="1">
              <a:spLocks noChangeArrowheads="1"/>
            </p:cNvSpPr>
            <p:nvPr/>
          </p:nvSpPr>
          <p:spPr bwMode="auto">
            <a:xfrm>
              <a:off x="1432" y="1365"/>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N</a:t>
              </a:r>
              <a:r>
                <a:rPr lang="en-US" altLang="zh-CN" sz="1400" b="1"/>
                <a:t>2</a:t>
              </a:r>
              <a:endParaRPr lang="en-US" altLang="zh-CN" b="1" i="1"/>
            </a:p>
          </p:txBody>
        </p:sp>
        <p:sp>
          <p:nvSpPr>
            <p:cNvPr id="95270" name="Line 38"/>
            <p:cNvSpPr>
              <a:spLocks noChangeShapeType="1"/>
            </p:cNvSpPr>
            <p:nvPr/>
          </p:nvSpPr>
          <p:spPr bwMode="auto">
            <a:xfrm>
              <a:off x="2038" y="1095"/>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5271" name="Group 39"/>
            <p:cNvGrpSpPr>
              <a:grpSpLocks/>
            </p:cNvGrpSpPr>
            <p:nvPr/>
          </p:nvGrpSpPr>
          <p:grpSpPr bwMode="auto">
            <a:xfrm>
              <a:off x="2026" y="723"/>
              <a:ext cx="96" cy="96"/>
              <a:chOff x="3588" y="819"/>
              <a:chExt cx="96" cy="96"/>
            </a:xfrm>
          </p:grpSpPr>
          <p:sp>
            <p:nvSpPr>
              <p:cNvPr id="95272" name="Line 40"/>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3" name="Line 41"/>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5274" name="Group 42"/>
            <p:cNvGrpSpPr>
              <a:grpSpLocks/>
            </p:cNvGrpSpPr>
            <p:nvPr/>
          </p:nvGrpSpPr>
          <p:grpSpPr bwMode="auto">
            <a:xfrm>
              <a:off x="444" y="723"/>
              <a:ext cx="96" cy="96"/>
              <a:chOff x="3588" y="819"/>
              <a:chExt cx="96" cy="96"/>
            </a:xfrm>
          </p:grpSpPr>
          <p:sp>
            <p:nvSpPr>
              <p:cNvPr id="95275" name="Line 43"/>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6" name="Line 44"/>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5277" name="Line 45"/>
            <p:cNvSpPr>
              <a:spLocks noChangeShapeType="1"/>
            </p:cNvSpPr>
            <p:nvPr/>
          </p:nvSpPr>
          <p:spPr bwMode="auto">
            <a:xfrm>
              <a:off x="454" y="1083"/>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78" name="Text Box 46"/>
            <p:cNvSpPr txBox="1">
              <a:spLocks noChangeArrowheads="1"/>
            </p:cNvSpPr>
            <p:nvPr/>
          </p:nvSpPr>
          <p:spPr bwMode="auto">
            <a:xfrm>
              <a:off x="372" y="757"/>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1</a:t>
              </a:r>
              <a:endParaRPr lang="en-US" altLang="zh-CN" b="1" i="1"/>
            </a:p>
          </p:txBody>
        </p:sp>
        <p:sp>
          <p:nvSpPr>
            <p:cNvPr id="95279" name="Text Box 47"/>
            <p:cNvSpPr txBox="1">
              <a:spLocks noChangeArrowheads="1"/>
            </p:cNvSpPr>
            <p:nvPr/>
          </p:nvSpPr>
          <p:spPr bwMode="auto">
            <a:xfrm>
              <a:off x="1942" y="770"/>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u</a:t>
              </a:r>
              <a:r>
                <a:rPr lang="en-US" altLang="zh-CN" b="1" baseline="-25000"/>
                <a:t>2</a:t>
              </a:r>
              <a:endParaRPr lang="en-US" altLang="zh-CN" b="1" i="1"/>
            </a:p>
          </p:txBody>
        </p:sp>
        <p:sp>
          <p:nvSpPr>
            <p:cNvPr id="95280" name="Line 48"/>
            <p:cNvSpPr>
              <a:spLocks noChangeShapeType="1"/>
            </p:cNvSpPr>
            <p:nvPr/>
          </p:nvSpPr>
          <p:spPr bwMode="auto">
            <a:xfrm flipH="1">
              <a:off x="1725" y="634"/>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281" name="Text Box 49"/>
            <p:cNvSpPr txBox="1">
              <a:spLocks noChangeArrowheads="1"/>
            </p:cNvSpPr>
            <p:nvPr/>
          </p:nvSpPr>
          <p:spPr bwMode="auto">
            <a:xfrm>
              <a:off x="610" y="30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1</a:t>
              </a:r>
              <a:endParaRPr lang="en-US" altLang="zh-CN" b="1" i="1"/>
            </a:p>
          </p:txBody>
        </p:sp>
        <p:sp>
          <p:nvSpPr>
            <p:cNvPr id="95282" name="Text Box 50"/>
            <p:cNvSpPr txBox="1">
              <a:spLocks noChangeArrowheads="1"/>
            </p:cNvSpPr>
            <p:nvPr/>
          </p:nvSpPr>
          <p:spPr bwMode="auto">
            <a:xfrm>
              <a:off x="1725" y="347"/>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t>i</a:t>
              </a:r>
              <a:r>
                <a:rPr lang="en-US" altLang="zh-CN" b="1" baseline="-25000"/>
                <a:t>2</a:t>
              </a:r>
              <a:endParaRPr lang="en-US" altLang="zh-CN" b="1" i="1"/>
            </a:p>
          </p:txBody>
        </p:sp>
      </p:grpSp>
      <p:graphicFrame>
        <p:nvGraphicFramePr>
          <p:cNvPr id="95283" name="Object 51"/>
          <p:cNvGraphicFramePr>
            <a:graphicFrameLocks noChangeAspect="1"/>
          </p:cNvGraphicFramePr>
          <p:nvPr/>
        </p:nvGraphicFramePr>
        <p:xfrm>
          <a:off x="3960813" y="1139825"/>
          <a:ext cx="3868737" cy="877888"/>
        </p:xfrm>
        <a:graphic>
          <a:graphicData uri="http://schemas.openxmlformats.org/presentationml/2006/ole">
            <mc:AlternateContent xmlns:mc="http://schemas.openxmlformats.org/markup-compatibility/2006">
              <mc:Choice xmlns:v="urn:schemas-microsoft-com:vml" Requires="v">
                <p:oleObj spid="_x0000_s95433" name="Equation" r:id="rId9" imgW="1841400" imgH="419040" progId="Equation.3">
                  <p:embed/>
                </p:oleObj>
              </mc:Choice>
              <mc:Fallback>
                <p:oleObj name="Equation" r:id="rId9" imgW="1841400" imgH="419040" progId="Equation.3">
                  <p:embed/>
                  <p:pic>
                    <p:nvPicPr>
                      <p:cNvPr id="0" name="Object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0813" y="1139825"/>
                        <a:ext cx="3868737"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84" name="Object 52"/>
          <p:cNvGraphicFramePr>
            <a:graphicFrameLocks noChangeAspect="1"/>
          </p:cNvGraphicFramePr>
          <p:nvPr/>
        </p:nvGraphicFramePr>
        <p:xfrm>
          <a:off x="3940175" y="2098675"/>
          <a:ext cx="1238250" cy="917575"/>
        </p:xfrm>
        <a:graphic>
          <a:graphicData uri="http://schemas.openxmlformats.org/presentationml/2006/ole">
            <mc:AlternateContent xmlns:mc="http://schemas.openxmlformats.org/markup-compatibility/2006">
              <mc:Choice xmlns:v="urn:schemas-microsoft-com:vml" Requires="v">
                <p:oleObj spid="_x0000_s95434" name="公式" r:id="rId11" imgW="596880" imgH="444240" progId="Equation.3">
                  <p:embed/>
                </p:oleObj>
              </mc:Choice>
              <mc:Fallback>
                <p:oleObj name="公式" r:id="rId11" imgW="596880" imgH="444240" progId="Equation.3">
                  <p:embed/>
                  <p:pic>
                    <p:nvPicPr>
                      <p:cNvPr id="0"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40175" y="2098675"/>
                        <a:ext cx="1238250"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85" name="Object 53"/>
          <p:cNvGraphicFramePr>
            <a:graphicFrameLocks noChangeAspect="1"/>
          </p:cNvGraphicFramePr>
          <p:nvPr/>
        </p:nvGraphicFramePr>
        <p:xfrm>
          <a:off x="5448300" y="2405063"/>
          <a:ext cx="598488" cy="330200"/>
        </p:xfrm>
        <a:graphic>
          <a:graphicData uri="http://schemas.openxmlformats.org/presentationml/2006/ole">
            <mc:AlternateContent xmlns:mc="http://schemas.openxmlformats.org/markup-compatibility/2006">
              <mc:Choice xmlns:v="urn:schemas-microsoft-com:vml" Requires="v">
                <p:oleObj spid="_x0000_s95435" name="公式" r:id="rId13" imgW="253800" imgH="139680" progId="Equation.3">
                  <p:embed/>
                </p:oleObj>
              </mc:Choice>
              <mc:Fallback>
                <p:oleObj name="公式" r:id="rId13" imgW="253800" imgH="139680" progId="Equation.3">
                  <p:embed/>
                  <p:pic>
                    <p:nvPicPr>
                      <p:cNvPr id="0" name="Object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48300" y="2405063"/>
                        <a:ext cx="598488"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86" name="Object 54"/>
          <p:cNvGraphicFramePr>
            <a:graphicFrameLocks noChangeAspect="1"/>
          </p:cNvGraphicFramePr>
          <p:nvPr/>
        </p:nvGraphicFramePr>
        <p:xfrm>
          <a:off x="1368425" y="3227388"/>
          <a:ext cx="4200525" cy="1017587"/>
        </p:xfrm>
        <a:graphic>
          <a:graphicData uri="http://schemas.openxmlformats.org/presentationml/2006/ole">
            <mc:AlternateContent xmlns:mc="http://schemas.openxmlformats.org/markup-compatibility/2006">
              <mc:Choice xmlns:v="urn:schemas-microsoft-com:vml" Requires="v">
                <p:oleObj spid="_x0000_s95436" name="公式" r:id="rId15" imgW="1981080" imgH="482400" progId="Equation.3">
                  <p:embed/>
                </p:oleObj>
              </mc:Choice>
              <mc:Fallback>
                <p:oleObj name="公式" r:id="rId15" imgW="1981080" imgH="482400" progId="Equation.3">
                  <p:embed/>
                  <p:pic>
                    <p:nvPicPr>
                      <p:cNvPr id="0" name="Object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68425" y="3227388"/>
                        <a:ext cx="4200525" cy="1017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87" name="Text Box 55"/>
          <p:cNvSpPr txBox="1">
            <a:spLocks noChangeArrowheads="1"/>
          </p:cNvSpPr>
          <p:nvPr/>
        </p:nvSpPr>
        <p:spPr bwMode="auto">
          <a:xfrm>
            <a:off x="666750" y="2820988"/>
            <a:ext cx="49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FF3300"/>
                </a:solidFill>
              </a:rPr>
              <a:t>则</a:t>
            </a:r>
            <a:endParaRPr lang="zh-CN" altLang="en-US"/>
          </a:p>
        </p:txBody>
      </p:sp>
      <p:graphicFrame>
        <p:nvGraphicFramePr>
          <p:cNvPr id="95288" name="Object 56"/>
          <p:cNvGraphicFramePr>
            <a:graphicFrameLocks noChangeAspect="1"/>
          </p:cNvGraphicFramePr>
          <p:nvPr/>
        </p:nvGraphicFramePr>
        <p:xfrm>
          <a:off x="977900" y="4873625"/>
          <a:ext cx="1427163" cy="457200"/>
        </p:xfrm>
        <a:graphic>
          <a:graphicData uri="http://schemas.openxmlformats.org/presentationml/2006/ole">
            <mc:AlternateContent xmlns:mc="http://schemas.openxmlformats.org/markup-compatibility/2006">
              <mc:Choice xmlns:v="urn:schemas-microsoft-com:vml" Requires="v">
                <p:oleObj spid="_x0000_s95437" name="公式" r:id="rId17" imgW="711000" imgH="228600" progId="Equation.3">
                  <p:embed/>
                </p:oleObj>
              </mc:Choice>
              <mc:Fallback>
                <p:oleObj name="公式" r:id="rId17" imgW="711000" imgH="228600" progId="Equation.3">
                  <p:embed/>
                  <p:pic>
                    <p:nvPicPr>
                      <p:cNvPr id="0" name="Object 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7900" y="4873625"/>
                        <a:ext cx="142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5289" name="Object 57"/>
          <p:cNvGraphicFramePr>
            <a:graphicFrameLocks noChangeAspect="1"/>
          </p:cNvGraphicFramePr>
          <p:nvPr/>
        </p:nvGraphicFramePr>
        <p:xfrm>
          <a:off x="965200" y="5567363"/>
          <a:ext cx="6481763" cy="949325"/>
        </p:xfrm>
        <a:graphic>
          <a:graphicData uri="http://schemas.openxmlformats.org/presentationml/2006/ole">
            <mc:AlternateContent xmlns:mc="http://schemas.openxmlformats.org/markup-compatibility/2006">
              <mc:Choice xmlns:v="urn:schemas-microsoft-com:vml" Requires="v">
                <p:oleObj spid="_x0000_s95438" name="Equation" r:id="rId19" imgW="3124080" imgH="457200" progId="Equation.3">
                  <p:embed/>
                </p:oleObj>
              </mc:Choice>
              <mc:Fallback>
                <p:oleObj name="Equation" r:id="rId19" imgW="3124080" imgH="457200" progId="Equation.3">
                  <p:embed/>
                  <p:pic>
                    <p:nvPicPr>
                      <p:cNvPr id="0" name="Object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5200" y="5567363"/>
                        <a:ext cx="6481763"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90" name="AutoShape 58"/>
          <p:cNvSpPr>
            <a:spLocks/>
          </p:cNvSpPr>
          <p:nvPr/>
        </p:nvSpPr>
        <p:spPr bwMode="auto">
          <a:xfrm>
            <a:off x="523875" y="4895850"/>
            <a:ext cx="188913" cy="1314450"/>
          </a:xfrm>
          <a:prstGeom prst="leftBrace">
            <a:avLst>
              <a:gd name="adj1" fmla="val 5798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91" name="Text Box 59"/>
          <p:cNvSpPr txBox="1">
            <a:spLocks noChangeArrowheads="1"/>
          </p:cNvSpPr>
          <p:nvPr/>
        </p:nvSpPr>
        <p:spPr bwMode="auto">
          <a:xfrm>
            <a:off x="401638" y="4376738"/>
            <a:ext cx="447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chemeClr val="accent2"/>
                </a:solidFill>
              </a:rPr>
              <a:t>全耦合变压器的电压、电流关系</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dissolve">
                                      <p:cBhvr>
                                        <p:cTn id="7" dur="500"/>
                                        <p:tgtEl>
                                          <p:spTgt spid="95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5283"/>
                                        </p:tgtEl>
                                        <p:attrNameLst>
                                          <p:attrName>style.visibility</p:attrName>
                                        </p:attrNameLst>
                                      </p:cBhvr>
                                      <p:to>
                                        <p:strVal val="visible"/>
                                      </p:to>
                                    </p:set>
                                    <p:animEffect transition="in" filter="dissolve">
                                      <p:cBhvr>
                                        <p:cTn id="12" dur="500"/>
                                        <p:tgtEl>
                                          <p:spTgt spid="95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5284"/>
                                        </p:tgtEl>
                                        <p:attrNameLst>
                                          <p:attrName>style.visibility</p:attrName>
                                        </p:attrNameLst>
                                      </p:cBhvr>
                                      <p:to>
                                        <p:strVal val="visible"/>
                                      </p:to>
                                    </p:set>
                                    <p:animEffect transition="in" filter="dissolve">
                                      <p:cBhvr>
                                        <p:cTn id="17" dur="500"/>
                                        <p:tgtEl>
                                          <p:spTgt spid="952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5285"/>
                                        </p:tgtEl>
                                        <p:attrNameLst>
                                          <p:attrName>style.visibility</p:attrName>
                                        </p:attrNameLst>
                                      </p:cBhvr>
                                      <p:to>
                                        <p:strVal val="visible"/>
                                      </p:to>
                                    </p:set>
                                    <p:animEffect transition="in" filter="dissolve">
                                      <p:cBhvr>
                                        <p:cTn id="22" dur="500"/>
                                        <p:tgtEl>
                                          <p:spTgt spid="952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5287"/>
                                        </p:tgtEl>
                                        <p:attrNameLst>
                                          <p:attrName>style.visibility</p:attrName>
                                        </p:attrNameLst>
                                      </p:cBhvr>
                                      <p:to>
                                        <p:strVal val="visible"/>
                                      </p:to>
                                    </p:set>
                                    <p:animEffect transition="in" filter="dissolve">
                                      <p:cBhvr>
                                        <p:cTn id="27" dur="500"/>
                                        <p:tgtEl>
                                          <p:spTgt spid="952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95286"/>
                                        </p:tgtEl>
                                        <p:attrNameLst>
                                          <p:attrName>style.visibility</p:attrName>
                                        </p:attrNameLst>
                                      </p:cBhvr>
                                      <p:to>
                                        <p:strVal val="visible"/>
                                      </p:to>
                                    </p:set>
                                    <p:animEffect transition="in" filter="dissolve">
                                      <p:cBhvr>
                                        <p:cTn id="32" dur="500"/>
                                        <p:tgtEl>
                                          <p:spTgt spid="952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5291"/>
                                        </p:tgtEl>
                                        <p:attrNameLst>
                                          <p:attrName>style.visibility</p:attrName>
                                        </p:attrNameLst>
                                      </p:cBhvr>
                                      <p:to>
                                        <p:strVal val="visible"/>
                                      </p:to>
                                    </p:set>
                                    <p:animEffect transition="in" filter="dissolve">
                                      <p:cBhvr>
                                        <p:cTn id="37" dur="500"/>
                                        <p:tgtEl>
                                          <p:spTgt spid="952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5288"/>
                                        </p:tgtEl>
                                        <p:attrNameLst>
                                          <p:attrName>style.visibility</p:attrName>
                                        </p:attrNameLst>
                                      </p:cBhvr>
                                      <p:to>
                                        <p:strVal val="visible"/>
                                      </p:to>
                                    </p:set>
                                    <p:animEffect transition="in" filter="wipe(left)">
                                      <p:cBhvr>
                                        <p:cTn id="42" dur="500"/>
                                        <p:tgtEl>
                                          <p:spTgt spid="952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5289"/>
                                        </p:tgtEl>
                                        <p:attrNameLst>
                                          <p:attrName>style.visibility</p:attrName>
                                        </p:attrNameLst>
                                      </p:cBhvr>
                                      <p:to>
                                        <p:strVal val="visible"/>
                                      </p:to>
                                    </p:set>
                                    <p:animEffect transition="in" filter="wipe(left)">
                                      <p:cBhvr>
                                        <p:cTn id="47" dur="500"/>
                                        <p:tgtEl>
                                          <p:spTgt spid="95289"/>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95290"/>
                                        </p:tgtEl>
                                        <p:attrNameLst>
                                          <p:attrName>style.visibility</p:attrName>
                                        </p:attrNameLst>
                                      </p:cBhvr>
                                      <p:to>
                                        <p:strVal val="visible"/>
                                      </p:to>
                                    </p:set>
                                    <p:animEffect transition="in" filter="wipe(left)">
                                      <p:cBhvr>
                                        <p:cTn id="51" dur="500"/>
                                        <p:tgtEl>
                                          <p:spTgt spid="95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87" grpId="0" autoUpdateAnimBg="0"/>
      <p:bldP spid="95291"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Text Box 2"/>
          <p:cNvSpPr txBox="1">
            <a:spLocks noChangeArrowheads="1"/>
          </p:cNvSpPr>
          <p:nvPr/>
        </p:nvSpPr>
        <p:spPr bwMode="auto">
          <a:xfrm>
            <a:off x="685800" y="3352800"/>
            <a:ext cx="799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当</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r>
              <a:rPr kumimoji="1" lang="en-US" altLang="zh-CN" sz="2400" b="1">
                <a:latin typeface="Times New Roman" panose="02020603050405020304" pitchFamily="18" charset="0"/>
              </a:rPr>
              <a:t> , </a:t>
            </a:r>
            <a:r>
              <a:rPr kumimoji="1" lang="en-US" altLang="zh-CN" sz="2400" b="1" i="1">
                <a:latin typeface="Times New Roman" panose="02020603050405020304" pitchFamily="18" charset="0"/>
              </a:rPr>
              <a:t>M</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a:t>
            </a:r>
            <a:r>
              <a:rPr kumimoji="1" lang="en-US" altLang="zh-CN" sz="2400" b="1">
                <a:latin typeface="Times New Roman" panose="02020603050405020304" pitchFamily="18" charset="0"/>
                <a:sym typeface="Symbol" panose="05050102010706020507" pitchFamily="18" charset="2"/>
              </a:rPr>
              <a:t> </a:t>
            </a:r>
            <a:r>
              <a:rPr kumimoji="1" lang="zh-CN" altLang="en-US" sz="2400" b="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1</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L</a:t>
            </a:r>
            <a:r>
              <a:rPr kumimoji="1" lang="en-US" altLang="zh-CN" sz="2400" b="1" baseline="-25000">
                <a:latin typeface="Times New Roman" panose="02020603050405020304" pitchFamily="18" charset="0"/>
              </a:rPr>
              <a:t>2 </a:t>
            </a:r>
            <a:r>
              <a:rPr kumimoji="1" lang="zh-CN" altLang="en-US" sz="2400" b="1">
                <a:latin typeface="Times New Roman" panose="02020603050405020304" pitchFamily="18" charset="0"/>
              </a:rPr>
              <a:t>比值不变 </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磁导率</a:t>
            </a:r>
            <a:r>
              <a:rPr kumimoji="1" lang="en-US" altLang="zh-CN" sz="2400" b="1" i="1">
                <a:latin typeface="Symbol" panose="05050102010706020507" pitchFamily="18" charset="2"/>
              </a:rPr>
              <a:t>m</a:t>
            </a:r>
            <a:r>
              <a:rPr kumimoji="1" lang="en-US" altLang="zh-CN" sz="2400" b="1">
                <a:latin typeface="Times New Roman" panose="02020603050405020304" pitchFamily="18" charset="0"/>
                <a:sym typeface="Symbol" panose="05050102010706020507" pitchFamily="18" charset="2"/>
              </a:rPr>
              <a:t> )  ,  </a:t>
            </a:r>
            <a:r>
              <a:rPr kumimoji="1" lang="zh-CN" altLang="en-US" sz="2400" b="1">
                <a:latin typeface="Times New Roman" panose="02020603050405020304" pitchFamily="18" charset="0"/>
                <a:sym typeface="Symbol" panose="05050102010706020507" pitchFamily="18" charset="2"/>
              </a:rPr>
              <a:t>则有</a:t>
            </a:r>
          </a:p>
        </p:txBody>
      </p:sp>
      <p:sp>
        <p:nvSpPr>
          <p:cNvPr id="750595" name="Text Box 3"/>
          <p:cNvSpPr txBox="1">
            <a:spLocks noChangeArrowheads="1"/>
          </p:cNvSpPr>
          <p:nvPr/>
        </p:nvSpPr>
        <p:spPr bwMode="auto">
          <a:xfrm>
            <a:off x="304800" y="304800"/>
            <a:ext cx="507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solidFill>
                  <a:srgbClr val="0000FF"/>
                </a:solidFill>
                <a:latin typeface="Times New Roman" panose="02020603050405020304" pitchFamily="18" charset="0"/>
              </a:rPr>
              <a:t>6. </a:t>
            </a:r>
            <a:r>
              <a:rPr kumimoji="1" lang="zh-CN" altLang="en-US" sz="2400" b="1">
                <a:solidFill>
                  <a:srgbClr val="0000FF"/>
                </a:solidFill>
                <a:latin typeface="Times New Roman" panose="02020603050405020304" pitchFamily="18" charset="0"/>
              </a:rPr>
              <a:t>理想变压器 </a:t>
            </a:r>
            <a:r>
              <a:rPr kumimoji="1" lang="en-US" altLang="zh-CN" sz="2400" b="1">
                <a:solidFill>
                  <a:srgbClr val="0000FF"/>
                </a:solidFill>
                <a:latin typeface="Times New Roman" panose="02020603050405020304" pitchFamily="18" charset="0"/>
              </a:rPr>
              <a:t>(</a:t>
            </a:r>
            <a:r>
              <a:rPr kumimoji="1" lang="en-US" altLang="zh-CN" sz="2400" b="1" i="1">
                <a:solidFill>
                  <a:srgbClr val="0000FF"/>
                </a:solidFill>
                <a:latin typeface="Times New Roman" panose="02020603050405020304" pitchFamily="18" charset="0"/>
              </a:rPr>
              <a:t>ideal transformer</a:t>
            </a:r>
            <a:r>
              <a:rPr kumimoji="1" lang="en-US" altLang="zh-CN" sz="2400" b="1">
                <a:solidFill>
                  <a:srgbClr val="0000FF"/>
                </a:solidFill>
                <a:latin typeface="Times New Roman" panose="02020603050405020304" pitchFamily="18" charset="0"/>
              </a:rPr>
              <a:t>)</a:t>
            </a:r>
          </a:p>
        </p:txBody>
      </p:sp>
      <p:grpSp>
        <p:nvGrpSpPr>
          <p:cNvPr id="750596" name="Group 4"/>
          <p:cNvGrpSpPr>
            <a:grpSpLocks/>
          </p:cNvGrpSpPr>
          <p:nvPr/>
        </p:nvGrpSpPr>
        <p:grpSpPr bwMode="auto">
          <a:xfrm>
            <a:off x="1371600" y="4038600"/>
            <a:ext cx="1700213" cy="1279525"/>
            <a:chOff x="816" y="2688"/>
            <a:chExt cx="1071" cy="806"/>
          </a:xfrm>
        </p:grpSpPr>
        <p:graphicFrame>
          <p:nvGraphicFramePr>
            <p:cNvPr id="750597" name="Object 5"/>
            <p:cNvGraphicFramePr>
              <a:graphicFrameLocks noChangeAspect="1"/>
            </p:cNvGraphicFramePr>
            <p:nvPr/>
          </p:nvGraphicFramePr>
          <p:xfrm>
            <a:off x="935" y="2688"/>
            <a:ext cx="899" cy="288"/>
          </p:xfrm>
          <a:graphic>
            <a:graphicData uri="http://schemas.openxmlformats.org/presentationml/2006/ole">
              <mc:AlternateContent xmlns:mc="http://schemas.openxmlformats.org/markup-compatibility/2006">
                <mc:Choice xmlns:v="urn:schemas-microsoft-com:vml" Requires="v">
                  <p:oleObj spid="_x0000_s116848" name="公式" r:id="rId4" imgW="711000" imgH="228600" progId="Equation.3">
                    <p:embed/>
                  </p:oleObj>
                </mc:Choice>
                <mc:Fallback>
                  <p:oleObj name="公式" r:id="rId4" imgW="711000" imgH="228600" progId="Equation.3">
                    <p:embed/>
                    <p:pic>
                      <p:nvPicPr>
                        <p:cNvPr id="7505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 y="2688"/>
                          <a:ext cx="8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0598" name="Object 6"/>
            <p:cNvGraphicFramePr>
              <a:graphicFrameLocks noChangeAspect="1"/>
            </p:cNvGraphicFramePr>
            <p:nvPr/>
          </p:nvGraphicFramePr>
          <p:xfrm>
            <a:off x="963" y="3042"/>
            <a:ext cx="924" cy="452"/>
          </p:xfrm>
          <a:graphic>
            <a:graphicData uri="http://schemas.openxmlformats.org/presentationml/2006/ole">
              <mc:AlternateContent xmlns:mc="http://schemas.openxmlformats.org/markup-compatibility/2006">
                <mc:Choice xmlns:v="urn:schemas-microsoft-com:vml" Requires="v">
                  <p:oleObj spid="_x0000_s116849" name="公式" r:id="rId6" imgW="723600" imgH="355320" progId="Equation.3">
                    <p:embed/>
                  </p:oleObj>
                </mc:Choice>
                <mc:Fallback>
                  <p:oleObj name="公式" r:id="rId6" imgW="723600" imgH="355320" progId="Equation.3">
                    <p:embed/>
                    <p:pic>
                      <p:nvPicPr>
                        <p:cNvPr id="7505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3" y="3042"/>
                          <a:ext cx="924"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0599" name="AutoShape 7"/>
            <p:cNvSpPr>
              <a:spLocks/>
            </p:cNvSpPr>
            <p:nvPr/>
          </p:nvSpPr>
          <p:spPr bwMode="auto">
            <a:xfrm>
              <a:off x="816" y="2692"/>
              <a:ext cx="119" cy="730"/>
            </a:xfrm>
            <a:prstGeom prst="leftBrace">
              <a:avLst>
                <a:gd name="adj1" fmla="val 51120"/>
                <a:gd name="adj2" fmla="val 50000"/>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600" name="Group 8"/>
          <p:cNvGrpSpPr>
            <a:grpSpLocks/>
          </p:cNvGrpSpPr>
          <p:nvPr/>
        </p:nvGrpSpPr>
        <p:grpSpPr bwMode="auto">
          <a:xfrm>
            <a:off x="4724400" y="3733800"/>
            <a:ext cx="3436938" cy="2160588"/>
            <a:chOff x="2652" y="813"/>
            <a:chExt cx="2165" cy="1361"/>
          </a:xfrm>
        </p:grpSpPr>
        <p:sp>
          <p:nvSpPr>
            <p:cNvPr id="750601" name="Line 9"/>
            <p:cNvSpPr>
              <a:spLocks noChangeShapeType="1"/>
            </p:cNvSpPr>
            <p:nvPr/>
          </p:nvSpPr>
          <p:spPr bwMode="auto">
            <a:xfrm flipH="1">
              <a:off x="3574" y="1843"/>
              <a:ext cx="4"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2" name="Line 10"/>
            <p:cNvSpPr>
              <a:spLocks noChangeShapeType="1"/>
            </p:cNvSpPr>
            <p:nvPr/>
          </p:nvSpPr>
          <p:spPr bwMode="auto">
            <a:xfrm>
              <a:off x="3576" y="1267"/>
              <a:ext cx="2"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3" name="Line 11"/>
            <p:cNvSpPr>
              <a:spLocks noChangeShapeType="1"/>
            </p:cNvSpPr>
            <p:nvPr/>
          </p:nvSpPr>
          <p:spPr bwMode="auto">
            <a:xfrm flipH="1">
              <a:off x="4004" y="1866"/>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4" name="Line 12"/>
            <p:cNvSpPr>
              <a:spLocks noChangeShapeType="1"/>
            </p:cNvSpPr>
            <p:nvPr/>
          </p:nvSpPr>
          <p:spPr bwMode="auto">
            <a:xfrm>
              <a:off x="4006" y="1262"/>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5" name="Line 13"/>
            <p:cNvSpPr>
              <a:spLocks noChangeShapeType="1"/>
            </p:cNvSpPr>
            <p:nvPr/>
          </p:nvSpPr>
          <p:spPr bwMode="auto">
            <a:xfrm>
              <a:off x="2966" y="1262"/>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6" name="Line 14"/>
            <p:cNvSpPr>
              <a:spLocks noChangeShapeType="1"/>
            </p:cNvSpPr>
            <p:nvPr/>
          </p:nvSpPr>
          <p:spPr bwMode="auto">
            <a:xfrm flipV="1">
              <a:off x="4006" y="2068"/>
              <a:ext cx="50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7" name="Line 15"/>
            <p:cNvSpPr>
              <a:spLocks noChangeShapeType="1"/>
            </p:cNvSpPr>
            <p:nvPr/>
          </p:nvSpPr>
          <p:spPr bwMode="auto">
            <a:xfrm rot="5400000">
              <a:off x="4385" y="1065"/>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08" name="Text Box 16"/>
            <p:cNvSpPr txBox="1">
              <a:spLocks noChangeArrowheads="1"/>
            </p:cNvSpPr>
            <p:nvPr/>
          </p:nvSpPr>
          <p:spPr bwMode="auto">
            <a:xfrm>
              <a:off x="3600" y="128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0609" name="Text Box 17"/>
            <p:cNvSpPr txBox="1">
              <a:spLocks noChangeArrowheads="1"/>
            </p:cNvSpPr>
            <p:nvPr/>
          </p:nvSpPr>
          <p:spPr bwMode="auto">
            <a:xfrm>
              <a:off x="3821" y="1281"/>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0610" name="Line 18"/>
            <p:cNvSpPr>
              <a:spLocks noChangeShapeType="1"/>
            </p:cNvSpPr>
            <p:nvPr/>
          </p:nvSpPr>
          <p:spPr bwMode="auto">
            <a:xfrm>
              <a:off x="2957" y="1193"/>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0611" name="Group 19"/>
            <p:cNvGrpSpPr>
              <a:grpSpLocks/>
            </p:cNvGrpSpPr>
            <p:nvPr/>
          </p:nvGrpSpPr>
          <p:grpSpPr bwMode="auto">
            <a:xfrm rot="16200000" flipH="1">
              <a:off x="3798" y="1656"/>
              <a:ext cx="370" cy="53"/>
              <a:chOff x="1200" y="1584"/>
              <a:chExt cx="379" cy="45"/>
            </a:xfrm>
          </p:grpSpPr>
          <p:sp>
            <p:nvSpPr>
              <p:cNvPr id="750612"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3"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4"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5"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16" name="Oval 24"/>
            <p:cNvSpPr>
              <a:spLocks noChangeArrowheads="1"/>
            </p:cNvSpPr>
            <p:nvPr/>
          </p:nvSpPr>
          <p:spPr bwMode="auto">
            <a:xfrm>
              <a:off x="2914" y="1247"/>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7" name="Oval 25"/>
            <p:cNvSpPr>
              <a:spLocks noChangeArrowheads="1"/>
            </p:cNvSpPr>
            <p:nvPr/>
          </p:nvSpPr>
          <p:spPr bwMode="auto">
            <a:xfrm>
              <a:off x="4493" y="124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8" name="Line 26"/>
            <p:cNvSpPr>
              <a:spLocks noChangeShapeType="1"/>
            </p:cNvSpPr>
            <p:nvPr/>
          </p:nvSpPr>
          <p:spPr bwMode="auto">
            <a:xfrm>
              <a:off x="4004" y="1262"/>
              <a:ext cx="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19" name="Oval 27"/>
            <p:cNvSpPr>
              <a:spLocks noChangeArrowheads="1"/>
            </p:cNvSpPr>
            <p:nvPr/>
          </p:nvSpPr>
          <p:spPr bwMode="auto">
            <a:xfrm>
              <a:off x="4507" y="204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20" name="Object 28"/>
            <p:cNvGraphicFramePr>
              <a:graphicFrameLocks noChangeAspect="1"/>
            </p:cNvGraphicFramePr>
            <p:nvPr/>
          </p:nvGraphicFramePr>
          <p:xfrm>
            <a:off x="2954" y="813"/>
            <a:ext cx="218" cy="377"/>
          </p:xfrm>
          <a:graphic>
            <a:graphicData uri="http://schemas.openxmlformats.org/presentationml/2006/ole">
              <mc:AlternateContent xmlns:mc="http://schemas.openxmlformats.org/markup-compatibility/2006">
                <mc:Choice xmlns:v="urn:schemas-microsoft-com:vml" Requires="v">
                  <p:oleObj spid="_x0000_s116850" name="公式" r:id="rId8" imgW="164880" imgH="304560" progId="Equation.3">
                    <p:embed/>
                  </p:oleObj>
                </mc:Choice>
                <mc:Fallback>
                  <p:oleObj name="公式" r:id="rId8" imgW="164880" imgH="304560" progId="Equation.3">
                    <p:embed/>
                    <p:pic>
                      <p:nvPicPr>
                        <p:cNvPr id="75062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4" y="813"/>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21" name="Object 29"/>
            <p:cNvGraphicFramePr>
              <a:graphicFrameLocks noChangeAspect="1"/>
            </p:cNvGraphicFramePr>
            <p:nvPr/>
          </p:nvGraphicFramePr>
          <p:xfrm>
            <a:off x="4313" y="813"/>
            <a:ext cx="223" cy="384"/>
          </p:xfrm>
          <a:graphic>
            <a:graphicData uri="http://schemas.openxmlformats.org/presentationml/2006/ole">
              <mc:AlternateContent xmlns:mc="http://schemas.openxmlformats.org/markup-compatibility/2006">
                <mc:Choice xmlns:v="urn:schemas-microsoft-com:vml" Requires="v">
                  <p:oleObj spid="_x0000_s116851" name="公式" r:id="rId10" imgW="164880" imgH="304560" progId="Equation.3">
                    <p:embed/>
                  </p:oleObj>
                </mc:Choice>
                <mc:Fallback>
                  <p:oleObj name="公式" r:id="rId10" imgW="164880" imgH="304560" progId="Equation.3">
                    <p:embed/>
                    <p:pic>
                      <p:nvPicPr>
                        <p:cNvPr id="750621"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3" y="813"/>
                          <a:ext cx="22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22" name="Line 30"/>
            <p:cNvSpPr>
              <a:spLocks noChangeShapeType="1"/>
            </p:cNvSpPr>
            <p:nvPr/>
          </p:nvSpPr>
          <p:spPr bwMode="auto">
            <a:xfrm flipH="1">
              <a:off x="2966" y="2060"/>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23" name="Oval 31"/>
            <p:cNvSpPr>
              <a:spLocks noChangeArrowheads="1"/>
            </p:cNvSpPr>
            <p:nvPr/>
          </p:nvSpPr>
          <p:spPr bwMode="auto">
            <a:xfrm flipH="1">
              <a:off x="2918" y="2034"/>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24" name="Text Box 32"/>
            <p:cNvSpPr txBox="1">
              <a:spLocks noChangeArrowheads="1"/>
            </p:cNvSpPr>
            <p:nvPr/>
          </p:nvSpPr>
          <p:spPr bwMode="auto">
            <a:xfrm>
              <a:off x="4536" y="114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0625" name="Text Box 33"/>
            <p:cNvSpPr txBox="1">
              <a:spLocks noChangeArrowheads="1"/>
            </p:cNvSpPr>
            <p:nvPr/>
          </p:nvSpPr>
          <p:spPr bwMode="auto">
            <a:xfrm>
              <a:off x="4558" y="1924"/>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0626" name="Object 34"/>
            <p:cNvGraphicFramePr>
              <a:graphicFrameLocks noChangeAspect="1"/>
            </p:cNvGraphicFramePr>
            <p:nvPr/>
          </p:nvGraphicFramePr>
          <p:xfrm>
            <a:off x="4550" y="1451"/>
            <a:ext cx="232" cy="384"/>
          </p:xfrm>
          <a:graphic>
            <a:graphicData uri="http://schemas.openxmlformats.org/presentationml/2006/ole">
              <mc:AlternateContent xmlns:mc="http://schemas.openxmlformats.org/markup-compatibility/2006">
                <mc:Choice xmlns:v="urn:schemas-microsoft-com:vml" Requires="v">
                  <p:oleObj spid="_x0000_s116852" name="公式" r:id="rId12" imgW="203040" imgH="304560" progId="Equation.3">
                    <p:embed/>
                  </p:oleObj>
                </mc:Choice>
                <mc:Fallback>
                  <p:oleObj name="公式" r:id="rId12" imgW="203040" imgH="304560" progId="Equation.3">
                    <p:embed/>
                    <p:pic>
                      <p:nvPicPr>
                        <p:cNvPr id="750626"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50" y="1451"/>
                          <a:ext cx="2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27" name="Text Box 35"/>
            <p:cNvSpPr txBox="1">
              <a:spLocks noChangeArrowheads="1"/>
            </p:cNvSpPr>
            <p:nvPr/>
          </p:nvSpPr>
          <p:spPr bwMode="auto">
            <a:xfrm>
              <a:off x="2657" y="1161"/>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0628" name="Text Box 36"/>
            <p:cNvSpPr txBox="1">
              <a:spLocks noChangeArrowheads="1"/>
            </p:cNvSpPr>
            <p:nvPr/>
          </p:nvSpPr>
          <p:spPr bwMode="auto">
            <a:xfrm>
              <a:off x="2685" y="1922"/>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0629" name="Object 37"/>
            <p:cNvGraphicFramePr>
              <a:graphicFrameLocks noChangeAspect="1"/>
            </p:cNvGraphicFramePr>
            <p:nvPr/>
          </p:nvGraphicFramePr>
          <p:xfrm>
            <a:off x="2652" y="1438"/>
            <a:ext cx="235" cy="387"/>
          </p:xfrm>
          <a:graphic>
            <a:graphicData uri="http://schemas.openxmlformats.org/presentationml/2006/ole">
              <mc:AlternateContent xmlns:mc="http://schemas.openxmlformats.org/markup-compatibility/2006">
                <mc:Choice xmlns:v="urn:schemas-microsoft-com:vml" Requires="v">
                  <p:oleObj spid="_x0000_s116853" name="公式" r:id="rId14" imgW="203040" imgH="304560" progId="Equation.3">
                    <p:embed/>
                  </p:oleObj>
                </mc:Choice>
                <mc:Fallback>
                  <p:oleObj name="公式" r:id="rId14" imgW="203040" imgH="304560" progId="Equation.3">
                    <p:embed/>
                    <p:pic>
                      <p:nvPicPr>
                        <p:cNvPr id="750629"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52" y="1438"/>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0630" name="Group 38"/>
            <p:cNvGrpSpPr>
              <a:grpSpLocks/>
            </p:cNvGrpSpPr>
            <p:nvPr/>
          </p:nvGrpSpPr>
          <p:grpSpPr bwMode="auto">
            <a:xfrm rot="5400000">
              <a:off x="3419" y="1637"/>
              <a:ext cx="370" cy="53"/>
              <a:chOff x="1200" y="1584"/>
              <a:chExt cx="379" cy="45"/>
            </a:xfrm>
          </p:grpSpPr>
          <p:sp>
            <p:nvSpPr>
              <p:cNvPr id="750631" name="Arc 3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2" name="Arc 4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3" name="Arc 4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34" name="Arc 4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35" name="Text Box 43"/>
            <p:cNvSpPr txBox="1">
              <a:spLocks noChangeArrowheads="1"/>
            </p:cNvSpPr>
            <p:nvPr/>
          </p:nvSpPr>
          <p:spPr bwMode="auto">
            <a:xfrm>
              <a:off x="3574" y="936"/>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grpSp>
      <p:sp>
        <p:nvSpPr>
          <p:cNvPr id="750636" name="Text Box 44"/>
          <p:cNvSpPr txBox="1">
            <a:spLocks noChangeArrowheads="1"/>
          </p:cNvSpPr>
          <p:nvPr/>
        </p:nvSpPr>
        <p:spPr bwMode="auto">
          <a:xfrm>
            <a:off x="762000" y="5334000"/>
            <a:ext cx="324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400" b="1">
                <a:solidFill>
                  <a:srgbClr val="0000FF"/>
                </a:solidFill>
                <a:latin typeface="Times New Roman" panose="02020603050405020304" pitchFamily="18" charset="0"/>
              </a:rPr>
              <a:t>理想变压器的元件特性</a:t>
            </a:r>
          </a:p>
        </p:txBody>
      </p:sp>
      <p:sp>
        <p:nvSpPr>
          <p:cNvPr id="750637" name="Text Box 45"/>
          <p:cNvSpPr txBox="1">
            <a:spLocks noChangeArrowheads="1"/>
          </p:cNvSpPr>
          <p:nvPr/>
        </p:nvSpPr>
        <p:spPr bwMode="auto">
          <a:xfrm>
            <a:off x="4876800" y="5867400"/>
            <a:ext cx="3448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zh-CN" altLang="en-US" sz="2400" b="1">
                <a:solidFill>
                  <a:srgbClr val="FF3300"/>
                </a:solidFill>
                <a:latin typeface="Times New Roman" panose="02020603050405020304" pitchFamily="18" charset="0"/>
              </a:rPr>
              <a:t>理想变压器的电路模型</a:t>
            </a:r>
            <a:endParaRPr kumimoji="1" lang="zh-CN" altLang="en-US" sz="2400" b="1">
              <a:latin typeface="Times New Roman" panose="02020603050405020304" pitchFamily="18" charset="0"/>
            </a:endParaRPr>
          </a:p>
        </p:txBody>
      </p:sp>
      <p:grpSp>
        <p:nvGrpSpPr>
          <p:cNvPr id="750638" name="Group 46"/>
          <p:cNvGrpSpPr>
            <a:grpSpLocks/>
          </p:cNvGrpSpPr>
          <p:nvPr/>
        </p:nvGrpSpPr>
        <p:grpSpPr bwMode="auto">
          <a:xfrm>
            <a:off x="914400" y="823913"/>
            <a:ext cx="2947988" cy="2370137"/>
            <a:chOff x="384" y="612"/>
            <a:chExt cx="1857" cy="1493"/>
          </a:xfrm>
        </p:grpSpPr>
        <p:sp>
          <p:nvSpPr>
            <p:cNvPr id="750639" name="Rectangle 47"/>
            <p:cNvSpPr>
              <a:spLocks noChangeArrowheads="1"/>
            </p:cNvSpPr>
            <p:nvPr/>
          </p:nvSpPr>
          <p:spPr bwMode="auto">
            <a:xfrm>
              <a:off x="881" y="915"/>
              <a:ext cx="785" cy="91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0" name="Rectangle 48"/>
            <p:cNvSpPr>
              <a:spLocks noChangeArrowheads="1"/>
            </p:cNvSpPr>
            <p:nvPr/>
          </p:nvSpPr>
          <p:spPr bwMode="auto">
            <a:xfrm>
              <a:off x="1042" y="1078"/>
              <a:ext cx="432" cy="58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1" name="AutoShape 49"/>
            <p:cNvSpPr>
              <a:spLocks noChangeArrowheads="1"/>
            </p:cNvSpPr>
            <p:nvPr/>
          </p:nvSpPr>
          <p:spPr bwMode="auto">
            <a:xfrm>
              <a:off x="952" y="1006"/>
              <a:ext cx="624" cy="731"/>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2" name="Line 50"/>
            <p:cNvSpPr>
              <a:spLocks noChangeShapeType="1"/>
            </p:cNvSpPr>
            <p:nvPr/>
          </p:nvSpPr>
          <p:spPr bwMode="auto">
            <a:xfrm>
              <a:off x="1570" y="1350"/>
              <a:ext cx="0" cy="62"/>
            </a:xfrm>
            <a:prstGeom prst="line">
              <a:avLst/>
            </a:prstGeom>
            <a:noFill/>
            <a:ln w="19050">
              <a:solidFill>
                <a:srgbClr val="FF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50643" name="Group 51"/>
            <p:cNvGrpSpPr>
              <a:grpSpLocks/>
            </p:cNvGrpSpPr>
            <p:nvPr/>
          </p:nvGrpSpPr>
          <p:grpSpPr bwMode="auto">
            <a:xfrm>
              <a:off x="656" y="1127"/>
              <a:ext cx="423" cy="450"/>
              <a:chOff x="862" y="2612"/>
              <a:chExt cx="423" cy="450"/>
            </a:xfrm>
          </p:grpSpPr>
          <p:sp>
            <p:nvSpPr>
              <p:cNvPr id="750644" name="Freeform 52"/>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5" name="Line 53"/>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6" name="Freeform 54"/>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7" name="Freeform 55"/>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8" name="Freeform 56"/>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49" name="Freeform 57"/>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0" name="Oval 58"/>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1" name="Oval 59"/>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50652" name="Line 60"/>
            <p:cNvSpPr>
              <a:spLocks noChangeShapeType="1"/>
            </p:cNvSpPr>
            <p:nvPr/>
          </p:nvSpPr>
          <p:spPr bwMode="auto">
            <a:xfrm>
              <a:off x="655" y="1059"/>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3" name="Text Box 61"/>
            <p:cNvSpPr txBox="1">
              <a:spLocks noChangeArrowheads="1"/>
            </p:cNvSpPr>
            <p:nvPr/>
          </p:nvSpPr>
          <p:spPr bwMode="auto">
            <a:xfrm>
              <a:off x="635" y="771"/>
              <a:ext cx="30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spcBef>
                  <a:spcPct val="0"/>
                </a:spcBef>
              </a:pPr>
              <a:endParaRPr kumimoji="1" lang="zh-CN" altLang="zh-CN" sz="2400" b="1">
                <a:latin typeface="Times New Roman" panose="02020603050405020304" pitchFamily="18" charset="0"/>
              </a:endParaRPr>
            </a:p>
          </p:txBody>
        </p:sp>
        <p:grpSp>
          <p:nvGrpSpPr>
            <p:cNvPr id="750654" name="Group 62"/>
            <p:cNvGrpSpPr>
              <a:grpSpLocks/>
            </p:cNvGrpSpPr>
            <p:nvPr/>
          </p:nvGrpSpPr>
          <p:grpSpPr bwMode="auto">
            <a:xfrm flipH="1">
              <a:off x="1426" y="1155"/>
              <a:ext cx="528" cy="432"/>
              <a:chOff x="862" y="2612"/>
              <a:chExt cx="423" cy="450"/>
            </a:xfrm>
          </p:grpSpPr>
          <p:sp>
            <p:nvSpPr>
              <p:cNvPr id="750655" name="Freeform 63"/>
              <p:cNvSpPr>
                <a:spLocks/>
              </p:cNvSpPr>
              <p:nvPr/>
            </p:nvSpPr>
            <p:spPr bwMode="auto">
              <a:xfrm>
                <a:off x="892" y="2626"/>
                <a:ext cx="348" cy="1"/>
              </a:xfrm>
              <a:custGeom>
                <a:avLst/>
                <a:gdLst>
                  <a:gd name="T0" fmla="*/ 0 w 739"/>
                  <a:gd name="T1" fmla="*/ 0 h 1"/>
                  <a:gd name="T2" fmla="*/ 739 w 739"/>
                  <a:gd name="T3" fmla="*/ 0 h 1"/>
                </a:gdLst>
                <a:ahLst/>
                <a:cxnLst>
                  <a:cxn ang="0">
                    <a:pos x="T0" y="T1"/>
                  </a:cxn>
                  <a:cxn ang="0">
                    <a:pos x="T2" y="T3"/>
                  </a:cxn>
                </a:cxnLst>
                <a:rect l="0" t="0" r="r" b="b"/>
                <a:pathLst>
                  <a:path w="739" h="1">
                    <a:moveTo>
                      <a:pt x="0" y="0"/>
                    </a:moveTo>
                    <a:lnTo>
                      <a:pt x="739"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6" name="Line 64"/>
              <p:cNvSpPr>
                <a:spLocks noChangeShapeType="1"/>
              </p:cNvSpPr>
              <p:nvPr/>
            </p:nvSpPr>
            <p:spPr bwMode="auto">
              <a:xfrm>
                <a:off x="888" y="3036"/>
                <a:ext cx="204" cy="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7" name="Freeform 65"/>
              <p:cNvSpPr>
                <a:spLocks/>
              </p:cNvSpPr>
              <p:nvPr/>
            </p:nvSpPr>
            <p:spPr bwMode="auto">
              <a:xfrm>
                <a:off x="1239" y="2624"/>
                <a:ext cx="45" cy="36"/>
              </a:xfrm>
              <a:custGeom>
                <a:avLst/>
                <a:gdLst>
                  <a:gd name="T0" fmla="*/ 0 w 95"/>
                  <a:gd name="T1" fmla="*/ 0 h 60"/>
                  <a:gd name="T2" fmla="*/ 90 w 95"/>
                  <a:gd name="T3" fmla="*/ 18 h 60"/>
                  <a:gd name="T4" fmla="*/ 30 w 95"/>
                  <a:gd name="T5" fmla="*/ 60 h 60"/>
                </a:gdLst>
                <a:ahLst/>
                <a:cxnLst>
                  <a:cxn ang="0">
                    <a:pos x="T0" y="T1"/>
                  </a:cxn>
                  <a:cxn ang="0">
                    <a:pos x="T2" y="T3"/>
                  </a:cxn>
                  <a:cxn ang="0">
                    <a:pos x="T4" y="T5"/>
                  </a:cxn>
                </a:cxnLst>
                <a:rect l="0" t="0" r="r" b="b"/>
                <a:pathLst>
                  <a:path w="95" h="60">
                    <a:moveTo>
                      <a:pt x="0" y="0"/>
                    </a:moveTo>
                    <a:cubicBezTo>
                      <a:pt x="15" y="3"/>
                      <a:pt x="85" y="8"/>
                      <a:pt x="90" y="18"/>
                    </a:cubicBezTo>
                    <a:cubicBezTo>
                      <a:pt x="95" y="28"/>
                      <a:pt x="42" y="51"/>
                      <a:pt x="30" y="60"/>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8" name="Freeform 66"/>
              <p:cNvSpPr>
                <a:spLocks/>
              </p:cNvSpPr>
              <p:nvPr/>
            </p:nvSpPr>
            <p:spPr bwMode="auto">
              <a:xfrm>
                <a:off x="1061" y="2697"/>
                <a:ext cx="223" cy="75"/>
              </a:xfrm>
              <a:custGeom>
                <a:avLst/>
                <a:gdLst>
                  <a:gd name="T0" fmla="*/ 62 w 474"/>
                  <a:gd name="T1" fmla="*/ 0 h 126"/>
                  <a:gd name="T2" fmla="*/ 2 w 474"/>
                  <a:gd name="T3" fmla="*/ 14 h 126"/>
                  <a:gd name="T4" fmla="*/ 73 w 474"/>
                  <a:gd name="T5" fmla="*/ 57 h 126"/>
                  <a:gd name="T6" fmla="*/ 416 w 474"/>
                  <a:gd name="T7" fmla="*/ 82 h 126"/>
                  <a:gd name="T8" fmla="*/ 422 w 474"/>
                  <a:gd name="T9" fmla="*/ 126 h 126"/>
                </a:gdLst>
                <a:ahLst/>
                <a:cxnLst>
                  <a:cxn ang="0">
                    <a:pos x="T0" y="T1"/>
                  </a:cxn>
                  <a:cxn ang="0">
                    <a:pos x="T2" y="T3"/>
                  </a:cxn>
                  <a:cxn ang="0">
                    <a:pos x="T4" y="T5"/>
                  </a:cxn>
                  <a:cxn ang="0">
                    <a:pos x="T6" y="T7"/>
                  </a:cxn>
                  <a:cxn ang="0">
                    <a:pos x="T8" y="T9"/>
                  </a:cxn>
                </a:cxnLst>
                <a:rect l="0" t="0" r="r" b="b"/>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59" name="Freeform 67"/>
              <p:cNvSpPr>
                <a:spLocks/>
              </p:cNvSpPr>
              <p:nvPr/>
            </p:nvSpPr>
            <p:spPr bwMode="auto">
              <a:xfrm>
                <a:off x="1061" y="2801"/>
                <a:ext cx="223" cy="75"/>
              </a:xfrm>
              <a:custGeom>
                <a:avLst/>
                <a:gdLst>
                  <a:gd name="T0" fmla="*/ 61 w 474"/>
                  <a:gd name="T1" fmla="*/ 0 h 126"/>
                  <a:gd name="T2" fmla="*/ 1 w 474"/>
                  <a:gd name="T3" fmla="*/ 14 h 126"/>
                  <a:gd name="T4" fmla="*/ 69 w 474"/>
                  <a:gd name="T5" fmla="*/ 57 h 126"/>
                  <a:gd name="T6" fmla="*/ 415 w 474"/>
                  <a:gd name="T7" fmla="*/ 82 h 126"/>
                  <a:gd name="T8" fmla="*/ 421 w 474"/>
                  <a:gd name="T9" fmla="*/ 126 h 126"/>
                </a:gdLst>
                <a:ahLst/>
                <a:cxnLst>
                  <a:cxn ang="0">
                    <a:pos x="T0" y="T1"/>
                  </a:cxn>
                  <a:cxn ang="0">
                    <a:pos x="T2" y="T3"/>
                  </a:cxn>
                  <a:cxn ang="0">
                    <a:pos x="T4" y="T5"/>
                  </a:cxn>
                  <a:cxn ang="0">
                    <a:pos x="T6" y="T7"/>
                  </a:cxn>
                  <a:cxn ang="0">
                    <a:pos x="T8" y="T9"/>
                  </a:cxn>
                </a:cxnLst>
                <a:rect l="0" t="0" r="r" b="b"/>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0" name="Freeform 68"/>
              <p:cNvSpPr>
                <a:spLocks/>
              </p:cNvSpPr>
              <p:nvPr/>
            </p:nvSpPr>
            <p:spPr bwMode="auto">
              <a:xfrm>
                <a:off x="1055" y="2913"/>
                <a:ext cx="230" cy="86"/>
              </a:xfrm>
              <a:custGeom>
                <a:avLst/>
                <a:gdLst>
                  <a:gd name="T0" fmla="*/ 51 w 487"/>
                  <a:gd name="T1" fmla="*/ 0 h 144"/>
                  <a:gd name="T2" fmla="*/ 12 w 487"/>
                  <a:gd name="T3" fmla="*/ 21 h 144"/>
                  <a:gd name="T4" fmla="*/ 69 w 487"/>
                  <a:gd name="T5" fmla="*/ 54 h 144"/>
                  <a:gd name="T6" fmla="*/ 427 w 487"/>
                  <a:gd name="T7" fmla="*/ 81 h 144"/>
                  <a:gd name="T8" fmla="*/ 429 w 487"/>
                  <a:gd name="T9" fmla="*/ 144 h 144"/>
                </a:gdLst>
                <a:ahLst/>
                <a:cxnLst>
                  <a:cxn ang="0">
                    <a:pos x="T0" y="T1"/>
                  </a:cxn>
                  <a:cxn ang="0">
                    <a:pos x="T2" y="T3"/>
                  </a:cxn>
                  <a:cxn ang="0">
                    <a:pos x="T4" y="T5"/>
                  </a:cxn>
                  <a:cxn ang="0">
                    <a:pos x="T6" y="T7"/>
                  </a:cxn>
                  <a:cxn ang="0">
                    <a:pos x="T8" y="T9"/>
                  </a:cxn>
                </a:cxnLst>
                <a:rect l="0" t="0" r="r" b="b"/>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1" name="Oval 69"/>
              <p:cNvSpPr>
                <a:spLocks noChangeArrowheads="1"/>
              </p:cNvSpPr>
              <p:nvPr/>
            </p:nvSpPr>
            <p:spPr bwMode="auto">
              <a:xfrm>
                <a:off x="862" y="2612"/>
                <a:ext cx="29"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62" name="Oval 70"/>
              <p:cNvSpPr>
                <a:spLocks noChangeArrowheads="1"/>
              </p:cNvSpPr>
              <p:nvPr/>
            </p:nvSpPr>
            <p:spPr bwMode="auto">
              <a:xfrm>
                <a:off x="866" y="3022"/>
                <a:ext cx="28" cy="40"/>
              </a:xfrm>
              <a:prstGeom prst="ellipse">
                <a:avLst/>
              </a:pr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50663" name="Text Box 71"/>
            <p:cNvSpPr txBox="1">
              <a:spLocks noChangeArrowheads="1"/>
            </p:cNvSpPr>
            <p:nvPr/>
          </p:nvSpPr>
          <p:spPr bwMode="auto">
            <a:xfrm>
              <a:off x="466" y="903"/>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1</a:t>
              </a:r>
            </a:p>
          </p:txBody>
        </p:sp>
        <p:sp>
          <p:nvSpPr>
            <p:cNvPr id="750664" name="Text Box 72"/>
            <p:cNvSpPr txBox="1">
              <a:spLocks noChangeArrowheads="1"/>
            </p:cNvSpPr>
            <p:nvPr/>
          </p:nvSpPr>
          <p:spPr bwMode="auto">
            <a:xfrm>
              <a:off x="442" y="152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1'</a:t>
              </a:r>
            </a:p>
          </p:txBody>
        </p:sp>
        <p:sp>
          <p:nvSpPr>
            <p:cNvPr id="750665" name="Text Box 73"/>
            <p:cNvSpPr txBox="1">
              <a:spLocks noChangeArrowheads="1"/>
            </p:cNvSpPr>
            <p:nvPr/>
          </p:nvSpPr>
          <p:spPr bwMode="auto">
            <a:xfrm>
              <a:off x="1930" y="89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2</a:t>
              </a:r>
            </a:p>
          </p:txBody>
        </p:sp>
        <p:sp>
          <p:nvSpPr>
            <p:cNvPr id="750666" name="Text Box 74"/>
            <p:cNvSpPr txBox="1">
              <a:spLocks noChangeArrowheads="1"/>
            </p:cNvSpPr>
            <p:nvPr/>
          </p:nvSpPr>
          <p:spPr bwMode="auto">
            <a:xfrm>
              <a:off x="1870" y="155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a:latin typeface="Times New Roman" panose="02020603050405020304" pitchFamily="18" charset="0"/>
                </a:rPr>
                <a:t>2'</a:t>
              </a:r>
            </a:p>
          </p:txBody>
        </p:sp>
        <p:sp>
          <p:nvSpPr>
            <p:cNvPr id="750667" name="AutoShape 75"/>
            <p:cNvSpPr>
              <a:spLocks noChangeArrowheads="1"/>
            </p:cNvSpPr>
            <p:nvPr/>
          </p:nvSpPr>
          <p:spPr bwMode="auto">
            <a:xfrm>
              <a:off x="909" y="951"/>
              <a:ext cx="696" cy="822"/>
            </a:xfrm>
            <a:prstGeom prst="roundRect">
              <a:avLst>
                <a:gd name="adj" fmla="val 16667"/>
              </a:avLst>
            </a:prstGeom>
            <a:noFill/>
            <a:ln w="19050">
              <a:solidFill>
                <a:schemeClr val="accent2"/>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68" name="Line 76"/>
            <p:cNvSpPr>
              <a:spLocks noChangeShapeType="1"/>
            </p:cNvSpPr>
            <p:nvPr/>
          </p:nvSpPr>
          <p:spPr bwMode="auto">
            <a:xfrm rot="-5400000">
              <a:off x="1162" y="868"/>
              <a:ext cx="0" cy="166"/>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69" name="Object 77"/>
            <p:cNvGraphicFramePr>
              <a:graphicFrameLocks noChangeAspect="1"/>
            </p:cNvGraphicFramePr>
            <p:nvPr/>
          </p:nvGraphicFramePr>
          <p:xfrm>
            <a:off x="1198" y="1295"/>
            <a:ext cx="336" cy="319"/>
          </p:xfrm>
          <a:graphic>
            <a:graphicData uri="http://schemas.openxmlformats.org/presentationml/2006/ole">
              <mc:AlternateContent xmlns:mc="http://schemas.openxmlformats.org/markup-compatibility/2006">
                <mc:Choice xmlns:v="urn:schemas-microsoft-com:vml" Requires="v">
                  <p:oleObj spid="_x0000_s116854" name="Equation" r:id="rId16" imgW="241200" imgH="228600" progId="Equation.DSMT4">
                    <p:embed/>
                  </p:oleObj>
                </mc:Choice>
                <mc:Fallback>
                  <p:oleObj name="Equation" r:id="rId16" imgW="241200" imgH="228600" progId="Equation.DSMT4">
                    <p:embed/>
                    <p:pic>
                      <p:nvPicPr>
                        <p:cNvPr id="750669" name="Object 7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98" y="1295"/>
                          <a:ext cx="336"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0670" name="Object 78"/>
            <p:cNvGraphicFramePr>
              <a:graphicFrameLocks noChangeAspect="1"/>
            </p:cNvGraphicFramePr>
            <p:nvPr/>
          </p:nvGraphicFramePr>
          <p:xfrm>
            <a:off x="1060" y="612"/>
            <a:ext cx="358" cy="319"/>
          </p:xfrm>
          <a:graphic>
            <a:graphicData uri="http://schemas.openxmlformats.org/presentationml/2006/ole">
              <mc:AlternateContent xmlns:mc="http://schemas.openxmlformats.org/markup-compatibility/2006">
                <mc:Choice xmlns:v="urn:schemas-microsoft-com:vml" Requires="v">
                  <p:oleObj spid="_x0000_s116855" name="Equation" r:id="rId18" imgW="253800" imgH="228600" progId="Equation.DSMT4">
                    <p:embed/>
                  </p:oleObj>
                </mc:Choice>
                <mc:Fallback>
                  <p:oleObj name="Equation" r:id="rId18" imgW="253800" imgH="228600" progId="Equation.DSMT4">
                    <p:embed/>
                    <p:pic>
                      <p:nvPicPr>
                        <p:cNvPr id="750670" name="Object 7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60" y="612"/>
                          <a:ext cx="358"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0671" name="Text Box 79"/>
            <p:cNvSpPr txBox="1">
              <a:spLocks noChangeArrowheads="1"/>
            </p:cNvSpPr>
            <p:nvPr/>
          </p:nvSpPr>
          <p:spPr bwMode="auto">
            <a:xfrm>
              <a:off x="815" y="1817"/>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400" b="1" i="1">
                  <a:latin typeface="Times New Roman" panose="02020603050405020304" pitchFamily="18" charset="0"/>
                </a:rPr>
                <a:t>N</a:t>
              </a:r>
              <a:r>
                <a:rPr kumimoji="1" lang="en-US" altLang="zh-CN" sz="1400" b="1">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72" name="Text Box 80"/>
            <p:cNvSpPr txBox="1">
              <a:spLocks noChangeArrowheads="1"/>
            </p:cNvSpPr>
            <p:nvPr/>
          </p:nvSpPr>
          <p:spPr bwMode="auto">
            <a:xfrm>
              <a:off x="1444" y="1809"/>
              <a:ext cx="3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N</a:t>
              </a:r>
              <a:r>
                <a:rPr kumimoji="1" lang="en-US" altLang="zh-CN" sz="1400" b="1">
                  <a:latin typeface="Times New Roman" panose="02020603050405020304" pitchFamily="18" charset="0"/>
                </a:rPr>
                <a:t>2</a:t>
              </a:r>
              <a:endParaRPr kumimoji="1" lang="en-US" altLang="zh-CN" sz="2400" b="1" i="1">
                <a:latin typeface="Times New Roman" panose="02020603050405020304" pitchFamily="18" charset="0"/>
              </a:endParaRPr>
            </a:p>
          </p:txBody>
        </p:sp>
        <p:sp>
          <p:nvSpPr>
            <p:cNvPr id="750673" name="Line 81"/>
            <p:cNvSpPr>
              <a:spLocks noChangeShapeType="1"/>
            </p:cNvSpPr>
            <p:nvPr/>
          </p:nvSpPr>
          <p:spPr bwMode="auto">
            <a:xfrm>
              <a:off x="2050" y="1539"/>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0674" name="Group 82"/>
            <p:cNvGrpSpPr>
              <a:grpSpLocks/>
            </p:cNvGrpSpPr>
            <p:nvPr/>
          </p:nvGrpSpPr>
          <p:grpSpPr bwMode="auto">
            <a:xfrm>
              <a:off x="2038" y="1167"/>
              <a:ext cx="96" cy="96"/>
              <a:chOff x="3588" y="819"/>
              <a:chExt cx="96" cy="96"/>
            </a:xfrm>
          </p:grpSpPr>
          <p:sp>
            <p:nvSpPr>
              <p:cNvPr id="750675" name="Line 83"/>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76" name="Line 84"/>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677" name="Group 85"/>
            <p:cNvGrpSpPr>
              <a:grpSpLocks/>
            </p:cNvGrpSpPr>
            <p:nvPr/>
          </p:nvGrpSpPr>
          <p:grpSpPr bwMode="auto">
            <a:xfrm>
              <a:off x="456" y="1167"/>
              <a:ext cx="96" cy="96"/>
              <a:chOff x="3588" y="819"/>
              <a:chExt cx="96" cy="96"/>
            </a:xfrm>
          </p:grpSpPr>
          <p:sp>
            <p:nvSpPr>
              <p:cNvPr id="750678" name="Line 86"/>
              <p:cNvSpPr>
                <a:spLocks noChangeShapeType="1"/>
              </p:cNvSpPr>
              <p:nvPr/>
            </p:nvSpPr>
            <p:spPr bwMode="auto">
              <a:xfrm>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79" name="Line 87"/>
              <p:cNvSpPr>
                <a:spLocks noChangeShapeType="1"/>
              </p:cNvSpPr>
              <p:nvPr/>
            </p:nvSpPr>
            <p:spPr bwMode="auto">
              <a:xfrm rot="-5400000">
                <a:off x="3588" y="86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680" name="Line 88"/>
            <p:cNvSpPr>
              <a:spLocks noChangeShapeType="1"/>
            </p:cNvSpPr>
            <p:nvPr/>
          </p:nvSpPr>
          <p:spPr bwMode="auto">
            <a:xfrm>
              <a:off x="466" y="1527"/>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681" name="Text Box 89"/>
            <p:cNvSpPr txBox="1">
              <a:spLocks noChangeArrowheads="1"/>
            </p:cNvSpPr>
            <p:nvPr/>
          </p:nvSpPr>
          <p:spPr bwMode="auto">
            <a:xfrm>
              <a:off x="384" y="1201"/>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82" name="Text Box 90"/>
            <p:cNvSpPr txBox="1">
              <a:spLocks noChangeArrowheads="1"/>
            </p:cNvSpPr>
            <p:nvPr/>
          </p:nvSpPr>
          <p:spPr bwMode="auto">
            <a:xfrm>
              <a:off x="1954" y="1214"/>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2</a:t>
              </a:r>
              <a:endParaRPr kumimoji="1" lang="en-US" altLang="zh-CN" sz="2400" b="1" i="1">
                <a:latin typeface="Times New Roman" panose="02020603050405020304" pitchFamily="18" charset="0"/>
              </a:endParaRPr>
            </a:p>
          </p:txBody>
        </p:sp>
        <p:sp>
          <p:nvSpPr>
            <p:cNvPr id="750683" name="Line 91"/>
            <p:cNvSpPr>
              <a:spLocks noChangeShapeType="1"/>
            </p:cNvSpPr>
            <p:nvPr/>
          </p:nvSpPr>
          <p:spPr bwMode="auto">
            <a:xfrm flipH="1">
              <a:off x="1737" y="1078"/>
              <a:ext cx="167" cy="0"/>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0684" name="Text Box 92"/>
            <p:cNvSpPr txBox="1">
              <a:spLocks noChangeArrowheads="1"/>
            </p:cNvSpPr>
            <p:nvPr/>
          </p:nvSpPr>
          <p:spPr bwMode="auto">
            <a:xfrm>
              <a:off x="622" y="74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endParaRPr kumimoji="1" lang="en-US" altLang="zh-CN" sz="2400" b="1" i="1">
                <a:latin typeface="Times New Roman" panose="02020603050405020304" pitchFamily="18" charset="0"/>
              </a:endParaRPr>
            </a:p>
          </p:txBody>
        </p:sp>
        <p:sp>
          <p:nvSpPr>
            <p:cNvPr id="750685" name="Text Box 93"/>
            <p:cNvSpPr txBox="1">
              <a:spLocks noChangeArrowheads="1"/>
            </p:cNvSpPr>
            <p:nvPr/>
          </p:nvSpPr>
          <p:spPr bwMode="auto">
            <a:xfrm>
              <a:off x="1737" y="791"/>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endParaRPr kumimoji="1" lang="en-US" altLang="zh-CN" sz="2400" b="1" i="1">
                <a:latin typeface="Times New Roman" panose="02020603050405020304" pitchFamily="18" charset="0"/>
              </a:endParaRPr>
            </a:p>
          </p:txBody>
        </p:sp>
      </p:grpSp>
      <p:grpSp>
        <p:nvGrpSpPr>
          <p:cNvPr id="750686" name="Group 94"/>
          <p:cNvGrpSpPr>
            <a:grpSpLocks/>
          </p:cNvGrpSpPr>
          <p:nvPr/>
        </p:nvGrpSpPr>
        <p:grpSpPr bwMode="auto">
          <a:xfrm>
            <a:off x="5562600" y="1295400"/>
            <a:ext cx="2274888" cy="1390650"/>
            <a:chOff x="3696" y="816"/>
            <a:chExt cx="1433" cy="876"/>
          </a:xfrm>
        </p:grpSpPr>
        <p:graphicFrame>
          <p:nvGraphicFramePr>
            <p:cNvPr id="750687" name="Object 95"/>
            <p:cNvGraphicFramePr>
              <a:graphicFrameLocks noChangeAspect="1"/>
            </p:cNvGraphicFramePr>
            <p:nvPr/>
          </p:nvGraphicFramePr>
          <p:xfrm>
            <a:off x="3841" y="816"/>
            <a:ext cx="899" cy="288"/>
          </p:xfrm>
          <a:graphic>
            <a:graphicData uri="http://schemas.openxmlformats.org/presentationml/2006/ole">
              <mc:AlternateContent xmlns:mc="http://schemas.openxmlformats.org/markup-compatibility/2006">
                <mc:Choice xmlns:v="urn:schemas-microsoft-com:vml" Requires="v">
                  <p:oleObj spid="_x0000_s116856" name="公式" r:id="rId20" imgW="711000" imgH="228600" progId="Equation.3">
                    <p:embed/>
                  </p:oleObj>
                </mc:Choice>
                <mc:Fallback>
                  <p:oleObj name="公式" r:id="rId20" imgW="711000" imgH="228600" progId="Equation.3">
                    <p:embed/>
                    <p:pic>
                      <p:nvPicPr>
                        <p:cNvPr id="750687" name="Object 9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41" y="816"/>
                          <a:ext cx="8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0688" name="AutoShape 96"/>
            <p:cNvSpPr>
              <a:spLocks/>
            </p:cNvSpPr>
            <p:nvPr/>
          </p:nvSpPr>
          <p:spPr bwMode="auto">
            <a:xfrm>
              <a:off x="3696" y="960"/>
              <a:ext cx="145" cy="610"/>
            </a:xfrm>
            <a:prstGeom prst="leftBrace">
              <a:avLst>
                <a:gd name="adj1" fmla="val 35057"/>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0689" name="Object 97"/>
            <p:cNvGraphicFramePr>
              <a:graphicFrameLocks noChangeAspect="1"/>
            </p:cNvGraphicFramePr>
            <p:nvPr/>
          </p:nvGraphicFramePr>
          <p:xfrm>
            <a:off x="3849" y="1136"/>
            <a:ext cx="1280" cy="556"/>
          </p:xfrm>
          <a:graphic>
            <a:graphicData uri="http://schemas.openxmlformats.org/presentationml/2006/ole">
              <mc:AlternateContent xmlns:mc="http://schemas.openxmlformats.org/markup-compatibility/2006">
                <mc:Choice xmlns:v="urn:schemas-microsoft-com:vml" Requires="v">
                  <p:oleObj spid="_x0000_s116857" name="公式" r:id="rId22" imgW="1054080" imgH="457200" progId="Equation.3">
                    <p:embed/>
                  </p:oleObj>
                </mc:Choice>
                <mc:Fallback>
                  <p:oleObj name="公式" r:id="rId22" imgW="1054080" imgH="457200" progId="Equation.3">
                    <p:embed/>
                    <p:pic>
                      <p:nvPicPr>
                        <p:cNvPr id="750689" name="Object 9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49" y="1136"/>
                          <a:ext cx="1280" cy="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50690" name="Text Box 98"/>
          <p:cNvSpPr txBox="1">
            <a:spLocks noChangeArrowheads="1"/>
          </p:cNvSpPr>
          <p:nvPr/>
        </p:nvSpPr>
        <p:spPr bwMode="auto">
          <a:xfrm>
            <a:off x="4343400" y="1600200"/>
            <a:ext cx="129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rgbClr val="0000FF"/>
                </a:solidFill>
                <a:latin typeface="Times New Roman" panose="02020603050405020304" pitchFamily="18" charset="0"/>
              </a:rPr>
              <a:t>全耦合变压器</a:t>
            </a:r>
          </a:p>
        </p:txBody>
      </p:sp>
    </p:spTree>
    <p:extLst>
      <p:ext uri="{BB962C8B-B14F-4D97-AF65-F5344CB8AC3E}">
        <p14:creationId xmlns:p14="http://schemas.microsoft.com/office/powerpoint/2010/main" val="3348210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750638"/>
                                        </p:tgtEl>
                                        <p:attrNameLst>
                                          <p:attrName>style.visibility</p:attrName>
                                        </p:attrNameLst>
                                      </p:cBhvr>
                                      <p:to>
                                        <p:strVal val="visible"/>
                                      </p:to>
                                    </p:set>
                                    <p:animEffect transition="in" filter="dissolve">
                                      <p:cBhvr>
                                        <p:cTn id="7" dur="500"/>
                                        <p:tgtEl>
                                          <p:spTgt spid="750638"/>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50690"/>
                                        </p:tgtEl>
                                        <p:attrNameLst>
                                          <p:attrName>style.visibility</p:attrName>
                                        </p:attrNameLst>
                                      </p:cBhvr>
                                      <p:to>
                                        <p:strVal val="visible"/>
                                      </p:to>
                                    </p:set>
                                    <p:animEffect transition="in" filter="barn(outVertical)">
                                      <p:cBhvr>
                                        <p:cTn id="11" dur="500"/>
                                        <p:tgtEl>
                                          <p:spTgt spid="750690"/>
                                        </p:tgtEl>
                                      </p:cBhvr>
                                    </p:animEffect>
                                  </p:childTnLst>
                                </p:cTn>
                              </p:par>
                            </p:childTnLst>
                          </p:cTn>
                        </p:par>
                        <p:par>
                          <p:cTn id="12" fill="hold" nodeType="afterGroup">
                            <p:stCondLst>
                              <p:cond delay="1000"/>
                            </p:stCondLst>
                            <p:childTnLst>
                              <p:par>
                                <p:cTn id="13" presetID="16" presetClass="entr" presetSubtype="37" fill="hold" nodeType="afterEffect">
                                  <p:stCondLst>
                                    <p:cond delay="0"/>
                                  </p:stCondLst>
                                  <p:childTnLst>
                                    <p:set>
                                      <p:cBhvr>
                                        <p:cTn id="14" dur="1" fill="hold">
                                          <p:stCondLst>
                                            <p:cond delay="0"/>
                                          </p:stCondLst>
                                        </p:cTn>
                                        <p:tgtEl>
                                          <p:spTgt spid="750686"/>
                                        </p:tgtEl>
                                        <p:attrNameLst>
                                          <p:attrName>style.visibility</p:attrName>
                                        </p:attrNameLst>
                                      </p:cBhvr>
                                      <p:to>
                                        <p:strVal val="visible"/>
                                      </p:to>
                                    </p:set>
                                    <p:animEffect transition="in" filter="barn(outVertical)">
                                      <p:cBhvr>
                                        <p:cTn id="15" dur="500"/>
                                        <p:tgtEl>
                                          <p:spTgt spid="75068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50594"/>
                                        </p:tgtEl>
                                        <p:attrNameLst>
                                          <p:attrName>style.visibility</p:attrName>
                                        </p:attrNameLst>
                                      </p:cBhvr>
                                      <p:to>
                                        <p:strVal val="visible"/>
                                      </p:to>
                                    </p:set>
                                    <p:animEffect transition="in" filter="wipe(left)">
                                      <p:cBhvr>
                                        <p:cTn id="20" dur="500"/>
                                        <p:tgtEl>
                                          <p:spTgt spid="7505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750596"/>
                                        </p:tgtEl>
                                        <p:attrNameLst>
                                          <p:attrName>style.visibility</p:attrName>
                                        </p:attrNameLst>
                                      </p:cBhvr>
                                      <p:to>
                                        <p:strVal val="visible"/>
                                      </p:to>
                                    </p:set>
                                    <p:animEffect transition="in" filter="box(in)">
                                      <p:cBhvr>
                                        <p:cTn id="25" dur="500"/>
                                        <p:tgtEl>
                                          <p:spTgt spid="750596"/>
                                        </p:tgtEl>
                                      </p:cBhvr>
                                    </p:animEffect>
                                  </p:childTnLst>
                                </p:cTn>
                              </p:par>
                            </p:childTnLst>
                          </p:cTn>
                        </p:par>
                        <p:par>
                          <p:cTn id="26" fill="hold" nodeType="afterGroup">
                            <p:stCondLst>
                              <p:cond delay="500"/>
                            </p:stCondLst>
                            <p:childTnLst>
                              <p:par>
                                <p:cTn id="27" presetID="3" presetClass="entr" presetSubtype="5" fill="hold" grpId="0" nodeType="afterEffect">
                                  <p:stCondLst>
                                    <p:cond delay="0"/>
                                  </p:stCondLst>
                                  <p:childTnLst>
                                    <p:set>
                                      <p:cBhvr>
                                        <p:cTn id="28" dur="1" fill="hold">
                                          <p:stCondLst>
                                            <p:cond delay="0"/>
                                          </p:stCondLst>
                                        </p:cTn>
                                        <p:tgtEl>
                                          <p:spTgt spid="750636"/>
                                        </p:tgtEl>
                                        <p:attrNameLst>
                                          <p:attrName>style.visibility</p:attrName>
                                        </p:attrNameLst>
                                      </p:cBhvr>
                                      <p:to>
                                        <p:strVal val="visible"/>
                                      </p:to>
                                    </p:set>
                                    <p:animEffect transition="in" filter="blinds(vertical)">
                                      <p:cBhvr>
                                        <p:cTn id="29" dur="500"/>
                                        <p:tgtEl>
                                          <p:spTgt spid="7506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8" fill="hold" nodeType="clickEffect">
                                  <p:stCondLst>
                                    <p:cond delay="0"/>
                                  </p:stCondLst>
                                  <p:childTnLst>
                                    <p:set>
                                      <p:cBhvr>
                                        <p:cTn id="33" dur="1" fill="hold">
                                          <p:stCondLst>
                                            <p:cond delay="0"/>
                                          </p:stCondLst>
                                        </p:cTn>
                                        <p:tgtEl>
                                          <p:spTgt spid="750600"/>
                                        </p:tgtEl>
                                        <p:attrNameLst>
                                          <p:attrName>style.visibility</p:attrName>
                                        </p:attrNameLst>
                                      </p:cBhvr>
                                      <p:to>
                                        <p:strVal val="visible"/>
                                      </p:to>
                                    </p:set>
                                    <p:anim calcmode="lin" valueType="num">
                                      <p:cBhvr>
                                        <p:cTn id="34" dur="500" fill="hold"/>
                                        <p:tgtEl>
                                          <p:spTgt spid="750600"/>
                                        </p:tgtEl>
                                        <p:attrNameLst>
                                          <p:attrName>ppt_x</p:attrName>
                                        </p:attrNameLst>
                                      </p:cBhvr>
                                      <p:tavLst>
                                        <p:tav tm="0">
                                          <p:val>
                                            <p:strVal val="#ppt_x-#ppt_w/2"/>
                                          </p:val>
                                        </p:tav>
                                        <p:tav tm="100000">
                                          <p:val>
                                            <p:strVal val="#ppt_x"/>
                                          </p:val>
                                        </p:tav>
                                      </p:tavLst>
                                    </p:anim>
                                    <p:anim calcmode="lin" valueType="num">
                                      <p:cBhvr>
                                        <p:cTn id="35" dur="500" fill="hold"/>
                                        <p:tgtEl>
                                          <p:spTgt spid="750600"/>
                                        </p:tgtEl>
                                        <p:attrNameLst>
                                          <p:attrName>ppt_y</p:attrName>
                                        </p:attrNameLst>
                                      </p:cBhvr>
                                      <p:tavLst>
                                        <p:tav tm="0">
                                          <p:val>
                                            <p:strVal val="#ppt_y"/>
                                          </p:val>
                                        </p:tav>
                                        <p:tav tm="100000">
                                          <p:val>
                                            <p:strVal val="#ppt_y"/>
                                          </p:val>
                                        </p:tav>
                                      </p:tavLst>
                                    </p:anim>
                                    <p:anim calcmode="lin" valueType="num">
                                      <p:cBhvr>
                                        <p:cTn id="36" dur="500" fill="hold"/>
                                        <p:tgtEl>
                                          <p:spTgt spid="750600"/>
                                        </p:tgtEl>
                                        <p:attrNameLst>
                                          <p:attrName>ppt_w</p:attrName>
                                        </p:attrNameLst>
                                      </p:cBhvr>
                                      <p:tavLst>
                                        <p:tav tm="0">
                                          <p:val>
                                            <p:fltVal val="0"/>
                                          </p:val>
                                        </p:tav>
                                        <p:tav tm="100000">
                                          <p:val>
                                            <p:strVal val="#ppt_w"/>
                                          </p:val>
                                        </p:tav>
                                      </p:tavLst>
                                    </p:anim>
                                    <p:anim calcmode="lin" valueType="num">
                                      <p:cBhvr>
                                        <p:cTn id="37" dur="500" fill="hold"/>
                                        <p:tgtEl>
                                          <p:spTgt spid="750600"/>
                                        </p:tgtEl>
                                        <p:attrNameLst>
                                          <p:attrName>ppt_h</p:attrName>
                                        </p:attrNameLst>
                                      </p:cBhvr>
                                      <p:tavLst>
                                        <p:tav tm="0">
                                          <p:val>
                                            <p:strVal val="#ppt_h"/>
                                          </p:val>
                                        </p:tav>
                                        <p:tav tm="100000">
                                          <p:val>
                                            <p:strVal val="#ppt_h"/>
                                          </p:val>
                                        </p:tav>
                                      </p:tavLst>
                                    </p:anim>
                                  </p:childTnLst>
                                </p:cTn>
                              </p:par>
                            </p:childTnLst>
                          </p:cTn>
                        </p:par>
                        <p:par>
                          <p:cTn id="38" fill="hold" nodeType="afterGroup">
                            <p:stCondLst>
                              <p:cond delay="500"/>
                            </p:stCondLst>
                            <p:childTnLst>
                              <p:par>
                                <p:cTn id="39" presetID="4" presetClass="entr" presetSubtype="32" fill="hold" grpId="0" nodeType="afterEffect">
                                  <p:stCondLst>
                                    <p:cond delay="0"/>
                                  </p:stCondLst>
                                  <p:childTnLst>
                                    <p:set>
                                      <p:cBhvr>
                                        <p:cTn id="40" dur="1" fill="hold">
                                          <p:stCondLst>
                                            <p:cond delay="0"/>
                                          </p:stCondLst>
                                        </p:cTn>
                                        <p:tgtEl>
                                          <p:spTgt spid="750637"/>
                                        </p:tgtEl>
                                        <p:attrNameLst>
                                          <p:attrName>style.visibility</p:attrName>
                                        </p:attrNameLst>
                                      </p:cBhvr>
                                      <p:to>
                                        <p:strVal val="visible"/>
                                      </p:to>
                                    </p:set>
                                    <p:animEffect transition="in" filter="box(out)">
                                      <p:cBhvr>
                                        <p:cTn id="41" dur="500"/>
                                        <p:tgtEl>
                                          <p:spTgt spid="750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594" grpId="0" autoUpdateAnimBg="0"/>
      <p:bldP spid="750636" grpId="0" autoUpdateAnimBg="0"/>
      <p:bldP spid="750637" grpId="0" autoUpdateAnimBg="0"/>
      <p:bldP spid="75069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4690" name="Object 2"/>
          <p:cNvGraphicFramePr>
            <a:graphicFrameLocks noChangeAspect="1"/>
          </p:cNvGraphicFramePr>
          <p:nvPr/>
        </p:nvGraphicFramePr>
        <p:xfrm>
          <a:off x="1600200" y="4405313"/>
          <a:ext cx="4587875" cy="989012"/>
        </p:xfrm>
        <a:graphic>
          <a:graphicData uri="http://schemas.openxmlformats.org/presentationml/2006/ole">
            <mc:AlternateContent xmlns:mc="http://schemas.openxmlformats.org/markup-compatibility/2006">
              <mc:Choice xmlns:v="urn:schemas-microsoft-com:vml" Requires="v">
                <p:oleObj spid="_x0000_s118863" name="公式" r:id="rId4" imgW="2120760" imgH="457200" progId="Equation.3">
                  <p:embed/>
                </p:oleObj>
              </mc:Choice>
              <mc:Fallback>
                <p:oleObj name="公式" r:id="rId4" imgW="2120760" imgH="457200" progId="Equation.3">
                  <p:embed/>
                  <p:pic>
                    <p:nvPicPr>
                      <p:cNvPr id="75469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4405313"/>
                        <a:ext cx="4587875" cy="98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4691" name="Text Box 3"/>
          <p:cNvSpPr txBox="1">
            <a:spLocks noChangeArrowheads="1"/>
          </p:cNvSpPr>
          <p:nvPr/>
        </p:nvSpPr>
        <p:spPr bwMode="auto">
          <a:xfrm>
            <a:off x="566738" y="1127125"/>
            <a:ext cx="2609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a:latin typeface="Times New Roman" panose="02020603050405020304" pitchFamily="18" charset="0"/>
              </a:rPr>
              <a:t> (a) </a:t>
            </a:r>
            <a:r>
              <a:rPr kumimoji="1" lang="zh-CN" altLang="en-US" sz="2400" b="1">
                <a:latin typeface="Times New Roman" panose="02020603050405020304" pitchFamily="18" charset="0"/>
              </a:rPr>
              <a:t>阻抗变换性质 </a:t>
            </a:r>
          </a:p>
        </p:txBody>
      </p:sp>
      <p:sp>
        <p:nvSpPr>
          <p:cNvPr id="754692" name="Text Box 4"/>
          <p:cNvSpPr txBox="1">
            <a:spLocks noChangeArrowheads="1"/>
          </p:cNvSpPr>
          <p:nvPr/>
        </p:nvSpPr>
        <p:spPr bwMode="auto">
          <a:xfrm>
            <a:off x="444500" y="460375"/>
            <a:ext cx="3014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400" b="1">
                <a:solidFill>
                  <a:schemeClr val="accent2"/>
                </a:solidFill>
                <a:latin typeface="Times New Roman" panose="02020603050405020304" pitchFamily="18" charset="0"/>
              </a:rPr>
              <a:t>理想变压器的性质：</a:t>
            </a:r>
            <a:endParaRPr kumimoji="1" lang="zh-CN" altLang="en-US" sz="2400" b="1">
              <a:latin typeface="Times New Roman" panose="02020603050405020304" pitchFamily="18" charset="0"/>
            </a:endParaRPr>
          </a:p>
        </p:txBody>
      </p:sp>
      <p:grpSp>
        <p:nvGrpSpPr>
          <p:cNvPr id="754693" name="Group 5"/>
          <p:cNvGrpSpPr>
            <a:grpSpLocks/>
          </p:cNvGrpSpPr>
          <p:nvPr/>
        </p:nvGrpSpPr>
        <p:grpSpPr bwMode="auto">
          <a:xfrm>
            <a:off x="1366838" y="1638300"/>
            <a:ext cx="3670300" cy="2157413"/>
            <a:chOff x="2234" y="2229"/>
            <a:chExt cx="2312" cy="1359"/>
          </a:xfrm>
        </p:grpSpPr>
        <p:sp>
          <p:nvSpPr>
            <p:cNvPr id="754694" name="Line 6"/>
            <p:cNvSpPr>
              <a:spLocks noChangeShapeType="1"/>
            </p:cNvSpPr>
            <p:nvPr/>
          </p:nvSpPr>
          <p:spPr bwMode="auto">
            <a:xfrm flipH="1">
              <a:off x="3156" y="3259"/>
              <a:ext cx="4"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5" name="Line 7"/>
            <p:cNvSpPr>
              <a:spLocks noChangeShapeType="1"/>
            </p:cNvSpPr>
            <p:nvPr/>
          </p:nvSpPr>
          <p:spPr bwMode="auto">
            <a:xfrm>
              <a:off x="3158" y="2683"/>
              <a:ext cx="2"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6" name="Line 8"/>
            <p:cNvSpPr>
              <a:spLocks noChangeShapeType="1"/>
            </p:cNvSpPr>
            <p:nvPr/>
          </p:nvSpPr>
          <p:spPr bwMode="auto">
            <a:xfrm flipH="1">
              <a:off x="3586" y="3282"/>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7" name="Line 9"/>
            <p:cNvSpPr>
              <a:spLocks noChangeShapeType="1"/>
            </p:cNvSpPr>
            <p:nvPr/>
          </p:nvSpPr>
          <p:spPr bwMode="auto">
            <a:xfrm>
              <a:off x="3588" y="2678"/>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8" name="Line 10"/>
            <p:cNvSpPr>
              <a:spLocks noChangeShapeType="1"/>
            </p:cNvSpPr>
            <p:nvPr/>
          </p:nvSpPr>
          <p:spPr bwMode="auto">
            <a:xfrm>
              <a:off x="2548" y="2678"/>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699" name="Line 11"/>
            <p:cNvSpPr>
              <a:spLocks noChangeShapeType="1"/>
            </p:cNvSpPr>
            <p:nvPr/>
          </p:nvSpPr>
          <p:spPr bwMode="auto">
            <a:xfrm>
              <a:off x="3588" y="3484"/>
              <a:ext cx="725" cy="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0" name="Line 12"/>
            <p:cNvSpPr>
              <a:spLocks noChangeShapeType="1"/>
            </p:cNvSpPr>
            <p:nvPr/>
          </p:nvSpPr>
          <p:spPr bwMode="auto">
            <a:xfrm rot="5400000">
              <a:off x="3967" y="2481"/>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1" name="Text Box 13"/>
            <p:cNvSpPr txBox="1">
              <a:spLocks noChangeArrowheads="1"/>
            </p:cNvSpPr>
            <p:nvPr/>
          </p:nvSpPr>
          <p:spPr bwMode="auto">
            <a:xfrm>
              <a:off x="3182" y="270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4702" name="Text Box 14"/>
            <p:cNvSpPr txBox="1">
              <a:spLocks noChangeArrowheads="1"/>
            </p:cNvSpPr>
            <p:nvPr/>
          </p:nvSpPr>
          <p:spPr bwMode="auto">
            <a:xfrm>
              <a:off x="3403" y="2697"/>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4703" name="Line 15"/>
            <p:cNvSpPr>
              <a:spLocks noChangeShapeType="1"/>
            </p:cNvSpPr>
            <p:nvPr/>
          </p:nvSpPr>
          <p:spPr bwMode="auto">
            <a:xfrm>
              <a:off x="2539" y="2609"/>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4704" name="Group 16"/>
            <p:cNvGrpSpPr>
              <a:grpSpLocks/>
            </p:cNvGrpSpPr>
            <p:nvPr/>
          </p:nvGrpSpPr>
          <p:grpSpPr bwMode="auto">
            <a:xfrm rot="16200000" flipH="1">
              <a:off x="3380" y="3072"/>
              <a:ext cx="370" cy="53"/>
              <a:chOff x="1200" y="1584"/>
              <a:chExt cx="379" cy="45"/>
            </a:xfrm>
          </p:grpSpPr>
          <p:sp>
            <p:nvSpPr>
              <p:cNvPr id="754705" name="Arc 17"/>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6" name="Arc 18"/>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7" name="Arc 19"/>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08" name="Arc 20"/>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4709" name="Oval 21"/>
            <p:cNvSpPr>
              <a:spLocks noChangeArrowheads="1"/>
            </p:cNvSpPr>
            <p:nvPr/>
          </p:nvSpPr>
          <p:spPr bwMode="auto">
            <a:xfrm>
              <a:off x="2496" y="2663"/>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0" name="Line 22"/>
            <p:cNvSpPr>
              <a:spLocks noChangeShapeType="1"/>
            </p:cNvSpPr>
            <p:nvPr/>
          </p:nvSpPr>
          <p:spPr bwMode="auto">
            <a:xfrm>
              <a:off x="3586" y="2678"/>
              <a:ext cx="727"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4711" name="Object 23"/>
            <p:cNvGraphicFramePr>
              <a:graphicFrameLocks noChangeAspect="1"/>
            </p:cNvGraphicFramePr>
            <p:nvPr/>
          </p:nvGraphicFramePr>
          <p:xfrm>
            <a:off x="2536" y="2229"/>
            <a:ext cx="218" cy="377"/>
          </p:xfrm>
          <a:graphic>
            <a:graphicData uri="http://schemas.openxmlformats.org/presentationml/2006/ole">
              <mc:AlternateContent xmlns:mc="http://schemas.openxmlformats.org/markup-compatibility/2006">
                <mc:Choice xmlns:v="urn:schemas-microsoft-com:vml" Requires="v">
                  <p:oleObj spid="_x0000_s118864" name="公式" r:id="rId6" imgW="164880" imgH="304560" progId="Equation.3">
                    <p:embed/>
                  </p:oleObj>
                </mc:Choice>
                <mc:Fallback>
                  <p:oleObj name="公式" r:id="rId6" imgW="164880" imgH="304560" progId="Equation.3">
                    <p:embed/>
                    <p:pic>
                      <p:nvPicPr>
                        <p:cNvPr id="754711"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6" y="2229"/>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4712" name="Object 24"/>
            <p:cNvGraphicFramePr>
              <a:graphicFrameLocks noChangeAspect="1"/>
            </p:cNvGraphicFramePr>
            <p:nvPr/>
          </p:nvGraphicFramePr>
          <p:xfrm>
            <a:off x="3895" y="2229"/>
            <a:ext cx="223" cy="384"/>
          </p:xfrm>
          <a:graphic>
            <a:graphicData uri="http://schemas.openxmlformats.org/presentationml/2006/ole">
              <mc:AlternateContent xmlns:mc="http://schemas.openxmlformats.org/markup-compatibility/2006">
                <mc:Choice xmlns:v="urn:schemas-microsoft-com:vml" Requires="v">
                  <p:oleObj spid="_x0000_s118865" name="公式" r:id="rId8" imgW="164880" imgH="304560" progId="Equation.3">
                    <p:embed/>
                  </p:oleObj>
                </mc:Choice>
                <mc:Fallback>
                  <p:oleObj name="公式" r:id="rId8" imgW="164880" imgH="304560" progId="Equation.3">
                    <p:embed/>
                    <p:pic>
                      <p:nvPicPr>
                        <p:cNvPr id="754712"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95" y="2229"/>
                          <a:ext cx="22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13" name="Line 25"/>
            <p:cNvSpPr>
              <a:spLocks noChangeShapeType="1"/>
            </p:cNvSpPr>
            <p:nvPr/>
          </p:nvSpPr>
          <p:spPr bwMode="auto">
            <a:xfrm flipH="1">
              <a:off x="2548" y="3476"/>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4" name="Oval 26"/>
            <p:cNvSpPr>
              <a:spLocks noChangeArrowheads="1"/>
            </p:cNvSpPr>
            <p:nvPr/>
          </p:nvSpPr>
          <p:spPr bwMode="auto">
            <a:xfrm flipH="1">
              <a:off x="2500" y="3450"/>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15" name="Text Box 27"/>
            <p:cNvSpPr txBox="1">
              <a:spLocks noChangeArrowheads="1"/>
            </p:cNvSpPr>
            <p:nvPr/>
          </p:nvSpPr>
          <p:spPr bwMode="auto">
            <a:xfrm>
              <a:off x="3924" y="2662"/>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16" name="Text Box 28"/>
            <p:cNvSpPr txBox="1">
              <a:spLocks noChangeArrowheads="1"/>
            </p:cNvSpPr>
            <p:nvPr/>
          </p:nvSpPr>
          <p:spPr bwMode="auto">
            <a:xfrm>
              <a:off x="3946" y="3242"/>
              <a:ext cx="25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17" name="Object 29"/>
            <p:cNvGraphicFramePr>
              <a:graphicFrameLocks noChangeAspect="1"/>
            </p:cNvGraphicFramePr>
            <p:nvPr/>
          </p:nvGraphicFramePr>
          <p:xfrm>
            <a:off x="3938" y="2841"/>
            <a:ext cx="232" cy="384"/>
          </p:xfrm>
          <a:graphic>
            <a:graphicData uri="http://schemas.openxmlformats.org/presentationml/2006/ole">
              <mc:AlternateContent xmlns:mc="http://schemas.openxmlformats.org/markup-compatibility/2006">
                <mc:Choice xmlns:v="urn:schemas-microsoft-com:vml" Requires="v">
                  <p:oleObj spid="_x0000_s118866" name="公式" r:id="rId10" imgW="203040" imgH="304560" progId="Equation.3">
                    <p:embed/>
                  </p:oleObj>
                </mc:Choice>
                <mc:Fallback>
                  <p:oleObj name="公式" r:id="rId10" imgW="203040" imgH="304560" progId="Equation.3">
                    <p:embed/>
                    <p:pic>
                      <p:nvPicPr>
                        <p:cNvPr id="754717"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8" y="2841"/>
                          <a:ext cx="2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18" name="Text Box 30"/>
            <p:cNvSpPr txBox="1">
              <a:spLocks noChangeArrowheads="1"/>
            </p:cNvSpPr>
            <p:nvPr/>
          </p:nvSpPr>
          <p:spPr bwMode="auto">
            <a:xfrm>
              <a:off x="2239" y="2577"/>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19" name="Text Box 31"/>
            <p:cNvSpPr txBox="1">
              <a:spLocks noChangeArrowheads="1"/>
            </p:cNvSpPr>
            <p:nvPr/>
          </p:nvSpPr>
          <p:spPr bwMode="auto">
            <a:xfrm>
              <a:off x="2267" y="3338"/>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20" name="Object 32"/>
            <p:cNvGraphicFramePr>
              <a:graphicFrameLocks noChangeAspect="1"/>
            </p:cNvGraphicFramePr>
            <p:nvPr/>
          </p:nvGraphicFramePr>
          <p:xfrm>
            <a:off x="2234" y="2854"/>
            <a:ext cx="235" cy="387"/>
          </p:xfrm>
          <a:graphic>
            <a:graphicData uri="http://schemas.openxmlformats.org/presentationml/2006/ole">
              <mc:AlternateContent xmlns:mc="http://schemas.openxmlformats.org/markup-compatibility/2006">
                <mc:Choice xmlns:v="urn:schemas-microsoft-com:vml" Requires="v">
                  <p:oleObj spid="_x0000_s118867" name="公式" r:id="rId12" imgW="203040" imgH="304560" progId="Equation.3">
                    <p:embed/>
                  </p:oleObj>
                </mc:Choice>
                <mc:Fallback>
                  <p:oleObj name="公式" r:id="rId12" imgW="203040" imgH="304560" progId="Equation.3">
                    <p:embed/>
                    <p:pic>
                      <p:nvPicPr>
                        <p:cNvPr id="75472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34" y="2854"/>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4721" name="Group 33"/>
            <p:cNvGrpSpPr>
              <a:grpSpLocks/>
            </p:cNvGrpSpPr>
            <p:nvPr/>
          </p:nvGrpSpPr>
          <p:grpSpPr bwMode="auto">
            <a:xfrm rot="5400000">
              <a:off x="3001" y="3053"/>
              <a:ext cx="370" cy="53"/>
              <a:chOff x="1200" y="1584"/>
              <a:chExt cx="379" cy="45"/>
            </a:xfrm>
          </p:grpSpPr>
          <p:sp>
            <p:nvSpPr>
              <p:cNvPr id="754722" name="Arc 3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3" name="Arc 3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4" name="Arc 3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5" name="Arc 3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4726" name="Text Box 38"/>
            <p:cNvSpPr txBox="1">
              <a:spLocks noChangeArrowheads="1"/>
            </p:cNvSpPr>
            <p:nvPr/>
          </p:nvSpPr>
          <p:spPr bwMode="auto">
            <a:xfrm>
              <a:off x="3156" y="2352"/>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sp>
          <p:nvSpPr>
            <p:cNvPr id="754727" name="Rectangle 39"/>
            <p:cNvSpPr>
              <a:spLocks noChangeArrowheads="1"/>
            </p:cNvSpPr>
            <p:nvPr/>
          </p:nvSpPr>
          <p:spPr bwMode="auto">
            <a:xfrm>
              <a:off x="4259" y="2920"/>
              <a:ext cx="102" cy="27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8" name="Line 40"/>
            <p:cNvSpPr>
              <a:spLocks noChangeShapeType="1"/>
            </p:cNvSpPr>
            <p:nvPr/>
          </p:nvSpPr>
          <p:spPr bwMode="auto">
            <a:xfrm>
              <a:off x="4313" y="2678"/>
              <a:ext cx="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29" name="Line 41"/>
            <p:cNvSpPr>
              <a:spLocks noChangeShapeType="1"/>
            </p:cNvSpPr>
            <p:nvPr/>
          </p:nvSpPr>
          <p:spPr bwMode="auto">
            <a:xfrm>
              <a:off x="4313" y="3193"/>
              <a:ext cx="0" cy="3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0" name="Text Box 42"/>
            <p:cNvSpPr txBox="1">
              <a:spLocks noChangeArrowheads="1"/>
            </p:cNvSpPr>
            <p:nvPr/>
          </p:nvSpPr>
          <p:spPr bwMode="auto">
            <a:xfrm>
              <a:off x="4357" y="2914"/>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Z</a:t>
              </a:r>
            </a:p>
          </p:txBody>
        </p:sp>
      </p:grpSp>
      <p:grpSp>
        <p:nvGrpSpPr>
          <p:cNvPr id="754731" name="Group 43"/>
          <p:cNvGrpSpPr>
            <a:grpSpLocks/>
          </p:cNvGrpSpPr>
          <p:nvPr/>
        </p:nvGrpSpPr>
        <p:grpSpPr bwMode="auto">
          <a:xfrm>
            <a:off x="6067425" y="1585913"/>
            <a:ext cx="2200275" cy="2157412"/>
            <a:chOff x="3956" y="2397"/>
            <a:chExt cx="1386" cy="1359"/>
          </a:xfrm>
        </p:grpSpPr>
        <p:sp>
          <p:nvSpPr>
            <p:cNvPr id="754732" name="Line 44"/>
            <p:cNvSpPr>
              <a:spLocks noChangeShapeType="1"/>
            </p:cNvSpPr>
            <p:nvPr/>
          </p:nvSpPr>
          <p:spPr bwMode="auto">
            <a:xfrm>
              <a:off x="4264" y="2846"/>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3" name="Line 45"/>
            <p:cNvSpPr>
              <a:spLocks noChangeShapeType="1"/>
            </p:cNvSpPr>
            <p:nvPr/>
          </p:nvSpPr>
          <p:spPr bwMode="auto">
            <a:xfrm>
              <a:off x="4261" y="2777"/>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4" name="Oval 46"/>
            <p:cNvSpPr>
              <a:spLocks noChangeArrowheads="1"/>
            </p:cNvSpPr>
            <p:nvPr/>
          </p:nvSpPr>
          <p:spPr bwMode="auto">
            <a:xfrm>
              <a:off x="4218" y="2831"/>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4735" name="Object 47"/>
            <p:cNvGraphicFramePr>
              <a:graphicFrameLocks noChangeAspect="1"/>
            </p:cNvGraphicFramePr>
            <p:nvPr/>
          </p:nvGraphicFramePr>
          <p:xfrm>
            <a:off x="4258" y="2397"/>
            <a:ext cx="218" cy="377"/>
          </p:xfrm>
          <a:graphic>
            <a:graphicData uri="http://schemas.openxmlformats.org/presentationml/2006/ole">
              <mc:AlternateContent xmlns:mc="http://schemas.openxmlformats.org/markup-compatibility/2006">
                <mc:Choice xmlns:v="urn:schemas-microsoft-com:vml" Requires="v">
                  <p:oleObj spid="_x0000_s118868" name="公式" r:id="rId14" imgW="164880" imgH="304560" progId="Equation.3">
                    <p:embed/>
                  </p:oleObj>
                </mc:Choice>
                <mc:Fallback>
                  <p:oleObj name="公式" r:id="rId14" imgW="164880" imgH="304560" progId="Equation.3">
                    <p:embed/>
                    <p:pic>
                      <p:nvPicPr>
                        <p:cNvPr id="754735" name="Object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8" y="2397"/>
                          <a:ext cx="218" cy="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36" name="Line 48"/>
            <p:cNvSpPr>
              <a:spLocks noChangeShapeType="1"/>
            </p:cNvSpPr>
            <p:nvPr/>
          </p:nvSpPr>
          <p:spPr bwMode="auto">
            <a:xfrm flipH="1">
              <a:off x="4252" y="3638"/>
              <a:ext cx="608"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7" name="Oval 49"/>
            <p:cNvSpPr>
              <a:spLocks noChangeArrowheads="1"/>
            </p:cNvSpPr>
            <p:nvPr/>
          </p:nvSpPr>
          <p:spPr bwMode="auto">
            <a:xfrm flipH="1">
              <a:off x="4222" y="3618"/>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38" name="Text Box 50"/>
            <p:cNvSpPr txBox="1">
              <a:spLocks noChangeArrowheads="1"/>
            </p:cNvSpPr>
            <p:nvPr/>
          </p:nvSpPr>
          <p:spPr bwMode="auto">
            <a:xfrm>
              <a:off x="3961" y="2745"/>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4739" name="Text Box 51"/>
            <p:cNvSpPr txBox="1">
              <a:spLocks noChangeArrowheads="1"/>
            </p:cNvSpPr>
            <p:nvPr/>
          </p:nvSpPr>
          <p:spPr bwMode="auto">
            <a:xfrm>
              <a:off x="3989" y="350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aphicFrame>
          <p:nvGraphicFramePr>
            <p:cNvPr id="754740" name="Object 52"/>
            <p:cNvGraphicFramePr>
              <a:graphicFrameLocks noChangeAspect="1"/>
            </p:cNvGraphicFramePr>
            <p:nvPr/>
          </p:nvGraphicFramePr>
          <p:xfrm>
            <a:off x="3956" y="3022"/>
            <a:ext cx="235" cy="387"/>
          </p:xfrm>
          <a:graphic>
            <a:graphicData uri="http://schemas.openxmlformats.org/presentationml/2006/ole">
              <mc:AlternateContent xmlns:mc="http://schemas.openxmlformats.org/markup-compatibility/2006">
                <mc:Choice xmlns:v="urn:schemas-microsoft-com:vml" Requires="v">
                  <p:oleObj spid="_x0000_s118869" name="公式" r:id="rId15" imgW="203040" imgH="304560" progId="Equation.3">
                    <p:embed/>
                  </p:oleObj>
                </mc:Choice>
                <mc:Fallback>
                  <p:oleObj name="公式" r:id="rId15" imgW="203040" imgH="304560" progId="Equation.3">
                    <p:embed/>
                    <p:pic>
                      <p:nvPicPr>
                        <p:cNvPr id="754740" name="Object 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6" y="3022"/>
                          <a:ext cx="235"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4741" name="Rectangle 53"/>
            <p:cNvSpPr>
              <a:spLocks noChangeArrowheads="1"/>
            </p:cNvSpPr>
            <p:nvPr/>
          </p:nvSpPr>
          <p:spPr bwMode="auto">
            <a:xfrm>
              <a:off x="4807" y="3089"/>
              <a:ext cx="102" cy="272"/>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2" name="Line 54"/>
            <p:cNvSpPr>
              <a:spLocks noChangeShapeType="1"/>
            </p:cNvSpPr>
            <p:nvPr/>
          </p:nvSpPr>
          <p:spPr bwMode="auto">
            <a:xfrm>
              <a:off x="4867" y="2859"/>
              <a:ext cx="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3" name="Line 55"/>
            <p:cNvSpPr>
              <a:spLocks noChangeShapeType="1"/>
            </p:cNvSpPr>
            <p:nvPr/>
          </p:nvSpPr>
          <p:spPr bwMode="auto">
            <a:xfrm>
              <a:off x="4867" y="3362"/>
              <a:ext cx="0" cy="28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744" name="Text Box 56"/>
            <p:cNvSpPr txBox="1">
              <a:spLocks noChangeArrowheads="1"/>
            </p:cNvSpPr>
            <p:nvPr/>
          </p:nvSpPr>
          <p:spPr bwMode="auto">
            <a:xfrm>
              <a:off x="4922" y="3103"/>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baseline="30000">
                  <a:latin typeface="Times New Roman" panose="02020603050405020304" pitchFamily="18" charset="0"/>
                </a:rPr>
                <a:t>2</a:t>
              </a:r>
              <a:r>
                <a:rPr kumimoji="1" lang="en-US" altLang="zh-CN" sz="2400" b="1" i="1">
                  <a:latin typeface="Times New Roman" panose="02020603050405020304" pitchFamily="18" charset="0"/>
                </a:rPr>
                <a:t>Z</a:t>
              </a:r>
            </a:p>
          </p:txBody>
        </p:sp>
      </p:grpSp>
      <p:sp>
        <p:nvSpPr>
          <p:cNvPr id="754745" name="AutoShape 57"/>
          <p:cNvSpPr>
            <a:spLocks noChangeArrowheads="1"/>
          </p:cNvSpPr>
          <p:nvPr/>
        </p:nvSpPr>
        <p:spPr bwMode="auto">
          <a:xfrm>
            <a:off x="5276850" y="2835275"/>
            <a:ext cx="619125" cy="304800"/>
          </a:xfrm>
          <a:prstGeom prst="rightArrow">
            <a:avLst>
              <a:gd name="adj1" fmla="val 50000"/>
              <a:gd name="adj2" fmla="val 5078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96866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4692"/>
                                        </p:tgtEl>
                                        <p:attrNameLst>
                                          <p:attrName>style.visibility</p:attrName>
                                        </p:attrNameLst>
                                      </p:cBhvr>
                                      <p:to>
                                        <p:strVal val="visible"/>
                                      </p:to>
                                    </p:set>
                                    <p:anim calcmode="lin" valueType="num">
                                      <p:cBhvr additive="base">
                                        <p:cTn id="7" dur="500" fill="hold"/>
                                        <p:tgtEl>
                                          <p:spTgt spid="754692"/>
                                        </p:tgtEl>
                                        <p:attrNameLst>
                                          <p:attrName>ppt_x</p:attrName>
                                        </p:attrNameLst>
                                      </p:cBhvr>
                                      <p:tavLst>
                                        <p:tav tm="0">
                                          <p:val>
                                            <p:strVal val="0-#ppt_w/2"/>
                                          </p:val>
                                        </p:tav>
                                        <p:tav tm="100000">
                                          <p:val>
                                            <p:strVal val="#ppt_x"/>
                                          </p:val>
                                        </p:tav>
                                      </p:tavLst>
                                    </p:anim>
                                    <p:anim calcmode="lin" valueType="num">
                                      <p:cBhvr additive="base">
                                        <p:cTn id="8" dur="500" fill="hold"/>
                                        <p:tgtEl>
                                          <p:spTgt spid="7546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4691"/>
                                        </p:tgtEl>
                                        <p:attrNameLst>
                                          <p:attrName>style.visibility</p:attrName>
                                        </p:attrNameLst>
                                      </p:cBhvr>
                                      <p:to>
                                        <p:strVal val="visible"/>
                                      </p:to>
                                    </p:set>
                                    <p:anim calcmode="lin" valueType="num">
                                      <p:cBhvr additive="base">
                                        <p:cTn id="13" dur="500" fill="hold"/>
                                        <p:tgtEl>
                                          <p:spTgt spid="754691"/>
                                        </p:tgtEl>
                                        <p:attrNameLst>
                                          <p:attrName>ppt_x</p:attrName>
                                        </p:attrNameLst>
                                      </p:cBhvr>
                                      <p:tavLst>
                                        <p:tav tm="0">
                                          <p:val>
                                            <p:strVal val="0-#ppt_w/2"/>
                                          </p:val>
                                        </p:tav>
                                        <p:tav tm="100000">
                                          <p:val>
                                            <p:strVal val="#ppt_x"/>
                                          </p:val>
                                        </p:tav>
                                      </p:tavLst>
                                    </p:anim>
                                    <p:anim calcmode="lin" valueType="num">
                                      <p:cBhvr additive="base">
                                        <p:cTn id="14" dur="500" fill="hold"/>
                                        <p:tgtEl>
                                          <p:spTgt spid="75469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8" fill="hold" nodeType="clickEffect">
                                  <p:stCondLst>
                                    <p:cond delay="0"/>
                                  </p:stCondLst>
                                  <p:childTnLst>
                                    <p:set>
                                      <p:cBhvr>
                                        <p:cTn id="18" dur="1" fill="hold">
                                          <p:stCondLst>
                                            <p:cond delay="0"/>
                                          </p:stCondLst>
                                        </p:cTn>
                                        <p:tgtEl>
                                          <p:spTgt spid="754693"/>
                                        </p:tgtEl>
                                        <p:attrNameLst>
                                          <p:attrName>style.visibility</p:attrName>
                                        </p:attrNameLst>
                                      </p:cBhvr>
                                      <p:to>
                                        <p:strVal val="visible"/>
                                      </p:to>
                                    </p:set>
                                    <p:animEffect transition="in" filter="slide(fromLeft)">
                                      <p:cBhvr>
                                        <p:cTn id="19" dur="500"/>
                                        <p:tgtEl>
                                          <p:spTgt spid="75469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754690"/>
                                        </p:tgtEl>
                                        <p:attrNameLst>
                                          <p:attrName>style.visibility</p:attrName>
                                        </p:attrNameLst>
                                      </p:cBhvr>
                                      <p:to>
                                        <p:strVal val="visible"/>
                                      </p:to>
                                    </p:set>
                                    <p:animEffect transition="in" filter="wipe(left)">
                                      <p:cBhvr>
                                        <p:cTn id="24" dur="500"/>
                                        <p:tgtEl>
                                          <p:spTgt spid="75469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nodeType="clickEffect">
                                  <p:stCondLst>
                                    <p:cond delay="0"/>
                                  </p:stCondLst>
                                  <p:childTnLst>
                                    <p:set>
                                      <p:cBhvr>
                                        <p:cTn id="28" dur="1" fill="hold">
                                          <p:stCondLst>
                                            <p:cond delay="0"/>
                                          </p:stCondLst>
                                        </p:cTn>
                                        <p:tgtEl>
                                          <p:spTgt spid="754745"/>
                                        </p:tgtEl>
                                        <p:attrNameLst>
                                          <p:attrName>style.visibility</p:attrName>
                                        </p:attrNameLst>
                                      </p:cBhvr>
                                      <p:to>
                                        <p:strVal val="visible"/>
                                      </p:to>
                                    </p:set>
                                    <p:anim calcmode="lin" valueType="num">
                                      <p:cBhvr>
                                        <p:cTn id="29" dur="500" fill="hold"/>
                                        <p:tgtEl>
                                          <p:spTgt spid="754745"/>
                                        </p:tgtEl>
                                        <p:attrNameLst>
                                          <p:attrName>ppt_x</p:attrName>
                                        </p:attrNameLst>
                                      </p:cBhvr>
                                      <p:tavLst>
                                        <p:tav tm="0">
                                          <p:val>
                                            <p:strVal val="#ppt_x-#ppt_w/2"/>
                                          </p:val>
                                        </p:tav>
                                        <p:tav tm="100000">
                                          <p:val>
                                            <p:strVal val="#ppt_x"/>
                                          </p:val>
                                        </p:tav>
                                      </p:tavLst>
                                    </p:anim>
                                    <p:anim calcmode="lin" valueType="num">
                                      <p:cBhvr>
                                        <p:cTn id="30" dur="500" fill="hold"/>
                                        <p:tgtEl>
                                          <p:spTgt spid="754745"/>
                                        </p:tgtEl>
                                        <p:attrNameLst>
                                          <p:attrName>ppt_y</p:attrName>
                                        </p:attrNameLst>
                                      </p:cBhvr>
                                      <p:tavLst>
                                        <p:tav tm="0">
                                          <p:val>
                                            <p:strVal val="#ppt_y"/>
                                          </p:val>
                                        </p:tav>
                                        <p:tav tm="100000">
                                          <p:val>
                                            <p:strVal val="#ppt_y"/>
                                          </p:val>
                                        </p:tav>
                                      </p:tavLst>
                                    </p:anim>
                                    <p:anim calcmode="lin" valueType="num">
                                      <p:cBhvr>
                                        <p:cTn id="31" dur="500" fill="hold"/>
                                        <p:tgtEl>
                                          <p:spTgt spid="754745"/>
                                        </p:tgtEl>
                                        <p:attrNameLst>
                                          <p:attrName>ppt_w</p:attrName>
                                        </p:attrNameLst>
                                      </p:cBhvr>
                                      <p:tavLst>
                                        <p:tav tm="0">
                                          <p:val>
                                            <p:fltVal val="0"/>
                                          </p:val>
                                        </p:tav>
                                        <p:tav tm="100000">
                                          <p:val>
                                            <p:strVal val="#ppt_w"/>
                                          </p:val>
                                        </p:tav>
                                      </p:tavLst>
                                    </p:anim>
                                    <p:anim calcmode="lin" valueType="num">
                                      <p:cBhvr>
                                        <p:cTn id="32" dur="500" fill="hold"/>
                                        <p:tgtEl>
                                          <p:spTgt spid="754745"/>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500"/>
                            </p:stCondLst>
                            <p:childTnLst>
                              <p:par>
                                <p:cTn id="34" presetID="12" presetClass="entr" presetSubtype="8" fill="hold" nodeType="afterEffect">
                                  <p:stCondLst>
                                    <p:cond delay="0"/>
                                  </p:stCondLst>
                                  <p:childTnLst>
                                    <p:set>
                                      <p:cBhvr>
                                        <p:cTn id="35" dur="1" fill="hold">
                                          <p:stCondLst>
                                            <p:cond delay="0"/>
                                          </p:stCondLst>
                                        </p:cTn>
                                        <p:tgtEl>
                                          <p:spTgt spid="754731"/>
                                        </p:tgtEl>
                                        <p:attrNameLst>
                                          <p:attrName>style.visibility</p:attrName>
                                        </p:attrNameLst>
                                      </p:cBhvr>
                                      <p:to>
                                        <p:strVal val="visible"/>
                                      </p:to>
                                    </p:set>
                                    <p:animEffect transition="in" filter="slide(fromLeft)">
                                      <p:cBhvr>
                                        <p:cTn id="36" dur="500"/>
                                        <p:tgtEl>
                                          <p:spTgt spid="754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1" grpId="0" autoUpdateAnimBg="0"/>
      <p:bldP spid="754692"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Text Box 2"/>
          <p:cNvSpPr txBox="1">
            <a:spLocks noChangeArrowheads="1"/>
          </p:cNvSpPr>
          <p:nvPr/>
        </p:nvSpPr>
        <p:spPr bwMode="auto">
          <a:xfrm>
            <a:off x="727075" y="631825"/>
            <a:ext cx="20297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dirty="0">
                <a:latin typeface="Times New Roman" panose="02020603050405020304" pitchFamily="18" charset="0"/>
              </a:rPr>
              <a:t> (b) </a:t>
            </a:r>
            <a:r>
              <a:rPr kumimoji="1" lang="zh-CN" altLang="en-US" sz="2400" b="1" dirty="0" smtClean="0">
                <a:latin typeface="Times New Roman" panose="02020603050405020304" pitchFamily="18" charset="0"/>
              </a:rPr>
              <a:t>功率传输 </a:t>
            </a:r>
            <a:endParaRPr kumimoji="1" lang="zh-CN" altLang="en-US" sz="2400" b="1" dirty="0">
              <a:latin typeface="Times New Roman" panose="02020603050405020304" pitchFamily="18" charset="0"/>
            </a:endParaRPr>
          </a:p>
        </p:txBody>
      </p:sp>
      <p:sp>
        <p:nvSpPr>
          <p:cNvPr id="756739" name="Text Box 3"/>
          <p:cNvSpPr txBox="1">
            <a:spLocks noChangeArrowheads="1"/>
          </p:cNvSpPr>
          <p:nvPr/>
        </p:nvSpPr>
        <p:spPr bwMode="auto">
          <a:xfrm>
            <a:off x="1277938" y="1127125"/>
            <a:ext cx="7694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latin typeface="Times New Roman" panose="02020603050405020304" pitchFamily="18" charset="0"/>
              </a:rPr>
              <a:t>理想变压器的特性方程为</a:t>
            </a:r>
            <a:r>
              <a:rPr kumimoji="1" lang="zh-CN" altLang="en-US" sz="2400" b="1">
                <a:solidFill>
                  <a:srgbClr val="0000FF"/>
                </a:solidFill>
                <a:latin typeface="Times New Roman" panose="02020603050405020304" pitchFamily="18" charset="0"/>
              </a:rPr>
              <a:t>代数关系</a:t>
            </a:r>
            <a:r>
              <a:rPr kumimoji="1" lang="zh-CN" altLang="en-US" sz="2400" b="1">
                <a:latin typeface="Times New Roman" panose="02020603050405020304" pitchFamily="18" charset="0"/>
              </a:rPr>
              <a:t>，因此无记忆作用。</a:t>
            </a:r>
          </a:p>
        </p:txBody>
      </p:sp>
      <p:grpSp>
        <p:nvGrpSpPr>
          <p:cNvPr id="756740" name="Group 4"/>
          <p:cNvGrpSpPr>
            <a:grpSpLocks/>
          </p:cNvGrpSpPr>
          <p:nvPr/>
        </p:nvGrpSpPr>
        <p:grpSpPr bwMode="auto">
          <a:xfrm>
            <a:off x="1547813" y="1966913"/>
            <a:ext cx="1636712" cy="1227137"/>
            <a:chOff x="975" y="1239"/>
            <a:chExt cx="1031" cy="773"/>
          </a:xfrm>
        </p:grpSpPr>
        <p:graphicFrame>
          <p:nvGraphicFramePr>
            <p:cNvPr id="756741" name="Object 5"/>
            <p:cNvGraphicFramePr>
              <a:graphicFrameLocks noChangeAspect="1"/>
            </p:cNvGraphicFramePr>
            <p:nvPr/>
          </p:nvGraphicFramePr>
          <p:xfrm>
            <a:off x="1143" y="1239"/>
            <a:ext cx="801" cy="270"/>
          </p:xfrm>
          <a:graphic>
            <a:graphicData uri="http://schemas.openxmlformats.org/presentationml/2006/ole">
              <mc:AlternateContent xmlns:mc="http://schemas.openxmlformats.org/markup-compatibility/2006">
                <mc:Choice xmlns:v="urn:schemas-microsoft-com:vml" Requires="v">
                  <p:oleObj spid="_x0000_s119846" name="公式" r:id="rId4" imgW="634680" imgH="215640" progId="Equation.3">
                    <p:embed/>
                  </p:oleObj>
                </mc:Choice>
                <mc:Fallback>
                  <p:oleObj name="公式" r:id="rId4" imgW="634680" imgH="215640" progId="Equation.3">
                    <p:embed/>
                    <p:pic>
                      <p:nvPicPr>
                        <p:cNvPr id="7567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 y="1239"/>
                          <a:ext cx="801"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6742" name="Object 6"/>
            <p:cNvGraphicFramePr>
              <a:graphicFrameLocks noChangeAspect="1"/>
            </p:cNvGraphicFramePr>
            <p:nvPr/>
          </p:nvGraphicFramePr>
          <p:xfrm>
            <a:off x="1161" y="1560"/>
            <a:ext cx="845" cy="452"/>
          </p:xfrm>
          <a:graphic>
            <a:graphicData uri="http://schemas.openxmlformats.org/presentationml/2006/ole">
              <mc:AlternateContent xmlns:mc="http://schemas.openxmlformats.org/markup-compatibility/2006">
                <mc:Choice xmlns:v="urn:schemas-microsoft-com:vml" Requires="v">
                  <p:oleObj spid="_x0000_s119847" name="公式" r:id="rId6" imgW="660240" imgH="355320" progId="Equation.3">
                    <p:embed/>
                  </p:oleObj>
                </mc:Choice>
                <mc:Fallback>
                  <p:oleObj name="公式" r:id="rId6" imgW="660240" imgH="355320" progId="Equation.3">
                    <p:embed/>
                    <p:pic>
                      <p:nvPicPr>
                        <p:cNvPr id="75674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1" y="1560"/>
                          <a:ext cx="845" cy="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6743" name="AutoShape 7"/>
            <p:cNvSpPr>
              <a:spLocks/>
            </p:cNvSpPr>
            <p:nvPr/>
          </p:nvSpPr>
          <p:spPr bwMode="auto">
            <a:xfrm>
              <a:off x="975" y="1356"/>
              <a:ext cx="119" cy="548"/>
            </a:xfrm>
            <a:prstGeom prst="leftBrace">
              <a:avLst>
                <a:gd name="adj1" fmla="val 3837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6744" name="Group 8"/>
          <p:cNvGrpSpPr>
            <a:grpSpLocks/>
          </p:cNvGrpSpPr>
          <p:nvPr/>
        </p:nvGrpSpPr>
        <p:grpSpPr bwMode="auto">
          <a:xfrm>
            <a:off x="4287838" y="1568450"/>
            <a:ext cx="3763962" cy="2062163"/>
            <a:chOff x="2701" y="988"/>
            <a:chExt cx="2371" cy="1299"/>
          </a:xfrm>
        </p:grpSpPr>
        <p:sp>
          <p:nvSpPr>
            <p:cNvPr id="756745" name="Line 9"/>
            <p:cNvSpPr>
              <a:spLocks noChangeShapeType="1"/>
            </p:cNvSpPr>
            <p:nvPr/>
          </p:nvSpPr>
          <p:spPr bwMode="auto">
            <a:xfrm flipH="1">
              <a:off x="3634" y="1970"/>
              <a:ext cx="0"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6" name="Line 10"/>
            <p:cNvSpPr>
              <a:spLocks noChangeShapeType="1"/>
            </p:cNvSpPr>
            <p:nvPr/>
          </p:nvSpPr>
          <p:spPr bwMode="auto">
            <a:xfrm>
              <a:off x="3634" y="1382"/>
              <a:ext cx="0"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7" name="Line 11"/>
            <p:cNvSpPr>
              <a:spLocks noChangeShapeType="1"/>
            </p:cNvSpPr>
            <p:nvPr/>
          </p:nvSpPr>
          <p:spPr bwMode="auto">
            <a:xfrm flipH="1">
              <a:off x="4060" y="1981"/>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8" name="Line 12"/>
            <p:cNvSpPr>
              <a:spLocks noChangeShapeType="1"/>
            </p:cNvSpPr>
            <p:nvPr/>
          </p:nvSpPr>
          <p:spPr bwMode="auto">
            <a:xfrm>
              <a:off x="4062" y="1377"/>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9" name="Line 13"/>
            <p:cNvSpPr>
              <a:spLocks noChangeShapeType="1"/>
            </p:cNvSpPr>
            <p:nvPr/>
          </p:nvSpPr>
          <p:spPr bwMode="auto">
            <a:xfrm>
              <a:off x="3028" y="1383"/>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0" name="Line 14"/>
            <p:cNvSpPr>
              <a:spLocks noChangeShapeType="1"/>
            </p:cNvSpPr>
            <p:nvPr/>
          </p:nvSpPr>
          <p:spPr bwMode="auto">
            <a:xfrm>
              <a:off x="4062" y="2183"/>
              <a:ext cx="632"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1" name="Line 15"/>
            <p:cNvSpPr>
              <a:spLocks noChangeShapeType="1"/>
            </p:cNvSpPr>
            <p:nvPr/>
          </p:nvSpPr>
          <p:spPr bwMode="auto">
            <a:xfrm rot="5400000">
              <a:off x="4489" y="1180"/>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2" name="Text Box 16"/>
            <p:cNvSpPr txBox="1">
              <a:spLocks noChangeArrowheads="1"/>
            </p:cNvSpPr>
            <p:nvPr/>
          </p:nvSpPr>
          <p:spPr bwMode="auto">
            <a:xfrm>
              <a:off x="3632" y="140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3" name="Text Box 17"/>
            <p:cNvSpPr txBox="1">
              <a:spLocks noChangeArrowheads="1"/>
            </p:cNvSpPr>
            <p:nvPr/>
          </p:nvSpPr>
          <p:spPr bwMode="auto">
            <a:xfrm>
              <a:off x="3877" y="1396"/>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4" name="Line 18"/>
            <p:cNvSpPr>
              <a:spLocks noChangeShapeType="1"/>
            </p:cNvSpPr>
            <p:nvPr/>
          </p:nvSpPr>
          <p:spPr bwMode="auto">
            <a:xfrm>
              <a:off x="3013" y="1308"/>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6755" name="Group 19"/>
            <p:cNvGrpSpPr>
              <a:grpSpLocks/>
            </p:cNvGrpSpPr>
            <p:nvPr/>
          </p:nvGrpSpPr>
          <p:grpSpPr bwMode="auto">
            <a:xfrm rot="16200000" flipH="1">
              <a:off x="3854" y="1771"/>
              <a:ext cx="370" cy="53"/>
              <a:chOff x="1200" y="1584"/>
              <a:chExt cx="379" cy="45"/>
            </a:xfrm>
          </p:grpSpPr>
          <p:sp>
            <p:nvSpPr>
              <p:cNvPr id="756756"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7"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8"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9"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60" name="Oval 24"/>
            <p:cNvSpPr>
              <a:spLocks noChangeArrowheads="1"/>
            </p:cNvSpPr>
            <p:nvPr/>
          </p:nvSpPr>
          <p:spPr bwMode="auto">
            <a:xfrm>
              <a:off x="2976" y="136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1" name="Line 25"/>
            <p:cNvSpPr>
              <a:spLocks noChangeShapeType="1"/>
            </p:cNvSpPr>
            <p:nvPr/>
          </p:nvSpPr>
          <p:spPr bwMode="auto">
            <a:xfrm>
              <a:off x="4060" y="1377"/>
              <a:ext cx="634"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2" name="Line 26"/>
            <p:cNvSpPr>
              <a:spLocks noChangeShapeType="1"/>
            </p:cNvSpPr>
            <p:nvPr/>
          </p:nvSpPr>
          <p:spPr bwMode="auto">
            <a:xfrm flipH="1">
              <a:off x="3022" y="2175"/>
              <a:ext cx="6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3" name="Oval 27"/>
            <p:cNvSpPr>
              <a:spLocks noChangeArrowheads="1"/>
            </p:cNvSpPr>
            <p:nvPr/>
          </p:nvSpPr>
          <p:spPr bwMode="auto">
            <a:xfrm flipH="1">
              <a:off x="2974" y="214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4" name="Text Box 28"/>
            <p:cNvSpPr txBox="1">
              <a:spLocks noChangeArrowheads="1"/>
            </p:cNvSpPr>
            <p:nvPr/>
          </p:nvSpPr>
          <p:spPr bwMode="auto">
            <a:xfrm>
              <a:off x="2713" y="127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65" name="Text Box 29"/>
            <p:cNvSpPr txBox="1">
              <a:spLocks noChangeArrowheads="1"/>
            </p:cNvSpPr>
            <p:nvPr/>
          </p:nvSpPr>
          <p:spPr bwMode="auto">
            <a:xfrm>
              <a:off x="2741" y="2037"/>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pSp>
          <p:nvGrpSpPr>
            <p:cNvPr id="756766" name="Group 30"/>
            <p:cNvGrpSpPr>
              <a:grpSpLocks/>
            </p:cNvGrpSpPr>
            <p:nvPr/>
          </p:nvGrpSpPr>
          <p:grpSpPr bwMode="auto">
            <a:xfrm rot="5400000">
              <a:off x="3475" y="1752"/>
              <a:ext cx="370" cy="53"/>
              <a:chOff x="1200" y="1584"/>
              <a:chExt cx="379" cy="45"/>
            </a:xfrm>
          </p:grpSpPr>
          <p:sp>
            <p:nvSpPr>
              <p:cNvPr id="756767" name="Arc 3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8" name="Arc 3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9" name="Arc 3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0" name="Arc 3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71" name="Text Box 35"/>
            <p:cNvSpPr txBox="1">
              <a:spLocks noChangeArrowheads="1"/>
            </p:cNvSpPr>
            <p:nvPr/>
          </p:nvSpPr>
          <p:spPr bwMode="auto">
            <a:xfrm>
              <a:off x="3630" y="1051"/>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1</a:t>
              </a:r>
            </a:p>
          </p:txBody>
        </p:sp>
        <p:sp>
          <p:nvSpPr>
            <p:cNvPr id="756772" name="Text Box 36"/>
            <p:cNvSpPr txBox="1">
              <a:spLocks noChangeArrowheads="1"/>
            </p:cNvSpPr>
            <p:nvPr/>
          </p:nvSpPr>
          <p:spPr bwMode="auto">
            <a:xfrm>
              <a:off x="2701" y="1633"/>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3" name="Text Box 37"/>
            <p:cNvSpPr txBox="1">
              <a:spLocks noChangeArrowheads="1"/>
            </p:cNvSpPr>
            <p:nvPr/>
          </p:nvSpPr>
          <p:spPr bwMode="auto">
            <a:xfrm>
              <a:off x="2970" y="98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4" name="Text Box 38"/>
            <p:cNvSpPr txBox="1">
              <a:spLocks noChangeArrowheads="1"/>
            </p:cNvSpPr>
            <p:nvPr/>
          </p:nvSpPr>
          <p:spPr bwMode="auto">
            <a:xfrm>
              <a:off x="4361" y="999"/>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756775" name="Oval 39"/>
            <p:cNvSpPr>
              <a:spLocks noChangeArrowheads="1"/>
            </p:cNvSpPr>
            <p:nvPr/>
          </p:nvSpPr>
          <p:spPr bwMode="auto">
            <a:xfrm>
              <a:off x="4694" y="135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6" name="Oval 40"/>
            <p:cNvSpPr>
              <a:spLocks noChangeArrowheads="1"/>
            </p:cNvSpPr>
            <p:nvPr/>
          </p:nvSpPr>
          <p:spPr bwMode="auto">
            <a:xfrm flipH="1">
              <a:off x="4691" y="215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7" name="Text Box 41"/>
            <p:cNvSpPr txBox="1">
              <a:spLocks noChangeArrowheads="1"/>
            </p:cNvSpPr>
            <p:nvPr/>
          </p:nvSpPr>
          <p:spPr bwMode="auto">
            <a:xfrm>
              <a:off x="4739" y="1270"/>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8" name="Text Box 42"/>
            <p:cNvSpPr txBox="1">
              <a:spLocks noChangeArrowheads="1"/>
            </p:cNvSpPr>
            <p:nvPr/>
          </p:nvSpPr>
          <p:spPr bwMode="auto">
            <a:xfrm>
              <a:off x="4779" y="2031"/>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9" name="Text Box 43"/>
            <p:cNvSpPr txBox="1">
              <a:spLocks noChangeArrowheads="1"/>
            </p:cNvSpPr>
            <p:nvPr/>
          </p:nvSpPr>
          <p:spPr bwMode="auto">
            <a:xfrm>
              <a:off x="4763" y="1621"/>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grpSp>
      <p:graphicFrame>
        <p:nvGraphicFramePr>
          <p:cNvPr id="756780" name="Object 44"/>
          <p:cNvGraphicFramePr>
            <a:graphicFrameLocks noChangeAspect="1"/>
          </p:cNvGraphicFramePr>
          <p:nvPr/>
        </p:nvGraphicFramePr>
        <p:xfrm>
          <a:off x="1524000" y="3657600"/>
          <a:ext cx="5365750" cy="842963"/>
        </p:xfrm>
        <a:graphic>
          <a:graphicData uri="http://schemas.openxmlformats.org/presentationml/2006/ole">
            <mc:AlternateContent xmlns:mc="http://schemas.openxmlformats.org/markup-compatibility/2006">
              <mc:Choice xmlns:v="urn:schemas-microsoft-com:vml" Requires="v">
                <p:oleObj spid="_x0000_s119848" name="公式" r:id="rId8" imgW="2577960" imgH="406080" progId="Equation.3">
                  <p:embed/>
                </p:oleObj>
              </mc:Choice>
              <mc:Fallback>
                <p:oleObj name="公式" r:id="rId8" imgW="2577960" imgH="406080" progId="Equation.3">
                  <p:embed/>
                  <p:pic>
                    <p:nvPicPr>
                      <p:cNvPr id="75678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3657600"/>
                        <a:ext cx="5365750"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6781" name="Text Box 45"/>
          <p:cNvSpPr txBox="1">
            <a:spLocks noChangeArrowheads="1"/>
          </p:cNvSpPr>
          <p:nvPr/>
        </p:nvSpPr>
        <p:spPr bwMode="auto">
          <a:xfrm>
            <a:off x="1143000" y="4583113"/>
            <a:ext cx="71628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sz="2400" b="1">
                <a:latin typeface="Times New Roman" panose="02020603050405020304" pitchFamily="18" charset="0"/>
              </a:rPr>
              <a:t>由此可以看出，</a:t>
            </a:r>
            <a:r>
              <a:rPr kumimoji="1" lang="zh-CN" altLang="en-US" sz="2400" b="1">
                <a:solidFill>
                  <a:srgbClr val="FF0000"/>
                </a:solidFill>
                <a:latin typeface="Times New Roman" panose="02020603050405020304" pitchFamily="18" charset="0"/>
              </a:rPr>
              <a:t>理想变压器既不储能，也不耗能，在电路中只起传递信号和能量的作用。</a:t>
            </a:r>
          </a:p>
        </p:txBody>
      </p:sp>
    </p:spTree>
    <p:extLst>
      <p:ext uri="{BB962C8B-B14F-4D97-AF65-F5344CB8AC3E}">
        <p14:creationId xmlns:p14="http://schemas.microsoft.com/office/powerpoint/2010/main" val="2471585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56738"/>
                                        </p:tgtEl>
                                        <p:attrNameLst>
                                          <p:attrName>style.visibility</p:attrName>
                                        </p:attrNameLst>
                                      </p:cBhvr>
                                      <p:to>
                                        <p:strVal val="visible"/>
                                      </p:to>
                                    </p:set>
                                    <p:anim calcmode="lin" valueType="num">
                                      <p:cBhvr additive="base">
                                        <p:cTn id="7" dur="500" fill="hold"/>
                                        <p:tgtEl>
                                          <p:spTgt spid="756738"/>
                                        </p:tgtEl>
                                        <p:attrNameLst>
                                          <p:attrName>ppt_x</p:attrName>
                                        </p:attrNameLst>
                                      </p:cBhvr>
                                      <p:tavLst>
                                        <p:tav tm="0">
                                          <p:val>
                                            <p:strVal val="#ppt_x"/>
                                          </p:val>
                                        </p:tav>
                                        <p:tav tm="100000">
                                          <p:val>
                                            <p:strVal val="#ppt_x"/>
                                          </p:val>
                                        </p:tav>
                                      </p:tavLst>
                                    </p:anim>
                                    <p:anim calcmode="lin" valueType="num">
                                      <p:cBhvr additive="base">
                                        <p:cTn id="8" dur="500" fill="hold"/>
                                        <p:tgtEl>
                                          <p:spTgt spid="75673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56739"/>
                                        </p:tgtEl>
                                        <p:attrNameLst>
                                          <p:attrName>style.visibility</p:attrName>
                                        </p:attrNameLst>
                                      </p:cBhvr>
                                      <p:to>
                                        <p:strVal val="visible"/>
                                      </p:to>
                                    </p:set>
                                    <p:animEffect transition="in" filter="wipe(left)">
                                      <p:cBhvr>
                                        <p:cTn id="13" dur="500"/>
                                        <p:tgtEl>
                                          <p:spTgt spid="7567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nodeType="clickEffect">
                                  <p:stCondLst>
                                    <p:cond delay="0"/>
                                  </p:stCondLst>
                                  <p:childTnLst>
                                    <p:set>
                                      <p:cBhvr>
                                        <p:cTn id="17" dur="1" fill="hold">
                                          <p:stCondLst>
                                            <p:cond delay="0"/>
                                          </p:stCondLst>
                                        </p:cTn>
                                        <p:tgtEl>
                                          <p:spTgt spid="756740"/>
                                        </p:tgtEl>
                                        <p:attrNameLst>
                                          <p:attrName>style.visibility</p:attrName>
                                        </p:attrNameLst>
                                      </p:cBhvr>
                                      <p:to>
                                        <p:strVal val="visible"/>
                                      </p:to>
                                    </p:set>
                                    <p:animEffect transition="in" filter="strips(downRight)">
                                      <p:cBhvr>
                                        <p:cTn id="18" dur="500"/>
                                        <p:tgtEl>
                                          <p:spTgt spid="7567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nodeType="clickEffect">
                                  <p:stCondLst>
                                    <p:cond delay="0"/>
                                  </p:stCondLst>
                                  <p:childTnLst>
                                    <p:set>
                                      <p:cBhvr>
                                        <p:cTn id="22" dur="1" fill="hold">
                                          <p:stCondLst>
                                            <p:cond delay="0"/>
                                          </p:stCondLst>
                                        </p:cTn>
                                        <p:tgtEl>
                                          <p:spTgt spid="756744"/>
                                        </p:tgtEl>
                                        <p:attrNameLst>
                                          <p:attrName>style.visibility</p:attrName>
                                        </p:attrNameLst>
                                      </p:cBhvr>
                                      <p:to>
                                        <p:strVal val="visible"/>
                                      </p:to>
                                    </p:set>
                                    <p:animEffect transition="in" filter="strips(downRight)">
                                      <p:cBhvr>
                                        <p:cTn id="23" dur="500"/>
                                        <p:tgtEl>
                                          <p:spTgt spid="75674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56780"/>
                                        </p:tgtEl>
                                        <p:attrNameLst>
                                          <p:attrName>style.visibility</p:attrName>
                                        </p:attrNameLst>
                                      </p:cBhvr>
                                      <p:to>
                                        <p:strVal val="visible"/>
                                      </p:to>
                                    </p:set>
                                    <p:animEffect transition="in" filter="wipe(left)">
                                      <p:cBhvr>
                                        <p:cTn id="28" dur="500"/>
                                        <p:tgtEl>
                                          <p:spTgt spid="7567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56781"/>
                                        </p:tgtEl>
                                        <p:attrNameLst>
                                          <p:attrName>style.visibility</p:attrName>
                                        </p:attrNameLst>
                                      </p:cBhvr>
                                      <p:to>
                                        <p:strVal val="visible"/>
                                      </p:to>
                                    </p:set>
                                    <p:animEffect transition="in" filter="wipe(left)">
                                      <p:cBhvr>
                                        <p:cTn id="33" dur="500"/>
                                        <p:tgtEl>
                                          <p:spTgt spid="756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8" grpId="0" autoUpdateAnimBg="0"/>
      <p:bldP spid="756739" grpId="0" autoUpdateAnimBg="0"/>
      <p:bldP spid="75678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Text Box 2"/>
          <p:cNvSpPr txBox="1">
            <a:spLocks noChangeArrowheads="1"/>
          </p:cNvSpPr>
          <p:nvPr/>
        </p:nvSpPr>
        <p:spPr bwMode="auto">
          <a:xfrm>
            <a:off x="727075" y="631825"/>
            <a:ext cx="19175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400" b="1" dirty="0">
                <a:latin typeface="Times New Roman" panose="02020603050405020304" pitchFamily="18" charset="0"/>
              </a:rPr>
              <a:t> </a:t>
            </a:r>
            <a:r>
              <a:rPr kumimoji="1" lang="en-US" altLang="zh-CN" sz="2400" b="1" dirty="0" smtClean="0">
                <a:latin typeface="Times New Roman" panose="02020603050405020304" pitchFamily="18" charset="0"/>
              </a:rPr>
              <a:t>(c) </a:t>
            </a:r>
            <a:r>
              <a:rPr kumimoji="1" lang="zh-CN" altLang="en-US" sz="2400" b="1" dirty="0" smtClean="0">
                <a:latin typeface="Times New Roman" panose="02020603050405020304" pitchFamily="18" charset="0"/>
              </a:rPr>
              <a:t>电气隔离</a:t>
            </a:r>
            <a:endParaRPr kumimoji="1" lang="zh-CN" altLang="en-US" sz="2400" b="1" dirty="0">
              <a:latin typeface="Times New Roman" panose="02020603050405020304" pitchFamily="18" charset="0"/>
            </a:endParaRPr>
          </a:p>
        </p:txBody>
      </p:sp>
      <p:sp>
        <p:nvSpPr>
          <p:cNvPr id="756739" name="Text Box 3"/>
          <p:cNvSpPr txBox="1">
            <a:spLocks noChangeArrowheads="1"/>
          </p:cNvSpPr>
          <p:nvPr/>
        </p:nvSpPr>
        <p:spPr bwMode="auto">
          <a:xfrm>
            <a:off x="1277938" y="1127125"/>
            <a:ext cx="7694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b="1" dirty="0" smtClean="0"/>
              <a:t>一次绕组、二次绕组的匝数比为</a:t>
            </a:r>
            <a:r>
              <a:rPr lang="en-US" altLang="zh-CN" b="1" dirty="0" smtClean="0"/>
              <a:t>1</a:t>
            </a:r>
            <a:r>
              <a:rPr lang="zh-CN" altLang="en-US" b="1" dirty="0" smtClean="0"/>
              <a:t>，称为</a:t>
            </a:r>
            <a:r>
              <a:rPr lang="zh-CN" altLang="en-US" b="1" dirty="0" smtClean="0">
                <a:solidFill>
                  <a:schemeClr val="accent2"/>
                </a:solidFill>
              </a:rPr>
              <a:t>隔离变压器</a:t>
            </a:r>
            <a:r>
              <a:rPr kumimoji="1" lang="zh-CN" altLang="en-US" sz="2400" b="1" dirty="0" smtClean="0">
                <a:latin typeface="Times New Roman" panose="02020603050405020304" pitchFamily="18" charset="0"/>
              </a:rPr>
              <a:t>。</a:t>
            </a:r>
            <a:endParaRPr kumimoji="1" lang="zh-CN" altLang="en-US" sz="2400" b="1" dirty="0">
              <a:latin typeface="Times New Roman" panose="02020603050405020304" pitchFamily="18" charset="0"/>
            </a:endParaRPr>
          </a:p>
        </p:txBody>
      </p:sp>
      <p:grpSp>
        <p:nvGrpSpPr>
          <p:cNvPr id="756744" name="Group 8"/>
          <p:cNvGrpSpPr>
            <a:grpSpLocks/>
          </p:cNvGrpSpPr>
          <p:nvPr/>
        </p:nvGrpSpPr>
        <p:grpSpPr bwMode="auto">
          <a:xfrm>
            <a:off x="1361282" y="1595437"/>
            <a:ext cx="3763962" cy="2062163"/>
            <a:chOff x="2701" y="988"/>
            <a:chExt cx="2371" cy="1299"/>
          </a:xfrm>
        </p:grpSpPr>
        <p:sp>
          <p:nvSpPr>
            <p:cNvPr id="756745" name="Line 9"/>
            <p:cNvSpPr>
              <a:spLocks noChangeShapeType="1"/>
            </p:cNvSpPr>
            <p:nvPr/>
          </p:nvSpPr>
          <p:spPr bwMode="auto">
            <a:xfrm flipH="1">
              <a:off x="3634" y="1970"/>
              <a:ext cx="0"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6" name="Line 10"/>
            <p:cNvSpPr>
              <a:spLocks noChangeShapeType="1"/>
            </p:cNvSpPr>
            <p:nvPr/>
          </p:nvSpPr>
          <p:spPr bwMode="auto">
            <a:xfrm>
              <a:off x="3634" y="1382"/>
              <a:ext cx="0"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7" name="Line 11"/>
            <p:cNvSpPr>
              <a:spLocks noChangeShapeType="1"/>
            </p:cNvSpPr>
            <p:nvPr/>
          </p:nvSpPr>
          <p:spPr bwMode="auto">
            <a:xfrm flipH="1">
              <a:off x="4060" y="1981"/>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8" name="Line 12"/>
            <p:cNvSpPr>
              <a:spLocks noChangeShapeType="1"/>
            </p:cNvSpPr>
            <p:nvPr/>
          </p:nvSpPr>
          <p:spPr bwMode="auto">
            <a:xfrm>
              <a:off x="4062" y="1377"/>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49" name="Line 13"/>
            <p:cNvSpPr>
              <a:spLocks noChangeShapeType="1"/>
            </p:cNvSpPr>
            <p:nvPr/>
          </p:nvSpPr>
          <p:spPr bwMode="auto">
            <a:xfrm>
              <a:off x="3028" y="1383"/>
              <a:ext cx="608"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0" name="Line 14"/>
            <p:cNvSpPr>
              <a:spLocks noChangeShapeType="1"/>
            </p:cNvSpPr>
            <p:nvPr/>
          </p:nvSpPr>
          <p:spPr bwMode="auto">
            <a:xfrm>
              <a:off x="4062" y="2183"/>
              <a:ext cx="632" cy="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1" name="Line 15"/>
            <p:cNvSpPr>
              <a:spLocks noChangeShapeType="1"/>
            </p:cNvSpPr>
            <p:nvPr/>
          </p:nvSpPr>
          <p:spPr bwMode="auto">
            <a:xfrm rot="5400000">
              <a:off x="4489" y="1180"/>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2" name="Text Box 16"/>
            <p:cNvSpPr txBox="1">
              <a:spLocks noChangeArrowheads="1"/>
            </p:cNvSpPr>
            <p:nvPr/>
          </p:nvSpPr>
          <p:spPr bwMode="auto">
            <a:xfrm>
              <a:off x="3632" y="140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3" name="Text Box 17"/>
            <p:cNvSpPr txBox="1">
              <a:spLocks noChangeArrowheads="1"/>
            </p:cNvSpPr>
            <p:nvPr/>
          </p:nvSpPr>
          <p:spPr bwMode="auto">
            <a:xfrm>
              <a:off x="3877" y="1396"/>
              <a:ext cx="1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kumimoji="1" lang="en-US" altLang="zh-CN" sz="2000" b="1">
                  <a:solidFill>
                    <a:srgbClr val="FF3300"/>
                  </a:solidFill>
                  <a:latin typeface="Times New Roman" panose="02020603050405020304" pitchFamily="18" charset="0"/>
                </a:rPr>
                <a:t>*</a:t>
              </a:r>
            </a:p>
          </p:txBody>
        </p:sp>
        <p:sp>
          <p:nvSpPr>
            <p:cNvPr id="756754" name="Line 18"/>
            <p:cNvSpPr>
              <a:spLocks noChangeShapeType="1"/>
            </p:cNvSpPr>
            <p:nvPr/>
          </p:nvSpPr>
          <p:spPr bwMode="auto">
            <a:xfrm>
              <a:off x="3013" y="1308"/>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6755" name="Group 19"/>
            <p:cNvGrpSpPr>
              <a:grpSpLocks/>
            </p:cNvGrpSpPr>
            <p:nvPr/>
          </p:nvGrpSpPr>
          <p:grpSpPr bwMode="auto">
            <a:xfrm rot="16200000" flipH="1">
              <a:off x="3854" y="1771"/>
              <a:ext cx="370" cy="53"/>
              <a:chOff x="1200" y="1584"/>
              <a:chExt cx="379" cy="45"/>
            </a:xfrm>
          </p:grpSpPr>
          <p:sp>
            <p:nvSpPr>
              <p:cNvPr id="756756" name="Arc 20"/>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7" name="Arc 21"/>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8" name="Arc 22"/>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59" name="Arc 23"/>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60" name="Oval 24"/>
            <p:cNvSpPr>
              <a:spLocks noChangeArrowheads="1"/>
            </p:cNvSpPr>
            <p:nvPr/>
          </p:nvSpPr>
          <p:spPr bwMode="auto">
            <a:xfrm>
              <a:off x="2976" y="1362"/>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1" name="Line 25"/>
            <p:cNvSpPr>
              <a:spLocks noChangeShapeType="1"/>
            </p:cNvSpPr>
            <p:nvPr/>
          </p:nvSpPr>
          <p:spPr bwMode="auto">
            <a:xfrm>
              <a:off x="4060" y="1377"/>
              <a:ext cx="634"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2" name="Line 26"/>
            <p:cNvSpPr>
              <a:spLocks noChangeShapeType="1"/>
            </p:cNvSpPr>
            <p:nvPr/>
          </p:nvSpPr>
          <p:spPr bwMode="auto">
            <a:xfrm flipH="1">
              <a:off x="3022" y="2175"/>
              <a:ext cx="60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3" name="Oval 27"/>
            <p:cNvSpPr>
              <a:spLocks noChangeArrowheads="1"/>
            </p:cNvSpPr>
            <p:nvPr/>
          </p:nvSpPr>
          <p:spPr bwMode="auto">
            <a:xfrm flipH="1">
              <a:off x="2974" y="2149"/>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4" name="Text Box 28"/>
            <p:cNvSpPr txBox="1">
              <a:spLocks noChangeArrowheads="1"/>
            </p:cNvSpPr>
            <p:nvPr/>
          </p:nvSpPr>
          <p:spPr bwMode="auto">
            <a:xfrm>
              <a:off x="2713" y="1276"/>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65" name="Text Box 29"/>
            <p:cNvSpPr txBox="1">
              <a:spLocks noChangeArrowheads="1"/>
            </p:cNvSpPr>
            <p:nvPr/>
          </p:nvSpPr>
          <p:spPr bwMode="auto">
            <a:xfrm>
              <a:off x="2741" y="2037"/>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grpSp>
          <p:nvGrpSpPr>
            <p:cNvPr id="756766" name="Group 30"/>
            <p:cNvGrpSpPr>
              <a:grpSpLocks/>
            </p:cNvGrpSpPr>
            <p:nvPr/>
          </p:nvGrpSpPr>
          <p:grpSpPr bwMode="auto">
            <a:xfrm rot="5400000">
              <a:off x="3475" y="1752"/>
              <a:ext cx="370" cy="53"/>
              <a:chOff x="1200" y="1584"/>
              <a:chExt cx="379" cy="45"/>
            </a:xfrm>
          </p:grpSpPr>
          <p:sp>
            <p:nvSpPr>
              <p:cNvPr id="756767" name="Arc 31"/>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8" name="Arc 32"/>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69" name="Arc 33"/>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0" name="Arc 34"/>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771" name="Text Box 35"/>
            <p:cNvSpPr txBox="1">
              <a:spLocks noChangeArrowheads="1"/>
            </p:cNvSpPr>
            <p:nvPr/>
          </p:nvSpPr>
          <p:spPr bwMode="auto">
            <a:xfrm>
              <a:off x="3630" y="1051"/>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dirty="0"/>
                <a:t>1 </a:t>
              </a:r>
              <a:r>
                <a:rPr kumimoji="1" lang="en-US" altLang="zh-CN" sz="2400" b="1" dirty="0">
                  <a:latin typeface="Times New Roman" panose="02020603050405020304" pitchFamily="18" charset="0"/>
                </a:rPr>
                <a:t>: 1</a:t>
              </a:r>
            </a:p>
          </p:txBody>
        </p:sp>
        <p:sp>
          <p:nvSpPr>
            <p:cNvPr id="756772" name="Text Box 36"/>
            <p:cNvSpPr txBox="1">
              <a:spLocks noChangeArrowheads="1"/>
            </p:cNvSpPr>
            <p:nvPr/>
          </p:nvSpPr>
          <p:spPr bwMode="auto">
            <a:xfrm>
              <a:off x="2701" y="1633"/>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3" name="Text Box 37"/>
            <p:cNvSpPr txBox="1">
              <a:spLocks noChangeArrowheads="1"/>
            </p:cNvSpPr>
            <p:nvPr/>
          </p:nvSpPr>
          <p:spPr bwMode="auto">
            <a:xfrm>
              <a:off x="2970" y="98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756774" name="Text Box 38"/>
            <p:cNvSpPr txBox="1">
              <a:spLocks noChangeArrowheads="1"/>
            </p:cNvSpPr>
            <p:nvPr/>
          </p:nvSpPr>
          <p:spPr bwMode="auto">
            <a:xfrm>
              <a:off x="4361" y="999"/>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756775" name="Oval 39"/>
            <p:cNvSpPr>
              <a:spLocks noChangeArrowheads="1"/>
            </p:cNvSpPr>
            <p:nvPr/>
          </p:nvSpPr>
          <p:spPr bwMode="auto">
            <a:xfrm>
              <a:off x="4694" y="1356"/>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6" name="Oval 40"/>
            <p:cNvSpPr>
              <a:spLocks noChangeArrowheads="1"/>
            </p:cNvSpPr>
            <p:nvPr/>
          </p:nvSpPr>
          <p:spPr bwMode="auto">
            <a:xfrm flipH="1">
              <a:off x="4691" y="2155"/>
              <a:ext cx="45" cy="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77" name="Text Box 41"/>
            <p:cNvSpPr txBox="1">
              <a:spLocks noChangeArrowheads="1"/>
            </p:cNvSpPr>
            <p:nvPr/>
          </p:nvSpPr>
          <p:spPr bwMode="auto">
            <a:xfrm>
              <a:off x="4739" y="1270"/>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8" name="Text Box 42"/>
            <p:cNvSpPr txBox="1">
              <a:spLocks noChangeArrowheads="1"/>
            </p:cNvSpPr>
            <p:nvPr/>
          </p:nvSpPr>
          <p:spPr bwMode="auto">
            <a:xfrm>
              <a:off x="4779" y="2031"/>
              <a:ext cx="2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000" b="1">
                  <a:latin typeface="Times New Roman" panose="02020603050405020304" pitchFamily="18" charset="0"/>
                </a:rPr>
                <a:t>–</a:t>
              </a:r>
            </a:p>
          </p:txBody>
        </p:sp>
        <p:sp>
          <p:nvSpPr>
            <p:cNvPr id="756779" name="Text Box 43"/>
            <p:cNvSpPr txBox="1">
              <a:spLocks noChangeArrowheads="1"/>
            </p:cNvSpPr>
            <p:nvPr/>
          </p:nvSpPr>
          <p:spPr bwMode="auto">
            <a:xfrm>
              <a:off x="4763" y="1621"/>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grpSp>
      <p:sp>
        <p:nvSpPr>
          <p:cNvPr id="756781" name="Text Box 45"/>
          <p:cNvSpPr txBox="1">
            <a:spLocks noChangeArrowheads="1"/>
          </p:cNvSpPr>
          <p:nvPr/>
        </p:nvSpPr>
        <p:spPr bwMode="auto">
          <a:xfrm>
            <a:off x="1010444" y="3938048"/>
            <a:ext cx="7162800"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sz="2400" b="1" dirty="0" smtClean="0">
                <a:latin typeface="Times New Roman" panose="02020603050405020304" pitchFamily="18" charset="0"/>
              </a:rPr>
              <a:t>隔离变压器的作用为对电源回路和负载回路进行电气隔离。</a:t>
            </a:r>
            <a:endParaRPr kumimoji="1" lang="zh-CN" altLang="en-US" sz="2400" b="1"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42816764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56738"/>
                                        </p:tgtEl>
                                        <p:attrNameLst>
                                          <p:attrName>style.visibility</p:attrName>
                                        </p:attrNameLst>
                                      </p:cBhvr>
                                      <p:to>
                                        <p:strVal val="visible"/>
                                      </p:to>
                                    </p:set>
                                    <p:anim calcmode="lin" valueType="num">
                                      <p:cBhvr additive="base">
                                        <p:cTn id="7" dur="500" fill="hold"/>
                                        <p:tgtEl>
                                          <p:spTgt spid="756738"/>
                                        </p:tgtEl>
                                        <p:attrNameLst>
                                          <p:attrName>ppt_x</p:attrName>
                                        </p:attrNameLst>
                                      </p:cBhvr>
                                      <p:tavLst>
                                        <p:tav tm="0">
                                          <p:val>
                                            <p:strVal val="#ppt_x"/>
                                          </p:val>
                                        </p:tav>
                                        <p:tav tm="100000">
                                          <p:val>
                                            <p:strVal val="#ppt_x"/>
                                          </p:val>
                                        </p:tav>
                                      </p:tavLst>
                                    </p:anim>
                                    <p:anim calcmode="lin" valueType="num">
                                      <p:cBhvr additive="base">
                                        <p:cTn id="8" dur="500" fill="hold"/>
                                        <p:tgtEl>
                                          <p:spTgt spid="75673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56739"/>
                                        </p:tgtEl>
                                        <p:attrNameLst>
                                          <p:attrName>style.visibility</p:attrName>
                                        </p:attrNameLst>
                                      </p:cBhvr>
                                      <p:to>
                                        <p:strVal val="visible"/>
                                      </p:to>
                                    </p:set>
                                    <p:animEffect transition="in" filter="wipe(left)">
                                      <p:cBhvr>
                                        <p:cTn id="13" dur="500"/>
                                        <p:tgtEl>
                                          <p:spTgt spid="7567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nodeType="clickEffect">
                                  <p:stCondLst>
                                    <p:cond delay="0"/>
                                  </p:stCondLst>
                                  <p:childTnLst>
                                    <p:set>
                                      <p:cBhvr>
                                        <p:cTn id="17" dur="1" fill="hold">
                                          <p:stCondLst>
                                            <p:cond delay="0"/>
                                          </p:stCondLst>
                                        </p:cTn>
                                        <p:tgtEl>
                                          <p:spTgt spid="756744"/>
                                        </p:tgtEl>
                                        <p:attrNameLst>
                                          <p:attrName>style.visibility</p:attrName>
                                        </p:attrNameLst>
                                      </p:cBhvr>
                                      <p:to>
                                        <p:strVal val="visible"/>
                                      </p:to>
                                    </p:set>
                                    <p:animEffect transition="in" filter="strips(downRight)">
                                      <p:cBhvr>
                                        <p:cTn id="18" dur="500"/>
                                        <p:tgtEl>
                                          <p:spTgt spid="75674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56781"/>
                                        </p:tgtEl>
                                        <p:attrNameLst>
                                          <p:attrName>style.visibility</p:attrName>
                                        </p:attrNameLst>
                                      </p:cBhvr>
                                      <p:to>
                                        <p:strVal val="visible"/>
                                      </p:to>
                                    </p:set>
                                    <p:animEffect transition="in" filter="wipe(left)">
                                      <p:cBhvr>
                                        <p:cTn id="23" dur="500"/>
                                        <p:tgtEl>
                                          <p:spTgt spid="756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8" grpId="0" autoUpdateAnimBg="0"/>
      <p:bldP spid="756739" grpId="0" autoUpdateAnimBg="0"/>
      <p:bldP spid="756781"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367" name="Object 7"/>
          <p:cNvGraphicFramePr>
            <a:graphicFrameLocks noChangeAspect="1"/>
          </p:cNvGraphicFramePr>
          <p:nvPr>
            <p:extLst>
              <p:ext uri="{D42A27DB-BD31-4B8C-83A1-F6EECF244321}">
                <p14:modId xmlns:p14="http://schemas.microsoft.com/office/powerpoint/2010/main" val="514040945"/>
              </p:ext>
            </p:extLst>
          </p:nvPr>
        </p:nvGraphicFramePr>
        <p:xfrm>
          <a:off x="488908" y="3521678"/>
          <a:ext cx="1192212" cy="912813"/>
        </p:xfrm>
        <a:graphic>
          <a:graphicData uri="http://schemas.openxmlformats.org/presentationml/2006/ole">
            <mc:AlternateContent xmlns:mc="http://schemas.openxmlformats.org/markup-compatibility/2006">
              <mc:Choice xmlns:v="urn:schemas-microsoft-com:vml" Requires="v">
                <p:oleObj spid="_x0000_s120894" name="Equation" r:id="rId3" imgW="596900" imgH="457200" progId="Equation.3">
                  <p:embed/>
                </p:oleObj>
              </mc:Choice>
              <mc:Fallback>
                <p:oleObj name="Equation" r:id="rId3" imgW="596900" imgH="457200" progId="Equation.3">
                  <p:embed/>
                  <p:pic>
                    <p:nvPicPr>
                      <p:cNvPr id="27136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908" y="3521678"/>
                        <a:ext cx="1192212"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68" name="Rectangle 8"/>
          <p:cNvSpPr>
            <a:spLocks noChangeArrowheads="1"/>
          </p:cNvSpPr>
          <p:nvPr/>
        </p:nvSpPr>
        <p:spPr bwMode="auto">
          <a:xfrm>
            <a:off x="307975" y="252413"/>
            <a:ext cx="523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en-US" altLang="zh-CN" dirty="0" smtClean="0">
                <a:solidFill>
                  <a:srgbClr val="FF0000"/>
                </a:solidFill>
                <a:effectLst>
                  <a:outerShdw blurRad="38100" dist="38100" dir="2700000" algn="tl">
                    <a:srgbClr val="C0C0C0"/>
                  </a:outerShdw>
                </a:effectLst>
                <a:ea typeface="隶书" panose="02010509060101010101" pitchFamily="49" charset="-122"/>
              </a:rPr>
              <a:t>5. Ideal autotransformers</a:t>
            </a:r>
            <a:r>
              <a:rPr lang="zh-CN" altLang="en-US" dirty="0" smtClean="0">
                <a:solidFill>
                  <a:srgbClr val="FF0000"/>
                </a:solidFill>
                <a:effectLst>
                  <a:outerShdw blurRad="38100" dist="38100" dir="2700000" algn="tl">
                    <a:srgbClr val="C0C0C0"/>
                  </a:outerShdw>
                </a:effectLst>
                <a:ea typeface="隶书" panose="02010509060101010101" pitchFamily="49" charset="-122"/>
              </a:rPr>
              <a:t>　自耦变压器 </a:t>
            </a:r>
          </a:p>
        </p:txBody>
      </p:sp>
      <p:graphicFrame>
        <p:nvGraphicFramePr>
          <p:cNvPr id="271369" name="Object 9"/>
          <p:cNvGraphicFramePr>
            <a:graphicFrameLocks noChangeAspect="1"/>
          </p:cNvGraphicFramePr>
          <p:nvPr>
            <p:extLst>
              <p:ext uri="{D42A27DB-BD31-4B8C-83A1-F6EECF244321}">
                <p14:modId xmlns:p14="http://schemas.microsoft.com/office/powerpoint/2010/main" val="396630614"/>
              </p:ext>
            </p:extLst>
          </p:nvPr>
        </p:nvGraphicFramePr>
        <p:xfrm>
          <a:off x="5887995" y="2689828"/>
          <a:ext cx="2952750" cy="3733800"/>
        </p:xfrm>
        <a:graphic>
          <a:graphicData uri="http://schemas.openxmlformats.org/presentationml/2006/ole">
            <mc:AlternateContent xmlns:mc="http://schemas.openxmlformats.org/markup-compatibility/2006">
              <mc:Choice xmlns:v="urn:schemas-microsoft-com:vml" Requires="v">
                <p:oleObj spid="_x0000_s120895" name="Visio" r:id="rId5" imgW="1505331" imgH="1896237" progId="Visio.Drawing.11">
                  <p:embed/>
                </p:oleObj>
              </mc:Choice>
              <mc:Fallback>
                <p:oleObj name="Visio" r:id="rId5" imgW="1505331" imgH="1896237" progId="Visio.Drawing.11">
                  <p:embed/>
                  <p:pic>
                    <p:nvPicPr>
                      <p:cNvPr id="27136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7995" y="2689828"/>
                        <a:ext cx="29527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70" name="Object 10"/>
          <p:cNvGraphicFramePr>
            <a:graphicFrameLocks noChangeAspect="1"/>
          </p:cNvGraphicFramePr>
          <p:nvPr>
            <p:extLst>
              <p:ext uri="{D42A27DB-BD31-4B8C-83A1-F6EECF244321}">
                <p14:modId xmlns:p14="http://schemas.microsoft.com/office/powerpoint/2010/main" val="2635413952"/>
              </p:ext>
            </p:extLst>
          </p:nvPr>
        </p:nvGraphicFramePr>
        <p:xfrm>
          <a:off x="2863808" y="3505803"/>
          <a:ext cx="1800225" cy="912813"/>
        </p:xfrm>
        <a:graphic>
          <a:graphicData uri="http://schemas.openxmlformats.org/presentationml/2006/ole">
            <mc:AlternateContent xmlns:mc="http://schemas.openxmlformats.org/markup-compatibility/2006">
              <mc:Choice xmlns:v="urn:schemas-microsoft-com:vml" Requires="v">
                <p:oleObj spid="_x0000_s120896" name="Equation" r:id="rId7" imgW="901700" imgH="457200" progId="Equation.3">
                  <p:embed/>
                </p:oleObj>
              </mc:Choice>
              <mc:Fallback>
                <p:oleObj name="Equation" r:id="rId7" imgW="901700" imgH="457200" progId="Equation.3">
                  <p:embed/>
                  <p:pic>
                    <p:nvPicPr>
                      <p:cNvPr id="27137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3808" y="3505803"/>
                        <a:ext cx="180022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75" name="Object 15"/>
          <p:cNvGraphicFramePr>
            <a:graphicFrameLocks noChangeAspect="1"/>
          </p:cNvGraphicFramePr>
          <p:nvPr>
            <p:extLst>
              <p:ext uri="{D42A27DB-BD31-4B8C-83A1-F6EECF244321}">
                <p14:modId xmlns:p14="http://schemas.microsoft.com/office/powerpoint/2010/main" val="4217863734"/>
              </p:ext>
            </p:extLst>
          </p:nvPr>
        </p:nvGraphicFramePr>
        <p:xfrm>
          <a:off x="2552658" y="4705953"/>
          <a:ext cx="2687637" cy="912813"/>
        </p:xfrm>
        <a:graphic>
          <a:graphicData uri="http://schemas.openxmlformats.org/presentationml/2006/ole">
            <mc:AlternateContent xmlns:mc="http://schemas.openxmlformats.org/markup-compatibility/2006">
              <mc:Choice xmlns:v="urn:schemas-microsoft-com:vml" Requires="v">
                <p:oleObj spid="_x0000_s120897" name="Equation" r:id="rId9" imgW="1346200" imgH="457200" progId="Equation.DSMT4">
                  <p:embed/>
                </p:oleObj>
              </mc:Choice>
              <mc:Fallback>
                <p:oleObj name="Equation" r:id="rId9" imgW="1346200" imgH="457200" progId="Equation.DSMT4">
                  <p:embed/>
                  <p:pic>
                    <p:nvPicPr>
                      <p:cNvPr id="271375"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2658" y="4705953"/>
                        <a:ext cx="2687637"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76" name="Object 16"/>
          <p:cNvGraphicFramePr>
            <a:graphicFrameLocks noChangeAspect="1"/>
          </p:cNvGraphicFramePr>
          <p:nvPr>
            <p:extLst>
              <p:ext uri="{D42A27DB-BD31-4B8C-83A1-F6EECF244321}">
                <p14:modId xmlns:p14="http://schemas.microsoft.com/office/powerpoint/2010/main" val="523316435"/>
              </p:ext>
            </p:extLst>
          </p:nvPr>
        </p:nvGraphicFramePr>
        <p:xfrm>
          <a:off x="488908" y="4634516"/>
          <a:ext cx="1268412" cy="912812"/>
        </p:xfrm>
        <a:graphic>
          <a:graphicData uri="http://schemas.openxmlformats.org/presentationml/2006/ole">
            <mc:AlternateContent xmlns:mc="http://schemas.openxmlformats.org/markup-compatibility/2006">
              <mc:Choice xmlns:v="urn:schemas-microsoft-com:vml" Requires="v">
                <p:oleObj spid="_x0000_s120898" name="Equation" r:id="rId11" imgW="634725" imgH="457002" progId="Equation.DSMT4">
                  <p:embed/>
                </p:oleObj>
              </mc:Choice>
              <mc:Fallback>
                <p:oleObj name="Equation" r:id="rId11" imgW="634725" imgH="457002" progId="Equation.DSMT4">
                  <p:embed/>
                  <p:pic>
                    <p:nvPicPr>
                      <p:cNvPr id="271376"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8908" y="4634516"/>
                        <a:ext cx="1268412"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78" name="AutoShape 18"/>
          <p:cNvSpPr>
            <a:spLocks noChangeArrowheads="1"/>
          </p:cNvSpPr>
          <p:nvPr/>
        </p:nvSpPr>
        <p:spPr bwMode="auto">
          <a:xfrm>
            <a:off x="1784308" y="3913791"/>
            <a:ext cx="719137" cy="142875"/>
          </a:xfrm>
          <a:prstGeom prst="rightArrow">
            <a:avLst>
              <a:gd name="adj1" fmla="val 50000"/>
              <a:gd name="adj2" fmla="val 12583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ea typeface="隶书" panose="02010509060101010101" pitchFamily="49" charset="-122"/>
            </a:endParaRPr>
          </a:p>
        </p:txBody>
      </p:sp>
      <p:sp>
        <p:nvSpPr>
          <p:cNvPr id="271379" name="AutoShape 19"/>
          <p:cNvSpPr>
            <a:spLocks noChangeArrowheads="1"/>
          </p:cNvSpPr>
          <p:nvPr/>
        </p:nvSpPr>
        <p:spPr bwMode="auto">
          <a:xfrm>
            <a:off x="1784308" y="5066316"/>
            <a:ext cx="719137" cy="142875"/>
          </a:xfrm>
          <a:prstGeom prst="rightArrow">
            <a:avLst>
              <a:gd name="adj1" fmla="val 50000"/>
              <a:gd name="adj2" fmla="val 12583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spcBef>
                <a:spcPct val="50000"/>
              </a:spcBef>
              <a:buFontTx/>
              <a:buNone/>
            </a:pPr>
            <a:endParaRPr lang="zh-CN" altLang="en-US" sz="1800">
              <a:ea typeface="隶书" panose="02010509060101010101" pitchFamily="49" charset="-122"/>
            </a:endParaRPr>
          </a:p>
        </p:txBody>
      </p:sp>
      <p:sp>
        <p:nvSpPr>
          <p:cNvPr id="14" name="Text Box 45"/>
          <p:cNvSpPr txBox="1">
            <a:spLocks noChangeArrowheads="1"/>
          </p:cNvSpPr>
          <p:nvPr/>
        </p:nvSpPr>
        <p:spPr bwMode="auto">
          <a:xfrm>
            <a:off x="409081" y="780483"/>
            <a:ext cx="8487783" cy="186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kumimoji="1" lang="zh-CN" altLang="en-US" sz="2400" b="1" dirty="0" smtClean="0">
                <a:latin typeface="Times New Roman" panose="02020603050405020304" pitchFamily="18" charset="0"/>
              </a:rPr>
              <a:t>单相变压器闭合铁心上的两个线圈在电气上是不相连的，而</a:t>
            </a:r>
            <a:r>
              <a:rPr kumimoji="1" lang="zh-CN" altLang="en-US" sz="2400" b="1" dirty="0" smtClean="0">
                <a:solidFill>
                  <a:srgbClr val="FF0000"/>
                </a:solidFill>
                <a:latin typeface="Times New Roman" panose="02020603050405020304" pitchFamily="18" charset="0"/>
              </a:rPr>
              <a:t>自耦变压器</a:t>
            </a:r>
            <a:r>
              <a:rPr kumimoji="1" lang="zh-CN" altLang="en-US" sz="2400" b="1" dirty="0" smtClean="0">
                <a:latin typeface="Times New Roman" panose="02020603050405020304" pitchFamily="18" charset="0"/>
              </a:rPr>
              <a:t>是闭合铁心上只有一个线圈，从线圈中间接出一个抽头，线圈的一部分为一次绕组（或二次绕组），线圈的全部为二次绕组（或一次绕组）。</a:t>
            </a:r>
            <a:endParaRPr kumimoji="1" lang="zh-CN" altLang="en-US" sz="2400" b="1"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943733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368"/>
                                        </p:tgtEl>
                                        <p:attrNameLst>
                                          <p:attrName>style.visibility</p:attrName>
                                        </p:attrNameLst>
                                      </p:cBhvr>
                                      <p:to>
                                        <p:strVal val="visible"/>
                                      </p:to>
                                    </p:set>
                                    <p:animEffect transition="in" filter="blinds(horizontal)">
                                      <p:cBhvr>
                                        <p:cTn id="7" dur="500"/>
                                        <p:tgtEl>
                                          <p:spTgt spid="2713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71369"/>
                                        </p:tgtEl>
                                        <p:attrNameLst>
                                          <p:attrName>style.visibility</p:attrName>
                                        </p:attrNameLst>
                                      </p:cBhvr>
                                      <p:to>
                                        <p:strVal val="visible"/>
                                      </p:to>
                                    </p:set>
                                    <p:animEffect transition="in" filter="blinds(horizontal)">
                                      <p:cBhvr>
                                        <p:cTn id="12" dur="500"/>
                                        <p:tgtEl>
                                          <p:spTgt spid="2713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71367"/>
                                        </p:tgtEl>
                                        <p:attrNameLst>
                                          <p:attrName>style.visibility</p:attrName>
                                        </p:attrNameLst>
                                      </p:cBhvr>
                                      <p:to>
                                        <p:strVal val="visible"/>
                                      </p:to>
                                    </p:set>
                                    <p:animEffect transition="in" filter="blinds(horizontal)">
                                      <p:cBhvr>
                                        <p:cTn id="17" dur="500"/>
                                        <p:tgtEl>
                                          <p:spTgt spid="271367"/>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71378"/>
                                        </p:tgtEl>
                                        <p:attrNameLst>
                                          <p:attrName>style.visibility</p:attrName>
                                        </p:attrNameLst>
                                      </p:cBhvr>
                                      <p:to>
                                        <p:strVal val="visible"/>
                                      </p:to>
                                    </p:set>
                                    <p:animEffect transition="in" filter="wipe(left)">
                                      <p:cBhvr>
                                        <p:cTn id="21" dur="1000"/>
                                        <p:tgtEl>
                                          <p:spTgt spid="27137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71370"/>
                                        </p:tgtEl>
                                        <p:attrNameLst>
                                          <p:attrName>style.visibility</p:attrName>
                                        </p:attrNameLst>
                                      </p:cBhvr>
                                      <p:to>
                                        <p:strVal val="visible"/>
                                      </p:to>
                                    </p:set>
                                    <p:animEffect transition="in" filter="blinds(horizontal)">
                                      <p:cBhvr>
                                        <p:cTn id="26" dur="1000"/>
                                        <p:tgtEl>
                                          <p:spTgt spid="2713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71376"/>
                                        </p:tgtEl>
                                        <p:attrNameLst>
                                          <p:attrName>style.visibility</p:attrName>
                                        </p:attrNameLst>
                                      </p:cBhvr>
                                      <p:to>
                                        <p:strVal val="visible"/>
                                      </p:to>
                                    </p:set>
                                    <p:animEffect transition="in" filter="blinds(horizontal)">
                                      <p:cBhvr>
                                        <p:cTn id="31" dur="1000"/>
                                        <p:tgtEl>
                                          <p:spTgt spid="27137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71379"/>
                                        </p:tgtEl>
                                        <p:attrNameLst>
                                          <p:attrName>style.visibility</p:attrName>
                                        </p:attrNameLst>
                                      </p:cBhvr>
                                      <p:to>
                                        <p:strVal val="visible"/>
                                      </p:to>
                                    </p:set>
                                    <p:animEffect transition="in" filter="wipe(left)">
                                      <p:cBhvr>
                                        <p:cTn id="34" dur="1000"/>
                                        <p:tgtEl>
                                          <p:spTgt spid="27137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271375"/>
                                        </p:tgtEl>
                                        <p:attrNameLst>
                                          <p:attrName>style.visibility</p:attrName>
                                        </p:attrNameLst>
                                      </p:cBhvr>
                                      <p:to>
                                        <p:strVal val="visible"/>
                                      </p:to>
                                    </p:set>
                                    <p:animEffect transition="in" filter="blinds(horizontal)">
                                      <p:cBhvr>
                                        <p:cTn id="39" dur="1000"/>
                                        <p:tgtEl>
                                          <p:spTgt spid="27137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8" grpId="0" autoUpdateAnimBg="0"/>
      <p:bldP spid="271378" grpId="0" animBg="1"/>
      <p:bldP spid="271379" grpId="0" animBg="1"/>
      <p:bldP spid="14"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476250" y="533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例</a:t>
            </a:r>
            <a:r>
              <a:rPr lang="en-US" altLang="zh-CN" b="1">
                <a:solidFill>
                  <a:srgbClr val="FF3300"/>
                </a:solidFill>
              </a:rPr>
              <a:t>1</a:t>
            </a:r>
          </a:p>
        </p:txBody>
      </p:sp>
      <p:sp>
        <p:nvSpPr>
          <p:cNvPr id="73731" name="Text Box 3"/>
          <p:cNvSpPr txBox="1">
            <a:spLocks noChangeArrowheads="1"/>
          </p:cNvSpPr>
          <p:nvPr/>
        </p:nvSpPr>
        <p:spPr bwMode="auto">
          <a:xfrm>
            <a:off x="1314450" y="495300"/>
            <a:ext cx="66675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b="1"/>
              <a:t>已知电源内阻</a:t>
            </a:r>
            <a:r>
              <a:rPr lang="en-US" altLang="zh-CN" b="1" i="1"/>
              <a:t>R</a:t>
            </a:r>
            <a:r>
              <a:rPr lang="en-US" altLang="zh-CN" b="1" baseline="-25000"/>
              <a:t>S</a:t>
            </a:r>
            <a:r>
              <a:rPr lang="en-US" altLang="zh-CN" b="1"/>
              <a:t>=1k</a:t>
            </a:r>
            <a:r>
              <a:rPr lang="en-US" altLang="zh-CN" b="1">
                <a:sym typeface="Symbol" panose="05050102010706020507" pitchFamily="18" charset="2"/>
              </a:rPr>
              <a:t></a:t>
            </a:r>
            <a:r>
              <a:rPr lang="zh-CN" altLang="en-US" b="1">
                <a:sym typeface="Symbol" panose="05050102010706020507" pitchFamily="18" charset="2"/>
              </a:rPr>
              <a:t>，负载电阻</a:t>
            </a:r>
            <a:r>
              <a:rPr lang="en-US" altLang="zh-CN" b="1" i="1"/>
              <a:t>R</a:t>
            </a:r>
            <a:r>
              <a:rPr lang="en-US" altLang="zh-CN" b="1" baseline="-25000"/>
              <a:t>L</a:t>
            </a:r>
            <a:r>
              <a:rPr lang="en-US" altLang="zh-CN" b="1"/>
              <a:t>=10</a:t>
            </a:r>
            <a:r>
              <a:rPr lang="en-US" altLang="zh-CN" b="1">
                <a:sym typeface="Symbol" panose="05050102010706020507" pitchFamily="18" charset="2"/>
              </a:rPr>
              <a:t></a:t>
            </a:r>
            <a:r>
              <a:rPr lang="zh-CN" altLang="en-US" b="1">
                <a:sym typeface="Symbol" panose="05050102010706020507" pitchFamily="18" charset="2"/>
              </a:rPr>
              <a:t>。为使</a:t>
            </a:r>
            <a:r>
              <a:rPr lang="en-US" altLang="zh-CN" b="1" i="1">
                <a:sym typeface="Symbol" panose="05050102010706020507" pitchFamily="18" charset="2"/>
              </a:rPr>
              <a:t>R</a:t>
            </a:r>
            <a:r>
              <a:rPr lang="en-US" altLang="zh-CN" b="1" baseline="-25000">
                <a:sym typeface="Symbol" panose="05050102010706020507" pitchFamily="18" charset="2"/>
              </a:rPr>
              <a:t>L</a:t>
            </a:r>
            <a:r>
              <a:rPr lang="zh-CN" altLang="en-US" b="1">
                <a:sym typeface="Symbol" panose="05050102010706020507" pitchFamily="18" charset="2"/>
              </a:rPr>
              <a:t>上获得最大功率，求理想变压器的变比</a:t>
            </a:r>
            <a:r>
              <a:rPr lang="en-US" altLang="zh-CN" b="1" i="1">
                <a:sym typeface="Symbol" panose="05050102010706020507" pitchFamily="18" charset="2"/>
              </a:rPr>
              <a:t>n</a:t>
            </a:r>
            <a:r>
              <a:rPr lang="zh-CN" altLang="en-US" b="1">
                <a:sym typeface="Symbol" panose="05050102010706020507" pitchFamily="18" charset="2"/>
              </a:rPr>
              <a:t>。</a:t>
            </a:r>
          </a:p>
        </p:txBody>
      </p:sp>
      <p:grpSp>
        <p:nvGrpSpPr>
          <p:cNvPr id="73827" name="Group 99"/>
          <p:cNvGrpSpPr>
            <a:grpSpLocks/>
          </p:cNvGrpSpPr>
          <p:nvPr/>
        </p:nvGrpSpPr>
        <p:grpSpPr bwMode="auto">
          <a:xfrm>
            <a:off x="762000" y="1693863"/>
            <a:ext cx="4181475" cy="1828800"/>
            <a:chOff x="480" y="1067"/>
            <a:chExt cx="2634" cy="1152"/>
          </a:xfrm>
        </p:grpSpPr>
        <p:sp>
          <p:nvSpPr>
            <p:cNvPr id="73776" name="Oval 48"/>
            <p:cNvSpPr>
              <a:spLocks noChangeArrowheads="1"/>
            </p:cNvSpPr>
            <p:nvPr/>
          </p:nvSpPr>
          <p:spPr bwMode="auto">
            <a:xfrm>
              <a:off x="756" y="1684"/>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3" name="Line 5"/>
            <p:cNvSpPr>
              <a:spLocks noChangeShapeType="1"/>
            </p:cNvSpPr>
            <p:nvPr/>
          </p:nvSpPr>
          <p:spPr bwMode="auto">
            <a:xfrm flipH="1">
              <a:off x="1702" y="1990"/>
              <a:ext cx="4" cy="21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4" name="Line 6"/>
            <p:cNvSpPr>
              <a:spLocks noChangeShapeType="1"/>
            </p:cNvSpPr>
            <p:nvPr/>
          </p:nvSpPr>
          <p:spPr bwMode="auto">
            <a:xfrm>
              <a:off x="1704" y="1414"/>
              <a:ext cx="2"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5" name="Line 7"/>
            <p:cNvSpPr>
              <a:spLocks noChangeShapeType="1"/>
            </p:cNvSpPr>
            <p:nvPr/>
          </p:nvSpPr>
          <p:spPr bwMode="auto">
            <a:xfrm flipH="1">
              <a:off x="2036" y="2013"/>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6" name="Line 8"/>
            <p:cNvSpPr>
              <a:spLocks noChangeShapeType="1"/>
            </p:cNvSpPr>
            <p:nvPr/>
          </p:nvSpPr>
          <p:spPr bwMode="auto">
            <a:xfrm>
              <a:off x="2038" y="1409"/>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7" name="Line 9"/>
            <p:cNvSpPr>
              <a:spLocks noChangeShapeType="1"/>
            </p:cNvSpPr>
            <p:nvPr/>
          </p:nvSpPr>
          <p:spPr bwMode="auto">
            <a:xfrm>
              <a:off x="1408" y="1414"/>
              <a:ext cx="29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8" name="Line 10"/>
            <p:cNvSpPr>
              <a:spLocks noChangeShapeType="1"/>
            </p:cNvSpPr>
            <p:nvPr/>
          </p:nvSpPr>
          <p:spPr bwMode="auto">
            <a:xfrm flipV="1">
              <a:off x="2038" y="2207"/>
              <a:ext cx="656" cy="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0" name="Text Box 12"/>
            <p:cNvSpPr txBox="1">
              <a:spLocks noChangeArrowheads="1"/>
            </p:cNvSpPr>
            <p:nvPr/>
          </p:nvSpPr>
          <p:spPr bwMode="auto">
            <a:xfrm>
              <a:off x="1680" y="1403"/>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3741" name="Text Box 13"/>
            <p:cNvSpPr txBox="1">
              <a:spLocks noChangeArrowheads="1"/>
            </p:cNvSpPr>
            <p:nvPr/>
          </p:nvSpPr>
          <p:spPr bwMode="auto">
            <a:xfrm>
              <a:off x="1877" y="1416"/>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grpSp>
          <p:nvGrpSpPr>
            <p:cNvPr id="73743" name="Group 15"/>
            <p:cNvGrpSpPr>
              <a:grpSpLocks/>
            </p:cNvGrpSpPr>
            <p:nvPr/>
          </p:nvGrpSpPr>
          <p:grpSpPr bwMode="auto">
            <a:xfrm rot="16200000" flipH="1">
              <a:off x="1830" y="1803"/>
              <a:ext cx="370" cy="53"/>
              <a:chOff x="1200" y="1584"/>
              <a:chExt cx="379" cy="45"/>
            </a:xfrm>
          </p:grpSpPr>
          <p:sp>
            <p:nvSpPr>
              <p:cNvPr id="73744" name="Arc 16"/>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5" name="Arc 17"/>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6" name="Arc 18"/>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7" name="Arc 19"/>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749" name="Line 21"/>
            <p:cNvSpPr>
              <a:spLocks noChangeShapeType="1"/>
            </p:cNvSpPr>
            <p:nvPr/>
          </p:nvSpPr>
          <p:spPr bwMode="auto">
            <a:xfrm>
              <a:off x="2042" y="1409"/>
              <a:ext cx="6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2" name="Line 24"/>
            <p:cNvSpPr>
              <a:spLocks noChangeShapeType="1"/>
            </p:cNvSpPr>
            <p:nvPr/>
          </p:nvSpPr>
          <p:spPr bwMode="auto">
            <a:xfrm flipH="1">
              <a:off x="888" y="2207"/>
              <a:ext cx="820"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3760" name="Group 32"/>
            <p:cNvGrpSpPr>
              <a:grpSpLocks/>
            </p:cNvGrpSpPr>
            <p:nvPr/>
          </p:nvGrpSpPr>
          <p:grpSpPr bwMode="auto">
            <a:xfrm rot="5400000">
              <a:off x="1547" y="1784"/>
              <a:ext cx="370" cy="53"/>
              <a:chOff x="1200" y="1584"/>
              <a:chExt cx="379" cy="45"/>
            </a:xfrm>
          </p:grpSpPr>
          <p:sp>
            <p:nvSpPr>
              <p:cNvPr id="73761" name="Arc 33"/>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2" name="Arc 34"/>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3" name="Arc 35"/>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4" name="Arc 36"/>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765" name="Text Box 37"/>
            <p:cNvSpPr txBox="1">
              <a:spLocks noChangeArrowheads="1"/>
            </p:cNvSpPr>
            <p:nvPr/>
          </p:nvSpPr>
          <p:spPr bwMode="auto">
            <a:xfrm>
              <a:off x="1660" y="1143"/>
              <a:ext cx="5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n</a:t>
              </a:r>
              <a:r>
                <a:rPr lang="en-US" altLang="zh-CN" b="1"/>
                <a:t> : 1</a:t>
              </a:r>
            </a:p>
          </p:txBody>
        </p:sp>
        <p:sp>
          <p:nvSpPr>
            <p:cNvPr id="73766" name="Rectangle 38"/>
            <p:cNvSpPr>
              <a:spLocks noChangeArrowheads="1"/>
            </p:cNvSpPr>
            <p:nvPr/>
          </p:nvSpPr>
          <p:spPr bwMode="auto">
            <a:xfrm>
              <a:off x="2637" y="1651"/>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7" name="Line 39"/>
            <p:cNvSpPr>
              <a:spLocks noChangeShapeType="1"/>
            </p:cNvSpPr>
            <p:nvPr/>
          </p:nvSpPr>
          <p:spPr bwMode="auto">
            <a:xfrm flipH="1">
              <a:off x="2694" y="1414"/>
              <a:ext cx="0" cy="2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9" name="Text Box 41"/>
            <p:cNvSpPr txBox="1">
              <a:spLocks noChangeArrowheads="1"/>
            </p:cNvSpPr>
            <p:nvPr/>
          </p:nvSpPr>
          <p:spPr bwMode="auto">
            <a:xfrm>
              <a:off x="2729" y="1645"/>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L</a:t>
              </a:r>
              <a:endParaRPr lang="en-US" altLang="zh-CN" b="1" i="1"/>
            </a:p>
          </p:txBody>
        </p:sp>
        <p:sp>
          <p:nvSpPr>
            <p:cNvPr id="73774" name="Line 46"/>
            <p:cNvSpPr>
              <a:spLocks noChangeShapeType="1"/>
            </p:cNvSpPr>
            <p:nvPr/>
          </p:nvSpPr>
          <p:spPr bwMode="auto">
            <a:xfrm>
              <a:off x="2694" y="1931"/>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75" name="Line 47"/>
            <p:cNvSpPr>
              <a:spLocks noChangeShapeType="1"/>
            </p:cNvSpPr>
            <p:nvPr/>
          </p:nvSpPr>
          <p:spPr bwMode="auto">
            <a:xfrm>
              <a:off x="896" y="1409"/>
              <a:ext cx="0" cy="7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77" name="Text Box 49"/>
            <p:cNvSpPr txBox="1">
              <a:spLocks noChangeArrowheads="1"/>
            </p:cNvSpPr>
            <p:nvPr/>
          </p:nvSpPr>
          <p:spPr bwMode="auto">
            <a:xfrm>
              <a:off x="678" y="1434"/>
              <a:ext cx="2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3778" name="Text Box 50"/>
            <p:cNvSpPr txBox="1">
              <a:spLocks noChangeArrowheads="1"/>
            </p:cNvSpPr>
            <p:nvPr/>
          </p:nvSpPr>
          <p:spPr bwMode="auto">
            <a:xfrm>
              <a:off x="678" y="1931"/>
              <a:ext cx="2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sp>
          <p:nvSpPr>
            <p:cNvPr id="73779" name="Text Box 51"/>
            <p:cNvSpPr txBox="1">
              <a:spLocks noChangeArrowheads="1"/>
            </p:cNvSpPr>
            <p:nvPr/>
          </p:nvSpPr>
          <p:spPr bwMode="auto">
            <a:xfrm>
              <a:off x="480" y="1643"/>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S</a:t>
              </a:r>
              <a:endParaRPr lang="en-US" altLang="zh-CN" b="1"/>
            </a:p>
          </p:txBody>
        </p:sp>
        <p:sp>
          <p:nvSpPr>
            <p:cNvPr id="73780" name="Rectangle 52"/>
            <p:cNvSpPr>
              <a:spLocks noChangeArrowheads="1"/>
            </p:cNvSpPr>
            <p:nvPr/>
          </p:nvSpPr>
          <p:spPr bwMode="auto">
            <a:xfrm rot="5400000">
              <a:off x="1221" y="1276"/>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1" name="Line 53"/>
            <p:cNvSpPr>
              <a:spLocks noChangeShapeType="1"/>
            </p:cNvSpPr>
            <p:nvPr/>
          </p:nvSpPr>
          <p:spPr bwMode="auto">
            <a:xfrm>
              <a:off x="896" y="1409"/>
              <a:ext cx="2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2" name="Text Box 54"/>
            <p:cNvSpPr txBox="1">
              <a:spLocks noChangeArrowheads="1"/>
            </p:cNvSpPr>
            <p:nvPr/>
          </p:nvSpPr>
          <p:spPr bwMode="auto">
            <a:xfrm>
              <a:off x="1136" y="1067"/>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S</a:t>
              </a:r>
              <a:endParaRPr lang="en-US" altLang="zh-CN" b="1" i="1"/>
            </a:p>
          </p:txBody>
        </p:sp>
      </p:grpSp>
      <p:sp>
        <p:nvSpPr>
          <p:cNvPr id="73784" name="AutoShape 56"/>
          <p:cNvSpPr>
            <a:spLocks noChangeArrowheads="1"/>
          </p:cNvSpPr>
          <p:nvPr/>
        </p:nvSpPr>
        <p:spPr bwMode="auto">
          <a:xfrm>
            <a:off x="5095875" y="2757488"/>
            <a:ext cx="581025" cy="260350"/>
          </a:xfrm>
          <a:prstGeom prst="rightArrow">
            <a:avLst>
              <a:gd name="adj1" fmla="val 50000"/>
              <a:gd name="adj2" fmla="val 55793"/>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3826" name="Group 98"/>
          <p:cNvGrpSpPr>
            <a:grpSpLocks/>
          </p:cNvGrpSpPr>
          <p:nvPr/>
        </p:nvGrpSpPr>
        <p:grpSpPr bwMode="auto">
          <a:xfrm>
            <a:off x="5753100" y="1712913"/>
            <a:ext cx="3009900" cy="1828800"/>
            <a:chOff x="3624" y="1079"/>
            <a:chExt cx="1896" cy="1152"/>
          </a:xfrm>
        </p:grpSpPr>
        <p:sp>
          <p:nvSpPr>
            <p:cNvPr id="73812" name="Oval 84"/>
            <p:cNvSpPr>
              <a:spLocks noChangeArrowheads="1"/>
            </p:cNvSpPr>
            <p:nvPr/>
          </p:nvSpPr>
          <p:spPr bwMode="auto">
            <a:xfrm>
              <a:off x="3900" y="1696"/>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90" name="Line 62"/>
            <p:cNvSpPr>
              <a:spLocks noChangeShapeType="1"/>
            </p:cNvSpPr>
            <p:nvPr/>
          </p:nvSpPr>
          <p:spPr bwMode="auto">
            <a:xfrm>
              <a:off x="4552" y="1426"/>
              <a:ext cx="3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0" name="Line 72"/>
            <p:cNvSpPr>
              <a:spLocks noChangeShapeType="1"/>
            </p:cNvSpPr>
            <p:nvPr/>
          </p:nvSpPr>
          <p:spPr bwMode="auto">
            <a:xfrm flipH="1">
              <a:off x="4032" y="2219"/>
              <a:ext cx="820"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7" name="Rectangle 79"/>
            <p:cNvSpPr>
              <a:spLocks noChangeArrowheads="1"/>
            </p:cNvSpPr>
            <p:nvPr/>
          </p:nvSpPr>
          <p:spPr bwMode="auto">
            <a:xfrm>
              <a:off x="4801" y="1671"/>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8" name="Line 80"/>
            <p:cNvSpPr>
              <a:spLocks noChangeShapeType="1"/>
            </p:cNvSpPr>
            <p:nvPr/>
          </p:nvSpPr>
          <p:spPr bwMode="auto">
            <a:xfrm flipH="1">
              <a:off x="4858" y="1422"/>
              <a:ext cx="0" cy="24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9" name="Text Box 81"/>
            <p:cNvSpPr txBox="1">
              <a:spLocks noChangeArrowheads="1"/>
            </p:cNvSpPr>
            <p:nvPr/>
          </p:nvSpPr>
          <p:spPr bwMode="auto">
            <a:xfrm>
              <a:off x="4905" y="1665"/>
              <a:ext cx="6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n</a:t>
              </a:r>
              <a:r>
                <a:rPr lang="en-US" altLang="zh-CN" b="1" baseline="30000"/>
                <a:t>2</a:t>
              </a:r>
              <a:r>
                <a:rPr lang="en-US" altLang="zh-CN" b="1" i="1"/>
                <a:t>R</a:t>
              </a:r>
              <a:r>
                <a:rPr lang="en-US" altLang="zh-CN" b="1" baseline="-25000"/>
                <a:t>L</a:t>
              </a:r>
              <a:endParaRPr lang="en-US" altLang="zh-CN" b="1" i="1"/>
            </a:p>
          </p:txBody>
        </p:sp>
        <p:sp>
          <p:nvSpPr>
            <p:cNvPr id="73810" name="Line 82"/>
            <p:cNvSpPr>
              <a:spLocks noChangeShapeType="1"/>
            </p:cNvSpPr>
            <p:nvPr/>
          </p:nvSpPr>
          <p:spPr bwMode="auto">
            <a:xfrm>
              <a:off x="4858" y="1951"/>
              <a:ext cx="0" cy="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11" name="Line 83"/>
            <p:cNvSpPr>
              <a:spLocks noChangeShapeType="1"/>
            </p:cNvSpPr>
            <p:nvPr/>
          </p:nvSpPr>
          <p:spPr bwMode="auto">
            <a:xfrm>
              <a:off x="4040" y="1421"/>
              <a:ext cx="0" cy="7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13" name="Text Box 85"/>
            <p:cNvSpPr txBox="1">
              <a:spLocks noChangeArrowheads="1"/>
            </p:cNvSpPr>
            <p:nvPr/>
          </p:nvSpPr>
          <p:spPr bwMode="auto">
            <a:xfrm>
              <a:off x="3822" y="1446"/>
              <a:ext cx="2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3814" name="Text Box 86"/>
            <p:cNvSpPr txBox="1">
              <a:spLocks noChangeArrowheads="1"/>
            </p:cNvSpPr>
            <p:nvPr/>
          </p:nvSpPr>
          <p:spPr bwMode="auto">
            <a:xfrm>
              <a:off x="3822" y="1943"/>
              <a:ext cx="2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sp>
          <p:nvSpPr>
            <p:cNvPr id="73815" name="Text Box 87"/>
            <p:cNvSpPr txBox="1">
              <a:spLocks noChangeArrowheads="1"/>
            </p:cNvSpPr>
            <p:nvPr/>
          </p:nvSpPr>
          <p:spPr bwMode="auto">
            <a:xfrm>
              <a:off x="3624" y="1655"/>
              <a:ext cx="3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u</a:t>
              </a:r>
              <a:r>
                <a:rPr lang="en-US" altLang="zh-CN" b="1" baseline="-25000"/>
                <a:t>S</a:t>
              </a:r>
              <a:endParaRPr lang="en-US" altLang="zh-CN" b="1"/>
            </a:p>
          </p:txBody>
        </p:sp>
        <p:sp>
          <p:nvSpPr>
            <p:cNvPr id="73816" name="Rectangle 88"/>
            <p:cNvSpPr>
              <a:spLocks noChangeArrowheads="1"/>
            </p:cNvSpPr>
            <p:nvPr/>
          </p:nvSpPr>
          <p:spPr bwMode="auto">
            <a:xfrm rot="5400000">
              <a:off x="4365" y="1288"/>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17" name="Line 89"/>
            <p:cNvSpPr>
              <a:spLocks noChangeShapeType="1"/>
            </p:cNvSpPr>
            <p:nvPr/>
          </p:nvSpPr>
          <p:spPr bwMode="auto">
            <a:xfrm>
              <a:off x="4040" y="1421"/>
              <a:ext cx="2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18" name="Text Box 90"/>
            <p:cNvSpPr txBox="1">
              <a:spLocks noChangeArrowheads="1"/>
            </p:cNvSpPr>
            <p:nvPr/>
          </p:nvSpPr>
          <p:spPr bwMode="auto">
            <a:xfrm>
              <a:off x="4280" y="1079"/>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S</a:t>
              </a:r>
              <a:endParaRPr lang="en-US" altLang="zh-CN" b="1" i="1"/>
            </a:p>
          </p:txBody>
        </p:sp>
      </p:grpSp>
      <p:sp>
        <p:nvSpPr>
          <p:cNvPr id="73820" name="Text Box 92"/>
          <p:cNvSpPr txBox="1">
            <a:spLocks noChangeArrowheads="1"/>
          </p:cNvSpPr>
          <p:nvPr/>
        </p:nvSpPr>
        <p:spPr bwMode="auto">
          <a:xfrm>
            <a:off x="1181100" y="4076700"/>
            <a:ext cx="3471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当  </a:t>
            </a:r>
            <a:r>
              <a:rPr lang="en-US" altLang="zh-CN" b="1" i="1"/>
              <a:t>n</a:t>
            </a:r>
            <a:r>
              <a:rPr lang="en-US" altLang="zh-CN" b="1" baseline="30000"/>
              <a:t>2</a:t>
            </a:r>
            <a:r>
              <a:rPr lang="en-US" altLang="zh-CN" b="1" i="1"/>
              <a:t>R</a:t>
            </a:r>
            <a:r>
              <a:rPr lang="en-US" altLang="zh-CN" b="1" baseline="-25000"/>
              <a:t>L</a:t>
            </a:r>
            <a:r>
              <a:rPr lang="en-US" altLang="zh-CN" b="1"/>
              <a:t>=</a:t>
            </a:r>
            <a:r>
              <a:rPr lang="en-US" altLang="zh-CN" b="1" i="1"/>
              <a:t>R</a:t>
            </a:r>
            <a:r>
              <a:rPr lang="en-US" altLang="zh-CN" b="1" baseline="-25000"/>
              <a:t>S</a:t>
            </a:r>
            <a:r>
              <a:rPr lang="zh-CN" altLang="en-US" b="1"/>
              <a:t>时匹配，即</a:t>
            </a:r>
          </a:p>
        </p:txBody>
      </p:sp>
      <p:sp>
        <p:nvSpPr>
          <p:cNvPr id="73821" name="Text Box 93"/>
          <p:cNvSpPr txBox="1">
            <a:spLocks noChangeArrowheads="1"/>
          </p:cNvSpPr>
          <p:nvPr/>
        </p:nvSpPr>
        <p:spPr bwMode="auto">
          <a:xfrm>
            <a:off x="1628775" y="4610100"/>
            <a:ext cx="1797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10</a:t>
            </a:r>
            <a:r>
              <a:rPr lang="en-US" altLang="zh-CN" b="1" i="1"/>
              <a:t>n</a:t>
            </a:r>
            <a:r>
              <a:rPr lang="en-US" altLang="zh-CN" b="1" baseline="30000"/>
              <a:t>2</a:t>
            </a:r>
            <a:r>
              <a:rPr lang="en-US" altLang="zh-CN" b="1"/>
              <a:t>=1000</a:t>
            </a:r>
          </a:p>
        </p:txBody>
      </p:sp>
      <p:sp>
        <p:nvSpPr>
          <p:cNvPr id="73822" name="Text Box 94"/>
          <p:cNvSpPr txBox="1">
            <a:spLocks noChangeArrowheads="1"/>
          </p:cNvSpPr>
          <p:nvPr/>
        </p:nvSpPr>
        <p:spPr bwMode="auto">
          <a:xfrm>
            <a:off x="1381125" y="5067300"/>
            <a:ext cx="3038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 </a:t>
            </a:r>
            <a:r>
              <a:rPr lang="en-US" altLang="zh-CN" b="1" i="1"/>
              <a:t>n</a:t>
            </a:r>
            <a:r>
              <a:rPr lang="en-US" altLang="zh-CN" b="1" baseline="30000"/>
              <a:t>2</a:t>
            </a:r>
            <a:r>
              <a:rPr lang="en-US" altLang="zh-CN" b="1"/>
              <a:t>=100</a:t>
            </a:r>
            <a:r>
              <a:rPr lang="zh-CN" altLang="en-US" b="1"/>
              <a:t>， </a:t>
            </a:r>
            <a:r>
              <a:rPr lang="en-US" altLang="zh-CN" b="1" i="1"/>
              <a:t>n</a:t>
            </a:r>
            <a:r>
              <a:rPr lang="en-US" altLang="zh-CN" b="1"/>
              <a:t>=10</a:t>
            </a:r>
            <a:r>
              <a:rPr lang="en-US" altLang="zh-CN" b="1">
                <a:sym typeface="Symbol" panose="05050102010706020507" pitchFamily="18" charset="2"/>
              </a:rPr>
              <a:t>.</a:t>
            </a:r>
          </a:p>
        </p:txBody>
      </p:sp>
      <p:sp>
        <p:nvSpPr>
          <p:cNvPr id="73828" name="Text Box 100"/>
          <p:cNvSpPr txBox="1">
            <a:spLocks noChangeArrowheads="1"/>
          </p:cNvSpPr>
          <p:nvPr/>
        </p:nvSpPr>
        <p:spPr bwMode="auto">
          <a:xfrm>
            <a:off x="565150" y="4019550"/>
            <a:ext cx="69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p:cTn id="7" dur="1000" fill="hold"/>
                                        <p:tgtEl>
                                          <p:spTgt spid="73730"/>
                                        </p:tgtEl>
                                        <p:attrNameLst>
                                          <p:attrName>ppt_w</p:attrName>
                                        </p:attrNameLst>
                                      </p:cBhvr>
                                      <p:tavLst>
                                        <p:tav tm="0">
                                          <p:val>
                                            <p:fltVal val="0"/>
                                          </p:val>
                                        </p:tav>
                                        <p:tav tm="100000">
                                          <p:val>
                                            <p:strVal val="#ppt_w"/>
                                          </p:val>
                                        </p:tav>
                                      </p:tavLst>
                                    </p:anim>
                                    <p:anim calcmode="lin" valueType="num">
                                      <p:cBhvr>
                                        <p:cTn id="8" dur="1000" fill="hold"/>
                                        <p:tgtEl>
                                          <p:spTgt spid="73730"/>
                                        </p:tgtEl>
                                        <p:attrNameLst>
                                          <p:attrName>ppt_h</p:attrName>
                                        </p:attrNameLst>
                                      </p:cBhvr>
                                      <p:tavLst>
                                        <p:tav tm="0">
                                          <p:val>
                                            <p:fltVal val="0"/>
                                          </p:val>
                                        </p:tav>
                                        <p:tav tm="100000">
                                          <p:val>
                                            <p:strVal val="#ppt_h"/>
                                          </p:val>
                                        </p:tav>
                                      </p:tavLst>
                                    </p:anim>
                                    <p:anim calcmode="lin" valueType="num">
                                      <p:cBhvr>
                                        <p:cTn id="9" dur="1000" fill="hold"/>
                                        <p:tgtEl>
                                          <p:spTgt spid="737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373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73827"/>
                                        </p:tgtEl>
                                        <p:attrNameLst>
                                          <p:attrName>style.visibility</p:attrName>
                                        </p:attrNameLst>
                                      </p:cBhvr>
                                      <p:to>
                                        <p:strVal val="visible"/>
                                      </p:to>
                                    </p:set>
                                    <p:anim calcmode="lin" valueType="num">
                                      <p:cBhvr>
                                        <p:cTn id="15" dur="500" fill="hold"/>
                                        <p:tgtEl>
                                          <p:spTgt spid="73827"/>
                                        </p:tgtEl>
                                        <p:attrNameLst>
                                          <p:attrName>ppt_x</p:attrName>
                                        </p:attrNameLst>
                                      </p:cBhvr>
                                      <p:tavLst>
                                        <p:tav tm="0">
                                          <p:val>
                                            <p:strVal val="#ppt_x-#ppt_w/2"/>
                                          </p:val>
                                        </p:tav>
                                        <p:tav tm="100000">
                                          <p:val>
                                            <p:strVal val="#ppt_x"/>
                                          </p:val>
                                        </p:tav>
                                      </p:tavLst>
                                    </p:anim>
                                    <p:anim calcmode="lin" valueType="num">
                                      <p:cBhvr>
                                        <p:cTn id="16" dur="500" fill="hold"/>
                                        <p:tgtEl>
                                          <p:spTgt spid="73827"/>
                                        </p:tgtEl>
                                        <p:attrNameLst>
                                          <p:attrName>ppt_y</p:attrName>
                                        </p:attrNameLst>
                                      </p:cBhvr>
                                      <p:tavLst>
                                        <p:tav tm="0">
                                          <p:val>
                                            <p:strVal val="#ppt_y"/>
                                          </p:val>
                                        </p:tav>
                                        <p:tav tm="100000">
                                          <p:val>
                                            <p:strVal val="#ppt_y"/>
                                          </p:val>
                                        </p:tav>
                                      </p:tavLst>
                                    </p:anim>
                                    <p:anim calcmode="lin" valueType="num">
                                      <p:cBhvr>
                                        <p:cTn id="17" dur="500" fill="hold"/>
                                        <p:tgtEl>
                                          <p:spTgt spid="73827"/>
                                        </p:tgtEl>
                                        <p:attrNameLst>
                                          <p:attrName>ppt_w</p:attrName>
                                        </p:attrNameLst>
                                      </p:cBhvr>
                                      <p:tavLst>
                                        <p:tav tm="0">
                                          <p:val>
                                            <p:fltVal val="0"/>
                                          </p:val>
                                        </p:tav>
                                        <p:tav tm="100000">
                                          <p:val>
                                            <p:strVal val="#ppt_w"/>
                                          </p:val>
                                        </p:tav>
                                      </p:tavLst>
                                    </p:anim>
                                    <p:anim calcmode="lin" valueType="num">
                                      <p:cBhvr>
                                        <p:cTn id="18" dur="500" fill="hold"/>
                                        <p:tgtEl>
                                          <p:spTgt spid="73827"/>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3731"/>
                                        </p:tgtEl>
                                        <p:attrNameLst>
                                          <p:attrName>style.visibility</p:attrName>
                                        </p:attrNameLst>
                                      </p:cBhvr>
                                      <p:to>
                                        <p:strVal val="visible"/>
                                      </p:to>
                                    </p:set>
                                    <p:animEffect transition="in" filter="wipe(left)">
                                      <p:cBhvr>
                                        <p:cTn id="23" dur="500"/>
                                        <p:tgtEl>
                                          <p:spTgt spid="73731"/>
                                        </p:tgtEl>
                                      </p:cBhvr>
                                    </p:animEffect>
                                  </p:childTnLst>
                                </p:cTn>
                              </p:par>
                            </p:childTnLst>
                          </p:cTn>
                        </p:par>
                        <p:par>
                          <p:cTn id="24" fill="hold" nodeType="afterGroup">
                            <p:stCondLst>
                              <p:cond delay="500"/>
                            </p:stCondLst>
                            <p:childTnLst>
                              <p:par>
                                <p:cTn id="25" presetID="15" presetClass="entr" presetSubtype="0" fill="hold" grpId="0" nodeType="afterEffect">
                                  <p:stCondLst>
                                    <p:cond delay="0"/>
                                  </p:stCondLst>
                                  <p:childTnLst>
                                    <p:set>
                                      <p:cBhvr>
                                        <p:cTn id="26" dur="1" fill="hold">
                                          <p:stCondLst>
                                            <p:cond delay="0"/>
                                          </p:stCondLst>
                                        </p:cTn>
                                        <p:tgtEl>
                                          <p:spTgt spid="73828"/>
                                        </p:tgtEl>
                                        <p:attrNameLst>
                                          <p:attrName>style.visibility</p:attrName>
                                        </p:attrNameLst>
                                      </p:cBhvr>
                                      <p:to>
                                        <p:strVal val="visible"/>
                                      </p:to>
                                    </p:set>
                                    <p:anim calcmode="lin" valueType="num">
                                      <p:cBhvr>
                                        <p:cTn id="27" dur="1000" fill="hold"/>
                                        <p:tgtEl>
                                          <p:spTgt spid="73828"/>
                                        </p:tgtEl>
                                        <p:attrNameLst>
                                          <p:attrName>ppt_w</p:attrName>
                                        </p:attrNameLst>
                                      </p:cBhvr>
                                      <p:tavLst>
                                        <p:tav tm="0">
                                          <p:val>
                                            <p:fltVal val="0"/>
                                          </p:val>
                                        </p:tav>
                                        <p:tav tm="100000">
                                          <p:val>
                                            <p:strVal val="#ppt_w"/>
                                          </p:val>
                                        </p:tav>
                                      </p:tavLst>
                                    </p:anim>
                                    <p:anim calcmode="lin" valueType="num">
                                      <p:cBhvr>
                                        <p:cTn id="28" dur="1000" fill="hold"/>
                                        <p:tgtEl>
                                          <p:spTgt spid="73828"/>
                                        </p:tgtEl>
                                        <p:attrNameLst>
                                          <p:attrName>ppt_h</p:attrName>
                                        </p:attrNameLst>
                                      </p:cBhvr>
                                      <p:tavLst>
                                        <p:tav tm="0">
                                          <p:val>
                                            <p:fltVal val="0"/>
                                          </p:val>
                                        </p:tav>
                                        <p:tav tm="100000">
                                          <p:val>
                                            <p:strVal val="#ppt_h"/>
                                          </p:val>
                                        </p:tav>
                                      </p:tavLst>
                                    </p:anim>
                                    <p:anim calcmode="lin" valueType="num">
                                      <p:cBhvr>
                                        <p:cTn id="29" dur="1000" fill="hold"/>
                                        <p:tgtEl>
                                          <p:spTgt spid="73828"/>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7382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8" fill="hold" nodeType="clickEffect">
                                  <p:stCondLst>
                                    <p:cond delay="0"/>
                                  </p:stCondLst>
                                  <p:childTnLst>
                                    <p:set>
                                      <p:cBhvr>
                                        <p:cTn id="34" dur="1" fill="hold">
                                          <p:stCondLst>
                                            <p:cond delay="0"/>
                                          </p:stCondLst>
                                        </p:cTn>
                                        <p:tgtEl>
                                          <p:spTgt spid="73784"/>
                                        </p:tgtEl>
                                        <p:attrNameLst>
                                          <p:attrName>style.visibility</p:attrName>
                                        </p:attrNameLst>
                                      </p:cBhvr>
                                      <p:to>
                                        <p:strVal val="visible"/>
                                      </p:to>
                                    </p:set>
                                    <p:animEffect transition="in" filter="slide(fromLeft)">
                                      <p:cBhvr>
                                        <p:cTn id="35" dur="500"/>
                                        <p:tgtEl>
                                          <p:spTgt spid="7378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8" fill="hold" nodeType="clickEffect">
                                  <p:stCondLst>
                                    <p:cond delay="0"/>
                                  </p:stCondLst>
                                  <p:childTnLst>
                                    <p:set>
                                      <p:cBhvr>
                                        <p:cTn id="39" dur="1" fill="hold">
                                          <p:stCondLst>
                                            <p:cond delay="0"/>
                                          </p:stCondLst>
                                        </p:cTn>
                                        <p:tgtEl>
                                          <p:spTgt spid="73826"/>
                                        </p:tgtEl>
                                        <p:attrNameLst>
                                          <p:attrName>style.visibility</p:attrName>
                                        </p:attrNameLst>
                                      </p:cBhvr>
                                      <p:to>
                                        <p:strVal val="visible"/>
                                      </p:to>
                                    </p:set>
                                    <p:animEffect transition="in" filter="slide(fromLeft)">
                                      <p:cBhvr>
                                        <p:cTn id="40" dur="500"/>
                                        <p:tgtEl>
                                          <p:spTgt spid="7382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73820"/>
                                        </p:tgtEl>
                                        <p:attrNameLst>
                                          <p:attrName>style.visibility</p:attrName>
                                        </p:attrNameLst>
                                      </p:cBhvr>
                                      <p:to>
                                        <p:strVal val="visible"/>
                                      </p:to>
                                    </p:set>
                                    <p:animEffect transition="in" filter="slide(fromTop)">
                                      <p:cBhvr>
                                        <p:cTn id="45" dur="500"/>
                                        <p:tgtEl>
                                          <p:spTgt spid="7382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1" fill="hold" grpId="0" nodeType="clickEffect">
                                  <p:stCondLst>
                                    <p:cond delay="0"/>
                                  </p:stCondLst>
                                  <p:childTnLst>
                                    <p:set>
                                      <p:cBhvr>
                                        <p:cTn id="49" dur="1" fill="hold">
                                          <p:stCondLst>
                                            <p:cond delay="0"/>
                                          </p:stCondLst>
                                        </p:cTn>
                                        <p:tgtEl>
                                          <p:spTgt spid="73821"/>
                                        </p:tgtEl>
                                        <p:attrNameLst>
                                          <p:attrName>style.visibility</p:attrName>
                                        </p:attrNameLst>
                                      </p:cBhvr>
                                      <p:to>
                                        <p:strVal val="visible"/>
                                      </p:to>
                                    </p:set>
                                    <p:animEffect transition="in" filter="slide(fromTop)">
                                      <p:cBhvr>
                                        <p:cTn id="50" dur="500"/>
                                        <p:tgtEl>
                                          <p:spTgt spid="7382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73822"/>
                                        </p:tgtEl>
                                        <p:attrNameLst>
                                          <p:attrName>style.visibility</p:attrName>
                                        </p:attrNameLst>
                                      </p:cBhvr>
                                      <p:to>
                                        <p:strVal val="visible"/>
                                      </p:to>
                                    </p:set>
                                    <p:animEffect transition="in" filter="slide(fromTop)">
                                      <p:cBhvr>
                                        <p:cTn id="55" dur="500"/>
                                        <p:tgtEl>
                                          <p:spTgt spid="73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p:bldP spid="73731" grpId="0" autoUpdateAnimBg="0"/>
      <p:bldP spid="73820" grpId="0" autoUpdateAnimBg="0"/>
      <p:bldP spid="73821" grpId="0" autoUpdateAnimBg="0"/>
      <p:bldP spid="73822" grpId="0" autoUpdateAnimBg="0"/>
      <p:bldP spid="7382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826" name="Group 74"/>
          <p:cNvGrpSpPr>
            <a:grpSpLocks/>
          </p:cNvGrpSpPr>
          <p:nvPr/>
        </p:nvGrpSpPr>
        <p:grpSpPr bwMode="auto">
          <a:xfrm>
            <a:off x="520700" y="457200"/>
            <a:ext cx="6118225" cy="2444750"/>
            <a:chOff x="328" y="288"/>
            <a:chExt cx="3854" cy="1540"/>
          </a:xfrm>
        </p:grpSpPr>
        <p:sp>
          <p:nvSpPr>
            <p:cNvPr id="74754" name="Text Box 2"/>
            <p:cNvSpPr txBox="1">
              <a:spLocks noChangeArrowheads="1"/>
            </p:cNvSpPr>
            <p:nvPr/>
          </p:nvSpPr>
          <p:spPr bwMode="auto">
            <a:xfrm>
              <a:off x="328" y="28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例</a:t>
              </a:r>
              <a:r>
                <a:rPr lang="en-US" altLang="zh-CN" b="1">
                  <a:solidFill>
                    <a:srgbClr val="FF3300"/>
                  </a:solidFill>
                </a:rPr>
                <a:t>2</a:t>
              </a:r>
            </a:p>
          </p:txBody>
        </p:sp>
        <p:grpSp>
          <p:nvGrpSpPr>
            <p:cNvPr id="74825" name="Group 73"/>
            <p:cNvGrpSpPr>
              <a:grpSpLocks/>
            </p:cNvGrpSpPr>
            <p:nvPr/>
          </p:nvGrpSpPr>
          <p:grpSpPr bwMode="auto">
            <a:xfrm>
              <a:off x="1114" y="557"/>
              <a:ext cx="3068" cy="1271"/>
              <a:chOff x="814" y="497"/>
              <a:chExt cx="3068" cy="1271"/>
            </a:xfrm>
          </p:grpSpPr>
          <p:graphicFrame>
            <p:nvGraphicFramePr>
              <p:cNvPr id="74773" name="Object 21"/>
              <p:cNvGraphicFramePr>
                <a:graphicFrameLocks noChangeAspect="1"/>
              </p:cNvGraphicFramePr>
              <p:nvPr/>
            </p:nvGraphicFramePr>
            <p:xfrm>
              <a:off x="1637" y="544"/>
              <a:ext cx="218" cy="283"/>
            </p:xfrm>
            <a:graphic>
              <a:graphicData uri="http://schemas.openxmlformats.org/presentationml/2006/ole">
                <mc:AlternateContent xmlns:mc="http://schemas.openxmlformats.org/markup-compatibility/2006">
                  <mc:Choice xmlns:v="urn:schemas-microsoft-com:vml" Requires="v">
                    <p:oleObj spid="_x0000_s103589" name="Equation" r:id="rId3" imgW="164880" imgH="228600" progId="Equation.3">
                      <p:embed/>
                    </p:oleObj>
                  </mc:Choice>
                  <mc:Fallback>
                    <p:oleObj name="Equation" r:id="rId3" imgW="164880" imgH="2286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7" y="544"/>
                            <a:ext cx="21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74" name="Object 22"/>
              <p:cNvGraphicFramePr>
                <a:graphicFrameLocks noChangeAspect="1"/>
              </p:cNvGraphicFramePr>
              <p:nvPr/>
            </p:nvGraphicFramePr>
            <p:xfrm>
              <a:off x="3282" y="497"/>
              <a:ext cx="240" cy="288"/>
            </p:xfrm>
            <a:graphic>
              <a:graphicData uri="http://schemas.openxmlformats.org/presentationml/2006/ole">
                <mc:AlternateContent xmlns:mc="http://schemas.openxmlformats.org/markup-compatibility/2006">
                  <mc:Choice xmlns:v="urn:schemas-microsoft-com:vml" Requires="v">
                    <p:oleObj spid="_x0000_s103590" name="Equation" r:id="rId5" imgW="177480" imgH="228600" progId="Equation.3">
                      <p:embed/>
                    </p:oleObj>
                  </mc:Choice>
                  <mc:Fallback>
                    <p:oleObj name="Equation" r:id="rId5" imgW="177480" imgH="22860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2" y="497"/>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96" name="Oval 44"/>
              <p:cNvSpPr>
                <a:spLocks noChangeArrowheads="1"/>
              </p:cNvSpPr>
              <p:nvPr/>
            </p:nvSpPr>
            <p:spPr bwMode="auto">
              <a:xfrm>
                <a:off x="1471" y="1186"/>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6" name="Line 4"/>
              <p:cNvSpPr>
                <a:spLocks noChangeShapeType="1"/>
              </p:cNvSpPr>
              <p:nvPr/>
            </p:nvSpPr>
            <p:spPr bwMode="auto">
              <a:xfrm>
                <a:off x="2447" y="1497"/>
                <a:ext cx="2" cy="2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7" name="Line 5"/>
              <p:cNvSpPr>
                <a:spLocks noChangeShapeType="1"/>
              </p:cNvSpPr>
              <p:nvPr/>
            </p:nvSpPr>
            <p:spPr bwMode="auto">
              <a:xfrm flipH="1">
                <a:off x="2447" y="921"/>
                <a:ext cx="5"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8" name="Line 6"/>
              <p:cNvSpPr>
                <a:spLocks noChangeShapeType="1"/>
              </p:cNvSpPr>
              <p:nvPr/>
            </p:nvSpPr>
            <p:spPr bwMode="auto">
              <a:xfrm flipH="1">
                <a:off x="2789" y="1520"/>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9" name="Line 7"/>
              <p:cNvSpPr>
                <a:spLocks noChangeShapeType="1"/>
              </p:cNvSpPr>
              <p:nvPr/>
            </p:nvSpPr>
            <p:spPr bwMode="auto">
              <a:xfrm>
                <a:off x="2791" y="916"/>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0" name="Line 8"/>
              <p:cNvSpPr>
                <a:spLocks noChangeShapeType="1"/>
              </p:cNvSpPr>
              <p:nvPr/>
            </p:nvSpPr>
            <p:spPr bwMode="auto">
              <a:xfrm>
                <a:off x="2176" y="916"/>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1" name="Line 9"/>
              <p:cNvSpPr>
                <a:spLocks noChangeShapeType="1"/>
              </p:cNvSpPr>
              <p:nvPr/>
            </p:nvSpPr>
            <p:spPr bwMode="auto">
              <a:xfrm flipV="1">
                <a:off x="2791" y="1720"/>
                <a:ext cx="725"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2" name="Line 10"/>
              <p:cNvSpPr>
                <a:spLocks noChangeShapeType="1"/>
              </p:cNvSpPr>
              <p:nvPr/>
            </p:nvSpPr>
            <p:spPr bwMode="auto">
              <a:xfrm rot="5400000">
                <a:off x="3334" y="701"/>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3" name="Text Box 11"/>
              <p:cNvSpPr txBox="1">
                <a:spLocks noChangeArrowheads="1"/>
              </p:cNvSpPr>
              <p:nvPr/>
            </p:nvSpPr>
            <p:spPr bwMode="auto">
              <a:xfrm>
                <a:off x="2433" y="91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4764" name="Text Box 12"/>
              <p:cNvSpPr txBox="1">
                <a:spLocks noChangeArrowheads="1"/>
              </p:cNvSpPr>
              <p:nvPr/>
            </p:nvSpPr>
            <p:spPr bwMode="auto">
              <a:xfrm>
                <a:off x="2630" y="911"/>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74765" name="Line 13"/>
              <p:cNvSpPr>
                <a:spLocks noChangeShapeType="1"/>
              </p:cNvSpPr>
              <p:nvPr/>
            </p:nvSpPr>
            <p:spPr bwMode="auto">
              <a:xfrm>
                <a:off x="1616" y="829"/>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4766" name="Group 14"/>
              <p:cNvGrpSpPr>
                <a:grpSpLocks/>
              </p:cNvGrpSpPr>
              <p:nvPr/>
            </p:nvGrpSpPr>
            <p:grpSpPr bwMode="auto">
              <a:xfrm rot="16200000" flipH="1">
                <a:off x="2583" y="1310"/>
                <a:ext cx="370" cy="53"/>
                <a:chOff x="1200" y="1584"/>
                <a:chExt cx="379" cy="45"/>
              </a:xfrm>
            </p:grpSpPr>
            <p:sp>
              <p:nvSpPr>
                <p:cNvPr id="74767" name="Arc 1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8" name="Arc 1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9" name="Arc 1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0" name="Arc 1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72" name="Line 20"/>
              <p:cNvSpPr>
                <a:spLocks noChangeShapeType="1"/>
              </p:cNvSpPr>
              <p:nvPr/>
            </p:nvSpPr>
            <p:spPr bwMode="auto">
              <a:xfrm>
                <a:off x="2789" y="916"/>
                <a:ext cx="727"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5" name="Line 23"/>
              <p:cNvSpPr>
                <a:spLocks noChangeShapeType="1"/>
              </p:cNvSpPr>
              <p:nvPr/>
            </p:nvSpPr>
            <p:spPr bwMode="auto">
              <a:xfrm flipH="1">
                <a:off x="1617" y="1720"/>
                <a:ext cx="8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7" name="Text Box 25"/>
              <p:cNvSpPr txBox="1">
                <a:spLocks noChangeArrowheads="1"/>
              </p:cNvSpPr>
              <p:nvPr/>
            </p:nvSpPr>
            <p:spPr bwMode="auto">
              <a:xfrm>
                <a:off x="3601" y="90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4778" name="Text Box 26"/>
              <p:cNvSpPr txBox="1">
                <a:spLocks noChangeArrowheads="1"/>
              </p:cNvSpPr>
              <p:nvPr/>
            </p:nvSpPr>
            <p:spPr bwMode="auto">
              <a:xfrm>
                <a:off x="3623" y="1480"/>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4779" name="Object 27"/>
              <p:cNvGraphicFramePr>
                <a:graphicFrameLocks noChangeAspect="1"/>
              </p:cNvGraphicFramePr>
              <p:nvPr/>
            </p:nvGraphicFramePr>
            <p:xfrm>
              <a:off x="3615" y="1187"/>
              <a:ext cx="232" cy="288"/>
            </p:xfrm>
            <a:graphic>
              <a:graphicData uri="http://schemas.openxmlformats.org/presentationml/2006/ole">
                <mc:AlternateContent xmlns:mc="http://schemas.openxmlformats.org/markup-compatibility/2006">
                  <mc:Choice xmlns:v="urn:schemas-microsoft-com:vml" Requires="v">
                    <p:oleObj spid="_x0000_s103591" name="Equation" r:id="rId7" imgW="203040" imgH="228600" progId="Equation.3">
                      <p:embed/>
                    </p:oleObj>
                  </mc:Choice>
                  <mc:Fallback>
                    <p:oleObj name="Equation" r:id="rId7" imgW="203040" imgH="228600" progId="Equation.3">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5" y="1187"/>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80" name="Text Box 28"/>
              <p:cNvSpPr txBox="1">
                <a:spLocks noChangeArrowheads="1"/>
              </p:cNvSpPr>
              <p:nvPr/>
            </p:nvSpPr>
            <p:spPr bwMode="auto">
              <a:xfrm>
                <a:off x="2192" y="941"/>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4781" name="Text Box 29"/>
              <p:cNvSpPr txBox="1">
                <a:spLocks noChangeArrowheads="1"/>
              </p:cNvSpPr>
              <p:nvPr/>
            </p:nvSpPr>
            <p:spPr bwMode="auto">
              <a:xfrm>
                <a:off x="2186" y="1446"/>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4782" name="Object 30"/>
              <p:cNvGraphicFramePr>
                <a:graphicFrameLocks noChangeAspect="1"/>
              </p:cNvGraphicFramePr>
              <p:nvPr/>
            </p:nvGraphicFramePr>
            <p:xfrm>
              <a:off x="2174" y="1174"/>
              <a:ext cx="235" cy="290"/>
            </p:xfrm>
            <a:graphic>
              <a:graphicData uri="http://schemas.openxmlformats.org/presentationml/2006/ole">
                <mc:AlternateContent xmlns:mc="http://schemas.openxmlformats.org/markup-compatibility/2006">
                  <mc:Choice xmlns:v="urn:schemas-microsoft-com:vml" Requires="v">
                    <p:oleObj spid="_x0000_s103592" name="Equation" r:id="rId9" imgW="203040" imgH="228600" progId="Equation.3">
                      <p:embed/>
                    </p:oleObj>
                  </mc:Choice>
                  <mc:Fallback>
                    <p:oleObj name="Equation" r:id="rId9" imgW="203040" imgH="228600" progId="Equation.3">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4" y="1174"/>
                            <a:ext cx="23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4783" name="Group 31"/>
              <p:cNvGrpSpPr>
                <a:grpSpLocks/>
              </p:cNvGrpSpPr>
              <p:nvPr/>
            </p:nvGrpSpPr>
            <p:grpSpPr bwMode="auto">
              <a:xfrm rot="5400000">
                <a:off x="2288" y="1291"/>
                <a:ext cx="370" cy="53"/>
                <a:chOff x="1200" y="1584"/>
                <a:chExt cx="379" cy="45"/>
              </a:xfrm>
            </p:grpSpPr>
            <p:sp>
              <p:nvSpPr>
                <p:cNvPr id="74784" name="Arc 32"/>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5" name="Arc 33"/>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6" name="Arc 34"/>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7" name="Arc 35"/>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88" name="Text Box 36"/>
              <p:cNvSpPr txBox="1">
                <a:spLocks noChangeArrowheads="1"/>
              </p:cNvSpPr>
              <p:nvPr/>
            </p:nvSpPr>
            <p:spPr bwMode="auto">
              <a:xfrm>
                <a:off x="2365" y="590"/>
                <a:ext cx="6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 : 10</a:t>
                </a:r>
              </a:p>
            </p:txBody>
          </p:sp>
          <p:sp>
            <p:nvSpPr>
              <p:cNvPr id="74789" name="Rectangle 37"/>
              <p:cNvSpPr>
                <a:spLocks noChangeArrowheads="1"/>
              </p:cNvSpPr>
              <p:nvPr/>
            </p:nvSpPr>
            <p:spPr bwMode="auto">
              <a:xfrm>
                <a:off x="3462" y="1158"/>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0" name="Line 38"/>
              <p:cNvSpPr>
                <a:spLocks noChangeShapeType="1"/>
              </p:cNvSpPr>
              <p:nvPr/>
            </p:nvSpPr>
            <p:spPr bwMode="auto">
              <a:xfrm>
                <a:off x="3516" y="916"/>
                <a:ext cx="0" cy="2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1" name="Line 39"/>
              <p:cNvSpPr>
                <a:spLocks noChangeShapeType="1"/>
              </p:cNvSpPr>
              <p:nvPr/>
            </p:nvSpPr>
            <p:spPr bwMode="auto">
              <a:xfrm>
                <a:off x="3516" y="1431"/>
                <a:ext cx="0" cy="2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2" name="Text Box 40"/>
              <p:cNvSpPr txBox="1">
                <a:spLocks noChangeArrowheads="1"/>
              </p:cNvSpPr>
              <p:nvPr/>
            </p:nvSpPr>
            <p:spPr bwMode="auto">
              <a:xfrm>
                <a:off x="3044" y="1148"/>
                <a:ext cx="5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50</a:t>
                </a:r>
                <a:r>
                  <a:rPr lang="en-US" altLang="zh-CN" b="1">
                    <a:sym typeface="Symbol" panose="05050102010706020507" pitchFamily="18" charset="2"/>
                  </a:rPr>
                  <a:t></a:t>
                </a:r>
                <a:endParaRPr lang="en-US" altLang="zh-CN" b="1"/>
              </a:p>
            </p:txBody>
          </p:sp>
          <p:sp>
            <p:nvSpPr>
              <p:cNvPr id="74793" name="Rectangle 41"/>
              <p:cNvSpPr>
                <a:spLocks noChangeArrowheads="1"/>
              </p:cNvSpPr>
              <p:nvPr/>
            </p:nvSpPr>
            <p:spPr bwMode="auto">
              <a:xfrm rot="5400000">
                <a:off x="1981" y="781"/>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4" name="Line 42"/>
              <p:cNvSpPr>
                <a:spLocks noChangeShapeType="1"/>
              </p:cNvSpPr>
              <p:nvPr/>
            </p:nvSpPr>
            <p:spPr bwMode="auto">
              <a:xfrm>
                <a:off x="1617" y="910"/>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5" name="Line 43"/>
              <p:cNvSpPr>
                <a:spLocks noChangeShapeType="1"/>
              </p:cNvSpPr>
              <p:nvPr/>
            </p:nvSpPr>
            <p:spPr bwMode="auto">
              <a:xfrm>
                <a:off x="1617" y="916"/>
                <a:ext cx="0" cy="8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0" name="Text Box 48"/>
              <p:cNvSpPr txBox="1">
                <a:spLocks noChangeArrowheads="1"/>
              </p:cNvSpPr>
              <p:nvPr/>
            </p:nvSpPr>
            <p:spPr bwMode="auto">
              <a:xfrm>
                <a:off x="1409" y="953"/>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4801" name="Text Box 49"/>
              <p:cNvSpPr txBox="1">
                <a:spLocks noChangeArrowheads="1"/>
              </p:cNvSpPr>
              <p:nvPr/>
            </p:nvSpPr>
            <p:spPr bwMode="auto">
              <a:xfrm>
                <a:off x="1409" y="144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4802" name="Object 50"/>
              <p:cNvGraphicFramePr>
                <a:graphicFrameLocks noChangeAspect="1"/>
              </p:cNvGraphicFramePr>
              <p:nvPr/>
            </p:nvGraphicFramePr>
            <p:xfrm>
              <a:off x="814" y="1224"/>
              <a:ext cx="660" cy="223"/>
            </p:xfrm>
            <a:graphic>
              <a:graphicData uri="http://schemas.openxmlformats.org/presentationml/2006/ole">
                <mc:AlternateContent xmlns:mc="http://schemas.openxmlformats.org/markup-compatibility/2006">
                  <mc:Choice xmlns:v="urn:schemas-microsoft-com:vml" Requires="v">
                    <p:oleObj spid="_x0000_s103593" name="Equation" r:id="rId11" imgW="571320" imgH="177480" progId="Equation.3">
                      <p:embed/>
                    </p:oleObj>
                  </mc:Choice>
                  <mc:Fallback>
                    <p:oleObj name="Equation" r:id="rId11" imgW="571320" imgH="177480" progId="Equation.3">
                      <p:embed/>
                      <p:pic>
                        <p:nvPicPr>
                          <p:cNvPr id="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4" y="1224"/>
                            <a:ext cx="66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803" name="Text Box 51"/>
              <p:cNvSpPr txBox="1">
                <a:spLocks noChangeArrowheads="1"/>
              </p:cNvSpPr>
              <p:nvPr/>
            </p:nvSpPr>
            <p:spPr bwMode="auto">
              <a:xfrm>
                <a:off x="1855" y="580"/>
                <a:ext cx="4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1</a:t>
                </a:r>
                <a:endParaRPr lang="en-US" altLang="zh-CN" b="1"/>
              </a:p>
            </p:txBody>
          </p:sp>
        </p:grpSp>
        <p:graphicFrame>
          <p:nvGraphicFramePr>
            <p:cNvPr id="74806" name="Object 54"/>
            <p:cNvGraphicFramePr>
              <a:graphicFrameLocks noChangeAspect="1"/>
            </p:cNvGraphicFramePr>
            <p:nvPr/>
          </p:nvGraphicFramePr>
          <p:xfrm>
            <a:off x="949" y="305"/>
            <a:ext cx="1373" cy="288"/>
          </p:xfrm>
          <a:graphic>
            <a:graphicData uri="http://schemas.openxmlformats.org/presentationml/2006/ole">
              <mc:AlternateContent xmlns:mc="http://schemas.openxmlformats.org/markup-compatibility/2006">
                <mc:Choice xmlns:v="urn:schemas-microsoft-com:vml" Requires="v">
                  <p:oleObj spid="_x0000_s103594" name="Equation" r:id="rId13" imgW="1193760" imgH="228600" progId="Equation.3">
                    <p:embed/>
                  </p:oleObj>
                </mc:Choice>
                <mc:Fallback>
                  <p:oleObj name="Equation" r:id="rId13" imgW="1193760" imgH="228600" progId="Equation.3">
                    <p:embed/>
                    <p:pic>
                      <p:nvPicPr>
                        <p:cNvPr id="0"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9" y="305"/>
                          <a:ext cx="137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807" name="Text Box 55"/>
          <p:cNvSpPr txBox="1">
            <a:spLocks noChangeArrowheads="1"/>
          </p:cNvSpPr>
          <p:nvPr/>
        </p:nvSpPr>
        <p:spPr bwMode="auto">
          <a:xfrm>
            <a:off x="419100" y="2994025"/>
            <a:ext cx="2584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方法</a:t>
            </a:r>
            <a:r>
              <a:rPr lang="en-US" altLang="zh-CN" b="1">
                <a:solidFill>
                  <a:srgbClr val="FF3300"/>
                </a:solidFill>
              </a:rPr>
              <a:t>1     </a:t>
            </a:r>
            <a:r>
              <a:rPr lang="zh-CN" altLang="en-US" b="1">
                <a:solidFill>
                  <a:srgbClr val="FF3300"/>
                </a:solidFill>
              </a:rPr>
              <a:t>列方程</a:t>
            </a:r>
          </a:p>
        </p:txBody>
      </p:sp>
      <p:graphicFrame>
        <p:nvGraphicFramePr>
          <p:cNvPr id="74808" name="Object 56"/>
          <p:cNvGraphicFramePr>
            <a:graphicFrameLocks noChangeAspect="1"/>
          </p:cNvGraphicFramePr>
          <p:nvPr/>
        </p:nvGraphicFramePr>
        <p:xfrm>
          <a:off x="1497013" y="4452938"/>
          <a:ext cx="1604962" cy="809625"/>
        </p:xfrm>
        <a:graphic>
          <a:graphicData uri="http://schemas.openxmlformats.org/presentationml/2006/ole">
            <mc:AlternateContent xmlns:mc="http://schemas.openxmlformats.org/markup-compatibility/2006">
              <mc:Choice xmlns:v="urn:schemas-microsoft-com:vml" Requires="v">
                <p:oleObj spid="_x0000_s103595" name="公式" r:id="rId15" imgW="799920" imgH="406080" progId="Equation.3">
                  <p:embed/>
                </p:oleObj>
              </mc:Choice>
              <mc:Fallback>
                <p:oleObj name="公式" r:id="rId15" imgW="799920" imgH="406080" progId="Equation.3">
                  <p:embed/>
                  <p:pic>
                    <p:nvPicPr>
                      <p:cNvPr id="0" name="Object 5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7013" y="4452938"/>
                        <a:ext cx="1604962"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809" name="Object 57"/>
          <p:cNvGraphicFramePr>
            <a:graphicFrameLocks noChangeAspect="1"/>
          </p:cNvGraphicFramePr>
          <p:nvPr/>
        </p:nvGraphicFramePr>
        <p:xfrm>
          <a:off x="1497013" y="5232400"/>
          <a:ext cx="1466850" cy="463550"/>
        </p:xfrm>
        <a:graphic>
          <a:graphicData uri="http://schemas.openxmlformats.org/presentationml/2006/ole">
            <mc:AlternateContent xmlns:mc="http://schemas.openxmlformats.org/markup-compatibility/2006">
              <mc:Choice xmlns:v="urn:schemas-microsoft-com:vml" Requires="v">
                <p:oleObj spid="_x0000_s103596" name="公式" r:id="rId17" imgW="723600" imgH="228600" progId="Equation.3">
                  <p:embed/>
                </p:oleObj>
              </mc:Choice>
              <mc:Fallback>
                <p:oleObj name="公式" r:id="rId17" imgW="723600" imgH="228600" progId="Equation.3">
                  <p:embed/>
                  <p:pic>
                    <p:nvPicPr>
                      <p:cNvPr id="0" name="Object 5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97013" y="5232400"/>
                        <a:ext cx="14668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810" name="AutoShape 58"/>
          <p:cNvSpPr>
            <a:spLocks/>
          </p:cNvSpPr>
          <p:nvPr/>
        </p:nvSpPr>
        <p:spPr bwMode="auto">
          <a:xfrm>
            <a:off x="1244600" y="3679825"/>
            <a:ext cx="190500" cy="1997075"/>
          </a:xfrm>
          <a:prstGeom prst="leftBrace">
            <a:avLst>
              <a:gd name="adj1" fmla="val 8736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4812" name="Object 60"/>
          <p:cNvGraphicFramePr>
            <a:graphicFrameLocks noChangeAspect="1"/>
          </p:cNvGraphicFramePr>
          <p:nvPr/>
        </p:nvGraphicFramePr>
        <p:xfrm>
          <a:off x="1497013" y="3508375"/>
          <a:ext cx="2474912" cy="460375"/>
        </p:xfrm>
        <a:graphic>
          <a:graphicData uri="http://schemas.openxmlformats.org/presentationml/2006/ole">
            <mc:AlternateContent xmlns:mc="http://schemas.openxmlformats.org/markup-compatibility/2006">
              <mc:Choice xmlns:v="urn:schemas-microsoft-com:vml" Requires="v">
                <p:oleObj spid="_x0000_s103597" name="Equation" r:id="rId19" imgW="1218960" imgH="228600" progId="Equation.3">
                  <p:embed/>
                </p:oleObj>
              </mc:Choice>
              <mc:Fallback>
                <p:oleObj name="Equation" r:id="rId19" imgW="1218960" imgH="228600" progId="Equation.3">
                  <p:embed/>
                  <p:pic>
                    <p:nvPicPr>
                      <p:cNvPr id="0" name="Object 6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97013" y="3508375"/>
                        <a:ext cx="247491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813" name="Object 61"/>
          <p:cNvGraphicFramePr>
            <a:graphicFrameLocks noChangeAspect="1"/>
          </p:cNvGraphicFramePr>
          <p:nvPr/>
        </p:nvGraphicFramePr>
        <p:xfrm>
          <a:off x="1497013" y="3995738"/>
          <a:ext cx="1779587" cy="460375"/>
        </p:xfrm>
        <a:graphic>
          <a:graphicData uri="http://schemas.openxmlformats.org/presentationml/2006/ole">
            <mc:AlternateContent xmlns:mc="http://schemas.openxmlformats.org/markup-compatibility/2006">
              <mc:Choice xmlns:v="urn:schemas-microsoft-com:vml" Requires="v">
                <p:oleObj spid="_x0000_s103598" name="Equation" r:id="rId21" imgW="876240" imgH="228600" progId="Equation.3">
                  <p:embed/>
                </p:oleObj>
              </mc:Choice>
              <mc:Fallback>
                <p:oleObj name="Equation" r:id="rId21" imgW="876240" imgH="228600" progId="Equation.3">
                  <p:embed/>
                  <p:pic>
                    <p:nvPicPr>
                      <p:cNvPr id="0" name="Object 6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97013" y="3995738"/>
                        <a:ext cx="177958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814" name="AutoShape 62"/>
          <p:cNvSpPr>
            <a:spLocks noChangeArrowheads="1"/>
          </p:cNvSpPr>
          <p:nvPr/>
        </p:nvSpPr>
        <p:spPr bwMode="auto">
          <a:xfrm>
            <a:off x="4291013" y="4533900"/>
            <a:ext cx="874712" cy="304800"/>
          </a:xfrm>
          <a:prstGeom prst="rightArrow">
            <a:avLst>
              <a:gd name="adj1" fmla="val 50000"/>
              <a:gd name="adj2" fmla="val 71745"/>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15" name="Text Box 63"/>
          <p:cNvSpPr txBox="1">
            <a:spLocks noChangeArrowheads="1"/>
          </p:cNvSpPr>
          <p:nvPr/>
        </p:nvSpPr>
        <p:spPr bwMode="auto">
          <a:xfrm>
            <a:off x="4270375" y="4033838"/>
            <a:ext cx="971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解得</a:t>
            </a:r>
          </a:p>
        </p:txBody>
      </p:sp>
      <p:graphicFrame>
        <p:nvGraphicFramePr>
          <p:cNvPr id="74816" name="Object 64"/>
          <p:cNvGraphicFramePr>
            <a:graphicFrameLocks noChangeAspect="1"/>
          </p:cNvGraphicFramePr>
          <p:nvPr/>
        </p:nvGraphicFramePr>
        <p:xfrm>
          <a:off x="5472113" y="4470400"/>
          <a:ext cx="2219325" cy="463550"/>
        </p:xfrm>
        <a:graphic>
          <a:graphicData uri="http://schemas.openxmlformats.org/presentationml/2006/ole">
            <mc:AlternateContent xmlns:mc="http://schemas.openxmlformats.org/markup-compatibility/2006">
              <mc:Choice xmlns:v="urn:schemas-microsoft-com:vml" Requires="v">
                <p:oleObj spid="_x0000_s103599" name="Equation" r:id="rId23" imgW="1091880" imgH="228600" progId="Equation.3">
                  <p:embed/>
                </p:oleObj>
              </mc:Choice>
              <mc:Fallback>
                <p:oleObj name="Equation" r:id="rId23" imgW="1091880" imgH="228600" progId="Equation.3">
                  <p:embed/>
                  <p:pic>
                    <p:nvPicPr>
                      <p:cNvPr id="0" name="Object 6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72113" y="4470400"/>
                        <a:ext cx="22193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826"/>
                                        </p:tgtEl>
                                        <p:attrNameLst>
                                          <p:attrName>style.visibility</p:attrName>
                                        </p:attrNameLst>
                                      </p:cBhvr>
                                      <p:to>
                                        <p:strVal val="visible"/>
                                      </p:to>
                                    </p:set>
                                    <p:animEffect transition="in" filter="wipe(left)">
                                      <p:cBhvr>
                                        <p:cTn id="7" dur="500"/>
                                        <p:tgtEl>
                                          <p:spTgt spid="748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74807"/>
                                        </p:tgtEl>
                                        <p:attrNameLst>
                                          <p:attrName>style.visibility</p:attrName>
                                        </p:attrNameLst>
                                      </p:cBhvr>
                                      <p:to>
                                        <p:strVal val="visible"/>
                                      </p:to>
                                    </p:set>
                                    <p:anim calcmode="lin" valueType="num">
                                      <p:cBhvr>
                                        <p:cTn id="12" dur="1000" fill="hold"/>
                                        <p:tgtEl>
                                          <p:spTgt spid="74807"/>
                                        </p:tgtEl>
                                        <p:attrNameLst>
                                          <p:attrName>ppt_w</p:attrName>
                                        </p:attrNameLst>
                                      </p:cBhvr>
                                      <p:tavLst>
                                        <p:tav tm="0">
                                          <p:val>
                                            <p:fltVal val="0"/>
                                          </p:val>
                                        </p:tav>
                                        <p:tav tm="100000">
                                          <p:val>
                                            <p:strVal val="#ppt_w"/>
                                          </p:val>
                                        </p:tav>
                                      </p:tavLst>
                                    </p:anim>
                                    <p:anim calcmode="lin" valueType="num">
                                      <p:cBhvr>
                                        <p:cTn id="13" dur="1000" fill="hold"/>
                                        <p:tgtEl>
                                          <p:spTgt spid="74807"/>
                                        </p:tgtEl>
                                        <p:attrNameLst>
                                          <p:attrName>ppt_h</p:attrName>
                                        </p:attrNameLst>
                                      </p:cBhvr>
                                      <p:tavLst>
                                        <p:tav tm="0">
                                          <p:val>
                                            <p:fltVal val="0"/>
                                          </p:val>
                                        </p:tav>
                                        <p:tav tm="100000">
                                          <p:val>
                                            <p:strVal val="#ppt_h"/>
                                          </p:val>
                                        </p:tav>
                                      </p:tavLst>
                                    </p:anim>
                                    <p:anim calcmode="lin" valueType="num">
                                      <p:cBhvr>
                                        <p:cTn id="14" dur="1000" fill="hold"/>
                                        <p:tgtEl>
                                          <p:spTgt spid="7480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480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nodeType="clickEffect">
                                  <p:stCondLst>
                                    <p:cond delay="0"/>
                                  </p:stCondLst>
                                  <p:childTnLst>
                                    <p:set>
                                      <p:cBhvr>
                                        <p:cTn id="19" dur="1" fill="hold">
                                          <p:stCondLst>
                                            <p:cond delay="0"/>
                                          </p:stCondLst>
                                        </p:cTn>
                                        <p:tgtEl>
                                          <p:spTgt spid="74812"/>
                                        </p:tgtEl>
                                        <p:attrNameLst>
                                          <p:attrName>style.visibility</p:attrName>
                                        </p:attrNameLst>
                                      </p:cBhvr>
                                      <p:to>
                                        <p:strVal val="visible"/>
                                      </p:to>
                                    </p:set>
                                    <p:anim calcmode="lin" valueType="num">
                                      <p:cBhvr additive="base">
                                        <p:cTn id="20" dur="500" fill="hold"/>
                                        <p:tgtEl>
                                          <p:spTgt spid="74812"/>
                                        </p:tgtEl>
                                        <p:attrNameLst>
                                          <p:attrName>ppt_x</p:attrName>
                                        </p:attrNameLst>
                                      </p:cBhvr>
                                      <p:tavLst>
                                        <p:tav tm="0">
                                          <p:val>
                                            <p:strVal val="0-#ppt_w/2"/>
                                          </p:val>
                                        </p:tav>
                                        <p:tav tm="100000">
                                          <p:val>
                                            <p:strVal val="#ppt_x"/>
                                          </p:val>
                                        </p:tav>
                                      </p:tavLst>
                                    </p:anim>
                                    <p:anim calcmode="lin" valueType="num">
                                      <p:cBhvr additive="base">
                                        <p:cTn id="21" dur="500" fill="hold"/>
                                        <p:tgtEl>
                                          <p:spTgt spid="74812"/>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74813"/>
                                        </p:tgtEl>
                                        <p:attrNameLst>
                                          <p:attrName>style.visibility</p:attrName>
                                        </p:attrNameLst>
                                      </p:cBhvr>
                                      <p:to>
                                        <p:strVal val="visible"/>
                                      </p:to>
                                    </p:set>
                                    <p:anim calcmode="lin" valueType="num">
                                      <p:cBhvr additive="base">
                                        <p:cTn id="26" dur="500" fill="hold"/>
                                        <p:tgtEl>
                                          <p:spTgt spid="74813"/>
                                        </p:tgtEl>
                                        <p:attrNameLst>
                                          <p:attrName>ppt_x</p:attrName>
                                        </p:attrNameLst>
                                      </p:cBhvr>
                                      <p:tavLst>
                                        <p:tav tm="0">
                                          <p:val>
                                            <p:strVal val="0-#ppt_w/2"/>
                                          </p:val>
                                        </p:tav>
                                        <p:tav tm="100000">
                                          <p:val>
                                            <p:strVal val="#ppt_x"/>
                                          </p:val>
                                        </p:tav>
                                      </p:tavLst>
                                    </p:anim>
                                    <p:anim calcmode="lin" valueType="num">
                                      <p:cBhvr additive="base">
                                        <p:cTn id="27" dur="500" fill="hold"/>
                                        <p:tgtEl>
                                          <p:spTgt spid="74813"/>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74808"/>
                                        </p:tgtEl>
                                        <p:attrNameLst>
                                          <p:attrName>style.visibility</p:attrName>
                                        </p:attrNameLst>
                                      </p:cBhvr>
                                      <p:to>
                                        <p:strVal val="visible"/>
                                      </p:to>
                                    </p:set>
                                    <p:anim calcmode="lin" valueType="num">
                                      <p:cBhvr additive="base">
                                        <p:cTn id="32" dur="500" fill="hold"/>
                                        <p:tgtEl>
                                          <p:spTgt spid="74808"/>
                                        </p:tgtEl>
                                        <p:attrNameLst>
                                          <p:attrName>ppt_x</p:attrName>
                                        </p:attrNameLst>
                                      </p:cBhvr>
                                      <p:tavLst>
                                        <p:tav tm="0">
                                          <p:val>
                                            <p:strVal val="0-#ppt_w/2"/>
                                          </p:val>
                                        </p:tav>
                                        <p:tav tm="100000">
                                          <p:val>
                                            <p:strVal val="#ppt_x"/>
                                          </p:val>
                                        </p:tav>
                                      </p:tavLst>
                                    </p:anim>
                                    <p:anim calcmode="lin" valueType="num">
                                      <p:cBhvr additive="base">
                                        <p:cTn id="33" dur="500" fill="hold"/>
                                        <p:tgtEl>
                                          <p:spTgt spid="7480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74809"/>
                                        </p:tgtEl>
                                        <p:attrNameLst>
                                          <p:attrName>style.visibility</p:attrName>
                                        </p:attrNameLst>
                                      </p:cBhvr>
                                      <p:to>
                                        <p:strVal val="visible"/>
                                      </p:to>
                                    </p:set>
                                    <p:anim calcmode="lin" valueType="num">
                                      <p:cBhvr additive="base">
                                        <p:cTn id="38" dur="500" fill="hold"/>
                                        <p:tgtEl>
                                          <p:spTgt spid="74809"/>
                                        </p:tgtEl>
                                        <p:attrNameLst>
                                          <p:attrName>ppt_x</p:attrName>
                                        </p:attrNameLst>
                                      </p:cBhvr>
                                      <p:tavLst>
                                        <p:tav tm="0">
                                          <p:val>
                                            <p:strVal val="0-#ppt_w/2"/>
                                          </p:val>
                                        </p:tav>
                                        <p:tav tm="100000">
                                          <p:val>
                                            <p:strVal val="#ppt_x"/>
                                          </p:val>
                                        </p:tav>
                                      </p:tavLst>
                                    </p:anim>
                                    <p:anim calcmode="lin" valueType="num">
                                      <p:cBhvr additive="base">
                                        <p:cTn id="39" dur="500" fill="hold"/>
                                        <p:tgtEl>
                                          <p:spTgt spid="74809"/>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499"/>
                                          </p:stCondLst>
                                        </p:cTn>
                                        <p:tgtEl>
                                          <p:spTgt spid="7481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74814"/>
                                        </p:tgtEl>
                                        <p:attrNameLst>
                                          <p:attrName>style.visibility</p:attrName>
                                        </p:attrNameLst>
                                      </p:cBhvr>
                                      <p:to>
                                        <p:strVal val="visible"/>
                                      </p:to>
                                    </p:set>
                                    <p:animEffect transition="in" filter="slide(fromLeft)">
                                      <p:cBhvr>
                                        <p:cTn id="47" dur="500"/>
                                        <p:tgtEl>
                                          <p:spTgt spid="74814"/>
                                        </p:tgtEl>
                                      </p:cBhvr>
                                    </p:animEffect>
                                  </p:childTnLst>
                                </p:cTn>
                              </p:par>
                            </p:childTnLst>
                          </p:cTn>
                        </p:par>
                        <p:par>
                          <p:cTn id="48" fill="hold" nodeType="afterGroup">
                            <p:stCondLst>
                              <p:cond delay="500"/>
                            </p:stCondLst>
                            <p:childTnLst>
                              <p:par>
                                <p:cTn id="49" presetID="12" presetClass="entr" presetSubtype="8" fill="hold" grpId="0" nodeType="afterEffect">
                                  <p:stCondLst>
                                    <p:cond delay="0"/>
                                  </p:stCondLst>
                                  <p:childTnLst>
                                    <p:set>
                                      <p:cBhvr>
                                        <p:cTn id="50" dur="1" fill="hold">
                                          <p:stCondLst>
                                            <p:cond delay="0"/>
                                          </p:stCondLst>
                                        </p:cTn>
                                        <p:tgtEl>
                                          <p:spTgt spid="74815"/>
                                        </p:tgtEl>
                                        <p:attrNameLst>
                                          <p:attrName>style.visibility</p:attrName>
                                        </p:attrNameLst>
                                      </p:cBhvr>
                                      <p:to>
                                        <p:strVal val="visible"/>
                                      </p:to>
                                    </p:set>
                                    <p:animEffect transition="in" filter="slide(fromLeft)">
                                      <p:cBhvr>
                                        <p:cTn id="51" dur="500"/>
                                        <p:tgtEl>
                                          <p:spTgt spid="7481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2" fill="hold" nodeType="clickEffect">
                                  <p:stCondLst>
                                    <p:cond delay="0"/>
                                  </p:stCondLst>
                                  <p:childTnLst>
                                    <p:set>
                                      <p:cBhvr>
                                        <p:cTn id="55" dur="1" fill="hold">
                                          <p:stCondLst>
                                            <p:cond delay="0"/>
                                          </p:stCondLst>
                                        </p:cTn>
                                        <p:tgtEl>
                                          <p:spTgt spid="74816"/>
                                        </p:tgtEl>
                                        <p:attrNameLst>
                                          <p:attrName>style.visibility</p:attrName>
                                        </p:attrNameLst>
                                      </p:cBhvr>
                                      <p:to>
                                        <p:strVal val="visible"/>
                                      </p:to>
                                    </p:set>
                                    <p:animEffect transition="in" filter="slide(fromRight)">
                                      <p:cBhvr>
                                        <p:cTn id="56" dur="500"/>
                                        <p:tgtEl>
                                          <p:spTgt spid="74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07" grpId="0" autoUpdateAnimBg="0"/>
      <p:bldP spid="7481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23" name="Text Box 47"/>
          <p:cNvSpPr txBox="1">
            <a:spLocks noChangeArrowheads="1"/>
          </p:cNvSpPr>
          <p:nvPr/>
        </p:nvSpPr>
        <p:spPr bwMode="auto">
          <a:xfrm>
            <a:off x="544513" y="422275"/>
            <a:ext cx="2938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方法</a:t>
            </a:r>
            <a:r>
              <a:rPr lang="en-US" altLang="zh-CN" b="1">
                <a:solidFill>
                  <a:srgbClr val="FF3300"/>
                </a:solidFill>
              </a:rPr>
              <a:t>2    </a:t>
            </a:r>
            <a:r>
              <a:rPr lang="zh-CN" altLang="en-US" b="1">
                <a:solidFill>
                  <a:srgbClr val="FF3300"/>
                </a:solidFill>
              </a:rPr>
              <a:t>阻抗变换</a:t>
            </a:r>
          </a:p>
        </p:txBody>
      </p:sp>
      <p:graphicFrame>
        <p:nvGraphicFramePr>
          <p:cNvPr id="75824" name="Object 48"/>
          <p:cNvGraphicFramePr>
            <a:graphicFrameLocks noChangeAspect="1"/>
          </p:cNvGraphicFramePr>
          <p:nvPr/>
        </p:nvGraphicFramePr>
        <p:xfrm>
          <a:off x="5827713" y="4921250"/>
          <a:ext cx="2497137" cy="860425"/>
        </p:xfrm>
        <a:graphic>
          <a:graphicData uri="http://schemas.openxmlformats.org/presentationml/2006/ole">
            <mc:AlternateContent xmlns:mc="http://schemas.openxmlformats.org/markup-compatibility/2006">
              <mc:Choice xmlns:v="urn:schemas-microsoft-com:vml" Requires="v">
                <p:oleObj spid="_x0000_s104658" name="Equation" r:id="rId3" imgW="1244520" imgH="431640" progId="Equation.3">
                  <p:embed/>
                </p:oleObj>
              </mc:Choice>
              <mc:Fallback>
                <p:oleObj name="Equation" r:id="rId3" imgW="1244520" imgH="431640" progId="Equation.3">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7713" y="4921250"/>
                        <a:ext cx="2497137"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825" name="Object 49"/>
          <p:cNvGraphicFramePr>
            <a:graphicFrameLocks noChangeAspect="1"/>
          </p:cNvGraphicFramePr>
          <p:nvPr/>
        </p:nvGraphicFramePr>
        <p:xfrm>
          <a:off x="5510213" y="4360863"/>
          <a:ext cx="2554287" cy="463550"/>
        </p:xfrm>
        <a:graphic>
          <a:graphicData uri="http://schemas.openxmlformats.org/presentationml/2006/ole">
            <mc:AlternateContent xmlns:mc="http://schemas.openxmlformats.org/markup-compatibility/2006">
              <mc:Choice xmlns:v="urn:schemas-microsoft-com:vml" Requires="v">
                <p:oleObj spid="_x0000_s104659" name="Equation" r:id="rId5" imgW="1257120" imgH="228600" progId="Equation.3">
                  <p:embed/>
                </p:oleObj>
              </mc:Choice>
              <mc:Fallback>
                <p:oleObj name="Equation" r:id="rId5" imgW="1257120" imgH="228600" progId="Equation.3">
                  <p:embed/>
                  <p:pic>
                    <p:nvPicPr>
                      <p:cNvPr id="0" name="Object 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0213" y="4360863"/>
                        <a:ext cx="2554287"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894" name="Group 118"/>
          <p:cNvGrpSpPr>
            <a:grpSpLocks/>
          </p:cNvGrpSpPr>
          <p:nvPr/>
        </p:nvGrpSpPr>
        <p:grpSpPr bwMode="auto">
          <a:xfrm>
            <a:off x="244475" y="900113"/>
            <a:ext cx="4921250" cy="1870075"/>
            <a:chOff x="154" y="567"/>
            <a:chExt cx="3100" cy="1178"/>
          </a:xfrm>
        </p:grpSpPr>
        <p:sp>
          <p:nvSpPr>
            <p:cNvPr id="75817" name="Oval 41"/>
            <p:cNvSpPr>
              <a:spLocks noChangeArrowheads="1"/>
            </p:cNvSpPr>
            <p:nvPr/>
          </p:nvSpPr>
          <p:spPr bwMode="auto">
            <a:xfrm>
              <a:off x="786" y="1197"/>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3" name="Line 7"/>
            <p:cNvSpPr>
              <a:spLocks noChangeShapeType="1"/>
            </p:cNvSpPr>
            <p:nvPr/>
          </p:nvSpPr>
          <p:spPr bwMode="auto">
            <a:xfrm flipV="1">
              <a:off x="1615" y="921"/>
              <a:ext cx="40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8" name="Line 12"/>
            <p:cNvSpPr>
              <a:spLocks noChangeShapeType="1"/>
            </p:cNvSpPr>
            <p:nvPr/>
          </p:nvSpPr>
          <p:spPr bwMode="auto">
            <a:xfrm>
              <a:off x="955" y="840"/>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795" name="Object 19"/>
            <p:cNvGraphicFramePr>
              <a:graphicFrameLocks noChangeAspect="1"/>
            </p:cNvGraphicFramePr>
            <p:nvPr/>
          </p:nvGraphicFramePr>
          <p:xfrm>
            <a:off x="952" y="567"/>
            <a:ext cx="218" cy="283"/>
          </p:xfrm>
          <a:graphic>
            <a:graphicData uri="http://schemas.openxmlformats.org/presentationml/2006/ole">
              <mc:AlternateContent xmlns:mc="http://schemas.openxmlformats.org/markup-compatibility/2006">
                <mc:Choice xmlns:v="urn:schemas-microsoft-com:vml" Requires="v">
                  <p:oleObj spid="_x0000_s104660" name="Equation" r:id="rId7" imgW="164880" imgH="228600" progId="Equation.3">
                    <p:embed/>
                  </p:oleObj>
                </mc:Choice>
                <mc:Fallback>
                  <p:oleObj name="Equation" r:id="rId7" imgW="164880" imgH="2286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2" y="567"/>
                          <a:ext cx="21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97" name="Line 21"/>
            <p:cNvSpPr>
              <a:spLocks noChangeShapeType="1"/>
            </p:cNvSpPr>
            <p:nvPr/>
          </p:nvSpPr>
          <p:spPr bwMode="auto">
            <a:xfrm flipH="1">
              <a:off x="932" y="1731"/>
              <a:ext cx="10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800" name="Object 24"/>
            <p:cNvGraphicFramePr>
              <a:graphicFrameLocks noChangeAspect="1"/>
            </p:cNvGraphicFramePr>
            <p:nvPr/>
          </p:nvGraphicFramePr>
          <p:xfrm>
            <a:off x="2096" y="1045"/>
            <a:ext cx="1158" cy="548"/>
          </p:xfrm>
          <a:graphic>
            <a:graphicData uri="http://schemas.openxmlformats.org/presentationml/2006/ole">
              <mc:AlternateContent xmlns:mc="http://schemas.openxmlformats.org/markup-compatibility/2006">
                <mc:Choice xmlns:v="urn:schemas-microsoft-com:vml" Requires="v">
                  <p:oleObj spid="_x0000_s104661" name="Equation" r:id="rId9" imgW="1091880" imgH="469800" progId="Equation.3">
                    <p:embed/>
                  </p:oleObj>
                </mc:Choice>
                <mc:Fallback>
                  <p:oleObj name="Equation" r:id="rId9" imgW="1091880" imgH="469800"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96" y="1045"/>
                          <a:ext cx="1158"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01" name="Text Box 25"/>
            <p:cNvSpPr txBox="1">
              <a:spLocks noChangeArrowheads="1"/>
            </p:cNvSpPr>
            <p:nvPr/>
          </p:nvSpPr>
          <p:spPr bwMode="auto">
            <a:xfrm>
              <a:off x="1668" y="947"/>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5802" name="Text Box 26"/>
            <p:cNvSpPr txBox="1">
              <a:spLocks noChangeArrowheads="1"/>
            </p:cNvSpPr>
            <p:nvPr/>
          </p:nvSpPr>
          <p:spPr bwMode="auto">
            <a:xfrm>
              <a:off x="1675" y="1457"/>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5803" name="Object 27"/>
            <p:cNvGraphicFramePr>
              <a:graphicFrameLocks noChangeAspect="1"/>
            </p:cNvGraphicFramePr>
            <p:nvPr/>
          </p:nvGraphicFramePr>
          <p:xfrm>
            <a:off x="1663" y="1179"/>
            <a:ext cx="235" cy="291"/>
          </p:xfrm>
          <a:graphic>
            <a:graphicData uri="http://schemas.openxmlformats.org/presentationml/2006/ole">
              <mc:AlternateContent xmlns:mc="http://schemas.openxmlformats.org/markup-compatibility/2006">
                <mc:Choice xmlns:v="urn:schemas-microsoft-com:vml" Requires="v">
                  <p:oleObj spid="_x0000_s104662" name="Equation" r:id="rId11" imgW="203040" imgH="228600" progId="Equation.3">
                    <p:embed/>
                  </p:oleObj>
                </mc:Choice>
                <mc:Fallback>
                  <p:oleObj name="Equation" r:id="rId11" imgW="203040" imgH="228600" progId="Equation.3">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63" y="1179"/>
                          <a:ext cx="23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0" name="Rectangle 34"/>
            <p:cNvSpPr>
              <a:spLocks noChangeArrowheads="1"/>
            </p:cNvSpPr>
            <p:nvPr/>
          </p:nvSpPr>
          <p:spPr bwMode="auto">
            <a:xfrm>
              <a:off x="1964" y="1199"/>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4" name="Rectangle 38"/>
            <p:cNvSpPr>
              <a:spLocks noChangeArrowheads="1"/>
            </p:cNvSpPr>
            <p:nvPr/>
          </p:nvSpPr>
          <p:spPr bwMode="auto">
            <a:xfrm rot="5400000">
              <a:off x="1428" y="792"/>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5" name="Line 39"/>
            <p:cNvSpPr>
              <a:spLocks noChangeShapeType="1"/>
            </p:cNvSpPr>
            <p:nvPr/>
          </p:nvSpPr>
          <p:spPr bwMode="auto">
            <a:xfrm>
              <a:off x="932" y="921"/>
              <a:ext cx="411"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6" name="Line 40"/>
            <p:cNvSpPr>
              <a:spLocks noChangeShapeType="1"/>
            </p:cNvSpPr>
            <p:nvPr/>
          </p:nvSpPr>
          <p:spPr bwMode="auto">
            <a:xfrm>
              <a:off x="932" y="927"/>
              <a:ext cx="0" cy="8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8" name="Text Box 42"/>
            <p:cNvSpPr txBox="1">
              <a:spLocks noChangeArrowheads="1"/>
            </p:cNvSpPr>
            <p:nvPr/>
          </p:nvSpPr>
          <p:spPr bwMode="auto">
            <a:xfrm>
              <a:off x="724" y="96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5819" name="Text Box 43"/>
            <p:cNvSpPr txBox="1">
              <a:spLocks noChangeArrowheads="1"/>
            </p:cNvSpPr>
            <p:nvPr/>
          </p:nvSpPr>
          <p:spPr bwMode="auto">
            <a:xfrm>
              <a:off x="724" y="1451"/>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5820" name="Object 44"/>
            <p:cNvGraphicFramePr>
              <a:graphicFrameLocks noChangeAspect="1"/>
            </p:cNvGraphicFramePr>
            <p:nvPr/>
          </p:nvGraphicFramePr>
          <p:xfrm>
            <a:off x="154" y="1247"/>
            <a:ext cx="660" cy="223"/>
          </p:xfrm>
          <a:graphic>
            <a:graphicData uri="http://schemas.openxmlformats.org/presentationml/2006/ole">
              <mc:AlternateContent xmlns:mc="http://schemas.openxmlformats.org/markup-compatibility/2006">
                <mc:Choice xmlns:v="urn:schemas-microsoft-com:vml" Requires="v">
                  <p:oleObj spid="_x0000_s104663" name="Equation" r:id="rId13" imgW="571320" imgH="177480" progId="Equation.3">
                    <p:embed/>
                  </p:oleObj>
                </mc:Choice>
                <mc:Fallback>
                  <p:oleObj name="Equation" r:id="rId13" imgW="571320" imgH="177480" progId="Equation.3">
                    <p:embed/>
                    <p:pic>
                      <p:nvPicPr>
                        <p:cNvPr id="0" name="Object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4" y="1247"/>
                          <a:ext cx="66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21" name="Text Box 45"/>
            <p:cNvSpPr txBox="1">
              <a:spLocks noChangeArrowheads="1"/>
            </p:cNvSpPr>
            <p:nvPr/>
          </p:nvSpPr>
          <p:spPr bwMode="auto">
            <a:xfrm>
              <a:off x="1170" y="591"/>
              <a:ext cx="4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1</a:t>
              </a:r>
              <a:endParaRPr lang="en-US" altLang="zh-CN" b="1"/>
            </a:p>
          </p:txBody>
        </p:sp>
        <p:sp>
          <p:nvSpPr>
            <p:cNvPr id="75832" name="Line 56"/>
            <p:cNvSpPr>
              <a:spLocks noChangeShapeType="1"/>
            </p:cNvSpPr>
            <p:nvPr/>
          </p:nvSpPr>
          <p:spPr bwMode="auto">
            <a:xfrm>
              <a:off x="2021" y="1474"/>
              <a:ext cx="0" cy="2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33" name="Line 57"/>
            <p:cNvSpPr>
              <a:spLocks noChangeShapeType="1"/>
            </p:cNvSpPr>
            <p:nvPr/>
          </p:nvSpPr>
          <p:spPr bwMode="auto">
            <a:xfrm flipH="1">
              <a:off x="2021" y="921"/>
              <a:ext cx="0" cy="2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5835" name="Object 59"/>
          <p:cNvGraphicFramePr>
            <a:graphicFrameLocks noChangeAspect="1"/>
          </p:cNvGraphicFramePr>
          <p:nvPr/>
        </p:nvGraphicFramePr>
        <p:xfrm>
          <a:off x="5367338" y="795338"/>
          <a:ext cx="3617912" cy="787400"/>
        </p:xfrm>
        <a:graphic>
          <a:graphicData uri="http://schemas.openxmlformats.org/presentationml/2006/ole">
            <mc:AlternateContent xmlns:mc="http://schemas.openxmlformats.org/markup-compatibility/2006">
              <mc:Choice xmlns:v="urn:schemas-microsoft-com:vml" Requires="v">
                <p:oleObj spid="_x0000_s104664" name="Equation" r:id="rId15" imgW="1803240" imgH="393480" progId="Equation.3">
                  <p:embed/>
                </p:oleObj>
              </mc:Choice>
              <mc:Fallback>
                <p:oleObj name="Equation" r:id="rId15" imgW="1803240" imgH="393480" progId="Equation.3">
                  <p:embed/>
                  <p:pic>
                    <p:nvPicPr>
                      <p:cNvPr id="0" name="Object 5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7338" y="795338"/>
                        <a:ext cx="3617912"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836" name="Object 60"/>
          <p:cNvGraphicFramePr>
            <a:graphicFrameLocks noChangeAspect="1"/>
          </p:cNvGraphicFramePr>
          <p:nvPr/>
        </p:nvGraphicFramePr>
        <p:xfrm>
          <a:off x="5400675" y="1757363"/>
          <a:ext cx="2241550" cy="860425"/>
        </p:xfrm>
        <a:graphic>
          <a:graphicData uri="http://schemas.openxmlformats.org/presentationml/2006/ole">
            <mc:AlternateContent xmlns:mc="http://schemas.openxmlformats.org/markup-compatibility/2006">
              <mc:Choice xmlns:v="urn:schemas-microsoft-com:vml" Requires="v">
                <p:oleObj spid="_x0000_s104665" name="Equation" r:id="rId17" imgW="1117440" imgH="431640" progId="Equation.3">
                  <p:embed/>
                </p:oleObj>
              </mc:Choice>
              <mc:Fallback>
                <p:oleObj name="Equation" r:id="rId17" imgW="1117440" imgH="431640" progId="Equation.3">
                  <p:embed/>
                  <p:pic>
                    <p:nvPicPr>
                      <p:cNvPr id="0" name="Object 6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00675" y="1757363"/>
                        <a:ext cx="224155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837" name="Text Box 61"/>
          <p:cNvSpPr txBox="1">
            <a:spLocks noChangeArrowheads="1"/>
          </p:cNvSpPr>
          <p:nvPr/>
        </p:nvSpPr>
        <p:spPr bwMode="auto">
          <a:xfrm>
            <a:off x="563563" y="3235325"/>
            <a:ext cx="2938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FF3300"/>
                </a:solidFill>
              </a:rPr>
              <a:t>方法</a:t>
            </a:r>
            <a:r>
              <a:rPr lang="en-US" altLang="zh-CN" b="1">
                <a:solidFill>
                  <a:srgbClr val="FF3300"/>
                </a:solidFill>
              </a:rPr>
              <a:t>3    </a:t>
            </a:r>
            <a:r>
              <a:rPr lang="zh-CN" altLang="en-US" b="1">
                <a:solidFill>
                  <a:srgbClr val="FF3300"/>
                </a:solidFill>
              </a:rPr>
              <a:t>戴维南等效</a:t>
            </a:r>
          </a:p>
        </p:txBody>
      </p:sp>
      <p:grpSp>
        <p:nvGrpSpPr>
          <p:cNvPr id="75895" name="Group 119"/>
          <p:cNvGrpSpPr>
            <a:grpSpLocks/>
          </p:cNvGrpSpPr>
          <p:nvPr/>
        </p:nvGrpSpPr>
        <p:grpSpPr bwMode="auto">
          <a:xfrm>
            <a:off x="449263" y="3824288"/>
            <a:ext cx="4591050" cy="1941512"/>
            <a:chOff x="391" y="2409"/>
            <a:chExt cx="2892" cy="1223"/>
          </a:xfrm>
        </p:grpSpPr>
        <p:sp>
          <p:nvSpPr>
            <p:cNvPr id="75877" name="Oval 101"/>
            <p:cNvSpPr>
              <a:spLocks noChangeArrowheads="1"/>
            </p:cNvSpPr>
            <p:nvPr/>
          </p:nvSpPr>
          <p:spPr bwMode="auto">
            <a:xfrm>
              <a:off x="1059" y="3050"/>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855" name="Object 79"/>
            <p:cNvGraphicFramePr>
              <a:graphicFrameLocks noChangeAspect="1"/>
            </p:cNvGraphicFramePr>
            <p:nvPr/>
          </p:nvGraphicFramePr>
          <p:xfrm>
            <a:off x="1225" y="2420"/>
            <a:ext cx="218" cy="283"/>
          </p:xfrm>
          <a:graphic>
            <a:graphicData uri="http://schemas.openxmlformats.org/presentationml/2006/ole">
              <mc:AlternateContent xmlns:mc="http://schemas.openxmlformats.org/markup-compatibility/2006">
                <mc:Choice xmlns:v="urn:schemas-microsoft-com:vml" Requires="v">
                  <p:oleObj spid="_x0000_s104666" name="Equation" r:id="rId19" imgW="164880" imgH="228600" progId="Equation.3">
                    <p:embed/>
                  </p:oleObj>
                </mc:Choice>
                <mc:Fallback>
                  <p:oleObj name="Equation" r:id="rId19" imgW="164880" imgH="228600" progId="Equation.3">
                    <p:embed/>
                    <p:pic>
                      <p:nvPicPr>
                        <p:cNvPr id="0" name="Object 7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25" y="2420"/>
                          <a:ext cx="21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56" name="Object 80"/>
            <p:cNvGraphicFramePr>
              <a:graphicFrameLocks noChangeAspect="1"/>
            </p:cNvGraphicFramePr>
            <p:nvPr/>
          </p:nvGraphicFramePr>
          <p:xfrm>
            <a:off x="2846" y="2409"/>
            <a:ext cx="240" cy="288"/>
          </p:xfrm>
          <a:graphic>
            <a:graphicData uri="http://schemas.openxmlformats.org/presentationml/2006/ole">
              <mc:AlternateContent xmlns:mc="http://schemas.openxmlformats.org/markup-compatibility/2006">
                <mc:Choice xmlns:v="urn:schemas-microsoft-com:vml" Requires="v">
                  <p:oleObj spid="_x0000_s104667" name="Equation" r:id="rId21" imgW="177480" imgH="228600" progId="Equation.3">
                    <p:embed/>
                  </p:oleObj>
                </mc:Choice>
                <mc:Fallback>
                  <p:oleObj name="Equation" r:id="rId21" imgW="177480" imgH="228600" progId="Equation.3">
                    <p:embed/>
                    <p:pic>
                      <p:nvPicPr>
                        <p:cNvPr id="0" name="Object 8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46" y="2409"/>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39" name="Line 63"/>
            <p:cNvSpPr>
              <a:spLocks noChangeShapeType="1"/>
            </p:cNvSpPr>
            <p:nvPr/>
          </p:nvSpPr>
          <p:spPr bwMode="auto">
            <a:xfrm>
              <a:off x="2035" y="3361"/>
              <a:ext cx="2" cy="2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0" name="Line 64"/>
            <p:cNvSpPr>
              <a:spLocks noChangeShapeType="1"/>
            </p:cNvSpPr>
            <p:nvPr/>
          </p:nvSpPr>
          <p:spPr bwMode="auto">
            <a:xfrm flipH="1">
              <a:off x="2035" y="2785"/>
              <a:ext cx="5"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1" name="Line 65"/>
            <p:cNvSpPr>
              <a:spLocks noChangeShapeType="1"/>
            </p:cNvSpPr>
            <p:nvPr/>
          </p:nvSpPr>
          <p:spPr bwMode="auto">
            <a:xfrm flipH="1">
              <a:off x="2389" y="3384"/>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2" name="Line 66"/>
            <p:cNvSpPr>
              <a:spLocks noChangeShapeType="1"/>
            </p:cNvSpPr>
            <p:nvPr/>
          </p:nvSpPr>
          <p:spPr bwMode="auto">
            <a:xfrm>
              <a:off x="2391" y="2780"/>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3" name="Line 67"/>
            <p:cNvSpPr>
              <a:spLocks noChangeShapeType="1"/>
            </p:cNvSpPr>
            <p:nvPr/>
          </p:nvSpPr>
          <p:spPr bwMode="auto">
            <a:xfrm>
              <a:off x="1764" y="2780"/>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4" name="Line 68"/>
            <p:cNvSpPr>
              <a:spLocks noChangeShapeType="1"/>
            </p:cNvSpPr>
            <p:nvPr/>
          </p:nvSpPr>
          <p:spPr bwMode="auto">
            <a:xfrm flipV="1">
              <a:off x="2391" y="3584"/>
              <a:ext cx="725"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5" name="Line 69"/>
            <p:cNvSpPr>
              <a:spLocks noChangeShapeType="1"/>
            </p:cNvSpPr>
            <p:nvPr/>
          </p:nvSpPr>
          <p:spPr bwMode="auto">
            <a:xfrm rot="5400000">
              <a:off x="2934" y="2565"/>
              <a:ext cx="0" cy="25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6" name="Text Box 70"/>
            <p:cNvSpPr txBox="1">
              <a:spLocks noChangeArrowheads="1"/>
            </p:cNvSpPr>
            <p:nvPr/>
          </p:nvSpPr>
          <p:spPr bwMode="auto">
            <a:xfrm>
              <a:off x="2033" y="2774"/>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5847" name="Text Box 71"/>
            <p:cNvSpPr txBox="1">
              <a:spLocks noChangeArrowheads="1"/>
            </p:cNvSpPr>
            <p:nvPr/>
          </p:nvSpPr>
          <p:spPr bwMode="auto">
            <a:xfrm>
              <a:off x="2218" y="2787"/>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sp>
          <p:nvSpPr>
            <p:cNvPr id="75848" name="Line 72"/>
            <p:cNvSpPr>
              <a:spLocks noChangeShapeType="1"/>
            </p:cNvSpPr>
            <p:nvPr/>
          </p:nvSpPr>
          <p:spPr bwMode="auto">
            <a:xfrm>
              <a:off x="1228" y="2693"/>
              <a:ext cx="24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5849" name="Group 73"/>
            <p:cNvGrpSpPr>
              <a:grpSpLocks/>
            </p:cNvGrpSpPr>
            <p:nvPr/>
          </p:nvGrpSpPr>
          <p:grpSpPr bwMode="auto">
            <a:xfrm rot="16200000" flipH="1">
              <a:off x="2183" y="3174"/>
              <a:ext cx="370" cy="53"/>
              <a:chOff x="1200" y="1584"/>
              <a:chExt cx="379" cy="45"/>
            </a:xfrm>
          </p:grpSpPr>
          <p:sp>
            <p:nvSpPr>
              <p:cNvPr id="75850" name="Arc 74"/>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51" name="Arc 75"/>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52" name="Arc 76"/>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53" name="Arc 77"/>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854" name="Line 78"/>
            <p:cNvSpPr>
              <a:spLocks noChangeShapeType="1"/>
            </p:cNvSpPr>
            <p:nvPr/>
          </p:nvSpPr>
          <p:spPr bwMode="auto">
            <a:xfrm>
              <a:off x="2389" y="2780"/>
              <a:ext cx="727"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57" name="Line 81"/>
            <p:cNvSpPr>
              <a:spLocks noChangeShapeType="1"/>
            </p:cNvSpPr>
            <p:nvPr/>
          </p:nvSpPr>
          <p:spPr bwMode="auto">
            <a:xfrm flipH="1">
              <a:off x="1205" y="3584"/>
              <a:ext cx="8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58" name="Text Box 82"/>
            <p:cNvSpPr txBox="1">
              <a:spLocks noChangeArrowheads="1"/>
            </p:cNvSpPr>
            <p:nvPr/>
          </p:nvSpPr>
          <p:spPr bwMode="auto">
            <a:xfrm>
              <a:off x="2997" y="276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5859" name="Text Box 83"/>
            <p:cNvSpPr txBox="1">
              <a:spLocks noChangeArrowheads="1"/>
            </p:cNvSpPr>
            <p:nvPr/>
          </p:nvSpPr>
          <p:spPr bwMode="auto">
            <a:xfrm>
              <a:off x="3019" y="3344"/>
              <a:ext cx="2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5860" name="Object 84"/>
            <p:cNvGraphicFramePr>
              <a:graphicFrameLocks noChangeAspect="1"/>
            </p:cNvGraphicFramePr>
            <p:nvPr/>
          </p:nvGraphicFramePr>
          <p:xfrm>
            <a:off x="3007" y="3043"/>
            <a:ext cx="276" cy="304"/>
          </p:xfrm>
          <a:graphic>
            <a:graphicData uri="http://schemas.openxmlformats.org/presentationml/2006/ole">
              <mc:AlternateContent xmlns:mc="http://schemas.openxmlformats.org/markup-compatibility/2006">
                <mc:Choice xmlns:v="urn:schemas-microsoft-com:vml" Requires="v">
                  <p:oleObj spid="_x0000_s104668" name="Equation" r:id="rId23" imgW="241200" imgH="241200" progId="Equation.3">
                    <p:embed/>
                  </p:oleObj>
                </mc:Choice>
                <mc:Fallback>
                  <p:oleObj name="Equation" r:id="rId23" imgW="241200" imgH="241200" progId="Equation.3">
                    <p:embed/>
                    <p:pic>
                      <p:nvPicPr>
                        <p:cNvPr id="0" name="Object 8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07" y="3043"/>
                          <a:ext cx="276"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61" name="Text Box 85"/>
            <p:cNvSpPr txBox="1">
              <a:spLocks noChangeArrowheads="1"/>
            </p:cNvSpPr>
            <p:nvPr/>
          </p:nvSpPr>
          <p:spPr bwMode="auto">
            <a:xfrm>
              <a:off x="1780" y="2805"/>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5862" name="Text Box 86"/>
            <p:cNvSpPr txBox="1">
              <a:spLocks noChangeArrowheads="1"/>
            </p:cNvSpPr>
            <p:nvPr/>
          </p:nvSpPr>
          <p:spPr bwMode="auto">
            <a:xfrm>
              <a:off x="1774" y="331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5863" name="Object 87"/>
            <p:cNvGraphicFramePr>
              <a:graphicFrameLocks noChangeAspect="1"/>
            </p:cNvGraphicFramePr>
            <p:nvPr/>
          </p:nvGraphicFramePr>
          <p:xfrm>
            <a:off x="1762" y="3014"/>
            <a:ext cx="235" cy="290"/>
          </p:xfrm>
          <a:graphic>
            <a:graphicData uri="http://schemas.openxmlformats.org/presentationml/2006/ole">
              <mc:AlternateContent xmlns:mc="http://schemas.openxmlformats.org/markup-compatibility/2006">
                <mc:Choice xmlns:v="urn:schemas-microsoft-com:vml" Requires="v">
                  <p:oleObj spid="_x0000_s104669" name="Equation" r:id="rId25" imgW="203040" imgH="228600" progId="Equation.3">
                    <p:embed/>
                  </p:oleObj>
                </mc:Choice>
                <mc:Fallback>
                  <p:oleObj name="Equation" r:id="rId25" imgW="203040" imgH="228600" progId="Equation.3">
                    <p:embed/>
                    <p:pic>
                      <p:nvPicPr>
                        <p:cNvPr id="0" name="Object 8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62" y="3014"/>
                          <a:ext cx="23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864" name="Group 88"/>
            <p:cNvGrpSpPr>
              <a:grpSpLocks/>
            </p:cNvGrpSpPr>
            <p:nvPr/>
          </p:nvGrpSpPr>
          <p:grpSpPr bwMode="auto">
            <a:xfrm rot="5400000">
              <a:off x="1876" y="3155"/>
              <a:ext cx="370" cy="53"/>
              <a:chOff x="1200" y="1584"/>
              <a:chExt cx="379" cy="45"/>
            </a:xfrm>
          </p:grpSpPr>
          <p:sp>
            <p:nvSpPr>
              <p:cNvPr id="75865" name="Arc 89"/>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66" name="Arc 90"/>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67" name="Arc 91"/>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68" name="Arc 92"/>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869" name="Text Box 93"/>
            <p:cNvSpPr txBox="1">
              <a:spLocks noChangeArrowheads="1"/>
            </p:cNvSpPr>
            <p:nvPr/>
          </p:nvSpPr>
          <p:spPr bwMode="auto">
            <a:xfrm>
              <a:off x="1953" y="2454"/>
              <a:ext cx="6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 : 10</a:t>
              </a:r>
            </a:p>
          </p:txBody>
        </p:sp>
        <p:sp>
          <p:nvSpPr>
            <p:cNvPr id="75874" name="Rectangle 98"/>
            <p:cNvSpPr>
              <a:spLocks noChangeArrowheads="1"/>
            </p:cNvSpPr>
            <p:nvPr/>
          </p:nvSpPr>
          <p:spPr bwMode="auto">
            <a:xfrm rot="5400000">
              <a:off x="1569" y="2645"/>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75" name="Line 99"/>
            <p:cNvSpPr>
              <a:spLocks noChangeShapeType="1"/>
            </p:cNvSpPr>
            <p:nvPr/>
          </p:nvSpPr>
          <p:spPr bwMode="auto">
            <a:xfrm>
              <a:off x="1205" y="2774"/>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76" name="Line 100"/>
            <p:cNvSpPr>
              <a:spLocks noChangeShapeType="1"/>
            </p:cNvSpPr>
            <p:nvPr/>
          </p:nvSpPr>
          <p:spPr bwMode="auto">
            <a:xfrm>
              <a:off x="1205" y="2780"/>
              <a:ext cx="0" cy="8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78" name="Text Box 102"/>
            <p:cNvSpPr txBox="1">
              <a:spLocks noChangeArrowheads="1"/>
            </p:cNvSpPr>
            <p:nvPr/>
          </p:nvSpPr>
          <p:spPr bwMode="auto">
            <a:xfrm>
              <a:off x="997" y="2817"/>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5879" name="Text Box 103"/>
            <p:cNvSpPr txBox="1">
              <a:spLocks noChangeArrowheads="1"/>
            </p:cNvSpPr>
            <p:nvPr/>
          </p:nvSpPr>
          <p:spPr bwMode="auto">
            <a:xfrm>
              <a:off x="997" y="330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5880" name="Object 104"/>
            <p:cNvGraphicFramePr>
              <a:graphicFrameLocks noChangeAspect="1"/>
            </p:cNvGraphicFramePr>
            <p:nvPr/>
          </p:nvGraphicFramePr>
          <p:xfrm>
            <a:off x="391" y="3065"/>
            <a:ext cx="665" cy="226"/>
          </p:xfrm>
          <a:graphic>
            <a:graphicData uri="http://schemas.openxmlformats.org/presentationml/2006/ole">
              <mc:AlternateContent xmlns:mc="http://schemas.openxmlformats.org/markup-compatibility/2006">
                <mc:Choice xmlns:v="urn:schemas-microsoft-com:vml" Requires="v">
                  <p:oleObj spid="_x0000_s104670" name="Equation" r:id="rId27" imgW="571320" imgH="177480" progId="Equation.3">
                    <p:embed/>
                  </p:oleObj>
                </mc:Choice>
                <mc:Fallback>
                  <p:oleObj name="Equation" r:id="rId27" imgW="571320" imgH="177480" progId="Equation.3">
                    <p:embed/>
                    <p:pic>
                      <p:nvPicPr>
                        <p:cNvPr id="0" name="Object 10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1" y="3065"/>
                          <a:ext cx="665"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81" name="Text Box 105"/>
            <p:cNvSpPr txBox="1">
              <a:spLocks noChangeArrowheads="1"/>
            </p:cNvSpPr>
            <p:nvPr/>
          </p:nvSpPr>
          <p:spPr bwMode="auto">
            <a:xfrm>
              <a:off x="1443" y="2444"/>
              <a:ext cx="4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1</a:t>
              </a:r>
              <a:endParaRPr lang="en-US" altLang="zh-CN" b="1"/>
            </a:p>
          </p:txBody>
        </p:sp>
        <p:sp>
          <p:nvSpPr>
            <p:cNvPr id="75882" name="Oval 106"/>
            <p:cNvSpPr>
              <a:spLocks noChangeArrowheads="1"/>
            </p:cNvSpPr>
            <p:nvPr/>
          </p:nvSpPr>
          <p:spPr bwMode="auto">
            <a:xfrm>
              <a:off x="3111" y="3564"/>
              <a:ext cx="48" cy="4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83" name="Oval 107"/>
            <p:cNvSpPr>
              <a:spLocks noChangeArrowheads="1"/>
            </p:cNvSpPr>
            <p:nvPr/>
          </p:nvSpPr>
          <p:spPr bwMode="auto">
            <a:xfrm>
              <a:off x="3117" y="2756"/>
              <a:ext cx="48" cy="4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5884" name="Object 108"/>
          <p:cNvGraphicFramePr>
            <a:graphicFrameLocks noChangeAspect="1"/>
          </p:cNvGraphicFramePr>
          <p:nvPr/>
        </p:nvGraphicFramePr>
        <p:xfrm>
          <a:off x="5345113" y="3711575"/>
          <a:ext cx="1320800" cy="479425"/>
        </p:xfrm>
        <a:graphic>
          <a:graphicData uri="http://schemas.openxmlformats.org/presentationml/2006/ole">
            <mc:AlternateContent xmlns:mc="http://schemas.openxmlformats.org/markup-compatibility/2006">
              <mc:Choice xmlns:v="urn:schemas-microsoft-com:vml" Requires="v">
                <p:oleObj spid="_x0000_s104671" name="Equation" r:id="rId29" imgW="660240" imgH="241200" progId="Equation.3">
                  <p:embed/>
                </p:oleObj>
              </mc:Choice>
              <mc:Fallback>
                <p:oleObj name="Equation" r:id="rId29" imgW="660240" imgH="241200" progId="Equation.3">
                  <p:embed/>
                  <p:pic>
                    <p:nvPicPr>
                      <p:cNvPr id="0" name="Object 10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45113" y="3711575"/>
                        <a:ext cx="13208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5823"/>
                                        </p:tgtEl>
                                        <p:attrNameLst>
                                          <p:attrName>style.visibility</p:attrName>
                                        </p:attrNameLst>
                                      </p:cBhvr>
                                      <p:to>
                                        <p:strVal val="visible"/>
                                      </p:to>
                                    </p:set>
                                    <p:anim calcmode="lin" valueType="num">
                                      <p:cBhvr>
                                        <p:cTn id="7" dur="1000" fill="hold"/>
                                        <p:tgtEl>
                                          <p:spTgt spid="75823"/>
                                        </p:tgtEl>
                                        <p:attrNameLst>
                                          <p:attrName>ppt_w</p:attrName>
                                        </p:attrNameLst>
                                      </p:cBhvr>
                                      <p:tavLst>
                                        <p:tav tm="0">
                                          <p:val>
                                            <p:fltVal val="0"/>
                                          </p:val>
                                        </p:tav>
                                        <p:tav tm="100000">
                                          <p:val>
                                            <p:strVal val="#ppt_w"/>
                                          </p:val>
                                        </p:tav>
                                      </p:tavLst>
                                    </p:anim>
                                    <p:anim calcmode="lin" valueType="num">
                                      <p:cBhvr>
                                        <p:cTn id="8" dur="1000" fill="hold"/>
                                        <p:tgtEl>
                                          <p:spTgt spid="75823"/>
                                        </p:tgtEl>
                                        <p:attrNameLst>
                                          <p:attrName>ppt_h</p:attrName>
                                        </p:attrNameLst>
                                      </p:cBhvr>
                                      <p:tavLst>
                                        <p:tav tm="0">
                                          <p:val>
                                            <p:fltVal val="0"/>
                                          </p:val>
                                        </p:tav>
                                        <p:tav tm="100000">
                                          <p:val>
                                            <p:strVal val="#ppt_h"/>
                                          </p:val>
                                        </p:tav>
                                      </p:tavLst>
                                    </p:anim>
                                    <p:anim calcmode="lin" valueType="num">
                                      <p:cBhvr>
                                        <p:cTn id="9" dur="1000" fill="hold"/>
                                        <p:tgtEl>
                                          <p:spTgt spid="7582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582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1" fill="hold" nodeType="clickEffect">
                                  <p:stCondLst>
                                    <p:cond delay="0"/>
                                  </p:stCondLst>
                                  <p:childTnLst>
                                    <p:set>
                                      <p:cBhvr>
                                        <p:cTn id="14" dur="1" fill="hold">
                                          <p:stCondLst>
                                            <p:cond delay="0"/>
                                          </p:stCondLst>
                                        </p:cTn>
                                        <p:tgtEl>
                                          <p:spTgt spid="75894"/>
                                        </p:tgtEl>
                                        <p:attrNameLst>
                                          <p:attrName>style.visibility</p:attrName>
                                        </p:attrNameLst>
                                      </p:cBhvr>
                                      <p:to>
                                        <p:strVal val="visible"/>
                                      </p:to>
                                    </p:set>
                                    <p:animEffect transition="in" filter="slide(fromTop)">
                                      <p:cBhvr>
                                        <p:cTn id="15" dur="500"/>
                                        <p:tgtEl>
                                          <p:spTgt spid="7589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nodeType="clickEffect">
                                  <p:stCondLst>
                                    <p:cond delay="0"/>
                                  </p:stCondLst>
                                  <p:childTnLst>
                                    <p:set>
                                      <p:cBhvr>
                                        <p:cTn id="19" dur="1" fill="hold">
                                          <p:stCondLst>
                                            <p:cond delay="0"/>
                                          </p:stCondLst>
                                        </p:cTn>
                                        <p:tgtEl>
                                          <p:spTgt spid="75835"/>
                                        </p:tgtEl>
                                        <p:attrNameLst>
                                          <p:attrName>style.visibility</p:attrName>
                                        </p:attrNameLst>
                                      </p:cBhvr>
                                      <p:to>
                                        <p:strVal val="visible"/>
                                      </p:to>
                                    </p:set>
                                    <p:anim calcmode="lin" valueType="num">
                                      <p:cBhvr additive="base">
                                        <p:cTn id="20" dur="500" fill="hold"/>
                                        <p:tgtEl>
                                          <p:spTgt spid="75835"/>
                                        </p:tgtEl>
                                        <p:attrNameLst>
                                          <p:attrName>ppt_x</p:attrName>
                                        </p:attrNameLst>
                                      </p:cBhvr>
                                      <p:tavLst>
                                        <p:tav tm="0">
                                          <p:val>
                                            <p:strVal val="1+#ppt_w/2"/>
                                          </p:val>
                                        </p:tav>
                                        <p:tav tm="100000">
                                          <p:val>
                                            <p:strVal val="#ppt_x"/>
                                          </p:val>
                                        </p:tav>
                                      </p:tavLst>
                                    </p:anim>
                                    <p:anim calcmode="lin" valueType="num">
                                      <p:cBhvr additive="base">
                                        <p:cTn id="21" dur="500" fill="hold"/>
                                        <p:tgtEl>
                                          <p:spTgt spid="75835"/>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nodeType="clickEffect">
                                  <p:stCondLst>
                                    <p:cond delay="0"/>
                                  </p:stCondLst>
                                  <p:childTnLst>
                                    <p:set>
                                      <p:cBhvr>
                                        <p:cTn id="25" dur="1" fill="hold">
                                          <p:stCondLst>
                                            <p:cond delay="0"/>
                                          </p:stCondLst>
                                        </p:cTn>
                                        <p:tgtEl>
                                          <p:spTgt spid="75836"/>
                                        </p:tgtEl>
                                        <p:attrNameLst>
                                          <p:attrName>style.visibility</p:attrName>
                                        </p:attrNameLst>
                                      </p:cBhvr>
                                      <p:to>
                                        <p:strVal val="visible"/>
                                      </p:to>
                                    </p:set>
                                    <p:anim calcmode="lin" valueType="num">
                                      <p:cBhvr additive="base">
                                        <p:cTn id="26" dur="500" fill="hold"/>
                                        <p:tgtEl>
                                          <p:spTgt spid="75836"/>
                                        </p:tgtEl>
                                        <p:attrNameLst>
                                          <p:attrName>ppt_x</p:attrName>
                                        </p:attrNameLst>
                                      </p:cBhvr>
                                      <p:tavLst>
                                        <p:tav tm="0">
                                          <p:val>
                                            <p:strVal val="1+#ppt_w/2"/>
                                          </p:val>
                                        </p:tav>
                                        <p:tav tm="100000">
                                          <p:val>
                                            <p:strVal val="#ppt_x"/>
                                          </p:val>
                                        </p:tav>
                                      </p:tavLst>
                                    </p:anim>
                                    <p:anim calcmode="lin" valueType="num">
                                      <p:cBhvr additive="base">
                                        <p:cTn id="27" dur="500" fill="hold"/>
                                        <p:tgtEl>
                                          <p:spTgt spid="75836"/>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75837"/>
                                        </p:tgtEl>
                                        <p:attrNameLst>
                                          <p:attrName>style.visibility</p:attrName>
                                        </p:attrNameLst>
                                      </p:cBhvr>
                                      <p:to>
                                        <p:strVal val="visible"/>
                                      </p:to>
                                    </p:set>
                                    <p:anim calcmode="lin" valueType="num">
                                      <p:cBhvr>
                                        <p:cTn id="32" dur="1000" fill="hold"/>
                                        <p:tgtEl>
                                          <p:spTgt spid="75837"/>
                                        </p:tgtEl>
                                        <p:attrNameLst>
                                          <p:attrName>ppt_w</p:attrName>
                                        </p:attrNameLst>
                                      </p:cBhvr>
                                      <p:tavLst>
                                        <p:tav tm="0">
                                          <p:val>
                                            <p:fltVal val="0"/>
                                          </p:val>
                                        </p:tav>
                                        <p:tav tm="100000">
                                          <p:val>
                                            <p:strVal val="#ppt_w"/>
                                          </p:val>
                                        </p:tav>
                                      </p:tavLst>
                                    </p:anim>
                                    <p:anim calcmode="lin" valueType="num">
                                      <p:cBhvr>
                                        <p:cTn id="33" dur="1000" fill="hold"/>
                                        <p:tgtEl>
                                          <p:spTgt spid="75837"/>
                                        </p:tgtEl>
                                        <p:attrNameLst>
                                          <p:attrName>ppt_h</p:attrName>
                                        </p:attrNameLst>
                                      </p:cBhvr>
                                      <p:tavLst>
                                        <p:tav tm="0">
                                          <p:val>
                                            <p:fltVal val="0"/>
                                          </p:val>
                                        </p:tav>
                                        <p:tav tm="100000">
                                          <p:val>
                                            <p:strVal val="#ppt_h"/>
                                          </p:val>
                                        </p:tav>
                                      </p:tavLst>
                                    </p:anim>
                                    <p:anim calcmode="lin" valueType="num">
                                      <p:cBhvr>
                                        <p:cTn id="34" dur="1000" fill="hold"/>
                                        <p:tgtEl>
                                          <p:spTgt spid="75837"/>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7583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1" fill="hold" nodeType="clickEffect">
                                  <p:stCondLst>
                                    <p:cond delay="0"/>
                                  </p:stCondLst>
                                  <p:childTnLst>
                                    <p:set>
                                      <p:cBhvr>
                                        <p:cTn id="39" dur="1" fill="hold">
                                          <p:stCondLst>
                                            <p:cond delay="0"/>
                                          </p:stCondLst>
                                        </p:cTn>
                                        <p:tgtEl>
                                          <p:spTgt spid="75895"/>
                                        </p:tgtEl>
                                        <p:attrNameLst>
                                          <p:attrName>style.visibility</p:attrName>
                                        </p:attrNameLst>
                                      </p:cBhvr>
                                      <p:to>
                                        <p:strVal val="visible"/>
                                      </p:to>
                                    </p:set>
                                    <p:animEffect transition="in" filter="slide(fromTop)">
                                      <p:cBhvr>
                                        <p:cTn id="40" dur="500"/>
                                        <p:tgtEl>
                                          <p:spTgt spid="7589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75884"/>
                                        </p:tgtEl>
                                        <p:attrNameLst>
                                          <p:attrName>style.visibility</p:attrName>
                                        </p:attrNameLst>
                                      </p:cBhvr>
                                      <p:to>
                                        <p:strVal val="visible"/>
                                      </p:to>
                                    </p:set>
                                    <p:animEffect transition="in" filter="wipe(up)">
                                      <p:cBhvr>
                                        <p:cTn id="45" dur="500"/>
                                        <p:tgtEl>
                                          <p:spTgt spid="7588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75825"/>
                                        </p:tgtEl>
                                        <p:attrNameLst>
                                          <p:attrName>style.visibility</p:attrName>
                                        </p:attrNameLst>
                                      </p:cBhvr>
                                      <p:to>
                                        <p:strVal val="visible"/>
                                      </p:to>
                                    </p:set>
                                    <p:animEffect transition="in" filter="wipe(up)">
                                      <p:cBhvr>
                                        <p:cTn id="50" dur="500"/>
                                        <p:tgtEl>
                                          <p:spTgt spid="7582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75824"/>
                                        </p:tgtEl>
                                        <p:attrNameLst>
                                          <p:attrName>style.visibility</p:attrName>
                                        </p:attrNameLst>
                                      </p:cBhvr>
                                      <p:to>
                                        <p:strVal val="visible"/>
                                      </p:to>
                                    </p:set>
                                    <p:animEffect transition="in" filter="wipe(up)">
                                      <p:cBhvr>
                                        <p:cTn id="55" dur="500"/>
                                        <p:tgtEl>
                                          <p:spTgt spid="75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23" grpId="0" autoUpdateAnimBg="0"/>
      <p:bldP spid="7583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476250" y="438150"/>
            <a:ext cx="215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a:t>
            </a:r>
            <a:r>
              <a:rPr lang="en-US" altLang="zh-CN" b="1"/>
              <a:t>2</a:t>
            </a:r>
            <a:r>
              <a:rPr lang="zh-CN" altLang="en-US" b="1"/>
              <a:t>） 求</a:t>
            </a:r>
            <a:r>
              <a:rPr lang="en-US" altLang="zh-CN" b="1" i="1"/>
              <a:t>R</a:t>
            </a:r>
            <a:r>
              <a:rPr lang="en-US" altLang="zh-CN" b="1" baseline="-25000"/>
              <a:t>0</a:t>
            </a:r>
            <a:endParaRPr lang="en-US" altLang="zh-CN" b="1"/>
          </a:p>
        </p:txBody>
      </p:sp>
      <p:grpSp>
        <p:nvGrpSpPr>
          <p:cNvPr id="76873" name="Group 73"/>
          <p:cNvGrpSpPr>
            <a:grpSpLocks/>
          </p:cNvGrpSpPr>
          <p:nvPr/>
        </p:nvGrpSpPr>
        <p:grpSpPr bwMode="auto">
          <a:xfrm>
            <a:off x="1733550" y="933450"/>
            <a:ext cx="3771900" cy="1852613"/>
            <a:chOff x="1092" y="588"/>
            <a:chExt cx="2376" cy="1167"/>
          </a:xfrm>
        </p:grpSpPr>
        <p:sp>
          <p:nvSpPr>
            <p:cNvPr id="76804" name="Line 4"/>
            <p:cNvSpPr>
              <a:spLocks noChangeShapeType="1"/>
            </p:cNvSpPr>
            <p:nvPr/>
          </p:nvSpPr>
          <p:spPr bwMode="auto">
            <a:xfrm flipH="1">
              <a:off x="1918" y="1505"/>
              <a:ext cx="4" cy="2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5" name="Line 5"/>
            <p:cNvSpPr>
              <a:spLocks noChangeShapeType="1"/>
            </p:cNvSpPr>
            <p:nvPr/>
          </p:nvSpPr>
          <p:spPr bwMode="auto">
            <a:xfrm>
              <a:off x="1918" y="929"/>
              <a:ext cx="4" cy="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6" name="Line 6"/>
            <p:cNvSpPr>
              <a:spLocks noChangeShapeType="1"/>
            </p:cNvSpPr>
            <p:nvPr/>
          </p:nvSpPr>
          <p:spPr bwMode="auto">
            <a:xfrm flipH="1">
              <a:off x="2276" y="1528"/>
              <a:ext cx="0" cy="2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7" name="Line 7"/>
            <p:cNvSpPr>
              <a:spLocks noChangeShapeType="1"/>
            </p:cNvSpPr>
            <p:nvPr/>
          </p:nvSpPr>
          <p:spPr bwMode="auto">
            <a:xfrm>
              <a:off x="2278" y="924"/>
              <a:ext cx="0" cy="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8" name="Line 8"/>
            <p:cNvSpPr>
              <a:spLocks noChangeShapeType="1"/>
            </p:cNvSpPr>
            <p:nvPr/>
          </p:nvSpPr>
          <p:spPr bwMode="auto">
            <a:xfrm>
              <a:off x="1651" y="924"/>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9" name="Line 9"/>
            <p:cNvSpPr>
              <a:spLocks noChangeShapeType="1"/>
            </p:cNvSpPr>
            <p:nvPr/>
          </p:nvSpPr>
          <p:spPr bwMode="auto">
            <a:xfrm flipV="1">
              <a:off x="2278" y="1728"/>
              <a:ext cx="725"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1" name="Text Box 11"/>
            <p:cNvSpPr txBox="1">
              <a:spLocks noChangeArrowheads="1"/>
            </p:cNvSpPr>
            <p:nvPr/>
          </p:nvSpPr>
          <p:spPr bwMode="auto">
            <a:xfrm>
              <a:off x="1896" y="930"/>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FF3300"/>
                  </a:solidFill>
                </a:rPr>
                <a:t>•</a:t>
              </a:r>
            </a:p>
          </p:txBody>
        </p:sp>
        <p:sp>
          <p:nvSpPr>
            <p:cNvPr id="76812" name="Text Box 12"/>
            <p:cNvSpPr txBox="1">
              <a:spLocks noChangeArrowheads="1"/>
            </p:cNvSpPr>
            <p:nvPr/>
          </p:nvSpPr>
          <p:spPr bwMode="auto">
            <a:xfrm>
              <a:off x="2117" y="931"/>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a:solidFill>
                    <a:srgbClr val="FF3300"/>
                  </a:solidFill>
                </a:rPr>
                <a:t>•</a:t>
              </a:r>
            </a:p>
          </p:txBody>
        </p:sp>
        <p:grpSp>
          <p:nvGrpSpPr>
            <p:cNvPr id="76814" name="Group 14"/>
            <p:cNvGrpSpPr>
              <a:grpSpLocks/>
            </p:cNvGrpSpPr>
            <p:nvPr/>
          </p:nvGrpSpPr>
          <p:grpSpPr bwMode="auto">
            <a:xfrm rot="16200000" flipH="1">
              <a:off x="2070" y="1318"/>
              <a:ext cx="370" cy="53"/>
              <a:chOff x="1200" y="1584"/>
              <a:chExt cx="379" cy="45"/>
            </a:xfrm>
          </p:grpSpPr>
          <p:sp>
            <p:nvSpPr>
              <p:cNvPr id="76815" name="Arc 15"/>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6" name="Arc 16"/>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7" name="Arc 17"/>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8" name="Arc 18"/>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19" name="Line 19"/>
            <p:cNvSpPr>
              <a:spLocks noChangeShapeType="1"/>
            </p:cNvSpPr>
            <p:nvPr/>
          </p:nvSpPr>
          <p:spPr bwMode="auto">
            <a:xfrm>
              <a:off x="2276" y="924"/>
              <a:ext cx="727"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0" name="Line 20"/>
            <p:cNvSpPr>
              <a:spLocks noChangeShapeType="1"/>
            </p:cNvSpPr>
            <p:nvPr/>
          </p:nvSpPr>
          <p:spPr bwMode="auto">
            <a:xfrm flipH="1">
              <a:off x="1092" y="1734"/>
              <a:ext cx="8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6827" name="Group 27"/>
            <p:cNvGrpSpPr>
              <a:grpSpLocks/>
            </p:cNvGrpSpPr>
            <p:nvPr/>
          </p:nvGrpSpPr>
          <p:grpSpPr bwMode="auto">
            <a:xfrm rot="5400000">
              <a:off x="1763" y="1299"/>
              <a:ext cx="370" cy="53"/>
              <a:chOff x="1200" y="1584"/>
              <a:chExt cx="379" cy="45"/>
            </a:xfrm>
          </p:grpSpPr>
          <p:sp>
            <p:nvSpPr>
              <p:cNvPr id="76828" name="Arc 28"/>
              <p:cNvSpPr>
                <a:spLocks/>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9" name="Arc 29"/>
              <p:cNvSpPr>
                <a:spLocks/>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0" name="Arc 30"/>
              <p:cNvSpPr>
                <a:spLocks/>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1" name="Arc 31"/>
              <p:cNvSpPr>
                <a:spLocks/>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extrusionOk="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close/>
                  </a:path>
                </a:pathLst>
              </a:custGeom>
              <a:noFill/>
              <a:ln w="317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32" name="Text Box 32"/>
            <p:cNvSpPr txBox="1">
              <a:spLocks noChangeArrowheads="1"/>
            </p:cNvSpPr>
            <p:nvPr/>
          </p:nvSpPr>
          <p:spPr bwMode="auto">
            <a:xfrm>
              <a:off x="1816" y="658"/>
              <a:ext cx="6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1 : 10</a:t>
              </a:r>
            </a:p>
          </p:txBody>
        </p:sp>
        <p:sp>
          <p:nvSpPr>
            <p:cNvPr id="76833" name="Rectangle 33"/>
            <p:cNvSpPr>
              <a:spLocks noChangeArrowheads="1"/>
            </p:cNvSpPr>
            <p:nvPr/>
          </p:nvSpPr>
          <p:spPr bwMode="auto">
            <a:xfrm rot="5400000">
              <a:off x="1456" y="789"/>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4" name="Line 34"/>
            <p:cNvSpPr>
              <a:spLocks noChangeShapeType="1"/>
            </p:cNvSpPr>
            <p:nvPr/>
          </p:nvSpPr>
          <p:spPr bwMode="auto">
            <a:xfrm>
              <a:off x="1092" y="918"/>
              <a:ext cx="273"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5" name="Line 35"/>
            <p:cNvSpPr>
              <a:spLocks noChangeShapeType="1"/>
            </p:cNvSpPr>
            <p:nvPr/>
          </p:nvSpPr>
          <p:spPr bwMode="auto">
            <a:xfrm>
              <a:off x="1092" y="924"/>
              <a:ext cx="0" cy="8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0" name="Text Box 40"/>
            <p:cNvSpPr txBox="1">
              <a:spLocks noChangeArrowheads="1"/>
            </p:cNvSpPr>
            <p:nvPr/>
          </p:nvSpPr>
          <p:spPr bwMode="auto">
            <a:xfrm>
              <a:off x="1330" y="588"/>
              <a:ext cx="4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1</a:t>
              </a:r>
              <a:endParaRPr lang="en-US" altLang="zh-CN" b="1"/>
            </a:p>
          </p:txBody>
        </p:sp>
        <p:sp>
          <p:nvSpPr>
            <p:cNvPr id="76841" name="Oval 41"/>
            <p:cNvSpPr>
              <a:spLocks noChangeArrowheads="1"/>
            </p:cNvSpPr>
            <p:nvPr/>
          </p:nvSpPr>
          <p:spPr bwMode="auto">
            <a:xfrm>
              <a:off x="2998" y="1708"/>
              <a:ext cx="48" cy="4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2" name="Oval 42"/>
            <p:cNvSpPr>
              <a:spLocks noChangeArrowheads="1"/>
            </p:cNvSpPr>
            <p:nvPr/>
          </p:nvSpPr>
          <p:spPr bwMode="auto">
            <a:xfrm>
              <a:off x="3004" y="900"/>
              <a:ext cx="48" cy="47"/>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3" name="AutoShape 43"/>
            <p:cNvSpPr>
              <a:spLocks noChangeArrowheads="1"/>
            </p:cNvSpPr>
            <p:nvPr/>
          </p:nvSpPr>
          <p:spPr bwMode="auto">
            <a:xfrm>
              <a:off x="2880" y="1293"/>
              <a:ext cx="214" cy="93"/>
            </a:xfrm>
            <a:prstGeom prst="leftArrow">
              <a:avLst>
                <a:gd name="adj1" fmla="val 50000"/>
                <a:gd name="adj2" fmla="val 57527"/>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5" name="Text Box 45"/>
            <p:cNvSpPr txBox="1">
              <a:spLocks noChangeArrowheads="1"/>
            </p:cNvSpPr>
            <p:nvPr/>
          </p:nvSpPr>
          <p:spPr bwMode="auto">
            <a:xfrm>
              <a:off x="3094" y="1182"/>
              <a:ext cx="3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0</a:t>
              </a:r>
              <a:endParaRPr lang="en-US" altLang="zh-CN" b="1"/>
            </a:p>
          </p:txBody>
        </p:sp>
      </p:grpSp>
      <p:sp>
        <p:nvSpPr>
          <p:cNvPr id="76846" name="Text Box 46"/>
          <p:cNvSpPr txBox="1">
            <a:spLocks noChangeArrowheads="1"/>
          </p:cNvSpPr>
          <p:nvPr/>
        </p:nvSpPr>
        <p:spPr bwMode="auto">
          <a:xfrm>
            <a:off x="5867400" y="1900238"/>
            <a:ext cx="262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i="1"/>
              <a:t>R</a:t>
            </a:r>
            <a:r>
              <a:rPr lang="en-US" altLang="zh-CN" b="1" baseline="-25000"/>
              <a:t>0</a:t>
            </a:r>
            <a:r>
              <a:rPr lang="en-US" altLang="zh-CN" b="1"/>
              <a:t>=10</a:t>
            </a:r>
            <a:r>
              <a:rPr lang="en-US" altLang="zh-CN" b="1" baseline="30000"/>
              <a:t>2</a:t>
            </a:r>
            <a:r>
              <a:rPr lang="en-US" altLang="zh-CN" b="1">
                <a:sym typeface="Symbol" panose="05050102010706020507" pitchFamily="18" charset="2"/>
              </a:rPr>
              <a:t>1=100</a:t>
            </a:r>
            <a:endParaRPr lang="en-US" altLang="zh-CN" b="1"/>
          </a:p>
        </p:txBody>
      </p:sp>
      <p:sp>
        <p:nvSpPr>
          <p:cNvPr id="76867" name="Text Box 67"/>
          <p:cNvSpPr txBox="1">
            <a:spLocks noChangeArrowheads="1"/>
          </p:cNvSpPr>
          <p:nvPr/>
        </p:nvSpPr>
        <p:spPr bwMode="auto">
          <a:xfrm>
            <a:off x="603250" y="3168650"/>
            <a:ext cx="299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戴维南等效电路</a:t>
            </a:r>
          </a:p>
        </p:txBody>
      </p:sp>
      <p:grpSp>
        <p:nvGrpSpPr>
          <p:cNvPr id="76877" name="Group 77"/>
          <p:cNvGrpSpPr>
            <a:grpSpLocks/>
          </p:cNvGrpSpPr>
          <p:nvPr/>
        </p:nvGrpSpPr>
        <p:grpSpPr bwMode="auto">
          <a:xfrm>
            <a:off x="574675" y="3676650"/>
            <a:ext cx="3810000" cy="1987550"/>
            <a:chOff x="398" y="2520"/>
            <a:chExt cx="2400" cy="1252"/>
          </a:xfrm>
        </p:grpSpPr>
        <p:sp>
          <p:nvSpPr>
            <p:cNvPr id="76860" name="Oval 60"/>
            <p:cNvSpPr>
              <a:spLocks noChangeArrowheads="1"/>
            </p:cNvSpPr>
            <p:nvPr/>
          </p:nvSpPr>
          <p:spPr bwMode="auto">
            <a:xfrm>
              <a:off x="1167" y="3126"/>
              <a:ext cx="272" cy="272"/>
            </a:xfrm>
            <a:prstGeom prst="ellipse">
              <a:avLst/>
            </a:prstGeom>
            <a:solidFill>
              <a:schemeClr val="accent1"/>
            </a:solidFill>
            <a:ln w="317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48" name="Line 48"/>
            <p:cNvSpPr>
              <a:spLocks noChangeShapeType="1"/>
            </p:cNvSpPr>
            <p:nvPr/>
          </p:nvSpPr>
          <p:spPr bwMode="auto">
            <a:xfrm flipV="1">
              <a:off x="1996" y="2850"/>
              <a:ext cx="406"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1" name="Line 51"/>
            <p:cNvSpPr>
              <a:spLocks noChangeShapeType="1"/>
            </p:cNvSpPr>
            <p:nvPr/>
          </p:nvSpPr>
          <p:spPr bwMode="auto">
            <a:xfrm flipH="1">
              <a:off x="1313" y="3666"/>
              <a:ext cx="10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3" name="Text Box 53"/>
            <p:cNvSpPr txBox="1">
              <a:spLocks noChangeArrowheads="1"/>
            </p:cNvSpPr>
            <p:nvPr/>
          </p:nvSpPr>
          <p:spPr bwMode="auto">
            <a:xfrm>
              <a:off x="2538" y="2769"/>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6854" name="Text Box 54"/>
            <p:cNvSpPr txBox="1">
              <a:spLocks noChangeArrowheads="1"/>
            </p:cNvSpPr>
            <p:nvPr/>
          </p:nvSpPr>
          <p:spPr bwMode="auto">
            <a:xfrm>
              <a:off x="2538" y="3484"/>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6855" name="Object 55"/>
            <p:cNvGraphicFramePr>
              <a:graphicFrameLocks noChangeAspect="1"/>
            </p:cNvGraphicFramePr>
            <p:nvPr/>
          </p:nvGraphicFramePr>
          <p:xfrm>
            <a:off x="2527" y="3122"/>
            <a:ext cx="235" cy="290"/>
          </p:xfrm>
          <a:graphic>
            <a:graphicData uri="http://schemas.openxmlformats.org/presentationml/2006/ole">
              <mc:AlternateContent xmlns:mc="http://schemas.openxmlformats.org/markup-compatibility/2006">
                <mc:Choice xmlns:v="urn:schemas-microsoft-com:vml" Requires="v">
                  <p:oleObj spid="_x0000_s76927" name="Equation" r:id="rId3" imgW="203040" imgH="228600" progId="Equation.3">
                    <p:embed/>
                  </p:oleObj>
                </mc:Choice>
                <mc:Fallback>
                  <p:oleObj name="Equation" r:id="rId3" imgW="203040" imgH="228600" progId="Equation.3">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7" y="3122"/>
                          <a:ext cx="23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56" name="Rectangle 56"/>
            <p:cNvSpPr>
              <a:spLocks noChangeArrowheads="1"/>
            </p:cNvSpPr>
            <p:nvPr/>
          </p:nvSpPr>
          <p:spPr bwMode="auto">
            <a:xfrm>
              <a:off x="2345" y="3128"/>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7" name="Rectangle 57"/>
            <p:cNvSpPr>
              <a:spLocks noChangeArrowheads="1"/>
            </p:cNvSpPr>
            <p:nvPr/>
          </p:nvSpPr>
          <p:spPr bwMode="auto">
            <a:xfrm rot="5400000">
              <a:off x="1809" y="2721"/>
              <a:ext cx="102" cy="272"/>
            </a:xfrm>
            <a:prstGeom prst="rect">
              <a:avLst/>
            </a:prstGeom>
            <a:solidFill>
              <a:schemeClr val="accent1"/>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8" name="Line 58"/>
            <p:cNvSpPr>
              <a:spLocks noChangeShapeType="1"/>
            </p:cNvSpPr>
            <p:nvPr/>
          </p:nvSpPr>
          <p:spPr bwMode="auto">
            <a:xfrm>
              <a:off x="1313" y="2850"/>
              <a:ext cx="411" cy="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59" name="Line 59"/>
            <p:cNvSpPr>
              <a:spLocks noChangeShapeType="1"/>
            </p:cNvSpPr>
            <p:nvPr/>
          </p:nvSpPr>
          <p:spPr bwMode="auto">
            <a:xfrm>
              <a:off x="1313" y="2856"/>
              <a:ext cx="0" cy="8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61" name="Text Box 61"/>
            <p:cNvSpPr txBox="1">
              <a:spLocks noChangeArrowheads="1"/>
            </p:cNvSpPr>
            <p:nvPr/>
          </p:nvSpPr>
          <p:spPr bwMode="auto">
            <a:xfrm>
              <a:off x="1105" y="2893"/>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t>+</a:t>
              </a:r>
            </a:p>
          </p:txBody>
        </p:sp>
        <p:sp>
          <p:nvSpPr>
            <p:cNvPr id="76862" name="Text Box 62"/>
            <p:cNvSpPr txBox="1">
              <a:spLocks noChangeArrowheads="1"/>
            </p:cNvSpPr>
            <p:nvPr/>
          </p:nvSpPr>
          <p:spPr bwMode="auto">
            <a:xfrm>
              <a:off x="1105" y="3380"/>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latin typeface="黑体" panose="02010609060101010101" pitchFamily="49" charset="-122"/>
                  <a:ea typeface="黑体" panose="02010609060101010101" pitchFamily="49" charset="-122"/>
                </a:rPr>
                <a:t>-</a:t>
              </a:r>
            </a:p>
          </p:txBody>
        </p:sp>
        <p:graphicFrame>
          <p:nvGraphicFramePr>
            <p:cNvPr id="76863" name="Object 63"/>
            <p:cNvGraphicFramePr>
              <a:graphicFrameLocks noChangeAspect="1"/>
            </p:cNvGraphicFramePr>
            <p:nvPr/>
          </p:nvGraphicFramePr>
          <p:xfrm>
            <a:off x="398" y="3141"/>
            <a:ext cx="757" cy="226"/>
          </p:xfrm>
          <a:graphic>
            <a:graphicData uri="http://schemas.openxmlformats.org/presentationml/2006/ole">
              <mc:AlternateContent xmlns:mc="http://schemas.openxmlformats.org/markup-compatibility/2006">
                <mc:Choice xmlns:v="urn:schemas-microsoft-com:vml" Requires="v">
                  <p:oleObj spid="_x0000_s76928" name="Equation" r:id="rId5" imgW="647640" imgH="177480" progId="Equation.3">
                    <p:embed/>
                  </p:oleObj>
                </mc:Choice>
                <mc:Fallback>
                  <p:oleObj name="Equation" r:id="rId5" imgW="647640" imgH="177480" progId="Equation.3">
                    <p:embed/>
                    <p:pic>
                      <p:nvPicPr>
                        <p:cNvPr id="0"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 y="3141"/>
                          <a:ext cx="757"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64" name="Text Box 64"/>
            <p:cNvSpPr txBox="1">
              <a:spLocks noChangeArrowheads="1"/>
            </p:cNvSpPr>
            <p:nvPr/>
          </p:nvSpPr>
          <p:spPr bwMode="auto">
            <a:xfrm>
              <a:off x="1623" y="2520"/>
              <a:ext cx="6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100</a:t>
              </a:r>
              <a:endParaRPr lang="en-US" altLang="zh-CN" b="1"/>
            </a:p>
          </p:txBody>
        </p:sp>
        <p:sp>
          <p:nvSpPr>
            <p:cNvPr id="76865" name="Line 65"/>
            <p:cNvSpPr>
              <a:spLocks noChangeShapeType="1"/>
            </p:cNvSpPr>
            <p:nvPr/>
          </p:nvSpPr>
          <p:spPr bwMode="auto">
            <a:xfrm>
              <a:off x="2402" y="3403"/>
              <a:ext cx="0" cy="2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66" name="Line 66"/>
            <p:cNvSpPr>
              <a:spLocks noChangeShapeType="1"/>
            </p:cNvSpPr>
            <p:nvPr/>
          </p:nvSpPr>
          <p:spPr bwMode="auto">
            <a:xfrm flipH="1">
              <a:off x="2402" y="2850"/>
              <a:ext cx="0" cy="2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68" name="Text Box 68"/>
            <p:cNvSpPr txBox="1">
              <a:spLocks noChangeArrowheads="1"/>
            </p:cNvSpPr>
            <p:nvPr/>
          </p:nvSpPr>
          <p:spPr bwMode="auto">
            <a:xfrm>
              <a:off x="1891" y="3122"/>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ym typeface="Symbol" panose="05050102010706020507" pitchFamily="18" charset="2"/>
                </a:rPr>
                <a:t>50</a:t>
              </a:r>
              <a:endParaRPr lang="en-US" altLang="zh-CN" b="1"/>
            </a:p>
          </p:txBody>
        </p:sp>
      </p:grpSp>
      <p:graphicFrame>
        <p:nvGraphicFramePr>
          <p:cNvPr id="76869" name="Object 69"/>
          <p:cNvGraphicFramePr>
            <a:graphicFrameLocks noChangeAspect="1"/>
          </p:cNvGraphicFramePr>
          <p:nvPr/>
        </p:nvGraphicFramePr>
        <p:xfrm>
          <a:off x="4635500" y="4552950"/>
          <a:ext cx="4127500" cy="787400"/>
        </p:xfrm>
        <a:graphic>
          <a:graphicData uri="http://schemas.openxmlformats.org/presentationml/2006/ole">
            <mc:AlternateContent xmlns:mc="http://schemas.openxmlformats.org/markup-compatibility/2006">
              <mc:Choice xmlns:v="urn:schemas-microsoft-com:vml" Requires="v">
                <p:oleObj spid="_x0000_s76929" name="Equation" r:id="rId7" imgW="2057400" imgH="393480" progId="Equation.3">
                  <p:embed/>
                </p:oleObj>
              </mc:Choice>
              <mc:Fallback>
                <p:oleObj name="Equation" r:id="rId7" imgW="2057400" imgH="393480" progId="Equation.3">
                  <p:embed/>
                  <p:pic>
                    <p:nvPicPr>
                      <p:cNvPr id="0" name="Object 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500" y="4552950"/>
                        <a:ext cx="41275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additive="base">
                                        <p:cTn id="7" dur="500" fill="hold"/>
                                        <p:tgtEl>
                                          <p:spTgt spid="76802"/>
                                        </p:tgtEl>
                                        <p:attrNameLst>
                                          <p:attrName>ppt_x</p:attrName>
                                        </p:attrNameLst>
                                      </p:cBhvr>
                                      <p:tavLst>
                                        <p:tav tm="0">
                                          <p:val>
                                            <p:strVal val="#ppt_x"/>
                                          </p:val>
                                        </p:tav>
                                        <p:tav tm="100000">
                                          <p:val>
                                            <p:strVal val="#ppt_x"/>
                                          </p:val>
                                        </p:tav>
                                      </p:tavLst>
                                    </p:anim>
                                    <p:anim calcmode="lin" valueType="num">
                                      <p:cBhvr additive="base">
                                        <p:cTn id="8" dur="500" fill="hold"/>
                                        <p:tgtEl>
                                          <p:spTgt spid="7680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nodeType="clickEffect">
                                  <p:stCondLst>
                                    <p:cond delay="0"/>
                                  </p:stCondLst>
                                  <p:childTnLst>
                                    <p:set>
                                      <p:cBhvr>
                                        <p:cTn id="12" dur="1" fill="hold">
                                          <p:stCondLst>
                                            <p:cond delay="0"/>
                                          </p:stCondLst>
                                        </p:cTn>
                                        <p:tgtEl>
                                          <p:spTgt spid="76873"/>
                                        </p:tgtEl>
                                        <p:attrNameLst>
                                          <p:attrName>style.visibility</p:attrName>
                                        </p:attrNameLst>
                                      </p:cBhvr>
                                      <p:to>
                                        <p:strVal val="visible"/>
                                      </p:to>
                                    </p:set>
                                    <p:animEffect transition="in" filter="slide(fromTop)">
                                      <p:cBhvr>
                                        <p:cTn id="13" dur="500"/>
                                        <p:tgtEl>
                                          <p:spTgt spid="7687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6846"/>
                                        </p:tgtEl>
                                        <p:attrNameLst>
                                          <p:attrName>style.visibility</p:attrName>
                                        </p:attrNameLst>
                                      </p:cBhvr>
                                      <p:to>
                                        <p:strVal val="visible"/>
                                      </p:to>
                                    </p:set>
                                    <p:anim calcmode="lin" valueType="num">
                                      <p:cBhvr additive="base">
                                        <p:cTn id="18" dur="500" fill="hold"/>
                                        <p:tgtEl>
                                          <p:spTgt spid="76846"/>
                                        </p:tgtEl>
                                        <p:attrNameLst>
                                          <p:attrName>ppt_x</p:attrName>
                                        </p:attrNameLst>
                                      </p:cBhvr>
                                      <p:tavLst>
                                        <p:tav tm="0">
                                          <p:val>
                                            <p:strVal val="1+#ppt_w/2"/>
                                          </p:val>
                                        </p:tav>
                                        <p:tav tm="100000">
                                          <p:val>
                                            <p:strVal val="#ppt_x"/>
                                          </p:val>
                                        </p:tav>
                                      </p:tavLst>
                                    </p:anim>
                                    <p:anim calcmode="lin" valueType="num">
                                      <p:cBhvr additive="base">
                                        <p:cTn id="19" dur="500" fill="hold"/>
                                        <p:tgtEl>
                                          <p:spTgt spid="7684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6867"/>
                                        </p:tgtEl>
                                        <p:attrNameLst>
                                          <p:attrName>style.visibility</p:attrName>
                                        </p:attrNameLst>
                                      </p:cBhvr>
                                      <p:to>
                                        <p:strVal val="visible"/>
                                      </p:to>
                                    </p:set>
                                    <p:animEffect transition="in" filter="wipe(left)">
                                      <p:cBhvr>
                                        <p:cTn id="24" dur="500"/>
                                        <p:tgtEl>
                                          <p:spTgt spid="7686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76877"/>
                                        </p:tgtEl>
                                        <p:attrNameLst>
                                          <p:attrName>style.visibility</p:attrName>
                                        </p:attrNameLst>
                                      </p:cBhvr>
                                      <p:to>
                                        <p:strVal val="visible"/>
                                      </p:to>
                                    </p:set>
                                    <p:anim calcmode="lin" valueType="num">
                                      <p:cBhvr>
                                        <p:cTn id="29" dur="500" fill="hold"/>
                                        <p:tgtEl>
                                          <p:spTgt spid="76877"/>
                                        </p:tgtEl>
                                        <p:attrNameLst>
                                          <p:attrName>ppt_w</p:attrName>
                                        </p:attrNameLst>
                                      </p:cBhvr>
                                      <p:tavLst>
                                        <p:tav tm="0">
                                          <p:val>
                                            <p:fltVal val="0"/>
                                          </p:val>
                                        </p:tav>
                                        <p:tav tm="100000">
                                          <p:val>
                                            <p:strVal val="#ppt_w"/>
                                          </p:val>
                                        </p:tav>
                                      </p:tavLst>
                                    </p:anim>
                                    <p:anim calcmode="lin" valueType="num">
                                      <p:cBhvr>
                                        <p:cTn id="30" dur="500" fill="hold"/>
                                        <p:tgtEl>
                                          <p:spTgt spid="76877"/>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6869"/>
                                        </p:tgtEl>
                                        <p:attrNameLst>
                                          <p:attrName>style.visibility</p:attrName>
                                        </p:attrNameLst>
                                      </p:cBhvr>
                                      <p:to>
                                        <p:strVal val="visible"/>
                                      </p:to>
                                    </p:set>
                                    <p:animEffect transition="in" filter="wipe(left)">
                                      <p:cBhvr>
                                        <p:cTn id="35" dur="500"/>
                                        <p:tgtEl>
                                          <p:spTgt spid="76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utoUpdateAnimBg="0"/>
      <p:bldP spid="76846" grpId="0" autoUpdateAnimBg="0"/>
      <p:bldP spid="76867"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28650" y="-8733"/>
            <a:ext cx="7886700" cy="1325563"/>
          </a:xfrm>
        </p:spPr>
        <p:txBody>
          <a:bodyPr/>
          <a:lstStyle/>
          <a:p>
            <a:pPr algn="ctr"/>
            <a:r>
              <a:rPr lang="zh-CN" altLang="en-US" dirty="0"/>
              <a:t>作业</a:t>
            </a:r>
          </a:p>
        </p:txBody>
      </p:sp>
      <p:sp>
        <p:nvSpPr>
          <p:cNvPr id="44035" name="内容占位符 2"/>
          <p:cNvSpPr>
            <a:spLocks noGrp="1"/>
          </p:cNvSpPr>
          <p:nvPr>
            <p:ph idx="1"/>
          </p:nvPr>
        </p:nvSpPr>
        <p:spPr>
          <a:xfrm>
            <a:off x="381000" y="914400"/>
            <a:ext cx="8294688" cy="5181600"/>
          </a:xfrm>
        </p:spPr>
        <p:txBody>
          <a:bodyPr/>
          <a:lstStyle/>
          <a:p>
            <a:r>
              <a:rPr lang="en-US" altLang="zh-CN" dirty="0"/>
              <a:t>13.2</a:t>
            </a:r>
            <a:r>
              <a:rPr lang="zh-CN" altLang="en-US" dirty="0"/>
              <a:t>节：</a:t>
            </a:r>
            <a:r>
              <a:rPr lang="en-US" altLang="zh-CN" dirty="0"/>
              <a:t>13-6</a:t>
            </a:r>
          </a:p>
          <a:p>
            <a:r>
              <a:rPr lang="en-US" altLang="zh-CN" dirty="0"/>
              <a:t>13.3</a:t>
            </a:r>
            <a:r>
              <a:rPr lang="zh-CN" altLang="en-US" dirty="0"/>
              <a:t>节：</a:t>
            </a:r>
            <a:r>
              <a:rPr lang="en-US" altLang="zh-CN" dirty="0"/>
              <a:t>13-9</a:t>
            </a:r>
          </a:p>
          <a:p>
            <a:r>
              <a:rPr lang="en-US" altLang="zh-CN" dirty="0"/>
              <a:t>13.4</a:t>
            </a:r>
            <a:r>
              <a:rPr lang="zh-CN" altLang="en-US" dirty="0"/>
              <a:t>节：</a:t>
            </a:r>
            <a:r>
              <a:rPr lang="en-US" altLang="zh-CN" dirty="0"/>
              <a:t>13-15</a:t>
            </a:r>
          </a:p>
          <a:p>
            <a:r>
              <a:rPr lang="en-US" altLang="zh-CN" dirty="0"/>
              <a:t>13.5</a:t>
            </a:r>
            <a:r>
              <a:rPr lang="zh-CN" altLang="en-US" dirty="0"/>
              <a:t>节：</a:t>
            </a:r>
            <a:r>
              <a:rPr lang="en-US" altLang="zh-CN" dirty="0"/>
              <a:t>13-20</a:t>
            </a:r>
          </a:p>
          <a:p>
            <a:endParaRPr lang="en-US" altLang="zh-CN" dirty="0"/>
          </a:p>
        </p:txBody>
      </p:sp>
      <p:sp>
        <p:nvSpPr>
          <p:cNvPr id="4" name="日期占位符 3"/>
          <p:cNvSpPr>
            <a:spLocks noGrp="1"/>
          </p:cNvSpPr>
          <p:nvPr>
            <p:ph type="dt" sz="quarter" idx="10"/>
          </p:nvPr>
        </p:nvSpPr>
        <p:spPr/>
        <p:txBody>
          <a:bodyPr/>
          <a:lstStyle/>
          <a:p>
            <a:pPr>
              <a:defRPr/>
            </a:pPr>
            <a:fld id="{D04BC380-5849-4E82-9448-222F2C781241}" type="datetime1">
              <a:rPr lang="zh-CN" altLang="en-US" smtClean="0"/>
              <a:pPr>
                <a:defRPr/>
              </a:pPr>
              <a:t>2019/5/21</a:t>
            </a:fld>
            <a:endParaRPr lang="en-US" altLang="zh-CN"/>
          </a:p>
        </p:txBody>
      </p:sp>
      <p:sp>
        <p:nvSpPr>
          <p:cNvPr id="5" name="页脚占位符 4"/>
          <p:cNvSpPr>
            <a:spLocks noGrp="1"/>
          </p:cNvSpPr>
          <p:nvPr>
            <p:ph type="ftr" sz="quarter" idx="11"/>
          </p:nvPr>
        </p:nvSpPr>
        <p:spPr/>
        <p:txBody>
          <a:bodyPr/>
          <a:lstStyle/>
          <a:p>
            <a:pPr>
              <a:defRPr/>
            </a:pPr>
            <a:r>
              <a:rPr lang="zh-CN" altLang="en-US"/>
              <a:t>电路理论</a:t>
            </a:r>
            <a:endParaRPr lang="en-US" altLang="zh-CN"/>
          </a:p>
        </p:txBody>
      </p:sp>
      <p:sp>
        <p:nvSpPr>
          <p:cNvPr id="6" name="灯片编号占位符 5"/>
          <p:cNvSpPr>
            <a:spLocks noGrp="1"/>
          </p:cNvSpPr>
          <p:nvPr>
            <p:ph type="sldNum" sz="quarter" idx="12"/>
          </p:nvPr>
        </p:nvSpPr>
        <p:spPr/>
        <p:txBody>
          <a:bodyPr/>
          <a:lstStyle/>
          <a:p>
            <a:pPr>
              <a:defRPr/>
            </a:pPr>
            <a:fld id="{DABECC24-E164-4786-A8C5-2CB7D75106FC}" type="slidenum">
              <a:rPr lang="en-US" altLang="zh-CN" smtClean="0"/>
              <a:pPr>
                <a:defRPr/>
              </a:pPr>
              <a:t>48</a:t>
            </a:fld>
            <a:endParaRPr lang="en-US" altLang="zh-CN"/>
          </a:p>
        </p:txBody>
      </p:sp>
    </p:spTree>
    <p:extLst>
      <p:ext uri="{BB962C8B-B14F-4D97-AF65-F5344CB8AC3E}">
        <p14:creationId xmlns:p14="http://schemas.microsoft.com/office/powerpoint/2010/main" val="4117556436"/>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a:spPr>
      <a:bodyPr vert="horz" wrap="square" lIns="91440" tIns="45720" rIns="91440" bIns="45720" numCol="1" anchor="t" anchorCtr="0" compatLnSpc="1">
        <a:prstTxWarp prst="textNoShape">
          <a:avLst/>
        </a:prstTxWarp>
        <a:spAutoFit/>
      </a:bodyPr>
      <a:lstStyle>
        <a:defPPr marL="0" marR="0" indent="571500" algn="just"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a:spPr>
      <a:bodyPr vert="horz" wrap="square" lIns="91440" tIns="45720" rIns="91440" bIns="45720" numCol="1" anchor="t" anchorCtr="0" compatLnSpc="1">
        <a:prstTxWarp prst="textNoShape">
          <a:avLst/>
        </a:prstTxWarp>
        <a:spAutoFit/>
      </a:bodyPr>
      <a:lstStyle>
        <a:defPPr marL="0" marR="0" indent="571500" algn="just"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5573</TotalTime>
  <Words>2139</Words>
  <Application>Microsoft Office PowerPoint</Application>
  <PresentationFormat>全屏显示(4:3)</PresentationFormat>
  <Paragraphs>734</Paragraphs>
  <Slides>48</Slides>
  <Notes>12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48</vt:i4>
      </vt:variant>
    </vt:vector>
  </HeadingPairs>
  <TitlesOfParts>
    <vt:vector size="62" baseType="lpstr">
      <vt:lpstr>等线</vt:lpstr>
      <vt:lpstr>黑体</vt:lpstr>
      <vt:lpstr>楷体_GB2312</vt:lpstr>
      <vt:lpstr>隶书</vt:lpstr>
      <vt:lpstr>宋体</vt:lpstr>
      <vt:lpstr>Arial</vt:lpstr>
      <vt:lpstr>Symbol</vt:lpstr>
      <vt:lpstr>Times New Roman</vt:lpstr>
      <vt:lpstr>Wingdings</vt:lpstr>
      <vt:lpstr>默认设计模板</vt:lpstr>
      <vt:lpstr>公式</vt:lpstr>
      <vt:lpstr>Equation</vt:lpstr>
      <vt:lpstr>Visio</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Liuxc</dc:creator>
  <cp:lastModifiedBy>Yang Yong</cp:lastModifiedBy>
  <cp:revision>293</cp:revision>
  <dcterms:created xsi:type="dcterms:W3CDTF">1998-05-11T11:08:22Z</dcterms:created>
  <dcterms:modified xsi:type="dcterms:W3CDTF">2019-05-21T10:18:21Z</dcterms:modified>
</cp:coreProperties>
</file>