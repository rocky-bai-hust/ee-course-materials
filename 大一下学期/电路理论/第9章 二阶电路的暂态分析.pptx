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330" r:id="rId2"/>
    <p:sldId id="482" r:id="rId3"/>
    <p:sldId id="485" r:id="rId4"/>
    <p:sldId id="457" r:id="rId5"/>
    <p:sldId id="459" r:id="rId6"/>
    <p:sldId id="486" r:id="rId7"/>
    <p:sldId id="487" r:id="rId8"/>
    <p:sldId id="488" r:id="rId9"/>
    <p:sldId id="489" r:id="rId10"/>
    <p:sldId id="490" r:id="rId11"/>
    <p:sldId id="491" r:id="rId12"/>
    <p:sldId id="492" r:id="rId13"/>
    <p:sldId id="461" r:id="rId14"/>
    <p:sldId id="493" r:id="rId15"/>
    <p:sldId id="495" r:id="rId16"/>
    <p:sldId id="473" r:id="rId17"/>
    <p:sldId id="474" r:id="rId18"/>
    <p:sldId id="475" r:id="rId19"/>
    <p:sldId id="476" r:id="rId20"/>
    <p:sldId id="511" r:id="rId21"/>
    <p:sldId id="496" r:id="rId22"/>
    <p:sldId id="497" r:id="rId23"/>
    <p:sldId id="498" r:id="rId24"/>
    <p:sldId id="499" r:id="rId25"/>
    <p:sldId id="500" r:id="rId26"/>
    <p:sldId id="501" r:id="rId27"/>
    <p:sldId id="502" r:id="rId28"/>
    <p:sldId id="503" r:id="rId29"/>
    <p:sldId id="504" r:id="rId30"/>
    <p:sldId id="505" r:id="rId31"/>
    <p:sldId id="506" r:id="rId32"/>
    <p:sldId id="507" r:id="rId33"/>
    <p:sldId id="508" r:id="rId34"/>
    <p:sldId id="509" r:id="rId35"/>
    <p:sldId id="510" r:id="rId36"/>
    <p:sldId id="494" r:id="rId37"/>
  </p:sldIdLst>
  <p:sldSz cx="9144000" cy="6858000" type="screen4x3"/>
  <p:notesSz cx="6272213" cy="906145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54">
          <p15:clr>
            <a:srgbClr val="A4A3A4"/>
          </p15:clr>
        </p15:guide>
        <p15:guide id="2" pos="197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0000"/>
    <a:srgbClr val="336600"/>
    <a:srgbClr val="003300"/>
    <a:srgbClr val="006600"/>
    <a:srgbClr val="FF9900"/>
    <a:srgbClr val="CCCCF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46" autoAdjust="0"/>
    <p:restoredTop sz="94683" autoAdjust="0"/>
  </p:normalViewPr>
  <p:slideViewPr>
    <p:cSldViewPr>
      <p:cViewPr varScale="1">
        <p:scale>
          <a:sx n="109" d="100"/>
          <a:sy n="109" d="100"/>
        </p:scale>
        <p:origin x="1134" y="78"/>
      </p:cViewPr>
      <p:guideLst>
        <p:guide orient="horz" pos="229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920" y="-84"/>
      </p:cViewPr>
      <p:guideLst>
        <p:guide orient="horz" pos="2854"/>
        <p:guide pos="197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Relationship Id="rId4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11" Type="http://schemas.openxmlformats.org/officeDocument/2006/relationships/image" Target="../media/image18.wmf"/><Relationship Id="rId5" Type="http://schemas.openxmlformats.org/officeDocument/2006/relationships/image" Target="../media/image12.wmf"/><Relationship Id="rId10" Type="http://schemas.openxmlformats.org/officeDocument/2006/relationships/image" Target="../media/image17.wmf"/><Relationship Id="rId4" Type="http://schemas.openxmlformats.org/officeDocument/2006/relationships/image" Target="../media/image11.emf"/><Relationship Id="rId9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21.emf"/><Relationship Id="rId7" Type="http://schemas.openxmlformats.org/officeDocument/2006/relationships/image" Target="../media/image13.wmf"/><Relationship Id="rId2" Type="http://schemas.openxmlformats.org/officeDocument/2006/relationships/image" Target="../media/image20.emf"/><Relationship Id="rId1" Type="http://schemas.openxmlformats.org/officeDocument/2006/relationships/image" Target="../media/image19.emf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Relationship Id="rId9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26.emf"/><Relationship Id="rId1" Type="http://schemas.openxmlformats.org/officeDocument/2006/relationships/image" Target="../media/image25.e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10" Type="http://schemas.openxmlformats.org/officeDocument/2006/relationships/image" Target="../media/image34.wmf"/><Relationship Id="rId4" Type="http://schemas.openxmlformats.org/officeDocument/2006/relationships/image" Target="../media/image28.emf"/><Relationship Id="rId9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emf"/><Relationship Id="rId6" Type="http://schemas.openxmlformats.org/officeDocument/2006/relationships/image" Target="../media/image28.emf"/><Relationship Id="rId5" Type="http://schemas.openxmlformats.org/officeDocument/2006/relationships/image" Target="../media/image38.wmf"/><Relationship Id="rId4" Type="http://schemas.openxmlformats.org/officeDocument/2006/relationships/image" Target="../media/image3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5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41.emf"/><Relationship Id="rId7" Type="http://schemas.openxmlformats.org/officeDocument/2006/relationships/image" Target="../media/image44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3.wmf"/><Relationship Id="rId5" Type="http://schemas.openxmlformats.org/officeDocument/2006/relationships/image" Target="../media/image28.emf"/><Relationship Id="rId10" Type="http://schemas.openxmlformats.org/officeDocument/2006/relationships/image" Target="../media/image47.wmf"/><Relationship Id="rId4" Type="http://schemas.openxmlformats.org/officeDocument/2006/relationships/image" Target="../media/image42.emf"/><Relationship Id="rId9" Type="http://schemas.openxmlformats.org/officeDocument/2006/relationships/image" Target="../media/image4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4" Type="http://schemas.openxmlformats.org/officeDocument/2006/relationships/image" Target="../media/image52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5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image" Target="../media/image60.emf"/><Relationship Id="rId7" Type="http://schemas.openxmlformats.org/officeDocument/2006/relationships/image" Target="../media/image63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2.wmf"/><Relationship Id="rId5" Type="http://schemas.openxmlformats.org/officeDocument/2006/relationships/image" Target="../media/image28.emf"/><Relationship Id="rId4" Type="http://schemas.openxmlformats.org/officeDocument/2006/relationships/image" Target="../media/image61.emf"/><Relationship Id="rId9" Type="http://schemas.openxmlformats.org/officeDocument/2006/relationships/image" Target="../media/image6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7" Type="http://schemas.openxmlformats.org/officeDocument/2006/relationships/image" Target="../media/image72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28.emf"/><Relationship Id="rId1" Type="http://schemas.openxmlformats.org/officeDocument/2006/relationships/image" Target="../media/image74.wmf"/><Relationship Id="rId5" Type="http://schemas.openxmlformats.org/officeDocument/2006/relationships/image" Target="../media/image76.emf"/><Relationship Id="rId4" Type="http://schemas.openxmlformats.org/officeDocument/2006/relationships/image" Target="../media/image56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e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e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e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e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4" Type="http://schemas.openxmlformats.org/officeDocument/2006/relationships/image" Target="../media/image10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4" Type="http://schemas.openxmlformats.org/officeDocument/2006/relationships/image" Target="../media/image11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6" Type="http://schemas.openxmlformats.org/officeDocument/2006/relationships/image" Target="../media/image117.wmf"/><Relationship Id="rId5" Type="http://schemas.openxmlformats.org/officeDocument/2006/relationships/image" Target="../media/image116.wmf"/><Relationship Id="rId4" Type="http://schemas.openxmlformats.org/officeDocument/2006/relationships/image" Target="../media/image11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emf"/><Relationship Id="rId4" Type="http://schemas.openxmlformats.org/officeDocument/2006/relationships/image" Target="../media/image121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4" Type="http://schemas.openxmlformats.org/officeDocument/2006/relationships/image" Target="../media/image128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emf"/><Relationship Id="rId3" Type="http://schemas.openxmlformats.org/officeDocument/2006/relationships/image" Target="../media/image131.emf"/><Relationship Id="rId7" Type="http://schemas.openxmlformats.org/officeDocument/2006/relationships/image" Target="../media/image135.emf"/><Relationship Id="rId2" Type="http://schemas.openxmlformats.org/officeDocument/2006/relationships/image" Target="../media/image130.emf"/><Relationship Id="rId1" Type="http://schemas.openxmlformats.org/officeDocument/2006/relationships/image" Target="../media/image129.emf"/><Relationship Id="rId6" Type="http://schemas.openxmlformats.org/officeDocument/2006/relationships/image" Target="../media/image134.emf"/><Relationship Id="rId5" Type="http://schemas.openxmlformats.org/officeDocument/2006/relationships/image" Target="../media/image133.emf"/><Relationship Id="rId10" Type="http://schemas.openxmlformats.org/officeDocument/2006/relationships/image" Target="../media/image138.emf"/><Relationship Id="rId4" Type="http://schemas.openxmlformats.org/officeDocument/2006/relationships/image" Target="../media/image132.emf"/><Relationship Id="rId9" Type="http://schemas.openxmlformats.org/officeDocument/2006/relationships/image" Target="../media/image137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Relationship Id="rId4" Type="http://schemas.openxmlformats.org/officeDocument/2006/relationships/image" Target="../media/image7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wmf"/><Relationship Id="rId1" Type="http://schemas.openxmlformats.org/officeDocument/2006/relationships/image" Target="../media/image143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4" Type="http://schemas.openxmlformats.org/officeDocument/2006/relationships/image" Target="../media/image150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image" Target="../media/image165.wmf"/><Relationship Id="rId3" Type="http://schemas.openxmlformats.org/officeDocument/2006/relationships/image" Target="../media/image155.wmf"/><Relationship Id="rId7" Type="http://schemas.openxmlformats.org/officeDocument/2006/relationships/image" Target="../media/image159.wmf"/><Relationship Id="rId12" Type="http://schemas.openxmlformats.org/officeDocument/2006/relationships/image" Target="../media/image164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6" Type="http://schemas.openxmlformats.org/officeDocument/2006/relationships/image" Target="../media/image158.wmf"/><Relationship Id="rId11" Type="http://schemas.openxmlformats.org/officeDocument/2006/relationships/image" Target="../media/image163.wmf"/><Relationship Id="rId5" Type="http://schemas.openxmlformats.org/officeDocument/2006/relationships/image" Target="../media/image157.wmf"/><Relationship Id="rId10" Type="http://schemas.openxmlformats.org/officeDocument/2006/relationships/image" Target="../media/image162.wmf"/><Relationship Id="rId4" Type="http://schemas.openxmlformats.org/officeDocument/2006/relationships/image" Target="../media/image156.wmf"/><Relationship Id="rId9" Type="http://schemas.openxmlformats.org/officeDocument/2006/relationships/image" Target="../media/image16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554413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09013"/>
            <a:ext cx="27178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554413" y="8609013"/>
            <a:ext cx="27178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B55446C-030E-4E7F-B3DD-2803846C65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552825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1538" y="677863"/>
            <a:ext cx="4532312" cy="33988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9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28650" y="4303713"/>
            <a:ext cx="5016500" cy="407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29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07425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552825" y="8607425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5336A97-6AA1-49CD-A218-D4CAE58FD5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763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8763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8763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8763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8763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7E5414AB-28EA-400F-B746-428750A43ECB}" type="slidenum">
              <a:rPr lang="en-US" altLang="zh-CN" smtClean="0">
                <a:ea typeface="宋体" panose="02010600030101010101" pitchFamily="2" charset="-122"/>
              </a:rPr>
              <a:pPr/>
              <a:t>1</a:t>
            </a:fld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36A97-6AA1-49CD-A218-D4CAE58FD52D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9298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25475" y="504825"/>
            <a:ext cx="3368675" cy="2527300"/>
          </a:xfrm>
          <a:ln/>
        </p:spPr>
      </p:sp>
      <p:sp>
        <p:nvSpPr>
          <p:cNvPr id="497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904" tIns="32452" rIns="64904" bIns="32452"/>
          <a:lstStyle/>
          <a:p>
            <a:r>
              <a:rPr lang="zh-CN" altLang="en-US" smtClean="0"/>
              <a:t>学习不同类型功放的特点，正确识别电路。</a:t>
            </a:r>
          </a:p>
        </p:txBody>
      </p:sp>
    </p:spTree>
    <p:extLst>
      <p:ext uri="{BB962C8B-B14F-4D97-AF65-F5344CB8AC3E}">
        <p14:creationId xmlns:p14="http://schemas.microsoft.com/office/powerpoint/2010/main" val="4280414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25475" y="504825"/>
            <a:ext cx="3368675" cy="2527300"/>
          </a:xfrm>
          <a:ln/>
        </p:spPr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904" tIns="32452" rIns="64904" bIns="32452"/>
          <a:lstStyle/>
          <a:p>
            <a:r>
              <a:rPr lang="zh-CN" altLang="en-US" smtClean="0"/>
              <a:t>学习不同类型功放的特点，正确识别电路。</a:t>
            </a:r>
          </a:p>
        </p:txBody>
      </p:sp>
    </p:spTree>
    <p:extLst>
      <p:ext uri="{BB962C8B-B14F-4D97-AF65-F5344CB8AC3E}">
        <p14:creationId xmlns:p14="http://schemas.microsoft.com/office/powerpoint/2010/main" val="1444748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25475" y="504825"/>
            <a:ext cx="3368675" cy="2527300"/>
          </a:xfrm>
          <a:ln/>
        </p:spPr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904" tIns="32452" rIns="64904" bIns="32452"/>
          <a:lstStyle/>
          <a:p>
            <a:r>
              <a:rPr lang="zh-CN" altLang="en-US" smtClean="0"/>
              <a:t>学习不同类型功放的特点，正确识别电路。</a:t>
            </a:r>
          </a:p>
        </p:txBody>
      </p:sp>
    </p:spTree>
    <p:extLst>
      <p:ext uri="{BB962C8B-B14F-4D97-AF65-F5344CB8AC3E}">
        <p14:creationId xmlns:p14="http://schemas.microsoft.com/office/powerpoint/2010/main" val="1505099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25475" y="504825"/>
            <a:ext cx="3368675" cy="2527300"/>
          </a:xfrm>
          <a:ln/>
        </p:spPr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904" tIns="32452" rIns="64904" bIns="32452"/>
          <a:lstStyle/>
          <a:p>
            <a:r>
              <a:rPr lang="zh-CN" altLang="en-US" smtClean="0"/>
              <a:t>学习不同类型功放的特点，正确识别电路。</a:t>
            </a:r>
          </a:p>
        </p:txBody>
      </p:sp>
    </p:spTree>
    <p:extLst>
      <p:ext uri="{BB962C8B-B14F-4D97-AF65-F5344CB8AC3E}">
        <p14:creationId xmlns:p14="http://schemas.microsoft.com/office/powerpoint/2010/main" val="2607307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25475" y="504825"/>
            <a:ext cx="3368675" cy="2527300"/>
          </a:xfrm>
          <a:ln/>
        </p:spPr>
      </p:sp>
      <p:sp>
        <p:nvSpPr>
          <p:cNvPr id="532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904" tIns="32452" rIns="64904" bIns="32452"/>
          <a:lstStyle/>
          <a:p>
            <a:r>
              <a:rPr lang="zh-CN" altLang="en-US" smtClean="0"/>
              <a:t>学习不同类型功放的特点，正确识别电路。</a:t>
            </a:r>
          </a:p>
        </p:txBody>
      </p:sp>
    </p:spTree>
    <p:extLst>
      <p:ext uri="{BB962C8B-B14F-4D97-AF65-F5344CB8AC3E}">
        <p14:creationId xmlns:p14="http://schemas.microsoft.com/office/powerpoint/2010/main" val="2164284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25475" y="504825"/>
            <a:ext cx="3368675" cy="2527300"/>
          </a:xfrm>
          <a:ln/>
        </p:spPr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904" tIns="32452" rIns="64904" bIns="32452"/>
          <a:lstStyle/>
          <a:p>
            <a:r>
              <a:rPr lang="zh-CN" altLang="en-US" smtClean="0"/>
              <a:t>学习不同类型功放的特点，正确识别电路。</a:t>
            </a:r>
          </a:p>
        </p:txBody>
      </p:sp>
    </p:spTree>
    <p:extLst>
      <p:ext uri="{BB962C8B-B14F-4D97-AF65-F5344CB8AC3E}">
        <p14:creationId xmlns:p14="http://schemas.microsoft.com/office/powerpoint/2010/main" val="1701557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25475" y="504825"/>
            <a:ext cx="3368675" cy="2527300"/>
          </a:xfrm>
          <a:ln/>
        </p:spPr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904" tIns="32452" rIns="64904" bIns="32452"/>
          <a:lstStyle/>
          <a:p>
            <a:r>
              <a:rPr lang="zh-CN" altLang="en-US" smtClean="0"/>
              <a:t>学习不同类型功放的特点，正确识别电路。</a:t>
            </a:r>
          </a:p>
        </p:txBody>
      </p:sp>
    </p:spTree>
    <p:extLst>
      <p:ext uri="{BB962C8B-B14F-4D97-AF65-F5344CB8AC3E}">
        <p14:creationId xmlns:p14="http://schemas.microsoft.com/office/powerpoint/2010/main" val="2818041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BF706E-160F-4494-A48E-39E87093604C}" type="datetime1">
              <a:rPr lang="zh-CN" altLang="en-US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D5516F-4909-4F7B-ACDC-D806BB6E64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3713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EFE542-0A5B-46B6-92F1-E76C25B62761}" type="datetime1">
              <a:rPr lang="zh-CN" altLang="en-US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F43D13-C057-4D50-8C35-91537BE343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604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84B8A-7F43-42E7-AEC9-31EDA64BFA8D}" type="datetime1">
              <a:rPr lang="zh-CN" altLang="en-US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D0A7DA-DBEB-4136-9723-2C0E33E20B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033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914400"/>
            <a:ext cx="4152900" cy="5181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4152900" cy="5181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021999-3BF0-43CD-A449-D2AC1606D6EB}" type="datetime1">
              <a:rPr lang="zh-CN" altLang="en-US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36766-4C42-4E11-96D1-C55A191688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093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5477E1-5753-4AC4-B5C2-7216E1C06263}" type="datetime1">
              <a:rPr lang="zh-CN" altLang="en-US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196C8-993A-436E-984D-37E0B9F88B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3300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9B695B-4BFE-4667-9271-12DA2733D452}" type="datetime1">
              <a:rPr lang="zh-CN" altLang="en-US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EDE5-11DB-4767-9D54-F2797242CD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7283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4F9F52-11A3-4ABB-8549-FC900F46DBB8}" type="datetime1">
              <a:rPr lang="zh-CN" altLang="en-US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3FFC9-11CC-40BA-81D6-981F559FBE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333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BCC491-9AD5-4F96-81C4-36AC8B42392F}" type="datetime1">
              <a:rPr lang="zh-CN" altLang="en-US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2744F4-0A81-4C46-A728-2012BD437A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4989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FD0970-EA53-49BC-BD95-00A0B107918A}" type="datetime1">
              <a:rPr lang="zh-CN" altLang="en-US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B6C346-B7F5-4D31-9448-77F7F7E39E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388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1B3D50-50FF-478D-BBB6-7E5050A0EDEE}" type="datetime1">
              <a:rPr lang="zh-CN" altLang="en-US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99BF3-8899-4186-9CE1-E2729B0241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6085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188913"/>
            <a:ext cx="2114550" cy="59070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188913"/>
            <a:ext cx="6191250" cy="59070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388D0C-DD58-4A96-8263-7F61C76BE6B8}" type="datetime1">
              <a:rPr lang="zh-CN" altLang="en-US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D136E-681D-4C4F-9A59-3B632A92B5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8313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88913"/>
            <a:ext cx="8458200" cy="457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914400"/>
            <a:ext cx="4152900" cy="5181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6300" y="914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86300" y="3581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76482C-E735-4D1D-9F1D-41817300A2B6}" type="datetime1">
              <a:rPr lang="zh-CN" altLang="en-US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A89C52-E14C-4804-8BBE-D047E41AB1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8255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81000" y="188913"/>
            <a:ext cx="8458200" cy="457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81000" y="914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6300" y="914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81000" y="3581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86300" y="3581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2885D-DC73-4072-863A-A6C068D16020}" type="datetime1">
              <a:rPr lang="zh-CN" altLang="en-US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534F05-E58D-4968-90A4-3AB25BA361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211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81000" y="188913"/>
            <a:ext cx="8458200" cy="59070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F7F9DA-7DC3-4AEF-B9AC-8294CA0EEA72}" type="datetime1">
              <a:rPr lang="zh-CN" altLang="en-US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55AE-DBAC-4290-80DB-27D08747BF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1107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144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400">
                <a:solidFill>
                  <a:srgbClr val="FF6600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09BFC82-F819-49DD-95BE-799C4C23B6CB}" type="datetime1">
              <a:rPr lang="zh-CN" altLang="en-US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722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dirty="0" smtClean="0">
                <a:solidFill>
                  <a:srgbClr val="FF6600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400">
                <a:solidFill>
                  <a:srgbClr val="FF6600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162547-B5BA-47AC-A9BF-629BA09DBC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Picture 7" descr="logo1"/>
          <p:cNvPicPr>
            <a:picLocks noChangeAspect="1" noChangeArrowheads="1"/>
          </p:cNvPicPr>
          <p:nvPr userDrawn="1"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85725"/>
            <a:ext cx="936625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iming>
    <p:tnLst>
      <p:par>
        <p:cTn id="1" dur="indefinite" restart="never" nodeType="tmRoot"/>
      </p:par>
    </p:tnLst>
  </p:timing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emf"/><Relationship Id="rId4" Type="http://schemas.openxmlformats.org/officeDocument/2006/relationships/image" Target="../media/image4.e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5.wmf"/><Relationship Id="rId3" Type="http://schemas.openxmlformats.org/officeDocument/2006/relationships/oleObject" Target="../embeddings/oleObject5.bin"/><Relationship Id="rId21" Type="http://schemas.openxmlformats.org/officeDocument/2006/relationships/oleObject" Target="../embeddings/oleObject14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2.wmf"/><Relationship Id="rId1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.wmf"/><Relationship Id="rId20" Type="http://schemas.openxmlformats.org/officeDocument/2006/relationships/image" Target="../media/image16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9.bin"/><Relationship Id="rId24" Type="http://schemas.openxmlformats.org/officeDocument/2006/relationships/image" Target="../media/image18.wmf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23" Type="http://schemas.openxmlformats.org/officeDocument/2006/relationships/oleObject" Target="../embeddings/oleObject15.bin"/><Relationship Id="rId10" Type="http://schemas.openxmlformats.org/officeDocument/2006/relationships/image" Target="../media/image11.emf"/><Relationship Id="rId19" Type="http://schemas.openxmlformats.org/officeDocument/2006/relationships/oleObject" Target="../embeddings/oleObject13.bin"/><Relationship Id="rId4" Type="http://schemas.openxmlformats.org/officeDocument/2006/relationships/image" Target="../media/image8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3.wmf"/><Relationship Id="rId22" Type="http://schemas.openxmlformats.org/officeDocument/2006/relationships/image" Target="../media/image1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image" Target="../media/image22.emf"/><Relationship Id="rId18" Type="http://schemas.openxmlformats.org/officeDocument/2006/relationships/oleObject" Target="../embeddings/oleObject10.bin"/><Relationship Id="rId3" Type="http://schemas.openxmlformats.org/officeDocument/2006/relationships/slide" Target="slide5.xml"/><Relationship Id="rId21" Type="http://schemas.openxmlformats.org/officeDocument/2006/relationships/image" Target="../media/image14.wmf"/><Relationship Id="rId7" Type="http://schemas.openxmlformats.org/officeDocument/2006/relationships/oleObject" Target="../embeddings/oleObject17.bin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4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1.bin"/><Relationship Id="rId20" Type="http://schemas.openxmlformats.org/officeDocument/2006/relationships/oleObject" Target="../embeddings/oleObject11.bin"/><Relationship Id="rId1" Type="http://schemas.openxmlformats.org/officeDocument/2006/relationships/vmlDrawing" Target="../drawings/vmlDrawing3.vml"/><Relationship Id="rId6" Type="http://schemas.openxmlformats.org/officeDocument/2006/relationships/slide" Target="slide8.xml"/><Relationship Id="rId11" Type="http://schemas.openxmlformats.org/officeDocument/2006/relationships/image" Target="../media/image21.emf"/><Relationship Id="rId5" Type="http://schemas.openxmlformats.org/officeDocument/2006/relationships/image" Target="../media/image19.emf"/><Relationship Id="rId15" Type="http://schemas.openxmlformats.org/officeDocument/2006/relationships/image" Target="../media/image23.emf"/><Relationship Id="rId23" Type="http://schemas.openxmlformats.org/officeDocument/2006/relationships/image" Target="../media/image15.w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13.wmf"/><Relationship Id="rId4" Type="http://schemas.openxmlformats.org/officeDocument/2006/relationships/oleObject" Target="../embeddings/oleObject16.bin"/><Relationship Id="rId9" Type="http://schemas.openxmlformats.org/officeDocument/2006/relationships/slide" Target="slide13.xml"/><Relationship Id="rId14" Type="http://schemas.openxmlformats.org/officeDocument/2006/relationships/oleObject" Target="../embeddings/oleObject20.bin"/><Relationship Id="rId22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32.wmf"/><Relationship Id="rId3" Type="http://schemas.openxmlformats.org/officeDocument/2006/relationships/oleObject" Target="../embeddings/oleObject22.bin"/><Relationship Id="rId21" Type="http://schemas.openxmlformats.org/officeDocument/2006/relationships/oleObject" Target="../embeddings/oleObject31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1.wmf"/><Relationship Id="rId20" Type="http://schemas.openxmlformats.org/officeDocument/2006/relationships/image" Target="../media/image33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28.emf"/><Relationship Id="rId19" Type="http://schemas.openxmlformats.org/officeDocument/2006/relationships/oleObject" Target="../embeddings/oleObject30.bin"/><Relationship Id="rId4" Type="http://schemas.openxmlformats.org/officeDocument/2006/relationships/image" Target="../media/image25.e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0.wmf"/><Relationship Id="rId22" Type="http://schemas.openxmlformats.org/officeDocument/2006/relationships/image" Target="../media/image3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3.wmf"/><Relationship Id="rId4" Type="http://schemas.openxmlformats.org/officeDocument/2006/relationships/image" Target="../media/image35.e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2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5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45.wmf"/><Relationship Id="rId3" Type="http://schemas.openxmlformats.org/officeDocument/2006/relationships/oleObject" Target="../embeddings/oleObject38.bin"/><Relationship Id="rId21" Type="http://schemas.openxmlformats.org/officeDocument/2006/relationships/oleObject" Target="../embeddings/oleObject47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28.emf"/><Relationship Id="rId17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wmf"/><Relationship Id="rId20" Type="http://schemas.openxmlformats.org/officeDocument/2006/relationships/image" Target="../media/image46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23" Type="http://schemas.openxmlformats.org/officeDocument/2006/relationships/image" Target="../media/image48.jpeg"/><Relationship Id="rId10" Type="http://schemas.openxmlformats.org/officeDocument/2006/relationships/image" Target="../media/image42.emf"/><Relationship Id="rId19" Type="http://schemas.openxmlformats.org/officeDocument/2006/relationships/oleObject" Target="../embeddings/oleObject46.bin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3.wmf"/><Relationship Id="rId22" Type="http://schemas.openxmlformats.org/officeDocument/2006/relationships/image" Target="../media/image4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5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52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3" Type="http://schemas.openxmlformats.org/officeDocument/2006/relationships/image" Target="../media/image57.jpeg"/><Relationship Id="rId7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56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64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28.emf"/><Relationship Id="rId17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3.wmf"/><Relationship Id="rId20" Type="http://schemas.openxmlformats.org/officeDocument/2006/relationships/image" Target="../media/image65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61.emf"/><Relationship Id="rId19" Type="http://schemas.openxmlformats.org/officeDocument/2006/relationships/oleObject" Target="../embeddings/oleObject64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6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70.bin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70.wmf"/><Relationship Id="rId17" Type="http://schemas.openxmlformats.org/officeDocument/2006/relationships/image" Target="../media/image73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2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71.bin"/><Relationship Id="rId10" Type="http://schemas.openxmlformats.org/officeDocument/2006/relationships/image" Target="../media/image69.w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7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7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8.e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56.e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7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81.bin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80.wmf"/><Relationship Id="rId17" Type="http://schemas.openxmlformats.org/officeDocument/2006/relationships/image" Target="../media/image8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3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8.bin"/><Relationship Id="rId15" Type="http://schemas.openxmlformats.org/officeDocument/2006/relationships/oleObject" Target="../embeddings/oleObject82.bin"/><Relationship Id="rId10" Type="http://schemas.openxmlformats.org/officeDocument/2006/relationships/image" Target="../media/image84.wmf"/><Relationship Id="rId4" Type="http://schemas.openxmlformats.org/officeDocument/2006/relationships/image" Target="../media/image77.emf"/><Relationship Id="rId9" Type="http://schemas.openxmlformats.org/officeDocument/2006/relationships/image" Target="../media/image83.wmf"/><Relationship Id="rId14" Type="http://schemas.openxmlformats.org/officeDocument/2006/relationships/image" Target="../media/image8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88.bin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80.wmf"/><Relationship Id="rId17" Type="http://schemas.openxmlformats.org/officeDocument/2006/relationships/image" Target="../media/image82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90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87.bin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89.bin"/><Relationship Id="rId10" Type="http://schemas.openxmlformats.org/officeDocument/2006/relationships/image" Target="../media/image89.wmf"/><Relationship Id="rId4" Type="http://schemas.openxmlformats.org/officeDocument/2006/relationships/image" Target="../media/image85.emf"/><Relationship Id="rId9" Type="http://schemas.openxmlformats.org/officeDocument/2006/relationships/image" Target="../media/image88.wmf"/><Relationship Id="rId14" Type="http://schemas.openxmlformats.org/officeDocument/2006/relationships/image" Target="../media/image8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95.bin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80.wmf"/><Relationship Id="rId17" Type="http://schemas.openxmlformats.org/officeDocument/2006/relationships/image" Target="../media/image82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97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6.bin"/><Relationship Id="rId10" Type="http://schemas.openxmlformats.org/officeDocument/2006/relationships/image" Target="../media/image94.wmf"/><Relationship Id="rId4" Type="http://schemas.openxmlformats.org/officeDocument/2006/relationships/image" Target="../media/image90.emf"/><Relationship Id="rId9" Type="http://schemas.openxmlformats.org/officeDocument/2006/relationships/image" Target="../media/image93.wmf"/><Relationship Id="rId14" Type="http://schemas.openxmlformats.org/officeDocument/2006/relationships/image" Target="../media/image8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oleObject" Target="../embeddings/oleObject102.bin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80.wmf"/><Relationship Id="rId17" Type="http://schemas.openxmlformats.org/officeDocument/2006/relationships/image" Target="../media/image82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04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3.bin"/><Relationship Id="rId10" Type="http://schemas.openxmlformats.org/officeDocument/2006/relationships/image" Target="../media/image99.wmf"/><Relationship Id="rId4" Type="http://schemas.openxmlformats.org/officeDocument/2006/relationships/image" Target="../media/image95.emf"/><Relationship Id="rId9" Type="http://schemas.openxmlformats.org/officeDocument/2006/relationships/image" Target="../media/image98.wmf"/><Relationship Id="rId14" Type="http://schemas.openxmlformats.org/officeDocument/2006/relationships/image" Target="../media/image81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06.bin"/><Relationship Id="rId5" Type="http://schemas.openxmlformats.org/officeDocument/2006/relationships/image" Target="../media/image101.emf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0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107.wmf"/><Relationship Id="rId5" Type="http://schemas.openxmlformats.org/officeDocument/2006/relationships/image" Target="../media/image104.wmf"/><Relationship Id="rId10" Type="http://schemas.openxmlformats.org/officeDocument/2006/relationships/oleObject" Target="../embeddings/oleObject111.bin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06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11.wmf"/><Relationship Id="rId5" Type="http://schemas.openxmlformats.org/officeDocument/2006/relationships/image" Target="../media/image108.wmf"/><Relationship Id="rId10" Type="http://schemas.openxmlformats.org/officeDocument/2006/relationships/oleObject" Target="../embeddings/oleObject115.bin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10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13" Type="http://schemas.openxmlformats.org/officeDocument/2006/relationships/image" Target="../media/image116.w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13.wmf"/><Relationship Id="rId12" Type="http://schemas.openxmlformats.org/officeDocument/2006/relationships/oleObject" Target="../embeddings/oleObject1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17.bin"/><Relationship Id="rId11" Type="http://schemas.openxmlformats.org/officeDocument/2006/relationships/image" Target="../media/image115.wmf"/><Relationship Id="rId5" Type="http://schemas.openxmlformats.org/officeDocument/2006/relationships/image" Target="../media/image112.wmf"/><Relationship Id="rId15" Type="http://schemas.openxmlformats.org/officeDocument/2006/relationships/image" Target="../media/image117.wmf"/><Relationship Id="rId10" Type="http://schemas.openxmlformats.org/officeDocument/2006/relationships/oleObject" Target="../embeddings/oleObject119.bin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114.wmf"/><Relationship Id="rId14" Type="http://schemas.openxmlformats.org/officeDocument/2006/relationships/oleObject" Target="../embeddings/oleObject12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4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23.bin"/><Relationship Id="rId11" Type="http://schemas.openxmlformats.org/officeDocument/2006/relationships/image" Target="../media/image121.wmf"/><Relationship Id="rId5" Type="http://schemas.openxmlformats.org/officeDocument/2006/relationships/image" Target="../media/image118.emf"/><Relationship Id="rId10" Type="http://schemas.openxmlformats.org/officeDocument/2006/relationships/oleObject" Target="../embeddings/oleObject125.bin"/><Relationship Id="rId4" Type="http://schemas.openxmlformats.org/officeDocument/2006/relationships/oleObject" Target="../embeddings/oleObject122.bin"/><Relationship Id="rId9" Type="http://schemas.openxmlformats.org/officeDocument/2006/relationships/image" Target="../media/image120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23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27.bin"/><Relationship Id="rId5" Type="http://schemas.openxmlformats.org/officeDocument/2006/relationships/image" Target="../media/image122.wmf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2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128.emf"/><Relationship Id="rId5" Type="http://schemas.openxmlformats.org/officeDocument/2006/relationships/image" Target="../media/image125.wmf"/><Relationship Id="rId10" Type="http://schemas.openxmlformats.org/officeDocument/2006/relationships/oleObject" Target="../embeddings/oleObject132.bin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2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emf"/><Relationship Id="rId13" Type="http://schemas.openxmlformats.org/officeDocument/2006/relationships/image" Target="../media/image133.emf"/><Relationship Id="rId18" Type="http://schemas.openxmlformats.org/officeDocument/2006/relationships/oleObject" Target="../embeddings/oleObject140.bin"/><Relationship Id="rId3" Type="http://schemas.openxmlformats.org/officeDocument/2006/relationships/oleObject" Target="../embeddings/oleObject133.bin"/><Relationship Id="rId21" Type="http://schemas.openxmlformats.org/officeDocument/2006/relationships/image" Target="../media/image137.emf"/><Relationship Id="rId7" Type="http://schemas.openxmlformats.org/officeDocument/2006/relationships/oleObject" Target="../embeddings/oleObject135.bin"/><Relationship Id="rId12" Type="http://schemas.openxmlformats.org/officeDocument/2006/relationships/oleObject" Target="../embeddings/oleObject137.bin"/><Relationship Id="rId17" Type="http://schemas.openxmlformats.org/officeDocument/2006/relationships/image" Target="../media/image13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9.bin"/><Relationship Id="rId20" Type="http://schemas.openxmlformats.org/officeDocument/2006/relationships/oleObject" Target="../embeddings/oleObject141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30.emf"/><Relationship Id="rId11" Type="http://schemas.openxmlformats.org/officeDocument/2006/relationships/image" Target="../media/image139.png"/><Relationship Id="rId5" Type="http://schemas.openxmlformats.org/officeDocument/2006/relationships/oleObject" Target="../embeddings/oleObject134.bin"/><Relationship Id="rId15" Type="http://schemas.openxmlformats.org/officeDocument/2006/relationships/image" Target="../media/image134.emf"/><Relationship Id="rId23" Type="http://schemas.openxmlformats.org/officeDocument/2006/relationships/image" Target="../media/image138.emf"/><Relationship Id="rId10" Type="http://schemas.openxmlformats.org/officeDocument/2006/relationships/image" Target="../media/image132.emf"/><Relationship Id="rId19" Type="http://schemas.openxmlformats.org/officeDocument/2006/relationships/image" Target="../media/image136.emf"/><Relationship Id="rId4" Type="http://schemas.openxmlformats.org/officeDocument/2006/relationships/image" Target="../media/image129.emf"/><Relationship Id="rId9" Type="http://schemas.openxmlformats.org/officeDocument/2006/relationships/oleObject" Target="../embeddings/oleObject136.bin"/><Relationship Id="rId14" Type="http://schemas.openxmlformats.org/officeDocument/2006/relationships/oleObject" Target="../embeddings/oleObject138.bin"/><Relationship Id="rId22" Type="http://schemas.openxmlformats.org/officeDocument/2006/relationships/oleObject" Target="../embeddings/oleObject142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emf"/><Relationship Id="rId4" Type="http://schemas.openxmlformats.org/officeDocument/2006/relationships/image" Target="../media/image4.emf"/><Relationship Id="rId9" Type="http://schemas.openxmlformats.org/officeDocument/2006/relationships/oleObject" Target="../embeddings/oleObject4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emf"/><Relationship Id="rId3" Type="http://schemas.openxmlformats.org/officeDocument/2006/relationships/image" Target="../media/image145.emf"/><Relationship Id="rId7" Type="http://schemas.openxmlformats.org/officeDocument/2006/relationships/image" Target="../media/image144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44.bin"/><Relationship Id="rId5" Type="http://schemas.openxmlformats.org/officeDocument/2006/relationships/image" Target="../media/image143.wmf"/><Relationship Id="rId4" Type="http://schemas.openxmlformats.org/officeDocument/2006/relationships/oleObject" Target="../embeddings/oleObject14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3" Type="http://schemas.openxmlformats.org/officeDocument/2006/relationships/oleObject" Target="../embeddings/oleObject145.bin"/><Relationship Id="rId7" Type="http://schemas.openxmlformats.org/officeDocument/2006/relationships/image" Target="../media/image151.emf"/><Relationship Id="rId12" Type="http://schemas.openxmlformats.org/officeDocument/2006/relationships/image" Target="../media/image15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6.bin"/><Relationship Id="rId10" Type="http://schemas.openxmlformats.org/officeDocument/2006/relationships/image" Target="../media/image152.emf"/><Relationship Id="rId4" Type="http://schemas.openxmlformats.org/officeDocument/2006/relationships/image" Target="../media/image147.wmf"/><Relationship Id="rId9" Type="http://schemas.openxmlformats.org/officeDocument/2006/relationships/image" Target="../media/image149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13" Type="http://schemas.openxmlformats.org/officeDocument/2006/relationships/oleObject" Target="../embeddings/oleObject154.bin"/><Relationship Id="rId18" Type="http://schemas.openxmlformats.org/officeDocument/2006/relationships/image" Target="../media/image160.wmf"/><Relationship Id="rId26" Type="http://schemas.openxmlformats.org/officeDocument/2006/relationships/image" Target="../media/image164.wmf"/><Relationship Id="rId3" Type="http://schemas.openxmlformats.org/officeDocument/2006/relationships/oleObject" Target="../embeddings/oleObject149.bin"/><Relationship Id="rId21" Type="http://schemas.openxmlformats.org/officeDocument/2006/relationships/oleObject" Target="../embeddings/oleObject158.bin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57.wmf"/><Relationship Id="rId17" Type="http://schemas.openxmlformats.org/officeDocument/2006/relationships/oleObject" Target="../embeddings/oleObject156.bin"/><Relationship Id="rId25" Type="http://schemas.openxmlformats.org/officeDocument/2006/relationships/oleObject" Target="../embeddings/oleObject16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9.wmf"/><Relationship Id="rId20" Type="http://schemas.openxmlformats.org/officeDocument/2006/relationships/image" Target="../media/image161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53.bin"/><Relationship Id="rId24" Type="http://schemas.openxmlformats.org/officeDocument/2006/relationships/image" Target="../media/image163.wmf"/><Relationship Id="rId5" Type="http://schemas.openxmlformats.org/officeDocument/2006/relationships/oleObject" Target="../embeddings/oleObject150.bin"/><Relationship Id="rId15" Type="http://schemas.openxmlformats.org/officeDocument/2006/relationships/oleObject" Target="../embeddings/oleObject155.bin"/><Relationship Id="rId23" Type="http://schemas.openxmlformats.org/officeDocument/2006/relationships/oleObject" Target="../embeddings/oleObject159.bin"/><Relationship Id="rId28" Type="http://schemas.openxmlformats.org/officeDocument/2006/relationships/image" Target="../media/image165.wmf"/><Relationship Id="rId10" Type="http://schemas.openxmlformats.org/officeDocument/2006/relationships/image" Target="../media/image156.wmf"/><Relationship Id="rId19" Type="http://schemas.openxmlformats.org/officeDocument/2006/relationships/oleObject" Target="../embeddings/oleObject157.bin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152.bin"/><Relationship Id="rId14" Type="http://schemas.openxmlformats.org/officeDocument/2006/relationships/image" Target="../media/image158.wmf"/><Relationship Id="rId22" Type="http://schemas.openxmlformats.org/officeDocument/2006/relationships/image" Target="../media/image162.wmf"/><Relationship Id="rId27" Type="http://schemas.openxmlformats.org/officeDocument/2006/relationships/oleObject" Target="../embeddings/oleObject161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1"/>
          <p:cNvSpPr>
            <a:spLocks noGrp="1"/>
          </p:cNvSpPr>
          <p:nvPr>
            <p:ph type="dt" sz="quarter" idx="10"/>
          </p:nvPr>
        </p:nvSpPr>
        <p:spPr>
          <a:xfrm>
            <a:off x="107950" y="643890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187188-5796-42D7-A7B5-CEF4D90F31F0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2022/4/13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xfrm>
            <a:off x="2851150" y="64389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84950" y="643890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F25BFA-6FE1-404C-BD42-C52B457ADC06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pSp>
        <p:nvGrpSpPr>
          <p:cNvPr id="4101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970" cy="4956"/>
          </a:xfrm>
        </p:grpSpPr>
        <p:pic>
          <p:nvPicPr>
            <p:cNvPr id="4108" name="Picture 1027" descr="beijing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9" name="Picture 1028" descr="beijing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0" name="Picture 1029" descr="beijing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1" name="Picture 1030" descr="beijing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102" name="Picture 1042" descr="未命名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57200"/>
            <a:ext cx="7753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60" name="Text Box 1060"/>
          <p:cNvSpPr txBox="1">
            <a:spLocks noChangeArrowheads="1"/>
          </p:cNvSpPr>
          <p:nvPr/>
        </p:nvSpPr>
        <p:spPr bwMode="auto">
          <a:xfrm>
            <a:off x="1944688" y="-111125"/>
            <a:ext cx="5724525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第</a:t>
            </a:r>
            <a:r>
              <a:rPr lang="en-US" altLang="zh-CN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</a:t>
            </a:r>
            <a:r>
              <a:rPr lang="zh-CN" alt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章</a:t>
            </a:r>
          </a:p>
          <a:p>
            <a:pPr algn="ctr" eaLnBrk="1" hangingPunct="1">
              <a:defRPr/>
            </a:pPr>
            <a:r>
              <a:rPr lang="zh-CN" alt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二阶电路的暂态分析</a:t>
            </a:r>
          </a:p>
        </p:txBody>
      </p:sp>
      <p:sp>
        <p:nvSpPr>
          <p:cNvPr id="77862" name="Text Box 1062"/>
          <p:cNvSpPr txBox="1">
            <a:spLocks noChangeArrowheads="1"/>
          </p:cNvSpPr>
          <p:nvPr/>
        </p:nvSpPr>
        <p:spPr bwMode="auto">
          <a:xfrm>
            <a:off x="1331913" y="2381250"/>
            <a:ext cx="43402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9.2 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零输入响应（自然响应）　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7880" name="Text Box 1080"/>
          <p:cNvSpPr txBox="1">
            <a:spLocks noChangeArrowheads="1"/>
          </p:cNvSpPr>
          <p:nvPr/>
        </p:nvSpPr>
        <p:spPr bwMode="auto">
          <a:xfrm>
            <a:off x="1325563" y="2967038"/>
            <a:ext cx="6472237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9.3 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直流电源激励下的响应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9" name="Text Box 1074"/>
          <p:cNvSpPr txBox="1">
            <a:spLocks noChangeArrowheads="1"/>
          </p:cNvSpPr>
          <p:nvPr/>
        </p:nvSpPr>
        <p:spPr bwMode="auto">
          <a:xfrm>
            <a:off x="1331913" y="1844675"/>
            <a:ext cx="6883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9.1 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二阶电路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6CC17C-2BF4-4C67-98BA-11F307CBFA9A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2022/4/13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6147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614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EBA4EF-1C51-472B-B002-9A34C4A86085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8" name="Rectangle 25"/>
          <p:cNvSpPr txBox="1">
            <a:spLocks noChangeArrowheads="1"/>
          </p:cNvSpPr>
          <p:nvPr/>
        </p:nvSpPr>
        <p:spPr>
          <a:xfrm>
            <a:off x="381000" y="188913"/>
            <a:ext cx="8458200" cy="457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9.1 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二阶电路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87363" y="996950"/>
          <a:ext cx="3117850" cy="177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7" name="Visio" r:id="rId3" imgW="1558480" imgH="884682" progId="Visio.Drawing.11">
                  <p:embed/>
                </p:oleObj>
              </mc:Choice>
              <mc:Fallback>
                <p:oleObj name="Visio" r:id="rId3" imgW="1558480" imgH="884682" progId="Visio.Drawing.11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3" y="996950"/>
                        <a:ext cx="3117850" cy="177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192713" y="1238250"/>
          <a:ext cx="2892425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" name="Visio" r:id="rId5" imgW="1446181" imgH="891969" progId="Visio.Drawing.11">
                  <p:embed/>
                </p:oleObj>
              </mc:Choice>
              <mc:Fallback>
                <p:oleObj name="Visio" r:id="rId5" imgW="1446181" imgH="891969" progId="Visio.Drawing.11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6479"/>
                      <a:stretch>
                        <a:fillRect/>
                      </a:stretch>
                    </p:blipFill>
                    <p:spPr bwMode="auto">
                      <a:xfrm>
                        <a:off x="5192713" y="1238250"/>
                        <a:ext cx="2892425" cy="150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572000" y="3797300"/>
          <a:ext cx="381635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" name="Visio" r:id="rId7" imgW="1908238" imgH="869680" progId="Visio.Drawing.11">
                  <p:embed/>
                </p:oleObj>
              </mc:Choice>
              <mc:Fallback>
                <p:oleObj name="Visio" r:id="rId7" imgW="1908238" imgH="869680" progId="Visio.Drawing.11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797300"/>
                        <a:ext cx="3816350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77813" y="3662363"/>
          <a:ext cx="3306762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" name="Visio" r:id="rId9" imgW="1653053" imgH="1019124" progId="Visio.Drawing.11">
                  <p:embed/>
                </p:oleObj>
              </mc:Choice>
              <mc:Fallback>
                <p:oleObj name="Visio" r:id="rId9" imgW="1653053" imgH="1019124" progId="Visio.Drawing.11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9639"/>
                      <a:stretch>
                        <a:fillRect/>
                      </a:stretch>
                    </p:blipFill>
                    <p:spPr bwMode="auto">
                      <a:xfrm>
                        <a:off x="277813" y="3662363"/>
                        <a:ext cx="3306762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116013" y="5692775"/>
            <a:ext cx="26116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dirty="0">
                <a:ea typeface="隶书" panose="02010509060101010101" pitchFamily="49" charset="-122"/>
              </a:rPr>
              <a:t>一般二</a:t>
            </a:r>
            <a:r>
              <a:rPr lang="zh-CN" altLang="zh-CN" dirty="0" smtClean="0">
                <a:ea typeface="隶书" panose="02010509060101010101" pitchFamily="49" charset="-122"/>
              </a:rPr>
              <a:t>阶</a:t>
            </a:r>
            <a:r>
              <a:rPr lang="en-US" altLang="zh-CN" dirty="0" smtClean="0">
                <a:ea typeface="隶书" panose="02010509060101010101" pitchFamily="49" charset="-122"/>
              </a:rPr>
              <a:t>RLL</a:t>
            </a:r>
            <a:r>
              <a:rPr lang="zh-CN" altLang="zh-CN" dirty="0" smtClean="0">
                <a:ea typeface="隶书" panose="02010509060101010101" pitchFamily="49" charset="-122"/>
              </a:rPr>
              <a:t>电路</a:t>
            </a:r>
            <a:endParaRPr lang="zh-CN" altLang="en-US" dirty="0">
              <a:ea typeface="隶书" panose="02010509060101010101" pitchFamily="49" charset="-122"/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5622925" y="5759450"/>
            <a:ext cx="2646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dirty="0">
                <a:ea typeface="隶书" panose="02010509060101010101" pitchFamily="49" charset="-122"/>
              </a:rPr>
              <a:t>一般二</a:t>
            </a:r>
            <a:r>
              <a:rPr lang="zh-CN" altLang="zh-CN" dirty="0" smtClean="0">
                <a:ea typeface="隶书" panose="02010509060101010101" pitchFamily="49" charset="-122"/>
              </a:rPr>
              <a:t>阶</a:t>
            </a:r>
            <a:r>
              <a:rPr lang="en-US" altLang="zh-CN" dirty="0" smtClean="0">
                <a:ea typeface="隶书" panose="02010509060101010101" pitchFamily="49" charset="-122"/>
              </a:rPr>
              <a:t>RCC</a:t>
            </a:r>
            <a:r>
              <a:rPr lang="zh-CN" altLang="zh-CN" dirty="0" smtClean="0">
                <a:ea typeface="隶书" panose="02010509060101010101" pitchFamily="49" charset="-122"/>
              </a:rPr>
              <a:t>电路</a:t>
            </a:r>
            <a:endParaRPr lang="zh-CN" altLang="en-US" dirty="0">
              <a:ea typeface="隶书" panose="02010509060101010101" pitchFamily="49" charset="-122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116013" y="2901950"/>
            <a:ext cx="2012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隶书" panose="02010509060101010101" pitchFamily="49" charset="-122"/>
              </a:rPr>
              <a:t>RLC</a:t>
            </a:r>
            <a:r>
              <a:rPr lang="zh-CN" altLang="en-US">
                <a:ea typeface="隶书" panose="02010509060101010101" pitchFamily="49" charset="-122"/>
              </a:rPr>
              <a:t>串</a:t>
            </a:r>
            <a:r>
              <a:rPr lang="zh-CN" altLang="zh-CN">
                <a:ea typeface="隶书" panose="02010509060101010101" pitchFamily="49" charset="-122"/>
              </a:rPr>
              <a:t>联电路</a:t>
            </a:r>
            <a:endParaRPr lang="zh-CN" altLang="en-US">
              <a:ea typeface="隶书" panose="02010509060101010101" pitchFamily="49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5795963" y="2901950"/>
            <a:ext cx="2014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隶书" panose="02010509060101010101" pitchFamily="49" charset="-122"/>
              </a:rPr>
              <a:t>RLC</a:t>
            </a:r>
            <a:r>
              <a:rPr lang="zh-CN" altLang="zh-CN">
                <a:ea typeface="隶书" panose="02010509060101010101" pitchFamily="49" charset="-122"/>
              </a:rPr>
              <a:t>并联电路</a:t>
            </a:r>
            <a:endParaRPr lang="zh-CN" altLang="en-US"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AC2F0C-66CA-4A3F-BE8A-E0362E578227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2022/4/13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EB2F47-5AB1-4830-BEB8-2C560C0D2324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113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039214"/>
              </p:ext>
            </p:extLst>
          </p:nvPr>
        </p:nvGraphicFramePr>
        <p:xfrm>
          <a:off x="4724400" y="1916832"/>
          <a:ext cx="26654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8" name="Equation" r:id="rId3" imgW="1333500" imgH="228600" progId="Equation.3">
                  <p:embed/>
                </p:oleObj>
              </mc:Choice>
              <mc:Fallback>
                <p:oleObj name="Equation" r:id="rId3" imgW="1333500" imgH="228600" progId="Equation.3">
                  <p:embed/>
                  <p:pic>
                    <p:nvPicPr>
                      <p:cNvPr id="31130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916832"/>
                        <a:ext cx="26654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038402"/>
              </p:ext>
            </p:extLst>
          </p:nvPr>
        </p:nvGraphicFramePr>
        <p:xfrm>
          <a:off x="4864100" y="2420888"/>
          <a:ext cx="34782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9" name="Equation" r:id="rId5" imgW="1739900" imgH="469900" progId="Equation.DSMT4">
                  <p:embed/>
                </p:oleObj>
              </mc:Choice>
              <mc:Fallback>
                <p:oleObj name="Equation" r:id="rId5" imgW="1739900" imgH="469900" progId="Equation.DSMT4">
                  <p:embed/>
                  <p:pic>
                    <p:nvPicPr>
                      <p:cNvPr id="31130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4100" y="2420888"/>
                        <a:ext cx="34782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07" name="Rectangle 11"/>
          <p:cNvSpPr>
            <a:spLocks noChangeArrowheads="1"/>
          </p:cNvSpPr>
          <p:nvPr/>
        </p:nvSpPr>
        <p:spPr bwMode="auto">
          <a:xfrm>
            <a:off x="683568" y="3391017"/>
            <a:ext cx="19800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8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特征方程：</a:t>
            </a:r>
            <a:endParaRPr lang="en-US" altLang="zh-CN" sz="28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311308" name="Group 12"/>
          <p:cNvGrpSpPr>
            <a:grpSpLocks/>
          </p:cNvGrpSpPr>
          <p:nvPr/>
        </p:nvGrpSpPr>
        <p:grpSpPr bwMode="auto">
          <a:xfrm>
            <a:off x="4343400" y="1054100"/>
            <a:ext cx="4011613" cy="1798638"/>
            <a:chOff x="2736" y="96"/>
            <a:chExt cx="2527" cy="1133"/>
          </a:xfrm>
        </p:grpSpPr>
        <p:graphicFrame>
          <p:nvGraphicFramePr>
            <p:cNvPr id="7191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9330513"/>
                </p:ext>
              </p:extLst>
            </p:nvPr>
          </p:nvGraphicFramePr>
          <p:xfrm>
            <a:off x="2864" y="96"/>
            <a:ext cx="2399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80" name="公式" r:id="rId7" imgW="1904760" imgH="419040" progId="Equation.3">
                    <p:embed/>
                  </p:oleObj>
                </mc:Choice>
                <mc:Fallback>
                  <p:oleObj name="公式" r:id="rId7" imgW="1904760" imgH="419040" progId="Equation.3">
                    <p:embed/>
                    <p:pic>
                      <p:nvPicPr>
                        <p:cNvPr id="7191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4" y="96"/>
                          <a:ext cx="2399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2" name="AutoShape 14"/>
            <p:cNvSpPr>
              <a:spLocks/>
            </p:cNvSpPr>
            <p:nvPr/>
          </p:nvSpPr>
          <p:spPr bwMode="auto">
            <a:xfrm>
              <a:off x="2736" y="336"/>
              <a:ext cx="149" cy="893"/>
            </a:xfrm>
            <a:prstGeom prst="leftBrace">
              <a:avLst>
                <a:gd name="adj1" fmla="val 63889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zh-CN">
                <a:solidFill>
                  <a:schemeClr val="hlink"/>
                </a:solidFill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7187" name="Object 23"/>
          <p:cNvGraphicFramePr>
            <a:graphicFrameLocks noChangeAspect="1"/>
          </p:cNvGraphicFramePr>
          <p:nvPr/>
        </p:nvGraphicFramePr>
        <p:xfrm>
          <a:off x="152400" y="1143000"/>
          <a:ext cx="3970338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1" name="Visio" r:id="rId9" imgW="2014109" imgH="1137826" progId="Visio.Drawing.11">
                  <p:embed/>
                </p:oleObj>
              </mc:Choice>
              <mc:Fallback>
                <p:oleObj name="Visio" r:id="rId9" imgW="2014109" imgH="1137826" progId="Visio.Drawing.11">
                  <p:embed/>
                  <p:pic>
                    <p:nvPicPr>
                      <p:cNvPr id="718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143000"/>
                        <a:ext cx="3970338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21" name="Rectangle 2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9.2 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二阶电路的零输入响应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311322" name="Rectangle 26"/>
          <p:cNvSpPr>
            <a:spLocks noChangeArrowheads="1"/>
          </p:cNvSpPr>
          <p:nvPr/>
        </p:nvSpPr>
        <p:spPr bwMode="auto">
          <a:xfrm>
            <a:off x="323850" y="620713"/>
            <a:ext cx="8208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                ——</a:t>
            </a:r>
            <a:r>
              <a:rPr lang="zh-CN" altLang="en-US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暂态分量的变化规律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graphicFrame>
        <p:nvGraphicFramePr>
          <p:cNvPr id="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699267"/>
              </p:ext>
            </p:extLst>
          </p:nvPr>
        </p:nvGraphicFramePr>
        <p:xfrm>
          <a:off x="802488" y="4034840"/>
          <a:ext cx="2277269" cy="394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2" name="Equation" r:id="rId11" imgW="1180800" imgH="203040" progId="Equation.DSMT4">
                  <p:embed/>
                </p:oleObj>
              </mc:Choice>
              <mc:Fallback>
                <p:oleObj name="Equation" r:id="rId11" imgW="1180800" imgH="203040" progId="Equation.DSMT4">
                  <p:embed/>
                  <p:pic>
                    <p:nvPicPr>
                      <p:cNvPr id="1740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488" y="4034840"/>
                        <a:ext cx="2277269" cy="3944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400056"/>
              </p:ext>
            </p:extLst>
          </p:nvPr>
        </p:nvGraphicFramePr>
        <p:xfrm>
          <a:off x="2660714" y="4370414"/>
          <a:ext cx="3379788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3" name="公式" r:id="rId13" imgW="1536700" imgH="419100" progId="Equation.3">
                  <p:embed/>
                </p:oleObj>
              </mc:Choice>
              <mc:Fallback>
                <p:oleObj name="公式" r:id="rId13" imgW="1536700" imgH="419100" progId="Equation.3">
                  <p:embed/>
                  <p:pic>
                    <p:nvPicPr>
                      <p:cNvPr id="3113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714" y="4370414"/>
                        <a:ext cx="3379788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45071"/>
              </p:ext>
            </p:extLst>
          </p:nvPr>
        </p:nvGraphicFramePr>
        <p:xfrm>
          <a:off x="6832476" y="5509096"/>
          <a:ext cx="21320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4" name="Equation" r:id="rId15" imgW="1066800" imgH="292100" progId="Equation.3">
                  <p:embed/>
                </p:oleObj>
              </mc:Choice>
              <mc:Fallback>
                <p:oleObj name="Equation" r:id="rId15" imgW="1066800" imgH="292100" progId="Equation.3">
                  <p:embed/>
                  <p:pic>
                    <p:nvPicPr>
                      <p:cNvPr id="31130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476" y="5509096"/>
                        <a:ext cx="21320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11"/>
          <p:cNvSpPr>
            <a:spLocks noChangeArrowheads="1"/>
          </p:cNvSpPr>
          <p:nvPr/>
        </p:nvSpPr>
        <p:spPr bwMode="auto">
          <a:xfrm>
            <a:off x="683568" y="4628808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8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特征根：</a:t>
            </a:r>
            <a:endParaRPr lang="en-US" altLang="zh-CN" sz="28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3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919301"/>
              </p:ext>
            </p:extLst>
          </p:nvPr>
        </p:nvGraphicFramePr>
        <p:xfrm>
          <a:off x="6045090" y="4449573"/>
          <a:ext cx="2738437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5" name="公式" r:id="rId17" imgW="1244600" imgH="393700" progId="Equation.3">
                  <p:embed/>
                </p:oleObj>
              </mc:Choice>
              <mc:Fallback>
                <p:oleObj name="公式" r:id="rId17" imgW="1244600" imgH="393700" progId="Equation.3">
                  <p:embed/>
                  <p:pic>
                    <p:nvPicPr>
                      <p:cNvPr id="2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090" y="4449573"/>
                        <a:ext cx="2738437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821211"/>
              </p:ext>
            </p:extLst>
          </p:nvPr>
        </p:nvGraphicFramePr>
        <p:xfrm>
          <a:off x="769493" y="5520816"/>
          <a:ext cx="4973657" cy="691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6" name="Equation" r:id="rId19" imgW="3200400" imgH="444240" progId="Equation.DSMT4">
                  <p:embed/>
                </p:oleObj>
              </mc:Choice>
              <mc:Fallback>
                <p:oleObj name="Equation" r:id="rId19" imgW="3200400" imgH="444240" progId="Equation.DSMT4">
                  <p:embed/>
                  <p:pic>
                    <p:nvPicPr>
                      <p:cNvPr id="2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493" y="5520816"/>
                        <a:ext cx="4973657" cy="6915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041765"/>
              </p:ext>
            </p:extLst>
          </p:nvPr>
        </p:nvGraphicFramePr>
        <p:xfrm>
          <a:off x="4588669" y="1107962"/>
          <a:ext cx="37576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7" name="公式" r:id="rId21" imgW="1879560" imgH="419040" progId="Equation.3">
                  <p:embed/>
                </p:oleObj>
              </mc:Choice>
              <mc:Fallback>
                <p:oleObj name="公式" r:id="rId21" imgW="1879560" imgH="419040" progId="Equation.3">
                  <p:embed/>
                  <p:pic>
                    <p:nvPicPr>
                      <p:cNvPr id="719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8669" y="1107962"/>
                        <a:ext cx="3757612" cy="838200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7226481"/>
              </p:ext>
            </p:extLst>
          </p:nvPr>
        </p:nvGraphicFramePr>
        <p:xfrm>
          <a:off x="3256321" y="3556134"/>
          <a:ext cx="271621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8" name="公式" r:id="rId23" imgW="1358640" imgH="406080" progId="Equation.3">
                  <p:embed/>
                </p:oleObj>
              </mc:Choice>
              <mc:Fallback>
                <p:oleObj name="公式" r:id="rId23" imgW="1358640" imgH="406080" progId="Equation.3">
                  <p:embed/>
                  <p:pic>
                    <p:nvPicPr>
                      <p:cNvPr id="2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6321" y="3556134"/>
                        <a:ext cx="2716212" cy="812800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箭头连接符 2"/>
          <p:cNvCxnSpPr/>
          <p:nvPr/>
        </p:nvCxnSpPr>
        <p:spPr bwMode="auto">
          <a:xfrm flipH="1">
            <a:off x="1673583" y="4232044"/>
            <a:ext cx="2178337" cy="1416388"/>
          </a:xfrm>
          <a:prstGeom prst="straightConnector1">
            <a:avLst/>
          </a:prstGeom>
          <a:ln w="28575">
            <a:tailEnd type="triangle"/>
          </a:ln>
          <a:ex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 bwMode="auto">
          <a:xfrm flipH="1">
            <a:off x="4066888" y="4307504"/>
            <a:ext cx="874359" cy="1243532"/>
          </a:xfrm>
          <a:prstGeom prst="straightConnector1">
            <a:avLst/>
          </a:prstGeom>
          <a:ln w="28575">
            <a:tailEnd type="triangle"/>
          </a:ln>
          <a:ex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90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1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1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7" grpId="0" autoUpdateAnimBg="0"/>
      <p:bldP spid="3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AC2F0C-66CA-4A3F-BE8A-E0362E578227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2022/4/13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EB2F47-5AB1-4830-BEB8-2C560C0D2324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11312" name="Object 16">
            <a:hlinkClick r:id="rId3" action="ppaction://hlinksldjump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503064"/>
              </p:ext>
            </p:extLst>
          </p:nvPr>
        </p:nvGraphicFramePr>
        <p:xfrm>
          <a:off x="862360" y="3782144"/>
          <a:ext cx="1371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0" name="Equation" r:id="rId4" imgW="659062" imgH="209632" progId="Equation.3">
                  <p:embed/>
                </p:oleObj>
              </mc:Choice>
              <mc:Fallback>
                <p:oleObj name="Equation" r:id="rId4" imgW="659062" imgH="209632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360" y="3782144"/>
                        <a:ext cx="1371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13" name="Object 17">
            <a:hlinkClick r:id="rId6" action="ppaction://hlinksldjump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023681"/>
              </p:ext>
            </p:extLst>
          </p:nvPr>
        </p:nvGraphicFramePr>
        <p:xfrm>
          <a:off x="836960" y="4772744"/>
          <a:ext cx="1422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1" name="Equation" r:id="rId7" imgW="682104" imgH="209632" progId="Equation.3">
                  <p:embed/>
                </p:oleObj>
              </mc:Choice>
              <mc:Fallback>
                <p:oleObj name="Equation" r:id="rId7" imgW="682104" imgH="209632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960" y="4772744"/>
                        <a:ext cx="1422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14" name="Object 18">
            <a:hlinkClick r:id="rId9" action="ppaction://hlinksldjump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979403"/>
              </p:ext>
            </p:extLst>
          </p:nvPr>
        </p:nvGraphicFramePr>
        <p:xfrm>
          <a:off x="849660" y="5839544"/>
          <a:ext cx="1397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2" name="Equation" r:id="rId10" imgW="670444" imgH="209632" progId="Equation.3">
                  <p:embed/>
                </p:oleObj>
              </mc:Choice>
              <mc:Fallback>
                <p:oleObj name="Equation" r:id="rId10" imgW="670444" imgH="209632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660" y="5839544"/>
                        <a:ext cx="1397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1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556742"/>
              </p:ext>
            </p:extLst>
          </p:nvPr>
        </p:nvGraphicFramePr>
        <p:xfrm>
          <a:off x="2411760" y="3553544"/>
          <a:ext cx="1625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3" name="Equation" r:id="rId12" imgW="780936" imgH="415372" progId="Equation.3">
                  <p:embed/>
                </p:oleObj>
              </mc:Choice>
              <mc:Fallback>
                <p:oleObj name="Equation" r:id="rId12" imgW="780936" imgH="415372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3553544"/>
                        <a:ext cx="1625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1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800831"/>
              </p:ext>
            </p:extLst>
          </p:nvPr>
        </p:nvGraphicFramePr>
        <p:xfrm>
          <a:off x="2411760" y="4569544"/>
          <a:ext cx="1625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" name="Equation" r:id="rId14" imgW="780936" imgH="415372" progId="Equation.3">
                  <p:embed/>
                </p:oleObj>
              </mc:Choice>
              <mc:Fallback>
                <p:oleObj name="Equation" r:id="rId14" imgW="780936" imgH="415372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4569544"/>
                        <a:ext cx="1625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1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792679"/>
              </p:ext>
            </p:extLst>
          </p:nvPr>
        </p:nvGraphicFramePr>
        <p:xfrm>
          <a:off x="2462560" y="5636344"/>
          <a:ext cx="1574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5" name="Equation" r:id="rId16" imgW="758171" imgH="415372" progId="Equation.3">
                  <p:embed/>
                </p:oleObj>
              </mc:Choice>
              <mc:Fallback>
                <p:oleObj name="Equation" r:id="rId16" imgW="758171" imgH="415372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560" y="5636344"/>
                        <a:ext cx="1574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21" name="Rectangle 2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9.2 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二阶电路的零输入响应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311322" name="Rectangle 26"/>
          <p:cNvSpPr>
            <a:spLocks noChangeArrowheads="1"/>
          </p:cNvSpPr>
          <p:nvPr/>
        </p:nvSpPr>
        <p:spPr bwMode="auto">
          <a:xfrm>
            <a:off x="323850" y="620713"/>
            <a:ext cx="8208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                ——</a:t>
            </a:r>
            <a:r>
              <a:rPr lang="zh-CN" altLang="en-US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暂态分量的变化规律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25" name="Rectangle 2"/>
          <p:cNvSpPr>
            <a:spLocks noChangeArrowheads="1"/>
          </p:cNvSpPr>
          <p:nvPr/>
        </p:nvSpPr>
        <p:spPr bwMode="auto">
          <a:xfrm>
            <a:off x="351631" y="2950394"/>
            <a:ext cx="55451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 sz="32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零状态响应</a:t>
            </a:r>
            <a:r>
              <a:rPr kumimoji="1"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的三种情况</a:t>
            </a:r>
          </a:p>
        </p:txBody>
      </p:sp>
      <p:graphicFrame>
        <p:nvGraphicFramePr>
          <p:cNvPr id="2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264583"/>
              </p:ext>
            </p:extLst>
          </p:nvPr>
        </p:nvGraphicFramePr>
        <p:xfrm>
          <a:off x="381000" y="1756197"/>
          <a:ext cx="3379788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6" name="公式" r:id="rId18" imgW="1536700" imgH="419100" progId="Equation.3">
                  <p:embed/>
                </p:oleObj>
              </mc:Choice>
              <mc:Fallback>
                <p:oleObj name="公式" r:id="rId18" imgW="1536700" imgH="419100" progId="Equation.3">
                  <p:embed/>
                  <p:pic>
                    <p:nvPicPr>
                      <p:cNvPr id="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756197"/>
                        <a:ext cx="3379788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975233"/>
              </p:ext>
            </p:extLst>
          </p:nvPr>
        </p:nvGraphicFramePr>
        <p:xfrm>
          <a:off x="6499225" y="1986347"/>
          <a:ext cx="21320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7" name="Equation" r:id="rId20" imgW="1066800" imgH="292100" progId="Equation.3">
                  <p:embed/>
                </p:oleObj>
              </mc:Choice>
              <mc:Fallback>
                <p:oleObj name="Equation" r:id="rId20" imgW="1066800" imgH="292100" progId="Equation.3">
                  <p:embed/>
                  <p:pic>
                    <p:nvPicPr>
                      <p:cNvPr id="3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9225" y="1986347"/>
                        <a:ext cx="21320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11"/>
          <p:cNvSpPr>
            <a:spLocks noChangeArrowheads="1"/>
          </p:cNvSpPr>
          <p:nvPr/>
        </p:nvSpPr>
        <p:spPr bwMode="auto">
          <a:xfrm>
            <a:off x="324907" y="1004402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8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特征根：</a:t>
            </a:r>
            <a:endParaRPr lang="en-US" altLang="zh-CN" sz="28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2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09958"/>
              </p:ext>
            </p:extLst>
          </p:nvPr>
        </p:nvGraphicFramePr>
        <p:xfrm>
          <a:off x="3760788" y="1858193"/>
          <a:ext cx="2738437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8" name="公式" r:id="rId22" imgW="1244600" imgH="393700" progId="Equation.3">
                  <p:embed/>
                </p:oleObj>
              </mc:Choice>
              <mc:Fallback>
                <p:oleObj name="公式" r:id="rId22" imgW="1244600" imgH="393700" progId="Equation.3">
                  <p:embed/>
                  <p:pic>
                    <p:nvPicPr>
                      <p:cNvPr id="3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0788" y="1858193"/>
                        <a:ext cx="2738437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7" descr="绿色大理石"/>
          <p:cNvSpPr txBox="1">
            <a:spLocks noChangeArrowheads="1"/>
          </p:cNvSpPr>
          <p:nvPr/>
        </p:nvSpPr>
        <p:spPr bwMode="auto">
          <a:xfrm>
            <a:off x="7311503" y="3713520"/>
            <a:ext cx="1296243" cy="5191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过阻尼</a:t>
            </a:r>
          </a:p>
        </p:txBody>
      </p:sp>
      <p:sp>
        <p:nvSpPr>
          <p:cNvPr id="31" name="Text Box 8" descr="绿色大理石"/>
          <p:cNvSpPr txBox="1">
            <a:spLocks noChangeArrowheads="1"/>
          </p:cNvSpPr>
          <p:nvPr/>
        </p:nvSpPr>
        <p:spPr bwMode="auto">
          <a:xfrm>
            <a:off x="7338976" y="5839544"/>
            <a:ext cx="1625512" cy="51911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临界阻尼</a:t>
            </a:r>
          </a:p>
        </p:txBody>
      </p:sp>
      <p:sp>
        <p:nvSpPr>
          <p:cNvPr id="32" name="Text Box 9" descr="绿色大理石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7337923" y="4772744"/>
            <a:ext cx="1296812" cy="5191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欠阻尼</a:t>
            </a:r>
          </a:p>
        </p:txBody>
      </p:sp>
      <p:sp>
        <p:nvSpPr>
          <p:cNvPr id="33" name="Text Box 7" descr="绿色大理石"/>
          <p:cNvSpPr txBox="1">
            <a:spLocks noChangeArrowheads="1"/>
          </p:cNvSpPr>
          <p:nvPr/>
        </p:nvSpPr>
        <p:spPr bwMode="auto">
          <a:xfrm>
            <a:off x="4254122" y="3759423"/>
            <a:ext cx="2694142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两个不相等负实根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Text Box 7" descr="绿色大理石"/>
          <p:cNvSpPr txBox="1">
            <a:spLocks noChangeArrowheads="1"/>
          </p:cNvSpPr>
          <p:nvPr/>
        </p:nvSpPr>
        <p:spPr bwMode="auto">
          <a:xfrm>
            <a:off x="4254122" y="4843710"/>
            <a:ext cx="2694142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两个共轭复根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Text Box 7" descr="绿色大理石"/>
          <p:cNvSpPr txBox="1">
            <a:spLocks noChangeArrowheads="1"/>
          </p:cNvSpPr>
          <p:nvPr/>
        </p:nvSpPr>
        <p:spPr bwMode="auto">
          <a:xfrm>
            <a:off x="4254122" y="5765800"/>
            <a:ext cx="2694142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两个相等负实根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上弧形箭头 2"/>
          <p:cNvSpPr/>
          <p:nvPr/>
        </p:nvSpPr>
        <p:spPr bwMode="auto">
          <a:xfrm>
            <a:off x="4355976" y="1276939"/>
            <a:ext cx="2784600" cy="685695"/>
          </a:xfrm>
          <a:prstGeom prst="curvedDownArrow">
            <a:avLst>
              <a:gd name="adj1" fmla="val 25000"/>
              <a:gd name="adj2" fmla="val 42737"/>
              <a:gd name="adj3" fmla="val 23798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" name="下弧形箭头 3"/>
          <p:cNvSpPr/>
          <p:nvPr/>
        </p:nvSpPr>
        <p:spPr bwMode="auto">
          <a:xfrm>
            <a:off x="6149502" y="2687671"/>
            <a:ext cx="2383312" cy="575822"/>
          </a:xfrm>
          <a:prstGeom prst="curvedUpArrow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31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1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31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31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31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31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 autoUpdateAnimBg="0"/>
      <p:bldP spid="30" grpId="0" animBg="1"/>
      <p:bldP spid="31" grpId="0" animBg="1"/>
      <p:bldP spid="32" grpId="0" animBg="1" autoUpdateAnimBg="0"/>
      <p:bldP spid="33" grpId="0" animBg="1"/>
      <p:bldP spid="34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147109"/>
              </p:ext>
            </p:extLst>
          </p:nvPr>
        </p:nvGraphicFramePr>
        <p:xfrm>
          <a:off x="4434105" y="1472456"/>
          <a:ext cx="1371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1" name="Equation" r:id="rId3" imgW="659062" imgH="209632" progId="Equation.3">
                  <p:embed/>
                </p:oleObj>
              </mc:Choice>
              <mc:Fallback>
                <p:oleObj name="Equation" r:id="rId3" imgW="659062" imgH="209632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4105" y="1472456"/>
                        <a:ext cx="1371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522465"/>
              </p:ext>
            </p:extLst>
          </p:nvPr>
        </p:nvGraphicFramePr>
        <p:xfrm>
          <a:off x="5983505" y="1243856"/>
          <a:ext cx="1625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2" name="Equation" r:id="rId5" imgW="780936" imgH="415372" progId="Equation.3">
                  <p:embed/>
                </p:oleObj>
              </mc:Choice>
              <mc:Fallback>
                <p:oleObj name="Equation" r:id="rId5" imgW="780936" imgH="415372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3505" y="1243856"/>
                        <a:ext cx="1625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6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254961"/>
              </p:ext>
            </p:extLst>
          </p:nvPr>
        </p:nvGraphicFramePr>
        <p:xfrm>
          <a:off x="5003659" y="2831221"/>
          <a:ext cx="2133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3" name="Equation" r:id="rId7" imgW="1066800" imgH="241300" progId="Equation.DSMT4">
                  <p:embed/>
                </p:oleObj>
              </mc:Choice>
              <mc:Fallback>
                <p:oleObj name="Equation" r:id="rId7" imgW="1066800" imgH="2413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659" y="2831221"/>
                        <a:ext cx="2133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68" name="Rectangle 24"/>
          <p:cNvSpPr>
            <a:spLocks noChangeArrowheads="1"/>
          </p:cNvSpPr>
          <p:nvPr/>
        </p:nvSpPr>
        <p:spPr bwMode="auto">
          <a:xfrm>
            <a:off x="4434105" y="836712"/>
            <a:ext cx="328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 err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Overdamped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——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过阻尼</a:t>
            </a:r>
          </a:p>
        </p:txBody>
      </p:sp>
      <p:graphicFrame>
        <p:nvGraphicFramePr>
          <p:cNvPr id="8202" name="Object 42"/>
          <p:cNvGraphicFramePr>
            <a:graphicFrameLocks noChangeAspect="1"/>
          </p:cNvGraphicFramePr>
          <p:nvPr/>
        </p:nvGraphicFramePr>
        <p:xfrm>
          <a:off x="152400" y="1143000"/>
          <a:ext cx="3970338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4" name="Visio" r:id="rId9" imgW="2014109" imgH="1137826" progId="Visio.Drawing.11">
                  <p:embed/>
                </p:oleObj>
              </mc:Choice>
              <mc:Fallback>
                <p:oleObj name="Visio" r:id="rId9" imgW="2014109" imgH="1137826" progId="Visio.Drawing.11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143000"/>
                        <a:ext cx="3970338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9.2 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二阶电路的零输入响应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28" name="Rectangle 26"/>
          <p:cNvSpPr>
            <a:spLocks noChangeArrowheads="1"/>
          </p:cNvSpPr>
          <p:nvPr/>
        </p:nvSpPr>
        <p:spPr bwMode="auto">
          <a:xfrm>
            <a:off x="1833728" y="167807"/>
            <a:ext cx="8208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                ——</a:t>
            </a:r>
            <a:r>
              <a:rPr lang="zh-CN" altLang="en-US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暂态分量的变化规律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8205" name="Rectangle 7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820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7050121"/>
              </p:ext>
            </p:extLst>
          </p:nvPr>
        </p:nvGraphicFramePr>
        <p:xfrm>
          <a:off x="4932040" y="2127799"/>
          <a:ext cx="25876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5" name="Equation" r:id="rId11" imgW="1295280" imgH="291960" progId="Equation.DSMT4">
                  <p:embed/>
                </p:oleObj>
              </mc:Choice>
              <mc:Fallback>
                <p:oleObj name="Equation" r:id="rId11" imgW="1295280" imgH="2919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2127799"/>
                        <a:ext cx="258762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701324"/>
              </p:ext>
            </p:extLst>
          </p:nvPr>
        </p:nvGraphicFramePr>
        <p:xfrm>
          <a:off x="1209379" y="3742891"/>
          <a:ext cx="2944837" cy="401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6" name="Equation" r:id="rId13" imgW="1676160" imgH="228600" progId="Equation.DSMT4">
                  <p:embed/>
                </p:oleObj>
              </mc:Choice>
              <mc:Fallback>
                <p:oleObj name="Equation" r:id="rId13" imgW="1676160" imgH="228600" progId="Equation.DSMT4">
                  <p:embed/>
                  <p:pic>
                    <p:nvPicPr>
                      <p:cNvPr id="1761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379" y="3742891"/>
                        <a:ext cx="2944837" cy="4018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338605"/>
              </p:ext>
            </p:extLst>
          </p:nvPr>
        </p:nvGraphicFramePr>
        <p:xfrm>
          <a:off x="1209379" y="4188141"/>
          <a:ext cx="2786557" cy="852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7" name="Equation" r:id="rId15" imgW="1536480" imgH="469800" progId="Equation.DSMT4">
                  <p:embed/>
                </p:oleObj>
              </mc:Choice>
              <mc:Fallback>
                <p:oleObj name="Equation" r:id="rId15" imgW="1536480" imgH="469800" progId="Equation.DSMT4">
                  <p:embed/>
                  <p:pic>
                    <p:nvPicPr>
                      <p:cNvPr id="1761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379" y="4188141"/>
                        <a:ext cx="2786557" cy="852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191063"/>
              </p:ext>
            </p:extLst>
          </p:nvPr>
        </p:nvGraphicFramePr>
        <p:xfrm>
          <a:off x="4716016" y="3498720"/>
          <a:ext cx="1869102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8" name="Equation" r:id="rId17" imgW="977760" imgH="914400" progId="Equation.DSMT4">
                  <p:embed/>
                </p:oleObj>
              </mc:Choice>
              <mc:Fallback>
                <p:oleObj name="Equation" r:id="rId17" imgW="977760" imgH="914400" progId="Equation.DSMT4">
                  <p:embed/>
                  <p:pic>
                    <p:nvPicPr>
                      <p:cNvPr id="1761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3498720"/>
                        <a:ext cx="1869102" cy="147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225500"/>
              </p:ext>
            </p:extLst>
          </p:nvPr>
        </p:nvGraphicFramePr>
        <p:xfrm>
          <a:off x="899592" y="5229200"/>
          <a:ext cx="3285200" cy="79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9" name="Equation" r:id="rId19" imgW="1574640" imgH="431640" progId="Equation.DSMT4">
                  <p:embed/>
                </p:oleObj>
              </mc:Choice>
              <mc:Fallback>
                <p:oleObj name="Equation" r:id="rId19" imgW="1574640" imgH="431640" progId="Equation.DSMT4">
                  <p:embed/>
                  <p:pic>
                    <p:nvPicPr>
                      <p:cNvPr id="1761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5229200"/>
                        <a:ext cx="3285200" cy="792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321692"/>
              </p:ext>
            </p:extLst>
          </p:nvPr>
        </p:nvGraphicFramePr>
        <p:xfrm>
          <a:off x="4760110" y="5229200"/>
          <a:ext cx="3704250" cy="79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0" name="Equation" r:id="rId21" imgW="2019240" imgH="431640" progId="Equation.DSMT4">
                  <p:embed/>
                </p:oleObj>
              </mc:Choice>
              <mc:Fallback>
                <p:oleObj name="Equation" r:id="rId21" imgW="2019240" imgH="431640" progId="Equation.DSMT4">
                  <p:embed/>
                  <p:pic>
                    <p:nvPicPr>
                      <p:cNvPr id="17817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0110" y="5229200"/>
                        <a:ext cx="3704250" cy="792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3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3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1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6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FD887B-8136-4B3E-A1EF-BF6F0D20646C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2022/4/13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C4432C-7A39-4DC2-85CE-AB6E314CC1CC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27" name="Rectangle 2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9.2 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二阶电路的零输入响应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28" name="Rectangle 26"/>
          <p:cNvSpPr>
            <a:spLocks noChangeArrowheads="1"/>
          </p:cNvSpPr>
          <p:nvPr/>
        </p:nvSpPr>
        <p:spPr bwMode="auto">
          <a:xfrm>
            <a:off x="323850" y="620713"/>
            <a:ext cx="8208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                ——</a:t>
            </a:r>
            <a:r>
              <a:rPr lang="zh-CN" altLang="en-US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暂态分量的变化规律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8205" name="Rectangle 7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70726"/>
              </p:ext>
            </p:extLst>
          </p:nvPr>
        </p:nvGraphicFramePr>
        <p:xfrm>
          <a:off x="369888" y="3494088"/>
          <a:ext cx="3976687" cy="288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1" name="Visio" r:id="rId3" imgW="1987963" imgH="1443609" progId="Visio.Drawing.11">
                  <p:embed/>
                </p:oleObj>
              </mc:Choice>
              <mc:Fallback>
                <p:oleObj name="Visio" r:id="rId3" imgW="1987963" imgH="1443609" progId="Visio.Drawing.11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8" y="3494088"/>
                        <a:ext cx="3976687" cy="288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4464496" y="3225998"/>
            <a:ext cx="46440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由 </a:t>
            </a:r>
            <a:r>
              <a:rPr kumimoji="1" lang="en-US" altLang="zh-CN" sz="2400" b="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1" lang="en-US" altLang="zh-CN" sz="2400" b="0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400" b="0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2400" b="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kumimoji="1" lang="en-US" altLang="zh-CN" sz="2400" b="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1" lang="en-US" altLang="zh-CN" sz="2400" b="0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400" b="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可确定 </a:t>
            </a:r>
            <a:r>
              <a:rPr kumimoji="1" lang="en-US" altLang="zh-CN" sz="2400" b="0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400" b="0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2400" b="0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为极小时的</a:t>
            </a:r>
            <a:r>
              <a:rPr kumimoji="1"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b="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400" b="0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 sz="2400" b="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127440"/>
              </p:ext>
            </p:extLst>
          </p:nvPr>
        </p:nvGraphicFramePr>
        <p:xfrm>
          <a:off x="4590256" y="3861048"/>
          <a:ext cx="22860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2" name="Equation" r:id="rId5" imgW="1079280" imgH="241200" progId="Equation.DSMT4">
                  <p:embed/>
                </p:oleObj>
              </mc:Choice>
              <mc:Fallback>
                <p:oleObj name="Equation" r:id="rId5" imgW="1079280" imgH="241200" progId="Equation.DSMT4">
                  <p:embed/>
                  <p:pic>
                    <p:nvPicPr>
                      <p:cNvPr id="2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0256" y="3861048"/>
                        <a:ext cx="22860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023064"/>
              </p:ext>
            </p:extLst>
          </p:nvPr>
        </p:nvGraphicFramePr>
        <p:xfrm>
          <a:off x="4627860" y="4437112"/>
          <a:ext cx="138430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3" name="Equation" r:id="rId7" imgW="711000" imgH="647640" progId="Equation.DSMT4">
                  <p:embed/>
                </p:oleObj>
              </mc:Choice>
              <mc:Fallback>
                <p:oleObj name="Equation" r:id="rId7" imgW="711000" imgH="647640" progId="Equation.DSMT4">
                  <p:embed/>
                  <p:pic>
                    <p:nvPicPr>
                      <p:cNvPr id="1802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7860" y="4437112"/>
                        <a:ext cx="138430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8578485"/>
              </p:ext>
            </p:extLst>
          </p:nvPr>
        </p:nvGraphicFramePr>
        <p:xfrm>
          <a:off x="5045837" y="1231120"/>
          <a:ext cx="3285200" cy="79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4" name="Equation" r:id="rId9" imgW="1574640" imgH="431640" progId="Equation.DSMT4">
                  <p:embed/>
                </p:oleObj>
              </mc:Choice>
              <mc:Fallback>
                <p:oleObj name="Equation" r:id="rId9" imgW="1574640" imgH="431640" progId="Equation.DSMT4">
                  <p:embed/>
                  <p:pic>
                    <p:nvPicPr>
                      <p:cNvPr id="2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5837" y="1231120"/>
                        <a:ext cx="3285200" cy="792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411131"/>
              </p:ext>
            </p:extLst>
          </p:nvPr>
        </p:nvGraphicFramePr>
        <p:xfrm>
          <a:off x="5044214" y="2132856"/>
          <a:ext cx="3704250" cy="79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5" name="Equation" r:id="rId11" imgW="2019240" imgH="431640" progId="Equation.DSMT4">
                  <p:embed/>
                </p:oleObj>
              </mc:Choice>
              <mc:Fallback>
                <p:oleObj name="Equation" r:id="rId11" imgW="2019240" imgH="431640" progId="Equation.DSMT4">
                  <p:embed/>
                  <p:pic>
                    <p:nvPicPr>
                      <p:cNvPr id="2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4214" y="2132856"/>
                        <a:ext cx="3704250" cy="792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2"/>
          <p:cNvGraphicFramePr>
            <a:graphicFrameLocks noChangeAspect="1"/>
          </p:cNvGraphicFramePr>
          <p:nvPr/>
        </p:nvGraphicFramePr>
        <p:xfrm>
          <a:off x="152400" y="1143000"/>
          <a:ext cx="3970338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6" name="Visio" r:id="rId13" imgW="2014109" imgH="1137826" progId="Visio.Drawing.11">
                  <p:embed/>
                </p:oleObj>
              </mc:Choice>
              <mc:Fallback>
                <p:oleObj name="Visio" r:id="rId13" imgW="2014109" imgH="1137826" progId="Visio.Drawing.11">
                  <p:embed/>
                  <p:pic>
                    <p:nvPicPr>
                      <p:cNvPr id="8202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143000"/>
                        <a:ext cx="3970338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062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Text Box 2" descr="绿色大理石"/>
          <p:cNvSpPr txBox="1">
            <a:spLocks noChangeArrowheads="1"/>
          </p:cNvSpPr>
          <p:nvPr/>
        </p:nvSpPr>
        <p:spPr bwMode="auto">
          <a:xfrm>
            <a:off x="395288" y="620713"/>
            <a:ext cx="3095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indent="0"/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能量转换关系</a:t>
            </a:r>
          </a:p>
        </p:txBody>
      </p:sp>
      <p:sp>
        <p:nvSpPr>
          <p:cNvPr id="169987" name="Text Box 3"/>
          <p:cNvSpPr txBox="1">
            <a:spLocks noChangeArrowheads="1"/>
          </p:cNvSpPr>
          <p:nvPr/>
        </p:nvSpPr>
        <p:spPr bwMode="auto">
          <a:xfrm>
            <a:off x="1431925" y="61166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1" lang="zh-CN" altLang="zh-CN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1266" name="Text Box 18"/>
          <p:cNvSpPr txBox="1">
            <a:spLocks noChangeArrowheads="1"/>
          </p:cNvSpPr>
          <p:nvPr/>
        </p:nvSpPr>
        <p:spPr bwMode="auto">
          <a:xfrm>
            <a:off x="468313" y="3744913"/>
            <a:ext cx="43316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&lt; </a:t>
            </a:r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 </a:t>
            </a:r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    </a:t>
            </a:r>
            <a:r>
              <a:rPr kumimoji="1" lang="en-US" altLang="zh-CN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en-US" altLang="zh-CN" sz="24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减小</a:t>
            </a:r>
            <a:r>
              <a:rPr kumimoji="1" lang="zh-CN" altLang="en-US" sz="24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，</a:t>
            </a:r>
            <a:r>
              <a:rPr kumimoji="1" lang="en-US" altLang="zh-CN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增加</a:t>
            </a:r>
            <a:r>
              <a:rPr kumimoji="1"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81267" name="Text Box 19"/>
          <p:cNvSpPr txBox="1">
            <a:spLocks noChangeArrowheads="1"/>
          </p:cNvSpPr>
          <p:nvPr/>
        </p:nvSpPr>
        <p:spPr bwMode="auto">
          <a:xfrm>
            <a:off x="5148064" y="3717032"/>
            <a:ext cx="34499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&gt; </a:t>
            </a:r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    </a:t>
            </a:r>
            <a:r>
              <a:rPr kumimoji="1" lang="en-US" altLang="zh-CN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减小</a:t>
            </a:r>
            <a:r>
              <a:rPr kumimoji="1" lang="zh-CN" altLang="en-US" sz="24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，</a:t>
            </a:r>
            <a:r>
              <a:rPr kumimoji="1" lang="en-US" altLang="zh-CN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减小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5148263" y="4440238"/>
            <a:ext cx="3095625" cy="2011362"/>
            <a:chOff x="567" y="2477"/>
            <a:chExt cx="1950" cy="1267"/>
          </a:xfrm>
        </p:grpSpPr>
        <p:sp>
          <p:nvSpPr>
            <p:cNvPr id="170037" name="Line 29"/>
            <p:cNvSpPr>
              <a:spLocks noChangeShapeType="1"/>
            </p:cNvSpPr>
            <p:nvPr/>
          </p:nvSpPr>
          <p:spPr bwMode="auto">
            <a:xfrm>
              <a:off x="2210" y="2477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038" name="Line 30"/>
            <p:cNvSpPr>
              <a:spLocks noChangeShapeType="1"/>
            </p:cNvSpPr>
            <p:nvPr/>
          </p:nvSpPr>
          <p:spPr bwMode="auto">
            <a:xfrm>
              <a:off x="2210" y="320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039" name="Line 31"/>
            <p:cNvSpPr>
              <a:spLocks noChangeShapeType="1"/>
            </p:cNvSpPr>
            <p:nvPr/>
          </p:nvSpPr>
          <p:spPr bwMode="auto">
            <a:xfrm>
              <a:off x="748" y="343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040" name="Line 32"/>
            <p:cNvSpPr>
              <a:spLocks noChangeShapeType="1"/>
            </p:cNvSpPr>
            <p:nvPr/>
          </p:nvSpPr>
          <p:spPr bwMode="auto">
            <a:xfrm>
              <a:off x="748" y="2477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041" name="Line 33"/>
            <p:cNvSpPr>
              <a:spLocks noChangeShapeType="1"/>
            </p:cNvSpPr>
            <p:nvPr/>
          </p:nvSpPr>
          <p:spPr bwMode="auto">
            <a:xfrm flipH="1">
              <a:off x="748" y="2976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042" name="Rectangle 34"/>
            <p:cNvSpPr>
              <a:spLocks noChangeArrowheads="1"/>
            </p:cNvSpPr>
            <p:nvPr/>
          </p:nvSpPr>
          <p:spPr bwMode="auto">
            <a:xfrm>
              <a:off x="1338" y="3475"/>
              <a:ext cx="34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0043" name="Rectangle 35"/>
            <p:cNvSpPr>
              <a:spLocks noChangeArrowheads="1"/>
            </p:cNvSpPr>
            <p:nvPr/>
          </p:nvSpPr>
          <p:spPr bwMode="auto">
            <a:xfrm>
              <a:off x="2392" y="2886"/>
              <a:ext cx="1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0044" name="Rectangle 36"/>
            <p:cNvSpPr>
              <a:spLocks noChangeArrowheads="1"/>
            </p:cNvSpPr>
            <p:nvPr/>
          </p:nvSpPr>
          <p:spPr bwMode="auto">
            <a:xfrm>
              <a:off x="930" y="2795"/>
              <a:ext cx="31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0045" name="Rectangle 37"/>
            <p:cNvSpPr>
              <a:spLocks noChangeArrowheads="1"/>
            </p:cNvSpPr>
            <p:nvPr/>
          </p:nvSpPr>
          <p:spPr bwMode="auto">
            <a:xfrm>
              <a:off x="567" y="2568"/>
              <a:ext cx="12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70046" name="Rectangle 38"/>
            <p:cNvSpPr>
              <a:spLocks noChangeArrowheads="1"/>
            </p:cNvSpPr>
            <p:nvPr/>
          </p:nvSpPr>
          <p:spPr bwMode="auto">
            <a:xfrm>
              <a:off x="567" y="3022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170047" name="Line 39"/>
            <p:cNvSpPr>
              <a:spLocks noChangeShapeType="1"/>
            </p:cNvSpPr>
            <p:nvPr/>
          </p:nvSpPr>
          <p:spPr bwMode="auto">
            <a:xfrm>
              <a:off x="748" y="2477"/>
              <a:ext cx="145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0048" name="Group 40"/>
            <p:cNvGrpSpPr>
              <a:grpSpLocks/>
            </p:cNvGrpSpPr>
            <p:nvPr/>
          </p:nvGrpSpPr>
          <p:grpSpPr bwMode="auto">
            <a:xfrm>
              <a:off x="612" y="2885"/>
              <a:ext cx="240" cy="90"/>
              <a:chOff x="4604" y="2478"/>
              <a:chExt cx="240" cy="90"/>
            </a:xfrm>
          </p:grpSpPr>
          <p:sp>
            <p:nvSpPr>
              <p:cNvPr id="170054" name="Line 41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55" name="Line 42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0049" name="Group 43"/>
            <p:cNvGrpSpPr>
              <a:grpSpLocks/>
            </p:cNvGrpSpPr>
            <p:nvPr/>
          </p:nvGrpSpPr>
          <p:grpSpPr bwMode="auto">
            <a:xfrm rot="5400000">
              <a:off x="1756" y="2704"/>
              <a:ext cx="499" cy="590"/>
              <a:chOff x="476" y="663"/>
              <a:chExt cx="771" cy="862"/>
            </a:xfrm>
          </p:grpSpPr>
          <p:sp>
            <p:nvSpPr>
              <p:cNvPr id="170051" name="AutoShape 44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0052" name="AutoShape 45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0053" name="AutoShape 46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0050" name="Rectangle 47"/>
            <p:cNvSpPr>
              <a:spLocks noChangeArrowheads="1"/>
            </p:cNvSpPr>
            <p:nvPr/>
          </p:nvSpPr>
          <p:spPr bwMode="auto">
            <a:xfrm>
              <a:off x="1384" y="3339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1187450" y="4508500"/>
            <a:ext cx="3095625" cy="2011363"/>
            <a:chOff x="567" y="2477"/>
            <a:chExt cx="1950" cy="1267"/>
          </a:xfrm>
        </p:grpSpPr>
        <p:sp>
          <p:nvSpPr>
            <p:cNvPr id="170018" name="Line 49"/>
            <p:cNvSpPr>
              <a:spLocks noChangeShapeType="1"/>
            </p:cNvSpPr>
            <p:nvPr/>
          </p:nvSpPr>
          <p:spPr bwMode="auto">
            <a:xfrm>
              <a:off x="2210" y="2477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019" name="Line 50"/>
            <p:cNvSpPr>
              <a:spLocks noChangeShapeType="1"/>
            </p:cNvSpPr>
            <p:nvPr/>
          </p:nvSpPr>
          <p:spPr bwMode="auto">
            <a:xfrm>
              <a:off x="2210" y="320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020" name="Line 51"/>
            <p:cNvSpPr>
              <a:spLocks noChangeShapeType="1"/>
            </p:cNvSpPr>
            <p:nvPr/>
          </p:nvSpPr>
          <p:spPr bwMode="auto">
            <a:xfrm>
              <a:off x="748" y="343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021" name="Line 52"/>
            <p:cNvSpPr>
              <a:spLocks noChangeShapeType="1"/>
            </p:cNvSpPr>
            <p:nvPr/>
          </p:nvSpPr>
          <p:spPr bwMode="auto">
            <a:xfrm>
              <a:off x="748" y="2477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022" name="Line 53"/>
            <p:cNvSpPr>
              <a:spLocks noChangeShapeType="1"/>
            </p:cNvSpPr>
            <p:nvPr/>
          </p:nvSpPr>
          <p:spPr bwMode="auto">
            <a:xfrm flipH="1">
              <a:off x="748" y="2976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023" name="Rectangle 54"/>
            <p:cNvSpPr>
              <a:spLocks noChangeArrowheads="1"/>
            </p:cNvSpPr>
            <p:nvPr/>
          </p:nvSpPr>
          <p:spPr bwMode="auto">
            <a:xfrm>
              <a:off x="1338" y="3475"/>
              <a:ext cx="34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0024" name="Rectangle 55"/>
            <p:cNvSpPr>
              <a:spLocks noChangeArrowheads="1"/>
            </p:cNvSpPr>
            <p:nvPr/>
          </p:nvSpPr>
          <p:spPr bwMode="auto">
            <a:xfrm>
              <a:off x="2392" y="2886"/>
              <a:ext cx="1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0025" name="Rectangle 56"/>
            <p:cNvSpPr>
              <a:spLocks noChangeArrowheads="1"/>
            </p:cNvSpPr>
            <p:nvPr/>
          </p:nvSpPr>
          <p:spPr bwMode="auto">
            <a:xfrm>
              <a:off x="930" y="2795"/>
              <a:ext cx="31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0026" name="Rectangle 57"/>
            <p:cNvSpPr>
              <a:spLocks noChangeArrowheads="1"/>
            </p:cNvSpPr>
            <p:nvPr/>
          </p:nvSpPr>
          <p:spPr bwMode="auto">
            <a:xfrm>
              <a:off x="567" y="2568"/>
              <a:ext cx="12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70027" name="Rectangle 58"/>
            <p:cNvSpPr>
              <a:spLocks noChangeArrowheads="1"/>
            </p:cNvSpPr>
            <p:nvPr/>
          </p:nvSpPr>
          <p:spPr bwMode="auto">
            <a:xfrm>
              <a:off x="567" y="3022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170028" name="Line 59"/>
            <p:cNvSpPr>
              <a:spLocks noChangeShapeType="1"/>
            </p:cNvSpPr>
            <p:nvPr/>
          </p:nvSpPr>
          <p:spPr bwMode="auto">
            <a:xfrm>
              <a:off x="748" y="2477"/>
              <a:ext cx="145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0029" name="Group 60"/>
            <p:cNvGrpSpPr>
              <a:grpSpLocks/>
            </p:cNvGrpSpPr>
            <p:nvPr/>
          </p:nvGrpSpPr>
          <p:grpSpPr bwMode="auto">
            <a:xfrm>
              <a:off x="612" y="2885"/>
              <a:ext cx="240" cy="90"/>
              <a:chOff x="4604" y="2478"/>
              <a:chExt cx="240" cy="90"/>
            </a:xfrm>
          </p:grpSpPr>
          <p:sp>
            <p:nvSpPr>
              <p:cNvPr id="170035" name="Line 61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36" name="Line 62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0030" name="Group 63"/>
            <p:cNvGrpSpPr>
              <a:grpSpLocks/>
            </p:cNvGrpSpPr>
            <p:nvPr/>
          </p:nvGrpSpPr>
          <p:grpSpPr bwMode="auto">
            <a:xfrm rot="5400000">
              <a:off x="1756" y="2704"/>
              <a:ext cx="499" cy="590"/>
              <a:chOff x="476" y="663"/>
              <a:chExt cx="771" cy="862"/>
            </a:xfrm>
          </p:grpSpPr>
          <p:sp>
            <p:nvSpPr>
              <p:cNvPr id="170032" name="AutoShape 64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0033" name="AutoShape 65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0034" name="AutoShape 66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0031" name="Rectangle 67"/>
            <p:cNvSpPr>
              <a:spLocks noChangeArrowheads="1"/>
            </p:cNvSpPr>
            <p:nvPr/>
          </p:nvSpPr>
          <p:spPr bwMode="auto">
            <a:xfrm>
              <a:off x="1384" y="3339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81316" name="AutoShape 68"/>
          <p:cNvSpPr>
            <a:spLocks noChangeArrowheads="1"/>
          </p:cNvSpPr>
          <p:nvPr/>
        </p:nvSpPr>
        <p:spPr bwMode="auto">
          <a:xfrm rot="10800000">
            <a:off x="6732588" y="5016500"/>
            <a:ext cx="720725" cy="503238"/>
          </a:xfrm>
          <a:custGeom>
            <a:avLst/>
            <a:gdLst>
              <a:gd name="T0" fmla="*/ 543714 w 21600"/>
              <a:gd name="T1" fmla="*/ 0 h 21600"/>
              <a:gd name="T2" fmla="*/ 366702 w 21600"/>
              <a:gd name="T3" fmla="*/ 149224 h 21600"/>
              <a:gd name="T4" fmla="*/ 0 w 21600"/>
              <a:gd name="T5" fmla="*/ 474838 h 21600"/>
              <a:gd name="T6" fmla="*/ 288123 w 21600"/>
              <a:gd name="T7" fmla="*/ 503238 h 21600"/>
              <a:gd name="T8" fmla="*/ 576246 w 21600"/>
              <a:gd name="T9" fmla="*/ 344951 h 21600"/>
              <a:gd name="T10" fmla="*/ 720725 w 21600"/>
              <a:gd name="T11" fmla="*/ 149224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9161 h 21600"/>
              <a:gd name="T20" fmla="*/ 1727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95" y="0"/>
                </a:moveTo>
                <a:lnTo>
                  <a:pt x="10990" y="6405"/>
                </a:lnTo>
                <a:lnTo>
                  <a:pt x="15320" y="6405"/>
                </a:lnTo>
                <a:lnTo>
                  <a:pt x="15320" y="19161"/>
                </a:lnTo>
                <a:lnTo>
                  <a:pt x="0" y="19161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1317" name="AutoShape 69"/>
          <p:cNvSpPr>
            <a:spLocks noChangeArrowheads="1"/>
          </p:cNvSpPr>
          <p:nvPr/>
        </p:nvSpPr>
        <p:spPr bwMode="auto">
          <a:xfrm flipV="1">
            <a:off x="6011863" y="5016500"/>
            <a:ext cx="720725" cy="503238"/>
          </a:xfrm>
          <a:custGeom>
            <a:avLst/>
            <a:gdLst>
              <a:gd name="T0" fmla="*/ 543714 w 21600"/>
              <a:gd name="T1" fmla="*/ 0 h 21600"/>
              <a:gd name="T2" fmla="*/ 366702 w 21600"/>
              <a:gd name="T3" fmla="*/ 149224 h 21600"/>
              <a:gd name="T4" fmla="*/ 0 w 21600"/>
              <a:gd name="T5" fmla="*/ 474838 h 21600"/>
              <a:gd name="T6" fmla="*/ 288123 w 21600"/>
              <a:gd name="T7" fmla="*/ 503238 h 21600"/>
              <a:gd name="T8" fmla="*/ 576246 w 21600"/>
              <a:gd name="T9" fmla="*/ 344951 h 21600"/>
              <a:gd name="T10" fmla="*/ 720725 w 21600"/>
              <a:gd name="T11" fmla="*/ 149224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9161 h 21600"/>
              <a:gd name="T20" fmla="*/ 1727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95" y="0"/>
                </a:moveTo>
                <a:lnTo>
                  <a:pt x="10990" y="6405"/>
                </a:lnTo>
                <a:lnTo>
                  <a:pt x="15320" y="6405"/>
                </a:lnTo>
                <a:lnTo>
                  <a:pt x="15320" y="19161"/>
                </a:lnTo>
                <a:lnTo>
                  <a:pt x="0" y="19161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1318" name="AutoShape 70"/>
          <p:cNvSpPr>
            <a:spLocks noChangeArrowheads="1"/>
          </p:cNvSpPr>
          <p:nvPr/>
        </p:nvSpPr>
        <p:spPr bwMode="auto">
          <a:xfrm flipV="1">
            <a:off x="2266950" y="5160963"/>
            <a:ext cx="720725" cy="503237"/>
          </a:xfrm>
          <a:custGeom>
            <a:avLst/>
            <a:gdLst>
              <a:gd name="T0" fmla="*/ 541344 w 21600"/>
              <a:gd name="T1" fmla="*/ 0 h 21600"/>
              <a:gd name="T2" fmla="*/ 361931 w 21600"/>
              <a:gd name="T3" fmla="*/ 149224 h 21600"/>
              <a:gd name="T4" fmla="*/ 0 w 21600"/>
              <a:gd name="T5" fmla="*/ 472763 h 21600"/>
              <a:gd name="T6" fmla="*/ 288123 w 21600"/>
              <a:gd name="T7" fmla="*/ 503237 h 21600"/>
              <a:gd name="T8" fmla="*/ 576246 w 21600"/>
              <a:gd name="T9" fmla="*/ 344950 h 21600"/>
              <a:gd name="T10" fmla="*/ 720725 w 21600"/>
              <a:gd name="T11" fmla="*/ 149224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8982 h 21600"/>
              <a:gd name="T20" fmla="*/ 1727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24" y="0"/>
                </a:moveTo>
                <a:lnTo>
                  <a:pt x="10847" y="6405"/>
                </a:lnTo>
                <a:lnTo>
                  <a:pt x="15177" y="6405"/>
                </a:lnTo>
                <a:lnTo>
                  <a:pt x="15177" y="18982"/>
                </a:lnTo>
                <a:lnTo>
                  <a:pt x="0" y="18982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1319" name="AutoShape 71"/>
          <p:cNvSpPr>
            <a:spLocks noChangeArrowheads="1"/>
          </p:cNvSpPr>
          <p:nvPr/>
        </p:nvSpPr>
        <p:spPr bwMode="auto">
          <a:xfrm>
            <a:off x="2197100" y="4946650"/>
            <a:ext cx="1150938" cy="141288"/>
          </a:xfrm>
          <a:prstGeom prst="rightArrow">
            <a:avLst>
              <a:gd name="adj1" fmla="val 50000"/>
              <a:gd name="adj2" fmla="val 203651"/>
            </a:avLst>
          </a:prstGeom>
          <a:solidFill>
            <a:srgbClr val="00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3" name="对象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602952"/>
              </p:ext>
            </p:extLst>
          </p:nvPr>
        </p:nvGraphicFramePr>
        <p:xfrm>
          <a:off x="4023519" y="527296"/>
          <a:ext cx="3976687" cy="288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7" name="Visio" r:id="rId3" imgW="1987963" imgH="1443609" progId="Visio.Drawing.11">
                  <p:embed/>
                </p:oleObj>
              </mc:Choice>
              <mc:Fallback>
                <p:oleObj name="Visio" r:id="rId3" imgW="1987963" imgH="1443609" progId="Visio.Drawing.11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3519" y="527296"/>
                        <a:ext cx="3976687" cy="288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237145"/>
              </p:ext>
            </p:extLst>
          </p:nvPr>
        </p:nvGraphicFramePr>
        <p:xfrm>
          <a:off x="1309611" y="1781969"/>
          <a:ext cx="138430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8" name="Equation" r:id="rId5" imgW="711000" imgH="647640" progId="Equation.DSMT4">
                  <p:embed/>
                </p:oleObj>
              </mc:Choice>
              <mc:Fallback>
                <p:oleObj name="Equation" r:id="rId5" imgW="711000" imgH="647640" progId="Equation.DSMT4">
                  <p:embed/>
                  <p:pic>
                    <p:nvPicPr>
                      <p:cNvPr id="1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611" y="1781969"/>
                        <a:ext cx="138430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455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18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8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8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8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8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/>
      <p:bldP spid="181266" grpId="0" build="p" autoUpdateAnimBg="0"/>
      <p:bldP spid="181267" grpId="0" build="p" autoUpdateAnimBg="0"/>
      <p:bldP spid="181316" grpId="0" animBg="1"/>
      <p:bldP spid="181317" grpId="0" animBg="1"/>
      <p:bldP spid="181318" grpId="0" animBg="1"/>
      <p:bldP spid="1813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E0E82F-F8F1-4EC3-B635-7EB70B06373A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2022/4/13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2873FB-3A52-4864-B458-AF52E280D1EB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22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028823"/>
              </p:ext>
            </p:extLst>
          </p:nvPr>
        </p:nvGraphicFramePr>
        <p:xfrm>
          <a:off x="4422180" y="2717205"/>
          <a:ext cx="41116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2" name="Equation" r:id="rId3" imgW="2057400" imgH="292100" progId="Equation.3">
                  <p:embed/>
                </p:oleObj>
              </mc:Choice>
              <mc:Fallback>
                <p:oleObj name="Equation" r:id="rId3" imgW="2057400" imgH="292100" progId="Equation.3">
                  <p:embed/>
                  <p:pic>
                    <p:nvPicPr>
                      <p:cNvPr id="922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180" y="2717205"/>
                        <a:ext cx="411162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3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99283"/>
              </p:ext>
            </p:extLst>
          </p:nvPr>
        </p:nvGraphicFramePr>
        <p:xfrm>
          <a:off x="4422180" y="3314714"/>
          <a:ext cx="4495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3" name="Equation" r:id="rId5" imgW="2247900" imgH="241300" progId="Equation.DSMT4">
                  <p:embed/>
                </p:oleObj>
              </mc:Choice>
              <mc:Fallback>
                <p:oleObj name="Equation" r:id="rId5" imgW="2247900" imgH="241300" progId="Equation.DSMT4">
                  <p:embed/>
                  <p:pic>
                    <p:nvPicPr>
                      <p:cNvPr id="31438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180" y="3314714"/>
                        <a:ext cx="4495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373980"/>
              </p:ext>
            </p:extLst>
          </p:nvPr>
        </p:nvGraphicFramePr>
        <p:xfrm>
          <a:off x="4725392" y="1487885"/>
          <a:ext cx="1422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4" name="Equation" r:id="rId7" imgW="682104" imgH="209632" progId="Equation.3">
                  <p:embed/>
                </p:oleObj>
              </mc:Choice>
              <mc:Fallback>
                <p:oleObj name="Equation" r:id="rId7" imgW="682104" imgH="209632" progId="Equation.3">
                  <p:embed/>
                  <p:pic>
                    <p:nvPicPr>
                      <p:cNvPr id="9223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392" y="1487885"/>
                        <a:ext cx="1422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26898"/>
              </p:ext>
            </p:extLst>
          </p:nvPr>
        </p:nvGraphicFramePr>
        <p:xfrm>
          <a:off x="6300192" y="1284685"/>
          <a:ext cx="1625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5" name="Equation" r:id="rId9" imgW="780936" imgH="415372" progId="Equation.3">
                  <p:embed/>
                </p:oleObj>
              </mc:Choice>
              <mc:Fallback>
                <p:oleObj name="Equation" r:id="rId9" imgW="780936" imgH="415372" progId="Equation.3">
                  <p:embed/>
                  <p:pic>
                    <p:nvPicPr>
                      <p:cNvPr id="9224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1284685"/>
                        <a:ext cx="1625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4388" name="Rectangle 20"/>
          <p:cNvSpPr>
            <a:spLocks noChangeArrowheads="1"/>
          </p:cNvSpPr>
          <p:nvPr/>
        </p:nvSpPr>
        <p:spPr bwMode="auto">
          <a:xfrm>
            <a:off x="4617442" y="840979"/>
            <a:ext cx="3365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underdamped——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欠阻尼</a:t>
            </a:r>
          </a:p>
        </p:txBody>
      </p:sp>
      <p:sp>
        <p:nvSpPr>
          <p:cNvPr id="25" name="Rectangle 2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9.2 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二阶电路的零输入响应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graphicFrame>
        <p:nvGraphicFramePr>
          <p:cNvPr id="9228" name="Object 42"/>
          <p:cNvGraphicFramePr>
            <a:graphicFrameLocks noChangeAspect="1"/>
          </p:cNvGraphicFramePr>
          <p:nvPr/>
        </p:nvGraphicFramePr>
        <p:xfrm>
          <a:off x="152400" y="1143000"/>
          <a:ext cx="3970338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6" name="Visio" r:id="rId11" imgW="2014109" imgH="1137826" progId="Visio.Drawing.11">
                  <p:embed/>
                </p:oleObj>
              </mc:Choice>
              <mc:Fallback>
                <p:oleObj name="Visio" r:id="rId11" imgW="2014109" imgH="1137826" progId="Visio.Drawing.11">
                  <p:embed/>
                  <p:pic>
                    <p:nvPicPr>
                      <p:cNvPr id="9228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143000"/>
                        <a:ext cx="3970338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9" name="Rectangle 7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907782"/>
              </p:ext>
            </p:extLst>
          </p:nvPr>
        </p:nvGraphicFramePr>
        <p:xfrm>
          <a:off x="4211960" y="2154882"/>
          <a:ext cx="468788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7" name="Equation" r:id="rId13" imgW="2463480" imgH="291960" progId="Equation.DSMT4">
                  <p:embed/>
                </p:oleObj>
              </mc:Choice>
              <mc:Fallback>
                <p:oleObj name="Equation" r:id="rId13" imgW="2463480" imgH="291960" progId="Equation.DSMT4">
                  <p:embed/>
                  <p:pic>
                    <p:nvPicPr>
                      <p:cNvPr id="1822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2154882"/>
                        <a:ext cx="4687888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403233"/>
              </p:ext>
            </p:extLst>
          </p:nvPr>
        </p:nvGraphicFramePr>
        <p:xfrm>
          <a:off x="179512" y="3771219"/>
          <a:ext cx="6496645" cy="1331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8" name="Equation" r:id="rId15" imgW="3340080" imgH="685800" progId="Equation.DSMT4">
                  <p:embed/>
                </p:oleObj>
              </mc:Choice>
              <mc:Fallback>
                <p:oleObj name="Equation" r:id="rId15" imgW="3340080" imgH="685800" progId="Equation.DSMT4">
                  <p:embed/>
                  <p:pic>
                    <p:nvPicPr>
                      <p:cNvPr id="1832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3771219"/>
                        <a:ext cx="6496645" cy="13316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660613"/>
              </p:ext>
            </p:extLst>
          </p:nvPr>
        </p:nvGraphicFramePr>
        <p:xfrm>
          <a:off x="1164214" y="5070281"/>
          <a:ext cx="34020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9" name="Equation" r:id="rId17" imgW="1600200" imgH="393480" progId="Equation.DSMT4">
                  <p:embed/>
                </p:oleObj>
              </mc:Choice>
              <mc:Fallback>
                <p:oleObj name="Equation" r:id="rId17" imgW="1600200" imgH="393480" progId="Equation.DSMT4">
                  <p:embed/>
                  <p:pic>
                    <p:nvPicPr>
                      <p:cNvPr id="1832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4214" y="5070281"/>
                        <a:ext cx="3402013" cy="838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4"/>
          <p:cNvGrpSpPr>
            <a:grpSpLocks/>
          </p:cNvGrpSpPr>
          <p:nvPr/>
        </p:nvGrpSpPr>
        <p:grpSpPr bwMode="auto">
          <a:xfrm>
            <a:off x="6827307" y="3914817"/>
            <a:ext cx="1711325" cy="1919288"/>
            <a:chOff x="4059" y="1888"/>
            <a:chExt cx="1078" cy="1209"/>
          </a:xfrm>
        </p:grpSpPr>
        <p:sp>
          <p:nvSpPr>
            <p:cNvPr id="22" name="Line 5"/>
            <p:cNvSpPr>
              <a:spLocks noChangeShapeType="1"/>
            </p:cNvSpPr>
            <p:nvPr/>
          </p:nvSpPr>
          <p:spPr bwMode="auto">
            <a:xfrm>
              <a:off x="4873" y="1888"/>
              <a:ext cx="0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6"/>
            <p:cNvSpPr>
              <a:spLocks noChangeShapeType="1"/>
            </p:cNvSpPr>
            <p:nvPr/>
          </p:nvSpPr>
          <p:spPr bwMode="auto">
            <a:xfrm>
              <a:off x="4153" y="2800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7"/>
            <p:cNvSpPr>
              <a:spLocks noChangeShapeType="1"/>
            </p:cNvSpPr>
            <p:nvPr/>
          </p:nvSpPr>
          <p:spPr bwMode="auto">
            <a:xfrm flipH="1">
              <a:off x="4153" y="1888"/>
              <a:ext cx="720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Text Box 9"/>
            <p:cNvSpPr txBox="1">
              <a:spLocks noChangeArrowheads="1"/>
            </p:cNvSpPr>
            <p:nvPr/>
          </p:nvSpPr>
          <p:spPr bwMode="auto">
            <a:xfrm>
              <a:off x="4441" y="2767"/>
              <a:ext cx="23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α</a:t>
              </a:r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Text Box 10"/>
            <p:cNvSpPr txBox="1">
              <a:spLocks noChangeArrowheads="1"/>
            </p:cNvSpPr>
            <p:nvPr/>
          </p:nvSpPr>
          <p:spPr bwMode="auto">
            <a:xfrm>
              <a:off x="4785" y="2160"/>
              <a:ext cx="35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ω</a:t>
              </a:r>
              <a:r>
                <a:rPr kumimoji="1" lang="en-US" altLang="zh-CN" b="0" i="1" baseline="-25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kumimoji="1"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Text Box 11"/>
            <p:cNvSpPr txBox="1">
              <a:spLocks noChangeArrowheads="1"/>
            </p:cNvSpPr>
            <p:nvPr/>
          </p:nvSpPr>
          <p:spPr bwMode="auto">
            <a:xfrm>
              <a:off x="4059" y="2069"/>
              <a:ext cx="6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ω</a:t>
              </a:r>
              <a:r>
                <a: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Freeform 12"/>
            <p:cNvSpPr>
              <a:spLocks/>
            </p:cNvSpPr>
            <p:nvPr/>
          </p:nvSpPr>
          <p:spPr bwMode="auto">
            <a:xfrm>
              <a:off x="4297" y="2608"/>
              <a:ext cx="80" cy="192"/>
            </a:xfrm>
            <a:custGeom>
              <a:avLst/>
              <a:gdLst>
                <a:gd name="T0" fmla="*/ 0 w 80"/>
                <a:gd name="T1" fmla="*/ 0 h 192"/>
                <a:gd name="T2" fmla="*/ 72 w 80"/>
                <a:gd name="T3" fmla="*/ 108 h 192"/>
                <a:gd name="T4" fmla="*/ 48 w 80"/>
                <a:gd name="T5" fmla="*/ 192 h 192"/>
                <a:gd name="T6" fmla="*/ 0 60000 65536"/>
                <a:gd name="T7" fmla="*/ 0 60000 65536"/>
                <a:gd name="T8" fmla="*/ 0 60000 65536"/>
                <a:gd name="T9" fmla="*/ 0 w 80"/>
                <a:gd name="T10" fmla="*/ 0 h 192"/>
                <a:gd name="T11" fmla="*/ 80 w 80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0" h="192">
                  <a:moveTo>
                    <a:pt x="0" y="0"/>
                  </a:moveTo>
                  <a:cubicBezTo>
                    <a:pt x="12" y="18"/>
                    <a:pt x="64" y="76"/>
                    <a:pt x="72" y="108"/>
                  </a:cubicBezTo>
                  <a:cubicBezTo>
                    <a:pt x="80" y="140"/>
                    <a:pt x="53" y="175"/>
                    <a:pt x="48" y="192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Text Box 13"/>
            <p:cNvSpPr txBox="1">
              <a:spLocks noChangeArrowheads="1"/>
            </p:cNvSpPr>
            <p:nvPr/>
          </p:nvSpPr>
          <p:spPr bwMode="auto">
            <a:xfrm>
              <a:off x="4351" y="2432"/>
              <a:ext cx="22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θ</a:t>
              </a:r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3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423417"/>
              </p:ext>
            </p:extLst>
          </p:nvPr>
        </p:nvGraphicFramePr>
        <p:xfrm>
          <a:off x="1124893" y="5857131"/>
          <a:ext cx="1376362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0" name="Equation" r:id="rId19" imgW="672840" imgH="431640" progId="Equation.DSMT4">
                  <p:embed/>
                </p:oleObj>
              </mc:Choice>
              <mc:Fallback>
                <p:oleObj name="Equation" r:id="rId19" imgW="672840" imgH="431640" progId="Equation.DSMT4">
                  <p:embed/>
                  <p:pic>
                    <p:nvPicPr>
                      <p:cNvPr id="18331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4893" y="5857131"/>
                        <a:ext cx="1376362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238707"/>
              </p:ext>
            </p:extLst>
          </p:nvPr>
        </p:nvGraphicFramePr>
        <p:xfrm>
          <a:off x="2843808" y="5821188"/>
          <a:ext cx="149225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1" name="Equation" r:id="rId21" imgW="647640" imgH="431640" progId="Equation.DSMT4">
                  <p:embed/>
                </p:oleObj>
              </mc:Choice>
              <mc:Fallback>
                <p:oleObj name="Equation" r:id="rId21" imgW="647640" imgH="431640" progId="Equation.DSMT4">
                  <p:embed/>
                  <p:pic>
                    <p:nvPicPr>
                      <p:cNvPr id="18331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5821188"/>
                        <a:ext cx="149225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AutoShape 24" descr="羊皮纸"/>
          <p:cNvSpPr>
            <a:spLocks noChangeArrowheads="1"/>
          </p:cNvSpPr>
          <p:nvPr/>
        </p:nvSpPr>
        <p:spPr bwMode="auto">
          <a:xfrm>
            <a:off x="6854292" y="5847782"/>
            <a:ext cx="2159000" cy="865188"/>
          </a:xfrm>
          <a:prstGeom prst="wedgeRoundRectCallout">
            <a:avLst>
              <a:gd name="adj1" fmla="val 2134"/>
              <a:gd name="adj2" fmla="val -109264"/>
              <a:gd name="adj3" fmla="val 16667"/>
            </a:avLst>
          </a:prstGeom>
          <a:blipFill dpi="0" rotWithShape="1">
            <a:blip r:embed="rId2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2400" i="1" dirty="0" err="1" smtClean="0">
                <a:solidFill>
                  <a:schemeClr val="tx1"/>
                </a:solidFill>
                <a:ea typeface="仿宋_GB2312" pitchFamily="49" charset="-122"/>
              </a:rPr>
              <a:t>ω</a:t>
            </a:r>
            <a:r>
              <a:rPr kumimoji="1" lang="en-US" altLang="zh-CN" sz="2400" i="1" baseline="-25000" dirty="0" err="1" smtClean="0">
                <a:solidFill>
                  <a:schemeClr val="tx1"/>
                </a:solidFill>
                <a:ea typeface="仿宋_GB2312" pitchFamily="49" charset="-122"/>
              </a:rPr>
              <a:t>d</a:t>
            </a:r>
            <a:r>
              <a:rPr kumimoji="1" lang="zh-CN" altLang="en-US" sz="2400" i="1" dirty="0" smtClean="0">
                <a:solidFill>
                  <a:schemeClr val="tx1"/>
                </a:solidFill>
                <a:ea typeface="仿宋_GB2312" pitchFamily="49" charset="-122"/>
              </a:rPr>
              <a:t>，</a:t>
            </a:r>
            <a:r>
              <a:rPr kumimoji="1" lang="en-US" altLang="zh-CN" sz="2400" i="1" dirty="0">
                <a:solidFill>
                  <a:schemeClr val="tx1"/>
                </a:solidFill>
                <a:ea typeface="仿宋_GB2312" pitchFamily="49" charset="-122"/>
              </a:rPr>
              <a:t>ω</a:t>
            </a:r>
            <a:r>
              <a:rPr kumimoji="1" lang="zh-CN" altLang="en-US" sz="2400" baseline="-25000" dirty="0">
                <a:solidFill>
                  <a:schemeClr val="tx1"/>
                </a:solidFill>
                <a:ea typeface="仿宋_GB2312" pitchFamily="49" charset="-122"/>
              </a:rPr>
              <a:t>０</a:t>
            </a:r>
            <a:r>
              <a:rPr kumimoji="1" lang="zh-CN" altLang="en-US" sz="2400" i="1" dirty="0" smtClean="0">
                <a:solidFill>
                  <a:schemeClr val="tx1"/>
                </a:solidFill>
                <a:ea typeface="仿宋_GB2312" pitchFamily="49" charset="-122"/>
              </a:rPr>
              <a:t>，</a:t>
            </a:r>
            <a:r>
              <a:rPr kumimoji="1" lang="en-US" altLang="zh-CN" sz="2400" i="1" dirty="0" smtClean="0">
                <a:solidFill>
                  <a:schemeClr val="tx1"/>
                </a:solidFill>
                <a:ea typeface="仿宋_GB2312" pitchFamily="49" charset="-122"/>
              </a:rPr>
              <a:t>α</a:t>
            </a:r>
            <a:r>
              <a:rPr kumimoji="1" lang="zh-CN" altLang="en-US" dirty="0" smtClean="0">
                <a:solidFill>
                  <a:schemeClr val="tx1"/>
                </a:solidFill>
                <a:latin typeface="楷体_GB2312" pitchFamily="49" charset="-122"/>
              </a:rPr>
              <a:t>的</a:t>
            </a: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关系</a:t>
            </a:r>
          </a:p>
        </p:txBody>
      </p:sp>
    </p:spTree>
    <p:extLst>
      <p:ext uri="{BB962C8B-B14F-4D97-AF65-F5344CB8AC3E}">
        <p14:creationId xmlns:p14="http://schemas.microsoft.com/office/powerpoint/2010/main" val="390340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88" grpId="0" autoUpdateAnimBg="0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9594871"/>
              </p:ext>
            </p:extLst>
          </p:nvPr>
        </p:nvGraphicFramePr>
        <p:xfrm>
          <a:off x="1744136" y="381793"/>
          <a:ext cx="4283075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8" name="Equation" r:id="rId3" imgW="1714320" imgH="431640" progId="Equation.DSMT4">
                  <p:embed/>
                </p:oleObj>
              </mc:Choice>
              <mc:Fallback>
                <p:oleObj name="Equation" r:id="rId3" imgW="1714320" imgH="431640" progId="Equation.DSMT4">
                  <p:embed/>
                  <p:pic>
                    <p:nvPicPr>
                      <p:cNvPr id="819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4136" y="381793"/>
                        <a:ext cx="4283075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5879077"/>
              </p:ext>
            </p:extLst>
          </p:nvPr>
        </p:nvGraphicFramePr>
        <p:xfrm>
          <a:off x="756444" y="1603375"/>
          <a:ext cx="6940550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9" name="Equation" r:id="rId5" imgW="3403440" imgH="393480" progId="Equation.DSMT4">
                  <p:embed/>
                </p:oleObj>
              </mc:Choice>
              <mc:Fallback>
                <p:oleObj name="Equation" r:id="rId5" imgW="3403440" imgH="393480" progId="Equation.DSMT4">
                  <p:embed/>
                  <p:pic>
                    <p:nvPicPr>
                      <p:cNvPr id="18432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444" y="1603375"/>
                        <a:ext cx="6940550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4" name="Text Box 4"/>
          <p:cNvSpPr txBox="1">
            <a:spLocks noChangeArrowheads="1"/>
          </p:cNvSpPr>
          <p:nvPr/>
        </p:nvSpPr>
        <p:spPr bwMode="auto">
          <a:xfrm>
            <a:off x="684213" y="2420938"/>
            <a:ext cx="3097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  </a:t>
            </a: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时</a:t>
            </a:r>
            <a:r>
              <a:rPr kumimoji="1"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=U</a:t>
            </a:r>
            <a:r>
              <a:rPr kumimoji="1" lang="en-US" altLang="zh-CN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25" name="Text Box 5"/>
          <p:cNvSpPr txBox="1">
            <a:spLocks noChangeArrowheads="1"/>
          </p:cNvSpPr>
          <p:nvPr/>
        </p:nvSpPr>
        <p:spPr bwMode="auto">
          <a:xfrm>
            <a:off x="3492500" y="2420938"/>
            <a:ext cx="5224507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en-US" altLang="zh-CN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en-US" altLang="zh-CN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</a:rPr>
              <a:t>=0</a:t>
            </a:r>
            <a:r>
              <a:rPr kumimoji="1"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kumimoji="1" lang="zh-CN" altLang="en-US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kumimoji="1" lang="en-US" altLang="zh-CN" b="0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kumimoji="1" lang="en-US" altLang="zh-CN" b="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kumimoji="1" lang="en-US" altLang="zh-CN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 </a:t>
            </a:r>
            <a:r>
              <a:rPr kumimoji="1" lang="en-US" altLang="zh-CN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-θ</a:t>
            </a:r>
            <a:r>
              <a:rPr kumimoji="1" lang="zh-CN" altLang="en-US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2</a:t>
            </a:r>
            <a:r>
              <a:rPr kumimoji="1" lang="en-US" altLang="zh-CN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θ</a:t>
            </a:r>
            <a:r>
              <a:rPr kumimoji="1" lang="en-US" altLang="zh-CN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... n</a:t>
            </a:r>
            <a:r>
              <a:rPr kumimoji="1" lang="en-US" altLang="zh-CN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θ</a:t>
            </a:r>
            <a:r>
              <a:rPr kumimoji="1" lang="en-US" altLang="zh-CN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kumimoji="1"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619250" y="2852738"/>
            <a:ext cx="5907089" cy="3402012"/>
            <a:chOff x="1020" y="1797"/>
            <a:chExt cx="3721" cy="2143"/>
          </a:xfrm>
        </p:grpSpPr>
        <p:sp>
          <p:nvSpPr>
            <p:cNvPr id="81938" name="Freeform 7"/>
            <p:cNvSpPr>
              <a:spLocks/>
            </p:cNvSpPr>
            <p:nvPr/>
          </p:nvSpPr>
          <p:spPr bwMode="auto">
            <a:xfrm>
              <a:off x="1308" y="2195"/>
              <a:ext cx="2405" cy="1289"/>
            </a:xfrm>
            <a:custGeom>
              <a:avLst/>
              <a:gdLst>
                <a:gd name="T0" fmla="*/ 5 w 2405"/>
                <a:gd name="T1" fmla="*/ 0 h 1289"/>
                <a:gd name="T2" fmla="*/ 5 w 2405"/>
                <a:gd name="T3" fmla="*/ 5 h 1289"/>
                <a:gd name="T4" fmla="*/ 15 w 2405"/>
                <a:gd name="T5" fmla="*/ 5 h 1289"/>
                <a:gd name="T6" fmla="*/ 96 w 2405"/>
                <a:gd name="T7" fmla="*/ 24 h 1289"/>
                <a:gd name="T8" fmla="*/ 202 w 2405"/>
                <a:gd name="T9" fmla="*/ 144 h 1289"/>
                <a:gd name="T10" fmla="*/ 399 w 2405"/>
                <a:gd name="T11" fmla="*/ 516 h 1289"/>
                <a:gd name="T12" fmla="*/ 547 w 2405"/>
                <a:gd name="T13" fmla="*/ 877 h 1289"/>
                <a:gd name="T14" fmla="*/ 600 w 2405"/>
                <a:gd name="T15" fmla="*/ 985 h 1289"/>
                <a:gd name="T16" fmla="*/ 734 w 2405"/>
                <a:gd name="T17" fmla="*/ 1174 h 1289"/>
                <a:gd name="T18" fmla="*/ 936 w 2405"/>
                <a:gd name="T19" fmla="*/ 1287 h 1289"/>
                <a:gd name="T20" fmla="*/ 1121 w 2405"/>
                <a:gd name="T21" fmla="*/ 1189 h 1289"/>
                <a:gd name="T22" fmla="*/ 1242 w 2405"/>
                <a:gd name="T23" fmla="*/ 1068 h 1289"/>
                <a:gd name="T24" fmla="*/ 1469 w 2405"/>
                <a:gd name="T25" fmla="*/ 755 h 1289"/>
                <a:gd name="T26" fmla="*/ 1657 w 2405"/>
                <a:gd name="T27" fmla="*/ 581 h 1289"/>
                <a:gd name="T28" fmla="*/ 1853 w 2405"/>
                <a:gd name="T29" fmla="*/ 504 h 1289"/>
                <a:gd name="T30" fmla="*/ 2138 w 2405"/>
                <a:gd name="T31" fmla="*/ 635 h 1289"/>
                <a:gd name="T32" fmla="*/ 2271 w 2405"/>
                <a:gd name="T33" fmla="*/ 755 h 1289"/>
                <a:gd name="T34" fmla="*/ 2405 w 2405"/>
                <a:gd name="T35" fmla="*/ 875 h 128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405"/>
                <a:gd name="T55" fmla="*/ 0 h 1289"/>
                <a:gd name="T56" fmla="*/ 2405 w 2405"/>
                <a:gd name="T57" fmla="*/ 1289 h 128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405" h="1289">
                  <a:moveTo>
                    <a:pt x="5" y="0"/>
                  </a:moveTo>
                  <a:cubicBezTo>
                    <a:pt x="5" y="1"/>
                    <a:pt x="3" y="4"/>
                    <a:pt x="5" y="5"/>
                  </a:cubicBezTo>
                  <a:cubicBezTo>
                    <a:pt x="7" y="6"/>
                    <a:pt x="0" y="2"/>
                    <a:pt x="15" y="5"/>
                  </a:cubicBezTo>
                  <a:cubicBezTo>
                    <a:pt x="30" y="8"/>
                    <a:pt x="65" y="1"/>
                    <a:pt x="96" y="24"/>
                  </a:cubicBezTo>
                  <a:cubicBezTo>
                    <a:pt x="127" y="47"/>
                    <a:pt x="152" y="62"/>
                    <a:pt x="202" y="144"/>
                  </a:cubicBezTo>
                  <a:cubicBezTo>
                    <a:pt x="252" y="226"/>
                    <a:pt x="342" y="394"/>
                    <a:pt x="399" y="516"/>
                  </a:cubicBezTo>
                  <a:cubicBezTo>
                    <a:pt x="456" y="638"/>
                    <a:pt x="513" y="799"/>
                    <a:pt x="547" y="877"/>
                  </a:cubicBezTo>
                  <a:cubicBezTo>
                    <a:pt x="580" y="956"/>
                    <a:pt x="569" y="935"/>
                    <a:pt x="600" y="985"/>
                  </a:cubicBezTo>
                  <a:cubicBezTo>
                    <a:pt x="630" y="1035"/>
                    <a:pt x="678" y="1124"/>
                    <a:pt x="734" y="1174"/>
                  </a:cubicBezTo>
                  <a:cubicBezTo>
                    <a:pt x="790" y="1224"/>
                    <a:pt x="872" y="1285"/>
                    <a:pt x="936" y="1287"/>
                  </a:cubicBezTo>
                  <a:cubicBezTo>
                    <a:pt x="1000" y="1289"/>
                    <a:pt x="1070" y="1225"/>
                    <a:pt x="1121" y="1189"/>
                  </a:cubicBezTo>
                  <a:cubicBezTo>
                    <a:pt x="1172" y="1153"/>
                    <a:pt x="1183" y="1141"/>
                    <a:pt x="1242" y="1068"/>
                  </a:cubicBezTo>
                  <a:cubicBezTo>
                    <a:pt x="1300" y="996"/>
                    <a:pt x="1399" y="836"/>
                    <a:pt x="1469" y="755"/>
                  </a:cubicBezTo>
                  <a:cubicBezTo>
                    <a:pt x="1539" y="675"/>
                    <a:pt x="1593" y="623"/>
                    <a:pt x="1657" y="581"/>
                  </a:cubicBezTo>
                  <a:cubicBezTo>
                    <a:pt x="1721" y="539"/>
                    <a:pt x="1773" y="495"/>
                    <a:pt x="1853" y="504"/>
                  </a:cubicBezTo>
                  <a:cubicBezTo>
                    <a:pt x="1933" y="513"/>
                    <a:pt x="2068" y="593"/>
                    <a:pt x="2138" y="635"/>
                  </a:cubicBezTo>
                  <a:cubicBezTo>
                    <a:pt x="2208" y="677"/>
                    <a:pt x="2227" y="716"/>
                    <a:pt x="2271" y="755"/>
                  </a:cubicBezTo>
                  <a:cubicBezTo>
                    <a:pt x="2316" y="795"/>
                    <a:pt x="2360" y="835"/>
                    <a:pt x="2405" y="875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1939" name="Freeform 8"/>
            <p:cNvSpPr>
              <a:spLocks/>
            </p:cNvSpPr>
            <p:nvPr/>
          </p:nvSpPr>
          <p:spPr bwMode="auto">
            <a:xfrm>
              <a:off x="1299" y="2147"/>
              <a:ext cx="2727" cy="641"/>
            </a:xfrm>
            <a:custGeom>
              <a:avLst/>
              <a:gdLst>
                <a:gd name="T0" fmla="*/ 0 w 1958"/>
                <a:gd name="T1" fmla="*/ 0 h 653"/>
                <a:gd name="T2" fmla="*/ 384 w 1958"/>
                <a:gd name="T3" fmla="*/ 240 h 653"/>
                <a:gd name="T4" fmla="*/ 1200 w 1958"/>
                <a:gd name="T5" fmla="*/ 528 h 653"/>
                <a:gd name="T6" fmla="*/ 1958 w 1958"/>
                <a:gd name="T7" fmla="*/ 653 h 6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58"/>
                <a:gd name="T13" fmla="*/ 0 h 653"/>
                <a:gd name="T14" fmla="*/ 1958 w 1958"/>
                <a:gd name="T15" fmla="*/ 653 h 6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58" h="653">
                  <a:moveTo>
                    <a:pt x="0" y="0"/>
                  </a:moveTo>
                  <a:cubicBezTo>
                    <a:pt x="92" y="76"/>
                    <a:pt x="184" y="152"/>
                    <a:pt x="384" y="240"/>
                  </a:cubicBezTo>
                  <a:cubicBezTo>
                    <a:pt x="584" y="328"/>
                    <a:pt x="938" y="459"/>
                    <a:pt x="1200" y="528"/>
                  </a:cubicBezTo>
                  <a:cubicBezTo>
                    <a:pt x="1462" y="597"/>
                    <a:pt x="1800" y="627"/>
                    <a:pt x="1958" y="653"/>
                  </a:cubicBezTo>
                </a:path>
              </a:pathLst>
            </a:cu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1940" name="Freeform 9"/>
            <p:cNvSpPr>
              <a:spLocks/>
            </p:cNvSpPr>
            <p:nvPr/>
          </p:nvSpPr>
          <p:spPr bwMode="auto">
            <a:xfrm>
              <a:off x="1339" y="3189"/>
              <a:ext cx="2875" cy="659"/>
            </a:xfrm>
            <a:custGeom>
              <a:avLst/>
              <a:gdLst>
                <a:gd name="T0" fmla="*/ 0 w 2064"/>
                <a:gd name="T1" fmla="*/ 672 h 672"/>
                <a:gd name="T2" fmla="*/ 432 w 2064"/>
                <a:gd name="T3" fmla="*/ 384 h 672"/>
                <a:gd name="T4" fmla="*/ 960 w 2064"/>
                <a:gd name="T5" fmla="*/ 192 h 672"/>
                <a:gd name="T6" fmla="*/ 1584 w 2064"/>
                <a:gd name="T7" fmla="*/ 48 h 672"/>
                <a:gd name="T8" fmla="*/ 2064 w 2064"/>
                <a:gd name="T9" fmla="*/ 0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64"/>
                <a:gd name="T16" fmla="*/ 0 h 672"/>
                <a:gd name="T17" fmla="*/ 2064 w 2064"/>
                <a:gd name="T18" fmla="*/ 672 h 6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64" h="672">
                  <a:moveTo>
                    <a:pt x="0" y="672"/>
                  </a:moveTo>
                  <a:cubicBezTo>
                    <a:pt x="136" y="568"/>
                    <a:pt x="272" y="464"/>
                    <a:pt x="432" y="384"/>
                  </a:cubicBezTo>
                  <a:cubicBezTo>
                    <a:pt x="592" y="304"/>
                    <a:pt x="768" y="248"/>
                    <a:pt x="960" y="192"/>
                  </a:cubicBezTo>
                  <a:cubicBezTo>
                    <a:pt x="1152" y="136"/>
                    <a:pt x="1400" y="80"/>
                    <a:pt x="1584" y="48"/>
                  </a:cubicBezTo>
                  <a:cubicBezTo>
                    <a:pt x="1768" y="16"/>
                    <a:pt x="1916" y="8"/>
                    <a:pt x="2064" y="0"/>
                  </a:cubicBezTo>
                </a:path>
              </a:pathLst>
            </a:cu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1941" name="Line 10"/>
            <p:cNvSpPr>
              <a:spLocks noChangeShapeType="1"/>
            </p:cNvSpPr>
            <p:nvPr/>
          </p:nvSpPr>
          <p:spPr bwMode="auto">
            <a:xfrm>
              <a:off x="1098" y="2951"/>
              <a:ext cx="32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42" name="Line 11"/>
            <p:cNvSpPr>
              <a:spLocks noChangeShapeType="1"/>
            </p:cNvSpPr>
            <p:nvPr/>
          </p:nvSpPr>
          <p:spPr bwMode="auto">
            <a:xfrm>
              <a:off x="1299" y="2010"/>
              <a:ext cx="0" cy="19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43" name="Text Box 12"/>
            <p:cNvSpPr txBox="1">
              <a:spLocks noChangeArrowheads="1"/>
            </p:cNvSpPr>
            <p:nvPr/>
          </p:nvSpPr>
          <p:spPr bwMode="auto">
            <a:xfrm>
              <a:off x="4289" y="2811"/>
              <a:ext cx="45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/>
              <a:r>
                <a:rPr lang="zh-CN" altLang="en-US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</a:t>
              </a:r>
              <a:r>
                <a:rPr lang="en-US" altLang="zh-CN" sz="3200" b="0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d</a:t>
              </a:r>
              <a:r>
                <a:rPr lang="en-US" altLang="zh-CN" sz="3200" b="0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</a:t>
              </a:r>
              <a:endPara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44" name="Text Box 13"/>
            <p:cNvSpPr txBox="1">
              <a:spLocks noChangeArrowheads="1"/>
            </p:cNvSpPr>
            <p:nvPr/>
          </p:nvSpPr>
          <p:spPr bwMode="auto">
            <a:xfrm>
              <a:off x="1699" y="2869"/>
              <a:ext cx="42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</a:t>
              </a:r>
              <a:r>
                <a:rPr kumimoji="1" lang="en-US" altLang="zh-CN" b="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-θ</a:t>
              </a:r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1945" name="Text Box 14"/>
            <p:cNvSpPr txBox="1">
              <a:spLocks noChangeArrowheads="1"/>
            </p:cNvSpPr>
            <p:nvPr/>
          </p:nvSpPr>
          <p:spPr bwMode="auto">
            <a:xfrm>
              <a:off x="2518" y="2869"/>
              <a:ext cx="59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2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- θ</a:t>
              </a:r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1946" name="Text Box 15"/>
            <p:cNvSpPr txBox="1">
              <a:spLocks noChangeArrowheads="1"/>
            </p:cNvSpPr>
            <p:nvPr/>
          </p:nvSpPr>
          <p:spPr bwMode="auto">
            <a:xfrm>
              <a:off x="3045" y="2869"/>
              <a:ext cx="3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2</a:t>
              </a:r>
            </a:p>
          </p:txBody>
        </p:sp>
        <p:sp>
          <p:nvSpPr>
            <p:cNvPr id="81947" name="Text Box 16"/>
            <p:cNvSpPr txBox="1">
              <a:spLocks noChangeArrowheads="1"/>
            </p:cNvSpPr>
            <p:nvPr/>
          </p:nvSpPr>
          <p:spPr bwMode="auto">
            <a:xfrm>
              <a:off x="2184" y="2869"/>
              <a:ext cx="2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</a:t>
              </a:r>
            </a:p>
          </p:txBody>
        </p:sp>
        <p:sp>
          <p:nvSpPr>
            <p:cNvPr id="81948" name="Text Box 17"/>
            <p:cNvSpPr txBox="1">
              <a:spLocks noChangeArrowheads="1"/>
            </p:cNvSpPr>
            <p:nvPr/>
          </p:nvSpPr>
          <p:spPr bwMode="auto">
            <a:xfrm>
              <a:off x="1296" y="291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1949" name="Line 18"/>
            <p:cNvSpPr>
              <a:spLocks noChangeShapeType="1"/>
            </p:cNvSpPr>
            <p:nvPr/>
          </p:nvSpPr>
          <p:spPr bwMode="auto">
            <a:xfrm>
              <a:off x="2251" y="2951"/>
              <a:ext cx="0" cy="53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50" name="Text Box 19"/>
            <p:cNvSpPr txBox="1">
              <a:spLocks noChangeArrowheads="1"/>
            </p:cNvSpPr>
            <p:nvPr/>
          </p:nvSpPr>
          <p:spPr bwMode="auto">
            <a:xfrm>
              <a:off x="1020" y="2147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4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51" name="Text Box 20"/>
            <p:cNvSpPr txBox="1">
              <a:spLocks noChangeArrowheads="1"/>
            </p:cNvSpPr>
            <p:nvPr/>
          </p:nvSpPr>
          <p:spPr bwMode="auto">
            <a:xfrm>
              <a:off x="1339" y="1797"/>
              <a:ext cx="361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32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3200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81952" name="Line 21"/>
            <p:cNvSpPr>
              <a:spLocks noChangeShapeType="1"/>
            </p:cNvSpPr>
            <p:nvPr/>
          </p:nvSpPr>
          <p:spPr bwMode="auto">
            <a:xfrm>
              <a:off x="3159" y="2697"/>
              <a:ext cx="0" cy="25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1924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7223338"/>
                </p:ext>
              </p:extLst>
            </p:nvPr>
          </p:nvGraphicFramePr>
          <p:xfrm>
            <a:off x="3124" y="2041"/>
            <a:ext cx="828" cy="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20" name="Equation" r:id="rId7" imgW="622080" imgH="431640" progId="Equation.DSMT4">
                    <p:embed/>
                  </p:oleObj>
                </mc:Choice>
                <mc:Fallback>
                  <p:oleObj name="Equation" r:id="rId7" imgW="622080" imgH="431640" progId="Equation.DSMT4">
                    <p:embed/>
                    <p:pic>
                      <p:nvPicPr>
                        <p:cNvPr id="81924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4" y="2041"/>
                          <a:ext cx="828" cy="5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25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91673334"/>
                </p:ext>
              </p:extLst>
            </p:nvPr>
          </p:nvGraphicFramePr>
          <p:xfrm>
            <a:off x="2950" y="3266"/>
            <a:ext cx="992" cy="5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21" name="Equation" r:id="rId9" imgW="736560" imgH="431640" progId="Equation.DSMT4">
                    <p:embed/>
                  </p:oleObj>
                </mc:Choice>
                <mc:Fallback>
                  <p:oleObj name="Equation" r:id="rId9" imgW="736560" imgH="431640" progId="Equation.DSMT4">
                    <p:embed/>
                    <p:pic>
                      <p:nvPicPr>
                        <p:cNvPr id="81925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0" y="3266"/>
                          <a:ext cx="992" cy="5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8620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8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948" name="Group 2"/>
          <p:cNvGrpSpPr>
            <a:grpSpLocks/>
          </p:cNvGrpSpPr>
          <p:nvPr/>
        </p:nvGrpSpPr>
        <p:grpSpPr bwMode="auto">
          <a:xfrm>
            <a:off x="468314" y="1586781"/>
            <a:ext cx="5710239" cy="3354387"/>
            <a:chOff x="822" y="1957"/>
            <a:chExt cx="3597" cy="2113"/>
          </a:xfrm>
        </p:grpSpPr>
        <p:sp>
          <p:nvSpPr>
            <p:cNvPr id="82966" name="Text Box 3"/>
            <p:cNvSpPr txBox="1">
              <a:spLocks noChangeArrowheads="1"/>
            </p:cNvSpPr>
            <p:nvPr/>
          </p:nvSpPr>
          <p:spPr bwMode="auto">
            <a:xfrm>
              <a:off x="3792" y="3414"/>
              <a:ext cx="1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endParaRPr kumimoji="1" lang="zh-CN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2967" name="Freeform 4"/>
            <p:cNvSpPr>
              <a:spLocks/>
            </p:cNvSpPr>
            <p:nvPr/>
          </p:nvSpPr>
          <p:spPr bwMode="auto">
            <a:xfrm>
              <a:off x="1198" y="2277"/>
              <a:ext cx="2727" cy="641"/>
            </a:xfrm>
            <a:custGeom>
              <a:avLst/>
              <a:gdLst>
                <a:gd name="T0" fmla="*/ 0 w 1958"/>
                <a:gd name="T1" fmla="*/ 0 h 653"/>
                <a:gd name="T2" fmla="*/ 384 w 1958"/>
                <a:gd name="T3" fmla="*/ 240 h 653"/>
                <a:gd name="T4" fmla="*/ 1200 w 1958"/>
                <a:gd name="T5" fmla="*/ 528 h 653"/>
                <a:gd name="T6" fmla="*/ 1958 w 1958"/>
                <a:gd name="T7" fmla="*/ 653 h 6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58"/>
                <a:gd name="T13" fmla="*/ 0 h 653"/>
                <a:gd name="T14" fmla="*/ 1958 w 1958"/>
                <a:gd name="T15" fmla="*/ 653 h 6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58" h="653">
                  <a:moveTo>
                    <a:pt x="0" y="0"/>
                  </a:moveTo>
                  <a:cubicBezTo>
                    <a:pt x="92" y="76"/>
                    <a:pt x="184" y="152"/>
                    <a:pt x="384" y="240"/>
                  </a:cubicBezTo>
                  <a:cubicBezTo>
                    <a:pt x="584" y="328"/>
                    <a:pt x="938" y="459"/>
                    <a:pt x="1200" y="528"/>
                  </a:cubicBezTo>
                  <a:cubicBezTo>
                    <a:pt x="1462" y="597"/>
                    <a:pt x="1800" y="627"/>
                    <a:pt x="1958" y="653"/>
                  </a:cubicBezTo>
                </a:path>
              </a:pathLst>
            </a:cu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2968" name="Freeform 5"/>
            <p:cNvSpPr>
              <a:spLocks/>
            </p:cNvSpPr>
            <p:nvPr/>
          </p:nvSpPr>
          <p:spPr bwMode="auto">
            <a:xfrm>
              <a:off x="1195" y="2323"/>
              <a:ext cx="2405" cy="1289"/>
            </a:xfrm>
            <a:custGeom>
              <a:avLst/>
              <a:gdLst>
                <a:gd name="T0" fmla="*/ 5 w 2405"/>
                <a:gd name="T1" fmla="*/ 0 h 1289"/>
                <a:gd name="T2" fmla="*/ 5 w 2405"/>
                <a:gd name="T3" fmla="*/ 5 h 1289"/>
                <a:gd name="T4" fmla="*/ 15 w 2405"/>
                <a:gd name="T5" fmla="*/ 5 h 1289"/>
                <a:gd name="T6" fmla="*/ 96 w 2405"/>
                <a:gd name="T7" fmla="*/ 24 h 1289"/>
                <a:gd name="T8" fmla="*/ 202 w 2405"/>
                <a:gd name="T9" fmla="*/ 144 h 1289"/>
                <a:gd name="T10" fmla="*/ 399 w 2405"/>
                <a:gd name="T11" fmla="*/ 516 h 1289"/>
                <a:gd name="T12" fmla="*/ 547 w 2405"/>
                <a:gd name="T13" fmla="*/ 877 h 1289"/>
                <a:gd name="T14" fmla="*/ 600 w 2405"/>
                <a:gd name="T15" fmla="*/ 985 h 1289"/>
                <a:gd name="T16" fmla="*/ 734 w 2405"/>
                <a:gd name="T17" fmla="*/ 1174 h 1289"/>
                <a:gd name="T18" fmla="*/ 936 w 2405"/>
                <a:gd name="T19" fmla="*/ 1287 h 1289"/>
                <a:gd name="T20" fmla="*/ 1121 w 2405"/>
                <a:gd name="T21" fmla="*/ 1189 h 1289"/>
                <a:gd name="T22" fmla="*/ 1242 w 2405"/>
                <a:gd name="T23" fmla="*/ 1068 h 1289"/>
                <a:gd name="T24" fmla="*/ 1469 w 2405"/>
                <a:gd name="T25" fmla="*/ 755 h 1289"/>
                <a:gd name="T26" fmla="*/ 1657 w 2405"/>
                <a:gd name="T27" fmla="*/ 581 h 1289"/>
                <a:gd name="T28" fmla="*/ 1853 w 2405"/>
                <a:gd name="T29" fmla="*/ 504 h 1289"/>
                <a:gd name="T30" fmla="*/ 2138 w 2405"/>
                <a:gd name="T31" fmla="*/ 635 h 1289"/>
                <a:gd name="T32" fmla="*/ 2271 w 2405"/>
                <a:gd name="T33" fmla="*/ 755 h 1289"/>
                <a:gd name="T34" fmla="*/ 2405 w 2405"/>
                <a:gd name="T35" fmla="*/ 875 h 128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405"/>
                <a:gd name="T55" fmla="*/ 0 h 1289"/>
                <a:gd name="T56" fmla="*/ 2405 w 2405"/>
                <a:gd name="T57" fmla="*/ 1289 h 128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405" h="1289">
                  <a:moveTo>
                    <a:pt x="5" y="0"/>
                  </a:moveTo>
                  <a:cubicBezTo>
                    <a:pt x="5" y="1"/>
                    <a:pt x="3" y="4"/>
                    <a:pt x="5" y="5"/>
                  </a:cubicBezTo>
                  <a:cubicBezTo>
                    <a:pt x="7" y="6"/>
                    <a:pt x="0" y="2"/>
                    <a:pt x="15" y="5"/>
                  </a:cubicBezTo>
                  <a:cubicBezTo>
                    <a:pt x="30" y="8"/>
                    <a:pt x="65" y="1"/>
                    <a:pt x="96" y="24"/>
                  </a:cubicBezTo>
                  <a:cubicBezTo>
                    <a:pt x="127" y="47"/>
                    <a:pt x="152" y="62"/>
                    <a:pt x="202" y="144"/>
                  </a:cubicBezTo>
                  <a:cubicBezTo>
                    <a:pt x="252" y="226"/>
                    <a:pt x="342" y="394"/>
                    <a:pt x="399" y="516"/>
                  </a:cubicBezTo>
                  <a:cubicBezTo>
                    <a:pt x="456" y="638"/>
                    <a:pt x="513" y="799"/>
                    <a:pt x="547" y="877"/>
                  </a:cubicBezTo>
                  <a:cubicBezTo>
                    <a:pt x="580" y="956"/>
                    <a:pt x="569" y="935"/>
                    <a:pt x="600" y="985"/>
                  </a:cubicBezTo>
                  <a:cubicBezTo>
                    <a:pt x="630" y="1035"/>
                    <a:pt x="678" y="1124"/>
                    <a:pt x="734" y="1174"/>
                  </a:cubicBezTo>
                  <a:cubicBezTo>
                    <a:pt x="790" y="1224"/>
                    <a:pt x="872" y="1285"/>
                    <a:pt x="936" y="1287"/>
                  </a:cubicBezTo>
                  <a:cubicBezTo>
                    <a:pt x="1000" y="1289"/>
                    <a:pt x="1070" y="1225"/>
                    <a:pt x="1121" y="1189"/>
                  </a:cubicBezTo>
                  <a:cubicBezTo>
                    <a:pt x="1172" y="1153"/>
                    <a:pt x="1183" y="1141"/>
                    <a:pt x="1242" y="1068"/>
                  </a:cubicBezTo>
                  <a:cubicBezTo>
                    <a:pt x="1300" y="996"/>
                    <a:pt x="1399" y="836"/>
                    <a:pt x="1469" y="755"/>
                  </a:cubicBezTo>
                  <a:cubicBezTo>
                    <a:pt x="1539" y="675"/>
                    <a:pt x="1593" y="623"/>
                    <a:pt x="1657" y="581"/>
                  </a:cubicBezTo>
                  <a:cubicBezTo>
                    <a:pt x="1721" y="539"/>
                    <a:pt x="1773" y="495"/>
                    <a:pt x="1853" y="504"/>
                  </a:cubicBezTo>
                  <a:cubicBezTo>
                    <a:pt x="1933" y="513"/>
                    <a:pt x="2068" y="593"/>
                    <a:pt x="2138" y="635"/>
                  </a:cubicBezTo>
                  <a:cubicBezTo>
                    <a:pt x="2208" y="677"/>
                    <a:pt x="2227" y="716"/>
                    <a:pt x="2271" y="755"/>
                  </a:cubicBezTo>
                  <a:cubicBezTo>
                    <a:pt x="2316" y="795"/>
                    <a:pt x="2360" y="835"/>
                    <a:pt x="2405" y="875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2969" name="Freeform 6"/>
            <p:cNvSpPr>
              <a:spLocks/>
            </p:cNvSpPr>
            <p:nvPr/>
          </p:nvSpPr>
          <p:spPr bwMode="auto">
            <a:xfrm>
              <a:off x="1238" y="3319"/>
              <a:ext cx="2875" cy="659"/>
            </a:xfrm>
            <a:custGeom>
              <a:avLst/>
              <a:gdLst>
                <a:gd name="T0" fmla="*/ 0 w 2064"/>
                <a:gd name="T1" fmla="*/ 672 h 672"/>
                <a:gd name="T2" fmla="*/ 432 w 2064"/>
                <a:gd name="T3" fmla="*/ 384 h 672"/>
                <a:gd name="T4" fmla="*/ 960 w 2064"/>
                <a:gd name="T5" fmla="*/ 192 h 672"/>
                <a:gd name="T6" fmla="*/ 1584 w 2064"/>
                <a:gd name="T7" fmla="*/ 48 h 672"/>
                <a:gd name="T8" fmla="*/ 2064 w 2064"/>
                <a:gd name="T9" fmla="*/ 0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64"/>
                <a:gd name="T16" fmla="*/ 0 h 672"/>
                <a:gd name="T17" fmla="*/ 2064 w 2064"/>
                <a:gd name="T18" fmla="*/ 672 h 6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64" h="672">
                  <a:moveTo>
                    <a:pt x="0" y="672"/>
                  </a:moveTo>
                  <a:cubicBezTo>
                    <a:pt x="136" y="568"/>
                    <a:pt x="272" y="464"/>
                    <a:pt x="432" y="384"/>
                  </a:cubicBezTo>
                  <a:cubicBezTo>
                    <a:pt x="592" y="304"/>
                    <a:pt x="768" y="248"/>
                    <a:pt x="960" y="192"/>
                  </a:cubicBezTo>
                  <a:cubicBezTo>
                    <a:pt x="1152" y="136"/>
                    <a:pt x="1400" y="80"/>
                    <a:pt x="1584" y="48"/>
                  </a:cubicBezTo>
                  <a:cubicBezTo>
                    <a:pt x="1768" y="16"/>
                    <a:pt x="1916" y="8"/>
                    <a:pt x="2064" y="0"/>
                  </a:cubicBezTo>
                </a:path>
              </a:pathLst>
            </a:cu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2970" name="Line 7"/>
            <p:cNvSpPr>
              <a:spLocks noChangeShapeType="1"/>
            </p:cNvSpPr>
            <p:nvPr/>
          </p:nvSpPr>
          <p:spPr bwMode="auto">
            <a:xfrm>
              <a:off x="997" y="3081"/>
              <a:ext cx="32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71" name="Line 8"/>
            <p:cNvSpPr>
              <a:spLocks noChangeShapeType="1"/>
            </p:cNvSpPr>
            <p:nvPr/>
          </p:nvSpPr>
          <p:spPr bwMode="auto">
            <a:xfrm>
              <a:off x="1198" y="2140"/>
              <a:ext cx="0" cy="19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72" name="Text Box 9"/>
            <p:cNvSpPr txBox="1">
              <a:spLocks noChangeArrowheads="1"/>
            </p:cNvSpPr>
            <p:nvPr/>
          </p:nvSpPr>
          <p:spPr bwMode="auto">
            <a:xfrm>
              <a:off x="4009" y="3011"/>
              <a:ext cx="41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/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</a:t>
              </a:r>
              <a:r>
                <a:rPr lang="en-US" altLang="zh-CN" b="0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d</a:t>
              </a:r>
              <a:r>
                <a:rPr lang="en-US" altLang="zh-CN" b="0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t</a:t>
              </a:r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973" name="Text Box 10"/>
            <p:cNvSpPr txBox="1">
              <a:spLocks noChangeArrowheads="1"/>
            </p:cNvSpPr>
            <p:nvPr/>
          </p:nvSpPr>
          <p:spPr bwMode="auto">
            <a:xfrm>
              <a:off x="1598" y="2999"/>
              <a:ext cx="48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</a:t>
              </a:r>
              <a:r>
                <a:rPr kumimoji="1" lang="en-US" altLang="zh-CN" b="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θ</a:t>
              </a:r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2974" name="Text Box 11"/>
            <p:cNvSpPr txBox="1">
              <a:spLocks noChangeArrowheads="1"/>
            </p:cNvSpPr>
            <p:nvPr/>
          </p:nvSpPr>
          <p:spPr bwMode="auto">
            <a:xfrm>
              <a:off x="2417" y="2999"/>
              <a:ext cx="59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2</a:t>
              </a:r>
              <a:r>
                <a:rPr kumimoji="1" lang="en-US" altLang="zh-CN" b="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θ</a:t>
              </a:r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2975" name="Text Box 12"/>
            <p:cNvSpPr txBox="1">
              <a:spLocks noChangeArrowheads="1"/>
            </p:cNvSpPr>
            <p:nvPr/>
          </p:nvSpPr>
          <p:spPr bwMode="auto">
            <a:xfrm>
              <a:off x="2944" y="2999"/>
              <a:ext cx="3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2</a:t>
              </a:r>
            </a:p>
          </p:txBody>
        </p:sp>
        <p:sp>
          <p:nvSpPr>
            <p:cNvPr id="82976" name="Text Box 13"/>
            <p:cNvSpPr txBox="1">
              <a:spLocks noChangeArrowheads="1"/>
            </p:cNvSpPr>
            <p:nvPr/>
          </p:nvSpPr>
          <p:spPr bwMode="auto">
            <a:xfrm>
              <a:off x="2083" y="2999"/>
              <a:ext cx="2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</a:t>
              </a:r>
            </a:p>
          </p:txBody>
        </p:sp>
        <p:sp>
          <p:nvSpPr>
            <p:cNvPr id="82977" name="Text Box 14"/>
            <p:cNvSpPr txBox="1">
              <a:spLocks noChangeArrowheads="1"/>
            </p:cNvSpPr>
            <p:nvPr/>
          </p:nvSpPr>
          <p:spPr bwMode="auto">
            <a:xfrm>
              <a:off x="1195" y="304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2978" name="Line 15"/>
            <p:cNvSpPr>
              <a:spLocks noChangeShapeType="1"/>
            </p:cNvSpPr>
            <p:nvPr/>
          </p:nvSpPr>
          <p:spPr bwMode="auto">
            <a:xfrm>
              <a:off x="2150" y="3081"/>
              <a:ext cx="0" cy="53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79" name="Text Box 16"/>
            <p:cNvSpPr txBox="1">
              <a:spLocks noChangeArrowheads="1"/>
            </p:cNvSpPr>
            <p:nvPr/>
          </p:nvSpPr>
          <p:spPr bwMode="auto">
            <a:xfrm>
              <a:off x="822" y="2245"/>
              <a:ext cx="3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980" name="Text Box 17"/>
            <p:cNvSpPr txBox="1">
              <a:spLocks noChangeArrowheads="1"/>
            </p:cNvSpPr>
            <p:nvPr/>
          </p:nvSpPr>
          <p:spPr bwMode="auto">
            <a:xfrm>
              <a:off x="1238" y="1957"/>
              <a:ext cx="32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82981" name="Line 18"/>
            <p:cNvSpPr>
              <a:spLocks noChangeShapeType="1"/>
            </p:cNvSpPr>
            <p:nvPr/>
          </p:nvSpPr>
          <p:spPr bwMode="auto">
            <a:xfrm>
              <a:off x="3058" y="2827"/>
              <a:ext cx="0" cy="25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5363" name="Text Box 19"/>
          <p:cNvSpPr txBox="1">
            <a:spLocks noChangeArrowheads="1"/>
          </p:cNvSpPr>
          <p:nvPr/>
        </p:nvSpPr>
        <p:spPr bwMode="auto">
          <a:xfrm>
            <a:off x="1331913" y="3969494"/>
            <a:ext cx="332142" cy="46166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θ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5364" name="Freeform 20"/>
          <p:cNvSpPr>
            <a:spLocks/>
          </p:cNvSpPr>
          <p:nvPr/>
        </p:nvSpPr>
        <p:spPr bwMode="auto">
          <a:xfrm flipV="1">
            <a:off x="1086346" y="2985442"/>
            <a:ext cx="4327029" cy="861544"/>
          </a:xfrm>
          <a:custGeom>
            <a:avLst/>
            <a:gdLst>
              <a:gd name="T0" fmla="*/ 0 w 2740"/>
              <a:gd name="T1" fmla="*/ 286 h 527"/>
              <a:gd name="T2" fmla="*/ 120 w 2740"/>
              <a:gd name="T3" fmla="*/ 137 h 527"/>
              <a:gd name="T4" fmla="*/ 225 w 2740"/>
              <a:gd name="T5" fmla="*/ 51 h 527"/>
              <a:gd name="T6" fmla="*/ 345 w 2740"/>
              <a:gd name="T7" fmla="*/ 3 h 527"/>
              <a:gd name="T8" fmla="*/ 624 w 2740"/>
              <a:gd name="T9" fmla="*/ 70 h 527"/>
              <a:gd name="T10" fmla="*/ 830 w 2740"/>
              <a:gd name="T11" fmla="*/ 204 h 527"/>
              <a:gd name="T12" fmla="*/ 955 w 2740"/>
              <a:gd name="T13" fmla="*/ 310 h 527"/>
              <a:gd name="T14" fmla="*/ 998 w 2740"/>
              <a:gd name="T15" fmla="*/ 353 h 527"/>
              <a:gd name="T16" fmla="*/ 1041 w 2740"/>
              <a:gd name="T17" fmla="*/ 401 h 527"/>
              <a:gd name="T18" fmla="*/ 1157 w 2740"/>
              <a:gd name="T19" fmla="*/ 468 h 527"/>
              <a:gd name="T20" fmla="*/ 1329 w 2740"/>
              <a:gd name="T21" fmla="*/ 525 h 527"/>
              <a:gd name="T22" fmla="*/ 1508 w 2740"/>
              <a:gd name="T23" fmla="*/ 481 h 527"/>
              <a:gd name="T24" fmla="*/ 1624 w 2740"/>
              <a:gd name="T25" fmla="*/ 432 h 527"/>
              <a:gd name="T26" fmla="*/ 1842 w 2740"/>
              <a:gd name="T27" fmla="*/ 302 h 527"/>
              <a:gd name="T28" fmla="*/ 2023 w 2740"/>
              <a:gd name="T29" fmla="*/ 230 h 527"/>
              <a:gd name="T30" fmla="*/ 2202 w 2740"/>
              <a:gd name="T31" fmla="*/ 192 h 527"/>
              <a:gd name="T32" fmla="*/ 2483 w 2740"/>
              <a:gd name="T33" fmla="*/ 253 h 527"/>
              <a:gd name="T34" fmla="*/ 2612 w 2740"/>
              <a:gd name="T35" fmla="*/ 302 h 527"/>
              <a:gd name="T36" fmla="*/ 2740 w 2740"/>
              <a:gd name="T37" fmla="*/ 351 h 52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2740"/>
              <a:gd name="T58" fmla="*/ 0 h 527"/>
              <a:gd name="T59" fmla="*/ 2740 w 2740"/>
              <a:gd name="T60" fmla="*/ 527 h 527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2740" h="527">
                <a:moveTo>
                  <a:pt x="0" y="286"/>
                </a:moveTo>
                <a:cubicBezTo>
                  <a:pt x="20" y="261"/>
                  <a:pt x="83" y="176"/>
                  <a:pt x="120" y="137"/>
                </a:cubicBezTo>
                <a:cubicBezTo>
                  <a:pt x="157" y="98"/>
                  <a:pt x="187" y="73"/>
                  <a:pt x="225" y="51"/>
                </a:cubicBezTo>
                <a:cubicBezTo>
                  <a:pt x="263" y="29"/>
                  <a:pt x="279" y="0"/>
                  <a:pt x="345" y="3"/>
                </a:cubicBezTo>
                <a:cubicBezTo>
                  <a:pt x="411" y="6"/>
                  <a:pt x="543" y="37"/>
                  <a:pt x="624" y="70"/>
                </a:cubicBezTo>
                <a:cubicBezTo>
                  <a:pt x="705" y="103"/>
                  <a:pt x="775" y="164"/>
                  <a:pt x="830" y="204"/>
                </a:cubicBezTo>
                <a:cubicBezTo>
                  <a:pt x="885" y="244"/>
                  <a:pt x="927" y="285"/>
                  <a:pt x="955" y="310"/>
                </a:cubicBezTo>
                <a:cubicBezTo>
                  <a:pt x="983" y="335"/>
                  <a:pt x="984" y="338"/>
                  <a:pt x="998" y="353"/>
                </a:cubicBezTo>
                <a:cubicBezTo>
                  <a:pt x="1012" y="368"/>
                  <a:pt x="1015" y="382"/>
                  <a:pt x="1041" y="401"/>
                </a:cubicBezTo>
                <a:cubicBezTo>
                  <a:pt x="1067" y="420"/>
                  <a:pt x="1109" y="447"/>
                  <a:pt x="1157" y="468"/>
                </a:cubicBezTo>
                <a:cubicBezTo>
                  <a:pt x="1205" y="489"/>
                  <a:pt x="1271" y="523"/>
                  <a:pt x="1329" y="525"/>
                </a:cubicBezTo>
                <a:cubicBezTo>
                  <a:pt x="1387" y="527"/>
                  <a:pt x="1459" y="497"/>
                  <a:pt x="1508" y="481"/>
                </a:cubicBezTo>
                <a:cubicBezTo>
                  <a:pt x="1558" y="466"/>
                  <a:pt x="1569" y="461"/>
                  <a:pt x="1624" y="432"/>
                </a:cubicBezTo>
                <a:cubicBezTo>
                  <a:pt x="1680" y="402"/>
                  <a:pt x="1775" y="336"/>
                  <a:pt x="1842" y="302"/>
                </a:cubicBezTo>
                <a:cubicBezTo>
                  <a:pt x="1909" y="269"/>
                  <a:pt x="1962" y="249"/>
                  <a:pt x="2023" y="230"/>
                </a:cubicBezTo>
                <a:cubicBezTo>
                  <a:pt x="2083" y="212"/>
                  <a:pt x="2125" y="188"/>
                  <a:pt x="2202" y="192"/>
                </a:cubicBezTo>
                <a:cubicBezTo>
                  <a:pt x="2278" y="195"/>
                  <a:pt x="2415" y="234"/>
                  <a:pt x="2483" y="253"/>
                </a:cubicBezTo>
                <a:cubicBezTo>
                  <a:pt x="2552" y="271"/>
                  <a:pt x="2569" y="286"/>
                  <a:pt x="2612" y="302"/>
                </a:cubicBezTo>
                <a:cubicBezTo>
                  <a:pt x="2654" y="319"/>
                  <a:pt x="2698" y="335"/>
                  <a:pt x="2740" y="351"/>
                </a:cubicBezTo>
              </a:path>
            </a:pathLst>
          </a:custGeom>
          <a:noFill/>
          <a:ln w="28575">
            <a:solidFill>
              <a:srgbClr val="66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5365" name="Line 21"/>
          <p:cNvSpPr>
            <a:spLocks noChangeShapeType="1"/>
          </p:cNvSpPr>
          <p:nvPr/>
        </p:nvSpPr>
        <p:spPr bwMode="auto">
          <a:xfrm>
            <a:off x="1619672" y="3396605"/>
            <a:ext cx="0" cy="4540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66" name="Text Box 22"/>
          <p:cNvSpPr txBox="1">
            <a:spLocks noChangeArrowheads="1"/>
          </p:cNvSpPr>
          <p:nvPr/>
        </p:nvSpPr>
        <p:spPr bwMode="auto">
          <a:xfrm>
            <a:off x="2458270" y="2758283"/>
            <a:ext cx="403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en-US" altLang="zh-CN" sz="2400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400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kumimoji="1" lang="en-US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2946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951257"/>
              </p:ext>
            </p:extLst>
          </p:nvPr>
        </p:nvGraphicFramePr>
        <p:xfrm>
          <a:off x="3211525" y="1168595"/>
          <a:ext cx="3356618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2" name="Equation" r:id="rId4" imgW="1892160" imgH="431640" progId="Equation.DSMT4">
                  <p:embed/>
                </p:oleObj>
              </mc:Choice>
              <mc:Fallback>
                <p:oleObj name="Equation" r:id="rId4" imgW="1892160" imgH="431640" progId="Equation.DSMT4">
                  <p:embed/>
                  <p:pic>
                    <p:nvPicPr>
                      <p:cNvPr id="82946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525" y="1168595"/>
                        <a:ext cx="3356618" cy="72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72" name="Text Box 28"/>
          <p:cNvSpPr txBox="1">
            <a:spLocks noChangeArrowheads="1"/>
          </p:cNvSpPr>
          <p:nvPr/>
        </p:nvSpPr>
        <p:spPr bwMode="auto">
          <a:xfrm>
            <a:off x="660951" y="5157192"/>
            <a:ext cx="7156126" cy="104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kumimoji="1" lang="en-US" altLang="zh-CN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kumimoji="1"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kumimoji="1" lang="zh-CN" altLang="en-US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kumimoji="1" lang="en-US" altLang="zh-CN" b="0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kumimoji="1" lang="en-US" altLang="zh-CN" b="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kumimoji="1" lang="en-US" altLang="zh-CN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=0</a:t>
            </a:r>
            <a:r>
              <a:rPr kumimoji="1"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，，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2    ... n </a:t>
            </a:r>
            <a:r>
              <a:rPr kumimoji="1"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kumimoji="1"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en-US" altLang="zh-CN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kumimoji="1" lang="en-US" altLang="zh-CN" b="0" i="1" baseline="-25000" dirty="0" err="1">
                <a:solidFill>
                  <a:schemeClr val="tx1"/>
                </a:solidFill>
                <a:ea typeface="仿宋_GB2312" pitchFamily="49" charset="-122"/>
              </a:rPr>
              <a:t>c</a:t>
            </a:r>
            <a:r>
              <a:rPr kumimoji="1" lang="zh-CN" altLang="en-US" dirty="0">
                <a:solidFill>
                  <a:schemeClr val="tx1"/>
                </a:solidFill>
              </a:rPr>
              <a:t>极值点，</a:t>
            </a:r>
            <a:endParaRPr kumimoji="1" lang="zh-CN" altLang="en-US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kumimoji="1" lang="en-US" altLang="zh-CN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en-US" altLang="zh-CN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第一个</a:t>
            </a:r>
            <a:r>
              <a:rPr kumimoji="1"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极值点为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b="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=θ</a:t>
            </a:r>
            <a:r>
              <a:rPr kumimoji="1"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kumimoji="1"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425506"/>
              </p:ext>
            </p:extLst>
          </p:nvPr>
        </p:nvGraphicFramePr>
        <p:xfrm>
          <a:off x="3211525" y="363265"/>
          <a:ext cx="2860914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3" name="Equation" r:id="rId6" imgW="1714320" imgH="431640" progId="Equation.DSMT4">
                  <p:embed/>
                </p:oleObj>
              </mc:Choice>
              <mc:Fallback>
                <p:oleObj name="Equation" r:id="rId6" imgW="1714320" imgH="431640" progId="Equation.DSMT4">
                  <p:embed/>
                  <p:pic>
                    <p:nvPicPr>
                      <p:cNvPr id="819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525" y="363265"/>
                        <a:ext cx="2860914" cy="72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381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63" grpId="0" animBg="1" autoUpdateAnimBg="0"/>
      <p:bldP spid="185364" grpId="0" animBg="1"/>
      <p:bldP spid="185366" grpId="0" autoUpdateAnimBg="0"/>
      <p:bldP spid="18537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Text Box 2" descr="绿色大理石"/>
          <p:cNvSpPr txBox="1">
            <a:spLocks noChangeArrowheads="1"/>
          </p:cNvSpPr>
          <p:nvPr/>
        </p:nvSpPr>
        <p:spPr bwMode="auto">
          <a:xfrm>
            <a:off x="4859338" y="692150"/>
            <a:ext cx="27093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能量转换关系：</a:t>
            </a:r>
          </a:p>
        </p:txBody>
      </p:sp>
      <p:sp>
        <p:nvSpPr>
          <p:cNvPr id="186371" name="Text Box 3"/>
          <p:cNvSpPr txBox="1">
            <a:spLocks noChangeArrowheads="1"/>
          </p:cNvSpPr>
          <p:nvPr/>
        </p:nvSpPr>
        <p:spPr bwMode="auto">
          <a:xfrm>
            <a:off x="611560" y="5684838"/>
            <a:ext cx="21627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 &lt; </a:t>
            </a:r>
            <a:r>
              <a:rPr kumimoji="1" lang="en-US" altLang="zh-CN" sz="32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kumimoji="1" lang="en-US" altLang="zh-CN" sz="3200" b="0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kumimoji="1" lang="en-US" altLang="zh-CN" sz="3200" b="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kumimoji="1" lang="en-US" altLang="zh-CN" sz="32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&lt; </a:t>
            </a:r>
            <a:r>
              <a:rPr kumimoji="1" lang="en-US" altLang="zh-CN" sz="32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θ </a:t>
            </a:r>
            <a:endParaRPr kumimoji="1"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6372" name="Text Box 4"/>
          <p:cNvSpPr txBox="1">
            <a:spLocks noChangeArrowheads="1"/>
          </p:cNvSpPr>
          <p:nvPr/>
        </p:nvSpPr>
        <p:spPr bwMode="auto">
          <a:xfrm>
            <a:off x="3347864" y="5611813"/>
            <a:ext cx="255069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θ &lt; </a:t>
            </a:r>
            <a:r>
              <a:rPr lang="en-US" altLang="zh-CN" sz="3200" b="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kumimoji="1" lang="en-US" altLang="zh-CN" sz="3200" b="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kumimoji="1" lang="en-US" altLang="zh-CN" sz="32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&lt; </a:t>
            </a:r>
            <a:r>
              <a:rPr kumimoji="1" lang="en-US" altLang="zh-CN" sz="32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θ</a:t>
            </a:r>
            <a:endParaRPr kumimoji="1"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6373" name="Text Box 5"/>
          <p:cNvSpPr txBox="1">
            <a:spLocks noChangeArrowheads="1"/>
          </p:cNvSpPr>
          <p:nvPr/>
        </p:nvSpPr>
        <p:spPr bwMode="auto">
          <a:xfrm>
            <a:off x="6156176" y="5540375"/>
            <a:ext cx="268214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</a:t>
            </a:r>
            <a:r>
              <a:rPr kumimoji="1" lang="en-US" altLang="zh-CN" sz="32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θ</a:t>
            </a:r>
            <a:r>
              <a:rPr kumimoji="1" lang="en-US" altLang="zh-CN" sz="32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&lt; 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3200" b="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kumimoji="1" lang="en-US" altLang="zh-CN" sz="3200" b="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kumimoji="1" lang="en-US" altLang="zh-CN" sz="32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&lt;  </a:t>
            </a:r>
          </a:p>
        </p:txBody>
      </p: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3276600" y="3716338"/>
            <a:ext cx="2827338" cy="2011362"/>
            <a:chOff x="567" y="2477"/>
            <a:chExt cx="1963" cy="1267"/>
          </a:xfrm>
        </p:grpSpPr>
        <p:sp>
          <p:nvSpPr>
            <p:cNvPr id="171071" name="Line 34"/>
            <p:cNvSpPr>
              <a:spLocks noChangeShapeType="1"/>
            </p:cNvSpPr>
            <p:nvPr/>
          </p:nvSpPr>
          <p:spPr bwMode="auto">
            <a:xfrm>
              <a:off x="2210" y="2477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72" name="Line 35"/>
            <p:cNvSpPr>
              <a:spLocks noChangeShapeType="1"/>
            </p:cNvSpPr>
            <p:nvPr/>
          </p:nvSpPr>
          <p:spPr bwMode="auto">
            <a:xfrm>
              <a:off x="2210" y="320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73" name="Line 36"/>
            <p:cNvSpPr>
              <a:spLocks noChangeShapeType="1"/>
            </p:cNvSpPr>
            <p:nvPr/>
          </p:nvSpPr>
          <p:spPr bwMode="auto">
            <a:xfrm>
              <a:off x="748" y="343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74" name="Line 37"/>
            <p:cNvSpPr>
              <a:spLocks noChangeShapeType="1"/>
            </p:cNvSpPr>
            <p:nvPr/>
          </p:nvSpPr>
          <p:spPr bwMode="auto">
            <a:xfrm>
              <a:off x="748" y="2477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75" name="Line 38"/>
            <p:cNvSpPr>
              <a:spLocks noChangeShapeType="1"/>
            </p:cNvSpPr>
            <p:nvPr/>
          </p:nvSpPr>
          <p:spPr bwMode="auto">
            <a:xfrm flipH="1">
              <a:off x="748" y="2976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76" name="Rectangle 39"/>
            <p:cNvSpPr>
              <a:spLocks noChangeArrowheads="1"/>
            </p:cNvSpPr>
            <p:nvPr/>
          </p:nvSpPr>
          <p:spPr bwMode="auto">
            <a:xfrm>
              <a:off x="1338" y="3475"/>
              <a:ext cx="34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1077" name="Rectangle 40"/>
            <p:cNvSpPr>
              <a:spLocks noChangeArrowheads="1"/>
            </p:cNvSpPr>
            <p:nvPr/>
          </p:nvSpPr>
          <p:spPr bwMode="auto">
            <a:xfrm>
              <a:off x="2392" y="2886"/>
              <a:ext cx="1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1078" name="Rectangle 41"/>
            <p:cNvSpPr>
              <a:spLocks noChangeArrowheads="1"/>
            </p:cNvSpPr>
            <p:nvPr/>
          </p:nvSpPr>
          <p:spPr bwMode="auto">
            <a:xfrm>
              <a:off x="930" y="2795"/>
              <a:ext cx="31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1079" name="Rectangle 42"/>
            <p:cNvSpPr>
              <a:spLocks noChangeArrowheads="1"/>
            </p:cNvSpPr>
            <p:nvPr/>
          </p:nvSpPr>
          <p:spPr bwMode="auto">
            <a:xfrm>
              <a:off x="567" y="2568"/>
              <a:ext cx="13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71080" name="Rectangle 43"/>
            <p:cNvSpPr>
              <a:spLocks noChangeArrowheads="1"/>
            </p:cNvSpPr>
            <p:nvPr/>
          </p:nvSpPr>
          <p:spPr bwMode="auto">
            <a:xfrm>
              <a:off x="567" y="3022"/>
              <a:ext cx="12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171081" name="Line 44"/>
            <p:cNvSpPr>
              <a:spLocks noChangeShapeType="1"/>
            </p:cNvSpPr>
            <p:nvPr/>
          </p:nvSpPr>
          <p:spPr bwMode="auto">
            <a:xfrm>
              <a:off x="748" y="2477"/>
              <a:ext cx="145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1082" name="Group 45"/>
            <p:cNvGrpSpPr>
              <a:grpSpLocks/>
            </p:cNvGrpSpPr>
            <p:nvPr/>
          </p:nvGrpSpPr>
          <p:grpSpPr bwMode="auto">
            <a:xfrm>
              <a:off x="612" y="2885"/>
              <a:ext cx="240" cy="90"/>
              <a:chOff x="4604" y="2478"/>
              <a:chExt cx="240" cy="90"/>
            </a:xfrm>
          </p:grpSpPr>
          <p:sp>
            <p:nvSpPr>
              <p:cNvPr id="171088" name="Line 46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1089" name="Line 47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1083" name="Group 48"/>
            <p:cNvGrpSpPr>
              <a:grpSpLocks/>
            </p:cNvGrpSpPr>
            <p:nvPr/>
          </p:nvGrpSpPr>
          <p:grpSpPr bwMode="auto">
            <a:xfrm rot="5400000">
              <a:off x="1756" y="2704"/>
              <a:ext cx="499" cy="590"/>
              <a:chOff x="476" y="663"/>
              <a:chExt cx="771" cy="862"/>
            </a:xfrm>
          </p:grpSpPr>
          <p:sp>
            <p:nvSpPr>
              <p:cNvPr id="171085" name="AutoShape 49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1086" name="AutoShape 50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1087" name="AutoShape 51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1084" name="Rectangle 52"/>
            <p:cNvSpPr>
              <a:spLocks noChangeArrowheads="1"/>
            </p:cNvSpPr>
            <p:nvPr/>
          </p:nvSpPr>
          <p:spPr bwMode="auto">
            <a:xfrm>
              <a:off x="1384" y="3339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53"/>
          <p:cNvGrpSpPr>
            <a:grpSpLocks/>
          </p:cNvGrpSpPr>
          <p:nvPr/>
        </p:nvGrpSpPr>
        <p:grpSpPr bwMode="auto">
          <a:xfrm>
            <a:off x="323850" y="3716338"/>
            <a:ext cx="2815916" cy="2011362"/>
            <a:chOff x="567" y="2477"/>
            <a:chExt cx="1965" cy="1267"/>
          </a:xfrm>
        </p:grpSpPr>
        <p:sp>
          <p:nvSpPr>
            <p:cNvPr id="171052" name="Line 54"/>
            <p:cNvSpPr>
              <a:spLocks noChangeShapeType="1"/>
            </p:cNvSpPr>
            <p:nvPr/>
          </p:nvSpPr>
          <p:spPr bwMode="auto">
            <a:xfrm>
              <a:off x="2210" y="2477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53" name="Line 55"/>
            <p:cNvSpPr>
              <a:spLocks noChangeShapeType="1"/>
            </p:cNvSpPr>
            <p:nvPr/>
          </p:nvSpPr>
          <p:spPr bwMode="auto">
            <a:xfrm>
              <a:off x="2210" y="320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54" name="Line 56"/>
            <p:cNvSpPr>
              <a:spLocks noChangeShapeType="1"/>
            </p:cNvSpPr>
            <p:nvPr/>
          </p:nvSpPr>
          <p:spPr bwMode="auto">
            <a:xfrm>
              <a:off x="748" y="343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55" name="Line 57"/>
            <p:cNvSpPr>
              <a:spLocks noChangeShapeType="1"/>
            </p:cNvSpPr>
            <p:nvPr/>
          </p:nvSpPr>
          <p:spPr bwMode="auto">
            <a:xfrm>
              <a:off x="748" y="2477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56" name="Line 58"/>
            <p:cNvSpPr>
              <a:spLocks noChangeShapeType="1"/>
            </p:cNvSpPr>
            <p:nvPr/>
          </p:nvSpPr>
          <p:spPr bwMode="auto">
            <a:xfrm flipH="1">
              <a:off x="748" y="2976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57" name="Rectangle 59"/>
            <p:cNvSpPr>
              <a:spLocks noChangeArrowheads="1"/>
            </p:cNvSpPr>
            <p:nvPr/>
          </p:nvSpPr>
          <p:spPr bwMode="auto">
            <a:xfrm>
              <a:off x="1338" y="3475"/>
              <a:ext cx="34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1058" name="Rectangle 60"/>
            <p:cNvSpPr>
              <a:spLocks noChangeArrowheads="1"/>
            </p:cNvSpPr>
            <p:nvPr/>
          </p:nvSpPr>
          <p:spPr bwMode="auto">
            <a:xfrm>
              <a:off x="2392" y="2886"/>
              <a:ext cx="14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1059" name="Rectangle 61"/>
            <p:cNvSpPr>
              <a:spLocks noChangeArrowheads="1"/>
            </p:cNvSpPr>
            <p:nvPr/>
          </p:nvSpPr>
          <p:spPr bwMode="auto">
            <a:xfrm>
              <a:off x="930" y="2795"/>
              <a:ext cx="31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1060" name="Rectangle 62"/>
            <p:cNvSpPr>
              <a:spLocks noChangeArrowheads="1"/>
            </p:cNvSpPr>
            <p:nvPr/>
          </p:nvSpPr>
          <p:spPr bwMode="auto">
            <a:xfrm>
              <a:off x="567" y="2568"/>
              <a:ext cx="14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71061" name="Rectangle 63"/>
            <p:cNvSpPr>
              <a:spLocks noChangeArrowheads="1"/>
            </p:cNvSpPr>
            <p:nvPr/>
          </p:nvSpPr>
          <p:spPr bwMode="auto">
            <a:xfrm>
              <a:off x="567" y="3022"/>
              <a:ext cx="12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171062" name="Line 64"/>
            <p:cNvSpPr>
              <a:spLocks noChangeShapeType="1"/>
            </p:cNvSpPr>
            <p:nvPr/>
          </p:nvSpPr>
          <p:spPr bwMode="auto">
            <a:xfrm>
              <a:off x="748" y="2477"/>
              <a:ext cx="145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1063" name="Group 65"/>
            <p:cNvGrpSpPr>
              <a:grpSpLocks/>
            </p:cNvGrpSpPr>
            <p:nvPr/>
          </p:nvGrpSpPr>
          <p:grpSpPr bwMode="auto">
            <a:xfrm>
              <a:off x="612" y="2885"/>
              <a:ext cx="240" cy="90"/>
              <a:chOff x="4604" y="2478"/>
              <a:chExt cx="240" cy="90"/>
            </a:xfrm>
          </p:grpSpPr>
          <p:sp>
            <p:nvSpPr>
              <p:cNvPr id="171069" name="Line 66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1070" name="Line 67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1064" name="Group 68"/>
            <p:cNvGrpSpPr>
              <a:grpSpLocks/>
            </p:cNvGrpSpPr>
            <p:nvPr/>
          </p:nvGrpSpPr>
          <p:grpSpPr bwMode="auto">
            <a:xfrm rot="5400000">
              <a:off x="1756" y="2704"/>
              <a:ext cx="499" cy="590"/>
              <a:chOff x="476" y="663"/>
              <a:chExt cx="771" cy="862"/>
            </a:xfrm>
          </p:grpSpPr>
          <p:sp>
            <p:nvSpPr>
              <p:cNvPr id="171066" name="AutoShape 69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1067" name="AutoShape 70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1068" name="AutoShape 71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1065" name="Rectangle 72"/>
            <p:cNvSpPr>
              <a:spLocks noChangeArrowheads="1"/>
            </p:cNvSpPr>
            <p:nvPr/>
          </p:nvSpPr>
          <p:spPr bwMode="auto">
            <a:xfrm>
              <a:off x="1384" y="3339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86441" name="AutoShape 73"/>
          <p:cNvSpPr>
            <a:spLocks noChangeArrowheads="1"/>
          </p:cNvSpPr>
          <p:nvPr/>
        </p:nvSpPr>
        <p:spPr bwMode="auto">
          <a:xfrm rot="10800000">
            <a:off x="4643438" y="4221163"/>
            <a:ext cx="720725" cy="503237"/>
          </a:xfrm>
          <a:custGeom>
            <a:avLst/>
            <a:gdLst>
              <a:gd name="T0" fmla="*/ 543714 w 21600"/>
              <a:gd name="T1" fmla="*/ 0 h 21600"/>
              <a:gd name="T2" fmla="*/ 366702 w 21600"/>
              <a:gd name="T3" fmla="*/ 149224 h 21600"/>
              <a:gd name="T4" fmla="*/ 0 w 21600"/>
              <a:gd name="T5" fmla="*/ 474837 h 21600"/>
              <a:gd name="T6" fmla="*/ 288123 w 21600"/>
              <a:gd name="T7" fmla="*/ 503237 h 21600"/>
              <a:gd name="T8" fmla="*/ 576246 w 21600"/>
              <a:gd name="T9" fmla="*/ 344950 h 21600"/>
              <a:gd name="T10" fmla="*/ 720725 w 21600"/>
              <a:gd name="T11" fmla="*/ 149224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9161 h 21600"/>
              <a:gd name="T20" fmla="*/ 1727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95" y="0"/>
                </a:moveTo>
                <a:lnTo>
                  <a:pt x="10990" y="6405"/>
                </a:lnTo>
                <a:lnTo>
                  <a:pt x="15320" y="6405"/>
                </a:lnTo>
                <a:lnTo>
                  <a:pt x="15320" y="19161"/>
                </a:lnTo>
                <a:lnTo>
                  <a:pt x="0" y="19161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6442" name="AutoShape 74"/>
          <p:cNvSpPr>
            <a:spLocks noChangeArrowheads="1"/>
          </p:cNvSpPr>
          <p:nvPr/>
        </p:nvSpPr>
        <p:spPr bwMode="auto">
          <a:xfrm flipV="1">
            <a:off x="3924300" y="4221163"/>
            <a:ext cx="720725" cy="503237"/>
          </a:xfrm>
          <a:custGeom>
            <a:avLst/>
            <a:gdLst>
              <a:gd name="T0" fmla="*/ 543714 w 21600"/>
              <a:gd name="T1" fmla="*/ 0 h 21600"/>
              <a:gd name="T2" fmla="*/ 366702 w 21600"/>
              <a:gd name="T3" fmla="*/ 149224 h 21600"/>
              <a:gd name="T4" fmla="*/ 0 w 21600"/>
              <a:gd name="T5" fmla="*/ 474837 h 21600"/>
              <a:gd name="T6" fmla="*/ 288123 w 21600"/>
              <a:gd name="T7" fmla="*/ 503237 h 21600"/>
              <a:gd name="T8" fmla="*/ 576246 w 21600"/>
              <a:gd name="T9" fmla="*/ 344950 h 21600"/>
              <a:gd name="T10" fmla="*/ 720725 w 21600"/>
              <a:gd name="T11" fmla="*/ 149224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9161 h 21600"/>
              <a:gd name="T20" fmla="*/ 1727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95" y="0"/>
                </a:moveTo>
                <a:lnTo>
                  <a:pt x="10990" y="6405"/>
                </a:lnTo>
                <a:lnTo>
                  <a:pt x="15320" y="6405"/>
                </a:lnTo>
                <a:lnTo>
                  <a:pt x="15320" y="19161"/>
                </a:lnTo>
                <a:lnTo>
                  <a:pt x="0" y="19161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6443" name="AutoShape 75"/>
          <p:cNvSpPr>
            <a:spLocks noChangeArrowheads="1"/>
          </p:cNvSpPr>
          <p:nvPr/>
        </p:nvSpPr>
        <p:spPr bwMode="auto">
          <a:xfrm flipV="1">
            <a:off x="1258888" y="4437063"/>
            <a:ext cx="720725" cy="503237"/>
          </a:xfrm>
          <a:custGeom>
            <a:avLst/>
            <a:gdLst>
              <a:gd name="T0" fmla="*/ 541344 w 21600"/>
              <a:gd name="T1" fmla="*/ 0 h 21600"/>
              <a:gd name="T2" fmla="*/ 361931 w 21600"/>
              <a:gd name="T3" fmla="*/ 149224 h 21600"/>
              <a:gd name="T4" fmla="*/ 0 w 21600"/>
              <a:gd name="T5" fmla="*/ 472763 h 21600"/>
              <a:gd name="T6" fmla="*/ 288123 w 21600"/>
              <a:gd name="T7" fmla="*/ 503237 h 21600"/>
              <a:gd name="T8" fmla="*/ 576246 w 21600"/>
              <a:gd name="T9" fmla="*/ 344950 h 21600"/>
              <a:gd name="T10" fmla="*/ 720725 w 21600"/>
              <a:gd name="T11" fmla="*/ 149224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8982 h 21600"/>
              <a:gd name="T20" fmla="*/ 1727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24" y="0"/>
                </a:moveTo>
                <a:lnTo>
                  <a:pt x="10847" y="6405"/>
                </a:lnTo>
                <a:lnTo>
                  <a:pt x="15177" y="6405"/>
                </a:lnTo>
                <a:lnTo>
                  <a:pt x="15177" y="18982"/>
                </a:lnTo>
                <a:lnTo>
                  <a:pt x="0" y="18982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6444" name="AutoShape 76"/>
          <p:cNvSpPr>
            <a:spLocks noChangeArrowheads="1"/>
          </p:cNvSpPr>
          <p:nvPr/>
        </p:nvSpPr>
        <p:spPr bwMode="auto">
          <a:xfrm>
            <a:off x="1258888" y="4221163"/>
            <a:ext cx="1150937" cy="141287"/>
          </a:xfrm>
          <a:prstGeom prst="rightArrow">
            <a:avLst>
              <a:gd name="adj1" fmla="val 50000"/>
              <a:gd name="adj2" fmla="val 203652"/>
            </a:avLst>
          </a:prstGeom>
          <a:solidFill>
            <a:srgbClr val="00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1" name="Group 77"/>
          <p:cNvGrpSpPr>
            <a:grpSpLocks/>
          </p:cNvGrpSpPr>
          <p:nvPr/>
        </p:nvGrpSpPr>
        <p:grpSpPr bwMode="auto">
          <a:xfrm>
            <a:off x="6227763" y="3644900"/>
            <a:ext cx="2792412" cy="2011363"/>
            <a:chOff x="567" y="2477"/>
            <a:chExt cx="1965" cy="1267"/>
          </a:xfrm>
        </p:grpSpPr>
        <p:sp>
          <p:nvSpPr>
            <p:cNvPr id="171033" name="Line 78"/>
            <p:cNvSpPr>
              <a:spLocks noChangeShapeType="1"/>
            </p:cNvSpPr>
            <p:nvPr/>
          </p:nvSpPr>
          <p:spPr bwMode="auto">
            <a:xfrm>
              <a:off x="2210" y="2477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34" name="Line 79"/>
            <p:cNvSpPr>
              <a:spLocks noChangeShapeType="1"/>
            </p:cNvSpPr>
            <p:nvPr/>
          </p:nvSpPr>
          <p:spPr bwMode="auto">
            <a:xfrm>
              <a:off x="2210" y="320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35" name="Line 80"/>
            <p:cNvSpPr>
              <a:spLocks noChangeShapeType="1"/>
            </p:cNvSpPr>
            <p:nvPr/>
          </p:nvSpPr>
          <p:spPr bwMode="auto">
            <a:xfrm>
              <a:off x="748" y="343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36" name="Line 81"/>
            <p:cNvSpPr>
              <a:spLocks noChangeShapeType="1"/>
            </p:cNvSpPr>
            <p:nvPr/>
          </p:nvSpPr>
          <p:spPr bwMode="auto">
            <a:xfrm>
              <a:off x="748" y="2477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37" name="Line 82"/>
            <p:cNvSpPr>
              <a:spLocks noChangeShapeType="1"/>
            </p:cNvSpPr>
            <p:nvPr/>
          </p:nvSpPr>
          <p:spPr bwMode="auto">
            <a:xfrm flipH="1">
              <a:off x="748" y="2976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38" name="Rectangle 83"/>
            <p:cNvSpPr>
              <a:spLocks noChangeArrowheads="1"/>
            </p:cNvSpPr>
            <p:nvPr/>
          </p:nvSpPr>
          <p:spPr bwMode="auto">
            <a:xfrm>
              <a:off x="1338" y="3475"/>
              <a:ext cx="34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1039" name="Rectangle 84"/>
            <p:cNvSpPr>
              <a:spLocks noChangeArrowheads="1"/>
            </p:cNvSpPr>
            <p:nvPr/>
          </p:nvSpPr>
          <p:spPr bwMode="auto">
            <a:xfrm>
              <a:off x="2392" y="2886"/>
              <a:ext cx="14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1040" name="Rectangle 85"/>
            <p:cNvSpPr>
              <a:spLocks noChangeArrowheads="1"/>
            </p:cNvSpPr>
            <p:nvPr/>
          </p:nvSpPr>
          <p:spPr bwMode="auto">
            <a:xfrm>
              <a:off x="930" y="2795"/>
              <a:ext cx="31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1041" name="Rectangle 86"/>
            <p:cNvSpPr>
              <a:spLocks noChangeArrowheads="1"/>
            </p:cNvSpPr>
            <p:nvPr/>
          </p:nvSpPr>
          <p:spPr bwMode="auto">
            <a:xfrm>
              <a:off x="567" y="2568"/>
              <a:ext cx="14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71042" name="Rectangle 87"/>
            <p:cNvSpPr>
              <a:spLocks noChangeArrowheads="1"/>
            </p:cNvSpPr>
            <p:nvPr/>
          </p:nvSpPr>
          <p:spPr bwMode="auto">
            <a:xfrm>
              <a:off x="567" y="3022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171043" name="Line 88"/>
            <p:cNvSpPr>
              <a:spLocks noChangeShapeType="1"/>
            </p:cNvSpPr>
            <p:nvPr/>
          </p:nvSpPr>
          <p:spPr bwMode="auto">
            <a:xfrm>
              <a:off x="748" y="2477"/>
              <a:ext cx="145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1044" name="Group 89"/>
            <p:cNvGrpSpPr>
              <a:grpSpLocks/>
            </p:cNvGrpSpPr>
            <p:nvPr/>
          </p:nvGrpSpPr>
          <p:grpSpPr bwMode="auto">
            <a:xfrm>
              <a:off x="612" y="2885"/>
              <a:ext cx="240" cy="90"/>
              <a:chOff x="4604" y="2478"/>
              <a:chExt cx="240" cy="90"/>
            </a:xfrm>
          </p:grpSpPr>
          <p:sp>
            <p:nvSpPr>
              <p:cNvPr id="171050" name="Line 90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1051" name="Line 91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1045" name="Group 92"/>
            <p:cNvGrpSpPr>
              <a:grpSpLocks/>
            </p:cNvGrpSpPr>
            <p:nvPr/>
          </p:nvGrpSpPr>
          <p:grpSpPr bwMode="auto">
            <a:xfrm rot="5400000">
              <a:off x="1756" y="2704"/>
              <a:ext cx="499" cy="590"/>
              <a:chOff x="476" y="663"/>
              <a:chExt cx="771" cy="862"/>
            </a:xfrm>
          </p:grpSpPr>
          <p:sp>
            <p:nvSpPr>
              <p:cNvPr id="171047" name="AutoShape 93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1048" name="AutoShape 94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1049" name="AutoShape 95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1046" name="Rectangle 96"/>
            <p:cNvSpPr>
              <a:spLocks noChangeArrowheads="1"/>
            </p:cNvSpPr>
            <p:nvPr/>
          </p:nvSpPr>
          <p:spPr bwMode="auto">
            <a:xfrm>
              <a:off x="1384" y="3339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86465" name="AutoShape 97"/>
          <p:cNvSpPr>
            <a:spLocks noChangeArrowheads="1"/>
          </p:cNvSpPr>
          <p:nvPr/>
        </p:nvSpPr>
        <p:spPr bwMode="auto">
          <a:xfrm flipH="1">
            <a:off x="7164388" y="4076700"/>
            <a:ext cx="1079500" cy="144463"/>
          </a:xfrm>
          <a:prstGeom prst="rightArrow">
            <a:avLst>
              <a:gd name="adj1" fmla="val 50000"/>
              <a:gd name="adj2" fmla="val 186813"/>
            </a:avLst>
          </a:prstGeom>
          <a:solidFill>
            <a:srgbClr val="00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6466" name="AutoShape 98"/>
          <p:cNvSpPr>
            <a:spLocks noChangeArrowheads="1"/>
          </p:cNvSpPr>
          <p:nvPr/>
        </p:nvSpPr>
        <p:spPr bwMode="auto">
          <a:xfrm flipH="1" flipV="1">
            <a:off x="7380288" y="4292600"/>
            <a:ext cx="792162" cy="503238"/>
          </a:xfrm>
          <a:custGeom>
            <a:avLst/>
            <a:gdLst>
              <a:gd name="T0" fmla="*/ 595002 w 21600"/>
              <a:gd name="T1" fmla="*/ 0 h 21600"/>
              <a:gd name="T2" fmla="*/ 397805 w 21600"/>
              <a:gd name="T3" fmla="*/ 149224 h 21600"/>
              <a:gd name="T4" fmla="*/ 0 w 21600"/>
              <a:gd name="T5" fmla="*/ 472764 h 21600"/>
              <a:gd name="T6" fmla="*/ 316681 w 21600"/>
              <a:gd name="T7" fmla="*/ 503238 h 21600"/>
              <a:gd name="T8" fmla="*/ 633363 w 21600"/>
              <a:gd name="T9" fmla="*/ 344951 h 21600"/>
              <a:gd name="T10" fmla="*/ 792162 w 21600"/>
              <a:gd name="T11" fmla="*/ 149224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8982 h 21600"/>
              <a:gd name="T20" fmla="*/ 1727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24" y="0"/>
                </a:moveTo>
                <a:lnTo>
                  <a:pt x="10847" y="6405"/>
                </a:lnTo>
                <a:lnTo>
                  <a:pt x="15177" y="6405"/>
                </a:lnTo>
                <a:lnTo>
                  <a:pt x="15177" y="18982"/>
                </a:lnTo>
                <a:lnTo>
                  <a:pt x="0" y="18982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02" name="Group 2"/>
          <p:cNvGrpSpPr>
            <a:grpSpLocks/>
          </p:cNvGrpSpPr>
          <p:nvPr/>
        </p:nvGrpSpPr>
        <p:grpSpPr bwMode="auto">
          <a:xfrm>
            <a:off x="549334" y="47625"/>
            <a:ext cx="5372100" cy="3354387"/>
            <a:chOff x="919" y="1957"/>
            <a:chExt cx="3384" cy="2113"/>
          </a:xfrm>
        </p:grpSpPr>
        <p:sp>
          <p:nvSpPr>
            <p:cNvPr id="103" name="Text Box 3"/>
            <p:cNvSpPr txBox="1">
              <a:spLocks noChangeArrowheads="1"/>
            </p:cNvSpPr>
            <p:nvPr/>
          </p:nvSpPr>
          <p:spPr bwMode="auto">
            <a:xfrm>
              <a:off x="3792" y="3414"/>
              <a:ext cx="1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endParaRPr kumimoji="1" lang="zh-CN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04" name="Freeform 4"/>
            <p:cNvSpPr>
              <a:spLocks/>
            </p:cNvSpPr>
            <p:nvPr/>
          </p:nvSpPr>
          <p:spPr bwMode="auto">
            <a:xfrm>
              <a:off x="1198" y="2277"/>
              <a:ext cx="2727" cy="641"/>
            </a:xfrm>
            <a:custGeom>
              <a:avLst/>
              <a:gdLst>
                <a:gd name="T0" fmla="*/ 0 w 1958"/>
                <a:gd name="T1" fmla="*/ 0 h 653"/>
                <a:gd name="T2" fmla="*/ 384 w 1958"/>
                <a:gd name="T3" fmla="*/ 240 h 653"/>
                <a:gd name="T4" fmla="*/ 1200 w 1958"/>
                <a:gd name="T5" fmla="*/ 528 h 653"/>
                <a:gd name="T6" fmla="*/ 1958 w 1958"/>
                <a:gd name="T7" fmla="*/ 653 h 6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58"/>
                <a:gd name="T13" fmla="*/ 0 h 653"/>
                <a:gd name="T14" fmla="*/ 1958 w 1958"/>
                <a:gd name="T15" fmla="*/ 653 h 6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58" h="653">
                  <a:moveTo>
                    <a:pt x="0" y="0"/>
                  </a:moveTo>
                  <a:cubicBezTo>
                    <a:pt x="92" y="76"/>
                    <a:pt x="184" y="152"/>
                    <a:pt x="384" y="240"/>
                  </a:cubicBezTo>
                  <a:cubicBezTo>
                    <a:pt x="584" y="328"/>
                    <a:pt x="938" y="459"/>
                    <a:pt x="1200" y="528"/>
                  </a:cubicBezTo>
                  <a:cubicBezTo>
                    <a:pt x="1462" y="597"/>
                    <a:pt x="1800" y="627"/>
                    <a:pt x="1958" y="653"/>
                  </a:cubicBezTo>
                </a:path>
              </a:pathLst>
            </a:cu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5" name="Freeform 5"/>
            <p:cNvSpPr>
              <a:spLocks/>
            </p:cNvSpPr>
            <p:nvPr/>
          </p:nvSpPr>
          <p:spPr bwMode="auto">
            <a:xfrm>
              <a:off x="1195" y="2323"/>
              <a:ext cx="2405" cy="1289"/>
            </a:xfrm>
            <a:custGeom>
              <a:avLst/>
              <a:gdLst>
                <a:gd name="T0" fmla="*/ 5 w 2405"/>
                <a:gd name="T1" fmla="*/ 0 h 1289"/>
                <a:gd name="T2" fmla="*/ 5 w 2405"/>
                <a:gd name="T3" fmla="*/ 5 h 1289"/>
                <a:gd name="T4" fmla="*/ 15 w 2405"/>
                <a:gd name="T5" fmla="*/ 5 h 1289"/>
                <a:gd name="T6" fmla="*/ 96 w 2405"/>
                <a:gd name="T7" fmla="*/ 24 h 1289"/>
                <a:gd name="T8" fmla="*/ 202 w 2405"/>
                <a:gd name="T9" fmla="*/ 144 h 1289"/>
                <a:gd name="T10" fmla="*/ 399 w 2405"/>
                <a:gd name="T11" fmla="*/ 516 h 1289"/>
                <a:gd name="T12" fmla="*/ 547 w 2405"/>
                <a:gd name="T13" fmla="*/ 877 h 1289"/>
                <a:gd name="T14" fmla="*/ 600 w 2405"/>
                <a:gd name="T15" fmla="*/ 985 h 1289"/>
                <a:gd name="T16" fmla="*/ 734 w 2405"/>
                <a:gd name="T17" fmla="*/ 1174 h 1289"/>
                <a:gd name="T18" fmla="*/ 936 w 2405"/>
                <a:gd name="T19" fmla="*/ 1287 h 1289"/>
                <a:gd name="T20" fmla="*/ 1121 w 2405"/>
                <a:gd name="T21" fmla="*/ 1189 h 1289"/>
                <a:gd name="T22" fmla="*/ 1242 w 2405"/>
                <a:gd name="T23" fmla="*/ 1068 h 1289"/>
                <a:gd name="T24" fmla="*/ 1469 w 2405"/>
                <a:gd name="T25" fmla="*/ 755 h 1289"/>
                <a:gd name="T26" fmla="*/ 1657 w 2405"/>
                <a:gd name="T27" fmla="*/ 581 h 1289"/>
                <a:gd name="T28" fmla="*/ 1853 w 2405"/>
                <a:gd name="T29" fmla="*/ 504 h 1289"/>
                <a:gd name="T30" fmla="*/ 2138 w 2405"/>
                <a:gd name="T31" fmla="*/ 635 h 1289"/>
                <a:gd name="T32" fmla="*/ 2271 w 2405"/>
                <a:gd name="T33" fmla="*/ 755 h 1289"/>
                <a:gd name="T34" fmla="*/ 2405 w 2405"/>
                <a:gd name="T35" fmla="*/ 875 h 128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405"/>
                <a:gd name="T55" fmla="*/ 0 h 1289"/>
                <a:gd name="T56" fmla="*/ 2405 w 2405"/>
                <a:gd name="T57" fmla="*/ 1289 h 128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405" h="1289">
                  <a:moveTo>
                    <a:pt x="5" y="0"/>
                  </a:moveTo>
                  <a:cubicBezTo>
                    <a:pt x="5" y="1"/>
                    <a:pt x="3" y="4"/>
                    <a:pt x="5" y="5"/>
                  </a:cubicBezTo>
                  <a:cubicBezTo>
                    <a:pt x="7" y="6"/>
                    <a:pt x="0" y="2"/>
                    <a:pt x="15" y="5"/>
                  </a:cubicBezTo>
                  <a:cubicBezTo>
                    <a:pt x="30" y="8"/>
                    <a:pt x="65" y="1"/>
                    <a:pt x="96" y="24"/>
                  </a:cubicBezTo>
                  <a:cubicBezTo>
                    <a:pt x="127" y="47"/>
                    <a:pt x="152" y="62"/>
                    <a:pt x="202" y="144"/>
                  </a:cubicBezTo>
                  <a:cubicBezTo>
                    <a:pt x="252" y="226"/>
                    <a:pt x="342" y="394"/>
                    <a:pt x="399" y="516"/>
                  </a:cubicBezTo>
                  <a:cubicBezTo>
                    <a:pt x="456" y="638"/>
                    <a:pt x="513" y="799"/>
                    <a:pt x="547" y="877"/>
                  </a:cubicBezTo>
                  <a:cubicBezTo>
                    <a:pt x="580" y="956"/>
                    <a:pt x="569" y="935"/>
                    <a:pt x="600" y="985"/>
                  </a:cubicBezTo>
                  <a:cubicBezTo>
                    <a:pt x="630" y="1035"/>
                    <a:pt x="678" y="1124"/>
                    <a:pt x="734" y="1174"/>
                  </a:cubicBezTo>
                  <a:cubicBezTo>
                    <a:pt x="790" y="1224"/>
                    <a:pt x="872" y="1285"/>
                    <a:pt x="936" y="1287"/>
                  </a:cubicBezTo>
                  <a:cubicBezTo>
                    <a:pt x="1000" y="1289"/>
                    <a:pt x="1070" y="1225"/>
                    <a:pt x="1121" y="1189"/>
                  </a:cubicBezTo>
                  <a:cubicBezTo>
                    <a:pt x="1172" y="1153"/>
                    <a:pt x="1183" y="1141"/>
                    <a:pt x="1242" y="1068"/>
                  </a:cubicBezTo>
                  <a:cubicBezTo>
                    <a:pt x="1300" y="996"/>
                    <a:pt x="1399" y="836"/>
                    <a:pt x="1469" y="755"/>
                  </a:cubicBezTo>
                  <a:cubicBezTo>
                    <a:pt x="1539" y="675"/>
                    <a:pt x="1593" y="623"/>
                    <a:pt x="1657" y="581"/>
                  </a:cubicBezTo>
                  <a:cubicBezTo>
                    <a:pt x="1721" y="539"/>
                    <a:pt x="1773" y="495"/>
                    <a:pt x="1853" y="504"/>
                  </a:cubicBezTo>
                  <a:cubicBezTo>
                    <a:pt x="1933" y="513"/>
                    <a:pt x="2068" y="593"/>
                    <a:pt x="2138" y="635"/>
                  </a:cubicBezTo>
                  <a:cubicBezTo>
                    <a:pt x="2208" y="677"/>
                    <a:pt x="2227" y="716"/>
                    <a:pt x="2271" y="755"/>
                  </a:cubicBezTo>
                  <a:cubicBezTo>
                    <a:pt x="2316" y="795"/>
                    <a:pt x="2360" y="835"/>
                    <a:pt x="2405" y="875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6" name="Freeform 6"/>
            <p:cNvSpPr>
              <a:spLocks/>
            </p:cNvSpPr>
            <p:nvPr/>
          </p:nvSpPr>
          <p:spPr bwMode="auto">
            <a:xfrm>
              <a:off x="1238" y="3319"/>
              <a:ext cx="2875" cy="659"/>
            </a:xfrm>
            <a:custGeom>
              <a:avLst/>
              <a:gdLst>
                <a:gd name="T0" fmla="*/ 0 w 2064"/>
                <a:gd name="T1" fmla="*/ 672 h 672"/>
                <a:gd name="T2" fmla="*/ 432 w 2064"/>
                <a:gd name="T3" fmla="*/ 384 h 672"/>
                <a:gd name="T4" fmla="*/ 960 w 2064"/>
                <a:gd name="T5" fmla="*/ 192 h 672"/>
                <a:gd name="T6" fmla="*/ 1584 w 2064"/>
                <a:gd name="T7" fmla="*/ 48 h 672"/>
                <a:gd name="T8" fmla="*/ 2064 w 2064"/>
                <a:gd name="T9" fmla="*/ 0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64"/>
                <a:gd name="T16" fmla="*/ 0 h 672"/>
                <a:gd name="T17" fmla="*/ 2064 w 2064"/>
                <a:gd name="T18" fmla="*/ 672 h 6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64" h="672">
                  <a:moveTo>
                    <a:pt x="0" y="672"/>
                  </a:moveTo>
                  <a:cubicBezTo>
                    <a:pt x="136" y="568"/>
                    <a:pt x="272" y="464"/>
                    <a:pt x="432" y="384"/>
                  </a:cubicBezTo>
                  <a:cubicBezTo>
                    <a:pt x="592" y="304"/>
                    <a:pt x="768" y="248"/>
                    <a:pt x="960" y="192"/>
                  </a:cubicBezTo>
                  <a:cubicBezTo>
                    <a:pt x="1152" y="136"/>
                    <a:pt x="1400" y="80"/>
                    <a:pt x="1584" y="48"/>
                  </a:cubicBezTo>
                  <a:cubicBezTo>
                    <a:pt x="1768" y="16"/>
                    <a:pt x="1916" y="8"/>
                    <a:pt x="2064" y="0"/>
                  </a:cubicBezTo>
                </a:path>
              </a:pathLst>
            </a:cu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7" name="Line 7"/>
            <p:cNvSpPr>
              <a:spLocks noChangeShapeType="1"/>
            </p:cNvSpPr>
            <p:nvPr/>
          </p:nvSpPr>
          <p:spPr bwMode="auto">
            <a:xfrm>
              <a:off x="997" y="3081"/>
              <a:ext cx="32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Line 8"/>
            <p:cNvSpPr>
              <a:spLocks noChangeShapeType="1"/>
            </p:cNvSpPr>
            <p:nvPr/>
          </p:nvSpPr>
          <p:spPr bwMode="auto">
            <a:xfrm>
              <a:off x="1198" y="2140"/>
              <a:ext cx="0" cy="19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Text Box 9"/>
            <p:cNvSpPr txBox="1">
              <a:spLocks noChangeArrowheads="1"/>
            </p:cNvSpPr>
            <p:nvPr/>
          </p:nvSpPr>
          <p:spPr bwMode="auto">
            <a:xfrm>
              <a:off x="4125" y="3012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Text Box 10"/>
            <p:cNvSpPr txBox="1">
              <a:spLocks noChangeArrowheads="1"/>
            </p:cNvSpPr>
            <p:nvPr/>
          </p:nvSpPr>
          <p:spPr bwMode="auto">
            <a:xfrm>
              <a:off x="1598" y="2999"/>
              <a:ext cx="42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</a:t>
              </a:r>
              <a:r>
                <a:rPr kumimoji="1" lang="en-US" altLang="zh-CN" b="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-θ</a:t>
              </a:r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11" name="Text Box 11"/>
            <p:cNvSpPr txBox="1">
              <a:spLocks noChangeArrowheads="1"/>
            </p:cNvSpPr>
            <p:nvPr/>
          </p:nvSpPr>
          <p:spPr bwMode="auto">
            <a:xfrm>
              <a:off x="2417" y="2999"/>
              <a:ext cx="59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2</a:t>
              </a:r>
              <a:r>
                <a:rPr kumimoji="1" lang="en-US" altLang="zh-CN" b="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θ</a:t>
              </a:r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12" name="Text Box 12"/>
            <p:cNvSpPr txBox="1">
              <a:spLocks noChangeArrowheads="1"/>
            </p:cNvSpPr>
            <p:nvPr/>
          </p:nvSpPr>
          <p:spPr bwMode="auto">
            <a:xfrm>
              <a:off x="2944" y="2999"/>
              <a:ext cx="3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2</a:t>
              </a:r>
            </a:p>
          </p:txBody>
        </p:sp>
        <p:sp>
          <p:nvSpPr>
            <p:cNvPr id="113" name="Text Box 13"/>
            <p:cNvSpPr txBox="1">
              <a:spLocks noChangeArrowheads="1"/>
            </p:cNvSpPr>
            <p:nvPr/>
          </p:nvSpPr>
          <p:spPr bwMode="auto">
            <a:xfrm>
              <a:off x="2083" y="2999"/>
              <a:ext cx="2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</a:t>
              </a:r>
            </a:p>
          </p:txBody>
        </p:sp>
        <p:sp>
          <p:nvSpPr>
            <p:cNvPr id="114" name="Text Box 14"/>
            <p:cNvSpPr txBox="1">
              <a:spLocks noChangeArrowheads="1"/>
            </p:cNvSpPr>
            <p:nvPr/>
          </p:nvSpPr>
          <p:spPr bwMode="auto">
            <a:xfrm>
              <a:off x="1195" y="304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15" name="Line 15"/>
            <p:cNvSpPr>
              <a:spLocks noChangeShapeType="1"/>
            </p:cNvSpPr>
            <p:nvPr/>
          </p:nvSpPr>
          <p:spPr bwMode="auto">
            <a:xfrm>
              <a:off x="2150" y="3081"/>
              <a:ext cx="0" cy="53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" name="Text Box 16"/>
            <p:cNvSpPr txBox="1">
              <a:spLocks noChangeArrowheads="1"/>
            </p:cNvSpPr>
            <p:nvPr/>
          </p:nvSpPr>
          <p:spPr bwMode="auto">
            <a:xfrm>
              <a:off x="919" y="2245"/>
              <a:ext cx="3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" name="Text Box 17"/>
            <p:cNvSpPr txBox="1">
              <a:spLocks noChangeArrowheads="1"/>
            </p:cNvSpPr>
            <p:nvPr/>
          </p:nvSpPr>
          <p:spPr bwMode="auto">
            <a:xfrm>
              <a:off x="1238" y="1957"/>
              <a:ext cx="32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18" name="Line 18"/>
            <p:cNvSpPr>
              <a:spLocks noChangeShapeType="1"/>
            </p:cNvSpPr>
            <p:nvPr/>
          </p:nvSpPr>
          <p:spPr bwMode="auto">
            <a:xfrm>
              <a:off x="3058" y="2827"/>
              <a:ext cx="0" cy="25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9" name="Text Box 19"/>
          <p:cNvSpPr txBox="1">
            <a:spLocks noChangeArrowheads="1"/>
          </p:cNvSpPr>
          <p:nvPr/>
        </p:nvSpPr>
        <p:spPr bwMode="auto">
          <a:xfrm>
            <a:off x="1258947" y="2430338"/>
            <a:ext cx="332142" cy="46166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θ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20" name="Freeform 20"/>
          <p:cNvSpPr>
            <a:spLocks/>
          </p:cNvSpPr>
          <p:nvPr/>
        </p:nvSpPr>
        <p:spPr bwMode="auto">
          <a:xfrm flipV="1">
            <a:off x="1013380" y="1446286"/>
            <a:ext cx="4327029" cy="861544"/>
          </a:xfrm>
          <a:custGeom>
            <a:avLst/>
            <a:gdLst>
              <a:gd name="T0" fmla="*/ 0 w 2740"/>
              <a:gd name="T1" fmla="*/ 286 h 527"/>
              <a:gd name="T2" fmla="*/ 120 w 2740"/>
              <a:gd name="T3" fmla="*/ 137 h 527"/>
              <a:gd name="T4" fmla="*/ 225 w 2740"/>
              <a:gd name="T5" fmla="*/ 51 h 527"/>
              <a:gd name="T6" fmla="*/ 345 w 2740"/>
              <a:gd name="T7" fmla="*/ 3 h 527"/>
              <a:gd name="T8" fmla="*/ 624 w 2740"/>
              <a:gd name="T9" fmla="*/ 70 h 527"/>
              <a:gd name="T10" fmla="*/ 830 w 2740"/>
              <a:gd name="T11" fmla="*/ 204 h 527"/>
              <a:gd name="T12" fmla="*/ 955 w 2740"/>
              <a:gd name="T13" fmla="*/ 310 h 527"/>
              <a:gd name="T14" fmla="*/ 998 w 2740"/>
              <a:gd name="T15" fmla="*/ 353 h 527"/>
              <a:gd name="T16" fmla="*/ 1041 w 2740"/>
              <a:gd name="T17" fmla="*/ 401 h 527"/>
              <a:gd name="T18" fmla="*/ 1157 w 2740"/>
              <a:gd name="T19" fmla="*/ 468 h 527"/>
              <a:gd name="T20" fmla="*/ 1329 w 2740"/>
              <a:gd name="T21" fmla="*/ 525 h 527"/>
              <a:gd name="T22" fmla="*/ 1508 w 2740"/>
              <a:gd name="T23" fmla="*/ 481 h 527"/>
              <a:gd name="T24" fmla="*/ 1624 w 2740"/>
              <a:gd name="T25" fmla="*/ 432 h 527"/>
              <a:gd name="T26" fmla="*/ 1842 w 2740"/>
              <a:gd name="T27" fmla="*/ 302 h 527"/>
              <a:gd name="T28" fmla="*/ 2023 w 2740"/>
              <a:gd name="T29" fmla="*/ 230 h 527"/>
              <a:gd name="T30" fmla="*/ 2202 w 2740"/>
              <a:gd name="T31" fmla="*/ 192 h 527"/>
              <a:gd name="T32" fmla="*/ 2483 w 2740"/>
              <a:gd name="T33" fmla="*/ 253 h 527"/>
              <a:gd name="T34" fmla="*/ 2612 w 2740"/>
              <a:gd name="T35" fmla="*/ 302 h 527"/>
              <a:gd name="T36" fmla="*/ 2740 w 2740"/>
              <a:gd name="T37" fmla="*/ 351 h 52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2740"/>
              <a:gd name="T58" fmla="*/ 0 h 527"/>
              <a:gd name="T59" fmla="*/ 2740 w 2740"/>
              <a:gd name="T60" fmla="*/ 527 h 527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2740" h="527">
                <a:moveTo>
                  <a:pt x="0" y="286"/>
                </a:moveTo>
                <a:cubicBezTo>
                  <a:pt x="20" y="261"/>
                  <a:pt x="83" y="176"/>
                  <a:pt x="120" y="137"/>
                </a:cubicBezTo>
                <a:cubicBezTo>
                  <a:pt x="157" y="98"/>
                  <a:pt x="187" y="73"/>
                  <a:pt x="225" y="51"/>
                </a:cubicBezTo>
                <a:cubicBezTo>
                  <a:pt x="263" y="29"/>
                  <a:pt x="279" y="0"/>
                  <a:pt x="345" y="3"/>
                </a:cubicBezTo>
                <a:cubicBezTo>
                  <a:pt x="411" y="6"/>
                  <a:pt x="543" y="37"/>
                  <a:pt x="624" y="70"/>
                </a:cubicBezTo>
                <a:cubicBezTo>
                  <a:pt x="705" y="103"/>
                  <a:pt x="775" y="164"/>
                  <a:pt x="830" y="204"/>
                </a:cubicBezTo>
                <a:cubicBezTo>
                  <a:pt x="885" y="244"/>
                  <a:pt x="927" y="285"/>
                  <a:pt x="955" y="310"/>
                </a:cubicBezTo>
                <a:cubicBezTo>
                  <a:pt x="983" y="335"/>
                  <a:pt x="984" y="338"/>
                  <a:pt x="998" y="353"/>
                </a:cubicBezTo>
                <a:cubicBezTo>
                  <a:pt x="1012" y="368"/>
                  <a:pt x="1015" y="382"/>
                  <a:pt x="1041" y="401"/>
                </a:cubicBezTo>
                <a:cubicBezTo>
                  <a:pt x="1067" y="420"/>
                  <a:pt x="1109" y="447"/>
                  <a:pt x="1157" y="468"/>
                </a:cubicBezTo>
                <a:cubicBezTo>
                  <a:pt x="1205" y="489"/>
                  <a:pt x="1271" y="523"/>
                  <a:pt x="1329" y="525"/>
                </a:cubicBezTo>
                <a:cubicBezTo>
                  <a:pt x="1387" y="527"/>
                  <a:pt x="1459" y="497"/>
                  <a:pt x="1508" y="481"/>
                </a:cubicBezTo>
                <a:cubicBezTo>
                  <a:pt x="1558" y="466"/>
                  <a:pt x="1569" y="461"/>
                  <a:pt x="1624" y="432"/>
                </a:cubicBezTo>
                <a:cubicBezTo>
                  <a:pt x="1680" y="402"/>
                  <a:pt x="1775" y="336"/>
                  <a:pt x="1842" y="302"/>
                </a:cubicBezTo>
                <a:cubicBezTo>
                  <a:pt x="1909" y="269"/>
                  <a:pt x="1962" y="249"/>
                  <a:pt x="2023" y="230"/>
                </a:cubicBezTo>
                <a:cubicBezTo>
                  <a:pt x="2083" y="212"/>
                  <a:pt x="2125" y="188"/>
                  <a:pt x="2202" y="192"/>
                </a:cubicBezTo>
                <a:cubicBezTo>
                  <a:pt x="2278" y="195"/>
                  <a:pt x="2415" y="234"/>
                  <a:pt x="2483" y="253"/>
                </a:cubicBezTo>
                <a:cubicBezTo>
                  <a:pt x="2552" y="271"/>
                  <a:pt x="2569" y="286"/>
                  <a:pt x="2612" y="302"/>
                </a:cubicBezTo>
                <a:cubicBezTo>
                  <a:pt x="2654" y="319"/>
                  <a:pt x="2698" y="335"/>
                  <a:pt x="2740" y="351"/>
                </a:cubicBezTo>
              </a:path>
            </a:pathLst>
          </a:custGeom>
          <a:noFill/>
          <a:ln w="28575">
            <a:solidFill>
              <a:srgbClr val="66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1" name="Line 21"/>
          <p:cNvSpPr>
            <a:spLocks noChangeShapeType="1"/>
          </p:cNvSpPr>
          <p:nvPr/>
        </p:nvSpPr>
        <p:spPr bwMode="auto">
          <a:xfrm>
            <a:off x="1546706" y="1857449"/>
            <a:ext cx="0" cy="4540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" name="Text Box 22"/>
          <p:cNvSpPr txBox="1">
            <a:spLocks noChangeArrowheads="1"/>
          </p:cNvSpPr>
          <p:nvPr/>
        </p:nvSpPr>
        <p:spPr bwMode="auto">
          <a:xfrm>
            <a:off x="2385304" y="1219127"/>
            <a:ext cx="403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en-US" altLang="zh-CN" sz="2400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400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kumimoji="1" lang="en-US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678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86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6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8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0" grpId="0"/>
      <p:bldP spid="186371" grpId="0" autoUpdateAnimBg="0"/>
      <p:bldP spid="186372" grpId="0" autoUpdateAnimBg="0"/>
      <p:bldP spid="186373" grpId="0" build="p" autoUpdateAnimBg="0"/>
      <p:bldP spid="186441" grpId="0" animBg="1"/>
      <p:bldP spid="186442" grpId="0" animBg="1"/>
      <p:bldP spid="186443" grpId="0" animBg="1"/>
      <p:bldP spid="186444" grpId="0" animBg="1"/>
      <p:bldP spid="186465" grpId="0" animBg="1"/>
      <p:bldP spid="186466" grpId="0" animBg="1"/>
      <p:bldP spid="119" grpId="0" animBg="1" autoUpdateAnimBg="0"/>
      <p:bldP spid="120" grpId="0" animBg="1"/>
      <p:bldP spid="12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Text Box 2" descr="绿色大理石"/>
          <p:cNvSpPr txBox="1">
            <a:spLocks noChangeArrowheads="1"/>
          </p:cNvSpPr>
          <p:nvPr/>
        </p:nvSpPr>
        <p:spPr bwMode="auto">
          <a:xfrm>
            <a:off x="539750" y="692150"/>
            <a:ext cx="2592388" cy="519113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>
                <a:solidFill>
                  <a:schemeClr val="bg1"/>
                </a:solidFill>
                <a:latin typeface="Times New Roman" panose="02020603050405020304" pitchFamily="18" charset="0"/>
              </a:rPr>
              <a:t>特例</a:t>
            </a:r>
            <a:r>
              <a:rPr kumimoji="1" lang="zh-CN" altLang="en-US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kumimoji="1" lang="en-US" altLang="zh-CN" b="0" i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kumimoji="1" lang="en-US" altLang="zh-CN" b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 </a:t>
            </a:r>
            <a:r>
              <a:rPr kumimoji="1" lang="zh-CN" altLang="en-US">
                <a:solidFill>
                  <a:schemeClr val="bg1"/>
                </a:solidFill>
                <a:latin typeface="Times New Roman" panose="02020603050405020304" pitchFamily="18" charset="0"/>
              </a:rPr>
              <a:t>时</a:t>
            </a:r>
          </a:p>
        </p:txBody>
      </p:sp>
      <p:graphicFrame>
        <p:nvGraphicFramePr>
          <p:cNvPr id="1873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0791867"/>
              </p:ext>
            </p:extLst>
          </p:nvPr>
        </p:nvGraphicFramePr>
        <p:xfrm>
          <a:off x="3495675" y="608013"/>
          <a:ext cx="50292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4" name="Equation" r:id="rId4" imgW="2145960" imgH="419040" progId="Equation.DSMT4">
                  <p:embed/>
                </p:oleObj>
              </mc:Choice>
              <mc:Fallback>
                <p:oleObj name="Equation" r:id="rId4" imgW="2145960" imgH="419040" progId="Equation.DSMT4">
                  <p:embed/>
                  <p:pic>
                    <p:nvPicPr>
                      <p:cNvPr id="1873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5675" y="608013"/>
                        <a:ext cx="502920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9125074"/>
              </p:ext>
            </p:extLst>
          </p:nvPr>
        </p:nvGraphicFramePr>
        <p:xfrm>
          <a:off x="942975" y="1746250"/>
          <a:ext cx="4019550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5" name="Equation" r:id="rId6" imgW="1638000" imgH="685800" progId="Equation.DSMT4">
                  <p:embed/>
                </p:oleObj>
              </mc:Choice>
              <mc:Fallback>
                <p:oleObj name="Equation" r:id="rId6" imgW="1638000" imgH="685800" progId="Equation.DSMT4">
                  <p:embed/>
                  <p:pic>
                    <p:nvPicPr>
                      <p:cNvPr id="1873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1746250"/>
                        <a:ext cx="4019550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397" name="Text Box 5"/>
          <p:cNvSpPr txBox="1">
            <a:spLocks noChangeArrowheads="1"/>
          </p:cNvSpPr>
          <p:nvPr/>
        </p:nvSpPr>
        <p:spPr bwMode="auto">
          <a:xfrm>
            <a:off x="6011863" y="2276475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8000" rIns="198000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等幅振荡</a:t>
            </a:r>
          </a:p>
        </p:txBody>
      </p:sp>
      <p:sp>
        <p:nvSpPr>
          <p:cNvPr id="187404" name="Line 12"/>
          <p:cNvSpPr>
            <a:spLocks noChangeShapeType="1"/>
          </p:cNvSpPr>
          <p:nvPr/>
        </p:nvSpPr>
        <p:spPr bwMode="auto">
          <a:xfrm>
            <a:off x="5219700" y="2563813"/>
            <a:ext cx="720725" cy="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5076825" y="3933825"/>
            <a:ext cx="2813050" cy="1512888"/>
            <a:chOff x="3198" y="2478"/>
            <a:chExt cx="1772" cy="953"/>
          </a:xfrm>
        </p:grpSpPr>
        <p:grpSp>
          <p:nvGrpSpPr>
            <p:cNvPr id="83983" name="Group 20"/>
            <p:cNvGrpSpPr>
              <a:grpSpLocks/>
            </p:cNvGrpSpPr>
            <p:nvPr/>
          </p:nvGrpSpPr>
          <p:grpSpPr bwMode="auto">
            <a:xfrm>
              <a:off x="3833" y="2795"/>
              <a:ext cx="725" cy="272"/>
              <a:chOff x="3833" y="2795"/>
              <a:chExt cx="725" cy="272"/>
            </a:xfrm>
          </p:grpSpPr>
          <p:sp>
            <p:nvSpPr>
              <p:cNvPr id="84001" name="Line 21"/>
              <p:cNvSpPr>
                <a:spLocks noChangeShapeType="1"/>
              </p:cNvSpPr>
              <p:nvPr/>
            </p:nvSpPr>
            <p:spPr bwMode="auto">
              <a:xfrm>
                <a:off x="3878" y="2795"/>
                <a:ext cx="680" cy="0"/>
              </a:xfrm>
              <a:prstGeom prst="line">
                <a:avLst/>
              </a:prstGeom>
              <a:noFill/>
              <a:ln w="57150">
                <a:solidFill>
                  <a:srgbClr val="00CC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002" name="Line 22"/>
              <p:cNvSpPr>
                <a:spLocks noChangeShapeType="1"/>
              </p:cNvSpPr>
              <p:nvPr/>
            </p:nvSpPr>
            <p:spPr bwMode="auto">
              <a:xfrm>
                <a:off x="3833" y="3067"/>
                <a:ext cx="680" cy="0"/>
              </a:xfrm>
              <a:prstGeom prst="line">
                <a:avLst/>
              </a:prstGeom>
              <a:noFill/>
              <a:ln w="57150">
                <a:solidFill>
                  <a:srgbClr val="00CC66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3984" name="Line 23"/>
            <p:cNvSpPr>
              <a:spLocks noChangeShapeType="1"/>
            </p:cNvSpPr>
            <p:nvPr/>
          </p:nvSpPr>
          <p:spPr bwMode="auto">
            <a:xfrm>
              <a:off x="4681" y="2478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5" name="Line 24"/>
            <p:cNvSpPr>
              <a:spLocks noChangeShapeType="1"/>
            </p:cNvSpPr>
            <p:nvPr/>
          </p:nvSpPr>
          <p:spPr bwMode="auto">
            <a:xfrm>
              <a:off x="4681" y="3204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6" name="Line 25"/>
            <p:cNvSpPr>
              <a:spLocks noChangeShapeType="1"/>
            </p:cNvSpPr>
            <p:nvPr/>
          </p:nvSpPr>
          <p:spPr bwMode="auto">
            <a:xfrm>
              <a:off x="3361" y="3431"/>
              <a:ext cx="131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7" name="Line 26"/>
            <p:cNvSpPr>
              <a:spLocks noChangeShapeType="1"/>
            </p:cNvSpPr>
            <p:nvPr/>
          </p:nvSpPr>
          <p:spPr bwMode="auto">
            <a:xfrm>
              <a:off x="3361" y="2478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8" name="Line 27"/>
            <p:cNvSpPr>
              <a:spLocks noChangeShapeType="1"/>
            </p:cNvSpPr>
            <p:nvPr/>
          </p:nvSpPr>
          <p:spPr bwMode="auto">
            <a:xfrm flipH="1">
              <a:off x="3361" y="2977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9" name="Rectangle 28"/>
            <p:cNvSpPr>
              <a:spLocks noChangeArrowheads="1"/>
            </p:cNvSpPr>
            <p:nvPr/>
          </p:nvSpPr>
          <p:spPr bwMode="auto">
            <a:xfrm>
              <a:off x="4845" y="2887"/>
              <a:ext cx="1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990" name="Rectangle 29"/>
            <p:cNvSpPr>
              <a:spLocks noChangeArrowheads="1"/>
            </p:cNvSpPr>
            <p:nvPr/>
          </p:nvSpPr>
          <p:spPr bwMode="auto">
            <a:xfrm>
              <a:off x="3526" y="2796"/>
              <a:ext cx="28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991" name="Rectangle 30"/>
            <p:cNvSpPr>
              <a:spLocks noChangeArrowheads="1"/>
            </p:cNvSpPr>
            <p:nvPr/>
          </p:nvSpPr>
          <p:spPr bwMode="auto">
            <a:xfrm>
              <a:off x="3198" y="2569"/>
              <a:ext cx="12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83992" name="Rectangle 31"/>
            <p:cNvSpPr>
              <a:spLocks noChangeArrowheads="1"/>
            </p:cNvSpPr>
            <p:nvPr/>
          </p:nvSpPr>
          <p:spPr bwMode="auto">
            <a:xfrm>
              <a:off x="3198" y="302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83993" name="Line 32"/>
            <p:cNvSpPr>
              <a:spLocks noChangeShapeType="1"/>
            </p:cNvSpPr>
            <p:nvPr/>
          </p:nvSpPr>
          <p:spPr bwMode="auto">
            <a:xfrm>
              <a:off x="3361" y="2478"/>
              <a:ext cx="1311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3994" name="Group 33"/>
            <p:cNvGrpSpPr>
              <a:grpSpLocks/>
            </p:cNvGrpSpPr>
            <p:nvPr/>
          </p:nvGrpSpPr>
          <p:grpSpPr bwMode="auto">
            <a:xfrm>
              <a:off x="3239" y="2886"/>
              <a:ext cx="216" cy="90"/>
              <a:chOff x="4604" y="2478"/>
              <a:chExt cx="240" cy="90"/>
            </a:xfrm>
          </p:grpSpPr>
          <p:sp>
            <p:nvSpPr>
              <p:cNvPr id="83999" name="Line 34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00" name="Line 35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3995" name="Group 36"/>
            <p:cNvGrpSpPr>
              <a:grpSpLocks/>
            </p:cNvGrpSpPr>
            <p:nvPr/>
          </p:nvGrpSpPr>
          <p:grpSpPr bwMode="auto">
            <a:xfrm rot="5400000">
              <a:off x="4247" y="2734"/>
              <a:ext cx="499" cy="532"/>
              <a:chOff x="476" y="663"/>
              <a:chExt cx="771" cy="862"/>
            </a:xfrm>
          </p:grpSpPr>
          <p:sp>
            <p:nvSpPr>
              <p:cNvPr id="83996" name="AutoShape 37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3997" name="AutoShape 38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3998" name="AutoShape 39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44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905798"/>
              </p:ext>
            </p:extLst>
          </p:nvPr>
        </p:nvGraphicFramePr>
        <p:xfrm>
          <a:off x="631825" y="3463925"/>
          <a:ext cx="3690938" cy="2936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6" name="Visio" r:id="rId8" imgW="1999536" imgH="1592770" progId="Visio.Drawing.11">
                  <p:embed/>
                </p:oleObj>
              </mc:Choice>
              <mc:Fallback>
                <p:oleObj name="Visio" r:id="rId8" imgW="1999536" imgH="1592770" progId="Visio.Drawing.11">
                  <p:embed/>
                  <p:pic>
                    <p:nvPicPr>
                      <p:cNvPr id="10255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554" b="3622"/>
                      <a:stretch>
                        <a:fillRect/>
                      </a:stretch>
                    </p:blipFill>
                    <p:spPr bwMode="auto">
                      <a:xfrm>
                        <a:off x="631825" y="3463925"/>
                        <a:ext cx="3690938" cy="2936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181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18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0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18740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87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4" grpId="0" animBg="1"/>
      <p:bldP spid="187397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42154F-5854-46C0-B2E2-13778CCEF34B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2022/4/13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5B405C-55CE-43A7-A27D-35F13ABBC475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24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553776"/>
              </p:ext>
            </p:extLst>
          </p:nvPr>
        </p:nvGraphicFramePr>
        <p:xfrm>
          <a:off x="5655568" y="2149599"/>
          <a:ext cx="1143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" name="Equation" r:id="rId3" imgW="571252" imgH="241195" progId="Equation.3">
                  <p:embed/>
                </p:oleObj>
              </mc:Choice>
              <mc:Fallback>
                <p:oleObj name="Equation" r:id="rId3" imgW="571252" imgH="24119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5568" y="2149599"/>
                        <a:ext cx="1143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924619"/>
              </p:ext>
            </p:extLst>
          </p:nvPr>
        </p:nvGraphicFramePr>
        <p:xfrm>
          <a:off x="5107881" y="2811587"/>
          <a:ext cx="242093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6" name="Equation" r:id="rId5" imgW="1091726" imgH="241195" progId="Equation.DSMT4">
                  <p:embed/>
                </p:oleObj>
              </mc:Choice>
              <mc:Fallback>
                <p:oleObj name="Equation" r:id="rId5" imgW="1091726" imgH="24119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7881" y="2811587"/>
                        <a:ext cx="2420937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080677"/>
              </p:ext>
            </p:extLst>
          </p:nvPr>
        </p:nvGraphicFramePr>
        <p:xfrm>
          <a:off x="4804668" y="1539999"/>
          <a:ext cx="1397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7" name="Equation" r:id="rId7" imgW="670444" imgH="209632" progId="Equation.3">
                  <p:embed/>
                </p:oleObj>
              </mc:Choice>
              <mc:Fallback>
                <p:oleObj name="Equation" r:id="rId7" imgW="670444" imgH="209632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4668" y="1539999"/>
                        <a:ext cx="1397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3255020"/>
              </p:ext>
            </p:extLst>
          </p:nvPr>
        </p:nvGraphicFramePr>
        <p:xfrm>
          <a:off x="6417568" y="1336799"/>
          <a:ext cx="1574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8" name="Equation" r:id="rId9" imgW="758171" imgH="415372" progId="Equation.3">
                  <p:embed/>
                </p:oleObj>
              </mc:Choice>
              <mc:Fallback>
                <p:oleObj name="Equation" r:id="rId9" imgW="758171" imgH="415372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7568" y="1336799"/>
                        <a:ext cx="1574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10" name="Rectangle 18"/>
          <p:cNvSpPr>
            <a:spLocks noChangeArrowheads="1"/>
          </p:cNvSpPr>
          <p:nvPr/>
        </p:nvSpPr>
        <p:spPr bwMode="auto">
          <a:xfrm>
            <a:off x="4283968" y="853774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Critically damped——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临界阻尼</a:t>
            </a:r>
          </a:p>
        </p:txBody>
      </p:sp>
      <p:sp>
        <p:nvSpPr>
          <p:cNvPr id="19" name="Rectangle 2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9.2 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二阶电路的零输入响应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graphicFrame>
        <p:nvGraphicFramePr>
          <p:cNvPr id="10251" name="Object 42"/>
          <p:cNvGraphicFramePr>
            <a:graphicFrameLocks noChangeAspect="1"/>
          </p:cNvGraphicFramePr>
          <p:nvPr/>
        </p:nvGraphicFramePr>
        <p:xfrm>
          <a:off x="152400" y="1143000"/>
          <a:ext cx="3970338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9" name="Visio" r:id="rId11" imgW="2014109" imgH="1137826" progId="Visio.Drawing.11">
                  <p:embed/>
                </p:oleObj>
              </mc:Choice>
              <mc:Fallback>
                <p:oleObj name="Visio" r:id="rId11" imgW="2014109" imgH="1137826" progId="Visio.Drawing.11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143000"/>
                        <a:ext cx="3970338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Rectangle 56"/>
          <p:cNvSpPr>
            <a:spLocks noChangeArrowheads="1"/>
          </p:cNvSpPr>
          <p:nvPr/>
        </p:nvSpPr>
        <p:spPr bwMode="auto">
          <a:xfrm>
            <a:off x="6688138" y="3275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1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573783"/>
              </p:ext>
            </p:extLst>
          </p:nvPr>
        </p:nvGraphicFramePr>
        <p:xfrm>
          <a:off x="827584" y="3525972"/>
          <a:ext cx="4559151" cy="115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0" name="Equation" r:id="rId13" imgW="2590560" imgH="685800" progId="Equation.DSMT4">
                  <p:embed/>
                </p:oleObj>
              </mc:Choice>
              <mc:Fallback>
                <p:oleObj name="Equation" r:id="rId13" imgW="2590560" imgH="685800" progId="Equation.DSMT4">
                  <p:embed/>
                  <p:pic>
                    <p:nvPicPr>
                      <p:cNvPr id="1884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3525972"/>
                        <a:ext cx="4559151" cy="115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073346"/>
              </p:ext>
            </p:extLst>
          </p:nvPr>
        </p:nvGraphicFramePr>
        <p:xfrm>
          <a:off x="6012160" y="3586839"/>
          <a:ext cx="1196984" cy="856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1" name="Equation" r:id="rId15" imgW="672840" imgH="482400" progId="Equation.DSMT4">
                  <p:embed/>
                </p:oleObj>
              </mc:Choice>
              <mc:Fallback>
                <p:oleObj name="Equation" r:id="rId15" imgW="672840" imgH="482400" progId="Equation.DSMT4">
                  <p:embed/>
                  <p:pic>
                    <p:nvPicPr>
                      <p:cNvPr id="1884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2160" y="3586839"/>
                        <a:ext cx="1196984" cy="8568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919956"/>
              </p:ext>
            </p:extLst>
          </p:nvPr>
        </p:nvGraphicFramePr>
        <p:xfrm>
          <a:off x="1855966" y="4949743"/>
          <a:ext cx="2067962" cy="422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2" name="Equation" r:id="rId17" imgW="1180800" imgH="241200" progId="Equation.DSMT4">
                  <p:embed/>
                </p:oleObj>
              </mc:Choice>
              <mc:Fallback>
                <p:oleObj name="Equation" r:id="rId17" imgW="1180800" imgH="241200" progId="Equation.DSMT4">
                  <p:embed/>
                  <p:pic>
                    <p:nvPicPr>
                      <p:cNvPr id="1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5966" y="4949743"/>
                        <a:ext cx="2067962" cy="422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226859"/>
              </p:ext>
            </p:extLst>
          </p:nvPr>
        </p:nvGraphicFramePr>
        <p:xfrm>
          <a:off x="1844578" y="5389423"/>
          <a:ext cx="2400580" cy="689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3" name="Equation" r:id="rId19" imgW="1371600" imgH="393480" progId="Equation.DSMT4">
                  <p:embed/>
                </p:oleObj>
              </mc:Choice>
              <mc:Fallback>
                <p:oleObj name="Equation" r:id="rId19" imgW="1371600" imgH="393480" progId="Equation.DSMT4">
                  <p:embed/>
                  <p:pic>
                    <p:nvPicPr>
                      <p:cNvPr id="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578" y="5389423"/>
                        <a:ext cx="2400580" cy="689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5080561" y="5222875"/>
            <a:ext cx="218735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非振荡电路</a:t>
            </a:r>
            <a:endParaRPr lang="zh-CN" altLang="en-US" sz="24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410" grpId="0" autoUpdateAnimBg="0"/>
      <p:bldP spid="2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9" name="Text Box 2"/>
          <p:cNvSpPr txBox="1">
            <a:spLocks noChangeArrowheads="1"/>
          </p:cNvSpPr>
          <p:nvPr/>
        </p:nvSpPr>
        <p:spPr bwMode="auto">
          <a:xfrm>
            <a:off x="212725" y="2492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1"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050" name="Rectangle 3"/>
          <p:cNvSpPr>
            <a:spLocks noChangeArrowheads="1"/>
          </p:cNvSpPr>
          <p:nvPr/>
        </p:nvSpPr>
        <p:spPr bwMode="auto">
          <a:xfrm>
            <a:off x="304800" y="228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1"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904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228612"/>
              </p:ext>
            </p:extLst>
          </p:nvPr>
        </p:nvGraphicFramePr>
        <p:xfrm>
          <a:off x="2293938" y="600075"/>
          <a:ext cx="434022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1" name="Equation" r:id="rId3" imgW="2145960" imgH="444240" progId="Equation.DSMT4">
                  <p:embed/>
                </p:oleObj>
              </mc:Choice>
              <mc:Fallback>
                <p:oleObj name="Equation" r:id="rId3" imgW="2145960" imgH="444240" progId="Equation.DSMT4">
                  <p:embed/>
                  <p:pic>
                    <p:nvPicPr>
                      <p:cNvPr id="1904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3938" y="600075"/>
                        <a:ext cx="434022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024273"/>
              </p:ext>
            </p:extLst>
          </p:nvPr>
        </p:nvGraphicFramePr>
        <p:xfrm>
          <a:off x="3936374" y="1387477"/>
          <a:ext cx="28225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2" name="Equation" r:id="rId5" imgW="1066680" imgH="241200" progId="Equation.DSMT4">
                  <p:embed/>
                </p:oleObj>
              </mc:Choice>
              <mc:Fallback>
                <p:oleObj name="Equation" r:id="rId5" imgW="1066680" imgH="241200" progId="Equation.DSMT4">
                  <p:embed/>
                  <p:pic>
                    <p:nvPicPr>
                      <p:cNvPr id="1904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6374" y="1387477"/>
                        <a:ext cx="282257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278606"/>
              </p:ext>
            </p:extLst>
          </p:nvPr>
        </p:nvGraphicFramePr>
        <p:xfrm>
          <a:off x="2232025" y="3414713"/>
          <a:ext cx="4462463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3" name="Equation" r:id="rId7" imgW="1993680" imgH="444240" progId="Equation.DSMT4">
                  <p:embed/>
                </p:oleObj>
              </mc:Choice>
              <mc:Fallback>
                <p:oleObj name="Equation" r:id="rId7" imgW="1993680" imgH="444240" progId="Equation.DSMT4">
                  <p:embed/>
                  <p:pic>
                    <p:nvPicPr>
                      <p:cNvPr id="1904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3414713"/>
                        <a:ext cx="4462463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280060"/>
              </p:ext>
            </p:extLst>
          </p:nvPr>
        </p:nvGraphicFramePr>
        <p:xfrm>
          <a:off x="3940175" y="4427673"/>
          <a:ext cx="363378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4" name="Equation" r:id="rId9" imgW="1371600" imgH="241200" progId="Equation.DSMT4">
                  <p:embed/>
                </p:oleObj>
              </mc:Choice>
              <mc:Fallback>
                <p:oleObj name="Equation" r:id="rId9" imgW="1371600" imgH="241200" progId="Equation.DSMT4">
                  <p:embed/>
                  <p:pic>
                    <p:nvPicPr>
                      <p:cNvPr id="1904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175" y="4427673"/>
                        <a:ext cx="3633788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231501"/>
              </p:ext>
            </p:extLst>
          </p:nvPr>
        </p:nvGraphicFramePr>
        <p:xfrm>
          <a:off x="2178050" y="2039938"/>
          <a:ext cx="469265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5" name="Equation" r:id="rId11" imgW="2298600" imgH="444240" progId="Equation.DSMT4">
                  <p:embed/>
                </p:oleObj>
              </mc:Choice>
              <mc:Fallback>
                <p:oleObj name="Equation" r:id="rId11" imgW="2298600" imgH="444240" progId="Equation.DSMT4">
                  <p:embed/>
                  <p:pic>
                    <p:nvPicPr>
                      <p:cNvPr id="1904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0" y="2039938"/>
                        <a:ext cx="469265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11171"/>
              </p:ext>
            </p:extLst>
          </p:nvPr>
        </p:nvGraphicFramePr>
        <p:xfrm>
          <a:off x="3940175" y="2797175"/>
          <a:ext cx="313848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6" name="Equation" r:id="rId13" imgW="1206360" imgH="241200" progId="Equation.DSMT4">
                  <p:embed/>
                </p:oleObj>
              </mc:Choice>
              <mc:Fallback>
                <p:oleObj name="Equation" r:id="rId13" imgW="1206360" imgH="241200" progId="Equation.DSMT4">
                  <p:embed/>
                  <p:pic>
                    <p:nvPicPr>
                      <p:cNvPr id="1904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175" y="2797175"/>
                        <a:ext cx="3138488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335213" y="5124450"/>
            <a:ext cx="4930775" cy="1379537"/>
            <a:chOff x="1471" y="3138"/>
            <a:chExt cx="3106" cy="869"/>
          </a:xfrm>
        </p:grpSpPr>
        <p:sp>
          <p:nvSpPr>
            <p:cNvPr id="87065" name="Rectangle 11"/>
            <p:cNvSpPr>
              <a:spLocks noChangeArrowheads="1"/>
            </p:cNvSpPr>
            <p:nvPr/>
          </p:nvSpPr>
          <p:spPr bwMode="auto">
            <a:xfrm>
              <a:off x="3560" y="3339"/>
              <a:ext cx="101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98000" rIns="19800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zh-CN" altLang="en-US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定常数</a:t>
              </a:r>
            </a:p>
          </p:txBody>
        </p:sp>
        <p:graphicFrame>
          <p:nvGraphicFramePr>
            <p:cNvPr id="87048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679612"/>
                </p:ext>
              </p:extLst>
            </p:nvPr>
          </p:nvGraphicFramePr>
          <p:xfrm>
            <a:off x="1471" y="3138"/>
            <a:ext cx="1865" cy="8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67" name="Equation" r:id="rId15" imgW="1269720" imgH="660240" progId="Equation.DSMT4">
                    <p:embed/>
                  </p:oleObj>
                </mc:Choice>
                <mc:Fallback>
                  <p:oleObj name="Equation" r:id="rId15" imgW="1269720" imgH="660240" progId="Equation.DSMT4">
                    <p:embed/>
                    <p:pic>
                      <p:nvPicPr>
                        <p:cNvPr id="8704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1" y="3138"/>
                          <a:ext cx="1865" cy="8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0477" name="Text Box 13" descr="绿色大理石"/>
          <p:cNvSpPr txBox="1">
            <a:spLocks noChangeArrowheads="1"/>
          </p:cNvSpPr>
          <p:nvPr/>
        </p:nvSpPr>
        <p:spPr bwMode="auto">
          <a:xfrm>
            <a:off x="539750" y="2276872"/>
            <a:ext cx="1295400" cy="2654300"/>
          </a:xfrm>
          <a:prstGeom prst="rect">
            <a:avLst/>
          </a:prstGeom>
          <a:noFill/>
          <a:ln>
            <a:noFill/>
          </a:ln>
        </p:spPr>
        <p:txBody>
          <a:bodyPr lIns="198000" rIns="198000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可推广应用于一般二阶电路</a:t>
            </a: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250825" y="620713"/>
            <a:ext cx="1644650" cy="850900"/>
            <a:chOff x="385" y="3022"/>
            <a:chExt cx="1036" cy="536"/>
          </a:xfrm>
        </p:grpSpPr>
        <p:pic>
          <p:nvPicPr>
            <p:cNvPr id="87059" name="Picture 21" descr="123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060" name="Text Box 22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3200" b="0">
                  <a:solidFill>
                    <a:srgbClr val="FA7748"/>
                  </a:solidFill>
                  <a:latin typeface="Times New Roman" panose="02020603050405020304" pitchFamily="18" charset="0"/>
                </a:rPr>
                <a:t>小结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438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9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9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9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9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9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9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0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0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7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9AB175-2D59-440C-BA84-E578A870BCF6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2022/4/13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4D361B-1D40-4317-9A01-9E1CDDCBBFCC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154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696572"/>
              </p:ext>
            </p:extLst>
          </p:nvPr>
        </p:nvGraphicFramePr>
        <p:xfrm>
          <a:off x="755576" y="4879697"/>
          <a:ext cx="3124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7" name="Equation" r:id="rId3" imgW="1409400" imgH="228600" progId="Equation.DSMT4">
                  <p:embed/>
                </p:oleObj>
              </mc:Choice>
              <mc:Fallback>
                <p:oleObj name="Equation" r:id="rId3" imgW="1409400" imgH="228600" progId="Equation.DSMT4">
                  <p:embed/>
                  <p:pic>
                    <p:nvPicPr>
                      <p:cNvPr id="31540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4879697"/>
                        <a:ext cx="3124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2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9.2 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二阶电路的零输入响应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graphicFrame>
        <p:nvGraphicFramePr>
          <p:cNvPr id="10251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3707248"/>
              </p:ext>
            </p:extLst>
          </p:nvPr>
        </p:nvGraphicFramePr>
        <p:xfrm>
          <a:off x="5100352" y="1467866"/>
          <a:ext cx="3970338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8" name="Visio" r:id="rId5" imgW="2014109" imgH="1137826" progId="Visio.Drawing.11">
                  <p:embed/>
                </p:oleObj>
              </mc:Choice>
              <mc:Fallback>
                <p:oleObj name="Visio" r:id="rId5" imgW="2014109" imgH="1137826" progId="Visio.Drawing.11">
                  <p:embed/>
                  <p:pic>
                    <p:nvPicPr>
                      <p:cNvPr id="10251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352" y="1467866"/>
                        <a:ext cx="3970338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Rectangle 56"/>
          <p:cNvSpPr>
            <a:spLocks noChangeArrowheads="1"/>
          </p:cNvSpPr>
          <p:nvPr/>
        </p:nvSpPr>
        <p:spPr bwMode="auto">
          <a:xfrm>
            <a:off x="6688138" y="3275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54986"/>
              </p:ext>
            </p:extLst>
          </p:nvPr>
        </p:nvGraphicFramePr>
        <p:xfrm>
          <a:off x="-108520" y="643382"/>
          <a:ext cx="5440362" cy="414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9" name="Visio" r:id="rId7" imgW="2977092" imgH="2267310" progId="Visio.Drawing.11">
                  <p:embed/>
                </p:oleObj>
              </mc:Choice>
              <mc:Fallback>
                <p:oleObj name="Visio" r:id="rId7" imgW="2977092" imgH="2267310" progId="Visio.Drawing.11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3249"/>
                      <a:stretch>
                        <a:fillRect/>
                      </a:stretch>
                    </p:blipFill>
                    <p:spPr bwMode="auto">
                      <a:xfrm>
                        <a:off x="-108520" y="643382"/>
                        <a:ext cx="5440362" cy="414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4" name="Rectangle 68"/>
          <p:cNvSpPr>
            <a:spLocks noChangeArrowheads="1"/>
          </p:cNvSpPr>
          <p:nvPr/>
        </p:nvSpPr>
        <p:spPr bwMode="auto">
          <a:xfrm>
            <a:off x="5364163" y="4856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1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496989"/>
              </p:ext>
            </p:extLst>
          </p:nvPr>
        </p:nvGraphicFramePr>
        <p:xfrm>
          <a:off x="5624716" y="3692278"/>
          <a:ext cx="2864692" cy="2279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0" name="Visio" r:id="rId9" imgW="1999536" imgH="1592770" progId="Visio.Drawing.11">
                  <p:embed/>
                </p:oleObj>
              </mc:Choice>
              <mc:Fallback>
                <p:oleObj name="Visio" r:id="rId9" imgW="1999536" imgH="1592770" progId="Visio.Drawing.11">
                  <p:embed/>
                  <p:pic>
                    <p:nvPicPr>
                      <p:cNvPr id="10255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554" b="3622"/>
                      <a:stretch>
                        <a:fillRect/>
                      </a:stretch>
                    </p:blipFill>
                    <p:spPr bwMode="auto">
                      <a:xfrm>
                        <a:off x="5624716" y="3692278"/>
                        <a:ext cx="2864692" cy="2279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22"/>
          <p:cNvGrpSpPr>
            <a:grpSpLocks/>
          </p:cNvGrpSpPr>
          <p:nvPr/>
        </p:nvGrpSpPr>
        <p:grpSpPr bwMode="auto">
          <a:xfrm>
            <a:off x="5865643" y="6022811"/>
            <a:ext cx="2382837" cy="461962"/>
            <a:chOff x="2440" y="3884"/>
            <a:chExt cx="1501" cy="291"/>
          </a:xfrm>
        </p:grpSpPr>
        <p:graphicFrame>
          <p:nvGraphicFramePr>
            <p:cNvPr id="18" name="Object 23"/>
            <p:cNvGraphicFramePr>
              <a:graphicFrameLocks noChangeAspect="1"/>
            </p:cNvGraphicFramePr>
            <p:nvPr/>
          </p:nvGraphicFramePr>
          <p:xfrm>
            <a:off x="3461" y="3929"/>
            <a:ext cx="480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1" name="Equation" r:id="rId11" imgW="354239" imgH="148466" progId="Equation.DSMT4">
                    <p:embed/>
                  </p:oleObj>
                </mc:Choice>
                <mc:Fallback>
                  <p:oleObj name="Equation" r:id="rId11" imgW="354239" imgH="148466" progId="Equation.DSMT4">
                    <p:embed/>
                    <p:pic>
                      <p:nvPicPr>
                        <p:cNvPr id="9232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1" y="3929"/>
                          <a:ext cx="480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Rectangle 25"/>
            <p:cNvSpPr>
              <a:spLocks noChangeArrowheads="1"/>
            </p:cNvSpPr>
            <p:nvPr/>
          </p:nvSpPr>
          <p:spPr bwMode="auto">
            <a:xfrm>
              <a:off x="2440" y="3884"/>
              <a:ext cx="10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24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欠阻尼特例</a:t>
              </a:r>
            </a:p>
          </p:txBody>
        </p:sp>
      </p:grpSp>
      <p:cxnSp>
        <p:nvCxnSpPr>
          <p:cNvPr id="4" name="直接箭头连接符 3"/>
          <p:cNvCxnSpPr>
            <a:endCxn id="315406" idx="2"/>
          </p:cNvCxnSpPr>
          <p:nvPr/>
        </p:nvCxnSpPr>
        <p:spPr bwMode="auto">
          <a:xfrm flipV="1">
            <a:off x="2317676" y="5387697"/>
            <a:ext cx="0" cy="3455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Rectangle 25"/>
          <p:cNvSpPr>
            <a:spLocks noChangeArrowheads="1"/>
          </p:cNvSpPr>
          <p:nvPr/>
        </p:nvSpPr>
        <p:spPr bwMode="auto">
          <a:xfrm>
            <a:off x="1691680" y="5791978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临界阻尼</a:t>
            </a:r>
            <a:endParaRPr lang="zh-CN" altLang="en-US" sz="24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cxnSp>
        <p:nvCxnSpPr>
          <p:cNvPr id="23" name="直接箭头连接符 22"/>
          <p:cNvCxnSpPr/>
          <p:nvPr/>
        </p:nvCxnSpPr>
        <p:spPr bwMode="auto">
          <a:xfrm flipV="1">
            <a:off x="1043608" y="5387698"/>
            <a:ext cx="289892" cy="4042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Rectangle 25"/>
          <p:cNvSpPr>
            <a:spLocks noChangeArrowheads="1"/>
          </p:cNvSpPr>
          <p:nvPr/>
        </p:nvSpPr>
        <p:spPr bwMode="auto">
          <a:xfrm>
            <a:off x="439668" y="5791978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过阻尼</a:t>
            </a:r>
            <a:endParaRPr lang="zh-CN" altLang="en-US" sz="24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3258088" y="5791977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欠阻尼</a:t>
            </a:r>
            <a:endParaRPr lang="zh-CN" altLang="en-US" sz="24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cxnSp>
        <p:nvCxnSpPr>
          <p:cNvPr id="27" name="直接箭头连接符 26"/>
          <p:cNvCxnSpPr/>
          <p:nvPr/>
        </p:nvCxnSpPr>
        <p:spPr bwMode="auto">
          <a:xfrm flipH="1" flipV="1">
            <a:off x="3301853" y="5358336"/>
            <a:ext cx="406051" cy="4336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矩形 6"/>
          <p:cNvSpPr/>
          <p:nvPr/>
        </p:nvSpPr>
        <p:spPr bwMode="auto">
          <a:xfrm>
            <a:off x="2105726" y="4856163"/>
            <a:ext cx="396044" cy="531534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790988" y="4839597"/>
            <a:ext cx="1044707" cy="531534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2835069" y="4853079"/>
            <a:ext cx="1044707" cy="531534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157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26" grpId="0"/>
      <p:bldP spid="7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6B8805-58FD-4F6F-ACCF-58DCDDAC3557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2022/4/13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18A9F1-3B5B-4ADE-8192-21F3F4E2313D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269" name="Object 15"/>
          <p:cNvGraphicFramePr>
            <a:graphicFrameLocks noChangeAspect="1"/>
          </p:cNvGraphicFramePr>
          <p:nvPr/>
        </p:nvGraphicFramePr>
        <p:xfrm>
          <a:off x="179388" y="1052513"/>
          <a:ext cx="3970337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3" name="Visio" r:id="rId3" imgW="2014109" imgH="1137826" progId="Visio.Drawing.11">
                  <p:embed/>
                </p:oleObj>
              </mc:Choice>
              <mc:Fallback>
                <p:oleObj name="Visio" r:id="rId3" imgW="2014109" imgH="1137826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052513"/>
                        <a:ext cx="3970337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17"/>
          <p:cNvGraphicFramePr>
            <a:graphicFrameLocks noChangeAspect="1"/>
          </p:cNvGraphicFramePr>
          <p:nvPr/>
        </p:nvGraphicFramePr>
        <p:xfrm>
          <a:off x="684213" y="3500438"/>
          <a:ext cx="9525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4" name="Equation" r:id="rId5" imgW="482181" imgH="177646" progId="Equation.DSMT4">
                  <p:embed/>
                </p:oleObj>
              </mc:Choice>
              <mc:Fallback>
                <p:oleObj name="Equation" r:id="rId5" imgW="482181" imgH="177646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500438"/>
                        <a:ext cx="952500" cy="3444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43"/>
          <p:cNvGraphicFramePr>
            <a:graphicFrameLocks noChangeAspect="1"/>
          </p:cNvGraphicFramePr>
          <p:nvPr/>
        </p:nvGraphicFramePr>
        <p:xfrm>
          <a:off x="539750" y="4076700"/>
          <a:ext cx="2916238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5" name="Equation" r:id="rId7" imgW="1473200" imgH="482600" progId="Equation.DSMT4">
                  <p:embed/>
                </p:oleObj>
              </mc:Choice>
              <mc:Fallback>
                <p:oleObj name="Equation" r:id="rId7" imgW="1473200" imgH="4826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076700"/>
                        <a:ext cx="2916238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72" name="Group 57"/>
          <p:cNvGrpSpPr>
            <a:grpSpLocks/>
          </p:cNvGrpSpPr>
          <p:nvPr/>
        </p:nvGrpSpPr>
        <p:grpSpPr bwMode="auto">
          <a:xfrm>
            <a:off x="4356100" y="1052513"/>
            <a:ext cx="4608513" cy="5543550"/>
            <a:chOff x="2699" y="709"/>
            <a:chExt cx="2812" cy="3401"/>
          </a:xfrm>
        </p:grpSpPr>
        <p:pic>
          <p:nvPicPr>
            <p:cNvPr id="11276" name="Picture 48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5" y="731"/>
              <a:ext cx="2676" cy="16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277" name="Picture 49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6" y="2396"/>
              <a:ext cx="2789" cy="1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11278" name="Object 50"/>
            <p:cNvGraphicFramePr>
              <a:graphicFrameLocks noChangeAspect="1"/>
            </p:cNvGraphicFramePr>
            <p:nvPr/>
          </p:nvGraphicFramePr>
          <p:xfrm>
            <a:off x="3198" y="709"/>
            <a:ext cx="317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6" name="Equation" r:id="rId11" imgW="393529" imgH="228501" progId="Equation.DSMT4">
                    <p:embed/>
                  </p:oleObj>
                </mc:Choice>
                <mc:Fallback>
                  <p:oleObj name="Equation" r:id="rId11" imgW="393529" imgH="228501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" y="709"/>
                          <a:ext cx="317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9" name="Object 53"/>
            <p:cNvGraphicFramePr>
              <a:graphicFrameLocks noChangeAspect="1"/>
            </p:cNvGraphicFramePr>
            <p:nvPr/>
          </p:nvGraphicFramePr>
          <p:xfrm>
            <a:off x="5270" y="2063"/>
            <a:ext cx="195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7" name="Equation" r:id="rId13" imgW="241091" imgH="177646" progId="Equation.DSMT4">
                    <p:embed/>
                  </p:oleObj>
                </mc:Choice>
                <mc:Fallback>
                  <p:oleObj name="Equation" r:id="rId13" imgW="241091" imgH="177646" progId="Equation.DSMT4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0" y="2063"/>
                          <a:ext cx="195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0" name="Object 54"/>
            <p:cNvGraphicFramePr>
              <a:graphicFrameLocks noChangeAspect="1"/>
            </p:cNvGraphicFramePr>
            <p:nvPr/>
          </p:nvGraphicFramePr>
          <p:xfrm>
            <a:off x="5239" y="2614"/>
            <a:ext cx="195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8" name="Equation" r:id="rId15" imgW="241091" imgH="177646" progId="Equation.DSMT4">
                    <p:embed/>
                  </p:oleObj>
                </mc:Choice>
                <mc:Fallback>
                  <p:oleObj name="Equation" r:id="rId15" imgW="241091" imgH="177646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9" y="2614"/>
                          <a:ext cx="195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1" name="Object 55"/>
            <p:cNvGraphicFramePr>
              <a:graphicFrameLocks noChangeAspect="1"/>
            </p:cNvGraphicFramePr>
            <p:nvPr/>
          </p:nvGraphicFramePr>
          <p:xfrm>
            <a:off x="2699" y="2387"/>
            <a:ext cx="298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9" name="Equation" r:id="rId16" imgW="368300" imgH="228600" progId="Equation.DSMT4">
                    <p:embed/>
                  </p:oleObj>
                </mc:Choice>
                <mc:Fallback>
                  <p:oleObj name="Equation" r:id="rId16" imgW="368300" imgH="228600" progId="Equation.DSMT4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" y="2387"/>
                          <a:ext cx="298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5930" name="Rectangle 58"/>
          <p:cNvSpPr>
            <a:spLocks noChangeArrowheads="1"/>
          </p:cNvSpPr>
          <p:nvPr/>
        </p:nvSpPr>
        <p:spPr bwMode="auto">
          <a:xfrm>
            <a:off x="1687513" y="3430588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过阻尼</a:t>
            </a:r>
          </a:p>
        </p:txBody>
      </p:sp>
      <p:sp>
        <p:nvSpPr>
          <p:cNvPr id="19" name="Rectangle 2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9.2 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二阶电路的零输入响应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20" name="Rectangle 26"/>
          <p:cNvSpPr>
            <a:spLocks noChangeArrowheads="1"/>
          </p:cNvSpPr>
          <p:nvPr/>
        </p:nvSpPr>
        <p:spPr bwMode="auto">
          <a:xfrm>
            <a:off x="323850" y="620713"/>
            <a:ext cx="8208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                ——</a:t>
            </a:r>
            <a:r>
              <a:rPr lang="zh-CN" altLang="en-US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暂态分量的变化规律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232FA5-3FD4-4992-9CE2-FA746FFF28DF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2022/4/13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2291" name="页脚占位符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2292" name="灯片编号占位符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716958-4550-441F-B8A4-E60705EAF585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2293" name="Object 3"/>
          <p:cNvGraphicFramePr>
            <a:graphicFrameLocks noChangeAspect="1"/>
          </p:cNvGraphicFramePr>
          <p:nvPr/>
        </p:nvGraphicFramePr>
        <p:xfrm>
          <a:off x="179388" y="1052513"/>
          <a:ext cx="3970337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6" name="Visio" r:id="rId3" imgW="2014109" imgH="1137826" progId="Visio.Drawing.11">
                  <p:embed/>
                </p:oleObj>
              </mc:Choice>
              <mc:Fallback>
                <p:oleObj name="Visio" r:id="rId3" imgW="2014109" imgH="1137826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052513"/>
                        <a:ext cx="3970337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8"/>
          <p:cNvGraphicFramePr>
            <a:graphicFrameLocks noGrp="1" noChangeAspect="1"/>
          </p:cNvGraphicFramePr>
          <p:nvPr>
            <p:ph sz="half" idx="1"/>
          </p:nvPr>
        </p:nvGraphicFramePr>
        <p:xfrm>
          <a:off x="250825" y="3789363"/>
          <a:ext cx="9302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7" name="Equation" r:id="rId5" imgW="469696" imgH="165028" progId="Equation.DSMT4">
                  <p:embed/>
                </p:oleObj>
              </mc:Choice>
              <mc:Fallback>
                <p:oleObj name="Equation" r:id="rId5" imgW="469696" imgH="16502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789363"/>
                        <a:ext cx="930275" cy="327025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rgbClr val="FF9900"/>
                        </a:solidFill>
                        <a:prstDash val="solid"/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11"/>
          <p:cNvGraphicFramePr>
            <a:graphicFrameLocks noChangeAspect="1"/>
          </p:cNvGraphicFramePr>
          <p:nvPr/>
        </p:nvGraphicFramePr>
        <p:xfrm>
          <a:off x="107950" y="4365625"/>
          <a:ext cx="4900613" cy="186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8" name="Equation" r:id="rId7" imgW="2476500" imgH="939800" progId="Equation.DSMT4">
                  <p:embed/>
                </p:oleObj>
              </mc:Choice>
              <mc:Fallback>
                <p:oleObj name="Equation" r:id="rId7" imgW="2476500" imgH="939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4365625"/>
                        <a:ext cx="4900613" cy="186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6" name="Picture 2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1284288"/>
            <a:ext cx="3887788" cy="250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7" name="Picture 2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3732213"/>
            <a:ext cx="3886200" cy="250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2298" name="Object 23"/>
          <p:cNvGraphicFramePr>
            <a:graphicFrameLocks noChangeAspect="1"/>
          </p:cNvGraphicFramePr>
          <p:nvPr/>
        </p:nvGraphicFramePr>
        <p:xfrm>
          <a:off x="5500688" y="1052513"/>
          <a:ext cx="493712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9" name="Equation" r:id="rId11" imgW="393529" imgH="228501" progId="Equation.DSMT4">
                  <p:embed/>
                </p:oleObj>
              </mc:Choice>
              <mc:Fallback>
                <p:oleObj name="Equation" r:id="rId11" imgW="393529" imgH="228501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1052513"/>
                        <a:ext cx="493712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24"/>
          <p:cNvGraphicFramePr>
            <a:graphicFrameLocks noChangeAspect="1"/>
          </p:cNvGraphicFramePr>
          <p:nvPr/>
        </p:nvGraphicFramePr>
        <p:xfrm>
          <a:off x="8609013" y="2682875"/>
          <a:ext cx="304800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0" name="Equation" r:id="rId13" imgW="241091" imgH="177646" progId="Equation.DSMT4">
                  <p:embed/>
                </p:oleObj>
              </mc:Choice>
              <mc:Fallback>
                <p:oleObj name="Equation" r:id="rId13" imgW="241091" imgH="177646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9013" y="2682875"/>
                        <a:ext cx="304800" cy="23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25"/>
          <p:cNvGraphicFramePr>
            <a:graphicFrameLocks noChangeAspect="1"/>
          </p:cNvGraphicFramePr>
          <p:nvPr/>
        </p:nvGraphicFramePr>
        <p:xfrm>
          <a:off x="8609013" y="4089400"/>
          <a:ext cx="304800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1" name="Equation" r:id="rId15" imgW="241091" imgH="177646" progId="Equation.DSMT4">
                  <p:embed/>
                </p:oleObj>
              </mc:Choice>
              <mc:Fallback>
                <p:oleObj name="Equation" r:id="rId15" imgW="241091" imgH="177646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9013" y="4089400"/>
                        <a:ext cx="304800" cy="23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26"/>
          <p:cNvGraphicFramePr>
            <a:graphicFrameLocks noChangeAspect="1"/>
          </p:cNvGraphicFramePr>
          <p:nvPr/>
        </p:nvGraphicFramePr>
        <p:xfrm>
          <a:off x="5500688" y="3719513"/>
          <a:ext cx="463550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" name="Equation" r:id="rId16" imgW="368300" imgH="228600" progId="Equation.DSMT4">
                  <p:embed/>
                </p:oleObj>
              </mc:Choice>
              <mc:Fallback>
                <p:oleObj name="Equation" r:id="rId16" imgW="368300" imgH="2286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3719513"/>
                        <a:ext cx="463550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996" name="Rectangle 28"/>
          <p:cNvSpPr>
            <a:spLocks noChangeArrowheads="1"/>
          </p:cNvSpPr>
          <p:nvPr/>
        </p:nvSpPr>
        <p:spPr bwMode="auto">
          <a:xfrm>
            <a:off x="1182688" y="3719513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欠阻尼</a:t>
            </a:r>
          </a:p>
        </p:txBody>
      </p:sp>
      <p:sp>
        <p:nvSpPr>
          <p:cNvPr id="18" name="Rectangle 2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9.2 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二阶电路的零输入响应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19" name="Rectangle 26"/>
          <p:cNvSpPr>
            <a:spLocks noChangeArrowheads="1"/>
          </p:cNvSpPr>
          <p:nvPr/>
        </p:nvSpPr>
        <p:spPr bwMode="auto">
          <a:xfrm>
            <a:off x="323850" y="620713"/>
            <a:ext cx="8208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                ——</a:t>
            </a:r>
            <a:r>
              <a:rPr lang="zh-CN" altLang="en-US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暂态分量的变化规律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9C3823-5F55-4891-8F54-D9357E07091F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2022/4/13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3315" name="页脚占位符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3316" name="灯片编号占位符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D1946C-E4E8-4A4C-A110-F6895192313F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3317" name="Object 3"/>
          <p:cNvGraphicFramePr>
            <a:graphicFrameLocks noChangeAspect="1"/>
          </p:cNvGraphicFramePr>
          <p:nvPr/>
        </p:nvGraphicFramePr>
        <p:xfrm>
          <a:off x="179388" y="1052513"/>
          <a:ext cx="3970337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1" name="Visio" r:id="rId3" imgW="2014109" imgH="1137826" progId="Visio.Drawing.11">
                  <p:embed/>
                </p:oleObj>
              </mc:Choice>
              <mc:Fallback>
                <p:oleObj name="Visio" r:id="rId3" imgW="2014109" imgH="1137826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052513"/>
                        <a:ext cx="3970337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13"/>
          <p:cNvGraphicFramePr>
            <a:graphicFrameLocks noChangeAspect="1"/>
          </p:cNvGraphicFramePr>
          <p:nvPr/>
        </p:nvGraphicFramePr>
        <p:xfrm>
          <a:off x="323850" y="3789363"/>
          <a:ext cx="75247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2" name="Equation" r:id="rId5" imgW="380670" imgH="177646" progId="Equation.DSMT4">
                  <p:embed/>
                </p:oleObj>
              </mc:Choice>
              <mc:Fallback>
                <p:oleObj name="Equation" r:id="rId5" imgW="380670" imgH="177646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789363"/>
                        <a:ext cx="752475" cy="357187"/>
                      </a:xfrm>
                      <a:prstGeom prst="rect">
                        <a:avLst/>
                      </a:prstGeom>
                      <a:noFill/>
                      <a:ln w="9525" algn="ctr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15"/>
          <p:cNvGraphicFramePr>
            <a:graphicFrameLocks noChangeAspect="1"/>
          </p:cNvGraphicFramePr>
          <p:nvPr/>
        </p:nvGraphicFramePr>
        <p:xfrm>
          <a:off x="323850" y="4365625"/>
          <a:ext cx="3184525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3" name="Equation" r:id="rId7" imgW="1612900" imgH="711200" progId="Equation.DSMT4">
                  <p:embed/>
                </p:oleObj>
              </mc:Choice>
              <mc:Fallback>
                <p:oleObj name="Equation" r:id="rId7" imgW="1612900" imgH="711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365625"/>
                        <a:ext cx="3184525" cy="1412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20" name="Group 30"/>
          <p:cNvGrpSpPr>
            <a:grpSpLocks/>
          </p:cNvGrpSpPr>
          <p:nvPr/>
        </p:nvGrpSpPr>
        <p:grpSpPr bwMode="auto">
          <a:xfrm>
            <a:off x="4932363" y="1125538"/>
            <a:ext cx="4032250" cy="5256212"/>
            <a:chOff x="3107" y="754"/>
            <a:chExt cx="2471" cy="3266"/>
          </a:xfrm>
        </p:grpSpPr>
        <p:pic>
          <p:nvPicPr>
            <p:cNvPr id="13324" name="Picture 26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769"/>
              <a:ext cx="2453" cy="1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325" name="Picture 27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4" y="2415"/>
              <a:ext cx="2451" cy="1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13326" name="Object 22"/>
            <p:cNvGraphicFramePr>
              <a:graphicFrameLocks noChangeAspect="1"/>
            </p:cNvGraphicFramePr>
            <p:nvPr/>
          </p:nvGraphicFramePr>
          <p:xfrm>
            <a:off x="3419" y="754"/>
            <a:ext cx="312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94" name="Equation" r:id="rId11" imgW="393529" imgH="228501" progId="Equation.DSMT4">
                    <p:embed/>
                  </p:oleObj>
                </mc:Choice>
                <mc:Fallback>
                  <p:oleObj name="Equation" r:id="rId11" imgW="393529" imgH="228501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" y="754"/>
                          <a:ext cx="312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7" name="Object 23"/>
            <p:cNvGraphicFramePr>
              <a:graphicFrameLocks noChangeAspect="1"/>
            </p:cNvGraphicFramePr>
            <p:nvPr/>
          </p:nvGraphicFramePr>
          <p:xfrm>
            <a:off x="5375" y="1434"/>
            <a:ext cx="192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95" name="Equation" r:id="rId13" imgW="241091" imgH="177646" progId="Equation.DSMT4">
                    <p:embed/>
                  </p:oleObj>
                </mc:Choice>
                <mc:Fallback>
                  <p:oleObj name="Equation" r:id="rId13" imgW="241091" imgH="177646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5" y="1434"/>
                          <a:ext cx="192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8" name="Object 24"/>
            <p:cNvGraphicFramePr>
              <a:graphicFrameLocks noChangeAspect="1"/>
            </p:cNvGraphicFramePr>
            <p:nvPr/>
          </p:nvGraphicFramePr>
          <p:xfrm>
            <a:off x="5387" y="3042"/>
            <a:ext cx="191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96" name="Equation" r:id="rId15" imgW="241091" imgH="177646" progId="Equation.DSMT4">
                    <p:embed/>
                  </p:oleObj>
                </mc:Choice>
                <mc:Fallback>
                  <p:oleObj name="Equation" r:id="rId15" imgW="241091" imgH="177646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7" y="3042"/>
                          <a:ext cx="191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9" name="Object 25"/>
            <p:cNvGraphicFramePr>
              <a:graphicFrameLocks noChangeAspect="1"/>
            </p:cNvGraphicFramePr>
            <p:nvPr/>
          </p:nvGraphicFramePr>
          <p:xfrm>
            <a:off x="3381" y="2425"/>
            <a:ext cx="293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97" name="Equation" r:id="rId16" imgW="368300" imgH="228600" progId="Equation.DSMT4">
                    <p:embed/>
                  </p:oleObj>
                </mc:Choice>
                <mc:Fallback>
                  <p:oleObj name="Equation" r:id="rId16" imgW="368300" imgH="2286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1" y="2425"/>
                          <a:ext cx="293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2047" name="Rectangle 31"/>
          <p:cNvSpPr>
            <a:spLocks noChangeArrowheads="1"/>
          </p:cNvSpPr>
          <p:nvPr/>
        </p:nvSpPr>
        <p:spPr bwMode="auto">
          <a:xfrm>
            <a:off x="1111250" y="3719513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无阻尼</a:t>
            </a:r>
          </a:p>
        </p:txBody>
      </p:sp>
      <p:sp>
        <p:nvSpPr>
          <p:cNvPr id="19" name="Rectangle 2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9.2 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二阶电路的零输入响应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20" name="Rectangle 26"/>
          <p:cNvSpPr>
            <a:spLocks noChangeArrowheads="1"/>
          </p:cNvSpPr>
          <p:nvPr/>
        </p:nvSpPr>
        <p:spPr bwMode="auto">
          <a:xfrm>
            <a:off x="323850" y="620713"/>
            <a:ext cx="8208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                ——</a:t>
            </a:r>
            <a:r>
              <a:rPr lang="zh-CN" altLang="en-US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暂态分量的变化规律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543764-CBB3-4C81-A14F-0FBB8764F346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2022/4/13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4339" name="页脚占位符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4340" name="灯片编号占位符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3CB865-E56F-436E-9198-F3880F3D8425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4341" name="Object 3"/>
          <p:cNvGraphicFramePr>
            <a:graphicFrameLocks noChangeAspect="1"/>
          </p:cNvGraphicFramePr>
          <p:nvPr/>
        </p:nvGraphicFramePr>
        <p:xfrm>
          <a:off x="179388" y="1052513"/>
          <a:ext cx="3970337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5" name="Visio" r:id="rId3" imgW="2014109" imgH="1137826" progId="Visio.Drawing.11">
                  <p:embed/>
                </p:oleObj>
              </mc:Choice>
              <mc:Fallback>
                <p:oleObj name="Visio" r:id="rId3" imgW="2014109" imgH="1137826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052513"/>
                        <a:ext cx="3970337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50825" y="3644900"/>
          <a:ext cx="122555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6" name="Equation" r:id="rId5" imgW="571252" imgH="165028" progId="Equation.DSMT4">
                  <p:embed/>
                </p:oleObj>
              </mc:Choice>
              <mc:Fallback>
                <p:oleObj name="Equation" r:id="rId5" imgW="571252" imgH="16502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644900"/>
                        <a:ext cx="1225550" cy="354013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rgbClr val="FF9900"/>
                        </a:solidFill>
                        <a:prstDash val="solid"/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17"/>
          <p:cNvGraphicFramePr>
            <a:graphicFrameLocks noChangeAspect="1"/>
          </p:cNvGraphicFramePr>
          <p:nvPr/>
        </p:nvGraphicFramePr>
        <p:xfrm>
          <a:off x="250825" y="4365625"/>
          <a:ext cx="3186113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7" name="Equation" r:id="rId7" imgW="1612900" imgH="482600" progId="Equation.DSMT4">
                  <p:embed/>
                </p:oleObj>
              </mc:Choice>
              <mc:Fallback>
                <p:oleObj name="Equation" r:id="rId7" imgW="1612900" imgH="482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365625"/>
                        <a:ext cx="3186113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4" name="Group 28"/>
          <p:cNvGrpSpPr>
            <a:grpSpLocks/>
          </p:cNvGrpSpPr>
          <p:nvPr/>
        </p:nvGrpSpPr>
        <p:grpSpPr bwMode="auto">
          <a:xfrm>
            <a:off x="4684713" y="1125538"/>
            <a:ext cx="4279900" cy="5399087"/>
            <a:chOff x="2737" y="845"/>
            <a:chExt cx="2651" cy="3279"/>
          </a:xfrm>
        </p:grpSpPr>
        <p:pic>
          <p:nvPicPr>
            <p:cNvPr id="14348" name="Picture 26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9" y="845"/>
              <a:ext cx="2586" cy="1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349" name="Picture 27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7" y="2502"/>
              <a:ext cx="2638" cy="16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14350" name="Object 22"/>
            <p:cNvGraphicFramePr>
              <a:graphicFrameLocks noChangeAspect="1"/>
            </p:cNvGraphicFramePr>
            <p:nvPr/>
          </p:nvGraphicFramePr>
          <p:xfrm>
            <a:off x="3016" y="845"/>
            <a:ext cx="317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18" name="Equation" r:id="rId11" imgW="393529" imgH="228501" progId="Equation.DSMT4">
                    <p:embed/>
                  </p:oleObj>
                </mc:Choice>
                <mc:Fallback>
                  <p:oleObj name="Equation" r:id="rId11" imgW="393529" imgH="228501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6" y="845"/>
                          <a:ext cx="317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1" name="Object 23"/>
            <p:cNvGraphicFramePr>
              <a:graphicFrameLocks noChangeAspect="1"/>
            </p:cNvGraphicFramePr>
            <p:nvPr/>
          </p:nvGraphicFramePr>
          <p:xfrm>
            <a:off x="5193" y="1616"/>
            <a:ext cx="195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19" name="Equation" r:id="rId13" imgW="241091" imgH="177646" progId="Equation.DSMT4">
                    <p:embed/>
                  </p:oleObj>
                </mc:Choice>
                <mc:Fallback>
                  <p:oleObj name="Equation" r:id="rId13" imgW="241091" imgH="177646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3" y="1616"/>
                          <a:ext cx="195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2" name="Object 24"/>
            <p:cNvGraphicFramePr>
              <a:graphicFrameLocks noChangeAspect="1"/>
            </p:cNvGraphicFramePr>
            <p:nvPr/>
          </p:nvGraphicFramePr>
          <p:xfrm>
            <a:off x="5096" y="3249"/>
            <a:ext cx="195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20" name="Equation" r:id="rId15" imgW="241091" imgH="177646" progId="Equation.DSMT4">
                    <p:embed/>
                  </p:oleObj>
                </mc:Choice>
                <mc:Fallback>
                  <p:oleObj name="Equation" r:id="rId15" imgW="241091" imgH="177646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6" y="3249"/>
                          <a:ext cx="195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3" name="Object 25"/>
            <p:cNvGraphicFramePr>
              <a:graphicFrameLocks noChangeAspect="1"/>
            </p:cNvGraphicFramePr>
            <p:nvPr/>
          </p:nvGraphicFramePr>
          <p:xfrm>
            <a:off x="3009" y="2523"/>
            <a:ext cx="298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21" name="Equation" r:id="rId16" imgW="368300" imgH="228600" progId="Equation.DSMT4">
                    <p:embed/>
                  </p:oleObj>
                </mc:Choice>
                <mc:Fallback>
                  <p:oleObj name="Equation" r:id="rId16" imgW="368300" imgH="2286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9" y="2523"/>
                          <a:ext cx="298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3069" name="Rectangle 29"/>
          <p:cNvSpPr>
            <a:spLocks noChangeArrowheads="1"/>
          </p:cNvSpPr>
          <p:nvPr/>
        </p:nvSpPr>
        <p:spPr bwMode="auto">
          <a:xfrm>
            <a:off x="1400175" y="3575050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负阻尼</a:t>
            </a:r>
          </a:p>
        </p:txBody>
      </p:sp>
      <p:sp>
        <p:nvSpPr>
          <p:cNvPr id="19" name="Rectangle 2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9.2 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二阶电路的零输入响应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20" name="Rectangle 26"/>
          <p:cNvSpPr>
            <a:spLocks noChangeArrowheads="1"/>
          </p:cNvSpPr>
          <p:nvPr/>
        </p:nvSpPr>
        <p:spPr bwMode="auto">
          <a:xfrm>
            <a:off x="323850" y="620713"/>
            <a:ext cx="8208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                ——</a:t>
            </a:r>
            <a:r>
              <a:rPr lang="zh-CN" altLang="en-US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暂态分量的变化规律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RLC</a:t>
            </a:r>
            <a:r>
              <a:rPr lang="zh-CN" altLang="en-US" dirty="0" smtClean="0"/>
              <a:t>并联电路（自学</a:t>
            </a:r>
            <a:r>
              <a:rPr lang="en-US" altLang="zh-CN" dirty="0" smtClean="0"/>
              <a:t>+MOOC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76482C-E735-4D1D-9F1D-41817300A2B6}" type="datetime1">
              <a:rPr lang="zh-CN" altLang="en-US" smtClean="0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A89C52-E14C-4804-8BBE-D047E41AB150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9" y="1412776"/>
            <a:ext cx="8897423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9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ChangeArrowheads="1"/>
          </p:cNvSpPr>
          <p:nvPr/>
        </p:nvSpPr>
        <p:spPr bwMode="auto">
          <a:xfrm>
            <a:off x="3134458" y="2941027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6645" name="Rectangle 5"/>
          <p:cNvSpPr>
            <a:spLocks noChangeArrowheads="1"/>
          </p:cNvSpPr>
          <p:nvPr/>
        </p:nvSpPr>
        <p:spPr bwMode="auto">
          <a:xfrm>
            <a:off x="-36512" y="877034"/>
            <a:ext cx="8508023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2585" dirty="0">
                <a:latin typeface="隶书" panose="02010509060101010101" pitchFamily="49" charset="-122"/>
              </a:rPr>
              <a:t>    </a:t>
            </a:r>
            <a:r>
              <a:rPr lang="zh-CN" altLang="en-US" sz="2585" dirty="0" smtClean="0">
                <a:latin typeface="隶书" panose="02010509060101010101" pitchFamily="49" charset="-122"/>
              </a:rPr>
              <a:t>以阶跃响应为</a:t>
            </a:r>
            <a:r>
              <a:rPr lang="zh-CN" altLang="en-US" sz="2585" dirty="0">
                <a:latin typeface="隶书" panose="02010509060101010101" pitchFamily="49" charset="-122"/>
              </a:rPr>
              <a:t>例来分析二阶</a:t>
            </a:r>
            <a:r>
              <a:rPr lang="en-US" altLang="zh-CN" sz="2585" i="1" dirty="0">
                <a:latin typeface="隶书" panose="02010509060101010101" pitchFamily="49" charset="-122"/>
              </a:rPr>
              <a:t>RLC</a:t>
            </a:r>
            <a:r>
              <a:rPr lang="zh-CN" altLang="en-US" sz="2585" dirty="0">
                <a:latin typeface="隶书" panose="02010509060101010101" pitchFamily="49" charset="-122"/>
              </a:rPr>
              <a:t>电路的零状态响应</a:t>
            </a:r>
            <a:r>
              <a:rPr lang="zh-CN" altLang="en-US" dirty="0">
                <a:latin typeface="隶书" panose="02010509060101010101" pitchFamily="49" charset="-122"/>
              </a:rPr>
              <a:t>。</a:t>
            </a:r>
            <a:r>
              <a:rPr lang="en-US" altLang="zh-CN" sz="2585" dirty="0">
                <a:latin typeface="隶书" panose="02010509060101010101" pitchFamily="49" charset="-122"/>
              </a:rPr>
              <a:t> </a:t>
            </a:r>
          </a:p>
        </p:txBody>
      </p:sp>
      <p:sp>
        <p:nvSpPr>
          <p:cNvPr id="496646" name="Rectangle 6"/>
          <p:cNvSpPr>
            <a:spLocks noChangeArrowheads="1"/>
          </p:cNvSpPr>
          <p:nvPr/>
        </p:nvSpPr>
        <p:spPr bwMode="auto">
          <a:xfrm>
            <a:off x="334239" y="1632404"/>
            <a:ext cx="40318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zh-CN" altLang="en-US" sz="2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一、</a:t>
            </a:r>
            <a:r>
              <a:rPr lang="en-US" altLang="zh-CN" sz="2400" i="1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RLC</a:t>
            </a:r>
            <a:r>
              <a:rPr lang="zh-CN" altLang="en-US" sz="2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串联电路</a:t>
            </a:r>
            <a:r>
              <a:rPr lang="zh-CN" altLang="en-US" sz="2400" dirty="0" smtClean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的阶跃响应</a:t>
            </a:r>
            <a:endParaRPr lang="zh-CN" altLang="en-US" sz="2400" dirty="0">
              <a:solidFill>
                <a:srgbClr val="99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96648" name="Rectangle 8"/>
          <p:cNvSpPr>
            <a:spLocks noChangeArrowheads="1"/>
          </p:cNvSpPr>
          <p:nvPr/>
        </p:nvSpPr>
        <p:spPr bwMode="auto">
          <a:xfrm>
            <a:off x="0" y="289703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966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93602"/>
              </p:ext>
            </p:extLst>
          </p:nvPr>
        </p:nvGraphicFramePr>
        <p:xfrm>
          <a:off x="5652120" y="1956288"/>
          <a:ext cx="3124200" cy="1279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2" name="Visio" r:id="rId4" imgW="1828800" imgH="747797" progId="Visio.Drawing.11">
                  <p:embed/>
                </p:oleObj>
              </mc:Choice>
              <mc:Fallback>
                <p:oleObj name="Visio" r:id="rId4" imgW="1828800" imgH="747797" progId="Visio.Drawing.11">
                  <p:embed/>
                  <p:pic>
                    <p:nvPicPr>
                      <p:cNvPr id="4966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1956288"/>
                        <a:ext cx="3124200" cy="12792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49" name="Rectangle 9"/>
          <p:cNvSpPr>
            <a:spLocks noChangeArrowheads="1"/>
          </p:cNvSpPr>
          <p:nvPr/>
        </p:nvSpPr>
        <p:spPr bwMode="auto">
          <a:xfrm>
            <a:off x="334239" y="2164338"/>
            <a:ext cx="51235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根据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KVL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和支路电压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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电流关系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可得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496651" name="Rectangle 11"/>
          <p:cNvSpPr>
            <a:spLocks noChangeArrowheads="1"/>
          </p:cNvSpPr>
          <p:nvPr/>
        </p:nvSpPr>
        <p:spPr bwMode="auto">
          <a:xfrm>
            <a:off x="0" y="305090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966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186923"/>
              </p:ext>
            </p:extLst>
          </p:nvPr>
        </p:nvGraphicFramePr>
        <p:xfrm>
          <a:off x="750888" y="2752725"/>
          <a:ext cx="415448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3" name="Equation" r:id="rId6" imgW="1803240" imgH="419040" progId="Equation.DSMT4">
                  <p:embed/>
                </p:oleObj>
              </mc:Choice>
              <mc:Fallback>
                <p:oleObj name="Equation" r:id="rId6" imgW="1803240" imgH="419040" progId="Equation.DSMT4">
                  <p:embed/>
                  <p:pic>
                    <p:nvPicPr>
                      <p:cNvPr id="49665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2752725"/>
                        <a:ext cx="4154487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52" name="Rectangle 12"/>
          <p:cNvSpPr>
            <a:spLocks noChangeArrowheads="1"/>
          </p:cNvSpPr>
          <p:nvPr/>
        </p:nvSpPr>
        <p:spPr bwMode="auto">
          <a:xfrm>
            <a:off x="600939" y="3826084"/>
            <a:ext cx="46474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二阶常系数线性非齐次微分方程 </a:t>
            </a:r>
          </a:p>
        </p:txBody>
      </p:sp>
      <p:grpSp>
        <p:nvGrpSpPr>
          <p:cNvPr id="496657" name="Group 17"/>
          <p:cNvGrpSpPr>
            <a:grpSpLocks/>
          </p:cNvGrpSpPr>
          <p:nvPr/>
        </p:nvGrpSpPr>
        <p:grpSpPr bwMode="auto">
          <a:xfrm>
            <a:off x="600939" y="4581128"/>
            <a:ext cx="4078166" cy="1122485"/>
            <a:chOff x="580" y="3299"/>
            <a:chExt cx="2783" cy="766"/>
          </a:xfrm>
        </p:grpSpPr>
        <p:sp>
          <p:nvSpPr>
            <p:cNvPr id="496653" name="Rectangle 13"/>
            <p:cNvSpPr>
              <a:spLocks noChangeArrowheads="1"/>
            </p:cNvSpPr>
            <p:nvPr/>
          </p:nvSpPr>
          <p:spPr bwMode="auto">
            <a:xfrm>
              <a:off x="580" y="3299"/>
              <a:ext cx="2772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zh-CN" altLang="en-US" sz="2400" dirty="0">
                  <a:ea typeface="楷体_GB2312" pitchFamily="49" charset="-122"/>
                </a:rPr>
                <a:t>初始条件为</a:t>
              </a:r>
              <a:r>
                <a:rPr lang="en-US" altLang="zh-CN" sz="2400" i="1" dirty="0">
                  <a:ea typeface="楷体_GB2312" pitchFamily="49" charset="-122"/>
                </a:rPr>
                <a:t>:  </a:t>
              </a:r>
              <a:r>
                <a:rPr lang="en-US" altLang="zh-CN" sz="2400" i="1" dirty="0" err="1">
                  <a:ea typeface="楷体_GB2312" pitchFamily="49" charset="-122"/>
                </a:rPr>
                <a:t>u</a:t>
              </a:r>
              <a:r>
                <a:rPr lang="en-US" altLang="zh-CN" sz="2400" i="1" baseline="-25000" dirty="0" err="1">
                  <a:ea typeface="楷体_GB2312" pitchFamily="49" charset="-122"/>
                </a:rPr>
                <a:t>C</a:t>
              </a:r>
              <a:r>
                <a:rPr lang="en-US" altLang="zh-CN" sz="2400" dirty="0">
                  <a:ea typeface="楷体_GB2312" pitchFamily="49" charset="-122"/>
                </a:rPr>
                <a:t>(0</a:t>
              </a:r>
              <a:r>
                <a:rPr lang="en-US" altLang="zh-CN" sz="2400" i="1" baseline="-25000" dirty="0">
                  <a:ea typeface="楷体_GB2312" pitchFamily="49" charset="-122"/>
                </a:rPr>
                <a:t>+</a:t>
              </a:r>
              <a:r>
                <a:rPr lang="en-US" altLang="zh-CN" sz="2400" dirty="0">
                  <a:ea typeface="楷体_GB2312" pitchFamily="49" charset="-122"/>
                </a:rPr>
                <a:t>)=</a:t>
              </a:r>
              <a:r>
                <a:rPr lang="en-US" altLang="zh-CN" sz="2400" i="1" dirty="0" err="1">
                  <a:ea typeface="楷体_GB2312" pitchFamily="49" charset="-122"/>
                </a:rPr>
                <a:t>u</a:t>
              </a:r>
              <a:r>
                <a:rPr lang="en-US" altLang="zh-CN" sz="2400" i="1" baseline="-25000" dirty="0" err="1">
                  <a:ea typeface="楷体_GB2312" pitchFamily="49" charset="-122"/>
                </a:rPr>
                <a:t>C</a:t>
              </a:r>
              <a:r>
                <a:rPr lang="en-US" altLang="zh-CN" sz="2400" dirty="0">
                  <a:ea typeface="楷体_GB2312" pitchFamily="49" charset="-122"/>
                </a:rPr>
                <a:t>(0</a:t>
              </a:r>
              <a:r>
                <a:rPr lang="en-US" altLang="zh-CN" sz="2400" i="1" baseline="-25000" dirty="0">
                  <a:ea typeface="楷体_GB2312" pitchFamily="49" charset="-122"/>
                </a:rPr>
                <a:t>-</a:t>
              </a:r>
              <a:r>
                <a:rPr lang="en-US" altLang="zh-CN" sz="2400" dirty="0">
                  <a:ea typeface="楷体_GB2312" pitchFamily="49" charset="-122"/>
                </a:rPr>
                <a:t>)=0 </a:t>
              </a:r>
            </a:p>
          </p:txBody>
        </p:sp>
        <p:sp>
          <p:nvSpPr>
            <p:cNvPr id="496656" name="Rectangle 16"/>
            <p:cNvSpPr>
              <a:spLocks noChangeArrowheads="1"/>
            </p:cNvSpPr>
            <p:nvPr/>
          </p:nvSpPr>
          <p:spPr bwMode="auto">
            <a:xfrm>
              <a:off x="1941" y="3750"/>
              <a:ext cx="1422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i="1"/>
                <a:t>i</a:t>
              </a:r>
              <a:r>
                <a:rPr lang="en-US" altLang="zh-CN" sz="2400" i="1" baseline="-25000"/>
                <a:t>L</a:t>
              </a:r>
              <a:r>
                <a:rPr lang="en-US" altLang="zh-CN" sz="2400"/>
                <a:t>(0</a:t>
              </a:r>
              <a:r>
                <a:rPr lang="en-US" altLang="zh-CN" sz="2400" i="1" baseline="-25000"/>
                <a:t>+</a:t>
              </a:r>
              <a:r>
                <a:rPr lang="en-US" altLang="zh-CN" sz="2400"/>
                <a:t>)=</a:t>
              </a:r>
              <a:r>
                <a:rPr lang="en-US" altLang="zh-CN" sz="2400" i="1"/>
                <a:t>i</a:t>
              </a:r>
              <a:r>
                <a:rPr lang="en-US" altLang="zh-CN" sz="2400" i="1" baseline="-25000"/>
                <a:t>L</a:t>
              </a:r>
              <a:r>
                <a:rPr lang="en-US" altLang="zh-CN" sz="2400"/>
                <a:t>(0</a:t>
              </a:r>
              <a:r>
                <a:rPr lang="en-US" altLang="zh-CN" sz="2400" i="1" baseline="-25000"/>
                <a:t>-</a:t>
              </a:r>
              <a:r>
                <a:rPr lang="en-US" altLang="zh-CN" sz="2400"/>
                <a:t>)=0 </a:t>
              </a:r>
            </a:p>
          </p:txBody>
        </p:sp>
      </p:grpSp>
      <p:sp>
        <p:nvSpPr>
          <p:cNvPr id="16" name="Rectangle 25"/>
          <p:cNvSpPr>
            <a:spLocks noGrp="1" noChangeArrowheads="1"/>
          </p:cNvSpPr>
          <p:nvPr>
            <p:ph type="title"/>
          </p:nvPr>
        </p:nvSpPr>
        <p:spPr>
          <a:xfrm>
            <a:off x="381000" y="188913"/>
            <a:ext cx="8458200" cy="4572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9.3 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二阶电路的零状态响应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graphicFrame>
        <p:nvGraphicFramePr>
          <p:cNvPr id="1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669375"/>
              </p:ext>
            </p:extLst>
          </p:nvPr>
        </p:nvGraphicFramePr>
        <p:xfrm>
          <a:off x="6504462" y="3310359"/>
          <a:ext cx="166687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4" name="Equation" r:id="rId8" imgW="723600" imgH="228600" progId="Equation.DSMT4">
                  <p:embed/>
                </p:oleObj>
              </mc:Choice>
              <mc:Fallback>
                <p:oleObj name="Equation" r:id="rId8" imgW="723600" imgH="228600" progId="Equation.DSMT4">
                  <p:embed/>
                  <p:pic>
                    <p:nvPicPr>
                      <p:cNvPr id="49665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4462" y="3310359"/>
                        <a:ext cx="1666875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920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6" grpId="0"/>
      <p:bldP spid="496649" grpId="0"/>
      <p:bldP spid="49665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4" name="Rectangle 6"/>
          <p:cNvSpPr>
            <a:spLocks noChangeArrowheads="1"/>
          </p:cNvSpPr>
          <p:nvPr/>
        </p:nvSpPr>
        <p:spPr bwMode="auto">
          <a:xfrm>
            <a:off x="0" y="313443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498705" name="Group 17"/>
          <p:cNvGrpSpPr>
            <a:grpSpLocks/>
          </p:cNvGrpSpPr>
          <p:nvPr/>
        </p:nvGrpSpPr>
        <p:grpSpPr bwMode="auto">
          <a:xfrm>
            <a:off x="983274" y="826478"/>
            <a:ext cx="4585188" cy="581758"/>
            <a:chOff x="671" y="384"/>
            <a:chExt cx="3129" cy="397"/>
          </a:xfrm>
        </p:grpSpPr>
        <p:sp>
          <p:nvSpPr>
            <p:cNvPr id="498692" name="Rectangle 4"/>
            <p:cNvSpPr>
              <a:spLocks noChangeArrowheads="1"/>
            </p:cNvSpPr>
            <p:nvPr/>
          </p:nvSpPr>
          <p:spPr bwMode="auto">
            <a:xfrm>
              <a:off x="671" y="384"/>
              <a:ext cx="1371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zh-CN" altLang="en-US" sz="2585">
                  <a:latin typeface="楷体_GB2312" pitchFamily="49" charset="-122"/>
                  <a:ea typeface="楷体_GB2312" pitchFamily="49" charset="-122"/>
                </a:rPr>
                <a:t>方程的解为 </a:t>
              </a:r>
            </a:p>
          </p:txBody>
        </p:sp>
        <p:graphicFrame>
          <p:nvGraphicFramePr>
            <p:cNvPr id="498693" name="Object 5"/>
            <p:cNvGraphicFramePr>
              <a:graphicFrameLocks noChangeAspect="1"/>
            </p:cNvGraphicFramePr>
            <p:nvPr/>
          </p:nvGraphicFramePr>
          <p:xfrm>
            <a:off x="2349" y="391"/>
            <a:ext cx="1451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50" r:id="rId4" imgW="888614" imgH="241195" progId="Equation.DSMT4">
                    <p:embed/>
                  </p:oleObj>
                </mc:Choice>
                <mc:Fallback>
                  <p:oleObj r:id="rId4" imgW="888614" imgH="241195" progId="Equation.DSMT4">
                    <p:embed/>
                    <p:pic>
                      <p:nvPicPr>
                        <p:cNvPr id="49869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9" y="391"/>
                          <a:ext cx="1451" cy="3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8706" name="Group 18"/>
          <p:cNvGrpSpPr>
            <a:grpSpLocks/>
          </p:cNvGrpSpPr>
          <p:nvPr/>
        </p:nvGrpSpPr>
        <p:grpSpPr bwMode="auto">
          <a:xfrm>
            <a:off x="1049216" y="1506415"/>
            <a:ext cx="5052646" cy="540726"/>
            <a:chOff x="716" y="848"/>
            <a:chExt cx="3448" cy="369"/>
          </a:xfrm>
        </p:grpSpPr>
        <p:sp>
          <p:nvSpPr>
            <p:cNvPr id="498695" name="Rectangle 7"/>
            <p:cNvSpPr>
              <a:spLocks noChangeArrowheads="1"/>
            </p:cNvSpPr>
            <p:nvPr/>
          </p:nvSpPr>
          <p:spPr bwMode="auto">
            <a:xfrm>
              <a:off x="716" y="883"/>
              <a:ext cx="114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zh-CN" altLang="en-US" sz="2585">
                  <a:latin typeface="楷体_GB2312" pitchFamily="49" charset="-122"/>
                  <a:ea typeface="楷体_GB2312" pitchFamily="49" charset="-122"/>
                </a:rPr>
                <a:t>齐次解为 </a:t>
              </a:r>
            </a:p>
          </p:txBody>
        </p:sp>
        <p:graphicFrame>
          <p:nvGraphicFramePr>
            <p:cNvPr id="49869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0805293"/>
                </p:ext>
              </p:extLst>
            </p:nvPr>
          </p:nvGraphicFramePr>
          <p:xfrm>
            <a:off x="2349" y="848"/>
            <a:ext cx="1815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51" r:id="rId6" imgW="1193800" imgH="241300" progId="Equation.DSMT4">
                    <p:embed/>
                  </p:oleObj>
                </mc:Choice>
                <mc:Fallback>
                  <p:oleObj r:id="rId6" imgW="1193800" imgH="241300" progId="Equation.DSMT4">
                    <p:embed/>
                    <p:pic>
                      <p:nvPicPr>
                        <p:cNvPr id="49869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9" y="848"/>
                          <a:ext cx="1815" cy="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8700" name="Rectangle 12"/>
          <p:cNvSpPr>
            <a:spLocks noChangeArrowheads="1"/>
          </p:cNvSpPr>
          <p:nvPr/>
        </p:nvSpPr>
        <p:spPr bwMode="auto">
          <a:xfrm>
            <a:off x="0" y="315201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498707" name="Group 19"/>
          <p:cNvGrpSpPr>
            <a:grpSpLocks/>
          </p:cNvGrpSpPr>
          <p:nvPr/>
        </p:nvGrpSpPr>
        <p:grpSpPr bwMode="auto">
          <a:xfrm>
            <a:off x="1115158" y="2149717"/>
            <a:ext cx="5294435" cy="517280"/>
            <a:chOff x="761" y="1287"/>
            <a:chExt cx="3613" cy="353"/>
          </a:xfrm>
        </p:grpSpPr>
        <p:sp>
          <p:nvSpPr>
            <p:cNvPr id="498698" name="Rectangle 10"/>
            <p:cNvSpPr>
              <a:spLocks noChangeArrowheads="1"/>
            </p:cNvSpPr>
            <p:nvPr/>
          </p:nvSpPr>
          <p:spPr bwMode="auto">
            <a:xfrm>
              <a:off x="761" y="1294"/>
              <a:ext cx="114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zh-CN" altLang="en-US" sz="2585">
                  <a:latin typeface="楷体_GB2312" pitchFamily="49" charset="-122"/>
                  <a:ea typeface="楷体_GB2312" pitchFamily="49" charset="-122"/>
                </a:rPr>
                <a:t>特征方程 </a:t>
              </a:r>
            </a:p>
          </p:txBody>
        </p:sp>
        <p:graphicFrame>
          <p:nvGraphicFramePr>
            <p:cNvPr id="498699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2707829"/>
                </p:ext>
              </p:extLst>
            </p:nvPr>
          </p:nvGraphicFramePr>
          <p:xfrm>
            <a:off x="2285" y="1287"/>
            <a:ext cx="2089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52" name="Equation" r:id="rId8" imgW="1180800" imgH="203040" progId="Equation.DSMT4">
                    <p:embed/>
                  </p:oleObj>
                </mc:Choice>
                <mc:Fallback>
                  <p:oleObj name="Equation" r:id="rId8" imgW="1180800" imgH="203040" progId="Equation.DSMT4">
                    <p:embed/>
                    <p:pic>
                      <p:nvPicPr>
                        <p:cNvPr id="498699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5" y="1287"/>
                          <a:ext cx="2089" cy="3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8708" name="Group 20"/>
          <p:cNvGrpSpPr>
            <a:grpSpLocks/>
          </p:cNvGrpSpPr>
          <p:nvPr/>
        </p:nvGrpSpPr>
        <p:grpSpPr bwMode="auto">
          <a:xfrm>
            <a:off x="983274" y="2831124"/>
            <a:ext cx="5780942" cy="1282212"/>
            <a:chOff x="671" y="1752"/>
            <a:chExt cx="3945" cy="875"/>
          </a:xfrm>
        </p:grpSpPr>
        <p:sp>
          <p:nvSpPr>
            <p:cNvPr id="498701" name="Rectangle 13"/>
            <p:cNvSpPr>
              <a:spLocks noChangeArrowheads="1"/>
            </p:cNvSpPr>
            <p:nvPr/>
          </p:nvSpPr>
          <p:spPr bwMode="auto">
            <a:xfrm>
              <a:off x="671" y="1838"/>
              <a:ext cx="2049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zh-CN" altLang="en-US" sz="2585">
                  <a:latin typeface="楷体_GB2312" pitchFamily="49" charset="-122"/>
                  <a:ea typeface="楷体_GB2312" pitchFamily="49" charset="-122"/>
                </a:rPr>
                <a:t>特征根</a:t>
              </a:r>
              <a:r>
                <a:rPr lang="en-US" altLang="zh-CN" sz="2585"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zh-CN" altLang="en-US" sz="2585">
                  <a:latin typeface="楷体_GB2312" pitchFamily="49" charset="-122"/>
                  <a:ea typeface="楷体_GB2312" pitchFamily="49" charset="-122"/>
                </a:rPr>
                <a:t>固有频率</a:t>
              </a:r>
              <a:r>
                <a:rPr lang="en-US" altLang="zh-CN" sz="2585">
                  <a:latin typeface="楷体_GB2312" pitchFamily="49" charset="-122"/>
                  <a:ea typeface="楷体_GB2312" pitchFamily="49" charset="-122"/>
                </a:rPr>
                <a:t>) </a:t>
              </a:r>
            </a:p>
          </p:txBody>
        </p:sp>
        <p:graphicFrame>
          <p:nvGraphicFramePr>
            <p:cNvPr id="498702" name="Object 14"/>
            <p:cNvGraphicFramePr>
              <a:graphicFrameLocks noChangeAspect="1"/>
            </p:cNvGraphicFramePr>
            <p:nvPr/>
          </p:nvGraphicFramePr>
          <p:xfrm>
            <a:off x="2666" y="1752"/>
            <a:ext cx="1950" cy="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53" r:id="rId10" imgW="1295400" imgH="584200" progId="Equation.DSMT4">
                    <p:embed/>
                  </p:oleObj>
                </mc:Choice>
                <mc:Fallback>
                  <p:oleObj r:id="rId10" imgW="1295400" imgH="584200" progId="Equation.DSMT4">
                    <p:embed/>
                    <p:pic>
                      <p:nvPicPr>
                        <p:cNvPr id="498702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6" y="1752"/>
                          <a:ext cx="1950" cy="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8704" name="Rectangle 16"/>
          <p:cNvSpPr>
            <a:spLocks noChangeArrowheads="1"/>
          </p:cNvSpPr>
          <p:nvPr/>
        </p:nvSpPr>
        <p:spPr bwMode="auto">
          <a:xfrm>
            <a:off x="827584" y="4421069"/>
            <a:ext cx="74441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   与</a:t>
            </a:r>
            <a:r>
              <a:rPr lang="en-US" altLang="zh-CN" sz="2400" i="1" dirty="0" smtClean="0">
                <a:latin typeface="楷体_GB2312" pitchFamily="49" charset="-122"/>
                <a:ea typeface="楷体_GB2312" pitchFamily="49" charset="-122"/>
              </a:rPr>
              <a:t>RLC</a:t>
            </a:r>
            <a:r>
              <a:rPr lang="zh-CN" altLang="en-US" sz="2400" dirty="0" smtClean="0">
                <a:latin typeface="楷体_GB2312" pitchFamily="49" charset="-122"/>
                <a:ea typeface="楷体_GB2312" pitchFamily="49" charset="-122"/>
              </a:rPr>
              <a:t>串联电路零输入响应一样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i="1" dirty="0">
                <a:latin typeface="楷体_GB2312" pitchFamily="49" charset="-122"/>
                <a:ea typeface="楷体_GB2312" pitchFamily="49" charset="-122"/>
              </a:rPr>
              <a:t>RLC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串联电路的固有频率</a:t>
            </a:r>
            <a:r>
              <a:rPr lang="en-US" altLang="zh-CN" sz="2400" i="1" dirty="0"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400" i="1" dirty="0"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也可以是两个不相等的负实数，两个相等的负实数，一对共轭复数和一对共轭虚数。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414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70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40" name="Rectangle 4"/>
          <p:cNvSpPr>
            <a:spLocks noChangeArrowheads="1"/>
          </p:cNvSpPr>
          <p:nvPr/>
        </p:nvSpPr>
        <p:spPr bwMode="auto">
          <a:xfrm>
            <a:off x="517282" y="831259"/>
            <a:ext cx="460094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zh-CN" altLang="en-US" sz="2585" dirty="0" smtClean="0">
                <a:latin typeface="楷体_GB2312" pitchFamily="49" charset="-122"/>
                <a:ea typeface="楷体_GB2312" pitchFamily="49" charset="-122"/>
              </a:rPr>
              <a:t>阶</a:t>
            </a:r>
            <a:r>
              <a:rPr lang="zh-CN" altLang="en-US" sz="2585" dirty="0">
                <a:latin typeface="楷体_GB2312" pitchFamily="49" charset="-122"/>
                <a:ea typeface="楷体_GB2312" pitchFamily="49" charset="-122"/>
              </a:rPr>
              <a:t>跃激励下的稳态分量</a:t>
            </a:r>
            <a:r>
              <a:rPr lang="en-US" altLang="zh-CN" sz="2585" i="1" dirty="0" err="1" smtClean="0">
                <a:ea typeface="楷体_GB2312" pitchFamily="49" charset="-122"/>
              </a:rPr>
              <a:t>u</a:t>
            </a:r>
            <a:r>
              <a:rPr lang="en-US" altLang="zh-CN" sz="2585" i="1" baseline="-25000" dirty="0" err="1" smtClean="0">
                <a:ea typeface="楷体_GB2312" pitchFamily="49" charset="-122"/>
              </a:rPr>
              <a:t>Cp</a:t>
            </a:r>
            <a:r>
              <a:rPr lang="en-US" altLang="zh-CN" sz="2585" dirty="0" smtClean="0">
                <a:ea typeface="楷体_GB2312" pitchFamily="49" charset="-122"/>
              </a:rPr>
              <a:t>=U</a:t>
            </a:r>
            <a:r>
              <a:rPr lang="en-US" altLang="zh-CN" sz="2585" baseline="-25000" dirty="0" smtClean="0">
                <a:ea typeface="楷体_GB2312" pitchFamily="49" charset="-122"/>
              </a:rPr>
              <a:t>0</a:t>
            </a:r>
            <a:r>
              <a:rPr lang="en-US" altLang="zh-CN" sz="2585" dirty="0" smtClean="0">
                <a:ea typeface="楷体_GB2312" pitchFamily="49" charset="-122"/>
              </a:rPr>
              <a:t> </a:t>
            </a:r>
            <a:endParaRPr lang="en-US" altLang="zh-CN" sz="2585" dirty="0">
              <a:ea typeface="楷体_GB2312" pitchFamily="49" charset="-122"/>
            </a:endParaRPr>
          </a:p>
        </p:txBody>
      </p:sp>
      <p:graphicFrame>
        <p:nvGraphicFramePr>
          <p:cNvPr id="5007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131960"/>
              </p:ext>
            </p:extLst>
          </p:nvPr>
        </p:nvGraphicFramePr>
        <p:xfrm>
          <a:off x="1438275" y="1435100"/>
          <a:ext cx="533717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4" name="Equation" r:id="rId4" imgW="2133360" imgH="253800" progId="Equation.DSMT4">
                  <p:embed/>
                </p:oleObj>
              </mc:Choice>
              <mc:Fallback>
                <p:oleObj name="Equation" r:id="rId4" imgW="2133360" imgH="253800" progId="Equation.DSMT4">
                  <p:embed/>
                  <p:pic>
                    <p:nvPicPr>
                      <p:cNvPr id="5007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275" y="1435100"/>
                        <a:ext cx="5337175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0745" name="Rectangle 9"/>
          <p:cNvSpPr>
            <a:spLocks noChangeArrowheads="1"/>
          </p:cNvSpPr>
          <p:nvPr/>
        </p:nvSpPr>
        <p:spPr bwMode="auto">
          <a:xfrm>
            <a:off x="0" y="291462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00752" name="Group 16"/>
          <p:cNvGrpSpPr>
            <a:grpSpLocks/>
          </p:cNvGrpSpPr>
          <p:nvPr/>
        </p:nvGrpSpPr>
        <p:grpSpPr bwMode="auto">
          <a:xfrm>
            <a:off x="517281" y="2165838"/>
            <a:ext cx="6103327" cy="1359877"/>
            <a:chOff x="353" y="1298"/>
            <a:chExt cx="4165" cy="928"/>
          </a:xfrm>
        </p:grpSpPr>
        <p:sp>
          <p:nvSpPr>
            <p:cNvPr id="500743" name="Rectangle 7"/>
            <p:cNvSpPr>
              <a:spLocks noChangeArrowheads="1"/>
            </p:cNvSpPr>
            <p:nvPr/>
          </p:nvSpPr>
          <p:spPr bwMode="auto">
            <a:xfrm>
              <a:off x="353" y="1340"/>
              <a:ext cx="1936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zh-CN" altLang="en-US" sz="2585">
                  <a:latin typeface="楷体_GB2312" pitchFamily="49" charset="-122"/>
                  <a:ea typeface="楷体_GB2312" pitchFamily="49" charset="-122"/>
                </a:rPr>
                <a:t>根据初始条件</a:t>
              </a:r>
              <a:r>
                <a:rPr lang="en-US" altLang="zh-CN" sz="2585">
                  <a:latin typeface="楷体_GB2312" pitchFamily="49" charset="-122"/>
                  <a:ea typeface="楷体_GB2312" pitchFamily="49" charset="-122"/>
                </a:rPr>
                <a:t>,</a:t>
              </a:r>
              <a:r>
                <a:rPr lang="zh-CN" altLang="en-US" sz="2585">
                  <a:latin typeface="楷体_GB2312" pitchFamily="49" charset="-122"/>
                  <a:ea typeface="楷体_GB2312" pitchFamily="49" charset="-122"/>
                </a:rPr>
                <a:t>有 </a:t>
              </a:r>
            </a:p>
          </p:txBody>
        </p:sp>
        <p:graphicFrame>
          <p:nvGraphicFramePr>
            <p:cNvPr id="50074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7903077"/>
                </p:ext>
              </p:extLst>
            </p:nvPr>
          </p:nvGraphicFramePr>
          <p:xfrm>
            <a:off x="2175" y="1298"/>
            <a:ext cx="2343" cy="9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75" name="Equation" r:id="rId6" imgW="1803240" imgH="711000" progId="Equation.DSMT4">
                    <p:embed/>
                  </p:oleObj>
                </mc:Choice>
                <mc:Fallback>
                  <p:oleObj name="Equation" r:id="rId6" imgW="1803240" imgH="711000" progId="Equation.DSMT4">
                    <p:embed/>
                    <p:pic>
                      <p:nvPicPr>
                        <p:cNvPr id="500744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5" y="1298"/>
                          <a:ext cx="2343" cy="9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0747" name="Rectangle 11"/>
          <p:cNvSpPr>
            <a:spLocks noChangeArrowheads="1"/>
          </p:cNvSpPr>
          <p:nvPr/>
        </p:nvSpPr>
        <p:spPr bwMode="auto">
          <a:xfrm>
            <a:off x="0" y="304650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00753" name="Group 17"/>
          <p:cNvGrpSpPr>
            <a:grpSpLocks/>
          </p:cNvGrpSpPr>
          <p:nvPr/>
        </p:nvGrpSpPr>
        <p:grpSpPr bwMode="auto">
          <a:xfrm>
            <a:off x="1780443" y="3628294"/>
            <a:ext cx="4621823" cy="920262"/>
            <a:chOff x="1215" y="2296"/>
            <a:chExt cx="3154" cy="628"/>
          </a:xfrm>
        </p:grpSpPr>
        <p:graphicFrame>
          <p:nvGraphicFramePr>
            <p:cNvPr id="50074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7652896"/>
                </p:ext>
              </p:extLst>
            </p:nvPr>
          </p:nvGraphicFramePr>
          <p:xfrm>
            <a:off x="1601" y="2296"/>
            <a:ext cx="2768" cy="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76" name="Equation" r:id="rId8" imgW="1892160" imgH="431640" progId="Equation.DSMT4">
                    <p:embed/>
                  </p:oleObj>
                </mc:Choice>
                <mc:Fallback>
                  <p:oleObj name="Equation" r:id="rId8" imgW="1892160" imgH="431640" progId="Equation.DSMT4">
                    <p:embed/>
                    <p:pic>
                      <p:nvPicPr>
                        <p:cNvPr id="50074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1" y="2296"/>
                          <a:ext cx="2768" cy="6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0748" name="AutoShape 12"/>
            <p:cNvSpPr>
              <a:spLocks noChangeArrowheads="1"/>
            </p:cNvSpPr>
            <p:nvPr/>
          </p:nvSpPr>
          <p:spPr bwMode="auto">
            <a:xfrm>
              <a:off x="1215" y="2432"/>
              <a:ext cx="272" cy="227"/>
            </a:xfrm>
            <a:prstGeom prst="rightArrow">
              <a:avLst>
                <a:gd name="adj1" fmla="val 50000"/>
                <a:gd name="adj2" fmla="val 2995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0754" name="Group 18"/>
          <p:cNvGrpSpPr>
            <a:grpSpLocks/>
          </p:cNvGrpSpPr>
          <p:nvPr/>
        </p:nvGrpSpPr>
        <p:grpSpPr bwMode="auto">
          <a:xfrm>
            <a:off x="583223" y="4618894"/>
            <a:ext cx="6082812" cy="1541585"/>
            <a:chOff x="398" y="2972"/>
            <a:chExt cx="4151" cy="1052"/>
          </a:xfrm>
        </p:grpSpPr>
        <p:graphicFrame>
          <p:nvGraphicFramePr>
            <p:cNvPr id="500749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6496286"/>
                </p:ext>
              </p:extLst>
            </p:nvPr>
          </p:nvGraphicFramePr>
          <p:xfrm>
            <a:off x="1102" y="3294"/>
            <a:ext cx="3447" cy="7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77" name="Equation" r:id="rId10" imgW="2298600" imgH="482400" progId="Equation.DSMT4">
                    <p:embed/>
                  </p:oleObj>
                </mc:Choice>
                <mc:Fallback>
                  <p:oleObj name="Equation" r:id="rId10" imgW="2298600" imgH="482400" progId="Equation.DSMT4">
                    <p:embed/>
                    <p:pic>
                      <p:nvPicPr>
                        <p:cNvPr id="500749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2" y="3294"/>
                          <a:ext cx="3447" cy="7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0751" name="Rectangle 15"/>
            <p:cNvSpPr>
              <a:spLocks noChangeArrowheads="1"/>
            </p:cNvSpPr>
            <p:nvPr/>
          </p:nvSpPr>
          <p:spPr bwMode="auto">
            <a:xfrm>
              <a:off x="398" y="2972"/>
              <a:ext cx="1371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zh-CN" altLang="en-US" sz="2585">
                  <a:latin typeface="楷体_GB2312" pitchFamily="49" charset="-122"/>
                  <a:ea typeface="楷体_GB2312" pitchFamily="49" charset="-122"/>
                </a:rPr>
                <a:t>电容电压为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555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0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4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8" name="Rectangle 10"/>
          <p:cNvSpPr>
            <a:spLocks noChangeArrowheads="1"/>
          </p:cNvSpPr>
          <p:nvPr/>
        </p:nvSpPr>
        <p:spPr bwMode="auto">
          <a:xfrm>
            <a:off x="583223" y="831259"/>
            <a:ext cx="4826962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585" i="1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RLC</a:t>
            </a:r>
            <a:r>
              <a:rPr lang="zh-CN" altLang="en-US" sz="2585">
                <a:latin typeface="楷体_GB2312" pitchFamily="49" charset="-122"/>
                <a:ea typeface="楷体_GB2312" pitchFamily="49" charset="-122"/>
                <a:cs typeface="宋体" panose="02010600030101010101" pitchFamily="2" charset="-122"/>
              </a:rPr>
              <a:t>串联充电电路</a:t>
            </a:r>
            <a:r>
              <a:rPr lang="zh-CN" altLang="en-US" sz="2585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也可以区分为</a:t>
            </a:r>
            <a:r>
              <a:rPr lang="en-US" altLang="zh-CN" sz="2585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:</a:t>
            </a:r>
            <a:endParaRPr lang="en-US" altLang="zh-CN" sz="2585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29434" name="Group 26"/>
          <p:cNvGrpSpPr>
            <a:grpSpLocks/>
          </p:cNvGrpSpPr>
          <p:nvPr/>
        </p:nvGrpSpPr>
        <p:grpSpPr bwMode="auto">
          <a:xfrm>
            <a:off x="583223" y="1415561"/>
            <a:ext cx="6315808" cy="2497016"/>
            <a:chOff x="398" y="786"/>
            <a:chExt cx="4310" cy="1704"/>
          </a:xfrm>
        </p:grpSpPr>
        <p:graphicFrame>
          <p:nvGraphicFramePr>
            <p:cNvPr id="529417" name="Object 9"/>
            <p:cNvGraphicFramePr>
              <a:graphicFrameLocks noChangeAspect="1"/>
            </p:cNvGraphicFramePr>
            <p:nvPr/>
          </p:nvGraphicFramePr>
          <p:xfrm>
            <a:off x="1351" y="799"/>
            <a:ext cx="726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18" r:id="rId4" imgW="444307" imgH="228501" progId="Equation.DSMT4">
                    <p:embed/>
                  </p:oleObj>
                </mc:Choice>
                <mc:Fallback>
                  <p:oleObj r:id="rId4" imgW="444307" imgH="228501" progId="Equation.DSMT4">
                    <p:embed/>
                    <p:pic>
                      <p:nvPicPr>
                        <p:cNvPr id="52941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1" y="799"/>
                          <a:ext cx="726" cy="3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9416" name="Object 8"/>
            <p:cNvGraphicFramePr>
              <a:graphicFrameLocks noChangeAspect="1"/>
            </p:cNvGraphicFramePr>
            <p:nvPr/>
          </p:nvGraphicFramePr>
          <p:xfrm>
            <a:off x="3619" y="799"/>
            <a:ext cx="1089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19" r:id="rId6" imgW="787400" imgH="228600" progId="Equation.DSMT4">
                    <p:embed/>
                  </p:oleObj>
                </mc:Choice>
                <mc:Fallback>
                  <p:oleObj r:id="rId6" imgW="787400" imgH="228600" progId="Equation.DSMT4">
                    <p:embed/>
                    <p:pic>
                      <p:nvPicPr>
                        <p:cNvPr id="52941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9" y="799"/>
                          <a:ext cx="1089" cy="3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9415" name="Object 7"/>
            <p:cNvGraphicFramePr>
              <a:graphicFrameLocks noChangeAspect="1"/>
            </p:cNvGraphicFramePr>
            <p:nvPr/>
          </p:nvGraphicFramePr>
          <p:xfrm>
            <a:off x="1669" y="1253"/>
            <a:ext cx="635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20" r:id="rId8" imgW="444307" imgH="228501" progId="Equation.DSMT4">
                    <p:embed/>
                  </p:oleObj>
                </mc:Choice>
                <mc:Fallback>
                  <p:oleObj r:id="rId8" imgW="444307" imgH="228501" progId="Equation.DSMT4">
                    <p:embed/>
                    <p:pic>
                      <p:nvPicPr>
                        <p:cNvPr id="52941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9" y="1253"/>
                          <a:ext cx="635" cy="3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941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6514223"/>
                </p:ext>
              </p:extLst>
            </p:nvPr>
          </p:nvGraphicFramePr>
          <p:xfrm>
            <a:off x="3574" y="1238"/>
            <a:ext cx="113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21" r:id="rId10" imgW="787400" imgH="228600" progId="Equation.DSMT4">
                    <p:embed/>
                  </p:oleObj>
                </mc:Choice>
                <mc:Fallback>
                  <p:oleObj r:id="rId10" imgW="787400" imgH="228600" progId="Equation.DSMT4">
                    <p:embed/>
                    <p:pic>
                      <p:nvPicPr>
                        <p:cNvPr id="52941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4" y="1238"/>
                          <a:ext cx="1134" cy="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941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1753329"/>
                </p:ext>
              </p:extLst>
            </p:nvPr>
          </p:nvGraphicFramePr>
          <p:xfrm>
            <a:off x="1438" y="1707"/>
            <a:ext cx="680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22" r:id="rId12" imgW="444307" imgH="228501" progId="Equation.DSMT4">
                    <p:embed/>
                  </p:oleObj>
                </mc:Choice>
                <mc:Fallback>
                  <p:oleObj r:id="rId12" imgW="444307" imgH="228501" progId="Equation.DSMT4">
                    <p:embed/>
                    <p:pic>
                      <p:nvPicPr>
                        <p:cNvPr id="52941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8" y="1707"/>
                          <a:ext cx="680" cy="3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941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7228438"/>
                </p:ext>
              </p:extLst>
            </p:nvPr>
          </p:nvGraphicFramePr>
          <p:xfrm>
            <a:off x="3597" y="1713"/>
            <a:ext cx="1089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23" r:id="rId14" imgW="787400" imgH="228600" progId="Equation.DSMT4">
                    <p:embed/>
                  </p:oleObj>
                </mc:Choice>
                <mc:Fallback>
                  <p:oleObj r:id="rId14" imgW="787400" imgH="228600" progId="Equation.DSMT4">
                    <p:embed/>
                    <p:pic>
                      <p:nvPicPr>
                        <p:cNvPr id="52941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7" y="1713"/>
                          <a:ext cx="1089" cy="3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9420" name="Rectangle 12"/>
            <p:cNvSpPr>
              <a:spLocks noChangeArrowheads="1"/>
            </p:cNvSpPr>
            <p:nvPr/>
          </p:nvSpPr>
          <p:spPr bwMode="auto">
            <a:xfrm>
              <a:off x="398" y="1249"/>
              <a:ext cx="1257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585"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</a:rPr>
                <a:t>2.</a:t>
              </a:r>
              <a:r>
                <a:rPr lang="zh-CN" altLang="en-US" sz="2585"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</a:rPr>
                <a:t>临界阻尼</a:t>
              </a:r>
            </a:p>
          </p:txBody>
        </p:sp>
        <p:sp>
          <p:nvSpPr>
            <p:cNvPr id="529422" name="Rectangle 14"/>
            <p:cNvSpPr>
              <a:spLocks noChangeArrowheads="1"/>
            </p:cNvSpPr>
            <p:nvPr/>
          </p:nvSpPr>
          <p:spPr bwMode="auto">
            <a:xfrm>
              <a:off x="398" y="1702"/>
              <a:ext cx="1031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585"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</a:rPr>
                <a:t>3.</a:t>
              </a:r>
              <a:r>
                <a:rPr lang="zh-CN" altLang="en-US" sz="2585"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</a:rPr>
                <a:t>欠阻尼</a:t>
              </a:r>
            </a:p>
          </p:txBody>
        </p:sp>
        <p:sp>
          <p:nvSpPr>
            <p:cNvPr id="529424" name="Rectangle 16"/>
            <p:cNvSpPr>
              <a:spLocks noChangeArrowheads="1"/>
            </p:cNvSpPr>
            <p:nvPr/>
          </p:nvSpPr>
          <p:spPr bwMode="auto">
            <a:xfrm>
              <a:off x="398" y="2156"/>
              <a:ext cx="2341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585" dirty="0"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</a:rPr>
                <a:t>4.</a:t>
              </a:r>
              <a:r>
                <a:rPr lang="zh-CN" altLang="en-US" sz="2585" dirty="0"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</a:rPr>
                <a:t>无阻尼</a:t>
              </a:r>
              <a:r>
                <a:rPr lang="zh-CN" altLang="en-US" sz="2585" i="1" dirty="0"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585" dirty="0"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</a:rPr>
                <a:t>=</a:t>
              </a:r>
              <a:r>
                <a:rPr lang="en-US" altLang="zh-CN" sz="2585" dirty="0" smtClean="0"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</a:rPr>
                <a:t>0 (</a:t>
              </a:r>
              <a:r>
                <a:rPr lang="zh-CN" altLang="en-US" sz="2585" dirty="0"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585" i="1" dirty="0"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r>
                <a:rPr lang="en-US" altLang="zh-CN" sz="2585" dirty="0"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=0</a:t>
              </a:r>
              <a:r>
                <a:rPr lang="en-US" altLang="zh-CN" sz="2585" dirty="0"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lang="zh-CN" altLang="en-US" sz="2585" i="1" dirty="0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29425" name="Rectangle 17"/>
            <p:cNvSpPr>
              <a:spLocks noChangeArrowheads="1"/>
            </p:cNvSpPr>
            <p:nvPr/>
          </p:nvSpPr>
          <p:spPr bwMode="auto">
            <a:xfrm>
              <a:off x="398" y="786"/>
              <a:ext cx="1031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585">
                  <a:latin typeface="楷体_GB2312" pitchFamily="49" charset="-122"/>
                  <a:ea typeface="楷体_GB2312" pitchFamily="49" charset="-122"/>
                </a:rPr>
                <a:t>1.</a:t>
              </a:r>
              <a:r>
                <a:rPr lang="zh-CN" altLang="en-US" sz="2585">
                  <a:ea typeface="楷体_GB2312" pitchFamily="49" charset="-122"/>
                </a:rPr>
                <a:t>过阻尼</a:t>
              </a:r>
            </a:p>
          </p:txBody>
        </p:sp>
        <p:sp>
          <p:nvSpPr>
            <p:cNvPr id="529426" name="Rectangle 18"/>
            <p:cNvSpPr>
              <a:spLocks noChangeArrowheads="1"/>
            </p:cNvSpPr>
            <p:nvPr/>
          </p:nvSpPr>
          <p:spPr bwMode="auto">
            <a:xfrm>
              <a:off x="2167" y="795"/>
              <a:ext cx="1597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zh-CN" altLang="en-US" sz="2585">
                  <a:latin typeface="楷体_GB2312" pitchFamily="49" charset="-122"/>
                  <a:ea typeface="楷体_GB2312" pitchFamily="49" charset="-122"/>
                </a:rPr>
                <a:t>电路参数满足 </a:t>
              </a:r>
            </a:p>
          </p:txBody>
        </p:sp>
      </p:grpSp>
      <p:sp>
        <p:nvSpPr>
          <p:cNvPr id="529429" name="Rectangle 21"/>
          <p:cNvSpPr>
            <a:spLocks noChangeArrowheads="1"/>
          </p:cNvSpPr>
          <p:nvPr/>
        </p:nvSpPr>
        <p:spPr bwMode="auto">
          <a:xfrm>
            <a:off x="184639" y="3955459"/>
            <a:ext cx="8148384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zh-CN" altLang="en-US" sz="2585">
                <a:ea typeface="楷体_GB2312" pitchFamily="49" charset="-122"/>
              </a:rPr>
              <a:t>下面仅讨论过阻尼和欠阻尼两种不同情况的阶跃响应。</a:t>
            </a:r>
          </a:p>
        </p:txBody>
      </p:sp>
      <p:sp>
        <p:nvSpPr>
          <p:cNvPr id="529433" name="Rectangle 25"/>
          <p:cNvSpPr>
            <a:spLocks noChangeArrowheads="1"/>
          </p:cNvSpPr>
          <p:nvPr/>
        </p:nvSpPr>
        <p:spPr bwMode="auto">
          <a:xfrm>
            <a:off x="0" y="304650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81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4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61" name="Rectangle 5"/>
          <p:cNvSpPr>
            <a:spLocks noChangeArrowheads="1"/>
          </p:cNvSpPr>
          <p:nvPr/>
        </p:nvSpPr>
        <p:spPr bwMode="auto">
          <a:xfrm>
            <a:off x="0" y="265964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314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234361"/>
              </p:ext>
            </p:extLst>
          </p:nvPr>
        </p:nvGraphicFramePr>
        <p:xfrm>
          <a:off x="-612576" y="4293096"/>
          <a:ext cx="6769099" cy="2376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2" name="Visio" r:id="rId4" imgW="3600544" imgH="1257431" progId="Visio.Drawing.11">
                  <p:embed/>
                </p:oleObj>
              </mc:Choice>
              <mc:Fallback>
                <p:oleObj name="Visio" r:id="rId4" imgW="3600544" imgH="1257431" progId="Visio.Drawing.11">
                  <p:embed/>
                  <p:pic>
                    <p:nvPicPr>
                      <p:cNvPr id="5314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12576" y="4293096"/>
                        <a:ext cx="6769099" cy="237626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1464" name="Rectangle 8"/>
          <p:cNvSpPr>
            <a:spLocks noChangeArrowheads="1"/>
          </p:cNvSpPr>
          <p:nvPr/>
        </p:nvSpPr>
        <p:spPr bwMode="auto">
          <a:xfrm>
            <a:off x="0" y="315201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31468" name="Group 12"/>
          <p:cNvGrpSpPr>
            <a:grpSpLocks/>
          </p:cNvGrpSpPr>
          <p:nvPr/>
        </p:nvGrpSpPr>
        <p:grpSpPr bwMode="auto">
          <a:xfrm>
            <a:off x="899592" y="2468064"/>
            <a:ext cx="7112977" cy="572965"/>
            <a:chOff x="353" y="1661"/>
            <a:chExt cx="4854" cy="391"/>
          </a:xfrm>
        </p:grpSpPr>
        <p:sp>
          <p:nvSpPr>
            <p:cNvPr id="531462" name="Rectangle 6"/>
            <p:cNvSpPr>
              <a:spLocks noChangeArrowheads="1"/>
            </p:cNvSpPr>
            <p:nvPr/>
          </p:nvSpPr>
          <p:spPr bwMode="auto">
            <a:xfrm>
              <a:off x="353" y="1696"/>
              <a:ext cx="3538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lang="zh-CN" altLang="en-US" sz="2585">
                  <a:latin typeface="楷体_GB2312" pitchFamily="49" charset="-122"/>
                  <a:ea typeface="楷体_GB2312" pitchFamily="49" charset="-122"/>
                </a:rPr>
                <a:t>由于</a:t>
              </a:r>
              <a:r>
                <a:rPr lang="en-US" altLang="zh-CN" sz="2585" i="1">
                  <a:ea typeface="楷体_GB2312" pitchFamily="49" charset="-122"/>
                </a:rPr>
                <a:t>s</a:t>
              </a:r>
              <a:r>
                <a:rPr lang="en-US" altLang="zh-CN" sz="2585" baseline="-25000">
                  <a:ea typeface="楷体_GB2312" pitchFamily="49" charset="-122"/>
                </a:rPr>
                <a:t>1</a:t>
              </a:r>
              <a:r>
                <a:rPr lang="zh-CN" altLang="en-US" sz="2585">
                  <a:ea typeface="楷体_GB2312" pitchFamily="49" charset="-122"/>
                </a:rPr>
                <a:t>＜</a:t>
              </a:r>
              <a:r>
                <a:rPr lang="en-US" altLang="zh-CN" sz="2585">
                  <a:ea typeface="楷体_GB2312" pitchFamily="49" charset="-122"/>
                </a:rPr>
                <a:t>0</a:t>
              </a:r>
              <a:r>
                <a:rPr lang="zh-CN" altLang="en-US" sz="2585">
                  <a:ea typeface="楷体_GB2312" pitchFamily="49" charset="-122"/>
                </a:rPr>
                <a:t>、</a:t>
              </a:r>
              <a:r>
                <a:rPr lang="en-US" altLang="zh-CN" sz="2585" i="1">
                  <a:ea typeface="楷体_GB2312" pitchFamily="49" charset="-122"/>
                </a:rPr>
                <a:t>s</a:t>
              </a:r>
              <a:r>
                <a:rPr lang="en-US" altLang="zh-CN" sz="2585" baseline="-25000">
                  <a:ea typeface="楷体_GB2312" pitchFamily="49" charset="-122"/>
                </a:rPr>
                <a:t>2</a:t>
              </a:r>
              <a:r>
                <a:rPr lang="zh-CN" altLang="en-US" sz="2585">
                  <a:ea typeface="楷体_GB2312" pitchFamily="49" charset="-122"/>
                </a:rPr>
                <a:t>＜</a:t>
              </a:r>
              <a:r>
                <a:rPr lang="en-US" altLang="zh-CN" sz="2585">
                  <a:ea typeface="楷体_GB2312" pitchFamily="49" charset="-122"/>
                </a:rPr>
                <a:t>0</a:t>
              </a:r>
              <a:r>
                <a:rPr lang="zh-CN" altLang="en-US" sz="2585">
                  <a:ea typeface="楷体_GB2312" pitchFamily="49" charset="-122"/>
                </a:rPr>
                <a:t>及</a:t>
              </a:r>
              <a:r>
                <a:rPr lang="en-US" altLang="zh-CN" sz="2585">
                  <a:ea typeface="楷体_GB2312" pitchFamily="49" charset="-122"/>
                </a:rPr>
                <a:t>|</a:t>
              </a:r>
              <a:r>
                <a:rPr lang="en-US" altLang="zh-CN" sz="2585" i="1">
                  <a:ea typeface="楷体_GB2312" pitchFamily="49" charset="-122"/>
                </a:rPr>
                <a:t>s</a:t>
              </a:r>
              <a:r>
                <a:rPr lang="en-US" altLang="zh-CN" sz="2585" baseline="-25000">
                  <a:ea typeface="楷体_GB2312" pitchFamily="49" charset="-122"/>
                </a:rPr>
                <a:t>2</a:t>
              </a:r>
              <a:r>
                <a:rPr lang="en-US" altLang="zh-CN" sz="2585">
                  <a:ea typeface="楷体_GB2312" pitchFamily="49" charset="-122"/>
                </a:rPr>
                <a:t>|</a:t>
              </a:r>
              <a:r>
                <a:rPr lang="zh-CN" altLang="en-US" sz="2585">
                  <a:ea typeface="楷体_GB2312" pitchFamily="49" charset="-122"/>
                </a:rPr>
                <a:t>＞</a:t>
              </a:r>
              <a:r>
                <a:rPr lang="en-US" altLang="zh-CN" sz="2585">
                  <a:ea typeface="楷体_GB2312" pitchFamily="49" charset="-122"/>
                </a:rPr>
                <a:t>|</a:t>
              </a:r>
              <a:r>
                <a:rPr lang="en-US" altLang="zh-CN" sz="2585" i="1">
                  <a:ea typeface="楷体_GB2312" pitchFamily="49" charset="-122"/>
                </a:rPr>
                <a:t>s</a:t>
              </a:r>
              <a:r>
                <a:rPr lang="en-US" altLang="zh-CN" sz="2585" baseline="-25000">
                  <a:ea typeface="楷体_GB2312" pitchFamily="49" charset="-122"/>
                </a:rPr>
                <a:t>1</a:t>
              </a:r>
              <a:r>
                <a:rPr lang="en-US" altLang="zh-CN" sz="2585">
                  <a:ea typeface="楷体_GB2312" pitchFamily="49" charset="-122"/>
                </a:rPr>
                <a:t>| </a:t>
              </a:r>
            </a:p>
          </p:txBody>
        </p:sp>
        <p:graphicFrame>
          <p:nvGraphicFramePr>
            <p:cNvPr id="531463" name="Object 7"/>
            <p:cNvGraphicFramePr>
              <a:graphicFrameLocks noChangeAspect="1"/>
            </p:cNvGraphicFramePr>
            <p:nvPr/>
          </p:nvGraphicFramePr>
          <p:xfrm>
            <a:off x="3710" y="1661"/>
            <a:ext cx="1043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23" r:id="rId6" imgW="533169" imgH="203112" progId="Equation.DSMT4">
                    <p:embed/>
                  </p:oleObj>
                </mc:Choice>
                <mc:Fallback>
                  <p:oleObj r:id="rId6" imgW="533169" imgH="203112" progId="Equation.DSMT4">
                    <p:embed/>
                    <p:pic>
                      <p:nvPicPr>
                        <p:cNvPr id="53146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0" y="1661"/>
                          <a:ext cx="1043" cy="3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1465" name="AutoShape 9"/>
            <p:cNvSpPr>
              <a:spLocks noChangeArrowheads="1"/>
            </p:cNvSpPr>
            <p:nvPr/>
          </p:nvSpPr>
          <p:spPr bwMode="auto">
            <a:xfrm>
              <a:off x="3256" y="1752"/>
              <a:ext cx="363" cy="227"/>
            </a:xfrm>
            <a:prstGeom prst="rightArrow">
              <a:avLst>
                <a:gd name="adj1" fmla="val 50000"/>
                <a:gd name="adj2" fmla="val 39978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1466" name="Text Box 10"/>
            <p:cNvSpPr txBox="1">
              <a:spLocks noChangeArrowheads="1"/>
            </p:cNvSpPr>
            <p:nvPr/>
          </p:nvSpPr>
          <p:spPr bwMode="auto">
            <a:xfrm>
              <a:off x="4708" y="1706"/>
              <a:ext cx="499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585"/>
                <a:t>&gt;0</a:t>
              </a:r>
            </a:p>
          </p:txBody>
        </p:sp>
      </p:grpSp>
      <p:sp>
        <p:nvSpPr>
          <p:cNvPr id="531467" name="Rectangle 11"/>
          <p:cNvSpPr>
            <a:spLocks noChangeArrowheads="1"/>
          </p:cNvSpPr>
          <p:nvPr/>
        </p:nvSpPr>
        <p:spPr bwMode="auto">
          <a:xfrm>
            <a:off x="511467" y="3287971"/>
            <a:ext cx="8440615" cy="887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2585" dirty="0">
                <a:latin typeface="楷体_GB2312" pitchFamily="49" charset="-122"/>
                <a:ea typeface="楷体_GB2312" pitchFamily="49" charset="-122"/>
              </a:rPr>
              <a:t>    使电容电压</a:t>
            </a:r>
            <a:r>
              <a:rPr lang="en-US" altLang="zh-CN" sz="2585" i="1" dirty="0" err="1">
                <a:latin typeface="楷体_GB2312" pitchFamily="49" charset="-122"/>
                <a:ea typeface="楷体_GB2312" pitchFamily="49" charset="-122"/>
              </a:rPr>
              <a:t>u</a:t>
            </a:r>
            <a:r>
              <a:rPr lang="en-US" altLang="zh-CN" sz="2585" i="1" baseline="-25000" dirty="0" err="1">
                <a:ea typeface="楷体_GB2312" pitchFamily="49" charset="-122"/>
              </a:rPr>
              <a:t>C</a:t>
            </a:r>
            <a:r>
              <a:rPr lang="zh-CN" altLang="en-US" sz="2585" dirty="0">
                <a:latin typeface="楷体_GB2312" pitchFamily="49" charset="-122"/>
                <a:ea typeface="楷体_GB2312" pitchFamily="49" charset="-122"/>
              </a:rPr>
              <a:t>和电感电流</a:t>
            </a:r>
            <a:r>
              <a:rPr lang="en-US" altLang="zh-CN" sz="2585" i="1" dirty="0" err="1">
                <a:ea typeface="楷体_GB2312" pitchFamily="49" charset="-122"/>
              </a:rPr>
              <a:t>i</a:t>
            </a:r>
            <a:r>
              <a:rPr lang="en-US" altLang="zh-CN" sz="2585" i="1" baseline="-25000" dirty="0" err="1">
                <a:ea typeface="楷体_GB2312" pitchFamily="49" charset="-122"/>
              </a:rPr>
              <a:t>L</a:t>
            </a:r>
            <a:r>
              <a:rPr lang="zh-CN" altLang="en-US" sz="2585" dirty="0">
                <a:latin typeface="楷体_GB2312" pitchFamily="49" charset="-122"/>
                <a:ea typeface="楷体_GB2312" pitchFamily="49" charset="-122"/>
              </a:rPr>
              <a:t>永远不改变方向。</a:t>
            </a:r>
            <a:r>
              <a:rPr lang="zh-CN" altLang="en-US" sz="2585" dirty="0">
                <a:ea typeface="楷体_GB2312" pitchFamily="49" charset="-122"/>
              </a:rPr>
              <a:t>电容元件在全部时间内一直在充电</a:t>
            </a:r>
            <a:r>
              <a:rPr lang="zh-CN" altLang="en-US" dirty="0"/>
              <a:t>。</a:t>
            </a:r>
            <a:r>
              <a:rPr lang="en-US" altLang="zh-CN" sz="2585" dirty="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13" name="Rectangle 22"/>
          <p:cNvSpPr>
            <a:spLocks noChangeArrowheads="1"/>
          </p:cNvSpPr>
          <p:nvPr/>
        </p:nvSpPr>
        <p:spPr bwMode="auto">
          <a:xfrm>
            <a:off x="539552" y="427410"/>
            <a:ext cx="151035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585" dirty="0"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585" dirty="0">
                <a:ea typeface="楷体_GB2312" pitchFamily="49" charset="-122"/>
              </a:rPr>
              <a:t>过阻尼</a:t>
            </a:r>
          </a:p>
        </p:txBody>
      </p:sp>
      <p:graphicFrame>
        <p:nvGraphicFramePr>
          <p:cNvPr id="1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997923"/>
              </p:ext>
            </p:extLst>
          </p:nvPr>
        </p:nvGraphicFramePr>
        <p:xfrm>
          <a:off x="2087563" y="1514475"/>
          <a:ext cx="5387975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4" name="Equation" r:id="rId8" imgW="2641320" imgH="431640" progId="Equation.DSMT4">
                  <p:embed/>
                </p:oleObj>
              </mc:Choice>
              <mc:Fallback>
                <p:oleObj name="Equation" r:id="rId8" imgW="2641320" imgH="431640" progId="Equation.DSMT4">
                  <p:embed/>
                  <p:pic>
                    <p:nvPicPr>
                      <p:cNvPr id="52943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1514475"/>
                        <a:ext cx="5387975" cy="874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793987"/>
              </p:ext>
            </p:extLst>
          </p:nvPr>
        </p:nvGraphicFramePr>
        <p:xfrm>
          <a:off x="2089150" y="365125"/>
          <a:ext cx="5051425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5" name="Equation" r:id="rId10" imgW="2298600" imgH="482400" progId="Equation.DSMT4">
                  <p:embed/>
                </p:oleObj>
              </mc:Choice>
              <mc:Fallback>
                <p:oleObj name="Equation" r:id="rId10" imgW="2298600" imgH="482400" progId="Equation.DSMT4">
                  <p:embed/>
                  <p:pic>
                    <p:nvPicPr>
                      <p:cNvPr id="50074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365125"/>
                        <a:ext cx="5051425" cy="1068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024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3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3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467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520" name="Group 16"/>
          <p:cNvGrpSpPr>
            <a:grpSpLocks/>
          </p:cNvGrpSpPr>
          <p:nvPr/>
        </p:nvGrpSpPr>
        <p:grpSpPr bwMode="auto">
          <a:xfrm>
            <a:off x="583223" y="764930"/>
            <a:ext cx="6049108" cy="1419958"/>
            <a:chOff x="398" y="342"/>
            <a:chExt cx="4128" cy="969"/>
          </a:xfrm>
        </p:grpSpPr>
        <p:sp>
          <p:nvSpPr>
            <p:cNvPr id="533508" name="Rectangle 4"/>
            <p:cNvSpPr>
              <a:spLocks noChangeArrowheads="1"/>
            </p:cNvSpPr>
            <p:nvPr/>
          </p:nvSpPr>
          <p:spPr bwMode="auto">
            <a:xfrm>
              <a:off x="398" y="342"/>
              <a:ext cx="1031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585"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</a:rPr>
                <a:t>2.</a:t>
              </a:r>
              <a:r>
                <a:rPr lang="zh-CN" altLang="en-US" sz="2585"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</a:rPr>
                <a:t>欠阻尼</a:t>
              </a:r>
            </a:p>
          </p:txBody>
        </p:sp>
        <p:graphicFrame>
          <p:nvGraphicFramePr>
            <p:cNvPr id="533509" name="Object 5"/>
            <p:cNvGraphicFramePr>
              <a:graphicFrameLocks noChangeAspect="1"/>
            </p:cNvGraphicFramePr>
            <p:nvPr/>
          </p:nvGraphicFramePr>
          <p:xfrm>
            <a:off x="1532" y="527"/>
            <a:ext cx="2994" cy="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36" r:id="rId4" imgW="2222500" imgH="584200" progId="Equation.DSMT4">
                    <p:embed/>
                  </p:oleObj>
                </mc:Choice>
                <mc:Fallback>
                  <p:oleObj r:id="rId4" imgW="2222500" imgH="584200" progId="Equation.DSMT4">
                    <p:embed/>
                    <p:pic>
                      <p:nvPicPr>
                        <p:cNvPr id="53350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2" y="527"/>
                          <a:ext cx="2994" cy="7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3513" name="Rectangle 9"/>
          <p:cNvSpPr>
            <a:spLocks noChangeArrowheads="1"/>
          </p:cNvSpPr>
          <p:nvPr/>
        </p:nvSpPr>
        <p:spPr bwMode="auto">
          <a:xfrm>
            <a:off x="0" y="298496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33521" name="Group 17"/>
          <p:cNvGrpSpPr>
            <a:grpSpLocks/>
          </p:cNvGrpSpPr>
          <p:nvPr/>
        </p:nvGrpSpPr>
        <p:grpSpPr bwMode="auto">
          <a:xfrm>
            <a:off x="317989" y="2299189"/>
            <a:ext cx="5782408" cy="1371600"/>
            <a:chOff x="217" y="1389"/>
            <a:chExt cx="3946" cy="936"/>
          </a:xfrm>
        </p:grpSpPr>
        <p:sp>
          <p:nvSpPr>
            <p:cNvPr id="533511" name="Rectangle 7"/>
            <p:cNvSpPr>
              <a:spLocks noChangeArrowheads="1"/>
            </p:cNvSpPr>
            <p:nvPr/>
          </p:nvSpPr>
          <p:spPr bwMode="auto">
            <a:xfrm>
              <a:off x="217" y="1476"/>
              <a:ext cx="216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zh-CN" altLang="en-US" sz="2585">
                  <a:ea typeface="楷体_GB2312" pitchFamily="49" charset="-122"/>
                </a:rPr>
                <a:t>或表示成极坐标形式</a:t>
              </a:r>
            </a:p>
          </p:txBody>
        </p:sp>
        <p:graphicFrame>
          <p:nvGraphicFramePr>
            <p:cNvPr id="533514" name="Object 10"/>
            <p:cNvGraphicFramePr>
              <a:graphicFrameLocks noChangeAspect="1"/>
            </p:cNvGraphicFramePr>
            <p:nvPr/>
          </p:nvGraphicFramePr>
          <p:xfrm>
            <a:off x="2440" y="1389"/>
            <a:ext cx="1723" cy="9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37" name="公式" r:id="rId6" imgW="1028520" imgH="558720" progId="Equation.3">
                    <p:embed/>
                  </p:oleObj>
                </mc:Choice>
                <mc:Fallback>
                  <p:oleObj name="公式" r:id="rId6" imgW="1028520" imgH="558720" progId="Equation.3">
                    <p:embed/>
                    <p:pic>
                      <p:nvPicPr>
                        <p:cNvPr id="53351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0" y="1389"/>
                          <a:ext cx="1723" cy="9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3516" name="Rectangle 12"/>
          <p:cNvSpPr>
            <a:spLocks noChangeArrowheads="1"/>
          </p:cNvSpPr>
          <p:nvPr/>
        </p:nvSpPr>
        <p:spPr bwMode="auto">
          <a:xfrm>
            <a:off x="451339" y="3688759"/>
            <a:ext cx="334739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zh-CN" altLang="en-US" sz="2585">
                <a:latin typeface="楷体_GB2312" pitchFamily="49" charset="-122"/>
                <a:ea typeface="楷体_GB2312" pitchFamily="49" charset="-122"/>
              </a:rPr>
              <a:t>其中</a:t>
            </a:r>
            <a:r>
              <a:rPr lang="zh-CN" altLang="en-US" sz="2585" i="1">
                <a:ea typeface="楷体_GB2312" pitchFamily="49" charset="-122"/>
                <a:sym typeface="Symbol" panose="05050102010706020507" pitchFamily="18" charset="2"/>
              </a:rPr>
              <a:t></a:t>
            </a:r>
            <a:r>
              <a:rPr lang="zh-CN" altLang="en-US" sz="2585" i="1">
                <a:ea typeface="楷体_GB2312" pitchFamily="49" charset="-122"/>
              </a:rPr>
              <a:t> </a:t>
            </a:r>
            <a:r>
              <a:rPr lang="en-US" altLang="zh-CN" sz="2585">
                <a:ea typeface="楷体_GB2312" pitchFamily="49" charset="-122"/>
                <a:sym typeface="Symbol" panose="05050102010706020507" pitchFamily="18" charset="2"/>
              </a:rPr>
              <a:t>= arctan(</a:t>
            </a:r>
            <a:r>
              <a:rPr lang="en-US" altLang="zh-CN" sz="2585" i="1">
                <a:ea typeface="楷体_GB2312" pitchFamily="49" charset="-122"/>
                <a:sym typeface="Symbol" panose="05050102010706020507" pitchFamily="18" charset="2"/>
              </a:rPr>
              <a:t></a:t>
            </a:r>
            <a:r>
              <a:rPr lang="en-US" altLang="zh-CN" sz="2585" i="1">
                <a:ea typeface="楷体_GB2312" pitchFamily="49" charset="-122"/>
              </a:rPr>
              <a:t> </a:t>
            </a:r>
            <a:r>
              <a:rPr lang="en-US" altLang="zh-CN" sz="2585">
                <a:ea typeface="楷体_GB2312" pitchFamily="49" charset="-122"/>
                <a:sym typeface="Symbol" panose="05050102010706020507" pitchFamily="18" charset="2"/>
              </a:rPr>
              <a:t>/</a:t>
            </a:r>
            <a:r>
              <a:rPr lang="en-US" altLang="zh-CN" sz="2585" i="1">
                <a:ea typeface="楷体_GB2312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585" i="1">
                <a:ea typeface="楷体_GB2312" pitchFamily="49" charset="-122"/>
              </a:rPr>
              <a:t>d</a:t>
            </a:r>
            <a:r>
              <a:rPr lang="en-US" altLang="zh-CN" sz="2585"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sz="2585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33517" name="Rectangle 13"/>
          <p:cNvSpPr>
            <a:spLocks noChangeArrowheads="1"/>
          </p:cNvSpPr>
          <p:nvPr/>
        </p:nvSpPr>
        <p:spPr bwMode="auto">
          <a:xfrm>
            <a:off x="451339" y="4154751"/>
            <a:ext cx="333617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zh-CN" altLang="en-US" sz="2585" dirty="0" smtClean="0">
                <a:latin typeface="楷体_GB2312" pitchFamily="49" charset="-122"/>
                <a:ea typeface="楷体_GB2312" pitchFamily="49" charset="-122"/>
              </a:rPr>
              <a:t>阶跃响应</a:t>
            </a:r>
            <a:r>
              <a:rPr lang="zh-CN" altLang="en-US" sz="2585" dirty="0">
                <a:latin typeface="楷体_GB2312" pitchFamily="49" charset="-122"/>
                <a:ea typeface="楷体_GB2312" pitchFamily="49" charset="-122"/>
              </a:rPr>
              <a:t>电容电压为 </a:t>
            </a:r>
          </a:p>
        </p:txBody>
      </p:sp>
      <p:sp>
        <p:nvSpPr>
          <p:cNvPr id="533519" name="Rectangle 15"/>
          <p:cNvSpPr>
            <a:spLocks noChangeArrowheads="1"/>
          </p:cNvSpPr>
          <p:nvPr/>
        </p:nvSpPr>
        <p:spPr bwMode="auto">
          <a:xfrm>
            <a:off x="0" y="280032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335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932813"/>
              </p:ext>
            </p:extLst>
          </p:nvPr>
        </p:nvGraphicFramePr>
        <p:xfrm>
          <a:off x="1700213" y="4624388"/>
          <a:ext cx="6275387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8" name="Equation" r:id="rId8" imgW="3530520" imgH="965160" progId="Equation.DSMT4">
                  <p:embed/>
                </p:oleObj>
              </mc:Choice>
              <mc:Fallback>
                <p:oleObj name="Equation" r:id="rId8" imgW="3530520" imgH="965160" progId="Equation.DSMT4">
                  <p:embed/>
                  <p:pic>
                    <p:nvPicPr>
                      <p:cNvPr id="53351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0213" y="4624388"/>
                        <a:ext cx="6275387" cy="171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2474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3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3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3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3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3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16" grpId="0"/>
      <p:bldP spid="5335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7" name="Rectangle 5"/>
          <p:cNvSpPr>
            <a:spLocks noChangeArrowheads="1"/>
          </p:cNvSpPr>
          <p:nvPr/>
        </p:nvSpPr>
        <p:spPr bwMode="auto">
          <a:xfrm>
            <a:off x="0" y="302013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35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214503"/>
              </p:ext>
            </p:extLst>
          </p:nvPr>
        </p:nvGraphicFramePr>
        <p:xfrm>
          <a:off x="2232025" y="771525"/>
          <a:ext cx="401637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0" name="Equation" r:id="rId4" imgW="2082600" imgH="482400" progId="Equation.DSMT4">
                  <p:embed/>
                </p:oleObj>
              </mc:Choice>
              <mc:Fallback>
                <p:oleObj name="Equation" r:id="rId4" imgW="2082600" imgH="482400" progId="Equation.DSMT4">
                  <p:embed/>
                  <p:pic>
                    <p:nvPicPr>
                      <p:cNvPr id="5355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771525"/>
                        <a:ext cx="4016375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5565" name="Group 13"/>
          <p:cNvGrpSpPr>
            <a:grpSpLocks/>
          </p:cNvGrpSpPr>
          <p:nvPr/>
        </p:nvGrpSpPr>
        <p:grpSpPr bwMode="auto">
          <a:xfrm>
            <a:off x="517282" y="1833196"/>
            <a:ext cx="5851280" cy="539262"/>
            <a:chOff x="353" y="1071"/>
            <a:chExt cx="3993" cy="368"/>
          </a:xfrm>
        </p:grpSpPr>
        <p:sp>
          <p:nvSpPr>
            <p:cNvPr id="535559" name="Rectangle 7"/>
            <p:cNvSpPr>
              <a:spLocks noChangeArrowheads="1"/>
            </p:cNvSpPr>
            <p:nvPr/>
          </p:nvSpPr>
          <p:spPr bwMode="auto">
            <a:xfrm>
              <a:off x="353" y="1072"/>
              <a:ext cx="274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zh-CN" altLang="en-US" sz="2585"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</a:rPr>
                <a:t>根据电容的电压</a:t>
              </a:r>
              <a:r>
                <a:rPr lang="zh-CN" altLang="en-US" sz="2585"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zh-CN" altLang="en-US" sz="2585"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</a:rPr>
                <a:t>电流关系</a:t>
              </a:r>
              <a:endParaRPr lang="zh-CN" altLang="en-US" sz="2585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535558" name="Object 6"/>
            <p:cNvGraphicFramePr>
              <a:graphicFrameLocks noChangeAspect="1"/>
            </p:cNvGraphicFramePr>
            <p:nvPr/>
          </p:nvGraphicFramePr>
          <p:xfrm>
            <a:off x="3075" y="1071"/>
            <a:ext cx="1271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71" r:id="rId6" imgW="787400" imgH="228600" progId="Equation.DSMT4">
                    <p:embed/>
                  </p:oleObj>
                </mc:Choice>
                <mc:Fallback>
                  <p:oleObj r:id="rId6" imgW="787400" imgH="228600" progId="Equation.DSMT4">
                    <p:embed/>
                    <p:pic>
                      <p:nvPicPr>
                        <p:cNvPr id="53555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5" y="1071"/>
                          <a:ext cx="1271" cy="3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5562" name="Rectangle 10"/>
          <p:cNvSpPr>
            <a:spLocks noChangeArrowheads="1"/>
          </p:cNvSpPr>
          <p:nvPr/>
        </p:nvSpPr>
        <p:spPr bwMode="auto">
          <a:xfrm>
            <a:off x="0" y="304650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355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583055"/>
              </p:ext>
            </p:extLst>
          </p:nvPr>
        </p:nvGraphicFramePr>
        <p:xfrm>
          <a:off x="1954213" y="2432050"/>
          <a:ext cx="4040187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2" name="Equation" r:id="rId8" imgW="1942920" imgH="431640" progId="Equation.DSMT4">
                  <p:embed/>
                </p:oleObj>
              </mc:Choice>
              <mc:Fallback>
                <p:oleObj name="Equation" r:id="rId8" imgW="1942920" imgH="431640" progId="Equation.DSMT4">
                  <p:embed/>
                  <p:pic>
                    <p:nvPicPr>
                      <p:cNvPr id="53556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3" y="2432050"/>
                        <a:ext cx="4040187" cy="892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5564" name="Rectangle 12"/>
          <p:cNvSpPr>
            <a:spLocks noChangeArrowheads="1"/>
          </p:cNvSpPr>
          <p:nvPr/>
        </p:nvSpPr>
        <p:spPr bwMode="auto">
          <a:xfrm>
            <a:off x="0" y="257611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355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106575"/>
              </p:ext>
            </p:extLst>
          </p:nvPr>
        </p:nvGraphicFramePr>
        <p:xfrm>
          <a:off x="-468313" y="3898900"/>
          <a:ext cx="8426451" cy="231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3" name="Visio" r:id="rId10" imgW="5553066" imgH="1523891" progId="Visio.Drawing.11">
                  <p:embed/>
                </p:oleObj>
              </mc:Choice>
              <mc:Fallback>
                <p:oleObj name="Visio" r:id="rId10" imgW="5553066" imgH="1523891" progId="Visio.Drawing.11">
                  <p:embed/>
                  <p:pic>
                    <p:nvPicPr>
                      <p:cNvPr id="5355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468313" y="3898900"/>
                        <a:ext cx="8426451" cy="2317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229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5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5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5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01D79A-DA26-420A-AB9A-D373F3793FF9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2022/4/13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5363" name="页脚占位符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2895AC-C752-4DFB-816B-4ABB560049AF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pSp>
        <p:nvGrpSpPr>
          <p:cNvPr id="15365" name="Group 7"/>
          <p:cNvGrpSpPr>
            <a:grpSpLocks/>
          </p:cNvGrpSpPr>
          <p:nvPr/>
        </p:nvGrpSpPr>
        <p:grpSpPr bwMode="auto">
          <a:xfrm>
            <a:off x="5424488" y="714375"/>
            <a:ext cx="3827462" cy="1993900"/>
            <a:chOff x="3082" y="2147"/>
            <a:chExt cx="2411" cy="1256"/>
          </a:xfrm>
        </p:grpSpPr>
        <p:grpSp>
          <p:nvGrpSpPr>
            <p:cNvPr id="15381" name="Group 8"/>
            <p:cNvGrpSpPr>
              <a:grpSpLocks/>
            </p:cNvGrpSpPr>
            <p:nvPr/>
          </p:nvGrpSpPr>
          <p:grpSpPr bwMode="auto">
            <a:xfrm>
              <a:off x="3082" y="2147"/>
              <a:ext cx="2411" cy="960"/>
              <a:chOff x="2608" y="1952"/>
              <a:chExt cx="2411" cy="960"/>
            </a:xfrm>
          </p:grpSpPr>
          <p:grpSp>
            <p:nvGrpSpPr>
              <p:cNvPr id="15383" name="Group 9"/>
              <p:cNvGrpSpPr>
                <a:grpSpLocks/>
              </p:cNvGrpSpPr>
              <p:nvPr/>
            </p:nvGrpSpPr>
            <p:grpSpPr bwMode="auto">
              <a:xfrm>
                <a:off x="2880" y="2400"/>
                <a:ext cx="240" cy="227"/>
                <a:chOff x="1479" y="1536"/>
                <a:chExt cx="240" cy="227"/>
              </a:xfrm>
            </p:grpSpPr>
            <p:sp>
              <p:nvSpPr>
                <p:cNvPr id="15420" name="Oval 10"/>
                <p:cNvSpPr>
                  <a:spLocks noChangeAspect="1" noChangeArrowheads="1"/>
                </p:cNvSpPr>
                <p:nvPr/>
              </p:nvSpPr>
              <p:spPr bwMode="auto">
                <a:xfrm>
                  <a:off x="1488" y="1536"/>
                  <a:ext cx="227" cy="22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zh-CN" altLang="en-US" sz="1800"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15421" name="Line 11"/>
                <p:cNvSpPr>
                  <a:spLocks noChangeShapeType="1"/>
                </p:cNvSpPr>
                <p:nvPr/>
              </p:nvSpPr>
              <p:spPr bwMode="auto">
                <a:xfrm>
                  <a:off x="1479" y="1650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384" name="Text Box 12"/>
              <p:cNvSpPr txBox="1">
                <a:spLocks noChangeArrowheads="1"/>
              </p:cNvSpPr>
              <p:nvPr/>
            </p:nvSpPr>
            <p:spPr bwMode="auto">
              <a:xfrm>
                <a:off x="4304" y="2240"/>
                <a:ext cx="22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>
                    <a:ea typeface="隶书" panose="02010509060101010101" pitchFamily="49" charset="-122"/>
                  </a:rPr>
                  <a:t>+</a:t>
                </a:r>
              </a:p>
            </p:txBody>
          </p:sp>
          <p:grpSp>
            <p:nvGrpSpPr>
              <p:cNvPr id="15385" name="Group 13"/>
              <p:cNvGrpSpPr>
                <a:grpSpLocks/>
              </p:cNvGrpSpPr>
              <p:nvPr/>
            </p:nvGrpSpPr>
            <p:grpSpPr bwMode="auto">
              <a:xfrm flipH="1">
                <a:off x="3808" y="1952"/>
                <a:ext cx="168" cy="200"/>
                <a:chOff x="3544" y="3400"/>
                <a:chExt cx="168" cy="200"/>
              </a:xfrm>
            </p:grpSpPr>
            <p:sp>
              <p:nvSpPr>
                <p:cNvPr id="15417" name="Freeform 14"/>
                <p:cNvSpPr>
                  <a:spLocks/>
                </p:cNvSpPr>
                <p:nvPr/>
              </p:nvSpPr>
              <p:spPr bwMode="auto">
                <a:xfrm>
                  <a:off x="3544" y="3400"/>
                  <a:ext cx="168" cy="168"/>
                </a:xfrm>
                <a:custGeom>
                  <a:avLst/>
                  <a:gdLst>
                    <a:gd name="T0" fmla="*/ 0 w 168"/>
                    <a:gd name="T1" fmla="*/ 168 h 168"/>
                    <a:gd name="T2" fmla="*/ 168 w 168"/>
                    <a:gd name="T3" fmla="*/ 0 h 168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68" h="168">
                      <a:moveTo>
                        <a:pt x="0" y="168"/>
                      </a:moveTo>
                      <a:lnTo>
                        <a:pt x="168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18" name="Freeform 15"/>
                <p:cNvSpPr>
                  <a:spLocks/>
                </p:cNvSpPr>
                <p:nvPr/>
              </p:nvSpPr>
              <p:spPr bwMode="auto">
                <a:xfrm>
                  <a:off x="3600" y="3408"/>
                  <a:ext cx="112" cy="192"/>
                </a:xfrm>
                <a:custGeom>
                  <a:avLst/>
                  <a:gdLst>
                    <a:gd name="T0" fmla="*/ 0 w 112"/>
                    <a:gd name="T1" fmla="*/ 0 h 192"/>
                    <a:gd name="T2" fmla="*/ 96 w 112"/>
                    <a:gd name="T3" fmla="*/ 96 h 192"/>
                    <a:gd name="T4" fmla="*/ 96 w 112"/>
                    <a:gd name="T5" fmla="*/ 192 h 19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12" h="192">
                      <a:moveTo>
                        <a:pt x="0" y="0"/>
                      </a:moveTo>
                      <a:cubicBezTo>
                        <a:pt x="40" y="32"/>
                        <a:pt x="80" y="64"/>
                        <a:pt x="96" y="96"/>
                      </a:cubicBezTo>
                      <a:cubicBezTo>
                        <a:pt x="112" y="128"/>
                        <a:pt x="104" y="160"/>
                        <a:pt x="96" y="192"/>
                      </a:cubicBez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19" name="Line 16"/>
                <p:cNvSpPr>
                  <a:spLocks noChangeShapeType="1"/>
                </p:cNvSpPr>
                <p:nvPr/>
              </p:nvSpPr>
              <p:spPr bwMode="auto">
                <a:xfrm>
                  <a:off x="3696" y="3552"/>
                  <a:ext cx="0" cy="4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386" name="Rectangle 17"/>
              <p:cNvSpPr>
                <a:spLocks noChangeArrowheads="1"/>
              </p:cNvSpPr>
              <p:nvPr/>
            </p:nvSpPr>
            <p:spPr bwMode="auto">
              <a:xfrm>
                <a:off x="3456" y="240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1800">
                  <a:ea typeface="隶书" panose="02010509060101010101" pitchFamily="49" charset="-122"/>
                </a:endParaRPr>
              </a:p>
            </p:txBody>
          </p:sp>
          <p:grpSp>
            <p:nvGrpSpPr>
              <p:cNvPr id="15387" name="Group 18"/>
              <p:cNvGrpSpPr>
                <a:grpSpLocks/>
              </p:cNvGrpSpPr>
              <p:nvPr/>
            </p:nvGrpSpPr>
            <p:grpSpPr bwMode="auto">
              <a:xfrm>
                <a:off x="4504" y="2496"/>
                <a:ext cx="192" cy="48"/>
                <a:chOff x="960" y="2688"/>
                <a:chExt cx="192" cy="48"/>
              </a:xfrm>
            </p:grpSpPr>
            <p:sp>
              <p:nvSpPr>
                <p:cNvPr id="15415" name="Line 19"/>
                <p:cNvSpPr>
                  <a:spLocks noChangeShapeType="1"/>
                </p:cNvSpPr>
                <p:nvPr/>
              </p:nvSpPr>
              <p:spPr bwMode="auto">
                <a:xfrm>
                  <a:off x="960" y="268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16" name="Line 20"/>
                <p:cNvSpPr>
                  <a:spLocks noChangeShapeType="1"/>
                </p:cNvSpPr>
                <p:nvPr/>
              </p:nvSpPr>
              <p:spPr bwMode="auto">
                <a:xfrm>
                  <a:off x="960" y="27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388" name="Group 21"/>
              <p:cNvGrpSpPr>
                <a:grpSpLocks/>
              </p:cNvGrpSpPr>
              <p:nvPr/>
            </p:nvGrpSpPr>
            <p:grpSpPr bwMode="auto">
              <a:xfrm rot="-5400000">
                <a:off x="4242" y="1958"/>
                <a:ext cx="79" cy="292"/>
                <a:chOff x="3340" y="2927"/>
                <a:chExt cx="79" cy="292"/>
              </a:xfrm>
            </p:grpSpPr>
            <p:sp>
              <p:nvSpPr>
                <p:cNvPr id="15412" name="Freeform 22"/>
                <p:cNvSpPr>
                  <a:spLocks/>
                </p:cNvSpPr>
                <p:nvPr/>
              </p:nvSpPr>
              <p:spPr bwMode="auto">
                <a:xfrm>
                  <a:off x="3340" y="2927"/>
                  <a:ext cx="77" cy="105"/>
                </a:xfrm>
                <a:custGeom>
                  <a:avLst/>
                  <a:gdLst>
                    <a:gd name="T0" fmla="*/ 2 w 77"/>
                    <a:gd name="T1" fmla="*/ 5 h 105"/>
                    <a:gd name="T2" fmla="*/ 20 w 77"/>
                    <a:gd name="T3" fmla="*/ 1 h 105"/>
                    <a:gd name="T4" fmla="*/ 56 w 77"/>
                    <a:gd name="T5" fmla="*/ 13 h 105"/>
                    <a:gd name="T6" fmla="*/ 76 w 77"/>
                    <a:gd name="T7" fmla="*/ 51 h 105"/>
                    <a:gd name="T8" fmla="*/ 60 w 77"/>
                    <a:gd name="T9" fmla="*/ 91 h 105"/>
                    <a:gd name="T10" fmla="*/ 26 w 77"/>
                    <a:gd name="T11" fmla="*/ 103 h 105"/>
                    <a:gd name="T12" fmla="*/ 0 w 77"/>
                    <a:gd name="T13" fmla="*/ 101 h 10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77" h="105">
                      <a:moveTo>
                        <a:pt x="2" y="5"/>
                      </a:moveTo>
                      <a:cubicBezTo>
                        <a:pt x="5" y="4"/>
                        <a:pt x="11" y="0"/>
                        <a:pt x="20" y="1"/>
                      </a:cubicBezTo>
                      <a:cubicBezTo>
                        <a:pt x="29" y="2"/>
                        <a:pt x="47" y="5"/>
                        <a:pt x="56" y="13"/>
                      </a:cubicBezTo>
                      <a:cubicBezTo>
                        <a:pt x="65" y="21"/>
                        <a:pt x="75" y="38"/>
                        <a:pt x="76" y="51"/>
                      </a:cubicBezTo>
                      <a:cubicBezTo>
                        <a:pt x="77" y="64"/>
                        <a:pt x="68" y="82"/>
                        <a:pt x="60" y="91"/>
                      </a:cubicBezTo>
                      <a:cubicBezTo>
                        <a:pt x="52" y="100"/>
                        <a:pt x="36" y="101"/>
                        <a:pt x="26" y="103"/>
                      </a:cubicBezTo>
                      <a:cubicBezTo>
                        <a:pt x="16" y="105"/>
                        <a:pt x="5" y="101"/>
                        <a:pt x="0" y="101"/>
                      </a:cubicBez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13" name="Freeform 23"/>
                <p:cNvSpPr>
                  <a:spLocks/>
                </p:cNvSpPr>
                <p:nvPr/>
              </p:nvSpPr>
              <p:spPr bwMode="auto">
                <a:xfrm>
                  <a:off x="3341" y="3022"/>
                  <a:ext cx="77" cy="105"/>
                </a:xfrm>
                <a:custGeom>
                  <a:avLst/>
                  <a:gdLst>
                    <a:gd name="T0" fmla="*/ 2 w 77"/>
                    <a:gd name="T1" fmla="*/ 5 h 105"/>
                    <a:gd name="T2" fmla="*/ 20 w 77"/>
                    <a:gd name="T3" fmla="*/ 1 h 105"/>
                    <a:gd name="T4" fmla="*/ 56 w 77"/>
                    <a:gd name="T5" fmla="*/ 13 h 105"/>
                    <a:gd name="T6" fmla="*/ 76 w 77"/>
                    <a:gd name="T7" fmla="*/ 51 h 105"/>
                    <a:gd name="T8" fmla="*/ 60 w 77"/>
                    <a:gd name="T9" fmla="*/ 91 h 105"/>
                    <a:gd name="T10" fmla="*/ 26 w 77"/>
                    <a:gd name="T11" fmla="*/ 103 h 105"/>
                    <a:gd name="T12" fmla="*/ 0 w 77"/>
                    <a:gd name="T13" fmla="*/ 101 h 10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77" h="105">
                      <a:moveTo>
                        <a:pt x="2" y="5"/>
                      </a:moveTo>
                      <a:cubicBezTo>
                        <a:pt x="5" y="4"/>
                        <a:pt x="11" y="0"/>
                        <a:pt x="20" y="1"/>
                      </a:cubicBezTo>
                      <a:cubicBezTo>
                        <a:pt x="29" y="2"/>
                        <a:pt x="47" y="5"/>
                        <a:pt x="56" y="13"/>
                      </a:cubicBezTo>
                      <a:cubicBezTo>
                        <a:pt x="65" y="21"/>
                        <a:pt x="75" y="38"/>
                        <a:pt x="76" y="51"/>
                      </a:cubicBezTo>
                      <a:cubicBezTo>
                        <a:pt x="77" y="64"/>
                        <a:pt x="68" y="82"/>
                        <a:pt x="60" y="91"/>
                      </a:cubicBezTo>
                      <a:cubicBezTo>
                        <a:pt x="52" y="100"/>
                        <a:pt x="36" y="101"/>
                        <a:pt x="26" y="103"/>
                      </a:cubicBezTo>
                      <a:cubicBezTo>
                        <a:pt x="16" y="105"/>
                        <a:pt x="5" y="101"/>
                        <a:pt x="0" y="101"/>
                      </a:cubicBez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14" name="Freeform 24"/>
                <p:cNvSpPr>
                  <a:spLocks/>
                </p:cNvSpPr>
                <p:nvPr/>
              </p:nvSpPr>
              <p:spPr bwMode="auto">
                <a:xfrm>
                  <a:off x="3342" y="3114"/>
                  <a:ext cx="77" cy="105"/>
                </a:xfrm>
                <a:custGeom>
                  <a:avLst/>
                  <a:gdLst>
                    <a:gd name="T0" fmla="*/ 2 w 77"/>
                    <a:gd name="T1" fmla="*/ 5 h 105"/>
                    <a:gd name="T2" fmla="*/ 20 w 77"/>
                    <a:gd name="T3" fmla="*/ 1 h 105"/>
                    <a:gd name="T4" fmla="*/ 56 w 77"/>
                    <a:gd name="T5" fmla="*/ 13 h 105"/>
                    <a:gd name="T6" fmla="*/ 76 w 77"/>
                    <a:gd name="T7" fmla="*/ 51 h 105"/>
                    <a:gd name="T8" fmla="*/ 60 w 77"/>
                    <a:gd name="T9" fmla="*/ 91 h 105"/>
                    <a:gd name="T10" fmla="*/ 26 w 77"/>
                    <a:gd name="T11" fmla="*/ 103 h 105"/>
                    <a:gd name="T12" fmla="*/ 0 w 77"/>
                    <a:gd name="T13" fmla="*/ 101 h 10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77" h="105">
                      <a:moveTo>
                        <a:pt x="2" y="5"/>
                      </a:moveTo>
                      <a:cubicBezTo>
                        <a:pt x="5" y="4"/>
                        <a:pt x="11" y="0"/>
                        <a:pt x="20" y="1"/>
                      </a:cubicBezTo>
                      <a:cubicBezTo>
                        <a:pt x="29" y="2"/>
                        <a:pt x="47" y="5"/>
                        <a:pt x="56" y="13"/>
                      </a:cubicBezTo>
                      <a:cubicBezTo>
                        <a:pt x="65" y="21"/>
                        <a:pt x="75" y="38"/>
                        <a:pt x="76" y="51"/>
                      </a:cubicBezTo>
                      <a:cubicBezTo>
                        <a:pt x="77" y="64"/>
                        <a:pt x="68" y="82"/>
                        <a:pt x="60" y="91"/>
                      </a:cubicBezTo>
                      <a:cubicBezTo>
                        <a:pt x="52" y="100"/>
                        <a:pt x="36" y="101"/>
                        <a:pt x="26" y="103"/>
                      </a:cubicBezTo>
                      <a:cubicBezTo>
                        <a:pt x="16" y="105"/>
                        <a:pt x="5" y="101"/>
                        <a:pt x="0" y="101"/>
                      </a:cubicBez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389" name="Line 25"/>
              <p:cNvSpPr>
                <a:spLocks noChangeShapeType="1"/>
              </p:cNvSpPr>
              <p:nvPr/>
            </p:nvSpPr>
            <p:spPr bwMode="auto">
              <a:xfrm>
                <a:off x="3000" y="2112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0" name="Line 26"/>
              <p:cNvSpPr>
                <a:spLocks noChangeShapeType="1"/>
              </p:cNvSpPr>
              <p:nvPr/>
            </p:nvSpPr>
            <p:spPr bwMode="auto">
              <a:xfrm>
                <a:off x="3000" y="262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1" name="Line 27"/>
              <p:cNvSpPr>
                <a:spLocks noChangeShapeType="1"/>
              </p:cNvSpPr>
              <p:nvPr/>
            </p:nvSpPr>
            <p:spPr bwMode="auto">
              <a:xfrm>
                <a:off x="3000" y="2120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2" name="Line 28"/>
              <p:cNvSpPr>
                <a:spLocks noChangeShapeType="1"/>
              </p:cNvSpPr>
              <p:nvPr/>
            </p:nvSpPr>
            <p:spPr bwMode="auto">
              <a:xfrm>
                <a:off x="3984" y="2120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3" name="Line 29"/>
              <p:cNvSpPr>
                <a:spLocks noChangeShapeType="1"/>
              </p:cNvSpPr>
              <p:nvPr/>
            </p:nvSpPr>
            <p:spPr bwMode="auto">
              <a:xfrm>
                <a:off x="4416" y="212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4" name="Line 30"/>
              <p:cNvSpPr>
                <a:spLocks noChangeShapeType="1"/>
              </p:cNvSpPr>
              <p:nvPr/>
            </p:nvSpPr>
            <p:spPr bwMode="auto">
              <a:xfrm>
                <a:off x="4608" y="211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5" name="Freeform 31"/>
              <p:cNvSpPr>
                <a:spLocks/>
              </p:cNvSpPr>
              <p:nvPr/>
            </p:nvSpPr>
            <p:spPr bwMode="auto">
              <a:xfrm>
                <a:off x="4600" y="2544"/>
                <a:ext cx="1" cy="360"/>
              </a:xfrm>
              <a:custGeom>
                <a:avLst/>
                <a:gdLst>
                  <a:gd name="T0" fmla="*/ 0 w 1"/>
                  <a:gd name="T1" fmla="*/ 0 h 360"/>
                  <a:gd name="T2" fmla="*/ 0 w 1"/>
                  <a:gd name="T3" fmla="*/ 360 h 3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60">
                    <a:moveTo>
                      <a:pt x="0" y="0"/>
                    </a:moveTo>
                    <a:lnTo>
                      <a:pt x="0" y="3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6" name="Freeform 32"/>
              <p:cNvSpPr>
                <a:spLocks/>
              </p:cNvSpPr>
              <p:nvPr/>
            </p:nvSpPr>
            <p:spPr bwMode="auto">
              <a:xfrm>
                <a:off x="3000" y="2904"/>
                <a:ext cx="1600" cy="1"/>
              </a:xfrm>
              <a:custGeom>
                <a:avLst/>
                <a:gdLst>
                  <a:gd name="T0" fmla="*/ 0 w 1600"/>
                  <a:gd name="T1" fmla="*/ 0 h 1"/>
                  <a:gd name="T2" fmla="*/ 1600 w 160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00" h="1">
                    <a:moveTo>
                      <a:pt x="0" y="0"/>
                    </a:moveTo>
                    <a:lnTo>
                      <a:pt x="160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7" name="Line 33"/>
              <p:cNvSpPr>
                <a:spLocks noChangeShapeType="1"/>
              </p:cNvSpPr>
              <p:nvPr/>
            </p:nvSpPr>
            <p:spPr bwMode="auto">
              <a:xfrm>
                <a:off x="3504" y="2112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8" name="Freeform 34"/>
              <p:cNvSpPr>
                <a:spLocks/>
              </p:cNvSpPr>
              <p:nvPr/>
            </p:nvSpPr>
            <p:spPr bwMode="auto">
              <a:xfrm>
                <a:off x="3496" y="2640"/>
                <a:ext cx="1" cy="264"/>
              </a:xfrm>
              <a:custGeom>
                <a:avLst/>
                <a:gdLst>
                  <a:gd name="T0" fmla="*/ 0 w 1"/>
                  <a:gd name="T1" fmla="*/ 0 h 264"/>
                  <a:gd name="T2" fmla="*/ 0 w 1"/>
                  <a:gd name="T3" fmla="*/ 264 h 26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64">
                    <a:moveTo>
                      <a:pt x="0" y="0"/>
                    </a:moveTo>
                    <a:lnTo>
                      <a:pt x="0" y="26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9" name="Line 35"/>
              <p:cNvSpPr>
                <a:spLocks noChangeShapeType="1"/>
              </p:cNvSpPr>
              <p:nvPr/>
            </p:nvSpPr>
            <p:spPr bwMode="auto">
              <a:xfrm flipV="1">
                <a:off x="3000" y="220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0" name="Line 36"/>
              <p:cNvSpPr>
                <a:spLocks noChangeShapeType="1"/>
              </p:cNvSpPr>
              <p:nvPr/>
            </p:nvSpPr>
            <p:spPr bwMode="auto">
              <a:xfrm flipH="1">
                <a:off x="4032" y="2904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1" name="Text Box 37"/>
              <p:cNvSpPr txBox="1">
                <a:spLocks noChangeArrowheads="1"/>
              </p:cNvSpPr>
              <p:nvPr/>
            </p:nvSpPr>
            <p:spPr bwMode="auto">
              <a:xfrm>
                <a:off x="4304" y="2448"/>
                <a:ext cx="212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ea typeface="隶书" panose="02010509060101010101" pitchFamily="49" charset="-122"/>
                  </a:rPr>
                  <a:t>-</a:t>
                </a:r>
              </a:p>
            </p:txBody>
          </p:sp>
          <p:grpSp>
            <p:nvGrpSpPr>
              <p:cNvPr id="15402" name="Group 38"/>
              <p:cNvGrpSpPr>
                <a:grpSpLocks/>
              </p:cNvGrpSpPr>
              <p:nvPr/>
            </p:nvGrpSpPr>
            <p:grpSpPr bwMode="auto">
              <a:xfrm>
                <a:off x="4640" y="2320"/>
                <a:ext cx="379" cy="394"/>
                <a:chOff x="1153" y="2400"/>
                <a:chExt cx="379" cy="394"/>
              </a:xfrm>
            </p:grpSpPr>
            <p:sp>
              <p:nvSpPr>
                <p:cNvPr id="15408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1191" y="2400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b="1">
                      <a:ea typeface="隶书" panose="02010509060101010101" pitchFamily="49" charset="-122"/>
                    </a:rPr>
                    <a:t>2</a:t>
                  </a:r>
                </a:p>
              </p:txBody>
            </p:sp>
            <p:sp>
              <p:nvSpPr>
                <p:cNvPr id="15409" name="Freeform 40"/>
                <p:cNvSpPr>
                  <a:spLocks/>
                </p:cNvSpPr>
                <p:nvPr/>
              </p:nvSpPr>
              <p:spPr bwMode="auto">
                <a:xfrm>
                  <a:off x="1231" y="2601"/>
                  <a:ext cx="126" cy="1"/>
                </a:xfrm>
                <a:custGeom>
                  <a:avLst/>
                  <a:gdLst>
                    <a:gd name="T0" fmla="*/ 0 w 126"/>
                    <a:gd name="T1" fmla="*/ 0 h 1"/>
                    <a:gd name="T2" fmla="*/ 126 w 126"/>
                    <a:gd name="T3" fmla="*/ 0 h 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26" h="1">
                      <a:moveTo>
                        <a:pt x="0" y="0"/>
                      </a:moveTo>
                      <a:lnTo>
                        <a:pt x="126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10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1153" y="2544"/>
                  <a:ext cx="27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b="1">
                      <a:ea typeface="隶书" panose="02010509060101010101" pitchFamily="49" charset="-122"/>
                    </a:rPr>
                    <a:t>19</a:t>
                  </a:r>
                </a:p>
              </p:txBody>
            </p:sp>
            <p:sp>
              <p:nvSpPr>
                <p:cNvPr id="15411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1318" y="2479"/>
                  <a:ext cx="21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b="1">
                      <a:ea typeface="隶书" panose="02010509060101010101" pitchFamily="49" charset="-122"/>
                    </a:rPr>
                    <a:t>F</a:t>
                  </a:r>
                </a:p>
              </p:txBody>
            </p:sp>
          </p:grpSp>
          <p:sp>
            <p:nvSpPr>
              <p:cNvPr id="15403" name="Text Box 43"/>
              <p:cNvSpPr txBox="1">
                <a:spLocks noChangeArrowheads="1"/>
              </p:cNvSpPr>
              <p:nvPr/>
            </p:nvSpPr>
            <p:spPr bwMode="auto">
              <a:xfrm>
                <a:off x="4064" y="2096"/>
                <a:ext cx="4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ea typeface="隶书" panose="02010509060101010101" pitchFamily="49" charset="-122"/>
                  </a:rPr>
                  <a:t>0.5H</a:t>
                </a:r>
              </a:p>
            </p:txBody>
          </p:sp>
          <p:sp>
            <p:nvSpPr>
              <p:cNvPr id="15404" name="Text Box 44"/>
              <p:cNvSpPr txBox="1">
                <a:spLocks noChangeArrowheads="1"/>
              </p:cNvSpPr>
              <p:nvPr/>
            </p:nvSpPr>
            <p:spPr bwMode="auto">
              <a:xfrm>
                <a:off x="2608" y="2368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ea typeface="隶书" panose="02010509060101010101" pitchFamily="49" charset="-122"/>
                  </a:rPr>
                  <a:t>1A</a:t>
                </a:r>
              </a:p>
            </p:txBody>
          </p:sp>
          <p:sp>
            <p:nvSpPr>
              <p:cNvPr id="15405" name="Text Box 45"/>
              <p:cNvSpPr txBox="1">
                <a:spLocks noChangeArrowheads="1"/>
              </p:cNvSpPr>
              <p:nvPr/>
            </p:nvSpPr>
            <p:spPr bwMode="auto">
              <a:xfrm>
                <a:off x="3512" y="2384"/>
                <a:ext cx="3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ea typeface="隶书" panose="02010509060101010101" pitchFamily="49" charset="-122"/>
                    <a:sym typeface="Symbol" panose="05050102010706020507" pitchFamily="18" charset="2"/>
                  </a:rPr>
                  <a:t>10</a:t>
                </a:r>
              </a:p>
            </p:txBody>
          </p:sp>
          <p:sp>
            <p:nvSpPr>
              <p:cNvPr id="15406" name="Text Box 46"/>
              <p:cNvSpPr txBox="1">
                <a:spLocks noChangeArrowheads="1"/>
              </p:cNvSpPr>
              <p:nvPr/>
            </p:nvSpPr>
            <p:spPr bwMode="auto">
              <a:xfrm>
                <a:off x="4272" y="2368"/>
                <a:ext cx="28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ea typeface="隶书" panose="02010509060101010101" pitchFamily="49" charset="-122"/>
                  </a:rPr>
                  <a:t>u</a:t>
                </a:r>
                <a:r>
                  <a:rPr lang="en-US" altLang="zh-CN" sz="2000" b="1" baseline="-25000">
                    <a:ea typeface="隶书" panose="02010509060101010101" pitchFamily="49" charset="-122"/>
                  </a:rPr>
                  <a:t>C</a:t>
                </a:r>
              </a:p>
            </p:txBody>
          </p:sp>
          <p:sp>
            <p:nvSpPr>
              <p:cNvPr id="15407" name="Text Box 47"/>
              <p:cNvSpPr txBox="1">
                <a:spLocks noChangeArrowheads="1"/>
              </p:cNvSpPr>
              <p:nvPr/>
            </p:nvSpPr>
            <p:spPr bwMode="auto">
              <a:xfrm>
                <a:off x="3984" y="2632"/>
                <a:ext cx="22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ea typeface="隶书" panose="02010509060101010101" pitchFamily="49" charset="-122"/>
                  </a:rPr>
                  <a:t>i</a:t>
                </a:r>
                <a:r>
                  <a:rPr lang="en-US" altLang="zh-CN" sz="2000" b="1" baseline="-25000">
                    <a:ea typeface="隶书" panose="02010509060101010101" pitchFamily="49" charset="-122"/>
                  </a:rPr>
                  <a:t>L</a:t>
                </a:r>
              </a:p>
            </p:txBody>
          </p:sp>
        </p:grpSp>
        <p:sp>
          <p:nvSpPr>
            <p:cNvPr id="15382" name="Text Box 48"/>
            <p:cNvSpPr txBox="1">
              <a:spLocks noChangeArrowheads="1"/>
            </p:cNvSpPr>
            <p:nvPr/>
          </p:nvSpPr>
          <p:spPr bwMode="auto">
            <a:xfrm>
              <a:off x="3313" y="3115"/>
              <a:ext cx="18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ea typeface="隶书" panose="02010509060101010101" pitchFamily="49" charset="-122"/>
                </a:rPr>
                <a:t>u</a:t>
              </a:r>
              <a:r>
                <a:rPr lang="en-US" altLang="zh-CN" baseline="-25000">
                  <a:ea typeface="隶书" panose="02010509060101010101" pitchFamily="49" charset="-122"/>
                </a:rPr>
                <a:t>c</a:t>
              </a:r>
              <a:r>
                <a:rPr lang="en-US" altLang="zh-CN">
                  <a:ea typeface="隶书" panose="02010509060101010101" pitchFamily="49" charset="-122"/>
                </a:rPr>
                <a:t>(0-)=15V</a:t>
              </a:r>
              <a:r>
                <a:rPr lang="zh-CN" altLang="en-US">
                  <a:ea typeface="隶书" panose="02010509060101010101" pitchFamily="49" charset="-122"/>
                </a:rPr>
                <a:t>， </a:t>
              </a:r>
              <a:r>
                <a:rPr lang="en-US" altLang="zh-CN">
                  <a:ea typeface="隶书" panose="02010509060101010101" pitchFamily="49" charset="-122"/>
                </a:rPr>
                <a:t>i</a:t>
              </a:r>
              <a:r>
                <a:rPr lang="en-US" altLang="zh-CN" baseline="-25000">
                  <a:ea typeface="隶书" panose="02010509060101010101" pitchFamily="49" charset="-122"/>
                </a:rPr>
                <a:t>L</a:t>
              </a:r>
              <a:r>
                <a:rPr lang="en-US" altLang="zh-CN">
                  <a:ea typeface="隶书" panose="02010509060101010101" pitchFamily="49" charset="-122"/>
                </a:rPr>
                <a:t>(0-)=0</a:t>
              </a:r>
            </a:p>
          </p:txBody>
        </p:sp>
      </p:grpSp>
      <p:graphicFrame>
        <p:nvGraphicFramePr>
          <p:cNvPr id="310384" name="Object 112"/>
          <p:cNvGraphicFramePr>
            <a:graphicFrameLocks noChangeAspect="1"/>
          </p:cNvGraphicFramePr>
          <p:nvPr/>
        </p:nvGraphicFramePr>
        <p:xfrm>
          <a:off x="298450" y="1600200"/>
          <a:ext cx="335756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4" name="Equation" r:id="rId3" imgW="1466927" imgH="392296" progId="Equation.DSMT4">
                  <p:embed/>
                </p:oleObj>
              </mc:Choice>
              <mc:Fallback>
                <p:oleObj name="Equation" r:id="rId3" imgW="1466927" imgH="392296" progId="Equation.DSMT4">
                  <p:embed/>
                  <p:pic>
                    <p:nvPicPr>
                      <p:cNvPr id="310384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" y="1600200"/>
                        <a:ext cx="335756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0386" name="Group 114"/>
          <p:cNvGrpSpPr>
            <a:grpSpLocks/>
          </p:cNvGrpSpPr>
          <p:nvPr/>
        </p:nvGrpSpPr>
        <p:grpSpPr bwMode="auto">
          <a:xfrm>
            <a:off x="323850" y="5815013"/>
            <a:ext cx="2490788" cy="854075"/>
            <a:chOff x="3515" y="3660"/>
            <a:chExt cx="1569" cy="538"/>
          </a:xfrm>
        </p:grpSpPr>
        <p:graphicFrame>
          <p:nvGraphicFramePr>
            <p:cNvPr id="15379" name="Object 115"/>
            <p:cNvGraphicFramePr>
              <a:graphicFrameLocks noChangeAspect="1"/>
            </p:cNvGraphicFramePr>
            <p:nvPr/>
          </p:nvGraphicFramePr>
          <p:xfrm>
            <a:off x="4332" y="3660"/>
            <a:ext cx="752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45" name="公式" r:id="rId5" imgW="567726" imgH="365884" progId="Equation.3">
                    <p:embed/>
                  </p:oleObj>
                </mc:Choice>
                <mc:Fallback>
                  <p:oleObj name="公式" r:id="rId5" imgW="567726" imgH="365884" progId="Equation.3">
                    <p:embed/>
                    <p:pic>
                      <p:nvPicPr>
                        <p:cNvPr id="15379" name="Object 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" y="3660"/>
                          <a:ext cx="752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0" name="Object 116"/>
            <p:cNvGraphicFramePr>
              <a:graphicFrameLocks noChangeAspect="1"/>
            </p:cNvGraphicFramePr>
            <p:nvPr/>
          </p:nvGraphicFramePr>
          <p:xfrm>
            <a:off x="3515" y="3702"/>
            <a:ext cx="60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46" name="公式" r:id="rId7" imgW="453348" imgH="365884" progId="Equation.3">
                    <p:embed/>
                  </p:oleObj>
                </mc:Choice>
                <mc:Fallback>
                  <p:oleObj name="公式" r:id="rId7" imgW="453348" imgH="365884" progId="Equation.3">
                    <p:embed/>
                    <p:pic>
                      <p:nvPicPr>
                        <p:cNvPr id="15380" name="Object 1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3702"/>
                          <a:ext cx="608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0389" name="Object 117"/>
          <p:cNvGraphicFramePr>
            <a:graphicFrameLocks noChangeAspect="1"/>
          </p:cNvGraphicFramePr>
          <p:nvPr/>
        </p:nvGraphicFramePr>
        <p:xfrm>
          <a:off x="3208338" y="5830888"/>
          <a:ext cx="3254375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7" name="Equation" r:id="rId9" imgW="1596296" imgH="350592" progId="Equation.DSMT4">
                  <p:embed/>
                </p:oleObj>
              </mc:Choice>
              <mc:Fallback>
                <p:oleObj name="Equation" r:id="rId9" imgW="1596296" imgH="350592" progId="Equation.DSMT4">
                  <p:embed/>
                  <p:pic>
                    <p:nvPicPr>
                      <p:cNvPr id="310389" name="Object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338" y="5830888"/>
                        <a:ext cx="3254375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0390" name="Picture 118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3284538"/>
            <a:ext cx="4176712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3259" name="Object 119"/>
          <p:cNvGraphicFramePr>
            <a:graphicFrameLocks noChangeAspect="1"/>
          </p:cNvGraphicFramePr>
          <p:nvPr/>
        </p:nvGraphicFramePr>
        <p:xfrm>
          <a:off x="373063" y="1222375"/>
          <a:ext cx="2700337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8" name="Equation" r:id="rId12" imgW="1177372" imgH="163758" progId="Equation.DSMT4">
                  <p:embed/>
                </p:oleObj>
              </mc:Choice>
              <mc:Fallback>
                <p:oleObj name="Equation" r:id="rId12" imgW="1177372" imgH="163758" progId="Equation.DSMT4">
                  <p:embed/>
                  <p:pic>
                    <p:nvPicPr>
                      <p:cNvPr id="53259" name="Object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63" y="1222375"/>
                        <a:ext cx="2700337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392" name="Object 120"/>
          <p:cNvGraphicFramePr>
            <a:graphicFrameLocks noChangeAspect="1"/>
          </p:cNvGraphicFramePr>
          <p:nvPr/>
        </p:nvGraphicFramePr>
        <p:xfrm>
          <a:off x="3317875" y="1222375"/>
          <a:ext cx="219075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9" name="Equation" r:id="rId14" imgW="948616" imgH="163758" progId="Equation.DSMT4">
                  <p:embed/>
                </p:oleObj>
              </mc:Choice>
              <mc:Fallback>
                <p:oleObj name="Equation" r:id="rId14" imgW="948616" imgH="163758" progId="Equation.DSMT4">
                  <p:embed/>
                  <p:pic>
                    <p:nvPicPr>
                      <p:cNvPr id="310392" name="Object 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75" y="1222375"/>
                        <a:ext cx="219075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393" name="Object 121"/>
          <p:cNvGraphicFramePr>
            <a:graphicFrameLocks noChangeAspect="1"/>
          </p:cNvGraphicFramePr>
          <p:nvPr/>
        </p:nvGraphicFramePr>
        <p:xfrm>
          <a:off x="236538" y="2624138"/>
          <a:ext cx="5487987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0" name="Equation" r:id="rId16" imgW="2419430" imgH="323901" progId="Equation.DSMT4">
                  <p:embed/>
                </p:oleObj>
              </mc:Choice>
              <mc:Fallback>
                <p:oleObj name="Equation" r:id="rId16" imgW="2419430" imgH="323901" progId="Equation.DSMT4">
                  <p:embed/>
                  <p:pic>
                    <p:nvPicPr>
                      <p:cNvPr id="310393" name="Object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8" y="2624138"/>
                        <a:ext cx="5487987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394" name="Object 122"/>
          <p:cNvGraphicFramePr>
            <a:graphicFrameLocks noChangeAspect="1"/>
          </p:cNvGraphicFramePr>
          <p:nvPr/>
        </p:nvGraphicFramePr>
        <p:xfrm>
          <a:off x="239713" y="3484563"/>
          <a:ext cx="32432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1" name="Equation" r:id="rId18" imgW="1421120" imgH="339193" progId="Equation.DSMT4">
                  <p:embed/>
                </p:oleObj>
              </mc:Choice>
              <mc:Fallback>
                <p:oleObj name="Equation" r:id="rId18" imgW="1421120" imgH="339193" progId="Equation.DSMT4">
                  <p:embed/>
                  <p:pic>
                    <p:nvPicPr>
                      <p:cNvPr id="310394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13" y="3484563"/>
                        <a:ext cx="32432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395" name="Object 123"/>
          <p:cNvGraphicFramePr>
            <a:graphicFrameLocks noChangeAspect="1"/>
          </p:cNvGraphicFramePr>
          <p:nvPr/>
        </p:nvGraphicFramePr>
        <p:xfrm>
          <a:off x="279400" y="4202113"/>
          <a:ext cx="3500438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2" name="Equation" r:id="rId20" imgW="1535498" imgH="365884" progId="Equation.DSMT4">
                  <p:embed/>
                </p:oleObj>
              </mc:Choice>
              <mc:Fallback>
                <p:oleObj name="Equation" r:id="rId20" imgW="1535498" imgH="365884" progId="Equation.DSMT4">
                  <p:embed/>
                  <p:pic>
                    <p:nvPicPr>
                      <p:cNvPr id="310395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" y="4202113"/>
                        <a:ext cx="3500438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396" name="Object 124"/>
          <p:cNvGraphicFramePr>
            <a:graphicFrameLocks noChangeAspect="1"/>
          </p:cNvGraphicFramePr>
          <p:nvPr/>
        </p:nvGraphicFramePr>
        <p:xfrm>
          <a:off x="282575" y="5116513"/>
          <a:ext cx="29940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3" name="Equation" r:id="rId22" imgW="1177372" imgH="175157" progId="Equation.DSMT4">
                  <p:embed/>
                </p:oleObj>
              </mc:Choice>
              <mc:Fallback>
                <p:oleObj name="Equation" r:id="rId22" imgW="1177372" imgH="175157" progId="Equation.DSMT4">
                  <p:embed/>
                  <p:pic>
                    <p:nvPicPr>
                      <p:cNvPr id="310396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" y="5116513"/>
                        <a:ext cx="29940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397" name="Rectangle 125"/>
          <p:cNvSpPr>
            <a:spLocks noChangeArrowheads="1"/>
          </p:cNvSpPr>
          <p:nvPr/>
        </p:nvSpPr>
        <p:spPr bwMode="auto">
          <a:xfrm>
            <a:off x="323850" y="620713"/>
            <a:ext cx="8208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</a:t>
            </a:r>
            <a:r>
              <a:rPr lang="zh-CN" altLang="en-US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全响应</a:t>
            </a:r>
            <a:r>
              <a:rPr lang="en-US" altLang="zh-CN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——</a:t>
            </a:r>
            <a:r>
              <a:rPr lang="zh-CN" altLang="en-US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二阶电路响应计算</a:t>
            </a:r>
            <a:endParaRPr lang="zh-CN" altLang="en-US" sz="24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" name="Rectangle 25"/>
          <p:cNvSpPr txBox="1">
            <a:spLocks noChangeArrowheads="1"/>
          </p:cNvSpPr>
          <p:nvPr/>
        </p:nvSpPr>
        <p:spPr>
          <a:xfrm>
            <a:off x="381000" y="188913"/>
            <a:ext cx="8458200" cy="457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9.3 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直流激励下的响应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229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4F9F52-11A3-4ABB-8549-FC900F46DBB8}" type="datetime1">
              <a:rPr lang="zh-CN" altLang="en-US" smtClean="0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83FFC9-11CC-40BA-81D6-981F559FBE5F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6" name="日期占位符 2"/>
          <p:cNvSpPr txBox="1">
            <a:spLocks/>
          </p:cNvSpPr>
          <p:nvPr/>
        </p:nvSpPr>
        <p:spPr bwMode="auto">
          <a:xfrm>
            <a:off x="381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6CC17C-2BF4-4C67-98BA-11F307CBFA9A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2022/4/13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7" name="页脚占位符 3"/>
          <p:cNvSpPr txBox="1">
            <a:spLocks/>
          </p:cNvSpPr>
          <p:nvPr/>
        </p:nvSpPr>
        <p:spPr bwMode="auto">
          <a:xfrm>
            <a:off x="3124200" y="65722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8" name="灯片编号占位符 4"/>
          <p:cNvSpPr txBox="1">
            <a:spLocks/>
          </p:cNvSpPr>
          <p:nvPr/>
        </p:nvSpPr>
        <p:spPr bwMode="auto">
          <a:xfrm>
            <a:off x="6858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EBA4EF-1C51-472B-B002-9A34C4A86085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9" name="Rectangle 25"/>
          <p:cNvSpPr txBox="1">
            <a:spLocks noChangeArrowheads="1"/>
          </p:cNvSpPr>
          <p:nvPr/>
        </p:nvSpPr>
        <p:spPr>
          <a:xfrm>
            <a:off x="381000" y="188913"/>
            <a:ext cx="8458200" cy="457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一般二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阶电路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119233"/>
              </p:ext>
            </p:extLst>
          </p:nvPr>
        </p:nvGraphicFramePr>
        <p:xfrm>
          <a:off x="35496" y="996950"/>
          <a:ext cx="3117850" cy="177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4" name="Visio" r:id="rId3" imgW="1558480" imgH="884682" progId="Visio.Drawing.11">
                  <p:embed/>
                </p:oleObj>
              </mc:Choice>
              <mc:Fallback>
                <p:oleObj name="Visio" r:id="rId3" imgW="1558480" imgH="884682" progId="Visio.Drawing.11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" y="996950"/>
                        <a:ext cx="3117850" cy="177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969016"/>
              </p:ext>
            </p:extLst>
          </p:nvPr>
        </p:nvGraphicFramePr>
        <p:xfrm>
          <a:off x="3153346" y="1231196"/>
          <a:ext cx="2892425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5" name="Visio" r:id="rId5" imgW="1446181" imgH="891969" progId="Visio.Drawing.11">
                  <p:embed/>
                </p:oleObj>
              </mc:Choice>
              <mc:Fallback>
                <p:oleObj name="Visio" r:id="rId5" imgW="1446181" imgH="891969" progId="Visio.Drawing.11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6479"/>
                      <a:stretch>
                        <a:fillRect/>
                      </a:stretch>
                    </p:blipFill>
                    <p:spPr bwMode="auto">
                      <a:xfrm>
                        <a:off x="3153346" y="1231196"/>
                        <a:ext cx="2892425" cy="150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339371"/>
              </p:ext>
            </p:extLst>
          </p:nvPr>
        </p:nvGraphicFramePr>
        <p:xfrm>
          <a:off x="3153346" y="3643193"/>
          <a:ext cx="381635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6" name="Visio" r:id="rId7" imgW="1908238" imgH="869680" progId="Visio.Drawing.11">
                  <p:embed/>
                </p:oleObj>
              </mc:Choice>
              <mc:Fallback>
                <p:oleObj name="Visio" r:id="rId7" imgW="1908238" imgH="869680" progId="Visio.Drawing.11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3346" y="3643193"/>
                        <a:ext cx="3816350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446417"/>
              </p:ext>
            </p:extLst>
          </p:nvPr>
        </p:nvGraphicFramePr>
        <p:xfrm>
          <a:off x="176099" y="3609181"/>
          <a:ext cx="3306762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7" name="Visio" r:id="rId9" imgW="1653053" imgH="1019124" progId="Visio.Drawing.11">
                  <p:embed/>
                </p:oleObj>
              </mc:Choice>
              <mc:Fallback>
                <p:oleObj name="Visio" r:id="rId9" imgW="1653053" imgH="1019124" progId="Visio.Drawing.11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9639"/>
                      <a:stretch>
                        <a:fillRect/>
                      </a:stretch>
                    </p:blipFill>
                    <p:spPr bwMode="auto">
                      <a:xfrm>
                        <a:off x="176099" y="3609181"/>
                        <a:ext cx="3306762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95480" y="5548212"/>
            <a:ext cx="26116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dirty="0">
                <a:ea typeface="隶书" panose="02010509060101010101" pitchFamily="49" charset="-122"/>
              </a:rPr>
              <a:t>一般二</a:t>
            </a:r>
            <a:r>
              <a:rPr lang="zh-CN" altLang="zh-CN" dirty="0" smtClean="0">
                <a:ea typeface="隶书" panose="02010509060101010101" pitchFamily="49" charset="-122"/>
              </a:rPr>
              <a:t>阶</a:t>
            </a:r>
            <a:r>
              <a:rPr lang="en-US" altLang="zh-CN" dirty="0" smtClean="0">
                <a:ea typeface="隶书" panose="02010509060101010101" pitchFamily="49" charset="-122"/>
              </a:rPr>
              <a:t>RLL</a:t>
            </a:r>
            <a:r>
              <a:rPr lang="zh-CN" altLang="zh-CN" dirty="0" smtClean="0">
                <a:ea typeface="隶书" panose="02010509060101010101" pitchFamily="49" charset="-122"/>
              </a:rPr>
              <a:t>电路</a:t>
            </a:r>
            <a:endParaRPr lang="zh-CN" altLang="en-US" dirty="0">
              <a:ea typeface="隶书" panose="02010509060101010101" pitchFamily="49" charset="-122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3550394" y="5516006"/>
            <a:ext cx="2646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dirty="0">
                <a:ea typeface="隶书" panose="02010509060101010101" pitchFamily="49" charset="-122"/>
              </a:rPr>
              <a:t>一般二</a:t>
            </a:r>
            <a:r>
              <a:rPr lang="zh-CN" altLang="zh-CN" dirty="0" smtClean="0">
                <a:ea typeface="隶书" panose="02010509060101010101" pitchFamily="49" charset="-122"/>
              </a:rPr>
              <a:t>阶</a:t>
            </a:r>
            <a:r>
              <a:rPr lang="en-US" altLang="zh-CN" dirty="0" smtClean="0">
                <a:ea typeface="隶书" panose="02010509060101010101" pitchFamily="49" charset="-122"/>
              </a:rPr>
              <a:t>RCC</a:t>
            </a:r>
            <a:r>
              <a:rPr lang="zh-CN" altLang="zh-CN" dirty="0" smtClean="0">
                <a:ea typeface="隶书" panose="02010509060101010101" pitchFamily="49" charset="-122"/>
              </a:rPr>
              <a:t>电路</a:t>
            </a:r>
            <a:endParaRPr lang="zh-CN" altLang="en-US" dirty="0">
              <a:ea typeface="隶书" panose="02010509060101010101" pitchFamily="49" charset="-122"/>
            </a:endParaRP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64146" y="2901950"/>
            <a:ext cx="2012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隶书" panose="02010509060101010101" pitchFamily="49" charset="-122"/>
              </a:rPr>
              <a:t>RLC</a:t>
            </a:r>
            <a:r>
              <a:rPr lang="zh-CN" altLang="en-US">
                <a:ea typeface="隶书" panose="02010509060101010101" pitchFamily="49" charset="-122"/>
              </a:rPr>
              <a:t>串</a:t>
            </a:r>
            <a:r>
              <a:rPr lang="zh-CN" altLang="zh-CN">
                <a:ea typeface="隶书" panose="02010509060101010101" pitchFamily="49" charset="-122"/>
              </a:rPr>
              <a:t>联电路</a:t>
            </a:r>
            <a:endParaRPr lang="zh-CN" altLang="en-US">
              <a:ea typeface="隶书" panose="02010509060101010101" pitchFamily="49" charset="-122"/>
            </a:endParaRP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3760093" y="2858900"/>
            <a:ext cx="2014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ea typeface="隶书" panose="02010509060101010101" pitchFamily="49" charset="-122"/>
              </a:rPr>
              <a:t>RLC</a:t>
            </a:r>
            <a:r>
              <a:rPr lang="zh-CN" altLang="zh-CN" dirty="0">
                <a:ea typeface="隶书" panose="02010509060101010101" pitchFamily="49" charset="-122"/>
              </a:rPr>
              <a:t>并联电路</a:t>
            </a:r>
            <a:endParaRPr lang="zh-CN" altLang="en-US" dirty="0">
              <a:ea typeface="隶书" panose="02010509060101010101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091472" y="5430965"/>
            <a:ext cx="30525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在</a:t>
            </a:r>
            <a:r>
              <a:rPr lang="zh-CN" altLang="en-US" dirty="0"/>
              <a:t>电源置零后，不能变换</a:t>
            </a:r>
            <a:r>
              <a:rPr lang="zh-CN" altLang="en-US" dirty="0" smtClean="0"/>
              <a:t>为</a:t>
            </a:r>
            <a:r>
              <a:rPr lang="en-US" altLang="zh-CN" dirty="0" smtClean="0"/>
              <a:t>R</a:t>
            </a:r>
            <a:r>
              <a:rPr lang="zh-CN" altLang="en-US" dirty="0"/>
              <a:t>、</a:t>
            </a:r>
            <a:r>
              <a:rPr lang="en-US" altLang="zh-CN" dirty="0"/>
              <a:t>L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串联</a:t>
            </a:r>
            <a:r>
              <a:rPr lang="en-US" altLang="zh-CN" dirty="0"/>
              <a:t>R</a:t>
            </a:r>
            <a:r>
              <a:rPr lang="zh-CN" altLang="en-US" dirty="0"/>
              <a:t>、</a:t>
            </a:r>
            <a:r>
              <a:rPr lang="en-US" altLang="zh-CN" dirty="0"/>
              <a:t>L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 smtClean="0"/>
              <a:t>并联的</a:t>
            </a:r>
            <a:r>
              <a:rPr lang="zh-CN" altLang="en-US" dirty="0"/>
              <a:t>二阶电路，统称为一般</a:t>
            </a:r>
            <a:r>
              <a:rPr lang="zh-CN" altLang="en-US" dirty="0" smtClean="0"/>
              <a:t>二阶</a:t>
            </a:r>
            <a:r>
              <a:rPr lang="zh-CN" altLang="en-US" dirty="0"/>
              <a:t>电路。</a:t>
            </a:r>
          </a:p>
        </p:txBody>
      </p:sp>
      <p:sp>
        <p:nvSpPr>
          <p:cNvPr id="24" name="矩形 23"/>
          <p:cNvSpPr/>
          <p:nvPr/>
        </p:nvSpPr>
        <p:spPr>
          <a:xfrm>
            <a:off x="2723244" y="437946"/>
            <a:ext cx="3474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 电路的阶次与独立电源无关。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6372200" y="1026785"/>
            <a:ext cx="26642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 </a:t>
            </a:r>
            <a:r>
              <a:rPr lang="en-US" altLang="zh-CN" dirty="0"/>
              <a:t>RLC</a:t>
            </a:r>
            <a:r>
              <a:rPr lang="zh-CN" altLang="en-US" dirty="0"/>
              <a:t>串联电路或</a:t>
            </a:r>
            <a:r>
              <a:rPr lang="en-US" altLang="zh-CN" dirty="0"/>
              <a:t>RLC</a:t>
            </a:r>
            <a:r>
              <a:rPr lang="zh-CN" altLang="en-US" dirty="0" smtClean="0"/>
              <a:t>并联电路</a:t>
            </a:r>
            <a:r>
              <a:rPr lang="zh-CN" altLang="en-US" dirty="0"/>
              <a:t>，是在独立电源置零后，能够变换为</a:t>
            </a:r>
            <a:r>
              <a:rPr lang="en-US" altLang="zh-CN" dirty="0"/>
              <a:t>R</a:t>
            </a:r>
            <a:r>
              <a:rPr lang="zh-CN" altLang="en-US" dirty="0"/>
              <a:t>、</a:t>
            </a:r>
            <a:r>
              <a:rPr lang="en-US" altLang="zh-CN" dirty="0"/>
              <a:t>L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串联或</a:t>
            </a:r>
            <a:r>
              <a:rPr lang="en-US" altLang="zh-CN" dirty="0"/>
              <a:t>R</a:t>
            </a:r>
            <a:r>
              <a:rPr lang="zh-CN" altLang="en-US" dirty="0"/>
              <a:t>、</a:t>
            </a:r>
            <a:r>
              <a:rPr lang="en-US" altLang="zh-CN" dirty="0"/>
              <a:t>L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并联的电路，是工程中最常见的二阶电路。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095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4F9F52-11A3-4ABB-8549-FC900F46DBB8}" type="datetime1">
              <a:rPr lang="zh-CN" altLang="en-US" smtClean="0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83FFC9-11CC-40BA-81D6-981F559FBE5F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10108"/>
          <a:stretch/>
        </p:blipFill>
        <p:spPr>
          <a:xfrm>
            <a:off x="2830" y="1556792"/>
            <a:ext cx="9136391" cy="446449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7005" y="332656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一般二阶电路分析思路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629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4F9F52-11A3-4ABB-8549-FC900F46DBB8}" type="datetime1">
              <a:rPr lang="zh-CN" altLang="en-US" smtClean="0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83FFC9-11CC-40BA-81D6-981F559FBE5F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73" y="1052736"/>
            <a:ext cx="8572847" cy="483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09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4F9F52-11A3-4ABB-8549-FC900F46DBB8}" type="datetime1">
              <a:rPr lang="zh-CN" altLang="en-US" smtClean="0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83FFC9-11CC-40BA-81D6-981F559FBE5F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867982"/>
            <a:ext cx="8821638" cy="490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4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31F3017-8615-4871-AC62-221729257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7" y="3035676"/>
            <a:ext cx="4161860" cy="1512314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0E4E5D44-D18C-49B2-BD95-FFAA977CB060}"/>
              </a:ext>
            </a:extLst>
          </p:cNvPr>
          <p:cNvGrpSpPr/>
          <p:nvPr/>
        </p:nvGrpSpPr>
        <p:grpSpPr>
          <a:xfrm>
            <a:off x="71576" y="1106197"/>
            <a:ext cx="9000848" cy="973826"/>
            <a:chOff x="41945" y="222872"/>
            <a:chExt cx="12192000" cy="1298434"/>
          </a:xfrm>
        </p:grpSpPr>
        <p:sp>
          <p:nvSpPr>
            <p:cNvPr id="10" name="Rectangle 14">
              <a:extLst>
                <a:ext uri="{FF2B5EF4-FFF2-40B4-BE49-F238E27FC236}">
                  <a16:creationId xmlns:a16="http://schemas.microsoft.com/office/drawing/2014/main" id="{B04919E6-FE36-4A3A-9B95-FEEE32E52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45" y="222872"/>
              <a:ext cx="12192000" cy="1298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defTabSz="685800" eaLnBrk="1" fontAlgn="auto" hangingPunct="1"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</a:rPr>
                <a:t>7-36</a:t>
              </a:r>
              <a:r>
                <a:rPr lang="zh-CN" altLang="en-US" dirty="0">
                  <a:solidFill>
                    <a:prstClr val="black"/>
                  </a:solidFill>
                  <a:ea typeface="隶书" panose="02010509060101010101" pitchFamily="49" charset="-122"/>
                </a:rPr>
                <a:t>、题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</a:rPr>
                <a:t>7-36</a:t>
              </a:r>
              <a:r>
                <a:rPr lang="zh-CN" altLang="en-US" dirty="0">
                  <a:solidFill>
                    <a:prstClr val="black"/>
                  </a:solidFill>
                  <a:ea typeface="隶书" panose="02010509060101010101" pitchFamily="49" charset="-122"/>
                </a:rPr>
                <a:t>图所示的电路在开关打开前处于稳态。确定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(1)</a:t>
              </a:r>
              <a:r>
                <a:rPr lang="zh-CN" altLang="en-US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电路的阶数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;(2)</a:t>
              </a:r>
              <a:r>
                <a:rPr lang="en-US" altLang="zh-CN" i="1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t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&gt;0</a:t>
              </a:r>
              <a:r>
                <a:rPr lang="zh-CN" altLang="en-US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后的</a:t>
              </a:r>
              <a:r>
                <a:rPr lang="en-US" altLang="zh-CN" i="1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u</a:t>
              </a:r>
              <a:r>
                <a:rPr lang="en-US" altLang="zh-CN" baseline="-25000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c</a:t>
              </a:r>
              <a:r>
                <a:rPr lang="zh-CN" altLang="en-US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的微分方程、</a:t>
              </a:r>
              <a:r>
                <a:rPr lang="en-US" altLang="zh-CN" i="1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i</a:t>
              </a:r>
              <a:r>
                <a:rPr lang="en-US" altLang="zh-CN" baseline="-25000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L</a:t>
              </a:r>
              <a:r>
                <a:rPr lang="zh-CN" altLang="en-US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的微分方程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;(3)</a:t>
              </a:r>
              <a:r>
                <a:rPr lang="en-US" altLang="zh-CN" i="1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u</a:t>
              </a:r>
              <a:r>
                <a:rPr lang="en-US" altLang="zh-CN" baseline="-25000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c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(0</a:t>
              </a:r>
              <a:r>
                <a:rPr lang="en-US" altLang="zh-CN" baseline="-25000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+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)</a:t>
              </a:r>
              <a:r>
                <a:rPr lang="zh-CN" altLang="en-US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、</a:t>
              </a:r>
              <a:r>
                <a:rPr lang="en-US" altLang="zh-CN" i="1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i</a:t>
              </a:r>
              <a:r>
                <a:rPr lang="en-US" altLang="zh-CN" baseline="-25000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L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(0</a:t>
              </a:r>
              <a:r>
                <a:rPr lang="en-US" altLang="zh-CN" baseline="-25000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+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)</a:t>
              </a:r>
              <a:r>
                <a:rPr lang="zh-CN" altLang="en-US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、</a:t>
              </a:r>
              <a:r>
                <a:rPr lang="en-US" altLang="zh-CN" i="1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i</a:t>
              </a:r>
              <a:r>
                <a:rPr lang="en-US" altLang="zh-CN" baseline="-25000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c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(0</a:t>
              </a:r>
              <a:r>
                <a:rPr lang="en-US" altLang="zh-CN" baseline="-25000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+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)</a:t>
              </a:r>
              <a:r>
                <a:rPr lang="zh-CN" altLang="en-US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、</a:t>
              </a:r>
              <a:r>
                <a:rPr lang="en-US" altLang="zh-CN" i="1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u</a:t>
              </a:r>
              <a:r>
                <a:rPr lang="en-US" altLang="zh-CN" baseline="-25000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L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(0</a:t>
              </a:r>
              <a:r>
                <a:rPr lang="en-US" altLang="zh-CN" baseline="-25000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+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);(4)             ;(5)</a:t>
              </a:r>
              <a:r>
                <a:rPr lang="en-US" altLang="zh-CN" i="1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u</a:t>
              </a:r>
              <a:r>
                <a:rPr lang="en-US" altLang="zh-CN" baseline="-25000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c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(</a:t>
              </a:r>
              <a:r>
                <a:rPr lang="zh-CN" altLang="en-US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∞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)</a:t>
              </a:r>
              <a:r>
                <a:rPr lang="zh-CN" altLang="en-US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、</a:t>
              </a:r>
              <a:r>
                <a:rPr lang="en-US" altLang="zh-CN" i="1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i</a:t>
              </a:r>
              <a:r>
                <a:rPr lang="en-US" altLang="zh-CN" baseline="-25000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L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(</a:t>
              </a:r>
              <a:r>
                <a:rPr lang="zh-CN" altLang="en-US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∞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);(6)</a:t>
              </a:r>
              <a:r>
                <a:rPr lang="en-US" altLang="zh-CN" i="1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u</a:t>
              </a:r>
              <a:r>
                <a:rPr lang="en-US" altLang="zh-CN" baseline="-25000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c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(</a:t>
              </a:r>
              <a:r>
                <a:rPr lang="en-US" altLang="zh-CN" i="1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t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)(</a:t>
              </a:r>
              <a:r>
                <a:rPr lang="en-US" altLang="zh-CN" i="1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t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&gt;0);(7)</a:t>
              </a:r>
              <a:r>
                <a:rPr lang="zh-CN" altLang="en-US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用</a:t>
              </a:r>
              <a:r>
                <a:rPr lang="en-US" altLang="zh-CN" i="1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u</a:t>
              </a:r>
              <a:r>
                <a:rPr lang="en-US" altLang="zh-CN" baseline="-25000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c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(</a:t>
              </a:r>
              <a:r>
                <a:rPr lang="zh-CN" altLang="en-US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∞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)</a:t>
              </a:r>
              <a:r>
                <a:rPr lang="zh-CN" altLang="en-US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检验</a:t>
              </a:r>
              <a:r>
                <a:rPr lang="en-US" altLang="zh-CN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u</a:t>
              </a:r>
              <a:r>
                <a:rPr lang="en-US" altLang="zh-CN" baseline="-25000" dirty="0" err="1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c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(</a:t>
              </a:r>
              <a:r>
                <a:rPr lang="en-US" altLang="zh-CN" i="1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t</a:t>
              </a:r>
              <a:r>
                <a:rPr lang="en-US" altLang="zh-CN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)</a:t>
              </a:r>
              <a:r>
                <a:rPr lang="zh-CN" altLang="en-US" dirty="0">
                  <a:solidFill>
                    <a:prstClr val="black"/>
                  </a:solidFill>
                  <a:ea typeface="隶书" panose="02010509060101010101" pitchFamily="49" charset="-122"/>
                  <a:sym typeface="Wingdings" panose="05000000000000000000" pitchFamily="2" charset="2"/>
                </a:rPr>
                <a:t>。</a:t>
              </a:r>
              <a:endParaRPr lang="en-US" altLang="zh-CN" dirty="0">
                <a:solidFill>
                  <a:prstClr val="black"/>
                </a:solidFill>
                <a:ea typeface="隶书" panose="02010509060101010101" pitchFamily="49" charset="-122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4ABAE65B-CA75-4CE8-AF4C-16C0DD5FA0D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157586" y="837093"/>
            <a:ext cx="1327292" cy="684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04" name="Equation" r:id="rId4" imgW="863280" imgH="444240" progId="Equation.DSMT4">
                    <p:embed/>
                  </p:oleObj>
                </mc:Choice>
                <mc:Fallback>
                  <p:oleObj name="Equation" r:id="rId4" imgW="863280" imgH="44424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4ABAE65B-CA75-4CE8-AF4C-16C0DD5FA0D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157586" y="837093"/>
                          <a:ext cx="1327292" cy="6842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80A678A6-CC70-46E3-B799-2D9979D6B0CA}"/>
              </a:ext>
            </a:extLst>
          </p:cNvPr>
          <p:cNvSpPr txBox="1"/>
          <p:nvPr/>
        </p:nvSpPr>
        <p:spPr>
          <a:xfrm>
            <a:off x="1718376" y="4626004"/>
            <a:ext cx="86826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35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题</a:t>
            </a:r>
            <a:r>
              <a:rPr kumimoji="0" lang="en-US" altLang="zh-CN" sz="135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7-36</a:t>
            </a:r>
            <a:r>
              <a:rPr kumimoji="0" lang="zh-CN" altLang="en-US" sz="135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图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3830E27-E9C7-441E-90B4-F541EE31C066}"/>
              </a:ext>
            </a:extLst>
          </p:cNvPr>
          <p:cNvSpPr txBox="1"/>
          <p:nvPr/>
        </p:nvSpPr>
        <p:spPr>
          <a:xfrm>
            <a:off x="4572001" y="2386144"/>
            <a:ext cx="40518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5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（</a:t>
            </a:r>
            <a:r>
              <a:rPr kumimoji="0" lang="en-US" altLang="zh-CN" sz="15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kumimoji="0" lang="zh-CN" altLang="en-US" sz="15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）电路中含有两个独立的储能元件，所以是二阶电路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5A01C1-5F3C-4207-A7A9-3580716135E5}"/>
              </a:ext>
            </a:extLst>
          </p:cNvPr>
          <p:cNvSpPr txBox="1"/>
          <p:nvPr/>
        </p:nvSpPr>
        <p:spPr>
          <a:xfrm>
            <a:off x="4572001" y="3110079"/>
            <a:ext cx="24537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（</a:t>
            </a:r>
            <a:r>
              <a:rPr kumimoji="0" lang="en-US" altLang="zh-CN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2</a:t>
            </a:r>
            <a:r>
              <a:rPr kumimoji="0" lang="zh-CN" altLang="en-US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）</a:t>
            </a:r>
            <a:r>
              <a:rPr kumimoji="0" lang="en-US" altLang="zh-CN" sz="1500" i="1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500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&gt;0</a:t>
            </a:r>
            <a:r>
              <a:rPr kumimoji="0" lang="zh-CN" altLang="en-US" sz="1500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后，电路如下：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7A39E7F-BA89-4B65-AD5F-0FE22EF0485C}"/>
              </a:ext>
            </a:extLst>
          </p:cNvPr>
          <p:cNvSpPr txBox="1"/>
          <p:nvPr/>
        </p:nvSpPr>
        <p:spPr>
          <a:xfrm>
            <a:off x="4910565" y="5175121"/>
            <a:ext cx="12331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500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KCL</a:t>
            </a:r>
            <a:r>
              <a:rPr kumimoji="0" lang="zh-CN" altLang="en-US" sz="1500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500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KVL:</a:t>
            </a:r>
            <a:endParaRPr kumimoji="0" lang="zh-CN" altLang="en-US" sz="1500" dirty="0">
              <a:solidFill>
                <a:prstClr val="black"/>
              </a:solidFill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903D83FB-77A9-4578-AF09-AE20DC478C8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034328" y="4903003"/>
          <a:ext cx="1885974" cy="1046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5" name="Equation" r:id="rId6" imgW="1511280" imgH="838080" progId="Equation.DSMT4">
                  <p:embed/>
                </p:oleObj>
              </mc:Choice>
              <mc:Fallback>
                <p:oleObj name="Equation" r:id="rId6" imgW="1511280" imgH="8380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903D83FB-77A9-4578-AF09-AE20DC478C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34328" y="4903003"/>
                        <a:ext cx="1885974" cy="1046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图片 22">
            <a:extLst>
              <a:ext uri="{FF2B5EF4-FFF2-40B4-BE49-F238E27FC236}">
                <a16:creationId xmlns:a16="http://schemas.microsoft.com/office/drawing/2014/main" id="{B7F4B1D5-04EE-4BB0-83A8-BFF2B4D6DA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565" y="3346982"/>
            <a:ext cx="3105367" cy="14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72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D83B787-D29E-4CC9-8477-67463F2E6AC6}"/>
              </a:ext>
            </a:extLst>
          </p:cNvPr>
          <p:cNvSpPr txBox="1"/>
          <p:nvPr/>
        </p:nvSpPr>
        <p:spPr>
          <a:xfrm>
            <a:off x="232794" y="1360590"/>
            <a:ext cx="18120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可以得到微分方程：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D978D3A-CD27-4A2C-B746-C91D7688795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03625" y="1784792"/>
          <a:ext cx="2276801" cy="1075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0" name="Equation" r:id="rId3" imgW="1828800" imgH="863280" progId="Equation.DSMT4">
                  <p:embed/>
                </p:oleObj>
              </mc:Choice>
              <mc:Fallback>
                <p:oleObj name="Equation" r:id="rId3" imgW="1828800" imgH="8632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D978D3A-CD27-4A2C-B746-C91D768879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3625" y="1784792"/>
                        <a:ext cx="2276801" cy="1075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FCF3DAB-62A1-4DBB-838E-212AD3EFD079}"/>
              </a:ext>
            </a:extLst>
          </p:cNvPr>
          <p:cNvSpPr txBox="1"/>
          <p:nvPr/>
        </p:nvSpPr>
        <p:spPr>
          <a:xfrm>
            <a:off x="163585" y="3082752"/>
            <a:ext cx="281683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（</a:t>
            </a:r>
            <a:r>
              <a:rPr kumimoji="0" lang="en-US" altLang="zh-CN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3</a:t>
            </a:r>
            <a:r>
              <a:rPr kumimoji="0" lang="zh-CN" altLang="en-US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）</a:t>
            </a:r>
            <a:r>
              <a:rPr kumimoji="0" lang="en-US" altLang="zh-CN" sz="1500" i="1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500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=0</a:t>
            </a:r>
            <a:r>
              <a:rPr kumimoji="0" lang="en-US" altLang="zh-CN" sz="1500" baseline="-25000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时刻电路图如下：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948A8A5-5829-4625-ACA5-8251C8E1D75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03626" y="4752396"/>
          <a:ext cx="3206630" cy="1094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1" name="Equation" r:id="rId5" imgW="2679480" imgH="914400" progId="Equation.DSMT4">
                  <p:embed/>
                </p:oleObj>
              </mc:Choice>
              <mc:Fallback>
                <p:oleObj name="Equation" r:id="rId5" imgW="2679480" imgH="914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948A8A5-5829-4625-ACA5-8251C8E1D7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3626" y="4752396"/>
                        <a:ext cx="3206630" cy="10942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B20F9506-41D7-4ECB-876D-17BD9268D8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625" y="3363453"/>
            <a:ext cx="2680284" cy="1281789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3850C8C-E5DA-458C-967D-6CF89693639D}"/>
              </a:ext>
            </a:extLst>
          </p:cNvPr>
          <p:cNvCxnSpPr/>
          <p:nvPr/>
        </p:nvCxnSpPr>
        <p:spPr>
          <a:xfrm>
            <a:off x="4553125" y="857250"/>
            <a:ext cx="0" cy="514350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1BCEE1E-4B4C-4FFA-BB9E-8EB8F1E19BBF}"/>
              </a:ext>
            </a:extLst>
          </p:cNvPr>
          <p:cNvSpPr txBox="1"/>
          <p:nvPr/>
        </p:nvSpPr>
        <p:spPr>
          <a:xfrm>
            <a:off x="4590876" y="1110882"/>
            <a:ext cx="38631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（</a:t>
            </a:r>
            <a:r>
              <a:rPr kumimoji="0" lang="en-US" altLang="zh-CN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4</a:t>
            </a:r>
            <a:r>
              <a:rPr kumimoji="0" lang="zh-CN" altLang="en-US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）根据电容、电感元件电压和电流的关系：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C5CF3C2-1700-4BFA-B2F0-2DD1DFC5A84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159752" y="1590708"/>
          <a:ext cx="2024156" cy="1095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2" name="Equation" r:id="rId8" imgW="1688760" imgH="914400" progId="Equation.DSMT4">
                  <p:embed/>
                </p:oleObj>
              </mc:Choice>
              <mc:Fallback>
                <p:oleObj name="Equation" r:id="rId8" imgW="1688760" imgH="9144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C5CF3C2-1700-4BFA-B2F0-2DD1DFC5A8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159752" y="1590708"/>
                        <a:ext cx="2024156" cy="10957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A75D6CF1-5FA2-4C09-9967-37FB272525A8}"/>
              </a:ext>
            </a:extLst>
          </p:cNvPr>
          <p:cNvSpPr txBox="1"/>
          <p:nvPr/>
        </p:nvSpPr>
        <p:spPr>
          <a:xfrm>
            <a:off x="4590876" y="2932710"/>
            <a:ext cx="28061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（</a:t>
            </a:r>
            <a:r>
              <a:rPr kumimoji="0" lang="en-US" altLang="zh-CN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5</a:t>
            </a:r>
            <a:r>
              <a:rPr kumimoji="0" lang="zh-CN" altLang="en-US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）</a:t>
            </a:r>
            <a:r>
              <a:rPr kumimoji="0" lang="en-US" altLang="zh-CN" sz="1500" i="1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500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500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∞</a:t>
            </a:r>
            <a:r>
              <a:rPr kumimoji="0" lang="zh-CN" altLang="en-US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时，电路图如下：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61BEB4B-DCFA-4DD9-9277-D34E70895B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7259" y="3205600"/>
            <a:ext cx="3010361" cy="143964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057ACEBC-7BAE-4F9C-8C56-507DFF5C24F8}"/>
              </a:ext>
            </a:extLst>
          </p:cNvPr>
          <p:cNvSpPr txBox="1"/>
          <p:nvPr/>
        </p:nvSpPr>
        <p:spPr>
          <a:xfrm>
            <a:off x="5162898" y="5171724"/>
            <a:ext cx="63406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所以：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31CC8B46-F17B-4165-B5E3-340EB0CE895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796965" y="4918690"/>
          <a:ext cx="1243199" cy="674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3" name="Equation" r:id="rId11" imgW="888840" imgH="482400" progId="Equation.DSMT4">
                  <p:embed/>
                </p:oleObj>
              </mc:Choice>
              <mc:Fallback>
                <p:oleObj name="Equation" r:id="rId11" imgW="888840" imgH="48240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31CC8B46-F17B-4165-B5E3-340EB0CE89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96965" y="4918690"/>
                        <a:ext cx="1243199" cy="674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290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6" grpId="0"/>
      <p:bldP spid="1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DBEFA8B-D4FE-4BD7-B730-A76E7D495557}"/>
              </a:ext>
            </a:extLst>
          </p:cNvPr>
          <p:cNvSpPr txBox="1"/>
          <p:nvPr/>
        </p:nvSpPr>
        <p:spPr>
          <a:xfrm>
            <a:off x="244633" y="1036029"/>
            <a:ext cx="56059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500" dirty="0">
                <a:solidFill>
                  <a:srgbClr val="FF0000"/>
                </a:solidFill>
                <a:latin typeface="等线" panose="020F0502020204030204"/>
                <a:ea typeface="等线" panose="02010600030101010101" pitchFamily="2" charset="-122"/>
              </a:rPr>
              <a:t>（</a:t>
            </a:r>
            <a:r>
              <a:rPr kumimoji="0" lang="en-US" altLang="zh-CN" sz="1500" dirty="0">
                <a:solidFill>
                  <a:srgbClr val="FF0000"/>
                </a:solidFill>
                <a:latin typeface="等线" panose="020F0502020204030204"/>
                <a:ea typeface="等线" panose="02010600030101010101" pitchFamily="2" charset="-122"/>
              </a:rPr>
              <a:t>6</a:t>
            </a:r>
            <a:r>
              <a:rPr kumimoji="0" lang="zh-CN" altLang="en-US" sz="1500" dirty="0">
                <a:solidFill>
                  <a:srgbClr val="FF0000"/>
                </a:solidFill>
                <a:latin typeface="等线" panose="020F0502020204030204"/>
                <a:ea typeface="等线" panose="02010600030101010101" pitchFamily="2" charset="-122"/>
              </a:rPr>
              <a:t>）</a:t>
            </a:r>
            <a:r>
              <a:rPr kumimoji="0" lang="zh-CN" altLang="en-US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求</a:t>
            </a:r>
            <a:r>
              <a:rPr kumimoji="0" lang="en-US" altLang="zh-CN" sz="1500" i="1" dirty="0" err="1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kumimoji="0" lang="en-US" altLang="zh-CN" sz="1500" baseline="-25000" dirty="0" err="1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1500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(t)</a:t>
            </a:r>
            <a:r>
              <a:rPr kumimoji="0" lang="zh-CN" altLang="en-US" sz="1500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kumimoji="0" lang="zh-CN" altLang="en-US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是求第二问关于</a:t>
            </a:r>
            <a:r>
              <a:rPr kumimoji="0" lang="en-US" altLang="zh-CN" sz="1500" i="1" dirty="0" err="1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kumimoji="0" lang="en-US" altLang="zh-CN" sz="1500" baseline="-25000" dirty="0" err="1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1500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(t)</a:t>
            </a:r>
            <a:r>
              <a:rPr kumimoji="0" lang="zh-CN" altLang="en-US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的常系数非线性微分方程的解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6D0B2CF-3F54-4D42-862F-018D263EBCA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61755" y="1571495"/>
          <a:ext cx="2171700" cy="52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3" name="Equation" r:id="rId3" imgW="1739880" imgH="419040" progId="Equation.DSMT4">
                  <p:embed/>
                </p:oleObj>
              </mc:Choice>
              <mc:Fallback>
                <p:oleObj name="Equation" r:id="rId3" imgW="1739880" imgH="4190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6D0B2CF-3F54-4D42-862F-018D263EBC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1755" y="1571495"/>
                        <a:ext cx="2171700" cy="52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FC5762E5-2A97-47E5-89C3-D0BB0B74573D}"/>
              </a:ext>
            </a:extLst>
          </p:cNvPr>
          <p:cNvSpPr/>
          <p:nvPr/>
        </p:nvSpPr>
        <p:spPr>
          <a:xfrm>
            <a:off x="4337892" y="1433231"/>
            <a:ext cx="2067291" cy="79921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350" dirty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rPr>
              <a:t>二阶，需要求齐次方程的通解和非齐次方程的特解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5B8274-C7C0-41C1-B184-660D02275671}"/>
              </a:ext>
            </a:extLst>
          </p:cNvPr>
          <p:cNvSpPr txBox="1"/>
          <p:nvPr/>
        </p:nvSpPr>
        <p:spPr>
          <a:xfrm>
            <a:off x="138418" y="2329563"/>
            <a:ext cx="159181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350" b="1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①齐次方程的通解：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F1E2BB9-AB9E-4339-ABE9-22DCB656437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4633" y="2728104"/>
          <a:ext cx="1591811" cy="420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4" name="Equation" r:id="rId5" imgW="1587240" imgH="419040" progId="Equation.DSMT4">
                  <p:embed/>
                </p:oleObj>
              </mc:Choice>
              <mc:Fallback>
                <p:oleObj name="Equation" r:id="rId5" imgW="1587240" imgH="4190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F1E2BB9-AB9E-4339-ABE9-22DCB6564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4633" y="2728104"/>
                        <a:ext cx="1591811" cy="4202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CB50FCCC-182F-40C7-A821-E4736C8776EC}"/>
              </a:ext>
            </a:extLst>
          </p:cNvPr>
          <p:cNvSpPr txBox="1"/>
          <p:nvPr/>
        </p:nvSpPr>
        <p:spPr>
          <a:xfrm>
            <a:off x="244634" y="3336388"/>
            <a:ext cx="159181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35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特征方程为：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071FEAA-ADA5-40C4-AF26-E812136A653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23935" y="3322746"/>
          <a:ext cx="1246542" cy="246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5" name="Equation" r:id="rId7" imgW="1028520" imgH="203040" progId="Equation.DSMT4">
                  <p:embed/>
                </p:oleObj>
              </mc:Choice>
              <mc:Fallback>
                <p:oleObj name="Equation" r:id="rId7" imgW="1028520" imgH="2030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071FEAA-ADA5-40C4-AF26-E812136A65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23935" y="3322746"/>
                        <a:ext cx="1246542" cy="2462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5C6FE7F8-D520-44B9-8335-97527EB98BC3}"/>
              </a:ext>
            </a:extLst>
          </p:cNvPr>
          <p:cNvSpPr txBox="1"/>
          <p:nvPr/>
        </p:nvSpPr>
        <p:spPr>
          <a:xfrm>
            <a:off x="244633" y="3750055"/>
            <a:ext cx="159181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35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特征根：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F4F32BB-9CFE-40F5-A1AC-29CBC9975CC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04748" y="3720231"/>
          <a:ext cx="2897197" cy="275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6" name="Equation" r:id="rId9" imgW="2666880" imgH="253800" progId="Equation.DSMT4">
                  <p:embed/>
                </p:oleObj>
              </mc:Choice>
              <mc:Fallback>
                <p:oleObj name="Equation" r:id="rId9" imgW="2666880" imgH="2538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F4F32BB-9CFE-40F5-A1AC-29CBC9975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04748" y="3720231"/>
                        <a:ext cx="2897197" cy="2759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54B08722-5943-49FD-9AD5-2B225A56AE3D}"/>
              </a:ext>
            </a:extLst>
          </p:cNvPr>
          <p:cNvSpPr txBox="1"/>
          <p:nvPr/>
        </p:nvSpPr>
        <p:spPr>
          <a:xfrm>
            <a:off x="244633" y="4181434"/>
            <a:ext cx="159181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35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通解为：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ED50E3A-DD65-4B0A-9B30-7781B61EF7C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60835" y="4183856"/>
          <a:ext cx="152519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7" name="Equation" r:id="rId11" imgW="1333440" imgH="241200" progId="Equation.DSMT4">
                  <p:embed/>
                </p:oleObj>
              </mc:Choice>
              <mc:Fallback>
                <p:oleObj name="Equation" r:id="rId11" imgW="1333440" imgH="2412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2ED50E3A-DD65-4B0A-9B30-7781B61EF7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60835" y="4183856"/>
                        <a:ext cx="1525190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9BDB3F63-9760-403D-97BF-DA3C95E6C1A1}"/>
              </a:ext>
            </a:extLst>
          </p:cNvPr>
          <p:cNvGrpSpPr/>
          <p:nvPr/>
        </p:nvGrpSpPr>
        <p:grpSpPr>
          <a:xfrm>
            <a:off x="244633" y="4556159"/>
            <a:ext cx="3310202" cy="401443"/>
            <a:chOff x="326176" y="4931878"/>
            <a:chExt cx="4413603" cy="535257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1CDC1C9-2362-4E0E-B86F-4A6F730D122D}"/>
                </a:ext>
              </a:extLst>
            </p:cNvPr>
            <p:cNvSpPr txBox="1"/>
            <p:nvPr/>
          </p:nvSpPr>
          <p:spPr>
            <a:xfrm>
              <a:off x="326176" y="5007417"/>
              <a:ext cx="4413603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kumimoji="0" lang="zh-CN" altLang="en-US" sz="135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</a:rPr>
                <a:t>将                                     带入其中，得：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E36D103F-131D-4E71-A223-AA68C4207A3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35080" y="4931878"/>
            <a:ext cx="2186908" cy="535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68" name="Equation" r:id="rId13" imgW="1815840" imgH="444240" progId="Equation.DSMT4">
                    <p:embed/>
                  </p:oleObj>
                </mc:Choice>
                <mc:Fallback>
                  <p:oleObj name="Equation" r:id="rId13" imgW="1815840" imgH="44424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E36D103F-131D-4E71-A223-AA68C4207A3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35080" y="4931878"/>
                          <a:ext cx="2186908" cy="53525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405BCEB5-3D52-45CE-A0EB-B54F83C84FA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65404" y="5014256"/>
          <a:ext cx="1337838" cy="484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9" name="Equation" r:id="rId15" imgW="1333440" imgH="482400" progId="Equation.DSMT4">
                  <p:embed/>
                </p:oleObj>
              </mc:Choice>
              <mc:Fallback>
                <p:oleObj name="Equation" r:id="rId15" imgW="1333440" imgH="4824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405BCEB5-3D52-45CE-A0EB-B54F83C84F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5404" y="5014256"/>
                        <a:ext cx="1337838" cy="484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14DD8A1-D68F-4573-A9F5-C7210C16C63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61755" y="5102307"/>
          <a:ext cx="1337838" cy="240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0" name="Equation" r:id="rId17" imgW="1269720" imgH="228600" progId="Equation.DSMT4">
                  <p:embed/>
                </p:oleObj>
              </mc:Choice>
              <mc:Fallback>
                <p:oleObj name="Equation" r:id="rId17" imgW="1269720" imgH="2286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B14DD8A1-D68F-4573-A9F5-C7210C16C6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61755" y="5102307"/>
                        <a:ext cx="1337838" cy="240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0766574C-F9B5-455E-AFA1-B3DB9576536D}"/>
              </a:ext>
            </a:extLst>
          </p:cNvPr>
          <p:cNvSpPr txBox="1"/>
          <p:nvPr/>
        </p:nvSpPr>
        <p:spPr>
          <a:xfrm>
            <a:off x="265404" y="5555611"/>
            <a:ext cx="15710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35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齐次方程的通解为：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C056CCE-93D8-4B33-95A9-0CE3D725387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610100" y="3371850"/>
          <a:ext cx="685800" cy="148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1" name="Equation" r:id="rId19" imgW="914400" imgH="198720" progId="Equation.DSMT4">
                  <p:embed/>
                </p:oleObj>
              </mc:Choice>
              <mc:Fallback>
                <p:oleObj name="Equation" r:id="rId19" imgW="914400" imgH="19872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4C056CCE-93D8-4B33-95A9-0CE3D72538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610100" y="3371850"/>
                        <a:ext cx="685800" cy="148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B5035CE8-F7BF-4235-AF9E-AE50FBD62B0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91891" y="5543550"/>
          <a:ext cx="1975247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2" name="Equation" r:id="rId21" imgW="1726920" imgH="241200" progId="Equation.DSMT4">
                  <p:embed/>
                </p:oleObj>
              </mc:Choice>
              <mc:Fallback>
                <p:oleObj name="Equation" r:id="rId21" imgW="1726920" imgH="2412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B5035CE8-F7BF-4235-AF9E-AE50FBD62B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91891" y="5543550"/>
                        <a:ext cx="1975247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7DAD05E2-7333-4FF4-AF73-2DCB2D2577B5}"/>
              </a:ext>
            </a:extLst>
          </p:cNvPr>
          <p:cNvSpPr txBox="1"/>
          <p:nvPr/>
        </p:nvSpPr>
        <p:spPr>
          <a:xfrm>
            <a:off x="4610100" y="2337020"/>
            <a:ext cx="188018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350" b="1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②非齐次方程的特解：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2AC89B5-776C-41DD-8B29-A9771103843E}"/>
              </a:ext>
            </a:extLst>
          </p:cNvPr>
          <p:cNvSpPr txBox="1"/>
          <p:nvPr/>
        </p:nvSpPr>
        <p:spPr>
          <a:xfrm>
            <a:off x="4610100" y="2663646"/>
            <a:ext cx="383796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35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从上面的微分方程中易看出，一个特解为</a:t>
            </a:r>
            <a:r>
              <a:rPr kumimoji="0" lang="en-US" altLang="zh-CN" sz="1350" i="1" dirty="0" err="1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kumimoji="0" lang="en-US" altLang="zh-CN" sz="1350" baseline="-25000" dirty="0" err="1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1350" i="1" baseline="-25000" dirty="0" err="1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135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=12V</a:t>
            </a:r>
            <a:endParaRPr kumimoji="0" lang="zh-CN" altLang="en-US" sz="1350" dirty="0">
              <a:solidFill>
                <a:srgbClr val="FF0000"/>
              </a:solidFill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3D8D5F0-CCF6-4E0F-8134-DFD5C082F9CA}"/>
              </a:ext>
            </a:extLst>
          </p:cNvPr>
          <p:cNvSpPr txBox="1"/>
          <p:nvPr/>
        </p:nvSpPr>
        <p:spPr>
          <a:xfrm>
            <a:off x="4660085" y="3045747"/>
            <a:ext cx="58583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350" b="1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综上</a:t>
            </a: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62557A5A-F293-4498-A441-C3392AC5E7C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133371" y="3045224"/>
          <a:ext cx="2936185" cy="276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3" name="Equation" r:id="rId23" imgW="2692080" imgH="253800" progId="Equation.DSMT4">
                  <p:embed/>
                </p:oleObj>
              </mc:Choice>
              <mc:Fallback>
                <p:oleObj name="Equation" r:id="rId23" imgW="2692080" imgH="25380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62557A5A-F293-4498-A441-C3392AC5E7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133371" y="3045224"/>
                        <a:ext cx="2936185" cy="2769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FBED1249-FAF0-456C-AAE4-4E5A318EE66E}"/>
              </a:ext>
            </a:extLst>
          </p:cNvPr>
          <p:cNvSpPr txBox="1"/>
          <p:nvPr/>
        </p:nvSpPr>
        <p:spPr>
          <a:xfrm>
            <a:off x="4497548" y="3385737"/>
            <a:ext cx="29762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（</a:t>
            </a:r>
            <a:r>
              <a:rPr kumimoji="0" lang="en-US" altLang="zh-CN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7</a:t>
            </a:r>
            <a:r>
              <a:rPr kumimoji="0" lang="zh-CN" altLang="en-US" sz="15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）</a:t>
            </a:r>
            <a:r>
              <a:rPr kumimoji="0" lang="zh-CN" altLang="en-US" sz="135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第五问已经求出</a:t>
            </a:r>
            <a:endParaRPr kumimoji="0" lang="zh-CN" altLang="en-US" sz="15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91201F78-405D-431C-8C65-A316C607524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292630" y="3426802"/>
          <a:ext cx="798353" cy="22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4" name="Equation" r:id="rId25" imgW="812520" imgH="228600" progId="Equation.DSMT4">
                  <p:embed/>
                </p:oleObj>
              </mc:Choice>
              <mc:Fallback>
                <p:oleObj name="Equation" r:id="rId25" imgW="812520" imgH="22860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91201F78-405D-431C-8C65-A316C60752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292630" y="3426802"/>
                        <a:ext cx="798353" cy="224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9108F033-8FED-4066-BE82-28231405612B}"/>
              </a:ext>
            </a:extLst>
          </p:cNvPr>
          <p:cNvSpPr txBox="1"/>
          <p:nvPr/>
        </p:nvSpPr>
        <p:spPr>
          <a:xfrm>
            <a:off x="4990706" y="3738941"/>
            <a:ext cx="180659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35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将</a:t>
            </a:r>
            <a:r>
              <a:rPr kumimoji="0" lang="en-US" altLang="zh-CN" sz="1350" i="1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350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350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∞带入</a:t>
            </a:r>
            <a:r>
              <a:rPr kumimoji="0" lang="en-US" altLang="zh-CN" sz="1350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(6)</a:t>
            </a:r>
            <a:r>
              <a:rPr kumimoji="0" lang="zh-CN" altLang="en-US" sz="1350" dirty="0">
                <a:solidFill>
                  <a:prstClr val="black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的结果中：</a:t>
            </a: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F4D15531-D27F-4059-AF81-BD66A8CDCCC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071058" y="4091290"/>
          <a:ext cx="2516785" cy="264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5" name="Equation" r:id="rId27" imgW="2298600" imgH="241200" progId="Equation.DSMT4">
                  <p:embed/>
                </p:oleObj>
              </mc:Choice>
              <mc:Fallback>
                <p:oleObj name="Equation" r:id="rId27" imgW="2298600" imgH="24120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F4D15531-D27F-4059-AF81-BD66A8CDCC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071058" y="4091290"/>
                        <a:ext cx="2516785" cy="264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31">
            <a:extLst>
              <a:ext uri="{FF2B5EF4-FFF2-40B4-BE49-F238E27FC236}">
                <a16:creationId xmlns:a16="http://schemas.microsoft.com/office/drawing/2014/main" id="{172AE63E-BCCD-42F8-A941-850DD4CC03A7}"/>
              </a:ext>
            </a:extLst>
          </p:cNvPr>
          <p:cNvSpPr txBox="1"/>
          <p:nvPr/>
        </p:nvSpPr>
        <p:spPr>
          <a:xfrm>
            <a:off x="4990706" y="4484115"/>
            <a:ext cx="96128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500" b="1" dirty="0">
                <a:solidFill>
                  <a:srgbClr val="FF0000"/>
                </a:solidFill>
                <a:latin typeface="等线" panose="020F0502020204030204"/>
                <a:ea typeface="等线" panose="02010600030101010101" pitchFamily="2" charset="-122"/>
              </a:rPr>
              <a:t>结果一致</a:t>
            </a:r>
            <a:endParaRPr kumimoji="0" lang="zh-CN" altLang="en-US" sz="1500" b="1" dirty="0">
              <a:solidFill>
                <a:srgbClr val="FF0000"/>
              </a:solidFill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Rectangle 5">
            <a:extLst>
              <a:ext uri="{FF2B5EF4-FFF2-40B4-BE49-F238E27FC236}">
                <a16:creationId xmlns:a16="http://schemas.microsoft.com/office/drawing/2014/main" id="{47D51DF4-E821-4EF1-9676-BA2B27BFF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2035" y="4916427"/>
            <a:ext cx="5797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defTabSz="685800" eaLnBrk="1" fontAlgn="auto" hangingPunct="1">
              <a:spcBef>
                <a:spcPct val="50000"/>
              </a:spcBef>
              <a:spcAft>
                <a:spcPts val="0"/>
              </a:spcAft>
              <a:buNone/>
            </a:pPr>
            <a:r>
              <a:rPr lang="en-US" altLang="zh-CN" b="1" dirty="0">
                <a:solidFill>
                  <a:srgbClr val="FF0000"/>
                </a:solidFill>
                <a:ea typeface="隶书" panose="02010509060101010101" pitchFamily="49" charset="-122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00176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  <p:bldP spid="11" grpId="0"/>
      <p:bldP spid="13" grpId="0"/>
      <p:bldP spid="20" grpId="0"/>
      <p:bldP spid="23" grpId="0"/>
      <p:bldP spid="24" grpId="0"/>
      <p:bldP spid="25" grpId="0"/>
      <p:bldP spid="27" grpId="0"/>
      <p:bldP spid="29" grpId="0"/>
      <p:bldP spid="32" grpId="0"/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</a:t>
            </a: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381000" y="914400"/>
            <a:ext cx="8294688" cy="5181600"/>
          </a:xfrm>
        </p:spPr>
        <p:txBody>
          <a:bodyPr/>
          <a:lstStyle/>
          <a:p>
            <a:r>
              <a:rPr lang="en-US" altLang="zh-CN" dirty="0" smtClean="0"/>
              <a:t>9.2</a:t>
            </a:r>
            <a:r>
              <a:rPr lang="zh-CN" altLang="en-US" dirty="0" smtClean="0"/>
              <a:t>节：</a:t>
            </a:r>
            <a:r>
              <a:rPr lang="en-US" altLang="zh-CN" dirty="0" smtClean="0"/>
              <a:t>9-5</a:t>
            </a:r>
            <a:r>
              <a:rPr lang="zh-CN" altLang="en-US" dirty="0" smtClean="0"/>
              <a:t>，</a:t>
            </a:r>
            <a:r>
              <a:rPr lang="en-US" altLang="zh-CN" dirty="0" smtClean="0"/>
              <a:t>9-7</a:t>
            </a:r>
            <a:r>
              <a:rPr lang="zh-CN" altLang="en-US" dirty="0" smtClean="0"/>
              <a:t>，</a:t>
            </a:r>
            <a:r>
              <a:rPr lang="en-US" altLang="zh-CN" dirty="0" smtClean="0"/>
              <a:t>9-9</a:t>
            </a:r>
          </a:p>
          <a:p>
            <a:r>
              <a:rPr lang="en-US" altLang="zh-CN" dirty="0"/>
              <a:t>9.3</a:t>
            </a:r>
            <a:r>
              <a:rPr lang="zh-CN" altLang="zh-CN" dirty="0"/>
              <a:t>节：</a:t>
            </a:r>
            <a:r>
              <a:rPr lang="en-US" altLang="zh-CN" dirty="0"/>
              <a:t>9-13</a:t>
            </a:r>
            <a:r>
              <a:rPr lang="zh-CN" altLang="zh-CN" dirty="0"/>
              <a:t>，</a:t>
            </a:r>
            <a:r>
              <a:rPr lang="en-US" altLang="zh-CN" dirty="0"/>
              <a:t>9-15</a:t>
            </a:r>
            <a:endParaRPr lang="zh-CN" altLang="zh-CN" dirty="0"/>
          </a:p>
          <a:p>
            <a:endParaRPr lang="en-US" altLang="zh-CN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04BC380-5849-4E82-9448-222F2C781241}" type="datetime1">
              <a:rPr lang="zh-CN" altLang="en-US" smtClean="0"/>
              <a:pPr>
                <a:defRPr/>
              </a:pPr>
              <a:t>2022/4/13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BECC24-E164-4786-A8C5-2CB7D75106FC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887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3300"/>
      </a:hlink>
      <a:folHlink>
        <a:srgbClr val="FF3300"/>
      </a:folHlink>
    </a:clrScheme>
    <a:fontScheme name="默认设计模板">
      <a:majorFont>
        <a:latin typeface="Times New Roman"/>
        <a:ea typeface="华文新魏"/>
        <a:cs typeface=""/>
      </a:majorFont>
      <a:minorFont>
        <a:latin typeface="Times New Roman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隶书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隶书" panose="02010509060101010101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13397</TotalTime>
  <Words>1276</Words>
  <Application>Microsoft Office PowerPoint</Application>
  <PresentationFormat>全屏显示(4:3)</PresentationFormat>
  <Paragraphs>281</Paragraphs>
  <Slides>36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36</vt:i4>
      </vt:variant>
    </vt:vector>
  </HeadingPairs>
  <TitlesOfParts>
    <vt:vector size="53" baseType="lpstr">
      <vt:lpstr>等线</vt:lpstr>
      <vt:lpstr>仿宋_GB2312</vt:lpstr>
      <vt:lpstr>华文新魏</vt:lpstr>
      <vt:lpstr>华文中宋</vt:lpstr>
      <vt:lpstr>楷体_GB2312</vt:lpstr>
      <vt:lpstr>隶书</vt:lpstr>
      <vt:lpstr>宋体</vt:lpstr>
      <vt:lpstr>Arial</vt:lpstr>
      <vt:lpstr>Symbol</vt:lpstr>
      <vt:lpstr>Times New Roman</vt:lpstr>
      <vt:lpstr>Wingdings</vt:lpstr>
      <vt:lpstr>默认设计模板</vt:lpstr>
      <vt:lpstr>Visio</vt:lpstr>
      <vt:lpstr>Equation</vt:lpstr>
      <vt:lpstr>Microsoft 公式 3.0</vt:lpstr>
      <vt:lpstr>公式</vt:lpstr>
      <vt:lpstr>Equation.DSMT4</vt:lpstr>
      <vt:lpstr>PowerPoint 演示文稿</vt:lpstr>
      <vt:lpstr>PowerPoint 演示文稿</vt:lpstr>
      <vt:lpstr>9.2 二阶电路的零输入响应</vt:lpstr>
      <vt:lpstr>9.2 二阶电路的零输入响应</vt:lpstr>
      <vt:lpstr>9.2 二阶电路的零输入响应</vt:lpstr>
      <vt:lpstr>9.2 二阶电路的零输入响应</vt:lpstr>
      <vt:lpstr>PowerPoint 演示文稿</vt:lpstr>
      <vt:lpstr>9.2 二阶电路的零输入响应</vt:lpstr>
      <vt:lpstr>PowerPoint 演示文稿</vt:lpstr>
      <vt:lpstr>PowerPoint 演示文稿</vt:lpstr>
      <vt:lpstr>PowerPoint 演示文稿</vt:lpstr>
      <vt:lpstr>PowerPoint 演示文稿</vt:lpstr>
      <vt:lpstr>9.2 二阶电路的零输入响应</vt:lpstr>
      <vt:lpstr>PowerPoint 演示文稿</vt:lpstr>
      <vt:lpstr>9.2 二阶电路的零输入响应</vt:lpstr>
      <vt:lpstr>9.2 二阶电路的零输入响应</vt:lpstr>
      <vt:lpstr>9.2 二阶电路的零输入响应</vt:lpstr>
      <vt:lpstr>9.2 二阶电路的零输入响应</vt:lpstr>
      <vt:lpstr>9.2 二阶电路的零输入响应</vt:lpstr>
      <vt:lpstr>RLC并联电路（自学+MOOC）</vt:lpstr>
      <vt:lpstr>9.3 二阶电路的零状态响应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</vt:vector>
  </TitlesOfParts>
  <Company>ibm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First-order circuits</dc:title>
  <dc:creator>wry</dc:creator>
  <cp:lastModifiedBy>王 健</cp:lastModifiedBy>
  <cp:revision>807</cp:revision>
  <cp:lastPrinted>2004-03-17T08:18:10Z</cp:lastPrinted>
  <dcterms:created xsi:type="dcterms:W3CDTF">2001-01-13T02:14:45Z</dcterms:created>
  <dcterms:modified xsi:type="dcterms:W3CDTF">2022-04-13T05:30:46Z</dcterms:modified>
</cp:coreProperties>
</file>