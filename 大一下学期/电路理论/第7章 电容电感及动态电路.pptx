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453" r:id="rId2"/>
    <p:sldId id="532" r:id="rId3"/>
    <p:sldId id="411" r:id="rId4"/>
    <p:sldId id="488" r:id="rId5"/>
    <p:sldId id="489" r:id="rId6"/>
    <p:sldId id="429" r:id="rId7"/>
    <p:sldId id="490" r:id="rId8"/>
    <p:sldId id="491" r:id="rId9"/>
    <p:sldId id="492" r:id="rId10"/>
    <p:sldId id="493" r:id="rId11"/>
    <p:sldId id="507" r:id="rId12"/>
    <p:sldId id="526" r:id="rId13"/>
    <p:sldId id="494" r:id="rId14"/>
    <p:sldId id="495" r:id="rId15"/>
    <p:sldId id="496" r:id="rId16"/>
    <p:sldId id="497" r:id="rId17"/>
    <p:sldId id="431" r:id="rId18"/>
    <p:sldId id="430" r:id="rId19"/>
    <p:sldId id="498" r:id="rId20"/>
    <p:sldId id="499" r:id="rId21"/>
    <p:sldId id="527" r:id="rId22"/>
    <p:sldId id="500" r:id="rId23"/>
    <p:sldId id="458" r:id="rId24"/>
    <p:sldId id="501" r:id="rId25"/>
    <p:sldId id="502" r:id="rId26"/>
    <p:sldId id="503" r:id="rId27"/>
    <p:sldId id="461" r:id="rId28"/>
    <p:sldId id="504" r:id="rId29"/>
    <p:sldId id="505" r:id="rId30"/>
    <p:sldId id="506" r:id="rId31"/>
    <p:sldId id="528" r:id="rId32"/>
    <p:sldId id="530" r:id="rId33"/>
    <p:sldId id="531" r:id="rId34"/>
    <p:sldId id="510" r:id="rId35"/>
    <p:sldId id="511" r:id="rId36"/>
    <p:sldId id="512" r:id="rId37"/>
    <p:sldId id="514" r:id="rId38"/>
    <p:sldId id="470" r:id="rId39"/>
    <p:sldId id="487" r:id="rId40"/>
    <p:sldId id="513" r:id="rId41"/>
    <p:sldId id="515" r:id="rId42"/>
    <p:sldId id="516" r:id="rId43"/>
    <p:sldId id="517" r:id="rId44"/>
    <p:sldId id="518" r:id="rId45"/>
    <p:sldId id="525" r:id="rId46"/>
    <p:sldId id="519" r:id="rId47"/>
    <p:sldId id="520" r:id="rId48"/>
    <p:sldId id="521" r:id="rId49"/>
    <p:sldId id="522" r:id="rId50"/>
    <p:sldId id="475" r:id="rId51"/>
    <p:sldId id="533" r:id="rId52"/>
    <p:sldId id="523" r:id="rId53"/>
    <p:sldId id="524" r:id="rId54"/>
    <p:sldId id="508" r:id="rId55"/>
  </p:sldIdLst>
  <p:sldSz cx="9144000" cy="6858000" type="screen4x3"/>
  <p:notesSz cx="6272213" cy="90614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4">
          <p15:clr>
            <a:srgbClr val="A4A3A4"/>
          </p15:clr>
        </p15:guide>
        <p15:guide id="2" pos="197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FF6600"/>
    <a:srgbClr val="336600"/>
    <a:srgbClr val="003300"/>
    <a:srgbClr val="006600"/>
    <a:srgbClr val="FF990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31" autoAdjust="0"/>
    <p:restoredTop sz="94683" autoAdjust="0"/>
  </p:normalViewPr>
  <p:slideViewPr>
    <p:cSldViewPr>
      <p:cViewPr varScale="1">
        <p:scale>
          <a:sx n="67" d="100"/>
          <a:sy n="67" d="100"/>
        </p:scale>
        <p:origin x="68" y="864"/>
      </p:cViewPr>
      <p:guideLst>
        <p:guide orient="horz" pos="22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08"/>
    </p:cViewPr>
  </p:sorterViewPr>
  <p:notesViewPr>
    <p:cSldViewPr>
      <p:cViewPr varScale="1">
        <p:scale>
          <a:sx n="58" d="100"/>
          <a:sy n="58" d="100"/>
        </p:scale>
        <p:origin x="-1920" y="-84"/>
      </p:cViewPr>
      <p:guideLst>
        <p:guide orient="horz" pos="2854"/>
        <p:guide pos="197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554413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54413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2F99DB5-78FC-458B-8ACC-83066F7619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52825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1538" y="677863"/>
            <a:ext cx="4532312" cy="33988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8650" y="4303713"/>
            <a:ext cx="5016500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552825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2A1BB0-3611-4E21-8C6B-DABFE4B774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D65B27-BF80-4209-ADF9-3A842BF3FEA6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21681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583FF5-7A14-44E7-95E6-513A186A60C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92979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36D54C-FAB0-4EA5-85E3-2B47A7C5D9B2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36580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35714-530B-4BF5-B433-571BC7A359DF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94830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8B78BB-E741-49B9-A631-5197EC771BA9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52990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1288DA-EEB2-4565-ADDD-95E81303DC6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6118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E55A35-B120-429F-8EAD-88B891F1E65F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78471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4393D5-0446-4D36-A352-F99F9C9F16B6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9911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862454-4DAB-4A8B-8085-18CEFCF877EF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53752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8C952E-5098-48FB-8291-A9289CDE8EDB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70607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57A0E3-5585-4DCA-A589-DA0B37AC4DBA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73931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A352C0-278A-4F55-8E24-8A50ECCCB79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69648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50210A-3AF3-4421-9D95-613A037983FB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05970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D234E7-35F8-47E4-88A4-D3F15FBBA2A8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20454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DD702D-CB5A-4BAD-808F-0673C84936F1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49448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D15258-54AB-4F6F-94CC-922F259361D2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32900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E82C18-5C24-4290-AF9B-36FD7BEA4027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85880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B53BB8-3AF4-4D4B-A107-89DCBD1E8DF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48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4539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35829B-2E75-432A-8C13-3F5C5968A6EF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410260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8763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3CD682-5189-421C-8853-47705FD8E548}" type="slidenum">
              <a:rPr kumimoji="1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8763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54040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052BAC-AC33-41B0-8DD9-99E0C8518E6B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8430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D965D5-A019-4337-B429-AC5501B5B755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06495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65E440-F5CB-4662-ABCF-EBE36EC87929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420326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5ACAD5-DDDC-4C91-AD1B-14250878611C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73359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70331D-8632-40C2-8036-4C21090CBE26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976173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404B55-4CC7-4CDC-B02D-B53E313F8743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651967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5163DA-BBCE-4A85-BB6B-2FAD0267DA71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234313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711032-884C-45BA-9841-3057DB4C04B7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74532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D07871-7D5F-4CAE-97C5-BD768DD9090C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116293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E410B9-3271-42A9-BCBD-508F8EF6ED87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879489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75A863-FDA0-4B5A-9423-28CBEA33D7CD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553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E2F70-FFD3-4780-86AC-711BD30CC19B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790564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457BBA-64D6-4F16-9AC8-D24CD565B54D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31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959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FDDD3C-0DBB-40B9-AB42-2F6300118CFE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7722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29FF3-99F9-4BE8-BD26-3E2E391A68EF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C13F8-E514-46AF-9D92-4E36ACDAFF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242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EDCA4-A0AE-48E1-9D86-7A0862D42B29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DEDC3-3762-4477-ADDE-861B74757A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789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284F0-CA7B-4C62-9BA8-E43B8DFA0F7E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E15D2C-CD15-4995-AF2A-373DBAB22D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231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692CD-DE5C-4354-9822-989F0674C68D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D96F3-6808-48AB-99A8-B9AC942AAF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88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FD504-818D-4AC9-8EF4-47D269F40B8D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50F3D-A58E-410C-99B4-6B6FD3C755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416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2DB03-9725-4D8B-A088-834AE35E84F0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7A281-522C-463A-9B9C-DC7928039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9726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48E5A-CF64-4266-932E-274557207202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A9A88-BB01-4C3C-B2FB-163983272E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89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C5F77-F9EE-4784-886B-B8F229AE973A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ED4DD-6ABD-4AE7-BB94-09518BB81A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31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5CE68-F6BD-47AA-9B08-B10087191FD3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8F6C1-0184-4A4D-AD11-06FD69111A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22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40EA0-2B87-48ED-918C-59B97DFA0188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D245F-8B91-4AE6-9807-9BF1AC0134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37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211455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1912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92455-EEEF-4497-809F-179DD350F92A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1A360-BEBE-40F8-95DE-5322433ECE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2563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457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152900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F97C5D-3F52-4671-BE6F-43CA89374075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1E0F9-022F-4F1C-805E-B322A86F62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3331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1000" y="304800"/>
            <a:ext cx="8458200" cy="579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056CD-5A92-4F0D-97D1-B6AEBB80FD3C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D6C13-2D1C-413A-9103-9B8E346042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165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4F9068B-5FF3-4451-B415-746DDA9A64EB}" type="datetime1">
              <a:rPr lang="zh-CN" altLang="en-US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E935A1-4338-465F-9ADD-409B03D10A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logo1"/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华文宋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华文宋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华文宋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6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1.bin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3.png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20.bin"/><Relationship Id="rId3" Type="http://schemas.openxmlformats.org/officeDocument/2006/relationships/image" Target="../media/image14.emf"/><Relationship Id="rId21" Type="http://schemas.openxmlformats.org/officeDocument/2006/relationships/image" Target="../media/image23.wmf"/><Relationship Id="rId7" Type="http://schemas.openxmlformats.org/officeDocument/2006/relationships/image" Target="../media/image16.e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emf"/><Relationship Id="rId23" Type="http://schemas.openxmlformats.org/officeDocument/2006/relationships/image" Target="../media/image24.w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2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emf"/><Relationship Id="rId18" Type="http://schemas.openxmlformats.org/officeDocument/2006/relationships/oleObject" Target="../embeddings/oleObject46.bin"/><Relationship Id="rId26" Type="http://schemas.openxmlformats.org/officeDocument/2006/relationships/oleObject" Target="../embeddings/oleObject24.bin"/><Relationship Id="rId39" Type="http://schemas.openxmlformats.org/officeDocument/2006/relationships/image" Target="../media/image36.wmf"/><Relationship Id="rId21" Type="http://schemas.openxmlformats.org/officeDocument/2006/relationships/image" Target="../media/image17.wmf"/><Relationship Id="rId34" Type="http://schemas.openxmlformats.org/officeDocument/2006/relationships/oleObject" Target="../embeddings/oleObject31.bin"/><Relationship Id="rId42" Type="http://schemas.openxmlformats.org/officeDocument/2006/relationships/image" Target="../media/image44.e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41.bin"/><Relationship Id="rId16" Type="http://schemas.openxmlformats.org/officeDocument/2006/relationships/oleObject" Target="../embeddings/oleObject17.bin"/><Relationship Id="rId29" Type="http://schemas.openxmlformats.org/officeDocument/2006/relationships/image" Target="../media/image3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1.wmf"/><Relationship Id="rId24" Type="http://schemas.openxmlformats.org/officeDocument/2006/relationships/oleObject" Target="../embeddings/oleObject23.bin"/><Relationship Id="rId32" Type="http://schemas.openxmlformats.org/officeDocument/2006/relationships/oleObject" Target="../embeddings/oleObject30.bin"/><Relationship Id="rId37" Type="http://schemas.openxmlformats.org/officeDocument/2006/relationships/image" Target="../media/image34.wmf"/><Relationship Id="rId40" Type="http://schemas.openxmlformats.org/officeDocument/2006/relationships/image" Target="../media/image42.emf"/><Relationship Id="rId45" Type="http://schemas.openxmlformats.org/officeDocument/2006/relationships/image" Target="../media/image24.wmf"/><Relationship Id="rId5" Type="http://schemas.openxmlformats.org/officeDocument/2006/relationships/image" Target="../media/image10.emf"/><Relationship Id="rId15" Type="http://schemas.openxmlformats.org/officeDocument/2006/relationships/image" Target="../media/image15.wmf"/><Relationship Id="rId23" Type="http://schemas.openxmlformats.org/officeDocument/2006/relationships/image" Target="../media/image18.wmf"/><Relationship Id="rId28" Type="http://schemas.openxmlformats.org/officeDocument/2006/relationships/oleObject" Target="../embeddings/oleObject28.bin"/><Relationship Id="rId36" Type="http://schemas.openxmlformats.org/officeDocument/2006/relationships/oleObject" Target="../embeddings/oleObject32.bin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16.emf"/><Relationship Id="rId31" Type="http://schemas.openxmlformats.org/officeDocument/2006/relationships/image" Target="../media/image31.wmf"/><Relationship Id="rId44" Type="http://schemas.openxmlformats.org/officeDocument/2006/relationships/oleObject" Target="../embeddings/oleObject47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29.bin"/><Relationship Id="rId35" Type="http://schemas.openxmlformats.org/officeDocument/2006/relationships/image" Target="../media/image33.wmf"/><Relationship Id="rId43" Type="http://schemas.openxmlformats.org/officeDocument/2006/relationships/image" Target="../media/image45.emf"/><Relationship Id="rId8" Type="http://schemas.openxmlformats.org/officeDocument/2006/relationships/oleObject" Target="../embeddings/oleObject43.bin"/><Relationship Id="rId3" Type="http://schemas.openxmlformats.org/officeDocument/2006/relationships/image" Target="../media/image9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19.wmf"/><Relationship Id="rId25" Type="http://schemas.openxmlformats.org/officeDocument/2006/relationships/image" Target="../media/image25.wmf"/><Relationship Id="rId33" Type="http://schemas.openxmlformats.org/officeDocument/2006/relationships/image" Target="../media/image32.wmf"/><Relationship Id="rId38" Type="http://schemas.openxmlformats.org/officeDocument/2006/relationships/oleObject" Target="../embeddings/oleObject34.bin"/><Relationship Id="rId20" Type="http://schemas.openxmlformats.org/officeDocument/2006/relationships/oleObject" Target="../embeddings/oleObject15.bin"/><Relationship Id="rId41" Type="http://schemas.openxmlformats.org/officeDocument/2006/relationships/image" Target="../media/image4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7" Type="http://schemas.openxmlformats.org/officeDocument/2006/relationships/image" Target="../media/image4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7.jpeg"/><Relationship Id="rId4" Type="http://schemas.openxmlformats.org/officeDocument/2006/relationships/image" Target="../media/image4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3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8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6.emf"/><Relationship Id="rId5" Type="http://schemas.openxmlformats.org/officeDocument/2006/relationships/image" Target="../media/image63.e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70.wmf"/><Relationship Id="rId7" Type="http://schemas.openxmlformats.org/officeDocument/2006/relationships/image" Target="../media/image73.png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wmf"/><Relationship Id="rId10" Type="http://schemas.openxmlformats.org/officeDocument/2006/relationships/image" Target="../media/image74.png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78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image" Target="../media/image79.emf"/><Relationship Id="rId7" Type="http://schemas.openxmlformats.org/officeDocument/2006/relationships/image" Target="../media/image81.e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80.emf"/><Relationship Id="rId10" Type="http://schemas.openxmlformats.org/officeDocument/2006/relationships/image" Target="../media/image47.jpeg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82.w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91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8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85.wmf"/><Relationship Id="rId19" Type="http://schemas.openxmlformats.org/officeDocument/2006/relationships/image" Target="../media/image47.jpeg"/><Relationship Id="rId4" Type="http://schemas.openxmlformats.org/officeDocument/2006/relationships/image" Target="../media/image89.png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8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96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9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image" Target="../media/image98.e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99.e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0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8" Type="http://schemas.openxmlformats.org/officeDocument/2006/relationships/image" Target="../media/image113.png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06.wmf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image" Target="../media/image110.png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0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9.png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23.png"/><Relationship Id="rId4" Type="http://schemas.openxmlformats.org/officeDocument/2006/relationships/image" Target="../media/image11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23.wmf"/><Relationship Id="rId3" Type="http://schemas.openxmlformats.org/officeDocument/2006/relationships/image" Target="../media/image130.png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20.png"/><Relationship Id="rId17" Type="http://schemas.openxmlformats.org/officeDocument/2006/relationships/oleObject" Target="../embeddings/oleObject123.bin"/><Relationship Id="rId16" Type="http://schemas.openxmlformats.org/officeDocument/2006/relationships/image" Target="../media/image122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5.wmf"/><Relationship Id="rId11" Type="http://schemas.openxmlformats.org/officeDocument/2006/relationships/image" Target="../media/image132.png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17.wmf"/><Relationship Id="rId4" Type="http://schemas.openxmlformats.org/officeDocument/2006/relationships/image" Target="../media/image114.png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2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13.wmf"/><Relationship Id="rId3" Type="http://schemas.openxmlformats.org/officeDocument/2006/relationships/image" Target="../media/image120.png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34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11.wmf"/><Relationship Id="rId5" Type="http://schemas.openxmlformats.org/officeDocument/2006/relationships/image" Target="../media/image71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110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e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25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27.wmf"/><Relationship Id="rId7" Type="http://schemas.openxmlformats.org/officeDocument/2006/relationships/image" Target="../media/image129.w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31.wmf"/><Relationship Id="rId5" Type="http://schemas.openxmlformats.org/officeDocument/2006/relationships/image" Target="../media/image128.w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37.wmf"/><Relationship Id="rId3" Type="http://schemas.openxmlformats.org/officeDocument/2006/relationships/image" Target="../media/image132.emf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39.bin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6.wmf"/><Relationship Id="rId5" Type="http://schemas.openxmlformats.org/officeDocument/2006/relationships/image" Target="../media/image133.w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4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9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44.wmf"/><Relationship Id="rId3" Type="http://schemas.openxmlformats.org/officeDocument/2006/relationships/image" Target="../media/image139.wmf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146.bin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43.wmf"/><Relationship Id="rId5" Type="http://schemas.openxmlformats.org/officeDocument/2006/relationships/image" Target="../media/image140.wmf"/><Relationship Id="rId10" Type="http://schemas.openxmlformats.org/officeDocument/2006/relationships/oleObject" Target="../embeddings/oleObject145.bin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42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e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45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54.bin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1.wmf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50.e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52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58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59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2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3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61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70.bin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7.wmf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6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8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75.wmf"/><Relationship Id="rId18" Type="http://schemas.openxmlformats.org/officeDocument/2006/relationships/oleObject" Target="../embeddings/oleObject180.bin"/><Relationship Id="rId26" Type="http://schemas.openxmlformats.org/officeDocument/2006/relationships/image" Target="../media/image182.wmf"/><Relationship Id="rId3" Type="http://schemas.openxmlformats.org/officeDocument/2006/relationships/image" Target="../media/image170.emf"/><Relationship Id="rId21" Type="http://schemas.openxmlformats.org/officeDocument/2006/relationships/oleObject" Target="../embeddings/oleObject181.bin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177.wmf"/><Relationship Id="rId25" Type="http://schemas.openxmlformats.org/officeDocument/2006/relationships/oleObject" Target="../embeddings/oleObject183.bin"/><Relationship Id="rId2" Type="http://schemas.openxmlformats.org/officeDocument/2006/relationships/oleObject" Target="../embeddings/oleObject172.bin"/><Relationship Id="rId16" Type="http://schemas.openxmlformats.org/officeDocument/2006/relationships/oleObject" Target="../embeddings/oleObject179.bin"/><Relationship Id="rId20" Type="http://schemas.openxmlformats.org/officeDocument/2006/relationships/image" Target="../media/image179.wmf"/><Relationship Id="rId29" Type="http://schemas.openxmlformats.org/officeDocument/2006/relationships/oleObject" Target="../embeddings/oleObject1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74.wmf"/><Relationship Id="rId24" Type="http://schemas.openxmlformats.org/officeDocument/2006/relationships/image" Target="../media/image181.wmf"/><Relationship Id="rId5" Type="http://schemas.openxmlformats.org/officeDocument/2006/relationships/image" Target="../media/image171.wmf"/><Relationship Id="rId15" Type="http://schemas.openxmlformats.org/officeDocument/2006/relationships/image" Target="../media/image176.wmf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83.wmf"/><Relationship Id="rId10" Type="http://schemas.openxmlformats.org/officeDocument/2006/relationships/oleObject" Target="../embeddings/oleObject176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78.bin"/><Relationship Id="rId22" Type="http://schemas.openxmlformats.org/officeDocument/2006/relationships/image" Target="../media/image180.wmf"/><Relationship Id="rId27" Type="http://schemas.openxmlformats.org/officeDocument/2006/relationships/oleObject" Target="../embeddings/oleObject184.bin"/><Relationship Id="rId30" Type="http://schemas.openxmlformats.org/officeDocument/2006/relationships/image" Target="../media/image184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189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0" Type="http://schemas.openxmlformats.org/officeDocument/2006/relationships/image" Target="../media/image188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89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94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0" Type="http://schemas.openxmlformats.org/officeDocument/2006/relationships/image" Target="../media/image193.w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94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2A1B8F-11F4-434A-8120-51C7181443E8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B56AB0-A682-4968-BD09-E2EC25E0E418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pSp>
        <p:nvGrpSpPr>
          <p:cNvPr id="4101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08" name="Picture 3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9" name="Picture 4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0" name="Picture 5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1" name="Picture 6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Picture 10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2091" name="Text Box 11"/>
          <p:cNvSpPr txBox="1">
            <a:spLocks noChangeArrowheads="1"/>
          </p:cNvSpPr>
          <p:nvPr/>
        </p:nvSpPr>
        <p:spPr bwMode="auto">
          <a:xfrm>
            <a:off x="1671638" y="109538"/>
            <a:ext cx="6483350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章 </a:t>
            </a:r>
          </a:p>
          <a:p>
            <a:pPr algn="ctr" eaLnBrk="1" hangingPunct="1">
              <a:defRPr/>
            </a:pPr>
            <a:r>
              <a:rPr lang="zh-CN" alt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电感、电容及动态电路</a:t>
            </a:r>
          </a:p>
        </p:txBody>
      </p:sp>
      <p:sp>
        <p:nvSpPr>
          <p:cNvPr id="4104" name="Text Box 13"/>
          <p:cNvSpPr txBox="1">
            <a:spLocks noChangeArrowheads="1"/>
          </p:cNvSpPr>
          <p:nvPr/>
        </p:nvSpPr>
        <p:spPr bwMode="auto">
          <a:xfrm>
            <a:off x="1066800" y="2100263"/>
            <a:ext cx="61912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ea typeface="隶书" panose="02010509060101010101" pitchFamily="49" charset="-122"/>
              </a:rPr>
              <a:t>7.1 </a:t>
            </a:r>
            <a:r>
              <a:rPr lang="zh-CN" altLang="en-US" sz="3200">
                <a:ea typeface="隶书" panose="02010509060101010101" pitchFamily="49" charset="-122"/>
              </a:rPr>
              <a:t>广义函数 </a:t>
            </a:r>
            <a:r>
              <a:rPr lang="en-US" altLang="zh-CN" sz="3200">
                <a:ea typeface="隶书" panose="02010509060101010101" pitchFamily="49" charset="-122"/>
              </a:rPr>
              <a:t>Singularity Functions </a:t>
            </a:r>
          </a:p>
        </p:txBody>
      </p:sp>
      <p:sp>
        <p:nvSpPr>
          <p:cNvPr id="4105" name="Text Box 14"/>
          <p:cNvSpPr txBox="1">
            <a:spLocks noChangeArrowheads="1"/>
          </p:cNvSpPr>
          <p:nvPr/>
        </p:nvSpPr>
        <p:spPr bwMode="auto">
          <a:xfrm>
            <a:off x="1066800" y="2735263"/>
            <a:ext cx="33194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ea typeface="隶书" panose="02010509060101010101" pitchFamily="49" charset="-122"/>
              </a:rPr>
              <a:t>7.2 </a:t>
            </a:r>
            <a:r>
              <a:rPr lang="zh-CN" altLang="en-US" sz="3200">
                <a:ea typeface="隶书" panose="02010509060101010101" pitchFamily="49" charset="-122"/>
              </a:rPr>
              <a:t>电容 </a:t>
            </a:r>
            <a:r>
              <a:rPr lang="en-US" altLang="zh-CN" sz="3200">
                <a:ea typeface="隶书" panose="02010509060101010101" pitchFamily="49" charset="-122"/>
              </a:rPr>
              <a:t>Capacitor</a:t>
            </a:r>
          </a:p>
        </p:txBody>
      </p:sp>
      <p:sp>
        <p:nvSpPr>
          <p:cNvPr id="4106" name="Text Box 15"/>
          <p:cNvSpPr txBox="1">
            <a:spLocks noChangeArrowheads="1"/>
          </p:cNvSpPr>
          <p:nvPr/>
        </p:nvSpPr>
        <p:spPr bwMode="auto">
          <a:xfrm>
            <a:off x="1066800" y="4073525"/>
            <a:ext cx="64579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ea typeface="隶书" panose="02010509060101010101" pitchFamily="49" charset="-122"/>
              </a:rPr>
              <a:t>7.4 </a:t>
            </a:r>
            <a:r>
              <a:rPr lang="zh-CN" altLang="en-US" sz="3200">
                <a:ea typeface="隶书" panose="02010509060101010101" pitchFamily="49" charset="-122"/>
              </a:rPr>
              <a:t>动态电路的暂态分析概述</a:t>
            </a:r>
            <a:endParaRPr lang="en-US" altLang="zh-CN" sz="3200">
              <a:ea typeface="隶书" panose="02010509060101010101" pitchFamily="49" charset="-122"/>
            </a:endParaRPr>
          </a:p>
        </p:txBody>
      </p:sp>
      <p:sp>
        <p:nvSpPr>
          <p:cNvPr id="4107" name="Text Box 14"/>
          <p:cNvSpPr txBox="1">
            <a:spLocks noChangeArrowheads="1"/>
          </p:cNvSpPr>
          <p:nvPr/>
        </p:nvSpPr>
        <p:spPr bwMode="auto">
          <a:xfrm>
            <a:off x="1066800" y="3386138"/>
            <a:ext cx="31130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ea typeface="隶书" panose="02010509060101010101" pitchFamily="49" charset="-122"/>
              </a:rPr>
              <a:t>7.3 </a:t>
            </a:r>
            <a:r>
              <a:rPr lang="zh-CN" altLang="en-US" sz="3200">
                <a:ea typeface="隶书" panose="02010509060101010101" pitchFamily="49" charset="-122"/>
              </a:rPr>
              <a:t>电感 </a:t>
            </a:r>
            <a:r>
              <a:rPr lang="en-US" altLang="zh-CN" sz="3200">
                <a:ea typeface="隶书" panose="02010509060101010101" pitchFamily="49" charset="-122"/>
              </a:rPr>
              <a:t>Inductor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14438" y="620686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电场能量存储和释放</a:t>
            </a:r>
            <a:r>
              <a:rPr lang="en-US" altLang="zh-CN" sz="2400" dirty="0"/>
              <a:t>——</a:t>
            </a:r>
            <a:r>
              <a:rPr lang="zh-CN" altLang="en-US" sz="2400" dirty="0"/>
              <a:t>电容（元件）</a:t>
            </a:r>
            <a:endParaRPr lang="en-US" altLang="zh-CN" sz="2400" dirty="0"/>
          </a:p>
          <a:p>
            <a:r>
              <a:rPr lang="zh-CN" altLang="en-US" sz="2400" dirty="0"/>
              <a:t>磁场能量存储和释放</a:t>
            </a:r>
            <a:r>
              <a:rPr lang="en-US" altLang="zh-CN" sz="2400" dirty="0"/>
              <a:t>——</a:t>
            </a:r>
            <a:r>
              <a:rPr lang="zh-CN" altLang="en-US" sz="2400" dirty="0"/>
              <a:t>电感（元件）</a:t>
            </a:r>
          </a:p>
        </p:txBody>
      </p:sp>
      <p:sp>
        <p:nvSpPr>
          <p:cNvPr id="6" name="右箭头 5"/>
          <p:cNvSpPr/>
          <p:nvPr/>
        </p:nvSpPr>
        <p:spPr bwMode="auto">
          <a:xfrm>
            <a:off x="5523334" y="809948"/>
            <a:ext cx="978408" cy="495215"/>
          </a:xfrm>
          <a:prstGeom prst="rightArrow">
            <a:avLst>
              <a:gd name="adj1" fmla="val 45649"/>
              <a:gd name="adj2" fmla="val 76927"/>
            </a:avLst>
          </a:prstGeom>
          <a:solidFill>
            <a:srgbClr val="0070C0"/>
          </a:solidFill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68120" y="713018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/>
              <a:t>不消耗能量</a:t>
            </a:r>
            <a:endParaRPr lang="en-US" altLang="zh-CN" sz="2000" dirty="0"/>
          </a:p>
          <a:p>
            <a:pPr algn="ctr"/>
            <a:r>
              <a:rPr lang="zh-CN" altLang="en-US" sz="2000" dirty="0"/>
              <a:t>无源元件</a:t>
            </a:r>
          </a:p>
        </p:txBody>
      </p:sp>
      <p:sp>
        <p:nvSpPr>
          <p:cNvPr id="8" name="下箭头 7"/>
          <p:cNvSpPr/>
          <p:nvPr/>
        </p:nvSpPr>
        <p:spPr bwMode="auto">
          <a:xfrm>
            <a:off x="2405558" y="1363390"/>
            <a:ext cx="378296" cy="978408"/>
          </a:xfrm>
          <a:prstGeom prst="downArrow">
            <a:avLst>
              <a:gd name="adj1" fmla="val 50000"/>
              <a:gd name="adj2" fmla="val 115465"/>
            </a:avLst>
          </a:prstGeom>
          <a:solidFill>
            <a:srgbClr val="0070C0"/>
          </a:solidFill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40708" y="237661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储能元件</a:t>
            </a:r>
          </a:p>
        </p:txBody>
      </p:sp>
      <p:sp>
        <p:nvSpPr>
          <p:cNvPr id="10" name="右箭头 9"/>
          <p:cNvSpPr/>
          <p:nvPr/>
        </p:nvSpPr>
        <p:spPr bwMode="auto">
          <a:xfrm>
            <a:off x="3851920" y="2420888"/>
            <a:ext cx="978408" cy="484632"/>
          </a:xfrm>
          <a:prstGeom prst="rightArrow">
            <a:avLst>
              <a:gd name="adj1" fmla="val 34277"/>
              <a:gd name="adj2" fmla="val 81447"/>
            </a:avLst>
          </a:prstGeom>
          <a:solidFill>
            <a:srgbClr val="0070C0"/>
          </a:solidFill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75392" y="238523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动态电路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3528" y="3212976"/>
            <a:ext cx="8820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        动态电路发生结构、参数或激励突变时，电路的响应会从突变前的稳定状态稳态（稳态），历经</a:t>
            </a:r>
            <a:r>
              <a:rPr lang="zh-CN" altLang="en-US" sz="2400" b="1" dirty="0">
                <a:solidFill>
                  <a:srgbClr val="FF0000"/>
                </a:solidFill>
              </a:rPr>
              <a:t>渐变过程</a:t>
            </a:r>
            <a:r>
              <a:rPr lang="zh-CN" altLang="en-US" sz="2400" dirty="0"/>
              <a:t>，再到新的稳态。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115616" y="4581128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暂态过程或过渡过程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计算与分析暂态过程的响应称为</a:t>
            </a:r>
            <a:r>
              <a:rPr lang="zh-CN" altLang="en-US" sz="2400" dirty="0">
                <a:solidFill>
                  <a:srgbClr val="FF0000"/>
                </a:solidFill>
              </a:rPr>
              <a:t>暂态分析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计算与分析稳态时的响应称为</a:t>
            </a:r>
            <a:r>
              <a:rPr lang="zh-CN" altLang="en-US" sz="2400" dirty="0">
                <a:solidFill>
                  <a:srgbClr val="FF0000"/>
                </a:solidFill>
              </a:rPr>
              <a:t>稳态分析</a:t>
            </a:r>
          </a:p>
        </p:txBody>
      </p:sp>
      <p:cxnSp>
        <p:nvCxnSpPr>
          <p:cNvPr id="15" name="直接箭头连接符 14"/>
          <p:cNvCxnSpPr/>
          <p:nvPr/>
        </p:nvCxnSpPr>
        <p:spPr bwMode="auto">
          <a:xfrm flipV="1">
            <a:off x="2783854" y="3939218"/>
            <a:ext cx="3012282" cy="62910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accent2"/>
            </a:solidFill>
            <a:prstDash val="solid"/>
            <a:round/>
            <a:headEnd type="stealth" w="med" len="med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4382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37EC15-58A3-4C64-8D82-9DA225DA0F20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5123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0E0200-7045-4B3B-BD03-65838E6A373B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15888"/>
            <a:ext cx="8610600" cy="5334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7.1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广义函数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Singularity Functions</a:t>
            </a:r>
            <a:endParaRPr lang="en-US" altLang="zh-CN" dirty="0">
              <a:ea typeface="隶书" panose="02010509060101010101" pitchFamily="49" charset="-122"/>
            </a:endParaRPr>
          </a:p>
        </p:txBody>
      </p:sp>
      <p:sp>
        <p:nvSpPr>
          <p:cNvPr id="225301" name="Rectangle 21"/>
          <p:cNvSpPr>
            <a:spLocks noChangeArrowheads="1"/>
          </p:cNvSpPr>
          <p:nvPr/>
        </p:nvSpPr>
        <p:spPr bwMode="auto">
          <a:xfrm>
            <a:off x="228600" y="3192463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问题的引出</a:t>
            </a:r>
          </a:p>
        </p:txBody>
      </p:sp>
      <p:sp>
        <p:nvSpPr>
          <p:cNvPr id="5129" name="Rectangle 53"/>
          <p:cNvSpPr>
            <a:spLocks noChangeArrowheads="1"/>
          </p:cNvSpPr>
          <p:nvPr/>
        </p:nvSpPr>
        <p:spPr bwMode="auto">
          <a:xfrm>
            <a:off x="323850" y="299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225328" name="Rectangle 48"/>
          <p:cNvSpPr>
            <a:spLocks noChangeArrowheads="1"/>
          </p:cNvSpPr>
          <p:nvPr/>
        </p:nvSpPr>
        <p:spPr bwMode="auto">
          <a:xfrm>
            <a:off x="1331913" y="1052513"/>
            <a:ext cx="6696075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Unit step function       ——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单位 阶跃 函数  </a:t>
            </a:r>
            <a:r>
              <a:rPr lang="zh-CN" alt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sym typeface="Symbol" panose="05050102010706020507" pitchFamily="18" charset="2"/>
              </a:rPr>
              <a:t>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(</a:t>
            </a:r>
            <a:r>
              <a:rPr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t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)</a:t>
            </a:r>
            <a:endParaRPr lang="en-US" altLang="zh-CN" b="1" dirty="0">
              <a:ea typeface="隶书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Unit pulse function     ——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单位 脉冲 函数  </a:t>
            </a:r>
            <a:r>
              <a:rPr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p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(</a:t>
            </a:r>
            <a:r>
              <a:rPr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t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)</a:t>
            </a:r>
            <a:endParaRPr lang="en-US" altLang="zh-CN" b="1" dirty="0">
              <a:ea typeface="隶书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Unit impulse function ——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单位 冲激 函数 </a:t>
            </a:r>
            <a:r>
              <a:rPr lang="zh-CN" alt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sym typeface="Symbol" panose="05050102010706020507" pitchFamily="18" charset="2"/>
              </a:rPr>
              <a:t>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(</a:t>
            </a:r>
            <a:r>
              <a:rPr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t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5133" name="Rectangle 58"/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5134" name="Rectangle 59"/>
          <p:cNvSpPr>
            <a:spLocks noChangeArrowheads="1"/>
          </p:cNvSpPr>
          <p:nvPr/>
        </p:nvSpPr>
        <p:spPr bwMode="auto">
          <a:xfrm>
            <a:off x="3565525" y="3046413"/>
            <a:ext cx="20129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ea typeface="隶书" panose="02010509060101010101" pitchFamily="49" charset="-122"/>
              </a:rPr>
              <a:t>		</a:t>
            </a:r>
            <a:endParaRPr lang="en-US" altLang="zh-CN">
              <a:ea typeface="隶书" panose="02010509060101010101" pitchFamily="49" charset="-122"/>
            </a:endParaRPr>
          </a:p>
        </p:txBody>
      </p:sp>
      <p:sp>
        <p:nvSpPr>
          <p:cNvPr id="5135" name="Rectangle 63"/>
          <p:cNvSpPr>
            <a:spLocks noChangeArrowheads="1"/>
          </p:cNvSpPr>
          <p:nvPr/>
        </p:nvSpPr>
        <p:spPr bwMode="auto">
          <a:xfrm>
            <a:off x="0" y="299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aphicFrame>
        <p:nvGraphicFramePr>
          <p:cNvPr id="18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395097"/>
              </p:ext>
            </p:extLst>
          </p:nvPr>
        </p:nvGraphicFramePr>
        <p:xfrm>
          <a:off x="827584" y="4144168"/>
          <a:ext cx="32004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457200" progId="Equation.DSMT4">
                  <p:embed/>
                </p:oleObj>
              </mc:Choice>
              <mc:Fallback>
                <p:oleObj name="Equation" r:id="rId2" imgW="1511300" imgH="457200" progId="Equation.DSMT4">
                  <p:embed/>
                  <p:pic>
                    <p:nvPicPr>
                      <p:cNvPr id="24887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144168"/>
                        <a:ext cx="32004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4499992" y="4325293"/>
            <a:ext cx="4176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分段函数：数学上不便处理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795335" y="5282855"/>
            <a:ext cx="77048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借助单位阶跃函数和单位冲激函数，可以把分段函数写为单个表达式的广义函数，方便运算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1" grpId="0" autoUpdateAnimBg="0"/>
      <p:bldP spid="19" grpId="0" build="p" autoUpdateAnimBg="0"/>
      <p:bldP spid="2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330200" y="836712"/>
            <a:ext cx="554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单位阶跃函数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unit-step function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509588" y="1484412"/>
            <a:ext cx="14255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1.  </a:t>
            </a:r>
            <a:r>
              <a:rPr kumimoji="1" lang="zh-CN" altLang="en-US" sz="2400" b="1">
                <a:solidFill>
                  <a:srgbClr val="0066FF"/>
                </a:solidFill>
                <a:latin typeface="Times New Roman" panose="02020603050405020304" pitchFamily="18" charset="0"/>
              </a:rPr>
              <a:t>定义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94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179304"/>
              </p:ext>
            </p:extLst>
          </p:nvPr>
        </p:nvGraphicFramePr>
        <p:xfrm>
          <a:off x="2022475" y="1700312"/>
          <a:ext cx="2260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30040" imgH="469800" progId="Equation.3">
                  <p:embed/>
                </p:oleObj>
              </mc:Choice>
              <mc:Fallback>
                <p:oleObj name="公式" r:id="rId3" imgW="1130040" imgH="469800" progId="Equation.3">
                  <p:embed/>
                  <p:pic>
                    <p:nvPicPr>
                      <p:cNvPr id="194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1700312"/>
                        <a:ext cx="2260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565" name="Group 5"/>
          <p:cNvGrpSpPr>
            <a:grpSpLocks/>
          </p:cNvGrpSpPr>
          <p:nvPr/>
        </p:nvGrpSpPr>
        <p:grpSpPr bwMode="auto">
          <a:xfrm>
            <a:off x="1009650" y="2941737"/>
            <a:ext cx="4046538" cy="482600"/>
            <a:chOff x="576" y="1816"/>
            <a:chExt cx="2442" cy="304"/>
          </a:xfrm>
        </p:grpSpPr>
        <p:graphicFrame>
          <p:nvGraphicFramePr>
            <p:cNvPr id="194566" name="Object 6"/>
            <p:cNvGraphicFramePr>
              <a:graphicFrameLocks noChangeAspect="1"/>
            </p:cNvGraphicFramePr>
            <p:nvPr/>
          </p:nvGraphicFramePr>
          <p:xfrm>
            <a:off x="912" y="1872"/>
            <a:ext cx="38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17160" imgH="203040" progId="Equation.3">
                    <p:embed/>
                  </p:oleObj>
                </mc:Choice>
                <mc:Fallback>
                  <p:oleObj name="公式" r:id="rId5" imgW="317160" imgH="203040" progId="Equation.3">
                    <p:embed/>
                    <p:pic>
                      <p:nvPicPr>
                        <p:cNvPr id="19456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872"/>
                          <a:ext cx="38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567" name="Group 7"/>
            <p:cNvGrpSpPr>
              <a:grpSpLocks/>
            </p:cNvGrpSpPr>
            <p:nvPr/>
          </p:nvGrpSpPr>
          <p:grpSpPr bwMode="auto">
            <a:xfrm>
              <a:off x="576" y="1816"/>
              <a:ext cx="2442" cy="296"/>
              <a:chOff x="576" y="1816"/>
              <a:chExt cx="2442" cy="296"/>
            </a:xfrm>
          </p:grpSpPr>
          <p:sp>
            <p:nvSpPr>
              <p:cNvPr id="194568" name="Text Box 8"/>
              <p:cNvSpPr txBox="1">
                <a:spLocks noChangeArrowheads="1"/>
              </p:cNvSpPr>
              <p:nvPr/>
            </p:nvSpPr>
            <p:spPr bwMode="auto">
              <a:xfrm>
                <a:off x="576" y="1824"/>
                <a:ext cx="39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/>
                <a:r>
                  <a:rPr kumimoji="1" lang="zh-CN" altLang="en-US" sz="2400" b="1">
                    <a:latin typeface="Times New Roman" panose="02020603050405020304" pitchFamily="18" charset="0"/>
                  </a:rPr>
                  <a:t>用</a:t>
                </a: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69" name="Text Box 9"/>
              <p:cNvSpPr txBox="1">
                <a:spLocks noChangeArrowheads="1"/>
              </p:cNvSpPr>
              <p:nvPr/>
            </p:nvSpPr>
            <p:spPr bwMode="auto">
              <a:xfrm>
                <a:off x="1243" y="1816"/>
                <a:ext cx="177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zh-CN" altLang="en-US" sz="2400" b="1">
                    <a:latin typeface="Times New Roman" panose="02020603050405020304" pitchFamily="18" charset="0"/>
                  </a:rPr>
                  <a:t>来描述开关的动作：</a:t>
                </a: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4570" name="Group 10"/>
          <p:cNvGrpSpPr>
            <a:grpSpLocks/>
          </p:cNvGrpSpPr>
          <p:nvPr/>
        </p:nvGrpSpPr>
        <p:grpSpPr bwMode="auto">
          <a:xfrm>
            <a:off x="952500" y="5354737"/>
            <a:ext cx="3149600" cy="457200"/>
            <a:chOff x="596" y="3464"/>
            <a:chExt cx="1984" cy="288"/>
          </a:xfrm>
        </p:grpSpPr>
        <p:sp>
          <p:nvSpPr>
            <p:cNvPr id="194571" name="Text Box 11"/>
            <p:cNvSpPr txBox="1">
              <a:spLocks noChangeArrowheads="1"/>
            </p:cNvSpPr>
            <p:nvPr/>
          </p:nvSpPr>
          <p:spPr bwMode="auto">
            <a:xfrm>
              <a:off x="596" y="3464"/>
              <a:ext cx="16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 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 0</a:t>
              </a:r>
              <a:r>
                <a:rPr kumimoji="1" lang="zh-CN" altLang="zh-CN" sz="2400" b="1">
                  <a:latin typeface="Times New Roman" panose="02020603050405020304" pitchFamily="18" charset="0"/>
                </a:rPr>
                <a:t>合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S  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  =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E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4572" name="Object 12"/>
            <p:cNvGraphicFramePr>
              <a:graphicFrameLocks noChangeAspect="1"/>
            </p:cNvGraphicFramePr>
            <p:nvPr/>
          </p:nvGraphicFramePr>
          <p:xfrm>
            <a:off x="2192" y="3488"/>
            <a:ext cx="38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17160" imgH="203040" progId="Equation.3">
                    <p:embed/>
                  </p:oleObj>
                </mc:Choice>
                <mc:Fallback>
                  <p:oleObj name="公式" r:id="rId7" imgW="317160" imgH="203040" progId="Equation.3">
                    <p:embed/>
                    <p:pic>
                      <p:nvPicPr>
                        <p:cNvPr id="19457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3488"/>
                          <a:ext cx="38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573" name="Group 13"/>
          <p:cNvGrpSpPr>
            <a:grpSpLocks/>
          </p:cNvGrpSpPr>
          <p:nvPr/>
        </p:nvGrpSpPr>
        <p:grpSpPr bwMode="auto">
          <a:xfrm>
            <a:off x="4745038" y="5342037"/>
            <a:ext cx="3141662" cy="457200"/>
            <a:chOff x="2985" y="3456"/>
            <a:chExt cx="1979" cy="288"/>
          </a:xfrm>
        </p:grpSpPr>
        <p:sp>
          <p:nvSpPr>
            <p:cNvPr id="194574" name="Text Box 14"/>
            <p:cNvSpPr txBox="1">
              <a:spLocks noChangeArrowheads="1"/>
            </p:cNvSpPr>
            <p:nvPr/>
          </p:nvSpPr>
          <p:spPr bwMode="auto">
            <a:xfrm>
              <a:off x="2985" y="3456"/>
              <a:ext cx="17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 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 0</a:t>
              </a:r>
              <a:r>
                <a:rPr kumimoji="1" lang="zh-CN" altLang="zh-CN" sz="2400" b="1">
                  <a:latin typeface="Times New Roman" panose="02020603050405020304" pitchFamily="18" charset="0"/>
                </a:rPr>
                <a:t>拉闸  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  =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</a:p>
          </p:txBody>
        </p:sp>
        <p:graphicFrame>
          <p:nvGraphicFramePr>
            <p:cNvPr id="194575" name="Object 15"/>
            <p:cNvGraphicFramePr>
              <a:graphicFrameLocks noChangeAspect="1"/>
            </p:cNvGraphicFramePr>
            <p:nvPr/>
          </p:nvGraphicFramePr>
          <p:xfrm>
            <a:off x="4576" y="3480"/>
            <a:ext cx="38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7160" imgH="203040" progId="Equation.3">
                    <p:embed/>
                  </p:oleObj>
                </mc:Choice>
                <mc:Fallback>
                  <p:oleObj name="公式" r:id="rId8" imgW="317160" imgH="203040" progId="Equation.3">
                    <p:embed/>
                    <p:pic>
                      <p:nvPicPr>
                        <p:cNvPr id="19457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6" y="3480"/>
                          <a:ext cx="38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576" name="Group 16"/>
          <p:cNvGrpSpPr>
            <a:grpSpLocks/>
          </p:cNvGrpSpPr>
          <p:nvPr/>
        </p:nvGrpSpPr>
        <p:grpSpPr bwMode="auto">
          <a:xfrm>
            <a:off x="933450" y="3652937"/>
            <a:ext cx="2692400" cy="1435100"/>
            <a:chOff x="528" y="2264"/>
            <a:chExt cx="1696" cy="904"/>
          </a:xfrm>
        </p:grpSpPr>
        <p:grpSp>
          <p:nvGrpSpPr>
            <p:cNvPr id="194577" name="Group 17"/>
            <p:cNvGrpSpPr>
              <a:grpSpLocks/>
            </p:cNvGrpSpPr>
            <p:nvPr/>
          </p:nvGrpSpPr>
          <p:grpSpPr bwMode="auto">
            <a:xfrm>
              <a:off x="528" y="2264"/>
              <a:ext cx="1696" cy="904"/>
              <a:chOff x="528" y="2264"/>
              <a:chExt cx="1696" cy="904"/>
            </a:xfrm>
          </p:grpSpPr>
          <p:sp>
            <p:nvSpPr>
              <p:cNvPr id="194578" name="Oval 18"/>
              <p:cNvSpPr>
                <a:spLocks noChangeArrowheads="1"/>
              </p:cNvSpPr>
              <p:nvPr/>
            </p:nvSpPr>
            <p:spPr bwMode="auto">
              <a:xfrm>
                <a:off x="800" y="2640"/>
                <a:ext cx="192" cy="168"/>
              </a:xfrm>
              <a:prstGeom prst="ellipse">
                <a:avLst/>
              </a:prstGeom>
              <a:solidFill>
                <a:srgbClr val="99FF99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79" name="Text Box 19"/>
              <p:cNvSpPr txBox="1">
                <a:spLocks noChangeArrowheads="1"/>
              </p:cNvSpPr>
              <p:nvPr/>
            </p:nvSpPr>
            <p:spPr bwMode="auto">
              <a:xfrm>
                <a:off x="1110" y="252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</a:rPr>
                  <a:t>S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94580" name="Group 20"/>
              <p:cNvGrpSpPr>
                <a:grpSpLocks/>
              </p:cNvGrpSpPr>
              <p:nvPr/>
            </p:nvGrpSpPr>
            <p:grpSpPr bwMode="auto">
              <a:xfrm>
                <a:off x="2003" y="2305"/>
                <a:ext cx="175" cy="804"/>
                <a:chOff x="1660" y="1285"/>
                <a:chExt cx="126" cy="598"/>
              </a:xfrm>
            </p:grpSpPr>
            <p:grpSp>
              <p:nvGrpSpPr>
                <p:cNvPr id="194581" name="Group 21"/>
                <p:cNvGrpSpPr>
                  <a:grpSpLocks/>
                </p:cNvGrpSpPr>
                <p:nvPr/>
              </p:nvGrpSpPr>
              <p:grpSpPr bwMode="auto">
                <a:xfrm>
                  <a:off x="1695" y="1285"/>
                  <a:ext cx="91" cy="598"/>
                  <a:chOff x="1695" y="1285"/>
                  <a:chExt cx="91" cy="598"/>
                </a:xfrm>
              </p:grpSpPr>
              <p:sp>
                <p:nvSpPr>
                  <p:cNvPr id="194582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03" y="1285"/>
                    <a:ext cx="83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endParaRPr kumimoji="1" lang="zh-CN" altLang="zh-CN" sz="2400" b="1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583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5" y="1669"/>
                    <a:ext cx="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endParaRPr kumimoji="1" lang="zh-CN" altLang="zh-CN" sz="2400" b="1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4584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660" y="1466"/>
                  <a:ext cx="84" cy="2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kumimoji="1" lang="zh-CN" altLang="zh-CN" sz="2400" b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4585" name="Text Box 25"/>
              <p:cNvSpPr txBox="1">
                <a:spLocks noChangeArrowheads="1"/>
              </p:cNvSpPr>
              <p:nvPr/>
            </p:nvSpPr>
            <p:spPr bwMode="auto">
              <a:xfrm>
                <a:off x="528" y="2645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E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86" name="Line 26"/>
              <p:cNvSpPr>
                <a:spLocks noChangeShapeType="1"/>
              </p:cNvSpPr>
              <p:nvPr/>
            </p:nvSpPr>
            <p:spPr bwMode="auto">
              <a:xfrm>
                <a:off x="896" y="2320"/>
                <a:ext cx="4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87" name="Line 27"/>
              <p:cNvSpPr>
                <a:spLocks noChangeShapeType="1"/>
              </p:cNvSpPr>
              <p:nvPr/>
            </p:nvSpPr>
            <p:spPr bwMode="auto">
              <a:xfrm flipV="1">
                <a:off x="896" y="3070"/>
                <a:ext cx="929" cy="2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88" name="Line 28"/>
              <p:cNvSpPr>
                <a:spLocks noChangeShapeType="1"/>
              </p:cNvSpPr>
              <p:nvPr/>
            </p:nvSpPr>
            <p:spPr bwMode="auto">
              <a:xfrm flipH="1">
                <a:off x="1440" y="2328"/>
                <a:ext cx="368" cy="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89" name="Line 29"/>
              <p:cNvSpPr>
                <a:spLocks noChangeShapeType="1"/>
              </p:cNvSpPr>
              <p:nvPr/>
            </p:nvSpPr>
            <p:spPr bwMode="auto">
              <a:xfrm flipV="1">
                <a:off x="896" y="2772"/>
                <a:ext cx="0" cy="32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90" name="Line 30"/>
              <p:cNvSpPr>
                <a:spLocks noChangeShapeType="1"/>
              </p:cNvSpPr>
              <p:nvPr/>
            </p:nvSpPr>
            <p:spPr bwMode="auto">
              <a:xfrm>
                <a:off x="896" y="2320"/>
                <a:ext cx="0" cy="53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91" name="Line 31"/>
              <p:cNvSpPr>
                <a:spLocks noChangeShapeType="1"/>
              </p:cNvSpPr>
              <p:nvPr/>
            </p:nvSpPr>
            <p:spPr bwMode="auto">
              <a:xfrm flipH="1">
                <a:off x="1163" y="2320"/>
                <a:ext cx="334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92" name="Line 32"/>
              <p:cNvSpPr>
                <a:spLocks noChangeShapeType="1"/>
              </p:cNvSpPr>
              <p:nvPr/>
            </p:nvSpPr>
            <p:spPr bwMode="auto">
              <a:xfrm>
                <a:off x="1363" y="2385"/>
                <a:ext cx="0" cy="70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93" name="Line 33"/>
              <p:cNvSpPr>
                <a:spLocks noChangeShapeType="1"/>
              </p:cNvSpPr>
              <p:nvPr/>
            </p:nvSpPr>
            <p:spPr bwMode="auto">
              <a:xfrm flipH="1" flipV="1">
                <a:off x="1230" y="2449"/>
                <a:ext cx="67" cy="1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94" name="Rectangle 34"/>
              <p:cNvSpPr>
                <a:spLocks noChangeArrowheads="1"/>
              </p:cNvSpPr>
              <p:nvPr/>
            </p:nvSpPr>
            <p:spPr bwMode="auto">
              <a:xfrm>
                <a:off x="1832" y="2264"/>
                <a:ext cx="392" cy="90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95" name="Line 35"/>
              <p:cNvSpPr>
                <a:spLocks noChangeShapeType="1"/>
              </p:cNvSpPr>
              <p:nvPr/>
            </p:nvSpPr>
            <p:spPr bwMode="auto">
              <a:xfrm>
                <a:off x="672" y="2960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94596" name="Group 36"/>
              <p:cNvGrpSpPr>
                <a:grpSpLocks/>
              </p:cNvGrpSpPr>
              <p:nvPr/>
            </p:nvGrpSpPr>
            <p:grpSpPr bwMode="auto">
              <a:xfrm>
                <a:off x="648" y="2472"/>
                <a:ext cx="128" cy="136"/>
                <a:chOff x="648" y="2472"/>
                <a:chExt cx="128" cy="136"/>
              </a:xfrm>
            </p:grpSpPr>
            <p:sp>
              <p:nvSpPr>
                <p:cNvPr id="194597" name="Line 37"/>
                <p:cNvSpPr>
                  <a:spLocks noChangeShapeType="1"/>
                </p:cNvSpPr>
                <p:nvPr/>
              </p:nvSpPr>
              <p:spPr bwMode="auto">
                <a:xfrm>
                  <a:off x="648" y="2536"/>
                  <a:ext cx="12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598" name="Line 38"/>
                <p:cNvSpPr>
                  <a:spLocks noChangeShapeType="1"/>
                </p:cNvSpPr>
                <p:nvPr/>
              </p:nvSpPr>
              <p:spPr bwMode="auto">
                <a:xfrm>
                  <a:off x="704" y="2472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4599" name="Group 39"/>
              <p:cNvGrpSpPr>
                <a:grpSpLocks/>
              </p:cNvGrpSpPr>
              <p:nvPr/>
            </p:nvGrpSpPr>
            <p:grpSpPr bwMode="auto">
              <a:xfrm>
                <a:off x="1584" y="2392"/>
                <a:ext cx="128" cy="136"/>
                <a:chOff x="648" y="2472"/>
                <a:chExt cx="128" cy="136"/>
              </a:xfrm>
            </p:grpSpPr>
            <p:sp>
              <p:nvSpPr>
                <p:cNvPr id="194600" name="Line 40"/>
                <p:cNvSpPr>
                  <a:spLocks noChangeShapeType="1"/>
                </p:cNvSpPr>
                <p:nvPr/>
              </p:nvSpPr>
              <p:spPr bwMode="auto">
                <a:xfrm>
                  <a:off x="648" y="2536"/>
                  <a:ext cx="12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01" name="Line 41"/>
                <p:cNvSpPr>
                  <a:spLocks noChangeShapeType="1"/>
                </p:cNvSpPr>
                <p:nvPr/>
              </p:nvSpPr>
              <p:spPr bwMode="auto">
                <a:xfrm>
                  <a:off x="704" y="2472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4602" name="Line 42"/>
              <p:cNvSpPr>
                <a:spLocks noChangeShapeType="1"/>
              </p:cNvSpPr>
              <p:nvPr/>
            </p:nvSpPr>
            <p:spPr bwMode="auto">
              <a:xfrm>
                <a:off x="1584" y="2984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603" name="Text Box 43"/>
              <p:cNvSpPr txBox="1">
                <a:spLocks noChangeArrowheads="1"/>
              </p:cNvSpPr>
              <p:nvPr/>
            </p:nvSpPr>
            <p:spPr bwMode="auto">
              <a:xfrm>
                <a:off x="1367" y="2600"/>
                <a:ext cx="4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)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604" name="Oval 44"/>
            <p:cNvSpPr>
              <a:spLocks noChangeArrowheads="1"/>
            </p:cNvSpPr>
            <p:nvPr/>
          </p:nvSpPr>
          <p:spPr bwMode="auto">
            <a:xfrm>
              <a:off x="1608" y="3064"/>
              <a:ext cx="64" cy="56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05" name="Oval 45"/>
            <p:cNvSpPr>
              <a:spLocks noChangeArrowheads="1"/>
            </p:cNvSpPr>
            <p:nvPr/>
          </p:nvSpPr>
          <p:spPr bwMode="auto">
            <a:xfrm>
              <a:off x="1592" y="2288"/>
              <a:ext cx="64" cy="56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06" name="Group 46"/>
          <p:cNvGrpSpPr>
            <a:grpSpLocks/>
          </p:cNvGrpSpPr>
          <p:nvPr/>
        </p:nvGrpSpPr>
        <p:grpSpPr bwMode="auto">
          <a:xfrm>
            <a:off x="5191125" y="1339950"/>
            <a:ext cx="3106738" cy="1524000"/>
            <a:chOff x="3320" y="816"/>
            <a:chExt cx="1957" cy="960"/>
          </a:xfrm>
        </p:grpSpPr>
        <p:sp>
          <p:nvSpPr>
            <p:cNvPr id="194607" name="Line 47"/>
            <p:cNvSpPr>
              <a:spLocks noChangeShapeType="1"/>
            </p:cNvSpPr>
            <p:nvPr/>
          </p:nvSpPr>
          <p:spPr bwMode="auto">
            <a:xfrm>
              <a:off x="3560" y="1536"/>
              <a:ext cx="1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08" name="Line 48"/>
            <p:cNvSpPr>
              <a:spLocks noChangeShapeType="1"/>
            </p:cNvSpPr>
            <p:nvPr/>
          </p:nvSpPr>
          <p:spPr bwMode="auto">
            <a:xfrm flipV="1">
              <a:off x="3656" y="960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09" name="Line 49"/>
            <p:cNvSpPr>
              <a:spLocks noChangeShapeType="1"/>
            </p:cNvSpPr>
            <p:nvPr/>
          </p:nvSpPr>
          <p:spPr bwMode="auto">
            <a:xfrm>
              <a:off x="3656" y="1152"/>
              <a:ext cx="105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10" name="Text Box 50"/>
            <p:cNvSpPr txBox="1">
              <a:spLocks noChangeArrowheads="1"/>
            </p:cNvSpPr>
            <p:nvPr/>
          </p:nvSpPr>
          <p:spPr bwMode="auto">
            <a:xfrm>
              <a:off x="5108" y="1392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94611" name="Text Box 51"/>
            <p:cNvSpPr txBox="1">
              <a:spLocks noChangeArrowheads="1"/>
            </p:cNvSpPr>
            <p:nvPr/>
          </p:nvSpPr>
          <p:spPr bwMode="auto">
            <a:xfrm>
              <a:off x="3704" y="816"/>
              <a:ext cx="3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94612" name="Line 52"/>
            <p:cNvSpPr>
              <a:spLocks noChangeShapeType="1"/>
            </p:cNvSpPr>
            <p:nvPr/>
          </p:nvSpPr>
          <p:spPr bwMode="auto">
            <a:xfrm flipH="1">
              <a:off x="3320" y="1536"/>
              <a:ext cx="33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13" name="Line 53"/>
            <p:cNvSpPr>
              <a:spLocks noChangeShapeType="1"/>
            </p:cNvSpPr>
            <p:nvPr/>
          </p:nvSpPr>
          <p:spPr bwMode="auto">
            <a:xfrm>
              <a:off x="3656" y="1152"/>
              <a:ext cx="0" cy="38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14" name="Text Box 54"/>
            <p:cNvSpPr txBox="1">
              <a:spLocks noChangeArrowheads="1"/>
            </p:cNvSpPr>
            <p:nvPr/>
          </p:nvSpPr>
          <p:spPr bwMode="auto">
            <a:xfrm>
              <a:off x="3638" y="14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4615" name="Text Box 55"/>
            <p:cNvSpPr txBox="1">
              <a:spLocks noChangeArrowheads="1"/>
            </p:cNvSpPr>
            <p:nvPr/>
          </p:nvSpPr>
          <p:spPr bwMode="auto">
            <a:xfrm>
              <a:off x="3435" y="106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94616" name="Group 56"/>
          <p:cNvGrpSpPr>
            <a:grpSpLocks/>
          </p:cNvGrpSpPr>
          <p:nvPr/>
        </p:nvGrpSpPr>
        <p:grpSpPr bwMode="auto">
          <a:xfrm>
            <a:off x="4716463" y="3144937"/>
            <a:ext cx="2706687" cy="1892300"/>
            <a:chOff x="2911" y="1944"/>
            <a:chExt cx="1705" cy="1192"/>
          </a:xfrm>
        </p:grpSpPr>
        <p:grpSp>
          <p:nvGrpSpPr>
            <p:cNvPr id="194617" name="Group 57"/>
            <p:cNvGrpSpPr>
              <a:grpSpLocks/>
            </p:cNvGrpSpPr>
            <p:nvPr/>
          </p:nvGrpSpPr>
          <p:grpSpPr bwMode="auto">
            <a:xfrm>
              <a:off x="2911" y="1944"/>
              <a:ext cx="1705" cy="1192"/>
              <a:chOff x="2911" y="1944"/>
              <a:chExt cx="1705" cy="1192"/>
            </a:xfrm>
          </p:grpSpPr>
          <p:sp>
            <p:nvSpPr>
              <p:cNvPr id="194618" name="Text Box 58"/>
              <p:cNvSpPr txBox="1">
                <a:spLocks noChangeArrowheads="1"/>
              </p:cNvSpPr>
              <p:nvPr/>
            </p:nvSpPr>
            <p:spPr bwMode="auto">
              <a:xfrm>
                <a:off x="2911" y="2613"/>
                <a:ext cx="2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S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94619" name="Group 59"/>
              <p:cNvGrpSpPr>
                <a:grpSpLocks/>
              </p:cNvGrpSpPr>
              <p:nvPr/>
            </p:nvGrpSpPr>
            <p:grpSpPr bwMode="auto">
              <a:xfrm>
                <a:off x="3192" y="1944"/>
                <a:ext cx="1424" cy="1192"/>
                <a:chOff x="3192" y="1944"/>
                <a:chExt cx="1424" cy="1192"/>
              </a:xfrm>
            </p:grpSpPr>
            <p:sp>
              <p:nvSpPr>
                <p:cNvPr id="194620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3782" y="2511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kumimoji="1" lang="en-US" altLang="zh-CN" b="1">
                      <a:latin typeface="Times New Roman" panose="02020603050405020304" pitchFamily="18" charset="0"/>
                    </a:rPr>
                    <a:t>S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94621" name="Group 61"/>
                <p:cNvGrpSpPr>
                  <a:grpSpLocks/>
                </p:cNvGrpSpPr>
                <p:nvPr/>
              </p:nvGrpSpPr>
              <p:grpSpPr bwMode="auto">
                <a:xfrm>
                  <a:off x="4395" y="2273"/>
                  <a:ext cx="175" cy="804"/>
                  <a:chOff x="1660" y="1285"/>
                  <a:chExt cx="126" cy="598"/>
                </a:xfrm>
              </p:grpSpPr>
              <p:grpSp>
                <p:nvGrpSpPr>
                  <p:cNvPr id="194622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1695" y="1285"/>
                    <a:ext cx="91" cy="598"/>
                    <a:chOff x="1695" y="1285"/>
                    <a:chExt cx="91" cy="598"/>
                  </a:xfrm>
                </p:grpSpPr>
                <p:sp>
                  <p:nvSpPr>
                    <p:cNvPr id="194623" name="Text Box 6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703" y="1285"/>
                      <a:ext cx="83" cy="21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algn="ctr" eaLnBrk="0" hangingPunct="0">
                        <a:spcBef>
                          <a:spcPct val="50000"/>
                        </a:spcBef>
                      </a:pPr>
                      <a:endParaRPr kumimoji="1" lang="zh-CN" altLang="zh-CN" sz="2400" b="1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94624" name="Text Box 6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95" y="1669"/>
                      <a:ext cx="84" cy="21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algn="ctr" eaLnBrk="0" hangingPunct="0">
                        <a:spcBef>
                          <a:spcPct val="50000"/>
                        </a:spcBef>
                      </a:pPr>
                      <a:endParaRPr kumimoji="1" lang="zh-CN" altLang="zh-CN" sz="2400" b="1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94625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60" y="1466"/>
                    <a:ext cx="8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endParaRPr kumimoji="1" lang="zh-CN" altLang="zh-CN" sz="2400" b="1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4626" name="Line 66"/>
                <p:cNvSpPr>
                  <a:spLocks noChangeShapeType="1"/>
                </p:cNvSpPr>
                <p:nvPr/>
              </p:nvSpPr>
              <p:spPr bwMode="auto">
                <a:xfrm>
                  <a:off x="3288" y="2288"/>
                  <a:ext cx="94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27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3288" y="2740"/>
                  <a:ext cx="0" cy="32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28" name="Line 68"/>
                <p:cNvSpPr>
                  <a:spLocks noChangeShapeType="1"/>
                </p:cNvSpPr>
                <p:nvPr/>
              </p:nvSpPr>
              <p:spPr bwMode="auto">
                <a:xfrm>
                  <a:off x="3288" y="2288"/>
                  <a:ext cx="0" cy="38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29" name="Line 69"/>
                <p:cNvSpPr>
                  <a:spLocks noChangeShapeType="1"/>
                </p:cNvSpPr>
                <p:nvPr/>
              </p:nvSpPr>
              <p:spPr bwMode="auto">
                <a:xfrm rot="8243330" flipH="1" flipV="1">
                  <a:off x="3694" y="2601"/>
                  <a:ext cx="67" cy="19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30" name="Rectangle 70"/>
                <p:cNvSpPr>
                  <a:spLocks noChangeArrowheads="1"/>
                </p:cNvSpPr>
                <p:nvPr/>
              </p:nvSpPr>
              <p:spPr bwMode="auto">
                <a:xfrm>
                  <a:off x="4224" y="2232"/>
                  <a:ext cx="392" cy="90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endParaRPr kumimoji="1" lang="zh-CN" altLang="zh-CN" sz="240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631" name="Line 71"/>
                <p:cNvSpPr>
                  <a:spLocks noChangeShapeType="1"/>
                </p:cNvSpPr>
                <p:nvPr/>
              </p:nvSpPr>
              <p:spPr bwMode="auto">
                <a:xfrm>
                  <a:off x="3656" y="2288"/>
                  <a:ext cx="0" cy="30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32" name="Line 72"/>
                <p:cNvSpPr>
                  <a:spLocks noChangeShapeType="1"/>
                </p:cNvSpPr>
                <p:nvPr/>
              </p:nvSpPr>
              <p:spPr bwMode="auto">
                <a:xfrm>
                  <a:off x="3664" y="277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33" name="Line 73"/>
                <p:cNvSpPr>
                  <a:spLocks noChangeShapeType="1"/>
                </p:cNvSpPr>
                <p:nvPr/>
              </p:nvSpPr>
              <p:spPr bwMode="auto">
                <a:xfrm>
                  <a:off x="3280" y="3048"/>
                  <a:ext cx="95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34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3664" y="2544"/>
                  <a:ext cx="48" cy="2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35" name="Oval 75"/>
                <p:cNvSpPr>
                  <a:spLocks noChangeArrowheads="1"/>
                </p:cNvSpPr>
                <p:nvPr/>
              </p:nvSpPr>
              <p:spPr bwMode="auto">
                <a:xfrm>
                  <a:off x="3192" y="2616"/>
                  <a:ext cx="192" cy="168"/>
                </a:xfrm>
                <a:prstGeom prst="ellipse">
                  <a:avLst/>
                </a:prstGeom>
                <a:solidFill>
                  <a:srgbClr val="99FF99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36" name="Line 76"/>
                <p:cNvSpPr>
                  <a:spLocks noChangeShapeType="1"/>
                </p:cNvSpPr>
                <p:nvPr/>
              </p:nvSpPr>
              <p:spPr bwMode="auto">
                <a:xfrm>
                  <a:off x="3200" y="2696"/>
                  <a:ext cx="1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637" name="Line 77"/>
                <p:cNvSpPr>
                  <a:spLocks noChangeShapeType="1"/>
                </p:cNvSpPr>
                <p:nvPr/>
              </p:nvSpPr>
              <p:spPr bwMode="auto">
                <a:xfrm>
                  <a:off x="3736" y="2224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94638" name="Object 78"/>
                <p:cNvGraphicFramePr>
                  <a:graphicFrameLocks noChangeAspect="1"/>
                </p:cNvGraphicFramePr>
                <p:nvPr/>
              </p:nvGraphicFramePr>
              <p:xfrm>
                <a:off x="3671" y="1944"/>
                <a:ext cx="357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9" imgW="291960" imgH="203040" progId="Equation.3">
                        <p:embed/>
                      </p:oleObj>
                    </mc:Choice>
                    <mc:Fallback>
                      <p:oleObj name="公式" r:id="rId9" imgW="291960" imgH="203040" progId="Equation.3">
                        <p:embed/>
                        <p:pic>
                          <p:nvPicPr>
                            <p:cNvPr id="194638" name="Object 7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71" y="1944"/>
                              <a:ext cx="357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94639" name="Line 79"/>
            <p:cNvSpPr>
              <a:spLocks noChangeShapeType="1"/>
            </p:cNvSpPr>
            <p:nvPr/>
          </p:nvSpPr>
          <p:spPr bwMode="auto">
            <a:xfrm flipV="1">
              <a:off x="3288" y="24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90652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 build="p" autoUpdateAnimBg="0"/>
      <p:bldP spid="194563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ChangeArrowheads="1"/>
          </p:cNvSpPr>
          <p:nvPr/>
        </p:nvSpPr>
        <p:spPr bwMode="auto">
          <a:xfrm>
            <a:off x="215900" y="188640"/>
            <a:ext cx="399573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单位阶跃函数的延迟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6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990846"/>
              </p:ext>
            </p:extLst>
          </p:nvPr>
        </p:nvGraphicFramePr>
        <p:xfrm>
          <a:off x="4257675" y="980728"/>
          <a:ext cx="3052763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6040" imgH="482400" progId="Equation.DSMT4">
                  <p:embed/>
                </p:oleObj>
              </mc:Choice>
              <mc:Fallback>
                <p:oleObj name="Equation" r:id="rId3" imgW="1346040" imgH="482400" progId="Equation.DSMT4">
                  <p:embed/>
                  <p:pic>
                    <p:nvPicPr>
                      <p:cNvPr id="196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980728"/>
                        <a:ext cx="3052763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2" name="Rectangle 4"/>
          <p:cNvSpPr>
            <a:spLocks noChangeArrowheads="1"/>
          </p:cNvSpPr>
          <p:nvPr/>
        </p:nvSpPr>
        <p:spPr bwMode="auto">
          <a:xfrm>
            <a:off x="827584" y="2420888"/>
            <a:ext cx="580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单位阶跃函数的反转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527218"/>
              </p:ext>
            </p:extLst>
          </p:nvPr>
        </p:nvGraphicFramePr>
        <p:xfrm>
          <a:off x="990600" y="620688"/>
          <a:ext cx="3168650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641634" imgH="1068991" progId="Visio.Drawing.11">
                  <p:embed/>
                </p:oleObj>
              </mc:Choice>
              <mc:Fallback>
                <p:oleObj name="Visio" r:id="rId5" imgW="1641634" imgH="1068991" progId="Visio.Drawing.11">
                  <p:embed/>
                  <p:pic>
                    <p:nvPicPr>
                      <p:cNvPr id="225336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620688"/>
                        <a:ext cx="3168650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518785"/>
              </p:ext>
            </p:extLst>
          </p:nvPr>
        </p:nvGraphicFramePr>
        <p:xfrm>
          <a:off x="1469232" y="2924944"/>
          <a:ext cx="2376487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40869" imgH="947261" progId="Visio.Drawing.11">
                  <p:embed/>
                </p:oleObj>
              </mc:Choice>
              <mc:Fallback>
                <p:oleObj name="Visio" r:id="rId7" imgW="1240869" imgH="947261" progId="Visio.Drawing.11">
                  <p:embed/>
                  <p:pic>
                    <p:nvPicPr>
                      <p:cNvPr id="22534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232" y="2924944"/>
                        <a:ext cx="2376487" cy="181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972275"/>
              </p:ext>
            </p:extLst>
          </p:nvPr>
        </p:nvGraphicFramePr>
        <p:xfrm>
          <a:off x="4355976" y="3259634"/>
          <a:ext cx="310991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457200" progId="Equation.DSMT4">
                  <p:embed/>
                </p:oleObj>
              </mc:Choice>
              <mc:Fallback>
                <p:oleObj name="Equation" r:id="rId9" imgW="1371600" imgH="457200" progId="Equation.DSMT4">
                  <p:embed/>
                  <p:pic>
                    <p:nvPicPr>
                      <p:cNvPr id="196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3259634"/>
                        <a:ext cx="3109913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463040"/>
              </p:ext>
            </p:extLst>
          </p:nvPr>
        </p:nvGraphicFramePr>
        <p:xfrm>
          <a:off x="991292" y="5445224"/>
          <a:ext cx="32004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11300" imgH="457200" progId="Equation.DSMT4">
                  <p:embed/>
                </p:oleObj>
              </mc:Choice>
              <mc:Fallback>
                <p:oleObj name="Equation" r:id="rId11" imgW="1511300" imgH="457200" progId="Equation.DSMT4">
                  <p:embed/>
                  <p:pic>
                    <p:nvPicPr>
                      <p:cNvPr id="24887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292" y="5445224"/>
                        <a:ext cx="32004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41"/>
          <p:cNvSpPr txBox="1">
            <a:spLocks noChangeArrowheads="1"/>
          </p:cNvSpPr>
          <p:nvPr/>
        </p:nvSpPr>
        <p:spPr bwMode="auto">
          <a:xfrm>
            <a:off x="899592" y="4772000"/>
            <a:ext cx="705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folHlink"/>
                </a:solidFill>
                <a:ea typeface="隶书" panose="02010509060101010101" pitchFamily="49" charset="-122"/>
              </a:rPr>
              <a:t>单位阶跃函数的应用</a:t>
            </a:r>
            <a:r>
              <a:rPr lang="en-US" altLang="zh-CN" dirty="0">
                <a:solidFill>
                  <a:schemeClr val="folHlink"/>
                </a:solidFill>
                <a:ea typeface="隶书" panose="02010509060101010101" pitchFamily="49" charset="-122"/>
              </a:rPr>
              <a:t>——</a:t>
            </a:r>
            <a:r>
              <a:rPr lang="zh-CN" altLang="en-US" dirty="0">
                <a:solidFill>
                  <a:schemeClr val="folHlink"/>
                </a:solidFill>
                <a:ea typeface="隶书" panose="02010509060101010101" pitchFamily="49" charset="-122"/>
              </a:rPr>
              <a:t>表达波形 </a:t>
            </a:r>
          </a:p>
        </p:txBody>
      </p:sp>
      <p:graphicFrame>
        <p:nvGraphicFramePr>
          <p:cNvPr id="6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801450"/>
              </p:ext>
            </p:extLst>
          </p:nvPr>
        </p:nvGraphicFramePr>
        <p:xfrm>
          <a:off x="5240985" y="5680968"/>
          <a:ext cx="28082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5400" imgH="228600" progId="Equation.DSMT4">
                  <p:embed/>
                </p:oleObj>
              </mc:Choice>
              <mc:Fallback>
                <p:oleObj name="Equation" r:id="rId13" imgW="1295400" imgH="228600" progId="Equation.DSMT4">
                  <p:embed/>
                  <p:pic>
                    <p:nvPicPr>
                      <p:cNvPr id="24887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985" y="5680968"/>
                        <a:ext cx="28082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Line 45"/>
          <p:cNvSpPr>
            <a:spLocks noChangeShapeType="1"/>
          </p:cNvSpPr>
          <p:nvPr/>
        </p:nvSpPr>
        <p:spPr bwMode="auto">
          <a:xfrm>
            <a:off x="4355976" y="5934141"/>
            <a:ext cx="720725" cy="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幻灯片缩放定位 2">
                <a:extLst>
                  <a:ext uri="{FF2B5EF4-FFF2-40B4-BE49-F238E27FC236}">
                    <a16:creationId xmlns:a16="http://schemas.microsoft.com/office/drawing/2014/main" id="{B73B9C6A-FA94-F297-082C-1AE0342274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5494516"/>
                  </p:ext>
                </p:extLst>
              </p:nvPr>
            </p:nvGraphicFramePr>
            <p:xfrm>
              <a:off x="-523875" y="0"/>
              <a:ext cx="2286000" cy="1714500"/>
            </p:xfrm>
            <a:graphic>
              <a:graphicData uri="http://schemas.microsoft.com/office/powerpoint/2016/slidezoom">
                <pslz:sldZm>
                  <pslz:sldZmObj sldId="489" cId="1456316124">
                    <pslz:zmPr id="{15A2E38E-5702-47D6-90C6-33454EB3D95A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幻灯片缩放定位 2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B73B9C6A-FA94-F297-082C-1AE0342274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523875" y="0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6316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build="p" autoUpdateAnimBg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878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781548"/>
              </p:ext>
            </p:extLst>
          </p:nvPr>
        </p:nvGraphicFramePr>
        <p:xfrm>
          <a:off x="395536" y="1151567"/>
          <a:ext cx="2403475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165860" imgH="1222438" progId="Visio.Drawing.11">
                  <p:embed/>
                </p:oleObj>
              </mc:Choice>
              <mc:Fallback>
                <p:oleObj name="Visio" r:id="rId2" imgW="1165860" imgH="1222438" progId="Visio.Drawing.11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51567"/>
                        <a:ext cx="2403475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8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98148"/>
              </p:ext>
            </p:extLst>
          </p:nvPr>
        </p:nvGraphicFramePr>
        <p:xfrm>
          <a:off x="82976" y="3717032"/>
          <a:ext cx="3120872" cy="42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500" imgH="228600" progId="Equation.DSMT4">
                  <p:embed/>
                </p:oleObj>
              </mc:Choice>
              <mc:Fallback>
                <p:oleObj name="Equation" r:id="rId4" imgW="171450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76" y="3717032"/>
                        <a:ext cx="3120872" cy="423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8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253953"/>
              </p:ext>
            </p:extLst>
          </p:nvPr>
        </p:nvGraphicFramePr>
        <p:xfrm>
          <a:off x="5016805" y="1291824"/>
          <a:ext cx="2808312" cy="2383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703784" imgH="1452610" progId="Visio.Drawing.11">
                  <p:embed/>
                </p:oleObj>
              </mc:Choice>
              <mc:Fallback>
                <p:oleObj name="Visio" r:id="rId6" imgW="1703784" imgH="1452610" progId="Visio.Drawing.11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805" y="1291824"/>
                        <a:ext cx="2808312" cy="2383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93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735597"/>
              </p:ext>
            </p:extLst>
          </p:nvPr>
        </p:nvGraphicFramePr>
        <p:xfrm>
          <a:off x="3780284" y="3723382"/>
          <a:ext cx="2268537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1100" imgH="228600" progId="Equation.DSMT4">
                  <p:embed/>
                </p:oleObj>
              </mc:Choice>
              <mc:Fallback>
                <p:oleObj name="Equation" r:id="rId8" imgW="1181100" imgH="2286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0284" y="3723382"/>
                        <a:ext cx="2268537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92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840209"/>
              </p:ext>
            </p:extLst>
          </p:nvPr>
        </p:nvGraphicFramePr>
        <p:xfrm>
          <a:off x="5945634" y="3717032"/>
          <a:ext cx="309086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900" imgH="228600" progId="Equation.DSMT4">
                  <p:embed/>
                </p:oleObj>
              </mc:Choice>
              <mc:Fallback>
                <p:oleObj name="Equation" r:id="rId10" imgW="1612900" imgH="2286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634" y="3717032"/>
                        <a:ext cx="3090862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96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080133"/>
              </p:ext>
            </p:extLst>
          </p:nvPr>
        </p:nvGraphicFramePr>
        <p:xfrm>
          <a:off x="985990" y="4237099"/>
          <a:ext cx="228121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06500" imgH="228600" progId="Equation.DSMT4">
                  <p:embed/>
                </p:oleObj>
              </mc:Choice>
              <mc:Fallback>
                <p:oleObj name="Equation" r:id="rId12" imgW="1206500" imgH="2286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990" y="4237099"/>
                        <a:ext cx="2281214" cy="43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Line 71"/>
          <p:cNvSpPr>
            <a:spLocks noChangeShapeType="1"/>
          </p:cNvSpPr>
          <p:nvPr/>
        </p:nvSpPr>
        <p:spPr bwMode="auto">
          <a:xfrm>
            <a:off x="3203575" y="3932238"/>
            <a:ext cx="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907" name="Rectangle 75"/>
          <p:cNvSpPr>
            <a:spLocks noChangeArrowheads="1"/>
          </p:cNvSpPr>
          <p:nvPr/>
        </p:nvSpPr>
        <p:spPr bwMode="auto">
          <a:xfrm>
            <a:off x="266837" y="830159"/>
            <a:ext cx="38443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folHlink"/>
                </a:solidFill>
                <a:ea typeface="隶书" panose="02010509060101010101" pitchFamily="49" charset="-122"/>
              </a:rPr>
              <a:t>闸门函数（</a:t>
            </a:r>
            <a:r>
              <a:rPr lang="en-US" altLang="zh-CN" b="1" dirty="0">
                <a:solidFill>
                  <a:schemeClr val="folHlink"/>
                </a:solidFill>
                <a:ea typeface="隶书" panose="02010509060101010101" pitchFamily="49" charset="-122"/>
              </a:rPr>
              <a:t>Gate function</a:t>
            </a:r>
            <a:r>
              <a:rPr lang="zh-CN" altLang="en-US" b="1" dirty="0">
                <a:solidFill>
                  <a:schemeClr val="folHlink"/>
                </a:solidFill>
                <a:ea typeface="隶书" panose="02010509060101010101" pitchFamily="49" charset="-122"/>
              </a:rPr>
              <a:t>）</a:t>
            </a:r>
          </a:p>
        </p:txBody>
      </p:sp>
      <p:sp>
        <p:nvSpPr>
          <p:cNvPr id="28" name="Rectangle 6"/>
          <p:cNvSpPr txBox="1">
            <a:spLocks noChangeArrowheads="1"/>
          </p:cNvSpPr>
          <p:nvPr/>
        </p:nvSpPr>
        <p:spPr bwMode="auto">
          <a:xfrm>
            <a:off x="152400" y="115888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7.1 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广义函数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Singularity Functions</a:t>
            </a:r>
            <a:endParaRPr lang="en-US" altLang="zh-CN" dirty="0">
              <a:ea typeface="隶书" panose="02010509060101010101" pitchFamily="49" charset="-122"/>
            </a:endParaRPr>
          </a:p>
        </p:txBody>
      </p:sp>
      <p:graphicFrame>
        <p:nvGraphicFramePr>
          <p:cNvPr id="29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413223"/>
              </p:ext>
            </p:extLst>
          </p:nvPr>
        </p:nvGraphicFramePr>
        <p:xfrm>
          <a:off x="179512" y="4507169"/>
          <a:ext cx="2376264" cy="2738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1119568" imgH="1294876" progId="Visio.Drawing.11">
                  <p:embed/>
                </p:oleObj>
              </mc:Choice>
              <mc:Fallback>
                <p:oleObj name="Visio" r:id="rId14" imgW="1119568" imgH="1294876" progId="Visio.Drawing.11">
                  <p:embed/>
                  <p:pic>
                    <p:nvPicPr>
                      <p:cNvPr id="5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507169"/>
                        <a:ext cx="2376264" cy="2738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357653"/>
              </p:ext>
            </p:extLst>
          </p:nvPr>
        </p:nvGraphicFramePr>
        <p:xfrm>
          <a:off x="1907704" y="5085184"/>
          <a:ext cx="28717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97950" imgH="203112" progId="Equation.DSMT4">
                  <p:embed/>
                </p:oleObj>
              </mc:Choice>
              <mc:Fallback>
                <p:oleObj name="Equation" r:id="rId16" imgW="1497950" imgH="203112" progId="Equation.DSMT4">
                  <p:embed/>
                  <p:pic>
                    <p:nvPicPr>
                      <p:cNvPr id="6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085184"/>
                        <a:ext cx="28717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502029"/>
              </p:ext>
            </p:extLst>
          </p:nvPr>
        </p:nvGraphicFramePr>
        <p:xfrm>
          <a:off x="2483967" y="5590009"/>
          <a:ext cx="4681537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38400" imgH="203200" progId="Equation.DSMT4">
                  <p:embed/>
                </p:oleObj>
              </mc:Choice>
              <mc:Fallback>
                <p:oleObj name="Equation" r:id="rId18" imgW="2438400" imgH="203200" progId="Equation.DSMT4">
                  <p:embed/>
                  <p:pic>
                    <p:nvPicPr>
                      <p:cNvPr id="7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967" y="5590009"/>
                        <a:ext cx="4681537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671968"/>
              </p:ext>
            </p:extLst>
          </p:nvPr>
        </p:nvGraphicFramePr>
        <p:xfrm>
          <a:off x="2509367" y="6069434"/>
          <a:ext cx="4078287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20900" imgH="203200" progId="Equation.DSMT4">
                  <p:embed/>
                </p:oleObj>
              </mc:Choice>
              <mc:Fallback>
                <p:oleObj name="Equation" r:id="rId20" imgW="2120900" imgH="203200" progId="Equation.DSMT4">
                  <p:embed/>
                  <p:pic>
                    <p:nvPicPr>
                      <p:cNvPr id="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367" y="6069434"/>
                        <a:ext cx="4078287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473740"/>
              </p:ext>
            </p:extLst>
          </p:nvPr>
        </p:nvGraphicFramePr>
        <p:xfrm>
          <a:off x="6084168" y="4507738"/>
          <a:ext cx="28082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7000" imgH="431800" progId="Equation.DSMT4">
                  <p:embed/>
                </p:oleObj>
              </mc:Choice>
              <mc:Fallback>
                <p:oleObj name="Equation" r:id="rId22" imgW="1397000" imgH="431800" progId="Equation.DSMT4">
                  <p:embed/>
                  <p:pic>
                    <p:nvPicPr>
                      <p:cNvPr id="9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4507738"/>
                        <a:ext cx="2808288" cy="854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9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901700" y="1182688"/>
            <a:ext cx="307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1.   </a:t>
            </a:r>
            <a:r>
              <a:rPr kumimoji="1" lang="zh-CN" altLang="en-US" sz="2400" b="1">
                <a:solidFill>
                  <a:srgbClr val="0066FF"/>
                </a:solidFill>
                <a:latin typeface="Times New Roman" panose="02020603050405020304" pitchFamily="18" charset="0"/>
              </a:rPr>
              <a:t>单位脉冲函数  </a:t>
            </a:r>
            <a:r>
              <a:rPr kumimoji="1"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/>
        </p:nvGraphicFramePr>
        <p:xfrm>
          <a:off x="3924300" y="2420938"/>
          <a:ext cx="3865563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406080" progId="Equation.DSMT4">
                  <p:embed/>
                </p:oleObj>
              </mc:Choice>
              <mc:Fallback>
                <p:oleObj name="Equation" r:id="rId3" imgW="1562040" imgH="406080" progId="Equation.DSMT4">
                  <p:embed/>
                  <p:pic>
                    <p:nvPicPr>
                      <p:cNvPr id="2129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420938"/>
                        <a:ext cx="3865563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>
            <a:graphicFrameLocks noChangeAspect="1"/>
          </p:cNvGraphicFramePr>
          <p:nvPr/>
        </p:nvGraphicFramePr>
        <p:xfrm>
          <a:off x="3924300" y="3608388"/>
          <a:ext cx="238760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88840" imgH="342720" progId="Equation.3">
                  <p:embed/>
                </p:oleObj>
              </mc:Choice>
              <mc:Fallback>
                <p:oleObj name="公式" r:id="rId5" imgW="888840" imgH="342720" progId="Equation.3">
                  <p:embed/>
                  <p:pic>
                    <p:nvPicPr>
                      <p:cNvPr id="2129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608388"/>
                        <a:ext cx="238760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2998" name="Group 6"/>
          <p:cNvGrpSpPr>
            <a:grpSpLocks/>
          </p:cNvGrpSpPr>
          <p:nvPr/>
        </p:nvGrpSpPr>
        <p:grpSpPr bwMode="auto">
          <a:xfrm>
            <a:off x="1046163" y="1919288"/>
            <a:ext cx="2324100" cy="2452687"/>
            <a:chOff x="488" y="1986"/>
            <a:chExt cx="1464" cy="1545"/>
          </a:xfrm>
        </p:grpSpPr>
        <p:grpSp>
          <p:nvGrpSpPr>
            <p:cNvPr id="212999" name="Group 7"/>
            <p:cNvGrpSpPr>
              <a:grpSpLocks/>
            </p:cNvGrpSpPr>
            <p:nvPr/>
          </p:nvGrpSpPr>
          <p:grpSpPr bwMode="auto">
            <a:xfrm>
              <a:off x="488" y="1986"/>
              <a:ext cx="1464" cy="1536"/>
              <a:chOff x="312" y="1776"/>
              <a:chExt cx="1464" cy="1536"/>
            </a:xfrm>
          </p:grpSpPr>
          <p:sp>
            <p:nvSpPr>
              <p:cNvPr id="213000" name="Line 8"/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12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001" name="Line 9"/>
              <p:cNvSpPr>
                <a:spLocks noChangeShapeType="1"/>
              </p:cNvSpPr>
              <p:nvPr/>
            </p:nvSpPr>
            <p:spPr bwMode="auto">
              <a:xfrm flipV="1">
                <a:off x="720" y="1872"/>
                <a:ext cx="0" cy="12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002" name="Line 10"/>
              <p:cNvSpPr>
                <a:spLocks noChangeShapeType="1"/>
              </p:cNvSpPr>
              <p:nvPr/>
            </p:nvSpPr>
            <p:spPr bwMode="auto">
              <a:xfrm>
                <a:off x="720" y="2544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003" name="Line 11"/>
              <p:cNvSpPr>
                <a:spLocks noChangeShapeType="1"/>
              </p:cNvSpPr>
              <p:nvPr/>
            </p:nvSpPr>
            <p:spPr bwMode="auto">
              <a:xfrm>
                <a:off x="1152" y="25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004" name="Text Box 12"/>
              <p:cNvSpPr txBox="1">
                <a:spLocks noChangeArrowheads="1"/>
              </p:cNvSpPr>
              <p:nvPr/>
            </p:nvSpPr>
            <p:spPr bwMode="auto">
              <a:xfrm>
                <a:off x="1008" y="3024"/>
                <a:ext cx="23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005" name="Text Box 13"/>
              <p:cNvSpPr txBox="1">
                <a:spLocks noChangeArrowheads="1"/>
              </p:cNvSpPr>
              <p:nvPr/>
            </p:nvSpPr>
            <p:spPr bwMode="auto">
              <a:xfrm>
                <a:off x="312" y="2400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1/</a:t>
                </a:r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</a:p>
            </p:txBody>
          </p:sp>
          <p:sp>
            <p:nvSpPr>
              <p:cNvPr id="213006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976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007" name="Text Box 15"/>
              <p:cNvSpPr txBox="1">
                <a:spLocks noChangeArrowheads="1"/>
              </p:cNvSpPr>
              <p:nvPr/>
            </p:nvSpPr>
            <p:spPr bwMode="auto">
              <a:xfrm>
                <a:off x="794" y="1776"/>
                <a:ext cx="3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213008" name="Text Box 16"/>
            <p:cNvSpPr txBox="1">
              <a:spLocks noChangeArrowheads="1"/>
            </p:cNvSpPr>
            <p:nvPr/>
          </p:nvSpPr>
          <p:spPr bwMode="auto">
            <a:xfrm>
              <a:off x="626" y="32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266700" y="316707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lang="zh-CN" alt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单位冲激函数</a:t>
            </a:r>
          </a:p>
        </p:txBody>
      </p:sp>
    </p:spTree>
    <p:extLst>
      <p:ext uri="{BB962C8B-B14F-4D97-AF65-F5344CB8AC3E}">
        <p14:creationId xmlns:p14="http://schemas.microsoft.com/office/powerpoint/2010/main" val="3122029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 autoUpdateAnimBg="0"/>
      <p:bldP spid="21" grpId="0" autoUpdateAnimBg="0"/>
      <p:bldP spid="2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42" name="Object 2"/>
          <p:cNvGraphicFramePr>
            <a:graphicFrameLocks noChangeAspect="1"/>
          </p:cNvGraphicFramePr>
          <p:nvPr/>
        </p:nvGraphicFramePr>
        <p:xfrm>
          <a:off x="3851275" y="2060575"/>
          <a:ext cx="22129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840" imgH="406080" progId="Equation.DSMT4">
                  <p:embed/>
                </p:oleObj>
              </mc:Choice>
              <mc:Fallback>
                <p:oleObj name="Equation" r:id="rId3" imgW="1104840" imgH="406080" progId="Equation.DSMT4">
                  <p:embed/>
                  <p:pic>
                    <p:nvPicPr>
                      <p:cNvPr id="2150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060575"/>
                        <a:ext cx="22129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3" name="Object 3"/>
          <p:cNvGraphicFramePr>
            <a:graphicFrameLocks noChangeAspect="1"/>
          </p:cNvGraphicFramePr>
          <p:nvPr/>
        </p:nvGraphicFramePr>
        <p:xfrm>
          <a:off x="4535488" y="3141663"/>
          <a:ext cx="22082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200" imgH="279360" progId="Equation.DSMT4">
                  <p:embed/>
                </p:oleObj>
              </mc:Choice>
              <mc:Fallback>
                <p:oleObj name="Equation" r:id="rId5" imgW="952200" imgH="279360" progId="Equation.DSMT4">
                  <p:embed/>
                  <p:pic>
                    <p:nvPicPr>
                      <p:cNvPr id="2150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3141663"/>
                        <a:ext cx="22082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576263" y="333375"/>
            <a:ext cx="3455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0066FF"/>
                </a:solidFill>
                <a:latin typeface="Times New Roman" panose="02020603050405020304" pitchFamily="18" charset="0"/>
              </a:rPr>
              <a:t>单位冲激函数</a:t>
            </a:r>
            <a:r>
              <a:rPr kumimoji="1" lang="zh-CN" altLang="en-US" sz="2400" b="1" i="1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zh-CN" altLang="en-US" sz="2400" b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en-US" altLang="zh-CN" sz="2400" b="1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15045" name="Group 5"/>
          <p:cNvGrpSpPr>
            <a:grpSpLocks/>
          </p:cNvGrpSpPr>
          <p:nvPr/>
        </p:nvGrpSpPr>
        <p:grpSpPr bwMode="auto">
          <a:xfrm>
            <a:off x="1219200" y="1066800"/>
            <a:ext cx="2452688" cy="2514600"/>
            <a:chOff x="768" y="672"/>
            <a:chExt cx="1545" cy="1584"/>
          </a:xfrm>
        </p:grpSpPr>
        <p:sp>
          <p:nvSpPr>
            <p:cNvPr id="215046" name="Line 6"/>
            <p:cNvSpPr>
              <a:spLocks noChangeShapeType="1"/>
            </p:cNvSpPr>
            <p:nvPr/>
          </p:nvSpPr>
          <p:spPr bwMode="auto">
            <a:xfrm>
              <a:off x="856" y="1920"/>
              <a:ext cx="1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47" name="Line 7"/>
            <p:cNvSpPr>
              <a:spLocks noChangeShapeType="1"/>
            </p:cNvSpPr>
            <p:nvPr/>
          </p:nvSpPr>
          <p:spPr bwMode="auto">
            <a:xfrm flipV="1">
              <a:off x="1424" y="768"/>
              <a:ext cx="0" cy="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48" name="Line 8"/>
            <p:cNvSpPr>
              <a:spLocks noChangeShapeType="1"/>
            </p:cNvSpPr>
            <p:nvPr/>
          </p:nvSpPr>
          <p:spPr bwMode="auto">
            <a:xfrm>
              <a:off x="1232" y="119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49" name="Text Box 9"/>
            <p:cNvSpPr txBox="1">
              <a:spLocks noChangeArrowheads="1"/>
            </p:cNvSpPr>
            <p:nvPr/>
          </p:nvSpPr>
          <p:spPr bwMode="auto">
            <a:xfrm>
              <a:off x="1400" y="1924"/>
              <a:ext cx="5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/2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15050" name="Text Box 10"/>
            <p:cNvSpPr txBox="1">
              <a:spLocks noChangeArrowheads="1"/>
            </p:cNvSpPr>
            <p:nvPr/>
          </p:nvSpPr>
          <p:spPr bwMode="auto">
            <a:xfrm>
              <a:off x="808" y="90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1/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</a:p>
          </p:txBody>
        </p:sp>
        <p:sp>
          <p:nvSpPr>
            <p:cNvPr id="215051" name="Text Box 11"/>
            <p:cNvSpPr txBox="1">
              <a:spLocks noChangeArrowheads="1"/>
            </p:cNvSpPr>
            <p:nvPr/>
          </p:nvSpPr>
          <p:spPr bwMode="auto">
            <a:xfrm>
              <a:off x="2144" y="1896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15052" name="Text Box 12"/>
            <p:cNvSpPr txBox="1">
              <a:spLocks noChangeArrowheads="1"/>
            </p:cNvSpPr>
            <p:nvPr/>
          </p:nvSpPr>
          <p:spPr bwMode="auto">
            <a:xfrm>
              <a:off x="1498" y="672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15053" name="Line 13"/>
            <p:cNvSpPr>
              <a:spLocks noChangeShapeType="1"/>
            </p:cNvSpPr>
            <p:nvPr/>
          </p:nvSpPr>
          <p:spPr bwMode="auto">
            <a:xfrm>
              <a:off x="1232" y="1176"/>
              <a:ext cx="0" cy="7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54" name="Text Box 14"/>
            <p:cNvSpPr txBox="1">
              <a:spLocks noChangeArrowheads="1"/>
            </p:cNvSpPr>
            <p:nvPr/>
          </p:nvSpPr>
          <p:spPr bwMode="auto">
            <a:xfrm>
              <a:off x="768" y="1916"/>
              <a:ext cx="5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/2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15055" name="Line 15"/>
            <p:cNvSpPr>
              <a:spLocks noChangeShapeType="1"/>
            </p:cNvSpPr>
            <p:nvPr/>
          </p:nvSpPr>
          <p:spPr bwMode="auto">
            <a:xfrm>
              <a:off x="1664" y="1200"/>
              <a:ext cx="0" cy="7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5056" name="Object 16"/>
          <p:cNvGraphicFramePr>
            <a:graphicFrameLocks noChangeAspect="1"/>
          </p:cNvGraphicFramePr>
          <p:nvPr/>
        </p:nvGraphicFramePr>
        <p:xfrm>
          <a:off x="3743325" y="1160463"/>
          <a:ext cx="37099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000" imgH="406080" progId="Equation.DSMT4">
                  <p:embed/>
                </p:oleObj>
              </mc:Choice>
              <mc:Fallback>
                <p:oleObj name="Equation" r:id="rId7" imgW="1854000" imgH="406080" progId="Equation.DSMT4">
                  <p:embed/>
                  <p:pic>
                    <p:nvPicPr>
                      <p:cNvPr id="2150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1160463"/>
                        <a:ext cx="370998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7" name="Text Box 17"/>
          <p:cNvSpPr txBox="1">
            <a:spLocks noChangeArrowheads="1"/>
          </p:cNvSpPr>
          <p:nvPr/>
        </p:nvSpPr>
        <p:spPr bwMode="auto">
          <a:xfrm>
            <a:off x="719138" y="4149725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定义：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215058" name="Object 18"/>
          <p:cNvGraphicFramePr>
            <a:graphicFrameLocks noChangeAspect="1"/>
          </p:cNvGraphicFramePr>
          <p:nvPr/>
        </p:nvGraphicFramePr>
        <p:xfrm>
          <a:off x="1150938" y="4581525"/>
          <a:ext cx="23415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717640" imgH="965160" progId="Equation.3">
                  <p:embed/>
                </p:oleObj>
              </mc:Choice>
              <mc:Fallback>
                <p:oleObj name="公式" r:id="rId9" imgW="2717640" imgH="965160" progId="Equation.3">
                  <p:embed/>
                  <p:pic>
                    <p:nvPicPr>
                      <p:cNvPr id="2150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4581525"/>
                        <a:ext cx="2341562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9" name="Object 19"/>
          <p:cNvGraphicFramePr>
            <a:graphicFrameLocks noChangeAspect="1"/>
          </p:cNvGraphicFramePr>
          <p:nvPr/>
        </p:nvGraphicFramePr>
        <p:xfrm>
          <a:off x="1223963" y="5481638"/>
          <a:ext cx="20383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63280" imgH="330120" progId="Equation.3">
                  <p:embed/>
                </p:oleObj>
              </mc:Choice>
              <mc:Fallback>
                <p:oleObj name="公式" r:id="rId11" imgW="863280" imgH="330120" progId="Equation.3">
                  <p:embed/>
                  <p:pic>
                    <p:nvPicPr>
                      <p:cNvPr id="2150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5481638"/>
                        <a:ext cx="20383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060" name="Group 20"/>
          <p:cNvGrpSpPr>
            <a:grpSpLocks/>
          </p:cNvGrpSpPr>
          <p:nvPr/>
        </p:nvGrpSpPr>
        <p:grpSpPr bwMode="auto">
          <a:xfrm>
            <a:off x="4427538" y="4508500"/>
            <a:ext cx="2830512" cy="1628775"/>
            <a:chOff x="2918" y="2556"/>
            <a:chExt cx="1783" cy="1026"/>
          </a:xfrm>
        </p:grpSpPr>
        <p:sp>
          <p:nvSpPr>
            <p:cNvPr id="215061" name="Line 21"/>
            <p:cNvSpPr>
              <a:spLocks noChangeShapeType="1"/>
            </p:cNvSpPr>
            <p:nvPr/>
          </p:nvSpPr>
          <p:spPr bwMode="auto">
            <a:xfrm>
              <a:off x="3048" y="329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62" name="Line 22"/>
            <p:cNvSpPr>
              <a:spLocks noChangeShapeType="1"/>
            </p:cNvSpPr>
            <p:nvPr/>
          </p:nvSpPr>
          <p:spPr bwMode="auto">
            <a:xfrm flipV="1">
              <a:off x="3240" y="2680"/>
              <a:ext cx="0" cy="8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63" name="Text Box 23"/>
            <p:cNvSpPr txBox="1">
              <a:spLocks noChangeArrowheads="1"/>
            </p:cNvSpPr>
            <p:nvPr/>
          </p:nvSpPr>
          <p:spPr bwMode="auto">
            <a:xfrm>
              <a:off x="4532" y="3220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15064" name="Text Box 24"/>
            <p:cNvSpPr txBox="1">
              <a:spLocks noChangeArrowheads="1"/>
            </p:cNvSpPr>
            <p:nvPr/>
          </p:nvSpPr>
          <p:spPr bwMode="auto">
            <a:xfrm>
              <a:off x="3272" y="2556"/>
              <a:ext cx="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215065" name="Line 25"/>
            <p:cNvSpPr>
              <a:spLocks noChangeShapeType="1"/>
            </p:cNvSpPr>
            <p:nvPr/>
          </p:nvSpPr>
          <p:spPr bwMode="auto">
            <a:xfrm flipV="1">
              <a:off x="3240" y="2896"/>
              <a:ext cx="0" cy="396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66" name="Text Box 26"/>
            <p:cNvSpPr txBox="1">
              <a:spLocks noChangeArrowheads="1"/>
            </p:cNvSpPr>
            <p:nvPr/>
          </p:nvSpPr>
          <p:spPr bwMode="auto">
            <a:xfrm>
              <a:off x="2918" y="2776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dirty="0">
                  <a:latin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215067" name="Text Box 27"/>
            <p:cNvSpPr txBox="1">
              <a:spLocks noChangeArrowheads="1"/>
            </p:cNvSpPr>
            <p:nvPr/>
          </p:nvSpPr>
          <p:spPr bwMode="auto">
            <a:xfrm>
              <a:off x="3020" y="329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8578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13" name="Rectangle 29"/>
          <p:cNvSpPr>
            <a:spLocks noChangeArrowheads="1"/>
          </p:cNvSpPr>
          <p:nvPr/>
        </p:nvSpPr>
        <p:spPr bwMode="auto">
          <a:xfrm>
            <a:off x="182563" y="490860"/>
            <a:ext cx="4708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0066FF"/>
                </a:solidFill>
                <a:latin typeface="Times New Roman" panose="02020603050405020304" pitchFamily="18" charset="0"/>
              </a:rPr>
              <a:t>单位冲激函数的延迟  </a:t>
            </a:r>
            <a:r>
              <a:rPr kumimoji="1" lang="zh-CN" altLang="en-US" sz="2400" b="1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 </a:t>
            </a:r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4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kumimoji="1" lang="en-US" altLang="zh-CN" sz="2400" b="1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400" b="1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2212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357083"/>
              </p:ext>
            </p:extLst>
          </p:nvPr>
        </p:nvGraphicFramePr>
        <p:xfrm>
          <a:off x="1000125" y="1486222"/>
          <a:ext cx="333375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96800" imgH="583920" progId="Equation.3">
                  <p:embed/>
                </p:oleObj>
              </mc:Choice>
              <mc:Fallback>
                <p:oleObj name="公式" r:id="rId3" imgW="1396800" imgH="583920" progId="Equation.3">
                  <p:embed/>
                  <p:pic>
                    <p:nvPicPr>
                      <p:cNvPr id="22121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486222"/>
                        <a:ext cx="333375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1228" name="Group 44"/>
          <p:cNvGrpSpPr>
            <a:grpSpLocks/>
          </p:cNvGrpSpPr>
          <p:nvPr/>
        </p:nvGrpSpPr>
        <p:grpSpPr bwMode="auto">
          <a:xfrm>
            <a:off x="4679950" y="1265560"/>
            <a:ext cx="3441700" cy="1803400"/>
            <a:chOff x="3249" y="1890"/>
            <a:chExt cx="2168" cy="1136"/>
          </a:xfrm>
        </p:grpSpPr>
        <p:sp>
          <p:nvSpPr>
            <p:cNvPr id="221229" name="Line 45"/>
            <p:cNvSpPr>
              <a:spLocks noChangeShapeType="1"/>
            </p:cNvSpPr>
            <p:nvPr/>
          </p:nvSpPr>
          <p:spPr bwMode="auto">
            <a:xfrm>
              <a:off x="3328" y="2774"/>
              <a:ext cx="18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30" name="Line 46"/>
            <p:cNvSpPr>
              <a:spLocks noChangeShapeType="1"/>
            </p:cNvSpPr>
            <p:nvPr/>
          </p:nvSpPr>
          <p:spPr bwMode="auto">
            <a:xfrm flipV="1">
              <a:off x="3520" y="2128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31" name="Text Box 47"/>
            <p:cNvSpPr txBox="1">
              <a:spLocks noChangeArrowheads="1"/>
            </p:cNvSpPr>
            <p:nvPr/>
          </p:nvSpPr>
          <p:spPr bwMode="auto">
            <a:xfrm>
              <a:off x="5248" y="2592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21232" name="Text Box 48"/>
            <p:cNvSpPr txBox="1">
              <a:spLocks noChangeArrowheads="1"/>
            </p:cNvSpPr>
            <p:nvPr/>
          </p:nvSpPr>
          <p:spPr bwMode="auto">
            <a:xfrm>
              <a:off x="3319" y="2250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21233" name="Line 49"/>
            <p:cNvSpPr>
              <a:spLocks noChangeShapeType="1"/>
            </p:cNvSpPr>
            <p:nvPr/>
          </p:nvSpPr>
          <p:spPr bwMode="auto">
            <a:xfrm flipV="1">
              <a:off x="3943" y="2320"/>
              <a:ext cx="0" cy="45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34" name="Text Box 50"/>
            <p:cNvSpPr txBox="1">
              <a:spLocks noChangeArrowheads="1"/>
            </p:cNvSpPr>
            <p:nvPr/>
          </p:nvSpPr>
          <p:spPr bwMode="auto">
            <a:xfrm>
              <a:off x="4541" y="2250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21235" name="Text Box 51"/>
            <p:cNvSpPr txBox="1">
              <a:spLocks noChangeArrowheads="1"/>
            </p:cNvSpPr>
            <p:nvPr/>
          </p:nvSpPr>
          <p:spPr bwMode="auto">
            <a:xfrm>
              <a:off x="3535" y="1890"/>
              <a:ext cx="6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21236" name="Text Box 52"/>
            <p:cNvSpPr txBox="1">
              <a:spLocks noChangeArrowheads="1"/>
            </p:cNvSpPr>
            <p:nvPr/>
          </p:nvSpPr>
          <p:spPr bwMode="auto">
            <a:xfrm>
              <a:off x="3847" y="270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21237" name="Text Box 53"/>
            <p:cNvSpPr txBox="1">
              <a:spLocks noChangeArrowheads="1"/>
            </p:cNvSpPr>
            <p:nvPr/>
          </p:nvSpPr>
          <p:spPr bwMode="auto">
            <a:xfrm>
              <a:off x="3249" y="273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1238" name="Text Box 54"/>
            <p:cNvSpPr txBox="1">
              <a:spLocks noChangeArrowheads="1"/>
            </p:cNvSpPr>
            <p:nvPr/>
          </p:nvSpPr>
          <p:spPr bwMode="auto">
            <a:xfrm>
              <a:off x="4010" y="2247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(1)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" name="Group 2"/>
          <p:cNvGrpSpPr>
            <a:grpSpLocks/>
          </p:cNvGrpSpPr>
          <p:nvPr/>
        </p:nvGrpSpPr>
        <p:grpSpPr bwMode="auto">
          <a:xfrm>
            <a:off x="899592" y="5200070"/>
            <a:ext cx="3106737" cy="1524000"/>
            <a:chOff x="3320" y="816"/>
            <a:chExt cx="1957" cy="960"/>
          </a:xfrm>
        </p:grpSpPr>
        <p:grpSp>
          <p:nvGrpSpPr>
            <p:cNvPr id="60" name="Group 3"/>
            <p:cNvGrpSpPr>
              <a:grpSpLocks/>
            </p:cNvGrpSpPr>
            <p:nvPr/>
          </p:nvGrpSpPr>
          <p:grpSpPr bwMode="auto">
            <a:xfrm>
              <a:off x="3320" y="816"/>
              <a:ext cx="1957" cy="960"/>
              <a:chOff x="3320" y="816"/>
              <a:chExt cx="1957" cy="960"/>
            </a:xfrm>
          </p:grpSpPr>
          <p:grpSp>
            <p:nvGrpSpPr>
              <p:cNvPr id="62" name="Group 4"/>
              <p:cNvGrpSpPr>
                <a:grpSpLocks/>
              </p:cNvGrpSpPr>
              <p:nvPr/>
            </p:nvGrpSpPr>
            <p:grpSpPr bwMode="auto">
              <a:xfrm>
                <a:off x="3320" y="816"/>
                <a:ext cx="1957" cy="864"/>
                <a:chOff x="3312" y="816"/>
                <a:chExt cx="1957" cy="864"/>
              </a:xfrm>
            </p:grpSpPr>
            <p:sp>
              <p:nvSpPr>
                <p:cNvPr id="64" name="Line 5"/>
                <p:cNvSpPr>
                  <a:spLocks noChangeShapeType="1"/>
                </p:cNvSpPr>
                <p:nvPr/>
              </p:nvSpPr>
              <p:spPr bwMode="auto">
                <a:xfrm>
                  <a:off x="3552" y="1536"/>
                  <a:ext cx="15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3648" y="960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7"/>
                <p:cNvSpPr>
                  <a:spLocks noChangeShapeType="1"/>
                </p:cNvSpPr>
                <p:nvPr/>
              </p:nvSpPr>
              <p:spPr bwMode="auto">
                <a:xfrm>
                  <a:off x="3648" y="1152"/>
                  <a:ext cx="1056" cy="0"/>
                </a:xfrm>
                <a:prstGeom prst="line">
                  <a:avLst/>
                </a:prstGeom>
                <a:noFill/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5100" y="1392"/>
                  <a:ext cx="16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t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8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696" y="816"/>
                  <a:ext cx="38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kumimoji="1"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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(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t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)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3312" y="1536"/>
                  <a:ext cx="336" cy="0"/>
                </a:xfrm>
                <a:prstGeom prst="line">
                  <a:avLst/>
                </a:prstGeom>
                <a:noFill/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Line 11"/>
                <p:cNvSpPr>
                  <a:spLocks noChangeShapeType="1"/>
                </p:cNvSpPr>
                <p:nvPr/>
              </p:nvSpPr>
              <p:spPr bwMode="auto">
                <a:xfrm>
                  <a:off x="3648" y="1152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3" name="Text Box 12"/>
              <p:cNvSpPr txBox="1">
                <a:spLocks noChangeArrowheads="1"/>
              </p:cNvSpPr>
              <p:nvPr/>
            </p:nvSpPr>
            <p:spPr bwMode="auto">
              <a:xfrm>
                <a:off x="3638" y="14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61" name="Text Box 13"/>
            <p:cNvSpPr txBox="1">
              <a:spLocks noChangeArrowheads="1"/>
            </p:cNvSpPr>
            <p:nvPr/>
          </p:nvSpPr>
          <p:spPr bwMode="auto">
            <a:xfrm>
              <a:off x="3435" y="106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71" name="Group 14"/>
          <p:cNvGrpSpPr>
            <a:grpSpLocks/>
          </p:cNvGrpSpPr>
          <p:nvPr/>
        </p:nvGrpSpPr>
        <p:grpSpPr bwMode="auto">
          <a:xfrm>
            <a:off x="909117" y="3447470"/>
            <a:ext cx="2830512" cy="1628775"/>
            <a:chOff x="590" y="1848"/>
            <a:chExt cx="1783" cy="1026"/>
          </a:xfrm>
        </p:grpSpPr>
        <p:sp>
          <p:nvSpPr>
            <p:cNvPr id="72" name="Line 15"/>
            <p:cNvSpPr>
              <a:spLocks noChangeShapeType="1"/>
            </p:cNvSpPr>
            <p:nvPr/>
          </p:nvSpPr>
          <p:spPr bwMode="auto">
            <a:xfrm>
              <a:off x="720" y="2584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 flipV="1">
              <a:off x="912" y="1972"/>
              <a:ext cx="0" cy="8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17"/>
            <p:cNvSpPr txBox="1">
              <a:spLocks noChangeArrowheads="1"/>
            </p:cNvSpPr>
            <p:nvPr/>
          </p:nvSpPr>
          <p:spPr bwMode="auto">
            <a:xfrm>
              <a:off x="2204" y="2512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5" name="Text Box 18"/>
            <p:cNvSpPr txBox="1">
              <a:spLocks noChangeArrowheads="1"/>
            </p:cNvSpPr>
            <p:nvPr/>
          </p:nvSpPr>
          <p:spPr bwMode="auto">
            <a:xfrm>
              <a:off x="944" y="1848"/>
              <a:ext cx="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 flipV="1">
              <a:off x="912" y="2188"/>
              <a:ext cx="0" cy="396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Text Box 20"/>
            <p:cNvSpPr txBox="1">
              <a:spLocks noChangeArrowheads="1"/>
            </p:cNvSpPr>
            <p:nvPr/>
          </p:nvSpPr>
          <p:spPr bwMode="auto">
            <a:xfrm>
              <a:off x="590" y="2068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78" name="Text Box 21"/>
            <p:cNvSpPr txBox="1">
              <a:spLocks noChangeArrowheads="1"/>
            </p:cNvSpPr>
            <p:nvPr/>
          </p:nvSpPr>
          <p:spPr bwMode="auto">
            <a:xfrm>
              <a:off x="692" y="258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7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151449"/>
              </p:ext>
            </p:extLst>
          </p:nvPr>
        </p:nvGraphicFramePr>
        <p:xfrm>
          <a:off x="4211960" y="5592183"/>
          <a:ext cx="19764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01440" imgH="406080" progId="Equation.3">
                  <p:embed/>
                </p:oleObj>
              </mc:Choice>
              <mc:Fallback>
                <p:oleObj name="公式" r:id="rId5" imgW="901440" imgH="406080" progId="Equation.3">
                  <p:embed/>
                  <p:pic>
                    <p:nvPicPr>
                      <p:cNvPr id="2253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5592183"/>
                        <a:ext cx="197643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159316"/>
              </p:ext>
            </p:extLst>
          </p:nvPr>
        </p:nvGraphicFramePr>
        <p:xfrm>
          <a:off x="4176515" y="4076121"/>
          <a:ext cx="217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90360" imgH="330120" progId="Equation.3">
                  <p:embed/>
                </p:oleObj>
              </mc:Choice>
              <mc:Fallback>
                <p:oleObj name="公式" r:id="rId7" imgW="990360" imgH="330120" progId="Equation.3">
                  <p:embed/>
                  <p:pic>
                    <p:nvPicPr>
                      <p:cNvPr id="22530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515" y="4076121"/>
                        <a:ext cx="2171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Rectangle 41"/>
          <p:cNvSpPr txBox="1">
            <a:spLocks noChangeArrowheads="1"/>
          </p:cNvSpPr>
          <p:nvPr/>
        </p:nvSpPr>
        <p:spPr>
          <a:xfrm>
            <a:off x="539552" y="3059327"/>
            <a:ext cx="3636963" cy="68421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just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4.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的关系</a:t>
            </a:r>
          </a:p>
        </p:txBody>
      </p:sp>
    </p:spTree>
    <p:extLst>
      <p:ext uri="{BB962C8B-B14F-4D97-AF65-F5344CB8AC3E}">
        <p14:creationId xmlns:p14="http://schemas.microsoft.com/office/powerpoint/2010/main" val="42703560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1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ChangeArrowheads="1"/>
          </p:cNvSpPr>
          <p:nvPr/>
        </p:nvSpPr>
        <p:spPr bwMode="auto">
          <a:xfrm>
            <a:off x="1806575" y="1198563"/>
            <a:ext cx="1439863" cy="457200"/>
          </a:xfrm>
          <a:prstGeom prst="rect">
            <a:avLst/>
          </a:prstGeom>
          <a:solidFill>
            <a:srgbClr val="99FF99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288924" y="229543"/>
            <a:ext cx="62992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kumimoji="1"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</a:rPr>
              <a:t>5.   </a:t>
            </a:r>
            <a:r>
              <a:rPr kumimoji="1" lang="en-US" altLang="zh-CN" sz="2400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函数的筛分性（</a:t>
            </a:r>
            <a:r>
              <a:rPr lang="en-US" altLang="zh-CN" sz="2400" b="1" dirty="0">
                <a:solidFill>
                  <a:srgbClr val="0066FF"/>
                </a:solidFill>
                <a:sym typeface="Symbol" panose="05050102010706020507" pitchFamily="18" charset="2"/>
              </a:rPr>
              <a:t>s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ampling property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23236" name="Object 4"/>
          <p:cNvGraphicFramePr>
            <a:graphicFrameLocks noChangeAspect="1"/>
          </p:cNvGraphicFramePr>
          <p:nvPr/>
        </p:nvGraphicFramePr>
        <p:xfrm>
          <a:off x="1271588" y="981075"/>
          <a:ext cx="24003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27000" imgH="330120" progId="Equation.3">
                  <p:embed/>
                </p:oleObj>
              </mc:Choice>
              <mc:Fallback>
                <p:oleObj name="公式" r:id="rId3" imgW="927000" imgH="330120" progId="Equation.3">
                  <p:embed/>
                  <p:pic>
                    <p:nvPicPr>
                      <p:cNvPr id="223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981075"/>
                        <a:ext cx="24003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7" name="Object 5"/>
          <p:cNvGraphicFramePr>
            <a:graphicFrameLocks noChangeAspect="1"/>
          </p:cNvGraphicFramePr>
          <p:nvPr/>
        </p:nvGraphicFramePr>
        <p:xfrm>
          <a:off x="2093913" y="2168525"/>
          <a:ext cx="34861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63560" imgH="330120" progId="Equation.3">
                  <p:embed/>
                </p:oleObj>
              </mc:Choice>
              <mc:Fallback>
                <p:oleObj name="公式" r:id="rId5" imgW="1663560" imgH="330120" progId="Equation.3">
                  <p:embed/>
                  <p:pic>
                    <p:nvPicPr>
                      <p:cNvPr id="2232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2168525"/>
                        <a:ext cx="34861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8" name="Text Box 6"/>
          <p:cNvSpPr txBox="1">
            <a:spLocks noChangeArrowheads="1"/>
          </p:cNvSpPr>
          <p:nvPr/>
        </p:nvSpPr>
        <p:spPr bwMode="auto">
          <a:xfrm>
            <a:off x="509588" y="224155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同理有：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23239" name="Object 7"/>
          <p:cNvGraphicFramePr>
            <a:graphicFrameLocks noChangeAspect="1"/>
          </p:cNvGraphicFramePr>
          <p:nvPr/>
        </p:nvGraphicFramePr>
        <p:xfrm>
          <a:off x="1784350" y="3979863"/>
          <a:ext cx="35353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87240" imgH="406080" progId="Equation.DSMT4">
                  <p:embed/>
                </p:oleObj>
              </mc:Choice>
              <mc:Fallback>
                <p:oleObj name="Equation" r:id="rId7" imgW="1587240" imgH="406080" progId="Equation.DSMT4">
                  <p:embed/>
                  <p:pic>
                    <p:nvPicPr>
                      <p:cNvPr id="2232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3979863"/>
                        <a:ext cx="35353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2132013" y="1643063"/>
            <a:ext cx="1079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solidFill>
                  <a:srgbClr val="33CC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400" b="1">
                <a:solidFill>
                  <a:srgbClr val="33CC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(0)</a:t>
            </a:r>
            <a:r>
              <a:rPr kumimoji="1" lang="en-US" altLang="zh-CN" sz="2400" b="1" i="1">
                <a:solidFill>
                  <a:srgbClr val="33CC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en-US" altLang="zh-CN" sz="2400" b="1">
                <a:solidFill>
                  <a:srgbClr val="33CC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1" i="1">
                <a:solidFill>
                  <a:srgbClr val="33CC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400" b="1">
                <a:solidFill>
                  <a:srgbClr val="33CC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23241" name="Object 9"/>
          <p:cNvGraphicFramePr>
            <a:graphicFrameLocks noChangeAspect="1"/>
          </p:cNvGraphicFramePr>
          <p:nvPr/>
        </p:nvGraphicFramePr>
        <p:xfrm>
          <a:off x="1866900" y="5084763"/>
          <a:ext cx="3760788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26920" imgH="406080" progId="Equation.DSMT4">
                  <p:embed/>
                </p:oleObj>
              </mc:Choice>
              <mc:Fallback>
                <p:oleObj name="Equation" r:id="rId9" imgW="1726920" imgH="406080" progId="Equation.DSMT4">
                  <p:embed/>
                  <p:pic>
                    <p:nvPicPr>
                      <p:cNvPr id="2232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5084763"/>
                        <a:ext cx="3760788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2" name="Object 10"/>
          <p:cNvGraphicFramePr>
            <a:graphicFrameLocks noChangeAspect="1"/>
          </p:cNvGraphicFramePr>
          <p:nvPr/>
        </p:nvGraphicFramePr>
        <p:xfrm>
          <a:off x="3606800" y="1052513"/>
          <a:ext cx="334327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523880" imgH="330120" progId="Equation.3">
                  <p:embed/>
                </p:oleObj>
              </mc:Choice>
              <mc:Fallback>
                <p:oleObj name="公式" r:id="rId11" imgW="1523880" imgH="330120" progId="Equation.3">
                  <p:embed/>
                  <p:pic>
                    <p:nvPicPr>
                      <p:cNvPr id="2232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1052513"/>
                        <a:ext cx="3343275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3" name="Text Box 11"/>
          <p:cNvSpPr txBox="1">
            <a:spLocks noChangeArrowheads="1"/>
          </p:cNvSpPr>
          <p:nvPr/>
        </p:nvSpPr>
        <p:spPr bwMode="auto">
          <a:xfrm>
            <a:off x="763588" y="4143375"/>
            <a:ext cx="820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例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38813" y="2963863"/>
            <a:ext cx="2830512" cy="1628775"/>
            <a:chOff x="5738813" y="2963863"/>
            <a:chExt cx="2830512" cy="1628775"/>
          </a:xfrm>
        </p:grpSpPr>
        <p:grpSp>
          <p:nvGrpSpPr>
            <p:cNvPr id="223244" name="Group 12"/>
            <p:cNvGrpSpPr>
              <a:grpSpLocks/>
            </p:cNvGrpSpPr>
            <p:nvPr/>
          </p:nvGrpSpPr>
          <p:grpSpPr bwMode="auto">
            <a:xfrm>
              <a:off x="5738813" y="2963863"/>
              <a:ext cx="2830512" cy="1628775"/>
              <a:chOff x="2918" y="2556"/>
              <a:chExt cx="1783" cy="1026"/>
            </a:xfrm>
          </p:grpSpPr>
          <p:sp>
            <p:nvSpPr>
              <p:cNvPr id="223245" name="Line 13"/>
              <p:cNvSpPr>
                <a:spLocks noChangeShapeType="1"/>
              </p:cNvSpPr>
              <p:nvPr/>
            </p:nvSpPr>
            <p:spPr bwMode="auto">
              <a:xfrm>
                <a:off x="3048" y="3292"/>
                <a:ext cx="14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46" name="Line 14"/>
              <p:cNvSpPr>
                <a:spLocks noChangeShapeType="1"/>
              </p:cNvSpPr>
              <p:nvPr/>
            </p:nvSpPr>
            <p:spPr bwMode="auto">
              <a:xfrm flipV="1">
                <a:off x="3240" y="2680"/>
                <a:ext cx="0" cy="8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47" name="Text Box 15"/>
              <p:cNvSpPr txBox="1">
                <a:spLocks noChangeArrowheads="1"/>
              </p:cNvSpPr>
              <p:nvPr/>
            </p:nvSpPr>
            <p:spPr bwMode="auto">
              <a:xfrm>
                <a:off x="4532" y="3220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3248" name="Text Box 16"/>
              <p:cNvSpPr txBox="1">
                <a:spLocks noChangeArrowheads="1"/>
              </p:cNvSpPr>
              <p:nvPr/>
            </p:nvSpPr>
            <p:spPr bwMode="auto">
              <a:xfrm>
                <a:off x="3272" y="2556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</a:t>
                </a:r>
                <a:r>
                  <a:rPr kumimoji="1"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</p:txBody>
          </p:sp>
          <p:sp>
            <p:nvSpPr>
              <p:cNvPr id="223249" name="Line 17"/>
              <p:cNvSpPr>
                <a:spLocks noChangeShapeType="1"/>
              </p:cNvSpPr>
              <p:nvPr/>
            </p:nvSpPr>
            <p:spPr bwMode="auto">
              <a:xfrm flipV="1">
                <a:off x="3240" y="2896"/>
                <a:ext cx="0" cy="396"/>
              </a:xfrm>
              <a:prstGeom prst="line">
                <a:avLst/>
              </a:prstGeom>
              <a:noFill/>
              <a:ln w="25400">
                <a:solidFill>
                  <a:srgbClr val="FF00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50" name="Text Box 18"/>
              <p:cNvSpPr txBox="1">
                <a:spLocks noChangeArrowheads="1"/>
              </p:cNvSpPr>
              <p:nvPr/>
            </p:nvSpPr>
            <p:spPr bwMode="auto">
              <a:xfrm>
                <a:off x="2918" y="2776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(1)</a:t>
                </a:r>
              </a:p>
            </p:txBody>
          </p:sp>
          <p:sp>
            <p:nvSpPr>
              <p:cNvPr id="223251" name="Text Box 19"/>
              <p:cNvSpPr txBox="1">
                <a:spLocks noChangeArrowheads="1"/>
              </p:cNvSpPr>
              <p:nvPr/>
            </p:nvSpPr>
            <p:spPr bwMode="auto">
              <a:xfrm>
                <a:off x="3020" y="329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223252" name="Group 20"/>
            <p:cNvGrpSpPr>
              <a:grpSpLocks/>
            </p:cNvGrpSpPr>
            <p:nvPr/>
          </p:nvGrpSpPr>
          <p:grpSpPr bwMode="auto">
            <a:xfrm>
              <a:off x="5976938" y="3213100"/>
              <a:ext cx="2071687" cy="730250"/>
              <a:chOff x="3930" y="1783"/>
              <a:chExt cx="1305" cy="460"/>
            </a:xfrm>
          </p:grpSpPr>
          <p:sp>
            <p:nvSpPr>
              <p:cNvPr id="223253" name="Freeform 21"/>
              <p:cNvSpPr>
                <a:spLocks/>
              </p:cNvSpPr>
              <p:nvPr/>
            </p:nvSpPr>
            <p:spPr bwMode="auto">
              <a:xfrm>
                <a:off x="3930" y="1920"/>
                <a:ext cx="975" cy="323"/>
              </a:xfrm>
              <a:custGeom>
                <a:avLst/>
                <a:gdLst>
                  <a:gd name="T0" fmla="*/ 0 w 975"/>
                  <a:gd name="T1" fmla="*/ 323 h 323"/>
                  <a:gd name="T2" fmla="*/ 164 w 975"/>
                  <a:gd name="T3" fmla="*/ 203 h 323"/>
                  <a:gd name="T4" fmla="*/ 342 w 975"/>
                  <a:gd name="T5" fmla="*/ 150 h 323"/>
                  <a:gd name="T6" fmla="*/ 606 w 975"/>
                  <a:gd name="T7" fmla="*/ 188 h 323"/>
                  <a:gd name="T8" fmla="*/ 975 w 975"/>
                  <a:gd name="T9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5" h="323">
                    <a:moveTo>
                      <a:pt x="0" y="323"/>
                    </a:moveTo>
                    <a:cubicBezTo>
                      <a:pt x="53" y="277"/>
                      <a:pt x="107" y="232"/>
                      <a:pt x="164" y="203"/>
                    </a:cubicBezTo>
                    <a:cubicBezTo>
                      <a:pt x="221" y="174"/>
                      <a:pt x="268" y="152"/>
                      <a:pt x="342" y="150"/>
                    </a:cubicBezTo>
                    <a:cubicBezTo>
                      <a:pt x="416" y="148"/>
                      <a:pt x="500" y="213"/>
                      <a:pt x="606" y="188"/>
                    </a:cubicBezTo>
                    <a:cubicBezTo>
                      <a:pt x="712" y="163"/>
                      <a:pt x="898" y="39"/>
                      <a:pt x="975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54" name="Text Box 22"/>
              <p:cNvSpPr txBox="1">
                <a:spLocks noChangeArrowheads="1"/>
              </p:cNvSpPr>
              <p:nvPr/>
            </p:nvSpPr>
            <p:spPr bwMode="auto">
              <a:xfrm>
                <a:off x="4874" y="1783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grpSp>
          <p:nvGrpSpPr>
            <p:cNvPr id="223255" name="Group 23"/>
            <p:cNvGrpSpPr>
              <a:grpSpLocks/>
            </p:cNvGrpSpPr>
            <p:nvPr/>
          </p:nvGrpSpPr>
          <p:grpSpPr bwMode="auto">
            <a:xfrm>
              <a:off x="6216650" y="3662363"/>
              <a:ext cx="803275" cy="457200"/>
              <a:chOff x="4081" y="2066"/>
              <a:chExt cx="506" cy="288"/>
            </a:xfrm>
          </p:grpSpPr>
          <p:sp>
            <p:nvSpPr>
              <p:cNvPr id="223256" name="Text Box 24"/>
              <p:cNvSpPr txBox="1">
                <a:spLocks noChangeArrowheads="1"/>
              </p:cNvSpPr>
              <p:nvPr/>
            </p:nvSpPr>
            <p:spPr bwMode="auto">
              <a:xfrm>
                <a:off x="4183" y="2066"/>
                <a:ext cx="4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(0)</a:t>
                </a:r>
              </a:p>
            </p:txBody>
          </p:sp>
          <p:sp>
            <p:nvSpPr>
              <p:cNvPr id="223257" name="Oval 25"/>
              <p:cNvSpPr>
                <a:spLocks noChangeArrowheads="1"/>
              </p:cNvSpPr>
              <p:nvPr/>
            </p:nvSpPr>
            <p:spPr bwMode="auto">
              <a:xfrm>
                <a:off x="4081" y="2100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kumimoji="1" lang="zh-CN" altLang="zh-CN" sz="2400" b="1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23258" name="Text Box 26"/>
          <p:cNvSpPr txBox="1">
            <a:spLocks noChangeArrowheads="1"/>
          </p:cNvSpPr>
          <p:nvPr/>
        </p:nvSpPr>
        <p:spPr bwMode="auto">
          <a:xfrm>
            <a:off x="1806575" y="3284538"/>
            <a:ext cx="2582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rgbClr val="FF33CC"/>
                </a:solidFill>
                <a:latin typeface="Times New Roman" panose="02020603050405020304" pitchFamily="18" charset="0"/>
              </a:rPr>
              <a:t>* </a:t>
            </a:r>
            <a:r>
              <a:rPr kumimoji="1" lang="en-US" altLang="zh-CN" sz="2400" b="1" i="1">
                <a:solidFill>
                  <a:srgbClr val="FF33CC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b="1">
                <a:solidFill>
                  <a:srgbClr val="FF33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FF33CC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FF33CC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在 </a:t>
            </a:r>
            <a:r>
              <a:rPr kumimoji="1" lang="en-US" altLang="zh-CN" sz="2400" b="1" i="1">
                <a:solidFill>
                  <a:srgbClr val="FF33CC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>
                <a:solidFill>
                  <a:srgbClr val="FF33CC"/>
                </a:solidFill>
                <a:latin typeface="Times New Roman" panose="02020603050405020304" pitchFamily="18" charset="0"/>
              </a:rPr>
              <a:t>0 </a:t>
            </a:r>
            <a:r>
              <a:rPr kumimoji="1" lang="zh-CN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处连续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720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3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3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3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8" grpId="0" build="p" autoUpdateAnimBg="0"/>
      <p:bldP spid="223240" grpId="0" build="p" autoUpdateAnimBg="0"/>
      <p:bldP spid="223243" grpId="0" build="p" autoUpdateAnimBg="0"/>
      <p:bldP spid="22325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23528" y="404664"/>
            <a:ext cx="554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广义函数的微分与积分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199898"/>
              </p:ext>
            </p:extLst>
          </p:nvPr>
        </p:nvGraphicFramePr>
        <p:xfrm>
          <a:off x="467544" y="1052736"/>
          <a:ext cx="28082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431800" progId="Equation.DSMT4">
                  <p:embed/>
                </p:oleObj>
              </mc:Choice>
              <mc:Fallback>
                <p:oleObj name="Equation" r:id="rId2" imgW="1397000" imgH="431800" progId="Equation.DSMT4">
                  <p:embed/>
                  <p:pic>
                    <p:nvPicPr>
                      <p:cNvPr id="33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052736"/>
                        <a:ext cx="2808288" cy="854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82029"/>
              </p:ext>
            </p:extLst>
          </p:nvPr>
        </p:nvGraphicFramePr>
        <p:xfrm>
          <a:off x="132944" y="2672903"/>
          <a:ext cx="896143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57520" imgH="431640" progId="Equation.DSMT4">
                  <p:embed/>
                </p:oleObj>
              </mc:Choice>
              <mc:Fallback>
                <p:oleObj name="Equation" r:id="rId4" imgW="4457520" imgH="431640" progId="Equation.DSMT4">
                  <p:embed/>
                  <p:pic>
                    <p:nvPicPr>
                      <p:cNvPr id="6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44" y="2672903"/>
                        <a:ext cx="8961438" cy="854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441007"/>
              </p:ext>
            </p:extLst>
          </p:nvPr>
        </p:nvGraphicFramePr>
        <p:xfrm>
          <a:off x="179512" y="4077072"/>
          <a:ext cx="714851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5720" imgH="431640" progId="Equation.DSMT4">
                  <p:embed/>
                </p:oleObj>
              </mc:Choice>
              <mc:Fallback>
                <p:oleObj name="Equation" r:id="rId6" imgW="3555720" imgH="431640" progId="Equation.DSMT4">
                  <p:embed/>
                  <p:pic>
                    <p:nvPicPr>
                      <p:cNvPr id="6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077072"/>
                        <a:ext cx="7148513" cy="854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32944" y="2117800"/>
            <a:ext cx="554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微分：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53480" y="3489250"/>
            <a:ext cx="554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积分：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63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9" grpId="0" build="p" autoUpdateAnimBg="0"/>
      <p:bldP spid="10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807923" y="23698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广义函数</a:t>
            </a:r>
            <a:endParaRPr lang="zh-CN" altLang="en-US" dirty="0"/>
          </a:p>
        </p:txBody>
      </p:sp>
      <p:grpSp>
        <p:nvGrpSpPr>
          <p:cNvPr id="18" name="Group 46"/>
          <p:cNvGrpSpPr>
            <a:grpSpLocks/>
          </p:cNvGrpSpPr>
          <p:nvPr/>
        </p:nvGrpSpPr>
        <p:grpSpPr bwMode="auto">
          <a:xfrm>
            <a:off x="252923" y="163737"/>
            <a:ext cx="2102768" cy="1179686"/>
            <a:chOff x="3320" y="844"/>
            <a:chExt cx="1951" cy="905"/>
          </a:xfrm>
        </p:grpSpPr>
        <p:sp>
          <p:nvSpPr>
            <p:cNvPr id="19" name="Line 47"/>
            <p:cNvSpPr>
              <a:spLocks noChangeShapeType="1"/>
            </p:cNvSpPr>
            <p:nvPr/>
          </p:nvSpPr>
          <p:spPr bwMode="auto">
            <a:xfrm>
              <a:off x="3560" y="1536"/>
              <a:ext cx="1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0" name="Line 48"/>
            <p:cNvSpPr>
              <a:spLocks noChangeShapeType="1"/>
            </p:cNvSpPr>
            <p:nvPr/>
          </p:nvSpPr>
          <p:spPr bwMode="auto">
            <a:xfrm flipV="1">
              <a:off x="3656" y="960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1" name="Line 49"/>
            <p:cNvSpPr>
              <a:spLocks noChangeShapeType="1"/>
            </p:cNvSpPr>
            <p:nvPr/>
          </p:nvSpPr>
          <p:spPr bwMode="auto">
            <a:xfrm>
              <a:off x="3656" y="1152"/>
              <a:ext cx="105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2" name="Text Box 50"/>
            <p:cNvSpPr txBox="1">
              <a:spLocks noChangeArrowheads="1"/>
            </p:cNvSpPr>
            <p:nvPr/>
          </p:nvSpPr>
          <p:spPr bwMode="auto">
            <a:xfrm>
              <a:off x="5114" y="1420"/>
              <a:ext cx="15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</a:rPr>
                <a:t>t</a:t>
              </a:r>
              <a:endParaRPr kumimoji="1"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51"/>
            <p:cNvSpPr txBox="1">
              <a:spLocks noChangeArrowheads="1"/>
            </p:cNvSpPr>
            <p:nvPr/>
          </p:nvSpPr>
          <p:spPr bwMode="auto">
            <a:xfrm>
              <a:off x="3735" y="844"/>
              <a:ext cx="3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" name="Line 52"/>
            <p:cNvSpPr>
              <a:spLocks noChangeShapeType="1"/>
            </p:cNvSpPr>
            <p:nvPr/>
          </p:nvSpPr>
          <p:spPr bwMode="auto">
            <a:xfrm flipH="1">
              <a:off x="3320" y="1536"/>
              <a:ext cx="33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5" name="Line 53"/>
            <p:cNvSpPr>
              <a:spLocks noChangeShapeType="1"/>
            </p:cNvSpPr>
            <p:nvPr/>
          </p:nvSpPr>
          <p:spPr bwMode="auto">
            <a:xfrm>
              <a:off x="3656" y="1152"/>
              <a:ext cx="0" cy="38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6" name="Text Box 54"/>
            <p:cNvSpPr txBox="1">
              <a:spLocks noChangeArrowheads="1"/>
            </p:cNvSpPr>
            <p:nvPr/>
          </p:nvSpPr>
          <p:spPr bwMode="auto">
            <a:xfrm>
              <a:off x="3649" y="1516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" name="Text Box 55"/>
            <p:cNvSpPr txBox="1">
              <a:spLocks noChangeArrowheads="1"/>
            </p:cNvSpPr>
            <p:nvPr/>
          </p:nvSpPr>
          <p:spPr bwMode="auto">
            <a:xfrm>
              <a:off x="3446" y="1091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2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522732"/>
              </p:ext>
            </p:extLst>
          </p:nvPr>
        </p:nvGraphicFramePr>
        <p:xfrm>
          <a:off x="2537276" y="79281"/>
          <a:ext cx="2164681" cy="14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41634" imgH="1068991" progId="Visio.Drawing.11">
                  <p:embed/>
                </p:oleObj>
              </mc:Choice>
              <mc:Fallback>
                <p:oleObj name="Visio" r:id="rId2" imgW="1641634" imgH="1068991" progId="Visio.Drawing.11">
                  <p:embed/>
                  <p:pic>
                    <p:nvPicPr>
                      <p:cNvPr id="59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276" y="79281"/>
                        <a:ext cx="2164681" cy="140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88532"/>
              </p:ext>
            </p:extLst>
          </p:nvPr>
        </p:nvGraphicFramePr>
        <p:xfrm>
          <a:off x="4874621" y="532957"/>
          <a:ext cx="1833364" cy="1399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0869" imgH="947261" progId="Visio.Drawing.11">
                  <p:embed/>
                </p:oleObj>
              </mc:Choice>
              <mc:Fallback>
                <p:oleObj name="Visio" r:id="rId4" imgW="1240869" imgH="947261" progId="Visio.Drawing.11">
                  <p:embed/>
                  <p:pic>
                    <p:nvPicPr>
                      <p:cNvPr id="6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4621" y="532957"/>
                        <a:ext cx="1833364" cy="1399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084604"/>
              </p:ext>
            </p:extLst>
          </p:nvPr>
        </p:nvGraphicFramePr>
        <p:xfrm>
          <a:off x="381000" y="1448895"/>
          <a:ext cx="1524269" cy="63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30040" imgH="469800" progId="Equation.3">
                  <p:embed/>
                </p:oleObj>
              </mc:Choice>
              <mc:Fallback>
                <p:oleObj name="公式" r:id="rId6" imgW="1130040" imgH="469800" progId="Equation.3">
                  <p:embed/>
                  <p:pic>
                    <p:nvPicPr>
                      <p:cNvPr id="194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48895"/>
                        <a:ext cx="1524269" cy="633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13033"/>
              </p:ext>
            </p:extLst>
          </p:nvPr>
        </p:nvGraphicFramePr>
        <p:xfrm>
          <a:off x="2443859" y="1484124"/>
          <a:ext cx="1904768" cy="68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040" imgH="482400" progId="Equation.DSMT4">
                  <p:embed/>
                </p:oleObj>
              </mc:Choice>
              <mc:Fallback>
                <p:oleObj name="Equation" r:id="rId8" imgW="1346040" imgH="482400" progId="Equation.DSMT4">
                  <p:embed/>
                  <p:pic>
                    <p:nvPicPr>
                      <p:cNvPr id="196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59" y="1484124"/>
                        <a:ext cx="1904768" cy="68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732921"/>
              </p:ext>
            </p:extLst>
          </p:nvPr>
        </p:nvGraphicFramePr>
        <p:xfrm>
          <a:off x="6918588" y="1190558"/>
          <a:ext cx="1674410" cy="556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457200" progId="Equation.DSMT4">
                  <p:embed/>
                </p:oleObj>
              </mc:Choice>
              <mc:Fallback>
                <p:oleObj name="Equation" r:id="rId10" imgW="1371600" imgH="457200" progId="Equation.DSMT4">
                  <p:embed/>
                  <p:pic>
                    <p:nvPicPr>
                      <p:cNvPr id="6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588" y="1190558"/>
                        <a:ext cx="1674410" cy="556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979346"/>
              </p:ext>
            </p:extLst>
          </p:nvPr>
        </p:nvGraphicFramePr>
        <p:xfrm>
          <a:off x="400136" y="2061152"/>
          <a:ext cx="1584951" cy="166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165860" imgH="1222438" progId="Visio.Drawing.11">
                  <p:embed/>
                </p:oleObj>
              </mc:Choice>
              <mc:Fallback>
                <p:oleObj name="Visio" r:id="rId12" imgW="1165860" imgH="1222438" progId="Visio.Drawing.11">
                  <p:embed/>
                  <p:pic>
                    <p:nvPicPr>
                      <p:cNvPr id="24887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36" y="2061152"/>
                        <a:ext cx="1584951" cy="1662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589135"/>
              </p:ext>
            </p:extLst>
          </p:nvPr>
        </p:nvGraphicFramePr>
        <p:xfrm>
          <a:off x="162046" y="3740613"/>
          <a:ext cx="2047627" cy="277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500" imgH="228600" progId="Equation.DSMT4">
                  <p:embed/>
                </p:oleObj>
              </mc:Choice>
              <mc:Fallback>
                <p:oleObj name="Equation" r:id="rId14" imgW="1714500" imgH="228600" progId="Equation.DSMT4">
                  <p:embed/>
                  <p:pic>
                    <p:nvPicPr>
                      <p:cNvPr id="24888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46" y="3740613"/>
                        <a:ext cx="2047627" cy="277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09979"/>
              </p:ext>
            </p:extLst>
          </p:nvPr>
        </p:nvGraphicFramePr>
        <p:xfrm>
          <a:off x="723401" y="4112666"/>
          <a:ext cx="1495411" cy="283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06500" imgH="228600" progId="Equation.DSMT4">
                  <p:embed/>
                </p:oleObj>
              </mc:Choice>
              <mc:Fallback>
                <p:oleObj name="Equation" r:id="rId16" imgW="1206500" imgH="228600" progId="Equation.DSMT4">
                  <p:embed/>
                  <p:pic>
                    <p:nvPicPr>
                      <p:cNvPr id="248896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401" y="4112666"/>
                        <a:ext cx="1495411" cy="283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636678"/>
              </p:ext>
            </p:extLst>
          </p:nvPr>
        </p:nvGraphicFramePr>
        <p:xfrm>
          <a:off x="2642144" y="2304126"/>
          <a:ext cx="1628651" cy="1382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8" imgW="1703784" imgH="1452610" progId="Visio.Drawing.11">
                  <p:embed/>
                </p:oleObj>
              </mc:Choice>
              <mc:Fallback>
                <p:oleObj name="Visio" r:id="rId18" imgW="1703784" imgH="1452610" progId="Visio.Drawing.11">
                  <p:embed/>
                  <p:pic>
                    <p:nvPicPr>
                      <p:cNvPr id="248882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144" y="2304126"/>
                        <a:ext cx="1628651" cy="1382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117106"/>
              </p:ext>
            </p:extLst>
          </p:nvPr>
        </p:nvGraphicFramePr>
        <p:xfrm>
          <a:off x="2728709" y="3751128"/>
          <a:ext cx="1355591" cy="262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81100" imgH="228600" progId="Equation.DSMT4">
                  <p:embed/>
                </p:oleObj>
              </mc:Choice>
              <mc:Fallback>
                <p:oleObj name="Equation" r:id="rId20" imgW="1181100" imgH="228600" progId="Equation.DSMT4">
                  <p:embed/>
                  <p:pic>
                    <p:nvPicPr>
                      <p:cNvPr id="248893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709" y="3751128"/>
                        <a:ext cx="1355591" cy="262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159091"/>
              </p:ext>
            </p:extLst>
          </p:nvPr>
        </p:nvGraphicFramePr>
        <p:xfrm>
          <a:off x="2535571" y="4163456"/>
          <a:ext cx="1976697" cy="2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12900" imgH="228600" progId="Equation.DSMT4">
                  <p:embed/>
                </p:oleObj>
              </mc:Choice>
              <mc:Fallback>
                <p:oleObj name="Equation" r:id="rId22" imgW="1612900" imgH="228600" progId="Equation.DSMT4">
                  <p:embed/>
                  <p:pic>
                    <p:nvPicPr>
                      <p:cNvPr id="248892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571" y="4163456"/>
                        <a:ext cx="1976697" cy="2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6"/>
          <p:cNvGrpSpPr>
            <a:grpSpLocks/>
          </p:cNvGrpSpPr>
          <p:nvPr/>
        </p:nvGrpSpPr>
        <p:grpSpPr bwMode="auto">
          <a:xfrm>
            <a:off x="89759" y="4487394"/>
            <a:ext cx="1663447" cy="1486025"/>
            <a:chOff x="451" y="1922"/>
            <a:chExt cx="1506" cy="1673"/>
          </a:xfrm>
        </p:grpSpPr>
        <p:grpSp>
          <p:nvGrpSpPr>
            <p:cNvPr id="40" name="Group 7"/>
            <p:cNvGrpSpPr>
              <a:grpSpLocks/>
            </p:cNvGrpSpPr>
            <p:nvPr/>
          </p:nvGrpSpPr>
          <p:grpSpPr bwMode="auto">
            <a:xfrm>
              <a:off x="451" y="1922"/>
              <a:ext cx="1506" cy="1664"/>
              <a:chOff x="275" y="1712"/>
              <a:chExt cx="1506" cy="1664"/>
            </a:xfrm>
          </p:grpSpPr>
          <p:sp>
            <p:nvSpPr>
              <p:cNvPr id="42" name="Line 8"/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12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3" name="Line 9"/>
              <p:cNvSpPr>
                <a:spLocks noChangeShapeType="1"/>
              </p:cNvSpPr>
              <p:nvPr/>
            </p:nvSpPr>
            <p:spPr bwMode="auto">
              <a:xfrm flipV="1">
                <a:off x="720" y="1872"/>
                <a:ext cx="0" cy="12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4" name="Line 10"/>
              <p:cNvSpPr>
                <a:spLocks noChangeShapeType="1"/>
              </p:cNvSpPr>
              <p:nvPr/>
            </p:nvSpPr>
            <p:spPr bwMode="auto">
              <a:xfrm>
                <a:off x="720" y="2544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5" name="Line 11"/>
              <p:cNvSpPr>
                <a:spLocks noChangeShapeType="1"/>
              </p:cNvSpPr>
              <p:nvPr/>
            </p:nvSpPr>
            <p:spPr bwMode="auto">
              <a:xfrm>
                <a:off x="1152" y="25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6" name="Text Box 12"/>
              <p:cNvSpPr txBox="1">
                <a:spLocks noChangeArrowheads="1"/>
              </p:cNvSpPr>
              <p:nvPr/>
            </p:nvSpPr>
            <p:spPr bwMode="auto">
              <a:xfrm>
                <a:off x="977" y="2960"/>
                <a:ext cx="295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:endParaRPr kumimoji="1" lang="en-US" altLang="zh-CN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Text Box 13"/>
              <p:cNvSpPr txBox="1">
                <a:spLocks noChangeArrowheads="1"/>
              </p:cNvSpPr>
              <p:nvPr/>
            </p:nvSpPr>
            <p:spPr bwMode="auto">
              <a:xfrm>
                <a:off x="275" y="2336"/>
                <a:ext cx="457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1/</a:t>
                </a: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</a:p>
            </p:txBody>
          </p:sp>
          <p:sp>
            <p:nvSpPr>
              <p:cNvPr id="48" name="Text Box 14"/>
              <p:cNvSpPr txBox="1">
                <a:spLocks noChangeArrowheads="1"/>
              </p:cNvSpPr>
              <p:nvPr/>
            </p:nvSpPr>
            <p:spPr bwMode="auto">
              <a:xfrm>
                <a:off x="1556" y="2912"/>
                <a:ext cx="225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Text Box 15"/>
              <p:cNvSpPr txBox="1">
                <a:spLocks noChangeArrowheads="1"/>
              </p:cNvSpPr>
              <p:nvPr/>
            </p:nvSpPr>
            <p:spPr bwMode="auto">
              <a:xfrm>
                <a:off x="756" y="1712"/>
                <a:ext cx="469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41" name="Text Box 16"/>
            <p:cNvSpPr txBox="1">
              <a:spLocks noChangeArrowheads="1"/>
            </p:cNvSpPr>
            <p:nvPr/>
          </p:nvSpPr>
          <p:spPr bwMode="auto">
            <a:xfrm>
              <a:off x="596" y="3179"/>
              <a:ext cx="272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14976"/>
              </p:ext>
            </p:extLst>
          </p:nvPr>
        </p:nvGraphicFramePr>
        <p:xfrm>
          <a:off x="235887" y="5814113"/>
          <a:ext cx="1511796" cy="39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62040" imgH="406080" progId="Equation.DSMT4">
                  <p:embed/>
                </p:oleObj>
              </mc:Choice>
              <mc:Fallback>
                <p:oleObj name="Equation" r:id="rId24" imgW="1562040" imgH="406080" progId="Equation.DSMT4">
                  <p:embed/>
                  <p:pic>
                    <p:nvPicPr>
                      <p:cNvPr id="2129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87" y="5814113"/>
                        <a:ext cx="1511796" cy="39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122301"/>
              </p:ext>
            </p:extLst>
          </p:nvPr>
        </p:nvGraphicFramePr>
        <p:xfrm>
          <a:off x="351628" y="6204251"/>
          <a:ext cx="1042394" cy="399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888840" imgH="342720" progId="Equation.3">
                  <p:embed/>
                </p:oleObj>
              </mc:Choice>
              <mc:Fallback>
                <p:oleObj name="公式" r:id="rId26" imgW="888840" imgH="342720" progId="Equation.3">
                  <p:embed/>
                  <p:pic>
                    <p:nvPicPr>
                      <p:cNvPr id="2129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28" y="6204251"/>
                        <a:ext cx="1042394" cy="399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20"/>
          <p:cNvGrpSpPr>
            <a:grpSpLocks/>
          </p:cNvGrpSpPr>
          <p:nvPr/>
        </p:nvGrpSpPr>
        <p:grpSpPr bwMode="auto">
          <a:xfrm>
            <a:off x="2420740" y="4713771"/>
            <a:ext cx="1850055" cy="1132664"/>
            <a:chOff x="2857" y="2522"/>
            <a:chExt cx="1885" cy="1095"/>
          </a:xfrm>
        </p:grpSpPr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3048" y="329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 flipV="1">
              <a:off x="3240" y="2680"/>
              <a:ext cx="0" cy="8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5" name="Text Box 23"/>
            <p:cNvSpPr txBox="1">
              <a:spLocks noChangeArrowheads="1"/>
            </p:cNvSpPr>
            <p:nvPr/>
          </p:nvSpPr>
          <p:spPr bwMode="auto">
            <a:xfrm>
              <a:off x="4489" y="3186"/>
              <a:ext cx="253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24"/>
            <p:cNvSpPr txBox="1">
              <a:spLocks noChangeArrowheads="1"/>
            </p:cNvSpPr>
            <p:nvPr/>
          </p:nvSpPr>
          <p:spPr bwMode="auto">
            <a:xfrm>
              <a:off x="3205" y="2522"/>
              <a:ext cx="526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3240" y="2896"/>
              <a:ext cx="0" cy="396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2857" y="2742"/>
              <a:ext cx="463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2974" y="3260"/>
              <a:ext cx="306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6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126753"/>
              </p:ext>
            </p:extLst>
          </p:nvPr>
        </p:nvGraphicFramePr>
        <p:xfrm>
          <a:off x="2432243" y="5770461"/>
          <a:ext cx="1401360" cy="497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717640" imgH="965160" progId="Equation.3">
                  <p:embed/>
                </p:oleObj>
              </mc:Choice>
              <mc:Fallback>
                <p:oleObj name="公式" r:id="rId28" imgW="2717640" imgH="965160" progId="Equation.3">
                  <p:embed/>
                  <p:pic>
                    <p:nvPicPr>
                      <p:cNvPr id="2150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243" y="5770461"/>
                        <a:ext cx="1401360" cy="497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785144"/>
              </p:ext>
            </p:extLst>
          </p:nvPr>
        </p:nvGraphicFramePr>
        <p:xfrm>
          <a:off x="2455655" y="6282763"/>
          <a:ext cx="1219896" cy="46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863280" imgH="330120" progId="Equation.3">
                  <p:embed/>
                </p:oleObj>
              </mc:Choice>
              <mc:Fallback>
                <p:oleObj name="公式" r:id="rId30" imgW="863280" imgH="330120" progId="Equation.3">
                  <p:embed/>
                  <p:pic>
                    <p:nvPicPr>
                      <p:cNvPr id="2150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55" y="6282763"/>
                        <a:ext cx="1219896" cy="46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44"/>
          <p:cNvGrpSpPr>
            <a:grpSpLocks/>
          </p:cNvGrpSpPr>
          <p:nvPr/>
        </p:nvGrpSpPr>
        <p:grpSpPr bwMode="auto">
          <a:xfrm>
            <a:off x="4611798" y="4672148"/>
            <a:ext cx="2124091" cy="1183763"/>
            <a:chOff x="3195" y="1842"/>
            <a:chExt cx="2271" cy="1233"/>
          </a:xfrm>
        </p:grpSpPr>
        <p:sp>
          <p:nvSpPr>
            <p:cNvPr id="63" name="Line 45"/>
            <p:cNvSpPr>
              <a:spLocks noChangeShapeType="1"/>
            </p:cNvSpPr>
            <p:nvPr/>
          </p:nvSpPr>
          <p:spPr bwMode="auto">
            <a:xfrm>
              <a:off x="3328" y="2774"/>
              <a:ext cx="18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4" name="Line 46"/>
            <p:cNvSpPr>
              <a:spLocks noChangeShapeType="1"/>
            </p:cNvSpPr>
            <p:nvPr/>
          </p:nvSpPr>
          <p:spPr bwMode="auto">
            <a:xfrm flipV="1">
              <a:off x="3520" y="2128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5" name="Text Box 47"/>
            <p:cNvSpPr txBox="1">
              <a:spLocks noChangeArrowheads="1"/>
            </p:cNvSpPr>
            <p:nvPr/>
          </p:nvSpPr>
          <p:spPr bwMode="auto">
            <a:xfrm>
              <a:off x="5200" y="2544"/>
              <a:ext cx="266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6" name="Text Box 48"/>
            <p:cNvSpPr txBox="1">
              <a:spLocks noChangeArrowheads="1"/>
            </p:cNvSpPr>
            <p:nvPr/>
          </p:nvSpPr>
          <p:spPr bwMode="auto">
            <a:xfrm>
              <a:off x="3278" y="2202"/>
              <a:ext cx="19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 flipV="1">
              <a:off x="3943" y="2320"/>
              <a:ext cx="0" cy="45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8" name="Text Box 50"/>
            <p:cNvSpPr txBox="1">
              <a:spLocks noChangeArrowheads="1"/>
            </p:cNvSpPr>
            <p:nvPr/>
          </p:nvSpPr>
          <p:spPr bwMode="auto">
            <a:xfrm>
              <a:off x="4500" y="2202"/>
              <a:ext cx="19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69" name="Text Box 51"/>
            <p:cNvSpPr txBox="1">
              <a:spLocks noChangeArrowheads="1"/>
            </p:cNvSpPr>
            <p:nvPr/>
          </p:nvSpPr>
          <p:spPr bwMode="auto">
            <a:xfrm>
              <a:off x="3423" y="1842"/>
              <a:ext cx="847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b="1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70" name="Text Box 52"/>
            <p:cNvSpPr txBox="1">
              <a:spLocks noChangeArrowheads="1"/>
            </p:cNvSpPr>
            <p:nvPr/>
          </p:nvSpPr>
          <p:spPr bwMode="auto">
            <a:xfrm>
              <a:off x="3790" y="2656"/>
              <a:ext cx="34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53"/>
            <p:cNvSpPr txBox="1">
              <a:spLocks noChangeArrowheads="1"/>
            </p:cNvSpPr>
            <p:nvPr/>
          </p:nvSpPr>
          <p:spPr bwMode="auto">
            <a:xfrm>
              <a:off x="3195" y="2690"/>
              <a:ext cx="321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" name="Text Box 54"/>
            <p:cNvSpPr txBox="1">
              <a:spLocks noChangeArrowheads="1"/>
            </p:cNvSpPr>
            <p:nvPr/>
          </p:nvSpPr>
          <p:spPr bwMode="auto">
            <a:xfrm>
              <a:off x="3937" y="2199"/>
              <a:ext cx="485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(1)</a:t>
              </a:r>
              <a:endParaRPr kumimoji="1" lang="en-US" altLang="zh-CN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879427"/>
              </p:ext>
            </p:extLst>
          </p:nvPr>
        </p:nvGraphicFramePr>
        <p:xfrm>
          <a:off x="4690107" y="5858338"/>
          <a:ext cx="1748793" cy="72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396800" imgH="583920" progId="Equation.3">
                  <p:embed/>
                </p:oleObj>
              </mc:Choice>
              <mc:Fallback>
                <p:oleObj name="公式" r:id="rId32" imgW="1396800" imgH="583920" progId="Equation.3">
                  <p:embed/>
                  <p:pic>
                    <p:nvPicPr>
                      <p:cNvPr id="22121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0107" y="5858338"/>
                        <a:ext cx="1748793" cy="729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040925"/>
              </p:ext>
            </p:extLst>
          </p:nvPr>
        </p:nvGraphicFramePr>
        <p:xfrm>
          <a:off x="4221421" y="3208424"/>
          <a:ext cx="1489520" cy="668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901440" imgH="406080" progId="Equation.3">
                  <p:embed/>
                </p:oleObj>
              </mc:Choice>
              <mc:Fallback>
                <p:oleObj name="公式" r:id="rId34" imgW="901440" imgH="406080" progId="Equation.3">
                  <p:embed/>
                  <p:pic>
                    <p:nvPicPr>
                      <p:cNvPr id="7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421" y="3208424"/>
                        <a:ext cx="1489520" cy="668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26812"/>
              </p:ext>
            </p:extLst>
          </p:nvPr>
        </p:nvGraphicFramePr>
        <p:xfrm>
          <a:off x="4190852" y="2541639"/>
          <a:ext cx="1551683" cy="517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990360" imgH="330120" progId="Equation.3">
                  <p:embed/>
                </p:oleObj>
              </mc:Choice>
              <mc:Fallback>
                <p:oleObj name="公式" r:id="rId36" imgW="990360" imgH="330120" progId="Equation.3">
                  <p:embed/>
                  <p:pic>
                    <p:nvPicPr>
                      <p:cNvPr id="8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852" y="2541639"/>
                        <a:ext cx="1551683" cy="517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矩形 75"/>
          <p:cNvSpPr/>
          <p:nvPr/>
        </p:nvSpPr>
        <p:spPr bwMode="auto">
          <a:xfrm>
            <a:off x="4221421" y="2446878"/>
            <a:ext cx="1610958" cy="15123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805663"/>
              </p:ext>
            </p:extLst>
          </p:nvPr>
        </p:nvGraphicFramePr>
        <p:xfrm>
          <a:off x="6807923" y="6077867"/>
          <a:ext cx="2209168" cy="438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663560" imgH="330120" progId="Equation.3">
                  <p:embed/>
                </p:oleObj>
              </mc:Choice>
              <mc:Fallback>
                <p:oleObj name="公式" r:id="rId38" imgW="1663560" imgH="330120" progId="Equation.3">
                  <p:embed/>
                  <p:pic>
                    <p:nvPicPr>
                      <p:cNvPr id="2232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923" y="6077867"/>
                        <a:ext cx="2209168" cy="438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" name="组合 85"/>
          <p:cNvGrpSpPr/>
          <p:nvPr/>
        </p:nvGrpSpPr>
        <p:grpSpPr>
          <a:xfrm>
            <a:off x="6749811" y="4877206"/>
            <a:ext cx="2121378" cy="1244435"/>
            <a:chOff x="5697537" y="2944813"/>
            <a:chExt cx="2908299" cy="1666875"/>
          </a:xfrm>
        </p:grpSpPr>
        <p:grpSp>
          <p:nvGrpSpPr>
            <p:cNvPr id="87" name="Group 12"/>
            <p:cNvGrpSpPr>
              <a:grpSpLocks/>
            </p:cNvGrpSpPr>
            <p:nvPr/>
          </p:nvGrpSpPr>
          <p:grpSpPr bwMode="auto">
            <a:xfrm>
              <a:off x="5697537" y="2944813"/>
              <a:ext cx="2908299" cy="1666875"/>
              <a:chOff x="2892" y="2544"/>
              <a:chExt cx="1832" cy="1050"/>
            </a:xfrm>
          </p:grpSpPr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>
                <a:off x="3048" y="3292"/>
                <a:ext cx="14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V="1">
                <a:off x="3240" y="2680"/>
                <a:ext cx="0" cy="8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6" name="Text Box 15"/>
              <p:cNvSpPr txBox="1">
                <a:spLocks noChangeArrowheads="1"/>
              </p:cNvSpPr>
              <p:nvPr/>
            </p:nvSpPr>
            <p:spPr bwMode="auto">
              <a:xfrm>
                <a:off x="4509" y="3208"/>
                <a:ext cx="215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" name="Text Box 16"/>
              <p:cNvSpPr txBox="1">
                <a:spLocks noChangeArrowheads="1"/>
              </p:cNvSpPr>
              <p:nvPr/>
            </p:nvSpPr>
            <p:spPr bwMode="auto">
              <a:xfrm>
                <a:off x="3245" y="2544"/>
                <a:ext cx="446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</a:t>
                </a:r>
                <a:r>
                  <a:rPr kumimoji="1" lang="en-US" altLang="zh-CN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</p:txBody>
          </p:sp>
          <p:sp>
            <p:nvSpPr>
              <p:cNvPr id="98" name="Line 17"/>
              <p:cNvSpPr>
                <a:spLocks noChangeShapeType="1"/>
              </p:cNvSpPr>
              <p:nvPr/>
            </p:nvSpPr>
            <p:spPr bwMode="auto">
              <a:xfrm flipV="1">
                <a:off x="3240" y="2896"/>
                <a:ext cx="0" cy="396"/>
              </a:xfrm>
              <a:prstGeom prst="line">
                <a:avLst/>
              </a:prstGeom>
              <a:noFill/>
              <a:ln w="25400">
                <a:solidFill>
                  <a:srgbClr val="FF00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9" name="Text Box 18"/>
              <p:cNvSpPr txBox="1">
                <a:spLocks noChangeArrowheads="1"/>
              </p:cNvSpPr>
              <p:nvPr/>
            </p:nvSpPr>
            <p:spPr bwMode="auto">
              <a:xfrm>
                <a:off x="2892" y="2764"/>
                <a:ext cx="392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(1)</a:t>
                </a:r>
              </a:p>
            </p:txBody>
          </p:sp>
          <p:sp>
            <p:nvSpPr>
              <p:cNvPr id="100" name="Text Box 19"/>
              <p:cNvSpPr txBox="1">
                <a:spLocks noChangeArrowheads="1"/>
              </p:cNvSpPr>
              <p:nvPr/>
            </p:nvSpPr>
            <p:spPr bwMode="auto">
              <a:xfrm>
                <a:off x="2996" y="3282"/>
                <a:ext cx="259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88" name="Group 20"/>
            <p:cNvGrpSpPr>
              <a:grpSpLocks/>
            </p:cNvGrpSpPr>
            <p:nvPr/>
          </p:nvGrpSpPr>
          <p:grpSpPr bwMode="auto">
            <a:xfrm>
              <a:off x="5976938" y="3194050"/>
              <a:ext cx="2112962" cy="749300"/>
              <a:chOff x="3930" y="1771"/>
              <a:chExt cx="1331" cy="472"/>
            </a:xfrm>
          </p:grpSpPr>
          <p:sp>
            <p:nvSpPr>
              <p:cNvPr id="92" name="Freeform 21"/>
              <p:cNvSpPr>
                <a:spLocks/>
              </p:cNvSpPr>
              <p:nvPr/>
            </p:nvSpPr>
            <p:spPr bwMode="auto">
              <a:xfrm>
                <a:off x="3930" y="1920"/>
                <a:ext cx="975" cy="323"/>
              </a:xfrm>
              <a:custGeom>
                <a:avLst/>
                <a:gdLst>
                  <a:gd name="T0" fmla="*/ 0 w 975"/>
                  <a:gd name="T1" fmla="*/ 323 h 323"/>
                  <a:gd name="T2" fmla="*/ 164 w 975"/>
                  <a:gd name="T3" fmla="*/ 203 h 323"/>
                  <a:gd name="T4" fmla="*/ 342 w 975"/>
                  <a:gd name="T5" fmla="*/ 150 h 323"/>
                  <a:gd name="T6" fmla="*/ 606 w 975"/>
                  <a:gd name="T7" fmla="*/ 188 h 323"/>
                  <a:gd name="T8" fmla="*/ 975 w 975"/>
                  <a:gd name="T9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5" h="323">
                    <a:moveTo>
                      <a:pt x="0" y="323"/>
                    </a:moveTo>
                    <a:cubicBezTo>
                      <a:pt x="53" y="277"/>
                      <a:pt x="107" y="232"/>
                      <a:pt x="164" y="203"/>
                    </a:cubicBezTo>
                    <a:cubicBezTo>
                      <a:pt x="221" y="174"/>
                      <a:pt x="268" y="152"/>
                      <a:pt x="342" y="150"/>
                    </a:cubicBezTo>
                    <a:cubicBezTo>
                      <a:pt x="416" y="148"/>
                      <a:pt x="500" y="213"/>
                      <a:pt x="606" y="188"/>
                    </a:cubicBezTo>
                    <a:cubicBezTo>
                      <a:pt x="712" y="163"/>
                      <a:pt x="898" y="39"/>
                      <a:pt x="975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3" name="Text Box 22"/>
              <p:cNvSpPr txBox="1">
                <a:spLocks noChangeArrowheads="1"/>
              </p:cNvSpPr>
              <p:nvPr/>
            </p:nvSpPr>
            <p:spPr bwMode="auto">
              <a:xfrm>
                <a:off x="4847" y="1771"/>
                <a:ext cx="414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grpSp>
          <p:nvGrpSpPr>
            <p:cNvPr id="89" name="Group 23"/>
            <p:cNvGrpSpPr>
              <a:grpSpLocks/>
            </p:cNvGrpSpPr>
            <p:nvPr/>
          </p:nvGrpSpPr>
          <p:grpSpPr bwMode="auto">
            <a:xfrm>
              <a:off x="6216654" y="3643314"/>
              <a:ext cx="846138" cy="495300"/>
              <a:chOff x="4081" y="2054"/>
              <a:chExt cx="533" cy="312"/>
            </a:xfrm>
          </p:grpSpPr>
          <p:sp>
            <p:nvSpPr>
              <p:cNvPr id="90" name="Text Box 24"/>
              <p:cNvSpPr txBox="1">
                <a:spLocks noChangeArrowheads="1"/>
              </p:cNvSpPr>
              <p:nvPr/>
            </p:nvSpPr>
            <p:spPr bwMode="auto">
              <a:xfrm>
                <a:off x="4156" y="2054"/>
                <a:ext cx="458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(0)</a:t>
                </a:r>
              </a:p>
            </p:txBody>
          </p:sp>
          <p:sp>
            <p:nvSpPr>
              <p:cNvPr id="91" name="Oval 25"/>
              <p:cNvSpPr>
                <a:spLocks noChangeArrowheads="1"/>
              </p:cNvSpPr>
              <p:nvPr/>
            </p:nvSpPr>
            <p:spPr bwMode="auto">
              <a:xfrm>
                <a:off x="4081" y="2100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kumimoji="1" lang="zh-CN" altLang="zh-CN" b="1">
                  <a:latin typeface="Times New Roman" panose="02020603050405020304" pitchFamily="18" charset="0"/>
                </a:endParaRPr>
              </a:p>
            </p:txBody>
          </p:sp>
        </p:grpSp>
      </p:grpSp>
      <p:pic>
        <p:nvPicPr>
          <p:cNvPr id="103" name="图片 102"/>
          <p:cNvPicPr>
            <a:picLocks noChangeAspect="1"/>
          </p:cNvPicPr>
          <p:nvPr/>
        </p:nvPicPr>
        <p:blipFill rotWithShape="1">
          <a:blip r:embed="rId40"/>
          <a:srcRect r="47129"/>
          <a:stretch/>
        </p:blipFill>
        <p:spPr>
          <a:xfrm>
            <a:off x="5864828" y="2489931"/>
            <a:ext cx="3209011" cy="572567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 rotWithShape="1">
          <a:blip r:embed="rId41"/>
          <a:srcRect l="52132"/>
          <a:stretch/>
        </p:blipFill>
        <p:spPr>
          <a:xfrm>
            <a:off x="6097515" y="2944036"/>
            <a:ext cx="2905298" cy="572567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 rotWithShape="1">
          <a:blip r:embed="rId42"/>
          <a:srcRect r="42701"/>
          <a:stretch/>
        </p:blipFill>
        <p:spPr>
          <a:xfrm>
            <a:off x="5904300" y="3447242"/>
            <a:ext cx="2771835" cy="579000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 rotWithShape="1">
          <a:blip r:embed="rId43"/>
          <a:srcRect l="57069"/>
          <a:stretch/>
        </p:blipFill>
        <p:spPr>
          <a:xfrm>
            <a:off x="6735889" y="4056868"/>
            <a:ext cx="2076782" cy="579000"/>
          </a:xfrm>
          <a:prstGeom prst="rect">
            <a:avLst/>
          </a:prstGeom>
        </p:spPr>
      </p:pic>
      <p:sp>
        <p:nvSpPr>
          <p:cNvPr id="109" name="文本框 108"/>
          <p:cNvSpPr txBox="1"/>
          <p:nvPr/>
        </p:nvSpPr>
        <p:spPr>
          <a:xfrm>
            <a:off x="1028071" y="13783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单位阶跃函数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3275832" y="13783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单位阶跃函数延迟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5041877" y="10473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单位阶跃函数反转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984135" y="210223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闸门函数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2960108" y="2075655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闸门函数</a:t>
            </a:r>
            <a:r>
              <a:rPr lang="en-US" altLang="zh-CN" sz="1400" dirty="0"/>
              <a:t>-</a:t>
            </a:r>
            <a:r>
              <a:rPr lang="zh-CN" altLang="en-US" sz="1400" dirty="0"/>
              <a:t>截取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1089237" y="447923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单位脉冲函数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2877416" y="450338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单位冲激函数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4841060" y="448930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单位冲激函数延迟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6868198" y="459805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单位冲激函数筛分</a:t>
            </a:r>
          </a:p>
        </p:txBody>
      </p:sp>
      <p:graphicFrame>
        <p:nvGraphicFramePr>
          <p:cNvPr id="118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971603"/>
              </p:ext>
            </p:extLst>
          </p:nvPr>
        </p:nvGraphicFramePr>
        <p:xfrm>
          <a:off x="6175691" y="1903353"/>
          <a:ext cx="1736816" cy="52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397000" imgH="431800" progId="Equation.DSMT4">
                  <p:embed/>
                </p:oleObj>
              </mc:Choice>
              <mc:Fallback>
                <p:oleObj name="Equation" r:id="rId44" imgW="1397000" imgH="431800" progId="Equation.DSMT4">
                  <p:embed/>
                  <p:pic>
                    <p:nvPicPr>
                      <p:cNvPr id="33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691" y="1903353"/>
                        <a:ext cx="1736816" cy="5282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文本框 118"/>
          <p:cNvSpPr txBox="1"/>
          <p:nvPr/>
        </p:nvSpPr>
        <p:spPr>
          <a:xfrm>
            <a:off x="4527025" y="199705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分段波形广义函数</a:t>
            </a:r>
          </a:p>
        </p:txBody>
      </p:sp>
    </p:spTree>
    <p:extLst>
      <p:ext uri="{BB962C8B-B14F-4D97-AF65-F5344CB8AC3E}">
        <p14:creationId xmlns:p14="http://schemas.microsoft.com/office/powerpoint/2010/main" val="250332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23850" y="260350"/>
            <a:ext cx="3743325" cy="45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7.2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电容元件 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capacitor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437903" y="826046"/>
            <a:ext cx="1150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电容器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4535488" y="675811"/>
            <a:ext cx="30608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线性非时变电容元件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4535488" y="1844675"/>
            <a:ext cx="1430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电路符号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459" name="Group 27"/>
          <p:cNvGrpSpPr>
            <a:grpSpLocks/>
          </p:cNvGrpSpPr>
          <p:nvPr/>
        </p:nvGrpSpPr>
        <p:grpSpPr bwMode="auto">
          <a:xfrm>
            <a:off x="6192838" y="1520825"/>
            <a:ext cx="1738312" cy="803275"/>
            <a:chOff x="3371" y="1104"/>
            <a:chExt cx="1919" cy="1035"/>
          </a:xfrm>
        </p:grpSpPr>
        <p:sp>
          <p:nvSpPr>
            <p:cNvPr id="18449" name="Text Box 17"/>
            <p:cNvSpPr txBox="1">
              <a:spLocks noChangeArrowheads="1"/>
            </p:cNvSpPr>
            <p:nvPr/>
          </p:nvSpPr>
          <p:spPr bwMode="auto">
            <a:xfrm>
              <a:off x="4168" y="1104"/>
              <a:ext cx="293" cy="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 flipH="1" flipV="1">
              <a:off x="3462" y="1877"/>
              <a:ext cx="77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4379" y="1877"/>
              <a:ext cx="8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Oval 20"/>
            <p:cNvSpPr>
              <a:spLocks noChangeArrowheads="1"/>
            </p:cNvSpPr>
            <p:nvPr/>
          </p:nvSpPr>
          <p:spPr bwMode="auto">
            <a:xfrm>
              <a:off x="3371" y="1836"/>
              <a:ext cx="91" cy="9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3" name="Oval 21"/>
            <p:cNvSpPr>
              <a:spLocks noChangeArrowheads="1"/>
            </p:cNvSpPr>
            <p:nvPr/>
          </p:nvSpPr>
          <p:spPr bwMode="auto">
            <a:xfrm>
              <a:off x="5199" y="1836"/>
              <a:ext cx="91" cy="9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8454" name="Group 22"/>
            <p:cNvGrpSpPr>
              <a:grpSpLocks/>
            </p:cNvGrpSpPr>
            <p:nvPr/>
          </p:nvGrpSpPr>
          <p:grpSpPr bwMode="auto">
            <a:xfrm>
              <a:off x="4235" y="1600"/>
              <a:ext cx="144" cy="539"/>
              <a:chOff x="3053" y="3083"/>
              <a:chExt cx="211" cy="576"/>
            </a:xfrm>
          </p:grpSpPr>
          <p:sp>
            <p:nvSpPr>
              <p:cNvPr id="18455" name="Line 23"/>
              <p:cNvSpPr>
                <a:spLocks noChangeShapeType="1"/>
              </p:cNvSpPr>
              <p:nvPr/>
            </p:nvSpPr>
            <p:spPr bwMode="auto">
              <a:xfrm>
                <a:off x="3053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456" name="Line 24"/>
              <p:cNvSpPr>
                <a:spLocks noChangeShapeType="1"/>
              </p:cNvSpPr>
              <p:nvPr/>
            </p:nvSpPr>
            <p:spPr bwMode="auto">
              <a:xfrm>
                <a:off x="3264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8485" name="Text Box 53"/>
          <p:cNvSpPr txBox="1">
            <a:spLocks noChangeArrowheads="1"/>
          </p:cNvSpPr>
          <p:nvPr/>
        </p:nvSpPr>
        <p:spPr bwMode="auto">
          <a:xfrm>
            <a:off x="3105268" y="3041774"/>
            <a:ext cx="474345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描述电容的两个基本变量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:  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kumimoji="1" lang="en-US" altLang="zh-CN" sz="2400" b="1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对于线性电容，有：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 =Cu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486" name="Text Box 54"/>
          <p:cNvSpPr txBox="1">
            <a:spLocks noChangeArrowheads="1"/>
          </p:cNvSpPr>
          <p:nvPr/>
        </p:nvSpPr>
        <p:spPr bwMode="auto">
          <a:xfrm>
            <a:off x="728780" y="2970337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1.  </a:t>
            </a:r>
            <a:r>
              <a:rPr kumimoji="1" lang="zh-CN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元件特性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487" name="Group 55"/>
          <p:cNvGrpSpPr>
            <a:grpSpLocks/>
          </p:cNvGrpSpPr>
          <p:nvPr/>
        </p:nvGrpSpPr>
        <p:grpSpPr bwMode="auto">
          <a:xfrm>
            <a:off x="873243" y="3402137"/>
            <a:ext cx="1668462" cy="2241550"/>
            <a:chOff x="606" y="978"/>
            <a:chExt cx="1282" cy="1689"/>
          </a:xfrm>
        </p:grpSpPr>
        <p:sp>
          <p:nvSpPr>
            <p:cNvPr id="18488" name="Text Box 56"/>
            <p:cNvSpPr txBox="1">
              <a:spLocks noChangeArrowheads="1"/>
            </p:cNvSpPr>
            <p:nvPr/>
          </p:nvSpPr>
          <p:spPr bwMode="auto">
            <a:xfrm>
              <a:off x="1644" y="1907"/>
              <a:ext cx="244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489" name="Text Box 57"/>
            <p:cNvSpPr txBox="1">
              <a:spLocks noChangeArrowheads="1"/>
            </p:cNvSpPr>
            <p:nvPr/>
          </p:nvSpPr>
          <p:spPr bwMode="auto">
            <a:xfrm>
              <a:off x="823" y="978"/>
              <a:ext cx="206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8490" name="Text Box 58"/>
            <p:cNvSpPr txBox="1">
              <a:spLocks noChangeArrowheads="1"/>
            </p:cNvSpPr>
            <p:nvPr/>
          </p:nvSpPr>
          <p:spPr bwMode="auto">
            <a:xfrm>
              <a:off x="606" y="1839"/>
              <a:ext cx="272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8491" name="Rectangle 59"/>
            <p:cNvSpPr>
              <a:spLocks noChangeArrowheads="1"/>
            </p:cNvSpPr>
            <p:nvPr/>
          </p:nvSpPr>
          <p:spPr bwMode="auto">
            <a:xfrm>
              <a:off x="606" y="1445"/>
              <a:ext cx="274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</a:p>
          </p:txBody>
        </p:sp>
        <p:sp>
          <p:nvSpPr>
            <p:cNvPr id="18492" name="Line 60"/>
            <p:cNvSpPr>
              <a:spLocks noChangeShapeType="1"/>
            </p:cNvSpPr>
            <p:nvPr/>
          </p:nvSpPr>
          <p:spPr bwMode="auto">
            <a:xfrm rot="5400000" flipH="1" flipV="1">
              <a:off x="1040" y="1719"/>
              <a:ext cx="58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3" name="Line 61"/>
            <p:cNvSpPr>
              <a:spLocks noChangeShapeType="1"/>
            </p:cNvSpPr>
            <p:nvPr/>
          </p:nvSpPr>
          <p:spPr bwMode="auto">
            <a:xfrm rot="5400000">
              <a:off x="1097" y="2390"/>
              <a:ext cx="4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4" name="Oval 62"/>
            <p:cNvSpPr>
              <a:spLocks noChangeArrowheads="1"/>
            </p:cNvSpPr>
            <p:nvPr/>
          </p:nvSpPr>
          <p:spPr bwMode="auto">
            <a:xfrm rot="5400000">
              <a:off x="751" y="1381"/>
              <a:ext cx="91" cy="9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95" name="Oval 63"/>
            <p:cNvSpPr>
              <a:spLocks noChangeArrowheads="1"/>
            </p:cNvSpPr>
            <p:nvPr/>
          </p:nvSpPr>
          <p:spPr bwMode="auto">
            <a:xfrm rot="5400000">
              <a:off x="751" y="2576"/>
              <a:ext cx="91" cy="9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96" name="Rectangle 64"/>
            <p:cNvSpPr>
              <a:spLocks noChangeArrowheads="1"/>
            </p:cNvSpPr>
            <p:nvPr/>
          </p:nvSpPr>
          <p:spPr bwMode="auto">
            <a:xfrm>
              <a:off x="607" y="2223"/>
              <a:ext cx="258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–</a:t>
              </a:r>
            </a:p>
          </p:txBody>
        </p:sp>
        <p:sp>
          <p:nvSpPr>
            <p:cNvPr id="18497" name="Line 65"/>
            <p:cNvSpPr>
              <a:spLocks noChangeShapeType="1"/>
            </p:cNvSpPr>
            <p:nvPr/>
          </p:nvSpPr>
          <p:spPr bwMode="auto">
            <a:xfrm>
              <a:off x="842" y="2624"/>
              <a:ext cx="49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8" name="Line 66"/>
            <p:cNvSpPr>
              <a:spLocks noChangeShapeType="1"/>
            </p:cNvSpPr>
            <p:nvPr/>
          </p:nvSpPr>
          <p:spPr bwMode="auto">
            <a:xfrm>
              <a:off x="842" y="1427"/>
              <a:ext cx="49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9" name="Line 67"/>
            <p:cNvSpPr>
              <a:spLocks noChangeShapeType="1"/>
            </p:cNvSpPr>
            <p:nvPr/>
          </p:nvSpPr>
          <p:spPr bwMode="auto">
            <a:xfrm>
              <a:off x="805" y="1294"/>
              <a:ext cx="26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00" name="Group 68"/>
            <p:cNvGrpSpPr>
              <a:grpSpLocks/>
            </p:cNvGrpSpPr>
            <p:nvPr/>
          </p:nvGrpSpPr>
          <p:grpSpPr bwMode="auto">
            <a:xfrm rot="-5400000">
              <a:off x="1265" y="1813"/>
              <a:ext cx="144" cy="539"/>
              <a:chOff x="3053" y="3083"/>
              <a:chExt cx="211" cy="576"/>
            </a:xfrm>
          </p:grpSpPr>
          <p:sp>
            <p:nvSpPr>
              <p:cNvPr id="18501" name="Line 69"/>
              <p:cNvSpPr>
                <a:spLocks noChangeShapeType="1"/>
              </p:cNvSpPr>
              <p:nvPr/>
            </p:nvSpPr>
            <p:spPr bwMode="auto">
              <a:xfrm>
                <a:off x="3053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02" name="Line 70"/>
              <p:cNvSpPr>
                <a:spLocks noChangeShapeType="1"/>
              </p:cNvSpPr>
              <p:nvPr/>
            </p:nvSpPr>
            <p:spPr bwMode="auto">
              <a:xfrm>
                <a:off x="3264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503" name="Rectangle 71"/>
            <p:cNvSpPr>
              <a:spLocks noChangeArrowheads="1"/>
            </p:cNvSpPr>
            <p:nvPr/>
          </p:nvSpPr>
          <p:spPr bwMode="auto">
            <a:xfrm>
              <a:off x="1356" y="1695"/>
              <a:ext cx="275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</a:p>
          </p:txBody>
        </p:sp>
        <p:sp>
          <p:nvSpPr>
            <p:cNvPr id="18504" name="Rectangle 72"/>
            <p:cNvSpPr>
              <a:spLocks noChangeArrowheads="1"/>
            </p:cNvSpPr>
            <p:nvPr/>
          </p:nvSpPr>
          <p:spPr bwMode="auto">
            <a:xfrm>
              <a:off x="1357" y="2132"/>
              <a:ext cx="259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–</a:t>
              </a:r>
            </a:p>
          </p:txBody>
        </p:sp>
      </p:grpSp>
      <p:graphicFrame>
        <p:nvGraphicFramePr>
          <p:cNvPr id="18505" name="Object 73" descr="羊皮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123794"/>
              </p:ext>
            </p:extLst>
          </p:nvPr>
        </p:nvGraphicFramePr>
        <p:xfrm>
          <a:off x="3249730" y="4267324"/>
          <a:ext cx="124777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44240" imgH="406080" progId="Equation.3">
                  <p:embed/>
                </p:oleObj>
              </mc:Choice>
              <mc:Fallback>
                <p:oleObj name="公式" r:id="rId3" imgW="444240" imgH="406080" progId="Equation.3">
                  <p:embed/>
                  <p:pic>
                    <p:nvPicPr>
                      <p:cNvPr id="18505" name="Object 73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730" y="4267324"/>
                        <a:ext cx="1247775" cy="1141413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FF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07" name="Text Box 75"/>
          <p:cNvSpPr txBox="1">
            <a:spLocks noChangeArrowheads="1"/>
          </p:cNvSpPr>
          <p:nvPr/>
        </p:nvSpPr>
        <p:spPr bwMode="auto">
          <a:xfrm>
            <a:off x="4976930" y="4160962"/>
            <a:ext cx="3960813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电容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的单位：法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拉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  符号：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F   (Farad)                      </a:t>
            </a:r>
            <a:endParaRPr kumimoji="1"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508" name="Text Box 76"/>
          <p:cNvSpPr txBox="1">
            <a:spLocks noChangeArrowheads="1"/>
          </p:cNvSpPr>
          <p:nvPr/>
        </p:nvSpPr>
        <p:spPr bwMode="auto">
          <a:xfrm>
            <a:off x="5265855" y="5242049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常用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pF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等表示。</a:t>
            </a:r>
          </a:p>
        </p:txBody>
      </p:sp>
      <p:graphicFrame>
        <p:nvGraphicFramePr>
          <p:cNvPr id="5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641881"/>
              </p:ext>
            </p:extLst>
          </p:nvPr>
        </p:nvGraphicFramePr>
        <p:xfrm>
          <a:off x="1500733" y="877217"/>
          <a:ext cx="2912416" cy="2021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45029" imgH="1435070" progId="Visio.Drawing.11">
                  <p:embed/>
                </p:oleObj>
              </mc:Choice>
              <mc:Fallback>
                <p:oleObj name="Visio" r:id="rId6" imgW="2045029" imgH="1435070" progId="Visio.Drawing.11">
                  <p:embed/>
                  <p:pic>
                    <p:nvPicPr>
                      <p:cNvPr id="30619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733" y="877217"/>
                        <a:ext cx="2912416" cy="2021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1287379" y="600108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电容以</a:t>
            </a:r>
            <a:r>
              <a:rPr kumimoji="1"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电场形式存储能量</a:t>
            </a:r>
            <a:r>
              <a:rPr kumimoji="1" lang="zh-CN" altLang="en-US" sz="2400" b="1" dirty="0">
                <a:solidFill>
                  <a:srgbClr val="000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3140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5" grpId="0" autoUpdateAnimBg="0"/>
      <p:bldP spid="18446" grpId="0" build="p" autoUpdateAnimBg="0"/>
      <p:bldP spid="18448" grpId="0"/>
      <p:bldP spid="18485" grpId="0" autoUpdateAnimBg="0"/>
      <p:bldP spid="18486" grpId="0" autoUpdateAnimBg="0"/>
      <p:bldP spid="18507" grpId="0"/>
      <p:bldP spid="18508" grpId="0"/>
      <p:bldP spid="4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722313" y="404813"/>
            <a:ext cx="2513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库伏（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kumimoji="1" lang="zh-CN" altLang="en-US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特性</a:t>
            </a: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5499100" y="800100"/>
            <a:ext cx="273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 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  tan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kumimoji="1" lang="en-US" altLang="zh-CN" sz="2400" b="1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2532" name="Group 4"/>
          <p:cNvGrpSpPr>
            <a:grpSpLocks/>
          </p:cNvGrpSpPr>
          <p:nvPr/>
        </p:nvGrpSpPr>
        <p:grpSpPr bwMode="auto">
          <a:xfrm>
            <a:off x="3859213" y="0"/>
            <a:ext cx="1676400" cy="2057400"/>
            <a:chOff x="1837" y="528"/>
            <a:chExt cx="1056" cy="1296"/>
          </a:xfrm>
        </p:grpSpPr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 flipV="1">
              <a:off x="1874" y="960"/>
              <a:ext cx="816" cy="7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34" name="Group 6"/>
            <p:cNvGrpSpPr>
              <a:grpSpLocks/>
            </p:cNvGrpSpPr>
            <p:nvPr/>
          </p:nvGrpSpPr>
          <p:grpSpPr bwMode="auto">
            <a:xfrm>
              <a:off x="1837" y="528"/>
              <a:ext cx="1056" cy="1296"/>
              <a:chOff x="336" y="1680"/>
              <a:chExt cx="1056" cy="1296"/>
            </a:xfrm>
          </p:grpSpPr>
          <p:grpSp>
            <p:nvGrpSpPr>
              <p:cNvPr id="22535" name="Group 7"/>
              <p:cNvGrpSpPr>
                <a:grpSpLocks/>
              </p:cNvGrpSpPr>
              <p:nvPr/>
            </p:nvGrpSpPr>
            <p:grpSpPr bwMode="auto">
              <a:xfrm>
                <a:off x="336" y="1872"/>
                <a:ext cx="1056" cy="1104"/>
                <a:chOff x="336" y="1872"/>
                <a:chExt cx="1056" cy="1104"/>
              </a:xfrm>
            </p:grpSpPr>
            <p:sp>
              <p:nvSpPr>
                <p:cNvPr id="22536" name="Line 8"/>
                <p:cNvSpPr>
                  <a:spLocks noChangeShapeType="1"/>
                </p:cNvSpPr>
                <p:nvPr/>
              </p:nvSpPr>
              <p:spPr bwMode="auto">
                <a:xfrm>
                  <a:off x="336" y="2544"/>
                  <a:ext cx="1056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37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720" y="1872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538" name="Text Box 10"/>
              <p:cNvSpPr txBox="1">
                <a:spLocks noChangeArrowheads="1"/>
              </p:cNvSpPr>
              <p:nvPr/>
            </p:nvSpPr>
            <p:spPr bwMode="auto">
              <a:xfrm>
                <a:off x="412" y="16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q</a:t>
                </a:r>
                <a:endPara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39" name="Text Box 11"/>
              <p:cNvSpPr txBox="1">
                <a:spLocks noChangeArrowheads="1"/>
              </p:cNvSpPr>
              <p:nvPr/>
            </p:nvSpPr>
            <p:spPr bwMode="auto">
              <a:xfrm>
                <a:off x="1161" y="252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u</a:t>
                </a:r>
                <a:endPara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0" name="Text Box 12"/>
              <p:cNvSpPr txBox="1">
                <a:spLocks noChangeArrowheads="1"/>
              </p:cNvSpPr>
              <p:nvPr/>
            </p:nvSpPr>
            <p:spPr bwMode="auto">
              <a:xfrm>
                <a:off x="710" y="25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22541" name="Freeform 13"/>
            <p:cNvSpPr>
              <a:spLocks/>
            </p:cNvSpPr>
            <p:nvPr/>
          </p:nvSpPr>
          <p:spPr bwMode="auto">
            <a:xfrm>
              <a:off x="2357" y="1275"/>
              <a:ext cx="55" cy="117"/>
            </a:xfrm>
            <a:custGeom>
              <a:avLst/>
              <a:gdLst>
                <a:gd name="T0" fmla="*/ 0 w 55"/>
                <a:gd name="T1" fmla="*/ 0 h 117"/>
                <a:gd name="T2" fmla="*/ 48 w 55"/>
                <a:gd name="T3" fmla="*/ 45 h 117"/>
                <a:gd name="T4" fmla="*/ 45 w 55"/>
                <a:gd name="T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" h="117">
                  <a:moveTo>
                    <a:pt x="0" y="0"/>
                  </a:moveTo>
                  <a:cubicBezTo>
                    <a:pt x="8" y="7"/>
                    <a:pt x="41" y="25"/>
                    <a:pt x="48" y="45"/>
                  </a:cubicBezTo>
                  <a:cubicBezTo>
                    <a:pt x="55" y="65"/>
                    <a:pt x="46" y="102"/>
                    <a:pt x="45" y="117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2" name="Text Box 14"/>
            <p:cNvSpPr txBox="1">
              <a:spLocks noChangeArrowheads="1"/>
            </p:cNvSpPr>
            <p:nvPr/>
          </p:nvSpPr>
          <p:spPr bwMode="auto">
            <a:xfrm>
              <a:off x="2210" y="114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323850" y="1989138"/>
            <a:ext cx="422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线性电容的电压、电流关系</a:t>
            </a: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544" name="Group 16"/>
          <p:cNvGrpSpPr>
            <a:grpSpLocks/>
          </p:cNvGrpSpPr>
          <p:nvPr/>
        </p:nvGrpSpPr>
        <p:grpSpPr bwMode="auto">
          <a:xfrm>
            <a:off x="896938" y="2582863"/>
            <a:ext cx="1997075" cy="2636837"/>
            <a:chOff x="565" y="1627"/>
            <a:chExt cx="1258" cy="1661"/>
          </a:xfrm>
        </p:grpSpPr>
        <p:sp>
          <p:nvSpPr>
            <p:cNvPr id="22545" name="Text Box 17"/>
            <p:cNvSpPr txBox="1">
              <a:spLocks noChangeArrowheads="1"/>
            </p:cNvSpPr>
            <p:nvPr/>
          </p:nvSpPr>
          <p:spPr bwMode="auto">
            <a:xfrm>
              <a:off x="1579" y="255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2546" name="Text Box 18"/>
            <p:cNvSpPr txBox="1">
              <a:spLocks noChangeArrowheads="1"/>
            </p:cNvSpPr>
            <p:nvPr/>
          </p:nvSpPr>
          <p:spPr bwMode="auto">
            <a:xfrm>
              <a:off x="777" y="1627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2547" name="Text Box 19"/>
            <p:cNvSpPr txBox="1">
              <a:spLocks noChangeArrowheads="1"/>
            </p:cNvSpPr>
            <p:nvPr/>
          </p:nvSpPr>
          <p:spPr bwMode="auto">
            <a:xfrm>
              <a:off x="565" y="248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2548" name="Rectangle 20"/>
            <p:cNvSpPr>
              <a:spLocks noChangeArrowheads="1"/>
            </p:cNvSpPr>
            <p:nvPr/>
          </p:nvSpPr>
          <p:spPr bwMode="auto">
            <a:xfrm>
              <a:off x="565" y="2093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</a:p>
          </p:txBody>
        </p:sp>
        <p:sp>
          <p:nvSpPr>
            <p:cNvPr id="22549" name="Line 21"/>
            <p:cNvSpPr>
              <a:spLocks noChangeShapeType="1"/>
            </p:cNvSpPr>
            <p:nvPr/>
          </p:nvSpPr>
          <p:spPr bwMode="auto">
            <a:xfrm rot="5400000" flipH="1" flipV="1">
              <a:off x="975" y="2340"/>
              <a:ext cx="58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0" name="Line 22"/>
            <p:cNvSpPr>
              <a:spLocks noChangeShapeType="1"/>
            </p:cNvSpPr>
            <p:nvPr/>
          </p:nvSpPr>
          <p:spPr bwMode="auto">
            <a:xfrm rot="5400000">
              <a:off x="1032" y="3011"/>
              <a:ext cx="4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" name="Oval 23"/>
            <p:cNvSpPr>
              <a:spLocks noChangeArrowheads="1"/>
            </p:cNvSpPr>
            <p:nvPr/>
          </p:nvSpPr>
          <p:spPr bwMode="auto">
            <a:xfrm rot="5400000">
              <a:off x="686" y="2002"/>
              <a:ext cx="91" cy="9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52" name="Oval 24"/>
            <p:cNvSpPr>
              <a:spLocks noChangeArrowheads="1"/>
            </p:cNvSpPr>
            <p:nvPr/>
          </p:nvSpPr>
          <p:spPr bwMode="auto">
            <a:xfrm rot="5400000">
              <a:off x="686" y="3197"/>
              <a:ext cx="91" cy="9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53" name="Rectangle 25"/>
            <p:cNvSpPr>
              <a:spLocks noChangeArrowheads="1"/>
            </p:cNvSpPr>
            <p:nvPr/>
          </p:nvSpPr>
          <p:spPr bwMode="auto">
            <a:xfrm>
              <a:off x="565" y="28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–</a:t>
              </a:r>
            </a:p>
          </p:txBody>
        </p:sp>
        <p:sp>
          <p:nvSpPr>
            <p:cNvPr id="22554" name="Line 26"/>
            <p:cNvSpPr>
              <a:spLocks noChangeShapeType="1"/>
            </p:cNvSpPr>
            <p:nvPr/>
          </p:nvSpPr>
          <p:spPr bwMode="auto">
            <a:xfrm>
              <a:off x="777" y="3245"/>
              <a:ext cx="49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5" name="Line 27"/>
            <p:cNvSpPr>
              <a:spLocks noChangeShapeType="1"/>
            </p:cNvSpPr>
            <p:nvPr/>
          </p:nvSpPr>
          <p:spPr bwMode="auto">
            <a:xfrm>
              <a:off x="777" y="2048"/>
              <a:ext cx="49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6" name="Line 28"/>
            <p:cNvSpPr>
              <a:spLocks noChangeShapeType="1"/>
            </p:cNvSpPr>
            <p:nvPr/>
          </p:nvSpPr>
          <p:spPr bwMode="auto">
            <a:xfrm>
              <a:off x="740" y="1915"/>
              <a:ext cx="26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57" name="Group 29"/>
            <p:cNvGrpSpPr>
              <a:grpSpLocks/>
            </p:cNvGrpSpPr>
            <p:nvPr/>
          </p:nvGrpSpPr>
          <p:grpSpPr bwMode="auto">
            <a:xfrm rot="-5400000">
              <a:off x="1200" y="2434"/>
              <a:ext cx="144" cy="539"/>
              <a:chOff x="3053" y="3083"/>
              <a:chExt cx="211" cy="576"/>
            </a:xfrm>
          </p:grpSpPr>
          <p:sp>
            <p:nvSpPr>
              <p:cNvPr id="22558" name="Line 30"/>
              <p:cNvSpPr>
                <a:spLocks noChangeShapeType="1"/>
              </p:cNvSpPr>
              <p:nvPr/>
            </p:nvSpPr>
            <p:spPr bwMode="auto">
              <a:xfrm>
                <a:off x="3053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9" name="Line 31"/>
              <p:cNvSpPr>
                <a:spLocks noChangeShapeType="1"/>
              </p:cNvSpPr>
              <p:nvPr/>
            </p:nvSpPr>
            <p:spPr bwMode="auto">
              <a:xfrm>
                <a:off x="3264" y="3083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560" name="Rectangle 32"/>
            <p:cNvSpPr>
              <a:spLocks noChangeArrowheads="1"/>
            </p:cNvSpPr>
            <p:nvPr/>
          </p:nvSpPr>
          <p:spPr bwMode="auto">
            <a:xfrm>
              <a:off x="1315" y="2343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</a:p>
          </p:txBody>
        </p:sp>
        <p:sp>
          <p:nvSpPr>
            <p:cNvPr id="22561" name="Rectangle 33"/>
            <p:cNvSpPr>
              <a:spLocks noChangeArrowheads="1"/>
            </p:cNvSpPr>
            <p:nvPr/>
          </p:nvSpPr>
          <p:spPr bwMode="auto">
            <a:xfrm>
              <a:off x="1315" y="278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2520F2"/>
                  </a:solidFill>
                  <a:latin typeface="Times New Roman" panose="02020603050405020304" pitchFamily="18" charset="0"/>
                  <a:sym typeface="CommonBullets" pitchFamily="34" charset="2"/>
                </a:rPr>
                <a:t>–</a:t>
              </a:r>
            </a:p>
          </p:txBody>
        </p:sp>
      </p:grpSp>
      <p:graphicFrame>
        <p:nvGraphicFramePr>
          <p:cNvPr id="2256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411338"/>
              </p:ext>
            </p:extLst>
          </p:nvPr>
        </p:nvGraphicFramePr>
        <p:xfrm>
          <a:off x="2843808" y="2627313"/>
          <a:ext cx="20034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27000" imgH="406080" progId="Equation.3">
                  <p:embed/>
                </p:oleObj>
              </mc:Choice>
              <mc:Fallback>
                <p:oleObj name="公式" r:id="rId3" imgW="927000" imgH="406080" progId="Equation.3">
                  <p:embed/>
                  <p:pic>
                    <p:nvPicPr>
                      <p:cNvPr id="2256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627313"/>
                        <a:ext cx="2003425" cy="8747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3" name="Text Box 35"/>
          <p:cNvSpPr txBox="1">
            <a:spLocks noChangeArrowheads="1"/>
          </p:cNvSpPr>
          <p:nvPr/>
        </p:nvSpPr>
        <p:spPr bwMode="auto">
          <a:xfrm>
            <a:off x="3565525" y="36957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kumimoji="1" lang="zh-CN" altLang="zh-CN" sz="2400" b="1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2564" name="Object 36"/>
          <p:cNvGraphicFramePr>
            <a:graphicFrameLocks noChangeAspect="1"/>
          </p:cNvGraphicFramePr>
          <p:nvPr/>
        </p:nvGraphicFramePr>
        <p:xfrm>
          <a:off x="3297238" y="3582988"/>
          <a:ext cx="19462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65160" imgH="406080" progId="Equation.3">
                  <p:embed/>
                </p:oleObj>
              </mc:Choice>
              <mc:Fallback>
                <p:oleObj name="公式" r:id="rId5" imgW="965160" imgH="406080" progId="Equation.3">
                  <p:embed/>
                  <p:pic>
                    <p:nvPicPr>
                      <p:cNvPr id="22564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3582988"/>
                        <a:ext cx="19462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5" name="Text Box 37"/>
          <p:cNvSpPr txBox="1">
            <a:spLocks noChangeArrowheads="1"/>
          </p:cNvSpPr>
          <p:nvPr/>
        </p:nvSpPr>
        <p:spPr bwMode="auto">
          <a:xfrm>
            <a:off x="3051175" y="489585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kumimoji="1" lang="zh-CN" altLang="zh-CN" sz="2400" b="1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2566" name="Object 38"/>
          <p:cNvGraphicFramePr>
            <a:graphicFrameLocks noChangeAspect="1"/>
          </p:cNvGraphicFramePr>
          <p:nvPr/>
        </p:nvGraphicFramePr>
        <p:xfrm>
          <a:off x="3276600" y="5370513"/>
          <a:ext cx="252412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31560" imgH="355320" progId="Equation.3">
                  <p:embed/>
                </p:oleObj>
              </mc:Choice>
              <mc:Fallback>
                <p:oleObj name="公式" r:id="rId7" imgW="1231560" imgH="355320" progId="Equation.3">
                  <p:embed/>
                  <p:pic>
                    <p:nvPicPr>
                      <p:cNvPr id="2256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70513"/>
                        <a:ext cx="2524125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608986"/>
              </p:ext>
            </p:extLst>
          </p:nvPr>
        </p:nvGraphicFramePr>
        <p:xfrm>
          <a:off x="2741613" y="4456113"/>
          <a:ext cx="304641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11280" imgH="406080" progId="Equation.3">
                  <p:embed/>
                </p:oleObj>
              </mc:Choice>
              <mc:Fallback>
                <p:oleObj name="公式" r:id="rId9" imgW="1511280" imgH="406080" progId="Equation.3">
                  <p:embed/>
                  <p:pic>
                    <p:nvPicPr>
                      <p:cNvPr id="2256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4456113"/>
                        <a:ext cx="3046412" cy="8159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8" name="Object 40"/>
          <p:cNvGraphicFramePr>
            <a:graphicFrameLocks noChangeAspect="1"/>
          </p:cNvGraphicFramePr>
          <p:nvPr/>
        </p:nvGraphicFramePr>
        <p:xfrm>
          <a:off x="5192713" y="3603625"/>
          <a:ext cx="27654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371600" imgH="406080" progId="Equation.3">
                  <p:embed/>
                </p:oleObj>
              </mc:Choice>
              <mc:Fallback>
                <p:oleObj name="公式" r:id="rId11" imgW="1371600" imgH="406080" progId="Equation.3">
                  <p:embed/>
                  <p:pic>
                    <p:nvPicPr>
                      <p:cNvPr id="2256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3603625"/>
                        <a:ext cx="27654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870942" y="2722046"/>
            <a:ext cx="3935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电容中的电流与电压变化率成正比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电容中变化的电压才能形成电流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79490" y="56860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动态元件</a:t>
            </a:r>
          </a:p>
        </p:txBody>
      </p:sp>
      <p:sp>
        <p:nvSpPr>
          <p:cNvPr id="5" name="线形标注 1(无边框) 4"/>
          <p:cNvSpPr/>
          <p:nvPr/>
        </p:nvSpPr>
        <p:spPr bwMode="auto">
          <a:xfrm>
            <a:off x="6375439" y="5219701"/>
            <a:ext cx="914400" cy="612648"/>
          </a:xfrm>
          <a:prstGeom prst="callout1">
            <a:avLst>
              <a:gd name="adj1" fmla="val 35971"/>
              <a:gd name="adj2" fmla="val 3205"/>
              <a:gd name="adj3" fmla="val 3430"/>
              <a:gd name="adj4" fmla="val -254680"/>
            </a:avLst>
          </a:prstGeom>
          <a:noFill/>
          <a:ln w="22225">
            <a:solidFill>
              <a:srgbClr val="0070C0"/>
            </a:solidFill>
            <a:headEnd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隶书" panose="02010509060101010101" pitchFamily="49" charset="-122"/>
              </a:rPr>
              <a:t>初始电压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61681" y="60777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记忆元件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9490" y="237136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关联参考方向</a:t>
            </a:r>
          </a:p>
        </p:txBody>
      </p:sp>
    </p:spTree>
    <p:extLst>
      <p:ext uri="{BB962C8B-B14F-4D97-AF65-F5344CB8AC3E}">
        <p14:creationId xmlns:p14="http://schemas.microsoft.com/office/powerpoint/2010/main" val="8694451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1" grpId="0" autoUpdateAnimBg="0"/>
      <p:bldP spid="22543" grpId="0" autoUpdateAnimBg="0"/>
      <p:bldP spid="2" grpId="0"/>
      <p:bldP spid="3" grpId="0"/>
      <p:bldP spid="5" grpId="0" animBg="1"/>
      <p:bldP spid="4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23850" y="260648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电容的电压</a:t>
            </a:r>
            <a:r>
              <a:rPr kumimoji="1" lang="en-US" altLang="zh-CN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-</a:t>
            </a:r>
            <a:r>
              <a:rPr kumimoji="1" lang="zh-CN" altLang="en-US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电流关系小结：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88169" y="1070728"/>
            <a:ext cx="73302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的大小与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变化率成正比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，与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的大小无关；</a:t>
            </a:r>
            <a:endParaRPr kumimoji="1"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590550" y="3100685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电容元件是一种记忆元件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596900" y="1648123"/>
            <a:ext cx="7010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当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为常数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直流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时，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/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=0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。电容在直流电路中相当于开路，电容有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隔直作用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683568" y="4916994"/>
            <a:ext cx="7162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52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(5)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表达式前的正、负号与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的参考方向有关。当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为关联方向时，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/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；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非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关联方向时，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–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/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906225"/>
              </p:ext>
            </p:extLst>
          </p:nvPr>
        </p:nvGraphicFramePr>
        <p:xfrm>
          <a:off x="7597775" y="866775"/>
          <a:ext cx="134143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85800" imgH="406080" progId="Equation.3">
                  <p:embed/>
                </p:oleObj>
              </mc:Choice>
              <mc:Fallback>
                <p:oleObj name="公式" r:id="rId3" imgW="685800" imgH="40608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75" y="866775"/>
                        <a:ext cx="1341438" cy="7905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113414"/>
              </p:ext>
            </p:extLst>
          </p:nvPr>
        </p:nvGraphicFramePr>
        <p:xfrm>
          <a:off x="4876800" y="2916535"/>
          <a:ext cx="28416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406080" progId="Equation.3">
                  <p:embed/>
                </p:oleObj>
              </mc:Choice>
              <mc:Fallback>
                <p:oleObj name="Equation" r:id="rId5" imgW="1409400" imgH="40608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916535"/>
                        <a:ext cx="2841625" cy="8159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91"/>
          <p:cNvGrpSpPr>
            <a:grpSpLocks/>
          </p:cNvGrpSpPr>
          <p:nvPr/>
        </p:nvGrpSpPr>
        <p:grpSpPr bwMode="auto">
          <a:xfrm>
            <a:off x="4638030" y="4079072"/>
            <a:ext cx="1093788" cy="446088"/>
            <a:chOff x="2744" y="1933"/>
            <a:chExt cx="689" cy="281"/>
          </a:xfrm>
        </p:grpSpPr>
        <p:sp>
          <p:nvSpPr>
            <p:cNvPr id="14" name="Line 88"/>
            <p:cNvSpPr>
              <a:spLocks noChangeShapeType="1"/>
            </p:cNvSpPr>
            <p:nvPr/>
          </p:nvSpPr>
          <p:spPr bwMode="auto">
            <a:xfrm>
              <a:off x="2744" y="2205"/>
              <a:ext cx="680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" name="Object 89"/>
            <p:cNvGraphicFramePr>
              <a:graphicFrameLocks noChangeAspect="1"/>
            </p:cNvGraphicFramePr>
            <p:nvPr/>
          </p:nvGraphicFramePr>
          <p:xfrm>
            <a:off x="2744" y="1933"/>
            <a:ext cx="68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58800" imgH="228600" progId="Equation.DSMT4">
                    <p:embed/>
                  </p:oleObj>
                </mc:Choice>
                <mc:Fallback>
                  <p:oleObj name="Equation" r:id="rId7" imgW="558800" imgH="228600" progId="Equation.DSMT4">
                    <p:embed/>
                    <p:pic>
                      <p:nvPicPr>
                        <p:cNvPr id="11288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1933"/>
                          <a:ext cx="68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267754"/>
              </p:ext>
            </p:extLst>
          </p:nvPr>
        </p:nvGraphicFramePr>
        <p:xfrm>
          <a:off x="5876280" y="4223535"/>
          <a:ext cx="219868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228600" progId="Equation.DSMT4">
                  <p:embed/>
                </p:oleObj>
              </mc:Choice>
              <mc:Fallback>
                <p:oleObj name="Equation" r:id="rId9" imgW="914400" imgH="228600" progId="Equation.DSMT4">
                  <p:embed/>
                  <p:pic>
                    <p:nvPicPr>
                      <p:cNvPr id="203868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280" y="4223535"/>
                        <a:ext cx="219868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576972"/>
              </p:ext>
            </p:extLst>
          </p:nvPr>
        </p:nvGraphicFramePr>
        <p:xfrm>
          <a:off x="683568" y="4126697"/>
          <a:ext cx="328453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48728" imgH="393529" progId="Equation.DSMT4">
                  <p:embed/>
                </p:oleObj>
              </mc:Choice>
              <mc:Fallback>
                <p:oleObj name="Equation" r:id="rId11" imgW="1548728" imgH="393529" progId="Equation.DSMT4">
                  <p:embed/>
                  <p:pic>
                    <p:nvPicPr>
                      <p:cNvPr id="203891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126697"/>
                        <a:ext cx="328453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90550" y="3687238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电压连续性</a:t>
            </a:r>
          </a:p>
        </p:txBody>
      </p:sp>
    </p:spTree>
    <p:extLst>
      <p:ext uri="{BB962C8B-B14F-4D97-AF65-F5344CB8AC3E}">
        <p14:creationId xmlns:p14="http://schemas.microsoft.com/office/powerpoint/2010/main" val="25808180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build="p" autoUpdateAnimBg="0"/>
      <p:bldP spid="24580" grpId="0" build="p" autoUpdateAnimBg="0"/>
      <p:bldP spid="24581" grpId="0" build="p" autoUpdateAnimBg="0"/>
      <p:bldP spid="24582" grpId="0" build="p" autoUpdateAnimBg="0"/>
      <p:bldP spid="1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323850" y="470843"/>
            <a:ext cx="56883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   </a:t>
            </a:r>
            <a:r>
              <a:rPr lang="zh-CN" altLang="en-US" sz="2400" b="1" dirty="0">
                <a:solidFill>
                  <a:srgbClr val="FF0000"/>
                </a:solidFill>
              </a:rPr>
              <a:t>电容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储能元件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的储能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774700" y="4211638"/>
            <a:ext cx="4189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从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到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电容储能的变化量：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689100" y="5057775"/>
          <a:ext cx="36480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63560" imgH="393480" progId="Equation.3">
                  <p:embed/>
                </p:oleObj>
              </mc:Choice>
              <mc:Fallback>
                <p:oleObj name="公式" r:id="rId3" imgW="1663560" imgH="393480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5057775"/>
                        <a:ext cx="36480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160463" y="892175"/>
          <a:ext cx="25193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18960" imgH="406080" progId="Equation.3">
                  <p:embed/>
                </p:oleObj>
              </mc:Choice>
              <mc:Fallback>
                <p:oleObj name="公式" r:id="rId5" imgW="1218960" imgH="406080" progId="Equation.3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892175"/>
                        <a:ext cx="25193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203325" y="1662113"/>
          <a:ext cx="7446963" cy="196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466800" imgH="914400" progId="Equation.3">
                  <p:embed/>
                </p:oleObj>
              </mc:Choice>
              <mc:Fallback>
                <p:oleObj name="公式" r:id="rId7" imgW="3466800" imgH="914400" progId="Equation.3">
                  <p:embed/>
                  <p:pic>
                    <p:nvPicPr>
                      <p:cNvPr id="2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1662113"/>
                        <a:ext cx="7446963" cy="196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76038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2ADD6D-D897-4AC5-B285-E85E525D6A09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2C0135-994A-40A7-9E26-72014454EBC3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2293" name="Rectangle 98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7086600" cy="971550"/>
          </a:xfrm>
          <a:noFill/>
        </p:spPr>
        <p:txBody>
          <a:bodyPr lIns="92075" tIns="46038" rIns="92075" bIns="46038"/>
          <a:lstStyle/>
          <a:p>
            <a:pPr algn="l" eaLnBrk="1" hangingPunct="1"/>
            <a:r>
              <a:rPr lang="en-US" altLang="zh-CN" sz="2400">
                <a:solidFill>
                  <a:schemeClr val="hlink"/>
                </a:solidFill>
                <a:ea typeface="隶书" panose="02010509060101010101" pitchFamily="49" charset="-122"/>
              </a:rPr>
              <a:t>Practice</a:t>
            </a:r>
            <a:endParaRPr lang="zh-CN" altLang="zh-CN" sz="2400">
              <a:solidFill>
                <a:schemeClr val="hlink"/>
              </a:solidFill>
              <a:ea typeface="隶书" panose="02010509060101010101" pitchFamily="49" charset="-122"/>
            </a:endParaRPr>
          </a:p>
        </p:txBody>
      </p:sp>
      <p:sp>
        <p:nvSpPr>
          <p:cNvPr id="250979" name="Text Box 99"/>
          <p:cNvSpPr txBox="1">
            <a:spLocks noChangeArrowheads="1"/>
          </p:cNvSpPr>
          <p:nvPr/>
        </p:nvSpPr>
        <p:spPr bwMode="auto">
          <a:xfrm>
            <a:off x="2051050" y="655638"/>
            <a:ext cx="535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Find the voltage of the capacitor.</a:t>
            </a:r>
          </a:p>
        </p:txBody>
      </p:sp>
      <p:grpSp>
        <p:nvGrpSpPr>
          <p:cNvPr id="12295" name="Group 102"/>
          <p:cNvGrpSpPr>
            <a:grpSpLocks/>
          </p:cNvGrpSpPr>
          <p:nvPr/>
        </p:nvGrpSpPr>
        <p:grpSpPr bwMode="auto">
          <a:xfrm>
            <a:off x="395288" y="1628775"/>
            <a:ext cx="3900487" cy="2209800"/>
            <a:chOff x="204" y="1253"/>
            <a:chExt cx="2457" cy="1392"/>
          </a:xfrm>
        </p:grpSpPr>
        <p:grpSp>
          <p:nvGrpSpPr>
            <p:cNvPr id="12324" name="Group 68"/>
            <p:cNvGrpSpPr>
              <a:grpSpLocks/>
            </p:cNvGrpSpPr>
            <p:nvPr/>
          </p:nvGrpSpPr>
          <p:grpSpPr bwMode="auto">
            <a:xfrm>
              <a:off x="204" y="1253"/>
              <a:ext cx="2457" cy="1392"/>
              <a:chOff x="3159" y="2592"/>
              <a:chExt cx="2457" cy="1392"/>
            </a:xfrm>
          </p:grpSpPr>
          <p:grpSp>
            <p:nvGrpSpPr>
              <p:cNvPr id="12326" name="Group 69"/>
              <p:cNvGrpSpPr>
                <a:grpSpLocks/>
              </p:cNvGrpSpPr>
              <p:nvPr/>
            </p:nvGrpSpPr>
            <p:grpSpPr bwMode="auto">
              <a:xfrm>
                <a:off x="3316" y="2807"/>
                <a:ext cx="2060" cy="1177"/>
                <a:chOff x="3316" y="2807"/>
                <a:chExt cx="2060" cy="1177"/>
              </a:xfrm>
            </p:grpSpPr>
            <p:sp>
              <p:nvSpPr>
                <p:cNvPr id="1234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5280" y="3408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9" name="Rectangle 71"/>
                <p:cNvSpPr>
                  <a:spLocks noChangeArrowheads="1"/>
                </p:cNvSpPr>
                <p:nvPr/>
              </p:nvSpPr>
              <p:spPr bwMode="auto">
                <a:xfrm>
                  <a:off x="4651" y="2807"/>
                  <a:ext cx="297" cy="125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1800"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12350" name="Rectangle 72"/>
                <p:cNvSpPr>
                  <a:spLocks noChangeArrowheads="1"/>
                </p:cNvSpPr>
                <p:nvPr/>
              </p:nvSpPr>
              <p:spPr bwMode="auto">
                <a:xfrm>
                  <a:off x="3613" y="2807"/>
                  <a:ext cx="296" cy="125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1800"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12351" name="Line 73"/>
                <p:cNvSpPr>
                  <a:spLocks noChangeShapeType="1"/>
                </p:cNvSpPr>
                <p:nvPr/>
              </p:nvSpPr>
              <p:spPr bwMode="auto">
                <a:xfrm>
                  <a:off x="4948" y="2879"/>
                  <a:ext cx="332" cy="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52" name="Line 74"/>
                <p:cNvSpPr>
                  <a:spLocks noChangeShapeType="1"/>
                </p:cNvSpPr>
                <p:nvPr/>
              </p:nvSpPr>
              <p:spPr bwMode="auto">
                <a:xfrm flipH="1" flipV="1">
                  <a:off x="5184" y="3308"/>
                  <a:ext cx="192" cy="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53" name="Line 75"/>
                <p:cNvSpPr>
                  <a:spLocks noChangeShapeType="1"/>
                </p:cNvSpPr>
                <p:nvPr/>
              </p:nvSpPr>
              <p:spPr bwMode="auto">
                <a:xfrm flipH="1" flipV="1">
                  <a:off x="5184" y="3408"/>
                  <a:ext cx="19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54" name="Line 76"/>
                <p:cNvSpPr>
                  <a:spLocks noChangeShapeType="1"/>
                </p:cNvSpPr>
                <p:nvPr/>
              </p:nvSpPr>
              <p:spPr bwMode="auto">
                <a:xfrm>
                  <a:off x="3316" y="2879"/>
                  <a:ext cx="0" cy="35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327" name="Group 77"/>
              <p:cNvGrpSpPr>
                <a:grpSpLocks/>
              </p:cNvGrpSpPr>
              <p:nvPr/>
            </p:nvGrpSpPr>
            <p:grpSpPr bwMode="auto">
              <a:xfrm>
                <a:off x="3159" y="2592"/>
                <a:ext cx="2457" cy="1392"/>
                <a:chOff x="3159" y="2592"/>
                <a:chExt cx="2457" cy="1392"/>
              </a:xfrm>
            </p:grpSpPr>
            <p:sp>
              <p:nvSpPr>
                <p:cNvPr id="250958" name="Rectangle 78"/>
                <p:cNvSpPr>
                  <a:spLocks noChangeArrowheads="1"/>
                </p:cNvSpPr>
                <p:nvPr/>
              </p:nvSpPr>
              <p:spPr bwMode="auto">
                <a:xfrm>
                  <a:off x="4652" y="2592"/>
                  <a:ext cx="519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>
                    <a:defRPr/>
                  </a:pP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4</a:t>
                  </a: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sym typeface="Symbol" panose="05050102010706020507" pitchFamily="18" charset="2"/>
                    </a:rPr>
                    <a:t></a:t>
                  </a:r>
                  <a:endPara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</p:txBody>
            </p:sp>
            <p:sp>
              <p:nvSpPr>
                <p:cNvPr id="250959" name="Rectangle 79"/>
                <p:cNvSpPr>
                  <a:spLocks noChangeArrowheads="1"/>
                </p:cNvSpPr>
                <p:nvPr/>
              </p:nvSpPr>
              <p:spPr bwMode="auto">
                <a:xfrm>
                  <a:off x="4948" y="3236"/>
                  <a:ext cx="149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>
                    <a:defRPr/>
                  </a:pPr>
                  <a:r>
                    <a:rPr kumimoji="0" lang="en-US" altLang="zh-CN" sz="2400" i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C</a:t>
                  </a:r>
                  <a:endPara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</p:txBody>
            </p:sp>
            <p:sp>
              <p:nvSpPr>
                <p:cNvPr id="12332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3312" y="3552"/>
                  <a:ext cx="0" cy="4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33" name="Line 81"/>
                <p:cNvSpPr>
                  <a:spLocks noChangeShapeType="1"/>
                </p:cNvSpPr>
                <p:nvPr/>
              </p:nvSpPr>
              <p:spPr bwMode="auto">
                <a:xfrm>
                  <a:off x="3312" y="3984"/>
                  <a:ext cx="196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962" name="Rectangle 82"/>
                <p:cNvSpPr>
                  <a:spLocks noChangeArrowheads="1"/>
                </p:cNvSpPr>
                <p:nvPr/>
              </p:nvSpPr>
              <p:spPr bwMode="auto">
                <a:xfrm>
                  <a:off x="3613" y="2592"/>
                  <a:ext cx="519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>
                    <a:defRPr/>
                  </a:pP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1</a:t>
                  </a: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sym typeface="Symbol" panose="05050102010706020507" pitchFamily="18" charset="2"/>
                    </a:rPr>
                    <a:t></a:t>
                  </a:r>
                  <a:endPara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</p:txBody>
            </p:sp>
            <p:sp>
              <p:nvSpPr>
                <p:cNvPr id="250963" name="Rectangle 83"/>
                <p:cNvSpPr>
                  <a:spLocks noChangeArrowheads="1"/>
                </p:cNvSpPr>
                <p:nvPr/>
              </p:nvSpPr>
              <p:spPr bwMode="auto">
                <a:xfrm>
                  <a:off x="3391" y="3020"/>
                  <a:ext cx="370" cy="2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>
                    <a:defRPr/>
                  </a:pP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5A</a:t>
                  </a:r>
                </a:p>
              </p:txBody>
            </p:sp>
            <p:sp>
              <p:nvSpPr>
                <p:cNvPr id="250964" name="Rectangle 84"/>
                <p:cNvSpPr>
                  <a:spLocks noChangeArrowheads="1"/>
                </p:cNvSpPr>
                <p:nvPr/>
              </p:nvSpPr>
              <p:spPr bwMode="auto">
                <a:xfrm>
                  <a:off x="5393" y="3021"/>
                  <a:ext cx="223" cy="7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>
                    <a:defRPr/>
                  </a:pP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+</a:t>
                  </a:r>
                </a:p>
                <a:p>
                  <a:pPr algn="just">
                    <a:defRPr/>
                  </a:pPr>
                  <a:r>
                    <a:rPr kumimoji="0" lang="en-US" altLang="zh-CN" sz="2400" i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u</a:t>
                  </a:r>
                  <a:r>
                    <a:rPr kumimoji="0" lang="en-US" altLang="zh-CN" sz="2400" i="1" baseline="-250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c</a:t>
                  </a:r>
                  <a:endPara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  <a:p>
                  <a:pPr algn="just">
                    <a:defRPr/>
                  </a:pP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_</a:t>
                  </a:r>
                </a:p>
              </p:txBody>
            </p:sp>
            <p:sp>
              <p:nvSpPr>
                <p:cNvPr id="12337" name="Rectangle 85"/>
                <p:cNvSpPr>
                  <a:spLocks noChangeArrowheads="1"/>
                </p:cNvSpPr>
                <p:nvPr/>
              </p:nvSpPr>
              <p:spPr bwMode="auto">
                <a:xfrm>
                  <a:off x="4192" y="3552"/>
                  <a:ext cx="128" cy="28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1800"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12338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3316" y="2878"/>
                  <a:ext cx="29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39" name="Oval 87"/>
                <p:cNvSpPr>
                  <a:spLocks noChangeArrowheads="1"/>
                </p:cNvSpPr>
                <p:nvPr/>
              </p:nvSpPr>
              <p:spPr bwMode="auto">
                <a:xfrm>
                  <a:off x="3159" y="3236"/>
                  <a:ext cx="297" cy="287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1800"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12340" name="Line 88"/>
                <p:cNvSpPr>
                  <a:spLocks noChangeShapeType="1"/>
                </p:cNvSpPr>
                <p:nvPr/>
              </p:nvSpPr>
              <p:spPr bwMode="auto">
                <a:xfrm>
                  <a:off x="3910" y="2878"/>
                  <a:ext cx="74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1" name="Line 89"/>
                <p:cNvSpPr>
                  <a:spLocks noChangeShapeType="1"/>
                </p:cNvSpPr>
                <p:nvPr/>
              </p:nvSpPr>
              <p:spPr bwMode="auto">
                <a:xfrm>
                  <a:off x="5280" y="2878"/>
                  <a:ext cx="0" cy="4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2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4272" y="288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3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4272" y="336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4" name="Line 92"/>
                <p:cNvSpPr>
                  <a:spLocks noChangeShapeType="1"/>
                </p:cNvSpPr>
                <p:nvPr/>
              </p:nvSpPr>
              <p:spPr bwMode="auto">
                <a:xfrm>
                  <a:off x="3168" y="3379"/>
                  <a:ext cx="297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973" name="Rectangle 93"/>
                <p:cNvSpPr>
                  <a:spLocks noChangeArrowheads="1"/>
                </p:cNvSpPr>
                <p:nvPr/>
              </p:nvSpPr>
              <p:spPr bwMode="auto">
                <a:xfrm>
                  <a:off x="4429" y="3523"/>
                  <a:ext cx="519" cy="2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>
                    <a:defRPr/>
                  </a:pP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3</a:t>
                  </a: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sym typeface="Symbol" panose="05050102010706020507" pitchFamily="18" charset="2"/>
                    </a:rPr>
                    <a:t></a:t>
                  </a:r>
                  <a:endPara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</p:txBody>
            </p:sp>
            <p:sp>
              <p:nvSpPr>
                <p:cNvPr id="250974" name="Rectangle 94"/>
                <p:cNvSpPr>
                  <a:spLocks noChangeArrowheads="1"/>
                </p:cNvSpPr>
                <p:nvPr/>
              </p:nvSpPr>
              <p:spPr bwMode="auto">
                <a:xfrm>
                  <a:off x="4429" y="3021"/>
                  <a:ext cx="519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>
                    <a:defRPr/>
                  </a:pP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2</a:t>
                  </a:r>
                  <a:r>
                    <a:rPr kumimoji="0" lang="en-US" altLang="zh-CN" sz="24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sym typeface="Symbol" panose="05050102010706020507" pitchFamily="18" charset="2"/>
                    </a:rPr>
                    <a:t></a:t>
                  </a:r>
                  <a:endPara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</p:txBody>
            </p:sp>
            <p:sp>
              <p:nvSpPr>
                <p:cNvPr id="12347" name="Line 95"/>
                <p:cNvSpPr>
                  <a:spLocks noChangeShapeType="1"/>
                </p:cNvSpPr>
                <p:nvPr/>
              </p:nvSpPr>
              <p:spPr bwMode="auto">
                <a:xfrm>
                  <a:off x="3316" y="2950"/>
                  <a:ext cx="0" cy="215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28" name="Rectangle 96"/>
              <p:cNvSpPr>
                <a:spLocks noChangeArrowheads="1"/>
              </p:cNvSpPr>
              <p:nvPr/>
            </p:nvSpPr>
            <p:spPr bwMode="auto">
              <a:xfrm>
                <a:off x="4192" y="3074"/>
                <a:ext cx="128" cy="28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1800">
                  <a:ea typeface="隶书" panose="02010509060101010101" pitchFamily="49" charset="-122"/>
                </a:endParaRPr>
              </a:p>
            </p:txBody>
          </p:sp>
          <p:sp>
            <p:nvSpPr>
              <p:cNvPr id="12329" name="Line 97"/>
              <p:cNvSpPr>
                <a:spLocks noChangeShapeType="1"/>
              </p:cNvSpPr>
              <p:nvPr/>
            </p:nvSpPr>
            <p:spPr bwMode="auto">
              <a:xfrm>
                <a:off x="4272" y="384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25" name="Line 100"/>
            <p:cNvSpPr>
              <a:spLocks noChangeShapeType="1"/>
            </p:cNvSpPr>
            <p:nvPr/>
          </p:nvSpPr>
          <p:spPr bwMode="auto">
            <a:xfrm flipV="1">
              <a:off x="367" y="1706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0983" name="Group 103"/>
          <p:cNvGrpSpPr>
            <a:grpSpLocks/>
          </p:cNvGrpSpPr>
          <p:nvPr/>
        </p:nvGrpSpPr>
        <p:grpSpPr bwMode="auto">
          <a:xfrm>
            <a:off x="4787900" y="1651000"/>
            <a:ext cx="4191000" cy="2209800"/>
            <a:chOff x="2971" y="1240"/>
            <a:chExt cx="2640" cy="1392"/>
          </a:xfrm>
        </p:grpSpPr>
        <p:grpSp>
          <p:nvGrpSpPr>
            <p:cNvPr id="12298" name="Group 43"/>
            <p:cNvGrpSpPr>
              <a:grpSpLocks/>
            </p:cNvGrpSpPr>
            <p:nvPr/>
          </p:nvGrpSpPr>
          <p:grpSpPr bwMode="auto">
            <a:xfrm>
              <a:off x="2971" y="1240"/>
              <a:ext cx="2640" cy="1392"/>
              <a:chOff x="240" y="2592"/>
              <a:chExt cx="2640" cy="1392"/>
            </a:xfrm>
          </p:grpSpPr>
          <p:sp>
            <p:nvSpPr>
              <p:cNvPr id="250924" name="Rectangle 44"/>
              <p:cNvSpPr>
                <a:spLocks noChangeArrowheads="1"/>
              </p:cNvSpPr>
              <p:nvPr/>
            </p:nvSpPr>
            <p:spPr bwMode="auto">
              <a:xfrm>
                <a:off x="1572" y="2592"/>
                <a:ext cx="466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>
                  <a:defRPr/>
                </a:pP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</a:t>
                </a: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Symbol" panose="05050102010706020507" pitchFamily="18" charset="2"/>
                  </a:rPr>
                  <a:t></a:t>
                </a:r>
                <a:endParaRPr kumimoji="0"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2301" name="Line 45"/>
              <p:cNvSpPr>
                <a:spLocks noChangeShapeType="1"/>
              </p:cNvSpPr>
              <p:nvPr/>
            </p:nvSpPr>
            <p:spPr bwMode="auto">
              <a:xfrm>
                <a:off x="2105" y="3546"/>
                <a:ext cx="0" cy="4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2" name="Line 46"/>
              <p:cNvSpPr>
                <a:spLocks noChangeShapeType="1"/>
              </p:cNvSpPr>
              <p:nvPr/>
            </p:nvSpPr>
            <p:spPr bwMode="auto">
              <a:xfrm>
                <a:off x="373" y="3544"/>
                <a:ext cx="0" cy="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3" name="Line 47"/>
              <p:cNvSpPr>
                <a:spLocks noChangeShapeType="1"/>
              </p:cNvSpPr>
              <p:nvPr/>
            </p:nvSpPr>
            <p:spPr bwMode="auto">
              <a:xfrm>
                <a:off x="373" y="3984"/>
                <a:ext cx="17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4" name="Line 48"/>
              <p:cNvSpPr>
                <a:spLocks noChangeShapeType="1"/>
              </p:cNvSpPr>
              <p:nvPr/>
            </p:nvSpPr>
            <p:spPr bwMode="auto">
              <a:xfrm>
                <a:off x="1239" y="3837"/>
                <a:ext cx="0" cy="1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929" name="Rectangle 49"/>
              <p:cNvSpPr>
                <a:spLocks noChangeArrowheads="1"/>
              </p:cNvSpPr>
              <p:nvPr/>
            </p:nvSpPr>
            <p:spPr bwMode="auto">
              <a:xfrm>
                <a:off x="640" y="2592"/>
                <a:ext cx="466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>
                  <a:defRPr/>
                </a:pP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Symbol" panose="05050102010706020507" pitchFamily="18" charset="2"/>
                  </a:rPr>
                  <a:t></a:t>
                </a:r>
                <a:endParaRPr kumimoji="0"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50930" name="Rectangle 50"/>
              <p:cNvSpPr>
                <a:spLocks noChangeArrowheads="1"/>
              </p:cNvSpPr>
              <p:nvPr/>
            </p:nvSpPr>
            <p:spPr bwMode="auto">
              <a:xfrm>
                <a:off x="440" y="3030"/>
                <a:ext cx="333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>
                  <a:defRPr/>
                </a:pP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5A</a:t>
                </a:r>
              </a:p>
            </p:txBody>
          </p:sp>
          <p:sp>
            <p:nvSpPr>
              <p:cNvPr id="250931" name="Rectangle 51"/>
              <p:cNvSpPr>
                <a:spLocks noChangeArrowheads="1"/>
              </p:cNvSpPr>
              <p:nvPr/>
            </p:nvSpPr>
            <p:spPr bwMode="auto">
              <a:xfrm>
                <a:off x="2120" y="3035"/>
                <a:ext cx="760" cy="7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>
                  <a:defRPr/>
                </a:pP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+</a:t>
                </a:r>
              </a:p>
              <a:p>
                <a:pPr algn="just">
                  <a:defRPr/>
                </a:pPr>
                <a:r>
                  <a:rPr kumimoji="0" lang="en-US" altLang="zh-CN" sz="2400" i="1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u</a:t>
                </a:r>
                <a:r>
                  <a:rPr kumimoji="0" lang="en-US" altLang="zh-CN" sz="2400" i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c</a:t>
                </a: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=25V</a:t>
                </a:r>
              </a:p>
              <a:p>
                <a:pPr algn="just">
                  <a:defRPr/>
                </a:pP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_</a:t>
                </a:r>
              </a:p>
            </p:txBody>
          </p:sp>
          <p:sp>
            <p:nvSpPr>
              <p:cNvPr id="12308" name="Rectangle 52"/>
              <p:cNvSpPr>
                <a:spLocks noChangeArrowheads="1"/>
              </p:cNvSpPr>
              <p:nvPr/>
            </p:nvSpPr>
            <p:spPr bwMode="auto">
              <a:xfrm>
                <a:off x="1172" y="3032"/>
                <a:ext cx="117" cy="29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1800">
                  <a:ea typeface="隶书" panose="02010509060101010101" pitchFamily="49" charset="-122"/>
                </a:endParaRPr>
              </a:p>
            </p:txBody>
          </p:sp>
          <p:sp>
            <p:nvSpPr>
              <p:cNvPr id="12309" name="Rectangle 53"/>
              <p:cNvSpPr>
                <a:spLocks noChangeArrowheads="1"/>
              </p:cNvSpPr>
              <p:nvPr/>
            </p:nvSpPr>
            <p:spPr bwMode="auto">
              <a:xfrm>
                <a:off x="1572" y="2812"/>
                <a:ext cx="266" cy="1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1800">
                  <a:ea typeface="隶书" panose="02010509060101010101" pitchFamily="49" charset="-122"/>
                </a:endParaRPr>
              </a:p>
            </p:txBody>
          </p:sp>
          <p:sp>
            <p:nvSpPr>
              <p:cNvPr id="12310" name="Rectangle 54"/>
              <p:cNvSpPr>
                <a:spLocks noChangeArrowheads="1"/>
              </p:cNvSpPr>
              <p:nvPr/>
            </p:nvSpPr>
            <p:spPr bwMode="auto">
              <a:xfrm>
                <a:off x="640" y="2812"/>
                <a:ext cx="266" cy="1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1800">
                  <a:ea typeface="隶书" panose="02010509060101010101" pitchFamily="49" charset="-122"/>
                </a:endParaRPr>
              </a:p>
            </p:txBody>
          </p:sp>
          <p:sp>
            <p:nvSpPr>
              <p:cNvPr id="12311" name="Rectangle 55"/>
              <p:cNvSpPr>
                <a:spLocks noChangeArrowheads="1"/>
              </p:cNvSpPr>
              <p:nvPr/>
            </p:nvSpPr>
            <p:spPr bwMode="auto">
              <a:xfrm>
                <a:off x="1172" y="3544"/>
                <a:ext cx="117" cy="29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1800">
                  <a:ea typeface="隶书" panose="02010509060101010101" pitchFamily="49" charset="-122"/>
                </a:endParaRPr>
              </a:p>
            </p:txBody>
          </p:sp>
          <p:sp>
            <p:nvSpPr>
              <p:cNvPr id="12312" name="Line 56"/>
              <p:cNvSpPr>
                <a:spLocks noChangeShapeType="1"/>
              </p:cNvSpPr>
              <p:nvPr/>
            </p:nvSpPr>
            <p:spPr bwMode="auto">
              <a:xfrm flipH="1">
                <a:off x="373" y="2885"/>
                <a:ext cx="2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3" name="Oval 57"/>
              <p:cNvSpPr>
                <a:spLocks noChangeArrowheads="1"/>
              </p:cNvSpPr>
              <p:nvPr/>
            </p:nvSpPr>
            <p:spPr bwMode="auto">
              <a:xfrm>
                <a:off x="240" y="3251"/>
                <a:ext cx="266" cy="29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1800">
                  <a:ea typeface="隶书" panose="02010509060101010101" pitchFamily="49" charset="-122"/>
                </a:endParaRPr>
              </a:p>
            </p:txBody>
          </p:sp>
          <p:sp>
            <p:nvSpPr>
              <p:cNvPr id="12314" name="Line 58"/>
              <p:cNvSpPr>
                <a:spLocks noChangeShapeType="1"/>
              </p:cNvSpPr>
              <p:nvPr/>
            </p:nvSpPr>
            <p:spPr bwMode="auto">
              <a:xfrm>
                <a:off x="906" y="2885"/>
                <a:ext cx="6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5" name="Line 59"/>
              <p:cNvSpPr>
                <a:spLocks noChangeShapeType="1"/>
              </p:cNvSpPr>
              <p:nvPr/>
            </p:nvSpPr>
            <p:spPr bwMode="auto">
              <a:xfrm>
                <a:off x="1838" y="2885"/>
                <a:ext cx="2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6" name="Line 60"/>
              <p:cNvSpPr>
                <a:spLocks noChangeShapeType="1"/>
              </p:cNvSpPr>
              <p:nvPr/>
            </p:nvSpPr>
            <p:spPr bwMode="auto">
              <a:xfrm>
                <a:off x="2105" y="2885"/>
                <a:ext cx="0" cy="2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7" name="Line 61"/>
              <p:cNvSpPr>
                <a:spLocks noChangeShapeType="1"/>
              </p:cNvSpPr>
              <p:nvPr/>
            </p:nvSpPr>
            <p:spPr bwMode="auto">
              <a:xfrm>
                <a:off x="1239" y="2885"/>
                <a:ext cx="0" cy="1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8" name="Line 62"/>
              <p:cNvSpPr>
                <a:spLocks noChangeShapeType="1"/>
              </p:cNvSpPr>
              <p:nvPr/>
            </p:nvSpPr>
            <p:spPr bwMode="auto">
              <a:xfrm>
                <a:off x="1239" y="3325"/>
                <a:ext cx="0" cy="2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9" name="Line 63"/>
              <p:cNvSpPr>
                <a:spLocks noChangeShapeType="1"/>
              </p:cNvSpPr>
              <p:nvPr/>
            </p:nvSpPr>
            <p:spPr bwMode="auto">
              <a:xfrm>
                <a:off x="240" y="3398"/>
                <a:ext cx="26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944" name="Rectangle 64"/>
              <p:cNvSpPr>
                <a:spLocks noChangeArrowheads="1"/>
              </p:cNvSpPr>
              <p:nvPr/>
            </p:nvSpPr>
            <p:spPr bwMode="auto">
              <a:xfrm>
                <a:off x="1372" y="3544"/>
                <a:ext cx="466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>
                  <a:defRPr/>
                </a:pP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Symbol" panose="05050102010706020507" pitchFamily="18" charset="2"/>
                  </a:rPr>
                  <a:t></a:t>
                </a:r>
                <a:endParaRPr kumimoji="0"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50945" name="Rectangle 65"/>
              <p:cNvSpPr>
                <a:spLocks noChangeArrowheads="1"/>
              </p:cNvSpPr>
              <p:nvPr/>
            </p:nvSpPr>
            <p:spPr bwMode="auto">
              <a:xfrm>
                <a:off x="1372" y="3032"/>
                <a:ext cx="466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>
                  <a:defRPr/>
                </a:pP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r>
                  <a:rPr kumimoji="0" lang="en-US" altLang="zh-CN" sz="2400"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Symbol" panose="05050102010706020507" pitchFamily="18" charset="2"/>
                  </a:rPr>
                  <a:t></a:t>
                </a:r>
                <a:endParaRPr kumimoji="0" lang="en-US" altLang="zh-CN" sz="24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2322" name="Line 66"/>
              <p:cNvSpPr>
                <a:spLocks noChangeShapeType="1"/>
              </p:cNvSpPr>
              <p:nvPr/>
            </p:nvSpPr>
            <p:spPr bwMode="auto">
              <a:xfrm>
                <a:off x="373" y="2885"/>
                <a:ext cx="0" cy="3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3" name="Line 67"/>
              <p:cNvSpPr>
                <a:spLocks noChangeShapeType="1"/>
              </p:cNvSpPr>
              <p:nvPr/>
            </p:nvSpPr>
            <p:spPr bwMode="auto">
              <a:xfrm>
                <a:off x="373" y="2958"/>
                <a:ext cx="0" cy="22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round/>
                    <a:headEnd type="triangl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299" name="Line 101"/>
            <p:cNvSpPr>
              <a:spLocks noChangeShapeType="1"/>
            </p:cNvSpPr>
            <p:nvPr/>
          </p:nvSpPr>
          <p:spPr bwMode="auto">
            <a:xfrm flipV="1">
              <a:off x="3107" y="1706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" name="Rectangle 6"/>
          <p:cNvSpPr txBox="1">
            <a:spLocks noChangeArrowheads="1"/>
          </p:cNvSpPr>
          <p:nvPr/>
        </p:nvSpPr>
        <p:spPr bwMode="auto">
          <a:xfrm>
            <a:off x="152400" y="115888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7.2  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电容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682" y="4904764"/>
            <a:ext cx="8032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直流稳态</a:t>
            </a:r>
            <a:r>
              <a:rPr lang="zh-CN" altLang="en-US" sz="2400" dirty="0"/>
              <a:t>电路中的电容相当于开路，其电流为</a:t>
            </a:r>
            <a:r>
              <a:rPr lang="en-US" altLang="zh-CN" sz="2400" dirty="0"/>
              <a:t>0</a:t>
            </a:r>
            <a:r>
              <a:rPr lang="zh-CN" altLang="en-US" sz="2400" dirty="0"/>
              <a:t>，电压恒定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0D1137-1DE0-43E5-89FF-327023A694A2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A98042-0987-4C59-8C0D-A45C359F3802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0245" name="Text Box 56"/>
          <p:cNvSpPr txBox="1">
            <a:spLocks noChangeArrowheads="1"/>
          </p:cNvSpPr>
          <p:nvPr/>
        </p:nvSpPr>
        <p:spPr bwMode="auto">
          <a:xfrm>
            <a:off x="1635125" y="44450"/>
            <a:ext cx="5013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0" lang="en-US" altLang="zh-CN" sz="2800">
                <a:ea typeface="宋体" panose="02010600030101010101" pitchFamily="2" charset="-122"/>
              </a:rPr>
              <a:t>Find the voltage of the capacitor.</a:t>
            </a:r>
            <a:endParaRPr kumimoji="0" lang="zh-CN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10246" name="Object 57"/>
          <p:cNvGraphicFramePr>
            <a:graphicFrameLocks noChangeAspect="1"/>
          </p:cNvGraphicFramePr>
          <p:nvPr/>
        </p:nvGraphicFramePr>
        <p:xfrm>
          <a:off x="6443663" y="74613"/>
          <a:ext cx="17287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54285" imgH="209632" progId="Equation.3">
                  <p:embed/>
                </p:oleObj>
              </mc:Choice>
              <mc:Fallback>
                <p:oleObj name="公式" r:id="rId2" imgW="754285" imgH="209632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74613"/>
                        <a:ext cx="17287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7" name="Group 80"/>
          <p:cNvGrpSpPr>
            <a:grpSpLocks/>
          </p:cNvGrpSpPr>
          <p:nvPr/>
        </p:nvGrpSpPr>
        <p:grpSpPr bwMode="auto">
          <a:xfrm>
            <a:off x="5680075" y="404813"/>
            <a:ext cx="3429000" cy="2271712"/>
            <a:chOff x="288" y="1056"/>
            <a:chExt cx="2160" cy="1431"/>
          </a:xfrm>
        </p:grpSpPr>
        <p:sp>
          <p:nvSpPr>
            <p:cNvPr id="10300" name="Line 81"/>
            <p:cNvSpPr>
              <a:spLocks noChangeShapeType="1"/>
            </p:cNvSpPr>
            <p:nvPr/>
          </p:nvSpPr>
          <p:spPr bwMode="auto">
            <a:xfrm>
              <a:off x="672" y="1920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01" name="Group 82"/>
            <p:cNvGrpSpPr>
              <a:grpSpLocks/>
            </p:cNvGrpSpPr>
            <p:nvPr/>
          </p:nvGrpSpPr>
          <p:grpSpPr bwMode="auto">
            <a:xfrm>
              <a:off x="672" y="1536"/>
              <a:ext cx="1008" cy="672"/>
              <a:chOff x="672" y="1536"/>
              <a:chExt cx="1008" cy="672"/>
            </a:xfrm>
          </p:grpSpPr>
          <p:sp>
            <p:nvSpPr>
              <p:cNvPr id="10319" name="Line 83"/>
              <p:cNvSpPr>
                <a:spLocks noChangeShapeType="1"/>
              </p:cNvSpPr>
              <p:nvPr/>
            </p:nvSpPr>
            <p:spPr bwMode="auto">
              <a:xfrm flipH="1">
                <a:off x="672" y="1536"/>
                <a:ext cx="672" cy="67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20" name="Line 84"/>
              <p:cNvSpPr>
                <a:spLocks noChangeShapeType="1"/>
              </p:cNvSpPr>
              <p:nvPr/>
            </p:nvSpPr>
            <p:spPr bwMode="auto">
              <a:xfrm>
                <a:off x="1344" y="1536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21" name="Line 85"/>
              <p:cNvSpPr>
                <a:spLocks noChangeShapeType="1"/>
              </p:cNvSpPr>
              <p:nvPr/>
            </p:nvSpPr>
            <p:spPr bwMode="auto">
              <a:xfrm>
                <a:off x="1680" y="1536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02" name="Group 86"/>
            <p:cNvGrpSpPr>
              <a:grpSpLocks/>
            </p:cNvGrpSpPr>
            <p:nvPr/>
          </p:nvGrpSpPr>
          <p:grpSpPr bwMode="auto">
            <a:xfrm>
              <a:off x="288" y="1056"/>
              <a:ext cx="2160" cy="1431"/>
              <a:chOff x="288" y="1056"/>
              <a:chExt cx="2160" cy="1431"/>
            </a:xfrm>
          </p:grpSpPr>
          <p:grpSp>
            <p:nvGrpSpPr>
              <p:cNvPr id="10303" name="Group 87"/>
              <p:cNvGrpSpPr>
                <a:grpSpLocks/>
              </p:cNvGrpSpPr>
              <p:nvPr/>
            </p:nvGrpSpPr>
            <p:grpSpPr bwMode="auto">
              <a:xfrm>
                <a:off x="480" y="1200"/>
                <a:ext cx="1776" cy="1248"/>
                <a:chOff x="480" y="1200"/>
                <a:chExt cx="1776" cy="1248"/>
              </a:xfrm>
            </p:grpSpPr>
            <p:sp>
              <p:nvSpPr>
                <p:cNvPr id="10312" name="Line 88"/>
                <p:cNvSpPr>
                  <a:spLocks noChangeShapeType="1"/>
                </p:cNvSpPr>
                <p:nvPr/>
              </p:nvSpPr>
              <p:spPr bwMode="auto">
                <a:xfrm>
                  <a:off x="480" y="2208"/>
                  <a:ext cx="17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3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672" y="1200"/>
                  <a:ext cx="0" cy="1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4" name="Line 90"/>
                <p:cNvSpPr>
                  <a:spLocks noChangeShapeType="1"/>
                </p:cNvSpPr>
                <p:nvPr/>
              </p:nvSpPr>
              <p:spPr bwMode="auto">
                <a:xfrm>
                  <a:off x="672" y="187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5" name="Line 91"/>
                <p:cNvSpPr>
                  <a:spLocks noChangeShapeType="1"/>
                </p:cNvSpPr>
                <p:nvPr/>
              </p:nvSpPr>
              <p:spPr bwMode="auto">
                <a:xfrm>
                  <a:off x="672" y="1536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6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1008" y="2112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7" name="Line 93"/>
                <p:cNvSpPr>
                  <a:spLocks noChangeShapeType="1"/>
                </p:cNvSpPr>
                <p:nvPr/>
              </p:nvSpPr>
              <p:spPr bwMode="auto">
                <a:xfrm flipV="1">
                  <a:off x="1344" y="2112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8" name="Line 94"/>
                <p:cNvSpPr>
                  <a:spLocks noChangeShapeType="1"/>
                </p:cNvSpPr>
                <p:nvPr/>
              </p:nvSpPr>
              <p:spPr bwMode="auto">
                <a:xfrm flipV="1">
                  <a:off x="1680" y="2112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304" name="Text Box 95"/>
              <p:cNvSpPr txBox="1">
                <a:spLocks noChangeArrowheads="1"/>
              </p:cNvSpPr>
              <p:nvPr/>
            </p:nvSpPr>
            <p:spPr bwMode="auto">
              <a:xfrm>
                <a:off x="470" y="1344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305" name="Text Box 96"/>
              <p:cNvSpPr txBox="1">
                <a:spLocks noChangeArrowheads="1"/>
              </p:cNvSpPr>
              <p:nvPr/>
            </p:nvSpPr>
            <p:spPr bwMode="auto">
              <a:xfrm>
                <a:off x="288" y="1680"/>
                <a:ext cx="72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>
                    <a:ea typeface="宋体" panose="02010600030101010101" pitchFamily="2" charset="-122"/>
                  </a:rPr>
                  <a:t>0.5</a:t>
                </a:r>
              </a:p>
            </p:txBody>
          </p:sp>
          <p:sp>
            <p:nvSpPr>
              <p:cNvPr id="10306" name="Text Box 97"/>
              <p:cNvSpPr txBox="1">
                <a:spLocks noChangeArrowheads="1"/>
              </p:cNvSpPr>
              <p:nvPr/>
            </p:nvSpPr>
            <p:spPr bwMode="auto">
              <a:xfrm>
                <a:off x="1248" y="216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0307" name="Text Box 98"/>
              <p:cNvSpPr txBox="1">
                <a:spLocks noChangeArrowheads="1"/>
              </p:cNvSpPr>
              <p:nvPr/>
            </p:nvSpPr>
            <p:spPr bwMode="auto">
              <a:xfrm>
                <a:off x="1584" y="216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0308" name="Text Box 99"/>
              <p:cNvSpPr txBox="1">
                <a:spLocks noChangeArrowheads="1"/>
              </p:cNvSpPr>
              <p:nvPr/>
            </p:nvSpPr>
            <p:spPr bwMode="auto">
              <a:xfrm>
                <a:off x="2064" y="216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 i="1">
                    <a:ea typeface="宋体" panose="02010600030101010101" pitchFamily="2" charset="-122"/>
                  </a:rPr>
                  <a:t>t</a:t>
                </a:r>
                <a:r>
                  <a:rPr kumimoji="0" lang="en-US" altLang="zh-CN" sz="2800">
                    <a:ea typeface="宋体" panose="02010600030101010101" pitchFamily="2" charset="-122"/>
                  </a:rPr>
                  <a:t>/s</a:t>
                </a:r>
              </a:p>
            </p:txBody>
          </p:sp>
          <p:sp>
            <p:nvSpPr>
              <p:cNvPr id="10309" name="Text Box 100"/>
              <p:cNvSpPr txBox="1">
                <a:spLocks noChangeArrowheads="1"/>
              </p:cNvSpPr>
              <p:nvPr/>
            </p:nvSpPr>
            <p:spPr bwMode="auto">
              <a:xfrm>
                <a:off x="864" y="216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310" name="Text Box 101"/>
              <p:cNvSpPr txBox="1">
                <a:spLocks noChangeArrowheads="1"/>
              </p:cNvSpPr>
              <p:nvPr/>
            </p:nvSpPr>
            <p:spPr bwMode="auto">
              <a:xfrm>
                <a:off x="470" y="216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311" name="Text Box 102"/>
              <p:cNvSpPr txBox="1">
                <a:spLocks noChangeArrowheads="1"/>
              </p:cNvSpPr>
              <p:nvPr/>
            </p:nvSpPr>
            <p:spPr bwMode="auto">
              <a:xfrm>
                <a:off x="672" y="1056"/>
                <a:ext cx="4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 i="1">
                    <a:ea typeface="宋体" panose="02010600030101010101" pitchFamily="2" charset="-122"/>
                  </a:rPr>
                  <a:t>i</a:t>
                </a:r>
                <a:r>
                  <a:rPr kumimoji="0" lang="en-US" altLang="zh-CN" sz="2800" baseline="-25000">
                    <a:ea typeface="宋体" panose="02010600030101010101" pitchFamily="2" charset="-122"/>
                  </a:rPr>
                  <a:t>s</a:t>
                </a:r>
                <a:r>
                  <a:rPr kumimoji="0" lang="en-US" altLang="zh-CN" sz="2800">
                    <a:ea typeface="宋体" panose="02010600030101010101" pitchFamily="2" charset="-122"/>
                  </a:rPr>
                  <a:t>/A</a:t>
                </a:r>
              </a:p>
            </p:txBody>
          </p:sp>
        </p:grpSp>
      </p:grpSp>
      <p:sp>
        <p:nvSpPr>
          <p:cNvPr id="10248" name="Rectangle 103"/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458200" cy="457200"/>
          </a:xfrm>
          <a:noFill/>
        </p:spPr>
        <p:txBody>
          <a:bodyPr lIns="92075" tIns="46038" rIns="92075" bIns="46038"/>
          <a:lstStyle/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folHlink"/>
                </a:solidFill>
                <a:ea typeface="幼圆" panose="02010509060101010101" pitchFamily="49" charset="-122"/>
              </a:rPr>
              <a:t>Practice</a:t>
            </a:r>
          </a:p>
        </p:txBody>
      </p:sp>
      <p:grpSp>
        <p:nvGrpSpPr>
          <p:cNvPr id="249960" name="Group 104"/>
          <p:cNvGrpSpPr>
            <a:grpSpLocks/>
          </p:cNvGrpSpPr>
          <p:nvPr/>
        </p:nvGrpSpPr>
        <p:grpSpPr bwMode="auto">
          <a:xfrm>
            <a:off x="5535613" y="4397375"/>
            <a:ext cx="3429000" cy="2271713"/>
            <a:chOff x="3105" y="2596"/>
            <a:chExt cx="2160" cy="1431"/>
          </a:xfrm>
        </p:grpSpPr>
        <p:sp>
          <p:nvSpPr>
            <p:cNvPr id="10274" name="Line 105"/>
            <p:cNvSpPr>
              <a:spLocks noChangeShapeType="1"/>
            </p:cNvSpPr>
            <p:nvPr/>
          </p:nvSpPr>
          <p:spPr bwMode="auto">
            <a:xfrm>
              <a:off x="4486" y="3076"/>
              <a:ext cx="72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75" name="Group 106"/>
            <p:cNvGrpSpPr>
              <a:grpSpLocks/>
            </p:cNvGrpSpPr>
            <p:nvPr/>
          </p:nvGrpSpPr>
          <p:grpSpPr bwMode="auto">
            <a:xfrm>
              <a:off x="3105" y="2596"/>
              <a:ext cx="2160" cy="1431"/>
              <a:chOff x="288" y="2592"/>
              <a:chExt cx="2160" cy="1431"/>
            </a:xfrm>
          </p:grpSpPr>
          <p:sp>
            <p:nvSpPr>
              <p:cNvPr id="10278" name="Text Box 107"/>
              <p:cNvSpPr txBox="1">
                <a:spLocks noChangeArrowheads="1"/>
              </p:cNvSpPr>
              <p:nvPr/>
            </p:nvSpPr>
            <p:spPr bwMode="auto">
              <a:xfrm>
                <a:off x="470" y="2880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algn="just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800">
                    <a:ea typeface="宋体" panose="02010600030101010101" pitchFamily="2" charset="-122"/>
                  </a:rPr>
                  <a:t>1</a:t>
                </a:r>
              </a:p>
            </p:txBody>
          </p:sp>
          <p:grpSp>
            <p:nvGrpSpPr>
              <p:cNvPr id="10279" name="Group 108"/>
              <p:cNvGrpSpPr>
                <a:grpSpLocks/>
              </p:cNvGrpSpPr>
              <p:nvPr/>
            </p:nvGrpSpPr>
            <p:grpSpPr bwMode="auto">
              <a:xfrm>
                <a:off x="288" y="2592"/>
                <a:ext cx="2160" cy="1431"/>
                <a:chOff x="288" y="2592"/>
                <a:chExt cx="2160" cy="1431"/>
              </a:xfrm>
            </p:grpSpPr>
            <p:sp>
              <p:nvSpPr>
                <p:cNvPr id="1028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88" y="3216"/>
                  <a:ext cx="720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195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2800">
                      <a:ea typeface="宋体" panose="02010600030101010101" pitchFamily="2" charset="-122"/>
                    </a:rPr>
                    <a:t>0.5</a:t>
                  </a:r>
                </a:p>
              </p:txBody>
            </p:sp>
            <p:sp>
              <p:nvSpPr>
                <p:cNvPr id="10281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1248" y="3696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195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2800"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10282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1584" y="3696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195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2800"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10283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2064" y="3696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195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2800" i="1">
                      <a:ea typeface="宋体" panose="02010600030101010101" pitchFamily="2" charset="-122"/>
                    </a:rPr>
                    <a:t>t</a:t>
                  </a:r>
                  <a:r>
                    <a:rPr kumimoji="0" lang="en-US" altLang="zh-CN" sz="2800">
                      <a:ea typeface="宋体" panose="02010600030101010101" pitchFamily="2" charset="-122"/>
                    </a:rPr>
                    <a:t>/s</a:t>
                  </a:r>
                </a:p>
              </p:txBody>
            </p:sp>
            <p:sp>
              <p:nvSpPr>
                <p:cNvPr id="10284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864" y="3696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195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2800"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10285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470" y="3696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195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2800"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0286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672" y="2592"/>
                  <a:ext cx="576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195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宋体" panose="02010600040101010101" pitchFamily="2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2800" i="1">
                      <a:ea typeface="宋体" panose="02010600030101010101" pitchFamily="2" charset="-122"/>
                    </a:rPr>
                    <a:t>u</a:t>
                  </a:r>
                  <a:r>
                    <a:rPr kumimoji="0" lang="en-US" altLang="zh-CN" sz="2800">
                      <a:ea typeface="宋体" panose="02010600030101010101" pitchFamily="2" charset="-122"/>
                    </a:rPr>
                    <a:t>/V</a:t>
                  </a:r>
                </a:p>
              </p:txBody>
            </p:sp>
            <p:grpSp>
              <p:nvGrpSpPr>
                <p:cNvPr id="10287" name="Group 116"/>
                <p:cNvGrpSpPr>
                  <a:grpSpLocks/>
                </p:cNvGrpSpPr>
                <p:nvPr/>
              </p:nvGrpSpPr>
              <p:grpSpPr bwMode="auto">
                <a:xfrm>
                  <a:off x="480" y="2736"/>
                  <a:ext cx="1776" cy="1248"/>
                  <a:chOff x="480" y="2736"/>
                  <a:chExt cx="1776" cy="1248"/>
                </a:xfrm>
              </p:grpSpPr>
              <p:sp>
                <p:nvSpPr>
                  <p:cNvPr id="10288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072"/>
                    <a:ext cx="91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89" name="Line 1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44" y="3072"/>
                    <a:ext cx="0" cy="57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0290" name="Group 119"/>
                  <p:cNvGrpSpPr>
                    <a:grpSpLocks/>
                  </p:cNvGrpSpPr>
                  <p:nvPr/>
                </p:nvGrpSpPr>
                <p:grpSpPr bwMode="auto">
                  <a:xfrm>
                    <a:off x="480" y="2736"/>
                    <a:ext cx="1776" cy="1248"/>
                    <a:chOff x="480" y="2736"/>
                    <a:chExt cx="1776" cy="1248"/>
                  </a:xfrm>
                </p:grpSpPr>
                <p:sp>
                  <p:nvSpPr>
                    <p:cNvPr id="10293" name="Line 1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0" y="3744"/>
                      <a:ext cx="17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4" name="Line 1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672" y="2736"/>
                      <a:ext cx="0" cy="124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5" name="Line 1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3408"/>
                      <a:ext cx="9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6" name="Line 1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3072"/>
                      <a:ext cx="9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7" name="Line 12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08" y="3648"/>
                      <a:ext cx="0" cy="9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8" name="Line 12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44" y="3648"/>
                      <a:ext cx="0" cy="9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9" name="Line 1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680" y="3648"/>
                      <a:ext cx="0" cy="9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291" name="Line 1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680" y="3072"/>
                    <a:ext cx="0" cy="57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2" name="Line 128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408"/>
                    <a:ext cx="91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10276" name="Freeform 129"/>
            <p:cNvSpPr>
              <a:spLocks/>
            </p:cNvSpPr>
            <p:nvPr/>
          </p:nvSpPr>
          <p:spPr bwMode="auto">
            <a:xfrm>
              <a:off x="3489" y="3411"/>
              <a:ext cx="671" cy="339"/>
            </a:xfrm>
            <a:custGeom>
              <a:avLst/>
              <a:gdLst>
                <a:gd name="T0" fmla="*/ 671 w 671"/>
                <a:gd name="T1" fmla="*/ 0 h 339"/>
                <a:gd name="T2" fmla="*/ 411 w 671"/>
                <a:gd name="T3" fmla="*/ 248 h 339"/>
                <a:gd name="T4" fmla="*/ 0 w 671"/>
                <a:gd name="T5" fmla="*/ 336 h 3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1" h="339">
                  <a:moveTo>
                    <a:pt x="671" y="0"/>
                  </a:moveTo>
                  <a:cubicBezTo>
                    <a:pt x="629" y="66"/>
                    <a:pt x="547" y="175"/>
                    <a:pt x="411" y="248"/>
                  </a:cubicBezTo>
                  <a:cubicBezTo>
                    <a:pt x="275" y="321"/>
                    <a:pt x="183" y="339"/>
                    <a:pt x="0" y="336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7" name="Line 130"/>
            <p:cNvSpPr>
              <a:spLocks noChangeShapeType="1"/>
            </p:cNvSpPr>
            <p:nvPr/>
          </p:nvSpPr>
          <p:spPr bwMode="auto">
            <a:xfrm flipV="1">
              <a:off x="4162" y="3076"/>
              <a:ext cx="336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250" name="Group 132"/>
          <p:cNvGrpSpPr>
            <a:grpSpLocks/>
          </p:cNvGrpSpPr>
          <p:nvPr/>
        </p:nvGrpSpPr>
        <p:grpSpPr bwMode="auto">
          <a:xfrm>
            <a:off x="2339975" y="908050"/>
            <a:ext cx="2590800" cy="1371600"/>
            <a:chOff x="0" y="2432"/>
            <a:chExt cx="1632" cy="864"/>
          </a:xfrm>
        </p:grpSpPr>
        <p:sp>
          <p:nvSpPr>
            <p:cNvPr id="10256" name="Line 60"/>
            <p:cNvSpPr>
              <a:spLocks noChangeShapeType="1"/>
            </p:cNvSpPr>
            <p:nvPr/>
          </p:nvSpPr>
          <p:spPr bwMode="auto">
            <a:xfrm>
              <a:off x="528" y="300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7" name="Text Box 62"/>
            <p:cNvSpPr txBox="1">
              <a:spLocks noChangeArrowheads="1"/>
            </p:cNvSpPr>
            <p:nvPr/>
          </p:nvSpPr>
          <p:spPr bwMode="auto">
            <a:xfrm>
              <a:off x="0" y="272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0" lang="en-US" altLang="zh-CN" i="1">
                  <a:ea typeface="宋体" panose="02010600030101010101" pitchFamily="2" charset="-122"/>
                </a:rPr>
                <a:t>i</a:t>
              </a:r>
              <a:r>
                <a:rPr kumimoji="0" lang="en-US" altLang="zh-CN" sz="1600" i="1">
                  <a:ea typeface="宋体" panose="02010600030101010101" pitchFamily="2" charset="-122"/>
                </a:rPr>
                <a:t>s</a:t>
              </a:r>
              <a:r>
                <a:rPr kumimoji="0" lang="en-US" altLang="zh-CN">
                  <a:ea typeface="宋体" panose="02010600030101010101" pitchFamily="2" charset="-122"/>
                </a:rPr>
                <a:t>(</a:t>
              </a:r>
              <a:r>
                <a:rPr kumimoji="0" lang="en-US" altLang="zh-CN" i="1">
                  <a:ea typeface="宋体" panose="02010600030101010101" pitchFamily="2" charset="-122"/>
                </a:rPr>
                <a:t>t</a:t>
              </a:r>
              <a:r>
                <a:rPr kumimoji="0" lang="en-US" altLang="zh-CN"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258" name="Line 64"/>
            <p:cNvSpPr>
              <a:spLocks noChangeShapeType="1"/>
            </p:cNvSpPr>
            <p:nvPr/>
          </p:nvSpPr>
          <p:spPr bwMode="auto">
            <a:xfrm>
              <a:off x="528" y="243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Line 65"/>
            <p:cNvSpPr>
              <a:spLocks noChangeShapeType="1"/>
            </p:cNvSpPr>
            <p:nvPr/>
          </p:nvSpPr>
          <p:spPr bwMode="auto">
            <a:xfrm>
              <a:off x="528" y="329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Oval 66"/>
            <p:cNvSpPr>
              <a:spLocks noChangeArrowheads="1"/>
            </p:cNvSpPr>
            <p:nvPr/>
          </p:nvSpPr>
          <p:spPr bwMode="auto">
            <a:xfrm>
              <a:off x="384" y="2720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ea typeface="隶书" panose="02010509060101010101" pitchFamily="49" charset="-122"/>
              </a:endParaRPr>
            </a:p>
          </p:txBody>
        </p:sp>
        <p:sp>
          <p:nvSpPr>
            <p:cNvPr id="10261" name="Line 67"/>
            <p:cNvSpPr>
              <a:spLocks noChangeShapeType="1"/>
            </p:cNvSpPr>
            <p:nvPr/>
          </p:nvSpPr>
          <p:spPr bwMode="auto">
            <a:xfrm>
              <a:off x="528" y="243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2" name="Line 68"/>
            <p:cNvSpPr>
              <a:spLocks noChangeShapeType="1"/>
            </p:cNvSpPr>
            <p:nvPr/>
          </p:nvSpPr>
          <p:spPr bwMode="auto">
            <a:xfrm rot="-5400000">
              <a:off x="528" y="272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Line 69"/>
            <p:cNvSpPr>
              <a:spLocks noChangeShapeType="1"/>
            </p:cNvSpPr>
            <p:nvPr/>
          </p:nvSpPr>
          <p:spPr bwMode="auto">
            <a:xfrm flipV="1">
              <a:off x="528" y="252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Line 71"/>
            <p:cNvSpPr>
              <a:spLocks noChangeShapeType="1"/>
            </p:cNvSpPr>
            <p:nvPr/>
          </p:nvSpPr>
          <p:spPr bwMode="auto">
            <a:xfrm>
              <a:off x="1296" y="24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Line 72"/>
            <p:cNvSpPr>
              <a:spLocks noChangeShapeType="1"/>
            </p:cNvSpPr>
            <p:nvPr/>
          </p:nvSpPr>
          <p:spPr bwMode="auto">
            <a:xfrm>
              <a:off x="1296" y="2912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66" name="Group 73"/>
            <p:cNvGrpSpPr>
              <a:grpSpLocks/>
            </p:cNvGrpSpPr>
            <p:nvPr/>
          </p:nvGrpSpPr>
          <p:grpSpPr bwMode="auto">
            <a:xfrm>
              <a:off x="1200" y="2768"/>
              <a:ext cx="192" cy="144"/>
              <a:chOff x="1296" y="1584"/>
              <a:chExt cx="192" cy="144"/>
            </a:xfrm>
          </p:grpSpPr>
          <p:sp>
            <p:nvSpPr>
              <p:cNvPr id="10272" name="Line 74"/>
              <p:cNvSpPr>
                <a:spLocks noChangeShapeType="1"/>
              </p:cNvSpPr>
              <p:nvPr/>
            </p:nvSpPr>
            <p:spPr bwMode="auto">
              <a:xfrm>
                <a:off x="1296" y="15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3" name="Line 75"/>
              <p:cNvSpPr>
                <a:spLocks noChangeShapeType="1"/>
              </p:cNvSpPr>
              <p:nvPr/>
            </p:nvSpPr>
            <p:spPr bwMode="auto">
              <a:xfrm>
                <a:off x="1296" y="172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67" name="Text Box 76"/>
            <p:cNvSpPr txBox="1">
              <a:spLocks noChangeArrowheads="1"/>
            </p:cNvSpPr>
            <p:nvPr/>
          </p:nvSpPr>
          <p:spPr bwMode="auto">
            <a:xfrm>
              <a:off x="912" y="272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0" lang="en-US" altLang="zh-CN">
                  <a:ea typeface="宋体" panose="02010600030101010101" pitchFamily="2" charset="-122"/>
                </a:rPr>
                <a:t>2F</a:t>
              </a:r>
            </a:p>
          </p:txBody>
        </p:sp>
        <p:sp>
          <p:nvSpPr>
            <p:cNvPr id="10268" name="Text Box 77"/>
            <p:cNvSpPr txBox="1">
              <a:spLocks noChangeArrowheads="1"/>
            </p:cNvSpPr>
            <p:nvPr/>
          </p:nvSpPr>
          <p:spPr bwMode="auto">
            <a:xfrm>
              <a:off x="1392" y="2576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0" lang="zh-CN" altLang="en-US" sz="2000">
                  <a:ea typeface="宋体" panose="02010600030101010101" pitchFamily="2" charset="-122"/>
                </a:rPr>
                <a:t>＋</a:t>
              </a:r>
              <a:endParaRPr kumimoji="0"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69" name="Text Box 78"/>
            <p:cNvSpPr txBox="1">
              <a:spLocks noChangeArrowheads="1"/>
            </p:cNvSpPr>
            <p:nvPr/>
          </p:nvSpPr>
          <p:spPr bwMode="auto">
            <a:xfrm>
              <a:off x="1392" y="291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0" lang="zh-CN" altLang="en-US" sz="2000">
                  <a:ea typeface="宋体" panose="02010600030101010101" pitchFamily="2" charset="-122"/>
                </a:rPr>
                <a:t>－</a:t>
              </a:r>
              <a:endParaRPr kumimoji="0"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70" name="Text Box 79"/>
            <p:cNvSpPr txBox="1">
              <a:spLocks noChangeArrowheads="1"/>
            </p:cNvSpPr>
            <p:nvPr/>
          </p:nvSpPr>
          <p:spPr bwMode="auto">
            <a:xfrm>
              <a:off x="1383" y="2704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0" lang="en-US" altLang="zh-CN" sz="2800" i="1">
                  <a:ea typeface="宋体" panose="02010600030101010101" pitchFamily="2" charset="-122"/>
                </a:rPr>
                <a:t>u</a:t>
              </a:r>
              <a:endParaRPr kumimoji="0"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10271" name="Line 131"/>
            <p:cNvSpPr>
              <a:spLocks noChangeShapeType="1"/>
            </p:cNvSpPr>
            <p:nvPr/>
          </p:nvSpPr>
          <p:spPr bwMode="auto">
            <a:xfrm flipV="1">
              <a:off x="531" y="256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9989" name="Object 133"/>
          <p:cNvGraphicFramePr>
            <a:graphicFrameLocks noGrp="1" noChangeAspect="1"/>
          </p:cNvGraphicFramePr>
          <p:nvPr>
            <p:ph idx="1"/>
          </p:nvPr>
        </p:nvGraphicFramePr>
        <p:xfrm>
          <a:off x="619125" y="4414838"/>
          <a:ext cx="3448050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7510" imgH="1276422" progId="Equation.DSMT4">
                  <p:embed/>
                </p:oleObj>
              </mc:Choice>
              <mc:Fallback>
                <p:oleObj name="Equation" r:id="rId4" imgW="1897510" imgH="1276422" progId="Equation.DSMT4">
                  <p:embed/>
                  <p:pic>
                    <p:nvPicPr>
                      <p:cNvPr id="0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4414838"/>
                        <a:ext cx="3448050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92" name="Object 136"/>
          <p:cNvGraphicFramePr>
            <a:graphicFrameLocks noChangeAspect="1"/>
          </p:cNvGraphicFramePr>
          <p:nvPr/>
        </p:nvGraphicFramePr>
        <p:xfrm>
          <a:off x="250825" y="2349500"/>
          <a:ext cx="57292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1841" imgH="209632" progId="Equation.DSMT4">
                  <p:embed/>
                </p:oleObj>
              </mc:Choice>
              <mc:Fallback>
                <p:oleObj name="Equation" r:id="rId6" imgW="2571841" imgH="209632" progId="Equation.DSMT4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349500"/>
                        <a:ext cx="57292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93" name="Object 137"/>
          <p:cNvGraphicFramePr>
            <a:graphicFrameLocks noChangeAspect="1"/>
          </p:cNvGraphicFramePr>
          <p:nvPr/>
        </p:nvGraphicFramePr>
        <p:xfrm>
          <a:off x="250825" y="2781300"/>
          <a:ext cx="29972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0582" imgH="373390" progId="Equation.DSMT4">
                  <p:embed/>
                </p:oleObj>
              </mc:Choice>
              <mc:Fallback>
                <p:oleObj name="Equation" r:id="rId8" imgW="1390582" imgH="37339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781300"/>
                        <a:ext cx="29972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94" name="Object 138"/>
          <p:cNvGraphicFramePr>
            <a:graphicFrameLocks noChangeAspect="1"/>
          </p:cNvGraphicFramePr>
          <p:nvPr/>
        </p:nvGraphicFramePr>
        <p:xfrm>
          <a:off x="755650" y="3495675"/>
          <a:ext cx="67691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0458" imgH="373390" progId="Equation.DSMT4">
                  <p:embed/>
                </p:oleObj>
              </mc:Choice>
              <mc:Fallback>
                <p:oleObj name="Equation" r:id="rId10" imgW="3040458" imgH="373390" progId="Equation.DSMT4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495675"/>
                        <a:ext cx="676910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96" name="Rectangle 140"/>
          <p:cNvSpPr>
            <a:spLocks noChangeArrowheads="1"/>
          </p:cNvSpPr>
          <p:nvPr/>
        </p:nvSpPr>
        <p:spPr bwMode="auto">
          <a:xfrm>
            <a:off x="5641975" y="49418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0825" y="1060450"/>
            <a:ext cx="20843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电容电流在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处为有限值，电容电压在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处连续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996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3106738" cy="490537"/>
          </a:xfrm>
        </p:spPr>
        <p:txBody>
          <a:bodyPr/>
          <a:lstStyle/>
          <a:p>
            <a:pPr algn="just"/>
            <a:r>
              <a:rPr lang="en-US" altLang="zh-CN" sz="2400" b="1">
                <a:solidFill>
                  <a:srgbClr val="FF0000"/>
                </a:solidFill>
              </a:rPr>
              <a:t>4. </a:t>
            </a:r>
            <a:r>
              <a:rPr lang="zh-CN" altLang="en-US" sz="2400" b="1">
                <a:solidFill>
                  <a:srgbClr val="FF0000"/>
                </a:solidFill>
              </a:rPr>
              <a:t>电容的串并联</a:t>
            </a:r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565150" y="67945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33CC"/>
                </a:solidFill>
              </a:rPr>
              <a:t>（</a:t>
            </a:r>
            <a:r>
              <a:rPr lang="en-US" altLang="zh-CN" sz="2400" b="1" dirty="0">
                <a:solidFill>
                  <a:srgbClr val="0033CC"/>
                </a:solidFill>
              </a:rPr>
              <a:t>1</a:t>
            </a:r>
            <a:r>
              <a:rPr lang="zh-CN" altLang="en-US" sz="2400" b="1" dirty="0">
                <a:solidFill>
                  <a:srgbClr val="0033CC"/>
                </a:solidFill>
              </a:rPr>
              <a:t>）电容的串联</a:t>
            </a:r>
          </a:p>
        </p:txBody>
      </p:sp>
      <p:grpSp>
        <p:nvGrpSpPr>
          <p:cNvPr id="337925" name="Group 5"/>
          <p:cNvGrpSpPr>
            <a:grpSpLocks/>
          </p:cNvGrpSpPr>
          <p:nvPr/>
        </p:nvGrpSpPr>
        <p:grpSpPr bwMode="auto">
          <a:xfrm>
            <a:off x="5745163" y="1143000"/>
            <a:ext cx="2017712" cy="2224088"/>
            <a:chOff x="3593" y="883"/>
            <a:chExt cx="1271" cy="1401"/>
          </a:xfrm>
        </p:grpSpPr>
        <p:sp>
          <p:nvSpPr>
            <p:cNvPr id="337926" name="Line 6"/>
            <p:cNvSpPr>
              <a:spLocks noChangeShapeType="1"/>
            </p:cNvSpPr>
            <p:nvPr/>
          </p:nvSpPr>
          <p:spPr bwMode="auto">
            <a:xfrm flipH="1" flipV="1">
              <a:off x="3815" y="1922"/>
              <a:ext cx="4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337927" name="Group 7"/>
            <p:cNvGrpSpPr>
              <a:grpSpLocks/>
            </p:cNvGrpSpPr>
            <p:nvPr/>
          </p:nvGrpSpPr>
          <p:grpSpPr bwMode="auto">
            <a:xfrm rot="5400000">
              <a:off x="4279" y="1450"/>
              <a:ext cx="52" cy="185"/>
              <a:chOff x="4012" y="3701"/>
              <a:chExt cx="81" cy="289"/>
            </a:xfrm>
          </p:grpSpPr>
          <p:sp>
            <p:nvSpPr>
              <p:cNvPr id="337928" name="Line 8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37929" name="Line 9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37930" name="Text Box 10"/>
            <p:cNvSpPr txBox="1">
              <a:spLocks noChangeArrowheads="1"/>
            </p:cNvSpPr>
            <p:nvPr/>
          </p:nvSpPr>
          <p:spPr bwMode="auto">
            <a:xfrm>
              <a:off x="4240" y="1392"/>
              <a:ext cx="624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eq</a:t>
              </a:r>
              <a:r>
                <a:rPr lang="en-US" altLang="zh-CN" sz="20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</a:t>
              </a:r>
              <a:endParaRPr lang="en-US" altLang="zh-CN" sz="2000" b="1" dirty="0"/>
            </a:p>
          </p:txBody>
        </p:sp>
        <p:sp>
          <p:nvSpPr>
            <p:cNvPr id="337931" name="Text Box 11"/>
            <p:cNvSpPr txBox="1">
              <a:spLocks noChangeArrowheads="1"/>
            </p:cNvSpPr>
            <p:nvPr/>
          </p:nvSpPr>
          <p:spPr bwMode="auto">
            <a:xfrm>
              <a:off x="3607" y="141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37932" name="Text Box 12"/>
            <p:cNvSpPr txBox="1">
              <a:spLocks noChangeArrowheads="1"/>
            </p:cNvSpPr>
            <p:nvPr/>
          </p:nvSpPr>
          <p:spPr bwMode="auto">
            <a:xfrm>
              <a:off x="3725" y="883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37933" name="Line 13"/>
            <p:cNvSpPr>
              <a:spLocks noChangeShapeType="1"/>
            </p:cNvSpPr>
            <p:nvPr/>
          </p:nvSpPr>
          <p:spPr bwMode="auto">
            <a:xfrm flipV="1">
              <a:off x="3820" y="1197"/>
              <a:ext cx="48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34" name="Text Box 14"/>
            <p:cNvSpPr txBox="1">
              <a:spLocks noChangeArrowheads="1"/>
            </p:cNvSpPr>
            <p:nvPr/>
          </p:nvSpPr>
          <p:spPr bwMode="auto">
            <a:xfrm>
              <a:off x="3594" y="117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7935" name="Text Box 15"/>
            <p:cNvSpPr txBox="1">
              <a:spLocks noChangeArrowheads="1"/>
            </p:cNvSpPr>
            <p:nvPr/>
          </p:nvSpPr>
          <p:spPr bwMode="auto">
            <a:xfrm>
              <a:off x="3593" y="159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37936" name="Line 16"/>
            <p:cNvSpPr>
              <a:spLocks noChangeShapeType="1"/>
            </p:cNvSpPr>
            <p:nvPr/>
          </p:nvSpPr>
          <p:spPr bwMode="auto">
            <a:xfrm>
              <a:off x="4301" y="1197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37" name="Line 17"/>
            <p:cNvSpPr>
              <a:spLocks noChangeShapeType="1"/>
            </p:cNvSpPr>
            <p:nvPr/>
          </p:nvSpPr>
          <p:spPr bwMode="auto">
            <a:xfrm>
              <a:off x="4303" y="1564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38" name="Line 18"/>
            <p:cNvSpPr>
              <a:spLocks noChangeShapeType="1"/>
            </p:cNvSpPr>
            <p:nvPr/>
          </p:nvSpPr>
          <p:spPr bwMode="auto">
            <a:xfrm>
              <a:off x="3842" y="1131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39" name="Line 19"/>
            <p:cNvSpPr>
              <a:spLocks noChangeShapeType="1"/>
            </p:cNvSpPr>
            <p:nvPr/>
          </p:nvSpPr>
          <p:spPr bwMode="auto">
            <a:xfrm rot="5400000">
              <a:off x="4266" y="1362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40" name="Text Box 20"/>
            <p:cNvSpPr txBox="1">
              <a:spLocks noChangeArrowheads="1"/>
            </p:cNvSpPr>
            <p:nvPr/>
          </p:nvSpPr>
          <p:spPr bwMode="auto">
            <a:xfrm>
              <a:off x="4303" y="1185"/>
              <a:ext cx="409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37941" name="Text Box 21"/>
            <p:cNvSpPr txBox="1">
              <a:spLocks noChangeArrowheads="1"/>
            </p:cNvSpPr>
            <p:nvPr/>
          </p:nvSpPr>
          <p:spPr bwMode="auto">
            <a:xfrm>
              <a:off x="3696" y="2016"/>
              <a:ext cx="97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/>
              <a:r>
                <a:rPr lang="zh-CN" altLang="en-US" b="1"/>
                <a:t>等效电容</a:t>
              </a:r>
            </a:p>
          </p:txBody>
        </p:sp>
        <p:sp>
          <p:nvSpPr>
            <p:cNvPr id="337942" name="Oval 22"/>
            <p:cNvSpPr>
              <a:spLocks noChangeArrowheads="1"/>
            </p:cNvSpPr>
            <p:nvPr/>
          </p:nvSpPr>
          <p:spPr bwMode="auto">
            <a:xfrm>
              <a:off x="3769" y="1173"/>
              <a:ext cx="43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43" name="Oval 23"/>
            <p:cNvSpPr>
              <a:spLocks noChangeArrowheads="1"/>
            </p:cNvSpPr>
            <p:nvPr/>
          </p:nvSpPr>
          <p:spPr bwMode="auto">
            <a:xfrm>
              <a:off x="3765" y="1900"/>
              <a:ext cx="43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7944" name="Group 24"/>
          <p:cNvGrpSpPr>
            <a:grpSpLocks/>
          </p:cNvGrpSpPr>
          <p:nvPr/>
        </p:nvGrpSpPr>
        <p:grpSpPr bwMode="auto">
          <a:xfrm>
            <a:off x="1782763" y="1143000"/>
            <a:ext cx="3525837" cy="2254250"/>
            <a:chOff x="1200" y="864"/>
            <a:chExt cx="2221" cy="1420"/>
          </a:xfrm>
        </p:grpSpPr>
        <p:sp>
          <p:nvSpPr>
            <p:cNvPr id="337945" name="Line 25"/>
            <p:cNvSpPr>
              <a:spLocks noChangeShapeType="1"/>
            </p:cNvSpPr>
            <p:nvPr/>
          </p:nvSpPr>
          <p:spPr bwMode="auto">
            <a:xfrm flipH="1" flipV="1">
              <a:off x="1425" y="1928"/>
              <a:ext cx="188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7946" name="Line 26"/>
            <p:cNvSpPr>
              <a:spLocks noChangeShapeType="1"/>
            </p:cNvSpPr>
            <p:nvPr/>
          </p:nvSpPr>
          <p:spPr bwMode="auto">
            <a:xfrm rot="5400000" flipH="1" flipV="1">
              <a:off x="1804" y="1213"/>
              <a:ext cx="18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7947" name="Line 27"/>
            <p:cNvSpPr>
              <a:spLocks noChangeShapeType="1"/>
            </p:cNvSpPr>
            <p:nvPr/>
          </p:nvSpPr>
          <p:spPr bwMode="auto">
            <a:xfrm rot="16200000" flipV="1">
              <a:off x="1857" y="1213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7948" name="Text Box 28"/>
            <p:cNvSpPr txBox="1">
              <a:spLocks noChangeArrowheads="1"/>
            </p:cNvSpPr>
            <p:nvPr/>
          </p:nvSpPr>
          <p:spPr bwMode="auto">
            <a:xfrm>
              <a:off x="1735" y="872"/>
              <a:ext cx="362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37949" name="Text Box 29"/>
            <p:cNvSpPr txBox="1">
              <a:spLocks noChangeArrowheads="1"/>
            </p:cNvSpPr>
            <p:nvPr/>
          </p:nvSpPr>
          <p:spPr bwMode="auto">
            <a:xfrm>
              <a:off x="1217" y="141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37950" name="Text Box 30"/>
            <p:cNvSpPr txBox="1">
              <a:spLocks noChangeArrowheads="1"/>
            </p:cNvSpPr>
            <p:nvPr/>
          </p:nvSpPr>
          <p:spPr bwMode="auto">
            <a:xfrm>
              <a:off x="1334" y="889"/>
              <a:ext cx="41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37951" name="Line 31"/>
            <p:cNvSpPr>
              <a:spLocks noChangeShapeType="1"/>
            </p:cNvSpPr>
            <p:nvPr/>
          </p:nvSpPr>
          <p:spPr bwMode="auto">
            <a:xfrm flipV="1">
              <a:off x="1430" y="1203"/>
              <a:ext cx="46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52" name="Text Box 32"/>
            <p:cNvSpPr txBox="1">
              <a:spLocks noChangeArrowheads="1"/>
            </p:cNvSpPr>
            <p:nvPr/>
          </p:nvSpPr>
          <p:spPr bwMode="auto">
            <a:xfrm>
              <a:off x="1204" y="117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7953" name="Text Box 33"/>
            <p:cNvSpPr txBox="1">
              <a:spLocks noChangeArrowheads="1"/>
            </p:cNvSpPr>
            <p:nvPr/>
          </p:nvSpPr>
          <p:spPr bwMode="auto">
            <a:xfrm>
              <a:off x="1870" y="114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37954" name="Line 34"/>
            <p:cNvSpPr>
              <a:spLocks noChangeShapeType="1"/>
            </p:cNvSpPr>
            <p:nvPr/>
          </p:nvSpPr>
          <p:spPr bwMode="auto">
            <a:xfrm>
              <a:off x="1451" y="1137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55" name="Text Box 35"/>
            <p:cNvSpPr txBox="1">
              <a:spLocks noChangeArrowheads="1"/>
            </p:cNvSpPr>
            <p:nvPr/>
          </p:nvSpPr>
          <p:spPr bwMode="auto">
            <a:xfrm>
              <a:off x="1719" y="1208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37956" name="Text Box 36"/>
            <p:cNvSpPr txBox="1">
              <a:spLocks noChangeArrowheads="1"/>
            </p:cNvSpPr>
            <p:nvPr/>
          </p:nvSpPr>
          <p:spPr bwMode="auto">
            <a:xfrm>
              <a:off x="1824" y="2016"/>
              <a:ext cx="96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/>
              <a:r>
                <a:rPr lang="en-US" altLang="zh-CN" b="1" i="1"/>
                <a:t>n</a:t>
              </a:r>
              <a:r>
                <a:rPr lang="zh-CN" altLang="en-US" b="1"/>
                <a:t>个电容串联</a:t>
              </a:r>
            </a:p>
          </p:txBody>
        </p:sp>
        <p:sp>
          <p:nvSpPr>
            <p:cNvPr id="337957" name="Text Box 37"/>
            <p:cNvSpPr txBox="1">
              <a:spLocks noChangeArrowheads="1"/>
            </p:cNvSpPr>
            <p:nvPr/>
          </p:nvSpPr>
          <p:spPr bwMode="auto">
            <a:xfrm>
              <a:off x="2213" y="877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37958" name="Text Box 38"/>
            <p:cNvSpPr txBox="1">
              <a:spLocks noChangeArrowheads="1"/>
            </p:cNvSpPr>
            <p:nvPr/>
          </p:nvSpPr>
          <p:spPr bwMode="auto">
            <a:xfrm>
              <a:off x="2191" y="1205"/>
              <a:ext cx="41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37959" name="Text Box 39"/>
            <p:cNvSpPr txBox="1">
              <a:spLocks noChangeArrowheads="1"/>
            </p:cNvSpPr>
            <p:nvPr/>
          </p:nvSpPr>
          <p:spPr bwMode="auto">
            <a:xfrm>
              <a:off x="2879" y="864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37960" name="Line 40"/>
            <p:cNvSpPr>
              <a:spLocks noChangeShapeType="1"/>
            </p:cNvSpPr>
            <p:nvPr/>
          </p:nvSpPr>
          <p:spPr bwMode="auto">
            <a:xfrm>
              <a:off x="3322" y="1202"/>
              <a:ext cx="0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61" name="Text Box 41"/>
            <p:cNvSpPr txBox="1">
              <a:spLocks noChangeArrowheads="1"/>
            </p:cNvSpPr>
            <p:nvPr/>
          </p:nvSpPr>
          <p:spPr bwMode="auto">
            <a:xfrm>
              <a:off x="2869" y="1217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37962" name="Line 42"/>
            <p:cNvSpPr>
              <a:spLocks noChangeShapeType="1"/>
            </p:cNvSpPr>
            <p:nvPr/>
          </p:nvSpPr>
          <p:spPr bwMode="auto">
            <a:xfrm>
              <a:off x="3075" y="1206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63" name="Line 43"/>
            <p:cNvSpPr>
              <a:spLocks noChangeShapeType="1"/>
            </p:cNvSpPr>
            <p:nvPr/>
          </p:nvSpPr>
          <p:spPr bwMode="auto">
            <a:xfrm>
              <a:off x="2643" y="1206"/>
              <a:ext cx="22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64" name="Oval 44"/>
            <p:cNvSpPr>
              <a:spLocks noChangeArrowheads="1"/>
            </p:cNvSpPr>
            <p:nvPr/>
          </p:nvSpPr>
          <p:spPr bwMode="auto">
            <a:xfrm>
              <a:off x="1378" y="1179"/>
              <a:ext cx="44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65" name="Oval 45"/>
            <p:cNvSpPr>
              <a:spLocks noChangeArrowheads="1"/>
            </p:cNvSpPr>
            <p:nvPr/>
          </p:nvSpPr>
          <p:spPr bwMode="auto">
            <a:xfrm>
              <a:off x="1374" y="190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66" name="Line 46"/>
            <p:cNvSpPr>
              <a:spLocks noChangeShapeType="1"/>
            </p:cNvSpPr>
            <p:nvPr/>
          </p:nvSpPr>
          <p:spPr bwMode="auto">
            <a:xfrm rot="5400000" flipH="1" flipV="1">
              <a:off x="2276" y="1202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7967" name="Line 47"/>
            <p:cNvSpPr>
              <a:spLocks noChangeShapeType="1"/>
            </p:cNvSpPr>
            <p:nvPr/>
          </p:nvSpPr>
          <p:spPr bwMode="auto">
            <a:xfrm rot="16200000" flipV="1">
              <a:off x="2328" y="1203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7968" name="Line 48"/>
            <p:cNvSpPr>
              <a:spLocks noChangeShapeType="1"/>
            </p:cNvSpPr>
            <p:nvPr/>
          </p:nvSpPr>
          <p:spPr bwMode="auto">
            <a:xfrm rot="5400000" flipH="1" flipV="1">
              <a:off x="2939" y="1202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7969" name="Line 49"/>
            <p:cNvSpPr>
              <a:spLocks noChangeShapeType="1"/>
            </p:cNvSpPr>
            <p:nvPr/>
          </p:nvSpPr>
          <p:spPr bwMode="auto">
            <a:xfrm rot="16200000" flipV="1">
              <a:off x="2991" y="1203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7970" name="Line 50"/>
            <p:cNvSpPr>
              <a:spLocks noChangeShapeType="1"/>
            </p:cNvSpPr>
            <p:nvPr/>
          </p:nvSpPr>
          <p:spPr bwMode="auto">
            <a:xfrm>
              <a:off x="2432" y="1206"/>
              <a:ext cx="1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71" name="Line 51"/>
            <p:cNvSpPr>
              <a:spLocks noChangeShapeType="1"/>
            </p:cNvSpPr>
            <p:nvPr/>
          </p:nvSpPr>
          <p:spPr bwMode="auto">
            <a:xfrm>
              <a:off x="1942" y="1206"/>
              <a:ext cx="4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72" name="Line 52"/>
            <p:cNvSpPr>
              <a:spLocks noChangeShapeType="1"/>
            </p:cNvSpPr>
            <p:nvPr/>
          </p:nvSpPr>
          <p:spPr bwMode="auto">
            <a:xfrm flipH="1">
              <a:off x="2874" y="1206"/>
              <a:ext cx="1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73" name="Text Box 53"/>
            <p:cNvSpPr txBox="1">
              <a:spLocks noChangeArrowheads="1"/>
            </p:cNvSpPr>
            <p:nvPr/>
          </p:nvSpPr>
          <p:spPr bwMode="auto">
            <a:xfrm>
              <a:off x="1528" y="121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7974" name="Text Box 54"/>
            <p:cNvSpPr txBox="1">
              <a:spLocks noChangeArrowheads="1"/>
            </p:cNvSpPr>
            <p:nvPr/>
          </p:nvSpPr>
          <p:spPr bwMode="auto">
            <a:xfrm>
              <a:off x="2024" y="1216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7975" name="Text Box 55"/>
            <p:cNvSpPr txBox="1">
              <a:spLocks noChangeArrowheads="1"/>
            </p:cNvSpPr>
            <p:nvPr/>
          </p:nvSpPr>
          <p:spPr bwMode="auto">
            <a:xfrm>
              <a:off x="2728" y="121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7976" name="Text Box 56"/>
            <p:cNvSpPr txBox="1">
              <a:spLocks noChangeArrowheads="1"/>
            </p:cNvSpPr>
            <p:nvPr/>
          </p:nvSpPr>
          <p:spPr bwMode="auto">
            <a:xfrm>
              <a:off x="2392" y="1141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37977" name="Text Box 57"/>
            <p:cNvSpPr txBox="1">
              <a:spLocks noChangeArrowheads="1"/>
            </p:cNvSpPr>
            <p:nvPr/>
          </p:nvSpPr>
          <p:spPr bwMode="auto">
            <a:xfrm>
              <a:off x="3025" y="114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37978" name="Text Box 58"/>
            <p:cNvSpPr txBox="1">
              <a:spLocks noChangeArrowheads="1"/>
            </p:cNvSpPr>
            <p:nvPr/>
          </p:nvSpPr>
          <p:spPr bwMode="auto">
            <a:xfrm>
              <a:off x="1200" y="159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</p:grpSp>
      <p:graphicFrame>
        <p:nvGraphicFramePr>
          <p:cNvPr id="337979" name="Object 59"/>
          <p:cNvGraphicFramePr>
            <a:graphicFrameLocks noChangeAspect="1"/>
          </p:cNvGraphicFramePr>
          <p:nvPr/>
        </p:nvGraphicFramePr>
        <p:xfrm>
          <a:off x="2392363" y="3505200"/>
          <a:ext cx="3841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7360" imgH="228600" progId="Equation.DSMT4">
                  <p:embed/>
                </p:oleObj>
              </mc:Choice>
              <mc:Fallback>
                <p:oleObj name="Equation" r:id="rId3" imgW="1917360" imgH="228600" progId="Equation.DSMT4">
                  <p:embed/>
                  <p:pic>
                    <p:nvPicPr>
                      <p:cNvPr id="337979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3505200"/>
                        <a:ext cx="38417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0" name="Object 60"/>
          <p:cNvGraphicFramePr>
            <a:graphicFrameLocks noChangeAspect="1"/>
          </p:cNvGraphicFramePr>
          <p:nvPr/>
        </p:nvGraphicFramePr>
        <p:xfrm>
          <a:off x="1173163" y="4419600"/>
          <a:ext cx="75072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73520" imgH="444240" progId="Equation.DSMT4">
                  <p:embed/>
                </p:oleObj>
              </mc:Choice>
              <mc:Fallback>
                <p:oleObj name="Equation" r:id="rId5" imgW="4673520" imgH="444240" progId="Equation.DSMT4">
                  <p:embed/>
                  <p:pic>
                    <p:nvPicPr>
                      <p:cNvPr id="33798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4419600"/>
                        <a:ext cx="7507287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1" name="Text Box 61"/>
          <p:cNvSpPr txBox="1">
            <a:spLocks noChangeArrowheads="1"/>
          </p:cNvSpPr>
          <p:nvPr/>
        </p:nvSpPr>
        <p:spPr bwMode="auto">
          <a:xfrm>
            <a:off x="563563" y="35052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由</a:t>
            </a:r>
            <a:r>
              <a:rPr lang="en-US" altLang="zh-CN" sz="2400" b="1">
                <a:latin typeface="宋体" panose="02010600030101010101" pitchFamily="2" charset="-122"/>
              </a:rPr>
              <a:t>KVL</a:t>
            </a:r>
            <a:r>
              <a:rPr lang="zh-CN" altLang="en-US" sz="2400" b="1">
                <a:latin typeface="宋体" panose="02010600030101010101" pitchFamily="2" charset="-122"/>
              </a:rPr>
              <a:t>，有</a:t>
            </a:r>
          </a:p>
        </p:txBody>
      </p:sp>
      <p:sp>
        <p:nvSpPr>
          <p:cNvPr id="337982" name="Text Box 62"/>
          <p:cNvSpPr txBox="1">
            <a:spLocks noChangeArrowheads="1"/>
          </p:cNvSpPr>
          <p:nvPr/>
        </p:nvSpPr>
        <p:spPr bwMode="auto">
          <a:xfrm>
            <a:off x="563563" y="3962400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代入各电容的电压、电流关系式，得</a:t>
            </a:r>
          </a:p>
        </p:txBody>
      </p:sp>
      <p:graphicFrame>
        <p:nvGraphicFramePr>
          <p:cNvPr id="337983" name="Object 63"/>
          <p:cNvGraphicFramePr>
            <a:graphicFrameLocks noChangeAspect="1"/>
          </p:cNvGraphicFramePr>
          <p:nvPr/>
        </p:nvGraphicFramePr>
        <p:xfrm>
          <a:off x="1630363" y="5181600"/>
          <a:ext cx="41830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03160" imgH="444240" progId="Equation.DSMT4">
                  <p:embed/>
                </p:oleObj>
              </mc:Choice>
              <mc:Fallback>
                <p:oleObj name="Equation" r:id="rId7" imgW="2603160" imgH="444240" progId="Equation.DSMT4">
                  <p:embed/>
                  <p:pic>
                    <p:nvPicPr>
                      <p:cNvPr id="337983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5181600"/>
                        <a:ext cx="4183062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4" name="Object 64"/>
          <p:cNvGraphicFramePr>
            <a:graphicFrameLocks noChangeAspect="1"/>
          </p:cNvGraphicFramePr>
          <p:nvPr/>
        </p:nvGraphicFramePr>
        <p:xfrm>
          <a:off x="1630363" y="5897563"/>
          <a:ext cx="2224087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84200" imgH="457200" progId="Equation.DSMT4">
                  <p:embed/>
                </p:oleObj>
              </mc:Choice>
              <mc:Fallback>
                <p:oleObj name="Equation" r:id="rId9" imgW="1384200" imgH="457200" progId="Equation.DSMT4">
                  <p:embed/>
                  <p:pic>
                    <p:nvPicPr>
                      <p:cNvPr id="337984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5897563"/>
                        <a:ext cx="2224087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5" name="AutoShape 65"/>
          <p:cNvSpPr>
            <a:spLocks noChangeArrowheads="1"/>
          </p:cNvSpPr>
          <p:nvPr/>
        </p:nvSpPr>
        <p:spPr bwMode="auto">
          <a:xfrm>
            <a:off x="5364163" y="21336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CC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75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337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7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7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33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4" grpId="0"/>
      <p:bldP spid="337981" grpId="0"/>
      <p:bldP spid="3379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948" name="Object 4"/>
          <p:cNvGraphicFramePr>
            <a:graphicFrameLocks noChangeAspect="1"/>
          </p:cNvGraphicFramePr>
          <p:nvPr/>
        </p:nvGraphicFramePr>
        <p:xfrm>
          <a:off x="2438400" y="1066800"/>
          <a:ext cx="41703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457200" progId="Equation.DSMT4">
                  <p:embed/>
                </p:oleObj>
              </mc:Choice>
              <mc:Fallback>
                <p:oleObj name="Equation" r:id="rId3" imgW="2082600" imgH="457200" progId="Equation.DSMT4">
                  <p:embed/>
                  <p:pic>
                    <p:nvPicPr>
                      <p:cNvPr id="3389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066800"/>
                        <a:ext cx="417036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9" name="Object 5"/>
          <p:cNvGraphicFramePr>
            <a:graphicFrameLocks noChangeAspect="1"/>
          </p:cNvGraphicFramePr>
          <p:nvPr/>
        </p:nvGraphicFramePr>
        <p:xfrm>
          <a:off x="3200400" y="5334000"/>
          <a:ext cx="17859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444240" progId="Equation.DSMT4">
                  <p:embed/>
                </p:oleObj>
              </mc:Choice>
              <mc:Fallback>
                <p:oleObj name="Equation" r:id="rId5" imgW="901440" imgH="444240" progId="Equation.DSMT4">
                  <p:embed/>
                  <p:pic>
                    <p:nvPicPr>
                      <p:cNvPr id="338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334000"/>
                        <a:ext cx="17859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0" name="Rectangle 6"/>
          <p:cNvSpPr>
            <a:spLocks noChangeArrowheads="1"/>
          </p:cNvSpPr>
          <p:nvPr/>
        </p:nvSpPr>
        <p:spPr bwMode="auto">
          <a:xfrm>
            <a:off x="533400" y="4572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等效电容</a:t>
            </a:r>
            <a:r>
              <a:rPr lang="zh-CN" altLang="en-US" sz="2400" b="1" dirty="0"/>
              <a:t>与各电容的关系式为</a:t>
            </a:r>
          </a:p>
        </p:txBody>
      </p:sp>
      <p:sp>
        <p:nvSpPr>
          <p:cNvPr id="338951" name="Rectangle 7"/>
          <p:cNvSpPr>
            <a:spLocks noChangeArrowheads="1"/>
          </p:cNvSpPr>
          <p:nvPr/>
        </p:nvSpPr>
        <p:spPr bwMode="auto">
          <a:xfrm>
            <a:off x="685800" y="3200400"/>
            <a:ext cx="7467600" cy="82232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901700" indent="-901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810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604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398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个串联电容的等效电容值的倒数等于各电容值的倒数之和。</a:t>
            </a:r>
            <a:endParaRPr lang="zh-CN" altLang="en-US" sz="2400" b="1"/>
          </a:p>
        </p:txBody>
      </p:sp>
      <p:sp>
        <p:nvSpPr>
          <p:cNvPr id="338952" name="Rectangle 8"/>
          <p:cNvSpPr>
            <a:spLocks noChangeArrowheads="1"/>
          </p:cNvSpPr>
          <p:nvPr/>
        </p:nvSpPr>
        <p:spPr bwMode="auto">
          <a:xfrm>
            <a:off x="685800" y="4572000"/>
            <a:ext cx="701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当两个电容串联（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）时，等效电容值为</a:t>
            </a:r>
            <a:endParaRPr lang="zh-CN" altLang="en-US" sz="2400" b="1" dirty="0"/>
          </a:p>
        </p:txBody>
      </p:sp>
      <p:graphicFrame>
        <p:nvGraphicFramePr>
          <p:cNvPr id="338953" name="Object 9"/>
          <p:cNvGraphicFramePr>
            <a:graphicFrameLocks noChangeAspect="1"/>
          </p:cNvGraphicFramePr>
          <p:nvPr/>
        </p:nvGraphicFramePr>
        <p:xfrm>
          <a:off x="2362200" y="2057400"/>
          <a:ext cx="19970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90360" imgH="431640" progId="Equation.DSMT4">
                  <p:embed/>
                </p:oleObj>
              </mc:Choice>
              <mc:Fallback>
                <p:oleObj name="Equation" r:id="rId7" imgW="990360" imgH="431640" progId="Equation.DSMT4">
                  <p:embed/>
                  <p:pic>
                    <p:nvPicPr>
                      <p:cNvPr id="3389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057400"/>
                        <a:ext cx="1997075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860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1" grpId="0" animBg="1"/>
      <p:bldP spid="33895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AEDCA4-A0AE-48E1-9D86-7A0862D42B29}" type="datetime1">
              <a:rPr lang="zh-CN" altLang="en-US" smtClean="0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7DEDC3-3762-4477-ADDE-861B74757A4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23528" y="306943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cs typeface="Times New Roman" panose="02020603050405020304" pitchFamily="18" charset="0"/>
              </a:rPr>
              <a:t>串联</a:t>
            </a:r>
            <a:r>
              <a:rPr lang="zh-CN" altLang="en-US" sz="2400" b="1" dirty="0"/>
              <a:t>电容分压关系</a:t>
            </a:r>
          </a:p>
        </p:txBody>
      </p:sp>
      <p:graphicFrame>
        <p:nvGraphicFramePr>
          <p:cNvPr id="8" name="Object 6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302260"/>
              </p:ext>
            </p:extLst>
          </p:nvPr>
        </p:nvGraphicFramePr>
        <p:xfrm>
          <a:off x="952554" y="1702695"/>
          <a:ext cx="2030676" cy="670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457200" progId="Equation.DSMT4">
                  <p:embed/>
                </p:oleObj>
              </mc:Choice>
              <mc:Fallback>
                <p:oleObj name="Equation" r:id="rId2" imgW="1384200" imgH="457200" progId="Equation.DSMT4">
                  <p:embed/>
                  <p:pic>
                    <p:nvPicPr>
                      <p:cNvPr id="337984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54" y="1702695"/>
                        <a:ext cx="2030676" cy="670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821725"/>
              </p:ext>
            </p:extLst>
          </p:nvPr>
        </p:nvGraphicFramePr>
        <p:xfrm>
          <a:off x="539552" y="988047"/>
          <a:ext cx="75072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73520" imgH="444240" progId="Equation.DSMT4">
                  <p:embed/>
                </p:oleObj>
              </mc:Choice>
              <mc:Fallback>
                <p:oleObj name="Equation" r:id="rId4" imgW="4673520" imgH="444240" progId="Equation.DSMT4">
                  <p:embed/>
                  <p:pic>
                    <p:nvPicPr>
                      <p:cNvPr id="33798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988047"/>
                        <a:ext cx="7507287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55576" y="2708920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取简单情形，</a:t>
            </a:r>
            <a:r>
              <a:rPr lang="en-US" altLang="zh-CN" b="1" dirty="0" err="1"/>
              <a:t>u</a:t>
            </a:r>
            <a:r>
              <a:rPr lang="en-US" altLang="zh-CN" b="1" baseline="-25000" dirty="0" err="1"/>
              <a:t>k</a:t>
            </a:r>
            <a:r>
              <a:rPr lang="zh-CN" altLang="en-US" b="1" dirty="0"/>
              <a:t>（</a:t>
            </a:r>
            <a:r>
              <a:rPr lang="en-US" altLang="zh-CN" b="1" dirty="0"/>
              <a:t>0</a:t>
            </a:r>
            <a:r>
              <a:rPr lang="en-US" altLang="zh-CN" b="1" baseline="-25000" dirty="0"/>
              <a:t>-</a:t>
            </a:r>
            <a:r>
              <a:rPr lang="zh-CN" altLang="en-US" b="1" dirty="0"/>
              <a:t>）</a:t>
            </a:r>
            <a:r>
              <a:rPr lang="en-US" altLang="zh-CN" b="1" dirty="0"/>
              <a:t>=0</a:t>
            </a:r>
            <a:r>
              <a:rPr lang="zh-CN" altLang="en-US" dirty="0"/>
              <a:t>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114800" y="3059723"/>
                <a:ext cx="1182568" cy="603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059723"/>
                <a:ext cx="1182568" cy="6032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908305"/>
              </p:ext>
            </p:extLst>
          </p:nvPr>
        </p:nvGraphicFramePr>
        <p:xfrm>
          <a:off x="3275856" y="4283235"/>
          <a:ext cx="1152128" cy="57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440" imgH="444240" progId="Equation.DSMT4">
                  <p:embed/>
                </p:oleObj>
              </mc:Choice>
              <mc:Fallback>
                <p:oleObj name="Equation" r:id="rId8" imgW="901440" imgH="444240" progId="Equation.DSMT4">
                  <p:embed/>
                  <p:pic>
                    <p:nvPicPr>
                      <p:cNvPr id="338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283235"/>
                        <a:ext cx="1152128" cy="571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09317" y="3797194"/>
            <a:ext cx="7010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当两个电容串联（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）时，等效电容值为</a:t>
            </a:r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4706084" y="4246038"/>
                <a:ext cx="2202590" cy="603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084" y="4246038"/>
                <a:ext cx="2202590" cy="6032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683568" y="5271241"/>
            <a:ext cx="429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当各电容初始电压不为零，</a:t>
            </a:r>
            <a:r>
              <a:rPr lang="en-US" altLang="zh-CN" b="1" dirty="0" err="1"/>
              <a:t>u</a:t>
            </a:r>
            <a:r>
              <a:rPr lang="en-US" altLang="zh-CN" b="1" baseline="-25000" dirty="0" err="1"/>
              <a:t>k</a:t>
            </a:r>
            <a:r>
              <a:rPr lang="zh-CN" altLang="en-US" b="1" dirty="0"/>
              <a:t>（</a:t>
            </a:r>
            <a:r>
              <a:rPr lang="en-US" altLang="zh-CN" b="1" dirty="0"/>
              <a:t>0</a:t>
            </a:r>
            <a:r>
              <a:rPr lang="en-US" altLang="zh-CN" b="1" baseline="-25000" dirty="0"/>
              <a:t>-</a:t>
            </a:r>
            <a:r>
              <a:rPr lang="zh-CN" altLang="en-US" b="1" dirty="0"/>
              <a:t>）≠</a:t>
            </a:r>
            <a:r>
              <a:rPr lang="en-US" altLang="zh-CN" b="1" dirty="0"/>
              <a:t>0</a:t>
            </a:r>
            <a:r>
              <a:rPr lang="zh-CN" altLang="en-US" dirty="0"/>
              <a:t>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48064" y="532891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064142" y="5531355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p.237 </a:t>
            </a:r>
            <a:r>
              <a:rPr lang="zh-CN" altLang="en-US" dirty="0"/>
              <a:t>例</a:t>
            </a:r>
            <a:r>
              <a:rPr lang="en-US" altLang="zh-CN" dirty="0"/>
              <a:t>7-3-3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887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2962275" cy="490537"/>
          </a:xfrm>
        </p:spPr>
        <p:txBody>
          <a:bodyPr/>
          <a:lstStyle/>
          <a:p>
            <a:pPr algn="just"/>
            <a:r>
              <a:rPr lang="zh-CN" altLang="en-US" sz="2400" b="1">
                <a:solidFill>
                  <a:srgbClr val="0000FF"/>
                </a:solidFill>
              </a:rPr>
              <a:t>（</a:t>
            </a:r>
            <a:r>
              <a:rPr lang="en-US" altLang="zh-CN" sz="2400" b="1">
                <a:solidFill>
                  <a:srgbClr val="0000FF"/>
                </a:solidFill>
              </a:rPr>
              <a:t>2</a:t>
            </a:r>
            <a:r>
              <a:rPr lang="zh-CN" altLang="en-US" sz="2400" b="1">
                <a:solidFill>
                  <a:srgbClr val="0000FF"/>
                </a:solidFill>
              </a:rPr>
              <a:t>）电容的并联</a:t>
            </a:r>
          </a:p>
        </p:txBody>
      </p:sp>
      <p:grpSp>
        <p:nvGrpSpPr>
          <p:cNvPr id="339972" name="Group 4"/>
          <p:cNvGrpSpPr>
            <a:grpSpLocks/>
          </p:cNvGrpSpPr>
          <p:nvPr/>
        </p:nvGrpSpPr>
        <p:grpSpPr bwMode="auto">
          <a:xfrm>
            <a:off x="5580063" y="981075"/>
            <a:ext cx="1854200" cy="1719263"/>
            <a:chOff x="3456" y="720"/>
            <a:chExt cx="1168" cy="1083"/>
          </a:xfrm>
        </p:grpSpPr>
        <p:sp>
          <p:nvSpPr>
            <p:cNvPr id="339973" name="Text Box 5"/>
            <p:cNvSpPr txBox="1">
              <a:spLocks noChangeArrowheads="1"/>
            </p:cNvSpPr>
            <p:nvPr/>
          </p:nvSpPr>
          <p:spPr bwMode="auto">
            <a:xfrm>
              <a:off x="4128" y="912"/>
              <a:ext cx="49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eq</a:t>
              </a:r>
              <a:endParaRPr lang="en-US" altLang="zh-CN" sz="2000" b="1"/>
            </a:p>
          </p:txBody>
        </p:sp>
        <p:grpSp>
          <p:nvGrpSpPr>
            <p:cNvPr id="339974" name="Group 6"/>
            <p:cNvGrpSpPr>
              <a:grpSpLocks/>
            </p:cNvGrpSpPr>
            <p:nvPr/>
          </p:nvGrpSpPr>
          <p:grpSpPr bwMode="auto">
            <a:xfrm rot="5400000">
              <a:off x="4142" y="997"/>
              <a:ext cx="52" cy="185"/>
              <a:chOff x="4012" y="3701"/>
              <a:chExt cx="81" cy="289"/>
            </a:xfrm>
          </p:grpSpPr>
          <p:sp>
            <p:nvSpPr>
              <p:cNvPr id="339975" name="Line 7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39976" name="Line 8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39977" name="Text Box 9"/>
            <p:cNvSpPr txBox="1">
              <a:spLocks noChangeArrowheads="1"/>
            </p:cNvSpPr>
            <p:nvPr/>
          </p:nvSpPr>
          <p:spPr bwMode="auto">
            <a:xfrm>
              <a:off x="3470" y="959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39978" name="Text Box 10"/>
            <p:cNvSpPr txBox="1">
              <a:spLocks noChangeArrowheads="1"/>
            </p:cNvSpPr>
            <p:nvPr/>
          </p:nvSpPr>
          <p:spPr bwMode="auto">
            <a:xfrm>
              <a:off x="3457" y="72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9979" name="Text Box 11"/>
            <p:cNvSpPr txBox="1">
              <a:spLocks noChangeArrowheads="1"/>
            </p:cNvSpPr>
            <p:nvPr/>
          </p:nvSpPr>
          <p:spPr bwMode="auto">
            <a:xfrm>
              <a:off x="3456" y="114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39980" name="Line 12"/>
            <p:cNvSpPr>
              <a:spLocks noChangeShapeType="1"/>
            </p:cNvSpPr>
            <p:nvPr/>
          </p:nvSpPr>
          <p:spPr bwMode="auto">
            <a:xfrm>
              <a:off x="4164" y="744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81" name="Line 13"/>
            <p:cNvSpPr>
              <a:spLocks noChangeShapeType="1"/>
            </p:cNvSpPr>
            <p:nvPr/>
          </p:nvSpPr>
          <p:spPr bwMode="auto">
            <a:xfrm>
              <a:off x="4166" y="111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82" name="Oval 14"/>
            <p:cNvSpPr>
              <a:spLocks noChangeArrowheads="1"/>
            </p:cNvSpPr>
            <p:nvPr/>
          </p:nvSpPr>
          <p:spPr bwMode="auto">
            <a:xfrm>
              <a:off x="3631" y="721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83" name="Oval 15"/>
            <p:cNvSpPr>
              <a:spLocks noChangeArrowheads="1"/>
            </p:cNvSpPr>
            <p:nvPr/>
          </p:nvSpPr>
          <p:spPr bwMode="auto">
            <a:xfrm>
              <a:off x="3628" y="1447"/>
              <a:ext cx="43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84" name="Text Box 16"/>
            <p:cNvSpPr txBox="1">
              <a:spLocks noChangeArrowheads="1"/>
            </p:cNvSpPr>
            <p:nvPr/>
          </p:nvSpPr>
          <p:spPr bwMode="auto">
            <a:xfrm>
              <a:off x="3813" y="79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9985" name="Text Box 17"/>
            <p:cNvSpPr txBox="1">
              <a:spLocks noChangeArrowheads="1"/>
            </p:cNvSpPr>
            <p:nvPr/>
          </p:nvSpPr>
          <p:spPr bwMode="auto">
            <a:xfrm>
              <a:off x="3811" y="109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39986" name="Text Box 18"/>
            <p:cNvSpPr txBox="1">
              <a:spLocks noChangeArrowheads="1"/>
            </p:cNvSpPr>
            <p:nvPr/>
          </p:nvSpPr>
          <p:spPr bwMode="auto">
            <a:xfrm>
              <a:off x="3802" y="928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000" b="1"/>
            </a:p>
          </p:txBody>
        </p:sp>
        <p:sp>
          <p:nvSpPr>
            <p:cNvPr id="339987" name="Line 19"/>
            <p:cNvSpPr>
              <a:spLocks noChangeShapeType="1"/>
            </p:cNvSpPr>
            <p:nvPr/>
          </p:nvSpPr>
          <p:spPr bwMode="auto">
            <a:xfrm>
              <a:off x="3657" y="1476"/>
              <a:ext cx="5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88" name="Line 20"/>
            <p:cNvSpPr>
              <a:spLocks noChangeShapeType="1"/>
            </p:cNvSpPr>
            <p:nvPr/>
          </p:nvSpPr>
          <p:spPr bwMode="auto">
            <a:xfrm>
              <a:off x="3666" y="746"/>
              <a:ext cx="5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89" name="Text Box 21"/>
            <p:cNvSpPr txBox="1">
              <a:spLocks noChangeArrowheads="1"/>
            </p:cNvSpPr>
            <p:nvPr/>
          </p:nvSpPr>
          <p:spPr bwMode="auto">
            <a:xfrm>
              <a:off x="3504" y="1488"/>
              <a:ext cx="932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/>
                <a:t>等效电容</a:t>
              </a:r>
            </a:p>
          </p:txBody>
        </p:sp>
      </p:grpSp>
      <p:graphicFrame>
        <p:nvGraphicFramePr>
          <p:cNvPr id="339990" name="Object 22"/>
          <p:cNvGraphicFramePr>
            <a:graphicFrameLocks noChangeAspect="1"/>
          </p:cNvGraphicFramePr>
          <p:nvPr/>
        </p:nvGraphicFramePr>
        <p:xfrm>
          <a:off x="2414588" y="2835275"/>
          <a:ext cx="22018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840" imgH="228600" progId="Equation.DSMT4">
                  <p:embed/>
                </p:oleObj>
              </mc:Choice>
              <mc:Fallback>
                <p:oleObj name="Equation" r:id="rId3" imgW="1104840" imgH="228600" progId="Equation.DSMT4">
                  <p:embed/>
                  <p:pic>
                    <p:nvPicPr>
                      <p:cNvPr id="33999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2835275"/>
                        <a:ext cx="220186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91" name="Object 23"/>
          <p:cNvGraphicFramePr>
            <a:graphicFrameLocks noChangeAspect="1"/>
          </p:cNvGraphicFramePr>
          <p:nvPr/>
        </p:nvGraphicFramePr>
        <p:xfrm>
          <a:off x="920750" y="3978275"/>
          <a:ext cx="41894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406080" progId="Equation.DSMT4">
                  <p:embed/>
                </p:oleObj>
              </mc:Choice>
              <mc:Fallback>
                <p:oleObj name="Equation" r:id="rId5" imgW="2095200" imgH="406080" progId="Equation.DSMT4">
                  <p:embed/>
                  <p:pic>
                    <p:nvPicPr>
                      <p:cNvPr id="33999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3978275"/>
                        <a:ext cx="4189413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92" name="Object 24"/>
          <p:cNvGraphicFramePr>
            <a:graphicFrameLocks noChangeAspect="1"/>
          </p:cNvGraphicFramePr>
          <p:nvPr/>
        </p:nvGraphicFramePr>
        <p:xfrm>
          <a:off x="1377950" y="5273675"/>
          <a:ext cx="11668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3920" imgH="406080" progId="Equation.DSMT4">
                  <p:embed/>
                </p:oleObj>
              </mc:Choice>
              <mc:Fallback>
                <p:oleObj name="Equation" r:id="rId7" imgW="583920" imgH="406080" progId="Equation.DSMT4">
                  <p:embed/>
                  <p:pic>
                    <p:nvPicPr>
                      <p:cNvPr id="33999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5273675"/>
                        <a:ext cx="1166813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93" name="Text Box 25"/>
          <p:cNvSpPr txBox="1">
            <a:spLocks noChangeArrowheads="1"/>
          </p:cNvSpPr>
          <p:nvPr/>
        </p:nvSpPr>
        <p:spPr bwMode="auto">
          <a:xfrm>
            <a:off x="509588" y="28352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由</a:t>
            </a:r>
            <a:r>
              <a:rPr lang="en-US" altLang="zh-CN" sz="2400" b="1"/>
              <a:t>KCL</a:t>
            </a:r>
            <a:r>
              <a:rPr lang="zh-CN" altLang="en-US" sz="2400" b="1"/>
              <a:t>，有</a:t>
            </a:r>
          </a:p>
        </p:txBody>
      </p:sp>
      <p:sp>
        <p:nvSpPr>
          <p:cNvPr id="339994" name="Text Box 26"/>
          <p:cNvSpPr txBox="1">
            <a:spLocks noChangeArrowheads="1"/>
          </p:cNvSpPr>
          <p:nvPr/>
        </p:nvSpPr>
        <p:spPr bwMode="auto">
          <a:xfrm>
            <a:off x="585788" y="3368675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代入各电容的电压、电流关系式，得</a:t>
            </a:r>
          </a:p>
        </p:txBody>
      </p:sp>
      <p:graphicFrame>
        <p:nvGraphicFramePr>
          <p:cNvPr id="339995" name="Object 27"/>
          <p:cNvGraphicFramePr>
            <a:graphicFrameLocks noChangeAspect="1"/>
          </p:cNvGraphicFramePr>
          <p:nvPr/>
        </p:nvGraphicFramePr>
        <p:xfrm>
          <a:off x="1331913" y="4581525"/>
          <a:ext cx="304641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3880" imgH="406080" progId="Equation.DSMT4">
                  <p:embed/>
                </p:oleObj>
              </mc:Choice>
              <mc:Fallback>
                <p:oleObj name="Equation" r:id="rId9" imgW="1523880" imgH="406080" progId="Equation.DSMT4">
                  <p:embed/>
                  <p:pic>
                    <p:nvPicPr>
                      <p:cNvPr id="33999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581525"/>
                        <a:ext cx="3046412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0050" name="Group 82"/>
          <p:cNvGrpSpPr>
            <a:grpSpLocks/>
          </p:cNvGrpSpPr>
          <p:nvPr/>
        </p:nvGrpSpPr>
        <p:grpSpPr bwMode="auto">
          <a:xfrm>
            <a:off x="1042988" y="549275"/>
            <a:ext cx="4013200" cy="2176463"/>
            <a:chOff x="657" y="391"/>
            <a:chExt cx="2528" cy="1371"/>
          </a:xfrm>
        </p:grpSpPr>
        <p:sp>
          <p:nvSpPr>
            <p:cNvPr id="340028" name="Text Box 60"/>
            <p:cNvSpPr txBox="1">
              <a:spLocks noChangeArrowheads="1"/>
            </p:cNvSpPr>
            <p:nvPr/>
          </p:nvSpPr>
          <p:spPr bwMode="auto">
            <a:xfrm>
              <a:off x="2776" y="693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39997" name="Text Box 29"/>
            <p:cNvSpPr txBox="1">
              <a:spLocks noChangeArrowheads="1"/>
            </p:cNvSpPr>
            <p:nvPr/>
          </p:nvSpPr>
          <p:spPr bwMode="auto">
            <a:xfrm>
              <a:off x="789" y="391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39999" name="Line 31"/>
            <p:cNvSpPr>
              <a:spLocks noChangeShapeType="1"/>
            </p:cNvSpPr>
            <p:nvPr/>
          </p:nvSpPr>
          <p:spPr bwMode="auto">
            <a:xfrm flipH="1" flipV="1">
              <a:off x="879" y="1430"/>
              <a:ext cx="135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340000" name="Group 32"/>
            <p:cNvGrpSpPr>
              <a:grpSpLocks/>
            </p:cNvGrpSpPr>
            <p:nvPr/>
          </p:nvGrpSpPr>
          <p:grpSpPr bwMode="auto">
            <a:xfrm rot="5400000">
              <a:off x="1342" y="958"/>
              <a:ext cx="52" cy="185"/>
              <a:chOff x="4012" y="3701"/>
              <a:chExt cx="81" cy="289"/>
            </a:xfrm>
          </p:grpSpPr>
          <p:sp>
            <p:nvSpPr>
              <p:cNvPr id="340001" name="Line 33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0002" name="Line 34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40003" name="Text Box 35"/>
            <p:cNvSpPr txBox="1">
              <a:spLocks noChangeArrowheads="1"/>
            </p:cNvSpPr>
            <p:nvPr/>
          </p:nvSpPr>
          <p:spPr bwMode="auto">
            <a:xfrm>
              <a:off x="1376" y="917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40004" name="Text Box 36"/>
            <p:cNvSpPr txBox="1">
              <a:spLocks noChangeArrowheads="1"/>
            </p:cNvSpPr>
            <p:nvPr/>
          </p:nvSpPr>
          <p:spPr bwMode="auto">
            <a:xfrm>
              <a:off x="671" y="92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40005" name="Line 37"/>
            <p:cNvSpPr>
              <a:spLocks noChangeShapeType="1"/>
            </p:cNvSpPr>
            <p:nvPr/>
          </p:nvSpPr>
          <p:spPr bwMode="auto">
            <a:xfrm flipV="1">
              <a:off x="884" y="705"/>
              <a:ext cx="135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6" name="Text Box 38"/>
            <p:cNvSpPr txBox="1">
              <a:spLocks noChangeArrowheads="1"/>
            </p:cNvSpPr>
            <p:nvPr/>
          </p:nvSpPr>
          <p:spPr bwMode="auto">
            <a:xfrm>
              <a:off x="658" y="68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0007" name="Text Box 39"/>
            <p:cNvSpPr txBox="1">
              <a:spLocks noChangeArrowheads="1"/>
            </p:cNvSpPr>
            <p:nvPr/>
          </p:nvSpPr>
          <p:spPr bwMode="auto">
            <a:xfrm>
              <a:off x="657" y="110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0008" name="Line 40"/>
            <p:cNvSpPr>
              <a:spLocks noChangeShapeType="1"/>
            </p:cNvSpPr>
            <p:nvPr/>
          </p:nvSpPr>
          <p:spPr bwMode="auto">
            <a:xfrm>
              <a:off x="1365" y="705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9" name="Line 41"/>
            <p:cNvSpPr>
              <a:spLocks noChangeShapeType="1"/>
            </p:cNvSpPr>
            <p:nvPr/>
          </p:nvSpPr>
          <p:spPr bwMode="auto">
            <a:xfrm>
              <a:off x="1366" y="107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10" name="Line 42"/>
            <p:cNvSpPr>
              <a:spLocks noChangeShapeType="1"/>
            </p:cNvSpPr>
            <p:nvPr/>
          </p:nvSpPr>
          <p:spPr bwMode="auto">
            <a:xfrm>
              <a:off x="905" y="639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11" name="Line 43"/>
            <p:cNvSpPr>
              <a:spLocks noChangeShapeType="1"/>
            </p:cNvSpPr>
            <p:nvPr/>
          </p:nvSpPr>
          <p:spPr bwMode="auto">
            <a:xfrm rot="5400000">
              <a:off x="1329" y="870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12" name="Text Box 44"/>
            <p:cNvSpPr txBox="1">
              <a:spLocks noChangeArrowheads="1"/>
            </p:cNvSpPr>
            <p:nvPr/>
          </p:nvSpPr>
          <p:spPr bwMode="auto">
            <a:xfrm>
              <a:off x="1366" y="693"/>
              <a:ext cx="409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grpSp>
          <p:nvGrpSpPr>
            <p:cNvPr id="340013" name="Group 45"/>
            <p:cNvGrpSpPr>
              <a:grpSpLocks/>
            </p:cNvGrpSpPr>
            <p:nvPr/>
          </p:nvGrpSpPr>
          <p:grpSpPr bwMode="auto">
            <a:xfrm rot="5400000">
              <a:off x="1908" y="957"/>
              <a:ext cx="52" cy="185"/>
              <a:chOff x="4012" y="3701"/>
              <a:chExt cx="81" cy="289"/>
            </a:xfrm>
          </p:grpSpPr>
          <p:sp>
            <p:nvSpPr>
              <p:cNvPr id="340014" name="Line 46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0015" name="Line 47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40016" name="Text Box 48"/>
            <p:cNvSpPr txBox="1">
              <a:spLocks noChangeArrowheads="1"/>
            </p:cNvSpPr>
            <p:nvPr/>
          </p:nvSpPr>
          <p:spPr bwMode="auto">
            <a:xfrm>
              <a:off x="1942" y="917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40017" name="Line 49"/>
            <p:cNvSpPr>
              <a:spLocks noChangeShapeType="1"/>
            </p:cNvSpPr>
            <p:nvPr/>
          </p:nvSpPr>
          <p:spPr bwMode="auto">
            <a:xfrm>
              <a:off x="1931" y="704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18" name="Line 50"/>
            <p:cNvSpPr>
              <a:spLocks noChangeShapeType="1"/>
            </p:cNvSpPr>
            <p:nvPr/>
          </p:nvSpPr>
          <p:spPr bwMode="auto">
            <a:xfrm>
              <a:off x="1932" y="107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19" name="Line 51"/>
            <p:cNvSpPr>
              <a:spLocks noChangeShapeType="1"/>
            </p:cNvSpPr>
            <p:nvPr/>
          </p:nvSpPr>
          <p:spPr bwMode="auto">
            <a:xfrm rot="5400000">
              <a:off x="1894" y="870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20" name="Text Box 52"/>
            <p:cNvSpPr txBox="1">
              <a:spLocks noChangeArrowheads="1"/>
            </p:cNvSpPr>
            <p:nvPr/>
          </p:nvSpPr>
          <p:spPr bwMode="auto">
            <a:xfrm>
              <a:off x="1932" y="693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grpSp>
          <p:nvGrpSpPr>
            <p:cNvPr id="340021" name="Group 53"/>
            <p:cNvGrpSpPr>
              <a:grpSpLocks/>
            </p:cNvGrpSpPr>
            <p:nvPr/>
          </p:nvGrpSpPr>
          <p:grpSpPr bwMode="auto">
            <a:xfrm rot="5400000">
              <a:off x="2752" y="957"/>
              <a:ext cx="52" cy="185"/>
              <a:chOff x="4012" y="3701"/>
              <a:chExt cx="81" cy="289"/>
            </a:xfrm>
          </p:grpSpPr>
          <p:sp>
            <p:nvSpPr>
              <p:cNvPr id="340022" name="Line 54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0023" name="Line 55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40024" name="Text Box 56"/>
            <p:cNvSpPr txBox="1">
              <a:spLocks noChangeArrowheads="1"/>
            </p:cNvSpPr>
            <p:nvPr/>
          </p:nvSpPr>
          <p:spPr bwMode="auto">
            <a:xfrm>
              <a:off x="2786" y="917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40025" name="Line 57"/>
            <p:cNvSpPr>
              <a:spLocks noChangeShapeType="1"/>
            </p:cNvSpPr>
            <p:nvPr/>
          </p:nvSpPr>
          <p:spPr bwMode="auto">
            <a:xfrm>
              <a:off x="2775" y="704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26" name="Line 58"/>
            <p:cNvSpPr>
              <a:spLocks noChangeShapeType="1"/>
            </p:cNvSpPr>
            <p:nvPr/>
          </p:nvSpPr>
          <p:spPr bwMode="auto">
            <a:xfrm>
              <a:off x="2776" y="107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27" name="Line 59"/>
            <p:cNvSpPr>
              <a:spLocks noChangeShapeType="1"/>
            </p:cNvSpPr>
            <p:nvPr/>
          </p:nvSpPr>
          <p:spPr bwMode="auto">
            <a:xfrm rot="5400000">
              <a:off x="2738" y="870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29" name="Line 61"/>
            <p:cNvSpPr>
              <a:spLocks noChangeShapeType="1"/>
            </p:cNvSpPr>
            <p:nvPr/>
          </p:nvSpPr>
          <p:spPr bwMode="auto">
            <a:xfrm>
              <a:off x="2528" y="708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0" name="Line 62"/>
            <p:cNvSpPr>
              <a:spLocks noChangeShapeType="1"/>
            </p:cNvSpPr>
            <p:nvPr/>
          </p:nvSpPr>
          <p:spPr bwMode="auto">
            <a:xfrm flipH="1">
              <a:off x="2558" y="1428"/>
              <a:ext cx="2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1" name="Line 63"/>
            <p:cNvSpPr>
              <a:spLocks noChangeShapeType="1"/>
            </p:cNvSpPr>
            <p:nvPr/>
          </p:nvSpPr>
          <p:spPr bwMode="auto">
            <a:xfrm>
              <a:off x="2269" y="708"/>
              <a:ext cx="2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2" name="Line 64"/>
            <p:cNvSpPr>
              <a:spLocks noChangeShapeType="1"/>
            </p:cNvSpPr>
            <p:nvPr/>
          </p:nvSpPr>
          <p:spPr bwMode="auto">
            <a:xfrm>
              <a:off x="2260" y="1428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3" name="Oval 65"/>
            <p:cNvSpPr>
              <a:spLocks noChangeArrowheads="1"/>
            </p:cNvSpPr>
            <p:nvPr/>
          </p:nvSpPr>
          <p:spPr bwMode="auto">
            <a:xfrm>
              <a:off x="832" y="681"/>
              <a:ext cx="44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4" name="Oval 66"/>
            <p:cNvSpPr>
              <a:spLocks noChangeArrowheads="1"/>
            </p:cNvSpPr>
            <p:nvPr/>
          </p:nvSpPr>
          <p:spPr bwMode="auto">
            <a:xfrm>
              <a:off x="829" y="1408"/>
              <a:ext cx="43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5" name="Text Box 67"/>
            <p:cNvSpPr txBox="1">
              <a:spLocks noChangeArrowheads="1"/>
            </p:cNvSpPr>
            <p:nvPr/>
          </p:nvSpPr>
          <p:spPr bwMode="auto">
            <a:xfrm>
              <a:off x="1014" y="75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0036" name="Text Box 68"/>
            <p:cNvSpPr txBox="1">
              <a:spLocks noChangeArrowheads="1"/>
            </p:cNvSpPr>
            <p:nvPr/>
          </p:nvSpPr>
          <p:spPr bwMode="auto">
            <a:xfrm>
              <a:off x="1012" y="10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0037" name="Text Box 69"/>
            <p:cNvSpPr txBox="1">
              <a:spLocks noChangeArrowheads="1"/>
            </p:cNvSpPr>
            <p:nvPr/>
          </p:nvSpPr>
          <p:spPr bwMode="auto">
            <a:xfrm>
              <a:off x="1617" y="107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0038" name="Text Box 70"/>
            <p:cNvSpPr txBox="1">
              <a:spLocks noChangeArrowheads="1"/>
            </p:cNvSpPr>
            <p:nvPr/>
          </p:nvSpPr>
          <p:spPr bwMode="auto">
            <a:xfrm>
              <a:off x="1599" y="739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0039" name="Text Box 71"/>
            <p:cNvSpPr txBox="1">
              <a:spLocks noChangeArrowheads="1"/>
            </p:cNvSpPr>
            <p:nvPr/>
          </p:nvSpPr>
          <p:spPr bwMode="auto">
            <a:xfrm>
              <a:off x="2397" y="7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0040" name="Text Box 72"/>
            <p:cNvSpPr txBox="1">
              <a:spLocks noChangeArrowheads="1"/>
            </p:cNvSpPr>
            <p:nvPr/>
          </p:nvSpPr>
          <p:spPr bwMode="auto">
            <a:xfrm>
              <a:off x="2395" y="1067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0041" name="Text Box 73"/>
            <p:cNvSpPr txBox="1">
              <a:spLocks noChangeArrowheads="1"/>
            </p:cNvSpPr>
            <p:nvPr/>
          </p:nvSpPr>
          <p:spPr bwMode="auto">
            <a:xfrm>
              <a:off x="1003" y="889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40042" name="Text Box 74"/>
            <p:cNvSpPr txBox="1">
              <a:spLocks noChangeArrowheads="1"/>
            </p:cNvSpPr>
            <p:nvPr/>
          </p:nvSpPr>
          <p:spPr bwMode="auto">
            <a:xfrm>
              <a:off x="1570" y="898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40043" name="Text Box 75"/>
            <p:cNvSpPr txBox="1">
              <a:spLocks noChangeArrowheads="1"/>
            </p:cNvSpPr>
            <p:nvPr/>
          </p:nvSpPr>
          <p:spPr bwMode="auto">
            <a:xfrm>
              <a:off x="2376" y="898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 i="1"/>
            </a:p>
          </p:txBody>
        </p:sp>
        <p:sp>
          <p:nvSpPr>
            <p:cNvPr id="340044" name="Text Box 76"/>
            <p:cNvSpPr txBox="1">
              <a:spLocks noChangeArrowheads="1"/>
            </p:cNvSpPr>
            <p:nvPr/>
          </p:nvSpPr>
          <p:spPr bwMode="auto">
            <a:xfrm>
              <a:off x="1281" y="1447"/>
              <a:ext cx="1104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/>
                <a:t>n</a:t>
              </a:r>
              <a:r>
                <a:rPr lang="zh-CN" altLang="en-US" sz="2000" b="1"/>
                <a:t>个电容并联</a:t>
              </a:r>
            </a:p>
          </p:txBody>
        </p:sp>
      </p:grpSp>
      <p:sp>
        <p:nvSpPr>
          <p:cNvPr id="340045" name="AutoShape 77"/>
          <p:cNvSpPr>
            <a:spLocks noChangeArrowheads="1"/>
          </p:cNvSpPr>
          <p:nvPr/>
        </p:nvSpPr>
        <p:spPr bwMode="auto">
          <a:xfrm>
            <a:off x="5081588" y="153987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CC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0046" name="Object 78"/>
          <p:cNvGraphicFramePr>
            <a:graphicFrameLocks noChangeAspect="1"/>
          </p:cNvGraphicFramePr>
          <p:nvPr/>
        </p:nvGraphicFramePr>
        <p:xfrm>
          <a:off x="5651500" y="4797425"/>
          <a:ext cx="2909888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34960" imgH="685800" progId="Equation.DSMT4">
                  <p:embed/>
                </p:oleObj>
              </mc:Choice>
              <mc:Fallback>
                <p:oleObj name="Equation" r:id="rId11" imgW="1434960" imgH="685800" progId="Equation.DSMT4">
                  <p:embed/>
                  <p:pic>
                    <p:nvPicPr>
                      <p:cNvPr id="340046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797425"/>
                        <a:ext cx="2909888" cy="1376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0047" name="Rectangle 79"/>
          <p:cNvSpPr>
            <a:spLocks noChangeArrowheads="1"/>
          </p:cNvSpPr>
          <p:nvPr/>
        </p:nvSpPr>
        <p:spPr bwMode="auto">
          <a:xfrm>
            <a:off x="5651500" y="3933825"/>
            <a:ext cx="30241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等效电容</a:t>
            </a:r>
            <a:r>
              <a:rPr lang="zh-CN" altLang="en-US" sz="2400" b="1"/>
              <a:t>与各电容的关系式为</a:t>
            </a:r>
          </a:p>
        </p:txBody>
      </p:sp>
      <p:sp>
        <p:nvSpPr>
          <p:cNvPr id="340048" name="Rectangle 80"/>
          <p:cNvSpPr>
            <a:spLocks noChangeArrowheads="1"/>
          </p:cNvSpPr>
          <p:nvPr/>
        </p:nvSpPr>
        <p:spPr bwMode="auto">
          <a:xfrm>
            <a:off x="719138" y="6200775"/>
            <a:ext cx="7467600" cy="4572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901700" indent="-901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810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604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398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个并联电容的等效电容值等于各电容值之和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3328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0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0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3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33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33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4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34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4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0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0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0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93" grpId="0"/>
      <p:bldP spid="339994" grpId="0"/>
      <p:bldP spid="340047" grpId="0"/>
      <p:bldP spid="3400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19"/>
          <p:cNvSpPr>
            <a:spLocks noChangeArrowheads="1"/>
          </p:cNvSpPr>
          <p:nvPr/>
        </p:nvSpPr>
        <p:spPr bwMode="auto">
          <a:xfrm>
            <a:off x="0" y="3427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grpSp>
        <p:nvGrpSpPr>
          <p:cNvPr id="311353" name="Group 57"/>
          <p:cNvGrpSpPr>
            <a:grpSpLocks/>
          </p:cNvGrpSpPr>
          <p:nvPr/>
        </p:nvGrpSpPr>
        <p:grpSpPr bwMode="auto">
          <a:xfrm>
            <a:off x="5651500" y="1773238"/>
            <a:ext cx="2317750" cy="431800"/>
            <a:chOff x="3560" y="1117"/>
            <a:chExt cx="1460" cy="272"/>
          </a:xfrm>
        </p:grpSpPr>
        <p:sp>
          <p:nvSpPr>
            <p:cNvPr id="15386" name="Line 25"/>
            <p:cNvSpPr>
              <a:spLocks noChangeShapeType="1"/>
            </p:cNvSpPr>
            <p:nvPr/>
          </p:nvSpPr>
          <p:spPr bwMode="auto">
            <a:xfrm>
              <a:off x="3742" y="1389"/>
              <a:ext cx="1134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7" name="Rectangle 26"/>
            <p:cNvSpPr>
              <a:spLocks noChangeArrowheads="1"/>
            </p:cNvSpPr>
            <p:nvPr/>
          </p:nvSpPr>
          <p:spPr bwMode="auto">
            <a:xfrm>
              <a:off x="3560" y="1117"/>
              <a:ext cx="14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>
                  <a:ea typeface="隶书" panose="02010509060101010101" pitchFamily="49" charset="-122"/>
                </a:rPr>
                <a:t>线性时不变电感</a:t>
              </a:r>
            </a:p>
          </p:txBody>
        </p:sp>
      </p:grpSp>
      <p:graphicFrame>
        <p:nvGraphicFramePr>
          <p:cNvPr id="311324" name="Object 28"/>
          <p:cNvGraphicFramePr>
            <a:graphicFrameLocks noChangeAspect="1"/>
          </p:cNvGraphicFramePr>
          <p:nvPr/>
        </p:nvGraphicFramePr>
        <p:xfrm>
          <a:off x="-61913" y="1079500"/>
          <a:ext cx="2670176" cy="275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441664" imgH="1486889" progId="Visio.Drawing.11">
                  <p:embed/>
                </p:oleObj>
              </mc:Choice>
              <mc:Fallback>
                <p:oleObj name="Visio" r:id="rId2" imgW="1441664" imgH="1486889" progId="Visio.Drawing.11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1913" y="1079500"/>
                        <a:ext cx="2670176" cy="275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26" name="Object 30"/>
          <p:cNvGraphicFramePr>
            <a:graphicFrameLocks noChangeAspect="1"/>
          </p:cNvGraphicFramePr>
          <p:nvPr/>
        </p:nvGraphicFramePr>
        <p:xfrm>
          <a:off x="2698750" y="492125"/>
          <a:ext cx="3024188" cy="32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631831" imgH="1725436" progId="Visio.Drawing.11">
                  <p:embed/>
                </p:oleObj>
              </mc:Choice>
              <mc:Fallback>
                <p:oleObj name="Visio" r:id="rId4" imgW="1631831" imgH="1725436" progId="Visio.Drawing.11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492125"/>
                        <a:ext cx="3024188" cy="320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28" name="Object 32"/>
          <p:cNvGraphicFramePr>
            <a:graphicFrameLocks noChangeAspect="1"/>
          </p:cNvGraphicFramePr>
          <p:nvPr/>
        </p:nvGraphicFramePr>
        <p:xfrm>
          <a:off x="7726363" y="1246188"/>
          <a:ext cx="1238250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664584" imgH="1187607" progId="Visio.Drawing.11">
                  <p:embed/>
                </p:oleObj>
              </mc:Choice>
              <mc:Fallback>
                <p:oleObj name="Visio" r:id="rId6" imgW="664584" imgH="1187607" progId="Visio.Drawing.11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6363" y="1246188"/>
                        <a:ext cx="1238250" cy="221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6"/>
          <p:cNvSpPr txBox="1">
            <a:spLocks noChangeArrowheads="1"/>
          </p:cNvSpPr>
          <p:nvPr/>
        </p:nvSpPr>
        <p:spPr bwMode="auto">
          <a:xfrm>
            <a:off x="152400" y="115888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7.3 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电感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6724650" y="5146818"/>
            <a:ext cx="15811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</a:rPr>
              <a:t>inductance</a:t>
            </a: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53"/>
          <p:cNvSpPr txBox="1">
            <a:spLocks noChangeArrowheads="1"/>
          </p:cNvSpPr>
          <p:nvPr/>
        </p:nvSpPr>
        <p:spPr bwMode="auto">
          <a:xfrm>
            <a:off x="288925" y="3879884"/>
            <a:ext cx="337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1. 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线性时不变电感元件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1" name="Object 54" descr="羊皮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745687"/>
              </p:ext>
            </p:extLst>
          </p:nvPr>
        </p:nvGraphicFramePr>
        <p:xfrm>
          <a:off x="1484312" y="4505468"/>
          <a:ext cx="1325563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406080" progId="Equation.DSMT4">
                  <p:embed/>
                </p:oleObj>
              </mc:Choice>
              <mc:Fallback>
                <p:oleObj name="Equation" r:id="rId8" imgW="469800" imgH="406080" progId="Equation.DSMT4">
                  <p:embed/>
                  <p:pic>
                    <p:nvPicPr>
                      <p:cNvPr id="3126" name="Object 54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312" y="4505468"/>
                        <a:ext cx="1325563" cy="1139825"/>
                      </a:xfrm>
                      <a:prstGeom prst="rect">
                        <a:avLst/>
                      </a:prstGeom>
                      <a:blipFill dpi="0" rotWithShape="0">
                        <a:blip r:embed="rId10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FF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55"/>
          <p:cNvSpPr txBox="1">
            <a:spLocks noChangeArrowheads="1"/>
          </p:cNvSpPr>
          <p:nvPr/>
        </p:nvSpPr>
        <p:spPr bwMode="auto">
          <a:xfrm>
            <a:off x="3414712" y="4606279"/>
            <a:ext cx="56937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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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为电感线圈的磁链单位（</a:t>
            </a:r>
            <a:r>
              <a:rPr lang="en-US" altLang="zh-CN" sz="2400" b="1" dirty="0" err="1">
                <a:solidFill>
                  <a:schemeClr val="tx2"/>
                </a:solidFill>
                <a:sym typeface="Symbol" panose="05050102010706020507" pitchFamily="18" charset="2"/>
              </a:rPr>
              <a:t>Wb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33" name="Text Box 56"/>
          <p:cNvSpPr txBox="1">
            <a:spLocks noChangeArrowheads="1"/>
          </p:cNvSpPr>
          <p:nvPr/>
        </p:nvSpPr>
        <p:spPr bwMode="auto">
          <a:xfrm>
            <a:off x="3871912" y="4958332"/>
            <a:ext cx="2590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称为</a:t>
            </a:r>
            <a:r>
              <a:rPr lang="zh-CN" altLang="en-US" sz="2400" b="1" dirty="0">
                <a:solidFill>
                  <a:schemeClr val="tx2"/>
                </a:solidFill>
              </a:rPr>
              <a:t>电感量、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自感系数</a:t>
            </a:r>
          </a:p>
        </p:txBody>
      </p:sp>
      <p:sp>
        <p:nvSpPr>
          <p:cNvPr id="34" name="Text Box 57"/>
          <p:cNvSpPr txBox="1">
            <a:spLocks noChangeArrowheads="1"/>
          </p:cNvSpPr>
          <p:nvPr/>
        </p:nvSpPr>
        <p:spPr bwMode="auto">
          <a:xfrm>
            <a:off x="976312" y="5678630"/>
            <a:ext cx="6992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的单位名称：亨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利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]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符号：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H   (Henry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 b="1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" name="Text Box 58"/>
          <p:cNvSpPr txBox="1">
            <a:spLocks noChangeArrowheads="1"/>
          </p:cNvSpPr>
          <p:nvPr/>
        </p:nvSpPr>
        <p:spPr bwMode="auto">
          <a:xfrm>
            <a:off x="683568" y="6243638"/>
            <a:ext cx="436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电感以</a:t>
            </a:r>
            <a:r>
              <a:rPr kumimoji="1"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磁场形式存储能量</a:t>
            </a:r>
            <a:r>
              <a:rPr kumimoji="1" lang="zh-CN" altLang="en-US" sz="2400" b="1" dirty="0">
                <a:solidFill>
                  <a:srgbClr val="000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 autoUpdateAnimBg="0"/>
      <p:bldP spid="30" grpId="0" build="p" autoUpdateAnimBg="0"/>
      <p:bldP spid="32" grpId="0" build="p" autoUpdateAnimBg="0"/>
      <p:bldP spid="33" grpId="0" build="p" autoUpdateAnimBg="0"/>
      <p:bldP spid="34" grpId="0" build="p" autoUpdateAnimBg="0"/>
      <p:bldP spid="3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392113" y="523528"/>
            <a:ext cx="437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2.   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线性电感电压、电流关系：</a:t>
            </a: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4452395" y="1296020"/>
            <a:ext cx="4508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由电磁感应定律与楞次定律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60" name="Text Box 16"/>
              <p:cNvSpPr txBox="1">
                <a:spLocks noChangeArrowheads="1"/>
              </p:cNvSpPr>
              <p:nvPr/>
            </p:nvSpPr>
            <p:spPr bwMode="auto">
              <a:xfrm>
                <a:off x="4580646" y="2184282"/>
                <a:ext cx="2236958" cy="7938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kumimoji="1"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kumimoji="1" lang="zh-CN" altLang="en-US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num>
                        <m:den>
                          <m:r>
                            <a:rPr kumimoji="1"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kumimoji="1"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f>
                        <m:fPr>
                          <m:ctrlPr>
                            <a:rPr kumimoji="1"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𝒅𝒊</m:t>
                          </m:r>
                        </m:num>
                        <m:den>
                          <m:r>
                            <a:rPr kumimoji="1"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kumimoji="1" lang="zh-CN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6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0646" y="2184282"/>
                <a:ext cx="2236958" cy="793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9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216790"/>
              </p:ext>
            </p:extLst>
          </p:nvPr>
        </p:nvGraphicFramePr>
        <p:xfrm>
          <a:off x="4805363" y="5529858"/>
          <a:ext cx="25177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760" imgH="342720" progId="Equation.DSMT4">
                  <p:embed/>
                </p:oleObj>
              </mc:Choice>
              <mc:Fallback>
                <p:oleObj name="Equation" r:id="rId5" imgW="1193760" imgH="342720" progId="Equation.DSMT4">
                  <p:embed/>
                  <p:pic>
                    <p:nvPicPr>
                      <p:cNvPr id="6194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5529858"/>
                        <a:ext cx="251777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128262"/>
              </p:ext>
            </p:extLst>
          </p:nvPr>
        </p:nvGraphicFramePr>
        <p:xfrm>
          <a:off x="39821" y="4461470"/>
          <a:ext cx="26733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69720" imgH="406080" progId="Equation.3">
                  <p:embed/>
                </p:oleObj>
              </mc:Choice>
              <mc:Fallback>
                <p:oleObj name="公式" r:id="rId7" imgW="1269720" imgH="406080" progId="Equation.3">
                  <p:embed/>
                  <p:pic>
                    <p:nvPicPr>
                      <p:cNvPr id="6195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1" y="4461470"/>
                        <a:ext cx="26733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32224"/>
              </p:ext>
            </p:extLst>
          </p:nvPr>
        </p:nvGraphicFramePr>
        <p:xfrm>
          <a:off x="2678113" y="4463058"/>
          <a:ext cx="3027362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434960" imgH="406080" progId="Equation.3">
                  <p:embed/>
                </p:oleObj>
              </mc:Choice>
              <mc:Fallback>
                <p:oleObj name="公式" r:id="rId9" imgW="1434960" imgH="406080" progId="Equation.3">
                  <p:embed/>
                  <p:pic>
                    <p:nvPicPr>
                      <p:cNvPr id="6196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4463058"/>
                        <a:ext cx="3027362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761950"/>
              </p:ext>
            </p:extLst>
          </p:nvPr>
        </p:nvGraphicFramePr>
        <p:xfrm>
          <a:off x="5699125" y="4456708"/>
          <a:ext cx="23304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04840" imgH="406080" progId="Equation.3">
                  <p:embed/>
                </p:oleObj>
              </mc:Choice>
              <mc:Fallback>
                <p:oleObj name="公式" r:id="rId11" imgW="1104840" imgH="406080" progId="Equation.3">
                  <p:embed/>
                  <p:pic>
                    <p:nvPicPr>
                      <p:cNvPr id="6197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4456708"/>
                        <a:ext cx="23304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244178"/>
              </p:ext>
            </p:extLst>
          </p:nvPr>
        </p:nvGraphicFramePr>
        <p:xfrm>
          <a:off x="1331913" y="5458420"/>
          <a:ext cx="28130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33440" imgH="406080" progId="Equation.3">
                  <p:embed/>
                </p:oleObj>
              </mc:Choice>
              <mc:Fallback>
                <p:oleObj name="Equation" r:id="rId13" imgW="1333440" imgH="406080" progId="Equation.3">
                  <p:embed/>
                  <p:pic>
                    <p:nvPicPr>
                      <p:cNvPr id="619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458420"/>
                        <a:ext cx="2813050" cy="8509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245132"/>
              </p:ext>
            </p:extLst>
          </p:nvPr>
        </p:nvGraphicFramePr>
        <p:xfrm>
          <a:off x="683568" y="1102518"/>
          <a:ext cx="3024188" cy="32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1631831" imgH="1725436" progId="Visio.Drawing.11">
                  <p:embed/>
                </p:oleObj>
              </mc:Choice>
              <mc:Fallback>
                <p:oleObj name="Visio" r:id="rId15" imgW="1631831" imgH="1725436" progId="Visio.Drawing.11">
                  <p:embed/>
                  <p:pic>
                    <p:nvPicPr>
                      <p:cNvPr id="31132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102518"/>
                        <a:ext cx="3024188" cy="320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20666" y="34684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动态元件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327362" y="41070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储能元件</a:t>
            </a:r>
          </a:p>
        </p:txBody>
      </p:sp>
      <p:graphicFrame>
        <p:nvGraphicFramePr>
          <p:cNvPr id="14" name="Object 54" descr="羊皮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384040"/>
              </p:ext>
            </p:extLst>
          </p:nvPr>
        </p:nvGraphicFramePr>
        <p:xfrm>
          <a:off x="7092281" y="2133599"/>
          <a:ext cx="1080120" cy="928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69800" imgH="406080" progId="Equation.DSMT4">
                  <p:embed/>
                </p:oleObj>
              </mc:Choice>
              <mc:Fallback>
                <p:oleObj name="Equation" r:id="rId17" imgW="469800" imgH="406080" progId="Equation.DSMT4">
                  <p:embed/>
                  <p:pic>
                    <p:nvPicPr>
                      <p:cNvPr id="31" name="Object 54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1" y="2133599"/>
                        <a:ext cx="1080120" cy="928773"/>
                      </a:xfrm>
                      <a:prstGeom prst="rect">
                        <a:avLst/>
                      </a:prstGeom>
                      <a:blipFill dpi="0" rotWithShape="0">
                        <a:blip r:embed="rId19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>
                        <a:prstShdw prst="shdw17" dist="17961" dir="2700000">
                          <a:srgbClr val="FFFFCC">
                            <a:gamma/>
                            <a:shade val="60000"/>
                            <a:invGamma/>
                          </a:srgbClr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74664" y="378773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记忆元件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95936" y="3284622"/>
            <a:ext cx="4397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线性电感中电压与电流的变化率成正比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电流变化产生电压</a:t>
            </a:r>
          </a:p>
        </p:txBody>
      </p:sp>
      <p:sp>
        <p:nvSpPr>
          <p:cNvPr id="3" name="线形标注 1(无边框) 2"/>
          <p:cNvSpPr/>
          <p:nvPr/>
        </p:nvSpPr>
        <p:spPr bwMode="auto">
          <a:xfrm>
            <a:off x="6635081" y="3844060"/>
            <a:ext cx="914400" cy="612648"/>
          </a:xfrm>
          <a:prstGeom prst="callout1">
            <a:avLst>
              <a:gd name="adj1" fmla="val 56064"/>
              <a:gd name="adj2" fmla="val 321"/>
              <a:gd name="adj3" fmla="val 136897"/>
              <a:gd name="adj4" fmla="val -39295"/>
            </a:avLst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隶书" panose="02010509060101010101" pitchFamily="49" charset="-122"/>
              </a:rPr>
              <a:t>初始电流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95662" y="6423734"/>
            <a:ext cx="5625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电感电压在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0</a:t>
            </a:r>
            <a:r>
              <a:rPr lang="zh-CN" altLang="en-US" sz="2000" dirty="0"/>
              <a:t>处为有限值时，电感电流在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0</a:t>
            </a:r>
            <a:r>
              <a:rPr lang="zh-CN" altLang="en-US" sz="2000" dirty="0"/>
              <a:t>处连续</a:t>
            </a:r>
          </a:p>
        </p:txBody>
      </p:sp>
    </p:spTree>
    <p:extLst>
      <p:ext uri="{BB962C8B-B14F-4D97-AF65-F5344CB8AC3E}">
        <p14:creationId xmlns:p14="http://schemas.microsoft.com/office/powerpoint/2010/main" val="29182999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7" grpId="0" build="p" autoUpdateAnimBg="0"/>
      <p:bldP spid="6158" grpId="0" build="p" autoUpdateAnimBg="0"/>
      <p:bldP spid="6160" grpId="0"/>
      <p:bldP spid="12" grpId="0"/>
      <p:bldP spid="13" grpId="0"/>
      <p:bldP spid="15" grpId="0"/>
      <p:bldP spid="2" grpId="0"/>
      <p:bldP spid="3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098675" y="25431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kumimoji="1" lang="zh-CN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724400" y="97790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4120" imgH="215640" progId="Equation.3">
                  <p:embed/>
                </p:oleObj>
              </mc:Choice>
              <mc:Fallback>
                <p:oleObj name="公式" r:id="rId3" imgW="114120" imgH="215640" progId="Equation.3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97790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971550" y="3386138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电感元件是一种记忆元件；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971550" y="2200491"/>
            <a:ext cx="6984826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 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为常数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直流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 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=0,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电感在直流电路中相当于短路；</a:t>
            </a:r>
            <a:endParaRPr kumimoji="1"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009600" y="5581689"/>
            <a:ext cx="7162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52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(5) 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当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为关联方向时，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L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/ 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非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关联方向时，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–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L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/ 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476250" y="620713"/>
            <a:ext cx="4632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电感的电压</a:t>
            </a:r>
            <a:r>
              <a:rPr kumimoji="1" lang="en-US" altLang="zh-CN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-</a:t>
            </a:r>
            <a:r>
              <a:rPr kumimoji="1" lang="zh-CN" altLang="en-US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电流关系小结：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971549" y="1423343"/>
            <a:ext cx="78200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的大小与 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变化率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成正比，与 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2400" b="1" i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的大小无关；</a:t>
            </a:r>
            <a:endParaRPr kumimoji="1"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27584" y="4077072"/>
            <a:ext cx="24929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kumimoji="0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0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0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）电流连续性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4" name="Group 18"/>
          <p:cNvGrpSpPr>
            <a:grpSpLocks/>
          </p:cNvGrpSpPr>
          <p:nvPr/>
        </p:nvGrpSpPr>
        <p:grpSpPr bwMode="auto">
          <a:xfrm>
            <a:off x="4969495" y="4626347"/>
            <a:ext cx="1168400" cy="446087"/>
            <a:chOff x="2721" y="1933"/>
            <a:chExt cx="736" cy="281"/>
          </a:xfrm>
        </p:grpSpPr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2744" y="2205"/>
              <a:ext cx="680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20"/>
            <p:cNvGraphicFramePr>
              <a:graphicFrameLocks noChangeAspect="1"/>
            </p:cNvGraphicFramePr>
            <p:nvPr/>
          </p:nvGraphicFramePr>
          <p:xfrm>
            <a:off x="2721" y="1933"/>
            <a:ext cx="73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96900" imgH="228600" progId="Equation.DSMT4">
                    <p:embed/>
                  </p:oleObj>
                </mc:Choice>
                <mc:Fallback>
                  <p:oleObj name="Equation" r:id="rId5" imgW="596900" imgH="228600" progId="Equation.DSMT4">
                    <p:embed/>
                    <p:pic>
                      <p:nvPicPr>
                        <p:cNvPr id="1640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1933"/>
                          <a:ext cx="736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201523"/>
              </p:ext>
            </p:extLst>
          </p:nvPr>
        </p:nvGraphicFramePr>
        <p:xfrm>
          <a:off x="6425233" y="4712072"/>
          <a:ext cx="19065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447" imgH="228501" progId="Equation.DSMT4">
                  <p:embed/>
                </p:oleObj>
              </mc:Choice>
              <mc:Fallback>
                <p:oleObj name="Equation" r:id="rId7" imgW="812447" imgH="228501" progId="Equation.DSMT4">
                  <p:embed/>
                  <p:pic>
                    <p:nvPicPr>
                      <p:cNvPr id="31336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233" y="4712072"/>
                        <a:ext cx="19065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786067"/>
              </p:ext>
            </p:extLst>
          </p:nvPr>
        </p:nvGraphicFramePr>
        <p:xfrm>
          <a:off x="1140445" y="4615234"/>
          <a:ext cx="29749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700" imgH="482600" progId="Equation.DSMT4">
                  <p:embed/>
                </p:oleObj>
              </mc:Choice>
              <mc:Fallback>
                <p:oleObj name="Equation" r:id="rId9" imgW="1536700" imgH="482600" progId="Equation.DSMT4">
                  <p:embed/>
                  <p:pic>
                    <p:nvPicPr>
                      <p:cNvPr id="31338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445" y="4615234"/>
                        <a:ext cx="29749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26946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  <p:bldP spid="10245" grpId="0" build="p" autoUpdateAnimBg="0"/>
      <p:bldP spid="10246" grpId="0" build="p" autoUpdateAnimBg="0"/>
      <p:bldP spid="10247" grpId="0" build="p" autoUpdateAnimBg="0"/>
      <p:bldP spid="10248" grpId="0" build="p" autoUpdateAnimBg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446088" y="42545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3.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电感的储能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31838" y="4170363"/>
            <a:ext cx="4189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从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到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电感储能的变化量：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1693863" y="4805363"/>
          <a:ext cx="3300412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00200" imgH="393480" progId="Equation.3">
                  <p:embed/>
                </p:oleObj>
              </mc:Choice>
              <mc:Fallback>
                <p:oleObj name="公式" r:id="rId3" imgW="1600200" imgH="393480" progId="Equation.3">
                  <p:embed/>
                  <p:pic>
                    <p:nvPicPr>
                      <p:cNvPr id="12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3" y="4805363"/>
                        <a:ext cx="3300412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1301750" y="1039813"/>
          <a:ext cx="21780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54080" imgH="393480" progId="Equation.3">
                  <p:embed/>
                </p:oleObj>
              </mc:Choice>
              <mc:Fallback>
                <p:oleObj name="公式" r:id="rId5" imgW="1054080" imgH="393480" progId="Equation.3">
                  <p:embed/>
                  <p:pic>
                    <p:nvPicPr>
                      <p:cNvPr id="12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1039813"/>
                        <a:ext cx="21780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1206500" y="2965450"/>
          <a:ext cx="41719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06080" progId="Equation.DSMT4">
                  <p:embed/>
                </p:oleObj>
              </mc:Choice>
              <mc:Fallback>
                <p:oleObj name="Equation" r:id="rId7" imgW="1942920" imgH="406080" progId="Equation.DSMT4">
                  <p:embed/>
                  <p:pic>
                    <p:nvPicPr>
                      <p:cNvPr id="122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2965450"/>
                        <a:ext cx="41719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1328738" y="1938338"/>
          <a:ext cx="242728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30040" imgH="406080" progId="Equation.3">
                  <p:embed/>
                </p:oleObj>
              </mc:Choice>
              <mc:Fallback>
                <p:oleObj name="公式" r:id="rId9" imgW="1130040" imgH="406080" progId="Equation.3">
                  <p:embed/>
                  <p:pic>
                    <p:nvPicPr>
                      <p:cNvPr id="122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1938338"/>
                        <a:ext cx="2427287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3779838" y="1827213"/>
          <a:ext cx="1638300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61760" imgH="507960" progId="Equation.3">
                  <p:embed/>
                </p:oleObj>
              </mc:Choice>
              <mc:Fallback>
                <p:oleObj name="公式" r:id="rId11" imgW="761760" imgH="507960" progId="Equation.3">
                  <p:embed/>
                  <p:pic>
                    <p:nvPicPr>
                      <p:cNvPr id="122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827213"/>
                        <a:ext cx="163830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5391150" y="1925638"/>
          <a:ext cx="31099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47560" imgH="393480" progId="Equation.3">
                  <p:embed/>
                </p:oleObj>
              </mc:Choice>
              <mc:Fallback>
                <p:oleObj name="公式" r:id="rId13" imgW="1447560" imgH="393480" progId="Equation.3">
                  <p:embed/>
                  <p:pic>
                    <p:nvPicPr>
                      <p:cNvPr id="122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1925638"/>
                        <a:ext cx="31099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80099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19AE12-E327-434E-96D3-1446B652362A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43D63A-ECF4-459A-A879-D3A94BA7EF61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17413" name="Rectangle 6"/>
          <p:cNvSpPr>
            <a:spLocks noGrp="1" noChangeArrowheads="1"/>
          </p:cNvSpPr>
          <p:nvPr>
            <p:ph type="title"/>
          </p:nvPr>
        </p:nvSpPr>
        <p:spPr>
          <a:xfrm>
            <a:off x="34925" y="369888"/>
            <a:ext cx="7086600" cy="971550"/>
          </a:xfrm>
          <a:noFill/>
        </p:spPr>
        <p:txBody>
          <a:bodyPr lIns="92075" tIns="46038" rIns="92075" bIns="46038"/>
          <a:lstStyle/>
          <a:p>
            <a:pPr algn="l" eaLnBrk="1" hangingPunct="1"/>
            <a:r>
              <a:rPr lang="en-US" altLang="zh-CN">
                <a:solidFill>
                  <a:schemeClr val="folHlink"/>
                </a:solidFill>
                <a:ea typeface="隶书" panose="02010509060101010101" pitchFamily="49" charset="-122"/>
              </a:rPr>
              <a:t>Practice</a:t>
            </a:r>
            <a:endParaRPr lang="zh-CN" altLang="zh-CN">
              <a:solidFill>
                <a:schemeClr val="folHlink"/>
              </a:solidFill>
              <a:ea typeface="隶书" panose="02010509060101010101" pitchFamily="49" charset="-122"/>
            </a:endParaRPr>
          </a:p>
        </p:txBody>
      </p:sp>
      <p:sp>
        <p:nvSpPr>
          <p:cNvPr id="314375" name="Text Box 7"/>
          <p:cNvSpPr txBox="1">
            <a:spLocks noChangeArrowheads="1"/>
          </p:cNvSpPr>
          <p:nvPr/>
        </p:nvSpPr>
        <p:spPr bwMode="auto">
          <a:xfrm>
            <a:off x="1476375" y="639763"/>
            <a:ext cx="68040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Find the voltage of the capacitor and the current of the inductor.</a:t>
            </a:r>
          </a:p>
        </p:txBody>
      </p:sp>
      <p:graphicFrame>
        <p:nvGraphicFramePr>
          <p:cNvPr id="17415" name="Object 68"/>
          <p:cNvGraphicFramePr>
            <a:graphicFrameLocks noChangeAspect="1"/>
          </p:cNvGraphicFramePr>
          <p:nvPr/>
        </p:nvGraphicFramePr>
        <p:xfrm>
          <a:off x="539750" y="1614488"/>
          <a:ext cx="4824413" cy="246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98704" imgH="1124951" progId="Visio.Drawing.11">
                  <p:embed/>
                </p:oleObj>
              </mc:Choice>
              <mc:Fallback>
                <p:oleObj name="Visio" r:id="rId2" imgW="2198704" imgH="1124951" progId="Visio.Drawing.11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614488"/>
                        <a:ext cx="4824413" cy="246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435" name="Object 67"/>
          <p:cNvGraphicFramePr>
            <a:graphicFrameLocks noChangeAspect="1"/>
          </p:cNvGraphicFramePr>
          <p:nvPr/>
        </p:nvGraphicFramePr>
        <p:xfrm>
          <a:off x="541338" y="4133850"/>
          <a:ext cx="4826000" cy="246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95516" imgH="1124951" progId="Visio.Drawing.11">
                  <p:embed/>
                </p:oleObj>
              </mc:Choice>
              <mc:Fallback>
                <p:oleObj name="Visio" r:id="rId4" imgW="2195516" imgH="1124951" progId="Visio.Drawing.11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4133850"/>
                        <a:ext cx="4826000" cy="246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440" name="Object 72"/>
          <p:cNvGraphicFramePr>
            <a:graphicFrameLocks noChangeAspect="1"/>
          </p:cNvGraphicFramePr>
          <p:nvPr/>
        </p:nvGraphicFramePr>
        <p:xfrm>
          <a:off x="5508625" y="4343400"/>
          <a:ext cx="220503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6698" imgH="393529" progId="Equation.DSMT4">
                  <p:embed/>
                </p:oleObj>
              </mc:Choice>
              <mc:Fallback>
                <p:oleObj name="Equation" r:id="rId6" imgW="926698" imgH="393529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343400"/>
                        <a:ext cx="2205038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439" name="Object 71"/>
          <p:cNvGraphicFramePr>
            <a:graphicFrameLocks noChangeAspect="1"/>
          </p:cNvGraphicFramePr>
          <p:nvPr/>
        </p:nvGraphicFramePr>
        <p:xfrm>
          <a:off x="5508625" y="5422900"/>
          <a:ext cx="30241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449" imgH="393529" progId="Equation.DSMT4">
                  <p:embed/>
                </p:oleObj>
              </mc:Choice>
              <mc:Fallback>
                <p:oleObj name="Equation" r:id="rId8" imgW="1269449" imgH="393529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422900"/>
                        <a:ext cx="3024188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 txBox="1">
            <a:spLocks noChangeArrowheads="1"/>
          </p:cNvSpPr>
          <p:nvPr/>
        </p:nvSpPr>
        <p:spPr bwMode="auto">
          <a:xfrm>
            <a:off x="152400" y="115888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7.3 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电感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68275"/>
            <a:ext cx="3251200" cy="490538"/>
          </a:xfrm>
        </p:spPr>
        <p:txBody>
          <a:bodyPr/>
          <a:lstStyle/>
          <a:p>
            <a:pPr algn="just"/>
            <a:r>
              <a:rPr kumimoji="1" lang="en-US" altLang="zh-CN" sz="2400" b="1">
                <a:solidFill>
                  <a:srgbClr val="FF0000"/>
                </a:solidFill>
              </a:rPr>
              <a:t>4. </a:t>
            </a:r>
            <a:r>
              <a:rPr kumimoji="1" lang="zh-CN" altLang="en-US" sz="2400" b="1">
                <a:solidFill>
                  <a:srgbClr val="FF0000"/>
                </a:solidFill>
              </a:rPr>
              <a:t>电感的串并联</a:t>
            </a:r>
          </a:p>
        </p:txBody>
      </p:sp>
      <p:grpSp>
        <p:nvGrpSpPr>
          <p:cNvPr id="340996" name="Group 4"/>
          <p:cNvGrpSpPr>
            <a:grpSpLocks/>
          </p:cNvGrpSpPr>
          <p:nvPr/>
        </p:nvGrpSpPr>
        <p:grpSpPr bwMode="auto">
          <a:xfrm>
            <a:off x="5795963" y="1068388"/>
            <a:ext cx="1981200" cy="2176462"/>
            <a:chOff x="3600" y="864"/>
            <a:chExt cx="1248" cy="1371"/>
          </a:xfrm>
        </p:grpSpPr>
        <p:sp>
          <p:nvSpPr>
            <p:cNvPr id="340997" name="Line 5"/>
            <p:cNvSpPr>
              <a:spLocks noChangeShapeType="1"/>
            </p:cNvSpPr>
            <p:nvPr/>
          </p:nvSpPr>
          <p:spPr bwMode="auto">
            <a:xfrm flipH="1" flipV="1">
              <a:off x="3822" y="1902"/>
              <a:ext cx="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0998" name="Text Box 6"/>
            <p:cNvSpPr txBox="1">
              <a:spLocks noChangeArrowheads="1"/>
            </p:cNvSpPr>
            <p:nvPr/>
          </p:nvSpPr>
          <p:spPr bwMode="auto">
            <a:xfrm>
              <a:off x="4224" y="1440"/>
              <a:ext cx="624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eq            </a:t>
              </a:r>
              <a:endParaRPr lang="en-US" altLang="zh-CN" sz="2000" b="1"/>
            </a:p>
          </p:txBody>
        </p:sp>
        <p:sp>
          <p:nvSpPr>
            <p:cNvPr id="340999" name="Text Box 7"/>
            <p:cNvSpPr txBox="1">
              <a:spLocks noChangeArrowheads="1"/>
            </p:cNvSpPr>
            <p:nvPr/>
          </p:nvSpPr>
          <p:spPr bwMode="auto">
            <a:xfrm>
              <a:off x="3614" y="1392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41000" name="Text Box 8"/>
            <p:cNvSpPr txBox="1">
              <a:spLocks noChangeArrowheads="1"/>
            </p:cNvSpPr>
            <p:nvPr/>
          </p:nvSpPr>
          <p:spPr bwMode="auto">
            <a:xfrm>
              <a:off x="3732" y="864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41001" name="Line 9"/>
            <p:cNvSpPr>
              <a:spLocks noChangeShapeType="1"/>
            </p:cNvSpPr>
            <p:nvPr/>
          </p:nvSpPr>
          <p:spPr bwMode="auto">
            <a:xfrm flipV="1">
              <a:off x="3827" y="1178"/>
              <a:ext cx="48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02" name="Text Box 10"/>
            <p:cNvSpPr txBox="1">
              <a:spLocks noChangeArrowheads="1"/>
            </p:cNvSpPr>
            <p:nvPr/>
          </p:nvSpPr>
          <p:spPr bwMode="auto">
            <a:xfrm>
              <a:off x="3601" y="1153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1003" name="Text Box 11"/>
            <p:cNvSpPr txBox="1">
              <a:spLocks noChangeArrowheads="1"/>
            </p:cNvSpPr>
            <p:nvPr/>
          </p:nvSpPr>
          <p:spPr bwMode="auto">
            <a:xfrm>
              <a:off x="3600" y="1579"/>
              <a:ext cx="39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1004" name="Line 12"/>
            <p:cNvSpPr>
              <a:spLocks noChangeShapeType="1"/>
            </p:cNvSpPr>
            <p:nvPr/>
          </p:nvSpPr>
          <p:spPr bwMode="auto">
            <a:xfrm>
              <a:off x="4308" y="1177"/>
              <a:ext cx="0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05" name="Line 13"/>
            <p:cNvSpPr>
              <a:spLocks noChangeShapeType="1"/>
            </p:cNvSpPr>
            <p:nvPr/>
          </p:nvSpPr>
          <p:spPr bwMode="auto">
            <a:xfrm>
              <a:off x="4309" y="1697"/>
              <a:ext cx="0" cy="2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06" name="Line 14"/>
            <p:cNvSpPr>
              <a:spLocks noChangeShapeType="1"/>
            </p:cNvSpPr>
            <p:nvPr/>
          </p:nvSpPr>
          <p:spPr bwMode="auto">
            <a:xfrm>
              <a:off x="3848" y="1112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07" name="Text Box 15"/>
            <p:cNvSpPr txBox="1">
              <a:spLocks noChangeArrowheads="1"/>
            </p:cNvSpPr>
            <p:nvPr/>
          </p:nvSpPr>
          <p:spPr bwMode="auto">
            <a:xfrm>
              <a:off x="3648" y="1968"/>
              <a:ext cx="970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zh-CN" altLang="en-US" sz="2000" b="1"/>
                <a:t>等效电感</a:t>
              </a:r>
            </a:p>
          </p:txBody>
        </p:sp>
        <p:sp>
          <p:nvSpPr>
            <p:cNvPr id="341008" name="Oval 16"/>
            <p:cNvSpPr>
              <a:spLocks noChangeArrowheads="1"/>
            </p:cNvSpPr>
            <p:nvPr/>
          </p:nvSpPr>
          <p:spPr bwMode="auto">
            <a:xfrm>
              <a:off x="3775" y="1154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09" name="Oval 17"/>
            <p:cNvSpPr>
              <a:spLocks noChangeArrowheads="1"/>
            </p:cNvSpPr>
            <p:nvPr/>
          </p:nvSpPr>
          <p:spPr bwMode="auto">
            <a:xfrm>
              <a:off x="3771" y="1880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1010" name="Group 18"/>
            <p:cNvGrpSpPr>
              <a:grpSpLocks/>
            </p:cNvGrpSpPr>
            <p:nvPr/>
          </p:nvGrpSpPr>
          <p:grpSpPr bwMode="auto">
            <a:xfrm rot="-5400000" flipH="1" flipV="1">
              <a:off x="4150" y="1508"/>
              <a:ext cx="356" cy="50"/>
              <a:chOff x="576" y="711"/>
              <a:chExt cx="384" cy="57"/>
            </a:xfrm>
          </p:grpSpPr>
          <p:sp>
            <p:nvSpPr>
              <p:cNvPr id="341011" name="Freeform 19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12" name="Freeform 20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13" name="Freeform 21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14" name="Freeform 22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1015" name="Group 23"/>
          <p:cNvGrpSpPr>
            <a:grpSpLocks/>
          </p:cNvGrpSpPr>
          <p:nvPr/>
        </p:nvGrpSpPr>
        <p:grpSpPr bwMode="auto">
          <a:xfrm>
            <a:off x="1476375" y="1068388"/>
            <a:ext cx="3525838" cy="2365375"/>
            <a:chOff x="960" y="912"/>
            <a:chExt cx="2221" cy="1490"/>
          </a:xfrm>
        </p:grpSpPr>
        <p:sp>
          <p:nvSpPr>
            <p:cNvPr id="341016" name="Line 24"/>
            <p:cNvSpPr>
              <a:spLocks noChangeShapeType="1"/>
            </p:cNvSpPr>
            <p:nvPr/>
          </p:nvSpPr>
          <p:spPr bwMode="auto">
            <a:xfrm flipH="1" flipV="1">
              <a:off x="1186" y="1968"/>
              <a:ext cx="188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1017" name="Text Box 25"/>
            <p:cNvSpPr txBox="1">
              <a:spLocks noChangeArrowheads="1"/>
            </p:cNvSpPr>
            <p:nvPr/>
          </p:nvSpPr>
          <p:spPr bwMode="auto">
            <a:xfrm>
              <a:off x="1496" y="912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41018" name="Text Box 26"/>
            <p:cNvSpPr txBox="1">
              <a:spLocks noChangeArrowheads="1"/>
            </p:cNvSpPr>
            <p:nvPr/>
          </p:nvSpPr>
          <p:spPr bwMode="auto">
            <a:xfrm>
              <a:off x="978" y="14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41019" name="Text Box 27"/>
            <p:cNvSpPr txBox="1">
              <a:spLocks noChangeArrowheads="1"/>
            </p:cNvSpPr>
            <p:nvPr/>
          </p:nvSpPr>
          <p:spPr bwMode="auto">
            <a:xfrm>
              <a:off x="1096" y="929"/>
              <a:ext cx="409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41020" name="Line 28"/>
            <p:cNvSpPr>
              <a:spLocks noChangeShapeType="1"/>
            </p:cNvSpPr>
            <p:nvPr/>
          </p:nvSpPr>
          <p:spPr bwMode="auto">
            <a:xfrm flipV="1">
              <a:off x="1191" y="1244"/>
              <a:ext cx="3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21" name="Text Box 29"/>
            <p:cNvSpPr txBox="1">
              <a:spLocks noChangeArrowheads="1"/>
            </p:cNvSpPr>
            <p:nvPr/>
          </p:nvSpPr>
          <p:spPr bwMode="auto">
            <a:xfrm>
              <a:off x="965" y="1219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1022" name="Text Box 30"/>
            <p:cNvSpPr txBox="1">
              <a:spLocks noChangeArrowheads="1"/>
            </p:cNvSpPr>
            <p:nvPr/>
          </p:nvSpPr>
          <p:spPr bwMode="auto">
            <a:xfrm>
              <a:off x="1631" y="118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1023" name="Line 31"/>
            <p:cNvSpPr>
              <a:spLocks noChangeShapeType="1"/>
            </p:cNvSpPr>
            <p:nvPr/>
          </p:nvSpPr>
          <p:spPr bwMode="auto">
            <a:xfrm>
              <a:off x="1212" y="1177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24" name="Text Box 32"/>
            <p:cNvSpPr txBox="1">
              <a:spLocks noChangeArrowheads="1"/>
            </p:cNvSpPr>
            <p:nvPr/>
          </p:nvSpPr>
          <p:spPr bwMode="auto">
            <a:xfrm>
              <a:off x="1480" y="1248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41025" name="Text Box 33"/>
            <p:cNvSpPr txBox="1">
              <a:spLocks noChangeArrowheads="1"/>
            </p:cNvSpPr>
            <p:nvPr/>
          </p:nvSpPr>
          <p:spPr bwMode="auto">
            <a:xfrm>
              <a:off x="1632" y="2016"/>
              <a:ext cx="120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en-US" altLang="zh-CN" sz="2000" b="1" i="1"/>
                <a:t>n</a:t>
              </a:r>
              <a:r>
                <a:rPr lang="zh-CN" altLang="en-US" sz="2000" b="1"/>
                <a:t>个电感串联</a:t>
              </a:r>
            </a:p>
          </p:txBody>
        </p:sp>
        <p:sp>
          <p:nvSpPr>
            <p:cNvPr id="341026" name="Text Box 34"/>
            <p:cNvSpPr txBox="1">
              <a:spLocks noChangeArrowheads="1"/>
            </p:cNvSpPr>
            <p:nvPr/>
          </p:nvSpPr>
          <p:spPr bwMode="auto">
            <a:xfrm>
              <a:off x="1974" y="918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41027" name="Text Box 35"/>
            <p:cNvSpPr txBox="1">
              <a:spLocks noChangeArrowheads="1"/>
            </p:cNvSpPr>
            <p:nvPr/>
          </p:nvSpPr>
          <p:spPr bwMode="auto">
            <a:xfrm>
              <a:off x="1952" y="1245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41028" name="Text Box 36"/>
            <p:cNvSpPr txBox="1">
              <a:spLocks noChangeArrowheads="1"/>
            </p:cNvSpPr>
            <p:nvPr/>
          </p:nvSpPr>
          <p:spPr bwMode="auto">
            <a:xfrm>
              <a:off x="2643" y="924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41029" name="Line 37"/>
            <p:cNvSpPr>
              <a:spLocks noChangeShapeType="1"/>
            </p:cNvSpPr>
            <p:nvPr/>
          </p:nvSpPr>
          <p:spPr bwMode="auto">
            <a:xfrm>
              <a:off x="3082" y="1242"/>
              <a:ext cx="0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0" name="Text Box 38"/>
            <p:cNvSpPr txBox="1">
              <a:spLocks noChangeArrowheads="1"/>
            </p:cNvSpPr>
            <p:nvPr/>
          </p:nvSpPr>
          <p:spPr bwMode="auto">
            <a:xfrm>
              <a:off x="2629" y="1257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41031" name="Line 39"/>
            <p:cNvSpPr>
              <a:spLocks noChangeShapeType="1"/>
            </p:cNvSpPr>
            <p:nvPr/>
          </p:nvSpPr>
          <p:spPr bwMode="auto">
            <a:xfrm>
              <a:off x="3013" y="1246"/>
              <a:ext cx="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2" name="Line 40"/>
            <p:cNvSpPr>
              <a:spLocks noChangeShapeType="1"/>
            </p:cNvSpPr>
            <p:nvPr/>
          </p:nvSpPr>
          <p:spPr bwMode="auto">
            <a:xfrm>
              <a:off x="2403" y="1246"/>
              <a:ext cx="2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3" name="Oval 41"/>
            <p:cNvSpPr>
              <a:spLocks noChangeArrowheads="1"/>
            </p:cNvSpPr>
            <p:nvPr/>
          </p:nvSpPr>
          <p:spPr bwMode="auto">
            <a:xfrm>
              <a:off x="1139" y="1219"/>
              <a:ext cx="44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4" name="Oval 42"/>
            <p:cNvSpPr>
              <a:spLocks noChangeArrowheads="1"/>
            </p:cNvSpPr>
            <p:nvPr/>
          </p:nvSpPr>
          <p:spPr bwMode="auto">
            <a:xfrm>
              <a:off x="1135" y="194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5" name="Line 43"/>
            <p:cNvSpPr>
              <a:spLocks noChangeShapeType="1"/>
            </p:cNvSpPr>
            <p:nvPr/>
          </p:nvSpPr>
          <p:spPr bwMode="auto">
            <a:xfrm>
              <a:off x="2312" y="1246"/>
              <a:ext cx="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6" name="Line 44"/>
            <p:cNvSpPr>
              <a:spLocks noChangeShapeType="1"/>
            </p:cNvSpPr>
            <p:nvPr/>
          </p:nvSpPr>
          <p:spPr bwMode="auto">
            <a:xfrm>
              <a:off x="1855" y="1246"/>
              <a:ext cx="1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7" name="Line 45"/>
            <p:cNvSpPr>
              <a:spLocks noChangeShapeType="1"/>
            </p:cNvSpPr>
            <p:nvPr/>
          </p:nvSpPr>
          <p:spPr bwMode="auto">
            <a:xfrm flipH="1">
              <a:off x="2634" y="1246"/>
              <a:ext cx="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38" name="Text Box 46"/>
            <p:cNvSpPr txBox="1">
              <a:spLocks noChangeArrowheads="1"/>
            </p:cNvSpPr>
            <p:nvPr/>
          </p:nvSpPr>
          <p:spPr bwMode="auto">
            <a:xfrm>
              <a:off x="1289" y="125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1039" name="Text Box 47"/>
            <p:cNvSpPr txBox="1">
              <a:spLocks noChangeArrowheads="1"/>
            </p:cNvSpPr>
            <p:nvPr/>
          </p:nvSpPr>
          <p:spPr bwMode="auto">
            <a:xfrm>
              <a:off x="1784" y="125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1040" name="Text Box 48"/>
            <p:cNvSpPr txBox="1">
              <a:spLocks noChangeArrowheads="1"/>
            </p:cNvSpPr>
            <p:nvPr/>
          </p:nvSpPr>
          <p:spPr bwMode="auto">
            <a:xfrm>
              <a:off x="2488" y="125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1041" name="Text Box 49"/>
            <p:cNvSpPr txBox="1">
              <a:spLocks noChangeArrowheads="1"/>
            </p:cNvSpPr>
            <p:nvPr/>
          </p:nvSpPr>
          <p:spPr bwMode="auto">
            <a:xfrm>
              <a:off x="2153" y="1182"/>
              <a:ext cx="396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1042" name="Text Box 50"/>
            <p:cNvSpPr txBox="1">
              <a:spLocks noChangeArrowheads="1"/>
            </p:cNvSpPr>
            <p:nvPr/>
          </p:nvSpPr>
          <p:spPr bwMode="auto">
            <a:xfrm>
              <a:off x="2785" y="118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grpSp>
          <p:nvGrpSpPr>
            <p:cNvPr id="341043" name="Group 51"/>
            <p:cNvGrpSpPr>
              <a:grpSpLocks/>
            </p:cNvGrpSpPr>
            <p:nvPr/>
          </p:nvGrpSpPr>
          <p:grpSpPr bwMode="auto">
            <a:xfrm rot="-10800000" flipH="1" flipV="1">
              <a:off x="1505" y="1199"/>
              <a:ext cx="356" cy="50"/>
              <a:chOff x="576" y="711"/>
              <a:chExt cx="384" cy="57"/>
            </a:xfrm>
          </p:grpSpPr>
          <p:sp>
            <p:nvSpPr>
              <p:cNvPr id="341044" name="Freeform 52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45" name="Freeform 53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46" name="Freeform 54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47" name="Freeform 55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341048" name="Group 56"/>
            <p:cNvGrpSpPr>
              <a:grpSpLocks/>
            </p:cNvGrpSpPr>
            <p:nvPr/>
          </p:nvGrpSpPr>
          <p:grpSpPr bwMode="auto">
            <a:xfrm rot="-10800000" flipH="1" flipV="1">
              <a:off x="1965" y="1198"/>
              <a:ext cx="356" cy="50"/>
              <a:chOff x="576" y="711"/>
              <a:chExt cx="384" cy="57"/>
            </a:xfrm>
          </p:grpSpPr>
          <p:sp>
            <p:nvSpPr>
              <p:cNvPr id="341049" name="Freeform 57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50" name="Freeform 58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51" name="Freeform 59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52" name="Freeform 60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341053" name="Group 61"/>
            <p:cNvGrpSpPr>
              <a:grpSpLocks/>
            </p:cNvGrpSpPr>
            <p:nvPr/>
          </p:nvGrpSpPr>
          <p:grpSpPr bwMode="auto">
            <a:xfrm rot="-10800000" flipH="1" flipV="1">
              <a:off x="2670" y="1198"/>
              <a:ext cx="356" cy="51"/>
              <a:chOff x="576" y="711"/>
              <a:chExt cx="384" cy="57"/>
            </a:xfrm>
          </p:grpSpPr>
          <p:sp>
            <p:nvSpPr>
              <p:cNvPr id="341054" name="Freeform 62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55" name="Freeform 63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56" name="Freeform 64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1057" name="Freeform 65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41058" name="Text Box 66"/>
            <p:cNvSpPr txBox="1">
              <a:spLocks noChangeArrowheads="1"/>
            </p:cNvSpPr>
            <p:nvPr/>
          </p:nvSpPr>
          <p:spPr bwMode="auto">
            <a:xfrm>
              <a:off x="960" y="165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</p:grpSp>
      <p:sp>
        <p:nvSpPr>
          <p:cNvPr id="341059" name="Text Box 67"/>
          <p:cNvSpPr txBox="1">
            <a:spLocks noChangeArrowheads="1"/>
          </p:cNvSpPr>
          <p:nvPr/>
        </p:nvSpPr>
        <p:spPr bwMode="auto">
          <a:xfrm>
            <a:off x="468313" y="63658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33CC"/>
                </a:solidFill>
              </a:rPr>
              <a:t>（</a:t>
            </a:r>
            <a:r>
              <a:rPr lang="en-US" altLang="zh-CN" sz="2400" b="1">
                <a:solidFill>
                  <a:srgbClr val="0033CC"/>
                </a:solidFill>
              </a:rPr>
              <a:t>1</a:t>
            </a:r>
            <a:r>
              <a:rPr lang="zh-CN" altLang="en-US" sz="2400" b="1">
                <a:solidFill>
                  <a:srgbClr val="0033CC"/>
                </a:solidFill>
              </a:rPr>
              <a:t>）电感的串联</a:t>
            </a:r>
          </a:p>
        </p:txBody>
      </p:sp>
      <p:sp>
        <p:nvSpPr>
          <p:cNvPr id="341060" name="AutoShape 68"/>
          <p:cNvSpPr>
            <a:spLocks noChangeArrowheads="1"/>
          </p:cNvSpPr>
          <p:nvPr/>
        </p:nvSpPr>
        <p:spPr bwMode="auto">
          <a:xfrm>
            <a:off x="5421313" y="200818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CC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1061" name="Rectangle 69"/>
          <p:cNvSpPr>
            <a:spLocks noChangeArrowheads="1"/>
          </p:cNvSpPr>
          <p:nvPr/>
        </p:nvSpPr>
        <p:spPr bwMode="auto">
          <a:xfrm>
            <a:off x="611188" y="3373438"/>
            <a:ext cx="5440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KVL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和电感的电压电流的关系，有</a:t>
            </a:r>
            <a:endParaRPr lang="zh-CN" altLang="en-US" sz="2400" b="1"/>
          </a:p>
        </p:txBody>
      </p:sp>
      <p:graphicFrame>
        <p:nvGraphicFramePr>
          <p:cNvPr id="341062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304906"/>
              </p:ext>
            </p:extLst>
          </p:nvPr>
        </p:nvGraphicFramePr>
        <p:xfrm>
          <a:off x="186166" y="3857627"/>
          <a:ext cx="2817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228600" progId="Equation.DSMT4">
                  <p:embed/>
                </p:oleObj>
              </mc:Choice>
              <mc:Fallback>
                <p:oleObj name="Equation" r:id="rId3" imgW="1409400" imgH="228600" progId="Equation.DSMT4">
                  <p:embed/>
                  <p:pic>
                    <p:nvPicPr>
                      <p:cNvPr id="341062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66" y="3857627"/>
                        <a:ext cx="281781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64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344316"/>
              </p:ext>
            </p:extLst>
          </p:nvPr>
        </p:nvGraphicFramePr>
        <p:xfrm>
          <a:off x="114301" y="4429005"/>
          <a:ext cx="3884612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2920" imgH="406080" progId="Equation.DSMT4">
                  <p:embed/>
                </p:oleObj>
              </mc:Choice>
              <mc:Fallback>
                <p:oleObj name="Equation" r:id="rId5" imgW="1942920" imgH="406080" progId="Equation.DSMT4">
                  <p:embed/>
                  <p:pic>
                    <p:nvPicPr>
                      <p:cNvPr id="341064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1" y="4429005"/>
                        <a:ext cx="3884612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65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63841"/>
              </p:ext>
            </p:extLst>
          </p:nvPr>
        </p:nvGraphicFramePr>
        <p:xfrm>
          <a:off x="155575" y="5087941"/>
          <a:ext cx="3325812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406080" progId="Equation.DSMT4">
                  <p:embed/>
                </p:oleObj>
              </mc:Choice>
              <mc:Fallback>
                <p:oleObj name="Equation" r:id="rId7" imgW="1663560" imgH="406080" progId="Equation.DSMT4">
                  <p:embed/>
                  <p:pic>
                    <p:nvPicPr>
                      <p:cNvPr id="341065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5087941"/>
                        <a:ext cx="3325812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66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710403"/>
              </p:ext>
            </p:extLst>
          </p:nvPr>
        </p:nvGraphicFramePr>
        <p:xfrm>
          <a:off x="626575" y="5838584"/>
          <a:ext cx="990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5000" imgH="406080" progId="Equation.DSMT4">
                  <p:embed/>
                </p:oleObj>
              </mc:Choice>
              <mc:Fallback>
                <p:oleObj name="Equation" r:id="rId9" imgW="495000" imgH="406080" progId="Equation.DSMT4">
                  <p:embed/>
                  <p:pic>
                    <p:nvPicPr>
                      <p:cNvPr id="341066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75" y="5838584"/>
                        <a:ext cx="990600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67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464418"/>
              </p:ext>
            </p:extLst>
          </p:nvPr>
        </p:nvGraphicFramePr>
        <p:xfrm>
          <a:off x="5649913" y="4783605"/>
          <a:ext cx="28321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800" imgH="241200" progId="Equation.DSMT4">
                  <p:embed/>
                </p:oleObj>
              </mc:Choice>
              <mc:Fallback>
                <p:oleObj name="Equation" r:id="rId11" imgW="1396800" imgH="241200" progId="Equation.DSMT4">
                  <p:embed/>
                  <p:pic>
                    <p:nvPicPr>
                      <p:cNvPr id="341067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3" y="4783605"/>
                        <a:ext cx="2832100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68" name="Rectangle 76"/>
          <p:cNvSpPr>
            <a:spLocks noChangeArrowheads="1"/>
          </p:cNvSpPr>
          <p:nvPr/>
        </p:nvSpPr>
        <p:spPr bwMode="auto">
          <a:xfrm>
            <a:off x="5364163" y="4092575"/>
            <a:ext cx="35734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等效电感</a:t>
            </a:r>
            <a:r>
              <a:rPr lang="zh-CN" altLang="en-US" sz="2400" b="1"/>
              <a:t>与各电感的关系式为</a:t>
            </a:r>
          </a:p>
        </p:txBody>
      </p:sp>
      <p:sp>
        <p:nvSpPr>
          <p:cNvPr id="341069" name="Rectangle 77"/>
          <p:cNvSpPr>
            <a:spLocks noChangeArrowheads="1"/>
          </p:cNvSpPr>
          <p:nvPr/>
        </p:nvSpPr>
        <p:spPr bwMode="auto">
          <a:xfrm>
            <a:off x="4475047" y="5957410"/>
            <a:ext cx="4500562" cy="82232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901700" indent="-901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810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604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398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i="1" dirty="0"/>
              <a:t>n</a:t>
            </a:r>
            <a:r>
              <a:rPr lang="zh-CN" altLang="en-US" sz="2400" b="1" dirty="0"/>
              <a:t>个串联电感的等效电感值等于各电感值之和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049771" y="3708142"/>
                <a:ext cx="910699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71" y="3708142"/>
                <a:ext cx="910699" cy="7561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/>
              <p:cNvSpPr txBox="1"/>
              <p:nvPr/>
            </p:nvSpPr>
            <p:spPr>
              <a:xfrm>
                <a:off x="3943350" y="4478077"/>
                <a:ext cx="1434432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𝑑𝑖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50" y="4478077"/>
                <a:ext cx="1434432" cy="7561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/>
              <p:cNvSpPr txBox="1"/>
              <p:nvPr/>
            </p:nvSpPr>
            <p:spPr>
              <a:xfrm>
                <a:off x="3365248" y="5161316"/>
                <a:ext cx="1551963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" name="文本框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248" y="5161316"/>
                <a:ext cx="1551963" cy="75616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/>
              <p:cNvSpPr txBox="1"/>
              <p:nvPr/>
            </p:nvSpPr>
            <p:spPr>
              <a:xfrm>
                <a:off x="6156326" y="5204064"/>
                <a:ext cx="901080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9" name="文本框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26" y="5204064"/>
                <a:ext cx="901080" cy="75616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722688" y="822415"/>
                <a:ext cx="3973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等效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电感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初始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电流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688" y="822415"/>
                <a:ext cx="3973139" cy="276999"/>
              </a:xfrm>
              <a:prstGeom prst="rect">
                <a:avLst/>
              </a:prstGeom>
              <a:blipFill>
                <a:blip r:embed="rId18"/>
                <a:stretch>
                  <a:fillRect l="-768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35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41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1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34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34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34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34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4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34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059" grpId="0"/>
      <p:bldP spid="341061" grpId="0"/>
      <p:bldP spid="341068" grpId="0"/>
      <p:bldP spid="341069" grpId="0" animBg="1"/>
      <p:bldP spid="2" grpId="0"/>
      <p:bldP spid="77" grpId="0"/>
      <p:bldP spid="78" grpId="0"/>
      <p:bldP spid="79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3683000" cy="561975"/>
          </a:xfrm>
        </p:spPr>
        <p:txBody>
          <a:bodyPr/>
          <a:lstStyle/>
          <a:p>
            <a:pPr algn="just"/>
            <a:r>
              <a:rPr lang="en-US" altLang="zh-CN" sz="2400" b="1">
                <a:solidFill>
                  <a:srgbClr val="0000FF"/>
                </a:solidFill>
              </a:rPr>
              <a:t>(2) </a:t>
            </a:r>
            <a:r>
              <a:rPr lang="zh-CN" altLang="en-US" sz="2400" b="1">
                <a:solidFill>
                  <a:srgbClr val="0000FF"/>
                </a:solidFill>
              </a:rPr>
              <a:t>电感的并联</a:t>
            </a:r>
          </a:p>
        </p:txBody>
      </p:sp>
      <p:grpSp>
        <p:nvGrpSpPr>
          <p:cNvPr id="342021" name="Group 5"/>
          <p:cNvGrpSpPr>
            <a:grpSpLocks/>
          </p:cNvGrpSpPr>
          <p:nvPr/>
        </p:nvGrpSpPr>
        <p:grpSpPr bwMode="auto">
          <a:xfrm>
            <a:off x="6403975" y="836613"/>
            <a:ext cx="1714500" cy="2100262"/>
            <a:chOff x="3504" y="1056"/>
            <a:chExt cx="1080" cy="1323"/>
          </a:xfrm>
        </p:grpSpPr>
        <p:sp>
          <p:nvSpPr>
            <p:cNvPr id="342022" name="Line 6"/>
            <p:cNvSpPr>
              <a:spLocks noChangeShapeType="1"/>
            </p:cNvSpPr>
            <p:nvPr/>
          </p:nvSpPr>
          <p:spPr bwMode="auto">
            <a:xfrm flipH="1" flipV="1">
              <a:off x="3726" y="2094"/>
              <a:ext cx="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2023" name="Text Box 7"/>
            <p:cNvSpPr txBox="1">
              <a:spLocks noChangeArrowheads="1"/>
            </p:cNvSpPr>
            <p:nvPr/>
          </p:nvSpPr>
          <p:spPr bwMode="auto">
            <a:xfrm>
              <a:off x="4223" y="1582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eq            </a:t>
              </a:r>
              <a:endParaRPr lang="en-US" altLang="zh-CN" sz="2000" b="1"/>
            </a:p>
          </p:txBody>
        </p:sp>
        <p:sp>
          <p:nvSpPr>
            <p:cNvPr id="342024" name="Text Box 8"/>
            <p:cNvSpPr txBox="1">
              <a:spLocks noChangeArrowheads="1"/>
            </p:cNvSpPr>
            <p:nvPr/>
          </p:nvSpPr>
          <p:spPr bwMode="auto">
            <a:xfrm>
              <a:off x="3518" y="158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42025" name="Text Box 9"/>
            <p:cNvSpPr txBox="1">
              <a:spLocks noChangeArrowheads="1"/>
            </p:cNvSpPr>
            <p:nvPr/>
          </p:nvSpPr>
          <p:spPr bwMode="auto">
            <a:xfrm>
              <a:off x="3636" y="1056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42026" name="Line 10"/>
            <p:cNvSpPr>
              <a:spLocks noChangeShapeType="1"/>
            </p:cNvSpPr>
            <p:nvPr/>
          </p:nvSpPr>
          <p:spPr bwMode="auto">
            <a:xfrm flipV="1">
              <a:off x="3731" y="1370"/>
              <a:ext cx="48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7" name="Text Box 11"/>
            <p:cNvSpPr txBox="1">
              <a:spLocks noChangeArrowheads="1"/>
            </p:cNvSpPr>
            <p:nvPr/>
          </p:nvSpPr>
          <p:spPr bwMode="auto">
            <a:xfrm>
              <a:off x="3505" y="134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2028" name="Text Box 12"/>
            <p:cNvSpPr txBox="1">
              <a:spLocks noChangeArrowheads="1"/>
            </p:cNvSpPr>
            <p:nvPr/>
          </p:nvSpPr>
          <p:spPr bwMode="auto">
            <a:xfrm>
              <a:off x="3504" y="1771"/>
              <a:ext cx="39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2029" name="Line 13"/>
            <p:cNvSpPr>
              <a:spLocks noChangeShapeType="1"/>
            </p:cNvSpPr>
            <p:nvPr/>
          </p:nvSpPr>
          <p:spPr bwMode="auto">
            <a:xfrm>
              <a:off x="4212" y="1369"/>
              <a:ext cx="0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0" name="Line 14"/>
            <p:cNvSpPr>
              <a:spLocks noChangeShapeType="1"/>
            </p:cNvSpPr>
            <p:nvPr/>
          </p:nvSpPr>
          <p:spPr bwMode="auto">
            <a:xfrm>
              <a:off x="4213" y="1889"/>
              <a:ext cx="0" cy="2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1" name="Line 15"/>
            <p:cNvSpPr>
              <a:spLocks noChangeShapeType="1"/>
            </p:cNvSpPr>
            <p:nvPr/>
          </p:nvSpPr>
          <p:spPr bwMode="auto">
            <a:xfrm>
              <a:off x="3752" y="1304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2" name="Text Box 16"/>
            <p:cNvSpPr txBox="1">
              <a:spLocks noChangeArrowheads="1"/>
            </p:cNvSpPr>
            <p:nvPr/>
          </p:nvSpPr>
          <p:spPr bwMode="auto">
            <a:xfrm>
              <a:off x="3552" y="2112"/>
              <a:ext cx="912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pitchFamily="18" charset="0"/>
                </a:rPr>
                <a:t>等效电感</a:t>
              </a:r>
              <a:endParaRPr lang="zh-CN" altLang="en-US" sz="2000" b="1"/>
            </a:p>
          </p:txBody>
        </p:sp>
        <p:sp>
          <p:nvSpPr>
            <p:cNvPr id="342033" name="Oval 17"/>
            <p:cNvSpPr>
              <a:spLocks noChangeArrowheads="1"/>
            </p:cNvSpPr>
            <p:nvPr/>
          </p:nvSpPr>
          <p:spPr bwMode="auto">
            <a:xfrm>
              <a:off x="3679" y="134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4" name="Oval 18"/>
            <p:cNvSpPr>
              <a:spLocks noChangeArrowheads="1"/>
            </p:cNvSpPr>
            <p:nvPr/>
          </p:nvSpPr>
          <p:spPr bwMode="auto">
            <a:xfrm>
              <a:off x="3675" y="2072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2035" name="Group 19"/>
            <p:cNvGrpSpPr>
              <a:grpSpLocks/>
            </p:cNvGrpSpPr>
            <p:nvPr/>
          </p:nvGrpSpPr>
          <p:grpSpPr bwMode="auto">
            <a:xfrm rot="-5400000" flipH="1" flipV="1">
              <a:off x="4054" y="1700"/>
              <a:ext cx="356" cy="50"/>
              <a:chOff x="576" y="711"/>
              <a:chExt cx="384" cy="57"/>
            </a:xfrm>
          </p:grpSpPr>
          <p:sp>
            <p:nvSpPr>
              <p:cNvPr id="342036" name="Freeform 20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37" name="Freeform 21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38" name="Freeform 22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39" name="Freeform 23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2040" name="Group 24"/>
          <p:cNvGrpSpPr>
            <a:grpSpLocks/>
          </p:cNvGrpSpPr>
          <p:nvPr/>
        </p:nvGrpSpPr>
        <p:grpSpPr bwMode="auto">
          <a:xfrm>
            <a:off x="1908175" y="836613"/>
            <a:ext cx="4002088" cy="2100262"/>
            <a:chOff x="1680" y="816"/>
            <a:chExt cx="2521" cy="1323"/>
          </a:xfrm>
        </p:grpSpPr>
        <p:sp>
          <p:nvSpPr>
            <p:cNvPr id="342041" name="Text Box 25"/>
            <p:cNvSpPr txBox="1">
              <a:spLocks noChangeArrowheads="1"/>
            </p:cNvSpPr>
            <p:nvPr/>
          </p:nvSpPr>
          <p:spPr bwMode="auto">
            <a:xfrm>
              <a:off x="3792" y="1104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42042" name="Line 26"/>
            <p:cNvSpPr>
              <a:spLocks noChangeShapeType="1"/>
            </p:cNvSpPr>
            <p:nvPr/>
          </p:nvSpPr>
          <p:spPr bwMode="auto">
            <a:xfrm flipH="1" flipV="1">
              <a:off x="1902" y="1854"/>
              <a:ext cx="135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2043" name="Text Box 27"/>
            <p:cNvSpPr txBox="1">
              <a:spLocks noChangeArrowheads="1"/>
            </p:cNvSpPr>
            <p:nvPr/>
          </p:nvSpPr>
          <p:spPr bwMode="auto">
            <a:xfrm>
              <a:off x="2399" y="1342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42044" name="Text Box 28"/>
            <p:cNvSpPr txBox="1">
              <a:spLocks noChangeArrowheads="1"/>
            </p:cNvSpPr>
            <p:nvPr/>
          </p:nvSpPr>
          <p:spPr bwMode="auto">
            <a:xfrm>
              <a:off x="1694" y="134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endParaRPr lang="en-US" altLang="zh-CN" sz="2000" b="1"/>
            </a:p>
          </p:txBody>
        </p:sp>
        <p:sp>
          <p:nvSpPr>
            <p:cNvPr id="342045" name="Text Box 29"/>
            <p:cNvSpPr txBox="1">
              <a:spLocks noChangeArrowheads="1"/>
            </p:cNvSpPr>
            <p:nvPr/>
          </p:nvSpPr>
          <p:spPr bwMode="auto">
            <a:xfrm>
              <a:off x="1812" y="816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="1"/>
            </a:p>
          </p:txBody>
        </p:sp>
        <p:sp>
          <p:nvSpPr>
            <p:cNvPr id="342046" name="Line 30"/>
            <p:cNvSpPr>
              <a:spLocks noChangeShapeType="1"/>
            </p:cNvSpPr>
            <p:nvPr/>
          </p:nvSpPr>
          <p:spPr bwMode="auto">
            <a:xfrm flipV="1">
              <a:off x="1907" y="1129"/>
              <a:ext cx="135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7" name="Text Box 31"/>
            <p:cNvSpPr txBox="1">
              <a:spLocks noChangeArrowheads="1"/>
            </p:cNvSpPr>
            <p:nvPr/>
          </p:nvSpPr>
          <p:spPr bwMode="auto">
            <a:xfrm>
              <a:off x="1681" y="110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2048" name="Text Box 32"/>
            <p:cNvSpPr txBox="1">
              <a:spLocks noChangeArrowheads="1"/>
            </p:cNvSpPr>
            <p:nvPr/>
          </p:nvSpPr>
          <p:spPr bwMode="auto">
            <a:xfrm>
              <a:off x="1680" y="153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2049" name="Line 33"/>
            <p:cNvSpPr>
              <a:spLocks noChangeShapeType="1"/>
            </p:cNvSpPr>
            <p:nvPr/>
          </p:nvSpPr>
          <p:spPr bwMode="auto">
            <a:xfrm>
              <a:off x="2388" y="1129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0" name="Line 34"/>
            <p:cNvSpPr>
              <a:spLocks noChangeShapeType="1"/>
            </p:cNvSpPr>
            <p:nvPr/>
          </p:nvSpPr>
          <p:spPr bwMode="auto">
            <a:xfrm>
              <a:off x="2389" y="1670"/>
              <a:ext cx="0" cy="1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1" name="Line 35"/>
            <p:cNvSpPr>
              <a:spLocks noChangeShapeType="1"/>
            </p:cNvSpPr>
            <p:nvPr/>
          </p:nvSpPr>
          <p:spPr bwMode="auto">
            <a:xfrm>
              <a:off x="1928" y="1063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2" name="Line 36"/>
            <p:cNvSpPr>
              <a:spLocks noChangeShapeType="1"/>
            </p:cNvSpPr>
            <p:nvPr/>
          </p:nvSpPr>
          <p:spPr bwMode="auto">
            <a:xfrm rot="5400000">
              <a:off x="2372" y="1285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3" name="Text Box 37"/>
            <p:cNvSpPr txBox="1">
              <a:spLocks noChangeArrowheads="1"/>
            </p:cNvSpPr>
            <p:nvPr/>
          </p:nvSpPr>
          <p:spPr bwMode="auto">
            <a:xfrm>
              <a:off x="2389" y="1118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42054" name="Text Box 38"/>
            <p:cNvSpPr txBox="1">
              <a:spLocks noChangeArrowheads="1"/>
            </p:cNvSpPr>
            <p:nvPr/>
          </p:nvSpPr>
          <p:spPr bwMode="auto">
            <a:xfrm>
              <a:off x="2965" y="1341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42055" name="Line 39"/>
            <p:cNvSpPr>
              <a:spLocks noChangeShapeType="1"/>
            </p:cNvSpPr>
            <p:nvPr/>
          </p:nvSpPr>
          <p:spPr bwMode="auto">
            <a:xfrm>
              <a:off x="2954" y="1129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6" name="Line 40"/>
            <p:cNvSpPr>
              <a:spLocks noChangeShapeType="1"/>
            </p:cNvSpPr>
            <p:nvPr/>
          </p:nvSpPr>
          <p:spPr bwMode="auto">
            <a:xfrm>
              <a:off x="2955" y="1664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7" name="Line 41"/>
            <p:cNvSpPr>
              <a:spLocks noChangeShapeType="1"/>
            </p:cNvSpPr>
            <p:nvPr/>
          </p:nvSpPr>
          <p:spPr bwMode="auto">
            <a:xfrm rot="5400000">
              <a:off x="2946" y="1294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8" name="Text Box 42"/>
            <p:cNvSpPr txBox="1">
              <a:spLocks noChangeArrowheads="1"/>
            </p:cNvSpPr>
            <p:nvPr/>
          </p:nvSpPr>
          <p:spPr bwMode="auto">
            <a:xfrm>
              <a:off x="2955" y="1117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42059" name="Text Box 43"/>
            <p:cNvSpPr txBox="1">
              <a:spLocks noChangeArrowheads="1"/>
            </p:cNvSpPr>
            <p:nvPr/>
          </p:nvSpPr>
          <p:spPr bwMode="auto">
            <a:xfrm>
              <a:off x="3809" y="1341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42060" name="Line 44"/>
            <p:cNvSpPr>
              <a:spLocks noChangeShapeType="1"/>
            </p:cNvSpPr>
            <p:nvPr/>
          </p:nvSpPr>
          <p:spPr bwMode="auto">
            <a:xfrm>
              <a:off x="3798" y="1129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1" name="Line 45"/>
            <p:cNvSpPr>
              <a:spLocks noChangeShapeType="1"/>
            </p:cNvSpPr>
            <p:nvPr/>
          </p:nvSpPr>
          <p:spPr bwMode="auto">
            <a:xfrm>
              <a:off x="3799" y="1654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2" name="Line 46"/>
            <p:cNvSpPr>
              <a:spLocks noChangeShapeType="1"/>
            </p:cNvSpPr>
            <p:nvPr/>
          </p:nvSpPr>
          <p:spPr bwMode="auto">
            <a:xfrm rot="5400000">
              <a:off x="3790" y="1275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3" name="Line 47"/>
            <p:cNvSpPr>
              <a:spLocks noChangeShapeType="1"/>
            </p:cNvSpPr>
            <p:nvPr/>
          </p:nvSpPr>
          <p:spPr bwMode="auto">
            <a:xfrm>
              <a:off x="3551" y="1133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4" name="Line 48"/>
            <p:cNvSpPr>
              <a:spLocks noChangeShapeType="1"/>
            </p:cNvSpPr>
            <p:nvPr/>
          </p:nvSpPr>
          <p:spPr bwMode="auto">
            <a:xfrm flipH="1">
              <a:off x="3581" y="1852"/>
              <a:ext cx="2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5" name="Line 49"/>
            <p:cNvSpPr>
              <a:spLocks noChangeShapeType="1"/>
            </p:cNvSpPr>
            <p:nvPr/>
          </p:nvSpPr>
          <p:spPr bwMode="auto">
            <a:xfrm>
              <a:off x="3292" y="1133"/>
              <a:ext cx="2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6" name="Line 50"/>
            <p:cNvSpPr>
              <a:spLocks noChangeShapeType="1"/>
            </p:cNvSpPr>
            <p:nvPr/>
          </p:nvSpPr>
          <p:spPr bwMode="auto">
            <a:xfrm>
              <a:off x="3283" y="1852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7" name="Oval 51"/>
            <p:cNvSpPr>
              <a:spLocks noChangeArrowheads="1"/>
            </p:cNvSpPr>
            <p:nvPr/>
          </p:nvSpPr>
          <p:spPr bwMode="auto">
            <a:xfrm>
              <a:off x="1855" y="110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68" name="Oval 52"/>
            <p:cNvSpPr>
              <a:spLocks noChangeArrowheads="1"/>
            </p:cNvSpPr>
            <p:nvPr/>
          </p:nvSpPr>
          <p:spPr bwMode="auto">
            <a:xfrm>
              <a:off x="1852" y="1832"/>
              <a:ext cx="43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2069" name="Group 53"/>
            <p:cNvGrpSpPr>
              <a:grpSpLocks/>
            </p:cNvGrpSpPr>
            <p:nvPr/>
          </p:nvGrpSpPr>
          <p:grpSpPr bwMode="auto">
            <a:xfrm rot="-5400000" flipH="1" flipV="1">
              <a:off x="2233" y="1481"/>
              <a:ext cx="356" cy="50"/>
              <a:chOff x="576" y="711"/>
              <a:chExt cx="384" cy="57"/>
            </a:xfrm>
          </p:grpSpPr>
          <p:sp>
            <p:nvSpPr>
              <p:cNvPr id="342070" name="Freeform 54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71" name="Freeform 55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72" name="Freeform 56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73" name="Freeform 57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342074" name="Group 58"/>
            <p:cNvGrpSpPr>
              <a:grpSpLocks/>
            </p:cNvGrpSpPr>
            <p:nvPr/>
          </p:nvGrpSpPr>
          <p:grpSpPr bwMode="auto">
            <a:xfrm rot="-5400000" flipH="1" flipV="1">
              <a:off x="2800" y="1480"/>
              <a:ext cx="356" cy="51"/>
              <a:chOff x="576" y="711"/>
              <a:chExt cx="384" cy="57"/>
            </a:xfrm>
          </p:grpSpPr>
          <p:sp>
            <p:nvSpPr>
              <p:cNvPr id="342075" name="Freeform 59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76" name="Freeform 60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77" name="Freeform 61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78" name="Freeform 62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342079" name="Group 63"/>
            <p:cNvGrpSpPr>
              <a:grpSpLocks/>
            </p:cNvGrpSpPr>
            <p:nvPr/>
          </p:nvGrpSpPr>
          <p:grpSpPr bwMode="auto">
            <a:xfrm rot="-5400000" flipH="1" flipV="1">
              <a:off x="3639" y="1471"/>
              <a:ext cx="355" cy="51"/>
              <a:chOff x="576" y="711"/>
              <a:chExt cx="384" cy="57"/>
            </a:xfrm>
          </p:grpSpPr>
          <p:sp>
            <p:nvSpPr>
              <p:cNvPr id="342080" name="Freeform 64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81" name="Freeform 65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82" name="Freeform 66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42083" name="Freeform 67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42084" name="Text Box 68"/>
            <p:cNvSpPr txBox="1">
              <a:spLocks noChangeArrowheads="1"/>
            </p:cNvSpPr>
            <p:nvPr/>
          </p:nvSpPr>
          <p:spPr bwMode="auto">
            <a:xfrm>
              <a:off x="2084" y="113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2085" name="Text Box 69"/>
            <p:cNvSpPr txBox="1">
              <a:spLocks noChangeArrowheads="1"/>
            </p:cNvSpPr>
            <p:nvPr/>
          </p:nvSpPr>
          <p:spPr bwMode="auto">
            <a:xfrm>
              <a:off x="2093" y="1549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2086" name="Text Box 70"/>
            <p:cNvSpPr txBox="1">
              <a:spLocks noChangeArrowheads="1"/>
            </p:cNvSpPr>
            <p:nvPr/>
          </p:nvSpPr>
          <p:spPr bwMode="auto">
            <a:xfrm>
              <a:off x="2650" y="15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2087" name="Text Box 71"/>
            <p:cNvSpPr txBox="1">
              <a:spLocks noChangeArrowheads="1"/>
            </p:cNvSpPr>
            <p:nvPr/>
          </p:nvSpPr>
          <p:spPr bwMode="auto">
            <a:xfrm>
              <a:off x="2641" y="113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2088" name="Text Box 72"/>
            <p:cNvSpPr txBox="1">
              <a:spLocks noChangeArrowheads="1"/>
            </p:cNvSpPr>
            <p:nvPr/>
          </p:nvSpPr>
          <p:spPr bwMode="auto">
            <a:xfrm>
              <a:off x="3466" y="1106"/>
              <a:ext cx="396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42089" name="Text Box 73"/>
            <p:cNvSpPr txBox="1">
              <a:spLocks noChangeArrowheads="1"/>
            </p:cNvSpPr>
            <p:nvPr/>
          </p:nvSpPr>
          <p:spPr bwMode="auto">
            <a:xfrm>
              <a:off x="3475" y="155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_</a:t>
              </a:r>
              <a:endParaRPr lang="en-US" altLang="zh-CN" sz="2000" b="1"/>
            </a:p>
          </p:txBody>
        </p:sp>
        <p:sp>
          <p:nvSpPr>
            <p:cNvPr id="342090" name="Text Box 74"/>
            <p:cNvSpPr txBox="1">
              <a:spLocks noChangeArrowheads="1"/>
            </p:cNvSpPr>
            <p:nvPr/>
          </p:nvSpPr>
          <p:spPr bwMode="auto">
            <a:xfrm>
              <a:off x="2069" y="133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1</a:t>
              </a:r>
              <a:endParaRPr lang="en-US" altLang="zh-CN" sz="2000" b="1"/>
            </a:p>
          </p:txBody>
        </p:sp>
        <p:sp>
          <p:nvSpPr>
            <p:cNvPr id="342091" name="Text Box 75"/>
            <p:cNvSpPr txBox="1">
              <a:spLocks noChangeArrowheads="1"/>
            </p:cNvSpPr>
            <p:nvPr/>
          </p:nvSpPr>
          <p:spPr bwMode="auto">
            <a:xfrm>
              <a:off x="2635" y="133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2</a:t>
              </a:r>
              <a:endParaRPr lang="en-US" altLang="zh-CN" sz="2000" b="1"/>
            </a:p>
          </p:txBody>
        </p:sp>
        <p:sp>
          <p:nvSpPr>
            <p:cNvPr id="342092" name="Text Box 76"/>
            <p:cNvSpPr txBox="1">
              <a:spLocks noChangeArrowheads="1"/>
            </p:cNvSpPr>
            <p:nvPr/>
          </p:nvSpPr>
          <p:spPr bwMode="auto">
            <a:xfrm>
              <a:off x="3460" y="133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i="1" baseline="-25000">
                  <a:latin typeface="Times New Roman" panose="02020603050405020304" pitchFamily="18" charset="0"/>
                </a:rPr>
                <a:t>n</a:t>
              </a:r>
              <a:endParaRPr lang="en-US" altLang="zh-CN" sz="2000" b="1"/>
            </a:p>
          </p:txBody>
        </p:sp>
        <p:sp>
          <p:nvSpPr>
            <p:cNvPr id="342093" name="Text Box 77"/>
            <p:cNvSpPr txBox="1">
              <a:spLocks noChangeArrowheads="1"/>
            </p:cNvSpPr>
            <p:nvPr/>
          </p:nvSpPr>
          <p:spPr bwMode="auto">
            <a:xfrm>
              <a:off x="2256" y="1872"/>
              <a:ext cx="1392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n</a:t>
              </a:r>
              <a:r>
                <a:rPr lang="zh-CN" altLang="en-US" sz="2000" b="1">
                  <a:latin typeface="Times New Roman" panose="02020603050405020304" pitchFamily="18" charset="0"/>
                </a:rPr>
                <a:t>个电感并联</a:t>
              </a:r>
              <a:endParaRPr lang="zh-CN" altLang="en-US" sz="2000" b="1"/>
            </a:p>
          </p:txBody>
        </p:sp>
      </p:grpSp>
      <p:graphicFrame>
        <p:nvGraphicFramePr>
          <p:cNvPr id="342094" name="Object 78"/>
          <p:cNvGraphicFramePr>
            <a:graphicFrameLocks noChangeAspect="1"/>
          </p:cNvGraphicFramePr>
          <p:nvPr/>
        </p:nvGraphicFramePr>
        <p:xfrm>
          <a:off x="823913" y="3563938"/>
          <a:ext cx="317658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65080" imgH="228600" progId="Equation.DSMT4">
                  <p:embed/>
                </p:oleObj>
              </mc:Choice>
              <mc:Fallback>
                <p:oleObj name="Equation" r:id="rId3" imgW="1765080" imgH="228600" progId="Equation.DSMT4">
                  <p:embed/>
                  <p:pic>
                    <p:nvPicPr>
                      <p:cNvPr id="342094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3563938"/>
                        <a:ext cx="317658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95" name="Object 79"/>
          <p:cNvGraphicFramePr>
            <a:graphicFrameLocks noChangeAspect="1"/>
          </p:cNvGraphicFramePr>
          <p:nvPr/>
        </p:nvGraphicFramePr>
        <p:xfrm>
          <a:off x="1128713" y="5545138"/>
          <a:ext cx="260508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560" imgH="457200" progId="Equation.DSMT4">
                  <p:embed/>
                </p:oleObj>
              </mc:Choice>
              <mc:Fallback>
                <p:oleObj name="Equation" r:id="rId5" imgW="1447560" imgH="457200" progId="Equation.DSMT4">
                  <p:embed/>
                  <p:pic>
                    <p:nvPicPr>
                      <p:cNvPr id="342095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5545138"/>
                        <a:ext cx="2605087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96" name="Rectangle 80"/>
          <p:cNvSpPr>
            <a:spLocks noChangeArrowheads="1"/>
          </p:cNvSpPr>
          <p:nvPr/>
        </p:nvSpPr>
        <p:spPr bwMode="auto">
          <a:xfrm>
            <a:off x="468313" y="3068638"/>
            <a:ext cx="605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KCL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及电感的电压与电流的关系式，有</a:t>
            </a:r>
            <a:endParaRPr lang="zh-CN" altLang="en-US" sz="2400" b="1"/>
          </a:p>
        </p:txBody>
      </p:sp>
      <p:graphicFrame>
        <p:nvGraphicFramePr>
          <p:cNvPr id="342097" name="Object 81"/>
          <p:cNvGraphicFramePr>
            <a:graphicFrameLocks noChangeAspect="1"/>
          </p:cNvGraphicFramePr>
          <p:nvPr/>
        </p:nvGraphicFramePr>
        <p:xfrm>
          <a:off x="1281113" y="4756150"/>
          <a:ext cx="62849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92360" imgH="444240" progId="Equation.DSMT4">
                  <p:embed/>
                </p:oleObj>
              </mc:Choice>
              <mc:Fallback>
                <p:oleObj name="Equation" r:id="rId7" imgW="3492360" imgH="444240" progId="Equation.DSMT4">
                  <p:embed/>
                  <p:pic>
                    <p:nvPicPr>
                      <p:cNvPr id="342097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4756150"/>
                        <a:ext cx="6284912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98" name="AutoShape 82"/>
          <p:cNvSpPr>
            <a:spLocks noChangeArrowheads="1"/>
          </p:cNvSpPr>
          <p:nvPr/>
        </p:nvSpPr>
        <p:spPr bwMode="auto">
          <a:xfrm>
            <a:off x="6099175" y="175101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CC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2099" name="Object 83"/>
          <p:cNvGraphicFramePr>
            <a:graphicFrameLocks noGrp="1" noChangeAspect="1"/>
          </p:cNvGraphicFramePr>
          <p:nvPr>
            <p:ph idx="1"/>
          </p:nvPr>
        </p:nvGraphicFramePr>
        <p:xfrm>
          <a:off x="1292225" y="4005263"/>
          <a:ext cx="7808913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43400" imgH="444240" progId="Equation.DSMT4">
                  <p:embed/>
                </p:oleObj>
              </mc:Choice>
              <mc:Fallback>
                <p:oleObj name="Equation" r:id="rId9" imgW="4343400" imgH="444240" progId="Equation.DSMT4">
                  <p:embed/>
                  <p:pic>
                    <p:nvPicPr>
                      <p:cNvPr id="342099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4005263"/>
                        <a:ext cx="7808913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368131" y="5445273"/>
                <a:ext cx="3528402" cy="1033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等效</m:t>
                    </m:r>
                  </m:oMath>
                </a14:m>
                <a:r>
                  <a:rPr lang="zh-CN" altLang="en-US" dirty="0"/>
                  <a:t>电感初始电流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131" y="5445273"/>
                <a:ext cx="3528402" cy="1033168"/>
              </a:xfrm>
              <a:prstGeom prst="rect">
                <a:avLst/>
              </a:prstGeom>
              <a:blipFill>
                <a:blip r:embed="rId12"/>
                <a:stretch>
                  <a:fillRect l="-2249" t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6917" y="5388531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等效</m:t>
                    </m:r>
                  </m:oMath>
                </a14:m>
                <a:r>
                  <a:rPr lang="zh-CN" altLang="en-US" dirty="0"/>
                  <a:t>电感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7" y="5388531"/>
                <a:ext cx="1107996" cy="369332"/>
              </a:xfrm>
              <a:prstGeom prst="rect">
                <a:avLst/>
              </a:prstGeom>
              <a:blipFill>
                <a:blip r:embed="rId13"/>
                <a:stretch>
                  <a:fillRect t="-13115" r="-3297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41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2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2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34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34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34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34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9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068" name="Object 4"/>
          <p:cNvGraphicFramePr>
            <a:graphicFrameLocks noChangeAspect="1"/>
          </p:cNvGraphicFramePr>
          <p:nvPr/>
        </p:nvGraphicFramePr>
        <p:xfrm>
          <a:off x="2819400" y="1066800"/>
          <a:ext cx="3000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457200" progId="Equation.DSMT4">
                  <p:embed/>
                </p:oleObj>
              </mc:Choice>
              <mc:Fallback>
                <p:oleObj name="Equation" r:id="rId3" imgW="1498320" imgH="457200" progId="Equation.DSMT4">
                  <p:embed/>
                  <p:pic>
                    <p:nvPicPr>
                      <p:cNvPr id="344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066800"/>
                        <a:ext cx="300037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758632"/>
              </p:ext>
            </p:extLst>
          </p:nvPr>
        </p:nvGraphicFramePr>
        <p:xfrm>
          <a:off x="1691680" y="4869160"/>
          <a:ext cx="17097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444240" progId="Equation.DSMT4">
                  <p:embed/>
                </p:oleObj>
              </mc:Choice>
              <mc:Fallback>
                <p:oleObj name="Equation" r:id="rId5" imgW="863280" imgH="444240" progId="Equation.DSMT4">
                  <p:embed/>
                  <p:pic>
                    <p:nvPicPr>
                      <p:cNvPr id="3440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869160"/>
                        <a:ext cx="17097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533400" y="4572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等效电感</a:t>
            </a:r>
            <a:r>
              <a:rPr lang="zh-CN" altLang="en-US" sz="2400" b="1"/>
              <a:t>与各电感的关系式为</a:t>
            </a:r>
          </a:p>
        </p:txBody>
      </p:sp>
      <p:sp>
        <p:nvSpPr>
          <p:cNvPr id="344071" name="Rectangle 7"/>
          <p:cNvSpPr>
            <a:spLocks noChangeArrowheads="1"/>
          </p:cNvSpPr>
          <p:nvPr/>
        </p:nvSpPr>
        <p:spPr bwMode="auto">
          <a:xfrm>
            <a:off x="685800" y="3200400"/>
            <a:ext cx="7467600" cy="82232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901700" indent="-901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810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604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398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个并联电感的等效电感值 的倒数等于各电感值倒数之和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44072" name="Rectangle 8"/>
          <p:cNvSpPr>
            <a:spLocks noChangeArrowheads="1"/>
          </p:cNvSpPr>
          <p:nvPr/>
        </p:nvSpPr>
        <p:spPr bwMode="auto">
          <a:xfrm>
            <a:off x="685800" y="4296246"/>
            <a:ext cx="75586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当两个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无储能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电感并联（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）时，等效电感值为</a:t>
            </a:r>
            <a:endParaRPr lang="zh-CN" altLang="en-US" sz="2400" b="1" dirty="0"/>
          </a:p>
        </p:txBody>
      </p:sp>
      <p:graphicFrame>
        <p:nvGraphicFramePr>
          <p:cNvPr id="344073" name="Object 9"/>
          <p:cNvGraphicFramePr>
            <a:graphicFrameLocks noChangeAspect="1"/>
          </p:cNvGraphicFramePr>
          <p:nvPr/>
        </p:nvGraphicFramePr>
        <p:xfrm>
          <a:off x="2819400" y="2057400"/>
          <a:ext cx="18430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431640" progId="Equation.DSMT4">
                  <p:embed/>
                </p:oleObj>
              </mc:Choice>
              <mc:Fallback>
                <p:oleObj name="Equation" r:id="rId7" imgW="914400" imgH="431640" progId="Equation.DSMT4">
                  <p:embed/>
                  <p:pic>
                    <p:nvPicPr>
                      <p:cNvPr id="3440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57400"/>
                        <a:ext cx="1843088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720628" y="5027769"/>
                <a:ext cx="2371652" cy="670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𝒆𝒒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628" y="5027769"/>
                <a:ext cx="2371652" cy="670248"/>
              </a:xfrm>
              <a:prstGeom prst="rect">
                <a:avLst/>
              </a:prstGeom>
              <a:blipFill>
                <a:blip r:embed="rId10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699792" y="6165304"/>
            <a:ext cx="3143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有储能？</a:t>
            </a:r>
            <a:r>
              <a:rPr lang="en-US" altLang="zh-CN" sz="2400" dirty="0">
                <a:solidFill>
                  <a:srgbClr val="FF0000"/>
                </a:solidFill>
              </a:rPr>
              <a:t>P.247 </a:t>
            </a:r>
            <a:r>
              <a:rPr lang="zh-CN" altLang="en-US" sz="2400" dirty="0">
                <a:solidFill>
                  <a:srgbClr val="FF0000"/>
                </a:solidFill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</a:rPr>
              <a:t>7-4-3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71" grpId="0" animBg="1"/>
      <p:bldP spid="34407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电容、电感小结（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81000" y="914400"/>
                <a:ext cx="4191000" cy="5181600"/>
              </a:xfrm>
            </p:spPr>
            <p:txBody>
              <a:bodyPr/>
              <a:lstStyle/>
              <a:p>
                <a:r>
                  <a:rPr lang="zh-CN" altLang="en-US" sz="1800" b="1" dirty="0"/>
                  <a:t>电容</a:t>
                </a:r>
                <a:r>
                  <a:rPr lang="zh-CN" altLang="en-US" sz="1800" dirty="0"/>
                  <a:t>                     单位法</a:t>
                </a:r>
                <a:r>
                  <a:rPr lang="en-US" altLang="zh-CN" sz="1800" dirty="0"/>
                  <a:t>[</a:t>
                </a:r>
                <a:r>
                  <a:rPr lang="zh-CN" altLang="en-US" sz="1800" dirty="0"/>
                  <a:t>拉</a:t>
                </a:r>
                <a:r>
                  <a:rPr lang="en-US" altLang="zh-CN" sz="1800" dirty="0"/>
                  <a:t>]F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𝐶𝑢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线性</m:t>
                    </m:r>
                  </m:oMath>
                </a14:m>
                <a:r>
                  <a:rPr lang="zh-CN" altLang="en-US" sz="1800" dirty="0"/>
                  <a:t>非时变电容</a:t>
                </a:r>
                <a:endParaRPr lang="en-US" altLang="zh-CN" sz="1800" dirty="0"/>
              </a:p>
              <a:p>
                <a:r>
                  <a:rPr lang="zh-CN" altLang="en-US" sz="1800" dirty="0"/>
                  <a:t>动态元件</a:t>
                </a:r>
                <a:r>
                  <a:rPr lang="en-US" altLang="zh-CN" sz="1800" dirty="0"/>
                  <a:t>——</a:t>
                </a:r>
                <a:r>
                  <a:rPr lang="en-US" altLang="zh-CN" sz="1800" i="1" dirty="0" err="1"/>
                  <a:t>i</a:t>
                </a:r>
                <a:r>
                  <a:rPr lang="zh-CN" altLang="en-US" sz="1800" dirty="0"/>
                  <a:t>的大小与</a:t>
                </a:r>
                <a:r>
                  <a:rPr lang="en-US" altLang="zh-CN" sz="1800" i="1" dirty="0"/>
                  <a:t>u</a:t>
                </a:r>
                <a:r>
                  <a:rPr lang="zh-CN" altLang="en-US" sz="1800" dirty="0"/>
                  <a:t>的变化率成正比，与</a:t>
                </a:r>
                <a:r>
                  <a:rPr lang="en-US" altLang="zh-CN" sz="1800" i="1" dirty="0"/>
                  <a:t>u</a:t>
                </a:r>
                <a:r>
                  <a:rPr lang="zh-CN" altLang="en-US" sz="1800" dirty="0"/>
                  <a:t>的大小无关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81000" y="914400"/>
                <a:ext cx="4191000" cy="5181600"/>
              </a:xfrm>
              <a:blipFill>
                <a:blip r:embed="rId3"/>
                <a:stretch>
                  <a:fillRect l="-1164" t="-706" r="-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771750"/>
            <a:ext cx="946049" cy="466500"/>
          </a:xfrm>
          <a:prstGeom prst="rect">
            <a:avLst/>
          </a:prstGeom>
        </p:spPr>
      </p:pic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549341"/>
              </p:ext>
            </p:extLst>
          </p:nvPr>
        </p:nvGraphicFramePr>
        <p:xfrm>
          <a:off x="1893202" y="2609776"/>
          <a:ext cx="2621343" cy="70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11280" imgH="406080" progId="Equation.3">
                  <p:embed/>
                </p:oleObj>
              </mc:Choice>
              <mc:Fallback>
                <p:oleObj name="公式" r:id="rId5" imgW="1511280" imgH="406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93202" y="2609776"/>
                        <a:ext cx="2621343" cy="704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45669"/>
              </p:ext>
            </p:extLst>
          </p:nvPr>
        </p:nvGraphicFramePr>
        <p:xfrm>
          <a:off x="1907339" y="3314675"/>
          <a:ext cx="2433719" cy="578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701720" imgH="406080" progId="Equation.3">
                  <p:embed/>
                </p:oleObj>
              </mc:Choice>
              <mc:Fallback>
                <p:oleObj name="公式" r:id="rId7" imgW="1701720" imgH="406080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339" y="3314675"/>
                        <a:ext cx="2433719" cy="578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355423"/>
              </p:ext>
            </p:extLst>
          </p:nvPr>
        </p:nvGraphicFramePr>
        <p:xfrm>
          <a:off x="973138" y="5865813"/>
          <a:ext cx="3128962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03240" imgH="406080" progId="Equation.3">
                  <p:embed/>
                </p:oleObj>
              </mc:Choice>
              <mc:Fallback>
                <p:oleObj name="公式" r:id="rId9" imgW="1803240" imgH="406080" progId="Equation.3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3138" y="5865813"/>
                        <a:ext cx="3128962" cy="704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6"/>
              <p:cNvSpPr txBox="1">
                <a:spLocks/>
              </p:cNvSpPr>
              <p:nvPr/>
            </p:nvSpPr>
            <p:spPr bwMode="auto">
              <a:xfrm>
                <a:off x="4694238" y="953712"/>
                <a:ext cx="4191000" cy="18044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华文宋体" panose="02010600040101010101" pitchFamily="2" charset="-122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华文宋体" panose="02010600040101010101" pitchFamily="2" charset="-122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华文宋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800" b="1" dirty="0"/>
                  <a:t>电感</a:t>
                </a:r>
                <a:r>
                  <a:rPr lang="zh-CN" altLang="en-US" sz="1800" dirty="0"/>
                  <a:t>                     单位亨</a:t>
                </a:r>
                <a:r>
                  <a:rPr lang="en-US" altLang="zh-CN" sz="1800" dirty="0"/>
                  <a:t>[</a:t>
                </a:r>
                <a:r>
                  <a:rPr lang="zh-CN" altLang="en-US" sz="1800" dirty="0"/>
                  <a:t>利</a:t>
                </a:r>
                <a:r>
                  <a:rPr lang="en-US" altLang="zh-CN" sz="1800" dirty="0"/>
                  <a:t>]H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𝐿𝑖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线性</m:t>
                    </m:r>
                  </m:oMath>
                </a14:m>
                <a:r>
                  <a:rPr lang="zh-CN" altLang="en-US" sz="1800" dirty="0"/>
                  <a:t>非时变电感</a:t>
                </a:r>
                <a:endParaRPr lang="en-US" altLang="zh-CN" sz="1800" dirty="0"/>
              </a:p>
              <a:p>
                <a:r>
                  <a:rPr lang="zh-CN" altLang="en-US" sz="1800" dirty="0"/>
                  <a:t>动态元件</a:t>
                </a:r>
                <a:r>
                  <a:rPr lang="en-US" altLang="zh-CN" sz="1800" dirty="0"/>
                  <a:t>——</a:t>
                </a:r>
                <a:r>
                  <a:rPr lang="en-US" altLang="zh-CN" sz="1800" i="1" dirty="0"/>
                  <a:t>u</a:t>
                </a:r>
                <a:r>
                  <a:rPr lang="zh-CN" altLang="en-US" sz="1800" dirty="0"/>
                  <a:t>的大小与</a:t>
                </a:r>
                <a:r>
                  <a:rPr lang="en-US" altLang="zh-CN" sz="1800" i="1" dirty="0"/>
                  <a:t>i</a:t>
                </a:r>
                <a:r>
                  <a:rPr lang="zh-CN" altLang="en-US" sz="1800" dirty="0"/>
                  <a:t>的变化率成正比，与</a:t>
                </a:r>
                <a:r>
                  <a:rPr lang="en-US" altLang="zh-CN" sz="1800" i="1" dirty="0"/>
                  <a:t>i</a:t>
                </a:r>
                <a:r>
                  <a:rPr lang="zh-CN" altLang="en-US" sz="1800" dirty="0"/>
                  <a:t>的大小无关</a:t>
                </a:r>
                <a:endParaRPr lang="en-US" altLang="zh-CN" sz="1800" dirty="0"/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7" name="内容占位符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4238" y="953712"/>
                <a:ext cx="4191000" cy="1804408"/>
              </a:xfrm>
              <a:prstGeom prst="rect">
                <a:avLst/>
              </a:prstGeom>
              <a:blipFill>
                <a:blip r:embed="rId11"/>
                <a:stretch>
                  <a:fillRect l="-1017" t="-2027" r="-29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/>
          <p:cNvGrpSpPr/>
          <p:nvPr/>
        </p:nvGrpSpPr>
        <p:grpSpPr>
          <a:xfrm>
            <a:off x="5940152" y="861130"/>
            <a:ext cx="528333" cy="469997"/>
            <a:chOff x="5940152" y="861130"/>
            <a:chExt cx="528333" cy="469997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940152" y="987496"/>
              <a:ext cx="528333" cy="343631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6019800" y="861130"/>
              <a:ext cx="28405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i="1" dirty="0"/>
                <a:t>L</a:t>
              </a:r>
              <a:endParaRPr lang="zh-CN" altLang="en-US" sz="1400" i="1" dirty="0"/>
            </a:p>
          </p:txBody>
        </p:sp>
      </p:grp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087351"/>
              </p:ext>
            </p:extLst>
          </p:nvPr>
        </p:nvGraphicFramePr>
        <p:xfrm>
          <a:off x="6303852" y="2758492"/>
          <a:ext cx="2252651" cy="605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511280" imgH="406080" progId="Equation.3">
                  <p:embed/>
                </p:oleObj>
              </mc:Choice>
              <mc:Fallback>
                <p:oleObj name="公式" r:id="rId13" imgW="1511280" imgH="406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03852" y="2758492"/>
                        <a:ext cx="2252651" cy="605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733380"/>
              </p:ext>
            </p:extLst>
          </p:nvPr>
        </p:nvGraphicFramePr>
        <p:xfrm>
          <a:off x="6206706" y="3308439"/>
          <a:ext cx="2297070" cy="548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701720" imgH="406080" progId="Equation.3">
                  <p:embed/>
                </p:oleObj>
              </mc:Choice>
              <mc:Fallback>
                <p:oleObj name="公式" r:id="rId15" imgW="1701720" imgH="406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06706" y="3308439"/>
                        <a:ext cx="2297070" cy="548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222757"/>
              </p:ext>
            </p:extLst>
          </p:nvPr>
        </p:nvGraphicFramePr>
        <p:xfrm>
          <a:off x="5659438" y="5853113"/>
          <a:ext cx="267017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790640" imgH="406080" progId="Equation.3">
                  <p:embed/>
                </p:oleObj>
              </mc:Choice>
              <mc:Fallback>
                <p:oleObj name="公式" r:id="rId17" imgW="1790640" imgH="406080" progId="Equation.3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59438" y="5853113"/>
                        <a:ext cx="2670175" cy="60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779502" y="274896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记忆元件</a:t>
            </a:r>
          </a:p>
        </p:txBody>
      </p:sp>
      <p:sp>
        <p:nvSpPr>
          <p:cNvPr id="30" name="矩形 29"/>
          <p:cNvSpPr/>
          <p:nvPr/>
        </p:nvSpPr>
        <p:spPr>
          <a:xfrm>
            <a:off x="779502" y="340987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储能元件</a:t>
            </a:r>
            <a:endParaRPr lang="en-US" altLang="zh-CN" dirty="0"/>
          </a:p>
        </p:txBody>
      </p:sp>
      <p:sp>
        <p:nvSpPr>
          <p:cNvPr id="31" name="矩形 30"/>
          <p:cNvSpPr/>
          <p:nvPr/>
        </p:nvSpPr>
        <p:spPr>
          <a:xfrm>
            <a:off x="107521" y="4035287"/>
            <a:ext cx="44070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</a:rPr>
              <a:t>当 </a:t>
            </a:r>
            <a:r>
              <a:rPr lang="en-US" altLang="zh-CN" dirty="0">
                <a:latin typeface="+mn-lt"/>
                <a:ea typeface="+mn-ea"/>
              </a:rPr>
              <a:t>u </a:t>
            </a:r>
            <a:r>
              <a:rPr lang="zh-CN" altLang="en-US" dirty="0">
                <a:latin typeface="+mn-lt"/>
                <a:ea typeface="+mn-ea"/>
              </a:rPr>
              <a:t>为常数</a:t>
            </a:r>
            <a:r>
              <a:rPr lang="en-US" altLang="zh-CN" dirty="0">
                <a:latin typeface="+mn-lt"/>
                <a:ea typeface="+mn-ea"/>
              </a:rPr>
              <a:t>(</a:t>
            </a:r>
            <a:r>
              <a:rPr lang="zh-CN" altLang="en-US" dirty="0">
                <a:latin typeface="+mn-lt"/>
                <a:ea typeface="+mn-ea"/>
              </a:rPr>
              <a:t>直流</a:t>
            </a:r>
            <a:r>
              <a:rPr lang="en-US" altLang="zh-CN" dirty="0">
                <a:latin typeface="+mn-lt"/>
                <a:ea typeface="+mn-ea"/>
              </a:rPr>
              <a:t>)</a:t>
            </a:r>
            <a:r>
              <a:rPr lang="zh-CN" altLang="en-US" dirty="0">
                <a:latin typeface="+mn-lt"/>
                <a:ea typeface="+mn-ea"/>
              </a:rPr>
              <a:t>时，</a:t>
            </a:r>
            <a:r>
              <a:rPr lang="en-US" altLang="zh-CN" dirty="0">
                <a:latin typeface="+mn-lt"/>
                <a:ea typeface="+mn-ea"/>
              </a:rPr>
              <a:t>du/</a:t>
            </a:r>
            <a:r>
              <a:rPr lang="en-US" altLang="zh-CN" dirty="0" err="1">
                <a:latin typeface="+mn-lt"/>
                <a:ea typeface="+mn-ea"/>
              </a:rPr>
              <a:t>dt</a:t>
            </a:r>
            <a:r>
              <a:rPr lang="en-US" altLang="zh-CN" dirty="0">
                <a:latin typeface="+mn-lt"/>
                <a:ea typeface="+mn-ea"/>
              </a:rPr>
              <a:t> =0, </a:t>
            </a:r>
            <a:r>
              <a:rPr lang="en-US" altLang="zh-CN" dirty="0" err="1">
                <a:latin typeface="+mn-lt"/>
                <a:ea typeface="+mn-ea"/>
              </a:rPr>
              <a:t>i</a:t>
            </a:r>
            <a:r>
              <a:rPr lang="en-US" altLang="zh-CN" dirty="0">
                <a:latin typeface="+mn-lt"/>
                <a:ea typeface="+mn-ea"/>
              </a:rPr>
              <a:t>=0</a:t>
            </a:r>
            <a:r>
              <a:rPr lang="zh-CN" altLang="en-US" dirty="0">
                <a:latin typeface="+mn-lt"/>
                <a:ea typeface="+mn-ea"/>
              </a:rPr>
              <a:t>。电容在直流稳态电路中相当于开路，电容有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隔直</a:t>
            </a:r>
            <a:r>
              <a:rPr lang="zh-CN" altLang="en-US" dirty="0">
                <a:latin typeface="+mn-lt"/>
                <a:ea typeface="+mn-ea"/>
              </a:rPr>
              <a:t>作用。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</a:rPr>
              <a:t>电容电流在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处为有限值，电容电压在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处连续；电容电流在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处为无限大，电容电压在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处跳变。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572000" y="4076971"/>
            <a:ext cx="445633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</a:rPr>
              <a:t>当 </a:t>
            </a:r>
            <a:r>
              <a:rPr lang="en-US" altLang="zh-CN" dirty="0" err="1">
                <a:latin typeface="+mn-lt"/>
                <a:ea typeface="+mn-ea"/>
              </a:rPr>
              <a:t>i</a:t>
            </a:r>
            <a:r>
              <a:rPr lang="en-US" altLang="zh-CN" dirty="0">
                <a:latin typeface="+mn-lt"/>
                <a:ea typeface="+mn-ea"/>
              </a:rPr>
              <a:t> </a:t>
            </a:r>
            <a:r>
              <a:rPr lang="zh-CN" altLang="en-US" dirty="0">
                <a:latin typeface="+mn-lt"/>
                <a:ea typeface="+mn-ea"/>
              </a:rPr>
              <a:t>为常数</a:t>
            </a:r>
            <a:r>
              <a:rPr lang="en-US" altLang="zh-CN" dirty="0">
                <a:latin typeface="+mn-lt"/>
                <a:ea typeface="+mn-ea"/>
              </a:rPr>
              <a:t>(</a:t>
            </a:r>
            <a:r>
              <a:rPr lang="zh-CN" altLang="en-US" dirty="0">
                <a:latin typeface="+mn-lt"/>
                <a:ea typeface="+mn-ea"/>
              </a:rPr>
              <a:t>直流</a:t>
            </a:r>
            <a:r>
              <a:rPr lang="en-US" altLang="zh-CN" dirty="0">
                <a:latin typeface="+mn-lt"/>
                <a:ea typeface="+mn-ea"/>
              </a:rPr>
              <a:t>)</a:t>
            </a:r>
            <a:r>
              <a:rPr lang="zh-CN" altLang="en-US" dirty="0">
                <a:latin typeface="+mn-lt"/>
                <a:ea typeface="+mn-ea"/>
              </a:rPr>
              <a:t>时，</a:t>
            </a:r>
            <a:r>
              <a:rPr lang="en-US" altLang="zh-CN" dirty="0">
                <a:latin typeface="+mn-lt"/>
                <a:ea typeface="+mn-ea"/>
              </a:rPr>
              <a:t>di/</a:t>
            </a:r>
            <a:r>
              <a:rPr lang="en-US" altLang="zh-CN" dirty="0" err="1">
                <a:latin typeface="+mn-lt"/>
                <a:ea typeface="+mn-ea"/>
              </a:rPr>
              <a:t>dt</a:t>
            </a:r>
            <a:r>
              <a:rPr lang="en-US" altLang="zh-CN" dirty="0">
                <a:latin typeface="+mn-lt"/>
                <a:ea typeface="+mn-ea"/>
              </a:rPr>
              <a:t> =0, u=0</a:t>
            </a:r>
            <a:r>
              <a:rPr lang="zh-CN" altLang="en-US" dirty="0">
                <a:latin typeface="+mn-lt"/>
                <a:ea typeface="+mn-ea"/>
              </a:rPr>
              <a:t>。电流在直流稳态电路中相当于短路，电感有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通直</a:t>
            </a:r>
            <a:r>
              <a:rPr lang="zh-CN" altLang="en-US" dirty="0">
                <a:latin typeface="+mn-lt"/>
                <a:ea typeface="+mn-ea"/>
              </a:rPr>
              <a:t>作用。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</a:rPr>
              <a:t>电感电压在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处为有限值，电感电压在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处连续；电感电压在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处为无限大，电感电压在</a:t>
            </a:r>
            <a:r>
              <a:rPr lang="en-US" altLang="zh-CN" dirty="0">
                <a:latin typeface="+mn-lt"/>
                <a:ea typeface="+mn-ea"/>
              </a:rPr>
              <a:t>t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zh-CN" altLang="en-US" dirty="0">
                <a:latin typeface="+mn-lt"/>
                <a:ea typeface="+mn-ea"/>
              </a:rPr>
              <a:t>处跳变。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29070" y="279343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记忆元件</a:t>
            </a:r>
          </a:p>
        </p:txBody>
      </p:sp>
      <p:sp>
        <p:nvSpPr>
          <p:cNvPr id="34" name="矩形 33"/>
          <p:cNvSpPr/>
          <p:nvPr/>
        </p:nvSpPr>
        <p:spPr>
          <a:xfrm>
            <a:off x="4970804" y="341934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储能元件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898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9" grpId="0"/>
      <p:bldP spid="30" grpId="0"/>
      <p:bldP spid="33" grpId="0"/>
      <p:bldP spid="3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内容占位符 6"/>
          <p:cNvSpPr txBox="1">
            <a:spLocks/>
          </p:cNvSpPr>
          <p:nvPr/>
        </p:nvSpPr>
        <p:spPr bwMode="auto">
          <a:xfrm>
            <a:off x="4694238" y="953712"/>
            <a:ext cx="4191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电感</a:t>
            </a:r>
            <a:r>
              <a:rPr lang="zh-CN" altLang="en-US" sz="1800" dirty="0"/>
              <a:t>                     单位亨</a:t>
            </a:r>
            <a:r>
              <a:rPr lang="en-US" altLang="zh-CN" sz="1800" dirty="0"/>
              <a:t>[</a:t>
            </a:r>
            <a:r>
              <a:rPr lang="zh-CN" altLang="en-US" sz="1800" dirty="0"/>
              <a:t>利</a:t>
            </a:r>
            <a:r>
              <a:rPr lang="en-US" altLang="zh-CN" sz="1800" dirty="0"/>
              <a:t>]H</a:t>
            </a:r>
          </a:p>
          <a:p>
            <a:r>
              <a:rPr lang="zh-CN" altLang="en-US" sz="1800" b="1" dirty="0"/>
              <a:t>并联</a:t>
            </a:r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串联</a:t>
            </a:r>
            <a:endParaRPr lang="en-US" altLang="zh-CN" sz="1800" b="1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电容、电感小结（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91000" cy="5181600"/>
          </a:xfrm>
        </p:spPr>
        <p:txBody>
          <a:bodyPr/>
          <a:lstStyle/>
          <a:p>
            <a:r>
              <a:rPr lang="zh-CN" altLang="en-US" sz="1800" b="1" dirty="0"/>
              <a:t>电容</a:t>
            </a:r>
            <a:r>
              <a:rPr lang="zh-CN" altLang="en-US" sz="1800" dirty="0"/>
              <a:t>                     单位法</a:t>
            </a:r>
            <a:r>
              <a:rPr lang="en-US" altLang="zh-CN" sz="1800" dirty="0"/>
              <a:t>[</a:t>
            </a:r>
            <a:r>
              <a:rPr lang="zh-CN" altLang="en-US" sz="1800" dirty="0"/>
              <a:t>拉</a:t>
            </a:r>
            <a:r>
              <a:rPr lang="en-US" altLang="zh-CN" sz="1800" dirty="0"/>
              <a:t>]F</a:t>
            </a:r>
          </a:p>
          <a:p>
            <a:r>
              <a:rPr lang="zh-CN" altLang="en-US" sz="1800" b="1" dirty="0"/>
              <a:t>串联</a:t>
            </a:r>
            <a:endParaRPr lang="en-US" altLang="zh-CN" sz="1800" b="1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b="1" dirty="0"/>
              <a:t>并联</a:t>
            </a:r>
            <a:endParaRPr lang="en-US" altLang="zh-CN" sz="1800" b="1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2024/8/8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771750"/>
            <a:ext cx="946049" cy="4665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987496"/>
            <a:ext cx="528333" cy="34363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019800" y="861130"/>
            <a:ext cx="28405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i="1" dirty="0"/>
              <a:t>L</a:t>
            </a:r>
            <a:endParaRPr lang="zh-CN" altLang="en-US" sz="1400" i="1" dirty="0"/>
          </a:p>
        </p:txBody>
      </p:sp>
      <p:grpSp>
        <p:nvGrpSpPr>
          <p:cNvPr id="18" name="Group 24"/>
          <p:cNvGrpSpPr>
            <a:grpSpLocks/>
          </p:cNvGrpSpPr>
          <p:nvPr/>
        </p:nvGrpSpPr>
        <p:grpSpPr bwMode="auto">
          <a:xfrm>
            <a:off x="533746" y="1548360"/>
            <a:ext cx="2329037" cy="1718088"/>
            <a:chOff x="1200" y="864"/>
            <a:chExt cx="2221" cy="1337"/>
          </a:xfrm>
        </p:grpSpPr>
        <p:sp>
          <p:nvSpPr>
            <p:cNvPr id="21" name="Line 25"/>
            <p:cNvSpPr>
              <a:spLocks noChangeShapeType="1"/>
            </p:cNvSpPr>
            <p:nvPr/>
          </p:nvSpPr>
          <p:spPr bwMode="auto">
            <a:xfrm flipH="1" flipV="1">
              <a:off x="1425" y="1928"/>
              <a:ext cx="188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 rot="5400000" flipH="1" flipV="1">
              <a:off x="1804" y="1213"/>
              <a:ext cx="18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 rot="16200000" flipV="1">
              <a:off x="1857" y="1213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1735" y="872"/>
              <a:ext cx="362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>
                  <a:solidFill>
                    <a:srgbClr val="000000"/>
                  </a:solidFill>
                </a:rPr>
                <a:t>C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1</a:t>
              </a:r>
              <a:endParaRPr lang="en-US" altLang="zh-CN" sz="1400" b="1"/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1217" y="141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/>
                <a:t>u</a:t>
              </a:r>
              <a:endParaRPr lang="en-US" altLang="zh-CN" sz="1400" b="1"/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1334" y="889"/>
              <a:ext cx="41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>
                  <a:solidFill>
                    <a:srgbClr val="000000"/>
                  </a:solidFill>
                </a:rPr>
                <a:t>i</a:t>
              </a:r>
              <a:endParaRPr lang="en-US" altLang="zh-CN" sz="1400" b="1"/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 flipV="1">
              <a:off x="1430" y="1203"/>
              <a:ext cx="46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1204" y="117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/>
                <a:t>+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1870" y="114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/>
                <a:t>_</a:t>
              </a: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1451" y="1137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4" name="Text Box 35"/>
            <p:cNvSpPr txBox="1">
              <a:spLocks noChangeArrowheads="1"/>
            </p:cNvSpPr>
            <p:nvPr/>
          </p:nvSpPr>
          <p:spPr bwMode="auto">
            <a:xfrm>
              <a:off x="1719" y="1208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>
                  <a:solidFill>
                    <a:srgbClr val="000000"/>
                  </a:solidFill>
                </a:rPr>
                <a:t>u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1</a:t>
              </a:r>
              <a:endParaRPr lang="en-US" altLang="zh-CN" sz="1400" b="1"/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1735" y="1933"/>
              <a:ext cx="115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/>
              <a:r>
                <a:rPr lang="en-US" altLang="zh-CN" sz="1400" b="1" i="1" dirty="0"/>
                <a:t>n</a:t>
              </a:r>
              <a:r>
                <a:rPr lang="zh-CN" altLang="en-US" sz="1400" b="1" dirty="0"/>
                <a:t>个电容串联</a:t>
              </a:r>
            </a:p>
          </p:txBody>
        </p:sp>
        <p:sp>
          <p:nvSpPr>
            <p:cNvPr id="36" name="Text Box 37"/>
            <p:cNvSpPr txBox="1">
              <a:spLocks noChangeArrowheads="1"/>
            </p:cNvSpPr>
            <p:nvPr/>
          </p:nvSpPr>
          <p:spPr bwMode="auto">
            <a:xfrm>
              <a:off x="2213" y="877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>
                  <a:solidFill>
                    <a:srgbClr val="000000"/>
                  </a:solidFill>
                </a:rPr>
                <a:t>C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2</a:t>
              </a:r>
              <a:endParaRPr lang="en-US" altLang="zh-CN" sz="1400" b="1"/>
            </a:p>
          </p:txBody>
        </p:sp>
        <p:sp>
          <p:nvSpPr>
            <p:cNvPr id="37" name="Text Box 38"/>
            <p:cNvSpPr txBox="1">
              <a:spLocks noChangeArrowheads="1"/>
            </p:cNvSpPr>
            <p:nvPr/>
          </p:nvSpPr>
          <p:spPr bwMode="auto">
            <a:xfrm>
              <a:off x="2191" y="1205"/>
              <a:ext cx="41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>
                  <a:solidFill>
                    <a:srgbClr val="000000"/>
                  </a:solidFill>
                </a:rPr>
                <a:t>u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2</a:t>
              </a:r>
              <a:endParaRPr lang="en-US" altLang="zh-CN" sz="1400" b="1"/>
            </a:p>
          </p:txBody>
        </p:sp>
        <p:sp>
          <p:nvSpPr>
            <p:cNvPr id="38" name="Text Box 39"/>
            <p:cNvSpPr txBox="1">
              <a:spLocks noChangeArrowheads="1"/>
            </p:cNvSpPr>
            <p:nvPr/>
          </p:nvSpPr>
          <p:spPr bwMode="auto">
            <a:xfrm>
              <a:off x="2879" y="864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>
                  <a:solidFill>
                    <a:srgbClr val="000000"/>
                  </a:solidFill>
                </a:rPr>
                <a:t>C</a:t>
              </a:r>
              <a:r>
                <a:rPr lang="en-US" altLang="zh-CN" sz="14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400" b="1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3322" y="1202"/>
              <a:ext cx="0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0" name="Text Box 41"/>
            <p:cNvSpPr txBox="1">
              <a:spLocks noChangeArrowheads="1"/>
            </p:cNvSpPr>
            <p:nvPr/>
          </p:nvSpPr>
          <p:spPr bwMode="auto">
            <a:xfrm>
              <a:off x="2869" y="1217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i="1">
                  <a:solidFill>
                    <a:srgbClr val="000000"/>
                  </a:solidFill>
                </a:rPr>
                <a:t>u</a:t>
              </a:r>
              <a:r>
                <a:rPr lang="en-US" altLang="zh-CN" sz="14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400" b="1"/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3075" y="1206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2643" y="1206"/>
              <a:ext cx="22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3" name="Oval 44"/>
            <p:cNvSpPr>
              <a:spLocks noChangeArrowheads="1"/>
            </p:cNvSpPr>
            <p:nvPr/>
          </p:nvSpPr>
          <p:spPr bwMode="auto">
            <a:xfrm>
              <a:off x="1378" y="1179"/>
              <a:ext cx="44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4" name="Oval 45"/>
            <p:cNvSpPr>
              <a:spLocks noChangeArrowheads="1"/>
            </p:cNvSpPr>
            <p:nvPr/>
          </p:nvSpPr>
          <p:spPr bwMode="auto">
            <a:xfrm>
              <a:off x="1374" y="190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 rot="5400000" flipH="1" flipV="1">
              <a:off x="2276" y="1202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 rot="16200000" flipV="1">
              <a:off x="2328" y="1203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sp>
          <p:nvSpPr>
            <p:cNvPr id="47" name="Line 48"/>
            <p:cNvSpPr>
              <a:spLocks noChangeShapeType="1"/>
            </p:cNvSpPr>
            <p:nvPr/>
          </p:nvSpPr>
          <p:spPr bwMode="auto">
            <a:xfrm rot="5400000" flipH="1" flipV="1">
              <a:off x="2939" y="1202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sp>
          <p:nvSpPr>
            <p:cNvPr id="48" name="Line 49"/>
            <p:cNvSpPr>
              <a:spLocks noChangeShapeType="1"/>
            </p:cNvSpPr>
            <p:nvPr/>
          </p:nvSpPr>
          <p:spPr bwMode="auto">
            <a:xfrm rot="16200000" flipV="1">
              <a:off x="2991" y="1203"/>
              <a:ext cx="1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2432" y="1206"/>
              <a:ext cx="1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1942" y="1206"/>
              <a:ext cx="4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H="1">
              <a:off x="2874" y="1206"/>
              <a:ext cx="1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52" name="Text Box 53"/>
            <p:cNvSpPr txBox="1">
              <a:spLocks noChangeArrowheads="1"/>
            </p:cNvSpPr>
            <p:nvPr/>
          </p:nvSpPr>
          <p:spPr bwMode="auto">
            <a:xfrm>
              <a:off x="1528" y="121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/>
                <a:t>+</a:t>
              </a:r>
            </a:p>
          </p:txBody>
        </p:sp>
        <p:sp>
          <p:nvSpPr>
            <p:cNvPr id="53" name="Text Box 54"/>
            <p:cNvSpPr txBox="1">
              <a:spLocks noChangeArrowheads="1"/>
            </p:cNvSpPr>
            <p:nvPr/>
          </p:nvSpPr>
          <p:spPr bwMode="auto">
            <a:xfrm>
              <a:off x="2024" y="1216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 dirty="0"/>
                <a:t>+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2728" y="121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/>
                <a:t>+</a:t>
              </a:r>
            </a:p>
          </p:txBody>
        </p:sp>
        <p:sp>
          <p:nvSpPr>
            <p:cNvPr id="55" name="Text Box 56"/>
            <p:cNvSpPr txBox="1">
              <a:spLocks noChangeArrowheads="1"/>
            </p:cNvSpPr>
            <p:nvPr/>
          </p:nvSpPr>
          <p:spPr bwMode="auto">
            <a:xfrm>
              <a:off x="2392" y="1141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/>
                <a:t>_</a:t>
              </a: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3025" y="114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/>
                <a:t>_</a:t>
              </a:r>
            </a:p>
          </p:txBody>
        </p:sp>
        <p:sp>
          <p:nvSpPr>
            <p:cNvPr id="57" name="Text Box 58"/>
            <p:cNvSpPr txBox="1">
              <a:spLocks noChangeArrowheads="1"/>
            </p:cNvSpPr>
            <p:nvPr/>
          </p:nvSpPr>
          <p:spPr bwMode="auto">
            <a:xfrm>
              <a:off x="1200" y="159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b="1"/>
                <a:t>_</a:t>
              </a:r>
            </a:p>
          </p:txBody>
        </p:sp>
      </p:grpSp>
      <p:grpSp>
        <p:nvGrpSpPr>
          <p:cNvPr id="58" name="Group 5"/>
          <p:cNvGrpSpPr>
            <a:grpSpLocks/>
          </p:cNvGrpSpPr>
          <p:nvPr/>
        </p:nvGrpSpPr>
        <p:grpSpPr bwMode="auto">
          <a:xfrm>
            <a:off x="2871247" y="1565065"/>
            <a:ext cx="1225555" cy="1663769"/>
            <a:chOff x="3593" y="883"/>
            <a:chExt cx="1254" cy="1242"/>
          </a:xfrm>
        </p:grpSpPr>
        <p:sp>
          <p:nvSpPr>
            <p:cNvPr id="59" name="Line 6"/>
            <p:cNvSpPr>
              <a:spLocks noChangeShapeType="1"/>
            </p:cNvSpPr>
            <p:nvPr/>
          </p:nvSpPr>
          <p:spPr bwMode="auto">
            <a:xfrm flipH="1" flipV="1">
              <a:off x="3815" y="1922"/>
              <a:ext cx="4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grpSp>
          <p:nvGrpSpPr>
            <p:cNvPr id="60" name="Group 7"/>
            <p:cNvGrpSpPr>
              <a:grpSpLocks/>
            </p:cNvGrpSpPr>
            <p:nvPr/>
          </p:nvGrpSpPr>
          <p:grpSpPr bwMode="auto">
            <a:xfrm rot="5400000">
              <a:off x="4279" y="1450"/>
              <a:ext cx="52" cy="185"/>
              <a:chOff x="4012" y="3701"/>
              <a:chExt cx="81" cy="289"/>
            </a:xfrm>
          </p:grpSpPr>
          <p:sp>
            <p:nvSpPr>
              <p:cNvPr id="75" name="Line 8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76" name="Line 9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sp>
          <p:nvSpPr>
            <p:cNvPr id="61" name="Text Box 10"/>
            <p:cNvSpPr txBox="1">
              <a:spLocks noChangeArrowheads="1"/>
            </p:cNvSpPr>
            <p:nvPr/>
          </p:nvSpPr>
          <p:spPr bwMode="auto">
            <a:xfrm>
              <a:off x="4347" y="1401"/>
              <a:ext cx="500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600" b="1" i="1" dirty="0" err="1">
                  <a:solidFill>
                    <a:srgbClr val="000000"/>
                  </a:solidFill>
                </a:rPr>
                <a:t>C</a:t>
              </a:r>
              <a:r>
                <a:rPr lang="en-US" altLang="zh-CN" sz="1600" b="1" baseline="-25000" dirty="0" err="1">
                  <a:solidFill>
                    <a:srgbClr val="000000"/>
                  </a:solidFill>
                </a:rPr>
                <a:t>eq</a:t>
              </a:r>
              <a:r>
                <a:rPr lang="en-US" altLang="zh-CN" sz="1600" b="1" baseline="-25000" dirty="0">
                  <a:solidFill>
                    <a:srgbClr val="000000"/>
                  </a:solidFill>
                </a:rPr>
                <a:t>             </a:t>
              </a:r>
              <a:endParaRPr lang="en-US" altLang="zh-CN" sz="1600" b="1" dirty="0"/>
            </a:p>
          </p:txBody>
        </p:sp>
        <p:sp>
          <p:nvSpPr>
            <p:cNvPr id="62" name="Text Box 11"/>
            <p:cNvSpPr txBox="1">
              <a:spLocks noChangeArrowheads="1"/>
            </p:cNvSpPr>
            <p:nvPr/>
          </p:nvSpPr>
          <p:spPr bwMode="auto">
            <a:xfrm>
              <a:off x="3607" y="141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600" b="1" i="1"/>
                <a:t>u</a:t>
              </a:r>
              <a:endParaRPr lang="en-US" altLang="zh-CN" sz="1600" b="1"/>
            </a:p>
          </p:txBody>
        </p:sp>
        <p:sp>
          <p:nvSpPr>
            <p:cNvPr id="63" name="Text Box 12"/>
            <p:cNvSpPr txBox="1">
              <a:spLocks noChangeArrowheads="1"/>
            </p:cNvSpPr>
            <p:nvPr/>
          </p:nvSpPr>
          <p:spPr bwMode="auto">
            <a:xfrm>
              <a:off x="3725" y="883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endParaRPr lang="en-US" altLang="zh-CN" sz="1600" b="1"/>
            </a:p>
          </p:txBody>
        </p:sp>
        <p:sp>
          <p:nvSpPr>
            <p:cNvPr id="64" name="Line 13"/>
            <p:cNvSpPr>
              <a:spLocks noChangeShapeType="1"/>
            </p:cNvSpPr>
            <p:nvPr/>
          </p:nvSpPr>
          <p:spPr bwMode="auto">
            <a:xfrm flipV="1">
              <a:off x="3820" y="1197"/>
              <a:ext cx="48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5" name="Text Box 14"/>
            <p:cNvSpPr txBox="1">
              <a:spLocks noChangeArrowheads="1"/>
            </p:cNvSpPr>
            <p:nvPr/>
          </p:nvSpPr>
          <p:spPr bwMode="auto">
            <a:xfrm>
              <a:off x="3594" y="117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600" b="1"/>
                <a:t>+</a:t>
              </a:r>
            </a:p>
          </p:txBody>
        </p:sp>
        <p:sp>
          <p:nvSpPr>
            <p:cNvPr id="66" name="Text Box 15"/>
            <p:cNvSpPr txBox="1">
              <a:spLocks noChangeArrowheads="1"/>
            </p:cNvSpPr>
            <p:nvPr/>
          </p:nvSpPr>
          <p:spPr bwMode="auto">
            <a:xfrm>
              <a:off x="3593" y="159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600" b="1"/>
                <a:t>_</a:t>
              </a:r>
            </a:p>
          </p:txBody>
        </p:sp>
        <p:sp>
          <p:nvSpPr>
            <p:cNvPr id="67" name="Line 16"/>
            <p:cNvSpPr>
              <a:spLocks noChangeShapeType="1"/>
            </p:cNvSpPr>
            <p:nvPr/>
          </p:nvSpPr>
          <p:spPr bwMode="auto">
            <a:xfrm>
              <a:off x="4301" y="1197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8" name="Line 17"/>
            <p:cNvSpPr>
              <a:spLocks noChangeShapeType="1"/>
            </p:cNvSpPr>
            <p:nvPr/>
          </p:nvSpPr>
          <p:spPr bwMode="auto">
            <a:xfrm>
              <a:off x="4303" y="1564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9" name="Line 18"/>
            <p:cNvSpPr>
              <a:spLocks noChangeShapeType="1"/>
            </p:cNvSpPr>
            <p:nvPr/>
          </p:nvSpPr>
          <p:spPr bwMode="auto">
            <a:xfrm>
              <a:off x="3842" y="1131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70" name="Line 19"/>
            <p:cNvSpPr>
              <a:spLocks noChangeShapeType="1"/>
            </p:cNvSpPr>
            <p:nvPr/>
          </p:nvSpPr>
          <p:spPr bwMode="auto">
            <a:xfrm rot="5400000">
              <a:off x="4266" y="1362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71" name="Text Box 20"/>
            <p:cNvSpPr txBox="1">
              <a:spLocks noChangeArrowheads="1"/>
            </p:cNvSpPr>
            <p:nvPr/>
          </p:nvSpPr>
          <p:spPr bwMode="auto">
            <a:xfrm>
              <a:off x="4303" y="1185"/>
              <a:ext cx="409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endParaRPr lang="en-US" altLang="zh-CN" sz="1600" b="1"/>
            </a:p>
          </p:txBody>
        </p:sp>
        <p:sp>
          <p:nvSpPr>
            <p:cNvPr id="72" name="Text Box 21"/>
            <p:cNvSpPr txBox="1">
              <a:spLocks noChangeArrowheads="1"/>
            </p:cNvSpPr>
            <p:nvPr/>
          </p:nvSpPr>
          <p:spPr bwMode="auto">
            <a:xfrm>
              <a:off x="3684" y="1952"/>
              <a:ext cx="97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/>
              <a:r>
                <a:rPr lang="zh-CN" altLang="en-US" sz="1400" b="1" dirty="0"/>
                <a:t>等效电容</a:t>
              </a:r>
            </a:p>
          </p:txBody>
        </p:sp>
        <p:sp>
          <p:nvSpPr>
            <p:cNvPr id="73" name="Oval 22"/>
            <p:cNvSpPr>
              <a:spLocks noChangeArrowheads="1"/>
            </p:cNvSpPr>
            <p:nvPr/>
          </p:nvSpPr>
          <p:spPr bwMode="auto">
            <a:xfrm>
              <a:off x="3769" y="1173"/>
              <a:ext cx="43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74" name="Oval 23"/>
            <p:cNvSpPr>
              <a:spLocks noChangeArrowheads="1"/>
            </p:cNvSpPr>
            <p:nvPr/>
          </p:nvSpPr>
          <p:spPr bwMode="auto">
            <a:xfrm>
              <a:off x="3765" y="1900"/>
              <a:ext cx="43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  <p:graphicFrame>
        <p:nvGraphicFramePr>
          <p:cNvPr id="7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422888"/>
              </p:ext>
            </p:extLst>
          </p:nvPr>
        </p:nvGraphicFramePr>
        <p:xfrm>
          <a:off x="533746" y="3299473"/>
          <a:ext cx="2309592" cy="50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457200" progId="Equation.DSMT4">
                  <p:embed/>
                </p:oleObj>
              </mc:Choice>
              <mc:Fallback>
                <p:oleObj name="Equation" r:id="rId4" imgW="2082600" imgH="457200" progId="Equation.DSMT4">
                  <p:embed/>
                  <p:pic>
                    <p:nvPicPr>
                      <p:cNvPr id="3389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46" y="3299473"/>
                        <a:ext cx="2309592" cy="5064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232457"/>
              </p:ext>
            </p:extLst>
          </p:nvPr>
        </p:nvGraphicFramePr>
        <p:xfrm>
          <a:off x="2903282" y="3326880"/>
          <a:ext cx="1264792" cy="548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360" imgH="431640" progId="Equation.DSMT4">
                  <p:embed/>
                </p:oleObj>
              </mc:Choice>
              <mc:Fallback>
                <p:oleObj name="Equation" r:id="rId6" imgW="990360" imgH="431640" progId="Equation.DSMT4">
                  <p:embed/>
                  <p:pic>
                    <p:nvPicPr>
                      <p:cNvPr id="3389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282" y="3326880"/>
                        <a:ext cx="1264792" cy="5489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" name="Group 82"/>
          <p:cNvGrpSpPr>
            <a:grpSpLocks/>
          </p:cNvGrpSpPr>
          <p:nvPr/>
        </p:nvGrpSpPr>
        <p:grpSpPr bwMode="auto">
          <a:xfrm>
            <a:off x="401175" y="4073551"/>
            <a:ext cx="3116323" cy="1562900"/>
            <a:chOff x="657" y="391"/>
            <a:chExt cx="2528" cy="1371"/>
          </a:xfrm>
        </p:grpSpPr>
        <p:sp>
          <p:nvSpPr>
            <p:cNvPr id="98" name="Text Box 60"/>
            <p:cNvSpPr txBox="1">
              <a:spLocks noChangeArrowheads="1"/>
            </p:cNvSpPr>
            <p:nvPr/>
          </p:nvSpPr>
          <p:spPr bwMode="auto">
            <a:xfrm>
              <a:off x="2776" y="693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i</a:t>
              </a:r>
              <a:r>
                <a:rPr lang="en-US" altLang="zh-CN" sz="14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400" b="1"/>
            </a:p>
          </p:txBody>
        </p:sp>
        <p:sp>
          <p:nvSpPr>
            <p:cNvPr id="99" name="Text Box 29"/>
            <p:cNvSpPr txBox="1">
              <a:spLocks noChangeArrowheads="1"/>
            </p:cNvSpPr>
            <p:nvPr/>
          </p:nvSpPr>
          <p:spPr bwMode="auto">
            <a:xfrm>
              <a:off x="789" y="391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i</a:t>
              </a:r>
              <a:endParaRPr lang="en-US" altLang="zh-CN" sz="1400" b="1"/>
            </a:p>
          </p:txBody>
        </p:sp>
        <p:sp>
          <p:nvSpPr>
            <p:cNvPr id="100" name="Line 31"/>
            <p:cNvSpPr>
              <a:spLocks noChangeShapeType="1"/>
            </p:cNvSpPr>
            <p:nvPr/>
          </p:nvSpPr>
          <p:spPr bwMode="auto">
            <a:xfrm flipH="1" flipV="1">
              <a:off x="879" y="1430"/>
              <a:ext cx="135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200"/>
            </a:p>
          </p:txBody>
        </p:sp>
        <p:grpSp>
          <p:nvGrpSpPr>
            <p:cNvPr id="101" name="Group 32"/>
            <p:cNvGrpSpPr>
              <a:grpSpLocks/>
            </p:cNvGrpSpPr>
            <p:nvPr/>
          </p:nvGrpSpPr>
          <p:grpSpPr bwMode="auto">
            <a:xfrm rot="5400000">
              <a:off x="1342" y="958"/>
              <a:ext cx="52" cy="185"/>
              <a:chOff x="4012" y="3701"/>
              <a:chExt cx="81" cy="289"/>
            </a:xfrm>
          </p:grpSpPr>
          <p:sp>
            <p:nvSpPr>
              <p:cNvPr id="143" name="Line 33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  <p:sp>
            <p:nvSpPr>
              <p:cNvPr id="144" name="Line 34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</p:grpSp>
        <p:sp>
          <p:nvSpPr>
            <p:cNvPr id="102" name="Text Box 35"/>
            <p:cNvSpPr txBox="1">
              <a:spLocks noChangeArrowheads="1"/>
            </p:cNvSpPr>
            <p:nvPr/>
          </p:nvSpPr>
          <p:spPr bwMode="auto">
            <a:xfrm>
              <a:off x="1376" y="917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C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1</a:t>
              </a:r>
              <a:endParaRPr lang="en-US" altLang="zh-CN" sz="1400" b="1"/>
            </a:p>
          </p:txBody>
        </p:sp>
        <p:sp>
          <p:nvSpPr>
            <p:cNvPr id="103" name="Text Box 36"/>
            <p:cNvSpPr txBox="1">
              <a:spLocks noChangeArrowheads="1"/>
            </p:cNvSpPr>
            <p:nvPr/>
          </p:nvSpPr>
          <p:spPr bwMode="auto">
            <a:xfrm>
              <a:off x="671" y="92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/>
                <a:t>u</a:t>
              </a:r>
              <a:endParaRPr lang="en-US" altLang="zh-CN" sz="1400" b="1"/>
            </a:p>
          </p:txBody>
        </p:sp>
        <p:sp>
          <p:nvSpPr>
            <p:cNvPr id="104" name="Line 37"/>
            <p:cNvSpPr>
              <a:spLocks noChangeShapeType="1"/>
            </p:cNvSpPr>
            <p:nvPr/>
          </p:nvSpPr>
          <p:spPr bwMode="auto">
            <a:xfrm flipV="1">
              <a:off x="884" y="705"/>
              <a:ext cx="135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05" name="Text Box 38"/>
            <p:cNvSpPr txBox="1">
              <a:spLocks noChangeArrowheads="1"/>
            </p:cNvSpPr>
            <p:nvPr/>
          </p:nvSpPr>
          <p:spPr bwMode="auto">
            <a:xfrm>
              <a:off x="658" y="68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+</a:t>
              </a:r>
            </a:p>
          </p:txBody>
        </p:sp>
        <p:sp>
          <p:nvSpPr>
            <p:cNvPr id="106" name="Text Box 39"/>
            <p:cNvSpPr txBox="1">
              <a:spLocks noChangeArrowheads="1"/>
            </p:cNvSpPr>
            <p:nvPr/>
          </p:nvSpPr>
          <p:spPr bwMode="auto">
            <a:xfrm>
              <a:off x="657" y="110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_</a:t>
              </a:r>
            </a:p>
          </p:txBody>
        </p:sp>
        <p:sp>
          <p:nvSpPr>
            <p:cNvPr id="107" name="Line 40"/>
            <p:cNvSpPr>
              <a:spLocks noChangeShapeType="1"/>
            </p:cNvSpPr>
            <p:nvPr/>
          </p:nvSpPr>
          <p:spPr bwMode="auto">
            <a:xfrm>
              <a:off x="1365" y="705"/>
              <a:ext cx="0" cy="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08" name="Line 41"/>
            <p:cNvSpPr>
              <a:spLocks noChangeShapeType="1"/>
            </p:cNvSpPr>
            <p:nvPr/>
          </p:nvSpPr>
          <p:spPr bwMode="auto">
            <a:xfrm>
              <a:off x="1366" y="107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09" name="Line 42"/>
            <p:cNvSpPr>
              <a:spLocks noChangeShapeType="1"/>
            </p:cNvSpPr>
            <p:nvPr/>
          </p:nvSpPr>
          <p:spPr bwMode="auto">
            <a:xfrm>
              <a:off x="905" y="639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0" name="Line 43"/>
            <p:cNvSpPr>
              <a:spLocks noChangeShapeType="1"/>
            </p:cNvSpPr>
            <p:nvPr/>
          </p:nvSpPr>
          <p:spPr bwMode="auto">
            <a:xfrm rot="5400000">
              <a:off x="1329" y="870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1" name="Text Box 44"/>
            <p:cNvSpPr txBox="1">
              <a:spLocks noChangeArrowheads="1"/>
            </p:cNvSpPr>
            <p:nvPr/>
          </p:nvSpPr>
          <p:spPr bwMode="auto">
            <a:xfrm>
              <a:off x="1366" y="693"/>
              <a:ext cx="409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i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1</a:t>
              </a:r>
              <a:endParaRPr lang="en-US" altLang="zh-CN" sz="1400" b="1"/>
            </a:p>
          </p:txBody>
        </p:sp>
        <p:grpSp>
          <p:nvGrpSpPr>
            <p:cNvPr id="112" name="Group 45"/>
            <p:cNvGrpSpPr>
              <a:grpSpLocks/>
            </p:cNvGrpSpPr>
            <p:nvPr/>
          </p:nvGrpSpPr>
          <p:grpSpPr bwMode="auto">
            <a:xfrm rot="5400000">
              <a:off x="1908" y="957"/>
              <a:ext cx="52" cy="185"/>
              <a:chOff x="4012" y="3701"/>
              <a:chExt cx="81" cy="289"/>
            </a:xfrm>
          </p:grpSpPr>
          <p:sp>
            <p:nvSpPr>
              <p:cNvPr id="141" name="Line 46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  <p:sp>
            <p:nvSpPr>
              <p:cNvPr id="142" name="Line 47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</p:grpSp>
        <p:sp>
          <p:nvSpPr>
            <p:cNvPr id="113" name="Text Box 48"/>
            <p:cNvSpPr txBox="1">
              <a:spLocks noChangeArrowheads="1"/>
            </p:cNvSpPr>
            <p:nvPr/>
          </p:nvSpPr>
          <p:spPr bwMode="auto">
            <a:xfrm>
              <a:off x="1942" y="917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C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2</a:t>
              </a:r>
              <a:endParaRPr lang="en-US" altLang="zh-CN" sz="1400" b="1"/>
            </a:p>
          </p:txBody>
        </p:sp>
        <p:sp>
          <p:nvSpPr>
            <p:cNvPr id="114" name="Line 49"/>
            <p:cNvSpPr>
              <a:spLocks noChangeShapeType="1"/>
            </p:cNvSpPr>
            <p:nvPr/>
          </p:nvSpPr>
          <p:spPr bwMode="auto">
            <a:xfrm>
              <a:off x="1931" y="704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5" name="Line 50"/>
            <p:cNvSpPr>
              <a:spLocks noChangeShapeType="1"/>
            </p:cNvSpPr>
            <p:nvPr/>
          </p:nvSpPr>
          <p:spPr bwMode="auto">
            <a:xfrm>
              <a:off x="1932" y="107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6" name="Line 51"/>
            <p:cNvSpPr>
              <a:spLocks noChangeShapeType="1"/>
            </p:cNvSpPr>
            <p:nvPr/>
          </p:nvSpPr>
          <p:spPr bwMode="auto">
            <a:xfrm rot="5400000">
              <a:off x="1894" y="870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7" name="Text Box 52"/>
            <p:cNvSpPr txBox="1">
              <a:spLocks noChangeArrowheads="1"/>
            </p:cNvSpPr>
            <p:nvPr/>
          </p:nvSpPr>
          <p:spPr bwMode="auto">
            <a:xfrm>
              <a:off x="1932" y="693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i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2</a:t>
              </a:r>
              <a:endParaRPr lang="en-US" altLang="zh-CN" sz="1400" b="1"/>
            </a:p>
          </p:txBody>
        </p:sp>
        <p:grpSp>
          <p:nvGrpSpPr>
            <p:cNvPr id="118" name="Group 53"/>
            <p:cNvGrpSpPr>
              <a:grpSpLocks/>
            </p:cNvGrpSpPr>
            <p:nvPr/>
          </p:nvGrpSpPr>
          <p:grpSpPr bwMode="auto">
            <a:xfrm rot="5400000">
              <a:off x="2752" y="957"/>
              <a:ext cx="52" cy="185"/>
              <a:chOff x="4012" y="3701"/>
              <a:chExt cx="81" cy="289"/>
            </a:xfrm>
          </p:grpSpPr>
          <p:sp>
            <p:nvSpPr>
              <p:cNvPr id="139" name="Line 54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  <p:sp>
            <p:nvSpPr>
              <p:cNvPr id="140" name="Line 55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</p:grpSp>
        <p:sp>
          <p:nvSpPr>
            <p:cNvPr id="119" name="Text Box 56"/>
            <p:cNvSpPr txBox="1">
              <a:spLocks noChangeArrowheads="1"/>
            </p:cNvSpPr>
            <p:nvPr/>
          </p:nvSpPr>
          <p:spPr bwMode="auto">
            <a:xfrm>
              <a:off x="2786" y="917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C</a:t>
              </a:r>
              <a:r>
                <a:rPr lang="en-US" altLang="zh-CN" sz="14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400" b="1"/>
            </a:p>
          </p:txBody>
        </p:sp>
        <p:sp>
          <p:nvSpPr>
            <p:cNvPr id="120" name="Line 57"/>
            <p:cNvSpPr>
              <a:spLocks noChangeShapeType="1"/>
            </p:cNvSpPr>
            <p:nvPr/>
          </p:nvSpPr>
          <p:spPr bwMode="auto">
            <a:xfrm>
              <a:off x="2775" y="704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1" name="Line 58"/>
            <p:cNvSpPr>
              <a:spLocks noChangeShapeType="1"/>
            </p:cNvSpPr>
            <p:nvPr/>
          </p:nvSpPr>
          <p:spPr bwMode="auto">
            <a:xfrm>
              <a:off x="2776" y="107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2" name="Line 59"/>
            <p:cNvSpPr>
              <a:spLocks noChangeShapeType="1"/>
            </p:cNvSpPr>
            <p:nvPr/>
          </p:nvSpPr>
          <p:spPr bwMode="auto">
            <a:xfrm rot="5400000">
              <a:off x="2738" y="870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3" name="Line 61"/>
            <p:cNvSpPr>
              <a:spLocks noChangeShapeType="1"/>
            </p:cNvSpPr>
            <p:nvPr/>
          </p:nvSpPr>
          <p:spPr bwMode="auto">
            <a:xfrm>
              <a:off x="2528" y="708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4" name="Line 62"/>
            <p:cNvSpPr>
              <a:spLocks noChangeShapeType="1"/>
            </p:cNvSpPr>
            <p:nvPr/>
          </p:nvSpPr>
          <p:spPr bwMode="auto">
            <a:xfrm flipH="1">
              <a:off x="2558" y="1428"/>
              <a:ext cx="2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5" name="Line 63"/>
            <p:cNvSpPr>
              <a:spLocks noChangeShapeType="1"/>
            </p:cNvSpPr>
            <p:nvPr/>
          </p:nvSpPr>
          <p:spPr bwMode="auto">
            <a:xfrm>
              <a:off x="2269" y="708"/>
              <a:ext cx="2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6" name="Line 64"/>
            <p:cNvSpPr>
              <a:spLocks noChangeShapeType="1"/>
            </p:cNvSpPr>
            <p:nvPr/>
          </p:nvSpPr>
          <p:spPr bwMode="auto">
            <a:xfrm>
              <a:off x="2260" y="1428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7" name="Oval 65"/>
            <p:cNvSpPr>
              <a:spLocks noChangeArrowheads="1"/>
            </p:cNvSpPr>
            <p:nvPr/>
          </p:nvSpPr>
          <p:spPr bwMode="auto">
            <a:xfrm>
              <a:off x="832" y="681"/>
              <a:ext cx="44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8" name="Oval 66"/>
            <p:cNvSpPr>
              <a:spLocks noChangeArrowheads="1"/>
            </p:cNvSpPr>
            <p:nvPr/>
          </p:nvSpPr>
          <p:spPr bwMode="auto">
            <a:xfrm>
              <a:off x="829" y="1408"/>
              <a:ext cx="43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29" name="Text Box 67"/>
            <p:cNvSpPr txBox="1">
              <a:spLocks noChangeArrowheads="1"/>
            </p:cNvSpPr>
            <p:nvPr/>
          </p:nvSpPr>
          <p:spPr bwMode="auto">
            <a:xfrm>
              <a:off x="1014" y="75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+</a:t>
              </a:r>
            </a:p>
          </p:txBody>
        </p:sp>
        <p:sp>
          <p:nvSpPr>
            <p:cNvPr id="130" name="Text Box 68"/>
            <p:cNvSpPr txBox="1">
              <a:spLocks noChangeArrowheads="1"/>
            </p:cNvSpPr>
            <p:nvPr/>
          </p:nvSpPr>
          <p:spPr bwMode="auto">
            <a:xfrm>
              <a:off x="1012" y="10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_</a:t>
              </a:r>
            </a:p>
          </p:txBody>
        </p:sp>
        <p:sp>
          <p:nvSpPr>
            <p:cNvPr id="131" name="Text Box 69"/>
            <p:cNvSpPr txBox="1">
              <a:spLocks noChangeArrowheads="1"/>
            </p:cNvSpPr>
            <p:nvPr/>
          </p:nvSpPr>
          <p:spPr bwMode="auto">
            <a:xfrm>
              <a:off x="1617" y="107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_</a:t>
              </a:r>
            </a:p>
          </p:txBody>
        </p:sp>
        <p:sp>
          <p:nvSpPr>
            <p:cNvPr id="132" name="Text Box 70"/>
            <p:cNvSpPr txBox="1">
              <a:spLocks noChangeArrowheads="1"/>
            </p:cNvSpPr>
            <p:nvPr/>
          </p:nvSpPr>
          <p:spPr bwMode="auto">
            <a:xfrm>
              <a:off x="1599" y="739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+</a:t>
              </a:r>
            </a:p>
          </p:txBody>
        </p:sp>
        <p:sp>
          <p:nvSpPr>
            <p:cNvPr id="133" name="Text Box 71"/>
            <p:cNvSpPr txBox="1">
              <a:spLocks noChangeArrowheads="1"/>
            </p:cNvSpPr>
            <p:nvPr/>
          </p:nvSpPr>
          <p:spPr bwMode="auto">
            <a:xfrm>
              <a:off x="2397" y="7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+</a:t>
              </a:r>
            </a:p>
          </p:txBody>
        </p:sp>
        <p:sp>
          <p:nvSpPr>
            <p:cNvPr id="134" name="Text Box 72"/>
            <p:cNvSpPr txBox="1">
              <a:spLocks noChangeArrowheads="1"/>
            </p:cNvSpPr>
            <p:nvPr/>
          </p:nvSpPr>
          <p:spPr bwMode="auto">
            <a:xfrm>
              <a:off x="2395" y="1067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_</a:t>
              </a:r>
            </a:p>
          </p:txBody>
        </p:sp>
        <p:sp>
          <p:nvSpPr>
            <p:cNvPr id="135" name="Text Box 73"/>
            <p:cNvSpPr txBox="1">
              <a:spLocks noChangeArrowheads="1"/>
            </p:cNvSpPr>
            <p:nvPr/>
          </p:nvSpPr>
          <p:spPr bwMode="auto">
            <a:xfrm>
              <a:off x="1003" y="889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q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1</a:t>
              </a:r>
              <a:endParaRPr lang="en-US" altLang="zh-CN" sz="1400" b="1"/>
            </a:p>
          </p:txBody>
        </p:sp>
        <p:sp>
          <p:nvSpPr>
            <p:cNvPr id="136" name="Text Box 74"/>
            <p:cNvSpPr txBox="1">
              <a:spLocks noChangeArrowheads="1"/>
            </p:cNvSpPr>
            <p:nvPr/>
          </p:nvSpPr>
          <p:spPr bwMode="auto">
            <a:xfrm>
              <a:off x="1570" y="898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q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2</a:t>
              </a:r>
              <a:endParaRPr lang="en-US" altLang="zh-CN" sz="1400" b="1"/>
            </a:p>
          </p:txBody>
        </p:sp>
        <p:sp>
          <p:nvSpPr>
            <p:cNvPr id="137" name="Text Box 75"/>
            <p:cNvSpPr txBox="1">
              <a:spLocks noChangeArrowheads="1"/>
            </p:cNvSpPr>
            <p:nvPr/>
          </p:nvSpPr>
          <p:spPr bwMode="auto">
            <a:xfrm>
              <a:off x="2376" y="898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q</a:t>
              </a:r>
              <a:r>
                <a:rPr lang="en-US" altLang="zh-CN" sz="14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400" b="1" i="1"/>
            </a:p>
          </p:txBody>
        </p:sp>
        <p:sp>
          <p:nvSpPr>
            <p:cNvPr id="138" name="Text Box 76"/>
            <p:cNvSpPr txBox="1">
              <a:spLocks noChangeArrowheads="1"/>
            </p:cNvSpPr>
            <p:nvPr/>
          </p:nvSpPr>
          <p:spPr bwMode="auto">
            <a:xfrm>
              <a:off x="1281" y="1447"/>
              <a:ext cx="1104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 dirty="0"/>
                <a:t>n</a:t>
              </a:r>
              <a:r>
                <a:rPr lang="zh-CN" altLang="en-US" sz="1400" b="1" dirty="0"/>
                <a:t>个电容并联</a:t>
              </a:r>
            </a:p>
          </p:txBody>
        </p:sp>
      </p:grpSp>
      <p:grpSp>
        <p:nvGrpSpPr>
          <p:cNvPr id="163" name="Group 4"/>
          <p:cNvGrpSpPr>
            <a:grpSpLocks/>
          </p:cNvGrpSpPr>
          <p:nvPr/>
        </p:nvGrpSpPr>
        <p:grpSpPr bwMode="auto">
          <a:xfrm>
            <a:off x="3043196" y="4381864"/>
            <a:ext cx="1340906" cy="1254587"/>
            <a:chOff x="3112" y="720"/>
            <a:chExt cx="1512" cy="1083"/>
          </a:xfrm>
        </p:grpSpPr>
        <p:sp>
          <p:nvSpPr>
            <p:cNvPr id="164" name="Text Box 5"/>
            <p:cNvSpPr txBox="1">
              <a:spLocks noChangeArrowheads="1"/>
            </p:cNvSpPr>
            <p:nvPr/>
          </p:nvSpPr>
          <p:spPr bwMode="auto">
            <a:xfrm>
              <a:off x="4128" y="912"/>
              <a:ext cx="49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C</a:t>
              </a:r>
              <a:r>
                <a:rPr lang="en-US" altLang="zh-CN" sz="1400" b="1" baseline="-25000">
                  <a:solidFill>
                    <a:srgbClr val="000000"/>
                  </a:solidFill>
                </a:rPr>
                <a:t>eq</a:t>
              </a:r>
              <a:endParaRPr lang="en-US" altLang="zh-CN" sz="1400" b="1"/>
            </a:p>
          </p:txBody>
        </p:sp>
        <p:grpSp>
          <p:nvGrpSpPr>
            <p:cNvPr id="165" name="Group 6"/>
            <p:cNvGrpSpPr>
              <a:grpSpLocks/>
            </p:cNvGrpSpPr>
            <p:nvPr/>
          </p:nvGrpSpPr>
          <p:grpSpPr bwMode="auto">
            <a:xfrm rot="5400000">
              <a:off x="4142" y="997"/>
              <a:ext cx="52" cy="185"/>
              <a:chOff x="4012" y="3701"/>
              <a:chExt cx="81" cy="289"/>
            </a:xfrm>
          </p:grpSpPr>
          <p:sp>
            <p:nvSpPr>
              <p:cNvPr id="179" name="Line 7"/>
              <p:cNvSpPr>
                <a:spLocks noChangeShapeType="1"/>
              </p:cNvSpPr>
              <p:nvPr/>
            </p:nvSpPr>
            <p:spPr bwMode="auto">
              <a:xfrm rot="-5400000" flipH="1" flipV="1">
                <a:off x="3949" y="3846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  <p:sp>
            <p:nvSpPr>
              <p:cNvPr id="180" name="Line 8"/>
              <p:cNvSpPr>
                <a:spLocks noChangeShapeType="1"/>
              </p:cNvSpPr>
              <p:nvPr/>
            </p:nvSpPr>
            <p:spPr bwMode="auto">
              <a:xfrm rot="5400000" flipV="1">
                <a:off x="3868" y="3845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200"/>
              </a:p>
            </p:txBody>
          </p:sp>
        </p:grpSp>
        <p:sp>
          <p:nvSpPr>
            <p:cNvPr id="166" name="Text Box 9"/>
            <p:cNvSpPr txBox="1">
              <a:spLocks noChangeArrowheads="1"/>
            </p:cNvSpPr>
            <p:nvPr/>
          </p:nvSpPr>
          <p:spPr bwMode="auto">
            <a:xfrm>
              <a:off x="3470" y="959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/>
                <a:t>u</a:t>
              </a:r>
              <a:endParaRPr lang="en-US" altLang="zh-CN" sz="1400" b="1"/>
            </a:p>
          </p:txBody>
        </p:sp>
        <p:sp>
          <p:nvSpPr>
            <p:cNvPr id="167" name="Text Box 10"/>
            <p:cNvSpPr txBox="1">
              <a:spLocks noChangeArrowheads="1"/>
            </p:cNvSpPr>
            <p:nvPr/>
          </p:nvSpPr>
          <p:spPr bwMode="auto">
            <a:xfrm>
              <a:off x="3457" y="72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+</a:t>
              </a:r>
            </a:p>
          </p:txBody>
        </p:sp>
        <p:sp>
          <p:nvSpPr>
            <p:cNvPr id="168" name="Text Box 11"/>
            <p:cNvSpPr txBox="1">
              <a:spLocks noChangeArrowheads="1"/>
            </p:cNvSpPr>
            <p:nvPr/>
          </p:nvSpPr>
          <p:spPr bwMode="auto">
            <a:xfrm>
              <a:off x="3456" y="114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_</a:t>
              </a:r>
            </a:p>
          </p:txBody>
        </p:sp>
        <p:sp>
          <p:nvSpPr>
            <p:cNvPr id="169" name="Line 12"/>
            <p:cNvSpPr>
              <a:spLocks noChangeShapeType="1"/>
            </p:cNvSpPr>
            <p:nvPr/>
          </p:nvSpPr>
          <p:spPr bwMode="auto">
            <a:xfrm>
              <a:off x="4164" y="744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70" name="Line 13"/>
            <p:cNvSpPr>
              <a:spLocks noChangeShapeType="1"/>
            </p:cNvSpPr>
            <p:nvPr/>
          </p:nvSpPr>
          <p:spPr bwMode="auto">
            <a:xfrm>
              <a:off x="4166" y="1112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71" name="Oval 14"/>
            <p:cNvSpPr>
              <a:spLocks noChangeArrowheads="1"/>
            </p:cNvSpPr>
            <p:nvPr/>
          </p:nvSpPr>
          <p:spPr bwMode="auto">
            <a:xfrm>
              <a:off x="3631" y="721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72" name="Oval 15"/>
            <p:cNvSpPr>
              <a:spLocks noChangeArrowheads="1"/>
            </p:cNvSpPr>
            <p:nvPr/>
          </p:nvSpPr>
          <p:spPr bwMode="auto">
            <a:xfrm>
              <a:off x="3628" y="1447"/>
              <a:ext cx="43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73" name="Text Box 16"/>
            <p:cNvSpPr txBox="1">
              <a:spLocks noChangeArrowheads="1"/>
            </p:cNvSpPr>
            <p:nvPr/>
          </p:nvSpPr>
          <p:spPr bwMode="auto">
            <a:xfrm>
              <a:off x="3813" y="79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+</a:t>
              </a:r>
            </a:p>
          </p:txBody>
        </p:sp>
        <p:sp>
          <p:nvSpPr>
            <p:cNvPr id="174" name="Text Box 17"/>
            <p:cNvSpPr txBox="1">
              <a:spLocks noChangeArrowheads="1"/>
            </p:cNvSpPr>
            <p:nvPr/>
          </p:nvSpPr>
          <p:spPr bwMode="auto">
            <a:xfrm>
              <a:off x="3811" y="109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/>
                <a:t>_</a:t>
              </a:r>
            </a:p>
          </p:txBody>
        </p:sp>
        <p:sp>
          <p:nvSpPr>
            <p:cNvPr id="175" name="Text Box 18"/>
            <p:cNvSpPr txBox="1">
              <a:spLocks noChangeArrowheads="1"/>
            </p:cNvSpPr>
            <p:nvPr/>
          </p:nvSpPr>
          <p:spPr bwMode="auto">
            <a:xfrm>
              <a:off x="3802" y="928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</a:rPr>
                <a:t>q</a:t>
              </a:r>
              <a:endParaRPr lang="en-US" altLang="zh-CN" sz="1400" b="1"/>
            </a:p>
          </p:txBody>
        </p:sp>
        <p:sp>
          <p:nvSpPr>
            <p:cNvPr id="176" name="Line 19"/>
            <p:cNvSpPr>
              <a:spLocks noChangeShapeType="1"/>
            </p:cNvSpPr>
            <p:nvPr/>
          </p:nvSpPr>
          <p:spPr bwMode="auto">
            <a:xfrm>
              <a:off x="3657" y="1476"/>
              <a:ext cx="5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77" name="Line 20"/>
            <p:cNvSpPr>
              <a:spLocks noChangeShapeType="1"/>
            </p:cNvSpPr>
            <p:nvPr/>
          </p:nvSpPr>
          <p:spPr bwMode="auto">
            <a:xfrm>
              <a:off x="3666" y="746"/>
              <a:ext cx="5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78" name="Text Box 21"/>
            <p:cNvSpPr txBox="1">
              <a:spLocks noChangeArrowheads="1"/>
            </p:cNvSpPr>
            <p:nvPr/>
          </p:nvSpPr>
          <p:spPr bwMode="auto">
            <a:xfrm>
              <a:off x="3112" y="1488"/>
              <a:ext cx="1324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 b="1" dirty="0"/>
                <a:t>等效电容</a:t>
              </a:r>
            </a:p>
          </p:txBody>
        </p:sp>
      </p:grpSp>
      <p:graphicFrame>
        <p:nvGraphicFramePr>
          <p:cNvPr id="181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233117"/>
              </p:ext>
            </p:extLst>
          </p:nvPr>
        </p:nvGraphicFramePr>
        <p:xfrm>
          <a:off x="661682" y="5587287"/>
          <a:ext cx="1867427" cy="883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685800" progId="Equation.DSMT4">
                  <p:embed/>
                </p:oleObj>
              </mc:Choice>
              <mc:Fallback>
                <p:oleObj name="Equation" r:id="rId8" imgW="1434960" imgH="685800" progId="Equation.DSMT4">
                  <p:embed/>
                  <p:pic>
                    <p:nvPicPr>
                      <p:cNvPr id="340046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82" y="5587287"/>
                        <a:ext cx="1867427" cy="8832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2" name="Group 5"/>
          <p:cNvGrpSpPr>
            <a:grpSpLocks/>
          </p:cNvGrpSpPr>
          <p:nvPr/>
        </p:nvGrpSpPr>
        <p:grpSpPr bwMode="auto">
          <a:xfrm>
            <a:off x="7591417" y="1578680"/>
            <a:ext cx="1125467" cy="1585433"/>
            <a:chOff x="3504" y="1056"/>
            <a:chExt cx="1080" cy="1323"/>
          </a:xfrm>
        </p:grpSpPr>
        <p:sp>
          <p:nvSpPr>
            <p:cNvPr id="183" name="Line 6"/>
            <p:cNvSpPr>
              <a:spLocks noChangeShapeType="1"/>
            </p:cNvSpPr>
            <p:nvPr/>
          </p:nvSpPr>
          <p:spPr bwMode="auto">
            <a:xfrm flipH="1" flipV="1">
              <a:off x="3726" y="2094"/>
              <a:ext cx="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184" name="Text Box 7"/>
            <p:cNvSpPr txBox="1">
              <a:spLocks noChangeArrowheads="1"/>
            </p:cNvSpPr>
            <p:nvPr/>
          </p:nvSpPr>
          <p:spPr bwMode="auto">
            <a:xfrm>
              <a:off x="4223" y="1582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eq            </a:t>
              </a:r>
              <a:endParaRPr lang="en-US" altLang="zh-CN" sz="1600" b="1"/>
            </a:p>
          </p:txBody>
        </p:sp>
        <p:sp>
          <p:nvSpPr>
            <p:cNvPr id="185" name="Text Box 8"/>
            <p:cNvSpPr txBox="1">
              <a:spLocks noChangeArrowheads="1"/>
            </p:cNvSpPr>
            <p:nvPr/>
          </p:nvSpPr>
          <p:spPr bwMode="auto">
            <a:xfrm>
              <a:off x="3518" y="158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/>
                <a:t>u</a:t>
              </a:r>
              <a:endParaRPr lang="en-US" altLang="zh-CN" sz="1600" b="1"/>
            </a:p>
          </p:txBody>
        </p:sp>
        <p:sp>
          <p:nvSpPr>
            <p:cNvPr id="186" name="Text Box 9"/>
            <p:cNvSpPr txBox="1">
              <a:spLocks noChangeArrowheads="1"/>
            </p:cNvSpPr>
            <p:nvPr/>
          </p:nvSpPr>
          <p:spPr bwMode="auto">
            <a:xfrm>
              <a:off x="3636" y="1056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endParaRPr lang="en-US" altLang="zh-CN" sz="1600" b="1"/>
            </a:p>
          </p:txBody>
        </p:sp>
        <p:sp>
          <p:nvSpPr>
            <p:cNvPr id="187" name="Line 10"/>
            <p:cNvSpPr>
              <a:spLocks noChangeShapeType="1"/>
            </p:cNvSpPr>
            <p:nvPr/>
          </p:nvSpPr>
          <p:spPr bwMode="auto">
            <a:xfrm flipV="1">
              <a:off x="3731" y="1370"/>
              <a:ext cx="48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88" name="Text Box 11"/>
            <p:cNvSpPr txBox="1">
              <a:spLocks noChangeArrowheads="1"/>
            </p:cNvSpPr>
            <p:nvPr/>
          </p:nvSpPr>
          <p:spPr bwMode="auto">
            <a:xfrm>
              <a:off x="3505" y="134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189" name="Text Box 12"/>
            <p:cNvSpPr txBox="1">
              <a:spLocks noChangeArrowheads="1"/>
            </p:cNvSpPr>
            <p:nvPr/>
          </p:nvSpPr>
          <p:spPr bwMode="auto">
            <a:xfrm>
              <a:off x="3504" y="1771"/>
              <a:ext cx="39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190" name="Line 13"/>
            <p:cNvSpPr>
              <a:spLocks noChangeShapeType="1"/>
            </p:cNvSpPr>
            <p:nvPr/>
          </p:nvSpPr>
          <p:spPr bwMode="auto">
            <a:xfrm>
              <a:off x="4212" y="1369"/>
              <a:ext cx="0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91" name="Line 14"/>
            <p:cNvSpPr>
              <a:spLocks noChangeShapeType="1"/>
            </p:cNvSpPr>
            <p:nvPr/>
          </p:nvSpPr>
          <p:spPr bwMode="auto">
            <a:xfrm>
              <a:off x="4213" y="1889"/>
              <a:ext cx="0" cy="2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92" name="Line 15"/>
            <p:cNvSpPr>
              <a:spLocks noChangeShapeType="1"/>
            </p:cNvSpPr>
            <p:nvPr/>
          </p:nvSpPr>
          <p:spPr bwMode="auto">
            <a:xfrm>
              <a:off x="3752" y="1304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93" name="Text Box 16"/>
            <p:cNvSpPr txBox="1">
              <a:spLocks noChangeArrowheads="1"/>
            </p:cNvSpPr>
            <p:nvPr/>
          </p:nvSpPr>
          <p:spPr bwMode="auto">
            <a:xfrm>
              <a:off x="3552" y="2112"/>
              <a:ext cx="1032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b="1" dirty="0"/>
                <a:t>等效电感</a:t>
              </a:r>
            </a:p>
          </p:txBody>
        </p:sp>
        <p:sp>
          <p:nvSpPr>
            <p:cNvPr id="194" name="Oval 17"/>
            <p:cNvSpPr>
              <a:spLocks noChangeArrowheads="1"/>
            </p:cNvSpPr>
            <p:nvPr/>
          </p:nvSpPr>
          <p:spPr bwMode="auto">
            <a:xfrm>
              <a:off x="3679" y="134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95" name="Oval 18"/>
            <p:cNvSpPr>
              <a:spLocks noChangeArrowheads="1"/>
            </p:cNvSpPr>
            <p:nvPr/>
          </p:nvSpPr>
          <p:spPr bwMode="auto">
            <a:xfrm>
              <a:off x="3675" y="2072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grpSp>
          <p:nvGrpSpPr>
            <p:cNvPr id="196" name="Group 19"/>
            <p:cNvGrpSpPr>
              <a:grpSpLocks/>
            </p:cNvGrpSpPr>
            <p:nvPr/>
          </p:nvGrpSpPr>
          <p:grpSpPr bwMode="auto">
            <a:xfrm rot="-5400000" flipH="1" flipV="1">
              <a:off x="4054" y="1700"/>
              <a:ext cx="356" cy="50"/>
              <a:chOff x="576" y="711"/>
              <a:chExt cx="384" cy="57"/>
            </a:xfrm>
          </p:grpSpPr>
          <p:sp>
            <p:nvSpPr>
              <p:cNvPr id="197" name="Freeform 20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198" name="Freeform 21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199" name="Freeform 22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00" name="Freeform 23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</p:grpSp>
      <p:grpSp>
        <p:nvGrpSpPr>
          <p:cNvPr id="201" name="Group 24"/>
          <p:cNvGrpSpPr>
            <a:grpSpLocks/>
          </p:cNvGrpSpPr>
          <p:nvPr/>
        </p:nvGrpSpPr>
        <p:grpSpPr bwMode="auto">
          <a:xfrm>
            <a:off x="4495349" y="1483527"/>
            <a:ext cx="3100987" cy="1782921"/>
            <a:chOff x="1680" y="816"/>
            <a:chExt cx="2521" cy="1323"/>
          </a:xfrm>
        </p:grpSpPr>
        <p:sp>
          <p:nvSpPr>
            <p:cNvPr id="202" name="Text Box 25"/>
            <p:cNvSpPr txBox="1">
              <a:spLocks noChangeArrowheads="1"/>
            </p:cNvSpPr>
            <p:nvPr/>
          </p:nvSpPr>
          <p:spPr bwMode="auto">
            <a:xfrm>
              <a:off x="3792" y="1104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r>
                <a:rPr lang="en-US" altLang="zh-CN" sz="16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600" b="1"/>
            </a:p>
          </p:txBody>
        </p:sp>
        <p:sp>
          <p:nvSpPr>
            <p:cNvPr id="203" name="Line 26"/>
            <p:cNvSpPr>
              <a:spLocks noChangeShapeType="1"/>
            </p:cNvSpPr>
            <p:nvPr/>
          </p:nvSpPr>
          <p:spPr bwMode="auto">
            <a:xfrm flipH="1" flipV="1">
              <a:off x="1902" y="1854"/>
              <a:ext cx="135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204" name="Text Box 27"/>
            <p:cNvSpPr txBox="1">
              <a:spLocks noChangeArrowheads="1"/>
            </p:cNvSpPr>
            <p:nvPr/>
          </p:nvSpPr>
          <p:spPr bwMode="auto">
            <a:xfrm>
              <a:off x="2399" y="1342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1</a:t>
              </a:r>
              <a:endParaRPr lang="en-US" altLang="zh-CN" sz="1600" b="1"/>
            </a:p>
          </p:txBody>
        </p:sp>
        <p:sp>
          <p:nvSpPr>
            <p:cNvPr id="205" name="Text Box 28"/>
            <p:cNvSpPr txBox="1">
              <a:spLocks noChangeArrowheads="1"/>
            </p:cNvSpPr>
            <p:nvPr/>
          </p:nvSpPr>
          <p:spPr bwMode="auto">
            <a:xfrm>
              <a:off x="1694" y="134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/>
                <a:t>u</a:t>
              </a:r>
              <a:endParaRPr lang="en-US" altLang="zh-CN" sz="1600" b="1"/>
            </a:p>
          </p:txBody>
        </p:sp>
        <p:sp>
          <p:nvSpPr>
            <p:cNvPr id="206" name="Text Box 29"/>
            <p:cNvSpPr txBox="1">
              <a:spLocks noChangeArrowheads="1"/>
            </p:cNvSpPr>
            <p:nvPr/>
          </p:nvSpPr>
          <p:spPr bwMode="auto">
            <a:xfrm>
              <a:off x="1812" y="816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endParaRPr lang="en-US" altLang="zh-CN" sz="1600" b="1"/>
            </a:p>
          </p:txBody>
        </p:sp>
        <p:sp>
          <p:nvSpPr>
            <p:cNvPr id="207" name="Line 30"/>
            <p:cNvSpPr>
              <a:spLocks noChangeShapeType="1"/>
            </p:cNvSpPr>
            <p:nvPr/>
          </p:nvSpPr>
          <p:spPr bwMode="auto">
            <a:xfrm flipV="1">
              <a:off x="1907" y="1129"/>
              <a:ext cx="135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08" name="Text Box 31"/>
            <p:cNvSpPr txBox="1">
              <a:spLocks noChangeArrowheads="1"/>
            </p:cNvSpPr>
            <p:nvPr/>
          </p:nvSpPr>
          <p:spPr bwMode="auto">
            <a:xfrm>
              <a:off x="1681" y="110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209" name="Text Box 32"/>
            <p:cNvSpPr txBox="1">
              <a:spLocks noChangeArrowheads="1"/>
            </p:cNvSpPr>
            <p:nvPr/>
          </p:nvSpPr>
          <p:spPr bwMode="auto">
            <a:xfrm>
              <a:off x="1680" y="1530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210" name="Line 33"/>
            <p:cNvSpPr>
              <a:spLocks noChangeShapeType="1"/>
            </p:cNvSpPr>
            <p:nvPr/>
          </p:nvSpPr>
          <p:spPr bwMode="auto">
            <a:xfrm>
              <a:off x="2388" y="1129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1" name="Line 34"/>
            <p:cNvSpPr>
              <a:spLocks noChangeShapeType="1"/>
            </p:cNvSpPr>
            <p:nvPr/>
          </p:nvSpPr>
          <p:spPr bwMode="auto">
            <a:xfrm>
              <a:off x="2389" y="1670"/>
              <a:ext cx="0" cy="1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2" name="Line 35"/>
            <p:cNvSpPr>
              <a:spLocks noChangeShapeType="1"/>
            </p:cNvSpPr>
            <p:nvPr/>
          </p:nvSpPr>
          <p:spPr bwMode="auto">
            <a:xfrm>
              <a:off x="1928" y="1063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3" name="Line 36"/>
            <p:cNvSpPr>
              <a:spLocks noChangeShapeType="1"/>
            </p:cNvSpPr>
            <p:nvPr/>
          </p:nvSpPr>
          <p:spPr bwMode="auto">
            <a:xfrm rot="5400000">
              <a:off x="2372" y="1285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4" name="Text Box 37"/>
            <p:cNvSpPr txBox="1">
              <a:spLocks noChangeArrowheads="1"/>
            </p:cNvSpPr>
            <p:nvPr/>
          </p:nvSpPr>
          <p:spPr bwMode="auto">
            <a:xfrm>
              <a:off x="2389" y="1118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1</a:t>
              </a:r>
              <a:endParaRPr lang="en-US" altLang="zh-CN" sz="1600" b="1"/>
            </a:p>
          </p:txBody>
        </p:sp>
        <p:sp>
          <p:nvSpPr>
            <p:cNvPr id="215" name="Text Box 38"/>
            <p:cNvSpPr txBox="1">
              <a:spLocks noChangeArrowheads="1"/>
            </p:cNvSpPr>
            <p:nvPr/>
          </p:nvSpPr>
          <p:spPr bwMode="auto">
            <a:xfrm>
              <a:off x="2965" y="1341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2</a:t>
              </a:r>
              <a:endParaRPr lang="en-US" altLang="zh-CN" sz="1600" b="1"/>
            </a:p>
          </p:txBody>
        </p:sp>
        <p:sp>
          <p:nvSpPr>
            <p:cNvPr id="216" name="Line 39"/>
            <p:cNvSpPr>
              <a:spLocks noChangeShapeType="1"/>
            </p:cNvSpPr>
            <p:nvPr/>
          </p:nvSpPr>
          <p:spPr bwMode="auto">
            <a:xfrm>
              <a:off x="2954" y="1129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7" name="Line 40"/>
            <p:cNvSpPr>
              <a:spLocks noChangeShapeType="1"/>
            </p:cNvSpPr>
            <p:nvPr/>
          </p:nvSpPr>
          <p:spPr bwMode="auto">
            <a:xfrm>
              <a:off x="2955" y="1664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8" name="Line 41"/>
            <p:cNvSpPr>
              <a:spLocks noChangeShapeType="1"/>
            </p:cNvSpPr>
            <p:nvPr/>
          </p:nvSpPr>
          <p:spPr bwMode="auto">
            <a:xfrm rot="5400000">
              <a:off x="2946" y="1294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9" name="Text Box 42"/>
            <p:cNvSpPr txBox="1">
              <a:spLocks noChangeArrowheads="1"/>
            </p:cNvSpPr>
            <p:nvPr/>
          </p:nvSpPr>
          <p:spPr bwMode="auto">
            <a:xfrm>
              <a:off x="2955" y="1117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2</a:t>
              </a:r>
              <a:endParaRPr lang="en-US" altLang="zh-CN" sz="1600" b="1"/>
            </a:p>
          </p:txBody>
        </p:sp>
        <p:sp>
          <p:nvSpPr>
            <p:cNvPr id="220" name="Text Box 43"/>
            <p:cNvSpPr txBox="1">
              <a:spLocks noChangeArrowheads="1"/>
            </p:cNvSpPr>
            <p:nvPr/>
          </p:nvSpPr>
          <p:spPr bwMode="auto">
            <a:xfrm>
              <a:off x="3809" y="1341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600" b="1"/>
            </a:p>
          </p:txBody>
        </p:sp>
        <p:sp>
          <p:nvSpPr>
            <p:cNvPr id="221" name="Line 44"/>
            <p:cNvSpPr>
              <a:spLocks noChangeShapeType="1"/>
            </p:cNvSpPr>
            <p:nvPr/>
          </p:nvSpPr>
          <p:spPr bwMode="auto">
            <a:xfrm>
              <a:off x="3798" y="1129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2" name="Line 45"/>
            <p:cNvSpPr>
              <a:spLocks noChangeShapeType="1"/>
            </p:cNvSpPr>
            <p:nvPr/>
          </p:nvSpPr>
          <p:spPr bwMode="auto">
            <a:xfrm>
              <a:off x="3799" y="1654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3" name="Line 46"/>
            <p:cNvSpPr>
              <a:spLocks noChangeShapeType="1"/>
            </p:cNvSpPr>
            <p:nvPr/>
          </p:nvSpPr>
          <p:spPr bwMode="auto">
            <a:xfrm rot="5400000">
              <a:off x="3790" y="1275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4" name="Line 47"/>
            <p:cNvSpPr>
              <a:spLocks noChangeShapeType="1"/>
            </p:cNvSpPr>
            <p:nvPr/>
          </p:nvSpPr>
          <p:spPr bwMode="auto">
            <a:xfrm>
              <a:off x="3551" y="1133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5" name="Line 48"/>
            <p:cNvSpPr>
              <a:spLocks noChangeShapeType="1"/>
            </p:cNvSpPr>
            <p:nvPr/>
          </p:nvSpPr>
          <p:spPr bwMode="auto">
            <a:xfrm flipH="1">
              <a:off x="3581" y="1852"/>
              <a:ext cx="2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6" name="Line 49"/>
            <p:cNvSpPr>
              <a:spLocks noChangeShapeType="1"/>
            </p:cNvSpPr>
            <p:nvPr/>
          </p:nvSpPr>
          <p:spPr bwMode="auto">
            <a:xfrm>
              <a:off x="3292" y="1133"/>
              <a:ext cx="2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7" name="Line 50"/>
            <p:cNvSpPr>
              <a:spLocks noChangeShapeType="1"/>
            </p:cNvSpPr>
            <p:nvPr/>
          </p:nvSpPr>
          <p:spPr bwMode="auto">
            <a:xfrm>
              <a:off x="3283" y="1852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8" name="Oval 51"/>
            <p:cNvSpPr>
              <a:spLocks noChangeArrowheads="1"/>
            </p:cNvSpPr>
            <p:nvPr/>
          </p:nvSpPr>
          <p:spPr bwMode="auto">
            <a:xfrm>
              <a:off x="1855" y="110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9" name="Oval 52"/>
            <p:cNvSpPr>
              <a:spLocks noChangeArrowheads="1"/>
            </p:cNvSpPr>
            <p:nvPr/>
          </p:nvSpPr>
          <p:spPr bwMode="auto">
            <a:xfrm>
              <a:off x="1852" y="1832"/>
              <a:ext cx="43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grpSp>
          <p:nvGrpSpPr>
            <p:cNvPr id="230" name="Group 53"/>
            <p:cNvGrpSpPr>
              <a:grpSpLocks/>
            </p:cNvGrpSpPr>
            <p:nvPr/>
          </p:nvGrpSpPr>
          <p:grpSpPr bwMode="auto">
            <a:xfrm rot="-5400000" flipH="1" flipV="1">
              <a:off x="2233" y="1481"/>
              <a:ext cx="356" cy="50"/>
              <a:chOff x="576" y="711"/>
              <a:chExt cx="384" cy="57"/>
            </a:xfrm>
          </p:grpSpPr>
          <p:sp>
            <p:nvSpPr>
              <p:cNvPr id="251" name="Freeform 54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52" name="Freeform 55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53" name="Freeform 56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54" name="Freeform 57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231" name="Group 58"/>
            <p:cNvGrpSpPr>
              <a:grpSpLocks/>
            </p:cNvGrpSpPr>
            <p:nvPr/>
          </p:nvGrpSpPr>
          <p:grpSpPr bwMode="auto">
            <a:xfrm rot="-5400000" flipH="1" flipV="1">
              <a:off x="2800" y="1480"/>
              <a:ext cx="356" cy="51"/>
              <a:chOff x="576" y="711"/>
              <a:chExt cx="384" cy="57"/>
            </a:xfrm>
          </p:grpSpPr>
          <p:sp>
            <p:nvSpPr>
              <p:cNvPr id="247" name="Freeform 59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48" name="Freeform 60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49" name="Freeform 61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50" name="Freeform 62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232" name="Group 63"/>
            <p:cNvGrpSpPr>
              <a:grpSpLocks/>
            </p:cNvGrpSpPr>
            <p:nvPr/>
          </p:nvGrpSpPr>
          <p:grpSpPr bwMode="auto">
            <a:xfrm rot="-5400000" flipH="1" flipV="1">
              <a:off x="3639" y="1471"/>
              <a:ext cx="355" cy="51"/>
              <a:chOff x="576" y="711"/>
              <a:chExt cx="384" cy="57"/>
            </a:xfrm>
          </p:grpSpPr>
          <p:sp>
            <p:nvSpPr>
              <p:cNvPr id="243" name="Freeform 64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44" name="Freeform 65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45" name="Freeform 66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46" name="Freeform 67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sp>
          <p:nvSpPr>
            <p:cNvPr id="233" name="Text Box 68"/>
            <p:cNvSpPr txBox="1">
              <a:spLocks noChangeArrowheads="1"/>
            </p:cNvSpPr>
            <p:nvPr/>
          </p:nvSpPr>
          <p:spPr bwMode="auto">
            <a:xfrm>
              <a:off x="2084" y="113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234" name="Text Box 69"/>
            <p:cNvSpPr txBox="1">
              <a:spLocks noChangeArrowheads="1"/>
            </p:cNvSpPr>
            <p:nvPr/>
          </p:nvSpPr>
          <p:spPr bwMode="auto">
            <a:xfrm>
              <a:off x="2093" y="1549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235" name="Text Box 70"/>
            <p:cNvSpPr txBox="1">
              <a:spLocks noChangeArrowheads="1"/>
            </p:cNvSpPr>
            <p:nvPr/>
          </p:nvSpPr>
          <p:spPr bwMode="auto">
            <a:xfrm>
              <a:off x="2650" y="15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236" name="Text Box 71"/>
            <p:cNvSpPr txBox="1">
              <a:spLocks noChangeArrowheads="1"/>
            </p:cNvSpPr>
            <p:nvPr/>
          </p:nvSpPr>
          <p:spPr bwMode="auto">
            <a:xfrm>
              <a:off x="2641" y="113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237" name="Text Box 72"/>
            <p:cNvSpPr txBox="1">
              <a:spLocks noChangeArrowheads="1"/>
            </p:cNvSpPr>
            <p:nvPr/>
          </p:nvSpPr>
          <p:spPr bwMode="auto">
            <a:xfrm>
              <a:off x="3466" y="1106"/>
              <a:ext cx="396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238" name="Text Box 73"/>
            <p:cNvSpPr txBox="1">
              <a:spLocks noChangeArrowheads="1"/>
            </p:cNvSpPr>
            <p:nvPr/>
          </p:nvSpPr>
          <p:spPr bwMode="auto">
            <a:xfrm>
              <a:off x="3475" y="1558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239" name="Text Box 74"/>
            <p:cNvSpPr txBox="1">
              <a:spLocks noChangeArrowheads="1"/>
            </p:cNvSpPr>
            <p:nvPr/>
          </p:nvSpPr>
          <p:spPr bwMode="auto">
            <a:xfrm>
              <a:off x="2069" y="133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/>
                <a:t>u</a:t>
              </a:r>
              <a:r>
                <a:rPr lang="en-US" altLang="zh-CN" sz="1600" b="1" baseline="-25000"/>
                <a:t>1</a:t>
              </a:r>
              <a:endParaRPr lang="en-US" altLang="zh-CN" sz="1600" b="1"/>
            </a:p>
          </p:txBody>
        </p:sp>
        <p:sp>
          <p:nvSpPr>
            <p:cNvPr id="240" name="Text Box 75"/>
            <p:cNvSpPr txBox="1">
              <a:spLocks noChangeArrowheads="1"/>
            </p:cNvSpPr>
            <p:nvPr/>
          </p:nvSpPr>
          <p:spPr bwMode="auto">
            <a:xfrm>
              <a:off x="2635" y="133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/>
                <a:t>u</a:t>
              </a:r>
              <a:r>
                <a:rPr lang="en-US" altLang="zh-CN" sz="1600" b="1" baseline="-25000"/>
                <a:t>2</a:t>
              </a:r>
              <a:endParaRPr lang="en-US" altLang="zh-CN" sz="1600" b="1"/>
            </a:p>
          </p:txBody>
        </p:sp>
        <p:sp>
          <p:nvSpPr>
            <p:cNvPr id="241" name="Text Box 76"/>
            <p:cNvSpPr txBox="1">
              <a:spLocks noChangeArrowheads="1"/>
            </p:cNvSpPr>
            <p:nvPr/>
          </p:nvSpPr>
          <p:spPr bwMode="auto">
            <a:xfrm>
              <a:off x="3460" y="1334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/>
                <a:t>u</a:t>
              </a:r>
              <a:r>
                <a:rPr lang="en-US" altLang="zh-CN" sz="1600" b="1" i="1" baseline="-25000"/>
                <a:t>n</a:t>
              </a:r>
              <a:endParaRPr lang="en-US" altLang="zh-CN" sz="1600" b="1"/>
            </a:p>
          </p:txBody>
        </p:sp>
        <p:sp>
          <p:nvSpPr>
            <p:cNvPr id="242" name="Text Box 77"/>
            <p:cNvSpPr txBox="1">
              <a:spLocks noChangeArrowheads="1"/>
            </p:cNvSpPr>
            <p:nvPr/>
          </p:nvSpPr>
          <p:spPr bwMode="auto">
            <a:xfrm>
              <a:off x="2256" y="1872"/>
              <a:ext cx="1392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en-US" altLang="zh-CN" sz="1600" b="1" i="1"/>
                <a:t>n</a:t>
              </a:r>
              <a:r>
                <a:rPr lang="zh-CN" altLang="en-US" sz="1600" b="1"/>
                <a:t>个电感并联</a:t>
              </a:r>
            </a:p>
          </p:txBody>
        </p:sp>
      </p:grpSp>
      <p:graphicFrame>
        <p:nvGraphicFramePr>
          <p:cNvPr id="25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43646"/>
              </p:ext>
            </p:extLst>
          </p:nvPr>
        </p:nvGraphicFramePr>
        <p:xfrm>
          <a:off x="4572000" y="3391440"/>
          <a:ext cx="1810568" cy="551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457200" progId="Equation.DSMT4">
                  <p:embed/>
                </p:oleObj>
              </mc:Choice>
              <mc:Fallback>
                <p:oleObj name="Equation" r:id="rId10" imgW="1498320" imgH="457200" progId="Equation.DSMT4">
                  <p:embed/>
                  <p:pic>
                    <p:nvPicPr>
                      <p:cNvPr id="344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91440"/>
                        <a:ext cx="1810568" cy="5517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809700"/>
              </p:ext>
            </p:extLst>
          </p:nvPr>
        </p:nvGraphicFramePr>
        <p:xfrm>
          <a:off x="6776575" y="3390778"/>
          <a:ext cx="1256420" cy="590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431640" progId="Equation.DSMT4">
                  <p:embed/>
                </p:oleObj>
              </mc:Choice>
              <mc:Fallback>
                <p:oleObj name="Equation" r:id="rId12" imgW="914400" imgH="431640" progId="Equation.DSMT4">
                  <p:embed/>
                  <p:pic>
                    <p:nvPicPr>
                      <p:cNvPr id="3440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575" y="3390778"/>
                        <a:ext cx="1256420" cy="5908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7" name="Group 4"/>
          <p:cNvGrpSpPr>
            <a:grpSpLocks/>
          </p:cNvGrpSpPr>
          <p:nvPr/>
        </p:nvGrpSpPr>
        <p:grpSpPr bwMode="auto">
          <a:xfrm>
            <a:off x="7622910" y="4149217"/>
            <a:ext cx="1226899" cy="1513565"/>
            <a:chOff x="3600" y="864"/>
            <a:chExt cx="1248" cy="1371"/>
          </a:xfrm>
        </p:grpSpPr>
        <p:sp>
          <p:nvSpPr>
            <p:cNvPr id="258" name="Line 5"/>
            <p:cNvSpPr>
              <a:spLocks noChangeShapeType="1"/>
            </p:cNvSpPr>
            <p:nvPr/>
          </p:nvSpPr>
          <p:spPr bwMode="auto">
            <a:xfrm flipH="1" flipV="1">
              <a:off x="3822" y="1902"/>
              <a:ext cx="4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259" name="Text Box 6"/>
            <p:cNvSpPr txBox="1">
              <a:spLocks noChangeArrowheads="1"/>
            </p:cNvSpPr>
            <p:nvPr/>
          </p:nvSpPr>
          <p:spPr bwMode="auto">
            <a:xfrm>
              <a:off x="4224" y="1440"/>
              <a:ext cx="624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eq            </a:t>
              </a:r>
              <a:endParaRPr lang="en-US" altLang="zh-CN" sz="1600" b="1"/>
            </a:p>
          </p:txBody>
        </p:sp>
        <p:sp>
          <p:nvSpPr>
            <p:cNvPr id="260" name="Text Box 7"/>
            <p:cNvSpPr txBox="1">
              <a:spLocks noChangeArrowheads="1"/>
            </p:cNvSpPr>
            <p:nvPr/>
          </p:nvSpPr>
          <p:spPr bwMode="auto">
            <a:xfrm>
              <a:off x="3614" y="1392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/>
                <a:t>u</a:t>
              </a:r>
              <a:endParaRPr lang="en-US" altLang="zh-CN" sz="1600" b="1"/>
            </a:p>
          </p:txBody>
        </p:sp>
        <p:sp>
          <p:nvSpPr>
            <p:cNvPr id="261" name="Text Box 8"/>
            <p:cNvSpPr txBox="1">
              <a:spLocks noChangeArrowheads="1"/>
            </p:cNvSpPr>
            <p:nvPr/>
          </p:nvSpPr>
          <p:spPr bwMode="auto">
            <a:xfrm>
              <a:off x="3732" y="864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endParaRPr lang="en-US" altLang="zh-CN" sz="1600" b="1"/>
            </a:p>
          </p:txBody>
        </p:sp>
        <p:sp>
          <p:nvSpPr>
            <p:cNvPr id="262" name="Line 9"/>
            <p:cNvSpPr>
              <a:spLocks noChangeShapeType="1"/>
            </p:cNvSpPr>
            <p:nvPr/>
          </p:nvSpPr>
          <p:spPr bwMode="auto">
            <a:xfrm flipV="1">
              <a:off x="3827" y="1178"/>
              <a:ext cx="48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63" name="Text Box 10"/>
            <p:cNvSpPr txBox="1">
              <a:spLocks noChangeArrowheads="1"/>
            </p:cNvSpPr>
            <p:nvPr/>
          </p:nvSpPr>
          <p:spPr bwMode="auto">
            <a:xfrm>
              <a:off x="3601" y="1153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264" name="Text Box 11"/>
            <p:cNvSpPr txBox="1">
              <a:spLocks noChangeArrowheads="1"/>
            </p:cNvSpPr>
            <p:nvPr/>
          </p:nvSpPr>
          <p:spPr bwMode="auto">
            <a:xfrm>
              <a:off x="3600" y="1579"/>
              <a:ext cx="39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265" name="Line 12"/>
            <p:cNvSpPr>
              <a:spLocks noChangeShapeType="1"/>
            </p:cNvSpPr>
            <p:nvPr/>
          </p:nvSpPr>
          <p:spPr bwMode="auto">
            <a:xfrm>
              <a:off x="4308" y="1177"/>
              <a:ext cx="0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66" name="Line 13"/>
            <p:cNvSpPr>
              <a:spLocks noChangeShapeType="1"/>
            </p:cNvSpPr>
            <p:nvPr/>
          </p:nvSpPr>
          <p:spPr bwMode="auto">
            <a:xfrm>
              <a:off x="4309" y="1697"/>
              <a:ext cx="0" cy="2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67" name="Line 14"/>
            <p:cNvSpPr>
              <a:spLocks noChangeShapeType="1"/>
            </p:cNvSpPr>
            <p:nvPr/>
          </p:nvSpPr>
          <p:spPr bwMode="auto">
            <a:xfrm>
              <a:off x="3848" y="1112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68" name="Text Box 15"/>
            <p:cNvSpPr txBox="1">
              <a:spLocks noChangeArrowheads="1"/>
            </p:cNvSpPr>
            <p:nvPr/>
          </p:nvSpPr>
          <p:spPr bwMode="auto">
            <a:xfrm>
              <a:off x="3645" y="1968"/>
              <a:ext cx="1192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b="1" dirty="0"/>
                <a:t>等效电感</a:t>
              </a:r>
            </a:p>
          </p:txBody>
        </p:sp>
        <p:sp>
          <p:nvSpPr>
            <p:cNvPr id="269" name="Oval 16"/>
            <p:cNvSpPr>
              <a:spLocks noChangeArrowheads="1"/>
            </p:cNvSpPr>
            <p:nvPr/>
          </p:nvSpPr>
          <p:spPr bwMode="auto">
            <a:xfrm>
              <a:off x="3775" y="1154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70" name="Oval 17"/>
            <p:cNvSpPr>
              <a:spLocks noChangeArrowheads="1"/>
            </p:cNvSpPr>
            <p:nvPr/>
          </p:nvSpPr>
          <p:spPr bwMode="auto">
            <a:xfrm>
              <a:off x="3771" y="1880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grpSp>
          <p:nvGrpSpPr>
            <p:cNvPr id="271" name="Group 18"/>
            <p:cNvGrpSpPr>
              <a:grpSpLocks/>
            </p:cNvGrpSpPr>
            <p:nvPr/>
          </p:nvGrpSpPr>
          <p:grpSpPr bwMode="auto">
            <a:xfrm rot="-5400000" flipH="1" flipV="1">
              <a:off x="4150" y="1508"/>
              <a:ext cx="356" cy="50"/>
              <a:chOff x="576" y="711"/>
              <a:chExt cx="384" cy="57"/>
            </a:xfrm>
          </p:grpSpPr>
          <p:sp>
            <p:nvSpPr>
              <p:cNvPr id="272" name="Freeform 19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73" name="Freeform 20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74" name="Freeform 21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275" name="Freeform 22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</p:grpSp>
      <p:grpSp>
        <p:nvGrpSpPr>
          <p:cNvPr id="276" name="Group 23"/>
          <p:cNvGrpSpPr>
            <a:grpSpLocks/>
          </p:cNvGrpSpPr>
          <p:nvPr/>
        </p:nvGrpSpPr>
        <p:grpSpPr bwMode="auto">
          <a:xfrm>
            <a:off x="4511740" y="4210974"/>
            <a:ext cx="2590588" cy="1536022"/>
            <a:chOff x="960" y="912"/>
            <a:chExt cx="2221" cy="1490"/>
          </a:xfrm>
        </p:grpSpPr>
        <p:sp>
          <p:nvSpPr>
            <p:cNvPr id="277" name="Line 24"/>
            <p:cNvSpPr>
              <a:spLocks noChangeShapeType="1"/>
            </p:cNvSpPr>
            <p:nvPr/>
          </p:nvSpPr>
          <p:spPr bwMode="auto">
            <a:xfrm flipH="1" flipV="1">
              <a:off x="1186" y="1968"/>
              <a:ext cx="188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278" name="Text Box 25"/>
            <p:cNvSpPr txBox="1">
              <a:spLocks noChangeArrowheads="1"/>
            </p:cNvSpPr>
            <p:nvPr/>
          </p:nvSpPr>
          <p:spPr bwMode="auto">
            <a:xfrm>
              <a:off x="1496" y="912"/>
              <a:ext cx="361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1</a:t>
              </a:r>
              <a:endParaRPr lang="en-US" altLang="zh-CN" sz="1600" b="1"/>
            </a:p>
          </p:txBody>
        </p:sp>
        <p:sp>
          <p:nvSpPr>
            <p:cNvPr id="279" name="Text Box 26"/>
            <p:cNvSpPr txBox="1">
              <a:spLocks noChangeArrowheads="1"/>
            </p:cNvSpPr>
            <p:nvPr/>
          </p:nvSpPr>
          <p:spPr bwMode="auto">
            <a:xfrm>
              <a:off x="978" y="1458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/>
                <a:t>u</a:t>
              </a:r>
              <a:endParaRPr lang="en-US" altLang="zh-CN" sz="1600" b="1"/>
            </a:p>
          </p:txBody>
        </p:sp>
        <p:sp>
          <p:nvSpPr>
            <p:cNvPr id="280" name="Text Box 27"/>
            <p:cNvSpPr txBox="1">
              <a:spLocks noChangeArrowheads="1"/>
            </p:cNvSpPr>
            <p:nvPr/>
          </p:nvSpPr>
          <p:spPr bwMode="auto">
            <a:xfrm>
              <a:off x="1096" y="929"/>
              <a:ext cx="409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i</a:t>
              </a:r>
              <a:endParaRPr lang="en-US" altLang="zh-CN" sz="1600" b="1"/>
            </a:p>
          </p:txBody>
        </p:sp>
        <p:sp>
          <p:nvSpPr>
            <p:cNvPr id="281" name="Line 28"/>
            <p:cNvSpPr>
              <a:spLocks noChangeShapeType="1"/>
            </p:cNvSpPr>
            <p:nvPr/>
          </p:nvSpPr>
          <p:spPr bwMode="auto">
            <a:xfrm flipV="1">
              <a:off x="1191" y="1244"/>
              <a:ext cx="3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82" name="Text Box 29"/>
            <p:cNvSpPr txBox="1">
              <a:spLocks noChangeArrowheads="1"/>
            </p:cNvSpPr>
            <p:nvPr/>
          </p:nvSpPr>
          <p:spPr bwMode="auto">
            <a:xfrm>
              <a:off x="965" y="1219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283" name="Text Box 30"/>
            <p:cNvSpPr txBox="1">
              <a:spLocks noChangeArrowheads="1"/>
            </p:cNvSpPr>
            <p:nvPr/>
          </p:nvSpPr>
          <p:spPr bwMode="auto">
            <a:xfrm>
              <a:off x="1631" y="1184"/>
              <a:ext cx="395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284" name="Line 31"/>
            <p:cNvSpPr>
              <a:spLocks noChangeShapeType="1"/>
            </p:cNvSpPr>
            <p:nvPr/>
          </p:nvSpPr>
          <p:spPr bwMode="auto">
            <a:xfrm>
              <a:off x="1212" y="1177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85" name="Text Box 32"/>
            <p:cNvSpPr txBox="1">
              <a:spLocks noChangeArrowheads="1"/>
            </p:cNvSpPr>
            <p:nvPr/>
          </p:nvSpPr>
          <p:spPr bwMode="auto">
            <a:xfrm>
              <a:off x="1480" y="1248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u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1</a:t>
              </a:r>
              <a:endParaRPr lang="en-US" altLang="zh-CN" sz="1600" b="1"/>
            </a:p>
          </p:txBody>
        </p:sp>
        <p:sp>
          <p:nvSpPr>
            <p:cNvPr id="286" name="Text Box 33"/>
            <p:cNvSpPr txBox="1">
              <a:spLocks noChangeArrowheads="1"/>
            </p:cNvSpPr>
            <p:nvPr/>
          </p:nvSpPr>
          <p:spPr bwMode="auto">
            <a:xfrm>
              <a:off x="1632" y="2016"/>
              <a:ext cx="120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just">
                <a:spcBef>
                  <a:spcPct val="50000"/>
                </a:spcBef>
              </a:pPr>
              <a:r>
                <a:rPr lang="en-US" altLang="zh-CN" sz="1600" b="1" i="1"/>
                <a:t>n</a:t>
              </a:r>
              <a:r>
                <a:rPr lang="zh-CN" altLang="en-US" sz="1600" b="1"/>
                <a:t>个电感串联</a:t>
              </a:r>
            </a:p>
          </p:txBody>
        </p:sp>
        <p:sp>
          <p:nvSpPr>
            <p:cNvPr id="287" name="Text Box 34"/>
            <p:cNvSpPr txBox="1">
              <a:spLocks noChangeArrowheads="1"/>
            </p:cNvSpPr>
            <p:nvPr/>
          </p:nvSpPr>
          <p:spPr bwMode="auto">
            <a:xfrm>
              <a:off x="1974" y="918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2</a:t>
              </a:r>
              <a:endParaRPr lang="en-US" altLang="zh-CN" sz="1600" b="1"/>
            </a:p>
          </p:txBody>
        </p:sp>
        <p:sp>
          <p:nvSpPr>
            <p:cNvPr id="288" name="Text Box 35"/>
            <p:cNvSpPr txBox="1">
              <a:spLocks noChangeArrowheads="1"/>
            </p:cNvSpPr>
            <p:nvPr/>
          </p:nvSpPr>
          <p:spPr bwMode="auto">
            <a:xfrm>
              <a:off x="1952" y="1245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u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2</a:t>
              </a:r>
              <a:endParaRPr lang="en-US" altLang="zh-CN" sz="1600" b="1"/>
            </a:p>
          </p:txBody>
        </p:sp>
        <p:sp>
          <p:nvSpPr>
            <p:cNvPr id="289" name="Text Box 36"/>
            <p:cNvSpPr txBox="1">
              <a:spLocks noChangeArrowheads="1"/>
            </p:cNvSpPr>
            <p:nvPr/>
          </p:nvSpPr>
          <p:spPr bwMode="auto">
            <a:xfrm>
              <a:off x="2643" y="924"/>
              <a:ext cx="361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L</a:t>
              </a:r>
              <a:r>
                <a:rPr lang="en-US" altLang="zh-CN" sz="16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600" b="1"/>
            </a:p>
          </p:txBody>
        </p:sp>
        <p:sp>
          <p:nvSpPr>
            <p:cNvPr id="290" name="Line 37"/>
            <p:cNvSpPr>
              <a:spLocks noChangeShapeType="1"/>
            </p:cNvSpPr>
            <p:nvPr/>
          </p:nvSpPr>
          <p:spPr bwMode="auto">
            <a:xfrm>
              <a:off x="3082" y="1242"/>
              <a:ext cx="0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1" name="Text Box 38"/>
            <p:cNvSpPr txBox="1">
              <a:spLocks noChangeArrowheads="1"/>
            </p:cNvSpPr>
            <p:nvPr/>
          </p:nvSpPr>
          <p:spPr bwMode="auto">
            <a:xfrm>
              <a:off x="2629" y="1257"/>
              <a:ext cx="40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000000"/>
                  </a:solidFill>
                </a:rPr>
                <a:t>u</a:t>
              </a:r>
              <a:r>
                <a:rPr lang="en-US" altLang="zh-CN" sz="1600" b="1" i="1" baseline="-25000">
                  <a:solidFill>
                    <a:srgbClr val="000000"/>
                  </a:solidFill>
                </a:rPr>
                <a:t>n</a:t>
              </a:r>
              <a:endParaRPr lang="en-US" altLang="zh-CN" sz="1600" b="1"/>
            </a:p>
          </p:txBody>
        </p:sp>
        <p:sp>
          <p:nvSpPr>
            <p:cNvPr id="292" name="Line 39"/>
            <p:cNvSpPr>
              <a:spLocks noChangeShapeType="1"/>
            </p:cNvSpPr>
            <p:nvPr/>
          </p:nvSpPr>
          <p:spPr bwMode="auto">
            <a:xfrm>
              <a:off x="3013" y="1246"/>
              <a:ext cx="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3" name="Line 40"/>
            <p:cNvSpPr>
              <a:spLocks noChangeShapeType="1"/>
            </p:cNvSpPr>
            <p:nvPr/>
          </p:nvSpPr>
          <p:spPr bwMode="auto">
            <a:xfrm>
              <a:off x="2403" y="1246"/>
              <a:ext cx="2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4" name="Oval 41"/>
            <p:cNvSpPr>
              <a:spLocks noChangeArrowheads="1"/>
            </p:cNvSpPr>
            <p:nvPr/>
          </p:nvSpPr>
          <p:spPr bwMode="auto">
            <a:xfrm>
              <a:off x="1139" y="1219"/>
              <a:ext cx="44" cy="4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5" name="Oval 42"/>
            <p:cNvSpPr>
              <a:spLocks noChangeArrowheads="1"/>
            </p:cNvSpPr>
            <p:nvPr/>
          </p:nvSpPr>
          <p:spPr bwMode="auto">
            <a:xfrm>
              <a:off x="1135" y="1946"/>
              <a:ext cx="44" cy="4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6" name="Line 43"/>
            <p:cNvSpPr>
              <a:spLocks noChangeShapeType="1"/>
            </p:cNvSpPr>
            <p:nvPr/>
          </p:nvSpPr>
          <p:spPr bwMode="auto">
            <a:xfrm>
              <a:off x="2312" y="1246"/>
              <a:ext cx="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7" name="Line 44"/>
            <p:cNvSpPr>
              <a:spLocks noChangeShapeType="1"/>
            </p:cNvSpPr>
            <p:nvPr/>
          </p:nvSpPr>
          <p:spPr bwMode="auto">
            <a:xfrm>
              <a:off x="1855" y="1246"/>
              <a:ext cx="1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8" name="Line 45"/>
            <p:cNvSpPr>
              <a:spLocks noChangeShapeType="1"/>
            </p:cNvSpPr>
            <p:nvPr/>
          </p:nvSpPr>
          <p:spPr bwMode="auto">
            <a:xfrm flipH="1">
              <a:off x="2634" y="1246"/>
              <a:ext cx="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99" name="Text Box 46"/>
            <p:cNvSpPr txBox="1">
              <a:spLocks noChangeArrowheads="1"/>
            </p:cNvSpPr>
            <p:nvPr/>
          </p:nvSpPr>
          <p:spPr bwMode="auto">
            <a:xfrm>
              <a:off x="1289" y="1252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300" name="Text Box 47"/>
            <p:cNvSpPr txBox="1">
              <a:spLocks noChangeArrowheads="1"/>
            </p:cNvSpPr>
            <p:nvPr/>
          </p:nvSpPr>
          <p:spPr bwMode="auto">
            <a:xfrm>
              <a:off x="1784" y="1256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+</a:t>
              </a:r>
            </a:p>
          </p:txBody>
        </p:sp>
        <p:sp>
          <p:nvSpPr>
            <p:cNvPr id="301" name="Text Box 48"/>
            <p:cNvSpPr txBox="1">
              <a:spLocks noChangeArrowheads="1"/>
            </p:cNvSpPr>
            <p:nvPr/>
          </p:nvSpPr>
          <p:spPr bwMode="auto">
            <a:xfrm>
              <a:off x="2488" y="125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dirty="0"/>
                <a:t>+</a:t>
              </a:r>
            </a:p>
          </p:txBody>
        </p:sp>
        <p:sp>
          <p:nvSpPr>
            <p:cNvPr id="302" name="Text Box 49"/>
            <p:cNvSpPr txBox="1">
              <a:spLocks noChangeArrowheads="1"/>
            </p:cNvSpPr>
            <p:nvPr/>
          </p:nvSpPr>
          <p:spPr bwMode="auto">
            <a:xfrm>
              <a:off x="2153" y="1182"/>
              <a:ext cx="396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sp>
          <p:nvSpPr>
            <p:cNvPr id="303" name="Text Box 50"/>
            <p:cNvSpPr txBox="1">
              <a:spLocks noChangeArrowheads="1"/>
            </p:cNvSpPr>
            <p:nvPr/>
          </p:nvSpPr>
          <p:spPr bwMode="auto">
            <a:xfrm>
              <a:off x="2785" y="1185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  <p:grpSp>
          <p:nvGrpSpPr>
            <p:cNvPr id="304" name="Group 51"/>
            <p:cNvGrpSpPr>
              <a:grpSpLocks/>
            </p:cNvGrpSpPr>
            <p:nvPr/>
          </p:nvGrpSpPr>
          <p:grpSpPr bwMode="auto">
            <a:xfrm rot="-10800000" flipH="1" flipV="1">
              <a:off x="1505" y="1199"/>
              <a:ext cx="356" cy="50"/>
              <a:chOff x="576" y="711"/>
              <a:chExt cx="384" cy="57"/>
            </a:xfrm>
          </p:grpSpPr>
          <p:sp>
            <p:nvSpPr>
              <p:cNvPr id="316" name="Freeform 52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7" name="Freeform 53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8" name="Freeform 54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9" name="Freeform 55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305" name="Group 56"/>
            <p:cNvGrpSpPr>
              <a:grpSpLocks/>
            </p:cNvGrpSpPr>
            <p:nvPr/>
          </p:nvGrpSpPr>
          <p:grpSpPr bwMode="auto">
            <a:xfrm rot="-10800000" flipH="1" flipV="1">
              <a:off x="1965" y="1198"/>
              <a:ext cx="356" cy="50"/>
              <a:chOff x="576" y="711"/>
              <a:chExt cx="384" cy="57"/>
            </a:xfrm>
          </p:grpSpPr>
          <p:sp>
            <p:nvSpPr>
              <p:cNvPr id="312" name="Freeform 57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3" name="Freeform 58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4" name="Freeform 59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5" name="Freeform 60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grpSp>
          <p:nvGrpSpPr>
            <p:cNvPr id="306" name="Group 61"/>
            <p:cNvGrpSpPr>
              <a:grpSpLocks/>
            </p:cNvGrpSpPr>
            <p:nvPr/>
          </p:nvGrpSpPr>
          <p:grpSpPr bwMode="auto">
            <a:xfrm rot="-10800000" flipH="1" flipV="1">
              <a:off x="2670" y="1198"/>
              <a:ext cx="356" cy="51"/>
              <a:chOff x="576" y="711"/>
              <a:chExt cx="384" cy="57"/>
            </a:xfrm>
          </p:grpSpPr>
          <p:sp>
            <p:nvSpPr>
              <p:cNvPr id="308" name="Freeform 62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09" name="Freeform 63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0" name="Freeform 64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  <p:sp>
            <p:nvSpPr>
              <p:cNvPr id="311" name="Freeform 65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400"/>
              </a:p>
            </p:txBody>
          </p:sp>
        </p:grpSp>
        <p:sp>
          <p:nvSpPr>
            <p:cNvPr id="307" name="Text Box 66"/>
            <p:cNvSpPr txBox="1">
              <a:spLocks noChangeArrowheads="1"/>
            </p:cNvSpPr>
            <p:nvPr/>
          </p:nvSpPr>
          <p:spPr bwMode="auto">
            <a:xfrm>
              <a:off x="960" y="1657"/>
              <a:ext cx="39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/>
                <a:t>_</a:t>
              </a:r>
            </a:p>
          </p:txBody>
        </p:sp>
      </p:grpSp>
      <p:graphicFrame>
        <p:nvGraphicFramePr>
          <p:cNvPr id="320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89492"/>
              </p:ext>
            </p:extLst>
          </p:nvPr>
        </p:nvGraphicFramePr>
        <p:xfrm>
          <a:off x="4871539" y="5680127"/>
          <a:ext cx="2174953" cy="371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0" imgH="241200" progId="Equation.DSMT4">
                  <p:embed/>
                </p:oleObj>
              </mc:Choice>
              <mc:Fallback>
                <p:oleObj name="Equation" r:id="rId14" imgW="1396800" imgH="241200" progId="Equation.DSMT4">
                  <p:embed/>
                  <p:pic>
                    <p:nvPicPr>
                      <p:cNvPr id="341067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539" y="5680127"/>
                        <a:ext cx="2174953" cy="371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文本框 320"/>
              <p:cNvSpPr txBox="1"/>
              <p:nvPr/>
            </p:nvSpPr>
            <p:spPr>
              <a:xfrm>
                <a:off x="5319441" y="5984792"/>
                <a:ext cx="599138" cy="504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1" name="文本框 3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441" y="5984792"/>
                <a:ext cx="599138" cy="504112"/>
              </a:xfrm>
              <a:prstGeom prst="rect">
                <a:avLst/>
              </a:prstGeom>
              <a:blipFill>
                <a:blip r:embed="rId17"/>
                <a:stretch>
                  <a:fillRect l="-68367" t="-124390" r="-128571" b="-186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8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5219700" y="260032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</a:t>
            </a:r>
            <a:r>
              <a: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未动作前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5291138" y="3190875"/>
            <a:ext cx="20431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 0 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   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u</a:t>
            </a:r>
            <a:r>
              <a:rPr kumimoji="1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 0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5305425" y="5013325"/>
            <a:ext cx="2224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 0 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,    </a:t>
            </a: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u</a:t>
            </a:r>
            <a:r>
              <a:rPr kumimoji="1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U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755650" y="908050"/>
            <a:ext cx="392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1.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什么是电路的过渡过程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5200650" y="1565275"/>
            <a:ext cx="1566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稳定状态</a:t>
            </a:r>
          </a:p>
        </p:txBody>
      </p:sp>
      <p:grpSp>
        <p:nvGrpSpPr>
          <p:cNvPr id="34887" name="Group 71"/>
          <p:cNvGrpSpPr>
            <a:grpSpLocks/>
          </p:cNvGrpSpPr>
          <p:nvPr/>
        </p:nvGrpSpPr>
        <p:grpSpPr bwMode="auto">
          <a:xfrm>
            <a:off x="946150" y="4022725"/>
            <a:ext cx="3544888" cy="1879600"/>
            <a:chOff x="596" y="2534"/>
            <a:chExt cx="2233" cy="1184"/>
          </a:xfrm>
        </p:grpSpPr>
        <p:grpSp>
          <p:nvGrpSpPr>
            <p:cNvPr id="34824" name="Group 8"/>
            <p:cNvGrpSpPr>
              <a:grpSpLocks/>
            </p:cNvGrpSpPr>
            <p:nvPr/>
          </p:nvGrpSpPr>
          <p:grpSpPr bwMode="auto">
            <a:xfrm>
              <a:off x="2306" y="2534"/>
              <a:ext cx="232" cy="331"/>
              <a:chOff x="1801" y="2586"/>
              <a:chExt cx="167" cy="246"/>
            </a:xfrm>
          </p:grpSpPr>
          <p:sp>
            <p:nvSpPr>
              <p:cNvPr id="34825" name="Text Box 9"/>
              <p:cNvSpPr txBox="1">
                <a:spLocks noChangeArrowheads="1"/>
              </p:cNvSpPr>
              <p:nvPr/>
            </p:nvSpPr>
            <p:spPr bwMode="auto">
              <a:xfrm>
                <a:off x="1801" y="2586"/>
                <a:ext cx="128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i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34826" name="Line 10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</p:grpSp>
        <p:grpSp>
          <p:nvGrpSpPr>
            <p:cNvPr id="34828" name="Group 12"/>
            <p:cNvGrpSpPr>
              <a:grpSpLocks/>
            </p:cNvGrpSpPr>
            <p:nvPr/>
          </p:nvGrpSpPr>
          <p:grpSpPr bwMode="auto">
            <a:xfrm>
              <a:off x="2338" y="3316"/>
              <a:ext cx="267" cy="65"/>
              <a:chOff x="2112" y="3648"/>
              <a:chExt cx="192" cy="48"/>
            </a:xfrm>
          </p:grpSpPr>
          <p:sp>
            <p:nvSpPr>
              <p:cNvPr id="34829" name="Line 13"/>
              <p:cNvSpPr>
                <a:spLocks noChangeShapeType="1"/>
              </p:cNvSpPr>
              <p:nvPr/>
            </p:nvSpPr>
            <p:spPr bwMode="auto">
              <a:xfrm>
                <a:off x="2112" y="3648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34830" name="Line 14"/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</p:grpSp>
        <p:grpSp>
          <p:nvGrpSpPr>
            <p:cNvPr id="34831" name="Group 15"/>
            <p:cNvGrpSpPr>
              <a:grpSpLocks/>
            </p:cNvGrpSpPr>
            <p:nvPr/>
          </p:nvGrpSpPr>
          <p:grpSpPr bwMode="auto">
            <a:xfrm>
              <a:off x="2063" y="2914"/>
              <a:ext cx="344" cy="804"/>
              <a:chOff x="1578" y="1285"/>
              <a:chExt cx="249" cy="598"/>
            </a:xfrm>
          </p:grpSpPr>
          <p:grpSp>
            <p:nvGrpSpPr>
              <p:cNvPr id="34832" name="Group 16"/>
              <p:cNvGrpSpPr>
                <a:grpSpLocks/>
              </p:cNvGrpSpPr>
              <p:nvPr/>
            </p:nvGrpSpPr>
            <p:grpSpPr bwMode="auto">
              <a:xfrm>
                <a:off x="1662" y="1285"/>
                <a:ext cx="165" cy="598"/>
                <a:chOff x="1662" y="1285"/>
                <a:chExt cx="165" cy="598"/>
              </a:xfrm>
            </p:grpSpPr>
            <p:sp>
              <p:nvSpPr>
                <p:cNvPr id="3483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664" y="1285"/>
                  <a:ext cx="163" cy="2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隶书" panose="02010509060101010101" pitchFamily="49" charset="-122"/>
                      <a:cs typeface="+mn-cs"/>
                    </a:rPr>
                    <a:t>+</a:t>
                  </a:r>
                </a:p>
              </p:txBody>
            </p:sp>
            <p:sp>
              <p:nvSpPr>
                <p:cNvPr id="3483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662" y="1669"/>
                  <a:ext cx="153" cy="2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隶书" panose="02010509060101010101" pitchFamily="49" charset="-122"/>
                      <a:cs typeface="+mn-cs"/>
                    </a:rPr>
                    <a:t>–</a:t>
                  </a:r>
                </a:p>
              </p:txBody>
            </p:sp>
          </p:grpSp>
          <p:sp>
            <p:nvSpPr>
              <p:cNvPr id="34835" name="Text Box 19"/>
              <p:cNvSpPr txBox="1">
                <a:spLocks noChangeArrowheads="1"/>
              </p:cNvSpPr>
              <p:nvPr/>
            </p:nvSpPr>
            <p:spPr bwMode="auto">
              <a:xfrm>
                <a:off x="1578" y="1438"/>
                <a:ext cx="24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u</a:t>
                </a:r>
                <a:r>
                  <a:rPr kumimoji="1" lang="en-US" altLang="zh-CN" sz="24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C</a:t>
                </a:r>
                <a:endPara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</p:grpSp>
        <p:sp>
          <p:nvSpPr>
            <p:cNvPr id="34836" name="Text Box 20"/>
            <p:cNvSpPr txBox="1">
              <a:spLocks noChangeArrowheads="1"/>
            </p:cNvSpPr>
            <p:nvPr/>
          </p:nvSpPr>
          <p:spPr bwMode="auto">
            <a:xfrm>
              <a:off x="596" y="3172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S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37" name="Line 21"/>
            <p:cNvSpPr>
              <a:spLocks noChangeShapeType="1"/>
            </p:cNvSpPr>
            <p:nvPr/>
          </p:nvSpPr>
          <p:spPr bwMode="auto">
            <a:xfrm>
              <a:off x="1070" y="3703"/>
              <a:ext cx="14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38" name="Line 22"/>
            <p:cNvSpPr>
              <a:spLocks noChangeShapeType="1"/>
            </p:cNvSpPr>
            <p:nvPr/>
          </p:nvSpPr>
          <p:spPr bwMode="auto">
            <a:xfrm>
              <a:off x="937" y="3316"/>
              <a:ext cx="2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39" name="Line 23"/>
            <p:cNvSpPr>
              <a:spLocks noChangeShapeType="1"/>
            </p:cNvSpPr>
            <p:nvPr/>
          </p:nvSpPr>
          <p:spPr bwMode="auto">
            <a:xfrm>
              <a:off x="1004" y="3381"/>
              <a:ext cx="1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40" name="Line 24"/>
            <p:cNvSpPr>
              <a:spLocks noChangeShapeType="1"/>
            </p:cNvSpPr>
            <p:nvPr/>
          </p:nvSpPr>
          <p:spPr bwMode="auto">
            <a:xfrm flipV="1">
              <a:off x="1070" y="3381"/>
              <a:ext cx="0" cy="3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41" name="Line 25"/>
            <p:cNvSpPr>
              <a:spLocks noChangeShapeType="1"/>
            </p:cNvSpPr>
            <p:nvPr/>
          </p:nvSpPr>
          <p:spPr bwMode="auto">
            <a:xfrm>
              <a:off x="1070" y="2920"/>
              <a:ext cx="0" cy="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42" name="Line 26"/>
            <p:cNvSpPr>
              <a:spLocks noChangeShapeType="1"/>
            </p:cNvSpPr>
            <p:nvPr/>
          </p:nvSpPr>
          <p:spPr bwMode="auto">
            <a:xfrm>
              <a:off x="2471" y="2929"/>
              <a:ext cx="0" cy="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43" name="Line 27"/>
            <p:cNvSpPr>
              <a:spLocks noChangeShapeType="1"/>
            </p:cNvSpPr>
            <p:nvPr/>
          </p:nvSpPr>
          <p:spPr bwMode="auto">
            <a:xfrm flipV="1">
              <a:off x="2471" y="3381"/>
              <a:ext cx="0" cy="3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grpSp>
          <p:nvGrpSpPr>
            <p:cNvPr id="34844" name="Group 28"/>
            <p:cNvGrpSpPr>
              <a:grpSpLocks/>
            </p:cNvGrpSpPr>
            <p:nvPr/>
          </p:nvGrpSpPr>
          <p:grpSpPr bwMode="auto">
            <a:xfrm>
              <a:off x="1850" y="2865"/>
              <a:ext cx="421" cy="401"/>
              <a:chOff x="1473" y="2832"/>
              <a:chExt cx="303" cy="299"/>
            </a:xfrm>
          </p:grpSpPr>
          <p:sp>
            <p:nvSpPr>
              <p:cNvPr id="34845" name="Text Box 29"/>
              <p:cNvSpPr txBox="1">
                <a:spLocks noChangeArrowheads="1"/>
              </p:cNvSpPr>
              <p:nvPr/>
            </p:nvSpPr>
            <p:spPr bwMode="auto">
              <a:xfrm>
                <a:off x="1473" y="2916"/>
                <a:ext cx="176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R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34846" name="Rectangle 30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240" cy="96"/>
              </a:xfrm>
              <a:prstGeom prst="rect">
                <a:avLst/>
              </a:prstGeom>
              <a:solidFill>
                <a:srgbClr val="99FF9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</p:grpSp>
        <p:sp>
          <p:nvSpPr>
            <p:cNvPr id="34847" name="Text Box 31"/>
            <p:cNvSpPr txBox="1">
              <a:spLocks noChangeArrowheads="1"/>
            </p:cNvSpPr>
            <p:nvPr/>
          </p:nvSpPr>
          <p:spPr bwMode="auto">
            <a:xfrm>
              <a:off x="2585" y="323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C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48" name="Line 32"/>
            <p:cNvSpPr>
              <a:spLocks noChangeShapeType="1"/>
            </p:cNvSpPr>
            <p:nvPr/>
          </p:nvSpPr>
          <p:spPr bwMode="auto">
            <a:xfrm>
              <a:off x="1068" y="291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34849" name="Line 33"/>
            <p:cNvSpPr>
              <a:spLocks noChangeShapeType="1"/>
            </p:cNvSpPr>
            <p:nvPr/>
          </p:nvSpPr>
          <p:spPr bwMode="auto">
            <a:xfrm>
              <a:off x="2286" y="2918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</p:grpSp>
      <p:sp>
        <p:nvSpPr>
          <p:cNvPr id="34851" name="Text Box 35"/>
          <p:cNvSpPr txBox="1">
            <a:spLocks noChangeArrowheads="1"/>
          </p:cNvSpPr>
          <p:nvPr/>
        </p:nvSpPr>
        <p:spPr bwMode="auto">
          <a:xfrm>
            <a:off x="2195513" y="1520825"/>
            <a:ext cx="158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稳态分析</a:t>
            </a:r>
          </a:p>
        </p:txBody>
      </p:sp>
      <p:grpSp>
        <p:nvGrpSpPr>
          <p:cNvPr id="34852" name="Group 36"/>
          <p:cNvGrpSpPr>
            <a:grpSpLocks/>
          </p:cNvGrpSpPr>
          <p:nvPr/>
        </p:nvGrpSpPr>
        <p:grpSpPr bwMode="auto">
          <a:xfrm>
            <a:off x="908050" y="2030413"/>
            <a:ext cx="3548063" cy="1879600"/>
            <a:chOff x="518" y="1488"/>
            <a:chExt cx="2235" cy="1184"/>
          </a:xfrm>
        </p:grpSpPr>
        <p:grpSp>
          <p:nvGrpSpPr>
            <p:cNvPr id="34853" name="Group 37"/>
            <p:cNvGrpSpPr>
              <a:grpSpLocks/>
            </p:cNvGrpSpPr>
            <p:nvPr/>
          </p:nvGrpSpPr>
          <p:grpSpPr bwMode="auto">
            <a:xfrm>
              <a:off x="518" y="1488"/>
              <a:ext cx="2235" cy="1184"/>
              <a:chOff x="518" y="1488"/>
              <a:chExt cx="2235" cy="1184"/>
            </a:xfrm>
          </p:grpSpPr>
          <p:grpSp>
            <p:nvGrpSpPr>
              <p:cNvPr id="34854" name="Group 38"/>
              <p:cNvGrpSpPr>
                <a:grpSpLocks/>
              </p:cNvGrpSpPr>
              <p:nvPr/>
            </p:nvGrpSpPr>
            <p:grpSpPr bwMode="auto">
              <a:xfrm>
                <a:off x="2260" y="2270"/>
                <a:ext cx="267" cy="65"/>
                <a:chOff x="2112" y="3648"/>
                <a:chExt cx="192" cy="48"/>
              </a:xfrm>
            </p:grpSpPr>
            <p:sp>
              <p:nvSpPr>
                <p:cNvPr id="34855" name="Line 39"/>
                <p:cNvSpPr>
                  <a:spLocks noChangeShapeType="1"/>
                </p:cNvSpPr>
                <p:nvPr/>
              </p:nvSpPr>
              <p:spPr bwMode="auto">
                <a:xfrm>
                  <a:off x="2112" y="3648"/>
                  <a:ext cx="19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56" name="Line 40"/>
                <p:cNvSpPr>
                  <a:spLocks noChangeShapeType="1"/>
                </p:cNvSpPr>
                <p:nvPr/>
              </p:nvSpPr>
              <p:spPr bwMode="auto">
                <a:xfrm>
                  <a:off x="2112" y="3696"/>
                  <a:ext cx="19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34857" name="Text Box 41"/>
              <p:cNvSpPr txBox="1">
                <a:spLocks noChangeArrowheads="1"/>
              </p:cNvSpPr>
              <p:nvPr/>
            </p:nvSpPr>
            <p:spPr bwMode="auto">
              <a:xfrm>
                <a:off x="1193" y="206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S</a:t>
                </a:r>
              </a:p>
            </p:txBody>
          </p:sp>
          <p:grpSp>
            <p:nvGrpSpPr>
              <p:cNvPr id="34858" name="Group 42"/>
              <p:cNvGrpSpPr>
                <a:grpSpLocks/>
              </p:cNvGrpSpPr>
              <p:nvPr/>
            </p:nvGrpSpPr>
            <p:grpSpPr bwMode="auto">
              <a:xfrm>
                <a:off x="1985" y="1868"/>
                <a:ext cx="344" cy="804"/>
                <a:chOff x="1578" y="1285"/>
                <a:chExt cx="247" cy="598"/>
              </a:xfrm>
            </p:grpSpPr>
            <p:grpSp>
              <p:nvGrpSpPr>
                <p:cNvPr id="34859" name="Group 43"/>
                <p:cNvGrpSpPr>
                  <a:grpSpLocks/>
                </p:cNvGrpSpPr>
                <p:nvPr/>
              </p:nvGrpSpPr>
              <p:grpSpPr bwMode="auto">
                <a:xfrm>
                  <a:off x="1661" y="1285"/>
                  <a:ext cx="164" cy="598"/>
                  <a:chOff x="1661" y="1285"/>
                  <a:chExt cx="164" cy="598"/>
                </a:xfrm>
              </p:grpSpPr>
              <p:sp>
                <p:nvSpPr>
                  <p:cNvPr id="34860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63" y="1285"/>
                    <a:ext cx="162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隶书" panose="02010509060101010101" pitchFamily="49" charset="-122"/>
                        <a:cs typeface="+mn-cs"/>
                      </a:rPr>
                      <a:t>+</a:t>
                    </a:r>
                  </a:p>
                </p:txBody>
              </p:sp>
              <p:sp>
                <p:nvSpPr>
                  <p:cNvPr id="34861" name="Text 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61" y="1669"/>
                    <a:ext cx="152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隶书" panose="02010509060101010101" pitchFamily="49" charset="-122"/>
                        <a:cs typeface="+mn-cs"/>
                      </a:rPr>
                      <a:t>–</a:t>
                    </a:r>
                  </a:p>
                </p:txBody>
              </p:sp>
            </p:grpSp>
            <p:sp>
              <p:nvSpPr>
                <p:cNvPr id="34862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578" y="1438"/>
                  <a:ext cx="246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3200" b="1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隶书" panose="02010509060101010101" pitchFamily="49" charset="-122"/>
                      <a:cs typeface="+mn-cs"/>
                    </a:rPr>
                    <a:t>u</a:t>
                  </a:r>
                  <a:r>
                    <a:rPr kumimoji="1" lang="en-US" altLang="zh-CN" sz="2400" b="1" i="1" u="none" strike="noStrike" kern="1200" cap="none" spc="0" normalizeH="0" baseline="-25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隶书" panose="02010509060101010101" pitchFamily="49" charset="-122"/>
                      <a:cs typeface="+mn-cs"/>
                    </a:rPr>
                    <a:t>C</a:t>
                  </a:r>
                  <a:endPara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34863" name="Text Box 47"/>
              <p:cNvSpPr txBox="1">
                <a:spLocks noChangeArrowheads="1"/>
              </p:cNvSpPr>
              <p:nvPr/>
            </p:nvSpPr>
            <p:spPr bwMode="auto">
              <a:xfrm>
                <a:off x="518" y="2126"/>
                <a:ext cx="32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U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S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grpSp>
            <p:nvGrpSpPr>
              <p:cNvPr id="34864" name="Group 48"/>
              <p:cNvGrpSpPr>
                <a:grpSpLocks/>
              </p:cNvGrpSpPr>
              <p:nvPr/>
            </p:nvGrpSpPr>
            <p:grpSpPr bwMode="auto">
              <a:xfrm>
                <a:off x="859" y="1883"/>
                <a:ext cx="1535" cy="774"/>
                <a:chOff x="816" y="2880"/>
                <a:chExt cx="1104" cy="576"/>
              </a:xfrm>
            </p:grpSpPr>
            <p:sp>
              <p:nvSpPr>
                <p:cNvPr id="34865" name="Line 49"/>
                <p:cNvSpPr>
                  <a:spLocks noChangeShapeType="1"/>
                </p:cNvSpPr>
                <p:nvPr/>
              </p:nvSpPr>
              <p:spPr bwMode="auto">
                <a:xfrm>
                  <a:off x="912" y="2880"/>
                  <a:ext cx="2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66" name="Line 50"/>
                <p:cNvSpPr>
                  <a:spLocks noChangeShapeType="1"/>
                </p:cNvSpPr>
                <p:nvPr/>
              </p:nvSpPr>
              <p:spPr bwMode="auto">
                <a:xfrm>
                  <a:off x="912" y="3456"/>
                  <a:ext cx="100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67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1344" y="2880"/>
                  <a:ext cx="57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68" name="Line 52"/>
                <p:cNvSpPr>
                  <a:spLocks noChangeShapeType="1"/>
                </p:cNvSpPr>
                <p:nvPr/>
              </p:nvSpPr>
              <p:spPr bwMode="auto">
                <a:xfrm>
                  <a:off x="816" y="3168"/>
                  <a:ext cx="19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69" name="Line 53"/>
                <p:cNvSpPr>
                  <a:spLocks noChangeShapeType="1"/>
                </p:cNvSpPr>
                <p:nvPr/>
              </p:nvSpPr>
              <p:spPr bwMode="auto">
                <a:xfrm>
                  <a:off x="864" y="3216"/>
                  <a:ext cx="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70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912" y="3216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71" name="Line 55"/>
                <p:cNvSpPr>
                  <a:spLocks noChangeShapeType="1"/>
                </p:cNvSpPr>
                <p:nvPr/>
              </p:nvSpPr>
              <p:spPr bwMode="auto">
                <a:xfrm>
                  <a:off x="912" y="2880"/>
                  <a:ext cx="0" cy="2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72" name="Line 56"/>
                <p:cNvSpPr>
                  <a:spLocks noChangeShapeType="1"/>
                </p:cNvSpPr>
                <p:nvPr/>
              </p:nvSpPr>
              <p:spPr bwMode="auto">
                <a:xfrm>
                  <a:off x="1920" y="2880"/>
                  <a:ext cx="0" cy="2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73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1920" y="3216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</p:grpSp>
          <p:grpSp>
            <p:nvGrpSpPr>
              <p:cNvPr id="34874" name="Group 58"/>
              <p:cNvGrpSpPr>
                <a:grpSpLocks/>
              </p:cNvGrpSpPr>
              <p:nvPr/>
            </p:nvGrpSpPr>
            <p:grpSpPr bwMode="auto">
              <a:xfrm>
                <a:off x="1773" y="1819"/>
                <a:ext cx="421" cy="401"/>
                <a:chOff x="1473" y="2832"/>
                <a:chExt cx="303" cy="299"/>
              </a:xfrm>
            </p:grpSpPr>
            <p:sp>
              <p:nvSpPr>
                <p:cNvPr id="34875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473" y="2916"/>
                  <a:ext cx="176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隶书" panose="02010509060101010101" pitchFamily="49" charset="-122"/>
                      <a:cs typeface="+mn-cs"/>
                    </a:rPr>
                    <a:t>R</a:t>
                  </a:r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76" name="Rectangle 60"/>
                <p:cNvSpPr>
                  <a:spLocks noChangeArrowheads="1"/>
                </p:cNvSpPr>
                <p:nvPr/>
              </p:nvSpPr>
              <p:spPr bwMode="auto">
                <a:xfrm>
                  <a:off x="1536" y="2832"/>
                  <a:ext cx="240" cy="96"/>
                </a:xfrm>
                <a:prstGeom prst="rect">
                  <a:avLst/>
                </a:prstGeom>
                <a:solidFill>
                  <a:srgbClr val="99FF99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34877" name="Text Box 61"/>
              <p:cNvSpPr txBox="1">
                <a:spLocks noChangeArrowheads="1"/>
              </p:cNvSpPr>
              <p:nvPr/>
            </p:nvSpPr>
            <p:spPr bwMode="auto">
              <a:xfrm>
                <a:off x="2509" y="219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rPr>
                  <a:t>C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grpSp>
            <p:nvGrpSpPr>
              <p:cNvPr id="34878" name="Group 62"/>
              <p:cNvGrpSpPr>
                <a:grpSpLocks/>
              </p:cNvGrpSpPr>
              <p:nvPr/>
            </p:nvGrpSpPr>
            <p:grpSpPr bwMode="auto">
              <a:xfrm>
                <a:off x="2228" y="1488"/>
                <a:ext cx="232" cy="331"/>
                <a:chOff x="1801" y="2586"/>
                <a:chExt cx="167" cy="246"/>
              </a:xfrm>
            </p:grpSpPr>
            <p:sp>
              <p:nvSpPr>
                <p:cNvPr id="3487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801" y="2586"/>
                  <a:ext cx="128" cy="2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800" b="1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隶书" panose="02010509060101010101" pitchFamily="49" charset="-122"/>
                      <a:cs typeface="+mn-cs"/>
                    </a:rPr>
                    <a:t>i</a:t>
                  </a:r>
                  <a:endPara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4880" name="Line 64"/>
                <p:cNvSpPr>
                  <a:spLocks noChangeShapeType="1"/>
                </p:cNvSpPr>
                <p:nvPr/>
              </p:nvSpPr>
              <p:spPr bwMode="auto">
                <a:xfrm>
                  <a:off x="1824" y="2832"/>
                  <a:ext cx="14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34881" name="Line 65"/>
              <p:cNvSpPr>
                <a:spLocks noChangeShapeType="1"/>
              </p:cNvSpPr>
              <p:nvPr/>
            </p:nvSpPr>
            <p:spPr bwMode="auto">
              <a:xfrm flipH="1">
                <a:off x="1259" y="1883"/>
                <a:ext cx="334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34882" name="Line 66"/>
              <p:cNvSpPr>
                <a:spLocks noChangeShapeType="1"/>
              </p:cNvSpPr>
              <p:nvPr/>
            </p:nvSpPr>
            <p:spPr bwMode="auto">
              <a:xfrm>
                <a:off x="1459" y="1948"/>
                <a:ext cx="0" cy="70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34883" name="Line 67"/>
              <p:cNvSpPr>
                <a:spLocks noChangeShapeType="1"/>
              </p:cNvSpPr>
              <p:nvPr/>
            </p:nvSpPr>
            <p:spPr bwMode="auto">
              <a:xfrm flipH="1" flipV="1">
                <a:off x="1326" y="2012"/>
                <a:ext cx="67" cy="1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</p:grpSp>
        <p:sp>
          <p:nvSpPr>
            <p:cNvPr id="34884" name="Text Box 68"/>
            <p:cNvSpPr txBox="1">
              <a:spLocks noChangeArrowheads="1"/>
            </p:cNvSpPr>
            <p:nvPr/>
          </p:nvSpPr>
          <p:spPr bwMode="auto">
            <a:xfrm>
              <a:off x="1104" y="1584"/>
              <a:ext cx="5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 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t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=</a:t>
              </a:r>
              <a:r>
                <a: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 0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</p:grpSp>
      <p:sp>
        <p:nvSpPr>
          <p:cNvPr id="34885" name="Text Box 69"/>
          <p:cNvSpPr txBox="1">
            <a:spLocks noChangeArrowheads="1"/>
          </p:cNvSpPr>
          <p:nvPr/>
        </p:nvSpPr>
        <p:spPr bwMode="auto">
          <a:xfrm>
            <a:off x="4787900" y="4437063"/>
            <a:ext cx="326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</a:t>
            </a:r>
            <a:r>
              <a: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接通电源后很长时间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3" name="Rectangle 6"/>
          <p:cNvSpPr txBox="1">
            <a:spLocks noChangeArrowheads="1"/>
          </p:cNvSpPr>
          <p:nvPr/>
        </p:nvSpPr>
        <p:spPr bwMode="auto">
          <a:xfrm>
            <a:off x="152400" y="115888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隶书" panose="02010509060101010101" pitchFamily="49" charset="-122"/>
                <a:cs typeface="+mj-cs"/>
              </a:rPr>
              <a:t>7.4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隶书" panose="02010509060101010101" pitchFamily="49" charset="-122"/>
                <a:cs typeface="+mj-cs"/>
              </a:rPr>
              <a:t>动态电路的暂态分析概述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隶书" panose="020105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577339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autoUpdateAnimBg="0"/>
      <p:bldP spid="34820" grpId="0" autoUpdateAnimBg="0"/>
      <p:bldP spid="34821" grpId="0" build="p" autoUpdateAnimBg="0"/>
      <p:bldP spid="34822" grpId="0" build="p" autoUpdateAnimBg="0"/>
      <p:bldP spid="34851" grpId="0" build="p" autoUpdateAnimBg="0"/>
      <p:bldP spid="34885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>
            <a:grpSpLocks/>
          </p:cNvGrpSpPr>
          <p:nvPr/>
        </p:nvGrpSpPr>
        <p:grpSpPr bwMode="auto">
          <a:xfrm>
            <a:off x="473075" y="473075"/>
            <a:ext cx="3546475" cy="1879600"/>
            <a:chOff x="667" y="1578"/>
            <a:chExt cx="1607" cy="881"/>
          </a:xfrm>
        </p:grpSpPr>
        <p:grpSp>
          <p:nvGrpSpPr>
            <p:cNvPr id="36867" name="Group 3"/>
            <p:cNvGrpSpPr>
              <a:grpSpLocks/>
            </p:cNvGrpSpPr>
            <p:nvPr/>
          </p:nvGrpSpPr>
          <p:grpSpPr bwMode="auto">
            <a:xfrm>
              <a:off x="1920" y="2160"/>
              <a:ext cx="192" cy="48"/>
              <a:chOff x="2112" y="3648"/>
              <a:chExt cx="192" cy="48"/>
            </a:xfrm>
          </p:grpSpPr>
          <p:sp>
            <p:nvSpPr>
              <p:cNvPr id="36868" name="Line 4"/>
              <p:cNvSpPr>
                <a:spLocks noChangeShapeType="1"/>
              </p:cNvSpPr>
              <p:nvPr/>
            </p:nvSpPr>
            <p:spPr bwMode="auto">
              <a:xfrm>
                <a:off x="2112" y="3648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69" name="Line 5"/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70" name="Text Box 6"/>
            <p:cNvSpPr txBox="1">
              <a:spLocks noChangeArrowheads="1"/>
            </p:cNvSpPr>
            <p:nvPr/>
          </p:nvSpPr>
          <p:spPr bwMode="auto">
            <a:xfrm>
              <a:off x="1152" y="2005"/>
              <a:ext cx="160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36871" name="Group 7"/>
            <p:cNvGrpSpPr>
              <a:grpSpLocks/>
            </p:cNvGrpSpPr>
            <p:nvPr/>
          </p:nvGrpSpPr>
          <p:grpSpPr bwMode="auto">
            <a:xfrm>
              <a:off x="1722" y="1861"/>
              <a:ext cx="248" cy="598"/>
              <a:chOff x="1578" y="1285"/>
              <a:chExt cx="248" cy="598"/>
            </a:xfrm>
          </p:grpSpPr>
          <p:grpSp>
            <p:nvGrpSpPr>
              <p:cNvPr id="36872" name="Group 8"/>
              <p:cNvGrpSpPr>
                <a:grpSpLocks/>
              </p:cNvGrpSpPr>
              <p:nvPr/>
            </p:nvGrpSpPr>
            <p:grpSpPr bwMode="auto">
              <a:xfrm>
                <a:off x="1661" y="1285"/>
                <a:ext cx="165" cy="598"/>
                <a:chOff x="1661" y="1285"/>
                <a:chExt cx="165" cy="598"/>
              </a:xfrm>
            </p:grpSpPr>
            <p:sp>
              <p:nvSpPr>
                <p:cNvPr id="36873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664" y="1285"/>
                  <a:ext cx="162" cy="2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3687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661" y="1669"/>
                  <a:ext cx="153" cy="2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–</a:t>
                  </a:r>
                </a:p>
              </p:txBody>
            </p:sp>
          </p:grpSp>
          <p:sp>
            <p:nvSpPr>
              <p:cNvPr id="36875" name="Text Box 11"/>
              <p:cNvSpPr txBox="1">
                <a:spLocks noChangeArrowheads="1"/>
              </p:cNvSpPr>
              <p:nvPr/>
            </p:nvSpPr>
            <p:spPr bwMode="auto">
              <a:xfrm>
                <a:off x="1578" y="1438"/>
                <a:ext cx="247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32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C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876" name="Text Box 12"/>
            <p:cNvSpPr txBox="1">
              <a:spLocks noChangeArrowheads="1"/>
            </p:cNvSpPr>
            <p:nvPr/>
          </p:nvSpPr>
          <p:spPr bwMode="auto">
            <a:xfrm>
              <a:off x="667" y="2053"/>
              <a:ext cx="234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36877" name="Group 13"/>
            <p:cNvGrpSpPr>
              <a:grpSpLocks/>
            </p:cNvGrpSpPr>
            <p:nvPr/>
          </p:nvGrpSpPr>
          <p:grpSpPr bwMode="auto">
            <a:xfrm>
              <a:off x="912" y="1872"/>
              <a:ext cx="1104" cy="576"/>
              <a:chOff x="816" y="2880"/>
              <a:chExt cx="1104" cy="576"/>
            </a:xfrm>
          </p:grpSpPr>
          <p:sp>
            <p:nvSpPr>
              <p:cNvPr id="36878" name="Line 14"/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79" name="Line 15"/>
              <p:cNvSpPr>
                <a:spLocks noChangeShapeType="1"/>
              </p:cNvSpPr>
              <p:nvPr/>
            </p:nvSpPr>
            <p:spPr bwMode="auto">
              <a:xfrm>
                <a:off x="912" y="3456"/>
                <a:ext cx="10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0" name="Line 16"/>
              <p:cNvSpPr>
                <a:spLocks noChangeShapeType="1"/>
              </p:cNvSpPr>
              <p:nvPr/>
            </p:nvSpPr>
            <p:spPr bwMode="auto">
              <a:xfrm flipH="1">
                <a:off x="1344" y="2880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1" name="Line 17"/>
              <p:cNvSpPr>
                <a:spLocks noChangeShapeType="1"/>
              </p:cNvSpPr>
              <p:nvPr/>
            </p:nvSpPr>
            <p:spPr bwMode="auto">
              <a:xfrm>
                <a:off x="816" y="3168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2" name="Line 18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3" name="Line 19"/>
              <p:cNvSpPr>
                <a:spLocks noChangeShapeType="1"/>
              </p:cNvSpPr>
              <p:nvPr/>
            </p:nvSpPr>
            <p:spPr bwMode="auto">
              <a:xfrm flipV="1">
                <a:off x="912" y="3216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4" name="Line 20"/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5" name="Line 21"/>
              <p:cNvSpPr>
                <a:spLocks noChangeShapeType="1"/>
              </p:cNvSpPr>
              <p:nvPr/>
            </p:nvSpPr>
            <p:spPr bwMode="auto">
              <a:xfrm>
                <a:off x="1920" y="2880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6" name="Line 22"/>
              <p:cNvSpPr>
                <a:spLocks noChangeShapeType="1"/>
              </p:cNvSpPr>
              <p:nvPr/>
            </p:nvSpPr>
            <p:spPr bwMode="auto">
              <a:xfrm flipV="1">
                <a:off x="1920" y="3216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6887" name="Group 23"/>
            <p:cNvGrpSpPr>
              <a:grpSpLocks/>
            </p:cNvGrpSpPr>
            <p:nvPr/>
          </p:nvGrpSpPr>
          <p:grpSpPr bwMode="auto">
            <a:xfrm>
              <a:off x="1569" y="1824"/>
              <a:ext cx="303" cy="299"/>
              <a:chOff x="1473" y="2832"/>
              <a:chExt cx="303" cy="299"/>
            </a:xfrm>
          </p:grpSpPr>
          <p:sp>
            <p:nvSpPr>
              <p:cNvPr id="36888" name="Text Box 24"/>
              <p:cNvSpPr txBox="1">
                <a:spLocks noChangeArrowheads="1"/>
              </p:cNvSpPr>
              <p:nvPr/>
            </p:nvSpPr>
            <p:spPr bwMode="auto">
              <a:xfrm>
                <a:off x="1473" y="2916"/>
                <a:ext cx="175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9" name="Rectangle 25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240" cy="96"/>
              </a:xfrm>
              <a:prstGeom prst="rect">
                <a:avLst/>
              </a:prstGeom>
              <a:solidFill>
                <a:srgbClr val="99FF9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90" name="Text Box 26"/>
            <p:cNvSpPr txBox="1">
              <a:spLocks noChangeArrowheads="1"/>
            </p:cNvSpPr>
            <p:nvPr/>
          </p:nvSpPr>
          <p:spPr bwMode="auto">
            <a:xfrm>
              <a:off x="2099" y="2100"/>
              <a:ext cx="175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36891" name="Group 27"/>
            <p:cNvGrpSpPr>
              <a:grpSpLocks/>
            </p:cNvGrpSpPr>
            <p:nvPr/>
          </p:nvGrpSpPr>
          <p:grpSpPr bwMode="auto">
            <a:xfrm>
              <a:off x="1897" y="1578"/>
              <a:ext cx="167" cy="246"/>
              <a:chOff x="1801" y="2586"/>
              <a:chExt cx="167" cy="246"/>
            </a:xfrm>
          </p:grpSpPr>
          <p:sp>
            <p:nvSpPr>
              <p:cNvPr id="36892" name="Text Box 28"/>
              <p:cNvSpPr txBox="1">
                <a:spLocks noChangeArrowheads="1"/>
              </p:cNvSpPr>
              <p:nvPr/>
            </p:nvSpPr>
            <p:spPr bwMode="auto">
              <a:xfrm>
                <a:off x="1801" y="2586"/>
                <a:ext cx="128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i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3" name="Line 29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94" name="Line 30"/>
            <p:cNvSpPr>
              <a:spLocks noChangeShapeType="1"/>
            </p:cNvSpPr>
            <p:nvPr/>
          </p:nvSpPr>
          <p:spPr bwMode="auto">
            <a:xfrm flipH="1">
              <a:off x="1200" y="1872"/>
              <a:ext cx="24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5" name="Line 31"/>
            <p:cNvSpPr>
              <a:spLocks noChangeShapeType="1"/>
            </p:cNvSpPr>
            <p:nvPr/>
          </p:nvSpPr>
          <p:spPr bwMode="auto">
            <a:xfrm>
              <a:off x="1344" y="1920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6" name="Line 32"/>
            <p:cNvSpPr>
              <a:spLocks noChangeShapeType="1"/>
            </p:cNvSpPr>
            <p:nvPr/>
          </p:nvSpPr>
          <p:spPr bwMode="auto">
            <a:xfrm flipH="1" flipV="1">
              <a:off x="1248" y="1968"/>
              <a:ext cx="4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897" name="Text Box 33"/>
          <p:cNvSpPr txBox="1">
            <a:spLocks noChangeArrowheads="1"/>
          </p:cNvSpPr>
          <p:nvPr/>
        </p:nvSpPr>
        <p:spPr bwMode="auto">
          <a:xfrm>
            <a:off x="3765550" y="2378075"/>
            <a:ext cx="13827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000" b="1">
                <a:latin typeface="Times New Roman" panose="02020603050405020304" pitchFamily="18" charset="0"/>
              </a:rPr>
              <a:t>初始状态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6898" name="Text Box 34"/>
          <p:cNvSpPr txBox="1">
            <a:spLocks noChangeArrowheads="1"/>
          </p:cNvSpPr>
          <p:nvPr/>
        </p:nvSpPr>
        <p:spPr bwMode="auto">
          <a:xfrm>
            <a:off x="5060950" y="2759075"/>
            <a:ext cx="14906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000" b="1">
                <a:latin typeface="Times New Roman" panose="02020603050405020304" pitchFamily="18" charset="0"/>
              </a:rPr>
              <a:t>过渡状态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6899" name="Text Box 35"/>
          <p:cNvSpPr txBox="1">
            <a:spLocks noChangeArrowheads="1"/>
          </p:cNvSpPr>
          <p:nvPr/>
        </p:nvSpPr>
        <p:spPr bwMode="auto">
          <a:xfrm>
            <a:off x="6432550" y="2378075"/>
            <a:ext cx="1235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000" b="1">
                <a:latin typeface="Times New Roman" panose="02020603050405020304" pitchFamily="18" charset="0"/>
              </a:rPr>
              <a:t>新稳态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6900" name="Text Box 36"/>
          <p:cNvSpPr txBox="1">
            <a:spLocks noChangeArrowheads="1"/>
          </p:cNvSpPr>
          <p:nvPr/>
        </p:nvSpPr>
        <p:spPr bwMode="auto">
          <a:xfrm>
            <a:off x="971550" y="3429000"/>
            <a:ext cx="72009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620838" indent="-16208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882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0621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241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209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8781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353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92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49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过渡过程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： 电路由一个稳态过渡到另一个稳态需要经历的过程。</a:t>
            </a:r>
          </a:p>
        </p:txBody>
      </p:sp>
      <p:grpSp>
        <p:nvGrpSpPr>
          <p:cNvPr id="36901" name="Group 37"/>
          <p:cNvGrpSpPr>
            <a:grpSpLocks/>
          </p:cNvGrpSpPr>
          <p:nvPr/>
        </p:nvGrpSpPr>
        <p:grpSpPr bwMode="auto">
          <a:xfrm>
            <a:off x="5975350" y="1006475"/>
            <a:ext cx="369888" cy="1752600"/>
            <a:chOff x="3724" y="336"/>
            <a:chExt cx="233" cy="1104"/>
          </a:xfrm>
        </p:grpSpPr>
        <p:sp>
          <p:nvSpPr>
            <p:cNvPr id="36902" name="Text Box 38"/>
            <p:cNvSpPr txBox="1">
              <a:spLocks noChangeArrowheads="1"/>
            </p:cNvSpPr>
            <p:nvPr/>
          </p:nvSpPr>
          <p:spPr bwMode="auto">
            <a:xfrm>
              <a:off x="3724" y="1152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6903" name="Line 39"/>
            <p:cNvSpPr>
              <a:spLocks noChangeShapeType="1"/>
            </p:cNvSpPr>
            <p:nvPr/>
          </p:nvSpPr>
          <p:spPr bwMode="auto">
            <a:xfrm>
              <a:off x="3840" y="336"/>
              <a:ext cx="0" cy="912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04" name="Group 40"/>
          <p:cNvGrpSpPr>
            <a:grpSpLocks/>
          </p:cNvGrpSpPr>
          <p:nvPr/>
        </p:nvGrpSpPr>
        <p:grpSpPr bwMode="auto">
          <a:xfrm>
            <a:off x="6127750" y="854075"/>
            <a:ext cx="1447800" cy="533400"/>
            <a:chOff x="3840" y="240"/>
            <a:chExt cx="912" cy="336"/>
          </a:xfrm>
        </p:grpSpPr>
        <p:sp>
          <p:nvSpPr>
            <p:cNvPr id="36905" name="Line 41"/>
            <p:cNvSpPr>
              <a:spLocks noChangeShapeType="1"/>
            </p:cNvSpPr>
            <p:nvPr/>
          </p:nvSpPr>
          <p:spPr bwMode="auto">
            <a:xfrm>
              <a:off x="3840" y="576"/>
              <a:ext cx="91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6" name="Text Box 42"/>
            <p:cNvSpPr txBox="1">
              <a:spLocks noChangeArrowheads="1"/>
            </p:cNvSpPr>
            <p:nvPr/>
          </p:nvSpPr>
          <p:spPr bwMode="auto">
            <a:xfrm>
              <a:off x="4176" y="240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907" name="Group 43"/>
          <p:cNvGrpSpPr>
            <a:grpSpLocks/>
          </p:cNvGrpSpPr>
          <p:nvPr/>
        </p:nvGrpSpPr>
        <p:grpSpPr bwMode="auto">
          <a:xfrm>
            <a:off x="4375150" y="701675"/>
            <a:ext cx="3944938" cy="1981200"/>
            <a:chOff x="2736" y="144"/>
            <a:chExt cx="2485" cy="1248"/>
          </a:xfrm>
        </p:grpSpPr>
        <p:sp>
          <p:nvSpPr>
            <p:cNvPr id="36908" name="Line 44"/>
            <p:cNvSpPr>
              <a:spLocks noChangeShapeType="1"/>
            </p:cNvSpPr>
            <p:nvPr/>
          </p:nvSpPr>
          <p:spPr bwMode="auto">
            <a:xfrm>
              <a:off x="2736" y="1104"/>
              <a:ext cx="2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9" name="Line 45"/>
            <p:cNvSpPr>
              <a:spLocks noChangeShapeType="1"/>
            </p:cNvSpPr>
            <p:nvPr/>
          </p:nvSpPr>
          <p:spPr bwMode="auto">
            <a:xfrm flipH="1" flipV="1">
              <a:off x="3216" y="240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0" name="Text Box 46"/>
            <p:cNvSpPr txBox="1">
              <a:spLocks noChangeArrowheads="1"/>
            </p:cNvSpPr>
            <p:nvPr/>
          </p:nvSpPr>
          <p:spPr bwMode="auto">
            <a:xfrm>
              <a:off x="3207" y="1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6911" name="Text Box 47"/>
            <p:cNvSpPr txBox="1">
              <a:spLocks noChangeArrowheads="1"/>
            </p:cNvSpPr>
            <p:nvPr/>
          </p:nvSpPr>
          <p:spPr bwMode="auto">
            <a:xfrm>
              <a:off x="5052" y="1056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6912" name="Text Box 48"/>
            <p:cNvSpPr txBox="1">
              <a:spLocks noChangeArrowheads="1"/>
            </p:cNvSpPr>
            <p:nvPr/>
          </p:nvSpPr>
          <p:spPr bwMode="auto">
            <a:xfrm>
              <a:off x="3216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6913" name="Line 49"/>
          <p:cNvSpPr>
            <a:spLocks noChangeShapeType="1"/>
          </p:cNvSpPr>
          <p:nvPr/>
        </p:nvSpPr>
        <p:spPr bwMode="auto">
          <a:xfrm>
            <a:off x="4070350" y="2225675"/>
            <a:ext cx="10668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14" name="Text Box 50"/>
          <p:cNvSpPr txBox="1">
            <a:spLocks noChangeArrowheads="1"/>
          </p:cNvSpPr>
          <p:nvPr/>
        </p:nvSpPr>
        <p:spPr bwMode="auto">
          <a:xfrm>
            <a:off x="5137150" y="1235075"/>
            <a:ext cx="8699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4800" b="1">
                <a:solidFill>
                  <a:srgbClr val="FF0000"/>
                </a:solidFill>
                <a:latin typeface="Times New Roman" panose="02020603050405020304" pitchFamily="18" charset="0"/>
              </a:rPr>
              <a:t>?</a:t>
            </a:r>
            <a:endParaRPr kumimoji="1"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15" name="Text Box 51"/>
          <p:cNvSpPr txBox="1">
            <a:spLocks noChangeArrowheads="1"/>
          </p:cNvSpPr>
          <p:nvPr/>
        </p:nvSpPr>
        <p:spPr bwMode="auto">
          <a:xfrm>
            <a:off x="1042988" y="4652963"/>
            <a:ext cx="3857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过渡状态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（瞬态、暂态）</a:t>
            </a:r>
          </a:p>
        </p:txBody>
      </p:sp>
      <p:sp>
        <p:nvSpPr>
          <p:cNvPr id="36917" name="Freeform 53"/>
          <p:cNvSpPr>
            <a:spLocks/>
          </p:cNvSpPr>
          <p:nvPr/>
        </p:nvSpPr>
        <p:spPr bwMode="auto">
          <a:xfrm>
            <a:off x="5140325" y="1395413"/>
            <a:ext cx="1023938" cy="836612"/>
          </a:xfrm>
          <a:custGeom>
            <a:avLst/>
            <a:gdLst>
              <a:gd name="T0" fmla="*/ 0 w 645"/>
              <a:gd name="T1" fmla="*/ 527 h 527"/>
              <a:gd name="T2" fmla="*/ 645 w 645"/>
              <a:gd name="T3" fmla="*/ 0 h 52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45" h="527">
                <a:moveTo>
                  <a:pt x="0" y="527"/>
                </a:moveTo>
                <a:cubicBezTo>
                  <a:pt x="267" y="308"/>
                  <a:pt x="535" y="89"/>
                  <a:pt x="645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18" name="Freeform 54"/>
          <p:cNvSpPr>
            <a:spLocks/>
          </p:cNvSpPr>
          <p:nvPr/>
        </p:nvSpPr>
        <p:spPr bwMode="auto">
          <a:xfrm>
            <a:off x="5140325" y="1377950"/>
            <a:ext cx="1052513" cy="841375"/>
          </a:xfrm>
          <a:custGeom>
            <a:avLst/>
            <a:gdLst>
              <a:gd name="T0" fmla="*/ 0 w 663"/>
              <a:gd name="T1" fmla="*/ 530 h 530"/>
              <a:gd name="T2" fmla="*/ 94 w 663"/>
              <a:gd name="T3" fmla="*/ 276 h 530"/>
              <a:gd name="T4" fmla="*/ 220 w 663"/>
              <a:gd name="T5" fmla="*/ 90 h 530"/>
              <a:gd name="T6" fmla="*/ 409 w 663"/>
              <a:gd name="T7" fmla="*/ 21 h 530"/>
              <a:gd name="T8" fmla="*/ 582 w 663"/>
              <a:gd name="T9" fmla="*/ 3 h 530"/>
              <a:gd name="T10" fmla="*/ 663 w 663"/>
              <a:gd name="T11" fmla="*/ 3 h 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63" h="530">
                <a:moveTo>
                  <a:pt x="0" y="530"/>
                </a:moveTo>
                <a:cubicBezTo>
                  <a:pt x="16" y="488"/>
                  <a:pt x="57" y="349"/>
                  <a:pt x="94" y="276"/>
                </a:cubicBezTo>
                <a:cubicBezTo>
                  <a:pt x="131" y="203"/>
                  <a:pt x="168" y="132"/>
                  <a:pt x="220" y="90"/>
                </a:cubicBezTo>
                <a:cubicBezTo>
                  <a:pt x="272" y="48"/>
                  <a:pt x="349" y="36"/>
                  <a:pt x="409" y="21"/>
                </a:cubicBezTo>
                <a:cubicBezTo>
                  <a:pt x="469" y="6"/>
                  <a:pt x="540" y="6"/>
                  <a:pt x="582" y="3"/>
                </a:cubicBezTo>
                <a:cubicBezTo>
                  <a:pt x="624" y="0"/>
                  <a:pt x="651" y="3"/>
                  <a:pt x="663" y="3"/>
                </a:cubicBezTo>
              </a:path>
            </a:pathLst>
          </a:custGeom>
          <a:noFill/>
          <a:ln w="28575" cap="flat" cmpd="sng">
            <a:solidFill>
              <a:srgbClr val="0066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17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36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97" grpId="0" build="p" autoUpdateAnimBg="0"/>
      <p:bldP spid="36898" grpId="0" build="p" autoUpdateAnimBg="0"/>
      <p:bldP spid="36899" grpId="0" build="p" autoUpdateAnimBg="0"/>
      <p:bldP spid="36900" grpId="0" build="p" autoUpdateAnimBg="0"/>
      <p:bldP spid="36914" grpId="0" autoUpdateAnimBg="0"/>
      <p:bldP spid="36915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79388" y="290513"/>
            <a:ext cx="590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2.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过渡过程产生的原因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611188" y="836613"/>
            <a:ext cx="628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）电路内部含有储能元件</a:t>
            </a:r>
            <a:endParaRPr kumimoji="1" lang="en-US" altLang="zh-CN" sz="2400" b="1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042988" y="1412875"/>
            <a:ext cx="6510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能量的储存和释放都需要一定的时间来完成。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1908175" y="2276475"/>
          <a:ext cx="13081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45760" imgH="406080" progId="Equation.3">
                  <p:embed/>
                </p:oleObj>
              </mc:Choice>
              <mc:Fallback>
                <p:oleObj name="公式" r:id="rId3" imgW="545760" imgH="406080" progId="Equation.3">
                  <p:embed/>
                  <p:pic>
                    <p:nvPicPr>
                      <p:cNvPr id="38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276475"/>
                        <a:ext cx="13081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560388" y="4367213"/>
            <a:ext cx="370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0066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66FF"/>
                </a:solidFill>
                <a:latin typeface="Times New Roman" panose="02020603050405020304" pitchFamily="18" charset="0"/>
              </a:rPr>
              <a:t>）电路结构发生变化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1846263" y="5087938"/>
            <a:ext cx="407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支路接入或断开； 参数变化</a:t>
            </a:r>
          </a:p>
        </p:txBody>
      </p:sp>
      <p:grpSp>
        <p:nvGrpSpPr>
          <p:cNvPr id="38945" name="Group 33"/>
          <p:cNvGrpSpPr>
            <a:grpSpLocks/>
          </p:cNvGrpSpPr>
          <p:nvPr/>
        </p:nvGrpSpPr>
        <p:grpSpPr bwMode="auto">
          <a:xfrm>
            <a:off x="3727450" y="2276475"/>
            <a:ext cx="2859088" cy="1600200"/>
            <a:chOff x="2348" y="1434"/>
            <a:chExt cx="1801" cy="1008"/>
          </a:xfrm>
        </p:grpSpPr>
        <p:sp>
          <p:nvSpPr>
            <p:cNvPr id="38921" name="Rectangle 9"/>
            <p:cNvSpPr>
              <a:spLocks noChangeArrowheads="1"/>
            </p:cNvSpPr>
            <p:nvPr/>
          </p:nvSpPr>
          <p:spPr bwMode="auto">
            <a:xfrm>
              <a:off x="3237" y="1626"/>
              <a:ext cx="240" cy="96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2" name="Rectangle 10"/>
            <p:cNvSpPr>
              <a:spLocks noChangeArrowheads="1"/>
            </p:cNvSpPr>
            <p:nvPr/>
          </p:nvSpPr>
          <p:spPr bwMode="auto">
            <a:xfrm>
              <a:off x="3621" y="2010"/>
              <a:ext cx="96" cy="240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3" name="Rectangle 11"/>
            <p:cNvSpPr>
              <a:spLocks noChangeArrowheads="1"/>
            </p:cNvSpPr>
            <p:nvPr/>
          </p:nvSpPr>
          <p:spPr bwMode="auto">
            <a:xfrm>
              <a:off x="4053" y="2010"/>
              <a:ext cx="96" cy="240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4" name="Oval 12"/>
            <p:cNvSpPr>
              <a:spLocks noChangeArrowheads="1"/>
            </p:cNvSpPr>
            <p:nvPr/>
          </p:nvSpPr>
          <p:spPr bwMode="auto">
            <a:xfrm>
              <a:off x="2613" y="1914"/>
              <a:ext cx="272" cy="272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>
              <a:off x="2757" y="1674"/>
              <a:ext cx="0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6" name="Line 14"/>
            <p:cNvSpPr>
              <a:spLocks noChangeShapeType="1"/>
            </p:cNvSpPr>
            <p:nvPr/>
          </p:nvSpPr>
          <p:spPr bwMode="auto">
            <a:xfrm>
              <a:off x="2997" y="167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7" name="Line 15"/>
            <p:cNvSpPr>
              <a:spLocks noChangeShapeType="1"/>
            </p:cNvSpPr>
            <p:nvPr/>
          </p:nvSpPr>
          <p:spPr bwMode="auto">
            <a:xfrm>
              <a:off x="3477" y="1674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8" name="Line 16"/>
            <p:cNvSpPr>
              <a:spLocks noChangeShapeType="1"/>
            </p:cNvSpPr>
            <p:nvPr/>
          </p:nvSpPr>
          <p:spPr bwMode="auto">
            <a:xfrm>
              <a:off x="3669" y="1674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9" name="Line 17"/>
            <p:cNvSpPr>
              <a:spLocks noChangeShapeType="1"/>
            </p:cNvSpPr>
            <p:nvPr/>
          </p:nvSpPr>
          <p:spPr bwMode="auto">
            <a:xfrm>
              <a:off x="3669" y="225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0" name="Line 18"/>
            <p:cNvSpPr>
              <a:spLocks noChangeShapeType="1"/>
            </p:cNvSpPr>
            <p:nvPr/>
          </p:nvSpPr>
          <p:spPr bwMode="auto">
            <a:xfrm>
              <a:off x="3621" y="1674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1" name="Line 19"/>
            <p:cNvSpPr>
              <a:spLocks noChangeShapeType="1"/>
            </p:cNvSpPr>
            <p:nvPr/>
          </p:nvSpPr>
          <p:spPr bwMode="auto">
            <a:xfrm>
              <a:off x="4101" y="1674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2" name="Line 20"/>
            <p:cNvSpPr>
              <a:spLocks noChangeShapeType="1"/>
            </p:cNvSpPr>
            <p:nvPr/>
          </p:nvSpPr>
          <p:spPr bwMode="auto">
            <a:xfrm>
              <a:off x="4101" y="225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3" name="Line 21"/>
            <p:cNvSpPr>
              <a:spLocks noChangeShapeType="1"/>
            </p:cNvSpPr>
            <p:nvPr/>
          </p:nvSpPr>
          <p:spPr bwMode="auto">
            <a:xfrm>
              <a:off x="2757" y="2442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>
              <a:off x="2805" y="1530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2757" y="1674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 flipH="1">
              <a:off x="2901" y="1434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Text Box 25"/>
            <p:cNvSpPr txBox="1">
              <a:spLocks noChangeArrowheads="1"/>
            </p:cNvSpPr>
            <p:nvPr/>
          </p:nvSpPr>
          <p:spPr bwMode="auto">
            <a:xfrm>
              <a:off x="2517" y="1660"/>
              <a:ext cx="22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8938" name="Text Box 26"/>
            <p:cNvSpPr txBox="1">
              <a:spLocks noChangeArrowheads="1"/>
            </p:cNvSpPr>
            <p:nvPr/>
          </p:nvSpPr>
          <p:spPr bwMode="auto">
            <a:xfrm>
              <a:off x="2348" y="1911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8939" name="Text Box 27"/>
            <p:cNvSpPr txBox="1">
              <a:spLocks noChangeArrowheads="1"/>
            </p:cNvSpPr>
            <p:nvPr/>
          </p:nvSpPr>
          <p:spPr bwMode="auto">
            <a:xfrm>
              <a:off x="3179" y="167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8940" name="Text Box 28"/>
            <p:cNvSpPr txBox="1">
              <a:spLocks noChangeArrowheads="1"/>
            </p:cNvSpPr>
            <p:nvPr/>
          </p:nvSpPr>
          <p:spPr bwMode="auto">
            <a:xfrm>
              <a:off x="3334" y="19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8941" name="Text Box 29"/>
            <p:cNvSpPr txBox="1">
              <a:spLocks noChangeArrowheads="1"/>
            </p:cNvSpPr>
            <p:nvPr/>
          </p:nvSpPr>
          <p:spPr bwMode="auto">
            <a:xfrm>
              <a:off x="3765" y="19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3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42" name="Group 30"/>
          <p:cNvGrpSpPr>
            <a:grpSpLocks/>
          </p:cNvGrpSpPr>
          <p:nvPr/>
        </p:nvGrpSpPr>
        <p:grpSpPr bwMode="auto">
          <a:xfrm>
            <a:off x="1979613" y="5661025"/>
            <a:ext cx="3503612" cy="688975"/>
            <a:chOff x="1208" y="2555"/>
            <a:chExt cx="1983" cy="434"/>
          </a:xfrm>
        </p:grpSpPr>
        <p:sp>
          <p:nvSpPr>
            <p:cNvPr id="38943" name="Text Box 31"/>
            <p:cNvSpPr txBox="1">
              <a:spLocks noChangeArrowheads="1"/>
            </p:cNvSpPr>
            <p:nvPr/>
          </p:nvSpPr>
          <p:spPr bwMode="auto">
            <a:xfrm>
              <a:off x="2020" y="2701"/>
              <a:ext cx="4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solidFill>
                    <a:srgbClr val="FF00FF"/>
                  </a:solidFill>
                  <a:latin typeface="Times New Roman" panose="02020603050405020304" pitchFamily="18" charset="0"/>
                </a:rPr>
                <a:t>换路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8944" name="AutoShape 32"/>
            <p:cNvSpPr>
              <a:spLocks/>
            </p:cNvSpPr>
            <p:nvPr/>
          </p:nvSpPr>
          <p:spPr bwMode="auto">
            <a:xfrm rot="-5400000">
              <a:off x="2126" y="1637"/>
              <a:ext cx="147" cy="1983"/>
            </a:xfrm>
            <a:prstGeom prst="leftBrace">
              <a:avLst>
                <a:gd name="adj1" fmla="val 11241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66076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  <p:bldP spid="38916" grpId="0" build="p" autoUpdateAnimBg="0"/>
      <p:bldP spid="38918" grpId="0" build="p" autoUpdateAnimBg="0"/>
      <p:bldP spid="38919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385763" y="333375"/>
            <a:ext cx="454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3.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稳态分析和暂态分析的区别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368425" y="1196975"/>
            <a:ext cx="7394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稳       态                                 暂       态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773113" y="1889125"/>
            <a:ext cx="295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换路发生很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长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时间后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5405438" y="1930400"/>
            <a:ext cx="3009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换路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刚刚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发生</a:t>
            </a: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5421313" y="2938463"/>
            <a:ext cx="321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kumimoji="1" lang="zh-CN" altLang="en-US" sz="2400" b="1" i="1">
                <a:latin typeface="Times New Roman" panose="02020603050405020304" pitchFamily="18" charset="0"/>
              </a:rPr>
              <a:t>、</a:t>
            </a:r>
            <a:r>
              <a:rPr kumimoji="1" lang="zh-CN" altLang="en-US" sz="2400" b="1" i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随时间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变化</a:t>
            </a: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814388" y="4075113"/>
            <a:ext cx="3109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代数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方程组描述电路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5443538" y="4076700"/>
            <a:ext cx="3421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微分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方程组描述电路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838200" y="3014663"/>
            <a:ext cx="214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kumimoji="1" lang="zh-CN" altLang="en-US" sz="2400" b="1" i="1">
                <a:latin typeface="Times New Roman" panose="02020603050405020304" pitchFamily="18" charset="0"/>
              </a:rPr>
              <a:t>、</a:t>
            </a:r>
            <a:r>
              <a:rPr kumimoji="1" lang="zh-CN" altLang="en-US" sz="2400" b="1" i="1" baseline="-2500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不变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39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  <p:bldP spid="40964" grpId="0" build="p" autoUpdateAnimBg="0"/>
      <p:bldP spid="40965" grpId="0" build="p" autoUpdateAnimBg="0"/>
      <p:bldP spid="40966" grpId="0" build="p" autoUpdateAnimBg="0"/>
      <p:bldP spid="40967" grpId="0" build="p" autoUpdateAnimBg="0"/>
      <p:bldP spid="40968" grpId="0" build="p" autoUpdateAnimBg="0"/>
      <p:bldP spid="40969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1054100" y="1397000"/>
            <a:ext cx="5462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依据：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和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元件约束。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2339975" y="2060575"/>
          <a:ext cx="3452813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812520" progId="Equation.3">
                  <p:embed/>
                </p:oleObj>
              </mc:Choice>
              <mc:Fallback>
                <p:oleObj name="Equation" r:id="rId3" imgW="1549080" imgH="81252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060575"/>
                        <a:ext cx="3452813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2411413" y="4005263"/>
          <a:ext cx="3371850" cy="174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12800" imgH="812520" progId="Equation.3">
                  <p:embed/>
                </p:oleObj>
              </mc:Choice>
              <mc:Fallback>
                <p:oleObj name="Equation" r:id="rId5" imgW="1612800" imgH="812520" progId="Equation.3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005263"/>
                        <a:ext cx="3371850" cy="174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228600" y="655638"/>
            <a:ext cx="635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CC3300"/>
                </a:solidFill>
                <a:ea typeface="隶书" panose="02010509060101010101" pitchFamily="49" charset="-122"/>
              </a:rPr>
              <a:t>2. </a:t>
            </a:r>
            <a:r>
              <a:rPr lang="zh-CN" altLang="en-US">
                <a:solidFill>
                  <a:srgbClr val="CC3300"/>
                </a:solidFill>
                <a:ea typeface="隶书" panose="02010509060101010101" pitchFamily="49" charset="-122"/>
              </a:rPr>
              <a:t>微分方程　</a:t>
            </a:r>
            <a:r>
              <a:rPr lang="en-US" altLang="zh-CN">
                <a:solidFill>
                  <a:srgbClr val="CC3300"/>
                </a:solidFill>
                <a:ea typeface="隶书" panose="02010509060101010101" pitchFamily="49" charset="-122"/>
              </a:rPr>
              <a:t>Differential equation</a:t>
            </a:r>
          </a:p>
        </p:txBody>
      </p:sp>
      <p:sp>
        <p:nvSpPr>
          <p:cNvPr id="11" name="Rectangle 6"/>
          <p:cNvSpPr txBox="1">
            <a:spLocks noChangeArrowheads="1"/>
          </p:cNvSpPr>
          <p:nvPr/>
        </p:nvSpPr>
        <p:spPr bwMode="auto">
          <a:xfrm>
            <a:off x="152400" y="115888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7.4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动态电路的暂态分析概述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2157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487AF6-4B3B-48CB-8D4B-961753A920DA}" type="datetime1">
              <a:rPr lang="zh-CN" altLang="en-US" sz="1400" smtClean="0">
                <a:solidFill>
                  <a:srgbClr val="C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21507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49ABEB-EE64-42C7-B516-C61C820FEB17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25640" name="Object 8"/>
          <p:cNvGraphicFramePr>
            <a:graphicFrameLocks noChangeAspect="1"/>
          </p:cNvGraphicFramePr>
          <p:nvPr/>
        </p:nvGraphicFramePr>
        <p:xfrm>
          <a:off x="339725" y="1125538"/>
          <a:ext cx="3152775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576237" imgH="966130" progId="Visio.Drawing.5">
                  <p:embed/>
                </p:oleObj>
              </mc:Choice>
              <mc:Fallback>
                <p:oleObj name="VISIO" r:id="rId2" imgW="1576237" imgH="966130" progId="Visio.Drawing.5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1125538"/>
                        <a:ext cx="3152775" cy="193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643277"/>
              </p:ext>
            </p:extLst>
          </p:nvPr>
        </p:nvGraphicFramePr>
        <p:xfrm>
          <a:off x="4067944" y="1897013"/>
          <a:ext cx="32750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7589" imgH="393529" progId="Equation.3">
                  <p:embed/>
                </p:oleObj>
              </mc:Choice>
              <mc:Fallback>
                <p:oleObj name="Equation" r:id="rId4" imgW="1637589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1897013"/>
                        <a:ext cx="32750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467880"/>
              </p:ext>
            </p:extLst>
          </p:nvPr>
        </p:nvGraphicFramePr>
        <p:xfrm>
          <a:off x="35496" y="3645024"/>
          <a:ext cx="3909626" cy="1762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197290" imgH="950794" progId="Visio.Drawing.5">
                  <p:embed/>
                </p:oleObj>
              </mc:Choice>
              <mc:Fallback>
                <p:oleObj name="VISIO" r:id="rId6" imgW="2197290" imgH="950794" progId="Visio.Drawing.5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3645024"/>
                        <a:ext cx="3909626" cy="1762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664915"/>
              </p:ext>
            </p:extLst>
          </p:nvPr>
        </p:nvGraphicFramePr>
        <p:xfrm>
          <a:off x="4004692" y="3796885"/>
          <a:ext cx="51038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52700" imgH="393700" progId="Equation.DSMT4">
                  <p:embed/>
                </p:oleObj>
              </mc:Choice>
              <mc:Fallback>
                <p:oleObj name="Equation" r:id="rId8" imgW="2552700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4692" y="3796885"/>
                        <a:ext cx="51038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241405"/>
              </p:ext>
            </p:extLst>
          </p:nvPr>
        </p:nvGraphicFramePr>
        <p:xfrm>
          <a:off x="4004692" y="4708110"/>
          <a:ext cx="35798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700" imgH="419100" progId="Equation.DSMT4">
                  <p:embed/>
                </p:oleObj>
              </mc:Choice>
              <mc:Fallback>
                <p:oleObj name="Equation" r:id="rId10" imgW="17907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4692" y="4708110"/>
                        <a:ext cx="35798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55" name="Rectangle 23"/>
          <p:cNvSpPr>
            <a:spLocks noChangeArrowheads="1"/>
          </p:cNvSpPr>
          <p:nvPr/>
        </p:nvSpPr>
        <p:spPr bwMode="auto">
          <a:xfrm>
            <a:off x="228600" y="655638"/>
            <a:ext cx="635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2. 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微分方程　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Differential equation</a:t>
            </a:r>
          </a:p>
        </p:txBody>
      </p:sp>
      <p:sp>
        <p:nvSpPr>
          <p:cNvPr id="18" name="Rectangle 6"/>
          <p:cNvSpPr txBox="1">
            <a:spLocks noChangeArrowheads="1"/>
          </p:cNvSpPr>
          <p:nvPr/>
        </p:nvSpPr>
        <p:spPr bwMode="auto">
          <a:xfrm>
            <a:off x="152400" y="115888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7.4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动态电路的暂态分析概述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2" name="Rectangle 23"/>
          <p:cNvSpPr>
            <a:spLocks noChangeArrowheads="1"/>
          </p:cNvSpPr>
          <p:nvPr/>
        </p:nvSpPr>
        <p:spPr bwMode="auto">
          <a:xfrm>
            <a:off x="3950415" y="2869077"/>
            <a:ext cx="3789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一阶微分方程 → 一阶电路</a:t>
            </a:r>
            <a:endParaRPr lang="en-US" altLang="zh-CN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3" name="Rectangle 23"/>
          <p:cNvSpPr>
            <a:spLocks noChangeArrowheads="1"/>
          </p:cNvSpPr>
          <p:nvPr/>
        </p:nvSpPr>
        <p:spPr bwMode="auto">
          <a:xfrm>
            <a:off x="4004692" y="5564444"/>
            <a:ext cx="3789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二阶微分方程 → 二阶电路</a:t>
            </a:r>
            <a:endParaRPr lang="en-US" altLang="zh-CN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55" grpId="0" autoUpdateAnimBg="0"/>
      <p:bldP spid="12" grpId="0" autoUpdateAnimBg="0"/>
      <p:bldP spid="1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AF4D62-4AAF-46BA-B8AE-AC4923A40A31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3555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C74645-3D3B-4E8F-919C-1A77E9BF7E16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3557" name="Rectangle 12"/>
          <p:cNvSpPr>
            <a:spLocks noChangeArrowheads="1"/>
          </p:cNvSpPr>
          <p:nvPr/>
        </p:nvSpPr>
        <p:spPr bwMode="auto">
          <a:xfrm>
            <a:off x="1258888" y="92075"/>
            <a:ext cx="635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ea typeface="隶书" panose="02010509060101010101" pitchFamily="49" charset="-122"/>
              </a:rPr>
              <a:t>列写 微分方程</a:t>
            </a:r>
          </a:p>
        </p:txBody>
      </p:sp>
      <p:graphicFrame>
        <p:nvGraphicFramePr>
          <p:cNvPr id="23558" name="Object 15"/>
          <p:cNvGraphicFramePr>
            <a:graphicFrameLocks noChangeAspect="1"/>
          </p:cNvGraphicFramePr>
          <p:nvPr/>
        </p:nvGraphicFramePr>
        <p:xfrm>
          <a:off x="179388" y="620713"/>
          <a:ext cx="4248150" cy="209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288909" imgH="1167570" progId="Visio.Drawing.11">
                  <p:embed/>
                </p:oleObj>
              </mc:Choice>
              <mc:Fallback>
                <p:oleObj name="Visio" r:id="rId2" imgW="2288909" imgH="11675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620713"/>
                        <a:ext cx="4248150" cy="209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16"/>
          <p:cNvSpPr>
            <a:spLocks noChangeArrowheads="1"/>
          </p:cNvSpPr>
          <p:nvPr/>
        </p:nvSpPr>
        <p:spPr bwMode="auto">
          <a:xfrm>
            <a:off x="0" y="4445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folHlink"/>
                </a:solidFill>
                <a:ea typeface="隶书" panose="02010509060101010101" pitchFamily="49" charset="-122"/>
              </a:rPr>
              <a:t>Practice</a:t>
            </a:r>
            <a:endParaRPr lang="zh-CN" altLang="zh-CN" sz="2800">
              <a:solidFill>
                <a:schemeClr val="folHlink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356369" name="Object 17"/>
          <p:cNvGraphicFramePr>
            <a:graphicFrameLocks noChangeAspect="1"/>
          </p:cNvGraphicFramePr>
          <p:nvPr/>
        </p:nvGraphicFramePr>
        <p:xfrm>
          <a:off x="5003800" y="1052513"/>
          <a:ext cx="327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7589" imgH="393529" progId="Equation.DSMT4">
                  <p:embed/>
                </p:oleObj>
              </mc:Choice>
              <mc:Fallback>
                <p:oleObj name="Equation" r:id="rId4" imgW="1637589" imgH="39352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052513"/>
                        <a:ext cx="3276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70" name="Object 18"/>
          <p:cNvGraphicFramePr>
            <a:graphicFrameLocks noChangeAspect="1"/>
          </p:cNvGraphicFramePr>
          <p:nvPr/>
        </p:nvGraphicFramePr>
        <p:xfrm>
          <a:off x="5075238" y="1916113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227" imgH="393529" progId="Equation.DSMT4">
                  <p:embed/>
                </p:oleObj>
              </mc:Choice>
              <mc:Fallback>
                <p:oleObj name="Equation" r:id="rId6" imgW="1320227" imgH="39352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1916113"/>
                        <a:ext cx="2641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71" name="Rectangle 19"/>
          <p:cNvSpPr>
            <a:spLocks noChangeArrowheads="1"/>
          </p:cNvSpPr>
          <p:nvPr/>
        </p:nvSpPr>
        <p:spPr bwMode="auto">
          <a:xfrm>
            <a:off x="5003800" y="476250"/>
            <a:ext cx="196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ea typeface="隶书" panose="02010509060101010101" pitchFamily="49" charset="-122"/>
              </a:rPr>
              <a:t>KVL  </a:t>
            </a:r>
            <a:r>
              <a:rPr lang="zh-CN" altLang="en-US">
                <a:ea typeface="隶书" panose="02010509060101010101" pitchFamily="49" charset="-122"/>
              </a:rPr>
              <a:t>、</a:t>
            </a:r>
            <a:r>
              <a:rPr lang="en-US" altLang="zh-CN">
                <a:ea typeface="隶书" panose="02010509060101010101" pitchFamily="49" charset="-122"/>
              </a:rPr>
              <a:t>KCL:</a:t>
            </a:r>
          </a:p>
        </p:txBody>
      </p:sp>
      <p:graphicFrame>
        <p:nvGraphicFramePr>
          <p:cNvPr id="356372" name="Object 20"/>
          <p:cNvGraphicFramePr>
            <a:graphicFrameLocks noChangeAspect="1"/>
          </p:cNvGraphicFramePr>
          <p:nvPr/>
        </p:nvGraphicFramePr>
        <p:xfrm>
          <a:off x="684213" y="2924175"/>
          <a:ext cx="769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48100" imgH="393700" progId="Equation.DSMT4">
                  <p:embed/>
                </p:oleObj>
              </mc:Choice>
              <mc:Fallback>
                <p:oleObj name="Equation" r:id="rId8" imgW="3848100" imgH="3937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24175"/>
                        <a:ext cx="7696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73" name="Object 21"/>
          <p:cNvGraphicFramePr>
            <a:graphicFrameLocks noChangeAspect="1"/>
          </p:cNvGraphicFramePr>
          <p:nvPr/>
        </p:nvGraphicFramePr>
        <p:xfrm>
          <a:off x="539750" y="3860800"/>
          <a:ext cx="4572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419100" progId="Equation.DSMT4">
                  <p:embed/>
                </p:oleObj>
              </mc:Choice>
              <mc:Fallback>
                <p:oleObj name="Equation" r:id="rId10" imgW="2286000" imgH="419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860800"/>
                        <a:ext cx="4572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74" name="Object 22"/>
          <p:cNvGraphicFramePr>
            <a:graphicFrameLocks noChangeAspect="1"/>
          </p:cNvGraphicFramePr>
          <p:nvPr/>
        </p:nvGraphicFramePr>
        <p:xfrm>
          <a:off x="539750" y="4868863"/>
          <a:ext cx="604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22600" imgH="419100" progId="Equation.DSMT4">
                  <p:embed/>
                </p:oleObj>
              </mc:Choice>
              <mc:Fallback>
                <p:oleObj name="Equation" r:id="rId12" imgW="3022600" imgH="419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868863"/>
                        <a:ext cx="6045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75" name="Object 23"/>
          <p:cNvGraphicFramePr>
            <a:graphicFrameLocks noChangeAspect="1"/>
          </p:cNvGraphicFramePr>
          <p:nvPr/>
        </p:nvGraphicFramePr>
        <p:xfrm>
          <a:off x="590550" y="5805488"/>
          <a:ext cx="594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71800" imgH="419100" progId="Equation.DSMT4">
                  <p:embed/>
                </p:oleObj>
              </mc:Choice>
              <mc:Fallback>
                <p:oleObj name="Equation" r:id="rId14" imgW="2971800" imgH="4191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5805488"/>
                        <a:ext cx="5943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76" name="Rectangle 24"/>
          <p:cNvSpPr>
            <a:spLocks noChangeArrowheads="1"/>
          </p:cNvSpPr>
          <p:nvPr/>
        </p:nvSpPr>
        <p:spPr bwMode="auto">
          <a:xfrm>
            <a:off x="5003800" y="1844675"/>
            <a:ext cx="790575" cy="863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  <p:sp>
        <p:nvSpPr>
          <p:cNvPr id="356377" name="Rectangle 25"/>
          <p:cNvSpPr>
            <a:spLocks noChangeArrowheads="1"/>
          </p:cNvSpPr>
          <p:nvPr/>
        </p:nvSpPr>
        <p:spPr bwMode="auto">
          <a:xfrm>
            <a:off x="7523163" y="1052513"/>
            <a:ext cx="790575" cy="863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6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6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6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6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5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5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5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71" grpId="0"/>
      <p:bldP spid="356376" grpId="0" animBg="1"/>
      <p:bldP spid="35637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>
            <a:off x="5292080" y="3356992"/>
            <a:ext cx="2025650" cy="1460500"/>
            <a:chOff x="3243" y="2031"/>
            <a:chExt cx="1276" cy="920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3283" y="2663"/>
              <a:ext cx="10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时域分析法</a:t>
              </a:r>
            </a:p>
          </p:txBody>
        </p:sp>
        <p:sp>
          <p:nvSpPr>
            <p:cNvPr id="43012" name="Text Box 4"/>
            <p:cNvSpPr txBox="1">
              <a:spLocks noChangeArrowheads="1"/>
            </p:cNvSpPr>
            <p:nvPr/>
          </p:nvSpPr>
          <p:spPr bwMode="auto">
            <a:xfrm>
              <a:off x="3243" y="2327"/>
              <a:ext cx="1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latin typeface="Times New Roman" panose="02020603050405020304" pitchFamily="18" charset="0"/>
                </a:rPr>
                <a:t>复频域分析法</a:t>
              </a:r>
            </a:p>
          </p:txBody>
        </p:sp>
        <p:sp>
          <p:nvSpPr>
            <p:cNvPr id="43013" name="Rectangle 5"/>
            <p:cNvSpPr>
              <a:spLocks noChangeArrowheads="1"/>
            </p:cNvSpPr>
            <p:nvPr/>
          </p:nvSpPr>
          <p:spPr bwMode="auto">
            <a:xfrm>
              <a:off x="3283" y="2031"/>
              <a:ext cx="10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时域分析法</a:t>
              </a:r>
            </a:p>
          </p:txBody>
        </p:sp>
      </p:grpSp>
      <p:grpSp>
        <p:nvGrpSpPr>
          <p:cNvPr id="43014" name="Group 6"/>
          <p:cNvGrpSpPr>
            <a:grpSpLocks/>
          </p:cNvGrpSpPr>
          <p:nvPr/>
        </p:nvGrpSpPr>
        <p:grpSpPr bwMode="auto">
          <a:xfrm>
            <a:off x="1101080" y="3433192"/>
            <a:ext cx="2441575" cy="2006600"/>
            <a:chOff x="603" y="2079"/>
            <a:chExt cx="1538" cy="1264"/>
          </a:xfrm>
        </p:grpSpPr>
        <p:sp>
          <p:nvSpPr>
            <p:cNvPr id="43015" name="Text Box 7"/>
            <p:cNvSpPr txBox="1">
              <a:spLocks noChangeArrowheads="1"/>
            </p:cNvSpPr>
            <p:nvPr/>
          </p:nvSpPr>
          <p:spPr bwMode="auto">
            <a:xfrm>
              <a:off x="699" y="2079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经典法</a:t>
              </a:r>
            </a:p>
          </p:txBody>
        </p:sp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674" y="2375"/>
              <a:ext cx="1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latin typeface="Times New Roman" panose="02020603050405020304" pitchFamily="18" charset="0"/>
                </a:rPr>
                <a:t>拉普拉斯变换法</a:t>
              </a:r>
            </a:p>
          </p:txBody>
        </p:sp>
        <p:sp>
          <p:nvSpPr>
            <p:cNvPr id="43017" name="Text Box 9"/>
            <p:cNvSpPr txBox="1">
              <a:spLocks noChangeArrowheads="1"/>
            </p:cNvSpPr>
            <p:nvPr/>
          </p:nvSpPr>
          <p:spPr bwMode="auto">
            <a:xfrm>
              <a:off x="603" y="2727"/>
              <a:ext cx="12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状态变量法</a:t>
              </a:r>
            </a:p>
          </p:txBody>
        </p:sp>
        <p:sp>
          <p:nvSpPr>
            <p:cNvPr id="43018" name="Text Box 10"/>
            <p:cNvSpPr txBox="1">
              <a:spLocks noChangeArrowheads="1"/>
            </p:cNvSpPr>
            <p:nvPr/>
          </p:nvSpPr>
          <p:spPr bwMode="auto">
            <a:xfrm>
              <a:off x="714" y="3055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latin typeface="Times New Roman" panose="02020603050405020304" pitchFamily="18" charset="0"/>
                </a:rPr>
                <a:t>数值法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021" name="Group 13"/>
          <p:cNvGrpSpPr>
            <a:grpSpLocks/>
          </p:cNvGrpSpPr>
          <p:nvPr/>
        </p:nvGrpSpPr>
        <p:grpSpPr bwMode="auto">
          <a:xfrm>
            <a:off x="1757363" y="1339852"/>
            <a:ext cx="3859213" cy="477838"/>
            <a:chOff x="1113" y="835"/>
            <a:chExt cx="2431" cy="301"/>
          </a:xfrm>
        </p:grpSpPr>
        <p:sp>
          <p:nvSpPr>
            <p:cNvPr id="43022" name="Text Box 14"/>
            <p:cNvSpPr txBox="1">
              <a:spLocks noChangeArrowheads="1"/>
            </p:cNvSpPr>
            <p:nvPr/>
          </p:nvSpPr>
          <p:spPr bwMode="auto">
            <a:xfrm>
              <a:off x="1113" y="835"/>
              <a:ext cx="8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 dirty="0">
                  <a:latin typeface="Times New Roman" panose="02020603050405020304" pitchFamily="18" charset="0"/>
                </a:rPr>
                <a:t>激励 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)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3023" name="Text Box 15"/>
            <p:cNvSpPr txBox="1">
              <a:spLocks noChangeArrowheads="1"/>
            </p:cNvSpPr>
            <p:nvPr/>
          </p:nvSpPr>
          <p:spPr bwMode="auto">
            <a:xfrm>
              <a:off x="2721" y="845"/>
              <a:ext cx="8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 dirty="0">
                  <a:latin typeface="Times New Roman" panose="02020603050405020304" pitchFamily="18" charset="0"/>
                </a:rPr>
                <a:t>响应 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)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" name="Rectangle 94"/>
          <p:cNvSpPr>
            <a:spLocks noChangeArrowheads="1"/>
          </p:cNvSpPr>
          <p:nvPr/>
        </p:nvSpPr>
        <p:spPr bwMode="auto">
          <a:xfrm>
            <a:off x="395536" y="616631"/>
            <a:ext cx="6264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ea typeface="隶书" panose="02010509060101010101" pitchFamily="49" charset="-122"/>
              </a:rPr>
              <a:t>n</a:t>
            </a:r>
            <a:r>
              <a:rPr lang="zh-CN" altLang="en-US" dirty="0">
                <a:ea typeface="隶书" panose="02010509060101010101" pitchFamily="49" charset="-122"/>
              </a:rPr>
              <a:t>阶线性时不变动态电路的微分方程： </a:t>
            </a:r>
          </a:p>
        </p:txBody>
      </p:sp>
      <p:graphicFrame>
        <p:nvGraphicFramePr>
          <p:cNvPr id="22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730540"/>
              </p:ext>
            </p:extLst>
          </p:nvPr>
        </p:nvGraphicFramePr>
        <p:xfrm>
          <a:off x="1069976" y="2078960"/>
          <a:ext cx="640873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71800" imgH="419100" progId="Equation.DSMT4">
                  <p:embed/>
                </p:oleObj>
              </mc:Choice>
              <mc:Fallback>
                <p:oleObj name="Equation" r:id="rId3" imgW="2971800" imgH="419100" progId="Equation.DSMT4">
                  <p:embed/>
                  <p:pic>
                    <p:nvPicPr>
                      <p:cNvPr id="326748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6" y="2078960"/>
                        <a:ext cx="640873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44758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419468"/>
              </p:ext>
            </p:extLst>
          </p:nvPr>
        </p:nvGraphicFramePr>
        <p:xfrm>
          <a:off x="899592" y="404664"/>
          <a:ext cx="640873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419100" progId="Equation.DSMT4">
                  <p:embed/>
                </p:oleObj>
              </mc:Choice>
              <mc:Fallback>
                <p:oleObj name="Equation" r:id="rId2" imgW="2971800" imgH="419100" progId="Equation.DSMT4">
                  <p:embed/>
                  <p:pic>
                    <p:nvPicPr>
                      <p:cNvPr id="22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04664"/>
                        <a:ext cx="640873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94"/>
          <p:cNvSpPr>
            <a:spLocks noChangeArrowheads="1"/>
          </p:cNvSpPr>
          <p:nvPr/>
        </p:nvSpPr>
        <p:spPr bwMode="auto">
          <a:xfrm>
            <a:off x="907003" y="5288669"/>
            <a:ext cx="6264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ea typeface="隶书" panose="02010509060101010101" pitchFamily="49" charset="-122"/>
              </a:rPr>
              <a:t>系数</a:t>
            </a:r>
            <a:r>
              <a:rPr lang="en-US" altLang="zh-CN" dirty="0">
                <a:ea typeface="隶书" panose="02010509060101010101" pitchFamily="49" charset="-122"/>
              </a:rPr>
              <a:t>k</a:t>
            </a:r>
            <a:r>
              <a:rPr lang="zh-CN" altLang="en-US" dirty="0">
                <a:ea typeface="隶书" panose="02010509060101010101" pitchFamily="49" charset="-122"/>
              </a:rPr>
              <a:t>的确定：初始条件</a:t>
            </a:r>
          </a:p>
        </p:txBody>
      </p:sp>
      <p:graphicFrame>
        <p:nvGraphicFramePr>
          <p:cNvPr id="7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385901"/>
              </p:ext>
            </p:extLst>
          </p:nvPr>
        </p:nvGraphicFramePr>
        <p:xfrm>
          <a:off x="1843107" y="5720717"/>
          <a:ext cx="476567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419040" progId="Equation.DSMT4">
                  <p:embed/>
                </p:oleObj>
              </mc:Choice>
              <mc:Fallback>
                <p:oleObj name="Equation" r:id="rId4" imgW="2209680" imgH="419040" progId="Equation.DSMT4">
                  <p:embed/>
                  <p:pic>
                    <p:nvPicPr>
                      <p:cNvPr id="5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107" y="5720717"/>
                        <a:ext cx="476567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4"/>
          <p:cNvSpPr>
            <a:spLocks noChangeArrowheads="1"/>
          </p:cNvSpPr>
          <p:nvPr/>
        </p:nvSpPr>
        <p:spPr bwMode="auto">
          <a:xfrm>
            <a:off x="870789" y="1589490"/>
            <a:ext cx="158417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ea typeface="隶书" panose="02010509060101010101" pitchFamily="49" charset="-122"/>
              </a:rPr>
              <a:t>解的形式：</a:t>
            </a:r>
          </a:p>
        </p:txBody>
      </p:sp>
      <p:graphicFrame>
        <p:nvGraphicFramePr>
          <p:cNvPr id="9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39647"/>
              </p:ext>
            </p:extLst>
          </p:nvPr>
        </p:nvGraphicFramePr>
        <p:xfrm>
          <a:off x="2815005" y="1556792"/>
          <a:ext cx="295751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241200" progId="Equation.DSMT4">
                  <p:embed/>
                </p:oleObj>
              </mc:Choice>
              <mc:Fallback>
                <p:oleObj name="Equation" r:id="rId6" imgW="1371600" imgH="241200" progId="Equation.DSMT4">
                  <p:embed/>
                  <p:pic>
                    <p:nvPicPr>
                      <p:cNvPr id="5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005" y="1556792"/>
                        <a:ext cx="295751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4"/>
          <p:cNvSpPr>
            <a:spLocks noChangeArrowheads="1"/>
          </p:cNvSpPr>
          <p:nvPr/>
        </p:nvSpPr>
        <p:spPr bwMode="auto">
          <a:xfrm>
            <a:off x="2526973" y="2365983"/>
            <a:ext cx="21416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齐次方程通解</a:t>
            </a:r>
          </a:p>
        </p:txBody>
      </p:sp>
      <p:sp>
        <p:nvSpPr>
          <p:cNvPr id="11" name="Rectangle 94"/>
          <p:cNvSpPr>
            <a:spLocks noChangeArrowheads="1"/>
          </p:cNvSpPr>
          <p:nvPr/>
        </p:nvSpPr>
        <p:spPr bwMode="auto">
          <a:xfrm>
            <a:off x="4831229" y="2365982"/>
            <a:ext cx="24300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非齐次方程特解</a:t>
            </a:r>
          </a:p>
        </p:txBody>
      </p:sp>
      <p:cxnSp>
        <p:nvCxnSpPr>
          <p:cNvPr id="13" name="直接箭头连接符 12"/>
          <p:cNvCxnSpPr/>
          <p:nvPr/>
        </p:nvCxnSpPr>
        <p:spPr bwMode="auto">
          <a:xfrm>
            <a:off x="4039141" y="2075904"/>
            <a:ext cx="0" cy="359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>
            <a:off x="5263277" y="2075904"/>
            <a:ext cx="0" cy="359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>
            <a:off x="4039141" y="2827647"/>
            <a:ext cx="0" cy="359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>
            <a:off x="5272635" y="2827647"/>
            <a:ext cx="0" cy="359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94"/>
          <p:cNvSpPr>
            <a:spLocks noChangeArrowheads="1"/>
          </p:cNvSpPr>
          <p:nvPr/>
        </p:nvSpPr>
        <p:spPr bwMode="auto">
          <a:xfrm>
            <a:off x="4831229" y="3311674"/>
            <a:ext cx="24300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t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→∞稳态解</a:t>
            </a:r>
          </a:p>
        </p:txBody>
      </p:sp>
      <p:graphicFrame>
        <p:nvGraphicFramePr>
          <p:cNvPr id="18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244469"/>
              </p:ext>
            </p:extLst>
          </p:nvPr>
        </p:nvGraphicFramePr>
        <p:xfrm>
          <a:off x="2188651" y="3066332"/>
          <a:ext cx="21907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431640" progId="Equation.DSMT4">
                  <p:embed/>
                </p:oleObj>
              </mc:Choice>
              <mc:Fallback>
                <p:oleObj name="Equation" r:id="rId8" imgW="1015920" imgH="431640" progId="Equation.DSMT4">
                  <p:embed/>
                  <p:pic>
                    <p:nvPicPr>
                      <p:cNvPr id="9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651" y="3066332"/>
                        <a:ext cx="21907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 bwMode="auto">
          <a:xfrm>
            <a:off x="4039141" y="3815269"/>
            <a:ext cx="0" cy="3594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219000"/>
              </p:ext>
            </p:extLst>
          </p:nvPr>
        </p:nvGraphicFramePr>
        <p:xfrm>
          <a:off x="1806893" y="4174768"/>
          <a:ext cx="27384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720" imgH="241200" progId="Equation.DSMT4">
                  <p:embed/>
                </p:oleObj>
              </mc:Choice>
              <mc:Fallback>
                <p:oleObj name="Equation" r:id="rId10" imgW="1269720" imgH="241200" progId="Equation.DSMT4">
                  <p:embed/>
                  <p:pic>
                    <p:nvPicPr>
                      <p:cNvPr id="18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893" y="4174768"/>
                        <a:ext cx="27384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319187"/>
              </p:ext>
            </p:extLst>
          </p:nvPr>
        </p:nvGraphicFramePr>
        <p:xfrm>
          <a:off x="866558" y="4636867"/>
          <a:ext cx="36433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88760" imgH="241200" progId="Equation.DSMT4">
                  <p:embed/>
                </p:oleObj>
              </mc:Choice>
              <mc:Fallback>
                <p:oleObj name="Equation" r:id="rId12" imgW="1688760" imgH="241200" progId="Equation.DSMT4">
                  <p:embed/>
                  <p:pic>
                    <p:nvPicPr>
                      <p:cNvPr id="2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558" y="4636867"/>
                        <a:ext cx="36433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25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611188" y="1412875"/>
            <a:ext cx="3529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一、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= 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与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= 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的概念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1116013" y="2276475"/>
            <a:ext cx="306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换路在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=0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时刻进行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1439863" y="2998788"/>
            <a:ext cx="3311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     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= 0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的前一瞬间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381125" y="3706813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0</a:t>
            </a:r>
            <a:r>
              <a:rPr kumimoji="1" lang="en-US" altLang="zh-CN" sz="24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= 0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的后一瞬间</a:t>
            </a:r>
            <a:endParaRPr kumimoji="1" lang="zh-CN" altLang="en-US" sz="2400" b="1" baseline="30000">
              <a:latin typeface="Times New Roman" panose="02020603050405020304" pitchFamily="18" charset="0"/>
            </a:endParaRP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376501" y="310358"/>
            <a:ext cx="3547427" cy="461665"/>
          </a:xfrm>
          <a:prstGeom prst="rect">
            <a:avLst/>
          </a:prstGeom>
          <a:solidFill>
            <a:srgbClr val="E7FFFF"/>
          </a:solidFill>
          <a:ln>
            <a:noFill/>
          </a:ln>
          <a:effectLst>
            <a:prstShdw prst="shdw17" dist="17961" dir="2700000">
              <a:srgbClr val="E7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隶书" panose="02010509060101010101" pitchFamily="49" charset="-122"/>
              </a:rPr>
              <a:t>3  </a:t>
            </a:r>
            <a:r>
              <a:rPr lang="zh-CN" altLang="en-US" sz="2400" b="1" dirty="0">
                <a:latin typeface="隶书" panose="02010509060101010101" pitchFamily="49" charset="-122"/>
              </a:rPr>
              <a:t>动态电路的初始条件</a:t>
            </a: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1543050" y="4325938"/>
          <a:ext cx="25019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91880" imgH="393480" progId="Equation.3">
                  <p:embed/>
                </p:oleObj>
              </mc:Choice>
              <mc:Fallback>
                <p:oleObj name="公式" r:id="rId3" imgW="1091880" imgH="393480" progId="Equation.3">
                  <p:embed/>
                  <p:pic>
                    <p:nvPicPr>
                      <p:cNvPr id="532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4325938"/>
                        <a:ext cx="25019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4840288" y="4344988"/>
          <a:ext cx="237648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91880" imgH="393480" progId="Equation.3">
                  <p:embed/>
                </p:oleObj>
              </mc:Choice>
              <mc:Fallback>
                <p:oleObj name="公式" r:id="rId5" imgW="1091880" imgH="393480" progId="Equation.3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288" y="4344988"/>
                        <a:ext cx="237648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1371600" y="5427663"/>
            <a:ext cx="6837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初始条件就是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= 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及其各阶导数的值。</a:t>
            </a:r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5943600" y="2855913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6477000" y="2855913"/>
            <a:ext cx="45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</a:p>
        </p:txBody>
      </p:sp>
      <p:grpSp>
        <p:nvGrpSpPr>
          <p:cNvPr id="53260" name="Group 12"/>
          <p:cNvGrpSpPr>
            <a:grpSpLocks/>
          </p:cNvGrpSpPr>
          <p:nvPr/>
        </p:nvGrpSpPr>
        <p:grpSpPr bwMode="auto">
          <a:xfrm>
            <a:off x="5194300" y="1541463"/>
            <a:ext cx="3200400" cy="1720850"/>
            <a:chOff x="2976" y="507"/>
            <a:chExt cx="2016" cy="1084"/>
          </a:xfrm>
        </p:grpSpPr>
        <p:sp>
          <p:nvSpPr>
            <p:cNvPr id="53261" name="Line 13"/>
            <p:cNvSpPr>
              <a:spLocks noChangeShapeType="1"/>
            </p:cNvSpPr>
            <p:nvPr/>
          </p:nvSpPr>
          <p:spPr bwMode="auto">
            <a:xfrm>
              <a:off x="2976" y="1303"/>
              <a:ext cx="2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2" name="Line 14"/>
            <p:cNvSpPr>
              <a:spLocks noChangeShapeType="1"/>
            </p:cNvSpPr>
            <p:nvPr/>
          </p:nvSpPr>
          <p:spPr bwMode="auto">
            <a:xfrm flipV="1">
              <a:off x="3737" y="507"/>
              <a:ext cx="0" cy="8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3" name="Text Box 15"/>
            <p:cNvSpPr txBox="1">
              <a:spLocks noChangeArrowheads="1"/>
            </p:cNvSpPr>
            <p:nvPr/>
          </p:nvSpPr>
          <p:spPr bwMode="auto">
            <a:xfrm>
              <a:off x="3637" y="130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3264" name="Text Box 16"/>
            <p:cNvSpPr txBox="1">
              <a:spLocks noChangeArrowheads="1"/>
            </p:cNvSpPr>
            <p:nvPr/>
          </p:nvSpPr>
          <p:spPr bwMode="auto">
            <a:xfrm>
              <a:off x="4766" y="1027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53265" name="Group 17"/>
          <p:cNvGrpSpPr>
            <a:grpSpLocks/>
          </p:cNvGrpSpPr>
          <p:nvPr/>
        </p:nvGrpSpPr>
        <p:grpSpPr bwMode="auto">
          <a:xfrm>
            <a:off x="5200650" y="1417638"/>
            <a:ext cx="2068513" cy="1041400"/>
            <a:chOff x="3080" y="360"/>
            <a:chExt cx="1303" cy="656"/>
          </a:xfrm>
        </p:grpSpPr>
        <p:sp>
          <p:nvSpPr>
            <p:cNvPr id="53266" name="Freeform 18"/>
            <p:cNvSpPr>
              <a:spLocks/>
            </p:cNvSpPr>
            <p:nvPr/>
          </p:nvSpPr>
          <p:spPr bwMode="auto">
            <a:xfrm>
              <a:off x="3080" y="599"/>
              <a:ext cx="1303" cy="417"/>
            </a:xfrm>
            <a:custGeom>
              <a:avLst/>
              <a:gdLst>
                <a:gd name="T0" fmla="*/ 0 w 1303"/>
                <a:gd name="T1" fmla="*/ 417 h 417"/>
                <a:gd name="T2" fmla="*/ 286 w 1303"/>
                <a:gd name="T3" fmla="*/ 395 h 417"/>
                <a:gd name="T4" fmla="*/ 388 w 1303"/>
                <a:gd name="T5" fmla="*/ 330 h 417"/>
                <a:gd name="T6" fmla="*/ 542 w 1303"/>
                <a:gd name="T7" fmla="*/ 198 h 417"/>
                <a:gd name="T8" fmla="*/ 703 w 1303"/>
                <a:gd name="T9" fmla="*/ 125 h 417"/>
                <a:gd name="T10" fmla="*/ 1127 w 1303"/>
                <a:gd name="T11" fmla="*/ 88 h 417"/>
                <a:gd name="T12" fmla="*/ 1303 w 1303"/>
                <a:gd name="T13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3" h="417">
                  <a:moveTo>
                    <a:pt x="0" y="417"/>
                  </a:moveTo>
                  <a:cubicBezTo>
                    <a:pt x="110" y="413"/>
                    <a:pt x="221" y="409"/>
                    <a:pt x="286" y="395"/>
                  </a:cubicBezTo>
                  <a:cubicBezTo>
                    <a:pt x="351" y="381"/>
                    <a:pt x="345" y="363"/>
                    <a:pt x="388" y="330"/>
                  </a:cubicBezTo>
                  <a:cubicBezTo>
                    <a:pt x="431" y="297"/>
                    <a:pt x="490" y="232"/>
                    <a:pt x="542" y="198"/>
                  </a:cubicBezTo>
                  <a:cubicBezTo>
                    <a:pt x="594" y="164"/>
                    <a:pt x="606" y="143"/>
                    <a:pt x="703" y="125"/>
                  </a:cubicBezTo>
                  <a:cubicBezTo>
                    <a:pt x="800" y="107"/>
                    <a:pt x="1027" y="109"/>
                    <a:pt x="1127" y="88"/>
                  </a:cubicBezTo>
                  <a:cubicBezTo>
                    <a:pt x="1227" y="67"/>
                    <a:pt x="1274" y="15"/>
                    <a:pt x="1303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7" name="Text Box 19"/>
            <p:cNvSpPr txBox="1">
              <a:spLocks noChangeArrowheads="1"/>
            </p:cNvSpPr>
            <p:nvPr/>
          </p:nvSpPr>
          <p:spPr bwMode="auto">
            <a:xfrm>
              <a:off x="3836" y="360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53268" name="Group 20"/>
          <p:cNvGrpSpPr>
            <a:grpSpLocks/>
          </p:cNvGrpSpPr>
          <p:nvPr/>
        </p:nvGrpSpPr>
        <p:grpSpPr bwMode="auto">
          <a:xfrm>
            <a:off x="5418138" y="2193925"/>
            <a:ext cx="1951037" cy="544513"/>
            <a:chOff x="3125" y="886"/>
            <a:chExt cx="1229" cy="343"/>
          </a:xfrm>
        </p:grpSpPr>
        <p:sp>
          <p:nvSpPr>
            <p:cNvPr id="53269" name="Line 21"/>
            <p:cNvSpPr>
              <a:spLocks noChangeShapeType="1"/>
            </p:cNvSpPr>
            <p:nvPr/>
          </p:nvSpPr>
          <p:spPr bwMode="auto">
            <a:xfrm>
              <a:off x="3125" y="1193"/>
              <a:ext cx="60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0" name="Freeform 22"/>
            <p:cNvSpPr>
              <a:spLocks/>
            </p:cNvSpPr>
            <p:nvPr/>
          </p:nvSpPr>
          <p:spPr bwMode="auto">
            <a:xfrm>
              <a:off x="3739" y="907"/>
              <a:ext cx="615" cy="322"/>
            </a:xfrm>
            <a:custGeom>
              <a:avLst/>
              <a:gdLst>
                <a:gd name="T0" fmla="*/ 0 w 615"/>
                <a:gd name="T1" fmla="*/ 0 h 322"/>
                <a:gd name="T2" fmla="*/ 117 w 615"/>
                <a:gd name="T3" fmla="*/ 176 h 322"/>
                <a:gd name="T4" fmla="*/ 359 w 615"/>
                <a:gd name="T5" fmla="*/ 286 h 322"/>
                <a:gd name="T6" fmla="*/ 615 w 615"/>
                <a:gd name="T7" fmla="*/ 32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5" h="322">
                  <a:moveTo>
                    <a:pt x="0" y="0"/>
                  </a:moveTo>
                  <a:cubicBezTo>
                    <a:pt x="28" y="64"/>
                    <a:pt x="57" y="128"/>
                    <a:pt x="117" y="176"/>
                  </a:cubicBezTo>
                  <a:cubicBezTo>
                    <a:pt x="177" y="224"/>
                    <a:pt x="276" y="262"/>
                    <a:pt x="359" y="286"/>
                  </a:cubicBezTo>
                  <a:cubicBezTo>
                    <a:pt x="442" y="310"/>
                    <a:pt x="572" y="316"/>
                    <a:pt x="615" y="322"/>
                  </a:cubicBezTo>
                </a:path>
              </a:pathLst>
            </a:custGeom>
            <a:noFill/>
            <a:ln w="28575" cap="flat" cmpd="sng">
              <a:solidFill>
                <a:srgbClr val="FF0066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1" name="Line 23"/>
            <p:cNvSpPr>
              <a:spLocks noChangeShapeType="1"/>
            </p:cNvSpPr>
            <p:nvPr/>
          </p:nvSpPr>
          <p:spPr bwMode="auto">
            <a:xfrm flipH="1" flipV="1">
              <a:off x="3725" y="886"/>
              <a:ext cx="1" cy="293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272" name="Group 24"/>
          <p:cNvGrpSpPr>
            <a:grpSpLocks/>
          </p:cNvGrpSpPr>
          <p:nvPr/>
        </p:nvGrpSpPr>
        <p:grpSpPr bwMode="auto">
          <a:xfrm>
            <a:off x="5203825" y="1987550"/>
            <a:ext cx="1168400" cy="1068388"/>
            <a:chOff x="2990" y="756"/>
            <a:chExt cx="736" cy="673"/>
          </a:xfrm>
        </p:grpSpPr>
        <p:sp>
          <p:nvSpPr>
            <p:cNvPr id="53273" name="Line 25"/>
            <p:cNvSpPr>
              <a:spLocks noChangeShapeType="1"/>
            </p:cNvSpPr>
            <p:nvPr/>
          </p:nvSpPr>
          <p:spPr bwMode="auto">
            <a:xfrm>
              <a:off x="2990" y="1429"/>
              <a:ext cx="33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4" name="Freeform 26"/>
            <p:cNvSpPr>
              <a:spLocks/>
            </p:cNvSpPr>
            <p:nvPr/>
          </p:nvSpPr>
          <p:spPr bwMode="auto">
            <a:xfrm>
              <a:off x="3072" y="756"/>
              <a:ext cx="654" cy="285"/>
            </a:xfrm>
            <a:custGeom>
              <a:avLst/>
              <a:gdLst>
                <a:gd name="T0" fmla="*/ 0 w 654"/>
                <a:gd name="T1" fmla="*/ 280 h 285"/>
                <a:gd name="T2" fmla="*/ 128 w 654"/>
                <a:gd name="T3" fmla="*/ 271 h 285"/>
                <a:gd name="T4" fmla="*/ 264 w 654"/>
                <a:gd name="T5" fmla="*/ 264 h 285"/>
                <a:gd name="T6" fmla="*/ 409 w 654"/>
                <a:gd name="T7" fmla="*/ 144 h 285"/>
                <a:gd name="T8" fmla="*/ 537 w 654"/>
                <a:gd name="T9" fmla="*/ 44 h 285"/>
                <a:gd name="T10" fmla="*/ 654 w 654"/>
                <a:gd name="T11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4" h="285">
                  <a:moveTo>
                    <a:pt x="0" y="280"/>
                  </a:moveTo>
                  <a:cubicBezTo>
                    <a:pt x="21" y="278"/>
                    <a:pt x="84" y="274"/>
                    <a:pt x="128" y="271"/>
                  </a:cubicBezTo>
                  <a:cubicBezTo>
                    <a:pt x="172" y="268"/>
                    <a:pt x="217" y="285"/>
                    <a:pt x="264" y="264"/>
                  </a:cubicBezTo>
                  <a:cubicBezTo>
                    <a:pt x="311" y="243"/>
                    <a:pt x="364" y="181"/>
                    <a:pt x="409" y="144"/>
                  </a:cubicBezTo>
                  <a:cubicBezTo>
                    <a:pt x="454" y="107"/>
                    <a:pt x="496" y="68"/>
                    <a:pt x="537" y="44"/>
                  </a:cubicBezTo>
                  <a:cubicBezTo>
                    <a:pt x="578" y="20"/>
                    <a:pt x="630" y="9"/>
                    <a:pt x="654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275" name="Group 27"/>
          <p:cNvGrpSpPr>
            <a:grpSpLocks/>
          </p:cNvGrpSpPr>
          <p:nvPr/>
        </p:nvGrpSpPr>
        <p:grpSpPr bwMode="auto">
          <a:xfrm>
            <a:off x="6348413" y="1798638"/>
            <a:ext cx="1316037" cy="1254125"/>
            <a:chOff x="3711" y="637"/>
            <a:chExt cx="829" cy="790"/>
          </a:xfrm>
        </p:grpSpPr>
        <p:sp>
          <p:nvSpPr>
            <p:cNvPr id="53276" name="Line 28"/>
            <p:cNvSpPr>
              <a:spLocks noChangeShapeType="1"/>
            </p:cNvSpPr>
            <p:nvPr/>
          </p:nvSpPr>
          <p:spPr bwMode="auto">
            <a:xfrm flipH="1">
              <a:off x="4252" y="1427"/>
              <a:ext cx="2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7" name="Freeform 29"/>
            <p:cNvSpPr>
              <a:spLocks/>
            </p:cNvSpPr>
            <p:nvPr/>
          </p:nvSpPr>
          <p:spPr bwMode="auto">
            <a:xfrm>
              <a:off x="3711" y="637"/>
              <a:ext cx="642" cy="137"/>
            </a:xfrm>
            <a:custGeom>
              <a:avLst/>
              <a:gdLst>
                <a:gd name="T0" fmla="*/ 0 w 642"/>
                <a:gd name="T1" fmla="*/ 137 h 137"/>
                <a:gd name="T2" fmla="*/ 205 w 642"/>
                <a:gd name="T3" fmla="*/ 118 h 137"/>
                <a:gd name="T4" fmla="*/ 424 w 642"/>
                <a:gd name="T5" fmla="*/ 99 h 137"/>
                <a:gd name="T6" fmla="*/ 642 w 642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2" h="137">
                  <a:moveTo>
                    <a:pt x="0" y="137"/>
                  </a:moveTo>
                  <a:cubicBezTo>
                    <a:pt x="34" y="134"/>
                    <a:pt x="134" y="124"/>
                    <a:pt x="205" y="118"/>
                  </a:cubicBezTo>
                  <a:cubicBezTo>
                    <a:pt x="276" y="112"/>
                    <a:pt x="351" y="119"/>
                    <a:pt x="424" y="99"/>
                  </a:cubicBezTo>
                  <a:cubicBezTo>
                    <a:pt x="497" y="79"/>
                    <a:pt x="597" y="21"/>
                    <a:pt x="642" y="0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340282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uild="p" autoUpdateAnimBg="0"/>
      <p:bldP spid="53251" grpId="0" build="p" autoUpdateAnimBg="0"/>
      <p:bldP spid="53252" grpId="0" build="p" autoUpdateAnimBg="0"/>
      <p:bldP spid="53253" grpId="0" build="p" autoUpdateAnimBg="0"/>
      <p:bldP spid="53257" grpId="0" build="p" autoUpdateAnimBg="0"/>
      <p:bldP spid="53258" grpId="0" build="p" autoUpdateAnimBg="0"/>
      <p:bldP spid="53259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323850" y="260350"/>
            <a:ext cx="2376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二、换路定律</a:t>
            </a: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3575050" y="604838"/>
          <a:ext cx="266541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33440" imgH="406080" progId="Equation.3">
                  <p:embed/>
                </p:oleObj>
              </mc:Choice>
              <mc:Fallback>
                <p:oleObj name="公式" r:id="rId3" imgW="1333440" imgH="406080" progId="Equation.3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604838"/>
                        <a:ext cx="2665413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4248150" y="1341438"/>
          <a:ext cx="373221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66600" imgH="406080" progId="Equation.3">
                  <p:embed/>
                </p:oleObj>
              </mc:Choice>
              <mc:Fallback>
                <p:oleObj name="公式" r:id="rId5" imgW="1866600" imgH="406080" progId="Equation.3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1341438"/>
                        <a:ext cx="3732213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4248150" y="2060575"/>
          <a:ext cx="29956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98320" imgH="406080" progId="Equation.3">
                  <p:embed/>
                </p:oleObj>
              </mc:Choice>
              <mc:Fallback>
                <p:oleObj name="公式" r:id="rId7" imgW="1498320" imgH="406080" progId="Equation.3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2060575"/>
                        <a:ext cx="2995613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1871663" y="2997200"/>
            <a:ext cx="1144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=C 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1092200" y="3995738"/>
            <a:ext cx="1477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时刻</a:t>
            </a:r>
          </a:p>
        </p:txBody>
      </p:sp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2987675" y="3789363"/>
          <a:ext cx="41656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55520" imgH="406080" progId="Equation.3">
                  <p:embed/>
                </p:oleObj>
              </mc:Choice>
              <mc:Fallback>
                <p:oleObj name="公式" r:id="rId9" imgW="1955520" imgH="406080" progId="Equation.3">
                  <p:embed/>
                  <p:pic>
                    <p:nvPicPr>
                      <p:cNvPr id="553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789363"/>
                        <a:ext cx="41656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3492500" y="2924175"/>
          <a:ext cx="31226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562040" imgH="342720" progId="Equation.3">
                  <p:embed/>
                </p:oleObj>
              </mc:Choice>
              <mc:Fallback>
                <p:oleObj name="公式" r:id="rId11" imgW="1562040" imgH="342720" progId="Equation.3">
                  <p:embed/>
                  <p:pic>
                    <p:nvPicPr>
                      <p:cNvPr id="553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924175"/>
                        <a:ext cx="31226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Rectangle 10"/>
          <p:cNvSpPr>
            <a:spLocks noChangeArrowheads="1"/>
          </p:cNvSpPr>
          <p:nvPr/>
        </p:nvSpPr>
        <p:spPr bwMode="auto">
          <a:xfrm>
            <a:off x="954088" y="5360988"/>
            <a:ext cx="2479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3200" b="1" i="1">
                <a:solidFill>
                  <a:srgbClr val="FF0066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为有限值时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55328" name="Group 32"/>
          <p:cNvGrpSpPr>
            <a:grpSpLocks/>
          </p:cNvGrpSpPr>
          <p:nvPr/>
        </p:nvGrpSpPr>
        <p:grpSpPr bwMode="auto">
          <a:xfrm>
            <a:off x="1085850" y="931863"/>
            <a:ext cx="2028825" cy="1236662"/>
            <a:chOff x="576" y="528"/>
            <a:chExt cx="1278" cy="779"/>
          </a:xfrm>
        </p:grpSpPr>
        <p:sp>
          <p:nvSpPr>
            <p:cNvPr id="55308" name="Line 12"/>
            <p:cNvSpPr>
              <a:spLocks noChangeShapeType="1"/>
            </p:cNvSpPr>
            <p:nvPr/>
          </p:nvSpPr>
          <p:spPr bwMode="auto">
            <a:xfrm>
              <a:off x="1348" y="910"/>
              <a:ext cx="2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>
              <a:off x="1348" y="990"/>
              <a:ext cx="2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0" name="Line 14"/>
            <p:cNvSpPr>
              <a:spLocks noChangeShapeType="1"/>
            </p:cNvSpPr>
            <p:nvPr/>
          </p:nvSpPr>
          <p:spPr bwMode="auto">
            <a:xfrm flipV="1">
              <a:off x="658" y="566"/>
              <a:ext cx="80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1" name="Line 15"/>
            <p:cNvSpPr>
              <a:spLocks noChangeShapeType="1"/>
            </p:cNvSpPr>
            <p:nvPr/>
          </p:nvSpPr>
          <p:spPr bwMode="auto">
            <a:xfrm>
              <a:off x="621" y="1286"/>
              <a:ext cx="8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2" name="Line 16"/>
            <p:cNvSpPr>
              <a:spLocks noChangeShapeType="1"/>
            </p:cNvSpPr>
            <p:nvPr/>
          </p:nvSpPr>
          <p:spPr bwMode="auto">
            <a:xfrm>
              <a:off x="770" y="605"/>
              <a:ext cx="236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3" name="Text Box 17"/>
            <p:cNvSpPr txBox="1">
              <a:spLocks noChangeArrowheads="1"/>
            </p:cNvSpPr>
            <p:nvPr/>
          </p:nvSpPr>
          <p:spPr bwMode="auto">
            <a:xfrm>
              <a:off x="826" y="638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314" name="Text Box 18"/>
            <p:cNvSpPr txBox="1">
              <a:spLocks noChangeArrowheads="1"/>
            </p:cNvSpPr>
            <p:nvPr/>
          </p:nvSpPr>
          <p:spPr bwMode="auto">
            <a:xfrm>
              <a:off x="1027" y="770"/>
              <a:ext cx="3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315" name="Line 19"/>
            <p:cNvSpPr>
              <a:spLocks noChangeShapeType="1"/>
            </p:cNvSpPr>
            <p:nvPr/>
          </p:nvSpPr>
          <p:spPr bwMode="auto">
            <a:xfrm flipH="1">
              <a:off x="1425" y="1286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>
              <a:off x="1473" y="99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7" name="Line 21"/>
            <p:cNvSpPr>
              <a:spLocks noChangeShapeType="1"/>
            </p:cNvSpPr>
            <p:nvPr/>
          </p:nvSpPr>
          <p:spPr bwMode="auto">
            <a:xfrm flipV="1">
              <a:off x="1473" y="56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8" name="Text Box 22"/>
            <p:cNvSpPr txBox="1">
              <a:spLocks noChangeArrowheads="1"/>
            </p:cNvSpPr>
            <p:nvPr/>
          </p:nvSpPr>
          <p:spPr bwMode="auto">
            <a:xfrm>
              <a:off x="1610" y="81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319" name="Oval 23"/>
            <p:cNvSpPr>
              <a:spLocks noChangeArrowheads="1"/>
            </p:cNvSpPr>
            <p:nvPr/>
          </p:nvSpPr>
          <p:spPr bwMode="auto">
            <a:xfrm>
              <a:off x="576" y="528"/>
              <a:ext cx="72" cy="82"/>
            </a:xfrm>
            <a:prstGeom prst="ellipse">
              <a:avLst/>
            </a:prstGeom>
            <a:noFill/>
            <a:ln w="28575">
              <a:solidFill>
                <a:srgbClr val="00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20" name="Oval 24"/>
            <p:cNvSpPr>
              <a:spLocks noChangeArrowheads="1"/>
            </p:cNvSpPr>
            <p:nvPr/>
          </p:nvSpPr>
          <p:spPr bwMode="auto">
            <a:xfrm>
              <a:off x="580" y="1225"/>
              <a:ext cx="72" cy="82"/>
            </a:xfrm>
            <a:prstGeom prst="ellipse">
              <a:avLst/>
            </a:prstGeom>
            <a:noFill/>
            <a:ln w="28575">
              <a:solidFill>
                <a:srgbClr val="00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21" name="Text Box 25"/>
            <p:cNvSpPr txBox="1">
              <a:spLocks noChangeArrowheads="1"/>
            </p:cNvSpPr>
            <p:nvPr/>
          </p:nvSpPr>
          <p:spPr bwMode="auto">
            <a:xfrm>
              <a:off x="1205" y="566"/>
              <a:ext cx="26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32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5322" name="Text Box 26"/>
            <p:cNvSpPr txBox="1">
              <a:spLocks noChangeArrowheads="1"/>
            </p:cNvSpPr>
            <p:nvPr/>
          </p:nvSpPr>
          <p:spPr bwMode="auto">
            <a:xfrm>
              <a:off x="1257" y="927"/>
              <a:ext cx="2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5323" name="Object 27"/>
          <p:cNvGraphicFramePr>
            <a:graphicFrameLocks noChangeAspect="1"/>
          </p:cNvGraphicFramePr>
          <p:nvPr/>
        </p:nvGraphicFramePr>
        <p:xfrm>
          <a:off x="3005138" y="4598988"/>
          <a:ext cx="351631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0960" imgH="393480" progId="Equation.3">
                  <p:embed/>
                </p:oleObj>
              </mc:Choice>
              <mc:Fallback>
                <p:oleObj name="Equation" r:id="rId13" imgW="1650960" imgH="393480" progId="Equation.3">
                  <p:embed/>
                  <p:pic>
                    <p:nvPicPr>
                      <p:cNvPr id="553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8" y="4598988"/>
                        <a:ext cx="351631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502657"/>
              </p:ext>
            </p:extLst>
          </p:nvPr>
        </p:nvGraphicFramePr>
        <p:xfrm>
          <a:off x="1383556" y="5949280"/>
          <a:ext cx="18923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88840" imgH="393480" progId="Equation.3">
                  <p:embed/>
                </p:oleObj>
              </mc:Choice>
              <mc:Fallback>
                <p:oleObj name="Equation" r:id="rId15" imgW="888840" imgH="393480" progId="Equation.3">
                  <p:embed/>
                  <p:pic>
                    <p:nvPicPr>
                      <p:cNvPr id="553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556" y="5949280"/>
                        <a:ext cx="18923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5" name="Text Box 29"/>
          <p:cNvSpPr txBox="1">
            <a:spLocks noChangeArrowheads="1"/>
          </p:cNvSpPr>
          <p:nvPr/>
        </p:nvSpPr>
        <p:spPr bwMode="auto">
          <a:xfrm>
            <a:off x="4314825" y="5988050"/>
            <a:ext cx="2165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5326" name="Text Box 30"/>
          <p:cNvSpPr txBox="1">
            <a:spLocks noChangeArrowheads="1"/>
          </p:cNvSpPr>
          <p:nvPr/>
        </p:nvSpPr>
        <p:spPr bwMode="auto">
          <a:xfrm>
            <a:off x="4284663" y="5373688"/>
            <a:ext cx="2382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 = </a:t>
            </a: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5327" name="Text Box 31"/>
          <p:cNvSpPr txBox="1">
            <a:spLocks noChangeArrowheads="1"/>
          </p:cNvSpPr>
          <p:nvPr/>
        </p:nvSpPr>
        <p:spPr bwMode="auto">
          <a:xfrm>
            <a:off x="6934200" y="6118225"/>
            <a:ext cx="1706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电荷守恒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597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5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5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5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uild="p" autoUpdateAnimBg="0" advAuto="0"/>
      <p:bldP spid="55302" grpId="0" build="p" autoUpdateAnimBg="0"/>
      <p:bldP spid="55303" grpId="0" build="p" autoUpdateAnimBg="0"/>
      <p:bldP spid="55306" grpId="0" build="p" autoUpdateAnimBg="0"/>
      <p:bldP spid="55325" grpId="0" build="p" autoUpdateAnimBg="0"/>
      <p:bldP spid="55326" grpId="0" build="p" autoUpdateAnimBg="0"/>
      <p:bldP spid="55327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2"/>
          <p:cNvGraphicFramePr>
            <a:graphicFrameLocks noChangeAspect="1"/>
          </p:cNvGraphicFramePr>
          <p:nvPr/>
        </p:nvGraphicFramePr>
        <p:xfrm>
          <a:off x="3124200" y="415925"/>
          <a:ext cx="13382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34680" imgH="406080" progId="Equation.3">
                  <p:embed/>
                </p:oleObj>
              </mc:Choice>
              <mc:Fallback>
                <p:oleObj name="公式" r:id="rId3" imgW="634680" imgH="406080" progId="Equation.3">
                  <p:embed/>
                  <p:pic>
                    <p:nvPicPr>
                      <p:cNvPr id="573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5925"/>
                        <a:ext cx="133826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4995863" y="460375"/>
          <a:ext cx="235743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30040" imgH="406080" progId="Equation.3">
                  <p:embed/>
                </p:oleObj>
              </mc:Choice>
              <mc:Fallback>
                <p:oleObj name="公式" r:id="rId5" imgW="1130040" imgH="406080" progId="Equation.3">
                  <p:embed/>
                  <p:pic>
                    <p:nvPicPr>
                      <p:cNvPr id="573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63" y="460375"/>
                        <a:ext cx="2357437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3157538" y="1392238"/>
          <a:ext cx="4183062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95200" imgH="406080" progId="Equation.3">
                  <p:embed/>
                </p:oleObj>
              </mc:Choice>
              <mc:Fallback>
                <p:oleObj name="公式" r:id="rId7" imgW="2095200" imgH="406080" progId="Equation.3">
                  <p:embed/>
                  <p:pic>
                    <p:nvPicPr>
                      <p:cNvPr id="57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538" y="1392238"/>
                        <a:ext cx="4183062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3608388" y="2293938"/>
          <a:ext cx="322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225600" imgH="838080" progId="Equation.3">
                  <p:embed/>
                </p:oleObj>
              </mc:Choice>
              <mc:Fallback>
                <p:oleObj name="公式" r:id="rId9" imgW="3225600" imgH="838080" progId="Equation.3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2293938"/>
                        <a:ext cx="3225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1050925" y="4035425"/>
            <a:ext cx="2247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为有限值时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57351" name="Object 7"/>
          <p:cNvGraphicFramePr>
            <a:graphicFrameLocks noChangeAspect="1"/>
          </p:cNvGraphicFramePr>
          <p:nvPr/>
        </p:nvGraphicFramePr>
        <p:xfrm>
          <a:off x="2987675" y="3213100"/>
          <a:ext cx="30226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320" imgH="342720" progId="Equation.DSMT4">
                  <p:embed/>
                </p:oleObj>
              </mc:Choice>
              <mc:Fallback>
                <p:oleObj name="Equation" r:id="rId11" imgW="1498320" imgH="342720" progId="Equation.DSMT4">
                  <p:embed/>
                  <p:pic>
                    <p:nvPicPr>
                      <p:cNvPr id="573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213100"/>
                        <a:ext cx="30226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8"/>
          <p:cNvGraphicFramePr>
            <a:graphicFrameLocks noChangeAspect="1"/>
          </p:cNvGraphicFramePr>
          <p:nvPr/>
        </p:nvGraphicFramePr>
        <p:xfrm>
          <a:off x="1258888" y="3357563"/>
          <a:ext cx="1073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33160" imgH="228600" progId="Equation.DSMT4">
                  <p:embed/>
                </p:oleObj>
              </mc:Choice>
              <mc:Fallback>
                <p:oleObj name="Equation" r:id="rId13" imgW="533160" imgH="228600" progId="Equation.DSMT4">
                  <p:embed/>
                  <p:pic>
                    <p:nvPicPr>
                      <p:cNvPr id="573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10731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3708400" y="4822825"/>
            <a:ext cx="2700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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)=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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8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3787775" y="4138613"/>
            <a:ext cx="226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)=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8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6656388" y="4868863"/>
            <a:ext cx="169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磁链守恒</a:t>
            </a:r>
          </a:p>
        </p:txBody>
      </p:sp>
      <p:grpSp>
        <p:nvGrpSpPr>
          <p:cNvPr id="57380" name="Group 36"/>
          <p:cNvGrpSpPr>
            <a:grpSpLocks/>
          </p:cNvGrpSpPr>
          <p:nvPr/>
        </p:nvGrpSpPr>
        <p:grpSpPr bwMode="auto">
          <a:xfrm>
            <a:off x="809625" y="600075"/>
            <a:ext cx="1900238" cy="1322388"/>
            <a:chOff x="510" y="378"/>
            <a:chExt cx="1197" cy="833"/>
          </a:xfrm>
        </p:grpSpPr>
        <p:sp>
          <p:nvSpPr>
            <p:cNvPr id="57358" name="Line 14"/>
            <p:cNvSpPr>
              <a:spLocks noChangeShapeType="1"/>
            </p:cNvSpPr>
            <p:nvPr/>
          </p:nvSpPr>
          <p:spPr bwMode="auto">
            <a:xfrm>
              <a:off x="574" y="416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59" name="Line 15"/>
            <p:cNvSpPr>
              <a:spLocks noChangeShapeType="1"/>
            </p:cNvSpPr>
            <p:nvPr/>
          </p:nvSpPr>
          <p:spPr bwMode="auto">
            <a:xfrm>
              <a:off x="574" y="1184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>
              <a:off x="707" y="48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1" name="Text Box 17"/>
            <p:cNvSpPr txBox="1">
              <a:spLocks noChangeArrowheads="1"/>
            </p:cNvSpPr>
            <p:nvPr/>
          </p:nvSpPr>
          <p:spPr bwMode="auto">
            <a:xfrm>
              <a:off x="703" y="482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7362" name="Text Box 18"/>
            <p:cNvSpPr txBox="1">
              <a:spLocks noChangeArrowheads="1"/>
            </p:cNvSpPr>
            <p:nvPr/>
          </p:nvSpPr>
          <p:spPr bwMode="auto">
            <a:xfrm>
              <a:off x="1105" y="677"/>
              <a:ext cx="2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7363" name="Text Box 19"/>
            <p:cNvSpPr txBox="1">
              <a:spLocks noChangeArrowheads="1"/>
            </p:cNvSpPr>
            <p:nvPr/>
          </p:nvSpPr>
          <p:spPr bwMode="auto">
            <a:xfrm>
              <a:off x="1474" y="663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7364" name="Oval 20"/>
            <p:cNvSpPr>
              <a:spLocks noChangeArrowheads="1"/>
            </p:cNvSpPr>
            <p:nvPr/>
          </p:nvSpPr>
          <p:spPr bwMode="auto">
            <a:xfrm>
              <a:off x="515" y="1137"/>
              <a:ext cx="72" cy="7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5" name="Oval 21"/>
            <p:cNvSpPr>
              <a:spLocks noChangeArrowheads="1"/>
            </p:cNvSpPr>
            <p:nvPr/>
          </p:nvSpPr>
          <p:spPr bwMode="auto">
            <a:xfrm>
              <a:off x="510" y="378"/>
              <a:ext cx="72" cy="7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7366" name="Group 22"/>
            <p:cNvGrpSpPr>
              <a:grpSpLocks/>
            </p:cNvGrpSpPr>
            <p:nvPr/>
          </p:nvGrpSpPr>
          <p:grpSpPr bwMode="auto">
            <a:xfrm>
              <a:off x="1393" y="592"/>
              <a:ext cx="113" cy="214"/>
              <a:chOff x="887" y="1182"/>
              <a:chExt cx="113" cy="214"/>
            </a:xfrm>
          </p:grpSpPr>
          <p:sp>
            <p:nvSpPr>
              <p:cNvPr id="57367" name="Oval 23"/>
              <p:cNvSpPr>
                <a:spLocks noChangeArrowheads="1"/>
              </p:cNvSpPr>
              <p:nvPr/>
            </p:nvSpPr>
            <p:spPr bwMode="auto">
              <a:xfrm>
                <a:off x="891" y="1182"/>
                <a:ext cx="109" cy="109"/>
              </a:xfrm>
              <a:prstGeom prst="ellipse">
                <a:avLst/>
              </a:prstGeom>
              <a:solidFill>
                <a:srgbClr val="99FF99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8" name="Oval 24"/>
              <p:cNvSpPr>
                <a:spLocks noChangeArrowheads="1"/>
              </p:cNvSpPr>
              <p:nvPr/>
            </p:nvSpPr>
            <p:spPr bwMode="auto">
              <a:xfrm>
                <a:off x="887" y="1287"/>
                <a:ext cx="109" cy="109"/>
              </a:xfrm>
              <a:prstGeom prst="ellipse">
                <a:avLst/>
              </a:prstGeom>
              <a:solidFill>
                <a:srgbClr val="99FF99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7369" name="Oval 25"/>
            <p:cNvSpPr>
              <a:spLocks noChangeArrowheads="1"/>
            </p:cNvSpPr>
            <p:nvPr/>
          </p:nvSpPr>
          <p:spPr bwMode="auto">
            <a:xfrm>
              <a:off x="1398" y="812"/>
              <a:ext cx="109" cy="109"/>
            </a:xfrm>
            <a:prstGeom prst="ellipse">
              <a:avLst/>
            </a:prstGeom>
            <a:solidFill>
              <a:srgbClr val="99FF99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0" name="Oval 26"/>
            <p:cNvSpPr>
              <a:spLocks noChangeArrowheads="1"/>
            </p:cNvSpPr>
            <p:nvPr/>
          </p:nvSpPr>
          <p:spPr bwMode="auto">
            <a:xfrm>
              <a:off x="1394" y="926"/>
              <a:ext cx="109" cy="109"/>
            </a:xfrm>
            <a:prstGeom prst="ellipse">
              <a:avLst/>
            </a:prstGeom>
            <a:solidFill>
              <a:srgbClr val="99FF99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1" name="Rectangle 27"/>
            <p:cNvSpPr>
              <a:spLocks noChangeArrowheads="1"/>
            </p:cNvSpPr>
            <p:nvPr/>
          </p:nvSpPr>
          <p:spPr bwMode="auto">
            <a:xfrm>
              <a:off x="1343" y="592"/>
              <a:ext cx="91" cy="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2" name="Line 28"/>
            <p:cNvSpPr>
              <a:spLocks noChangeShapeType="1"/>
            </p:cNvSpPr>
            <p:nvPr/>
          </p:nvSpPr>
          <p:spPr bwMode="auto">
            <a:xfrm>
              <a:off x="1433" y="410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3" name="Line 29"/>
            <p:cNvSpPr>
              <a:spLocks noChangeShapeType="1"/>
            </p:cNvSpPr>
            <p:nvPr/>
          </p:nvSpPr>
          <p:spPr bwMode="auto">
            <a:xfrm flipV="1">
              <a:off x="1424" y="1026"/>
              <a:ext cx="0" cy="1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4" name="Text Box 30"/>
            <p:cNvSpPr txBox="1">
              <a:spLocks noChangeArrowheads="1"/>
            </p:cNvSpPr>
            <p:nvPr/>
          </p:nvSpPr>
          <p:spPr bwMode="auto">
            <a:xfrm>
              <a:off x="1148" y="43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7375" name="Text Box 31"/>
            <p:cNvSpPr txBox="1">
              <a:spLocks noChangeArrowheads="1"/>
            </p:cNvSpPr>
            <p:nvPr/>
          </p:nvSpPr>
          <p:spPr bwMode="auto">
            <a:xfrm>
              <a:off x="1150" y="90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Symbol" panose="05050102010706020507" pitchFamily="18" charset="2"/>
                </a:rPr>
                <a:t>-</a:t>
              </a:r>
            </a:p>
          </p:txBody>
        </p:sp>
        <p:sp>
          <p:nvSpPr>
            <p:cNvPr id="57376" name="Text Box 32"/>
            <p:cNvSpPr txBox="1">
              <a:spLocks noChangeArrowheads="1"/>
            </p:cNvSpPr>
            <p:nvPr/>
          </p:nvSpPr>
          <p:spPr bwMode="auto">
            <a:xfrm>
              <a:off x="1214" y="727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kumimoji="1" lang="zh-CN" altLang="zh-CN" sz="2400" b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57378" name="Text Box 34"/>
          <p:cNvSpPr txBox="1">
            <a:spLocks noChangeArrowheads="1"/>
          </p:cNvSpPr>
          <p:nvPr/>
        </p:nvSpPr>
        <p:spPr bwMode="auto">
          <a:xfrm>
            <a:off x="2124075" y="5589588"/>
            <a:ext cx="4535488" cy="579437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32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换路定律成立的条件</a:t>
            </a:r>
            <a:r>
              <a:rPr kumimoji="1" lang="en-US" altLang="zh-CN" sz="3200" b="1" i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34330375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7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7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 build="p" autoUpdateAnimBg="0"/>
      <p:bldP spid="57353" grpId="0" build="p" autoUpdateAnimBg="0" advAuto="0"/>
      <p:bldP spid="57354" grpId="0" build="p" autoUpdateAnimBg="0"/>
      <p:bldP spid="57355" grpId="0" build="p" autoUpdateAnimBg="0"/>
      <p:bldP spid="57378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39750" y="2849562"/>
            <a:ext cx="2922588" cy="1304924"/>
            <a:chOff x="340" y="1659"/>
            <a:chExt cx="1841" cy="822"/>
          </a:xfrm>
        </p:grpSpPr>
        <p:sp>
          <p:nvSpPr>
            <p:cNvPr id="165912" name="Text Box 5"/>
            <p:cNvSpPr txBox="1">
              <a:spLocks noChangeArrowheads="1"/>
            </p:cNvSpPr>
            <p:nvPr/>
          </p:nvSpPr>
          <p:spPr bwMode="auto">
            <a:xfrm>
              <a:off x="442" y="1659"/>
              <a:ext cx="173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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 </a:t>
              </a: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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sz="20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65913" name="Text Box 6"/>
            <p:cNvSpPr txBox="1">
              <a:spLocks noChangeArrowheads="1"/>
            </p:cNvSpPr>
            <p:nvPr/>
          </p:nvSpPr>
          <p:spPr bwMode="auto">
            <a:xfrm>
              <a:off x="476" y="2113"/>
              <a:ext cx="146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 </a:t>
              </a: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sz="20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65914" name="AutoShape 7"/>
            <p:cNvSpPr>
              <a:spLocks/>
            </p:cNvSpPr>
            <p:nvPr/>
          </p:nvSpPr>
          <p:spPr bwMode="auto">
            <a:xfrm>
              <a:off x="340" y="1842"/>
              <a:ext cx="91" cy="590"/>
            </a:xfrm>
            <a:prstGeom prst="leftBrace">
              <a:avLst>
                <a:gd name="adj1" fmla="val 54029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39750" y="1265238"/>
            <a:ext cx="2995613" cy="1231899"/>
            <a:chOff x="340" y="707"/>
            <a:chExt cx="1887" cy="776"/>
          </a:xfrm>
        </p:grpSpPr>
        <p:sp>
          <p:nvSpPr>
            <p:cNvPr id="165909" name="Text Box 9"/>
            <p:cNvSpPr txBox="1">
              <a:spLocks noChangeArrowheads="1"/>
            </p:cNvSpPr>
            <p:nvPr/>
          </p:nvSpPr>
          <p:spPr bwMode="auto">
            <a:xfrm>
              <a:off x="417" y="707"/>
              <a:ext cx="174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 </a:t>
              </a: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q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sz="24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65910" name="Text Box 10"/>
            <p:cNvSpPr txBox="1">
              <a:spLocks noChangeArrowheads="1"/>
            </p:cNvSpPr>
            <p:nvPr/>
          </p:nvSpPr>
          <p:spPr bwMode="auto">
            <a:xfrm>
              <a:off x="454" y="1115"/>
              <a:ext cx="177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 = </a:t>
              </a:r>
              <a:r>
                <a:rPr kumimoji="1" lang="en-US" altLang="zh-CN" sz="3200" b="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200" b="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32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</a:t>
              </a:r>
              <a:r>
                <a:rPr kumimoji="1" lang="zh-CN" altLang="en-US" sz="2000" b="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32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65911" name="AutoShape 11"/>
            <p:cNvSpPr>
              <a:spLocks/>
            </p:cNvSpPr>
            <p:nvPr/>
          </p:nvSpPr>
          <p:spPr bwMode="auto">
            <a:xfrm>
              <a:off x="340" y="845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611188" y="632946"/>
            <a:ext cx="2933700" cy="523220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234000" rIns="198000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indent="0" eaLnBrk="1" hangingPunct="1"/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换路定律</a:t>
            </a:r>
          </a:p>
        </p:txBody>
      </p:sp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1835150" y="4381243"/>
            <a:ext cx="7058025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8000" rIns="198000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电容电流和电感电压为有限值是换路定律成立的条件。</a:t>
            </a:r>
          </a:p>
        </p:txBody>
      </p:sp>
      <p:sp>
        <p:nvSpPr>
          <p:cNvPr id="88079" name="Text Box 15"/>
          <p:cNvSpPr txBox="1">
            <a:spLocks noChangeArrowheads="1"/>
          </p:cNvSpPr>
          <p:nvPr/>
        </p:nvSpPr>
        <p:spPr bwMode="auto">
          <a:xfrm>
            <a:off x="3627438" y="2705450"/>
            <a:ext cx="5192712" cy="166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  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换路瞬间，若电感电压保持为有限值，则电感电流（磁链）换路前后保持不变。</a:t>
            </a:r>
          </a:p>
        </p:txBody>
      </p:sp>
      <p:sp>
        <p:nvSpPr>
          <p:cNvPr id="88080" name="Text Box 16"/>
          <p:cNvSpPr txBox="1">
            <a:spLocks noChangeArrowheads="1"/>
          </p:cNvSpPr>
          <p:nvPr/>
        </p:nvSpPr>
        <p:spPr bwMode="auto">
          <a:xfrm>
            <a:off x="3563938" y="1178275"/>
            <a:ext cx="5329237" cy="166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  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换路瞬间，若电容电流保持为有限值，则电容电压（电荷）换路前后保持不变。</a:t>
            </a:r>
          </a:p>
        </p:txBody>
      </p:sp>
      <p:sp>
        <p:nvSpPr>
          <p:cNvPr id="88082" name="Text Box 18"/>
          <p:cNvSpPr txBox="1">
            <a:spLocks noChangeArrowheads="1"/>
          </p:cNvSpPr>
          <p:nvPr/>
        </p:nvSpPr>
        <p:spPr bwMode="auto">
          <a:xfrm>
            <a:off x="1835150" y="5516563"/>
            <a:ext cx="6048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8000" rIns="198000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</a:rPr>
              <a:t>换路定律反映了能量不能跃变。</a:t>
            </a:r>
          </a:p>
        </p:txBody>
      </p:sp>
      <p:sp>
        <p:nvSpPr>
          <p:cNvPr id="165904" name="Text Box 34"/>
          <p:cNvSpPr txBox="1">
            <a:spLocks noChangeArrowheads="1"/>
          </p:cNvSpPr>
          <p:nvPr/>
        </p:nvSpPr>
        <p:spPr bwMode="auto">
          <a:xfrm>
            <a:off x="677360" y="4351338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89280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8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6" grpId="0" animBg="1"/>
      <p:bldP spid="88077" grpId="0" build="p" autoUpdateAnimBg="0"/>
      <p:bldP spid="88079" grpId="0" autoUpdateAnimBg="0"/>
      <p:bldP spid="88080" grpId="0" autoUpdateAnimBg="0"/>
      <p:bldP spid="88082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287338" y="260350"/>
            <a:ext cx="348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三、电路初始值的确定</a:t>
            </a:r>
            <a:endParaRPr kumimoji="1" lang="zh-CN" altLang="en-US" sz="32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836613" y="4005064"/>
            <a:ext cx="2300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en-US" altLang="zh-CN" sz="2400" b="1" dirty="0">
                <a:latin typeface="Times New Roman" panose="02020603050405020304" pitchFamily="18" charset="0"/>
              </a:rPr>
              <a:t>(2)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由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换路定律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182688" y="4452739"/>
            <a:ext cx="2901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32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 = </a:t>
            </a:r>
            <a:r>
              <a:rPr kumimoji="1" lang="en-US" altLang="zh-CN" sz="32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)=8V</a:t>
            </a:r>
          </a:p>
        </p:txBody>
      </p:sp>
      <p:grpSp>
        <p:nvGrpSpPr>
          <p:cNvPr id="61523" name="Group 83"/>
          <p:cNvGrpSpPr>
            <a:grpSpLocks/>
          </p:cNvGrpSpPr>
          <p:nvPr/>
        </p:nvGrpSpPr>
        <p:grpSpPr bwMode="auto">
          <a:xfrm>
            <a:off x="4932363" y="2773363"/>
            <a:ext cx="3789362" cy="2079625"/>
            <a:chOff x="3107" y="1747"/>
            <a:chExt cx="2387" cy="1310"/>
          </a:xfrm>
        </p:grpSpPr>
        <p:sp>
          <p:nvSpPr>
            <p:cNvPr id="61446" name="Oval 6"/>
            <p:cNvSpPr>
              <a:spLocks noChangeArrowheads="1"/>
            </p:cNvSpPr>
            <p:nvPr/>
          </p:nvSpPr>
          <p:spPr bwMode="auto">
            <a:xfrm>
              <a:off x="4916" y="2129"/>
              <a:ext cx="247" cy="228"/>
            </a:xfrm>
            <a:prstGeom prst="ellipse">
              <a:avLst/>
            </a:prstGeom>
            <a:solidFill>
              <a:srgbClr val="FF00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47" name="Oval 7"/>
            <p:cNvSpPr>
              <a:spLocks noChangeArrowheads="1"/>
            </p:cNvSpPr>
            <p:nvPr/>
          </p:nvSpPr>
          <p:spPr bwMode="auto">
            <a:xfrm>
              <a:off x="3524" y="2151"/>
              <a:ext cx="247" cy="228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48" name="Rectangle 8"/>
            <p:cNvSpPr>
              <a:spLocks noChangeArrowheads="1"/>
            </p:cNvSpPr>
            <p:nvPr/>
          </p:nvSpPr>
          <p:spPr bwMode="auto">
            <a:xfrm>
              <a:off x="4019" y="1831"/>
              <a:ext cx="248" cy="92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49" name="Line 9"/>
            <p:cNvSpPr>
              <a:spLocks noChangeShapeType="1"/>
            </p:cNvSpPr>
            <p:nvPr/>
          </p:nvSpPr>
          <p:spPr bwMode="auto">
            <a:xfrm flipH="1">
              <a:off x="5052" y="2078"/>
              <a:ext cx="0" cy="6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0" name="Line 10"/>
            <p:cNvSpPr>
              <a:spLocks noChangeShapeType="1"/>
            </p:cNvSpPr>
            <p:nvPr/>
          </p:nvSpPr>
          <p:spPr bwMode="auto">
            <a:xfrm flipV="1">
              <a:off x="5052" y="1877"/>
              <a:ext cx="0" cy="2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1" name="Line 11"/>
            <p:cNvSpPr>
              <a:spLocks noChangeShapeType="1"/>
            </p:cNvSpPr>
            <p:nvPr/>
          </p:nvSpPr>
          <p:spPr bwMode="auto">
            <a:xfrm>
              <a:off x="4267" y="1877"/>
              <a:ext cx="7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2" name="Line 12"/>
            <p:cNvSpPr>
              <a:spLocks noChangeShapeType="1"/>
            </p:cNvSpPr>
            <p:nvPr/>
          </p:nvSpPr>
          <p:spPr bwMode="auto">
            <a:xfrm>
              <a:off x="3648" y="1877"/>
              <a:ext cx="3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13"/>
            <p:cNvSpPr>
              <a:spLocks noChangeShapeType="1"/>
            </p:cNvSpPr>
            <p:nvPr/>
          </p:nvSpPr>
          <p:spPr bwMode="auto">
            <a:xfrm>
              <a:off x="3648" y="1877"/>
              <a:ext cx="0" cy="8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4" name="Line 14"/>
            <p:cNvSpPr>
              <a:spLocks noChangeShapeType="1"/>
            </p:cNvSpPr>
            <p:nvPr/>
          </p:nvSpPr>
          <p:spPr bwMode="auto">
            <a:xfrm>
              <a:off x="3648" y="2699"/>
              <a:ext cx="1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5" name="Text Box 15"/>
            <p:cNvSpPr txBox="1">
              <a:spLocks noChangeArrowheads="1"/>
            </p:cNvSpPr>
            <p:nvPr/>
          </p:nvSpPr>
          <p:spPr bwMode="auto">
            <a:xfrm>
              <a:off x="3407" y="1828"/>
              <a:ext cx="262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1456" name="Text Box 16"/>
            <p:cNvSpPr txBox="1">
              <a:spLocks noChangeArrowheads="1"/>
            </p:cNvSpPr>
            <p:nvPr/>
          </p:nvSpPr>
          <p:spPr bwMode="auto">
            <a:xfrm>
              <a:off x="3107" y="2115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61457" name="Line 17"/>
            <p:cNvSpPr>
              <a:spLocks noChangeShapeType="1"/>
            </p:cNvSpPr>
            <p:nvPr/>
          </p:nvSpPr>
          <p:spPr bwMode="auto">
            <a:xfrm>
              <a:off x="5053" y="2440"/>
              <a:ext cx="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8" name="Text Box 18"/>
            <p:cNvSpPr txBox="1">
              <a:spLocks noChangeArrowheads="1"/>
            </p:cNvSpPr>
            <p:nvPr/>
          </p:nvSpPr>
          <p:spPr bwMode="auto">
            <a:xfrm>
              <a:off x="4365" y="2326"/>
              <a:ext cx="6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zh-CN" altLang="en-US" sz="2400" b="1" baseline="30000">
                  <a:latin typeface="Times New Roman" panose="02020603050405020304" pitchFamily="18" charset="0"/>
                </a:rPr>
                <a:t>＋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1459" name="Text Box 19"/>
            <p:cNvSpPr txBox="1">
              <a:spLocks noChangeArrowheads="1"/>
            </p:cNvSpPr>
            <p:nvPr/>
          </p:nvSpPr>
          <p:spPr bwMode="auto">
            <a:xfrm>
              <a:off x="5143" y="1747"/>
              <a:ext cx="351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8V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61460" name="Text Box 20"/>
            <p:cNvSpPr txBox="1">
              <a:spLocks noChangeArrowheads="1"/>
            </p:cNvSpPr>
            <p:nvPr/>
          </p:nvSpPr>
          <p:spPr bwMode="auto">
            <a:xfrm>
              <a:off x="3821" y="1870"/>
              <a:ext cx="5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10k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61461" name="Text Box 21"/>
            <p:cNvSpPr txBox="1">
              <a:spLocks noChangeArrowheads="1"/>
            </p:cNvSpPr>
            <p:nvPr/>
          </p:nvSpPr>
          <p:spPr bwMode="auto">
            <a:xfrm>
              <a:off x="3870" y="2769"/>
              <a:ext cx="11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 baseline="30000">
                  <a:latin typeface="Times New Roman" panose="02020603050405020304" pitchFamily="18" charset="0"/>
                </a:rPr>
                <a:t>+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等效电路</a:t>
              </a:r>
            </a:p>
          </p:txBody>
        </p:sp>
      </p:grpSp>
      <p:graphicFrame>
        <p:nvGraphicFramePr>
          <p:cNvPr id="614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118401"/>
              </p:ext>
            </p:extLst>
          </p:nvPr>
        </p:nvGraphicFramePr>
        <p:xfrm>
          <a:off x="1282700" y="5759252"/>
          <a:ext cx="289718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62040" imgH="406080" progId="Equation.3">
                  <p:embed/>
                </p:oleObj>
              </mc:Choice>
              <mc:Fallback>
                <p:oleObj name="公式" r:id="rId3" imgW="1562040" imgH="406080" progId="Equation.3">
                  <p:embed/>
                  <p:pic>
                    <p:nvPicPr>
                      <p:cNvPr id="614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5759252"/>
                        <a:ext cx="289718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3" name="Text Box 23"/>
          <p:cNvSpPr txBox="1">
            <a:spLocks noChangeArrowheads="1"/>
          </p:cNvSpPr>
          <p:nvPr/>
        </p:nvSpPr>
        <p:spPr bwMode="auto">
          <a:xfrm>
            <a:off x="719138" y="836613"/>
            <a:ext cx="3252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(1)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电路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求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61522" name="Group 82"/>
          <p:cNvGrpSpPr>
            <a:grpSpLocks/>
          </p:cNvGrpSpPr>
          <p:nvPr/>
        </p:nvGrpSpPr>
        <p:grpSpPr bwMode="auto">
          <a:xfrm>
            <a:off x="431800" y="1323975"/>
            <a:ext cx="3863975" cy="1468438"/>
            <a:chOff x="272" y="834"/>
            <a:chExt cx="2434" cy="925"/>
          </a:xfrm>
        </p:grpSpPr>
        <p:sp>
          <p:nvSpPr>
            <p:cNvPr id="61465" name="Oval 25"/>
            <p:cNvSpPr>
              <a:spLocks noChangeArrowheads="1"/>
            </p:cNvSpPr>
            <p:nvPr/>
          </p:nvSpPr>
          <p:spPr bwMode="auto">
            <a:xfrm>
              <a:off x="693" y="1193"/>
              <a:ext cx="224" cy="205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6" name="Rectangle 26"/>
            <p:cNvSpPr>
              <a:spLocks noChangeArrowheads="1"/>
            </p:cNvSpPr>
            <p:nvPr/>
          </p:nvSpPr>
          <p:spPr bwMode="auto">
            <a:xfrm>
              <a:off x="1206" y="906"/>
              <a:ext cx="270" cy="82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7" name="Rectangle 27"/>
            <p:cNvSpPr>
              <a:spLocks noChangeArrowheads="1"/>
            </p:cNvSpPr>
            <p:nvPr/>
          </p:nvSpPr>
          <p:spPr bwMode="auto">
            <a:xfrm>
              <a:off x="1791" y="1111"/>
              <a:ext cx="90" cy="205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8" name="Line 28"/>
            <p:cNvSpPr>
              <a:spLocks noChangeShapeType="1"/>
            </p:cNvSpPr>
            <p:nvPr/>
          </p:nvSpPr>
          <p:spPr bwMode="auto">
            <a:xfrm>
              <a:off x="1836" y="1316"/>
              <a:ext cx="0" cy="3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9" name="Line 29"/>
            <p:cNvSpPr>
              <a:spLocks noChangeShapeType="1"/>
            </p:cNvSpPr>
            <p:nvPr/>
          </p:nvSpPr>
          <p:spPr bwMode="auto">
            <a:xfrm flipV="1">
              <a:off x="1836" y="947"/>
              <a:ext cx="0" cy="1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0" name="Line 30"/>
            <p:cNvSpPr>
              <a:spLocks noChangeShapeType="1"/>
            </p:cNvSpPr>
            <p:nvPr/>
          </p:nvSpPr>
          <p:spPr bwMode="auto">
            <a:xfrm>
              <a:off x="2331" y="1397"/>
              <a:ext cx="0" cy="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1" name="Line 31"/>
            <p:cNvSpPr>
              <a:spLocks noChangeShapeType="1"/>
            </p:cNvSpPr>
            <p:nvPr/>
          </p:nvSpPr>
          <p:spPr bwMode="auto">
            <a:xfrm flipV="1">
              <a:off x="2331" y="947"/>
              <a:ext cx="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2" name="Line 32"/>
            <p:cNvSpPr>
              <a:spLocks noChangeShapeType="1"/>
            </p:cNvSpPr>
            <p:nvPr/>
          </p:nvSpPr>
          <p:spPr bwMode="auto">
            <a:xfrm>
              <a:off x="1476" y="947"/>
              <a:ext cx="8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3" name="Line 33"/>
            <p:cNvSpPr>
              <a:spLocks noChangeShapeType="1"/>
            </p:cNvSpPr>
            <p:nvPr/>
          </p:nvSpPr>
          <p:spPr bwMode="auto">
            <a:xfrm>
              <a:off x="800" y="947"/>
              <a:ext cx="4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4" name="Line 34"/>
            <p:cNvSpPr>
              <a:spLocks noChangeShapeType="1"/>
            </p:cNvSpPr>
            <p:nvPr/>
          </p:nvSpPr>
          <p:spPr bwMode="auto">
            <a:xfrm>
              <a:off x="800" y="947"/>
              <a:ext cx="0" cy="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5" name="Line 35"/>
            <p:cNvSpPr>
              <a:spLocks noChangeShapeType="1"/>
            </p:cNvSpPr>
            <p:nvPr/>
          </p:nvSpPr>
          <p:spPr bwMode="auto">
            <a:xfrm>
              <a:off x="800" y="1684"/>
              <a:ext cx="15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6" name="Text Box 36"/>
            <p:cNvSpPr txBox="1">
              <a:spLocks noChangeArrowheads="1"/>
            </p:cNvSpPr>
            <p:nvPr/>
          </p:nvSpPr>
          <p:spPr bwMode="auto">
            <a:xfrm>
              <a:off x="550" y="857"/>
              <a:ext cx="262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1477" name="Text Box 37"/>
            <p:cNvSpPr txBox="1">
              <a:spLocks noChangeArrowheads="1"/>
            </p:cNvSpPr>
            <p:nvPr/>
          </p:nvSpPr>
          <p:spPr bwMode="auto">
            <a:xfrm>
              <a:off x="272" y="1162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61478" name="Text Box 38"/>
            <p:cNvSpPr txBox="1">
              <a:spLocks noChangeArrowheads="1"/>
            </p:cNvSpPr>
            <p:nvPr/>
          </p:nvSpPr>
          <p:spPr bwMode="auto">
            <a:xfrm>
              <a:off x="2371" y="834"/>
              <a:ext cx="335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</a:p>
            <a:p>
              <a:pPr algn="ctr" eaLnBrk="0" hangingPunct="0"/>
              <a:r>
                <a:rPr kumimoji="1" lang="en-US" altLang="zh-CN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61479" name="Text Box 39"/>
            <p:cNvSpPr txBox="1">
              <a:spLocks noChangeArrowheads="1"/>
            </p:cNvSpPr>
            <p:nvPr/>
          </p:nvSpPr>
          <p:spPr bwMode="auto">
            <a:xfrm>
              <a:off x="1015" y="926"/>
              <a:ext cx="5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10k</a:t>
              </a:r>
              <a:r>
                <a:rPr kumimoji="1" lang="en-US" altLang="zh-CN" sz="2400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61480" name="Text Box 40"/>
            <p:cNvSpPr txBox="1">
              <a:spLocks noChangeArrowheads="1"/>
            </p:cNvSpPr>
            <p:nvPr/>
          </p:nvSpPr>
          <p:spPr bwMode="auto">
            <a:xfrm>
              <a:off x="1258" y="1100"/>
              <a:ext cx="5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40k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</p:grpSp>
      <p:sp>
        <p:nvSpPr>
          <p:cNvPr id="61481" name="Text Box 41"/>
          <p:cNvSpPr txBox="1">
            <a:spLocks noChangeArrowheads="1"/>
          </p:cNvSpPr>
          <p:nvPr/>
        </p:nvSpPr>
        <p:spPr bwMode="auto">
          <a:xfrm>
            <a:off x="1319213" y="2860675"/>
            <a:ext cx="181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)=8V</a:t>
            </a:r>
          </a:p>
        </p:txBody>
      </p:sp>
      <p:sp>
        <p:nvSpPr>
          <p:cNvPr id="61482" name="Text Box 42"/>
          <p:cNvSpPr txBox="1">
            <a:spLocks noChangeArrowheads="1"/>
          </p:cNvSpPr>
          <p:nvPr/>
        </p:nvSpPr>
        <p:spPr bwMode="auto">
          <a:xfrm>
            <a:off x="871538" y="5192514"/>
            <a:ext cx="42513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(3)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等效电路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求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0" hangingPunct="0"/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61483" name="Group 43"/>
          <p:cNvGrpSpPr>
            <a:grpSpLocks/>
          </p:cNvGrpSpPr>
          <p:nvPr/>
        </p:nvGrpSpPr>
        <p:grpSpPr bwMode="auto">
          <a:xfrm>
            <a:off x="5224463" y="5214938"/>
            <a:ext cx="2224087" cy="457200"/>
            <a:chOff x="3145" y="3294"/>
            <a:chExt cx="1401" cy="288"/>
          </a:xfrm>
        </p:grpSpPr>
        <p:sp>
          <p:nvSpPr>
            <p:cNvPr id="61484" name="Text Box 44"/>
            <p:cNvSpPr txBox="1">
              <a:spLocks noChangeArrowheads="1"/>
            </p:cNvSpPr>
            <p:nvPr/>
          </p:nvSpPr>
          <p:spPr bwMode="auto">
            <a:xfrm>
              <a:off x="3145" y="3294"/>
              <a:ext cx="14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solidFill>
                    <a:srgbClr val="FF0066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solidFill>
                    <a:srgbClr val="FF0066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2400" b="1" baseline="30000">
                  <a:solidFill>
                    <a:srgbClr val="FF0066"/>
                  </a:solidFill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)=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0     </a:t>
              </a:r>
              <a:r>
                <a:rPr kumimoji="1" lang="en-US" altLang="zh-CN" sz="2400" b="1" i="1">
                  <a:solidFill>
                    <a:srgbClr val="FF0066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solidFill>
                    <a:srgbClr val="FF0066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2400" b="1" baseline="30000">
                  <a:solidFill>
                    <a:srgbClr val="FF0066"/>
                  </a:solidFill>
                  <a:latin typeface="Times New Roman" panose="02020603050405020304" pitchFamily="18" charset="0"/>
                </a:rPr>
                <a:t>+</a:t>
              </a:r>
              <a:r>
                <a:rPr kumimoji="1" lang="en-US" altLang="zh-CN" sz="2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)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61485" name="Group 45"/>
            <p:cNvGrpSpPr>
              <a:grpSpLocks/>
            </p:cNvGrpSpPr>
            <p:nvPr/>
          </p:nvGrpSpPr>
          <p:grpSpPr bwMode="auto">
            <a:xfrm>
              <a:off x="3854" y="3353"/>
              <a:ext cx="172" cy="164"/>
              <a:chOff x="3854" y="3353"/>
              <a:chExt cx="172" cy="164"/>
            </a:xfrm>
          </p:grpSpPr>
          <p:sp>
            <p:nvSpPr>
              <p:cNvPr id="61486" name="Line 46"/>
              <p:cNvSpPr>
                <a:spLocks noChangeShapeType="1"/>
              </p:cNvSpPr>
              <p:nvPr/>
            </p:nvSpPr>
            <p:spPr bwMode="auto">
              <a:xfrm>
                <a:off x="3854" y="3418"/>
                <a:ext cx="172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87" name="Line 47"/>
              <p:cNvSpPr>
                <a:spLocks noChangeShapeType="1"/>
              </p:cNvSpPr>
              <p:nvPr/>
            </p:nvSpPr>
            <p:spPr bwMode="auto">
              <a:xfrm>
                <a:off x="3854" y="3472"/>
                <a:ext cx="163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88" name="Line 48"/>
              <p:cNvSpPr>
                <a:spLocks noChangeShapeType="1"/>
              </p:cNvSpPr>
              <p:nvPr/>
            </p:nvSpPr>
            <p:spPr bwMode="auto">
              <a:xfrm>
                <a:off x="3908" y="3353"/>
                <a:ext cx="64" cy="164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1520" name="Group 80"/>
          <p:cNvGrpSpPr>
            <a:grpSpLocks/>
          </p:cNvGrpSpPr>
          <p:nvPr/>
        </p:nvGrpSpPr>
        <p:grpSpPr bwMode="auto">
          <a:xfrm>
            <a:off x="4559300" y="341313"/>
            <a:ext cx="4175125" cy="2020887"/>
            <a:chOff x="2872" y="215"/>
            <a:chExt cx="2630" cy="1273"/>
          </a:xfrm>
        </p:grpSpPr>
        <p:sp>
          <p:nvSpPr>
            <p:cNvPr id="61490" name="Line 50"/>
            <p:cNvSpPr>
              <a:spLocks noChangeShapeType="1"/>
            </p:cNvSpPr>
            <p:nvPr/>
          </p:nvSpPr>
          <p:spPr bwMode="auto">
            <a:xfrm>
              <a:off x="4638" y="384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1" name="Line 51"/>
            <p:cNvSpPr>
              <a:spLocks noChangeShapeType="1"/>
            </p:cNvSpPr>
            <p:nvPr/>
          </p:nvSpPr>
          <p:spPr bwMode="auto">
            <a:xfrm>
              <a:off x="3648" y="37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2" name="Text Box 52"/>
            <p:cNvSpPr txBox="1">
              <a:spLocks noChangeArrowheads="1"/>
            </p:cNvSpPr>
            <p:nvPr/>
          </p:nvSpPr>
          <p:spPr bwMode="auto">
            <a:xfrm>
              <a:off x="2884" y="21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493" name="Oval 53"/>
            <p:cNvSpPr>
              <a:spLocks noChangeArrowheads="1"/>
            </p:cNvSpPr>
            <p:nvPr/>
          </p:nvSpPr>
          <p:spPr bwMode="auto">
            <a:xfrm>
              <a:off x="3509" y="644"/>
              <a:ext cx="260" cy="218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4" name="Rectangle 54"/>
            <p:cNvSpPr>
              <a:spLocks noChangeArrowheads="1"/>
            </p:cNvSpPr>
            <p:nvPr/>
          </p:nvSpPr>
          <p:spPr bwMode="auto">
            <a:xfrm>
              <a:off x="4029" y="337"/>
              <a:ext cx="259" cy="88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5" name="Rectangle 55"/>
            <p:cNvSpPr>
              <a:spLocks noChangeArrowheads="1"/>
            </p:cNvSpPr>
            <p:nvPr/>
          </p:nvSpPr>
          <p:spPr bwMode="auto">
            <a:xfrm>
              <a:off x="4591" y="556"/>
              <a:ext cx="87" cy="219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6" name="Line 56"/>
            <p:cNvSpPr>
              <a:spLocks noChangeShapeType="1"/>
            </p:cNvSpPr>
            <p:nvPr/>
          </p:nvSpPr>
          <p:spPr bwMode="auto">
            <a:xfrm>
              <a:off x="5012" y="632"/>
              <a:ext cx="17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7" name="Line 57"/>
            <p:cNvSpPr>
              <a:spLocks noChangeShapeType="1"/>
            </p:cNvSpPr>
            <p:nvPr/>
          </p:nvSpPr>
          <p:spPr bwMode="auto">
            <a:xfrm>
              <a:off x="4635" y="904"/>
              <a:ext cx="86" cy="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8" name="Line 58"/>
            <p:cNvSpPr>
              <a:spLocks noChangeShapeType="1"/>
            </p:cNvSpPr>
            <p:nvPr/>
          </p:nvSpPr>
          <p:spPr bwMode="auto">
            <a:xfrm flipV="1">
              <a:off x="4636" y="912"/>
              <a:ext cx="132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9" name="Line 59"/>
            <p:cNvSpPr>
              <a:spLocks noChangeShapeType="1"/>
            </p:cNvSpPr>
            <p:nvPr/>
          </p:nvSpPr>
          <p:spPr bwMode="auto">
            <a:xfrm>
              <a:off x="5093" y="675"/>
              <a:ext cx="1" cy="4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0" name="Line 60"/>
            <p:cNvSpPr>
              <a:spLocks noChangeShapeType="1"/>
            </p:cNvSpPr>
            <p:nvPr/>
          </p:nvSpPr>
          <p:spPr bwMode="auto">
            <a:xfrm flipV="1">
              <a:off x="5093" y="369"/>
              <a:ext cx="1" cy="2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1" name="Text Box 61"/>
            <p:cNvSpPr txBox="1">
              <a:spLocks noChangeArrowheads="1"/>
            </p:cNvSpPr>
            <p:nvPr/>
          </p:nvSpPr>
          <p:spPr bwMode="auto">
            <a:xfrm>
              <a:off x="3394" y="316"/>
              <a:ext cx="262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1502" name="Text Box 62"/>
            <p:cNvSpPr txBox="1">
              <a:spLocks noChangeArrowheads="1"/>
            </p:cNvSpPr>
            <p:nvPr/>
          </p:nvSpPr>
          <p:spPr bwMode="auto">
            <a:xfrm>
              <a:off x="3618" y="763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61503" name="Line 63"/>
            <p:cNvSpPr>
              <a:spLocks noChangeShapeType="1"/>
            </p:cNvSpPr>
            <p:nvPr/>
          </p:nvSpPr>
          <p:spPr bwMode="auto">
            <a:xfrm>
              <a:off x="5028" y="720"/>
              <a:ext cx="1" cy="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4" name="Text Box 64"/>
            <p:cNvSpPr txBox="1">
              <a:spLocks noChangeArrowheads="1"/>
            </p:cNvSpPr>
            <p:nvPr/>
          </p:nvSpPr>
          <p:spPr bwMode="auto">
            <a:xfrm>
              <a:off x="4869" y="763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1505" name="Text Box 65"/>
            <p:cNvSpPr txBox="1">
              <a:spLocks noChangeArrowheads="1"/>
            </p:cNvSpPr>
            <p:nvPr/>
          </p:nvSpPr>
          <p:spPr bwMode="auto">
            <a:xfrm>
              <a:off x="5150" y="291"/>
              <a:ext cx="352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</a:p>
            <a:p>
              <a:pPr algn="ctr" eaLnBrk="0" hangingPunct="0"/>
              <a:r>
                <a:rPr kumimoji="1" lang="en-US" altLang="zh-CN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61506" name="Text Box 66"/>
            <p:cNvSpPr txBox="1">
              <a:spLocks noChangeArrowheads="1"/>
            </p:cNvSpPr>
            <p:nvPr/>
          </p:nvSpPr>
          <p:spPr bwMode="auto">
            <a:xfrm>
              <a:off x="4439" y="883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1507" name="Text Box 67"/>
            <p:cNvSpPr txBox="1">
              <a:spLocks noChangeArrowheads="1"/>
            </p:cNvSpPr>
            <p:nvPr/>
          </p:nvSpPr>
          <p:spPr bwMode="auto">
            <a:xfrm>
              <a:off x="3835" y="369"/>
              <a:ext cx="5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10k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61508" name="Text Box 68"/>
            <p:cNvSpPr txBox="1">
              <a:spLocks noChangeArrowheads="1"/>
            </p:cNvSpPr>
            <p:nvPr/>
          </p:nvSpPr>
          <p:spPr bwMode="auto">
            <a:xfrm>
              <a:off x="4060" y="572"/>
              <a:ext cx="5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40k</a:t>
              </a:r>
              <a:r>
                <a:rPr kumimoji="1" lang="en-US" altLang="zh-CN" sz="2400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61509" name="Text Box 69"/>
            <p:cNvSpPr txBox="1">
              <a:spLocks noChangeArrowheads="1"/>
            </p:cNvSpPr>
            <p:nvPr/>
          </p:nvSpPr>
          <p:spPr bwMode="auto">
            <a:xfrm>
              <a:off x="2872" y="1200"/>
              <a:ext cx="10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latin typeface="Times New Roman" panose="02020603050405020304" pitchFamily="18" charset="0"/>
                </a:rPr>
                <a:t>求 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2400" b="1" baseline="30000">
                  <a:latin typeface="Times New Roman" panose="02020603050405020304" pitchFamily="18" charset="0"/>
                </a:rPr>
                <a:t>+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。</a:t>
              </a:r>
            </a:p>
          </p:txBody>
        </p:sp>
        <p:sp>
          <p:nvSpPr>
            <p:cNvPr id="61510" name="Line 70"/>
            <p:cNvSpPr>
              <a:spLocks noChangeShapeType="1"/>
            </p:cNvSpPr>
            <p:nvPr/>
          </p:nvSpPr>
          <p:spPr bwMode="auto">
            <a:xfrm>
              <a:off x="4643" y="1047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1" name="Line 71"/>
            <p:cNvSpPr>
              <a:spLocks noChangeShapeType="1"/>
            </p:cNvSpPr>
            <p:nvPr/>
          </p:nvSpPr>
          <p:spPr bwMode="auto">
            <a:xfrm>
              <a:off x="5012" y="680"/>
              <a:ext cx="17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12" name="Line 72"/>
            <p:cNvSpPr>
              <a:spLocks noChangeShapeType="1"/>
            </p:cNvSpPr>
            <p:nvPr/>
          </p:nvSpPr>
          <p:spPr bwMode="auto">
            <a:xfrm>
              <a:off x="3648" y="384"/>
              <a:ext cx="0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3" name="Line 73"/>
            <p:cNvSpPr>
              <a:spLocks noChangeShapeType="1"/>
            </p:cNvSpPr>
            <p:nvPr/>
          </p:nvSpPr>
          <p:spPr bwMode="auto">
            <a:xfrm>
              <a:off x="3648" y="115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514" name="Group 74"/>
          <p:cNvGrpSpPr>
            <a:grpSpLocks/>
          </p:cNvGrpSpPr>
          <p:nvPr/>
        </p:nvGrpSpPr>
        <p:grpSpPr bwMode="auto">
          <a:xfrm>
            <a:off x="3267075" y="2843213"/>
            <a:ext cx="1574800" cy="541337"/>
            <a:chOff x="2058" y="1791"/>
            <a:chExt cx="992" cy="341"/>
          </a:xfrm>
        </p:grpSpPr>
        <p:sp>
          <p:nvSpPr>
            <p:cNvPr id="61515" name="AutoShape 75"/>
            <p:cNvSpPr>
              <a:spLocks noChangeArrowheads="1"/>
            </p:cNvSpPr>
            <p:nvPr/>
          </p:nvSpPr>
          <p:spPr bwMode="auto">
            <a:xfrm>
              <a:off x="2058" y="1791"/>
              <a:ext cx="992" cy="341"/>
            </a:xfrm>
            <a:prstGeom prst="wedgeEllipseCallout">
              <a:avLst>
                <a:gd name="adj1" fmla="val -51412"/>
                <a:gd name="adj2" fmla="val -103958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1516" name="Text Box 76"/>
            <p:cNvSpPr txBox="1">
              <a:spLocks noChangeArrowheads="1"/>
            </p:cNvSpPr>
            <p:nvPr/>
          </p:nvSpPr>
          <p:spPr bwMode="auto">
            <a:xfrm>
              <a:off x="2157" y="1848"/>
              <a:ext cx="7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电阻电路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1517" name="Group 77"/>
          <p:cNvGrpSpPr>
            <a:grpSpLocks/>
          </p:cNvGrpSpPr>
          <p:nvPr/>
        </p:nvGrpSpPr>
        <p:grpSpPr bwMode="auto">
          <a:xfrm>
            <a:off x="4662488" y="4598988"/>
            <a:ext cx="1574800" cy="541337"/>
            <a:chOff x="2937" y="2897"/>
            <a:chExt cx="992" cy="341"/>
          </a:xfrm>
        </p:grpSpPr>
        <p:sp>
          <p:nvSpPr>
            <p:cNvPr id="61518" name="AutoShape 78"/>
            <p:cNvSpPr>
              <a:spLocks noChangeArrowheads="1"/>
            </p:cNvSpPr>
            <p:nvPr/>
          </p:nvSpPr>
          <p:spPr bwMode="auto">
            <a:xfrm>
              <a:off x="2937" y="2897"/>
              <a:ext cx="992" cy="341"/>
            </a:xfrm>
            <a:prstGeom prst="wedgeEllipseCallout">
              <a:avLst>
                <a:gd name="adj1" fmla="val 54134"/>
                <a:gd name="adj2" fmla="val -136509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1519" name="Text Box 79"/>
            <p:cNvSpPr txBox="1">
              <a:spLocks noChangeArrowheads="1"/>
            </p:cNvSpPr>
            <p:nvPr/>
          </p:nvSpPr>
          <p:spPr bwMode="auto">
            <a:xfrm>
              <a:off x="3036" y="2954"/>
              <a:ext cx="7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电阻电路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84" name="Text Box 41"/>
          <p:cNvSpPr txBox="1">
            <a:spLocks noChangeArrowheads="1"/>
          </p:cNvSpPr>
          <p:nvPr/>
        </p:nvSpPr>
        <p:spPr bwMode="auto">
          <a:xfrm>
            <a:off x="1318915" y="3376414"/>
            <a:ext cx="181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)=0A</a:t>
            </a:r>
          </a:p>
        </p:txBody>
      </p:sp>
    </p:spTree>
    <p:extLst>
      <p:ext uri="{BB962C8B-B14F-4D97-AF65-F5344CB8AC3E}">
        <p14:creationId xmlns:p14="http://schemas.microsoft.com/office/powerpoint/2010/main" val="29473684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uild="p" autoUpdateAnimBg="0" advAuto="0"/>
      <p:bldP spid="61443" grpId="0" build="p" autoUpdateAnimBg="0"/>
      <p:bldP spid="61444" grpId="0" build="p" autoUpdateAnimBg="0"/>
      <p:bldP spid="61463" grpId="0" build="p" autoUpdateAnimBg="0"/>
      <p:bldP spid="61481" grpId="0" build="p" autoUpdateAnimBg="0"/>
      <p:bldP spid="61482" grpId="0" build="p" autoUpdateAnimBg="0"/>
      <p:bldP spid="84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4495800" y="1447800"/>
          <a:ext cx="388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886200" imgH="469800" progId="Equation.3">
                  <p:embed/>
                </p:oleObj>
              </mc:Choice>
              <mc:Fallback>
                <p:oleObj name="公式" r:id="rId3" imgW="3886200" imgH="469800" progId="Equation.3">
                  <p:embed/>
                  <p:pic>
                    <p:nvPicPr>
                      <p:cNvPr id="634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447800"/>
                        <a:ext cx="3886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7573963" y="890588"/>
            <a:ext cx="79692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8000" b="1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kumimoji="1" lang="en-US" altLang="zh-CN" sz="24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4937125" y="2455863"/>
            <a:ext cx="2457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32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 </a:t>
            </a:r>
            <a:r>
              <a:rPr kumimoji="1" lang="en-US" altLang="zh-CN" sz="32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 =2A</a:t>
            </a:r>
          </a:p>
        </p:txBody>
      </p:sp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5181600" y="3962400"/>
          <a:ext cx="29797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228600" progId="Equation.3">
                  <p:embed/>
                </p:oleObj>
              </mc:Choice>
              <mc:Fallback>
                <p:oleObj name="Equation" r:id="rId5" imgW="1422360" imgH="228600" progId="Equation.3">
                  <p:embed/>
                  <p:pic>
                    <p:nvPicPr>
                      <p:cNvPr id="634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962400"/>
                        <a:ext cx="29797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250825" y="225425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523" name="Text Box 35"/>
          <p:cNvSpPr txBox="1">
            <a:spLocks noChangeArrowheads="1"/>
          </p:cNvSpPr>
          <p:nvPr/>
        </p:nvSpPr>
        <p:spPr bwMode="auto">
          <a:xfrm>
            <a:off x="4510088" y="565150"/>
            <a:ext cx="4202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 i="1"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0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时闭合开关</a:t>
            </a:r>
            <a:r>
              <a:rPr kumimoji="1" lang="en-US" altLang="zh-CN" sz="2400" b="1">
                <a:latin typeface="Times New Roman" panose="02020603050405020304" pitchFamily="18" charset="0"/>
              </a:rPr>
              <a:t>S ,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求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i="1" baseline="30000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63560" name="Group 72"/>
          <p:cNvGrpSpPr>
            <a:grpSpLocks/>
          </p:cNvGrpSpPr>
          <p:nvPr/>
        </p:nvGrpSpPr>
        <p:grpSpPr bwMode="auto">
          <a:xfrm>
            <a:off x="323850" y="260350"/>
            <a:ext cx="3870325" cy="1752600"/>
            <a:chOff x="204" y="164"/>
            <a:chExt cx="2438" cy="1104"/>
          </a:xfrm>
        </p:grpSpPr>
        <p:sp>
          <p:nvSpPr>
            <p:cNvPr id="63499" name="Line 11"/>
            <p:cNvSpPr>
              <a:spLocks noChangeShapeType="1"/>
            </p:cNvSpPr>
            <p:nvPr/>
          </p:nvSpPr>
          <p:spPr bwMode="auto">
            <a:xfrm>
              <a:off x="2265" y="1026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0" name="Text Box 12"/>
            <p:cNvSpPr txBox="1">
              <a:spLocks noChangeArrowheads="1"/>
            </p:cNvSpPr>
            <p:nvPr/>
          </p:nvSpPr>
          <p:spPr bwMode="auto">
            <a:xfrm>
              <a:off x="1892" y="952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01" name="Text Box 13"/>
            <p:cNvSpPr txBox="1">
              <a:spLocks noChangeArrowheads="1"/>
            </p:cNvSpPr>
            <p:nvPr/>
          </p:nvSpPr>
          <p:spPr bwMode="auto">
            <a:xfrm>
              <a:off x="2341" y="456"/>
              <a:ext cx="301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</a:p>
            <a:p>
              <a:pPr algn="ctr" eaLnBrk="0" hangingPunct="0"/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02" name="Text Box 14"/>
            <p:cNvSpPr txBox="1">
              <a:spLocks noChangeArrowheads="1"/>
            </p:cNvSpPr>
            <p:nvPr/>
          </p:nvSpPr>
          <p:spPr bwMode="auto">
            <a:xfrm>
              <a:off x="1943" y="6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03" name="Rectangle 15"/>
            <p:cNvSpPr>
              <a:spLocks noChangeArrowheads="1"/>
            </p:cNvSpPr>
            <p:nvPr/>
          </p:nvSpPr>
          <p:spPr bwMode="auto">
            <a:xfrm>
              <a:off x="1113" y="404"/>
              <a:ext cx="288" cy="96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04" name="Rectangle 16"/>
            <p:cNvSpPr>
              <a:spLocks noChangeArrowheads="1"/>
            </p:cNvSpPr>
            <p:nvPr/>
          </p:nvSpPr>
          <p:spPr bwMode="auto">
            <a:xfrm>
              <a:off x="1689" y="404"/>
              <a:ext cx="288" cy="96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5" name="Line 17"/>
            <p:cNvSpPr>
              <a:spLocks noChangeShapeType="1"/>
            </p:cNvSpPr>
            <p:nvPr/>
          </p:nvSpPr>
          <p:spPr bwMode="auto">
            <a:xfrm>
              <a:off x="615" y="815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6" name="Line 18"/>
            <p:cNvSpPr>
              <a:spLocks noChangeShapeType="1"/>
            </p:cNvSpPr>
            <p:nvPr/>
          </p:nvSpPr>
          <p:spPr bwMode="auto">
            <a:xfrm>
              <a:off x="681" y="88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7" name="Line 19"/>
            <p:cNvSpPr>
              <a:spLocks noChangeShapeType="1"/>
            </p:cNvSpPr>
            <p:nvPr/>
          </p:nvSpPr>
          <p:spPr bwMode="auto">
            <a:xfrm flipV="1">
              <a:off x="777" y="452"/>
              <a:ext cx="0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8" name="Line 20"/>
            <p:cNvSpPr>
              <a:spLocks noChangeShapeType="1"/>
            </p:cNvSpPr>
            <p:nvPr/>
          </p:nvSpPr>
          <p:spPr bwMode="auto">
            <a:xfrm>
              <a:off x="777" y="884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9" name="Line 21"/>
            <p:cNvSpPr>
              <a:spLocks noChangeShapeType="1"/>
            </p:cNvSpPr>
            <p:nvPr/>
          </p:nvSpPr>
          <p:spPr bwMode="auto">
            <a:xfrm>
              <a:off x="777" y="1268"/>
              <a:ext cx="1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0" name="Line 22"/>
            <p:cNvSpPr>
              <a:spLocks noChangeShapeType="1"/>
            </p:cNvSpPr>
            <p:nvPr/>
          </p:nvSpPr>
          <p:spPr bwMode="auto">
            <a:xfrm>
              <a:off x="777" y="45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1" name="Line 23"/>
            <p:cNvSpPr>
              <a:spLocks noChangeShapeType="1"/>
            </p:cNvSpPr>
            <p:nvPr/>
          </p:nvSpPr>
          <p:spPr bwMode="auto">
            <a:xfrm>
              <a:off x="1401" y="45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2" name="Line 24"/>
            <p:cNvSpPr>
              <a:spLocks noChangeShapeType="1"/>
            </p:cNvSpPr>
            <p:nvPr/>
          </p:nvSpPr>
          <p:spPr bwMode="auto">
            <a:xfrm>
              <a:off x="1977" y="45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3" name="Line 25"/>
            <p:cNvSpPr>
              <a:spLocks noChangeShapeType="1"/>
            </p:cNvSpPr>
            <p:nvPr/>
          </p:nvSpPr>
          <p:spPr bwMode="auto">
            <a:xfrm>
              <a:off x="2265" y="45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4" name="Line 26"/>
            <p:cNvSpPr>
              <a:spLocks noChangeShapeType="1"/>
            </p:cNvSpPr>
            <p:nvPr/>
          </p:nvSpPr>
          <p:spPr bwMode="auto">
            <a:xfrm>
              <a:off x="1545" y="452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5" name="Line 27"/>
            <p:cNvSpPr>
              <a:spLocks noChangeShapeType="1"/>
            </p:cNvSpPr>
            <p:nvPr/>
          </p:nvSpPr>
          <p:spPr bwMode="auto">
            <a:xfrm flipH="1">
              <a:off x="1353" y="740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6" name="Line 28"/>
            <p:cNvSpPr>
              <a:spLocks noChangeShapeType="1"/>
            </p:cNvSpPr>
            <p:nvPr/>
          </p:nvSpPr>
          <p:spPr bwMode="auto">
            <a:xfrm>
              <a:off x="1545" y="884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7" name="Line 29"/>
            <p:cNvSpPr>
              <a:spLocks noChangeShapeType="1"/>
            </p:cNvSpPr>
            <p:nvPr/>
          </p:nvSpPr>
          <p:spPr bwMode="auto">
            <a:xfrm>
              <a:off x="1353" y="740"/>
              <a:ext cx="9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8" name="Text Box 30"/>
            <p:cNvSpPr txBox="1">
              <a:spLocks noChangeArrowheads="1"/>
            </p:cNvSpPr>
            <p:nvPr/>
          </p:nvSpPr>
          <p:spPr bwMode="auto">
            <a:xfrm>
              <a:off x="204" y="709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63519" name="Text Box 31"/>
            <p:cNvSpPr txBox="1">
              <a:spLocks noChangeArrowheads="1"/>
            </p:cNvSpPr>
            <p:nvPr/>
          </p:nvSpPr>
          <p:spPr bwMode="auto">
            <a:xfrm>
              <a:off x="1098" y="64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3520" name="Text Box 32"/>
            <p:cNvSpPr txBox="1">
              <a:spLocks noChangeArrowheads="1"/>
            </p:cNvSpPr>
            <p:nvPr/>
          </p:nvSpPr>
          <p:spPr bwMode="auto">
            <a:xfrm>
              <a:off x="1065" y="16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21" name="Text Box 33"/>
            <p:cNvSpPr txBox="1">
              <a:spLocks noChangeArrowheads="1"/>
            </p:cNvSpPr>
            <p:nvPr/>
          </p:nvSpPr>
          <p:spPr bwMode="auto">
            <a:xfrm>
              <a:off x="1654" y="16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63522" name="Line 34"/>
            <p:cNvSpPr>
              <a:spLocks noChangeShapeType="1"/>
            </p:cNvSpPr>
            <p:nvPr/>
          </p:nvSpPr>
          <p:spPr bwMode="auto">
            <a:xfrm>
              <a:off x="2144" y="940"/>
              <a:ext cx="0" cy="2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3525" name="Group 37"/>
            <p:cNvGrpSpPr>
              <a:grpSpLocks/>
            </p:cNvGrpSpPr>
            <p:nvPr/>
          </p:nvGrpSpPr>
          <p:grpSpPr bwMode="auto">
            <a:xfrm>
              <a:off x="2224" y="611"/>
              <a:ext cx="113" cy="214"/>
              <a:chOff x="887" y="1182"/>
              <a:chExt cx="113" cy="214"/>
            </a:xfrm>
          </p:grpSpPr>
          <p:sp>
            <p:nvSpPr>
              <p:cNvPr id="63526" name="Oval 38"/>
              <p:cNvSpPr>
                <a:spLocks noChangeArrowheads="1"/>
              </p:cNvSpPr>
              <p:nvPr/>
            </p:nvSpPr>
            <p:spPr bwMode="auto">
              <a:xfrm>
                <a:off x="891" y="1182"/>
                <a:ext cx="109" cy="109"/>
              </a:xfrm>
              <a:prstGeom prst="ellipse">
                <a:avLst/>
              </a:prstGeom>
              <a:solidFill>
                <a:srgbClr val="99FF99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27" name="Oval 39"/>
              <p:cNvSpPr>
                <a:spLocks noChangeArrowheads="1"/>
              </p:cNvSpPr>
              <p:nvPr/>
            </p:nvSpPr>
            <p:spPr bwMode="auto">
              <a:xfrm>
                <a:off x="887" y="1287"/>
                <a:ext cx="109" cy="109"/>
              </a:xfrm>
              <a:prstGeom prst="ellipse">
                <a:avLst/>
              </a:prstGeom>
              <a:solidFill>
                <a:srgbClr val="99FF99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3528" name="Oval 40"/>
            <p:cNvSpPr>
              <a:spLocks noChangeArrowheads="1"/>
            </p:cNvSpPr>
            <p:nvPr/>
          </p:nvSpPr>
          <p:spPr bwMode="auto">
            <a:xfrm>
              <a:off x="2229" y="831"/>
              <a:ext cx="109" cy="109"/>
            </a:xfrm>
            <a:prstGeom prst="ellipse">
              <a:avLst/>
            </a:prstGeom>
            <a:solidFill>
              <a:srgbClr val="99FF99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29" name="Oval 41"/>
            <p:cNvSpPr>
              <a:spLocks noChangeArrowheads="1"/>
            </p:cNvSpPr>
            <p:nvPr/>
          </p:nvSpPr>
          <p:spPr bwMode="auto">
            <a:xfrm>
              <a:off x="2225" y="945"/>
              <a:ext cx="109" cy="109"/>
            </a:xfrm>
            <a:prstGeom prst="ellipse">
              <a:avLst/>
            </a:prstGeom>
            <a:solidFill>
              <a:srgbClr val="99FF99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0" name="Rectangle 42"/>
            <p:cNvSpPr>
              <a:spLocks noChangeArrowheads="1"/>
            </p:cNvSpPr>
            <p:nvPr/>
          </p:nvSpPr>
          <p:spPr bwMode="auto">
            <a:xfrm>
              <a:off x="2172" y="602"/>
              <a:ext cx="82" cy="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3561" name="Group 73"/>
          <p:cNvGrpSpPr>
            <a:grpSpLocks/>
          </p:cNvGrpSpPr>
          <p:nvPr/>
        </p:nvGrpSpPr>
        <p:grpSpPr bwMode="auto">
          <a:xfrm>
            <a:off x="344488" y="2747963"/>
            <a:ext cx="3859212" cy="2057400"/>
            <a:chOff x="217" y="1731"/>
            <a:chExt cx="2431" cy="1296"/>
          </a:xfrm>
        </p:grpSpPr>
        <p:sp>
          <p:nvSpPr>
            <p:cNvPr id="63534" name="Line 46"/>
            <p:cNvSpPr>
              <a:spLocks noChangeShapeType="1"/>
            </p:cNvSpPr>
            <p:nvPr/>
          </p:nvSpPr>
          <p:spPr bwMode="auto">
            <a:xfrm>
              <a:off x="2253" y="2717"/>
              <a:ext cx="0" cy="3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5" name="Text Box 47"/>
            <p:cNvSpPr txBox="1">
              <a:spLocks noChangeArrowheads="1"/>
            </p:cNvSpPr>
            <p:nvPr/>
          </p:nvSpPr>
          <p:spPr bwMode="auto">
            <a:xfrm>
              <a:off x="2347" y="2215"/>
              <a:ext cx="301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</a:p>
            <a:p>
              <a:pPr algn="ctr" eaLnBrk="0" hangingPunct="0"/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36" name="Rectangle 48"/>
            <p:cNvSpPr>
              <a:spLocks noChangeArrowheads="1"/>
            </p:cNvSpPr>
            <p:nvPr/>
          </p:nvSpPr>
          <p:spPr bwMode="auto">
            <a:xfrm>
              <a:off x="1101" y="2163"/>
              <a:ext cx="288" cy="96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37" name="Rectangle 49"/>
            <p:cNvSpPr>
              <a:spLocks noChangeArrowheads="1"/>
            </p:cNvSpPr>
            <p:nvPr/>
          </p:nvSpPr>
          <p:spPr bwMode="auto">
            <a:xfrm>
              <a:off x="1677" y="2163"/>
              <a:ext cx="288" cy="96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8" name="Line 50"/>
            <p:cNvSpPr>
              <a:spLocks noChangeShapeType="1"/>
            </p:cNvSpPr>
            <p:nvPr/>
          </p:nvSpPr>
          <p:spPr bwMode="auto">
            <a:xfrm>
              <a:off x="621" y="2556"/>
              <a:ext cx="3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9" name="Line 51"/>
            <p:cNvSpPr>
              <a:spLocks noChangeShapeType="1"/>
            </p:cNvSpPr>
            <p:nvPr/>
          </p:nvSpPr>
          <p:spPr bwMode="auto">
            <a:xfrm>
              <a:off x="669" y="2643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0" name="Line 52"/>
            <p:cNvSpPr>
              <a:spLocks noChangeShapeType="1"/>
            </p:cNvSpPr>
            <p:nvPr/>
          </p:nvSpPr>
          <p:spPr bwMode="auto">
            <a:xfrm flipV="1">
              <a:off x="765" y="2211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1" name="Line 53"/>
            <p:cNvSpPr>
              <a:spLocks noChangeShapeType="1"/>
            </p:cNvSpPr>
            <p:nvPr/>
          </p:nvSpPr>
          <p:spPr bwMode="auto">
            <a:xfrm>
              <a:off x="765" y="2643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2" name="Line 54"/>
            <p:cNvSpPr>
              <a:spLocks noChangeShapeType="1"/>
            </p:cNvSpPr>
            <p:nvPr/>
          </p:nvSpPr>
          <p:spPr bwMode="auto">
            <a:xfrm>
              <a:off x="765" y="3027"/>
              <a:ext cx="1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3" name="Line 55"/>
            <p:cNvSpPr>
              <a:spLocks noChangeShapeType="1"/>
            </p:cNvSpPr>
            <p:nvPr/>
          </p:nvSpPr>
          <p:spPr bwMode="auto">
            <a:xfrm>
              <a:off x="765" y="2211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4" name="Line 56"/>
            <p:cNvSpPr>
              <a:spLocks noChangeShapeType="1"/>
            </p:cNvSpPr>
            <p:nvPr/>
          </p:nvSpPr>
          <p:spPr bwMode="auto">
            <a:xfrm>
              <a:off x="1389" y="2211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5" name="Line 57"/>
            <p:cNvSpPr>
              <a:spLocks noChangeShapeType="1"/>
            </p:cNvSpPr>
            <p:nvPr/>
          </p:nvSpPr>
          <p:spPr bwMode="auto">
            <a:xfrm>
              <a:off x="1965" y="2211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6" name="Line 58"/>
            <p:cNvSpPr>
              <a:spLocks noChangeShapeType="1"/>
            </p:cNvSpPr>
            <p:nvPr/>
          </p:nvSpPr>
          <p:spPr bwMode="auto">
            <a:xfrm flipH="1">
              <a:off x="2253" y="2211"/>
              <a:ext cx="0" cy="2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7" name="Line 59"/>
            <p:cNvSpPr>
              <a:spLocks noChangeShapeType="1"/>
            </p:cNvSpPr>
            <p:nvPr/>
          </p:nvSpPr>
          <p:spPr bwMode="auto">
            <a:xfrm>
              <a:off x="1533" y="2211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8" name="Line 60"/>
            <p:cNvSpPr>
              <a:spLocks noChangeShapeType="1"/>
            </p:cNvSpPr>
            <p:nvPr/>
          </p:nvSpPr>
          <p:spPr bwMode="auto">
            <a:xfrm>
              <a:off x="1533" y="2643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49" name="Text Box 61"/>
            <p:cNvSpPr txBox="1">
              <a:spLocks noChangeArrowheads="1"/>
            </p:cNvSpPr>
            <p:nvPr/>
          </p:nvSpPr>
          <p:spPr bwMode="auto">
            <a:xfrm>
              <a:off x="217" y="2427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63550" name="Text Box 62"/>
            <p:cNvSpPr txBox="1">
              <a:spLocks noChangeArrowheads="1"/>
            </p:cNvSpPr>
            <p:nvPr/>
          </p:nvSpPr>
          <p:spPr bwMode="auto">
            <a:xfrm>
              <a:off x="1053" y="191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3551" name="Text Box 63"/>
            <p:cNvSpPr txBox="1">
              <a:spLocks noChangeArrowheads="1"/>
            </p:cNvSpPr>
            <p:nvPr/>
          </p:nvSpPr>
          <p:spPr bwMode="auto">
            <a:xfrm>
              <a:off x="1642" y="191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63552" name="Line 64"/>
            <p:cNvSpPr>
              <a:spLocks noChangeShapeType="1"/>
            </p:cNvSpPr>
            <p:nvPr/>
          </p:nvSpPr>
          <p:spPr bwMode="auto">
            <a:xfrm>
              <a:off x="2250" y="2763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53" name="Rectangle 65"/>
            <p:cNvSpPr>
              <a:spLocks noChangeArrowheads="1"/>
            </p:cNvSpPr>
            <p:nvPr/>
          </p:nvSpPr>
          <p:spPr bwMode="auto">
            <a:xfrm>
              <a:off x="333" y="1731"/>
              <a:ext cx="8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 baseline="30000">
                  <a:latin typeface="Times New Roman" panose="02020603050405020304" pitchFamily="18" charset="0"/>
                </a:rPr>
                <a:t>+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电路</a:t>
              </a:r>
            </a:p>
          </p:txBody>
        </p:sp>
        <p:sp>
          <p:nvSpPr>
            <p:cNvPr id="63554" name="Text Box 66"/>
            <p:cNvSpPr txBox="1">
              <a:spLocks noChangeArrowheads="1"/>
            </p:cNvSpPr>
            <p:nvPr/>
          </p:nvSpPr>
          <p:spPr bwMode="auto">
            <a:xfrm>
              <a:off x="1844" y="2557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63555" name="Oval 67"/>
            <p:cNvSpPr>
              <a:spLocks noChangeArrowheads="1"/>
            </p:cNvSpPr>
            <p:nvPr/>
          </p:nvSpPr>
          <p:spPr bwMode="auto">
            <a:xfrm>
              <a:off x="2146" y="2492"/>
              <a:ext cx="227" cy="209"/>
            </a:xfrm>
            <a:prstGeom prst="ellipse">
              <a:avLst/>
            </a:prstGeom>
            <a:solidFill>
              <a:srgbClr val="FF00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56" name="Line 68"/>
            <p:cNvSpPr>
              <a:spLocks noChangeShapeType="1"/>
            </p:cNvSpPr>
            <p:nvPr/>
          </p:nvSpPr>
          <p:spPr bwMode="auto">
            <a:xfrm>
              <a:off x="2146" y="2601"/>
              <a:ext cx="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3557" name="Group 69"/>
          <p:cNvGrpSpPr>
            <a:grpSpLocks/>
          </p:cNvGrpSpPr>
          <p:nvPr/>
        </p:nvGrpSpPr>
        <p:grpSpPr bwMode="auto">
          <a:xfrm>
            <a:off x="1331913" y="5138738"/>
            <a:ext cx="1574800" cy="541337"/>
            <a:chOff x="2937" y="2897"/>
            <a:chExt cx="992" cy="341"/>
          </a:xfrm>
        </p:grpSpPr>
        <p:sp>
          <p:nvSpPr>
            <p:cNvPr id="63558" name="AutoShape 70"/>
            <p:cNvSpPr>
              <a:spLocks noChangeArrowheads="1"/>
            </p:cNvSpPr>
            <p:nvPr/>
          </p:nvSpPr>
          <p:spPr bwMode="auto">
            <a:xfrm>
              <a:off x="2937" y="2897"/>
              <a:ext cx="992" cy="341"/>
            </a:xfrm>
            <a:prstGeom prst="wedgeEllipseCallout">
              <a:avLst>
                <a:gd name="adj1" fmla="val 54134"/>
                <a:gd name="adj2" fmla="val -136509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559" name="Text Box 71"/>
            <p:cNvSpPr txBox="1">
              <a:spLocks noChangeArrowheads="1"/>
            </p:cNvSpPr>
            <p:nvPr/>
          </p:nvSpPr>
          <p:spPr bwMode="auto">
            <a:xfrm>
              <a:off x="3036" y="2954"/>
              <a:ext cx="7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电阻电路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34744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  <p:bldP spid="63492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4859338" y="879475"/>
          <a:ext cx="2341562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406080" progId="Equation.DSMT4">
                  <p:embed/>
                </p:oleObj>
              </mc:Choice>
              <mc:Fallback>
                <p:oleObj name="Equation" r:id="rId3" imgW="1054080" imgH="406080" progId="Equation.DSMT4">
                  <p:embed/>
                  <p:pic>
                    <p:nvPicPr>
                      <p:cNvPr id="65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879475"/>
                        <a:ext cx="2341562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611188" y="277495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(1)</a:t>
            </a:r>
            <a:r>
              <a:rPr kumimoji="1" lang="en-US" altLang="zh-CN" sz="2400">
                <a:latin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1196975" y="2663825"/>
          <a:ext cx="319563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23880" imgH="406080" progId="Equation.3">
                  <p:embed/>
                </p:oleObj>
              </mc:Choice>
              <mc:Fallback>
                <p:oleObj name="公式" r:id="rId5" imgW="1523880" imgH="406080" progId="Equation.3">
                  <p:embed/>
                  <p:pic>
                    <p:nvPicPr>
                      <p:cNvPr id="65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2663825"/>
                        <a:ext cx="3195638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4894263" y="476250"/>
          <a:ext cx="30495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3880" imgH="241200" progId="Equation.DSMT4">
                  <p:embed/>
                </p:oleObj>
              </mc:Choice>
              <mc:Fallback>
                <p:oleObj name="Equation" r:id="rId7" imgW="1523880" imgH="241200" progId="Equation.DSMT4">
                  <p:embed/>
                  <p:pic>
                    <p:nvPicPr>
                      <p:cNvPr id="65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263" y="476250"/>
                        <a:ext cx="30495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605" name="Group 69"/>
          <p:cNvGrpSpPr>
            <a:grpSpLocks/>
          </p:cNvGrpSpPr>
          <p:nvPr/>
        </p:nvGrpSpPr>
        <p:grpSpPr bwMode="auto">
          <a:xfrm>
            <a:off x="395288" y="260350"/>
            <a:ext cx="3721100" cy="2108200"/>
            <a:chOff x="249" y="176"/>
            <a:chExt cx="2344" cy="1328"/>
          </a:xfrm>
        </p:grpSpPr>
        <p:sp>
          <p:nvSpPr>
            <p:cNvPr id="65543" name="Rectangle 7"/>
            <p:cNvSpPr>
              <a:spLocks noChangeArrowheads="1"/>
            </p:cNvSpPr>
            <p:nvPr/>
          </p:nvSpPr>
          <p:spPr bwMode="auto">
            <a:xfrm>
              <a:off x="300" y="217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5544" name="Line 8"/>
            <p:cNvSpPr>
              <a:spLocks noChangeShapeType="1"/>
            </p:cNvSpPr>
            <p:nvPr/>
          </p:nvSpPr>
          <p:spPr bwMode="auto">
            <a:xfrm>
              <a:off x="2198" y="1143"/>
              <a:ext cx="0" cy="3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5" name="Text Box 9"/>
            <p:cNvSpPr txBox="1">
              <a:spLocks noChangeArrowheads="1"/>
            </p:cNvSpPr>
            <p:nvPr/>
          </p:nvSpPr>
          <p:spPr bwMode="auto">
            <a:xfrm>
              <a:off x="1835" y="1146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546" name="Text Box 10"/>
            <p:cNvSpPr txBox="1">
              <a:spLocks noChangeArrowheads="1"/>
            </p:cNvSpPr>
            <p:nvPr/>
          </p:nvSpPr>
          <p:spPr bwMode="auto">
            <a:xfrm>
              <a:off x="2292" y="539"/>
              <a:ext cx="301" cy="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</a:rPr>
                <a:t>+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 sz="2400" i="1" baseline="-25000">
                <a:latin typeface="Times New Roman" panose="02020603050405020304" pitchFamily="18" charset="0"/>
              </a:endParaRPr>
            </a:p>
            <a:p>
              <a:pPr algn="ctr"/>
              <a:r>
                <a:rPr kumimoji="1" lang="en-US" altLang="zh-CN" sz="2400">
                  <a:latin typeface="Symbol" panose="05050102010706020507" pitchFamily="18" charset="2"/>
                </a:rPr>
                <a:t>-</a:t>
              </a:r>
            </a:p>
          </p:txBody>
        </p:sp>
        <p:sp>
          <p:nvSpPr>
            <p:cNvPr id="65547" name="Text Box 11"/>
            <p:cNvSpPr txBox="1">
              <a:spLocks noChangeArrowheads="1"/>
            </p:cNvSpPr>
            <p:nvPr/>
          </p:nvSpPr>
          <p:spPr bwMode="auto">
            <a:xfrm>
              <a:off x="1868" y="75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548" name="Rectangle 12"/>
            <p:cNvSpPr>
              <a:spLocks noChangeArrowheads="1"/>
            </p:cNvSpPr>
            <p:nvPr/>
          </p:nvSpPr>
          <p:spPr bwMode="auto">
            <a:xfrm>
              <a:off x="1046" y="490"/>
              <a:ext cx="288" cy="113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549" name="Line 13"/>
            <p:cNvSpPr>
              <a:spLocks noChangeShapeType="1"/>
            </p:cNvSpPr>
            <p:nvPr/>
          </p:nvSpPr>
          <p:spPr bwMode="auto">
            <a:xfrm>
              <a:off x="662" y="1504"/>
              <a:ext cx="15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0" name="Line 14"/>
            <p:cNvSpPr>
              <a:spLocks noChangeShapeType="1"/>
            </p:cNvSpPr>
            <p:nvPr/>
          </p:nvSpPr>
          <p:spPr bwMode="auto">
            <a:xfrm>
              <a:off x="662" y="54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1" name="Line 15"/>
            <p:cNvSpPr>
              <a:spLocks noChangeShapeType="1"/>
            </p:cNvSpPr>
            <p:nvPr/>
          </p:nvSpPr>
          <p:spPr bwMode="auto">
            <a:xfrm>
              <a:off x="1334" y="546"/>
              <a:ext cx="6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2" name="Line 16"/>
            <p:cNvSpPr>
              <a:spLocks noChangeShapeType="1"/>
            </p:cNvSpPr>
            <p:nvPr/>
          </p:nvSpPr>
          <p:spPr bwMode="auto">
            <a:xfrm>
              <a:off x="1910" y="546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3" name="Line 17"/>
            <p:cNvSpPr>
              <a:spLocks noChangeShapeType="1"/>
            </p:cNvSpPr>
            <p:nvPr/>
          </p:nvSpPr>
          <p:spPr bwMode="auto">
            <a:xfrm>
              <a:off x="2198" y="546"/>
              <a:ext cx="0" cy="1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4" name="Text Box 18"/>
            <p:cNvSpPr txBox="1">
              <a:spLocks noChangeArrowheads="1"/>
            </p:cNvSpPr>
            <p:nvPr/>
          </p:nvSpPr>
          <p:spPr bwMode="auto">
            <a:xfrm>
              <a:off x="1398" y="79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S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555" name="Text Box 19"/>
            <p:cNvSpPr txBox="1">
              <a:spLocks noChangeArrowheads="1"/>
            </p:cNvSpPr>
            <p:nvPr/>
          </p:nvSpPr>
          <p:spPr bwMode="auto">
            <a:xfrm>
              <a:off x="1074" y="537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556" name="Line 20"/>
            <p:cNvSpPr>
              <a:spLocks noChangeShapeType="1"/>
            </p:cNvSpPr>
            <p:nvPr/>
          </p:nvSpPr>
          <p:spPr bwMode="auto">
            <a:xfrm flipH="1">
              <a:off x="2131" y="1170"/>
              <a:ext cx="1" cy="2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494" y="884"/>
              <a:ext cx="340" cy="338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8" name="Line 22"/>
            <p:cNvSpPr>
              <a:spLocks noChangeShapeType="1"/>
            </p:cNvSpPr>
            <p:nvPr/>
          </p:nvSpPr>
          <p:spPr bwMode="auto">
            <a:xfrm>
              <a:off x="662" y="546"/>
              <a:ext cx="0" cy="9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9" name="Line 23"/>
            <p:cNvSpPr>
              <a:spLocks noChangeShapeType="1"/>
            </p:cNvSpPr>
            <p:nvPr/>
          </p:nvSpPr>
          <p:spPr bwMode="auto">
            <a:xfrm>
              <a:off x="854" y="546"/>
              <a:ext cx="0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0" name="Line 24"/>
            <p:cNvSpPr>
              <a:spLocks noChangeShapeType="1"/>
            </p:cNvSpPr>
            <p:nvPr/>
          </p:nvSpPr>
          <p:spPr bwMode="auto">
            <a:xfrm>
              <a:off x="854" y="77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1" name="Line 25"/>
            <p:cNvSpPr>
              <a:spLocks noChangeShapeType="1"/>
            </p:cNvSpPr>
            <p:nvPr/>
          </p:nvSpPr>
          <p:spPr bwMode="auto">
            <a:xfrm>
              <a:off x="1334" y="779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2" name="Line 26"/>
            <p:cNvSpPr>
              <a:spLocks noChangeShapeType="1"/>
            </p:cNvSpPr>
            <p:nvPr/>
          </p:nvSpPr>
          <p:spPr bwMode="auto">
            <a:xfrm flipV="1">
              <a:off x="1670" y="546"/>
              <a:ext cx="0" cy="2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3" name="Line 27"/>
            <p:cNvSpPr>
              <a:spLocks noChangeShapeType="1"/>
            </p:cNvSpPr>
            <p:nvPr/>
          </p:nvSpPr>
          <p:spPr bwMode="auto">
            <a:xfrm flipH="1">
              <a:off x="1103" y="770"/>
              <a:ext cx="24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4" name="Line 28"/>
            <p:cNvSpPr>
              <a:spLocks noChangeShapeType="1"/>
            </p:cNvSpPr>
            <p:nvPr/>
          </p:nvSpPr>
          <p:spPr bwMode="auto">
            <a:xfrm>
              <a:off x="1208" y="790"/>
              <a:ext cx="144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5" name="Text Box 29"/>
            <p:cNvSpPr txBox="1">
              <a:spLocks noChangeArrowheads="1"/>
            </p:cNvSpPr>
            <p:nvPr/>
          </p:nvSpPr>
          <p:spPr bwMode="auto">
            <a:xfrm>
              <a:off x="469" y="667"/>
              <a:ext cx="225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  <a:p>
              <a:pPr algn="ctr"/>
              <a:endParaRPr kumimoji="1"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kumimoji="1" lang="en-US" altLang="zh-CN" sz="2400">
                  <a:latin typeface="Symbol" panose="05050102010706020507" pitchFamily="18" charset="2"/>
                </a:rPr>
                <a:t>-</a:t>
              </a:r>
            </a:p>
          </p:txBody>
        </p:sp>
        <p:sp>
          <p:nvSpPr>
            <p:cNvPr id="65566" name="Text Box 30"/>
            <p:cNvSpPr txBox="1">
              <a:spLocks noChangeArrowheads="1"/>
            </p:cNvSpPr>
            <p:nvPr/>
          </p:nvSpPr>
          <p:spPr bwMode="auto">
            <a:xfrm>
              <a:off x="249" y="890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S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67" name="Group 31"/>
            <p:cNvGrpSpPr>
              <a:grpSpLocks/>
            </p:cNvGrpSpPr>
            <p:nvPr/>
          </p:nvGrpSpPr>
          <p:grpSpPr bwMode="auto">
            <a:xfrm>
              <a:off x="2138" y="704"/>
              <a:ext cx="114" cy="443"/>
              <a:chOff x="1360" y="3237"/>
              <a:chExt cx="114" cy="443"/>
            </a:xfrm>
          </p:grpSpPr>
          <p:grpSp>
            <p:nvGrpSpPr>
              <p:cNvPr id="65568" name="Group 32"/>
              <p:cNvGrpSpPr>
                <a:grpSpLocks/>
              </p:cNvGrpSpPr>
              <p:nvPr/>
            </p:nvGrpSpPr>
            <p:grpSpPr bwMode="auto">
              <a:xfrm>
                <a:off x="1360" y="3237"/>
                <a:ext cx="113" cy="214"/>
                <a:chOff x="887" y="1182"/>
                <a:chExt cx="113" cy="214"/>
              </a:xfrm>
            </p:grpSpPr>
            <p:sp>
              <p:nvSpPr>
                <p:cNvPr id="65569" name="Oval 33"/>
                <p:cNvSpPr>
                  <a:spLocks noChangeArrowheads="1"/>
                </p:cNvSpPr>
                <p:nvPr/>
              </p:nvSpPr>
              <p:spPr bwMode="auto">
                <a:xfrm>
                  <a:off x="891" y="1182"/>
                  <a:ext cx="109" cy="109"/>
                </a:xfrm>
                <a:prstGeom prst="ellipse">
                  <a:avLst/>
                </a:prstGeom>
                <a:solidFill>
                  <a:srgbClr val="99FF99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570" name="Oval 34"/>
                <p:cNvSpPr>
                  <a:spLocks noChangeArrowheads="1"/>
                </p:cNvSpPr>
                <p:nvPr/>
              </p:nvSpPr>
              <p:spPr bwMode="auto">
                <a:xfrm>
                  <a:off x="887" y="1287"/>
                  <a:ext cx="109" cy="109"/>
                </a:xfrm>
                <a:prstGeom prst="ellipse">
                  <a:avLst/>
                </a:prstGeom>
                <a:solidFill>
                  <a:srgbClr val="99FF99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5571" name="Oval 35"/>
              <p:cNvSpPr>
                <a:spLocks noChangeArrowheads="1"/>
              </p:cNvSpPr>
              <p:nvPr/>
            </p:nvSpPr>
            <p:spPr bwMode="auto">
              <a:xfrm>
                <a:off x="1365" y="3457"/>
                <a:ext cx="109" cy="109"/>
              </a:xfrm>
              <a:prstGeom prst="ellipse">
                <a:avLst/>
              </a:prstGeom>
              <a:solidFill>
                <a:srgbClr val="99FF99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72" name="Oval 36"/>
              <p:cNvSpPr>
                <a:spLocks noChangeArrowheads="1"/>
              </p:cNvSpPr>
              <p:nvPr/>
            </p:nvSpPr>
            <p:spPr bwMode="auto">
              <a:xfrm>
                <a:off x="1361" y="3571"/>
                <a:ext cx="109" cy="109"/>
              </a:xfrm>
              <a:prstGeom prst="ellipse">
                <a:avLst/>
              </a:prstGeom>
              <a:solidFill>
                <a:srgbClr val="99FF99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5573" name="Rectangle 37"/>
            <p:cNvSpPr>
              <a:spLocks noChangeArrowheads="1"/>
            </p:cNvSpPr>
            <p:nvPr/>
          </p:nvSpPr>
          <p:spPr bwMode="auto">
            <a:xfrm>
              <a:off x="2044" y="689"/>
              <a:ext cx="137" cy="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5574" name="Group 38"/>
            <p:cNvGrpSpPr>
              <a:grpSpLocks/>
            </p:cNvGrpSpPr>
            <p:nvPr/>
          </p:nvGrpSpPr>
          <p:grpSpPr bwMode="auto">
            <a:xfrm>
              <a:off x="837" y="176"/>
              <a:ext cx="723" cy="325"/>
              <a:chOff x="920" y="141"/>
              <a:chExt cx="723" cy="325"/>
            </a:xfrm>
          </p:grpSpPr>
          <p:sp>
            <p:nvSpPr>
              <p:cNvPr id="65575" name="Text Box 39"/>
              <p:cNvSpPr txBox="1">
                <a:spLocks noChangeArrowheads="1"/>
              </p:cNvSpPr>
              <p:nvPr/>
            </p:nvSpPr>
            <p:spPr bwMode="auto">
              <a:xfrm>
                <a:off x="920" y="178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65576" name="Text Box 40"/>
              <p:cNvSpPr txBox="1">
                <a:spLocks noChangeArrowheads="1"/>
              </p:cNvSpPr>
              <p:nvPr/>
            </p:nvSpPr>
            <p:spPr bwMode="auto">
              <a:xfrm>
                <a:off x="1463" y="158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65577" name="Text Box 41"/>
              <p:cNvSpPr txBox="1">
                <a:spLocks noChangeArrowheads="1"/>
              </p:cNvSpPr>
              <p:nvPr/>
            </p:nvSpPr>
            <p:spPr bwMode="auto">
              <a:xfrm>
                <a:off x="1128" y="141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</p:grpSp>
      <p:sp>
        <p:nvSpPr>
          <p:cNvPr id="65578" name="Text Box 42"/>
          <p:cNvSpPr txBox="1">
            <a:spLocks noChangeArrowheads="1"/>
          </p:cNvSpPr>
          <p:nvPr/>
        </p:nvSpPr>
        <p:spPr bwMode="auto">
          <a:xfrm>
            <a:off x="4067175" y="476250"/>
            <a:ext cx="900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/>
              <a:t>已知</a:t>
            </a:r>
          </a:p>
        </p:txBody>
      </p:sp>
      <p:graphicFrame>
        <p:nvGraphicFramePr>
          <p:cNvPr id="65579" name="Object 43"/>
          <p:cNvGraphicFramePr>
            <a:graphicFrameLocks noChangeAspect="1"/>
          </p:cNvGraphicFramePr>
          <p:nvPr/>
        </p:nvGraphicFramePr>
        <p:xfrm>
          <a:off x="4524375" y="1831975"/>
          <a:ext cx="29352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241200" progId="Equation.DSMT4">
                  <p:embed/>
                </p:oleObj>
              </mc:Choice>
              <mc:Fallback>
                <p:oleObj name="Equation" r:id="rId9" imgW="1549080" imgH="241200" progId="Equation.DSMT4">
                  <p:embed/>
                  <p:pic>
                    <p:nvPicPr>
                      <p:cNvPr id="6557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1831975"/>
                        <a:ext cx="29352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80" name="Text Box 44"/>
          <p:cNvSpPr txBox="1">
            <a:spLocks noChangeArrowheads="1"/>
          </p:cNvSpPr>
          <p:nvPr/>
        </p:nvSpPr>
        <p:spPr bwMode="auto">
          <a:xfrm>
            <a:off x="4192588" y="1827213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/>
              <a:t>求</a:t>
            </a:r>
          </a:p>
        </p:txBody>
      </p:sp>
      <p:sp>
        <p:nvSpPr>
          <p:cNvPr id="65581" name="Text Box 45"/>
          <p:cNvSpPr txBox="1">
            <a:spLocks noChangeArrowheads="1"/>
          </p:cNvSpPr>
          <p:nvPr/>
        </p:nvSpPr>
        <p:spPr bwMode="auto">
          <a:xfrm>
            <a:off x="611188" y="3681413"/>
            <a:ext cx="2287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(2)  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时刻电路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65582" name="Object 46"/>
          <p:cNvGraphicFramePr>
            <a:graphicFrameLocks noChangeAspect="1"/>
          </p:cNvGraphicFramePr>
          <p:nvPr/>
        </p:nvGraphicFramePr>
        <p:xfrm>
          <a:off x="1079500" y="4257675"/>
          <a:ext cx="37671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26920" imgH="406080" progId="Equation.3">
                  <p:embed/>
                </p:oleObj>
              </mc:Choice>
              <mc:Fallback>
                <p:oleObj name="公式" r:id="rId11" imgW="1726920" imgH="406080" progId="Equation.3">
                  <p:embed/>
                  <p:pic>
                    <p:nvPicPr>
                      <p:cNvPr id="6558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4257675"/>
                        <a:ext cx="37671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83" name="Object 47"/>
          <p:cNvGraphicFramePr>
            <a:graphicFrameLocks noChangeAspect="1"/>
          </p:cNvGraphicFramePr>
          <p:nvPr/>
        </p:nvGraphicFramePr>
        <p:xfrm>
          <a:off x="1008063" y="5300663"/>
          <a:ext cx="379253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25400" imgH="431640" progId="Equation.3">
                  <p:embed/>
                </p:oleObj>
              </mc:Choice>
              <mc:Fallback>
                <p:oleObj name="公式" r:id="rId13" imgW="1625400" imgH="431640" progId="Equation.3">
                  <p:embed/>
                  <p:pic>
                    <p:nvPicPr>
                      <p:cNvPr id="65583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5300663"/>
                        <a:ext cx="3792537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584" name="Group 48"/>
          <p:cNvGrpSpPr>
            <a:grpSpLocks/>
          </p:cNvGrpSpPr>
          <p:nvPr/>
        </p:nvGrpSpPr>
        <p:grpSpPr bwMode="auto">
          <a:xfrm>
            <a:off x="4662488" y="2798763"/>
            <a:ext cx="4113212" cy="1752600"/>
            <a:chOff x="2937" y="1763"/>
            <a:chExt cx="2591" cy="1104"/>
          </a:xfrm>
        </p:grpSpPr>
        <p:sp>
          <p:nvSpPr>
            <p:cNvPr id="65585" name="Text Box 49"/>
            <p:cNvSpPr txBox="1">
              <a:spLocks noChangeArrowheads="1"/>
            </p:cNvSpPr>
            <p:nvPr/>
          </p:nvSpPr>
          <p:spPr bwMode="auto">
            <a:xfrm>
              <a:off x="3391" y="2106"/>
              <a:ext cx="212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anose="02010600030101010101" pitchFamily="2" charset="-122"/>
                </a:rPr>
                <a:t>+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  <a:p>
              <a:pPr algn="ctr"/>
              <a:endParaRPr kumimoji="1"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kumimoji="1"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65586" name="Line 50"/>
            <p:cNvSpPr>
              <a:spLocks noChangeShapeType="1"/>
            </p:cNvSpPr>
            <p:nvPr/>
          </p:nvSpPr>
          <p:spPr bwMode="auto">
            <a:xfrm>
              <a:off x="5164" y="2531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87" name="Text Box 51"/>
            <p:cNvSpPr txBox="1">
              <a:spLocks noChangeArrowheads="1"/>
            </p:cNvSpPr>
            <p:nvPr/>
          </p:nvSpPr>
          <p:spPr bwMode="auto">
            <a:xfrm>
              <a:off x="5179" y="2099"/>
              <a:ext cx="349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anose="02010600030101010101" pitchFamily="2" charset="-122"/>
                </a:rPr>
                <a:t>+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 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 sz="2400" i="1" baseline="-25000">
                <a:latin typeface="Times New Roman" panose="02020603050405020304" pitchFamily="18" charset="0"/>
              </a:endParaRPr>
            </a:p>
            <a:p>
              <a:pPr algn="ctr"/>
              <a:r>
                <a:rPr kumimoji="1"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65588" name="Rectangle 52"/>
            <p:cNvSpPr>
              <a:spLocks noChangeArrowheads="1"/>
            </p:cNvSpPr>
            <p:nvPr/>
          </p:nvSpPr>
          <p:spPr bwMode="auto">
            <a:xfrm>
              <a:off x="4012" y="2003"/>
              <a:ext cx="288" cy="96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589" name="Line 53"/>
            <p:cNvSpPr>
              <a:spLocks noChangeShapeType="1"/>
            </p:cNvSpPr>
            <p:nvPr/>
          </p:nvSpPr>
          <p:spPr bwMode="auto">
            <a:xfrm>
              <a:off x="3628" y="2867"/>
              <a:ext cx="15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0" name="Line 54"/>
            <p:cNvSpPr>
              <a:spLocks noChangeShapeType="1"/>
            </p:cNvSpPr>
            <p:nvPr/>
          </p:nvSpPr>
          <p:spPr bwMode="auto">
            <a:xfrm>
              <a:off x="3628" y="2051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1" name="Line 55"/>
            <p:cNvSpPr>
              <a:spLocks noChangeShapeType="1"/>
            </p:cNvSpPr>
            <p:nvPr/>
          </p:nvSpPr>
          <p:spPr bwMode="auto">
            <a:xfrm>
              <a:off x="4300" y="2051"/>
              <a:ext cx="6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2" name="Line 56"/>
            <p:cNvSpPr>
              <a:spLocks noChangeShapeType="1"/>
            </p:cNvSpPr>
            <p:nvPr/>
          </p:nvSpPr>
          <p:spPr bwMode="auto">
            <a:xfrm>
              <a:off x="4876" y="2051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3" name="Line 57"/>
            <p:cNvSpPr>
              <a:spLocks noChangeShapeType="1"/>
            </p:cNvSpPr>
            <p:nvPr/>
          </p:nvSpPr>
          <p:spPr bwMode="auto">
            <a:xfrm>
              <a:off x="5164" y="2051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4" name="Text Box 58"/>
            <p:cNvSpPr txBox="1">
              <a:spLocks noChangeArrowheads="1"/>
            </p:cNvSpPr>
            <p:nvPr/>
          </p:nvSpPr>
          <p:spPr bwMode="auto">
            <a:xfrm>
              <a:off x="4021" y="176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595" name="Line 59"/>
            <p:cNvSpPr>
              <a:spLocks noChangeShapeType="1"/>
            </p:cNvSpPr>
            <p:nvPr/>
          </p:nvSpPr>
          <p:spPr bwMode="auto">
            <a:xfrm>
              <a:off x="5116" y="257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6" name="Oval 60"/>
            <p:cNvSpPr>
              <a:spLocks noChangeArrowheads="1"/>
            </p:cNvSpPr>
            <p:nvPr/>
          </p:nvSpPr>
          <p:spPr bwMode="auto">
            <a:xfrm>
              <a:off x="3484" y="2339"/>
              <a:ext cx="288" cy="288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7" name="Line 61"/>
            <p:cNvSpPr>
              <a:spLocks noChangeShapeType="1"/>
            </p:cNvSpPr>
            <p:nvPr/>
          </p:nvSpPr>
          <p:spPr bwMode="auto">
            <a:xfrm>
              <a:off x="3628" y="2051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8" name="Oval 62"/>
            <p:cNvSpPr>
              <a:spLocks noChangeArrowheads="1"/>
            </p:cNvSpPr>
            <p:nvPr/>
          </p:nvSpPr>
          <p:spPr bwMode="auto">
            <a:xfrm>
              <a:off x="5020" y="2243"/>
              <a:ext cx="288" cy="28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99" name="Line 63"/>
            <p:cNvSpPr>
              <a:spLocks noChangeShapeType="1"/>
            </p:cNvSpPr>
            <p:nvPr/>
          </p:nvSpPr>
          <p:spPr bwMode="auto">
            <a:xfrm>
              <a:off x="5020" y="238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5600" name="Object 64"/>
            <p:cNvGraphicFramePr>
              <a:graphicFrameLocks noChangeAspect="1"/>
            </p:cNvGraphicFramePr>
            <p:nvPr/>
          </p:nvGraphicFramePr>
          <p:xfrm>
            <a:off x="2937" y="2273"/>
            <a:ext cx="51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457200" imgH="431640" progId="Equation.3">
                    <p:embed/>
                  </p:oleObj>
                </mc:Choice>
                <mc:Fallback>
                  <p:oleObj name="公式" r:id="rId15" imgW="457200" imgH="431640" progId="Equation.3">
                    <p:embed/>
                    <p:pic>
                      <p:nvPicPr>
                        <p:cNvPr id="6560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7" y="2273"/>
                          <a:ext cx="51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01" name="Text Box 65"/>
            <p:cNvSpPr txBox="1">
              <a:spLocks noChangeArrowheads="1"/>
            </p:cNvSpPr>
            <p:nvPr/>
          </p:nvSpPr>
          <p:spPr bwMode="auto">
            <a:xfrm>
              <a:off x="3775" y="2071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65602" name="Text Box 66"/>
            <p:cNvSpPr txBox="1">
              <a:spLocks noChangeArrowheads="1"/>
            </p:cNvSpPr>
            <p:nvPr/>
          </p:nvSpPr>
          <p:spPr bwMode="auto">
            <a:xfrm>
              <a:off x="4318" y="2051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65603" name="Text Box 67"/>
            <p:cNvSpPr txBox="1">
              <a:spLocks noChangeArrowheads="1"/>
            </p:cNvSpPr>
            <p:nvPr/>
          </p:nvSpPr>
          <p:spPr bwMode="auto">
            <a:xfrm>
              <a:off x="3983" y="203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65604" name="Text Box 68"/>
            <p:cNvSpPr txBox="1">
              <a:spLocks noChangeArrowheads="1"/>
            </p:cNvSpPr>
            <p:nvPr/>
          </p:nvSpPr>
          <p:spPr bwMode="auto">
            <a:xfrm>
              <a:off x="4481" y="2488"/>
              <a:ext cx="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L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(0</a:t>
              </a:r>
              <a:r>
                <a:rPr kumimoji="1" lang="en-US" altLang="zh-CN" sz="2400" b="1" baseline="30000">
                  <a:latin typeface="Times New Roman" panose="02020603050405020304" pitchFamily="18" charset="0"/>
                </a:rPr>
                <a:t>+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  <a:endParaRPr kumimoji="1" lang="en-US" altLang="zh-CN" sz="2400" b="1" baseline="-2500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9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  <p:bldP spid="65581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684213" y="620713"/>
            <a:ext cx="4451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小结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——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求初始值的步骤：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428750" y="1527175"/>
            <a:ext cx="6831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换路前电路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（稳定状态）求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和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1357313" y="2524125"/>
            <a:ext cx="4843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换路定律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得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和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1476375" y="3141663"/>
            <a:ext cx="68453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 eaLnBrk="0" hangingPunct="0">
              <a:spcBef>
                <a:spcPct val="2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3.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画出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时刻的等效电路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 画换路后电路的拓扑结构；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   （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） 电容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电感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）用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电压源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电流源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）替代。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      取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时刻值，方向同原假定的电容电压、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      电感电流方向。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1381125" y="5591175"/>
            <a:ext cx="488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4.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电路求其它各变量的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值。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6102350" y="2166938"/>
            <a:ext cx="1911350" cy="401637"/>
          </a:xfrm>
          <a:prstGeom prst="rect">
            <a:avLst/>
          </a:prstGeom>
          <a:noFill/>
          <a:ln w="349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/>
              <a:t>电阻电路</a:t>
            </a:r>
            <a:r>
              <a:rPr lang="en-US" altLang="zh-CN" b="1"/>
              <a:t>( </a:t>
            </a:r>
            <a:r>
              <a:rPr lang="zh-CN" altLang="en-US" b="1"/>
              <a:t>直流 </a:t>
            </a:r>
            <a:r>
              <a:rPr lang="en-US" altLang="zh-CN" b="1"/>
              <a:t>)</a:t>
            </a: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6483350" y="4968875"/>
            <a:ext cx="1214438" cy="401638"/>
          </a:xfrm>
          <a:prstGeom prst="rect">
            <a:avLst/>
          </a:prstGeom>
          <a:noFill/>
          <a:ln w="349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/>
              <a:t>电阻电路</a:t>
            </a:r>
          </a:p>
        </p:txBody>
      </p:sp>
    </p:spTree>
    <p:extLst>
      <p:ext uri="{BB962C8B-B14F-4D97-AF65-F5344CB8AC3E}">
        <p14:creationId xmlns:p14="http://schemas.microsoft.com/office/powerpoint/2010/main" val="31656433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 autoUpdateAnimBg="0"/>
      <p:bldP spid="67588" grpId="0" build="p" autoUpdateAnimBg="0"/>
      <p:bldP spid="67589" grpId="0" autoUpdateAnimBg="0"/>
      <p:bldP spid="67590" grpId="0" build="p" autoUpdateAnimBg="0"/>
      <p:bldP spid="67591" grpId="0" animBg="1" autoUpdateAnimBg="0"/>
      <p:bldP spid="67592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43CA26-F99D-420E-B6F3-33B0CEF1C67D}" type="datetime1">
              <a:rPr lang="zh-CN" altLang="en-US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2024/8/8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FF6600"/>
                </a:solidFill>
                <a:ea typeface="宋体" panose="02010600030101010101" pitchFamily="2" charset="-122"/>
              </a:rPr>
              <a:t>电路理论</a:t>
            </a:r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6DAED4-77FB-4B8B-A909-E22BC3645AD3}" type="slidenum">
              <a:rPr lang="en-US" altLang="zh-CN" sz="1400" smtClean="0">
                <a:solidFill>
                  <a:srgbClr val="FF66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solidFill>
                <a:srgbClr val="FF6600"/>
              </a:solidFill>
              <a:ea typeface="宋体" panose="02010600030101010101" pitchFamily="2" charset="-122"/>
            </a:endParaRPr>
          </a:p>
        </p:txBody>
      </p:sp>
      <p:sp>
        <p:nvSpPr>
          <p:cNvPr id="332812" name="Rectangle 12"/>
          <p:cNvSpPr>
            <a:spLocks noChangeArrowheads="1"/>
          </p:cNvSpPr>
          <p:nvPr/>
        </p:nvSpPr>
        <p:spPr bwMode="auto">
          <a:xfrm>
            <a:off x="629543" y="508745"/>
            <a:ext cx="425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微分方程　</a:t>
            </a:r>
            <a:r>
              <a:rPr lang="en-US" altLang="zh-CN">
                <a:solidFill>
                  <a:schemeClr val="accent2"/>
                </a:solidFill>
                <a:ea typeface="隶书" panose="02010509060101010101" pitchFamily="49" charset="-122"/>
              </a:rPr>
              <a:t>Differential equation</a:t>
            </a:r>
          </a:p>
        </p:txBody>
      </p:sp>
      <p:sp>
        <p:nvSpPr>
          <p:cNvPr id="332813" name="Rectangle 13"/>
          <p:cNvSpPr>
            <a:spLocks noChangeArrowheads="1"/>
          </p:cNvSpPr>
          <p:nvPr/>
        </p:nvSpPr>
        <p:spPr bwMode="auto">
          <a:xfrm>
            <a:off x="5639693" y="1016745"/>
            <a:ext cx="246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方程解　</a:t>
            </a:r>
            <a:r>
              <a:rPr lang="en-US" altLang="zh-CN">
                <a:solidFill>
                  <a:schemeClr val="accent2"/>
                </a:solidFill>
                <a:ea typeface="隶书" panose="02010509060101010101" pitchFamily="49" charset="-122"/>
              </a:rPr>
              <a:t>solution </a:t>
            </a:r>
          </a:p>
        </p:txBody>
      </p:sp>
      <p:sp>
        <p:nvSpPr>
          <p:cNvPr id="332814" name="Rectangle 14"/>
          <p:cNvSpPr>
            <a:spLocks noChangeArrowheads="1"/>
          </p:cNvSpPr>
          <p:nvPr/>
        </p:nvSpPr>
        <p:spPr bwMode="auto">
          <a:xfrm>
            <a:off x="826393" y="1124744"/>
            <a:ext cx="294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accent2"/>
                </a:solidFill>
                <a:ea typeface="隶书" panose="02010509060101010101" pitchFamily="49" charset="-122"/>
              </a:rPr>
              <a:t>初始值　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Initial value </a:t>
            </a:r>
          </a:p>
        </p:txBody>
      </p:sp>
      <p:grpSp>
        <p:nvGrpSpPr>
          <p:cNvPr id="332820" name="Group 20"/>
          <p:cNvGrpSpPr>
            <a:grpSpLocks/>
          </p:cNvGrpSpPr>
          <p:nvPr/>
        </p:nvGrpSpPr>
        <p:grpSpPr bwMode="auto">
          <a:xfrm>
            <a:off x="4899918" y="692696"/>
            <a:ext cx="763587" cy="792162"/>
            <a:chOff x="1837" y="1117"/>
            <a:chExt cx="481" cy="499"/>
          </a:xfrm>
        </p:grpSpPr>
        <p:sp>
          <p:nvSpPr>
            <p:cNvPr id="26652" name="Line 18"/>
            <p:cNvSpPr>
              <a:spLocks noChangeShapeType="1"/>
            </p:cNvSpPr>
            <p:nvPr/>
          </p:nvSpPr>
          <p:spPr bwMode="auto">
            <a:xfrm>
              <a:off x="2046" y="1380"/>
              <a:ext cx="272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3" name="AutoShape 19"/>
            <p:cNvSpPr>
              <a:spLocks/>
            </p:cNvSpPr>
            <p:nvPr/>
          </p:nvSpPr>
          <p:spPr bwMode="auto">
            <a:xfrm>
              <a:off x="1837" y="1117"/>
              <a:ext cx="181" cy="499"/>
            </a:xfrm>
            <a:prstGeom prst="rightBrace">
              <a:avLst>
                <a:gd name="adj1" fmla="val 22974"/>
                <a:gd name="adj2" fmla="val 50000"/>
              </a:avLst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3328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921421"/>
              </p:ext>
            </p:extLst>
          </p:nvPr>
        </p:nvGraphicFramePr>
        <p:xfrm>
          <a:off x="-37208" y="1412776"/>
          <a:ext cx="4360863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31706" imgH="1195558" progId="Visio.Drawing.11">
                  <p:embed/>
                </p:oleObj>
              </mc:Choice>
              <mc:Fallback>
                <p:oleObj name="Visio" r:id="rId2" imgW="2431706" imgH="1195558" progId="Visio.Drawing.11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7208" y="1412776"/>
                        <a:ext cx="4360863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808948"/>
              </p:ext>
            </p:extLst>
          </p:nvPr>
        </p:nvGraphicFramePr>
        <p:xfrm>
          <a:off x="467618" y="3573016"/>
          <a:ext cx="30829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451" imgH="393529" progId="Equation.DSMT4">
                  <p:embed/>
                </p:oleObj>
              </mc:Choice>
              <mc:Fallback>
                <p:oleObj name="Equation" r:id="rId4" imgW="1726451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18" y="3573016"/>
                        <a:ext cx="30829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615784"/>
              </p:ext>
            </p:extLst>
          </p:nvPr>
        </p:nvGraphicFramePr>
        <p:xfrm>
          <a:off x="467618" y="4221683"/>
          <a:ext cx="15843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614" imgH="393529" progId="Equation.DSMT4">
                  <p:embed/>
                </p:oleObj>
              </mc:Choice>
              <mc:Fallback>
                <p:oleObj name="Equation" r:id="rId6" imgW="888614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18" y="4221683"/>
                        <a:ext cx="15843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8540"/>
              </p:ext>
            </p:extLst>
          </p:nvPr>
        </p:nvGraphicFramePr>
        <p:xfrm>
          <a:off x="394593" y="4797152"/>
          <a:ext cx="2589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393700" progId="Equation.DSMT4">
                  <p:embed/>
                </p:oleObj>
              </mc:Choice>
              <mc:Fallback>
                <p:oleObj name="Equation" r:id="rId8" imgW="1371600" imgH="393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93" y="4797152"/>
                        <a:ext cx="25892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3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094232"/>
              </p:ext>
            </p:extLst>
          </p:nvPr>
        </p:nvGraphicFramePr>
        <p:xfrm>
          <a:off x="4139505" y="4763245"/>
          <a:ext cx="100806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7780" imgH="393529" progId="Equation.DSMT4">
                  <p:embed/>
                </p:oleObj>
              </mc:Choice>
              <mc:Fallback>
                <p:oleObj name="Equation" r:id="rId10" imgW="507780" imgH="393529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505" y="4763245"/>
                        <a:ext cx="1008063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3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86723"/>
              </p:ext>
            </p:extLst>
          </p:nvPr>
        </p:nvGraphicFramePr>
        <p:xfrm>
          <a:off x="5709543" y="4668233"/>
          <a:ext cx="16446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8975" imgH="342751" progId="Equation.DSMT4">
                  <p:embed/>
                </p:oleObj>
              </mc:Choice>
              <mc:Fallback>
                <p:oleObj name="Equation" r:id="rId12" imgW="748975" imgH="34275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9543" y="4668233"/>
                        <a:ext cx="16446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2842" name="Group 42"/>
          <p:cNvGrpSpPr>
            <a:grpSpLocks/>
          </p:cNvGrpSpPr>
          <p:nvPr/>
        </p:nvGrpSpPr>
        <p:grpSpPr bwMode="auto">
          <a:xfrm>
            <a:off x="4210943" y="5516583"/>
            <a:ext cx="2506662" cy="635501"/>
            <a:chOff x="3353" y="3414"/>
            <a:chExt cx="1579" cy="373"/>
          </a:xfrm>
        </p:grpSpPr>
        <p:graphicFrame>
          <p:nvGraphicFramePr>
            <p:cNvPr id="26649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0756495"/>
                </p:ext>
              </p:extLst>
            </p:nvPr>
          </p:nvGraphicFramePr>
          <p:xfrm>
            <a:off x="3353" y="3414"/>
            <a:ext cx="818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47700" imgH="292100" progId="Equation.DSMT4">
                    <p:embed/>
                  </p:oleObj>
                </mc:Choice>
                <mc:Fallback>
                  <p:oleObj name="Equation" r:id="rId14" imgW="647700" imgH="2921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3" y="3414"/>
                          <a:ext cx="818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0" name="Object 36"/>
            <p:cNvGraphicFramePr>
              <a:graphicFrameLocks noChangeAspect="1"/>
            </p:cNvGraphicFramePr>
            <p:nvPr/>
          </p:nvGraphicFramePr>
          <p:xfrm>
            <a:off x="4195" y="3521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5" imgH="164885" progId="Equation.DSMT4">
                    <p:embed/>
                  </p:oleObj>
                </mc:Choice>
                <mc:Fallback>
                  <p:oleObj name="Equation" r:id="rId16" imgW="164885" imgH="164885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3521"/>
                          <a:ext cx="20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1" name="Object 35"/>
            <p:cNvGraphicFramePr>
              <a:graphicFrameLocks noChangeAspect="1"/>
            </p:cNvGraphicFramePr>
            <p:nvPr/>
          </p:nvGraphicFramePr>
          <p:xfrm>
            <a:off x="4513" y="3521"/>
            <a:ext cx="41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29914" imgH="177646" progId="Equation.DSMT4">
                    <p:embed/>
                  </p:oleObj>
                </mc:Choice>
                <mc:Fallback>
                  <p:oleObj name="Equation" r:id="rId18" imgW="329914" imgH="177646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3521"/>
                          <a:ext cx="41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2860" name="Group 60"/>
          <p:cNvGrpSpPr>
            <a:grpSpLocks/>
          </p:cNvGrpSpPr>
          <p:nvPr/>
        </p:nvGrpSpPr>
        <p:grpSpPr bwMode="auto">
          <a:xfrm>
            <a:off x="4644008" y="1617167"/>
            <a:ext cx="3794125" cy="2425700"/>
            <a:chOff x="3016" y="2631"/>
            <a:chExt cx="2390" cy="1528"/>
          </a:xfrm>
        </p:grpSpPr>
        <p:pic>
          <p:nvPicPr>
            <p:cNvPr id="26646" name="Picture 55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" y="2886"/>
              <a:ext cx="2086" cy="1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26647" name="Object 58"/>
            <p:cNvGraphicFramePr>
              <a:graphicFrameLocks noChangeAspect="1"/>
            </p:cNvGraphicFramePr>
            <p:nvPr/>
          </p:nvGraphicFramePr>
          <p:xfrm>
            <a:off x="3016" y="2631"/>
            <a:ext cx="43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68300" imgH="228600" progId="Equation.DSMT4">
                    <p:embed/>
                  </p:oleObj>
                </mc:Choice>
                <mc:Fallback>
                  <p:oleObj name="Equation" r:id="rId21" imgW="368300" imgH="2286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2631"/>
                          <a:ext cx="438" cy="25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8" name="Object 59"/>
            <p:cNvGraphicFramePr>
              <a:graphicFrameLocks noChangeAspect="1"/>
            </p:cNvGraphicFramePr>
            <p:nvPr/>
          </p:nvGraphicFramePr>
          <p:xfrm>
            <a:off x="5103" y="3884"/>
            <a:ext cx="303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53670" imgH="177569" progId="Equation.DSMT4">
                    <p:embed/>
                  </p:oleObj>
                </mc:Choice>
                <mc:Fallback>
                  <p:oleObj name="Equation" r:id="rId23" imgW="253670" imgH="177569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3884"/>
                          <a:ext cx="303" cy="19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42" name="Line 61"/>
          <p:cNvSpPr>
            <a:spLocks noChangeShapeType="1"/>
          </p:cNvSpPr>
          <p:nvPr/>
        </p:nvSpPr>
        <p:spPr bwMode="auto">
          <a:xfrm>
            <a:off x="3995043" y="3971082"/>
            <a:ext cx="0" cy="22320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4" name="Rectangle 63"/>
          <p:cNvSpPr>
            <a:spLocks noChangeArrowheads="1"/>
          </p:cNvSpPr>
          <p:nvPr/>
        </p:nvSpPr>
        <p:spPr bwMode="auto">
          <a:xfrm>
            <a:off x="227905" y="116632"/>
            <a:ext cx="866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CC3300"/>
                </a:solidFill>
                <a:ea typeface="隶书" panose="02010509060101010101" pitchFamily="49" charset="-122"/>
              </a:rPr>
              <a:t>动态电路经典时域分析：</a:t>
            </a:r>
          </a:p>
        </p:txBody>
      </p:sp>
      <p:graphicFrame>
        <p:nvGraphicFramePr>
          <p:cNvPr id="332864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950362"/>
              </p:ext>
            </p:extLst>
          </p:nvPr>
        </p:nvGraphicFramePr>
        <p:xfrm>
          <a:off x="7709793" y="4982883"/>
          <a:ext cx="7810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55138" imgH="177569" progId="Equation.DSMT4">
                  <p:embed/>
                </p:oleObj>
              </mc:Choice>
              <mc:Fallback>
                <p:oleObj name="Equation" r:id="rId25" imgW="355138" imgH="177569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9793" y="4982883"/>
                        <a:ext cx="7810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23610"/>
              </p:ext>
            </p:extLst>
          </p:nvPr>
        </p:nvGraphicFramePr>
        <p:xfrm>
          <a:off x="390476" y="5673730"/>
          <a:ext cx="23764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57300" imgH="228600" progId="Equation.DSMT4">
                  <p:embed/>
                </p:oleObj>
              </mc:Choice>
              <mc:Fallback>
                <p:oleObj name="Equation" r:id="rId27" imgW="1257300" imgH="228600" progId="Equation.DSMT4">
                  <p:embed/>
                  <p:pic>
                    <p:nvPicPr>
                      <p:cNvPr id="33282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476" y="5673730"/>
                        <a:ext cx="23764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081869"/>
              </p:ext>
            </p:extLst>
          </p:nvPr>
        </p:nvGraphicFramePr>
        <p:xfrm>
          <a:off x="4121150" y="4198938"/>
          <a:ext cx="16049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799920" imgH="215640" progId="Equation.DSMT4">
                  <p:embed/>
                </p:oleObj>
              </mc:Choice>
              <mc:Fallback>
                <p:oleObj name="Equation" r:id="rId29" imgW="799920" imgH="215640" progId="Equation.DSMT4">
                  <p:embed/>
                  <p:pic>
                    <p:nvPicPr>
                      <p:cNvPr id="26649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4198938"/>
                        <a:ext cx="16049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1000"/>
                                        <p:tgtEl>
                                          <p:spTgt spid="33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12" grpId="0"/>
      <p:bldP spid="332813" grpId="0"/>
      <p:bldP spid="3328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暂态分析概述小结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655496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动态电路</a:t>
            </a:r>
            <a:r>
              <a:rPr lang="zh-CN" altLang="en-US" dirty="0">
                <a:solidFill>
                  <a:srgbClr val="FF0000"/>
                </a:solidFill>
              </a:rPr>
              <a:t>暂态分析</a:t>
            </a:r>
            <a:r>
              <a:rPr lang="zh-CN" altLang="en-US" dirty="0"/>
              <a:t>，就是根据</a:t>
            </a:r>
            <a:r>
              <a:rPr lang="en-US" altLang="zh-CN" dirty="0"/>
              <a:t>KCL</a:t>
            </a:r>
            <a:r>
              <a:rPr lang="zh-CN" altLang="en-US" dirty="0"/>
              <a:t>、</a:t>
            </a:r>
            <a:r>
              <a:rPr lang="en-US" altLang="zh-CN" dirty="0"/>
              <a:t>KVL</a:t>
            </a:r>
            <a:r>
              <a:rPr lang="zh-CN" altLang="en-US" dirty="0"/>
              <a:t>和</a:t>
            </a:r>
            <a:r>
              <a:rPr lang="en-US" altLang="zh-CN" dirty="0"/>
              <a:t>VCR</a:t>
            </a:r>
            <a:r>
              <a:rPr lang="zh-CN" altLang="en-US" dirty="0"/>
              <a:t>建立电路响应的</a:t>
            </a:r>
            <a:r>
              <a:rPr lang="zh-CN" altLang="en-US" b="1" dirty="0">
                <a:solidFill>
                  <a:srgbClr val="FF0000"/>
                </a:solidFill>
              </a:rPr>
              <a:t>微分方程</a:t>
            </a:r>
            <a:r>
              <a:rPr lang="zh-CN" altLang="en-US" dirty="0"/>
              <a:t>，并确定求解微分方程所需的</a:t>
            </a:r>
            <a:r>
              <a:rPr lang="zh-CN" altLang="en-US" b="1" dirty="0">
                <a:solidFill>
                  <a:srgbClr val="FF0000"/>
                </a:solidFill>
              </a:rPr>
              <a:t>初始条件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特解稳态值</a:t>
            </a:r>
            <a:r>
              <a:rPr lang="zh-CN" altLang="en-US" dirty="0"/>
              <a:t>。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动态电路的</a:t>
            </a:r>
            <a:r>
              <a:rPr lang="zh-CN" altLang="en-US" b="1" dirty="0"/>
              <a:t>初始条件的确定</a:t>
            </a:r>
            <a:r>
              <a:rPr lang="zh-CN" altLang="en-US" dirty="0"/>
              <a:t>是动态电路 分析的重点和难点：</a:t>
            </a:r>
          </a:p>
          <a:p>
            <a:pPr>
              <a:lnSpc>
                <a:spcPct val="150000"/>
              </a:lnSpc>
            </a:pPr>
            <a:r>
              <a:rPr lang="en-US" altLang="zh-CN" i="1" dirty="0"/>
              <a:t>t</a:t>
            </a:r>
            <a:r>
              <a:rPr lang="en-US" altLang="zh-CN" dirty="0"/>
              <a:t>=0</a:t>
            </a:r>
            <a:r>
              <a:rPr lang="en-US" altLang="zh-CN" baseline="-25000" dirty="0"/>
              <a:t>-</a:t>
            </a:r>
            <a:r>
              <a:rPr lang="zh-CN" altLang="en-US" dirty="0"/>
              <a:t>电路中，确定原始状态 </a:t>
            </a:r>
            <a:r>
              <a:rPr lang="en-US" altLang="zh-CN" i="1" dirty="0" err="1"/>
              <a:t>u</a:t>
            </a:r>
            <a:r>
              <a:rPr lang="en-US" altLang="zh-CN" i="1" baseline="-25000" dirty="0" err="1"/>
              <a:t>c</a:t>
            </a:r>
            <a:r>
              <a:rPr lang="en-US" altLang="zh-CN" dirty="0"/>
              <a:t>(0</a:t>
            </a:r>
            <a:r>
              <a:rPr lang="en-US" altLang="zh-CN" baseline="-25000" dirty="0"/>
              <a:t>-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L</a:t>
            </a:r>
            <a:r>
              <a:rPr lang="en-US" altLang="zh-CN" dirty="0"/>
              <a:t>(0</a:t>
            </a:r>
            <a:r>
              <a:rPr lang="en-US" altLang="zh-CN" baseline="-25000" dirty="0"/>
              <a:t>-</a:t>
            </a:r>
            <a:r>
              <a:rPr lang="en-US" altLang="zh-CN" dirty="0"/>
              <a:t>) </a:t>
            </a:r>
            <a:r>
              <a:rPr lang="zh-CN" altLang="en-US" dirty="0"/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换路后，通常依据</a:t>
            </a:r>
            <a:r>
              <a:rPr lang="zh-CN" altLang="en-US" b="1" dirty="0">
                <a:solidFill>
                  <a:srgbClr val="FF0000"/>
                </a:solidFill>
              </a:rPr>
              <a:t>换路规律</a:t>
            </a:r>
            <a:r>
              <a:rPr lang="zh-CN" altLang="en-US" dirty="0"/>
              <a:t>确定初始状态 </a:t>
            </a:r>
            <a:r>
              <a:rPr lang="en-US" altLang="zh-CN" i="1" dirty="0" err="1"/>
              <a:t>u</a:t>
            </a:r>
            <a:r>
              <a:rPr lang="en-US" altLang="zh-CN" i="1" baseline="-25000" dirty="0" err="1"/>
              <a:t>c</a:t>
            </a:r>
            <a:r>
              <a:rPr lang="en-US" altLang="zh-CN" dirty="0"/>
              <a:t>(0</a:t>
            </a:r>
            <a:r>
              <a:rPr lang="en-US" altLang="zh-CN" baseline="-25000" dirty="0"/>
              <a:t>+</a:t>
            </a:r>
            <a:r>
              <a:rPr lang="en-US" altLang="zh-CN" dirty="0"/>
              <a:t>) </a:t>
            </a:r>
            <a:r>
              <a:rPr lang="zh-CN" altLang="en-US" dirty="0"/>
              <a:t>和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L</a:t>
            </a:r>
            <a:r>
              <a:rPr lang="en-US" altLang="zh-CN" dirty="0"/>
              <a:t>(0</a:t>
            </a:r>
            <a:r>
              <a:rPr lang="en-US" altLang="zh-CN" baseline="-25000" dirty="0"/>
              <a:t>+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i="1" dirty="0"/>
              <a:t>t</a:t>
            </a:r>
            <a:r>
              <a:rPr lang="en-US" altLang="zh-CN" dirty="0"/>
              <a:t>=0</a:t>
            </a:r>
            <a:r>
              <a:rPr lang="en-US" altLang="zh-CN" baseline="-25000" dirty="0"/>
              <a:t>+</a:t>
            </a:r>
            <a:r>
              <a:rPr lang="zh-CN" altLang="en-US" dirty="0"/>
              <a:t>电路中，确定所需</a:t>
            </a:r>
            <a:r>
              <a:rPr lang="zh-CN" altLang="en-US" b="1" dirty="0">
                <a:solidFill>
                  <a:srgbClr val="FF0000"/>
                </a:solidFill>
              </a:rPr>
              <a:t>非状态变量</a:t>
            </a:r>
            <a:r>
              <a:rPr lang="zh-CN" altLang="en-US" dirty="0"/>
              <a:t>及其导数的</a:t>
            </a:r>
            <a:r>
              <a:rPr lang="zh-CN" altLang="en-US" b="1" dirty="0">
                <a:solidFill>
                  <a:srgbClr val="FF0000"/>
                </a:solidFill>
              </a:rPr>
              <a:t>初始值</a:t>
            </a:r>
            <a:r>
              <a:rPr lang="zh-CN" altLang="en-US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AEDCA4-A0AE-48E1-9D86-7A0862D42B29}" type="datetime1">
              <a:rPr lang="zh-CN" altLang="en-US" smtClean="0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7DEDC3-3762-4477-ADDE-861B74757A45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653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Text Box 2"/>
          <p:cNvSpPr txBox="1">
            <a:spLocks noChangeArrowheads="1"/>
          </p:cNvSpPr>
          <p:nvPr/>
        </p:nvSpPr>
        <p:spPr bwMode="auto">
          <a:xfrm>
            <a:off x="323850" y="258118"/>
            <a:ext cx="63198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 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用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Op Amp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构成微分器和积分器（不要求）</a:t>
            </a: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558800" y="963613"/>
            <a:ext cx="2212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）积分器</a:t>
            </a:r>
          </a:p>
        </p:txBody>
      </p:sp>
      <p:grpSp>
        <p:nvGrpSpPr>
          <p:cNvPr id="313348" name="Group 4"/>
          <p:cNvGrpSpPr>
            <a:grpSpLocks/>
          </p:cNvGrpSpPr>
          <p:nvPr/>
        </p:nvGrpSpPr>
        <p:grpSpPr bwMode="auto">
          <a:xfrm>
            <a:off x="1079500" y="1268413"/>
            <a:ext cx="3600450" cy="3094037"/>
            <a:chOff x="214" y="795"/>
            <a:chExt cx="2268" cy="1949"/>
          </a:xfrm>
        </p:grpSpPr>
        <p:sp>
          <p:nvSpPr>
            <p:cNvPr id="313349" name="Rectangle 5"/>
            <p:cNvSpPr>
              <a:spLocks noChangeArrowheads="1"/>
            </p:cNvSpPr>
            <p:nvPr/>
          </p:nvSpPr>
          <p:spPr bwMode="auto">
            <a:xfrm>
              <a:off x="1082" y="1558"/>
              <a:ext cx="560" cy="6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50" name="Text Box 6"/>
            <p:cNvSpPr txBox="1">
              <a:spLocks noChangeArrowheads="1"/>
            </p:cNvSpPr>
            <p:nvPr/>
          </p:nvSpPr>
          <p:spPr bwMode="auto">
            <a:xfrm>
              <a:off x="1122" y="190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3351" name="Text Box 7"/>
            <p:cNvSpPr txBox="1">
              <a:spLocks noChangeArrowheads="1"/>
            </p:cNvSpPr>
            <p:nvPr/>
          </p:nvSpPr>
          <p:spPr bwMode="auto">
            <a:xfrm>
              <a:off x="1122" y="159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13352" name="AutoShape 8"/>
            <p:cNvSpPr>
              <a:spLocks noChangeArrowheads="1"/>
            </p:cNvSpPr>
            <p:nvPr/>
          </p:nvSpPr>
          <p:spPr bwMode="auto">
            <a:xfrm rot="-16200000">
              <a:off x="1343" y="1620"/>
              <a:ext cx="131" cy="121"/>
            </a:xfrm>
            <a:prstGeom prst="triangle">
              <a:avLst>
                <a:gd name="adj" fmla="val 56245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53" name="Text Box 9"/>
            <p:cNvSpPr txBox="1">
              <a:spLocks noChangeArrowheads="1"/>
            </p:cNvSpPr>
            <p:nvPr/>
          </p:nvSpPr>
          <p:spPr bwMode="auto">
            <a:xfrm>
              <a:off x="1432" y="1524"/>
              <a:ext cx="2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13354" name="Text Box 10"/>
            <p:cNvSpPr txBox="1">
              <a:spLocks noChangeArrowheads="1"/>
            </p:cNvSpPr>
            <p:nvPr/>
          </p:nvSpPr>
          <p:spPr bwMode="auto">
            <a:xfrm>
              <a:off x="1465" y="176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3355" name="Line 11"/>
            <p:cNvSpPr>
              <a:spLocks noChangeShapeType="1"/>
            </p:cNvSpPr>
            <p:nvPr/>
          </p:nvSpPr>
          <p:spPr bwMode="auto">
            <a:xfrm>
              <a:off x="355" y="2713"/>
              <a:ext cx="1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56" name="Line 12"/>
            <p:cNvSpPr>
              <a:spLocks noChangeShapeType="1"/>
            </p:cNvSpPr>
            <p:nvPr/>
          </p:nvSpPr>
          <p:spPr bwMode="auto">
            <a:xfrm>
              <a:off x="1652" y="1905"/>
              <a:ext cx="5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57" name="Text Box 13"/>
            <p:cNvSpPr txBox="1">
              <a:spLocks noChangeArrowheads="1"/>
            </p:cNvSpPr>
            <p:nvPr/>
          </p:nvSpPr>
          <p:spPr bwMode="auto">
            <a:xfrm>
              <a:off x="2146" y="194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3358" name="Text Box 14"/>
            <p:cNvSpPr txBox="1">
              <a:spLocks noChangeArrowheads="1"/>
            </p:cNvSpPr>
            <p:nvPr/>
          </p:nvSpPr>
          <p:spPr bwMode="auto">
            <a:xfrm>
              <a:off x="2151" y="227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13359" name="Text Box 15"/>
            <p:cNvSpPr txBox="1">
              <a:spLocks noChangeArrowheads="1"/>
            </p:cNvSpPr>
            <p:nvPr/>
          </p:nvSpPr>
          <p:spPr bwMode="auto">
            <a:xfrm>
              <a:off x="2113" y="2132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13360" name="Line 16"/>
            <p:cNvSpPr>
              <a:spLocks noChangeShapeType="1"/>
            </p:cNvSpPr>
            <p:nvPr/>
          </p:nvSpPr>
          <p:spPr bwMode="auto">
            <a:xfrm flipH="1">
              <a:off x="893" y="2113"/>
              <a:ext cx="186" cy="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61" name="Line 17"/>
            <p:cNvSpPr>
              <a:spLocks noChangeShapeType="1"/>
            </p:cNvSpPr>
            <p:nvPr/>
          </p:nvSpPr>
          <p:spPr bwMode="auto">
            <a:xfrm>
              <a:off x="915" y="1240"/>
              <a:ext cx="4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62" name="Text Box 18"/>
            <p:cNvSpPr txBox="1">
              <a:spLocks noChangeArrowheads="1"/>
            </p:cNvSpPr>
            <p:nvPr/>
          </p:nvSpPr>
          <p:spPr bwMode="auto">
            <a:xfrm>
              <a:off x="225" y="173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3363" name="Text Box 19"/>
            <p:cNvSpPr txBox="1">
              <a:spLocks noChangeArrowheads="1"/>
            </p:cNvSpPr>
            <p:nvPr/>
          </p:nvSpPr>
          <p:spPr bwMode="auto">
            <a:xfrm>
              <a:off x="214" y="23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13364" name="Text Box 20"/>
            <p:cNvSpPr txBox="1">
              <a:spLocks noChangeArrowheads="1"/>
            </p:cNvSpPr>
            <p:nvPr/>
          </p:nvSpPr>
          <p:spPr bwMode="auto">
            <a:xfrm>
              <a:off x="219" y="2085"/>
              <a:ext cx="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313365" name="Group 21"/>
            <p:cNvGrpSpPr>
              <a:grpSpLocks/>
            </p:cNvGrpSpPr>
            <p:nvPr/>
          </p:nvGrpSpPr>
          <p:grpSpPr bwMode="auto">
            <a:xfrm>
              <a:off x="294" y="1700"/>
              <a:ext cx="813" cy="62"/>
              <a:chOff x="1200" y="936"/>
              <a:chExt cx="888" cy="68"/>
            </a:xfrm>
          </p:grpSpPr>
          <p:sp>
            <p:nvSpPr>
              <p:cNvPr id="313366" name="Line 22"/>
              <p:cNvSpPr>
                <a:spLocks noChangeShapeType="1"/>
              </p:cNvSpPr>
              <p:nvPr/>
            </p:nvSpPr>
            <p:spPr bwMode="auto">
              <a:xfrm>
                <a:off x="1272" y="972"/>
                <a:ext cx="81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367" name="Oval 23"/>
              <p:cNvSpPr>
                <a:spLocks noChangeArrowheads="1"/>
              </p:cNvSpPr>
              <p:nvPr/>
            </p:nvSpPr>
            <p:spPr bwMode="auto">
              <a:xfrm>
                <a:off x="1200" y="936"/>
                <a:ext cx="68" cy="6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3368" name="Oval 24"/>
            <p:cNvSpPr>
              <a:spLocks noChangeArrowheads="1"/>
            </p:cNvSpPr>
            <p:nvPr/>
          </p:nvSpPr>
          <p:spPr bwMode="auto">
            <a:xfrm>
              <a:off x="300" y="2682"/>
              <a:ext cx="62" cy="6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69" name="Oval 25"/>
            <p:cNvSpPr>
              <a:spLocks noChangeArrowheads="1"/>
            </p:cNvSpPr>
            <p:nvPr/>
          </p:nvSpPr>
          <p:spPr bwMode="auto">
            <a:xfrm>
              <a:off x="2215" y="1874"/>
              <a:ext cx="62" cy="6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70" name="Oval 26"/>
            <p:cNvSpPr>
              <a:spLocks noChangeArrowheads="1"/>
            </p:cNvSpPr>
            <p:nvPr/>
          </p:nvSpPr>
          <p:spPr bwMode="auto">
            <a:xfrm>
              <a:off x="2226" y="2682"/>
              <a:ext cx="62" cy="6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71" name="Line 27"/>
            <p:cNvSpPr>
              <a:spLocks noChangeShapeType="1"/>
            </p:cNvSpPr>
            <p:nvPr/>
          </p:nvSpPr>
          <p:spPr bwMode="auto">
            <a:xfrm>
              <a:off x="913" y="1224"/>
              <a:ext cx="0" cy="5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72" name="Line 28"/>
            <p:cNvSpPr>
              <a:spLocks noChangeShapeType="1"/>
            </p:cNvSpPr>
            <p:nvPr/>
          </p:nvSpPr>
          <p:spPr bwMode="auto">
            <a:xfrm>
              <a:off x="906" y="2114"/>
              <a:ext cx="0" cy="6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73" name="Rectangle 29"/>
            <p:cNvSpPr>
              <a:spLocks noChangeArrowheads="1"/>
            </p:cNvSpPr>
            <p:nvPr/>
          </p:nvSpPr>
          <p:spPr bwMode="auto">
            <a:xfrm>
              <a:off x="858" y="2290"/>
              <a:ext cx="96" cy="192"/>
            </a:xfrm>
            <a:prstGeom prst="rect">
              <a:avLst/>
            </a:prstGeom>
            <a:solidFill>
              <a:srgbClr val="66FF3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74" name="Rectangle 30"/>
            <p:cNvSpPr>
              <a:spLocks noChangeArrowheads="1"/>
            </p:cNvSpPr>
            <p:nvPr/>
          </p:nvSpPr>
          <p:spPr bwMode="auto">
            <a:xfrm rot="-5400000">
              <a:off x="601" y="1630"/>
              <a:ext cx="96" cy="192"/>
            </a:xfrm>
            <a:prstGeom prst="rect">
              <a:avLst/>
            </a:prstGeom>
            <a:solidFill>
              <a:srgbClr val="66FF3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75" name="Text Box 31"/>
            <p:cNvSpPr txBox="1">
              <a:spLocks noChangeArrowheads="1"/>
            </p:cNvSpPr>
            <p:nvPr/>
          </p:nvSpPr>
          <p:spPr bwMode="auto">
            <a:xfrm>
              <a:off x="612" y="2319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3376" name="Text Box 32"/>
            <p:cNvSpPr txBox="1">
              <a:spLocks noChangeArrowheads="1"/>
            </p:cNvSpPr>
            <p:nvPr/>
          </p:nvSpPr>
          <p:spPr bwMode="auto">
            <a:xfrm>
              <a:off x="442" y="1848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grpSp>
          <p:nvGrpSpPr>
            <p:cNvPr id="313377" name="Group 33"/>
            <p:cNvGrpSpPr>
              <a:grpSpLocks/>
            </p:cNvGrpSpPr>
            <p:nvPr/>
          </p:nvGrpSpPr>
          <p:grpSpPr bwMode="auto">
            <a:xfrm>
              <a:off x="1319" y="1134"/>
              <a:ext cx="57" cy="199"/>
              <a:chOff x="2625" y="1054"/>
              <a:chExt cx="57" cy="199"/>
            </a:xfrm>
          </p:grpSpPr>
          <p:sp>
            <p:nvSpPr>
              <p:cNvPr id="313378" name="Line 34"/>
              <p:cNvSpPr>
                <a:spLocks noChangeShapeType="1"/>
              </p:cNvSpPr>
              <p:nvPr/>
            </p:nvSpPr>
            <p:spPr bwMode="auto">
              <a:xfrm>
                <a:off x="2625" y="1054"/>
                <a:ext cx="0" cy="1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3379" name="Line 35"/>
              <p:cNvSpPr>
                <a:spLocks noChangeShapeType="1"/>
              </p:cNvSpPr>
              <p:nvPr/>
            </p:nvSpPr>
            <p:spPr bwMode="auto">
              <a:xfrm>
                <a:off x="2682" y="1054"/>
                <a:ext cx="0" cy="1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3380" name="Line 36"/>
            <p:cNvSpPr>
              <a:spLocks noChangeShapeType="1"/>
            </p:cNvSpPr>
            <p:nvPr/>
          </p:nvSpPr>
          <p:spPr bwMode="auto">
            <a:xfrm>
              <a:off x="1386" y="1248"/>
              <a:ext cx="44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81" name="Line 37"/>
            <p:cNvSpPr>
              <a:spLocks noChangeShapeType="1"/>
            </p:cNvSpPr>
            <p:nvPr/>
          </p:nvSpPr>
          <p:spPr bwMode="auto">
            <a:xfrm>
              <a:off x="1829" y="1253"/>
              <a:ext cx="0" cy="65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82" name="Text Box 38"/>
            <p:cNvSpPr txBox="1">
              <a:spLocks noChangeArrowheads="1"/>
            </p:cNvSpPr>
            <p:nvPr/>
          </p:nvSpPr>
          <p:spPr bwMode="auto">
            <a:xfrm>
              <a:off x="1406" y="1305"/>
              <a:ext cx="2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13383" name="Text Box 39"/>
            <p:cNvSpPr txBox="1">
              <a:spLocks noChangeArrowheads="1"/>
            </p:cNvSpPr>
            <p:nvPr/>
          </p:nvSpPr>
          <p:spPr bwMode="auto">
            <a:xfrm>
              <a:off x="1122" y="993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＋</a:t>
              </a:r>
            </a:p>
          </p:txBody>
        </p:sp>
        <p:sp>
          <p:nvSpPr>
            <p:cNvPr id="313384" name="Text Box 40"/>
            <p:cNvSpPr txBox="1">
              <a:spLocks noChangeArrowheads="1"/>
            </p:cNvSpPr>
            <p:nvPr/>
          </p:nvSpPr>
          <p:spPr bwMode="auto">
            <a:xfrm>
              <a:off x="414" y="1451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＋</a:t>
              </a:r>
            </a:p>
          </p:txBody>
        </p:sp>
        <p:sp>
          <p:nvSpPr>
            <p:cNvPr id="313385" name="Text Box 41"/>
            <p:cNvSpPr txBox="1">
              <a:spLocks noChangeArrowheads="1"/>
            </p:cNvSpPr>
            <p:nvPr/>
          </p:nvSpPr>
          <p:spPr bwMode="auto">
            <a:xfrm>
              <a:off x="725" y="1451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－</a:t>
              </a:r>
            </a:p>
          </p:txBody>
        </p:sp>
        <p:sp>
          <p:nvSpPr>
            <p:cNvPr id="313386" name="Text Box 42"/>
            <p:cNvSpPr txBox="1">
              <a:spLocks noChangeArrowheads="1"/>
            </p:cNvSpPr>
            <p:nvPr/>
          </p:nvSpPr>
          <p:spPr bwMode="auto">
            <a:xfrm>
              <a:off x="1463" y="965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－</a:t>
              </a:r>
            </a:p>
          </p:txBody>
        </p:sp>
        <p:sp>
          <p:nvSpPr>
            <p:cNvPr id="313387" name="Text Box 43"/>
            <p:cNvSpPr txBox="1">
              <a:spLocks noChangeArrowheads="1"/>
            </p:cNvSpPr>
            <p:nvPr/>
          </p:nvSpPr>
          <p:spPr bwMode="auto">
            <a:xfrm>
              <a:off x="1207" y="795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313388" name="Text Box 44"/>
            <p:cNvSpPr txBox="1">
              <a:spLocks noChangeArrowheads="1"/>
            </p:cNvSpPr>
            <p:nvPr/>
          </p:nvSpPr>
          <p:spPr bwMode="auto">
            <a:xfrm>
              <a:off x="470" y="1253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313389" name="Oval 45"/>
            <p:cNvSpPr>
              <a:spLocks noChangeArrowheads="1"/>
            </p:cNvSpPr>
            <p:nvPr/>
          </p:nvSpPr>
          <p:spPr bwMode="auto">
            <a:xfrm>
              <a:off x="885" y="170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90" name="Oval 46"/>
            <p:cNvSpPr>
              <a:spLocks noChangeArrowheads="1"/>
            </p:cNvSpPr>
            <p:nvPr/>
          </p:nvSpPr>
          <p:spPr bwMode="auto">
            <a:xfrm>
              <a:off x="1803" y="1877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13391" name="Object 47"/>
          <p:cNvGraphicFramePr>
            <a:graphicFrameLocks noChangeAspect="1"/>
          </p:cNvGraphicFramePr>
          <p:nvPr/>
        </p:nvGraphicFramePr>
        <p:xfrm>
          <a:off x="5688013" y="1052513"/>
          <a:ext cx="160178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99920" imgH="406080" progId="Equation.3">
                  <p:embed/>
                </p:oleObj>
              </mc:Choice>
              <mc:Fallback>
                <p:oleObj name="公式" r:id="rId3" imgW="799920" imgH="406080" progId="Equation.3">
                  <p:embed/>
                  <p:pic>
                    <p:nvPicPr>
                      <p:cNvPr id="313391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1052513"/>
                        <a:ext cx="1601787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92" name="AutoShape 48"/>
          <p:cNvSpPr>
            <a:spLocks noChangeArrowheads="1"/>
          </p:cNvSpPr>
          <p:nvPr/>
        </p:nvSpPr>
        <p:spPr bwMode="auto">
          <a:xfrm>
            <a:off x="6318250" y="1998663"/>
            <a:ext cx="368300" cy="674687"/>
          </a:xfrm>
          <a:prstGeom prst="downArrow">
            <a:avLst>
              <a:gd name="adj1" fmla="val 50000"/>
              <a:gd name="adj2" fmla="val 457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graphicFrame>
        <p:nvGraphicFramePr>
          <p:cNvPr id="313393" name="Object 49"/>
          <p:cNvGraphicFramePr>
            <a:graphicFrameLocks noChangeAspect="1"/>
          </p:cNvGraphicFramePr>
          <p:nvPr/>
        </p:nvGraphicFramePr>
        <p:xfrm>
          <a:off x="5676900" y="2708275"/>
          <a:ext cx="16510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406080" progId="Equation.DSMT4">
                  <p:embed/>
                </p:oleObj>
              </mc:Choice>
              <mc:Fallback>
                <p:oleObj name="Equation" r:id="rId5" imgW="825480" imgH="406080" progId="Equation.DSMT4">
                  <p:embed/>
                  <p:pic>
                    <p:nvPicPr>
                      <p:cNvPr id="313393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2708275"/>
                        <a:ext cx="16510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94" name="AutoShape 50"/>
          <p:cNvSpPr>
            <a:spLocks noChangeArrowheads="1"/>
          </p:cNvSpPr>
          <p:nvPr/>
        </p:nvSpPr>
        <p:spPr bwMode="auto">
          <a:xfrm>
            <a:off x="6300788" y="3573463"/>
            <a:ext cx="342900" cy="630237"/>
          </a:xfrm>
          <a:prstGeom prst="downArrow">
            <a:avLst>
              <a:gd name="adj1" fmla="val 50000"/>
              <a:gd name="adj2" fmla="val 4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graphicFrame>
        <p:nvGraphicFramePr>
          <p:cNvPr id="313395" name="Object 51"/>
          <p:cNvGraphicFramePr>
            <a:graphicFrameLocks noChangeAspect="1"/>
          </p:cNvGraphicFramePr>
          <p:nvPr/>
        </p:nvGraphicFramePr>
        <p:xfrm>
          <a:off x="5546725" y="4292600"/>
          <a:ext cx="2133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406080" progId="Equation.DSMT4">
                  <p:embed/>
                </p:oleObj>
              </mc:Choice>
              <mc:Fallback>
                <p:oleObj name="Equation" r:id="rId7" imgW="1066680" imgH="406080" progId="Equation.DSMT4">
                  <p:embed/>
                  <p:pic>
                    <p:nvPicPr>
                      <p:cNvPr id="313395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4292600"/>
                        <a:ext cx="2133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96" name="Text Box 52"/>
          <p:cNvSpPr txBox="1">
            <a:spLocks noChangeArrowheads="1"/>
          </p:cNvSpPr>
          <p:nvPr/>
        </p:nvSpPr>
        <p:spPr bwMode="auto">
          <a:xfrm>
            <a:off x="1368425" y="4760913"/>
            <a:ext cx="3060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（常数），则</a:t>
            </a:r>
          </a:p>
        </p:txBody>
      </p:sp>
      <p:graphicFrame>
        <p:nvGraphicFramePr>
          <p:cNvPr id="313397" name="Object 53"/>
          <p:cNvGraphicFramePr>
            <a:graphicFrameLocks noChangeAspect="1"/>
          </p:cNvGraphicFramePr>
          <p:nvPr/>
        </p:nvGraphicFramePr>
        <p:xfrm>
          <a:off x="1212850" y="5391150"/>
          <a:ext cx="18065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406080" progId="Equation.DSMT4">
                  <p:embed/>
                </p:oleObj>
              </mc:Choice>
              <mc:Fallback>
                <p:oleObj name="Equation" r:id="rId9" imgW="774360" imgH="406080" progId="Equation.DSMT4">
                  <p:embed/>
                  <p:pic>
                    <p:nvPicPr>
                      <p:cNvPr id="313397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5391150"/>
                        <a:ext cx="1806575" cy="9477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98" name="Text Box 54"/>
          <p:cNvSpPr txBox="1">
            <a:spLocks noChangeArrowheads="1"/>
          </p:cNvSpPr>
          <p:nvPr/>
        </p:nvSpPr>
        <p:spPr bwMode="auto">
          <a:xfrm>
            <a:off x="3529013" y="5751513"/>
            <a:ext cx="1439862" cy="39687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线性函数</a:t>
            </a:r>
          </a:p>
        </p:txBody>
      </p:sp>
      <p:graphicFrame>
        <p:nvGraphicFramePr>
          <p:cNvPr id="313403" name="Object 59"/>
          <p:cNvGraphicFramePr>
            <a:graphicFrameLocks noChangeAspect="1"/>
          </p:cNvGraphicFramePr>
          <p:nvPr/>
        </p:nvGraphicFramePr>
        <p:xfrm>
          <a:off x="5146675" y="2060575"/>
          <a:ext cx="10556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228600" progId="Equation.DSMT4">
                  <p:embed/>
                </p:oleObj>
              </mc:Choice>
              <mc:Fallback>
                <p:oleObj name="Equation" r:id="rId11" imgW="583920" imgH="228600" progId="Equation.DSMT4">
                  <p:embed/>
                  <p:pic>
                    <p:nvPicPr>
                      <p:cNvPr id="313403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2060575"/>
                        <a:ext cx="10556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18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3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1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1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autoUpdateAnimBg="0"/>
      <p:bldP spid="313396" grpId="0" autoUpdateAnimBg="0"/>
      <p:bldP spid="313398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Text Box 2"/>
          <p:cNvSpPr txBox="1">
            <a:spLocks noChangeArrowheads="1"/>
          </p:cNvSpPr>
          <p:nvPr/>
        </p:nvSpPr>
        <p:spPr bwMode="auto">
          <a:xfrm>
            <a:off x="296863" y="414338"/>
            <a:ext cx="229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/>
              <a:t>（</a:t>
            </a:r>
            <a:r>
              <a:rPr lang="en-US" altLang="zh-CN" sz="2400" b="1"/>
              <a:t>2</a:t>
            </a:r>
            <a:r>
              <a:rPr lang="zh-CN" altLang="en-US" sz="2400" b="1"/>
              <a:t>）微分器</a:t>
            </a: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/>
        </p:nvGraphicFramePr>
        <p:xfrm>
          <a:off x="5437188" y="620713"/>
          <a:ext cx="15763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406080" progId="Equation.DSMT4">
                  <p:embed/>
                </p:oleObj>
              </mc:Choice>
              <mc:Fallback>
                <p:oleObj name="Equation" r:id="rId3" imgW="787320" imgH="406080" progId="Equation.DSMT4">
                  <p:embed/>
                  <p:pic>
                    <p:nvPicPr>
                      <p:cNvPr id="3153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188" y="620713"/>
                        <a:ext cx="157638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6" name="AutoShape 4"/>
          <p:cNvSpPr>
            <a:spLocks noChangeArrowheads="1"/>
          </p:cNvSpPr>
          <p:nvPr/>
        </p:nvSpPr>
        <p:spPr bwMode="auto">
          <a:xfrm>
            <a:off x="6189663" y="1579563"/>
            <a:ext cx="328612" cy="693737"/>
          </a:xfrm>
          <a:prstGeom prst="downArrow">
            <a:avLst>
              <a:gd name="adj1" fmla="val 50000"/>
              <a:gd name="adj2" fmla="val 52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graphicFrame>
        <p:nvGraphicFramePr>
          <p:cNvPr id="315397" name="Object 5"/>
          <p:cNvGraphicFramePr>
            <a:graphicFrameLocks noChangeAspect="1"/>
          </p:cNvGraphicFramePr>
          <p:nvPr/>
        </p:nvGraphicFramePr>
        <p:xfrm>
          <a:off x="5435600" y="2241550"/>
          <a:ext cx="16764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406080" progId="Equation.DSMT4">
                  <p:embed/>
                </p:oleObj>
              </mc:Choice>
              <mc:Fallback>
                <p:oleObj name="Equation" r:id="rId5" imgW="838080" imgH="406080" progId="Equation.DSMT4">
                  <p:embed/>
                  <p:pic>
                    <p:nvPicPr>
                      <p:cNvPr id="315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41550"/>
                        <a:ext cx="16764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8" name="AutoShape 6"/>
          <p:cNvSpPr>
            <a:spLocks noChangeArrowheads="1"/>
          </p:cNvSpPr>
          <p:nvPr/>
        </p:nvSpPr>
        <p:spPr bwMode="auto">
          <a:xfrm>
            <a:off x="6172200" y="3200400"/>
            <a:ext cx="319088" cy="600075"/>
          </a:xfrm>
          <a:prstGeom prst="downArrow">
            <a:avLst>
              <a:gd name="adj1" fmla="val 50000"/>
              <a:gd name="adj2" fmla="val 4701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graphicFrame>
        <p:nvGraphicFramePr>
          <p:cNvPr id="315399" name="Object 7"/>
          <p:cNvGraphicFramePr>
            <a:graphicFrameLocks noChangeAspect="1"/>
          </p:cNvGraphicFramePr>
          <p:nvPr/>
        </p:nvGraphicFramePr>
        <p:xfrm>
          <a:off x="5464175" y="3875088"/>
          <a:ext cx="18351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406080" progId="Equation.DSMT4">
                  <p:embed/>
                </p:oleObj>
              </mc:Choice>
              <mc:Fallback>
                <p:oleObj name="Equation" r:id="rId7" imgW="914400" imgH="406080" progId="Equation.DSMT4">
                  <p:embed/>
                  <p:pic>
                    <p:nvPicPr>
                      <p:cNvPr id="3153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3875088"/>
                        <a:ext cx="18351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5400" name="Group 8"/>
          <p:cNvGrpSpPr>
            <a:grpSpLocks/>
          </p:cNvGrpSpPr>
          <p:nvPr/>
        </p:nvGrpSpPr>
        <p:grpSpPr bwMode="auto">
          <a:xfrm>
            <a:off x="1008063" y="908050"/>
            <a:ext cx="3600450" cy="3041650"/>
            <a:chOff x="214" y="828"/>
            <a:chExt cx="2268" cy="1916"/>
          </a:xfrm>
        </p:grpSpPr>
        <p:sp>
          <p:nvSpPr>
            <p:cNvPr id="315401" name="Rectangle 9"/>
            <p:cNvSpPr>
              <a:spLocks noChangeArrowheads="1"/>
            </p:cNvSpPr>
            <p:nvPr/>
          </p:nvSpPr>
          <p:spPr bwMode="auto">
            <a:xfrm>
              <a:off x="1082" y="1558"/>
              <a:ext cx="560" cy="6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02" name="Text Box 10"/>
            <p:cNvSpPr txBox="1">
              <a:spLocks noChangeArrowheads="1"/>
            </p:cNvSpPr>
            <p:nvPr/>
          </p:nvSpPr>
          <p:spPr bwMode="auto">
            <a:xfrm>
              <a:off x="1122" y="190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5403" name="Text Box 11"/>
            <p:cNvSpPr txBox="1">
              <a:spLocks noChangeArrowheads="1"/>
            </p:cNvSpPr>
            <p:nvPr/>
          </p:nvSpPr>
          <p:spPr bwMode="auto">
            <a:xfrm>
              <a:off x="1122" y="159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15404" name="AutoShape 12"/>
            <p:cNvSpPr>
              <a:spLocks noChangeArrowheads="1"/>
            </p:cNvSpPr>
            <p:nvPr/>
          </p:nvSpPr>
          <p:spPr bwMode="auto">
            <a:xfrm rot="-16200000">
              <a:off x="1343" y="1620"/>
              <a:ext cx="131" cy="121"/>
            </a:xfrm>
            <a:prstGeom prst="triangle">
              <a:avLst>
                <a:gd name="adj" fmla="val 56245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05" name="Text Box 13"/>
            <p:cNvSpPr txBox="1">
              <a:spLocks noChangeArrowheads="1"/>
            </p:cNvSpPr>
            <p:nvPr/>
          </p:nvSpPr>
          <p:spPr bwMode="auto">
            <a:xfrm>
              <a:off x="1432" y="1524"/>
              <a:ext cx="2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15406" name="Text Box 14"/>
            <p:cNvSpPr txBox="1">
              <a:spLocks noChangeArrowheads="1"/>
            </p:cNvSpPr>
            <p:nvPr/>
          </p:nvSpPr>
          <p:spPr bwMode="auto">
            <a:xfrm>
              <a:off x="1465" y="176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5407" name="Line 15"/>
            <p:cNvSpPr>
              <a:spLocks noChangeShapeType="1"/>
            </p:cNvSpPr>
            <p:nvPr/>
          </p:nvSpPr>
          <p:spPr bwMode="auto">
            <a:xfrm>
              <a:off x="355" y="2713"/>
              <a:ext cx="1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08" name="Line 16"/>
            <p:cNvSpPr>
              <a:spLocks noChangeShapeType="1"/>
            </p:cNvSpPr>
            <p:nvPr/>
          </p:nvSpPr>
          <p:spPr bwMode="auto">
            <a:xfrm>
              <a:off x="1652" y="1905"/>
              <a:ext cx="5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09" name="Text Box 17"/>
            <p:cNvSpPr txBox="1">
              <a:spLocks noChangeArrowheads="1"/>
            </p:cNvSpPr>
            <p:nvPr/>
          </p:nvSpPr>
          <p:spPr bwMode="auto">
            <a:xfrm>
              <a:off x="2146" y="194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5410" name="Text Box 18"/>
            <p:cNvSpPr txBox="1">
              <a:spLocks noChangeArrowheads="1"/>
            </p:cNvSpPr>
            <p:nvPr/>
          </p:nvSpPr>
          <p:spPr bwMode="auto">
            <a:xfrm>
              <a:off x="2151" y="227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15411" name="Text Box 19"/>
            <p:cNvSpPr txBox="1">
              <a:spLocks noChangeArrowheads="1"/>
            </p:cNvSpPr>
            <p:nvPr/>
          </p:nvSpPr>
          <p:spPr bwMode="auto">
            <a:xfrm>
              <a:off x="2113" y="2132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15412" name="Line 20"/>
            <p:cNvSpPr>
              <a:spLocks noChangeShapeType="1"/>
            </p:cNvSpPr>
            <p:nvPr/>
          </p:nvSpPr>
          <p:spPr bwMode="auto">
            <a:xfrm flipH="1">
              <a:off x="893" y="2113"/>
              <a:ext cx="186" cy="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13" name="Line 21"/>
            <p:cNvSpPr>
              <a:spLocks noChangeShapeType="1"/>
            </p:cNvSpPr>
            <p:nvPr/>
          </p:nvSpPr>
          <p:spPr bwMode="auto">
            <a:xfrm>
              <a:off x="915" y="1240"/>
              <a:ext cx="4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14" name="Text Box 22"/>
            <p:cNvSpPr txBox="1">
              <a:spLocks noChangeArrowheads="1"/>
            </p:cNvSpPr>
            <p:nvPr/>
          </p:nvSpPr>
          <p:spPr bwMode="auto">
            <a:xfrm>
              <a:off x="225" y="173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5415" name="Text Box 23"/>
            <p:cNvSpPr txBox="1">
              <a:spLocks noChangeArrowheads="1"/>
            </p:cNvSpPr>
            <p:nvPr/>
          </p:nvSpPr>
          <p:spPr bwMode="auto">
            <a:xfrm>
              <a:off x="214" y="23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15416" name="Text Box 24"/>
            <p:cNvSpPr txBox="1">
              <a:spLocks noChangeArrowheads="1"/>
            </p:cNvSpPr>
            <p:nvPr/>
          </p:nvSpPr>
          <p:spPr bwMode="auto">
            <a:xfrm>
              <a:off x="219" y="2085"/>
              <a:ext cx="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15417" name="Line 25"/>
            <p:cNvSpPr>
              <a:spLocks noChangeShapeType="1"/>
            </p:cNvSpPr>
            <p:nvPr/>
          </p:nvSpPr>
          <p:spPr bwMode="auto">
            <a:xfrm>
              <a:off x="360" y="1733"/>
              <a:ext cx="2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18" name="Oval 26"/>
            <p:cNvSpPr>
              <a:spLocks noChangeArrowheads="1"/>
            </p:cNvSpPr>
            <p:nvPr/>
          </p:nvSpPr>
          <p:spPr bwMode="auto">
            <a:xfrm>
              <a:off x="294" y="1700"/>
              <a:ext cx="62" cy="6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19" name="Oval 27"/>
            <p:cNvSpPr>
              <a:spLocks noChangeArrowheads="1"/>
            </p:cNvSpPr>
            <p:nvPr/>
          </p:nvSpPr>
          <p:spPr bwMode="auto">
            <a:xfrm>
              <a:off x="300" y="2682"/>
              <a:ext cx="62" cy="6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0" name="Oval 28"/>
            <p:cNvSpPr>
              <a:spLocks noChangeArrowheads="1"/>
            </p:cNvSpPr>
            <p:nvPr/>
          </p:nvSpPr>
          <p:spPr bwMode="auto">
            <a:xfrm>
              <a:off x="2215" y="1874"/>
              <a:ext cx="62" cy="6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1" name="Oval 29"/>
            <p:cNvSpPr>
              <a:spLocks noChangeArrowheads="1"/>
            </p:cNvSpPr>
            <p:nvPr/>
          </p:nvSpPr>
          <p:spPr bwMode="auto">
            <a:xfrm>
              <a:off x="2226" y="2682"/>
              <a:ext cx="62" cy="6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2" name="Line 30"/>
            <p:cNvSpPr>
              <a:spLocks noChangeShapeType="1"/>
            </p:cNvSpPr>
            <p:nvPr/>
          </p:nvSpPr>
          <p:spPr bwMode="auto">
            <a:xfrm>
              <a:off x="913" y="1224"/>
              <a:ext cx="0" cy="5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3" name="Line 31"/>
            <p:cNvSpPr>
              <a:spLocks noChangeShapeType="1"/>
            </p:cNvSpPr>
            <p:nvPr/>
          </p:nvSpPr>
          <p:spPr bwMode="auto">
            <a:xfrm>
              <a:off x="906" y="2114"/>
              <a:ext cx="0" cy="6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4" name="Rectangle 32"/>
            <p:cNvSpPr>
              <a:spLocks noChangeArrowheads="1"/>
            </p:cNvSpPr>
            <p:nvPr/>
          </p:nvSpPr>
          <p:spPr bwMode="auto">
            <a:xfrm>
              <a:off x="858" y="2290"/>
              <a:ext cx="96" cy="192"/>
            </a:xfrm>
            <a:prstGeom prst="rect">
              <a:avLst/>
            </a:prstGeom>
            <a:solidFill>
              <a:srgbClr val="66FF3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5" name="Text Box 33"/>
            <p:cNvSpPr txBox="1">
              <a:spLocks noChangeArrowheads="1"/>
            </p:cNvSpPr>
            <p:nvPr/>
          </p:nvSpPr>
          <p:spPr bwMode="auto">
            <a:xfrm>
              <a:off x="612" y="2319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5426" name="Text Box 34"/>
            <p:cNvSpPr txBox="1">
              <a:spLocks noChangeArrowheads="1"/>
            </p:cNvSpPr>
            <p:nvPr/>
          </p:nvSpPr>
          <p:spPr bwMode="auto">
            <a:xfrm>
              <a:off x="1377" y="1224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grpSp>
          <p:nvGrpSpPr>
            <p:cNvPr id="315427" name="Group 35"/>
            <p:cNvGrpSpPr>
              <a:grpSpLocks/>
            </p:cNvGrpSpPr>
            <p:nvPr/>
          </p:nvGrpSpPr>
          <p:grpSpPr bwMode="auto">
            <a:xfrm>
              <a:off x="584" y="1650"/>
              <a:ext cx="57" cy="199"/>
              <a:chOff x="2625" y="1054"/>
              <a:chExt cx="57" cy="199"/>
            </a:xfrm>
          </p:grpSpPr>
          <p:sp>
            <p:nvSpPr>
              <p:cNvPr id="315428" name="Line 36"/>
              <p:cNvSpPr>
                <a:spLocks noChangeShapeType="1"/>
              </p:cNvSpPr>
              <p:nvPr/>
            </p:nvSpPr>
            <p:spPr bwMode="auto">
              <a:xfrm>
                <a:off x="2625" y="1054"/>
                <a:ext cx="0" cy="1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9" name="Line 37"/>
              <p:cNvSpPr>
                <a:spLocks noChangeShapeType="1"/>
              </p:cNvSpPr>
              <p:nvPr/>
            </p:nvSpPr>
            <p:spPr bwMode="auto">
              <a:xfrm>
                <a:off x="2682" y="1054"/>
                <a:ext cx="0" cy="1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5430" name="Line 38"/>
            <p:cNvSpPr>
              <a:spLocks noChangeShapeType="1"/>
            </p:cNvSpPr>
            <p:nvPr/>
          </p:nvSpPr>
          <p:spPr bwMode="auto">
            <a:xfrm>
              <a:off x="1386" y="1248"/>
              <a:ext cx="44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31" name="Line 39"/>
            <p:cNvSpPr>
              <a:spLocks noChangeShapeType="1"/>
            </p:cNvSpPr>
            <p:nvPr/>
          </p:nvSpPr>
          <p:spPr bwMode="auto">
            <a:xfrm>
              <a:off x="1829" y="1253"/>
              <a:ext cx="0" cy="65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32" name="Text Box 40"/>
            <p:cNvSpPr txBox="1">
              <a:spLocks noChangeArrowheads="1"/>
            </p:cNvSpPr>
            <p:nvPr/>
          </p:nvSpPr>
          <p:spPr bwMode="auto">
            <a:xfrm>
              <a:off x="470" y="1848"/>
              <a:ext cx="2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15433" name="Text Box 41"/>
            <p:cNvSpPr txBox="1">
              <a:spLocks noChangeArrowheads="1"/>
            </p:cNvSpPr>
            <p:nvPr/>
          </p:nvSpPr>
          <p:spPr bwMode="auto">
            <a:xfrm>
              <a:off x="330" y="1512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＋</a:t>
              </a:r>
            </a:p>
          </p:txBody>
        </p:sp>
        <p:sp>
          <p:nvSpPr>
            <p:cNvPr id="315434" name="Text Box 42"/>
            <p:cNvSpPr txBox="1">
              <a:spLocks noChangeArrowheads="1"/>
            </p:cNvSpPr>
            <p:nvPr/>
          </p:nvSpPr>
          <p:spPr bwMode="auto">
            <a:xfrm>
              <a:off x="1123" y="1026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＋</a:t>
              </a:r>
            </a:p>
          </p:txBody>
        </p:sp>
        <p:sp>
          <p:nvSpPr>
            <p:cNvPr id="315435" name="Text Box 43"/>
            <p:cNvSpPr txBox="1">
              <a:spLocks noChangeArrowheads="1"/>
            </p:cNvSpPr>
            <p:nvPr/>
          </p:nvSpPr>
          <p:spPr bwMode="auto">
            <a:xfrm>
              <a:off x="1434" y="1026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－</a:t>
              </a:r>
            </a:p>
          </p:txBody>
        </p:sp>
        <p:sp>
          <p:nvSpPr>
            <p:cNvPr id="315436" name="Text Box 44"/>
            <p:cNvSpPr txBox="1">
              <a:spLocks noChangeArrowheads="1"/>
            </p:cNvSpPr>
            <p:nvPr/>
          </p:nvSpPr>
          <p:spPr bwMode="auto">
            <a:xfrm>
              <a:off x="725" y="1508"/>
              <a:ext cx="1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/>
                <a:t>－</a:t>
              </a:r>
            </a:p>
          </p:txBody>
        </p:sp>
        <p:sp>
          <p:nvSpPr>
            <p:cNvPr id="315437" name="Text Box 45"/>
            <p:cNvSpPr txBox="1">
              <a:spLocks noChangeArrowheads="1"/>
            </p:cNvSpPr>
            <p:nvPr/>
          </p:nvSpPr>
          <p:spPr bwMode="auto">
            <a:xfrm>
              <a:off x="443" y="1338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C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315438" name="Text Box 46"/>
            <p:cNvSpPr txBox="1">
              <a:spLocks noChangeArrowheads="1"/>
            </p:cNvSpPr>
            <p:nvPr/>
          </p:nvSpPr>
          <p:spPr bwMode="auto">
            <a:xfrm>
              <a:off x="1179" y="828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315439" name="Oval 47"/>
            <p:cNvSpPr>
              <a:spLocks noChangeArrowheads="1"/>
            </p:cNvSpPr>
            <p:nvPr/>
          </p:nvSpPr>
          <p:spPr bwMode="auto">
            <a:xfrm>
              <a:off x="885" y="170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40" name="Oval 48"/>
            <p:cNvSpPr>
              <a:spLocks noChangeArrowheads="1"/>
            </p:cNvSpPr>
            <p:nvPr/>
          </p:nvSpPr>
          <p:spPr bwMode="auto">
            <a:xfrm>
              <a:off x="1803" y="1877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41" name="Line 49"/>
            <p:cNvSpPr>
              <a:spLocks noChangeShapeType="1"/>
            </p:cNvSpPr>
            <p:nvPr/>
          </p:nvSpPr>
          <p:spPr bwMode="auto">
            <a:xfrm>
              <a:off x="651" y="1727"/>
              <a:ext cx="44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42" name="Rectangle 50"/>
            <p:cNvSpPr>
              <a:spLocks noChangeArrowheads="1"/>
            </p:cNvSpPr>
            <p:nvPr/>
          </p:nvSpPr>
          <p:spPr bwMode="auto">
            <a:xfrm rot="-5400000">
              <a:off x="1312" y="1148"/>
              <a:ext cx="96" cy="192"/>
            </a:xfrm>
            <a:prstGeom prst="rect">
              <a:avLst/>
            </a:prstGeom>
            <a:solidFill>
              <a:srgbClr val="66FF3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5443" name="Text Box 51"/>
          <p:cNvSpPr txBox="1">
            <a:spLocks noChangeArrowheads="1"/>
          </p:cNvSpPr>
          <p:nvPr/>
        </p:nvSpPr>
        <p:spPr bwMode="auto">
          <a:xfrm>
            <a:off x="1150938" y="4760913"/>
            <a:ext cx="36909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＝ 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/>
              <a:t> 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（线性函数），则</a:t>
            </a:r>
          </a:p>
        </p:txBody>
      </p:sp>
      <p:graphicFrame>
        <p:nvGraphicFramePr>
          <p:cNvPr id="315444" name="Object 52"/>
          <p:cNvGraphicFramePr>
            <a:graphicFrameLocks noChangeAspect="1"/>
          </p:cNvGraphicFramePr>
          <p:nvPr/>
        </p:nvGraphicFramePr>
        <p:xfrm>
          <a:off x="1276350" y="5583238"/>
          <a:ext cx="19256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480" imgH="228600" progId="Equation.DSMT4">
                  <p:embed/>
                </p:oleObj>
              </mc:Choice>
              <mc:Fallback>
                <p:oleObj name="Equation" r:id="rId9" imgW="825480" imgH="228600" progId="Equation.DSMT4">
                  <p:embed/>
                  <p:pic>
                    <p:nvPicPr>
                      <p:cNvPr id="31544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5583238"/>
                        <a:ext cx="1925638" cy="533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45" name="Text Box 53"/>
          <p:cNvSpPr txBox="1">
            <a:spLocks noChangeArrowheads="1"/>
          </p:cNvSpPr>
          <p:nvPr/>
        </p:nvSpPr>
        <p:spPr bwMode="auto">
          <a:xfrm>
            <a:off x="3536950" y="5661025"/>
            <a:ext cx="854075" cy="39687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常数</a:t>
            </a:r>
          </a:p>
        </p:txBody>
      </p:sp>
      <p:graphicFrame>
        <p:nvGraphicFramePr>
          <p:cNvPr id="315450" name="Object 58"/>
          <p:cNvGraphicFramePr>
            <a:graphicFrameLocks noChangeAspect="1"/>
          </p:cNvGraphicFramePr>
          <p:nvPr/>
        </p:nvGraphicFramePr>
        <p:xfrm>
          <a:off x="5078413" y="1670050"/>
          <a:ext cx="10572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228600" progId="Equation.DSMT4">
                  <p:embed/>
                </p:oleObj>
              </mc:Choice>
              <mc:Fallback>
                <p:oleObj name="Equation" r:id="rId11" imgW="583920" imgH="228600" progId="Equation.DSMT4">
                  <p:embed/>
                  <p:pic>
                    <p:nvPicPr>
                      <p:cNvPr id="31545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1670050"/>
                        <a:ext cx="105727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192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1000" fill="hold"/>
                                        <p:tgtEl>
                                          <p:spTgt spid="3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1000" fill="hold"/>
                                        <p:tgtEl>
                                          <p:spTgt spid="3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/>
      <p:bldP spid="315443" grpId="0"/>
      <p:bldP spid="31544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dirty="0"/>
              <a:t>7.2</a:t>
            </a:r>
            <a:r>
              <a:rPr lang="zh-CN" altLang="en-US" dirty="0"/>
              <a:t>节：</a:t>
            </a:r>
            <a:r>
              <a:rPr lang="en-US" altLang="zh-CN" dirty="0"/>
              <a:t>7-2</a:t>
            </a:r>
          </a:p>
          <a:p>
            <a:r>
              <a:rPr lang="en-US" altLang="zh-CN" dirty="0"/>
              <a:t>7.3</a:t>
            </a:r>
            <a:r>
              <a:rPr lang="zh-CN" altLang="en-US" dirty="0"/>
              <a:t>节：</a:t>
            </a:r>
            <a:r>
              <a:rPr lang="en-US" altLang="zh-CN" dirty="0"/>
              <a:t>7-15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7-18</a:t>
            </a:r>
            <a:r>
              <a:rPr lang="en-US" altLang="zh-CN" baseline="30000" dirty="0">
                <a:solidFill>
                  <a:srgbClr val="FF0000"/>
                </a:solidFill>
              </a:rPr>
              <a:t>*</a:t>
            </a:r>
            <a:endParaRPr lang="en-US" altLang="zh-CN" strike="sngStrike" dirty="0">
              <a:solidFill>
                <a:srgbClr val="FF0000"/>
              </a:solidFill>
            </a:endParaRPr>
          </a:p>
          <a:p>
            <a:r>
              <a:rPr lang="en-US" altLang="zh-CN" dirty="0"/>
              <a:t>7.4</a:t>
            </a:r>
            <a:r>
              <a:rPr lang="zh-CN" altLang="en-US" dirty="0"/>
              <a:t>节：</a:t>
            </a:r>
            <a:r>
              <a:rPr lang="en-US" altLang="zh-CN" dirty="0"/>
              <a:t>7-26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7-31</a:t>
            </a:r>
            <a:r>
              <a:rPr lang="zh-CN" altLang="en-US" baseline="30000" dirty="0">
                <a:solidFill>
                  <a:srgbClr val="FF0000"/>
                </a:solidFill>
              </a:rPr>
              <a:t>*</a:t>
            </a:r>
            <a:endParaRPr lang="en-US" altLang="zh-CN" strike="sngStrike" dirty="0">
              <a:solidFill>
                <a:srgbClr val="FF0000"/>
              </a:solidFill>
            </a:endParaRPr>
          </a:p>
          <a:p>
            <a:r>
              <a:rPr lang="en-US" altLang="zh-CN" dirty="0"/>
              <a:t>7.5</a:t>
            </a:r>
            <a:r>
              <a:rPr lang="zh-CN" altLang="en-US" dirty="0"/>
              <a:t>节：</a:t>
            </a:r>
            <a:r>
              <a:rPr lang="en-US" altLang="zh-CN" dirty="0"/>
              <a:t>7-35</a:t>
            </a:r>
            <a:r>
              <a:rPr lang="zh-CN" altLang="en-US" dirty="0"/>
              <a:t>、</a:t>
            </a:r>
            <a:r>
              <a:rPr lang="en-US" altLang="zh-CN" dirty="0"/>
              <a:t>7-36 </a:t>
            </a:r>
          </a:p>
          <a:p>
            <a:r>
              <a:rPr lang="en-US" altLang="zh-CN" dirty="0"/>
              <a:t>7-18</a:t>
            </a:r>
            <a:r>
              <a:rPr lang="zh-CN" altLang="en-US" dirty="0"/>
              <a:t>和</a:t>
            </a:r>
            <a:r>
              <a:rPr lang="en-US" altLang="zh-CN" dirty="0"/>
              <a:t>7-31</a:t>
            </a:r>
          </a:p>
          <a:p>
            <a:r>
              <a:rPr lang="en-US" altLang="zh-CN" dirty="0"/>
              <a:t>2024.4.9</a:t>
            </a:r>
            <a:r>
              <a:rPr lang="zh-CN" altLang="en-US" dirty="0"/>
              <a:t>交作业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2024/8/8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64350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14013</TotalTime>
  <Words>3163</Words>
  <Application>Microsoft Office PowerPoint</Application>
  <PresentationFormat>全屏显示(4:3)</PresentationFormat>
  <Paragraphs>932</Paragraphs>
  <Slides>54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54</vt:i4>
      </vt:variant>
    </vt:vector>
  </HeadingPairs>
  <TitlesOfParts>
    <vt:vector size="69" baseType="lpstr">
      <vt:lpstr>黑体</vt:lpstr>
      <vt:lpstr>华文行楷</vt:lpstr>
      <vt:lpstr>楷体_GB2312</vt:lpstr>
      <vt:lpstr>隶书</vt:lpstr>
      <vt:lpstr>宋体</vt:lpstr>
      <vt:lpstr>幼圆</vt:lpstr>
      <vt:lpstr>Arial</vt:lpstr>
      <vt:lpstr>Cambria Math</vt:lpstr>
      <vt:lpstr>Symbol</vt:lpstr>
      <vt:lpstr>Times New Roman</vt:lpstr>
      <vt:lpstr>默认设计模板</vt:lpstr>
      <vt:lpstr>Equation</vt:lpstr>
      <vt:lpstr>公式</vt:lpstr>
      <vt:lpstr>Visio</vt:lpstr>
      <vt:lpstr>VISIO</vt:lpstr>
      <vt:lpstr>PowerPoint 演示文稿</vt:lpstr>
      <vt:lpstr>PowerPoint 演示文稿</vt:lpstr>
      <vt:lpstr>7.1 广义函数Singularity Functions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Practice</vt:lpstr>
      <vt:lpstr>Practice</vt:lpstr>
      <vt:lpstr>4. 电容的串并联</vt:lpstr>
      <vt:lpstr>PowerPoint 演示文稿</vt:lpstr>
      <vt:lpstr>PowerPoint 演示文稿</vt:lpstr>
      <vt:lpstr>（2）电容的并联</vt:lpstr>
      <vt:lpstr>PowerPoint 演示文稿</vt:lpstr>
      <vt:lpstr>PowerPoint 演示文稿</vt:lpstr>
      <vt:lpstr>PowerPoint 演示文稿</vt:lpstr>
      <vt:lpstr>PowerPoint 演示文稿</vt:lpstr>
      <vt:lpstr>Practice</vt:lpstr>
      <vt:lpstr>4. 电感的串并联</vt:lpstr>
      <vt:lpstr>(2) 电感的并联</vt:lpstr>
      <vt:lpstr>PowerPoint 演示文稿</vt:lpstr>
      <vt:lpstr>电容、电感小结（1）</vt:lpstr>
      <vt:lpstr>电容、电感小结（2）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暂态分析概述小结</vt:lpstr>
      <vt:lpstr>PowerPoint 演示文稿</vt:lpstr>
      <vt:lpstr>PowerPoint 演示文稿</vt:lpstr>
      <vt:lpstr>作业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circuits</dc:title>
  <dc:creator>wry</dc:creator>
  <cp:lastModifiedBy>洛琦 白</cp:lastModifiedBy>
  <cp:revision>830</cp:revision>
  <cp:lastPrinted>2004-03-17T08:18:10Z</cp:lastPrinted>
  <dcterms:created xsi:type="dcterms:W3CDTF">2001-01-13T02:14:45Z</dcterms:created>
  <dcterms:modified xsi:type="dcterms:W3CDTF">2024-08-08T08:19:45Z</dcterms:modified>
</cp:coreProperties>
</file>