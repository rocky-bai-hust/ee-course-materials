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30" r:id="rId2"/>
    <p:sldId id="418" r:id="rId3"/>
    <p:sldId id="433" r:id="rId4"/>
    <p:sldId id="443" r:id="rId5"/>
    <p:sldId id="432" r:id="rId6"/>
    <p:sldId id="444" r:id="rId7"/>
    <p:sldId id="445" r:id="rId8"/>
    <p:sldId id="431" r:id="rId9"/>
    <p:sldId id="440" r:id="rId10"/>
    <p:sldId id="395" r:id="rId11"/>
    <p:sldId id="401" r:id="rId12"/>
    <p:sldId id="402" r:id="rId13"/>
    <p:sldId id="403" r:id="rId14"/>
    <p:sldId id="434" r:id="rId15"/>
    <p:sldId id="404" r:id="rId16"/>
    <p:sldId id="390" r:id="rId17"/>
    <p:sldId id="441" r:id="rId18"/>
    <p:sldId id="442" r:id="rId19"/>
    <p:sldId id="406" r:id="rId20"/>
    <p:sldId id="391" r:id="rId21"/>
    <p:sldId id="419" r:id="rId22"/>
    <p:sldId id="427" r:id="rId23"/>
    <p:sldId id="446" r:id="rId24"/>
    <p:sldId id="447" r:id="rId25"/>
    <p:sldId id="436" r:id="rId26"/>
    <p:sldId id="396" r:id="rId27"/>
    <p:sldId id="398" r:id="rId28"/>
    <p:sldId id="435" r:id="rId29"/>
    <p:sldId id="409" r:id="rId30"/>
    <p:sldId id="428" r:id="rId31"/>
    <p:sldId id="407" r:id="rId32"/>
    <p:sldId id="429" r:id="rId33"/>
    <p:sldId id="421" r:id="rId34"/>
    <p:sldId id="449" r:id="rId35"/>
    <p:sldId id="448" r:id="rId36"/>
    <p:sldId id="450" r:id="rId37"/>
    <p:sldId id="451" r:id="rId38"/>
    <p:sldId id="412" r:id="rId39"/>
    <p:sldId id="413" r:id="rId40"/>
    <p:sldId id="437" r:id="rId41"/>
    <p:sldId id="438" r:id="rId42"/>
  </p:sldIdLst>
  <p:sldSz cx="9144000" cy="6858000" type="screen4x3"/>
  <p:notesSz cx="6272213" cy="90614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54">
          <p15:clr>
            <a:srgbClr val="A4A3A4"/>
          </p15:clr>
        </p15:guide>
        <p15:guide id="2" pos="197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00"/>
    <a:srgbClr val="336600"/>
    <a:srgbClr val="003300"/>
    <a:srgbClr val="006600"/>
    <a:srgbClr val="FF9900"/>
    <a:srgbClr val="FF00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83" autoAdjust="0"/>
  </p:normalViewPr>
  <p:slideViewPr>
    <p:cSldViewPr>
      <p:cViewPr>
        <p:scale>
          <a:sx n="125" d="100"/>
          <a:sy n="125" d="100"/>
        </p:scale>
        <p:origin x="636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920" y="-84"/>
      </p:cViewPr>
      <p:guideLst>
        <p:guide orient="horz" pos="2854"/>
        <p:guide pos="197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e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e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10" Type="http://schemas.openxmlformats.org/officeDocument/2006/relationships/image" Target="../media/image33.e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wmf"/><Relationship Id="rId7" Type="http://schemas.openxmlformats.org/officeDocument/2006/relationships/image" Target="../media/image40.emf"/><Relationship Id="rId2" Type="http://schemas.openxmlformats.org/officeDocument/2006/relationships/image" Target="../media/image35.wmf"/><Relationship Id="rId1" Type="http://schemas.openxmlformats.org/officeDocument/2006/relationships/image" Target="../media/image34.emf"/><Relationship Id="rId6" Type="http://schemas.openxmlformats.org/officeDocument/2006/relationships/image" Target="../media/image39.wmf"/><Relationship Id="rId11" Type="http://schemas.openxmlformats.org/officeDocument/2006/relationships/image" Target="../media/image44.wmf"/><Relationship Id="rId5" Type="http://schemas.openxmlformats.org/officeDocument/2006/relationships/image" Target="../media/image38.wmf"/><Relationship Id="rId10" Type="http://schemas.openxmlformats.org/officeDocument/2006/relationships/image" Target="../media/image43.emf"/><Relationship Id="rId4" Type="http://schemas.openxmlformats.org/officeDocument/2006/relationships/image" Target="../media/image37.wmf"/><Relationship Id="rId9" Type="http://schemas.openxmlformats.org/officeDocument/2006/relationships/image" Target="../media/image42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emf"/><Relationship Id="rId2" Type="http://schemas.openxmlformats.org/officeDocument/2006/relationships/image" Target="../media/image45.emf"/><Relationship Id="rId1" Type="http://schemas.openxmlformats.org/officeDocument/2006/relationships/image" Target="../media/image2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4.wmf"/><Relationship Id="rId7" Type="http://schemas.openxmlformats.org/officeDocument/2006/relationships/image" Target="../media/image57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Relationship Id="rId6" Type="http://schemas.openxmlformats.org/officeDocument/2006/relationships/image" Target="../media/image56.wmf"/><Relationship Id="rId5" Type="http://schemas.openxmlformats.org/officeDocument/2006/relationships/image" Target="../media/image48.wmf"/><Relationship Id="rId4" Type="http://schemas.openxmlformats.org/officeDocument/2006/relationships/image" Target="../media/image55.wmf"/><Relationship Id="rId9" Type="http://schemas.openxmlformats.org/officeDocument/2006/relationships/image" Target="../media/image5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2" Type="http://schemas.openxmlformats.org/officeDocument/2006/relationships/image" Target="../media/image61.emf"/><Relationship Id="rId1" Type="http://schemas.openxmlformats.org/officeDocument/2006/relationships/image" Target="../media/image60.emf"/><Relationship Id="rId6" Type="http://schemas.openxmlformats.org/officeDocument/2006/relationships/image" Target="../media/image65.e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7.wmf"/><Relationship Id="rId7" Type="http://schemas.openxmlformats.org/officeDocument/2006/relationships/image" Target="../media/image66.wmf"/><Relationship Id="rId2" Type="http://schemas.openxmlformats.org/officeDocument/2006/relationships/image" Target="../media/image61.emf"/><Relationship Id="rId1" Type="http://schemas.openxmlformats.org/officeDocument/2006/relationships/image" Target="../media/image60.emf"/><Relationship Id="rId6" Type="http://schemas.openxmlformats.org/officeDocument/2006/relationships/image" Target="../media/image65.e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9" Type="http://schemas.openxmlformats.org/officeDocument/2006/relationships/image" Target="../media/image69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64.wmf"/><Relationship Id="rId7" Type="http://schemas.openxmlformats.org/officeDocument/2006/relationships/image" Target="../media/image75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png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e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85.wmf"/><Relationship Id="rId7" Type="http://schemas.openxmlformats.org/officeDocument/2006/relationships/image" Target="../media/image94.wmf"/><Relationship Id="rId2" Type="http://schemas.openxmlformats.org/officeDocument/2006/relationships/image" Target="../media/image84.wmf"/><Relationship Id="rId1" Type="http://schemas.openxmlformats.org/officeDocument/2006/relationships/image" Target="../media/image91.e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8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image" Target="../media/image108.wmf"/><Relationship Id="rId3" Type="http://schemas.openxmlformats.org/officeDocument/2006/relationships/image" Target="../media/image98.emf"/><Relationship Id="rId7" Type="http://schemas.openxmlformats.org/officeDocument/2006/relationships/image" Target="../media/image102.wmf"/><Relationship Id="rId12" Type="http://schemas.openxmlformats.org/officeDocument/2006/relationships/image" Target="../media/image107.wmf"/><Relationship Id="rId2" Type="http://schemas.openxmlformats.org/officeDocument/2006/relationships/image" Target="../media/image97.emf"/><Relationship Id="rId16" Type="http://schemas.openxmlformats.org/officeDocument/2006/relationships/image" Target="../media/image111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11" Type="http://schemas.openxmlformats.org/officeDocument/2006/relationships/image" Target="../media/image106.wmf"/><Relationship Id="rId5" Type="http://schemas.openxmlformats.org/officeDocument/2006/relationships/image" Target="../media/image100.wmf"/><Relationship Id="rId15" Type="http://schemas.openxmlformats.org/officeDocument/2006/relationships/image" Target="../media/image110.wmf"/><Relationship Id="rId10" Type="http://schemas.openxmlformats.org/officeDocument/2006/relationships/image" Target="../media/image105.wmf"/><Relationship Id="rId4" Type="http://schemas.openxmlformats.org/officeDocument/2006/relationships/image" Target="../media/image99.wmf"/><Relationship Id="rId9" Type="http://schemas.openxmlformats.org/officeDocument/2006/relationships/image" Target="../media/image104.wmf"/><Relationship Id="rId14" Type="http://schemas.openxmlformats.org/officeDocument/2006/relationships/image" Target="../media/image10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99.wmf"/><Relationship Id="rId7" Type="http://schemas.openxmlformats.org/officeDocument/2006/relationships/image" Target="../media/image113.wmf"/><Relationship Id="rId12" Type="http://schemas.openxmlformats.org/officeDocument/2006/relationships/image" Target="../media/image118.emf"/><Relationship Id="rId2" Type="http://schemas.openxmlformats.org/officeDocument/2006/relationships/image" Target="../media/image112.wmf"/><Relationship Id="rId1" Type="http://schemas.openxmlformats.org/officeDocument/2006/relationships/image" Target="../media/image24.wmf"/><Relationship Id="rId6" Type="http://schemas.openxmlformats.org/officeDocument/2006/relationships/image" Target="../media/image101.wmf"/><Relationship Id="rId11" Type="http://schemas.openxmlformats.org/officeDocument/2006/relationships/image" Target="../media/image117.emf"/><Relationship Id="rId5" Type="http://schemas.openxmlformats.org/officeDocument/2006/relationships/image" Target="../media/image100.wmf"/><Relationship Id="rId10" Type="http://schemas.openxmlformats.org/officeDocument/2006/relationships/image" Target="../media/image116.emf"/><Relationship Id="rId4" Type="http://schemas.openxmlformats.org/officeDocument/2006/relationships/image" Target="../media/image98.emf"/><Relationship Id="rId9" Type="http://schemas.openxmlformats.org/officeDocument/2006/relationships/image" Target="../media/image11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121.emf"/><Relationship Id="rId7" Type="http://schemas.openxmlformats.org/officeDocument/2006/relationships/image" Target="../media/image115.wmf"/><Relationship Id="rId2" Type="http://schemas.openxmlformats.org/officeDocument/2006/relationships/image" Target="../media/image120.wmf"/><Relationship Id="rId1" Type="http://schemas.openxmlformats.org/officeDocument/2006/relationships/image" Target="../media/image68.wmf"/><Relationship Id="rId6" Type="http://schemas.openxmlformats.org/officeDocument/2006/relationships/image" Target="../media/image124.wmf"/><Relationship Id="rId11" Type="http://schemas.openxmlformats.org/officeDocument/2006/relationships/image" Target="../media/image101.wmf"/><Relationship Id="rId5" Type="http://schemas.openxmlformats.org/officeDocument/2006/relationships/image" Target="../media/image123.wmf"/><Relationship Id="rId10" Type="http://schemas.openxmlformats.org/officeDocument/2006/relationships/image" Target="../media/image100.wmf"/><Relationship Id="rId4" Type="http://schemas.openxmlformats.org/officeDocument/2006/relationships/image" Target="../media/image122.emf"/><Relationship Id="rId9" Type="http://schemas.openxmlformats.org/officeDocument/2006/relationships/image" Target="../media/image9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emf"/><Relationship Id="rId13" Type="http://schemas.openxmlformats.org/officeDocument/2006/relationships/image" Target="../media/image132.wmf"/><Relationship Id="rId3" Type="http://schemas.openxmlformats.org/officeDocument/2006/relationships/image" Target="../media/image112.wmf"/><Relationship Id="rId7" Type="http://schemas.openxmlformats.org/officeDocument/2006/relationships/image" Target="../media/image127.wmf"/><Relationship Id="rId12" Type="http://schemas.openxmlformats.org/officeDocument/2006/relationships/image" Target="../media/image115.wmf"/><Relationship Id="rId2" Type="http://schemas.openxmlformats.org/officeDocument/2006/relationships/image" Target="../media/image126.emf"/><Relationship Id="rId1" Type="http://schemas.openxmlformats.org/officeDocument/2006/relationships/image" Target="../media/image125.emf"/><Relationship Id="rId6" Type="http://schemas.openxmlformats.org/officeDocument/2006/relationships/image" Target="../media/image101.wmf"/><Relationship Id="rId11" Type="http://schemas.openxmlformats.org/officeDocument/2006/relationships/image" Target="../media/image131.wmf"/><Relationship Id="rId5" Type="http://schemas.openxmlformats.org/officeDocument/2006/relationships/image" Target="../media/image100.wmf"/><Relationship Id="rId10" Type="http://schemas.openxmlformats.org/officeDocument/2006/relationships/image" Target="../media/image130.wmf"/><Relationship Id="rId4" Type="http://schemas.openxmlformats.org/officeDocument/2006/relationships/image" Target="../media/image99.wmf"/><Relationship Id="rId9" Type="http://schemas.openxmlformats.org/officeDocument/2006/relationships/image" Target="../media/image129.emf"/><Relationship Id="rId14" Type="http://schemas.openxmlformats.org/officeDocument/2006/relationships/image" Target="../media/image13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image" Target="../media/image99.wmf"/><Relationship Id="rId7" Type="http://schemas.openxmlformats.org/officeDocument/2006/relationships/image" Target="../media/image136.wmf"/><Relationship Id="rId2" Type="http://schemas.openxmlformats.org/officeDocument/2006/relationships/image" Target="../media/image112.wmf"/><Relationship Id="rId1" Type="http://schemas.openxmlformats.org/officeDocument/2006/relationships/image" Target="../media/image134.wmf"/><Relationship Id="rId6" Type="http://schemas.openxmlformats.org/officeDocument/2006/relationships/image" Target="../media/image135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9" Type="http://schemas.openxmlformats.org/officeDocument/2006/relationships/image" Target="../media/image13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image" Target="../media/image141.emf"/><Relationship Id="rId7" Type="http://schemas.openxmlformats.org/officeDocument/2006/relationships/image" Target="../media/image101.wmf"/><Relationship Id="rId2" Type="http://schemas.openxmlformats.org/officeDocument/2006/relationships/image" Target="../media/image140.emf"/><Relationship Id="rId1" Type="http://schemas.openxmlformats.org/officeDocument/2006/relationships/image" Target="../media/image139.e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10" Type="http://schemas.openxmlformats.org/officeDocument/2006/relationships/image" Target="../media/image144.wmf"/><Relationship Id="rId4" Type="http://schemas.openxmlformats.org/officeDocument/2006/relationships/image" Target="../media/image112.wmf"/><Relationship Id="rId9" Type="http://schemas.openxmlformats.org/officeDocument/2006/relationships/image" Target="../media/image143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image" Target="../media/image153.wmf"/><Relationship Id="rId3" Type="http://schemas.openxmlformats.org/officeDocument/2006/relationships/image" Target="../media/image99.wmf"/><Relationship Id="rId7" Type="http://schemas.openxmlformats.org/officeDocument/2006/relationships/image" Target="../media/image147.wmf"/><Relationship Id="rId12" Type="http://schemas.openxmlformats.org/officeDocument/2006/relationships/image" Target="../media/image152.wmf"/><Relationship Id="rId2" Type="http://schemas.openxmlformats.org/officeDocument/2006/relationships/image" Target="../media/image112.wmf"/><Relationship Id="rId1" Type="http://schemas.openxmlformats.org/officeDocument/2006/relationships/image" Target="../media/image145.wmf"/><Relationship Id="rId6" Type="http://schemas.openxmlformats.org/officeDocument/2006/relationships/image" Target="../media/image146.wmf"/><Relationship Id="rId11" Type="http://schemas.openxmlformats.org/officeDocument/2006/relationships/image" Target="../media/image151.wmf"/><Relationship Id="rId5" Type="http://schemas.openxmlformats.org/officeDocument/2006/relationships/image" Target="../media/image101.wmf"/><Relationship Id="rId10" Type="http://schemas.openxmlformats.org/officeDocument/2006/relationships/image" Target="../media/image150.wmf"/><Relationship Id="rId4" Type="http://schemas.openxmlformats.org/officeDocument/2006/relationships/image" Target="../media/image100.wmf"/><Relationship Id="rId9" Type="http://schemas.openxmlformats.org/officeDocument/2006/relationships/image" Target="../media/image14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image" Target="../media/image167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12" Type="http://schemas.openxmlformats.org/officeDocument/2006/relationships/image" Target="../media/image166.wmf"/><Relationship Id="rId2" Type="http://schemas.openxmlformats.org/officeDocument/2006/relationships/image" Target="../media/image156.wmf"/><Relationship Id="rId1" Type="http://schemas.openxmlformats.org/officeDocument/2006/relationships/image" Target="../media/image155.emf"/><Relationship Id="rId6" Type="http://schemas.openxmlformats.org/officeDocument/2006/relationships/image" Target="../media/image160.emf"/><Relationship Id="rId11" Type="http://schemas.openxmlformats.org/officeDocument/2006/relationships/image" Target="../media/image165.wmf"/><Relationship Id="rId5" Type="http://schemas.openxmlformats.org/officeDocument/2006/relationships/image" Target="../media/image159.wmf"/><Relationship Id="rId10" Type="http://schemas.openxmlformats.org/officeDocument/2006/relationships/image" Target="../media/image164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12" Type="http://schemas.openxmlformats.org/officeDocument/2006/relationships/image" Target="../media/image178.wmf"/><Relationship Id="rId2" Type="http://schemas.openxmlformats.org/officeDocument/2006/relationships/image" Target="../media/image112.wmf"/><Relationship Id="rId1" Type="http://schemas.openxmlformats.org/officeDocument/2006/relationships/image" Target="../media/image168.emf"/><Relationship Id="rId6" Type="http://schemas.openxmlformats.org/officeDocument/2006/relationships/image" Target="../media/image172.wmf"/><Relationship Id="rId11" Type="http://schemas.openxmlformats.org/officeDocument/2006/relationships/image" Target="../media/image177.wmf"/><Relationship Id="rId5" Type="http://schemas.openxmlformats.org/officeDocument/2006/relationships/image" Target="../media/image171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554413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54413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EC70AA9-1FB9-4597-8240-FB1A057C72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552825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1538" y="677863"/>
            <a:ext cx="4532312" cy="33988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9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28650" y="4303713"/>
            <a:ext cx="5016500" cy="407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552825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A42CB19-57B3-4245-84FF-533E82522D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r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t>清华大学电路原理教学组</a:t>
            </a: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4032250"/>
            <a:ext cx="4527550" cy="3819525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r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t>清华大学电路原理教学组</a:t>
            </a: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4032250"/>
            <a:ext cx="4527550" cy="3819525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r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t>清华大学电路原理教学组</a:t>
            </a: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fld id="{D9DC7C5F-9EB1-483D-BD34-515660EAAAE6}" type="slidenum"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30</a:t>
            </a:fld>
            <a:endParaRPr lang="en-US" altLang="zh-CN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mtClean="0"/>
              <a:t>Super mesh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fld id="{F9A1B667-8441-43A2-AD44-A592FB1B2F1B}" type="slidenum"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32</a:t>
            </a:fld>
            <a:endParaRPr lang="en-US" altLang="zh-CN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mtClean="0"/>
              <a:t>Super mesh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r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t>清华大学电路原理教学组</a:t>
            </a: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4032250"/>
            <a:ext cx="4527550" cy="3819525"/>
          </a:xfrm>
          <a:noFill/>
        </p:spPr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747518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9549E7-77CD-43C7-AD91-98055462A282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147FB-538A-4A23-8542-3E4E0D5D93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0217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576EE-7C7E-49AE-B6FB-80BD0331B26D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94CE3-5E60-46A1-B9E8-9FD3DC41F6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611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66828-2D28-4F73-A641-E248E8074B7E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ABFA1-E0A2-486B-8BE1-EA38EC3CBE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8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4ECF0B-C2CA-4CC7-9C01-EC90A8E866C2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26A862-8614-40E2-8535-DE87B29A8C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156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03014-1D1D-4E92-819D-8B1F3AA67290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D9C41-4C4C-4172-AF99-4E9CC68C1C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477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D863A5-DD4E-44B4-B0C7-0AAF8AF8F9DD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F26E2-D230-4871-87CD-C739EDD499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926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C1BCC-BFD5-4AF6-AC8F-C45DE697000B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A5AA2-2354-472F-B533-79158BFF3A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91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4635C-9267-4CDD-A5B3-9426EAE8DBD6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F20BF-5486-4F9C-B8A1-97EA684E19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20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7C5EA1-7653-41D8-A26F-105AC6101D3C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18EC29-B86B-4B94-8A06-64F3556D0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4277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00EAF-9DC5-4443-B0B3-249D7E7DAC3C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CDA06-51FD-4561-9E99-9B77A0E7CA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274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21145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1912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34142-F3EE-47D9-8B72-919BDD9B34AD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AD32B-7C39-4776-A1B0-8350121475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4250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457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914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2F6D11-AD38-4CD2-AFAF-67B643DC04B9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C96DBB-AE17-40F1-AC17-0857BAD517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271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81000" y="304800"/>
            <a:ext cx="8458200" cy="457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81000" y="914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914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810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86300" y="3581400"/>
            <a:ext cx="4152900" cy="2514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2F5129-D113-47D7-A13F-976649D9FD57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7739F-D2E1-4E24-9756-93033A3EB8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305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14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B48BF95-02FC-4527-827D-B7A9A32E9CC7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D14F66F-4CA9-4145-B31C-047FBDBE09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7" descr="logo1"/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85725"/>
            <a:ext cx="9366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4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10.png"/><Relationship Id="rId5" Type="http://schemas.openxmlformats.org/officeDocument/2006/relationships/image" Target="../media/image80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79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4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4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10.png"/><Relationship Id="rId5" Type="http://schemas.openxmlformats.org/officeDocument/2006/relationships/image" Target="../media/image80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79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4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6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10.png"/><Relationship Id="rId5" Type="http://schemas.openxmlformats.org/officeDocument/2006/relationships/image" Target="../media/image80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79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7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3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9.w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9.wmf"/><Relationship Id="rId22" Type="http://schemas.openxmlformats.org/officeDocument/2006/relationships/image" Target="../media/image3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41.emf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8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0.emf"/><Relationship Id="rId20" Type="http://schemas.openxmlformats.org/officeDocument/2006/relationships/image" Target="../media/image42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44.wmf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10" Type="http://schemas.openxmlformats.org/officeDocument/2006/relationships/image" Target="../media/image37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9.wmf"/><Relationship Id="rId22" Type="http://schemas.openxmlformats.org/officeDocument/2006/relationships/image" Target="../media/image4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4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48.wmf"/><Relationship Id="rId18" Type="http://schemas.openxmlformats.org/officeDocument/2006/relationships/oleObject" Target="../embeddings/oleObject55.bin"/><Relationship Id="rId3" Type="http://schemas.openxmlformats.org/officeDocument/2006/relationships/oleObject" Target="../embeddings/oleObject47.bin"/><Relationship Id="rId21" Type="http://schemas.openxmlformats.org/officeDocument/2006/relationships/image" Target="../media/image59.emf"/><Relationship Id="rId7" Type="http://schemas.openxmlformats.org/officeDocument/2006/relationships/oleObject" Target="../embeddings/oleObject49.bin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5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53.emf"/><Relationship Id="rId11" Type="http://schemas.openxmlformats.org/officeDocument/2006/relationships/image" Target="../media/image55.wmf"/><Relationship Id="rId5" Type="http://schemas.openxmlformats.org/officeDocument/2006/relationships/oleObject" Target="../embeddings/oleObject48.bin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58.emf"/><Relationship Id="rId4" Type="http://schemas.openxmlformats.org/officeDocument/2006/relationships/image" Target="../media/image52.emf"/><Relationship Id="rId9" Type="http://schemas.openxmlformats.org/officeDocument/2006/relationships/oleObject" Target="../embeddings/oleObject50.bin"/><Relationship Id="rId14" Type="http://schemas.openxmlformats.org/officeDocument/2006/relationships/oleObject" Target="../embeddings/oleObject5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1.e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63.wmf"/><Relationship Id="rId4" Type="http://schemas.openxmlformats.org/officeDocument/2006/relationships/image" Target="../media/image60.e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5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4.w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20" Type="http://schemas.openxmlformats.org/officeDocument/2006/relationships/image" Target="../media/image69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1.e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63.wmf"/><Relationship Id="rId19" Type="http://schemas.openxmlformats.org/officeDocument/2006/relationships/oleObject" Target="../embeddings/oleObject72.bin"/><Relationship Id="rId4" Type="http://schemas.openxmlformats.org/officeDocument/2006/relationships/image" Target="../media/image60.e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6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3.e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72.e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80.wmf"/><Relationship Id="rId4" Type="http://schemas.openxmlformats.org/officeDocument/2006/relationships/image" Target="../media/image77.png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8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86.wmf"/><Relationship Id="rId4" Type="http://schemas.openxmlformats.org/officeDocument/2006/relationships/image" Target="../media/image83.e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8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95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86.wmf"/><Relationship Id="rId4" Type="http://schemas.openxmlformats.org/officeDocument/2006/relationships/image" Target="../media/image91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4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4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10.png"/><Relationship Id="rId5" Type="http://schemas.openxmlformats.org/officeDocument/2006/relationships/image" Target="../media/image80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79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wmf"/><Relationship Id="rId18" Type="http://schemas.openxmlformats.org/officeDocument/2006/relationships/image" Target="../media/image102.wmf"/><Relationship Id="rId26" Type="http://schemas.openxmlformats.org/officeDocument/2006/relationships/image" Target="../media/image106.wmf"/><Relationship Id="rId3" Type="http://schemas.openxmlformats.org/officeDocument/2006/relationships/oleObject" Target="../embeddings/oleObject103.bin"/><Relationship Id="rId21" Type="http://schemas.openxmlformats.org/officeDocument/2006/relationships/oleObject" Target="../embeddings/oleObject113.bin"/><Relationship Id="rId34" Type="http://schemas.openxmlformats.org/officeDocument/2006/relationships/image" Target="../media/image110.wmf"/><Relationship Id="rId7" Type="http://schemas.openxmlformats.org/officeDocument/2006/relationships/oleObject" Target="../embeddings/oleObject105.bin"/><Relationship Id="rId12" Type="http://schemas.openxmlformats.org/officeDocument/2006/relationships/oleObject" Target="../embeddings/oleObject108.bin"/><Relationship Id="rId17" Type="http://schemas.openxmlformats.org/officeDocument/2006/relationships/oleObject" Target="../embeddings/oleObject111.bin"/><Relationship Id="rId25" Type="http://schemas.openxmlformats.org/officeDocument/2006/relationships/oleObject" Target="../embeddings/oleObject115.bin"/><Relationship Id="rId33" Type="http://schemas.openxmlformats.org/officeDocument/2006/relationships/oleObject" Target="../embeddings/oleObject11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1.wmf"/><Relationship Id="rId20" Type="http://schemas.openxmlformats.org/officeDocument/2006/relationships/image" Target="../media/image103.wmf"/><Relationship Id="rId29" Type="http://schemas.openxmlformats.org/officeDocument/2006/relationships/oleObject" Target="../embeddings/oleObject117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7.emf"/><Relationship Id="rId11" Type="http://schemas.openxmlformats.org/officeDocument/2006/relationships/oleObject" Target="../embeddings/oleObject107.bin"/><Relationship Id="rId24" Type="http://schemas.openxmlformats.org/officeDocument/2006/relationships/image" Target="../media/image105.wmf"/><Relationship Id="rId32" Type="http://schemas.openxmlformats.org/officeDocument/2006/relationships/image" Target="../media/image109.wmf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10.bin"/><Relationship Id="rId23" Type="http://schemas.openxmlformats.org/officeDocument/2006/relationships/oleObject" Target="../embeddings/oleObject114.bin"/><Relationship Id="rId28" Type="http://schemas.openxmlformats.org/officeDocument/2006/relationships/image" Target="../media/image107.wmf"/><Relationship Id="rId36" Type="http://schemas.openxmlformats.org/officeDocument/2006/relationships/image" Target="../media/image111.wmf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112.bin"/><Relationship Id="rId31" Type="http://schemas.openxmlformats.org/officeDocument/2006/relationships/oleObject" Target="../embeddings/oleObject118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06.bin"/><Relationship Id="rId14" Type="http://schemas.openxmlformats.org/officeDocument/2006/relationships/oleObject" Target="../embeddings/oleObject109.bin"/><Relationship Id="rId22" Type="http://schemas.openxmlformats.org/officeDocument/2006/relationships/image" Target="../media/image104.wmf"/><Relationship Id="rId27" Type="http://schemas.openxmlformats.org/officeDocument/2006/relationships/oleObject" Target="../embeddings/oleObject116.bin"/><Relationship Id="rId30" Type="http://schemas.openxmlformats.org/officeDocument/2006/relationships/image" Target="../media/image108.wmf"/><Relationship Id="rId35" Type="http://schemas.openxmlformats.org/officeDocument/2006/relationships/oleObject" Target="../embeddings/oleObject120.bin"/><Relationship Id="rId8" Type="http://schemas.openxmlformats.org/officeDocument/2006/relationships/image" Target="../media/image98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26.bin"/><Relationship Id="rId18" Type="http://schemas.openxmlformats.org/officeDocument/2006/relationships/oleObject" Target="../embeddings/oleObject129.bin"/><Relationship Id="rId26" Type="http://schemas.openxmlformats.org/officeDocument/2006/relationships/oleObject" Target="../embeddings/oleObject133.bin"/><Relationship Id="rId3" Type="http://schemas.openxmlformats.org/officeDocument/2006/relationships/oleObject" Target="../embeddings/oleObject121.bin"/><Relationship Id="rId21" Type="http://schemas.openxmlformats.org/officeDocument/2006/relationships/image" Target="../media/image115.wmf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00.wmf"/><Relationship Id="rId17" Type="http://schemas.openxmlformats.org/officeDocument/2006/relationships/image" Target="../media/image113.wmf"/><Relationship Id="rId25" Type="http://schemas.openxmlformats.org/officeDocument/2006/relationships/image" Target="../media/image11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8.bin"/><Relationship Id="rId20" Type="http://schemas.openxmlformats.org/officeDocument/2006/relationships/oleObject" Target="../embeddings/oleObject130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25.bin"/><Relationship Id="rId24" Type="http://schemas.openxmlformats.org/officeDocument/2006/relationships/oleObject" Target="../embeddings/oleObject132.bin"/><Relationship Id="rId5" Type="http://schemas.openxmlformats.org/officeDocument/2006/relationships/oleObject" Target="../embeddings/oleObject122.bin"/><Relationship Id="rId15" Type="http://schemas.openxmlformats.org/officeDocument/2006/relationships/image" Target="../media/image101.wmf"/><Relationship Id="rId23" Type="http://schemas.openxmlformats.org/officeDocument/2006/relationships/image" Target="../media/image116.emf"/><Relationship Id="rId28" Type="http://schemas.openxmlformats.org/officeDocument/2006/relationships/image" Target="../media/image119.png"/><Relationship Id="rId10" Type="http://schemas.openxmlformats.org/officeDocument/2006/relationships/image" Target="../media/image98.emf"/><Relationship Id="rId19" Type="http://schemas.openxmlformats.org/officeDocument/2006/relationships/image" Target="../media/image114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24.bin"/><Relationship Id="rId14" Type="http://schemas.openxmlformats.org/officeDocument/2006/relationships/oleObject" Target="../embeddings/oleObject127.bin"/><Relationship Id="rId22" Type="http://schemas.openxmlformats.org/officeDocument/2006/relationships/oleObject" Target="../embeddings/oleObject131.bin"/><Relationship Id="rId27" Type="http://schemas.openxmlformats.org/officeDocument/2006/relationships/image" Target="../media/image118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e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12.wmf"/><Relationship Id="rId26" Type="http://schemas.openxmlformats.org/officeDocument/2006/relationships/image" Target="../media/image101.wmf"/><Relationship Id="rId3" Type="http://schemas.openxmlformats.org/officeDocument/2006/relationships/oleObject" Target="../embeddings/oleObject134.bin"/><Relationship Id="rId21" Type="http://schemas.openxmlformats.org/officeDocument/2006/relationships/oleObject" Target="../embeddings/oleObject143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41.bin"/><Relationship Id="rId25" Type="http://schemas.openxmlformats.org/officeDocument/2006/relationships/oleObject" Target="../embeddings/oleObject1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wmf"/><Relationship Id="rId20" Type="http://schemas.openxmlformats.org/officeDocument/2006/relationships/image" Target="../media/image99.wmf"/><Relationship Id="rId29" Type="http://schemas.openxmlformats.org/officeDocument/2006/relationships/oleObject" Target="../embeddings/oleObject149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38.bin"/><Relationship Id="rId24" Type="http://schemas.openxmlformats.org/officeDocument/2006/relationships/oleObject" Target="../embeddings/oleObject145.bin"/><Relationship Id="rId32" Type="http://schemas.openxmlformats.org/officeDocument/2006/relationships/oleObject" Target="../embeddings/oleObject152.bin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23" Type="http://schemas.openxmlformats.org/officeDocument/2006/relationships/image" Target="../media/image100.wmf"/><Relationship Id="rId28" Type="http://schemas.openxmlformats.org/officeDocument/2006/relationships/oleObject" Target="../embeddings/oleObject148.bin"/><Relationship Id="rId10" Type="http://schemas.openxmlformats.org/officeDocument/2006/relationships/image" Target="../media/image122.emf"/><Relationship Id="rId19" Type="http://schemas.openxmlformats.org/officeDocument/2006/relationships/oleObject" Target="../embeddings/oleObject142.bin"/><Relationship Id="rId31" Type="http://schemas.openxmlformats.org/officeDocument/2006/relationships/oleObject" Target="../embeddings/oleObject151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24.wmf"/><Relationship Id="rId22" Type="http://schemas.openxmlformats.org/officeDocument/2006/relationships/oleObject" Target="../embeddings/oleObject144.bin"/><Relationship Id="rId27" Type="http://schemas.openxmlformats.org/officeDocument/2006/relationships/oleObject" Target="../embeddings/oleObject147.bin"/><Relationship Id="rId30" Type="http://schemas.openxmlformats.org/officeDocument/2006/relationships/oleObject" Target="../embeddings/oleObject150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8.bin"/><Relationship Id="rId18" Type="http://schemas.openxmlformats.org/officeDocument/2006/relationships/oleObject" Target="../embeddings/oleObject161.bin"/><Relationship Id="rId26" Type="http://schemas.openxmlformats.org/officeDocument/2006/relationships/oleObject" Target="../embeddings/oleObject165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28.emf"/><Relationship Id="rId34" Type="http://schemas.openxmlformats.org/officeDocument/2006/relationships/image" Target="../media/image133.wmf"/><Relationship Id="rId7" Type="http://schemas.openxmlformats.org/officeDocument/2006/relationships/image" Target="../media/image126.e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01.wmf"/><Relationship Id="rId25" Type="http://schemas.openxmlformats.org/officeDocument/2006/relationships/image" Target="../media/image130.wmf"/><Relationship Id="rId33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0.bin"/><Relationship Id="rId20" Type="http://schemas.openxmlformats.org/officeDocument/2006/relationships/oleObject" Target="../embeddings/oleObject162.bin"/><Relationship Id="rId29" Type="http://schemas.openxmlformats.org/officeDocument/2006/relationships/image" Target="../media/image115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99.wmf"/><Relationship Id="rId24" Type="http://schemas.openxmlformats.org/officeDocument/2006/relationships/oleObject" Target="../embeddings/oleObject164.bin"/><Relationship Id="rId32" Type="http://schemas.openxmlformats.org/officeDocument/2006/relationships/image" Target="../media/image132.wmf"/><Relationship Id="rId5" Type="http://schemas.openxmlformats.org/officeDocument/2006/relationships/image" Target="../media/image125.emf"/><Relationship Id="rId15" Type="http://schemas.openxmlformats.org/officeDocument/2006/relationships/oleObject" Target="../embeddings/oleObject159.bin"/><Relationship Id="rId23" Type="http://schemas.openxmlformats.org/officeDocument/2006/relationships/image" Target="../media/image129.emf"/><Relationship Id="rId28" Type="http://schemas.openxmlformats.org/officeDocument/2006/relationships/oleObject" Target="../embeddings/oleObject166.bin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27.wmf"/><Relationship Id="rId31" Type="http://schemas.openxmlformats.org/officeDocument/2006/relationships/oleObject" Target="../embeddings/oleObject168.bin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12.wmf"/><Relationship Id="rId14" Type="http://schemas.openxmlformats.org/officeDocument/2006/relationships/image" Target="../media/image100.wmf"/><Relationship Id="rId22" Type="http://schemas.openxmlformats.org/officeDocument/2006/relationships/oleObject" Target="../embeddings/oleObject163.bin"/><Relationship Id="rId27" Type="http://schemas.openxmlformats.org/officeDocument/2006/relationships/image" Target="../media/image131.wmf"/><Relationship Id="rId30" Type="http://schemas.openxmlformats.org/officeDocument/2006/relationships/oleObject" Target="../embeddings/oleObject167.bin"/><Relationship Id="rId8" Type="http://schemas.openxmlformats.org/officeDocument/2006/relationships/oleObject" Target="../embeddings/oleObject155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36.wmf"/><Relationship Id="rId3" Type="http://schemas.openxmlformats.org/officeDocument/2006/relationships/oleObject" Target="../embeddings/oleObject170.bin"/><Relationship Id="rId21" Type="http://schemas.openxmlformats.org/officeDocument/2006/relationships/oleObject" Target="../embeddings/oleObject180.bin"/><Relationship Id="rId7" Type="http://schemas.openxmlformats.org/officeDocument/2006/relationships/oleObject" Target="../embeddings/oleObject172.bin"/><Relationship Id="rId12" Type="http://schemas.openxmlformats.org/officeDocument/2006/relationships/oleObject" Target="../embeddings/oleObject175.bin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5.wmf"/><Relationship Id="rId20" Type="http://schemas.openxmlformats.org/officeDocument/2006/relationships/image" Target="../media/image137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2.wmf"/><Relationship Id="rId11" Type="http://schemas.openxmlformats.org/officeDocument/2006/relationships/image" Target="../media/image100.wmf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7.bin"/><Relationship Id="rId10" Type="http://schemas.openxmlformats.org/officeDocument/2006/relationships/oleObject" Target="../embeddings/oleObject174.bin"/><Relationship Id="rId19" Type="http://schemas.openxmlformats.org/officeDocument/2006/relationships/oleObject" Target="../embeddings/oleObject179.bin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01.wmf"/><Relationship Id="rId22" Type="http://schemas.openxmlformats.org/officeDocument/2006/relationships/image" Target="../media/image13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13" Type="http://schemas.openxmlformats.org/officeDocument/2006/relationships/image" Target="../media/image99.wmf"/><Relationship Id="rId18" Type="http://schemas.openxmlformats.org/officeDocument/2006/relationships/oleObject" Target="../embeddings/oleObject189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42.wmf"/><Relationship Id="rId7" Type="http://schemas.openxmlformats.org/officeDocument/2006/relationships/image" Target="../media/image140.emf"/><Relationship Id="rId12" Type="http://schemas.openxmlformats.org/officeDocument/2006/relationships/oleObject" Target="../embeddings/oleObject185.bin"/><Relationship Id="rId17" Type="http://schemas.openxmlformats.org/officeDocument/2006/relationships/oleObject" Target="../embeddings/oleObject188.bin"/><Relationship Id="rId25" Type="http://schemas.openxmlformats.org/officeDocument/2006/relationships/image" Target="../media/image14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wmf"/><Relationship Id="rId20" Type="http://schemas.openxmlformats.org/officeDocument/2006/relationships/oleObject" Target="../embeddings/oleObject190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82.bin"/><Relationship Id="rId11" Type="http://schemas.openxmlformats.org/officeDocument/2006/relationships/image" Target="../media/image112.wmf"/><Relationship Id="rId24" Type="http://schemas.openxmlformats.org/officeDocument/2006/relationships/oleObject" Target="../embeddings/oleObject192.bin"/><Relationship Id="rId5" Type="http://schemas.openxmlformats.org/officeDocument/2006/relationships/image" Target="../media/image139.emf"/><Relationship Id="rId15" Type="http://schemas.openxmlformats.org/officeDocument/2006/relationships/oleObject" Target="../embeddings/oleObject187.bin"/><Relationship Id="rId23" Type="http://schemas.openxmlformats.org/officeDocument/2006/relationships/image" Target="../media/image143.wmf"/><Relationship Id="rId10" Type="http://schemas.openxmlformats.org/officeDocument/2006/relationships/oleObject" Target="../embeddings/oleObject184.bin"/><Relationship Id="rId19" Type="http://schemas.openxmlformats.org/officeDocument/2006/relationships/image" Target="../media/image101.wmf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41.emf"/><Relationship Id="rId14" Type="http://schemas.openxmlformats.org/officeDocument/2006/relationships/oleObject" Target="../embeddings/oleObject186.bin"/><Relationship Id="rId22" Type="http://schemas.openxmlformats.org/officeDocument/2006/relationships/oleObject" Target="../embeddings/oleObject19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99.bin"/><Relationship Id="rId18" Type="http://schemas.openxmlformats.org/officeDocument/2006/relationships/oleObject" Target="../embeddings/oleObject202.bin"/><Relationship Id="rId26" Type="http://schemas.openxmlformats.org/officeDocument/2006/relationships/oleObject" Target="../embeddings/oleObject206.bin"/><Relationship Id="rId3" Type="http://schemas.openxmlformats.org/officeDocument/2006/relationships/oleObject" Target="../embeddings/oleObject193.bin"/><Relationship Id="rId21" Type="http://schemas.openxmlformats.org/officeDocument/2006/relationships/image" Target="../media/image148.wmf"/><Relationship Id="rId7" Type="http://schemas.openxmlformats.org/officeDocument/2006/relationships/oleObject" Target="../embeddings/oleObject195.bin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146.wmf"/><Relationship Id="rId25" Type="http://schemas.openxmlformats.org/officeDocument/2006/relationships/image" Target="../media/image15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1.bin"/><Relationship Id="rId20" Type="http://schemas.openxmlformats.org/officeDocument/2006/relationships/oleObject" Target="../embeddings/oleObject203.bin"/><Relationship Id="rId29" Type="http://schemas.openxmlformats.org/officeDocument/2006/relationships/image" Target="../media/image152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2.wmf"/><Relationship Id="rId11" Type="http://schemas.openxmlformats.org/officeDocument/2006/relationships/image" Target="../media/image100.wmf"/><Relationship Id="rId24" Type="http://schemas.openxmlformats.org/officeDocument/2006/relationships/oleObject" Target="../embeddings/oleObject205.bin"/><Relationship Id="rId5" Type="http://schemas.openxmlformats.org/officeDocument/2006/relationships/oleObject" Target="../embeddings/oleObject194.bin"/><Relationship Id="rId15" Type="http://schemas.openxmlformats.org/officeDocument/2006/relationships/oleObject" Target="../embeddings/oleObject200.bin"/><Relationship Id="rId23" Type="http://schemas.openxmlformats.org/officeDocument/2006/relationships/image" Target="../media/image149.wmf"/><Relationship Id="rId28" Type="http://schemas.openxmlformats.org/officeDocument/2006/relationships/oleObject" Target="../embeddings/oleObject207.bin"/><Relationship Id="rId10" Type="http://schemas.openxmlformats.org/officeDocument/2006/relationships/oleObject" Target="../embeddings/oleObject197.bin"/><Relationship Id="rId19" Type="http://schemas.openxmlformats.org/officeDocument/2006/relationships/image" Target="../media/image147.wmf"/><Relationship Id="rId31" Type="http://schemas.openxmlformats.org/officeDocument/2006/relationships/image" Target="../media/image153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96.bin"/><Relationship Id="rId14" Type="http://schemas.openxmlformats.org/officeDocument/2006/relationships/image" Target="../media/image101.wmf"/><Relationship Id="rId22" Type="http://schemas.openxmlformats.org/officeDocument/2006/relationships/oleObject" Target="../embeddings/oleObject204.bin"/><Relationship Id="rId27" Type="http://schemas.openxmlformats.org/officeDocument/2006/relationships/image" Target="../media/image151.wmf"/><Relationship Id="rId30" Type="http://schemas.openxmlformats.org/officeDocument/2006/relationships/oleObject" Target="../embeddings/oleObject208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54.png"/><Relationship Id="rId4" Type="http://schemas.openxmlformats.org/officeDocument/2006/relationships/image" Target="../media/image30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215.bin"/><Relationship Id="rId18" Type="http://schemas.openxmlformats.org/officeDocument/2006/relationships/image" Target="../media/image162.wmf"/><Relationship Id="rId26" Type="http://schemas.openxmlformats.org/officeDocument/2006/relationships/image" Target="../media/image166.wmf"/><Relationship Id="rId3" Type="http://schemas.openxmlformats.org/officeDocument/2006/relationships/oleObject" Target="../embeddings/oleObject210.bin"/><Relationship Id="rId21" Type="http://schemas.openxmlformats.org/officeDocument/2006/relationships/oleObject" Target="../embeddings/oleObject219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217.bin"/><Relationship Id="rId25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1.wmf"/><Relationship Id="rId20" Type="http://schemas.openxmlformats.org/officeDocument/2006/relationships/image" Target="../media/image163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214.bin"/><Relationship Id="rId24" Type="http://schemas.openxmlformats.org/officeDocument/2006/relationships/image" Target="../media/image165.wmf"/><Relationship Id="rId5" Type="http://schemas.openxmlformats.org/officeDocument/2006/relationships/oleObject" Target="../embeddings/oleObject211.bin"/><Relationship Id="rId15" Type="http://schemas.openxmlformats.org/officeDocument/2006/relationships/oleObject" Target="../embeddings/oleObject216.bin"/><Relationship Id="rId23" Type="http://schemas.openxmlformats.org/officeDocument/2006/relationships/oleObject" Target="../embeddings/oleObject220.bin"/><Relationship Id="rId28" Type="http://schemas.openxmlformats.org/officeDocument/2006/relationships/image" Target="../media/image167.wmf"/><Relationship Id="rId10" Type="http://schemas.openxmlformats.org/officeDocument/2006/relationships/image" Target="../media/image158.wmf"/><Relationship Id="rId19" Type="http://schemas.openxmlformats.org/officeDocument/2006/relationships/oleObject" Target="../embeddings/oleObject218.bin"/><Relationship Id="rId4" Type="http://schemas.openxmlformats.org/officeDocument/2006/relationships/image" Target="../media/image155.e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160.emf"/><Relationship Id="rId22" Type="http://schemas.openxmlformats.org/officeDocument/2006/relationships/image" Target="../media/image164.wmf"/><Relationship Id="rId27" Type="http://schemas.openxmlformats.org/officeDocument/2006/relationships/oleObject" Target="../embeddings/oleObject222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229.bin"/><Relationship Id="rId18" Type="http://schemas.openxmlformats.org/officeDocument/2006/relationships/image" Target="../media/image173.wmf"/><Relationship Id="rId26" Type="http://schemas.openxmlformats.org/officeDocument/2006/relationships/image" Target="../media/image177.wmf"/><Relationship Id="rId3" Type="http://schemas.openxmlformats.org/officeDocument/2006/relationships/oleObject" Target="../embeddings/oleObject223.bin"/><Relationship Id="rId21" Type="http://schemas.openxmlformats.org/officeDocument/2006/relationships/oleObject" Target="../embeddings/oleObject233.bin"/><Relationship Id="rId7" Type="http://schemas.openxmlformats.org/officeDocument/2006/relationships/oleObject" Target="../embeddings/oleObject225.bin"/><Relationship Id="rId12" Type="http://schemas.openxmlformats.org/officeDocument/2006/relationships/oleObject" Target="../embeddings/oleObject228.bin"/><Relationship Id="rId17" Type="http://schemas.openxmlformats.org/officeDocument/2006/relationships/oleObject" Target="../embeddings/oleObject231.bin"/><Relationship Id="rId25" Type="http://schemas.openxmlformats.org/officeDocument/2006/relationships/oleObject" Target="../embeddings/oleObject2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2.wmf"/><Relationship Id="rId20" Type="http://schemas.openxmlformats.org/officeDocument/2006/relationships/image" Target="../media/image174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2.wmf"/><Relationship Id="rId11" Type="http://schemas.openxmlformats.org/officeDocument/2006/relationships/image" Target="../media/image170.wmf"/><Relationship Id="rId24" Type="http://schemas.openxmlformats.org/officeDocument/2006/relationships/image" Target="../media/image176.wmf"/><Relationship Id="rId5" Type="http://schemas.openxmlformats.org/officeDocument/2006/relationships/oleObject" Target="../embeddings/oleObject224.bin"/><Relationship Id="rId15" Type="http://schemas.openxmlformats.org/officeDocument/2006/relationships/oleObject" Target="../embeddings/oleObject230.bin"/><Relationship Id="rId23" Type="http://schemas.openxmlformats.org/officeDocument/2006/relationships/oleObject" Target="../embeddings/oleObject234.bin"/><Relationship Id="rId28" Type="http://schemas.openxmlformats.org/officeDocument/2006/relationships/image" Target="../media/image178.wmf"/><Relationship Id="rId10" Type="http://schemas.openxmlformats.org/officeDocument/2006/relationships/oleObject" Target="../embeddings/oleObject227.bin"/><Relationship Id="rId19" Type="http://schemas.openxmlformats.org/officeDocument/2006/relationships/oleObject" Target="../embeddings/oleObject232.bin"/><Relationship Id="rId4" Type="http://schemas.openxmlformats.org/officeDocument/2006/relationships/image" Target="../media/image168.emf"/><Relationship Id="rId9" Type="http://schemas.openxmlformats.org/officeDocument/2006/relationships/oleObject" Target="../embeddings/oleObject226.bin"/><Relationship Id="rId14" Type="http://schemas.openxmlformats.org/officeDocument/2006/relationships/image" Target="../media/image171.wmf"/><Relationship Id="rId22" Type="http://schemas.openxmlformats.org/officeDocument/2006/relationships/image" Target="../media/image175.wmf"/><Relationship Id="rId27" Type="http://schemas.openxmlformats.org/officeDocument/2006/relationships/oleObject" Target="../embeddings/oleObject236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500DBF1-245F-4DFC-9629-EDFD65B5108F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1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12BB92-A4FB-42D8-AF89-007F6A5032E5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grpSp>
        <p:nvGrpSpPr>
          <p:cNvPr id="4101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12" name="Picture 1027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3" name="Picture 1028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4" name="Picture 1029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5" name="Picture 1030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2" name="Picture 1042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60" name="Text Box 1060"/>
          <p:cNvSpPr txBox="1">
            <a:spLocks noChangeArrowheads="1"/>
          </p:cNvSpPr>
          <p:nvPr/>
        </p:nvSpPr>
        <p:spPr bwMode="auto">
          <a:xfrm>
            <a:off x="2306638" y="239713"/>
            <a:ext cx="47561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第</a:t>
            </a:r>
            <a:r>
              <a:rPr lang="en-US" altLang="zh-CN" sz="4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3</a:t>
            </a:r>
            <a:r>
              <a:rPr lang="zh-CN" alt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章 </a:t>
            </a:r>
          </a:p>
          <a:p>
            <a:pPr algn="ctr" eaLnBrk="1" hangingPunct="1">
              <a:defRPr/>
            </a:pPr>
            <a:r>
              <a:rPr lang="zh-CN" alt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电路分析的一般方法</a:t>
            </a:r>
          </a:p>
        </p:txBody>
      </p:sp>
      <p:sp>
        <p:nvSpPr>
          <p:cNvPr id="77874" name="Text Box 1074"/>
          <p:cNvSpPr txBox="1">
            <a:spLocks noChangeArrowheads="1"/>
          </p:cNvSpPr>
          <p:nvPr/>
        </p:nvSpPr>
        <p:spPr bwMode="auto">
          <a:xfrm>
            <a:off x="1430338" y="1836738"/>
            <a:ext cx="54467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3.1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结点分析法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Nodal Analysis</a:t>
            </a:r>
          </a:p>
        </p:txBody>
      </p:sp>
      <p:sp>
        <p:nvSpPr>
          <p:cNvPr id="77876" name="Text Box 1076"/>
          <p:cNvSpPr txBox="1">
            <a:spLocks noChangeArrowheads="1"/>
          </p:cNvSpPr>
          <p:nvPr/>
        </p:nvSpPr>
        <p:spPr bwMode="auto">
          <a:xfrm>
            <a:off x="1430338" y="4191000"/>
            <a:ext cx="53578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3.2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网孔分析法 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Mesh Analysis</a:t>
            </a:r>
          </a:p>
        </p:txBody>
      </p:sp>
      <p:sp>
        <p:nvSpPr>
          <p:cNvPr id="77877" name="Rectangle 1077"/>
          <p:cNvSpPr>
            <a:spLocks noChangeArrowheads="1"/>
          </p:cNvSpPr>
          <p:nvPr/>
        </p:nvSpPr>
        <p:spPr bwMode="auto">
          <a:xfrm>
            <a:off x="539750" y="2474913"/>
            <a:ext cx="612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1.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结点分析方程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Nodal Equations</a:t>
            </a:r>
          </a:p>
        </p:txBody>
      </p:sp>
      <p:sp>
        <p:nvSpPr>
          <p:cNvPr id="77878" name="Rectangle 1078"/>
          <p:cNvSpPr>
            <a:spLocks noChangeArrowheads="1"/>
          </p:cNvSpPr>
          <p:nvPr/>
        </p:nvSpPr>
        <p:spPr bwMode="auto">
          <a:xfrm>
            <a:off x="539750" y="3051175"/>
            <a:ext cx="7921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2.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观察法列写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结点分析方程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Nodal Equations by Inspection</a:t>
            </a:r>
          </a:p>
        </p:txBody>
      </p:sp>
      <p:sp>
        <p:nvSpPr>
          <p:cNvPr id="77879" name="Rectangle 1079"/>
          <p:cNvSpPr>
            <a:spLocks noChangeArrowheads="1"/>
          </p:cNvSpPr>
          <p:nvPr/>
        </p:nvSpPr>
        <p:spPr bwMode="auto">
          <a:xfrm>
            <a:off x="539750" y="3627438"/>
            <a:ext cx="871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3.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含电源支路的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结点分析方程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Nodal Equations with source branch</a:t>
            </a:r>
          </a:p>
        </p:txBody>
      </p:sp>
      <p:sp>
        <p:nvSpPr>
          <p:cNvPr id="77880" name="Rectangle 1080"/>
          <p:cNvSpPr>
            <a:spLocks noChangeArrowheads="1"/>
          </p:cNvSpPr>
          <p:nvPr/>
        </p:nvSpPr>
        <p:spPr bwMode="auto">
          <a:xfrm>
            <a:off x="539750" y="4724400"/>
            <a:ext cx="612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1.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网孔分析方程 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Mesh Equations</a:t>
            </a:r>
          </a:p>
        </p:txBody>
      </p:sp>
      <p:sp>
        <p:nvSpPr>
          <p:cNvPr id="77881" name="Rectangle 1081"/>
          <p:cNvSpPr>
            <a:spLocks noChangeArrowheads="1"/>
          </p:cNvSpPr>
          <p:nvPr/>
        </p:nvSpPr>
        <p:spPr bwMode="auto">
          <a:xfrm>
            <a:off x="539750" y="5300663"/>
            <a:ext cx="7921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2.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观察法列写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网孔分析方程 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Mesh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Equations by Inspection</a:t>
            </a:r>
          </a:p>
        </p:txBody>
      </p:sp>
      <p:sp>
        <p:nvSpPr>
          <p:cNvPr id="77882" name="Rectangle 1082"/>
          <p:cNvSpPr>
            <a:spLocks noChangeArrowheads="1"/>
          </p:cNvSpPr>
          <p:nvPr/>
        </p:nvSpPr>
        <p:spPr bwMode="auto">
          <a:xfrm>
            <a:off x="539750" y="5876925"/>
            <a:ext cx="871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3.</a:t>
            </a: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含电源支路的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网孔分析方程 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Mesh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Equations with source branch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1C807C3-355C-4BB4-99BA-5B66BE175253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1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A79402-1126-40E0-B5C5-4555EDDD00D6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grpSp>
        <p:nvGrpSpPr>
          <p:cNvPr id="5125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5133" name="Picture 3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4" name="Picture 4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5" name="Picture 5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6" name="Picture 6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126" name="Picture 7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1672" name="Text Box 8"/>
          <p:cNvSpPr txBox="1">
            <a:spLocks noChangeArrowheads="1"/>
          </p:cNvSpPr>
          <p:nvPr/>
        </p:nvSpPr>
        <p:spPr bwMode="auto">
          <a:xfrm>
            <a:off x="2306638" y="206375"/>
            <a:ext cx="47561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章 </a:t>
            </a:r>
          </a:p>
          <a:p>
            <a:pPr algn="ctr" eaLnBrk="1" hangingPunct="1">
              <a:defRPr/>
            </a:pPr>
            <a:r>
              <a:rPr lang="zh-CN" alt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电路分析的一般方法</a:t>
            </a:r>
          </a:p>
        </p:txBody>
      </p:sp>
      <p:sp>
        <p:nvSpPr>
          <p:cNvPr id="241676" name="Text Box 12"/>
          <p:cNvSpPr txBox="1">
            <a:spLocks noChangeArrowheads="1"/>
          </p:cNvSpPr>
          <p:nvPr/>
        </p:nvSpPr>
        <p:spPr bwMode="auto">
          <a:xfrm>
            <a:off x="755650" y="1773238"/>
            <a:ext cx="1441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目标：</a:t>
            </a:r>
          </a:p>
        </p:txBody>
      </p:sp>
      <p:sp>
        <p:nvSpPr>
          <p:cNvPr id="241677" name="Text Box 13"/>
          <p:cNvSpPr txBox="1">
            <a:spLocks noChangeArrowheads="1"/>
          </p:cNvSpPr>
          <p:nvPr/>
        </p:nvSpPr>
        <p:spPr bwMode="auto">
          <a:xfrm>
            <a:off x="827088" y="5127625"/>
            <a:ext cx="241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讲授学时：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</a:t>
            </a:r>
          </a:p>
        </p:txBody>
      </p:sp>
      <p:sp>
        <p:nvSpPr>
          <p:cNvPr id="241678" name="Text Box 14"/>
          <p:cNvSpPr txBox="1">
            <a:spLocks noChangeArrowheads="1"/>
          </p:cNvSpPr>
          <p:nvPr/>
        </p:nvSpPr>
        <p:spPr bwMode="auto">
          <a:xfrm>
            <a:off x="779463" y="3357563"/>
            <a:ext cx="140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难点：</a:t>
            </a:r>
          </a:p>
        </p:txBody>
      </p:sp>
      <p:sp>
        <p:nvSpPr>
          <p:cNvPr id="5131" name="Rectangle 15"/>
          <p:cNvSpPr>
            <a:spLocks noChangeArrowheads="1"/>
          </p:cNvSpPr>
          <p:nvPr/>
        </p:nvSpPr>
        <p:spPr bwMode="auto">
          <a:xfrm>
            <a:off x="1979613" y="3471863"/>
            <a:ext cx="6624637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华文中宋" panose="02010600040101010101" pitchFamily="2" charset="-122"/>
              </a:rPr>
              <a:t>1.</a:t>
            </a:r>
            <a:r>
              <a:rPr lang="zh-CN" altLang="en-US" sz="2000">
                <a:latin typeface="华文中宋" panose="02010600040101010101" pitchFamily="2" charset="-122"/>
              </a:rPr>
              <a:t>含电压源支路电路的结点方程。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华文中宋" panose="02010600040101010101" pitchFamily="2" charset="-122"/>
              </a:rPr>
              <a:t>2.</a:t>
            </a:r>
            <a:r>
              <a:rPr lang="zh-CN" altLang="en-US" sz="2000">
                <a:latin typeface="华文中宋" panose="02010600040101010101" pitchFamily="2" charset="-122"/>
              </a:rPr>
              <a:t>含电流源支路电路的网孔方程。</a:t>
            </a:r>
          </a:p>
        </p:txBody>
      </p:sp>
      <p:sp>
        <p:nvSpPr>
          <p:cNvPr id="5132" name="Rectangle 17"/>
          <p:cNvSpPr>
            <a:spLocks noChangeArrowheads="1"/>
          </p:cNvSpPr>
          <p:nvPr/>
        </p:nvSpPr>
        <p:spPr bwMode="auto">
          <a:xfrm>
            <a:off x="1042988" y="1917700"/>
            <a:ext cx="748982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华文中宋" panose="02010600040101010101" pitchFamily="2" charset="-122"/>
              </a:rPr>
              <a:t>1.</a:t>
            </a:r>
            <a:r>
              <a:rPr lang="zh-CN" altLang="en-US" sz="2000">
                <a:latin typeface="华文中宋" panose="02010600040101010101" pitchFamily="2" charset="-122"/>
              </a:rPr>
              <a:t>熟练应用结点分析法。</a:t>
            </a:r>
          </a:p>
          <a:p>
            <a:pPr lvl="2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华文中宋" panose="02010600040101010101" pitchFamily="2" charset="-122"/>
              </a:rPr>
              <a:t>2.</a:t>
            </a:r>
            <a:r>
              <a:rPr lang="zh-CN" altLang="en-US" sz="2000">
                <a:latin typeface="华文中宋" panose="02010600040101010101" pitchFamily="2" charset="-122"/>
              </a:rPr>
              <a:t>熟练应用网孔分析法。</a:t>
            </a:r>
          </a:p>
          <a:p>
            <a:pPr lvl="2"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华文中宋" panose="02010600040101010101" pitchFamily="2" charset="-122"/>
              </a:rPr>
              <a:t>3.</a:t>
            </a:r>
            <a:r>
              <a:rPr lang="zh-CN" altLang="en-US" sz="2000">
                <a:latin typeface="华文中宋" panose="02010600040101010101" pitchFamily="2" charset="-122"/>
              </a:rPr>
              <a:t>根据电路特点选择最佳分析方法。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506413" y="1368425"/>
            <a:ext cx="4075112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求图示电路中支路电流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（各支路电压与电流采用关联参考方向）。    </a:t>
            </a:r>
          </a:p>
        </p:txBody>
      </p:sp>
      <p:sp>
        <p:nvSpPr>
          <p:cNvPr id="6147" name="Text Box 59"/>
          <p:cNvSpPr txBox="1">
            <a:spLocks noChangeArrowheads="1"/>
          </p:cNvSpPr>
          <p:nvPr/>
        </p:nvSpPr>
        <p:spPr bwMode="auto">
          <a:xfrm>
            <a:off x="2560638" y="274638"/>
            <a:ext cx="3775075" cy="519112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prstShdw prst="shdw17" dist="17961" dir="2700000">
              <a:srgbClr val="7A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 2" panose="05020102010507070707" pitchFamily="18" charset="2"/>
              </a:rPr>
              <a:t> </a:t>
            </a:r>
            <a:r>
              <a:rPr lang="en-US" altLang="zh-CN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问题的提出           </a:t>
            </a:r>
          </a:p>
        </p:txBody>
      </p:sp>
      <p:grpSp>
        <p:nvGrpSpPr>
          <p:cNvPr id="113773" name="Group 109"/>
          <p:cNvGrpSpPr>
            <a:grpSpLocks/>
          </p:cNvGrpSpPr>
          <p:nvPr/>
        </p:nvGrpSpPr>
        <p:grpSpPr bwMode="auto">
          <a:xfrm>
            <a:off x="4889500" y="809625"/>
            <a:ext cx="3952875" cy="4062413"/>
            <a:chOff x="3018" y="175"/>
            <a:chExt cx="2490" cy="2559"/>
          </a:xfrm>
        </p:grpSpPr>
        <p:sp>
          <p:nvSpPr>
            <p:cNvPr id="6155" name="Oval 75"/>
            <p:cNvSpPr>
              <a:spLocks noChangeArrowheads="1"/>
            </p:cNvSpPr>
            <p:nvPr/>
          </p:nvSpPr>
          <p:spPr bwMode="auto">
            <a:xfrm>
              <a:off x="4398" y="2219"/>
              <a:ext cx="315" cy="325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56" name="Line 61"/>
            <p:cNvSpPr>
              <a:spLocks noChangeShapeType="1"/>
            </p:cNvSpPr>
            <p:nvPr/>
          </p:nvSpPr>
          <p:spPr bwMode="auto">
            <a:xfrm>
              <a:off x="4201" y="482"/>
              <a:ext cx="0" cy="14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7" name="Line 62"/>
            <p:cNvSpPr>
              <a:spLocks noChangeShapeType="1"/>
            </p:cNvSpPr>
            <p:nvPr/>
          </p:nvSpPr>
          <p:spPr bwMode="auto">
            <a:xfrm>
              <a:off x="4201" y="482"/>
              <a:ext cx="867" cy="7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8" name="Line 63"/>
            <p:cNvSpPr>
              <a:spLocks noChangeShapeType="1"/>
            </p:cNvSpPr>
            <p:nvPr/>
          </p:nvSpPr>
          <p:spPr bwMode="auto">
            <a:xfrm>
              <a:off x="3333" y="1223"/>
              <a:ext cx="868" cy="7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9" name="Line 64"/>
            <p:cNvSpPr>
              <a:spLocks noChangeShapeType="1"/>
            </p:cNvSpPr>
            <p:nvPr/>
          </p:nvSpPr>
          <p:spPr bwMode="auto">
            <a:xfrm flipH="1">
              <a:off x="4201" y="1223"/>
              <a:ext cx="867" cy="7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0" name="Line 65"/>
            <p:cNvSpPr>
              <a:spLocks noChangeShapeType="1"/>
            </p:cNvSpPr>
            <p:nvPr/>
          </p:nvSpPr>
          <p:spPr bwMode="auto">
            <a:xfrm flipH="1">
              <a:off x="3333" y="482"/>
              <a:ext cx="868" cy="7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1" name="Freeform 66"/>
            <p:cNvSpPr>
              <a:spLocks/>
            </p:cNvSpPr>
            <p:nvPr/>
          </p:nvSpPr>
          <p:spPr bwMode="auto">
            <a:xfrm>
              <a:off x="3333" y="1223"/>
              <a:ext cx="1" cy="1161"/>
            </a:xfrm>
            <a:custGeom>
              <a:avLst/>
              <a:gdLst>
                <a:gd name="T0" fmla="*/ 0 w 1"/>
                <a:gd name="T1" fmla="*/ 0 h 1135"/>
                <a:gd name="T2" fmla="*/ 0 w 1"/>
                <a:gd name="T3" fmla="*/ 1300 h 11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135">
                  <a:moveTo>
                    <a:pt x="0" y="0"/>
                  </a:moveTo>
                  <a:lnTo>
                    <a:pt x="0" y="113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2" name="Freeform 67"/>
            <p:cNvSpPr>
              <a:spLocks/>
            </p:cNvSpPr>
            <p:nvPr/>
          </p:nvSpPr>
          <p:spPr bwMode="auto">
            <a:xfrm>
              <a:off x="5068" y="1223"/>
              <a:ext cx="1" cy="1167"/>
            </a:xfrm>
            <a:custGeom>
              <a:avLst/>
              <a:gdLst>
                <a:gd name="T0" fmla="*/ 0 w 1"/>
                <a:gd name="T1" fmla="*/ 0 h 1141"/>
                <a:gd name="T2" fmla="*/ 0 w 1"/>
                <a:gd name="T3" fmla="*/ 1306 h 1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141">
                  <a:moveTo>
                    <a:pt x="0" y="0"/>
                  </a:moveTo>
                  <a:lnTo>
                    <a:pt x="0" y="114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Line 68"/>
            <p:cNvSpPr>
              <a:spLocks noChangeShapeType="1"/>
            </p:cNvSpPr>
            <p:nvPr/>
          </p:nvSpPr>
          <p:spPr bwMode="auto">
            <a:xfrm flipV="1">
              <a:off x="3340" y="2378"/>
              <a:ext cx="17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4" name="Rectangle 69"/>
            <p:cNvSpPr>
              <a:spLocks noChangeArrowheads="1"/>
            </p:cNvSpPr>
            <p:nvPr/>
          </p:nvSpPr>
          <p:spPr bwMode="auto">
            <a:xfrm>
              <a:off x="4132" y="1123"/>
              <a:ext cx="118" cy="28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5" name="Rectangle 70"/>
            <p:cNvSpPr>
              <a:spLocks noChangeArrowheads="1"/>
            </p:cNvSpPr>
            <p:nvPr/>
          </p:nvSpPr>
          <p:spPr bwMode="auto">
            <a:xfrm rot="3007029">
              <a:off x="3696" y="717"/>
              <a:ext cx="101" cy="30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6" name="Rectangle 71"/>
            <p:cNvSpPr>
              <a:spLocks noChangeArrowheads="1"/>
            </p:cNvSpPr>
            <p:nvPr/>
          </p:nvSpPr>
          <p:spPr bwMode="auto">
            <a:xfrm rot="-2950827">
              <a:off x="4575" y="697"/>
              <a:ext cx="103" cy="303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7" name="Rectangle 72"/>
            <p:cNvSpPr>
              <a:spLocks noChangeArrowheads="1"/>
            </p:cNvSpPr>
            <p:nvPr/>
          </p:nvSpPr>
          <p:spPr bwMode="auto">
            <a:xfrm rot="3007029">
              <a:off x="4584" y="1453"/>
              <a:ext cx="100" cy="30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8" name="Rectangle 73"/>
            <p:cNvSpPr>
              <a:spLocks noChangeArrowheads="1"/>
            </p:cNvSpPr>
            <p:nvPr/>
          </p:nvSpPr>
          <p:spPr bwMode="auto">
            <a:xfrm rot="-2950827">
              <a:off x="3707" y="1447"/>
              <a:ext cx="103" cy="30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9" name="Rectangle 74"/>
            <p:cNvSpPr>
              <a:spLocks noChangeArrowheads="1"/>
            </p:cNvSpPr>
            <p:nvPr/>
          </p:nvSpPr>
          <p:spPr bwMode="auto">
            <a:xfrm rot="5400000">
              <a:off x="3728" y="2224"/>
              <a:ext cx="110" cy="30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0" name="Text Box 76"/>
            <p:cNvSpPr txBox="1">
              <a:spLocks noChangeArrowheads="1"/>
            </p:cNvSpPr>
            <p:nvPr/>
          </p:nvSpPr>
          <p:spPr bwMode="auto">
            <a:xfrm>
              <a:off x="3419" y="1568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1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1" name="Text Box 77"/>
            <p:cNvSpPr txBox="1">
              <a:spLocks noChangeArrowheads="1"/>
            </p:cNvSpPr>
            <p:nvPr/>
          </p:nvSpPr>
          <p:spPr bwMode="auto">
            <a:xfrm>
              <a:off x="3399" y="58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2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2" name="Text Box 78"/>
            <p:cNvSpPr txBox="1">
              <a:spLocks noChangeArrowheads="1"/>
            </p:cNvSpPr>
            <p:nvPr/>
          </p:nvSpPr>
          <p:spPr bwMode="auto">
            <a:xfrm>
              <a:off x="4263" y="1120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3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3" name="Text Box 79"/>
            <p:cNvSpPr txBox="1">
              <a:spLocks noChangeArrowheads="1"/>
            </p:cNvSpPr>
            <p:nvPr/>
          </p:nvSpPr>
          <p:spPr bwMode="auto">
            <a:xfrm>
              <a:off x="4654" y="574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4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4" name="Text Box 80"/>
            <p:cNvSpPr txBox="1">
              <a:spLocks noChangeArrowheads="1"/>
            </p:cNvSpPr>
            <p:nvPr/>
          </p:nvSpPr>
          <p:spPr bwMode="auto">
            <a:xfrm>
              <a:off x="4385" y="1703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5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5" name="Text Box 81"/>
            <p:cNvSpPr txBox="1">
              <a:spLocks noChangeArrowheads="1"/>
            </p:cNvSpPr>
            <p:nvPr/>
          </p:nvSpPr>
          <p:spPr bwMode="auto">
            <a:xfrm>
              <a:off x="3616" y="2433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6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6" name="Line 82"/>
            <p:cNvSpPr>
              <a:spLocks noChangeShapeType="1"/>
            </p:cNvSpPr>
            <p:nvPr/>
          </p:nvSpPr>
          <p:spPr bwMode="auto">
            <a:xfrm flipV="1">
              <a:off x="3250" y="903"/>
              <a:ext cx="249" cy="2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7" name="Line 83"/>
            <p:cNvSpPr>
              <a:spLocks noChangeShapeType="1"/>
            </p:cNvSpPr>
            <p:nvPr/>
          </p:nvSpPr>
          <p:spPr bwMode="auto">
            <a:xfrm flipV="1">
              <a:off x="4669" y="1517"/>
              <a:ext cx="249" cy="2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8" name="Line 84"/>
            <p:cNvSpPr>
              <a:spLocks noChangeShapeType="1"/>
            </p:cNvSpPr>
            <p:nvPr/>
          </p:nvSpPr>
          <p:spPr bwMode="auto">
            <a:xfrm rot="5400000" flipV="1">
              <a:off x="3836" y="1754"/>
              <a:ext cx="233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9" name="Line 85"/>
            <p:cNvSpPr>
              <a:spLocks noChangeShapeType="1"/>
            </p:cNvSpPr>
            <p:nvPr/>
          </p:nvSpPr>
          <p:spPr bwMode="auto">
            <a:xfrm rot="5400000" flipV="1">
              <a:off x="4888" y="931"/>
              <a:ext cx="232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0" name="Line 86"/>
            <p:cNvSpPr>
              <a:spLocks noChangeShapeType="1"/>
            </p:cNvSpPr>
            <p:nvPr/>
          </p:nvSpPr>
          <p:spPr bwMode="auto">
            <a:xfrm rot="8093792" flipV="1">
              <a:off x="3995" y="735"/>
              <a:ext cx="232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1" name="Line 87"/>
            <p:cNvSpPr>
              <a:spLocks noChangeShapeType="1"/>
            </p:cNvSpPr>
            <p:nvPr/>
          </p:nvSpPr>
          <p:spPr bwMode="auto">
            <a:xfrm rot="8219172" flipV="1">
              <a:off x="5036" y="2089"/>
              <a:ext cx="235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2" name="Text Box 88"/>
            <p:cNvSpPr txBox="1">
              <a:spLocks noChangeArrowheads="1"/>
            </p:cNvSpPr>
            <p:nvPr/>
          </p:nvSpPr>
          <p:spPr bwMode="auto">
            <a:xfrm>
              <a:off x="4089" y="2360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+</a:t>
              </a:r>
            </a:p>
          </p:txBody>
        </p:sp>
        <p:sp>
          <p:nvSpPr>
            <p:cNvPr id="6183" name="Text Box 89"/>
            <p:cNvSpPr txBox="1">
              <a:spLocks noChangeArrowheads="1"/>
            </p:cNvSpPr>
            <p:nvPr/>
          </p:nvSpPr>
          <p:spPr bwMode="auto">
            <a:xfrm>
              <a:off x="4766" y="23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–</a:t>
              </a:r>
            </a:p>
          </p:txBody>
        </p:sp>
        <p:sp>
          <p:nvSpPr>
            <p:cNvPr id="6184" name="Text Box 90"/>
            <p:cNvSpPr txBox="1">
              <a:spLocks noChangeArrowheads="1"/>
            </p:cNvSpPr>
            <p:nvPr/>
          </p:nvSpPr>
          <p:spPr bwMode="auto">
            <a:xfrm>
              <a:off x="3071" y="74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2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5" name="Text Box 91"/>
            <p:cNvSpPr txBox="1">
              <a:spLocks noChangeArrowheads="1"/>
            </p:cNvSpPr>
            <p:nvPr/>
          </p:nvSpPr>
          <p:spPr bwMode="auto">
            <a:xfrm>
              <a:off x="3859" y="795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3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6" name="Text Box 92"/>
            <p:cNvSpPr txBox="1">
              <a:spLocks noChangeArrowheads="1"/>
            </p:cNvSpPr>
            <p:nvPr/>
          </p:nvSpPr>
          <p:spPr bwMode="auto">
            <a:xfrm>
              <a:off x="4950" y="807"/>
              <a:ext cx="33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4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7" name="Text Box 93"/>
            <p:cNvSpPr txBox="1">
              <a:spLocks noChangeArrowheads="1"/>
            </p:cNvSpPr>
            <p:nvPr/>
          </p:nvSpPr>
          <p:spPr bwMode="auto">
            <a:xfrm>
              <a:off x="3695" y="1801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1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8" name="Text Box 94"/>
            <p:cNvSpPr txBox="1">
              <a:spLocks noChangeArrowheads="1"/>
            </p:cNvSpPr>
            <p:nvPr/>
          </p:nvSpPr>
          <p:spPr bwMode="auto">
            <a:xfrm>
              <a:off x="4772" y="1562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5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9" name="Text Box 95"/>
            <p:cNvSpPr txBox="1">
              <a:spLocks noChangeArrowheads="1"/>
            </p:cNvSpPr>
            <p:nvPr/>
          </p:nvSpPr>
          <p:spPr bwMode="auto">
            <a:xfrm>
              <a:off x="5173" y="2047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6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90" name="Text Box 96"/>
            <p:cNvSpPr txBox="1">
              <a:spLocks noChangeArrowheads="1"/>
            </p:cNvSpPr>
            <p:nvPr/>
          </p:nvSpPr>
          <p:spPr bwMode="auto">
            <a:xfrm>
              <a:off x="4411" y="244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u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S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grpSp>
          <p:nvGrpSpPr>
            <p:cNvPr id="6191" name="Group 97"/>
            <p:cNvGrpSpPr>
              <a:grpSpLocks/>
            </p:cNvGrpSpPr>
            <p:nvPr/>
          </p:nvGrpSpPr>
          <p:grpSpPr bwMode="auto">
            <a:xfrm>
              <a:off x="3018" y="1096"/>
              <a:ext cx="250" cy="288"/>
              <a:chOff x="2316" y="2388"/>
              <a:chExt cx="228" cy="282"/>
            </a:xfrm>
          </p:grpSpPr>
          <p:sp>
            <p:nvSpPr>
              <p:cNvPr id="6201" name="Text Box 98"/>
              <p:cNvSpPr txBox="1">
                <a:spLocks noChangeArrowheads="1"/>
              </p:cNvSpPr>
              <p:nvPr/>
            </p:nvSpPr>
            <p:spPr bwMode="auto">
              <a:xfrm>
                <a:off x="2316" y="2388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latin typeface="幼圆" panose="02010509060101010101" pitchFamily="49" charset="-122"/>
                    <a:ea typeface="幼圆" panose="02010509060101010101" pitchFamily="49" charset="-122"/>
                  </a:rPr>
                  <a:t>1</a:t>
                </a:r>
              </a:p>
            </p:txBody>
          </p:sp>
          <p:sp>
            <p:nvSpPr>
              <p:cNvPr id="6202" name="Oval 99"/>
              <p:cNvSpPr>
                <a:spLocks noChangeArrowheads="1"/>
              </p:cNvSpPr>
              <p:nvPr/>
            </p:nvSpPr>
            <p:spPr bwMode="auto">
              <a:xfrm>
                <a:off x="2328" y="2436"/>
                <a:ext cx="180" cy="19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grpSp>
          <p:nvGrpSpPr>
            <p:cNvPr id="6192" name="Group 100"/>
            <p:cNvGrpSpPr>
              <a:grpSpLocks/>
            </p:cNvGrpSpPr>
            <p:nvPr/>
          </p:nvGrpSpPr>
          <p:grpSpPr bwMode="auto">
            <a:xfrm>
              <a:off x="4095" y="175"/>
              <a:ext cx="250" cy="288"/>
              <a:chOff x="2748" y="2460"/>
              <a:chExt cx="228" cy="282"/>
            </a:xfrm>
          </p:grpSpPr>
          <p:sp>
            <p:nvSpPr>
              <p:cNvPr id="6199" name="Text Box 101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latin typeface="幼圆" panose="02010509060101010101" pitchFamily="49" charset="-122"/>
                    <a:ea typeface="幼圆" panose="02010509060101010101" pitchFamily="49" charset="-122"/>
                  </a:rPr>
                  <a:t>2</a:t>
                </a:r>
              </a:p>
            </p:txBody>
          </p:sp>
          <p:sp>
            <p:nvSpPr>
              <p:cNvPr id="6200" name="Oval 102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grpSp>
          <p:nvGrpSpPr>
            <p:cNvPr id="6193" name="Group 103"/>
            <p:cNvGrpSpPr>
              <a:grpSpLocks/>
            </p:cNvGrpSpPr>
            <p:nvPr/>
          </p:nvGrpSpPr>
          <p:grpSpPr bwMode="auto">
            <a:xfrm>
              <a:off x="5134" y="1108"/>
              <a:ext cx="249" cy="288"/>
              <a:chOff x="2748" y="2460"/>
              <a:chExt cx="228" cy="282"/>
            </a:xfrm>
          </p:grpSpPr>
          <p:sp>
            <p:nvSpPr>
              <p:cNvPr id="6197" name="Text Box 104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latin typeface="幼圆" panose="02010509060101010101" pitchFamily="49" charset="-122"/>
                    <a:ea typeface="幼圆" panose="02010509060101010101" pitchFamily="49" charset="-122"/>
                  </a:rPr>
                  <a:t>3</a:t>
                </a:r>
              </a:p>
            </p:txBody>
          </p:sp>
          <p:sp>
            <p:nvSpPr>
              <p:cNvPr id="6198" name="Oval 105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grpSp>
          <p:nvGrpSpPr>
            <p:cNvPr id="6194" name="Group 106"/>
            <p:cNvGrpSpPr>
              <a:grpSpLocks/>
            </p:cNvGrpSpPr>
            <p:nvPr/>
          </p:nvGrpSpPr>
          <p:grpSpPr bwMode="auto">
            <a:xfrm>
              <a:off x="4214" y="1881"/>
              <a:ext cx="249" cy="288"/>
              <a:chOff x="2748" y="2460"/>
              <a:chExt cx="228" cy="282"/>
            </a:xfrm>
          </p:grpSpPr>
          <p:sp>
            <p:nvSpPr>
              <p:cNvPr id="6195" name="Text Box 107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latin typeface="幼圆" panose="02010509060101010101" pitchFamily="49" charset="-122"/>
                    <a:ea typeface="幼圆" panose="02010509060101010101" pitchFamily="49" charset="-122"/>
                  </a:rPr>
                  <a:t>4</a:t>
                </a:r>
              </a:p>
            </p:txBody>
          </p:sp>
          <p:sp>
            <p:nvSpPr>
              <p:cNvPr id="6196" name="Oval 108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</p:grpSp>
      <p:sp>
        <p:nvSpPr>
          <p:cNvPr id="113775" name="Text Box 111"/>
          <p:cNvSpPr txBox="1">
            <a:spLocks noChangeArrowheads="1"/>
          </p:cNvSpPr>
          <p:nvPr/>
        </p:nvSpPr>
        <p:spPr bwMode="auto">
          <a:xfrm>
            <a:off x="504825" y="2492375"/>
            <a:ext cx="40767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可用支路电流法求解电路（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KCL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方程，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b-n+1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KVL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方程，共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个方程）。      </a:t>
            </a:r>
          </a:p>
        </p:txBody>
      </p:sp>
      <p:sp>
        <p:nvSpPr>
          <p:cNvPr id="113776" name="Text Box 112"/>
          <p:cNvSpPr txBox="1">
            <a:spLocks noChangeArrowheads="1"/>
          </p:cNvSpPr>
          <p:nvPr/>
        </p:nvSpPr>
        <p:spPr bwMode="auto">
          <a:xfrm>
            <a:off x="508000" y="3644900"/>
            <a:ext cx="17319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问题：      </a:t>
            </a:r>
          </a:p>
        </p:txBody>
      </p:sp>
      <p:sp>
        <p:nvSpPr>
          <p:cNvPr id="113777" name="Rectangle 113"/>
          <p:cNvSpPr>
            <a:spLocks noChangeArrowheads="1"/>
          </p:cNvSpPr>
          <p:nvPr/>
        </p:nvSpPr>
        <p:spPr bwMode="auto">
          <a:xfrm>
            <a:off x="1336675" y="4094163"/>
            <a:ext cx="34210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方程数相对较多（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个方程）</a:t>
            </a:r>
          </a:p>
        </p:txBody>
      </p:sp>
      <p:sp>
        <p:nvSpPr>
          <p:cNvPr id="113778" name="Rectangle 114"/>
          <p:cNvSpPr>
            <a:spLocks noChangeArrowheads="1"/>
          </p:cNvSpPr>
          <p:nvPr/>
        </p:nvSpPr>
        <p:spPr bwMode="auto">
          <a:xfrm>
            <a:off x="1350963" y="4664075"/>
            <a:ext cx="2765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复杂电路难以手工计算</a:t>
            </a:r>
          </a:p>
        </p:txBody>
      </p:sp>
      <p:sp>
        <p:nvSpPr>
          <p:cNvPr id="113779" name="Rectangle 115"/>
          <p:cNvSpPr>
            <a:spLocks noChangeArrowheads="1"/>
          </p:cNvSpPr>
          <p:nvPr/>
        </p:nvSpPr>
        <p:spPr bwMode="auto">
          <a:xfrm>
            <a:off x="1336675" y="5273675"/>
            <a:ext cx="51339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计算机的存储能力与计算能力要求高           </a:t>
            </a:r>
          </a:p>
        </p:txBody>
      </p:sp>
      <p:sp>
        <p:nvSpPr>
          <p:cNvPr id="113781" name="Text Box 117"/>
          <p:cNvSpPr txBox="1">
            <a:spLocks noChangeArrowheads="1"/>
          </p:cNvSpPr>
          <p:nvPr/>
        </p:nvSpPr>
        <p:spPr bwMode="auto">
          <a:xfrm>
            <a:off x="539750" y="5959475"/>
            <a:ext cx="64246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有必要寻找减少列写方程数量的方法 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/>
      <p:bldP spid="113775" grpId="0"/>
      <p:bldP spid="113776" grpId="0"/>
      <p:bldP spid="113777" grpId="0"/>
      <p:bldP spid="113778" grpId="0"/>
      <p:bldP spid="113779" grpId="0"/>
      <p:bldP spid="1137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/>
              <p:cNvSpPr txBox="1">
                <a:spLocks/>
              </p:cNvSpPr>
              <p:nvPr/>
            </p:nvSpPr>
            <p:spPr>
              <a:xfrm>
                <a:off x="39077" y="408870"/>
                <a:ext cx="8925411" cy="626049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buFontTx/>
                  <a:buNone/>
                </a:pP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）求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解</a:t>
                </a:r>
                <a:r>
                  <a:rPr lang="en-US" altLang="zh-CN" sz="1600" dirty="0" smtClean="0"/>
                  <a:t>:  </a:t>
                </a:r>
                <a:r>
                  <a:rPr lang="zh-CN" altLang="en-US" sz="1600" dirty="0" smtClean="0"/>
                  <a:t> 对图中各节点、元件及元件的电压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n-US" altLang="zh-CN" sz="1600" dirty="0"/>
                  <a:t> </a:t>
                </a:r>
                <a:r>
                  <a:rPr lang="en-US" altLang="zh-CN" sz="1600" dirty="0" smtClean="0"/>
                  <a:t> </a:t>
                </a:r>
                <a:r>
                  <a:rPr lang="zh-CN" altLang="en-US" sz="1600" dirty="0" smtClean="0"/>
                  <a:t>电流进行编号并注明方向，如图所示。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n-US" altLang="zh-CN" sz="1600" dirty="0"/>
                  <a:t>2)</a:t>
                </a:r>
                <a:r>
                  <a:rPr lang="zh-CN" altLang="en-US" sz="1600" dirty="0"/>
                  <a:t>该电路</a:t>
                </a:r>
                <a:r>
                  <a:rPr lang="en-US" altLang="zh-CN" sz="1600" dirty="0"/>
                  <a:t>b=6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n=4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m=b-n+1=3</a:t>
                </a:r>
                <a:r>
                  <a:rPr lang="zh-CN" altLang="en-US" sz="1600" dirty="0"/>
                  <a:t>，因而可</a:t>
                </a:r>
                <a:r>
                  <a:rPr lang="zh-CN" altLang="en-US" sz="1600" dirty="0" smtClean="0"/>
                  <a:t>通过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列</a:t>
                </a:r>
                <a:r>
                  <a:rPr lang="zh-CN" altLang="en-US" sz="1600" dirty="0"/>
                  <a:t>写</a:t>
                </a:r>
                <a:r>
                  <a:rPr lang="en-US" altLang="zh-CN" sz="1600" dirty="0"/>
                  <a:t>3</a:t>
                </a:r>
                <a:r>
                  <a:rPr lang="zh-CN" altLang="en-US" sz="1600" dirty="0"/>
                  <a:t>个独立</a:t>
                </a:r>
                <a:r>
                  <a:rPr lang="en-US" altLang="zh-CN" sz="1600" dirty="0" err="1"/>
                  <a:t>kcl</a:t>
                </a:r>
                <a:r>
                  <a:rPr lang="zh-CN" altLang="en-US" sz="1600" dirty="0"/>
                  <a:t>方程和</a:t>
                </a:r>
                <a:r>
                  <a:rPr lang="en-US" altLang="zh-CN" sz="1600" dirty="0"/>
                  <a:t>3</a:t>
                </a:r>
                <a:r>
                  <a:rPr lang="zh-CN" altLang="en-US" sz="1600" dirty="0"/>
                  <a:t>个</a:t>
                </a:r>
                <a:r>
                  <a:rPr lang="en-US" altLang="zh-CN" sz="1600" dirty="0"/>
                  <a:t>KVL</a:t>
                </a:r>
                <a:r>
                  <a:rPr lang="zh-CN" altLang="en-US" sz="1600" dirty="0"/>
                  <a:t>方程，同时应用欧姆定律</a:t>
                </a:r>
                <a:r>
                  <a:rPr lang="zh-CN" altLang="en-US" sz="1600" dirty="0" smtClean="0"/>
                  <a:t>，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求解</a:t>
                </a:r>
                <a:r>
                  <a:rPr lang="zh-CN" altLang="en-US" sz="1600" dirty="0"/>
                  <a:t>六条支路的电流及各电阻两端电压。</a:t>
                </a:r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/>
                  <a:t>对结点</a:t>
                </a:r>
                <a:r>
                  <a:rPr lang="en-US" altLang="zh-CN" sz="1600" dirty="0"/>
                  <a:t> </a:t>
                </a:r>
                <a:r>
                  <a:rPr lang="en-US" altLang="zh-CN" sz="1600" dirty="0" err="1"/>
                  <a:t>a,b,c</a:t>
                </a:r>
                <a:r>
                  <a:rPr lang="zh-CN" altLang="en-US" sz="1600" dirty="0"/>
                  <a:t>列写独立</a:t>
                </a:r>
                <a:r>
                  <a:rPr lang="en-US" altLang="zh-CN" sz="1600" dirty="0" err="1"/>
                  <a:t>kcl</a:t>
                </a:r>
                <a:r>
                  <a:rPr lang="zh-CN" altLang="en-US" sz="1600" dirty="0"/>
                  <a:t>方程，以电流流入结点为正</a:t>
                </a:r>
                <a:r>
                  <a:rPr lang="zh-CN" altLang="en-US" sz="1600" dirty="0" smtClean="0"/>
                  <a:t>，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即：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/>
                  <a:t>对三个网孔</a:t>
                </a:r>
                <a:r>
                  <a:rPr lang="en-US" altLang="zh-CN" sz="1600" dirty="0"/>
                  <a:t>m1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m2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m3</a:t>
                </a:r>
                <a:r>
                  <a:rPr lang="zh-CN" altLang="en-US" sz="1600" dirty="0"/>
                  <a:t>列写独立</a:t>
                </a:r>
                <a:r>
                  <a:rPr lang="en-US" altLang="zh-CN" sz="1600" dirty="0" err="1"/>
                  <a:t>kVL</a:t>
                </a:r>
                <a:r>
                  <a:rPr lang="zh-CN" altLang="en-US" sz="1600" dirty="0"/>
                  <a:t>方程，电压以网孔顺时针方向为正，即</a:t>
                </a:r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n-US" altLang="zh-CN" sz="1600" dirty="0"/>
                  <a:t>        </a:t>
                </a:r>
                <a:r>
                  <a:rPr lang="en-US" altLang="zh-CN" sz="1600" dirty="0" smtClean="0"/>
                  <a:t>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/>
                  <a:t>上述</a:t>
                </a:r>
                <a:r>
                  <a:rPr lang="en-US" altLang="zh-CN" sz="1600" dirty="0"/>
                  <a:t>6</a:t>
                </a:r>
                <a:r>
                  <a:rPr lang="zh-CN" altLang="en-US" sz="1600" dirty="0"/>
                  <a:t>个方程中，</a:t>
                </a:r>
                <a:r>
                  <a:rPr lang="en-US" altLang="zh-CN" sz="1600" dirty="0"/>
                  <a:t>u</a:t>
                </a:r>
                <a:r>
                  <a:rPr lang="en-US" altLang="zh-CN" sz="1600" baseline="-25000" dirty="0"/>
                  <a:t>s</a:t>
                </a:r>
                <a:r>
                  <a:rPr lang="zh-CN" altLang="en-US" sz="1600" dirty="0"/>
                  <a:t>和</a:t>
                </a:r>
                <a:r>
                  <a:rPr lang="en-US" altLang="zh-CN" sz="1600" dirty="0"/>
                  <a:t>R</a:t>
                </a:r>
                <a:r>
                  <a:rPr lang="en-US" altLang="zh-CN" sz="1600" baseline="-25000" dirty="0"/>
                  <a:t>1</a:t>
                </a:r>
                <a:r>
                  <a:rPr lang="en-US" altLang="zh-CN" sz="1600" dirty="0"/>
                  <a:t>~R</a:t>
                </a:r>
                <a:r>
                  <a:rPr lang="en-US" altLang="zh-CN" sz="1600" baseline="-25000" dirty="0"/>
                  <a:t>5</a:t>
                </a:r>
                <a:r>
                  <a:rPr lang="zh-CN" altLang="en-US" sz="1600" dirty="0"/>
                  <a:t>已知，代入参数计算可得</a:t>
                </a:r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endParaRPr lang="zh-CN" altLang="en-US" sz="1600" dirty="0"/>
              </a:p>
            </p:txBody>
          </p:sp>
        </mc:Choice>
        <mc:Fallback xmlns="">
          <p:sp>
            <p:nvSpPr>
              <p:cNvPr id="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" y="408870"/>
                <a:ext cx="8925411" cy="6260490"/>
              </a:xfrm>
              <a:prstGeom prst="rect">
                <a:avLst/>
              </a:prstGeom>
              <a:blipFill>
                <a:blip r:embed="rId2"/>
                <a:stretch>
                  <a:fillRect l="-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 txBox="1">
            <a:spLocks/>
          </p:cNvSpPr>
          <p:nvPr/>
        </p:nvSpPr>
        <p:spPr>
          <a:xfrm>
            <a:off x="83527" y="118942"/>
            <a:ext cx="7886700" cy="347051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zh-CN" altLang="en-US" smtClean="0"/>
              <a:t>习题</a:t>
            </a:r>
            <a:r>
              <a:rPr lang="en-US" altLang="zh-CN" smtClean="0"/>
              <a:t>1-30</a:t>
            </a:r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4996495" y="1455542"/>
            <a:ext cx="4459933" cy="2571335"/>
            <a:chOff x="4596144" y="1455542"/>
            <a:chExt cx="4459933" cy="2571335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6144" y="1824874"/>
              <a:ext cx="4459933" cy="2202003"/>
            </a:xfrm>
            <a:prstGeom prst="rect">
              <a:avLst/>
            </a:prstGeom>
          </p:spPr>
        </p:pic>
        <p:cxnSp>
          <p:nvCxnSpPr>
            <p:cNvPr id="9" name="直接箭头连接符 8"/>
            <p:cNvCxnSpPr/>
            <p:nvPr/>
          </p:nvCxnSpPr>
          <p:spPr>
            <a:xfrm flipV="1">
              <a:off x="6860932" y="2818967"/>
              <a:ext cx="0" cy="36927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6881631" y="2818967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1631" y="2818967"/>
                  <a:ext cx="42825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6646815" y="1455542"/>
                  <a:ext cx="500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6815" y="1455542"/>
                  <a:ext cx="50090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箭头连接符 11"/>
            <p:cNvCxnSpPr/>
            <p:nvPr/>
          </p:nvCxnSpPr>
          <p:spPr>
            <a:xfrm>
              <a:off x="7035204" y="1925516"/>
              <a:ext cx="4269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6978162" y="1455542"/>
                  <a:ext cx="4229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8162" y="1455542"/>
                  <a:ext cx="42293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7360760" y="3432413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760" y="3432413"/>
                <a:ext cx="506229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/>
          <p:cNvCxnSpPr/>
          <p:nvPr/>
        </p:nvCxnSpPr>
        <p:spPr>
          <a:xfrm>
            <a:off x="6735101" y="2579077"/>
            <a:ext cx="426987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6632745" y="2179441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745" y="2179441"/>
                <a:ext cx="428258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6336754" y="2149137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754" y="2149137"/>
                <a:ext cx="506229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/>
          <p:cNvCxnSpPr/>
          <p:nvPr/>
        </p:nvCxnSpPr>
        <p:spPr>
          <a:xfrm>
            <a:off x="8030501" y="2579077"/>
            <a:ext cx="426987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7816372" y="2180302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372" y="2180302"/>
                <a:ext cx="428258" cy="369332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7520381" y="2149998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381" y="2149998"/>
                <a:ext cx="506229" cy="369332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/>
          <p:cNvCxnSpPr/>
          <p:nvPr/>
        </p:nvCxnSpPr>
        <p:spPr>
          <a:xfrm>
            <a:off x="8559385" y="2579077"/>
            <a:ext cx="786" cy="407377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8678307" y="3400608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307" y="3400608"/>
                <a:ext cx="506229" cy="369332"/>
              </a:xfrm>
              <a:prstGeom prst="rect">
                <a:avLst/>
              </a:prstGeom>
              <a:blipFill>
                <a:blip r:embed="rId1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8639109" y="2772209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109" y="2772209"/>
                <a:ext cx="428258" cy="369332"/>
              </a:xfrm>
              <a:prstGeom prst="rect">
                <a:avLst/>
              </a:prstGeom>
              <a:blipFill>
                <a:blip r:embed="rId1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/>
          <p:cNvGrpSpPr/>
          <p:nvPr/>
        </p:nvGrpSpPr>
        <p:grpSpPr>
          <a:xfrm>
            <a:off x="5341626" y="1812156"/>
            <a:ext cx="3540683" cy="2807738"/>
            <a:chOff x="5178669" y="1812156"/>
            <a:chExt cx="3540683" cy="2807738"/>
          </a:xfrm>
        </p:grpSpPr>
        <p:sp>
          <p:nvSpPr>
            <p:cNvPr id="25" name="椭圆 24"/>
            <p:cNvSpPr/>
            <p:nvPr/>
          </p:nvSpPr>
          <p:spPr>
            <a:xfrm>
              <a:off x="5505530" y="1812156"/>
              <a:ext cx="520271" cy="9144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178669" y="192551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a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969961" y="225861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b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430490" y="2357224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c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726542" y="3756903"/>
              <a:ext cx="2743567" cy="3995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53894" y="425056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d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/>
              <p:cNvSpPr txBox="1"/>
              <p:nvPr/>
            </p:nvSpPr>
            <p:spPr>
              <a:xfrm>
                <a:off x="4988285" y="2815893"/>
                <a:ext cx="475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285" y="2815893"/>
                <a:ext cx="47500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箭头连接符 31"/>
          <p:cNvCxnSpPr/>
          <p:nvPr/>
        </p:nvCxnSpPr>
        <p:spPr>
          <a:xfrm flipV="1">
            <a:off x="5943600" y="2627942"/>
            <a:ext cx="0" cy="358512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5499613" y="2563971"/>
                <a:ext cx="412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613" y="2563971"/>
                <a:ext cx="41222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/>
          <p:cNvSpPr txBox="1"/>
          <p:nvPr/>
        </p:nvSpPr>
        <p:spPr>
          <a:xfrm>
            <a:off x="7937752" y="193502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405591" y="308800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882514" y="303956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85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708025" y="1268413"/>
            <a:ext cx="6115050" cy="38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：找出求解线性电路的</a:t>
            </a:r>
            <a:r>
              <a:rPr lang="zh-CN" altLang="en-US" b="1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分析方法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695325" y="1941513"/>
            <a:ext cx="72961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：含独立源、受控源的</a:t>
            </a:r>
            <a:r>
              <a:rPr lang="zh-CN" altLang="en-US" b="1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电阻网络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684213" y="2747963"/>
            <a:ext cx="74882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：主要用于复杂的线性电路的求解。</a:t>
            </a:r>
          </a:p>
        </p:txBody>
      </p:sp>
      <p:grpSp>
        <p:nvGrpSpPr>
          <p:cNvPr id="119831" name="Group 23"/>
          <p:cNvGrpSpPr>
            <a:grpSpLocks/>
          </p:cNvGrpSpPr>
          <p:nvPr/>
        </p:nvGrpSpPr>
        <p:grpSpPr bwMode="auto">
          <a:xfrm>
            <a:off x="1673225" y="3548063"/>
            <a:ext cx="5715000" cy="787400"/>
            <a:chOff x="904" y="1944"/>
            <a:chExt cx="3600" cy="496"/>
          </a:xfrm>
        </p:grpSpPr>
        <p:sp>
          <p:nvSpPr>
            <p:cNvPr id="8203" name="Text Box 24"/>
            <p:cNvSpPr txBox="1">
              <a:spLocks noChangeArrowheads="1"/>
            </p:cNvSpPr>
            <p:nvPr/>
          </p:nvSpPr>
          <p:spPr bwMode="auto">
            <a:xfrm>
              <a:off x="1144" y="1944"/>
              <a:ext cx="336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电路的连接关系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——KCL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KVL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定律</a:t>
              </a:r>
            </a:p>
          </p:txBody>
        </p:sp>
        <p:sp>
          <p:nvSpPr>
            <p:cNvPr id="8204" name="Line 25"/>
            <p:cNvSpPr>
              <a:spLocks noChangeShapeType="1"/>
            </p:cNvSpPr>
            <p:nvPr/>
          </p:nvSpPr>
          <p:spPr bwMode="auto">
            <a:xfrm flipV="1">
              <a:off x="904" y="2112"/>
              <a:ext cx="272" cy="32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9834" name="Group 26"/>
          <p:cNvGrpSpPr>
            <a:grpSpLocks/>
          </p:cNvGrpSpPr>
          <p:nvPr/>
        </p:nvGrpSpPr>
        <p:grpSpPr bwMode="auto">
          <a:xfrm>
            <a:off x="1673225" y="4338638"/>
            <a:ext cx="6203950" cy="633412"/>
            <a:chOff x="920" y="2456"/>
            <a:chExt cx="3908" cy="399"/>
          </a:xfrm>
        </p:grpSpPr>
        <p:sp>
          <p:nvSpPr>
            <p:cNvPr id="8201" name="Text Box 27"/>
            <p:cNvSpPr txBox="1">
              <a:spLocks noChangeArrowheads="1"/>
            </p:cNvSpPr>
            <p:nvPr/>
          </p:nvSpPr>
          <p:spPr bwMode="auto">
            <a:xfrm>
              <a:off x="1108" y="2564"/>
              <a:ext cx="37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元件特性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约束关系</a:t>
              </a:r>
            </a:p>
          </p:txBody>
        </p:sp>
        <p:sp>
          <p:nvSpPr>
            <p:cNvPr id="8202" name="Line 28"/>
            <p:cNvSpPr>
              <a:spLocks noChangeShapeType="1"/>
            </p:cNvSpPr>
            <p:nvPr/>
          </p:nvSpPr>
          <p:spPr bwMode="auto">
            <a:xfrm>
              <a:off x="920" y="2456"/>
              <a:ext cx="232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37" name="Text Box 29"/>
          <p:cNvSpPr txBox="1">
            <a:spLocks noChangeArrowheads="1"/>
          </p:cNvSpPr>
          <p:nvPr/>
        </p:nvSpPr>
        <p:spPr bwMode="auto">
          <a:xfrm>
            <a:off x="755650" y="4033838"/>
            <a:ext cx="889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00" name="Text Box 59"/>
          <p:cNvSpPr txBox="1">
            <a:spLocks noChangeArrowheads="1"/>
          </p:cNvSpPr>
          <p:nvPr/>
        </p:nvSpPr>
        <p:spPr bwMode="auto">
          <a:xfrm>
            <a:off x="2560638" y="274638"/>
            <a:ext cx="3775075" cy="519112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prstShdw prst="shdw17" dist="17961" dir="2700000">
              <a:srgbClr val="7A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 2" panose="05020102010507070707" pitchFamily="18" charset="2"/>
              </a:rPr>
              <a:t> </a:t>
            </a:r>
            <a:r>
              <a:rPr lang="en-US" altLang="zh-CN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问题的提出     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autoUpdateAnimBg="0"/>
      <p:bldP spid="119812" grpId="0" autoUpdateAnimBg="0"/>
      <p:bldP spid="11983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日期占位符 1"/>
          <p:cNvSpPr txBox="1">
            <a:spLocks/>
          </p:cNvSpPr>
          <p:nvPr/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6" name="页脚占位符 2"/>
          <p:cNvSpPr txBox="1">
            <a:spLocks/>
          </p:cNvSpPr>
          <p:nvPr/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7" name="灯片编号占位符 3"/>
          <p:cNvSpPr txBox="1">
            <a:spLocks/>
          </p:cNvSpPr>
          <p:nvPr/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 txBox="1">
                <a:spLocks/>
              </p:cNvSpPr>
              <p:nvPr/>
            </p:nvSpPr>
            <p:spPr>
              <a:xfrm>
                <a:off x="39077" y="408870"/>
                <a:ext cx="8925411" cy="626049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buFontTx/>
                  <a:buNone/>
                </a:pP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）求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解</a:t>
                </a:r>
                <a:r>
                  <a:rPr lang="en-US" altLang="zh-CN" sz="1600" dirty="0" smtClean="0"/>
                  <a:t>:  </a:t>
                </a:r>
                <a:r>
                  <a:rPr lang="zh-CN" altLang="en-US" sz="1600" dirty="0" smtClean="0"/>
                  <a:t> 对图中各节点、元件及元件的电压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n-US" altLang="zh-CN" sz="1600" dirty="0"/>
                  <a:t> </a:t>
                </a:r>
                <a:r>
                  <a:rPr lang="en-US" altLang="zh-CN" sz="1600" dirty="0" smtClean="0"/>
                  <a:t> </a:t>
                </a:r>
                <a:r>
                  <a:rPr lang="zh-CN" altLang="en-US" sz="1600" dirty="0" smtClean="0"/>
                  <a:t>电流进行编号并注明方向，如图所示。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n-US" altLang="zh-CN" sz="1600" dirty="0"/>
                  <a:t>2)</a:t>
                </a:r>
                <a:r>
                  <a:rPr lang="zh-CN" altLang="en-US" sz="1600" dirty="0"/>
                  <a:t>该电路</a:t>
                </a:r>
                <a:r>
                  <a:rPr lang="en-US" altLang="zh-CN" sz="1600" dirty="0"/>
                  <a:t>b=6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n=4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m=b-n+1=3</a:t>
                </a:r>
                <a:r>
                  <a:rPr lang="zh-CN" altLang="en-US" sz="1600" dirty="0"/>
                  <a:t>，因而可</a:t>
                </a:r>
                <a:r>
                  <a:rPr lang="zh-CN" altLang="en-US" sz="1600" dirty="0" smtClean="0"/>
                  <a:t>通过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列</a:t>
                </a:r>
                <a:r>
                  <a:rPr lang="zh-CN" altLang="en-US" sz="1600" dirty="0"/>
                  <a:t>写</a:t>
                </a:r>
                <a:r>
                  <a:rPr lang="en-US" altLang="zh-CN" sz="1600" dirty="0"/>
                  <a:t>3</a:t>
                </a:r>
                <a:r>
                  <a:rPr lang="zh-CN" altLang="en-US" sz="1600" dirty="0"/>
                  <a:t>个独立</a:t>
                </a:r>
                <a:r>
                  <a:rPr lang="en-US" altLang="zh-CN" sz="1600" dirty="0" err="1"/>
                  <a:t>kcl</a:t>
                </a:r>
                <a:r>
                  <a:rPr lang="zh-CN" altLang="en-US" sz="1600" dirty="0"/>
                  <a:t>方程和</a:t>
                </a:r>
                <a:r>
                  <a:rPr lang="en-US" altLang="zh-CN" sz="1600" dirty="0"/>
                  <a:t>3</a:t>
                </a:r>
                <a:r>
                  <a:rPr lang="zh-CN" altLang="en-US" sz="1600" dirty="0"/>
                  <a:t>个</a:t>
                </a:r>
                <a:r>
                  <a:rPr lang="en-US" altLang="zh-CN" sz="1600" dirty="0"/>
                  <a:t>KVL</a:t>
                </a:r>
                <a:r>
                  <a:rPr lang="zh-CN" altLang="en-US" sz="1600" dirty="0"/>
                  <a:t>方程，同时应用欧姆定律</a:t>
                </a:r>
                <a:r>
                  <a:rPr lang="zh-CN" altLang="en-US" sz="1600" dirty="0" smtClean="0"/>
                  <a:t>，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求解</a:t>
                </a:r>
                <a:r>
                  <a:rPr lang="zh-CN" altLang="en-US" sz="1600" dirty="0"/>
                  <a:t>六条支路的电流及各电阻两端电压。</a:t>
                </a:r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/>
                  <a:t>对结点</a:t>
                </a:r>
                <a:r>
                  <a:rPr lang="en-US" altLang="zh-CN" sz="1600" dirty="0"/>
                  <a:t> </a:t>
                </a:r>
                <a:r>
                  <a:rPr lang="en-US" altLang="zh-CN" sz="1600" dirty="0" err="1"/>
                  <a:t>a,b,c</a:t>
                </a:r>
                <a:r>
                  <a:rPr lang="zh-CN" altLang="en-US" sz="1600" dirty="0"/>
                  <a:t>列写独立</a:t>
                </a:r>
                <a:r>
                  <a:rPr lang="en-US" altLang="zh-CN" sz="1600" dirty="0" err="1"/>
                  <a:t>kcl</a:t>
                </a:r>
                <a:r>
                  <a:rPr lang="zh-CN" altLang="en-US" sz="1600" dirty="0"/>
                  <a:t>方程，以电流流入结点为正</a:t>
                </a:r>
                <a:r>
                  <a:rPr lang="zh-CN" altLang="en-US" sz="1600" dirty="0" smtClean="0"/>
                  <a:t>，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即：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/>
                  <a:t>对三个网孔</a:t>
                </a:r>
                <a:r>
                  <a:rPr lang="en-US" altLang="zh-CN" sz="1600" dirty="0"/>
                  <a:t>m1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m2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m3</a:t>
                </a:r>
                <a:r>
                  <a:rPr lang="zh-CN" altLang="en-US" sz="1600" dirty="0"/>
                  <a:t>列写独立</a:t>
                </a:r>
                <a:r>
                  <a:rPr lang="en-US" altLang="zh-CN" sz="1600" dirty="0" err="1"/>
                  <a:t>kVL</a:t>
                </a:r>
                <a:r>
                  <a:rPr lang="zh-CN" altLang="en-US" sz="1600" dirty="0"/>
                  <a:t>方程，电压以网孔顺时针方向为正，即</a:t>
                </a:r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n-US" altLang="zh-CN" sz="1600" dirty="0"/>
                  <a:t>        </a:t>
                </a:r>
                <a:r>
                  <a:rPr lang="en-US" altLang="zh-CN" sz="1600" dirty="0" smtClean="0"/>
                  <a:t>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/>
                  <a:t>上述</a:t>
                </a:r>
                <a:r>
                  <a:rPr lang="en-US" altLang="zh-CN" sz="1600" dirty="0"/>
                  <a:t>6</a:t>
                </a:r>
                <a:r>
                  <a:rPr lang="zh-CN" altLang="en-US" sz="1600" dirty="0"/>
                  <a:t>个方程中，</a:t>
                </a:r>
                <a:r>
                  <a:rPr lang="en-US" altLang="zh-CN" sz="1600" dirty="0"/>
                  <a:t>u</a:t>
                </a:r>
                <a:r>
                  <a:rPr lang="en-US" altLang="zh-CN" sz="1600" baseline="-25000" dirty="0"/>
                  <a:t>s</a:t>
                </a:r>
                <a:r>
                  <a:rPr lang="zh-CN" altLang="en-US" sz="1600" dirty="0"/>
                  <a:t>和</a:t>
                </a:r>
                <a:r>
                  <a:rPr lang="en-US" altLang="zh-CN" sz="1600" dirty="0"/>
                  <a:t>R</a:t>
                </a:r>
                <a:r>
                  <a:rPr lang="en-US" altLang="zh-CN" sz="1600" baseline="-25000" dirty="0"/>
                  <a:t>1</a:t>
                </a:r>
                <a:r>
                  <a:rPr lang="en-US" altLang="zh-CN" sz="1600" dirty="0"/>
                  <a:t>~R</a:t>
                </a:r>
                <a:r>
                  <a:rPr lang="en-US" altLang="zh-CN" sz="1600" baseline="-25000" dirty="0"/>
                  <a:t>5</a:t>
                </a:r>
                <a:r>
                  <a:rPr lang="zh-CN" altLang="en-US" sz="1600" dirty="0"/>
                  <a:t>已知，代入参数计算可得</a:t>
                </a:r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endParaRPr lang="zh-CN" altLang="en-US" sz="1600" dirty="0"/>
              </a:p>
            </p:txBody>
          </p:sp>
        </mc:Choice>
        <mc:Fallback xmlns="">
          <p:sp>
            <p:nvSpPr>
              <p:cNvPr id="8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" y="408870"/>
                <a:ext cx="8925411" cy="6260490"/>
              </a:xfrm>
              <a:prstGeom prst="rect">
                <a:avLst/>
              </a:prstGeom>
              <a:blipFill>
                <a:blip r:embed="rId2"/>
                <a:stretch>
                  <a:fillRect l="-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/>
          <p:cNvSpPr txBox="1">
            <a:spLocks/>
          </p:cNvSpPr>
          <p:nvPr/>
        </p:nvSpPr>
        <p:spPr>
          <a:xfrm>
            <a:off x="83527" y="118942"/>
            <a:ext cx="7886700" cy="347051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zh-CN" altLang="en-US" smtClean="0"/>
              <a:t>习题</a:t>
            </a:r>
            <a:r>
              <a:rPr lang="en-US" altLang="zh-CN" smtClean="0"/>
              <a:t>1-30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4996495" y="1455542"/>
            <a:ext cx="4459933" cy="2571335"/>
            <a:chOff x="4596144" y="1455542"/>
            <a:chExt cx="4459933" cy="2571335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6144" y="1824874"/>
              <a:ext cx="4459933" cy="2202003"/>
            </a:xfrm>
            <a:prstGeom prst="rect">
              <a:avLst/>
            </a:prstGeom>
          </p:spPr>
        </p:pic>
        <p:cxnSp>
          <p:nvCxnSpPr>
            <p:cNvPr id="12" name="直接箭头连接符 11"/>
            <p:cNvCxnSpPr/>
            <p:nvPr/>
          </p:nvCxnSpPr>
          <p:spPr>
            <a:xfrm flipV="1">
              <a:off x="6860932" y="2818967"/>
              <a:ext cx="0" cy="36927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6881631" y="2818967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1631" y="2818967"/>
                  <a:ext cx="42825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6646815" y="1455542"/>
                  <a:ext cx="500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6815" y="1455542"/>
                  <a:ext cx="50090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/>
            <p:cNvCxnSpPr/>
            <p:nvPr/>
          </p:nvCxnSpPr>
          <p:spPr>
            <a:xfrm>
              <a:off x="7035204" y="1925516"/>
              <a:ext cx="4269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6978162" y="1455542"/>
                  <a:ext cx="4229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8162" y="1455542"/>
                  <a:ext cx="42293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7360760" y="3432413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760" y="3432413"/>
                <a:ext cx="506229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/>
          <p:cNvCxnSpPr/>
          <p:nvPr/>
        </p:nvCxnSpPr>
        <p:spPr>
          <a:xfrm>
            <a:off x="6735101" y="2579077"/>
            <a:ext cx="426987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6632745" y="2179441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745" y="2179441"/>
                <a:ext cx="428258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6336754" y="2149137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754" y="2149137"/>
                <a:ext cx="506229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/>
          <p:cNvCxnSpPr/>
          <p:nvPr/>
        </p:nvCxnSpPr>
        <p:spPr>
          <a:xfrm>
            <a:off x="8030501" y="2579077"/>
            <a:ext cx="426987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7816372" y="2180302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372" y="2180302"/>
                <a:ext cx="428258" cy="369332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7520381" y="2149998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381" y="2149998"/>
                <a:ext cx="506229" cy="369332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/>
          <p:cNvCxnSpPr/>
          <p:nvPr/>
        </p:nvCxnSpPr>
        <p:spPr>
          <a:xfrm>
            <a:off x="8559385" y="2579077"/>
            <a:ext cx="786" cy="407377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8678307" y="3400608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307" y="3400608"/>
                <a:ext cx="506229" cy="369332"/>
              </a:xfrm>
              <a:prstGeom prst="rect">
                <a:avLst/>
              </a:prstGeom>
              <a:blipFill>
                <a:blip r:embed="rId1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8639109" y="2772209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109" y="2772209"/>
                <a:ext cx="428258" cy="369332"/>
              </a:xfrm>
              <a:prstGeom prst="rect">
                <a:avLst/>
              </a:prstGeom>
              <a:blipFill>
                <a:blip r:embed="rId1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/>
          <p:cNvGrpSpPr/>
          <p:nvPr/>
        </p:nvGrpSpPr>
        <p:grpSpPr>
          <a:xfrm>
            <a:off x="5341626" y="1812156"/>
            <a:ext cx="3540683" cy="2807738"/>
            <a:chOff x="5178669" y="1812156"/>
            <a:chExt cx="3540683" cy="2807738"/>
          </a:xfrm>
        </p:grpSpPr>
        <p:sp>
          <p:nvSpPr>
            <p:cNvPr id="28" name="椭圆 27"/>
            <p:cNvSpPr/>
            <p:nvPr/>
          </p:nvSpPr>
          <p:spPr>
            <a:xfrm>
              <a:off x="5505530" y="1812156"/>
              <a:ext cx="520271" cy="9144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5178669" y="192551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a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69961" y="225861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b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430490" y="2357224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c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726542" y="3756903"/>
              <a:ext cx="2743567" cy="3995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53894" y="425056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d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4988285" y="2815893"/>
                <a:ext cx="475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285" y="2815893"/>
                <a:ext cx="47500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/>
          <p:cNvCxnSpPr/>
          <p:nvPr/>
        </p:nvCxnSpPr>
        <p:spPr>
          <a:xfrm flipV="1">
            <a:off x="5943600" y="2627942"/>
            <a:ext cx="0" cy="358512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5499613" y="2563971"/>
                <a:ext cx="412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613" y="2563971"/>
                <a:ext cx="41222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7937752" y="193502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405591" y="308800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882514" y="303956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4804350" y="4732932"/>
                <a:ext cx="3877985" cy="2484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各支路的电压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方向与各自电流关联</a:t>
                </a:r>
                <a:r>
                  <a:rPr lang="en-US" altLang="zh-CN" dirty="0" smtClean="0"/>
                  <a:t>)</a:t>
                </a:r>
              </a:p>
              <a:p>
                <a:r>
                  <a:rPr lang="zh-CN" altLang="en-US" dirty="0" smtClean="0"/>
                  <a:t>均可用结点的电位差表示：</a:t>
                </a:r>
                <a:endParaRPr lang="en-US" altLang="zh-CN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𝑎𝑐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𝑎𝑑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𝑐𝑑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𝑑𝑏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𝑏𝑑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𝑎𝑑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350" y="4732932"/>
                <a:ext cx="3877985" cy="2484398"/>
              </a:xfrm>
              <a:prstGeom prst="rect">
                <a:avLst/>
              </a:prstGeom>
              <a:blipFill>
                <a:blip r:embed="rId16"/>
                <a:stretch>
                  <a:fillRect l="-1258" t="-1225" r="-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37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5" name="日期占位符 1"/>
          <p:cNvSpPr txBox="1">
            <a:spLocks/>
          </p:cNvSpPr>
          <p:nvPr/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6" name="页脚占位符 2"/>
          <p:cNvSpPr txBox="1">
            <a:spLocks/>
          </p:cNvSpPr>
          <p:nvPr/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7" name="灯片编号占位符 3"/>
          <p:cNvSpPr txBox="1">
            <a:spLocks/>
          </p:cNvSpPr>
          <p:nvPr/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8" name="日期占位符 1"/>
          <p:cNvSpPr txBox="1">
            <a:spLocks/>
          </p:cNvSpPr>
          <p:nvPr/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9" name="页脚占位符 2"/>
          <p:cNvSpPr txBox="1">
            <a:spLocks/>
          </p:cNvSpPr>
          <p:nvPr/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10" name="灯片编号占位符 3"/>
          <p:cNvSpPr txBox="1">
            <a:spLocks/>
          </p:cNvSpPr>
          <p:nvPr/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2"/>
              <p:cNvSpPr txBox="1">
                <a:spLocks/>
              </p:cNvSpPr>
              <p:nvPr/>
            </p:nvSpPr>
            <p:spPr>
              <a:xfrm>
                <a:off x="39077" y="408870"/>
                <a:ext cx="8925411" cy="626049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buFontTx/>
                  <a:buNone/>
                </a:pP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）求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1600" dirty="0" smtClean="0"/>
              </a:p>
            </p:txBody>
          </p:sp>
        </mc:Choice>
        <mc:Fallback xmlns="">
          <p:sp>
            <p:nvSpPr>
              <p:cNvPr id="11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" y="408870"/>
                <a:ext cx="8925411" cy="6260490"/>
              </a:xfrm>
              <a:prstGeom prst="rect">
                <a:avLst/>
              </a:prstGeom>
              <a:blipFill>
                <a:blip r:embed="rId2"/>
                <a:stretch>
                  <a:fillRect l="-3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/>
          <p:cNvSpPr txBox="1">
            <a:spLocks/>
          </p:cNvSpPr>
          <p:nvPr/>
        </p:nvSpPr>
        <p:spPr>
          <a:xfrm>
            <a:off x="83527" y="118942"/>
            <a:ext cx="7886700" cy="347051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zh-CN" altLang="en-US" smtClean="0"/>
              <a:t>习题</a:t>
            </a:r>
            <a:r>
              <a:rPr lang="en-US" altLang="zh-CN" smtClean="0"/>
              <a:t>1-30</a:t>
            </a:r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996495" y="1455542"/>
            <a:ext cx="4459933" cy="2571335"/>
            <a:chOff x="4596144" y="1455542"/>
            <a:chExt cx="4459933" cy="2571335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6144" y="1824874"/>
              <a:ext cx="4459933" cy="2202003"/>
            </a:xfrm>
            <a:prstGeom prst="rect">
              <a:avLst/>
            </a:prstGeom>
          </p:spPr>
        </p:pic>
        <p:cxnSp>
          <p:nvCxnSpPr>
            <p:cNvPr id="15" name="直接箭头连接符 14"/>
            <p:cNvCxnSpPr/>
            <p:nvPr/>
          </p:nvCxnSpPr>
          <p:spPr>
            <a:xfrm flipV="1">
              <a:off x="6860932" y="2818967"/>
              <a:ext cx="0" cy="36927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6881631" y="2818967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1631" y="2818967"/>
                  <a:ext cx="42825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6646815" y="1455542"/>
                  <a:ext cx="500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6815" y="1455542"/>
                  <a:ext cx="50090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箭头连接符 17"/>
            <p:cNvCxnSpPr/>
            <p:nvPr/>
          </p:nvCxnSpPr>
          <p:spPr>
            <a:xfrm>
              <a:off x="7035204" y="1925516"/>
              <a:ext cx="4269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6978162" y="1455542"/>
                  <a:ext cx="4229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8162" y="1455542"/>
                  <a:ext cx="42293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7360760" y="3432413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760" y="3432413"/>
                <a:ext cx="506229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/>
          <p:cNvCxnSpPr/>
          <p:nvPr/>
        </p:nvCxnSpPr>
        <p:spPr>
          <a:xfrm>
            <a:off x="6735101" y="2579077"/>
            <a:ext cx="426987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6632745" y="2179441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745" y="2179441"/>
                <a:ext cx="428258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6336754" y="2149137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754" y="2149137"/>
                <a:ext cx="506229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/>
          <p:cNvCxnSpPr/>
          <p:nvPr/>
        </p:nvCxnSpPr>
        <p:spPr>
          <a:xfrm>
            <a:off x="8030501" y="2579077"/>
            <a:ext cx="426987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7816372" y="2180302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372" y="2180302"/>
                <a:ext cx="428258" cy="369332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7520381" y="2149998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381" y="2149998"/>
                <a:ext cx="506229" cy="369332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/>
          <p:cNvCxnSpPr/>
          <p:nvPr/>
        </p:nvCxnSpPr>
        <p:spPr>
          <a:xfrm>
            <a:off x="8559385" y="2579077"/>
            <a:ext cx="786" cy="407377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/>
            </p:nvSpPr>
            <p:spPr>
              <a:xfrm>
                <a:off x="8678307" y="3400608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307" y="3400608"/>
                <a:ext cx="506229" cy="369332"/>
              </a:xfrm>
              <a:prstGeom prst="rect">
                <a:avLst/>
              </a:prstGeom>
              <a:blipFill>
                <a:blip r:embed="rId1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8639109" y="2772209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109" y="2772209"/>
                <a:ext cx="428258" cy="369332"/>
              </a:xfrm>
              <a:prstGeom prst="rect">
                <a:avLst/>
              </a:prstGeom>
              <a:blipFill>
                <a:blip r:embed="rId1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/>
          <p:cNvGrpSpPr/>
          <p:nvPr/>
        </p:nvGrpSpPr>
        <p:grpSpPr>
          <a:xfrm>
            <a:off x="5341626" y="1812156"/>
            <a:ext cx="3540683" cy="2807738"/>
            <a:chOff x="5178669" y="1812156"/>
            <a:chExt cx="3540683" cy="2807738"/>
          </a:xfrm>
        </p:grpSpPr>
        <p:sp>
          <p:nvSpPr>
            <p:cNvPr id="31" name="椭圆 30"/>
            <p:cNvSpPr/>
            <p:nvPr/>
          </p:nvSpPr>
          <p:spPr>
            <a:xfrm>
              <a:off x="5505530" y="1812156"/>
              <a:ext cx="520271" cy="9144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178669" y="192551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a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69961" y="225861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b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430490" y="2357224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c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5726542" y="3756903"/>
              <a:ext cx="2743567" cy="3995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953894" y="425056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d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4988285" y="2815893"/>
                <a:ext cx="475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285" y="2815893"/>
                <a:ext cx="47500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/>
          <p:cNvCxnSpPr/>
          <p:nvPr/>
        </p:nvCxnSpPr>
        <p:spPr>
          <a:xfrm flipV="1">
            <a:off x="5943600" y="2627942"/>
            <a:ext cx="0" cy="358512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/>
              <p:cNvSpPr txBox="1"/>
              <p:nvPr/>
            </p:nvSpPr>
            <p:spPr>
              <a:xfrm>
                <a:off x="5499613" y="2563971"/>
                <a:ext cx="412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613" y="2563971"/>
                <a:ext cx="41222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/>
          <p:cNvSpPr txBox="1"/>
          <p:nvPr/>
        </p:nvSpPr>
        <p:spPr>
          <a:xfrm>
            <a:off x="7937752" y="193502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405591" y="308800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882514" y="303956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242273" y="1321772"/>
                <a:ext cx="4921929" cy="3886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各支路的电压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方向与各自电流关联</a:t>
                </a:r>
                <a:r>
                  <a:rPr lang="en-US" altLang="zh-CN" dirty="0" smtClean="0"/>
                  <a:t>)</a:t>
                </a:r>
              </a:p>
              <a:p>
                <a:r>
                  <a:rPr lang="zh-CN" altLang="en-US" dirty="0" smtClean="0"/>
                  <a:t>均可用结点的电位差表示：</a:t>
                </a:r>
                <a:endParaRPr lang="en-US" altLang="zh-CN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𝑎𝑐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𝑎𝑑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𝑐𝑑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𝑑𝑏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𝑏𝑑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𝑎𝑑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/>
                  <a:t>取其中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个结点，为参考点，利用</a:t>
                </a:r>
                <a:r>
                  <a:rPr lang="en-US" altLang="zh-CN" dirty="0" smtClean="0"/>
                  <a:t>KVL</a:t>
                </a:r>
                <a:r>
                  <a:rPr lang="zh-CN" altLang="en-US" dirty="0" smtClean="0"/>
                  <a:t>方程用</a:t>
                </a:r>
                <a:r>
                  <a:rPr lang="en-US" altLang="zh-CN" dirty="0" smtClean="0"/>
                  <a:t>n-1</a:t>
                </a:r>
                <a:r>
                  <a:rPr lang="zh-CN" altLang="en-US" dirty="0" smtClean="0"/>
                  <a:t>个结点电位就可以列出全部支路电压降。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支路电压的问题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n-1</a:t>
                </a:r>
                <a:r>
                  <a:rPr lang="zh-CN" altLang="en-US" dirty="0" smtClean="0">
                    <a:sym typeface="Wingdings" panose="05000000000000000000" pitchFamily="2" charset="2"/>
                  </a:rPr>
                  <a:t>结点的电位问题</a:t>
                </a:r>
                <a:endParaRPr lang="en-US" altLang="zh-CN" dirty="0" smtClean="0">
                  <a:sym typeface="Wingdings" panose="05000000000000000000" pitchFamily="2" charset="2"/>
                </a:endParaRPr>
              </a:p>
              <a:p>
                <a:endParaRPr lang="en-US" altLang="zh-CN" dirty="0" smtClean="0">
                  <a:sym typeface="Wingdings" panose="05000000000000000000" pitchFamily="2" charset="2"/>
                </a:endParaRPr>
              </a:p>
              <a:p>
                <a:r>
                  <a:rPr lang="zh-CN" altLang="en-US" dirty="0" smtClean="0">
                    <a:sym typeface="Wingdings" panose="05000000000000000000" pitchFamily="2" charset="2"/>
                  </a:rPr>
                  <a:t>独立的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KCL</a:t>
                </a:r>
                <a:r>
                  <a:rPr lang="zh-CN" altLang="en-US" dirty="0" smtClean="0">
                    <a:sym typeface="Wingdings" panose="05000000000000000000" pitchFamily="2" charset="2"/>
                  </a:rPr>
                  <a:t>方程为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n-1</a:t>
                </a:r>
                <a:r>
                  <a:rPr lang="zh-CN" altLang="en-US" dirty="0" smtClean="0">
                    <a:sym typeface="Wingdings" panose="05000000000000000000" pitchFamily="2" charset="2"/>
                  </a:rPr>
                  <a:t>，问题可解。</a:t>
                </a:r>
                <a:endParaRPr lang="en-US" altLang="zh-CN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73" y="1321772"/>
                <a:ext cx="4921929" cy="3886577"/>
              </a:xfrm>
              <a:prstGeom prst="rect">
                <a:avLst/>
              </a:prstGeom>
              <a:blipFill>
                <a:blip r:embed="rId16"/>
                <a:stretch>
                  <a:fillRect l="-1115" t="-942" b="-15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38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7993063" cy="5040313"/>
          </a:xfrm>
        </p:spPr>
        <p:txBody>
          <a:bodyPr/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节点分析法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是以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各节点的电位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作为未知变量来列写方程</a:t>
            </a:r>
            <a:r>
              <a:rPr lang="en-US" altLang="zh-CN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节点方程</a:t>
            </a:r>
            <a:r>
              <a:rPr lang="en-US" altLang="zh-CN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任选一个节点为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基准节点</a:t>
            </a:r>
            <a:r>
              <a:rPr lang="en-US" altLang="zh-CN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参考节点</a:t>
            </a:r>
            <a:r>
              <a:rPr lang="en-US" altLang="zh-CN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，且电位恒取为零。其他节点的电位就是它们与基准节点之间的电压，称为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节点电压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8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(n–1)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个独立节点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的电压为变量列写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(n–1)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个独立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KCL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</a:t>
            </a:r>
            <a:endParaRPr lang="en-US" altLang="zh-CN" sz="28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从节点方程求得节点电压以后，再求出各支路电压和电流。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3.1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结点分析法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Nodal analysis </a:t>
            </a:r>
            <a:b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</a:br>
            <a:endParaRPr lang="en-US" altLang="zh-CN" sz="2800" dirty="0" smtClean="0">
              <a:solidFill>
                <a:srgbClr val="CC3300"/>
              </a:solidFill>
              <a:ea typeface="隶书" panose="02010509060101010101" pitchFamily="49" charset="-122"/>
            </a:endParaRPr>
          </a:p>
        </p:txBody>
      </p:sp>
      <p:pic>
        <p:nvPicPr>
          <p:cNvPr id="10245" name="Picture 5" descr="https://png.pngtree.com/element_origin_min_pic/17/08/04/4748eb25439154c3b91b6d3394c10ba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5516563"/>
            <a:ext cx="1008062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2771775" y="5876925"/>
            <a:ext cx="39909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为什么不用列写</a:t>
            </a:r>
            <a:r>
              <a:rPr lang="en-US" altLang="zh-CN" b="1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KVL</a:t>
            </a:r>
            <a:r>
              <a:rPr lang="zh-CN" altLang="en-US" b="1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方程？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3" grpId="0" uiExpand="1" build="p" autoUpdateAnimBg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2227263" y="1516063"/>
            <a:ext cx="69167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由于</a:t>
            </a:r>
            <a:r>
              <a:rPr lang="zh-CN" altLang="en-US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电位的单值性</a:t>
            </a: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，节点电压自动满足</a:t>
            </a:r>
            <a:r>
              <a:rPr lang="en-US" altLang="zh-CN" b="1">
                <a:latin typeface="幼圆" panose="02010509060101010101" pitchFamily="49" charset="-122"/>
                <a:ea typeface="幼圆" panose="02010509060101010101" pitchFamily="49" charset="-122"/>
              </a:rPr>
              <a:t>KVL</a:t>
            </a: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方程。</a:t>
            </a: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5097463" y="3011488"/>
            <a:ext cx="29098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en-US" altLang="zh-CN" b="1" i="1"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b="1" baseline="-25000"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  <a:r>
              <a:rPr lang="en-US" altLang="zh-CN" b="1">
                <a:latin typeface="Symbol" panose="05050102010706020507" pitchFamily="18" charset="2"/>
                <a:ea typeface="幼圆" panose="02010509060101010101" pitchFamily="49" charset="-122"/>
              </a:rPr>
              <a:t>-</a:t>
            </a:r>
            <a:r>
              <a:rPr lang="en-US" altLang="zh-CN" b="1" i="1"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b="1" baseline="-25000">
                <a:latin typeface="幼圆" panose="02010509060101010101" pitchFamily="49" charset="-122"/>
                <a:ea typeface="幼圆" panose="02010509060101010101" pitchFamily="49" charset="-122"/>
              </a:rPr>
              <a:t>B</a:t>
            </a:r>
            <a:r>
              <a:rPr lang="en-US" altLang="zh-CN" b="1">
                <a:latin typeface="幼圆" panose="02010509060101010101" pitchFamily="49" charset="-122"/>
                <a:ea typeface="幼圆" panose="02010509060101010101" pitchFamily="49" charset="-122"/>
              </a:rPr>
              <a:t>)+</a:t>
            </a:r>
            <a:r>
              <a:rPr lang="en-US" altLang="zh-CN" b="1" i="1"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b="1" baseline="-25000">
                <a:latin typeface="幼圆" panose="02010509060101010101" pitchFamily="49" charset="-122"/>
                <a:ea typeface="幼圆" panose="02010509060101010101" pitchFamily="49" charset="-122"/>
              </a:rPr>
              <a:t>B</a:t>
            </a:r>
            <a:r>
              <a:rPr lang="en-US" altLang="zh-CN" b="1">
                <a:latin typeface="Symbol" panose="05050102010706020507" pitchFamily="18" charset="2"/>
                <a:ea typeface="幼圆" panose="02010509060101010101" pitchFamily="49" charset="-122"/>
              </a:rPr>
              <a:t>-</a:t>
            </a:r>
            <a:r>
              <a:rPr lang="en-US" altLang="zh-CN" b="1" i="1"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b="1" baseline="-25000"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  <a:r>
              <a:rPr lang="en-US" altLang="zh-CN" b="1">
                <a:latin typeface="幼圆" panose="02010509060101010101" pitchFamily="49" charset="-122"/>
                <a:ea typeface="幼圆" panose="02010509060101010101" pitchFamily="49" charset="-122"/>
              </a:rPr>
              <a:t>=0</a:t>
            </a:r>
          </a:p>
        </p:txBody>
      </p:sp>
      <p:sp>
        <p:nvSpPr>
          <p:cNvPr id="137221" name="Line 5"/>
          <p:cNvSpPr>
            <a:spLocks noChangeShapeType="1"/>
          </p:cNvSpPr>
          <p:nvPr/>
        </p:nvSpPr>
        <p:spPr bwMode="auto">
          <a:xfrm>
            <a:off x="1978025" y="3038475"/>
            <a:ext cx="1792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2382838" y="248761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1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  <a:r>
              <a:rPr lang="en-US" altLang="zh-CN" sz="1800" b="1">
                <a:solidFill>
                  <a:srgbClr val="FF0000"/>
                </a:solidFill>
                <a:latin typeface="Symbol" panose="05050102010706020507" pitchFamily="18" charset="2"/>
                <a:ea typeface="幼圆" panose="02010509060101010101" pitchFamily="49" charset="-122"/>
              </a:rPr>
              <a:t>-</a:t>
            </a:r>
            <a:r>
              <a:rPr lang="en-US" altLang="zh-CN" sz="1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1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B</a:t>
            </a:r>
          </a:p>
        </p:txBody>
      </p:sp>
      <p:grpSp>
        <p:nvGrpSpPr>
          <p:cNvPr id="137223" name="Group 7"/>
          <p:cNvGrpSpPr>
            <a:grpSpLocks/>
          </p:cNvGrpSpPr>
          <p:nvPr/>
        </p:nvGrpSpPr>
        <p:grpSpPr bwMode="auto">
          <a:xfrm>
            <a:off x="2673350" y="4598988"/>
            <a:ext cx="414338" cy="342900"/>
            <a:chOff x="1851" y="2693"/>
            <a:chExt cx="261" cy="216"/>
          </a:xfrm>
        </p:grpSpPr>
        <p:sp>
          <p:nvSpPr>
            <p:cNvPr id="11286" name="Line 8"/>
            <p:cNvSpPr>
              <a:spLocks noChangeShapeType="1"/>
            </p:cNvSpPr>
            <p:nvPr/>
          </p:nvSpPr>
          <p:spPr bwMode="auto">
            <a:xfrm>
              <a:off x="1983" y="2693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287" name="Group 9"/>
            <p:cNvGrpSpPr>
              <a:grpSpLocks/>
            </p:cNvGrpSpPr>
            <p:nvPr/>
          </p:nvGrpSpPr>
          <p:grpSpPr bwMode="auto">
            <a:xfrm>
              <a:off x="1851" y="2789"/>
              <a:ext cx="261" cy="120"/>
              <a:chOff x="720" y="1824"/>
              <a:chExt cx="261" cy="120"/>
            </a:xfrm>
          </p:grpSpPr>
          <p:sp>
            <p:nvSpPr>
              <p:cNvPr id="11288" name="Line 10"/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289" name="Line 11"/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290" name="Line 12"/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1457325" y="2420938"/>
            <a:ext cx="550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1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</a:t>
            </a:r>
          </a:p>
        </p:txBody>
      </p:sp>
      <p:sp>
        <p:nvSpPr>
          <p:cNvPr id="137230" name="Text Box 14"/>
          <p:cNvSpPr txBox="1">
            <a:spLocks noChangeArrowheads="1"/>
          </p:cNvSpPr>
          <p:nvPr/>
        </p:nvSpPr>
        <p:spPr bwMode="auto">
          <a:xfrm>
            <a:off x="3724275" y="2465388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1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B</a:t>
            </a:r>
          </a:p>
        </p:txBody>
      </p:sp>
      <p:grpSp>
        <p:nvGrpSpPr>
          <p:cNvPr id="137316" name="Group 100"/>
          <p:cNvGrpSpPr>
            <a:grpSpLocks/>
          </p:cNvGrpSpPr>
          <p:nvPr/>
        </p:nvGrpSpPr>
        <p:grpSpPr bwMode="auto">
          <a:xfrm>
            <a:off x="1230313" y="2782888"/>
            <a:ext cx="3287712" cy="2058987"/>
            <a:chOff x="924" y="1395"/>
            <a:chExt cx="2071" cy="1297"/>
          </a:xfrm>
        </p:grpSpPr>
        <p:grpSp>
          <p:nvGrpSpPr>
            <p:cNvPr id="11279" name="Group 101"/>
            <p:cNvGrpSpPr>
              <a:grpSpLocks/>
            </p:cNvGrpSpPr>
            <p:nvPr/>
          </p:nvGrpSpPr>
          <p:grpSpPr bwMode="auto">
            <a:xfrm>
              <a:off x="1251" y="1519"/>
              <a:ext cx="1413" cy="1063"/>
              <a:chOff x="1251" y="1519"/>
              <a:chExt cx="1413" cy="1063"/>
            </a:xfrm>
          </p:grpSpPr>
          <p:sp>
            <p:nvSpPr>
              <p:cNvPr id="11283" name="Oval 102"/>
              <p:cNvSpPr>
                <a:spLocks noChangeArrowheads="1"/>
              </p:cNvSpPr>
              <p:nvPr/>
            </p:nvSpPr>
            <p:spPr bwMode="auto">
              <a:xfrm>
                <a:off x="1251" y="1519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1284" name="Oval 103"/>
              <p:cNvSpPr>
                <a:spLocks noChangeArrowheads="1"/>
              </p:cNvSpPr>
              <p:nvPr/>
            </p:nvSpPr>
            <p:spPr bwMode="auto">
              <a:xfrm>
                <a:off x="1929" y="2514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1285" name="Oval 104"/>
              <p:cNvSpPr>
                <a:spLocks noChangeArrowheads="1"/>
              </p:cNvSpPr>
              <p:nvPr/>
            </p:nvSpPr>
            <p:spPr bwMode="auto">
              <a:xfrm>
                <a:off x="2596" y="1519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sp>
          <p:nvSpPr>
            <p:cNvPr id="11280" name="Text Box 105"/>
            <p:cNvSpPr txBox="1">
              <a:spLocks noChangeArrowheads="1"/>
            </p:cNvSpPr>
            <p:nvPr/>
          </p:nvSpPr>
          <p:spPr bwMode="auto">
            <a:xfrm>
              <a:off x="924" y="139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solidFill>
                    <a:srgbClr val="3333FF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A</a:t>
              </a:r>
            </a:p>
          </p:txBody>
        </p:sp>
        <p:sp>
          <p:nvSpPr>
            <p:cNvPr id="11281" name="Text Box 106"/>
            <p:cNvSpPr txBox="1">
              <a:spLocks noChangeArrowheads="1"/>
            </p:cNvSpPr>
            <p:nvPr/>
          </p:nvSpPr>
          <p:spPr bwMode="auto">
            <a:xfrm>
              <a:off x="2751" y="140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solidFill>
                    <a:srgbClr val="3333FF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B</a:t>
              </a:r>
            </a:p>
          </p:txBody>
        </p:sp>
        <p:sp>
          <p:nvSpPr>
            <p:cNvPr id="11282" name="Text Box 107"/>
            <p:cNvSpPr txBox="1">
              <a:spLocks noChangeArrowheads="1"/>
            </p:cNvSpPr>
            <p:nvPr/>
          </p:nvSpPr>
          <p:spPr bwMode="auto">
            <a:xfrm>
              <a:off x="1642" y="24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solidFill>
                    <a:srgbClr val="3333FF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o</a:t>
              </a:r>
            </a:p>
          </p:txBody>
        </p:sp>
      </p:grpSp>
      <p:sp>
        <p:nvSpPr>
          <p:cNvPr id="137324" name="Line 108"/>
          <p:cNvSpPr>
            <a:spLocks noChangeShapeType="1"/>
          </p:cNvSpPr>
          <p:nvPr/>
        </p:nvSpPr>
        <p:spPr bwMode="auto">
          <a:xfrm>
            <a:off x="1841500" y="3195638"/>
            <a:ext cx="995363" cy="137001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325" name="Line 109"/>
          <p:cNvSpPr>
            <a:spLocks noChangeShapeType="1"/>
          </p:cNvSpPr>
          <p:nvPr/>
        </p:nvSpPr>
        <p:spPr bwMode="auto">
          <a:xfrm flipH="1">
            <a:off x="2924175" y="3122613"/>
            <a:ext cx="995363" cy="14573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327" name="Rectangle 111"/>
          <p:cNvSpPr>
            <a:spLocks noChangeArrowheads="1"/>
          </p:cNvSpPr>
          <p:nvPr/>
        </p:nvSpPr>
        <p:spPr bwMode="auto">
          <a:xfrm>
            <a:off x="4981575" y="3887788"/>
            <a:ext cx="3506788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以节点电压为变量的      </a:t>
            </a:r>
            <a:r>
              <a:rPr lang="en-US" altLang="zh-CN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KVL</a:t>
            </a: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自动满足</a:t>
            </a:r>
            <a:endParaRPr lang="zh-CN" altLang="en-US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37328" name="Rectangle 112"/>
          <p:cNvSpPr>
            <a:spLocks noChangeArrowheads="1"/>
          </p:cNvSpPr>
          <p:nvPr/>
        </p:nvSpPr>
        <p:spPr bwMode="auto">
          <a:xfrm>
            <a:off x="1252538" y="5394325"/>
            <a:ext cx="70056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只需列写</a:t>
            </a:r>
            <a:r>
              <a:rPr lang="zh-CN" altLang="en-US" b="1">
                <a:latin typeface="Arial" panose="020B0604020202020204" pitchFamily="34" charset="0"/>
                <a:ea typeface="幼圆" panose="02010509060101010101" pitchFamily="49" charset="-122"/>
              </a:rPr>
              <a:t>以节点电压为变量的</a:t>
            </a:r>
            <a:r>
              <a:rPr lang="en-US" altLang="zh-CN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KCL</a:t>
            </a: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方程。</a:t>
            </a:r>
          </a:p>
        </p:txBody>
      </p:sp>
      <p:pic>
        <p:nvPicPr>
          <p:cNvPr id="11291" name="Picture 27" descr="https://www.71714.com/wp-content/uploads/2018/05/phpcode1527171110S1LOo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357188"/>
            <a:ext cx="1819275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7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7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7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7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7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8" grpId="0" autoUpdateAnimBg="0"/>
      <p:bldP spid="137219" grpId="0" build="p" autoUpdateAnimBg="0"/>
      <p:bldP spid="137222" grpId="0" build="p" autoUpdateAnimBg="0"/>
      <p:bldP spid="137229" grpId="0" build="p" autoUpdateAnimBg="0" advAuto="0"/>
      <p:bldP spid="137230" grpId="0" build="p" autoUpdateAnimBg="0" advAuto="0"/>
      <p:bldP spid="137327" grpId="0" build="p" autoUpdateAnimBg="0"/>
      <p:bldP spid="13732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B5E2A7D-3DA4-4385-9814-1FD8CDEC234A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EBD64E-683A-4592-B5F5-1125E3AEB912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3.1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结点分析法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Nodal analysis </a:t>
            </a:r>
            <a:b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</a:br>
            <a:r>
              <a:rPr lang="en-US" altLang="zh-CN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1.</a:t>
            </a:r>
            <a:r>
              <a:rPr lang="zh-CN" altLang="en-US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结点方程 </a:t>
            </a:r>
            <a:r>
              <a:rPr lang="en-US" altLang="zh-CN" sz="2800" dirty="0" smtClean="0">
                <a:solidFill>
                  <a:srgbClr val="CC3300"/>
                </a:solidFill>
                <a:ea typeface="隶书" panose="02010509060101010101" pitchFamily="49" charset="-122"/>
              </a:rPr>
              <a:t>Nodal equations</a:t>
            </a:r>
          </a:p>
        </p:txBody>
      </p:sp>
      <p:graphicFrame>
        <p:nvGraphicFramePr>
          <p:cNvPr id="13318" name="Object 4"/>
          <p:cNvGraphicFramePr>
            <a:graphicFrameLocks noChangeAspect="1"/>
          </p:cNvGraphicFramePr>
          <p:nvPr/>
        </p:nvGraphicFramePr>
        <p:xfrm>
          <a:off x="3810000" y="196850"/>
          <a:ext cx="5092700" cy="391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1" name="Visio" r:id="rId3" imgW="2856357" imgH="2203132" progId="Visio.Drawing.11">
                  <p:embed/>
                </p:oleObj>
              </mc:Choice>
              <mc:Fallback>
                <p:oleObj name="Visio" r:id="rId3" imgW="2856357" imgH="220313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6850"/>
                        <a:ext cx="5092700" cy="391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7" name="Object 11"/>
          <p:cNvGraphicFramePr>
            <a:graphicFrameLocks noChangeAspect="1"/>
          </p:cNvGraphicFramePr>
          <p:nvPr/>
        </p:nvGraphicFramePr>
        <p:xfrm>
          <a:off x="457200" y="3962400"/>
          <a:ext cx="1693863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2" name="Equation" r:id="rId5" imgW="723586" imgH="393529" progId="Equation.DSMT4">
                  <p:embed/>
                </p:oleObj>
              </mc:Choice>
              <mc:Fallback>
                <p:oleObj name="Equation" r:id="rId5" imgW="723586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62400"/>
                        <a:ext cx="1693863" cy="922338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8" name="Object 12"/>
          <p:cNvGraphicFramePr>
            <a:graphicFrameLocks noChangeAspect="1"/>
          </p:cNvGraphicFramePr>
          <p:nvPr/>
        </p:nvGraphicFramePr>
        <p:xfrm>
          <a:off x="533400" y="1295400"/>
          <a:ext cx="1320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3" name="Equation" r:id="rId7" imgW="660113" imgH="393529" progId="Equation.DSMT4">
                  <p:embed/>
                </p:oleObj>
              </mc:Choice>
              <mc:Fallback>
                <p:oleObj name="Equation" r:id="rId7" imgW="660113" imgH="39352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95400"/>
                        <a:ext cx="1320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9" name="Object 13"/>
          <p:cNvGraphicFramePr>
            <a:graphicFrameLocks noChangeAspect="1"/>
          </p:cNvGraphicFramePr>
          <p:nvPr/>
        </p:nvGraphicFramePr>
        <p:xfrm>
          <a:off x="457200" y="2133600"/>
          <a:ext cx="20304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4" name="Equation" r:id="rId9" imgW="1016000" imgH="393700" progId="Equation.DSMT4">
                  <p:embed/>
                </p:oleObj>
              </mc:Choice>
              <mc:Fallback>
                <p:oleObj name="Equation" r:id="rId9" imgW="10160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133600"/>
                        <a:ext cx="2030413" cy="78740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90" name="Object 14"/>
          <p:cNvGraphicFramePr>
            <a:graphicFrameLocks noChangeAspect="1"/>
          </p:cNvGraphicFramePr>
          <p:nvPr/>
        </p:nvGraphicFramePr>
        <p:xfrm>
          <a:off x="393700" y="3124200"/>
          <a:ext cx="20050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5" name="Equation" r:id="rId11" imgW="1002865" imgH="393529" progId="Equation.DSMT4">
                  <p:embed/>
                </p:oleObj>
              </mc:Choice>
              <mc:Fallback>
                <p:oleObj name="Equation" r:id="rId11" imgW="1002865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3124200"/>
                        <a:ext cx="20050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92" name="Object 16"/>
          <p:cNvGraphicFramePr>
            <a:graphicFrameLocks noChangeAspect="1"/>
          </p:cNvGraphicFramePr>
          <p:nvPr/>
        </p:nvGraphicFramePr>
        <p:xfrm>
          <a:off x="461963" y="4876800"/>
          <a:ext cx="1900237" cy="190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6" name="Equation" r:id="rId13" imgW="812447" imgH="812447" progId="Equation.DSMT4">
                  <p:embed/>
                </p:oleObj>
              </mc:Choice>
              <mc:Fallback>
                <p:oleObj name="Equation" r:id="rId13" imgW="812447" imgH="812447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4876800"/>
                        <a:ext cx="1900237" cy="190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93" name="Object 17"/>
          <p:cNvGraphicFramePr>
            <a:graphicFrameLocks noChangeAspect="1"/>
          </p:cNvGraphicFramePr>
          <p:nvPr/>
        </p:nvGraphicFramePr>
        <p:xfrm>
          <a:off x="3759200" y="4191000"/>
          <a:ext cx="5334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7" name="Equation" r:id="rId15" imgW="2667000" imgH="393700" progId="Equation.DSMT4">
                  <p:embed/>
                </p:oleObj>
              </mc:Choice>
              <mc:Fallback>
                <p:oleObj name="Equation" r:id="rId15" imgW="2667000" imgH="3937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4191000"/>
                        <a:ext cx="5334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94" name="Object 18"/>
          <p:cNvGraphicFramePr>
            <a:graphicFrameLocks noChangeAspect="1"/>
          </p:cNvGraphicFramePr>
          <p:nvPr/>
        </p:nvGraphicFramePr>
        <p:xfrm>
          <a:off x="3784600" y="5029200"/>
          <a:ext cx="5207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8" name="Equation" r:id="rId17" imgW="2603500" imgH="393700" progId="Equation.DSMT4">
                  <p:embed/>
                </p:oleObj>
              </mc:Choice>
              <mc:Fallback>
                <p:oleObj name="Equation" r:id="rId17" imgW="2603500" imgH="3937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5029200"/>
                        <a:ext cx="5207000" cy="78740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95" name="Object 19"/>
          <p:cNvGraphicFramePr>
            <a:graphicFrameLocks noChangeAspect="1"/>
          </p:cNvGraphicFramePr>
          <p:nvPr/>
        </p:nvGraphicFramePr>
        <p:xfrm>
          <a:off x="3771900" y="5943600"/>
          <a:ext cx="480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9" name="Equation" r:id="rId19" imgW="2400300" imgH="393700" progId="Equation.DSMT4">
                  <p:embed/>
                </p:oleObj>
              </mc:Choice>
              <mc:Fallback>
                <p:oleObj name="Equation" r:id="rId19" imgW="2400300" imgH="3937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5943600"/>
                        <a:ext cx="4800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98" name="Line 22"/>
          <p:cNvSpPr>
            <a:spLocks noChangeShapeType="1"/>
          </p:cNvSpPr>
          <p:nvPr/>
        </p:nvSpPr>
        <p:spPr bwMode="auto">
          <a:xfrm>
            <a:off x="3059113" y="1371600"/>
            <a:ext cx="0" cy="541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CBCB12-F637-4614-B109-434E9F247715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03C9DF-75D5-4D9E-AE22-9E7CD5A0BA76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3.1 Nodal analysis </a:t>
            </a:r>
            <a:b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</a:br>
            <a:r>
              <a:rPr lang="en-US" altLang="zh-CN" sz="2800" smtClean="0">
                <a:solidFill>
                  <a:srgbClr val="CC3300"/>
                </a:solidFill>
                <a:ea typeface="隶书" panose="02010509060101010101" pitchFamily="49" charset="-122"/>
              </a:rPr>
              <a:t>1.Nodal equations</a:t>
            </a:r>
          </a:p>
        </p:txBody>
      </p:sp>
      <p:graphicFrame>
        <p:nvGraphicFramePr>
          <p:cNvPr id="14342" name="Object 3"/>
          <p:cNvGraphicFramePr>
            <a:graphicFrameLocks noChangeAspect="1"/>
          </p:cNvGraphicFramePr>
          <p:nvPr/>
        </p:nvGraphicFramePr>
        <p:xfrm>
          <a:off x="3810000" y="196850"/>
          <a:ext cx="5092700" cy="391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7" name="Visio" r:id="rId3" imgW="2856357" imgH="2203132" progId="Visio.Drawing.11">
                  <p:embed/>
                </p:oleObj>
              </mc:Choice>
              <mc:Fallback>
                <p:oleObj name="Visio" r:id="rId3" imgW="2856357" imgH="2203132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6850"/>
                        <a:ext cx="5092700" cy="391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3"/>
          <p:cNvGraphicFramePr>
            <a:graphicFrameLocks noChangeAspect="1"/>
          </p:cNvGraphicFramePr>
          <p:nvPr/>
        </p:nvGraphicFramePr>
        <p:xfrm>
          <a:off x="3759200" y="4191000"/>
          <a:ext cx="5334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8" name="Equation" r:id="rId5" imgW="2667000" imgH="393700" progId="Equation.DSMT4">
                  <p:embed/>
                </p:oleObj>
              </mc:Choice>
              <mc:Fallback>
                <p:oleObj name="Equation" r:id="rId5" imgW="26670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4191000"/>
                        <a:ext cx="5334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14"/>
          <p:cNvGraphicFramePr>
            <a:graphicFrameLocks noChangeAspect="1"/>
          </p:cNvGraphicFramePr>
          <p:nvPr/>
        </p:nvGraphicFramePr>
        <p:xfrm>
          <a:off x="3784600" y="5029200"/>
          <a:ext cx="5207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9" name="Equation" r:id="rId7" imgW="2603500" imgH="393700" progId="Equation.DSMT4">
                  <p:embed/>
                </p:oleObj>
              </mc:Choice>
              <mc:Fallback>
                <p:oleObj name="Equation" r:id="rId7" imgW="2603500" imgH="393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5029200"/>
                        <a:ext cx="5207000" cy="78740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15"/>
          <p:cNvGraphicFramePr>
            <a:graphicFrameLocks noChangeAspect="1"/>
          </p:cNvGraphicFramePr>
          <p:nvPr/>
        </p:nvGraphicFramePr>
        <p:xfrm>
          <a:off x="3771900" y="5943600"/>
          <a:ext cx="480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0" name="Equation" r:id="rId9" imgW="2400300" imgH="393700" progId="Equation.DSMT4">
                  <p:embed/>
                </p:oleObj>
              </mc:Choice>
              <mc:Fallback>
                <p:oleObj name="Equation" r:id="rId9" imgW="2400300" imgH="3937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5943600"/>
                        <a:ext cx="4800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8" name="Object 16"/>
          <p:cNvGraphicFramePr>
            <a:graphicFrameLocks noChangeAspect="1"/>
          </p:cNvGraphicFramePr>
          <p:nvPr/>
        </p:nvGraphicFramePr>
        <p:xfrm>
          <a:off x="141288" y="4648200"/>
          <a:ext cx="3452812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1" name="Equation" r:id="rId11" imgW="1841500" imgH="584200" progId="Equation.DSMT4">
                  <p:embed/>
                </p:oleObj>
              </mc:Choice>
              <mc:Fallback>
                <p:oleObj name="Equation" r:id="rId11" imgW="1841500" imgH="584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4648200"/>
                        <a:ext cx="3452812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9" name="Object 17"/>
          <p:cNvGraphicFramePr>
            <a:graphicFrameLocks noChangeAspect="1"/>
          </p:cNvGraphicFramePr>
          <p:nvPr/>
        </p:nvGraphicFramePr>
        <p:xfrm>
          <a:off x="215900" y="1295400"/>
          <a:ext cx="3430588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2" name="Equation" r:id="rId13" imgW="1714500" imgH="812800" progId="Equation.DSMT4">
                  <p:embed/>
                </p:oleObj>
              </mc:Choice>
              <mc:Fallback>
                <p:oleObj name="Equation" r:id="rId13" imgW="1714500" imgH="812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1295400"/>
                        <a:ext cx="3430588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0" name="Object 18"/>
          <p:cNvGraphicFramePr>
            <a:graphicFrameLocks noChangeAspect="1"/>
          </p:cNvGraphicFramePr>
          <p:nvPr/>
        </p:nvGraphicFramePr>
        <p:xfrm>
          <a:off x="152400" y="2971800"/>
          <a:ext cx="34290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3" name="Equation" r:id="rId15" imgW="1841500" imgH="812800" progId="Equation.DSMT4">
                  <p:embed/>
                </p:oleObj>
              </mc:Choice>
              <mc:Fallback>
                <p:oleObj name="Equation" r:id="rId15" imgW="1841500" imgH="812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971800"/>
                        <a:ext cx="3429000" cy="1512888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Line 20"/>
          <p:cNvSpPr>
            <a:spLocks noChangeShapeType="1"/>
          </p:cNvSpPr>
          <p:nvPr/>
        </p:nvSpPr>
        <p:spPr bwMode="auto">
          <a:xfrm>
            <a:off x="3657600" y="1371600"/>
            <a:ext cx="0" cy="541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3014" name="Object 22"/>
          <p:cNvGraphicFramePr>
            <a:graphicFrameLocks noGrp="1" noChangeAspect="1"/>
          </p:cNvGraphicFramePr>
          <p:nvPr>
            <p:ph idx="1"/>
          </p:nvPr>
        </p:nvGraphicFramePr>
        <p:xfrm>
          <a:off x="5076825" y="2205038"/>
          <a:ext cx="143986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4" name="Visio" r:id="rId17" imgW="1066950" imgH="704763" progId="Visio.Drawing.11">
                  <p:embed/>
                </p:oleObj>
              </mc:Choice>
              <mc:Fallback>
                <p:oleObj name="Visio" r:id="rId17" imgW="1066950" imgH="704763" progId="Visio.Drawing.11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205038"/>
                        <a:ext cx="1439863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1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ED869D7-0A08-4705-9E8A-CF03D427014F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6E194B-EA6B-4A8C-8904-2DB5D2537E28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3.1 Nodal analysis </a:t>
            </a:r>
            <a:b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sz="2800" smtClean="0">
                <a:solidFill>
                  <a:srgbClr val="CC3300"/>
                </a:solidFill>
              </a:rPr>
              <a:t>1.Nodal equations</a:t>
            </a:r>
          </a:p>
        </p:txBody>
      </p:sp>
      <p:graphicFrame>
        <p:nvGraphicFramePr>
          <p:cNvPr id="15366" name="Object 3"/>
          <p:cNvGraphicFramePr>
            <a:graphicFrameLocks noChangeAspect="1"/>
          </p:cNvGraphicFramePr>
          <p:nvPr/>
        </p:nvGraphicFramePr>
        <p:xfrm>
          <a:off x="3810000" y="196850"/>
          <a:ext cx="5092700" cy="391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59" name="VISIO" r:id="rId3" imgW="2829923" imgH="2168087" progId="Visio.Drawing.5">
                  <p:embed/>
                </p:oleObj>
              </mc:Choice>
              <mc:Fallback>
                <p:oleObj name="VISIO" r:id="rId3" imgW="2829923" imgH="2168087" progId="Visio.Drawing.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6850"/>
                        <a:ext cx="5092700" cy="391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1"/>
          <p:cNvGraphicFramePr>
            <a:graphicFrameLocks noChangeAspect="1"/>
          </p:cNvGraphicFramePr>
          <p:nvPr/>
        </p:nvGraphicFramePr>
        <p:xfrm>
          <a:off x="141288" y="4206875"/>
          <a:ext cx="3452812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0" name="Equation" r:id="rId5" imgW="1841500" imgH="584200" progId="Equation.DSMT4">
                  <p:embed/>
                </p:oleObj>
              </mc:Choice>
              <mc:Fallback>
                <p:oleObj name="Equation" r:id="rId5" imgW="1841500" imgH="584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4206875"/>
                        <a:ext cx="3452812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2"/>
          <p:cNvGraphicFramePr>
            <a:graphicFrameLocks noChangeAspect="1"/>
          </p:cNvGraphicFramePr>
          <p:nvPr/>
        </p:nvGraphicFramePr>
        <p:xfrm>
          <a:off x="215900" y="1125538"/>
          <a:ext cx="3430588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1" name="Equation" r:id="rId7" imgW="1714500" imgH="812800" progId="Equation.DSMT4">
                  <p:embed/>
                </p:oleObj>
              </mc:Choice>
              <mc:Fallback>
                <p:oleObj name="Equation" r:id="rId7" imgW="1714500" imgH="812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1125538"/>
                        <a:ext cx="3430588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13"/>
          <p:cNvGraphicFramePr>
            <a:graphicFrameLocks noChangeAspect="1"/>
          </p:cNvGraphicFramePr>
          <p:nvPr/>
        </p:nvGraphicFramePr>
        <p:xfrm>
          <a:off x="152400" y="2708275"/>
          <a:ext cx="34290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2" name="Equation" r:id="rId9" imgW="1841500" imgH="812800" progId="Equation.DSMT4">
                  <p:embed/>
                </p:oleObj>
              </mc:Choice>
              <mc:Fallback>
                <p:oleObj name="Equation" r:id="rId9" imgW="1841500" imgH="812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708275"/>
                        <a:ext cx="3429000" cy="1512888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1" name="Object 15"/>
          <p:cNvGraphicFramePr>
            <a:graphicFrameLocks noChangeAspect="1"/>
          </p:cNvGraphicFramePr>
          <p:nvPr/>
        </p:nvGraphicFramePr>
        <p:xfrm>
          <a:off x="4659313" y="4392613"/>
          <a:ext cx="3965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3" name="Equation" r:id="rId11" imgW="1765300" imgH="228600" progId="Equation.DSMT4">
                  <p:embed/>
                </p:oleObj>
              </mc:Choice>
              <mc:Fallback>
                <p:oleObj name="Equation" r:id="rId11" imgW="176530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3" y="4392613"/>
                        <a:ext cx="396557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2" name="Object 16"/>
          <p:cNvGraphicFramePr>
            <a:graphicFrameLocks noChangeAspect="1"/>
          </p:cNvGraphicFramePr>
          <p:nvPr/>
        </p:nvGraphicFramePr>
        <p:xfrm>
          <a:off x="4673600" y="3933825"/>
          <a:ext cx="38528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4" name="Equation" r:id="rId13" imgW="1714500" imgH="228600" progId="Equation.DSMT4">
                  <p:embed/>
                </p:oleObj>
              </mc:Choice>
              <mc:Fallback>
                <p:oleObj name="Equation" r:id="rId13" imgW="17145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3933825"/>
                        <a:ext cx="38528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6" name="Object 20"/>
          <p:cNvGraphicFramePr>
            <a:graphicFrameLocks noChangeAspect="1"/>
          </p:cNvGraphicFramePr>
          <p:nvPr/>
        </p:nvGraphicFramePr>
        <p:xfrm>
          <a:off x="5776913" y="5467350"/>
          <a:ext cx="154146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5" name="Equation" r:id="rId15" imgW="685800" imgH="228600" progId="Equation.DSMT4">
                  <p:embed/>
                </p:oleObj>
              </mc:Choice>
              <mc:Fallback>
                <p:oleObj name="Equation" r:id="rId15" imgW="685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3" y="5467350"/>
                        <a:ext cx="1541462" cy="5127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4039" name="Group 23"/>
          <p:cNvGrpSpPr>
            <a:grpSpLocks/>
          </p:cNvGrpSpPr>
          <p:nvPr/>
        </p:nvGrpSpPr>
        <p:grpSpPr bwMode="auto">
          <a:xfrm>
            <a:off x="5045075" y="6084894"/>
            <a:ext cx="3057525" cy="835025"/>
            <a:chOff x="3024" y="4029"/>
            <a:chExt cx="1926" cy="526"/>
          </a:xfrm>
        </p:grpSpPr>
        <p:sp>
          <p:nvSpPr>
            <p:cNvPr id="15377" name="Rectangle 21"/>
            <p:cNvSpPr>
              <a:spLocks noChangeArrowheads="1"/>
            </p:cNvSpPr>
            <p:nvPr/>
          </p:nvSpPr>
          <p:spPr bwMode="auto">
            <a:xfrm>
              <a:off x="3264" y="4032"/>
              <a:ext cx="168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n-US" altLang="zh-CN" dirty="0">
                  <a:solidFill>
                    <a:schemeClr val="hlink"/>
                  </a:solidFill>
                  <a:ea typeface="华文隶书" panose="02010800040101010101" pitchFamily="2" charset="-122"/>
                </a:rPr>
                <a:t> conductance </a:t>
              </a:r>
              <a:r>
                <a:rPr lang="en-US" altLang="zh-CN" dirty="0" smtClean="0">
                  <a:solidFill>
                    <a:schemeClr val="hlink"/>
                  </a:solidFill>
                  <a:ea typeface="华文隶书" panose="02010800040101010101" pitchFamily="2" charset="-122"/>
                </a:rPr>
                <a:t>matrix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zh-CN" altLang="en-US" dirty="0" smtClean="0">
                  <a:solidFill>
                    <a:schemeClr val="hlink"/>
                  </a:solidFill>
                  <a:ea typeface="华文隶书" panose="02010800040101010101" pitchFamily="2" charset="-122"/>
                </a:rPr>
                <a:t>结点电导矩阵</a:t>
              </a:r>
              <a:endParaRPr lang="en-US" altLang="zh-CN" dirty="0">
                <a:solidFill>
                  <a:schemeClr val="hlink"/>
                </a:solidFill>
                <a:ea typeface="华文隶书" panose="02010800040101010101" pitchFamily="2" charset="-122"/>
              </a:endParaRPr>
            </a:p>
          </p:txBody>
        </p:sp>
        <p:graphicFrame>
          <p:nvGraphicFramePr>
            <p:cNvPr id="15378" name="Object 22"/>
            <p:cNvGraphicFramePr>
              <a:graphicFrameLocks noChangeAspect="1"/>
            </p:cNvGraphicFramePr>
            <p:nvPr/>
          </p:nvGraphicFramePr>
          <p:xfrm>
            <a:off x="3024" y="4029"/>
            <a:ext cx="342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66" name="Equation" r:id="rId17" imgW="241300" imgH="228600" progId="Equation.3">
                    <p:embed/>
                  </p:oleObj>
                </mc:Choice>
                <mc:Fallback>
                  <p:oleObj name="Equation" r:id="rId17" imgW="241300" imgH="2286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4029"/>
                          <a:ext cx="342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74" name="Line 26"/>
          <p:cNvSpPr>
            <a:spLocks noChangeShapeType="1"/>
          </p:cNvSpPr>
          <p:nvPr/>
        </p:nvSpPr>
        <p:spPr bwMode="auto">
          <a:xfrm>
            <a:off x="3779838" y="1371600"/>
            <a:ext cx="0" cy="5410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4043" name="Object 27"/>
          <p:cNvGraphicFramePr>
            <a:graphicFrameLocks noChangeAspect="1"/>
          </p:cNvGraphicFramePr>
          <p:nvPr/>
        </p:nvGraphicFramePr>
        <p:xfrm>
          <a:off x="4667250" y="4897438"/>
          <a:ext cx="3937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7" name="Equation" r:id="rId19" imgW="1752600" imgH="228600" progId="Equation.DSMT4">
                  <p:embed/>
                </p:oleObj>
              </mc:Choice>
              <mc:Fallback>
                <p:oleObj name="Equation" r:id="rId19" imgW="175260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4897438"/>
                        <a:ext cx="39370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44" name="Object 28"/>
          <p:cNvGraphicFramePr>
            <a:graphicFrameLocks noGrp="1" noChangeAspect="1"/>
          </p:cNvGraphicFramePr>
          <p:nvPr>
            <p:ph idx="1"/>
          </p:nvPr>
        </p:nvGraphicFramePr>
        <p:xfrm>
          <a:off x="5003800" y="2212975"/>
          <a:ext cx="1582738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8" name="Visio" r:id="rId21" imgW="1066950" imgH="704763" progId="Visio.Drawing.11">
                  <p:embed/>
                </p:oleObj>
              </mc:Choice>
              <mc:Fallback>
                <p:oleObj name="Visio" r:id="rId21" imgW="1066950" imgH="704763" progId="Visio.Drawing.11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212975"/>
                        <a:ext cx="1582738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1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3CB7E8B-BF3D-4D11-8B57-4B1785C8EE4B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FD5ECF-B95A-41F7-8BC2-D785B0AD8445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533400"/>
          </a:xfrm>
        </p:spPr>
        <p:txBody>
          <a:bodyPr/>
          <a:lstStyle/>
          <a:p>
            <a:pPr algn="l" eaLnBrk="1" hangingPunct="1"/>
            <a:r>
              <a:rPr lang="en-US" altLang="zh-CN" sz="2800" smtClean="0">
                <a:solidFill>
                  <a:srgbClr val="FF0000"/>
                </a:solidFill>
              </a:rPr>
              <a:t>2.</a:t>
            </a:r>
            <a:r>
              <a:rPr lang="zh-CN" altLang="en-US" sz="2800" smtClean="0">
                <a:solidFill>
                  <a:srgbClr val="FF0000"/>
                </a:solidFill>
              </a:rPr>
              <a:t>快速列写法</a:t>
            </a:r>
            <a:endParaRPr lang="en-US" altLang="zh-CN" sz="2800" b="1" smtClean="0">
              <a:solidFill>
                <a:srgbClr val="FF0000"/>
              </a:solidFill>
            </a:endParaRPr>
          </a:p>
        </p:txBody>
      </p:sp>
      <p:graphicFrame>
        <p:nvGraphicFramePr>
          <p:cNvPr id="16390" name="Object 3"/>
          <p:cNvGraphicFramePr>
            <a:graphicFrameLocks noChangeAspect="1"/>
          </p:cNvGraphicFramePr>
          <p:nvPr/>
        </p:nvGraphicFramePr>
        <p:xfrm>
          <a:off x="3810000" y="196850"/>
          <a:ext cx="5092700" cy="391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" name="Visio" r:id="rId3" imgW="2856357" imgH="2203132" progId="Visio.Drawing.11">
                  <p:embed/>
                </p:oleObj>
              </mc:Choice>
              <mc:Fallback>
                <p:oleObj name="Visio" r:id="rId3" imgW="2856357" imgH="2203132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6850"/>
                        <a:ext cx="5092700" cy="391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8"/>
          <p:cNvGraphicFramePr>
            <a:graphicFrameLocks noChangeAspect="1"/>
          </p:cNvGraphicFramePr>
          <p:nvPr/>
        </p:nvGraphicFramePr>
        <p:xfrm>
          <a:off x="141288" y="3848100"/>
          <a:ext cx="3452812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8" name="Equation" r:id="rId5" imgW="1841500" imgH="584200" progId="Equation.DSMT4">
                  <p:embed/>
                </p:oleObj>
              </mc:Choice>
              <mc:Fallback>
                <p:oleObj name="Equation" r:id="rId5" imgW="1841500" imgH="584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3848100"/>
                        <a:ext cx="3452812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9"/>
          <p:cNvGraphicFramePr>
            <a:graphicFrameLocks noChangeAspect="1"/>
          </p:cNvGraphicFramePr>
          <p:nvPr/>
        </p:nvGraphicFramePr>
        <p:xfrm>
          <a:off x="215900" y="765175"/>
          <a:ext cx="3430588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9" name="Equation" r:id="rId7" imgW="1714500" imgH="812800" progId="Equation.DSMT4">
                  <p:embed/>
                </p:oleObj>
              </mc:Choice>
              <mc:Fallback>
                <p:oleObj name="Equation" r:id="rId7" imgW="1714500" imgH="812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765175"/>
                        <a:ext cx="3430588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10"/>
          <p:cNvGraphicFramePr>
            <a:graphicFrameLocks noChangeAspect="1"/>
          </p:cNvGraphicFramePr>
          <p:nvPr/>
        </p:nvGraphicFramePr>
        <p:xfrm>
          <a:off x="152400" y="2347913"/>
          <a:ext cx="3429000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0" name="Equation" r:id="rId9" imgW="1841500" imgH="812800" progId="Equation.DSMT4">
                  <p:embed/>
                </p:oleObj>
              </mc:Choice>
              <mc:Fallback>
                <p:oleObj name="Equation" r:id="rId9" imgW="1841500" imgH="812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347913"/>
                        <a:ext cx="3429000" cy="1512887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2"/>
          <p:cNvGraphicFramePr>
            <a:graphicFrameLocks noChangeAspect="1"/>
          </p:cNvGraphicFramePr>
          <p:nvPr/>
        </p:nvGraphicFramePr>
        <p:xfrm>
          <a:off x="4659313" y="4437063"/>
          <a:ext cx="39655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1" name="Equation" r:id="rId11" imgW="1765300" imgH="228600" progId="Equation.DSMT4">
                  <p:embed/>
                </p:oleObj>
              </mc:Choice>
              <mc:Fallback>
                <p:oleObj name="Equation" r:id="rId11" imgW="17653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3" y="4437063"/>
                        <a:ext cx="3965575" cy="512762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3"/>
          <p:cNvGraphicFramePr>
            <a:graphicFrameLocks noChangeAspect="1"/>
          </p:cNvGraphicFramePr>
          <p:nvPr/>
        </p:nvGraphicFramePr>
        <p:xfrm>
          <a:off x="4673600" y="3933825"/>
          <a:ext cx="38528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2" name="Equation" r:id="rId13" imgW="1714500" imgH="228600" progId="Equation.DSMT4">
                  <p:embed/>
                </p:oleObj>
              </mc:Choice>
              <mc:Fallback>
                <p:oleObj name="Equation" r:id="rId13" imgW="17145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3933825"/>
                        <a:ext cx="38528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7" name="Object 17"/>
          <p:cNvGraphicFramePr>
            <a:graphicFrameLocks noChangeAspect="1"/>
          </p:cNvGraphicFramePr>
          <p:nvPr/>
        </p:nvGraphicFramePr>
        <p:xfrm>
          <a:off x="107950" y="5373688"/>
          <a:ext cx="30432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3" name="Equation" r:id="rId15" imgW="1333613" imgH="176264" progId="Equation.DSMT4">
                  <p:embed/>
                </p:oleObj>
              </mc:Choice>
              <mc:Fallback>
                <p:oleObj name="Equation" r:id="rId15" imgW="1333613" imgH="176264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5373688"/>
                        <a:ext cx="304323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8" name="Object 18"/>
          <p:cNvGraphicFramePr>
            <a:graphicFrameLocks noChangeAspect="1"/>
          </p:cNvGraphicFramePr>
          <p:nvPr/>
        </p:nvGraphicFramePr>
        <p:xfrm>
          <a:off x="109538" y="5734050"/>
          <a:ext cx="343058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4" name="Equation" r:id="rId17" imgW="1509586" imgH="190413" progId="Equation.DSMT4">
                  <p:embed/>
                </p:oleObj>
              </mc:Choice>
              <mc:Fallback>
                <p:oleObj name="Equation" r:id="rId17" imgW="1509586" imgH="19041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8" y="5734050"/>
                        <a:ext cx="343058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9" name="Object 19"/>
          <p:cNvGraphicFramePr>
            <a:graphicFrameLocks noChangeAspect="1"/>
          </p:cNvGraphicFramePr>
          <p:nvPr/>
        </p:nvGraphicFramePr>
        <p:xfrm>
          <a:off x="122238" y="6165850"/>
          <a:ext cx="49434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5" name="Equation" r:id="rId19" imgW="2195461" imgH="176264" progId="Equation.DSMT4">
                  <p:embed/>
                </p:oleObj>
              </mc:Choice>
              <mc:Fallback>
                <p:oleObj name="Equation" r:id="rId19" imgW="2195461" imgH="176264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8" y="6165850"/>
                        <a:ext cx="49434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Line 21"/>
          <p:cNvSpPr>
            <a:spLocks noChangeShapeType="1"/>
          </p:cNvSpPr>
          <p:nvPr/>
        </p:nvSpPr>
        <p:spPr bwMode="auto">
          <a:xfrm>
            <a:off x="3779838" y="1057275"/>
            <a:ext cx="0" cy="41910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400" name="Object 23"/>
          <p:cNvGraphicFramePr>
            <a:graphicFrameLocks noChangeAspect="1"/>
          </p:cNvGraphicFramePr>
          <p:nvPr/>
        </p:nvGraphicFramePr>
        <p:xfrm>
          <a:off x="4953000" y="2339975"/>
          <a:ext cx="1630363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6" name="Visio" r:id="rId21" imgW="1066950" imgH="704763" progId="Visio.Drawing.11">
                  <p:embed/>
                </p:oleObj>
              </mc:Choice>
              <mc:Fallback>
                <p:oleObj name="Visio" r:id="rId21" imgW="1066950" imgH="704763" progId="Visio.Drawing.11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339975"/>
                        <a:ext cx="1630363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24"/>
          <p:cNvGraphicFramePr>
            <a:graphicFrameLocks noChangeAspect="1"/>
          </p:cNvGraphicFramePr>
          <p:nvPr/>
        </p:nvGraphicFramePr>
        <p:xfrm>
          <a:off x="4673600" y="4941888"/>
          <a:ext cx="3937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7" name="Equation" r:id="rId23" imgW="1752600" imgH="228600" progId="Equation.DSMT4">
                  <p:embed/>
                </p:oleObj>
              </mc:Choice>
              <mc:Fallback>
                <p:oleObj name="Equation" r:id="rId23" imgW="175260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4941888"/>
                        <a:ext cx="39370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65" name="Rectangle 25"/>
          <p:cNvSpPr>
            <a:spLocks noChangeArrowheads="1"/>
          </p:cNvSpPr>
          <p:nvPr/>
        </p:nvSpPr>
        <p:spPr bwMode="auto">
          <a:xfrm>
            <a:off x="3402013" y="5392180"/>
            <a:ext cx="50321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accent2"/>
                </a:solidFill>
                <a:ea typeface="华文新魏" panose="02010800040101010101" pitchFamily="2" charset="-122"/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  <a:ea typeface="华文新魏" panose="02010800040101010101" pitchFamily="2" charset="-122"/>
              </a:rPr>
              <a:t>自电导</a:t>
            </a:r>
            <a:r>
              <a:rPr lang="en-US" altLang="zh-CN" dirty="0" smtClean="0">
                <a:solidFill>
                  <a:schemeClr val="accent2"/>
                </a:solidFill>
                <a:ea typeface="华文新魏" panose="02010800040101010101" pitchFamily="2" charset="-122"/>
              </a:rPr>
              <a:t>——</a:t>
            </a:r>
            <a:r>
              <a:rPr lang="en-US" altLang="zh-CN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结点上各支路电导之和</a:t>
            </a:r>
          </a:p>
        </p:txBody>
      </p:sp>
      <p:sp>
        <p:nvSpPr>
          <p:cNvPr id="215066" name="Rectangle 26"/>
          <p:cNvSpPr>
            <a:spLocks noChangeArrowheads="1"/>
          </p:cNvSpPr>
          <p:nvPr/>
        </p:nvSpPr>
        <p:spPr bwMode="auto">
          <a:xfrm>
            <a:off x="3466570" y="5741987"/>
            <a:ext cx="54938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dirty="0" smtClean="0">
                <a:solidFill>
                  <a:schemeClr val="accent2"/>
                </a:solidFill>
                <a:ea typeface="华文新魏" panose="02010800040101010101" pitchFamily="2" charset="-122"/>
              </a:rPr>
              <a:t>互电导</a:t>
            </a:r>
            <a:r>
              <a:rPr lang="en-US" altLang="zh-CN" dirty="0" smtClean="0">
                <a:solidFill>
                  <a:schemeClr val="accent2"/>
                </a:solidFill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华文新魏" panose="02010800040101010101" pitchFamily="2" charset="-122"/>
              </a:rPr>
              <a:t>——</a:t>
            </a:r>
            <a:r>
              <a:rPr lang="en-US" altLang="zh-CN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en-US" altLang="zh-CN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</a:t>
            </a:r>
            <a:r>
              <a:rPr lang="zh-CN" altLang="en-US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结点间支路电导的负值</a:t>
            </a:r>
          </a:p>
        </p:txBody>
      </p:sp>
      <p:sp>
        <p:nvSpPr>
          <p:cNvPr id="215067" name="Rectangle 27"/>
          <p:cNvSpPr>
            <a:spLocks noChangeArrowheads="1"/>
          </p:cNvSpPr>
          <p:nvPr/>
        </p:nvSpPr>
        <p:spPr bwMode="auto">
          <a:xfrm>
            <a:off x="4271963" y="6165850"/>
            <a:ext cx="490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华文新魏" panose="02010800040101010101" pitchFamily="2" charset="-122"/>
              </a:rPr>
              <a:t>        —</a:t>
            </a:r>
            <a:r>
              <a:rPr lang="zh-CN" altLang="en-US">
                <a:solidFill>
                  <a:schemeClr val="accent2"/>
                </a:solidFill>
                <a:ea typeface="华文新魏" panose="02010800040101010101" pitchFamily="2" charset="-122"/>
              </a:rPr>
              <a:t>流入</a:t>
            </a:r>
            <a:r>
              <a:rPr lang="en-US" altLang="zh-CN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结点所有电流源代数和</a:t>
            </a:r>
          </a:p>
        </p:txBody>
      </p:sp>
      <p:sp>
        <p:nvSpPr>
          <p:cNvPr id="215069" name="Line 29"/>
          <p:cNvSpPr>
            <a:spLocks noChangeShapeType="1"/>
          </p:cNvSpPr>
          <p:nvPr/>
        </p:nvSpPr>
        <p:spPr bwMode="auto">
          <a:xfrm>
            <a:off x="5292725" y="3079750"/>
            <a:ext cx="287338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0" name="Line 30"/>
          <p:cNvSpPr>
            <a:spLocks noChangeShapeType="1"/>
          </p:cNvSpPr>
          <p:nvPr/>
        </p:nvSpPr>
        <p:spPr bwMode="auto">
          <a:xfrm>
            <a:off x="6300788" y="992188"/>
            <a:ext cx="287337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1" name="Line 31"/>
          <p:cNvSpPr>
            <a:spLocks noChangeShapeType="1"/>
          </p:cNvSpPr>
          <p:nvPr/>
        </p:nvSpPr>
        <p:spPr bwMode="auto">
          <a:xfrm>
            <a:off x="4687888" y="2276475"/>
            <a:ext cx="0" cy="2159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3" name="Rectangle 33"/>
          <p:cNvSpPr>
            <a:spLocks noChangeArrowheads="1"/>
          </p:cNvSpPr>
          <p:nvPr/>
        </p:nvSpPr>
        <p:spPr bwMode="auto">
          <a:xfrm>
            <a:off x="179388" y="825500"/>
            <a:ext cx="3455987" cy="792163"/>
          </a:xfrm>
          <a:prstGeom prst="rect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15074" name="Oval 34"/>
          <p:cNvSpPr>
            <a:spLocks noChangeArrowheads="1"/>
          </p:cNvSpPr>
          <p:nvPr/>
        </p:nvSpPr>
        <p:spPr bwMode="auto">
          <a:xfrm>
            <a:off x="4211638" y="1628775"/>
            <a:ext cx="647700" cy="576263"/>
          </a:xfrm>
          <a:prstGeom prst="ellipse">
            <a:avLst/>
          </a:prstGeom>
          <a:noFill/>
          <a:ln w="19050">
            <a:solidFill>
              <a:srgbClr val="FF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3000" fill="hold"/>
                                        <p:tgtEl>
                                          <p:spTgt spid="215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215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215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215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215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215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215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215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0" fill="hold"/>
                                        <p:tgtEl>
                                          <p:spTgt spid="215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3000" fill="hold"/>
                                        <p:tgtEl>
                                          <p:spTgt spid="215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5" grpId="0"/>
      <p:bldP spid="215066" grpId="0"/>
      <p:bldP spid="215067" grpId="0"/>
      <p:bldP spid="215073" grpId="0" animBg="1"/>
      <p:bldP spid="21507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03200" y="593725"/>
            <a:ext cx="2081213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将上述结论 推广到有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个独立节点的仅含电阻、电流源的电路  </a:t>
            </a:r>
          </a:p>
        </p:txBody>
      </p:sp>
      <p:grpSp>
        <p:nvGrpSpPr>
          <p:cNvPr id="130051" name="Group 3"/>
          <p:cNvGrpSpPr>
            <a:grpSpLocks/>
          </p:cNvGrpSpPr>
          <p:nvPr/>
        </p:nvGrpSpPr>
        <p:grpSpPr bwMode="auto">
          <a:xfrm>
            <a:off x="2400300" y="403225"/>
            <a:ext cx="4468813" cy="2173288"/>
            <a:chOff x="960" y="362"/>
            <a:chExt cx="2815" cy="1369"/>
          </a:xfrm>
        </p:grpSpPr>
        <p:sp>
          <p:nvSpPr>
            <p:cNvPr id="130052" name="Text Box 4"/>
            <p:cNvSpPr txBox="1">
              <a:spLocks noChangeArrowheads="1"/>
            </p:cNvSpPr>
            <p:nvPr/>
          </p:nvSpPr>
          <p:spPr bwMode="auto">
            <a:xfrm>
              <a:off x="1104" y="362"/>
              <a:ext cx="262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11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n1</a:t>
              </a:r>
              <a:r>
                <a:rPr lang="en-US" altLang="zh-CN" sz="2400" b="1">
                  <a:solidFill>
                    <a:srgbClr val="3333FF"/>
                  </a:solidFill>
                  <a:latin typeface="+mn-lt"/>
                </a:rPr>
                <a:t>+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12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n2</a:t>
              </a:r>
              <a:r>
                <a:rPr lang="en-US" altLang="zh-CN" sz="2400" b="1">
                  <a:solidFill>
                    <a:srgbClr val="3333FF"/>
                  </a:solidFill>
                  <a:latin typeface="+mn-lt"/>
                </a:rPr>
                <a:t>+…+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1n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nn</a:t>
              </a:r>
              <a:r>
                <a:rPr lang="en-US" altLang="zh-CN" sz="2400" b="1">
                  <a:solidFill>
                    <a:srgbClr val="3333FF"/>
                  </a:solidFill>
                  <a:latin typeface="+mn-lt"/>
                </a:rPr>
                <a:t>=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i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Sn1  </a:t>
              </a:r>
              <a:endParaRPr lang="en-US" altLang="zh-CN" sz="2400" b="1" i="1">
                <a:solidFill>
                  <a:srgbClr val="3333FF"/>
                </a:solidFill>
                <a:latin typeface="+mn-lt"/>
              </a:endParaRPr>
            </a:p>
          </p:txBody>
        </p:sp>
        <p:sp>
          <p:nvSpPr>
            <p:cNvPr id="130053" name="Text Box 5"/>
            <p:cNvSpPr txBox="1">
              <a:spLocks noChangeArrowheads="1"/>
            </p:cNvSpPr>
            <p:nvPr/>
          </p:nvSpPr>
          <p:spPr bwMode="auto">
            <a:xfrm>
              <a:off x="1114" y="720"/>
              <a:ext cx="263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i="1" dirty="0">
                  <a:solidFill>
                    <a:srgbClr val="3333FF"/>
                  </a:solidFill>
                  <a:latin typeface="+mn-lt"/>
                </a:rPr>
                <a:t>G</a:t>
              </a:r>
              <a:r>
                <a:rPr lang="en-US" altLang="zh-CN" sz="2400" b="1" baseline="-25000" dirty="0">
                  <a:solidFill>
                    <a:srgbClr val="3333FF"/>
                  </a:solidFill>
                  <a:latin typeface="+mn-lt"/>
                </a:rPr>
                <a:t>21</a:t>
              </a:r>
              <a:r>
                <a:rPr lang="en-US" altLang="zh-CN" sz="2400" b="1" i="1" dirty="0">
                  <a:solidFill>
                    <a:srgbClr val="3333FF"/>
                  </a:solidFill>
                  <a:latin typeface="+mn-lt"/>
                </a:rPr>
                <a:t>u</a:t>
              </a:r>
              <a:r>
                <a:rPr lang="en-US" altLang="zh-CN" sz="2400" b="1" baseline="-25000" dirty="0">
                  <a:solidFill>
                    <a:srgbClr val="3333FF"/>
                  </a:solidFill>
                  <a:latin typeface="+mn-lt"/>
                </a:rPr>
                <a:t>n1</a:t>
              </a:r>
              <a:r>
                <a:rPr lang="en-US" altLang="zh-CN" sz="2400" b="1" dirty="0">
                  <a:solidFill>
                    <a:srgbClr val="3333FF"/>
                  </a:solidFill>
                  <a:latin typeface="+mn-lt"/>
                </a:rPr>
                <a:t>+</a:t>
              </a:r>
              <a:r>
                <a:rPr lang="en-US" altLang="zh-CN" sz="2400" b="1" i="1" dirty="0">
                  <a:solidFill>
                    <a:srgbClr val="3333FF"/>
                  </a:solidFill>
                  <a:latin typeface="+mn-lt"/>
                </a:rPr>
                <a:t>G</a:t>
              </a:r>
              <a:r>
                <a:rPr lang="en-US" altLang="zh-CN" sz="2400" b="1" baseline="-25000" dirty="0">
                  <a:solidFill>
                    <a:srgbClr val="3333FF"/>
                  </a:solidFill>
                  <a:latin typeface="+mn-lt"/>
                </a:rPr>
                <a:t>22</a:t>
              </a:r>
              <a:r>
                <a:rPr lang="en-US" altLang="zh-CN" sz="2400" b="1" i="1" dirty="0">
                  <a:solidFill>
                    <a:srgbClr val="3333FF"/>
                  </a:solidFill>
                  <a:latin typeface="+mn-lt"/>
                </a:rPr>
                <a:t>u</a:t>
              </a:r>
              <a:r>
                <a:rPr lang="en-US" altLang="zh-CN" sz="2400" b="1" baseline="-25000" dirty="0">
                  <a:solidFill>
                    <a:srgbClr val="3333FF"/>
                  </a:solidFill>
                  <a:latin typeface="+mn-lt"/>
                </a:rPr>
                <a:t>n2</a:t>
              </a:r>
              <a:r>
                <a:rPr lang="en-US" altLang="zh-CN" sz="2400" b="1" dirty="0">
                  <a:solidFill>
                    <a:srgbClr val="3333FF"/>
                  </a:solidFill>
                  <a:latin typeface="+mn-lt"/>
                </a:rPr>
                <a:t>+…+</a:t>
              </a:r>
              <a:r>
                <a:rPr lang="en-US" altLang="zh-CN" sz="2400" b="1" i="1" dirty="0">
                  <a:solidFill>
                    <a:srgbClr val="3333FF"/>
                  </a:solidFill>
                  <a:latin typeface="+mn-lt"/>
                </a:rPr>
                <a:t>G</a:t>
              </a:r>
              <a:r>
                <a:rPr lang="en-US" altLang="zh-CN" sz="2400" b="1" baseline="-25000" dirty="0">
                  <a:solidFill>
                    <a:srgbClr val="3333FF"/>
                  </a:solidFill>
                  <a:latin typeface="+mn-lt"/>
                </a:rPr>
                <a:t>2n</a:t>
              </a:r>
              <a:r>
                <a:rPr lang="en-US" altLang="zh-CN" sz="2400" b="1" i="1" dirty="0">
                  <a:solidFill>
                    <a:srgbClr val="3333FF"/>
                  </a:solidFill>
                  <a:latin typeface="+mn-lt"/>
                </a:rPr>
                <a:t>u</a:t>
              </a:r>
              <a:r>
                <a:rPr lang="en-US" altLang="zh-CN" sz="2400" b="1" baseline="-25000" dirty="0">
                  <a:solidFill>
                    <a:srgbClr val="3333FF"/>
                  </a:solidFill>
                  <a:latin typeface="+mn-lt"/>
                </a:rPr>
                <a:t>nn</a:t>
              </a:r>
              <a:r>
                <a:rPr lang="en-US" altLang="zh-CN" sz="2400" b="1" dirty="0">
                  <a:solidFill>
                    <a:srgbClr val="3333FF"/>
                  </a:solidFill>
                  <a:latin typeface="+mn-lt"/>
                </a:rPr>
                <a:t>=</a:t>
              </a:r>
              <a:r>
                <a:rPr lang="en-US" altLang="zh-CN" sz="2400" b="1" i="1" dirty="0">
                  <a:solidFill>
                    <a:srgbClr val="3333FF"/>
                  </a:solidFill>
                  <a:latin typeface="+mn-lt"/>
                </a:rPr>
                <a:t>i</a:t>
              </a:r>
              <a:r>
                <a:rPr lang="en-US" altLang="zh-CN" sz="2400" b="1" baseline="-25000" dirty="0">
                  <a:solidFill>
                    <a:srgbClr val="3333FF"/>
                  </a:solidFill>
                  <a:latin typeface="+mn-lt"/>
                </a:rPr>
                <a:t>Sn2  </a:t>
              </a:r>
              <a:endParaRPr lang="en-US" altLang="zh-CN" sz="2400" b="1" i="1" dirty="0">
                <a:solidFill>
                  <a:srgbClr val="3333FF"/>
                </a:solidFill>
                <a:latin typeface="+mn-lt"/>
              </a:endParaRPr>
            </a:p>
          </p:txBody>
        </p:sp>
        <p:sp>
          <p:nvSpPr>
            <p:cNvPr id="130054" name="Text Box 6"/>
            <p:cNvSpPr txBox="1">
              <a:spLocks noChangeArrowheads="1"/>
            </p:cNvSpPr>
            <p:nvPr/>
          </p:nvSpPr>
          <p:spPr bwMode="auto">
            <a:xfrm>
              <a:off x="1286" y="1092"/>
              <a:ext cx="10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3333FF"/>
                  </a:solidFill>
                  <a:latin typeface="+mn-lt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130055" name="Text Box 7"/>
            <p:cNvSpPr txBox="1">
              <a:spLocks noChangeArrowheads="1"/>
            </p:cNvSpPr>
            <p:nvPr/>
          </p:nvSpPr>
          <p:spPr bwMode="auto">
            <a:xfrm>
              <a:off x="1114" y="1440"/>
              <a:ext cx="26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n1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n1</a:t>
              </a:r>
              <a:r>
                <a:rPr lang="en-US" altLang="zh-CN" sz="2400" b="1">
                  <a:solidFill>
                    <a:srgbClr val="3333FF"/>
                  </a:solidFill>
                  <a:latin typeface="+mn-lt"/>
                </a:rPr>
                <a:t>+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n2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n2</a:t>
              </a:r>
              <a:r>
                <a:rPr lang="en-US" altLang="zh-CN" sz="2400" b="1">
                  <a:solidFill>
                    <a:srgbClr val="3333FF"/>
                  </a:solidFill>
                  <a:latin typeface="+mn-lt"/>
                </a:rPr>
                <a:t>+…+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nn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nn</a:t>
              </a:r>
              <a:r>
                <a:rPr lang="en-US" altLang="zh-CN" sz="2400" b="1">
                  <a:solidFill>
                    <a:srgbClr val="3333FF"/>
                  </a:solidFill>
                  <a:latin typeface="+mn-lt"/>
                </a:rPr>
                <a:t>=</a:t>
              </a:r>
              <a:r>
                <a:rPr lang="en-US" altLang="zh-CN" sz="2400" b="1" i="1">
                  <a:solidFill>
                    <a:srgbClr val="3333FF"/>
                  </a:solidFill>
                  <a:latin typeface="+mn-lt"/>
                </a:rPr>
                <a:t>i</a:t>
              </a:r>
              <a:r>
                <a:rPr lang="en-US" altLang="zh-CN" sz="2400" b="1" baseline="-25000">
                  <a:solidFill>
                    <a:srgbClr val="3333FF"/>
                  </a:solidFill>
                  <a:latin typeface="+mn-lt"/>
                </a:rPr>
                <a:t>Snn  </a:t>
              </a:r>
              <a:endParaRPr lang="en-US" altLang="zh-CN" sz="2400" b="1" i="1">
                <a:solidFill>
                  <a:srgbClr val="3333FF"/>
                </a:solidFill>
                <a:latin typeface="+mn-lt"/>
              </a:endParaRPr>
            </a:p>
          </p:txBody>
        </p:sp>
        <p:sp>
          <p:nvSpPr>
            <p:cNvPr id="130056" name="AutoShape 8"/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400">
                <a:latin typeface="+mn-lt"/>
              </a:endParaRPr>
            </a:p>
          </p:txBody>
        </p:sp>
      </p:grpSp>
      <p:sp>
        <p:nvSpPr>
          <p:cNvPr id="130057" name="Text Box 9"/>
          <p:cNvSpPr txBox="1">
            <a:spLocks noChangeArrowheads="1"/>
          </p:cNvSpPr>
          <p:nvPr/>
        </p:nvSpPr>
        <p:spPr bwMode="auto">
          <a:xfrm>
            <a:off x="541338" y="2744788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幼圆" panose="02010509060101010101" pitchFamily="49" charset="-122"/>
                <a:ea typeface="幼圆" panose="02010509060101010101" pitchFamily="49" charset="-122"/>
              </a:rPr>
              <a:t>其中  </a:t>
            </a:r>
          </a:p>
        </p:txBody>
      </p:sp>
      <p:sp>
        <p:nvSpPr>
          <p:cNvPr id="130058" name="Text Box 10"/>
          <p:cNvSpPr txBox="1">
            <a:spLocks noChangeArrowheads="1"/>
          </p:cNvSpPr>
          <p:nvPr/>
        </p:nvSpPr>
        <p:spPr bwMode="auto">
          <a:xfrm>
            <a:off x="1527175" y="2708275"/>
            <a:ext cx="697865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ii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ea typeface="宋体" panose="02010600030101010101" pitchFamily="2" charset="-122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自电导</a:t>
            </a:r>
            <a:r>
              <a:rPr lang="zh-CN" altLang="en-US" b="1" dirty="0">
                <a:ea typeface="宋体" panose="02010600030101010101" pitchFamily="2" charset="-122"/>
              </a:rPr>
              <a:t>，</a:t>
            </a:r>
            <a:r>
              <a:rPr lang="zh-CN" altLang="zh-CN" b="1" dirty="0">
                <a:ea typeface="宋体" panose="02010600030101010101" pitchFamily="2" charset="-122"/>
              </a:rPr>
              <a:t>等于接在节点</a:t>
            </a:r>
            <a:r>
              <a:rPr lang="en-US" altLang="zh-CN" b="1" i="1" dirty="0" err="1">
                <a:ea typeface="宋体" panose="02010600030101010101" pitchFamily="2" charset="-122"/>
              </a:rPr>
              <a:t>i</a:t>
            </a:r>
            <a:r>
              <a:rPr lang="zh-CN" altLang="zh-CN" b="1" dirty="0">
                <a:ea typeface="宋体" panose="02010600030101010101" pitchFamily="2" charset="-122"/>
              </a:rPr>
              <a:t>上所有支路的电导之</a:t>
            </a:r>
            <a:r>
              <a:rPr lang="zh-CN" altLang="en-US" b="1" dirty="0">
                <a:ea typeface="宋体" panose="02010600030101010101" pitchFamily="2" charset="-122"/>
              </a:rPr>
              <a:t> </a:t>
            </a:r>
            <a:r>
              <a:rPr lang="zh-CN" altLang="zh-CN" b="1" dirty="0">
                <a:ea typeface="宋体" panose="02010600030101010101" pitchFamily="2" charset="-122"/>
              </a:rPr>
              <a:t>和</a:t>
            </a:r>
            <a:r>
              <a:rPr lang="zh-CN" altLang="en-US" b="1" dirty="0">
                <a:ea typeface="宋体" panose="02010600030101010101" pitchFamily="2" charset="-122"/>
              </a:rPr>
              <a:t>，总为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正</a:t>
            </a:r>
            <a:r>
              <a:rPr lang="zh-CN" altLang="en-US" b="1" dirty="0">
                <a:ea typeface="宋体" panose="02010600030101010101" pitchFamily="2" charset="-122"/>
              </a:rPr>
              <a:t>。   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30059" name="Text Box 11"/>
          <p:cNvSpPr txBox="1">
            <a:spLocks noChangeArrowheads="1"/>
          </p:cNvSpPr>
          <p:nvPr/>
        </p:nvSpPr>
        <p:spPr bwMode="auto">
          <a:xfrm>
            <a:off x="833438" y="5568950"/>
            <a:ext cx="7340600" cy="466725"/>
          </a:xfrm>
          <a:prstGeom prst="rect">
            <a:avLst/>
          </a:prstGeom>
          <a:solidFill>
            <a:srgbClr val="66FF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 * </a:t>
            </a:r>
            <a:r>
              <a:rPr lang="zh-CN" altLang="en-US" b="1" dirty="0">
                <a:ea typeface="宋体" panose="02010600030101010101" pitchFamily="2" charset="-122"/>
              </a:rPr>
              <a:t>当电路含受控源时，系数矩阵一般不再为对称阵。  </a:t>
            </a:r>
          </a:p>
        </p:txBody>
      </p:sp>
      <p:sp>
        <p:nvSpPr>
          <p:cNvPr id="130060" name="Text Box 12"/>
          <p:cNvSpPr txBox="1">
            <a:spLocks noChangeArrowheads="1"/>
          </p:cNvSpPr>
          <p:nvPr/>
        </p:nvSpPr>
        <p:spPr bwMode="auto">
          <a:xfrm>
            <a:off x="1581150" y="4611688"/>
            <a:ext cx="690562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b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Sn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b="1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ea typeface="宋体" panose="02010600030101010101" pitchFamily="2" charset="-122"/>
              </a:rPr>
              <a:t>— </a:t>
            </a:r>
            <a:r>
              <a:rPr lang="zh-CN" altLang="en-US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等效电流源</a:t>
            </a:r>
            <a:r>
              <a:rPr lang="zh-CN" altLang="en-US" b="1" dirty="0" smtClean="0">
                <a:ea typeface="宋体" panose="02010600030101010101" pitchFamily="2" charset="-122"/>
              </a:rPr>
              <a:t>流入</a:t>
            </a:r>
            <a:r>
              <a:rPr lang="zh-CN" altLang="en-US" b="1" dirty="0">
                <a:ea typeface="宋体" panose="02010600030101010101" pitchFamily="2" charset="-122"/>
              </a:rPr>
              <a:t>节点</a:t>
            </a:r>
            <a:r>
              <a:rPr lang="en-US" altLang="zh-CN" b="1" i="1" dirty="0" err="1">
                <a:ea typeface="宋体" panose="02010600030101010101" pitchFamily="2" charset="-122"/>
              </a:rPr>
              <a:t>i</a:t>
            </a:r>
            <a:r>
              <a:rPr lang="zh-CN" altLang="en-US" b="1" dirty="0">
                <a:ea typeface="宋体" panose="02010600030101010101" pitchFamily="2" charset="-122"/>
              </a:rPr>
              <a:t>的所有电流源电流的代数和。  </a:t>
            </a:r>
          </a:p>
        </p:txBody>
      </p:sp>
      <p:sp>
        <p:nvSpPr>
          <p:cNvPr id="130061" name="Text Box 13"/>
          <p:cNvSpPr txBox="1">
            <a:spLocks noChangeArrowheads="1"/>
          </p:cNvSpPr>
          <p:nvPr/>
        </p:nvSpPr>
        <p:spPr bwMode="auto">
          <a:xfrm>
            <a:off x="1485900" y="3638550"/>
            <a:ext cx="73533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b="1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ij</a:t>
            </a:r>
            <a:r>
              <a:rPr lang="en-US" altLang="zh-CN" b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ji</a:t>
            </a:r>
            <a:r>
              <a:rPr lang="en-US" altLang="zh-CN" b="1" i="1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互电导</a:t>
            </a:r>
            <a:r>
              <a:rPr lang="zh-CN" altLang="en-US" b="1" dirty="0">
                <a:ea typeface="宋体" panose="02010600030101010101" pitchFamily="2" charset="-122"/>
              </a:rPr>
              <a:t>，</a:t>
            </a:r>
            <a:r>
              <a:rPr lang="zh-CN" altLang="zh-CN" b="1" dirty="0">
                <a:ea typeface="宋体" panose="02010600030101010101" pitchFamily="2" charset="-122"/>
              </a:rPr>
              <a:t>等于接在节点</a:t>
            </a:r>
            <a:r>
              <a:rPr lang="en-US" altLang="zh-CN" b="1" i="1" dirty="0" err="1">
                <a:ea typeface="宋体" panose="02010600030101010101" pitchFamily="2" charset="-122"/>
              </a:rPr>
              <a:t>i</a:t>
            </a:r>
            <a:r>
              <a:rPr lang="zh-CN" altLang="zh-CN" b="1" dirty="0">
                <a:ea typeface="宋体" panose="02010600030101010101" pitchFamily="2" charset="-122"/>
              </a:rPr>
              <a:t>与节点</a:t>
            </a:r>
            <a:r>
              <a:rPr lang="en-US" altLang="zh-CN" b="1" i="1" dirty="0">
                <a:ea typeface="宋体" panose="02010600030101010101" pitchFamily="2" charset="-122"/>
              </a:rPr>
              <a:t>j</a:t>
            </a:r>
            <a:r>
              <a:rPr lang="zh-CN" altLang="zh-CN" b="1" dirty="0">
                <a:ea typeface="宋体" panose="02010600030101010101" pitchFamily="2" charset="-122"/>
              </a:rPr>
              <a:t>之间</a:t>
            </a:r>
            <a:r>
              <a:rPr lang="zh-CN" altLang="zh-CN" b="1" dirty="0" smtClean="0">
                <a:ea typeface="宋体" panose="02010600030101010101" pitchFamily="2" charset="-122"/>
              </a:rPr>
              <a:t>的支</a:t>
            </a:r>
            <a:endParaRPr lang="zh-CN" altLang="en-US" b="1" dirty="0"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ea typeface="宋体" panose="02010600030101010101" pitchFamily="2" charset="-122"/>
              </a:rPr>
              <a:t>                    </a:t>
            </a:r>
            <a:r>
              <a:rPr lang="zh-CN" altLang="zh-CN" b="1" dirty="0">
                <a:ea typeface="宋体" panose="02010600030101010101" pitchFamily="2" charset="-122"/>
              </a:rPr>
              <a:t>路的电导之和，并冠以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负</a:t>
            </a:r>
            <a:r>
              <a:rPr lang="zh-CN" altLang="zh-CN" b="1" dirty="0">
                <a:ea typeface="宋体" panose="02010600030101010101" pitchFamily="2" charset="-122"/>
              </a:rPr>
              <a:t>号。</a:t>
            </a:r>
            <a:r>
              <a:rPr lang="zh-CN" altLang="en-US" b="1" dirty="0">
                <a:ea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7" grpId="0" autoUpdateAnimBg="0"/>
      <p:bldP spid="130058" grpId="0" autoUpdateAnimBg="0"/>
      <p:bldP spid="130059" grpId="0" animBg="1" autoUpdateAnimBg="0"/>
      <p:bldP spid="130060" grpId="0" autoUpdateAnimBg="0"/>
      <p:bldP spid="13006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94F5383-A7DF-4FF9-A5A3-A0FBEA858B2D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DFD6EA-5A04-4D87-939D-9D3B5685D3AA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graphicFrame>
        <p:nvGraphicFramePr>
          <p:cNvPr id="216067" name="Object 3"/>
          <p:cNvGraphicFramePr>
            <a:graphicFrameLocks noChangeAspect="1"/>
          </p:cNvGraphicFramePr>
          <p:nvPr/>
        </p:nvGraphicFramePr>
        <p:xfrm>
          <a:off x="3810000" y="196850"/>
          <a:ext cx="5092700" cy="391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2" name="VISIO" r:id="rId3" imgW="2829923" imgH="2168087" progId="Visio.Drawing.5">
                  <p:embed/>
                </p:oleObj>
              </mc:Choice>
              <mc:Fallback>
                <p:oleObj name="VISIO" r:id="rId3" imgW="2829923" imgH="2168087" progId="Visio.Drawing.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6850"/>
                        <a:ext cx="5092700" cy="391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6090" name="Group 26"/>
          <p:cNvGrpSpPr>
            <a:grpSpLocks/>
          </p:cNvGrpSpPr>
          <p:nvPr/>
        </p:nvGrpSpPr>
        <p:grpSpPr bwMode="auto">
          <a:xfrm>
            <a:off x="4724400" y="2057400"/>
            <a:ext cx="2044700" cy="1095375"/>
            <a:chOff x="2976" y="1296"/>
            <a:chExt cx="1288" cy="690"/>
          </a:xfrm>
        </p:grpSpPr>
        <p:graphicFrame>
          <p:nvGraphicFramePr>
            <p:cNvPr id="18452" name="Object 20"/>
            <p:cNvGraphicFramePr>
              <a:graphicFrameLocks noChangeAspect="1"/>
            </p:cNvGraphicFramePr>
            <p:nvPr/>
          </p:nvGraphicFramePr>
          <p:xfrm>
            <a:off x="3456" y="1584"/>
            <a:ext cx="363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3" name="Visio" r:id="rId5" imgW="266662" imgH="109649" progId="Visio.Drawing.11">
                    <p:embed/>
                  </p:oleObj>
                </mc:Choice>
                <mc:Fallback>
                  <p:oleObj name="Visio" r:id="rId5" imgW="266662" imgH="109649" progId="Visio.Drawing.11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584"/>
                          <a:ext cx="363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 flipH="1" flipV="1">
              <a:off x="2976" y="1296"/>
              <a:ext cx="528" cy="38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Line 23"/>
            <p:cNvSpPr>
              <a:spLocks noChangeShapeType="1"/>
            </p:cNvSpPr>
            <p:nvPr/>
          </p:nvSpPr>
          <p:spPr bwMode="auto">
            <a:xfrm flipH="1">
              <a:off x="3784" y="1296"/>
              <a:ext cx="480" cy="38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5" name="Object 24"/>
            <p:cNvGraphicFramePr>
              <a:graphicFrameLocks noChangeAspect="1"/>
            </p:cNvGraphicFramePr>
            <p:nvPr/>
          </p:nvGraphicFramePr>
          <p:xfrm>
            <a:off x="3507" y="1776"/>
            <a:ext cx="285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4" name="Equation" r:id="rId7" imgW="241091" imgH="177646" progId="Equation.DSMT4">
                    <p:embed/>
                  </p:oleObj>
                </mc:Choice>
                <mc:Fallback>
                  <p:oleObj name="Equation" r:id="rId7" imgW="241091" imgH="177646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7" y="1776"/>
                          <a:ext cx="285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6094" name="Group 30"/>
          <p:cNvGrpSpPr>
            <a:grpSpLocks/>
          </p:cNvGrpSpPr>
          <p:nvPr/>
        </p:nvGrpSpPr>
        <p:grpSpPr bwMode="auto">
          <a:xfrm>
            <a:off x="395288" y="1844675"/>
            <a:ext cx="2209800" cy="762000"/>
            <a:chOff x="240" y="3408"/>
            <a:chExt cx="1392" cy="480"/>
          </a:xfrm>
        </p:grpSpPr>
        <p:sp>
          <p:nvSpPr>
            <p:cNvPr id="18450" name="Rectangle 28"/>
            <p:cNvSpPr>
              <a:spLocks noChangeArrowheads="1"/>
            </p:cNvSpPr>
            <p:nvPr/>
          </p:nvSpPr>
          <p:spPr bwMode="auto">
            <a:xfrm>
              <a:off x="576" y="3547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ea typeface="华文隶书" panose="02010800040101010101" pitchFamily="2" charset="-122"/>
                </a:rPr>
                <a:t>Parallel 7-</a:t>
              </a:r>
              <a:r>
                <a:rPr lang="en-US" altLang="zh-CN">
                  <a:ea typeface="华文隶书" panose="0201080004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>
                <a:ea typeface="华文隶书" panose="02010800040101010101" pitchFamily="2" charset="-122"/>
              </a:endParaRPr>
            </a:p>
          </p:txBody>
        </p:sp>
        <p:sp>
          <p:nvSpPr>
            <p:cNvPr id="18451" name="Rectangle 29"/>
            <p:cNvSpPr>
              <a:spLocks noChangeArrowheads="1"/>
            </p:cNvSpPr>
            <p:nvPr/>
          </p:nvSpPr>
          <p:spPr bwMode="auto">
            <a:xfrm>
              <a:off x="240" y="3408"/>
              <a:ext cx="29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4400">
                  <a:solidFill>
                    <a:schemeClr val="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?</a:t>
              </a:r>
            </a:p>
          </p:txBody>
        </p:sp>
      </p:grpSp>
      <p:grpSp>
        <p:nvGrpSpPr>
          <p:cNvPr id="18440" name="Group 44"/>
          <p:cNvGrpSpPr>
            <a:grpSpLocks/>
          </p:cNvGrpSpPr>
          <p:nvPr/>
        </p:nvGrpSpPr>
        <p:grpSpPr bwMode="auto">
          <a:xfrm>
            <a:off x="920750" y="4076700"/>
            <a:ext cx="6640513" cy="2424113"/>
            <a:chOff x="580" y="2568"/>
            <a:chExt cx="4183" cy="1527"/>
          </a:xfrm>
        </p:grpSpPr>
        <p:graphicFrame>
          <p:nvGraphicFramePr>
            <p:cNvPr id="18447" name="Object 8"/>
            <p:cNvGraphicFramePr>
              <a:graphicFrameLocks noChangeAspect="1"/>
            </p:cNvGraphicFramePr>
            <p:nvPr/>
          </p:nvGraphicFramePr>
          <p:xfrm>
            <a:off x="580" y="2599"/>
            <a:ext cx="2520" cy="1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5" name="Equation" r:id="rId9" imgW="2133600" imgH="1244600" progId="Equation.DSMT4">
                    <p:embed/>
                  </p:oleObj>
                </mc:Choice>
                <mc:Fallback>
                  <p:oleObj name="Equation" r:id="rId9" imgW="2133600" imgH="1244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0" y="2599"/>
                          <a:ext cx="2520" cy="1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8" name="Object 18"/>
            <p:cNvGraphicFramePr>
              <a:graphicFrameLocks noChangeAspect="1"/>
            </p:cNvGraphicFramePr>
            <p:nvPr/>
          </p:nvGraphicFramePr>
          <p:xfrm>
            <a:off x="3833" y="2568"/>
            <a:ext cx="930" cy="1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6" name="Equation" r:id="rId11" imgW="787400" imgH="1295400" progId="Equation.DSMT4">
                    <p:embed/>
                  </p:oleObj>
                </mc:Choice>
                <mc:Fallback>
                  <p:oleObj name="Equation" r:id="rId11" imgW="787400" imgH="12954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568"/>
                          <a:ext cx="930" cy="1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32"/>
            <p:cNvGraphicFramePr>
              <a:graphicFrameLocks noChangeAspect="1"/>
            </p:cNvGraphicFramePr>
            <p:nvPr/>
          </p:nvGraphicFramePr>
          <p:xfrm>
            <a:off x="3288" y="2931"/>
            <a:ext cx="435" cy="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77" name="Equation" r:id="rId13" imgW="368300" imgH="711200" progId="Equation.DSMT4">
                    <p:embed/>
                  </p:oleObj>
                </mc:Choice>
                <mc:Fallback>
                  <p:oleObj name="Equation" r:id="rId13" imgW="368300" imgH="7112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2931"/>
                          <a:ext cx="435" cy="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41" name="Object 33"/>
          <p:cNvGraphicFramePr>
            <a:graphicFrameLocks noChangeAspect="1"/>
          </p:cNvGraphicFramePr>
          <p:nvPr/>
        </p:nvGraphicFramePr>
        <p:xfrm>
          <a:off x="2667000" y="914400"/>
          <a:ext cx="1630363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8" name="Visio" r:id="rId15" imgW="1066950" imgH="704763" progId="Visio.Drawing.11">
                  <p:embed/>
                </p:oleObj>
              </mc:Choice>
              <mc:Fallback>
                <p:oleObj name="Visio" r:id="rId15" imgW="1066950" imgH="704763" progId="Visio.Drawing.11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914400"/>
                        <a:ext cx="1630363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6111" name="Group 47"/>
          <p:cNvGrpSpPr>
            <a:grpSpLocks/>
          </p:cNvGrpSpPr>
          <p:nvPr/>
        </p:nvGrpSpPr>
        <p:grpSpPr bwMode="auto">
          <a:xfrm>
            <a:off x="4140200" y="1412875"/>
            <a:ext cx="2447925" cy="1008063"/>
            <a:chOff x="2608" y="890"/>
            <a:chExt cx="1542" cy="635"/>
          </a:xfrm>
        </p:grpSpPr>
        <p:sp>
          <p:nvSpPr>
            <p:cNvPr id="18445" name="Rectangle 45"/>
            <p:cNvSpPr>
              <a:spLocks noChangeArrowheads="1"/>
            </p:cNvSpPr>
            <p:nvPr/>
          </p:nvSpPr>
          <p:spPr bwMode="auto">
            <a:xfrm>
              <a:off x="3061" y="890"/>
              <a:ext cx="1089" cy="635"/>
            </a:xfrm>
            <a:prstGeom prst="rect">
              <a:avLst/>
            </a:prstGeom>
            <a:noFill/>
            <a:ln w="6350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8446" name="Line 46"/>
            <p:cNvSpPr>
              <a:spLocks noChangeShapeType="1"/>
            </p:cNvSpPr>
            <p:nvPr/>
          </p:nvSpPr>
          <p:spPr bwMode="auto">
            <a:xfrm flipH="1" flipV="1">
              <a:off x="2608" y="890"/>
              <a:ext cx="453" cy="181"/>
            </a:xfrm>
            <a:prstGeom prst="line">
              <a:avLst/>
            </a:prstGeom>
            <a:noFill/>
            <a:ln w="6350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6117" name="Object 53"/>
          <p:cNvGraphicFramePr>
            <a:graphicFrameLocks noChangeAspect="1"/>
          </p:cNvGraphicFramePr>
          <p:nvPr/>
        </p:nvGraphicFramePr>
        <p:xfrm>
          <a:off x="266700" y="4149725"/>
          <a:ext cx="4881563" cy="232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9" name="Equation" r:id="rId17" imgW="2603500" imgH="1244600" progId="Equation.DSMT4">
                  <p:embed/>
                </p:oleObj>
              </mc:Choice>
              <mc:Fallback>
                <p:oleObj name="Equation" r:id="rId17" imgW="2603500" imgH="12446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4149725"/>
                        <a:ext cx="4881563" cy="2328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533400"/>
          </a:xfrm>
        </p:spPr>
        <p:txBody>
          <a:bodyPr/>
          <a:lstStyle/>
          <a:p>
            <a:pPr algn="l" eaLnBrk="1" hangingPunct="1"/>
            <a:r>
              <a:rPr lang="en-US" altLang="zh-CN" sz="2800" smtClean="0">
                <a:solidFill>
                  <a:srgbClr val="FF0000"/>
                </a:solidFill>
              </a:rPr>
              <a:t>2.</a:t>
            </a:r>
            <a:r>
              <a:rPr lang="zh-CN" altLang="en-US" sz="2800" smtClean="0">
                <a:solidFill>
                  <a:srgbClr val="FF0000"/>
                </a:solidFill>
              </a:rPr>
              <a:t>快速列写法</a:t>
            </a:r>
            <a:endParaRPr lang="en-US" altLang="zh-CN" sz="2800" b="1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216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21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8BBAFF1-AD91-49BD-9560-DC8E88AE9DB4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4035C7-34B1-4ADB-AB60-92D13E004CB4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graphicFrame>
        <p:nvGraphicFramePr>
          <p:cNvPr id="198708" name="Object 52"/>
          <p:cNvGraphicFramePr>
            <a:graphicFrameLocks noChangeAspect="1"/>
          </p:cNvGraphicFramePr>
          <p:nvPr/>
        </p:nvGraphicFramePr>
        <p:xfrm>
          <a:off x="5554663" y="1125538"/>
          <a:ext cx="3217862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71" name="Visio" r:id="rId3" imgW="2174843" imgH="793814" progId="Visio.Drawing.11">
                  <p:embed/>
                </p:oleObj>
              </mc:Choice>
              <mc:Fallback>
                <p:oleObj name="Visio" r:id="rId3" imgW="2174843" imgH="793814" progId="Visio.Drawing.11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663" y="1125538"/>
                        <a:ext cx="3217862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09" name="Object 53"/>
          <p:cNvGraphicFramePr>
            <a:graphicFrameLocks noChangeAspect="1"/>
          </p:cNvGraphicFramePr>
          <p:nvPr/>
        </p:nvGraphicFramePr>
        <p:xfrm>
          <a:off x="738188" y="1131888"/>
          <a:ext cx="3217862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72" name="Visio" r:id="rId5" imgW="2174843" imgH="793814" progId="Visio.Drawing.11">
                  <p:embed/>
                </p:oleObj>
              </mc:Choice>
              <mc:Fallback>
                <p:oleObj name="Visio" r:id="rId5" imgW="2174843" imgH="793814" progId="Visio.Drawing.11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1131888"/>
                        <a:ext cx="3217862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44"/>
          <p:cNvSpPr>
            <a:spLocks noChangeArrowheads="1"/>
          </p:cNvSpPr>
          <p:nvPr/>
        </p:nvSpPr>
        <p:spPr bwMode="auto">
          <a:xfrm>
            <a:off x="468313" y="620713"/>
            <a:ext cx="6696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ea typeface="华文隶书" panose="02010800040101010101" pitchFamily="2" charset="-122"/>
              </a:rPr>
              <a:t>a. With current</a:t>
            </a:r>
            <a:r>
              <a:rPr lang="en-US" altLang="zh-CN" sz="18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b="1" dirty="0">
                <a:ea typeface="华文隶书" panose="02010800040101010101" pitchFamily="2" charset="-122"/>
              </a:rPr>
              <a:t>source branch</a:t>
            </a:r>
            <a:r>
              <a:rPr lang="zh-CN" altLang="en-US" dirty="0">
                <a:ea typeface="隶书" panose="02010509060101010101" pitchFamily="49" charset="-122"/>
              </a:rPr>
              <a:t>（电流源支路）</a:t>
            </a:r>
          </a:p>
        </p:txBody>
      </p:sp>
      <p:sp>
        <p:nvSpPr>
          <p:cNvPr id="19464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pPr algn="l" eaLnBrk="1" hangingPunct="1"/>
            <a:r>
              <a:rPr lang="en-US" altLang="zh-CN" dirty="0" smtClean="0">
                <a:solidFill>
                  <a:srgbClr val="FF0000"/>
                </a:solidFill>
              </a:rPr>
              <a:t>3.</a:t>
            </a:r>
            <a:r>
              <a:rPr lang="en-US" altLang="zh-CN" sz="2800" dirty="0" smtClean="0">
                <a:solidFill>
                  <a:srgbClr val="FF0000"/>
                </a:solidFill>
              </a:rPr>
              <a:t>Nodal analysis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with source branch</a:t>
            </a:r>
          </a:p>
        </p:txBody>
      </p:sp>
      <p:graphicFrame>
        <p:nvGraphicFramePr>
          <p:cNvPr id="198707" name="Object 51"/>
          <p:cNvGraphicFramePr>
            <a:graphicFrameLocks noChangeAspect="1"/>
          </p:cNvGraphicFramePr>
          <p:nvPr/>
        </p:nvGraphicFramePr>
        <p:xfrm>
          <a:off x="44450" y="1876425"/>
          <a:ext cx="4240213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73" name="VISIO" r:id="rId7" imgW="2829923" imgH="1422569" progId="Visio.Drawing.5">
                  <p:embed/>
                </p:oleObj>
              </mc:Choice>
              <mc:Fallback>
                <p:oleObj name="VISIO" r:id="rId7" imgW="2829923" imgH="1422569" progId="Visio.Drawing.5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" y="1876425"/>
                        <a:ext cx="4240213" cy="213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11" name="Object 55"/>
          <p:cNvGraphicFramePr>
            <a:graphicFrameLocks noChangeAspect="1"/>
          </p:cNvGraphicFramePr>
          <p:nvPr/>
        </p:nvGraphicFramePr>
        <p:xfrm>
          <a:off x="4868863" y="1865313"/>
          <a:ext cx="4240212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74" name="VISIO" r:id="rId9" imgW="2829923" imgH="1422569" progId="Visio.Drawing.5">
                  <p:embed/>
                </p:oleObj>
              </mc:Choice>
              <mc:Fallback>
                <p:oleObj name="VISIO" r:id="rId9" imgW="2829923" imgH="1422569" progId="Visio.Drawing.5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863" y="1865313"/>
                        <a:ext cx="4240212" cy="213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712" name="Rectangle 56"/>
          <p:cNvSpPr>
            <a:spLocks noChangeArrowheads="1"/>
          </p:cNvSpPr>
          <p:nvPr/>
        </p:nvSpPr>
        <p:spPr bwMode="auto">
          <a:xfrm>
            <a:off x="179388" y="4005263"/>
            <a:ext cx="194468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电流源支路视为电导为零的诺顿支路</a:t>
            </a:r>
            <a:r>
              <a:rPr lang="en-US" altLang="zh-CN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!</a:t>
            </a:r>
            <a:endParaRPr lang="en-US" altLang="zh-CN" dirty="0">
              <a:solidFill>
                <a:srgbClr val="3333CC"/>
              </a:solidFill>
              <a:latin typeface="隶书" panose="02010509060101010101" pitchFamily="49" charset="-122"/>
              <a:ea typeface="隶书" panose="020105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198714" name="Group 58"/>
          <p:cNvGrpSpPr>
            <a:grpSpLocks/>
          </p:cNvGrpSpPr>
          <p:nvPr/>
        </p:nvGrpSpPr>
        <p:grpSpPr bwMode="auto">
          <a:xfrm>
            <a:off x="2276475" y="3992563"/>
            <a:ext cx="6616700" cy="2424112"/>
            <a:chOff x="595" y="2568"/>
            <a:chExt cx="4168" cy="1527"/>
          </a:xfrm>
        </p:grpSpPr>
        <p:graphicFrame>
          <p:nvGraphicFramePr>
            <p:cNvPr id="19478" name="Object 59"/>
            <p:cNvGraphicFramePr>
              <a:graphicFrameLocks noChangeAspect="1"/>
            </p:cNvGraphicFramePr>
            <p:nvPr/>
          </p:nvGraphicFramePr>
          <p:xfrm>
            <a:off x="595" y="2599"/>
            <a:ext cx="2490" cy="1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75" name="Equation" r:id="rId10" imgW="2108200" imgH="1244600" progId="Equation.DSMT4">
                    <p:embed/>
                  </p:oleObj>
                </mc:Choice>
                <mc:Fallback>
                  <p:oleObj name="Equation" r:id="rId10" imgW="2108200" imgH="1244600" progId="Equation.DSMT4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" y="2599"/>
                          <a:ext cx="2490" cy="1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9" name="Object 60"/>
            <p:cNvGraphicFramePr>
              <a:graphicFrameLocks noChangeAspect="1"/>
            </p:cNvGraphicFramePr>
            <p:nvPr/>
          </p:nvGraphicFramePr>
          <p:xfrm>
            <a:off x="3833" y="2568"/>
            <a:ext cx="930" cy="1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76" name="Equation" r:id="rId12" imgW="787400" imgH="1295400" progId="Equation.DSMT4">
                    <p:embed/>
                  </p:oleObj>
                </mc:Choice>
                <mc:Fallback>
                  <p:oleObj name="Equation" r:id="rId12" imgW="787400" imgH="12954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568"/>
                          <a:ext cx="930" cy="1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0" name="Object 61"/>
            <p:cNvGraphicFramePr>
              <a:graphicFrameLocks noChangeAspect="1"/>
            </p:cNvGraphicFramePr>
            <p:nvPr/>
          </p:nvGraphicFramePr>
          <p:xfrm>
            <a:off x="3288" y="2931"/>
            <a:ext cx="435" cy="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77" name="Equation" r:id="rId14" imgW="368300" imgH="711200" progId="Equation.DSMT4">
                    <p:embed/>
                  </p:oleObj>
                </mc:Choice>
                <mc:Fallback>
                  <p:oleObj name="Equation" r:id="rId14" imgW="368300" imgH="71120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2931"/>
                          <a:ext cx="435" cy="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8723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044039"/>
              </p:ext>
            </p:extLst>
          </p:nvPr>
        </p:nvGraphicFramePr>
        <p:xfrm>
          <a:off x="1573486" y="1043831"/>
          <a:ext cx="1630362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78" name="Visio" r:id="rId16" imgW="1066950" imgH="704763" progId="Visio.Drawing.11">
                  <p:embed/>
                </p:oleObj>
              </mc:Choice>
              <mc:Fallback>
                <p:oleObj name="Visio" r:id="rId16" imgW="1066950" imgH="704763" progId="Visio.Drawing.11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486" y="1043831"/>
                        <a:ext cx="1630362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725" name="Rectangle 69"/>
          <p:cNvSpPr>
            <a:spLocks noChangeArrowheads="1"/>
          </p:cNvSpPr>
          <p:nvPr/>
        </p:nvSpPr>
        <p:spPr bwMode="auto">
          <a:xfrm>
            <a:off x="2339975" y="4116388"/>
            <a:ext cx="3744913" cy="647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8726" name="Rectangle 70"/>
          <p:cNvSpPr>
            <a:spLocks noChangeArrowheads="1"/>
          </p:cNvSpPr>
          <p:nvPr/>
        </p:nvSpPr>
        <p:spPr bwMode="auto">
          <a:xfrm>
            <a:off x="7740650" y="4076700"/>
            <a:ext cx="1008063" cy="647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8727" name="Rectangle 71"/>
          <p:cNvSpPr>
            <a:spLocks noChangeArrowheads="1"/>
          </p:cNvSpPr>
          <p:nvPr/>
        </p:nvSpPr>
        <p:spPr bwMode="auto">
          <a:xfrm>
            <a:off x="2339975" y="4868863"/>
            <a:ext cx="3744913" cy="647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8728" name="Rectangle 72"/>
          <p:cNvSpPr>
            <a:spLocks noChangeArrowheads="1"/>
          </p:cNvSpPr>
          <p:nvPr/>
        </p:nvSpPr>
        <p:spPr bwMode="auto">
          <a:xfrm>
            <a:off x="7740650" y="4795838"/>
            <a:ext cx="1008063" cy="720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8729" name="Rectangle 73"/>
          <p:cNvSpPr>
            <a:spLocks noChangeArrowheads="1"/>
          </p:cNvSpPr>
          <p:nvPr/>
        </p:nvSpPr>
        <p:spPr bwMode="auto">
          <a:xfrm>
            <a:off x="2339975" y="5661025"/>
            <a:ext cx="3744913" cy="647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8730" name="Rectangle 74"/>
          <p:cNvSpPr>
            <a:spLocks noChangeArrowheads="1"/>
          </p:cNvSpPr>
          <p:nvPr/>
        </p:nvSpPr>
        <p:spPr bwMode="auto">
          <a:xfrm>
            <a:off x="7740650" y="5588000"/>
            <a:ext cx="1008063" cy="720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198731" name="Object 75"/>
          <p:cNvGraphicFramePr>
            <a:graphicFrameLocks noChangeAspect="1"/>
          </p:cNvGraphicFramePr>
          <p:nvPr/>
        </p:nvGraphicFramePr>
        <p:xfrm>
          <a:off x="250825" y="5516563"/>
          <a:ext cx="1630363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79" name="Visio" r:id="rId18" imgW="1066950" imgH="704763" progId="Visio.Drawing.11">
                  <p:embed/>
                </p:oleObj>
              </mc:Choice>
              <mc:Fallback>
                <p:oleObj name="Visio" r:id="rId18" imgW="1066950" imgH="704763" progId="Visio.Drawing.11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516563"/>
                        <a:ext cx="1630363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32" name="Object 76"/>
          <p:cNvGraphicFramePr>
            <a:graphicFrameLocks noChangeAspect="1"/>
          </p:cNvGraphicFramePr>
          <p:nvPr/>
        </p:nvGraphicFramePr>
        <p:xfrm>
          <a:off x="900113" y="2627313"/>
          <a:ext cx="1630362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0" name="Visio" r:id="rId20" imgW="1066950" imgH="704763" progId="Visio.Drawing.11">
                  <p:embed/>
                </p:oleObj>
              </mc:Choice>
              <mc:Fallback>
                <p:oleObj name="Visio" r:id="rId20" imgW="1066950" imgH="704763" progId="Visio.Drawing.11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27313"/>
                        <a:ext cx="1630362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9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19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19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3000"/>
                                        <p:tgtEl>
                                          <p:spTgt spid="19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2000"/>
                                        <p:tgtEl>
                                          <p:spTgt spid="198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2000"/>
                                        <p:tgtEl>
                                          <p:spTgt spid="1987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2000"/>
                                        <p:tgtEl>
                                          <p:spTgt spid="1987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2000"/>
                                        <p:tgtEl>
                                          <p:spTgt spid="198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2000"/>
                                        <p:tgtEl>
                                          <p:spTgt spid="198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2000"/>
                                        <p:tgtEl>
                                          <p:spTgt spid="198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9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19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12" grpId="0"/>
      <p:bldP spid="198725" grpId="0" animBg="1"/>
      <p:bldP spid="198726" grpId="0" animBg="1"/>
      <p:bldP spid="198727" grpId="0" animBg="1"/>
      <p:bldP spid="198728" grpId="0" animBg="1"/>
      <p:bldP spid="198729" grpId="0" animBg="1"/>
      <p:bldP spid="1987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7FE1755-F1CA-4C19-BDBC-A01EBD2064C1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DE468-A266-47A9-A7FA-D67872DF87EA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graphicFrame>
        <p:nvGraphicFramePr>
          <p:cNvPr id="256003" name="Object 3"/>
          <p:cNvGraphicFramePr>
            <a:graphicFrameLocks noChangeAspect="1"/>
          </p:cNvGraphicFramePr>
          <p:nvPr/>
        </p:nvGraphicFramePr>
        <p:xfrm>
          <a:off x="179388" y="1052513"/>
          <a:ext cx="4240212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4" name="Visio" r:id="rId3" imgW="2856357" imgH="2203132" progId="Visio.Drawing.11">
                  <p:embed/>
                </p:oleObj>
              </mc:Choice>
              <mc:Fallback>
                <p:oleObj name="Visio" r:id="rId3" imgW="2856357" imgH="2203132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52513"/>
                        <a:ext cx="4240212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4" name="Object 4"/>
          <p:cNvGraphicFramePr>
            <a:graphicFrameLocks noChangeAspect="1"/>
          </p:cNvGraphicFramePr>
          <p:nvPr/>
        </p:nvGraphicFramePr>
        <p:xfrm>
          <a:off x="2468563" y="2505075"/>
          <a:ext cx="60960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5" name="Visio" r:id="rId5" imgW="434626" imgH="1076277" progId="Visio.Drawing.11">
                  <p:embed/>
                </p:oleObj>
              </mc:Choice>
              <mc:Fallback>
                <p:oleObj name="Visio" r:id="rId5" imgW="434626" imgH="107627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2505075"/>
                        <a:ext cx="609600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539750" y="692150"/>
            <a:ext cx="623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ea typeface="华文隶书" panose="02010800040101010101" pitchFamily="2" charset="-122"/>
              </a:rPr>
              <a:t>b. With voltage source branch 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电压源支路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256007" name="Rectangle 7"/>
          <p:cNvSpPr>
            <a:spLocks noChangeArrowheads="1"/>
          </p:cNvSpPr>
          <p:nvPr/>
        </p:nvSpPr>
        <p:spPr bwMode="auto">
          <a:xfrm>
            <a:off x="4645025" y="1484313"/>
            <a:ext cx="424815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方法</a:t>
            </a:r>
            <a:r>
              <a:rPr lang="en-US" altLang="zh-CN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：电压源支路视为电导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为零的诺顿支路</a:t>
            </a:r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auto">
          <a:xfrm>
            <a:off x="381000" y="2286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华文新魏" panose="02010800040101010101" pitchFamily="2" charset="-122"/>
              </a:rPr>
              <a:t>3.</a:t>
            </a:r>
            <a:r>
              <a:rPr lang="en-US" altLang="zh-CN" sz="2800">
                <a:solidFill>
                  <a:srgbClr val="FF0000"/>
                </a:solidFill>
                <a:ea typeface="华文新魏" panose="02010800040101010101" pitchFamily="2" charset="-122"/>
              </a:rPr>
              <a:t>Nodal analysis </a:t>
            </a:r>
            <a:r>
              <a:rPr lang="en-US" altLang="zh-CN" sz="2800" b="1">
                <a:solidFill>
                  <a:srgbClr val="FF0000"/>
                </a:solidFill>
                <a:ea typeface="华文新魏" panose="02010800040101010101" pitchFamily="2" charset="-122"/>
              </a:rPr>
              <a:t>with source branch</a:t>
            </a:r>
          </a:p>
        </p:txBody>
      </p:sp>
      <p:grpSp>
        <p:nvGrpSpPr>
          <p:cNvPr id="256009" name="Group 9"/>
          <p:cNvGrpSpPr>
            <a:grpSpLocks/>
          </p:cNvGrpSpPr>
          <p:nvPr/>
        </p:nvGrpSpPr>
        <p:grpSpPr bwMode="auto">
          <a:xfrm>
            <a:off x="492125" y="4221163"/>
            <a:ext cx="5664200" cy="2424112"/>
            <a:chOff x="1988" y="2629"/>
            <a:chExt cx="3568" cy="1527"/>
          </a:xfrm>
        </p:grpSpPr>
        <p:graphicFrame>
          <p:nvGraphicFramePr>
            <p:cNvPr id="20505" name="Object 10"/>
            <p:cNvGraphicFramePr>
              <a:graphicFrameLocks noChangeAspect="1"/>
            </p:cNvGraphicFramePr>
            <p:nvPr/>
          </p:nvGraphicFramePr>
          <p:xfrm>
            <a:off x="1988" y="2660"/>
            <a:ext cx="2250" cy="1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6" name="Equation" r:id="rId7" imgW="1905000" imgH="1244600" progId="Equation.DSMT4">
                    <p:embed/>
                  </p:oleObj>
                </mc:Choice>
                <mc:Fallback>
                  <p:oleObj name="Equation" r:id="rId7" imgW="1905000" imgH="1244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8" y="2660"/>
                          <a:ext cx="2250" cy="1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11"/>
            <p:cNvGraphicFramePr>
              <a:graphicFrameLocks noChangeAspect="1"/>
            </p:cNvGraphicFramePr>
            <p:nvPr/>
          </p:nvGraphicFramePr>
          <p:xfrm>
            <a:off x="4626" y="2629"/>
            <a:ext cx="930" cy="1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7" name="Equation" r:id="rId9" imgW="787400" imgH="1295400" progId="Equation.DSMT4">
                    <p:embed/>
                  </p:oleObj>
                </mc:Choice>
                <mc:Fallback>
                  <p:oleObj name="Equation" r:id="rId9" imgW="787400" imgH="12954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" y="2629"/>
                          <a:ext cx="930" cy="1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7" name="Object 12"/>
            <p:cNvGraphicFramePr>
              <a:graphicFrameLocks noChangeAspect="1"/>
            </p:cNvGraphicFramePr>
            <p:nvPr/>
          </p:nvGraphicFramePr>
          <p:xfrm>
            <a:off x="4214" y="2992"/>
            <a:ext cx="435" cy="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8" name="Equation" r:id="rId11" imgW="368300" imgH="711200" progId="Equation.DSMT4">
                    <p:embed/>
                  </p:oleObj>
                </mc:Choice>
                <mc:Fallback>
                  <p:oleObj name="Equation" r:id="rId11" imgW="368300" imgH="7112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" y="2992"/>
                          <a:ext cx="435" cy="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013" name="Object 13"/>
          <p:cNvGraphicFramePr>
            <a:graphicFrameLocks noChangeAspect="1"/>
          </p:cNvGraphicFramePr>
          <p:nvPr/>
        </p:nvGraphicFramePr>
        <p:xfrm>
          <a:off x="1547813" y="2636838"/>
          <a:ext cx="95091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9" name="Visio" r:id="rId13" imgW="727805" imgH="1040273" progId="Visio.Drawing.11">
                  <p:embed/>
                </p:oleObj>
              </mc:Choice>
              <mc:Fallback>
                <p:oleObj name="Visio" r:id="rId13" imgW="727805" imgH="1040273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636838"/>
                        <a:ext cx="950912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15" name="Rectangle 15"/>
          <p:cNvSpPr>
            <a:spLocks noChangeArrowheads="1"/>
          </p:cNvSpPr>
          <p:nvPr/>
        </p:nvSpPr>
        <p:spPr bwMode="auto">
          <a:xfrm>
            <a:off x="638175" y="4292600"/>
            <a:ext cx="3201988" cy="720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6016" name="Rectangle 16"/>
          <p:cNvSpPr>
            <a:spLocks noChangeArrowheads="1"/>
          </p:cNvSpPr>
          <p:nvPr/>
        </p:nvSpPr>
        <p:spPr bwMode="auto">
          <a:xfrm>
            <a:off x="5065713" y="4292600"/>
            <a:ext cx="946150" cy="720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6018" name="Rectangle 18"/>
          <p:cNvSpPr>
            <a:spLocks noChangeArrowheads="1"/>
          </p:cNvSpPr>
          <p:nvPr/>
        </p:nvSpPr>
        <p:spPr bwMode="auto">
          <a:xfrm>
            <a:off x="660400" y="5084763"/>
            <a:ext cx="3168650" cy="720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6019" name="Rectangle 19"/>
          <p:cNvSpPr>
            <a:spLocks noChangeArrowheads="1"/>
          </p:cNvSpPr>
          <p:nvPr/>
        </p:nvSpPr>
        <p:spPr bwMode="auto">
          <a:xfrm>
            <a:off x="5040313" y="5084763"/>
            <a:ext cx="936625" cy="720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6021" name="Rectangle 21"/>
          <p:cNvSpPr>
            <a:spLocks noChangeArrowheads="1"/>
          </p:cNvSpPr>
          <p:nvPr/>
        </p:nvSpPr>
        <p:spPr bwMode="auto">
          <a:xfrm>
            <a:off x="671513" y="5876925"/>
            <a:ext cx="3252787" cy="720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6022" name="Rectangle 22"/>
          <p:cNvSpPr>
            <a:spLocks noChangeArrowheads="1"/>
          </p:cNvSpPr>
          <p:nvPr/>
        </p:nvSpPr>
        <p:spPr bwMode="auto">
          <a:xfrm>
            <a:off x="5051425" y="5876925"/>
            <a:ext cx="936625" cy="720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56023" name="Object 23"/>
          <p:cNvGraphicFramePr>
            <a:graphicFrameLocks noChangeAspect="1"/>
          </p:cNvGraphicFramePr>
          <p:nvPr/>
        </p:nvGraphicFramePr>
        <p:xfrm>
          <a:off x="6804025" y="5229225"/>
          <a:ext cx="151288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0" name="Equation" r:id="rId15" imgW="545863" imgH="228501" progId="Equation.DSMT4">
                  <p:embed/>
                </p:oleObj>
              </mc:Choice>
              <mc:Fallback>
                <p:oleObj name="Equation" r:id="rId15" imgW="545863" imgH="228501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5229225"/>
                        <a:ext cx="1512888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25" name="Group 25"/>
          <p:cNvGrpSpPr>
            <a:grpSpLocks/>
          </p:cNvGrpSpPr>
          <p:nvPr/>
        </p:nvGrpSpPr>
        <p:grpSpPr bwMode="auto">
          <a:xfrm>
            <a:off x="515938" y="5516563"/>
            <a:ext cx="5545137" cy="0"/>
            <a:chOff x="2018" y="3339"/>
            <a:chExt cx="3493" cy="0"/>
          </a:xfrm>
        </p:grpSpPr>
        <p:sp>
          <p:nvSpPr>
            <p:cNvPr id="20503" name="Line 26"/>
            <p:cNvSpPr>
              <a:spLocks noChangeShapeType="1"/>
            </p:cNvSpPr>
            <p:nvPr/>
          </p:nvSpPr>
          <p:spPr bwMode="auto">
            <a:xfrm>
              <a:off x="2018" y="3339"/>
              <a:ext cx="2132" cy="0"/>
            </a:xfrm>
            <a:prstGeom prst="line">
              <a:avLst/>
            </a:prstGeom>
            <a:noFill/>
            <a:ln w="19050">
              <a:solidFill>
                <a:srgbClr val="CC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4" name="Line 27"/>
            <p:cNvSpPr>
              <a:spLocks noChangeShapeType="1"/>
            </p:cNvSpPr>
            <p:nvPr/>
          </p:nvSpPr>
          <p:spPr bwMode="auto">
            <a:xfrm>
              <a:off x="4830" y="3339"/>
              <a:ext cx="681" cy="0"/>
            </a:xfrm>
            <a:prstGeom prst="line">
              <a:avLst/>
            </a:prstGeom>
            <a:noFill/>
            <a:ln w="19050">
              <a:solidFill>
                <a:srgbClr val="CC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6029" name="Rectangle 29"/>
          <p:cNvSpPr>
            <a:spLocks noChangeArrowheads="1"/>
          </p:cNvSpPr>
          <p:nvPr/>
        </p:nvSpPr>
        <p:spPr bwMode="auto">
          <a:xfrm>
            <a:off x="4645025" y="2781300"/>
            <a:ext cx="42481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方法</a:t>
            </a:r>
            <a:r>
              <a:rPr lang="en-US" altLang="zh-CN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：不列写电位已知的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结点的方程</a:t>
            </a:r>
          </a:p>
        </p:txBody>
      </p:sp>
      <p:sp>
        <p:nvSpPr>
          <p:cNvPr id="256030" name="Rectangle 30"/>
          <p:cNvSpPr>
            <a:spLocks noChangeArrowheads="1"/>
          </p:cNvSpPr>
          <p:nvPr/>
        </p:nvSpPr>
        <p:spPr bwMode="auto">
          <a:xfrm>
            <a:off x="5795963" y="2060575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个方程</a:t>
            </a:r>
          </a:p>
        </p:txBody>
      </p:sp>
      <p:sp>
        <p:nvSpPr>
          <p:cNvPr id="256031" name="Rectangle 31"/>
          <p:cNvSpPr>
            <a:spLocks noChangeArrowheads="1"/>
          </p:cNvSpPr>
          <p:nvPr/>
        </p:nvSpPr>
        <p:spPr bwMode="auto">
          <a:xfrm>
            <a:off x="5795963" y="3357563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个方程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10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1" dur="1000"/>
                                        <p:tgtEl>
                                          <p:spTgt spid="25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3000"/>
                                        <p:tgtEl>
                                          <p:spTgt spid="2560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3000"/>
                                        <p:tgtEl>
                                          <p:spTgt spid="2560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3000"/>
                                        <p:tgtEl>
                                          <p:spTgt spid="2560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3000"/>
                                        <p:tgtEl>
                                          <p:spTgt spid="2560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3000"/>
                                        <p:tgtEl>
                                          <p:spTgt spid="2560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30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0" dur="1000"/>
                                        <p:tgtEl>
                                          <p:spTgt spid="25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4" dur="2000"/>
                                        <p:tgtEl>
                                          <p:spTgt spid="25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9" dur="1000"/>
                                        <p:tgtEl>
                                          <p:spTgt spid="25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25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8" dur="2000"/>
                                        <p:tgtEl>
                                          <p:spTgt spid="25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7" grpId="0"/>
      <p:bldP spid="256015" grpId="0" animBg="1"/>
      <p:bldP spid="256016" grpId="0" animBg="1"/>
      <p:bldP spid="256018" grpId="0" animBg="1"/>
      <p:bldP spid="256019" grpId="0" animBg="1"/>
      <p:bldP spid="256021" grpId="0" animBg="1"/>
      <p:bldP spid="256022" grpId="0" animBg="1"/>
      <p:bldP spid="256029" grpId="0"/>
      <p:bldP spid="256030" grpId="0"/>
      <p:bldP spid="2560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08672F6-7285-4126-9766-C15C7EE66FC1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E1FBA-2770-4BA4-8470-B136313DBECA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graphicFrame>
        <p:nvGraphicFramePr>
          <p:cNvPr id="21509" name="Object 2"/>
          <p:cNvGraphicFramePr>
            <a:graphicFrameLocks noChangeAspect="1"/>
          </p:cNvGraphicFramePr>
          <p:nvPr/>
        </p:nvGraphicFramePr>
        <p:xfrm>
          <a:off x="179388" y="1052513"/>
          <a:ext cx="4240212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1" name="Visio" r:id="rId3" imgW="2856357" imgH="2203132" progId="Visio.Drawing.11">
                  <p:embed/>
                </p:oleObj>
              </mc:Choice>
              <mc:Fallback>
                <p:oleObj name="Visio" r:id="rId3" imgW="2856357" imgH="220313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52513"/>
                        <a:ext cx="4240212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3"/>
          <p:cNvGraphicFramePr>
            <a:graphicFrameLocks noChangeAspect="1"/>
          </p:cNvGraphicFramePr>
          <p:nvPr/>
        </p:nvGraphicFramePr>
        <p:xfrm>
          <a:off x="2468563" y="2505075"/>
          <a:ext cx="60960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2" name="Visio" r:id="rId5" imgW="434626" imgH="1076277" progId="Visio.Drawing.11">
                  <p:embed/>
                </p:oleObj>
              </mc:Choice>
              <mc:Fallback>
                <p:oleObj name="Visio" r:id="rId5" imgW="434626" imgH="1076277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2505075"/>
                        <a:ext cx="609600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539750" y="692150"/>
            <a:ext cx="623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ea typeface="华文隶书" panose="02010800040101010101" pitchFamily="2" charset="-122"/>
              </a:rPr>
              <a:t>b. With voltage source branch 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电压源支路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21512" name="Rectangle 5"/>
          <p:cNvSpPr>
            <a:spLocks noChangeArrowheads="1"/>
          </p:cNvSpPr>
          <p:nvPr/>
        </p:nvSpPr>
        <p:spPr bwMode="auto">
          <a:xfrm>
            <a:off x="4645025" y="1484313"/>
            <a:ext cx="424815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方法</a:t>
            </a:r>
            <a:r>
              <a:rPr lang="en-US" altLang="zh-CN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：电压源支路视为电导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为零的诺顿支路</a:t>
            </a:r>
          </a:p>
        </p:txBody>
      </p:sp>
      <p:sp>
        <p:nvSpPr>
          <p:cNvPr id="21513" name="Rectangle 6"/>
          <p:cNvSpPr>
            <a:spLocks noChangeArrowheads="1"/>
          </p:cNvSpPr>
          <p:nvPr/>
        </p:nvSpPr>
        <p:spPr bwMode="auto">
          <a:xfrm>
            <a:off x="381000" y="2286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华文新魏" panose="02010800040101010101" pitchFamily="2" charset="-122"/>
              </a:rPr>
              <a:t>3.</a:t>
            </a:r>
            <a:r>
              <a:rPr lang="en-US" altLang="zh-CN" sz="2800">
                <a:solidFill>
                  <a:srgbClr val="FF0000"/>
                </a:solidFill>
                <a:ea typeface="华文新魏" panose="02010800040101010101" pitchFamily="2" charset="-122"/>
              </a:rPr>
              <a:t>Nodal analysis </a:t>
            </a:r>
            <a:r>
              <a:rPr lang="en-US" altLang="zh-CN" sz="2800" b="1">
                <a:solidFill>
                  <a:srgbClr val="FF0000"/>
                </a:solidFill>
                <a:ea typeface="华文新魏" panose="02010800040101010101" pitchFamily="2" charset="-122"/>
              </a:rPr>
              <a:t>with source branch</a:t>
            </a:r>
          </a:p>
        </p:txBody>
      </p:sp>
      <p:grpSp>
        <p:nvGrpSpPr>
          <p:cNvPr id="21514" name="Group 7"/>
          <p:cNvGrpSpPr>
            <a:grpSpLocks/>
          </p:cNvGrpSpPr>
          <p:nvPr/>
        </p:nvGrpSpPr>
        <p:grpSpPr bwMode="auto">
          <a:xfrm>
            <a:off x="468313" y="4244975"/>
            <a:ext cx="5664200" cy="2424113"/>
            <a:chOff x="1988" y="2629"/>
            <a:chExt cx="3568" cy="1527"/>
          </a:xfrm>
        </p:grpSpPr>
        <p:graphicFrame>
          <p:nvGraphicFramePr>
            <p:cNvPr id="21525" name="Object 8"/>
            <p:cNvGraphicFramePr>
              <a:graphicFrameLocks noChangeAspect="1"/>
            </p:cNvGraphicFramePr>
            <p:nvPr/>
          </p:nvGraphicFramePr>
          <p:xfrm>
            <a:off x="1988" y="2660"/>
            <a:ext cx="2250" cy="1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3" name="Equation" r:id="rId7" imgW="1905000" imgH="1244600" progId="Equation.DSMT4">
                    <p:embed/>
                  </p:oleObj>
                </mc:Choice>
                <mc:Fallback>
                  <p:oleObj name="Equation" r:id="rId7" imgW="1905000" imgH="1244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8" y="2660"/>
                          <a:ext cx="2250" cy="1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6" name="Object 9"/>
            <p:cNvGraphicFramePr>
              <a:graphicFrameLocks noChangeAspect="1"/>
            </p:cNvGraphicFramePr>
            <p:nvPr/>
          </p:nvGraphicFramePr>
          <p:xfrm>
            <a:off x="4626" y="2629"/>
            <a:ext cx="930" cy="1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4" name="Equation" r:id="rId9" imgW="787400" imgH="1295400" progId="Equation.DSMT4">
                    <p:embed/>
                  </p:oleObj>
                </mc:Choice>
                <mc:Fallback>
                  <p:oleObj name="Equation" r:id="rId9" imgW="787400" imgH="12954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" y="2629"/>
                          <a:ext cx="930" cy="1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7" name="Object 10"/>
            <p:cNvGraphicFramePr>
              <a:graphicFrameLocks noChangeAspect="1"/>
            </p:cNvGraphicFramePr>
            <p:nvPr/>
          </p:nvGraphicFramePr>
          <p:xfrm>
            <a:off x="4214" y="2992"/>
            <a:ext cx="435" cy="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5" name="Equation" r:id="rId11" imgW="368300" imgH="711200" progId="Equation.DSMT4">
                    <p:embed/>
                  </p:oleObj>
                </mc:Choice>
                <mc:Fallback>
                  <p:oleObj name="Equation" r:id="rId11" imgW="368300" imgH="7112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" y="2992"/>
                          <a:ext cx="435" cy="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1547813" y="2636838"/>
          <a:ext cx="950912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6" name="Visio" r:id="rId13" imgW="727805" imgH="1040273" progId="Visio.Drawing.11">
                  <p:embed/>
                </p:oleObj>
              </mc:Choice>
              <mc:Fallback>
                <p:oleObj name="Visio" r:id="rId13" imgW="727805" imgH="1040273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636838"/>
                        <a:ext cx="950912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21"/>
          <p:cNvGraphicFramePr>
            <a:graphicFrameLocks noChangeAspect="1"/>
          </p:cNvGraphicFramePr>
          <p:nvPr/>
        </p:nvGraphicFramePr>
        <p:xfrm>
          <a:off x="6804025" y="5229225"/>
          <a:ext cx="151288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7" name="Equation" r:id="rId15" imgW="545863" imgH="228501" progId="Equation.DSMT4">
                  <p:embed/>
                </p:oleObj>
              </mc:Choice>
              <mc:Fallback>
                <p:oleObj name="Equation" r:id="rId15" imgW="545863" imgH="22850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5229225"/>
                        <a:ext cx="1512888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7" name="Group 22"/>
          <p:cNvGrpSpPr>
            <a:grpSpLocks/>
          </p:cNvGrpSpPr>
          <p:nvPr/>
        </p:nvGrpSpPr>
        <p:grpSpPr bwMode="auto">
          <a:xfrm>
            <a:off x="515938" y="5516563"/>
            <a:ext cx="5545137" cy="0"/>
            <a:chOff x="2018" y="3339"/>
            <a:chExt cx="3493" cy="0"/>
          </a:xfrm>
        </p:grpSpPr>
        <p:sp>
          <p:nvSpPr>
            <p:cNvPr id="21523" name="Line 23"/>
            <p:cNvSpPr>
              <a:spLocks noChangeShapeType="1"/>
            </p:cNvSpPr>
            <p:nvPr/>
          </p:nvSpPr>
          <p:spPr bwMode="auto">
            <a:xfrm>
              <a:off x="2018" y="3339"/>
              <a:ext cx="2132" cy="0"/>
            </a:xfrm>
            <a:prstGeom prst="line">
              <a:avLst/>
            </a:prstGeom>
            <a:noFill/>
            <a:ln w="19050">
              <a:solidFill>
                <a:srgbClr val="CC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" name="Line 24"/>
            <p:cNvSpPr>
              <a:spLocks noChangeShapeType="1"/>
            </p:cNvSpPr>
            <p:nvPr/>
          </p:nvSpPr>
          <p:spPr bwMode="auto">
            <a:xfrm>
              <a:off x="4830" y="3339"/>
              <a:ext cx="681" cy="0"/>
            </a:xfrm>
            <a:prstGeom prst="line">
              <a:avLst/>
            </a:prstGeom>
            <a:noFill/>
            <a:ln w="19050">
              <a:solidFill>
                <a:srgbClr val="CC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518" name="Rectangle 25"/>
          <p:cNvSpPr>
            <a:spLocks noChangeArrowheads="1"/>
          </p:cNvSpPr>
          <p:nvPr/>
        </p:nvSpPr>
        <p:spPr bwMode="auto">
          <a:xfrm>
            <a:off x="4645025" y="2781300"/>
            <a:ext cx="42481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方法</a:t>
            </a:r>
            <a:r>
              <a:rPr lang="en-US" altLang="zh-CN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：不列写电位已知的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结点的方程</a:t>
            </a:r>
          </a:p>
        </p:txBody>
      </p:sp>
      <p:sp>
        <p:nvSpPr>
          <p:cNvPr id="21519" name="Rectangle 26"/>
          <p:cNvSpPr>
            <a:spLocks noChangeArrowheads="1"/>
          </p:cNvSpPr>
          <p:nvPr/>
        </p:nvSpPr>
        <p:spPr bwMode="auto">
          <a:xfrm>
            <a:off x="5795963" y="2060575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个方程</a:t>
            </a:r>
          </a:p>
        </p:txBody>
      </p:sp>
      <p:sp>
        <p:nvSpPr>
          <p:cNvPr id="21520" name="Rectangle 27"/>
          <p:cNvSpPr>
            <a:spLocks noChangeArrowheads="1"/>
          </p:cNvSpPr>
          <p:nvPr/>
        </p:nvSpPr>
        <p:spPr bwMode="auto">
          <a:xfrm>
            <a:off x="5795963" y="3357563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个方程</a:t>
            </a:r>
          </a:p>
        </p:txBody>
      </p:sp>
      <p:graphicFrame>
        <p:nvGraphicFramePr>
          <p:cNvPr id="259100" name="Object 28"/>
          <p:cNvGraphicFramePr>
            <a:graphicFrameLocks noChangeAspect="1"/>
          </p:cNvGraphicFramePr>
          <p:nvPr/>
        </p:nvGraphicFramePr>
        <p:xfrm>
          <a:off x="4572000" y="1052513"/>
          <a:ext cx="4240213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8" name="VISIO" r:id="rId17" imgW="2829923" imgH="2168087" progId="Visio.Drawing.5">
                  <p:embed/>
                </p:oleObj>
              </mc:Choice>
              <mc:Fallback>
                <p:oleObj name="VISIO" r:id="rId17" imgW="2829923" imgH="2168087" progId="Visio.Drawing.5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052513"/>
                        <a:ext cx="4240213" cy="3260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01" name="Object 29"/>
          <p:cNvGraphicFramePr>
            <a:graphicFrameLocks noChangeAspect="1"/>
          </p:cNvGraphicFramePr>
          <p:nvPr/>
        </p:nvGraphicFramePr>
        <p:xfrm>
          <a:off x="6375400" y="2492375"/>
          <a:ext cx="1104900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9" name="Visio" r:id="rId19" imgW="768525" imgH="1076277" progId="Visio.Drawing.11">
                  <p:embed/>
                </p:oleObj>
              </mc:Choice>
              <mc:Fallback>
                <p:oleObj name="Visio" r:id="rId19" imgW="768525" imgH="1076277" progId="Visio.Drawing.11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5400" y="2492375"/>
                        <a:ext cx="1104900" cy="165735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5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1252275-023C-4022-8E95-2F0AC2F34F0E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474BD3-D3B3-4FFF-8329-A5117DC02CE6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grpSp>
        <p:nvGrpSpPr>
          <p:cNvPr id="218140" name="Group 28"/>
          <p:cNvGrpSpPr>
            <a:grpSpLocks/>
          </p:cNvGrpSpPr>
          <p:nvPr/>
        </p:nvGrpSpPr>
        <p:grpSpPr bwMode="auto">
          <a:xfrm>
            <a:off x="323850" y="4292600"/>
            <a:ext cx="5462588" cy="2328863"/>
            <a:chOff x="2115" y="2660"/>
            <a:chExt cx="3441" cy="1467"/>
          </a:xfrm>
        </p:grpSpPr>
        <p:graphicFrame>
          <p:nvGraphicFramePr>
            <p:cNvPr id="22562" name="Object 29"/>
            <p:cNvGraphicFramePr>
              <a:graphicFrameLocks noChangeAspect="1"/>
            </p:cNvGraphicFramePr>
            <p:nvPr/>
          </p:nvGraphicFramePr>
          <p:xfrm>
            <a:off x="2115" y="2660"/>
            <a:ext cx="1995" cy="1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1" name="Equation" r:id="rId3" imgW="1689100" imgH="1244600" progId="Equation.DSMT4">
                    <p:embed/>
                  </p:oleObj>
                </mc:Choice>
                <mc:Fallback>
                  <p:oleObj name="Equation" r:id="rId3" imgW="1689100" imgH="12446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5" y="2660"/>
                          <a:ext cx="1995" cy="1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3" name="Object 30"/>
            <p:cNvGraphicFramePr>
              <a:graphicFrameLocks noChangeAspect="1"/>
            </p:cNvGraphicFramePr>
            <p:nvPr/>
          </p:nvGraphicFramePr>
          <p:xfrm>
            <a:off x="4626" y="2868"/>
            <a:ext cx="930" cy="1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2" name="Equation" r:id="rId5" imgW="787400" imgH="889000" progId="Equation.DSMT4">
                    <p:embed/>
                  </p:oleObj>
                </mc:Choice>
                <mc:Fallback>
                  <p:oleObj name="Equation" r:id="rId5" imgW="787400" imgH="8890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" y="2868"/>
                          <a:ext cx="930" cy="10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4" name="Object 31"/>
            <p:cNvGraphicFramePr>
              <a:graphicFrameLocks noChangeAspect="1"/>
            </p:cNvGraphicFramePr>
            <p:nvPr/>
          </p:nvGraphicFramePr>
          <p:xfrm>
            <a:off x="4214" y="2992"/>
            <a:ext cx="435" cy="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83" name="Equation" r:id="rId7" imgW="368300" imgH="711200" progId="Equation.DSMT4">
                    <p:embed/>
                  </p:oleObj>
                </mc:Choice>
                <mc:Fallback>
                  <p:oleObj name="Equation" r:id="rId7" imgW="368300" imgH="7112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" y="2992"/>
                          <a:ext cx="435" cy="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34" name="Object 21"/>
          <p:cNvGraphicFramePr>
            <a:graphicFrameLocks noChangeAspect="1"/>
          </p:cNvGraphicFramePr>
          <p:nvPr/>
        </p:nvGraphicFramePr>
        <p:xfrm>
          <a:off x="179388" y="981075"/>
          <a:ext cx="4240212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4" name="Visio" r:id="rId9" imgW="2856357" imgH="2203132" progId="Visio.Drawing.11">
                  <p:embed/>
                </p:oleObj>
              </mc:Choice>
              <mc:Fallback>
                <p:oleObj name="Visio" r:id="rId9" imgW="2856357" imgH="2203132" progId="Visio.Drawing.11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981075"/>
                        <a:ext cx="4240212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pPr algn="l" eaLnBrk="1" hangingPunct="1"/>
            <a:r>
              <a:rPr lang="en-US" altLang="zh-CN" smtClean="0">
                <a:solidFill>
                  <a:schemeClr val="hlink"/>
                </a:solidFill>
              </a:rPr>
              <a:t>3.</a:t>
            </a:r>
            <a:r>
              <a:rPr lang="en-US" altLang="zh-CN" sz="2800" smtClean="0">
                <a:solidFill>
                  <a:schemeClr val="hlink"/>
                </a:solidFill>
              </a:rPr>
              <a:t>Nodal analysis </a:t>
            </a:r>
            <a:r>
              <a:rPr lang="en-US" altLang="zh-CN" sz="2800" b="1" smtClean="0">
                <a:solidFill>
                  <a:schemeClr val="hlink"/>
                </a:solidFill>
              </a:rPr>
              <a:t>with source branches</a:t>
            </a:r>
          </a:p>
        </p:txBody>
      </p:sp>
      <p:graphicFrame>
        <p:nvGraphicFramePr>
          <p:cNvPr id="218132" name="Object 20"/>
          <p:cNvGraphicFramePr>
            <a:graphicFrameLocks noChangeAspect="1"/>
          </p:cNvGraphicFramePr>
          <p:nvPr/>
        </p:nvGraphicFramePr>
        <p:xfrm>
          <a:off x="1108075" y="2116138"/>
          <a:ext cx="1328738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5" name="Visio" r:id="rId11" imgW="914686" imgH="465915" progId="Visio.Drawing.11">
                  <p:embed/>
                </p:oleObj>
              </mc:Choice>
              <mc:Fallback>
                <p:oleObj name="Visio" r:id="rId11" imgW="914686" imgH="465915" progId="Visio.Drawing.11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2116138"/>
                        <a:ext cx="1328738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Rectangle 22"/>
          <p:cNvSpPr>
            <a:spLocks noChangeArrowheads="1"/>
          </p:cNvSpPr>
          <p:nvPr/>
        </p:nvSpPr>
        <p:spPr bwMode="auto">
          <a:xfrm>
            <a:off x="539750" y="595313"/>
            <a:ext cx="623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ea typeface="华文隶书" panose="02010800040101010101" pitchFamily="2" charset="-122"/>
              </a:rPr>
              <a:t>b. With voltage source branch </a:t>
            </a:r>
            <a:r>
              <a:rPr lang="en-US" altLang="zh-CN">
                <a:ea typeface="隶书" panose="02010509060101010101" pitchFamily="49" charset="-122"/>
              </a:rPr>
              <a:t>(</a:t>
            </a:r>
            <a:r>
              <a:rPr lang="zh-CN" altLang="en-US">
                <a:ea typeface="隶书" panose="02010509060101010101" pitchFamily="49" charset="-122"/>
              </a:rPr>
              <a:t>电压源支路</a:t>
            </a:r>
            <a:r>
              <a:rPr lang="en-US" altLang="zh-CN"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218136" name="Oval 24"/>
          <p:cNvSpPr>
            <a:spLocks noChangeArrowheads="1"/>
          </p:cNvSpPr>
          <p:nvPr/>
        </p:nvSpPr>
        <p:spPr bwMode="auto">
          <a:xfrm>
            <a:off x="395288" y="1989138"/>
            <a:ext cx="2520950" cy="720725"/>
          </a:xfrm>
          <a:prstGeom prst="ellipse">
            <a:avLst/>
          </a:prstGeom>
          <a:noFill/>
          <a:ln w="9525">
            <a:solidFill>
              <a:srgbClr val="CC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18139" name="Object 27"/>
          <p:cNvGraphicFramePr>
            <a:graphicFrameLocks noChangeAspect="1"/>
          </p:cNvGraphicFramePr>
          <p:nvPr/>
        </p:nvGraphicFramePr>
        <p:xfrm>
          <a:off x="1331913" y="2771775"/>
          <a:ext cx="115252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6" name="Visio" r:id="rId13" imgW="1006412" imgH="711518" progId="Visio.Drawing.11">
                  <p:embed/>
                </p:oleObj>
              </mc:Choice>
              <mc:Fallback>
                <p:oleObj name="Visio" r:id="rId13" imgW="1006412" imgH="711518" progId="Visio.Drawing.11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71775"/>
                        <a:ext cx="115252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44" name="Rectangle 32"/>
          <p:cNvSpPr>
            <a:spLocks noChangeArrowheads="1"/>
          </p:cNvSpPr>
          <p:nvPr/>
        </p:nvSpPr>
        <p:spPr bwMode="auto">
          <a:xfrm>
            <a:off x="4941888" y="1125538"/>
            <a:ext cx="4202112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方法</a:t>
            </a:r>
            <a:r>
              <a:rPr lang="en-US" altLang="zh-CN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：电压源支路视为电导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为零的诺顿支路</a:t>
            </a:r>
          </a:p>
        </p:txBody>
      </p:sp>
      <p:graphicFrame>
        <p:nvGraphicFramePr>
          <p:cNvPr id="218145" name="Object 33"/>
          <p:cNvGraphicFramePr>
            <a:graphicFrameLocks noChangeAspect="1"/>
          </p:cNvGraphicFramePr>
          <p:nvPr/>
        </p:nvGraphicFramePr>
        <p:xfrm>
          <a:off x="6286500" y="5734050"/>
          <a:ext cx="152558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7" name="Equation" r:id="rId15" imgW="761669" imgH="228501" progId="Equation.DSMT4">
                  <p:embed/>
                </p:oleObj>
              </mc:Choice>
              <mc:Fallback>
                <p:oleObj name="Equation" r:id="rId15" imgW="761669" imgH="228501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5734050"/>
                        <a:ext cx="152558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46" name="Rectangle 34"/>
          <p:cNvSpPr>
            <a:spLocks noChangeArrowheads="1"/>
          </p:cNvSpPr>
          <p:nvPr/>
        </p:nvSpPr>
        <p:spPr bwMode="auto">
          <a:xfrm>
            <a:off x="4941888" y="2205038"/>
            <a:ext cx="4022725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方法</a:t>
            </a:r>
            <a:r>
              <a:rPr lang="en-US" altLang="zh-CN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：列写广义结点方程</a:t>
            </a:r>
          </a:p>
        </p:txBody>
      </p:sp>
      <p:grpSp>
        <p:nvGrpSpPr>
          <p:cNvPr id="218170" name="Group 58"/>
          <p:cNvGrpSpPr>
            <a:grpSpLocks/>
          </p:cNvGrpSpPr>
          <p:nvPr/>
        </p:nvGrpSpPr>
        <p:grpSpPr bwMode="auto">
          <a:xfrm>
            <a:off x="468313" y="4365625"/>
            <a:ext cx="5183187" cy="720725"/>
            <a:chOff x="295" y="2523"/>
            <a:chExt cx="3220" cy="454"/>
          </a:xfrm>
        </p:grpSpPr>
        <p:sp>
          <p:nvSpPr>
            <p:cNvPr id="22560" name="Rectangle 56"/>
            <p:cNvSpPr>
              <a:spLocks noChangeArrowheads="1"/>
            </p:cNvSpPr>
            <p:nvPr/>
          </p:nvSpPr>
          <p:spPr bwMode="auto">
            <a:xfrm>
              <a:off x="295" y="2523"/>
              <a:ext cx="1814" cy="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2561" name="Rectangle 57"/>
            <p:cNvSpPr>
              <a:spLocks noChangeArrowheads="1"/>
            </p:cNvSpPr>
            <p:nvPr/>
          </p:nvSpPr>
          <p:spPr bwMode="auto">
            <a:xfrm>
              <a:off x="2925" y="2523"/>
              <a:ext cx="590" cy="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218151" name="Group 39"/>
          <p:cNvGrpSpPr>
            <a:grpSpLocks/>
          </p:cNvGrpSpPr>
          <p:nvPr/>
        </p:nvGrpSpPr>
        <p:grpSpPr bwMode="auto">
          <a:xfrm flipV="1">
            <a:off x="395288" y="4797425"/>
            <a:ext cx="5256212" cy="69850"/>
            <a:chOff x="2018" y="3339"/>
            <a:chExt cx="3493" cy="0"/>
          </a:xfrm>
        </p:grpSpPr>
        <p:sp>
          <p:nvSpPr>
            <p:cNvPr id="22558" name="Line 40"/>
            <p:cNvSpPr>
              <a:spLocks noChangeShapeType="1"/>
            </p:cNvSpPr>
            <p:nvPr/>
          </p:nvSpPr>
          <p:spPr bwMode="auto">
            <a:xfrm>
              <a:off x="2018" y="3339"/>
              <a:ext cx="2132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9" name="Line 41"/>
            <p:cNvSpPr>
              <a:spLocks noChangeShapeType="1"/>
            </p:cNvSpPr>
            <p:nvPr/>
          </p:nvSpPr>
          <p:spPr bwMode="auto">
            <a:xfrm>
              <a:off x="4830" y="3339"/>
              <a:ext cx="681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8171" name="Group 59"/>
          <p:cNvGrpSpPr>
            <a:grpSpLocks/>
          </p:cNvGrpSpPr>
          <p:nvPr/>
        </p:nvGrpSpPr>
        <p:grpSpPr bwMode="auto">
          <a:xfrm>
            <a:off x="468313" y="5084763"/>
            <a:ext cx="5111750" cy="720725"/>
            <a:chOff x="295" y="2523"/>
            <a:chExt cx="3220" cy="454"/>
          </a:xfrm>
        </p:grpSpPr>
        <p:sp>
          <p:nvSpPr>
            <p:cNvPr id="22556" name="Rectangle 60"/>
            <p:cNvSpPr>
              <a:spLocks noChangeArrowheads="1"/>
            </p:cNvSpPr>
            <p:nvPr/>
          </p:nvSpPr>
          <p:spPr bwMode="auto">
            <a:xfrm>
              <a:off x="295" y="2523"/>
              <a:ext cx="1814" cy="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2557" name="Rectangle 61"/>
            <p:cNvSpPr>
              <a:spLocks noChangeArrowheads="1"/>
            </p:cNvSpPr>
            <p:nvPr/>
          </p:nvSpPr>
          <p:spPr bwMode="auto">
            <a:xfrm>
              <a:off x="2925" y="2523"/>
              <a:ext cx="590" cy="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218174" name="Group 62"/>
          <p:cNvGrpSpPr>
            <a:grpSpLocks/>
          </p:cNvGrpSpPr>
          <p:nvPr/>
        </p:nvGrpSpPr>
        <p:grpSpPr bwMode="auto">
          <a:xfrm>
            <a:off x="468313" y="5805488"/>
            <a:ext cx="5111750" cy="720725"/>
            <a:chOff x="295" y="2523"/>
            <a:chExt cx="3220" cy="454"/>
          </a:xfrm>
        </p:grpSpPr>
        <p:sp>
          <p:nvSpPr>
            <p:cNvPr id="22554" name="Rectangle 63"/>
            <p:cNvSpPr>
              <a:spLocks noChangeArrowheads="1"/>
            </p:cNvSpPr>
            <p:nvPr/>
          </p:nvSpPr>
          <p:spPr bwMode="auto">
            <a:xfrm>
              <a:off x="295" y="2523"/>
              <a:ext cx="1814" cy="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2555" name="Rectangle 64"/>
            <p:cNvSpPr>
              <a:spLocks noChangeArrowheads="1"/>
            </p:cNvSpPr>
            <p:nvPr/>
          </p:nvSpPr>
          <p:spPr bwMode="auto">
            <a:xfrm>
              <a:off x="2925" y="2523"/>
              <a:ext cx="590" cy="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218154" name="Group 42"/>
          <p:cNvGrpSpPr>
            <a:grpSpLocks/>
          </p:cNvGrpSpPr>
          <p:nvPr/>
        </p:nvGrpSpPr>
        <p:grpSpPr bwMode="auto">
          <a:xfrm>
            <a:off x="395288" y="5445125"/>
            <a:ext cx="5256212" cy="73025"/>
            <a:chOff x="2018" y="3339"/>
            <a:chExt cx="3493" cy="0"/>
          </a:xfrm>
        </p:grpSpPr>
        <p:sp>
          <p:nvSpPr>
            <p:cNvPr id="22552" name="Line 43"/>
            <p:cNvSpPr>
              <a:spLocks noChangeShapeType="1"/>
            </p:cNvSpPr>
            <p:nvPr/>
          </p:nvSpPr>
          <p:spPr bwMode="auto">
            <a:xfrm>
              <a:off x="2018" y="3339"/>
              <a:ext cx="2132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3" name="Line 44"/>
            <p:cNvSpPr>
              <a:spLocks noChangeShapeType="1"/>
            </p:cNvSpPr>
            <p:nvPr/>
          </p:nvSpPr>
          <p:spPr bwMode="auto">
            <a:xfrm>
              <a:off x="4830" y="3339"/>
              <a:ext cx="681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8150" name="Object 38"/>
          <p:cNvGraphicFramePr>
            <a:graphicFrameLocks noChangeAspect="1"/>
          </p:cNvGraphicFramePr>
          <p:nvPr/>
        </p:nvGraphicFramePr>
        <p:xfrm>
          <a:off x="4932363" y="2636838"/>
          <a:ext cx="4024312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8" name="Equation" r:id="rId17" imgW="2146300" imgH="812800" progId="Equation.DSMT4">
                  <p:embed/>
                </p:oleObj>
              </mc:Choice>
              <mc:Fallback>
                <p:oleObj name="Equation" r:id="rId17" imgW="2146300" imgH="8128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636838"/>
                        <a:ext cx="4024312" cy="15208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79" name="Rectangle 67"/>
          <p:cNvSpPr>
            <a:spLocks noChangeArrowheads="1"/>
          </p:cNvSpPr>
          <p:nvPr/>
        </p:nvSpPr>
        <p:spPr bwMode="auto">
          <a:xfrm>
            <a:off x="6156325" y="1700213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4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个方程</a:t>
            </a:r>
          </a:p>
        </p:txBody>
      </p:sp>
      <p:sp>
        <p:nvSpPr>
          <p:cNvPr id="218180" name="Rectangle 68"/>
          <p:cNvSpPr>
            <a:spLocks noChangeArrowheads="1"/>
          </p:cNvSpPr>
          <p:nvPr/>
        </p:nvSpPr>
        <p:spPr bwMode="auto">
          <a:xfrm>
            <a:off x="6227763" y="4076700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个方程</a:t>
            </a:r>
          </a:p>
        </p:txBody>
      </p:sp>
      <p:sp>
        <p:nvSpPr>
          <p:cNvPr id="218181" name="AutoShape 69"/>
          <p:cNvSpPr>
            <a:spLocks noChangeArrowheads="1"/>
          </p:cNvSpPr>
          <p:nvPr/>
        </p:nvSpPr>
        <p:spPr bwMode="auto">
          <a:xfrm>
            <a:off x="5795963" y="4292600"/>
            <a:ext cx="360362" cy="10080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21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21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3000"/>
                                        <p:tgtEl>
                                          <p:spTgt spid="218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1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3000"/>
                                        <p:tgtEl>
                                          <p:spTgt spid="218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1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3000"/>
                                        <p:tgtEl>
                                          <p:spTgt spid="218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1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1" dur="1000"/>
                                        <p:tgtEl>
                                          <p:spTgt spid="21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21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0"/>
                                        <p:tgtEl>
                                          <p:spTgt spid="21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0"/>
                                        <p:tgtEl>
                                          <p:spTgt spid="21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000"/>
                                        <p:tgtEl>
                                          <p:spTgt spid="21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21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7" dur="2000"/>
                                        <p:tgtEl>
                                          <p:spTgt spid="21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1000"/>
                                        <p:tgtEl>
                                          <p:spTgt spid="21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3000"/>
                                        <p:tgtEl>
                                          <p:spTgt spid="218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3000"/>
                                        <p:tgtEl>
                                          <p:spTgt spid="218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1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3000"/>
                                        <p:tgtEl>
                                          <p:spTgt spid="21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36" grpId="0" animBg="1"/>
      <p:bldP spid="218144" grpId="0"/>
      <p:bldP spid="218146" grpId="0"/>
      <p:bldP spid="218179" grpId="0"/>
      <p:bldP spid="2181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D044A0A-5BA8-48F3-A1A8-12F52C5BDB93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1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7F9375-4F2E-4327-BCAF-A0E7C0E1690D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23557" name="Object 45"/>
          <p:cNvGraphicFramePr>
            <a:graphicFrameLocks noChangeAspect="1"/>
          </p:cNvGraphicFramePr>
          <p:nvPr/>
        </p:nvGraphicFramePr>
        <p:xfrm>
          <a:off x="3563938" y="692150"/>
          <a:ext cx="5580062" cy="340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3" name="位图图像" r:id="rId3" imgW="2980952" imgH="1819529" progId="Paint.Picture">
                  <p:embed/>
                </p:oleObj>
              </mc:Choice>
              <mc:Fallback>
                <p:oleObj name="位图图像" r:id="rId3" imgW="2980952" imgH="1819529" progId="Paint.Picture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692150"/>
                        <a:ext cx="5580062" cy="340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50"/>
          <p:cNvSpPr>
            <a:spLocks noChangeArrowheads="1"/>
          </p:cNvSpPr>
          <p:nvPr/>
        </p:nvSpPr>
        <p:spPr bwMode="auto">
          <a:xfrm>
            <a:off x="323850" y="606425"/>
            <a:ext cx="497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1</a:t>
            </a: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Obtain the nodal equations.</a:t>
            </a:r>
          </a:p>
        </p:txBody>
      </p:sp>
      <p:sp>
        <p:nvSpPr>
          <p:cNvPr id="199731" name="Rectangle 51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讨论 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目标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：结点分析法应用</a:t>
            </a:r>
          </a:p>
        </p:txBody>
      </p:sp>
      <p:grpSp>
        <p:nvGrpSpPr>
          <p:cNvPr id="199738" name="Group 58"/>
          <p:cNvGrpSpPr>
            <a:grpSpLocks/>
          </p:cNvGrpSpPr>
          <p:nvPr/>
        </p:nvGrpSpPr>
        <p:grpSpPr bwMode="auto">
          <a:xfrm>
            <a:off x="4672013" y="1484313"/>
            <a:ext cx="3341687" cy="2736850"/>
            <a:chOff x="2943" y="935"/>
            <a:chExt cx="2105" cy="1724"/>
          </a:xfrm>
        </p:grpSpPr>
        <p:graphicFrame>
          <p:nvGraphicFramePr>
            <p:cNvPr id="23567" name="Object 53"/>
            <p:cNvGraphicFramePr>
              <a:graphicFrameLocks noChangeAspect="1"/>
            </p:cNvGraphicFramePr>
            <p:nvPr/>
          </p:nvGraphicFramePr>
          <p:xfrm>
            <a:off x="2943" y="935"/>
            <a:ext cx="360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4" name="Equation" r:id="rId5" imgW="241300" imgH="228600" progId="Equation.DSMT4">
                    <p:embed/>
                  </p:oleObj>
                </mc:Choice>
                <mc:Fallback>
                  <p:oleObj name="Equation" r:id="rId5" imgW="241300" imgH="22860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3" y="935"/>
                          <a:ext cx="360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8" name="Object 54"/>
            <p:cNvGraphicFramePr>
              <a:graphicFrameLocks noChangeAspect="1"/>
            </p:cNvGraphicFramePr>
            <p:nvPr/>
          </p:nvGraphicFramePr>
          <p:xfrm>
            <a:off x="4674" y="935"/>
            <a:ext cx="374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5" name="Equation" r:id="rId7" imgW="241300" imgH="228600" progId="Equation.DSMT4">
                    <p:embed/>
                  </p:oleObj>
                </mc:Choice>
                <mc:Fallback>
                  <p:oleObj name="Equation" r:id="rId7" imgW="241300" imgH="22860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4" y="935"/>
                          <a:ext cx="374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9" name="Line 56"/>
            <p:cNvSpPr>
              <a:spLocks noChangeShapeType="1"/>
            </p:cNvSpPr>
            <p:nvPr/>
          </p:nvSpPr>
          <p:spPr bwMode="auto">
            <a:xfrm>
              <a:off x="4681" y="2477"/>
              <a:ext cx="0" cy="1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0" name="Line 57"/>
            <p:cNvSpPr>
              <a:spLocks noChangeShapeType="1"/>
            </p:cNvSpPr>
            <p:nvPr/>
          </p:nvSpPr>
          <p:spPr bwMode="auto">
            <a:xfrm>
              <a:off x="4590" y="2659"/>
              <a:ext cx="18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99739" name="Object 59"/>
          <p:cNvGraphicFramePr>
            <a:graphicFrameLocks noChangeAspect="1"/>
          </p:cNvGraphicFramePr>
          <p:nvPr/>
        </p:nvGraphicFramePr>
        <p:xfrm>
          <a:off x="755650" y="4365625"/>
          <a:ext cx="50561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6" name="Equation" r:id="rId9" imgW="2273300" imgH="228600" progId="Equation.DSMT4">
                  <p:embed/>
                </p:oleObj>
              </mc:Choice>
              <mc:Fallback>
                <p:oleObj name="Equation" r:id="rId9" imgW="2273300" imgH="2286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365625"/>
                        <a:ext cx="50561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741" name="Object 61"/>
          <p:cNvGraphicFramePr>
            <a:graphicFrameLocks noChangeAspect="1"/>
          </p:cNvGraphicFramePr>
          <p:nvPr/>
        </p:nvGraphicFramePr>
        <p:xfrm>
          <a:off x="755650" y="5013325"/>
          <a:ext cx="50863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7" name="Equation" r:id="rId11" imgW="2286000" imgH="228600" progId="Equation.DSMT4">
                  <p:embed/>
                </p:oleObj>
              </mc:Choice>
              <mc:Fallback>
                <p:oleObj name="Equation" r:id="rId11" imgW="2286000" imgH="22860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013325"/>
                        <a:ext cx="50863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743" name="Object 63"/>
          <p:cNvGraphicFramePr>
            <a:graphicFrameLocks noChangeAspect="1"/>
          </p:cNvGraphicFramePr>
          <p:nvPr/>
        </p:nvGraphicFramePr>
        <p:xfrm>
          <a:off x="755650" y="5734050"/>
          <a:ext cx="24018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8" name="Equation" r:id="rId13" imgW="1079500" imgH="228600" progId="Equation.DSMT4">
                  <p:embed/>
                </p:oleObj>
              </mc:Choice>
              <mc:Fallback>
                <p:oleObj name="Equation" r:id="rId13" imgW="1079500" imgH="2286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734050"/>
                        <a:ext cx="24018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744" name="AutoShape 64"/>
          <p:cNvSpPr>
            <a:spLocks/>
          </p:cNvSpPr>
          <p:nvPr/>
        </p:nvSpPr>
        <p:spPr bwMode="auto">
          <a:xfrm>
            <a:off x="468313" y="4508500"/>
            <a:ext cx="215900" cy="1512888"/>
          </a:xfrm>
          <a:prstGeom prst="leftBrace">
            <a:avLst>
              <a:gd name="adj1" fmla="val 58395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9745" name="Oval 65"/>
          <p:cNvSpPr>
            <a:spLocks noChangeArrowheads="1"/>
          </p:cNvSpPr>
          <p:nvPr/>
        </p:nvSpPr>
        <p:spPr bwMode="auto">
          <a:xfrm>
            <a:off x="4787900" y="1773238"/>
            <a:ext cx="862013" cy="503237"/>
          </a:xfrm>
          <a:prstGeom prst="ellips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9746" name="Oval 66"/>
          <p:cNvSpPr>
            <a:spLocks noChangeArrowheads="1"/>
          </p:cNvSpPr>
          <p:nvPr/>
        </p:nvSpPr>
        <p:spPr bwMode="auto">
          <a:xfrm>
            <a:off x="7239000" y="1700213"/>
            <a:ext cx="862013" cy="503237"/>
          </a:xfrm>
          <a:prstGeom prst="ellips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99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99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99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99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99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99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9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9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8" dur="2000"/>
                                        <p:tgtEl>
                                          <p:spTgt spid="19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744" grpId="0" animBg="1"/>
      <p:bldP spid="199745" grpId="0" animBg="1"/>
      <p:bldP spid="19974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E392DAB-554F-4497-9BE1-E47250777F6A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1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89D1FB-2454-4834-B449-54552DB68263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323850" y="606425"/>
            <a:ext cx="497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2</a:t>
            </a: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Obtain the nodal equations.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4787900" y="571500"/>
          <a:ext cx="4321175" cy="340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3" name="Visio" r:id="rId3" imgW="2109692" imgH="1669494" progId="Visio.Drawing.11">
                  <p:embed/>
                </p:oleObj>
              </mc:Choice>
              <mc:Fallback>
                <p:oleObj name="Visio" r:id="rId3" imgW="2109692" imgH="1669494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71500"/>
                        <a:ext cx="4321175" cy="340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9" name="Rectangle 7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讨论 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目标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：结点分析法应用</a:t>
            </a:r>
          </a:p>
        </p:txBody>
      </p:sp>
      <p:grpSp>
        <p:nvGrpSpPr>
          <p:cNvPr id="243726" name="Group 14"/>
          <p:cNvGrpSpPr>
            <a:grpSpLocks/>
          </p:cNvGrpSpPr>
          <p:nvPr/>
        </p:nvGrpSpPr>
        <p:grpSpPr bwMode="auto">
          <a:xfrm>
            <a:off x="4716463" y="1628775"/>
            <a:ext cx="4319587" cy="2520950"/>
            <a:chOff x="2971" y="1026"/>
            <a:chExt cx="2721" cy="1588"/>
          </a:xfrm>
        </p:grpSpPr>
        <p:graphicFrame>
          <p:nvGraphicFramePr>
            <p:cNvPr id="24592" name="Object 9"/>
            <p:cNvGraphicFramePr>
              <a:graphicFrameLocks noChangeAspect="1"/>
            </p:cNvGraphicFramePr>
            <p:nvPr/>
          </p:nvGraphicFramePr>
          <p:xfrm>
            <a:off x="2971" y="1162"/>
            <a:ext cx="303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14" name="Equation" r:id="rId5" imgW="203112" imgH="228501" progId="Equation.DSMT4">
                    <p:embed/>
                  </p:oleObj>
                </mc:Choice>
                <mc:Fallback>
                  <p:oleObj name="Equation" r:id="rId5" imgW="203112" imgH="228501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1162"/>
                          <a:ext cx="303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3" name="Object 10"/>
            <p:cNvGraphicFramePr>
              <a:graphicFrameLocks noChangeAspect="1"/>
            </p:cNvGraphicFramePr>
            <p:nvPr/>
          </p:nvGraphicFramePr>
          <p:xfrm>
            <a:off x="4105" y="1026"/>
            <a:ext cx="334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15" name="Equation" r:id="rId7" imgW="215806" imgH="228501" progId="Equation.DSMT4">
                    <p:embed/>
                  </p:oleObj>
                </mc:Choice>
                <mc:Fallback>
                  <p:oleObj name="Equation" r:id="rId7" imgW="215806" imgH="228501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1026"/>
                          <a:ext cx="334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4" name="Object 11"/>
            <p:cNvGraphicFramePr>
              <a:graphicFrameLocks noChangeAspect="1"/>
            </p:cNvGraphicFramePr>
            <p:nvPr/>
          </p:nvGraphicFramePr>
          <p:xfrm>
            <a:off x="5377" y="1162"/>
            <a:ext cx="315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16" name="Equation" r:id="rId9" imgW="203112" imgH="228501" progId="Equation.DSMT4">
                    <p:embed/>
                  </p:oleObj>
                </mc:Choice>
                <mc:Fallback>
                  <p:oleObj name="Equation" r:id="rId9" imgW="203112" imgH="22850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7" y="1162"/>
                          <a:ext cx="315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5" name="Line 12"/>
            <p:cNvSpPr>
              <a:spLocks noChangeShapeType="1"/>
            </p:cNvSpPr>
            <p:nvPr/>
          </p:nvSpPr>
          <p:spPr bwMode="auto">
            <a:xfrm>
              <a:off x="4286" y="2432"/>
              <a:ext cx="0" cy="1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6" name="Line 13"/>
            <p:cNvSpPr>
              <a:spLocks noChangeShapeType="1"/>
            </p:cNvSpPr>
            <p:nvPr/>
          </p:nvSpPr>
          <p:spPr bwMode="auto">
            <a:xfrm>
              <a:off x="4195" y="2614"/>
              <a:ext cx="18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3727" name="Object 15"/>
          <p:cNvGraphicFramePr>
            <a:graphicFrameLocks noChangeAspect="1"/>
          </p:cNvGraphicFramePr>
          <p:nvPr/>
        </p:nvGraphicFramePr>
        <p:xfrm>
          <a:off x="406400" y="3860800"/>
          <a:ext cx="50292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7" name="Equation" r:id="rId11" imgW="2260600" imgH="393700" progId="Equation.DSMT4">
                  <p:embed/>
                </p:oleObj>
              </mc:Choice>
              <mc:Fallback>
                <p:oleObj name="Equation" r:id="rId11" imgW="2260600" imgH="3937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3860800"/>
                        <a:ext cx="502920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8" name="Object 16"/>
          <p:cNvGraphicFramePr>
            <a:graphicFrameLocks noChangeAspect="1"/>
          </p:cNvGraphicFramePr>
          <p:nvPr/>
        </p:nvGraphicFramePr>
        <p:xfrm>
          <a:off x="468313" y="6081713"/>
          <a:ext cx="10160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8" name="Equation" r:id="rId13" imgW="457200" imgH="228600" progId="Equation.DSMT4">
                  <p:embed/>
                </p:oleObj>
              </mc:Choice>
              <mc:Fallback>
                <p:oleObj name="Equation" r:id="rId13" imgW="4572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6081713"/>
                        <a:ext cx="10160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9" name="Object 17"/>
          <p:cNvGraphicFramePr>
            <a:graphicFrameLocks noChangeAspect="1"/>
          </p:cNvGraphicFramePr>
          <p:nvPr/>
        </p:nvGraphicFramePr>
        <p:xfrm>
          <a:off x="395288" y="5000625"/>
          <a:ext cx="4859337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9" name="Equation" r:id="rId15" imgW="2184400" imgH="393700" progId="Equation.DSMT4">
                  <p:embed/>
                </p:oleObj>
              </mc:Choice>
              <mc:Fallback>
                <p:oleObj name="Equation" r:id="rId15" imgW="2184400" imgH="3937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000625"/>
                        <a:ext cx="4859337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0" name="Object 18"/>
          <p:cNvGraphicFramePr>
            <a:graphicFrameLocks noChangeAspect="1"/>
          </p:cNvGraphicFramePr>
          <p:nvPr/>
        </p:nvGraphicFramePr>
        <p:xfrm>
          <a:off x="1979613" y="5876925"/>
          <a:ext cx="1243012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0" name="Equation" r:id="rId17" imgW="558558" imgH="393529" progId="Equation.DSMT4">
                  <p:embed/>
                </p:oleObj>
              </mc:Choice>
              <mc:Fallback>
                <p:oleObj name="Equation" r:id="rId17" imgW="558558" imgH="39352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876925"/>
                        <a:ext cx="1243012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31" name="AutoShape 19"/>
          <p:cNvSpPr>
            <a:spLocks/>
          </p:cNvSpPr>
          <p:nvPr/>
        </p:nvSpPr>
        <p:spPr bwMode="auto">
          <a:xfrm>
            <a:off x="179388" y="3992563"/>
            <a:ext cx="215900" cy="2389187"/>
          </a:xfrm>
          <a:prstGeom prst="leftBrace">
            <a:avLst>
              <a:gd name="adj1" fmla="val 92218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3732" name="Oval 20"/>
          <p:cNvSpPr>
            <a:spLocks noChangeArrowheads="1"/>
          </p:cNvSpPr>
          <p:nvPr/>
        </p:nvSpPr>
        <p:spPr bwMode="auto">
          <a:xfrm>
            <a:off x="4643438" y="1917700"/>
            <a:ext cx="862012" cy="503238"/>
          </a:xfrm>
          <a:prstGeom prst="ellips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3733" name="Oval 21"/>
          <p:cNvSpPr>
            <a:spLocks noChangeArrowheads="1"/>
          </p:cNvSpPr>
          <p:nvPr/>
        </p:nvSpPr>
        <p:spPr bwMode="auto">
          <a:xfrm>
            <a:off x="8243888" y="1917700"/>
            <a:ext cx="862012" cy="503238"/>
          </a:xfrm>
          <a:prstGeom prst="ellips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243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243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4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4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4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4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24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31" grpId="0" animBg="1"/>
      <p:bldP spid="243732" grpId="0" animBg="1"/>
      <p:bldP spid="24373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F365FAC-FA73-46AF-BEFD-13AED6CD6D29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1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F2E418-DAAE-439C-B0ED-DA96B31B4B9E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25605" name="Rectangle 2"/>
          <p:cNvSpPr>
            <a:spLocks noChangeArrowheads="1"/>
          </p:cNvSpPr>
          <p:nvPr/>
        </p:nvSpPr>
        <p:spPr bwMode="auto">
          <a:xfrm>
            <a:off x="323850" y="606425"/>
            <a:ext cx="497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3</a:t>
            </a: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Obtain the nodal equations.</a:t>
            </a:r>
          </a:p>
        </p:txBody>
      </p:sp>
      <p:graphicFrame>
        <p:nvGraphicFramePr>
          <p:cNvPr id="25606" name="Object 3"/>
          <p:cNvGraphicFramePr>
            <a:graphicFrameLocks noChangeAspect="1"/>
          </p:cNvGraphicFramePr>
          <p:nvPr/>
        </p:nvGraphicFramePr>
        <p:xfrm>
          <a:off x="4787900" y="571500"/>
          <a:ext cx="4321175" cy="340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7" name="Visio" r:id="rId3" imgW="2109692" imgH="1669494" progId="Visio.Drawing.11">
                  <p:embed/>
                </p:oleObj>
              </mc:Choice>
              <mc:Fallback>
                <p:oleObj name="Visio" r:id="rId3" imgW="2109692" imgH="166949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71500"/>
                        <a:ext cx="4321175" cy="340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0" name="Rectangle 4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讨论 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目标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：结点分析法应用</a:t>
            </a:r>
          </a:p>
        </p:txBody>
      </p:sp>
      <p:grpSp>
        <p:nvGrpSpPr>
          <p:cNvPr id="25608" name="Group 16"/>
          <p:cNvGrpSpPr>
            <a:grpSpLocks/>
          </p:cNvGrpSpPr>
          <p:nvPr/>
        </p:nvGrpSpPr>
        <p:grpSpPr bwMode="auto">
          <a:xfrm>
            <a:off x="4716463" y="1628775"/>
            <a:ext cx="4032250" cy="2651125"/>
            <a:chOff x="2971" y="1026"/>
            <a:chExt cx="2540" cy="1670"/>
          </a:xfrm>
        </p:grpSpPr>
        <p:graphicFrame>
          <p:nvGraphicFramePr>
            <p:cNvPr id="25616" name="Object 6"/>
            <p:cNvGraphicFramePr>
              <a:graphicFrameLocks noChangeAspect="1"/>
            </p:cNvGraphicFramePr>
            <p:nvPr/>
          </p:nvGraphicFramePr>
          <p:xfrm>
            <a:off x="2971" y="1162"/>
            <a:ext cx="303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8" name="Equation" r:id="rId5" imgW="203112" imgH="228501" progId="Equation.DSMT4">
                    <p:embed/>
                  </p:oleObj>
                </mc:Choice>
                <mc:Fallback>
                  <p:oleObj name="Equation" r:id="rId5" imgW="203112" imgH="228501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1162"/>
                          <a:ext cx="303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7" name="Object 7"/>
            <p:cNvGraphicFramePr>
              <a:graphicFrameLocks noChangeAspect="1"/>
            </p:cNvGraphicFramePr>
            <p:nvPr/>
          </p:nvGraphicFramePr>
          <p:xfrm>
            <a:off x="4105" y="1026"/>
            <a:ext cx="334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9" name="Equation" r:id="rId7" imgW="215806" imgH="228501" progId="Equation.DSMT4">
                    <p:embed/>
                  </p:oleObj>
                </mc:Choice>
                <mc:Fallback>
                  <p:oleObj name="Equation" r:id="rId7" imgW="215806" imgH="228501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1026"/>
                          <a:ext cx="334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8" name="Object 8"/>
            <p:cNvGraphicFramePr>
              <a:graphicFrameLocks noChangeAspect="1"/>
            </p:cNvGraphicFramePr>
            <p:nvPr/>
          </p:nvGraphicFramePr>
          <p:xfrm>
            <a:off x="4150" y="2341"/>
            <a:ext cx="315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40" name="Equation" r:id="rId9" imgW="203112" imgH="228501" progId="Equation.DSMT4">
                    <p:embed/>
                  </p:oleObj>
                </mc:Choice>
                <mc:Fallback>
                  <p:oleObj name="Equation" r:id="rId9" imgW="203112" imgH="228501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2341"/>
                          <a:ext cx="315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9" name="Line 9"/>
            <p:cNvSpPr>
              <a:spLocks noChangeShapeType="1"/>
            </p:cNvSpPr>
            <p:nvPr/>
          </p:nvSpPr>
          <p:spPr bwMode="auto">
            <a:xfrm>
              <a:off x="5511" y="1281"/>
              <a:ext cx="0" cy="1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0" name="Line 10"/>
            <p:cNvSpPr>
              <a:spLocks noChangeShapeType="1"/>
            </p:cNvSpPr>
            <p:nvPr/>
          </p:nvSpPr>
          <p:spPr bwMode="auto">
            <a:xfrm>
              <a:off x="5329" y="1375"/>
              <a:ext cx="18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60107" name="Object 11"/>
          <p:cNvGraphicFramePr>
            <a:graphicFrameLocks noChangeAspect="1"/>
          </p:cNvGraphicFramePr>
          <p:nvPr/>
        </p:nvGraphicFramePr>
        <p:xfrm>
          <a:off x="420688" y="3859213"/>
          <a:ext cx="494347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1" name="Equation" r:id="rId11" imgW="2222500" imgH="393700" progId="Equation.DSMT4">
                  <p:embed/>
                </p:oleObj>
              </mc:Choice>
              <mc:Fallback>
                <p:oleObj name="Equation" r:id="rId11" imgW="2222500" imgH="393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8" y="3859213"/>
                        <a:ext cx="4943475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8" name="Object 12"/>
          <p:cNvGraphicFramePr>
            <a:graphicFrameLocks noChangeAspect="1"/>
          </p:cNvGraphicFramePr>
          <p:nvPr/>
        </p:nvGraphicFramePr>
        <p:xfrm>
          <a:off x="539750" y="5948363"/>
          <a:ext cx="16922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2" name="Equation" r:id="rId13" imgW="761669" imgH="228501" progId="Equation.DSMT4">
                  <p:embed/>
                </p:oleObj>
              </mc:Choice>
              <mc:Fallback>
                <p:oleObj name="Equation" r:id="rId13" imgW="761669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948363"/>
                        <a:ext cx="169227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9" name="Object 13"/>
          <p:cNvGraphicFramePr>
            <a:graphicFrameLocks noChangeAspect="1"/>
          </p:cNvGraphicFramePr>
          <p:nvPr/>
        </p:nvGraphicFramePr>
        <p:xfrm>
          <a:off x="296863" y="4797425"/>
          <a:ext cx="5624512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3" name="Equation" r:id="rId15" imgW="2527300" imgH="393700" progId="Equation.DSMT4">
                  <p:embed/>
                </p:oleObj>
              </mc:Choice>
              <mc:Fallback>
                <p:oleObj name="Equation" r:id="rId15" imgW="25273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3" y="4797425"/>
                        <a:ext cx="5624512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10" name="Object 14"/>
          <p:cNvGraphicFramePr>
            <a:graphicFrameLocks noChangeAspect="1"/>
          </p:cNvGraphicFramePr>
          <p:nvPr/>
        </p:nvGraphicFramePr>
        <p:xfrm>
          <a:off x="2627313" y="5734050"/>
          <a:ext cx="1468437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4" name="Equation" r:id="rId17" imgW="660113" imgH="393529" progId="Equation.DSMT4">
                  <p:embed/>
                </p:oleObj>
              </mc:Choice>
              <mc:Fallback>
                <p:oleObj name="Equation" r:id="rId17" imgW="660113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734050"/>
                        <a:ext cx="1468437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11" name="AutoShape 15"/>
          <p:cNvSpPr>
            <a:spLocks/>
          </p:cNvSpPr>
          <p:nvPr/>
        </p:nvSpPr>
        <p:spPr bwMode="auto">
          <a:xfrm>
            <a:off x="179388" y="4003675"/>
            <a:ext cx="288925" cy="2305050"/>
          </a:xfrm>
          <a:prstGeom prst="leftBrace">
            <a:avLst>
              <a:gd name="adj1" fmla="val 66484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0113" name="Oval 17"/>
          <p:cNvSpPr>
            <a:spLocks noChangeArrowheads="1"/>
          </p:cNvSpPr>
          <p:nvPr/>
        </p:nvSpPr>
        <p:spPr bwMode="auto">
          <a:xfrm>
            <a:off x="6300788" y="1628775"/>
            <a:ext cx="1081087" cy="2808288"/>
          </a:xfrm>
          <a:prstGeom prst="ellips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0114" name="Oval 18"/>
          <p:cNvSpPr>
            <a:spLocks noChangeArrowheads="1"/>
          </p:cNvSpPr>
          <p:nvPr/>
        </p:nvSpPr>
        <p:spPr bwMode="auto">
          <a:xfrm>
            <a:off x="4643438" y="1917700"/>
            <a:ext cx="862012" cy="503238"/>
          </a:xfrm>
          <a:prstGeom prst="ellips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60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60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60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60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6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6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6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6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6" dur="2000"/>
                                        <p:tgtEl>
                                          <p:spTgt spid="26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11" grpId="0" animBg="1"/>
      <p:bldP spid="260113" grpId="0" animBg="1"/>
      <p:bldP spid="2601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5" name="日期占位符 1"/>
          <p:cNvSpPr txBox="1">
            <a:spLocks/>
          </p:cNvSpPr>
          <p:nvPr/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6" name="页脚占位符 2"/>
          <p:cNvSpPr txBox="1">
            <a:spLocks/>
          </p:cNvSpPr>
          <p:nvPr/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7" name="灯片编号占位符 3"/>
          <p:cNvSpPr txBox="1">
            <a:spLocks/>
          </p:cNvSpPr>
          <p:nvPr/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 txBox="1">
                <a:spLocks/>
              </p:cNvSpPr>
              <p:nvPr/>
            </p:nvSpPr>
            <p:spPr>
              <a:xfrm>
                <a:off x="39077" y="408870"/>
                <a:ext cx="8925411" cy="626049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buFontTx/>
                  <a:buNone/>
                </a:pPr>
                <a:r>
                  <a:rPr lang="en-US" altLang="zh-CN" sz="1600" dirty="0" smtClean="0"/>
                  <a:t>1</a:t>
                </a:r>
                <a:r>
                  <a:rPr lang="zh-CN" altLang="en-US" sz="1600" dirty="0" smtClean="0"/>
                  <a:t>）求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解</a:t>
                </a:r>
                <a:r>
                  <a:rPr lang="en-US" altLang="zh-CN" sz="1600" dirty="0" smtClean="0"/>
                  <a:t>:  </a:t>
                </a:r>
                <a:r>
                  <a:rPr lang="zh-CN" altLang="en-US" sz="1600" dirty="0" smtClean="0"/>
                  <a:t> 对图中各节点、元件及元件的电压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n-US" altLang="zh-CN" sz="1600" dirty="0"/>
                  <a:t> </a:t>
                </a:r>
                <a:r>
                  <a:rPr lang="en-US" altLang="zh-CN" sz="1600" dirty="0" smtClean="0"/>
                  <a:t> </a:t>
                </a:r>
                <a:r>
                  <a:rPr lang="zh-CN" altLang="en-US" sz="1600" dirty="0" smtClean="0"/>
                  <a:t>电流进行编号并注明方向，如图所示。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n-US" altLang="zh-CN" sz="1600" dirty="0"/>
                  <a:t>2)</a:t>
                </a:r>
                <a:r>
                  <a:rPr lang="zh-CN" altLang="en-US" sz="1600" dirty="0"/>
                  <a:t>该电路</a:t>
                </a:r>
                <a:r>
                  <a:rPr lang="en-US" altLang="zh-CN" sz="1600" dirty="0"/>
                  <a:t>b=6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n=4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m=b-n+1=3</a:t>
                </a:r>
                <a:r>
                  <a:rPr lang="zh-CN" altLang="en-US" sz="1600" dirty="0"/>
                  <a:t>，因而可</a:t>
                </a:r>
                <a:r>
                  <a:rPr lang="zh-CN" altLang="en-US" sz="1600" dirty="0" smtClean="0"/>
                  <a:t>通过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列</a:t>
                </a:r>
                <a:r>
                  <a:rPr lang="zh-CN" altLang="en-US" sz="1600" dirty="0"/>
                  <a:t>写</a:t>
                </a:r>
                <a:r>
                  <a:rPr lang="en-US" altLang="zh-CN" sz="1600" dirty="0"/>
                  <a:t>3</a:t>
                </a:r>
                <a:r>
                  <a:rPr lang="zh-CN" altLang="en-US" sz="1600" dirty="0"/>
                  <a:t>个独立</a:t>
                </a:r>
                <a:r>
                  <a:rPr lang="en-US" altLang="zh-CN" sz="1600" dirty="0" err="1"/>
                  <a:t>kcl</a:t>
                </a:r>
                <a:r>
                  <a:rPr lang="zh-CN" altLang="en-US" sz="1600" dirty="0"/>
                  <a:t>方程和</a:t>
                </a:r>
                <a:r>
                  <a:rPr lang="en-US" altLang="zh-CN" sz="1600" dirty="0"/>
                  <a:t>3</a:t>
                </a:r>
                <a:r>
                  <a:rPr lang="zh-CN" altLang="en-US" sz="1600" dirty="0"/>
                  <a:t>个</a:t>
                </a:r>
                <a:r>
                  <a:rPr lang="en-US" altLang="zh-CN" sz="1600" dirty="0"/>
                  <a:t>KVL</a:t>
                </a:r>
                <a:r>
                  <a:rPr lang="zh-CN" altLang="en-US" sz="1600" dirty="0"/>
                  <a:t>方程，同时应用欧姆定律</a:t>
                </a:r>
                <a:r>
                  <a:rPr lang="zh-CN" altLang="en-US" sz="1600" dirty="0" smtClean="0"/>
                  <a:t>，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求解</a:t>
                </a:r>
                <a:r>
                  <a:rPr lang="zh-CN" altLang="en-US" sz="1600" dirty="0"/>
                  <a:t>六条支路的电流及各电阻两端电压。</a:t>
                </a:r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/>
                  <a:t>对结点</a:t>
                </a:r>
                <a:r>
                  <a:rPr lang="en-US" altLang="zh-CN" sz="1600" dirty="0"/>
                  <a:t> </a:t>
                </a:r>
                <a:r>
                  <a:rPr lang="en-US" altLang="zh-CN" sz="1600" dirty="0" err="1"/>
                  <a:t>a,b,c</a:t>
                </a:r>
                <a:r>
                  <a:rPr lang="zh-CN" altLang="en-US" sz="1600" dirty="0"/>
                  <a:t>列写独立</a:t>
                </a:r>
                <a:r>
                  <a:rPr lang="en-US" altLang="zh-CN" sz="1600" dirty="0" err="1"/>
                  <a:t>kcl</a:t>
                </a:r>
                <a:r>
                  <a:rPr lang="zh-CN" altLang="en-US" sz="1600" dirty="0"/>
                  <a:t>方程，以电流流入结点为正</a:t>
                </a:r>
                <a:r>
                  <a:rPr lang="zh-CN" altLang="en-US" sz="1600" dirty="0" smtClean="0"/>
                  <a:t>，</a:t>
                </a:r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 smtClean="0"/>
                  <a:t>即：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/>
                  <a:t>对三个网孔</a:t>
                </a:r>
                <a:r>
                  <a:rPr lang="en-US" altLang="zh-CN" sz="1600" dirty="0"/>
                  <a:t>m1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m2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m3</a:t>
                </a:r>
                <a:r>
                  <a:rPr lang="zh-CN" altLang="en-US" sz="1600" dirty="0"/>
                  <a:t>列写独立</a:t>
                </a:r>
                <a:r>
                  <a:rPr lang="en-US" altLang="zh-CN" sz="1600" dirty="0" err="1"/>
                  <a:t>kVL</a:t>
                </a:r>
                <a:r>
                  <a:rPr lang="zh-CN" altLang="en-US" sz="1600" dirty="0"/>
                  <a:t>方程，电压以网孔顺时针方向为正，即</a:t>
                </a:r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n-US" altLang="zh-CN" sz="1600" dirty="0"/>
                  <a:t>        </a:t>
                </a:r>
                <a:r>
                  <a:rPr lang="en-US" altLang="zh-CN" sz="1600" dirty="0" smtClean="0"/>
                  <a:t>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1600" dirty="0" smtClean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zh-CN" altLang="en-US" sz="1600" dirty="0"/>
                  <a:t>上述</a:t>
                </a:r>
                <a:r>
                  <a:rPr lang="en-US" altLang="zh-CN" sz="1600" dirty="0"/>
                  <a:t>6</a:t>
                </a:r>
                <a:r>
                  <a:rPr lang="zh-CN" altLang="en-US" sz="1600" dirty="0"/>
                  <a:t>个方程中，</a:t>
                </a:r>
                <a:r>
                  <a:rPr lang="en-US" altLang="zh-CN" sz="1600" dirty="0"/>
                  <a:t>u</a:t>
                </a:r>
                <a:r>
                  <a:rPr lang="en-US" altLang="zh-CN" sz="1600" baseline="-25000" dirty="0"/>
                  <a:t>s</a:t>
                </a:r>
                <a:r>
                  <a:rPr lang="zh-CN" altLang="en-US" sz="1600" dirty="0"/>
                  <a:t>和</a:t>
                </a:r>
                <a:r>
                  <a:rPr lang="en-US" altLang="zh-CN" sz="1600" dirty="0"/>
                  <a:t>R</a:t>
                </a:r>
                <a:r>
                  <a:rPr lang="en-US" altLang="zh-CN" sz="1600" baseline="-25000" dirty="0"/>
                  <a:t>1</a:t>
                </a:r>
                <a:r>
                  <a:rPr lang="en-US" altLang="zh-CN" sz="1600" dirty="0"/>
                  <a:t>~R</a:t>
                </a:r>
                <a:r>
                  <a:rPr lang="en-US" altLang="zh-CN" sz="1600" baseline="-25000" dirty="0"/>
                  <a:t>5</a:t>
                </a:r>
                <a:r>
                  <a:rPr lang="zh-CN" altLang="en-US" sz="1600" dirty="0"/>
                  <a:t>已知，代入参数计算可得</a:t>
                </a:r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sz="160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endParaRPr lang="zh-CN" altLang="en-US" sz="1600" dirty="0"/>
              </a:p>
            </p:txBody>
          </p:sp>
        </mc:Choice>
        <mc:Fallback xmlns="">
          <p:sp>
            <p:nvSpPr>
              <p:cNvPr id="8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" y="408870"/>
                <a:ext cx="8925411" cy="6260490"/>
              </a:xfrm>
              <a:prstGeom prst="rect">
                <a:avLst/>
              </a:prstGeom>
              <a:blipFill>
                <a:blip r:embed="rId2"/>
                <a:stretch>
                  <a:fillRect l="-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/>
          <p:cNvSpPr txBox="1">
            <a:spLocks/>
          </p:cNvSpPr>
          <p:nvPr/>
        </p:nvSpPr>
        <p:spPr>
          <a:xfrm>
            <a:off x="83527" y="118942"/>
            <a:ext cx="7886700" cy="347051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zh-CN" altLang="en-US" smtClean="0"/>
              <a:t>习题</a:t>
            </a:r>
            <a:r>
              <a:rPr lang="en-US" altLang="zh-CN" smtClean="0"/>
              <a:t>1-30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4996495" y="1455542"/>
            <a:ext cx="4459933" cy="2571335"/>
            <a:chOff x="4596144" y="1455542"/>
            <a:chExt cx="4459933" cy="2571335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6144" y="1824874"/>
              <a:ext cx="4459933" cy="2202003"/>
            </a:xfrm>
            <a:prstGeom prst="rect">
              <a:avLst/>
            </a:prstGeom>
          </p:spPr>
        </p:pic>
        <p:cxnSp>
          <p:nvCxnSpPr>
            <p:cNvPr id="12" name="直接箭头连接符 11"/>
            <p:cNvCxnSpPr/>
            <p:nvPr/>
          </p:nvCxnSpPr>
          <p:spPr>
            <a:xfrm flipV="1">
              <a:off x="6860932" y="2818967"/>
              <a:ext cx="0" cy="36927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6881631" y="2818967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1631" y="2818967"/>
                  <a:ext cx="42825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6646815" y="1455542"/>
                  <a:ext cx="500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6815" y="1455542"/>
                  <a:ext cx="50090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/>
            <p:cNvCxnSpPr/>
            <p:nvPr/>
          </p:nvCxnSpPr>
          <p:spPr>
            <a:xfrm>
              <a:off x="7035204" y="1925516"/>
              <a:ext cx="4269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6978162" y="1455542"/>
                  <a:ext cx="4229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8162" y="1455542"/>
                  <a:ext cx="42293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7360760" y="3432413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760" y="3432413"/>
                <a:ext cx="506229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/>
          <p:cNvCxnSpPr/>
          <p:nvPr/>
        </p:nvCxnSpPr>
        <p:spPr>
          <a:xfrm>
            <a:off x="6735101" y="2579077"/>
            <a:ext cx="426987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6632745" y="2179441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745" y="2179441"/>
                <a:ext cx="428258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6336754" y="2149137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754" y="2149137"/>
                <a:ext cx="506229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/>
          <p:cNvCxnSpPr/>
          <p:nvPr/>
        </p:nvCxnSpPr>
        <p:spPr>
          <a:xfrm>
            <a:off x="8030501" y="2579077"/>
            <a:ext cx="426987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7816372" y="2180302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372" y="2180302"/>
                <a:ext cx="428258" cy="369332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7520381" y="2149998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381" y="2149998"/>
                <a:ext cx="506229" cy="369332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/>
          <p:cNvCxnSpPr/>
          <p:nvPr/>
        </p:nvCxnSpPr>
        <p:spPr>
          <a:xfrm>
            <a:off x="8559385" y="2579077"/>
            <a:ext cx="786" cy="407377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8678307" y="3400608"/>
                <a:ext cx="506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307" y="3400608"/>
                <a:ext cx="506229" cy="369332"/>
              </a:xfrm>
              <a:prstGeom prst="rect">
                <a:avLst/>
              </a:prstGeom>
              <a:blipFill>
                <a:blip r:embed="rId1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8639109" y="2772209"/>
                <a:ext cx="428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109" y="2772209"/>
                <a:ext cx="428258" cy="369332"/>
              </a:xfrm>
              <a:prstGeom prst="rect">
                <a:avLst/>
              </a:prstGeom>
              <a:blipFill>
                <a:blip r:embed="rId1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/>
          <p:cNvGrpSpPr/>
          <p:nvPr/>
        </p:nvGrpSpPr>
        <p:grpSpPr>
          <a:xfrm>
            <a:off x="5341626" y="1812156"/>
            <a:ext cx="3540683" cy="2807738"/>
            <a:chOff x="5178669" y="1812156"/>
            <a:chExt cx="3540683" cy="2807738"/>
          </a:xfrm>
        </p:grpSpPr>
        <p:sp>
          <p:nvSpPr>
            <p:cNvPr id="28" name="椭圆 27"/>
            <p:cNvSpPr/>
            <p:nvPr/>
          </p:nvSpPr>
          <p:spPr>
            <a:xfrm>
              <a:off x="5505530" y="1812156"/>
              <a:ext cx="520271" cy="9144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5178669" y="192551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a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69961" y="225861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b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430490" y="2357224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c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726542" y="3756903"/>
              <a:ext cx="2743567" cy="3995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53894" y="425056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d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/>
              <p:cNvSpPr txBox="1"/>
              <p:nvPr/>
            </p:nvSpPr>
            <p:spPr>
              <a:xfrm>
                <a:off x="4988285" y="2815893"/>
                <a:ext cx="475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285" y="2815893"/>
                <a:ext cx="47500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/>
          <p:cNvCxnSpPr/>
          <p:nvPr/>
        </p:nvCxnSpPr>
        <p:spPr>
          <a:xfrm flipV="1">
            <a:off x="5943600" y="2627942"/>
            <a:ext cx="0" cy="358512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5499613" y="2563971"/>
                <a:ext cx="412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613" y="2563971"/>
                <a:ext cx="41222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7937752" y="193502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405591" y="308800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882514" y="303956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4804350" y="4732932"/>
                <a:ext cx="3877985" cy="2484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各支路的电压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方向与各自电流关联</a:t>
                </a:r>
                <a:r>
                  <a:rPr lang="en-US" altLang="zh-CN" dirty="0" smtClean="0"/>
                  <a:t>)</a:t>
                </a:r>
              </a:p>
              <a:p>
                <a:r>
                  <a:rPr lang="zh-CN" altLang="en-US" dirty="0" smtClean="0"/>
                  <a:t>均可用结点的电位差表示：</a:t>
                </a:r>
                <a:endParaRPr lang="en-US" altLang="zh-CN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𝑎𝑐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𝑎𝑑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𝑐𝑑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𝑑𝑏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𝑏𝑑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𝑎𝑑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350" y="4732932"/>
                <a:ext cx="3877985" cy="2484398"/>
              </a:xfrm>
              <a:prstGeom prst="rect">
                <a:avLst/>
              </a:prstGeom>
              <a:blipFill>
                <a:blip r:embed="rId16"/>
                <a:stretch>
                  <a:fillRect l="-1258" t="-1225" r="-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408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7993063" cy="5040313"/>
          </a:xfrm>
        </p:spPr>
        <p:txBody>
          <a:bodyPr/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节点分析法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是以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各节点的电位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作为未知变量来列写方程</a:t>
            </a:r>
            <a:r>
              <a:rPr lang="en-US" altLang="zh-CN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节点方程</a:t>
            </a:r>
            <a:r>
              <a:rPr lang="en-US" altLang="zh-CN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任选一个节点为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基准节点</a:t>
            </a:r>
            <a:r>
              <a:rPr lang="en-US" altLang="zh-CN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参考节点</a:t>
            </a:r>
            <a:r>
              <a:rPr lang="en-US" altLang="zh-CN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，且电位恒取为零。其他节点的电位就是它们与基准节点之间的电压，称为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节点电压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8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(n–1)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个独立节点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的电压为变量列写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(n–1)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个独立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KCL</a:t>
            </a:r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</a:t>
            </a:r>
            <a:endParaRPr lang="en-US" altLang="zh-CN" sz="28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从节点方程求得节点电压以后，再求出各支路电压和电流。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3.1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结点分析法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Nodal analysis </a:t>
            </a:r>
            <a:b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</a:br>
            <a:endParaRPr lang="en-US" altLang="zh-CN" sz="2800" dirty="0" smtClean="0">
              <a:solidFill>
                <a:srgbClr val="CC3300"/>
              </a:solidFill>
              <a:ea typeface="隶书" panose="02010509060101010101" pitchFamily="49" charset="-122"/>
            </a:endParaRPr>
          </a:p>
        </p:txBody>
      </p:sp>
      <p:pic>
        <p:nvPicPr>
          <p:cNvPr id="10245" name="Picture 5" descr="https://png.pngtree.com/element_origin_min_pic/17/08/04/4748eb25439154c3b91b6d3394c10ba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616" y="4229284"/>
            <a:ext cx="1008062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611560" y="5373216"/>
            <a:ext cx="82221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节点分析法：节点电位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b="1" dirty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变</a:t>
            </a:r>
            <a:r>
              <a:rPr lang="zh-CN" altLang="en-US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量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)-&gt;</a:t>
            </a:r>
            <a:r>
              <a:rPr lang="zh-CN" altLang="en-US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支路电压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—&gt;</a:t>
            </a:r>
            <a:r>
              <a:rPr lang="zh-CN" altLang="en-US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节点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KCL</a:t>
            </a:r>
            <a:r>
              <a:rPr lang="zh-CN" altLang="en-US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方程</a:t>
            </a:r>
            <a:endParaRPr lang="en-US" altLang="zh-CN" b="1" dirty="0" smtClean="0">
              <a:solidFill>
                <a:srgbClr val="3333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just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   ?? (  )</a:t>
            </a:r>
            <a:r>
              <a:rPr lang="zh-CN" altLang="en-US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电流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变量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)-&gt;</a:t>
            </a:r>
            <a:r>
              <a:rPr lang="zh-CN" altLang="en-US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支路电流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—&gt;(  </a:t>
            </a:r>
            <a:r>
              <a:rPr lang="en-US" altLang="zh-CN" b="1" dirty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KVL</a:t>
            </a:r>
            <a:r>
              <a:rPr lang="zh-CN" altLang="en-US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方程</a:t>
            </a:r>
            <a:r>
              <a:rPr lang="en-US" altLang="zh-CN" b="1" dirty="0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 </a:t>
            </a:r>
            <a:endParaRPr lang="zh-CN" altLang="en-US" b="1" dirty="0">
              <a:solidFill>
                <a:srgbClr val="3333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60233" y="5970611"/>
            <a:ext cx="64807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网孔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483768" y="5970611"/>
            <a:ext cx="64807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网孔</a:t>
            </a:r>
          </a:p>
        </p:txBody>
      </p:sp>
    </p:spTree>
    <p:extLst>
      <p:ext uri="{BB962C8B-B14F-4D97-AF65-F5344CB8AC3E}">
        <p14:creationId xmlns:p14="http://schemas.microsoft.com/office/powerpoint/2010/main" val="65585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3" grpId="0" uiExpand="1" build="p" autoUpdateAnimBg="0"/>
      <p:bldP spid="5" grpId="0"/>
      <p:bldP spid="3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323850" y="849313"/>
            <a:ext cx="7923213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以假想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的网孔电流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为未知量列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写网孔的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方程。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若网孔电流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已求得，则各支路电流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可用网孔电流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线性组合表 示。  </a:t>
            </a:r>
          </a:p>
        </p:txBody>
      </p:sp>
      <p:sp>
        <p:nvSpPr>
          <p:cNvPr id="8238" name="Text Box 46"/>
          <p:cNvSpPr txBox="1">
            <a:spLocks noChangeArrowheads="1"/>
          </p:cNvSpPr>
          <p:nvPr/>
        </p:nvSpPr>
        <p:spPr bwMode="auto">
          <a:xfrm>
            <a:off x="438150" y="4873625"/>
            <a:ext cx="8305800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网孔电流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是在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独立网孔中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闭合的，对每个相关节点均流 进一次，流出一次，所以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KCL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自动满足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。若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以网孔电流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为未 知量列方程来求解电路，只需对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独立网孔列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方程。  </a:t>
            </a:r>
          </a:p>
        </p:txBody>
      </p:sp>
      <p:grpSp>
        <p:nvGrpSpPr>
          <p:cNvPr id="8377" name="Group 185"/>
          <p:cNvGrpSpPr>
            <a:grpSpLocks/>
          </p:cNvGrpSpPr>
          <p:nvPr/>
        </p:nvGrpSpPr>
        <p:grpSpPr bwMode="auto">
          <a:xfrm>
            <a:off x="1200150" y="2849563"/>
            <a:ext cx="625475" cy="971550"/>
            <a:chOff x="756" y="1704"/>
            <a:chExt cx="394" cy="612"/>
          </a:xfrm>
        </p:grpSpPr>
        <p:sp>
          <p:nvSpPr>
            <p:cNvPr id="26667" name="Oval 92"/>
            <p:cNvSpPr>
              <a:spLocks noChangeArrowheads="1"/>
            </p:cNvSpPr>
            <p:nvPr/>
          </p:nvSpPr>
          <p:spPr bwMode="auto">
            <a:xfrm>
              <a:off x="756" y="1704"/>
              <a:ext cx="394" cy="61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68" name="Text Box 93"/>
            <p:cNvSpPr txBox="1">
              <a:spLocks noChangeArrowheads="1"/>
            </p:cNvSpPr>
            <p:nvPr/>
          </p:nvSpPr>
          <p:spPr bwMode="auto">
            <a:xfrm>
              <a:off x="817" y="1911"/>
              <a:ext cx="31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FF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i="1" baseline="-25000">
                  <a:solidFill>
                    <a:srgbClr val="FF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l</a:t>
              </a:r>
              <a:r>
                <a:rPr lang="en-US" altLang="zh-CN" sz="1800" b="1" baseline="-25000">
                  <a:solidFill>
                    <a:srgbClr val="FF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1</a:t>
              </a:r>
              <a:endParaRPr lang="en-US" altLang="zh-CN" sz="18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69" name="Line 94"/>
            <p:cNvSpPr>
              <a:spLocks noChangeShapeType="1"/>
            </p:cNvSpPr>
            <p:nvPr/>
          </p:nvSpPr>
          <p:spPr bwMode="auto">
            <a:xfrm flipH="1" flipV="1">
              <a:off x="756" y="1992"/>
              <a:ext cx="2" cy="3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376" name="Group 184"/>
          <p:cNvGrpSpPr>
            <a:grpSpLocks/>
          </p:cNvGrpSpPr>
          <p:nvPr/>
        </p:nvGrpSpPr>
        <p:grpSpPr bwMode="auto">
          <a:xfrm>
            <a:off x="2305050" y="2925763"/>
            <a:ext cx="625475" cy="971550"/>
            <a:chOff x="1452" y="1752"/>
            <a:chExt cx="394" cy="612"/>
          </a:xfrm>
        </p:grpSpPr>
        <p:sp>
          <p:nvSpPr>
            <p:cNvPr id="26664" name="Oval 101"/>
            <p:cNvSpPr>
              <a:spLocks noChangeArrowheads="1"/>
            </p:cNvSpPr>
            <p:nvPr/>
          </p:nvSpPr>
          <p:spPr bwMode="auto">
            <a:xfrm>
              <a:off x="1452" y="1752"/>
              <a:ext cx="394" cy="61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65" name="Text Box 102"/>
            <p:cNvSpPr txBox="1">
              <a:spLocks noChangeArrowheads="1"/>
            </p:cNvSpPr>
            <p:nvPr/>
          </p:nvSpPr>
          <p:spPr bwMode="auto">
            <a:xfrm>
              <a:off x="1513" y="1959"/>
              <a:ext cx="303" cy="233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FF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i="1" baseline="-25000">
                  <a:solidFill>
                    <a:srgbClr val="FF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l</a:t>
              </a:r>
              <a:r>
                <a:rPr lang="en-US" altLang="zh-CN" sz="1800" b="1" baseline="-25000">
                  <a:solidFill>
                    <a:srgbClr val="FF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2</a:t>
              </a:r>
              <a:endParaRPr lang="en-US" altLang="zh-CN" sz="18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66" name="Line 103"/>
            <p:cNvSpPr>
              <a:spLocks noChangeShapeType="1"/>
            </p:cNvSpPr>
            <p:nvPr/>
          </p:nvSpPr>
          <p:spPr bwMode="auto">
            <a:xfrm flipH="1" flipV="1">
              <a:off x="1452" y="2040"/>
              <a:ext cx="2" cy="3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96" name="Text Box 104"/>
          <p:cNvSpPr txBox="1">
            <a:spLocks noChangeArrowheads="1"/>
          </p:cNvSpPr>
          <p:nvPr/>
        </p:nvSpPr>
        <p:spPr bwMode="auto">
          <a:xfrm>
            <a:off x="4057650" y="2247900"/>
            <a:ext cx="424815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选图示的两个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独立网孔，  设网孔电流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分别为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 </a:t>
            </a:r>
            <a:endParaRPr lang="zh-CN" altLang="en-US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97" name="Text Box 105"/>
          <p:cNvSpPr txBox="1">
            <a:spLocks noChangeArrowheads="1"/>
          </p:cNvSpPr>
          <p:nvPr/>
        </p:nvSpPr>
        <p:spPr bwMode="auto">
          <a:xfrm>
            <a:off x="4043363" y="3373438"/>
            <a:ext cx="4910319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支路电流可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由网孔电流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表出  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baseline="-25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= i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l1   </a:t>
            </a:r>
            <a:r>
              <a:rPr lang="en-US" altLang="zh-CN" b="1" baseline="-25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baseline="-25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= i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l2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- i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l1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I</a:t>
            </a:r>
            <a:r>
              <a:rPr lang="en-US" altLang="zh-CN" b="1" baseline="-25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= i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l2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375" name="Group 183"/>
          <p:cNvGrpSpPr>
            <a:grpSpLocks/>
          </p:cNvGrpSpPr>
          <p:nvPr/>
        </p:nvGrpSpPr>
        <p:grpSpPr bwMode="auto">
          <a:xfrm>
            <a:off x="228600" y="2147888"/>
            <a:ext cx="3746500" cy="2676525"/>
            <a:chOff x="144" y="1262"/>
            <a:chExt cx="2360" cy="1686"/>
          </a:xfrm>
        </p:grpSpPr>
        <p:sp>
          <p:nvSpPr>
            <p:cNvPr id="26634" name="Oval 170"/>
            <p:cNvSpPr>
              <a:spLocks noChangeArrowheads="1"/>
            </p:cNvSpPr>
            <p:nvPr/>
          </p:nvSpPr>
          <p:spPr bwMode="auto">
            <a:xfrm>
              <a:off x="1206" y="2262"/>
              <a:ext cx="227" cy="227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35" name="Oval 169"/>
            <p:cNvSpPr>
              <a:spLocks noChangeArrowheads="1"/>
            </p:cNvSpPr>
            <p:nvPr/>
          </p:nvSpPr>
          <p:spPr bwMode="auto">
            <a:xfrm>
              <a:off x="522" y="2262"/>
              <a:ext cx="227" cy="227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grpSp>
          <p:nvGrpSpPr>
            <p:cNvPr id="26636" name="Group 182"/>
            <p:cNvGrpSpPr>
              <a:grpSpLocks/>
            </p:cNvGrpSpPr>
            <p:nvPr/>
          </p:nvGrpSpPr>
          <p:grpSpPr bwMode="auto">
            <a:xfrm>
              <a:off x="258" y="1457"/>
              <a:ext cx="292" cy="288"/>
              <a:chOff x="258" y="1457"/>
              <a:chExt cx="292" cy="288"/>
            </a:xfrm>
          </p:grpSpPr>
          <p:sp>
            <p:nvSpPr>
              <p:cNvPr id="26662" name="Line 149"/>
              <p:cNvSpPr>
                <a:spLocks noChangeShapeType="1"/>
              </p:cNvSpPr>
              <p:nvPr/>
            </p:nvSpPr>
            <p:spPr bwMode="auto">
              <a:xfrm flipV="1">
                <a:off x="550" y="1482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63" name="Text Box 150"/>
              <p:cNvSpPr txBox="1">
                <a:spLocks noChangeArrowheads="1"/>
              </p:cNvSpPr>
              <p:nvPr/>
            </p:nvSpPr>
            <p:spPr bwMode="auto">
              <a:xfrm>
                <a:off x="258" y="1457"/>
                <a:ext cx="2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 i="1">
                    <a:latin typeface="幼圆" panose="02010509060101010101" pitchFamily="49" charset="-122"/>
                    <a:ea typeface="幼圆" panose="02010509060101010101" pitchFamily="49" charset="-122"/>
                  </a:rPr>
                  <a:t>I</a:t>
                </a:r>
                <a:r>
                  <a:rPr lang="en-US" altLang="zh-CN" sz="1800" b="1" baseline="-25000">
                    <a:latin typeface="幼圆" panose="02010509060101010101" pitchFamily="49" charset="-122"/>
                    <a:ea typeface="幼圆" panose="02010509060101010101" pitchFamily="49" charset="-122"/>
                  </a:rPr>
                  <a:t>1</a:t>
                </a:r>
                <a:endPara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grpSp>
          <p:nvGrpSpPr>
            <p:cNvPr id="26637" name="Group 180"/>
            <p:cNvGrpSpPr>
              <a:grpSpLocks/>
            </p:cNvGrpSpPr>
            <p:nvPr/>
          </p:nvGrpSpPr>
          <p:grpSpPr bwMode="auto">
            <a:xfrm>
              <a:off x="2083" y="1530"/>
              <a:ext cx="421" cy="300"/>
              <a:chOff x="2083" y="1530"/>
              <a:chExt cx="421" cy="300"/>
            </a:xfrm>
          </p:grpSpPr>
          <p:sp>
            <p:nvSpPr>
              <p:cNvPr id="26660" name="Line 152"/>
              <p:cNvSpPr>
                <a:spLocks noChangeShapeType="1"/>
              </p:cNvSpPr>
              <p:nvPr/>
            </p:nvSpPr>
            <p:spPr bwMode="auto">
              <a:xfrm>
                <a:off x="2083" y="159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61" name="Text Box 153"/>
              <p:cNvSpPr txBox="1">
                <a:spLocks noChangeArrowheads="1"/>
              </p:cNvSpPr>
              <p:nvPr/>
            </p:nvSpPr>
            <p:spPr bwMode="auto">
              <a:xfrm>
                <a:off x="2131" y="1530"/>
                <a:ext cx="3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 i="1">
                    <a:latin typeface="幼圆" panose="02010509060101010101" pitchFamily="49" charset="-122"/>
                    <a:ea typeface="幼圆" panose="02010509060101010101" pitchFamily="49" charset="-122"/>
                  </a:rPr>
                  <a:t>I</a:t>
                </a:r>
                <a:r>
                  <a:rPr lang="en-US" altLang="zh-CN" sz="1800" b="1" baseline="-25000">
                    <a:latin typeface="幼圆" panose="02010509060101010101" pitchFamily="49" charset="-122"/>
                    <a:ea typeface="幼圆" panose="02010509060101010101" pitchFamily="49" charset="-122"/>
                  </a:rPr>
                  <a:t>3</a:t>
                </a:r>
                <a:endPara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sp>
          <p:nvSpPr>
            <p:cNvPr id="26638" name="Text Box 154"/>
            <p:cNvSpPr txBox="1">
              <a:spLocks noChangeArrowheads="1"/>
            </p:cNvSpPr>
            <p:nvPr/>
          </p:nvSpPr>
          <p:spPr bwMode="auto">
            <a:xfrm>
              <a:off x="144" y="2190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U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S1</a:t>
              </a:r>
              <a:endParaRPr lang="en-US" altLang="zh-CN" sz="1800" b="1" i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39" name="Text Box 155"/>
            <p:cNvSpPr txBox="1">
              <a:spLocks noChangeArrowheads="1"/>
            </p:cNvSpPr>
            <p:nvPr/>
          </p:nvSpPr>
          <p:spPr bwMode="auto">
            <a:xfrm>
              <a:off x="823" y="2202"/>
              <a:ext cx="5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U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S2</a:t>
              </a:r>
              <a:endParaRPr lang="en-US" altLang="zh-CN" sz="1800" b="1" i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40" name="Line 156"/>
            <p:cNvSpPr>
              <a:spLocks noChangeShapeType="1"/>
            </p:cNvSpPr>
            <p:nvPr/>
          </p:nvSpPr>
          <p:spPr bwMode="auto">
            <a:xfrm flipV="1">
              <a:off x="641" y="1506"/>
              <a:ext cx="0" cy="11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1" name="Text Box 157"/>
            <p:cNvSpPr txBox="1">
              <a:spLocks noChangeArrowheads="1"/>
            </p:cNvSpPr>
            <p:nvPr/>
          </p:nvSpPr>
          <p:spPr bwMode="auto">
            <a:xfrm>
              <a:off x="299" y="1710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1</a:t>
              </a:r>
              <a:endParaRPr lang="en-US" altLang="zh-CN" sz="1800" b="1" i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42" name="Freeform 158"/>
            <p:cNvSpPr>
              <a:spLocks/>
            </p:cNvSpPr>
            <p:nvPr/>
          </p:nvSpPr>
          <p:spPr bwMode="auto">
            <a:xfrm>
              <a:off x="1320" y="1518"/>
              <a:ext cx="1" cy="1152"/>
            </a:xfrm>
            <a:custGeom>
              <a:avLst/>
              <a:gdLst>
                <a:gd name="T0" fmla="*/ 0 w 1"/>
                <a:gd name="T1" fmla="*/ 1152 h 1152"/>
                <a:gd name="T2" fmla="*/ 0 w 1"/>
                <a:gd name="T3" fmla="*/ 0 h 11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152">
                  <a:moveTo>
                    <a:pt x="0" y="1152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3" name="Text Box 159"/>
            <p:cNvSpPr txBox="1">
              <a:spLocks noChangeArrowheads="1"/>
            </p:cNvSpPr>
            <p:nvPr/>
          </p:nvSpPr>
          <p:spPr bwMode="auto">
            <a:xfrm>
              <a:off x="977" y="1752"/>
              <a:ext cx="3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2</a:t>
              </a:r>
              <a:endParaRPr lang="en-US" altLang="zh-CN" sz="1800" b="1" i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44" name="Freeform 160"/>
            <p:cNvSpPr>
              <a:spLocks/>
            </p:cNvSpPr>
            <p:nvPr/>
          </p:nvSpPr>
          <p:spPr bwMode="auto">
            <a:xfrm>
              <a:off x="647" y="2664"/>
              <a:ext cx="1357" cy="6"/>
            </a:xfrm>
            <a:custGeom>
              <a:avLst/>
              <a:gdLst>
                <a:gd name="T0" fmla="*/ 0 w 1357"/>
                <a:gd name="T1" fmla="*/ 6 h 6"/>
                <a:gd name="T2" fmla="*/ 1357 w 1357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57" h="6">
                  <a:moveTo>
                    <a:pt x="0" y="6"/>
                  </a:moveTo>
                  <a:lnTo>
                    <a:pt x="135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5" name="Freeform 161"/>
            <p:cNvSpPr>
              <a:spLocks/>
            </p:cNvSpPr>
            <p:nvPr/>
          </p:nvSpPr>
          <p:spPr bwMode="auto">
            <a:xfrm>
              <a:off x="648" y="1512"/>
              <a:ext cx="1357" cy="1"/>
            </a:xfrm>
            <a:custGeom>
              <a:avLst/>
              <a:gdLst>
                <a:gd name="T0" fmla="*/ 0 w 1357"/>
                <a:gd name="T1" fmla="*/ 0 h 1"/>
                <a:gd name="T2" fmla="*/ 1357 w 135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57" h="1">
                  <a:moveTo>
                    <a:pt x="0" y="0"/>
                  </a:moveTo>
                  <a:lnTo>
                    <a:pt x="1357" y="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6" name="Line 162"/>
            <p:cNvSpPr>
              <a:spLocks noChangeShapeType="1"/>
            </p:cNvSpPr>
            <p:nvPr/>
          </p:nvSpPr>
          <p:spPr bwMode="auto">
            <a:xfrm>
              <a:off x="1999" y="1518"/>
              <a:ext cx="0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7" name="Rectangle 163"/>
            <p:cNvSpPr>
              <a:spLocks noChangeArrowheads="1"/>
            </p:cNvSpPr>
            <p:nvPr/>
          </p:nvSpPr>
          <p:spPr bwMode="auto">
            <a:xfrm>
              <a:off x="583" y="1746"/>
              <a:ext cx="116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48" name="Rectangle 164"/>
            <p:cNvSpPr>
              <a:spLocks noChangeArrowheads="1"/>
            </p:cNvSpPr>
            <p:nvPr/>
          </p:nvSpPr>
          <p:spPr bwMode="auto">
            <a:xfrm>
              <a:off x="1268" y="1764"/>
              <a:ext cx="116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49" name="Text Box 165"/>
            <p:cNvSpPr txBox="1">
              <a:spLocks noChangeArrowheads="1"/>
            </p:cNvSpPr>
            <p:nvPr/>
          </p:nvSpPr>
          <p:spPr bwMode="auto">
            <a:xfrm>
              <a:off x="2051" y="1944"/>
              <a:ext cx="3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3</a:t>
              </a:r>
              <a:endParaRPr lang="en-US" altLang="zh-CN" sz="1800" b="1" i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50" name="Rectangle 166"/>
            <p:cNvSpPr>
              <a:spLocks noChangeArrowheads="1"/>
            </p:cNvSpPr>
            <p:nvPr/>
          </p:nvSpPr>
          <p:spPr bwMode="auto">
            <a:xfrm>
              <a:off x="1941" y="1962"/>
              <a:ext cx="116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651" name="Text Box 167"/>
            <p:cNvSpPr txBox="1">
              <a:spLocks noChangeArrowheads="1"/>
            </p:cNvSpPr>
            <p:nvPr/>
          </p:nvSpPr>
          <p:spPr bwMode="auto">
            <a:xfrm>
              <a:off x="1245" y="2660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b</a:t>
              </a:r>
            </a:p>
          </p:txBody>
        </p:sp>
        <p:sp>
          <p:nvSpPr>
            <p:cNvPr id="26652" name="Text Box 168"/>
            <p:cNvSpPr txBox="1">
              <a:spLocks noChangeArrowheads="1"/>
            </p:cNvSpPr>
            <p:nvPr/>
          </p:nvSpPr>
          <p:spPr bwMode="auto">
            <a:xfrm>
              <a:off x="1221" y="126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a</a:t>
              </a:r>
            </a:p>
          </p:txBody>
        </p:sp>
        <p:sp>
          <p:nvSpPr>
            <p:cNvPr id="26653" name="Text Box 171"/>
            <p:cNvSpPr txBox="1">
              <a:spLocks noChangeArrowheads="1"/>
            </p:cNvSpPr>
            <p:nvPr/>
          </p:nvSpPr>
          <p:spPr bwMode="auto">
            <a:xfrm>
              <a:off x="450" y="2034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+</a:t>
              </a:r>
            </a:p>
          </p:txBody>
        </p:sp>
        <p:sp>
          <p:nvSpPr>
            <p:cNvPr id="26654" name="Text Box 172"/>
            <p:cNvSpPr txBox="1">
              <a:spLocks noChangeArrowheads="1"/>
            </p:cNvSpPr>
            <p:nvPr/>
          </p:nvSpPr>
          <p:spPr bwMode="auto">
            <a:xfrm>
              <a:off x="450" y="2412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–</a:t>
              </a:r>
            </a:p>
          </p:txBody>
        </p:sp>
        <p:sp>
          <p:nvSpPr>
            <p:cNvPr id="26655" name="Text Box 173"/>
            <p:cNvSpPr txBox="1">
              <a:spLocks noChangeArrowheads="1"/>
            </p:cNvSpPr>
            <p:nvPr/>
          </p:nvSpPr>
          <p:spPr bwMode="auto">
            <a:xfrm>
              <a:off x="1134" y="2028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+</a:t>
              </a:r>
            </a:p>
          </p:txBody>
        </p:sp>
        <p:sp>
          <p:nvSpPr>
            <p:cNvPr id="26656" name="Text Box 174"/>
            <p:cNvSpPr txBox="1">
              <a:spLocks noChangeArrowheads="1"/>
            </p:cNvSpPr>
            <p:nvPr/>
          </p:nvSpPr>
          <p:spPr bwMode="auto">
            <a:xfrm>
              <a:off x="1134" y="2406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–</a:t>
              </a:r>
            </a:p>
          </p:txBody>
        </p:sp>
        <p:grpSp>
          <p:nvGrpSpPr>
            <p:cNvPr id="26657" name="Group 181"/>
            <p:cNvGrpSpPr>
              <a:grpSpLocks/>
            </p:cNvGrpSpPr>
            <p:nvPr/>
          </p:nvGrpSpPr>
          <p:grpSpPr bwMode="auto">
            <a:xfrm>
              <a:off x="940" y="1480"/>
              <a:ext cx="280" cy="290"/>
              <a:chOff x="940" y="1480"/>
              <a:chExt cx="280" cy="290"/>
            </a:xfrm>
          </p:grpSpPr>
          <p:sp>
            <p:nvSpPr>
              <p:cNvPr id="26658" name="Line 176"/>
              <p:cNvSpPr>
                <a:spLocks noChangeShapeType="1"/>
              </p:cNvSpPr>
              <p:nvPr/>
            </p:nvSpPr>
            <p:spPr bwMode="auto">
              <a:xfrm flipV="1">
                <a:off x="1205" y="1530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59" name="Text Box 177"/>
              <p:cNvSpPr txBox="1">
                <a:spLocks noChangeArrowheads="1"/>
              </p:cNvSpPr>
              <p:nvPr/>
            </p:nvSpPr>
            <p:spPr bwMode="auto">
              <a:xfrm>
                <a:off x="940" y="1480"/>
                <a:ext cx="2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 i="1">
                    <a:latin typeface="幼圆" panose="02010509060101010101" pitchFamily="49" charset="-122"/>
                    <a:ea typeface="幼圆" panose="02010509060101010101" pitchFamily="49" charset="-122"/>
                  </a:rPr>
                  <a:t>I</a:t>
                </a:r>
                <a:r>
                  <a:rPr lang="en-US" altLang="zh-CN" sz="1800" b="1" baseline="-25000">
                    <a:latin typeface="幼圆" panose="02010509060101010101" pitchFamily="49" charset="-122"/>
                    <a:ea typeface="幼圆" panose="02010509060101010101" pitchFamily="49" charset="-122"/>
                  </a:rPr>
                  <a:t>2</a:t>
                </a:r>
                <a:endPara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</p:grpSp>
      <p:sp>
        <p:nvSpPr>
          <p:cNvPr id="51" name="Rectangle 2"/>
          <p:cNvSpPr txBox="1">
            <a:spLocks noChangeArrowheads="1"/>
          </p:cNvSpPr>
          <p:nvPr/>
        </p:nvSpPr>
        <p:spPr>
          <a:xfrm>
            <a:off x="381000" y="304800"/>
            <a:ext cx="8458200" cy="838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3.2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网孔分析法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Mesh analysis</a:t>
            </a:r>
            <a:endParaRPr lang="en-US" altLang="zh-CN" sz="2800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238" grpId="0" autoUpdateAnimBg="0"/>
      <p:bldP spid="8296" grpId="0" autoUpdateAnimBg="0"/>
      <p:bldP spid="829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91F3C99-F36E-4F57-BAD0-3390793A5637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99A7B1-15E8-47A3-9392-AE57B98C46E2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3.4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网孔分析法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Mesh analysis</a:t>
            </a:r>
            <a:b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1.Mesh currents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323850" y="1916113"/>
          <a:ext cx="35052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5" name="Equation" r:id="rId3" imgW="1752600" imgH="228600" progId="Equation.DSMT4">
                  <p:embed/>
                </p:oleObj>
              </mc:Choice>
              <mc:Fallback>
                <p:oleObj name="Equation" r:id="rId3" imgW="17526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916113"/>
                        <a:ext cx="35052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5" name="Object 5"/>
          <p:cNvGraphicFramePr>
            <a:graphicFrameLocks noChangeAspect="1"/>
          </p:cNvGraphicFramePr>
          <p:nvPr/>
        </p:nvGraphicFramePr>
        <p:xfrm>
          <a:off x="3779838" y="-26988"/>
          <a:ext cx="5272087" cy="405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6" name="Visio" r:id="rId5" imgW="2856357" imgH="2203132" progId="Visio.Drawing.11">
                  <p:embed/>
                </p:oleObj>
              </mc:Choice>
              <mc:Fallback>
                <p:oleObj name="Visio" r:id="rId5" imgW="2856357" imgH="2203132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-26988"/>
                        <a:ext cx="5272087" cy="405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18" name="Group 18"/>
          <p:cNvGrpSpPr>
            <a:grpSpLocks/>
          </p:cNvGrpSpPr>
          <p:nvPr/>
        </p:nvGrpSpPr>
        <p:grpSpPr bwMode="auto">
          <a:xfrm>
            <a:off x="5487988" y="2541588"/>
            <a:ext cx="1065212" cy="811212"/>
            <a:chOff x="3264" y="1649"/>
            <a:chExt cx="671" cy="511"/>
          </a:xfrm>
        </p:grpSpPr>
        <p:graphicFrame>
          <p:nvGraphicFramePr>
            <p:cNvPr id="27677" name="Object 12"/>
            <p:cNvGraphicFramePr>
              <a:graphicFrameLocks noChangeAspect="1"/>
            </p:cNvGraphicFramePr>
            <p:nvPr/>
          </p:nvGraphicFramePr>
          <p:xfrm>
            <a:off x="3264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67" name="Visio" r:id="rId7" imgW="560213" imgH="433340" progId="Visio.Drawing.11">
                    <p:embed/>
                  </p:oleObj>
                </mc:Choice>
                <mc:Fallback>
                  <p:oleObj name="Visio" r:id="rId7" imgW="560213" imgH="433340" progId="Visio.Drawing.11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8" name="Object 15"/>
            <p:cNvGraphicFramePr>
              <a:graphicFrameLocks noChangeAspect="1"/>
            </p:cNvGraphicFramePr>
            <p:nvPr/>
          </p:nvGraphicFramePr>
          <p:xfrm>
            <a:off x="3312" y="1776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68" name="Equation" r:id="rId9" imgW="203024" imgH="215713" progId="Equation.3">
                    <p:embed/>
                  </p:oleObj>
                </mc:Choice>
                <mc:Fallback>
                  <p:oleObj name="Equation" r:id="rId9" imgW="203024" imgH="215713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819" name="Group 19"/>
          <p:cNvGrpSpPr>
            <a:grpSpLocks/>
          </p:cNvGrpSpPr>
          <p:nvPr/>
        </p:nvGrpSpPr>
        <p:grpSpPr bwMode="auto">
          <a:xfrm>
            <a:off x="7545388" y="2541588"/>
            <a:ext cx="1065212" cy="811212"/>
            <a:chOff x="4560" y="1649"/>
            <a:chExt cx="671" cy="511"/>
          </a:xfrm>
        </p:grpSpPr>
        <p:graphicFrame>
          <p:nvGraphicFramePr>
            <p:cNvPr id="27675" name="Object 13"/>
            <p:cNvGraphicFramePr>
              <a:graphicFrameLocks noChangeAspect="1"/>
            </p:cNvGraphicFramePr>
            <p:nvPr/>
          </p:nvGraphicFramePr>
          <p:xfrm>
            <a:off x="4560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69" name="Visio" r:id="rId11" imgW="560213" imgH="433340" progId="Visio.Drawing.11">
                    <p:embed/>
                  </p:oleObj>
                </mc:Choice>
                <mc:Fallback>
                  <p:oleObj name="Visio" r:id="rId11" imgW="560213" imgH="433340" progId="Visio.Drawing.11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6" name="Object 16"/>
            <p:cNvGraphicFramePr>
              <a:graphicFrameLocks noChangeAspect="1"/>
            </p:cNvGraphicFramePr>
            <p:nvPr/>
          </p:nvGraphicFramePr>
          <p:xfrm>
            <a:off x="4600" y="172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70" name="Equation" r:id="rId12" imgW="215619" imgH="215619" progId="Equation.3">
                    <p:embed/>
                  </p:oleObj>
                </mc:Choice>
                <mc:Fallback>
                  <p:oleObj name="Equation" r:id="rId12" imgW="215619" imgH="21561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172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820" name="Group 20"/>
          <p:cNvGrpSpPr>
            <a:grpSpLocks/>
          </p:cNvGrpSpPr>
          <p:nvPr/>
        </p:nvGrpSpPr>
        <p:grpSpPr bwMode="auto">
          <a:xfrm>
            <a:off x="6249988" y="990600"/>
            <a:ext cx="1065212" cy="811213"/>
            <a:chOff x="3744" y="672"/>
            <a:chExt cx="671" cy="511"/>
          </a:xfrm>
        </p:grpSpPr>
        <p:graphicFrame>
          <p:nvGraphicFramePr>
            <p:cNvPr id="27673" name="Object 14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71" name="Visio" r:id="rId14" imgW="560213" imgH="433340" progId="Visio.Drawing.11">
                    <p:embed/>
                  </p:oleObj>
                </mc:Choice>
                <mc:Fallback>
                  <p:oleObj name="Visio" r:id="rId14" imgW="560213" imgH="433340" progId="Visio.Drawing.11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4" name="Object 17"/>
            <p:cNvGraphicFramePr>
              <a:graphicFrameLocks noChangeAspect="1"/>
            </p:cNvGraphicFramePr>
            <p:nvPr/>
          </p:nvGraphicFramePr>
          <p:xfrm>
            <a:off x="3792" y="760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72" name="Equation" r:id="rId15" imgW="215806" imgH="228501" progId="Equation.DSMT4">
                    <p:embed/>
                  </p:oleObj>
                </mc:Choice>
                <mc:Fallback>
                  <p:oleObj name="Equation" r:id="rId15" imgW="215806" imgH="228501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0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4821" name="Object 21"/>
          <p:cNvGraphicFramePr>
            <a:graphicFrameLocks noChangeAspect="1"/>
          </p:cNvGraphicFramePr>
          <p:nvPr/>
        </p:nvGraphicFramePr>
        <p:xfrm>
          <a:off x="355600" y="1295400"/>
          <a:ext cx="101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3" name="Equation" r:id="rId17" imgW="508000" imgH="228600" progId="Equation.3">
                  <p:embed/>
                </p:oleObj>
              </mc:Choice>
              <mc:Fallback>
                <p:oleObj name="Equation" r:id="rId17" imgW="508000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1295400"/>
                        <a:ext cx="1016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22" name="Object 22"/>
          <p:cNvGraphicFramePr>
            <a:graphicFrameLocks noChangeAspect="1"/>
          </p:cNvGraphicFramePr>
          <p:nvPr/>
        </p:nvGraphicFramePr>
        <p:xfrm>
          <a:off x="2362200" y="1295400"/>
          <a:ext cx="147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4" name="Equation" r:id="rId19" imgW="736600" imgH="228600" progId="Equation.3">
                  <p:embed/>
                </p:oleObj>
              </mc:Choice>
              <mc:Fallback>
                <p:oleObj name="Equation" r:id="rId19" imgW="73660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295400"/>
                        <a:ext cx="1473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23" name="Rectangle 23"/>
          <p:cNvSpPr>
            <a:spLocks noChangeArrowheads="1"/>
          </p:cNvSpPr>
          <p:nvPr/>
        </p:nvSpPr>
        <p:spPr bwMode="auto">
          <a:xfrm>
            <a:off x="287338" y="2982913"/>
            <a:ext cx="3746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Results of applying KCL</a:t>
            </a:r>
          </a:p>
        </p:txBody>
      </p:sp>
      <p:sp>
        <p:nvSpPr>
          <p:cNvPr id="204824" name="Rectangle 24"/>
          <p:cNvSpPr>
            <a:spLocks noChangeArrowheads="1"/>
          </p:cNvSpPr>
          <p:nvPr/>
        </p:nvSpPr>
        <p:spPr bwMode="auto">
          <a:xfrm>
            <a:off x="228600" y="3886200"/>
            <a:ext cx="2778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2. 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Mesh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 equations</a:t>
            </a:r>
          </a:p>
        </p:txBody>
      </p:sp>
      <p:graphicFrame>
        <p:nvGraphicFramePr>
          <p:cNvPr id="204825" name="Object 25"/>
          <p:cNvGraphicFramePr>
            <a:graphicFrameLocks noChangeAspect="1"/>
          </p:cNvGraphicFramePr>
          <p:nvPr/>
        </p:nvGraphicFramePr>
        <p:xfrm>
          <a:off x="227013" y="4581525"/>
          <a:ext cx="520858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5" name="Equation" r:id="rId21" imgW="2895600" imgH="228600" progId="Equation.DSMT4">
                  <p:embed/>
                </p:oleObj>
              </mc:Choice>
              <mc:Fallback>
                <p:oleObj name="Equation" r:id="rId21" imgW="289560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3" y="4581525"/>
                        <a:ext cx="5208587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26" name="Object 26"/>
          <p:cNvGraphicFramePr>
            <a:graphicFrameLocks noChangeAspect="1"/>
          </p:cNvGraphicFramePr>
          <p:nvPr/>
        </p:nvGraphicFramePr>
        <p:xfrm>
          <a:off x="250825" y="5932488"/>
          <a:ext cx="477678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6" name="Equation" r:id="rId23" imgW="2654300" imgH="228600" progId="Equation.3">
                  <p:embed/>
                </p:oleObj>
              </mc:Choice>
              <mc:Fallback>
                <p:oleObj name="Equation" r:id="rId23" imgW="265430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932488"/>
                        <a:ext cx="4776788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27" name="Object 27"/>
          <p:cNvGraphicFramePr>
            <a:graphicFrameLocks noChangeAspect="1"/>
          </p:cNvGraphicFramePr>
          <p:nvPr/>
        </p:nvGraphicFramePr>
        <p:xfrm>
          <a:off x="250825" y="5246688"/>
          <a:ext cx="42957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7" name="Equation" r:id="rId25" imgW="2387600" imgH="228600" progId="Equation.3">
                  <p:embed/>
                </p:oleObj>
              </mc:Choice>
              <mc:Fallback>
                <p:oleObj name="Equation" r:id="rId25" imgW="238760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246688"/>
                        <a:ext cx="4295775" cy="411162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28" name="Object 28"/>
          <p:cNvGraphicFramePr>
            <a:graphicFrameLocks noChangeAspect="1"/>
          </p:cNvGraphicFramePr>
          <p:nvPr/>
        </p:nvGraphicFramePr>
        <p:xfrm>
          <a:off x="5457825" y="4013200"/>
          <a:ext cx="365442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8" name="Equation" r:id="rId27" imgW="1828800" imgH="711200" progId="Equation.DSMT4">
                  <p:embed/>
                </p:oleObj>
              </mc:Choice>
              <mc:Fallback>
                <p:oleObj name="Equation" r:id="rId27" imgW="1828800" imgH="711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5" y="4013200"/>
                        <a:ext cx="3654425" cy="1422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2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038546"/>
              </p:ext>
            </p:extLst>
          </p:nvPr>
        </p:nvGraphicFramePr>
        <p:xfrm>
          <a:off x="5569743" y="5466435"/>
          <a:ext cx="261687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9" name="Equation" r:id="rId29" imgW="1726920" imgH="228600" progId="Equation.DSMT4">
                  <p:embed/>
                </p:oleObj>
              </mc:Choice>
              <mc:Fallback>
                <p:oleObj name="Equation" r:id="rId29" imgW="172692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9743" y="5466435"/>
                        <a:ext cx="2616870" cy="4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858146"/>
              </p:ext>
            </p:extLst>
          </p:nvPr>
        </p:nvGraphicFramePr>
        <p:xfrm>
          <a:off x="5607050" y="5880585"/>
          <a:ext cx="2848339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0" name="Equation" r:id="rId31" imgW="1942920" imgH="241200" progId="Equation.DSMT4">
                  <p:embed/>
                </p:oleObj>
              </mc:Choice>
              <mc:Fallback>
                <p:oleObj name="Equation" r:id="rId31" imgW="1942920" imgH="2412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5880585"/>
                        <a:ext cx="2848339" cy="4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190094"/>
              </p:ext>
            </p:extLst>
          </p:nvPr>
        </p:nvGraphicFramePr>
        <p:xfrm>
          <a:off x="5630608" y="6279491"/>
          <a:ext cx="3365039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1" name="Equation" r:id="rId33" imgW="2450880" imgH="228600" progId="Equation.DSMT4">
                  <p:embed/>
                </p:oleObj>
              </mc:Choice>
              <mc:Fallback>
                <p:oleObj name="Equation" r:id="rId33" imgW="245088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608" y="6279491"/>
                        <a:ext cx="3365039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0" name="Line 32"/>
          <p:cNvSpPr>
            <a:spLocks noChangeShapeType="1"/>
          </p:cNvSpPr>
          <p:nvPr/>
        </p:nvSpPr>
        <p:spPr bwMode="auto">
          <a:xfrm>
            <a:off x="5435600" y="3933825"/>
            <a:ext cx="0" cy="2808288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33" name="AutoShape 33"/>
          <p:cNvSpPr>
            <a:spLocks/>
          </p:cNvSpPr>
          <p:nvPr/>
        </p:nvSpPr>
        <p:spPr bwMode="auto">
          <a:xfrm>
            <a:off x="-38100" y="4652963"/>
            <a:ext cx="288925" cy="1657350"/>
          </a:xfrm>
          <a:prstGeom prst="leftBrace">
            <a:avLst>
              <a:gd name="adj1" fmla="val 47802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04834" name="Object 34"/>
          <p:cNvGraphicFramePr>
            <a:graphicFrameLocks noChangeAspect="1"/>
          </p:cNvGraphicFramePr>
          <p:nvPr/>
        </p:nvGraphicFramePr>
        <p:xfrm>
          <a:off x="323850" y="2492375"/>
          <a:ext cx="29464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2" name="Equation" r:id="rId35" imgW="1473200" imgH="228600" progId="Equation.DSMT4">
                  <p:embed/>
                </p:oleObj>
              </mc:Choice>
              <mc:Fallback>
                <p:oleObj name="Equation" r:id="rId35" imgW="1473200" imgH="2286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492375"/>
                        <a:ext cx="29464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0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0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0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0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0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0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0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0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0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0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9" dur="2000"/>
                                        <p:tgtEl>
                                          <p:spTgt spid="20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20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20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20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20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3" grpId="0" autoUpdateAnimBg="0"/>
      <p:bldP spid="204824" grpId="0" autoUpdateAnimBg="0"/>
      <p:bldP spid="2048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6FC660B-B04B-4F76-9834-04613ACF074C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248A7D-FCE6-47C2-B9AB-74734E2E7551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8610600" cy="5334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rgbClr val="FF0000"/>
                </a:solidFill>
              </a:rPr>
              <a:t>3. </a:t>
            </a:r>
            <a:r>
              <a:rPr lang="zh-CN" alt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快速列写法</a:t>
            </a:r>
            <a:endParaRPr lang="en-US" altLang="zh-CN" sz="2800" dirty="0" smtClean="0">
              <a:solidFill>
                <a:srgbClr val="FF0000"/>
              </a:solidFill>
            </a:endParaRPr>
          </a:p>
        </p:txBody>
      </p:sp>
      <p:graphicFrame>
        <p:nvGraphicFramePr>
          <p:cNvPr id="28678" name="Object 22"/>
          <p:cNvGraphicFramePr>
            <a:graphicFrameLocks noChangeAspect="1"/>
          </p:cNvGraphicFramePr>
          <p:nvPr/>
        </p:nvGraphicFramePr>
        <p:xfrm>
          <a:off x="3059113" y="196850"/>
          <a:ext cx="5908675" cy="454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88" name="VISIO" r:id="rId3" imgW="2829923" imgH="2168087" progId="Visio.Drawing.5">
                  <p:embed/>
                </p:oleObj>
              </mc:Choice>
              <mc:Fallback>
                <p:oleObj name="VISIO" r:id="rId3" imgW="2829923" imgH="2168087" progId="Visio.Drawing.5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96850"/>
                        <a:ext cx="5908675" cy="454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9" name="Group 23"/>
          <p:cNvGrpSpPr>
            <a:grpSpLocks/>
          </p:cNvGrpSpPr>
          <p:nvPr/>
        </p:nvGrpSpPr>
        <p:grpSpPr bwMode="auto">
          <a:xfrm>
            <a:off x="4859338" y="3068638"/>
            <a:ext cx="1065212" cy="811212"/>
            <a:chOff x="3264" y="1649"/>
            <a:chExt cx="671" cy="511"/>
          </a:xfrm>
        </p:grpSpPr>
        <p:graphicFrame>
          <p:nvGraphicFramePr>
            <p:cNvPr id="28696" name="Object 24"/>
            <p:cNvGraphicFramePr>
              <a:graphicFrameLocks noChangeAspect="1"/>
            </p:cNvGraphicFramePr>
            <p:nvPr/>
          </p:nvGraphicFramePr>
          <p:xfrm>
            <a:off x="3264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89" name="VISIO" r:id="rId5" imgW="532512" imgH="403188" progId="Visio.Drawing.5">
                    <p:embed/>
                  </p:oleObj>
                </mc:Choice>
                <mc:Fallback>
                  <p:oleObj name="VISIO" r:id="rId5" imgW="532512" imgH="403188" progId="Visio.Drawing.5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7" name="Object 25"/>
            <p:cNvGraphicFramePr>
              <a:graphicFrameLocks noChangeAspect="1"/>
            </p:cNvGraphicFramePr>
            <p:nvPr/>
          </p:nvGraphicFramePr>
          <p:xfrm>
            <a:off x="3312" y="1776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90" name="Equation" r:id="rId7" imgW="203024" imgH="215713" progId="Equation.3">
                    <p:embed/>
                  </p:oleObj>
                </mc:Choice>
                <mc:Fallback>
                  <p:oleObj name="Equation" r:id="rId7" imgW="203024" imgH="215713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80" name="Group 26"/>
          <p:cNvGrpSpPr>
            <a:grpSpLocks/>
          </p:cNvGrpSpPr>
          <p:nvPr/>
        </p:nvGrpSpPr>
        <p:grpSpPr bwMode="auto">
          <a:xfrm>
            <a:off x="7308850" y="2997200"/>
            <a:ext cx="1065213" cy="811213"/>
            <a:chOff x="4560" y="1649"/>
            <a:chExt cx="671" cy="511"/>
          </a:xfrm>
        </p:grpSpPr>
        <p:graphicFrame>
          <p:nvGraphicFramePr>
            <p:cNvPr id="28694" name="Object 27"/>
            <p:cNvGraphicFramePr>
              <a:graphicFrameLocks noChangeAspect="1"/>
            </p:cNvGraphicFramePr>
            <p:nvPr/>
          </p:nvGraphicFramePr>
          <p:xfrm>
            <a:off x="4560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91" name="Visio" r:id="rId9" imgW="560213" imgH="433340" progId="Visio.Drawing.11">
                    <p:embed/>
                  </p:oleObj>
                </mc:Choice>
                <mc:Fallback>
                  <p:oleObj name="Visio" r:id="rId9" imgW="560213" imgH="433340" progId="Visio.Drawing.11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5" name="Object 28"/>
            <p:cNvGraphicFramePr>
              <a:graphicFrameLocks noChangeAspect="1"/>
            </p:cNvGraphicFramePr>
            <p:nvPr/>
          </p:nvGraphicFramePr>
          <p:xfrm>
            <a:off x="4600" y="172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92" name="Equation" r:id="rId11" imgW="215619" imgH="215619" progId="Equation.3">
                    <p:embed/>
                  </p:oleObj>
                </mc:Choice>
                <mc:Fallback>
                  <p:oleObj name="Equation" r:id="rId11" imgW="215619" imgH="215619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172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81" name="Group 29"/>
          <p:cNvGrpSpPr>
            <a:grpSpLocks/>
          </p:cNvGrpSpPr>
          <p:nvPr/>
        </p:nvGrpSpPr>
        <p:grpSpPr bwMode="auto">
          <a:xfrm>
            <a:off x="5795963" y="1196975"/>
            <a:ext cx="1065212" cy="811213"/>
            <a:chOff x="3744" y="672"/>
            <a:chExt cx="671" cy="511"/>
          </a:xfrm>
        </p:grpSpPr>
        <p:graphicFrame>
          <p:nvGraphicFramePr>
            <p:cNvPr id="28692" name="Object 30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93" name="VISIO" r:id="rId13" imgW="532512" imgH="403188" progId="Visio.Drawing.5">
                    <p:embed/>
                  </p:oleObj>
                </mc:Choice>
                <mc:Fallback>
                  <p:oleObj name="VISIO" r:id="rId13" imgW="532512" imgH="403188" progId="Visio.Drawing.5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3" name="Object 31"/>
            <p:cNvGraphicFramePr>
              <a:graphicFrameLocks noChangeAspect="1"/>
            </p:cNvGraphicFramePr>
            <p:nvPr/>
          </p:nvGraphicFramePr>
          <p:xfrm>
            <a:off x="3792" y="760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94" name="Equation" r:id="rId14" imgW="215806" imgH="228501" progId="Equation.3">
                    <p:embed/>
                  </p:oleObj>
                </mc:Choice>
                <mc:Fallback>
                  <p:oleObj name="Equation" r:id="rId14" imgW="215806" imgH="228501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0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689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142085"/>
              </p:ext>
            </p:extLst>
          </p:nvPr>
        </p:nvGraphicFramePr>
        <p:xfrm>
          <a:off x="3930848" y="4878388"/>
          <a:ext cx="467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5" name="Equation" r:id="rId16" imgW="2336800" imgH="228600" progId="Equation.DSMT4">
                  <p:embed/>
                </p:oleObj>
              </mc:Choice>
              <mc:Fallback>
                <p:oleObj name="Equation" r:id="rId16" imgW="2336800" imgH="2286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848" y="4878388"/>
                        <a:ext cx="4673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9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93026"/>
              </p:ext>
            </p:extLst>
          </p:nvPr>
        </p:nvGraphicFramePr>
        <p:xfrm>
          <a:off x="3956248" y="5564188"/>
          <a:ext cx="391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6" name="Equation" r:id="rId18" imgW="1955520" imgH="228600" progId="Equation.DSMT4">
                  <p:embed/>
                </p:oleObj>
              </mc:Choice>
              <mc:Fallback>
                <p:oleObj name="Equation" r:id="rId18" imgW="1955520" imgH="2286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248" y="5564188"/>
                        <a:ext cx="3911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9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72392"/>
              </p:ext>
            </p:extLst>
          </p:nvPr>
        </p:nvGraphicFramePr>
        <p:xfrm>
          <a:off x="3956248" y="6215063"/>
          <a:ext cx="454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7" name="Equation" r:id="rId20" imgW="2273300" imgH="228600" progId="Equation.3">
                  <p:embed/>
                </p:oleObj>
              </mc:Choice>
              <mc:Fallback>
                <p:oleObj name="Equation" r:id="rId20" imgW="2273300" imgH="2286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248" y="6215063"/>
                        <a:ext cx="4546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157887"/>
              </p:ext>
            </p:extLst>
          </p:nvPr>
        </p:nvGraphicFramePr>
        <p:xfrm>
          <a:off x="92869" y="2960233"/>
          <a:ext cx="5873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8" name="Equation" r:id="rId22" imgW="214411" imgH="176264" progId="Equation.DSMT4">
                  <p:embed/>
                </p:oleObj>
              </mc:Choice>
              <mc:Fallback>
                <p:oleObj name="Equation" r:id="rId22" imgW="214411" imgH="176264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9" y="2960233"/>
                        <a:ext cx="5873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282892"/>
              </p:ext>
            </p:extLst>
          </p:nvPr>
        </p:nvGraphicFramePr>
        <p:xfrm>
          <a:off x="92622" y="3860346"/>
          <a:ext cx="5302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9" name="Equation" r:id="rId24" imgW="190387" imgH="190413" progId="Equation.DSMT4">
                  <p:embed/>
                </p:oleObj>
              </mc:Choice>
              <mc:Fallback>
                <p:oleObj name="Equation" r:id="rId24" imgW="190387" imgH="190413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22" y="3860346"/>
                        <a:ext cx="5302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934270"/>
              </p:ext>
            </p:extLst>
          </p:nvPr>
        </p:nvGraphicFramePr>
        <p:xfrm>
          <a:off x="92869" y="5409745"/>
          <a:ext cx="6699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0" name="Equation" r:id="rId26" imgW="252549" imgH="176264" progId="Equation.DSMT4">
                  <p:embed/>
                </p:oleObj>
              </mc:Choice>
              <mc:Fallback>
                <p:oleObj name="Equation" r:id="rId26" imgW="252549" imgH="176264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9" y="5409745"/>
                        <a:ext cx="6699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903" name="Rectangle 55"/>
          <p:cNvSpPr>
            <a:spLocks noChangeArrowheads="1"/>
          </p:cNvSpPr>
          <p:nvPr/>
        </p:nvSpPr>
        <p:spPr bwMode="auto">
          <a:xfrm>
            <a:off x="597693" y="2960233"/>
            <a:ext cx="27357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网孔内各支路电阻之</a:t>
            </a:r>
            <a:r>
              <a:rPr lang="zh-CN" altLang="en-US" dirty="0" smtClean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和</a:t>
            </a:r>
            <a:r>
              <a:rPr lang="en-US" altLang="zh-CN" dirty="0" smtClean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总为正</a:t>
            </a:r>
            <a:r>
              <a:rPr lang="en-US" altLang="zh-CN" dirty="0" smtClean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endParaRPr lang="zh-CN" altLang="en-US" dirty="0">
              <a:solidFill>
                <a:schemeClr val="accent2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6904" name="Rectangle 56"/>
          <p:cNvSpPr>
            <a:spLocks noChangeArrowheads="1"/>
          </p:cNvSpPr>
          <p:nvPr/>
        </p:nvSpPr>
        <p:spPr bwMode="auto">
          <a:xfrm>
            <a:off x="597446" y="3860346"/>
            <a:ext cx="311045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en-US" altLang="zh-CN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</a:t>
            </a:r>
            <a:r>
              <a:rPr lang="zh-CN" altLang="en-US" dirty="0" smtClean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网孔公共支路</a:t>
            </a:r>
            <a:r>
              <a:rPr lang="zh-CN" altLang="en-US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电阻之和（</a:t>
            </a:r>
            <a:r>
              <a:rPr lang="zh-CN" altLang="en-US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当网孔在公共支路方向</a:t>
            </a:r>
            <a:r>
              <a:rPr lang="zh-CN" altLang="en-US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相同时取</a:t>
            </a:r>
            <a:r>
              <a:rPr lang="zh-CN" altLang="en-US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正号；否则为负号</a:t>
            </a:r>
            <a:r>
              <a:rPr lang="zh-CN" altLang="en-US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</a:p>
        </p:txBody>
      </p:sp>
      <p:sp>
        <p:nvSpPr>
          <p:cNvPr id="206905" name="Rectangle 57"/>
          <p:cNvSpPr>
            <a:spLocks noChangeArrowheads="1"/>
          </p:cNvSpPr>
          <p:nvPr/>
        </p:nvSpPr>
        <p:spPr bwMode="auto">
          <a:xfrm>
            <a:off x="669131" y="5408158"/>
            <a:ext cx="25920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网孔内各电压源</a:t>
            </a:r>
            <a:r>
              <a:rPr lang="zh-CN" altLang="en-US" dirty="0" smtClean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代数和（</a:t>
            </a:r>
            <a:r>
              <a:rPr lang="zh-CN" altLang="en-US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网孔绕向反为</a:t>
            </a:r>
            <a:r>
              <a:rPr lang="zh-CN" altLang="en-US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正）</a:t>
            </a:r>
            <a:endParaRPr lang="zh-CN" altLang="en-US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6906" name="AutoShape 58"/>
          <p:cNvSpPr>
            <a:spLocks/>
          </p:cNvSpPr>
          <p:nvPr/>
        </p:nvSpPr>
        <p:spPr bwMode="auto">
          <a:xfrm>
            <a:off x="3497460" y="4941888"/>
            <a:ext cx="360363" cy="1511300"/>
          </a:xfrm>
          <a:prstGeom prst="leftBrace">
            <a:avLst>
              <a:gd name="adj1" fmla="val 34949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50394" y="1258822"/>
                <a:ext cx="3313494" cy="15388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𝑠𝑚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solidFill>
                    <a:schemeClr val="accent2"/>
                  </a:solidFill>
                </a:endParaRPr>
              </a:p>
              <a:p>
                <a:r>
                  <a:rPr lang="en-US" altLang="zh-CN" sz="2000" i="1" dirty="0" smtClean="0">
                    <a:solidFill>
                      <a:schemeClr val="accent2"/>
                    </a:solidFill>
                  </a:rPr>
                  <a:t>R</a:t>
                </a:r>
                <a:r>
                  <a:rPr lang="en-US" altLang="zh-CN" sz="2000" i="1" baseline="-25000" dirty="0" smtClean="0">
                    <a:solidFill>
                      <a:schemeClr val="accent2"/>
                    </a:solidFill>
                  </a:rPr>
                  <a:t>m   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网孔电阻矩阵</a:t>
                </a:r>
                <a:endParaRPr lang="en-US" altLang="zh-CN" sz="2000" dirty="0" smtClean="0">
                  <a:solidFill>
                    <a:schemeClr val="accent2"/>
                  </a:solidFill>
                </a:endParaRPr>
              </a:p>
              <a:p>
                <a:r>
                  <a:rPr lang="en-US" altLang="zh-CN" sz="2000" i="1" dirty="0" err="1" smtClean="0">
                    <a:solidFill>
                      <a:schemeClr val="accent2"/>
                    </a:solidFill>
                  </a:rPr>
                  <a:t>I</a:t>
                </a:r>
                <a:r>
                  <a:rPr lang="en-US" altLang="zh-CN" sz="2000" i="1" baseline="-25000" dirty="0" err="1" smtClean="0">
                    <a:solidFill>
                      <a:schemeClr val="accent2"/>
                    </a:solidFill>
                  </a:rPr>
                  <a:t>m</a:t>
                </a:r>
                <a:r>
                  <a:rPr lang="en-US" altLang="zh-CN" sz="2000" i="1" baseline="-25000" dirty="0" smtClean="0">
                    <a:solidFill>
                      <a:schemeClr val="accent2"/>
                    </a:solidFill>
                  </a:rPr>
                  <a:t>   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网孔电流列向量</a:t>
                </a:r>
                <a:endParaRPr lang="en-US" altLang="zh-CN" sz="2000" dirty="0" smtClean="0">
                  <a:solidFill>
                    <a:schemeClr val="accent2"/>
                  </a:solidFill>
                </a:endParaRPr>
              </a:p>
              <a:p>
                <a:r>
                  <a:rPr lang="en-US" altLang="zh-CN" sz="2000" i="1" dirty="0" err="1" smtClean="0">
                    <a:solidFill>
                      <a:schemeClr val="accent2"/>
                    </a:solidFill>
                  </a:rPr>
                  <a:t>U</a:t>
                </a:r>
                <a:r>
                  <a:rPr lang="en-US" altLang="zh-CN" sz="2000" i="1" baseline="-25000" dirty="0" err="1" smtClean="0">
                    <a:solidFill>
                      <a:schemeClr val="accent2"/>
                    </a:solidFill>
                  </a:rPr>
                  <a:t>sm</a:t>
                </a:r>
                <a:r>
                  <a:rPr lang="en-US" altLang="zh-CN" sz="2000" i="1" baseline="-25000" dirty="0" smtClean="0">
                    <a:solidFill>
                      <a:schemeClr val="accent2"/>
                    </a:solidFill>
                  </a:rPr>
                  <a:t>  </a:t>
                </a:r>
                <a:r>
                  <a:rPr lang="zh-CN" altLang="en-US" sz="2000" i="1" dirty="0" smtClean="0">
                    <a:solidFill>
                      <a:schemeClr val="accent2"/>
                    </a:solidFill>
                  </a:rPr>
                  <a:t>网孔等效电压源列向量</a:t>
                </a:r>
                <a:endParaRPr lang="en-US" altLang="zh-CN" sz="2000" i="1" dirty="0" smtClean="0">
                  <a:solidFill>
                    <a:schemeClr val="accent2"/>
                  </a:solidFill>
                </a:endParaRPr>
              </a:p>
              <a:p>
                <a:endParaRPr lang="zh-CN" alt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94" y="1258822"/>
                <a:ext cx="3313494" cy="1538883"/>
              </a:xfrm>
              <a:prstGeom prst="rect">
                <a:avLst/>
              </a:prstGeom>
              <a:blipFill>
                <a:blip r:embed="rId28"/>
                <a:stretch>
                  <a:fillRect l="-4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903" grpId="0"/>
      <p:bldP spid="206904" grpId="0"/>
      <p:bldP spid="20690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38138" y="360363"/>
            <a:ext cx="2844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推广到有 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个网孔仅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含电阻、独立电压源的电路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517525" y="2398713"/>
            <a:ext cx="9715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其中  </a:t>
            </a: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1104900" y="3714750"/>
            <a:ext cx="24209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jk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: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第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j</a:t>
            </a:r>
            <a:r>
              <a:rPr lang="zh-CN" altLang="en-US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个网孔和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第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k</a:t>
            </a:r>
            <a:r>
              <a:rPr lang="zh-CN" altLang="en-US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个网孔的      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互电阻  </a:t>
            </a:r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3694113" y="3508375"/>
            <a:ext cx="54149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 :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流过互阻的两个网孔电流方向相同  </a:t>
            </a:r>
          </a:p>
        </p:txBody>
      </p:sp>
      <p:sp>
        <p:nvSpPr>
          <p:cNvPr id="103430" name="Rectangle 6"/>
          <p:cNvSpPr>
            <a:spLocks noChangeArrowheads="1"/>
          </p:cNvSpPr>
          <p:nvPr/>
        </p:nvSpPr>
        <p:spPr bwMode="auto">
          <a:xfrm>
            <a:off x="3706813" y="4032250"/>
            <a:ext cx="54371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 :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流过互阻的两个网孔电流方向相反  </a:t>
            </a:r>
          </a:p>
        </p:txBody>
      </p:sp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3705225" y="4576763"/>
            <a:ext cx="2743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latin typeface="幼圆" panose="02010509060101010101" pitchFamily="49" charset="-122"/>
                <a:ea typeface="幼圆" panose="02010509060101010101" pitchFamily="49" charset="-122"/>
              </a:rPr>
              <a:t>0 : </a:t>
            </a: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无关  </a:t>
            </a:r>
          </a:p>
        </p:txBody>
      </p:sp>
      <p:sp>
        <p:nvSpPr>
          <p:cNvPr id="103432" name="Text Box 8"/>
          <p:cNvSpPr txBox="1">
            <a:spLocks noChangeArrowheads="1"/>
          </p:cNvSpPr>
          <p:nvPr/>
        </p:nvSpPr>
        <p:spPr bwMode="auto">
          <a:xfrm>
            <a:off x="3346450" y="395288"/>
            <a:ext cx="5114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11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12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1800" dirty="0">
                <a:latin typeface="宋体" panose="02010600030101010101" pitchFamily="2" charset="-122"/>
                <a:ea typeface="幼圆" panose="02010509060101010101" pitchFamily="49" charset="-122"/>
              </a:rPr>
              <a:t>…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 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  </a:t>
            </a:r>
          </a:p>
        </p:txBody>
      </p:sp>
      <p:sp>
        <p:nvSpPr>
          <p:cNvPr id="103433" name="Text Box 9"/>
          <p:cNvSpPr txBox="1">
            <a:spLocks noChangeArrowheads="1"/>
          </p:cNvSpPr>
          <p:nvPr/>
        </p:nvSpPr>
        <p:spPr bwMode="auto">
          <a:xfrm>
            <a:off x="3844925" y="954088"/>
            <a:ext cx="60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…</a:t>
            </a:r>
            <a:endParaRPr lang="en-US" altLang="zh-CN" sz="2800" b="1" dirty="0">
              <a:solidFill>
                <a:srgbClr val="3333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3434" name="Text Box 10"/>
          <p:cNvSpPr txBox="1">
            <a:spLocks noChangeArrowheads="1"/>
          </p:cNvSpPr>
          <p:nvPr/>
        </p:nvSpPr>
        <p:spPr bwMode="auto">
          <a:xfrm>
            <a:off x="3341688" y="1011238"/>
            <a:ext cx="50149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21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22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2800" dirty="0">
                <a:latin typeface="宋体" panose="02010600030101010101" pitchFamily="2" charset="-122"/>
                <a:ea typeface="幼圆" panose="02010509060101010101" pitchFamily="49" charset="-122"/>
              </a:rPr>
              <a:t>…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  </a:t>
            </a:r>
            <a:endParaRPr lang="en-US" altLang="zh-CN" sz="2800" b="1" baseline="-25000" dirty="0">
              <a:solidFill>
                <a:srgbClr val="3333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3435" name="Text Box 11"/>
          <p:cNvSpPr txBox="1">
            <a:spLocks noChangeArrowheads="1"/>
          </p:cNvSpPr>
          <p:nvPr/>
        </p:nvSpPr>
        <p:spPr bwMode="auto">
          <a:xfrm>
            <a:off x="3387725" y="1868488"/>
            <a:ext cx="4784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i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i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1800">
                <a:latin typeface="宋体" panose="02010600030101010101" pitchFamily="2" charset="-122"/>
                <a:ea typeface="幼圆" panose="02010509060101010101" pitchFamily="49" charset="-122"/>
              </a:rPr>
              <a:t>…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i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2800" b="1" i="1" baseline="-2500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2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sz="2800" b="1" i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ll  </a:t>
            </a:r>
          </a:p>
        </p:txBody>
      </p:sp>
      <p:sp>
        <p:nvSpPr>
          <p:cNvPr id="103436" name="Text Box 12"/>
          <p:cNvSpPr txBox="1">
            <a:spLocks noChangeArrowheads="1"/>
          </p:cNvSpPr>
          <p:nvPr/>
        </p:nvSpPr>
        <p:spPr bwMode="auto">
          <a:xfrm>
            <a:off x="1028700" y="2871788"/>
            <a:ext cx="7726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kk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: 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第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k</a:t>
            </a:r>
            <a:r>
              <a:rPr lang="zh-CN" altLang="en-US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个网孔的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自电阻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为正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)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k 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=1 , 2 , </a:t>
            </a:r>
            <a:r>
              <a:rPr lang="en-US" altLang="zh-CN" b="1" dirty="0">
                <a:latin typeface="宋体" panose="02010600030101010101" pitchFamily="2" charset="-122"/>
                <a:ea typeface="幼圆" panose="02010509060101010101" pitchFamily="49" charset="-122"/>
                <a:sym typeface="MT Extra" panose="05050102010205020202" pitchFamily="18" charset="2"/>
              </a:rPr>
              <a:t>…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 , 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l   </a:t>
            </a:r>
            <a:endParaRPr lang="en-US" altLang="zh-CN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3437" name="Text Box 13"/>
          <p:cNvSpPr txBox="1">
            <a:spLocks noChangeArrowheads="1"/>
          </p:cNvSpPr>
          <p:nvPr/>
        </p:nvSpPr>
        <p:spPr bwMode="auto">
          <a:xfrm>
            <a:off x="1101725" y="5297488"/>
            <a:ext cx="74136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b="1" baseline="-25000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lk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: 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第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k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个网孔中所有电压源电压升的代数和。  </a:t>
            </a:r>
          </a:p>
        </p:txBody>
      </p:sp>
      <p:sp>
        <p:nvSpPr>
          <p:cNvPr id="103438" name="AutoShape 14"/>
          <p:cNvSpPr>
            <a:spLocks/>
          </p:cNvSpPr>
          <p:nvPr/>
        </p:nvSpPr>
        <p:spPr bwMode="auto">
          <a:xfrm>
            <a:off x="3525838" y="3700463"/>
            <a:ext cx="188912" cy="1189037"/>
          </a:xfrm>
          <a:prstGeom prst="leftBrace">
            <a:avLst>
              <a:gd name="adj1" fmla="val 5245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3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3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3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 autoUpdateAnimBg="0"/>
      <p:bldP spid="103428" grpId="0"/>
      <p:bldP spid="103429" grpId="0" build="p" autoUpdateAnimBg="0" advAuto="0"/>
      <p:bldP spid="103430" grpId="0" build="p" autoUpdateAnimBg="0"/>
      <p:bldP spid="103431" grpId="0" build="p" autoUpdateAnimBg="0"/>
      <p:bldP spid="103432" grpId="0" build="p" autoUpdateAnimBg="0"/>
      <p:bldP spid="103433" grpId="0" build="p" autoUpdateAnimBg="0"/>
      <p:bldP spid="103434" grpId="0" build="p" autoUpdateAnimBg="0"/>
      <p:bldP spid="103435" grpId="0" build="p" autoUpdateAnimBg="0"/>
      <p:bldP spid="103436" grpId="0" build="p" autoUpdateAnimBg="0"/>
      <p:bldP spid="10343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9A521EC-6040-476B-B9B3-7EB9DC4E24F0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9B725C-B8A8-48F8-BAC8-0998BE54186A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graphicFrame>
        <p:nvGraphicFramePr>
          <p:cNvPr id="222221" name="Object 13"/>
          <p:cNvGraphicFramePr>
            <a:graphicFrameLocks noChangeAspect="1"/>
          </p:cNvGraphicFramePr>
          <p:nvPr/>
        </p:nvGraphicFramePr>
        <p:xfrm>
          <a:off x="4572000" y="981075"/>
          <a:ext cx="4240213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7" name="VISIO" r:id="rId3" imgW="2829923" imgH="2168087" progId="Visio.Drawing.5">
                  <p:embed/>
                </p:oleObj>
              </mc:Choice>
              <mc:Fallback>
                <p:oleObj name="VISIO" r:id="rId3" imgW="2829923" imgH="2168087" progId="Visio.Drawing.5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81075"/>
                        <a:ext cx="4240213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20" name="Object 12"/>
          <p:cNvGraphicFramePr>
            <a:graphicFrameLocks noChangeAspect="1"/>
          </p:cNvGraphicFramePr>
          <p:nvPr/>
        </p:nvGraphicFramePr>
        <p:xfrm>
          <a:off x="179388" y="1042988"/>
          <a:ext cx="4240212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8" name="VISIO" r:id="rId5" imgW="2829923" imgH="2168087" progId="Visio.Drawing.5">
                  <p:embed/>
                </p:oleObj>
              </mc:Choice>
              <mc:Fallback>
                <p:oleObj name="VISIO" r:id="rId5" imgW="2829923" imgH="2168087" progId="Visio.Drawing.5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042988"/>
                        <a:ext cx="4240212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0" name="Object 2"/>
          <p:cNvGraphicFramePr>
            <a:graphicFrameLocks noChangeAspect="1"/>
          </p:cNvGraphicFramePr>
          <p:nvPr/>
        </p:nvGraphicFramePr>
        <p:xfrm>
          <a:off x="2457450" y="2543175"/>
          <a:ext cx="609600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9" name="Visio" r:id="rId7" imgW="434626" imgH="1076277" progId="Visio.Drawing.11">
                  <p:embed/>
                </p:oleObj>
              </mc:Choice>
              <mc:Fallback>
                <p:oleObj name="Visio" r:id="rId7" imgW="434626" imgH="1076277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2543175"/>
                        <a:ext cx="609600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1" name="Object 3"/>
          <p:cNvGraphicFramePr>
            <a:graphicFrameLocks noChangeAspect="1"/>
          </p:cNvGraphicFramePr>
          <p:nvPr/>
        </p:nvGraphicFramePr>
        <p:xfrm>
          <a:off x="6375400" y="2505075"/>
          <a:ext cx="1104900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0" name="Visio" r:id="rId9" imgW="768525" imgH="1076277" progId="Visio.Drawing.11">
                  <p:embed/>
                </p:oleObj>
              </mc:Choice>
              <mc:Fallback>
                <p:oleObj name="Visio" r:id="rId9" imgW="768525" imgH="1076277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5400" y="2505075"/>
                        <a:ext cx="1104900" cy="156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Rectangle 10"/>
          <p:cNvSpPr>
            <a:spLocks noChangeArrowheads="1"/>
          </p:cNvSpPr>
          <p:nvPr/>
        </p:nvSpPr>
        <p:spPr bwMode="auto">
          <a:xfrm>
            <a:off x="539750" y="692150"/>
            <a:ext cx="612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ea typeface="华文隶书" panose="02010800040101010101" pitchFamily="2" charset="-122"/>
              </a:rPr>
              <a:t>a. With voltage source branch</a:t>
            </a:r>
          </a:p>
        </p:txBody>
      </p:sp>
      <p:sp>
        <p:nvSpPr>
          <p:cNvPr id="30730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pPr algn="l" eaLnBrk="1" hangingPunct="1"/>
            <a:r>
              <a:rPr lang="en-US" altLang="zh-CN" smtClean="0">
                <a:solidFill>
                  <a:srgbClr val="FF0000"/>
                </a:solidFill>
              </a:rPr>
              <a:t>4.</a:t>
            </a:r>
            <a:r>
              <a:rPr lang="en-US" altLang="zh-CN" sz="2800" smtClean="0">
                <a:solidFill>
                  <a:srgbClr val="FF0000"/>
                </a:solidFill>
              </a:rPr>
              <a:t>Mesh analysis with source branches</a:t>
            </a:r>
          </a:p>
        </p:txBody>
      </p:sp>
      <p:sp>
        <p:nvSpPr>
          <p:cNvPr id="222224" name="Rectangle 16"/>
          <p:cNvSpPr>
            <a:spLocks noChangeArrowheads="1"/>
          </p:cNvSpPr>
          <p:nvPr/>
        </p:nvSpPr>
        <p:spPr bwMode="auto">
          <a:xfrm>
            <a:off x="539750" y="6092825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电压源支路</a:t>
            </a:r>
            <a:r>
              <a:rPr lang="en-US" altLang="zh-CN" dirty="0">
                <a:solidFill>
                  <a:srgbClr val="3333CC"/>
                </a:solidFill>
                <a:ea typeface="隶书" panose="02010509060101010101" pitchFamily="49" charset="-122"/>
              </a:rPr>
              <a:t>——</a:t>
            </a: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视为电阻为零</a:t>
            </a:r>
            <a:r>
              <a:rPr lang="zh-CN" altLang="en-US" dirty="0" smtClean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的戴维南支路</a:t>
            </a:r>
            <a:endParaRPr lang="zh-CN" altLang="en-US" dirty="0">
              <a:solidFill>
                <a:srgbClr val="3333CC"/>
              </a:solidFill>
              <a:latin typeface="隶书" panose="02010509060101010101" pitchFamily="49" charset="-122"/>
              <a:ea typeface="隶书" panose="020105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22225" name="Object 17"/>
          <p:cNvGraphicFramePr>
            <a:graphicFrameLocks noChangeAspect="1"/>
          </p:cNvGraphicFramePr>
          <p:nvPr/>
        </p:nvGraphicFramePr>
        <p:xfrm>
          <a:off x="836613" y="4292600"/>
          <a:ext cx="436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1" name="Equation" r:id="rId11" imgW="2184400" imgH="228600" progId="Equation.DSMT4">
                  <p:embed/>
                </p:oleObj>
              </mc:Choice>
              <mc:Fallback>
                <p:oleObj name="Equation" r:id="rId11" imgW="21844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4292600"/>
                        <a:ext cx="4368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26" name="Object 18"/>
          <p:cNvGraphicFramePr>
            <a:graphicFrameLocks noChangeAspect="1"/>
          </p:cNvGraphicFramePr>
          <p:nvPr/>
        </p:nvGraphicFramePr>
        <p:xfrm>
          <a:off x="950913" y="4978400"/>
          <a:ext cx="3429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2" name="Equation" r:id="rId13" imgW="1714500" imgH="228600" progId="Equation.DSMT4">
                  <p:embed/>
                </p:oleObj>
              </mc:Choice>
              <mc:Fallback>
                <p:oleObj name="Equation" r:id="rId13" imgW="17145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4978400"/>
                        <a:ext cx="3429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27" name="Object 19"/>
          <p:cNvGraphicFramePr>
            <a:graphicFrameLocks noChangeAspect="1"/>
          </p:cNvGraphicFramePr>
          <p:nvPr/>
        </p:nvGraphicFramePr>
        <p:xfrm>
          <a:off x="709613" y="5629275"/>
          <a:ext cx="454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3" name="Equation" r:id="rId15" imgW="2273300" imgH="228600" progId="Equation.3">
                  <p:embed/>
                </p:oleObj>
              </mc:Choice>
              <mc:Fallback>
                <p:oleObj name="Equation" r:id="rId15" imgW="22733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" y="5629275"/>
                        <a:ext cx="4546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2228" name="Group 20"/>
          <p:cNvGrpSpPr>
            <a:grpSpLocks/>
          </p:cNvGrpSpPr>
          <p:nvPr/>
        </p:nvGrpSpPr>
        <p:grpSpPr bwMode="auto">
          <a:xfrm>
            <a:off x="1331913" y="3068638"/>
            <a:ext cx="1079500" cy="647700"/>
            <a:chOff x="3264" y="1649"/>
            <a:chExt cx="671" cy="511"/>
          </a:xfrm>
        </p:grpSpPr>
        <p:graphicFrame>
          <p:nvGraphicFramePr>
            <p:cNvPr id="30752" name="Object 21"/>
            <p:cNvGraphicFramePr>
              <a:graphicFrameLocks noChangeAspect="1"/>
            </p:cNvGraphicFramePr>
            <p:nvPr/>
          </p:nvGraphicFramePr>
          <p:xfrm>
            <a:off x="3264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4" name="VISIO" r:id="rId17" imgW="532512" imgH="403188" progId="Visio.Drawing.5">
                    <p:embed/>
                  </p:oleObj>
                </mc:Choice>
                <mc:Fallback>
                  <p:oleObj name="VISIO" r:id="rId17" imgW="532512" imgH="403188" progId="Visio.Drawing.5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3" name="Object 22"/>
            <p:cNvGraphicFramePr>
              <a:graphicFrameLocks noChangeAspect="1"/>
            </p:cNvGraphicFramePr>
            <p:nvPr/>
          </p:nvGraphicFramePr>
          <p:xfrm>
            <a:off x="3312" y="1776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5" name="Equation" r:id="rId19" imgW="203024" imgH="215713" progId="Equation.3">
                    <p:embed/>
                  </p:oleObj>
                </mc:Choice>
                <mc:Fallback>
                  <p:oleObj name="Equation" r:id="rId19" imgW="203024" imgH="215713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2231" name="Group 23"/>
          <p:cNvGrpSpPr>
            <a:grpSpLocks/>
          </p:cNvGrpSpPr>
          <p:nvPr/>
        </p:nvGrpSpPr>
        <p:grpSpPr bwMode="auto">
          <a:xfrm>
            <a:off x="3276600" y="2997200"/>
            <a:ext cx="792163" cy="719138"/>
            <a:chOff x="4560" y="1649"/>
            <a:chExt cx="671" cy="511"/>
          </a:xfrm>
        </p:grpSpPr>
        <p:graphicFrame>
          <p:nvGraphicFramePr>
            <p:cNvPr id="30750" name="Object 24"/>
            <p:cNvGraphicFramePr>
              <a:graphicFrameLocks noChangeAspect="1"/>
            </p:cNvGraphicFramePr>
            <p:nvPr/>
          </p:nvGraphicFramePr>
          <p:xfrm>
            <a:off x="4560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6" name="VISIO" r:id="rId21" imgW="532512" imgH="403188" progId="Visio.Drawing.5">
                    <p:embed/>
                  </p:oleObj>
                </mc:Choice>
                <mc:Fallback>
                  <p:oleObj name="VISIO" r:id="rId21" imgW="532512" imgH="403188" progId="Visio.Drawing.5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1" name="Object 25"/>
            <p:cNvGraphicFramePr>
              <a:graphicFrameLocks noChangeAspect="1"/>
            </p:cNvGraphicFramePr>
            <p:nvPr/>
          </p:nvGraphicFramePr>
          <p:xfrm>
            <a:off x="4600" y="172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7" name="Equation" r:id="rId22" imgW="215619" imgH="215619" progId="Equation.3">
                    <p:embed/>
                  </p:oleObj>
                </mc:Choice>
                <mc:Fallback>
                  <p:oleObj name="Equation" r:id="rId22" imgW="215619" imgH="215619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172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2234" name="Group 26"/>
          <p:cNvGrpSpPr>
            <a:grpSpLocks/>
          </p:cNvGrpSpPr>
          <p:nvPr/>
        </p:nvGrpSpPr>
        <p:grpSpPr bwMode="auto">
          <a:xfrm>
            <a:off x="2051050" y="1700213"/>
            <a:ext cx="863600" cy="666750"/>
            <a:chOff x="3744" y="672"/>
            <a:chExt cx="671" cy="511"/>
          </a:xfrm>
        </p:grpSpPr>
        <p:graphicFrame>
          <p:nvGraphicFramePr>
            <p:cNvPr id="30748" name="Object 27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8" name="VISIO" r:id="rId24" imgW="532512" imgH="403188" progId="Visio.Drawing.5">
                    <p:embed/>
                  </p:oleObj>
                </mc:Choice>
                <mc:Fallback>
                  <p:oleObj name="VISIO" r:id="rId24" imgW="532512" imgH="403188" progId="Visio.Drawing.5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9" name="Object 28"/>
            <p:cNvGraphicFramePr>
              <a:graphicFrameLocks noChangeAspect="1"/>
            </p:cNvGraphicFramePr>
            <p:nvPr/>
          </p:nvGraphicFramePr>
          <p:xfrm>
            <a:off x="3792" y="760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9" name="Equation" r:id="rId25" imgW="215806" imgH="228501" progId="Equation.3">
                    <p:embed/>
                  </p:oleObj>
                </mc:Choice>
                <mc:Fallback>
                  <p:oleObj name="Equation" r:id="rId25" imgW="215806" imgH="228501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0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2237" name="Group 29"/>
          <p:cNvGrpSpPr>
            <a:grpSpLocks/>
          </p:cNvGrpSpPr>
          <p:nvPr/>
        </p:nvGrpSpPr>
        <p:grpSpPr bwMode="auto">
          <a:xfrm>
            <a:off x="5795963" y="3068638"/>
            <a:ext cx="1079500" cy="647700"/>
            <a:chOff x="3264" y="1649"/>
            <a:chExt cx="671" cy="511"/>
          </a:xfrm>
        </p:grpSpPr>
        <p:graphicFrame>
          <p:nvGraphicFramePr>
            <p:cNvPr id="30746" name="Object 30"/>
            <p:cNvGraphicFramePr>
              <a:graphicFrameLocks noChangeAspect="1"/>
            </p:cNvGraphicFramePr>
            <p:nvPr/>
          </p:nvGraphicFramePr>
          <p:xfrm>
            <a:off x="3264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0" name="VISIO" r:id="rId27" imgW="532512" imgH="403188" progId="Visio.Drawing.5">
                    <p:embed/>
                  </p:oleObj>
                </mc:Choice>
                <mc:Fallback>
                  <p:oleObj name="VISIO" r:id="rId27" imgW="532512" imgH="403188" progId="Visio.Drawing.5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7" name="Object 31"/>
            <p:cNvGraphicFramePr>
              <a:graphicFrameLocks noChangeAspect="1"/>
            </p:cNvGraphicFramePr>
            <p:nvPr/>
          </p:nvGraphicFramePr>
          <p:xfrm>
            <a:off x="3312" y="1776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1" name="Equation" r:id="rId28" imgW="203024" imgH="215713" progId="Equation.3">
                    <p:embed/>
                  </p:oleObj>
                </mc:Choice>
                <mc:Fallback>
                  <p:oleObj name="Equation" r:id="rId28" imgW="203024" imgH="215713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2240" name="Group 32"/>
          <p:cNvGrpSpPr>
            <a:grpSpLocks/>
          </p:cNvGrpSpPr>
          <p:nvPr/>
        </p:nvGrpSpPr>
        <p:grpSpPr bwMode="auto">
          <a:xfrm>
            <a:off x="7740650" y="2997200"/>
            <a:ext cx="792163" cy="719138"/>
            <a:chOff x="4560" y="1649"/>
            <a:chExt cx="671" cy="511"/>
          </a:xfrm>
        </p:grpSpPr>
        <p:graphicFrame>
          <p:nvGraphicFramePr>
            <p:cNvPr id="30744" name="Object 33"/>
            <p:cNvGraphicFramePr>
              <a:graphicFrameLocks noChangeAspect="1"/>
            </p:cNvGraphicFramePr>
            <p:nvPr/>
          </p:nvGraphicFramePr>
          <p:xfrm>
            <a:off x="4560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2" name="VISIO" r:id="rId29" imgW="532512" imgH="403188" progId="Visio.Drawing.5">
                    <p:embed/>
                  </p:oleObj>
                </mc:Choice>
                <mc:Fallback>
                  <p:oleObj name="VISIO" r:id="rId29" imgW="532512" imgH="403188" progId="Visio.Drawing.5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5" name="Object 34"/>
            <p:cNvGraphicFramePr>
              <a:graphicFrameLocks noChangeAspect="1"/>
            </p:cNvGraphicFramePr>
            <p:nvPr/>
          </p:nvGraphicFramePr>
          <p:xfrm>
            <a:off x="4600" y="172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3" name="Equation" r:id="rId30" imgW="215619" imgH="215619" progId="Equation.3">
                    <p:embed/>
                  </p:oleObj>
                </mc:Choice>
                <mc:Fallback>
                  <p:oleObj name="Equation" r:id="rId30" imgW="215619" imgH="215619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172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2243" name="Group 35"/>
          <p:cNvGrpSpPr>
            <a:grpSpLocks/>
          </p:cNvGrpSpPr>
          <p:nvPr/>
        </p:nvGrpSpPr>
        <p:grpSpPr bwMode="auto">
          <a:xfrm>
            <a:off x="6515100" y="1700213"/>
            <a:ext cx="863600" cy="666750"/>
            <a:chOff x="3744" y="672"/>
            <a:chExt cx="671" cy="511"/>
          </a:xfrm>
        </p:grpSpPr>
        <p:graphicFrame>
          <p:nvGraphicFramePr>
            <p:cNvPr id="30742" name="Object 36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4" name="VISIO" r:id="rId31" imgW="532512" imgH="403188" progId="Visio.Drawing.5">
                    <p:embed/>
                  </p:oleObj>
                </mc:Choice>
                <mc:Fallback>
                  <p:oleObj name="VISIO" r:id="rId31" imgW="532512" imgH="403188" progId="Visio.Drawing.5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3" name="Object 37"/>
            <p:cNvGraphicFramePr>
              <a:graphicFrameLocks noChangeAspect="1"/>
            </p:cNvGraphicFramePr>
            <p:nvPr/>
          </p:nvGraphicFramePr>
          <p:xfrm>
            <a:off x="3792" y="760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5" name="Equation" r:id="rId32" imgW="215806" imgH="228501" progId="Equation.3">
                    <p:embed/>
                  </p:oleObj>
                </mc:Choice>
                <mc:Fallback>
                  <p:oleObj name="Equation" r:id="rId32" imgW="215806" imgH="228501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0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2246" name="AutoShape 38"/>
          <p:cNvSpPr>
            <a:spLocks/>
          </p:cNvSpPr>
          <p:nvPr/>
        </p:nvSpPr>
        <p:spPr bwMode="auto">
          <a:xfrm>
            <a:off x="250825" y="4364038"/>
            <a:ext cx="288925" cy="1584325"/>
          </a:xfrm>
          <a:prstGeom prst="leftBrace">
            <a:avLst>
              <a:gd name="adj1" fmla="val 45696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2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2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2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2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2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2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9" dur="2000"/>
                                        <p:tgtEl>
                                          <p:spTgt spid="22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2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2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2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2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22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4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9C55E2F-0D7B-4DC5-9BE1-14E2AF03A11D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7DF21A-134E-4F47-B1D4-2E153731C519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graphicFrame>
        <p:nvGraphicFramePr>
          <p:cNvPr id="261122" name="Object 2"/>
          <p:cNvGraphicFramePr>
            <a:graphicFrameLocks noChangeAspect="1"/>
          </p:cNvGraphicFramePr>
          <p:nvPr/>
        </p:nvGraphicFramePr>
        <p:xfrm>
          <a:off x="4724400" y="333375"/>
          <a:ext cx="4240213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5" name="Visio" r:id="rId4" imgW="2856357" imgH="2203132" progId="Visio.Drawing.11">
                  <p:embed/>
                </p:oleObj>
              </mc:Choice>
              <mc:Fallback>
                <p:oleObj name="Visio" r:id="rId4" imgW="2856357" imgH="220313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33375"/>
                        <a:ext cx="4240213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pPr algn="l" eaLnBrk="1" hangingPunct="1"/>
            <a:r>
              <a:rPr lang="en-US" altLang="zh-CN" smtClean="0">
                <a:solidFill>
                  <a:srgbClr val="FF0000"/>
                </a:solidFill>
              </a:rPr>
              <a:t>4.</a:t>
            </a:r>
            <a:r>
              <a:rPr lang="en-US" altLang="zh-CN" sz="2800" smtClean="0">
                <a:solidFill>
                  <a:srgbClr val="FF0000"/>
                </a:solidFill>
              </a:rPr>
              <a:t>Mesh analysis with source branches</a:t>
            </a:r>
          </a:p>
        </p:txBody>
      </p:sp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011988" y="1839913"/>
          <a:ext cx="528637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6" name="Visio" r:id="rId6" imgW="380619" imgH="1059990" progId="Visio.Drawing.11">
                  <p:embed/>
                </p:oleObj>
              </mc:Choice>
              <mc:Fallback>
                <p:oleObj name="Visio" r:id="rId6" imgW="380619" imgH="105999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1988" y="1839913"/>
                        <a:ext cx="528637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Rectangle 5"/>
          <p:cNvSpPr>
            <a:spLocks noChangeArrowheads="1"/>
          </p:cNvSpPr>
          <p:nvPr/>
        </p:nvSpPr>
        <p:spPr bwMode="auto">
          <a:xfrm>
            <a:off x="539750" y="692150"/>
            <a:ext cx="612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ea typeface="华文隶书" panose="02010800040101010101" pitchFamily="2" charset="-122"/>
              </a:rPr>
              <a:t>b. With current source branch</a:t>
            </a:r>
          </a:p>
        </p:txBody>
      </p:sp>
      <p:grpSp>
        <p:nvGrpSpPr>
          <p:cNvPr id="261126" name="Group 6"/>
          <p:cNvGrpSpPr>
            <a:grpSpLocks/>
          </p:cNvGrpSpPr>
          <p:nvPr/>
        </p:nvGrpSpPr>
        <p:grpSpPr bwMode="auto">
          <a:xfrm>
            <a:off x="5724525" y="2527300"/>
            <a:ext cx="1079500" cy="647700"/>
            <a:chOff x="3264" y="1649"/>
            <a:chExt cx="671" cy="511"/>
          </a:xfrm>
        </p:grpSpPr>
        <p:graphicFrame>
          <p:nvGraphicFramePr>
            <p:cNvPr id="31774" name="Object 7"/>
            <p:cNvGraphicFramePr>
              <a:graphicFrameLocks noChangeAspect="1"/>
            </p:cNvGraphicFramePr>
            <p:nvPr/>
          </p:nvGraphicFramePr>
          <p:xfrm>
            <a:off x="3264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7" name="VISIO" r:id="rId8" imgW="532512" imgH="403188" progId="Visio.Drawing.5">
                    <p:embed/>
                  </p:oleObj>
                </mc:Choice>
                <mc:Fallback>
                  <p:oleObj name="VISIO" r:id="rId8" imgW="532512" imgH="403188" progId="Visio.Drawing.5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5" name="Object 8"/>
            <p:cNvGraphicFramePr>
              <a:graphicFrameLocks noChangeAspect="1"/>
            </p:cNvGraphicFramePr>
            <p:nvPr/>
          </p:nvGraphicFramePr>
          <p:xfrm>
            <a:off x="3312" y="1776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8" name="Equation" r:id="rId10" imgW="203024" imgH="215713" progId="Equation.3">
                    <p:embed/>
                  </p:oleObj>
                </mc:Choice>
                <mc:Fallback>
                  <p:oleObj name="Equation" r:id="rId10" imgW="203024" imgH="215713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1129" name="Group 9"/>
          <p:cNvGrpSpPr>
            <a:grpSpLocks/>
          </p:cNvGrpSpPr>
          <p:nvPr/>
        </p:nvGrpSpPr>
        <p:grpSpPr bwMode="auto">
          <a:xfrm>
            <a:off x="7977188" y="2454275"/>
            <a:ext cx="792162" cy="719138"/>
            <a:chOff x="4560" y="1649"/>
            <a:chExt cx="671" cy="511"/>
          </a:xfrm>
        </p:grpSpPr>
        <p:graphicFrame>
          <p:nvGraphicFramePr>
            <p:cNvPr id="31772" name="Object 10"/>
            <p:cNvGraphicFramePr>
              <a:graphicFrameLocks noChangeAspect="1"/>
            </p:cNvGraphicFramePr>
            <p:nvPr/>
          </p:nvGraphicFramePr>
          <p:xfrm>
            <a:off x="4560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9" name="VISIO" r:id="rId12" imgW="532512" imgH="403188" progId="Visio.Drawing.5">
                    <p:embed/>
                  </p:oleObj>
                </mc:Choice>
                <mc:Fallback>
                  <p:oleObj name="VISIO" r:id="rId12" imgW="532512" imgH="403188" progId="Visio.Drawing.5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3" name="Object 11"/>
            <p:cNvGraphicFramePr>
              <a:graphicFrameLocks noChangeAspect="1"/>
            </p:cNvGraphicFramePr>
            <p:nvPr/>
          </p:nvGraphicFramePr>
          <p:xfrm>
            <a:off x="4600" y="172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0" name="Equation" r:id="rId13" imgW="215619" imgH="215619" progId="Equation.3">
                    <p:embed/>
                  </p:oleObj>
                </mc:Choice>
                <mc:Fallback>
                  <p:oleObj name="Equation" r:id="rId13" imgW="215619" imgH="21561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172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1132" name="Group 12"/>
          <p:cNvGrpSpPr>
            <a:grpSpLocks/>
          </p:cNvGrpSpPr>
          <p:nvPr/>
        </p:nvGrpSpPr>
        <p:grpSpPr bwMode="auto">
          <a:xfrm>
            <a:off x="6753225" y="1139825"/>
            <a:ext cx="863600" cy="666750"/>
            <a:chOff x="3744" y="672"/>
            <a:chExt cx="671" cy="511"/>
          </a:xfrm>
        </p:grpSpPr>
        <p:graphicFrame>
          <p:nvGraphicFramePr>
            <p:cNvPr id="31770" name="Object 13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1" name="VISIO" r:id="rId15" imgW="532512" imgH="403188" progId="Visio.Drawing.5">
                    <p:embed/>
                  </p:oleObj>
                </mc:Choice>
                <mc:Fallback>
                  <p:oleObj name="VISIO" r:id="rId15" imgW="532512" imgH="403188" progId="Visio.Drawing.5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1" name="Object 14"/>
            <p:cNvGraphicFramePr>
              <a:graphicFrameLocks noChangeAspect="1"/>
            </p:cNvGraphicFramePr>
            <p:nvPr/>
          </p:nvGraphicFramePr>
          <p:xfrm>
            <a:off x="3792" y="760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2" name="Equation" r:id="rId16" imgW="215806" imgH="228501" progId="Equation.3">
                    <p:embed/>
                  </p:oleObj>
                </mc:Choice>
                <mc:Fallback>
                  <p:oleObj name="Equation" r:id="rId16" imgW="215806" imgH="228501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0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1135" name="Rectangle 15"/>
          <p:cNvSpPr>
            <a:spLocks noChangeArrowheads="1"/>
          </p:cNvSpPr>
          <p:nvPr/>
        </p:nvSpPr>
        <p:spPr bwMode="auto">
          <a:xfrm>
            <a:off x="250825" y="1125538"/>
            <a:ext cx="48260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电流源支路</a:t>
            </a:r>
            <a:r>
              <a:rPr lang="en-US" altLang="zh-CN" dirty="0">
                <a:solidFill>
                  <a:srgbClr val="3333CC"/>
                </a:solidFill>
                <a:ea typeface="隶书" panose="02010509060101010101" pitchFamily="49" charset="-122"/>
              </a:rPr>
              <a:t>——</a:t>
            </a:r>
            <a:r>
              <a:rPr lang="zh-CN" altLang="en-US" dirty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视为电阻为零</a:t>
            </a:r>
            <a:r>
              <a:rPr lang="zh-CN" altLang="en-US" dirty="0" smtClean="0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的戴维南支路</a:t>
            </a:r>
            <a:endParaRPr lang="zh-CN" altLang="en-US" dirty="0">
              <a:solidFill>
                <a:srgbClr val="3333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261136" name="Object 16"/>
          <p:cNvGraphicFramePr>
            <a:graphicFrameLocks noChangeAspect="1"/>
          </p:cNvGraphicFramePr>
          <p:nvPr/>
        </p:nvGraphicFramePr>
        <p:xfrm>
          <a:off x="374650" y="3716338"/>
          <a:ext cx="33115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3" name="Equation" r:id="rId18" imgW="1485900" imgH="228600" progId="Equation.DSMT4">
                  <p:embed/>
                </p:oleObj>
              </mc:Choice>
              <mc:Fallback>
                <p:oleObj name="Equation" r:id="rId18" imgW="14859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" y="3716338"/>
                        <a:ext cx="331152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7" name="Object 17"/>
          <p:cNvGraphicFramePr>
            <a:graphicFrameLocks noChangeAspect="1"/>
          </p:cNvGraphicFramePr>
          <p:nvPr/>
        </p:nvGraphicFramePr>
        <p:xfrm>
          <a:off x="6443663" y="2060575"/>
          <a:ext cx="81597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4" name="Visio" r:id="rId20" imgW="560642" imgH="824674" progId="Visio.Drawing.11">
                  <p:embed/>
                </p:oleObj>
              </mc:Choice>
              <mc:Fallback>
                <p:oleObj name="Visio" r:id="rId20" imgW="560642" imgH="824674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060575"/>
                        <a:ext cx="815975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8" name="Object 18"/>
          <p:cNvGraphicFramePr>
            <a:graphicFrameLocks noChangeAspect="1"/>
          </p:cNvGraphicFramePr>
          <p:nvPr/>
        </p:nvGraphicFramePr>
        <p:xfrm>
          <a:off x="7451725" y="1844675"/>
          <a:ext cx="434975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5" name="Visio" r:id="rId22" imgW="340757" imgH="984123" progId="Visio.Drawing.11">
                  <p:embed/>
                </p:oleObj>
              </mc:Choice>
              <mc:Fallback>
                <p:oleObj name="Visio" r:id="rId22" imgW="340757" imgH="984123" progId="Visio.Drawing.11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1844675"/>
                        <a:ext cx="434975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9" name="Object 19"/>
          <p:cNvGraphicFramePr>
            <a:graphicFrameLocks noChangeAspect="1"/>
          </p:cNvGraphicFramePr>
          <p:nvPr/>
        </p:nvGraphicFramePr>
        <p:xfrm>
          <a:off x="419100" y="1773238"/>
          <a:ext cx="444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6" name="Equation" r:id="rId24" imgW="2222500" imgH="228600" progId="Equation.DSMT4">
                  <p:embed/>
                </p:oleObj>
              </mc:Choice>
              <mc:Fallback>
                <p:oleObj name="Equation" r:id="rId24" imgW="22225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1773238"/>
                        <a:ext cx="444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40" name="Object 20"/>
          <p:cNvGraphicFramePr>
            <a:graphicFrameLocks noChangeAspect="1"/>
          </p:cNvGraphicFramePr>
          <p:nvPr/>
        </p:nvGraphicFramePr>
        <p:xfrm>
          <a:off x="382588" y="2459038"/>
          <a:ext cx="335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7" name="Equation" r:id="rId26" imgW="1676400" imgH="228600" progId="Equation.DSMT4">
                  <p:embed/>
                </p:oleObj>
              </mc:Choice>
              <mc:Fallback>
                <p:oleObj name="Equation" r:id="rId26" imgW="16764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2459038"/>
                        <a:ext cx="3352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41" name="Object 21"/>
          <p:cNvGraphicFramePr>
            <a:graphicFrameLocks noChangeAspect="1"/>
          </p:cNvGraphicFramePr>
          <p:nvPr/>
        </p:nvGraphicFramePr>
        <p:xfrm>
          <a:off x="330200" y="3109913"/>
          <a:ext cx="454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8" name="Equation" r:id="rId28" imgW="2273300" imgH="228600" progId="Equation.3">
                  <p:embed/>
                </p:oleObj>
              </mc:Choice>
              <mc:Fallback>
                <p:oleObj name="Equation" r:id="rId28" imgW="2273300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3109913"/>
                        <a:ext cx="4546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42" name="Rectangle 22"/>
          <p:cNvSpPr>
            <a:spLocks noChangeArrowheads="1"/>
          </p:cNvSpPr>
          <p:nvPr/>
        </p:nvSpPr>
        <p:spPr bwMode="auto">
          <a:xfrm>
            <a:off x="250825" y="4437063"/>
            <a:ext cx="7634288" cy="354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应用网孔的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KVL——</a:t>
            </a:r>
            <a:r>
              <a:rPr lang="zh-CN" altLang="en-US" dirty="0">
                <a:solidFill>
                  <a:schemeClr val="accent2"/>
                </a:solidFill>
                <a:ea typeface="隶书" panose="02010509060101010101" pitchFamily="49" charset="-122"/>
              </a:rPr>
              <a:t>广义网孔（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3</a:t>
            </a:r>
            <a:r>
              <a:rPr lang="zh-CN" altLang="en-US" dirty="0">
                <a:solidFill>
                  <a:schemeClr val="accent2"/>
                </a:solidFill>
                <a:ea typeface="隶书" panose="02010509060101010101" pitchFamily="49" charset="-122"/>
              </a:rPr>
              <a:t>个方程</a:t>
            </a:r>
            <a:r>
              <a:rPr lang="en-US" altLang="zh-CN" dirty="0">
                <a:solidFill>
                  <a:schemeClr val="accent2"/>
                </a:solidFill>
                <a:ea typeface="隶书" panose="02010509060101010101" pitchFamily="49" charset="-122"/>
              </a:rPr>
              <a:t>)</a:t>
            </a:r>
          </a:p>
        </p:txBody>
      </p:sp>
      <p:graphicFrame>
        <p:nvGraphicFramePr>
          <p:cNvPr id="261143" name="Object 23"/>
          <p:cNvGraphicFramePr>
            <a:graphicFrameLocks noChangeAspect="1"/>
          </p:cNvGraphicFramePr>
          <p:nvPr/>
        </p:nvGraphicFramePr>
        <p:xfrm>
          <a:off x="385763" y="5661025"/>
          <a:ext cx="454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9" name="Equation" r:id="rId30" imgW="2273300" imgH="228600" progId="Equation.3">
                  <p:embed/>
                </p:oleObj>
              </mc:Choice>
              <mc:Fallback>
                <p:oleObj name="Equation" r:id="rId30" imgW="22733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5661025"/>
                        <a:ext cx="4546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44" name="Object 24"/>
          <p:cNvGraphicFramePr>
            <a:graphicFrameLocks noChangeAspect="1"/>
          </p:cNvGraphicFramePr>
          <p:nvPr/>
        </p:nvGraphicFramePr>
        <p:xfrm>
          <a:off x="496888" y="5008563"/>
          <a:ext cx="5334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0" name="Equation" r:id="rId31" imgW="2667000" imgH="254000" progId="Equation.DSMT4">
                  <p:embed/>
                </p:oleObj>
              </mc:Choice>
              <mc:Fallback>
                <p:oleObj name="Equation" r:id="rId31" imgW="2667000" imgH="254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5008563"/>
                        <a:ext cx="5334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45" name="Object 25"/>
          <p:cNvGraphicFramePr>
            <a:graphicFrameLocks noChangeAspect="1"/>
          </p:cNvGraphicFramePr>
          <p:nvPr/>
        </p:nvGraphicFramePr>
        <p:xfrm>
          <a:off x="503238" y="6237288"/>
          <a:ext cx="17272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1" name="Equation" r:id="rId33" imgW="774364" imgH="228501" progId="Equation.DSMT4">
                  <p:embed/>
                </p:oleObj>
              </mc:Choice>
              <mc:Fallback>
                <p:oleObj name="Equation" r:id="rId33" imgW="774364" imgH="228501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6237288"/>
                        <a:ext cx="172720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46" name="AutoShape 26"/>
          <p:cNvSpPr>
            <a:spLocks/>
          </p:cNvSpPr>
          <p:nvPr/>
        </p:nvSpPr>
        <p:spPr bwMode="auto">
          <a:xfrm>
            <a:off x="123825" y="1844675"/>
            <a:ext cx="323850" cy="2305050"/>
          </a:xfrm>
          <a:prstGeom prst="leftBrace">
            <a:avLst>
              <a:gd name="adj1" fmla="val 59314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1147" name="AutoShape 27"/>
          <p:cNvSpPr>
            <a:spLocks/>
          </p:cNvSpPr>
          <p:nvPr/>
        </p:nvSpPr>
        <p:spPr bwMode="auto">
          <a:xfrm>
            <a:off x="179388" y="5084763"/>
            <a:ext cx="250825" cy="1439862"/>
          </a:xfrm>
          <a:prstGeom prst="leftBrace">
            <a:avLst>
              <a:gd name="adj1" fmla="val 47838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1148" name="Oval 28"/>
          <p:cNvSpPr>
            <a:spLocks noChangeArrowheads="1"/>
          </p:cNvSpPr>
          <p:nvPr/>
        </p:nvSpPr>
        <p:spPr bwMode="auto">
          <a:xfrm>
            <a:off x="5867400" y="2060575"/>
            <a:ext cx="2305050" cy="1079500"/>
          </a:xfrm>
          <a:prstGeom prst="ellipse">
            <a:avLst/>
          </a:prstGeom>
          <a:noFill/>
          <a:ln w="9525">
            <a:solidFill>
              <a:srgbClr val="CC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6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8" dur="1000"/>
                                        <p:tgtEl>
                                          <p:spTgt spid="26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3" dur="1000"/>
                                        <p:tgtEl>
                                          <p:spTgt spid="26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8" dur="1000"/>
                                        <p:tgtEl>
                                          <p:spTgt spid="26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6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6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6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8" dur="1000"/>
                                        <p:tgtEl>
                                          <p:spTgt spid="26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2" dur="2000"/>
                                        <p:tgtEl>
                                          <p:spTgt spid="26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1000"/>
                                        <p:tgtEl>
                                          <p:spTgt spid="26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2000"/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0"/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6" dur="2000"/>
                                        <p:tgtEl>
                                          <p:spTgt spid="26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26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26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91" dur="1000"/>
                                        <p:tgtEl>
                                          <p:spTgt spid="26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95" dur="2000"/>
                                        <p:tgtEl>
                                          <p:spTgt spid="26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35" grpId="0"/>
      <p:bldP spid="261142" grpId="0"/>
      <p:bldP spid="261146" grpId="0" animBg="1"/>
      <p:bldP spid="261147" grpId="0" animBg="1"/>
      <p:bldP spid="26114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DAF76B4-5B63-4D1A-B0E6-501B3E643B39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EB1034-1BDF-4C75-89E3-772E4955C67A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graphicFrame>
        <p:nvGraphicFramePr>
          <p:cNvPr id="33797" name="Object 11"/>
          <p:cNvGraphicFramePr>
            <a:graphicFrameLocks noChangeAspect="1"/>
          </p:cNvGraphicFramePr>
          <p:nvPr/>
        </p:nvGraphicFramePr>
        <p:xfrm>
          <a:off x="4751388" y="765175"/>
          <a:ext cx="4392612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22" r:id="rId3" imgW="2081784" imgH="1639824" progId="Visio.Drawing.5">
                  <p:embed/>
                </p:oleObj>
              </mc:Choice>
              <mc:Fallback>
                <p:oleObj r:id="rId3" imgW="2081784" imgH="1639824" progId="Visio.Drawing.5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765175"/>
                        <a:ext cx="4392612" cy="346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Rectangle 13"/>
          <p:cNvSpPr>
            <a:spLocks noChangeArrowheads="1"/>
          </p:cNvSpPr>
          <p:nvPr/>
        </p:nvSpPr>
        <p:spPr bwMode="auto">
          <a:xfrm>
            <a:off x="323850" y="606425"/>
            <a:ext cx="4938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4</a:t>
            </a: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Obtain the mesh equations.</a:t>
            </a:r>
          </a:p>
        </p:txBody>
      </p:sp>
      <p:sp>
        <p:nvSpPr>
          <p:cNvPr id="220174" name="Rectangle 14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讨论 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目标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：网孔分析法应用</a:t>
            </a:r>
          </a:p>
        </p:txBody>
      </p:sp>
      <p:grpSp>
        <p:nvGrpSpPr>
          <p:cNvPr id="220175" name="Group 15"/>
          <p:cNvGrpSpPr>
            <a:grpSpLocks/>
          </p:cNvGrpSpPr>
          <p:nvPr/>
        </p:nvGrpSpPr>
        <p:grpSpPr bwMode="auto">
          <a:xfrm>
            <a:off x="5724525" y="2708275"/>
            <a:ext cx="1079500" cy="647700"/>
            <a:chOff x="3264" y="1649"/>
            <a:chExt cx="671" cy="511"/>
          </a:xfrm>
        </p:grpSpPr>
        <p:graphicFrame>
          <p:nvGraphicFramePr>
            <p:cNvPr id="33812" name="Object 16"/>
            <p:cNvGraphicFramePr>
              <a:graphicFrameLocks noChangeAspect="1"/>
            </p:cNvGraphicFramePr>
            <p:nvPr/>
          </p:nvGraphicFramePr>
          <p:xfrm>
            <a:off x="3264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23" name="VISIO" r:id="rId5" imgW="532512" imgH="403188" progId="Visio.Drawing.5">
                    <p:embed/>
                  </p:oleObj>
                </mc:Choice>
                <mc:Fallback>
                  <p:oleObj name="VISIO" r:id="rId5" imgW="532512" imgH="403188" progId="Visio.Drawing.5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3" name="Object 17"/>
            <p:cNvGraphicFramePr>
              <a:graphicFrameLocks noChangeAspect="1"/>
            </p:cNvGraphicFramePr>
            <p:nvPr/>
          </p:nvGraphicFramePr>
          <p:xfrm>
            <a:off x="3312" y="1776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24" name="Equation" r:id="rId7" imgW="203024" imgH="215713" progId="Equation.3">
                    <p:embed/>
                  </p:oleObj>
                </mc:Choice>
                <mc:Fallback>
                  <p:oleObj name="Equation" r:id="rId7" imgW="203024" imgH="215713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0178" name="Group 18"/>
          <p:cNvGrpSpPr>
            <a:grpSpLocks/>
          </p:cNvGrpSpPr>
          <p:nvPr/>
        </p:nvGrpSpPr>
        <p:grpSpPr bwMode="auto">
          <a:xfrm>
            <a:off x="7451725" y="2781300"/>
            <a:ext cx="792163" cy="719138"/>
            <a:chOff x="4560" y="1649"/>
            <a:chExt cx="671" cy="511"/>
          </a:xfrm>
        </p:grpSpPr>
        <p:graphicFrame>
          <p:nvGraphicFramePr>
            <p:cNvPr id="33810" name="Object 19"/>
            <p:cNvGraphicFramePr>
              <a:graphicFrameLocks noChangeAspect="1"/>
            </p:cNvGraphicFramePr>
            <p:nvPr/>
          </p:nvGraphicFramePr>
          <p:xfrm>
            <a:off x="4560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25" name="VISIO" r:id="rId9" imgW="532512" imgH="403188" progId="Visio.Drawing.5">
                    <p:embed/>
                  </p:oleObj>
                </mc:Choice>
                <mc:Fallback>
                  <p:oleObj name="VISIO" r:id="rId9" imgW="532512" imgH="403188" progId="Visio.Drawing.5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20"/>
            <p:cNvGraphicFramePr>
              <a:graphicFrameLocks noChangeAspect="1"/>
            </p:cNvGraphicFramePr>
            <p:nvPr/>
          </p:nvGraphicFramePr>
          <p:xfrm>
            <a:off x="4600" y="172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26" name="Equation" r:id="rId10" imgW="215619" imgH="215619" progId="Equation.3">
                    <p:embed/>
                  </p:oleObj>
                </mc:Choice>
                <mc:Fallback>
                  <p:oleObj name="Equation" r:id="rId10" imgW="215619" imgH="21561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172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0181" name="Group 21"/>
          <p:cNvGrpSpPr>
            <a:grpSpLocks/>
          </p:cNvGrpSpPr>
          <p:nvPr/>
        </p:nvGrpSpPr>
        <p:grpSpPr bwMode="auto">
          <a:xfrm>
            <a:off x="6661150" y="1609725"/>
            <a:ext cx="863600" cy="666750"/>
            <a:chOff x="3744" y="672"/>
            <a:chExt cx="671" cy="511"/>
          </a:xfrm>
        </p:grpSpPr>
        <p:graphicFrame>
          <p:nvGraphicFramePr>
            <p:cNvPr id="33808" name="Object 22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27" name="VISIO" r:id="rId12" imgW="532512" imgH="403188" progId="Visio.Drawing.5">
                    <p:embed/>
                  </p:oleObj>
                </mc:Choice>
                <mc:Fallback>
                  <p:oleObj name="VISIO" r:id="rId12" imgW="532512" imgH="403188" progId="Visio.Drawing.5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9" name="Object 23"/>
            <p:cNvGraphicFramePr>
              <a:graphicFrameLocks noChangeAspect="1"/>
            </p:cNvGraphicFramePr>
            <p:nvPr/>
          </p:nvGraphicFramePr>
          <p:xfrm>
            <a:off x="3792" y="760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28" name="Equation" r:id="rId13" imgW="215806" imgH="228501" progId="Equation.3">
                    <p:embed/>
                  </p:oleObj>
                </mc:Choice>
                <mc:Fallback>
                  <p:oleObj name="Equation" r:id="rId13" imgW="215806" imgH="228501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0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0184" name="Object 24"/>
          <p:cNvGraphicFramePr>
            <a:graphicFrameLocks noChangeAspect="1"/>
          </p:cNvGraphicFramePr>
          <p:nvPr/>
        </p:nvGraphicFramePr>
        <p:xfrm>
          <a:off x="828675" y="3429000"/>
          <a:ext cx="101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29" name="Equation" r:id="rId15" imgW="457200" imgH="228600" progId="Equation.DSMT4">
                  <p:embed/>
                </p:oleObj>
              </mc:Choice>
              <mc:Fallback>
                <p:oleObj name="Equation" r:id="rId15" imgW="45720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3429000"/>
                        <a:ext cx="1016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5" name="Object 25"/>
          <p:cNvGraphicFramePr>
            <a:graphicFrameLocks noChangeAspect="1"/>
          </p:cNvGraphicFramePr>
          <p:nvPr/>
        </p:nvGraphicFramePr>
        <p:xfrm>
          <a:off x="757238" y="4148138"/>
          <a:ext cx="43465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0" name="Equation" r:id="rId17" imgW="1955800" imgH="228600" progId="Equation.DSMT4">
                  <p:embed/>
                </p:oleObj>
              </mc:Choice>
              <mc:Fallback>
                <p:oleObj name="Equation" r:id="rId17" imgW="195580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4148138"/>
                        <a:ext cx="43465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6" name="Object 26"/>
          <p:cNvGraphicFramePr>
            <a:graphicFrameLocks noChangeAspect="1"/>
          </p:cNvGraphicFramePr>
          <p:nvPr/>
        </p:nvGraphicFramePr>
        <p:xfrm>
          <a:off x="757238" y="4940300"/>
          <a:ext cx="45450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1" name="Equation" r:id="rId19" imgW="2044700" imgH="228600" progId="Equation.DSMT4">
                  <p:embed/>
                </p:oleObj>
              </mc:Choice>
              <mc:Fallback>
                <p:oleObj name="Equation" r:id="rId19" imgW="204470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4940300"/>
                        <a:ext cx="45450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87" name="Object 27"/>
          <p:cNvGraphicFramePr>
            <a:graphicFrameLocks noChangeAspect="1"/>
          </p:cNvGraphicFramePr>
          <p:nvPr/>
        </p:nvGraphicFramePr>
        <p:xfrm>
          <a:off x="757238" y="5588000"/>
          <a:ext cx="10715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2" name="Equation" r:id="rId21" imgW="482391" imgH="228501" progId="Equation.DSMT4">
                  <p:embed/>
                </p:oleObj>
              </mc:Choice>
              <mc:Fallback>
                <p:oleObj name="Equation" r:id="rId21" imgW="482391" imgH="228501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5588000"/>
                        <a:ext cx="10715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88" name="AutoShape 28"/>
          <p:cNvSpPr>
            <a:spLocks/>
          </p:cNvSpPr>
          <p:nvPr/>
        </p:nvSpPr>
        <p:spPr bwMode="auto">
          <a:xfrm>
            <a:off x="468313" y="3644900"/>
            <a:ext cx="215900" cy="2232025"/>
          </a:xfrm>
          <a:prstGeom prst="leftBrace">
            <a:avLst>
              <a:gd name="adj1" fmla="val 86152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20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2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2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2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2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2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9" dur="2000"/>
                                        <p:tgtEl>
                                          <p:spTgt spid="22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8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DE7F9B3-2696-470B-A770-E495BC8CEBA6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B9BCA3-48CB-4D9C-B1EA-8BCB57454C9F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34821" name="Rectangle 14"/>
          <p:cNvSpPr>
            <a:spLocks noChangeArrowheads="1"/>
          </p:cNvSpPr>
          <p:nvPr/>
        </p:nvSpPr>
        <p:spPr bwMode="auto">
          <a:xfrm>
            <a:off x="323850" y="606425"/>
            <a:ext cx="4938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4</a:t>
            </a: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Obtain the mesh equations.</a:t>
            </a:r>
          </a:p>
        </p:txBody>
      </p:sp>
      <p:sp>
        <p:nvSpPr>
          <p:cNvPr id="263183" name="Rectangle 15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讨论  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目标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2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：网孔分析法应用</a:t>
            </a:r>
          </a:p>
        </p:txBody>
      </p:sp>
      <p:graphicFrame>
        <p:nvGraphicFramePr>
          <p:cNvPr id="34823" name="Object 21"/>
          <p:cNvGraphicFramePr>
            <a:graphicFrameLocks noChangeAspect="1"/>
          </p:cNvGraphicFramePr>
          <p:nvPr/>
        </p:nvGraphicFramePr>
        <p:xfrm>
          <a:off x="3924300" y="2081213"/>
          <a:ext cx="4959350" cy="250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65" name="Visio" r:id="rId4" imgW="2856357" imgH="1455610" progId="Visio.Drawing.11">
                  <p:embed/>
                </p:oleObj>
              </mc:Choice>
              <mc:Fallback>
                <p:oleObj name="Visio" r:id="rId4" imgW="2856357" imgH="1455610" progId="Visio.Drawing.11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081213"/>
                        <a:ext cx="4959350" cy="250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22"/>
          <p:cNvGraphicFramePr>
            <a:graphicFrameLocks noChangeAspect="1"/>
          </p:cNvGraphicFramePr>
          <p:nvPr/>
        </p:nvGraphicFramePr>
        <p:xfrm>
          <a:off x="4716463" y="1268413"/>
          <a:ext cx="376555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66" name="Visio" r:id="rId6" imgW="2174843" imgH="793814" progId="Visio.Drawing.11">
                  <p:embed/>
                </p:oleObj>
              </mc:Choice>
              <mc:Fallback>
                <p:oleObj name="Visio" r:id="rId6" imgW="2174843" imgH="793814" progId="Visio.Drawing.11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268413"/>
                        <a:ext cx="3765550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23"/>
          <p:cNvGraphicFramePr>
            <a:graphicFrameLocks noChangeAspect="1"/>
          </p:cNvGraphicFramePr>
          <p:nvPr/>
        </p:nvGraphicFramePr>
        <p:xfrm>
          <a:off x="6588125" y="2546350"/>
          <a:ext cx="617538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67" name="Visio" r:id="rId8" imgW="380619" imgH="1059990" progId="Visio.Drawing.11">
                  <p:embed/>
                </p:oleObj>
              </mc:Choice>
              <mc:Fallback>
                <p:oleObj name="Visio" r:id="rId8" imgW="380619" imgH="1059990" progId="Visio.Drawing.11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546350"/>
                        <a:ext cx="617538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3192" name="Group 24"/>
          <p:cNvGrpSpPr>
            <a:grpSpLocks/>
          </p:cNvGrpSpPr>
          <p:nvPr/>
        </p:nvGrpSpPr>
        <p:grpSpPr bwMode="auto">
          <a:xfrm>
            <a:off x="5219700" y="3017838"/>
            <a:ext cx="1149350" cy="757237"/>
            <a:chOff x="3264" y="1649"/>
            <a:chExt cx="671" cy="511"/>
          </a:xfrm>
        </p:grpSpPr>
        <p:graphicFrame>
          <p:nvGraphicFramePr>
            <p:cNvPr id="34839" name="Object 25"/>
            <p:cNvGraphicFramePr>
              <a:graphicFrameLocks noChangeAspect="1"/>
            </p:cNvGraphicFramePr>
            <p:nvPr/>
          </p:nvGraphicFramePr>
          <p:xfrm>
            <a:off x="3264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8" name="VISIO" r:id="rId10" imgW="532512" imgH="403188" progId="Visio.Drawing.5">
                    <p:embed/>
                  </p:oleObj>
                </mc:Choice>
                <mc:Fallback>
                  <p:oleObj name="VISIO" r:id="rId10" imgW="532512" imgH="403188" progId="Visio.Drawing.5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40" name="Object 26"/>
            <p:cNvGraphicFramePr>
              <a:graphicFrameLocks noChangeAspect="1"/>
            </p:cNvGraphicFramePr>
            <p:nvPr/>
          </p:nvGraphicFramePr>
          <p:xfrm>
            <a:off x="3312" y="1776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69" name="Equation" r:id="rId12" imgW="203024" imgH="215713" progId="Equation.3">
                    <p:embed/>
                  </p:oleObj>
                </mc:Choice>
                <mc:Fallback>
                  <p:oleObj name="Equation" r:id="rId12" imgW="203024" imgH="215713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3195" name="Group 27"/>
          <p:cNvGrpSpPr>
            <a:grpSpLocks/>
          </p:cNvGrpSpPr>
          <p:nvPr/>
        </p:nvGrpSpPr>
        <p:grpSpPr bwMode="auto">
          <a:xfrm>
            <a:off x="7183438" y="2946400"/>
            <a:ext cx="842962" cy="841375"/>
            <a:chOff x="4560" y="1649"/>
            <a:chExt cx="671" cy="511"/>
          </a:xfrm>
        </p:grpSpPr>
        <p:graphicFrame>
          <p:nvGraphicFramePr>
            <p:cNvPr id="34837" name="Object 28"/>
            <p:cNvGraphicFramePr>
              <a:graphicFrameLocks noChangeAspect="1"/>
            </p:cNvGraphicFramePr>
            <p:nvPr/>
          </p:nvGraphicFramePr>
          <p:xfrm>
            <a:off x="4560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0" name="VISIO" r:id="rId14" imgW="532512" imgH="403188" progId="Visio.Drawing.5">
                    <p:embed/>
                  </p:oleObj>
                </mc:Choice>
                <mc:Fallback>
                  <p:oleObj name="VISIO" r:id="rId14" imgW="532512" imgH="403188" progId="Visio.Drawing.5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8" name="Object 29"/>
            <p:cNvGraphicFramePr>
              <a:graphicFrameLocks noChangeAspect="1"/>
            </p:cNvGraphicFramePr>
            <p:nvPr/>
          </p:nvGraphicFramePr>
          <p:xfrm>
            <a:off x="4600" y="172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1" name="Equation" r:id="rId15" imgW="215619" imgH="215619" progId="Equation.3">
                    <p:embed/>
                  </p:oleObj>
                </mc:Choice>
                <mc:Fallback>
                  <p:oleObj name="Equation" r:id="rId15" imgW="215619" imgH="215619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172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3198" name="Group 30"/>
          <p:cNvGrpSpPr>
            <a:grpSpLocks/>
          </p:cNvGrpSpPr>
          <p:nvPr/>
        </p:nvGrpSpPr>
        <p:grpSpPr bwMode="auto">
          <a:xfrm>
            <a:off x="7740650" y="1700213"/>
            <a:ext cx="1008063" cy="706437"/>
            <a:chOff x="3744" y="672"/>
            <a:chExt cx="671" cy="511"/>
          </a:xfrm>
        </p:grpSpPr>
        <p:graphicFrame>
          <p:nvGraphicFramePr>
            <p:cNvPr id="34835" name="Object 31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2" name="VISIO" r:id="rId17" imgW="532512" imgH="403188" progId="Visio.Drawing.5">
                    <p:embed/>
                  </p:oleObj>
                </mc:Choice>
                <mc:Fallback>
                  <p:oleObj name="VISIO" r:id="rId17" imgW="532512" imgH="403188" progId="Visio.Drawing.5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6" name="Object 32"/>
            <p:cNvGraphicFramePr>
              <a:graphicFrameLocks noChangeAspect="1"/>
            </p:cNvGraphicFramePr>
            <p:nvPr/>
          </p:nvGraphicFramePr>
          <p:xfrm>
            <a:off x="3792" y="760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3" name="Equation" r:id="rId18" imgW="215806" imgH="228501" progId="Equation.3">
                    <p:embed/>
                  </p:oleObj>
                </mc:Choice>
                <mc:Fallback>
                  <p:oleObj name="Equation" r:id="rId18" imgW="215806" imgH="228501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0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3201" name="Object 33"/>
          <p:cNvGraphicFramePr>
            <a:graphicFrameLocks noChangeAspect="1"/>
          </p:cNvGraphicFramePr>
          <p:nvPr/>
        </p:nvGraphicFramePr>
        <p:xfrm>
          <a:off x="877888" y="4071938"/>
          <a:ext cx="16081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4" name="Equation" r:id="rId20" imgW="723586" imgH="228501" progId="Equation.DSMT4">
                  <p:embed/>
                </p:oleObj>
              </mc:Choice>
              <mc:Fallback>
                <p:oleObj name="Equation" r:id="rId20" imgW="723586" imgH="228501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4071938"/>
                        <a:ext cx="160813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202" name="Object 34"/>
          <p:cNvGraphicFramePr>
            <a:graphicFrameLocks noChangeAspect="1"/>
          </p:cNvGraphicFramePr>
          <p:nvPr/>
        </p:nvGraphicFramePr>
        <p:xfrm>
          <a:off x="804863" y="4864100"/>
          <a:ext cx="59277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5" name="Equation" r:id="rId22" imgW="2667000" imgH="254000" progId="Equation.DSMT4">
                  <p:embed/>
                </p:oleObj>
              </mc:Choice>
              <mc:Fallback>
                <p:oleObj name="Equation" r:id="rId22" imgW="2667000" imgH="2540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4864100"/>
                        <a:ext cx="59277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203" name="Object 35"/>
          <p:cNvGraphicFramePr>
            <a:graphicFrameLocks noChangeAspect="1"/>
          </p:cNvGraphicFramePr>
          <p:nvPr/>
        </p:nvGraphicFramePr>
        <p:xfrm>
          <a:off x="877888" y="5584825"/>
          <a:ext cx="958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6" name="Equation" r:id="rId24" imgW="431613" imgH="228501" progId="Equation.DSMT4">
                  <p:embed/>
                </p:oleObj>
              </mc:Choice>
              <mc:Fallback>
                <p:oleObj name="Equation" r:id="rId24" imgW="431613" imgH="228501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5584825"/>
                        <a:ext cx="9588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204" name="AutoShape 36"/>
          <p:cNvSpPr>
            <a:spLocks/>
          </p:cNvSpPr>
          <p:nvPr/>
        </p:nvSpPr>
        <p:spPr bwMode="auto">
          <a:xfrm>
            <a:off x="652463" y="4360863"/>
            <a:ext cx="225425" cy="1511300"/>
          </a:xfrm>
          <a:prstGeom prst="leftBrace">
            <a:avLst>
              <a:gd name="adj1" fmla="val 55869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3205" name="Rectangle 37"/>
          <p:cNvSpPr>
            <a:spLocks noChangeArrowheads="1"/>
          </p:cNvSpPr>
          <p:nvPr/>
        </p:nvSpPr>
        <p:spPr bwMode="auto">
          <a:xfrm>
            <a:off x="5219700" y="2873375"/>
            <a:ext cx="2881313" cy="1095375"/>
          </a:xfrm>
          <a:prstGeom prst="rect">
            <a:avLst/>
          </a:prstGeom>
          <a:noFill/>
          <a:ln w="9525">
            <a:solidFill>
              <a:schemeClr val="folHlink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3206" name="Rectangle 38"/>
          <p:cNvSpPr>
            <a:spLocks noChangeArrowheads="1"/>
          </p:cNvSpPr>
          <p:nvPr/>
        </p:nvSpPr>
        <p:spPr bwMode="auto">
          <a:xfrm>
            <a:off x="468313" y="3500438"/>
            <a:ext cx="230505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网孔分析法：</a:t>
            </a:r>
            <a:endParaRPr lang="zh-CN" altLang="en-US">
              <a:solidFill>
                <a:srgbClr val="3333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26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6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6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6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6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3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3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6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6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2000"/>
                                        <p:tgtEl>
                                          <p:spTgt spid="26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204" grpId="0" animBg="1"/>
      <p:bldP spid="263205" grpId="0" animBg="1"/>
      <p:bldP spid="26320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92E976E-DF4D-4DF0-9F03-5507F26CB1FF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B5694-A6AC-4E15-B233-8DB2566C7382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38917" name="Rectangle 6"/>
          <p:cNvSpPr>
            <a:spLocks noChangeArrowheads="1"/>
          </p:cNvSpPr>
          <p:nvPr/>
        </p:nvSpPr>
        <p:spPr bwMode="auto">
          <a:xfrm>
            <a:off x="323850" y="549275"/>
            <a:ext cx="871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5</a:t>
            </a: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Calculate  the power of each source</a:t>
            </a:r>
            <a:r>
              <a:rPr lang="en-US" altLang="zh-CN">
                <a:solidFill>
                  <a:srgbClr val="CC3300"/>
                </a:solidFill>
                <a:ea typeface="隶书" panose="02010509060101010101" pitchFamily="49" charset="-122"/>
              </a:rPr>
              <a:t> (include the VCCS).</a:t>
            </a:r>
          </a:p>
        </p:txBody>
      </p:sp>
      <p:sp>
        <p:nvSpPr>
          <p:cNvPr id="246791" name="Rectangle 7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讨论  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目标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3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：合理选择分析法</a:t>
            </a:r>
          </a:p>
        </p:txBody>
      </p:sp>
      <p:graphicFrame>
        <p:nvGraphicFramePr>
          <p:cNvPr id="38919" name="Object 57"/>
          <p:cNvGraphicFramePr>
            <a:graphicFrameLocks noChangeAspect="1"/>
          </p:cNvGraphicFramePr>
          <p:nvPr/>
        </p:nvGraphicFramePr>
        <p:xfrm>
          <a:off x="4213225" y="908050"/>
          <a:ext cx="4679950" cy="314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73" name="VISIO" r:id="rId3" imgW="2851224" imgH="1909438" progId="Visio.Drawing.5">
                  <p:embed/>
                </p:oleObj>
              </mc:Choice>
              <mc:Fallback>
                <p:oleObj name="VISIO" r:id="rId3" imgW="2851224" imgH="1909438" progId="Visio.Drawing.5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3225" y="908050"/>
                        <a:ext cx="4679950" cy="314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842" name="Group 58"/>
          <p:cNvGrpSpPr>
            <a:grpSpLocks/>
          </p:cNvGrpSpPr>
          <p:nvPr/>
        </p:nvGrpSpPr>
        <p:grpSpPr bwMode="auto">
          <a:xfrm>
            <a:off x="4932363" y="2924175"/>
            <a:ext cx="1079500" cy="647700"/>
            <a:chOff x="3264" y="1649"/>
            <a:chExt cx="671" cy="511"/>
          </a:xfrm>
        </p:grpSpPr>
        <p:graphicFrame>
          <p:nvGraphicFramePr>
            <p:cNvPr id="38939" name="Object 59"/>
            <p:cNvGraphicFramePr>
              <a:graphicFrameLocks noChangeAspect="1"/>
            </p:cNvGraphicFramePr>
            <p:nvPr/>
          </p:nvGraphicFramePr>
          <p:xfrm>
            <a:off x="3264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74" name="VISIO" r:id="rId5" imgW="532512" imgH="403188" progId="Visio.Drawing.5">
                    <p:embed/>
                  </p:oleObj>
                </mc:Choice>
                <mc:Fallback>
                  <p:oleObj name="VISIO" r:id="rId5" imgW="532512" imgH="403188" progId="Visio.Drawing.5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0" name="Object 60"/>
            <p:cNvGraphicFramePr>
              <a:graphicFrameLocks noChangeAspect="1"/>
            </p:cNvGraphicFramePr>
            <p:nvPr/>
          </p:nvGraphicFramePr>
          <p:xfrm>
            <a:off x="3312" y="1776"/>
            <a:ext cx="25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75" name="Equation" r:id="rId7" imgW="203024" imgH="215713" progId="Equation.3">
                    <p:embed/>
                  </p:oleObj>
                </mc:Choice>
                <mc:Fallback>
                  <p:oleObj name="Equation" r:id="rId7" imgW="203024" imgH="215713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5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845" name="Group 61"/>
          <p:cNvGrpSpPr>
            <a:grpSpLocks/>
          </p:cNvGrpSpPr>
          <p:nvPr/>
        </p:nvGrpSpPr>
        <p:grpSpPr bwMode="auto">
          <a:xfrm>
            <a:off x="6732588" y="2420938"/>
            <a:ext cx="792162" cy="719137"/>
            <a:chOff x="4560" y="1649"/>
            <a:chExt cx="671" cy="511"/>
          </a:xfrm>
        </p:grpSpPr>
        <p:graphicFrame>
          <p:nvGraphicFramePr>
            <p:cNvPr id="38937" name="Object 62"/>
            <p:cNvGraphicFramePr>
              <a:graphicFrameLocks noChangeAspect="1"/>
            </p:cNvGraphicFramePr>
            <p:nvPr/>
          </p:nvGraphicFramePr>
          <p:xfrm>
            <a:off x="4560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76" name="VISIO" r:id="rId9" imgW="532512" imgH="403188" progId="Visio.Drawing.5">
                    <p:embed/>
                  </p:oleObj>
                </mc:Choice>
                <mc:Fallback>
                  <p:oleObj name="VISIO" r:id="rId9" imgW="532512" imgH="403188" progId="Visio.Drawing.5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8" name="Object 63"/>
            <p:cNvGraphicFramePr>
              <a:graphicFrameLocks noChangeAspect="1"/>
            </p:cNvGraphicFramePr>
            <p:nvPr/>
          </p:nvGraphicFramePr>
          <p:xfrm>
            <a:off x="4600" y="172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77" name="Equation" r:id="rId10" imgW="215619" imgH="215619" progId="Equation.3">
                    <p:embed/>
                  </p:oleObj>
                </mc:Choice>
                <mc:Fallback>
                  <p:oleObj name="Equation" r:id="rId10" imgW="215619" imgH="215619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172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848" name="Group 64"/>
          <p:cNvGrpSpPr>
            <a:grpSpLocks/>
          </p:cNvGrpSpPr>
          <p:nvPr/>
        </p:nvGrpSpPr>
        <p:grpSpPr bwMode="auto">
          <a:xfrm>
            <a:off x="5435600" y="1412875"/>
            <a:ext cx="863600" cy="666750"/>
            <a:chOff x="3744" y="672"/>
            <a:chExt cx="671" cy="511"/>
          </a:xfrm>
        </p:grpSpPr>
        <p:graphicFrame>
          <p:nvGraphicFramePr>
            <p:cNvPr id="38935" name="Object 65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78" name="VISIO" r:id="rId12" imgW="532512" imgH="403188" progId="Visio.Drawing.5">
                    <p:embed/>
                  </p:oleObj>
                </mc:Choice>
                <mc:Fallback>
                  <p:oleObj name="VISIO" r:id="rId12" imgW="532512" imgH="403188" progId="Visio.Drawing.5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6" name="Object 66"/>
            <p:cNvGraphicFramePr>
              <a:graphicFrameLocks noChangeAspect="1"/>
            </p:cNvGraphicFramePr>
            <p:nvPr/>
          </p:nvGraphicFramePr>
          <p:xfrm>
            <a:off x="3792" y="760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79" name="Equation" r:id="rId13" imgW="215806" imgH="228501" progId="Equation.3">
                    <p:embed/>
                  </p:oleObj>
                </mc:Choice>
                <mc:Fallback>
                  <p:oleObj name="Equation" r:id="rId13" imgW="215806" imgH="228501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0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851" name="Group 67"/>
          <p:cNvGrpSpPr>
            <a:grpSpLocks/>
          </p:cNvGrpSpPr>
          <p:nvPr/>
        </p:nvGrpSpPr>
        <p:grpSpPr bwMode="auto">
          <a:xfrm>
            <a:off x="7812088" y="3068638"/>
            <a:ext cx="863600" cy="666750"/>
            <a:chOff x="3744" y="672"/>
            <a:chExt cx="671" cy="511"/>
          </a:xfrm>
        </p:grpSpPr>
        <p:graphicFrame>
          <p:nvGraphicFramePr>
            <p:cNvPr id="38933" name="Object 68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80" name="VISIO" r:id="rId15" imgW="532512" imgH="403188" progId="Visio.Drawing.5">
                    <p:embed/>
                  </p:oleObj>
                </mc:Choice>
                <mc:Fallback>
                  <p:oleObj name="VISIO" r:id="rId15" imgW="532512" imgH="403188" progId="Visio.Drawing.5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4" name="Object 69"/>
            <p:cNvGraphicFramePr>
              <a:graphicFrameLocks noChangeAspect="1"/>
            </p:cNvGraphicFramePr>
            <p:nvPr/>
          </p:nvGraphicFramePr>
          <p:xfrm>
            <a:off x="3792" y="760"/>
            <a:ext cx="27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81" name="Equation" r:id="rId16" imgW="215806" imgH="228501" progId="Equation.DSMT4">
                    <p:embed/>
                  </p:oleObj>
                </mc:Choice>
                <mc:Fallback>
                  <p:oleObj name="Equation" r:id="rId16" imgW="215806" imgH="228501" progId="Equation.DSMT4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0"/>
                          <a:ext cx="27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6854" name="Object 70"/>
          <p:cNvGraphicFramePr>
            <a:graphicFrameLocks noChangeAspect="1"/>
          </p:cNvGraphicFramePr>
          <p:nvPr/>
        </p:nvGraphicFramePr>
        <p:xfrm>
          <a:off x="539750" y="2133600"/>
          <a:ext cx="2030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2" name="Equation" r:id="rId18" imgW="914400" imgH="228600" progId="Equation.DSMT4">
                  <p:embed/>
                </p:oleObj>
              </mc:Choice>
              <mc:Fallback>
                <p:oleObj name="Equation" r:id="rId18" imgW="914400" imgH="22860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133600"/>
                        <a:ext cx="2030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855" name="Object 71"/>
          <p:cNvGraphicFramePr>
            <a:graphicFrameLocks noChangeAspect="1"/>
          </p:cNvGraphicFramePr>
          <p:nvPr/>
        </p:nvGraphicFramePr>
        <p:xfrm>
          <a:off x="482600" y="4148138"/>
          <a:ext cx="59848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3" name="Equation" r:id="rId20" imgW="2692400" imgH="254000" progId="Equation.DSMT4">
                  <p:embed/>
                </p:oleObj>
              </mc:Choice>
              <mc:Fallback>
                <p:oleObj name="Equation" r:id="rId20" imgW="2692400" imgH="25400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4148138"/>
                        <a:ext cx="59848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856" name="Object 72"/>
          <p:cNvGraphicFramePr>
            <a:graphicFrameLocks noChangeAspect="1"/>
          </p:cNvGraphicFramePr>
          <p:nvPr/>
        </p:nvGraphicFramePr>
        <p:xfrm>
          <a:off x="539750" y="2781300"/>
          <a:ext cx="958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4" name="Equation" r:id="rId22" imgW="431613" imgH="228501" progId="Equation.DSMT4">
                  <p:embed/>
                </p:oleObj>
              </mc:Choice>
              <mc:Fallback>
                <p:oleObj name="Equation" r:id="rId22" imgW="431613" imgH="228501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781300"/>
                        <a:ext cx="9588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857" name="AutoShape 73"/>
          <p:cNvSpPr>
            <a:spLocks/>
          </p:cNvSpPr>
          <p:nvPr/>
        </p:nvSpPr>
        <p:spPr bwMode="auto">
          <a:xfrm>
            <a:off x="250825" y="2276475"/>
            <a:ext cx="288925" cy="2881313"/>
          </a:xfrm>
          <a:prstGeom prst="leftBrace">
            <a:avLst>
              <a:gd name="adj1" fmla="val 83104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46858" name="Object 74"/>
          <p:cNvGraphicFramePr>
            <a:graphicFrameLocks noChangeAspect="1"/>
          </p:cNvGraphicFramePr>
          <p:nvPr/>
        </p:nvGraphicFramePr>
        <p:xfrm>
          <a:off x="539750" y="3429000"/>
          <a:ext cx="11271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5" name="Equation" r:id="rId24" imgW="508000" imgH="228600" progId="Equation.DSMT4">
                  <p:embed/>
                </p:oleObj>
              </mc:Choice>
              <mc:Fallback>
                <p:oleObj name="Equation" r:id="rId24" imgW="508000" imgH="22860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429000"/>
                        <a:ext cx="11271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859" name="Object 75"/>
          <p:cNvGraphicFramePr>
            <a:graphicFrameLocks noChangeAspect="1"/>
          </p:cNvGraphicFramePr>
          <p:nvPr/>
        </p:nvGraphicFramePr>
        <p:xfrm>
          <a:off x="519113" y="4724400"/>
          <a:ext cx="53070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6" name="Equation" r:id="rId26" imgW="2387600" imgH="254000" progId="Equation.DSMT4">
                  <p:embed/>
                </p:oleObj>
              </mc:Choice>
              <mc:Fallback>
                <p:oleObj name="Equation" r:id="rId26" imgW="2387600" imgH="25400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4724400"/>
                        <a:ext cx="530701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860" name="Object 76"/>
          <p:cNvGraphicFramePr>
            <a:graphicFrameLocks noChangeAspect="1"/>
          </p:cNvGraphicFramePr>
          <p:nvPr/>
        </p:nvGraphicFramePr>
        <p:xfrm>
          <a:off x="212725" y="5327650"/>
          <a:ext cx="80740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7" name="Equation" r:id="rId28" imgW="3632200" imgH="279400" progId="Equation.DSMT4">
                  <p:embed/>
                </p:oleObj>
              </mc:Choice>
              <mc:Fallback>
                <p:oleObj name="Equation" r:id="rId28" imgW="3632200" imgH="279400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5327650"/>
                        <a:ext cx="807402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861" name="Object 77"/>
          <p:cNvGraphicFramePr>
            <a:graphicFrameLocks noChangeAspect="1"/>
          </p:cNvGraphicFramePr>
          <p:nvPr/>
        </p:nvGraphicFramePr>
        <p:xfrm>
          <a:off x="153988" y="5976938"/>
          <a:ext cx="8666162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88" name="Equation" r:id="rId30" imgW="3898900" imgH="279400" progId="Equation.DSMT4">
                  <p:embed/>
                </p:oleObj>
              </mc:Choice>
              <mc:Fallback>
                <p:oleObj name="Equation" r:id="rId30" imgW="3898900" imgH="279400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8" y="5976938"/>
                        <a:ext cx="8666162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862" name="Rectangle 78"/>
          <p:cNvSpPr>
            <a:spLocks noChangeArrowheads="1"/>
          </p:cNvSpPr>
          <p:nvPr/>
        </p:nvSpPr>
        <p:spPr bwMode="auto">
          <a:xfrm>
            <a:off x="395288" y="1557338"/>
            <a:ext cx="230505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rgbClr val="3333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网孔分析法：</a:t>
            </a:r>
            <a:endParaRPr lang="zh-CN" altLang="en-US">
              <a:solidFill>
                <a:srgbClr val="3333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24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46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4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46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4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4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4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4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4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4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3" dur="2000"/>
                                        <p:tgtEl>
                                          <p:spTgt spid="24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246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4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57" grpId="0" animBg="1"/>
      <p:bldP spid="24686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506413" y="1368425"/>
            <a:ext cx="4075112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求图示电路中支路电流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（各支路电压与电流采用关联参考方向）。    </a:t>
            </a:r>
          </a:p>
        </p:txBody>
      </p:sp>
      <p:sp>
        <p:nvSpPr>
          <p:cNvPr id="6147" name="Text Box 59"/>
          <p:cNvSpPr txBox="1">
            <a:spLocks noChangeArrowheads="1"/>
          </p:cNvSpPr>
          <p:nvPr/>
        </p:nvSpPr>
        <p:spPr bwMode="auto">
          <a:xfrm>
            <a:off x="268539" y="826295"/>
            <a:ext cx="3775075" cy="519112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prstShdw prst="shdw17" dist="17961" dir="2700000">
              <a:srgbClr val="7A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 2" panose="05020102010507070707" pitchFamily="18" charset="2"/>
              </a:rPr>
              <a:t> </a:t>
            </a:r>
            <a:r>
              <a:rPr lang="en-US" altLang="zh-CN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问题的提出           </a:t>
            </a:r>
          </a:p>
        </p:txBody>
      </p:sp>
      <p:grpSp>
        <p:nvGrpSpPr>
          <p:cNvPr id="113773" name="Group 109"/>
          <p:cNvGrpSpPr>
            <a:grpSpLocks/>
          </p:cNvGrpSpPr>
          <p:nvPr/>
        </p:nvGrpSpPr>
        <p:grpSpPr bwMode="auto">
          <a:xfrm>
            <a:off x="4889500" y="809625"/>
            <a:ext cx="3952875" cy="4062413"/>
            <a:chOff x="3018" y="175"/>
            <a:chExt cx="2490" cy="2559"/>
          </a:xfrm>
        </p:grpSpPr>
        <p:sp>
          <p:nvSpPr>
            <p:cNvPr id="6155" name="Oval 75"/>
            <p:cNvSpPr>
              <a:spLocks noChangeArrowheads="1"/>
            </p:cNvSpPr>
            <p:nvPr/>
          </p:nvSpPr>
          <p:spPr bwMode="auto">
            <a:xfrm>
              <a:off x="4398" y="2219"/>
              <a:ext cx="315" cy="325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56" name="Line 61"/>
            <p:cNvSpPr>
              <a:spLocks noChangeShapeType="1"/>
            </p:cNvSpPr>
            <p:nvPr/>
          </p:nvSpPr>
          <p:spPr bwMode="auto">
            <a:xfrm>
              <a:off x="4201" y="482"/>
              <a:ext cx="0" cy="14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7" name="Line 62"/>
            <p:cNvSpPr>
              <a:spLocks noChangeShapeType="1"/>
            </p:cNvSpPr>
            <p:nvPr/>
          </p:nvSpPr>
          <p:spPr bwMode="auto">
            <a:xfrm>
              <a:off x="4201" y="482"/>
              <a:ext cx="867" cy="7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8" name="Line 63"/>
            <p:cNvSpPr>
              <a:spLocks noChangeShapeType="1"/>
            </p:cNvSpPr>
            <p:nvPr/>
          </p:nvSpPr>
          <p:spPr bwMode="auto">
            <a:xfrm>
              <a:off x="3333" y="1223"/>
              <a:ext cx="868" cy="7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9" name="Line 64"/>
            <p:cNvSpPr>
              <a:spLocks noChangeShapeType="1"/>
            </p:cNvSpPr>
            <p:nvPr/>
          </p:nvSpPr>
          <p:spPr bwMode="auto">
            <a:xfrm flipH="1">
              <a:off x="4201" y="1223"/>
              <a:ext cx="867" cy="7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0" name="Line 65"/>
            <p:cNvSpPr>
              <a:spLocks noChangeShapeType="1"/>
            </p:cNvSpPr>
            <p:nvPr/>
          </p:nvSpPr>
          <p:spPr bwMode="auto">
            <a:xfrm flipH="1">
              <a:off x="3333" y="482"/>
              <a:ext cx="868" cy="7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1" name="Freeform 66"/>
            <p:cNvSpPr>
              <a:spLocks/>
            </p:cNvSpPr>
            <p:nvPr/>
          </p:nvSpPr>
          <p:spPr bwMode="auto">
            <a:xfrm>
              <a:off x="3333" y="1223"/>
              <a:ext cx="1" cy="1161"/>
            </a:xfrm>
            <a:custGeom>
              <a:avLst/>
              <a:gdLst>
                <a:gd name="T0" fmla="*/ 0 w 1"/>
                <a:gd name="T1" fmla="*/ 0 h 1135"/>
                <a:gd name="T2" fmla="*/ 0 w 1"/>
                <a:gd name="T3" fmla="*/ 1300 h 11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135">
                  <a:moveTo>
                    <a:pt x="0" y="0"/>
                  </a:moveTo>
                  <a:lnTo>
                    <a:pt x="0" y="113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2" name="Freeform 67"/>
            <p:cNvSpPr>
              <a:spLocks/>
            </p:cNvSpPr>
            <p:nvPr/>
          </p:nvSpPr>
          <p:spPr bwMode="auto">
            <a:xfrm>
              <a:off x="5068" y="1223"/>
              <a:ext cx="1" cy="1167"/>
            </a:xfrm>
            <a:custGeom>
              <a:avLst/>
              <a:gdLst>
                <a:gd name="T0" fmla="*/ 0 w 1"/>
                <a:gd name="T1" fmla="*/ 0 h 1141"/>
                <a:gd name="T2" fmla="*/ 0 w 1"/>
                <a:gd name="T3" fmla="*/ 1306 h 11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141">
                  <a:moveTo>
                    <a:pt x="0" y="0"/>
                  </a:moveTo>
                  <a:lnTo>
                    <a:pt x="0" y="114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Line 68"/>
            <p:cNvSpPr>
              <a:spLocks noChangeShapeType="1"/>
            </p:cNvSpPr>
            <p:nvPr/>
          </p:nvSpPr>
          <p:spPr bwMode="auto">
            <a:xfrm flipV="1">
              <a:off x="3340" y="2378"/>
              <a:ext cx="17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4" name="Rectangle 69"/>
            <p:cNvSpPr>
              <a:spLocks noChangeArrowheads="1"/>
            </p:cNvSpPr>
            <p:nvPr/>
          </p:nvSpPr>
          <p:spPr bwMode="auto">
            <a:xfrm>
              <a:off x="4132" y="1123"/>
              <a:ext cx="118" cy="28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5" name="Rectangle 70"/>
            <p:cNvSpPr>
              <a:spLocks noChangeArrowheads="1"/>
            </p:cNvSpPr>
            <p:nvPr/>
          </p:nvSpPr>
          <p:spPr bwMode="auto">
            <a:xfrm rot="3007029">
              <a:off x="3696" y="717"/>
              <a:ext cx="101" cy="30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6" name="Rectangle 71"/>
            <p:cNvSpPr>
              <a:spLocks noChangeArrowheads="1"/>
            </p:cNvSpPr>
            <p:nvPr/>
          </p:nvSpPr>
          <p:spPr bwMode="auto">
            <a:xfrm rot="-2950827">
              <a:off x="4575" y="697"/>
              <a:ext cx="103" cy="303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7" name="Rectangle 72"/>
            <p:cNvSpPr>
              <a:spLocks noChangeArrowheads="1"/>
            </p:cNvSpPr>
            <p:nvPr/>
          </p:nvSpPr>
          <p:spPr bwMode="auto">
            <a:xfrm rot="3007029">
              <a:off x="4584" y="1453"/>
              <a:ext cx="100" cy="30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8" name="Rectangle 73"/>
            <p:cNvSpPr>
              <a:spLocks noChangeArrowheads="1"/>
            </p:cNvSpPr>
            <p:nvPr/>
          </p:nvSpPr>
          <p:spPr bwMode="auto">
            <a:xfrm rot="-2950827">
              <a:off x="3707" y="1447"/>
              <a:ext cx="103" cy="30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69" name="Rectangle 74"/>
            <p:cNvSpPr>
              <a:spLocks noChangeArrowheads="1"/>
            </p:cNvSpPr>
            <p:nvPr/>
          </p:nvSpPr>
          <p:spPr bwMode="auto">
            <a:xfrm rot="5400000">
              <a:off x="3728" y="2224"/>
              <a:ext cx="110" cy="30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0" name="Text Box 76"/>
            <p:cNvSpPr txBox="1">
              <a:spLocks noChangeArrowheads="1"/>
            </p:cNvSpPr>
            <p:nvPr/>
          </p:nvSpPr>
          <p:spPr bwMode="auto">
            <a:xfrm>
              <a:off x="3419" y="1568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1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1" name="Text Box 77"/>
            <p:cNvSpPr txBox="1">
              <a:spLocks noChangeArrowheads="1"/>
            </p:cNvSpPr>
            <p:nvPr/>
          </p:nvSpPr>
          <p:spPr bwMode="auto">
            <a:xfrm>
              <a:off x="3399" y="58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2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2" name="Text Box 78"/>
            <p:cNvSpPr txBox="1">
              <a:spLocks noChangeArrowheads="1"/>
            </p:cNvSpPr>
            <p:nvPr/>
          </p:nvSpPr>
          <p:spPr bwMode="auto">
            <a:xfrm>
              <a:off x="4263" y="1120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3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3" name="Text Box 79"/>
            <p:cNvSpPr txBox="1">
              <a:spLocks noChangeArrowheads="1"/>
            </p:cNvSpPr>
            <p:nvPr/>
          </p:nvSpPr>
          <p:spPr bwMode="auto">
            <a:xfrm>
              <a:off x="4654" y="574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4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4" name="Text Box 80"/>
            <p:cNvSpPr txBox="1">
              <a:spLocks noChangeArrowheads="1"/>
            </p:cNvSpPr>
            <p:nvPr/>
          </p:nvSpPr>
          <p:spPr bwMode="auto">
            <a:xfrm>
              <a:off x="4385" y="1703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5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5" name="Text Box 81"/>
            <p:cNvSpPr txBox="1">
              <a:spLocks noChangeArrowheads="1"/>
            </p:cNvSpPr>
            <p:nvPr/>
          </p:nvSpPr>
          <p:spPr bwMode="auto">
            <a:xfrm>
              <a:off x="3616" y="2433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R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6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76" name="Line 82"/>
            <p:cNvSpPr>
              <a:spLocks noChangeShapeType="1"/>
            </p:cNvSpPr>
            <p:nvPr/>
          </p:nvSpPr>
          <p:spPr bwMode="auto">
            <a:xfrm flipV="1">
              <a:off x="3250" y="903"/>
              <a:ext cx="249" cy="2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7" name="Line 83"/>
            <p:cNvSpPr>
              <a:spLocks noChangeShapeType="1"/>
            </p:cNvSpPr>
            <p:nvPr/>
          </p:nvSpPr>
          <p:spPr bwMode="auto">
            <a:xfrm flipV="1">
              <a:off x="4669" y="1517"/>
              <a:ext cx="249" cy="2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8" name="Line 84"/>
            <p:cNvSpPr>
              <a:spLocks noChangeShapeType="1"/>
            </p:cNvSpPr>
            <p:nvPr/>
          </p:nvSpPr>
          <p:spPr bwMode="auto">
            <a:xfrm rot="5400000" flipV="1">
              <a:off x="3836" y="1754"/>
              <a:ext cx="233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9" name="Line 85"/>
            <p:cNvSpPr>
              <a:spLocks noChangeShapeType="1"/>
            </p:cNvSpPr>
            <p:nvPr/>
          </p:nvSpPr>
          <p:spPr bwMode="auto">
            <a:xfrm rot="5400000" flipV="1">
              <a:off x="4888" y="931"/>
              <a:ext cx="232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0" name="Line 86"/>
            <p:cNvSpPr>
              <a:spLocks noChangeShapeType="1"/>
            </p:cNvSpPr>
            <p:nvPr/>
          </p:nvSpPr>
          <p:spPr bwMode="auto">
            <a:xfrm rot="8093792" flipV="1">
              <a:off x="3995" y="735"/>
              <a:ext cx="232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1" name="Line 87"/>
            <p:cNvSpPr>
              <a:spLocks noChangeShapeType="1"/>
            </p:cNvSpPr>
            <p:nvPr/>
          </p:nvSpPr>
          <p:spPr bwMode="auto">
            <a:xfrm rot="8219172" flipV="1">
              <a:off x="5036" y="2089"/>
              <a:ext cx="235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2" name="Text Box 88"/>
            <p:cNvSpPr txBox="1">
              <a:spLocks noChangeArrowheads="1"/>
            </p:cNvSpPr>
            <p:nvPr/>
          </p:nvSpPr>
          <p:spPr bwMode="auto">
            <a:xfrm>
              <a:off x="4089" y="2360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+</a:t>
              </a:r>
            </a:p>
          </p:txBody>
        </p:sp>
        <p:sp>
          <p:nvSpPr>
            <p:cNvPr id="6183" name="Text Box 89"/>
            <p:cNvSpPr txBox="1">
              <a:spLocks noChangeArrowheads="1"/>
            </p:cNvSpPr>
            <p:nvPr/>
          </p:nvSpPr>
          <p:spPr bwMode="auto">
            <a:xfrm>
              <a:off x="4766" y="23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>
                  <a:latin typeface="幼圆" panose="02010509060101010101" pitchFamily="49" charset="-122"/>
                  <a:ea typeface="幼圆" panose="02010509060101010101" pitchFamily="49" charset="-122"/>
                </a:rPr>
                <a:t>–</a:t>
              </a:r>
            </a:p>
          </p:txBody>
        </p:sp>
        <p:sp>
          <p:nvSpPr>
            <p:cNvPr id="6184" name="Text Box 90"/>
            <p:cNvSpPr txBox="1">
              <a:spLocks noChangeArrowheads="1"/>
            </p:cNvSpPr>
            <p:nvPr/>
          </p:nvSpPr>
          <p:spPr bwMode="auto">
            <a:xfrm>
              <a:off x="3071" y="74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2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5" name="Text Box 91"/>
            <p:cNvSpPr txBox="1">
              <a:spLocks noChangeArrowheads="1"/>
            </p:cNvSpPr>
            <p:nvPr/>
          </p:nvSpPr>
          <p:spPr bwMode="auto">
            <a:xfrm>
              <a:off x="3859" y="795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3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6" name="Text Box 92"/>
            <p:cNvSpPr txBox="1">
              <a:spLocks noChangeArrowheads="1"/>
            </p:cNvSpPr>
            <p:nvPr/>
          </p:nvSpPr>
          <p:spPr bwMode="auto">
            <a:xfrm>
              <a:off x="4950" y="807"/>
              <a:ext cx="33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4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7" name="Text Box 93"/>
            <p:cNvSpPr txBox="1">
              <a:spLocks noChangeArrowheads="1"/>
            </p:cNvSpPr>
            <p:nvPr/>
          </p:nvSpPr>
          <p:spPr bwMode="auto">
            <a:xfrm>
              <a:off x="3695" y="1801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1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8" name="Text Box 94"/>
            <p:cNvSpPr txBox="1">
              <a:spLocks noChangeArrowheads="1"/>
            </p:cNvSpPr>
            <p:nvPr/>
          </p:nvSpPr>
          <p:spPr bwMode="auto">
            <a:xfrm>
              <a:off x="4772" y="1562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5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89" name="Text Box 95"/>
            <p:cNvSpPr txBox="1">
              <a:spLocks noChangeArrowheads="1"/>
            </p:cNvSpPr>
            <p:nvPr/>
          </p:nvSpPr>
          <p:spPr bwMode="auto">
            <a:xfrm>
              <a:off x="5173" y="2047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i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6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190" name="Text Box 96"/>
            <p:cNvSpPr txBox="1">
              <a:spLocks noChangeArrowheads="1"/>
            </p:cNvSpPr>
            <p:nvPr/>
          </p:nvSpPr>
          <p:spPr bwMode="auto">
            <a:xfrm>
              <a:off x="4411" y="2446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latin typeface="幼圆" panose="02010509060101010101" pitchFamily="49" charset="-122"/>
                  <a:ea typeface="幼圆" panose="02010509060101010101" pitchFamily="49" charset="-122"/>
                </a:rPr>
                <a:t>u</a:t>
              </a:r>
              <a:r>
                <a:rPr lang="en-US" altLang="zh-CN" sz="1800" b="1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S</a:t>
              </a:r>
              <a:endParaRPr lang="en-US" altLang="zh-CN" sz="1800" b="1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grpSp>
          <p:nvGrpSpPr>
            <p:cNvPr id="6191" name="Group 97"/>
            <p:cNvGrpSpPr>
              <a:grpSpLocks/>
            </p:cNvGrpSpPr>
            <p:nvPr/>
          </p:nvGrpSpPr>
          <p:grpSpPr bwMode="auto">
            <a:xfrm>
              <a:off x="3018" y="1096"/>
              <a:ext cx="250" cy="288"/>
              <a:chOff x="2316" y="2388"/>
              <a:chExt cx="228" cy="282"/>
            </a:xfrm>
          </p:grpSpPr>
          <p:sp>
            <p:nvSpPr>
              <p:cNvPr id="6201" name="Text Box 98"/>
              <p:cNvSpPr txBox="1">
                <a:spLocks noChangeArrowheads="1"/>
              </p:cNvSpPr>
              <p:nvPr/>
            </p:nvSpPr>
            <p:spPr bwMode="auto">
              <a:xfrm>
                <a:off x="2316" y="2388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latin typeface="幼圆" panose="02010509060101010101" pitchFamily="49" charset="-122"/>
                    <a:ea typeface="幼圆" panose="02010509060101010101" pitchFamily="49" charset="-122"/>
                  </a:rPr>
                  <a:t>1</a:t>
                </a:r>
              </a:p>
            </p:txBody>
          </p:sp>
          <p:sp>
            <p:nvSpPr>
              <p:cNvPr id="6202" name="Oval 99"/>
              <p:cNvSpPr>
                <a:spLocks noChangeArrowheads="1"/>
              </p:cNvSpPr>
              <p:nvPr/>
            </p:nvSpPr>
            <p:spPr bwMode="auto">
              <a:xfrm>
                <a:off x="2328" y="2436"/>
                <a:ext cx="180" cy="19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grpSp>
          <p:nvGrpSpPr>
            <p:cNvPr id="6192" name="Group 100"/>
            <p:cNvGrpSpPr>
              <a:grpSpLocks/>
            </p:cNvGrpSpPr>
            <p:nvPr/>
          </p:nvGrpSpPr>
          <p:grpSpPr bwMode="auto">
            <a:xfrm>
              <a:off x="4095" y="175"/>
              <a:ext cx="250" cy="288"/>
              <a:chOff x="2748" y="2460"/>
              <a:chExt cx="228" cy="282"/>
            </a:xfrm>
          </p:grpSpPr>
          <p:sp>
            <p:nvSpPr>
              <p:cNvPr id="6199" name="Text Box 101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latin typeface="幼圆" panose="02010509060101010101" pitchFamily="49" charset="-122"/>
                    <a:ea typeface="幼圆" panose="02010509060101010101" pitchFamily="49" charset="-122"/>
                  </a:rPr>
                  <a:t>2</a:t>
                </a:r>
              </a:p>
            </p:txBody>
          </p:sp>
          <p:sp>
            <p:nvSpPr>
              <p:cNvPr id="6200" name="Oval 102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grpSp>
          <p:nvGrpSpPr>
            <p:cNvPr id="6193" name="Group 103"/>
            <p:cNvGrpSpPr>
              <a:grpSpLocks/>
            </p:cNvGrpSpPr>
            <p:nvPr/>
          </p:nvGrpSpPr>
          <p:grpSpPr bwMode="auto">
            <a:xfrm>
              <a:off x="5134" y="1108"/>
              <a:ext cx="249" cy="288"/>
              <a:chOff x="2748" y="2460"/>
              <a:chExt cx="228" cy="282"/>
            </a:xfrm>
          </p:grpSpPr>
          <p:sp>
            <p:nvSpPr>
              <p:cNvPr id="6197" name="Text Box 104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latin typeface="幼圆" panose="02010509060101010101" pitchFamily="49" charset="-122"/>
                    <a:ea typeface="幼圆" panose="02010509060101010101" pitchFamily="49" charset="-122"/>
                  </a:rPr>
                  <a:t>3</a:t>
                </a:r>
              </a:p>
            </p:txBody>
          </p:sp>
          <p:sp>
            <p:nvSpPr>
              <p:cNvPr id="6198" name="Oval 105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  <p:grpSp>
          <p:nvGrpSpPr>
            <p:cNvPr id="6194" name="Group 106"/>
            <p:cNvGrpSpPr>
              <a:grpSpLocks/>
            </p:cNvGrpSpPr>
            <p:nvPr/>
          </p:nvGrpSpPr>
          <p:grpSpPr bwMode="auto">
            <a:xfrm>
              <a:off x="4214" y="1881"/>
              <a:ext cx="249" cy="288"/>
              <a:chOff x="2748" y="2460"/>
              <a:chExt cx="228" cy="282"/>
            </a:xfrm>
          </p:grpSpPr>
          <p:sp>
            <p:nvSpPr>
              <p:cNvPr id="6195" name="Text Box 107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latin typeface="幼圆" panose="02010509060101010101" pitchFamily="49" charset="-122"/>
                    <a:ea typeface="幼圆" panose="02010509060101010101" pitchFamily="49" charset="-122"/>
                  </a:rPr>
                  <a:t>4</a:t>
                </a:r>
              </a:p>
            </p:txBody>
          </p:sp>
          <p:sp>
            <p:nvSpPr>
              <p:cNvPr id="6196" name="Oval 108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</p:grpSp>
      <p:sp>
        <p:nvSpPr>
          <p:cNvPr id="113775" name="Text Box 111"/>
          <p:cNvSpPr txBox="1">
            <a:spLocks noChangeArrowheads="1"/>
          </p:cNvSpPr>
          <p:nvPr/>
        </p:nvSpPr>
        <p:spPr bwMode="auto">
          <a:xfrm>
            <a:off x="504825" y="2492375"/>
            <a:ext cx="40767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可用支路电流法求解电路（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KCL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方程，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b-n+1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KVL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方程，共</a:t>
            </a:r>
            <a:r>
              <a:rPr lang="en-US" altLang="zh-CN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solidFill>
                  <a:srgbClr val="66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个方程）。      </a:t>
            </a:r>
          </a:p>
        </p:txBody>
      </p:sp>
      <p:sp>
        <p:nvSpPr>
          <p:cNvPr id="113776" name="Text Box 112"/>
          <p:cNvSpPr txBox="1">
            <a:spLocks noChangeArrowheads="1"/>
          </p:cNvSpPr>
          <p:nvPr/>
        </p:nvSpPr>
        <p:spPr bwMode="auto">
          <a:xfrm>
            <a:off x="508000" y="3644900"/>
            <a:ext cx="17319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问题：      </a:t>
            </a:r>
          </a:p>
        </p:txBody>
      </p:sp>
      <p:sp>
        <p:nvSpPr>
          <p:cNvPr id="113777" name="Rectangle 113"/>
          <p:cNvSpPr>
            <a:spLocks noChangeArrowheads="1"/>
          </p:cNvSpPr>
          <p:nvPr/>
        </p:nvSpPr>
        <p:spPr bwMode="auto">
          <a:xfrm>
            <a:off x="1336675" y="4094163"/>
            <a:ext cx="34210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方程数相对较多（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个方程）</a:t>
            </a:r>
          </a:p>
        </p:txBody>
      </p:sp>
      <p:sp>
        <p:nvSpPr>
          <p:cNvPr id="113778" name="Rectangle 114"/>
          <p:cNvSpPr>
            <a:spLocks noChangeArrowheads="1"/>
          </p:cNvSpPr>
          <p:nvPr/>
        </p:nvSpPr>
        <p:spPr bwMode="auto">
          <a:xfrm>
            <a:off x="1350963" y="4664075"/>
            <a:ext cx="27654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复杂电路难以手工计算</a:t>
            </a:r>
          </a:p>
        </p:txBody>
      </p:sp>
      <p:sp>
        <p:nvSpPr>
          <p:cNvPr id="113779" name="Rectangle 115"/>
          <p:cNvSpPr>
            <a:spLocks noChangeArrowheads="1"/>
          </p:cNvSpPr>
          <p:nvPr/>
        </p:nvSpPr>
        <p:spPr bwMode="auto">
          <a:xfrm>
            <a:off x="1336675" y="5273675"/>
            <a:ext cx="51339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计算机的存储能力与计算能力要求高           </a:t>
            </a:r>
          </a:p>
        </p:txBody>
      </p:sp>
      <p:sp>
        <p:nvSpPr>
          <p:cNvPr id="113781" name="Text Box 117"/>
          <p:cNvSpPr txBox="1">
            <a:spLocks noChangeArrowheads="1"/>
          </p:cNvSpPr>
          <p:nvPr/>
        </p:nvSpPr>
        <p:spPr bwMode="auto">
          <a:xfrm>
            <a:off x="539750" y="5959475"/>
            <a:ext cx="64246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有必要寻找减少列写方程数量的方法 。 </a:t>
            </a:r>
          </a:p>
        </p:txBody>
      </p:sp>
      <p:sp>
        <p:nvSpPr>
          <p:cNvPr id="59" name="Rectangle 14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节点分析法与网孔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分析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法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比较</a:t>
            </a:r>
            <a:endParaRPr lang="zh-CN" alt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4019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/>
      <p:bldP spid="113775" grpId="0"/>
      <p:bldP spid="113776" grpId="0"/>
      <p:bldP spid="113777" grpId="0"/>
      <p:bldP spid="113778" grpId="0"/>
      <p:bldP spid="113779" grpId="0"/>
      <p:bldP spid="11378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节点分析法与网孔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分析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法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比较</a:t>
            </a:r>
            <a:endParaRPr lang="zh-CN" alt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" y="1089025"/>
            <a:ext cx="4595628" cy="50403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节点分析法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节点分析法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是以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各节点的电位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作为未知变量来列写方程</a:t>
            </a:r>
            <a:r>
              <a:rPr lang="en-US" altLang="zh-CN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节点方程</a:t>
            </a:r>
            <a:r>
              <a:rPr lang="en-US" altLang="zh-CN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任选一个节点为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基准节点</a:t>
            </a:r>
            <a:r>
              <a:rPr lang="en-US" altLang="zh-CN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参考节点</a:t>
            </a:r>
            <a:r>
              <a:rPr lang="en-US" altLang="zh-CN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，且电位恒取为零。其他节点的电位就是它们与基准节点之间的电压，称为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节点电压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(n–1)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个独立节点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的电压为变量列写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(n–1)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个独立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KCL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</a:t>
            </a:r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从节点方程求得节点电压以后，再求出各支路电压和电流。</a:t>
            </a:r>
            <a:endParaRPr lang="zh-CN" altLang="en-US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409728" y="1089024"/>
            <a:ext cx="4896544" cy="50403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网孔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分析法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网孔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分析法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是以假想的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各网孔的电流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作为未知变量来列写方程</a:t>
            </a:r>
            <a:r>
              <a:rPr lang="en-US" altLang="zh-CN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节点方程</a:t>
            </a:r>
            <a:r>
              <a:rPr lang="en-US" altLang="zh-CN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平面电路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网孔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为对象，假想各网孔环路电流</a:t>
            </a:r>
            <a:r>
              <a:rPr lang="en-US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网孔电流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沿网孔流动，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各支路电流用网孔电流表示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(b-n+1)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个网孔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的网孔电流为变量列写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(b-n+1)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个独立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KVL</a:t>
            </a:r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</a:t>
            </a:r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从网孔方程求得网孔电流以后，再求出各支路电压和电流。</a:t>
            </a:r>
            <a:endParaRPr lang="zh-CN" altLang="en-US" sz="2000" b="1" dirty="0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94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  <p:bldP spid="7" grpId="0" uiExpand="1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381000" y="414707"/>
            <a:ext cx="3441988" cy="1676795"/>
            <a:chOff x="960" y="362"/>
            <a:chExt cx="2287" cy="1383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1104" y="362"/>
              <a:ext cx="2106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i="1" dirty="0">
                  <a:latin typeface="+mn-lt"/>
                </a:rPr>
                <a:t>G</a:t>
              </a:r>
              <a:r>
                <a:rPr lang="en-US" altLang="zh-CN" b="1" baseline="-25000" dirty="0">
                  <a:latin typeface="+mn-lt"/>
                </a:rPr>
                <a:t>11</a:t>
              </a:r>
              <a:r>
                <a:rPr lang="en-US" altLang="zh-CN" b="1" i="1" dirty="0">
                  <a:latin typeface="+mn-lt"/>
                </a:rPr>
                <a:t>u</a:t>
              </a:r>
              <a:r>
                <a:rPr lang="en-US" altLang="zh-CN" b="1" baseline="-25000" dirty="0">
                  <a:latin typeface="+mn-lt"/>
                </a:rPr>
                <a:t>n1</a:t>
              </a:r>
              <a:r>
                <a:rPr lang="en-US" altLang="zh-CN" b="1" dirty="0">
                  <a:latin typeface="+mn-lt"/>
                </a:rPr>
                <a:t>+</a:t>
              </a:r>
              <a:r>
                <a:rPr lang="en-US" altLang="zh-CN" b="1" i="1" dirty="0">
                  <a:latin typeface="+mn-lt"/>
                </a:rPr>
                <a:t>G</a:t>
              </a:r>
              <a:r>
                <a:rPr lang="en-US" altLang="zh-CN" b="1" baseline="-25000" dirty="0">
                  <a:latin typeface="+mn-lt"/>
                </a:rPr>
                <a:t>12</a:t>
              </a:r>
              <a:r>
                <a:rPr lang="en-US" altLang="zh-CN" b="1" i="1" dirty="0">
                  <a:latin typeface="+mn-lt"/>
                </a:rPr>
                <a:t>u</a:t>
              </a:r>
              <a:r>
                <a:rPr lang="en-US" altLang="zh-CN" b="1" baseline="-25000" dirty="0">
                  <a:latin typeface="+mn-lt"/>
                </a:rPr>
                <a:t>n2</a:t>
              </a:r>
              <a:r>
                <a:rPr lang="en-US" altLang="zh-CN" b="1" dirty="0">
                  <a:latin typeface="+mn-lt"/>
                </a:rPr>
                <a:t>+…+</a:t>
              </a:r>
              <a:r>
                <a:rPr lang="en-US" altLang="zh-CN" b="1" i="1" dirty="0">
                  <a:latin typeface="+mn-lt"/>
                </a:rPr>
                <a:t>G</a:t>
              </a:r>
              <a:r>
                <a:rPr lang="en-US" altLang="zh-CN" b="1" baseline="-25000" dirty="0">
                  <a:latin typeface="+mn-lt"/>
                </a:rPr>
                <a:t>1n</a:t>
              </a:r>
              <a:r>
                <a:rPr lang="en-US" altLang="zh-CN" b="1" i="1" dirty="0">
                  <a:latin typeface="+mn-lt"/>
                </a:rPr>
                <a:t>u</a:t>
              </a:r>
              <a:r>
                <a:rPr lang="en-US" altLang="zh-CN" b="1" baseline="-25000" dirty="0">
                  <a:latin typeface="+mn-lt"/>
                </a:rPr>
                <a:t>nn</a:t>
              </a:r>
              <a:r>
                <a:rPr lang="en-US" altLang="zh-CN" b="1" dirty="0">
                  <a:latin typeface="+mn-lt"/>
                </a:rPr>
                <a:t>=</a:t>
              </a:r>
              <a:r>
                <a:rPr lang="en-US" altLang="zh-CN" b="1" i="1" dirty="0">
                  <a:latin typeface="+mn-lt"/>
                </a:rPr>
                <a:t>i</a:t>
              </a:r>
              <a:r>
                <a:rPr lang="en-US" altLang="zh-CN" b="1" baseline="-25000" dirty="0">
                  <a:latin typeface="+mn-lt"/>
                </a:rPr>
                <a:t>Sn1  </a:t>
              </a:r>
              <a:endParaRPr lang="en-US" altLang="zh-CN" b="1" i="1" dirty="0">
                <a:latin typeface="+mn-lt"/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114" y="720"/>
              <a:ext cx="2111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i="1" dirty="0">
                  <a:latin typeface="+mn-lt"/>
                </a:rPr>
                <a:t>G</a:t>
              </a:r>
              <a:r>
                <a:rPr lang="en-US" altLang="zh-CN" b="1" baseline="-25000" dirty="0">
                  <a:latin typeface="+mn-lt"/>
                </a:rPr>
                <a:t>21</a:t>
              </a:r>
              <a:r>
                <a:rPr lang="en-US" altLang="zh-CN" b="1" i="1" dirty="0">
                  <a:latin typeface="+mn-lt"/>
                </a:rPr>
                <a:t>u</a:t>
              </a:r>
              <a:r>
                <a:rPr lang="en-US" altLang="zh-CN" b="1" baseline="-25000" dirty="0">
                  <a:latin typeface="+mn-lt"/>
                </a:rPr>
                <a:t>n1</a:t>
              </a:r>
              <a:r>
                <a:rPr lang="en-US" altLang="zh-CN" b="1" dirty="0">
                  <a:latin typeface="+mn-lt"/>
                </a:rPr>
                <a:t>+</a:t>
              </a:r>
              <a:r>
                <a:rPr lang="en-US" altLang="zh-CN" b="1" i="1" dirty="0">
                  <a:latin typeface="+mn-lt"/>
                </a:rPr>
                <a:t>G</a:t>
              </a:r>
              <a:r>
                <a:rPr lang="en-US" altLang="zh-CN" b="1" baseline="-25000" dirty="0">
                  <a:latin typeface="+mn-lt"/>
                </a:rPr>
                <a:t>22</a:t>
              </a:r>
              <a:r>
                <a:rPr lang="en-US" altLang="zh-CN" b="1" i="1" dirty="0">
                  <a:latin typeface="+mn-lt"/>
                </a:rPr>
                <a:t>u</a:t>
              </a:r>
              <a:r>
                <a:rPr lang="en-US" altLang="zh-CN" b="1" baseline="-25000" dirty="0">
                  <a:latin typeface="+mn-lt"/>
                </a:rPr>
                <a:t>n2</a:t>
              </a:r>
              <a:r>
                <a:rPr lang="en-US" altLang="zh-CN" b="1" dirty="0">
                  <a:latin typeface="+mn-lt"/>
                </a:rPr>
                <a:t>+…+</a:t>
              </a:r>
              <a:r>
                <a:rPr lang="en-US" altLang="zh-CN" b="1" i="1" dirty="0">
                  <a:latin typeface="+mn-lt"/>
                </a:rPr>
                <a:t>G</a:t>
              </a:r>
              <a:r>
                <a:rPr lang="en-US" altLang="zh-CN" b="1" baseline="-25000" dirty="0">
                  <a:latin typeface="+mn-lt"/>
                </a:rPr>
                <a:t>2n</a:t>
              </a:r>
              <a:r>
                <a:rPr lang="en-US" altLang="zh-CN" b="1" i="1" dirty="0">
                  <a:latin typeface="+mn-lt"/>
                </a:rPr>
                <a:t>u</a:t>
              </a:r>
              <a:r>
                <a:rPr lang="en-US" altLang="zh-CN" b="1" baseline="-25000" dirty="0">
                  <a:latin typeface="+mn-lt"/>
                </a:rPr>
                <a:t>nn</a:t>
              </a:r>
              <a:r>
                <a:rPr lang="en-US" altLang="zh-CN" b="1" dirty="0">
                  <a:latin typeface="+mn-lt"/>
                </a:rPr>
                <a:t>=</a:t>
              </a:r>
              <a:r>
                <a:rPr lang="en-US" altLang="zh-CN" b="1" i="1" dirty="0">
                  <a:latin typeface="+mn-lt"/>
                </a:rPr>
                <a:t>i</a:t>
              </a:r>
              <a:r>
                <a:rPr lang="en-US" altLang="zh-CN" b="1" baseline="-25000" dirty="0">
                  <a:latin typeface="+mn-lt"/>
                </a:rPr>
                <a:t>Sn2  </a:t>
              </a:r>
              <a:endParaRPr lang="en-US" altLang="zh-CN" b="1" i="1" dirty="0">
                <a:latin typeface="+mn-lt"/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1286" y="1092"/>
              <a:ext cx="851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>
                  <a:latin typeface="+mn-lt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114" y="1440"/>
              <a:ext cx="2133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i="1">
                  <a:latin typeface="+mn-lt"/>
                </a:rPr>
                <a:t>G</a:t>
              </a:r>
              <a:r>
                <a:rPr lang="en-US" altLang="zh-CN" b="1" baseline="-25000">
                  <a:latin typeface="+mn-lt"/>
                </a:rPr>
                <a:t>n1</a:t>
              </a:r>
              <a:r>
                <a:rPr lang="en-US" altLang="zh-CN" b="1" i="1">
                  <a:latin typeface="+mn-lt"/>
                </a:rPr>
                <a:t>u</a:t>
              </a:r>
              <a:r>
                <a:rPr lang="en-US" altLang="zh-CN" b="1" baseline="-25000">
                  <a:latin typeface="+mn-lt"/>
                </a:rPr>
                <a:t>n1</a:t>
              </a:r>
              <a:r>
                <a:rPr lang="en-US" altLang="zh-CN" b="1">
                  <a:latin typeface="+mn-lt"/>
                </a:rPr>
                <a:t>+</a:t>
              </a:r>
              <a:r>
                <a:rPr lang="en-US" altLang="zh-CN" b="1" i="1">
                  <a:latin typeface="+mn-lt"/>
                </a:rPr>
                <a:t>G</a:t>
              </a:r>
              <a:r>
                <a:rPr lang="en-US" altLang="zh-CN" b="1" baseline="-25000">
                  <a:latin typeface="+mn-lt"/>
                </a:rPr>
                <a:t>n2</a:t>
              </a:r>
              <a:r>
                <a:rPr lang="en-US" altLang="zh-CN" b="1" i="1">
                  <a:latin typeface="+mn-lt"/>
                </a:rPr>
                <a:t>u</a:t>
              </a:r>
              <a:r>
                <a:rPr lang="en-US" altLang="zh-CN" b="1" baseline="-25000">
                  <a:latin typeface="+mn-lt"/>
                </a:rPr>
                <a:t>n2</a:t>
              </a:r>
              <a:r>
                <a:rPr lang="en-US" altLang="zh-CN" b="1">
                  <a:latin typeface="+mn-lt"/>
                </a:rPr>
                <a:t>+…+</a:t>
              </a:r>
              <a:r>
                <a:rPr lang="en-US" altLang="zh-CN" b="1" i="1">
                  <a:latin typeface="+mn-lt"/>
                </a:rPr>
                <a:t>G</a:t>
              </a:r>
              <a:r>
                <a:rPr lang="en-US" altLang="zh-CN" b="1" baseline="-25000">
                  <a:latin typeface="+mn-lt"/>
                </a:rPr>
                <a:t>nn</a:t>
              </a:r>
              <a:r>
                <a:rPr lang="en-US" altLang="zh-CN" b="1" i="1">
                  <a:latin typeface="+mn-lt"/>
                </a:rPr>
                <a:t>u</a:t>
              </a:r>
              <a:r>
                <a:rPr lang="en-US" altLang="zh-CN" b="1" baseline="-25000">
                  <a:latin typeface="+mn-lt"/>
                </a:rPr>
                <a:t>nn</a:t>
              </a:r>
              <a:r>
                <a:rPr lang="en-US" altLang="zh-CN" b="1">
                  <a:latin typeface="+mn-lt"/>
                </a:rPr>
                <a:t>=</a:t>
              </a:r>
              <a:r>
                <a:rPr lang="en-US" altLang="zh-CN" b="1" i="1">
                  <a:latin typeface="+mn-lt"/>
                </a:rPr>
                <a:t>i</a:t>
              </a:r>
              <a:r>
                <a:rPr lang="en-US" altLang="zh-CN" b="1" baseline="-25000">
                  <a:latin typeface="+mn-lt"/>
                </a:rPr>
                <a:t>Snn  </a:t>
              </a:r>
              <a:endParaRPr lang="en-US" altLang="zh-CN" b="1" i="1">
                <a:latin typeface="+mn-lt"/>
              </a:endParaRPr>
            </a:p>
          </p:txBody>
        </p:sp>
        <p:sp>
          <p:nvSpPr>
            <p:cNvPr id="10" name="AutoShape 8"/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4746749" y="362332"/>
            <a:ext cx="31376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11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+R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12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1200" dirty="0">
                <a:solidFill>
                  <a:schemeClr val="accent2"/>
                </a:solidFill>
                <a:latin typeface="宋体" panose="02010600030101010101" pitchFamily="2" charset="-122"/>
                <a:ea typeface="幼圆" panose="02010509060101010101" pitchFamily="49" charset="-122"/>
              </a:rPr>
              <a:t>…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+R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 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=u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  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5004048" y="1330323"/>
            <a:ext cx="60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…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4744938" y="776798"/>
            <a:ext cx="31394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21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+R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22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1800" dirty="0">
                <a:solidFill>
                  <a:schemeClr val="accent2"/>
                </a:solidFill>
                <a:latin typeface="宋体" panose="02010600030101010101" pitchFamily="2" charset="-122"/>
                <a:ea typeface="幼圆" panose="02010509060101010101" pitchFamily="49" charset="-122"/>
              </a:rPr>
              <a:t>…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+R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 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=u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  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705132" y="1835532"/>
            <a:ext cx="32403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+R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1800" b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1200" dirty="0">
                <a:solidFill>
                  <a:schemeClr val="accent2"/>
                </a:solidFill>
                <a:latin typeface="宋体" panose="02010600030101010101" pitchFamily="2" charset="-122"/>
                <a:ea typeface="幼圆" panose="02010509060101010101" pitchFamily="49" charset="-122"/>
              </a:rPr>
              <a:t>…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1800" b="1" i="1" dirty="0" err="1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1800" b="1" i="1" baseline="-25000" dirty="0" err="1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1800" b="1" i="1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en-US" altLang="zh-CN" sz="1800" b="1" i="1" dirty="0" err="1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1800" b="1" baseline="-25000" dirty="0" err="1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sz="1800" b="1" i="1" baseline="-25000" dirty="0" err="1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1800" b="1" i="1" baseline="-25000" dirty="0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</a:p>
        </p:txBody>
      </p:sp>
      <p:sp>
        <p:nvSpPr>
          <p:cNvPr id="15" name="AutoShape 8"/>
          <p:cNvSpPr>
            <a:spLocks/>
          </p:cNvSpPr>
          <p:nvPr/>
        </p:nvSpPr>
        <p:spPr bwMode="auto">
          <a:xfrm>
            <a:off x="4569163" y="531955"/>
            <a:ext cx="216723" cy="1513117"/>
          </a:xfrm>
          <a:prstGeom prst="leftBrace">
            <a:avLst>
              <a:gd name="adj1" fmla="val 72222"/>
              <a:gd name="adj2" fmla="val 50000"/>
            </a:avLst>
          </a:prstGeom>
          <a:noFill/>
          <a:ln w="28575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chemeClr val="accent2"/>
              </a:solidFill>
              <a:latin typeface="+mn-lt"/>
            </a:endParaRPr>
          </a:p>
        </p:txBody>
      </p:sp>
      <p:graphicFrame>
        <p:nvGraphicFramePr>
          <p:cNvPr id="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159798"/>
              </p:ext>
            </p:extLst>
          </p:nvPr>
        </p:nvGraphicFramePr>
        <p:xfrm>
          <a:off x="1115616" y="2181239"/>
          <a:ext cx="154146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6" name="Equation" r:id="rId3" imgW="685800" imgH="228600" progId="Equation.DSMT4">
                  <p:embed/>
                </p:oleObj>
              </mc:Choice>
              <mc:Fallback>
                <p:oleObj name="Equation" r:id="rId3" imgW="685800" imgH="228600" progId="Equation.DSMT4">
                  <p:embed/>
                  <p:pic>
                    <p:nvPicPr>
                      <p:cNvPr id="21403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181239"/>
                        <a:ext cx="1541462" cy="5127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79512" y="2591636"/>
            <a:ext cx="433384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i="1" dirty="0" err="1" smtClean="0">
                <a:latin typeface="幼圆" panose="02010509060101010101" pitchFamily="49" charset="-122"/>
                <a:ea typeface="幼圆" panose="02010509060101010101" pitchFamily="49" charset="-122"/>
              </a:rPr>
              <a:t>G</a:t>
            </a:r>
            <a:r>
              <a:rPr lang="en-US" altLang="zh-CN" sz="2000" i="1" baseline="-25000" dirty="0" err="1" smtClean="0">
                <a:latin typeface="幼圆" panose="02010509060101010101" pitchFamily="49" charset="-122"/>
                <a:ea typeface="幼圆" panose="02010509060101010101" pitchFamily="49" charset="-122"/>
              </a:rPr>
              <a:t>n</a:t>
            </a:r>
            <a:r>
              <a:rPr lang="en-US" altLang="zh-CN" sz="2000" i="1" baseline="-25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结点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电导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矩阵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i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2000" i="1" baseline="-25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n   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节点电位列向量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i="1" dirty="0" err="1" smtClean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000" i="1" baseline="-25000" dirty="0" err="1" smtClean="0">
                <a:latin typeface="幼圆" panose="02010509060101010101" pitchFamily="49" charset="-122"/>
                <a:ea typeface="幼圆" panose="02010509060101010101" pitchFamily="49" charset="-122"/>
              </a:rPr>
              <a:t>sn</a:t>
            </a:r>
            <a:r>
              <a:rPr lang="en-US" altLang="zh-CN" sz="2000" i="1" baseline="-25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节点等效电流源列向量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i="1" dirty="0" err="1">
                <a:latin typeface="幼圆" panose="02010509060101010101" pitchFamily="49" charset="-122"/>
                <a:ea typeface="幼圆" panose="02010509060101010101" pitchFamily="49" charset="-122"/>
              </a:rPr>
              <a:t>G</a:t>
            </a:r>
            <a:r>
              <a:rPr lang="en-US" altLang="zh-CN" sz="2000" i="1" baseline="-25000" dirty="0" err="1">
                <a:latin typeface="幼圆" panose="02010509060101010101" pitchFamily="49" charset="-122"/>
                <a:ea typeface="幼圆" panose="02010509060101010101" pitchFamily="49" charset="-122"/>
              </a:rPr>
              <a:t>ii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 —</a:t>
            </a:r>
            <a:r>
              <a:rPr lang="zh-CN" altLang="en-US" sz="2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自电导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等于接在节点</a:t>
            </a:r>
            <a:r>
              <a:rPr lang="en-US" altLang="zh-CN" sz="2000" dirty="0" err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zh-CN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上所有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     </a:t>
            </a:r>
            <a:r>
              <a:rPr lang="zh-CN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支路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的电导</a:t>
            </a:r>
            <a:r>
              <a:rPr lang="zh-CN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之和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i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G</a:t>
            </a:r>
            <a:r>
              <a:rPr lang="en-US" altLang="zh-CN" sz="2000" i="1" baseline="-25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ij</a:t>
            </a:r>
            <a:r>
              <a:rPr lang="en-US" altLang="zh-CN" sz="2000" i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en-US" altLang="zh-CN" sz="2000" i="1" dirty="0" err="1" smtClean="0">
                <a:latin typeface="幼圆" panose="02010509060101010101" pitchFamily="49" charset="-122"/>
                <a:ea typeface="幼圆" panose="02010509060101010101" pitchFamily="49" charset="-122"/>
              </a:rPr>
              <a:t>G</a:t>
            </a:r>
            <a:r>
              <a:rPr lang="en-US" altLang="zh-CN" sz="2000" i="1" baseline="-25000" dirty="0" err="1" smtClean="0">
                <a:latin typeface="幼圆" panose="02010509060101010101" pitchFamily="49" charset="-122"/>
                <a:ea typeface="幼圆" panose="02010509060101010101" pitchFamily="49" charset="-122"/>
              </a:rPr>
              <a:t>ji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—</a:t>
            </a:r>
            <a:r>
              <a:rPr lang="zh-CN" altLang="en-US" sz="2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互电导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等于节点</a:t>
            </a:r>
            <a:r>
              <a:rPr lang="en-US" altLang="zh-CN" sz="2000" dirty="0" err="1" smtClean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与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节点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j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之间支路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的电导之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和负值。</a:t>
            </a:r>
            <a:r>
              <a:rPr lang="zh-CN" altLang="en-US" sz="20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注意负号</a:t>
            </a:r>
            <a:endParaRPr lang="en-US" altLang="zh-CN" sz="2000" dirty="0" smtClean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i="1" dirty="0" err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000" i="1" baseline="-25000" dirty="0" err="1" smtClean="0">
                <a:latin typeface="幼圆" panose="02010509060101010101" pitchFamily="49" charset="-122"/>
                <a:ea typeface="幼圆" panose="02010509060101010101" pitchFamily="49" charset="-122"/>
              </a:rPr>
              <a:t>Sni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— 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等效电流源</a:t>
            </a:r>
            <a:r>
              <a:rPr lang="zh-CN" altLang="en-US" sz="20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流入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节点</a:t>
            </a:r>
            <a:r>
              <a:rPr lang="en-US" altLang="zh-CN" sz="2000" dirty="0" err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的所有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      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电流源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电流的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代数和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4932040" y="2249998"/>
                <a:ext cx="4104456" cy="45243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𝑠𝑚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i="1" dirty="0" smtClean="0">
                    <a:solidFill>
                      <a:schemeClr val="accent2"/>
                    </a:solidFill>
                  </a:rPr>
                  <a:t>R</a:t>
                </a:r>
                <a:r>
                  <a:rPr lang="en-US" altLang="zh-CN" sz="2000" i="1" baseline="-25000" dirty="0" smtClean="0">
                    <a:solidFill>
                      <a:schemeClr val="accent2"/>
                    </a:solidFill>
                  </a:rPr>
                  <a:t>m   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网孔电阻矩阵</a:t>
                </a:r>
                <a:endParaRPr lang="en-US" altLang="zh-CN" sz="2000" dirty="0" smtClean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i="1" dirty="0" err="1" smtClean="0">
                    <a:solidFill>
                      <a:schemeClr val="accent2"/>
                    </a:solidFill>
                  </a:rPr>
                  <a:t>I</a:t>
                </a:r>
                <a:r>
                  <a:rPr lang="en-US" altLang="zh-CN" sz="2000" i="1" baseline="-25000" dirty="0" err="1" smtClean="0">
                    <a:solidFill>
                      <a:schemeClr val="accent2"/>
                    </a:solidFill>
                  </a:rPr>
                  <a:t>m</a:t>
                </a:r>
                <a:r>
                  <a:rPr lang="en-US" altLang="zh-CN" sz="2000" i="1" baseline="-25000" dirty="0" smtClean="0">
                    <a:solidFill>
                      <a:schemeClr val="accent2"/>
                    </a:solidFill>
                  </a:rPr>
                  <a:t>   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网孔电流列向量</a:t>
                </a:r>
                <a:endParaRPr lang="en-US" altLang="zh-CN" sz="2000" dirty="0" smtClean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i="1" dirty="0" err="1" smtClean="0">
                    <a:solidFill>
                      <a:schemeClr val="accent2"/>
                    </a:solidFill>
                  </a:rPr>
                  <a:t>U</a:t>
                </a:r>
                <a:r>
                  <a:rPr lang="en-US" altLang="zh-CN" sz="2000" i="1" baseline="-25000" dirty="0" err="1" smtClean="0">
                    <a:solidFill>
                      <a:schemeClr val="accent2"/>
                    </a:solidFill>
                  </a:rPr>
                  <a:t>sm</a:t>
                </a:r>
                <a:r>
                  <a:rPr lang="en-US" altLang="zh-CN" sz="2000" i="1" baseline="-25000" dirty="0" smtClean="0">
                    <a:solidFill>
                      <a:schemeClr val="accent2"/>
                    </a:solidFill>
                  </a:rPr>
                  <a:t>  </a:t>
                </a:r>
                <a:r>
                  <a:rPr lang="zh-CN" altLang="en-US" sz="2000" i="1" dirty="0" smtClean="0">
                    <a:solidFill>
                      <a:schemeClr val="accent2"/>
                    </a:solidFill>
                  </a:rPr>
                  <a:t>网孔等效电压源列向量</a:t>
                </a:r>
                <a:endParaRPr lang="en-US" altLang="zh-CN" sz="2000" i="1" dirty="0" smtClean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i="1" dirty="0" err="1" smtClean="0">
                    <a:solidFill>
                      <a:schemeClr val="accent2"/>
                    </a:solidFill>
                  </a:rPr>
                  <a:t>R</a:t>
                </a:r>
                <a:r>
                  <a:rPr lang="en-US" altLang="zh-CN" sz="2000" i="1" baseline="-25000" dirty="0" err="1" smtClean="0">
                    <a:solidFill>
                      <a:schemeClr val="accent2"/>
                    </a:solidFill>
                  </a:rPr>
                  <a:t>ii</a:t>
                </a:r>
                <a:r>
                  <a:rPr lang="en-US" altLang="zh-CN" sz="2000" i="1" baseline="-25000" dirty="0">
                    <a:solidFill>
                      <a:schemeClr val="accent2"/>
                    </a:solidFill>
                  </a:rPr>
                  <a:t> </a:t>
                </a:r>
                <a:r>
                  <a:rPr lang="en-US" altLang="zh-CN" sz="2000" baseline="-25000" dirty="0">
                    <a:solidFill>
                      <a:schemeClr val="accent2"/>
                    </a:solidFill>
                  </a:rPr>
                  <a:t> </a:t>
                </a:r>
                <a:r>
                  <a:rPr lang="en-US" altLang="zh-CN" sz="2000" dirty="0" smtClean="0">
                    <a:solidFill>
                      <a:schemeClr val="accent2"/>
                    </a:solidFill>
                  </a:rPr>
                  <a:t>—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自电阻，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等于</a:t>
                </a:r>
                <a:r>
                  <a:rPr lang="en-US" altLang="zh-CN" sz="2000" dirty="0" err="1">
                    <a:solidFill>
                      <a:schemeClr val="accent2"/>
                    </a:solidFill>
                  </a:rPr>
                  <a:t>i</a:t>
                </a:r>
                <a:r>
                  <a:rPr lang="zh-CN" altLang="en-US" sz="2000" dirty="0">
                    <a:solidFill>
                      <a:schemeClr val="accent2"/>
                    </a:solidFill>
                  </a:rPr>
                  <a:t>网孔内各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支路</a:t>
                </a:r>
                <a:endParaRPr lang="en-US" altLang="zh-CN" sz="2000" dirty="0" smtClean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      电阻</a:t>
                </a:r>
                <a:r>
                  <a:rPr lang="zh-CN" altLang="en-US" sz="2000" dirty="0">
                    <a:solidFill>
                      <a:schemeClr val="accent2"/>
                    </a:solidFill>
                  </a:rPr>
                  <a:t>之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和。</a:t>
                </a:r>
                <a:endParaRPr lang="en-US" altLang="zh-CN" sz="2000" dirty="0" smtClean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err="1" smtClean="0">
                    <a:solidFill>
                      <a:schemeClr val="accent2"/>
                    </a:solidFill>
                  </a:rPr>
                  <a:t>R</a:t>
                </a:r>
                <a:r>
                  <a:rPr lang="en-US" altLang="zh-CN" sz="2000" baseline="-25000" dirty="0" err="1" smtClean="0">
                    <a:solidFill>
                      <a:schemeClr val="accent2"/>
                    </a:solidFill>
                  </a:rPr>
                  <a:t>ij</a:t>
                </a:r>
                <a:r>
                  <a:rPr lang="en-US" altLang="zh-CN" sz="2000" baseline="-25000" dirty="0" smtClean="0">
                    <a:solidFill>
                      <a:schemeClr val="accent2"/>
                    </a:solidFill>
                  </a:rPr>
                  <a:t>_</a:t>
                </a:r>
                <a:r>
                  <a:rPr lang="en-US" altLang="zh-CN" sz="2000" dirty="0">
                    <a:solidFill>
                      <a:schemeClr val="accent2"/>
                    </a:solidFill>
                  </a:rPr>
                  <a:t> </a:t>
                </a:r>
                <a:r>
                  <a:rPr lang="en-US" altLang="zh-CN" sz="2000" dirty="0" smtClean="0">
                    <a:solidFill>
                      <a:schemeClr val="accent2"/>
                    </a:solidFill>
                  </a:rPr>
                  <a:t>—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互电阻，</a:t>
                </a:r>
                <a:r>
                  <a:rPr lang="zh-CN" altLang="en-US" sz="2000" dirty="0">
                    <a:solidFill>
                      <a:schemeClr val="accent2"/>
                    </a:solidFill>
                  </a:rPr>
                  <a:t>网孔公共支路电阻之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和负值。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注意负号</a:t>
                </a:r>
                <a:endParaRPr lang="en-US" altLang="zh-CN" sz="2000" dirty="0" smtClean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i="1" dirty="0" err="1" smtClean="0">
                    <a:solidFill>
                      <a:schemeClr val="accent2"/>
                    </a:solidFill>
                  </a:rPr>
                  <a:t>U</a:t>
                </a:r>
                <a:r>
                  <a:rPr lang="en-US" altLang="zh-CN" sz="2000" i="1" baseline="-25000" dirty="0" err="1" smtClean="0">
                    <a:solidFill>
                      <a:schemeClr val="accent2"/>
                    </a:solidFill>
                  </a:rPr>
                  <a:t>smi</a:t>
                </a:r>
                <a:r>
                  <a:rPr lang="en-US" altLang="zh-CN" sz="2000" i="1" baseline="-25000" dirty="0" smtClean="0">
                    <a:solidFill>
                      <a:schemeClr val="accent2"/>
                    </a:solidFill>
                  </a:rPr>
                  <a:t>  </a:t>
                </a:r>
                <a:r>
                  <a:rPr lang="en-US" altLang="zh-CN" sz="2000" i="1" dirty="0" smtClean="0">
                    <a:solidFill>
                      <a:schemeClr val="accent2"/>
                    </a:solidFill>
                  </a:rPr>
                  <a:t>—</a:t>
                </a:r>
                <a:r>
                  <a:rPr lang="zh-CN" altLang="en-US" sz="2000" dirty="0">
                    <a:solidFill>
                      <a:schemeClr val="accent2"/>
                    </a:solidFill>
                  </a:rPr>
                  <a:t>等效电压源网孔内各电压源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代</a:t>
                </a:r>
                <a:endParaRPr lang="en-US" altLang="zh-CN" sz="2000" dirty="0" smtClean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chemeClr val="accent2"/>
                    </a:solidFill>
                  </a:rPr>
                  <a:t> </a:t>
                </a:r>
                <a:r>
                  <a:rPr lang="en-US" altLang="zh-CN" sz="2000" dirty="0" smtClean="0">
                    <a:solidFill>
                      <a:schemeClr val="accent2"/>
                    </a:solidFill>
                  </a:rPr>
                  <a:t>   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数和，与网孔</a:t>
                </a: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绕向相反</a:t>
                </a:r>
                <a:r>
                  <a:rPr lang="zh-CN" altLang="en-US" sz="2000" dirty="0" smtClean="0">
                    <a:solidFill>
                      <a:schemeClr val="accent2"/>
                    </a:solidFill>
                  </a:rPr>
                  <a:t>时取正。</a:t>
                </a:r>
                <a:endParaRPr lang="en-US" altLang="zh-CN" sz="20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2249998"/>
                <a:ext cx="4104456" cy="4524315"/>
              </a:xfrm>
              <a:prstGeom prst="rect">
                <a:avLst/>
              </a:prstGeom>
              <a:blipFill>
                <a:blip r:embed="rId5"/>
                <a:stretch>
                  <a:fillRect l="-3715" r="-3863" b="-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/>
          <p:cNvSpPr txBox="1"/>
          <p:nvPr/>
        </p:nvSpPr>
        <p:spPr>
          <a:xfrm>
            <a:off x="2657078" y="2417775"/>
            <a:ext cx="2446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注意：包含受控电源的</a:t>
            </a:r>
            <a:r>
              <a:rPr lang="zh-CN" altLang="en-US" dirty="0">
                <a:solidFill>
                  <a:srgbClr val="FF0000"/>
                </a:solidFill>
              </a:rPr>
              <a:t>电路，系数矩阵一般不再为对称阵</a:t>
            </a:r>
          </a:p>
        </p:txBody>
      </p:sp>
    </p:spTree>
    <p:extLst>
      <p:ext uri="{BB962C8B-B14F-4D97-AF65-F5344CB8AC3E}">
        <p14:creationId xmlns:p14="http://schemas.microsoft.com/office/powerpoint/2010/main" val="90105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 animBg="1"/>
      <p:bldP spid="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0C1BCC-BFD5-4AF6-AC8F-C45DE697000B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A5AA2-2354-472F-B533-79158BFF3A41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节点分析法与网孔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分析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法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比较</a:t>
            </a:r>
            <a:endParaRPr lang="zh-CN" alt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528" y="1268760"/>
            <a:ext cx="424847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节点法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特殊支路的处理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1.</a:t>
            </a:r>
            <a:r>
              <a:rPr lang="zh-CN" altLang="en-US" dirty="0" smtClean="0">
                <a:solidFill>
                  <a:srgbClr val="FF0000"/>
                </a:solidFill>
              </a:rPr>
              <a:t>电流源支路：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   </a:t>
            </a:r>
            <a:r>
              <a:rPr lang="zh-CN" altLang="en-US" dirty="0" smtClean="0"/>
              <a:t>先利用电流源串联元件时的</a:t>
            </a:r>
            <a:r>
              <a:rPr lang="zh-CN" altLang="en-US" dirty="0"/>
              <a:t>等效</a:t>
            </a:r>
            <a:r>
              <a:rPr lang="zh-CN" altLang="en-US" dirty="0" smtClean="0"/>
              <a:t>变换，再将电流源</a:t>
            </a:r>
            <a:r>
              <a:rPr lang="zh-CN" altLang="en-US" dirty="0"/>
              <a:t>支路</a:t>
            </a:r>
            <a:r>
              <a:rPr lang="zh-CN" altLang="en-US" dirty="0" smtClean="0"/>
              <a:t>视为并联电导</a:t>
            </a:r>
            <a:r>
              <a:rPr lang="zh-CN" altLang="en-US" dirty="0"/>
              <a:t>为零的诺顿</a:t>
            </a:r>
            <a:r>
              <a:rPr lang="zh-CN" altLang="en-US" dirty="0" smtClean="0"/>
              <a:t>支路。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zh-CN" altLang="en-US" dirty="0" smtClean="0">
                <a:solidFill>
                  <a:srgbClr val="FF0000"/>
                </a:solidFill>
              </a:rPr>
              <a:t>电压源支路：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zh-CN" altLang="en-US" dirty="0" smtClean="0"/>
              <a:t>视为电导为</a:t>
            </a:r>
            <a:r>
              <a:rPr lang="zh-CN" altLang="en-US" dirty="0"/>
              <a:t>零的诺顿</a:t>
            </a:r>
            <a:r>
              <a:rPr lang="zh-CN" altLang="en-US" dirty="0" smtClean="0"/>
              <a:t>支路；增加电压源支路的</a:t>
            </a:r>
            <a:r>
              <a:rPr lang="zh-CN" altLang="en-US" dirty="0" smtClean="0">
                <a:solidFill>
                  <a:srgbClr val="FF0000"/>
                </a:solidFill>
              </a:rPr>
              <a:t>电流</a:t>
            </a:r>
            <a:r>
              <a:rPr lang="zh-CN" altLang="en-US" dirty="0" smtClean="0"/>
              <a:t>为新未知量。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zh-CN" altLang="en-US" dirty="0" smtClean="0"/>
              <a:t>将电压源支路利用</a:t>
            </a:r>
            <a:r>
              <a:rPr lang="zh-CN" altLang="en-US" dirty="0" smtClean="0">
                <a:solidFill>
                  <a:srgbClr val="FF0000"/>
                </a:solidFill>
              </a:rPr>
              <a:t>广义结点</a:t>
            </a:r>
            <a:r>
              <a:rPr lang="zh-CN" altLang="en-US" dirty="0" smtClean="0"/>
              <a:t>列</a:t>
            </a:r>
            <a:r>
              <a:rPr lang="en-US" altLang="zh-CN" dirty="0" smtClean="0"/>
              <a:t>KCL</a:t>
            </a:r>
            <a:r>
              <a:rPr lang="zh-CN" altLang="en-US" dirty="0" smtClean="0"/>
              <a:t>方程。</a:t>
            </a:r>
            <a:endParaRPr lang="en-US" altLang="zh-CN" dirty="0" smtClean="0"/>
          </a:p>
        </p:txBody>
      </p:sp>
      <p:sp>
        <p:nvSpPr>
          <p:cNvPr id="7" name="文本框 6"/>
          <p:cNvSpPr txBox="1"/>
          <p:nvPr/>
        </p:nvSpPr>
        <p:spPr>
          <a:xfrm>
            <a:off x="4571999" y="1266755"/>
            <a:ext cx="396044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网孔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特殊支路的处理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1.</a:t>
            </a:r>
            <a:r>
              <a:rPr lang="zh-CN" altLang="en-US" dirty="0" smtClean="0">
                <a:solidFill>
                  <a:srgbClr val="FF0000"/>
                </a:solidFill>
              </a:rPr>
              <a:t>电压源支路：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   </a:t>
            </a:r>
            <a:r>
              <a:rPr lang="zh-CN" altLang="en-US" dirty="0" smtClean="0"/>
              <a:t>先利用电压源并联元件时的</a:t>
            </a:r>
            <a:r>
              <a:rPr lang="zh-CN" altLang="en-US" dirty="0"/>
              <a:t>等效</a:t>
            </a:r>
            <a:r>
              <a:rPr lang="zh-CN" altLang="en-US" dirty="0" smtClean="0"/>
              <a:t>变换，再将压源</a:t>
            </a:r>
            <a:r>
              <a:rPr lang="zh-CN" altLang="en-US" dirty="0"/>
              <a:t>支路</a:t>
            </a:r>
            <a:r>
              <a:rPr lang="zh-CN" altLang="en-US" dirty="0" smtClean="0"/>
              <a:t>视为串联电阻为</a:t>
            </a:r>
            <a:r>
              <a:rPr lang="zh-CN" altLang="en-US" dirty="0"/>
              <a:t>零</a:t>
            </a:r>
            <a:r>
              <a:rPr lang="zh-CN" altLang="en-US" dirty="0" smtClean="0"/>
              <a:t>的</a:t>
            </a:r>
            <a:r>
              <a:rPr lang="zh-CN" altLang="en-US" dirty="0"/>
              <a:t>戴维南</a:t>
            </a:r>
            <a:r>
              <a:rPr lang="zh-CN" altLang="en-US" dirty="0" smtClean="0"/>
              <a:t>支路。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zh-CN" altLang="en-US" dirty="0" smtClean="0">
                <a:solidFill>
                  <a:srgbClr val="FF0000"/>
                </a:solidFill>
              </a:rPr>
              <a:t>电流源支路：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zh-CN" altLang="en-US" dirty="0" smtClean="0"/>
              <a:t>视为电阻为</a:t>
            </a:r>
            <a:r>
              <a:rPr lang="zh-CN" altLang="en-US" dirty="0"/>
              <a:t>零</a:t>
            </a:r>
            <a:r>
              <a:rPr lang="zh-CN" altLang="en-US" dirty="0" smtClean="0"/>
              <a:t>的</a:t>
            </a:r>
            <a:r>
              <a:rPr lang="zh-CN" altLang="en-US" dirty="0"/>
              <a:t>戴维南</a:t>
            </a:r>
            <a:r>
              <a:rPr lang="zh-CN" altLang="en-US" dirty="0" smtClean="0"/>
              <a:t>支路；增加电压源支路的</a:t>
            </a:r>
            <a:r>
              <a:rPr lang="zh-CN" altLang="en-US" dirty="0" smtClean="0">
                <a:solidFill>
                  <a:srgbClr val="FF0000"/>
                </a:solidFill>
              </a:rPr>
              <a:t>电压</a:t>
            </a:r>
            <a:r>
              <a:rPr lang="zh-CN" altLang="en-US" dirty="0" smtClean="0"/>
              <a:t>为新未知量。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zh-CN" altLang="en-US" dirty="0" smtClean="0"/>
              <a:t>将包含电流源支路的网孔利用</a:t>
            </a:r>
            <a:r>
              <a:rPr lang="zh-CN" altLang="en-US" dirty="0" smtClean="0">
                <a:solidFill>
                  <a:srgbClr val="FF0000"/>
                </a:solidFill>
              </a:rPr>
              <a:t>广义网孔</a:t>
            </a:r>
            <a:r>
              <a:rPr lang="zh-CN" altLang="en-US" dirty="0" smtClean="0"/>
              <a:t>列</a:t>
            </a:r>
            <a:r>
              <a:rPr lang="en-US" altLang="zh-CN" dirty="0" smtClean="0"/>
              <a:t>KVL</a:t>
            </a:r>
            <a:r>
              <a:rPr lang="zh-CN" altLang="en-US" dirty="0" smtClean="0"/>
              <a:t>方程。</a:t>
            </a:r>
            <a:endParaRPr lang="en-US" altLang="zh-CN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2339752" y="6165304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注意：包含受控电源的</a:t>
            </a:r>
            <a:r>
              <a:rPr lang="zh-CN" altLang="en-US" dirty="0"/>
              <a:t>电路，系数矩阵一般不再为对称阵</a:t>
            </a:r>
          </a:p>
        </p:txBody>
      </p:sp>
    </p:spTree>
    <p:extLst>
      <p:ext uri="{BB962C8B-B14F-4D97-AF65-F5344CB8AC3E}">
        <p14:creationId xmlns:p14="http://schemas.microsoft.com/office/powerpoint/2010/main" val="80878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00316AB-5C01-4BE7-B270-BCD8906CC107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1AF4CB-D288-4093-8545-9351539F6E06}" type="slidenum">
              <a:rPr lang="en-US" altLang="zh-CN"/>
              <a:pPr>
                <a:defRPr/>
              </a:pPr>
              <a:t>38</a:t>
            </a:fld>
            <a:endParaRPr lang="en-US" altLang="zh-CN"/>
          </a:p>
        </p:txBody>
      </p:sp>
      <p:graphicFrame>
        <p:nvGraphicFramePr>
          <p:cNvPr id="40965" name="Object 14"/>
          <p:cNvGraphicFramePr>
            <a:graphicFrameLocks noChangeAspect="1"/>
          </p:cNvGraphicFramePr>
          <p:nvPr/>
        </p:nvGraphicFramePr>
        <p:xfrm>
          <a:off x="3851275" y="333375"/>
          <a:ext cx="4787900" cy="395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6" name="Visio" r:id="rId3" imgW="2233136" imgH="1817370" progId="Visio.Drawing.11">
                  <p:embed/>
                </p:oleObj>
              </mc:Choice>
              <mc:Fallback>
                <p:oleObj name="Visio" r:id="rId3" imgW="2233136" imgH="1817370" progId="Visio.Drawing.11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33375"/>
                        <a:ext cx="4787900" cy="395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7" name="Rectangle 15"/>
          <p:cNvSpPr>
            <a:spLocks noChangeArrowheads="1"/>
          </p:cNvSpPr>
          <p:nvPr/>
        </p:nvSpPr>
        <p:spPr bwMode="auto">
          <a:xfrm>
            <a:off x="179388" y="3740150"/>
            <a:ext cx="2640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/>
              <a:t>Nodal analysis</a:t>
            </a:r>
            <a:r>
              <a:rPr lang="zh-CN" altLang="en-US" sz="2800"/>
              <a:t>：</a:t>
            </a:r>
          </a:p>
        </p:txBody>
      </p:sp>
      <p:graphicFrame>
        <p:nvGraphicFramePr>
          <p:cNvPr id="228368" name="Object 16"/>
          <p:cNvGraphicFramePr>
            <a:graphicFrameLocks noChangeAspect="1"/>
          </p:cNvGraphicFramePr>
          <p:nvPr/>
        </p:nvGraphicFramePr>
        <p:xfrm>
          <a:off x="395288" y="4221163"/>
          <a:ext cx="51847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7" name="Equation" r:id="rId5" imgW="2590800" imgH="393700" progId="Equation.DSMT4">
                  <p:embed/>
                </p:oleObj>
              </mc:Choice>
              <mc:Fallback>
                <p:oleObj name="Equation" r:id="rId5" imgW="2590800" imgH="393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221163"/>
                        <a:ext cx="518477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9" name="Object 17"/>
          <p:cNvGraphicFramePr>
            <a:graphicFrameLocks noChangeAspect="1"/>
          </p:cNvGraphicFramePr>
          <p:nvPr/>
        </p:nvGraphicFramePr>
        <p:xfrm>
          <a:off x="3132138" y="1844675"/>
          <a:ext cx="965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8" name="Equation" r:id="rId7" imgW="482391" imgH="228501" progId="Equation.DSMT4">
                  <p:embed/>
                </p:oleObj>
              </mc:Choice>
              <mc:Fallback>
                <p:oleObj name="Equation" r:id="rId7" imgW="482391" imgH="2285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844675"/>
                        <a:ext cx="965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0" name="Object 18"/>
          <p:cNvGraphicFramePr>
            <a:graphicFrameLocks noChangeAspect="1"/>
          </p:cNvGraphicFramePr>
          <p:nvPr/>
        </p:nvGraphicFramePr>
        <p:xfrm>
          <a:off x="5724525" y="1557338"/>
          <a:ext cx="482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9" name="Equation" r:id="rId9" imgW="241300" imgH="228600" progId="Equation.DSMT4">
                  <p:embed/>
                </p:oleObj>
              </mc:Choice>
              <mc:Fallback>
                <p:oleObj name="Equation" r:id="rId9" imgW="2413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1557338"/>
                        <a:ext cx="482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1" name="Object 19"/>
          <p:cNvGraphicFramePr>
            <a:graphicFrameLocks noChangeAspect="1"/>
          </p:cNvGraphicFramePr>
          <p:nvPr/>
        </p:nvGraphicFramePr>
        <p:xfrm>
          <a:off x="7308850" y="1557338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0" name="Equation" r:id="rId11" imgW="774364" imgH="228501" progId="Equation.DSMT4">
                  <p:embed/>
                </p:oleObj>
              </mc:Choice>
              <mc:Fallback>
                <p:oleObj name="Equation" r:id="rId11" imgW="774364" imgH="22850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1557338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2" name="Object 20"/>
          <p:cNvGraphicFramePr>
            <a:graphicFrameLocks noChangeAspect="1"/>
          </p:cNvGraphicFramePr>
          <p:nvPr/>
        </p:nvGraphicFramePr>
        <p:xfrm>
          <a:off x="5711825" y="3849688"/>
          <a:ext cx="44926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1" name="Visio" r:id="rId13" imgW="118917" imgH="123798" progId="Visio.Drawing.11">
                  <p:embed/>
                </p:oleObj>
              </mc:Choice>
              <mc:Fallback>
                <p:oleObj name="Visio" r:id="rId13" imgW="118917" imgH="123798" progId="Visio.Drawing.11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1825" y="3849688"/>
                        <a:ext cx="449263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3" name="Object 21"/>
          <p:cNvGraphicFramePr>
            <a:graphicFrameLocks noChangeAspect="1"/>
          </p:cNvGraphicFramePr>
          <p:nvPr/>
        </p:nvGraphicFramePr>
        <p:xfrm>
          <a:off x="395288" y="5084763"/>
          <a:ext cx="33559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2" name="Equation" r:id="rId15" imgW="1675673" imgH="393529" progId="Equation.DSMT4">
                  <p:embed/>
                </p:oleObj>
              </mc:Choice>
              <mc:Fallback>
                <p:oleObj name="Equation" r:id="rId15" imgW="1675673" imgH="393529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084763"/>
                        <a:ext cx="335597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4" name="Object 22"/>
          <p:cNvGraphicFramePr>
            <a:graphicFrameLocks noChangeAspect="1"/>
          </p:cNvGraphicFramePr>
          <p:nvPr/>
        </p:nvGraphicFramePr>
        <p:xfrm>
          <a:off x="539750" y="6019800"/>
          <a:ext cx="711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3" name="Equation" r:id="rId17" imgW="355292" imgH="164957" progId="Equation.DSMT4">
                  <p:embed/>
                </p:oleObj>
              </mc:Choice>
              <mc:Fallback>
                <p:oleObj name="Equation" r:id="rId17" imgW="355292" imgH="164957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6019800"/>
                        <a:ext cx="711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5" name="Object 23"/>
          <p:cNvGraphicFramePr>
            <a:graphicFrameLocks noChangeAspect="1"/>
          </p:cNvGraphicFramePr>
          <p:nvPr/>
        </p:nvGraphicFramePr>
        <p:xfrm>
          <a:off x="3348038" y="5732463"/>
          <a:ext cx="10175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4" name="Equation" r:id="rId19" imgW="507780" imgH="393529" progId="Equation.DSMT4">
                  <p:embed/>
                </p:oleObj>
              </mc:Choice>
              <mc:Fallback>
                <p:oleObj name="Equation" r:id="rId19" imgW="507780" imgH="39352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732463"/>
                        <a:ext cx="101758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6" name="Object 24"/>
          <p:cNvGraphicFramePr>
            <a:graphicFrameLocks noChangeAspect="1"/>
          </p:cNvGraphicFramePr>
          <p:nvPr/>
        </p:nvGraphicFramePr>
        <p:xfrm>
          <a:off x="1692275" y="5948363"/>
          <a:ext cx="9921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5" name="Equation" r:id="rId21" imgW="495085" imgH="228501" progId="Equation.DSMT4">
                  <p:embed/>
                </p:oleObj>
              </mc:Choice>
              <mc:Fallback>
                <p:oleObj name="Equation" r:id="rId21" imgW="495085" imgH="228501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948363"/>
                        <a:ext cx="9921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7" name="Object 25"/>
          <p:cNvGraphicFramePr>
            <a:graphicFrameLocks noChangeAspect="1"/>
          </p:cNvGraphicFramePr>
          <p:nvPr/>
        </p:nvGraphicFramePr>
        <p:xfrm>
          <a:off x="6011863" y="4464050"/>
          <a:ext cx="26193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6" name="Equation" r:id="rId23" imgW="1307532" imgH="393529" progId="Equation.DSMT4">
                  <p:embed/>
                </p:oleObj>
              </mc:Choice>
              <mc:Fallback>
                <p:oleObj name="Equation" r:id="rId23" imgW="1307532" imgH="39352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4464050"/>
                        <a:ext cx="261937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8" name="Object 26"/>
          <p:cNvGraphicFramePr>
            <a:graphicFrameLocks noChangeAspect="1"/>
          </p:cNvGraphicFramePr>
          <p:nvPr/>
        </p:nvGraphicFramePr>
        <p:xfrm>
          <a:off x="6032500" y="5329238"/>
          <a:ext cx="13477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7" name="Equation" r:id="rId25" imgW="672808" imgH="228501" progId="Equation.DSMT4">
                  <p:embed/>
                </p:oleObj>
              </mc:Choice>
              <mc:Fallback>
                <p:oleObj name="Equation" r:id="rId25" imgW="672808" imgH="228501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5329238"/>
                        <a:ext cx="13477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9" name="Object 27"/>
          <p:cNvGraphicFramePr>
            <a:graphicFrameLocks noChangeAspect="1"/>
          </p:cNvGraphicFramePr>
          <p:nvPr/>
        </p:nvGraphicFramePr>
        <p:xfrm>
          <a:off x="6011863" y="5903913"/>
          <a:ext cx="15255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8" name="Equation" r:id="rId27" imgW="761669" imgH="228501" progId="Equation.DSMT4">
                  <p:embed/>
                </p:oleObj>
              </mc:Choice>
              <mc:Fallback>
                <p:oleObj name="Equation" r:id="rId27" imgW="761669" imgH="228501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903913"/>
                        <a:ext cx="15255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80" name="Rectangle 28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讨论  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目标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3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：合理选择分析法</a:t>
            </a:r>
          </a:p>
        </p:txBody>
      </p:sp>
      <p:sp>
        <p:nvSpPr>
          <p:cNvPr id="40980" name="Rectangle 29"/>
          <p:cNvSpPr>
            <a:spLocks noChangeArrowheads="1"/>
          </p:cNvSpPr>
          <p:nvPr/>
        </p:nvSpPr>
        <p:spPr bwMode="auto">
          <a:xfrm>
            <a:off x="323850" y="606425"/>
            <a:ext cx="3887788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6</a:t>
            </a: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Find the power supplies by each independent source.</a:t>
            </a:r>
            <a:r>
              <a:rPr lang="en-US" altLang="zh-CN" sz="180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en-US" altLang="zh-CN">
              <a:solidFill>
                <a:srgbClr val="CC3300"/>
              </a:solidFill>
              <a:ea typeface="隶书" panose="02010509060101010101" pitchFamily="49" charset="-122"/>
            </a:endParaRPr>
          </a:p>
        </p:txBody>
      </p:sp>
      <p:sp>
        <p:nvSpPr>
          <p:cNvPr id="228383" name="AutoShape 31"/>
          <p:cNvSpPr>
            <a:spLocks/>
          </p:cNvSpPr>
          <p:nvPr/>
        </p:nvSpPr>
        <p:spPr bwMode="auto">
          <a:xfrm>
            <a:off x="250825" y="4364038"/>
            <a:ext cx="144463" cy="1152525"/>
          </a:xfrm>
          <a:prstGeom prst="leftBrace">
            <a:avLst>
              <a:gd name="adj1" fmla="val 66483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2614" y="60002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2566127" y="59631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4280173" y="594149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2" dur="2000"/>
                                        <p:tgtEl>
                                          <p:spTgt spid="22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7" grpId="0"/>
      <p:bldP spid="228383" grpId="0" animBg="1"/>
      <p:bldP spid="2" grpId="0"/>
      <p:bldP spid="23" grpId="0"/>
      <p:bldP spid="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3EFC656-D1BE-4A7F-8E75-82C89CAA8E12}" type="datetime1">
              <a:rPr lang="zh-CN" altLang="en-US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2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A8B4AA-8EF4-4DD8-81C6-D14B83F8D4DC}" type="slidenum">
              <a:rPr lang="en-US" altLang="zh-CN"/>
              <a:pPr>
                <a:defRPr/>
              </a:pPr>
              <a:t>39</a:t>
            </a:fld>
            <a:endParaRPr lang="en-US" altLang="zh-CN"/>
          </a:p>
        </p:txBody>
      </p:sp>
      <p:graphicFrame>
        <p:nvGraphicFramePr>
          <p:cNvPr id="41989" name="Object 15"/>
          <p:cNvGraphicFramePr>
            <a:graphicFrameLocks noChangeAspect="1"/>
          </p:cNvGraphicFramePr>
          <p:nvPr/>
        </p:nvGraphicFramePr>
        <p:xfrm>
          <a:off x="2124075" y="1090613"/>
          <a:ext cx="7019925" cy="304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8" name="Visio" r:id="rId3" imgW="3307699" imgH="1445752" progId="Visio.Drawing.11">
                  <p:embed/>
                </p:oleObj>
              </mc:Choice>
              <mc:Fallback>
                <p:oleObj name="Visio" r:id="rId3" imgW="3307699" imgH="1445752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090613"/>
                        <a:ext cx="7019925" cy="304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9392" name="Group 16"/>
          <p:cNvGrpSpPr>
            <a:grpSpLocks/>
          </p:cNvGrpSpPr>
          <p:nvPr/>
        </p:nvGrpSpPr>
        <p:grpSpPr bwMode="auto">
          <a:xfrm>
            <a:off x="3132138" y="2420938"/>
            <a:ext cx="1217612" cy="811212"/>
            <a:chOff x="3168" y="1649"/>
            <a:chExt cx="767" cy="511"/>
          </a:xfrm>
        </p:grpSpPr>
        <p:graphicFrame>
          <p:nvGraphicFramePr>
            <p:cNvPr id="42008" name="Object 17"/>
            <p:cNvGraphicFramePr>
              <a:graphicFrameLocks noChangeAspect="1"/>
            </p:cNvGraphicFramePr>
            <p:nvPr/>
          </p:nvGraphicFramePr>
          <p:xfrm>
            <a:off x="3264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89" name="VISIO" r:id="rId5" imgW="532512" imgH="403188" progId="Visio.Drawing.5">
                    <p:embed/>
                  </p:oleObj>
                </mc:Choice>
                <mc:Fallback>
                  <p:oleObj name="VISIO" r:id="rId5" imgW="532512" imgH="403188" progId="Visio.Drawing.5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9" name="Object 18"/>
            <p:cNvGraphicFramePr>
              <a:graphicFrameLocks noChangeAspect="1"/>
            </p:cNvGraphicFramePr>
            <p:nvPr/>
          </p:nvGraphicFramePr>
          <p:xfrm>
            <a:off x="3168" y="1768"/>
            <a:ext cx="5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90" name="Equation" r:id="rId7" imgW="431613" imgH="228501" progId="Equation.DSMT4">
                    <p:embed/>
                  </p:oleObj>
                </mc:Choice>
                <mc:Fallback>
                  <p:oleObj name="Equation" r:id="rId7" imgW="431613" imgH="228501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768"/>
                          <a:ext cx="54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9395" name="Group 19"/>
          <p:cNvGrpSpPr>
            <a:grpSpLocks/>
          </p:cNvGrpSpPr>
          <p:nvPr/>
        </p:nvGrpSpPr>
        <p:grpSpPr bwMode="auto">
          <a:xfrm>
            <a:off x="7092950" y="2349500"/>
            <a:ext cx="1065213" cy="811213"/>
            <a:chOff x="4560" y="1649"/>
            <a:chExt cx="671" cy="511"/>
          </a:xfrm>
        </p:grpSpPr>
        <p:graphicFrame>
          <p:nvGraphicFramePr>
            <p:cNvPr id="42006" name="Object 20"/>
            <p:cNvGraphicFramePr>
              <a:graphicFrameLocks noChangeAspect="1"/>
            </p:cNvGraphicFramePr>
            <p:nvPr/>
          </p:nvGraphicFramePr>
          <p:xfrm>
            <a:off x="4560" y="1649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91" name="VISIO" r:id="rId9" imgW="532512" imgH="403188" progId="Visio.Drawing.5">
                    <p:embed/>
                  </p:oleObj>
                </mc:Choice>
                <mc:Fallback>
                  <p:oleObj name="VISIO" r:id="rId9" imgW="532512" imgH="403188" progId="Visio.Drawing.5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649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7" name="Object 21"/>
            <p:cNvGraphicFramePr>
              <a:graphicFrameLocks noChangeAspect="1"/>
            </p:cNvGraphicFramePr>
            <p:nvPr/>
          </p:nvGraphicFramePr>
          <p:xfrm>
            <a:off x="4592" y="1720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92" name="Equation" r:id="rId10" imgW="228600" imgH="228600" progId="Equation.DSMT4">
                    <p:embed/>
                  </p:oleObj>
                </mc:Choice>
                <mc:Fallback>
                  <p:oleObj name="Equation" r:id="rId10" imgW="228600" imgH="2286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2" y="172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9398" name="Group 22"/>
          <p:cNvGrpSpPr>
            <a:grpSpLocks/>
          </p:cNvGrpSpPr>
          <p:nvPr/>
        </p:nvGrpSpPr>
        <p:grpSpPr bwMode="auto">
          <a:xfrm>
            <a:off x="5148263" y="2420938"/>
            <a:ext cx="1065212" cy="811212"/>
            <a:chOff x="3744" y="672"/>
            <a:chExt cx="671" cy="511"/>
          </a:xfrm>
        </p:grpSpPr>
        <p:graphicFrame>
          <p:nvGraphicFramePr>
            <p:cNvPr id="42004" name="Object 23"/>
            <p:cNvGraphicFramePr>
              <a:graphicFrameLocks noChangeAspect="1"/>
            </p:cNvGraphicFramePr>
            <p:nvPr/>
          </p:nvGraphicFramePr>
          <p:xfrm>
            <a:off x="3744" y="672"/>
            <a:ext cx="6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93" name="VISIO" r:id="rId12" imgW="532512" imgH="403188" progId="Visio.Drawing.5">
                    <p:embed/>
                  </p:oleObj>
                </mc:Choice>
                <mc:Fallback>
                  <p:oleObj name="VISIO" r:id="rId12" imgW="532512" imgH="403188" progId="Visio.Drawing.5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672"/>
                          <a:ext cx="6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5" name="Object 24"/>
            <p:cNvGraphicFramePr>
              <a:graphicFrameLocks noChangeAspect="1"/>
            </p:cNvGraphicFramePr>
            <p:nvPr/>
          </p:nvGraphicFramePr>
          <p:xfrm>
            <a:off x="3784" y="760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94" name="Equation" r:id="rId13" imgW="228600" imgH="228600" progId="Equation.DSMT4">
                    <p:embed/>
                  </p:oleObj>
                </mc:Choice>
                <mc:Fallback>
                  <p:oleObj name="Equation" r:id="rId13" imgW="228600" imgH="228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4" y="76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9401" name="Rectangle 25"/>
          <p:cNvSpPr>
            <a:spLocks noChangeArrowheads="1"/>
          </p:cNvSpPr>
          <p:nvPr/>
        </p:nvSpPr>
        <p:spPr bwMode="auto">
          <a:xfrm>
            <a:off x="252413" y="3716338"/>
            <a:ext cx="3240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Mesh analysis</a:t>
            </a:r>
            <a:r>
              <a:rPr lang="zh-CN" altLang="en-US" sz="2800">
                <a:solidFill>
                  <a:schemeClr val="tx2"/>
                </a:solidFill>
              </a:rPr>
              <a:t>：</a:t>
            </a:r>
          </a:p>
        </p:txBody>
      </p:sp>
      <p:graphicFrame>
        <p:nvGraphicFramePr>
          <p:cNvPr id="229402" name="Object 26"/>
          <p:cNvGraphicFramePr>
            <a:graphicFrameLocks noChangeAspect="1"/>
          </p:cNvGraphicFramePr>
          <p:nvPr/>
        </p:nvGraphicFramePr>
        <p:xfrm>
          <a:off x="1044575" y="4437063"/>
          <a:ext cx="4016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5" name="Equation" r:id="rId15" imgW="2006600" imgH="228600" progId="Equation.DSMT4">
                  <p:embed/>
                </p:oleObj>
              </mc:Choice>
              <mc:Fallback>
                <p:oleObj name="Equation" r:id="rId15" imgW="200660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4437063"/>
                        <a:ext cx="40163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03" name="Object 27"/>
          <p:cNvGraphicFramePr>
            <a:graphicFrameLocks noChangeAspect="1"/>
          </p:cNvGraphicFramePr>
          <p:nvPr/>
        </p:nvGraphicFramePr>
        <p:xfrm>
          <a:off x="1116013" y="4941888"/>
          <a:ext cx="17795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6" name="Equation" r:id="rId17" imgW="889000" imgH="228600" progId="Equation.DSMT4">
                  <p:embed/>
                </p:oleObj>
              </mc:Choice>
              <mc:Fallback>
                <p:oleObj name="Equation" r:id="rId17" imgW="88900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941888"/>
                        <a:ext cx="17795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04" name="Object 28"/>
          <p:cNvGraphicFramePr>
            <a:graphicFrameLocks noChangeAspect="1"/>
          </p:cNvGraphicFramePr>
          <p:nvPr/>
        </p:nvGraphicFramePr>
        <p:xfrm>
          <a:off x="1133475" y="5516563"/>
          <a:ext cx="16017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7" name="Equation" r:id="rId19" imgW="800100" imgH="228600" progId="Equation.DSMT4">
                  <p:embed/>
                </p:oleObj>
              </mc:Choice>
              <mc:Fallback>
                <p:oleObj name="Equation" r:id="rId19" imgW="800100" imgH="2286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75" y="5516563"/>
                        <a:ext cx="16017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06" name="Object 30"/>
          <p:cNvGraphicFramePr>
            <a:graphicFrameLocks noChangeAspect="1"/>
          </p:cNvGraphicFramePr>
          <p:nvPr/>
        </p:nvGraphicFramePr>
        <p:xfrm>
          <a:off x="6084888" y="4581525"/>
          <a:ext cx="1169987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8" name="Equation" r:id="rId21" imgW="583947" imgH="685502" progId="Equation.DSMT4">
                  <p:embed/>
                </p:oleObj>
              </mc:Choice>
              <mc:Fallback>
                <p:oleObj name="Equation" r:id="rId21" imgW="583947" imgH="685502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4581525"/>
                        <a:ext cx="1169987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07" name="Object 31"/>
          <p:cNvGraphicFramePr>
            <a:graphicFrameLocks noChangeAspect="1"/>
          </p:cNvGraphicFramePr>
          <p:nvPr/>
        </p:nvGraphicFramePr>
        <p:xfrm>
          <a:off x="1584325" y="6237288"/>
          <a:ext cx="30019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9" name="Equation" r:id="rId23" imgW="1498600" imgH="228600" progId="Equation.DSMT4">
                  <p:embed/>
                </p:oleObj>
              </mc:Choice>
              <mc:Fallback>
                <p:oleObj name="Equation" r:id="rId23" imgW="149860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6237288"/>
                        <a:ext cx="30019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08" name="Object 32"/>
          <p:cNvGraphicFramePr>
            <a:graphicFrameLocks noChangeAspect="1"/>
          </p:cNvGraphicFramePr>
          <p:nvPr/>
        </p:nvGraphicFramePr>
        <p:xfrm>
          <a:off x="4897438" y="6237288"/>
          <a:ext cx="13731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0" name="Equation" r:id="rId25" imgW="685800" imgH="228600" progId="Equation.DSMT4">
                  <p:embed/>
                </p:oleObj>
              </mc:Choice>
              <mc:Fallback>
                <p:oleObj name="Equation" r:id="rId25" imgW="68580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438" y="6237288"/>
                        <a:ext cx="13731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09" name="Object 33"/>
          <p:cNvGraphicFramePr>
            <a:graphicFrameLocks noChangeAspect="1"/>
          </p:cNvGraphicFramePr>
          <p:nvPr/>
        </p:nvGraphicFramePr>
        <p:xfrm>
          <a:off x="6769100" y="6211888"/>
          <a:ext cx="14747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1" name="Equation" r:id="rId27" imgW="736600" imgH="228600" progId="Equation.DSMT4">
                  <p:embed/>
                </p:oleObj>
              </mc:Choice>
              <mc:Fallback>
                <p:oleObj name="Equation" r:id="rId27" imgW="736600" imgH="228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6211888"/>
                        <a:ext cx="14747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10" name="Rectangle 34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讨论  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目标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3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：合理选择分析法</a:t>
            </a:r>
          </a:p>
        </p:txBody>
      </p:sp>
      <p:sp>
        <p:nvSpPr>
          <p:cNvPr id="42002" name="Rectangle 35"/>
          <p:cNvSpPr>
            <a:spLocks noChangeArrowheads="1"/>
          </p:cNvSpPr>
          <p:nvPr/>
        </p:nvSpPr>
        <p:spPr bwMode="auto">
          <a:xfrm>
            <a:off x="395288" y="620713"/>
            <a:ext cx="8712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7</a:t>
            </a:r>
            <a:r>
              <a:rPr lang="zh-CN" altLang="en-US" sz="280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Find the current </a:t>
            </a:r>
            <a:r>
              <a:rPr lang="en-US" altLang="zh-CN" sz="2800" i="1">
                <a:solidFill>
                  <a:srgbClr val="CC3300"/>
                </a:solidFill>
                <a:ea typeface="隶书" panose="02010509060101010101" pitchFamily="49" charset="-122"/>
              </a:rPr>
              <a:t>I</a:t>
            </a:r>
            <a:r>
              <a:rPr lang="en-US" altLang="zh-CN" sz="2800" baseline="-25000">
                <a:solidFill>
                  <a:srgbClr val="CC3300"/>
                </a:solidFill>
                <a:ea typeface="隶书" panose="02010509060101010101" pitchFamily="49" charset="-122"/>
              </a:rPr>
              <a:t>1</a:t>
            </a:r>
            <a:r>
              <a:rPr lang="en-US" altLang="zh-CN" sz="2800">
                <a:solidFill>
                  <a:srgbClr val="CC3300"/>
                </a:solidFill>
                <a:ea typeface="隶书" panose="02010509060101010101" pitchFamily="49" charset="-122"/>
              </a:rPr>
              <a:t> and the power supplies by the current source.</a:t>
            </a:r>
            <a:r>
              <a:rPr lang="en-US" altLang="zh-CN" sz="180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229412" name="AutoShape 36"/>
          <p:cNvSpPr>
            <a:spLocks/>
          </p:cNvSpPr>
          <p:nvPr/>
        </p:nvSpPr>
        <p:spPr bwMode="auto">
          <a:xfrm>
            <a:off x="466725" y="4508500"/>
            <a:ext cx="217488" cy="1296988"/>
          </a:xfrm>
          <a:prstGeom prst="leftBrace">
            <a:avLst>
              <a:gd name="adj1" fmla="val 49696"/>
              <a:gd name="adj2" fmla="val 50000"/>
            </a:avLst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2000"/>
                                        <p:tgtEl>
                                          <p:spTgt spid="22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401" grpId="0"/>
      <p:bldP spid="2294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339725" y="414338"/>
            <a:ext cx="5805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节点法、网孔法的比较  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530225" y="3789363"/>
            <a:ext cx="8272463" cy="97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      </a:t>
            </a:r>
            <a:r>
              <a:rPr lang="zh-CN" altLang="en-US" b="1">
                <a:ea typeface="宋体" panose="02010600030101010101" pitchFamily="2" charset="-122"/>
              </a:rPr>
              <a:t>（</a:t>
            </a:r>
            <a:r>
              <a:rPr lang="en-US" altLang="zh-CN" b="1">
                <a:ea typeface="宋体" panose="02010600030101010101" pitchFamily="2" charset="-122"/>
              </a:rPr>
              <a:t>2</a:t>
            </a:r>
            <a:r>
              <a:rPr lang="zh-CN" altLang="en-US" b="1">
                <a:ea typeface="宋体" panose="02010600030101010101" pitchFamily="2" charset="-122"/>
              </a:rPr>
              <a:t>） 对于非平面电路，网孔法不适用，选独立节点较容易。  </a:t>
            </a:r>
          </a:p>
        </p:txBody>
      </p:sp>
      <p:sp>
        <p:nvSpPr>
          <p:cNvPr id="22560" name="Text Box 32"/>
          <p:cNvSpPr txBox="1">
            <a:spLocks noChangeArrowheads="1"/>
          </p:cNvSpPr>
          <p:nvPr/>
        </p:nvSpPr>
        <p:spPr bwMode="auto">
          <a:xfrm>
            <a:off x="530225" y="4886325"/>
            <a:ext cx="8018463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      </a:t>
            </a:r>
            <a:r>
              <a:rPr lang="zh-CN" altLang="en-US" b="1">
                <a:ea typeface="宋体" panose="02010600030101010101" pitchFamily="2" charset="-122"/>
              </a:rPr>
              <a:t>（</a:t>
            </a:r>
            <a:r>
              <a:rPr lang="en-US" altLang="zh-CN" b="1">
                <a:ea typeface="宋体" panose="02010600030101010101" pitchFamily="2" charset="-122"/>
              </a:rPr>
              <a:t>3</a:t>
            </a:r>
            <a:r>
              <a:rPr lang="zh-CN" altLang="en-US" b="1">
                <a:ea typeface="宋体" panose="02010600030101010101" pitchFamily="2" charset="-122"/>
              </a:rPr>
              <a:t>） 网孔法、节点法易于编程。目前用计算机分析网络（电网络，集成电路设计等）采用节点法较多。  </a:t>
            </a:r>
          </a:p>
        </p:txBody>
      </p:sp>
      <p:sp>
        <p:nvSpPr>
          <p:cNvPr id="22568" name="Text Box 40"/>
          <p:cNvSpPr txBox="1">
            <a:spLocks noChangeArrowheads="1"/>
          </p:cNvSpPr>
          <p:nvPr/>
        </p:nvSpPr>
        <p:spPr bwMode="auto">
          <a:xfrm>
            <a:off x="971550" y="1422400"/>
            <a:ext cx="4878388" cy="212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 方程数的比较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节点法：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n-1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网孔法：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b-n+1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选取方程数较少的方法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9" grpId="0" autoUpdateAnimBg="0"/>
      <p:bldP spid="22560" grpId="0" autoUpdateAnimBg="0"/>
      <p:bldP spid="2256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作业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4688" cy="5181600"/>
          </a:xfrm>
        </p:spPr>
        <p:txBody>
          <a:bodyPr/>
          <a:lstStyle/>
          <a:p>
            <a:r>
              <a:rPr lang="en-US" altLang="zh-CN" smtClean="0"/>
              <a:t>3.3</a:t>
            </a:r>
            <a:r>
              <a:rPr lang="zh-CN" altLang="zh-CN" smtClean="0"/>
              <a:t>节：</a:t>
            </a:r>
            <a:r>
              <a:rPr lang="en-US" altLang="zh-CN" smtClean="0"/>
              <a:t>3-7</a:t>
            </a:r>
            <a:r>
              <a:rPr lang="zh-CN" altLang="zh-CN" smtClean="0"/>
              <a:t>，</a:t>
            </a:r>
            <a:r>
              <a:rPr lang="en-US" altLang="zh-CN" smtClean="0"/>
              <a:t>3-11</a:t>
            </a:r>
            <a:r>
              <a:rPr lang="zh-CN" altLang="zh-CN" smtClean="0"/>
              <a:t>，</a:t>
            </a:r>
            <a:r>
              <a:rPr lang="en-US" altLang="zh-CN" smtClean="0"/>
              <a:t>3-14</a:t>
            </a:r>
            <a:endParaRPr lang="zh-CN" altLang="zh-CN" smtClean="0"/>
          </a:p>
          <a:p>
            <a:r>
              <a:rPr lang="en-US" altLang="zh-CN" smtClean="0"/>
              <a:t>3.4</a:t>
            </a:r>
            <a:r>
              <a:rPr lang="zh-CN" altLang="zh-CN" smtClean="0"/>
              <a:t>节：</a:t>
            </a:r>
            <a:r>
              <a:rPr lang="en-US" altLang="zh-CN" smtClean="0"/>
              <a:t>3-28</a:t>
            </a:r>
            <a:r>
              <a:rPr lang="zh-CN" altLang="zh-CN" smtClean="0"/>
              <a:t>，</a:t>
            </a:r>
            <a:r>
              <a:rPr lang="en-US" altLang="zh-CN" smtClean="0"/>
              <a:t>3-30</a:t>
            </a:r>
            <a:endParaRPr lang="zh-CN" altLang="zh-CN" smtClean="0"/>
          </a:p>
          <a:p>
            <a:r>
              <a:rPr lang="zh-CN" altLang="zh-CN" smtClean="0"/>
              <a:t>综合：</a:t>
            </a:r>
            <a:r>
              <a:rPr lang="en-US" altLang="zh-CN" smtClean="0"/>
              <a:t>3-38</a:t>
            </a:r>
            <a:r>
              <a:rPr lang="zh-CN" altLang="zh-CN" smtClean="0"/>
              <a:t>，</a:t>
            </a:r>
            <a:r>
              <a:rPr lang="en-US" altLang="zh-CN" smtClean="0"/>
              <a:t>3-40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2022/3/9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ECC24-E164-4786-A8C5-2CB7D75106FC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3300"/>
      </a:hlink>
      <a:folHlink>
        <a:srgbClr val="FF3300"/>
      </a:folHlink>
    </a:clrScheme>
    <a:fontScheme name="默认设计模板">
      <a:majorFont>
        <a:latin typeface="Times New Roman"/>
        <a:ea typeface="华文新魏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幼圆" panose="02010509060101010101" pitchFamily="49" charset="-122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幼圆" panose="02010509060101010101" pitchFamily="49" charset="-122"/>
            <a:ea typeface="幼圆" panose="020105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11537</TotalTime>
  <Words>2367</Words>
  <Application>Microsoft Office PowerPoint</Application>
  <PresentationFormat>全屏显示(4:3)</PresentationFormat>
  <Paragraphs>545</Paragraphs>
  <Slides>41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41</vt:i4>
      </vt:variant>
    </vt:vector>
  </HeadingPairs>
  <TitlesOfParts>
    <vt:vector size="63" baseType="lpstr">
      <vt:lpstr>黑体</vt:lpstr>
      <vt:lpstr>华文楷体</vt:lpstr>
      <vt:lpstr>华文隶书</vt:lpstr>
      <vt:lpstr>华文新魏</vt:lpstr>
      <vt:lpstr>华文中宋</vt:lpstr>
      <vt:lpstr>隶书</vt:lpstr>
      <vt:lpstr>宋体</vt:lpstr>
      <vt:lpstr>微软雅黑</vt:lpstr>
      <vt:lpstr>幼圆</vt:lpstr>
      <vt:lpstr>Arial</vt:lpstr>
      <vt:lpstr>Cambria Math</vt:lpstr>
      <vt:lpstr>MT Extra</vt:lpstr>
      <vt:lpstr>Symbol</vt:lpstr>
      <vt:lpstr>Times New Roman</vt:lpstr>
      <vt:lpstr>Wingdings</vt:lpstr>
      <vt:lpstr>Wingdings 2</vt:lpstr>
      <vt:lpstr>默认设计模板</vt:lpstr>
      <vt:lpstr>Visio</vt:lpstr>
      <vt:lpstr>Equation</vt:lpstr>
      <vt:lpstr>VISIO</vt:lpstr>
      <vt:lpstr>位图图像</vt:lpstr>
      <vt:lpstr>VISIO 5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3.1 结点分析法 Nodal analysis  </vt:lpstr>
      <vt:lpstr>PowerPoint 演示文稿</vt:lpstr>
      <vt:lpstr>3.1 结点分析法 Nodal analysis  1.结点方程 Nodal equations</vt:lpstr>
      <vt:lpstr>3.1 Nodal analysis  1.Nodal equations</vt:lpstr>
      <vt:lpstr>3.1 Nodal analysis  1.Nodal equations</vt:lpstr>
      <vt:lpstr>2.快速列写法</vt:lpstr>
      <vt:lpstr>PowerPoint 演示文稿</vt:lpstr>
      <vt:lpstr>2.快速列写法</vt:lpstr>
      <vt:lpstr>3.Nodal analysis with source branch</vt:lpstr>
      <vt:lpstr>PowerPoint 演示文稿</vt:lpstr>
      <vt:lpstr>PowerPoint 演示文稿</vt:lpstr>
      <vt:lpstr>3.Nodal analysis with source branches</vt:lpstr>
      <vt:lpstr>PowerPoint 演示文稿</vt:lpstr>
      <vt:lpstr>PowerPoint 演示文稿</vt:lpstr>
      <vt:lpstr>PowerPoint 演示文稿</vt:lpstr>
      <vt:lpstr>PowerPoint 演示文稿</vt:lpstr>
      <vt:lpstr>3.1 结点分析法 Nodal analysis  </vt:lpstr>
      <vt:lpstr>PowerPoint 演示文稿</vt:lpstr>
      <vt:lpstr>3.4 网孔分析法Mesh analysis 1.Mesh currents</vt:lpstr>
      <vt:lpstr>3. 快速列写法</vt:lpstr>
      <vt:lpstr>PowerPoint 演示文稿</vt:lpstr>
      <vt:lpstr>4.Mesh analysis with source branches</vt:lpstr>
      <vt:lpstr>4.Mesh analysis with source branches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网络方程</dc:title>
  <dc:creator>qryan</dc:creator>
  <cp:lastModifiedBy>王 健</cp:lastModifiedBy>
  <cp:revision>594</cp:revision>
  <cp:lastPrinted>2004-03-17T08:18:10Z</cp:lastPrinted>
  <dcterms:created xsi:type="dcterms:W3CDTF">2001-01-13T02:14:45Z</dcterms:created>
  <dcterms:modified xsi:type="dcterms:W3CDTF">2022-03-09T05:25:39Z</dcterms:modified>
</cp:coreProperties>
</file>