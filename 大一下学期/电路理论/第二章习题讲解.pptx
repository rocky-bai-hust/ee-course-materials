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85" r:id="rId28"/>
    <p:sldId id="297" r:id="rId29"/>
    <p:sldId id="299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wmf"/><Relationship Id="rId1" Type="http://schemas.openxmlformats.org/officeDocument/2006/relationships/image" Target="../media/image3.e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32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e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11" Type="http://schemas.openxmlformats.org/officeDocument/2006/relationships/image" Target="../media/image54.wmf"/><Relationship Id="rId5" Type="http://schemas.openxmlformats.org/officeDocument/2006/relationships/image" Target="../media/image48.emf"/><Relationship Id="rId10" Type="http://schemas.openxmlformats.org/officeDocument/2006/relationships/image" Target="../media/image53.wmf"/><Relationship Id="rId4" Type="http://schemas.openxmlformats.org/officeDocument/2006/relationships/image" Target="../media/image47.emf"/><Relationship Id="rId9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wmf"/><Relationship Id="rId1" Type="http://schemas.openxmlformats.org/officeDocument/2006/relationships/image" Target="../media/image56.e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emf"/><Relationship Id="rId1" Type="http://schemas.openxmlformats.org/officeDocument/2006/relationships/image" Target="../media/image67.emf"/><Relationship Id="rId4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image" Target="../media/image67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image" Target="../media/image72.w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e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11" Type="http://schemas.openxmlformats.org/officeDocument/2006/relationships/image" Target="../media/image54.wmf"/><Relationship Id="rId5" Type="http://schemas.openxmlformats.org/officeDocument/2006/relationships/image" Target="../media/image48.emf"/><Relationship Id="rId10" Type="http://schemas.openxmlformats.org/officeDocument/2006/relationships/image" Target="../media/image53.wmf"/><Relationship Id="rId4" Type="http://schemas.openxmlformats.org/officeDocument/2006/relationships/image" Target="../media/image47.emf"/><Relationship Id="rId9" Type="http://schemas.openxmlformats.org/officeDocument/2006/relationships/image" Target="../media/image5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wmf"/><Relationship Id="rId4" Type="http://schemas.openxmlformats.org/officeDocument/2006/relationships/image" Target="../media/image8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87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28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4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70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17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53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45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89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2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3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47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E42D-7D50-4EA2-BB78-BD227C6961CF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811EF-29C2-4303-BA73-5DD9F5D29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72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image" Target="../media/image13.gif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8.emf"/><Relationship Id="rId18" Type="http://schemas.openxmlformats.org/officeDocument/2006/relationships/oleObject" Target="../embeddings/oleObject18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7.emf"/><Relationship Id="rId5" Type="http://schemas.openxmlformats.org/officeDocument/2006/relationships/image" Target="../media/image22.gif"/><Relationship Id="rId15" Type="http://schemas.openxmlformats.org/officeDocument/2006/relationships/image" Target="../media/image19.e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1.wmf"/><Relationship Id="rId4" Type="http://schemas.openxmlformats.org/officeDocument/2006/relationships/image" Target="../media/image14.emf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5.png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2.wmf"/><Relationship Id="rId3" Type="http://schemas.openxmlformats.org/officeDocument/2006/relationships/oleObject" Target="../embeddings/oleObject29.bin"/><Relationship Id="rId7" Type="http://schemas.openxmlformats.org/officeDocument/2006/relationships/image" Target="../media/image98.png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11" Type="http://schemas.openxmlformats.org/officeDocument/2006/relationships/image" Target="../media/image29.wmf"/><Relationship Id="rId5" Type="http://schemas.openxmlformats.org/officeDocument/2006/relationships/oleObject" Target="../embeddings/oleObject30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25.wmf"/><Relationship Id="rId9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0.emf"/><Relationship Id="rId3" Type="http://schemas.openxmlformats.org/officeDocument/2006/relationships/oleObject" Target="../embeddings/oleObject34.bin"/><Relationship Id="rId21" Type="http://schemas.openxmlformats.org/officeDocument/2006/relationships/oleObject" Target="../embeddings/oleObject44.bin"/><Relationship Id="rId7" Type="http://schemas.openxmlformats.org/officeDocument/2006/relationships/image" Target="../media/image35.emf"/><Relationship Id="rId12" Type="http://schemas.openxmlformats.org/officeDocument/2006/relationships/image" Target="../media/image37.e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9.emf"/><Relationship Id="rId20" Type="http://schemas.openxmlformats.org/officeDocument/2006/relationships/image" Target="../media/image41.e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6.bin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3.e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10" Type="http://schemas.openxmlformats.org/officeDocument/2006/relationships/image" Target="../media/image36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8.emf"/><Relationship Id="rId22" Type="http://schemas.openxmlformats.org/officeDocument/2006/relationships/image" Target="../media/image4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1.wmf"/><Relationship Id="rId26" Type="http://schemas.openxmlformats.org/officeDocument/2006/relationships/image" Target="../media/image55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8.emf"/><Relationship Id="rId17" Type="http://schemas.openxmlformats.org/officeDocument/2006/relationships/oleObject" Target="../embeddings/oleObject53.bin"/><Relationship Id="rId25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54.wmf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10" Type="http://schemas.openxmlformats.org/officeDocument/2006/relationships/image" Target="../media/image47.e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49.emf"/><Relationship Id="rId22" Type="http://schemas.openxmlformats.org/officeDocument/2006/relationships/image" Target="../media/image5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40.png"/><Relationship Id="rId3" Type="http://schemas.openxmlformats.org/officeDocument/2006/relationships/oleObject" Target="../embeddings/oleObject58.bin"/><Relationship Id="rId7" Type="http://schemas.openxmlformats.org/officeDocument/2006/relationships/image" Target="../media/image61.emf"/><Relationship Id="rId12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7.wmf"/><Relationship Id="rId11" Type="http://schemas.openxmlformats.org/officeDocument/2006/relationships/image" Target="../media/image59.wmf"/><Relationship Id="rId5" Type="http://schemas.openxmlformats.org/officeDocument/2006/relationships/oleObject" Target="../embeddings/oleObject59.bin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61.bin"/><Relationship Id="rId4" Type="http://schemas.openxmlformats.org/officeDocument/2006/relationships/image" Target="../media/image56.emf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6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23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0.wmf"/><Relationship Id="rId4" Type="http://schemas.openxmlformats.org/officeDocument/2006/relationships/image" Target="../media/image67.emf"/><Relationship Id="rId9" Type="http://schemas.openxmlformats.org/officeDocument/2006/relationships/oleObject" Target="../embeddings/oleObject7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1.emf"/><Relationship Id="rId11" Type="http://schemas.openxmlformats.org/officeDocument/2006/relationships/image" Target="../media/image102.png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101.png"/><Relationship Id="rId4" Type="http://schemas.openxmlformats.org/officeDocument/2006/relationships/image" Target="../media/image67.emf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10" Type="http://schemas.openxmlformats.org/officeDocument/2006/relationships/image" Target="../media/image75.e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7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1.wmf"/><Relationship Id="rId26" Type="http://schemas.openxmlformats.org/officeDocument/2006/relationships/image" Target="../media/image55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8.emf"/><Relationship Id="rId17" Type="http://schemas.openxmlformats.org/officeDocument/2006/relationships/oleObject" Target="../embeddings/oleObject53.bin"/><Relationship Id="rId25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54.wmf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10" Type="http://schemas.openxmlformats.org/officeDocument/2006/relationships/image" Target="../media/image47.e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49.emf"/><Relationship Id="rId22" Type="http://schemas.openxmlformats.org/officeDocument/2006/relationships/image" Target="../media/image5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0.e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6.e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9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8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90.emf"/><Relationship Id="rId4" Type="http://schemas.openxmlformats.org/officeDocument/2006/relationships/image" Target="../media/image87.emf"/><Relationship Id="rId9" Type="http://schemas.openxmlformats.org/officeDocument/2006/relationships/oleObject" Target="../embeddings/oleObject9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5.emf"/><Relationship Id="rId18" Type="http://schemas.openxmlformats.org/officeDocument/2006/relationships/image" Target="../media/image110.emf"/><Relationship Id="rId3" Type="http://schemas.openxmlformats.org/officeDocument/2006/relationships/image" Target="../media/image101.emf"/><Relationship Id="rId21" Type="http://schemas.openxmlformats.org/officeDocument/2006/relationships/image" Target="../media/image113.emf"/><Relationship Id="rId7" Type="http://schemas.openxmlformats.org/officeDocument/2006/relationships/image" Target="../media/image99.wmf"/><Relationship Id="rId12" Type="http://schemas.openxmlformats.org/officeDocument/2006/relationships/image" Target="../media/image104.emf"/><Relationship Id="rId17" Type="http://schemas.openxmlformats.org/officeDocument/2006/relationships/image" Target="../media/image109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8.emf"/><Relationship Id="rId20" Type="http://schemas.openxmlformats.org/officeDocument/2006/relationships/image" Target="../media/image112.e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3.emf"/><Relationship Id="rId24" Type="http://schemas.openxmlformats.org/officeDocument/2006/relationships/image" Target="../media/image116.emf"/><Relationship Id="rId5" Type="http://schemas.openxmlformats.org/officeDocument/2006/relationships/image" Target="../media/image98.wmf"/><Relationship Id="rId15" Type="http://schemas.openxmlformats.org/officeDocument/2006/relationships/image" Target="../media/image107.emf"/><Relationship Id="rId23" Type="http://schemas.openxmlformats.org/officeDocument/2006/relationships/image" Target="../media/image115.emf"/><Relationship Id="rId10" Type="http://schemas.openxmlformats.org/officeDocument/2006/relationships/image" Target="../media/image102.emf"/><Relationship Id="rId19" Type="http://schemas.openxmlformats.org/officeDocument/2006/relationships/image" Target="../media/image111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0.wmf"/><Relationship Id="rId14" Type="http://schemas.openxmlformats.org/officeDocument/2006/relationships/image" Target="../media/image106.emf"/><Relationship Id="rId22" Type="http://schemas.openxmlformats.org/officeDocument/2006/relationships/image" Target="../media/image1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7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8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9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099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73" name="Rectangle 1073"/>
          <p:cNvSpPr>
            <a:spLocks noChangeArrowheads="1"/>
          </p:cNvSpPr>
          <p:nvPr/>
        </p:nvSpPr>
        <p:spPr bwMode="auto">
          <a:xfrm>
            <a:off x="1898650" y="2754313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串联与并联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Series and Parallel Connections</a:t>
            </a:r>
          </a:p>
        </p:txBody>
      </p:sp>
      <p:sp>
        <p:nvSpPr>
          <p:cNvPr id="4101" name="Rectangle 1075"/>
          <p:cNvSpPr>
            <a:spLocks noChangeArrowheads="1"/>
          </p:cNvSpPr>
          <p:nvPr/>
        </p:nvSpPr>
        <p:spPr bwMode="auto">
          <a:xfrm>
            <a:off x="1868488" y="4484688"/>
            <a:ext cx="562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5.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星－三角互换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Wye-Delta Transformation</a:t>
            </a:r>
          </a:p>
        </p:txBody>
      </p:sp>
      <p:sp>
        <p:nvSpPr>
          <p:cNvPr id="4102" name="Rectangle 1076"/>
          <p:cNvSpPr>
            <a:spLocks noChangeArrowheads="1"/>
          </p:cNvSpPr>
          <p:nvPr/>
        </p:nvSpPr>
        <p:spPr bwMode="auto">
          <a:xfrm>
            <a:off x="1892300" y="3908425"/>
            <a:ext cx="2967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4.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电桥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Bridge Circuits</a:t>
            </a:r>
          </a:p>
        </p:txBody>
      </p:sp>
      <p:sp>
        <p:nvSpPr>
          <p:cNvPr id="77877" name="Text Box 1077"/>
          <p:cNvSpPr txBox="1">
            <a:spLocks noChangeArrowheads="1"/>
          </p:cNvSpPr>
          <p:nvPr/>
        </p:nvSpPr>
        <p:spPr bwMode="auto">
          <a:xfrm>
            <a:off x="1187450" y="246063"/>
            <a:ext cx="7239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电阻电路等效变换</a:t>
            </a:r>
          </a:p>
        </p:txBody>
      </p:sp>
      <p:sp>
        <p:nvSpPr>
          <p:cNvPr id="4104" name="Rectangle 1079"/>
          <p:cNvSpPr>
            <a:spLocks noChangeArrowheads="1"/>
          </p:cNvSpPr>
          <p:nvPr/>
        </p:nvSpPr>
        <p:spPr bwMode="auto">
          <a:xfrm>
            <a:off x="1908175" y="5059363"/>
            <a:ext cx="4422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6.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电源变换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  <p:sp>
        <p:nvSpPr>
          <p:cNvPr id="77881" name="Rectangle 1081"/>
          <p:cNvSpPr>
            <a:spLocks noChangeArrowheads="1"/>
          </p:cNvSpPr>
          <p:nvPr/>
        </p:nvSpPr>
        <p:spPr bwMode="auto">
          <a:xfrm>
            <a:off x="1908175" y="2276475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1.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等效变换的概念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Concept of Equivalence</a:t>
            </a:r>
          </a:p>
        </p:txBody>
      </p:sp>
      <p:sp>
        <p:nvSpPr>
          <p:cNvPr id="4106" name="Rectangle 1083"/>
          <p:cNvSpPr>
            <a:spLocks noChangeArrowheads="1"/>
          </p:cNvSpPr>
          <p:nvPr/>
        </p:nvSpPr>
        <p:spPr bwMode="auto">
          <a:xfrm>
            <a:off x="1906588" y="3357563"/>
            <a:ext cx="423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3.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对称电路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Symmetric Circuits</a:t>
            </a:r>
          </a:p>
        </p:txBody>
      </p:sp>
    </p:spTree>
    <p:extLst>
      <p:ext uri="{BB962C8B-B14F-4D97-AF65-F5344CB8AC3E}">
        <p14:creationId xmlns:p14="http://schemas.microsoft.com/office/powerpoint/2010/main" val="91841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5131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2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3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4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3" name="Picture 7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6563" name="Text Box 19"/>
          <p:cNvSpPr txBox="1">
            <a:spLocks noChangeArrowheads="1"/>
          </p:cNvSpPr>
          <p:nvPr/>
        </p:nvSpPr>
        <p:spPr bwMode="auto">
          <a:xfrm>
            <a:off x="755650" y="1773238"/>
            <a:ext cx="1441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目标：</a:t>
            </a:r>
          </a:p>
        </p:txBody>
      </p:sp>
      <p:sp>
        <p:nvSpPr>
          <p:cNvPr id="236564" name="Text Box 20"/>
          <p:cNvSpPr txBox="1">
            <a:spLocks noChangeArrowheads="1"/>
          </p:cNvSpPr>
          <p:nvPr/>
        </p:nvSpPr>
        <p:spPr bwMode="auto">
          <a:xfrm>
            <a:off x="827088" y="5127625"/>
            <a:ext cx="241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讲授学时：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</a:p>
        </p:txBody>
      </p:sp>
      <p:sp>
        <p:nvSpPr>
          <p:cNvPr id="236565" name="Text Box 21"/>
          <p:cNvSpPr txBox="1">
            <a:spLocks noChangeArrowheads="1"/>
          </p:cNvSpPr>
          <p:nvPr/>
        </p:nvSpPr>
        <p:spPr bwMode="auto">
          <a:xfrm>
            <a:off x="779463" y="3357563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难点：</a:t>
            </a:r>
          </a:p>
        </p:txBody>
      </p:sp>
      <p:sp>
        <p:nvSpPr>
          <p:cNvPr id="5128" name="Rectangle 22"/>
          <p:cNvSpPr>
            <a:spLocks noChangeArrowheads="1"/>
          </p:cNvSpPr>
          <p:nvPr/>
        </p:nvSpPr>
        <p:spPr bwMode="auto">
          <a:xfrm>
            <a:off x="1979613" y="3471863"/>
            <a:ext cx="66246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9144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3716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8288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2860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含受控源电路的等效化简。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综合应用多种等效变换方法化简复杂电路。 </a:t>
            </a:r>
          </a:p>
        </p:txBody>
      </p:sp>
      <p:sp>
        <p:nvSpPr>
          <p:cNvPr id="236567" name="Text Box 23"/>
          <p:cNvSpPr txBox="1">
            <a:spLocks noChangeArrowheads="1"/>
          </p:cNvSpPr>
          <p:nvPr/>
        </p:nvSpPr>
        <p:spPr bwMode="auto">
          <a:xfrm>
            <a:off x="4787900" y="5176838"/>
            <a:ext cx="252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讨论学时：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 </a:t>
            </a:r>
          </a:p>
        </p:txBody>
      </p:sp>
      <p:sp>
        <p:nvSpPr>
          <p:cNvPr id="5130" name="Rectangle 25"/>
          <p:cNvSpPr>
            <a:spLocks noChangeArrowheads="1"/>
          </p:cNvSpPr>
          <p:nvPr/>
        </p:nvSpPr>
        <p:spPr bwMode="auto">
          <a:xfrm>
            <a:off x="1042988" y="1916113"/>
            <a:ext cx="74898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9144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3716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8288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2860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熟练应用支路电流分析法分析简单电路。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综合应用各种等效化简方法获得等效电路。 </a:t>
            </a:r>
          </a:p>
        </p:txBody>
      </p:sp>
      <p:sp>
        <p:nvSpPr>
          <p:cNvPr id="15" name="Text Box 1077"/>
          <p:cNvSpPr txBox="1">
            <a:spLocks noChangeArrowheads="1"/>
          </p:cNvSpPr>
          <p:nvPr/>
        </p:nvSpPr>
        <p:spPr bwMode="auto">
          <a:xfrm>
            <a:off x="1187450" y="246063"/>
            <a:ext cx="7239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电阻电路等效变换</a:t>
            </a:r>
          </a:p>
        </p:txBody>
      </p:sp>
    </p:spTree>
    <p:extLst>
      <p:ext uri="{BB962C8B-B14F-4D97-AF65-F5344CB8AC3E}">
        <p14:creationId xmlns:p14="http://schemas.microsoft.com/office/powerpoint/2010/main" val="400047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0328" y="158099"/>
            <a:ext cx="7862887" cy="68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的概念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Concept of Equivalence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650630" y="1718141"/>
            <a:ext cx="1730375" cy="1789113"/>
            <a:chOff x="720" y="3120"/>
            <a:chExt cx="1070" cy="1120"/>
          </a:xfrm>
        </p:grpSpPr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720" y="3120"/>
            <a:ext cx="1048" cy="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Visio" r:id="rId3" imgW="811387" imgH="681514" progId="Visio.Drawing.11">
                    <p:embed/>
                  </p:oleObj>
                </mc:Choice>
                <mc:Fallback>
                  <p:oleObj name="Visio" r:id="rId3" imgW="811387" imgH="681514" progId="Visio.Drawing.11">
                    <p:embed/>
                    <p:pic>
                      <p:nvPicPr>
                        <p:cNvPr id="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20"/>
                          <a:ext cx="1048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960" y="3984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公式" r:id="rId5" imgW="660113" imgH="203112" progId="Equation.3">
                    <p:embed/>
                  </p:oleObj>
                </mc:Choice>
                <mc:Fallback>
                  <p:oleObj name="公式" r:id="rId5" imgW="660113" imgH="203112" progId="Equation.3">
                    <p:embed/>
                    <p:pic>
                      <p:nvPicPr>
                        <p:cNvPr id="1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984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501173" y="1597202"/>
            <a:ext cx="1927225" cy="1828800"/>
            <a:chOff x="3840" y="3072"/>
            <a:chExt cx="1214" cy="1152"/>
          </a:xfrm>
        </p:grpSpPr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3840" y="3072"/>
            <a:ext cx="1097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Visio" r:id="rId7" imgW="899255" imgH="681514" progId="Visio.Drawing.11">
                    <p:embed/>
                  </p:oleObj>
                </mc:Choice>
                <mc:Fallback>
                  <p:oleObj name="Visio" r:id="rId7" imgW="899255" imgH="681514" progId="Visio.Drawing.11">
                    <p:embed/>
                    <p:pic>
                      <p:nvPicPr>
                        <p:cNvPr id="1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072"/>
                          <a:ext cx="1097" cy="8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4224" y="3968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" name="公式" r:id="rId9" imgW="660113" imgH="203112" progId="Equation.3">
                    <p:embed/>
                  </p:oleObj>
                </mc:Choice>
                <mc:Fallback>
                  <p:oleObj name="公式" r:id="rId9" imgW="660113" imgH="203112" progId="Equation.3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968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2902231" y="1994927"/>
            <a:ext cx="3114675" cy="698500"/>
            <a:chOff x="1920" y="3160"/>
            <a:chExt cx="1962" cy="440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20" y="3160"/>
              <a:ext cx="19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ea typeface="隶书" panose="02010509060101010101" pitchFamily="49" charset="-122"/>
                </a:rPr>
                <a:t>Equivalent networks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968" y="3600"/>
              <a:ext cx="18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2286000" y="2747929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 dirty="0">
                <a:solidFill>
                  <a:schemeClr val="hlink"/>
                </a:solidFill>
                <a:ea typeface="隶书" panose="02010509060101010101" pitchFamily="49" charset="-122"/>
              </a:rPr>
              <a:t>u-</a:t>
            </a:r>
            <a:r>
              <a:rPr lang="en-US" altLang="zh-CN" i="1" dirty="0" err="1">
                <a:solidFill>
                  <a:schemeClr val="hlink"/>
                </a:solidFill>
                <a:ea typeface="隶书" panose="02010509060101010101" pitchFamily="49" charset="-122"/>
              </a:rPr>
              <a:t>i</a:t>
            </a:r>
            <a:r>
              <a:rPr lang="en-US" altLang="zh-CN" dirty="0">
                <a:solidFill>
                  <a:schemeClr val="hlink"/>
                </a:solidFill>
                <a:ea typeface="隶书" panose="02010509060101010101" pitchFamily="49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ea typeface="隶书" panose="02010509060101010101" pitchFamily="49" charset="-122"/>
              </a:rPr>
              <a:t>关系相同</a:t>
            </a:r>
          </a:p>
        </p:txBody>
      </p:sp>
      <p:sp>
        <p:nvSpPr>
          <p:cNvPr id="18" name="Text Box 73"/>
          <p:cNvSpPr txBox="1">
            <a:spLocks noChangeArrowheads="1"/>
          </p:cNvSpPr>
          <p:nvPr/>
        </p:nvSpPr>
        <p:spPr bwMode="auto">
          <a:xfrm>
            <a:off x="552451" y="845486"/>
            <a:ext cx="78486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两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一端口网络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，端口具有相同的电压、电流关系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则称它们是等效的电路。</a:t>
            </a:r>
          </a:p>
        </p:txBody>
      </p:sp>
    </p:spTree>
    <p:extLst>
      <p:ext uri="{BB962C8B-B14F-4D97-AF65-F5344CB8AC3E}">
        <p14:creationId xmlns:p14="http://schemas.microsoft.com/office/powerpoint/2010/main" val="7549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串联、并联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87623" y="728570"/>
            <a:ext cx="2908300" cy="39141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电阻串联和并联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378252" y="1931289"/>
            <a:ext cx="1066800" cy="685800"/>
            <a:chOff x="1488" y="720"/>
            <a:chExt cx="672" cy="432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1488" y="960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536" y="7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539552" y="1302639"/>
            <a:ext cx="4800600" cy="1981200"/>
            <a:chOff x="168" y="444"/>
            <a:chExt cx="3024" cy="1248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 rot="5400000">
              <a:off x="90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08" y="14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000" y="13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79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47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168" y="102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 rot="5400000">
              <a:off x="258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 rot="5400000">
              <a:off x="174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0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10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28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1320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94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780" y="780"/>
              <a:ext cx="3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082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518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1704" y="1404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1608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V="1">
              <a:off x="360" y="972"/>
              <a:ext cx="0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3048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auto">
            <a:xfrm>
              <a:off x="484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6502202" y="1169289"/>
            <a:ext cx="2438400" cy="2057400"/>
            <a:chOff x="3924" y="360"/>
            <a:chExt cx="1536" cy="1296"/>
          </a:xfrm>
        </p:grpSpPr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4692" y="13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 rot="-5400000">
              <a:off x="4140" y="13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5268" y="127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 rot="-5400000">
              <a:off x="4731" y="662"/>
              <a:ext cx="120" cy="25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 rot="-5400000">
              <a:off x="401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rot="-5400000">
              <a:off x="4460" y="591"/>
              <a:ext cx="1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rot="5400000" flipV="1">
              <a:off x="5141" y="569"/>
              <a:ext cx="1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4644" y="36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rot="-5400000">
              <a:off x="3972" y="108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40"/>
            <p:cNvSpPr txBox="1">
              <a:spLocks noChangeArrowheads="1"/>
            </p:cNvSpPr>
            <p:nvPr/>
          </p:nvSpPr>
          <p:spPr bwMode="auto">
            <a:xfrm>
              <a:off x="3924" y="98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auto">
            <a:xfrm>
              <a:off x="424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rot="-5400000">
              <a:off x="510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auto">
            <a:xfrm>
              <a:off x="533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" name="Group 4"/>
          <p:cNvGrpSpPr>
            <a:grpSpLocks/>
          </p:cNvGrpSpPr>
          <p:nvPr/>
        </p:nvGrpSpPr>
        <p:grpSpPr bwMode="auto">
          <a:xfrm>
            <a:off x="5705323" y="4427963"/>
            <a:ext cx="990600" cy="762000"/>
            <a:chOff x="3648" y="1008"/>
            <a:chExt cx="624" cy="480"/>
          </a:xfrm>
        </p:grpSpPr>
        <p:sp>
          <p:nvSpPr>
            <p:cNvPr id="47" name="AutoShape 5"/>
            <p:cNvSpPr>
              <a:spLocks noChangeArrowheads="1"/>
            </p:cNvSpPr>
            <p:nvPr/>
          </p:nvSpPr>
          <p:spPr bwMode="auto">
            <a:xfrm>
              <a:off x="3648" y="1200"/>
              <a:ext cx="624" cy="288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grpSp>
        <p:nvGrpSpPr>
          <p:cNvPr id="49" name="Group 15"/>
          <p:cNvGrpSpPr>
            <a:grpSpLocks/>
          </p:cNvGrpSpPr>
          <p:nvPr/>
        </p:nvGrpSpPr>
        <p:grpSpPr bwMode="auto">
          <a:xfrm>
            <a:off x="6772123" y="3480225"/>
            <a:ext cx="1981200" cy="2241550"/>
            <a:chOff x="4272" y="288"/>
            <a:chExt cx="1248" cy="1412"/>
          </a:xfrm>
        </p:grpSpPr>
        <p:sp>
          <p:nvSpPr>
            <p:cNvPr id="50" name="Text Box 16"/>
            <p:cNvSpPr txBox="1">
              <a:spLocks noChangeArrowheads="1"/>
            </p:cNvSpPr>
            <p:nvPr/>
          </p:nvSpPr>
          <p:spPr bwMode="auto">
            <a:xfrm>
              <a:off x="5088" y="100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</a:p>
          </p:txBody>
        </p:sp>
        <p:sp>
          <p:nvSpPr>
            <p:cNvPr id="51" name="Freeform 17"/>
            <p:cNvSpPr>
              <a:spLocks/>
            </p:cNvSpPr>
            <p:nvPr/>
          </p:nvSpPr>
          <p:spPr bwMode="auto">
            <a:xfrm>
              <a:off x="4443" y="705"/>
              <a:ext cx="597" cy="2"/>
            </a:xfrm>
            <a:custGeom>
              <a:avLst/>
              <a:gdLst>
                <a:gd name="T0" fmla="*/ 0 w 597"/>
                <a:gd name="T1" fmla="*/ 0 h 2"/>
                <a:gd name="T2" fmla="*/ 597 w 59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7" h="2">
                  <a:moveTo>
                    <a:pt x="0" y="0"/>
                  </a:moveTo>
                  <a:lnTo>
                    <a:pt x="597" y="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8"/>
            <p:cNvSpPr>
              <a:spLocks/>
            </p:cNvSpPr>
            <p:nvPr/>
          </p:nvSpPr>
          <p:spPr bwMode="auto">
            <a:xfrm>
              <a:off x="4479" y="1667"/>
              <a:ext cx="561" cy="1"/>
            </a:xfrm>
            <a:custGeom>
              <a:avLst/>
              <a:gdLst>
                <a:gd name="T0" fmla="*/ 0 w 561"/>
                <a:gd name="T1" fmla="*/ 1 h 1"/>
                <a:gd name="T2" fmla="*/ 561 w 56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1" h="1">
                  <a:moveTo>
                    <a:pt x="0" y="1"/>
                  </a:moveTo>
                  <a:lnTo>
                    <a:pt x="56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9"/>
            <p:cNvSpPr>
              <a:spLocks/>
            </p:cNvSpPr>
            <p:nvPr/>
          </p:nvSpPr>
          <p:spPr bwMode="auto">
            <a:xfrm>
              <a:off x="5040" y="702"/>
              <a:ext cx="3" cy="966"/>
            </a:xfrm>
            <a:custGeom>
              <a:avLst/>
              <a:gdLst>
                <a:gd name="T0" fmla="*/ 0 w 3"/>
                <a:gd name="T1" fmla="*/ 0 h 966"/>
                <a:gd name="T2" fmla="*/ 3 w 3"/>
                <a:gd name="T3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966">
                  <a:moveTo>
                    <a:pt x="0" y="0"/>
                  </a:moveTo>
                  <a:lnTo>
                    <a:pt x="3" y="96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4416" y="6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21"/>
            <p:cNvSpPr txBox="1">
              <a:spLocks noChangeArrowheads="1"/>
            </p:cNvSpPr>
            <p:nvPr/>
          </p:nvSpPr>
          <p:spPr bwMode="auto">
            <a:xfrm>
              <a:off x="4272" y="7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4272" y="105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23"/>
            <p:cNvSpPr txBox="1">
              <a:spLocks noChangeArrowheads="1"/>
            </p:cNvSpPr>
            <p:nvPr/>
          </p:nvSpPr>
          <p:spPr bwMode="auto">
            <a:xfrm>
              <a:off x="4320" y="129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>
              <a:off x="4464" y="28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9" name="Rectangle 25"/>
            <p:cNvSpPr>
              <a:spLocks noChangeArrowheads="1"/>
            </p:cNvSpPr>
            <p:nvPr/>
          </p:nvSpPr>
          <p:spPr bwMode="auto">
            <a:xfrm>
              <a:off x="4980" y="100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Oval 26"/>
            <p:cNvSpPr>
              <a:spLocks noChangeArrowheads="1"/>
            </p:cNvSpPr>
            <p:nvPr/>
          </p:nvSpPr>
          <p:spPr bwMode="auto">
            <a:xfrm>
              <a:off x="4416" y="163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Oval 27"/>
            <p:cNvSpPr>
              <a:spLocks noChangeArrowheads="1"/>
            </p:cNvSpPr>
            <p:nvPr/>
          </p:nvSpPr>
          <p:spPr bwMode="auto">
            <a:xfrm>
              <a:off x="4368" y="67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" name="Group 29"/>
          <p:cNvGrpSpPr>
            <a:grpSpLocks/>
          </p:cNvGrpSpPr>
          <p:nvPr/>
        </p:nvGrpSpPr>
        <p:grpSpPr bwMode="auto">
          <a:xfrm>
            <a:off x="653898" y="3570713"/>
            <a:ext cx="5060950" cy="2187575"/>
            <a:chOff x="1072" y="576"/>
            <a:chExt cx="3188" cy="1378"/>
          </a:xfrm>
        </p:grpSpPr>
        <p:sp>
          <p:nvSpPr>
            <p:cNvPr id="63" name="Text Box 30"/>
            <p:cNvSpPr txBox="1">
              <a:spLocks noChangeArrowheads="1"/>
            </p:cNvSpPr>
            <p:nvPr/>
          </p:nvSpPr>
          <p:spPr bwMode="auto">
            <a:xfrm>
              <a:off x="3936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64" name="Line 31"/>
            <p:cNvSpPr>
              <a:spLocks noChangeShapeType="1"/>
            </p:cNvSpPr>
            <p:nvPr/>
          </p:nvSpPr>
          <p:spPr bwMode="auto">
            <a:xfrm>
              <a:off x="1296" y="96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32"/>
            <p:cNvSpPr>
              <a:spLocks noChangeShapeType="1"/>
            </p:cNvSpPr>
            <p:nvPr/>
          </p:nvSpPr>
          <p:spPr bwMode="auto">
            <a:xfrm rot="-5400000">
              <a:off x="135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33"/>
            <p:cNvSpPr>
              <a:spLocks noChangeShapeType="1"/>
            </p:cNvSpPr>
            <p:nvPr/>
          </p:nvSpPr>
          <p:spPr bwMode="auto">
            <a:xfrm rot="-5400000">
              <a:off x="1790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4"/>
            <p:cNvSpPr>
              <a:spLocks noChangeShapeType="1"/>
            </p:cNvSpPr>
            <p:nvPr/>
          </p:nvSpPr>
          <p:spPr bwMode="auto">
            <a:xfrm>
              <a:off x="1296" y="192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5"/>
            <p:cNvSpPr>
              <a:spLocks noChangeShapeType="1"/>
            </p:cNvSpPr>
            <p:nvPr/>
          </p:nvSpPr>
          <p:spPr bwMode="auto">
            <a:xfrm>
              <a:off x="2400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6"/>
            <p:cNvSpPr>
              <a:spLocks noChangeShapeType="1"/>
            </p:cNvSpPr>
            <p:nvPr/>
          </p:nvSpPr>
          <p:spPr bwMode="auto">
            <a:xfrm>
              <a:off x="2414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37"/>
            <p:cNvSpPr>
              <a:spLocks noChangeShapeType="1"/>
            </p:cNvSpPr>
            <p:nvPr/>
          </p:nvSpPr>
          <p:spPr bwMode="auto">
            <a:xfrm>
              <a:off x="2798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38"/>
            <p:cNvSpPr>
              <a:spLocks noChangeShapeType="1"/>
            </p:cNvSpPr>
            <p:nvPr/>
          </p:nvSpPr>
          <p:spPr bwMode="auto">
            <a:xfrm rot="-5400000">
              <a:off x="2506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39"/>
            <p:cNvSpPr>
              <a:spLocks noChangeShapeType="1"/>
            </p:cNvSpPr>
            <p:nvPr/>
          </p:nvSpPr>
          <p:spPr bwMode="auto">
            <a:xfrm>
              <a:off x="2798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40"/>
            <p:cNvSpPr>
              <a:spLocks noChangeShapeType="1"/>
            </p:cNvSpPr>
            <p:nvPr/>
          </p:nvSpPr>
          <p:spPr bwMode="auto">
            <a:xfrm>
              <a:off x="3134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41"/>
            <p:cNvSpPr>
              <a:spLocks noChangeShapeType="1"/>
            </p:cNvSpPr>
            <p:nvPr/>
          </p:nvSpPr>
          <p:spPr bwMode="auto">
            <a:xfrm>
              <a:off x="3182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42"/>
            <p:cNvSpPr>
              <a:spLocks noChangeShapeType="1"/>
            </p:cNvSpPr>
            <p:nvPr/>
          </p:nvSpPr>
          <p:spPr bwMode="auto">
            <a:xfrm>
              <a:off x="3518" y="96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43"/>
            <p:cNvSpPr>
              <a:spLocks noChangeShapeType="1"/>
            </p:cNvSpPr>
            <p:nvPr/>
          </p:nvSpPr>
          <p:spPr bwMode="auto">
            <a:xfrm>
              <a:off x="3518" y="19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44"/>
            <p:cNvSpPr>
              <a:spLocks noChangeShapeType="1"/>
            </p:cNvSpPr>
            <p:nvPr/>
          </p:nvSpPr>
          <p:spPr bwMode="auto">
            <a:xfrm rot="-5400000">
              <a:off x="337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Rectangle 45"/>
            <p:cNvSpPr>
              <a:spLocks noChangeArrowheads="1"/>
            </p:cNvSpPr>
            <p:nvPr/>
          </p:nvSpPr>
          <p:spPr bwMode="auto">
            <a:xfrm>
              <a:off x="1471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46"/>
            <p:cNvSpPr>
              <a:spLocks noChangeArrowheads="1"/>
            </p:cNvSpPr>
            <p:nvPr/>
          </p:nvSpPr>
          <p:spPr bwMode="auto">
            <a:xfrm>
              <a:off x="1910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47"/>
            <p:cNvSpPr>
              <a:spLocks noChangeArrowheads="1"/>
            </p:cNvSpPr>
            <p:nvPr/>
          </p:nvSpPr>
          <p:spPr bwMode="auto">
            <a:xfrm>
              <a:off x="2629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81" name="Rectangle 48"/>
            <p:cNvSpPr>
              <a:spLocks noChangeArrowheads="1"/>
            </p:cNvSpPr>
            <p:nvPr/>
          </p:nvSpPr>
          <p:spPr bwMode="auto">
            <a:xfrm>
              <a:off x="3504" y="1248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2" name="Line 49"/>
            <p:cNvSpPr>
              <a:spLocks noChangeShapeType="1"/>
            </p:cNvSpPr>
            <p:nvPr/>
          </p:nvSpPr>
          <p:spPr bwMode="auto">
            <a:xfrm>
              <a:off x="1296" y="87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50"/>
            <p:cNvSpPr txBox="1">
              <a:spLocks noChangeArrowheads="1"/>
            </p:cNvSpPr>
            <p:nvPr/>
          </p:nvSpPr>
          <p:spPr bwMode="auto">
            <a:xfrm>
              <a:off x="1366" y="576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4" name="Rectangle 51"/>
            <p:cNvSpPr>
              <a:spLocks noChangeArrowheads="1"/>
            </p:cNvSpPr>
            <p:nvPr/>
          </p:nvSpPr>
          <p:spPr bwMode="auto">
            <a:xfrm>
              <a:off x="1104" y="9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sym typeface="CommonBullets" pitchFamily="34" charset="2"/>
              </a:endParaRPr>
            </a:p>
          </p:txBody>
        </p:sp>
        <p:sp>
          <p:nvSpPr>
            <p:cNvPr id="85" name="Text Box 52"/>
            <p:cNvSpPr txBox="1">
              <a:spLocks noChangeArrowheads="1"/>
            </p:cNvSpPr>
            <p:nvPr/>
          </p:nvSpPr>
          <p:spPr bwMode="auto">
            <a:xfrm>
              <a:off x="1072" y="132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86" name="Rectangle 53"/>
            <p:cNvSpPr>
              <a:spLocks noChangeArrowheads="1"/>
            </p:cNvSpPr>
            <p:nvPr/>
          </p:nvSpPr>
          <p:spPr bwMode="auto">
            <a:xfrm>
              <a:off x="220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Rectangle 54"/>
            <p:cNvSpPr>
              <a:spLocks noChangeArrowheads="1"/>
            </p:cNvSpPr>
            <p:nvPr/>
          </p:nvSpPr>
          <p:spPr bwMode="auto">
            <a:xfrm>
              <a:off x="1778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Rectangle 55"/>
            <p:cNvSpPr>
              <a:spLocks noChangeArrowheads="1"/>
            </p:cNvSpPr>
            <p:nvPr/>
          </p:nvSpPr>
          <p:spPr bwMode="auto">
            <a:xfrm>
              <a:off x="292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Rectangle 56"/>
            <p:cNvSpPr>
              <a:spLocks noChangeArrowheads="1"/>
            </p:cNvSpPr>
            <p:nvPr/>
          </p:nvSpPr>
          <p:spPr bwMode="auto">
            <a:xfrm>
              <a:off x="3794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57"/>
            <p:cNvSpPr>
              <a:spLocks noChangeShapeType="1"/>
            </p:cNvSpPr>
            <p:nvPr/>
          </p:nvSpPr>
          <p:spPr bwMode="auto">
            <a:xfrm>
              <a:off x="1920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58"/>
            <p:cNvSpPr txBox="1">
              <a:spLocks noChangeArrowheads="1"/>
            </p:cNvSpPr>
            <p:nvPr/>
          </p:nvSpPr>
          <p:spPr bwMode="auto">
            <a:xfrm>
              <a:off x="19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2" name="Text Box 59"/>
            <p:cNvSpPr txBox="1">
              <a:spLocks noChangeArrowheads="1"/>
            </p:cNvSpPr>
            <p:nvPr/>
          </p:nvSpPr>
          <p:spPr bwMode="auto">
            <a:xfrm>
              <a:off x="2352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3" name="Text Box 60"/>
            <p:cNvSpPr txBox="1">
              <a:spLocks noChangeArrowheads="1"/>
            </p:cNvSpPr>
            <p:nvPr/>
          </p:nvSpPr>
          <p:spPr bwMode="auto">
            <a:xfrm>
              <a:off x="31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4" name="Text Box 61"/>
            <p:cNvSpPr txBox="1">
              <a:spLocks noChangeArrowheads="1"/>
            </p:cNvSpPr>
            <p:nvPr/>
          </p:nvSpPr>
          <p:spPr bwMode="auto">
            <a:xfrm>
              <a:off x="1108" y="161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95" name="Line 62"/>
            <p:cNvSpPr>
              <a:spLocks noChangeShapeType="1"/>
            </p:cNvSpPr>
            <p:nvPr/>
          </p:nvSpPr>
          <p:spPr bwMode="auto">
            <a:xfrm>
              <a:off x="235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63"/>
            <p:cNvSpPr>
              <a:spLocks noChangeShapeType="1"/>
            </p:cNvSpPr>
            <p:nvPr/>
          </p:nvSpPr>
          <p:spPr bwMode="auto">
            <a:xfrm>
              <a:off x="307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64"/>
            <p:cNvSpPr>
              <a:spLocks noChangeShapeType="1"/>
            </p:cNvSpPr>
            <p:nvPr/>
          </p:nvSpPr>
          <p:spPr bwMode="auto">
            <a:xfrm>
              <a:off x="3936" y="960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Oval 65"/>
            <p:cNvSpPr>
              <a:spLocks noChangeArrowheads="1"/>
            </p:cNvSpPr>
            <p:nvPr/>
          </p:nvSpPr>
          <p:spPr bwMode="auto">
            <a:xfrm>
              <a:off x="1234" y="188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Oval 66"/>
            <p:cNvSpPr>
              <a:spLocks noChangeArrowheads="1"/>
            </p:cNvSpPr>
            <p:nvPr/>
          </p:nvSpPr>
          <p:spPr bwMode="auto">
            <a:xfrm>
              <a:off x="1234" y="92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628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46069" y="819235"/>
            <a:ext cx="2605001" cy="40650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理想电压源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串联、并联</a:t>
            </a:r>
            <a:endParaRPr lang="zh-CN" altLang="en-US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/>
          </p:nvPr>
        </p:nvGraphicFramePr>
        <p:xfrm>
          <a:off x="611560" y="1268760"/>
          <a:ext cx="1585913" cy="227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Visio" r:id="rId3" imgW="822103" imgH="1167574" progId="Visio.Drawing.11">
                  <p:embed/>
                </p:oleObj>
              </mc:Choice>
              <mc:Fallback>
                <p:oleObj name="Visio" r:id="rId3" imgW="822103" imgH="1167574" progId="Visio.Drawing.11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268760"/>
                        <a:ext cx="1585913" cy="227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/>
          </p:nvPr>
        </p:nvGraphicFramePr>
        <p:xfrm>
          <a:off x="3108699" y="1679844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699" y="1679844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42080" y="2187433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/>
          </p:nvPr>
        </p:nvGraphicFramePr>
        <p:xfrm>
          <a:off x="273659" y="4128990"/>
          <a:ext cx="2357438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Visio" r:id="rId7" imgW="1200281" imgH="866879" progId="Visio.Drawing.11">
                  <p:embed/>
                </p:oleObj>
              </mc:Choice>
              <mc:Fallback>
                <p:oleObj name="Visio" r:id="rId7" imgW="1200281" imgH="866879" progId="Visio.Drawing.11">
                  <p:embed/>
                  <p:pic>
                    <p:nvPicPr>
                      <p:cNvPr id="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59" y="4128990"/>
                        <a:ext cx="2357438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/>
          </p:nvPr>
        </p:nvGraphicFramePr>
        <p:xfrm>
          <a:off x="7314222" y="4221189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222" y="4221189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>
            <p:extLst/>
          </p:nvPr>
        </p:nvGraphicFramePr>
        <p:xfrm>
          <a:off x="2478697" y="4128990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Visio" r:id="rId9" imgW="1252533" imgH="866879" progId="Visio.Drawing.11">
                  <p:embed/>
                </p:oleObj>
              </mc:Choice>
              <mc:Fallback>
                <p:oleObj name="Visio" r:id="rId9" imgW="1252533" imgH="866879" progId="Visio.Drawing.11">
                  <p:embed/>
                  <p:pic>
                    <p:nvPicPr>
                      <p:cNvPr id="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697" y="4128990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>
            <p:extLst/>
          </p:nvPr>
        </p:nvGraphicFramePr>
        <p:xfrm>
          <a:off x="4995895" y="4410970"/>
          <a:ext cx="158432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Visio" r:id="rId11" imgW="828532" imgH="692658" progId="Visio.Drawing.11">
                  <p:embed/>
                </p:oleObj>
              </mc:Choice>
              <mc:Fallback>
                <p:oleObj name="Visio" r:id="rId11" imgW="828532" imgH="692658" progId="Visio.Drawing.11">
                  <p:embed/>
                  <p:pic>
                    <p:nvPicPr>
                      <p:cNvPr id="1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95" y="4410970"/>
                        <a:ext cx="158432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531271" y="47479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/>
          </p:nvPr>
        </p:nvGraphicFramePr>
        <p:xfrm>
          <a:off x="5527990" y="1213225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Visio" r:id="rId13" imgW="1261443" imgH="872252" progId="Visio.Drawing.11">
                  <p:embed/>
                </p:oleObj>
              </mc:Choice>
              <mc:Fallback>
                <p:oleObj name="Visio" r:id="rId13" imgW="1261443" imgH="872252" progId="Visio.Drawing.11">
                  <p:embed/>
                  <p:pic>
                    <p:nvPicPr>
                      <p:cNvPr id="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990" y="1213225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42" descr="éé¦é¿èèå¤´ä¼¸ææç»GIFå¨æè¡¨æï¼ä¸è¡ ï¼ç»å¯¹ä¸è¡"/>
          <p:cNvPicPr>
            <a:picLocks noChangeAspect="1" noChangeArrowheads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234" y="2327324"/>
            <a:ext cx="1372790" cy="137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18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5041" y="376060"/>
            <a:ext cx="3019351" cy="700560"/>
          </a:xfrm>
        </p:spPr>
        <p:txBody>
          <a:bodyPr/>
          <a:lstStyle/>
          <a:p>
            <a:r>
              <a:rPr lang="zh-CN" altLang="en-US" dirty="0" smtClean="0"/>
              <a:t>理想电流源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/>
          </p:nvPr>
        </p:nvGraphicFramePr>
        <p:xfrm>
          <a:off x="6837576" y="824136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Visio" r:id="rId3" imgW="796814" imgH="1142286" progId="Visio.Drawing.11">
                  <p:embed/>
                </p:oleObj>
              </mc:Choice>
              <mc:Fallback>
                <p:oleObj name="Visio" r:id="rId3" imgW="796814" imgH="1142286" progId="Visio.Drawing.11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576" y="824136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55" descr="http://ws2.sinaimg.cn/large/9150e4e5ly1flf5cbcpxzg206o06ot8n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839" y="188640"/>
            <a:ext cx="1325959" cy="132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2"/>
          <p:cNvGraphicFramePr>
            <a:graphicFrameLocks noChangeAspect="1"/>
          </p:cNvGraphicFramePr>
          <p:nvPr>
            <p:extLst/>
          </p:nvPr>
        </p:nvGraphicFramePr>
        <p:xfrm>
          <a:off x="2362862" y="3814412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Visio" r:id="rId6" imgW="790678" imgH="1133339" progId="Visio.Drawing.11">
                  <p:embed/>
                </p:oleObj>
              </mc:Choice>
              <mc:Fallback>
                <p:oleObj name="Visio" r:id="rId6" imgW="790678" imgH="1133339" progId="Visio.Drawing.11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862" y="3814412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/>
          </p:nvPr>
        </p:nvGraphicFramePr>
        <p:xfrm>
          <a:off x="562662" y="3781827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Visio" r:id="rId8" imgW="762150" imgH="1133339" progId="Visio.Drawing.11">
                  <p:embed/>
                </p:oleObj>
              </mc:Choice>
              <mc:Fallback>
                <p:oleObj name="Visio" r:id="rId8" imgW="762150" imgH="1133339" progId="Visio.Drawing.11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62" y="3781827"/>
                        <a:ext cx="14843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/>
          </p:nvPr>
        </p:nvGraphicFramePr>
        <p:xfrm>
          <a:off x="4811134" y="1150116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Visio" r:id="rId10" imgW="771525" imgH="1142286" progId="Visio.Drawing.11">
                  <p:embed/>
                </p:oleObj>
              </mc:Choice>
              <mc:Fallback>
                <p:oleObj name="Visio" r:id="rId10" imgW="771525" imgH="1142286" progId="Visio.Drawing.11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134" y="1150116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790662" y="2064516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/>
          </p:nvPr>
        </p:nvGraphicFramePr>
        <p:xfrm>
          <a:off x="399918" y="1294579"/>
          <a:ext cx="3335338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Visio" r:id="rId12" imgW="1696926" imgH="872252" progId="Visio.Drawing.11">
                  <p:embed/>
                </p:oleObj>
              </mc:Choice>
              <mc:Fallback>
                <p:oleObj name="Visio" r:id="rId12" imgW="1696926" imgH="872252" progId="Visio.Drawing.11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18" y="1294579"/>
                        <a:ext cx="3335338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/>
          </p:nvPr>
        </p:nvGraphicFramePr>
        <p:xfrm>
          <a:off x="4190148" y="3960991"/>
          <a:ext cx="1989138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Visio" r:id="rId14" imgW="1057341" imgH="1276295" progId="Visio.Drawing.11">
                  <p:embed/>
                </p:oleObj>
              </mc:Choice>
              <mc:Fallback>
                <p:oleObj name="Visio" r:id="rId14" imgW="1057341" imgH="1276295" progId="Visio.Drawing.11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148" y="3960991"/>
                        <a:ext cx="1989138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/>
          </p:nvPr>
        </p:nvGraphicFramePr>
        <p:xfrm>
          <a:off x="7163461" y="4022903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Visio" r:id="rId16" imgW="762150" imgH="1133339" progId="Visio.Drawing.11">
                  <p:embed/>
                </p:oleObj>
              </mc:Choice>
              <mc:Fallback>
                <p:oleObj name="Visio" r:id="rId16" imgW="762150" imgH="1133339" progId="Visio.Drawing.11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3461" y="4022903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6287017" y="4843145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>
            <p:extLst/>
          </p:nvPr>
        </p:nvGraphicFramePr>
        <p:xfrm>
          <a:off x="5347731" y="6052097"/>
          <a:ext cx="74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Equation" r:id="rId18" imgW="317160" imgH="228600" progId="Equation.DSMT4">
                  <p:embed/>
                </p:oleObj>
              </mc:Choice>
              <mc:Fallback>
                <p:oleObj name="Equation" r:id="rId18" imgW="317160" imgH="228600" progId="Equation.DSMT4">
                  <p:embed/>
                  <p:pic>
                    <p:nvPicPr>
                      <p:cNvPr id="1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31" y="6052097"/>
                        <a:ext cx="742950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77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07334"/>
            <a:ext cx="7051747" cy="67258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对称电路</a:t>
            </a:r>
            <a:r>
              <a:rPr lang="en-US" altLang="zh-CN" dirty="0" smtClean="0"/>
              <a:t>-</a:t>
            </a:r>
            <a:r>
              <a:rPr lang="zh-CN" altLang="en-US" dirty="0" smtClean="0"/>
              <a:t>对称面通过端口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67544" y="980728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3</a:t>
              </a:r>
              <a:endParaRPr lang="zh-CN" altLang="zh-CN" b="1" dirty="0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3059689" y="906908"/>
            <a:ext cx="4762" cy="250984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/>
          <p:cNvGrpSpPr/>
          <p:nvPr/>
        </p:nvGrpSpPr>
        <p:grpSpPr>
          <a:xfrm>
            <a:off x="134947" y="4075483"/>
            <a:ext cx="3368808" cy="2381918"/>
            <a:chOff x="2991389" y="4223532"/>
            <a:chExt cx="3368808" cy="2381918"/>
          </a:xfrm>
        </p:grpSpPr>
        <p:grpSp>
          <p:nvGrpSpPr>
            <p:cNvPr id="42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4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6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67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68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69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70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71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72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73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smtClean="0"/>
                <a:t>i</a:t>
              </a:r>
              <a:r>
                <a:rPr lang="en-US" altLang="zh-CN" b="1" baseline="-25000" dirty="0" smtClean="0"/>
                <a:t>5</a:t>
              </a:r>
              <a:r>
                <a:rPr lang="en-US" altLang="zh-CN" b="1" dirty="0" smtClean="0"/>
                <a:t>=0</a:t>
              </a:r>
              <a:endParaRPr lang="zh-CN" altLang="zh-CN" b="1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447959" y="4068638"/>
            <a:ext cx="3368808" cy="2381918"/>
            <a:chOff x="2991389" y="4223532"/>
            <a:chExt cx="3368808" cy="2381918"/>
          </a:xfrm>
        </p:grpSpPr>
        <p:grpSp>
          <p:nvGrpSpPr>
            <p:cNvPr id="75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77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8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9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0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3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4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5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99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00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01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02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03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04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05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76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 smtClean="0"/>
                <a:t>U</a:t>
              </a:r>
              <a:r>
                <a:rPr lang="en-US" altLang="zh-CN" b="1" baseline="-25000" dirty="0" err="1" smtClean="0"/>
                <a:t>cd</a:t>
              </a:r>
              <a:r>
                <a:rPr lang="en-US" altLang="zh-CN" b="1" dirty="0" smtClean="0"/>
                <a:t>=0</a:t>
              </a:r>
              <a:endParaRPr lang="zh-CN" altLang="zh-CN" b="1" dirty="0"/>
            </a:p>
          </p:txBody>
        </p:sp>
      </p:grpSp>
      <p:grpSp>
        <p:nvGrpSpPr>
          <p:cNvPr id="106" name="Group 34"/>
          <p:cNvGrpSpPr>
            <a:grpSpLocks/>
          </p:cNvGrpSpPr>
          <p:nvPr/>
        </p:nvGrpSpPr>
        <p:grpSpPr bwMode="auto">
          <a:xfrm>
            <a:off x="6883075" y="4063999"/>
            <a:ext cx="2138053" cy="2381918"/>
            <a:chOff x="342" y="32"/>
            <a:chExt cx="1322" cy="1392"/>
          </a:xfrm>
        </p:grpSpPr>
        <p:sp>
          <p:nvSpPr>
            <p:cNvPr id="107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8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9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50"/>
            <p:cNvSpPr>
              <a:spLocks noChangeShapeType="1"/>
            </p:cNvSpPr>
            <p:nvPr/>
          </p:nvSpPr>
          <p:spPr bwMode="auto">
            <a:xfrm flipV="1">
              <a:off x="622" y="196"/>
              <a:ext cx="1013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51"/>
            <p:cNvSpPr>
              <a:spLocks noChangeShapeType="1"/>
            </p:cNvSpPr>
            <p:nvPr/>
          </p:nvSpPr>
          <p:spPr bwMode="auto">
            <a:xfrm>
              <a:off x="626" y="1251"/>
              <a:ext cx="1003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8" name="Oval 56"/>
            <p:cNvSpPr>
              <a:spLocks noChangeAspect="1" noChangeArrowheads="1"/>
            </p:cNvSpPr>
            <p:nvPr/>
          </p:nvSpPr>
          <p:spPr bwMode="auto">
            <a:xfrm>
              <a:off x="537" y="18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" name="Oval 57"/>
            <p:cNvSpPr>
              <a:spLocks noChangeAspect="1" noChangeArrowheads="1"/>
            </p:cNvSpPr>
            <p:nvPr/>
          </p:nvSpPr>
          <p:spPr bwMode="auto">
            <a:xfrm>
              <a:off x="519" y="1254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350" y="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121" name="Text Box 59"/>
            <p:cNvSpPr txBox="1">
              <a:spLocks noChangeArrowheads="1"/>
            </p:cNvSpPr>
            <p:nvPr/>
          </p:nvSpPr>
          <p:spPr bwMode="auto">
            <a:xfrm>
              <a:off x="704" y="554"/>
              <a:ext cx="341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 smtClean="0"/>
                <a:t>c d</a:t>
              </a:r>
              <a:endParaRPr lang="zh-CN" altLang="zh-CN" sz="2400" dirty="0"/>
            </a:p>
          </p:txBody>
        </p:sp>
        <p:sp>
          <p:nvSpPr>
            <p:cNvPr id="122" name="Text Box 61"/>
            <p:cNvSpPr txBox="1">
              <a:spLocks noChangeArrowheads="1"/>
            </p:cNvSpPr>
            <p:nvPr/>
          </p:nvSpPr>
          <p:spPr bwMode="auto">
            <a:xfrm>
              <a:off x="835" y="222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smtClean="0"/>
                <a:t>0.5</a:t>
              </a:r>
              <a:r>
                <a:rPr lang="zh-CN" altLang="zh-CN" b="1" dirty="0" smtClean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790" y="917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smtClean="0"/>
                <a:t>0.5</a:t>
              </a:r>
              <a:r>
                <a:rPr lang="zh-CN" altLang="zh-CN" b="1" dirty="0" smtClean="0"/>
                <a:t>R</a:t>
              </a:r>
              <a:r>
                <a:rPr lang="zh-CN" altLang="zh-CN" b="1" baseline="-25000" dirty="0"/>
                <a:t>4</a:t>
              </a:r>
              <a:endParaRPr lang="zh-CN" altLang="zh-CN" b="1" dirty="0"/>
            </a:p>
          </p:txBody>
        </p:sp>
        <p:sp>
          <p:nvSpPr>
            <p:cNvPr id="124" name="Text Box 66"/>
            <p:cNvSpPr txBox="1">
              <a:spLocks noChangeArrowheads="1"/>
            </p:cNvSpPr>
            <p:nvPr/>
          </p:nvSpPr>
          <p:spPr bwMode="auto">
            <a:xfrm>
              <a:off x="342" y="11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aphicFrame>
        <p:nvGraphicFramePr>
          <p:cNvPr id="125" name="Object 7"/>
          <p:cNvGraphicFramePr>
            <a:graphicFrameLocks noChangeAspect="1"/>
          </p:cNvGraphicFramePr>
          <p:nvPr>
            <p:extLst/>
          </p:nvPr>
        </p:nvGraphicFramePr>
        <p:xfrm>
          <a:off x="5379269" y="846937"/>
          <a:ext cx="30956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Visio" r:id="rId3" imgW="2165842" imgH="1969960" progId="Visio.Drawing.11">
                  <p:embed/>
                </p:oleObj>
              </mc:Choice>
              <mc:Fallback>
                <p:oleObj name="Visio" r:id="rId3" imgW="2165842" imgH="1969960" progId="Visio.Drawing.11">
                  <p:embed/>
                  <p:pic>
                    <p:nvPicPr>
                      <p:cNvPr id="1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269" y="846937"/>
                        <a:ext cx="30956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6" name="直接连接符 125"/>
          <p:cNvCxnSpPr>
            <a:stCxn id="125" idx="0"/>
          </p:cNvCxnSpPr>
          <p:nvPr/>
        </p:nvCxnSpPr>
        <p:spPr bwMode="auto">
          <a:xfrm>
            <a:off x="6927081" y="846937"/>
            <a:ext cx="6436" cy="2842861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文本框 127"/>
          <p:cNvSpPr txBox="1"/>
          <p:nvPr/>
        </p:nvSpPr>
        <p:spPr>
          <a:xfrm>
            <a:off x="868301" y="3430631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对称面两侧</a:t>
            </a:r>
            <a:r>
              <a:rPr lang="zh-CN" altLang="en-US" b="1" dirty="0" smtClean="0"/>
              <a:t>对称结点</a:t>
            </a:r>
            <a:r>
              <a:rPr lang="zh-CN" altLang="en-US" dirty="0" smtClean="0"/>
              <a:t>为等电位点。</a:t>
            </a:r>
            <a:endParaRPr lang="en-US" altLang="zh-CN" dirty="0" smtClean="0"/>
          </a:p>
          <a:p>
            <a:r>
              <a:rPr lang="zh-CN" altLang="en-US" b="1" dirty="0" smtClean="0"/>
              <a:t>垂直</a:t>
            </a:r>
            <a:r>
              <a:rPr lang="zh-CN" altLang="en-US" dirty="0" smtClean="0"/>
              <a:t>通过对称面</a:t>
            </a:r>
            <a:r>
              <a:rPr lang="zh-CN" altLang="en-US" b="1" dirty="0" smtClean="0"/>
              <a:t>支路的电流</a:t>
            </a:r>
            <a:r>
              <a:rPr lang="zh-CN" altLang="en-US" dirty="0" smtClean="0"/>
              <a:t>为零。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18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22423"/>
            <a:ext cx="7886700" cy="66254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对称电路</a:t>
            </a:r>
            <a:r>
              <a:rPr lang="en-US" altLang="zh-CN" dirty="0"/>
              <a:t>-</a:t>
            </a:r>
            <a:r>
              <a:rPr lang="zh-CN" altLang="en-US" dirty="0" smtClean="0"/>
              <a:t>对称面</a:t>
            </a:r>
            <a:r>
              <a:rPr lang="zh-CN" altLang="en-US" dirty="0"/>
              <a:t>垂直</a:t>
            </a:r>
            <a:r>
              <a:rPr lang="zh-CN" altLang="en-US" dirty="0" smtClean="0"/>
              <a:t>端口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0" y="1037388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1584325" y="2186738"/>
            <a:ext cx="2932207" cy="11113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1" name="Object 3"/>
          <p:cNvGraphicFramePr>
            <a:graphicFrameLocks noChangeAspect="1"/>
          </p:cNvGraphicFramePr>
          <p:nvPr>
            <p:extLst/>
          </p:nvPr>
        </p:nvGraphicFramePr>
        <p:xfrm>
          <a:off x="515938" y="1766051"/>
          <a:ext cx="1068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公式" r:id="rId3" imgW="533160" imgH="241200" progId="Equation.3">
                  <p:embed/>
                </p:oleObj>
              </mc:Choice>
              <mc:Fallback>
                <p:oleObj name="公式" r:id="rId3" imgW="533160" imgH="241200" progId="Equation.3">
                  <p:embed/>
                  <p:pic>
                    <p:nvPicPr>
                      <p:cNvPr id="4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766051"/>
                        <a:ext cx="1068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/>
          <p:nvPr/>
        </p:nvGrpSpPr>
        <p:grpSpPr>
          <a:xfrm>
            <a:off x="3140845" y="3945336"/>
            <a:ext cx="3368808" cy="2381918"/>
            <a:chOff x="2991389" y="4223532"/>
            <a:chExt cx="3368808" cy="2381918"/>
          </a:xfrm>
        </p:grpSpPr>
        <p:grpSp>
          <p:nvGrpSpPr>
            <p:cNvPr id="43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9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6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7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68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69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 dirty="0"/>
                  <a:t>d</a:t>
                </a:r>
              </a:p>
            </p:txBody>
          </p:sp>
          <p:sp>
            <p:nvSpPr>
              <p:cNvPr id="70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71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72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73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2</a:t>
                </a:r>
                <a:endParaRPr lang="zh-CN" altLang="zh-CN" b="1" dirty="0"/>
              </a:p>
            </p:txBody>
          </p:sp>
          <p:sp>
            <p:nvSpPr>
              <p:cNvPr id="74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smtClean="0"/>
                <a:t>i</a:t>
              </a:r>
              <a:r>
                <a:rPr lang="en-US" altLang="zh-CN" b="1" baseline="-25000" dirty="0" smtClean="0"/>
                <a:t>5</a:t>
              </a:r>
              <a:r>
                <a:rPr lang="en-US" altLang="zh-CN" b="1" dirty="0" smtClean="0"/>
                <a:t>=0</a:t>
              </a:r>
              <a:endParaRPr lang="zh-CN" altLang="zh-CN" b="1" dirty="0"/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43251" y="3975019"/>
            <a:ext cx="3368808" cy="2381918"/>
            <a:chOff x="2991389" y="4223532"/>
            <a:chExt cx="3368808" cy="2381918"/>
          </a:xfrm>
        </p:grpSpPr>
        <p:grpSp>
          <p:nvGrpSpPr>
            <p:cNvPr id="76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78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9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0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4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5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9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100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01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02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03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04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05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06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77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 smtClean="0"/>
                <a:t>U</a:t>
              </a:r>
              <a:r>
                <a:rPr lang="en-US" altLang="zh-CN" b="1" baseline="-25000" dirty="0" err="1" smtClean="0"/>
                <a:t>cd</a:t>
              </a:r>
              <a:r>
                <a:rPr lang="en-US" altLang="zh-CN" b="1" dirty="0" smtClean="0"/>
                <a:t>=0</a:t>
              </a:r>
              <a:endParaRPr lang="zh-CN" altLang="zh-CN" b="1" dirty="0"/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5326613" y="3969543"/>
            <a:ext cx="3849688" cy="2189163"/>
            <a:chOff x="5326613" y="3969543"/>
            <a:chExt cx="3849688" cy="2189163"/>
          </a:xfrm>
        </p:grpSpPr>
        <p:cxnSp>
          <p:nvCxnSpPr>
            <p:cNvPr id="108" name="直接连接符 107"/>
            <p:cNvCxnSpPr>
              <a:stCxn id="120" idx="2"/>
              <a:endCxn id="136" idx="2"/>
            </p:cNvCxnSpPr>
            <p:nvPr/>
          </p:nvCxnSpPr>
          <p:spPr bwMode="auto">
            <a:xfrm>
              <a:off x="8114263" y="4887118"/>
              <a:ext cx="655638" cy="188913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09" name="组合 108"/>
            <p:cNvGrpSpPr/>
            <p:nvPr/>
          </p:nvGrpSpPr>
          <p:grpSpPr>
            <a:xfrm>
              <a:off x="5326613" y="3969543"/>
              <a:ext cx="3849688" cy="2189163"/>
              <a:chOff x="5326613" y="3969543"/>
              <a:chExt cx="3849688" cy="2189163"/>
            </a:xfrm>
          </p:grpSpPr>
          <p:sp>
            <p:nvSpPr>
              <p:cNvPr id="110" name="Rectangle 37"/>
              <p:cNvSpPr>
                <a:spLocks noChangeArrowheads="1"/>
              </p:cNvSpPr>
              <p:nvPr/>
            </p:nvSpPr>
            <p:spPr bwMode="auto">
              <a:xfrm rot="16200000">
                <a:off x="7855501" y="5046637"/>
                <a:ext cx="1524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11" name="直接连接符 110"/>
              <p:cNvCxnSpPr>
                <a:stCxn id="135" idx="5"/>
                <a:endCxn id="110" idx="0"/>
              </p:cNvCxnSpPr>
              <p:nvPr/>
            </p:nvCxnSpPr>
            <p:spPr bwMode="auto">
              <a:xfrm>
                <a:off x="7085629" y="5114197"/>
                <a:ext cx="655572" cy="12294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" name="直接连接符 111"/>
              <p:cNvCxnSpPr>
                <a:stCxn id="110" idx="2"/>
                <a:endCxn id="136" idx="2"/>
              </p:cNvCxnSpPr>
              <p:nvPr/>
            </p:nvCxnSpPr>
            <p:spPr bwMode="auto">
              <a:xfrm flipV="1">
                <a:off x="8122201" y="5076031"/>
                <a:ext cx="647700" cy="16110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113" name="组合 112"/>
              <p:cNvGrpSpPr/>
              <p:nvPr/>
            </p:nvGrpSpPr>
            <p:grpSpPr>
              <a:xfrm>
                <a:off x="5326613" y="3969543"/>
                <a:ext cx="3849688" cy="2189163"/>
                <a:chOff x="5326613" y="3969543"/>
                <a:chExt cx="3849688" cy="2189163"/>
              </a:xfrm>
            </p:grpSpPr>
            <p:grpSp>
              <p:nvGrpSpPr>
                <p:cNvPr id="114" name="Group 34"/>
                <p:cNvGrpSpPr>
                  <a:grpSpLocks/>
                </p:cNvGrpSpPr>
                <p:nvPr/>
              </p:nvGrpSpPr>
              <p:grpSpPr bwMode="auto">
                <a:xfrm>
                  <a:off x="5326613" y="3969543"/>
                  <a:ext cx="3849688" cy="2189163"/>
                  <a:chOff x="0" y="13"/>
                  <a:chExt cx="2425" cy="1379"/>
                </a:xfrm>
              </p:grpSpPr>
              <p:sp>
                <p:nvSpPr>
                  <p:cNvPr id="118" name="Rectangle 35"/>
                  <p:cNvSpPr>
                    <a:spLocks noChangeArrowheads="1"/>
                  </p:cNvSpPr>
                  <p:nvPr/>
                </p:nvSpPr>
                <p:spPr bwMode="auto">
                  <a:xfrm rot="-7903512">
                    <a:off x="1332" y="304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9" name="Rectangle 36"/>
                  <p:cNvSpPr>
                    <a:spLocks noChangeArrowheads="1"/>
                  </p:cNvSpPr>
                  <p:nvPr/>
                </p:nvSpPr>
                <p:spPr bwMode="auto">
                  <a:xfrm rot="-2919155">
                    <a:off x="1854" y="31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0" name="Rectangle 37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588" y="471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1" name="Rectangle 38"/>
                  <p:cNvSpPr>
                    <a:spLocks noChangeArrowheads="1"/>
                  </p:cNvSpPr>
                  <p:nvPr/>
                </p:nvSpPr>
                <p:spPr bwMode="auto">
                  <a:xfrm rot="-2874968">
                    <a:off x="1299" y="88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2" name="Rectangle 39"/>
                  <p:cNvSpPr>
                    <a:spLocks noChangeArrowheads="1"/>
                  </p:cNvSpPr>
                  <p:nvPr/>
                </p:nvSpPr>
                <p:spPr bwMode="auto">
                  <a:xfrm rot="-7972038">
                    <a:off x="1908" y="835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3" name="Freeform 40"/>
                  <p:cNvSpPr>
                    <a:spLocks/>
                  </p:cNvSpPr>
                  <p:nvPr/>
                </p:nvSpPr>
                <p:spPr bwMode="auto">
                  <a:xfrm>
                    <a:off x="1465" y="196"/>
                    <a:ext cx="176" cy="160"/>
                  </a:xfrm>
                  <a:custGeom>
                    <a:avLst/>
                    <a:gdLst>
                      <a:gd name="T0" fmla="*/ 0 w 176"/>
                      <a:gd name="T1" fmla="*/ 160 h 160"/>
                      <a:gd name="T2" fmla="*/ 176 w 176"/>
                      <a:gd name="T3" fmla="*/ 0 h 16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76" h="160">
                        <a:moveTo>
                          <a:pt x="0" y="160"/>
                        </a:moveTo>
                        <a:lnTo>
                          <a:pt x="176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" name="Freeform 41"/>
                  <p:cNvSpPr>
                    <a:spLocks/>
                  </p:cNvSpPr>
                  <p:nvPr/>
                </p:nvSpPr>
                <p:spPr bwMode="auto">
                  <a:xfrm>
                    <a:off x="1635" y="202"/>
                    <a:ext cx="168" cy="141"/>
                  </a:xfrm>
                  <a:custGeom>
                    <a:avLst/>
                    <a:gdLst>
                      <a:gd name="T0" fmla="*/ 168 w 168"/>
                      <a:gd name="T1" fmla="*/ 141 h 141"/>
                      <a:gd name="T2" fmla="*/ 0 w 168"/>
                      <a:gd name="T3" fmla="*/ 0 h 14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68" h="141">
                        <a:moveTo>
                          <a:pt x="168" y="14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" name="Freeform 42"/>
                  <p:cNvSpPr>
                    <a:spLocks/>
                  </p:cNvSpPr>
                  <p:nvPr/>
                </p:nvSpPr>
                <p:spPr bwMode="auto">
                  <a:xfrm>
                    <a:off x="1057" y="508"/>
                    <a:ext cx="233" cy="223"/>
                  </a:xfrm>
                  <a:custGeom>
                    <a:avLst/>
                    <a:gdLst>
                      <a:gd name="T0" fmla="*/ 233 w 233"/>
                      <a:gd name="T1" fmla="*/ 0 h 223"/>
                      <a:gd name="T2" fmla="*/ 0 w 233"/>
                      <a:gd name="T3" fmla="*/ 223 h 22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33" h="223">
                        <a:moveTo>
                          <a:pt x="233" y="0"/>
                        </a:moveTo>
                        <a:lnTo>
                          <a:pt x="0" y="22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" name="Freeform 43"/>
                  <p:cNvSpPr>
                    <a:spLocks/>
                  </p:cNvSpPr>
                  <p:nvPr/>
                </p:nvSpPr>
                <p:spPr bwMode="auto">
                  <a:xfrm>
                    <a:off x="1989" y="511"/>
                    <a:ext cx="225" cy="216"/>
                  </a:xfrm>
                  <a:custGeom>
                    <a:avLst/>
                    <a:gdLst>
                      <a:gd name="T0" fmla="*/ 0 w 225"/>
                      <a:gd name="T1" fmla="*/ 0 h 216"/>
                      <a:gd name="T2" fmla="*/ 225 w 225"/>
                      <a:gd name="T3" fmla="*/ 216 h 21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25" h="216">
                        <a:moveTo>
                          <a:pt x="0" y="0"/>
                        </a:moveTo>
                        <a:lnTo>
                          <a:pt x="225" y="216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Freeform 44"/>
                  <p:cNvSpPr>
                    <a:spLocks/>
                  </p:cNvSpPr>
                  <p:nvPr/>
                </p:nvSpPr>
                <p:spPr bwMode="auto">
                  <a:xfrm>
                    <a:off x="1075" y="731"/>
                    <a:ext cx="183" cy="201"/>
                  </a:xfrm>
                  <a:custGeom>
                    <a:avLst/>
                    <a:gdLst>
                      <a:gd name="T0" fmla="*/ 0 w 183"/>
                      <a:gd name="T1" fmla="*/ 0 h 201"/>
                      <a:gd name="T2" fmla="*/ 183 w 183"/>
                      <a:gd name="T3" fmla="*/ 201 h 20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83" h="201">
                        <a:moveTo>
                          <a:pt x="0" y="0"/>
                        </a:moveTo>
                        <a:lnTo>
                          <a:pt x="183" y="201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" name="Freeform 45"/>
                  <p:cNvSpPr>
                    <a:spLocks/>
                  </p:cNvSpPr>
                  <p:nvPr/>
                </p:nvSpPr>
                <p:spPr bwMode="auto">
                  <a:xfrm>
                    <a:off x="1422" y="1078"/>
                    <a:ext cx="211" cy="183"/>
                  </a:xfrm>
                  <a:custGeom>
                    <a:avLst/>
                    <a:gdLst>
                      <a:gd name="T0" fmla="*/ 0 w 211"/>
                      <a:gd name="T1" fmla="*/ 0 h 183"/>
                      <a:gd name="T2" fmla="*/ 211 w 211"/>
                      <a:gd name="T3" fmla="*/ 183 h 18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11" h="183">
                        <a:moveTo>
                          <a:pt x="0" y="0"/>
                        </a:moveTo>
                        <a:lnTo>
                          <a:pt x="211" y="18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" name="Freeform 46"/>
                  <p:cNvSpPr>
                    <a:spLocks/>
                  </p:cNvSpPr>
                  <p:nvPr/>
                </p:nvSpPr>
                <p:spPr bwMode="auto">
                  <a:xfrm>
                    <a:off x="1635" y="1030"/>
                    <a:ext cx="243" cy="222"/>
                  </a:xfrm>
                  <a:custGeom>
                    <a:avLst/>
                    <a:gdLst>
                      <a:gd name="T0" fmla="*/ 0 w 243"/>
                      <a:gd name="T1" fmla="*/ 222 h 222"/>
                      <a:gd name="T2" fmla="*/ 243 w 243"/>
                      <a:gd name="T3" fmla="*/ 0 h 22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3" h="222">
                        <a:moveTo>
                          <a:pt x="0" y="222"/>
                        </a:moveTo>
                        <a:lnTo>
                          <a:pt x="243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" name="Freeform 47"/>
                  <p:cNvSpPr>
                    <a:spLocks/>
                  </p:cNvSpPr>
                  <p:nvPr/>
                </p:nvSpPr>
                <p:spPr bwMode="auto">
                  <a:xfrm>
                    <a:off x="2053" y="724"/>
                    <a:ext cx="158" cy="153"/>
                  </a:xfrm>
                  <a:custGeom>
                    <a:avLst/>
                    <a:gdLst>
                      <a:gd name="T0" fmla="*/ 0 w 158"/>
                      <a:gd name="T1" fmla="*/ 153 h 153"/>
                      <a:gd name="T2" fmla="*/ 158 w 158"/>
                      <a:gd name="T3" fmla="*/ 0 h 15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58" h="153">
                        <a:moveTo>
                          <a:pt x="0" y="153"/>
                        </a:moveTo>
                        <a:lnTo>
                          <a:pt x="158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83" y="196"/>
                    <a:ext cx="752" cy="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908" y="1251"/>
                    <a:ext cx="721" cy="1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" name="Oval 5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96" y="184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4" name="Oval 5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87" y="1213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5" name="Oval 5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050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6" name="Oval 5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69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7" name="Oval 5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44" y="161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8" name="Oval 5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26" y="1222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9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7" y="13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a</a:t>
                    </a:r>
                  </a:p>
                </p:txBody>
              </p:sp>
              <p:sp>
                <p:nvSpPr>
                  <p:cNvPr id="140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9" y="549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c</a:t>
                    </a:r>
                  </a:p>
                </p:txBody>
              </p:sp>
              <p:sp>
                <p:nvSpPr>
                  <p:cNvPr id="141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3" y="558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 dirty="0"/>
                      <a:t>d</a:t>
                    </a:r>
                  </a:p>
                </p:txBody>
              </p:sp>
              <p:sp>
                <p:nvSpPr>
                  <p:cNvPr id="142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227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1</a:t>
                    </a:r>
                    <a:endParaRPr lang="zh-CN" altLang="zh-CN" b="1" dirty="0"/>
                  </a:p>
                </p:txBody>
              </p:sp>
              <p:sp>
                <p:nvSpPr>
                  <p:cNvPr id="143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91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4</a:t>
                    </a:r>
                    <a:endParaRPr lang="zh-CN" altLang="zh-CN" b="1"/>
                  </a:p>
                </p:txBody>
              </p:sp>
              <p:sp>
                <p:nvSpPr>
                  <p:cNvPr id="144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7" y="952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3</a:t>
                    </a:r>
                    <a:endParaRPr lang="zh-CN" altLang="zh-CN" b="1"/>
                  </a:p>
                </p:txBody>
              </p:sp>
              <p:sp>
                <p:nvSpPr>
                  <p:cNvPr id="145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3" y="19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2</a:t>
                    </a:r>
                    <a:endParaRPr lang="zh-CN" altLang="zh-CN" b="1"/>
                  </a:p>
                </p:txBody>
              </p:sp>
              <p:sp>
                <p:nvSpPr>
                  <p:cNvPr id="146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306"/>
                    <a:ext cx="368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b="1" dirty="0" smtClean="0"/>
                      <a:t>2</a:t>
                    </a:r>
                    <a:r>
                      <a:rPr lang="zh-CN" altLang="zh-CN" b="1" dirty="0" smtClean="0"/>
                      <a:t>R</a:t>
                    </a:r>
                    <a:r>
                      <a:rPr lang="zh-CN" altLang="zh-CN" b="1" baseline="-25000" dirty="0"/>
                      <a:t>5</a:t>
                    </a:r>
                    <a:endParaRPr lang="zh-CN" altLang="zh-CN" b="1" dirty="0"/>
                  </a:p>
                </p:txBody>
              </p:sp>
              <p:sp>
                <p:nvSpPr>
                  <p:cNvPr id="147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104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b</a:t>
                    </a:r>
                  </a:p>
                </p:txBody>
              </p:sp>
            </p:grpSp>
            <p:sp>
              <p:nvSpPr>
                <p:cNvPr id="11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7660551" y="5279519"/>
                  <a:ext cx="584200" cy="400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 dirty="0" smtClean="0"/>
                    <a:t>2</a:t>
                  </a:r>
                  <a:r>
                    <a:rPr lang="zh-CN" altLang="zh-CN" b="1" dirty="0" smtClean="0"/>
                    <a:t>R</a:t>
                  </a:r>
                  <a:r>
                    <a:rPr lang="zh-CN" altLang="zh-CN" b="1" baseline="-25000" dirty="0"/>
                    <a:t>5</a:t>
                  </a:r>
                  <a:endParaRPr lang="zh-CN" altLang="zh-CN" b="1" dirty="0"/>
                </a:p>
              </p:txBody>
            </p:sp>
            <p:cxnSp>
              <p:nvCxnSpPr>
                <p:cNvPr id="116" name="直接连接符 115"/>
                <p:cNvCxnSpPr>
                  <a:stCxn id="135" idx="6"/>
                  <a:endCxn id="120" idx="0"/>
                </p:cNvCxnSpPr>
                <p:nvPr/>
              </p:nvCxnSpPr>
              <p:spPr bwMode="auto">
                <a:xfrm flipV="1">
                  <a:off x="7101438" y="4887118"/>
                  <a:ext cx="631825" cy="188913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7" name="直接连接符 116"/>
                <p:cNvCxnSpPr>
                  <a:endCxn id="141" idx="1"/>
                </p:cNvCxnSpPr>
                <p:nvPr/>
              </p:nvCxnSpPr>
              <p:spPr bwMode="auto">
                <a:xfrm flipV="1">
                  <a:off x="6580739" y="5063331"/>
                  <a:ext cx="2259012" cy="26987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FF0000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sp>
        <p:nvSpPr>
          <p:cNvPr id="148" name="文本框 147"/>
          <p:cNvSpPr txBox="1"/>
          <p:nvPr/>
        </p:nvSpPr>
        <p:spPr>
          <a:xfrm>
            <a:off x="4894263" y="1081852"/>
            <a:ext cx="3493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对称面上的结点为等电位点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149" name="矩形 148"/>
          <p:cNvSpPr/>
          <p:nvPr/>
        </p:nvSpPr>
        <p:spPr>
          <a:xfrm>
            <a:off x="4402689" y="1714464"/>
            <a:ext cx="4572000" cy="21048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求解对称电路的核心，是观察电路的对称关系，寻找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等电位点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如果等电位点在同一支路的两端，则将该支路断开或短接；如果等电位点不在同一支路的两端，则将等电位点短接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909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5296"/>
            <a:ext cx="7886700" cy="650383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电桥、星型和三角型电路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5185501" y="4081933"/>
            <a:ext cx="3298825" cy="2209800"/>
            <a:chOff x="0" y="0"/>
            <a:chExt cx="2078" cy="139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 rot="-5400000">
              <a:off x="807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 rot="-5400000">
              <a:off x="1431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 rot="-5400000">
              <a:off x="1131" y="16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728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116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255" y="57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579" y="2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57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29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975" y="5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167" y="57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167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779" y="279"/>
              <a:ext cx="1" cy="533"/>
            </a:xfrm>
            <a:custGeom>
              <a:avLst/>
              <a:gdLst>
                <a:gd name="T0" fmla="*/ 0 w 1"/>
                <a:gd name="T1" fmla="*/ 0 h 533"/>
                <a:gd name="T2" fmla="*/ 0 w 1"/>
                <a:gd name="T3" fmla="*/ 533 h 5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3">
                  <a:moveTo>
                    <a:pt x="0" y="0"/>
                  </a:moveTo>
                  <a:lnTo>
                    <a:pt x="0" y="53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599" y="57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773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284" y="1292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Oval 19"/>
            <p:cNvSpPr>
              <a:spLocks noChangeAspect="1" noChangeArrowheads="1"/>
            </p:cNvSpPr>
            <p:nvPr/>
          </p:nvSpPr>
          <p:spPr bwMode="auto">
            <a:xfrm>
              <a:off x="192" y="52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20"/>
            <p:cNvSpPr>
              <a:spLocks noChangeAspect="1" noChangeArrowheads="1"/>
            </p:cNvSpPr>
            <p:nvPr/>
          </p:nvSpPr>
          <p:spPr bwMode="auto">
            <a:xfrm>
              <a:off x="222" y="125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0" y="38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36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672" y="5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1056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79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83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344" y="58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1077" y="30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1767" y="41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5" name="Oval 30"/>
            <p:cNvSpPr>
              <a:spLocks noChangeAspect="1" noChangeArrowheads="1"/>
            </p:cNvSpPr>
            <p:nvPr/>
          </p:nvSpPr>
          <p:spPr bwMode="auto">
            <a:xfrm>
              <a:off x="546" y="537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31"/>
            <p:cNvSpPr>
              <a:spLocks noChangeAspect="1" noChangeArrowheads="1"/>
            </p:cNvSpPr>
            <p:nvPr/>
          </p:nvSpPr>
          <p:spPr bwMode="auto">
            <a:xfrm>
              <a:off x="1143" y="54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32"/>
            <p:cNvSpPr>
              <a:spLocks noChangeAspect="1" noChangeArrowheads="1"/>
            </p:cNvSpPr>
            <p:nvPr/>
          </p:nvSpPr>
          <p:spPr bwMode="auto">
            <a:xfrm>
              <a:off x="1134" y="124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33"/>
            <p:cNvSpPr>
              <a:spLocks noChangeAspect="1" noChangeArrowheads="1"/>
            </p:cNvSpPr>
            <p:nvPr/>
          </p:nvSpPr>
          <p:spPr bwMode="auto">
            <a:xfrm>
              <a:off x="1737" y="52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9" name="Group 34"/>
          <p:cNvGrpSpPr>
            <a:grpSpLocks/>
          </p:cNvGrpSpPr>
          <p:nvPr/>
        </p:nvGrpSpPr>
        <p:grpSpPr bwMode="auto">
          <a:xfrm>
            <a:off x="312244" y="819342"/>
            <a:ext cx="3849688" cy="2209800"/>
            <a:chOff x="0" y="0"/>
            <a:chExt cx="2425" cy="1392"/>
          </a:xfrm>
        </p:grpSpPr>
        <p:sp>
          <p:nvSpPr>
            <p:cNvPr id="40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66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67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68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70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71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pSp>
        <p:nvGrpSpPr>
          <p:cNvPr id="72" name="Group 67"/>
          <p:cNvGrpSpPr>
            <a:grpSpLocks/>
          </p:cNvGrpSpPr>
          <p:nvPr/>
        </p:nvGrpSpPr>
        <p:grpSpPr bwMode="auto">
          <a:xfrm>
            <a:off x="749109" y="4163708"/>
            <a:ext cx="3989388" cy="2544763"/>
            <a:chOff x="0" y="0"/>
            <a:chExt cx="2513" cy="1603"/>
          </a:xfrm>
        </p:grpSpPr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0" y="119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 rot="-2919155">
              <a:off x="1281" y="40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 rot="-5400000">
              <a:off x="1548" y="18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6" name="Rectangle 71"/>
            <p:cNvSpPr>
              <a:spLocks noChangeArrowheads="1"/>
            </p:cNvSpPr>
            <p:nvPr/>
          </p:nvSpPr>
          <p:spPr bwMode="auto">
            <a:xfrm rot="-7972038">
              <a:off x="1335" y="93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" name="Freeform 72"/>
            <p:cNvSpPr>
              <a:spLocks/>
            </p:cNvSpPr>
            <p:nvPr/>
          </p:nvSpPr>
          <p:spPr bwMode="auto">
            <a:xfrm>
              <a:off x="1062" y="297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3"/>
            <p:cNvSpPr>
              <a:spLocks/>
            </p:cNvSpPr>
            <p:nvPr/>
          </p:nvSpPr>
          <p:spPr bwMode="auto">
            <a:xfrm>
              <a:off x="1416" y="606"/>
              <a:ext cx="769" cy="727"/>
            </a:xfrm>
            <a:custGeom>
              <a:avLst/>
              <a:gdLst>
                <a:gd name="T0" fmla="*/ 0 w 769"/>
                <a:gd name="T1" fmla="*/ 0 h 727"/>
                <a:gd name="T2" fmla="*/ 769 w 769"/>
                <a:gd name="T3" fmla="*/ 727 h 7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9" h="727">
                  <a:moveTo>
                    <a:pt x="0" y="0"/>
                  </a:moveTo>
                  <a:lnTo>
                    <a:pt x="769" y="72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4"/>
            <p:cNvSpPr>
              <a:spLocks/>
            </p:cNvSpPr>
            <p:nvPr/>
          </p:nvSpPr>
          <p:spPr bwMode="auto">
            <a:xfrm>
              <a:off x="1062" y="1125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5"/>
            <p:cNvSpPr>
              <a:spLocks/>
            </p:cNvSpPr>
            <p:nvPr/>
          </p:nvSpPr>
          <p:spPr bwMode="auto">
            <a:xfrm>
              <a:off x="1480" y="281"/>
              <a:ext cx="715" cy="691"/>
            </a:xfrm>
            <a:custGeom>
              <a:avLst/>
              <a:gdLst>
                <a:gd name="T0" fmla="*/ 0 w 715"/>
                <a:gd name="T1" fmla="*/ 691 h 691"/>
                <a:gd name="T2" fmla="*/ 715 w 715"/>
                <a:gd name="T3" fmla="*/ 0 h 6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91">
                  <a:moveTo>
                    <a:pt x="0" y="691"/>
                  </a:moveTo>
                  <a:lnTo>
                    <a:pt x="71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Oval 76"/>
            <p:cNvSpPr>
              <a:spLocks noChangeAspect="1" noChangeArrowheads="1"/>
            </p:cNvSpPr>
            <p:nvPr/>
          </p:nvSpPr>
          <p:spPr bwMode="auto">
            <a:xfrm>
              <a:off x="1023" y="27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" name="Oval 77"/>
            <p:cNvSpPr>
              <a:spLocks noChangeAspect="1" noChangeArrowheads="1"/>
            </p:cNvSpPr>
            <p:nvPr/>
          </p:nvSpPr>
          <p:spPr bwMode="auto">
            <a:xfrm>
              <a:off x="1014" y="130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" name="Oval 78"/>
            <p:cNvSpPr>
              <a:spLocks noChangeAspect="1" noChangeArrowheads="1"/>
            </p:cNvSpPr>
            <p:nvPr/>
          </p:nvSpPr>
          <p:spPr bwMode="auto">
            <a:xfrm>
              <a:off x="2142" y="25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" name="Text Box 79"/>
            <p:cNvSpPr txBox="1">
              <a:spLocks noChangeArrowheads="1"/>
            </p:cNvSpPr>
            <p:nvPr/>
          </p:nvSpPr>
          <p:spPr bwMode="auto">
            <a:xfrm>
              <a:off x="2202" y="120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85" name="Text Box 80"/>
            <p:cNvSpPr txBox="1">
              <a:spLocks noChangeArrowheads="1"/>
            </p:cNvSpPr>
            <p:nvPr/>
          </p:nvSpPr>
          <p:spPr bwMode="auto">
            <a:xfrm>
              <a:off x="1524" y="1353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86" name="Text Box 81"/>
            <p:cNvSpPr txBox="1">
              <a:spLocks noChangeArrowheads="1"/>
            </p:cNvSpPr>
            <p:nvPr/>
          </p:nvSpPr>
          <p:spPr bwMode="auto">
            <a:xfrm>
              <a:off x="1035" y="47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87" name="Freeform 82"/>
            <p:cNvSpPr>
              <a:spLocks/>
            </p:cNvSpPr>
            <p:nvPr/>
          </p:nvSpPr>
          <p:spPr bwMode="auto">
            <a:xfrm>
              <a:off x="229" y="300"/>
              <a:ext cx="1244" cy="10"/>
            </a:xfrm>
            <a:custGeom>
              <a:avLst/>
              <a:gdLst>
                <a:gd name="T0" fmla="*/ 0 w 1244"/>
                <a:gd name="T1" fmla="*/ 0 h 10"/>
                <a:gd name="T2" fmla="*/ 1244 w 1244"/>
                <a:gd name="T3" fmla="*/ 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44" h="10">
                  <a:moveTo>
                    <a:pt x="0" y="0"/>
                  </a:moveTo>
                  <a:lnTo>
                    <a:pt x="1244" y="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1710" y="291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4"/>
            <p:cNvSpPr>
              <a:spLocks/>
            </p:cNvSpPr>
            <p:nvPr/>
          </p:nvSpPr>
          <p:spPr bwMode="auto">
            <a:xfrm>
              <a:off x="284" y="1351"/>
              <a:ext cx="1263" cy="1"/>
            </a:xfrm>
            <a:custGeom>
              <a:avLst/>
              <a:gdLst>
                <a:gd name="T0" fmla="*/ 0 w 1263"/>
                <a:gd name="T1" fmla="*/ 0 h 1"/>
                <a:gd name="T2" fmla="*/ 1263 w 126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63" h="1">
                  <a:moveTo>
                    <a:pt x="0" y="0"/>
                  </a:moveTo>
                  <a:lnTo>
                    <a:pt x="126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5"/>
            <p:cNvSpPr>
              <a:spLocks/>
            </p:cNvSpPr>
            <p:nvPr/>
          </p:nvSpPr>
          <p:spPr bwMode="auto">
            <a:xfrm>
              <a:off x="2194" y="275"/>
              <a:ext cx="1" cy="445"/>
            </a:xfrm>
            <a:custGeom>
              <a:avLst/>
              <a:gdLst>
                <a:gd name="T0" fmla="*/ 0 w 1"/>
                <a:gd name="T1" fmla="*/ 0 h 445"/>
                <a:gd name="T2" fmla="*/ 1 w 1"/>
                <a:gd name="T3" fmla="*/ 445 h 4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5">
                  <a:moveTo>
                    <a:pt x="0" y="0"/>
                  </a:moveTo>
                  <a:lnTo>
                    <a:pt x="1" y="4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86"/>
            <p:cNvSpPr>
              <a:spLocks noChangeArrowheads="1"/>
            </p:cNvSpPr>
            <p:nvPr/>
          </p:nvSpPr>
          <p:spPr bwMode="auto">
            <a:xfrm rot="-5400000">
              <a:off x="1620" y="123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" name="Rectangle 87"/>
            <p:cNvSpPr>
              <a:spLocks noChangeArrowheads="1"/>
            </p:cNvSpPr>
            <p:nvPr/>
          </p:nvSpPr>
          <p:spPr bwMode="auto">
            <a:xfrm>
              <a:off x="2142" y="7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3" name="Freeform 88"/>
            <p:cNvSpPr>
              <a:spLocks/>
            </p:cNvSpPr>
            <p:nvPr/>
          </p:nvSpPr>
          <p:spPr bwMode="auto">
            <a:xfrm>
              <a:off x="2194" y="943"/>
              <a:ext cx="1" cy="399"/>
            </a:xfrm>
            <a:custGeom>
              <a:avLst/>
              <a:gdLst>
                <a:gd name="T0" fmla="*/ 0 w 1"/>
                <a:gd name="T1" fmla="*/ 0 h 399"/>
                <a:gd name="T2" fmla="*/ 1 w 1"/>
                <a:gd name="T3" fmla="*/ 399 h 3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99">
                  <a:moveTo>
                    <a:pt x="0" y="0"/>
                  </a:moveTo>
                  <a:lnTo>
                    <a:pt x="1" y="39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89"/>
            <p:cNvSpPr>
              <a:spLocks noChangeShapeType="1"/>
            </p:cNvSpPr>
            <p:nvPr/>
          </p:nvSpPr>
          <p:spPr bwMode="auto">
            <a:xfrm>
              <a:off x="1776" y="134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Oval 90"/>
            <p:cNvSpPr>
              <a:spLocks noChangeAspect="1" noChangeArrowheads="1"/>
            </p:cNvSpPr>
            <p:nvPr/>
          </p:nvSpPr>
          <p:spPr bwMode="auto">
            <a:xfrm>
              <a:off x="2154" y="131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" name="Oval 91"/>
            <p:cNvSpPr>
              <a:spLocks noChangeAspect="1" noChangeArrowheads="1"/>
            </p:cNvSpPr>
            <p:nvPr/>
          </p:nvSpPr>
          <p:spPr bwMode="auto">
            <a:xfrm>
              <a:off x="222" y="131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" name="Oval 92"/>
            <p:cNvSpPr>
              <a:spLocks noChangeAspect="1" noChangeArrowheads="1"/>
            </p:cNvSpPr>
            <p:nvPr/>
          </p:nvSpPr>
          <p:spPr bwMode="auto">
            <a:xfrm>
              <a:off x="171" y="27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8" name="Text Box 93"/>
            <p:cNvSpPr txBox="1">
              <a:spLocks noChangeArrowheads="1"/>
            </p:cNvSpPr>
            <p:nvPr/>
          </p:nvSpPr>
          <p:spPr bwMode="auto">
            <a:xfrm>
              <a:off x="3" y="18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1038" y="84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100" name="Text Box 95"/>
            <p:cNvSpPr txBox="1">
              <a:spLocks noChangeArrowheads="1"/>
            </p:cNvSpPr>
            <p:nvPr/>
          </p:nvSpPr>
          <p:spPr bwMode="auto">
            <a:xfrm>
              <a:off x="1452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101" name="Text Box 96"/>
            <p:cNvSpPr txBox="1">
              <a:spLocks noChangeArrowheads="1"/>
            </p:cNvSpPr>
            <p:nvPr/>
          </p:nvSpPr>
          <p:spPr bwMode="auto">
            <a:xfrm>
              <a:off x="2229" y="69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102" name="Text Box 97"/>
            <p:cNvSpPr txBox="1">
              <a:spLocks noChangeArrowheads="1"/>
            </p:cNvSpPr>
            <p:nvPr/>
          </p:nvSpPr>
          <p:spPr bwMode="auto">
            <a:xfrm>
              <a:off x="2193" y="12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</p:grpSp>
      <p:grpSp>
        <p:nvGrpSpPr>
          <p:cNvPr id="103" name="Group 34"/>
          <p:cNvGrpSpPr>
            <a:grpSpLocks/>
          </p:cNvGrpSpPr>
          <p:nvPr/>
        </p:nvGrpSpPr>
        <p:grpSpPr bwMode="auto">
          <a:xfrm>
            <a:off x="4554044" y="953764"/>
            <a:ext cx="1438275" cy="1741488"/>
            <a:chOff x="869" y="184"/>
            <a:chExt cx="906" cy="1097"/>
          </a:xfrm>
        </p:grpSpPr>
        <p:sp>
          <p:nvSpPr>
            <p:cNvPr id="104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116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17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11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5</a:t>
              </a:r>
              <a:endParaRPr lang="zh-CN" altLang="zh-CN" b="1" dirty="0"/>
            </a:p>
          </p:txBody>
        </p:sp>
      </p:grpSp>
      <p:grpSp>
        <p:nvGrpSpPr>
          <p:cNvPr id="119" name="Group 34"/>
          <p:cNvGrpSpPr>
            <a:grpSpLocks/>
          </p:cNvGrpSpPr>
          <p:nvPr/>
        </p:nvGrpSpPr>
        <p:grpSpPr bwMode="auto">
          <a:xfrm>
            <a:off x="6678119" y="1159558"/>
            <a:ext cx="2470150" cy="1050925"/>
            <a:chOff x="869" y="184"/>
            <a:chExt cx="1556" cy="662"/>
          </a:xfrm>
        </p:grpSpPr>
        <p:sp>
          <p:nvSpPr>
            <p:cNvPr id="120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1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0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1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1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1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35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136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</p:grpSp>
      <p:sp>
        <p:nvSpPr>
          <p:cNvPr id="137" name="文本框 136"/>
          <p:cNvSpPr txBox="1"/>
          <p:nvPr/>
        </p:nvSpPr>
        <p:spPr>
          <a:xfrm>
            <a:off x="4464555" y="291369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星型联结（</a:t>
            </a:r>
            <a:r>
              <a:rPr lang="en-US" altLang="zh-CN" dirty="0" smtClean="0"/>
              <a:t>Y</a:t>
            </a:r>
            <a:r>
              <a:rPr lang="zh-CN" altLang="en-US" dirty="0" smtClean="0"/>
              <a:t>联结）</a:t>
            </a:r>
            <a:endParaRPr lang="zh-CN" altLang="en-US" dirty="0"/>
          </a:p>
        </p:txBody>
      </p:sp>
      <p:sp>
        <p:nvSpPr>
          <p:cNvPr id="138" name="文本框 137"/>
          <p:cNvSpPr txBox="1"/>
          <p:nvPr/>
        </p:nvSpPr>
        <p:spPr>
          <a:xfrm>
            <a:off x="6732700" y="2920266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三角</a:t>
            </a:r>
            <a:r>
              <a:rPr lang="zh-CN" altLang="en-US" dirty="0" smtClean="0"/>
              <a:t>型联结（</a:t>
            </a:r>
            <a:r>
              <a:rPr lang="zh-CN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∆联</a:t>
            </a:r>
            <a:r>
              <a:rPr lang="zh-CN" altLang="en-US" dirty="0" smtClean="0"/>
              <a:t>结）</a:t>
            </a:r>
            <a:endParaRPr lang="zh-CN" altLang="en-US" dirty="0"/>
          </a:p>
        </p:txBody>
      </p:sp>
      <p:sp>
        <p:nvSpPr>
          <p:cNvPr id="139" name="Text Box 4"/>
          <p:cNvSpPr txBox="1">
            <a:spLocks noChangeArrowheads="1"/>
          </p:cNvSpPr>
          <p:nvPr/>
        </p:nvSpPr>
        <p:spPr bwMode="auto">
          <a:xfrm>
            <a:off x="1177064" y="3115940"/>
            <a:ext cx="227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电桥</a:t>
            </a:r>
            <a:r>
              <a:rPr lang="zh-CN" altLang="zh-CN" sz="2400" b="1" dirty="0" smtClean="0">
                <a:latin typeface="楷体_GB2312" pitchFamily="49" charset="-122"/>
                <a:ea typeface="楷体_GB2312" pitchFamily="49" charset="-122"/>
              </a:rPr>
              <a:t>平衡条件</a:t>
            </a:r>
            <a:endParaRPr lang="zh-CN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0" name="Text Box 5"/>
          <p:cNvSpPr txBox="1">
            <a:spLocks noChangeArrowheads="1"/>
          </p:cNvSpPr>
          <p:nvPr/>
        </p:nvSpPr>
        <p:spPr bwMode="auto">
          <a:xfrm>
            <a:off x="1224689" y="3662040"/>
            <a:ext cx="196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1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3</a:t>
            </a:r>
            <a:r>
              <a:rPr lang="zh-CN" altLang="zh-CN" sz="2400" b="1" dirty="0">
                <a:solidFill>
                  <a:srgbClr val="FF3300"/>
                </a:solidFill>
              </a:rPr>
              <a:t>=R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2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4</a:t>
            </a:r>
            <a:endParaRPr lang="zh-CN" altLang="zh-CN" sz="2400" b="1" dirty="0">
              <a:solidFill>
                <a:srgbClr val="FF3300"/>
              </a:solidFill>
            </a:endParaRPr>
          </a:p>
        </p:txBody>
      </p:sp>
      <p:grpSp>
        <p:nvGrpSpPr>
          <p:cNvPr id="141" name="Group 109"/>
          <p:cNvGrpSpPr>
            <a:grpSpLocks/>
          </p:cNvGrpSpPr>
          <p:nvPr/>
        </p:nvGrpSpPr>
        <p:grpSpPr bwMode="auto">
          <a:xfrm>
            <a:off x="2837589" y="3687440"/>
            <a:ext cx="3581400" cy="457200"/>
            <a:chOff x="0" y="0"/>
            <a:chExt cx="2256" cy="288"/>
          </a:xfrm>
        </p:grpSpPr>
        <p:sp>
          <p:nvSpPr>
            <p:cNvPr id="142" name="Text Box 110"/>
            <p:cNvSpPr txBox="1">
              <a:spLocks noChangeArrowheads="1"/>
            </p:cNvSpPr>
            <p:nvPr/>
          </p:nvSpPr>
          <p:spPr bwMode="auto">
            <a:xfrm>
              <a:off x="192" y="0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 dirty="0">
                  <a:solidFill>
                    <a:srgbClr val="FF3300"/>
                  </a:solidFill>
                </a:rPr>
                <a:t>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=0，i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 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/R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5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</a:t>
              </a:r>
              <a:endParaRPr lang="zh-CN" altLang="zh-CN" sz="2400" b="1" baseline="-25000" dirty="0">
                <a:solidFill>
                  <a:srgbClr val="FF3300"/>
                </a:solidFill>
              </a:endParaRPr>
            </a:p>
          </p:txBody>
        </p:sp>
        <p:sp>
          <p:nvSpPr>
            <p:cNvPr id="143" name="Line 111"/>
            <p:cNvSpPr>
              <a:spLocks noChangeShapeType="1"/>
            </p:cNvSpPr>
            <p:nvPr/>
          </p:nvSpPr>
          <p:spPr bwMode="auto">
            <a:xfrm>
              <a:off x="0" y="17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1554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utoUpdateAnimBg="0"/>
      <p:bldP spid="14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01732"/>
            <a:ext cx="7814375" cy="777346"/>
          </a:xfrm>
        </p:spPr>
        <p:txBody>
          <a:bodyPr>
            <a:normAutofit/>
          </a:bodyPr>
          <a:lstStyle/>
          <a:p>
            <a:r>
              <a:rPr lang="zh-CN" altLang="en-US" dirty="0"/>
              <a:t>星形</a:t>
            </a:r>
            <a:r>
              <a:rPr lang="zh-CN" altLang="en-US" dirty="0" smtClean="0"/>
              <a:t>电路和三角形电路的等效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/>
          </p:nvPr>
        </p:nvGraphicFramePr>
        <p:xfrm>
          <a:off x="260077" y="674291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77" y="674291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/>
          </p:nvPr>
        </p:nvGraphicFramePr>
        <p:xfrm>
          <a:off x="5940152" y="828278"/>
          <a:ext cx="2778125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828278"/>
                        <a:ext cx="2778125" cy="237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2698477" y="2472928"/>
            <a:ext cx="4114800" cy="609600"/>
            <a:chOff x="1728" y="3792"/>
            <a:chExt cx="2592" cy="384"/>
          </a:xfrm>
        </p:grpSpPr>
        <p:sp>
          <p:nvSpPr>
            <p:cNvPr id="10" name="AutoShape 14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</a:t>
              </a:r>
              <a:r>
                <a:rPr lang="en-US" altLang="zh-CN" i="1" dirty="0" err="1">
                  <a:solidFill>
                    <a:schemeClr val="hlink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dirty="0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 dirty="0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aphicFrame>
        <p:nvGraphicFramePr>
          <p:cNvPr id="12" name="Object 17"/>
          <p:cNvGraphicFramePr>
            <a:graphicFrameLocks noChangeAspect="1"/>
          </p:cNvGraphicFramePr>
          <p:nvPr>
            <p:extLst/>
          </p:nvPr>
        </p:nvGraphicFramePr>
        <p:xfrm>
          <a:off x="3303315" y="1761728"/>
          <a:ext cx="2663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公式" r:id="rId7" imgW="952087" imgH="241195" progId="Equation.3">
                  <p:embed/>
                </p:oleObj>
              </mc:Choice>
              <mc:Fallback>
                <p:oleObj name="公式" r:id="rId7" imgW="952087" imgH="241195" progId="Equation.3">
                  <p:embed/>
                  <p:pic>
                    <p:nvPicPr>
                      <p:cNvPr id="1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315" y="1761728"/>
                        <a:ext cx="2663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23764" y="3172222"/>
            <a:ext cx="164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星形电路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6444208" y="3172222"/>
            <a:ext cx="209981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三角形电路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3331275" y="3543961"/>
            <a:ext cx="2416175" cy="1362075"/>
            <a:chOff x="2109" y="822"/>
            <a:chExt cx="1522" cy="858"/>
          </a:xfrm>
        </p:grpSpPr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9" name="Equation" r:id="rId9" imgW="1155700" imgH="431800" progId="Equation.DSMT4">
                    <p:embed/>
                  </p:oleObj>
                </mc:Choice>
                <mc:Fallback>
                  <p:oleObj name="Equation" r:id="rId9" imgW="1155700" imgH="431800" progId="Equation.DSMT4">
                    <p:embed/>
                    <p:pic>
                      <p:nvPicPr>
                        <p:cNvPr id="1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0" name="Equation" r:id="rId11" imgW="469696" imgH="177723" progId="Equation.DSMT4">
                    <p:embed/>
                  </p:oleObj>
                </mc:Choice>
                <mc:Fallback>
                  <p:oleObj name="Equation" r:id="rId11" imgW="469696" imgH="177723" progId="Equation.DSMT4">
                    <p:embed/>
                    <p:pic>
                      <p:nvPicPr>
                        <p:cNvPr id="1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42"/>
          <p:cNvGrpSpPr>
            <a:grpSpLocks/>
          </p:cNvGrpSpPr>
          <p:nvPr/>
        </p:nvGrpSpPr>
        <p:grpSpPr bwMode="auto">
          <a:xfrm>
            <a:off x="232475" y="3550311"/>
            <a:ext cx="2522537" cy="1365250"/>
            <a:chOff x="157" y="826"/>
            <a:chExt cx="1589" cy="860"/>
          </a:xfrm>
        </p:grpSpPr>
        <p:graphicFrame>
          <p:nvGraphicFramePr>
            <p:cNvPr id="19" name="Object 21"/>
            <p:cNvGraphicFramePr>
              <a:graphicFrameLocks noChangeAspect="1"/>
            </p:cNvGraphicFramePr>
            <p:nvPr/>
          </p:nvGraphicFramePr>
          <p:xfrm>
            <a:off x="157" y="1117"/>
            <a:ext cx="1589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1" name="Equation" r:id="rId13" imgW="1206500" imgH="431800" progId="Equation.DSMT4">
                    <p:embed/>
                  </p:oleObj>
                </mc:Choice>
                <mc:Fallback>
                  <p:oleObj name="Equation" r:id="rId13" imgW="1206500" imgH="431800" progId="Equation.DSMT4">
                    <p:embed/>
                    <p:pic>
                      <p:nvPicPr>
                        <p:cNvPr id="1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" y="1117"/>
                          <a:ext cx="1589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8"/>
            <p:cNvGraphicFramePr>
              <a:graphicFrameLocks noChangeAspect="1"/>
            </p:cNvGraphicFramePr>
            <p:nvPr/>
          </p:nvGraphicFramePr>
          <p:xfrm>
            <a:off x="690" y="826"/>
            <a:ext cx="69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" name="Equation" r:id="rId15" imgW="469696" imgH="177723" progId="Equation.DSMT4">
                    <p:embed/>
                  </p:oleObj>
                </mc:Choice>
                <mc:Fallback>
                  <p:oleObj name="Equation" r:id="rId15" imgW="469696" imgH="177723" progId="Equation.DSMT4">
                    <p:embed/>
                    <p:pic>
                      <p:nvPicPr>
                        <p:cNvPr id="2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826"/>
                          <a:ext cx="693" cy="28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2"/>
          <p:cNvSpPr>
            <a:spLocks noChangeArrowheads="1"/>
          </p:cNvSpPr>
          <p:nvPr/>
        </p:nvSpPr>
        <p:spPr bwMode="auto">
          <a:xfrm>
            <a:off x="307087" y="5450549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隶书" panose="02010509060101010101" pitchFamily="49" charset="-122"/>
              </a:rPr>
              <a:t>规律：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458025" y="5307674"/>
            <a:ext cx="6985000" cy="889000"/>
            <a:chOff x="793" y="2115"/>
            <a:chExt cx="4400" cy="560"/>
          </a:xfrm>
        </p:grpSpPr>
        <p:sp>
          <p:nvSpPr>
            <p:cNvPr id="23" name="Rectangle 34"/>
            <p:cNvSpPr>
              <a:spLocks noChangeArrowheads="1"/>
            </p:cNvSpPr>
            <p:nvPr/>
          </p:nvSpPr>
          <p:spPr bwMode="auto">
            <a:xfrm>
              <a:off x="3061" y="2115"/>
              <a:ext cx="18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夹臂电阻（导）之积</a:t>
              </a:r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>
              <a:off x="2834" y="2418"/>
              <a:ext cx="226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37"/>
            <p:cNvSpPr>
              <a:spLocks noChangeArrowheads="1"/>
            </p:cNvSpPr>
            <p:nvPr/>
          </p:nvSpPr>
          <p:spPr bwMode="auto">
            <a:xfrm>
              <a:off x="2879" y="2387"/>
              <a:ext cx="23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三个臂的电阻（导）之和</a:t>
              </a:r>
            </a:p>
          </p:txBody>
        </p:sp>
        <p:sp>
          <p:nvSpPr>
            <p:cNvPr id="26" name="Rectangle 38"/>
            <p:cNvSpPr>
              <a:spLocks noChangeArrowheads="1"/>
            </p:cNvSpPr>
            <p:nvPr/>
          </p:nvSpPr>
          <p:spPr bwMode="auto">
            <a:xfrm>
              <a:off x="793" y="2251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CC3300"/>
                  </a:solidFill>
                  <a:ea typeface="宋体" panose="02010600030101010101" pitchFamily="2" charset="-122"/>
                </a:rPr>
                <a:t>一个臂的电阻（导）</a:t>
              </a: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=</a:t>
              </a:r>
            </a:p>
          </p:txBody>
        </p:sp>
      </p:grpSp>
      <p:graphicFrame>
        <p:nvGraphicFramePr>
          <p:cNvPr id="27" name="Object 39"/>
          <p:cNvGraphicFramePr>
            <a:graphicFrameLocks noChangeAspect="1"/>
          </p:cNvGraphicFramePr>
          <p:nvPr>
            <p:extLst/>
          </p:nvPr>
        </p:nvGraphicFramePr>
        <p:xfrm>
          <a:off x="5758562" y="3994811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17" imgW="1536700" imgH="431800" progId="Equation.DSMT4">
                  <p:embed/>
                </p:oleObj>
              </mc:Choice>
              <mc:Fallback>
                <p:oleObj name="Equation" r:id="rId17" imgW="1536700" imgH="431800" progId="Equation.DSMT4">
                  <p:embed/>
                  <p:pic>
                    <p:nvPicPr>
                      <p:cNvPr id="2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8562" y="3994811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40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Flash Movie" r:id="rId4" imgW="2391480" imgH="1961640" progId="Flash.Movie">
                  <p:embed/>
                </p:oleObj>
              </mc:Choice>
              <mc:Fallback>
                <p:oleObj name="Flash Movie" r:id="rId4" imgW="2391480" imgH="1961640" progId="Flash.Movie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Flash 文档" r:id="rId6" imgW="1997640" imgH="1707480" progId="Flash.Movie">
                  <p:embed/>
                </p:oleObj>
              </mc:Choice>
              <mc:Fallback>
                <p:oleObj name="Flash 文档" r:id="rId6" imgW="1997640" imgH="1707480" progId="Flash.Movie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87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/>
          </p:nvPr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44"/>
          <p:cNvGrpSpPr>
            <a:grpSpLocks/>
          </p:cNvGrpSpPr>
          <p:nvPr/>
        </p:nvGrpSpPr>
        <p:grpSpPr bwMode="auto">
          <a:xfrm>
            <a:off x="4932040" y="3523689"/>
            <a:ext cx="2416175" cy="1362075"/>
            <a:chOff x="2109" y="822"/>
            <a:chExt cx="1522" cy="858"/>
          </a:xfrm>
        </p:grpSpPr>
        <p:graphicFrame>
          <p:nvGraphicFramePr>
            <p:cNvPr id="14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1" name="Equation" r:id="rId8" imgW="1155700" imgH="431800" progId="Equation.DSMT4">
                    <p:embed/>
                  </p:oleObj>
                </mc:Choice>
                <mc:Fallback>
                  <p:oleObj name="Equation" r:id="rId8" imgW="1155700" imgH="431800" progId="Equation.DSMT4">
                    <p:embed/>
                    <p:pic>
                      <p:nvPicPr>
                        <p:cNvPr id="1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2" name="Equation" r:id="rId10" imgW="469696" imgH="177723" progId="Equation.DSMT4">
                    <p:embed/>
                  </p:oleObj>
                </mc:Choice>
                <mc:Fallback>
                  <p:oleObj name="Equation" r:id="rId10" imgW="469696" imgH="177723" progId="Equation.DSMT4">
                    <p:embed/>
                    <p:pic>
                      <p:nvPicPr>
                        <p:cNvPr id="15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39"/>
          <p:cNvGraphicFramePr>
            <a:graphicFrameLocks noChangeAspect="1"/>
          </p:cNvGraphicFramePr>
          <p:nvPr>
            <p:extLst/>
          </p:nvPr>
        </p:nvGraphicFramePr>
        <p:xfrm>
          <a:off x="5110524" y="5229428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12" imgW="1536700" imgH="431800" progId="Equation.DSMT4">
                  <p:embed/>
                </p:oleObj>
              </mc:Choice>
              <mc:Fallback>
                <p:oleObj name="Equation" r:id="rId12" imgW="1536700" imgH="431800" progId="Equation.DSMT4">
                  <p:embed/>
                  <p:pic>
                    <p:nvPicPr>
                      <p:cNvPr id="1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524" y="5229428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946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91" name="Group 223"/>
          <p:cNvGrpSpPr>
            <a:grpSpLocks/>
          </p:cNvGrpSpPr>
          <p:nvPr/>
        </p:nvGrpSpPr>
        <p:grpSpPr bwMode="auto">
          <a:xfrm>
            <a:off x="5580063" y="404813"/>
            <a:ext cx="2592387" cy="1871662"/>
            <a:chOff x="340" y="1570"/>
            <a:chExt cx="1633" cy="1179"/>
          </a:xfrm>
        </p:grpSpPr>
        <p:sp>
          <p:nvSpPr>
            <p:cNvPr id="32992" name="Text Box 224"/>
            <p:cNvSpPr txBox="1">
              <a:spLocks noChangeArrowheads="1"/>
            </p:cNvSpPr>
            <p:nvPr/>
          </p:nvSpPr>
          <p:spPr bwMode="auto">
            <a:xfrm>
              <a:off x="1320" y="1570"/>
              <a:ext cx="2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3" name="Text Box 225"/>
            <p:cNvSpPr txBox="1">
              <a:spLocks noChangeArrowheads="1"/>
            </p:cNvSpPr>
            <p:nvPr/>
          </p:nvSpPr>
          <p:spPr bwMode="auto">
            <a:xfrm>
              <a:off x="1172" y="2069"/>
              <a:ext cx="3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 dirty="0" smtClean="0">
                  <a:ea typeface="宋体" panose="02010600030101010101" pitchFamily="2" charset="-122"/>
                </a:rPr>
                <a:t>R</a:t>
              </a:r>
              <a:r>
                <a:rPr kumimoji="1" lang="en-US" altLang="zh-CN" baseline="-25000" dirty="0" smtClean="0">
                  <a:ea typeface="宋体" panose="02010600030101010101" pitchFamily="2" charset="-122"/>
                </a:rPr>
                <a:t>S</a:t>
              </a:r>
              <a:endParaRPr kumimoji="1"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32994" name="Text Box 226"/>
            <p:cNvSpPr txBox="1">
              <a:spLocks noChangeArrowheads="1"/>
            </p:cNvSpPr>
            <p:nvPr/>
          </p:nvSpPr>
          <p:spPr bwMode="auto">
            <a:xfrm>
              <a:off x="1614" y="1842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+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5" name="Text Box 227"/>
            <p:cNvSpPr txBox="1">
              <a:spLocks noChangeArrowheads="1"/>
            </p:cNvSpPr>
            <p:nvPr/>
          </p:nvSpPr>
          <p:spPr bwMode="auto">
            <a:xfrm>
              <a:off x="1662" y="2114"/>
              <a:ext cx="3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u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6" name="Text Box 228"/>
            <p:cNvSpPr txBox="1">
              <a:spLocks noChangeArrowheads="1"/>
            </p:cNvSpPr>
            <p:nvPr/>
          </p:nvSpPr>
          <p:spPr bwMode="auto">
            <a:xfrm>
              <a:off x="1614" y="2341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_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7" name="Line 229"/>
            <p:cNvSpPr>
              <a:spLocks noChangeShapeType="1"/>
            </p:cNvSpPr>
            <p:nvPr/>
          </p:nvSpPr>
          <p:spPr bwMode="auto">
            <a:xfrm>
              <a:off x="1270" y="1932"/>
              <a:ext cx="36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98" name="Line 230"/>
            <p:cNvSpPr>
              <a:spLocks noChangeShapeType="1"/>
            </p:cNvSpPr>
            <p:nvPr/>
          </p:nvSpPr>
          <p:spPr bwMode="auto">
            <a:xfrm>
              <a:off x="1074" y="1887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99" name="Oval 231"/>
            <p:cNvSpPr>
              <a:spLocks noChangeArrowheads="1"/>
            </p:cNvSpPr>
            <p:nvPr/>
          </p:nvSpPr>
          <p:spPr bwMode="auto">
            <a:xfrm>
              <a:off x="1837" y="1842"/>
              <a:ext cx="98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0" name="Line 232"/>
            <p:cNvSpPr>
              <a:spLocks noChangeShapeType="1"/>
            </p:cNvSpPr>
            <p:nvPr/>
          </p:nvSpPr>
          <p:spPr bwMode="auto">
            <a:xfrm>
              <a:off x="521" y="1888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1" name="Line 233"/>
            <p:cNvSpPr>
              <a:spLocks noChangeShapeType="1"/>
            </p:cNvSpPr>
            <p:nvPr/>
          </p:nvSpPr>
          <p:spPr bwMode="auto">
            <a:xfrm flipV="1">
              <a:off x="521" y="1968"/>
              <a:ext cx="0" cy="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2" name="Text Box 234"/>
            <p:cNvSpPr txBox="1">
              <a:spLocks noChangeArrowheads="1"/>
            </p:cNvSpPr>
            <p:nvPr/>
          </p:nvSpPr>
          <p:spPr bwMode="auto">
            <a:xfrm>
              <a:off x="567" y="1888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  <a:r>
                <a:rPr kumimoji="1" lang="en-US" altLang="zh-CN" baseline="-25000">
                  <a:solidFill>
                    <a:schemeClr val="bg1"/>
                  </a:solidFill>
                  <a:ea typeface="宋体" panose="02010600030101010101" pitchFamily="2" charset="-122"/>
                </a:rPr>
                <a:t>S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003" name="Line 235"/>
            <p:cNvSpPr>
              <a:spLocks noChangeShapeType="1"/>
            </p:cNvSpPr>
            <p:nvPr/>
          </p:nvSpPr>
          <p:spPr bwMode="auto">
            <a:xfrm>
              <a:off x="521" y="2703"/>
              <a:ext cx="13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4" name="Line 236"/>
            <p:cNvSpPr>
              <a:spLocks noChangeShapeType="1"/>
            </p:cNvSpPr>
            <p:nvPr/>
          </p:nvSpPr>
          <p:spPr bwMode="auto">
            <a:xfrm flipV="1">
              <a:off x="521" y="1887"/>
              <a:ext cx="13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005" name="Group 237"/>
            <p:cNvGrpSpPr>
              <a:grpSpLocks/>
            </p:cNvGrpSpPr>
            <p:nvPr/>
          </p:nvGrpSpPr>
          <p:grpSpPr bwMode="auto"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33006" name="Oval 238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3007" name="Line 239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008" name="Oval 240"/>
            <p:cNvSpPr>
              <a:spLocks noChangeArrowheads="1"/>
            </p:cNvSpPr>
            <p:nvPr/>
          </p:nvSpPr>
          <p:spPr bwMode="auto">
            <a:xfrm>
              <a:off x="1837" y="2658"/>
              <a:ext cx="98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9" name="Rectangle 241"/>
            <p:cNvSpPr>
              <a:spLocks noChangeArrowheads="1"/>
            </p:cNvSpPr>
            <p:nvPr/>
          </p:nvSpPr>
          <p:spPr bwMode="auto">
            <a:xfrm>
              <a:off x="1025" y="2114"/>
              <a:ext cx="13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503238" y="2997200"/>
            <a:ext cx="8532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等效是对外部电路等效，对内部电路是不等效的。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691680" y="4149725"/>
            <a:ext cx="38827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电流源开路， </a:t>
            </a:r>
            <a:r>
              <a:rPr kumimoji="1" lang="en-US" altLang="zh-CN" sz="2000" i="1" dirty="0" smtClean="0">
                <a:ea typeface="楷体_GB2312" pitchFamily="49" charset="-122"/>
              </a:rPr>
              <a:t>R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上有电流流过。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763688" y="5229225"/>
            <a:ext cx="3368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电流源短路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,  </a:t>
            </a:r>
            <a:r>
              <a:rPr kumimoji="1" lang="en-US" altLang="zh-CN" sz="2000" i="1" dirty="0" smtClean="0">
                <a:ea typeface="楷体_GB2312" pitchFamily="49" charset="-122"/>
              </a:rPr>
              <a:t>R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上无电流。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1547813" y="4652963"/>
            <a:ext cx="36150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电压源短路， </a:t>
            </a:r>
            <a:r>
              <a:rPr kumimoji="1" lang="en-US" altLang="zh-CN" sz="2000" i="1">
                <a:ea typeface="楷体_GB2312" pitchFamily="49" charset="-122"/>
              </a:rPr>
              <a:t>R</a:t>
            </a:r>
            <a:r>
              <a:rPr kumimoji="1" lang="en-US" altLang="zh-CN" sz="2000" baseline="-25000">
                <a:ea typeface="楷体_GB2312" pitchFamily="49" charset="-122"/>
              </a:rPr>
              <a:t>S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上有电流；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1331913" y="3556996"/>
            <a:ext cx="64087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电压源开路， </a:t>
            </a:r>
            <a:r>
              <a:rPr kumimoji="1" lang="en-US" altLang="zh-CN" sz="2000" i="1">
                <a:ea typeface="楷体_GB2312" pitchFamily="49" charset="-122"/>
              </a:rPr>
              <a:t>R</a:t>
            </a:r>
            <a:r>
              <a:rPr kumimoji="1" lang="en-US" altLang="zh-CN" sz="2000" baseline="-25000">
                <a:ea typeface="楷体_GB2312" pitchFamily="49" charset="-122"/>
              </a:rPr>
              <a:t>S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上无电流流过</a:t>
            </a:r>
            <a:endParaRPr kumimoji="1" lang="zh-CN" altLang="en-US" sz="2000" b="1">
              <a:ea typeface="楷体_GB2312" pitchFamily="49" charset="-122"/>
            </a:endParaRPr>
          </a:p>
        </p:txBody>
      </p:sp>
      <p:grpSp>
        <p:nvGrpSpPr>
          <p:cNvPr id="32776" name="Group 8"/>
          <p:cNvGrpSpPr>
            <a:grpSpLocks/>
          </p:cNvGrpSpPr>
          <p:nvPr/>
        </p:nvGrpSpPr>
        <p:grpSpPr bwMode="auto">
          <a:xfrm>
            <a:off x="6227763" y="1052513"/>
            <a:ext cx="381000" cy="914400"/>
            <a:chOff x="876" y="3312"/>
            <a:chExt cx="240" cy="576"/>
          </a:xfrm>
        </p:grpSpPr>
        <p:sp>
          <p:nvSpPr>
            <p:cNvPr id="32777" name="Oval 9"/>
            <p:cNvSpPr>
              <a:spLocks noChangeArrowheads="1"/>
            </p:cNvSpPr>
            <p:nvPr/>
          </p:nvSpPr>
          <p:spPr bwMode="auto">
            <a:xfrm>
              <a:off x="876" y="3312"/>
              <a:ext cx="240" cy="57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i="1" dirty="0" err="1">
                  <a:ea typeface="宋体" panose="02010600030101010101" pitchFamily="2" charset="-122"/>
                </a:rPr>
                <a:t>i</a:t>
              </a:r>
              <a:r>
                <a:rPr kumimoji="1" lang="en-US" altLang="zh-CN" sz="2400" b="1" i="1" baseline="-25000" dirty="0" err="1">
                  <a:ea typeface="宋体" panose="02010600030101010101" pitchFamily="2" charset="-122"/>
                </a:rPr>
                <a:t>S</a:t>
              </a:r>
              <a:endParaRPr kumimoji="1" lang="en-US" altLang="zh-CN" sz="2400" b="1" dirty="0">
                <a:ea typeface="宋体" panose="02010600030101010101" pitchFamily="2" charset="-122"/>
              </a:endParaRPr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1116" y="3564"/>
              <a:ext cx="0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623888" y="5734050"/>
            <a:ext cx="826859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理想电压源与理想电流源不能相互转换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含独立电源的一端口网络最简单等效电路：戴维南支路或诺顿支路</a:t>
            </a:r>
            <a:endParaRPr kumimoji="1"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19" name="Text Box 51"/>
          <p:cNvSpPr txBox="1">
            <a:spLocks noChangeArrowheads="1"/>
          </p:cNvSpPr>
          <p:nvPr/>
        </p:nvSpPr>
        <p:spPr bwMode="auto">
          <a:xfrm>
            <a:off x="468313" y="1412875"/>
            <a:ext cx="2663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变换关系</a:t>
            </a:r>
            <a:endParaRPr kumimoji="1" lang="zh-CN" altLang="en-US" sz="2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 flipH="1">
            <a:off x="6916749" y="-3972905"/>
            <a:ext cx="360363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826" name="Group 58"/>
          <p:cNvGrpSpPr>
            <a:grpSpLocks/>
          </p:cNvGrpSpPr>
          <p:nvPr/>
        </p:nvGrpSpPr>
        <p:grpSpPr bwMode="auto">
          <a:xfrm>
            <a:off x="3851275" y="908050"/>
            <a:ext cx="647700" cy="1333500"/>
            <a:chOff x="4992" y="2797"/>
            <a:chExt cx="408" cy="840"/>
          </a:xfrm>
        </p:grpSpPr>
        <p:sp>
          <p:nvSpPr>
            <p:cNvPr id="32827" name="Oval 59"/>
            <p:cNvSpPr>
              <a:spLocks noChangeArrowheads="1"/>
            </p:cNvSpPr>
            <p:nvPr/>
          </p:nvSpPr>
          <p:spPr bwMode="auto">
            <a:xfrm>
              <a:off x="4992" y="2797"/>
              <a:ext cx="408" cy="8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8" name="Line 60"/>
            <p:cNvSpPr>
              <a:spLocks noChangeShapeType="1"/>
            </p:cNvSpPr>
            <p:nvPr/>
          </p:nvSpPr>
          <p:spPr bwMode="auto">
            <a:xfrm>
              <a:off x="5400" y="3101"/>
              <a:ext cx="0" cy="2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9" name="Text Box 61"/>
            <p:cNvSpPr txBox="1">
              <a:spLocks noChangeArrowheads="1"/>
            </p:cNvSpPr>
            <p:nvPr/>
          </p:nvSpPr>
          <p:spPr bwMode="auto">
            <a:xfrm>
              <a:off x="5112" y="3058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ea typeface="宋体" panose="02010600030101010101" pitchFamily="2" charset="-122"/>
                </a:rPr>
                <a:t>i</a:t>
              </a:r>
              <a:endParaRPr kumimoji="1" lang="en-US" altLang="zh-CN" sz="2400" b="1" i="1">
                <a:ea typeface="宋体" panose="02010600030101010101" pitchFamily="2" charset="-122"/>
              </a:endParaRPr>
            </a:p>
          </p:txBody>
        </p:sp>
      </p:grpSp>
      <p:grpSp>
        <p:nvGrpSpPr>
          <p:cNvPr id="32830" name="Group 62"/>
          <p:cNvGrpSpPr>
            <a:grpSpLocks/>
          </p:cNvGrpSpPr>
          <p:nvPr/>
        </p:nvGrpSpPr>
        <p:grpSpPr bwMode="auto">
          <a:xfrm>
            <a:off x="4932363" y="692150"/>
            <a:ext cx="355600" cy="1728788"/>
            <a:chOff x="2064" y="444"/>
            <a:chExt cx="224" cy="1055"/>
          </a:xfrm>
        </p:grpSpPr>
        <p:sp>
          <p:nvSpPr>
            <p:cNvPr id="32831" name="Line 63"/>
            <p:cNvSpPr>
              <a:spLocks noChangeShapeType="1"/>
            </p:cNvSpPr>
            <p:nvPr/>
          </p:nvSpPr>
          <p:spPr bwMode="auto">
            <a:xfrm>
              <a:off x="2288" y="444"/>
              <a:ext cx="0" cy="10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2" name="Line 64"/>
            <p:cNvSpPr>
              <a:spLocks noChangeShapeType="1"/>
            </p:cNvSpPr>
            <p:nvPr/>
          </p:nvSpPr>
          <p:spPr bwMode="auto">
            <a:xfrm>
              <a:off x="2064" y="444"/>
              <a:ext cx="2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3" name="Line 65"/>
            <p:cNvSpPr>
              <a:spLocks noChangeShapeType="1"/>
            </p:cNvSpPr>
            <p:nvPr/>
          </p:nvSpPr>
          <p:spPr bwMode="auto">
            <a:xfrm>
              <a:off x="2064" y="1488"/>
              <a:ext cx="2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4" name="Group 66"/>
          <p:cNvGrpSpPr>
            <a:grpSpLocks/>
          </p:cNvGrpSpPr>
          <p:nvPr/>
        </p:nvGrpSpPr>
        <p:grpSpPr bwMode="auto">
          <a:xfrm>
            <a:off x="8027988" y="908050"/>
            <a:ext cx="361950" cy="1295400"/>
            <a:chOff x="4608" y="528"/>
            <a:chExt cx="228" cy="816"/>
          </a:xfrm>
        </p:grpSpPr>
        <p:sp>
          <p:nvSpPr>
            <p:cNvPr id="32835" name="Line 67"/>
            <p:cNvSpPr>
              <a:spLocks noChangeShapeType="1"/>
            </p:cNvSpPr>
            <p:nvPr/>
          </p:nvSpPr>
          <p:spPr bwMode="auto">
            <a:xfrm>
              <a:off x="4836" y="528"/>
              <a:ext cx="0" cy="8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6" name="Line 68"/>
            <p:cNvSpPr>
              <a:spLocks noChangeShapeType="1"/>
            </p:cNvSpPr>
            <p:nvPr/>
          </p:nvSpPr>
          <p:spPr bwMode="auto">
            <a:xfrm>
              <a:off x="4608" y="528"/>
              <a:ext cx="2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7" name="Line 69"/>
            <p:cNvSpPr>
              <a:spLocks noChangeShapeType="1"/>
            </p:cNvSpPr>
            <p:nvPr/>
          </p:nvSpPr>
          <p:spPr bwMode="auto">
            <a:xfrm>
              <a:off x="4608" y="1344"/>
              <a:ext cx="2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875" name="Text Box 107"/>
          <p:cNvSpPr txBox="1">
            <a:spLocks noChangeArrowheads="1"/>
          </p:cNvSpPr>
          <p:nvPr/>
        </p:nvSpPr>
        <p:spPr bwMode="auto">
          <a:xfrm>
            <a:off x="718345" y="3868743"/>
            <a:ext cx="481012" cy="120032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</a:rPr>
              <a:t>表现在</a:t>
            </a:r>
          </a:p>
        </p:txBody>
      </p:sp>
      <p:grpSp>
        <p:nvGrpSpPr>
          <p:cNvPr id="32927" name="Group 159"/>
          <p:cNvGrpSpPr>
            <a:grpSpLocks/>
          </p:cNvGrpSpPr>
          <p:nvPr/>
        </p:nvGrpSpPr>
        <p:grpSpPr bwMode="auto">
          <a:xfrm>
            <a:off x="2771775" y="620713"/>
            <a:ext cx="2205038" cy="1873250"/>
            <a:chOff x="2816" y="391"/>
            <a:chExt cx="1389" cy="1180"/>
          </a:xfrm>
        </p:grpSpPr>
        <p:sp>
          <p:nvSpPr>
            <p:cNvPr id="32928" name="Oval 160"/>
            <p:cNvSpPr>
              <a:spLocks noChangeArrowheads="1"/>
            </p:cNvSpPr>
            <p:nvPr/>
          </p:nvSpPr>
          <p:spPr bwMode="auto">
            <a:xfrm>
              <a:off x="3107" y="618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2929" name="Text Box 161"/>
            <p:cNvSpPr txBox="1">
              <a:spLocks noChangeArrowheads="1"/>
            </p:cNvSpPr>
            <p:nvPr/>
          </p:nvSpPr>
          <p:spPr bwMode="auto">
            <a:xfrm>
              <a:off x="3787" y="391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2930" name="Text Box 162"/>
            <p:cNvSpPr txBox="1">
              <a:spLocks noChangeArrowheads="1"/>
            </p:cNvSpPr>
            <p:nvPr/>
          </p:nvSpPr>
          <p:spPr bwMode="auto">
            <a:xfrm>
              <a:off x="2998" y="438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32931" name="Text Box 163"/>
            <p:cNvSpPr txBox="1">
              <a:spLocks noChangeArrowheads="1"/>
            </p:cNvSpPr>
            <p:nvPr/>
          </p:nvSpPr>
          <p:spPr bwMode="auto">
            <a:xfrm>
              <a:off x="2971" y="801"/>
              <a:ext cx="2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32932" name="Text Box 164"/>
            <p:cNvSpPr txBox="1">
              <a:spLocks noChangeArrowheads="1"/>
            </p:cNvSpPr>
            <p:nvPr/>
          </p:nvSpPr>
          <p:spPr bwMode="auto">
            <a:xfrm>
              <a:off x="2816" y="618"/>
              <a:ext cx="3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 err="1">
                  <a:ea typeface="宋体" panose="02010600030101010101" pitchFamily="2" charset="-122"/>
                </a:rPr>
                <a:t>u</a:t>
              </a:r>
              <a:r>
                <a:rPr kumimoji="1" lang="en-US" altLang="zh-CN" b="1" baseline="-25000" dirty="0" err="1">
                  <a:ea typeface="宋体" panose="02010600030101010101" pitchFamily="2" charset="-122"/>
                </a:rPr>
                <a:t>S</a:t>
              </a:r>
              <a:endParaRPr kumimoji="1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2933" name="Line 165"/>
            <p:cNvSpPr>
              <a:spLocks noChangeShapeType="1"/>
            </p:cNvSpPr>
            <p:nvPr/>
          </p:nvSpPr>
          <p:spPr bwMode="auto">
            <a:xfrm>
              <a:off x="3515" y="527"/>
              <a:ext cx="3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34" name="Text Box 166"/>
            <p:cNvSpPr txBox="1">
              <a:spLocks noChangeArrowheads="1"/>
            </p:cNvSpPr>
            <p:nvPr/>
          </p:nvSpPr>
          <p:spPr bwMode="auto">
            <a:xfrm>
              <a:off x="2880" y="1071"/>
              <a:ext cx="4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>
                  <a:ea typeface="宋体" panose="02010600030101010101" pitchFamily="2" charset="-122"/>
                </a:rPr>
                <a:t>R</a:t>
              </a:r>
              <a:r>
                <a:rPr kumimoji="1" lang="en-US" altLang="zh-CN" b="1" baseline="-25000" dirty="0">
                  <a:ea typeface="宋体" panose="02010600030101010101" pitchFamily="2" charset="-122"/>
                </a:rPr>
                <a:t>S</a:t>
              </a:r>
              <a:endParaRPr kumimoji="1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2935" name="Text Box 167"/>
            <p:cNvSpPr txBox="1">
              <a:spLocks noChangeArrowheads="1"/>
            </p:cNvSpPr>
            <p:nvPr/>
          </p:nvSpPr>
          <p:spPr bwMode="auto">
            <a:xfrm>
              <a:off x="3878" y="391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+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6" name="Text Box 168"/>
            <p:cNvSpPr txBox="1">
              <a:spLocks noChangeArrowheads="1"/>
            </p:cNvSpPr>
            <p:nvPr/>
          </p:nvSpPr>
          <p:spPr bwMode="auto">
            <a:xfrm>
              <a:off x="3878" y="799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u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7" name="Text Box 169"/>
            <p:cNvSpPr txBox="1">
              <a:spLocks noChangeArrowheads="1"/>
            </p:cNvSpPr>
            <p:nvPr/>
          </p:nvSpPr>
          <p:spPr bwMode="auto">
            <a:xfrm>
              <a:off x="3878" y="1162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_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8" name="Line 170"/>
            <p:cNvSpPr>
              <a:spLocks noChangeShapeType="1"/>
            </p:cNvSpPr>
            <p:nvPr/>
          </p:nvSpPr>
          <p:spPr bwMode="auto">
            <a:xfrm>
              <a:off x="3288" y="1525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39" name="Line 171"/>
            <p:cNvSpPr>
              <a:spLocks noChangeShapeType="1"/>
            </p:cNvSpPr>
            <p:nvPr/>
          </p:nvSpPr>
          <p:spPr bwMode="auto">
            <a:xfrm>
              <a:off x="3288" y="436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0" name="Line 172"/>
            <p:cNvSpPr>
              <a:spLocks noChangeShapeType="1"/>
            </p:cNvSpPr>
            <p:nvPr/>
          </p:nvSpPr>
          <p:spPr bwMode="auto">
            <a:xfrm flipV="1">
              <a:off x="3288" y="436"/>
              <a:ext cx="0" cy="10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1" name="Rectangle 173"/>
            <p:cNvSpPr>
              <a:spLocks noChangeArrowheads="1"/>
            </p:cNvSpPr>
            <p:nvPr/>
          </p:nvSpPr>
          <p:spPr bwMode="auto">
            <a:xfrm>
              <a:off x="3244" y="1071"/>
              <a:ext cx="105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2" name="Oval 174"/>
            <p:cNvSpPr>
              <a:spLocks noChangeArrowheads="1"/>
            </p:cNvSpPr>
            <p:nvPr/>
          </p:nvSpPr>
          <p:spPr bwMode="auto">
            <a:xfrm>
              <a:off x="4104" y="391"/>
              <a:ext cx="91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3" name="Oval 175"/>
            <p:cNvSpPr>
              <a:spLocks noChangeArrowheads="1"/>
            </p:cNvSpPr>
            <p:nvPr/>
          </p:nvSpPr>
          <p:spPr bwMode="auto">
            <a:xfrm>
              <a:off x="4104" y="1480"/>
              <a:ext cx="91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964" name="Group 196"/>
          <p:cNvGrpSpPr>
            <a:grpSpLocks/>
          </p:cNvGrpSpPr>
          <p:nvPr/>
        </p:nvGrpSpPr>
        <p:grpSpPr bwMode="auto">
          <a:xfrm>
            <a:off x="611188" y="2060574"/>
            <a:ext cx="8137525" cy="863600"/>
            <a:chOff x="476" y="754"/>
            <a:chExt cx="5126" cy="544"/>
          </a:xfrm>
        </p:grpSpPr>
        <p:sp>
          <p:nvSpPr>
            <p:cNvPr id="32818" name="Rectangle 50"/>
            <p:cNvSpPr>
              <a:spLocks noChangeArrowheads="1"/>
            </p:cNvSpPr>
            <p:nvPr/>
          </p:nvSpPr>
          <p:spPr bwMode="auto">
            <a:xfrm>
              <a:off x="521" y="1026"/>
              <a:ext cx="508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ea typeface="楷体_GB2312" pitchFamily="49" charset="-122"/>
                </a:rPr>
                <a:t>方向：电流源电流方向与电压源电压方向相反。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521" y="754"/>
              <a:ext cx="9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数值</a:t>
              </a:r>
              <a:r>
                <a:rPr kumimoji="1" lang="zh-CN" altLang="en-US" sz="2000" b="1" dirty="0" smtClean="0">
                  <a:latin typeface="楷体_GB2312" pitchFamily="49" charset="-122"/>
                  <a:ea typeface="楷体_GB2312" pitchFamily="49" charset="-122"/>
                </a:rPr>
                <a:t>关系：</a:t>
              </a:r>
              <a:endParaRPr kumimoji="1" lang="zh-CN" altLang="en-US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2963" name="AutoShape 195"/>
            <p:cNvSpPr>
              <a:spLocks/>
            </p:cNvSpPr>
            <p:nvPr/>
          </p:nvSpPr>
          <p:spPr bwMode="auto">
            <a:xfrm>
              <a:off x="476" y="845"/>
              <a:ext cx="45" cy="453"/>
            </a:xfrm>
            <a:prstGeom prst="leftBrace">
              <a:avLst>
                <a:gd name="adj1" fmla="val 83889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32965" name="AutoShape 197"/>
          <p:cNvSpPr>
            <a:spLocks/>
          </p:cNvSpPr>
          <p:nvPr/>
        </p:nvSpPr>
        <p:spPr bwMode="auto">
          <a:xfrm>
            <a:off x="1331913" y="3573463"/>
            <a:ext cx="287337" cy="2087562"/>
          </a:xfrm>
          <a:prstGeom prst="leftBrace">
            <a:avLst>
              <a:gd name="adj1" fmla="val 60543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202" name="Picture 2" descr="https://img.zcool.cn/community/0133a1593cb8a1a8012193a31a39a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0" y="131761"/>
            <a:ext cx="1320801" cy="132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电源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33130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5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2" grpId="0" autoUpdateAnimBg="0"/>
      <p:bldP spid="32773" grpId="0" autoUpdateAnimBg="0"/>
      <p:bldP spid="32774" grpId="0" autoUpdateAnimBg="0"/>
      <p:bldP spid="32775" grpId="0" autoUpdateAnimBg="0"/>
      <p:bldP spid="32779" grpId="0"/>
      <p:bldP spid="32819" grpId="0" autoUpdateAnimBg="0"/>
      <p:bldP spid="32875" grpId="0" animBg="1" autoUpdateAnimBg="0"/>
      <p:bldP spid="3296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113331-E8C8-476B-9753-038B56AE41B6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AC94C8-C5CB-48BE-A534-3C91DCB36FDA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22541" name="Rectangle 21"/>
          <p:cNvSpPr>
            <a:spLocks noChangeArrowheads="1"/>
          </p:cNvSpPr>
          <p:nvPr/>
        </p:nvSpPr>
        <p:spPr bwMode="auto">
          <a:xfrm>
            <a:off x="381000" y="66833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受控电源变换</a:t>
            </a:r>
          </a:p>
        </p:txBody>
      </p:sp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电源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1763713" y="1484313"/>
            <a:ext cx="691197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受控电源和独立电源有本质上的不同，但在列写网络方程和对网络进行化简时，可以把受控电源作为独立电源来对待。 </a:t>
            </a:r>
            <a:endParaRPr lang="zh-CN" altLang="en-US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Rectangle 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1906588" y="35718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Visio" r:id="rId3" imgW="209702" imgH="209702" progId="Visio.Drawing.6">
                  <p:embed/>
                </p:oleObj>
              </mc:Choice>
              <mc:Fallback>
                <p:oleObj name="Visio" r:id="rId3" imgW="209702" imgH="209702" progId="Visio.Drawing.6">
                  <p:embed/>
                  <p:pic>
                    <p:nvPicPr>
                      <p:cNvPr id="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571875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Object 15"/>
          <p:cNvGraphicFramePr>
            <a:graphicFrameLocks noChangeAspect="1"/>
          </p:cNvGraphicFramePr>
          <p:nvPr/>
        </p:nvGraphicFramePr>
        <p:xfrm>
          <a:off x="6731000" y="35718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Visio" r:id="rId5" imgW="209702" imgH="209702" progId="Visio.Drawing.6">
                  <p:embed/>
                </p:oleObj>
              </mc:Choice>
              <mc:Fallback>
                <p:oleObj name="Visio" r:id="rId5" imgW="209702" imgH="209702" progId="Visio.Drawing.6">
                  <p:embed/>
                  <p:pic>
                    <p:nvPicPr>
                      <p:cNvPr id="3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3571875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Rectangle 24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" name="Rectangle 26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" name="Rectangle 2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Object 27"/>
          <p:cNvGraphicFramePr>
            <a:graphicFrameLocks noChangeAspect="1"/>
          </p:cNvGraphicFramePr>
          <p:nvPr/>
        </p:nvGraphicFramePr>
        <p:xfrm>
          <a:off x="6335713" y="5300663"/>
          <a:ext cx="46831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Visio" r:id="rId6" imgW="331622" imgH="209702" progId="Visio.Drawing.6">
                  <p:embed/>
                </p:oleObj>
              </mc:Choice>
              <mc:Fallback>
                <p:oleObj name="Visio" r:id="rId6" imgW="331622" imgH="209702" progId="Visio.Drawing.6">
                  <p:embed/>
                  <p:pic>
                    <p:nvPicPr>
                      <p:cNvPr id="4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5300663"/>
                        <a:ext cx="468312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30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Object 29"/>
          <p:cNvGraphicFramePr>
            <a:graphicFrameLocks noChangeAspect="1"/>
          </p:cNvGraphicFramePr>
          <p:nvPr/>
        </p:nvGraphicFramePr>
        <p:xfrm>
          <a:off x="1908175" y="5300663"/>
          <a:ext cx="46831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Visio" r:id="rId8" imgW="331622" imgH="209702" progId="Visio.Drawing.6">
                  <p:embed/>
                </p:oleObj>
              </mc:Choice>
              <mc:Fallback>
                <p:oleObj name="Visio" r:id="rId8" imgW="331622" imgH="209702" progId="Visio.Drawing.6">
                  <p:embed/>
                  <p:pic>
                    <p:nvPicPr>
                      <p:cNvPr id="4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300663"/>
                        <a:ext cx="468313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2"/>
          <p:cNvGraphicFramePr>
            <a:graphicFrameLocks noChangeAspect="1"/>
          </p:cNvGraphicFramePr>
          <p:nvPr/>
        </p:nvGraphicFramePr>
        <p:xfrm>
          <a:off x="827088" y="1555750"/>
          <a:ext cx="850900" cy="288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name="Visio" r:id="rId9" imgW="518465" imgH="1761744" progId="Visio.Drawing.6">
                  <p:embed/>
                </p:oleObj>
              </mc:Choice>
              <mc:Fallback>
                <p:oleObj name="Visio" r:id="rId9" imgW="518465" imgH="1761744" progId="Visio.Drawing.6">
                  <p:embed/>
                  <p:pic>
                    <p:nvPicPr>
                      <p:cNvPr id="4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5750"/>
                        <a:ext cx="850900" cy="288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3"/>
          <p:cNvGraphicFramePr>
            <a:graphicFrameLocks noChangeAspect="1"/>
          </p:cNvGraphicFramePr>
          <p:nvPr/>
        </p:nvGraphicFramePr>
        <p:xfrm>
          <a:off x="2555875" y="3068638"/>
          <a:ext cx="1138238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Visio" r:id="rId11" imgW="577901" imgH="694944" progId="Visio.Drawing.6">
                  <p:embed/>
                </p:oleObj>
              </mc:Choice>
              <mc:Fallback>
                <p:oleObj name="Visio" r:id="rId11" imgW="577901" imgH="694944" progId="Visio.Drawing.6">
                  <p:embed/>
                  <p:pic>
                    <p:nvPicPr>
                      <p:cNvPr id="5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638"/>
                        <a:ext cx="1138238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4"/>
          <p:cNvGraphicFramePr>
            <a:graphicFrameLocks noChangeAspect="1"/>
          </p:cNvGraphicFramePr>
          <p:nvPr/>
        </p:nvGraphicFramePr>
        <p:xfrm>
          <a:off x="4295775" y="3127375"/>
          <a:ext cx="2147888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Visio" r:id="rId13" imgW="1139647" imgH="694944" progId="Visio.Drawing.6">
                  <p:embed/>
                </p:oleObj>
              </mc:Choice>
              <mc:Fallback>
                <p:oleObj name="Visio" r:id="rId13" imgW="1139647" imgH="694944" progId="Visio.Drawing.6">
                  <p:embed/>
                  <p:pic>
                    <p:nvPicPr>
                      <p:cNvPr id="5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127375"/>
                        <a:ext cx="2147888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5"/>
          <p:cNvGraphicFramePr>
            <a:graphicFrameLocks noChangeAspect="1"/>
          </p:cNvGraphicFramePr>
          <p:nvPr/>
        </p:nvGraphicFramePr>
        <p:xfrm>
          <a:off x="7397750" y="3141663"/>
          <a:ext cx="990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" name="Visio" r:id="rId15" imgW="531571" imgH="694944" progId="Visio.Drawing.6">
                  <p:embed/>
                </p:oleObj>
              </mc:Choice>
              <mc:Fallback>
                <p:oleObj name="Visio" r:id="rId15" imgW="531571" imgH="694944" progId="Visio.Drawing.6">
                  <p:embed/>
                  <p:pic>
                    <p:nvPicPr>
                      <p:cNvPr id="5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141663"/>
                        <a:ext cx="9906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6"/>
          <p:cNvGraphicFramePr>
            <a:graphicFrameLocks noChangeAspect="1"/>
          </p:cNvGraphicFramePr>
          <p:nvPr/>
        </p:nvGraphicFramePr>
        <p:xfrm>
          <a:off x="827088" y="4797425"/>
          <a:ext cx="102076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Visio" r:id="rId17" imgW="594665" imgH="799186" progId="Visio.Drawing.6">
                  <p:embed/>
                </p:oleObj>
              </mc:Choice>
              <mc:Fallback>
                <p:oleObj name="Visio" r:id="rId17" imgW="594665" imgH="799186" progId="Visio.Drawing.6">
                  <p:embed/>
                  <p:pic>
                    <p:nvPicPr>
                      <p:cNvPr id="5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97425"/>
                        <a:ext cx="102076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47"/>
          <p:cNvGraphicFramePr>
            <a:graphicFrameLocks noChangeAspect="1"/>
          </p:cNvGraphicFramePr>
          <p:nvPr/>
        </p:nvGraphicFramePr>
        <p:xfrm>
          <a:off x="2762250" y="4797425"/>
          <a:ext cx="13017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Visio" r:id="rId19" imgW="747065" imgH="786384" progId="Visio.Drawing.6">
                  <p:embed/>
                </p:oleObj>
              </mc:Choice>
              <mc:Fallback>
                <p:oleObj name="Visio" r:id="rId19" imgW="747065" imgH="786384" progId="Visio.Drawing.6">
                  <p:embed/>
                  <p:pic>
                    <p:nvPicPr>
                      <p:cNvPr id="5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4797425"/>
                        <a:ext cx="13017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8"/>
          <p:cNvGraphicFramePr>
            <a:graphicFrameLocks noChangeAspect="1"/>
          </p:cNvGraphicFramePr>
          <p:nvPr/>
        </p:nvGraphicFramePr>
        <p:xfrm>
          <a:off x="4859338" y="4797425"/>
          <a:ext cx="13017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Visio" r:id="rId21" imgW="747065" imgH="786384" progId="Visio.Drawing.6">
                  <p:embed/>
                </p:oleObj>
              </mc:Choice>
              <mc:Fallback>
                <p:oleObj name="Visio" r:id="rId21" imgW="747065" imgH="786384" progId="Visio.Drawing.6">
                  <p:embed/>
                  <p:pic>
                    <p:nvPicPr>
                      <p:cNvPr id="55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797425"/>
                        <a:ext cx="13017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49"/>
          <p:cNvGraphicFramePr>
            <a:graphicFrameLocks noChangeAspect="1"/>
          </p:cNvGraphicFramePr>
          <p:nvPr/>
        </p:nvGraphicFramePr>
        <p:xfrm>
          <a:off x="7205663" y="4724400"/>
          <a:ext cx="107473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Visio" r:id="rId23" imgW="594665" imgH="799186" progId="Visio.Drawing.6">
                  <p:embed/>
                </p:oleObj>
              </mc:Choice>
              <mc:Fallback>
                <p:oleObj name="Visio" r:id="rId23" imgW="594665" imgH="799186" progId="Visio.Drawing.6">
                  <p:embed/>
                  <p:pic>
                    <p:nvPicPr>
                      <p:cNvPr id="56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3" y="4724400"/>
                        <a:ext cx="1074737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755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02A990-CF6F-493B-A2EE-57281261533C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208C0-9FA7-4866-967F-2B2CE7D7D610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23557" name="Object 2"/>
          <p:cNvGraphicFramePr>
            <a:graphicFrameLocks noChangeAspect="1"/>
          </p:cNvGraphicFramePr>
          <p:nvPr/>
        </p:nvGraphicFramePr>
        <p:xfrm>
          <a:off x="1793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Visio" r:id="rId3" imgW="1294019" imgH="1189434" progId="Visio.Drawing.11">
                  <p:embed/>
                </p:oleObj>
              </mc:Choice>
              <mc:Fallback>
                <p:oleObj name="Visio" r:id="rId3" imgW="1294019" imgH="1189434" progId="Visio.Drawing.11">
                  <p:embed/>
                  <p:pic>
                    <p:nvPicPr>
                      <p:cNvPr id="2355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3"/>
          <p:cNvGraphicFramePr>
            <a:graphicFrameLocks noChangeAspect="1"/>
          </p:cNvGraphicFramePr>
          <p:nvPr/>
        </p:nvGraphicFramePr>
        <p:xfrm>
          <a:off x="3276600" y="1125538"/>
          <a:ext cx="2465388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Visio" r:id="rId5" imgW="1294019" imgH="1189434" progId="Visio.Drawing.11">
                  <p:embed/>
                </p:oleObj>
              </mc:Choice>
              <mc:Fallback>
                <p:oleObj name="Visio" r:id="rId5" imgW="1294019" imgH="1189434" progId="Visio.Drawing.11">
                  <p:embed/>
                  <p:pic>
                    <p:nvPicPr>
                      <p:cNvPr id="2355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25538"/>
                        <a:ext cx="2465388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4"/>
          <p:cNvGraphicFramePr>
            <a:graphicFrameLocks noChangeAspect="1"/>
          </p:cNvGraphicFramePr>
          <p:nvPr/>
        </p:nvGraphicFramePr>
        <p:xfrm>
          <a:off x="63007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Visio" r:id="rId7" imgW="1294019" imgH="1189434" progId="Visio.Drawing.11">
                  <p:embed/>
                </p:oleObj>
              </mc:Choice>
              <mc:Fallback>
                <p:oleObj name="Visio" r:id="rId7" imgW="1294019" imgH="1189434" progId="Visio.Drawing.11">
                  <p:embed/>
                  <p:pic>
                    <p:nvPicPr>
                      <p:cNvPr id="2355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5"/>
          <p:cNvGraphicFramePr>
            <a:graphicFrameLocks noChangeAspect="1"/>
          </p:cNvGraphicFramePr>
          <p:nvPr/>
        </p:nvGraphicFramePr>
        <p:xfrm>
          <a:off x="395288" y="3957638"/>
          <a:ext cx="2097087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Visio" r:id="rId9" imgW="1100709" imgH="877824" progId="Visio.Drawing.11">
                  <p:embed/>
                </p:oleObj>
              </mc:Choice>
              <mc:Fallback>
                <p:oleObj name="Visio" r:id="rId9" imgW="1100709" imgH="877824" progId="Visio.Drawing.11">
                  <p:embed/>
                  <p:pic>
                    <p:nvPicPr>
                      <p:cNvPr id="235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57638"/>
                        <a:ext cx="2097087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6"/>
          <p:cNvGraphicFramePr>
            <a:graphicFrameLocks noChangeAspect="1"/>
          </p:cNvGraphicFramePr>
          <p:nvPr/>
        </p:nvGraphicFramePr>
        <p:xfrm>
          <a:off x="6443663" y="3957638"/>
          <a:ext cx="252095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Visio" r:id="rId11" imgW="1336024" imgH="987552" progId="Visio.Drawing.11">
                  <p:embed/>
                </p:oleObj>
              </mc:Choice>
              <mc:Fallback>
                <p:oleObj name="Visio" r:id="rId11" imgW="1336024" imgH="987552" progId="Visio.Drawing.11">
                  <p:embed/>
                  <p:pic>
                    <p:nvPicPr>
                      <p:cNvPr id="235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957638"/>
                        <a:ext cx="2520950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7"/>
          <p:cNvGraphicFramePr>
            <a:graphicFrameLocks noChangeAspect="1"/>
          </p:cNvGraphicFramePr>
          <p:nvPr/>
        </p:nvGraphicFramePr>
        <p:xfrm>
          <a:off x="3276600" y="3884613"/>
          <a:ext cx="2582863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Visio" r:id="rId13" imgW="1336024" imgH="987552" progId="Visio.Drawing.11">
                  <p:embed/>
                </p:oleObj>
              </mc:Choice>
              <mc:Fallback>
                <p:oleObj name="Visio" r:id="rId13" imgW="1336024" imgH="987552" progId="Visio.Drawing.11">
                  <p:embed/>
                  <p:pic>
                    <p:nvPicPr>
                      <p:cNvPr id="2356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84613"/>
                        <a:ext cx="2582863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971550" y="3463925"/>
          <a:ext cx="121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name="公式" r:id="rId15" imgW="609336" imgH="215806" progId="Equation.3">
                  <p:embed/>
                </p:oleObj>
              </mc:Choice>
              <mc:Fallback>
                <p:oleObj name="公式" r:id="rId15" imgW="609336" imgH="215806" progId="Equation.3">
                  <p:embed/>
                  <p:pic>
                    <p:nvPicPr>
                      <p:cNvPr id="276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63925"/>
                        <a:ext cx="12192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9" name="Object 9"/>
          <p:cNvGraphicFramePr>
            <a:graphicFrameLocks noChangeAspect="1"/>
          </p:cNvGraphicFramePr>
          <p:nvPr/>
        </p:nvGraphicFramePr>
        <p:xfrm>
          <a:off x="4127500" y="3349625"/>
          <a:ext cx="124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name="公式" r:id="rId17" imgW="622030" imgH="330057" progId="Equation.3">
                  <p:embed/>
                </p:oleObj>
              </mc:Choice>
              <mc:Fallback>
                <p:oleObj name="公式" r:id="rId17" imgW="622030" imgH="330057" progId="Equation.3">
                  <p:embed/>
                  <p:pic>
                    <p:nvPicPr>
                      <p:cNvPr id="276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349625"/>
                        <a:ext cx="1244600" cy="660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0" name="Object 10"/>
          <p:cNvGraphicFramePr>
            <a:graphicFrameLocks noChangeAspect="1"/>
          </p:cNvGraphicFramePr>
          <p:nvPr/>
        </p:nvGraphicFramePr>
        <p:xfrm>
          <a:off x="7092950" y="3390900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0" name="公式" r:id="rId19" imgW="761669" imgH="215806" progId="Equation.3">
                  <p:embed/>
                </p:oleObj>
              </mc:Choice>
              <mc:Fallback>
                <p:oleObj name="公式" r:id="rId19" imgW="761669" imgH="215806" progId="Equation.3">
                  <p:embed/>
                  <p:pic>
                    <p:nvPicPr>
                      <p:cNvPr id="276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390900"/>
                        <a:ext cx="15240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1" name="Object 11"/>
          <p:cNvGraphicFramePr>
            <a:graphicFrameLocks noChangeAspect="1"/>
          </p:cNvGraphicFramePr>
          <p:nvPr/>
        </p:nvGraphicFramePr>
        <p:xfrm>
          <a:off x="598488" y="5767388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公式" r:id="rId21" imgW="774364" imgH="215806" progId="Equation.3">
                  <p:embed/>
                </p:oleObj>
              </mc:Choice>
              <mc:Fallback>
                <p:oleObj name="公式" r:id="rId21" imgW="774364" imgH="215806" progId="Equation.3">
                  <p:embed/>
                  <p:pic>
                    <p:nvPicPr>
                      <p:cNvPr id="276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5767388"/>
                        <a:ext cx="15494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2" name="Object 12"/>
          <p:cNvGraphicFramePr>
            <a:graphicFrameLocks noChangeAspect="1"/>
          </p:cNvGraphicFramePr>
          <p:nvPr/>
        </p:nvGraphicFramePr>
        <p:xfrm>
          <a:off x="3924300" y="5670550"/>
          <a:ext cx="1244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公式" r:id="rId23" imgW="622030" imgH="355446" progId="Equation.3">
                  <p:embed/>
                </p:oleObj>
              </mc:Choice>
              <mc:Fallback>
                <p:oleObj name="公式" r:id="rId23" imgW="622030" imgH="355446" progId="Equation.3">
                  <p:embed/>
                  <p:pic>
                    <p:nvPicPr>
                      <p:cNvPr id="2764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670550"/>
                        <a:ext cx="1244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3" name="Object 13"/>
          <p:cNvGraphicFramePr>
            <a:graphicFrameLocks noChangeAspect="1"/>
          </p:cNvGraphicFramePr>
          <p:nvPr/>
        </p:nvGraphicFramePr>
        <p:xfrm>
          <a:off x="7100888" y="5695950"/>
          <a:ext cx="137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公式" r:id="rId25" imgW="685502" imgH="355446" progId="Equation.3">
                  <p:embed/>
                </p:oleObj>
              </mc:Choice>
              <mc:Fallback>
                <p:oleObj name="公式" r:id="rId25" imgW="685502" imgH="355446" progId="Equation.3">
                  <p:embed/>
                  <p:pic>
                    <p:nvPicPr>
                      <p:cNvPr id="2764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888" y="5695950"/>
                        <a:ext cx="1371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Rectangle 14"/>
          <p:cNvSpPr>
            <a:spLocks noChangeArrowheads="1"/>
          </p:cNvSpPr>
          <p:nvPr/>
        </p:nvSpPr>
        <p:spPr bwMode="auto">
          <a:xfrm>
            <a:off x="377552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7.Find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equivalent resistance of each circuit.</a:t>
            </a:r>
          </a:p>
        </p:txBody>
      </p:sp>
      <p:sp>
        <p:nvSpPr>
          <p:cNvPr id="2" name="矩形 1"/>
          <p:cNvSpPr/>
          <p:nvPr/>
        </p:nvSpPr>
        <p:spPr>
          <a:xfrm>
            <a:off x="553839" y="47407"/>
            <a:ext cx="6740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当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受控电源和控制量在同一条戴维南或者诺顿支路上时，受控电源可以变换为线性电阻。</a:t>
            </a:r>
            <a:endParaRPr lang="en-US" altLang="zh-CN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194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8" y="356681"/>
            <a:ext cx="8458200" cy="5181600"/>
          </a:xfrm>
        </p:spPr>
        <p:txBody>
          <a:bodyPr/>
          <a:lstStyle/>
          <a:p>
            <a:r>
              <a:rPr lang="zh-CN" altLang="en-US" dirty="0" smtClean="0"/>
              <a:t>等效变换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将相对复杂的电路等效为简单电路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等效一端口网络：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</a:t>
            </a:r>
            <a:r>
              <a:rPr lang="zh-CN" altLang="en-US" dirty="0" smtClean="0"/>
              <a:t>两个不同一端口网络，相同的端口</a:t>
            </a:r>
            <a:r>
              <a:rPr lang="en-US" altLang="zh-CN" dirty="0" smtClean="0"/>
              <a:t>u-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关系。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串联与并联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独立电源、线性电阻（导）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混联</a:t>
            </a:r>
            <a:r>
              <a:rPr lang="en-US" altLang="zh-CN" dirty="0"/>
              <a:t>——</a:t>
            </a:r>
            <a:r>
              <a:rPr lang="zh-CN" altLang="en-US" dirty="0" smtClean="0"/>
              <a:t>电路对称、星型电路与三角型电路。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279648" y="830200"/>
            <a:ext cx="8864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宋体" panose="02010600030101010101" pitchFamily="2" charset="-122"/>
              </a:rPr>
              <a:t>   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等效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是指对外部（端钮以外）电路而言，对内不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成立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3608" y="5685706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电源变换：电压源与电流源之间的互换。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612422" y="4791524"/>
            <a:ext cx="7919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电阻电路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由电阻、受控电源、独立电源构成的电路。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最</a:t>
            </a:r>
            <a:r>
              <a:rPr lang="zh-CN" altLang="en-US" sz="2400" dirty="0" smtClean="0">
                <a:solidFill>
                  <a:srgbClr val="FF0000"/>
                </a:solidFill>
              </a:rPr>
              <a:t>简单的等效电路？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1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50D6D1F-3687-4EA8-AA43-140562B6DEF5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620B58-F3FC-4668-B68D-93CCA7A9A062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381000" y="66833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1: Find the equivalent resistance for the circuit.</a:t>
            </a:r>
          </a:p>
        </p:txBody>
      </p:sp>
      <p:graphicFrame>
        <p:nvGraphicFramePr>
          <p:cNvPr id="270341" name="Object 5"/>
          <p:cNvGraphicFramePr>
            <a:graphicFrameLocks noChangeAspect="1"/>
          </p:cNvGraphicFramePr>
          <p:nvPr>
            <p:extLst/>
          </p:nvPr>
        </p:nvGraphicFramePr>
        <p:xfrm>
          <a:off x="1475656" y="1196752"/>
          <a:ext cx="51117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Visio" r:id="rId3" imgW="2790947" imgH="957369" progId="Visio.Drawing.11">
                  <p:embed/>
                </p:oleObj>
              </mc:Choice>
              <mc:Fallback>
                <p:oleObj name="Visio" r:id="rId3" imgW="2790947" imgH="957369" progId="Visio.Drawing.11">
                  <p:embed/>
                  <p:pic>
                    <p:nvPicPr>
                      <p:cNvPr id="270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196752"/>
                        <a:ext cx="511175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>
            <p:extLst/>
          </p:nvPr>
        </p:nvGraphicFramePr>
        <p:xfrm>
          <a:off x="928688" y="2078038"/>
          <a:ext cx="1093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公式" r:id="rId5" imgW="545760" imgH="241200" progId="Equation.3">
                  <p:embed/>
                </p:oleObj>
              </mc:Choice>
              <mc:Fallback>
                <p:oleObj name="公式" r:id="rId5" imgW="545760" imgH="241200" progId="Equation.3">
                  <p:embed/>
                  <p:pic>
                    <p:nvPicPr>
                      <p:cNvPr id="270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078038"/>
                        <a:ext cx="1093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2.2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串联与</a:t>
            </a: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并联（例题）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864" y="2920777"/>
            <a:ext cx="1042843" cy="44052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44208" y="187409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无限网络等效电阻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124200" y="1173163"/>
            <a:ext cx="3031976" cy="1818827"/>
          </a:xfrm>
          <a:prstGeom prst="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5375" y="3346170"/>
            <a:ext cx="7218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可以等效为</a:t>
            </a:r>
            <a:r>
              <a:rPr lang="zh-CN" altLang="en-US" b="1" dirty="0" smtClean="0"/>
              <a:t>局部的有限部分</a:t>
            </a:r>
            <a:r>
              <a:rPr lang="en-US" altLang="zh-CN" dirty="0" smtClean="0"/>
              <a:t>+</a:t>
            </a:r>
            <a:r>
              <a:rPr lang="zh-CN" altLang="en-US" dirty="0" smtClean="0"/>
              <a:t>无限部分（与整体联结规则相同），无限部分的等效电阻与整体的等效电阻相同。</a:t>
            </a:r>
            <a:endParaRPr lang="zh-CN" altLang="en-US" dirty="0"/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/>
          </p:nvPr>
        </p:nvGraphicFramePr>
        <p:xfrm>
          <a:off x="1368553" y="3893314"/>
          <a:ext cx="51117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Visio" r:id="rId8" imgW="2781477" imgH="952480" progId="Visio.Drawing.11">
                  <p:embed/>
                </p:oleObj>
              </mc:Choice>
              <mc:Fallback>
                <p:oleObj name="Visio" r:id="rId8" imgW="2781477" imgH="952480" progId="Visio.Drawing.11">
                  <p:embed/>
                  <p:pic>
                    <p:nvPicPr>
                      <p:cNvPr id="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553" y="3893314"/>
                        <a:ext cx="511175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/>
          </p:nvPr>
        </p:nvGraphicFramePr>
        <p:xfrm>
          <a:off x="1017587" y="4775951"/>
          <a:ext cx="9159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公式" r:id="rId10" imgW="457200" imgH="241300" progId="Equation.3">
                  <p:embed/>
                </p:oleObj>
              </mc:Choice>
              <mc:Fallback>
                <p:oleObj name="公式" r:id="rId10" imgW="457200" imgH="241300" progId="Equation.3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7" y="4775951"/>
                        <a:ext cx="9159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16016" y="429309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运用串并联等效电阻的关系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788024" y="5017251"/>
                <a:ext cx="2711768" cy="410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 smtClean="0"/>
                  <a:t>//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5017251"/>
                <a:ext cx="2711768" cy="410497"/>
              </a:xfrm>
              <a:prstGeom prst="rect">
                <a:avLst/>
              </a:prstGeom>
              <a:blipFill>
                <a:blip r:embed="rId12"/>
                <a:stretch>
                  <a:fillRect t="-7463" b="-1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801716" y="5526022"/>
                <a:ext cx="2288447" cy="597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716" y="5526022"/>
                <a:ext cx="2288447" cy="5976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Object 6"/>
          <p:cNvGraphicFramePr>
            <a:graphicFrameLocks noChangeAspect="1"/>
          </p:cNvGraphicFramePr>
          <p:nvPr>
            <p:extLst/>
          </p:nvPr>
        </p:nvGraphicFramePr>
        <p:xfrm>
          <a:off x="5173663" y="6149975"/>
          <a:ext cx="1093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公式" r:id="rId14" imgW="545760" imgH="241200" progId="Equation.3">
                  <p:embed/>
                </p:oleObj>
              </mc:Choice>
              <mc:Fallback>
                <p:oleObj name="公式" r:id="rId14" imgW="545760" imgH="241200" progId="Equation.3">
                  <p:embed/>
                  <p:pic>
                    <p:nvPicPr>
                      <p:cNvPr id="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6149975"/>
                        <a:ext cx="1093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010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609600" y="1023938"/>
          <a:ext cx="4610100" cy="283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VISIO" r:id="rId3" imgW="2522588" imgH="1545808" progId="Visio.Drawing.5">
                  <p:embed/>
                </p:oleObj>
              </mc:Choice>
              <mc:Fallback>
                <p:oleObj name="VISIO" r:id="rId3" imgW="2522588" imgH="1545808" progId="Visio.Drawing.5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23938"/>
                        <a:ext cx="4610100" cy="283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/>
          </p:nvPr>
        </p:nvGraphicFramePr>
        <p:xfrm>
          <a:off x="1907704" y="4187474"/>
          <a:ext cx="1423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5" imgW="711200" imgH="228600" progId="Equation.3">
                  <p:embed/>
                </p:oleObj>
              </mc:Choice>
              <mc:Fallback>
                <p:oleObj name="Equation" r:id="rId5" imgW="711200" imgH="2286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187474"/>
                        <a:ext cx="1423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81000" y="66833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2: Find the equivalent resistance for the circuit.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727684" y="1268760"/>
            <a:ext cx="360040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22225">
            <a:solidFill>
              <a:schemeClr val="accent6">
                <a:lumMod val="40000"/>
                <a:lumOff val="60000"/>
              </a:schemeClr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727684" y="2922588"/>
            <a:ext cx="360040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22225">
            <a:solidFill>
              <a:schemeClr val="accent6">
                <a:lumMod val="40000"/>
                <a:lumOff val="60000"/>
              </a:schemeClr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L 形 11"/>
          <p:cNvSpPr/>
          <p:nvPr/>
        </p:nvSpPr>
        <p:spPr bwMode="auto">
          <a:xfrm rot="5400000">
            <a:off x="3240832" y="1881810"/>
            <a:ext cx="1296144" cy="1366191"/>
          </a:xfrm>
          <a:prstGeom prst="corner">
            <a:avLst>
              <a:gd name="adj1" fmla="val 24591"/>
              <a:gd name="adj2" fmla="val 32948"/>
            </a:avLst>
          </a:prstGeom>
          <a:solidFill>
            <a:schemeClr val="accent6">
              <a:lumMod val="40000"/>
              <a:lumOff val="60000"/>
              <a:alpha val="5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387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4BC505-8375-486F-A2BD-CA67DAD05BC9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7F8D40-6CCC-46E4-8AAF-5AAB7921ADAC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323850" y="47625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4.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Find the current </a:t>
            </a:r>
            <a:r>
              <a:rPr lang="en-US" altLang="zh-CN" sz="2800" i="1" dirty="0">
                <a:solidFill>
                  <a:srgbClr val="CC3300"/>
                </a:solidFill>
                <a:ea typeface="隶书" panose="02010509060101010101" pitchFamily="49" charset="-122"/>
              </a:rPr>
              <a:t>I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in the circuit.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>
            <p:extLst/>
          </p:nvPr>
        </p:nvGraphicFramePr>
        <p:xfrm>
          <a:off x="5567474" y="768991"/>
          <a:ext cx="2105025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Visio" r:id="rId3" imgW="1617631" imgH="2020110" progId="Visio.Drawing.11">
                  <p:embed/>
                </p:oleObj>
              </mc:Choice>
              <mc:Fallback>
                <p:oleObj name="Visio" r:id="rId3" imgW="1617631" imgH="2020110" progId="Visio.Drawing.11">
                  <p:embed/>
                  <p:pic>
                    <p:nvPicPr>
                      <p:cNvPr id="282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474" y="768991"/>
                        <a:ext cx="2105025" cy="295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8" name="Object 4"/>
          <p:cNvGraphicFramePr>
            <a:graphicFrameLocks noChangeAspect="1"/>
          </p:cNvGraphicFramePr>
          <p:nvPr>
            <p:extLst/>
          </p:nvPr>
        </p:nvGraphicFramePr>
        <p:xfrm>
          <a:off x="539552" y="3644134"/>
          <a:ext cx="3095625" cy="298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Visio" r:id="rId5" imgW="2230578" imgH="2021540" progId="Visio.Drawing.11">
                  <p:embed/>
                </p:oleObj>
              </mc:Choice>
              <mc:Fallback>
                <p:oleObj name="Visio" r:id="rId5" imgW="2230578" imgH="2021540" progId="Visio.Drawing.11">
                  <p:embed/>
                  <p:pic>
                    <p:nvPicPr>
                      <p:cNvPr id="282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644134"/>
                        <a:ext cx="3095625" cy="298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9" name="Object 5"/>
          <p:cNvGraphicFramePr>
            <a:graphicFrameLocks noChangeAspect="1"/>
          </p:cNvGraphicFramePr>
          <p:nvPr>
            <p:extLst/>
          </p:nvPr>
        </p:nvGraphicFramePr>
        <p:xfrm>
          <a:off x="5075238" y="3647871"/>
          <a:ext cx="3168650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Visio" r:id="rId7" imgW="2230564" imgH="2021396" progId="Visio.Drawing.11">
                  <p:embed/>
                </p:oleObj>
              </mc:Choice>
              <mc:Fallback>
                <p:oleObj name="Visio" r:id="rId7" imgW="2230564" imgH="2021396" progId="Visio.Drawing.11">
                  <p:embed/>
                  <p:pic>
                    <p:nvPicPr>
                      <p:cNvPr id="282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3647871"/>
                        <a:ext cx="3168650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7"/>
          <p:cNvGraphicFramePr>
            <a:graphicFrameLocks noChangeAspect="1"/>
          </p:cNvGraphicFramePr>
          <p:nvPr/>
        </p:nvGraphicFramePr>
        <p:xfrm>
          <a:off x="323850" y="900113"/>
          <a:ext cx="30956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Visio" r:id="rId9" imgW="2165842" imgH="1969960" progId="Visio.Drawing.11">
                  <p:embed/>
                </p:oleObj>
              </mc:Choice>
              <mc:Fallback>
                <p:oleObj name="Visio" r:id="rId9" imgW="2165842" imgH="1969960" progId="Visio.Drawing.11">
                  <p:embed/>
                  <p:pic>
                    <p:nvPicPr>
                      <p:cNvPr id="143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900113"/>
                        <a:ext cx="30956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2.3 </a:t>
            </a: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对称电路（例题）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42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C5933C7-6126-403B-87E3-BCCED82518E1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12E78-6770-4D5B-B40E-F95A2016437B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286722" name="Object 2"/>
          <p:cNvGraphicFramePr>
            <a:graphicFrameLocks noChangeAspect="1"/>
          </p:cNvGraphicFramePr>
          <p:nvPr/>
        </p:nvGraphicFramePr>
        <p:xfrm>
          <a:off x="107950" y="1066800"/>
          <a:ext cx="5073650" cy="244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Visio" r:id="rId3" imgW="2567026" imgH="1253033" progId="Visio.Drawing.11">
                  <p:embed/>
                </p:oleObj>
              </mc:Choice>
              <mc:Fallback>
                <p:oleObj name="Visio" r:id="rId3" imgW="2567026" imgH="1253033" progId="Visio.Drawing.11">
                  <p:embed/>
                  <p:pic>
                    <p:nvPicPr>
                      <p:cNvPr id="286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066800"/>
                        <a:ext cx="5073650" cy="244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3" name="Object 3"/>
          <p:cNvGraphicFramePr>
            <a:graphicFrameLocks noChangeAspect="1"/>
          </p:cNvGraphicFramePr>
          <p:nvPr>
            <p:extLst/>
          </p:nvPr>
        </p:nvGraphicFramePr>
        <p:xfrm>
          <a:off x="152400" y="3810000"/>
          <a:ext cx="5110163" cy="26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Visio" r:id="rId5" imgW="2572016" imgH="1333579" progId="Visio.Drawing.11">
                  <p:embed/>
                </p:oleObj>
              </mc:Choice>
              <mc:Fallback>
                <p:oleObj name="Visio" r:id="rId5" imgW="2572016" imgH="1333579" progId="Visio.Drawing.11">
                  <p:embed/>
                  <p:pic>
                    <p:nvPicPr>
                      <p:cNvPr id="2867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810000"/>
                        <a:ext cx="5110163" cy="263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>
            <p:extLst/>
          </p:nvPr>
        </p:nvGraphicFramePr>
        <p:xfrm>
          <a:off x="5754218" y="4869160"/>
          <a:ext cx="23606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Equation" r:id="rId7" imgW="1180588" imgH="406224" progId="Equation.DSMT4">
                  <p:embed/>
                </p:oleObj>
              </mc:Choice>
              <mc:Fallback>
                <p:oleObj name="Equation" r:id="rId7" imgW="1180588" imgH="406224" progId="Equation.DSMT4">
                  <p:embed/>
                  <p:pic>
                    <p:nvPicPr>
                      <p:cNvPr id="286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218" y="4869160"/>
                        <a:ext cx="2360613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5" name="Object 5"/>
          <p:cNvGraphicFramePr>
            <a:graphicFrameLocks noChangeAspect="1"/>
          </p:cNvGraphicFramePr>
          <p:nvPr>
            <p:extLst/>
          </p:nvPr>
        </p:nvGraphicFramePr>
        <p:xfrm>
          <a:off x="5855818" y="2982150"/>
          <a:ext cx="2259013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Equation" r:id="rId9" imgW="1129810" imgH="609336" progId="Equation.3">
                  <p:embed/>
                </p:oleObj>
              </mc:Choice>
              <mc:Fallback>
                <p:oleObj name="Equation" r:id="rId9" imgW="1129810" imgH="609336" progId="Equation.3">
                  <p:embed/>
                  <p:pic>
                    <p:nvPicPr>
                      <p:cNvPr id="286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5818" y="2982150"/>
                        <a:ext cx="2259013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26" name="Group 6"/>
          <p:cNvGrpSpPr>
            <a:grpSpLocks/>
          </p:cNvGrpSpPr>
          <p:nvPr/>
        </p:nvGrpSpPr>
        <p:grpSpPr bwMode="auto">
          <a:xfrm>
            <a:off x="2590800" y="1143000"/>
            <a:ext cx="990600" cy="2057400"/>
            <a:chOff x="1632" y="720"/>
            <a:chExt cx="624" cy="1296"/>
          </a:xfrm>
        </p:grpSpPr>
        <p:sp>
          <p:nvSpPr>
            <p:cNvPr id="19468" name="Line 7"/>
            <p:cNvSpPr>
              <a:spLocks noChangeShapeType="1"/>
            </p:cNvSpPr>
            <p:nvPr/>
          </p:nvSpPr>
          <p:spPr bwMode="auto">
            <a:xfrm>
              <a:off x="2016" y="720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8"/>
            <p:cNvSpPr>
              <a:spLocks noChangeShapeType="1"/>
            </p:cNvSpPr>
            <p:nvPr/>
          </p:nvSpPr>
          <p:spPr bwMode="auto">
            <a:xfrm>
              <a:off x="2064" y="1584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9"/>
            <p:cNvSpPr>
              <a:spLocks noChangeShapeType="1"/>
            </p:cNvSpPr>
            <p:nvPr/>
          </p:nvSpPr>
          <p:spPr bwMode="auto">
            <a:xfrm>
              <a:off x="1632" y="1152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23850" y="53340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5. Find the voltage </a:t>
            </a:r>
            <a:r>
              <a:rPr lang="en-US" altLang="zh-CN" sz="2800" i="1">
                <a:solidFill>
                  <a:srgbClr val="CC3300"/>
                </a:solidFill>
                <a:ea typeface="隶书" panose="02010509060101010101" pitchFamily="49" charset="-122"/>
              </a:rPr>
              <a:t>U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 in the circuit.</a:t>
            </a:r>
          </a:p>
        </p:txBody>
      </p:sp>
      <p:sp>
        <p:nvSpPr>
          <p:cNvPr id="19467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2.5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星形与三角形电路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4218" y="1111434"/>
            <a:ext cx="30187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三个</a:t>
            </a:r>
            <a:r>
              <a:rPr lang="en-US" altLang="zh-CN" dirty="0" smtClean="0"/>
              <a:t>Y</a:t>
            </a:r>
            <a:r>
              <a:rPr lang="zh-CN" altLang="en-US" dirty="0" smtClean="0"/>
              <a:t>联结中心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c,d,b</a:t>
            </a:r>
            <a:endParaRPr lang="en-US" altLang="zh-CN" dirty="0" smtClean="0"/>
          </a:p>
          <a:p>
            <a:r>
              <a:rPr lang="zh-CN" altLang="en-US" dirty="0" smtClean="0"/>
              <a:t>二个</a:t>
            </a:r>
            <a:r>
              <a:rPr lang="zh-CN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∆联结回路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——</a:t>
            </a:r>
            <a:r>
              <a:rPr lang="en-US" altLang="zh-CN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acd</a:t>
            </a:r>
            <a:r>
              <a:rPr lang="zh-CN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和</a:t>
            </a:r>
            <a:r>
              <a:rPr lang="en-US" altLang="zh-CN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cbd</a:t>
            </a:r>
            <a:endParaRPr lang="en-US" altLang="zh-C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将</a:t>
            </a:r>
            <a:r>
              <a:rPr lang="zh-CN" altLang="en-US" dirty="0" smtClean="0"/>
              <a:t>∆</a:t>
            </a:r>
            <a:r>
              <a:rPr lang="en-US" altLang="zh-CN" dirty="0" err="1" smtClean="0"/>
              <a:t>cbd</a:t>
            </a:r>
            <a:r>
              <a:rPr lang="zh-CN" altLang="en-US" dirty="0" smtClean="0"/>
              <a:t>转化为</a:t>
            </a:r>
            <a:r>
              <a:rPr lang="en-US" altLang="zh-CN" dirty="0" smtClean="0"/>
              <a:t>Y</a:t>
            </a:r>
            <a:r>
              <a:rPr lang="zh-CN" altLang="en-US" dirty="0" smtClean="0"/>
              <a:t>联结电路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35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/>
          </p:nvPr>
        </p:nvGraphicFramePr>
        <p:xfrm>
          <a:off x="206375" y="1143000"/>
          <a:ext cx="5073650" cy="244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Visio" r:id="rId3" imgW="2567026" imgH="1253033" progId="Visio.Drawing.11">
                  <p:embed/>
                </p:oleObj>
              </mc:Choice>
              <mc:Fallback>
                <p:oleObj name="Visio" r:id="rId3" imgW="2567026" imgH="1253033" progId="Visio.Drawing.11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1143000"/>
                        <a:ext cx="5073650" cy="244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2013248" y="1196752"/>
            <a:ext cx="1035050" cy="2057400"/>
            <a:chOff x="2016" y="720"/>
            <a:chExt cx="652" cy="1296"/>
          </a:xfrm>
        </p:grpSpPr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2016" y="720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2064" y="1584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476" y="1151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5652120" y="1354986"/>
            <a:ext cx="2654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将</a:t>
            </a:r>
            <a:r>
              <a:rPr lang="zh-CN" altLang="en-US" dirty="0" smtClean="0"/>
              <a:t>∆</a:t>
            </a:r>
            <a:r>
              <a:rPr lang="en-US" altLang="zh-CN" dirty="0" err="1"/>
              <a:t>adc</a:t>
            </a:r>
            <a:r>
              <a:rPr lang="zh-CN" altLang="en-US" dirty="0" smtClean="0"/>
              <a:t>转化</a:t>
            </a:r>
            <a:r>
              <a:rPr lang="zh-CN" altLang="en-US" dirty="0"/>
              <a:t>为</a:t>
            </a:r>
            <a:r>
              <a:rPr lang="en-US" altLang="zh-CN" dirty="0"/>
              <a:t>Y</a:t>
            </a:r>
            <a:r>
              <a:rPr lang="zh-CN" altLang="en-US" dirty="0"/>
              <a:t>联结电路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06673" y="3790726"/>
            <a:ext cx="5073650" cy="2446338"/>
            <a:chOff x="206673" y="3790726"/>
            <a:chExt cx="5073650" cy="2446338"/>
          </a:xfrm>
        </p:grpSpPr>
        <p:cxnSp>
          <p:nvCxnSpPr>
            <p:cNvPr id="19" name="直接箭头连接符 18"/>
            <p:cNvCxnSpPr/>
            <p:nvPr/>
          </p:nvCxnSpPr>
          <p:spPr bwMode="auto">
            <a:xfrm flipH="1">
              <a:off x="3905544" y="4307048"/>
              <a:ext cx="21602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stealth" w="lg" len="lg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箭头连接符 22"/>
            <p:cNvCxnSpPr/>
            <p:nvPr/>
          </p:nvCxnSpPr>
          <p:spPr bwMode="auto">
            <a:xfrm flipH="1">
              <a:off x="3905544" y="5445224"/>
              <a:ext cx="21602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stealth" w="lg" len="lg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9" name="组合 28"/>
            <p:cNvGrpSpPr/>
            <p:nvPr/>
          </p:nvGrpSpPr>
          <p:grpSpPr>
            <a:xfrm>
              <a:off x="206673" y="3790726"/>
              <a:ext cx="5073650" cy="2446338"/>
              <a:chOff x="2222897" y="3737460"/>
              <a:chExt cx="5073650" cy="244633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4" name="Object 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22897" y="3737460"/>
                  <a:ext cx="5073650" cy="244633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5373" name="Visio" r:id="rId5" imgW="2552877" imgH="1238171" progId="Visio.Drawing.11">
                          <p:embed/>
                        </p:oleObj>
                      </mc:Choice>
                      <mc:Fallback>
                        <p:oleObj name="Visio" r:id="rId5" imgW="2552877" imgH="1238171" progId="Visio.Drawing.11">
                          <p:embed/>
                          <p:pic>
                            <p:nvPicPr>
                              <p:cNvPr id="14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22897" y="3737460"/>
                                <a:ext cx="5073650" cy="244633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4" name="Object 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76676248"/>
                      </p:ext>
                    </p:extLst>
                  </p:nvPr>
                </p:nvGraphicFramePr>
                <p:xfrm>
                  <a:off x="2222897" y="3737460"/>
                  <a:ext cx="5073650" cy="244633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6355" name="Visio" r:id="rId7" imgW="2552877" imgH="1238171" progId="Visio.Drawing.11">
                          <p:embed/>
                        </p:oleObj>
                      </mc:Choice>
                      <mc:Fallback>
                        <p:oleObj name="Visio" r:id="rId7" imgW="2552877" imgH="1238171" progId="Visio.Drawing.11">
                          <p:embed/>
                          <p:pic>
                            <p:nvPicPr>
                              <p:cNvPr id="7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22897" y="3737460"/>
                                <a:ext cx="5073650" cy="244633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5" name="矩形 14"/>
              <p:cNvSpPr/>
              <p:nvPr/>
            </p:nvSpPr>
            <p:spPr bwMode="auto">
              <a:xfrm>
                <a:off x="4529473" y="4371288"/>
                <a:ext cx="864095" cy="79208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3098022" y="4793331"/>
                <a:ext cx="429960" cy="1547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4">
                    <a:lumMod val="85000"/>
                    <a:lumOff val="15000"/>
                  </a:schemeClr>
                </a:solidFill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5979034" y="3866195"/>
                    <a:ext cx="4767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9034" y="3866195"/>
                    <a:ext cx="47673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5951249" y="5371579"/>
                    <a:ext cx="48205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5" name="文本框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1249" y="5371579"/>
                    <a:ext cx="48205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5788656" y="4039669"/>
                <a:ext cx="255352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dirty="0" smtClean="0"/>
                  <a:t>=2A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dirty="0" smtClean="0"/>
                  <a:t>=3A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−5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656" y="4039669"/>
                <a:ext cx="2553520" cy="1200329"/>
              </a:xfrm>
              <a:prstGeom prst="rect">
                <a:avLst/>
              </a:prstGeom>
              <a:blipFill>
                <a:blip r:embed="rId11"/>
                <a:stretch>
                  <a:fillRect t="-4061" b="-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4644454" y="5622068"/>
            <a:ext cx="42480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宋体" panose="02010600030101010101" pitchFamily="2" charset="-122"/>
              </a:rPr>
              <a:t>    等效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是指对外部（端钮以外）电路而言，对内不</a:t>
            </a:r>
            <a:r>
              <a:rPr kumimoji="1" lang="zh-CN" altLang="en-US" sz="2400" b="1" dirty="0" smtClean="0">
                <a:latin typeface="宋体" panose="02010600030101010101" pitchFamily="2" charset="-122"/>
              </a:rPr>
              <a:t>成立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7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AAA54F1-7A4F-4844-B021-48DCE93FE73A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2AD49F-7413-49AE-AE50-A2C1DF010E39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graphicFrame>
        <p:nvGraphicFramePr>
          <p:cNvPr id="21509" name="Object 2"/>
          <p:cNvGraphicFramePr>
            <a:graphicFrameLocks noChangeAspect="1"/>
          </p:cNvGraphicFramePr>
          <p:nvPr/>
        </p:nvGraphicFramePr>
        <p:xfrm>
          <a:off x="4343400" y="1630363"/>
          <a:ext cx="1116013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VISIO" r:id="rId3" imgW="559308" imgH="935736" progId="Visio.Drawing.5">
                  <p:embed/>
                </p:oleObj>
              </mc:Choice>
              <mc:Fallback>
                <p:oleObj name="VISIO" r:id="rId3" imgW="559308" imgH="935736" progId="Visio.Drawing.5">
                  <p:embed/>
                  <p:pic>
                    <p:nvPicPr>
                      <p:cNvPr id="2150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630363"/>
                        <a:ext cx="1116013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3"/>
          <p:cNvGraphicFramePr>
            <a:graphicFrameLocks noChangeAspect="1"/>
          </p:cNvGraphicFramePr>
          <p:nvPr/>
        </p:nvGraphicFramePr>
        <p:xfrm>
          <a:off x="4343400" y="1639888"/>
          <a:ext cx="1116013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Visio" r:id="rId5" imgW="537188" imgH="918323" progId="Visio.Drawing.11">
                  <p:embed/>
                </p:oleObj>
              </mc:Choice>
              <mc:Fallback>
                <p:oleObj name="Visio" r:id="rId5" imgW="537188" imgH="918323" progId="Visio.Drawing.11">
                  <p:embed/>
                  <p:pic>
                    <p:nvPicPr>
                      <p:cNvPr id="215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639888"/>
                        <a:ext cx="1116013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4"/>
          <p:cNvGraphicFramePr>
            <a:graphicFrameLocks noChangeAspect="1"/>
          </p:cNvGraphicFramePr>
          <p:nvPr/>
        </p:nvGraphicFramePr>
        <p:xfrm>
          <a:off x="368300" y="1125538"/>
          <a:ext cx="42037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Visio" r:id="rId7" imgW="2131124" imgH="1387888" progId="Visio.Drawing.11">
                  <p:embed/>
                </p:oleObj>
              </mc:Choice>
              <mc:Fallback>
                <p:oleObj name="Visio" r:id="rId7" imgW="2131124" imgH="1387888" progId="Visio.Drawing.11">
                  <p:embed/>
                  <p:pic>
                    <p:nvPicPr>
                      <p:cNvPr id="215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1125538"/>
                        <a:ext cx="42037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7" name="Object 5"/>
          <p:cNvGraphicFramePr>
            <a:graphicFrameLocks noChangeAspect="1"/>
          </p:cNvGraphicFramePr>
          <p:nvPr/>
        </p:nvGraphicFramePr>
        <p:xfrm>
          <a:off x="5727700" y="620713"/>
          <a:ext cx="234632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4" name="Visio" r:id="rId9" imgW="1202293" imgH="1277731" progId="Visio.Drawing.11">
                  <p:embed/>
                </p:oleObj>
              </mc:Choice>
              <mc:Fallback>
                <p:oleObj name="Visio" r:id="rId9" imgW="1202293" imgH="1277731" progId="Visio.Drawing.11">
                  <p:embed/>
                  <p:pic>
                    <p:nvPicPr>
                      <p:cNvPr id="274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620713"/>
                        <a:ext cx="234632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7848600" y="920750"/>
          <a:ext cx="1116013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VISIO" r:id="rId11" imgW="537188" imgH="918323" progId="Visio.Drawing.5">
                  <p:embed/>
                </p:oleObj>
              </mc:Choice>
              <mc:Fallback>
                <p:oleObj name="VISIO" r:id="rId11" imgW="537188" imgH="918323" progId="Visio.Drawing.5">
                  <p:embed/>
                  <p:pic>
                    <p:nvPicPr>
                      <p:cNvPr id="274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920750"/>
                        <a:ext cx="1116013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9" name="Rectangle 7"/>
          <p:cNvSpPr>
            <a:spLocks noChangeArrowheads="1"/>
          </p:cNvSpPr>
          <p:nvPr/>
        </p:nvSpPr>
        <p:spPr bwMode="auto">
          <a:xfrm>
            <a:off x="7740650" y="3068638"/>
            <a:ext cx="1204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hlink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>
                <a:solidFill>
                  <a:schemeClr val="hlink"/>
                </a:solidFill>
                <a:ea typeface="隶书" panose="02010509060101010101" pitchFamily="49" charset="-122"/>
              </a:rPr>
              <a:t>=0.6A</a:t>
            </a:r>
          </a:p>
        </p:txBody>
      </p:sp>
      <p:sp>
        <p:nvSpPr>
          <p:cNvPr id="21515" name="Rectangle 8"/>
          <p:cNvSpPr>
            <a:spLocks noChangeArrowheads="1"/>
          </p:cNvSpPr>
          <p:nvPr/>
        </p:nvSpPr>
        <p:spPr bwMode="auto">
          <a:xfrm>
            <a:off x="395288" y="60642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6.Find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current </a:t>
            </a:r>
            <a:r>
              <a:rPr lang="en-US" altLang="zh-CN" sz="2800" i="1" dirty="0">
                <a:solidFill>
                  <a:srgbClr val="CC3300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.</a:t>
            </a:r>
          </a:p>
        </p:txBody>
      </p:sp>
      <p:graphicFrame>
        <p:nvGraphicFramePr>
          <p:cNvPr id="274442" name="Object 10"/>
          <p:cNvGraphicFramePr>
            <a:graphicFrameLocks noChangeAspect="1"/>
          </p:cNvGraphicFramePr>
          <p:nvPr/>
        </p:nvGraphicFramePr>
        <p:xfrm>
          <a:off x="323850" y="3889375"/>
          <a:ext cx="4206875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Visio" r:id="rId13" imgW="2131124" imgH="1387888" progId="Visio.Drawing.11">
                  <p:embed/>
                </p:oleObj>
              </mc:Choice>
              <mc:Fallback>
                <p:oleObj name="Visio" r:id="rId13" imgW="2131124" imgH="1387888" progId="Visio.Drawing.11">
                  <p:embed/>
                  <p:pic>
                    <p:nvPicPr>
                      <p:cNvPr id="2744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89375"/>
                        <a:ext cx="4206875" cy="270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3" name="Object 11"/>
          <p:cNvGraphicFramePr>
            <a:graphicFrameLocks noChangeAspect="1"/>
          </p:cNvGraphicFramePr>
          <p:nvPr/>
        </p:nvGraphicFramePr>
        <p:xfrm>
          <a:off x="5507038" y="3963988"/>
          <a:ext cx="3097212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Visio" r:id="rId15" imgW="1594485" imgH="1396889" progId="Visio.Drawing.11">
                  <p:embed/>
                </p:oleObj>
              </mc:Choice>
              <mc:Fallback>
                <p:oleObj name="Visio" r:id="rId15" imgW="1594485" imgH="1396889" progId="Visio.Drawing.11">
                  <p:embed/>
                  <p:pic>
                    <p:nvPicPr>
                      <p:cNvPr id="2744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3963988"/>
                        <a:ext cx="3097212" cy="270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4" name="AutoShape 12"/>
          <p:cNvSpPr>
            <a:spLocks noChangeArrowheads="1"/>
          </p:cNvSpPr>
          <p:nvPr/>
        </p:nvSpPr>
        <p:spPr bwMode="auto">
          <a:xfrm>
            <a:off x="1187450" y="3644900"/>
            <a:ext cx="288925" cy="504825"/>
          </a:xfrm>
          <a:prstGeom prst="down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4445" name="AutoShape 13"/>
          <p:cNvSpPr>
            <a:spLocks noChangeArrowheads="1"/>
          </p:cNvSpPr>
          <p:nvPr/>
        </p:nvSpPr>
        <p:spPr bwMode="auto">
          <a:xfrm rot="10800000">
            <a:off x="6948488" y="3284538"/>
            <a:ext cx="288925" cy="504825"/>
          </a:xfrm>
          <a:prstGeom prst="down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4446" name="AutoShape 14"/>
          <p:cNvSpPr>
            <a:spLocks noChangeArrowheads="1"/>
          </p:cNvSpPr>
          <p:nvPr/>
        </p:nvSpPr>
        <p:spPr bwMode="auto">
          <a:xfrm rot="-5400000">
            <a:off x="4895850" y="5121275"/>
            <a:ext cx="288925" cy="504825"/>
          </a:xfrm>
          <a:prstGeom prst="down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1521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电源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80801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9" grpId="0"/>
      <p:bldP spid="274444" grpId="0" animBg="1"/>
      <p:bldP spid="274445" grpId="0" animBg="1"/>
      <p:bldP spid="27444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02A990-CF6F-493B-A2EE-57281261533C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208C0-9FA7-4866-967F-2B2CE7D7D610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graphicFrame>
        <p:nvGraphicFramePr>
          <p:cNvPr id="23557" name="Object 2"/>
          <p:cNvGraphicFramePr>
            <a:graphicFrameLocks noChangeAspect="1"/>
          </p:cNvGraphicFramePr>
          <p:nvPr/>
        </p:nvGraphicFramePr>
        <p:xfrm>
          <a:off x="1793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0" name="Visio" r:id="rId3" imgW="1294019" imgH="1189434" progId="Visio.Drawing.11">
                  <p:embed/>
                </p:oleObj>
              </mc:Choice>
              <mc:Fallback>
                <p:oleObj name="Visio" r:id="rId3" imgW="1294019" imgH="1189434" progId="Visio.Drawing.11">
                  <p:embed/>
                  <p:pic>
                    <p:nvPicPr>
                      <p:cNvPr id="2355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3"/>
          <p:cNvGraphicFramePr>
            <a:graphicFrameLocks noChangeAspect="1"/>
          </p:cNvGraphicFramePr>
          <p:nvPr/>
        </p:nvGraphicFramePr>
        <p:xfrm>
          <a:off x="3276600" y="1125538"/>
          <a:ext cx="2465388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Visio" r:id="rId5" imgW="1294019" imgH="1189434" progId="Visio.Drawing.11">
                  <p:embed/>
                </p:oleObj>
              </mc:Choice>
              <mc:Fallback>
                <p:oleObj name="Visio" r:id="rId5" imgW="1294019" imgH="1189434" progId="Visio.Drawing.11">
                  <p:embed/>
                  <p:pic>
                    <p:nvPicPr>
                      <p:cNvPr id="2355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25538"/>
                        <a:ext cx="2465388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4"/>
          <p:cNvGraphicFramePr>
            <a:graphicFrameLocks noChangeAspect="1"/>
          </p:cNvGraphicFramePr>
          <p:nvPr/>
        </p:nvGraphicFramePr>
        <p:xfrm>
          <a:off x="63007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Visio" r:id="rId7" imgW="1294019" imgH="1189434" progId="Visio.Drawing.11">
                  <p:embed/>
                </p:oleObj>
              </mc:Choice>
              <mc:Fallback>
                <p:oleObj name="Visio" r:id="rId7" imgW="1294019" imgH="1189434" progId="Visio.Drawing.11">
                  <p:embed/>
                  <p:pic>
                    <p:nvPicPr>
                      <p:cNvPr id="2355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5"/>
          <p:cNvGraphicFramePr>
            <a:graphicFrameLocks noChangeAspect="1"/>
          </p:cNvGraphicFramePr>
          <p:nvPr/>
        </p:nvGraphicFramePr>
        <p:xfrm>
          <a:off x="395288" y="3957638"/>
          <a:ext cx="2097087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Visio" r:id="rId9" imgW="1100709" imgH="877824" progId="Visio.Drawing.11">
                  <p:embed/>
                </p:oleObj>
              </mc:Choice>
              <mc:Fallback>
                <p:oleObj name="Visio" r:id="rId9" imgW="1100709" imgH="877824" progId="Visio.Drawing.11">
                  <p:embed/>
                  <p:pic>
                    <p:nvPicPr>
                      <p:cNvPr id="235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57638"/>
                        <a:ext cx="2097087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6"/>
          <p:cNvGraphicFramePr>
            <a:graphicFrameLocks noChangeAspect="1"/>
          </p:cNvGraphicFramePr>
          <p:nvPr/>
        </p:nvGraphicFramePr>
        <p:xfrm>
          <a:off x="6443663" y="3957638"/>
          <a:ext cx="252095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Visio" r:id="rId11" imgW="1336024" imgH="987552" progId="Visio.Drawing.11">
                  <p:embed/>
                </p:oleObj>
              </mc:Choice>
              <mc:Fallback>
                <p:oleObj name="Visio" r:id="rId11" imgW="1336024" imgH="987552" progId="Visio.Drawing.11">
                  <p:embed/>
                  <p:pic>
                    <p:nvPicPr>
                      <p:cNvPr id="235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957638"/>
                        <a:ext cx="2520950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7"/>
          <p:cNvGraphicFramePr>
            <a:graphicFrameLocks noChangeAspect="1"/>
          </p:cNvGraphicFramePr>
          <p:nvPr/>
        </p:nvGraphicFramePr>
        <p:xfrm>
          <a:off x="3276600" y="3884613"/>
          <a:ext cx="2582863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Visio" r:id="rId13" imgW="1336024" imgH="987552" progId="Visio.Drawing.11">
                  <p:embed/>
                </p:oleObj>
              </mc:Choice>
              <mc:Fallback>
                <p:oleObj name="Visio" r:id="rId13" imgW="1336024" imgH="987552" progId="Visio.Drawing.11">
                  <p:embed/>
                  <p:pic>
                    <p:nvPicPr>
                      <p:cNvPr id="2356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84613"/>
                        <a:ext cx="2582863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971550" y="3463925"/>
          <a:ext cx="121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公式" r:id="rId15" imgW="609336" imgH="215806" progId="Equation.3">
                  <p:embed/>
                </p:oleObj>
              </mc:Choice>
              <mc:Fallback>
                <p:oleObj name="公式" r:id="rId15" imgW="609336" imgH="215806" progId="Equation.3">
                  <p:embed/>
                  <p:pic>
                    <p:nvPicPr>
                      <p:cNvPr id="276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63925"/>
                        <a:ext cx="12192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9" name="Object 9"/>
          <p:cNvGraphicFramePr>
            <a:graphicFrameLocks noChangeAspect="1"/>
          </p:cNvGraphicFramePr>
          <p:nvPr/>
        </p:nvGraphicFramePr>
        <p:xfrm>
          <a:off x="4127500" y="3349625"/>
          <a:ext cx="124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公式" r:id="rId17" imgW="622030" imgH="330057" progId="Equation.3">
                  <p:embed/>
                </p:oleObj>
              </mc:Choice>
              <mc:Fallback>
                <p:oleObj name="公式" r:id="rId17" imgW="622030" imgH="330057" progId="Equation.3">
                  <p:embed/>
                  <p:pic>
                    <p:nvPicPr>
                      <p:cNvPr id="276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349625"/>
                        <a:ext cx="1244600" cy="660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0" name="Object 10"/>
          <p:cNvGraphicFramePr>
            <a:graphicFrameLocks noChangeAspect="1"/>
          </p:cNvGraphicFramePr>
          <p:nvPr/>
        </p:nvGraphicFramePr>
        <p:xfrm>
          <a:off x="7092950" y="3390900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公式" r:id="rId19" imgW="761669" imgH="215806" progId="Equation.3">
                  <p:embed/>
                </p:oleObj>
              </mc:Choice>
              <mc:Fallback>
                <p:oleObj name="公式" r:id="rId19" imgW="761669" imgH="215806" progId="Equation.3">
                  <p:embed/>
                  <p:pic>
                    <p:nvPicPr>
                      <p:cNvPr id="276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390900"/>
                        <a:ext cx="15240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1" name="Object 11"/>
          <p:cNvGraphicFramePr>
            <a:graphicFrameLocks noChangeAspect="1"/>
          </p:cNvGraphicFramePr>
          <p:nvPr/>
        </p:nvGraphicFramePr>
        <p:xfrm>
          <a:off x="598488" y="5767388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公式" r:id="rId21" imgW="774364" imgH="215806" progId="Equation.3">
                  <p:embed/>
                </p:oleObj>
              </mc:Choice>
              <mc:Fallback>
                <p:oleObj name="公式" r:id="rId21" imgW="774364" imgH="215806" progId="Equation.3">
                  <p:embed/>
                  <p:pic>
                    <p:nvPicPr>
                      <p:cNvPr id="276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5767388"/>
                        <a:ext cx="15494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2" name="Object 12"/>
          <p:cNvGraphicFramePr>
            <a:graphicFrameLocks noChangeAspect="1"/>
          </p:cNvGraphicFramePr>
          <p:nvPr/>
        </p:nvGraphicFramePr>
        <p:xfrm>
          <a:off x="3924300" y="5670550"/>
          <a:ext cx="1244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公式" r:id="rId23" imgW="622030" imgH="355446" progId="Equation.3">
                  <p:embed/>
                </p:oleObj>
              </mc:Choice>
              <mc:Fallback>
                <p:oleObj name="公式" r:id="rId23" imgW="622030" imgH="355446" progId="Equation.3">
                  <p:embed/>
                  <p:pic>
                    <p:nvPicPr>
                      <p:cNvPr id="2764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670550"/>
                        <a:ext cx="1244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3" name="Object 13"/>
          <p:cNvGraphicFramePr>
            <a:graphicFrameLocks noChangeAspect="1"/>
          </p:cNvGraphicFramePr>
          <p:nvPr/>
        </p:nvGraphicFramePr>
        <p:xfrm>
          <a:off x="7100888" y="5695950"/>
          <a:ext cx="137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公式" r:id="rId25" imgW="685502" imgH="355446" progId="Equation.3">
                  <p:embed/>
                </p:oleObj>
              </mc:Choice>
              <mc:Fallback>
                <p:oleObj name="公式" r:id="rId25" imgW="685502" imgH="355446" progId="Equation.3">
                  <p:embed/>
                  <p:pic>
                    <p:nvPicPr>
                      <p:cNvPr id="2764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888" y="5695950"/>
                        <a:ext cx="1371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Rectangle 14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7.Find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equivalent resistance of each circuit.</a:t>
            </a:r>
          </a:p>
        </p:txBody>
      </p:sp>
      <p:sp>
        <p:nvSpPr>
          <p:cNvPr id="23570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电源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5068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259924C-74D2-4990-B021-978A50FD8F30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470E1-CF8F-4566-BCA0-CC854071A135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8.Find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equivalent circuit.</a:t>
            </a:r>
          </a:p>
        </p:txBody>
      </p:sp>
      <p:graphicFrame>
        <p:nvGraphicFramePr>
          <p:cNvPr id="24582" name="Object 3"/>
          <p:cNvGraphicFramePr>
            <a:graphicFrameLocks noChangeAspect="1"/>
          </p:cNvGraphicFramePr>
          <p:nvPr/>
        </p:nvGraphicFramePr>
        <p:xfrm>
          <a:off x="749300" y="1158875"/>
          <a:ext cx="3848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VISIO" r:id="rId3" imgW="1932260" imgH="880928" progId="Visio.Drawing.5">
                  <p:embed/>
                </p:oleObj>
              </mc:Choice>
              <mc:Fallback>
                <p:oleObj name="VISIO" r:id="rId3" imgW="1932260" imgH="880928" progId="Visio.Drawing.5">
                  <p:embed/>
                  <p:pic>
                    <p:nvPicPr>
                      <p:cNvPr id="2458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1158875"/>
                        <a:ext cx="3848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8" name="Object 4"/>
          <p:cNvGraphicFramePr>
            <a:graphicFrameLocks noChangeAspect="1"/>
          </p:cNvGraphicFramePr>
          <p:nvPr/>
        </p:nvGraphicFramePr>
        <p:xfrm>
          <a:off x="749300" y="2997200"/>
          <a:ext cx="3848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Visio" r:id="rId5" imgW="1959674" imgH="912114" progId="Visio.Drawing.11">
                  <p:embed/>
                </p:oleObj>
              </mc:Choice>
              <mc:Fallback>
                <p:oleObj name="Visio" r:id="rId5" imgW="1959674" imgH="912114" progId="Visio.Drawing.11">
                  <p:embed/>
                  <p:pic>
                    <p:nvPicPr>
                      <p:cNvPr id="277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2997200"/>
                        <a:ext cx="3848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9" name="Object 5"/>
          <p:cNvGraphicFramePr>
            <a:graphicFrameLocks noChangeAspect="1"/>
          </p:cNvGraphicFramePr>
          <p:nvPr/>
        </p:nvGraphicFramePr>
        <p:xfrm>
          <a:off x="755650" y="4724400"/>
          <a:ext cx="3848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Visio" r:id="rId7" imgW="1959674" imgH="912114" progId="Visio.Drawing.11">
                  <p:embed/>
                </p:oleObj>
              </mc:Choice>
              <mc:Fallback>
                <p:oleObj name="Visio" r:id="rId7" imgW="1959674" imgH="912114" progId="Visio.Drawing.11">
                  <p:embed/>
                  <p:pic>
                    <p:nvPicPr>
                      <p:cNvPr id="277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24400"/>
                        <a:ext cx="3848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0" name="Object 6"/>
          <p:cNvGraphicFramePr>
            <a:graphicFrameLocks noChangeAspect="1"/>
          </p:cNvGraphicFramePr>
          <p:nvPr/>
        </p:nvGraphicFramePr>
        <p:xfrm>
          <a:off x="5940425" y="5734050"/>
          <a:ext cx="187166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Equation" r:id="rId9" imgW="698500" imgH="228600" progId="Equation.DSMT4">
                  <p:embed/>
                </p:oleObj>
              </mc:Choice>
              <mc:Fallback>
                <p:oleObj name="Equation" r:id="rId9" imgW="698500" imgH="228600" progId="Equation.DSMT4">
                  <p:embed/>
                  <p:pic>
                    <p:nvPicPr>
                      <p:cNvPr id="277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734050"/>
                        <a:ext cx="187166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959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CE61080-4ABA-4ECA-B3BE-8BD517454A59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976A3-1A0A-46BD-89B9-9FF9DCE6D136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graphicFrame>
        <p:nvGraphicFramePr>
          <p:cNvPr id="25605" name="Object 2"/>
          <p:cNvGraphicFramePr>
            <a:graphicFrameLocks noChangeAspect="1"/>
          </p:cNvGraphicFramePr>
          <p:nvPr/>
        </p:nvGraphicFramePr>
        <p:xfrm>
          <a:off x="-88900" y="1341438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VISIO" r:id="rId3" imgW="2131571" imgH="1265858" progId="Visio.Drawing.5">
                  <p:embed/>
                </p:oleObj>
              </mc:Choice>
              <mc:Fallback>
                <p:oleObj name="VISIO" r:id="rId3" imgW="2131571" imgH="1265858" progId="Visio.Drawing.5">
                  <p:embed/>
                  <p:pic>
                    <p:nvPicPr>
                      <p:cNvPr id="2560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8900" y="1341438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/>
          <p:cNvGraphicFramePr>
            <a:graphicFrameLocks noChangeAspect="1"/>
          </p:cNvGraphicFramePr>
          <p:nvPr/>
        </p:nvGraphicFramePr>
        <p:xfrm>
          <a:off x="4716463" y="1341438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Visio" r:id="rId5" imgW="2158127" imgH="1298305" progId="Visio.Drawing.11">
                  <p:embed/>
                </p:oleObj>
              </mc:Choice>
              <mc:Fallback>
                <p:oleObj name="Visio" r:id="rId5" imgW="2158127" imgH="1298305" progId="Visio.Drawing.11">
                  <p:embed/>
                  <p:pic>
                    <p:nvPicPr>
                      <p:cNvPr id="278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341438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127000" y="4076700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Visio" r:id="rId7" imgW="2158127" imgH="1298305" progId="Visio.Drawing.11">
                  <p:embed/>
                </p:oleObj>
              </mc:Choice>
              <mc:Fallback>
                <p:oleObj name="Visio" r:id="rId7" imgW="2158127" imgH="1298305" progId="Visio.Drawing.11">
                  <p:embed/>
                  <p:pic>
                    <p:nvPicPr>
                      <p:cNvPr id="278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" y="4076700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4716463" y="4076700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Visio" r:id="rId9" imgW="2158127" imgH="1298305" progId="Visio.Drawing.11">
                  <p:embed/>
                </p:oleObj>
              </mc:Choice>
              <mc:Fallback>
                <p:oleObj name="Visio" r:id="rId9" imgW="2158127" imgH="1298305" progId="Visio.Drawing.11">
                  <p:embed/>
                  <p:pic>
                    <p:nvPicPr>
                      <p:cNvPr id="278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076700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6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9.Find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equivalent circuit.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185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C282383-85E1-4731-8528-E8C864AF2059}" type="datetime1">
              <a:rPr lang="zh-CN" altLang="en-US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F4565-2984-4DA8-9E2D-EEE79B2640CD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graphicFrame>
        <p:nvGraphicFramePr>
          <p:cNvPr id="26629" name="Object 2"/>
          <p:cNvGraphicFramePr>
            <a:graphicFrameLocks noChangeAspect="1"/>
          </p:cNvGraphicFramePr>
          <p:nvPr/>
        </p:nvGraphicFramePr>
        <p:xfrm>
          <a:off x="900113" y="1165225"/>
          <a:ext cx="3238500" cy="240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Visio" r:id="rId3" imgW="1649882" imgH="1233526" progId="Visio.Drawing.11">
                  <p:embed/>
                </p:oleObj>
              </mc:Choice>
              <mc:Fallback>
                <p:oleObj name="Visio" r:id="rId3" imgW="1649882" imgH="1233526" progId="Visio.Drawing.11">
                  <p:embed/>
                  <p:pic>
                    <p:nvPicPr>
                      <p:cNvPr id="2662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165225"/>
                        <a:ext cx="3238500" cy="240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5" name="Object 3"/>
          <p:cNvGraphicFramePr>
            <a:graphicFrameLocks noChangeAspect="1"/>
          </p:cNvGraphicFramePr>
          <p:nvPr/>
        </p:nvGraphicFramePr>
        <p:xfrm>
          <a:off x="790575" y="4308475"/>
          <a:ext cx="3671888" cy="243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Visio" r:id="rId5" imgW="1896666" imgH="1233583" progId="Visio.Drawing.11">
                  <p:embed/>
                </p:oleObj>
              </mc:Choice>
              <mc:Fallback>
                <p:oleObj name="Visio" r:id="rId5" imgW="1896666" imgH="1233583" progId="Visio.Drawing.11">
                  <p:embed/>
                  <p:pic>
                    <p:nvPicPr>
                      <p:cNvPr id="2795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4308475"/>
                        <a:ext cx="3671888" cy="243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6" name="Object 4"/>
          <p:cNvGraphicFramePr>
            <a:graphicFrameLocks noChangeAspect="1"/>
          </p:cNvGraphicFramePr>
          <p:nvPr/>
        </p:nvGraphicFramePr>
        <p:xfrm>
          <a:off x="4751388" y="476250"/>
          <a:ext cx="3995737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Visio" r:id="rId7" imgW="2184702" imgH="1233583" progId="Visio.Drawing.11">
                  <p:embed/>
                </p:oleObj>
              </mc:Choice>
              <mc:Fallback>
                <p:oleObj name="Visio" r:id="rId7" imgW="2184702" imgH="1233583" progId="Visio.Drawing.11">
                  <p:embed/>
                  <p:pic>
                    <p:nvPicPr>
                      <p:cNvPr id="279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476250"/>
                        <a:ext cx="3995737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4824413" y="2562225"/>
          <a:ext cx="3995737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Visio" r:id="rId9" imgW="2184702" imgH="1233583" progId="Visio.Drawing.11">
                  <p:embed/>
                </p:oleObj>
              </mc:Choice>
              <mc:Fallback>
                <p:oleObj name="Visio" r:id="rId9" imgW="2184702" imgH="1233583" progId="Visio.Drawing.11">
                  <p:embed/>
                  <p:pic>
                    <p:nvPicPr>
                      <p:cNvPr id="279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2562225"/>
                        <a:ext cx="3995737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/>
        </p:nvGraphicFramePr>
        <p:xfrm>
          <a:off x="4824413" y="4651375"/>
          <a:ext cx="3995737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Visio" r:id="rId11" imgW="2184702" imgH="1233583" progId="Visio.Drawing.11">
                  <p:embed/>
                </p:oleObj>
              </mc:Choice>
              <mc:Fallback>
                <p:oleObj name="Visio" r:id="rId11" imgW="2184702" imgH="1233583" progId="Visio.Drawing.11">
                  <p:embed/>
                  <p:pic>
                    <p:nvPicPr>
                      <p:cNvPr id="279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4651375"/>
                        <a:ext cx="3995737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Rectangle 7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smtClean="0">
                <a:solidFill>
                  <a:srgbClr val="CC3300"/>
                </a:solidFill>
                <a:ea typeface="隶书" panose="02010509060101010101" pitchFamily="49" charset="-122"/>
              </a:rPr>
              <a:t>10.Find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equivalent circuit.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 smtClean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601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2687" y="1690689"/>
            <a:ext cx="8295456" cy="2144684"/>
          </a:xfrm>
        </p:spPr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节：</a:t>
            </a:r>
            <a:r>
              <a:rPr lang="en-US" altLang="zh-CN" dirty="0"/>
              <a:t>2-12</a:t>
            </a:r>
            <a:r>
              <a:rPr lang="zh-CN" altLang="en-US" dirty="0"/>
              <a:t>，</a:t>
            </a:r>
            <a:r>
              <a:rPr lang="en-US" altLang="zh-CN" dirty="0"/>
              <a:t>2-14</a:t>
            </a:r>
          </a:p>
          <a:p>
            <a:r>
              <a:rPr lang="en-US" altLang="zh-CN" dirty="0"/>
              <a:t>2.3</a:t>
            </a:r>
            <a:r>
              <a:rPr lang="zh-CN" altLang="en-US" dirty="0"/>
              <a:t>节：</a:t>
            </a:r>
            <a:r>
              <a:rPr lang="en-US" altLang="zh-CN" dirty="0"/>
              <a:t>2-16</a:t>
            </a:r>
            <a:r>
              <a:rPr lang="zh-CN" altLang="en-US" dirty="0"/>
              <a:t>，</a:t>
            </a:r>
            <a:r>
              <a:rPr lang="en-US" altLang="zh-CN" dirty="0"/>
              <a:t>2-20</a:t>
            </a:r>
            <a:r>
              <a:rPr lang="zh-CN" altLang="en-US" dirty="0"/>
              <a:t>，</a:t>
            </a:r>
            <a:r>
              <a:rPr lang="en-US" altLang="zh-CN" dirty="0"/>
              <a:t>2-24</a:t>
            </a:r>
          </a:p>
          <a:p>
            <a:r>
              <a:rPr lang="en-US" altLang="zh-CN" dirty="0"/>
              <a:t>2.4</a:t>
            </a:r>
            <a:r>
              <a:rPr lang="zh-CN" altLang="en-US" dirty="0"/>
              <a:t>节：</a:t>
            </a:r>
            <a:r>
              <a:rPr lang="en-US" altLang="zh-CN" dirty="0"/>
              <a:t>2-26</a:t>
            </a:r>
            <a:r>
              <a:rPr lang="zh-CN" altLang="en-US" dirty="0"/>
              <a:t>，</a:t>
            </a:r>
            <a:r>
              <a:rPr lang="en-US" altLang="zh-CN" dirty="0"/>
              <a:t>2-32</a:t>
            </a:r>
          </a:p>
          <a:p>
            <a:r>
              <a:rPr lang="zh-CN" altLang="en-US" dirty="0"/>
              <a:t>综合：</a:t>
            </a:r>
            <a:r>
              <a:rPr lang="en-US" altLang="zh-CN" dirty="0"/>
              <a:t>2-36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2022/3/20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1A18AD-0A7C-4FD4-B788-CBCE68555FE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842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7C330175-8FD3-43AD-AF25-24DA891DC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11" y="1499374"/>
            <a:ext cx="2698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a typeface="隶书" panose="02010509060101010101" pitchFamily="49" charset="-122"/>
              </a:rPr>
              <a:t>Method1:</a:t>
            </a:r>
            <a:r>
              <a:rPr lang="zh-CN" altLang="en-US" sz="1800" dirty="0">
                <a:solidFill>
                  <a:srgbClr val="FF0000"/>
                </a:solidFill>
                <a:ea typeface="隶书" panose="02010509060101010101" pitchFamily="49" charset="-122"/>
              </a:rPr>
              <a:t>电路的等效变换</a:t>
            </a:r>
            <a:endParaRPr lang="en-US" altLang="zh-CN" sz="1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C2E64864-FA16-4086-8F36-A7E28751C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93" y="1048233"/>
            <a:ext cx="63436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ea typeface="隶书" panose="02010509060101010101" pitchFamily="49" charset="-122"/>
              </a:rPr>
              <a:t>2-32 </a:t>
            </a:r>
            <a:r>
              <a:rPr lang="zh-CN" altLang="en-US" dirty="0">
                <a:ea typeface="隶书" panose="02010509060101010101" pitchFamily="49" charset="-122"/>
              </a:rPr>
              <a:t>求题</a:t>
            </a:r>
            <a:r>
              <a:rPr lang="en-US" altLang="zh-CN" dirty="0">
                <a:ea typeface="隶书" panose="02010509060101010101" pitchFamily="49" charset="-122"/>
              </a:rPr>
              <a:t>2-32</a:t>
            </a:r>
            <a:r>
              <a:rPr lang="zh-CN" altLang="en-US" dirty="0">
                <a:ea typeface="隶书" panose="02010509060101010101" pitchFamily="49" charset="-122"/>
              </a:rPr>
              <a:t>图所示电路的最简单等效电路</a:t>
            </a:r>
            <a:endParaRPr lang="en-US" altLang="zh-CN" dirty="0">
              <a:ea typeface="隶书" panose="020105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5357CC2-F2EA-4389-A724-9A84D0AF082B}"/>
              </a:ext>
            </a:extLst>
          </p:cNvPr>
          <p:cNvSpPr txBox="1"/>
          <p:nvPr/>
        </p:nvSpPr>
        <p:spPr>
          <a:xfrm>
            <a:off x="1137882" y="3373339"/>
            <a:ext cx="898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原电路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7E3BAC2-422B-4C82-85D5-94BF33A801F7}"/>
              </a:ext>
            </a:extLst>
          </p:cNvPr>
          <p:cNvSpPr txBox="1"/>
          <p:nvPr/>
        </p:nvSpPr>
        <p:spPr>
          <a:xfrm>
            <a:off x="3522735" y="3387508"/>
            <a:ext cx="209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第一步：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电流源变电压源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05C0E32-EF2F-4B56-9FE7-7A758E080416}"/>
              </a:ext>
            </a:extLst>
          </p:cNvPr>
          <p:cNvSpPr txBox="1"/>
          <p:nvPr/>
        </p:nvSpPr>
        <p:spPr>
          <a:xfrm>
            <a:off x="6746000" y="3383081"/>
            <a:ext cx="1722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(c)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第二步：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电阻串联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090647B-FC74-4F7B-8FEB-5E20CAB2E1CB}"/>
              </a:ext>
            </a:extLst>
          </p:cNvPr>
          <p:cNvSpPr txBox="1"/>
          <p:nvPr/>
        </p:nvSpPr>
        <p:spPr>
          <a:xfrm>
            <a:off x="708423" y="5420085"/>
            <a:ext cx="2651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第三步：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电压源和受控源变电流源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D4E7C06-56A7-4BD7-909F-A17ED6EC0D06}"/>
              </a:ext>
            </a:extLst>
          </p:cNvPr>
          <p:cNvSpPr txBox="1"/>
          <p:nvPr/>
        </p:nvSpPr>
        <p:spPr>
          <a:xfrm>
            <a:off x="3604528" y="5420085"/>
            <a:ext cx="232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(e)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第四步：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受控电流源变为电阻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87EE7F0-5312-48A1-A0CC-5A5554787D37}"/>
              </a:ext>
            </a:extLst>
          </p:cNvPr>
          <p:cNvSpPr txBox="1"/>
          <p:nvPr/>
        </p:nvSpPr>
        <p:spPr>
          <a:xfrm>
            <a:off x="6746001" y="5420085"/>
            <a:ext cx="1557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(f)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第五步：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电阻并联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38EF2D5C-0B0C-4941-A024-8F7EA27C2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221" y="2484928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6C1F1039-5506-494F-96D5-F06A352D8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275" y="2484928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708EA3D8-2A8A-422B-B29A-2775E1637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71" y="4543223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4B835749-148D-42D7-98AC-74360EEBA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678" y="4543223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E5EC861E-E245-4B3E-BACA-503F5BB5D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676" y="4543223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B93F1F07-0BCB-4904-8398-0DF22480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528" y="4020047"/>
            <a:ext cx="2089163" cy="1358377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AD0E6783-3F7D-48C7-AE52-72E166C77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5" y="4025894"/>
            <a:ext cx="2115590" cy="137556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2B4D24E9-6CE4-44C3-97FE-2375743DB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723" y="1901598"/>
            <a:ext cx="2787742" cy="1481483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D6C49B6B-7C4B-49D3-AFEE-A07756570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475" y="1888804"/>
            <a:ext cx="2738450" cy="1455287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A43C42E9-5AE4-4A67-AC59-2F4EA5312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665" y="1868308"/>
            <a:ext cx="2689400" cy="1496281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3183629-577B-4BAE-A740-22CEE882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513" y="4035484"/>
            <a:ext cx="1117460" cy="135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2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A44F41AB-BCC5-4508-A33F-7213AA95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87" y="1203539"/>
            <a:ext cx="31726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a typeface="隶书" panose="02010509060101010101" pitchFamily="49" charset="-122"/>
              </a:rPr>
              <a:t>Method2:</a:t>
            </a:r>
            <a:r>
              <a:rPr lang="zh-CN" altLang="en-US" sz="1800" dirty="0">
                <a:solidFill>
                  <a:srgbClr val="FF0000"/>
                </a:solidFill>
                <a:ea typeface="隶书" panose="02010509060101010101" pitchFamily="49" charset="-122"/>
              </a:rPr>
              <a:t>列写</a:t>
            </a:r>
            <a:r>
              <a:rPr lang="en-US" altLang="zh-CN" sz="1800" dirty="0">
                <a:solidFill>
                  <a:srgbClr val="FF0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KVL</a:t>
            </a:r>
            <a:r>
              <a:rPr lang="zh-CN" altLang="en-US" sz="1800" dirty="0">
                <a:solidFill>
                  <a:srgbClr val="FF0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KCL</a:t>
            </a:r>
            <a:r>
              <a:rPr lang="zh-CN" altLang="en-US" sz="1800" dirty="0">
                <a:solidFill>
                  <a:srgbClr val="FF0000"/>
                </a:solidFill>
                <a:ea typeface="隶书" panose="02010509060101010101" pitchFamily="49" charset="-122"/>
              </a:rPr>
              <a:t>方程</a:t>
            </a:r>
            <a:endParaRPr lang="en-US" altLang="zh-CN" sz="1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579863-ED7A-46F0-A867-B12A0E10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69" y="1549788"/>
            <a:ext cx="3106497" cy="1728338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F612E917-F70D-4D22-BDE8-122FE101BC6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28809" y="3197270"/>
            <a:ext cx="3224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B8AFBE-6D39-46FC-B933-BB18765220FD}"/>
              </a:ext>
            </a:extLst>
          </p:cNvPr>
          <p:cNvSpPr txBox="1"/>
          <p:nvPr/>
        </p:nvSpPr>
        <p:spPr>
          <a:xfrm>
            <a:off x="4487956" y="906800"/>
            <a:ext cx="38391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>
                <a:latin typeface="宋体" panose="02010600030101010101" pitchFamily="2" charset="-122"/>
                <a:ea typeface="宋体" panose="02010600030101010101" pitchFamily="2" charset="-122"/>
              </a:rPr>
              <a:t>思路：通过列方程，求出端口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sz="2100" b="1" dirty="0">
                <a:latin typeface="宋体" panose="02010600030101010101" pitchFamily="2" charset="-122"/>
                <a:ea typeface="宋体" panose="02010600030101010101" pitchFamily="2" charset="-122"/>
              </a:rPr>
              <a:t>电压与电流的关系</a:t>
            </a:r>
          </a:p>
        </p:txBody>
      </p:sp>
      <p:sp>
        <p:nvSpPr>
          <p:cNvPr id="17" name="星形: 四角 16">
            <a:extLst>
              <a:ext uri="{FF2B5EF4-FFF2-40B4-BE49-F238E27FC236}">
                <a16:creationId xmlns:a16="http://schemas.microsoft.com/office/drawing/2014/main" id="{9B7485C8-9600-4682-AC7A-EB5890104C34}"/>
              </a:ext>
            </a:extLst>
          </p:cNvPr>
          <p:cNvSpPr/>
          <p:nvPr/>
        </p:nvSpPr>
        <p:spPr>
          <a:xfrm>
            <a:off x="4151534" y="921730"/>
            <a:ext cx="383241" cy="346249"/>
          </a:xfrm>
          <a:prstGeom prst="star4">
            <a:avLst>
              <a:gd name="adj" fmla="val 1444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1B6DE5-C2BA-4A96-8F9D-77E4E5664473}"/>
              </a:ext>
            </a:extLst>
          </p:cNvPr>
          <p:cNvSpPr txBox="1"/>
          <p:nvPr/>
        </p:nvSpPr>
        <p:spPr>
          <a:xfrm>
            <a:off x="4487956" y="1945857"/>
            <a:ext cx="27633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350" dirty="0"/>
              <a:t>设出各个支路电流和端口电压</a:t>
            </a:r>
            <a:endParaRPr lang="en-US" altLang="zh-CN" sz="135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CE5B25-D4C0-469E-BBAA-1D9421228AF7}"/>
              </a:ext>
            </a:extLst>
          </p:cNvPr>
          <p:cNvSpPr txBox="1"/>
          <p:nvPr/>
        </p:nvSpPr>
        <p:spPr>
          <a:xfrm>
            <a:off x="4487956" y="2281217"/>
            <a:ext cx="3425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350" dirty="0"/>
              <a:t>根据所选回路和结点列出</a:t>
            </a:r>
            <a:r>
              <a:rPr lang="en-US" altLang="zh-CN" sz="1350" dirty="0"/>
              <a:t>KVL</a:t>
            </a:r>
            <a:r>
              <a:rPr lang="zh-CN" altLang="en-US" sz="1350" dirty="0"/>
              <a:t>、</a:t>
            </a:r>
            <a:r>
              <a:rPr lang="en-US" altLang="zh-CN" sz="1350" dirty="0"/>
              <a:t>KCL</a:t>
            </a:r>
            <a:r>
              <a:rPr lang="zh-CN" altLang="en-US" sz="1350" dirty="0"/>
              <a:t>方程：</a:t>
            </a:r>
            <a:endParaRPr lang="en-US" altLang="zh-CN" sz="1350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FB011AA-92C2-4C6A-A9E7-DE80C22DA31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54885" y="2665435"/>
          <a:ext cx="2303859" cy="603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4" imgW="1841400" imgH="482400" progId="Equation.DSMT4">
                  <p:embed/>
                </p:oleObj>
              </mc:Choice>
              <mc:Fallback>
                <p:oleObj name="Equation" r:id="rId4" imgW="1841400" imgH="4824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8FB011AA-92C2-4C6A-A9E7-DE80C22DA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4885" y="2665435"/>
                        <a:ext cx="2303859" cy="603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7583B39-FBE6-4937-B67E-735BBBA9531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54885" y="3271226"/>
          <a:ext cx="1133061" cy="279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6" imgW="927000" imgH="228600" progId="Equation.DSMT4">
                  <p:embed/>
                </p:oleObj>
              </mc:Choice>
              <mc:Fallback>
                <p:oleObj name="Equation" r:id="rId6" imgW="927000" imgH="228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D7583B39-FBE6-4937-B67E-735BBBA953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54885" y="3271226"/>
                        <a:ext cx="1133061" cy="279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19EE6FDE-67AE-4F5A-82B3-6A385AF26833}"/>
              </a:ext>
            </a:extLst>
          </p:cNvPr>
          <p:cNvSpPr txBox="1"/>
          <p:nvPr/>
        </p:nvSpPr>
        <p:spPr>
          <a:xfrm>
            <a:off x="4487956" y="3619663"/>
            <a:ext cx="24574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350" dirty="0"/>
              <a:t>得出端口电压与电流的关系：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CF58483-58E8-445F-AE89-988709A54C5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30629" y="3619500"/>
          <a:ext cx="1076325" cy="27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Equation" r:id="rId8" imgW="888840" imgH="228600" progId="Equation.DSMT4">
                  <p:embed/>
                </p:oleObj>
              </mc:Choice>
              <mc:Fallback>
                <p:oleObj name="Equation" r:id="rId8" imgW="888840" imgH="228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CF58483-58E8-445F-AE89-988709A54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30629" y="3619500"/>
                        <a:ext cx="1076325" cy="277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4CEFEAAE-FA29-466F-BD16-5D95C024C0A5}"/>
              </a:ext>
            </a:extLst>
          </p:cNvPr>
          <p:cNvSpPr txBox="1"/>
          <p:nvPr/>
        </p:nvSpPr>
        <p:spPr>
          <a:xfrm>
            <a:off x="4487956" y="3985024"/>
            <a:ext cx="21212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350" dirty="0"/>
              <a:t>画出最简单等效电路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1249410-2CDB-48E7-AB5F-363EF1F447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4774" y="4247763"/>
            <a:ext cx="1856297" cy="156142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A9C4996-DCFF-4037-904D-088D1A1B32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" y="3652386"/>
            <a:ext cx="3285266" cy="174100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BE31986-71F2-4A16-B1F6-5FD69F528A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879" y="4164157"/>
            <a:ext cx="1311089" cy="91173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6A281CB-C1DD-411A-B75C-5D776C513B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01113" y="4247242"/>
            <a:ext cx="768307" cy="651572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538AB745-76B2-4606-9D99-66BFF58A7A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93622" y="3932166"/>
            <a:ext cx="158810" cy="105717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D5D0C69F-0602-49EC-9045-6811D5201C1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77671" y="3932166"/>
            <a:ext cx="149450" cy="99487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727D306F-A500-41B0-A5E5-0C824BC7156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2562" y="4108657"/>
            <a:ext cx="95109" cy="142452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03D87087-0CD1-4F60-97F8-D177064078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34210" y="3698845"/>
            <a:ext cx="207506" cy="2738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C0922E55-845E-4C5E-BF81-4F0795CCDCC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1091" y="3718262"/>
            <a:ext cx="192685" cy="2738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6574DEA3-E01A-49C5-9810-5B3BD252EDB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53680" y="4042983"/>
            <a:ext cx="207506" cy="2738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8ED41E35-4859-4D18-885D-E95E2A83576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83359" y="4433898"/>
            <a:ext cx="369725" cy="33316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CA08039-4094-4A3B-8329-95231083EF4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9013" y="4057938"/>
            <a:ext cx="257252" cy="29492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28368CA8-C54B-4BA4-A377-65E58415665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61186" y="4863305"/>
            <a:ext cx="252489" cy="28946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2CDB8C6F-EB6E-463B-B495-BA76584EF49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37383" y="4266490"/>
            <a:ext cx="1914140" cy="1483097"/>
          </a:xfrm>
          <a:prstGeom prst="rect">
            <a:avLst/>
          </a:prstGeom>
        </p:spPr>
      </p:pic>
      <p:sp>
        <p:nvSpPr>
          <p:cNvPr id="55" name="云形 54">
            <a:extLst>
              <a:ext uri="{FF2B5EF4-FFF2-40B4-BE49-F238E27FC236}">
                <a16:creationId xmlns:a16="http://schemas.microsoft.com/office/drawing/2014/main" id="{2C84230A-667A-451E-AAD0-0110C014445E}"/>
              </a:ext>
            </a:extLst>
          </p:cNvPr>
          <p:cNvSpPr/>
          <p:nvPr/>
        </p:nvSpPr>
        <p:spPr>
          <a:xfrm>
            <a:off x="7594453" y="3835774"/>
            <a:ext cx="1549547" cy="579954"/>
          </a:xfrm>
          <a:prstGeom prst="cloud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为什么不对？</a:t>
            </a: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93FA18B0-7371-4137-B8C1-114E82A444C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90879" y="3950844"/>
            <a:ext cx="80929" cy="80809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6EAC7912-827A-4090-AA79-DC540E3637C4}"/>
              </a:ext>
            </a:extLst>
          </p:cNvPr>
          <p:cNvSpPr/>
          <p:nvPr/>
        </p:nvSpPr>
        <p:spPr>
          <a:xfrm>
            <a:off x="4487956" y="1597024"/>
            <a:ext cx="161326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350" dirty="0">
                <a:latin typeface="+mn-ea"/>
                <a:cs typeface="Times New Roman" panose="02020603050405020304" pitchFamily="18" charset="0"/>
              </a:rPr>
              <a:t>电流源变电压源</a:t>
            </a:r>
            <a:endParaRPr lang="zh-CN" altLang="en-US" sz="13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95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 animBg="1"/>
      <p:bldP spid="18" grpId="0"/>
      <p:bldP spid="19" grpId="0"/>
      <p:bldP spid="22" grpId="0"/>
      <p:bldP spid="24" grpId="0"/>
      <p:bldP spid="55" grpId="0" animBg="1"/>
      <p:bldP spid="5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1316</Words>
  <Application>Microsoft Office PowerPoint</Application>
  <PresentationFormat>全屏显示(4:3)</PresentationFormat>
  <Paragraphs>374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29</vt:i4>
      </vt:variant>
    </vt:vector>
  </HeadingPairs>
  <TitlesOfParts>
    <vt:vector size="51" baseType="lpstr">
      <vt:lpstr>CommonBullets</vt:lpstr>
      <vt:lpstr>等线</vt:lpstr>
      <vt:lpstr>等线 Light</vt:lpstr>
      <vt:lpstr>华文中宋</vt:lpstr>
      <vt:lpstr>楷体_GB2312</vt:lpstr>
      <vt:lpstr>隶书</vt:lpstr>
      <vt:lpstr>宋体</vt:lpstr>
      <vt:lpstr>幼圆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主题​​</vt:lpstr>
      <vt:lpstr>Visio</vt:lpstr>
      <vt:lpstr>公式</vt:lpstr>
      <vt:lpstr>Equation</vt:lpstr>
      <vt:lpstr>Flash Movie</vt:lpstr>
      <vt:lpstr>Flash 文档</vt:lpstr>
      <vt:lpstr>VISIO</vt:lpstr>
      <vt:lpstr>PowerPoint 演示文稿</vt:lpstr>
      <vt:lpstr>PowerPoint 演示文稿</vt:lpstr>
      <vt:lpstr>PowerPoint 演示文稿</vt:lpstr>
      <vt:lpstr>串联、并联</vt:lpstr>
      <vt:lpstr>串联、并联</vt:lpstr>
      <vt:lpstr>串联、并联</vt:lpstr>
      <vt:lpstr>对称电路-对称面通过端口</vt:lpstr>
      <vt:lpstr>对称电路-对称面垂直端口</vt:lpstr>
      <vt:lpstr>电桥、星型和三角型电路</vt:lpstr>
      <vt:lpstr>星形电路和三角形电路的等效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健</dc:creator>
  <cp:lastModifiedBy>王 健</cp:lastModifiedBy>
  <cp:revision>5</cp:revision>
  <dcterms:created xsi:type="dcterms:W3CDTF">2022-03-13T14:48:45Z</dcterms:created>
  <dcterms:modified xsi:type="dcterms:W3CDTF">2022-03-20T15:40:02Z</dcterms:modified>
</cp:coreProperties>
</file>