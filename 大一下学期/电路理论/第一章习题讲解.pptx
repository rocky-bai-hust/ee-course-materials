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74" r:id="rId6"/>
    <p:sldId id="275" r:id="rId7"/>
    <p:sldId id="276" r:id="rId8"/>
    <p:sldId id="277" r:id="rId9"/>
    <p:sldId id="278" r:id="rId10"/>
    <p:sldId id="279" r:id="rId11"/>
    <p:sldId id="280" r:id="rId12"/>
    <p:sldId id="281" r:id="rId13"/>
    <p:sldId id="282" r:id="rId14"/>
    <p:sldId id="261" r:id="rId15"/>
    <p:sldId id="262" r:id="rId16"/>
    <p:sldId id="263" r:id="rId17"/>
    <p:sldId id="264" r:id="rId18"/>
    <p:sldId id="265" r:id="rId19"/>
    <p:sldId id="266" r:id="rId20"/>
    <p:sldId id="267" r:id="rId21"/>
    <p:sldId id="268" r:id="rId22"/>
    <p:sldId id="269" r:id="rId23"/>
    <p:sldId id="271" r:id="rId24"/>
    <p:sldId id="272" r:id="rId25"/>
    <p:sldId id="273" r:id="rId26"/>
    <p:sldId id="283" r:id="rId27"/>
    <p:sldId id="284" r:id="rId28"/>
    <p:sldId id="285" r:id="rId29"/>
    <p:sldId id="286" r:id="rId30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167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3.wmf"/><Relationship Id="rId7" Type="http://schemas.openxmlformats.org/officeDocument/2006/relationships/image" Target="../media/image7.emf"/><Relationship Id="rId2" Type="http://schemas.openxmlformats.org/officeDocument/2006/relationships/image" Target="../media/image2.emf"/><Relationship Id="rId1" Type="http://schemas.openxmlformats.org/officeDocument/2006/relationships/image" Target="../media/image1.wmf"/><Relationship Id="rId6" Type="http://schemas.openxmlformats.org/officeDocument/2006/relationships/image" Target="../media/image6.emf"/><Relationship Id="rId5" Type="http://schemas.openxmlformats.org/officeDocument/2006/relationships/image" Target="../media/image5.wmf"/><Relationship Id="rId4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image" Target="../media/image9.emf"/><Relationship Id="rId4" Type="http://schemas.openxmlformats.org/officeDocument/2006/relationships/image" Target="../media/image1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emf"/><Relationship Id="rId5" Type="http://schemas.openxmlformats.org/officeDocument/2006/relationships/image" Target="../media/image20.wmf"/><Relationship Id="rId4" Type="http://schemas.openxmlformats.org/officeDocument/2006/relationships/image" Target="../media/image1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wmf"/><Relationship Id="rId1" Type="http://schemas.openxmlformats.org/officeDocument/2006/relationships/image" Target="../media/image21.wmf"/><Relationship Id="rId4" Type="http://schemas.openxmlformats.org/officeDocument/2006/relationships/image" Target="../media/image24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image" Target="../media/image27.wmf"/><Relationship Id="rId7" Type="http://schemas.openxmlformats.org/officeDocument/2006/relationships/image" Target="../media/image31.wmf"/><Relationship Id="rId2" Type="http://schemas.openxmlformats.org/officeDocument/2006/relationships/image" Target="../media/image26.emf"/><Relationship Id="rId1" Type="http://schemas.openxmlformats.org/officeDocument/2006/relationships/image" Target="../media/image25.emf"/><Relationship Id="rId6" Type="http://schemas.openxmlformats.org/officeDocument/2006/relationships/image" Target="../media/image30.e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e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41.emf"/><Relationship Id="rId2" Type="http://schemas.openxmlformats.org/officeDocument/2006/relationships/image" Target="../media/image40.emf"/><Relationship Id="rId1" Type="http://schemas.openxmlformats.org/officeDocument/2006/relationships/image" Target="../media/image39.emf"/></Relationships>
</file>

<file path=ppt/drawings/_rels/vmlDrawing9.vml.rels><?xml version="1.0" encoding="UTF-8" standalone="yes"?>
<Relationships xmlns="http://schemas.openxmlformats.org/package/2006/relationships"><Relationship Id="rId8" Type="http://schemas.openxmlformats.org/officeDocument/2006/relationships/image" Target="../media/image49.wmf"/><Relationship Id="rId3" Type="http://schemas.openxmlformats.org/officeDocument/2006/relationships/image" Target="../media/image44.wmf"/><Relationship Id="rId7" Type="http://schemas.openxmlformats.org/officeDocument/2006/relationships/image" Target="../media/image48.wmf"/><Relationship Id="rId12" Type="http://schemas.openxmlformats.org/officeDocument/2006/relationships/image" Target="../media/image53.wmf"/><Relationship Id="rId2" Type="http://schemas.openxmlformats.org/officeDocument/2006/relationships/image" Target="../media/image43.wmf"/><Relationship Id="rId1" Type="http://schemas.openxmlformats.org/officeDocument/2006/relationships/image" Target="../media/image42.wmf"/><Relationship Id="rId6" Type="http://schemas.openxmlformats.org/officeDocument/2006/relationships/image" Target="../media/image47.wmf"/><Relationship Id="rId11" Type="http://schemas.openxmlformats.org/officeDocument/2006/relationships/image" Target="../media/image52.wmf"/><Relationship Id="rId5" Type="http://schemas.openxmlformats.org/officeDocument/2006/relationships/image" Target="../media/image46.wmf"/><Relationship Id="rId10" Type="http://schemas.openxmlformats.org/officeDocument/2006/relationships/image" Target="../media/image51.wmf"/><Relationship Id="rId4" Type="http://schemas.openxmlformats.org/officeDocument/2006/relationships/image" Target="../media/image45.wmf"/><Relationship Id="rId9" Type="http://schemas.openxmlformats.org/officeDocument/2006/relationships/image" Target="../media/image50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56.wmf"/><Relationship Id="rId2" Type="http://schemas.openxmlformats.org/officeDocument/2006/relationships/image" Target="../media/image55.wmf"/><Relationship Id="rId1" Type="http://schemas.openxmlformats.org/officeDocument/2006/relationships/image" Target="../media/image54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image" Target="../media/image59.wmf"/><Relationship Id="rId7" Type="http://schemas.openxmlformats.org/officeDocument/2006/relationships/image" Target="../media/image63.wmf"/><Relationship Id="rId2" Type="http://schemas.openxmlformats.org/officeDocument/2006/relationships/image" Target="../media/image58.wmf"/><Relationship Id="rId1" Type="http://schemas.openxmlformats.org/officeDocument/2006/relationships/image" Target="../media/image57.emf"/><Relationship Id="rId6" Type="http://schemas.openxmlformats.org/officeDocument/2006/relationships/image" Target="../media/image62.wmf"/><Relationship Id="rId5" Type="http://schemas.openxmlformats.org/officeDocument/2006/relationships/image" Target="../media/image61.wmf"/><Relationship Id="rId4" Type="http://schemas.openxmlformats.org/officeDocument/2006/relationships/image" Target="../media/image60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Relationship Id="rId6" Type="http://schemas.openxmlformats.org/officeDocument/2006/relationships/image" Target="../media/image70.wmf"/><Relationship Id="rId5" Type="http://schemas.openxmlformats.org/officeDocument/2006/relationships/image" Target="../media/image69.emf"/><Relationship Id="rId4" Type="http://schemas.openxmlformats.org/officeDocument/2006/relationships/image" Target="../media/image68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184C93-ACF9-4659-ACF9-8558EAEBC9E8}" type="datetimeFigureOut">
              <a:rPr lang="zh-CN" altLang="en-US" smtClean="0"/>
              <a:t>2022/3/7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DEDEDC-389A-4CC5-B43A-FA05E2EC868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4797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6525EA-78CD-4727-824D-00475FF6082F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40141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1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4258290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EBFB764-E48E-447C-9579-908F14B72AD4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407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5061487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6E5012A-69C8-4601-A3DF-7BB9846DF710}" type="slidenum">
              <a:rPr lang="en-US" altLang="zh-CN"/>
              <a:pPr/>
              <a:t>10</a:t>
            </a:fld>
            <a:endParaRPr lang="en-US" altLang="zh-CN"/>
          </a:p>
        </p:txBody>
      </p:sp>
      <p:sp>
        <p:nvSpPr>
          <p:cNvPr id="409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7448177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7C02108-6154-44C0-B006-1842C61A47ED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411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1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499232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73F18-DBD1-409A-AA74-DA26949A98D7}" type="datetimeFigureOut">
              <a:rPr lang="zh-CN" altLang="en-US" smtClean="0"/>
              <a:t>2022/3/7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6E8D1-F0B4-4ADD-B5D6-F2617ED396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14691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73F18-DBD1-409A-AA74-DA26949A98D7}" type="datetimeFigureOut">
              <a:rPr lang="zh-CN" altLang="en-US" smtClean="0"/>
              <a:t>2022/3/7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6E8D1-F0B4-4ADD-B5D6-F2617ED396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9123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73F18-DBD1-409A-AA74-DA26949A98D7}" type="datetimeFigureOut">
              <a:rPr lang="zh-CN" altLang="en-US" smtClean="0"/>
              <a:t>2022/3/7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6E8D1-F0B4-4ADD-B5D6-F2617ED396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7491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73F18-DBD1-409A-AA74-DA26949A98D7}" type="datetimeFigureOut">
              <a:rPr lang="zh-CN" altLang="en-US" smtClean="0"/>
              <a:t>2022/3/7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6E8D1-F0B4-4ADD-B5D6-F2617ED396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8362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73F18-DBD1-409A-AA74-DA26949A98D7}" type="datetimeFigureOut">
              <a:rPr lang="zh-CN" altLang="en-US" smtClean="0"/>
              <a:t>2022/3/7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6E8D1-F0B4-4ADD-B5D6-F2617ED396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131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73F18-DBD1-409A-AA74-DA26949A98D7}" type="datetimeFigureOut">
              <a:rPr lang="zh-CN" altLang="en-US" smtClean="0"/>
              <a:t>2022/3/7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6E8D1-F0B4-4ADD-B5D6-F2617ED396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190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73F18-DBD1-409A-AA74-DA26949A98D7}" type="datetimeFigureOut">
              <a:rPr lang="zh-CN" altLang="en-US" smtClean="0"/>
              <a:t>2022/3/7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6E8D1-F0B4-4ADD-B5D6-F2617ED396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8489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73F18-DBD1-409A-AA74-DA26949A98D7}" type="datetimeFigureOut">
              <a:rPr lang="zh-CN" altLang="en-US" smtClean="0"/>
              <a:t>2022/3/7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6E8D1-F0B4-4ADD-B5D6-F2617ED396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17468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73F18-DBD1-409A-AA74-DA26949A98D7}" type="datetimeFigureOut">
              <a:rPr lang="zh-CN" altLang="en-US" smtClean="0"/>
              <a:t>2022/3/7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6E8D1-F0B4-4ADD-B5D6-F2617ED396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762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73F18-DBD1-409A-AA74-DA26949A98D7}" type="datetimeFigureOut">
              <a:rPr lang="zh-CN" altLang="en-US" smtClean="0"/>
              <a:t>2022/3/7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6E8D1-F0B4-4ADD-B5D6-F2617ED396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57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173F18-DBD1-409A-AA74-DA26949A98D7}" type="datetimeFigureOut">
              <a:rPr lang="zh-CN" altLang="en-US" smtClean="0"/>
              <a:t>2022/3/7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6E8D1-F0B4-4ADD-B5D6-F2617ED396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68101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" y="0"/>
            <a:ext cx="87630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52400" y="1371600"/>
            <a:ext cx="4305300" cy="47244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10100" y="1371600"/>
            <a:ext cx="4305300" cy="4724400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152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ko-KR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70104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757C052F-04CA-4BD8-89A8-B5904AC8B7E6}" type="slidenum">
              <a:rPr lang="ko-KR" altLang="en-US"/>
              <a:pPr/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50942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173F18-DBD1-409A-AA74-DA26949A98D7}" type="datetimeFigureOut">
              <a:rPr lang="zh-CN" altLang="en-US" smtClean="0"/>
              <a:t>2022/3/7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06E8D1-F0B4-4ADD-B5D6-F2617ED396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6709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wmf"/><Relationship Id="rId13" Type="http://schemas.openxmlformats.org/officeDocument/2006/relationships/oleObject" Target="../embeddings/oleObject6.bin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7.emf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4.wmf"/><Relationship Id="rId4" Type="http://schemas.openxmlformats.org/officeDocument/2006/relationships/image" Target="../media/image1.w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../embeddings/oleObject8.bin"/><Relationship Id="rId7" Type="http://schemas.openxmlformats.org/officeDocument/2006/relationships/oleObject" Target="../embeddings/oleObject10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0.emf"/><Relationship Id="rId5" Type="http://schemas.openxmlformats.org/officeDocument/2006/relationships/oleObject" Target="../embeddings/oleObject9.bin"/><Relationship Id="rId10" Type="http://schemas.openxmlformats.org/officeDocument/2006/relationships/image" Target="../media/image12.emf"/><Relationship Id="rId4" Type="http://schemas.openxmlformats.org/officeDocument/2006/relationships/image" Target="../media/image9.emf"/><Relationship Id="rId9" Type="http://schemas.openxmlformats.org/officeDocument/2006/relationships/oleObject" Target="../embeddings/oleObject11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3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20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9.wmf"/><Relationship Id="rId4" Type="http://schemas.openxmlformats.org/officeDocument/2006/relationships/image" Target="../media/image16.emf"/><Relationship Id="rId9" Type="http://schemas.openxmlformats.org/officeDocument/2006/relationships/oleObject" Target="../embeddings/oleObject16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22.wmf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24.wmf"/><Relationship Id="rId4" Type="http://schemas.openxmlformats.org/officeDocument/2006/relationships/image" Target="../media/image21.wmf"/><Relationship Id="rId9" Type="http://schemas.openxmlformats.org/officeDocument/2006/relationships/oleObject" Target="../embeddings/oleObject21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27.bin"/><Relationship Id="rId18" Type="http://schemas.openxmlformats.org/officeDocument/2006/relationships/image" Target="../media/image32.wm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12" Type="http://schemas.openxmlformats.org/officeDocument/2006/relationships/image" Target="../media/image29.wmf"/><Relationship Id="rId17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1.wmf"/><Relationship Id="rId1" Type="http://schemas.openxmlformats.org/officeDocument/2006/relationships/vmlDrawing" Target="../drawings/vmlDrawing6.vml"/><Relationship Id="rId6" Type="http://schemas.openxmlformats.org/officeDocument/2006/relationships/image" Target="../media/image26.emf"/><Relationship Id="rId11" Type="http://schemas.openxmlformats.org/officeDocument/2006/relationships/oleObject" Target="../embeddings/oleObject26.bin"/><Relationship Id="rId5" Type="http://schemas.openxmlformats.org/officeDocument/2006/relationships/oleObject" Target="../embeddings/oleObject23.bin"/><Relationship Id="rId15" Type="http://schemas.openxmlformats.org/officeDocument/2006/relationships/oleObject" Target="../embeddings/oleObject28.bin"/><Relationship Id="rId10" Type="http://schemas.openxmlformats.org/officeDocument/2006/relationships/image" Target="../media/image28.wmf"/><Relationship Id="rId19" Type="http://schemas.openxmlformats.org/officeDocument/2006/relationships/oleObject" Target="../embeddings/oleObject30.bin"/><Relationship Id="rId4" Type="http://schemas.openxmlformats.org/officeDocument/2006/relationships/image" Target="../media/image25.emf"/><Relationship Id="rId9" Type="http://schemas.openxmlformats.org/officeDocument/2006/relationships/oleObject" Target="../embeddings/oleObject25.bin"/><Relationship Id="rId14" Type="http://schemas.openxmlformats.org/officeDocument/2006/relationships/image" Target="../media/image30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36.bin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12" Type="http://schemas.openxmlformats.org/officeDocument/2006/relationships/image" Target="../media/image3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35.bin"/><Relationship Id="rId5" Type="http://schemas.openxmlformats.org/officeDocument/2006/relationships/oleObject" Target="../embeddings/oleObject32.bin"/><Relationship Id="rId10" Type="http://schemas.openxmlformats.org/officeDocument/2006/relationships/image" Target="../media/image36.wmf"/><Relationship Id="rId4" Type="http://schemas.openxmlformats.org/officeDocument/2006/relationships/image" Target="../media/image33.emf"/><Relationship Id="rId9" Type="http://schemas.openxmlformats.org/officeDocument/2006/relationships/oleObject" Target="../embeddings/oleObject34.bin"/><Relationship Id="rId14" Type="http://schemas.openxmlformats.org/officeDocument/2006/relationships/image" Target="../media/image38.w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em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40.emf"/><Relationship Id="rId5" Type="http://schemas.openxmlformats.org/officeDocument/2006/relationships/oleObject" Target="../embeddings/oleObject38.bin"/><Relationship Id="rId4" Type="http://schemas.openxmlformats.org/officeDocument/2006/relationships/image" Target="../media/image39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45.bin"/><Relationship Id="rId18" Type="http://schemas.openxmlformats.org/officeDocument/2006/relationships/image" Target="../media/image49.wmf"/><Relationship Id="rId26" Type="http://schemas.openxmlformats.org/officeDocument/2006/relationships/image" Target="../media/image53.wmf"/><Relationship Id="rId3" Type="http://schemas.openxmlformats.org/officeDocument/2006/relationships/oleObject" Target="../embeddings/oleObject40.bin"/><Relationship Id="rId21" Type="http://schemas.openxmlformats.org/officeDocument/2006/relationships/oleObject" Target="../embeddings/oleObject49.bin"/><Relationship Id="rId7" Type="http://schemas.openxmlformats.org/officeDocument/2006/relationships/oleObject" Target="../embeddings/oleObject42.bin"/><Relationship Id="rId12" Type="http://schemas.openxmlformats.org/officeDocument/2006/relationships/image" Target="../media/image46.wmf"/><Relationship Id="rId17" Type="http://schemas.openxmlformats.org/officeDocument/2006/relationships/oleObject" Target="../embeddings/oleObject47.bin"/><Relationship Id="rId25" Type="http://schemas.openxmlformats.org/officeDocument/2006/relationships/oleObject" Target="../embeddings/oleObject5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8.wmf"/><Relationship Id="rId20" Type="http://schemas.openxmlformats.org/officeDocument/2006/relationships/image" Target="../media/image50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44.bin"/><Relationship Id="rId24" Type="http://schemas.openxmlformats.org/officeDocument/2006/relationships/image" Target="../media/image52.wmf"/><Relationship Id="rId5" Type="http://schemas.openxmlformats.org/officeDocument/2006/relationships/oleObject" Target="../embeddings/oleObject41.bin"/><Relationship Id="rId15" Type="http://schemas.openxmlformats.org/officeDocument/2006/relationships/oleObject" Target="../embeddings/oleObject46.bin"/><Relationship Id="rId23" Type="http://schemas.openxmlformats.org/officeDocument/2006/relationships/oleObject" Target="../embeddings/oleObject50.bin"/><Relationship Id="rId10" Type="http://schemas.openxmlformats.org/officeDocument/2006/relationships/image" Target="../media/image45.wmf"/><Relationship Id="rId19" Type="http://schemas.openxmlformats.org/officeDocument/2006/relationships/oleObject" Target="../embeddings/oleObject48.bin"/><Relationship Id="rId4" Type="http://schemas.openxmlformats.org/officeDocument/2006/relationships/image" Target="../media/image42.wmf"/><Relationship Id="rId9" Type="http://schemas.openxmlformats.org/officeDocument/2006/relationships/oleObject" Target="../embeddings/oleObject43.bin"/><Relationship Id="rId14" Type="http://schemas.openxmlformats.org/officeDocument/2006/relationships/image" Target="../media/image47.wmf"/><Relationship Id="rId22" Type="http://schemas.openxmlformats.org/officeDocument/2006/relationships/image" Target="../media/image51.w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wm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55.wmf"/><Relationship Id="rId5" Type="http://schemas.openxmlformats.org/officeDocument/2006/relationships/oleObject" Target="../embeddings/oleObject53.bin"/><Relationship Id="rId4" Type="http://schemas.openxmlformats.org/officeDocument/2006/relationships/image" Target="../media/image54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wmf"/><Relationship Id="rId13" Type="http://schemas.openxmlformats.org/officeDocument/2006/relationships/oleObject" Target="../embeddings/oleObject60.bin"/><Relationship Id="rId18" Type="http://schemas.openxmlformats.org/officeDocument/2006/relationships/image" Target="../media/image64.wm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12" Type="http://schemas.openxmlformats.org/officeDocument/2006/relationships/image" Target="../media/image61.wmf"/><Relationship Id="rId17" Type="http://schemas.openxmlformats.org/officeDocument/2006/relationships/oleObject" Target="../embeddings/oleObject62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63.wmf"/><Relationship Id="rId1" Type="http://schemas.openxmlformats.org/officeDocument/2006/relationships/vmlDrawing" Target="../drawings/vmlDrawing11.vml"/><Relationship Id="rId6" Type="http://schemas.openxmlformats.org/officeDocument/2006/relationships/image" Target="../media/image58.wmf"/><Relationship Id="rId11" Type="http://schemas.openxmlformats.org/officeDocument/2006/relationships/oleObject" Target="../embeddings/oleObject59.bin"/><Relationship Id="rId5" Type="http://schemas.openxmlformats.org/officeDocument/2006/relationships/oleObject" Target="../embeddings/oleObject56.bin"/><Relationship Id="rId15" Type="http://schemas.openxmlformats.org/officeDocument/2006/relationships/oleObject" Target="../embeddings/oleObject61.bin"/><Relationship Id="rId10" Type="http://schemas.openxmlformats.org/officeDocument/2006/relationships/image" Target="../media/image60.wmf"/><Relationship Id="rId4" Type="http://schemas.openxmlformats.org/officeDocument/2006/relationships/image" Target="../media/image57.emf"/><Relationship Id="rId9" Type="http://schemas.openxmlformats.org/officeDocument/2006/relationships/oleObject" Target="../embeddings/oleObject58.bin"/><Relationship Id="rId14" Type="http://schemas.openxmlformats.org/officeDocument/2006/relationships/image" Target="../media/image62.wmf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13" Type="http://schemas.openxmlformats.org/officeDocument/2006/relationships/oleObject" Target="../embeddings/oleObject68.bin"/><Relationship Id="rId3" Type="http://schemas.openxmlformats.org/officeDocument/2006/relationships/oleObject" Target="../embeddings/oleObject63.bin"/><Relationship Id="rId7" Type="http://schemas.openxmlformats.org/officeDocument/2006/relationships/oleObject" Target="../embeddings/oleObject65.bin"/><Relationship Id="rId12" Type="http://schemas.openxmlformats.org/officeDocument/2006/relationships/image" Target="../media/image69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6.wmf"/><Relationship Id="rId11" Type="http://schemas.openxmlformats.org/officeDocument/2006/relationships/oleObject" Target="../embeddings/oleObject67.bin"/><Relationship Id="rId5" Type="http://schemas.openxmlformats.org/officeDocument/2006/relationships/oleObject" Target="../embeddings/oleObject64.bin"/><Relationship Id="rId10" Type="http://schemas.openxmlformats.org/officeDocument/2006/relationships/image" Target="../media/image68.emf"/><Relationship Id="rId4" Type="http://schemas.openxmlformats.org/officeDocument/2006/relationships/image" Target="../media/image65.wmf"/><Relationship Id="rId9" Type="http://schemas.openxmlformats.org/officeDocument/2006/relationships/oleObject" Target="../embeddings/oleObject66.bin"/><Relationship Id="rId14" Type="http://schemas.openxmlformats.org/officeDocument/2006/relationships/image" Target="../media/image70.wmf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7" Type="http://schemas.openxmlformats.org/officeDocument/2006/relationships/image" Target="../media/image76.png"/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3" Type="http://schemas.openxmlformats.org/officeDocument/2006/relationships/image" Target="../media/image78.emf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3" Type="http://schemas.openxmlformats.org/officeDocument/2006/relationships/image" Target="../media/image78.emf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5" Type="http://schemas.openxmlformats.org/officeDocument/2006/relationships/image" Target="../media/image103.png"/><Relationship Id="rId10" Type="http://schemas.openxmlformats.org/officeDocument/2006/relationships/image" Target="../media/image98.png"/><Relationship Id="rId4" Type="http://schemas.openxmlformats.org/officeDocument/2006/relationships/image" Target="../media/image92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日期占位符 1"/>
          <p:cNvSpPr>
            <a:spLocks noGrp="1"/>
          </p:cNvSpPr>
          <p:nvPr>
            <p:ph type="dt" sz="half" idx="10"/>
          </p:nvPr>
        </p:nvSpPr>
        <p:spPr>
          <a:xfrm>
            <a:off x="381000" y="6572250"/>
            <a:ext cx="1905000" cy="457200"/>
          </a:xfrm>
        </p:spPr>
        <p:txBody>
          <a:bodyPr/>
          <a:lstStyle/>
          <a:p>
            <a:pPr>
              <a:defRPr/>
            </a:pPr>
            <a:fld id="{5E53D187-51C4-4EF5-8FAF-33043ED4539C}" type="datetime1">
              <a:rPr lang="zh-CN" altLang="en-US">
                <a:latin typeface="+mn-ea"/>
              </a:rPr>
              <a:pPr>
                <a:defRPr/>
              </a:pPr>
              <a:t>2022/3/7</a:t>
            </a:fld>
            <a:endParaRPr lang="en-US" altLang="zh-CN">
              <a:latin typeface="+mn-ea"/>
            </a:endParaRPr>
          </a:p>
        </p:txBody>
      </p:sp>
      <p:sp>
        <p:nvSpPr>
          <p:cNvPr id="20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57225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zh-CN" altLang="en-US">
                <a:latin typeface="+mn-ea"/>
              </a:rPr>
              <a:t>电路理论</a:t>
            </a:r>
            <a:endParaRPr lang="en-US" altLang="zh-CN">
              <a:latin typeface="+mn-ea"/>
            </a:endParaRPr>
          </a:p>
        </p:txBody>
      </p:sp>
      <p:sp>
        <p:nvSpPr>
          <p:cNvPr id="21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858000" y="6572250"/>
            <a:ext cx="1905000" cy="457200"/>
          </a:xfrm>
        </p:spPr>
        <p:txBody>
          <a:bodyPr/>
          <a:lstStyle/>
          <a:p>
            <a:pPr>
              <a:defRPr/>
            </a:pPr>
            <a:fld id="{9B7A88EC-07B6-42B5-8C58-8015318F4EBC}" type="slidenum">
              <a:rPr lang="en-US" altLang="zh-CN">
                <a:latin typeface="+mn-ea"/>
              </a:rPr>
              <a:pPr>
                <a:defRPr/>
              </a:pPr>
              <a:t>1</a:t>
            </a:fld>
            <a:endParaRPr lang="en-US" altLang="zh-CN">
              <a:latin typeface="+mn-ea"/>
            </a:endParaRPr>
          </a:p>
        </p:txBody>
      </p:sp>
      <p:sp>
        <p:nvSpPr>
          <p:cNvPr id="28" name="Text Box 8"/>
          <p:cNvSpPr txBox="1">
            <a:spLocks noChangeArrowheads="1"/>
          </p:cNvSpPr>
          <p:nvPr/>
        </p:nvSpPr>
        <p:spPr bwMode="auto">
          <a:xfrm>
            <a:off x="1187450" y="246063"/>
            <a:ext cx="7239000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defRPr/>
            </a:pPr>
            <a:r>
              <a:rPr lang="zh-CN" alt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第</a:t>
            </a:r>
            <a:r>
              <a:rPr lang="en-US" altLang="zh-CN" sz="4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1</a:t>
            </a:r>
            <a:r>
              <a:rPr lang="zh-CN" altLang="en-US" sz="40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章 电路</a:t>
            </a:r>
            <a:r>
              <a:rPr lang="zh-CN" altLang="en-US" sz="40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模型和基本定律</a:t>
            </a:r>
          </a:p>
          <a:p>
            <a:pPr algn="ctr" eaLnBrk="1" hangingPunct="1">
              <a:defRPr/>
            </a:pPr>
            <a:endParaRPr lang="zh-CN" altLang="en-US" sz="4000" dirty="0">
              <a:solidFill>
                <a:srgbClr val="FF0000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+mn-ea"/>
            </a:endParaRPr>
          </a:p>
        </p:txBody>
      </p:sp>
      <p:sp>
        <p:nvSpPr>
          <p:cNvPr id="29" name="Text Box 21"/>
          <p:cNvSpPr txBox="1">
            <a:spLocks noChangeArrowheads="1"/>
          </p:cNvSpPr>
          <p:nvPr/>
        </p:nvSpPr>
        <p:spPr bwMode="auto">
          <a:xfrm>
            <a:off x="755650" y="1773238"/>
            <a:ext cx="14414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20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目标：</a:t>
            </a:r>
          </a:p>
        </p:txBody>
      </p:sp>
      <p:sp>
        <p:nvSpPr>
          <p:cNvPr id="31" name="Text Box 23"/>
          <p:cNvSpPr txBox="1">
            <a:spLocks noChangeArrowheads="1"/>
          </p:cNvSpPr>
          <p:nvPr/>
        </p:nvSpPr>
        <p:spPr bwMode="auto">
          <a:xfrm>
            <a:off x="779463" y="3497263"/>
            <a:ext cx="14033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zh-CN" altLang="en-US" sz="3200" dirty="0">
                <a:effectLst>
                  <a:outerShdw blurRad="38100" dist="38100" dir="2700000" algn="tl">
                    <a:srgbClr val="C0C0C0"/>
                  </a:outerShdw>
                </a:effectLst>
                <a:latin typeface="+mn-ea"/>
              </a:rPr>
              <a:t>难点：</a:t>
            </a:r>
          </a:p>
        </p:txBody>
      </p:sp>
      <p:sp>
        <p:nvSpPr>
          <p:cNvPr id="32" name="Rectangle 24"/>
          <p:cNvSpPr>
            <a:spLocks noChangeArrowheads="1"/>
          </p:cNvSpPr>
          <p:nvPr/>
        </p:nvSpPr>
        <p:spPr bwMode="auto">
          <a:xfrm>
            <a:off x="1981200" y="3625850"/>
            <a:ext cx="6624638" cy="2225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228600" algn="l"/>
                <a:tab pos="2524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latin typeface="+mn-ea"/>
                <a:ea typeface="+mn-ea"/>
              </a:rPr>
              <a:t>1.</a:t>
            </a:r>
            <a:r>
              <a:rPr lang="zh-CN" altLang="en-US" sz="2000" dirty="0">
                <a:latin typeface="+mn-ea"/>
                <a:ea typeface="+mn-ea"/>
              </a:rPr>
              <a:t>理解独立电源的特点，即电压源的电流、电流源的电压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sz="2000" dirty="0">
                <a:latin typeface="+mn-ea"/>
                <a:ea typeface="+mn-ea"/>
              </a:rPr>
              <a:t>   由外部电路决定。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latin typeface="+mn-ea"/>
                <a:ea typeface="+mn-ea"/>
              </a:rPr>
              <a:t>2.</a:t>
            </a:r>
            <a:r>
              <a:rPr lang="zh-CN" altLang="en-US" sz="2000" dirty="0">
                <a:latin typeface="+mn-ea"/>
                <a:ea typeface="+mn-ea"/>
              </a:rPr>
              <a:t>理解受控电源和独立电源特性的异同。 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latin typeface="+mn-ea"/>
                <a:ea typeface="+mn-ea"/>
              </a:rPr>
              <a:t>3.</a:t>
            </a:r>
            <a:r>
              <a:rPr lang="zh-CN" altLang="en-US" sz="2000" dirty="0">
                <a:latin typeface="+mn-ea"/>
                <a:ea typeface="+mn-ea"/>
              </a:rPr>
              <a:t>习惯使用参考方向、变量分析问题。</a:t>
            </a:r>
          </a:p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2000" dirty="0">
                <a:latin typeface="+mn-ea"/>
                <a:ea typeface="+mn-ea"/>
              </a:rPr>
              <a:t>4.</a:t>
            </a:r>
            <a:r>
              <a:rPr lang="zh-CN" altLang="en-US" sz="2000" dirty="0">
                <a:latin typeface="+mn-ea"/>
                <a:ea typeface="+mn-ea"/>
              </a:rPr>
              <a:t>恰当、准确列写电路的</a:t>
            </a:r>
            <a:r>
              <a:rPr lang="en-US" altLang="zh-CN" sz="2000" dirty="0">
                <a:latin typeface="+mn-ea"/>
                <a:ea typeface="+mn-ea"/>
              </a:rPr>
              <a:t>KCL</a:t>
            </a:r>
            <a:r>
              <a:rPr lang="zh-CN" altLang="en-US" sz="2000" dirty="0">
                <a:latin typeface="+mn-ea"/>
                <a:ea typeface="+mn-ea"/>
              </a:rPr>
              <a:t>、</a:t>
            </a:r>
            <a:r>
              <a:rPr lang="en-US" altLang="zh-CN" sz="2000" dirty="0">
                <a:latin typeface="+mn-ea"/>
                <a:ea typeface="+mn-ea"/>
              </a:rPr>
              <a:t>KVL</a:t>
            </a:r>
            <a:r>
              <a:rPr lang="zh-CN" altLang="en-US" sz="2000" dirty="0">
                <a:latin typeface="+mn-ea"/>
                <a:ea typeface="+mn-ea"/>
              </a:rPr>
              <a:t>方程。</a:t>
            </a:r>
          </a:p>
        </p:txBody>
      </p:sp>
      <p:sp>
        <p:nvSpPr>
          <p:cNvPr id="33" name="Rectangle 26"/>
          <p:cNvSpPr>
            <a:spLocks noChangeArrowheads="1"/>
          </p:cNvSpPr>
          <p:nvPr/>
        </p:nvSpPr>
        <p:spPr bwMode="auto">
          <a:xfrm>
            <a:off x="1476375" y="1916113"/>
            <a:ext cx="7596188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>
              <a:spcBef>
                <a:spcPct val="20000"/>
              </a:spcBef>
              <a:buChar char="•"/>
              <a:tabLst>
                <a:tab pos="228600" algn="l"/>
                <a:tab pos="252413" algn="l"/>
              </a:tabLs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>
              <a:spcBef>
                <a:spcPct val="20000"/>
              </a:spcBef>
              <a:buChar char="–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228600" algn="l"/>
                <a:tab pos="252413" algn="l"/>
              </a:tabLst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lvl="1"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latin typeface="+mn-ea"/>
                <a:ea typeface="+mn-ea"/>
              </a:rPr>
              <a:t>1.</a:t>
            </a:r>
            <a:r>
              <a:rPr lang="zh-CN" altLang="en-US" dirty="0">
                <a:latin typeface="+mn-ea"/>
                <a:ea typeface="+mn-ea"/>
              </a:rPr>
              <a:t>熟练掌握电路的电功率计算。</a:t>
            </a:r>
          </a:p>
          <a:p>
            <a:pPr lvl="1"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latin typeface="+mn-ea"/>
                <a:ea typeface="+mn-ea"/>
              </a:rPr>
              <a:t>2.</a:t>
            </a:r>
            <a:r>
              <a:rPr lang="zh-CN" altLang="en-US" dirty="0">
                <a:latin typeface="+mn-ea"/>
                <a:ea typeface="+mn-ea"/>
              </a:rPr>
              <a:t>熟练掌握独立电源、受控电源的特性。</a:t>
            </a:r>
          </a:p>
          <a:p>
            <a:pPr lvl="1" eaLnBrk="1" hangingPunct="1">
              <a:spcBef>
                <a:spcPct val="50000"/>
              </a:spcBef>
              <a:buFontTx/>
              <a:buNone/>
            </a:pPr>
            <a:r>
              <a:rPr lang="en-US" altLang="zh-CN" dirty="0">
                <a:latin typeface="+mn-ea"/>
                <a:ea typeface="+mn-ea"/>
              </a:rPr>
              <a:t>3.</a:t>
            </a:r>
            <a:r>
              <a:rPr lang="zh-CN" altLang="en-US" dirty="0">
                <a:latin typeface="+mn-ea"/>
                <a:ea typeface="+mn-ea"/>
              </a:rPr>
              <a:t>理解</a:t>
            </a:r>
            <a:r>
              <a:rPr lang="en-US" altLang="zh-CN" dirty="0">
                <a:latin typeface="+mn-ea"/>
                <a:ea typeface="+mn-ea"/>
              </a:rPr>
              <a:t>KCL</a:t>
            </a:r>
            <a:r>
              <a:rPr lang="zh-CN" altLang="en-US" dirty="0">
                <a:latin typeface="+mn-ea"/>
                <a:ea typeface="+mn-ea"/>
              </a:rPr>
              <a:t>、</a:t>
            </a:r>
            <a:r>
              <a:rPr lang="en-US" altLang="zh-CN" dirty="0">
                <a:latin typeface="+mn-ea"/>
                <a:ea typeface="+mn-ea"/>
              </a:rPr>
              <a:t>KVL</a:t>
            </a:r>
            <a:r>
              <a:rPr lang="zh-CN" altLang="en-US" dirty="0">
                <a:latin typeface="+mn-ea"/>
                <a:ea typeface="+mn-ea"/>
              </a:rPr>
              <a:t>方程的独立性，准确列写</a:t>
            </a:r>
            <a:r>
              <a:rPr lang="en-US" altLang="zh-CN" dirty="0">
                <a:latin typeface="+mn-ea"/>
                <a:ea typeface="+mn-ea"/>
              </a:rPr>
              <a:t>KCL</a:t>
            </a:r>
            <a:r>
              <a:rPr lang="zh-CN" altLang="en-US" dirty="0">
                <a:latin typeface="+mn-ea"/>
                <a:ea typeface="+mn-ea"/>
              </a:rPr>
              <a:t>、</a:t>
            </a:r>
            <a:r>
              <a:rPr lang="en-US" altLang="zh-CN" dirty="0">
                <a:latin typeface="+mn-ea"/>
                <a:ea typeface="+mn-ea"/>
              </a:rPr>
              <a:t>KVL</a:t>
            </a:r>
            <a:r>
              <a:rPr lang="zh-CN" altLang="en-US" dirty="0">
                <a:latin typeface="+mn-ea"/>
                <a:ea typeface="+mn-ea"/>
              </a:rPr>
              <a:t>方程。</a:t>
            </a:r>
          </a:p>
        </p:txBody>
      </p:sp>
    </p:spTree>
    <p:extLst>
      <p:ext uri="{BB962C8B-B14F-4D97-AF65-F5344CB8AC3E}">
        <p14:creationId xmlns:p14="http://schemas.microsoft.com/office/powerpoint/2010/main" val="3104258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431800" y="4041775"/>
            <a:ext cx="3860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zh-CN" altLang="en-US" sz="2400" b="1">
                <a:solidFill>
                  <a:schemeClr val="tx2"/>
                </a:solidFill>
                <a:latin typeface="+mn-ea"/>
              </a:rPr>
              <a:t>电流参考方向的</a:t>
            </a:r>
            <a:r>
              <a:rPr kumimoji="1" lang="zh-CN" altLang="en-US" sz="2400" b="1">
                <a:solidFill>
                  <a:srgbClr val="0000FF"/>
                </a:solidFill>
                <a:latin typeface="+mn-ea"/>
              </a:rPr>
              <a:t>两种表示</a:t>
            </a:r>
            <a:r>
              <a:rPr kumimoji="1" lang="zh-CN" altLang="en-US" sz="2400" b="1">
                <a:solidFill>
                  <a:schemeClr val="tx2"/>
                </a:solidFill>
                <a:latin typeface="+mn-ea"/>
              </a:rPr>
              <a:t>：</a:t>
            </a: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890588" y="4797425"/>
            <a:ext cx="652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>
                <a:solidFill>
                  <a:schemeClr val="tx2"/>
                </a:solidFill>
                <a:latin typeface="+mn-ea"/>
                <a:sym typeface="Symbol" panose="05050102010706020507" pitchFamily="18" charset="2"/>
              </a:rPr>
              <a:t> </a:t>
            </a:r>
            <a:r>
              <a:rPr kumimoji="1" lang="zh-CN" altLang="en-US" sz="2400" b="1">
                <a:solidFill>
                  <a:schemeClr val="tx2"/>
                </a:solidFill>
                <a:latin typeface="+mn-ea"/>
                <a:sym typeface="Monotype Sorts" pitchFamily="2" charset="2"/>
              </a:rPr>
              <a:t>用箭头表示：箭头的指向为</a:t>
            </a:r>
            <a:r>
              <a:rPr kumimoji="1" lang="zh-CN" altLang="en-US" sz="2400" b="1">
                <a:solidFill>
                  <a:schemeClr val="tx2"/>
                </a:solidFill>
                <a:latin typeface="+mn-ea"/>
              </a:rPr>
              <a:t>电流的参考方向；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860425" y="5410200"/>
            <a:ext cx="7540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2857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2400" b="1">
                <a:solidFill>
                  <a:schemeClr val="tx2"/>
                </a:solidFill>
                <a:latin typeface="+mn-ea"/>
                <a:ea typeface="+mn-ea"/>
                <a:sym typeface="Symbol" panose="05050102010706020507" pitchFamily="18" charset="2"/>
              </a:rPr>
              <a:t> </a:t>
            </a:r>
            <a:r>
              <a:rPr kumimoji="1" lang="zh-CN" altLang="en-US" sz="2400" b="1">
                <a:solidFill>
                  <a:schemeClr val="tx2"/>
                </a:solidFill>
                <a:latin typeface="+mn-ea"/>
                <a:ea typeface="+mn-ea"/>
                <a:sym typeface="Monotype Sorts" pitchFamily="2" charset="2"/>
              </a:rPr>
              <a:t>用双下标表示：如 </a:t>
            </a:r>
            <a:r>
              <a:rPr kumimoji="1" lang="en-US" altLang="zh-CN" sz="2400" b="1" i="1">
                <a:solidFill>
                  <a:schemeClr val="tx2"/>
                </a:solidFill>
                <a:latin typeface="+mn-ea"/>
                <a:ea typeface="+mn-ea"/>
                <a:sym typeface="Monotype Sorts" pitchFamily="2" charset="2"/>
              </a:rPr>
              <a:t>i</a:t>
            </a:r>
            <a:r>
              <a:rPr kumimoji="1" lang="en-US" altLang="zh-CN" sz="2400" b="1" baseline="-25000">
                <a:solidFill>
                  <a:schemeClr val="tx2"/>
                </a:solidFill>
                <a:latin typeface="+mn-ea"/>
                <a:ea typeface="+mn-ea"/>
                <a:sym typeface="Monotype Sorts" pitchFamily="2" charset="2"/>
              </a:rPr>
              <a:t>AB</a:t>
            </a:r>
            <a:r>
              <a:rPr kumimoji="1" lang="en-US" altLang="zh-CN" sz="2400" b="1">
                <a:solidFill>
                  <a:schemeClr val="tx2"/>
                </a:solidFill>
                <a:latin typeface="+mn-ea"/>
                <a:ea typeface="+mn-ea"/>
                <a:sym typeface="Monotype Sorts" pitchFamily="2" charset="2"/>
              </a:rPr>
              <a:t> </a:t>
            </a:r>
            <a:r>
              <a:rPr kumimoji="1" lang="zh-CN" altLang="en-US" sz="2400" b="1">
                <a:solidFill>
                  <a:schemeClr val="tx2"/>
                </a:solidFill>
                <a:latin typeface="+mn-ea"/>
                <a:ea typeface="+mn-ea"/>
                <a:sym typeface="Monotype Sorts" pitchFamily="2" charset="2"/>
              </a:rPr>
              <a:t>，</a:t>
            </a:r>
            <a:r>
              <a:rPr kumimoji="1" lang="zh-CN" altLang="en-US" sz="2400" b="1">
                <a:solidFill>
                  <a:schemeClr val="tx2"/>
                </a:solidFill>
                <a:latin typeface="+mn-ea"/>
                <a:ea typeface="+mn-ea"/>
              </a:rPr>
              <a:t>电流的参考方向由</a:t>
            </a:r>
            <a:r>
              <a:rPr kumimoji="1"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A</a:t>
            </a:r>
            <a:r>
              <a:rPr kumimoji="1" lang="zh-CN" altLang="en-US" sz="2400" b="1">
                <a:solidFill>
                  <a:schemeClr val="tx2"/>
                </a:solidFill>
                <a:latin typeface="+mn-ea"/>
                <a:ea typeface="+mn-ea"/>
              </a:rPr>
              <a:t>指向</a:t>
            </a:r>
            <a:r>
              <a:rPr kumimoji="1"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B</a:t>
            </a:r>
            <a:r>
              <a:rPr kumimoji="1" lang="zh-CN" altLang="en-US" sz="2400" b="1">
                <a:solidFill>
                  <a:schemeClr val="tx2"/>
                </a:solidFill>
                <a:latin typeface="+mn-ea"/>
                <a:ea typeface="+mn-ea"/>
              </a:rPr>
              <a:t>。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625475" y="1335088"/>
            <a:ext cx="35814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kumimoji="1" lang="en-US" altLang="zh-CN" sz="3200" b="1" i="1">
                <a:solidFill>
                  <a:schemeClr val="tx2"/>
                </a:solidFill>
                <a:latin typeface="+mn-ea"/>
              </a:rPr>
              <a:t>i</a:t>
            </a:r>
            <a:r>
              <a:rPr kumimoji="1" lang="en-US" altLang="zh-CN" sz="3200" b="1">
                <a:solidFill>
                  <a:schemeClr val="tx2"/>
                </a:solidFill>
                <a:latin typeface="+mn-ea"/>
              </a:rPr>
              <a:t>              </a:t>
            </a:r>
            <a:r>
              <a:rPr kumimoji="1" lang="zh-CN" altLang="en-US" sz="2400" b="1">
                <a:solidFill>
                  <a:schemeClr val="tx2"/>
                </a:solidFill>
                <a:latin typeface="+mn-ea"/>
              </a:rPr>
              <a:t>参考方向</a:t>
            </a:r>
          </a:p>
        </p:txBody>
      </p:sp>
      <p:sp>
        <p:nvSpPr>
          <p:cNvPr id="8" name="Text Box 8"/>
          <p:cNvSpPr txBox="1">
            <a:spLocks noChangeArrowheads="1"/>
          </p:cNvSpPr>
          <p:nvPr/>
        </p:nvSpPr>
        <p:spPr bwMode="auto">
          <a:xfrm>
            <a:off x="5356547" y="1343968"/>
            <a:ext cx="285526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2400" b="1" i="1">
                <a:solidFill>
                  <a:schemeClr val="tx2"/>
                </a:solidFill>
                <a:latin typeface="+mn-ea"/>
              </a:rPr>
              <a:t>i</a:t>
            </a:r>
            <a:r>
              <a:rPr kumimoji="1" lang="en-US" altLang="zh-CN" sz="2400" b="1">
                <a:solidFill>
                  <a:schemeClr val="tx2"/>
                </a:solidFill>
                <a:latin typeface="+mn-ea"/>
              </a:rPr>
              <a:t>                </a:t>
            </a:r>
            <a:r>
              <a:rPr kumimoji="1" lang="zh-CN" altLang="en-US" sz="2400" b="1">
                <a:solidFill>
                  <a:schemeClr val="tx2"/>
                </a:solidFill>
                <a:latin typeface="+mn-ea"/>
              </a:rPr>
              <a:t>参考方向</a:t>
            </a:r>
          </a:p>
        </p:txBody>
      </p:sp>
      <p:sp>
        <p:nvSpPr>
          <p:cNvPr id="9" name="Text Box 9"/>
          <p:cNvSpPr txBox="1">
            <a:spLocks noChangeArrowheads="1"/>
          </p:cNvSpPr>
          <p:nvPr/>
        </p:nvSpPr>
        <p:spPr bwMode="auto">
          <a:xfrm>
            <a:off x="2127952" y="3029635"/>
            <a:ext cx="113524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3600" b="1" i="1">
                <a:solidFill>
                  <a:schemeClr val="tx2"/>
                </a:solidFill>
                <a:latin typeface="+mn-ea"/>
              </a:rPr>
              <a:t>i</a:t>
            </a:r>
            <a:r>
              <a:rPr kumimoji="1" lang="en-US" altLang="zh-CN" sz="3600" b="1">
                <a:solidFill>
                  <a:schemeClr val="tx2"/>
                </a:solidFill>
                <a:latin typeface="+mn-ea"/>
              </a:rPr>
              <a:t> &gt; 0</a:t>
            </a:r>
          </a:p>
        </p:txBody>
      </p:sp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6471352" y="2953435"/>
            <a:ext cx="1135247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3600" b="1" i="1">
                <a:solidFill>
                  <a:schemeClr val="tx2"/>
                </a:solidFill>
                <a:latin typeface="+mn-ea"/>
              </a:rPr>
              <a:t>i</a:t>
            </a:r>
            <a:r>
              <a:rPr kumimoji="1" lang="en-US" altLang="zh-CN" sz="3600" b="1">
                <a:solidFill>
                  <a:schemeClr val="tx2"/>
                </a:solidFill>
                <a:latin typeface="+mn-ea"/>
              </a:rPr>
              <a:t> &lt; 0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6784975" y="2384425"/>
            <a:ext cx="1409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zh-CN" altLang="en-US" sz="2400" b="1">
                <a:solidFill>
                  <a:schemeClr val="tx2"/>
                </a:solidFill>
                <a:latin typeface="+mn-ea"/>
              </a:rPr>
              <a:t>实际方向</a:t>
            </a:r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503238" y="476250"/>
            <a:ext cx="48815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zh-CN" altLang="en-US" sz="2400" b="1" dirty="0">
                <a:solidFill>
                  <a:schemeClr val="tx2"/>
                </a:solidFill>
                <a:latin typeface="+mn-ea"/>
              </a:rPr>
              <a:t>电流的参考方向与实际方向的关系</a:t>
            </a:r>
            <a:r>
              <a:rPr kumimoji="1" lang="en-US" altLang="zh-CN" sz="2400" b="1" dirty="0">
                <a:solidFill>
                  <a:schemeClr val="tx2"/>
                </a:solidFill>
                <a:latin typeface="+mn-ea"/>
              </a:rPr>
              <a:t>:</a:t>
            </a:r>
          </a:p>
        </p:txBody>
      </p:sp>
      <p:grpSp>
        <p:nvGrpSpPr>
          <p:cNvPr id="13" name="Group 13"/>
          <p:cNvGrpSpPr>
            <a:grpSpLocks/>
          </p:cNvGrpSpPr>
          <p:nvPr/>
        </p:nvGrpSpPr>
        <p:grpSpPr bwMode="auto">
          <a:xfrm>
            <a:off x="5429250" y="1384300"/>
            <a:ext cx="2857500" cy="1458913"/>
            <a:chOff x="3420" y="872"/>
            <a:chExt cx="1800" cy="919"/>
          </a:xfrm>
        </p:grpSpPr>
        <p:sp>
          <p:nvSpPr>
            <p:cNvPr id="14" name="AutoShape 14"/>
            <p:cNvSpPr>
              <a:spLocks noChangeArrowheads="1"/>
            </p:cNvSpPr>
            <p:nvPr/>
          </p:nvSpPr>
          <p:spPr bwMode="auto">
            <a:xfrm>
              <a:off x="3691" y="872"/>
              <a:ext cx="461" cy="301"/>
            </a:xfrm>
            <a:prstGeom prst="rightArrow">
              <a:avLst>
                <a:gd name="adj1" fmla="val 50000"/>
                <a:gd name="adj2" fmla="val 38289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15" name="AutoShape 15"/>
            <p:cNvSpPr>
              <a:spLocks noChangeArrowheads="1"/>
            </p:cNvSpPr>
            <p:nvPr/>
          </p:nvSpPr>
          <p:spPr bwMode="auto">
            <a:xfrm>
              <a:off x="3715" y="1491"/>
              <a:ext cx="407" cy="300"/>
            </a:xfrm>
            <a:prstGeom prst="leftArrow">
              <a:avLst>
                <a:gd name="adj1" fmla="val 50000"/>
                <a:gd name="adj2" fmla="val 33917"/>
              </a:avLst>
            </a:prstGeom>
            <a:solidFill>
              <a:schemeClr val="hlink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16" name="Oval 16"/>
            <p:cNvSpPr>
              <a:spLocks noChangeArrowheads="1"/>
            </p:cNvSpPr>
            <p:nvPr/>
          </p:nvSpPr>
          <p:spPr bwMode="auto">
            <a:xfrm>
              <a:off x="5124" y="1332"/>
              <a:ext cx="96" cy="95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17" name="Oval 17"/>
            <p:cNvSpPr>
              <a:spLocks noChangeArrowheads="1"/>
            </p:cNvSpPr>
            <p:nvPr/>
          </p:nvSpPr>
          <p:spPr bwMode="auto">
            <a:xfrm>
              <a:off x="3420" y="1344"/>
              <a:ext cx="96" cy="95"/>
            </a:xfrm>
            <a:prstGeom prst="ellips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18" name="Line 18"/>
            <p:cNvSpPr>
              <a:spLocks noChangeShapeType="1"/>
            </p:cNvSpPr>
            <p:nvPr/>
          </p:nvSpPr>
          <p:spPr bwMode="auto">
            <a:xfrm>
              <a:off x="3522" y="1380"/>
              <a:ext cx="1602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19" name="Rectangle 19"/>
            <p:cNvSpPr>
              <a:spLocks noChangeArrowheads="1"/>
            </p:cNvSpPr>
            <p:nvPr/>
          </p:nvSpPr>
          <p:spPr bwMode="auto">
            <a:xfrm>
              <a:off x="4141" y="1254"/>
              <a:ext cx="433" cy="236"/>
            </a:xfrm>
            <a:prstGeom prst="rect">
              <a:avLst/>
            </a:prstGeom>
            <a:solidFill>
              <a:srgbClr val="00FF00"/>
            </a:solidFill>
            <a:ln w="3175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</p:grpSp>
      <p:grpSp>
        <p:nvGrpSpPr>
          <p:cNvPr id="20" name="Group 20"/>
          <p:cNvGrpSpPr>
            <a:grpSpLocks/>
          </p:cNvGrpSpPr>
          <p:nvPr/>
        </p:nvGrpSpPr>
        <p:grpSpPr bwMode="auto">
          <a:xfrm>
            <a:off x="876300" y="1455738"/>
            <a:ext cx="3352800" cy="1481137"/>
            <a:chOff x="552" y="917"/>
            <a:chExt cx="2112" cy="933"/>
          </a:xfrm>
        </p:grpSpPr>
        <p:sp>
          <p:nvSpPr>
            <p:cNvPr id="21" name="AutoShape 21"/>
            <p:cNvSpPr>
              <a:spLocks noChangeArrowheads="1"/>
            </p:cNvSpPr>
            <p:nvPr/>
          </p:nvSpPr>
          <p:spPr bwMode="auto">
            <a:xfrm>
              <a:off x="961" y="917"/>
              <a:ext cx="461" cy="301"/>
            </a:xfrm>
            <a:prstGeom prst="rightArrow">
              <a:avLst>
                <a:gd name="adj1" fmla="val 50000"/>
                <a:gd name="adj2" fmla="val 38289"/>
              </a:avLst>
            </a:prstGeom>
            <a:solidFill>
              <a:schemeClr val="accent1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22" name="AutoShape 22"/>
            <p:cNvSpPr>
              <a:spLocks noChangeArrowheads="1"/>
            </p:cNvSpPr>
            <p:nvPr/>
          </p:nvSpPr>
          <p:spPr bwMode="auto">
            <a:xfrm flipH="1">
              <a:off x="985" y="1536"/>
              <a:ext cx="407" cy="300"/>
            </a:xfrm>
            <a:prstGeom prst="leftArrow">
              <a:avLst>
                <a:gd name="adj1" fmla="val 50000"/>
                <a:gd name="adj2" fmla="val 33917"/>
              </a:avLst>
            </a:prstGeom>
            <a:solidFill>
              <a:schemeClr val="hlink"/>
            </a:solidFill>
            <a:ln w="1270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1618" y="1562"/>
              <a:ext cx="8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zh-CN" altLang="en-US" sz="2400" b="1">
                  <a:solidFill>
                    <a:schemeClr val="tx2"/>
                  </a:solidFill>
                  <a:latin typeface="+mn-ea"/>
                </a:rPr>
                <a:t>实际方向</a:t>
              </a:r>
            </a:p>
          </p:txBody>
        </p:sp>
        <p:grpSp>
          <p:nvGrpSpPr>
            <p:cNvPr id="24" name="Group 24"/>
            <p:cNvGrpSpPr>
              <a:grpSpLocks/>
            </p:cNvGrpSpPr>
            <p:nvPr/>
          </p:nvGrpSpPr>
          <p:grpSpPr bwMode="auto">
            <a:xfrm>
              <a:off x="552" y="1287"/>
              <a:ext cx="2112" cy="236"/>
              <a:chOff x="552" y="1287"/>
              <a:chExt cx="2112" cy="236"/>
            </a:xfrm>
          </p:grpSpPr>
          <p:sp>
            <p:nvSpPr>
              <p:cNvPr id="25" name="Line 25"/>
              <p:cNvSpPr>
                <a:spLocks noChangeShapeType="1"/>
              </p:cNvSpPr>
              <p:nvPr/>
            </p:nvSpPr>
            <p:spPr bwMode="auto">
              <a:xfrm flipH="1">
                <a:off x="660" y="1406"/>
                <a:ext cx="1897" cy="0"/>
              </a:xfrm>
              <a:prstGeom prst="line">
                <a:avLst/>
              </a:prstGeom>
              <a:noFill/>
              <a:ln w="19050" cap="sq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26" name="Oval 26"/>
              <p:cNvSpPr>
                <a:spLocks noChangeArrowheads="1"/>
              </p:cNvSpPr>
              <p:nvPr/>
            </p:nvSpPr>
            <p:spPr bwMode="auto">
              <a:xfrm>
                <a:off x="552" y="1344"/>
                <a:ext cx="96" cy="95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27" name="Oval 27"/>
              <p:cNvSpPr>
                <a:spLocks noChangeArrowheads="1"/>
              </p:cNvSpPr>
              <p:nvPr/>
            </p:nvSpPr>
            <p:spPr bwMode="auto">
              <a:xfrm>
                <a:off x="2568" y="1356"/>
                <a:ext cx="96" cy="95"/>
              </a:xfrm>
              <a:prstGeom prst="ellips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00FF00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28" name="Rectangle 28"/>
              <p:cNvSpPr>
                <a:spLocks noChangeArrowheads="1"/>
              </p:cNvSpPr>
              <p:nvPr/>
            </p:nvSpPr>
            <p:spPr bwMode="auto">
              <a:xfrm>
                <a:off x="1411" y="1287"/>
                <a:ext cx="433" cy="236"/>
              </a:xfrm>
              <a:prstGeom prst="rect">
                <a:avLst/>
              </a:prstGeom>
              <a:solidFill>
                <a:srgbClr val="00FF00"/>
              </a:solidFill>
              <a:ln w="31750" cap="sq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62459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3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75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75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7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75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75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2" presetClass="entr" presetSubtype="4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10" grpId="0" autoUpdateAnimBg="0"/>
      <p:bldP spid="11" grpId="0" autoUpdateAnimBg="0"/>
      <p:bldP spid="12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23850" y="296863"/>
            <a:ext cx="4986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0" hangingPunct="0"/>
            <a:r>
              <a:rPr kumimoji="1" lang="zh-CN" altLang="en-US" sz="2400" b="1">
                <a:solidFill>
                  <a:srgbClr val="FF0000"/>
                </a:solidFill>
                <a:latin typeface="+mn-ea"/>
                <a:sym typeface="Wingdings 2" panose="05020102010507070707" pitchFamily="18" charset="2"/>
              </a:rPr>
              <a:t>电压参考方向的三种表示方式：</a:t>
            </a:r>
            <a:endParaRPr kumimoji="1" lang="zh-CN" altLang="en-US" sz="3600" b="1">
              <a:solidFill>
                <a:srgbClr val="FF0000"/>
              </a:solidFill>
              <a:latin typeface="+mn-ea"/>
              <a:sym typeface="Wingdings 2" panose="05020102010507070707" pitchFamily="18" charset="2"/>
            </a:endParaRPr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852488" y="4551789"/>
            <a:ext cx="5873724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en-US" altLang="zh-CN" sz="2400" b="1">
                <a:solidFill>
                  <a:srgbClr val="0000F0"/>
                </a:solidFill>
                <a:latin typeface="+mn-ea"/>
                <a:sym typeface="Monotype Sorts" pitchFamily="2" charset="2"/>
              </a:rPr>
              <a:t>(3)  </a:t>
            </a:r>
            <a:r>
              <a:rPr kumimoji="1" lang="zh-CN" altLang="en-US" sz="2400" b="1">
                <a:solidFill>
                  <a:srgbClr val="0000F0"/>
                </a:solidFill>
                <a:latin typeface="+mn-ea"/>
                <a:sym typeface="Monotype Sorts" pitchFamily="2" charset="2"/>
              </a:rPr>
              <a:t>用箭头表示：</a:t>
            </a:r>
            <a:endParaRPr kumimoji="1" lang="zh-CN" altLang="en-US" sz="2400" b="1">
              <a:solidFill>
                <a:schemeClr val="tx2"/>
              </a:solidFill>
              <a:latin typeface="+mn-ea"/>
              <a:sym typeface="Monotype Sorts" pitchFamily="2" charset="2"/>
            </a:endParaRPr>
          </a:p>
          <a:p>
            <a:pPr eaLnBrk="0" hangingPunct="0"/>
            <a:r>
              <a:rPr kumimoji="1" lang="zh-CN" altLang="en-US" sz="2400" b="1">
                <a:solidFill>
                  <a:schemeClr val="tx2"/>
                </a:solidFill>
                <a:latin typeface="+mn-ea"/>
                <a:sym typeface="Monotype Sorts" pitchFamily="2" charset="2"/>
              </a:rPr>
              <a:t>       箭头指向为电压（降）的参考方向。  </a:t>
            </a:r>
            <a:endParaRPr kumimoji="1" lang="zh-CN" altLang="en-US" sz="3200" b="1">
              <a:solidFill>
                <a:schemeClr val="tx2"/>
              </a:solidFill>
              <a:latin typeface="+mn-ea"/>
              <a:sym typeface="Monotype Sorts" pitchFamily="2" charset="2"/>
            </a:endParaRP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742950" y="767189"/>
            <a:ext cx="8116888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76250" indent="-4762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6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0" hangingPunct="0"/>
            <a:r>
              <a:rPr kumimoji="1" lang="en-US" altLang="zh-CN" sz="2400" b="1">
                <a:solidFill>
                  <a:srgbClr val="0000F0"/>
                </a:solidFill>
                <a:latin typeface="+mn-ea"/>
                <a:ea typeface="+mn-ea"/>
                <a:sym typeface="Monotype Sorts" pitchFamily="2" charset="2"/>
              </a:rPr>
              <a:t>(1)  </a:t>
            </a:r>
            <a:r>
              <a:rPr kumimoji="1" lang="zh-CN" altLang="en-US" sz="2400" b="1">
                <a:solidFill>
                  <a:srgbClr val="0000F0"/>
                </a:solidFill>
                <a:latin typeface="+mn-ea"/>
                <a:ea typeface="+mn-ea"/>
                <a:sym typeface="Monotype Sorts" pitchFamily="2" charset="2"/>
              </a:rPr>
              <a:t>用正负极性表示：</a:t>
            </a:r>
            <a:endParaRPr kumimoji="1" lang="zh-CN" altLang="en-US" sz="2400" b="1">
              <a:solidFill>
                <a:schemeClr val="tx2"/>
              </a:solidFill>
              <a:latin typeface="+mn-ea"/>
              <a:ea typeface="+mn-ea"/>
              <a:sym typeface="Monotype Sorts" pitchFamily="2" charset="2"/>
            </a:endParaRPr>
          </a:p>
          <a:p>
            <a:pPr algn="just" eaLnBrk="0" hangingPunct="0"/>
            <a:r>
              <a:rPr kumimoji="1" lang="zh-CN" altLang="en-US" sz="2400" b="1">
                <a:solidFill>
                  <a:schemeClr val="tx2"/>
                </a:solidFill>
                <a:latin typeface="+mn-ea"/>
                <a:ea typeface="+mn-ea"/>
                <a:sym typeface="Monotype Sorts" pitchFamily="2" charset="2"/>
              </a:rPr>
              <a:t>       由正极指向负极的方向为电（降）的参考方向。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804863" y="2799189"/>
            <a:ext cx="790733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81000" indent="-381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0" hangingPunct="0"/>
            <a:r>
              <a:rPr kumimoji="1" lang="en-US" altLang="zh-CN" sz="2400" b="1">
                <a:solidFill>
                  <a:srgbClr val="0000F0"/>
                </a:solidFill>
                <a:latin typeface="+mn-ea"/>
                <a:ea typeface="+mn-ea"/>
                <a:sym typeface="Monotype Sorts" pitchFamily="2" charset="2"/>
              </a:rPr>
              <a:t>(2)  </a:t>
            </a:r>
            <a:r>
              <a:rPr kumimoji="1" lang="zh-CN" altLang="en-US" sz="2400" b="1">
                <a:solidFill>
                  <a:srgbClr val="0000F0"/>
                </a:solidFill>
                <a:latin typeface="+mn-ea"/>
                <a:ea typeface="+mn-ea"/>
                <a:sym typeface="Monotype Sorts" pitchFamily="2" charset="2"/>
              </a:rPr>
              <a:t>用双下标表示：</a:t>
            </a:r>
            <a:endParaRPr kumimoji="1" lang="zh-CN" altLang="en-US" sz="2400" b="1">
              <a:solidFill>
                <a:schemeClr val="tx2"/>
              </a:solidFill>
              <a:latin typeface="+mn-ea"/>
              <a:ea typeface="+mn-ea"/>
              <a:sym typeface="Monotype Sorts" pitchFamily="2" charset="2"/>
            </a:endParaRPr>
          </a:p>
          <a:p>
            <a:pPr algn="just" eaLnBrk="0" hangingPunct="0"/>
            <a:r>
              <a:rPr kumimoji="1" lang="zh-CN" altLang="en-US" sz="2400" b="1">
                <a:solidFill>
                  <a:schemeClr val="tx2"/>
                </a:solidFill>
                <a:latin typeface="+mn-ea"/>
                <a:ea typeface="+mn-ea"/>
                <a:sym typeface="Monotype Sorts" pitchFamily="2" charset="2"/>
              </a:rPr>
              <a:t>      如 </a:t>
            </a:r>
            <a:r>
              <a:rPr kumimoji="1" lang="en-US" altLang="zh-CN" sz="2400" b="1" i="1">
                <a:solidFill>
                  <a:schemeClr val="tx2"/>
                </a:solidFill>
                <a:latin typeface="+mn-ea"/>
                <a:ea typeface="+mn-ea"/>
                <a:sym typeface="Monotype Sorts" pitchFamily="2" charset="2"/>
              </a:rPr>
              <a:t>U</a:t>
            </a:r>
            <a:r>
              <a:rPr kumimoji="1" lang="en-US" altLang="zh-CN" sz="2400" b="1" baseline="-25000">
                <a:solidFill>
                  <a:schemeClr val="tx2"/>
                </a:solidFill>
                <a:latin typeface="+mn-ea"/>
                <a:ea typeface="+mn-ea"/>
                <a:sym typeface="Monotype Sorts" pitchFamily="2" charset="2"/>
              </a:rPr>
              <a:t>AB</a:t>
            </a:r>
            <a:r>
              <a:rPr kumimoji="1" lang="zh-CN" altLang="en-US" sz="2400" b="1">
                <a:solidFill>
                  <a:schemeClr val="tx2"/>
                </a:solidFill>
                <a:latin typeface="+mn-ea"/>
                <a:ea typeface="+mn-ea"/>
                <a:sym typeface="Monotype Sorts" pitchFamily="2" charset="2"/>
              </a:rPr>
              <a:t>，</a:t>
            </a:r>
            <a:r>
              <a:rPr kumimoji="1" lang="zh-CN" altLang="en-US" sz="2400" b="1">
                <a:solidFill>
                  <a:schemeClr val="tx2"/>
                </a:solidFill>
                <a:latin typeface="+mn-ea"/>
                <a:ea typeface="+mn-ea"/>
              </a:rPr>
              <a:t>由</a:t>
            </a:r>
            <a:r>
              <a:rPr kumimoji="1"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A</a:t>
            </a:r>
            <a:r>
              <a:rPr kumimoji="1" lang="zh-CN" altLang="en-US" sz="2400" b="1">
                <a:solidFill>
                  <a:schemeClr val="tx2"/>
                </a:solidFill>
                <a:latin typeface="+mn-ea"/>
                <a:ea typeface="+mn-ea"/>
              </a:rPr>
              <a:t>指向</a:t>
            </a:r>
            <a:r>
              <a:rPr kumimoji="1" lang="en-US" altLang="zh-CN" sz="2400" b="1">
                <a:solidFill>
                  <a:schemeClr val="tx2"/>
                </a:solidFill>
                <a:latin typeface="+mn-ea"/>
                <a:ea typeface="+mn-ea"/>
              </a:rPr>
              <a:t>B</a:t>
            </a:r>
            <a:r>
              <a:rPr kumimoji="1" lang="zh-CN" altLang="en-US" sz="2400" b="1">
                <a:solidFill>
                  <a:schemeClr val="tx2"/>
                </a:solidFill>
                <a:latin typeface="+mn-ea"/>
                <a:ea typeface="+mn-ea"/>
              </a:rPr>
              <a:t>的方向为电（降）的参考方向。</a:t>
            </a:r>
          </a:p>
        </p:txBody>
      </p:sp>
      <p:grpSp>
        <p:nvGrpSpPr>
          <p:cNvPr id="8" name="Group 8"/>
          <p:cNvGrpSpPr>
            <a:grpSpLocks/>
          </p:cNvGrpSpPr>
          <p:nvPr/>
        </p:nvGrpSpPr>
        <p:grpSpPr bwMode="auto">
          <a:xfrm>
            <a:off x="3981450" y="5319713"/>
            <a:ext cx="1981200" cy="625475"/>
            <a:chOff x="2208" y="1094"/>
            <a:chExt cx="1248" cy="394"/>
          </a:xfrm>
        </p:grpSpPr>
        <p:sp>
          <p:nvSpPr>
            <p:cNvPr id="9" name="Line 9"/>
            <p:cNvSpPr>
              <a:spLocks noChangeShapeType="1"/>
            </p:cNvSpPr>
            <p:nvPr/>
          </p:nvSpPr>
          <p:spPr bwMode="auto">
            <a:xfrm>
              <a:off x="2208" y="1488"/>
              <a:ext cx="1248" cy="0"/>
            </a:xfrm>
            <a:prstGeom prst="line">
              <a:avLst/>
            </a:prstGeom>
            <a:noFill/>
            <a:ln w="31750" cap="sq">
              <a:solidFill>
                <a:srgbClr val="FF0000"/>
              </a:solidFill>
              <a:round/>
              <a:headEnd/>
              <a:tailEnd type="stealth" w="lg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10" name="Text Box 10"/>
            <p:cNvSpPr txBox="1">
              <a:spLocks noChangeArrowheads="1"/>
            </p:cNvSpPr>
            <p:nvPr/>
          </p:nvSpPr>
          <p:spPr bwMode="auto">
            <a:xfrm>
              <a:off x="2733" y="1094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3200" b="1" i="1">
                  <a:solidFill>
                    <a:schemeClr val="tx2"/>
                  </a:solidFill>
                  <a:latin typeface="+mn-ea"/>
                </a:rPr>
                <a:t>U</a:t>
              </a:r>
              <a:endParaRPr kumimoji="1" lang="en-US" altLang="zh-CN" sz="3200" b="1">
                <a:solidFill>
                  <a:schemeClr val="tx2"/>
                </a:solidFill>
                <a:latin typeface="+mn-ea"/>
              </a:endParaRPr>
            </a:p>
          </p:txBody>
        </p:sp>
      </p:grpSp>
      <p:grpSp>
        <p:nvGrpSpPr>
          <p:cNvPr id="11" name="Group 11"/>
          <p:cNvGrpSpPr>
            <a:grpSpLocks/>
          </p:cNvGrpSpPr>
          <p:nvPr/>
        </p:nvGrpSpPr>
        <p:grpSpPr bwMode="auto">
          <a:xfrm>
            <a:off x="2871788" y="1765302"/>
            <a:ext cx="3563938" cy="769938"/>
            <a:chOff x="1749" y="2351"/>
            <a:chExt cx="2245" cy="485"/>
          </a:xfrm>
        </p:grpSpPr>
        <p:sp>
          <p:nvSpPr>
            <p:cNvPr id="12" name="Text Box 12"/>
            <p:cNvSpPr txBox="1">
              <a:spLocks noChangeArrowheads="1"/>
            </p:cNvSpPr>
            <p:nvPr/>
          </p:nvSpPr>
          <p:spPr bwMode="auto">
            <a:xfrm>
              <a:off x="2794" y="2353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3200" b="1" i="1">
                  <a:solidFill>
                    <a:schemeClr val="tx2"/>
                  </a:solidFill>
                  <a:latin typeface="+mn-ea"/>
                </a:rPr>
                <a:t>U</a:t>
              </a:r>
              <a:endParaRPr kumimoji="1" lang="en-US" altLang="zh-CN" sz="3200" b="1">
                <a:solidFill>
                  <a:schemeClr val="tx2"/>
                </a:solidFill>
                <a:latin typeface="+mn-ea"/>
              </a:endParaRPr>
            </a:p>
          </p:txBody>
        </p:sp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1749" y="2351"/>
              <a:ext cx="363" cy="4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4400" b="1">
                  <a:solidFill>
                    <a:srgbClr val="FF0000"/>
                  </a:solidFill>
                  <a:latin typeface="+mn-ea"/>
                  <a:sym typeface="CommonBullets" pitchFamily="34" charset="2"/>
                </a:rPr>
                <a:t>+</a:t>
              </a:r>
              <a:endParaRPr kumimoji="1" lang="en-US" altLang="zh-CN" sz="4400" b="1">
                <a:solidFill>
                  <a:schemeClr val="hlink"/>
                </a:solidFill>
                <a:latin typeface="+mn-ea"/>
                <a:sym typeface="CommonBullets" pitchFamily="34" charset="2"/>
              </a:endParaRPr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3802" y="2593"/>
              <a:ext cx="192" cy="0"/>
            </a:xfrm>
            <a:prstGeom prst="line">
              <a:avLst/>
            </a:prstGeom>
            <a:noFill/>
            <a:ln w="31750" cap="sq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</p:grpSp>
      <p:grpSp>
        <p:nvGrpSpPr>
          <p:cNvPr id="15" name="Group 15"/>
          <p:cNvGrpSpPr>
            <a:grpSpLocks/>
          </p:cNvGrpSpPr>
          <p:nvPr/>
        </p:nvGrpSpPr>
        <p:grpSpPr bwMode="auto">
          <a:xfrm>
            <a:off x="2633663" y="3594100"/>
            <a:ext cx="4352925" cy="628650"/>
            <a:chOff x="1519" y="3455"/>
            <a:chExt cx="2742" cy="396"/>
          </a:xfrm>
        </p:grpSpPr>
        <p:sp>
          <p:nvSpPr>
            <p:cNvPr id="16" name="Text Box 16"/>
            <p:cNvSpPr txBox="1">
              <a:spLocks noChangeArrowheads="1"/>
            </p:cNvSpPr>
            <p:nvPr/>
          </p:nvSpPr>
          <p:spPr bwMode="auto">
            <a:xfrm>
              <a:off x="1519" y="3486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3200" b="1">
                  <a:solidFill>
                    <a:schemeClr val="tx2"/>
                  </a:solidFill>
                  <a:latin typeface="+mn-ea"/>
                </a:rPr>
                <a:t>A</a:t>
              </a:r>
            </a:p>
          </p:txBody>
        </p:sp>
        <p:sp>
          <p:nvSpPr>
            <p:cNvPr id="17" name="Text Box 17"/>
            <p:cNvSpPr txBox="1">
              <a:spLocks noChangeArrowheads="1"/>
            </p:cNvSpPr>
            <p:nvPr/>
          </p:nvSpPr>
          <p:spPr bwMode="auto">
            <a:xfrm>
              <a:off x="3988" y="3455"/>
              <a:ext cx="273" cy="3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 cap="sq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3200" b="1">
                  <a:solidFill>
                    <a:schemeClr val="tx2"/>
                  </a:solidFill>
                  <a:latin typeface="+mn-ea"/>
                </a:rPr>
                <a:t>B</a:t>
              </a:r>
            </a:p>
          </p:txBody>
        </p:sp>
      </p:grpSp>
      <p:sp>
        <p:nvSpPr>
          <p:cNvPr id="18" name="Text Box 18"/>
          <p:cNvSpPr txBox="1">
            <a:spLocks noChangeArrowheads="1"/>
          </p:cNvSpPr>
          <p:nvPr/>
        </p:nvSpPr>
        <p:spPr bwMode="auto">
          <a:xfrm>
            <a:off x="4456113" y="3519488"/>
            <a:ext cx="847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en-US" altLang="zh-CN" sz="3200" b="1" i="1">
                <a:solidFill>
                  <a:schemeClr val="tx2"/>
                </a:solidFill>
                <a:latin typeface="+mn-ea"/>
              </a:rPr>
              <a:t>U</a:t>
            </a:r>
            <a:r>
              <a:rPr kumimoji="1" lang="en-US" altLang="zh-CN" sz="3200" b="1" baseline="-25000">
                <a:solidFill>
                  <a:schemeClr val="tx2"/>
                </a:solidFill>
                <a:latin typeface="+mn-ea"/>
              </a:rPr>
              <a:t>AB</a:t>
            </a:r>
            <a:endParaRPr kumimoji="1" lang="en-US" altLang="zh-CN" sz="3200" b="1">
              <a:solidFill>
                <a:schemeClr val="tx2"/>
              </a:solidFill>
              <a:latin typeface="+mn-ea"/>
            </a:endParaRPr>
          </a:p>
        </p:txBody>
      </p:sp>
      <p:grpSp>
        <p:nvGrpSpPr>
          <p:cNvPr id="19" name="Group 19"/>
          <p:cNvGrpSpPr>
            <a:grpSpLocks/>
          </p:cNvGrpSpPr>
          <p:nvPr/>
        </p:nvGrpSpPr>
        <p:grpSpPr bwMode="auto">
          <a:xfrm>
            <a:off x="2768600" y="2338388"/>
            <a:ext cx="4095750" cy="304800"/>
            <a:chOff x="1636" y="1464"/>
            <a:chExt cx="2580" cy="192"/>
          </a:xfrm>
        </p:grpSpPr>
        <p:sp>
          <p:nvSpPr>
            <p:cNvPr id="20" name="Rectangle 20"/>
            <p:cNvSpPr>
              <a:spLocks noChangeArrowheads="1"/>
            </p:cNvSpPr>
            <p:nvPr/>
          </p:nvSpPr>
          <p:spPr bwMode="auto">
            <a:xfrm>
              <a:off x="2719" y="1464"/>
              <a:ext cx="433" cy="192"/>
            </a:xfrm>
            <a:prstGeom prst="rect">
              <a:avLst/>
            </a:prstGeom>
            <a:solidFill>
              <a:srgbClr val="00FF00"/>
            </a:solidFill>
            <a:ln w="3175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21" name="Line 21"/>
            <p:cNvSpPr>
              <a:spLocks noChangeShapeType="1"/>
            </p:cNvSpPr>
            <p:nvPr/>
          </p:nvSpPr>
          <p:spPr bwMode="auto">
            <a:xfrm flipH="1">
              <a:off x="1692" y="1561"/>
              <a:ext cx="1009" cy="1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3155" y="1566"/>
              <a:ext cx="1009" cy="1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23" name="Oval 23"/>
            <p:cNvSpPr>
              <a:spLocks noChangeArrowheads="1"/>
            </p:cNvSpPr>
            <p:nvPr/>
          </p:nvSpPr>
          <p:spPr bwMode="auto">
            <a:xfrm>
              <a:off x="1636" y="1532"/>
              <a:ext cx="56" cy="56"/>
            </a:xfrm>
            <a:prstGeom prst="ellipse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24" name="Oval 24"/>
            <p:cNvSpPr>
              <a:spLocks noChangeArrowheads="1"/>
            </p:cNvSpPr>
            <p:nvPr/>
          </p:nvSpPr>
          <p:spPr bwMode="auto">
            <a:xfrm>
              <a:off x="4160" y="1540"/>
              <a:ext cx="56" cy="56"/>
            </a:xfrm>
            <a:prstGeom prst="ellipse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</p:grpSp>
      <p:grpSp>
        <p:nvGrpSpPr>
          <p:cNvPr id="25" name="Group 25"/>
          <p:cNvGrpSpPr>
            <a:grpSpLocks/>
          </p:cNvGrpSpPr>
          <p:nvPr/>
        </p:nvGrpSpPr>
        <p:grpSpPr bwMode="auto">
          <a:xfrm>
            <a:off x="2997200" y="6059488"/>
            <a:ext cx="4095750" cy="304800"/>
            <a:chOff x="1636" y="1464"/>
            <a:chExt cx="2580" cy="192"/>
          </a:xfrm>
        </p:grpSpPr>
        <p:sp>
          <p:nvSpPr>
            <p:cNvPr id="26" name="Rectangle 26"/>
            <p:cNvSpPr>
              <a:spLocks noChangeArrowheads="1"/>
            </p:cNvSpPr>
            <p:nvPr/>
          </p:nvSpPr>
          <p:spPr bwMode="auto">
            <a:xfrm>
              <a:off x="2719" y="1464"/>
              <a:ext cx="433" cy="192"/>
            </a:xfrm>
            <a:prstGeom prst="rect">
              <a:avLst/>
            </a:prstGeom>
            <a:solidFill>
              <a:srgbClr val="00FF00"/>
            </a:solidFill>
            <a:ln w="3175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H="1">
              <a:off x="1692" y="1561"/>
              <a:ext cx="1009" cy="1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28" name="Line 28"/>
            <p:cNvSpPr>
              <a:spLocks noChangeShapeType="1"/>
            </p:cNvSpPr>
            <p:nvPr/>
          </p:nvSpPr>
          <p:spPr bwMode="auto">
            <a:xfrm>
              <a:off x="3155" y="1566"/>
              <a:ext cx="1009" cy="1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29" name="Oval 29"/>
            <p:cNvSpPr>
              <a:spLocks noChangeArrowheads="1"/>
            </p:cNvSpPr>
            <p:nvPr/>
          </p:nvSpPr>
          <p:spPr bwMode="auto">
            <a:xfrm>
              <a:off x="1636" y="1532"/>
              <a:ext cx="56" cy="56"/>
            </a:xfrm>
            <a:prstGeom prst="ellipse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30" name="Oval 30"/>
            <p:cNvSpPr>
              <a:spLocks noChangeArrowheads="1"/>
            </p:cNvSpPr>
            <p:nvPr/>
          </p:nvSpPr>
          <p:spPr bwMode="auto">
            <a:xfrm>
              <a:off x="4160" y="1540"/>
              <a:ext cx="56" cy="56"/>
            </a:xfrm>
            <a:prstGeom prst="ellipse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</p:grpSp>
      <p:grpSp>
        <p:nvGrpSpPr>
          <p:cNvPr id="31" name="Group 31"/>
          <p:cNvGrpSpPr>
            <a:grpSpLocks/>
          </p:cNvGrpSpPr>
          <p:nvPr/>
        </p:nvGrpSpPr>
        <p:grpSpPr bwMode="auto">
          <a:xfrm>
            <a:off x="2857500" y="4129088"/>
            <a:ext cx="4095750" cy="304800"/>
            <a:chOff x="1636" y="1464"/>
            <a:chExt cx="2580" cy="192"/>
          </a:xfrm>
        </p:grpSpPr>
        <p:sp>
          <p:nvSpPr>
            <p:cNvPr id="32" name="Rectangle 32"/>
            <p:cNvSpPr>
              <a:spLocks noChangeArrowheads="1"/>
            </p:cNvSpPr>
            <p:nvPr/>
          </p:nvSpPr>
          <p:spPr bwMode="auto">
            <a:xfrm>
              <a:off x="2719" y="1464"/>
              <a:ext cx="433" cy="192"/>
            </a:xfrm>
            <a:prstGeom prst="rect">
              <a:avLst/>
            </a:prstGeom>
            <a:solidFill>
              <a:srgbClr val="00FF00"/>
            </a:solidFill>
            <a:ln w="31750" cap="sq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33" name="Line 33"/>
            <p:cNvSpPr>
              <a:spLocks noChangeShapeType="1"/>
            </p:cNvSpPr>
            <p:nvPr/>
          </p:nvSpPr>
          <p:spPr bwMode="auto">
            <a:xfrm flipH="1">
              <a:off x="1692" y="1561"/>
              <a:ext cx="1009" cy="1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34" name="Line 34"/>
            <p:cNvSpPr>
              <a:spLocks noChangeShapeType="1"/>
            </p:cNvSpPr>
            <p:nvPr/>
          </p:nvSpPr>
          <p:spPr bwMode="auto">
            <a:xfrm>
              <a:off x="3155" y="1566"/>
              <a:ext cx="1009" cy="1"/>
            </a:xfrm>
            <a:prstGeom prst="line">
              <a:avLst/>
            </a:prstGeom>
            <a:noFill/>
            <a:ln w="19050" cap="sq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35" name="Oval 35"/>
            <p:cNvSpPr>
              <a:spLocks noChangeArrowheads="1"/>
            </p:cNvSpPr>
            <p:nvPr/>
          </p:nvSpPr>
          <p:spPr bwMode="auto">
            <a:xfrm>
              <a:off x="1636" y="1532"/>
              <a:ext cx="56" cy="56"/>
            </a:xfrm>
            <a:prstGeom prst="ellipse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36" name="Oval 36"/>
            <p:cNvSpPr>
              <a:spLocks noChangeArrowheads="1"/>
            </p:cNvSpPr>
            <p:nvPr/>
          </p:nvSpPr>
          <p:spPr bwMode="auto">
            <a:xfrm>
              <a:off x="4160" y="1540"/>
              <a:ext cx="56" cy="56"/>
            </a:xfrm>
            <a:prstGeom prst="ellipse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5999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 advAuto="0"/>
      <p:bldP spid="5" grpId="0" autoUpdateAnimBg="0"/>
      <p:bldP spid="6" grpId="0" autoUpdateAnimBg="0"/>
      <p:bldP spid="7" grpId="0" autoUpdateAnimBg="0"/>
      <p:bldP spid="18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685800" y="28575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/>
              <a:t/>
            </a:r>
            <a:br>
              <a:rPr lang="en-US" altLang="zh-CN"/>
            </a:br>
            <a:endParaRPr lang="en-US" altLang="zh-CN"/>
          </a:p>
        </p:txBody>
      </p:sp>
      <p:sp>
        <p:nvSpPr>
          <p:cNvPr id="5" name="Text Box 5"/>
          <p:cNvSpPr txBox="1">
            <a:spLocks noChangeArrowheads="1"/>
          </p:cNvSpPr>
          <p:nvPr/>
        </p:nvSpPr>
        <p:spPr bwMode="auto">
          <a:xfrm>
            <a:off x="250825" y="307504"/>
            <a:ext cx="3270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0000FF"/>
                </a:solidFill>
                <a:latin typeface="Times New Roman" panose="02020603050405020304" pitchFamily="18" charset="0"/>
              </a:rPr>
              <a:t>关于参考方向的小结：</a:t>
            </a:r>
          </a:p>
        </p:txBody>
      </p:sp>
      <p:sp>
        <p:nvSpPr>
          <p:cNvPr id="6" name="Text Box 6"/>
          <p:cNvSpPr txBox="1">
            <a:spLocks noChangeArrowheads="1"/>
          </p:cNvSpPr>
          <p:nvPr/>
        </p:nvSpPr>
        <p:spPr bwMode="auto">
          <a:xfrm>
            <a:off x="787400" y="786557"/>
            <a:ext cx="8280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marL="476250" indent="-4762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6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0" hangingPunct="0"/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1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） 分析电路前必须选定电压和电流的参考方向。</a:t>
            </a:r>
          </a:p>
        </p:txBody>
      </p:sp>
      <p:sp>
        <p:nvSpPr>
          <p:cNvPr id="7" name="Text Box 7"/>
          <p:cNvSpPr txBox="1">
            <a:spLocks noChangeArrowheads="1"/>
          </p:cNvSpPr>
          <p:nvPr/>
        </p:nvSpPr>
        <p:spPr bwMode="auto">
          <a:xfrm>
            <a:off x="-190500" y="1196752"/>
            <a:ext cx="8864600" cy="113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marL="476250" indent="-4762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666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0" hangingPunct="0"/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     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）</a:t>
            </a:r>
            <a:r>
              <a:rPr kumimoji="1" lang="zh-CN" altLang="en-US" sz="2400" dirty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参考方向一经选定，必须在图中相应位置标注 （包括方向和</a:t>
            </a:r>
            <a:r>
              <a:rPr kumimoji="1" lang="zh-CN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符号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），在计算过程中不得任意改变。</a:t>
            </a:r>
          </a:p>
        </p:txBody>
      </p:sp>
      <p:sp>
        <p:nvSpPr>
          <p:cNvPr id="8" name="Text Box 34"/>
          <p:cNvSpPr txBox="1">
            <a:spLocks noChangeArrowheads="1"/>
          </p:cNvSpPr>
          <p:nvPr/>
        </p:nvSpPr>
        <p:spPr bwMode="auto">
          <a:xfrm>
            <a:off x="361950" y="2132856"/>
            <a:ext cx="80264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kumimoji="1" lang="en-US" altLang="zh-CN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  <a:r>
              <a:rPr kumimoji="1" lang="zh-CN" altLang="en-US" sz="2400" b="1" dirty="0">
                <a:solidFill>
                  <a:srgbClr val="00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） </a:t>
            </a:r>
            <a:r>
              <a:rPr kumimoji="1" lang="zh-CN" altLang="en-US" sz="2400" b="1" dirty="0">
                <a:solidFill>
                  <a:schemeClr val="tx2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参考方向不同时，其表达式符号也不同，但实际方向不变。</a:t>
            </a:r>
            <a:endParaRPr kumimoji="1" lang="zh-CN" altLang="en-US" sz="2400" b="1" dirty="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23528" y="2924944"/>
            <a:ext cx="789305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indent="4762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047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382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428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0" hangingPunct="0">
              <a:spcBef>
                <a:spcPct val="50000"/>
              </a:spcBef>
            </a:pP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（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4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） 元件或支路的</a:t>
            </a: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u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400" b="1" i="1" dirty="0" err="1">
                <a:solidFill>
                  <a:schemeClr val="tx2"/>
                </a:solidFill>
                <a:latin typeface="Times New Roman" panose="02020603050405020304" pitchFamily="18" charset="0"/>
              </a:rPr>
              <a:t>i</a:t>
            </a:r>
            <a:r>
              <a:rPr kumimoji="1" lang="zh-CN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通常采用相同的参考方向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（</a:t>
            </a:r>
            <a:r>
              <a:rPr kumimoji="1" lang="zh-CN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以减少公式中负号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）</a:t>
            </a:r>
            <a:r>
              <a:rPr kumimoji="1" lang="zh-CN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称之为</a:t>
            </a:r>
            <a:r>
              <a:rPr kumimoji="1"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关联参考方向</a:t>
            </a:r>
            <a:r>
              <a:rPr kumimoji="1" lang="zh-CN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。反之，称为</a:t>
            </a:r>
            <a:r>
              <a:rPr kumimoji="1" lang="zh-CN" altLang="zh-CN" sz="2400" b="1" dirty="0">
                <a:solidFill>
                  <a:srgbClr val="FF0000"/>
                </a:solidFill>
                <a:latin typeface="Times New Roman" panose="02020603050405020304" pitchFamily="18" charset="0"/>
              </a:rPr>
              <a:t>非关联参考方向</a:t>
            </a:r>
            <a:r>
              <a:rPr kumimoji="1" lang="zh-CN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。</a:t>
            </a:r>
            <a:endParaRPr kumimoji="1" lang="zh-CN" altLang="en-US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0" name="Group 6"/>
          <p:cNvGrpSpPr>
            <a:grpSpLocks/>
          </p:cNvGrpSpPr>
          <p:nvPr/>
        </p:nvGrpSpPr>
        <p:grpSpPr bwMode="auto">
          <a:xfrm>
            <a:off x="715516" y="4199886"/>
            <a:ext cx="3429000" cy="1647825"/>
            <a:chOff x="772" y="1635"/>
            <a:chExt cx="2160" cy="1038"/>
          </a:xfrm>
        </p:grpSpPr>
        <p:sp>
          <p:nvSpPr>
            <p:cNvPr id="11" name="Rectangle 7"/>
            <p:cNvSpPr>
              <a:spLocks noChangeArrowheads="1"/>
            </p:cNvSpPr>
            <p:nvPr/>
          </p:nvSpPr>
          <p:spPr bwMode="auto">
            <a:xfrm>
              <a:off x="1582" y="2058"/>
              <a:ext cx="576" cy="240"/>
            </a:xfrm>
            <a:prstGeom prst="rect">
              <a:avLst/>
            </a:prstGeom>
            <a:solidFill>
              <a:schemeClr val="accent2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2" name="Line 8"/>
            <p:cNvSpPr>
              <a:spLocks noChangeShapeType="1"/>
            </p:cNvSpPr>
            <p:nvPr/>
          </p:nvSpPr>
          <p:spPr bwMode="auto">
            <a:xfrm>
              <a:off x="964" y="2178"/>
              <a:ext cx="61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3" name="Line 9"/>
            <p:cNvSpPr>
              <a:spLocks noChangeShapeType="1"/>
            </p:cNvSpPr>
            <p:nvPr/>
          </p:nvSpPr>
          <p:spPr bwMode="auto">
            <a:xfrm>
              <a:off x="2164" y="2178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4" name="Text Box 10"/>
            <p:cNvSpPr txBox="1">
              <a:spLocks noChangeArrowheads="1"/>
            </p:cNvSpPr>
            <p:nvPr/>
          </p:nvSpPr>
          <p:spPr bwMode="auto">
            <a:xfrm>
              <a:off x="772" y="2298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+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Text Box 11"/>
            <p:cNvSpPr txBox="1">
              <a:spLocks noChangeArrowheads="1"/>
            </p:cNvSpPr>
            <p:nvPr/>
          </p:nvSpPr>
          <p:spPr bwMode="auto">
            <a:xfrm>
              <a:off x="2404" y="2279"/>
              <a:ext cx="5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80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</a:p>
          </p:txBody>
        </p:sp>
        <p:sp>
          <p:nvSpPr>
            <p:cNvPr id="16" name="Text Box 12"/>
            <p:cNvSpPr txBox="1">
              <a:spLocks noChangeArrowheads="1"/>
            </p:cNvSpPr>
            <p:nvPr/>
          </p:nvSpPr>
          <p:spPr bwMode="auto">
            <a:xfrm>
              <a:off x="1588" y="1746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kumimoji="1" lang="zh-CN" altLang="zh-CN" sz="2400" b="1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7" name="Oval 13"/>
            <p:cNvSpPr>
              <a:spLocks noChangeArrowheads="1"/>
            </p:cNvSpPr>
            <p:nvPr/>
          </p:nvSpPr>
          <p:spPr bwMode="auto">
            <a:xfrm>
              <a:off x="896" y="2144"/>
              <a:ext cx="68" cy="6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8" name="Oval 14"/>
            <p:cNvSpPr>
              <a:spLocks noChangeArrowheads="1"/>
            </p:cNvSpPr>
            <p:nvPr/>
          </p:nvSpPr>
          <p:spPr bwMode="auto">
            <a:xfrm>
              <a:off x="2692" y="2144"/>
              <a:ext cx="68" cy="6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9" name="Line 15"/>
            <p:cNvSpPr>
              <a:spLocks noChangeShapeType="1"/>
            </p:cNvSpPr>
            <p:nvPr/>
          </p:nvSpPr>
          <p:spPr bwMode="auto">
            <a:xfrm>
              <a:off x="964" y="1962"/>
              <a:ext cx="48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0" name="Text Box 16"/>
            <p:cNvSpPr txBox="1">
              <a:spLocks noChangeArrowheads="1"/>
            </p:cNvSpPr>
            <p:nvPr/>
          </p:nvSpPr>
          <p:spPr bwMode="auto">
            <a:xfrm>
              <a:off x="964" y="1635"/>
              <a:ext cx="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8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i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1" name="Text Box 17"/>
            <p:cNvSpPr txBox="1">
              <a:spLocks noChangeArrowheads="1"/>
            </p:cNvSpPr>
            <p:nvPr/>
          </p:nvSpPr>
          <p:spPr bwMode="auto">
            <a:xfrm>
              <a:off x="1540" y="2346"/>
              <a:ext cx="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8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u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22" name="Group 18"/>
          <p:cNvGrpSpPr>
            <a:grpSpLocks/>
          </p:cNvGrpSpPr>
          <p:nvPr/>
        </p:nvGrpSpPr>
        <p:grpSpPr bwMode="auto">
          <a:xfrm>
            <a:off x="4716016" y="4125273"/>
            <a:ext cx="3429000" cy="1647825"/>
            <a:chOff x="3292" y="1588"/>
            <a:chExt cx="2160" cy="1038"/>
          </a:xfrm>
        </p:grpSpPr>
        <p:sp>
          <p:nvSpPr>
            <p:cNvPr id="23" name="Rectangle 19"/>
            <p:cNvSpPr>
              <a:spLocks noChangeArrowheads="1"/>
            </p:cNvSpPr>
            <p:nvPr/>
          </p:nvSpPr>
          <p:spPr bwMode="auto">
            <a:xfrm>
              <a:off x="4102" y="2011"/>
              <a:ext cx="576" cy="240"/>
            </a:xfrm>
            <a:prstGeom prst="rect">
              <a:avLst/>
            </a:prstGeom>
            <a:solidFill>
              <a:schemeClr val="accent2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4" name="Line 20"/>
            <p:cNvSpPr>
              <a:spLocks noChangeShapeType="1"/>
            </p:cNvSpPr>
            <p:nvPr/>
          </p:nvSpPr>
          <p:spPr bwMode="auto">
            <a:xfrm>
              <a:off x="3484" y="2131"/>
              <a:ext cx="61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" name="Line 21"/>
            <p:cNvSpPr>
              <a:spLocks noChangeShapeType="1"/>
            </p:cNvSpPr>
            <p:nvPr/>
          </p:nvSpPr>
          <p:spPr bwMode="auto">
            <a:xfrm>
              <a:off x="4684" y="2131"/>
              <a:ext cx="57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" name="Text Box 22"/>
            <p:cNvSpPr txBox="1">
              <a:spLocks noChangeArrowheads="1"/>
            </p:cNvSpPr>
            <p:nvPr/>
          </p:nvSpPr>
          <p:spPr bwMode="auto">
            <a:xfrm>
              <a:off x="3292" y="2251"/>
              <a:ext cx="384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+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7" name="Text Box 23"/>
            <p:cNvSpPr txBox="1">
              <a:spLocks noChangeArrowheads="1"/>
            </p:cNvSpPr>
            <p:nvPr/>
          </p:nvSpPr>
          <p:spPr bwMode="auto">
            <a:xfrm>
              <a:off x="4924" y="2232"/>
              <a:ext cx="528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80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-</a:t>
              </a:r>
            </a:p>
          </p:txBody>
        </p:sp>
        <p:sp>
          <p:nvSpPr>
            <p:cNvPr id="28" name="Text Box 24"/>
            <p:cNvSpPr txBox="1">
              <a:spLocks noChangeArrowheads="1"/>
            </p:cNvSpPr>
            <p:nvPr/>
          </p:nvSpPr>
          <p:spPr bwMode="auto">
            <a:xfrm>
              <a:off x="4108" y="1699"/>
              <a:ext cx="5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endParaRPr kumimoji="1" lang="zh-CN" altLang="zh-CN" sz="2400" b="1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9" name="Oval 25"/>
            <p:cNvSpPr>
              <a:spLocks noChangeArrowheads="1"/>
            </p:cNvSpPr>
            <p:nvPr/>
          </p:nvSpPr>
          <p:spPr bwMode="auto">
            <a:xfrm>
              <a:off x="3416" y="2097"/>
              <a:ext cx="68" cy="6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0" name="Oval 26"/>
            <p:cNvSpPr>
              <a:spLocks noChangeArrowheads="1"/>
            </p:cNvSpPr>
            <p:nvPr/>
          </p:nvSpPr>
          <p:spPr bwMode="auto">
            <a:xfrm>
              <a:off x="5212" y="2097"/>
              <a:ext cx="68" cy="6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1" name="Line 27"/>
            <p:cNvSpPr>
              <a:spLocks noChangeShapeType="1"/>
            </p:cNvSpPr>
            <p:nvPr/>
          </p:nvSpPr>
          <p:spPr bwMode="auto">
            <a:xfrm flipH="1">
              <a:off x="3484" y="1915"/>
              <a:ext cx="48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32" name="Text Box 28"/>
            <p:cNvSpPr txBox="1">
              <a:spLocks noChangeArrowheads="1"/>
            </p:cNvSpPr>
            <p:nvPr/>
          </p:nvSpPr>
          <p:spPr bwMode="auto">
            <a:xfrm>
              <a:off x="3484" y="1588"/>
              <a:ext cx="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8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i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3" name="Text Box 29"/>
            <p:cNvSpPr txBox="1">
              <a:spLocks noChangeArrowheads="1"/>
            </p:cNvSpPr>
            <p:nvPr/>
          </p:nvSpPr>
          <p:spPr bwMode="auto">
            <a:xfrm>
              <a:off x="4060" y="2299"/>
              <a:ext cx="576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8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u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34" name="Text Box 30"/>
          <p:cNvSpPr txBox="1">
            <a:spLocks noChangeArrowheads="1"/>
          </p:cNvSpPr>
          <p:nvPr/>
        </p:nvSpPr>
        <p:spPr bwMode="auto">
          <a:xfrm>
            <a:off x="1109216" y="5717536"/>
            <a:ext cx="2779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kumimoji="1" lang="zh-CN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关联参考方向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5" name="Text Box 31"/>
          <p:cNvSpPr txBox="1">
            <a:spLocks noChangeArrowheads="1"/>
          </p:cNvSpPr>
          <p:nvPr/>
        </p:nvSpPr>
        <p:spPr bwMode="auto">
          <a:xfrm>
            <a:off x="5139879" y="5696898"/>
            <a:ext cx="26955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/>
            <a:r>
              <a:rPr kumimoji="1" lang="zh-CN" altLang="zh-CN" sz="2800" b="1">
                <a:solidFill>
                  <a:srgbClr val="FF0000"/>
                </a:solidFill>
                <a:latin typeface="Times New Roman" panose="02020603050405020304" pitchFamily="18" charset="0"/>
              </a:rPr>
              <a:t>非关联参考方向</a:t>
            </a:r>
            <a:endParaRPr kumimoji="1" lang="zh-CN" altLang="en-US" sz="2800" b="1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1338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75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75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75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75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75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75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utoUpdateAnimBg="0"/>
      <p:bldP spid="6" grpId="0" autoUpdateAnimBg="0"/>
      <p:bldP spid="7" grpId="0" autoUpdateAnimBg="0"/>
      <p:bldP spid="8" grpId="0" autoUpdateAnimBg="0"/>
      <p:bldP spid="9" grpId="0" autoUpdateAnimBg="0"/>
      <p:bldP spid="34" grpId="0" autoUpdateAnimBg="0"/>
      <p:bldP spid="35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 Box 4"/>
          <p:cNvSpPr txBox="1">
            <a:spLocks noChangeArrowheads="1"/>
          </p:cNvSpPr>
          <p:nvPr/>
        </p:nvSpPr>
        <p:spPr bwMode="auto">
          <a:xfrm>
            <a:off x="723900" y="438150"/>
            <a:ext cx="7350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400" b="1">
                <a:latin typeface="Times New Roman" panose="02020603050405020304" pitchFamily="18" charset="0"/>
              </a:rPr>
              <a:t>电压、电流采用参考方向时功率的计算和判断：</a:t>
            </a:r>
          </a:p>
        </p:txBody>
      </p:sp>
      <p:sp>
        <p:nvSpPr>
          <p:cNvPr id="38" name="Text Box 5"/>
          <p:cNvSpPr txBox="1">
            <a:spLocks noChangeArrowheads="1"/>
          </p:cNvSpPr>
          <p:nvPr/>
        </p:nvSpPr>
        <p:spPr bwMode="auto">
          <a:xfrm>
            <a:off x="666750" y="1047750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F0"/>
                </a:solidFill>
                <a:latin typeface="Times New Roman" panose="02020603050405020304" pitchFamily="18" charset="0"/>
              </a:rPr>
              <a:t>1.  </a:t>
            </a:r>
            <a:r>
              <a:rPr kumimoji="1" lang="en-US" altLang="zh-CN" sz="2400" b="1" i="1">
                <a:solidFill>
                  <a:srgbClr val="0000F0"/>
                </a:solidFill>
                <a:latin typeface="Times New Roman" panose="02020603050405020304" pitchFamily="18" charset="0"/>
              </a:rPr>
              <a:t>u</a:t>
            </a:r>
            <a:r>
              <a:rPr kumimoji="1" lang="zh-CN" altLang="en-US" sz="2400" b="1">
                <a:solidFill>
                  <a:srgbClr val="0000F0"/>
                </a:solidFill>
                <a:latin typeface="Times New Roman" panose="02020603050405020304" pitchFamily="18" charset="0"/>
              </a:rPr>
              <a:t>，</a:t>
            </a:r>
            <a:r>
              <a:rPr kumimoji="1" lang="en-US" altLang="zh-CN" sz="2400" b="1" i="1">
                <a:solidFill>
                  <a:srgbClr val="0000F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>
                <a:solidFill>
                  <a:srgbClr val="0000F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rgbClr val="0000F0"/>
                </a:solidFill>
                <a:latin typeface="Times New Roman" panose="02020603050405020304" pitchFamily="18" charset="0"/>
              </a:rPr>
              <a:t>取</a:t>
            </a:r>
            <a:r>
              <a:rPr kumimoji="1" lang="zh-CN" altLang="zh-CN" sz="2400" b="1">
                <a:solidFill>
                  <a:srgbClr val="0000F0"/>
                </a:solidFill>
                <a:latin typeface="Times New Roman" panose="02020603050405020304" pitchFamily="18" charset="0"/>
              </a:rPr>
              <a:t>关联参考方向</a:t>
            </a:r>
            <a:endParaRPr kumimoji="1" lang="zh-CN" altLang="en-US" sz="2400" b="1">
              <a:solidFill>
                <a:srgbClr val="0000F0"/>
              </a:solidFill>
              <a:latin typeface="Times New Roman" panose="02020603050405020304" pitchFamily="18" charset="0"/>
            </a:endParaRPr>
          </a:p>
        </p:txBody>
      </p:sp>
      <p:sp>
        <p:nvSpPr>
          <p:cNvPr id="39" name="Text Box 6"/>
          <p:cNvSpPr txBox="1">
            <a:spLocks noChangeArrowheads="1"/>
          </p:cNvSpPr>
          <p:nvPr/>
        </p:nvSpPr>
        <p:spPr bwMode="auto">
          <a:xfrm>
            <a:off x="2971800" y="2438400"/>
            <a:ext cx="533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&gt;0   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吸收正功率    （实际吸收）</a:t>
            </a:r>
          </a:p>
        </p:txBody>
      </p:sp>
      <p:sp>
        <p:nvSpPr>
          <p:cNvPr id="40" name="Text Box 7"/>
          <p:cNvSpPr txBox="1">
            <a:spLocks noChangeArrowheads="1"/>
          </p:cNvSpPr>
          <p:nvPr/>
        </p:nvSpPr>
        <p:spPr bwMode="auto">
          <a:xfrm>
            <a:off x="2998788" y="2906713"/>
            <a:ext cx="525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rPr>
              <a:t>&lt;0   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吸收负功率    （实际发出）  </a:t>
            </a:r>
          </a:p>
        </p:txBody>
      </p:sp>
      <p:grpSp>
        <p:nvGrpSpPr>
          <p:cNvPr id="41" name="Group 8"/>
          <p:cNvGrpSpPr>
            <a:grpSpLocks/>
          </p:cNvGrpSpPr>
          <p:nvPr/>
        </p:nvGrpSpPr>
        <p:grpSpPr bwMode="auto">
          <a:xfrm>
            <a:off x="1417638" y="1485900"/>
            <a:ext cx="1300162" cy="2181225"/>
            <a:chOff x="893" y="936"/>
            <a:chExt cx="819" cy="1374"/>
          </a:xfrm>
        </p:grpSpPr>
        <p:sp>
          <p:nvSpPr>
            <p:cNvPr id="42" name="Rectangle 9"/>
            <p:cNvSpPr>
              <a:spLocks noChangeArrowheads="1"/>
            </p:cNvSpPr>
            <p:nvPr/>
          </p:nvSpPr>
          <p:spPr bwMode="auto">
            <a:xfrm rot="5400000">
              <a:off x="1110" y="1526"/>
              <a:ext cx="428" cy="166"/>
            </a:xfrm>
            <a:prstGeom prst="rect">
              <a:avLst/>
            </a:prstGeom>
            <a:solidFill>
              <a:schemeClr val="accent2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3" name="Line 10"/>
            <p:cNvSpPr>
              <a:spLocks noChangeShapeType="1"/>
            </p:cNvSpPr>
            <p:nvPr/>
          </p:nvSpPr>
          <p:spPr bwMode="auto">
            <a:xfrm rot="5400000">
              <a:off x="1166" y="1237"/>
              <a:ext cx="3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4" name="Line 11"/>
            <p:cNvSpPr>
              <a:spLocks noChangeShapeType="1"/>
            </p:cNvSpPr>
            <p:nvPr/>
          </p:nvSpPr>
          <p:spPr bwMode="auto">
            <a:xfrm rot="5400000">
              <a:off x="1172" y="1980"/>
              <a:ext cx="3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5" name="Text Box 12"/>
            <p:cNvSpPr txBox="1">
              <a:spLocks noChangeArrowheads="1"/>
            </p:cNvSpPr>
            <p:nvPr/>
          </p:nvSpPr>
          <p:spPr bwMode="auto">
            <a:xfrm rot="5400000">
              <a:off x="982" y="915"/>
              <a:ext cx="28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+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6" name="Text Box 13"/>
            <p:cNvSpPr txBox="1">
              <a:spLocks noChangeArrowheads="1"/>
            </p:cNvSpPr>
            <p:nvPr/>
          </p:nvSpPr>
          <p:spPr bwMode="auto">
            <a:xfrm>
              <a:off x="946" y="1983"/>
              <a:ext cx="34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47" name="Oval 14"/>
            <p:cNvSpPr>
              <a:spLocks noChangeArrowheads="1"/>
            </p:cNvSpPr>
            <p:nvPr/>
          </p:nvSpPr>
          <p:spPr bwMode="auto">
            <a:xfrm rot="5400000">
              <a:off x="1298" y="1030"/>
              <a:ext cx="51" cy="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8" name="Oval 15"/>
            <p:cNvSpPr>
              <a:spLocks noChangeArrowheads="1"/>
            </p:cNvSpPr>
            <p:nvPr/>
          </p:nvSpPr>
          <p:spPr bwMode="auto">
            <a:xfrm rot="5400000">
              <a:off x="1299" y="2133"/>
              <a:ext cx="50" cy="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9" name="Line 16"/>
            <p:cNvSpPr>
              <a:spLocks noChangeShapeType="1"/>
            </p:cNvSpPr>
            <p:nvPr/>
          </p:nvSpPr>
          <p:spPr bwMode="auto">
            <a:xfrm rot="5400000">
              <a:off x="1351" y="1186"/>
              <a:ext cx="21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0" name="Text Box 17"/>
            <p:cNvSpPr txBox="1">
              <a:spLocks noChangeArrowheads="1"/>
            </p:cNvSpPr>
            <p:nvPr/>
          </p:nvSpPr>
          <p:spPr bwMode="auto">
            <a:xfrm>
              <a:off x="1407" y="987"/>
              <a:ext cx="30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8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i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51" name="Text Box 18"/>
            <p:cNvSpPr txBox="1">
              <a:spLocks noChangeArrowheads="1"/>
            </p:cNvSpPr>
            <p:nvPr/>
          </p:nvSpPr>
          <p:spPr bwMode="auto">
            <a:xfrm>
              <a:off x="893" y="1414"/>
              <a:ext cx="4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8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u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52" name="Text Box 19"/>
          <p:cNvSpPr txBox="1">
            <a:spLocks noChangeArrowheads="1"/>
          </p:cNvSpPr>
          <p:nvPr/>
        </p:nvSpPr>
        <p:spPr bwMode="auto">
          <a:xfrm>
            <a:off x="2770188" y="4249738"/>
            <a:ext cx="464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zh-CN" altLang="zh-CN" sz="2400" b="1" dirty="0" smtClean="0">
                <a:solidFill>
                  <a:schemeClr val="tx2"/>
                </a:solidFill>
                <a:latin typeface="Times New Roman" panose="02020603050405020304" pitchFamily="18" charset="0"/>
              </a:rPr>
              <a:t>元件</a:t>
            </a:r>
            <a:r>
              <a:rPr kumimoji="1" lang="zh-CN" alt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</a:rPr>
              <a:t>吸收</a:t>
            </a:r>
            <a:r>
              <a:rPr kumimoji="1" lang="zh-CN" altLang="zh-CN" sz="2400" b="1" dirty="0" smtClean="0">
                <a:solidFill>
                  <a:schemeClr val="tx2"/>
                </a:solidFill>
                <a:latin typeface="Times New Roman" panose="02020603050405020304" pitchFamily="18" charset="0"/>
              </a:rPr>
              <a:t>的</a:t>
            </a:r>
            <a:r>
              <a:rPr kumimoji="1" lang="zh-CN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功率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en-US" altLang="zh-CN" sz="2400" b="1" i="1" dirty="0" smtClean="0">
                <a:solidFill>
                  <a:schemeClr val="tx2"/>
                </a:solidFill>
                <a:latin typeface="Times New Roman" panose="02020603050405020304" pitchFamily="18" charset="0"/>
              </a:rPr>
              <a:t>P</a:t>
            </a:r>
            <a:r>
              <a:rPr kumimoji="1" lang="zh-CN" altLang="en-US" sz="2400" b="1" baseline="-25000" dirty="0" smtClean="0">
                <a:solidFill>
                  <a:srgbClr val="FF0066"/>
                </a:solidFill>
                <a:latin typeface="Times New Roman" panose="02020603050405020304" pitchFamily="18" charset="0"/>
              </a:rPr>
              <a:t>吸</a:t>
            </a:r>
            <a:r>
              <a:rPr kumimoji="1" lang="zh-CN" altLang="en-US" sz="2400" b="1" i="1" dirty="0" smtClean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= </a:t>
            </a:r>
            <a:r>
              <a:rPr kumimoji="1" lang="en-US" altLang="zh-CN" sz="2400" b="1" dirty="0" smtClean="0">
                <a:solidFill>
                  <a:schemeClr val="tx2"/>
                </a:solidFill>
                <a:latin typeface="Times New Roman" panose="02020603050405020304" pitchFamily="18" charset="0"/>
              </a:rPr>
              <a:t>-</a:t>
            </a:r>
            <a:r>
              <a:rPr kumimoji="1" lang="en-US" altLang="zh-CN" sz="2400" b="1" i="1" dirty="0" err="1" smtClean="0">
                <a:solidFill>
                  <a:schemeClr val="tx2"/>
                </a:solidFill>
                <a:latin typeface="Times New Roman" panose="02020603050405020304" pitchFamily="18" charset="0"/>
              </a:rPr>
              <a:t>ui</a:t>
            </a:r>
            <a:r>
              <a:rPr kumimoji="1" lang="en-US" altLang="zh-CN" sz="2400" b="1" dirty="0" smtClean="0">
                <a:solidFill>
                  <a:schemeClr val="tx2"/>
                </a:solidFill>
                <a:latin typeface="Times New Roman" panose="02020603050405020304" pitchFamily="18" charset="0"/>
              </a:rPr>
              <a:t> </a:t>
            </a:r>
            <a:endParaRPr kumimoji="1" lang="en-US" altLang="zh-CN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3" name="Text Box 20"/>
          <p:cNvSpPr txBox="1">
            <a:spLocks noChangeArrowheads="1"/>
          </p:cNvSpPr>
          <p:nvPr/>
        </p:nvSpPr>
        <p:spPr bwMode="auto">
          <a:xfrm>
            <a:off x="2998788" y="4857106"/>
            <a:ext cx="48133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&gt;0   </a:t>
            </a:r>
            <a:r>
              <a:rPr kumimoji="1" lang="zh-CN" alt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</a:rPr>
              <a:t>吸收正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功率    （</a:t>
            </a:r>
            <a:r>
              <a:rPr kumimoji="1" lang="zh-CN" alt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</a:rPr>
              <a:t>实际吸收）</a:t>
            </a:r>
            <a:endParaRPr kumimoji="1" lang="zh-CN" altLang="en-US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sp>
        <p:nvSpPr>
          <p:cNvPr id="54" name="Text Box 21"/>
          <p:cNvSpPr txBox="1">
            <a:spLocks noChangeArrowheads="1"/>
          </p:cNvSpPr>
          <p:nvPr/>
        </p:nvSpPr>
        <p:spPr bwMode="auto">
          <a:xfrm>
            <a:off x="2998788" y="5428606"/>
            <a:ext cx="4800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en-US" altLang="zh-CN" sz="2400" b="1" i="1" dirty="0">
                <a:solidFill>
                  <a:schemeClr val="tx2"/>
                </a:solidFill>
                <a:latin typeface="Times New Roman" panose="02020603050405020304" pitchFamily="18" charset="0"/>
              </a:rPr>
              <a:t>P</a:t>
            </a:r>
            <a:r>
              <a:rPr kumimoji="1" lang="en-US" altLang="zh-CN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&lt;0   </a:t>
            </a:r>
            <a:r>
              <a:rPr kumimoji="1" lang="zh-CN" alt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</a:rPr>
              <a:t>吸收负</a:t>
            </a:r>
            <a:r>
              <a:rPr kumimoji="1" lang="zh-CN" altLang="en-US" sz="2400" b="1" dirty="0">
                <a:solidFill>
                  <a:schemeClr val="tx2"/>
                </a:solidFill>
                <a:latin typeface="Times New Roman" panose="02020603050405020304" pitchFamily="18" charset="0"/>
              </a:rPr>
              <a:t>功率    （</a:t>
            </a:r>
            <a:r>
              <a:rPr kumimoji="1" lang="zh-CN" altLang="en-US" sz="2400" b="1" dirty="0" smtClean="0">
                <a:solidFill>
                  <a:schemeClr val="tx2"/>
                </a:solidFill>
                <a:latin typeface="Times New Roman" panose="02020603050405020304" pitchFamily="18" charset="0"/>
              </a:rPr>
              <a:t>实际发出）</a:t>
            </a:r>
            <a:endParaRPr kumimoji="1" lang="zh-CN" altLang="en-US" sz="2400" b="1" dirty="0">
              <a:solidFill>
                <a:schemeClr val="tx2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55" name="Group 22"/>
          <p:cNvGrpSpPr>
            <a:grpSpLocks/>
          </p:cNvGrpSpPr>
          <p:nvPr/>
        </p:nvGrpSpPr>
        <p:grpSpPr bwMode="auto">
          <a:xfrm>
            <a:off x="1417638" y="4002088"/>
            <a:ext cx="1300162" cy="2181225"/>
            <a:chOff x="893" y="2521"/>
            <a:chExt cx="819" cy="1374"/>
          </a:xfrm>
        </p:grpSpPr>
        <p:sp>
          <p:nvSpPr>
            <p:cNvPr id="56" name="Rectangle 23"/>
            <p:cNvSpPr>
              <a:spLocks noChangeArrowheads="1"/>
            </p:cNvSpPr>
            <p:nvPr/>
          </p:nvSpPr>
          <p:spPr bwMode="auto">
            <a:xfrm rot="5400000">
              <a:off x="1110" y="3111"/>
              <a:ext cx="428" cy="166"/>
            </a:xfrm>
            <a:prstGeom prst="rect">
              <a:avLst/>
            </a:prstGeom>
            <a:solidFill>
              <a:schemeClr val="accent2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7" name="Line 24"/>
            <p:cNvSpPr>
              <a:spLocks noChangeShapeType="1"/>
            </p:cNvSpPr>
            <p:nvPr/>
          </p:nvSpPr>
          <p:spPr bwMode="auto">
            <a:xfrm rot="5400000">
              <a:off x="1166" y="2822"/>
              <a:ext cx="31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8" name="Line 25"/>
            <p:cNvSpPr>
              <a:spLocks noChangeShapeType="1"/>
            </p:cNvSpPr>
            <p:nvPr/>
          </p:nvSpPr>
          <p:spPr bwMode="auto">
            <a:xfrm rot="5400000">
              <a:off x="1172" y="3565"/>
              <a:ext cx="30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59" name="Text Box 26"/>
            <p:cNvSpPr txBox="1">
              <a:spLocks noChangeArrowheads="1"/>
            </p:cNvSpPr>
            <p:nvPr/>
          </p:nvSpPr>
          <p:spPr bwMode="auto">
            <a:xfrm rot="5400000">
              <a:off x="982" y="2500"/>
              <a:ext cx="28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+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0" name="Text Box 27"/>
            <p:cNvSpPr txBox="1">
              <a:spLocks noChangeArrowheads="1"/>
            </p:cNvSpPr>
            <p:nvPr/>
          </p:nvSpPr>
          <p:spPr bwMode="auto">
            <a:xfrm>
              <a:off x="946" y="3568"/>
              <a:ext cx="347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8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–</a:t>
              </a:r>
            </a:p>
          </p:txBody>
        </p:sp>
        <p:sp>
          <p:nvSpPr>
            <p:cNvPr id="61" name="Oval 28"/>
            <p:cNvSpPr>
              <a:spLocks noChangeArrowheads="1"/>
            </p:cNvSpPr>
            <p:nvPr/>
          </p:nvSpPr>
          <p:spPr bwMode="auto">
            <a:xfrm rot="5400000">
              <a:off x="1298" y="2615"/>
              <a:ext cx="51" cy="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2" name="Oval 29"/>
            <p:cNvSpPr>
              <a:spLocks noChangeArrowheads="1"/>
            </p:cNvSpPr>
            <p:nvPr/>
          </p:nvSpPr>
          <p:spPr bwMode="auto">
            <a:xfrm rot="5400000">
              <a:off x="1299" y="3718"/>
              <a:ext cx="50" cy="48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3" name="Line 30"/>
            <p:cNvSpPr>
              <a:spLocks noChangeShapeType="1"/>
            </p:cNvSpPr>
            <p:nvPr/>
          </p:nvSpPr>
          <p:spPr bwMode="auto">
            <a:xfrm rot="16200000" flipV="1">
              <a:off x="1351" y="2771"/>
              <a:ext cx="21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64" name="Text Box 31"/>
            <p:cNvSpPr txBox="1">
              <a:spLocks noChangeArrowheads="1"/>
            </p:cNvSpPr>
            <p:nvPr/>
          </p:nvSpPr>
          <p:spPr bwMode="auto">
            <a:xfrm>
              <a:off x="1407" y="2572"/>
              <a:ext cx="305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8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i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5" name="Text Box 32"/>
            <p:cNvSpPr txBox="1">
              <a:spLocks noChangeArrowheads="1"/>
            </p:cNvSpPr>
            <p:nvPr/>
          </p:nvSpPr>
          <p:spPr bwMode="auto">
            <a:xfrm>
              <a:off x="893" y="2999"/>
              <a:ext cx="40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8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u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66" name="Text Box 33"/>
          <p:cNvSpPr txBox="1">
            <a:spLocks noChangeArrowheads="1"/>
          </p:cNvSpPr>
          <p:nvPr/>
        </p:nvSpPr>
        <p:spPr bwMode="auto">
          <a:xfrm>
            <a:off x="977900" y="3576638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F0"/>
                </a:solidFill>
                <a:latin typeface="Times New Roman" panose="02020603050405020304" pitchFamily="18" charset="0"/>
              </a:rPr>
              <a:t> 2.  </a:t>
            </a:r>
            <a:r>
              <a:rPr kumimoji="1" lang="en-US" altLang="zh-CN" sz="2400" b="1" i="1">
                <a:solidFill>
                  <a:srgbClr val="0000F0"/>
                </a:solidFill>
                <a:latin typeface="Times New Roman" panose="02020603050405020304" pitchFamily="18" charset="0"/>
              </a:rPr>
              <a:t>u</a:t>
            </a:r>
            <a:r>
              <a:rPr kumimoji="1" lang="zh-CN" altLang="en-US" sz="2400" b="1">
                <a:solidFill>
                  <a:srgbClr val="0000F0"/>
                </a:solidFill>
                <a:latin typeface="Times New Roman" panose="02020603050405020304" pitchFamily="18" charset="0"/>
              </a:rPr>
              <a:t>， </a:t>
            </a:r>
            <a:r>
              <a:rPr kumimoji="1" lang="en-US" altLang="zh-CN" sz="2400" b="1" i="1">
                <a:solidFill>
                  <a:srgbClr val="0000F0"/>
                </a:solidFill>
                <a:latin typeface="Times New Roman" panose="02020603050405020304" pitchFamily="18" charset="0"/>
              </a:rPr>
              <a:t>i</a:t>
            </a:r>
            <a:r>
              <a:rPr kumimoji="1" lang="en-US" altLang="zh-CN" sz="2400" b="1">
                <a:solidFill>
                  <a:srgbClr val="0000F0"/>
                </a:solidFill>
                <a:latin typeface="Times New Roman" panose="02020603050405020304" pitchFamily="18" charset="0"/>
              </a:rPr>
              <a:t> </a:t>
            </a:r>
            <a:r>
              <a:rPr kumimoji="1" lang="zh-CN" altLang="en-US" sz="2400" b="1">
                <a:solidFill>
                  <a:srgbClr val="0000F0"/>
                </a:solidFill>
                <a:latin typeface="Times New Roman" panose="02020603050405020304" pitchFamily="18" charset="0"/>
              </a:rPr>
              <a:t>取非</a:t>
            </a:r>
            <a:r>
              <a:rPr kumimoji="1" lang="zh-CN" altLang="zh-CN" sz="2400" b="1">
                <a:solidFill>
                  <a:srgbClr val="0000F0"/>
                </a:solidFill>
                <a:latin typeface="Times New Roman" panose="02020603050405020304" pitchFamily="18" charset="0"/>
              </a:rPr>
              <a:t>关联参考方向</a:t>
            </a:r>
            <a:endParaRPr kumimoji="1" lang="zh-CN" altLang="en-US" sz="2400" b="1">
              <a:solidFill>
                <a:srgbClr val="0000F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67" name="Group 34"/>
          <p:cNvGrpSpPr>
            <a:grpSpLocks/>
          </p:cNvGrpSpPr>
          <p:nvPr/>
        </p:nvGrpSpPr>
        <p:grpSpPr bwMode="auto">
          <a:xfrm>
            <a:off x="3008313" y="1763713"/>
            <a:ext cx="3990975" cy="484187"/>
            <a:chOff x="1895" y="1111"/>
            <a:chExt cx="2514" cy="305"/>
          </a:xfrm>
        </p:grpSpPr>
        <p:sp>
          <p:nvSpPr>
            <p:cNvPr id="68" name="Text Box 35"/>
            <p:cNvSpPr txBox="1">
              <a:spLocks noChangeArrowheads="1"/>
            </p:cNvSpPr>
            <p:nvPr/>
          </p:nvSpPr>
          <p:spPr bwMode="auto">
            <a:xfrm>
              <a:off x="3533" y="1111"/>
              <a:ext cx="8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P</a:t>
              </a:r>
              <a:r>
                <a:rPr kumimoji="1" lang="zh-CN" altLang="en-US" sz="2400" b="1" baseline="-25000">
                  <a:solidFill>
                    <a:srgbClr val="FF0066"/>
                  </a:solidFill>
                  <a:latin typeface="Times New Roman" panose="02020603050405020304" pitchFamily="18" charset="0"/>
                </a:rPr>
                <a:t>吸</a:t>
              </a:r>
              <a:r>
                <a:rPr kumimoji="1" lang="zh-CN" altLang="en-US" sz="24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 </a:t>
              </a: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= </a:t>
              </a: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</a:rPr>
                <a:t>ui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9" name="Rectangle 36"/>
            <p:cNvSpPr>
              <a:spLocks noChangeArrowheads="1"/>
            </p:cNvSpPr>
            <p:nvPr/>
          </p:nvSpPr>
          <p:spPr bwMode="auto">
            <a:xfrm>
              <a:off x="1895" y="1128"/>
              <a:ext cx="146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FF00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eaLnBrk="0" hangingPunct="0"/>
              <a:r>
                <a:rPr kumimoji="1" lang="zh-CN" altLang="zh-CN" sz="2400" b="1">
                  <a:solidFill>
                    <a:srgbClr val="FF0066"/>
                  </a:solidFill>
                  <a:latin typeface="Times New Roman" panose="02020603050405020304" pitchFamily="18" charset="0"/>
                </a:rPr>
                <a:t>元件吸收的功率</a:t>
              </a:r>
              <a:endParaRPr kumimoji="1" lang="zh-CN" altLang="en-US" sz="2400" b="1">
                <a:solidFill>
                  <a:srgbClr val="FF0066"/>
                </a:solidFill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22419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uild="p" autoUpdateAnimBg="0" advAuto="0"/>
      <p:bldP spid="38" grpId="0" autoUpdateAnimBg="0"/>
      <p:bldP spid="39" grpId="0" autoUpdateAnimBg="0"/>
      <p:bldP spid="40" grpId="0" autoUpdateAnimBg="0"/>
      <p:bldP spid="52" grpId="0" build="p" autoUpdateAnimBg="0"/>
      <p:bldP spid="53" grpId="0" build="p" autoUpdateAnimBg="0"/>
      <p:bldP spid="54" grpId="0" autoUpdateAnimBg="0"/>
      <p:bldP spid="66" grpId="0" build="p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225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8" name="Text Box 4"/>
          <p:cNvSpPr txBox="1">
            <a:spLocks noChangeArrowheads="1"/>
          </p:cNvSpPr>
          <p:nvPr/>
        </p:nvSpPr>
        <p:spPr bwMode="auto">
          <a:xfrm>
            <a:off x="179388" y="692150"/>
            <a:ext cx="6048375" cy="1004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>
              <a:spcBef>
                <a:spcPct val="50000"/>
              </a:spcBef>
            </a:pPr>
            <a:r>
              <a:rPr kumimoji="1" lang="zh-CN" altLang="en-US" sz="2400" b="1">
                <a:solidFill>
                  <a:srgbClr val="CC0099"/>
                </a:solidFill>
                <a:latin typeface="Times New Roman" panose="02020603050405020304" pitchFamily="18" charset="0"/>
              </a:rPr>
              <a:t>二、</a:t>
            </a:r>
            <a:r>
              <a:rPr kumimoji="1" lang="zh-CN" altLang="zh-CN" sz="2400" b="1">
                <a:solidFill>
                  <a:srgbClr val="CC0099"/>
                </a:solidFill>
                <a:latin typeface="Times New Roman" panose="02020603050405020304" pitchFamily="18" charset="0"/>
              </a:rPr>
              <a:t>受控电源 （非独立源）</a:t>
            </a:r>
          </a:p>
          <a:p>
            <a:pPr eaLnBrk="0" hangingPunct="0">
              <a:spcBef>
                <a:spcPct val="50000"/>
              </a:spcBef>
            </a:pPr>
            <a:r>
              <a:rPr kumimoji="1" lang="zh-CN" altLang="zh-CN" sz="2400" b="1">
                <a:solidFill>
                  <a:srgbClr val="CC0099"/>
                </a:solidFill>
                <a:latin typeface="Times New Roman" panose="02020603050405020304" pitchFamily="18" charset="0"/>
              </a:rPr>
              <a:t>（</a:t>
            </a:r>
            <a:r>
              <a:rPr kumimoji="1" lang="zh-CN" altLang="zh-CN" sz="2400" b="1" i="1">
                <a:solidFill>
                  <a:srgbClr val="CC0099"/>
                </a:solidFill>
                <a:latin typeface="Times New Roman" panose="02020603050405020304" pitchFamily="18" charset="0"/>
              </a:rPr>
              <a:t>controlled source  or  dependent source</a:t>
            </a:r>
            <a:r>
              <a:rPr kumimoji="1" lang="zh-CN" altLang="zh-CN" sz="2400" b="1">
                <a:solidFill>
                  <a:srgbClr val="CC0099"/>
                </a:solidFill>
                <a:latin typeface="Times New Roman" panose="02020603050405020304" pitchFamily="18" charset="0"/>
              </a:rPr>
              <a:t>）</a:t>
            </a:r>
            <a:endParaRPr kumimoji="1" lang="zh-CN" altLang="en-US" sz="2400" b="1">
              <a:solidFill>
                <a:srgbClr val="CC0099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0389" name="Text Box 5"/>
          <p:cNvSpPr txBox="1">
            <a:spLocks noChangeArrowheads="1"/>
          </p:cNvSpPr>
          <p:nvPr/>
        </p:nvSpPr>
        <p:spPr bwMode="auto">
          <a:xfrm>
            <a:off x="847725" y="4330700"/>
            <a:ext cx="1416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spcBef>
                <a:spcPct val="50000"/>
              </a:spcBef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电路符号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400390" name="Group 6"/>
          <p:cNvGrpSpPr>
            <a:grpSpLocks/>
          </p:cNvGrpSpPr>
          <p:nvPr/>
        </p:nvGrpSpPr>
        <p:grpSpPr bwMode="auto">
          <a:xfrm>
            <a:off x="3135313" y="4095750"/>
            <a:ext cx="1600200" cy="690563"/>
            <a:chOff x="2020" y="2395"/>
            <a:chExt cx="1008" cy="435"/>
          </a:xfrm>
        </p:grpSpPr>
        <p:sp>
          <p:nvSpPr>
            <p:cNvPr id="400391" name="AutoShape 7"/>
            <p:cNvSpPr>
              <a:spLocks noChangeArrowheads="1"/>
            </p:cNvSpPr>
            <p:nvPr/>
          </p:nvSpPr>
          <p:spPr bwMode="auto">
            <a:xfrm rot="5400000">
              <a:off x="2390" y="2481"/>
              <a:ext cx="267" cy="432"/>
            </a:xfrm>
            <a:prstGeom prst="diamond">
              <a:avLst/>
            </a:prstGeom>
            <a:solidFill>
              <a:schemeClr val="bg1"/>
            </a:solidFill>
            <a:ln w="317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00392" name="Line 8"/>
            <p:cNvSpPr>
              <a:spLocks noChangeShapeType="1"/>
            </p:cNvSpPr>
            <p:nvPr/>
          </p:nvSpPr>
          <p:spPr bwMode="auto">
            <a:xfrm>
              <a:off x="2068" y="2696"/>
              <a:ext cx="91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393" name="Oval 9"/>
            <p:cNvSpPr>
              <a:spLocks noChangeArrowheads="1"/>
            </p:cNvSpPr>
            <p:nvPr/>
          </p:nvSpPr>
          <p:spPr bwMode="auto">
            <a:xfrm>
              <a:off x="2980" y="2672"/>
              <a:ext cx="48" cy="48"/>
            </a:xfrm>
            <a:prstGeom prst="ellips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394" name="Oval 10"/>
            <p:cNvSpPr>
              <a:spLocks noChangeArrowheads="1"/>
            </p:cNvSpPr>
            <p:nvPr/>
          </p:nvSpPr>
          <p:spPr bwMode="auto">
            <a:xfrm>
              <a:off x="2020" y="2672"/>
              <a:ext cx="48" cy="48"/>
            </a:xfrm>
            <a:prstGeom prst="ellips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395" name="Text Box 11"/>
            <p:cNvSpPr txBox="1">
              <a:spLocks noChangeArrowheads="1"/>
            </p:cNvSpPr>
            <p:nvPr/>
          </p:nvSpPr>
          <p:spPr bwMode="auto">
            <a:xfrm>
              <a:off x="2116" y="2395"/>
              <a:ext cx="2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+</a:t>
              </a:r>
              <a:endPara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400396" name="Text Box 12"/>
            <p:cNvSpPr txBox="1">
              <a:spLocks noChangeArrowheads="1"/>
            </p:cNvSpPr>
            <p:nvPr/>
          </p:nvSpPr>
          <p:spPr bwMode="auto">
            <a:xfrm>
              <a:off x="2685" y="2395"/>
              <a:ext cx="24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–</a:t>
              </a:r>
              <a:endPara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400397" name="Group 13"/>
          <p:cNvGrpSpPr>
            <a:grpSpLocks/>
          </p:cNvGrpSpPr>
          <p:nvPr/>
        </p:nvGrpSpPr>
        <p:grpSpPr bwMode="auto">
          <a:xfrm>
            <a:off x="5584825" y="4292600"/>
            <a:ext cx="1752600" cy="493713"/>
            <a:chOff x="3563" y="2519"/>
            <a:chExt cx="1104" cy="311"/>
          </a:xfrm>
        </p:grpSpPr>
        <p:grpSp>
          <p:nvGrpSpPr>
            <p:cNvPr id="400398" name="Group 14"/>
            <p:cNvGrpSpPr>
              <a:grpSpLocks/>
            </p:cNvGrpSpPr>
            <p:nvPr/>
          </p:nvGrpSpPr>
          <p:grpSpPr bwMode="auto">
            <a:xfrm rot="5400000">
              <a:off x="3982" y="2481"/>
              <a:ext cx="266" cy="432"/>
              <a:chOff x="1983" y="1611"/>
              <a:chExt cx="360" cy="576"/>
            </a:xfrm>
          </p:grpSpPr>
          <p:sp>
            <p:nvSpPr>
              <p:cNvPr id="400399" name="AutoShape 15"/>
              <p:cNvSpPr>
                <a:spLocks noChangeArrowheads="1"/>
              </p:cNvSpPr>
              <p:nvPr/>
            </p:nvSpPr>
            <p:spPr bwMode="auto">
              <a:xfrm>
                <a:off x="1983" y="1611"/>
                <a:ext cx="360" cy="576"/>
              </a:xfrm>
              <a:prstGeom prst="diamond">
                <a:avLst/>
              </a:prstGeom>
              <a:solidFill>
                <a:schemeClr val="bg1"/>
              </a:solidFill>
              <a:ln w="317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00400" name="Line 16"/>
              <p:cNvSpPr>
                <a:spLocks noChangeShapeType="1"/>
              </p:cNvSpPr>
              <p:nvPr/>
            </p:nvSpPr>
            <p:spPr bwMode="auto">
              <a:xfrm>
                <a:off x="1986" y="1899"/>
                <a:ext cx="357" cy="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400401" name="Line 17"/>
            <p:cNvSpPr>
              <a:spLocks noChangeShapeType="1"/>
            </p:cNvSpPr>
            <p:nvPr/>
          </p:nvSpPr>
          <p:spPr bwMode="auto">
            <a:xfrm>
              <a:off x="3611" y="2697"/>
              <a:ext cx="28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02" name="Line 18"/>
            <p:cNvSpPr>
              <a:spLocks noChangeShapeType="1"/>
            </p:cNvSpPr>
            <p:nvPr/>
          </p:nvSpPr>
          <p:spPr bwMode="auto">
            <a:xfrm>
              <a:off x="4331" y="2697"/>
              <a:ext cx="288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03" name="Oval 19"/>
            <p:cNvSpPr>
              <a:spLocks noChangeArrowheads="1"/>
            </p:cNvSpPr>
            <p:nvPr/>
          </p:nvSpPr>
          <p:spPr bwMode="auto">
            <a:xfrm>
              <a:off x="3563" y="2673"/>
              <a:ext cx="48" cy="48"/>
            </a:xfrm>
            <a:prstGeom prst="ellips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04" name="Oval 20"/>
            <p:cNvSpPr>
              <a:spLocks noChangeArrowheads="1"/>
            </p:cNvSpPr>
            <p:nvPr/>
          </p:nvSpPr>
          <p:spPr bwMode="auto">
            <a:xfrm>
              <a:off x="4619" y="2673"/>
              <a:ext cx="48" cy="48"/>
            </a:xfrm>
            <a:prstGeom prst="ellips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0405" name="Line 21"/>
            <p:cNvSpPr>
              <a:spLocks noChangeShapeType="1"/>
            </p:cNvSpPr>
            <p:nvPr/>
          </p:nvSpPr>
          <p:spPr bwMode="auto">
            <a:xfrm>
              <a:off x="3851" y="2519"/>
              <a:ext cx="48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00406" name="Text Box 22"/>
          <p:cNvSpPr txBox="1">
            <a:spLocks noChangeArrowheads="1"/>
          </p:cNvSpPr>
          <p:nvPr/>
        </p:nvSpPr>
        <p:spPr bwMode="auto">
          <a:xfrm>
            <a:off x="2994025" y="4902200"/>
            <a:ext cx="19605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spcBef>
                <a:spcPct val="50000"/>
              </a:spcBef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受控电压源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0407" name="Text Box 23"/>
          <p:cNvSpPr txBox="1">
            <a:spLocks noChangeArrowheads="1"/>
          </p:cNvSpPr>
          <p:nvPr/>
        </p:nvSpPr>
        <p:spPr bwMode="auto">
          <a:xfrm>
            <a:off x="5567363" y="4902200"/>
            <a:ext cx="19605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eaLnBrk="0" hangingPunct="0">
              <a:spcBef>
                <a:spcPct val="50000"/>
              </a:spcBef>
            </a:pP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</a:rPr>
              <a:t>受控电流源</a:t>
            </a:r>
            <a:endParaRPr kumimoji="1" lang="zh-CN" altLang="en-US" sz="2400" b="1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400408" name="Rectangle 24"/>
          <p:cNvSpPr>
            <a:spLocks noChangeArrowheads="1"/>
          </p:cNvSpPr>
          <p:nvPr/>
        </p:nvSpPr>
        <p:spPr bwMode="auto">
          <a:xfrm>
            <a:off x="539750" y="2168525"/>
            <a:ext cx="8299450" cy="1352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eaLnBrk="0" hangingPunct="0">
              <a:spcBef>
                <a:spcPct val="45000"/>
              </a:spcBef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1. 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定义</a:t>
            </a:r>
          </a:p>
          <a:p>
            <a:pPr eaLnBrk="0" hangingPunct="0">
              <a:spcBef>
                <a:spcPct val="45000"/>
              </a:spcBef>
            </a:pPr>
            <a:r>
              <a:rPr kumimoji="1" lang="zh-CN" altLang="en-US" sz="2400" b="1">
                <a:solidFill>
                  <a:srgbClr val="CC0099"/>
                </a:solidFill>
                <a:latin typeface="Times New Roman" panose="02020603050405020304" pitchFamily="18" charset="0"/>
              </a:rPr>
              <a:t>        </a:t>
            </a:r>
            <a:r>
              <a:rPr kumimoji="1" lang="zh-CN" altLang="en-US" sz="2400" b="1">
                <a:latin typeface="Times New Roman" panose="02020603050405020304" pitchFamily="18" charset="0"/>
              </a:rPr>
              <a:t>电压源电压或电流源电流不是给定的时间函数，而是受电路中某个支路（或元件）的电压（或电流）的控制。</a:t>
            </a:r>
          </a:p>
        </p:txBody>
      </p:sp>
    </p:spTree>
    <p:extLst>
      <p:ext uri="{BB962C8B-B14F-4D97-AF65-F5344CB8AC3E}">
        <p14:creationId xmlns:p14="http://schemas.microsoft.com/office/powerpoint/2010/main" val="3914102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04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040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300" fill="hold"/>
                                        <p:tgtEl>
                                          <p:spTgt spid="4003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300" fill="hold"/>
                                        <p:tgtEl>
                                          <p:spTgt spid="4003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00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004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00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004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89" grpId="0" autoUpdateAnimBg="0"/>
      <p:bldP spid="400406" grpId="0" build="p" autoUpdateAnimBg="0" advAuto="0"/>
      <p:bldP spid="400407" grpId="0" build="p" autoUpdateAnimBg="0" advAuto="0"/>
      <p:bldP spid="400408" grpId="0" build="p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D63CD562-6D81-465F-87E4-9DBBF26216AC}" type="datetime1">
              <a:rPr lang="zh-CN" altLang="en-US"/>
              <a:pPr>
                <a:defRPr/>
              </a:pPr>
              <a:t>2022/3/7</a:t>
            </a:fld>
            <a:endParaRPr lang="en-US" altLang="zh-CN"/>
          </a:p>
        </p:txBody>
      </p:sp>
      <p:sp>
        <p:nvSpPr>
          <p:cNvPr id="27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597352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28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444F29-205C-466E-B2A3-FB344F6080BD}" type="slidenum">
              <a:rPr lang="en-US" altLang="zh-CN"/>
              <a:pPr>
                <a:defRPr/>
              </a:pPr>
              <a:t>8</a:t>
            </a:fld>
            <a:endParaRPr lang="en-US" altLang="zh-CN"/>
          </a:p>
        </p:txBody>
      </p:sp>
      <p:sp>
        <p:nvSpPr>
          <p:cNvPr id="15365" name="Rectangle 105"/>
          <p:cNvSpPr>
            <a:spLocks noGrp="1" noChangeArrowheads="1"/>
          </p:cNvSpPr>
          <p:nvPr>
            <p:ph type="title" idx="4294967295"/>
          </p:nvPr>
        </p:nvSpPr>
        <p:spPr>
          <a:xfrm>
            <a:off x="323850" y="692150"/>
            <a:ext cx="8458200" cy="457200"/>
          </a:xfrm>
        </p:spPr>
        <p:txBody>
          <a:bodyPr/>
          <a:lstStyle/>
          <a:p>
            <a:pPr marL="342900" indent="-342900" algn="l" eaLnBrk="1" hangingPunct="1">
              <a:spcBef>
                <a:spcPct val="20000"/>
              </a:spcBef>
            </a:pPr>
            <a:r>
              <a:rPr lang="en-US" altLang="zh-CN" sz="2400" smtClean="0">
                <a:solidFill>
                  <a:srgbClr val="CC3300"/>
                </a:solidFill>
                <a:ea typeface="隶书" panose="02010509060101010101" pitchFamily="49" charset="-122"/>
              </a:rPr>
              <a:t>2.</a:t>
            </a:r>
            <a:r>
              <a:rPr lang="zh-CN" altLang="en-US" sz="2400" smtClean="0">
                <a:solidFill>
                  <a:srgbClr val="CC3300"/>
                </a:solidFill>
                <a:ea typeface="隶书" panose="02010509060101010101" pitchFamily="49" charset="-122"/>
              </a:rPr>
              <a:t>受控电源 </a:t>
            </a:r>
            <a:r>
              <a:rPr lang="en-US" altLang="zh-CN" sz="2400" smtClean="0">
                <a:solidFill>
                  <a:srgbClr val="CC3300"/>
                </a:solidFill>
                <a:ea typeface="隶书" panose="02010509060101010101" pitchFamily="49" charset="-122"/>
              </a:rPr>
              <a:t>Dependent Source (active elements)</a:t>
            </a:r>
          </a:p>
        </p:txBody>
      </p:sp>
      <p:grpSp>
        <p:nvGrpSpPr>
          <p:cNvPr id="21628" name="Group 124"/>
          <p:cNvGrpSpPr>
            <a:grpSpLocks/>
          </p:cNvGrpSpPr>
          <p:nvPr/>
        </p:nvGrpSpPr>
        <p:grpSpPr bwMode="auto">
          <a:xfrm>
            <a:off x="5029200" y="5002213"/>
            <a:ext cx="3365500" cy="1625600"/>
            <a:chOff x="3168" y="3151"/>
            <a:chExt cx="2120" cy="1024"/>
          </a:xfrm>
        </p:grpSpPr>
        <p:graphicFrame>
          <p:nvGraphicFramePr>
            <p:cNvPr id="15387" name="Object 111"/>
            <p:cNvGraphicFramePr>
              <a:graphicFrameLocks noChangeAspect="1"/>
            </p:cNvGraphicFramePr>
            <p:nvPr/>
          </p:nvGraphicFramePr>
          <p:xfrm>
            <a:off x="3792" y="3151"/>
            <a:ext cx="1496" cy="10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71" name="VISIO" r:id="rId3" imgW="1189785" imgH="812462" progId="Visio.Drawing.5">
                    <p:embed/>
                  </p:oleObj>
                </mc:Choice>
                <mc:Fallback>
                  <p:oleObj name="VISIO" r:id="rId3" imgW="1189785" imgH="812462" progId="Visio.Drawing.5">
                    <p:embed/>
                    <p:pic>
                      <p:nvPicPr>
                        <p:cNvPr id="15387" name="Object 1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3151"/>
                          <a:ext cx="1496" cy="10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8" name="Rectangle 113"/>
            <p:cNvSpPr>
              <a:spLocks noChangeArrowheads="1"/>
            </p:cNvSpPr>
            <p:nvPr/>
          </p:nvSpPr>
          <p:spPr bwMode="auto">
            <a:xfrm>
              <a:off x="3168" y="3583"/>
              <a:ext cx="629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>
                  <a:ea typeface="隶书" panose="02010509060101010101" pitchFamily="49" charset="-122"/>
                </a:rPr>
                <a:t>VCVS</a:t>
              </a:r>
            </a:p>
          </p:txBody>
        </p:sp>
      </p:grpSp>
      <p:grpSp>
        <p:nvGrpSpPr>
          <p:cNvPr id="21625" name="Group 121"/>
          <p:cNvGrpSpPr>
            <a:grpSpLocks/>
          </p:cNvGrpSpPr>
          <p:nvPr/>
        </p:nvGrpSpPr>
        <p:grpSpPr bwMode="auto">
          <a:xfrm>
            <a:off x="715963" y="3173413"/>
            <a:ext cx="3251200" cy="1765300"/>
            <a:chOff x="451" y="1999"/>
            <a:chExt cx="2048" cy="1112"/>
          </a:xfrm>
        </p:grpSpPr>
        <p:graphicFrame>
          <p:nvGraphicFramePr>
            <p:cNvPr id="15385" name="Object 108"/>
            <p:cNvGraphicFramePr>
              <a:graphicFrameLocks noChangeAspect="1"/>
            </p:cNvGraphicFramePr>
            <p:nvPr/>
          </p:nvGraphicFramePr>
          <p:xfrm>
            <a:off x="1075" y="1999"/>
            <a:ext cx="1424" cy="1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72" name="Visio" r:id="rId5" imgW="1158804" imgH="910953" progId="Visio.Drawing.11">
                    <p:embed/>
                  </p:oleObj>
                </mc:Choice>
                <mc:Fallback>
                  <p:oleObj name="Visio" r:id="rId5" imgW="1158804" imgH="910953" progId="Visio.Drawing.11">
                    <p:embed/>
                    <p:pic>
                      <p:nvPicPr>
                        <p:cNvPr id="15385" name="Object 10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5" y="1999"/>
                          <a:ext cx="1424" cy="1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6" name="Rectangle 114"/>
            <p:cNvSpPr>
              <a:spLocks noChangeArrowheads="1"/>
            </p:cNvSpPr>
            <p:nvPr/>
          </p:nvSpPr>
          <p:spPr bwMode="auto">
            <a:xfrm>
              <a:off x="451" y="2431"/>
              <a:ext cx="60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>
                  <a:ea typeface="隶书" panose="02010509060101010101" pitchFamily="49" charset="-122"/>
                </a:rPr>
                <a:t>CCCS</a:t>
              </a:r>
            </a:p>
          </p:txBody>
        </p:sp>
      </p:grpSp>
      <p:grpSp>
        <p:nvGrpSpPr>
          <p:cNvPr id="21626" name="Group 122"/>
          <p:cNvGrpSpPr>
            <a:grpSpLocks/>
          </p:cNvGrpSpPr>
          <p:nvPr/>
        </p:nvGrpSpPr>
        <p:grpSpPr bwMode="auto">
          <a:xfrm>
            <a:off x="5029200" y="3097213"/>
            <a:ext cx="3251200" cy="1765300"/>
            <a:chOff x="3168" y="1951"/>
            <a:chExt cx="2048" cy="1112"/>
          </a:xfrm>
        </p:grpSpPr>
        <p:graphicFrame>
          <p:nvGraphicFramePr>
            <p:cNvPr id="15383" name="Object 109"/>
            <p:cNvGraphicFramePr>
              <a:graphicFrameLocks noChangeAspect="1"/>
            </p:cNvGraphicFramePr>
            <p:nvPr/>
          </p:nvGraphicFramePr>
          <p:xfrm>
            <a:off x="3792" y="1951"/>
            <a:ext cx="1424" cy="11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73" name="VISIO" r:id="rId7" imgW="1132332" imgH="880872" progId="Visio.Drawing.5">
                    <p:embed/>
                  </p:oleObj>
                </mc:Choice>
                <mc:Fallback>
                  <p:oleObj name="VISIO" r:id="rId7" imgW="1132332" imgH="880872" progId="Visio.Drawing.5">
                    <p:embed/>
                    <p:pic>
                      <p:nvPicPr>
                        <p:cNvPr id="15383" name="Object 10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951"/>
                          <a:ext cx="1424" cy="11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4" name="Rectangle 115"/>
            <p:cNvSpPr>
              <a:spLocks noChangeArrowheads="1"/>
            </p:cNvSpPr>
            <p:nvPr/>
          </p:nvSpPr>
          <p:spPr bwMode="auto">
            <a:xfrm>
              <a:off x="3168" y="2383"/>
              <a:ext cx="6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>
                  <a:ea typeface="隶书" panose="02010509060101010101" pitchFamily="49" charset="-122"/>
                </a:rPr>
                <a:t>VCCS</a:t>
              </a:r>
            </a:p>
          </p:txBody>
        </p:sp>
      </p:grpSp>
      <p:grpSp>
        <p:nvGrpSpPr>
          <p:cNvPr id="21627" name="Group 123"/>
          <p:cNvGrpSpPr>
            <a:grpSpLocks/>
          </p:cNvGrpSpPr>
          <p:nvPr/>
        </p:nvGrpSpPr>
        <p:grpSpPr bwMode="auto">
          <a:xfrm>
            <a:off x="792163" y="5002213"/>
            <a:ext cx="3246437" cy="1627187"/>
            <a:chOff x="499" y="3151"/>
            <a:chExt cx="2045" cy="1025"/>
          </a:xfrm>
        </p:grpSpPr>
        <p:graphicFrame>
          <p:nvGraphicFramePr>
            <p:cNvPr id="15381" name="Object 110"/>
            <p:cNvGraphicFramePr>
              <a:graphicFrameLocks noChangeAspect="1"/>
            </p:cNvGraphicFramePr>
            <p:nvPr/>
          </p:nvGraphicFramePr>
          <p:xfrm>
            <a:off x="1075" y="3151"/>
            <a:ext cx="1469" cy="10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74" name="VISIO" r:id="rId9" imgW="1166963" imgH="812462" progId="Visio.Drawing.5">
                    <p:embed/>
                  </p:oleObj>
                </mc:Choice>
                <mc:Fallback>
                  <p:oleObj name="VISIO" r:id="rId9" imgW="1166963" imgH="812462" progId="Visio.Drawing.5">
                    <p:embed/>
                    <p:pic>
                      <p:nvPicPr>
                        <p:cNvPr id="15381" name="Object 1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75" y="3151"/>
                          <a:ext cx="1469" cy="10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2" name="Rectangle 116"/>
            <p:cNvSpPr>
              <a:spLocks noChangeArrowheads="1"/>
            </p:cNvSpPr>
            <p:nvPr/>
          </p:nvSpPr>
          <p:spPr bwMode="auto">
            <a:xfrm>
              <a:off x="499" y="3583"/>
              <a:ext cx="61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>
                  <a:ea typeface="隶书" panose="02010509060101010101" pitchFamily="49" charset="-122"/>
                </a:rPr>
                <a:t>CCVS</a:t>
              </a:r>
            </a:p>
          </p:txBody>
        </p:sp>
      </p:grpSp>
      <p:grpSp>
        <p:nvGrpSpPr>
          <p:cNvPr id="21631" name="Group 127"/>
          <p:cNvGrpSpPr>
            <a:grpSpLocks/>
          </p:cNvGrpSpPr>
          <p:nvPr/>
        </p:nvGrpSpPr>
        <p:grpSpPr bwMode="auto">
          <a:xfrm>
            <a:off x="323850" y="1160463"/>
            <a:ext cx="2366963" cy="1981200"/>
            <a:chOff x="1156" y="731"/>
            <a:chExt cx="1491" cy="1248"/>
          </a:xfrm>
        </p:grpSpPr>
        <p:graphicFrame>
          <p:nvGraphicFramePr>
            <p:cNvPr id="15379" name="Object 106"/>
            <p:cNvGraphicFramePr>
              <a:graphicFrameLocks noChangeAspect="1"/>
            </p:cNvGraphicFramePr>
            <p:nvPr/>
          </p:nvGraphicFramePr>
          <p:xfrm>
            <a:off x="1305" y="731"/>
            <a:ext cx="1143" cy="9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75" name="VISIO" r:id="rId11" imgW="908314" imgH="750082" progId="Visio.Drawing.5">
                    <p:embed/>
                  </p:oleObj>
                </mc:Choice>
                <mc:Fallback>
                  <p:oleObj name="VISIO" r:id="rId11" imgW="908314" imgH="750082" progId="Visio.Drawing.5">
                    <p:embed/>
                    <p:pic>
                      <p:nvPicPr>
                        <p:cNvPr id="15379" name="Object 10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05" y="731"/>
                          <a:ext cx="1143" cy="9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0" name="Rectangle 117"/>
            <p:cNvSpPr>
              <a:spLocks noChangeArrowheads="1"/>
            </p:cNvSpPr>
            <p:nvPr/>
          </p:nvSpPr>
          <p:spPr bwMode="auto">
            <a:xfrm>
              <a:off x="1156" y="1691"/>
              <a:ext cx="14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>
                  <a:ea typeface="隶书" panose="02010509060101010101" pitchFamily="49" charset="-122"/>
                </a:rPr>
                <a:t>晶体管 </a:t>
              </a:r>
              <a:r>
                <a:rPr lang="en-US" altLang="zh-CN">
                  <a:ea typeface="隶书" panose="02010509060101010101" pitchFamily="49" charset="-122"/>
                </a:rPr>
                <a:t>transistor</a:t>
              </a:r>
            </a:p>
          </p:txBody>
        </p:sp>
      </p:grpSp>
      <p:grpSp>
        <p:nvGrpSpPr>
          <p:cNvPr id="21629" name="Group 125"/>
          <p:cNvGrpSpPr>
            <a:grpSpLocks/>
          </p:cNvGrpSpPr>
          <p:nvPr/>
        </p:nvGrpSpPr>
        <p:grpSpPr bwMode="auto">
          <a:xfrm>
            <a:off x="2555875" y="1236663"/>
            <a:ext cx="3276600" cy="1905000"/>
            <a:chOff x="2688" y="576"/>
            <a:chExt cx="2064" cy="1200"/>
          </a:xfrm>
        </p:grpSpPr>
        <p:sp>
          <p:nvSpPr>
            <p:cNvPr id="15375" name="Line 112"/>
            <p:cNvSpPr>
              <a:spLocks noChangeShapeType="1"/>
            </p:cNvSpPr>
            <p:nvPr/>
          </p:nvSpPr>
          <p:spPr bwMode="auto">
            <a:xfrm>
              <a:off x="2688" y="1104"/>
              <a:ext cx="480" cy="0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5376" name="Group 120"/>
            <p:cNvGrpSpPr>
              <a:grpSpLocks/>
            </p:cNvGrpSpPr>
            <p:nvPr/>
          </p:nvGrpSpPr>
          <p:grpSpPr bwMode="auto">
            <a:xfrm>
              <a:off x="3504" y="576"/>
              <a:ext cx="1248" cy="1200"/>
              <a:chOff x="3504" y="576"/>
              <a:chExt cx="1248" cy="1200"/>
            </a:xfrm>
          </p:grpSpPr>
          <p:graphicFrame>
            <p:nvGraphicFramePr>
              <p:cNvPr id="15377" name="Object 107"/>
              <p:cNvGraphicFramePr>
                <a:graphicFrameLocks noChangeAspect="1"/>
              </p:cNvGraphicFramePr>
              <p:nvPr/>
            </p:nvGraphicFramePr>
            <p:xfrm>
              <a:off x="3504" y="576"/>
              <a:ext cx="1224" cy="10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8276" name="Visio" r:id="rId13" imgW="1001268" imgH="847820" progId="Visio.Drawing.11">
                      <p:embed/>
                    </p:oleObj>
                  </mc:Choice>
                  <mc:Fallback>
                    <p:oleObj name="Visio" r:id="rId13" imgW="1001268" imgH="847820" progId="Visio.Drawing.11">
                      <p:embed/>
                      <p:pic>
                        <p:nvPicPr>
                          <p:cNvPr id="15377" name="Object 107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504" y="576"/>
                            <a:ext cx="1224" cy="10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chemeClr val="accent1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CC0099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5378" name="Rectangle 118"/>
              <p:cNvSpPr>
                <a:spLocks noChangeArrowheads="1"/>
              </p:cNvSpPr>
              <p:nvPr/>
            </p:nvSpPr>
            <p:spPr bwMode="auto">
              <a:xfrm>
                <a:off x="3552" y="1488"/>
                <a:ext cx="1200" cy="288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>
                <a:lvl1pPr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宋体" panose="02010600040101010101" pitchFamily="2" charset="-122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  <a:buFontTx/>
                  <a:buNone/>
                </a:pPr>
                <a:r>
                  <a:rPr lang="en-US" altLang="zh-CN">
                    <a:ea typeface="隶书" panose="02010509060101010101" pitchFamily="49" charset="-122"/>
                  </a:rPr>
                  <a:t>circuit model</a:t>
                </a:r>
              </a:p>
            </p:txBody>
          </p:sp>
        </p:grpSp>
      </p:grpSp>
      <p:sp>
        <p:nvSpPr>
          <p:cNvPr id="21630" name="Rectangle 126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1pPr>
            <a:lvl2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1.3 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电路元件 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Circuit Elements</a:t>
            </a:r>
          </a:p>
        </p:txBody>
      </p:sp>
      <p:sp>
        <p:nvSpPr>
          <p:cNvPr id="21633" name="Line 129"/>
          <p:cNvSpPr>
            <a:spLocks noChangeShapeType="1"/>
          </p:cNvSpPr>
          <p:nvPr/>
        </p:nvSpPr>
        <p:spPr bwMode="auto">
          <a:xfrm>
            <a:off x="6186488" y="1963738"/>
            <a:ext cx="762000" cy="0"/>
          </a:xfrm>
          <a:prstGeom prst="line">
            <a:avLst/>
          </a:prstGeom>
          <a:noFill/>
          <a:ln w="57150">
            <a:solidFill>
              <a:schemeClr val="hlink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1637" name="Object 133"/>
          <p:cNvGraphicFramePr>
            <a:graphicFrameLocks noChangeAspect="1"/>
          </p:cNvGraphicFramePr>
          <p:nvPr/>
        </p:nvGraphicFramePr>
        <p:xfrm>
          <a:off x="6659563" y="1155700"/>
          <a:ext cx="2089150" cy="162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77" name="Visio" r:id="rId15" imgW="1114854" imgH="898827" progId="Visio.Drawing.11">
                  <p:embed/>
                </p:oleObj>
              </mc:Choice>
              <mc:Fallback>
                <p:oleObj name="Visio" r:id="rId15" imgW="1114854" imgH="898827" progId="Visio.Drawing.11">
                  <p:embed/>
                  <p:pic>
                    <p:nvPicPr>
                      <p:cNvPr id="21637" name="Object 1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1155700"/>
                        <a:ext cx="2089150" cy="162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3881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with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21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1000"/>
                                        <p:tgtEl>
                                          <p:spTgt spid="21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6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6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16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16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16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16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16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6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532" name="Text Box 4"/>
          <p:cNvSpPr txBox="1">
            <a:spLocks noChangeArrowheads="1"/>
          </p:cNvSpPr>
          <p:nvPr/>
        </p:nvSpPr>
        <p:spPr bwMode="auto">
          <a:xfrm>
            <a:off x="71438" y="903288"/>
            <a:ext cx="8893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0" hangingPunct="0"/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） 电流控制的电流源（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Current Controlled Current Source</a:t>
            </a:r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）      </a:t>
            </a:r>
          </a:p>
        </p:txBody>
      </p:sp>
      <p:sp>
        <p:nvSpPr>
          <p:cNvPr id="406533" name="Text Box 5"/>
          <p:cNvSpPr txBox="1">
            <a:spLocks noChangeArrowheads="1"/>
          </p:cNvSpPr>
          <p:nvPr/>
        </p:nvSpPr>
        <p:spPr bwMode="auto">
          <a:xfrm>
            <a:off x="5316538" y="2836863"/>
            <a:ext cx="28717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kumimoji="1" lang="en-US" altLang="zh-CN" sz="2400" b="1" i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 </a:t>
            </a:r>
            <a:r>
              <a:rPr kumimoji="1" lang="en-US" altLang="zh-CN" sz="2400" b="1">
                <a:solidFill>
                  <a:schemeClr val="tx2"/>
                </a:solidFill>
                <a:latin typeface="Symbol" panose="05050102010706020507" pitchFamily="18" charset="2"/>
                <a:sym typeface="Symbol" panose="05050102010706020507" pitchFamily="18" charset="2"/>
              </a:rPr>
              <a:t>: 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电流放大倍数</a:t>
            </a:r>
          </a:p>
        </p:txBody>
      </p:sp>
      <p:sp>
        <p:nvSpPr>
          <p:cNvPr id="406534" name="Text Box 6"/>
          <p:cNvSpPr txBox="1">
            <a:spLocks noChangeArrowheads="1"/>
          </p:cNvSpPr>
          <p:nvPr/>
        </p:nvSpPr>
        <p:spPr bwMode="auto">
          <a:xfrm>
            <a:off x="5327650" y="5691188"/>
            <a:ext cx="1981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r 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:   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转移电阻 </a:t>
            </a:r>
          </a:p>
        </p:txBody>
      </p:sp>
      <p:grpSp>
        <p:nvGrpSpPr>
          <p:cNvPr id="406535" name="Group 7"/>
          <p:cNvGrpSpPr>
            <a:grpSpLocks/>
          </p:cNvGrpSpPr>
          <p:nvPr/>
        </p:nvGrpSpPr>
        <p:grpSpPr bwMode="auto">
          <a:xfrm>
            <a:off x="5100638" y="1682750"/>
            <a:ext cx="1524000" cy="1065213"/>
            <a:chOff x="2448" y="721"/>
            <a:chExt cx="960" cy="671"/>
          </a:xfrm>
        </p:grpSpPr>
        <p:sp>
          <p:nvSpPr>
            <p:cNvPr id="406536" name="Text Box 8"/>
            <p:cNvSpPr txBox="1">
              <a:spLocks noChangeArrowheads="1"/>
            </p:cNvSpPr>
            <p:nvPr/>
          </p:nvSpPr>
          <p:spPr bwMode="auto">
            <a:xfrm>
              <a:off x="2448" y="721"/>
              <a:ext cx="466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6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{</a:t>
              </a:r>
              <a:endParaRPr kumimoji="1" lang="en-US" altLang="zh-CN" sz="60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6537" name="Text Box 9"/>
            <p:cNvSpPr txBox="1">
              <a:spLocks noChangeArrowheads="1"/>
            </p:cNvSpPr>
            <p:nvPr/>
          </p:nvSpPr>
          <p:spPr bwMode="auto">
            <a:xfrm>
              <a:off x="2640" y="768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u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=0</a:t>
              </a:r>
            </a:p>
          </p:txBody>
        </p:sp>
        <p:sp>
          <p:nvSpPr>
            <p:cNvPr id="406538" name="Text Box 10"/>
            <p:cNvSpPr txBox="1">
              <a:spLocks noChangeArrowheads="1"/>
            </p:cNvSpPr>
            <p:nvPr/>
          </p:nvSpPr>
          <p:spPr bwMode="auto">
            <a:xfrm>
              <a:off x="2688" y="1104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=</a:t>
              </a:r>
              <a:r>
                <a:rPr kumimoji="1" lang="en-US" altLang="zh-CN" sz="2400" b="1" i="1">
                  <a:solidFill>
                    <a:schemeClr val="tx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b  </a:t>
              </a: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406539" name="Group 11"/>
          <p:cNvGrpSpPr>
            <a:grpSpLocks/>
          </p:cNvGrpSpPr>
          <p:nvPr/>
        </p:nvGrpSpPr>
        <p:grpSpPr bwMode="auto">
          <a:xfrm>
            <a:off x="4906963" y="4413250"/>
            <a:ext cx="1524000" cy="1065213"/>
            <a:chOff x="2448" y="721"/>
            <a:chExt cx="960" cy="671"/>
          </a:xfrm>
        </p:grpSpPr>
        <p:sp>
          <p:nvSpPr>
            <p:cNvPr id="406540" name="Text Box 12"/>
            <p:cNvSpPr txBox="1">
              <a:spLocks noChangeArrowheads="1"/>
            </p:cNvSpPr>
            <p:nvPr/>
          </p:nvSpPr>
          <p:spPr bwMode="auto">
            <a:xfrm>
              <a:off x="2448" y="721"/>
              <a:ext cx="466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6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{</a:t>
              </a:r>
              <a:endParaRPr kumimoji="1" lang="en-US" altLang="zh-CN" sz="60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6541" name="Text Box 13"/>
            <p:cNvSpPr txBox="1">
              <a:spLocks noChangeArrowheads="1"/>
            </p:cNvSpPr>
            <p:nvPr/>
          </p:nvSpPr>
          <p:spPr bwMode="auto">
            <a:xfrm>
              <a:off x="2640" y="768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u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=0</a:t>
              </a:r>
            </a:p>
          </p:txBody>
        </p:sp>
        <p:sp>
          <p:nvSpPr>
            <p:cNvPr id="406542" name="Text Box 14"/>
            <p:cNvSpPr txBox="1">
              <a:spLocks noChangeArrowheads="1"/>
            </p:cNvSpPr>
            <p:nvPr/>
          </p:nvSpPr>
          <p:spPr bwMode="auto">
            <a:xfrm>
              <a:off x="2688" y="1104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=</a:t>
              </a: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r i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sp>
        <p:nvSpPr>
          <p:cNvPr id="406543" name="Text Box 15"/>
          <p:cNvSpPr txBox="1">
            <a:spLocks noChangeArrowheads="1"/>
          </p:cNvSpPr>
          <p:nvPr/>
        </p:nvSpPr>
        <p:spPr bwMode="auto">
          <a:xfrm>
            <a:off x="179388" y="296863"/>
            <a:ext cx="1928812" cy="53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1143000" indent="-1143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1524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714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905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95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527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09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671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9243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0" hangingPunct="0">
              <a:lnSpc>
                <a:spcPct val="120000"/>
              </a:lnSpc>
              <a:spcBef>
                <a:spcPct val="50000"/>
              </a:spcBef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</a:rPr>
              <a:t>2. 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</a:rPr>
              <a:t>分类</a:t>
            </a:r>
          </a:p>
        </p:txBody>
      </p:sp>
      <p:sp>
        <p:nvSpPr>
          <p:cNvPr id="406544" name="Text Box 16"/>
          <p:cNvSpPr txBox="1">
            <a:spLocks noChangeArrowheads="1"/>
          </p:cNvSpPr>
          <p:nvPr/>
        </p:nvSpPr>
        <p:spPr bwMode="auto">
          <a:xfrm>
            <a:off x="71438" y="3711575"/>
            <a:ext cx="8712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0" hangingPunct="0">
              <a:spcBef>
                <a:spcPct val="50000"/>
              </a:spcBef>
            </a:pP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（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）电流控制的电压源 （</a:t>
            </a:r>
            <a:r>
              <a:rPr kumimoji="1" lang="en-US" altLang="zh-CN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Current Controlled Voltage Source</a:t>
            </a:r>
            <a:r>
              <a:rPr kumimoji="1" lang="zh-CN" altLang="en-US" sz="2400" b="1" dirty="0">
                <a:latin typeface="Times New Roman" panose="02020603050405020304" pitchFamily="18" charset="0"/>
                <a:sym typeface="Symbol" panose="05050102010706020507" pitchFamily="18" charset="2"/>
              </a:rPr>
              <a:t>）         </a:t>
            </a:r>
          </a:p>
        </p:txBody>
      </p:sp>
      <p:grpSp>
        <p:nvGrpSpPr>
          <p:cNvPr id="406547" name="Group 19"/>
          <p:cNvGrpSpPr>
            <a:grpSpLocks/>
          </p:cNvGrpSpPr>
          <p:nvPr/>
        </p:nvGrpSpPr>
        <p:grpSpPr bwMode="auto">
          <a:xfrm>
            <a:off x="1109663" y="1557338"/>
            <a:ext cx="3048000" cy="2095500"/>
            <a:chOff x="654" y="1098"/>
            <a:chExt cx="1920" cy="1320"/>
          </a:xfrm>
        </p:grpSpPr>
        <p:sp>
          <p:nvSpPr>
            <p:cNvPr id="406548" name="Text Box 20"/>
            <p:cNvSpPr txBox="1">
              <a:spLocks noChangeArrowheads="1"/>
            </p:cNvSpPr>
            <p:nvPr/>
          </p:nvSpPr>
          <p:spPr bwMode="auto">
            <a:xfrm>
              <a:off x="954" y="2130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CCCS</a:t>
              </a:r>
            </a:p>
          </p:txBody>
        </p:sp>
        <p:sp>
          <p:nvSpPr>
            <p:cNvPr id="406549" name="AutoShape 21"/>
            <p:cNvSpPr>
              <a:spLocks noChangeArrowheads="1"/>
            </p:cNvSpPr>
            <p:nvPr/>
          </p:nvSpPr>
          <p:spPr bwMode="auto">
            <a:xfrm>
              <a:off x="1386" y="1626"/>
              <a:ext cx="192" cy="288"/>
            </a:xfrm>
            <a:prstGeom prst="flowChartSort">
              <a:avLst/>
            </a:prstGeom>
            <a:noFill/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E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550" name="Line 22"/>
            <p:cNvSpPr>
              <a:spLocks noChangeShapeType="1"/>
            </p:cNvSpPr>
            <p:nvPr/>
          </p:nvSpPr>
          <p:spPr bwMode="auto">
            <a:xfrm>
              <a:off x="1482" y="1914"/>
              <a:ext cx="0" cy="16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551" name="Line 23"/>
            <p:cNvSpPr>
              <a:spLocks noChangeShapeType="1"/>
            </p:cNvSpPr>
            <p:nvPr/>
          </p:nvSpPr>
          <p:spPr bwMode="auto">
            <a:xfrm>
              <a:off x="1482" y="2082"/>
              <a:ext cx="67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552" name="Line 24"/>
            <p:cNvSpPr>
              <a:spLocks noChangeShapeType="1"/>
            </p:cNvSpPr>
            <p:nvPr/>
          </p:nvSpPr>
          <p:spPr bwMode="auto">
            <a:xfrm flipV="1">
              <a:off x="1482" y="1434"/>
              <a:ext cx="0" cy="19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553" name="Line 25"/>
            <p:cNvSpPr>
              <a:spLocks noChangeShapeType="1"/>
            </p:cNvSpPr>
            <p:nvPr/>
          </p:nvSpPr>
          <p:spPr bwMode="auto">
            <a:xfrm>
              <a:off x="1482" y="1434"/>
              <a:ext cx="67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554" name="Text Box 26"/>
            <p:cNvSpPr txBox="1">
              <a:spLocks noChangeArrowheads="1"/>
            </p:cNvSpPr>
            <p:nvPr/>
          </p:nvSpPr>
          <p:spPr bwMode="auto">
            <a:xfrm>
              <a:off x="1578" y="1614"/>
              <a:ext cx="49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b</a:t>
              </a:r>
              <a:r>
                <a:rPr kumimoji="1" lang="en-US" altLang="zh-CN" sz="2400" b="1">
                  <a:solidFill>
                    <a:schemeClr val="tx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 </a:t>
              </a: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6555" name="Text Box 27"/>
            <p:cNvSpPr txBox="1">
              <a:spLocks noChangeArrowheads="1"/>
            </p:cNvSpPr>
            <p:nvPr/>
          </p:nvSpPr>
          <p:spPr bwMode="auto">
            <a:xfrm>
              <a:off x="2286" y="1338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06556" name="Text Box 28"/>
            <p:cNvSpPr txBox="1">
              <a:spLocks noChangeArrowheads="1"/>
            </p:cNvSpPr>
            <p:nvPr/>
          </p:nvSpPr>
          <p:spPr bwMode="auto">
            <a:xfrm>
              <a:off x="2286" y="1842"/>
              <a:ext cx="2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06557" name="Text Box 29"/>
            <p:cNvSpPr txBox="1">
              <a:spLocks noChangeArrowheads="1"/>
            </p:cNvSpPr>
            <p:nvPr/>
          </p:nvSpPr>
          <p:spPr bwMode="auto">
            <a:xfrm>
              <a:off x="2250" y="1626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6558" name="Line 30"/>
            <p:cNvSpPr>
              <a:spLocks noChangeShapeType="1"/>
            </p:cNvSpPr>
            <p:nvPr/>
          </p:nvSpPr>
          <p:spPr bwMode="auto">
            <a:xfrm flipH="1">
              <a:off x="1638" y="1326"/>
              <a:ext cx="26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559" name="Text Box 31"/>
            <p:cNvSpPr txBox="1">
              <a:spLocks noChangeArrowheads="1"/>
            </p:cNvSpPr>
            <p:nvPr/>
          </p:nvSpPr>
          <p:spPr bwMode="auto">
            <a:xfrm>
              <a:off x="1902" y="109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6560" name="Line 32"/>
            <p:cNvSpPr>
              <a:spLocks noChangeShapeType="1"/>
            </p:cNvSpPr>
            <p:nvPr/>
          </p:nvSpPr>
          <p:spPr bwMode="auto">
            <a:xfrm>
              <a:off x="846" y="1434"/>
              <a:ext cx="38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561" name="Line 33"/>
            <p:cNvSpPr>
              <a:spLocks noChangeShapeType="1"/>
            </p:cNvSpPr>
            <p:nvPr/>
          </p:nvSpPr>
          <p:spPr bwMode="auto">
            <a:xfrm>
              <a:off x="990" y="1326"/>
              <a:ext cx="24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562" name="Line 34"/>
            <p:cNvSpPr>
              <a:spLocks noChangeShapeType="1"/>
            </p:cNvSpPr>
            <p:nvPr/>
          </p:nvSpPr>
          <p:spPr bwMode="auto">
            <a:xfrm>
              <a:off x="1230" y="1434"/>
              <a:ext cx="0" cy="64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563" name="Line 35"/>
            <p:cNvSpPr>
              <a:spLocks noChangeShapeType="1"/>
            </p:cNvSpPr>
            <p:nvPr/>
          </p:nvSpPr>
          <p:spPr bwMode="auto">
            <a:xfrm flipH="1" flipV="1">
              <a:off x="846" y="2082"/>
              <a:ext cx="38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564" name="Text Box 36"/>
            <p:cNvSpPr txBox="1">
              <a:spLocks noChangeArrowheads="1"/>
            </p:cNvSpPr>
            <p:nvPr/>
          </p:nvSpPr>
          <p:spPr bwMode="auto">
            <a:xfrm>
              <a:off x="734" y="1722"/>
              <a:ext cx="1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06565" name="Text Box 37"/>
            <p:cNvSpPr txBox="1">
              <a:spLocks noChangeArrowheads="1"/>
            </p:cNvSpPr>
            <p:nvPr/>
          </p:nvSpPr>
          <p:spPr bwMode="auto">
            <a:xfrm>
              <a:off x="654" y="1626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6566" name="Text Box 38"/>
            <p:cNvSpPr txBox="1">
              <a:spLocks noChangeArrowheads="1"/>
            </p:cNvSpPr>
            <p:nvPr/>
          </p:nvSpPr>
          <p:spPr bwMode="auto">
            <a:xfrm>
              <a:off x="714" y="1098"/>
              <a:ext cx="3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6567" name="Line 39"/>
            <p:cNvSpPr>
              <a:spLocks noChangeShapeType="1"/>
            </p:cNvSpPr>
            <p:nvPr/>
          </p:nvSpPr>
          <p:spPr bwMode="auto">
            <a:xfrm>
              <a:off x="1614" y="1674"/>
              <a:ext cx="0" cy="24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568" name="Oval 40"/>
            <p:cNvSpPr>
              <a:spLocks noChangeArrowheads="1"/>
            </p:cNvSpPr>
            <p:nvPr/>
          </p:nvSpPr>
          <p:spPr bwMode="auto">
            <a:xfrm>
              <a:off x="798" y="1404"/>
              <a:ext cx="48" cy="48"/>
            </a:xfrm>
            <a:prstGeom prst="ellipse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6569" name="Oval 41"/>
            <p:cNvSpPr>
              <a:spLocks noChangeArrowheads="1"/>
            </p:cNvSpPr>
            <p:nvPr/>
          </p:nvSpPr>
          <p:spPr bwMode="auto">
            <a:xfrm>
              <a:off x="846" y="2058"/>
              <a:ext cx="48" cy="48"/>
            </a:xfrm>
            <a:prstGeom prst="ellipse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6570" name="Oval 42"/>
            <p:cNvSpPr>
              <a:spLocks noChangeArrowheads="1"/>
            </p:cNvSpPr>
            <p:nvPr/>
          </p:nvSpPr>
          <p:spPr bwMode="auto">
            <a:xfrm>
              <a:off x="2142" y="1412"/>
              <a:ext cx="48" cy="48"/>
            </a:xfrm>
            <a:prstGeom prst="ellipse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6571" name="Oval 43"/>
            <p:cNvSpPr>
              <a:spLocks noChangeArrowheads="1"/>
            </p:cNvSpPr>
            <p:nvPr/>
          </p:nvSpPr>
          <p:spPr bwMode="auto">
            <a:xfrm>
              <a:off x="2142" y="2058"/>
              <a:ext cx="48" cy="48"/>
            </a:xfrm>
            <a:prstGeom prst="ellipse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6572" name="Text Box 44"/>
            <p:cNvSpPr txBox="1">
              <a:spLocks noChangeArrowheads="1"/>
            </p:cNvSpPr>
            <p:nvPr/>
          </p:nvSpPr>
          <p:spPr bwMode="auto">
            <a:xfrm>
              <a:off x="710" y="1382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</p:grpSp>
      <p:grpSp>
        <p:nvGrpSpPr>
          <p:cNvPr id="406573" name="Group 45"/>
          <p:cNvGrpSpPr>
            <a:grpSpLocks/>
          </p:cNvGrpSpPr>
          <p:nvPr/>
        </p:nvGrpSpPr>
        <p:grpSpPr bwMode="auto">
          <a:xfrm>
            <a:off x="1141413" y="4303713"/>
            <a:ext cx="2870200" cy="2133600"/>
            <a:chOff x="620" y="2828"/>
            <a:chExt cx="1808" cy="1344"/>
          </a:xfrm>
        </p:grpSpPr>
        <p:sp>
          <p:nvSpPr>
            <p:cNvPr id="406574" name="Line 46"/>
            <p:cNvSpPr>
              <a:spLocks noChangeShapeType="1"/>
            </p:cNvSpPr>
            <p:nvPr/>
          </p:nvSpPr>
          <p:spPr bwMode="auto">
            <a:xfrm>
              <a:off x="1420" y="3644"/>
              <a:ext cx="0" cy="16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575" name="Line 47"/>
            <p:cNvSpPr>
              <a:spLocks noChangeShapeType="1"/>
            </p:cNvSpPr>
            <p:nvPr/>
          </p:nvSpPr>
          <p:spPr bwMode="auto">
            <a:xfrm>
              <a:off x="1420" y="3812"/>
              <a:ext cx="67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576" name="Line 48"/>
            <p:cNvSpPr>
              <a:spLocks noChangeShapeType="1"/>
            </p:cNvSpPr>
            <p:nvPr/>
          </p:nvSpPr>
          <p:spPr bwMode="auto">
            <a:xfrm flipV="1">
              <a:off x="1420" y="3164"/>
              <a:ext cx="0" cy="19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577" name="Line 49"/>
            <p:cNvSpPr>
              <a:spLocks noChangeShapeType="1"/>
            </p:cNvSpPr>
            <p:nvPr/>
          </p:nvSpPr>
          <p:spPr bwMode="auto">
            <a:xfrm>
              <a:off x="1420" y="3164"/>
              <a:ext cx="67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578" name="Text Box 50"/>
            <p:cNvSpPr txBox="1">
              <a:spLocks noChangeArrowheads="1"/>
            </p:cNvSpPr>
            <p:nvPr/>
          </p:nvSpPr>
          <p:spPr bwMode="auto">
            <a:xfrm>
              <a:off x="716" y="3704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º</a:t>
              </a:r>
            </a:p>
          </p:txBody>
        </p:sp>
        <p:sp>
          <p:nvSpPr>
            <p:cNvPr id="406579" name="Line 51"/>
            <p:cNvSpPr>
              <a:spLocks noChangeShapeType="1"/>
            </p:cNvSpPr>
            <p:nvPr/>
          </p:nvSpPr>
          <p:spPr bwMode="auto">
            <a:xfrm>
              <a:off x="784" y="3164"/>
              <a:ext cx="38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580" name="Line 52"/>
            <p:cNvSpPr>
              <a:spLocks noChangeShapeType="1"/>
            </p:cNvSpPr>
            <p:nvPr/>
          </p:nvSpPr>
          <p:spPr bwMode="auto">
            <a:xfrm>
              <a:off x="916" y="3056"/>
              <a:ext cx="24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581" name="Line 53"/>
            <p:cNvSpPr>
              <a:spLocks noChangeShapeType="1"/>
            </p:cNvSpPr>
            <p:nvPr/>
          </p:nvSpPr>
          <p:spPr bwMode="auto">
            <a:xfrm>
              <a:off x="1168" y="3164"/>
              <a:ext cx="0" cy="64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582" name="Line 54"/>
            <p:cNvSpPr>
              <a:spLocks noChangeShapeType="1"/>
            </p:cNvSpPr>
            <p:nvPr/>
          </p:nvSpPr>
          <p:spPr bwMode="auto">
            <a:xfrm flipH="1" flipV="1">
              <a:off x="784" y="3812"/>
              <a:ext cx="38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583" name="Text Box 55"/>
            <p:cNvSpPr txBox="1">
              <a:spLocks noChangeArrowheads="1"/>
            </p:cNvSpPr>
            <p:nvPr/>
          </p:nvSpPr>
          <p:spPr bwMode="auto">
            <a:xfrm>
              <a:off x="676" y="3452"/>
              <a:ext cx="1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06584" name="Text Box 56"/>
            <p:cNvSpPr txBox="1">
              <a:spLocks noChangeArrowheads="1"/>
            </p:cNvSpPr>
            <p:nvPr/>
          </p:nvSpPr>
          <p:spPr bwMode="auto">
            <a:xfrm>
              <a:off x="628" y="3292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6585" name="Text Box 57"/>
            <p:cNvSpPr txBox="1">
              <a:spLocks noChangeArrowheads="1"/>
            </p:cNvSpPr>
            <p:nvPr/>
          </p:nvSpPr>
          <p:spPr bwMode="auto">
            <a:xfrm>
              <a:off x="620" y="2828"/>
              <a:ext cx="3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6586" name="Text Box 58"/>
            <p:cNvSpPr txBox="1">
              <a:spLocks noChangeArrowheads="1"/>
            </p:cNvSpPr>
            <p:nvPr/>
          </p:nvSpPr>
          <p:spPr bwMode="auto">
            <a:xfrm>
              <a:off x="1468" y="3332"/>
              <a:ext cx="4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endParaRPr kumimoji="1" lang="zh-CN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6587" name="Text Box 59"/>
            <p:cNvSpPr txBox="1">
              <a:spLocks noChangeArrowheads="1"/>
            </p:cNvSpPr>
            <p:nvPr/>
          </p:nvSpPr>
          <p:spPr bwMode="auto">
            <a:xfrm>
              <a:off x="2186" y="3116"/>
              <a:ext cx="1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06588" name="Text Box 60"/>
            <p:cNvSpPr txBox="1">
              <a:spLocks noChangeArrowheads="1"/>
            </p:cNvSpPr>
            <p:nvPr/>
          </p:nvSpPr>
          <p:spPr bwMode="auto">
            <a:xfrm>
              <a:off x="2188" y="3494"/>
              <a:ext cx="1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06589" name="Text Box 61"/>
            <p:cNvSpPr txBox="1">
              <a:spLocks noChangeArrowheads="1"/>
            </p:cNvSpPr>
            <p:nvPr/>
          </p:nvSpPr>
          <p:spPr bwMode="auto">
            <a:xfrm>
              <a:off x="2104" y="3344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6590" name="Line 62"/>
            <p:cNvSpPr>
              <a:spLocks noChangeShapeType="1"/>
            </p:cNvSpPr>
            <p:nvPr/>
          </p:nvSpPr>
          <p:spPr bwMode="auto">
            <a:xfrm flipH="1">
              <a:off x="1504" y="3056"/>
              <a:ext cx="26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591" name="Text Box 63"/>
            <p:cNvSpPr txBox="1">
              <a:spLocks noChangeArrowheads="1"/>
            </p:cNvSpPr>
            <p:nvPr/>
          </p:nvSpPr>
          <p:spPr bwMode="auto">
            <a:xfrm>
              <a:off x="968" y="3884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CCVS</a:t>
              </a:r>
            </a:p>
          </p:txBody>
        </p:sp>
        <p:sp>
          <p:nvSpPr>
            <p:cNvPr id="406592" name="AutoShape 64"/>
            <p:cNvSpPr>
              <a:spLocks noChangeArrowheads="1"/>
            </p:cNvSpPr>
            <p:nvPr/>
          </p:nvSpPr>
          <p:spPr bwMode="auto">
            <a:xfrm rot="-5400000">
              <a:off x="1255" y="3395"/>
              <a:ext cx="318" cy="180"/>
            </a:xfrm>
            <a:prstGeom prst="flowChartSort">
              <a:avLst/>
            </a:prstGeom>
            <a:noFill/>
            <a:ln w="28575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E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593" name="Text Box 65"/>
            <p:cNvSpPr txBox="1">
              <a:spLocks noChangeArrowheads="1"/>
            </p:cNvSpPr>
            <p:nvPr/>
          </p:nvSpPr>
          <p:spPr bwMode="auto">
            <a:xfrm>
              <a:off x="1420" y="3116"/>
              <a:ext cx="1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06594" name="Text Box 66"/>
            <p:cNvSpPr txBox="1">
              <a:spLocks noChangeArrowheads="1"/>
            </p:cNvSpPr>
            <p:nvPr/>
          </p:nvSpPr>
          <p:spPr bwMode="auto">
            <a:xfrm>
              <a:off x="1432" y="3452"/>
              <a:ext cx="1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06595" name="Line 67"/>
            <p:cNvSpPr>
              <a:spLocks noChangeShapeType="1"/>
            </p:cNvSpPr>
            <p:nvPr/>
          </p:nvSpPr>
          <p:spPr bwMode="auto">
            <a:xfrm>
              <a:off x="1420" y="3644"/>
              <a:ext cx="0" cy="16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596" name="Line 68"/>
            <p:cNvSpPr>
              <a:spLocks noChangeShapeType="1"/>
            </p:cNvSpPr>
            <p:nvPr/>
          </p:nvSpPr>
          <p:spPr bwMode="auto">
            <a:xfrm>
              <a:off x="1420" y="3812"/>
              <a:ext cx="67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597" name="Line 69"/>
            <p:cNvSpPr>
              <a:spLocks noChangeShapeType="1"/>
            </p:cNvSpPr>
            <p:nvPr/>
          </p:nvSpPr>
          <p:spPr bwMode="auto">
            <a:xfrm flipV="1">
              <a:off x="1420" y="3164"/>
              <a:ext cx="0" cy="19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598" name="Line 70"/>
            <p:cNvSpPr>
              <a:spLocks noChangeShapeType="1"/>
            </p:cNvSpPr>
            <p:nvPr/>
          </p:nvSpPr>
          <p:spPr bwMode="auto">
            <a:xfrm>
              <a:off x="1420" y="3164"/>
              <a:ext cx="67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599" name="Text Box 71"/>
            <p:cNvSpPr txBox="1">
              <a:spLocks noChangeArrowheads="1"/>
            </p:cNvSpPr>
            <p:nvPr/>
          </p:nvSpPr>
          <p:spPr bwMode="auto">
            <a:xfrm>
              <a:off x="716" y="3704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º</a:t>
              </a:r>
            </a:p>
          </p:txBody>
        </p:sp>
        <p:sp>
          <p:nvSpPr>
            <p:cNvPr id="406600" name="Line 72"/>
            <p:cNvSpPr>
              <a:spLocks noChangeShapeType="1"/>
            </p:cNvSpPr>
            <p:nvPr/>
          </p:nvSpPr>
          <p:spPr bwMode="auto">
            <a:xfrm>
              <a:off x="784" y="3164"/>
              <a:ext cx="38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601" name="Line 73"/>
            <p:cNvSpPr>
              <a:spLocks noChangeShapeType="1"/>
            </p:cNvSpPr>
            <p:nvPr/>
          </p:nvSpPr>
          <p:spPr bwMode="auto">
            <a:xfrm>
              <a:off x="916" y="3056"/>
              <a:ext cx="24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602" name="Line 74"/>
            <p:cNvSpPr>
              <a:spLocks noChangeShapeType="1"/>
            </p:cNvSpPr>
            <p:nvPr/>
          </p:nvSpPr>
          <p:spPr bwMode="auto">
            <a:xfrm>
              <a:off x="1168" y="3164"/>
              <a:ext cx="0" cy="64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603" name="Line 75"/>
            <p:cNvSpPr>
              <a:spLocks noChangeShapeType="1"/>
            </p:cNvSpPr>
            <p:nvPr/>
          </p:nvSpPr>
          <p:spPr bwMode="auto">
            <a:xfrm flipH="1" flipV="1">
              <a:off x="784" y="3812"/>
              <a:ext cx="38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604" name="Text Box 76"/>
            <p:cNvSpPr txBox="1">
              <a:spLocks noChangeArrowheads="1"/>
            </p:cNvSpPr>
            <p:nvPr/>
          </p:nvSpPr>
          <p:spPr bwMode="auto">
            <a:xfrm>
              <a:off x="676" y="3452"/>
              <a:ext cx="1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06605" name="Text Box 77"/>
            <p:cNvSpPr txBox="1">
              <a:spLocks noChangeArrowheads="1"/>
            </p:cNvSpPr>
            <p:nvPr/>
          </p:nvSpPr>
          <p:spPr bwMode="auto">
            <a:xfrm>
              <a:off x="1412" y="3317"/>
              <a:ext cx="5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 r i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6606" name="Text Box 78"/>
            <p:cNvSpPr txBox="1">
              <a:spLocks noChangeArrowheads="1"/>
            </p:cNvSpPr>
            <p:nvPr/>
          </p:nvSpPr>
          <p:spPr bwMode="auto">
            <a:xfrm>
              <a:off x="2186" y="3116"/>
              <a:ext cx="1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06607" name="Text Box 79"/>
            <p:cNvSpPr txBox="1">
              <a:spLocks noChangeArrowheads="1"/>
            </p:cNvSpPr>
            <p:nvPr/>
          </p:nvSpPr>
          <p:spPr bwMode="auto">
            <a:xfrm>
              <a:off x="2188" y="3494"/>
              <a:ext cx="1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06608" name="Text Box 80"/>
            <p:cNvSpPr txBox="1">
              <a:spLocks noChangeArrowheads="1"/>
            </p:cNvSpPr>
            <p:nvPr/>
          </p:nvSpPr>
          <p:spPr bwMode="auto">
            <a:xfrm>
              <a:off x="2104" y="3344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6609" name="Line 81"/>
            <p:cNvSpPr>
              <a:spLocks noChangeShapeType="1"/>
            </p:cNvSpPr>
            <p:nvPr/>
          </p:nvSpPr>
          <p:spPr bwMode="auto">
            <a:xfrm flipH="1">
              <a:off x="1504" y="3056"/>
              <a:ext cx="26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6610" name="Text Box 82"/>
            <p:cNvSpPr txBox="1">
              <a:spLocks noChangeArrowheads="1"/>
            </p:cNvSpPr>
            <p:nvPr/>
          </p:nvSpPr>
          <p:spPr bwMode="auto">
            <a:xfrm>
              <a:off x="1804" y="2828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6611" name="Text Box 83"/>
            <p:cNvSpPr txBox="1">
              <a:spLocks noChangeArrowheads="1"/>
            </p:cNvSpPr>
            <p:nvPr/>
          </p:nvSpPr>
          <p:spPr bwMode="auto">
            <a:xfrm>
              <a:off x="968" y="3884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CCVS</a:t>
              </a:r>
            </a:p>
          </p:txBody>
        </p:sp>
        <p:sp>
          <p:nvSpPr>
            <p:cNvPr id="406612" name="Text Box 84"/>
            <p:cNvSpPr txBox="1">
              <a:spLocks noChangeArrowheads="1"/>
            </p:cNvSpPr>
            <p:nvPr/>
          </p:nvSpPr>
          <p:spPr bwMode="auto">
            <a:xfrm>
              <a:off x="1420" y="3116"/>
              <a:ext cx="1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06613" name="Text Box 85"/>
            <p:cNvSpPr txBox="1">
              <a:spLocks noChangeArrowheads="1"/>
            </p:cNvSpPr>
            <p:nvPr/>
          </p:nvSpPr>
          <p:spPr bwMode="auto">
            <a:xfrm>
              <a:off x="1432" y="3452"/>
              <a:ext cx="1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06614" name="Oval 86"/>
            <p:cNvSpPr>
              <a:spLocks noChangeArrowheads="1"/>
            </p:cNvSpPr>
            <p:nvPr/>
          </p:nvSpPr>
          <p:spPr bwMode="auto">
            <a:xfrm>
              <a:off x="736" y="3134"/>
              <a:ext cx="48" cy="48"/>
            </a:xfrm>
            <a:prstGeom prst="ellipse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6615" name="Oval 87"/>
            <p:cNvSpPr>
              <a:spLocks noChangeArrowheads="1"/>
            </p:cNvSpPr>
            <p:nvPr/>
          </p:nvSpPr>
          <p:spPr bwMode="auto">
            <a:xfrm>
              <a:off x="784" y="3788"/>
              <a:ext cx="48" cy="48"/>
            </a:xfrm>
            <a:prstGeom prst="ellipse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6616" name="Oval 88"/>
            <p:cNvSpPr>
              <a:spLocks noChangeArrowheads="1"/>
            </p:cNvSpPr>
            <p:nvPr/>
          </p:nvSpPr>
          <p:spPr bwMode="auto">
            <a:xfrm>
              <a:off x="2048" y="3788"/>
              <a:ext cx="48" cy="48"/>
            </a:xfrm>
            <a:prstGeom prst="ellipse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6617" name="Oval 89"/>
            <p:cNvSpPr>
              <a:spLocks noChangeArrowheads="1"/>
            </p:cNvSpPr>
            <p:nvPr/>
          </p:nvSpPr>
          <p:spPr bwMode="auto">
            <a:xfrm>
              <a:off x="2056" y="3140"/>
              <a:ext cx="48" cy="48"/>
            </a:xfrm>
            <a:prstGeom prst="ellipse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6618" name="Text Box 90"/>
            <p:cNvSpPr txBox="1">
              <a:spLocks noChangeArrowheads="1"/>
            </p:cNvSpPr>
            <p:nvPr/>
          </p:nvSpPr>
          <p:spPr bwMode="auto">
            <a:xfrm>
              <a:off x="654" y="3108"/>
              <a:ext cx="1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06619" name="Text Box 91"/>
            <p:cNvSpPr txBox="1">
              <a:spLocks noChangeArrowheads="1"/>
            </p:cNvSpPr>
            <p:nvPr/>
          </p:nvSpPr>
          <p:spPr bwMode="auto">
            <a:xfrm>
              <a:off x="654" y="3108"/>
              <a:ext cx="1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just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62620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06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6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06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065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065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065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4065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065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065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065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065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06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406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406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406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065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065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406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06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06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06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6532" grpId="0" autoUpdateAnimBg="0"/>
      <p:bldP spid="406533" grpId="0" autoUpdateAnimBg="0"/>
      <p:bldP spid="406534" grpId="0" autoUpdateAnimBg="0"/>
      <p:bldP spid="406543" grpId="0" autoUpdateAnimBg="0"/>
      <p:bldP spid="406544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580" name="Text Box 4"/>
          <p:cNvSpPr txBox="1">
            <a:spLocks noChangeArrowheads="1"/>
          </p:cNvSpPr>
          <p:nvPr/>
        </p:nvSpPr>
        <p:spPr bwMode="auto">
          <a:xfrm>
            <a:off x="5508625" y="2276475"/>
            <a:ext cx="2228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g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:  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转移电导 </a:t>
            </a:r>
          </a:p>
        </p:txBody>
      </p:sp>
      <p:sp>
        <p:nvSpPr>
          <p:cNvPr id="408581" name="Text Box 5"/>
          <p:cNvSpPr txBox="1">
            <a:spLocks noChangeArrowheads="1"/>
          </p:cNvSpPr>
          <p:nvPr/>
        </p:nvSpPr>
        <p:spPr bwMode="auto">
          <a:xfrm>
            <a:off x="5688013" y="5229225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</a:t>
            </a: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: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电压放大倍数</a:t>
            </a:r>
          </a:p>
        </p:txBody>
      </p:sp>
      <p:grpSp>
        <p:nvGrpSpPr>
          <p:cNvPr id="408582" name="Group 6"/>
          <p:cNvGrpSpPr>
            <a:grpSpLocks/>
          </p:cNvGrpSpPr>
          <p:nvPr/>
        </p:nvGrpSpPr>
        <p:grpSpPr bwMode="auto">
          <a:xfrm>
            <a:off x="5311775" y="990600"/>
            <a:ext cx="1524000" cy="1065213"/>
            <a:chOff x="2448" y="721"/>
            <a:chExt cx="960" cy="671"/>
          </a:xfrm>
        </p:grpSpPr>
        <p:sp>
          <p:nvSpPr>
            <p:cNvPr id="408583" name="Text Box 7"/>
            <p:cNvSpPr txBox="1">
              <a:spLocks noChangeArrowheads="1"/>
            </p:cNvSpPr>
            <p:nvPr/>
          </p:nvSpPr>
          <p:spPr bwMode="auto">
            <a:xfrm>
              <a:off x="2448" y="721"/>
              <a:ext cx="466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6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{</a:t>
              </a:r>
              <a:endParaRPr kumimoji="1" lang="en-US" altLang="zh-CN" sz="60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8584" name="Text Box 8"/>
            <p:cNvSpPr txBox="1">
              <a:spLocks noChangeArrowheads="1"/>
            </p:cNvSpPr>
            <p:nvPr/>
          </p:nvSpPr>
          <p:spPr bwMode="auto">
            <a:xfrm>
              <a:off x="2640" y="768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i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=0</a:t>
              </a:r>
            </a:p>
          </p:txBody>
        </p:sp>
        <p:sp>
          <p:nvSpPr>
            <p:cNvPr id="408585" name="Text Box 9"/>
            <p:cNvSpPr txBox="1">
              <a:spLocks noChangeArrowheads="1"/>
            </p:cNvSpPr>
            <p:nvPr/>
          </p:nvSpPr>
          <p:spPr bwMode="auto">
            <a:xfrm>
              <a:off x="2688" y="1104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=</a:t>
              </a: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g u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</p:grpSp>
      <p:grpSp>
        <p:nvGrpSpPr>
          <p:cNvPr id="408586" name="Group 10"/>
          <p:cNvGrpSpPr>
            <a:grpSpLocks/>
          </p:cNvGrpSpPr>
          <p:nvPr/>
        </p:nvGrpSpPr>
        <p:grpSpPr bwMode="auto">
          <a:xfrm>
            <a:off x="5311775" y="4038600"/>
            <a:ext cx="1755775" cy="1065213"/>
            <a:chOff x="2448" y="721"/>
            <a:chExt cx="960" cy="671"/>
          </a:xfrm>
        </p:grpSpPr>
        <p:sp>
          <p:nvSpPr>
            <p:cNvPr id="408587" name="Text Box 11"/>
            <p:cNvSpPr txBox="1">
              <a:spLocks noChangeArrowheads="1"/>
            </p:cNvSpPr>
            <p:nvPr/>
          </p:nvSpPr>
          <p:spPr bwMode="auto">
            <a:xfrm>
              <a:off x="2448" y="721"/>
              <a:ext cx="466" cy="6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6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{</a:t>
              </a:r>
              <a:endParaRPr kumimoji="1" lang="en-US" altLang="zh-CN" sz="60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8588" name="Text Box 12"/>
            <p:cNvSpPr txBox="1">
              <a:spLocks noChangeArrowheads="1"/>
            </p:cNvSpPr>
            <p:nvPr/>
          </p:nvSpPr>
          <p:spPr bwMode="auto">
            <a:xfrm>
              <a:off x="2640" y="768"/>
              <a:ext cx="67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 i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=0</a:t>
              </a:r>
            </a:p>
          </p:txBody>
        </p:sp>
        <p:sp>
          <p:nvSpPr>
            <p:cNvPr id="408589" name="Text Box 13"/>
            <p:cNvSpPr txBox="1">
              <a:spLocks noChangeArrowheads="1"/>
            </p:cNvSpPr>
            <p:nvPr/>
          </p:nvSpPr>
          <p:spPr bwMode="auto">
            <a:xfrm>
              <a:off x="2688" y="1104"/>
              <a:ext cx="7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= </a:t>
              </a:r>
              <a:r>
                <a:rPr kumimoji="1" lang="en-US" altLang="zh-CN" sz="2400" b="1" i="1">
                  <a:solidFill>
                    <a:schemeClr val="tx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</a:t>
              </a:r>
              <a:r>
                <a:rPr kumimoji="1" lang="en-US" altLang="zh-CN" sz="2400" b="1">
                  <a:solidFill>
                    <a:schemeClr val="tx2"/>
                  </a:solidFill>
                  <a:latin typeface="Symbol" panose="05050102010706020507" pitchFamily="18" charset="2"/>
                  <a:sym typeface="Symbol" panose="05050102010706020507" pitchFamily="18" charset="2"/>
                </a:rPr>
                <a:t> </a:t>
              </a: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</a:p>
          </p:txBody>
        </p:sp>
      </p:grpSp>
      <p:sp>
        <p:nvSpPr>
          <p:cNvPr id="408590" name="Text Box 14"/>
          <p:cNvSpPr txBox="1">
            <a:spLocks noChangeArrowheads="1"/>
          </p:cNvSpPr>
          <p:nvPr/>
        </p:nvSpPr>
        <p:spPr bwMode="auto">
          <a:xfrm>
            <a:off x="228600" y="361950"/>
            <a:ext cx="84820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(3) </a:t>
            </a:r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电压控制的电流源 （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Voltage  Controlled Current Source</a:t>
            </a:r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</a:p>
        </p:txBody>
      </p:sp>
      <p:sp>
        <p:nvSpPr>
          <p:cNvPr id="408591" name="Text Box 15"/>
          <p:cNvSpPr txBox="1">
            <a:spLocks noChangeArrowheads="1"/>
          </p:cNvSpPr>
          <p:nvPr/>
        </p:nvSpPr>
        <p:spPr bwMode="auto">
          <a:xfrm>
            <a:off x="280988" y="3486150"/>
            <a:ext cx="84820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(4) </a:t>
            </a:r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电压控制的电压源 （</a:t>
            </a:r>
            <a:r>
              <a:rPr kumimoji="1" lang="en-US" altLang="zh-CN" sz="2400" b="1">
                <a:latin typeface="Times New Roman" panose="02020603050405020304" pitchFamily="18" charset="0"/>
                <a:sym typeface="Symbol" panose="05050102010706020507" pitchFamily="18" charset="2"/>
              </a:rPr>
              <a:t>Voltage  Controlled Voltage Source</a:t>
            </a:r>
            <a:r>
              <a:rPr kumimoji="1" lang="zh-CN" altLang="en-US" sz="2400" b="1">
                <a:latin typeface="Times New Roman" panose="02020603050405020304" pitchFamily="18" charset="0"/>
                <a:sym typeface="Symbol" panose="05050102010706020507" pitchFamily="18" charset="2"/>
              </a:rPr>
              <a:t>）</a:t>
            </a:r>
          </a:p>
        </p:txBody>
      </p:sp>
      <p:grpSp>
        <p:nvGrpSpPr>
          <p:cNvPr id="408592" name="Group 16"/>
          <p:cNvGrpSpPr>
            <a:grpSpLocks/>
          </p:cNvGrpSpPr>
          <p:nvPr/>
        </p:nvGrpSpPr>
        <p:grpSpPr bwMode="auto">
          <a:xfrm>
            <a:off x="1320800" y="819150"/>
            <a:ext cx="3048000" cy="2095500"/>
            <a:chOff x="832" y="516"/>
            <a:chExt cx="1920" cy="1320"/>
          </a:xfrm>
        </p:grpSpPr>
        <p:sp>
          <p:nvSpPr>
            <p:cNvPr id="408593" name="Text Box 17"/>
            <p:cNvSpPr txBox="1">
              <a:spLocks noChangeArrowheads="1"/>
            </p:cNvSpPr>
            <p:nvPr/>
          </p:nvSpPr>
          <p:spPr bwMode="auto">
            <a:xfrm>
              <a:off x="1132" y="1548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VCCS</a:t>
              </a:r>
            </a:p>
          </p:txBody>
        </p:sp>
        <p:sp>
          <p:nvSpPr>
            <p:cNvPr id="408594" name="AutoShape 18"/>
            <p:cNvSpPr>
              <a:spLocks noChangeArrowheads="1"/>
            </p:cNvSpPr>
            <p:nvPr/>
          </p:nvSpPr>
          <p:spPr bwMode="auto">
            <a:xfrm>
              <a:off x="1564" y="1044"/>
              <a:ext cx="192" cy="288"/>
            </a:xfrm>
            <a:prstGeom prst="flowChartSort">
              <a:avLst/>
            </a:prstGeom>
            <a:noFill/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E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8595" name="Line 19"/>
            <p:cNvSpPr>
              <a:spLocks noChangeShapeType="1"/>
            </p:cNvSpPr>
            <p:nvPr/>
          </p:nvSpPr>
          <p:spPr bwMode="auto">
            <a:xfrm>
              <a:off x="1660" y="1332"/>
              <a:ext cx="0" cy="16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8596" name="Line 20"/>
            <p:cNvSpPr>
              <a:spLocks noChangeShapeType="1"/>
            </p:cNvSpPr>
            <p:nvPr/>
          </p:nvSpPr>
          <p:spPr bwMode="auto">
            <a:xfrm>
              <a:off x="1660" y="1500"/>
              <a:ext cx="67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8597" name="Line 21"/>
            <p:cNvSpPr>
              <a:spLocks noChangeShapeType="1"/>
            </p:cNvSpPr>
            <p:nvPr/>
          </p:nvSpPr>
          <p:spPr bwMode="auto">
            <a:xfrm flipV="1">
              <a:off x="1660" y="852"/>
              <a:ext cx="0" cy="19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8598" name="Line 22"/>
            <p:cNvSpPr>
              <a:spLocks noChangeShapeType="1"/>
            </p:cNvSpPr>
            <p:nvPr/>
          </p:nvSpPr>
          <p:spPr bwMode="auto">
            <a:xfrm>
              <a:off x="1660" y="852"/>
              <a:ext cx="67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8599" name="Text Box 23"/>
            <p:cNvSpPr txBox="1">
              <a:spLocks noChangeArrowheads="1"/>
            </p:cNvSpPr>
            <p:nvPr/>
          </p:nvSpPr>
          <p:spPr bwMode="auto">
            <a:xfrm>
              <a:off x="1780" y="1050"/>
              <a:ext cx="42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gu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8600" name="Text Box 24"/>
            <p:cNvSpPr txBox="1">
              <a:spLocks noChangeArrowheads="1"/>
            </p:cNvSpPr>
            <p:nvPr/>
          </p:nvSpPr>
          <p:spPr bwMode="auto">
            <a:xfrm>
              <a:off x="2464" y="756"/>
              <a:ext cx="1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08601" name="Text Box 25"/>
            <p:cNvSpPr txBox="1">
              <a:spLocks noChangeArrowheads="1"/>
            </p:cNvSpPr>
            <p:nvPr/>
          </p:nvSpPr>
          <p:spPr bwMode="auto">
            <a:xfrm>
              <a:off x="2464" y="1260"/>
              <a:ext cx="22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08602" name="Text Box 26"/>
            <p:cNvSpPr txBox="1">
              <a:spLocks noChangeArrowheads="1"/>
            </p:cNvSpPr>
            <p:nvPr/>
          </p:nvSpPr>
          <p:spPr bwMode="auto">
            <a:xfrm>
              <a:off x="2428" y="1044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8603" name="Line 27"/>
            <p:cNvSpPr>
              <a:spLocks noChangeShapeType="1"/>
            </p:cNvSpPr>
            <p:nvPr/>
          </p:nvSpPr>
          <p:spPr bwMode="auto">
            <a:xfrm flipH="1">
              <a:off x="1816" y="744"/>
              <a:ext cx="26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8604" name="Text Box 28"/>
            <p:cNvSpPr txBox="1">
              <a:spLocks noChangeArrowheads="1"/>
            </p:cNvSpPr>
            <p:nvPr/>
          </p:nvSpPr>
          <p:spPr bwMode="auto">
            <a:xfrm>
              <a:off x="2080" y="51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8605" name="Text Box 29"/>
            <p:cNvSpPr txBox="1">
              <a:spLocks noChangeArrowheads="1"/>
            </p:cNvSpPr>
            <p:nvPr/>
          </p:nvSpPr>
          <p:spPr bwMode="auto">
            <a:xfrm>
              <a:off x="956" y="1392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º</a:t>
              </a:r>
            </a:p>
          </p:txBody>
        </p:sp>
        <p:sp>
          <p:nvSpPr>
            <p:cNvPr id="408606" name="Line 30"/>
            <p:cNvSpPr>
              <a:spLocks noChangeShapeType="1"/>
            </p:cNvSpPr>
            <p:nvPr/>
          </p:nvSpPr>
          <p:spPr bwMode="auto">
            <a:xfrm>
              <a:off x="1024" y="852"/>
              <a:ext cx="38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8607" name="Line 31"/>
            <p:cNvSpPr>
              <a:spLocks noChangeShapeType="1"/>
            </p:cNvSpPr>
            <p:nvPr/>
          </p:nvSpPr>
          <p:spPr bwMode="auto">
            <a:xfrm>
              <a:off x="1168" y="744"/>
              <a:ext cx="24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8608" name="Line 32"/>
            <p:cNvSpPr>
              <a:spLocks noChangeShapeType="1"/>
            </p:cNvSpPr>
            <p:nvPr/>
          </p:nvSpPr>
          <p:spPr bwMode="auto">
            <a:xfrm flipH="1" flipV="1">
              <a:off x="1024" y="1500"/>
              <a:ext cx="38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8609" name="Text Box 33"/>
            <p:cNvSpPr txBox="1">
              <a:spLocks noChangeArrowheads="1"/>
            </p:cNvSpPr>
            <p:nvPr/>
          </p:nvSpPr>
          <p:spPr bwMode="auto">
            <a:xfrm>
              <a:off x="944" y="744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º</a:t>
              </a:r>
            </a:p>
          </p:txBody>
        </p:sp>
        <p:sp>
          <p:nvSpPr>
            <p:cNvPr id="408610" name="Text Box 34"/>
            <p:cNvSpPr txBox="1">
              <a:spLocks noChangeArrowheads="1"/>
            </p:cNvSpPr>
            <p:nvPr/>
          </p:nvSpPr>
          <p:spPr bwMode="auto">
            <a:xfrm>
              <a:off x="926" y="864"/>
              <a:ext cx="1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08611" name="Text Box 35"/>
            <p:cNvSpPr txBox="1">
              <a:spLocks noChangeArrowheads="1"/>
            </p:cNvSpPr>
            <p:nvPr/>
          </p:nvSpPr>
          <p:spPr bwMode="auto">
            <a:xfrm>
              <a:off x="916" y="1140"/>
              <a:ext cx="1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08612" name="Text Box 36"/>
            <p:cNvSpPr txBox="1">
              <a:spLocks noChangeArrowheads="1"/>
            </p:cNvSpPr>
            <p:nvPr/>
          </p:nvSpPr>
          <p:spPr bwMode="auto">
            <a:xfrm>
              <a:off x="832" y="1044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8613" name="Text Box 37"/>
            <p:cNvSpPr txBox="1">
              <a:spLocks noChangeArrowheads="1"/>
            </p:cNvSpPr>
            <p:nvPr/>
          </p:nvSpPr>
          <p:spPr bwMode="auto">
            <a:xfrm>
              <a:off x="892" y="516"/>
              <a:ext cx="3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8614" name="Line 38"/>
            <p:cNvSpPr>
              <a:spLocks noChangeShapeType="1"/>
            </p:cNvSpPr>
            <p:nvPr/>
          </p:nvSpPr>
          <p:spPr bwMode="auto">
            <a:xfrm>
              <a:off x="1792" y="1092"/>
              <a:ext cx="0" cy="246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8615" name="Oval 39"/>
            <p:cNvSpPr>
              <a:spLocks noChangeArrowheads="1"/>
            </p:cNvSpPr>
            <p:nvPr/>
          </p:nvSpPr>
          <p:spPr bwMode="auto">
            <a:xfrm>
              <a:off x="1392" y="1488"/>
              <a:ext cx="48" cy="48"/>
            </a:xfrm>
            <a:prstGeom prst="ellipse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8616" name="Oval 40"/>
            <p:cNvSpPr>
              <a:spLocks noChangeArrowheads="1"/>
            </p:cNvSpPr>
            <p:nvPr/>
          </p:nvSpPr>
          <p:spPr bwMode="auto">
            <a:xfrm>
              <a:off x="1344" y="816"/>
              <a:ext cx="48" cy="48"/>
            </a:xfrm>
            <a:prstGeom prst="ellipse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8617" name="Oval 41"/>
            <p:cNvSpPr>
              <a:spLocks noChangeArrowheads="1"/>
            </p:cNvSpPr>
            <p:nvPr/>
          </p:nvSpPr>
          <p:spPr bwMode="auto">
            <a:xfrm>
              <a:off x="2304" y="816"/>
              <a:ext cx="48" cy="48"/>
            </a:xfrm>
            <a:prstGeom prst="ellipse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8618" name="Oval 42"/>
            <p:cNvSpPr>
              <a:spLocks noChangeArrowheads="1"/>
            </p:cNvSpPr>
            <p:nvPr/>
          </p:nvSpPr>
          <p:spPr bwMode="auto">
            <a:xfrm>
              <a:off x="2304" y="1488"/>
              <a:ext cx="48" cy="48"/>
            </a:xfrm>
            <a:prstGeom prst="ellipse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08619" name="Group 43"/>
          <p:cNvGrpSpPr>
            <a:grpSpLocks/>
          </p:cNvGrpSpPr>
          <p:nvPr/>
        </p:nvGrpSpPr>
        <p:grpSpPr bwMode="auto">
          <a:xfrm>
            <a:off x="1352550" y="3943350"/>
            <a:ext cx="2914650" cy="2133600"/>
            <a:chOff x="852" y="2484"/>
            <a:chExt cx="1836" cy="1344"/>
          </a:xfrm>
        </p:grpSpPr>
        <p:sp>
          <p:nvSpPr>
            <p:cNvPr id="408620" name="Line 44"/>
            <p:cNvSpPr>
              <a:spLocks noChangeShapeType="1"/>
            </p:cNvSpPr>
            <p:nvPr/>
          </p:nvSpPr>
          <p:spPr bwMode="auto">
            <a:xfrm>
              <a:off x="1680" y="3300"/>
              <a:ext cx="0" cy="168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8621" name="Line 45"/>
            <p:cNvSpPr>
              <a:spLocks noChangeShapeType="1"/>
            </p:cNvSpPr>
            <p:nvPr/>
          </p:nvSpPr>
          <p:spPr bwMode="auto">
            <a:xfrm>
              <a:off x="1680" y="3468"/>
              <a:ext cx="67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8622" name="Line 46"/>
            <p:cNvSpPr>
              <a:spLocks noChangeShapeType="1"/>
            </p:cNvSpPr>
            <p:nvPr/>
          </p:nvSpPr>
          <p:spPr bwMode="auto">
            <a:xfrm flipV="1">
              <a:off x="1680" y="2820"/>
              <a:ext cx="0" cy="192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8623" name="Line 47"/>
            <p:cNvSpPr>
              <a:spLocks noChangeShapeType="1"/>
            </p:cNvSpPr>
            <p:nvPr/>
          </p:nvSpPr>
          <p:spPr bwMode="auto">
            <a:xfrm>
              <a:off x="1680" y="2820"/>
              <a:ext cx="672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8624" name="Line 48"/>
            <p:cNvSpPr>
              <a:spLocks noChangeShapeType="1"/>
            </p:cNvSpPr>
            <p:nvPr/>
          </p:nvSpPr>
          <p:spPr bwMode="auto">
            <a:xfrm>
              <a:off x="1044" y="2820"/>
              <a:ext cx="38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8625" name="Line 49"/>
            <p:cNvSpPr>
              <a:spLocks noChangeShapeType="1"/>
            </p:cNvSpPr>
            <p:nvPr/>
          </p:nvSpPr>
          <p:spPr bwMode="auto">
            <a:xfrm>
              <a:off x="1176" y="2712"/>
              <a:ext cx="240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8626" name="Line 50"/>
            <p:cNvSpPr>
              <a:spLocks noChangeShapeType="1"/>
            </p:cNvSpPr>
            <p:nvPr/>
          </p:nvSpPr>
          <p:spPr bwMode="auto">
            <a:xfrm flipH="1" flipV="1">
              <a:off x="1044" y="3468"/>
              <a:ext cx="38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8627" name="Text Box 51"/>
            <p:cNvSpPr txBox="1">
              <a:spLocks noChangeArrowheads="1"/>
            </p:cNvSpPr>
            <p:nvPr/>
          </p:nvSpPr>
          <p:spPr bwMode="auto">
            <a:xfrm>
              <a:off x="936" y="3108"/>
              <a:ext cx="1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08628" name="Text Box 52"/>
            <p:cNvSpPr txBox="1">
              <a:spLocks noChangeArrowheads="1"/>
            </p:cNvSpPr>
            <p:nvPr/>
          </p:nvSpPr>
          <p:spPr bwMode="auto">
            <a:xfrm>
              <a:off x="852" y="3012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8629" name="Text Box 53"/>
            <p:cNvSpPr txBox="1">
              <a:spLocks noChangeArrowheads="1"/>
            </p:cNvSpPr>
            <p:nvPr/>
          </p:nvSpPr>
          <p:spPr bwMode="auto">
            <a:xfrm>
              <a:off x="880" y="2484"/>
              <a:ext cx="34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8630" name="Text Box 54"/>
            <p:cNvSpPr txBox="1">
              <a:spLocks noChangeArrowheads="1"/>
            </p:cNvSpPr>
            <p:nvPr/>
          </p:nvSpPr>
          <p:spPr bwMode="auto">
            <a:xfrm>
              <a:off x="1656" y="2964"/>
              <a:ext cx="58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 u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1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8631" name="Text Box 55"/>
            <p:cNvSpPr txBox="1">
              <a:spLocks noChangeArrowheads="1"/>
            </p:cNvSpPr>
            <p:nvPr/>
          </p:nvSpPr>
          <p:spPr bwMode="auto">
            <a:xfrm>
              <a:off x="2446" y="2772"/>
              <a:ext cx="1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08632" name="Text Box 56"/>
            <p:cNvSpPr txBox="1">
              <a:spLocks noChangeArrowheads="1"/>
            </p:cNvSpPr>
            <p:nvPr/>
          </p:nvSpPr>
          <p:spPr bwMode="auto">
            <a:xfrm>
              <a:off x="2448" y="3150"/>
              <a:ext cx="1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08633" name="Text Box 57"/>
            <p:cNvSpPr txBox="1">
              <a:spLocks noChangeArrowheads="1"/>
            </p:cNvSpPr>
            <p:nvPr/>
          </p:nvSpPr>
          <p:spPr bwMode="auto">
            <a:xfrm>
              <a:off x="2364" y="3000"/>
              <a:ext cx="32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u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8634" name="Line 58"/>
            <p:cNvSpPr>
              <a:spLocks noChangeShapeType="1"/>
            </p:cNvSpPr>
            <p:nvPr/>
          </p:nvSpPr>
          <p:spPr bwMode="auto">
            <a:xfrm flipH="1">
              <a:off x="1764" y="2712"/>
              <a:ext cx="26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 type="stealth" w="sm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8635" name="Text Box 59"/>
            <p:cNvSpPr txBox="1">
              <a:spLocks noChangeArrowheads="1"/>
            </p:cNvSpPr>
            <p:nvPr/>
          </p:nvSpPr>
          <p:spPr bwMode="auto">
            <a:xfrm>
              <a:off x="2064" y="2484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 i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i</a:t>
              </a:r>
              <a:r>
                <a:rPr kumimoji="1" lang="en-US" altLang="zh-CN" sz="2400" b="1" baseline="-25000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2</a:t>
              </a:r>
              <a:endPara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endParaRPr>
            </a:p>
          </p:txBody>
        </p:sp>
        <p:sp>
          <p:nvSpPr>
            <p:cNvPr id="408636" name="Text Box 60"/>
            <p:cNvSpPr txBox="1">
              <a:spLocks noChangeArrowheads="1"/>
            </p:cNvSpPr>
            <p:nvPr/>
          </p:nvSpPr>
          <p:spPr bwMode="auto">
            <a:xfrm>
              <a:off x="1228" y="3540"/>
              <a:ext cx="81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VCVS</a:t>
              </a:r>
            </a:p>
          </p:txBody>
        </p:sp>
        <p:sp>
          <p:nvSpPr>
            <p:cNvPr id="408637" name="AutoShape 61"/>
            <p:cNvSpPr>
              <a:spLocks noChangeArrowheads="1"/>
            </p:cNvSpPr>
            <p:nvPr/>
          </p:nvSpPr>
          <p:spPr bwMode="auto">
            <a:xfrm rot="-5400000">
              <a:off x="1527" y="3051"/>
              <a:ext cx="318" cy="180"/>
            </a:xfrm>
            <a:prstGeom prst="flowChartSort">
              <a:avLst/>
            </a:prstGeom>
            <a:noFill/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000EC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408638" name="Text Box 62"/>
            <p:cNvSpPr txBox="1">
              <a:spLocks noChangeArrowheads="1"/>
            </p:cNvSpPr>
            <p:nvPr/>
          </p:nvSpPr>
          <p:spPr bwMode="auto">
            <a:xfrm>
              <a:off x="1680" y="2772"/>
              <a:ext cx="1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  <p:sp>
          <p:nvSpPr>
            <p:cNvPr id="408639" name="Text Box 63"/>
            <p:cNvSpPr txBox="1">
              <a:spLocks noChangeArrowheads="1"/>
            </p:cNvSpPr>
            <p:nvPr/>
          </p:nvSpPr>
          <p:spPr bwMode="auto">
            <a:xfrm>
              <a:off x="1692" y="3108"/>
              <a:ext cx="14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_</a:t>
              </a:r>
            </a:p>
          </p:txBody>
        </p:sp>
        <p:sp>
          <p:nvSpPr>
            <p:cNvPr id="408640" name="Oval 64"/>
            <p:cNvSpPr>
              <a:spLocks noChangeArrowheads="1"/>
            </p:cNvSpPr>
            <p:nvPr/>
          </p:nvSpPr>
          <p:spPr bwMode="auto">
            <a:xfrm>
              <a:off x="1392" y="3456"/>
              <a:ext cx="48" cy="48"/>
            </a:xfrm>
            <a:prstGeom prst="ellipse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8641" name="Oval 65"/>
            <p:cNvSpPr>
              <a:spLocks noChangeArrowheads="1"/>
            </p:cNvSpPr>
            <p:nvPr/>
          </p:nvSpPr>
          <p:spPr bwMode="auto">
            <a:xfrm>
              <a:off x="1392" y="2784"/>
              <a:ext cx="48" cy="48"/>
            </a:xfrm>
            <a:prstGeom prst="ellipse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8642" name="Oval 66"/>
            <p:cNvSpPr>
              <a:spLocks noChangeArrowheads="1"/>
            </p:cNvSpPr>
            <p:nvPr/>
          </p:nvSpPr>
          <p:spPr bwMode="auto">
            <a:xfrm>
              <a:off x="2304" y="3456"/>
              <a:ext cx="48" cy="48"/>
            </a:xfrm>
            <a:prstGeom prst="ellipse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8643" name="Oval 67"/>
            <p:cNvSpPr>
              <a:spLocks noChangeArrowheads="1"/>
            </p:cNvSpPr>
            <p:nvPr/>
          </p:nvSpPr>
          <p:spPr bwMode="auto">
            <a:xfrm>
              <a:off x="2304" y="2784"/>
              <a:ext cx="48" cy="48"/>
            </a:xfrm>
            <a:prstGeom prst="ellipse">
              <a:avLst/>
            </a:prstGeom>
            <a:solidFill>
              <a:srgbClr val="00FF00"/>
            </a:solidFill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08644" name="Text Box 68"/>
            <p:cNvSpPr txBox="1">
              <a:spLocks noChangeArrowheads="1"/>
            </p:cNvSpPr>
            <p:nvPr/>
          </p:nvSpPr>
          <p:spPr bwMode="auto">
            <a:xfrm>
              <a:off x="922" y="2796"/>
              <a:ext cx="14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 eaLnBrk="0" hangingPunct="0">
                <a:spcBef>
                  <a:spcPct val="50000"/>
                </a:spcBef>
              </a:pPr>
              <a:r>
                <a:rPr kumimoji="1" lang="en-US" altLang="zh-CN" sz="2400" b="1">
                  <a:solidFill>
                    <a:schemeClr val="tx2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+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1550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08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08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085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24" dur="500"/>
                                        <p:tgtEl>
                                          <p:spTgt spid="408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08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408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085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085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085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085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4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46" dur="500"/>
                                        <p:tgtEl>
                                          <p:spTgt spid="408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8580" grpId="0"/>
      <p:bldP spid="408581" grpId="0"/>
      <p:bldP spid="408590" grpId="0" autoUpdateAnimBg="0"/>
      <p:bldP spid="408591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628" name="Text Box 4"/>
          <p:cNvSpPr txBox="1">
            <a:spLocks noChangeArrowheads="1"/>
          </p:cNvSpPr>
          <p:nvPr/>
        </p:nvSpPr>
        <p:spPr bwMode="auto">
          <a:xfrm>
            <a:off x="228600" y="819150"/>
            <a:ext cx="43068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en-US" altLang="zh-CN" sz="24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3.   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受控源与独立源的比较</a:t>
            </a:r>
          </a:p>
        </p:txBody>
      </p:sp>
      <p:sp>
        <p:nvSpPr>
          <p:cNvPr id="410629" name="Text Box 5"/>
          <p:cNvSpPr txBox="1">
            <a:spLocks noChangeArrowheads="1"/>
          </p:cNvSpPr>
          <p:nvPr/>
        </p:nvSpPr>
        <p:spPr bwMode="auto">
          <a:xfrm>
            <a:off x="114300" y="1731963"/>
            <a:ext cx="8572500" cy="173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81000" indent="-381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(1) 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独立源电压（或电流）由电源本身决定，与电路中其他电压、电流无关，而受控源电压（或电流）直接由控制量决定。</a:t>
            </a:r>
          </a:p>
        </p:txBody>
      </p:sp>
      <p:sp>
        <p:nvSpPr>
          <p:cNvPr id="410630" name="Text Box 6"/>
          <p:cNvSpPr txBox="1">
            <a:spLocks noChangeArrowheads="1"/>
          </p:cNvSpPr>
          <p:nvPr/>
        </p:nvSpPr>
        <p:spPr bwMode="auto">
          <a:xfrm>
            <a:off x="142875" y="3632200"/>
            <a:ext cx="8610600" cy="173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81000" indent="-3810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5715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eaLnBrk="0" hangingPunct="0">
              <a:lnSpc>
                <a:spcPct val="150000"/>
              </a:lnSpc>
              <a:spcBef>
                <a:spcPct val="50000"/>
              </a:spcBef>
            </a:pPr>
            <a:r>
              <a:rPr kumimoji="1" lang="en-US" altLang="zh-CN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             (2) 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独立源作为电路中“激励（</a:t>
            </a:r>
            <a:r>
              <a:rPr kumimoji="1" lang="en-US" altLang="zh-CN" sz="2400" b="1" i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excitation</a:t>
            </a:r>
            <a:r>
              <a:rPr kumimoji="1" lang="zh-CN" altLang="en-US" sz="2400" b="1">
                <a:solidFill>
                  <a:schemeClr val="tx2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）”，在电路中产生电压、电流，而受控源只是反映电压、电流之间的控制关系，在电路中不能作为“激励”。</a:t>
            </a:r>
          </a:p>
        </p:txBody>
      </p:sp>
    </p:spTree>
    <p:extLst>
      <p:ext uri="{BB962C8B-B14F-4D97-AF65-F5344CB8AC3E}">
        <p14:creationId xmlns:p14="http://schemas.microsoft.com/office/powerpoint/2010/main" val="1013676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106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06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106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628" grpId="0" build="p" autoUpdateAnimBg="0" advAuto="0"/>
      <p:bldP spid="410629" grpId="0" build="p" autoUpdateAnimBg="0"/>
      <p:bldP spid="410630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Text Box 2"/>
          <p:cNvSpPr txBox="1">
            <a:spLocks noChangeArrowheads="1"/>
          </p:cNvSpPr>
          <p:nvPr/>
        </p:nvSpPr>
        <p:spPr bwMode="auto">
          <a:xfrm>
            <a:off x="215900" y="1367909"/>
            <a:ext cx="37719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b="1" dirty="0">
                <a:solidFill>
                  <a:srgbClr val="CC0099"/>
                </a:solidFill>
              </a:rPr>
              <a:t>一 、  几个名词  </a:t>
            </a:r>
          </a:p>
        </p:txBody>
      </p:sp>
      <p:sp>
        <p:nvSpPr>
          <p:cNvPr id="171011" name="Text Box 3"/>
          <p:cNvSpPr txBox="1">
            <a:spLocks noChangeArrowheads="1"/>
          </p:cNvSpPr>
          <p:nvPr/>
        </p:nvSpPr>
        <p:spPr bwMode="auto">
          <a:xfrm>
            <a:off x="622300" y="1914009"/>
            <a:ext cx="7772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1143000" indent="-1143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1333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524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7145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19050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3622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8194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2766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733800" fontAlgn="base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50000"/>
              </a:spcBef>
            </a:pPr>
            <a:r>
              <a:rPr lang="en-US" altLang="zh-CN" sz="1800" b="1" dirty="0">
                <a:solidFill>
                  <a:srgbClr val="0000F0"/>
                </a:solidFill>
              </a:rPr>
              <a:t>1.</a:t>
            </a:r>
            <a:r>
              <a:rPr lang="en-US" altLang="zh-CN" sz="1800" b="1" dirty="0">
                <a:solidFill>
                  <a:srgbClr val="0000F0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1800" b="1" dirty="0">
                <a:solidFill>
                  <a:srgbClr val="0000F0"/>
                </a:solidFill>
                <a:latin typeface="宋体" panose="02010600030101010101" pitchFamily="2" charset="-122"/>
              </a:rPr>
              <a:t>支路</a:t>
            </a:r>
            <a:r>
              <a:rPr lang="zh-CN" altLang="en-US" sz="1800" b="1" dirty="0">
                <a:solidFill>
                  <a:srgbClr val="990033"/>
                </a:solidFill>
                <a:latin typeface="宋体" panose="02010600030101010101" pitchFamily="2" charset="-122"/>
              </a:rPr>
              <a:t> </a:t>
            </a:r>
            <a:r>
              <a:rPr lang="en-US" altLang="zh-CN" sz="1800" b="1" dirty="0">
                <a:solidFill>
                  <a:srgbClr val="990033"/>
                </a:solidFill>
                <a:latin typeface="宋体" panose="02010600030101010101" pitchFamily="2" charset="-122"/>
              </a:rPr>
              <a:t>(</a:t>
            </a:r>
            <a:r>
              <a:rPr lang="en-US" altLang="zh-CN" sz="1800" b="1" dirty="0">
                <a:solidFill>
                  <a:srgbClr val="990033"/>
                </a:solidFill>
              </a:rPr>
              <a:t>branch</a:t>
            </a:r>
            <a:r>
              <a:rPr lang="en-US" altLang="zh-CN" sz="1800" b="1" dirty="0">
                <a:solidFill>
                  <a:srgbClr val="990033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1800" b="1" dirty="0" smtClean="0">
                <a:solidFill>
                  <a:srgbClr val="990033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sz="1800" b="1" dirty="0" smtClean="0">
                <a:solidFill>
                  <a:schemeClr val="tx2"/>
                </a:solidFill>
                <a:latin typeface="宋体" panose="02010600030101010101" pitchFamily="2" charset="-122"/>
              </a:rPr>
              <a:t>一个二端元件为一条支路。  </a:t>
            </a:r>
            <a:endParaRPr lang="zh-CN" altLang="en-US" sz="1800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171012" name="Text Box 4"/>
          <p:cNvSpPr txBox="1">
            <a:spLocks noChangeArrowheads="1"/>
          </p:cNvSpPr>
          <p:nvPr/>
        </p:nvSpPr>
        <p:spPr bwMode="auto">
          <a:xfrm>
            <a:off x="622300" y="4409038"/>
            <a:ext cx="83820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>
                <a:solidFill>
                  <a:srgbClr val="0000F0"/>
                </a:solidFill>
              </a:rPr>
              <a:t>2.</a:t>
            </a:r>
            <a:r>
              <a:rPr lang="en-US" altLang="zh-CN" b="1" dirty="0">
                <a:solidFill>
                  <a:srgbClr val="0000F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F0"/>
                </a:solidFill>
                <a:latin typeface="宋体" panose="02010600030101010101" pitchFamily="2" charset="-122"/>
              </a:rPr>
              <a:t>节点</a:t>
            </a:r>
            <a:r>
              <a:rPr lang="zh-CN" altLang="en-US" b="1" dirty="0">
                <a:solidFill>
                  <a:srgbClr val="990033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990033"/>
                </a:solidFill>
              </a:rPr>
              <a:t>node</a:t>
            </a:r>
            <a:r>
              <a:rPr lang="zh-CN" altLang="en-US" b="1" dirty="0">
                <a:solidFill>
                  <a:srgbClr val="990033"/>
                </a:solidFill>
                <a:latin typeface="宋体" panose="02010600030101010101" pitchFamily="2" charset="-122"/>
              </a:rPr>
              <a:t>）</a:t>
            </a:r>
            <a:r>
              <a:rPr lang="en-US" altLang="zh-CN" b="1" dirty="0">
                <a:solidFill>
                  <a:srgbClr val="990033"/>
                </a:solidFill>
                <a:latin typeface="宋体" panose="02010600030101010101" pitchFamily="2" charset="-122"/>
              </a:rPr>
              <a:t>:</a:t>
            </a:r>
            <a:r>
              <a:rPr lang="en-US" altLang="zh-CN" b="1" dirty="0">
                <a:solidFill>
                  <a:schemeClr val="tx2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chemeClr val="tx2"/>
                </a:solidFill>
                <a:latin typeface="宋体" panose="02010600030101010101" pitchFamily="2" charset="-122"/>
              </a:rPr>
              <a:t>支路的相交点称为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</a:rPr>
              <a:t>节点。 </a:t>
            </a:r>
          </a:p>
        </p:txBody>
      </p:sp>
      <p:sp>
        <p:nvSpPr>
          <p:cNvPr id="171013" name="Text Box 5"/>
          <p:cNvSpPr txBox="1">
            <a:spLocks noChangeArrowheads="1"/>
          </p:cNvSpPr>
          <p:nvPr/>
        </p:nvSpPr>
        <p:spPr bwMode="auto">
          <a:xfrm>
            <a:off x="622300" y="4725144"/>
            <a:ext cx="69723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b="1" dirty="0" smtClean="0">
                <a:solidFill>
                  <a:srgbClr val="0000F0"/>
                </a:solidFill>
              </a:rPr>
              <a:t>3.</a:t>
            </a:r>
            <a:r>
              <a:rPr lang="en-US" altLang="zh-CN" b="1" dirty="0" smtClean="0">
                <a:solidFill>
                  <a:srgbClr val="0000F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F0"/>
                </a:solidFill>
                <a:latin typeface="宋体" panose="02010600030101010101" pitchFamily="2" charset="-122"/>
              </a:rPr>
              <a:t>回路</a:t>
            </a:r>
            <a:r>
              <a:rPr lang="zh-CN" altLang="en-US" b="1" dirty="0">
                <a:solidFill>
                  <a:srgbClr val="990033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990033"/>
                </a:solidFill>
              </a:rPr>
              <a:t>loop</a:t>
            </a:r>
            <a:r>
              <a:rPr lang="zh-CN" altLang="en-US" b="1" dirty="0">
                <a:solidFill>
                  <a:srgbClr val="990033"/>
                </a:solidFill>
                <a:latin typeface="宋体" panose="02010600030101010101" pitchFamily="2" charset="-122"/>
              </a:rPr>
              <a:t>）：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</a:rPr>
              <a:t>由支路组成的闭合路径。  </a:t>
            </a:r>
          </a:p>
        </p:txBody>
      </p:sp>
      <p:sp>
        <p:nvSpPr>
          <p:cNvPr id="171014" name="Text Box 6"/>
          <p:cNvSpPr txBox="1">
            <a:spLocks noChangeArrowheads="1"/>
          </p:cNvSpPr>
          <p:nvPr/>
        </p:nvSpPr>
        <p:spPr bwMode="auto">
          <a:xfrm>
            <a:off x="6100763" y="2560638"/>
            <a:ext cx="8143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827E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 dirty="0">
                <a:solidFill>
                  <a:schemeClr val="tx2"/>
                </a:solidFill>
              </a:rPr>
              <a:t>b</a:t>
            </a:r>
            <a:r>
              <a:rPr lang="en-US" altLang="zh-CN" dirty="0">
                <a:solidFill>
                  <a:schemeClr val="tx2"/>
                </a:solidFill>
              </a:rPr>
              <a:t>=3  </a:t>
            </a:r>
          </a:p>
        </p:txBody>
      </p:sp>
      <p:sp>
        <p:nvSpPr>
          <p:cNvPr id="171029" name="Text Box 21"/>
          <p:cNvSpPr txBox="1">
            <a:spLocks noChangeArrowheads="1"/>
          </p:cNvSpPr>
          <p:nvPr/>
        </p:nvSpPr>
        <p:spPr bwMode="auto">
          <a:xfrm>
            <a:off x="628985" y="5085184"/>
            <a:ext cx="7092280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zh-CN" b="1" dirty="0" smtClean="0">
                <a:solidFill>
                  <a:srgbClr val="0000F0"/>
                </a:solidFill>
              </a:rPr>
              <a:t>4.</a:t>
            </a:r>
            <a:r>
              <a:rPr lang="en-US" altLang="zh-CN" b="1" dirty="0" smtClean="0">
                <a:solidFill>
                  <a:srgbClr val="0000F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>
                <a:solidFill>
                  <a:srgbClr val="0000F0"/>
                </a:solidFill>
                <a:latin typeface="宋体" panose="02010600030101010101" pitchFamily="2" charset="-122"/>
              </a:rPr>
              <a:t>网孔</a:t>
            </a:r>
            <a:r>
              <a:rPr lang="zh-CN" altLang="en-US" b="1" dirty="0">
                <a:solidFill>
                  <a:srgbClr val="990033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b="1" dirty="0">
                <a:solidFill>
                  <a:srgbClr val="990033"/>
                </a:solidFill>
              </a:rPr>
              <a:t>mesh</a:t>
            </a:r>
            <a:r>
              <a:rPr lang="zh-CN" altLang="en-US" b="1" dirty="0">
                <a:solidFill>
                  <a:srgbClr val="990033"/>
                </a:solidFill>
                <a:latin typeface="宋体" panose="02010600030101010101" pitchFamily="2" charset="-122"/>
              </a:rPr>
              <a:t>）：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</a:rPr>
              <a:t>对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平面电路</a:t>
            </a:r>
            <a:r>
              <a:rPr lang="zh-CN" altLang="en-US" b="1" dirty="0" smtClean="0">
                <a:solidFill>
                  <a:schemeClr val="tx2"/>
                </a:solidFill>
                <a:latin typeface="宋体" panose="02010600030101010101" pitchFamily="2" charset="-122"/>
              </a:rPr>
              <a:t>，包围的平面内没有支路的回路即</a:t>
            </a:r>
            <a:r>
              <a:rPr lang="zh-CN" altLang="en-US" b="1" dirty="0">
                <a:solidFill>
                  <a:schemeClr val="tx2"/>
                </a:solidFill>
                <a:latin typeface="宋体" panose="02010600030101010101" pitchFamily="2" charset="-122"/>
              </a:rPr>
              <a:t>为网孔。 网孔是回路，但回路不一定是网孔。  </a:t>
            </a:r>
          </a:p>
        </p:txBody>
      </p:sp>
      <p:sp>
        <p:nvSpPr>
          <p:cNvPr id="171037" name="Text Box 29"/>
          <p:cNvSpPr txBox="1">
            <a:spLocks noChangeArrowheads="1"/>
          </p:cNvSpPr>
          <p:nvPr/>
        </p:nvSpPr>
        <p:spPr bwMode="auto">
          <a:xfrm>
            <a:off x="1943100" y="3152775"/>
            <a:ext cx="35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chemeClr val="hlink"/>
                </a:solidFill>
              </a:rPr>
              <a:t>1</a:t>
            </a:r>
            <a:endParaRPr lang="en-US" altLang="zh-CN"/>
          </a:p>
        </p:txBody>
      </p:sp>
      <p:sp>
        <p:nvSpPr>
          <p:cNvPr id="171038" name="Text Box 30"/>
          <p:cNvSpPr txBox="1">
            <a:spLocks noChangeArrowheads="1"/>
          </p:cNvSpPr>
          <p:nvPr/>
        </p:nvSpPr>
        <p:spPr bwMode="auto">
          <a:xfrm>
            <a:off x="3187700" y="3165475"/>
            <a:ext cx="35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chemeClr val="hlink"/>
                </a:solidFill>
              </a:rPr>
              <a:t>2</a:t>
            </a:r>
            <a:endParaRPr lang="en-US" altLang="zh-CN"/>
          </a:p>
        </p:txBody>
      </p:sp>
      <p:sp>
        <p:nvSpPr>
          <p:cNvPr id="171039" name="Text Box 31"/>
          <p:cNvSpPr txBox="1">
            <a:spLocks noChangeArrowheads="1"/>
          </p:cNvSpPr>
          <p:nvPr/>
        </p:nvSpPr>
        <p:spPr bwMode="auto">
          <a:xfrm>
            <a:off x="4381500" y="2693988"/>
            <a:ext cx="35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chemeClr val="hlink"/>
                </a:solidFill>
              </a:rPr>
              <a:t>3</a:t>
            </a:r>
            <a:endParaRPr lang="en-US" altLang="zh-CN"/>
          </a:p>
        </p:txBody>
      </p:sp>
      <p:sp>
        <p:nvSpPr>
          <p:cNvPr id="171040" name="Text Box 32"/>
          <p:cNvSpPr txBox="1">
            <a:spLocks noChangeArrowheads="1"/>
          </p:cNvSpPr>
          <p:nvPr/>
        </p:nvSpPr>
        <p:spPr bwMode="auto">
          <a:xfrm>
            <a:off x="3081338" y="2078038"/>
            <a:ext cx="35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FF"/>
                </a:solidFill>
              </a:rPr>
              <a:t>a</a:t>
            </a:r>
          </a:p>
        </p:txBody>
      </p:sp>
      <p:sp>
        <p:nvSpPr>
          <p:cNvPr id="171041" name="Text Box 33"/>
          <p:cNvSpPr txBox="1">
            <a:spLocks noChangeArrowheads="1"/>
          </p:cNvSpPr>
          <p:nvPr/>
        </p:nvSpPr>
        <p:spPr bwMode="auto">
          <a:xfrm>
            <a:off x="3003550" y="4141788"/>
            <a:ext cx="35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>
                <a:solidFill>
                  <a:srgbClr val="FF00FF"/>
                </a:solidFill>
              </a:rPr>
              <a:t>b</a:t>
            </a:r>
            <a:endParaRPr lang="en-US" altLang="zh-CN"/>
          </a:p>
        </p:txBody>
      </p:sp>
      <p:grpSp>
        <p:nvGrpSpPr>
          <p:cNvPr id="171070" name="Group 62"/>
          <p:cNvGrpSpPr>
            <a:grpSpLocks/>
          </p:cNvGrpSpPr>
          <p:nvPr/>
        </p:nvGrpSpPr>
        <p:grpSpPr bwMode="auto">
          <a:xfrm>
            <a:off x="1238250" y="2405063"/>
            <a:ext cx="3740150" cy="1862137"/>
            <a:chOff x="4848" y="1089"/>
            <a:chExt cx="2652" cy="1311"/>
          </a:xfrm>
        </p:grpSpPr>
        <p:sp>
          <p:nvSpPr>
            <p:cNvPr id="171016" name="Oval 8"/>
            <p:cNvSpPr>
              <a:spLocks noChangeArrowheads="1"/>
            </p:cNvSpPr>
            <p:nvPr/>
          </p:nvSpPr>
          <p:spPr bwMode="auto">
            <a:xfrm>
              <a:off x="5220" y="1339"/>
              <a:ext cx="288" cy="292"/>
            </a:xfrm>
            <a:prstGeom prst="ellipse">
              <a:avLst/>
            </a:prstGeom>
            <a:solidFill>
              <a:srgbClr val="00FFCC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1017" name="Oval 9"/>
            <p:cNvSpPr>
              <a:spLocks noChangeArrowheads="1"/>
            </p:cNvSpPr>
            <p:nvPr/>
          </p:nvSpPr>
          <p:spPr bwMode="auto">
            <a:xfrm>
              <a:off x="6072" y="1339"/>
              <a:ext cx="288" cy="292"/>
            </a:xfrm>
            <a:prstGeom prst="ellipse">
              <a:avLst/>
            </a:prstGeom>
            <a:solidFill>
              <a:srgbClr val="00FFCC"/>
            </a:solidFill>
            <a:ln w="31750">
              <a:solidFill>
                <a:schemeClr val="tx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1018" name="Line 10"/>
            <p:cNvSpPr>
              <a:spLocks noChangeShapeType="1"/>
            </p:cNvSpPr>
            <p:nvPr/>
          </p:nvSpPr>
          <p:spPr bwMode="auto">
            <a:xfrm>
              <a:off x="6216" y="1145"/>
              <a:ext cx="0" cy="121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1019" name="Rectangle 11"/>
            <p:cNvSpPr>
              <a:spLocks noChangeArrowheads="1"/>
            </p:cNvSpPr>
            <p:nvPr/>
          </p:nvSpPr>
          <p:spPr bwMode="auto">
            <a:xfrm>
              <a:off x="6156" y="1886"/>
              <a:ext cx="120" cy="292"/>
            </a:xfrm>
            <a:prstGeom prst="rect">
              <a:avLst/>
            </a:prstGeom>
            <a:solidFill>
              <a:srgbClr val="00FFCC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1020" name="Line 12"/>
            <p:cNvSpPr>
              <a:spLocks noChangeShapeType="1"/>
            </p:cNvSpPr>
            <p:nvPr/>
          </p:nvSpPr>
          <p:spPr bwMode="auto">
            <a:xfrm flipV="1">
              <a:off x="5364" y="1145"/>
              <a:ext cx="0" cy="121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1021" name="Line 13"/>
            <p:cNvSpPr>
              <a:spLocks noChangeShapeType="1"/>
            </p:cNvSpPr>
            <p:nvPr/>
          </p:nvSpPr>
          <p:spPr bwMode="auto">
            <a:xfrm flipV="1">
              <a:off x="7068" y="1145"/>
              <a:ext cx="0" cy="1215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1022" name="Line 14"/>
            <p:cNvSpPr>
              <a:spLocks noChangeShapeType="1"/>
            </p:cNvSpPr>
            <p:nvPr/>
          </p:nvSpPr>
          <p:spPr bwMode="auto">
            <a:xfrm>
              <a:off x="5364" y="2360"/>
              <a:ext cx="170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1023" name="Line 15"/>
            <p:cNvSpPr>
              <a:spLocks noChangeShapeType="1"/>
            </p:cNvSpPr>
            <p:nvPr/>
          </p:nvSpPr>
          <p:spPr bwMode="auto">
            <a:xfrm>
              <a:off x="5364" y="1145"/>
              <a:ext cx="1704" cy="0"/>
            </a:xfrm>
            <a:prstGeom prst="line">
              <a:avLst/>
            </a:prstGeom>
            <a:noFill/>
            <a:ln w="19050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1024" name="Rectangle 16"/>
            <p:cNvSpPr>
              <a:spLocks noChangeArrowheads="1"/>
            </p:cNvSpPr>
            <p:nvPr/>
          </p:nvSpPr>
          <p:spPr bwMode="auto">
            <a:xfrm>
              <a:off x="7008" y="1631"/>
              <a:ext cx="120" cy="292"/>
            </a:xfrm>
            <a:prstGeom prst="rect">
              <a:avLst/>
            </a:prstGeom>
            <a:solidFill>
              <a:srgbClr val="00FFCC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1025" name="Rectangle 17"/>
            <p:cNvSpPr>
              <a:spLocks noChangeArrowheads="1"/>
            </p:cNvSpPr>
            <p:nvPr/>
          </p:nvSpPr>
          <p:spPr bwMode="auto">
            <a:xfrm>
              <a:off x="5304" y="1874"/>
              <a:ext cx="120" cy="292"/>
            </a:xfrm>
            <a:prstGeom prst="rect">
              <a:avLst/>
            </a:prstGeom>
            <a:solidFill>
              <a:srgbClr val="00FFCC"/>
            </a:solidFill>
            <a:ln w="3175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171026" name="Text Box 18"/>
            <p:cNvSpPr txBox="1">
              <a:spLocks noChangeArrowheads="1"/>
            </p:cNvSpPr>
            <p:nvPr/>
          </p:nvSpPr>
          <p:spPr bwMode="auto">
            <a:xfrm>
              <a:off x="5125" y="1089"/>
              <a:ext cx="253" cy="3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</a:rPr>
                <a:t>+</a:t>
              </a:r>
            </a:p>
          </p:txBody>
        </p:sp>
        <p:sp>
          <p:nvSpPr>
            <p:cNvPr id="171027" name="Text Box 19"/>
            <p:cNvSpPr txBox="1">
              <a:spLocks noChangeArrowheads="1"/>
            </p:cNvSpPr>
            <p:nvPr/>
          </p:nvSpPr>
          <p:spPr bwMode="auto">
            <a:xfrm>
              <a:off x="5138" y="1421"/>
              <a:ext cx="239" cy="3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</a:rPr>
                <a:t>_</a:t>
              </a:r>
            </a:p>
          </p:txBody>
        </p:sp>
        <p:sp>
          <p:nvSpPr>
            <p:cNvPr id="171030" name="Text Box 22"/>
            <p:cNvSpPr txBox="1">
              <a:spLocks noChangeArrowheads="1"/>
            </p:cNvSpPr>
            <p:nvPr/>
          </p:nvSpPr>
          <p:spPr bwMode="auto">
            <a:xfrm>
              <a:off x="4908" y="1859"/>
              <a:ext cx="456" cy="3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i="1">
                  <a:solidFill>
                    <a:schemeClr val="tx2"/>
                  </a:solidFill>
                </a:rPr>
                <a:t>R</a:t>
              </a:r>
              <a:r>
                <a:rPr lang="en-US" altLang="zh-CN" baseline="-25000">
                  <a:solidFill>
                    <a:schemeClr val="tx2"/>
                  </a:solidFill>
                </a:rPr>
                <a:t>1</a:t>
              </a:r>
              <a:endParaRPr lang="en-US" altLang="zh-CN"/>
            </a:p>
          </p:txBody>
        </p:sp>
        <p:sp>
          <p:nvSpPr>
            <p:cNvPr id="171031" name="Text Box 23"/>
            <p:cNvSpPr txBox="1">
              <a:spLocks noChangeArrowheads="1"/>
            </p:cNvSpPr>
            <p:nvPr/>
          </p:nvSpPr>
          <p:spPr bwMode="auto">
            <a:xfrm>
              <a:off x="4848" y="1247"/>
              <a:ext cx="456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i="1">
                  <a:solidFill>
                    <a:schemeClr val="tx2"/>
                  </a:solidFill>
                </a:rPr>
                <a:t>u</a:t>
              </a:r>
              <a:r>
                <a:rPr lang="en-US" altLang="zh-CN" baseline="-25000">
                  <a:solidFill>
                    <a:schemeClr val="tx2"/>
                  </a:solidFill>
                </a:rPr>
                <a:t>S1</a:t>
              </a:r>
              <a:endParaRPr lang="en-US" altLang="zh-CN"/>
            </a:p>
          </p:txBody>
        </p:sp>
        <p:sp>
          <p:nvSpPr>
            <p:cNvPr id="171032" name="Text Box 24"/>
            <p:cNvSpPr txBox="1">
              <a:spLocks noChangeArrowheads="1"/>
            </p:cNvSpPr>
            <p:nvPr/>
          </p:nvSpPr>
          <p:spPr bwMode="auto">
            <a:xfrm>
              <a:off x="6014" y="1089"/>
              <a:ext cx="253" cy="3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</a:rPr>
                <a:t>+</a:t>
              </a:r>
            </a:p>
          </p:txBody>
        </p:sp>
        <p:sp>
          <p:nvSpPr>
            <p:cNvPr id="171033" name="Text Box 25"/>
            <p:cNvSpPr txBox="1">
              <a:spLocks noChangeArrowheads="1"/>
            </p:cNvSpPr>
            <p:nvPr/>
          </p:nvSpPr>
          <p:spPr bwMode="auto">
            <a:xfrm>
              <a:off x="6015" y="1518"/>
              <a:ext cx="239" cy="3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0827E4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>
                  <a:solidFill>
                    <a:schemeClr val="tx2"/>
                  </a:solidFill>
                </a:rPr>
                <a:t>_</a:t>
              </a:r>
            </a:p>
          </p:txBody>
        </p:sp>
        <p:sp>
          <p:nvSpPr>
            <p:cNvPr id="171034" name="Text Box 26"/>
            <p:cNvSpPr txBox="1">
              <a:spLocks noChangeArrowheads="1"/>
            </p:cNvSpPr>
            <p:nvPr/>
          </p:nvSpPr>
          <p:spPr bwMode="auto">
            <a:xfrm>
              <a:off x="5676" y="1295"/>
              <a:ext cx="456" cy="3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i="1">
                  <a:solidFill>
                    <a:schemeClr val="tx2"/>
                  </a:solidFill>
                </a:rPr>
                <a:t>u</a:t>
              </a:r>
              <a:r>
                <a:rPr lang="en-US" altLang="zh-CN" baseline="-25000">
                  <a:solidFill>
                    <a:schemeClr val="tx2"/>
                  </a:solidFill>
                </a:rPr>
                <a:t>S2</a:t>
              </a:r>
              <a:endParaRPr lang="en-US" altLang="zh-CN"/>
            </a:p>
          </p:txBody>
        </p:sp>
        <p:sp>
          <p:nvSpPr>
            <p:cNvPr id="171035" name="Text Box 27"/>
            <p:cNvSpPr txBox="1">
              <a:spLocks noChangeArrowheads="1"/>
            </p:cNvSpPr>
            <p:nvPr/>
          </p:nvSpPr>
          <p:spPr bwMode="auto">
            <a:xfrm>
              <a:off x="5749" y="1908"/>
              <a:ext cx="455" cy="3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i="1">
                  <a:solidFill>
                    <a:schemeClr val="tx2"/>
                  </a:solidFill>
                </a:rPr>
                <a:t>R</a:t>
              </a:r>
              <a:r>
                <a:rPr lang="en-US" altLang="zh-CN" baseline="-25000">
                  <a:solidFill>
                    <a:schemeClr val="tx2"/>
                  </a:solidFill>
                </a:rPr>
                <a:t>2</a:t>
              </a:r>
              <a:endParaRPr lang="en-US" altLang="zh-CN"/>
            </a:p>
          </p:txBody>
        </p:sp>
        <p:sp>
          <p:nvSpPr>
            <p:cNvPr id="171036" name="Text Box 28"/>
            <p:cNvSpPr txBox="1">
              <a:spLocks noChangeArrowheads="1"/>
            </p:cNvSpPr>
            <p:nvPr/>
          </p:nvSpPr>
          <p:spPr bwMode="auto">
            <a:xfrm>
              <a:off x="7044" y="1616"/>
              <a:ext cx="456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chemeClr val="hlink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zh-CN" i="1">
                  <a:solidFill>
                    <a:schemeClr val="tx2"/>
                  </a:solidFill>
                </a:rPr>
                <a:t>R</a:t>
              </a:r>
              <a:r>
                <a:rPr lang="en-US" altLang="zh-CN" baseline="-25000">
                  <a:solidFill>
                    <a:schemeClr val="tx2"/>
                  </a:solidFill>
                </a:rPr>
                <a:t>3</a:t>
              </a:r>
              <a:endParaRPr lang="en-US" altLang="zh-CN"/>
            </a:p>
          </p:txBody>
        </p:sp>
        <p:sp>
          <p:nvSpPr>
            <p:cNvPr id="171042" name="Oval 34"/>
            <p:cNvSpPr>
              <a:spLocks noChangeArrowheads="1"/>
            </p:cNvSpPr>
            <p:nvPr/>
          </p:nvSpPr>
          <p:spPr bwMode="auto">
            <a:xfrm>
              <a:off x="6185" y="1104"/>
              <a:ext cx="68" cy="6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hlink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43" name="Oval 35"/>
            <p:cNvSpPr>
              <a:spLocks noChangeArrowheads="1"/>
            </p:cNvSpPr>
            <p:nvPr/>
          </p:nvSpPr>
          <p:spPr bwMode="auto">
            <a:xfrm>
              <a:off x="6185" y="2331"/>
              <a:ext cx="68" cy="69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>
                  <a:solidFill>
                    <a:schemeClr val="hlink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71046" name="Text Box 38"/>
          <p:cNvSpPr txBox="1">
            <a:spLocks noChangeArrowheads="1"/>
          </p:cNvSpPr>
          <p:nvPr/>
        </p:nvSpPr>
        <p:spPr bwMode="auto">
          <a:xfrm>
            <a:off x="6096000" y="3284984"/>
            <a:ext cx="746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827E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 dirty="0">
                <a:solidFill>
                  <a:schemeClr val="tx2"/>
                </a:solidFill>
              </a:rPr>
              <a:t>l</a:t>
            </a:r>
            <a:r>
              <a:rPr lang="en-US" altLang="zh-CN" dirty="0">
                <a:solidFill>
                  <a:schemeClr val="tx2"/>
                </a:solidFill>
              </a:rPr>
              <a:t>=3  </a:t>
            </a:r>
          </a:p>
        </p:txBody>
      </p:sp>
      <p:sp>
        <p:nvSpPr>
          <p:cNvPr id="171047" name="Text Box 39"/>
          <p:cNvSpPr txBox="1">
            <a:spLocks noChangeArrowheads="1"/>
          </p:cNvSpPr>
          <p:nvPr/>
        </p:nvSpPr>
        <p:spPr bwMode="auto">
          <a:xfrm>
            <a:off x="6100763" y="2924944"/>
            <a:ext cx="831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827E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 dirty="0">
                <a:solidFill>
                  <a:schemeClr val="tx2"/>
                </a:solidFill>
              </a:rPr>
              <a:t>n</a:t>
            </a:r>
            <a:r>
              <a:rPr lang="en-US" altLang="zh-CN" dirty="0">
                <a:solidFill>
                  <a:schemeClr val="tx2"/>
                </a:solidFill>
              </a:rPr>
              <a:t>=2  </a:t>
            </a:r>
          </a:p>
        </p:txBody>
      </p:sp>
      <p:grpSp>
        <p:nvGrpSpPr>
          <p:cNvPr id="171060" name="Group 52"/>
          <p:cNvGrpSpPr>
            <a:grpSpLocks/>
          </p:cNvGrpSpPr>
          <p:nvPr/>
        </p:nvGrpSpPr>
        <p:grpSpPr bwMode="auto">
          <a:xfrm>
            <a:off x="2393950" y="3036888"/>
            <a:ext cx="336550" cy="844550"/>
            <a:chOff x="4966" y="1428"/>
            <a:chExt cx="240" cy="594"/>
          </a:xfrm>
        </p:grpSpPr>
        <p:sp>
          <p:nvSpPr>
            <p:cNvPr id="171058" name="Arc 50"/>
            <p:cNvSpPr>
              <a:spLocks/>
            </p:cNvSpPr>
            <p:nvPr/>
          </p:nvSpPr>
          <p:spPr bwMode="auto">
            <a:xfrm>
              <a:off x="4980" y="1428"/>
              <a:ext cx="212" cy="594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1600 w 43200"/>
                <a:gd name="T1" fmla="*/ 0 h 43200"/>
                <a:gd name="T2" fmla="*/ 16268 w 43200"/>
                <a:gd name="T3" fmla="*/ 668 h 43200"/>
                <a:gd name="T4" fmla="*/ 21600 w 432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600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11724"/>
                    <a:pt x="6697" y="3106"/>
                    <a:pt x="16268" y="668"/>
                  </a:cubicBezTo>
                </a:path>
                <a:path w="43200" h="43200" stroke="0" extrusionOk="0">
                  <a:moveTo>
                    <a:pt x="21600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11724"/>
                    <a:pt x="6697" y="3106"/>
                    <a:pt x="16268" y="668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59" name="Text Box 51"/>
            <p:cNvSpPr txBox="1">
              <a:spLocks noChangeArrowheads="1"/>
            </p:cNvSpPr>
            <p:nvPr/>
          </p:nvSpPr>
          <p:spPr bwMode="auto">
            <a:xfrm>
              <a:off x="4966" y="1561"/>
              <a:ext cx="240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>
                  <a:solidFill>
                    <a:srgbClr val="FF0000"/>
                  </a:solidFill>
                </a:rPr>
                <a:t>1</a:t>
              </a:r>
              <a:endParaRPr lang="en-US" altLang="zh-CN"/>
            </a:p>
          </p:txBody>
        </p:sp>
      </p:grpSp>
      <p:grpSp>
        <p:nvGrpSpPr>
          <p:cNvPr id="171061" name="Group 53"/>
          <p:cNvGrpSpPr>
            <a:grpSpLocks/>
          </p:cNvGrpSpPr>
          <p:nvPr/>
        </p:nvGrpSpPr>
        <p:grpSpPr bwMode="auto">
          <a:xfrm>
            <a:off x="3727450" y="2962275"/>
            <a:ext cx="336550" cy="844550"/>
            <a:chOff x="4966" y="1428"/>
            <a:chExt cx="240" cy="594"/>
          </a:xfrm>
        </p:grpSpPr>
        <p:sp>
          <p:nvSpPr>
            <p:cNvPr id="171062" name="Arc 54"/>
            <p:cNvSpPr>
              <a:spLocks/>
            </p:cNvSpPr>
            <p:nvPr/>
          </p:nvSpPr>
          <p:spPr bwMode="auto">
            <a:xfrm>
              <a:off x="4980" y="1428"/>
              <a:ext cx="212" cy="594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1600 w 43200"/>
                <a:gd name="T1" fmla="*/ 0 h 43200"/>
                <a:gd name="T2" fmla="*/ 16268 w 43200"/>
                <a:gd name="T3" fmla="*/ 668 h 43200"/>
                <a:gd name="T4" fmla="*/ 21600 w 432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600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11724"/>
                    <a:pt x="6697" y="3106"/>
                    <a:pt x="16268" y="668"/>
                  </a:cubicBezTo>
                </a:path>
                <a:path w="43200" h="43200" stroke="0" extrusionOk="0">
                  <a:moveTo>
                    <a:pt x="21600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11724"/>
                    <a:pt x="6697" y="3106"/>
                    <a:pt x="16268" y="668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63" name="Text Box 55"/>
            <p:cNvSpPr txBox="1">
              <a:spLocks noChangeArrowheads="1"/>
            </p:cNvSpPr>
            <p:nvPr/>
          </p:nvSpPr>
          <p:spPr bwMode="auto">
            <a:xfrm>
              <a:off x="4966" y="1561"/>
              <a:ext cx="240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>
                  <a:solidFill>
                    <a:srgbClr val="FF0000"/>
                  </a:solidFill>
                </a:rPr>
                <a:t>2</a:t>
              </a:r>
              <a:endParaRPr lang="en-US" altLang="zh-CN"/>
            </a:p>
          </p:txBody>
        </p:sp>
      </p:grpSp>
      <p:grpSp>
        <p:nvGrpSpPr>
          <p:cNvPr id="171067" name="Group 59"/>
          <p:cNvGrpSpPr>
            <a:grpSpLocks/>
          </p:cNvGrpSpPr>
          <p:nvPr/>
        </p:nvGrpSpPr>
        <p:grpSpPr bwMode="auto">
          <a:xfrm>
            <a:off x="2209800" y="2559050"/>
            <a:ext cx="1965325" cy="1487488"/>
            <a:chOff x="4262" y="1031"/>
            <a:chExt cx="1393" cy="1047"/>
          </a:xfrm>
        </p:grpSpPr>
        <p:sp>
          <p:nvSpPr>
            <p:cNvPr id="171065" name="Arc 57"/>
            <p:cNvSpPr>
              <a:spLocks/>
            </p:cNvSpPr>
            <p:nvPr/>
          </p:nvSpPr>
          <p:spPr bwMode="auto">
            <a:xfrm flipH="1">
              <a:off x="4262" y="1031"/>
              <a:ext cx="1393" cy="1047"/>
            </a:xfrm>
            <a:custGeom>
              <a:avLst/>
              <a:gdLst>
                <a:gd name="G0" fmla="+- 21600 0 0"/>
                <a:gd name="G1" fmla="+- 21600 0 0"/>
                <a:gd name="G2" fmla="+- 21600 0 0"/>
                <a:gd name="T0" fmla="*/ 21600 w 43200"/>
                <a:gd name="T1" fmla="*/ 0 h 43200"/>
                <a:gd name="T2" fmla="*/ 17252 w 43200"/>
                <a:gd name="T3" fmla="*/ 442 h 43200"/>
                <a:gd name="T4" fmla="*/ 21600 w 43200"/>
                <a:gd name="T5" fmla="*/ 21600 h 43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3200" fill="none" extrusionOk="0">
                  <a:moveTo>
                    <a:pt x="21600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11346"/>
                    <a:pt x="7208" y="2506"/>
                    <a:pt x="17252" y="442"/>
                  </a:cubicBezTo>
                </a:path>
                <a:path w="43200" h="43200" stroke="0" extrusionOk="0">
                  <a:moveTo>
                    <a:pt x="21600" y="0"/>
                  </a:moveTo>
                  <a:cubicBezTo>
                    <a:pt x="33529" y="0"/>
                    <a:pt x="43200" y="9670"/>
                    <a:pt x="43200" y="21600"/>
                  </a:cubicBezTo>
                  <a:cubicBezTo>
                    <a:pt x="43200" y="33529"/>
                    <a:pt x="33529" y="43200"/>
                    <a:pt x="21600" y="43200"/>
                  </a:cubicBezTo>
                  <a:cubicBezTo>
                    <a:pt x="9670" y="43200"/>
                    <a:pt x="0" y="33529"/>
                    <a:pt x="0" y="21600"/>
                  </a:cubicBezTo>
                  <a:cubicBezTo>
                    <a:pt x="0" y="11346"/>
                    <a:pt x="7208" y="2506"/>
                    <a:pt x="17252" y="442"/>
                  </a:cubicBezTo>
                  <a:lnTo>
                    <a:pt x="21600" y="21600"/>
                  </a:lnTo>
                  <a:close/>
                </a:path>
              </a:pathLst>
            </a:custGeom>
            <a:noFill/>
            <a:ln w="25400">
              <a:solidFill>
                <a:srgbClr val="0000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1066" name="Text Box 58"/>
            <p:cNvSpPr txBox="1">
              <a:spLocks noChangeArrowheads="1"/>
            </p:cNvSpPr>
            <p:nvPr/>
          </p:nvSpPr>
          <p:spPr bwMode="auto">
            <a:xfrm>
              <a:off x="5053" y="1075"/>
              <a:ext cx="239" cy="32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/>
              <a:r>
                <a:rPr lang="en-US" altLang="zh-CN">
                  <a:solidFill>
                    <a:srgbClr val="2306F6"/>
                  </a:solidFill>
                </a:rPr>
                <a:t>3</a:t>
              </a:r>
              <a:endParaRPr lang="en-US" altLang="zh-CN"/>
            </a:p>
          </p:txBody>
        </p:sp>
      </p:grpSp>
      <p:sp>
        <p:nvSpPr>
          <p:cNvPr id="171071" name="Rectangle 63"/>
          <p:cNvSpPr>
            <a:spLocks noChangeArrowheads="1"/>
          </p:cNvSpPr>
          <p:nvPr/>
        </p:nvSpPr>
        <p:spPr bwMode="auto">
          <a:xfrm>
            <a:off x="541338" y="808038"/>
            <a:ext cx="555152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FF00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chemeClr val="tx2"/>
                </a:solidFill>
              </a:rPr>
              <a:t>（</a:t>
            </a:r>
            <a:r>
              <a:rPr lang="en-US" altLang="zh-CN" b="1" dirty="0">
                <a:solidFill>
                  <a:schemeClr val="tx2"/>
                </a:solidFill>
              </a:rPr>
              <a:t>Kirchhoff</a:t>
            </a:r>
            <a:r>
              <a:rPr lang="zh-CN" altLang="en-US" b="1" dirty="0">
                <a:solidFill>
                  <a:schemeClr val="tx2"/>
                </a:solidFill>
              </a:rPr>
              <a:t>，基尔霍夫；</a:t>
            </a:r>
            <a:r>
              <a:rPr lang="en-US" altLang="zh-CN" b="1" dirty="0">
                <a:solidFill>
                  <a:schemeClr val="tx2"/>
                </a:solidFill>
              </a:rPr>
              <a:t>1824</a:t>
            </a:r>
            <a:r>
              <a:rPr lang="en-US" altLang="zh-CN" b="1" dirty="0">
                <a:solidFill>
                  <a:schemeClr val="tx2"/>
                </a:solidFill>
                <a:cs typeface="Times New Roman" panose="02020603050405020304" pitchFamily="18" charset="0"/>
              </a:rPr>
              <a:t>–</a:t>
            </a:r>
            <a:r>
              <a:rPr lang="en-US" altLang="zh-CN" b="1" dirty="0">
                <a:solidFill>
                  <a:schemeClr val="tx2"/>
                </a:solidFill>
              </a:rPr>
              <a:t>1887</a:t>
            </a:r>
            <a:r>
              <a:rPr lang="zh-CN" altLang="en-US" b="1" dirty="0">
                <a:solidFill>
                  <a:schemeClr val="tx2"/>
                </a:solidFill>
              </a:rPr>
              <a:t>，</a:t>
            </a:r>
            <a:r>
              <a:rPr lang="en-US" altLang="zh-CN" b="1" dirty="0">
                <a:solidFill>
                  <a:schemeClr val="tx2"/>
                </a:solidFill>
              </a:rPr>
              <a:t>Germany</a:t>
            </a:r>
            <a:r>
              <a:rPr lang="zh-CN" altLang="en-US" b="1" dirty="0">
                <a:solidFill>
                  <a:schemeClr val="tx2"/>
                </a:solidFill>
              </a:rPr>
              <a:t>）  </a:t>
            </a:r>
          </a:p>
        </p:txBody>
      </p:sp>
      <p:sp>
        <p:nvSpPr>
          <p:cNvPr id="51" name="Rectangle 17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1pPr>
            <a:lvl2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1.4 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基尔霍夫定律 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Kirchhoff’s Laws</a:t>
            </a:r>
          </a:p>
        </p:txBody>
      </p:sp>
      <p:pic>
        <p:nvPicPr>
          <p:cNvPr id="52" name="Picture 3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014"/>
          <a:stretch/>
        </p:blipFill>
        <p:spPr bwMode="auto">
          <a:xfrm>
            <a:off x="6141244" y="692671"/>
            <a:ext cx="1582738" cy="16282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3" name="Text Box 21"/>
          <p:cNvSpPr txBox="1">
            <a:spLocks noChangeArrowheads="1"/>
          </p:cNvSpPr>
          <p:nvPr/>
        </p:nvSpPr>
        <p:spPr bwMode="auto">
          <a:xfrm>
            <a:off x="622300" y="5661248"/>
            <a:ext cx="709228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en-US" altLang="zh-CN" b="1" dirty="0">
                <a:solidFill>
                  <a:srgbClr val="0000F0"/>
                </a:solidFill>
              </a:rPr>
              <a:t>5</a:t>
            </a:r>
            <a:r>
              <a:rPr lang="en-US" altLang="zh-CN" b="1" dirty="0" smtClean="0">
                <a:solidFill>
                  <a:srgbClr val="0000F0"/>
                </a:solidFill>
              </a:rPr>
              <a:t>.</a:t>
            </a:r>
            <a:r>
              <a:rPr lang="en-US" altLang="zh-CN" b="1" dirty="0" smtClean="0">
                <a:solidFill>
                  <a:srgbClr val="0000F0"/>
                </a:solidFill>
                <a:latin typeface="宋体" panose="02010600030101010101" pitchFamily="2" charset="-122"/>
              </a:rPr>
              <a:t> </a:t>
            </a:r>
            <a:r>
              <a:rPr lang="zh-CN" altLang="en-US" b="1" dirty="0" smtClean="0">
                <a:solidFill>
                  <a:srgbClr val="0000F0"/>
                </a:solidFill>
                <a:latin typeface="宋体" panose="02010600030101010101" pitchFamily="2" charset="-122"/>
              </a:rPr>
              <a:t>平面电路</a:t>
            </a:r>
            <a:r>
              <a:rPr lang="zh-CN" altLang="en-US" b="1" dirty="0" smtClean="0">
                <a:solidFill>
                  <a:srgbClr val="990033"/>
                </a:solidFill>
                <a:latin typeface="宋体" panose="02010600030101010101" pitchFamily="2" charset="-122"/>
              </a:rPr>
              <a:t>：</a:t>
            </a:r>
            <a:r>
              <a:rPr lang="zh-CN" altLang="en-US" b="1" dirty="0" smtClean="0">
                <a:solidFill>
                  <a:schemeClr val="tx2"/>
                </a:solidFill>
                <a:latin typeface="宋体" panose="02010600030101010101" pitchFamily="2" charset="-122"/>
              </a:rPr>
              <a:t>能够画在平面上，没有支路在空间交叉的电路。  </a:t>
            </a:r>
            <a:endParaRPr lang="zh-CN" altLang="en-US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54" name="Text Box 21"/>
          <p:cNvSpPr txBox="1">
            <a:spLocks noChangeArrowheads="1"/>
          </p:cNvSpPr>
          <p:nvPr/>
        </p:nvSpPr>
        <p:spPr bwMode="auto">
          <a:xfrm>
            <a:off x="1788574" y="6140100"/>
            <a:ext cx="5519730" cy="369332"/>
          </a:xfrm>
          <a:prstGeom prst="rect">
            <a:avLst/>
          </a:prstGeom>
          <a:noFill/>
          <a:ln w="127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r>
              <a:rPr lang="zh-CN" altLang="en-US" b="1" dirty="0" smtClean="0">
                <a:solidFill>
                  <a:srgbClr val="0000F0"/>
                </a:solidFill>
                <a:latin typeface="宋体" panose="02010600030101010101" pitchFamily="2" charset="-122"/>
              </a:rPr>
              <a:t>平面电路网孔个数</a:t>
            </a:r>
            <a:r>
              <a:rPr lang="en-US" altLang="zh-CN" b="1" dirty="0" smtClean="0">
                <a:solidFill>
                  <a:srgbClr val="0000F0"/>
                </a:solidFill>
                <a:latin typeface="宋体" panose="02010600030101010101" pitchFamily="2" charset="-122"/>
              </a:rPr>
              <a:t>=</a:t>
            </a:r>
            <a:r>
              <a:rPr lang="zh-CN" altLang="en-US" b="1" dirty="0" smtClean="0">
                <a:solidFill>
                  <a:srgbClr val="0000F0"/>
                </a:solidFill>
                <a:latin typeface="宋体" panose="02010600030101010101" pitchFamily="2" charset="-122"/>
              </a:rPr>
              <a:t>支路数</a:t>
            </a:r>
            <a:r>
              <a:rPr lang="en-US" altLang="zh-CN" b="1" dirty="0" smtClean="0">
                <a:solidFill>
                  <a:srgbClr val="0000F0"/>
                </a:solidFill>
                <a:latin typeface="宋体" panose="02010600030101010101" pitchFamily="2" charset="-122"/>
              </a:rPr>
              <a:t>-</a:t>
            </a:r>
            <a:r>
              <a:rPr lang="zh-CN" altLang="en-US" b="1" dirty="0" smtClean="0">
                <a:solidFill>
                  <a:srgbClr val="0000F0"/>
                </a:solidFill>
                <a:latin typeface="宋体" panose="02010600030101010101" pitchFamily="2" charset="-122"/>
              </a:rPr>
              <a:t>节点数</a:t>
            </a:r>
            <a:r>
              <a:rPr lang="en-US" altLang="zh-CN" b="1" dirty="0" smtClean="0">
                <a:solidFill>
                  <a:srgbClr val="0000F0"/>
                </a:solidFill>
                <a:latin typeface="宋体" panose="02010600030101010101" pitchFamily="2" charset="-122"/>
              </a:rPr>
              <a:t>+1</a:t>
            </a:r>
            <a:r>
              <a:rPr lang="zh-CN" altLang="en-US" b="1" dirty="0" smtClean="0">
                <a:solidFill>
                  <a:srgbClr val="0000F0"/>
                </a:solidFill>
                <a:latin typeface="宋体" panose="02010600030101010101" pitchFamily="2" charset="-122"/>
              </a:rPr>
              <a:t>（</a:t>
            </a:r>
            <a:r>
              <a:rPr lang="en-US" altLang="zh-CN" b="1" dirty="0" smtClean="0">
                <a:solidFill>
                  <a:srgbClr val="0000F0"/>
                </a:solidFill>
                <a:latin typeface="宋体" panose="02010600030101010101" pitchFamily="2" charset="-122"/>
              </a:rPr>
              <a:t>m=b-n+1</a:t>
            </a:r>
            <a:r>
              <a:rPr lang="zh-CN" altLang="en-US" b="1" dirty="0" smtClean="0">
                <a:solidFill>
                  <a:srgbClr val="0000F0"/>
                </a:solidFill>
                <a:latin typeface="宋体" panose="02010600030101010101" pitchFamily="2" charset="-122"/>
              </a:rPr>
              <a:t>）</a:t>
            </a:r>
            <a:r>
              <a:rPr lang="zh-CN" altLang="en-US" b="1" dirty="0" smtClean="0">
                <a:solidFill>
                  <a:schemeClr val="tx2"/>
                </a:solidFill>
                <a:latin typeface="宋体" panose="02010600030101010101" pitchFamily="2" charset="-122"/>
              </a:rPr>
              <a:t>  </a:t>
            </a:r>
            <a:endParaRPr lang="zh-CN" altLang="en-US" b="1" dirty="0">
              <a:solidFill>
                <a:schemeClr val="tx2"/>
              </a:solidFill>
              <a:latin typeface="宋体" panose="02010600030101010101" pitchFamily="2" charset="-122"/>
            </a:endParaRPr>
          </a:p>
        </p:txBody>
      </p:sp>
      <p:sp>
        <p:nvSpPr>
          <p:cNvPr id="55" name="Text Box 38"/>
          <p:cNvSpPr txBox="1">
            <a:spLocks noChangeArrowheads="1"/>
          </p:cNvSpPr>
          <p:nvPr/>
        </p:nvSpPr>
        <p:spPr bwMode="auto">
          <a:xfrm>
            <a:off x="6088189" y="3721043"/>
            <a:ext cx="76174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827E4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zh-CN" i="1" dirty="0" smtClean="0">
                <a:solidFill>
                  <a:schemeClr val="tx2"/>
                </a:solidFill>
              </a:rPr>
              <a:t>m</a:t>
            </a:r>
            <a:r>
              <a:rPr lang="en-US" altLang="zh-CN" dirty="0" smtClean="0">
                <a:solidFill>
                  <a:schemeClr val="tx2"/>
                </a:solidFill>
              </a:rPr>
              <a:t>=2  </a:t>
            </a:r>
            <a:endParaRPr lang="en-US" altLang="zh-CN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81829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10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10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10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710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10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10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10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710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710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710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710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10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10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10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710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710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710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710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1710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710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710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710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710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710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710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710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710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710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71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710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710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171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171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4" dur="500"/>
                                        <p:tgtEl>
                                          <p:spTgt spid="1710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9" dur="500"/>
                                        <p:tgtEl>
                                          <p:spTgt spid="171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710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1710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1010" grpId="0" autoUpdateAnimBg="0"/>
      <p:bldP spid="171011" grpId="0" autoUpdateAnimBg="0"/>
      <p:bldP spid="171012" grpId="0" autoUpdateAnimBg="0"/>
      <p:bldP spid="171013" grpId="0" autoUpdateAnimBg="0"/>
      <p:bldP spid="171014" grpId="0" autoUpdateAnimBg="0"/>
      <p:bldP spid="171029" grpId="0" autoUpdateAnimBg="0"/>
      <p:bldP spid="171037" grpId="0" autoUpdateAnimBg="0"/>
      <p:bldP spid="171038" grpId="0" autoUpdateAnimBg="0"/>
      <p:bldP spid="171039" grpId="0" autoUpdateAnimBg="0"/>
      <p:bldP spid="171040" grpId="0" autoUpdateAnimBg="0"/>
      <p:bldP spid="171041" grpId="0" autoUpdateAnimBg="0"/>
      <p:bldP spid="171046" grpId="0" autoUpdateAnimBg="0"/>
      <p:bldP spid="171047" grpId="0" autoUpdateAnimBg="0"/>
      <p:bldP spid="171071" grpId="0" build="p" autoUpdateAnimBg="0"/>
      <p:bldP spid="53" grpId="0" autoUpdateAnimBg="0"/>
      <p:bldP spid="54" grpId="0" animBg="1" autoUpdateAnimBg="0"/>
      <p:bldP spid="55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50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95536" y="4005064"/>
            <a:ext cx="8352928" cy="852157"/>
          </a:xfrm>
        </p:spPr>
        <p:txBody>
          <a:bodyPr/>
          <a:lstStyle/>
          <a:p>
            <a:pPr marL="0" indent="15875">
              <a:lnSpc>
                <a:spcPct val="90000"/>
              </a:lnSpc>
              <a:buFontTx/>
              <a:buNone/>
            </a:pPr>
            <a:r>
              <a:rPr lang="zh-CN" altLang="en-US" b="1" dirty="0" smtClean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</a:t>
            </a:r>
            <a:r>
              <a:rPr lang="en-US" altLang="zh-CN" b="1" dirty="0" smtClean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 b="1" dirty="0" smtClean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：网孔的概念</a:t>
            </a:r>
            <a:r>
              <a:rPr lang="zh-CN" altLang="en-US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仅适用于</a:t>
            </a: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平面电路</a:t>
            </a:r>
            <a:r>
              <a:rPr lang="zh-CN" altLang="en-US" b="1" dirty="0" smtClean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。平面电路是</a:t>
            </a:r>
            <a:r>
              <a:rPr lang="zh-CN" altLang="en-US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指支路间没有交叉点</a:t>
            </a:r>
            <a:r>
              <a:rPr lang="zh-CN" altLang="en-US" b="1" dirty="0" smtClean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的电路。左图为平面电路，右</a:t>
            </a:r>
            <a:r>
              <a:rPr lang="zh-CN" altLang="en-US" b="1" dirty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图为非</a:t>
            </a:r>
            <a:r>
              <a:rPr lang="zh-CN" altLang="en-US" b="1" dirty="0" smtClean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平面电路。</a:t>
            </a:r>
            <a:endParaRPr lang="zh-CN" altLang="en-US" b="1" dirty="0">
              <a:solidFill>
                <a:srgbClr val="00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405520" name="Object 16"/>
          <p:cNvGraphicFramePr>
            <a:graphicFrameLocks noGrp="1" noChangeAspect="1"/>
          </p:cNvGraphicFramePr>
          <p:nvPr>
            <p:ph sz="half" idx="2"/>
            <p:extLst/>
          </p:nvPr>
        </p:nvGraphicFramePr>
        <p:xfrm>
          <a:off x="4716016" y="5013176"/>
          <a:ext cx="2520280" cy="14785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6" name="Visio" r:id="rId3" imgW="2212848" imgH="1298448" progId="Visio.Drawing.11">
                  <p:embed/>
                </p:oleObj>
              </mc:Choice>
              <mc:Fallback>
                <p:oleObj name="Visio" r:id="rId3" imgW="2212848" imgH="1298448" progId="Visio.Drawing.11">
                  <p:embed/>
                  <p:pic>
                    <p:nvPicPr>
                      <p:cNvPr id="40552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016" y="5013176"/>
                        <a:ext cx="2520280" cy="147852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16"/>
          <p:cNvGraphicFramePr>
            <a:graphicFrameLocks noChangeAspect="1"/>
          </p:cNvGraphicFramePr>
          <p:nvPr>
            <p:extLst/>
          </p:nvPr>
        </p:nvGraphicFramePr>
        <p:xfrm>
          <a:off x="899592" y="5013176"/>
          <a:ext cx="2629142" cy="154238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7" name="Visio" r:id="rId5" imgW="2633592" imgH="1557198" progId="Visio.Drawing.11">
                  <p:embed/>
                </p:oleObj>
              </mc:Choice>
              <mc:Fallback>
                <p:oleObj name="Visio" r:id="rId5" imgW="2633592" imgH="1557198" progId="Visio.Drawing.11">
                  <p:embed/>
                  <p:pic>
                    <p:nvPicPr>
                      <p:cNvPr id="9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9592" y="5013176"/>
                        <a:ext cx="2629142" cy="154238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3"/>
          <p:cNvGraphicFramePr>
            <a:graphicFrameLocks noChangeAspect="1"/>
          </p:cNvGraphicFramePr>
          <p:nvPr>
            <p:extLst/>
          </p:nvPr>
        </p:nvGraphicFramePr>
        <p:xfrm>
          <a:off x="1835696" y="1457687"/>
          <a:ext cx="1294509" cy="183138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8" name="Visio" r:id="rId7" imgW="815673" imgH="1142286" progId="Visio.Drawing.11">
                  <p:embed/>
                </p:oleObj>
              </mc:Choice>
              <mc:Fallback>
                <p:oleObj name="Visio" r:id="rId7" imgW="815673" imgH="1142286" progId="Visio.Drawing.11">
                  <p:embed/>
                  <p:pic>
                    <p:nvPicPr>
                      <p:cNvPr id="1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1457687"/>
                        <a:ext cx="1294509" cy="183138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4"/>
          <p:cNvGraphicFramePr>
            <a:graphicFrameLocks noChangeAspect="1"/>
          </p:cNvGraphicFramePr>
          <p:nvPr>
            <p:extLst/>
          </p:nvPr>
        </p:nvGraphicFramePr>
        <p:xfrm>
          <a:off x="5076056" y="1455043"/>
          <a:ext cx="2301875" cy="168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9" name="Visio" r:id="rId9" imgW="1180005" imgH="872252" progId="Visio.Drawing.11">
                  <p:embed/>
                </p:oleObj>
              </mc:Choice>
              <mc:Fallback>
                <p:oleObj name="Visio" r:id="rId9" imgW="1180005" imgH="872252" progId="Visio.Drawing.11">
                  <p:embed/>
                  <p:pic>
                    <p:nvPicPr>
                      <p:cNvPr id="1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056" y="1455043"/>
                        <a:ext cx="2301875" cy="168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251074" y="1064005"/>
            <a:ext cx="8352928" cy="533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华文宋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华文宋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15875">
              <a:lnSpc>
                <a:spcPct val="90000"/>
              </a:lnSpc>
              <a:buFontTx/>
              <a:buNone/>
            </a:pPr>
            <a:r>
              <a:rPr lang="zh-CN" altLang="en-US" b="1" dirty="0" smtClean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注意</a:t>
            </a:r>
            <a:r>
              <a:rPr lang="en-US" altLang="zh-CN" b="1" dirty="0" smtClean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 b="1" dirty="0" smtClean="0">
                <a:solidFill>
                  <a:srgbClr val="0000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：两条特殊的支路：</a:t>
            </a:r>
            <a:endParaRPr lang="zh-CN" altLang="en-US" b="1" dirty="0">
              <a:solidFill>
                <a:srgbClr val="00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 bwMode="auto">
          <a:xfrm>
            <a:off x="5508104" y="3532006"/>
            <a:ext cx="1864270" cy="533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华文宋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华文宋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15875">
              <a:lnSpc>
                <a:spcPct val="90000"/>
              </a:lnSpc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诺顿支路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Rectangle 3"/>
          <p:cNvSpPr txBox="1">
            <a:spLocks noChangeArrowheads="1"/>
          </p:cNvSpPr>
          <p:nvPr/>
        </p:nvSpPr>
        <p:spPr bwMode="auto">
          <a:xfrm>
            <a:off x="1628056" y="3546141"/>
            <a:ext cx="1864270" cy="5333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华文宋体" panose="02010600040101010101" pitchFamily="2" charset="-122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宋体" panose="02010600030101010101" pitchFamily="2" charset="-122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 kern="1200">
                <a:solidFill>
                  <a:schemeClr val="tx1"/>
                </a:solidFill>
                <a:latin typeface="+mn-lt"/>
                <a:ea typeface="华文宋体" panose="02010600040101010101" pitchFamily="2" charset="-122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 kern="1200">
                <a:solidFill>
                  <a:schemeClr val="tx1"/>
                </a:solidFill>
                <a:latin typeface="+mn-lt"/>
                <a:ea typeface="华文宋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15875">
              <a:lnSpc>
                <a:spcPct val="90000"/>
              </a:lnSpc>
              <a:buFontTx/>
              <a:buNone/>
            </a:pPr>
            <a:r>
              <a:rPr lang="zh-CN" altLang="en-US" b="1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戴维南支路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73283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405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4055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405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5507" grpId="0" build="p"/>
      <p:bldP spid="12" grpId="0" build="p"/>
      <p:bldP spid="13" grpId="0" build="p"/>
      <p:bldP spid="1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5"/>
          <p:cNvSpPr txBox="1">
            <a:spLocks noChangeArrowheads="1"/>
          </p:cNvSpPr>
          <p:nvPr/>
        </p:nvSpPr>
        <p:spPr bwMode="auto">
          <a:xfrm>
            <a:off x="468313" y="908050"/>
            <a:ext cx="2411412" cy="1371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 eaLnBrk="0" hangingPunct="0"/>
            <a:r>
              <a:rPr kumimoji="1" lang="zh-CN" altLang="en-US" sz="2400" b="1" dirty="0" smtClean="0">
                <a:latin typeface="+mn-ea"/>
                <a:sym typeface="Symbol" panose="05050102010706020507" pitchFamily="18" charset="2"/>
              </a:rPr>
              <a:t>例</a:t>
            </a:r>
            <a:r>
              <a:rPr kumimoji="1" lang="en-US" altLang="zh-CN" sz="2400" b="1" dirty="0" smtClean="0">
                <a:latin typeface="+mn-ea"/>
                <a:sym typeface="Symbol" panose="05050102010706020507" pitchFamily="18" charset="2"/>
              </a:rPr>
              <a:t>1</a:t>
            </a:r>
            <a:r>
              <a:rPr kumimoji="1" lang="zh-CN" altLang="en-US" sz="2400" b="1" dirty="0" smtClean="0">
                <a:latin typeface="+mn-ea"/>
                <a:sym typeface="Symbol" panose="05050102010706020507" pitchFamily="18" charset="2"/>
              </a:rPr>
              <a:t>   </a:t>
            </a:r>
            <a:r>
              <a:rPr kumimoji="1" lang="zh-CN" altLang="en-US" sz="2000" b="1" dirty="0">
                <a:latin typeface="+mn-ea"/>
              </a:rPr>
              <a:t>乌鲁木齐发电站发出的正弦电磁波需要多少时间才能传输到长沙 ？</a:t>
            </a:r>
            <a:endParaRPr kumimoji="1" lang="zh-CN" altLang="en-US" sz="2000" dirty="0">
              <a:latin typeface="+mn-ea"/>
              <a:sym typeface="Symbol" panose="05050102010706020507" pitchFamily="18" charset="2"/>
            </a:endParaRPr>
          </a:p>
        </p:txBody>
      </p:sp>
      <p:graphicFrame>
        <p:nvGraphicFramePr>
          <p:cNvPr id="5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41107223"/>
              </p:ext>
            </p:extLst>
          </p:nvPr>
        </p:nvGraphicFramePr>
        <p:xfrm>
          <a:off x="395536" y="2564904"/>
          <a:ext cx="347345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Equation" r:id="rId3" imgW="1549080" imgH="228600" progId="Equation.DSMT4">
                  <p:embed/>
                </p:oleObj>
              </mc:Choice>
              <mc:Fallback>
                <p:oleObj name="Equation" r:id="rId3" imgW="1549080" imgH="228600" progId="Equation.DSMT4">
                  <p:embed/>
                  <p:pic>
                    <p:nvPicPr>
                      <p:cNvPr id="41882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536" y="2564904"/>
                        <a:ext cx="3473450" cy="5111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Box 8"/>
          <p:cNvSpPr txBox="1">
            <a:spLocks noChangeArrowheads="1"/>
          </p:cNvSpPr>
          <p:nvPr/>
        </p:nvSpPr>
        <p:spPr bwMode="auto">
          <a:xfrm>
            <a:off x="503238" y="3284984"/>
            <a:ext cx="80994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indent="6238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90588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069975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/>
            <a:r>
              <a:rPr lang="en-US" altLang="zh-CN" sz="2400" b="1" dirty="0">
                <a:latin typeface="+mn-ea"/>
                <a:ea typeface="+mn-ea"/>
              </a:rPr>
              <a:t>50Hz</a:t>
            </a:r>
            <a:r>
              <a:rPr lang="zh-CN" altLang="en-US" sz="2400" b="1" dirty="0">
                <a:latin typeface="+mn-ea"/>
                <a:ea typeface="+mn-ea"/>
              </a:rPr>
              <a:t>的正弦波周期为</a:t>
            </a:r>
            <a:r>
              <a:rPr lang="en-US" altLang="zh-CN" sz="2400" b="1" dirty="0">
                <a:latin typeface="+mn-ea"/>
                <a:ea typeface="+mn-ea"/>
              </a:rPr>
              <a:t>20ms</a:t>
            </a:r>
            <a:r>
              <a:rPr lang="zh-CN" altLang="en-US" sz="2400" dirty="0">
                <a:latin typeface="+mn-ea"/>
                <a:ea typeface="+mn-ea"/>
              </a:rPr>
              <a:t>。</a:t>
            </a:r>
            <a:r>
              <a:rPr lang="zh-CN" altLang="en-US" sz="2400" b="1" dirty="0">
                <a:latin typeface="+mn-ea"/>
                <a:ea typeface="+mn-ea"/>
              </a:rPr>
              <a:t>经过</a:t>
            </a:r>
            <a:r>
              <a:rPr lang="en-US" altLang="zh-CN" sz="2400" b="1" dirty="0">
                <a:latin typeface="+mn-ea"/>
                <a:ea typeface="+mn-ea"/>
              </a:rPr>
              <a:t>10ms</a:t>
            </a:r>
            <a:r>
              <a:rPr lang="zh-CN" altLang="en-US" sz="2400" b="1" dirty="0">
                <a:latin typeface="+mn-ea"/>
                <a:ea typeface="+mn-ea"/>
              </a:rPr>
              <a:t>以后，乌鲁木齐发出的电磁波刚刚到达长沙，而此时乌鲁木齐发电机的电压与长沙的电压正好</a:t>
            </a:r>
            <a:r>
              <a:rPr lang="zh-CN" altLang="en-US" sz="2400" b="1" dirty="0">
                <a:solidFill>
                  <a:srgbClr val="FF0000"/>
                </a:solidFill>
                <a:latin typeface="+mn-ea"/>
                <a:ea typeface="+mn-ea"/>
              </a:rPr>
              <a:t>反相</a:t>
            </a:r>
            <a:r>
              <a:rPr lang="zh-CN" altLang="en-US" sz="2400" b="1" dirty="0">
                <a:latin typeface="+mn-ea"/>
                <a:ea typeface="+mn-ea"/>
              </a:rPr>
              <a:t>！ </a:t>
            </a:r>
          </a:p>
        </p:txBody>
      </p:sp>
      <p:grpSp>
        <p:nvGrpSpPr>
          <p:cNvPr id="7" name="Group 9"/>
          <p:cNvGrpSpPr>
            <a:grpSpLocks/>
          </p:cNvGrpSpPr>
          <p:nvPr/>
        </p:nvGrpSpPr>
        <p:grpSpPr bwMode="auto">
          <a:xfrm>
            <a:off x="3024188" y="892175"/>
            <a:ext cx="5900737" cy="2289175"/>
            <a:chOff x="1293" y="1345"/>
            <a:chExt cx="3717" cy="1442"/>
          </a:xfrm>
        </p:grpSpPr>
        <p:sp>
          <p:nvSpPr>
            <p:cNvPr id="8" name="Oval 10"/>
            <p:cNvSpPr>
              <a:spLocks noChangeArrowheads="1"/>
            </p:cNvSpPr>
            <p:nvPr/>
          </p:nvSpPr>
          <p:spPr bwMode="auto">
            <a:xfrm>
              <a:off x="2000" y="1959"/>
              <a:ext cx="302" cy="289"/>
            </a:xfrm>
            <a:prstGeom prst="ellipse">
              <a:avLst/>
            </a:prstGeom>
            <a:solidFill>
              <a:srgbClr val="FFFFFF"/>
            </a:solidFill>
            <a:ln w="12700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9" name="Line 11"/>
            <p:cNvSpPr>
              <a:spLocks noChangeShapeType="1"/>
            </p:cNvSpPr>
            <p:nvPr/>
          </p:nvSpPr>
          <p:spPr bwMode="auto">
            <a:xfrm>
              <a:off x="2151" y="1706"/>
              <a:ext cx="0" cy="8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10" name="Line 12"/>
            <p:cNvSpPr>
              <a:spLocks noChangeShapeType="1"/>
            </p:cNvSpPr>
            <p:nvPr/>
          </p:nvSpPr>
          <p:spPr bwMode="auto">
            <a:xfrm>
              <a:off x="2151" y="1706"/>
              <a:ext cx="11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11" name="Text Box 13"/>
            <p:cNvSpPr txBox="1">
              <a:spLocks noChangeArrowheads="1"/>
            </p:cNvSpPr>
            <p:nvPr/>
          </p:nvSpPr>
          <p:spPr bwMode="auto">
            <a:xfrm>
              <a:off x="1293" y="2074"/>
              <a:ext cx="652" cy="1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en-US" altLang="zh-CN" b="1" i="1">
                  <a:latin typeface="+mn-ea"/>
                </a:rPr>
                <a:t>U</a:t>
              </a:r>
              <a:r>
                <a:rPr lang="en-US" altLang="zh-CN" b="1">
                  <a:latin typeface="+mn-ea"/>
                </a:rPr>
                <a:t>sin(314</a:t>
              </a:r>
              <a:r>
                <a:rPr lang="en-US" altLang="zh-CN" b="1" i="1">
                  <a:latin typeface="+mn-ea"/>
                </a:rPr>
                <a:t>t</a:t>
              </a:r>
              <a:r>
                <a:rPr lang="en-US" altLang="zh-CN" b="1">
                  <a:latin typeface="+mn-ea"/>
                </a:rPr>
                <a:t>)</a:t>
              </a:r>
            </a:p>
          </p:txBody>
        </p:sp>
        <p:sp>
          <p:nvSpPr>
            <p:cNvPr id="12" name="Text Box 14"/>
            <p:cNvSpPr txBox="1">
              <a:spLocks noChangeArrowheads="1"/>
            </p:cNvSpPr>
            <p:nvPr/>
          </p:nvSpPr>
          <p:spPr bwMode="auto">
            <a:xfrm>
              <a:off x="1801" y="1854"/>
              <a:ext cx="213" cy="1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zh-CN" altLang="en-US">
                  <a:latin typeface="+mn-ea"/>
                </a:rPr>
                <a:t>＋</a:t>
              </a:r>
            </a:p>
          </p:txBody>
        </p:sp>
        <p:sp>
          <p:nvSpPr>
            <p:cNvPr id="13" name="Text Box 15"/>
            <p:cNvSpPr txBox="1">
              <a:spLocks noChangeArrowheads="1"/>
            </p:cNvSpPr>
            <p:nvPr/>
          </p:nvSpPr>
          <p:spPr bwMode="auto">
            <a:xfrm>
              <a:off x="1814" y="2246"/>
              <a:ext cx="213" cy="172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/>
            <a:p>
              <a:pPr algn="just"/>
              <a:r>
                <a:rPr lang="zh-CN" altLang="en-US">
                  <a:latin typeface="+mn-ea"/>
                </a:rPr>
                <a:t>－</a:t>
              </a:r>
            </a:p>
          </p:txBody>
        </p:sp>
        <p:grpSp>
          <p:nvGrpSpPr>
            <p:cNvPr id="14" name="Group 16"/>
            <p:cNvGrpSpPr>
              <a:grpSpLocks/>
            </p:cNvGrpSpPr>
            <p:nvPr/>
          </p:nvGrpSpPr>
          <p:grpSpPr bwMode="auto">
            <a:xfrm>
              <a:off x="2101" y="2560"/>
              <a:ext cx="97" cy="173"/>
              <a:chOff x="5435" y="12643"/>
              <a:chExt cx="242" cy="432"/>
            </a:xfrm>
          </p:grpSpPr>
          <p:sp>
            <p:nvSpPr>
              <p:cNvPr id="28" name="Line 17"/>
              <p:cNvSpPr>
                <a:spLocks noChangeShapeType="1"/>
              </p:cNvSpPr>
              <p:nvPr/>
            </p:nvSpPr>
            <p:spPr bwMode="auto">
              <a:xfrm>
                <a:off x="5556" y="12643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29" name="Line 18"/>
              <p:cNvSpPr>
                <a:spLocks noChangeShapeType="1"/>
              </p:cNvSpPr>
              <p:nvPr/>
            </p:nvSpPr>
            <p:spPr bwMode="auto">
              <a:xfrm>
                <a:off x="5435" y="12947"/>
                <a:ext cx="24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30" name="Line 19"/>
              <p:cNvSpPr>
                <a:spLocks noChangeShapeType="1"/>
              </p:cNvSpPr>
              <p:nvPr/>
            </p:nvSpPr>
            <p:spPr bwMode="auto">
              <a:xfrm>
                <a:off x="5512" y="13011"/>
                <a:ext cx="9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31" name="Line 20"/>
              <p:cNvSpPr>
                <a:spLocks noChangeShapeType="1"/>
              </p:cNvSpPr>
              <p:nvPr/>
            </p:nvSpPr>
            <p:spPr bwMode="auto">
              <a:xfrm>
                <a:off x="5534" y="13075"/>
                <a:ext cx="5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</a:endParaRPr>
              </a:p>
            </p:txBody>
          </p:sp>
        </p:grpSp>
        <p:grpSp>
          <p:nvGrpSpPr>
            <p:cNvPr id="15" name="Group 21"/>
            <p:cNvGrpSpPr>
              <a:grpSpLocks/>
            </p:cNvGrpSpPr>
            <p:nvPr/>
          </p:nvGrpSpPr>
          <p:grpSpPr bwMode="auto">
            <a:xfrm>
              <a:off x="4740" y="2614"/>
              <a:ext cx="97" cy="173"/>
              <a:chOff x="5435" y="12643"/>
              <a:chExt cx="242" cy="432"/>
            </a:xfrm>
          </p:grpSpPr>
          <p:sp>
            <p:nvSpPr>
              <p:cNvPr id="24" name="Line 22"/>
              <p:cNvSpPr>
                <a:spLocks noChangeShapeType="1"/>
              </p:cNvSpPr>
              <p:nvPr/>
            </p:nvSpPr>
            <p:spPr bwMode="auto">
              <a:xfrm>
                <a:off x="5556" y="12643"/>
                <a:ext cx="0" cy="288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25" name="Line 23"/>
              <p:cNvSpPr>
                <a:spLocks noChangeShapeType="1"/>
              </p:cNvSpPr>
              <p:nvPr/>
            </p:nvSpPr>
            <p:spPr bwMode="auto">
              <a:xfrm>
                <a:off x="5435" y="12947"/>
                <a:ext cx="24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26" name="Line 24"/>
              <p:cNvSpPr>
                <a:spLocks noChangeShapeType="1"/>
              </p:cNvSpPr>
              <p:nvPr/>
            </p:nvSpPr>
            <p:spPr bwMode="auto">
              <a:xfrm>
                <a:off x="5512" y="13011"/>
                <a:ext cx="9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27" name="Line 25"/>
              <p:cNvSpPr>
                <a:spLocks noChangeShapeType="1"/>
              </p:cNvSpPr>
              <p:nvPr/>
            </p:nvSpPr>
            <p:spPr bwMode="auto">
              <a:xfrm>
                <a:off x="5534" y="13075"/>
                <a:ext cx="55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>
                  <a:latin typeface="+mn-ea"/>
                </a:endParaRPr>
              </a:p>
            </p:txBody>
          </p:sp>
        </p:grpSp>
        <p:sp>
          <p:nvSpPr>
            <p:cNvPr id="16" name="Text Box 26"/>
            <p:cNvSpPr txBox="1">
              <a:spLocks noChangeArrowheads="1"/>
            </p:cNvSpPr>
            <p:nvPr/>
          </p:nvSpPr>
          <p:spPr bwMode="auto">
            <a:xfrm>
              <a:off x="1701" y="1434"/>
              <a:ext cx="69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b="1">
                  <a:latin typeface="+mn-ea"/>
                  <a:sym typeface="Symbol" panose="05050102010706020507" pitchFamily="18" charset="2"/>
                </a:rPr>
                <a:t>乌鲁木齐</a:t>
              </a:r>
            </a:p>
          </p:txBody>
        </p:sp>
        <p:sp>
          <p:nvSpPr>
            <p:cNvPr id="17" name="Text Box 27"/>
            <p:cNvSpPr txBox="1">
              <a:spLocks noChangeArrowheads="1"/>
            </p:cNvSpPr>
            <p:nvPr/>
          </p:nvSpPr>
          <p:spPr bwMode="auto">
            <a:xfrm>
              <a:off x="4604" y="1389"/>
              <a:ext cx="406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zh-CN" altLang="en-US" b="1">
                  <a:latin typeface="+mn-ea"/>
                  <a:sym typeface="Symbol" panose="05050102010706020507" pitchFamily="18" charset="2"/>
                </a:rPr>
                <a:t>长沙</a:t>
              </a:r>
            </a:p>
          </p:txBody>
        </p:sp>
        <p:sp>
          <p:nvSpPr>
            <p:cNvPr id="18" name="Text Box 28"/>
            <p:cNvSpPr txBox="1">
              <a:spLocks noChangeArrowheads="1"/>
            </p:cNvSpPr>
            <p:nvPr/>
          </p:nvSpPr>
          <p:spPr bwMode="auto">
            <a:xfrm>
              <a:off x="3062" y="1345"/>
              <a:ext cx="730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+mn-ea"/>
                  <a:sym typeface="Symbol" panose="05050102010706020507" pitchFamily="18" charset="2"/>
                </a:rPr>
                <a:t>3000</a:t>
              </a:r>
              <a:r>
                <a:rPr kumimoji="1" lang="zh-CN" altLang="en-US" b="1">
                  <a:latin typeface="+mn-ea"/>
                  <a:sym typeface="Symbol" panose="05050102010706020507" pitchFamily="18" charset="2"/>
                </a:rPr>
                <a:t>公里</a:t>
              </a:r>
            </a:p>
          </p:txBody>
        </p:sp>
        <p:sp>
          <p:nvSpPr>
            <p:cNvPr id="19" name="Text Box 29"/>
            <p:cNvSpPr txBox="1">
              <a:spLocks noChangeArrowheads="1"/>
            </p:cNvSpPr>
            <p:nvPr/>
          </p:nvSpPr>
          <p:spPr bwMode="auto">
            <a:xfrm>
              <a:off x="2744" y="1980"/>
              <a:ext cx="113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kumimoji="1" lang="en-US" altLang="zh-CN" b="1">
                  <a:latin typeface="+mn-ea"/>
                  <a:sym typeface="Symbol" panose="05050102010706020507" pitchFamily="18" charset="2"/>
                </a:rPr>
                <a:t>C= 3×10</a:t>
              </a:r>
              <a:r>
                <a:rPr kumimoji="1" lang="en-US" altLang="zh-CN" b="1" baseline="30000">
                  <a:latin typeface="+mn-ea"/>
                  <a:sym typeface="Symbol" panose="05050102010706020507" pitchFamily="18" charset="2"/>
                </a:rPr>
                <a:t>8</a:t>
              </a:r>
              <a:r>
                <a:rPr kumimoji="1" lang="zh-CN" altLang="en-US" b="1">
                  <a:latin typeface="+mn-ea"/>
                  <a:sym typeface="Symbol" panose="05050102010706020507" pitchFamily="18" charset="2"/>
                </a:rPr>
                <a:t>米</a:t>
              </a:r>
              <a:r>
                <a:rPr kumimoji="1" lang="en-US" altLang="zh-CN" b="1">
                  <a:latin typeface="+mn-ea"/>
                  <a:sym typeface="Symbol" panose="05050102010706020507" pitchFamily="18" charset="2"/>
                </a:rPr>
                <a:t>/</a:t>
              </a:r>
              <a:r>
                <a:rPr kumimoji="1" lang="zh-CN" altLang="en-US" b="1">
                  <a:latin typeface="+mn-ea"/>
                  <a:sym typeface="Symbol" panose="05050102010706020507" pitchFamily="18" charset="2"/>
                </a:rPr>
                <a:t>秒</a:t>
              </a:r>
              <a:r>
                <a:rPr kumimoji="1" lang="zh-CN" altLang="en-US">
                  <a:latin typeface="+mn-ea"/>
                  <a:sym typeface="Symbol" panose="05050102010706020507" pitchFamily="18" charset="2"/>
                </a:rPr>
                <a:t> </a:t>
              </a:r>
            </a:p>
          </p:txBody>
        </p:sp>
        <p:sp>
          <p:nvSpPr>
            <p:cNvPr id="20" name="Line 30"/>
            <p:cNvSpPr>
              <a:spLocks noChangeShapeType="1"/>
            </p:cNvSpPr>
            <p:nvPr/>
          </p:nvSpPr>
          <p:spPr bwMode="auto">
            <a:xfrm>
              <a:off x="3651" y="1707"/>
              <a:ext cx="1138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21" name="Oval 31"/>
            <p:cNvSpPr>
              <a:spLocks noChangeArrowheads="1"/>
            </p:cNvSpPr>
            <p:nvPr/>
          </p:nvSpPr>
          <p:spPr bwMode="auto">
            <a:xfrm>
              <a:off x="3425" y="1688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22" name="Oval 32"/>
            <p:cNvSpPr>
              <a:spLocks noChangeArrowheads="1"/>
            </p:cNvSpPr>
            <p:nvPr/>
          </p:nvSpPr>
          <p:spPr bwMode="auto">
            <a:xfrm>
              <a:off x="3334" y="1688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23" name="Oval 33"/>
            <p:cNvSpPr>
              <a:spLocks noChangeArrowheads="1"/>
            </p:cNvSpPr>
            <p:nvPr/>
          </p:nvSpPr>
          <p:spPr bwMode="auto">
            <a:xfrm>
              <a:off x="3515" y="1688"/>
              <a:ext cx="45" cy="45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</p:grpSp>
      <p:sp>
        <p:nvSpPr>
          <p:cNvPr id="32" name="Text Box 34"/>
          <p:cNvSpPr txBox="1">
            <a:spLocks noChangeArrowheads="1"/>
          </p:cNvSpPr>
          <p:nvPr/>
        </p:nvSpPr>
        <p:spPr bwMode="auto">
          <a:xfrm>
            <a:off x="1043608" y="4743165"/>
            <a:ext cx="20882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zh-CN" altLang="en-US" sz="2400" b="1" dirty="0">
                <a:latin typeface="+mn-ea"/>
              </a:rPr>
              <a:t>关键在哪里？</a:t>
            </a:r>
          </a:p>
        </p:txBody>
      </p:sp>
      <p:sp>
        <p:nvSpPr>
          <p:cNvPr id="33" name="Text Box 35"/>
          <p:cNvSpPr txBox="1">
            <a:spLocks noChangeArrowheads="1"/>
          </p:cNvSpPr>
          <p:nvPr/>
        </p:nvSpPr>
        <p:spPr bwMode="auto">
          <a:xfrm>
            <a:off x="1065687" y="5661248"/>
            <a:ext cx="67063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kumimoji="1" lang="en-US" altLang="zh-CN" sz="2400" b="1" dirty="0">
                <a:solidFill>
                  <a:schemeClr val="tx2"/>
                </a:solidFill>
                <a:latin typeface="+mn-ea"/>
              </a:rPr>
              <a:t>50Hz</a:t>
            </a:r>
            <a:r>
              <a:rPr kumimoji="1" lang="zh-CN" altLang="en-US" sz="2400" b="1" dirty="0">
                <a:solidFill>
                  <a:schemeClr val="tx2"/>
                </a:solidFill>
                <a:latin typeface="+mn-ea"/>
              </a:rPr>
              <a:t>电磁波的波长 </a:t>
            </a:r>
            <a:r>
              <a:rPr kumimoji="1" lang="zh-CN" altLang="en-US" sz="2400" b="1" i="1" dirty="0">
                <a:solidFill>
                  <a:schemeClr val="tx2"/>
                </a:solidFill>
                <a:latin typeface="+mn-ea"/>
                <a:sym typeface="Symbol" panose="05050102010706020507" pitchFamily="18" charset="2"/>
              </a:rPr>
              <a:t>  </a:t>
            </a:r>
            <a:r>
              <a:rPr kumimoji="1" lang="en-US" altLang="zh-CN" sz="2400" b="1" dirty="0">
                <a:solidFill>
                  <a:schemeClr val="tx2"/>
                </a:solidFill>
                <a:latin typeface="+mn-ea"/>
                <a:sym typeface="Symbol" panose="05050102010706020507" pitchFamily="18" charset="2"/>
              </a:rPr>
              <a:t>= </a:t>
            </a:r>
            <a:r>
              <a:rPr kumimoji="1" lang="en-US" altLang="en-US" sz="2400" b="1" dirty="0">
                <a:solidFill>
                  <a:schemeClr val="tx2"/>
                </a:solidFill>
                <a:latin typeface="+mn-ea"/>
              </a:rPr>
              <a:t>3 </a:t>
            </a:r>
            <a:r>
              <a:rPr kumimoji="1" lang="en-US" altLang="en-US" sz="2400" b="1" dirty="0">
                <a:solidFill>
                  <a:schemeClr val="tx2"/>
                </a:solidFill>
                <a:latin typeface="+mn-ea"/>
                <a:sym typeface="Symbol" panose="05050102010706020507" pitchFamily="18" charset="2"/>
              </a:rPr>
              <a:t></a:t>
            </a:r>
            <a:r>
              <a:rPr kumimoji="1" lang="en-US" altLang="en-US" sz="2400" b="1" dirty="0">
                <a:solidFill>
                  <a:schemeClr val="tx2"/>
                </a:solidFill>
                <a:latin typeface="+mn-ea"/>
              </a:rPr>
              <a:t> 10</a:t>
            </a:r>
            <a:r>
              <a:rPr kumimoji="1" lang="en-US" altLang="en-US" sz="2400" b="1" baseline="30000" dirty="0">
                <a:solidFill>
                  <a:schemeClr val="tx2"/>
                </a:solidFill>
                <a:latin typeface="+mn-ea"/>
              </a:rPr>
              <a:t>8</a:t>
            </a:r>
            <a:r>
              <a:rPr kumimoji="1" lang="en-US" altLang="en-US" sz="2400" b="1" dirty="0">
                <a:solidFill>
                  <a:schemeClr val="tx2"/>
                </a:solidFill>
                <a:latin typeface="+mn-ea"/>
              </a:rPr>
              <a:t> </a:t>
            </a:r>
            <a:r>
              <a:rPr kumimoji="1" lang="en-US" altLang="zh-CN" sz="2400" b="1" dirty="0" smtClean="0">
                <a:solidFill>
                  <a:schemeClr val="tx2"/>
                </a:solidFill>
                <a:latin typeface="+mn-ea"/>
                <a:sym typeface="Symbol" panose="05050102010706020507" pitchFamily="18" charset="2"/>
              </a:rPr>
              <a:t>/ 50</a:t>
            </a:r>
            <a:r>
              <a:rPr kumimoji="1" lang="en-US" altLang="en-US" sz="2400" b="1" dirty="0" smtClean="0">
                <a:solidFill>
                  <a:schemeClr val="tx2"/>
                </a:solidFill>
                <a:latin typeface="+mn-ea"/>
                <a:sym typeface="Symbol" panose="05050102010706020507" pitchFamily="18" charset="2"/>
              </a:rPr>
              <a:t>=6000 </a:t>
            </a:r>
            <a:r>
              <a:rPr kumimoji="1" lang="en-US" altLang="zh-CN" sz="2400" b="1" dirty="0">
                <a:solidFill>
                  <a:schemeClr val="tx2"/>
                </a:solidFill>
                <a:latin typeface="+mn-ea"/>
                <a:sym typeface="Symbol" panose="05050102010706020507" pitchFamily="18" charset="2"/>
              </a:rPr>
              <a:t>km</a:t>
            </a:r>
          </a:p>
        </p:txBody>
      </p:sp>
      <p:sp>
        <p:nvSpPr>
          <p:cNvPr id="34" name="Rectangle 185"/>
          <p:cNvSpPr>
            <a:spLocks noChangeArrowheads="1"/>
          </p:cNvSpPr>
          <p:nvPr/>
        </p:nvSpPr>
        <p:spPr bwMode="auto">
          <a:xfrm>
            <a:off x="395288" y="1635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3200" dirty="0">
                <a:solidFill>
                  <a:schemeClr val="tx2"/>
                </a:solidFill>
                <a:latin typeface="+mn-ea"/>
                <a:ea typeface="+mn-ea"/>
              </a:rPr>
              <a:t>1.1 </a:t>
            </a:r>
            <a:r>
              <a:rPr lang="zh-CN" altLang="en-US" sz="3200" dirty="0" smtClean="0">
                <a:solidFill>
                  <a:schemeClr val="tx2"/>
                </a:solidFill>
                <a:latin typeface="+mn-ea"/>
                <a:ea typeface="+mn-ea"/>
              </a:rPr>
              <a:t>电路模型 </a:t>
            </a:r>
            <a:r>
              <a:rPr lang="en-US" altLang="zh-CN" sz="3200" dirty="0" smtClean="0">
                <a:solidFill>
                  <a:schemeClr val="tx2"/>
                </a:solidFill>
                <a:latin typeface="+mn-ea"/>
                <a:ea typeface="+mn-ea"/>
              </a:rPr>
              <a:t>Circuits Model</a:t>
            </a:r>
            <a:endParaRPr lang="en-US" altLang="zh-CN" sz="3200" dirty="0">
              <a:solidFill>
                <a:schemeClr val="tx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8441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utoUpdateAnimBg="0"/>
      <p:bldP spid="6" grpId="0"/>
      <p:bldP spid="32" grpId="0"/>
      <p:bldP spid="3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636588" y="773113"/>
            <a:ext cx="7318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ctr" eaLnBrk="0" hangingPunct="0"/>
            <a:r>
              <a:rPr kumimoji="1" lang="zh-CN" altLang="en-US" sz="2400" b="1" dirty="0" smtClean="0">
                <a:latin typeface="+mn-ea"/>
                <a:sym typeface="Symbol" panose="05050102010706020507" pitchFamily="18" charset="2"/>
              </a:rPr>
              <a:t>例</a:t>
            </a:r>
            <a:r>
              <a:rPr kumimoji="1" lang="en-US" altLang="zh-CN" sz="2400" b="1" dirty="0" smtClean="0">
                <a:latin typeface="+mn-ea"/>
                <a:sym typeface="Symbol" panose="05050102010706020507" pitchFamily="18" charset="2"/>
              </a:rPr>
              <a:t>2</a:t>
            </a:r>
            <a:endParaRPr kumimoji="1" lang="zh-CN" altLang="en-US" sz="2400" b="1" dirty="0">
              <a:latin typeface="+mn-ea"/>
              <a:sym typeface="Symbol" panose="05050102010706020507" pitchFamily="18" charset="2"/>
            </a:endParaRPr>
          </a:p>
        </p:txBody>
      </p:sp>
      <p:grpSp>
        <p:nvGrpSpPr>
          <p:cNvPr id="5" name="Group 5"/>
          <p:cNvGrpSpPr>
            <a:grpSpLocks/>
          </p:cNvGrpSpPr>
          <p:nvPr/>
        </p:nvGrpSpPr>
        <p:grpSpPr bwMode="auto">
          <a:xfrm>
            <a:off x="1143000" y="912813"/>
            <a:ext cx="3097213" cy="2330451"/>
            <a:chOff x="4416" y="1679"/>
            <a:chExt cx="1951" cy="1468"/>
          </a:xfrm>
        </p:grpSpPr>
        <p:sp>
          <p:nvSpPr>
            <p:cNvPr id="6" name="Line 6"/>
            <p:cNvSpPr>
              <a:spLocks noChangeShapeType="1"/>
            </p:cNvSpPr>
            <p:nvPr/>
          </p:nvSpPr>
          <p:spPr bwMode="auto">
            <a:xfrm>
              <a:off x="4553" y="2820"/>
              <a:ext cx="1255" cy="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grpSp>
          <p:nvGrpSpPr>
            <p:cNvPr id="7" name="Group 7"/>
            <p:cNvGrpSpPr>
              <a:grpSpLocks/>
            </p:cNvGrpSpPr>
            <p:nvPr/>
          </p:nvGrpSpPr>
          <p:grpSpPr bwMode="auto">
            <a:xfrm>
              <a:off x="4416" y="1679"/>
              <a:ext cx="1951" cy="1468"/>
              <a:chOff x="672" y="-481"/>
              <a:chExt cx="1951" cy="1468"/>
            </a:xfrm>
          </p:grpSpPr>
          <p:sp>
            <p:nvSpPr>
              <p:cNvPr id="8" name="Line 8"/>
              <p:cNvSpPr>
                <a:spLocks noChangeShapeType="1"/>
              </p:cNvSpPr>
              <p:nvPr/>
            </p:nvSpPr>
            <p:spPr bwMode="auto">
              <a:xfrm>
                <a:off x="756" y="370"/>
                <a:ext cx="120" cy="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9" name="Line 9"/>
              <p:cNvSpPr>
                <a:spLocks noChangeShapeType="1"/>
              </p:cNvSpPr>
              <p:nvPr/>
            </p:nvSpPr>
            <p:spPr bwMode="auto">
              <a:xfrm>
                <a:off x="672" y="262"/>
                <a:ext cx="300" cy="0"/>
              </a:xfrm>
              <a:prstGeom prst="line">
                <a:avLst/>
              </a:prstGeom>
              <a:noFill/>
              <a:ln w="317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10" name="Line 10"/>
              <p:cNvSpPr>
                <a:spLocks noChangeShapeType="1"/>
              </p:cNvSpPr>
              <p:nvPr/>
            </p:nvSpPr>
            <p:spPr bwMode="auto">
              <a:xfrm>
                <a:off x="804" y="10"/>
                <a:ext cx="0" cy="252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11" name="Line 11"/>
              <p:cNvSpPr>
                <a:spLocks noChangeShapeType="1"/>
              </p:cNvSpPr>
              <p:nvPr/>
            </p:nvSpPr>
            <p:spPr bwMode="auto">
              <a:xfrm>
                <a:off x="804" y="370"/>
                <a:ext cx="0" cy="21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12" name="Line 12"/>
              <p:cNvSpPr>
                <a:spLocks noChangeShapeType="1"/>
              </p:cNvSpPr>
              <p:nvPr/>
            </p:nvSpPr>
            <p:spPr bwMode="auto">
              <a:xfrm flipV="1">
                <a:off x="2059" y="-139"/>
                <a:ext cx="0" cy="811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13" name="Rectangle 13"/>
              <p:cNvSpPr>
                <a:spLocks noChangeArrowheads="1"/>
              </p:cNvSpPr>
              <p:nvPr/>
            </p:nvSpPr>
            <p:spPr bwMode="auto">
              <a:xfrm>
                <a:off x="1999" y="114"/>
                <a:ext cx="120" cy="268"/>
              </a:xfrm>
              <a:prstGeom prst="rect">
                <a:avLst/>
              </a:prstGeom>
              <a:solidFill>
                <a:srgbClr val="00FF00"/>
              </a:solidFill>
              <a:ln w="31750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14" name="Line 14"/>
              <p:cNvSpPr>
                <a:spLocks noChangeShapeType="1"/>
              </p:cNvSpPr>
              <p:nvPr/>
            </p:nvSpPr>
            <p:spPr bwMode="auto">
              <a:xfrm flipV="1">
                <a:off x="804" y="-146"/>
                <a:ext cx="0" cy="276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15" name="Line 15"/>
              <p:cNvSpPr>
                <a:spLocks noChangeShapeType="1"/>
              </p:cNvSpPr>
              <p:nvPr/>
            </p:nvSpPr>
            <p:spPr bwMode="auto">
              <a:xfrm>
                <a:off x="804" y="-146"/>
                <a:ext cx="1255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16" name="Line 16"/>
              <p:cNvSpPr>
                <a:spLocks noChangeShapeType="1"/>
              </p:cNvSpPr>
              <p:nvPr/>
            </p:nvSpPr>
            <p:spPr bwMode="auto">
              <a:xfrm>
                <a:off x="804" y="490"/>
                <a:ext cx="0" cy="168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>
                  <a:latin typeface="+mn-ea"/>
                </a:endParaRPr>
              </a:p>
            </p:txBody>
          </p:sp>
          <p:sp>
            <p:nvSpPr>
              <p:cNvPr id="17" name="Text Box 17"/>
              <p:cNvSpPr txBox="1">
                <a:spLocks noChangeArrowheads="1"/>
              </p:cNvSpPr>
              <p:nvPr/>
            </p:nvSpPr>
            <p:spPr bwMode="auto">
              <a:xfrm>
                <a:off x="876" y="259"/>
                <a:ext cx="502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/>
              <a:p>
                <a:pPr algn="ctr" eaLnBrk="0" hangingPunct="0">
                  <a:spcBef>
                    <a:spcPct val="50000"/>
                  </a:spcBef>
                </a:pPr>
                <a:r>
                  <a:rPr kumimoji="1" lang="en-US" altLang="zh-CN" sz="2800">
                    <a:solidFill>
                      <a:srgbClr val="000000"/>
                    </a:solidFill>
                    <a:latin typeface="+mn-ea"/>
                    <a:sym typeface="Symbol" panose="05050102010706020507" pitchFamily="18" charset="2"/>
                  </a:rPr>
                  <a:t>10V</a:t>
                </a:r>
                <a:endParaRPr kumimoji="1" lang="en-US" altLang="zh-CN" sz="2800" b="1">
                  <a:solidFill>
                    <a:srgbClr val="000000"/>
                  </a:solidFill>
                  <a:latin typeface="+mn-ea"/>
                  <a:sym typeface="Symbol" panose="05050102010706020507" pitchFamily="18" charset="2"/>
                </a:endParaRPr>
              </a:p>
            </p:txBody>
          </p:sp>
          <p:sp>
            <p:nvSpPr>
              <p:cNvPr id="18" name="Text Box 18"/>
              <p:cNvSpPr txBox="1">
                <a:spLocks noChangeArrowheads="1"/>
              </p:cNvSpPr>
              <p:nvPr/>
            </p:nvSpPr>
            <p:spPr bwMode="auto">
              <a:xfrm>
                <a:off x="2095" y="95"/>
                <a:ext cx="528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sz="2800">
                    <a:solidFill>
                      <a:srgbClr val="000000"/>
                    </a:solidFill>
                    <a:latin typeface="+mn-ea"/>
                    <a:sym typeface="Symbol" panose="05050102010706020507" pitchFamily="18" charset="2"/>
                  </a:rPr>
                  <a:t>10</a:t>
                </a:r>
                <a:endParaRPr kumimoji="1" lang="en-US" altLang="zh-CN" sz="2800" b="1">
                  <a:solidFill>
                    <a:srgbClr val="000000"/>
                  </a:solidFill>
                  <a:latin typeface="+mn-ea"/>
                  <a:sym typeface="Symbol" panose="05050102010706020507" pitchFamily="18" charset="2"/>
                </a:endParaRPr>
              </a:p>
            </p:txBody>
          </p:sp>
          <p:sp>
            <p:nvSpPr>
              <p:cNvPr id="19" name="Text Box 19"/>
              <p:cNvSpPr txBox="1">
                <a:spLocks noChangeArrowheads="1"/>
              </p:cNvSpPr>
              <p:nvPr/>
            </p:nvSpPr>
            <p:spPr bwMode="auto">
              <a:xfrm>
                <a:off x="1850" y="-481"/>
                <a:ext cx="261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sz="2800">
                    <a:solidFill>
                      <a:srgbClr val="000000"/>
                    </a:solidFill>
                    <a:latin typeface="+mn-ea"/>
                    <a:sym typeface="Symbol" panose="05050102010706020507" pitchFamily="18" charset="2"/>
                  </a:rPr>
                  <a:t>A</a:t>
                </a:r>
                <a:endParaRPr kumimoji="1" lang="en-US" altLang="zh-CN" sz="2800" b="1">
                  <a:solidFill>
                    <a:srgbClr val="000000"/>
                  </a:solidFill>
                  <a:latin typeface="+mn-ea"/>
                  <a:sym typeface="Symbol" panose="05050102010706020507" pitchFamily="18" charset="2"/>
                </a:endParaRPr>
              </a:p>
            </p:txBody>
          </p:sp>
          <p:sp>
            <p:nvSpPr>
              <p:cNvPr id="20" name="Text Box 20"/>
              <p:cNvSpPr txBox="1">
                <a:spLocks noChangeArrowheads="1"/>
              </p:cNvSpPr>
              <p:nvPr/>
            </p:nvSpPr>
            <p:spPr bwMode="auto">
              <a:xfrm>
                <a:off x="1865" y="657"/>
                <a:ext cx="243" cy="3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/>
              <a:p>
                <a:pPr algn="ctr" eaLnBrk="0" hangingPunct="0"/>
                <a:r>
                  <a:rPr kumimoji="1" lang="en-US" altLang="zh-CN" sz="2800">
                    <a:solidFill>
                      <a:srgbClr val="000000"/>
                    </a:solidFill>
                    <a:latin typeface="+mn-ea"/>
                    <a:sym typeface="Symbol" panose="05050102010706020507" pitchFamily="18" charset="2"/>
                  </a:rPr>
                  <a:t>B</a:t>
                </a:r>
                <a:endParaRPr kumimoji="1" lang="en-US" altLang="zh-CN" sz="2800" b="1">
                  <a:solidFill>
                    <a:srgbClr val="000000"/>
                  </a:solidFill>
                  <a:latin typeface="+mn-ea"/>
                  <a:sym typeface="Symbol" panose="05050102010706020507" pitchFamily="18" charset="2"/>
                </a:endParaRPr>
              </a:p>
            </p:txBody>
          </p:sp>
        </p:grpSp>
      </p:grpSp>
      <p:grpSp>
        <p:nvGrpSpPr>
          <p:cNvPr id="21" name="Group 21"/>
          <p:cNvGrpSpPr>
            <a:grpSpLocks/>
          </p:cNvGrpSpPr>
          <p:nvPr/>
        </p:nvGrpSpPr>
        <p:grpSpPr bwMode="auto">
          <a:xfrm>
            <a:off x="3440107" y="1254124"/>
            <a:ext cx="403225" cy="523874"/>
            <a:chOff x="2730" y="706"/>
            <a:chExt cx="254" cy="330"/>
          </a:xfrm>
        </p:grpSpPr>
        <p:sp>
          <p:nvSpPr>
            <p:cNvPr id="22" name="Line 22"/>
            <p:cNvSpPr>
              <a:spLocks noChangeShapeType="1"/>
            </p:cNvSpPr>
            <p:nvPr/>
          </p:nvSpPr>
          <p:spPr bwMode="auto">
            <a:xfrm>
              <a:off x="2748" y="809"/>
              <a:ext cx="1" cy="223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2730" y="706"/>
              <a:ext cx="25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800" b="1" i="1">
                  <a:solidFill>
                    <a:srgbClr val="2306F6"/>
                  </a:solidFill>
                  <a:latin typeface="+mn-ea"/>
                  <a:sym typeface="Symbol" panose="05050102010706020507" pitchFamily="18" charset="2"/>
                </a:rPr>
                <a:t>I</a:t>
              </a:r>
              <a:r>
                <a:rPr kumimoji="1" lang="en-US" altLang="zh-CN" sz="1600" b="1">
                  <a:solidFill>
                    <a:srgbClr val="2306F6"/>
                  </a:solidFill>
                  <a:latin typeface="+mn-ea"/>
                  <a:sym typeface="Symbol" panose="05050102010706020507" pitchFamily="18" charset="2"/>
                </a:rPr>
                <a:t>1</a:t>
              </a:r>
              <a:endParaRPr kumimoji="1" lang="en-US" altLang="zh-CN" sz="2800" b="1">
                <a:solidFill>
                  <a:srgbClr val="2306F6"/>
                </a:solidFill>
                <a:latin typeface="+mn-ea"/>
                <a:sym typeface="Symbol" panose="05050102010706020507" pitchFamily="18" charset="2"/>
              </a:endParaRPr>
            </a:p>
          </p:txBody>
        </p:sp>
      </p:grpSp>
      <p:grpSp>
        <p:nvGrpSpPr>
          <p:cNvPr id="24" name="Group 24"/>
          <p:cNvGrpSpPr>
            <a:grpSpLocks/>
          </p:cNvGrpSpPr>
          <p:nvPr/>
        </p:nvGrpSpPr>
        <p:grpSpPr bwMode="auto">
          <a:xfrm>
            <a:off x="1654175" y="1577975"/>
            <a:ext cx="1441450" cy="936625"/>
            <a:chOff x="1318" y="2050"/>
            <a:chExt cx="908" cy="590"/>
          </a:xfrm>
        </p:grpSpPr>
        <p:sp>
          <p:nvSpPr>
            <p:cNvPr id="25" name="Arc 25"/>
            <p:cNvSpPr>
              <a:spLocks/>
            </p:cNvSpPr>
            <p:nvPr/>
          </p:nvSpPr>
          <p:spPr bwMode="auto">
            <a:xfrm>
              <a:off x="1318" y="2050"/>
              <a:ext cx="908" cy="590"/>
            </a:xfrm>
            <a:custGeom>
              <a:avLst/>
              <a:gdLst>
                <a:gd name="G0" fmla="+- 21600 0 0"/>
                <a:gd name="G1" fmla="+- 21128 0 0"/>
                <a:gd name="G2" fmla="+- 21600 0 0"/>
                <a:gd name="T0" fmla="*/ 26091 w 43200"/>
                <a:gd name="T1" fmla="*/ 0 h 42728"/>
                <a:gd name="T2" fmla="*/ 583 w 43200"/>
                <a:gd name="T3" fmla="*/ 16143 h 42728"/>
                <a:gd name="T4" fmla="*/ 21600 w 43200"/>
                <a:gd name="T5" fmla="*/ 21128 h 427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3200" h="42728" fill="none" extrusionOk="0">
                  <a:moveTo>
                    <a:pt x="26090" y="0"/>
                  </a:moveTo>
                  <a:cubicBezTo>
                    <a:pt x="36066" y="2120"/>
                    <a:pt x="43200" y="10929"/>
                    <a:pt x="43200" y="21128"/>
                  </a:cubicBezTo>
                  <a:cubicBezTo>
                    <a:pt x="43200" y="33057"/>
                    <a:pt x="33529" y="42728"/>
                    <a:pt x="21600" y="42728"/>
                  </a:cubicBezTo>
                  <a:cubicBezTo>
                    <a:pt x="9670" y="42728"/>
                    <a:pt x="0" y="33057"/>
                    <a:pt x="0" y="21128"/>
                  </a:cubicBezTo>
                  <a:cubicBezTo>
                    <a:pt x="0" y="19449"/>
                    <a:pt x="195" y="17776"/>
                    <a:pt x="583" y="16143"/>
                  </a:cubicBezTo>
                </a:path>
                <a:path w="43200" h="42728" stroke="0" extrusionOk="0">
                  <a:moveTo>
                    <a:pt x="26090" y="0"/>
                  </a:moveTo>
                  <a:cubicBezTo>
                    <a:pt x="36066" y="2120"/>
                    <a:pt x="43200" y="10929"/>
                    <a:pt x="43200" y="21128"/>
                  </a:cubicBezTo>
                  <a:cubicBezTo>
                    <a:pt x="43200" y="33057"/>
                    <a:pt x="33529" y="42728"/>
                    <a:pt x="21600" y="42728"/>
                  </a:cubicBezTo>
                  <a:cubicBezTo>
                    <a:pt x="9670" y="42728"/>
                    <a:pt x="0" y="33057"/>
                    <a:pt x="0" y="21128"/>
                  </a:cubicBezTo>
                  <a:cubicBezTo>
                    <a:pt x="0" y="19449"/>
                    <a:pt x="195" y="17776"/>
                    <a:pt x="583" y="16143"/>
                  </a:cubicBezTo>
                  <a:lnTo>
                    <a:pt x="21600" y="21128"/>
                  </a:lnTo>
                  <a:close/>
                </a:path>
              </a:pathLst>
            </a:custGeom>
            <a:noFill/>
            <a:ln w="190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26" name="Line 26"/>
            <p:cNvSpPr>
              <a:spLocks noChangeShapeType="1"/>
            </p:cNvSpPr>
            <p:nvPr/>
          </p:nvSpPr>
          <p:spPr bwMode="auto">
            <a:xfrm flipV="1">
              <a:off x="1323" y="2268"/>
              <a:ext cx="0" cy="10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27" name="Text Box 27"/>
            <p:cNvSpPr txBox="1">
              <a:spLocks noChangeArrowheads="1"/>
            </p:cNvSpPr>
            <p:nvPr/>
          </p:nvSpPr>
          <p:spPr bwMode="auto">
            <a:xfrm>
              <a:off x="1647" y="2164"/>
              <a:ext cx="235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800" b="1" i="1" dirty="0" smtClean="0">
                  <a:solidFill>
                    <a:srgbClr val="FF0000"/>
                  </a:solidFill>
                  <a:latin typeface="+mn-ea"/>
                  <a:sym typeface="Symbol" panose="05050102010706020507" pitchFamily="18" charset="2"/>
                </a:rPr>
                <a:t>I</a:t>
              </a:r>
              <a:r>
                <a:rPr kumimoji="1" lang="en-US" altLang="zh-CN" sz="1200" b="1" i="1" dirty="0" smtClean="0">
                  <a:solidFill>
                    <a:srgbClr val="FF0000"/>
                  </a:solidFill>
                  <a:latin typeface="+mn-ea"/>
                  <a:sym typeface="Symbol" panose="05050102010706020507" pitchFamily="18" charset="2"/>
                </a:rPr>
                <a:t>1</a:t>
              </a:r>
              <a:endParaRPr kumimoji="1" lang="en-US" altLang="zh-CN" sz="2800" b="1" dirty="0">
                <a:solidFill>
                  <a:srgbClr val="FF0000"/>
                </a:solidFill>
                <a:latin typeface="+mn-ea"/>
                <a:sym typeface="Symbol" panose="05050102010706020507" pitchFamily="18" charset="2"/>
              </a:endParaRPr>
            </a:p>
          </p:txBody>
        </p:sp>
      </p:grpSp>
      <p:grpSp>
        <p:nvGrpSpPr>
          <p:cNvPr id="28" name="Group 28"/>
          <p:cNvGrpSpPr>
            <a:grpSpLocks/>
          </p:cNvGrpSpPr>
          <p:nvPr/>
        </p:nvGrpSpPr>
        <p:grpSpPr bwMode="auto">
          <a:xfrm>
            <a:off x="3440106" y="2436814"/>
            <a:ext cx="403225" cy="523876"/>
            <a:chOff x="3438" y="765"/>
            <a:chExt cx="254" cy="330"/>
          </a:xfrm>
        </p:grpSpPr>
        <p:sp>
          <p:nvSpPr>
            <p:cNvPr id="29" name="Line 29"/>
            <p:cNvSpPr>
              <a:spLocks noChangeShapeType="1"/>
            </p:cNvSpPr>
            <p:nvPr/>
          </p:nvSpPr>
          <p:spPr bwMode="auto">
            <a:xfrm flipV="1">
              <a:off x="3444" y="780"/>
              <a:ext cx="0" cy="288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>
                <a:latin typeface="+mn-ea"/>
              </a:endParaRPr>
            </a:p>
          </p:txBody>
        </p:sp>
        <p:sp>
          <p:nvSpPr>
            <p:cNvPr id="30" name="Text Box 30"/>
            <p:cNvSpPr txBox="1">
              <a:spLocks noChangeArrowheads="1"/>
            </p:cNvSpPr>
            <p:nvPr/>
          </p:nvSpPr>
          <p:spPr bwMode="auto">
            <a:xfrm>
              <a:off x="3438" y="765"/>
              <a:ext cx="254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 algn="ctr" eaLnBrk="0" hangingPunct="0"/>
              <a:r>
                <a:rPr kumimoji="1" lang="en-US" altLang="zh-CN" sz="2800" b="1" i="1">
                  <a:solidFill>
                    <a:srgbClr val="2306F6"/>
                  </a:solidFill>
                  <a:latin typeface="+mn-ea"/>
                  <a:sym typeface="Symbol" panose="05050102010706020507" pitchFamily="18" charset="2"/>
                </a:rPr>
                <a:t>I</a:t>
              </a:r>
              <a:r>
                <a:rPr kumimoji="1" lang="en-US" altLang="zh-CN" sz="2400" b="1" baseline="-25000">
                  <a:solidFill>
                    <a:srgbClr val="2306F6"/>
                  </a:solidFill>
                  <a:latin typeface="+mn-ea"/>
                  <a:sym typeface="Symbol" panose="05050102010706020507" pitchFamily="18" charset="2"/>
                </a:rPr>
                <a:t>2</a:t>
              </a:r>
            </a:p>
          </p:txBody>
        </p:sp>
      </p:grpSp>
      <p:sp useBgFill="1">
        <p:nvSpPr>
          <p:cNvPr id="31" name="Text Box 31"/>
          <p:cNvSpPr txBox="1">
            <a:spLocks noChangeArrowheads="1"/>
          </p:cNvSpPr>
          <p:nvPr/>
        </p:nvSpPr>
        <p:spPr bwMode="auto">
          <a:xfrm>
            <a:off x="3364426" y="1288584"/>
            <a:ext cx="681598" cy="523220"/>
          </a:xfrm>
          <a:prstGeom prst="rect">
            <a:avLst/>
          </a:prstGeom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ctr" eaLnBrk="0" hangingPunct="0">
              <a:spcBef>
                <a:spcPct val="50000"/>
              </a:spcBef>
            </a:pPr>
            <a:r>
              <a:rPr kumimoji="1" lang="en-US" altLang="zh-CN" sz="2800" b="1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     </a:t>
            </a:r>
          </a:p>
        </p:txBody>
      </p:sp>
      <p:sp>
        <p:nvSpPr>
          <p:cNvPr id="32" name="Text Box 32"/>
          <p:cNvSpPr txBox="1">
            <a:spLocks noChangeArrowheads="1"/>
          </p:cNvSpPr>
          <p:nvPr/>
        </p:nvSpPr>
        <p:spPr bwMode="auto">
          <a:xfrm>
            <a:off x="4462463" y="1484224"/>
            <a:ext cx="3666388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zh-CN" altLang="en-US" sz="2400" b="1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电路中电流 </a:t>
            </a:r>
            <a:r>
              <a:rPr kumimoji="1" lang="en-US" altLang="zh-CN" sz="2400" b="1" i="1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I </a:t>
            </a:r>
            <a:r>
              <a:rPr kumimoji="1" lang="zh-CN" altLang="en-US" sz="2400" b="1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的大小为</a:t>
            </a:r>
            <a:r>
              <a:rPr kumimoji="1" lang="en-US" altLang="zh-CN" sz="2400" b="1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1A,</a:t>
            </a:r>
          </a:p>
          <a:p>
            <a:pPr eaLnBrk="0" hangingPunct="0"/>
            <a:r>
              <a:rPr kumimoji="1" lang="zh-CN" altLang="en-US" sz="2400" b="1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其方向为从</a:t>
            </a:r>
            <a:r>
              <a:rPr kumimoji="1" lang="en-US" altLang="zh-CN" sz="2400" b="1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A</a:t>
            </a:r>
            <a:r>
              <a:rPr kumimoji="1" lang="zh-CN" altLang="en-US" sz="2400" b="1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流向</a:t>
            </a:r>
            <a:r>
              <a:rPr kumimoji="1" lang="en-US" altLang="zh-CN" sz="2400" b="1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B</a:t>
            </a:r>
            <a:r>
              <a:rPr kumimoji="1" lang="zh-CN" altLang="en-US" sz="2400" b="1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。</a:t>
            </a:r>
          </a:p>
          <a:p>
            <a:pPr eaLnBrk="0" hangingPunct="0"/>
            <a:r>
              <a:rPr kumimoji="1" lang="zh-CN" altLang="en-US" sz="2400" b="1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（此为电流的实际方向）</a:t>
            </a:r>
            <a:endParaRPr kumimoji="1" lang="zh-CN" altLang="en-US" sz="2800" b="1">
              <a:solidFill>
                <a:srgbClr val="000000"/>
              </a:solidFill>
              <a:latin typeface="+mn-ea"/>
              <a:sym typeface="Symbol" panose="05050102010706020507" pitchFamily="18" charset="2"/>
            </a:endParaRPr>
          </a:p>
        </p:txBody>
      </p:sp>
      <p:sp>
        <p:nvSpPr>
          <p:cNvPr id="33" name="Text Box 33"/>
          <p:cNvSpPr txBox="1">
            <a:spLocks noChangeArrowheads="1"/>
          </p:cNvSpPr>
          <p:nvPr/>
        </p:nvSpPr>
        <p:spPr bwMode="auto">
          <a:xfrm>
            <a:off x="1535113" y="3314700"/>
            <a:ext cx="43656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zh-CN" altLang="en-US" sz="2400" b="1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若参考方向如 </a:t>
            </a:r>
            <a:r>
              <a:rPr kumimoji="1" lang="en-US" altLang="zh-CN" sz="2400" b="1" i="1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I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1</a:t>
            </a:r>
            <a:r>
              <a:rPr kumimoji="1" lang="en-US" altLang="zh-CN" sz="1600" b="1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 </a:t>
            </a:r>
            <a:r>
              <a:rPr kumimoji="1" lang="zh-CN" altLang="en-US" sz="2400" b="1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所示，则</a:t>
            </a:r>
            <a:r>
              <a:rPr kumimoji="1" lang="en-US" altLang="zh-CN" sz="2400" b="1" i="1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I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1</a:t>
            </a:r>
            <a:r>
              <a:rPr kumimoji="1" lang="en-US" altLang="zh-CN" sz="2400" b="1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=1A</a:t>
            </a:r>
          </a:p>
        </p:txBody>
      </p:sp>
      <p:sp>
        <p:nvSpPr>
          <p:cNvPr id="34" name="Text Box 34"/>
          <p:cNvSpPr txBox="1">
            <a:spLocks noChangeArrowheads="1"/>
          </p:cNvSpPr>
          <p:nvPr/>
        </p:nvSpPr>
        <p:spPr bwMode="auto">
          <a:xfrm>
            <a:off x="1533525" y="3905250"/>
            <a:ext cx="4905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eaLnBrk="0" hangingPunct="0"/>
            <a:r>
              <a:rPr kumimoji="1" lang="zh-CN" altLang="en-US" sz="2400" b="1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若参考方向如 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I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2</a:t>
            </a:r>
            <a:r>
              <a:rPr kumimoji="1" lang="en-US" altLang="zh-CN" sz="1600" b="1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 </a:t>
            </a:r>
            <a:r>
              <a:rPr kumimoji="1" lang="zh-CN" altLang="en-US" sz="2400" b="1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所示，则</a:t>
            </a:r>
            <a:r>
              <a:rPr kumimoji="1" lang="en-US" altLang="zh-CN" sz="2400" b="1" i="1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I</a:t>
            </a:r>
            <a:r>
              <a:rPr kumimoji="1" lang="en-US" altLang="zh-CN" sz="2400" b="1" baseline="-2500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2</a:t>
            </a:r>
            <a:r>
              <a:rPr kumimoji="1" lang="en-US" altLang="zh-CN" sz="2400" b="1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= </a:t>
            </a:r>
            <a:r>
              <a:rPr kumimoji="1" lang="en-US" altLang="zh-CN" sz="2400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-</a:t>
            </a:r>
            <a:r>
              <a:rPr kumimoji="1" lang="en-US" altLang="zh-CN" sz="2400" b="1" dirty="0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1A</a:t>
            </a:r>
          </a:p>
        </p:txBody>
      </p:sp>
      <p:sp>
        <p:nvSpPr>
          <p:cNvPr id="35" name="Text Box 35"/>
          <p:cNvSpPr txBox="1">
            <a:spLocks noChangeArrowheads="1"/>
          </p:cNvSpPr>
          <p:nvPr/>
        </p:nvSpPr>
        <p:spPr bwMode="auto">
          <a:xfrm>
            <a:off x="1038225" y="4857750"/>
            <a:ext cx="60055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eaLnBrk="0" hangingPunct="0"/>
            <a:r>
              <a:rPr kumimoji="1" lang="zh-CN" altLang="en-US" sz="2400" b="1">
                <a:solidFill>
                  <a:srgbClr val="000000"/>
                </a:solidFill>
                <a:latin typeface="+mn-ea"/>
                <a:sym typeface="Symbol" panose="05050102010706020507" pitchFamily="18" charset="2"/>
              </a:rPr>
              <a:t>因此，同一支路的电流可用两种方法表示。</a:t>
            </a:r>
          </a:p>
        </p:txBody>
      </p:sp>
    </p:spTree>
    <p:extLst>
      <p:ext uri="{BB962C8B-B14F-4D97-AF65-F5344CB8AC3E}">
        <p14:creationId xmlns:p14="http://schemas.microsoft.com/office/powerpoint/2010/main" val="2272364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6" presetClass="entr" presetSubtype="37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4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utoUpdateAnimBg="0"/>
      <p:bldP spid="31" grpId="0" animBg="1" autoUpdateAnimBg="0"/>
      <p:bldP spid="32" grpId="0" autoUpdateAnimBg="0"/>
      <p:bldP spid="33" grpId="0" autoUpdateAnimBg="0"/>
      <p:bldP spid="34" grpId="0" autoUpdateAnimBg="0"/>
      <p:bldP spid="35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1580379" y="2115272"/>
            <a:ext cx="2320597" cy="780490"/>
            <a:chOff x="4212641" y="2769545"/>
            <a:chExt cx="1517871" cy="510508"/>
          </a:xfrm>
        </p:grpSpPr>
        <p:sp>
          <p:nvSpPr>
            <p:cNvPr id="5" name="object 2"/>
            <p:cNvSpPr/>
            <p:nvPr/>
          </p:nvSpPr>
          <p:spPr>
            <a:xfrm>
              <a:off x="4774981" y="2989516"/>
              <a:ext cx="334357" cy="103889"/>
            </a:xfrm>
            <a:custGeom>
              <a:avLst/>
              <a:gdLst/>
              <a:ahLst/>
              <a:cxnLst/>
              <a:rect l="l" t="t" r="r" b="b"/>
              <a:pathLst>
                <a:path w="526148" h="163481">
                  <a:moveTo>
                    <a:pt x="0" y="163481"/>
                  </a:moveTo>
                  <a:lnTo>
                    <a:pt x="526148" y="163481"/>
                  </a:lnTo>
                  <a:lnTo>
                    <a:pt x="526148" y="0"/>
                  </a:lnTo>
                  <a:lnTo>
                    <a:pt x="0" y="0"/>
                  </a:lnTo>
                  <a:lnTo>
                    <a:pt x="0" y="163481"/>
                  </a:lnTo>
                  <a:close/>
                </a:path>
              </a:pathLst>
            </a:custGeom>
            <a:ln w="6978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6" name="object 3"/>
            <p:cNvSpPr/>
            <p:nvPr/>
          </p:nvSpPr>
          <p:spPr>
            <a:xfrm>
              <a:off x="4403472" y="3041470"/>
              <a:ext cx="371507" cy="0"/>
            </a:xfrm>
            <a:custGeom>
              <a:avLst/>
              <a:gdLst/>
              <a:ahLst/>
              <a:cxnLst/>
              <a:rect l="l" t="t" r="r" b="b"/>
              <a:pathLst>
                <a:path w="584608">
                  <a:moveTo>
                    <a:pt x="584608" y="0"/>
                  </a:moveTo>
                  <a:lnTo>
                    <a:pt x="0" y="0"/>
                  </a:lnTo>
                </a:path>
              </a:pathLst>
            </a:custGeom>
            <a:ln w="697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7" name="object 4"/>
            <p:cNvSpPr/>
            <p:nvPr/>
          </p:nvSpPr>
          <p:spPr>
            <a:xfrm>
              <a:off x="4356663" y="3018214"/>
              <a:ext cx="46810" cy="46512"/>
            </a:xfrm>
            <a:custGeom>
              <a:avLst/>
              <a:gdLst/>
              <a:ahLst/>
              <a:cxnLst/>
              <a:rect l="l" t="t" r="r" b="b"/>
              <a:pathLst>
                <a:path w="73660" h="73192">
                  <a:moveTo>
                    <a:pt x="73660" y="36596"/>
                  </a:moveTo>
                  <a:lnTo>
                    <a:pt x="70888" y="22629"/>
                  </a:lnTo>
                  <a:lnTo>
                    <a:pt x="63308" y="11139"/>
                  </a:lnTo>
                  <a:lnTo>
                    <a:pt x="52030" y="3229"/>
                  </a:lnTo>
                  <a:lnTo>
                    <a:pt x="38161" y="0"/>
                  </a:lnTo>
                  <a:lnTo>
                    <a:pt x="23605" y="2646"/>
                  </a:lnTo>
                  <a:lnTo>
                    <a:pt x="11780" y="9925"/>
                  </a:lnTo>
                  <a:lnTo>
                    <a:pt x="3625" y="20790"/>
                  </a:lnTo>
                  <a:lnTo>
                    <a:pt x="77" y="34200"/>
                  </a:lnTo>
                  <a:lnTo>
                    <a:pt x="0" y="36596"/>
                  </a:lnTo>
                  <a:lnTo>
                    <a:pt x="2772" y="50563"/>
                  </a:lnTo>
                  <a:lnTo>
                    <a:pt x="10351" y="62052"/>
                  </a:lnTo>
                  <a:lnTo>
                    <a:pt x="21630" y="69962"/>
                  </a:lnTo>
                  <a:lnTo>
                    <a:pt x="35499" y="73192"/>
                  </a:lnTo>
                  <a:lnTo>
                    <a:pt x="50055" y="70545"/>
                  </a:lnTo>
                  <a:lnTo>
                    <a:pt x="61880" y="63267"/>
                  </a:lnTo>
                  <a:lnTo>
                    <a:pt x="70035" y="52401"/>
                  </a:lnTo>
                  <a:lnTo>
                    <a:pt x="73583" y="38992"/>
                  </a:lnTo>
                  <a:lnTo>
                    <a:pt x="73660" y="36596"/>
                  </a:lnTo>
                  <a:close/>
                </a:path>
              </a:pathLst>
            </a:custGeom>
            <a:ln w="699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8" name="object 5"/>
            <p:cNvSpPr txBox="1"/>
            <p:nvPr/>
          </p:nvSpPr>
          <p:spPr>
            <a:xfrm>
              <a:off x="4862188" y="2769545"/>
              <a:ext cx="129937" cy="230012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8071"/>
              <a:r>
                <a:rPr sz="1462" i="1" dirty="0">
                  <a:latin typeface="Times New Roman"/>
                  <a:cs typeface="Times New Roman"/>
                </a:rPr>
                <a:t>R</a:t>
              </a:r>
              <a:endParaRPr sz="1462">
                <a:latin typeface="Times New Roman"/>
                <a:cs typeface="Times New Roman"/>
              </a:endParaRPr>
            </a:p>
          </p:txBody>
        </p:sp>
        <p:sp>
          <p:nvSpPr>
            <p:cNvPr id="9" name="object 6"/>
            <p:cNvSpPr/>
            <p:nvPr/>
          </p:nvSpPr>
          <p:spPr>
            <a:xfrm>
              <a:off x="5117233" y="3041470"/>
              <a:ext cx="371507" cy="0"/>
            </a:xfrm>
            <a:custGeom>
              <a:avLst/>
              <a:gdLst/>
              <a:ahLst/>
              <a:cxnLst/>
              <a:rect l="l" t="t" r="r" b="b"/>
              <a:pathLst>
                <a:path w="584608">
                  <a:moveTo>
                    <a:pt x="0" y="0"/>
                  </a:moveTo>
                  <a:lnTo>
                    <a:pt x="584608" y="0"/>
                  </a:lnTo>
                </a:path>
              </a:pathLst>
            </a:custGeom>
            <a:ln w="697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0" name="object 7"/>
            <p:cNvSpPr/>
            <p:nvPr/>
          </p:nvSpPr>
          <p:spPr>
            <a:xfrm>
              <a:off x="5488740" y="3018214"/>
              <a:ext cx="46810" cy="46512"/>
            </a:xfrm>
            <a:custGeom>
              <a:avLst/>
              <a:gdLst/>
              <a:ahLst/>
              <a:cxnLst/>
              <a:rect l="l" t="t" r="r" b="b"/>
              <a:pathLst>
                <a:path w="73660" h="73192">
                  <a:moveTo>
                    <a:pt x="0" y="36596"/>
                  </a:moveTo>
                  <a:lnTo>
                    <a:pt x="2772" y="50563"/>
                  </a:lnTo>
                  <a:lnTo>
                    <a:pt x="10351" y="62052"/>
                  </a:lnTo>
                  <a:lnTo>
                    <a:pt x="21630" y="69962"/>
                  </a:lnTo>
                  <a:lnTo>
                    <a:pt x="35499" y="73192"/>
                  </a:lnTo>
                  <a:lnTo>
                    <a:pt x="50055" y="70545"/>
                  </a:lnTo>
                  <a:lnTo>
                    <a:pt x="61880" y="63267"/>
                  </a:lnTo>
                  <a:lnTo>
                    <a:pt x="70035" y="52401"/>
                  </a:lnTo>
                  <a:lnTo>
                    <a:pt x="73583" y="38992"/>
                  </a:lnTo>
                  <a:lnTo>
                    <a:pt x="73660" y="36596"/>
                  </a:lnTo>
                  <a:lnTo>
                    <a:pt x="70888" y="22629"/>
                  </a:lnTo>
                  <a:lnTo>
                    <a:pt x="63308" y="11139"/>
                  </a:lnTo>
                  <a:lnTo>
                    <a:pt x="52030" y="3229"/>
                  </a:lnTo>
                  <a:lnTo>
                    <a:pt x="38161" y="0"/>
                  </a:lnTo>
                  <a:lnTo>
                    <a:pt x="23605" y="2646"/>
                  </a:lnTo>
                  <a:lnTo>
                    <a:pt x="11780" y="9925"/>
                  </a:lnTo>
                  <a:lnTo>
                    <a:pt x="3625" y="20790"/>
                  </a:lnTo>
                  <a:lnTo>
                    <a:pt x="77" y="34200"/>
                  </a:lnTo>
                  <a:lnTo>
                    <a:pt x="0" y="36596"/>
                  </a:lnTo>
                  <a:close/>
                </a:path>
              </a:pathLst>
            </a:custGeom>
            <a:ln w="6995">
              <a:solidFill>
                <a:srgbClr val="000000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1" name="object 8"/>
            <p:cNvSpPr/>
            <p:nvPr/>
          </p:nvSpPr>
          <p:spPr>
            <a:xfrm>
              <a:off x="4567643" y="3041470"/>
              <a:ext cx="12910" cy="0"/>
            </a:xfrm>
            <a:custGeom>
              <a:avLst/>
              <a:gdLst/>
              <a:ahLst/>
              <a:cxnLst/>
              <a:rect l="l" t="t" r="r" b="b"/>
              <a:pathLst>
                <a:path w="20315">
                  <a:moveTo>
                    <a:pt x="0" y="0"/>
                  </a:moveTo>
                  <a:lnTo>
                    <a:pt x="20315" y="0"/>
                  </a:lnTo>
                </a:path>
              </a:pathLst>
            </a:custGeom>
            <a:ln w="6975">
              <a:solidFill>
                <a:srgbClr val="0000FF"/>
              </a:solidFill>
            </a:ln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2" name="object 9"/>
            <p:cNvSpPr/>
            <p:nvPr/>
          </p:nvSpPr>
          <p:spPr>
            <a:xfrm>
              <a:off x="4572751" y="3010442"/>
              <a:ext cx="93620" cy="62056"/>
            </a:xfrm>
            <a:custGeom>
              <a:avLst/>
              <a:gdLst/>
              <a:ahLst/>
              <a:cxnLst/>
              <a:rect l="l" t="t" r="r" b="b"/>
              <a:pathLst>
                <a:path w="147321" h="97652">
                  <a:moveTo>
                    <a:pt x="0" y="0"/>
                  </a:moveTo>
                  <a:lnTo>
                    <a:pt x="0" y="97652"/>
                  </a:lnTo>
                  <a:lnTo>
                    <a:pt x="147321" y="4882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>
              <a:noAutofit/>
            </a:bodyPr>
            <a:lstStyle/>
            <a:p>
              <a:endParaRPr/>
            </a:p>
          </p:txBody>
        </p:sp>
        <p:sp>
          <p:nvSpPr>
            <p:cNvPr id="13" name="object 10"/>
            <p:cNvSpPr txBox="1"/>
            <p:nvPr/>
          </p:nvSpPr>
          <p:spPr>
            <a:xfrm>
              <a:off x="4212641" y="2904004"/>
              <a:ext cx="98865" cy="225977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8071"/>
              <a:r>
                <a:rPr sz="1430" spc="13" dirty="0">
                  <a:latin typeface="Times New Roman"/>
                  <a:cs typeface="Times New Roman"/>
                </a:rPr>
                <a:t>a</a:t>
              </a:r>
              <a:endParaRPr sz="1430">
                <a:latin typeface="Times New Roman"/>
                <a:cs typeface="Times New Roman"/>
              </a:endParaRPr>
            </a:p>
          </p:txBody>
        </p:sp>
        <p:sp>
          <p:nvSpPr>
            <p:cNvPr id="14" name="object 11"/>
            <p:cNvSpPr txBox="1"/>
            <p:nvPr/>
          </p:nvSpPr>
          <p:spPr>
            <a:xfrm>
              <a:off x="5621155" y="2910561"/>
              <a:ext cx="109357" cy="225977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8071"/>
              <a:r>
                <a:rPr sz="1430" spc="13" dirty="0">
                  <a:latin typeface="Times New Roman"/>
                  <a:cs typeface="Times New Roman"/>
                </a:rPr>
                <a:t>b</a:t>
              </a:r>
              <a:endParaRPr sz="1430">
                <a:latin typeface="Times New Roman"/>
                <a:cs typeface="Times New Roman"/>
              </a:endParaRPr>
            </a:p>
          </p:txBody>
        </p:sp>
        <p:sp>
          <p:nvSpPr>
            <p:cNvPr id="15" name="object 12"/>
            <p:cNvSpPr txBox="1"/>
            <p:nvPr/>
          </p:nvSpPr>
          <p:spPr>
            <a:xfrm>
              <a:off x="4557092" y="3050041"/>
              <a:ext cx="68196" cy="230012"/>
            </a:xfrm>
            <a:prstGeom prst="rect">
              <a:avLst/>
            </a:prstGeom>
          </p:spPr>
          <p:txBody>
            <a:bodyPr vert="horz" wrap="square" lIns="0" tIns="0" rIns="0" bIns="0" rtlCol="0">
              <a:noAutofit/>
            </a:bodyPr>
            <a:lstStyle/>
            <a:p>
              <a:pPr marL="8071"/>
              <a:r>
                <a:rPr sz="1462" i="1" dirty="0">
                  <a:solidFill>
                    <a:srgbClr val="0000FF"/>
                  </a:solidFill>
                  <a:latin typeface="Times New Roman"/>
                  <a:cs typeface="Times New Roman"/>
                </a:rPr>
                <a:t>i</a:t>
              </a:r>
              <a:endParaRPr sz="1462">
                <a:latin typeface="Times New Roman"/>
                <a:cs typeface="Times New Roman"/>
              </a:endParaRPr>
            </a:p>
          </p:txBody>
        </p:sp>
      </p:grpSp>
      <p:sp>
        <p:nvSpPr>
          <p:cNvPr id="16" name="object 13"/>
          <p:cNvSpPr txBox="1"/>
          <p:nvPr/>
        </p:nvSpPr>
        <p:spPr>
          <a:xfrm>
            <a:off x="439351" y="734747"/>
            <a:ext cx="7344816" cy="780428"/>
          </a:xfrm>
          <a:prstGeom prst="rect">
            <a:avLst/>
          </a:prstGeom>
        </p:spPr>
        <p:txBody>
          <a:bodyPr vert="horz" wrap="square" lIns="0" tIns="0" rIns="0" bIns="0" rtlCol="0">
            <a:noAutofit/>
          </a:bodyPr>
          <a:lstStyle/>
          <a:p>
            <a:pPr algn="ctr">
              <a:tabLst>
                <a:tab pos="3210584" algn="l"/>
              </a:tabLst>
            </a:pPr>
            <a:r>
              <a:rPr sz="2800" spc="10" baseline="1207" dirty="0">
                <a:latin typeface="Adobe 黑体 Std R"/>
                <a:cs typeface="Adobe 黑体 Std R"/>
              </a:rPr>
              <a:t>【</a:t>
            </a:r>
            <a:r>
              <a:rPr sz="2800" baseline="1207" dirty="0" smtClean="0">
                <a:latin typeface="Adobe 黑体 Std R"/>
                <a:cs typeface="Adobe 黑体 Std R"/>
              </a:rPr>
              <a:t>例</a:t>
            </a:r>
            <a:r>
              <a:rPr lang="en-US" altLang="zh-CN" sz="2800" spc="33" baseline="1207" dirty="0" smtClean="0">
                <a:latin typeface="Adobe 黑体 Std R"/>
                <a:cs typeface="Adobe 黑体 Std R"/>
              </a:rPr>
              <a:t>3</a:t>
            </a:r>
            <a:r>
              <a:rPr sz="2800" spc="10" baseline="1207" dirty="0" smtClean="0">
                <a:latin typeface="Adobe 黑体 Std R"/>
                <a:cs typeface="Adobe 黑体 Std R"/>
              </a:rPr>
              <a:t>】</a:t>
            </a:r>
            <a:r>
              <a:rPr sz="2800" baseline="1207" dirty="0">
                <a:latin typeface="Adobe 黑体 Std R"/>
                <a:cs typeface="Adobe 黑体 Std R"/>
              </a:rPr>
              <a:t>净正电荷流</a:t>
            </a:r>
            <a:r>
              <a:rPr sz="2800" spc="43" baseline="1207" dirty="0">
                <a:latin typeface="Adobe 黑体 Std R"/>
                <a:cs typeface="Adobe 黑体 Std R"/>
              </a:rPr>
              <a:t> </a:t>
            </a:r>
            <a:r>
              <a:rPr sz="2000" i="1" spc="44" dirty="0">
                <a:latin typeface="Times New Roman"/>
                <a:cs typeface="Times New Roman"/>
              </a:rPr>
              <a:t>q</a:t>
            </a:r>
            <a:r>
              <a:rPr sz="2000" spc="-13" dirty="0">
                <a:latin typeface="Times New Roman"/>
                <a:cs typeface="Times New Roman"/>
              </a:rPr>
              <a:t>(</a:t>
            </a:r>
            <a:r>
              <a:rPr sz="2000" i="1" spc="102" dirty="0">
                <a:latin typeface="Times New Roman"/>
                <a:cs typeface="Times New Roman"/>
              </a:rPr>
              <a:t>t</a:t>
            </a:r>
            <a:r>
              <a:rPr sz="2000" dirty="0">
                <a:latin typeface="Times New Roman"/>
                <a:cs typeface="Times New Roman"/>
              </a:rPr>
              <a:t>)</a:t>
            </a:r>
            <a:r>
              <a:rPr sz="2000" spc="-3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Symbol"/>
                <a:cs typeface="Symbol"/>
              </a:rPr>
              <a:t></a:t>
            </a:r>
            <a:r>
              <a:rPr sz="2000" spc="-57" dirty="0">
                <a:latin typeface="Times New Roman"/>
                <a:cs typeface="Times New Roman"/>
              </a:rPr>
              <a:t> </a:t>
            </a:r>
            <a:r>
              <a:rPr sz="2000" spc="121" dirty="0">
                <a:latin typeface="Times New Roman"/>
                <a:cs typeface="Times New Roman"/>
              </a:rPr>
              <a:t>5</a:t>
            </a:r>
            <a:r>
              <a:rPr sz="2000" dirty="0">
                <a:latin typeface="Times New Roman"/>
                <a:cs typeface="Times New Roman"/>
              </a:rPr>
              <a:t>sin</a:t>
            </a:r>
            <a:r>
              <a:rPr sz="2000" spc="-95" dirty="0">
                <a:latin typeface="Times New Roman"/>
                <a:cs typeface="Times New Roman"/>
              </a:rPr>
              <a:t> </a:t>
            </a:r>
            <a:r>
              <a:rPr sz="2000" spc="-16" dirty="0">
                <a:latin typeface="Times New Roman"/>
                <a:cs typeface="Times New Roman"/>
              </a:rPr>
              <a:t>π</a:t>
            </a:r>
            <a:r>
              <a:rPr sz="2000" i="1" dirty="0">
                <a:latin typeface="Times New Roman"/>
                <a:cs typeface="Times New Roman"/>
              </a:rPr>
              <a:t>t</a:t>
            </a:r>
            <a:r>
              <a:rPr sz="2000" i="1" spc="159" dirty="0">
                <a:latin typeface="Times New Roman"/>
                <a:cs typeface="Times New Roman"/>
              </a:rPr>
              <a:t> </a:t>
            </a:r>
            <a:r>
              <a:rPr sz="2000" spc="-29" dirty="0" err="1" smtClean="0">
                <a:latin typeface="Times New Roman"/>
                <a:cs typeface="Times New Roman"/>
              </a:rPr>
              <a:t>m</a:t>
            </a:r>
            <a:r>
              <a:rPr sz="2000" dirty="0" err="1" smtClean="0">
                <a:latin typeface="Times New Roman"/>
                <a:cs typeface="Times New Roman"/>
              </a:rPr>
              <a:t>C</a:t>
            </a:r>
            <a:r>
              <a:rPr lang="en-US" sz="2000" dirty="0" smtClean="0">
                <a:latin typeface="Times New Roman"/>
                <a:cs typeface="Times New Roman"/>
              </a:rPr>
              <a:t>	</a:t>
            </a:r>
            <a:r>
              <a:rPr sz="2800" baseline="1207" dirty="0" smtClean="0">
                <a:latin typeface="Adobe 黑体 Std R"/>
                <a:cs typeface="Adobe 黑体 Std R"/>
              </a:rPr>
              <a:t>从</a:t>
            </a:r>
            <a:r>
              <a:rPr sz="2800" spc="43" baseline="1207" dirty="0" smtClean="0">
                <a:latin typeface="Adobe 黑体 Std R"/>
                <a:cs typeface="Adobe 黑体 Std R"/>
              </a:rPr>
              <a:t> </a:t>
            </a:r>
            <a:r>
              <a:rPr sz="2800" baseline="1207" dirty="0">
                <a:latin typeface="Times New Roman"/>
                <a:cs typeface="Times New Roman"/>
              </a:rPr>
              <a:t>b</a:t>
            </a:r>
            <a:r>
              <a:rPr sz="2800" spc="-4" baseline="1207" dirty="0">
                <a:latin typeface="Times New Roman"/>
                <a:cs typeface="Times New Roman"/>
              </a:rPr>
              <a:t> </a:t>
            </a:r>
            <a:r>
              <a:rPr sz="2800" baseline="1207" dirty="0">
                <a:latin typeface="Adobe 黑体 Std R"/>
                <a:cs typeface="Adobe 黑体 Std R"/>
              </a:rPr>
              <a:t>向</a:t>
            </a:r>
            <a:r>
              <a:rPr sz="2800" spc="57" baseline="1207" dirty="0">
                <a:latin typeface="Adobe 黑体 Std R"/>
                <a:cs typeface="Adobe 黑体 Std R"/>
              </a:rPr>
              <a:t> </a:t>
            </a:r>
            <a:r>
              <a:rPr sz="2800" baseline="1207" dirty="0">
                <a:latin typeface="Times New Roman"/>
                <a:cs typeface="Times New Roman"/>
              </a:rPr>
              <a:t>a</a:t>
            </a:r>
            <a:r>
              <a:rPr sz="2800" spc="-10" baseline="1207" dirty="0">
                <a:latin typeface="Times New Roman"/>
                <a:cs typeface="Times New Roman"/>
              </a:rPr>
              <a:t> </a:t>
            </a:r>
            <a:r>
              <a:rPr sz="2800" baseline="1207" dirty="0">
                <a:latin typeface="Adobe 黑体 Std R"/>
                <a:cs typeface="Adobe 黑体 Std R"/>
              </a:rPr>
              <a:t>流动。</a:t>
            </a:r>
          </a:p>
          <a:p>
            <a:pPr marL="564960">
              <a:spcBef>
                <a:spcPts val="296"/>
              </a:spcBef>
            </a:pPr>
            <a:r>
              <a:rPr sz="2000" dirty="0">
                <a:latin typeface="Adobe 黑体 Std R"/>
                <a:cs typeface="Adobe 黑体 Std R"/>
              </a:rPr>
              <a:t>（</a:t>
            </a:r>
            <a:r>
              <a:rPr sz="2000" spc="3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Adobe 黑体 Std R"/>
                <a:cs typeface="Adobe 黑体 Std R"/>
              </a:rPr>
              <a:t>）计算电流</a:t>
            </a:r>
            <a:r>
              <a:rPr sz="2000" spc="10" dirty="0">
                <a:latin typeface="Adobe 黑体 Std R"/>
                <a:cs typeface="Adobe 黑体 Std R"/>
              </a:rPr>
              <a:t> </a:t>
            </a:r>
            <a:r>
              <a:rPr sz="2000" i="1" dirty="0">
                <a:latin typeface="Times New Roman"/>
                <a:cs typeface="Times New Roman"/>
              </a:rPr>
              <a:t>i</a:t>
            </a:r>
            <a:r>
              <a:rPr sz="2000" i="1" spc="-6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dobe 黑体 Std R"/>
                <a:cs typeface="Adobe 黑体 Std R"/>
              </a:rPr>
              <a:t>。</a:t>
            </a:r>
          </a:p>
          <a:p>
            <a:pPr>
              <a:lnSpc>
                <a:spcPts val="350"/>
              </a:lnSpc>
              <a:spcBef>
                <a:spcPts val="9"/>
              </a:spcBef>
            </a:pPr>
            <a:endParaRPr sz="2000" dirty="0"/>
          </a:p>
          <a:p>
            <a:pPr marL="564960"/>
            <a:r>
              <a:rPr sz="2000" spc="-3" dirty="0">
                <a:latin typeface="Adobe 黑体 Std R"/>
                <a:cs typeface="Adobe 黑体 Std R"/>
              </a:rPr>
              <a:t>（</a:t>
            </a:r>
            <a:r>
              <a:rPr sz="2000" dirty="0">
                <a:latin typeface="Times New Roman"/>
                <a:cs typeface="Times New Roman"/>
              </a:rPr>
              <a:t>2</a:t>
            </a:r>
            <a:r>
              <a:rPr sz="2000" dirty="0">
                <a:latin typeface="Adobe 黑体 Std R"/>
                <a:cs typeface="Adobe 黑体 Std R"/>
              </a:rPr>
              <a:t>）计算</a:t>
            </a:r>
            <a:r>
              <a:rPr sz="2000" spc="19" dirty="0">
                <a:latin typeface="Adobe 黑体 Std R"/>
                <a:cs typeface="Adobe 黑体 Std R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1s</a:t>
            </a:r>
            <a:r>
              <a:rPr sz="2000" spc="-13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dobe 黑体 Std R"/>
                <a:cs typeface="Adobe 黑体 Std R"/>
              </a:rPr>
              <a:t>到</a:t>
            </a:r>
            <a:r>
              <a:rPr sz="2000" spc="35" dirty="0">
                <a:latin typeface="Adobe 黑体 Std R"/>
                <a:cs typeface="Adobe 黑体 Std R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2s</a:t>
            </a:r>
            <a:r>
              <a:rPr sz="2000" spc="-6" dirty="0">
                <a:latin typeface="Times New Roman"/>
                <a:cs typeface="Times New Roman"/>
              </a:rPr>
              <a:t> </a:t>
            </a:r>
            <a:r>
              <a:rPr sz="2000" spc="-3" dirty="0">
                <a:latin typeface="Adobe 黑体 Std R"/>
                <a:cs typeface="Adobe 黑体 Std R"/>
              </a:rPr>
              <a:t>之间流过电阻的电荷。</a:t>
            </a:r>
            <a:endParaRPr sz="2000" dirty="0">
              <a:latin typeface="Adobe 黑体 Std R"/>
              <a:cs typeface="Adobe 黑体 Std R"/>
            </a:endParaRPr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3381" y="3283106"/>
            <a:ext cx="5175189" cy="863751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3381" y="4310409"/>
            <a:ext cx="4715518" cy="824071"/>
          </a:xfrm>
          <a:prstGeom prst="rect">
            <a:avLst/>
          </a:prstGeom>
        </p:spPr>
      </p:pic>
      <p:sp>
        <p:nvSpPr>
          <p:cNvPr id="19" name="Rectangle 98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1pPr>
            <a:lvl2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1.2   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基本变量 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Basic quantities</a:t>
            </a:r>
          </a:p>
        </p:txBody>
      </p:sp>
    </p:spTree>
    <p:extLst>
      <p:ext uri="{BB962C8B-B14F-4D97-AF65-F5344CB8AC3E}">
        <p14:creationId xmlns:p14="http://schemas.microsoft.com/office/powerpoint/2010/main" val="236913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1"/>
          <p:cNvSpPr>
            <a:spLocks noGrp="1"/>
          </p:cNvSpPr>
          <p:nvPr>
            <p:ph type="dt" sz="quarter" idx="10"/>
          </p:nvPr>
        </p:nvSpPr>
        <p:spPr>
          <a:xfrm>
            <a:off x="381000" y="6572250"/>
            <a:ext cx="1905000" cy="457200"/>
          </a:xfrm>
        </p:spPr>
        <p:txBody>
          <a:bodyPr/>
          <a:lstStyle/>
          <a:p>
            <a:pPr>
              <a:defRPr/>
            </a:pPr>
            <a:fld id="{3421483E-97F4-41FB-9BBF-DBDD1982F463}" type="datetime1">
              <a:rPr lang="zh-CN" altLang="en-US"/>
              <a:pPr>
                <a:defRPr/>
              </a:pPr>
              <a:t>2022/3/7</a:t>
            </a:fld>
            <a:endParaRPr lang="en-US" altLang="zh-CN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57225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858000" y="6572250"/>
            <a:ext cx="1905000" cy="457200"/>
          </a:xfrm>
        </p:spPr>
        <p:txBody>
          <a:bodyPr/>
          <a:lstStyle/>
          <a:p>
            <a:pPr>
              <a:defRPr/>
            </a:pPr>
            <a:fld id="{02B42DC9-B0CB-4732-A76A-9BE7B000823D}" type="slidenum">
              <a:rPr lang="en-US" altLang="zh-CN"/>
              <a:pPr>
                <a:defRPr/>
              </a:pPr>
              <a:t>17</a:t>
            </a:fld>
            <a:endParaRPr lang="en-US" altLang="zh-CN"/>
          </a:p>
        </p:txBody>
      </p:sp>
      <p:sp>
        <p:nvSpPr>
          <p:cNvPr id="7" name="Rectangle 93"/>
          <p:cNvSpPr>
            <a:spLocks noGrp="1" noChangeArrowheads="1"/>
          </p:cNvSpPr>
          <p:nvPr>
            <p:ph type="title" idx="4294967295"/>
          </p:nvPr>
        </p:nvSpPr>
        <p:spPr>
          <a:xfrm>
            <a:off x="395288" y="739775"/>
            <a:ext cx="8458200" cy="457200"/>
          </a:xfrm>
        </p:spPr>
        <p:txBody>
          <a:bodyPr/>
          <a:lstStyle/>
          <a:p>
            <a:pPr marL="342900" indent="-342900" algn="l" eaLnBrk="1" hangingPunct="1">
              <a:spcBef>
                <a:spcPct val="20000"/>
              </a:spcBef>
            </a:pPr>
            <a:r>
              <a:rPr lang="zh-CN" altLang="en-US" sz="2400" dirty="0" smtClean="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400" dirty="0" smtClean="0">
                <a:solidFill>
                  <a:srgbClr val="CC3300"/>
                </a:solidFill>
                <a:ea typeface="隶书" panose="02010509060101010101" pitchFamily="49" charset="-122"/>
              </a:rPr>
              <a:t>4 </a:t>
            </a:r>
            <a:r>
              <a:rPr lang="zh-CN" altLang="en-US" sz="2000" b="1" dirty="0" smtClean="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求</a:t>
            </a:r>
            <a:r>
              <a:rPr lang="en-US" altLang="zh-CN" sz="2000" b="1" dirty="0" err="1" smtClean="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U</a:t>
            </a:r>
            <a:r>
              <a:rPr lang="en-US" altLang="zh-CN" sz="2000" b="1" baseline="-25000" dirty="0" err="1" smtClean="0">
                <a:solidFill>
                  <a:srgbClr val="CC33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ac</a:t>
            </a:r>
            <a:endParaRPr lang="zh-CN" altLang="en-US" sz="2000" b="1" baseline="-25000" dirty="0" smtClean="0">
              <a:solidFill>
                <a:srgbClr val="FF33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aphicFrame>
        <p:nvGraphicFramePr>
          <p:cNvPr id="8" name="Object 94"/>
          <p:cNvGraphicFramePr>
            <a:graphicFrameLocks noChangeAspect="1"/>
          </p:cNvGraphicFramePr>
          <p:nvPr/>
        </p:nvGraphicFramePr>
        <p:xfrm>
          <a:off x="762000" y="1219200"/>
          <a:ext cx="4095750" cy="289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4" name="Visio" r:id="rId3" imgW="2077117" imgH="1477899" progId="Visio.Drawing.11">
                  <p:embed/>
                </p:oleObj>
              </mc:Choice>
              <mc:Fallback>
                <p:oleObj name="Visio" r:id="rId3" imgW="2077117" imgH="1477899" progId="Visio.Drawing.11">
                  <p:embed/>
                  <p:pic>
                    <p:nvPicPr>
                      <p:cNvPr id="9310" name="Object 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1219200"/>
                        <a:ext cx="4095750" cy="289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95"/>
          <p:cNvGraphicFramePr>
            <a:graphicFrameLocks noChangeAspect="1"/>
          </p:cNvGraphicFramePr>
          <p:nvPr/>
        </p:nvGraphicFramePr>
        <p:xfrm>
          <a:off x="755650" y="4365625"/>
          <a:ext cx="5203825" cy="1344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Equation" r:id="rId5" imgW="2603500" imgH="673100" progId="Equation.DSMT4">
                  <p:embed/>
                </p:oleObj>
              </mc:Choice>
              <mc:Fallback>
                <p:oleObj name="Equation" r:id="rId5" imgW="2603500" imgH="673100" progId="Equation.DSMT4">
                  <p:embed/>
                  <p:pic>
                    <p:nvPicPr>
                      <p:cNvPr id="9311" name="Object 9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4365625"/>
                        <a:ext cx="5203825" cy="1344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6"/>
          <p:cNvGraphicFramePr>
            <a:graphicFrameLocks noChangeAspect="1"/>
          </p:cNvGraphicFramePr>
          <p:nvPr/>
        </p:nvGraphicFramePr>
        <p:xfrm>
          <a:off x="5867400" y="1219200"/>
          <a:ext cx="2681288" cy="312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6" name="Flash 文档" r:id="rId7" imgW="2030760" imgH="2365200" progId="Flash.Movie">
                  <p:embed/>
                </p:oleObj>
              </mc:Choice>
              <mc:Fallback>
                <p:oleObj name="Flash 文档" r:id="rId7" imgW="2030760" imgH="2365200" progId="Flash.Movie">
                  <p:embed/>
                  <p:pic>
                    <p:nvPicPr>
                      <p:cNvPr id="9312" name="Object 9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219200"/>
                        <a:ext cx="2681288" cy="312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97"/>
          <p:cNvGraphicFramePr>
            <a:graphicFrameLocks noChangeAspect="1"/>
          </p:cNvGraphicFramePr>
          <p:nvPr/>
        </p:nvGraphicFramePr>
        <p:xfrm>
          <a:off x="6959600" y="4343400"/>
          <a:ext cx="1244600" cy="912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7" name="公式" r:id="rId9" imgW="622300" imgH="457200" progId="Equation.3">
                  <p:embed/>
                </p:oleObj>
              </mc:Choice>
              <mc:Fallback>
                <p:oleObj name="公式" r:id="rId9" imgW="622300" imgH="457200" progId="Equation.3">
                  <p:embed/>
                  <p:pic>
                    <p:nvPicPr>
                      <p:cNvPr id="9313" name="Object 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59600" y="4343400"/>
                        <a:ext cx="1244600" cy="912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98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1pPr>
            <a:lvl2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1.2   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基本变量 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Basic quantities</a:t>
            </a:r>
          </a:p>
        </p:txBody>
      </p:sp>
      <p:graphicFrame>
        <p:nvGraphicFramePr>
          <p:cNvPr id="13" name="Object 99"/>
          <p:cNvGraphicFramePr>
            <a:graphicFrameLocks noChangeAspect="1"/>
          </p:cNvGraphicFramePr>
          <p:nvPr/>
        </p:nvGraphicFramePr>
        <p:xfrm>
          <a:off x="6877050" y="5516563"/>
          <a:ext cx="18034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8" name="Equation" r:id="rId11" imgW="901309" imgH="228501" progId="Equation.DSMT4">
                  <p:embed/>
                </p:oleObj>
              </mc:Choice>
              <mc:Fallback>
                <p:oleObj name="Equation" r:id="rId11" imgW="901309" imgH="228501" progId="Equation.DSMT4">
                  <p:embed/>
                  <p:pic>
                    <p:nvPicPr>
                      <p:cNvPr id="9315" name="Object 9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7050" y="5516563"/>
                        <a:ext cx="18034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4" name="Group 102"/>
          <p:cNvGrpSpPr>
            <a:grpSpLocks/>
          </p:cNvGrpSpPr>
          <p:nvPr/>
        </p:nvGrpSpPr>
        <p:grpSpPr bwMode="auto">
          <a:xfrm>
            <a:off x="2887663" y="3716338"/>
            <a:ext cx="358775" cy="287337"/>
            <a:chOff x="2179" y="2614"/>
            <a:chExt cx="226" cy="181"/>
          </a:xfrm>
        </p:grpSpPr>
        <p:sp>
          <p:nvSpPr>
            <p:cNvPr id="15" name="Line 100"/>
            <p:cNvSpPr>
              <a:spLocks noChangeShapeType="1"/>
            </p:cNvSpPr>
            <p:nvPr/>
          </p:nvSpPr>
          <p:spPr bwMode="auto">
            <a:xfrm>
              <a:off x="2290" y="2614"/>
              <a:ext cx="0" cy="181"/>
            </a:xfrm>
            <a:prstGeom prst="line">
              <a:avLst/>
            </a:prstGeom>
            <a:noFill/>
            <a:ln w="28575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01"/>
            <p:cNvSpPr>
              <a:spLocks noChangeShapeType="1"/>
            </p:cNvSpPr>
            <p:nvPr/>
          </p:nvSpPr>
          <p:spPr bwMode="auto">
            <a:xfrm>
              <a:off x="2179" y="2795"/>
              <a:ext cx="226" cy="0"/>
            </a:xfrm>
            <a:prstGeom prst="line">
              <a:avLst/>
            </a:prstGeom>
            <a:noFill/>
            <a:ln w="38100">
              <a:solidFill>
                <a:schemeClr val="fol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43746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1"/>
          <p:cNvSpPr>
            <a:spLocks noGrp="1"/>
          </p:cNvSpPr>
          <p:nvPr>
            <p:ph type="dt" sz="quarter" idx="10"/>
          </p:nvPr>
        </p:nvSpPr>
        <p:spPr>
          <a:xfrm>
            <a:off x="381000" y="6572250"/>
            <a:ext cx="1905000" cy="457200"/>
          </a:xfrm>
        </p:spPr>
        <p:txBody>
          <a:bodyPr/>
          <a:lstStyle/>
          <a:p>
            <a:pPr>
              <a:defRPr/>
            </a:pPr>
            <a:fld id="{4587A32B-B3EB-4D43-9673-FF9C102D27C4}" type="datetime1">
              <a:rPr lang="zh-CN" altLang="en-US"/>
              <a:pPr>
                <a:defRPr/>
              </a:pPr>
              <a:t>2022/3/7</a:t>
            </a:fld>
            <a:endParaRPr lang="en-US" altLang="zh-CN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57225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858000" y="6572250"/>
            <a:ext cx="1905000" cy="457200"/>
          </a:xfrm>
        </p:spPr>
        <p:txBody>
          <a:bodyPr/>
          <a:lstStyle/>
          <a:p>
            <a:pPr>
              <a:defRPr/>
            </a:pPr>
            <a:fld id="{7A71F556-8ECA-479F-A1CF-D34CC5C3E0AD}" type="slidenum">
              <a:rPr lang="en-US" altLang="zh-CN"/>
              <a:pPr>
                <a:defRPr/>
              </a:pPr>
              <a:t>18</a:t>
            </a:fld>
            <a:endParaRPr lang="en-US" altLang="zh-CN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81000" y="620713"/>
            <a:ext cx="8458200" cy="457200"/>
          </a:xfrm>
        </p:spPr>
        <p:txBody>
          <a:bodyPr/>
          <a:lstStyle/>
          <a:p>
            <a:pPr algn="l" eaLnBrk="1" hangingPunct="1"/>
            <a:r>
              <a:rPr lang="zh-CN" altLang="en-US" sz="2400" dirty="0" smtClean="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sz="2400" dirty="0" smtClean="0">
                <a:solidFill>
                  <a:srgbClr val="CC3300"/>
                </a:solidFill>
                <a:ea typeface="隶书" panose="02010509060101010101" pitchFamily="49" charset="-122"/>
              </a:rPr>
              <a:t>5. The power of each circuit ?</a:t>
            </a:r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/>
        </p:nvGraphicFramePr>
        <p:xfrm>
          <a:off x="1371600" y="1525588"/>
          <a:ext cx="3101975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4" name="VISIO" r:id="rId3" imgW="1550372" imgH="482304" progId="Visio.Drawing.5">
                  <p:embed/>
                </p:oleObj>
              </mc:Choice>
              <mc:Fallback>
                <p:oleObj name="VISIO" r:id="rId3" imgW="1550372" imgH="482304" progId="Visio.Drawing.5">
                  <p:embed/>
                  <p:pic>
                    <p:nvPicPr>
                      <p:cNvPr id="20070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525588"/>
                        <a:ext cx="3101975" cy="966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/>
        </p:nvGraphicFramePr>
        <p:xfrm>
          <a:off x="5257800" y="1524000"/>
          <a:ext cx="3101975" cy="966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5" name="VISIO" r:id="rId5" imgW="1550372" imgH="482304" progId="Visio.Drawing.5">
                  <p:embed/>
                </p:oleObj>
              </mc:Choice>
              <mc:Fallback>
                <p:oleObj name="VISIO" r:id="rId5" imgW="1550372" imgH="482304" progId="Visio.Drawing.5">
                  <p:embed/>
                  <p:pic>
                    <p:nvPicPr>
                      <p:cNvPr id="20070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57800" y="1524000"/>
                        <a:ext cx="3101975" cy="966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5"/>
          <p:cNvSpPr>
            <a:spLocks noChangeArrowheads="1"/>
          </p:cNvSpPr>
          <p:nvPr/>
        </p:nvSpPr>
        <p:spPr bwMode="auto">
          <a:xfrm>
            <a:off x="468313" y="2924175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dirty="0" smtClean="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dirty="0" smtClean="0">
                <a:solidFill>
                  <a:srgbClr val="CC3300"/>
                </a:solidFill>
                <a:ea typeface="隶书" panose="02010509060101010101" pitchFamily="49" charset="-122"/>
              </a:rPr>
              <a:t>6. </a:t>
            </a:r>
            <a:r>
              <a:rPr lang="en-US" altLang="zh-CN" dirty="0">
                <a:solidFill>
                  <a:srgbClr val="CC3300"/>
                </a:solidFill>
                <a:ea typeface="隶书" panose="02010509060101010101" pitchFamily="49" charset="-122"/>
              </a:rPr>
              <a:t>The power of each network ?</a:t>
            </a:r>
          </a:p>
        </p:txBody>
      </p:sp>
      <p:graphicFrame>
        <p:nvGraphicFramePr>
          <p:cNvPr id="11" name="Object 6"/>
          <p:cNvGraphicFramePr>
            <a:graphicFrameLocks noChangeAspect="1"/>
          </p:cNvGraphicFramePr>
          <p:nvPr/>
        </p:nvGraphicFramePr>
        <p:xfrm>
          <a:off x="685800" y="3733800"/>
          <a:ext cx="2684463" cy="1304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6" name="Visio" r:id="rId7" imgW="1370076" imgH="681533" progId="Visio.Drawing.11">
                  <p:embed/>
                </p:oleObj>
              </mc:Choice>
              <mc:Fallback>
                <p:oleObj name="Visio" r:id="rId7" imgW="1370076" imgH="681533" progId="Visio.Drawing.11">
                  <p:embed/>
                  <p:pic>
                    <p:nvPicPr>
                      <p:cNvPr id="20071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733800"/>
                        <a:ext cx="2684463" cy="1304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/>
          <p:cNvGraphicFramePr>
            <a:graphicFrameLocks noChangeAspect="1"/>
          </p:cNvGraphicFramePr>
          <p:nvPr/>
        </p:nvGraphicFramePr>
        <p:xfrm>
          <a:off x="3911600" y="4038600"/>
          <a:ext cx="1144588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57" name="Equation" r:id="rId9" imgW="571252" imgH="406224" progId="Equation.DSMT4">
                  <p:embed/>
                </p:oleObj>
              </mc:Choice>
              <mc:Fallback>
                <p:oleObj name="Equation" r:id="rId9" imgW="571252" imgH="406224" progId="Equation.DSMT4">
                  <p:embed/>
                  <p:pic>
                    <p:nvPicPr>
                      <p:cNvPr id="20071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11600" y="4038600"/>
                        <a:ext cx="1144588" cy="814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98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1pPr>
            <a:lvl2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1.2   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基本变量 </a:t>
            </a: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Basic quantities</a:t>
            </a:r>
          </a:p>
        </p:txBody>
      </p:sp>
    </p:spTree>
    <p:extLst>
      <p:ext uri="{BB962C8B-B14F-4D97-AF65-F5344CB8AC3E}">
        <p14:creationId xmlns:p14="http://schemas.microsoft.com/office/powerpoint/2010/main" val="111473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1"/>
          <p:cNvSpPr>
            <a:spLocks noGrp="1"/>
          </p:cNvSpPr>
          <p:nvPr>
            <p:ph type="dt" sz="quarter" idx="10"/>
          </p:nvPr>
        </p:nvSpPr>
        <p:spPr>
          <a:xfrm>
            <a:off x="381000" y="6572250"/>
            <a:ext cx="1905000" cy="457200"/>
          </a:xfrm>
        </p:spPr>
        <p:txBody>
          <a:bodyPr/>
          <a:lstStyle/>
          <a:p>
            <a:pPr>
              <a:defRPr/>
            </a:pPr>
            <a:fld id="{91F9E422-3CA2-4394-9AAB-97D1BD52452E}" type="datetime1">
              <a:rPr lang="zh-CN" altLang="en-US"/>
              <a:pPr>
                <a:defRPr/>
              </a:pPr>
              <a:t>2022/3/7</a:t>
            </a:fld>
            <a:endParaRPr lang="en-US" altLang="zh-CN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57225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858000" y="6572250"/>
            <a:ext cx="1905000" cy="457200"/>
          </a:xfrm>
        </p:spPr>
        <p:txBody>
          <a:bodyPr/>
          <a:lstStyle/>
          <a:p>
            <a:pPr>
              <a:defRPr/>
            </a:pPr>
            <a:fld id="{65CDFE5C-960C-4A75-94AF-AFEDEC3A826B}" type="slidenum">
              <a:rPr lang="en-US" altLang="zh-CN"/>
              <a:pPr>
                <a:defRPr/>
              </a:pPr>
              <a:t>19</a:t>
            </a:fld>
            <a:endParaRPr lang="en-US" altLang="zh-CN"/>
          </a:p>
        </p:txBody>
      </p:sp>
      <p:sp>
        <p:nvSpPr>
          <p:cNvPr id="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323850" y="549275"/>
            <a:ext cx="8458200" cy="457200"/>
          </a:xfrm>
        </p:spPr>
        <p:txBody>
          <a:bodyPr>
            <a:normAutofit fontScale="90000"/>
          </a:bodyPr>
          <a:lstStyle/>
          <a:p>
            <a:pPr marL="342900" indent="-342900" algn="l" eaLnBrk="1" hangingPunct="1">
              <a:spcBef>
                <a:spcPct val="20000"/>
              </a:spcBef>
            </a:pPr>
            <a:r>
              <a:rPr lang="zh-CN" altLang="en-US" sz="2800" dirty="0" smtClean="0">
                <a:solidFill>
                  <a:srgbClr val="CC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例</a:t>
            </a:r>
            <a:r>
              <a:rPr lang="en-US" altLang="zh-CN" sz="2800" dirty="0" smtClean="0">
                <a:solidFill>
                  <a:srgbClr val="CC3300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7</a:t>
            </a:r>
            <a:r>
              <a:rPr lang="en-US" altLang="zh-CN" sz="2400" dirty="0" smtClean="0">
                <a:solidFill>
                  <a:srgbClr val="CC3300"/>
                </a:solidFill>
                <a:ea typeface="隶书" panose="02010509060101010101" pitchFamily="49" charset="-122"/>
              </a:rPr>
              <a:t>.</a:t>
            </a:r>
            <a:r>
              <a:rPr lang="zh-CN" altLang="en-US" sz="2400" dirty="0" smtClean="0">
                <a:solidFill>
                  <a:srgbClr val="CC3300"/>
                </a:solidFill>
                <a:ea typeface="隶书" panose="02010509060101010101" pitchFamily="49" charset="-122"/>
              </a:rPr>
              <a:t>计算线性受控源的功率。</a:t>
            </a:r>
          </a:p>
        </p:txBody>
      </p:sp>
      <p:graphicFrame>
        <p:nvGraphicFramePr>
          <p:cNvPr id="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88590080"/>
              </p:ext>
            </p:extLst>
          </p:nvPr>
        </p:nvGraphicFramePr>
        <p:xfrm>
          <a:off x="34925" y="836613"/>
          <a:ext cx="4176713" cy="170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8" name="Visio" r:id="rId3" imgW="2364724" imgH="963549" progId="Visio.Drawing.11">
                  <p:embed/>
                </p:oleObj>
              </mc:Choice>
              <mc:Fallback>
                <p:oleObj name="Visio" r:id="rId3" imgW="2364724" imgH="963549" progId="Visio.Drawing.11">
                  <p:embed/>
                  <p:pic>
                    <p:nvPicPr>
                      <p:cNvPr id="20275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" y="836613"/>
                        <a:ext cx="4176713" cy="170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3998958"/>
              </p:ext>
            </p:extLst>
          </p:nvPr>
        </p:nvGraphicFramePr>
        <p:xfrm>
          <a:off x="323850" y="2832100"/>
          <a:ext cx="3960813" cy="178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49" name="Visio" r:id="rId5" imgW="1944672" imgH="915543" progId="Visio.Drawing.11">
                  <p:embed/>
                </p:oleObj>
              </mc:Choice>
              <mc:Fallback>
                <p:oleObj name="Visio" r:id="rId5" imgW="1944672" imgH="915543" progId="Visio.Drawing.11">
                  <p:embed/>
                  <p:pic>
                    <p:nvPicPr>
                      <p:cNvPr id="20275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2832100"/>
                        <a:ext cx="3960813" cy="178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81651328"/>
              </p:ext>
            </p:extLst>
          </p:nvPr>
        </p:nvGraphicFramePr>
        <p:xfrm>
          <a:off x="5138738" y="4724400"/>
          <a:ext cx="94456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0" name="Equation" r:id="rId7" imgW="444307" imgH="431613" progId="Equation.DSMT4">
                  <p:embed/>
                </p:oleObj>
              </mc:Choice>
              <mc:Fallback>
                <p:oleObj name="Equation" r:id="rId7" imgW="444307" imgH="431613" progId="Equation.DSMT4">
                  <p:embed/>
                  <p:pic>
                    <p:nvPicPr>
                      <p:cNvPr id="20275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8738" y="4724400"/>
                        <a:ext cx="94456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90171449"/>
              </p:ext>
            </p:extLst>
          </p:nvPr>
        </p:nvGraphicFramePr>
        <p:xfrm>
          <a:off x="5580063" y="908050"/>
          <a:ext cx="3321050" cy="1457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1" name="Equation" r:id="rId9" imgW="1562100" imgH="685800" progId="Equation.DSMT4">
                  <p:embed/>
                </p:oleObj>
              </mc:Choice>
              <mc:Fallback>
                <p:oleObj name="Equation" r:id="rId9" imgW="1562100" imgH="685800" progId="Equation.DSMT4">
                  <p:embed/>
                  <p:pic>
                    <p:nvPicPr>
                      <p:cNvPr id="20275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908050"/>
                        <a:ext cx="3321050" cy="1457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80263402"/>
              </p:ext>
            </p:extLst>
          </p:nvPr>
        </p:nvGraphicFramePr>
        <p:xfrm>
          <a:off x="4572000" y="2924175"/>
          <a:ext cx="297021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2" name="Equation" r:id="rId11" imgW="1397000" imgH="228600" progId="Equation.DSMT4">
                  <p:embed/>
                </p:oleObj>
              </mc:Choice>
              <mc:Fallback>
                <p:oleObj name="Equation" r:id="rId11" imgW="1397000" imgH="228600" progId="Equation.DSMT4">
                  <p:embed/>
                  <p:pic>
                    <p:nvPicPr>
                      <p:cNvPr id="20275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2924175"/>
                        <a:ext cx="297021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Line 8"/>
          <p:cNvSpPr>
            <a:spLocks noChangeShapeType="1"/>
          </p:cNvSpPr>
          <p:nvPr/>
        </p:nvSpPr>
        <p:spPr bwMode="auto">
          <a:xfrm>
            <a:off x="179388" y="2565400"/>
            <a:ext cx="8785225" cy="0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" name="Line 9"/>
          <p:cNvSpPr>
            <a:spLocks noChangeShapeType="1"/>
          </p:cNvSpPr>
          <p:nvPr/>
        </p:nvSpPr>
        <p:spPr bwMode="auto">
          <a:xfrm>
            <a:off x="179388" y="4724400"/>
            <a:ext cx="8785225" cy="0"/>
          </a:xfrm>
          <a:prstGeom prst="line">
            <a:avLst/>
          </a:prstGeom>
          <a:noFill/>
          <a:ln w="9525">
            <a:solidFill>
              <a:srgbClr val="CC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5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06535599"/>
              </p:ext>
            </p:extLst>
          </p:nvPr>
        </p:nvGraphicFramePr>
        <p:xfrm>
          <a:off x="106363" y="4791075"/>
          <a:ext cx="4897437" cy="1806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3" name="Visio" r:id="rId13" imgW="2537460" imgH="975979" progId="Visio.Drawing.11">
                  <p:embed/>
                </p:oleObj>
              </mc:Choice>
              <mc:Fallback>
                <p:oleObj name="Visio" r:id="rId13" imgW="2537460" imgH="975979" progId="Visio.Drawing.11">
                  <p:embed/>
                  <p:pic>
                    <p:nvPicPr>
                      <p:cNvPr id="20276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6363" y="4791075"/>
                        <a:ext cx="4897437" cy="1806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7487413"/>
              </p:ext>
            </p:extLst>
          </p:nvPr>
        </p:nvGraphicFramePr>
        <p:xfrm>
          <a:off x="4994275" y="5507038"/>
          <a:ext cx="3970338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4" name="Equation" r:id="rId15" imgW="1866900" imgH="431800" progId="Equation.DSMT4">
                  <p:embed/>
                </p:oleObj>
              </mc:Choice>
              <mc:Fallback>
                <p:oleObj name="Equation" r:id="rId15" imgW="1866900" imgH="431800" progId="Equation.DSMT4">
                  <p:embed/>
                  <p:pic>
                    <p:nvPicPr>
                      <p:cNvPr id="20276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94275" y="5507038"/>
                        <a:ext cx="3970338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28712396"/>
              </p:ext>
            </p:extLst>
          </p:nvPr>
        </p:nvGraphicFramePr>
        <p:xfrm>
          <a:off x="6650038" y="4940300"/>
          <a:ext cx="2024062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5" name="Equation" r:id="rId17" imgW="952087" imgH="228501" progId="Equation.DSMT4">
                  <p:embed/>
                </p:oleObj>
              </mc:Choice>
              <mc:Fallback>
                <p:oleObj name="Equation" r:id="rId17" imgW="952087" imgH="228501" progId="Equation.DSMT4">
                  <p:embed/>
                  <p:pic>
                    <p:nvPicPr>
                      <p:cNvPr id="20276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0038" y="4940300"/>
                        <a:ext cx="2024062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19776841"/>
              </p:ext>
            </p:extLst>
          </p:nvPr>
        </p:nvGraphicFramePr>
        <p:xfrm>
          <a:off x="4211638" y="765175"/>
          <a:ext cx="944562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56" name="Equation" r:id="rId19" imgW="444307" imgH="431613" progId="Equation.DSMT4">
                  <p:embed/>
                </p:oleObj>
              </mc:Choice>
              <mc:Fallback>
                <p:oleObj name="Equation" r:id="rId19" imgW="444307" imgH="431613" progId="Equation.DSMT4">
                  <p:embed/>
                  <p:pic>
                    <p:nvPicPr>
                      <p:cNvPr id="20276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765175"/>
                        <a:ext cx="944562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7740650" y="2060575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chemeClr val="accent2"/>
                </a:solidFill>
                <a:ea typeface="隶书" panose="02010509060101010101" pitchFamily="49" charset="-122"/>
              </a:rPr>
              <a:t>提供功率</a:t>
            </a:r>
          </a:p>
        </p:txBody>
      </p:sp>
      <p:sp>
        <p:nvSpPr>
          <p:cNvPr id="20" name="Rectangle 15"/>
          <p:cNvSpPr>
            <a:spLocks noChangeArrowheads="1"/>
          </p:cNvSpPr>
          <p:nvPr/>
        </p:nvSpPr>
        <p:spPr bwMode="auto">
          <a:xfrm>
            <a:off x="7740650" y="4221163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chemeClr val="accent2"/>
                </a:solidFill>
                <a:ea typeface="隶书" panose="02010509060101010101" pitchFamily="49" charset="-122"/>
              </a:rPr>
              <a:t>功率为零</a:t>
            </a:r>
          </a:p>
        </p:txBody>
      </p:sp>
      <p:sp>
        <p:nvSpPr>
          <p:cNvPr id="21" name="Rectangle 16"/>
          <p:cNvSpPr>
            <a:spLocks noChangeArrowheads="1"/>
          </p:cNvSpPr>
          <p:nvPr/>
        </p:nvSpPr>
        <p:spPr bwMode="auto">
          <a:xfrm>
            <a:off x="7092280" y="6368928"/>
            <a:ext cx="20129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 dirty="0">
                <a:solidFill>
                  <a:schemeClr val="accent2"/>
                </a:solidFill>
                <a:ea typeface="隶书" panose="02010509060101010101" pitchFamily="49" charset="-122"/>
              </a:rPr>
              <a:t>也可吸收功率</a:t>
            </a:r>
          </a:p>
        </p:txBody>
      </p:sp>
      <p:sp>
        <p:nvSpPr>
          <p:cNvPr id="22" name="Rectangle 17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1pPr>
            <a:lvl2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1.3 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电路元件</a:t>
            </a:r>
          </a:p>
        </p:txBody>
      </p:sp>
    </p:spTree>
    <p:extLst>
      <p:ext uri="{BB962C8B-B14F-4D97-AF65-F5344CB8AC3E}">
        <p14:creationId xmlns:p14="http://schemas.microsoft.com/office/powerpoint/2010/main" val="464080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1"/>
          <p:cNvSpPr>
            <a:spLocks noGrp="1"/>
          </p:cNvSpPr>
          <p:nvPr>
            <p:ph type="dt" sz="quarter" idx="10"/>
          </p:nvPr>
        </p:nvSpPr>
        <p:spPr>
          <a:xfrm>
            <a:off x="381000" y="6572250"/>
            <a:ext cx="1905000" cy="457200"/>
          </a:xfrm>
        </p:spPr>
        <p:txBody>
          <a:bodyPr/>
          <a:lstStyle/>
          <a:p>
            <a:pPr>
              <a:defRPr/>
            </a:pPr>
            <a:fld id="{20A1335D-5DD8-47E0-8371-4A1BAFA4144E}" type="datetime1">
              <a:rPr lang="zh-CN" altLang="en-US"/>
              <a:pPr>
                <a:defRPr/>
              </a:pPr>
              <a:t>2022/3/7</a:t>
            </a:fld>
            <a:endParaRPr lang="en-US" altLang="zh-CN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57225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858000" y="6572250"/>
            <a:ext cx="1905000" cy="457200"/>
          </a:xfrm>
        </p:spPr>
        <p:txBody>
          <a:bodyPr/>
          <a:lstStyle/>
          <a:p>
            <a:pPr>
              <a:defRPr/>
            </a:pPr>
            <a:fld id="{E339028B-E764-4597-BFC2-A1B1637852FE}" type="slidenum">
              <a:rPr lang="en-US" altLang="zh-CN"/>
              <a:pPr>
                <a:defRPr/>
              </a:pPr>
              <a:t>20</a:t>
            </a:fld>
            <a:endParaRPr lang="en-US" altLang="zh-CN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381000" y="692150"/>
            <a:ext cx="853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dirty="0" smtClean="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dirty="0" smtClean="0">
                <a:solidFill>
                  <a:srgbClr val="CC3300"/>
                </a:solidFill>
                <a:ea typeface="隶书" panose="02010509060101010101" pitchFamily="49" charset="-122"/>
              </a:rPr>
              <a:t>8</a:t>
            </a:r>
            <a:r>
              <a:rPr lang="zh-CN" altLang="en-US" dirty="0" smtClean="0">
                <a:solidFill>
                  <a:srgbClr val="CC3300"/>
                </a:solidFill>
                <a:ea typeface="隶书" panose="02010509060101010101" pitchFamily="49" charset="-122"/>
              </a:rPr>
              <a:t>：</a:t>
            </a:r>
            <a:r>
              <a:rPr lang="zh-CN" altLang="en-US" dirty="0">
                <a:solidFill>
                  <a:srgbClr val="CC3300"/>
                </a:solidFill>
                <a:ea typeface="隶书" panose="02010509060101010101" pitchFamily="49" charset="-122"/>
              </a:rPr>
              <a:t>计算受控电源、独立电流源的功率。</a:t>
            </a:r>
          </a:p>
        </p:txBody>
      </p:sp>
      <p:graphicFrame>
        <p:nvGraphicFramePr>
          <p:cNvPr id="8" name="Object 4"/>
          <p:cNvGraphicFramePr>
            <a:graphicFrameLocks noChangeAspect="1"/>
          </p:cNvGraphicFramePr>
          <p:nvPr/>
        </p:nvGraphicFramePr>
        <p:xfrm>
          <a:off x="539750" y="1484313"/>
          <a:ext cx="4210050" cy="1830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0" name="Visio" r:id="rId3" imgW="2134981" imgH="944261" progId="Visio.Drawing.11">
                  <p:embed/>
                </p:oleObj>
              </mc:Choice>
              <mc:Fallback>
                <p:oleObj name="Visio" r:id="rId3" imgW="2134981" imgH="944261" progId="Visio.Drawing.11">
                  <p:embed/>
                  <p:pic>
                    <p:nvPicPr>
                      <p:cNvPr id="19866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1484313"/>
                        <a:ext cx="4210050" cy="1830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5"/>
          <p:cNvGraphicFramePr>
            <a:graphicFrameLocks noChangeAspect="1"/>
          </p:cNvGraphicFramePr>
          <p:nvPr/>
        </p:nvGraphicFramePr>
        <p:xfrm>
          <a:off x="5092700" y="1700213"/>
          <a:ext cx="3152775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1" name="Equation" r:id="rId5" imgW="1574117" imgH="177723" progId="Equation.DSMT4">
                  <p:embed/>
                </p:oleObj>
              </mc:Choice>
              <mc:Fallback>
                <p:oleObj name="Equation" r:id="rId5" imgW="1574117" imgH="177723" progId="Equation.DSMT4">
                  <p:embed/>
                  <p:pic>
                    <p:nvPicPr>
                      <p:cNvPr id="19866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92700" y="1700213"/>
                        <a:ext cx="3152775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6"/>
          <p:cNvGraphicFramePr>
            <a:graphicFrameLocks noChangeAspect="1"/>
          </p:cNvGraphicFramePr>
          <p:nvPr/>
        </p:nvGraphicFramePr>
        <p:xfrm>
          <a:off x="5130800" y="3213100"/>
          <a:ext cx="26400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2" name="Equation" r:id="rId7" imgW="1320800" imgH="228600" progId="Equation.DSMT4">
                  <p:embed/>
                </p:oleObj>
              </mc:Choice>
              <mc:Fallback>
                <p:oleObj name="Equation" r:id="rId7" imgW="1320800" imgH="228600" progId="Equation.DSMT4">
                  <p:embed/>
                  <p:pic>
                    <p:nvPicPr>
                      <p:cNvPr id="19866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30800" y="3213100"/>
                        <a:ext cx="26400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7"/>
          <p:cNvGraphicFramePr>
            <a:graphicFrameLocks noChangeAspect="1"/>
          </p:cNvGraphicFramePr>
          <p:nvPr/>
        </p:nvGraphicFramePr>
        <p:xfrm>
          <a:off x="5106988" y="2492375"/>
          <a:ext cx="3713162" cy="458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3" name="Equation" r:id="rId9" imgW="1854200" imgH="228600" progId="Equation.DSMT4">
                  <p:embed/>
                </p:oleObj>
              </mc:Choice>
              <mc:Fallback>
                <p:oleObj name="Equation" r:id="rId9" imgW="1854200" imgH="228600" progId="Equation.DSMT4">
                  <p:embed/>
                  <p:pic>
                    <p:nvPicPr>
                      <p:cNvPr id="19866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6988" y="2492375"/>
                        <a:ext cx="3713162" cy="458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Box 11"/>
          <p:cNvSpPr txBox="1">
            <a:spLocks noChangeArrowheads="1"/>
          </p:cNvSpPr>
          <p:nvPr/>
        </p:nvSpPr>
        <p:spPr bwMode="auto">
          <a:xfrm>
            <a:off x="2636838" y="2154238"/>
            <a:ext cx="1143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b="1" dirty="0">
                <a:solidFill>
                  <a:srgbClr val="FF6600"/>
                </a:solidFill>
                <a:ea typeface="隶书" panose="02010509060101010101" pitchFamily="49" charset="-122"/>
              </a:rPr>
              <a:t>+</a:t>
            </a:r>
            <a:r>
              <a:rPr lang="en-US" altLang="zh-CN" dirty="0">
                <a:solidFill>
                  <a:srgbClr val="FF6600"/>
                </a:solidFill>
                <a:ea typeface="隶书" panose="02010509060101010101" pitchFamily="49" charset="-122"/>
              </a:rPr>
              <a:t>  </a:t>
            </a:r>
            <a:r>
              <a:rPr lang="en-US" altLang="zh-CN" i="1" dirty="0">
                <a:solidFill>
                  <a:srgbClr val="FF6600"/>
                </a:solidFill>
                <a:ea typeface="隶书" panose="02010509060101010101" pitchFamily="49" charset="-122"/>
              </a:rPr>
              <a:t>u</a:t>
            </a:r>
            <a:r>
              <a:rPr lang="en-US" altLang="zh-CN" baseline="-25000" dirty="0">
                <a:solidFill>
                  <a:srgbClr val="FF6600"/>
                </a:solidFill>
                <a:ea typeface="隶书" panose="02010509060101010101" pitchFamily="49" charset="-122"/>
              </a:rPr>
              <a:t>1</a:t>
            </a:r>
            <a:r>
              <a:rPr lang="zh-CN" altLang="en-US" dirty="0">
                <a:solidFill>
                  <a:srgbClr val="FF6600"/>
                </a:solidFill>
                <a:ea typeface="隶书" panose="02010509060101010101" pitchFamily="49" charset="-122"/>
              </a:rPr>
              <a:t>－ </a:t>
            </a:r>
          </a:p>
        </p:txBody>
      </p:sp>
      <p:sp>
        <p:nvSpPr>
          <p:cNvPr id="13" name="Text Box 15"/>
          <p:cNvSpPr txBox="1">
            <a:spLocks noChangeArrowheads="1"/>
          </p:cNvSpPr>
          <p:nvPr/>
        </p:nvSpPr>
        <p:spPr bwMode="auto">
          <a:xfrm>
            <a:off x="1403350" y="2154238"/>
            <a:ext cx="50482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66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rgbClr val="FF6600"/>
                </a:solidFill>
                <a:ea typeface="隶书" panose="02010509060101010101" pitchFamily="49" charset="-122"/>
              </a:rPr>
              <a:t>+</a:t>
            </a:r>
            <a:endParaRPr lang="en-US" altLang="zh-CN">
              <a:solidFill>
                <a:srgbClr val="FF6600"/>
              </a:solidFill>
              <a:ea typeface="隶书" panose="02010509060101010101" pitchFamily="49" charset="-122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i="1">
                <a:solidFill>
                  <a:srgbClr val="FF6600"/>
                </a:solidFill>
                <a:ea typeface="隶书" panose="02010509060101010101" pitchFamily="49" charset="-122"/>
              </a:rPr>
              <a:t>u</a:t>
            </a:r>
            <a:r>
              <a:rPr lang="en-US" altLang="zh-CN" baseline="-25000">
                <a:solidFill>
                  <a:srgbClr val="FF6600"/>
                </a:solidFill>
                <a:ea typeface="隶书" panose="02010509060101010101" pitchFamily="49" charset="-122"/>
              </a:rPr>
              <a:t>2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rgbClr val="FF6600"/>
                </a:solidFill>
                <a:ea typeface="隶书" panose="02010509060101010101" pitchFamily="49" charset="-122"/>
              </a:rPr>
              <a:t>－ </a:t>
            </a:r>
          </a:p>
        </p:txBody>
      </p:sp>
      <p:graphicFrame>
        <p:nvGraphicFramePr>
          <p:cNvPr id="14" name="Object 16"/>
          <p:cNvGraphicFramePr>
            <a:graphicFrameLocks noChangeAspect="1"/>
          </p:cNvGraphicFramePr>
          <p:nvPr/>
        </p:nvGraphicFramePr>
        <p:xfrm>
          <a:off x="5148263" y="4292600"/>
          <a:ext cx="34575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4" name="Equation" r:id="rId11" imgW="1727200" imgH="228600" progId="Equation.DSMT4">
                  <p:embed/>
                </p:oleObj>
              </mc:Choice>
              <mc:Fallback>
                <p:oleObj name="Equation" r:id="rId11" imgW="1727200" imgH="228600" progId="Equation.DSMT4">
                  <p:embed/>
                  <p:pic>
                    <p:nvPicPr>
                      <p:cNvPr id="198672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4292600"/>
                        <a:ext cx="34575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735228"/>
              </p:ext>
            </p:extLst>
          </p:nvPr>
        </p:nvGraphicFramePr>
        <p:xfrm>
          <a:off x="5148064" y="4941888"/>
          <a:ext cx="27670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35" name="Equation" r:id="rId13" imgW="1384200" imgH="228600" progId="Equation.DSMT4">
                  <p:embed/>
                </p:oleObj>
              </mc:Choice>
              <mc:Fallback>
                <p:oleObj name="Equation" r:id="rId13" imgW="1384200" imgH="228600" progId="Equation.DSMT4">
                  <p:embed/>
                  <p:pic>
                    <p:nvPicPr>
                      <p:cNvPr id="198673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064" y="4941888"/>
                        <a:ext cx="27670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8"/>
          <p:cNvSpPr>
            <a:spLocks noChangeArrowheads="1"/>
          </p:cNvSpPr>
          <p:nvPr/>
        </p:nvSpPr>
        <p:spPr bwMode="auto">
          <a:xfrm>
            <a:off x="6732588" y="3500438"/>
            <a:ext cx="153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chemeClr val="hlink"/>
                </a:solidFill>
                <a:ea typeface="隶书" panose="02010509060101010101" pitchFamily="49" charset="-122"/>
              </a:rPr>
              <a:t>发出</a:t>
            </a:r>
            <a:r>
              <a:rPr lang="en-US" altLang="zh-CN">
                <a:solidFill>
                  <a:schemeClr val="hlink"/>
                </a:solidFill>
                <a:ea typeface="隶书" panose="02010509060101010101" pitchFamily="49" charset="-122"/>
              </a:rPr>
              <a:t>560W</a:t>
            </a:r>
          </a:p>
        </p:txBody>
      </p:sp>
      <p:sp>
        <p:nvSpPr>
          <p:cNvPr id="17" name="Rectangle 19"/>
          <p:cNvSpPr>
            <a:spLocks noChangeArrowheads="1"/>
          </p:cNvSpPr>
          <p:nvPr/>
        </p:nvSpPr>
        <p:spPr bwMode="auto">
          <a:xfrm>
            <a:off x="6732588" y="5300663"/>
            <a:ext cx="153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zh-CN" altLang="en-US">
                <a:solidFill>
                  <a:schemeClr val="hlink"/>
                </a:solidFill>
                <a:ea typeface="隶书" panose="02010509060101010101" pitchFamily="49" charset="-122"/>
              </a:rPr>
              <a:t>发出</a:t>
            </a:r>
            <a:r>
              <a:rPr lang="en-US" altLang="zh-CN">
                <a:solidFill>
                  <a:schemeClr val="hlink"/>
                </a:solidFill>
                <a:ea typeface="隶书" panose="02010509060101010101" pitchFamily="49" charset="-122"/>
              </a:rPr>
              <a:t>400W</a:t>
            </a:r>
          </a:p>
        </p:txBody>
      </p:sp>
      <p:sp>
        <p:nvSpPr>
          <p:cNvPr id="18" name="Rectangle 20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1pPr>
            <a:lvl2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1.4 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基尔霍夫定律</a:t>
            </a:r>
          </a:p>
        </p:txBody>
      </p:sp>
    </p:spTree>
    <p:extLst>
      <p:ext uri="{BB962C8B-B14F-4D97-AF65-F5344CB8AC3E}">
        <p14:creationId xmlns:p14="http://schemas.microsoft.com/office/powerpoint/2010/main" val="1534086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2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1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2" grpId="0" autoUpdateAnimBg="0"/>
      <p:bldP spid="13" grpId="0" autoUpdateAnimBg="0"/>
      <p:bldP spid="16" grpId="0"/>
      <p:bldP spid="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1"/>
          <p:cNvSpPr>
            <a:spLocks noGrp="1"/>
          </p:cNvSpPr>
          <p:nvPr>
            <p:ph type="dt" sz="quarter" idx="10"/>
          </p:nvPr>
        </p:nvSpPr>
        <p:spPr>
          <a:xfrm>
            <a:off x="381000" y="6572250"/>
            <a:ext cx="1905000" cy="457200"/>
          </a:xfrm>
        </p:spPr>
        <p:txBody>
          <a:bodyPr/>
          <a:lstStyle/>
          <a:p>
            <a:pPr>
              <a:defRPr/>
            </a:pPr>
            <a:fld id="{E1E95AEB-2CF3-4BFB-A937-C5E5F94024C0}" type="datetime1">
              <a:rPr lang="zh-CN" altLang="en-US"/>
              <a:pPr>
                <a:defRPr/>
              </a:pPr>
              <a:t>2022/3/7</a:t>
            </a:fld>
            <a:endParaRPr lang="en-US" altLang="zh-CN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57225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858000" y="6572250"/>
            <a:ext cx="1905000" cy="457200"/>
          </a:xfrm>
        </p:spPr>
        <p:txBody>
          <a:bodyPr/>
          <a:lstStyle/>
          <a:p>
            <a:pPr>
              <a:defRPr/>
            </a:pPr>
            <a:fld id="{165D6F6B-21E8-46E8-94F6-B7AD309F5759}" type="slidenum">
              <a:rPr lang="en-US" altLang="zh-CN"/>
              <a:pPr>
                <a:defRPr/>
              </a:pPr>
              <a:t>21</a:t>
            </a:fld>
            <a:endParaRPr lang="en-US" altLang="zh-CN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81000" y="620713"/>
            <a:ext cx="853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dirty="0" smtClean="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dirty="0" smtClean="0">
                <a:solidFill>
                  <a:srgbClr val="CC3300"/>
                </a:solidFill>
                <a:ea typeface="隶书" panose="02010509060101010101" pitchFamily="49" charset="-122"/>
              </a:rPr>
              <a:t>9</a:t>
            </a:r>
            <a:r>
              <a:rPr lang="zh-CN" altLang="en-US" dirty="0" smtClean="0">
                <a:solidFill>
                  <a:srgbClr val="CC3300"/>
                </a:solidFill>
                <a:ea typeface="隶书" panose="02010509060101010101" pitchFamily="49" charset="-122"/>
              </a:rPr>
              <a:t>：</a:t>
            </a:r>
            <a:r>
              <a:rPr lang="zh-CN" altLang="en-US" dirty="0">
                <a:solidFill>
                  <a:srgbClr val="CC3300"/>
                </a:solidFill>
                <a:ea typeface="隶书" panose="02010509060101010101" pitchFamily="49" charset="-122"/>
              </a:rPr>
              <a:t>列出全部</a:t>
            </a:r>
            <a:r>
              <a:rPr lang="en-US" altLang="zh-CN" dirty="0">
                <a:solidFill>
                  <a:srgbClr val="CC3300"/>
                </a:solidFill>
                <a:ea typeface="隶书" panose="02010509060101010101" pitchFamily="49" charset="-122"/>
              </a:rPr>
              <a:t>KCL</a:t>
            </a:r>
            <a:r>
              <a:rPr lang="zh-CN" altLang="en-US" dirty="0">
                <a:solidFill>
                  <a:srgbClr val="CC3300"/>
                </a:solidFill>
                <a:ea typeface="隶书" panose="02010509060101010101" pitchFamily="49" charset="-122"/>
              </a:rPr>
              <a:t>，</a:t>
            </a:r>
            <a:r>
              <a:rPr lang="en-US" altLang="zh-CN" dirty="0">
                <a:solidFill>
                  <a:srgbClr val="CC3300"/>
                </a:solidFill>
                <a:ea typeface="隶书" panose="02010509060101010101" pitchFamily="49" charset="-122"/>
              </a:rPr>
              <a:t>KVL</a:t>
            </a:r>
            <a:r>
              <a:rPr lang="zh-CN" altLang="en-US" dirty="0">
                <a:solidFill>
                  <a:srgbClr val="CC3300"/>
                </a:solidFill>
                <a:ea typeface="隶书" panose="02010509060101010101" pitchFamily="49" charset="-122"/>
              </a:rPr>
              <a:t>方程。</a:t>
            </a:r>
          </a:p>
        </p:txBody>
      </p:sp>
      <p:graphicFrame>
        <p:nvGraphicFramePr>
          <p:cNvPr id="8" name="Object 12"/>
          <p:cNvGraphicFramePr>
            <a:graphicFrameLocks noChangeAspect="1"/>
          </p:cNvGraphicFramePr>
          <p:nvPr/>
        </p:nvGraphicFramePr>
        <p:xfrm>
          <a:off x="-107950" y="836613"/>
          <a:ext cx="4464050" cy="3195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6" name="Visio" r:id="rId3" imgW="2773985" imgH="1994002" progId="Visio.Drawing.11">
                  <p:embed/>
                </p:oleObj>
              </mc:Choice>
              <mc:Fallback>
                <p:oleObj name="Visio" r:id="rId3" imgW="2773985" imgH="1994002" progId="Visio.Drawing.11">
                  <p:embed/>
                  <p:pic>
                    <p:nvPicPr>
                      <p:cNvPr id="2253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07950" y="836613"/>
                        <a:ext cx="4464050" cy="3195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13"/>
          <p:cNvSpPr>
            <a:spLocks noChangeArrowheads="1"/>
          </p:cNvSpPr>
          <p:nvPr/>
        </p:nvSpPr>
        <p:spPr bwMode="auto">
          <a:xfrm>
            <a:off x="4932363" y="692150"/>
            <a:ext cx="3455987" cy="1081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1pPr>
            <a:lvl2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kumimoji="0" lang="zh-CN" altLang="en-US" sz="240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数目？</a:t>
            </a:r>
            <a:br>
              <a:rPr kumimoji="0" lang="zh-CN" altLang="en-US" sz="240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</a:br>
            <a:r>
              <a:rPr kumimoji="0" lang="zh-CN" altLang="en-US" sz="240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如何保证独立性？</a:t>
            </a:r>
            <a:br>
              <a:rPr kumimoji="0" lang="zh-CN" altLang="en-US" sz="240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</a:br>
            <a:r>
              <a:rPr kumimoji="0" lang="zh-CN" altLang="en-US" sz="240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列写方法？</a:t>
            </a:r>
            <a:endParaRPr lang="zh-CN" altLang="en-US" sz="2400" smtClean="0"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ea typeface="隶书" panose="02010509060101010101" pitchFamily="49" charset="-122"/>
            </a:endParaRPr>
          </a:p>
        </p:txBody>
      </p:sp>
      <p:graphicFrame>
        <p:nvGraphicFramePr>
          <p:cNvPr id="10" name="Object 14"/>
          <p:cNvGraphicFramePr>
            <a:graphicFrameLocks noChangeAspect="1"/>
          </p:cNvGraphicFramePr>
          <p:nvPr/>
        </p:nvGraphicFramePr>
        <p:xfrm>
          <a:off x="4537075" y="3716338"/>
          <a:ext cx="4427538" cy="3168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7" name="Visio" r:id="rId5" imgW="2774061" imgH="1993964" progId="Visio.Drawing.11">
                  <p:embed/>
                </p:oleObj>
              </mc:Choice>
              <mc:Fallback>
                <p:oleObj name="Visio" r:id="rId5" imgW="2774061" imgH="1993964" progId="Visio.Drawing.11">
                  <p:embed/>
                  <p:pic>
                    <p:nvPicPr>
                      <p:cNvPr id="199694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7075" y="3716338"/>
                        <a:ext cx="4427538" cy="3168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5"/>
          <p:cNvGraphicFramePr>
            <a:graphicFrameLocks noChangeAspect="1"/>
          </p:cNvGraphicFramePr>
          <p:nvPr/>
        </p:nvGraphicFramePr>
        <p:xfrm>
          <a:off x="-107950" y="3689350"/>
          <a:ext cx="4464050" cy="3195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8" name="Visio" r:id="rId7" imgW="2774061" imgH="1993964" progId="Visio.Drawing.11">
                  <p:embed/>
                </p:oleObj>
              </mc:Choice>
              <mc:Fallback>
                <p:oleObj name="Visio" r:id="rId7" imgW="2774061" imgH="1993964" progId="Visio.Drawing.11">
                  <p:embed/>
                  <p:pic>
                    <p:nvPicPr>
                      <p:cNvPr id="19969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07950" y="3689350"/>
                        <a:ext cx="4464050" cy="3195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6"/>
          <p:cNvSpPr>
            <a:spLocks noChangeArrowheads="1"/>
          </p:cNvSpPr>
          <p:nvPr/>
        </p:nvSpPr>
        <p:spPr bwMode="auto">
          <a:xfrm>
            <a:off x="4284663" y="1916113"/>
            <a:ext cx="5256212" cy="1081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1pPr>
            <a:lvl2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kumimoji="0" lang="en-US" altLang="zh-CN" sz="24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KCL</a:t>
            </a:r>
            <a:r>
              <a:rPr kumimoji="0" lang="zh-CN" altLang="en-US" sz="24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：</a:t>
            </a:r>
            <a:r>
              <a:rPr kumimoji="0" lang="en-US" altLang="zh-CN" sz="24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n-1</a:t>
            </a:r>
            <a:r>
              <a:rPr kumimoji="0" lang="zh-CN" altLang="en-US" sz="24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个，独立结点</a:t>
            </a:r>
            <a:br>
              <a:rPr kumimoji="0" lang="zh-CN" altLang="en-US" sz="24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</a:br>
            <a:r>
              <a:rPr kumimoji="0" lang="en-US" altLang="zh-CN" sz="24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KVL</a:t>
            </a:r>
            <a:r>
              <a:rPr kumimoji="0" lang="zh-CN" altLang="en-US" sz="2400" dirty="0" smtClean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：基本回路、网孔（平面电路）</a:t>
            </a:r>
          </a:p>
        </p:txBody>
      </p:sp>
      <p:sp>
        <p:nvSpPr>
          <p:cNvPr id="13" name="Rectangle 17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1pPr>
            <a:lvl2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1.4 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基尔霍夫定律</a:t>
            </a:r>
          </a:p>
        </p:txBody>
      </p:sp>
    </p:spTree>
    <p:extLst>
      <p:ext uri="{BB962C8B-B14F-4D97-AF65-F5344CB8AC3E}">
        <p14:creationId xmlns:p14="http://schemas.microsoft.com/office/powerpoint/2010/main" val="2266263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1"/>
          <p:cNvSpPr>
            <a:spLocks noGrp="1"/>
          </p:cNvSpPr>
          <p:nvPr>
            <p:ph type="dt" sz="quarter" idx="10"/>
          </p:nvPr>
        </p:nvSpPr>
        <p:spPr>
          <a:xfrm>
            <a:off x="381000" y="6572250"/>
            <a:ext cx="1905000" cy="457200"/>
          </a:xfrm>
        </p:spPr>
        <p:txBody>
          <a:bodyPr/>
          <a:lstStyle/>
          <a:p>
            <a:pPr>
              <a:defRPr/>
            </a:pPr>
            <a:fld id="{23F8E999-33F1-43D4-8F93-45F0CB03BDA2}" type="datetime1">
              <a:rPr lang="zh-CN" altLang="en-US"/>
              <a:pPr>
                <a:defRPr/>
              </a:pPr>
              <a:t>2022/3/7</a:t>
            </a:fld>
            <a:endParaRPr lang="en-US" altLang="zh-CN"/>
          </a:p>
        </p:txBody>
      </p:sp>
      <p:sp>
        <p:nvSpPr>
          <p:cNvPr id="5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124200" y="6572250"/>
            <a:ext cx="2895600" cy="457200"/>
          </a:xfrm>
        </p:spPr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858000" y="6572250"/>
            <a:ext cx="1905000" cy="457200"/>
          </a:xfrm>
        </p:spPr>
        <p:txBody>
          <a:bodyPr/>
          <a:lstStyle/>
          <a:p>
            <a:pPr>
              <a:defRPr/>
            </a:pPr>
            <a:fld id="{37153DC4-A938-421D-ADAD-96829BE7E9E4}" type="slidenum">
              <a:rPr lang="en-US" altLang="zh-CN"/>
              <a:pPr>
                <a:defRPr/>
              </a:pPr>
              <a:t>22</a:t>
            </a:fld>
            <a:endParaRPr lang="en-US" altLang="zh-CN"/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395288" y="620713"/>
            <a:ext cx="8534400" cy="460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dirty="0" smtClean="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dirty="0" smtClean="0">
                <a:solidFill>
                  <a:srgbClr val="CC3300"/>
                </a:solidFill>
                <a:ea typeface="隶书" panose="02010509060101010101" pitchFamily="49" charset="-122"/>
              </a:rPr>
              <a:t>10: </a:t>
            </a:r>
            <a:r>
              <a:rPr lang="zh-CN" altLang="en-US" dirty="0">
                <a:solidFill>
                  <a:srgbClr val="CC3300"/>
                </a:solidFill>
                <a:ea typeface="隶书" panose="02010509060101010101" pitchFamily="49" charset="-122"/>
              </a:rPr>
              <a:t>计算各独立电源的功率。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3657600" y="1336675"/>
          <a:ext cx="5486400" cy="3551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4" name="VISIO" r:id="rId3" imgW="3071836" imgH="1979425" progId="Visio.Drawing.5">
                  <p:embed/>
                </p:oleObj>
              </mc:Choice>
              <mc:Fallback>
                <p:oleObj name="VISIO" r:id="rId3" imgW="3071836" imgH="1979425" progId="Visio.Drawing.5">
                  <p:embed/>
                  <p:pic>
                    <p:nvPicPr>
                      <p:cNvPr id="23558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1336675"/>
                        <a:ext cx="5486400" cy="3551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Object 8"/>
          <p:cNvGraphicFramePr>
            <a:graphicFrameLocks noChangeAspect="1"/>
          </p:cNvGraphicFramePr>
          <p:nvPr/>
        </p:nvGraphicFramePr>
        <p:xfrm>
          <a:off x="533400" y="1143000"/>
          <a:ext cx="21859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5" name="Equation" r:id="rId5" imgW="1091726" imgH="215806" progId="Equation.3">
                  <p:embed/>
                </p:oleObj>
              </mc:Choice>
              <mc:Fallback>
                <p:oleObj name="Equation" r:id="rId5" imgW="1091726" imgH="215806" progId="Equation.3">
                  <p:embed/>
                  <p:pic>
                    <p:nvPicPr>
                      <p:cNvPr id="19047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3400" y="1143000"/>
                        <a:ext cx="21859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9"/>
          <p:cNvGraphicFramePr>
            <a:graphicFrameLocks noChangeAspect="1"/>
          </p:cNvGraphicFramePr>
          <p:nvPr/>
        </p:nvGraphicFramePr>
        <p:xfrm>
          <a:off x="4557713" y="1803400"/>
          <a:ext cx="3748087" cy="1697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6" name="VISIO" r:id="rId7" imgW="2101596" imgH="947928" progId="Visio.Drawing.5">
                  <p:embed/>
                </p:oleObj>
              </mc:Choice>
              <mc:Fallback>
                <p:oleObj name="VISIO" r:id="rId7" imgW="2101596" imgH="947928" progId="Visio.Drawing.5">
                  <p:embed/>
                  <p:pic>
                    <p:nvPicPr>
                      <p:cNvPr id="190473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57713" y="1803400"/>
                        <a:ext cx="3748087" cy="1697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Object 10"/>
          <p:cNvGraphicFramePr>
            <a:graphicFrameLocks noChangeAspect="1"/>
          </p:cNvGraphicFramePr>
          <p:nvPr/>
        </p:nvGraphicFramePr>
        <p:xfrm>
          <a:off x="457200" y="2286000"/>
          <a:ext cx="2540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7" name="Equation" r:id="rId9" imgW="1270000" imgH="457200" progId="Equation.3">
                  <p:embed/>
                </p:oleObj>
              </mc:Choice>
              <mc:Fallback>
                <p:oleObj name="Equation" r:id="rId9" imgW="1270000" imgH="457200" progId="Equation.3">
                  <p:embed/>
                  <p:pic>
                    <p:nvPicPr>
                      <p:cNvPr id="19047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2286000"/>
                        <a:ext cx="2540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63895166"/>
              </p:ext>
            </p:extLst>
          </p:nvPr>
        </p:nvGraphicFramePr>
        <p:xfrm>
          <a:off x="406400" y="6021388"/>
          <a:ext cx="53355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8" name="Equation" r:id="rId11" imgW="2666880" imgH="228600" progId="Equation.DSMT4">
                  <p:embed/>
                </p:oleObj>
              </mc:Choice>
              <mc:Fallback>
                <p:oleObj name="Equation" r:id="rId11" imgW="2666880" imgH="228600" progId="Equation.DSMT4">
                  <p:embed/>
                  <p:pic>
                    <p:nvPicPr>
                      <p:cNvPr id="190475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400" y="6021388"/>
                        <a:ext cx="53355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90304666"/>
              </p:ext>
            </p:extLst>
          </p:nvPr>
        </p:nvGraphicFramePr>
        <p:xfrm>
          <a:off x="506413" y="4038600"/>
          <a:ext cx="28463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9" name="Equation" r:id="rId13" imgW="1422360" imgH="457200" progId="Equation.DSMT4">
                  <p:embed/>
                </p:oleObj>
              </mc:Choice>
              <mc:Fallback>
                <p:oleObj name="Equation" r:id="rId13" imgW="1422360" imgH="457200" progId="Equation.DSMT4">
                  <p:embed/>
                  <p:pic>
                    <p:nvPicPr>
                      <p:cNvPr id="190476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6413" y="4038600"/>
                        <a:ext cx="284638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4981881"/>
              </p:ext>
            </p:extLst>
          </p:nvPr>
        </p:nvGraphicFramePr>
        <p:xfrm>
          <a:off x="481013" y="5105400"/>
          <a:ext cx="4014787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0" name="Equation" r:id="rId15" imgW="2006280" imgH="457200" progId="Equation.DSMT4">
                  <p:embed/>
                </p:oleObj>
              </mc:Choice>
              <mc:Fallback>
                <p:oleObj name="Equation" r:id="rId15" imgW="2006280" imgH="457200" progId="Equation.DSMT4">
                  <p:embed/>
                  <p:pic>
                    <p:nvPicPr>
                      <p:cNvPr id="190477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13" y="5105400"/>
                        <a:ext cx="4014787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1549909"/>
              </p:ext>
            </p:extLst>
          </p:nvPr>
        </p:nvGraphicFramePr>
        <p:xfrm>
          <a:off x="482600" y="1663700"/>
          <a:ext cx="24653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1" name="Equation" r:id="rId17" imgW="1231560" imgH="228600" progId="Equation.DSMT4">
                  <p:embed/>
                </p:oleObj>
              </mc:Choice>
              <mc:Fallback>
                <p:oleObj name="Equation" r:id="rId17" imgW="1231560" imgH="228600" progId="Equation.DSMT4">
                  <p:embed/>
                  <p:pic>
                    <p:nvPicPr>
                      <p:cNvPr id="190478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2600" y="1663700"/>
                        <a:ext cx="24653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5"/>
          <p:cNvGrpSpPr>
            <a:grpSpLocks/>
          </p:cNvGrpSpPr>
          <p:nvPr/>
        </p:nvGrpSpPr>
        <p:grpSpPr bwMode="auto">
          <a:xfrm>
            <a:off x="5207000" y="4033838"/>
            <a:ext cx="2454275" cy="825500"/>
            <a:chOff x="3280" y="2544"/>
            <a:chExt cx="1546" cy="520"/>
          </a:xfrm>
        </p:grpSpPr>
        <p:graphicFrame>
          <p:nvGraphicFramePr>
            <p:cNvPr id="17" name="Object 16"/>
            <p:cNvGraphicFramePr>
              <a:graphicFrameLocks noChangeAspect="1"/>
            </p:cNvGraphicFramePr>
            <p:nvPr/>
          </p:nvGraphicFramePr>
          <p:xfrm>
            <a:off x="3280" y="2664"/>
            <a:ext cx="258" cy="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82" name="VISIO" r:id="rId19" imgW="207610" imgH="312942" progId="Visio.Drawing.5">
                    <p:embed/>
                  </p:oleObj>
                </mc:Choice>
                <mc:Fallback>
                  <p:oleObj name="VISIO" r:id="rId19" imgW="207610" imgH="312942" progId="Visio.Drawing.5">
                    <p:embed/>
                    <p:pic>
                      <p:nvPicPr>
                        <p:cNvPr id="23569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0" y="2664"/>
                          <a:ext cx="258" cy="3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8" name="Object 17"/>
            <p:cNvGraphicFramePr>
              <a:graphicFrameLocks noChangeAspect="1"/>
            </p:cNvGraphicFramePr>
            <p:nvPr/>
          </p:nvGraphicFramePr>
          <p:xfrm>
            <a:off x="4568" y="2673"/>
            <a:ext cx="258" cy="3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0383" name="VISIO" r:id="rId21" imgW="207610" imgH="312942" progId="Visio.Drawing.5">
                    <p:embed/>
                  </p:oleObj>
                </mc:Choice>
                <mc:Fallback>
                  <p:oleObj name="VISIO" r:id="rId21" imgW="207610" imgH="312942" progId="Visio.Drawing.5">
                    <p:embed/>
                    <p:pic>
                      <p:nvPicPr>
                        <p:cNvPr id="2357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68" y="2673"/>
                          <a:ext cx="258" cy="3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" name="Group 18"/>
            <p:cNvGrpSpPr>
              <a:grpSpLocks/>
            </p:cNvGrpSpPr>
            <p:nvPr/>
          </p:nvGrpSpPr>
          <p:grpSpPr bwMode="auto">
            <a:xfrm>
              <a:off x="4128" y="2544"/>
              <a:ext cx="249" cy="290"/>
              <a:chOff x="4128" y="2544"/>
              <a:chExt cx="249" cy="290"/>
            </a:xfrm>
          </p:grpSpPr>
          <p:sp>
            <p:nvSpPr>
              <p:cNvPr id="20" name="Line 19"/>
              <p:cNvSpPr>
                <a:spLocks noChangeShapeType="1"/>
              </p:cNvSpPr>
              <p:nvPr/>
            </p:nvSpPr>
            <p:spPr bwMode="auto">
              <a:xfrm flipV="1">
                <a:off x="4128" y="2640"/>
                <a:ext cx="0" cy="144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1" name="Object 20"/>
              <p:cNvGraphicFramePr>
                <a:graphicFrameLocks noChangeAspect="1"/>
              </p:cNvGraphicFramePr>
              <p:nvPr/>
            </p:nvGraphicFramePr>
            <p:xfrm>
              <a:off x="4184" y="2544"/>
              <a:ext cx="193" cy="29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10384" name="Equation" r:id="rId23" imgW="152334" imgH="228501" progId="Equation.3">
                      <p:embed/>
                    </p:oleObj>
                  </mc:Choice>
                  <mc:Fallback>
                    <p:oleObj name="Equation" r:id="rId23" imgW="152334" imgH="228501" progId="Equation.3">
                      <p:embed/>
                      <p:pic>
                        <p:nvPicPr>
                          <p:cNvPr id="23573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184" y="2544"/>
                            <a:ext cx="193" cy="290"/>
                          </a:xfrm>
                          <a:prstGeom prst="rect">
                            <a:avLst/>
                          </a:prstGeom>
                          <a:solidFill>
                            <a:srgbClr val="FFFF00"/>
                          </a:solidFill>
                          <a:ln>
                            <a:noFill/>
                          </a:ln>
                          <a:effectLst/>
                          <a:extLs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chemeClr val="tx1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chemeClr val="bg2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aphicFrame>
        <p:nvGraphicFramePr>
          <p:cNvPr id="22" name="Object 21"/>
          <p:cNvGraphicFramePr>
            <a:graphicFrameLocks noChangeAspect="1"/>
          </p:cNvGraphicFramePr>
          <p:nvPr/>
        </p:nvGraphicFramePr>
        <p:xfrm>
          <a:off x="228600" y="3429000"/>
          <a:ext cx="34051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85" name="Equation" r:id="rId25" imgW="1701800" imgH="228600" progId="Equation.3">
                  <p:embed/>
                </p:oleObj>
              </mc:Choice>
              <mc:Fallback>
                <p:oleObj name="Equation" r:id="rId25" imgW="1701800" imgH="228600" progId="Equation.3">
                  <p:embed/>
                  <p:pic>
                    <p:nvPicPr>
                      <p:cNvPr id="190485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429000"/>
                        <a:ext cx="3405188" cy="457200"/>
                      </a:xfrm>
                      <a:prstGeom prst="rect">
                        <a:avLst/>
                      </a:prstGeom>
                      <a:solidFill>
                        <a:srgbClr val="FFFF99">
                          <a:alpha val="50195"/>
                        </a:srgbClr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Rectangle 25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1pPr>
            <a:lvl2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1.4 </a:t>
            </a:r>
            <a:r>
              <a:rPr lang="zh-CN" altLang="en-US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基尔霍夫定律</a:t>
            </a:r>
          </a:p>
        </p:txBody>
      </p:sp>
    </p:spTree>
    <p:extLst>
      <p:ext uri="{BB962C8B-B14F-4D97-AF65-F5344CB8AC3E}">
        <p14:creationId xmlns:p14="http://schemas.microsoft.com/office/powerpoint/2010/main" val="25227806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64BEF41B-ED2F-4B35-A046-C959073CD1B8}" type="datetime1">
              <a:rPr lang="zh-CN" altLang="en-US"/>
              <a:pPr>
                <a:defRPr/>
              </a:pPr>
              <a:t>2022/3/7</a:t>
            </a:fld>
            <a:endParaRPr lang="en-US" altLang="zh-CN"/>
          </a:p>
        </p:txBody>
      </p:sp>
      <p:sp>
        <p:nvSpPr>
          <p:cNvPr id="20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B28F1B9-3C16-41F5-9A67-14B4A71B2ACB}" type="slidenum">
              <a:rPr lang="en-US" altLang="zh-CN"/>
              <a:pPr>
                <a:defRPr/>
              </a:pPr>
              <a:t>23</a:t>
            </a:fld>
            <a:endParaRPr lang="en-US" altLang="zh-CN"/>
          </a:p>
        </p:txBody>
      </p:sp>
      <p:graphicFrame>
        <p:nvGraphicFramePr>
          <p:cNvPr id="191494" name="Object 6"/>
          <p:cNvGraphicFramePr>
            <a:graphicFrameLocks noChangeAspect="1"/>
          </p:cNvGraphicFramePr>
          <p:nvPr/>
        </p:nvGraphicFramePr>
        <p:xfrm>
          <a:off x="971550" y="1557338"/>
          <a:ext cx="246538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9" name="Microsoft 公式 3.0" r:id="rId3" imgW="1231366" imgH="228501" progId="Equation.3">
                  <p:embed/>
                </p:oleObj>
              </mc:Choice>
              <mc:Fallback>
                <p:oleObj name="Microsoft 公式 3.0" r:id="rId3" imgW="1231366" imgH="228501" progId="Equation.3">
                  <p:embed/>
                  <p:pic>
                    <p:nvPicPr>
                      <p:cNvPr id="19149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557338"/>
                        <a:ext cx="246538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2" name="Object 7"/>
          <p:cNvGraphicFramePr>
            <a:graphicFrameLocks noChangeAspect="1"/>
          </p:cNvGraphicFramePr>
          <p:nvPr/>
        </p:nvGraphicFramePr>
        <p:xfrm>
          <a:off x="3810000" y="981075"/>
          <a:ext cx="5105400" cy="5105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0" name="VISIO" r:id="rId5" imgW="2752344" imgH="2741676" progId="Visio.Drawing.5">
                  <p:embed/>
                </p:oleObj>
              </mc:Choice>
              <mc:Fallback>
                <p:oleObj name="VISIO" r:id="rId5" imgW="2752344" imgH="2741676" progId="Visio.Drawing.5">
                  <p:embed/>
                  <p:pic>
                    <p:nvPicPr>
                      <p:cNvPr id="24582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981075"/>
                        <a:ext cx="5105400" cy="5105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3" name="Rectangle 9"/>
          <p:cNvSpPr>
            <a:spLocks noChangeArrowheads="1"/>
          </p:cNvSpPr>
          <p:nvPr/>
        </p:nvSpPr>
        <p:spPr bwMode="auto">
          <a:xfrm>
            <a:off x="395288" y="692150"/>
            <a:ext cx="853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dirty="0" smtClean="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dirty="0" smtClean="0">
                <a:solidFill>
                  <a:srgbClr val="CC3300"/>
                </a:solidFill>
                <a:ea typeface="隶书" panose="02010509060101010101" pitchFamily="49" charset="-122"/>
              </a:rPr>
              <a:t>11: </a:t>
            </a:r>
            <a:r>
              <a:rPr lang="zh-CN" altLang="en-US" dirty="0">
                <a:solidFill>
                  <a:srgbClr val="CC3300"/>
                </a:solidFill>
                <a:ea typeface="隶书" panose="02010509060101010101" pitchFamily="49" charset="-122"/>
              </a:rPr>
              <a:t>计算     支路电压。</a:t>
            </a:r>
          </a:p>
        </p:txBody>
      </p:sp>
      <p:graphicFrame>
        <p:nvGraphicFramePr>
          <p:cNvPr id="24584" name="Object 10"/>
          <p:cNvGraphicFramePr>
            <a:graphicFrameLocks noChangeAspect="1"/>
          </p:cNvGraphicFramePr>
          <p:nvPr/>
        </p:nvGraphicFramePr>
        <p:xfrm>
          <a:off x="1763713" y="692150"/>
          <a:ext cx="33178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1" name="Equation" r:id="rId7" imgW="165028" imgH="228501" progId="Equation.3">
                  <p:embed/>
                </p:oleObj>
              </mc:Choice>
              <mc:Fallback>
                <p:oleObj name="Equation" r:id="rId7" imgW="165028" imgH="228501" progId="Equation.3">
                  <p:embed/>
                  <p:pic>
                    <p:nvPicPr>
                      <p:cNvPr id="24584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692150"/>
                        <a:ext cx="331787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1499" name="Group 11"/>
          <p:cNvGrpSpPr>
            <a:grpSpLocks/>
          </p:cNvGrpSpPr>
          <p:nvPr/>
        </p:nvGrpSpPr>
        <p:grpSpPr bwMode="auto">
          <a:xfrm>
            <a:off x="4114800" y="2886075"/>
            <a:ext cx="2895600" cy="2209800"/>
            <a:chOff x="2592" y="1776"/>
            <a:chExt cx="1824" cy="1392"/>
          </a:xfrm>
        </p:grpSpPr>
        <p:sp>
          <p:nvSpPr>
            <p:cNvPr id="24593" name="Line 12"/>
            <p:cNvSpPr>
              <a:spLocks noChangeShapeType="1"/>
            </p:cNvSpPr>
            <p:nvPr/>
          </p:nvSpPr>
          <p:spPr bwMode="auto">
            <a:xfrm flipH="1">
              <a:off x="2592" y="1776"/>
              <a:ext cx="816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4" name="Line 13"/>
            <p:cNvSpPr>
              <a:spLocks noChangeShapeType="1"/>
            </p:cNvSpPr>
            <p:nvPr/>
          </p:nvSpPr>
          <p:spPr bwMode="auto">
            <a:xfrm>
              <a:off x="2592" y="1776"/>
              <a:ext cx="0" cy="1392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5" name="Line 14"/>
            <p:cNvSpPr>
              <a:spLocks noChangeShapeType="1"/>
            </p:cNvSpPr>
            <p:nvPr/>
          </p:nvSpPr>
          <p:spPr bwMode="auto">
            <a:xfrm>
              <a:off x="2592" y="3168"/>
              <a:ext cx="1824" cy="0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6" name="Line 15"/>
            <p:cNvSpPr>
              <a:spLocks noChangeShapeType="1"/>
            </p:cNvSpPr>
            <p:nvPr/>
          </p:nvSpPr>
          <p:spPr bwMode="auto">
            <a:xfrm flipV="1">
              <a:off x="4416" y="2064"/>
              <a:ext cx="0" cy="1104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597" name="Line 16"/>
            <p:cNvSpPr>
              <a:spLocks noChangeShapeType="1"/>
            </p:cNvSpPr>
            <p:nvPr/>
          </p:nvSpPr>
          <p:spPr bwMode="auto">
            <a:xfrm flipH="1">
              <a:off x="3792" y="2064"/>
              <a:ext cx="624" cy="624"/>
            </a:xfrm>
            <a:prstGeom prst="line">
              <a:avLst/>
            </a:prstGeom>
            <a:noFill/>
            <a:ln w="25400">
              <a:solidFill>
                <a:schemeClr val="hlink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91518" name="Group 30"/>
          <p:cNvGrpSpPr>
            <a:grpSpLocks/>
          </p:cNvGrpSpPr>
          <p:nvPr/>
        </p:nvGrpSpPr>
        <p:grpSpPr bwMode="auto">
          <a:xfrm>
            <a:off x="250825" y="2420938"/>
            <a:ext cx="3479800" cy="1258887"/>
            <a:chOff x="158" y="1525"/>
            <a:chExt cx="2192" cy="793"/>
          </a:xfrm>
        </p:grpSpPr>
        <p:sp>
          <p:nvSpPr>
            <p:cNvPr id="24591" name="Text Box 26"/>
            <p:cNvSpPr txBox="1">
              <a:spLocks noChangeArrowheads="1"/>
            </p:cNvSpPr>
            <p:nvPr/>
          </p:nvSpPr>
          <p:spPr bwMode="auto">
            <a:xfrm>
              <a:off x="158" y="1525"/>
              <a:ext cx="33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4000">
                  <a:solidFill>
                    <a:schemeClr val="hlink"/>
                  </a:solidFill>
                  <a:ea typeface="隶书" panose="02010509060101010101" pitchFamily="49" charset="-122"/>
                </a:rPr>
                <a:t>?</a:t>
              </a:r>
            </a:p>
          </p:txBody>
        </p:sp>
        <p:sp>
          <p:nvSpPr>
            <p:cNvPr id="24592" name="Text Box 27"/>
            <p:cNvSpPr txBox="1">
              <a:spLocks noChangeArrowheads="1"/>
            </p:cNvSpPr>
            <p:nvPr/>
          </p:nvSpPr>
          <p:spPr bwMode="auto">
            <a:xfrm>
              <a:off x="430" y="1570"/>
              <a:ext cx="1920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>
                  <a:solidFill>
                    <a:schemeClr val="accent2"/>
                  </a:solidFill>
                  <a:ea typeface="隶书" panose="02010509060101010101" pitchFamily="49" charset="-122"/>
                </a:rPr>
                <a:t>已知哪些支路电压，就可以求出所有支路电压？</a:t>
              </a:r>
            </a:p>
          </p:txBody>
        </p:sp>
      </p:grpSp>
      <p:grpSp>
        <p:nvGrpSpPr>
          <p:cNvPr id="191519" name="Group 31"/>
          <p:cNvGrpSpPr>
            <a:grpSpLocks/>
          </p:cNvGrpSpPr>
          <p:nvPr/>
        </p:nvGrpSpPr>
        <p:grpSpPr bwMode="auto">
          <a:xfrm>
            <a:off x="250825" y="4221163"/>
            <a:ext cx="3479800" cy="1258887"/>
            <a:chOff x="158" y="2659"/>
            <a:chExt cx="2192" cy="793"/>
          </a:xfrm>
        </p:grpSpPr>
        <p:sp>
          <p:nvSpPr>
            <p:cNvPr id="24589" name="Text Box 28"/>
            <p:cNvSpPr txBox="1">
              <a:spLocks noChangeArrowheads="1"/>
            </p:cNvSpPr>
            <p:nvPr/>
          </p:nvSpPr>
          <p:spPr bwMode="auto">
            <a:xfrm>
              <a:off x="158" y="2659"/>
              <a:ext cx="336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4000">
                  <a:solidFill>
                    <a:schemeClr val="hlink"/>
                  </a:solidFill>
                  <a:ea typeface="隶书" panose="02010509060101010101" pitchFamily="49" charset="-122"/>
                </a:rPr>
                <a:t>?</a:t>
              </a:r>
            </a:p>
          </p:txBody>
        </p:sp>
        <p:sp>
          <p:nvSpPr>
            <p:cNvPr id="24590" name="Text Box 29"/>
            <p:cNvSpPr txBox="1">
              <a:spLocks noChangeArrowheads="1"/>
            </p:cNvSpPr>
            <p:nvPr/>
          </p:nvSpPr>
          <p:spPr bwMode="auto">
            <a:xfrm>
              <a:off x="430" y="2704"/>
              <a:ext cx="1920" cy="74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华文楷体" panose="0201060004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华文宋体" panose="0201060004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zh-CN" altLang="en-US">
                  <a:solidFill>
                    <a:schemeClr val="accent2"/>
                  </a:solidFill>
                  <a:ea typeface="隶书" panose="02010509060101010101" pitchFamily="49" charset="-122"/>
                </a:rPr>
                <a:t>已知哪些支路电流，就可以求出所有支路电流？</a:t>
              </a:r>
            </a:p>
          </p:txBody>
        </p:sp>
      </p:grpSp>
      <p:sp>
        <p:nvSpPr>
          <p:cNvPr id="191520" name="Rectangle 32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1pPr>
            <a:lvl2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>
              <a:defRPr/>
            </a:pP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1.4 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基尔霍夫定律</a:t>
            </a:r>
          </a:p>
        </p:txBody>
      </p:sp>
    </p:spTree>
    <p:extLst>
      <p:ext uri="{BB962C8B-B14F-4D97-AF65-F5344CB8AC3E}">
        <p14:creationId xmlns:p14="http://schemas.microsoft.com/office/powerpoint/2010/main" val="1712782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2000"/>
                                        <p:tgtEl>
                                          <p:spTgt spid="19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0" dur="2000"/>
                                        <p:tgtEl>
                                          <p:spTgt spid="19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日期占位符 1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CD12057F-2C8E-4AC3-A352-00D892350D0D}" type="datetime1">
              <a:rPr lang="zh-CN" altLang="en-US"/>
              <a:pPr>
                <a:defRPr/>
              </a:pPr>
              <a:t>2022/3/7</a:t>
            </a:fld>
            <a:endParaRPr lang="en-US" altLang="zh-CN"/>
          </a:p>
        </p:txBody>
      </p:sp>
      <p:sp>
        <p:nvSpPr>
          <p:cNvPr id="1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414F1D-06BC-4767-885F-C73864A018F7}" type="slidenum">
              <a:rPr lang="en-US" altLang="zh-CN"/>
              <a:pPr>
                <a:defRPr/>
              </a:pPr>
              <a:t>24</a:t>
            </a:fld>
            <a:endParaRPr lang="en-US" altLang="zh-CN"/>
          </a:p>
        </p:txBody>
      </p:sp>
      <p:sp>
        <p:nvSpPr>
          <p:cNvPr id="25605" name="Rectangle 6"/>
          <p:cNvSpPr>
            <a:spLocks noChangeArrowheads="1"/>
          </p:cNvSpPr>
          <p:nvPr/>
        </p:nvSpPr>
        <p:spPr bwMode="auto">
          <a:xfrm>
            <a:off x="395288" y="908050"/>
            <a:ext cx="8534400" cy="5969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 dirty="0" smtClean="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dirty="0" smtClean="0">
                <a:solidFill>
                  <a:srgbClr val="CC3300"/>
                </a:solidFill>
                <a:ea typeface="隶书" panose="02010509060101010101" pitchFamily="49" charset="-122"/>
              </a:rPr>
              <a:t>12: </a:t>
            </a:r>
            <a:r>
              <a:rPr lang="en-US" altLang="zh-CN" dirty="0">
                <a:solidFill>
                  <a:srgbClr val="CC3300"/>
                </a:solidFill>
                <a:ea typeface="隶书" panose="02010509060101010101" pitchFamily="49" charset="-122"/>
              </a:rPr>
              <a:t>N1 </a:t>
            </a:r>
            <a:r>
              <a:rPr lang="zh-CN" altLang="en-US" dirty="0">
                <a:solidFill>
                  <a:srgbClr val="CC3300"/>
                </a:solidFill>
                <a:ea typeface="隶书" panose="02010509060101010101" pitchFamily="49" charset="-122"/>
              </a:rPr>
              <a:t>提供 </a:t>
            </a:r>
            <a:r>
              <a:rPr lang="en-US" altLang="zh-CN" dirty="0">
                <a:solidFill>
                  <a:srgbClr val="CC3300"/>
                </a:solidFill>
                <a:ea typeface="隶书" panose="02010509060101010101" pitchFamily="49" charset="-122"/>
              </a:rPr>
              <a:t>10W</a:t>
            </a:r>
            <a:r>
              <a:rPr lang="zh-CN" altLang="en-US" dirty="0">
                <a:solidFill>
                  <a:srgbClr val="CC3300"/>
                </a:solidFill>
                <a:ea typeface="隶书" panose="02010509060101010101" pitchFamily="49" charset="-122"/>
              </a:rPr>
              <a:t>， </a:t>
            </a:r>
            <a:r>
              <a:rPr lang="en-US" altLang="zh-CN" dirty="0">
                <a:solidFill>
                  <a:srgbClr val="CC3300"/>
                </a:solidFill>
                <a:ea typeface="隶书" panose="02010509060101010101" pitchFamily="49" charset="-122"/>
              </a:rPr>
              <a:t>N2 </a:t>
            </a:r>
            <a:r>
              <a:rPr lang="zh-CN" altLang="en-US" dirty="0">
                <a:solidFill>
                  <a:srgbClr val="CC3300"/>
                </a:solidFill>
                <a:ea typeface="隶书" panose="02010509060101010101" pitchFamily="49" charset="-122"/>
              </a:rPr>
              <a:t>吸收 </a:t>
            </a:r>
            <a:r>
              <a:rPr lang="en-US" altLang="zh-CN" dirty="0">
                <a:solidFill>
                  <a:srgbClr val="CC3300"/>
                </a:solidFill>
                <a:ea typeface="隶书" panose="02010509060101010101" pitchFamily="49" charset="-122"/>
              </a:rPr>
              <a:t>15W </a:t>
            </a:r>
            <a:r>
              <a:rPr lang="zh-CN" altLang="en-US" dirty="0">
                <a:solidFill>
                  <a:srgbClr val="CC3300"/>
                </a:solidFill>
                <a:ea typeface="隶书" panose="02010509060101010101" pitchFamily="49" charset="-122"/>
              </a:rPr>
              <a:t>，计算各独立电源的功率。</a:t>
            </a:r>
          </a:p>
        </p:txBody>
      </p:sp>
      <p:graphicFrame>
        <p:nvGraphicFramePr>
          <p:cNvPr id="25606" name="Object 7"/>
          <p:cNvGraphicFramePr>
            <a:graphicFrameLocks noChangeAspect="1"/>
          </p:cNvGraphicFramePr>
          <p:nvPr/>
        </p:nvGraphicFramePr>
        <p:xfrm>
          <a:off x="971550" y="1681163"/>
          <a:ext cx="3749675" cy="1865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8" name="Visio" r:id="rId3" imgW="1878355" imgH="941121" progId="Visio.Drawing.11">
                  <p:embed/>
                </p:oleObj>
              </mc:Choice>
              <mc:Fallback>
                <p:oleObj name="Visio" r:id="rId3" imgW="1878355" imgH="941121" progId="Visio.Drawing.11">
                  <p:embed/>
                  <p:pic>
                    <p:nvPicPr>
                      <p:cNvPr id="25606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681163"/>
                        <a:ext cx="3749675" cy="1865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0" name="Object 8"/>
          <p:cNvGraphicFramePr>
            <a:graphicFrameLocks noChangeAspect="1"/>
          </p:cNvGraphicFramePr>
          <p:nvPr/>
        </p:nvGraphicFramePr>
        <p:xfrm>
          <a:off x="4532313" y="4965700"/>
          <a:ext cx="4067175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79" name="公式" r:id="rId5" imgW="2032000" imgH="431800" progId="Equation.3">
                  <p:embed/>
                </p:oleObj>
              </mc:Choice>
              <mc:Fallback>
                <p:oleObj name="公式" r:id="rId5" imgW="2032000" imgH="431800" progId="Equation.3">
                  <p:embed/>
                  <p:pic>
                    <p:nvPicPr>
                      <p:cNvPr id="19252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32313" y="4965700"/>
                        <a:ext cx="4067175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1" name="Object 9"/>
          <p:cNvGraphicFramePr>
            <a:graphicFrameLocks noChangeAspect="1"/>
          </p:cNvGraphicFramePr>
          <p:nvPr/>
        </p:nvGraphicFramePr>
        <p:xfrm>
          <a:off x="1908175" y="2185988"/>
          <a:ext cx="360363" cy="1127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0" name="Equation" r:id="rId7" imgW="203112" imgH="634725" progId="Equation.DSMT4">
                  <p:embed/>
                </p:oleObj>
              </mc:Choice>
              <mc:Fallback>
                <p:oleObj name="Equation" r:id="rId7" imgW="203112" imgH="634725" progId="Equation.DSMT4">
                  <p:embed/>
                  <p:pic>
                    <p:nvPicPr>
                      <p:cNvPr id="19252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185988"/>
                        <a:ext cx="360363" cy="1127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2" name="Object 10"/>
          <p:cNvGraphicFramePr>
            <a:graphicFrameLocks noChangeAspect="1"/>
          </p:cNvGraphicFramePr>
          <p:nvPr/>
        </p:nvGraphicFramePr>
        <p:xfrm>
          <a:off x="3284538" y="1619250"/>
          <a:ext cx="433387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1" name="Equation" r:id="rId9" imgW="190417" imgH="330057" progId="Equation.DSMT4">
                  <p:embed/>
                </p:oleObj>
              </mc:Choice>
              <mc:Fallback>
                <p:oleObj name="Equation" r:id="rId9" imgW="190417" imgH="330057" progId="Equation.DSMT4">
                  <p:embed/>
                  <p:pic>
                    <p:nvPicPr>
                      <p:cNvPr id="192522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84538" y="1619250"/>
                        <a:ext cx="433387" cy="750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3" name="Object 11"/>
          <p:cNvGraphicFramePr>
            <a:graphicFrameLocks noChangeAspect="1"/>
          </p:cNvGraphicFramePr>
          <p:nvPr/>
        </p:nvGraphicFramePr>
        <p:xfrm>
          <a:off x="5364163" y="3427413"/>
          <a:ext cx="32067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2" name="Equation" r:id="rId11" imgW="1600200" imgH="228600" progId="Equation.DSMT4">
                  <p:embed/>
                </p:oleObj>
              </mc:Choice>
              <mc:Fallback>
                <p:oleObj name="Equation" r:id="rId11" imgW="1600200" imgH="228600" progId="Equation.DSMT4">
                  <p:embed/>
                  <p:pic>
                    <p:nvPicPr>
                      <p:cNvPr id="192523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3427413"/>
                        <a:ext cx="32067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4" name="Object 12"/>
          <p:cNvGraphicFramePr>
            <a:graphicFrameLocks noChangeAspect="1"/>
          </p:cNvGraphicFramePr>
          <p:nvPr/>
        </p:nvGraphicFramePr>
        <p:xfrm>
          <a:off x="5364163" y="2635250"/>
          <a:ext cx="9921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3" name="Equation" r:id="rId13" imgW="495085" imgH="228501" progId="Equation.DSMT4">
                  <p:embed/>
                </p:oleObj>
              </mc:Choice>
              <mc:Fallback>
                <p:oleObj name="Equation" r:id="rId13" imgW="495085" imgH="228501" progId="Equation.DSMT4">
                  <p:embed/>
                  <p:pic>
                    <p:nvPicPr>
                      <p:cNvPr id="192524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2635250"/>
                        <a:ext cx="9921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5" name="Object 13"/>
          <p:cNvGraphicFramePr>
            <a:graphicFrameLocks noChangeAspect="1"/>
          </p:cNvGraphicFramePr>
          <p:nvPr/>
        </p:nvGraphicFramePr>
        <p:xfrm>
          <a:off x="5364163" y="1844675"/>
          <a:ext cx="119538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4" name="Equation" r:id="rId15" imgW="596900" imgH="228600" progId="Equation.DSMT4">
                  <p:embed/>
                </p:oleObj>
              </mc:Choice>
              <mc:Fallback>
                <p:oleObj name="Equation" r:id="rId15" imgW="596900" imgH="228600" progId="Equation.DSMT4">
                  <p:embed/>
                  <p:pic>
                    <p:nvPicPr>
                      <p:cNvPr id="192525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1844675"/>
                        <a:ext cx="119538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2526" name="Object 14"/>
          <p:cNvGraphicFramePr>
            <a:graphicFrameLocks noChangeAspect="1"/>
          </p:cNvGraphicFramePr>
          <p:nvPr/>
        </p:nvGraphicFramePr>
        <p:xfrm>
          <a:off x="5384800" y="4148138"/>
          <a:ext cx="30797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85" name="Equation" r:id="rId17" imgW="1536700" imgH="228600" progId="Equation.DSMT4">
                  <p:embed/>
                </p:oleObj>
              </mc:Choice>
              <mc:Fallback>
                <p:oleObj name="Equation" r:id="rId17" imgW="1536700" imgH="228600" progId="Equation.DSMT4">
                  <p:embed/>
                  <p:pic>
                    <p:nvPicPr>
                      <p:cNvPr id="192526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84800" y="4148138"/>
                        <a:ext cx="30797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2533" name="Rectangle 21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1pPr>
            <a:lvl2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>
              <a:defRPr/>
            </a:pP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1.4 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基尔霍夫定律</a:t>
            </a:r>
          </a:p>
        </p:txBody>
      </p:sp>
    </p:spTree>
    <p:extLst>
      <p:ext uri="{BB962C8B-B14F-4D97-AF65-F5344CB8AC3E}">
        <p14:creationId xmlns:p14="http://schemas.microsoft.com/office/powerpoint/2010/main" val="511355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2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日期占位符 3"/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fld id="{1E04E5BE-6359-43D2-AF8A-6ED07F4239D3}" type="datetime1">
              <a:rPr lang="zh-CN" altLang="en-US"/>
              <a:pPr>
                <a:defRPr/>
              </a:pPr>
              <a:t>2022/3/7</a:t>
            </a:fld>
            <a:endParaRPr lang="en-US" altLang="zh-CN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zh-CN" altLang="en-US"/>
              <a:t>电路理论</a:t>
            </a:r>
            <a:endParaRPr lang="en-US" altLang="zh-CN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75AA626-B7E3-4BE6-A14D-E3A6D8717B94}" type="slidenum">
              <a:rPr lang="en-US" altLang="zh-CN"/>
              <a:pPr>
                <a:defRPr/>
              </a:pPr>
              <a:t>25</a:t>
            </a:fld>
            <a:endParaRPr lang="en-US" altLang="zh-CN"/>
          </a:p>
        </p:txBody>
      </p:sp>
      <p:sp>
        <p:nvSpPr>
          <p:cNvPr id="26629" name="Rectangle 2"/>
          <p:cNvSpPr>
            <a:spLocks noChangeArrowheads="1"/>
          </p:cNvSpPr>
          <p:nvPr/>
        </p:nvSpPr>
        <p:spPr bwMode="auto">
          <a:xfrm>
            <a:off x="381000" y="811213"/>
            <a:ext cx="8583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rgbClr val="CC3300"/>
                </a:solidFill>
                <a:ea typeface="隶书" panose="02010509060101010101" pitchFamily="49" charset="-122"/>
              </a:rPr>
              <a:t>例</a:t>
            </a:r>
            <a:r>
              <a:rPr lang="en-US" altLang="zh-CN" dirty="0" smtClean="0">
                <a:solidFill>
                  <a:srgbClr val="CC3300"/>
                </a:solidFill>
                <a:ea typeface="隶书" panose="02010509060101010101" pitchFamily="49" charset="-122"/>
              </a:rPr>
              <a:t>13.</a:t>
            </a:r>
            <a:r>
              <a:rPr lang="zh-CN" altLang="en-US" dirty="0">
                <a:solidFill>
                  <a:srgbClr val="CC3300"/>
                </a:solidFill>
                <a:ea typeface="隶书" panose="02010509060101010101" pitchFamily="49" charset="-122"/>
              </a:rPr>
              <a:t>计算独立电源的功率。</a:t>
            </a:r>
          </a:p>
        </p:txBody>
      </p:sp>
      <p:graphicFrame>
        <p:nvGraphicFramePr>
          <p:cNvPr id="267267" name="Object 3"/>
          <p:cNvGraphicFramePr>
            <a:graphicFrameLocks noChangeAspect="1"/>
          </p:cNvGraphicFramePr>
          <p:nvPr/>
        </p:nvGraphicFramePr>
        <p:xfrm>
          <a:off x="622300" y="1384300"/>
          <a:ext cx="20081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0" name="Equation" r:id="rId3" imgW="1002865" imgH="215806" progId="Equation.3">
                  <p:embed/>
                </p:oleObj>
              </mc:Choice>
              <mc:Fallback>
                <p:oleObj name="Equation" r:id="rId3" imgW="1002865" imgH="215806" progId="Equation.3">
                  <p:embed/>
                  <p:pic>
                    <p:nvPicPr>
                      <p:cNvPr id="26726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300" y="1384300"/>
                        <a:ext cx="20081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68" name="Object 4"/>
          <p:cNvGraphicFramePr>
            <a:graphicFrameLocks noChangeAspect="1"/>
          </p:cNvGraphicFramePr>
          <p:nvPr/>
        </p:nvGraphicFramePr>
        <p:xfrm>
          <a:off x="631825" y="2146300"/>
          <a:ext cx="256857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1" name="Equation" r:id="rId5" imgW="1282700" imgH="457200" progId="Equation.3">
                  <p:embed/>
                </p:oleObj>
              </mc:Choice>
              <mc:Fallback>
                <p:oleObj name="Equation" r:id="rId5" imgW="1282700" imgH="457200" progId="Equation.3">
                  <p:embed/>
                  <p:pic>
                    <p:nvPicPr>
                      <p:cNvPr id="2672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825" y="2146300"/>
                        <a:ext cx="256857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69" name="Object 5"/>
          <p:cNvGraphicFramePr>
            <a:graphicFrameLocks noChangeAspect="1"/>
          </p:cNvGraphicFramePr>
          <p:nvPr/>
        </p:nvGraphicFramePr>
        <p:xfrm>
          <a:off x="685800" y="3187700"/>
          <a:ext cx="363378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2" name="Equation" r:id="rId7" imgW="1815312" imgH="393529" progId="Equation.3">
                  <p:embed/>
                </p:oleObj>
              </mc:Choice>
              <mc:Fallback>
                <p:oleObj name="Equation" r:id="rId7" imgW="1815312" imgH="393529" progId="Equation.3">
                  <p:embed/>
                  <p:pic>
                    <p:nvPicPr>
                      <p:cNvPr id="26726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" y="3187700"/>
                        <a:ext cx="3633788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99">
                                <a:alpha val="50195"/>
                              </a:srgbClr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33" name="Object 6"/>
          <p:cNvGraphicFramePr>
            <a:graphicFrameLocks noChangeAspect="1"/>
          </p:cNvGraphicFramePr>
          <p:nvPr/>
        </p:nvGraphicFramePr>
        <p:xfrm>
          <a:off x="4800600" y="1371600"/>
          <a:ext cx="3757613" cy="2141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3" name="Visio" r:id="rId9" imgW="1906953" imgH="1098566" progId="Visio.Drawing.11">
                  <p:embed/>
                </p:oleObj>
              </mc:Choice>
              <mc:Fallback>
                <p:oleObj name="Visio" r:id="rId9" imgW="1906953" imgH="1098566" progId="Visio.Drawing.11">
                  <p:embed/>
                  <p:pic>
                    <p:nvPicPr>
                      <p:cNvPr id="26633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371600"/>
                        <a:ext cx="3757613" cy="2141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71" name="Object 7"/>
          <p:cNvGraphicFramePr>
            <a:graphicFrameLocks noChangeAspect="1"/>
          </p:cNvGraphicFramePr>
          <p:nvPr/>
        </p:nvGraphicFramePr>
        <p:xfrm>
          <a:off x="4800600" y="1422400"/>
          <a:ext cx="3375025" cy="1487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4" name="Visio" r:id="rId11" imgW="1717929" imgH="774097" progId="Visio.Drawing.11">
                  <p:embed/>
                </p:oleObj>
              </mc:Choice>
              <mc:Fallback>
                <p:oleObj name="Visio" r:id="rId11" imgW="1717929" imgH="774097" progId="Visio.Drawing.11">
                  <p:embed/>
                  <p:pic>
                    <p:nvPicPr>
                      <p:cNvPr id="267271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00600" y="1422400"/>
                        <a:ext cx="3375025" cy="1487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7272" name="Object 8"/>
          <p:cNvGraphicFramePr>
            <a:graphicFrameLocks noChangeAspect="1"/>
          </p:cNvGraphicFramePr>
          <p:nvPr>
            <p:extLst/>
          </p:nvPr>
        </p:nvGraphicFramePr>
        <p:xfrm>
          <a:off x="3340100" y="4221163"/>
          <a:ext cx="2058988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85" name="Equation" r:id="rId13" imgW="1028520" imgH="393480" progId="Equation.DSMT4">
                  <p:embed/>
                </p:oleObj>
              </mc:Choice>
              <mc:Fallback>
                <p:oleObj name="Equation" r:id="rId13" imgW="1028520" imgH="393480" progId="Equation.DSMT4">
                  <p:embed/>
                  <p:pic>
                    <p:nvPicPr>
                      <p:cNvPr id="267272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0100" y="4221163"/>
                        <a:ext cx="2058988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7274" name="Rectangle 10"/>
          <p:cNvSpPr>
            <a:spLocks noChangeArrowheads="1"/>
          </p:cNvSpPr>
          <p:nvPr/>
        </p:nvSpPr>
        <p:spPr bwMode="auto">
          <a:xfrm>
            <a:off x="657225" y="4365625"/>
            <a:ext cx="28797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华文宋体" panose="0201060004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ea typeface="隶书" panose="02010509060101010101" pitchFamily="49" charset="-122"/>
              </a:rPr>
              <a:t>Supplied power:</a:t>
            </a:r>
          </a:p>
        </p:txBody>
      </p:sp>
      <p:sp>
        <p:nvSpPr>
          <p:cNvPr id="15" name="Rectangle 21"/>
          <p:cNvSpPr>
            <a:spLocks noChangeArrowheads="1"/>
          </p:cNvSpPr>
          <p:nvPr/>
        </p:nvSpPr>
        <p:spPr bwMode="auto">
          <a:xfrm>
            <a:off x="381000" y="188913"/>
            <a:ext cx="8458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1pPr>
            <a:lvl2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2pPr>
            <a:lvl3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3pPr>
            <a:lvl4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4pPr>
            <a:lvl5pPr algn="ctr">
              <a:spcBef>
                <a:spcPct val="0"/>
              </a:spcBef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tx2"/>
                </a:solidFill>
                <a:latin typeface="Times New Roman" panose="02020603050405020304" pitchFamily="18" charset="0"/>
                <a:ea typeface="华文隶书" panose="02010800040101010101" pitchFamily="2" charset="-122"/>
              </a:defRPr>
            </a:lvl9pPr>
          </a:lstStyle>
          <a:p>
            <a:pPr>
              <a:defRPr/>
            </a:pPr>
            <a:r>
              <a:rPr lang="en-US" altLang="zh-CN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1.4 </a:t>
            </a:r>
            <a:r>
              <a:rPr lang="zh-CN" altLang="en-US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anose="02010509060101010101" pitchFamily="49" charset="-122"/>
              </a:rPr>
              <a:t>基尔霍夫定律</a:t>
            </a:r>
          </a:p>
        </p:txBody>
      </p:sp>
    </p:spTree>
    <p:extLst>
      <p:ext uri="{BB962C8B-B14F-4D97-AF65-F5344CB8AC3E}">
        <p14:creationId xmlns:p14="http://schemas.microsoft.com/office/powerpoint/2010/main" val="3211884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67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7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7274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381000" y="304800"/>
            <a:ext cx="8458200" cy="457200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作业</a:t>
            </a:r>
            <a:endParaRPr lang="zh-CN" altLang="en-US" dirty="0"/>
          </a:p>
        </p:txBody>
      </p:sp>
      <p:sp>
        <p:nvSpPr>
          <p:cNvPr id="5" name="内容占位符 2"/>
          <p:cNvSpPr>
            <a:spLocks noGrp="1"/>
          </p:cNvSpPr>
          <p:nvPr>
            <p:ph idx="1"/>
          </p:nvPr>
        </p:nvSpPr>
        <p:spPr>
          <a:xfrm>
            <a:off x="381000" y="914400"/>
            <a:ext cx="8295456" cy="5181600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习题</a:t>
            </a:r>
            <a:endParaRPr lang="en-US" altLang="zh-CN" dirty="0" smtClean="0"/>
          </a:p>
          <a:p>
            <a:r>
              <a:rPr lang="en-US" altLang="zh-CN" dirty="0" smtClean="0"/>
              <a:t>1.3</a:t>
            </a:r>
            <a:r>
              <a:rPr lang="zh-CN" altLang="en-US" dirty="0"/>
              <a:t>节：</a:t>
            </a:r>
            <a:r>
              <a:rPr lang="en-US" altLang="zh-CN" dirty="0"/>
              <a:t>1-8</a:t>
            </a:r>
            <a:r>
              <a:rPr lang="zh-CN" altLang="en-US" dirty="0"/>
              <a:t>，</a:t>
            </a:r>
            <a:r>
              <a:rPr lang="en-US" altLang="zh-CN" dirty="0"/>
              <a:t>1-10</a:t>
            </a:r>
          </a:p>
          <a:p>
            <a:r>
              <a:rPr lang="en-US" altLang="zh-CN" dirty="0"/>
              <a:t>1.4</a:t>
            </a:r>
            <a:r>
              <a:rPr lang="zh-CN" altLang="en-US" dirty="0"/>
              <a:t>节：</a:t>
            </a:r>
            <a:r>
              <a:rPr lang="en-US" altLang="zh-CN" dirty="0"/>
              <a:t>1-14</a:t>
            </a:r>
          </a:p>
          <a:p>
            <a:r>
              <a:rPr lang="en-US" altLang="zh-CN" dirty="0"/>
              <a:t>1.5</a:t>
            </a:r>
            <a:r>
              <a:rPr lang="zh-CN" altLang="en-US" dirty="0"/>
              <a:t>节：</a:t>
            </a:r>
            <a:r>
              <a:rPr lang="en-US" altLang="zh-CN" dirty="0"/>
              <a:t>1-19</a:t>
            </a:r>
          </a:p>
          <a:p>
            <a:r>
              <a:rPr lang="zh-CN" altLang="en-US" dirty="0"/>
              <a:t>综合：</a:t>
            </a:r>
            <a:r>
              <a:rPr lang="en-US" altLang="zh-CN" dirty="0"/>
              <a:t>1-27</a:t>
            </a:r>
            <a:r>
              <a:rPr lang="zh-CN" altLang="en-US" dirty="0"/>
              <a:t>，</a:t>
            </a:r>
            <a:r>
              <a:rPr lang="en-US" altLang="zh-CN" dirty="0" smtClean="0"/>
              <a:t>1-30</a:t>
            </a:r>
          </a:p>
          <a:p>
            <a:r>
              <a:rPr lang="zh-CN" altLang="en-US" dirty="0"/>
              <a:t>作业</a:t>
            </a:r>
            <a:r>
              <a:rPr lang="zh-CN" altLang="en-US" dirty="0" smtClean="0"/>
              <a:t>要求：抄题，画电路图，标明参考方向，给出具体计算过程</a:t>
            </a:r>
            <a:endParaRPr lang="en-US" altLang="zh-CN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40023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527" y="118942"/>
            <a:ext cx="7886700" cy="347051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习题</a:t>
            </a:r>
            <a:r>
              <a:rPr lang="en-US" altLang="zh-CN" dirty="0" smtClean="0"/>
              <a:t>1-14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32996" y="577118"/>
            <a:ext cx="8911004" cy="4351338"/>
          </a:xfrm>
        </p:spPr>
        <p:txBody>
          <a:bodyPr/>
          <a:lstStyle/>
          <a:p>
            <a:r>
              <a:rPr lang="zh-CN" altLang="en-US" dirty="0" smtClean="0"/>
              <a:t>计算：</a:t>
            </a:r>
            <a:r>
              <a:rPr lang="en-US" altLang="zh-CN" dirty="0" smtClean="0"/>
              <a:t>1</a:t>
            </a:r>
            <a:r>
              <a:rPr lang="zh-CN" altLang="en-US" dirty="0" smtClean="0"/>
              <a:t>）电压</a:t>
            </a:r>
            <a:r>
              <a:rPr lang="en-US" altLang="zh-CN" dirty="0" smtClean="0"/>
              <a:t>u</a:t>
            </a:r>
            <a:r>
              <a:rPr lang="en-US" altLang="zh-CN" baseline="-25000" dirty="0" smtClean="0"/>
              <a:t>2</a:t>
            </a:r>
            <a:r>
              <a:rPr lang="zh-CN" altLang="en-US" dirty="0" smtClean="0"/>
              <a:t>；</a:t>
            </a:r>
            <a:r>
              <a:rPr lang="en-US" altLang="zh-CN" dirty="0" smtClean="0"/>
              <a:t>2</a:t>
            </a:r>
            <a:r>
              <a:rPr lang="zh-CN" altLang="en-US" dirty="0" smtClean="0"/>
              <a:t>）受控源的吸收的功率；（</a:t>
            </a:r>
            <a:r>
              <a:rPr lang="en-US" altLang="zh-CN" dirty="0"/>
              <a:t>3</a:t>
            </a:r>
            <a:r>
              <a:rPr lang="zh-CN" altLang="en-US" dirty="0" smtClean="0"/>
              <a:t>）独立电源的发出功率。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3226" y="1256032"/>
            <a:ext cx="5143043" cy="225361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/>
              <p:cNvSpPr txBox="1"/>
              <p:nvPr/>
            </p:nvSpPr>
            <p:spPr>
              <a:xfrm>
                <a:off x="232996" y="1543171"/>
                <a:ext cx="7701211" cy="53512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dirty="0" smtClean="0"/>
                  <a:t>1)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𝑚𝑉</m:t>
                    </m:r>
                  </m:oMath>
                </a14:m>
                <a:endParaRPr lang="en-US" altLang="zh-CN" b="0" i="1" dirty="0" smtClean="0"/>
              </a:p>
              <a:p>
                <a:pPr>
                  <a:lnSpc>
                    <a:spcPct val="150000"/>
                  </a:lnSpc>
                </a:pPr>
                <a:endParaRPr lang="en-US" altLang="zh-CN" b="0" i="1" dirty="0" smtClean="0"/>
              </a:p>
              <a:p>
                <a:pPr>
                  <a:lnSpc>
                    <a:spcPct val="150000"/>
                  </a:lnSpc>
                </a:pPr>
                <a:r>
                  <a:rPr lang="en-US" altLang="zh-CN" dirty="0" smtClean="0"/>
                  <a:t>2)  </a:t>
                </a:r>
                <a:r>
                  <a:rPr lang="zh-CN" altLang="en-US" dirty="0" smtClean="0"/>
                  <a:t>受控源的电流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i</m:t>
                        </m:r>
                      </m:e>
                      <m:sub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zh-CN" altLang="en-US" dirty="0" smtClean="0"/>
                  <a:t>与电压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b="0" i="0" smtClean="0">
                            <a:latin typeface="Cambria Math" panose="02040503050406030204" pitchFamily="18" charset="0"/>
                          </a:rPr>
                          <m:t>u</m:t>
                        </m:r>
                      </m:e>
                      <m:sub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zh-CN" altLang="en-US" i="0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endParaRPr lang="en-US" altLang="zh-CN" dirty="0" smtClean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如</a:t>
                </a:r>
                <a:r>
                  <a:rPr lang="zh-CN" altLang="en-US" dirty="0" smtClean="0"/>
                  <a:t>图所示，为关联参考方向。</a:t>
                </a:r>
                <a:endParaRPr lang="en-US" altLang="zh-CN" dirty="0" smtClean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0" smtClean="0">
                          <a:latin typeface="Cambria Math" panose="02040503050406030204" pitchFamily="18" charset="0"/>
                        </a:rPr>
                        <m:t>=4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×10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𝑚𝐴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=40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altLang="zh-CN" b="0" dirty="0" smtClean="0">
                  <a:ea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=−100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=−4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en-US" altLang="zh-CN" dirty="0" smtClean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/>
                  <a:t>受</a:t>
                </a:r>
                <a:r>
                  <a:rPr lang="zh-CN" altLang="en-US" dirty="0" smtClean="0"/>
                  <a:t>控源的吸收功率为：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−4</m:t>
                        </m:r>
                      </m:e>
                    </m:d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40</m:t>
                        </m:r>
                      </m:e>
                    </m:d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=−160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mW</m:t>
                    </m:r>
                  </m:oMath>
                </a14:m>
                <a:endParaRPr lang="en-US" altLang="zh-CN" dirty="0" smtClean="0"/>
              </a:p>
              <a:p>
                <a:pPr>
                  <a:lnSpc>
                    <a:spcPct val="150000"/>
                  </a:lnSpc>
                </a:pPr>
                <a:endParaRPr lang="en-US" altLang="zh-CN" dirty="0"/>
              </a:p>
              <a:p>
                <a:pPr marL="342900" indent="-342900">
                  <a:lnSpc>
                    <a:spcPct val="150000"/>
                  </a:lnSpc>
                  <a:buAutoNum type="arabicParenR" startAt="3"/>
                </a:pPr>
                <a:r>
                  <a:rPr lang="zh-CN" altLang="en-US" dirty="0" smtClean="0"/>
                  <a:t>独立电源的电流</a:t>
                </a:r>
                <a:r>
                  <a:rPr lang="en-US" altLang="zh-CN" dirty="0" smtClean="0"/>
                  <a:t>i</a:t>
                </a:r>
                <a:r>
                  <a:rPr lang="en-US" altLang="zh-CN" baseline="-25000" dirty="0" smtClean="0"/>
                  <a:t>1</a:t>
                </a:r>
                <a:r>
                  <a:rPr lang="zh-CN" altLang="en-US" dirty="0" smtClean="0"/>
                  <a:t>如图所示与电源电压方向为非关联</a:t>
                </a:r>
                <a:endParaRPr lang="en-US" altLang="zh-CN" dirty="0" smtClean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num>
                        <m:den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=0.2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𝑚𝐴</m:t>
                      </m:r>
                    </m:oMath>
                  </m:oMathPara>
                </a14:m>
                <a:endParaRPr lang="en-US" altLang="zh-CN" b="0" i="1" dirty="0" smtClean="0"/>
              </a:p>
              <a:p>
                <a:pPr>
                  <a:lnSpc>
                    <a:spcPct val="150000"/>
                  </a:lnSpc>
                </a:pPr>
                <a:r>
                  <a:rPr lang="zh-CN" altLang="en-US" dirty="0" smtClean="0"/>
                  <a:t>独立电源的吸收功率为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=−10</m:t>
                    </m:r>
                    <m:r>
                      <a:rPr lang="en-US" altLang="zh-CN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0.2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−2</m:t>
                    </m:r>
                    <m:r>
                      <m:rPr>
                        <m:sty m:val="p"/>
                      </m:rPr>
                      <a:rPr lang="el-GR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  <m:r>
                      <a:rPr lang="zh-CN" alt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b="0" dirty="0" smtClean="0"/>
                  <a:t>发出功率为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l-GR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μ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W</m:t>
                    </m:r>
                  </m:oMath>
                </a14:m>
                <a:r>
                  <a:rPr lang="zh-CN" altLang="en-US" b="0" dirty="0" smtClean="0"/>
                  <a:t>。</a:t>
                </a:r>
                <a:endParaRPr lang="en-US" altLang="zh-CN" b="0" dirty="0" smtClean="0"/>
              </a:p>
              <a:p>
                <a:pPr>
                  <a:lnSpc>
                    <a:spcPct val="150000"/>
                  </a:lnSpc>
                </a:pPr>
                <a:endParaRPr lang="zh-CN" altLang="en-US" dirty="0"/>
              </a:p>
            </p:txBody>
          </p:sp>
        </mc:Choice>
        <mc:Fallback xmlns=""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96" y="1543171"/>
                <a:ext cx="7701211" cy="5351209"/>
              </a:xfrm>
              <a:prstGeom prst="rect">
                <a:avLst/>
              </a:prstGeom>
              <a:blipFill>
                <a:blip r:embed="rId3"/>
                <a:stretch>
                  <a:fillRect l="-1820" r="-110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7508631" y="1967340"/>
                <a:ext cx="363818" cy="8309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zh-CN" dirty="0" smtClean="0">
                    <a:solidFill>
                      <a:srgbClr val="FF0000"/>
                    </a:solidFill>
                    <a:latin typeface="Cambria Math" panose="02040503050406030204" pitchFamily="18" charset="0"/>
                  </a:rPr>
                  <a:t>+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dirty="0" smtClean="0">
                  <a:solidFill>
                    <a:srgbClr val="FF0000"/>
                  </a:solidFill>
                </a:endParaRPr>
              </a:p>
              <a:p>
                <a:r>
                  <a:rPr lang="en-US" altLang="zh-CN" dirty="0" smtClean="0">
                    <a:solidFill>
                      <a:srgbClr val="FF0000"/>
                    </a:solidFill>
                  </a:rPr>
                  <a:t>-</a:t>
                </a:r>
                <a:endParaRPr lang="zh-CN" alt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08631" y="1967340"/>
                <a:ext cx="363818" cy="830997"/>
              </a:xfrm>
              <a:prstGeom prst="rect">
                <a:avLst/>
              </a:prstGeom>
              <a:blipFill>
                <a:blip r:embed="rId4"/>
                <a:stretch>
                  <a:fillRect l="-40678" t="-10294" b="-1617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矩形 7"/>
              <p:cNvSpPr/>
              <p:nvPr/>
            </p:nvSpPr>
            <p:spPr>
              <a:xfrm>
                <a:off x="7264846" y="2909462"/>
                <a:ext cx="42825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矩形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4846" y="2909462"/>
                <a:ext cx="428259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接箭头连接符 16"/>
          <p:cNvCxnSpPr/>
          <p:nvPr/>
        </p:nvCxnSpPr>
        <p:spPr>
          <a:xfrm flipV="1">
            <a:off x="4615962" y="1432046"/>
            <a:ext cx="8793" cy="43448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矩形 21"/>
              <p:cNvSpPr/>
              <p:nvPr/>
            </p:nvSpPr>
            <p:spPr>
              <a:xfrm>
                <a:off x="4624755" y="1497195"/>
                <a:ext cx="41569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2" name="矩形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4755" y="1497195"/>
                <a:ext cx="415690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矩形 23"/>
              <p:cNvSpPr/>
              <p:nvPr/>
            </p:nvSpPr>
            <p:spPr>
              <a:xfrm>
                <a:off x="3784582" y="1782674"/>
                <a:ext cx="47500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altLang="zh-CN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4" name="矩形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84582" y="1782674"/>
                <a:ext cx="475002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8886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22" grpId="0"/>
      <p:bldP spid="24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9077" y="408870"/>
                <a:ext cx="8277958" cy="6315780"/>
              </a:xfrm>
            </p:spPr>
            <p:txBody>
              <a:bodyPr>
                <a:normAutofit fontScale="85000" lnSpcReduction="10000"/>
              </a:bodyPr>
              <a:lstStyle/>
              <a:p>
                <a:pPr marL="0" indent="0">
                  <a:lnSpc>
                    <a:spcPct val="170000"/>
                  </a:lnSpc>
                  <a:buNone/>
                </a:pPr>
                <a:r>
                  <a:rPr lang="zh-CN" altLang="en-US" dirty="0" smtClean="0"/>
                  <a:t>图中电路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）求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zh-CN" altLang="en-US" i="1">
                        <a:latin typeface="Cambria Math" panose="02040503050406030204" pitchFamily="18" charset="0"/>
                      </a:rPr>
                      <m:t>；</m:t>
                    </m:r>
                  </m:oMath>
                </a14:m>
                <a:r>
                  <a:rPr lang="en-US" altLang="zh-CN" dirty="0" smtClean="0"/>
                  <a:t>2</a:t>
                </a:r>
                <a:r>
                  <a:rPr lang="zh-CN" altLang="en-US" dirty="0" smtClean="0"/>
                  <a:t>）在电路参数已知的条件下，通过电路分析可以求得所有支路电流，因此，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US" altLang="zh-CN" i="1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zh-CN" altLang="en-US" dirty="0" smtClean="0"/>
                  <a:t>条件是多余的，请验证该条件的正确性。</a:t>
                </a:r>
                <a:endParaRPr lang="en-US" altLang="zh-CN" dirty="0" smtClean="0"/>
              </a:p>
              <a:p>
                <a:pPr marL="0" indent="0">
                  <a:buNone/>
                </a:pPr>
                <a:endParaRPr lang="en-US" altLang="zh-CN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 smtClean="0"/>
                  <a:t>解</a:t>
                </a:r>
                <a:r>
                  <a:rPr lang="en-US" altLang="zh-CN" dirty="0" smtClean="0"/>
                  <a:t>:  </a:t>
                </a:r>
                <a:r>
                  <a:rPr lang="zh-CN" altLang="en-US" dirty="0" smtClean="0"/>
                  <a:t> 对图中各节点、元件及元件的电压</a:t>
                </a:r>
                <a:endParaRPr lang="en-US" altLang="zh-CN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/>
                  <a:t> </a:t>
                </a:r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电流进行编号并注明方向，如图所示。</a:t>
                </a:r>
                <a:endParaRPr lang="en-US" altLang="zh-CN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 smtClean="0"/>
                  <a:t>1</a:t>
                </a:r>
                <a:r>
                  <a:rPr lang="zh-CN" altLang="en-US" dirty="0" smtClean="0"/>
                  <a:t>）对由</a:t>
                </a:r>
                <a:r>
                  <a:rPr lang="en-US" altLang="zh-CN" dirty="0" smtClean="0"/>
                  <a:t>u</a:t>
                </a:r>
                <a:r>
                  <a:rPr lang="en-US" altLang="zh-CN" baseline="-25000" dirty="0" smtClean="0"/>
                  <a:t>s</a:t>
                </a:r>
                <a:r>
                  <a:rPr lang="zh-CN" altLang="en-US" dirty="0" smtClean="0"/>
                  <a:t>、</a:t>
                </a:r>
                <a:r>
                  <a:rPr lang="en-US" altLang="zh-CN" dirty="0" smtClean="0"/>
                  <a:t>R</a:t>
                </a:r>
                <a:r>
                  <a:rPr lang="en-US" altLang="zh-CN" baseline="-25000" dirty="0" smtClean="0"/>
                  <a:t>1</a:t>
                </a:r>
                <a:r>
                  <a:rPr lang="zh-CN" altLang="en-US" dirty="0" smtClean="0"/>
                  <a:t>、</a:t>
                </a:r>
                <a:r>
                  <a:rPr lang="en-US" altLang="zh-CN" dirty="0" smtClean="0"/>
                  <a:t>R</a:t>
                </a:r>
                <a:r>
                  <a:rPr lang="en-US" altLang="zh-CN" baseline="-25000" dirty="0" smtClean="0"/>
                  <a:t>5</a:t>
                </a:r>
                <a:r>
                  <a:rPr lang="zh-CN" altLang="en-US" dirty="0" smtClean="0"/>
                  <a:t>构成的回路列写</a:t>
                </a:r>
                <a:r>
                  <a:rPr lang="en-US" altLang="zh-CN" dirty="0" smtClean="0"/>
                  <a:t>KVL</a:t>
                </a:r>
                <a:r>
                  <a:rPr lang="zh-CN" altLang="en-US" dirty="0" smtClean="0"/>
                  <a:t>方程</a:t>
                </a:r>
                <a:endParaRPr lang="en-US" altLang="zh-CN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 smtClean="0"/>
                  <a:t>,</a:t>
                </a:r>
                <a:r>
                  <a:rPr lang="zh-CN" altLang="en-US" dirty="0" smtClean="0"/>
                  <a:t>得</a:t>
                </a:r>
                <a:r>
                  <a:rPr lang="en-US" altLang="zh-CN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180−4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×25</m:t>
                            </m:r>
                          </m:e>
                        </m:d>
                      </m:num>
                      <m:den>
                        <m:r>
                          <a:rPr lang="en-US" altLang="zh-CN" b="0" i="0" smtClean="0"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=10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zh-CN" altLang="en-US" dirty="0" smtClean="0"/>
                  <a:t>，</a:t>
                </a:r>
                <a:endParaRPr lang="en-US" altLang="zh-CN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 smtClean="0"/>
                  <a:t>对</a:t>
                </a:r>
                <a:r>
                  <a:rPr lang="en-US" altLang="zh-CN" dirty="0" smtClean="0"/>
                  <a:t>R</a:t>
                </a:r>
                <a:r>
                  <a:rPr lang="en-US" altLang="zh-CN" baseline="-25000" dirty="0" smtClean="0"/>
                  <a:t>5</a:t>
                </a:r>
                <a:r>
                  <a:rPr lang="en-US" altLang="zh-CN" dirty="0" smtClean="0"/>
                  <a:t> </a:t>
                </a:r>
                <a:r>
                  <a:rPr lang="zh-CN" altLang="en-US" dirty="0" smtClean="0"/>
                  <a:t>应用欧姆定律：</a:t>
                </a:r>
                <a:r>
                  <a:rPr lang="en-US" altLang="zh-CN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baseline="-2500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0" i="0" baseline="-2500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𝑐𝑑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×8=80</m:t>
                    </m:r>
                    <m:r>
                      <m:rPr>
                        <m:sty m:val="p"/>
                      </m:rPr>
                      <a:rPr lang="en-US" altLang="zh-C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V</m:t>
                    </m:r>
                  </m:oMath>
                </a14:m>
                <a:endParaRPr lang="en-US" altLang="zh-CN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 smtClean="0"/>
                  <a:t>对节点</a:t>
                </a:r>
                <a:r>
                  <a:rPr lang="en-US" altLang="zh-CN" dirty="0" smtClean="0"/>
                  <a:t>c</a:t>
                </a:r>
                <a:r>
                  <a:rPr lang="zh-CN" altLang="en-US" dirty="0" smtClean="0"/>
                  <a:t>列写</a:t>
                </a:r>
                <a:r>
                  <a:rPr lang="en-US" altLang="zh-CN" dirty="0" smtClean="0"/>
                  <a:t>KCL</a:t>
                </a:r>
                <a:r>
                  <a:rPr lang="zh-CN" altLang="en-US" dirty="0" smtClean="0"/>
                  <a:t>方程：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dirty="0" smtClean="0"/>
                  <a:t>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=6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zh-CN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 smtClean="0"/>
                  <a:t>对由</a:t>
                </a:r>
                <a:r>
                  <a:rPr lang="en-US" altLang="zh-CN" dirty="0" smtClean="0"/>
                  <a:t>R</a:t>
                </a:r>
                <a:r>
                  <a:rPr lang="en-US" altLang="zh-CN" baseline="-25000" dirty="0" smtClean="0"/>
                  <a:t>4</a:t>
                </a:r>
                <a:r>
                  <a:rPr lang="zh-CN" altLang="en-US" dirty="0" smtClean="0"/>
                  <a:t>、</a:t>
                </a:r>
                <a:r>
                  <a:rPr lang="en-US" altLang="zh-CN" dirty="0" smtClean="0"/>
                  <a:t>R</a:t>
                </a:r>
                <a:r>
                  <a:rPr lang="en-US" altLang="zh-CN" baseline="-25000" dirty="0" smtClean="0"/>
                  <a:t>2</a:t>
                </a:r>
                <a:r>
                  <a:rPr lang="zh-CN" altLang="en-US" dirty="0" smtClean="0"/>
                  <a:t>、</a:t>
                </a:r>
                <a:r>
                  <a:rPr lang="en-US" altLang="zh-CN" dirty="0" smtClean="0"/>
                  <a:t>R</a:t>
                </a:r>
                <a:r>
                  <a:rPr lang="en-US" altLang="zh-CN" baseline="-25000" dirty="0" smtClean="0"/>
                  <a:t>5</a:t>
                </a:r>
                <a:r>
                  <a:rPr lang="zh-CN" altLang="en-US" dirty="0" smtClean="0"/>
                  <a:t>构成的回路列写</a:t>
                </a:r>
                <a:r>
                  <a:rPr lang="en-US" altLang="zh-CN" dirty="0" smtClean="0"/>
                  <a:t>KVL</a:t>
                </a:r>
                <a:r>
                  <a:rPr lang="zh-CN" altLang="en-US" dirty="0" smtClean="0"/>
                  <a:t>方程，取顺时针方向为正：</a:t>
                </a:r>
                <a:endParaRPr lang="en-US" altLang="zh-CN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zh-CN" dirty="0" smtClean="0"/>
                  <a:t>,  </a:t>
                </a:r>
                <a:r>
                  <a:rPr lang="zh-CN" altLang="en-US" dirty="0" smtClean="0"/>
                  <a:t>得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×6+8×10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70</m:t>
                        </m:r>
                      </m:den>
                    </m:f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zh-CN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en-US" altLang="zh-CN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077" y="408870"/>
                <a:ext cx="8277958" cy="6315780"/>
              </a:xfrm>
              <a:blipFill>
                <a:blip r:embed="rId2"/>
                <a:stretch>
                  <a:fillRect l="-589" r="-7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标题 1"/>
          <p:cNvSpPr>
            <a:spLocks noGrp="1"/>
          </p:cNvSpPr>
          <p:nvPr>
            <p:ph type="title"/>
          </p:nvPr>
        </p:nvSpPr>
        <p:spPr>
          <a:xfrm>
            <a:off x="83527" y="118942"/>
            <a:ext cx="7886700" cy="347051"/>
          </a:xfrm>
        </p:spPr>
        <p:txBody>
          <a:bodyPr>
            <a:normAutofit fontScale="90000"/>
          </a:bodyPr>
          <a:lstStyle/>
          <a:p>
            <a:r>
              <a:rPr lang="zh-CN" altLang="en-US" dirty="0" smtClean="0"/>
              <a:t>习题</a:t>
            </a:r>
            <a:r>
              <a:rPr lang="en-US" altLang="zh-CN" dirty="0" smtClean="0"/>
              <a:t>1-30</a:t>
            </a:r>
            <a:endParaRPr lang="zh-CN" altLang="en-US" dirty="0"/>
          </a:p>
        </p:txBody>
      </p:sp>
      <p:grpSp>
        <p:nvGrpSpPr>
          <p:cNvPr id="6" name="组合 5"/>
          <p:cNvGrpSpPr/>
          <p:nvPr/>
        </p:nvGrpSpPr>
        <p:grpSpPr>
          <a:xfrm>
            <a:off x="4996495" y="1455542"/>
            <a:ext cx="4459933" cy="2571335"/>
            <a:chOff x="4996495" y="1455542"/>
            <a:chExt cx="4459933" cy="2571335"/>
          </a:xfrm>
        </p:grpSpPr>
        <p:pic>
          <p:nvPicPr>
            <p:cNvPr id="23" name="图片 2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96495" y="1824874"/>
              <a:ext cx="4459933" cy="2202003"/>
            </a:xfrm>
            <a:prstGeom prst="rect">
              <a:avLst/>
            </a:prstGeom>
          </p:spPr>
        </p:pic>
        <p:cxnSp>
          <p:nvCxnSpPr>
            <p:cNvPr id="11" name="直接箭头连接符 10"/>
            <p:cNvCxnSpPr/>
            <p:nvPr/>
          </p:nvCxnSpPr>
          <p:spPr>
            <a:xfrm flipV="1">
              <a:off x="7261283" y="2818967"/>
              <a:ext cx="0" cy="369276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文本框 14"/>
                <p:cNvSpPr txBox="1"/>
                <p:nvPr/>
              </p:nvSpPr>
              <p:spPr>
                <a:xfrm>
                  <a:off x="7281982" y="2818967"/>
                  <a:ext cx="4282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5" name="文本框 1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1982" y="2818967"/>
                  <a:ext cx="42825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直接箭头连接符 17"/>
            <p:cNvCxnSpPr/>
            <p:nvPr/>
          </p:nvCxnSpPr>
          <p:spPr>
            <a:xfrm>
              <a:off x="7435555" y="1925516"/>
              <a:ext cx="42698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1" name="文本框 20"/>
                <p:cNvSpPr txBox="1"/>
                <p:nvPr/>
              </p:nvSpPr>
              <p:spPr>
                <a:xfrm>
                  <a:off x="7378513" y="1455542"/>
                  <a:ext cx="4229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1" name="文本框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8513" y="1455542"/>
                  <a:ext cx="42293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" name="组合 4"/>
          <p:cNvGrpSpPr/>
          <p:nvPr/>
        </p:nvGrpSpPr>
        <p:grpSpPr>
          <a:xfrm>
            <a:off x="5346048" y="1821829"/>
            <a:ext cx="3540683" cy="2807738"/>
            <a:chOff x="5341626" y="1812156"/>
            <a:chExt cx="3540683" cy="2807738"/>
          </a:xfrm>
        </p:grpSpPr>
        <p:sp>
          <p:nvSpPr>
            <p:cNvPr id="39" name="椭圆 38"/>
            <p:cNvSpPr/>
            <p:nvPr/>
          </p:nvSpPr>
          <p:spPr>
            <a:xfrm>
              <a:off x="5668487" y="1812156"/>
              <a:ext cx="520271" cy="914400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40" name="文本框 39"/>
            <p:cNvSpPr txBox="1"/>
            <p:nvPr/>
          </p:nvSpPr>
          <p:spPr>
            <a:xfrm>
              <a:off x="5341626" y="1925516"/>
              <a:ext cx="3000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a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7132918" y="2258610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b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8593447" y="2357224"/>
              <a:ext cx="2888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c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5889499" y="3756903"/>
              <a:ext cx="2743567" cy="399507"/>
            </a:xfrm>
            <a:prstGeom prst="ellipse">
              <a:avLst/>
            </a:prstGeom>
            <a:noFill/>
            <a:ln w="1905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44" name="文本框 43"/>
            <p:cNvSpPr txBox="1"/>
            <p:nvPr/>
          </p:nvSpPr>
          <p:spPr>
            <a:xfrm>
              <a:off x="7116851" y="4250562"/>
              <a:ext cx="317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d</a:t>
              </a:r>
              <a:endParaRPr lang="zh-CN" altLang="en-US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4996495" y="1452497"/>
            <a:ext cx="4196251" cy="2346203"/>
            <a:chOff x="4988285" y="1455542"/>
            <a:chExt cx="4196251" cy="234620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文本框 15"/>
                <p:cNvSpPr txBox="1"/>
                <p:nvPr/>
              </p:nvSpPr>
              <p:spPr>
                <a:xfrm>
                  <a:off x="7047166" y="1455542"/>
                  <a:ext cx="500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16" name="文本框 1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7166" y="1455542"/>
                  <a:ext cx="50090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5" name="文本框 24"/>
                <p:cNvSpPr txBox="1"/>
                <p:nvPr/>
              </p:nvSpPr>
              <p:spPr>
                <a:xfrm>
                  <a:off x="7360760" y="3432413"/>
                  <a:ext cx="50622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5" name="文本框 2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0760" y="3432413"/>
                  <a:ext cx="506229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6" name="直接箭头连接符 25"/>
            <p:cNvCxnSpPr/>
            <p:nvPr/>
          </p:nvCxnSpPr>
          <p:spPr>
            <a:xfrm>
              <a:off x="6735101" y="2579077"/>
              <a:ext cx="42698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文本框 26"/>
                <p:cNvSpPr txBox="1"/>
                <p:nvPr/>
              </p:nvSpPr>
              <p:spPr>
                <a:xfrm>
                  <a:off x="6632745" y="2179441"/>
                  <a:ext cx="4282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7" name="文本框 2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2745" y="2179441"/>
                  <a:ext cx="428258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本框 29"/>
                <p:cNvSpPr txBox="1"/>
                <p:nvPr/>
              </p:nvSpPr>
              <p:spPr>
                <a:xfrm>
                  <a:off x="6336754" y="2149137"/>
                  <a:ext cx="50622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0" name="文本框 2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6754" y="2149137"/>
                  <a:ext cx="50622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1" name="直接箭头连接符 30"/>
            <p:cNvCxnSpPr/>
            <p:nvPr/>
          </p:nvCxnSpPr>
          <p:spPr>
            <a:xfrm>
              <a:off x="8030501" y="2579077"/>
              <a:ext cx="42698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文本框 31"/>
                <p:cNvSpPr txBox="1"/>
                <p:nvPr/>
              </p:nvSpPr>
              <p:spPr>
                <a:xfrm>
                  <a:off x="7816372" y="2180302"/>
                  <a:ext cx="4282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2" name="文本框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6372" y="2180302"/>
                  <a:ext cx="428258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文本框 32"/>
                <p:cNvSpPr txBox="1"/>
                <p:nvPr/>
              </p:nvSpPr>
              <p:spPr>
                <a:xfrm>
                  <a:off x="7520381" y="2149998"/>
                  <a:ext cx="50622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3" name="文本框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0381" y="2149998"/>
                  <a:ext cx="506229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4" name="直接箭头连接符 33"/>
            <p:cNvCxnSpPr/>
            <p:nvPr/>
          </p:nvCxnSpPr>
          <p:spPr>
            <a:xfrm>
              <a:off x="8559385" y="2579077"/>
              <a:ext cx="786" cy="40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文本框 36"/>
                <p:cNvSpPr txBox="1"/>
                <p:nvPr/>
              </p:nvSpPr>
              <p:spPr>
                <a:xfrm>
                  <a:off x="8678307" y="3400608"/>
                  <a:ext cx="50622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7" name="文本框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8307" y="3400608"/>
                  <a:ext cx="506229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" name="文本框 37"/>
                <p:cNvSpPr txBox="1"/>
                <p:nvPr/>
              </p:nvSpPr>
              <p:spPr>
                <a:xfrm>
                  <a:off x="8639109" y="2772209"/>
                  <a:ext cx="4282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8" name="文本框 3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9109" y="2772209"/>
                  <a:ext cx="428258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文本框 45"/>
                <p:cNvSpPr txBox="1"/>
                <p:nvPr/>
              </p:nvSpPr>
              <p:spPr>
                <a:xfrm>
                  <a:off x="4988285" y="2815893"/>
                  <a:ext cx="4750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6" name="文本框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8285" y="2815893"/>
                  <a:ext cx="475002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7" name="直接箭头连接符 46"/>
            <p:cNvCxnSpPr/>
            <p:nvPr/>
          </p:nvCxnSpPr>
          <p:spPr>
            <a:xfrm flipV="1">
              <a:off x="5943600" y="2627942"/>
              <a:ext cx="0" cy="358512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" name="文本框 49"/>
                <p:cNvSpPr txBox="1"/>
                <p:nvPr/>
              </p:nvSpPr>
              <p:spPr>
                <a:xfrm>
                  <a:off x="5499613" y="2563971"/>
                  <a:ext cx="41222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50" name="文本框 4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9613" y="2563971"/>
                  <a:ext cx="412229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685870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80243" y="339969"/>
                <a:ext cx="8779119" cy="6342185"/>
              </a:xfrm>
            </p:spPr>
            <p:txBody>
              <a:bodyPr>
                <a:normAutofit fontScale="77500" lnSpcReduction="20000"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 smtClean="0"/>
                  <a:t>2)</a:t>
                </a:r>
                <a:r>
                  <a:rPr lang="zh-CN" altLang="en-US" dirty="0"/>
                  <a:t>该</a:t>
                </a:r>
                <a:r>
                  <a:rPr lang="zh-CN" altLang="en-US" dirty="0" smtClean="0"/>
                  <a:t>电路</a:t>
                </a:r>
                <a:r>
                  <a:rPr lang="en-US" altLang="zh-CN" dirty="0" smtClean="0"/>
                  <a:t>b=6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n=4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m=b-n+1=3</a:t>
                </a:r>
                <a:r>
                  <a:rPr lang="zh-CN" altLang="en-US" dirty="0" smtClean="0"/>
                  <a:t>，因而</a:t>
                </a:r>
                <a:r>
                  <a:rPr lang="zh-CN" altLang="en-US" dirty="0" smtClean="0"/>
                  <a:t>可</a:t>
                </a:r>
                <a:r>
                  <a:rPr lang="zh-CN" altLang="en-US" dirty="0" smtClean="0"/>
                  <a:t>通过</a:t>
                </a:r>
                <a:endParaRPr lang="en-US" altLang="zh-CN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 smtClean="0"/>
                  <a:t>列写</a:t>
                </a:r>
                <a:r>
                  <a:rPr lang="en-US" altLang="zh-CN" dirty="0" smtClean="0"/>
                  <a:t>3</a:t>
                </a:r>
                <a:r>
                  <a:rPr lang="zh-CN" altLang="en-US" dirty="0" smtClean="0"/>
                  <a:t>个独立</a:t>
                </a:r>
                <a:r>
                  <a:rPr lang="en-US" altLang="zh-CN" dirty="0" err="1" smtClean="0"/>
                  <a:t>kcl</a:t>
                </a:r>
                <a:r>
                  <a:rPr lang="zh-CN" altLang="en-US" dirty="0" smtClean="0"/>
                  <a:t>方程</a:t>
                </a:r>
                <a:r>
                  <a:rPr lang="zh-CN" altLang="en-US" dirty="0" smtClean="0"/>
                  <a:t>和</a:t>
                </a:r>
                <a:r>
                  <a:rPr lang="en-US" altLang="zh-CN" dirty="0" smtClean="0"/>
                  <a:t>3</a:t>
                </a:r>
                <a:r>
                  <a:rPr lang="zh-CN" altLang="en-US" dirty="0" smtClean="0"/>
                  <a:t>个</a:t>
                </a:r>
                <a:r>
                  <a:rPr lang="en-US" altLang="zh-CN" dirty="0" smtClean="0"/>
                  <a:t>KVL</a:t>
                </a:r>
                <a:r>
                  <a:rPr lang="zh-CN" altLang="en-US" dirty="0" smtClean="0"/>
                  <a:t>方程，同时应用</a:t>
                </a:r>
                <a:r>
                  <a:rPr lang="zh-CN" altLang="en-US" dirty="0" smtClean="0"/>
                  <a:t>欧</a:t>
                </a:r>
                <a:endParaRPr lang="en-US" altLang="zh-CN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 smtClean="0"/>
                  <a:t>姆</a:t>
                </a:r>
                <a:r>
                  <a:rPr lang="zh-CN" altLang="en-US" dirty="0" smtClean="0"/>
                  <a:t>定律</a:t>
                </a:r>
                <a:r>
                  <a:rPr lang="zh-CN" altLang="en-US" dirty="0" smtClean="0"/>
                  <a:t>，求解</a:t>
                </a:r>
                <a:r>
                  <a:rPr lang="zh-CN" altLang="en-US" dirty="0" smtClean="0"/>
                  <a:t>六条支路的电流及各电阻两端电压。</a:t>
                </a:r>
                <a:endParaRPr lang="en-US" altLang="zh-CN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 smtClean="0"/>
                  <a:t>对结点</a:t>
                </a:r>
                <a:r>
                  <a:rPr lang="en-US" altLang="zh-CN" dirty="0" smtClean="0"/>
                  <a:t> </a:t>
                </a:r>
                <a:r>
                  <a:rPr lang="en-US" altLang="zh-CN" dirty="0" err="1" smtClean="0"/>
                  <a:t>a,b,c</a:t>
                </a:r>
                <a:r>
                  <a:rPr lang="zh-CN" altLang="en-US" dirty="0" smtClean="0"/>
                  <a:t>列写独立</a:t>
                </a:r>
                <a:r>
                  <a:rPr lang="en-US" altLang="zh-CN" dirty="0" err="1" smtClean="0"/>
                  <a:t>kcl</a:t>
                </a:r>
                <a:r>
                  <a:rPr lang="zh-CN" altLang="en-US" dirty="0" smtClean="0"/>
                  <a:t>方程，以电流</a:t>
                </a:r>
                <a:r>
                  <a:rPr lang="zh-CN" altLang="en-US" dirty="0" smtClean="0"/>
                  <a:t>流入结点</a:t>
                </a:r>
                <a:endParaRPr lang="en-US" altLang="zh-CN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 smtClean="0"/>
                  <a:t>为</a:t>
                </a:r>
                <a:r>
                  <a:rPr lang="zh-CN" altLang="en-US" dirty="0" smtClean="0"/>
                  <a:t>正，即：</a:t>
                </a:r>
                <a:endParaRPr lang="en-US" altLang="zh-CN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{"/>
                          <m:endChr m:val=""/>
                          <m:ctrlPr>
                            <a:rPr lang="en-US" altLang="zh-CN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altLang="zh-CN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  <m:e>
                              <m:sSub>
                                <m:sSubPr>
                                  <m:ctrlPr>
                                    <a:rPr lang="en-US" altLang="zh-C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</m:sub>
                              </m:sSub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altLang="zh-CN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 smtClean="0"/>
                  <a:t>对三个网孔</a:t>
                </a:r>
                <a:r>
                  <a:rPr lang="en-US" altLang="zh-CN" dirty="0" smtClean="0"/>
                  <a:t>m1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m2</a:t>
                </a:r>
                <a:r>
                  <a:rPr lang="zh-CN" altLang="en-US" dirty="0" smtClean="0"/>
                  <a:t>，</a:t>
                </a:r>
                <a:r>
                  <a:rPr lang="en-US" altLang="zh-CN" dirty="0" smtClean="0"/>
                  <a:t>m3</a:t>
                </a:r>
                <a:r>
                  <a:rPr lang="zh-CN" altLang="en-US" dirty="0" smtClean="0"/>
                  <a:t>列写独立</a:t>
                </a:r>
                <a:r>
                  <a:rPr lang="en-US" altLang="zh-CN" dirty="0" err="1" smtClean="0"/>
                  <a:t>kVL</a:t>
                </a:r>
                <a:r>
                  <a:rPr lang="zh-CN" altLang="en-US" dirty="0" smtClean="0"/>
                  <a:t>方程，电压以网孔顺时针方向为正，即</a:t>
                </a:r>
                <a:endParaRPr lang="en-US" altLang="zh-CN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dirty="0" smtClean="0"/>
                  <a:t>                                       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"/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sSub>
                              <m:sSub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  <m:e>
                            <m:sSub>
                              <m:sSubPr>
                                <m:ctrlPr>
                                  <a:rPr lang="en-US" altLang="zh-CN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sSub>
                                  <m:sSubPr>
                                    <m:ctrlP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altLang="zh-CN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  <m:sub>
                                <m:r>
                                  <a:rPr lang="en-US" altLang="zh-CN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sub>
                            </m:s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eqArr>
                      </m:e>
                    </m:d>
                  </m:oMath>
                </a14:m>
                <a:endParaRPr lang="en-US" altLang="zh-CN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 smtClean="0"/>
                  <a:t>上述</a:t>
                </a:r>
                <a:r>
                  <a:rPr lang="en-US" altLang="zh-CN" dirty="0" smtClean="0"/>
                  <a:t>6</a:t>
                </a:r>
                <a:r>
                  <a:rPr lang="zh-CN" altLang="en-US" dirty="0" smtClean="0"/>
                  <a:t>个方程中，</a:t>
                </a:r>
                <a:r>
                  <a:rPr lang="en-US" altLang="zh-CN" dirty="0" smtClean="0"/>
                  <a:t>u</a:t>
                </a:r>
                <a:r>
                  <a:rPr lang="en-US" altLang="zh-CN" baseline="-25000" dirty="0" smtClean="0"/>
                  <a:t>s</a:t>
                </a:r>
                <a:r>
                  <a:rPr lang="zh-CN" altLang="en-US" dirty="0" smtClean="0"/>
                  <a:t>和</a:t>
                </a:r>
                <a:r>
                  <a:rPr lang="en-US" altLang="zh-CN" dirty="0" smtClean="0"/>
                  <a:t>R</a:t>
                </a:r>
                <a:r>
                  <a:rPr lang="en-US" altLang="zh-CN" baseline="-25000" dirty="0" smtClean="0"/>
                  <a:t>1</a:t>
                </a:r>
                <a:r>
                  <a:rPr lang="en-US" altLang="zh-CN" dirty="0" smtClean="0"/>
                  <a:t>~R</a:t>
                </a:r>
                <a:r>
                  <a:rPr lang="en-US" altLang="zh-CN" baseline="-25000" dirty="0" smtClean="0"/>
                  <a:t>5</a:t>
                </a:r>
                <a:r>
                  <a:rPr lang="zh-CN" altLang="en-US" dirty="0" smtClean="0"/>
                  <a:t>已知，代入参数计算可得</a:t>
                </a:r>
                <a:endParaRPr lang="en-US" altLang="zh-CN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=−2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=8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=6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altLang="zh-CN" dirty="0" smtClean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sub>
                    </m:sSub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=12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zh-CN" dirty="0" smtClean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dirty="0" smtClean="0"/>
                  <a:t>由此可知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zh-CN" altLang="en-US" dirty="0" smtClean="0"/>
                  <a:t>及其他支路电流可通过电路分析求解得出，因而是多余条件。</a:t>
                </a:r>
                <a:endParaRPr lang="zh-CN" altLang="en-US" dirty="0"/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0243" y="339969"/>
                <a:ext cx="8779119" cy="6342185"/>
              </a:xfrm>
              <a:blipFill>
                <a:blip r:embed="rId2"/>
                <a:stretch>
                  <a:fillRect l="-4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组合 28"/>
          <p:cNvGrpSpPr/>
          <p:nvPr/>
        </p:nvGrpSpPr>
        <p:grpSpPr>
          <a:xfrm>
            <a:off x="4947749" y="215827"/>
            <a:ext cx="4459933" cy="2571335"/>
            <a:chOff x="4996495" y="1455542"/>
            <a:chExt cx="4459933" cy="2571335"/>
          </a:xfrm>
        </p:grpSpPr>
        <p:pic>
          <p:nvPicPr>
            <p:cNvPr id="30" name="图片 29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96495" y="1824874"/>
              <a:ext cx="4459933" cy="2202003"/>
            </a:xfrm>
            <a:prstGeom prst="rect">
              <a:avLst/>
            </a:prstGeom>
          </p:spPr>
        </p:pic>
        <p:cxnSp>
          <p:nvCxnSpPr>
            <p:cNvPr id="31" name="直接箭头连接符 30"/>
            <p:cNvCxnSpPr/>
            <p:nvPr/>
          </p:nvCxnSpPr>
          <p:spPr>
            <a:xfrm flipV="1">
              <a:off x="7261283" y="2818967"/>
              <a:ext cx="0" cy="369276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文本框 31"/>
                <p:cNvSpPr txBox="1"/>
                <p:nvPr/>
              </p:nvSpPr>
              <p:spPr>
                <a:xfrm>
                  <a:off x="7281982" y="2818967"/>
                  <a:ext cx="4282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2" name="文本框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81982" y="2818967"/>
                  <a:ext cx="428258" cy="369332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直接箭头连接符 32"/>
            <p:cNvCxnSpPr/>
            <p:nvPr/>
          </p:nvCxnSpPr>
          <p:spPr>
            <a:xfrm>
              <a:off x="7435555" y="1925516"/>
              <a:ext cx="42698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文本框 33"/>
                <p:cNvSpPr txBox="1"/>
                <p:nvPr/>
              </p:nvSpPr>
              <p:spPr>
                <a:xfrm>
                  <a:off x="7378513" y="1455542"/>
                  <a:ext cx="4229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4" name="文本框 3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78513" y="1455542"/>
                  <a:ext cx="422936" cy="369332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5" name="组合 34"/>
          <p:cNvGrpSpPr/>
          <p:nvPr/>
        </p:nvGrpSpPr>
        <p:grpSpPr>
          <a:xfrm>
            <a:off x="4947749" y="212782"/>
            <a:ext cx="4196251" cy="2346203"/>
            <a:chOff x="4988285" y="1455542"/>
            <a:chExt cx="4196251" cy="2346203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6" name="文本框 35"/>
                <p:cNvSpPr txBox="1"/>
                <p:nvPr/>
              </p:nvSpPr>
              <p:spPr>
                <a:xfrm>
                  <a:off x="7047166" y="1455542"/>
                  <a:ext cx="5009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6" name="文本框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47166" y="1455542"/>
                  <a:ext cx="50090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7" name="文本框 36"/>
                <p:cNvSpPr txBox="1"/>
                <p:nvPr/>
              </p:nvSpPr>
              <p:spPr>
                <a:xfrm>
                  <a:off x="7360760" y="3432413"/>
                  <a:ext cx="50622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7" name="文本框 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0760" y="3432413"/>
                  <a:ext cx="506229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直接箭头连接符 37"/>
            <p:cNvCxnSpPr/>
            <p:nvPr/>
          </p:nvCxnSpPr>
          <p:spPr>
            <a:xfrm>
              <a:off x="6735101" y="2579077"/>
              <a:ext cx="42698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" name="文本框 38"/>
                <p:cNvSpPr txBox="1"/>
                <p:nvPr/>
              </p:nvSpPr>
              <p:spPr>
                <a:xfrm>
                  <a:off x="6632745" y="2179441"/>
                  <a:ext cx="4282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39" name="文本框 3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32745" y="2179441"/>
                  <a:ext cx="428258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" name="文本框 39"/>
                <p:cNvSpPr txBox="1"/>
                <p:nvPr/>
              </p:nvSpPr>
              <p:spPr>
                <a:xfrm>
                  <a:off x="6336754" y="2149137"/>
                  <a:ext cx="50622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0" name="文本框 3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36754" y="2149137"/>
                  <a:ext cx="506229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1" name="直接箭头连接符 40"/>
            <p:cNvCxnSpPr/>
            <p:nvPr/>
          </p:nvCxnSpPr>
          <p:spPr>
            <a:xfrm>
              <a:off x="8030501" y="2579077"/>
              <a:ext cx="426987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文本框 41"/>
                <p:cNvSpPr txBox="1"/>
                <p:nvPr/>
              </p:nvSpPr>
              <p:spPr>
                <a:xfrm>
                  <a:off x="7816372" y="2180302"/>
                  <a:ext cx="4282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2" name="文本框 4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16372" y="2180302"/>
                  <a:ext cx="428258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" name="文本框 42"/>
                <p:cNvSpPr txBox="1"/>
                <p:nvPr/>
              </p:nvSpPr>
              <p:spPr>
                <a:xfrm>
                  <a:off x="7520381" y="2149998"/>
                  <a:ext cx="50622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3" name="文本框 4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520381" y="2149998"/>
                  <a:ext cx="506229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4" name="直接箭头连接符 43"/>
            <p:cNvCxnSpPr/>
            <p:nvPr/>
          </p:nvCxnSpPr>
          <p:spPr>
            <a:xfrm>
              <a:off x="8559385" y="2579077"/>
              <a:ext cx="786" cy="407377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5" name="文本框 44"/>
                <p:cNvSpPr txBox="1"/>
                <p:nvPr/>
              </p:nvSpPr>
              <p:spPr>
                <a:xfrm>
                  <a:off x="8678307" y="3400608"/>
                  <a:ext cx="50622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5" name="文本框 4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78307" y="3400608"/>
                  <a:ext cx="506229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文本框 45"/>
                <p:cNvSpPr txBox="1"/>
                <p:nvPr/>
              </p:nvSpPr>
              <p:spPr>
                <a:xfrm>
                  <a:off x="8639109" y="2772209"/>
                  <a:ext cx="42825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6" name="文本框 4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39109" y="2772209"/>
                  <a:ext cx="428258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文本框 46"/>
                <p:cNvSpPr txBox="1"/>
                <p:nvPr/>
              </p:nvSpPr>
              <p:spPr>
                <a:xfrm>
                  <a:off x="4988285" y="2815893"/>
                  <a:ext cx="47500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7" name="文本框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88285" y="2815893"/>
                  <a:ext cx="475002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8" name="直接箭头连接符 47"/>
            <p:cNvCxnSpPr/>
            <p:nvPr/>
          </p:nvCxnSpPr>
          <p:spPr>
            <a:xfrm flipV="1">
              <a:off x="5943600" y="2627942"/>
              <a:ext cx="0" cy="358512"/>
            </a:xfrm>
            <a:prstGeom prst="straightConnector1">
              <a:avLst/>
            </a:prstGeom>
            <a:ln w="38100">
              <a:solidFill>
                <a:srgbClr val="FF0000"/>
              </a:solidFill>
              <a:headEnd type="none"/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文本框 48"/>
                <p:cNvSpPr txBox="1"/>
                <p:nvPr/>
              </p:nvSpPr>
              <p:spPr>
                <a:xfrm>
                  <a:off x="5499613" y="2563971"/>
                  <a:ext cx="41222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altLang="zh-CN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49" name="文本框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9613" y="2563971"/>
                  <a:ext cx="412229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0" name="组合 49"/>
          <p:cNvGrpSpPr/>
          <p:nvPr/>
        </p:nvGrpSpPr>
        <p:grpSpPr>
          <a:xfrm>
            <a:off x="6356845" y="695313"/>
            <a:ext cx="1992543" cy="1522310"/>
            <a:chOff x="6405591" y="1935028"/>
            <a:chExt cx="1992543" cy="1522310"/>
          </a:xfrm>
        </p:grpSpPr>
        <p:sp>
          <p:nvSpPr>
            <p:cNvPr id="51" name="文本框 50"/>
            <p:cNvSpPr txBox="1"/>
            <p:nvPr/>
          </p:nvSpPr>
          <p:spPr>
            <a:xfrm>
              <a:off x="7937752" y="1935028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m</a:t>
              </a:r>
              <a:r>
                <a:rPr lang="en-US" altLang="zh-CN" baseline="-25000" dirty="0" smtClean="0">
                  <a:solidFill>
                    <a:srgbClr val="FF0000"/>
                  </a:solidFill>
                </a:rPr>
                <a:t>1</a:t>
              </a:r>
              <a:endParaRPr lang="zh-CN" altLang="en-US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6405591" y="3088006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m</a:t>
              </a:r>
              <a:r>
                <a:rPr lang="en-US" altLang="zh-CN" baseline="-25000" dirty="0">
                  <a:solidFill>
                    <a:srgbClr val="FF0000"/>
                  </a:solidFill>
                </a:rPr>
                <a:t>2</a:t>
              </a:r>
              <a:endParaRPr lang="zh-CN" altLang="en-US" baseline="-25000" dirty="0">
                <a:solidFill>
                  <a:srgbClr val="FF0000"/>
                </a:solidFill>
              </a:endParaRPr>
            </a:p>
          </p:txBody>
        </p:sp>
        <p:sp>
          <p:nvSpPr>
            <p:cNvPr id="53" name="文本框 52"/>
            <p:cNvSpPr txBox="1"/>
            <p:nvPr/>
          </p:nvSpPr>
          <p:spPr>
            <a:xfrm>
              <a:off x="7882514" y="3039560"/>
              <a:ext cx="46038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 smtClean="0">
                  <a:solidFill>
                    <a:srgbClr val="FF0000"/>
                  </a:solidFill>
                </a:rPr>
                <a:t>m</a:t>
              </a:r>
              <a:r>
                <a:rPr lang="en-US" altLang="zh-CN" baseline="-25000" dirty="0">
                  <a:solidFill>
                    <a:srgbClr val="FF0000"/>
                  </a:solidFill>
                </a:rPr>
                <a:t>3</a:t>
              </a:r>
              <a:endParaRPr lang="zh-CN" altLang="en-US" baseline="-25000" dirty="0"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2555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167</TotalTime>
  <Words>1544</Words>
  <Application>Microsoft Office PowerPoint</Application>
  <PresentationFormat>全屏显示(4:3)</PresentationFormat>
  <Paragraphs>386</Paragraphs>
  <Slides>29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29</vt:i4>
      </vt:variant>
    </vt:vector>
  </HeadingPairs>
  <TitlesOfParts>
    <vt:vector size="50" baseType="lpstr">
      <vt:lpstr>Adobe 黑体 Std R</vt:lpstr>
      <vt:lpstr>CommonBullets</vt:lpstr>
      <vt:lpstr>맑은 고딕</vt:lpstr>
      <vt:lpstr>Monotype Sorts</vt:lpstr>
      <vt:lpstr>等线</vt:lpstr>
      <vt:lpstr>等线 Light</vt:lpstr>
      <vt:lpstr>黑体</vt:lpstr>
      <vt:lpstr>隶书</vt:lpstr>
      <vt:lpstr>宋体</vt:lpstr>
      <vt:lpstr>Arial</vt:lpstr>
      <vt:lpstr>Cambria Math</vt:lpstr>
      <vt:lpstr>Symbol</vt:lpstr>
      <vt:lpstr>Times New Roman</vt:lpstr>
      <vt:lpstr>Wingdings 2</vt:lpstr>
      <vt:lpstr>Office 主题​​</vt:lpstr>
      <vt:lpstr>VISIO</vt:lpstr>
      <vt:lpstr>Visio</vt:lpstr>
      <vt:lpstr>Equation</vt:lpstr>
      <vt:lpstr>Flash 文档</vt:lpstr>
      <vt:lpstr>公式</vt:lpstr>
      <vt:lpstr>Microsoft 公式 3.0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2.受控电源 Dependent Source (active elements)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例4 求Uac</vt:lpstr>
      <vt:lpstr>例5. The power of each circuit ?</vt:lpstr>
      <vt:lpstr>例7.计算线性受控源的功率。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作业</vt:lpstr>
      <vt:lpstr>习题1-14</vt:lpstr>
      <vt:lpstr>习题1-30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 健</dc:creator>
  <cp:lastModifiedBy>王 健</cp:lastModifiedBy>
  <cp:revision>24</cp:revision>
  <dcterms:created xsi:type="dcterms:W3CDTF">2022-03-06T12:19:23Z</dcterms:created>
  <dcterms:modified xsi:type="dcterms:W3CDTF">2022-03-07T01:16:14Z</dcterms:modified>
</cp:coreProperties>
</file>