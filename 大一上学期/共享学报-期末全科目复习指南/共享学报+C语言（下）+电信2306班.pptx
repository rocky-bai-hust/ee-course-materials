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44"/>
  </p:notesMasterIdLst>
  <p:sldIdLst>
    <p:sldId id="396" r:id="rId3"/>
    <p:sldId id="306" r:id="rId4"/>
    <p:sldId id="290" r:id="rId5"/>
    <p:sldId id="291"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7" r:id="rId21"/>
    <p:sldId id="308" r:id="rId22"/>
    <p:sldId id="309" r:id="rId23"/>
    <p:sldId id="310" r:id="rId24"/>
    <p:sldId id="311" r:id="rId25"/>
    <p:sldId id="312" r:id="rId26"/>
    <p:sldId id="313" r:id="rId27"/>
    <p:sldId id="314" r:id="rId28"/>
    <p:sldId id="315" r:id="rId29"/>
    <p:sldId id="316" r:id="rId30"/>
    <p:sldId id="317" r:id="rId31"/>
    <p:sldId id="318" r:id="rId32"/>
    <p:sldId id="319" r:id="rId33"/>
    <p:sldId id="320" r:id="rId34"/>
    <p:sldId id="321" r:id="rId35"/>
    <p:sldId id="322" r:id="rId36"/>
    <p:sldId id="323" r:id="rId37"/>
    <p:sldId id="324" r:id="rId38"/>
    <p:sldId id="325" r:id="rId39"/>
    <p:sldId id="326" r:id="rId40"/>
    <p:sldId id="327" r:id="rId41"/>
    <p:sldId id="328" r:id="rId42"/>
    <p:sldId id="329" r:id="rId43"/>
    <p:sldId id="330" r:id="rId44"/>
    <p:sldId id="331" r:id="rId45"/>
    <p:sldId id="332" r:id="rId46"/>
    <p:sldId id="333" r:id="rId47"/>
    <p:sldId id="334" r:id="rId48"/>
    <p:sldId id="335" r:id="rId49"/>
    <p:sldId id="336" r:id="rId50"/>
    <p:sldId id="337" r:id="rId51"/>
    <p:sldId id="271" r:id="rId52"/>
    <p:sldId id="272" r:id="rId53"/>
    <p:sldId id="273" r:id="rId54"/>
    <p:sldId id="274" r:id="rId55"/>
    <p:sldId id="275" r:id="rId56"/>
    <p:sldId id="256" r:id="rId57"/>
    <p:sldId id="257" r:id="rId58"/>
    <p:sldId id="258" r:id="rId59"/>
    <p:sldId id="259" r:id="rId60"/>
    <p:sldId id="276" r:id="rId61"/>
    <p:sldId id="277" r:id="rId62"/>
    <p:sldId id="278" r:id="rId63"/>
    <p:sldId id="279" r:id="rId64"/>
    <p:sldId id="280" r:id="rId65"/>
    <p:sldId id="265" r:id="rId66"/>
    <p:sldId id="266" r:id="rId67"/>
    <p:sldId id="267" r:id="rId68"/>
    <p:sldId id="281" r:id="rId69"/>
    <p:sldId id="282" r:id="rId70"/>
    <p:sldId id="283" r:id="rId71"/>
    <p:sldId id="284" r:id="rId72"/>
    <p:sldId id="285" r:id="rId73"/>
    <p:sldId id="260" r:id="rId74"/>
    <p:sldId id="261" r:id="rId75"/>
    <p:sldId id="286" r:id="rId76"/>
    <p:sldId id="288" r:id="rId77"/>
    <p:sldId id="262" r:id="rId78"/>
    <p:sldId id="263" r:id="rId79"/>
    <p:sldId id="264" r:id="rId80"/>
    <p:sldId id="289" r:id="rId81"/>
    <p:sldId id="268" r:id="rId82"/>
    <p:sldId id="269" r:id="rId83"/>
    <p:sldId id="270"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287"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11" autoAdjust="0"/>
    <p:restoredTop sz="95032" autoAdjust="0"/>
  </p:normalViewPr>
  <p:slideViewPr>
    <p:cSldViewPr snapToGrid="0">
      <p:cViewPr varScale="1">
        <p:scale>
          <a:sx n="93" d="100"/>
          <a:sy n="93" d="100"/>
        </p:scale>
        <p:origin x="8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FE6166-7828-4EE7-A22D-110507A0E6F0}" type="datetimeFigureOut">
              <a:rPr lang="zh-CN" altLang="en-US" smtClean="0"/>
              <a:t>2023/12/25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422207-0DA7-4061-A574-07E4DB02DC2A}" type="slidenum">
              <a:rPr lang="zh-CN" altLang="en-US" smtClean="0"/>
              <a:t>‹#›</a:t>
            </a:fld>
            <a:endParaRPr lang="zh-CN" altLang="en-US"/>
          </a:p>
        </p:txBody>
      </p:sp>
    </p:spTree>
    <p:extLst>
      <p:ext uri="{BB962C8B-B14F-4D97-AF65-F5344CB8AC3E}">
        <p14:creationId xmlns:p14="http://schemas.microsoft.com/office/powerpoint/2010/main" val="1701970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B11D195-6BE6-4BEB-B288-AE021304DE86}" type="slidenum">
              <a:rPr lang="zh-CN" altLang="en-US" smtClean="0"/>
              <a:t>31</a:t>
            </a:fld>
            <a:endParaRPr lang="zh-CN" altLang="en-US"/>
          </a:p>
        </p:txBody>
      </p:sp>
    </p:spTree>
    <p:extLst>
      <p:ext uri="{BB962C8B-B14F-4D97-AF65-F5344CB8AC3E}">
        <p14:creationId xmlns:p14="http://schemas.microsoft.com/office/powerpoint/2010/main" val="2219669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422207-0DA7-4061-A574-07E4DB02DC2A}" type="slidenum">
              <a:rPr lang="zh-CN" altLang="en-US" smtClean="0"/>
              <a:t>60</a:t>
            </a:fld>
            <a:endParaRPr lang="zh-CN" altLang="en-US"/>
          </a:p>
        </p:txBody>
      </p:sp>
    </p:spTree>
    <p:extLst>
      <p:ext uri="{BB962C8B-B14F-4D97-AF65-F5344CB8AC3E}">
        <p14:creationId xmlns:p14="http://schemas.microsoft.com/office/powerpoint/2010/main" val="3032216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2422207-0DA7-4061-A574-07E4DB02DC2A}" type="slidenum">
              <a:rPr lang="zh-CN" altLang="en-US" smtClean="0"/>
              <a:t>61</a:t>
            </a:fld>
            <a:endParaRPr lang="zh-CN" altLang="en-US"/>
          </a:p>
        </p:txBody>
      </p:sp>
    </p:spTree>
    <p:extLst>
      <p:ext uri="{BB962C8B-B14F-4D97-AF65-F5344CB8AC3E}">
        <p14:creationId xmlns:p14="http://schemas.microsoft.com/office/powerpoint/2010/main" val="1937866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BDA31B-F8C4-4480-AB4B-039F563BD5F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A69E66-8D9E-49A1-9D1C-41F78B6846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0EE8489-1160-4E69-B089-5892D8C46B39}"/>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4961C3A5-7066-40E6-9F26-D7F65D16CF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F543D4-D303-4E43-8787-8D7655157F4D}"/>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3014547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F5F1A3-A218-49A7-9431-20D912C94A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2EA6C51-C258-47B4-B902-61070DF12B2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7BADB69-C81B-42F2-9003-49925EAB5FF7}"/>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7AEA9E83-DE04-4A32-A02B-A0D192598D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055EE2-06A9-4030-A1CA-BE43BBEA5068}"/>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511270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C978C0-E9A6-49BA-AAB3-6A09357DFC0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B3A135C-EA6E-4C2C-BBD1-9B91A5A3D0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E4D18-431A-4561-AE46-928EE4DC830B}"/>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0A918EAB-C11F-429A-B39E-7DF90BB2EF1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EA8B261-4024-40CE-977C-F8B49334AC0F}"/>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740252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E9B13F-A13C-48D2-968C-0EEE6F46859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87007DD-48AC-43A3-8680-31610193A55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4E2C753-857B-4A12-A327-A500C78B56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FD15C5B-2776-499A-BC08-56A06CEFF225}"/>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6" name="页脚占位符 5">
            <a:extLst>
              <a:ext uri="{FF2B5EF4-FFF2-40B4-BE49-F238E27FC236}">
                <a16:creationId xmlns:a16="http://schemas.microsoft.com/office/drawing/2014/main" id="{50EB15B7-69A6-44B1-BB5F-7D4EE0A68CA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289DF9-639D-4F29-8B41-149D150F6BB3}"/>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3567196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EF6C71-39D2-4277-8E35-6AD72D030CF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656150D-F196-417C-803D-9C02B6D329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3470511-84DA-4ACD-BB06-8DAF04082E1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A289762-0E4B-4AD6-B579-F504E64E2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992C7C-F178-4610-AC2F-11A08F52BD0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70732E6-2289-414E-8C47-055563C4888A}"/>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8" name="页脚占位符 7">
            <a:extLst>
              <a:ext uri="{FF2B5EF4-FFF2-40B4-BE49-F238E27FC236}">
                <a16:creationId xmlns:a16="http://schemas.microsoft.com/office/drawing/2014/main" id="{F48ED28D-2446-409F-A8D3-2D9D033DA94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E0A6428-3BE1-4568-8F49-4A0709104175}"/>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1249701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CCFD9E-4376-4E4C-83DE-08D17464190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6870454-97D6-4A61-AFD0-E3FA26EE291A}"/>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4" name="页脚占位符 3">
            <a:extLst>
              <a:ext uri="{FF2B5EF4-FFF2-40B4-BE49-F238E27FC236}">
                <a16:creationId xmlns:a16="http://schemas.microsoft.com/office/drawing/2014/main" id="{E683CB24-0300-4EEB-ACE8-0FDB9FD52AE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54F17B7-B3DD-4500-B2B0-2BAC7CE6E210}"/>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1035220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B5B130B-2BC6-4110-842E-1CC6D27C196A}"/>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3" name="页脚占位符 2">
            <a:extLst>
              <a:ext uri="{FF2B5EF4-FFF2-40B4-BE49-F238E27FC236}">
                <a16:creationId xmlns:a16="http://schemas.microsoft.com/office/drawing/2014/main" id="{AD2DEBCC-174A-469D-BB92-9EB95677289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B1DBD1A-C1A1-49A4-9BA3-9060E26483C7}"/>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219816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21431C-2FB4-4D4F-8CFF-BBB75A69EB1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76098C3-9CF7-4353-83EB-AEA6A43852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3B9F8C0-9F29-4D62-A0E7-84E49C2508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45E6B24-132E-4A5B-9D06-EFE1419E17B2}"/>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6" name="页脚占位符 5">
            <a:extLst>
              <a:ext uri="{FF2B5EF4-FFF2-40B4-BE49-F238E27FC236}">
                <a16:creationId xmlns:a16="http://schemas.microsoft.com/office/drawing/2014/main" id="{D38F09F6-B990-4864-837B-E087DF97F9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266AE5-FB3B-43EC-B09F-D18EB7151717}"/>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3376840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B776F5-D5C1-49F7-A020-E78119BAC6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7A1B0BC-94EE-4F06-99C8-0FDDDA3F3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7A1B4AC-0464-43DA-BB7B-1EA3AF7CC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8BDB75F-8D01-41CD-90E1-C71AF3CC48E9}"/>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6" name="页脚占位符 5">
            <a:extLst>
              <a:ext uri="{FF2B5EF4-FFF2-40B4-BE49-F238E27FC236}">
                <a16:creationId xmlns:a16="http://schemas.microsoft.com/office/drawing/2014/main" id="{41AF7022-45F1-4482-A8D3-4062816BC7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42DB17A-B0FB-4D0E-8C2A-3EF9FD91F4FB}"/>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203433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474DDF-B726-4561-AC68-6523400D682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3334D22-6BA6-4D35-8149-37735637139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79E5E64-DC13-4728-8278-E7BE6CA8BAD8}"/>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AE275CF2-591D-4A24-B456-D368AA13258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8B4678-B19C-4881-8EC8-013EDAF54F77}"/>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3420812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32E2B86-61F7-43B6-BD47-55C71E055FB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B93FD23-D459-4403-A00D-9644DACD4EB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468C91-1E59-452A-9C95-CFFD62F32765}"/>
              </a:ext>
            </a:extLst>
          </p:cNvPr>
          <p:cNvSpPr>
            <a:spLocks noGrp="1"/>
          </p:cNvSpPr>
          <p:nvPr>
            <p:ph type="dt" sz="half" idx="10"/>
          </p:nvPr>
        </p:nvSpPr>
        <p:spPr/>
        <p:txBody>
          <a:body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014EF98B-AEF6-4E5E-AB0D-6449592E69E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E6BAFF-74DB-40C8-9192-BEEF97740400}"/>
              </a:ext>
            </a:extLst>
          </p:cNvPr>
          <p:cNvSpPr>
            <a:spLocks noGrp="1"/>
          </p:cNvSpPr>
          <p:nvPr>
            <p:ph type="sldNum" sz="quarter" idx="12"/>
          </p:nvPr>
        </p:nvSpPr>
        <p:spPr/>
        <p:txBody>
          <a:body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1678559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FD0B7A-F5DD-4F40-B4CB-3B2C354B893A}"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241985148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423653003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FD0B7A-F5DD-4F40-B4CB-3B2C354B893A}"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225730951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FD0B7A-F5DD-4F40-B4CB-3B2C354B893A}" type="datetimeFigureOut">
              <a:rPr lang="en-US" smtClean="0"/>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112126403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FD0B7A-F5DD-4F40-B4CB-3B2C354B893A}" type="datetimeFigureOut">
              <a:rPr lang="en-US" smtClean="0"/>
              <a:t>12/25/2023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286873651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FD0B7A-F5DD-4F40-B4CB-3B2C354B893A}" type="datetimeFigureOut">
              <a:rPr lang="en-US" smtClean="0"/>
              <a:t>12/25/2023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1615600652"/>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t>12/25/2023</a:t>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20779060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117553518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FD0B7A-F5DD-4F40-B4CB-3B2C354B893A}" type="datetimeFigureOut">
              <a:rPr lang="en-US" smtClean="0"/>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387442272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193056667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FD0B7A-F5DD-4F40-B4CB-3B2C354B893A}" type="datetimeFigureOut">
              <a:rPr lang="en-US" smtClean="0"/>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t>‹#›</a:t>
            </a:fld>
            <a:endParaRPr lang="en-US"/>
          </a:p>
        </p:txBody>
      </p:sp>
    </p:spTree>
    <p:extLst>
      <p:ext uri="{BB962C8B-B14F-4D97-AF65-F5344CB8AC3E}">
        <p14:creationId xmlns:p14="http://schemas.microsoft.com/office/powerpoint/2010/main" val="361649561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56B9970-A765-448C-931E-B72F5A5FD2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20327E9-83AD-40A6-9FC0-76DA552A39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B35BCCC-8BC6-4528-BBD6-D5C073C5FE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5A6C91-E149-43CF-B125-15F18B8FFE67}" type="datetimeFigureOut">
              <a:rPr lang="zh-CN" altLang="en-US" smtClean="0"/>
              <a:t>2023/12/25</a:t>
            </a:fld>
            <a:endParaRPr lang="zh-CN" altLang="en-US"/>
          </a:p>
        </p:txBody>
      </p:sp>
      <p:sp>
        <p:nvSpPr>
          <p:cNvPr id="5" name="页脚占位符 4">
            <a:extLst>
              <a:ext uri="{FF2B5EF4-FFF2-40B4-BE49-F238E27FC236}">
                <a16:creationId xmlns:a16="http://schemas.microsoft.com/office/drawing/2014/main" id="{E30422DF-F94D-4816-906F-2804D95E6B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402C141-38CA-4572-9DC5-4E95D08639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D3F12E-2297-49E5-B09D-F762F42443CC}" type="slidenum">
              <a:rPr lang="zh-CN" altLang="en-US" smtClean="0"/>
              <a:t>‹#›</a:t>
            </a:fld>
            <a:endParaRPr lang="zh-CN" altLang="en-US"/>
          </a:p>
        </p:txBody>
      </p:sp>
    </p:spTree>
    <p:extLst>
      <p:ext uri="{BB962C8B-B14F-4D97-AF65-F5344CB8AC3E}">
        <p14:creationId xmlns:p14="http://schemas.microsoft.com/office/powerpoint/2010/main" val="950197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12/25/2023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extLst>
      <p:ext uri="{BB962C8B-B14F-4D97-AF65-F5344CB8AC3E}">
        <p14:creationId xmlns:p14="http://schemas.microsoft.com/office/powerpoint/2010/main" val="38999694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2.png"/><Relationship Id="rId1" Type="http://schemas.openxmlformats.org/officeDocument/2006/relationships/slideLayout" Target="../slideLayouts/slideLayout4.xml"/><Relationship Id="rId4" Type="http://schemas.openxmlformats.org/officeDocument/2006/relationships/image" Target="../media/image54.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7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75.jpg"/><Relationship Id="rId1" Type="http://schemas.openxmlformats.org/officeDocument/2006/relationships/slideLayout" Target="../slideLayouts/slideLayout12.xml"/><Relationship Id="rId4" Type="http://schemas.openxmlformats.org/officeDocument/2006/relationships/image" Target="../media/image77.jpg"/></Relationships>
</file>

<file path=ppt/slides/_rels/slide92.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2" Type="http://schemas.openxmlformats.org/officeDocument/2006/relationships/image" Target="../media/image80.jp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image" Target="../media/image81.jp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82.jp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2" Type="http://schemas.openxmlformats.org/officeDocument/2006/relationships/image" Target="../media/image83.jpg"/><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2" Type="http://schemas.openxmlformats.org/officeDocument/2006/relationships/image" Target="../media/image84.jp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E8CF9590-F973-44A8-ADD1-27197E06F4CB}"/>
              </a:ext>
            </a:extLst>
          </p:cNvPr>
          <p:cNvSpPr>
            <a:spLocks noGrp="1"/>
          </p:cNvSpPr>
          <p:nvPr>
            <p:ph type="subTitle" idx="1"/>
          </p:nvPr>
        </p:nvSpPr>
        <p:spPr>
          <a:xfrm>
            <a:off x="1524000" y="2134575"/>
            <a:ext cx="9144000" cy="4723425"/>
          </a:xfrm>
        </p:spPr>
        <p:txBody>
          <a:bodyPr>
            <a:normAutofit/>
          </a:bodyPr>
          <a:lstStyle/>
          <a:p>
            <a:r>
              <a:rPr lang="en-US" altLang="zh-CN" sz="3600" dirty="0"/>
              <a:t>C</a:t>
            </a:r>
            <a:r>
              <a:rPr lang="zh-CN" altLang="en-US" sz="3600" dirty="0"/>
              <a:t>语言程序设计</a:t>
            </a:r>
            <a:endParaRPr lang="en-US" altLang="zh-CN" sz="3600" dirty="0"/>
          </a:p>
          <a:p>
            <a:endParaRPr lang="en-US" altLang="zh-CN" sz="1800" dirty="0"/>
          </a:p>
          <a:p>
            <a:r>
              <a:rPr lang="zh-CN" altLang="en-US" sz="3600" dirty="0"/>
              <a:t>共享学报 </a:t>
            </a:r>
            <a:endParaRPr lang="en-US" altLang="zh-CN" sz="3600" dirty="0"/>
          </a:p>
          <a:p>
            <a:endParaRPr lang="en-US" altLang="zh-CN" sz="1800" dirty="0"/>
          </a:p>
          <a:p>
            <a:r>
              <a:rPr lang="zh-CN" altLang="en-US" sz="1500" dirty="0"/>
              <a:t>制作：电子信息类</a:t>
            </a:r>
            <a:r>
              <a:rPr lang="en-US" altLang="zh-CN" sz="1500" dirty="0"/>
              <a:t>2305</a:t>
            </a:r>
            <a:r>
              <a:rPr lang="zh-CN" altLang="en-US" sz="1500" dirty="0"/>
              <a:t>班全部同学</a:t>
            </a:r>
            <a:endParaRPr lang="en-US" altLang="zh-CN" sz="1500" dirty="0"/>
          </a:p>
          <a:p>
            <a:endParaRPr lang="en-US" altLang="zh-CN" sz="1500" dirty="0"/>
          </a:p>
          <a:p>
            <a:r>
              <a:rPr lang="zh-CN" altLang="en-US" sz="1500" dirty="0"/>
              <a:t>二〇二三年拾贰月</a:t>
            </a:r>
            <a:endParaRPr lang="en-US" altLang="zh-CN" sz="1500" dirty="0"/>
          </a:p>
          <a:p>
            <a:endParaRPr lang="en-US" altLang="zh-CN" sz="1800" dirty="0"/>
          </a:p>
          <a:p>
            <a:endParaRPr lang="en-US" altLang="zh-CN" sz="1800" dirty="0"/>
          </a:p>
          <a:p>
            <a:r>
              <a:rPr lang="en-US" altLang="zh-CN" dirty="0"/>
              <a:t> </a:t>
            </a:r>
          </a:p>
          <a:p>
            <a:endParaRPr lang="zh-CN" altLang="en-US" dirty="0"/>
          </a:p>
        </p:txBody>
      </p:sp>
      <p:pic>
        <p:nvPicPr>
          <p:cNvPr id="7" name="图片 6">
            <a:extLst>
              <a:ext uri="{FF2B5EF4-FFF2-40B4-BE49-F238E27FC236}">
                <a16:creationId xmlns:a16="http://schemas.microsoft.com/office/drawing/2014/main" id="{736552BE-66E5-4FF6-AD8F-F83C0FF57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4959" y="502154"/>
            <a:ext cx="4839589" cy="961646"/>
          </a:xfrm>
          <a:prstGeom prst="rect">
            <a:avLst/>
          </a:prstGeom>
        </p:spPr>
      </p:pic>
      <p:pic>
        <p:nvPicPr>
          <p:cNvPr id="9" name="图片 8">
            <a:extLst>
              <a:ext uri="{FF2B5EF4-FFF2-40B4-BE49-F238E27FC236}">
                <a16:creationId xmlns:a16="http://schemas.microsoft.com/office/drawing/2014/main" id="{F9FFCD1F-C667-474B-8CA2-AF71250491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2240" y="419358"/>
            <a:ext cx="1127238" cy="1127238"/>
          </a:xfrm>
          <a:prstGeom prst="rect">
            <a:avLst/>
          </a:prstGeom>
        </p:spPr>
      </p:pic>
    </p:spTree>
    <p:extLst>
      <p:ext uri="{BB962C8B-B14F-4D97-AF65-F5344CB8AC3E}">
        <p14:creationId xmlns:p14="http://schemas.microsoft.com/office/powerpoint/2010/main" val="192161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C7B46B6B-16A9-4E54-81F9-A844B5516DA9}"/>
              </a:ext>
            </a:extLst>
          </p:cNvPr>
          <p:cNvSpPr>
            <a:spLocks noGrp="1"/>
          </p:cNvSpPr>
          <p:nvPr>
            <p:ph type="subTitle" idx="1"/>
          </p:nvPr>
        </p:nvSpPr>
        <p:spPr>
          <a:xfrm>
            <a:off x="1524000" y="2298012"/>
            <a:ext cx="9144000" cy="1130988"/>
          </a:xfrm>
        </p:spPr>
        <p:txBody>
          <a:bodyPr>
            <a:normAutofit/>
          </a:bodyPr>
          <a:lstStyle/>
          <a:p>
            <a:r>
              <a:rPr lang="zh-CN" altLang="en-US" sz="4400" dirty="0"/>
              <a:t>专题二  数据类型、运算符和表达式</a:t>
            </a:r>
          </a:p>
        </p:txBody>
      </p:sp>
    </p:spTree>
    <p:extLst>
      <p:ext uri="{BB962C8B-B14F-4D97-AF65-F5344CB8AC3E}">
        <p14:creationId xmlns:p14="http://schemas.microsoft.com/office/powerpoint/2010/main" val="838164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dirty="0"/>
          </a:p>
        </p:txBody>
      </p:sp>
      <p:sp>
        <p:nvSpPr>
          <p:cNvPr id="3" name="副标题 2"/>
          <p:cNvSpPr>
            <a:spLocks noGrp="1"/>
          </p:cNvSpPr>
          <p:nvPr>
            <p:ph type="subTitle" idx="1"/>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588256" y="435769"/>
            <a:ext cx="10861025" cy="56682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³: ASCII Table - News - SparkFun Electron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4650" y="0"/>
            <a:ext cx="8901113"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597097" y="741721"/>
            <a:ext cx="6216894" cy="537455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屏幕截图 2023-12-20 182611"/>
          <p:cNvPicPr>
            <a:picLocks noChangeAspect="1"/>
          </p:cNvPicPr>
          <p:nvPr/>
        </p:nvPicPr>
        <p:blipFill>
          <a:blip r:embed="rId2"/>
          <a:stretch>
            <a:fillRect/>
          </a:stretch>
        </p:blipFill>
        <p:spPr>
          <a:xfrm>
            <a:off x="171878" y="320950"/>
            <a:ext cx="11071345" cy="62160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屏幕截图 2023-12-20 182626"/>
          <p:cNvPicPr>
            <a:picLocks noChangeAspect="1"/>
          </p:cNvPicPr>
          <p:nvPr/>
        </p:nvPicPr>
        <p:blipFill>
          <a:blip r:embed="rId2"/>
          <a:stretch>
            <a:fillRect/>
          </a:stretch>
        </p:blipFill>
        <p:spPr>
          <a:xfrm>
            <a:off x="234950" y="97155"/>
            <a:ext cx="11721465" cy="6532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6" name="内容占位符 5"/>
          <p:cNvSpPr>
            <a:spLocks noGrp="1"/>
          </p:cNvSpPr>
          <p:nvPr>
            <p:ph idx="1"/>
          </p:nvPr>
        </p:nvSpPr>
        <p:spPr/>
        <p:txBody>
          <a:bodyPr/>
          <a:lstStyle/>
          <a:p>
            <a:endParaRPr lang="zh-CN" altLang="en-US"/>
          </a:p>
        </p:txBody>
      </p:sp>
      <p:pic>
        <p:nvPicPr>
          <p:cNvPr id="7" name="图片 6" descr="屏幕截图 2023-12-20 182701"/>
          <p:cNvPicPr>
            <a:picLocks noChangeAspect="1"/>
          </p:cNvPicPr>
          <p:nvPr>
            <p:custDataLst>
              <p:tags r:id="rId1"/>
            </p:custDataLst>
          </p:nvPr>
        </p:nvPicPr>
        <p:blipFill>
          <a:blip r:embed="rId3"/>
          <a:stretch>
            <a:fillRect/>
          </a:stretch>
        </p:blipFill>
        <p:spPr>
          <a:xfrm>
            <a:off x="0" y="259080"/>
            <a:ext cx="12192000" cy="6689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屏幕截图 2023-12-20 182712"/>
          <p:cNvPicPr>
            <a:picLocks noGrp="1" noChangeAspect="1"/>
          </p:cNvPicPr>
          <p:nvPr>
            <p:ph idx="1"/>
          </p:nvPr>
        </p:nvPicPr>
        <p:blipFill>
          <a:blip r:embed="rId2"/>
          <a:stretch>
            <a:fillRect/>
          </a:stretch>
        </p:blipFill>
        <p:spPr>
          <a:xfrm>
            <a:off x="294640" y="109855"/>
            <a:ext cx="11797665" cy="6551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descr="屏幕截图 2023-12-20 183136"/>
          <p:cNvPicPr>
            <a:picLocks noGrp="1" noChangeAspect="1"/>
          </p:cNvPicPr>
          <p:nvPr>
            <p:ph idx="1"/>
          </p:nvPr>
        </p:nvPicPr>
        <p:blipFill>
          <a:blip r:embed="rId2"/>
          <a:stretch>
            <a:fillRect/>
          </a:stretch>
        </p:blipFill>
        <p:spPr>
          <a:xfrm>
            <a:off x="838200" y="73660"/>
            <a:ext cx="10696575" cy="6431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F438BF9-8CE0-BBFE-E39E-291BA8374C18}"/>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5" name="文本框 4">
            <a:extLst>
              <a:ext uri="{FF2B5EF4-FFF2-40B4-BE49-F238E27FC236}">
                <a16:creationId xmlns:a16="http://schemas.microsoft.com/office/drawing/2014/main" id="{7F1C2770-DF1B-6D42-523B-B78EFE0B028F}"/>
              </a:ext>
            </a:extLst>
          </p:cNvPr>
          <p:cNvSpPr txBox="1"/>
          <p:nvPr/>
        </p:nvSpPr>
        <p:spPr>
          <a:xfrm>
            <a:off x="540328" y="1596043"/>
            <a:ext cx="8919556" cy="1631216"/>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一、位运算概述</a:t>
            </a:r>
            <a:endParaRPr lang="en-US" altLang="zh-CN" sz="2400" dirty="0">
              <a:latin typeface="宋体" panose="02010600030101010101" pitchFamily="2" charset="-122"/>
              <a:ea typeface="宋体" panose="02010600030101010101" pitchFamily="2" charset="-122"/>
            </a:endParaRPr>
          </a:p>
          <a:p>
            <a:r>
              <a:rPr lang="en-US" altLang="zh-CN" b="0" i="0" dirty="0">
                <a:solidFill>
                  <a:srgbClr val="333333"/>
                </a:solidFill>
                <a:effectLst/>
                <a:latin typeface="宋体" panose="02010600030101010101" pitchFamily="2" charset="-122"/>
                <a:ea typeface="宋体" panose="02010600030101010101" pitchFamily="2" charset="-122"/>
              </a:rPr>
              <a:t>    </a:t>
            </a:r>
            <a:r>
              <a:rPr lang="zh-CN" altLang="en-US" b="0" i="0" dirty="0">
                <a:solidFill>
                  <a:srgbClr val="333333"/>
                </a:solidFill>
                <a:effectLst/>
                <a:ea typeface="宋体" panose="02010600030101010101" pitchFamily="2" charset="-122"/>
              </a:rPr>
              <a:t>现代计算机中所有的数据二进制的形式存储在设备中。即 </a:t>
            </a:r>
            <a:r>
              <a:rPr lang="en-US" altLang="zh-CN" b="0" i="0" dirty="0">
                <a:solidFill>
                  <a:srgbClr val="333333"/>
                </a:solidFill>
                <a:effectLst/>
                <a:ea typeface="宋体" panose="02010600030101010101" pitchFamily="2" charset="-122"/>
              </a:rPr>
              <a:t>0</a:t>
            </a:r>
            <a:r>
              <a:rPr lang="zh-CN" altLang="en-US" b="0" i="0" dirty="0">
                <a:solidFill>
                  <a:srgbClr val="333333"/>
                </a:solidFill>
                <a:effectLst/>
                <a:ea typeface="宋体" panose="02010600030101010101" pitchFamily="2" charset="-122"/>
              </a:rPr>
              <a:t>、</a:t>
            </a:r>
            <a:r>
              <a:rPr lang="en-US" altLang="zh-CN" b="0" i="0" dirty="0">
                <a:solidFill>
                  <a:srgbClr val="333333"/>
                </a:solidFill>
                <a:effectLst/>
                <a:ea typeface="宋体" panose="02010600030101010101" pitchFamily="2" charset="-122"/>
              </a:rPr>
              <a:t>1 </a:t>
            </a:r>
            <a:r>
              <a:rPr lang="zh-CN" altLang="en-US" b="0" i="0" dirty="0">
                <a:solidFill>
                  <a:srgbClr val="333333"/>
                </a:solidFill>
                <a:effectLst/>
                <a:ea typeface="宋体" panose="02010600030101010101" pitchFamily="2" charset="-122"/>
              </a:rPr>
              <a:t>两种状态，计算机对二进制数据进行的运算</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都是叫位运算，即将符号位共同参与运算的运算。</a:t>
            </a:r>
            <a:endParaRPr lang="en-US" altLang="zh-CN" b="0" i="0" dirty="0">
              <a:solidFill>
                <a:srgbClr val="333333"/>
              </a:solidFill>
              <a:effectLst/>
              <a:ea typeface="宋体" panose="02010600030101010101" pitchFamily="2" charset="-122"/>
            </a:endParaRPr>
          </a:p>
          <a:p>
            <a:endParaRPr lang="en-US" altLang="zh-CN" b="0" i="0" dirty="0">
              <a:solidFill>
                <a:srgbClr val="333333"/>
              </a:solidFill>
              <a:effectLst/>
              <a:ea typeface="宋体" panose="02010600030101010101" pitchFamily="2" charset="-122"/>
            </a:endParaRPr>
          </a:p>
          <a:p>
            <a:r>
              <a:rPr lang="en-US" altLang="zh-CN" dirty="0">
                <a:solidFill>
                  <a:srgbClr val="333333"/>
                </a:solidFill>
                <a:ea typeface="宋体" panose="02010600030101010101" pitchFamily="2" charset="-122"/>
              </a:rPr>
              <a:t>    </a:t>
            </a:r>
            <a:r>
              <a:rPr lang="zh-CN" altLang="en-US" b="0" i="0" dirty="0">
                <a:solidFill>
                  <a:srgbClr val="333333"/>
                </a:solidFill>
                <a:effectLst/>
                <a:ea typeface="宋体" panose="02010600030101010101" pitchFamily="2" charset="-122"/>
              </a:rPr>
              <a:t>口说无凭，举一个简单的例子来看下 </a:t>
            </a:r>
            <a:r>
              <a:rPr lang="en-US" altLang="zh-CN" b="0" i="0" dirty="0">
                <a:solidFill>
                  <a:srgbClr val="333333"/>
                </a:solidFill>
                <a:effectLst/>
                <a:ea typeface="宋体" panose="02010600030101010101" pitchFamily="2" charset="-122"/>
              </a:rPr>
              <a:t>CPU </a:t>
            </a:r>
            <a:r>
              <a:rPr lang="zh-CN" altLang="en-US" b="0" i="0" dirty="0">
                <a:solidFill>
                  <a:srgbClr val="333333"/>
                </a:solidFill>
                <a:effectLst/>
                <a:ea typeface="宋体" panose="02010600030101010101" pitchFamily="2" charset="-122"/>
              </a:rPr>
              <a:t>是如何进行计算的，比如这行代码：</a:t>
            </a:r>
            <a:endParaRPr lang="zh-CN" altLang="en-US" dirty="0">
              <a:ea typeface="宋体" panose="02010600030101010101" pitchFamily="2" charset="-122"/>
            </a:endParaRPr>
          </a:p>
        </p:txBody>
      </p:sp>
      <p:pic>
        <p:nvPicPr>
          <p:cNvPr id="7" name="图片 6">
            <a:extLst>
              <a:ext uri="{FF2B5EF4-FFF2-40B4-BE49-F238E27FC236}">
                <a16:creationId xmlns:a16="http://schemas.microsoft.com/office/drawing/2014/main" id="{69087645-8310-C501-7B98-A378C9E4D3FD}"/>
              </a:ext>
            </a:extLst>
          </p:cNvPr>
          <p:cNvPicPr>
            <a:picLocks noChangeAspect="1"/>
          </p:cNvPicPr>
          <p:nvPr/>
        </p:nvPicPr>
        <p:blipFill>
          <a:blip r:embed="rId2"/>
          <a:stretch>
            <a:fillRect/>
          </a:stretch>
        </p:blipFill>
        <p:spPr>
          <a:xfrm>
            <a:off x="540328" y="3507632"/>
            <a:ext cx="1866900" cy="1038225"/>
          </a:xfrm>
          <a:prstGeom prst="rect">
            <a:avLst/>
          </a:prstGeom>
        </p:spPr>
      </p:pic>
      <p:sp>
        <p:nvSpPr>
          <p:cNvPr id="8" name="文本框 7">
            <a:extLst>
              <a:ext uri="{FF2B5EF4-FFF2-40B4-BE49-F238E27FC236}">
                <a16:creationId xmlns:a16="http://schemas.microsoft.com/office/drawing/2014/main" id="{EDEC464D-EFA8-946C-B642-EEB8112F6890}"/>
              </a:ext>
            </a:extLst>
          </p:cNvPr>
          <p:cNvSpPr txBox="1"/>
          <p:nvPr/>
        </p:nvSpPr>
        <p:spPr>
          <a:xfrm>
            <a:off x="2407228" y="3899526"/>
            <a:ext cx="6994121" cy="646331"/>
          </a:xfrm>
          <a:prstGeom prst="rect">
            <a:avLst/>
          </a:prstGeom>
          <a:noFill/>
        </p:spPr>
        <p:txBody>
          <a:bodyPr wrap="square" rtlCol="0">
            <a:spAutoFit/>
          </a:bodyPr>
          <a:lstStyle/>
          <a:p>
            <a:r>
              <a:rPr lang="zh-CN" altLang="en-US" b="0" i="0" dirty="0">
                <a:solidFill>
                  <a:srgbClr val="333333"/>
                </a:solidFill>
                <a:effectLst/>
                <a:ea typeface="宋体" panose="02010600030101010101" pitchFamily="2" charset="-122"/>
              </a:rPr>
              <a:t>计算两个数的和，因为在计算机中都是以二进制来进行运算，所以上面我们所给的 </a:t>
            </a:r>
            <a:r>
              <a:rPr lang="en-US" altLang="zh-CN" b="0" i="0" dirty="0">
                <a:solidFill>
                  <a:srgbClr val="333333"/>
                </a:solidFill>
                <a:effectLst/>
                <a:ea typeface="宋体" panose="02010600030101010101" pitchFamily="2" charset="-122"/>
              </a:rPr>
              <a:t>int </a:t>
            </a:r>
            <a:r>
              <a:rPr lang="zh-CN" altLang="en-US" b="0" i="0" dirty="0">
                <a:solidFill>
                  <a:srgbClr val="333333"/>
                </a:solidFill>
                <a:effectLst/>
                <a:ea typeface="宋体" panose="02010600030101010101" pitchFamily="2" charset="-122"/>
              </a:rPr>
              <a:t>变量会在机器内部先转换为二进制在进行相加：</a:t>
            </a:r>
            <a:endParaRPr lang="zh-CN" altLang="en-US" dirty="0">
              <a:ea typeface="宋体" panose="02010600030101010101" pitchFamily="2" charset="-122"/>
            </a:endParaRPr>
          </a:p>
        </p:txBody>
      </p:sp>
      <p:pic>
        <p:nvPicPr>
          <p:cNvPr id="10" name="图片 9">
            <a:extLst>
              <a:ext uri="{FF2B5EF4-FFF2-40B4-BE49-F238E27FC236}">
                <a16:creationId xmlns:a16="http://schemas.microsoft.com/office/drawing/2014/main" id="{08DEE3B0-D742-71FF-5E67-8E20AD332A35}"/>
              </a:ext>
            </a:extLst>
          </p:cNvPr>
          <p:cNvPicPr>
            <a:picLocks noChangeAspect="1"/>
          </p:cNvPicPr>
          <p:nvPr/>
        </p:nvPicPr>
        <p:blipFill>
          <a:blip r:embed="rId3"/>
          <a:stretch>
            <a:fillRect/>
          </a:stretch>
        </p:blipFill>
        <p:spPr>
          <a:xfrm>
            <a:off x="540328" y="4545857"/>
            <a:ext cx="2543175" cy="1285875"/>
          </a:xfrm>
          <a:prstGeom prst="rect">
            <a:avLst/>
          </a:prstGeom>
        </p:spPr>
      </p:pic>
      <p:sp>
        <p:nvSpPr>
          <p:cNvPr id="11" name="文本框 10">
            <a:extLst>
              <a:ext uri="{FF2B5EF4-FFF2-40B4-BE49-F238E27FC236}">
                <a16:creationId xmlns:a16="http://schemas.microsoft.com/office/drawing/2014/main" id="{D4B379D9-A912-DBF9-D387-AD6C284E688D}"/>
              </a:ext>
            </a:extLst>
          </p:cNvPr>
          <p:cNvSpPr txBox="1"/>
          <p:nvPr/>
        </p:nvSpPr>
        <p:spPr>
          <a:xfrm>
            <a:off x="3017347" y="5185401"/>
            <a:ext cx="6301049" cy="646331"/>
          </a:xfrm>
          <a:prstGeom prst="rect">
            <a:avLst/>
          </a:prstGeom>
          <a:noFill/>
        </p:spPr>
        <p:txBody>
          <a:bodyPr wrap="square" rtlCol="0">
            <a:spAutoFit/>
          </a:bodyPr>
          <a:lstStyle/>
          <a:p>
            <a:r>
              <a:rPr lang="zh-CN" altLang="en-US" b="0" i="0" dirty="0">
                <a:solidFill>
                  <a:srgbClr val="333333"/>
                </a:solidFill>
                <a:effectLst/>
                <a:ea typeface="宋体" panose="02010600030101010101" pitchFamily="2" charset="-122"/>
              </a:rPr>
              <a:t>所以，相比在代码中直接使用</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a:t>
            </a:r>
            <a:r>
              <a:rPr lang="en-US" altLang="zh-CN" b="0" i="0" dirty="0">
                <a:solidFill>
                  <a:srgbClr val="333333"/>
                </a:solidFill>
                <a:effectLst/>
                <a:ea typeface="宋体" panose="02010600030101010101" pitchFamily="2" charset="-122"/>
              </a:rPr>
              <a:t>/)</a:t>
            </a:r>
            <a:r>
              <a:rPr lang="zh-CN" altLang="en-US" b="0" i="0" dirty="0">
                <a:solidFill>
                  <a:srgbClr val="333333"/>
                </a:solidFill>
                <a:effectLst/>
                <a:ea typeface="宋体" panose="02010600030101010101" pitchFamily="2" charset="-122"/>
              </a:rPr>
              <a:t>运算符，</a:t>
            </a:r>
            <a:endParaRPr lang="en-US" altLang="zh-CN" b="0" i="0" dirty="0">
              <a:solidFill>
                <a:srgbClr val="333333"/>
              </a:solidFill>
              <a:effectLst/>
              <a:ea typeface="宋体" panose="02010600030101010101" pitchFamily="2" charset="-122"/>
            </a:endParaRPr>
          </a:p>
          <a:p>
            <a:r>
              <a:rPr lang="zh-CN" altLang="en-US" b="0" i="0" dirty="0">
                <a:solidFill>
                  <a:srgbClr val="333333"/>
                </a:solidFill>
                <a:effectLst/>
                <a:ea typeface="宋体" panose="02010600030101010101" pitchFamily="2" charset="-122"/>
              </a:rPr>
              <a:t>合理的运用位运算更能显著提高代码在机器上的执行效率。</a:t>
            </a:r>
            <a:endParaRPr lang="zh-CN" altLang="en-US" dirty="0">
              <a:ea typeface="宋体" panose="02010600030101010101" pitchFamily="2" charset="-122"/>
            </a:endParaRPr>
          </a:p>
        </p:txBody>
      </p:sp>
    </p:spTree>
    <p:extLst>
      <p:ext uri="{BB962C8B-B14F-4D97-AF65-F5344CB8AC3E}">
        <p14:creationId xmlns:p14="http://schemas.microsoft.com/office/powerpoint/2010/main" val="1422709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二、位运算概览</a:t>
            </a:r>
          </a:p>
        </p:txBody>
      </p:sp>
      <p:pic>
        <p:nvPicPr>
          <p:cNvPr id="8" name="图片 7">
            <a:extLst>
              <a:ext uri="{FF2B5EF4-FFF2-40B4-BE49-F238E27FC236}">
                <a16:creationId xmlns:a16="http://schemas.microsoft.com/office/drawing/2014/main" id="{3EA95C40-4AF7-1A32-DD6A-CBAE0AF5C12D}"/>
              </a:ext>
            </a:extLst>
          </p:cNvPr>
          <p:cNvPicPr>
            <a:picLocks noChangeAspect="1"/>
          </p:cNvPicPr>
          <p:nvPr/>
        </p:nvPicPr>
        <p:blipFill>
          <a:blip r:embed="rId2"/>
          <a:stretch>
            <a:fillRect/>
          </a:stretch>
        </p:blipFill>
        <p:spPr>
          <a:xfrm>
            <a:off x="1045027" y="2198889"/>
            <a:ext cx="9174059" cy="4263066"/>
          </a:xfrm>
          <a:prstGeom prst="rect">
            <a:avLst/>
          </a:prstGeom>
        </p:spPr>
      </p:pic>
    </p:spTree>
    <p:extLst>
      <p:ext uri="{BB962C8B-B14F-4D97-AF65-F5344CB8AC3E}">
        <p14:creationId xmlns:p14="http://schemas.microsoft.com/office/powerpoint/2010/main" val="2561615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2867891"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按位与运算符（</a:t>
            </a:r>
            <a:r>
              <a:rPr lang="en-US" altLang="zh-CN" dirty="0">
                <a:latin typeface="宋体" panose="02010600030101010101" pitchFamily="2" charset="-122"/>
                <a:ea typeface="宋体" panose="02010600030101010101" pitchFamily="2" charset="-122"/>
              </a:rPr>
              <a:t>&amp;</a:t>
            </a:r>
            <a:r>
              <a:rPr lang="zh-CN" altLang="en-US" dirty="0">
                <a:latin typeface="宋体" panose="02010600030101010101" pitchFamily="2" charset="-122"/>
                <a:ea typeface="宋体" panose="02010600030101010101" pitchFamily="2" charset="-122"/>
              </a:rPr>
              <a:t>）</a:t>
            </a:r>
          </a:p>
        </p:txBody>
      </p:sp>
      <p:sp>
        <p:nvSpPr>
          <p:cNvPr id="3" name="文本框 2">
            <a:extLst>
              <a:ext uri="{FF2B5EF4-FFF2-40B4-BE49-F238E27FC236}">
                <a16:creationId xmlns:a16="http://schemas.microsoft.com/office/drawing/2014/main" id="{BA2C4862-EFB5-011D-6E0C-B4AAD44B1720}"/>
              </a:ext>
            </a:extLst>
          </p:cNvPr>
          <p:cNvSpPr txBox="1"/>
          <p:nvPr/>
        </p:nvSpPr>
        <p:spPr>
          <a:xfrm>
            <a:off x="1325878" y="2425358"/>
            <a:ext cx="10710951" cy="4801314"/>
          </a:xfrm>
          <a:prstGeom prst="rect">
            <a:avLst/>
          </a:prstGeom>
          <a:noFill/>
        </p:spPr>
        <p:txBody>
          <a:bodyPr wrap="square" rtlCol="0">
            <a:spAutoFit/>
          </a:bodyPr>
          <a:lstStyle/>
          <a:p>
            <a:r>
              <a:rPr lang="zh-CN" altLang="en-US" b="1" i="0" dirty="0">
                <a:solidFill>
                  <a:srgbClr val="333333"/>
                </a:solidFill>
                <a:effectLst/>
              </a:rPr>
              <a:t>定义：</a:t>
            </a:r>
            <a:r>
              <a:rPr lang="zh-CN" altLang="en-US" b="0" i="0" dirty="0">
                <a:solidFill>
                  <a:srgbClr val="333333"/>
                </a:solidFill>
                <a:effectLst/>
              </a:rPr>
              <a:t>参加运算的两个数据，按二进制位进行</a:t>
            </a:r>
            <a:r>
              <a:rPr lang="en-US" altLang="zh-CN" b="0" i="0" dirty="0">
                <a:solidFill>
                  <a:srgbClr val="333333"/>
                </a:solidFill>
                <a:effectLst/>
              </a:rPr>
              <a:t>"</a:t>
            </a:r>
            <a:r>
              <a:rPr lang="zh-CN" altLang="en-US" b="0" i="0" dirty="0">
                <a:solidFill>
                  <a:srgbClr val="333333"/>
                </a:solidFill>
                <a:effectLst/>
              </a:rPr>
              <a:t>与</a:t>
            </a:r>
            <a:r>
              <a:rPr lang="en-US" altLang="zh-CN" b="0" i="0" dirty="0">
                <a:solidFill>
                  <a:srgbClr val="333333"/>
                </a:solidFill>
                <a:effectLst/>
              </a:rPr>
              <a:t>"</a:t>
            </a:r>
            <a:r>
              <a:rPr lang="zh-CN" altLang="en-US" b="0" i="0" dirty="0">
                <a:solidFill>
                  <a:srgbClr val="333333"/>
                </a:solidFill>
                <a:effectLst/>
              </a:rPr>
              <a:t>运算。</a:t>
            </a:r>
            <a:endParaRPr lang="en-US" altLang="zh-CN" b="0" i="0" dirty="0">
              <a:solidFill>
                <a:srgbClr val="333333"/>
              </a:solidFill>
              <a:effectLst/>
            </a:endParaRPr>
          </a:p>
          <a:p>
            <a:r>
              <a:rPr lang="zh-CN" altLang="en-US" b="1" i="0" dirty="0">
                <a:solidFill>
                  <a:srgbClr val="333333"/>
                </a:solidFill>
                <a:effectLst/>
              </a:rPr>
              <a:t>运算规则：</a:t>
            </a:r>
            <a:endParaRPr lang="en-US" altLang="zh-CN" b="1" i="0" dirty="0">
              <a:solidFill>
                <a:srgbClr val="333333"/>
              </a:solidFill>
              <a:effectLst/>
            </a:endParaRPr>
          </a:p>
          <a:p>
            <a:r>
              <a:rPr lang="en-US" altLang="zh-CN" b="1" dirty="0">
                <a:solidFill>
                  <a:srgbClr val="333333"/>
                </a:solidFill>
              </a:rPr>
              <a:t>	0&amp;0=0  0&amp;1=0  1&amp;0=0  1&amp;1=1</a:t>
            </a:r>
          </a:p>
          <a:p>
            <a:pPr algn="l" latinLnBrk="1"/>
            <a:r>
              <a:rPr lang="zh-CN" altLang="en-US" b="1" i="0" dirty="0">
                <a:solidFill>
                  <a:srgbClr val="333333"/>
                </a:solidFill>
                <a:effectLst/>
              </a:rPr>
              <a:t>总结：</a:t>
            </a:r>
            <a:r>
              <a:rPr lang="zh-CN" altLang="en-US" b="0" i="0" dirty="0">
                <a:solidFill>
                  <a:srgbClr val="333333"/>
                </a:solidFill>
                <a:effectLst/>
              </a:rPr>
              <a:t>两位同时为</a:t>
            </a:r>
            <a:r>
              <a:rPr lang="en-US" altLang="zh-CN" b="0" i="0" dirty="0">
                <a:solidFill>
                  <a:srgbClr val="333333"/>
                </a:solidFill>
                <a:effectLst/>
              </a:rPr>
              <a:t>1</a:t>
            </a:r>
            <a:r>
              <a:rPr lang="zh-CN" altLang="en-US" b="0" i="0" dirty="0">
                <a:solidFill>
                  <a:srgbClr val="333333"/>
                </a:solidFill>
                <a:effectLst/>
              </a:rPr>
              <a:t>，结果才为</a:t>
            </a:r>
            <a:r>
              <a:rPr lang="en-US" altLang="zh-CN" b="0" i="0" dirty="0">
                <a:solidFill>
                  <a:srgbClr val="333333"/>
                </a:solidFill>
                <a:effectLst/>
              </a:rPr>
              <a:t>1</a:t>
            </a:r>
            <a:r>
              <a:rPr lang="zh-CN" altLang="en-US" b="0" i="0" dirty="0">
                <a:solidFill>
                  <a:srgbClr val="333333"/>
                </a:solidFill>
                <a:effectLst/>
              </a:rPr>
              <a:t>，否则结果为</a:t>
            </a:r>
            <a:r>
              <a:rPr lang="en-US" altLang="zh-CN" b="0" i="0" dirty="0">
                <a:solidFill>
                  <a:srgbClr val="333333"/>
                </a:solidFill>
                <a:effectLst/>
              </a:rPr>
              <a:t>0</a:t>
            </a:r>
            <a:r>
              <a:rPr lang="zh-CN" altLang="en-US" b="0" i="0" dirty="0">
                <a:solidFill>
                  <a:srgbClr val="333333"/>
                </a:solidFill>
                <a:effectLst/>
              </a:rPr>
              <a:t>。</a:t>
            </a:r>
          </a:p>
          <a:p>
            <a:pPr algn="l" latinLnBrk="1"/>
            <a:r>
              <a:rPr lang="zh-CN" altLang="en-US" b="1" i="0" dirty="0">
                <a:solidFill>
                  <a:srgbClr val="333333"/>
                </a:solidFill>
                <a:effectLst/>
              </a:rPr>
              <a:t>例如：</a:t>
            </a:r>
            <a:r>
              <a:rPr lang="en-US" altLang="zh-CN" b="0" i="0" dirty="0">
                <a:solidFill>
                  <a:srgbClr val="333333"/>
                </a:solidFill>
                <a:effectLst/>
              </a:rPr>
              <a:t>3&amp;5 </a:t>
            </a:r>
            <a:r>
              <a:rPr lang="zh-CN" altLang="en-US" b="0" i="0" dirty="0">
                <a:solidFill>
                  <a:srgbClr val="333333"/>
                </a:solidFill>
                <a:effectLst/>
              </a:rPr>
              <a:t>即 </a:t>
            </a:r>
            <a:r>
              <a:rPr lang="en-US" altLang="zh-CN" b="0" i="0" dirty="0">
                <a:solidFill>
                  <a:srgbClr val="333333"/>
                </a:solidFill>
                <a:effectLst/>
              </a:rPr>
              <a:t>0000 0011&amp; 0000 0101 = 0000 0001</a:t>
            </a:r>
            <a:r>
              <a:rPr lang="zh-CN" altLang="en-US" b="0" i="0" dirty="0">
                <a:solidFill>
                  <a:srgbClr val="333333"/>
                </a:solidFill>
                <a:effectLst/>
              </a:rPr>
              <a:t>，因此 </a:t>
            </a:r>
            <a:r>
              <a:rPr lang="en-US" altLang="zh-CN" b="0" i="0" dirty="0">
                <a:solidFill>
                  <a:srgbClr val="333333"/>
                </a:solidFill>
                <a:effectLst/>
              </a:rPr>
              <a:t>3&amp;5 </a:t>
            </a:r>
            <a:r>
              <a:rPr lang="zh-CN" altLang="en-US" b="0" i="0" dirty="0">
                <a:solidFill>
                  <a:srgbClr val="333333"/>
                </a:solidFill>
                <a:effectLst/>
              </a:rPr>
              <a:t>的值得</a:t>
            </a:r>
            <a:r>
              <a:rPr lang="en-US" altLang="zh-CN" b="0" i="0" dirty="0">
                <a:solidFill>
                  <a:srgbClr val="333333"/>
                </a:solidFill>
                <a:effectLst/>
              </a:rPr>
              <a:t>1</a:t>
            </a:r>
            <a:r>
              <a:rPr lang="zh-CN" altLang="en-US" b="0" i="0" dirty="0">
                <a:solidFill>
                  <a:srgbClr val="333333"/>
                </a:solidFill>
                <a:effectLst/>
              </a:rPr>
              <a:t>。</a:t>
            </a:r>
          </a:p>
          <a:p>
            <a:pPr algn="l" latinLnBrk="1"/>
            <a:r>
              <a:rPr lang="zh-CN" altLang="en-US" b="1" i="0" dirty="0">
                <a:solidFill>
                  <a:srgbClr val="333333"/>
                </a:solidFill>
                <a:effectLst/>
              </a:rPr>
              <a:t>注意：</a:t>
            </a:r>
            <a:r>
              <a:rPr lang="zh-CN" altLang="en-US" b="0" i="0" dirty="0">
                <a:solidFill>
                  <a:srgbClr val="333333"/>
                </a:solidFill>
                <a:effectLst/>
              </a:rPr>
              <a:t>负数按补码形式参加按位与运算。</a:t>
            </a:r>
            <a:endParaRPr lang="en-US" altLang="zh-CN" b="0" i="0" dirty="0">
              <a:solidFill>
                <a:srgbClr val="333333"/>
              </a:solidFill>
              <a:effectLst/>
            </a:endParaRPr>
          </a:p>
          <a:p>
            <a:pPr algn="l" latinLnBrk="1"/>
            <a:r>
              <a:rPr lang="zh-CN" altLang="en-US" b="1" i="0" dirty="0">
                <a:solidFill>
                  <a:srgbClr val="333333"/>
                </a:solidFill>
                <a:effectLst/>
              </a:rPr>
              <a:t>与运算的用途：</a:t>
            </a:r>
            <a:endParaRPr lang="zh-CN" altLang="en-US" b="0" i="0" dirty="0">
              <a:solidFill>
                <a:srgbClr val="333333"/>
              </a:solidFill>
              <a:effectLst/>
            </a:endParaRPr>
          </a:p>
          <a:p>
            <a:pPr lvl="1" latinLnBrk="1"/>
            <a:r>
              <a:rPr lang="en-US" altLang="zh-CN" b="0" i="0" dirty="0">
                <a:solidFill>
                  <a:srgbClr val="333333"/>
                </a:solidFill>
                <a:effectLst/>
              </a:rPr>
              <a:t>1</a:t>
            </a:r>
            <a:r>
              <a:rPr lang="zh-CN" altLang="en-US" b="0" i="0" dirty="0">
                <a:solidFill>
                  <a:srgbClr val="333333"/>
                </a:solidFill>
                <a:effectLst/>
              </a:rPr>
              <a:t>）清零</a:t>
            </a:r>
          </a:p>
          <a:p>
            <a:pPr lvl="1" latinLnBrk="1"/>
            <a:r>
              <a:rPr lang="zh-CN" altLang="en-US" b="0" i="0" dirty="0">
                <a:solidFill>
                  <a:srgbClr val="333333"/>
                </a:solidFill>
                <a:effectLst/>
              </a:rPr>
              <a:t>    如果想将一个单元清零，即使其全部二进制位为</a:t>
            </a:r>
            <a:r>
              <a:rPr lang="en-US" altLang="zh-CN" b="0" i="0" dirty="0">
                <a:solidFill>
                  <a:srgbClr val="333333"/>
                </a:solidFill>
                <a:effectLst/>
              </a:rPr>
              <a:t>0</a:t>
            </a:r>
            <a:r>
              <a:rPr lang="zh-CN" altLang="en-US" b="0" i="0" dirty="0">
                <a:solidFill>
                  <a:srgbClr val="333333"/>
                </a:solidFill>
                <a:effectLst/>
              </a:rPr>
              <a:t>，只要与一个各位都为零的数值相与，结果为零。</a:t>
            </a:r>
          </a:p>
          <a:p>
            <a:pPr lvl="1" latinLnBrk="1"/>
            <a:r>
              <a:rPr lang="en-US" altLang="zh-CN" b="0" i="0" dirty="0">
                <a:solidFill>
                  <a:srgbClr val="333333"/>
                </a:solidFill>
                <a:effectLst/>
              </a:rPr>
              <a:t>2</a:t>
            </a:r>
            <a:r>
              <a:rPr lang="zh-CN" altLang="en-US" b="0" i="0" dirty="0">
                <a:solidFill>
                  <a:srgbClr val="333333"/>
                </a:solidFill>
                <a:effectLst/>
              </a:rPr>
              <a:t>）取一个数的指定位</a:t>
            </a:r>
          </a:p>
          <a:p>
            <a:pPr lvl="1" latinLnBrk="1"/>
            <a:r>
              <a:rPr lang="zh-CN" altLang="en-US" b="0" i="0" dirty="0">
                <a:solidFill>
                  <a:srgbClr val="333333"/>
                </a:solidFill>
                <a:effectLst/>
              </a:rPr>
              <a:t>    比如取数 </a:t>
            </a:r>
            <a:r>
              <a:rPr lang="en-US" altLang="zh-CN" b="0" i="0" dirty="0">
                <a:solidFill>
                  <a:srgbClr val="333333"/>
                </a:solidFill>
                <a:effectLst/>
              </a:rPr>
              <a:t>X=1010 1110 </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位，只需要另找一个数</a:t>
            </a:r>
            <a:r>
              <a:rPr lang="en-US" altLang="zh-CN" b="0" i="0" dirty="0">
                <a:solidFill>
                  <a:srgbClr val="333333"/>
                </a:solidFill>
                <a:effectLst/>
              </a:rPr>
              <a:t>Y</a:t>
            </a:r>
            <a:r>
              <a:rPr lang="zh-CN" altLang="en-US" b="0" i="0" dirty="0">
                <a:solidFill>
                  <a:srgbClr val="333333"/>
                </a:solidFill>
                <a:effectLst/>
              </a:rPr>
              <a:t>，令</a:t>
            </a:r>
            <a:r>
              <a:rPr lang="en-US" altLang="zh-CN" b="0" i="0" dirty="0">
                <a:solidFill>
                  <a:srgbClr val="333333"/>
                </a:solidFill>
                <a:effectLst/>
              </a:rPr>
              <a:t>Y</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位为</a:t>
            </a:r>
            <a:r>
              <a:rPr lang="en-US" altLang="zh-CN" b="0" i="0" dirty="0">
                <a:solidFill>
                  <a:srgbClr val="333333"/>
                </a:solidFill>
                <a:effectLst/>
              </a:rPr>
              <a:t>1</a:t>
            </a:r>
            <a:r>
              <a:rPr lang="zh-CN" altLang="en-US" b="0" i="0" dirty="0">
                <a:solidFill>
                  <a:srgbClr val="333333"/>
                </a:solidFill>
                <a:effectLst/>
              </a:rPr>
              <a:t>，其余位为</a:t>
            </a:r>
            <a:r>
              <a:rPr lang="en-US" altLang="zh-CN" b="0" i="0" dirty="0">
                <a:solidFill>
                  <a:srgbClr val="333333"/>
                </a:solidFill>
                <a:effectLst/>
              </a:rPr>
              <a:t>0</a:t>
            </a:r>
            <a:r>
              <a:rPr lang="zh-CN" altLang="en-US" b="0" i="0" dirty="0">
                <a:solidFill>
                  <a:srgbClr val="333333"/>
                </a:solidFill>
                <a:effectLst/>
              </a:rPr>
              <a:t>，即</a:t>
            </a:r>
            <a:r>
              <a:rPr lang="en-US" altLang="zh-CN" b="0" i="0" dirty="0">
                <a:solidFill>
                  <a:srgbClr val="333333"/>
                </a:solidFill>
                <a:effectLst/>
              </a:rPr>
              <a:t>Y=0000 1111</a:t>
            </a:r>
            <a:r>
              <a:rPr lang="zh-CN" altLang="en-US" b="0" i="0" dirty="0">
                <a:solidFill>
                  <a:srgbClr val="333333"/>
                </a:solidFill>
                <a:effectLst/>
              </a:rPr>
              <a:t>，然后将</a:t>
            </a:r>
            <a:r>
              <a:rPr lang="en-US" altLang="zh-CN" b="0" i="0" dirty="0">
                <a:solidFill>
                  <a:srgbClr val="333333"/>
                </a:solidFill>
                <a:effectLst/>
              </a:rPr>
              <a:t>X</a:t>
            </a:r>
            <a:r>
              <a:rPr lang="zh-CN" altLang="en-US" b="0" i="0" dirty="0">
                <a:solidFill>
                  <a:srgbClr val="333333"/>
                </a:solidFill>
                <a:effectLst/>
              </a:rPr>
              <a:t>与</a:t>
            </a:r>
            <a:r>
              <a:rPr lang="en-US" altLang="zh-CN" b="0" i="0" dirty="0">
                <a:solidFill>
                  <a:srgbClr val="333333"/>
                </a:solidFill>
                <a:effectLst/>
              </a:rPr>
              <a:t>Y</a:t>
            </a:r>
            <a:r>
              <a:rPr lang="zh-CN" altLang="en-US" b="0" i="0" dirty="0">
                <a:solidFill>
                  <a:srgbClr val="333333"/>
                </a:solidFill>
                <a:effectLst/>
              </a:rPr>
              <a:t>进行按位与运算（</a:t>
            </a:r>
            <a:r>
              <a:rPr lang="en-US" altLang="zh-CN" b="0" i="0" dirty="0">
                <a:solidFill>
                  <a:srgbClr val="333333"/>
                </a:solidFill>
                <a:effectLst/>
              </a:rPr>
              <a:t>X&amp;Y=0000 1110</a:t>
            </a:r>
            <a:r>
              <a:rPr lang="zh-CN" altLang="en-US" b="0" i="0" dirty="0">
                <a:solidFill>
                  <a:srgbClr val="333333"/>
                </a:solidFill>
                <a:effectLst/>
              </a:rPr>
              <a:t>）即可得到</a:t>
            </a:r>
            <a:r>
              <a:rPr lang="en-US" altLang="zh-CN" b="0" i="0" dirty="0">
                <a:solidFill>
                  <a:srgbClr val="333333"/>
                </a:solidFill>
                <a:effectLst/>
              </a:rPr>
              <a:t>X</a:t>
            </a:r>
            <a:r>
              <a:rPr lang="zh-CN" altLang="en-US" b="0" i="0" dirty="0">
                <a:solidFill>
                  <a:srgbClr val="333333"/>
                </a:solidFill>
                <a:effectLst/>
              </a:rPr>
              <a:t>的指定位。</a:t>
            </a:r>
          </a:p>
          <a:p>
            <a:pPr lvl="1" latinLnBrk="1"/>
            <a:r>
              <a:rPr lang="en-US" altLang="zh-CN" b="0" i="0" dirty="0">
                <a:solidFill>
                  <a:srgbClr val="333333"/>
                </a:solidFill>
                <a:effectLst/>
              </a:rPr>
              <a:t>3</a:t>
            </a:r>
            <a:r>
              <a:rPr lang="zh-CN" altLang="en-US" b="0" i="0" dirty="0">
                <a:solidFill>
                  <a:srgbClr val="333333"/>
                </a:solidFill>
                <a:effectLst/>
              </a:rPr>
              <a:t>）判断奇偶</a:t>
            </a:r>
          </a:p>
          <a:p>
            <a:pPr lvl="1" latinLnBrk="1"/>
            <a:r>
              <a:rPr lang="zh-CN" altLang="en-US" b="0" i="0" dirty="0">
                <a:solidFill>
                  <a:srgbClr val="333333"/>
                </a:solidFill>
                <a:effectLst/>
              </a:rPr>
              <a:t>    只要根据最未位是</a:t>
            </a:r>
            <a:r>
              <a:rPr lang="en-US" altLang="zh-CN" b="0" i="0" dirty="0">
                <a:solidFill>
                  <a:srgbClr val="333333"/>
                </a:solidFill>
                <a:effectLst/>
              </a:rPr>
              <a:t>0</a:t>
            </a:r>
            <a:r>
              <a:rPr lang="zh-CN" altLang="en-US" b="0" i="0" dirty="0">
                <a:solidFill>
                  <a:srgbClr val="333333"/>
                </a:solidFill>
                <a:effectLst/>
              </a:rPr>
              <a:t>还是</a:t>
            </a:r>
            <a:r>
              <a:rPr lang="en-US" altLang="zh-CN" b="0" i="0" dirty="0">
                <a:solidFill>
                  <a:srgbClr val="333333"/>
                </a:solidFill>
                <a:effectLst/>
              </a:rPr>
              <a:t>1</a:t>
            </a:r>
            <a:r>
              <a:rPr lang="zh-CN" altLang="en-US" b="0" i="0" dirty="0">
                <a:solidFill>
                  <a:srgbClr val="333333"/>
                </a:solidFill>
                <a:effectLst/>
              </a:rPr>
              <a:t>来决定，为</a:t>
            </a:r>
            <a:r>
              <a:rPr lang="en-US" altLang="zh-CN" b="0" i="0" dirty="0">
                <a:solidFill>
                  <a:srgbClr val="333333"/>
                </a:solidFill>
                <a:effectLst/>
              </a:rPr>
              <a:t>0</a:t>
            </a:r>
            <a:r>
              <a:rPr lang="zh-CN" altLang="en-US" b="0" i="0" dirty="0">
                <a:solidFill>
                  <a:srgbClr val="333333"/>
                </a:solidFill>
                <a:effectLst/>
              </a:rPr>
              <a:t>就是偶数，为</a:t>
            </a:r>
            <a:r>
              <a:rPr lang="en-US" altLang="zh-CN" b="0" i="0" dirty="0">
                <a:solidFill>
                  <a:srgbClr val="333333"/>
                </a:solidFill>
                <a:effectLst/>
              </a:rPr>
              <a:t>1</a:t>
            </a:r>
            <a:r>
              <a:rPr lang="zh-CN" altLang="en-US" b="0" i="0" dirty="0">
                <a:solidFill>
                  <a:srgbClr val="333333"/>
                </a:solidFill>
                <a:effectLst/>
              </a:rPr>
              <a:t>就是奇数。因此可以用</a:t>
            </a:r>
            <a:r>
              <a:rPr lang="en-US" altLang="zh-CN" b="0" i="0" dirty="0">
                <a:solidFill>
                  <a:srgbClr val="333333"/>
                </a:solidFill>
                <a:effectLst/>
              </a:rPr>
              <a:t>if ((a &amp; 1) == 0)</a:t>
            </a:r>
            <a:r>
              <a:rPr lang="zh-CN" altLang="en-US" b="0" i="0" dirty="0">
                <a:solidFill>
                  <a:srgbClr val="333333"/>
                </a:solidFill>
                <a:effectLst/>
              </a:rPr>
              <a:t>代替</a:t>
            </a:r>
            <a:r>
              <a:rPr lang="en-US" altLang="zh-CN" b="0" i="0" dirty="0">
                <a:solidFill>
                  <a:srgbClr val="333333"/>
                </a:solidFill>
                <a:effectLst/>
              </a:rPr>
              <a:t>if (a % 2 == 0)</a:t>
            </a:r>
            <a:r>
              <a:rPr lang="zh-CN" altLang="en-US" b="0" i="0" dirty="0">
                <a:solidFill>
                  <a:srgbClr val="333333"/>
                </a:solidFill>
                <a:effectLst/>
              </a:rPr>
              <a:t>来判断</a:t>
            </a:r>
            <a:r>
              <a:rPr lang="en-US" altLang="zh-CN" b="0" i="0" dirty="0">
                <a:solidFill>
                  <a:srgbClr val="333333"/>
                </a:solidFill>
                <a:effectLst/>
              </a:rPr>
              <a:t>a</a:t>
            </a:r>
            <a:r>
              <a:rPr lang="zh-CN" altLang="en-US" b="0" i="0" dirty="0">
                <a:solidFill>
                  <a:srgbClr val="333333"/>
                </a:solidFill>
                <a:effectLst/>
              </a:rPr>
              <a:t>是不是偶数。</a:t>
            </a:r>
          </a:p>
          <a:p>
            <a:pPr algn="l" latinLnBrk="1"/>
            <a:endParaRPr lang="zh-CN" altLang="en-US" b="0" i="0" dirty="0">
              <a:solidFill>
                <a:srgbClr val="333333"/>
              </a:solidFill>
              <a:effectLst/>
            </a:endParaRPr>
          </a:p>
          <a:p>
            <a:endParaRPr lang="zh-CN" altLang="en-US" b="1" dirty="0"/>
          </a:p>
        </p:txBody>
      </p:sp>
    </p:spTree>
    <p:extLst>
      <p:ext uri="{BB962C8B-B14F-4D97-AF65-F5344CB8AC3E}">
        <p14:creationId xmlns:p14="http://schemas.microsoft.com/office/powerpoint/2010/main" val="2513470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2867891"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按位或运算符（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p>
        </p:txBody>
      </p:sp>
      <p:sp>
        <p:nvSpPr>
          <p:cNvPr id="3" name="文本框 2">
            <a:extLst>
              <a:ext uri="{FF2B5EF4-FFF2-40B4-BE49-F238E27FC236}">
                <a16:creationId xmlns:a16="http://schemas.microsoft.com/office/drawing/2014/main" id="{BA2C4862-EFB5-011D-6E0C-B4AAD44B1720}"/>
              </a:ext>
            </a:extLst>
          </p:cNvPr>
          <p:cNvSpPr txBox="1"/>
          <p:nvPr/>
        </p:nvSpPr>
        <p:spPr>
          <a:xfrm>
            <a:off x="1325878" y="2425358"/>
            <a:ext cx="10710951" cy="3139321"/>
          </a:xfrm>
          <a:prstGeom prst="rect">
            <a:avLst/>
          </a:prstGeom>
          <a:noFill/>
        </p:spPr>
        <p:txBody>
          <a:bodyPr wrap="square" rtlCol="0">
            <a:spAutoFit/>
          </a:bodyPr>
          <a:lstStyle/>
          <a:p>
            <a:r>
              <a:rPr lang="zh-CN" altLang="en-US" b="1" i="0" dirty="0">
                <a:solidFill>
                  <a:srgbClr val="333333"/>
                </a:solidFill>
                <a:effectLst/>
              </a:rPr>
              <a:t>定义：</a:t>
            </a:r>
            <a:r>
              <a:rPr lang="zh-CN" altLang="en-US" b="0" i="0" dirty="0">
                <a:solidFill>
                  <a:srgbClr val="333333"/>
                </a:solidFill>
                <a:effectLst/>
              </a:rPr>
              <a:t>参加运算的两个对象，按二进制位进行</a:t>
            </a:r>
            <a:r>
              <a:rPr lang="en-US" altLang="zh-CN" b="0" i="0" dirty="0">
                <a:solidFill>
                  <a:srgbClr val="333333"/>
                </a:solidFill>
                <a:effectLst/>
              </a:rPr>
              <a:t>"</a:t>
            </a:r>
            <a:r>
              <a:rPr lang="zh-CN" altLang="en-US" b="0" i="0" dirty="0">
                <a:solidFill>
                  <a:srgbClr val="333333"/>
                </a:solidFill>
                <a:effectLst/>
              </a:rPr>
              <a:t>或</a:t>
            </a:r>
            <a:r>
              <a:rPr lang="en-US" altLang="zh-CN" b="0" i="0" dirty="0">
                <a:solidFill>
                  <a:srgbClr val="333333"/>
                </a:solidFill>
                <a:effectLst/>
              </a:rPr>
              <a:t>"</a:t>
            </a:r>
            <a:r>
              <a:rPr lang="zh-CN" altLang="en-US" b="0" i="0" dirty="0">
                <a:solidFill>
                  <a:srgbClr val="333333"/>
                </a:solidFill>
                <a:effectLst/>
              </a:rPr>
              <a:t>运算。</a:t>
            </a:r>
            <a:endParaRPr lang="en-US" altLang="zh-CN" b="0" i="0" dirty="0">
              <a:solidFill>
                <a:srgbClr val="333333"/>
              </a:solidFill>
              <a:effectLst/>
            </a:endParaRPr>
          </a:p>
          <a:p>
            <a:r>
              <a:rPr lang="zh-CN" altLang="en-US" b="1" i="0" dirty="0">
                <a:solidFill>
                  <a:srgbClr val="333333"/>
                </a:solidFill>
                <a:effectLst/>
              </a:rPr>
              <a:t>运算规则：</a:t>
            </a:r>
            <a:endParaRPr lang="en-US" altLang="zh-CN" b="1" i="0" dirty="0">
              <a:solidFill>
                <a:srgbClr val="333333"/>
              </a:solidFill>
              <a:effectLst/>
            </a:endParaRPr>
          </a:p>
          <a:p>
            <a:r>
              <a:rPr lang="en-US" altLang="zh-CN" b="1" dirty="0">
                <a:solidFill>
                  <a:srgbClr val="333333"/>
                </a:solidFill>
              </a:rPr>
              <a:t>	0|0=0  0|1=1  1|0=1  1|1=1</a:t>
            </a:r>
          </a:p>
          <a:p>
            <a:pPr algn="l" latinLnBrk="1"/>
            <a:r>
              <a:rPr lang="zh-CN" altLang="en-US" b="1" i="0" dirty="0">
                <a:solidFill>
                  <a:srgbClr val="333333"/>
                </a:solidFill>
                <a:effectLst/>
              </a:rPr>
              <a:t>总结：</a:t>
            </a:r>
            <a:r>
              <a:rPr lang="zh-CN" altLang="en-US" b="0" i="0" dirty="0">
                <a:solidFill>
                  <a:srgbClr val="333333"/>
                </a:solidFill>
                <a:effectLst/>
              </a:rPr>
              <a:t>参加运算的两个对象只要有一个为</a:t>
            </a:r>
            <a:r>
              <a:rPr lang="en-US" altLang="zh-CN" b="0" i="0" dirty="0">
                <a:solidFill>
                  <a:srgbClr val="333333"/>
                </a:solidFill>
                <a:effectLst/>
              </a:rPr>
              <a:t>1</a:t>
            </a:r>
            <a:r>
              <a:rPr lang="zh-CN" altLang="en-US" b="0" i="0" dirty="0">
                <a:solidFill>
                  <a:srgbClr val="333333"/>
                </a:solidFill>
                <a:effectLst/>
              </a:rPr>
              <a:t>，其值为</a:t>
            </a:r>
            <a:r>
              <a:rPr lang="en-US" altLang="zh-CN" b="0" i="0" dirty="0">
                <a:solidFill>
                  <a:srgbClr val="333333"/>
                </a:solidFill>
                <a:effectLst/>
              </a:rPr>
              <a:t>1</a:t>
            </a:r>
            <a:r>
              <a:rPr lang="zh-CN" altLang="en-US" b="0" i="0" dirty="0">
                <a:solidFill>
                  <a:srgbClr val="333333"/>
                </a:solidFill>
                <a:effectLst/>
              </a:rPr>
              <a:t>。</a:t>
            </a:r>
          </a:p>
          <a:p>
            <a:pPr algn="l" latinLnBrk="1"/>
            <a:r>
              <a:rPr lang="zh-CN" altLang="en-US" b="1" i="0" dirty="0">
                <a:solidFill>
                  <a:srgbClr val="333333"/>
                </a:solidFill>
                <a:effectLst/>
              </a:rPr>
              <a:t>例如：</a:t>
            </a:r>
            <a:r>
              <a:rPr lang="en-US" altLang="zh-CN" b="0" i="0" dirty="0">
                <a:solidFill>
                  <a:srgbClr val="333333"/>
                </a:solidFill>
                <a:effectLst/>
              </a:rPr>
              <a:t>3|5</a:t>
            </a:r>
            <a:r>
              <a:rPr lang="zh-CN" altLang="en-US" b="0" i="0" dirty="0">
                <a:solidFill>
                  <a:srgbClr val="333333"/>
                </a:solidFill>
                <a:effectLst/>
              </a:rPr>
              <a:t>即 </a:t>
            </a:r>
            <a:r>
              <a:rPr lang="en-US" altLang="zh-CN" b="0" i="0" dirty="0">
                <a:solidFill>
                  <a:srgbClr val="333333"/>
                </a:solidFill>
                <a:effectLst/>
              </a:rPr>
              <a:t>0000 0011| 0000 0101 = 0000 0111</a:t>
            </a:r>
            <a:r>
              <a:rPr lang="zh-CN" altLang="en-US" b="0" i="0" dirty="0">
                <a:solidFill>
                  <a:srgbClr val="333333"/>
                </a:solidFill>
                <a:effectLst/>
              </a:rPr>
              <a:t>，因此，</a:t>
            </a:r>
            <a:r>
              <a:rPr lang="en-US" altLang="zh-CN" b="0" i="0" dirty="0">
                <a:solidFill>
                  <a:srgbClr val="333333"/>
                </a:solidFill>
                <a:effectLst/>
              </a:rPr>
              <a:t>3|5</a:t>
            </a:r>
            <a:r>
              <a:rPr lang="zh-CN" altLang="en-US" b="0" i="0" dirty="0">
                <a:solidFill>
                  <a:srgbClr val="333333"/>
                </a:solidFill>
                <a:effectLst/>
              </a:rPr>
              <a:t>的值得</a:t>
            </a:r>
            <a:r>
              <a:rPr lang="en-US" altLang="zh-CN" b="0" i="0" dirty="0">
                <a:solidFill>
                  <a:srgbClr val="333333"/>
                </a:solidFill>
                <a:effectLst/>
              </a:rPr>
              <a:t>7</a:t>
            </a:r>
            <a:r>
              <a:rPr lang="zh-CN" altLang="en-US" b="0" i="0" dirty="0">
                <a:solidFill>
                  <a:srgbClr val="333333"/>
                </a:solidFill>
                <a:effectLst/>
              </a:rPr>
              <a:t>。　</a:t>
            </a:r>
          </a:p>
          <a:p>
            <a:pPr algn="l" latinLnBrk="1"/>
            <a:r>
              <a:rPr lang="zh-CN" altLang="en-US" b="1" i="0" dirty="0">
                <a:solidFill>
                  <a:srgbClr val="333333"/>
                </a:solidFill>
                <a:effectLst/>
              </a:rPr>
              <a:t>注意：</a:t>
            </a:r>
            <a:r>
              <a:rPr lang="zh-CN" altLang="en-US" b="0" i="0" dirty="0">
                <a:solidFill>
                  <a:srgbClr val="333333"/>
                </a:solidFill>
                <a:effectLst/>
              </a:rPr>
              <a:t>负数按补码形式参加按位或运算。</a:t>
            </a:r>
          </a:p>
          <a:p>
            <a:pPr algn="l" latinLnBrk="1"/>
            <a:r>
              <a:rPr lang="zh-CN" altLang="en-US" b="1" i="0" dirty="0">
                <a:solidFill>
                  <a:srgbClr val="333333"/>
                </a:solidFill>
                <a:effectLst/>
              </a:rPr>
              <a:t>或运算的用途：</a:t>
            </a:r>
          </a:p>
          <a:p>
            <a:pPr lvl="1" latinLnBrk="1"/>
            <a:r>
              <a:rPr lang="en-US" altLang="zh-CN" b="0" i="0" dirty="0">
                <a:solidFill>
                  <a:srgbClr val="333333"/>
                </a:solidFill>
                <a:effectLst/>
              </a:rPr>
              <a:t>1</a:t>
            </a:r>
            <a:r>
              <a:rPr lang="zh-CN" altLang="en-US" b="0" i="0" dirty="0">
                <a:solidFill>
                  <a:srgbClr val="333333"/>
                </a:solidFill>
                <a:effectLst/>
              </a:rPr>
              <a:t>）常用来对一个数据的某些位设置为</a:t>
            </a:r>
            <a:r>
              <a:rPr lang="en-US" altLang="zh-CN" b="0" i="0" dirty="0">
                <a:solidFill>
                  <a:srgbClr val="333333"/>
                </a:solidFill>
                <a:effectLst/>
              </a:rPr>
              <a:t>1</a:t>
            </a:r>
          </a:p>
          <a:p>
            <a:pPr lvl="1" latinLnBrk="1"/>
            <a:r>
              <a:rPr lang="zh-CN" altLang="en-US" b="0" i="0" dirty="0">
                <a:solidFill>
                  <a:srgbClr val="333333"/>
                </a:solidFill>
                <a:effectLst/>
              </a:rPr>
              <a:t>    比如将数 </a:t>
            </a:r>
            <a:r>
              <a:rPr lang="en-US" altLang="zh-CN" b="0" i="0" dirty="0">
                <a:solidFill>
                  <a:srgbClr val="333333"/>
                </a:solidFill>
                <a:effectLst/>
              </a:rPr>
              <a:t>X=1010 1110 </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位设置为</a:t>
            </a:r>
            <a:r>
              <a:rPr lang="en-US" altLang="zh-CN" b="0" i="0" dirty="0">
                <a:solidFill>
                  <a:srgbClr val="333333"/>
                </a:solidFill>
                <a:effectLst/>
              </a:rPr>
              <a:t>1</a:t>
            </a:r>
            <a:r>
              <a:rPr lang="zh-CN" altLang="en-US" b="0" i="0" dirty="0">
                <a:solidFill>
                  <a:srgbClr val="333333"/>
                </a:solidFill>
                <a:effectLst/>
              </a:rPr>
              <a:t>，只需要另找一个数</a:t>
            </a:r>
            <a:r>
              <a:rPr lang="en-US" altLang="zh-CN" b="0" i="0" dirty="0">
                <a:solidFill>
                  <a:srgbClr val="333333"/>
                </a:solidFill>
                <a:effectLst/>
              </a:rPr>
              <a:t>Y</a:t>
            </a:r>
            <a:r>
              <a:rPr lang="zh-CN" altLang="en-US" b="0" i="0" dirty="0">
                <a:solidFill>
                  <a:srgbClr val="333333"/>
                </a:solidFill>
                <a:effectLst/>
              </a:rPr>
              <a:t>，令</a:t>
            </a:r>
            <a:r>
              <a:rPr lang="en-US" altLang="zh-CN" b="0" i="0" dirty="0">
                <a:solidFill>
                  <a:srgbClr val="333333"/>
                </a:solidFill>
                <a:effectLst/>
              </a:rPr>
              <a:t>Y</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位为</a:t>
            </a:r>
            <a:r>
              <a:rPr lang="en-US" altLang="zh-CN" b="0" i="0" dirty="0">
                <a:solidFill>
                  <a:srgbClr val="333333"/>
                </a:solidFill>
                <a:effectLst/>
              </a:rPr>
              <a:t>1</a:t>
            </a:r>
            <a:r>
              <a:rPr lang="zh-CN" altLang="en-US" b="0" i="0" dirty="0">
                <a:solidFill>
                  <a:srgbClr val="333333"/>
                </a:solidFill>
                <a:effectLst/>
              </a:rPr>
              <a:t>，其余位为</a:t>
            </a:r>
            <a:r>
              <a:rPr lang="en-US" altLang="zh-CN" b="0" i="0" dirty="0">
                <a:solidFill>
                  <a:srgbClr val="333333"/>
                </a:solidFill>
                <a:effectLst/>
              </a:rPr>
              <a:t>0</a:t>
            </a:r>
            <a:r>
              <a:rPr lang="zh-CN" altLang="en-US" b="0" i="0" dirty="0">
                <a:solidFill>
                  <a:srgbClr val="333333"/>
                </a:solidFill>
                <a:effectLst/>
              </a:rPr>
              <a:t>，即</a:t>
            </a:r>
            <a:r>
              <a:rPr lang="en-US" altLang="zh-CN" b="0" i="0" dirty="0">
                <a:solidFill>
                  <a:srgbClr val="333333"/>
                </a:solidFill>
                <a:effectLst/>
              </a:rPr>
              <a:t>Y=0000 1111</a:t>
            </a:r>
            <a:r>
              <a:rPr lang="zh-CN" altLang="en-US" b="0" i="0" dirty="0">
                <a:solidFill>
                  <a:srgbClr val="333333"/>
                </a:solidFill>
                <a:effectLst/>
              </a:rPr>
              <a:t>，然后将</a:t>
            </a:r>
            <a:r>
              <a:rPr lang="en-US" altLang="zh-CN" b="0" i="0" dirty="0">
                <a:solidFill>
                  <a:srgbClr val="333333"/>
                </a:solidFill>
                <a:effectLst/>
              </a:rPr>
              <a:t>X</a:t>
            </a:r>
            <a:r>
              <a:rPr lang="zh-CN" altLang="en-US" b="0" i="0" dirty="0">
                <a:solidFill>
                  <a:srgbClr val="333333"/>
                </a:solidFill>
                <a:effectLst/>
              </a:rPr>
              <a:t>与</a:t>
            </a:r>
            <a:r>
              <a:rPr lang="en-US" altLang="zh-CN" b="0" i="0" dirty="0">
                <a:solidFill>
                  <a:srgbClr val="333333"/>
                </a:solidFill>
                <a:effectLst/>
              </a:rPr>
              <a:t>Y</a:t>
            </a:r>
            <a:r>
              <a:rPr lang="zh-CN" altLang="en-US" b="0" i="0" dirty="0">
                <a:solidFill>
                  <a:srgbClr val="333333"/>
                </a:solidFill>
                <a:effectLst/>
              </a:rPr>
              <a:t>进行按位或运算（</a:t>
            </a:r>
            <a:r>
              <a:rPr lang="en-US" altLang="zh-CN" b="0" i="0" dirty="0">
                <a:solidFill>
                  <a:srgbClr val="333333"/>
                </a:solidFill>
                <a:effectLst/>
              </a:rPr>
              <a:t>X|Y=1010 1111</a:t>
            </a:r>
            <a:r>
              <a:rPr lang="zh-CN" altLang="en-US" b="0" i="0" dirty="0">
                <a:solidFill>
                  <a:srgbClr val="333333"/>
                </a:solidFill>
                <a:effectLst/>
              </a:rPr>
              <a:t>）即可得到。</a:t>
            </a:r>
          </a:p>
          <a:p>
            <a:endParaRPr lang="zh-CN" altLang="en-US" b="1" dirty="0"/>
          </a:p>
        </p:txBody>
      </p:sp>
    </p:spTree>
    <p:extLst>
      <p:ext uri="{BB962C8B-B14F-4D97-AF65-F5344CB8AC3E}">
        <p14:creationId xmlns:p14="http://schemas.microsoft.com/office/powerpoint/2010/main" val="907329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2867891"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异或运算符（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a:t>
            </a:r>
          </a:p>
        </p:txBody>
      </p:sp>
      <p:sp>
        <p:nvSpPr>
          <p:cNvPr id="3" name="文本框 2">
            <a:extLst>
              <a:ext uri="{FF2B5EF4-FFF2-40B4-BE49-F238E27FC236}">
                <a16:creationId xmlns:a16="http://schemas.microsoft.com/office/drawing/2014/main" id="{BA2C4862-EFB5-011D-6E0C-B4AAD44B1720}"/>
              </a:ext>
            </a:extLst>
          </p:cNvPr>
          <p:cNvSpPr txBox="1"/>
          <p:nvPr/>
        </p:nvSpPr>
        <p:spPr>
          <a:xfrm>
            <a:off x="1325878" y="2425358"/>
            <a:ext cx="10710951" cy="4801314"/>
          </a:xfrm>
          <a:prstGeom prst="rect">
            <a:avLst/>
          </a:prstGeom>
          <a:noFill/>
        </p:spPr>
        <p:txBody>
          <a:bodyPr wrap="square" rtlCol="0">
            <a:spAutoFit/>
          </a:bodyPr>
          <a:lstStyle/>
          <a:p>
            <a:r>
              <a:rPr lang="zh-CN" altLang="en-US" b="1" i="0" dirty="0">
                <a:solidFill>
                  <a:srgbClr val="333333"/>
                </a:solidFill>
                <a:effectLst/>
              </a:rPr>
              <a:t>定义：</a:t>
            </a:r>
            <a:r>
              <a:rPr lang="zh-CN" altLang="en-US" b="0" i="0" dirty="0">
                <a:solidFill>
                  <a:srgbClr val="333333"/>
                </a:solidFill>
                <a:effectLst/>
              </a:rPr>
              <a:t>定义：参加运算的两个数据，按二进制位进行</a:t>
            </a:r>
            <a:r>
              <a:rPr lang="en-US" altLang="zh-CN" b="0" i="0" dirty="0">
                <a:solidFill>
                  <a:srgbClr val="333333"/>
                </a:solidFill>
                <a:effectLst/>
              </a:rPr>
              <a:t>"</a:t>
            </a:r>
            <a:r>
              <a:rPr lang="zh-CN" altLang="en-US" b="0" i="0" dirty="0">
                <a:solidFill>
                  <a:srgbClr val="333333"/>
                </a:solidFill>
                <a:effectLst/>
              </a:rPr>
              <a:t>异或</a:t>
            </a:r>
            <a:r>
              <a:rPr lang="en-US" altLang="zh-CN" b="0" i="0" dirty="0">
                <a:solidFill>
                  <a:srgbClr val="333333"/>
                </a:solidFill>
                <a:effectLst/>
              </a:rPr>
              <a:t>"</a:t>
            </a:r>
            <a:r>
              <a:rPr lang="zh-CN" altLang="en-US" b="0" i="0" dirty="0">
                <a:solidFill>
                  <a:srgbClr val="333333"/>
                </a:solidFill>
                <a:effectLst/>
              </a:rPr>
              <a:t>运算。</a:t>
            </a:r>
            <a:endParaRPr lang="en-US" altLang="zh-CN" b="0" i="0" dirty="0">
              <a:solidFill>
                <a:srgbClr val="333333"/>
              </a:solidFill>
              <a:effectLst/>
            </a:endParaRPr>
          </a:p>
          <a:p>
            <a:r>
              <a:rPr lang="zh-CN" altLang="en-US" b="1" i="0" dirty="0">
                <a:solidFill>
                  <a:srgbClr val="333333"/>
                </a:solidFill>
                <a:effectLst/>
              </a:rPr>
              <a:t>运算规则：</a:t>
            </a:r>
            <a:endParaRPr lang="en-US" altLang="zh-CN" b="1" i="0" dirty="0">
              <a:solidFill>
                <a:srgbClr val="333333"/>
              </a:solidFill>
              <a:effectLst/>
            </a:endParaRPr>
          </a:p>
          <a:p>
            <a:r>
              <a:rPr lang="en-US" altLang="zh-CN" b="1" dirty="0">
                <a:solidFill>
                  <a:srgbClr val="333333"/>
                </a:solidFill>
              </a:rPr>
              <a:t>	0^0=0  0^1=1  1^0=1  1^1=0</a:t>
            </a:r>
          </a:p>
          <a:p>
            <a:pPr algn="l" latinLnBrk="1"/>
            <a:r>
              <a:rPr lang="zh-CN" altLang="en-US" b="1" i="0" dirty="0">
                <a:solidFill>
                  <a:srgbClr val="333333"/>
                </a:solidFill>
                <a:effectLst/>
              </a:rPr>
              <a:t>总结：</a:t>
            </a:r>
            <a:r>
              <a:rPr lang="zh-CN" altLang="en-US" b="0" i="0" dirty="0">
                <a:solidFill>
                  <a:srgbClr val="333333"/>
                </a:solidFill>
                <a:effectLst/>
              </a:rPr>
              <a:t>参加运算的两个对象，如果两个相应位相同为</a:t>
            </a:r>
            <a:r>
              <a:rPr lang="en-US" altLang="zh-CN" b="0" i="0" dirty="0">
                <a:solidFill>
                  <a:srgbClr val="333333"/>
                </a:solidFill>
                <a:effectLst/>
              </a:rPr>
              <a:t>0</a:t>
            </a:r>
            <a:r>
              <a:rPr lang="zh-CN" altLang="en-US" b="0" i="0" dirty="0">
                <a:solidFill>
                  <a:srgbClr val="333333"/>
                </a:solidFill>
                <a:effectLst/>
              </a:rPr>
              <a:t>，相异为</a:t>
            </a:r>
            <a:r>
              <a:rPr lang="en-US" altLang="zh-CN" b="0" i="0" dirty="0">
                <a:solidFill>
                  <a:srgbClr val="333333"/>
                </a:solidFill>
                <a:effectLst/>
              </a:rPr>
              <a:t>1</a:t>
            </a:r>
            <a:r>
              <a:rPr lang="zh-CN" altLang="en-US" b="0" i="0" dirty="0">
                <a:solidFill>
                  <a:srgbClr val="333333"/>
                </a:solidFill>
                <a:effectLst/>
              </a:rPr>
              <a:t>。</a:t>
            </a:r>
          </a:p>
          <a:p>
            <a:pPr algn="l" latinLnBrk="1"/>
            <a:r>
              <a:rPr lang="zh-CN" altLang="en-US" b="1" i="0" dirty="0">
                <a:solidFill>
                  <a:srgbClr val="333333"/>
                </a:solidFill>
                <a:effectLst/>
              </a:rPr>
              <a:t>异或的几条性质</a:t>
            </a:r>
            <a:r>
              <a:rPr lang="en-US" altLang="zh-CN" b="1" i="0" dirty="0">
                <a:solidFill>
                  <a:srgbClr val="333333"/>
                </a:solidFill>
                <a:effectLst/>
              </a:rPr>
              <a:t>:</a:t>
            </a:r>
          </a:p>
          <a:p>
            <a:pPr lvl="1" latinLnBrk="1">
              <a:buFont typeface="Arial" panose="020B0604020202020204" pitchFamily="34" charset="0"/>
              <a:buChar char="•"/>
            </a:pPr>
            <a:r>
              <a:rPr lang="en-US" altLang="zh-CN" b="0" i="0" dirty="0">
                <a:solidFill>
                  <a:srgbClr val="333333"/>
                </a:solidFill>
                <a:effectLst/>
              </a:rPr>
              <a:t>1</a:t>
            </a:r>
            <a:r>
              <a:rPr lang="zh-CN" altLang="en-US" b="0" i="0" dirty="0">
                <a:solidFill>
                  <a:srgbClr val="333333"/>
                </a:solidFill>
                <a:effectLst/>
              </a:rPr>
              <a:t>、交换律</a:t>
            </a:r>
          </a:p>
          <a:p>
            <a:pPr lvl="1" latinLnBrk="1">
              <a:buFont typeface="Arial" panose="020B0604020202020204" pitchFamily="34" charset="0"/>
              <a:buChar char="•"/>
            </a:pPr>
            <a:r>
              <a:rPr lang="en-US" altLang="zh-CN" b="0" i="0" dirty="0">
                <a:solidFill>
                  <a:srgbClr val="333333"/>
                </a:solidFill>
                <a:effectLst/>
              </a:rPr>
              <a:t>2</a:t>
            </a:r>
            <a:r>
              <a:rPr lang="zh-CN" altLang="en-US" b="0" i="0" dirty="0">
                <a:solidFill>
                  <a:srgbClr val="333333"/>
                </a:solidFill>
                <a:effectLst/>
              </a:rPr>
              <a:t>、结合律 </a:t>
            </a:r>
            <a:r>
              <a:rPr lang="en-US" altLang="zh-CN" b="0" i="0" dirty="0">
                <a:solidFill>
                  <a:srgbClr val="333333"/>
                </a:solidFill>
                <a:effectLst/>
              </a:rPr>
              <a:t>(</a:t>
            </a:r>
            <a:r>
              <a:rPr lang="en-US" altLang="zh-CN" b="0" i="0" dirty="0" err="1">
                <a:solidFill>
                  <a:srgbClr val="333333"/>
                </a:solidFill>
                <a:effectLst/>
              </a:rPr>
              <a:t>a^b</a:t>
            </a:r>
            <a:r>
              <a:rPr lang="en-US" altLang="zh-CN" b="0" i="0" dirty="0">
                <a:solidFill>
                  <a:srgbClr val="333333"/>
                </a:solidFill>
                <a:effectLst/>
              </a:rPr>
              <a:t>)^c == a^(</a:t>
            </a:r>
            <a:r>
              <a:rPr lang="en-US" altLang="zh-CN" b="0" i="0" dirty="0" err="1">
                <a:solidFill>
                  <a:srgbClr val="333333"/>
                </a:solidFill>
                <a:effectLst/>
              </a:rPr>
              <a:t>b^c</a:t>
            </a:r>
            <a:r>
              <a:rPr lang="en-US" altLang="zh-CN" b="0" i="0" dirty="0">
                <a:solidFill>
                  <a:srgbClr val="333333"/>
                </a:solidFill>
                <a:effectLst/>
              </a:rPr>
              <a:t>)</a:t>
            </a:r>
          </a:p>
          <a:p>
            <a:pPr lvl="1" latinLnBrk="1">
              <a:buFont typeface="Arial" panose="020B0604020202020204" pitchFamily="34" charset="0"/>
              <a:buChar char="•"/>
            </a:pPr>
            <a:r>
              <a:rPr lang="en-US" altLang="zh-CN" b="0" i="0" dirty="0">
                <a:solidFill>
                  <a:srgbClr val="333333"/>
                </a:solidFill>
                <a:effectLst/>
              </a:rPr>
              <a:t>3</a:t>
            </a:r>
            <a:r>
              <a:rPr lang="zh-CN" altLang="en-US" b="0" i="0" dirty="0">
                <a:solidFill>
                  <a:srgbClr val="333333"/>
                </a:solidFill>
                <a:effectLst/>
              </a:rPr>
              <a:t>、对于任何数</a:t>
            </a:r>
            <a:r>
              <a:rPr lang="en-US" altLang="zh-CN" b="0" i="0" dirty="0">
                <a:solidFill>
                  <a:srgbClr val="333333"/>
                </a:solidFill>
                <a:effectLst/>
              </a:rPr>
              <a:t>x</a:t>
            </a:r>
            <a:r>
              <a:rPr lang="zh-CN" altLang="en-US" b="0" i="0" dirty="0">
                <a:solidFill>
                  <a:srgbClr val="333333"/>
                </a:solidFill>
                <a:effectLst/>
              </a:rPr>
              <a:t>，都有 </a:t>
            </a:r>
            <a:r>
              <a:rPr lang="en-US" altLang="zh-CN" b="0" i="0" dirty="0" err="1">
                <a:solidFill>
                  <a:srgbClr val="333333"/>
                </a:solidFill>
                <a:effectLst/>
              </a:rPr>
              <a:t>x^x</a:t>
            </a:r>
            <a:r>
              <a:rPr lang="en-US" altLang="zh-CN" b="0" i="0" dirty="0">
                <a:solidFill>
                  <a:srgbClr val="333333"/>
                </a:solidFill>
                <a:effectLst/>
              </a:rPr>
              <a:t>=0</a:t>
            </a:r>
            <a:r>
              <a:rPr lang="zh-CN" altLang="en-US" b="0" i="0" dirty="0">
                <a:solidFill>
                  <a:srgbClr val="333333"/>
                </a:solidFill>
                <a:effectLst/>
              </a:rPr>
              <a:t>，</a:t>
            </a:r>
            <a:r>
              <a:rPr lang="en-US" altLang="zh-CN" b="0" i="0" dirty="0">
                <a:solidFill>
                  <a:srgbClr val="333333"/>
                </a:solidFill>
                <a:effectLst/>
              </a:rPr>
              <a:t>x^0=x</a:t>
            </a:r>
          </a:p>
          <a:p>
            <a:pPr lvl="1" latinLnBrk="1">
              <a:buFont typeface="Arial" panose="020B0604020202020204" pitchFamily="34" charset="0"/>
              <a:buChar char="•"/>
            </a:pPr>
            <a:r>
              <a:rPr lang="en-US" altLang="zh-CN" b="0" i="0" dirty="0">
                <a:solidFill>
                  <a:srgbClr val="333333"/>
                </a:solidFill>
                <a:effectLst/>
              </a:rPr>
              <a:t>4</a:t>
            </a:r>
            <a:r>
              <a:rPr lang="zh-CN" altLang="en-US" b="0" i="0" dirty="0">
                <a:solidFill>
                  <a:srgbClr val="333333"/>
                </a:solidFill>
                <a:effectLst/>
              </a:rPr>
              <a:t>、自反性</a:t>
            </a:r>
            <a:r>
              <a:rPr lang="en-US" altLang="zh-CN" b="0" i="0" dirty="0">
                <a:solidFill>
                  <a:srgbClr val="333333"/>
                </a:solidFill>
                <a:effectLst/>
              </a:rPr>
              <a:t>: </a:t>
            </a:r>
            <a:r>
              <a:rPr lang="en-US" altLang="zh-CN" b="0" i="0" dirty="0" err="1">
                <a:solidFill>
                  <a:srgbClr val="333333"/>
                </a:solidFill>
                <a:effectLst/>
              </a:rPr>
              <a:t>a^b^b</a:t>
            </a:r>
            <a:r>
              <a:rPr lang="en-US" altLang="zh-CN" b="0" i="0" dirty="0">
                <a:solidFill>
                  <a:srgbClr val="333333"/>
                </a:solidFill>
                <a:effectLst/>
              </a:rPr>
              <a:t>=a^0=a;</a:t>
            </a:r>
          </a:p>
          <a:p>
            <a:pPr algn="l" latinLnBrk="1"/>
            <a:r>
              <a:rPr lang="zh-CN" altLang="en-US" b="1" i="0" dirty="0">
                <a:solidFill>
                  <a:srgbClr val="333333"/>
                </a:solidFill>
                <a:effectLst/>
              </a:rPr>
              <a:t>异或运算的用途：</a:t>
            </a:r>
          </a:p>
          <a:p>
            <a:pPr lvl="1" latinLnBrk="1"/>
            <a:r>
              <a:rPr lang="en-US" altLang="zh-CN" b="0" i="0" dirty="0">
                <a:solidFill>
                  <a:srgbClr val="333333"/>
                </a:solidFill>
                <a:effectLst/>
              </a:rPr>
              <a:t>1</a:t>
            </a:r>
            <a:r>
              <a:rPr lang="zh-CN" altLang="en-US" b="0" i="0" dirty="0">
                <a:solidFill>
                  <a:srgbClr val="333333"/>
                </a:solidFill>
                <a:effectLst/>
              </a:rPr>
              <a:t>）翻转指定位</a:t>
            </a:r>
          </a:p>
          <a:p>
            <a:pPr lvl="1" latinLnBrk="1"/>
            <a:r>
              <a:rPr lang="zh-CN" altLang="en-US" b="0" i="0" dirty="0">
                <a:solidFill>
                  <a:srgbClr val="333333"/>
                </a:solidFill>
                <a:effectLst/>
              </a:rPr>
              <a:t>    比如将数 </a:t>
            </a:r>
            <a:r>
              <a:rPr lang="en-US" altLang="zh-CN" b="0" i="0" dirty="0">
                <a:solidFill>
                  <a:srgbClr val="333333"/>
                </a:solidFill>
                <a:effectLst/>
              </a:rPr>
              <a:t>X=1010 1110 </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位进行翻转，只需要另找一个数</a:t>
            </a:r>
            <a:r>
              <a:rPr lang="en-US" altLang="zh-CN" b="0" i="0" dirty="0">
                <a:solidFill>
                  <a:srgbClr val="333333"/>
                </a:solidFill>
                <a:effectLst/>
              </a:rPr>
              <a:t>Y</a:t>
            </a:r>
            <a:r>
              <a:rPr lang="zh-CN" altLang="en-US" b="0" i="0" dirty="0">
                <a:solidFill>
                  <a:srgbClr val="333333"/>
                </a:solidFill>
                <a:effectLst/>
              </a:rPr>
              <a:t>，令</a:t>
            </a:r>
            <a:r>
              <a:rPr lang="en-US" altLang="zh-CN" b="0" i="0" dirty="0">
                <a:solidFill>
                  <a:srgbClr val="333333"/>
                </a:solidFill>
                <a:effectLst/>
              </a:rPr>
              <a:t>Y</a:t>
            </a:r>
            <a:r>
              <a:rPr lang="zh-CN" altLang="en-US" b="0" i="0" dirty="0">
                <a:solidFill>
                  <a:srgbClr val="333333"/>
                </a:solidFill>
                <a:effectLst/>
              </a:rPr>
              <a:t>的低</a:t>
            </a:r>
            <a:r>
              <a:rPr lang="en-US" altLang="zh-CN" b="0" i="0" dirty="0">
                <a:solidFill>
                  <a:srgbClr val="333333"/>
                </a:solidFill>
                <a:effectLst/>
              </a:rPr>
              <a:t>4</a:t>
            </a:r>
            <a:r>
              <a:rPr lang="zh-CN" altLang="en-US" b="0" i="0" dirty="0">
                <a:solidFill>
                  <a:srgbClr val="333333"/>
                </a:solidFill>
                <a:effectLst/>
              </a:rPr>
              <a:t>位为</a:t>
            </a:r>
            <a:r>
              <a:rPr lang="en-US" altLang="zh-CN" b="0" i="0" dirty="0">
                <a:solidFill>
                  <a:srgbClr val="333333"/>
                </a:solidFill>
                <a:effectLst/>
              </a:rPr>
              <a:t>1</a:t>
            </a:r>
            <a:r>
              <a:rPr lang="zh-CN" altLang="en-US" b="0" i="0" dirty="0">
                <a:solidFill>
                  <a:srgbClr val="333333"/>
                </a:solidFill>
                <a:effectLst/>
              </a:rPr>
              <a:t>，其余位为</a:t>
            </a:r>
            <a:r>
              <a:rPr lang="en-US" altLang="zh-CN" b="0" i="0" dirty="0">
                <a:solidFill>
                  <a:srgbClr val="333333"/>
                </a:solidFill>
                <a:effectLst/>
              </a:rPr>
              <a:t>0</a:t>
            </a:r>
            <a:r>
              <a:rPr lang="zh-CN" altLang="en-US" b="0" i="0" dirty="0">
                <a:solidFill>
                  <a:srgbClr val="333333"/>
                </a:solidFill>
                <a:effectLst/>
              </a:rPr>
              <a:t>，即</a:t>
            </a:r>
            <a:r>
              <a:rPr lang="en-US" altLang="zh-CN" b="0" i="0" dirty="0">
                <a:solidFill>
                  <a:srgbClr val="333333"/>
                </a:solidFill>
                <a:effectLst/>
              </a:rPr>
              <a:t>Y=0000 1111</a:t>
            </a:r>
            <a:r>
              <a:rPr lang="zh-CN" altLang="en-US" b="0" i="0" dirty="0">
                <a:solidFill>
                  <a:srgbClr val="333333"/>
                </a:solidFill>
                <a:effectLst/>
              </a:rPr>
              <a:t>，然后将</a:t>
            </a:r>
            <a:r>
              <a:rPr lang="en-US" altLang="zh-CN" b="0" i="0" dirty="0">
                <a:solidFill>
                  <a:srgbClr val="333333"/>
                </a:solidFill>
                <a:effectLst/>
              </a:rPr>
              <a:t>X</a:t>
            </a:r>
            <a:r>
              <a:rPr lang="zh-CN" altLang="en-US" b="0" i="0" dirty="0">
                <a:solidFill>
                  <a:srgbClr val="333333"/>
                </a:solidFill>
                <a:effectLst/>
              </a:rPr>
              <a:t>与</a:t>
            </a:r>
            <a:r>
              <a:rPr lang="en-US" altLang="zh-CN" b="0" i="0" dirty="0">
                <a:solidFill>
                  <a:srgbClr val="333333"/>
                </a:solidFill>
                <a:effectLst/>
              </a:rPr>
              <a:t>Y</a:t>
            </a:r>
            <a:r>
              <a:rPr lang="zh-CN" altLang="en-US" b="0" i="0" dirty="0">
                <a:solidFill>
                  <a:srgbClr val="333333"/>
                </a:solidFill>
                <a:effectLst/>
              </a:rPr>
              <a:t>进行异或运算（</a:t>
            </a:r>
            <a:r>
              <a:rPr lang="en-US" altLang="zh-CN" b="0" i="0" dirty="0">
                <a:solidFill>
                  <a:srgbClr val="333333"/>
                </a:solidFill>
                <a:effectLst/>
              </a:rPr>
              <a:t>X^Y=1010 0001</a:t>
            </a:r>
            <a:r>
              <a:rPr lang="zh-CN" altLang="en-US" b="0" i="0" dirty="0">
                <a:solidFill>
                  <a:srgbClr val="333333"/>
                </a:solidFill>
                <a:effectLst/>
              </a:rPr>
              <a:t>）即可得到。</a:t>
            </a:r>
          </a:p>
          <a:p>
            <a:pPr lvl="1" latinLnBrk="1"/>
            <a:r>
              <a:rPr lang="en-US" altLang="zh-CN" b="0" i="0" dirty="0">
                <a:solidFill>
                  <a:srgbClr val="333333"/>
                </a:solidFill>
                <a:effectLst/>
              </a:rPr>
              <a:t>2</a:t>
            </a:r>
            <a:r>
              <a:rPr lang="zh-CN" altLang="en-US" b="0" i="0" dirty="0">
                <a:solidFill>
                  <a:srgbClr val="333333"/>
                </a:solidFill>
                <a:effectLst/>
              </a:rPr>
              <a:t>）与</a:t>
            </a:r>
            <a:r>
              <a:rPr lang="en-US" altLang="zh-CN" b="0" i="0" dirty="0">
                <a:solidFill>
                  <a:srgbClr val="333333"/>
                </a:solidFill>
                <a:effectLst/>
              </a:rPr>
              <a:t>0</a:t>
            </a:r>
            <a:r>
              <a:rPr lang="zh-CN" altLang="en-US" b="0" i="0" dirty="0">
                <a:solidFill>
                  <a:srgbClr val="333333"/>
                </a:solidFill>
                <a:effectLst/>
              </a:rPr>
              <a:t>相异或值不变</a:t>
            </a:r>
          </a:p>
          <a:p>
            <a:pPr lvl="1" latinLnBrk="1"/>
            <a:r>
              <a:rPr lang="zh-CN" altLang="en-US" b="0" i="0" dirty="0">
                <a:solidFill>
                  <a:srgbClr val="333333"/>
                </a:solidFill>
                <a:effectLst/>
              </a:rPr>
              <a:t>    例如：</a:t>
            </a:r>
            <a:r>
              <a:rPr lang="en-US" altLang="zh-CN" b="0" i="0" dirty="0">
                <a:solidFill>
                  <a:srgbClr val="333333"/>
                </a:solidFill>
                <a:effectLst/>
              </a:rPr>
              <a:t>1010 1110 ^ 0000 0000 = 1010 1110</a:t>
            </a:r>
          </a:p>
          <a:p>
            <a:pPr lvl="1" latinLnBrk="1"/>
            <a:r>
              <a:rPr lang="en-US" altLang="zh-CN" b="0" i="0" dirty="0">
                <a:solidFill>
                  <a:srgbClr val="333333"/>
                </a:solidFill>
                <a:effectLst/>
              </a:rPr>
              <a:t>3</a:t>
            </a:r>
            <a:r>
              <a:rPr lang="zh-CN" altLang="en-US" b="0" i="0" dirty="0">
                <a:solidFill>
                  <a:srgbClr val="333333"/>
                </a:solidFill>
                <a:effectLst/>
              </a:rPr>
              <a:t>）交换两个数</a:t>
            </a:r>
          </a:p>
          <a:p>
            <a:endParaRPr lang="zh-CN" altLang="en-US" b="1" dirty="0"/>
          </a:p>
        </p:txBody>
      </p:sp>
    </p:spTree>
    <p:extLst>
      <p:ext uri="{BB962C8B-B14F-4D97-AF65-F5344CB8AC3E}">
        <p14:creationId xmlns:p14="http://schemas.microsoft.com/office/powerpoint/2010/main" val="2613188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2867891"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取反运算符 </a:t>
            </a:r>
            <a:r>
              <a:rPr lang="en-US" altLang="zh-CN" dirty="0">
                <a:latin typeface="宋体" panose="02010600030101010101" pitchFamily="2" charset="-122"/>
                <a:ea typeface="宋体" panose="02010600030101010101" pitchFamily="2" charset="-122"/>
              </a:rPr>
              <a:t>(~)</a:t>
            </a:r>
            <a:endParaRPr lang="zh-CN" altLang="en-US"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BA2C4862-EFB5-011D-6E0C-B4AAD44B1720}"/>
              </a:ext>
            </a:extLst>
          </p:cNvPr>
          <p:cNvSpPr txBox="1"/>
          <p:nvPr/>
        </p:nvSpPr>
        <p:spPr>
          <a:xfrm>
            <a:off x="1325878" y="2425358"/>
            <a:ext cx="10710951" cy="2585323"/>
          </a:xfrm>
          <a:prstGeom prst="rect">
            <a:avLst/>
          </a:prstGeom>
          <a:noFill/>
        </p:spPr>
        <p:txBody>
          <a:bodyPr wrap="square" rtlCol="0">
            <a:spAutoFit/>
          </a:bodyPr>
          <a:lstStyle/>
          <a:p>
            <a:r>
              <a:rPr lang="zh-CN" altLang="en-US" b="1" i="0" dirty="0">
                <a:solidFill>
                  <a:srgbClr val="333333"/>
                </a:solidFill>
                <a:effectLst/>
              </a:rPr>
              <a:t>定义：</a:t>
            </a:r>
            <a:r>
              <a:rPr lang="zh-CN" altLang="en-US" b="0" i="0" dirty="0">
                <a:solidFill>
                  <a:srgbClr val="333333"/>
                </a:solidFill>
                <a:effectLst/>
              </a:rPr>
              <a:t>参加运算的一个数据，按二进制进行</a:t>
            </a:r>
            <a:r>
              <a:rPr lang="en-US" altLang="zh-CN" b="0" i="0" dirty="0">
                <a:solidFill>
                  <a:srgbClr val="333333"/>
                </a:solidFill>
                <a:effectLst/>
              </a:rPr>
              <a:t>"</a:t>
            </a:r>
            <a:r>
              <a:rPr lang="zh-CN" altLang="en-US" b="0" i="0" dirty="0">
                <a:solidFill>
                  <a:srgbClr val="333333"/>
                </a:solidFill>
                <a:effectLst/>
              </a:rPr>
              <a:t>取反</a:t>
            </a:r>
            <a:r>
              <a:rPr lang="en-US" altLang="zh-CN" b="0" i="0" dirty="0">
                <a:solidFill>
                  <a:srgbClr val="333333"/>
                </a:solidFill>
                <a:effectLst/>
              </a:rPr>
              <a:t>"</a:t>
            </a:r>
            <a:r>
              <a:rPr lang="zh-CN" altLang="en-US" b="0" i="0" dirty="0">
                <a:solidFill>
                  <a:srgbClr val="333333"/>
                </a:solidFill>
                <a:effectLst/>
              </a:rPr>
              <a:t>运算。</a:t>
            </a:r>
            <a:endParaRPr lang="en-US" altLang="zh-CN" b="0" i="0" dirty="0">
              <a:solidFill>
                <a:srgbClr val="333333"/>
              </a:solidFill>
              <a:effectLst/>
            </a:endParaRPr>
          </a:p>
          <a:p>
            <a:r>
              <a:rPr lang="zh-CN" altLang="en-US" b="1" i="0" dirty="0">
                <a:solidFill>
                  <a:srgbClr val="333333"/>
                </a:solidFill>
                <a:effectLst/>
              </a:rPr>
              <a:t>运算规则：</a:t>
            </a:r>
            <a:endParaRPr lang="en-US" altLang="zh-CN" b="1" dirty="0">
              <a:solidFill>
                <a:srgbClr val="333333"/>
              </a:solidFill>
            </a:endParaRPr>
          </a:p>
          <a:p>
            <a:pPr lvl="1"/>
            <a:r>
              <a:rPr lang="en-US" altLang="zh-CN" b="1" dirty="0">
                <a:solidFill>
                  <a:srgbClr val="333333"/>
                </a:solidFill>
              </a:rPr>
              <a:t>~1=0</a:t>
            </a:r>
          </a:p>
          <a:p>
            <a:pPr lvl="1" latinLnBrk="1"/>
            <a:r>
              <a:rPr lang="en-US" altLang="zh-CN" b="1" dirty="0">
                <a:solidFill>
                  <a:srgbClr val="333333"/>
                </a:solidFill>
              </a:rPr>
              <a:t>~0=1</a:t>
            </a:r>
          </a:p>
          <a:p>
            <a:pPr algn="l" latinLnBrk="1"/>
            <a:r>
              <a:rPr lang="zh-CN" altLang="en-US" b="1" i="0" dirty="0">
                <a:solidFill>
                  <a:srgbClr val="333333"/>
                </a:solidFill>
                <a:effectLst/>
              </a:rPr>
              <a:t>总结：</a:t>
            </a:r>
            <a:r>
              <a:rPr lang="zh-CN" altLang="en-US" b="0" i="0" dirty="0">
                <a:solidFill>
                  <a:srgbClr val="333333"/>
                </a:solidFill>
                <a:effectLst/>
              </a:rPr>
              <a:t>对一个二进制数按位取反，即将</a:t>
            </a:r>
            <a:r>
              <a:rPr lang="en-US" altLang="zh-CN" b="0" i="0" dirty="0">
                <a:solidFill>
                  <a:srgbClr val="333333"/>
                </a:solidFill>
                <a:effectLst/>
              </a:rPr>
              <a:t>0</a:t>
            </a:r>
            <a:r>
              <a:rPr lang="zh-CN" altLang="en-US" b="0" i="0" dirty="0">
                <a:solidFill>
                  <a:srgbClr val="333333"/>
                </a:solidFill>
                <a:effectLst/>
              </a:rPr>
              <a:t>变</a:t>
            </a:r>
            <a:r>
              <a:rPr lang="en-US" altLang="zh-CN" b="0" i="0" dirty="0">
                <a:solidFill>
                  <a:srgbClr val="333333"/>
                </a:solidFill>
                <a:effectLst/>
              </a:rPr>
              <a:t>1</a:t>
            </a:r>
            <a:r>
              <a:rPr lang="zh-CN" altLang="en-US" b="0" i="0" dirty="0">
                <a:solidFill>
                  <a:srgbClr val="333333"/>
                </a:solidFill>
                <a:effectLst/>
              </a:rPr>
              <a:t>，</a:t>
            </a:r>
            <a:r>
              <a:rPr lang="en-US" altLang="zh-CN" b="0" i="0" dirty="0">
                <a:solidFill>
                  <a:srgbClr val="333333"/>
                </a:solidFill>
                <a:effectLst/>
              </a:rPr>
              <a:t>1</a:t>
            </a:r>
            <a:r>
              <a:rPr lang="zh-CN" altLang="en-US" b="0" i="0" dirty="0">
                <a:solidFill>
                  <a:srgbClr val="333333"/>
                </a:solidFill>
                <a:effectLst/>
              </a:rPr>
              <a:t>变</a:t>
            </a:r>
            <a:r>
              <a:rPr lang="en-US" altLang="zh-CN" b="0" i="0" dirty="0">
                <a:solidFill>
                  <a:srgbClr val="333333"/>
                </a:solidFill>
                <a:effectLst/>
              </a:rPr>
              <a:t>0</a:t>
            </a:r>
            <a:r>
              <a:rPr lang="zh-CN" altLang="en-US" b="0" i="0" dirty="0">
                <a:solidFill>
                  <a:srgbClr val="333333"/>
                </a:solidFill>
                <a:effectLst/>
              </a:rPr>
              <a:t>。</a:t>
            </a:r>
          </a:p>
          <a:p>
            <a:pPr algn="l" latinLnBrk="1"/>
            <a:r>
              <a:rPr lang="zh-CN" altLang="en-US" b="1" i="0" dirty="0">
                <a:solidFill>
                  <a:srgbClr val="333333"/>
                </a:solidFill>
                <a:effectLst/>
              </a:rPr>
              <a:t>异或运算的用途：</a:t>
            </a:r>
          </a:p>
          <a:p>
            <a:pPr algn="l" latinLnBrk="1"/>
            <a:r>
              <a:rPr lang="en-US" altLang="zh-CN" b="0" i="0" dirty="0">
                <a:solidFill>
                  <a:srgbClr val="333333"/>
                </a:solidFill>
                <a:effectLst/>
              </a:rPr>
              <a:t>1</a:t>
            </a:r>
            <a:r>
              <a:rPr lang="zh-CN" altLang="en-US" b="0" i="0" dirty="0">
                <a:solidFill>
                  <a:srgbClr val="333333"/>
                </a:solidFill>
                <a:effectLst/>
              </a:rPr>
              <a:t>）使一个数的最低位为零</a:t>
            </a:r>
          </a:p>
          <a:p>
            <a:pPr algn="l" latinLnBrk="1"/>
            <a:r>
              <a:rPr lang="zh-CN" altLang="en-US" b="0" i="0" dirty="0">
                <a:solidFill>
                  <a:srgbClr val="333333"/>
                </a:solidFill>
                <a:effectLst/>
              </a:rPr>
              <a:t>    使</a:t>
            </a:r>
            <a:r>
              <a:rPr lang="en-US" altLang="zh-CN" b="0" i="0" dirty="0">
                <a:solidFill>
                  <a:srgbClr val="333333"/>
                </a:solidFill>
                <a:effectLst/>
              </a:rPr>
              <a:t>a</a:t>
            </a:r>
            <a:r>
              <a:rPr lang="zh-CN" altLang="en-US" b="0" i="0" dirty="0">
                <a:solidFill>
                  <a:srgbClr val="333333"/>
                </a:solidFill>
                <a:effectLst/>
              </a:rPr>
              <a:t>的最低位为</a:t>
            </a:r>
            <a:r>
              <a:rPr lang="en-US" altLang="zh-CN" b="0" i="0" dirty="0">
                <a:solidFill>
                  <a:srgbClr val="333333"/>
                </a:solidFill>
                <a:effectLst/>
              </a:rPr>
              <a:t>0</a:t>
            </a:r>
            <a:r>
              <a:rPr lang="zh-CN" altLang="en-US" b="0" i="0" dirty="0">
                <a:solidFill>
                  <a:srgbClr val="333333"/>
                </a:solidFill>
                <a:effectLst/>
              </a:rPr>
              <a:t>，可以表示为：</a:t>
            </a:r>
            <a:r>
              <a:rPr lang="en-US" altLang="zh-CN" b="0" i="0" dirty="0">
                <a:solidFill>
                  <a:srgbClr val="333333"/>
                </a:solidFill>
                <a:effectLst/>
              </a:rPr>
              <a:t>a &amp; ~1</a:t>
            </a:r>
            <a:r>
              <a:rPr lang="zh-CN" altLang="en-US" b="0" i="0" dirty="0">
                <a:solidFill>
                  <a:srgbClr val="333333"/>
                </a:solidFill>
                <a:effectLst/>
              </a:rPr>
              <a:t>。</a:t>
            </a:r>
            <a:r>
              <a:rPr lang="en-US" altLang="zh-CN" b="0" i="0" dirty="0">
                <a:solidFill>
                  <a:srgbClr val="333333"/>
                </a:solidFill>
                <a:effectLst/>
              </a:rPr>
              <a:t>~1</a:t>
            </a:r>
            <a:r>
              <a:rPr lang="zh-CN" altLang="en-US" b="0" i="0" dirty="0">
                <a:solidFill>
                  <a:srgbClr val="333333"/>
                </a:solidFill>
                <a:effectLst/>
              </a:rPr>
              <a:t>的值为 </a:t>
            </a:r>
            <a:r>
              <a:rPr lang="en-US" altLang="zh-CN" b="0" i="0" dirty="0">
                <a:solidFill>
                  <a:srgbClr val="333333"/>
                </a:solidFill>
                <a:effectLst/>
              </a:rPr>
              <a:t>1111 1111 1111 1110</a:t>
            </a:r>
            <a:r>
              <a:rPr lang="zh-CN" altLang="en-US" b="0" i="0" dirty="0">
                <a:solidFill>
                  <a:srgbClr val="333333"/>
                </a:solidFill>
                <a:effectLst/>
              </a:rPr>
              <a:t>，再按</a:t>
            </a:r>
            <a:r>
              <a:rPr lang="en-US" altLang="zh-CN" b="0" i="0" dirty="0">
                <a:solidFill>
                  <a:srgbClr val="333333"/>
                </a:solidFill>
                <a:effectLst/>
              </a:rPr>
              <a:t>"</a:t>
            </a:r>
            <a:r>
              <a:rPr lang="zh-CN" altLang="en-US" b="0" i="0" dirty="0">
                <a:solidFill>
                  <a:srgbClr val="333333"/>
                </a:solidFill>
                <a:effectLst/>
              </a:rPr>
              <a:t>与</a:t>
            </a:r>
            <a:r>
              <a:rPr lang="en-US" altLang="zh-CN" b="0" i="0" dirty="0">
                <a:solidFill>
                  <a:srgbClr val="333333"/>
                </a:solidFill>
                <a:effectLst/>
              </a:rPr>
              <a:t>"</a:t>
            </a:r>
            <a:r>
              <a:rPr lang="zh-CN" altLang="en-US" b="0" i="0" dirty="0">
                <a:solidFill>
                  <a:srgbClr val="333333"/>
                </a:solidFill>
                <a:effectLst/>
              </a:rPr>
              <a:t>运算，最低位一定为</a:t>
            </a:r>
            <a:r>
              <a:rPr lang="en-US" altLang="zh-CN" b="0" i="0" dirty="0">
                <a:solidFill>
                  <a:srgbClr val="333333"/>
                </a:solidFill>
                <a:effectLst/>
              </a:rPr>
              <a:t>0</a:t>
            </a:r>
            <a:r>
              <a:rPr lang="zh-CN" altLang="en-US" b="0" i="0" dirty="0">
                <a:solidFill>
                  <a:srgbClr val="333333"/>
                </a:solidFill>
                <a:effectLst/>
              </a:rPr>
              <a:t>。因为</a:t>
            </a:r>
            <a:r>
              <a:rPr lang="en-US" altLang="zh-CN" b="0" i="0" dirty="0">
                <a:solidFill>
                  <a:srgbClr val="333333"/>
                </a:solidFill>
                <a:effectLst/>
              </a:rPr>
              <a:t>" ~"</a:t>
            </a:r>
            <a:r>
              <a:rPr lang="zh-CN" altLang="en-US" b="0" i="0" dirty="0">
                <a:solidFill>
                  <a:srgbClr val="333333"/>
                </a:solidFill>
                <a:effectLst/>
              </a:rPr>
              <a:t>运算符的优先级比算术运算符、关系运算符、逻辑运算符和其他运算符都高。</a:t>
            </a:r>
          </a:p>
        </p:txBody>
      </p:sp>
    </p:spTree>
    <p:extLst>
      <p:ext uri="{BB962C8B-B14F-4D97-AF65-F5344CB8AC3E}">
        <p14:creationId xmlns:p14="http://schemas.microsoft.com/office/powerpoint/2010/main" val="3105993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9110750" cy="2031325"/>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左移运算符（</a:t>
            </a:r>
            <a:r>
              <a:rPr lang="en-US" altLang="zh-CN" dirty="0">
                <a:latin typeface="宋体" panose="02010600030101010101" pitchFamily="2" charset="-122"/>
                <a:ea typeface="宋体" panose="02010600030101010101" pitchFamily="2" charset="-122"/>
              </a:rPr>
              <a:t>&lt;&lt;</a:t>
            </a:r>
            <a:r>
              <a:rPr lang="zh-CN" altLang="en-US" dirty="0">
                <a:latin typeface="宋体" panose="02010600030101010101" pitchFamily="2" charset="-122"/>
                <a:ea typeface="宋体" panose="02010600030101010101" pitchFamily="2" charset="-122"/>
              </a:rPr>
              <a:t>）</a:t>
            </a:r>
          </a:p>
          <a:p>
            <a:endParaRPr lang="zh-CN" altLang="en-US" dirty="0">
              <a:latin typeface="宋体" panose="02010600030101010101" pitchFamily="2" charset="-122"/>
              <a:ea typeface="宋体" panose="02010600030101010101" pitchFamily="2" charset="-122"/>
            </a:endParaRPr>
          </a:p>
          <a:p>
            <a:r>
              <a:rPr lang="zh-CN" altLang="en-US" b="1" dirty="0">
                <a:ea typeface="宋体" panose="02010600030101010101" pitchFamily="2" charset="-122"/>
              </a:rPr>
              <a:t>定义：</a:t>
            </a:r>
            <a:r>
              <a:rPr lang="zh-CN" altLang="en-US" dirty="0">
                <a:ea typeface="宋体" panose="02010600030101010101" pitchFamily="2" charset="-122"/>
              </a:rPr>
              <a:t>将一个运算对象的各二进制位全部左移若干位（左边的二进制位丢弃，右边补</a:t>
            </a:r>
            <a:r>
              <a:rPr lang="en-US" altLang="zh-CN" dirty="0">
                <a:ea typeface="宋体" panose="02010600030101010101" pitchFamily="2" charset="-122"/>
              </a:rPr>
              <a:t>0</a:t>
            </a:r>
            <a:r>
              <a:rPr lang="zh-CN" altLang="en-US" dirty="0">
                <a:ea typeface="宋体" panose="02010600030101010101" pitchFamily="2" charset="-122"/>
              </a:rPr>
              <a:t>）。</a:t>
            </a:r>
          </a:p>
          <a:p>
            <a:endParaRPr lang="zh-CN" altLang="en-US" dirty="0">
              <a:ea typeface="宋体" panose="02010600030101010101" pitchFamily="2" charset="-122"/>
            </a:endParaRPr>
          </a:p>
          <a:p>
            <a:r>
              <a:rPr lang="zh-CN" altLang="en-US" dirty="0">
                <a:ea typeface="宋体" panose="02010600030101010101" pitchFamily="2" charset="-122"/>
              </a:rPr>
              <a:t>设 </a:t>
            </a:r>
            <a:r>
              <a:rPr lang="en-US" altLang="zh-CN" dirty="0">
                <a:ea typeface="宋体" panose="02010600030101010101" pitchFamily="2" charset="-122"/>
              </a:rPr>
              <a:t>a=1010 1110</a:t>
            </a:r>
            <a:r>
              <a:rPr lang="zh-CN" altLang="en-US" dirty="0">
                <a:ea typeface="宋体" panose="02010600030101010101" pitchFamily="2" charset="-122"/>
              </a:rPr>
              <a:t>，</a:t>
            </a:r>
            <a:r>
              <a:rPr lang="en-US" altLang="zh-CN" dirty="0">
                <a:ea typeface="宋体" panose="02010600030101010101" pitchFamily="2" charset="-122"/>
              </a:rPr>
              <a:t>a = a&lt;&lt; 2 </a:t>
            </a:r>
            <a:r>
              <a:rPr lang="zh-CN" altLang="en-US" dirty="0">
                <a:ea typeface="宋体" panose="02010600030101010101" pitchFamily="2" charset="-122"/>
              </a:rPr>
              <a:t>将</a:t>
            </a:r>
            <a:r>
              <a:rPr lang="en-US" altLang="zh-CN" dirty="0">
                <a:ea typeface="宋体" panose="02010600030101010101" pitchFamily="2" charset="-122"/>
              </a:rPr>
              <a:t>a</a:t>
            </a:r>
            <a:r>
              <a:rPr lang="zh-CN" altLang="en-US" dirty="0">
                <a:ea typeface="宋体" panose="02010600030101010101" pitchFamily="2" charset="-122"/>
              </a:rPr>
              <a:t>的二进制位左移</a:t>
            </a:r>
            <a:r>
              <a:rPr lang="en-US" altLang="zh-CN" dirty="0">
                <a:ea typeface="宋体" panose="02010600030101010101" pitchFamily="2" charset="-122"/>
              </a:rPr>
              <a:t>2</a:t>
            </a:r>
            <a:r>
              <a:rPr lang="zh-CN" altLang="en-US" dirty="0">
                <a:ea typeface="宋体" panose="02010600030101010101" pitchFamily="2" charset="-122"/>
              </a:rPr>
              <a:t>位、右补</a:t>
            </a:r>
            <a:r>
              <a:rPr lang="en-US" altLang="zh-CN" dirty="0">
                <a:ea typeface="宋体" panose="02010600030101010101" pitchFamily="2" charset="-122"/>
              </a:rPr>
              <a:t>0</a:t>
            </a:r>
            <a:r>
              <a:rPr lang="zh-CN" altLang="en-US" dirty="0">
                <a:ea typeface="宋体" panose="02010600030101010101" pitchFamily="2" charset="-122"/>
              </a:rPr>
              <a:t>，即得</a:t>
            </a:r>
            <a:r>
              <a:rPr lang="en-US" altLang="zh-CN" dirty="0">
                <a:ea typeface="宋体" panose="02010600030101010101" pitchFamily="2" charset="-122"/>
              </a:rPr>
              <a:t>a=1011 1000</a:t>
            </a:r>
            <a:r>
              <a:rPr lang="zh-CN" altLang="en-US" dirty="0">
                <a:ea typeface="宋体" panose="02010600030101010101" pitchFamily="2" charset="-122"/>
              </a:rPr>
              <a:t>。</a:t>
            </a:r>
          </a:p>
          <a:p>
            <a:endParaRPr lang="zh-CN" altLang="en-US" dirty="0">
              <a:ea typeface="宋体" panose="02010600030101010101" pitchFamily="2" charset="-122"/>
            </a:endParaRPr>
          </a:p>
          <a:p>
            <a:r>
              <a:rPr lang="zh-CN" altLang="en-US" dirty="0">
                <a:ea typeface="宋体" panose="02010600030101010101" pitchFamily="2" charset="-122"/>
              </a:rPr>
              <a:t>若左移时舍弃的高位不包含</a:t>
            </a:r>
            <a:r>
              <a:rPr lang="en-US" altLang="zh-CN" dirty="0">
                <a:ea typeface="宋体" panose="02010600030101010101" pitchFamily="2" charset="-122"/>
              </a:rPr>
              <a:t>1</a:t>
            </a:r>
            <a:r>
              <a:rPr lang="zh-CN" altLang="en-US" dirty="0">
                <a:ea typeface="宋体" panose="02010600030101010101" pitchFamily="2" charset="-122"/>
              </a:rPr>
              <a:t>，则每左移一位，相当于该数乘以</a:t>
            </a:r>
            <a:r>
              <a:rPr lang="en-US" altLang="zh-CN" dirty="0">
                <a:ea typeface="宋体" panose="02010600030101010101" pitchFamily="2" charset="-122"/>
              </a:rPr>
              <a:t>2</a:t>
            </a:r>
            <a:r>
              <a:rPr lang="zh-CN" altLang="en-US" dirty="0">
                <a:ea typeface="宋体" panose="02010600030101010101" pitchFamily="2" charset="-122"/>
              </a:rPr>
              <a:t>。</a:t>
            </a:r>
          </a:p>
        </p:txBody>
      </p:sp>
      <p:sp>
        <p:nvSpPr>
          <p:cNvPr id="4" name="文本框 3">
            <a:extLst>
              <a:ext uri="{FF2B5EF4-FFF2-40B4-BE49-F238E27FC236}">
                <a16:creationId xmlns:a16="http://schemas.microsoft.com/office/drawing/2014/main" id="{CC9B06F4-60A0-D67E-5E73-F158A117DC26}"/>
              </a:ext>
            </a:extLst>
          </p:cNvPr>
          <p:cNvSpPr txBox="1"/>
          <p:nvPr/>
        </p:nvSpPr>
        <p:spPr>
          <a:xfrm>
            <a:off x="1113905" y="4156003"/>
            <a:ext cx="9110750" cy="2031325"/>
          </a:xfrm>
          <a:prstGeom prst="rect">
            <a:avLst/>
          </a:prstGeom>
          <a:noFill/>
        </p:spPr>
        <p:txBody>
          <a:bodyPr wrap="square" rtlCol="0">
            <a:spAutoFit/>
          </a:bodyPr>
          <a:lstStyle/>
          <a:p>
            <a:pPr algn="l" latinLnBrk="1"/>
            <a:r>
              <a:rPr lang="en-US" altLang="zh-CN" dirty="0">
                <a:solidFill>
                  <a:srgbClr val="333333"/>
                </a:solidFill>
                <a:latin typeface="宋体" panose="02010600030101010101" pitchFamily="2" charset="-122"/>
                <a:ea typeface="宋体" panose="02010600030101010101" pitchFamily="2" charset="-122"/>
              </a:rPr>
              <a:t>6</a:t>
            </a:r>
            <a:r>
              <a:rPr lang="en-US" altLang="zh-CN" b="0" i="0" dirty="0">
                <a:solidFill>
                  <a:srgbClr val="333333"/>
                </a:solidFill>
                <a:effectLst/>
                <a:latin typeface="宋体" panose="02010600030101010101" pitchFamily="2" charset="-122"/>
                <a:ea typeface="宋体" panose="02010600030101010101" pitchFamily="2" charset="-122"/>
              </a:rPr>
              <a:t>.</a:t>
            </a:r>
            <a:r>
              <a:rPr lang="zh-CN" altLang="en-US" b="0" i="0" dirty="0">
                <a:solidFill>
                  <a:srgbClr val="333333"/>
                </a:solidFill>
                <a:effectLst/>
                <a:latin typeface="宋体" panose="02010600030101010101" pitchFamily="2" charset="-122"/>
                <a:ea typeface="宋体" panose="02010600030101010101" pitchFamily="2" charset="-122"/>
              </a:rPr>
              <a:t>右移运算符（</a:t>
            </a:r>
            <a:r>
              <a:rPr lang="en-US" altLang="zh-CN" b="0" i="0" dirty="0">
                <a:solidFill>
                  <a:srgbClr val="333333"/>
                </a:solidFill>
                <a:effectLst/>
                <a:latin typeface="宋体" panose="02010600030101010101" pitchFamily="2" charset="-122"/>
                <a:ea typeface="宋体" panose="02010600030101010101" pitchFamily="2" charset="-122"/>
              </a:rPr>
              <a:t>&gt;&gt;</a:t>
            </a:r>
            <a:r>
              <a:rPr lang="zh-CN" altLang="en-US" b="0" i="0" dirty="0">
                <a:solidFill>
                  <a:srgbClr val="333333"/>
                </a:solidFill>
                <a:effectLst/>
                <a:latin typeface="宋体" panose="02010600030101010101" pitchFamily="2" charset="-122"/>
                <a:ea typeface="宋体" panose="02010600030101010101" pitchFamily="2" charset="-122"/>
              </a:rPr>
              <a:t>）</a:t>
            </a:r>
          </a:p>
          <a:p>
            <a:pPr algn="l" latinLnBrk="1"/>
            <a:endParaRPr lang="zh-CN" altLang="en-US" b="0" i="0" dirty="0">
              <a:solidFill>
                <a:srgbClr val="333333"/>
              </a:solidFill>
              <a:effectLst/>
              <a:latin typeface="宋体" panose="02010600030101010101" pitchFamily="2" charset="-122"/>
              <a:ea typeface="宋体" panose="02010600030101010101" pitchFamily="2" charset="-122"/>
            </a:endParaRPr>
          </a:p>
          <a:p>
            <a:pPr algn="l" latinLnBrk="1"/>
            <a:r>
              <a:rPr lang="zh-CN" altLang="en-US" b="1" i="0" dirty="0">
                <a:solidFill>
                  <a:srgbClr val="333333"/>
                </a:solidFill>
                <a:effectLst/>
                <a:ea typeface="宋体" panose="02010600030101010101" pitchFamily="2" charset="-122"/>
              </a:rPr>
              <a:t>定义：</a:t>
            </a:r>
            <a:r>
              <a:rPr lang="zh-CN" altLang="en-US" b="0" i="0" dirty="0">
                <a:solidFill>
                  <a:srgbClr val="333333"/>
                </a:solidFill>
                <a:effectLst/>
                <a:ea typeface="宋体" panose="02010600030101010101" pitchFamily="2" charset="-122"/>
              </a:rPr>
              <a:t>将一个数的各二进制位全部右移若干位，正数左补</a:t>
            </a:r>
            <a:r>
              <a:rPr lang="en-US" altLang="zh-CN" b="0" i="0" dirty="0">
                <a:solidFill>
                  <a:srgbClr val="333333"/>
                </a:solidFill>
                <a:effectLst/>
                <a:ea typeface="宋体" panose="02010600030101010101" pitchFamily="2" charset="-122"/>
              </a:rPr>
              <a:t>0</a:t>
            </a:r>
            <a:r>
              <a:rPr lang="zh-CN" altLang="en-US" b="0" i="0" dirty="0">
                <a:solidFill>
                  <a:srgbClr val="333333"/>
                </a:solidFill>
                <a:effectLst/>
                <a:ea typeface="宋体" panose="02010600030101010101" pitchFamily="2" charset="-122"/>
              </a:rPr>
              <a:t>，负数左补</a:t>
            </a:r>
            <a:r>
              <a:rPr lang="en-US" altLang="zh-CN" b="0" i="0" dirty="0">
                <a:solidFill>
                  <a:srgbClr val="333333"/>
                </a:solidFill>
                <a:effectLst/>
                <a:ea typeface="宋体" panose="02010600030101010101" pitchFamily="2" charset="-122"/>
              </a:rPr>
              <a:t>1</a:t>
            </a:r>
            <a:r>
              <a:rPr lang="zh-CN" altLang="en-US" b="0" i="0" dirty="0">
                <a:solidFill>
                  <a:srgbClr val="333333"/>
                </a:solidFill>
                <a:effectLst/>
                <a:ea typeface="宋体" panose="02010600030101010101" pitchFamily="2" charset="-122"/>
              </a:rPr>
              <a:t>，右边丢弃。</a:t>
            </a:r>
          </a:p>
          <a:p>
            <a:pPr algn="l" latinLnBrk="1"/>
            <a:endParaRPr lang="zh-CN" altLang="en-US" b="0" i="0" dirty="0">
              <a:solidFill>
                <a:srgbClr val="333333"/>
              </a:solidFill>
              <a:effectLst/>
              <a:ea typeface="宋体" panose="02010600030101010101" pitchFamily="2" charset="-122"/>
            </a:endParaRPr>
          </a:p>
          <a:p>
            <a:pPr algn="l" latinLnBrk="1"/>
            <a:r>
              <a:rPr lang="zh-CN" altLang="en-US" b="0" i="0" dirty="0">
                <a:solidFill>
                  <a:srgbClr val="333333"/>
                </a:solidFill>
                <a:effectLst/>
                <a:ea typeface="宋体" panose="02010600030101010101" pitchFamily="2" charset="-122"/>
              </a:rPr>
              <a:t>例如：</a:t>
            </a:r>
            <a:r>
              <a:rPr lang="en-US" altLang="zh-CN" b="0" i="0" dirty="0">
                <a:solidFill>
                  <a:srgbClr val="333333"/>
                </a:solidFill>
                <a:effectLst/>
                <a:ea typeface="宋体" panose="02010600030101010101" pitchFamily="2" charset="-122"/>
              </a:rPr>
              <a:t>a=a&gt;&gt;2 </a:t>
            </a:r>
            <a:r>
              <a:rPr lang="zh-CN" altLang="en-US" b="0" i="0" dirty="0">
                <a:solidFill>
                  <a:srgbClr val="333333"/>
                </a:solidFill>
                <a:effectLst/>
                <a:ea typeface="宋体" panose="02010600030101010101" pitchFamily="2" charset="-122"/>
              </a:rPr>
              <a:t>将</a:t>
            </a:r>
            <a:r>
              <a:rPr lang="en-US" altLang="zh-CN" b="0" i="0" dirty="0">
                <a:solidFill>
                  <a:srgbClr val="333333"/>
                </a:solidFill>
                <a:effectLst/>
                <a:ea typeface="宋体" panose="02010600030101010101" pitchFamily="2" charset="-122"/>
              </a:rPr>
              <a:t>a</a:t>
            </a:r>
            <a:r>
              <a:rPr lang="zh-CN" altLang="en-US" b="0" i="0" dirty="0">
                <a:solidFill>
                  <a:srgbClr val="333333"/>
                </a:solidFill>
                <a:effectLst/>
                <a:ea typeface="宋体" panose="02010600030101010101" pitchFamily="2" charset="-122"/>
              </a:rPr>
              <a:t>的二进制位右移</a:t>
            </a:r>
            <a:r>
              <a:rPr lang="en-US" altLang="zh-CN" b="0" i="0" dirty="0">
                <a:solidFill>
                  <a:srgbClr val="333333"/>
                </a:solidFill>
                <a:effectLst/>
                <a:ea typeface="宋体" panose="02010600030101010101" pitchFamily="2" charset="-122"/>
              </a:rPr>
              <a:t>2</a:t>
            </a:r>
            <a:r>
              <a:rPr lang="zh-CN" altLang="en-US" b="0" i="0" dirty="0">
                <a:solidFill>
                  <a:srgbClr val="333333"/>
                </a:solidFill>
                <a:effectLst/>
                <a:ea typeface="宋体" panose="02010600030101010101" pitchFamily="2" charset="-122"/>
              </a:rPr>
              <a:t>位，左补</a:t>
            </a:r>
            <a:r>
              <a:rPr lang="en-US" altLang="zh-CN" b="0" i="0" dirty="0">
                <a:solidFill>
                  <a:srgbClr val="333333"/>
                </a:solidFill>
                <a:effectLst/>
                <a:ea typeface="宋体" panose="02010600030101010101" pitchFamily="2" charset="-122"/>
              </a:rPr>
              <a:t>0 </a:t>
            </a:r>
            <a:r>
              <a:rPr lang="zh-CN" altLang="en-US" b="0" i="0" dirty="0">
                <a:solidFill>
                  <a:srgbClr val="333333"/>
                </a:solidFill>
                <a:effectLst/>
                <a:ea typeface="宋体" panose="02010600030101010101" pitchFamily="2" charset="-122"/>
              </a:rPr>
              <a:t>或者 左补</a:t>
            </a:r>
            <a:r>
              <a:rPr lang="en-US" altLang="zh-CN" b="0" i="0" dirty="0">
                <a:solidFill>
                  <a:srgbClr val="333333"/>
                </a:solidFill>
                <a:effectLst/>
                <a:ea typeface="宋体" panose="02010600030101010101" pitchFamily="2" charset="-122"/>
              </a:rPr>
              <a:t>1</a:t>
            </a:r>
            <a:r>
              <a:rPr lang="zh-CN" altLang="en-US" b="0" i="0" dirty="0">
                <a:solidFill>
                  <a:srgbClr val="333333"/>
                </a:solidFill>
                <a:effectLst/>
                <a:ea typeface="宋体" panose="02010600030101010101" pitchFamily="2" charset="-122"/>
              </a:rPr>
              <a:t>得看被移数是正还是负。</a:t>
            </a:r>
          </a:p>
          <a:p>
            <a:pPr algn="l" latinLnBrk="1"/>
            <a:endParaRPr lang="zh-CN" altLang="en-US" b="0" i="0" dirty="0">
              <a:solidFill>
                <a:srgbClr val="333333"/>
              </a:solidFill>
              <a:effectLst/>
              <a:ea typeface="宋体" panose="02010600030101010101" pitchFamily="2" charset="-122"/>
            </a:endParaRPr>
          </a:p>
          <a:p>
            <a:pPr algn="l" latinLnBrk="1"/>
            <a:r>
              <a:rPr lang="zh-CN" altLang="en-US" b="0" i="0" dirty="0">
                <a:solidFill>
                  <a:srgbClr val="333333"/>
                </a:solidFill>
                <a:effectLst/>
                <a:ea typeface="宋体" panose="02010600030101010101" pitchFamily="2" charset="-122"/>
              </a:rPr>
              <a:t>操作数每右移一位，相当于该数除以</a:t>
            </a:r>
            <a:r>
              <a:rPr lang="en-US" altLang="zh-CN" b="0" i="0" dirty="0">
                <a:solidFill>
                  <a:srgbClr val="333333"/>
                </a:solidFill>
                <a:effectLst/>
                <a:ea typeface="宋体" panose="02010600030101010101" pitchFamily="2" charset="-122"/>
              </a:rPr>
              <a:t>2</a:t>
            </a:r>
            <a:r>
              <a:rPr lang="zh-CN" altLang="en-US" b="0" i="0" dirty="0">
                <a:solidFill>
                  <a:srgbClr val="333333"/>
                </a:solidFill>
                <a:effectLst/>
                <a:ea typeface="宋体" panose="02010600030101010101" pitchFamily="2" charset="-122"/>
              </a:rPr>
              <a:t>。</a:t>
            </a:r>
          </a:p>
        </p:txBody>
      </p:sp>
    </p:spTree>
    <p:extLst>
      <p:ext uri="{BB962C8B-B14F-4D97-AF65-F5344CB8AC3E}">
        <p14:creationId xmlns:p14="http://schemas.microsoft.com/office/powerpoint/2010/main" val="2935083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49444B0-B907-C70F-24BF-44DC6E88C4F6}"/>
              </a:ext>
            </a:extLst>
          </p:cNvPr>
          <p:cNvSpPr txBox="1"/>
          <p:nvPr/>
        </p:nvSpPr>
        <p:spPr>
          <a:xfrm>
            <a:off x="540328" y="606828"/>
            <a:ext cx="7140633" cy="707886"/>
          </a:xfrm>
          <a:prstGeom prst="rect">
            <a:avLst/>
          </a:prstGeom>
          <a:noFill/>
        </p:spPr>
        <p:txBody>
          <a:bodyPr wrap="square" rtlCol="0">
            <a:spAutoFit/>
          </a:bodyPr>
          <a:lstStyle/>
          <a:p>
            <a:r>
              <a:rPr lang="zh-CN" altLang="en-US" sz="4000" b="1" i="0" dirty="0">
                <a:solidFill>
                  <a:srgbClr val="333333"/>
                </a:solidFill>
                <a:effectLst/>
                <a:latin typeface="宋体" panose="02010600030101010101" pitchFamily="2" charset="-122"/>
                <a:ea typeface="宋体" panose="02010600030101010101" pitchFamily="2" charset="-122"/>
              </a:rPr>
              <a:t>位运算（</a:t>
            </a:r>
            <a:r>
              <a:rPr lang="en-US" altLang="zh-CN" sz="4000" b="1" i="0" dirty="0">
                <a:solidFill>
                  <a:srgbClr val="333333"/>
                </a:solidFill>
                <a:effectLst/>
                <a:latin typeface="宋体" panose="02010600030101010101" pitchFamily="2" charset="-122"/>
                <a:ea typeface="宋体" panose="02010600030101010101" pitchFamily="2" charset="-122"/>
              </a:rPr>
              <a:t>&amp;</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&gt;&gt;</a:t>
            </a:r>
            <a:r>
              <a:rPr lang="zh-CN" altLang="en-US" sz="4000" b="1" i="0" dirty="0">
                <a:solidFill>
                  <a:srgbClr val="333333"/>
                </a:solidFill>
                <a:effectLst/>
                <a:latin typeface="宋体" panose="02010600030101010101" pitchFamily="2" charset="-122"/>
                <a:ea typeface="宋体" panose="02010600030101010101" pitchFamily="2" charset="-122"/>
              </a:rPr>
              <a:t>、</a:t>
            </a:r>
            <a:r>
              <a:rPr lang="en-US" altLang="zh-CN" sz="4000" b="1" i="0" dirty="0">
                <a:solidFill>
                  <a:srgbClr val="333333"/>
                </a:solidFill>
                <a:effectLst/>
                <a:latin typeface="宋体" panose="02010600030101010101" pitchFamily="2" charset="-122"/>
                <a:ea typeface="宋体" panose="02010600030101010101" pitchFamily="2" charset="-122"/>
              </a:rPr>
              <a:t>&lt;&lt;</a:t>
            </a:r>
            <a:r>
              <a:rPr lang="zh-CN" altLang="en-US" sz="4000" b="1" i="0" dirty="0">
                <a:solidFill>
                  <a:srgbClr val="333333"/>
                </a:solidFill>
                <a:effectLst/>
                <a:latin typeface="宋体" panose="02010600030101010101" pitchFamily="2" charset="-122"/>
                <a:ea typeface="宋体" panose="02010600030101010101" pitchFamily="2" charset="-122"/>
              </a:rPr>
              <a:t>）</a:t>
            </a:r>
          </a:p>
        </p:txBody>
      </p:sp>
      <p:sp>
        <p:nvSpPr>
          <p:cNvPr id="6" name="文本框 5">
            <a:extLst>
              <a:ext uri="{FF2B5EF4-FFF2-40B4-BE49-F238E27FC236}">
                <a16:creationId xmlns:a16="http://schemas.microsoft.com/office/drawing/2014/main" id="{A0891AEA-2410-F0E1-9D6E-98D21D3592C6}"/>
              </a:ext>
            </a:extLst>
          </p:cNvPr>
          <p:cNvSpPr txBox="1"/>
          <p:nvPr/>
        </p:nvSpPr>
        <p:spPr>
          <a:xfrm>
            <a:off x="540328" y="1525969"/>
            <a:ext cx="4015047"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三、各运算符介绍</a:t>
            </a:r>
          </a:p>
        </p:txBody>
      </p:sp>
      <p:sp>
        <p:nvSpPr>
          <p:cNvPr id="2" name="文本框 1">
            <a:extLst>
              <a:ext uri="{FF2B5EF4-FFF2-40B4-BE49-F238E27FC236}">
                <a16:creationId xmlns:a16="http://schemas.microsoft.com/office/drawing/2014/main" id="{7B525092-1ECC-DFE8-655B-96397B479E79}"/>
              </a:ext>
            </a:extLst>
          </p:cNvPr>
          <p:cNvSpPr txBox="1"/>
          <p:nvPr/>
        </p:nvSpPr>
        <p:spPr>
          <a:xfrm>
            <a:off x="1113905" y="2056026"/>
            <a:ext cx="911075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复合赋值运算符</a:t>
            </a:r>
            <a:endParaRPr lang="zh-CN" altLang="en-US" dirty="0">
              <a:ea typeface="宋体" panose="02010600030101010101" pitchFamily="2" charset="-122"/>
            </a:endParaRPr>
          </a:p>
        </p:txBody>
      </p:sp>
      <p:pic>
        <p:nvPicPr>
          <p:cNvPr id="7" name="图片 6">
            <a:extLst>
              <a:ext uri="{FF2B5EF4-FFF2-40B4-BE49-F238E27FC236}">
                <a16:creationId xmlns:a16="http://schemas.microsoft.com/office/drawing/2014/main" id="{983173C9-4B0C-0B8F-83AB-2499167E8B2C}"/>
              </a:ext>
            </a:extLst>
          </p:cNvPr>
          <p:cNvPicPr>
            <a:picLocks noChangeAspect="1"/>
          </p:cNvPicPr>
          <p:nvPr/>
        </p:nvPicPr>
        <p:blipFill>
          <a:blip r:embed="rId2"/>
          <a:stretch>
            <a:fillRect/>
          </a:stretch>
        </p:blipFill>
        <p:spPr>
          <a:xfrm>
            <a:off x="1113905" y="2493750"/>
            <a:ext cx="4657725" cy="2724150"/>
          </a:xfrm>
          <a:prstGeom prst="rect">
            <a:avLst/>
          </a:prstGeom>
        </p:spPr>
      </p:pic>
      <p:sp>
        <p:nvSpPr>
          <p:cNvPr id="8" name="文本框 7">
            <a:extLst>
              <a:ext uri="{FF2B5EF4-FFF2-40B4-BE49-F238E27FC236}">
                <a16:creationId xmlns:a16="http://schemas.microsoft.com/office/drawing/2014/main" id="{810EBA1D-C828-691C-BEBF-123C6028E306}"/>
              </a:ext>
            </a:extLst>
          </p:cNvPr>
          <p:cNvSpPr txBox="1"/>
          <p:nvPr/>
        </p:nvSpPr>
        <p:spPr>
          <a:xfrm>
            <a:off x="5910348" y="2431712"/>
            <a:ext cx="6209607" cy="3693319"/>
          </a:xfrm>
          <a:prstGeom prst="rect">
            <a:avLst/>
          </a:prstGeom>
          <a:noFill/>
        </p:spPr>
        <p:txBody>
          <a:bodyPr wrap="square" rtlCol="0">
            <a:spAutoFit/>
          </a:bodyPr>
          <a:lstStyle/>
          <a:p>
            <a:pPr algn="l" latinLnBrk="1"/>
            <a:r>
              <a:rPr lang="zh-CN" altLang="en-US" b="1" i="0" dirty="0">
                <a:solidFill>
                  <a:srgbClr val="333333"/>
                </a:solidFill>
                <a:effectLst/>
              </a:rPr>
              <a:t>运算规则：</a:t>
            </a:r>
            <a:r>
              <a:rPr lang="zh-CN" altLang="en-US" b="0" i="0" dirty="0">
                <a:solidFill>
                  <a:srgbClr val="333333"/>
                </a:solidFill>
                <a:effectLst/>
              </a:rPr>
              <a:t>和前面讲的复合赋值运算符的运算规则相似。</a:t>
            </a:r>
          </a:p>
          <a:p>
            <a:pPr algn="l" latinLnBrk="1"/>
            <a:endParaRPr lang="en-US" altLang="zh-CN" b="1" i="0" dirty="0">
              <a:solidFill>
                <a:srgbClr val="333333"/>
              </a:solidFill>
              <a:effectLst/>
            </a:endParaRPr>
          </a:p>
          <a:p>
            <a:pPr algn="l" latinLnBrk="1"/>
            <a:r>
              <a:rPr lang="zh-CN" altLang="en-US" b="1" i="0" dirty="0">
                <a:solidFill>
                  <a:srgbClr val="333333"/>
                </a:solidFill>
                <a:effectLst/>
              </a:rPr>
              <a:t>不同长度的数据进行位运算：</a:t>
            </a:r>
            <a:r>
              <a:rPr lang="zh-CN" altLang="en-US" b="0" i="0" dirty="0">
                <a:solidFill>
                  <a:srgbClr val="333333"/>
                </a:solidFill>
                <a:effectLst/>
              </a:rPr>
              <a:t>如果两个不同长度的数据进行位运算时，系统会将二者按右端对齐，然后进行位运算。</a:t>
            </a:r>
          </a:p>
          <a:p>
            <a:pPr algn="l" latinLnBrk="1"/>
            <a:endParaRPr lang="en-US" altLang="zh-CN" b="0" i="0" dirty="0">
              <a:solidFill>
                <a:srgbClr val="333333"/>
              </a:solidFill>
              <a:effectLst/>
            </a:endParaRPr>
          </a:p>
          <a:p>
            <a:pPr algn="l" latinLnBrk="1"/>
            <a:r>
              <a:rPr lang="zh-CN" altLang="en-US" b="1" i="0" dirty="0">
                <a:solidFill>
                  <a:srgbClr val="333333"/>
                </a:solidFill>
                <a:effectLst/>
              </a:rPr>
              <a:t>以</a:t>
            </a:r>
            <a:r>
              <a:rPr lang="en-US" altLang="zh-CN" b="1" i="0" dirty="0">
                <a:solidFill>
                  <a:srgbClr val="333333"/>
                </a:solidFill>
                <a:effectLst/>
              </a:rPr>
              <a:t>"</a:t>
            </a:r>
            <a:r>
              <a:rPr lang="zh-CN" altLang="en-US" b="1" i="0" dirty="0">
                <a:solidFill>
                  <a:srgbClr val="333333"/>
                </a:solidFill>
                <a:effectLst/>
              </a:rPr>
              <a:t>与运算</a:t>
            </a:r>
            <a:r>
              <a:rPr lang="en-US" altLang="zh-CN" b="1" i="0" dirty="0">
                <a:solidFill>
                  <a:srgbClr val="333333"/>
                </a:solidFill>
                <a:effectLst/>
              </a:rPr>
              <a:t>"</a:t>
            </a:r>
            <a:r>
              <a:rPr lang="zh-CN" altLang="en-US" b="1" i="0" dirty="0">
                <a:solidFill>
                  <a:srgbClr val="333333"/>
                </a:solidFill>
                <a:effectLst/>
              </a:rPr>
              <a:t>为例说明如下：</a:t>
            </a:r>
            <a:r>
              <a:rPr lang="zh-CN" altLang="en-US" b="0" i="0" dirty="0">
                <a:solidFill>
                  <a:srgbClr val="333333"/>
                </a:solidFill>
                <a:effectLst/>
              </a:rPr>
              <a:t>我们知道在</a:t>
            </a:r>
            <a:r>
              <a:rPr lang="en-US" altLang="zh-CN" b="0" i="0" dirty="0">
                <a:solidFill>
                  <a:srgbClr val="333333"/>
                </a:solidFill>
                <a:effectLst/>
              </a:rPr>
              <a:t>C</a:t>
            </a:r>
            <a:r>
              <a:rPr lang="zh-CN" altLang="en-US" b="0" i="0" dirty="0">
                <a:solidFill>
                  <a:srgbClr val="333333"/>
                </a:solidFill>
                <a:effectLst/>
              </a:rPr>
              <a:t>语言中</a:t>
            </a:r>
            <a:r>
              <a:rPr lang="en-US" altLang="zh-CN" b="0" i="0" dirty="0">
                <a:solidFill>
                  <a:srgbClr val="333333"/>
                </a:solidFill>
                <a:effectLst/>
              </a:rPr>
              <a:t>long</a:t>
            </a:r>
            <a:r>
              <a:rPr lang="zh-CN" altLang="en-US" b="0" i="0" dirty="0">
                <a:solidFill>
                  <a:srgbClr val="333333"/>
                </a:solidFill>
                <a:effectLst/>
              </a:rPr>
              <a:t>型占</a:t>
            </a:r>
            <a:r>
              <a:rPr lang="en-US" altLang="zh-CN" b="0" i="0" dirty="0">
                <a:solidFill>
                  <a:srgbClr val="333333"/>
                </a:solidFill>
                <a:effectLst/>
              </a:rPr>
              <a:t>4</a:t>
            </a:r>
            <a:r>
              <a:rPr lang="zh-CN" altLang="en-US" b="0" i="0" dirty="0">
                <a:solidFill>
                  <a:srgbClr val="333333"/>
                </a:solidFill>
                <a:effectLst/>
              </a:rPr>
              <a:t>个字节，</a:t>
            </a:r>
            <a:r>
              <a:rPr lang="en-US" altLang="zh-CN" b="0" i="0" dirty="0">
                <a:solidFill>
                  <a:srgbClr val="333333"/>
                </a:solidFill>
                <a:effectLst/>
              </a:rPr>
              <a:t>int</a:t>
            </a:r>
            <a:r>
              <a:rPr lang="zh-CN" altLang="en-US" b="0" i="0" dirty="0">
                <a:solidFill>
                  <a:srgbClr val="333333"/>
                </a:solidFill>
                <a:effectLst/>
              </a:rPr>
              <a:t>型占</a:t>
            </a:r>
            <a:r>
              <a:rPr lang="en-US" altLang="zh-CN" b="0" i="0" dirty="0">
                <a:solidFill>
                  <a:srgbClr val="333333"/>
                </a:solidFill>
                <a:effectLst/>
              </a:rPr>
              <a:t>2</a:t>
            </a:r>
            <a:r>
              <a:rPr lang="zh-CN" altLang="en-US" b="0" i="0" dirty="0">
                <a:solidFill>
                  <a:srgbClr val="333333"/>
                </a:solidFill>
                <a:effectLst/>
              </a:rPr>
              <a:t>个字节，如果一个</a:t>
            </a:r>
            <a:r>
              <a:rPr lang="en-US" altLang="zh-CN" b="0" i="0" dirty="0">
                <a:solidFill>
                  <a:srgbClr val="333333"/>
                </a:solidFill>
                <a:effectLst/>
              </a:rPr>
              <a:t>long</a:t>
            </a:r>
            <a:r>
              <a:rPr lang="zh-CN" altLang="en-US" b="0" i="0" dirty="0">
                <a:solidFill>
                  <a:srgbClr val="333333"/>
                </a:solidFill>
                <a:effectLst/>
              </a:rPr>
              <a:t>型数据与一个</a:t>
            </a:r>
            <a:r>
              <a:rPr lang="en-US" altLang="zh-CN" b="0" i="0" dirty="0">
                <a:solidFill>
                  <a:srgbClr val="333333"/>
                </a:solidFill>
                <a:effectLst/>
              </a:rPr>
              <a:t>int</a:t>
            </a:r>
            <a:r>
              <a:rPr lang="zh-CN" altLang="en-US" b="0" i="0" dirty="0">
                <a:solidFill>
                  <a:srgbClr val="333333"/>
                </a:solidFill>
                <a:effectLst/>
              </a:rPr>
              <a:t>型数据进行</a:t>
            </a:r>
            <a:r>
              <a:rPr lang="en-US" altLang="zh-CN" b="0" i="0" dirty="0">
                <a:solidFill>
                  <a:srgbClr val="333333"/>
                </a:solidFill>
                <a:effectLst/>
              </a:rPr>
              <a:t>"</a:t>
            </a:r>
            <a:r>
              <a:rPr lang="zh-CN" altLang="en-US" b="0" i="0" dirty="0">
                <a:solidFill>
                  <a:srgbClr val="333333"/>
                </a:solidFill>
                <a:effectLst/>
              </a:rPr>
              <a:t>与运算</a:t>
            </a:r>
            <a:r>
              <a:rPr lang="en-US" altLang="zh-CN" b="0" i="0" dirty="0">
                <a:solidFill>
                  <a:srgbClr val="333333"/>
                </a:solidFill>
                <a:effectLst/>
              </a:rPr>
              <a:t>"</a:t>
            </a:r>
            <a:r>
              <a:rPr lang="zh-CN" altLang="en-US" b="0" i="0" dirty="0">
                <a:solidFill>
                  <a:srgbClr val="333333"/>
                </a:solidFill>
                <a:effectLst/>
              </a:rPr>
              <a:t>，右端对齐后，左边不足的位依下面三种情况补足，</a:t>
            </a:r>
          </a:p>
          <a:p>
            <a:pPr lvl="1" latinLnBrk="1">
              <a:buFont typeface="Arial" panose="020B0604020202020204" pitchFamily="34" charset="0"/>
              <a:buChar char="•"/>
            </a:pPr>
            <a:r>
              <a:rPr lang="en-US" altLang="zh-CN" b="0" i="0" dirty="0">
                <a:solidFill>
                  <a:srgbClr val="333333"/>
                </a:solidFill>
                <a:effectLst/>
              </a:rPr>
              <a:t>1</a:t>
            </a:r>
            <a:r>
              <a:rPr lang="zh-CN" altLang="en-US" b="0" i="0" dirty="0">
                <a:solidFill>
                  <a:srgbClr val="333333"/>
                </a:solidFill>
                <a:effectLst/>
              </a:rPr>
              <a:t>）如果整型数据为正数，左边补</a:t>
            </a:r>
            <a:r>
              <a:rPr lang="en-US" altLang="zh-CN" b="0" i="0" dirty="0">
                <a:solidFill>
                  <a:srgbClr val="333333"/>
                </a:solidFill>
                <a:effectLst/>
              </a:rPr>
              <a:t>16</a:t>
            </a:r>
            <a:r>
              <a:rPr lang="zh-CN" altLang="en-US" b="0" i="0" dirty="0">
                <a:solidFill>
                  <a:srgbClr val="333333"/>
                </a:solidFill>
                <a:effectLst/>
              </a:rPr>
              <a:t>个</a:t>
            </a:r>
            <a:r>
              <a:rPr lang="en-US" altLang="zh-CN" b="0" i="0" dirty="0">
                <a:solidFill>
                  <a:srgbClr val="333333"/>
                </a:solidFill>
                <a:effectLst/>
              </a:rPr>
              <a:t>0</a:t>
            </a:r>
            <a:r>
              <a:rPr lang="zh-CN" altLang="en-US" b="0" i="0" dirty="0">
                <a:solidFill>
                  <a:srgbClr val="333333"/>
                </a:solidFill>
                <a:effectLst/>
              </a:rPr>
              <a:t>。</a:t>
            </a:r>
          </a:p>
          <a:p>
            <a:pPr lvl="1" latinLnBrk="1">
              <a:buFont typeface="Arial" panose="020B0604020202020204" pitchFamily="34" charset="0"/>
              <a:buChar char="•"/>
            </a:pPr>
            <a:r>
              <a:rPr lang="en-US" altLang="zh-CN" b="0" i="0" dirty="0">
                <a:solidFill>
                  <a:srgbClr val="333333"/>
                </a:solidFill>
                <a:effectLst/>
              </a:rPr>
              <a:t>2</a:t>
            </a:r>
            <a:r>
              <a:rPr lang="zh-CN" altLang="en-US" b="0" i="0" dirty="0">
                <a:solidFill>
                  <a:srgbClr val="333333"/>
                </a:solidFill>
                <a:effectLst/>
              </a:rPr>
              <a:t>）如果整型数据为负数，左边补</a:t>
            </a:r>
            <a:r>
              <a:rPr lang="en-US" altLang="zh-CN" b="0" i="0" dirty="0">
                <a:solidFill>
                  <a:srgbClr val="333333"/>
                </a:solidFill>
                <a:effectLst/>
              </a:rPr>
              <a:t>16</a:t>
            </a:r>
            <a:r>
              <a:rPr lang="zh-CN" altLang="en-US" b="0" i="0" dirty="0">
                <a:solidFill>
                  <a:srgbClr val="333333"/>
                </a:solidFill>
                <a:effectLst/>
              </a:rPr>
              <a:t>个</a:t>
            </a:r>
            <a:r>
              <a:rPr lang="en-US" altLang="zh-CN" b="0" i="0" dirty="0">
                <a:solidFill>
                  <a:srgbClr val="333333"/>
                </a:solidFill>
                <a:effectLst/>
              </a:rPr>
              <a:t>1</a:t>
            </a:r>
            <a:r>
              <a:rPr lang="zh-CN" altLang="en-US" b="0" i="0" dirty="0">
                <a:solidFill>
                  <a:srgbClr val="333333"/>
                </a:solidFill>
                <a:effectLst/>
              </a:rPr>
              <a:t>。</a:t>
            </a:r>
          </a:p>
          <a:p>
            <a:pPr lvl="1" latinLnBrk="1">
              <a:buFont typeface="Arial" panose="020B0604020202020204" pitchFamily="34" charset="0"/>
              <a:buChar char="•"/>
            </a:pPr>
            <a:r>
              <a:rPr lang="en-US" altLang="zh-CN" b="0" i="0" dirty="0">
                <a:solidFill>
                  <a:srgbClr val="333333"/>
                </a:solidFill>
                <a:effectLst/>
              </a:rPr>
              <a:t>3</a:t>
            </a:r>
            <a:r>
              <a:rPr lang="zh-CN" altLang="en-US" b="0" i="0" dirty="0">
                <a:solidFill>
                  <a:srgbClr val="333333"/>
                </a:solidFill>
                <a:effectLst/>
              </a:rPr>
              <a:t>）如果整形数据为无符号数，左边也补</a:t>
            </a:r>
            <a:r>
              <a:rPr lang="en-US" altLang="zh-CN" b="0" i="0" dirty="0">
                <a:solidFill>
                  <a:srgbClr val="333333"/>
                </a:solidFill>
                <a:effectLst/>
              </a:rPr>
              <a:t>16</a:t>
            </a:r>
            <a:r>
              <a:rPr lang="zh-CN" altLang="en-US" b="0" i="0" dirty="0">
                <a:solidFill>
                  <a:srgbClr val="333333"/>
                </a:solidFill>
                <a:effectLst/>
              </a:rPr>
              <a:t>个</a:t>
            </a:r>
            <a:r>
              <a:rPr lang="en-US" altLang="zh-CN" b="0" i="0" dirty="0">
                <a:solidFill>
                  <a:srgbClr val="333333"/>
                </a:solidFill>
                <a:effectLst/>
              </a:rPr>
              <a:t>0</a:t>
            </a:r>
            <a:r>
              <a:rPr lang="zh-CN" altLang="en-US" b="0" i="0" dirty="0">
                <a:solidFill>
                  <a:srgbClr val="333333"/>
                </a:solidFill>
                <a:effectLst/>
              </a:rPr>
              <a:t>。</a:t>
            </a:r>
          </a:p>
          <a:p>
            <a:endParaRPr lang="zh-CN" altLang="en-US" dirty="0"/>
          </a:p>
        </p:txBody>
      </p:sp>
    </p:spTree>
    <p:extLst>
      <p:ext uri="{BB962C8B-B14F-4D97-AF65-F5344CB8AC3E}">
        <p14:creationId xmlns:p14="http://schemas.microsoft.com/office/powerpoint/2010/main" val="3583948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F0258DB-2EDE-3E7B-7DA4-111ACECD7CCB}"/>
              </a:ext>
            </a:extLst>
          </p:cNvPr>
          <p:cNvPicPr>
            <a:picLocks noChangeAspect="1"/>
          </p:cNvPicPr>
          <p:nvPr/>
        </p:nvPicPr>
        <p:blipFill>
          <a:blip r:embed="rId2"/>
          <a:stretch>
            <a:fillRect/>
          </a:stretch>
        </p:blipFill>
        <p:spPr>
          <a:xfrm>
            <a:off x="1205548" y="850006"/>
            <a:ext cx="9934070" cy="4713882"/>
          </a:xfrm>
          <a:prstGeom prst="rect">
            <a:avLst/>
          </a:prstGeom>
        </p:spPr>
      </p:pic>
    </p:spTree>
    <p:extLst>
      <p:ext uri="{BB962C8B-B14F-4D97-AF65-F5344CB8AC3E}">
        <p14:creationId xmlns:p14="http://schemas.microsoft.com/office/powerpoint/2010/main" val="3532495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16B9771-65FC-6442-85E3-E3558935535D}"/>
              </a:ext>
            </a:extLst>
          </p:cNvPr>
          <p:cNvPicPr>
            <a:picLocks noChangeAspect="1"/>
          </p:cNvPicPr>
          <p:nvPr/>
        </p:nvPicPr>
        <p:blipFill>
          <a:blip r:embed="rId2"/>
          <a:stretch>
            <a:fillRect/>
          </a:stretch>
        </p:blipFill>
        <p:spPr>
          <a:xfrm>
            <a:off x="2213393" y="0"/>
            <a:ext cx="7765214" cy="6858000"/>
          </a:xfrm>
          <a:prstGeom prst="rect">
            <a:avLst/>
          </a:prstGeom>
        </p:spPr>
      </p:pic>
    </p:spTree>
    <p:extLst>
      <p:ext uri="{BB962C8B-B14F-4D97-AF65-F5344CB8AC3E}">
        <p14:creationId xmlns:p14="http://schemas.microsoft.com/office/powerpoint/2010/main" val="2914848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2C798F6-008C-AA6D-781F-AD28BDCD24CB}"/>
              </a:ext>
            </a:extLst>
          </p:cNvPr>
          <p:cNvPicPr>
            <a:picLocks noChangeAspect="1"/>
          </p:cNvPicPr>
          <p:nvPr/>
        </p:nvPicPr>
        <p:blipFill>
          <a:blip r:embed="rId2"/>
          <a:stretch>
            <a:fillRect/>
          </a:stretch>
        </p:blipFill>
        <p:spPr>
          <a:xfrm>
            <a:off x="2482688" y="0"/>
            <a:ext cx="7226623" cy="6858000"/>
          </a:xfrm>
          <a:prstGeom prst="rect">
            <a:avLst/>
          </a:prstGeom>
        </p:spPr>
      </p:pic>
    </p:spTree>
    <p:extLst>
      <p:ext uri="{BB962C8B-B14F-4D97-AF65-F5344CB8AC3E}">
        <p14:creationId xmlns:p14="http://schemas.microsoft.com/office/powerpoint/2010/main" val="3374775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6EE01CE-4C0E-28B0-8922-845BE30ADF1A}"/>
              </a:ext>
            </a:extLst>
          </p:cNvPr>
          <p:cNvPicPr>
            <a:picLocks noChangeAspect="1"/>
          </p:cNvPicPr>
          <p:nvPr/>
        </p:nvPicPr>
        <p:blipFill>
          <a:blip r:embed="rId2"/>
          <a:stretch>
            <a:fillRect/>
          </a:stretch>
        </p:blipFill>
        <p:spPr>
          <a:xfrm>
            <a:off x="1138526" y="1188150"/>
            <a:ext cx="10487663" cy="4481700"/>
          </a:xfrm>
          <a:prstGeom prst="rect">
            <a:avLst/>
          </a:prstGeom>
        </p:spPr>
      </p:pic>
    </p:spTree>
    <p:extLst>
      <p:ext uri="{BB962C8B-B14F-4D97-AF65-F5344CB8AC3E}">
        <p14:creationId xmlns:p14="http://schemas.microsoft.com/office/powerpoint/2010/main" val="3440425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E60CAC9-6A0F-5854-34B5-86A4260FBC1C}"/>
              </a:ext>
            </a:extLst>
          </p:cNvPr>
          <p:cNvPicPr>
            <a:picLocks noChangeAspect="1"/>
          </p:cNvPicPr>
          <p:nvPr/>
        </p:nvPicPr>
        <p:blipFill>
          <a:blip r:embed="rId2"/>
          <a:stretch>
            <a:fillRect/>
          </a:stretch>
        </p:blipFill>
        <p:spPr>
          <a:xfrm>
            <a:off x="2787212" y="0"/>
            <a:ext cx="6617576" cy="6858000"/>
          </a:xfrm>
          <a:prstGeom prst="rect">
            <a:avLst/>
          </a:prstGeom>
        </p:spPr>
      </p:pic>
      <p:pic>
        <p:nvPicPr>
          <p:cNvPr id="5" name="图片 4">
            <a:extLst>
              <a:ext uri="{FF2B5EF4-FFF2-40B4-BE49-F238E27FC236}">
                <a16:creationId xmlns:a16="http://schemas.microsoft.com/office/drawing/2014/main" id="{71AEA448-C68E-9432-3E01-E08C2974DE42}"/>
              </a:ext>
            </a:extLst>
          </p:cNvPr>
          <p:cNvPicPr>
            <a:picLocks noChangeAspect="1"/>
          </p:cNvPicPr>
          <p:nvPr/>
        </p:nvPicPr>
        <p:blipFill>
          <a:blip r:embed="rId3"/>
          <a:stretch>
            <a:fillRect/>
          </a:stretch>
        </p:blipFill>
        <p:spPr>
          <a:xfrm>
            <a:off x="2157383" y="2607462"/>
            <a:ext cx="7877233" cy="1643075"/>
          </a:xfrm>
          <a:prstGeom prst="rect">
            <a:avLst/>
          </a:prstGeom>
        </p:spPr>
      </p:pic>
    </p:spTree>
    <p:extLst>
      <p:ext uri="{BB962C8B-B14F-4D97-AF65-F5344CB8AC3E}">
        <p14:creationId xmlns:p14="http://schemas.microsoft.com/office/powerpoint/2010/main" val="360969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F1896B6-4AC7-2B42-C07E-78B6500ED0B1}"/>
              </a:ext>
            </a:extLst>
          </p:cNvPr>
          <p:cNvPicPr>
            <a:picLocks noChangeAspect="1"/>
          </p:cNvPicPr>
          <p:nvPr/>
        </p:nvPicPr>
        <p:blipFill>
          <a:blip r:embed="rId2"/>
          <a:stretch>
            <a:fillRect/>
          </a:stretch>
        </p:blipFill>
        <p:spPr>
          <a:xfrm>
            <a:off x="545450" y="1098959"/>
            <a:ext cx="11360284" cy="3693590"/>
          </a:xfrm>
          <a:prstGeom prst="rect">
            <a:avLst/>
          </a:prstGeom>
        </p:spPr>
      </p:pic>
    </p:spTree>
    <p:extLst>
      <p:ext uri="{BB962C8B-B14F-4D97-AF65-F5344CB8AC3E}">
        <p14:creationId xmlns:p14="http://schemas.microsoft.com/office/powerpoint/2010/main" val="1432484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DEC21F0-E5EC-007B-9E21-563071CBEAD0}"/>
              </a:ext>
            </a:extLst>
          </p:cNvPr>
          <p:cNvPicPr>
            <a:picLocks noChangeAspect="1"/>
          </p:cNvPicPr>
          <p:nvPr/>
        </p:nvPicPr>
        <p:blipFill>
          <a:blip r:embed="rId2"/>
          <a:stretch>
            <a:fillRect/>
          </a:stretch>
        </p:blipFill>
        <p:spPr>
          <a:xfrm>
            <a:off x="1952594" y="123801"/>
            <a:ext cx="8286811" cy="6610398"/>
          </a:xfrm>
          <a:prstGeom prst="rect">
            <a:avLst/>
          </a:prstGeom>
        </p:spPr>
      </p:pic>
    </p:spTree>
    <p:extLst>
      <p:ext uri="{BB962C8B-B14F-4D97-AF65-F5344CB8AC3E}">
        <p14:creationId xmlns:p14="http://schemas.microsoft.com/office/powerpoint/2010/main" val="2415040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416C133-3887-9E26-F2F4-947EE69CCB8D}"/>
              </a:ext>
            </a:extLst>
          </p:cNvPr>
          <p:cNvPicPr>
            <a:picLocks noChangeAspect="1"/>
          </p:cNvPicPr>
          <p:nvPr/>
        </p:nvPicPr>
        <p:blipFill>
          <a:blip r:embed="rId2"/>
          <a:stretch>
            <a:fillRect/>
          </a:stretch>
        </p:blipFill>
        <p:spPr>
          <a:xfrm>
            <a:off x="884374" y="1215563"/>
            <a:ext cx="10740639" cy="3398381"/>
          </a:xfrm>
          <a:prstGeom prst="rect">
            <a:avLst/>
          </a:prstGeom>
        </p:spPr>
      </p:pic>
    </p:spTree>
    <p:extLst>
      <p:ext uri="{BB962C8B-B14F-4D97-AF65-F5344CB8AC3E}">
        <p14:creationId xmlns:p14="http://schemas.microsoft.com/office/powerpoint/2010/main" val="2358663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98F693A-CAC9-0134-F512-03A7DFD7FA52}"/>
              </a:ext>
            </a:extLst>
          </p:cNvPr>
          <p:cNvPicPr>
            <a:picLocks noChangeAspect="1"/>
          </p:cNvPicPr>
          <p:nvPr/>
        </p:nvPicPr>
        <p:blipFill>
          <a:blip r:embed="rId2"/>
          <a:stretch>
            <a:fillRect/>
          </a:stretch>
        </p:blipFill>
        <p:spPr>
          <a:xfrm>
            <a:off x="2474119" y="0"/>
            <a:ext cx="7243762" cy="6858000"/>
          </a:xfrm>
          <a:prstGeom prst="rect">
            <a:avLst/>
          </a:prstGeom>
        </p:spPr>
      </p:pic>
    </p:spTree>
    <p:extLst>
      <p:ext uri="{BB962C8B-B14F-4D97-AF65-F5344CB8AC3E}">
        <p14:creationId xmlns:p14="http://schemas.microsoft.com/office/powerpoint/2010/main" val="3462996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6DE6EC1-A75E-113D-F84C-D066AFF8D3A9}"/>
              </a:ext>
            </a:extLst>
          </p:cNvPr>
          <p:cNvPicPr>
            <a:picLocks noChangeAspect="1"/>
          </p:cNvPicPr>
          <p:nvPr/>
        </p:nvPicPr>
        <p:blipFill>
          <a:blip r:embed="rId2"/>
          <a:stretch>
            <a:fillRect/>
          </a:stretch>
        </p:blipFill>
        <p:spPr>
          <a:xfrm>
            <a:off x="2835482" y="0"/>
            <a:ext cx="6521035" cy="6858000"/>
          </a:xfrm>
          <a:prstGeom prst="rect">
            <a:avLst/>
          </a:prstGeom>
        </p:spPr>
      </p:pic>
    </p:spTree>
    <p:extLst>
      <p:ext uri="{BB962C8B-B14F-4D97-AF65-F5344CB8AC3E}">
        <p14:creationId xmlns:p14="http://schemas.microsoft.com/office/powerpoint/2010/main" val="1979549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7A5CDC79-EAFA-84F0-C5A4-CA43CCBA827D}"/>
              </a:ext>
            </a:extLst>
          </p:cNvPr>
          <p:cNvSpPr>
            <a:spLocks noGrp="1"/>
          </p:cNvSpPr>
          <p:nvPr>
            <p:ph type="subTitle" idx="1"/>
          </p:nvPr>
        </p:nvSpPr>
        <p:spPr>
          <a:xfrm>
            <a:off x="1524000" y="2601119"/>
            <a:ext cx="9144000" cy="1655762"/>
          </a:xfrm>
        </p:spPr>
        <p:txBody>
          <a:bodyPr>
            <a:normAutofit/>
          </a:bodyPr>
          <a:lstStyle/>
          <a:p>
            <a:r>
              <a:rPr lang="zh-CN" altLang="en-US" sz="4800" dirty="0"/>
              <a:t>专题四 循环结构</a:t>
            </a:r>
          </a:p>
        </p:txBody>
      </p:sp>
    </p:spTree>
    <p:extLst>
      <p:ext uri="{BB962C8B-B14F-4D97-AF65-F5344CB8AC3E}">
        <p14:creationId xmlns:p14="http://schemas.microsoft.com/office/powerpoint/2010/main" val="1468667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C2851-E02A-991A-260E-24F7946CB157}"/>
              </a:ext>
            </a:extLst>
          </p:cNvPr>
          <p:cNvSpPr>
            <a:spLocks noGrp="1"/>
          </p:cNvSpPr>
          <p:nvPr>
            <p:ph type="title"/>
          </p:nvPr>
        </p:nvSpPr>
        <p:spPr/>
        <p:txBody>
          <a:bodyPr/>
          <a:lstStyle/>
          <a:p>
            <a:r>
              <a:rPr lang="zh-CN" altLang="en-US" dirty="0"/>
              <a:t>内容预览</a:t>
            </a:r>
          </a:p>
        </p:txBody>
      </p:sp>
      <p:sp>
        <p:nvSpPr>
          <p:cNvPr id="3" name="内容占位符 2">
            <a:extLst>
              <a:ext uri="{FF2B5EF4-FFF2-40B4-BE49-F238E27FC236}">
                <a16:creationId xmlns:a16="http://schemas.microsoft.com/office/drawing/2014/main" id="{3310E2B3-A6DF-F857-A716-B5E1C7E2164E}"/>
              </a:ext>
            </a:extLst>
          </p:cNvPr>
          <p:cNvSpPr>
            <a:spLocks noGrp="1"/>
          </p:cNvSpPr>
          <p:nvPr>
            <p:ph idx="1"/>
          </p:nvPr>
        </p:nvSpPr>
        <p:spPr/>
        <p:txBody>
          <a:bodyPr/>
          <a:lstStyle/>
          <a:p>
            <a:r>
              <a:rPr lang="en-US" altLang="zh-CN" dirty="0"/>
              <a:t>while</a:t>
            </a:r>
            <a:r>
              <a:rPr lang="zh-CN" altLang="en-US" dirty="0"/>
              <a:t>语句</a:t>
            </a:r>
            <a:endParaRPr lang="en-US" altLang="zh-CN" dirty="0"/>
          </a:p>
          <a:p>
            <a:r>
              <a:rPr lang="en-US" altLang="zh-CN" dirty="0"/>
              <a:t>do-while</a:t>
            </a:r>
            <a:r>
              <a:rPr lang="zh-CN" altLang="en-US" dirty="0"/>
              <a:t>语句</a:t>
            </a:r>
            <a:endParaRPr lang="en-US" altLang="zh-CN" dirty="0"/>
          </a:p>
          <a:p>
            <a:r>
              <a:rPr lang="en-US" altLang="zh-CN" dirty="0"/>
              <a:t>for</a:t>
            </a:r>
            <a:r>
              <a:rPr lang="zh-CN" altLang="en-US" dirty="0"/>
              <a:t>语句</a:t>
            </a:r>
            <a:endParaRPr lang="en-US" altLang="zh-CN" dirty="0"/>
          </a:p>
          <a:p>
            <a:r>
              <a:rPr lang="zh-CN" altLang="en-US" dirty="0"/>
              <a:t>辅助控制语句</a:t>
            </a:r>
          </a:p>
        </p:txBody>
      </p:sp>
    </p:spTree>
    <p:extLst>
      <p:ext uri="{BB962C8B-B14F-4D97-AF65-F5344CB8AC3E}">
        <p14:creationId xmlns:p14="http://schemas.microsoft.com/office/powerpoint/2010/main" val="1401873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26727-B5EF-03D5-CEEC-B50497B650F7}"/>
              </a:ext>
            </a:extLst>
          </p:cNvPr>
          <p:cNvSpPr>
            <a:spLocks noGrp="1"/>
          </p:cNvSpPr>
          <p:nvPr>
            <p:ph type="title"/>
          </p:nvPr>
        </p:nvSpPr>
        <p:spPr/>
        <p:txBody>
          <a:bodyPr/>
          <a:lstStyle/>
          <a:p>
            <a:r>
              <a:rPr lang="en-US" altLang="zh-CN" dirty="0"/>
              <a:t>4.1 while</a:t>
            </a:r>
            <a:r>
              <a:rPr lang="zh-CN" altLang="en-US" dirty="0"/>
              <a:t>语句</a:t>
            </a:r>
          </a:p>
        </p:txBody>
      </p:sp>
      <p:sp>
        <p:nvSpPr>
          <p:cNvPr id="3" name="内容占位符 2">
            <a:extLst>
              <a:ext uri="{FF2B5EF4-FFF2-40B4-BE49-F238E27FC236}">
                <a16:creationId xmlns:a16="http://schemas.microsoft.com/office/drawing/2014/main" id="{0571CD3B-B746-BB01-35D4-A03AFB0BA0B5}"/>
              </a:ext>
            </a:extLst>
          </p:cNvPr>
          <p:cNvSpPr>
            <a:spLocks noGrp="1"/>
          </p:cNvSpPr>
          <p:nvPr>
            <p:ph idx="1"/>
          </p:nvPr>
        </p:nvSpPr>
        <p:spPr/>
        <p:txBody>
          <a:bodyPr/>
          <a:lstStyle/>
          <a:p>
            <a:r>
              <a:rPr lang="zh-CN" altLang="en-US" dirty="0"/>
              <a:t>循环结构</a:t>
            </a:r>
            <a:r>
              <a:rPr lang="en-US" altLang="zh-CN" dirty="0"/>
              <a:t>:</a:t>
            </a:r>
            <a:r>
              <a:rPr lang="zh-CN" altLang="en-US" dirty="0"/>
              <a:t>循环结构是指在给定条件时，反复执行某个程序段。</a:t>
            </a:r>
            <a:endParaRPr lang="en-US" altLang="zh-CN" dirty="0"/>
          </a:p>
          <a:p>
            <a:endParaRPr lang="en-US" altLang="zh-CN" dirty="0"/>
          </a:p>
          <a:p>
            <a:r>
              <a:rPr lang="en-US" altLang="zh-CN" dirty="0"/>
              <a:t>while</a:t>
            </a:r>
            <a:r>
              <a:rPr lang="zh-CN" altLang="en-US" dirty="0"/>
              <a:t>语句是一个基本的循环结构。</a:t>
            </a:r>
            <a:endParaRPr lang="en-US" altLang="zh-CN" dirty="0"/>
          </a:p>
          <a:p>
            <a:pPr marL="0" indent="0">
              <a:buNone/>
            </a:pPr>
            <a:r>
              <a:rPr lang="zh-CN" altLang="en-US" dirty="0"/>
              <a:t>它的一般形式为：</a:t>
            </a:r>
            <a:endParaRPr lang="en-US" altLang="zh-CN" dirty="0"/>
          </a:p>
          <a:p>
            <a:pPr marL="0" indent="0">
              <a:buNone/>
            </a:pPr>
            <a:endParaRPr lang="en-US" altLang="zh-CN" dirty="0"/>
          </a:p>
          <a:p>
            <a:pPr marL="0" indent="0">
              <a:buNone/>
            </a:pPr>
            <a:endParaRPr lang="en-US" altLang="zh-CN" dirty="0"/>
          </a:p>
          <a:p>
            <a:pPr marL="0" indent="0">
              <a:buNone/>
            </a:pPr>
            <a:r>
              <a:rPr lang="zh-CN" altLang="en-US" dirty="0"/>
              <a:t>当条件表达式的值为真</a:t>
            </a:r>
            <a:r>
              <a:rPr lang="en-US" altLang="zh-CN" dirty="0"/>
              <a:t>(</a:t>
            </a:r>
            <a:r>
              <a:rPr lang="zh-CN" altLang="en-US" dirty="0"/>
              <a:t>即非</a:t>
            </a:r>
            <a:r>
              <a:rPr lang="en-US" altLang="zh-CN" dirty="0"/>
              <a:t>0)</a:t>
            </a:r>
            <a:r>
              <a:rPr lang="zh-CN" altLang="en-US" dirty="0"/>
              <a:t>时，执行循环体；为假</a:t>
            </a:r>
            <a:r>
              <a:rPr lang="en-US" altLang="zh-CN" dirty="0"/>
              <a:t>(0)</a:t>
            </a:r>
            <a:r>
              <a:rPr lang="zh-CN" altLang="en-US" dirty="0"/>
              <a:t>时循环体结束</a:t>
            </a:r>
            <a:endParaRPr lang="en-US" altLang="zh-CN" dirty="0"/>
          </a:p>
        </p:txBody>
      </p:sp>
      <p:pic>
        <p:nvPicPr>
          <p:cNvPr id="5" name="图片 4">
            <a:extLst>
              <a:ext uri="{FF2B5EF4-FFF2-40B4-BE49-F238E27FC236}">
                <a16:creationId xmlns:a16="http://schemas.microsoft.com/office/drawing/2014/main" id="{497276BF-956B-93AE-FFDB-569E480F51C2}"/>
              </a:ext>
            </a:extLst>
          </p:cNvPr>
          <p:cNvPicPr>
            <a:picLocks noChangeAspect="1"/>
          </p:cNvPicPr>
          <p:nvPr/>
        </p:nvPicPr>
        <p:blipFill>
          <a:blip r:embed="rId3"/>
          <a:stretch>
            <a:fillRect/>
          </a:stretch>
        </p:blipFill>
        <p:spPr>
          <a:xfrm>
            <a:off x="934023" y="3826042"/>
            <a:ext cx="4972306" cy="1073205"/>
          </a:xfrm>
          <a:prstGeom prst="rect">
            <a:avLst/>
          </a:prstGeom>
        </p:spPr>
      </p:pic>
    </p:spTree>
    <p:extLst>
      <p:ext uri="{BB962C8B-B14F-4D97-AF65-F5344CB8AC3E}">
        <p14:creationId xmlns:p14="http://schemas.microsoft.com/office/powerpoint/2010/main" val="3587295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D4C22-3F8A-1F96-28D7-AC3557E34404}"/>
              </a:ext>
            </a:extLst>
          </p:cNvPr>
          <p:cNvSpPr>
            <a:spLocks noGrp="1"/>
          </p:cNvSpPr>
          <p:nvPr>
            <p:ph type="title"/>
          </p:nvPr>
        </p:nvSpPr>
        <p:spPr/>
        <p:txBody>
          <a:bodyPr/>
          <a:lstStyle/>
          <a:p>
            <a:r>
              <a:rPr lang="en-US" altLang="zh-CN" dirty="0"/>
              <a:t>while</a:t>
            </a:r>
            <a:r>
              <a:rPr lang="zh-CN" altLang="en-US" dirty="0"/>
              <a:t>语句的组成</a:t>
            </a:r>
          </a:p>
        </p:txBody>
      </p:sp>
      <p:pic>
        <p:nvPicPr>
          <p:cNvPr id="2050" name="Picture 2">
            <a:extLst>
              <a:ext uri="{FF2B5EF4-FFF2-40B4-BE49-F238E27FC236}">
                <a16:creationId xmlns:a16="http://schemas.microsoft.com/office/drawing/2014/main" id="{189EE83A-79BF-946D-DA4A-B544E4D099C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10325" y="1510453"/>
            <a:ext cx="10771350" cy="6576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435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89608-3F9A-36F1-5769-320566F238E9}"/>
              </a:ext>
            </a:extLst>
          </p:cNvPr>
          <p:cNvSpPr>
            <a:spLocks noGrp="1"/>
          </p:cNvSpPr>
          <p:nvPr>
            <p:ph type="title"/>
          </p:nvPr>
        </p:nvSpPr>
        <p:spPr/>
        <p:txBody>
          <a:bodyPr/>
          <a:lstStyle/>
          <a:p>
            <a:r>
              <a:rPr lang="zh-CN" altLang="en-US" dirty="0"/>
              <a:t>注意看</a:t>
            </a:r>
            <a:r>
              <a:rPr lang="en-US" altLang="zh-CN" dirty="0"/>
              <a:t>:</a:t>
            </a:r>
            <a:endParaRPr lang="zh-CN" altLang="en-US" dirty="0"/>
          </a:p>
        </p:txBody>
      </p:sp>
      <p:sp>
        <p:nvSpPr>
          <p:cNvPr id="3" name="内容占位符 2">
            <a:extLst>
              <a:ext uri="{FF2B5EF4-FFF2-40B4-BE49-F238E27FC236}">
                <a16:creationId xmlns:a16="http://schemas.microsoft.com/office/drawing/2014/main" id="{ED49B89E-E4B7-5811-AD25-25E8DF1C9241}"/>
              </a:ext>
            </a:extLst>
          </p:cNvPr>
          <p:cNvSpPr>
            <a:spLocks noGrp="1"/>
          </p:cNvSpPr>
          <p:nvPr>
            <p:ph idx="1"/>
          </p:nvPr>
        </p:nvSpPr>
        <p:spPr/>
        <p:txBody>
          <a:bodyPr>
            <a:normAutofit fontScale="92500" lnSpcReduction="10000"/>
          </a:bodyPr>
          <a:lstStyle/>
          <a:p>
            <a:r>
              <a:rPr lang="en-US" altLang="zh-CN" dirty="0"/>
              <a:t>while(1)</a:t>
            </a:r>
            <a:r>
              <a:rPr lang="zh-CN" altLang="en-US" dirty="0"/>
              <a:t>表示无限循环。</a:t>
            </a:r>
            <a:endParaRPr lang="en-US" altLang="zh-CN" dirty="0"/>
          </a:p>
          <a:p>
            <a:r>
              <a:rPr lang="zh-CN" altLang="en-US" dirty="0"/>
              <a:t>当循环体不需要进行任何功能时，可以用空语句代替循环体。</a:t>
            </a:r>
            <a:endParaRPr lang="en-US" altLang="zh-CN" dirty="0"/>
          </a:p>
          <a:p>
            <a:pPr marL="0" indent="0">
              <a:buNone/>
            </a:pPr>
            <a:r>
              <a:rPr lang="zh-CN" altLang="en-US" dirty="0"/>
              <a:t>例如：通过</a:t>
            </a:r>
            <a:r>
              <a:rPr lang="en-US" altLang="zh-CN" dirty="0"/>
              <a:t>while</a:t>
            </a:r>
            <a:r>
              <a:rPr lang="zh-CN" altLang="en-US" dirty="0"/>
              <a:t>语句令指针由指向首地址到指向尾地址。</a:t>
            </a:r>
            <a:endParaRPr lang="en-US" altLang="zh-CN" dirty="0"/>
          </a:p>
          <a:p>
            <a:pPr marL="0" indent="0">
              <a:buNone/>
            </a:pPr>
            <a:endParaRPr lang="en-US" altLang="zh-CN" dirty="0"/>
          </a:p>
          <a:p>
            <a:pPr marL="514350" indent="-514350">
              <a:buAutoNum type="arabicPeriod"/>
            </a:pPr>
            <a:r>
              <a:rPr lang="en-US" altLang="zh-CN" dirty="0"/>
              <a:t>++</a:t>
            </a:r>
            <a:r>
              <a:rPr lang="zh-CN" altLang="en-US" dirty="0"/>
              <a:t>的优先级高于</a:t>
            </a:r>
            <a:r>
              <a:rPr lang="en-US" altLang="zh-CN" dirty="0"/>
              <a:t>+</a:t>
            </a:r>
            <a:r>
              <a:rPr lang="zh-CN" altLang="en-US" dirty="0"/>
              <a:t>，所以先执行</a:t>
            </a:r>
            <a:r>
              <a:rPr lang="en-US" altLang="zh-CN" dirty="0"/>
              <a:t>p++</a:t>
            </a:r>
            <a:r>
              <a:rPr lang="zh-CN" altLang="en-US" dirty="0"/>
              <a:t>，再执行</a:t>
            </a:r>
            <a:r>
              <a:rPr lang="en-US" altLang="zh-CN" dirty="0"/>
              <a:t>+2</a:t>
            </a:r>
            <a:r>
              <a:rPr lang="zh-CN" altLang="en-US" dirty="0"/>
              <a:t>。</a:t>
            </a:r>
            <a:endParaRPr lang="en-US" altLang="zh-CN" dirty="0"/>
          </a:p>
          <a:p>
            <a:pPr marL="514350" indent="-514350">
              <a:buAutoNum type="arabicPeriod"/>
            </a:pPr>
            <a:r>
              <a:rPr lang="en-US" altLang="zh-CN" dirty="0"/>
              <a:t>*(p+++2)</a:t>
            </a:r>
            <a:r>
              <a:rPr lang="zh-CN" altLang="en-US" dirty="0"/>
              <a:t>表示取出指针</a:t>
            </a:r>
            <a:r>
              <a:rPr lang="en-US" altLang="zh-CN" dirty="0"/>
              <a:t>p</a:t>
            </a:r>
            <a:r>
              <a:rPr lang="zh-CN" altLang="en-US" dirty="0"/>
              <a:t>移动后的位置的值。</a:t>
            </a:r>
            <a:endParaRPr lang="en-US" altLang="zh-CN" dirty="0"/>
          </a:p>
          <a:p>
            <a:pPr marL="514350" indent="-514350">
              <a:buAutoNum type="arabicPeriod"/>
            </a:pPr>
            <a:r>
              <a:rPr lang="zh-CN" altLang="en-US" b="1" dirty="0"/>
              <a:t>该循环没有语句部分，即空语句</a:t>
            </a:r>
            <a:r>
              <a:rPr lang="zh-CN" altLang="en-US" dirty="0"/>
              <a:t>。若</a:t>
            </a:r>
            <a:r>
              <a:rPr lang="en-US" altLang="zh-CN" dirty="0"/>
              <a:t>*(p+++2)</a:t>
            </a:r>
            <a:r>
              <a:rPr lang="zh-CN" altLang="en-US" dirty="0"/>
              <a:t>的值为非零，则继续执行循环；否则退出循环。</a:t>
            </a:r>
            <a:endParaRPr lang="en-US" altLang="zh-CN" dirty="0"/>
          </a:p>
          <a:p>
            <a:pPr marL="514350" indent="-514350">
              <a:buAutoNum type="arabicPeriod"/>
            </a:pPr>
            <a:r>
              <a:rPr lang="zh-CN" altLang="en-US" dirty="0"/>
              <a:t>该表达式可用于遍历字符串和数组，直到遇到零为止。</a:t>
            </a:r>
            <a:endParaRPr lang="en-US" altLang="zh-CN" dirty="0"/>
          </a:p>
          <a:p>
            <a:r>
              <a:rPr lang="zh-CN" altLang="en-US" dirty="0"/>
              <a:t>可以在</a:t>
            </a:r>
            <a:r>
              <a:rPr lang="en-US" altLang="zh-CN" dirty="0"/>
              <a:t>while</a:t>
            </a:r>
            <a:r>
              <a:rPr lang="zh-CN" altLang="en-US" dirty="0"/>
              <a:t>语句里对变量赋值。</a:t>
            </a:r>
          </a:p>
        </p:txBody>
      </p:sp>
      <p:pic>
        <p:nvPicPr>
          <p:cNvPr id="5" name="图片 4">
            <a:extLst>
              <a:ext uri="{FF2B5EF4-FFF2-40B4-BE49-F238E27FC236}">
                <a16:creationId xmlns:a16="http://schemas.microsoft.com/office/drawing/2014/main" id="{7323C8FE-2DC1-BACB-118F-B93ECDA46301}"/>
              </a:ext>
            </a:extLst>
          </p:cNvPr>
          <p:cNvPicPr>
            <a:picLocks noChangeAspect="1"/>
          </p:cNvPicPr>
          <p:nvPr/>
        </p:nvPicPr>
        <p:blipFill>
          <a:blip r:embed="rId2"/>
          <a:stretch>
            <a:fillRect/>
          </a:stretch>
        </p:blipFill>
        <p:spPr>
          <a:xfrm>
            <a:off x="964508" y="3141539"/>
            <a:ext cx="3842880" cy="429434"/>
          </a:xfrm>
          <a:prstGeom prst="rect">
            <a:avLst/>
          </a:prstGeom>
        </p:spPr>
      </p:pic>
    </p:spTree>
    <p:extLst>
      <p:ext uri="{BB962C8B-B14F-4D97-AF65-F5344CB8AC3E}">
        <p14:creationId xmlns:p14="http://schemas.microsoft.com/office/powerpoint/2010/main" val="131192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4A7E0-71E1-B169-20F0-D11C945C7BC6}"/>
              </a:ext>
            </a:extLst>
          </p:cNvPr>
          <p:cNvSpPr>
            <a:spLocks noGrp="1"/>
          </p:cNvSpPr>
          <p:nvPr>
            <p:ph type="title"/>
          </p:nvPr>
        </p:nvSpPr>
        <p:spPr/>
        <p:txBody>
          <a:bodyPr/>
          <a:lstStyle/>
          <a:p>
            <a:r>
              <a:rPr lang="zh-CN" altLang="en-US" dirty="0"/>
              <a:t>关于</a:t>
            </a:r>
            <a:r>
              <a:rPr lang="en-US" altLang="zh-CN" dirty="0"/>
              <a:t>break</a:t>
            </a:r>
            <a:r>
              <a:rPr lang="zh-CN" altLang="en-US" dirty="0"/>
              <a:t>、</a:t>
            </a:r>
            <a:r>
              <a:rPr lang="en-US" altLang="zh-CN" dirty="0"/>
              <a:t>continue</a:t>
            </a:r>
            <a:r>
              <a:rPr lang="zh-CN" altLang="en-US" dirty="0"/>
              <a:t>在</a:t>
            </a:r>
            <a:r>
              <a:rPr lang="en-US" altLang="zh-CN" dirty="0"/>
              <a:t>while</a:t>
            </a:r>
            <a:r>
              <a:rPr lang="zh-CN" altLang="en-US" dirty="0"/>
              <a:t>循环中的使用</a:t>
            </a:r>
          </a:p>
        </p:txBody>
      </p:sp>
      <p:sp>
        <p:nvSpPr>
          <p:cNvPr id="3" name="内容占位符 2">
            <a:extLst>
              <a:ext uri="{FF2B5EF4-FFF2-40B4-BE49-F238E27FC236}">
                <a16:creationId xmlns:a16="http://schemas.microsoft.com/office/drawing/2014/main" id="{4702FC12-03CC-4D3F-4276-346489D70FA5}"/>
              </a:ext>
            </a:extLst>
          </p:cNvPr>
          <p:cNvSpPr>
            <a:spLocks noGrp="1"/>
          </p:cNvSpPr>
          <p:nvPr>
            <p:ph idx="1"/>
          </p:nvPr>
        </p:nvSpPr>
        <p:spPr/>
        <p:txBody>
          <a:bodyPr/>
          <a:lstStyle/>
          <a:p>
            <a:r>
              <a:rPr lang="en-US" altLang="zh-CN" dirty="0"/>
              <a:t>break</a:t>
            </a:r>
            <a:r>
              <a:rPr lang="zh-CN" altLang="en-US" dirty="0"/>
              <a:t>的使用：</a:t>
            </a:r>
            <a:endParaRPr lang="en-US" altLang="zh-CN" dirty="0"/>
          </a:p>
          <a:p>
            <a:pPr marL="0" indent="0">
              <a:buNone/>
            </a:pPr>
            <a:r>
              <a:rPr lang="en-US" altLang="zh-CN" dirty="0"/>
              <a:t>  </a:t>
            </a:r>
            <a:r>
              <a:rPr lang="zh-CN" altLang="en-US" dirty="0"/>
              <a:t>在</a:t>
            </a:r>
            <a:r>
              <a:rPr lang="en-US" altLang="zh-CN" dirty="0"/>
              <a:t>while</a:t>
            </a:r>
            <a:r>
              <a:rPr lang="zh-CN" altLang="en-US" dirty="0"/>
              <a:t>循环中，只要遇到</a:t>
            </a:r>
            <a:r>
              <a:rPr lang="en-US" altLang="zh-CN" dirty="0"/>
              <a:t>break</a:t>
            </a:r>
            <a:r>
              <a:rPr lang="zh-CN" altLang="en-US" dirty="0"/>
              <a:t>，就停止后期的</a:t>
            </a:r>
            <a:r>
              <a:rPr lang="zh-CN" altLang="en-US" b="1" dirty="0"/>
              <a:t>所有</a:t>
            </a:r>
            <a:r>
              <a:rPr lang="zh-CN" altLang="en-US" dirty="0"/>
              <a:t>循环，直接终止循环。</a:t>
            </a:r>
            <a:endParaRPr lang="en-US" altLang="zh-CN" dirty="0"/>
          </a:p>
          <a:p>
            <a:r>
              <a:rPr lang="en-US" altLang="zh-CN" dirty="0"/>
              <a:t>continue</a:t>
            </a:r>
            <a:r>
              <a:rPr lang="zh-CN" altLang="en-US" dirty="0"/>
              <a:t>的使用</a:t>
            </a:r>
            <a:r>
              <a:rPr lang="en-US" altLang="zh-CN" dirty="0"/>
              <a:t>:</a:t>
            </a:r>
          </a:p>
          <a:p>
            <a:pPr marL="0" indent="0">
              <a:buNone/>
            </a:pPr>
            <a:r>
              <a:rPr lang="en-US" altLang="zh-CN" b="0" i="0" dirty="0">
                <a:solidFill>
                  <a:srgbClr val="4D4D4D"/>
                </a:solidFill>
                <a:effectLst/>
                <a:latin typeface="-apple-system"/>
              </a:rPr>
              <a:t>  </a:t>
            </a:r>
            <a:r>
              <a:rPr lang="en-US" altLang="zh-CN" dirty="0"/>
              <a:t>continue</a:t>
            </a:r>
            <a:r>
              <a:rPr lang="zh-CN" altLang="en-US" dirty="0"/>
              <a:t>只用于终止</a:t>
            </a:r>
            <a:r>
              <a:rPr lang="zh-CN" altLang="en-US" b="1" dirty="0"/>
              <a:t>本次</a:t>
            </a:r>
            <a:r>
              <a:rPr lang="zh-CN" altLang="en-US" dirty="0"/>
              <a:t>循环，也就是在本次循环中</a:t>
            </a:r>
            <a:r>
              <a:rPr lang="en-US" altLang="zh-CN" dirty="0"/>
              <a:t>continue</a:t>
            </a:r>
            <a:r>
              <a:rPr lang="zh-CN" altLang="en-US" dirty="0"/>
              <a:t>后边的代码不会再执行，而是直接跳转到</a:t>
            </a:r>
            <a:r>
              <a:rPr lang="en-US" altLang="zh-CN" dirty="0"/>
              <a:t>while</a:t>
            </a:r>
            <a:r>
              <a:rPr lang="zh-CN" altLang="en-US" dirty="0"/>
              <a:t>语句的判断部分。进行下一次循环的入口判断。</a:t>
            </a:r>
          </a:p>
        </p:txBody>
      </p:sp>
    </p:spTree>
    <p:extLst>
      <p:ext uri="{BB962C8B-B14F-4D97-AF65-F5344CB8AC3E}">
        <p14:creationId xmlns:p14="http://schemas.microsoft.com/office/powerpoint/2010/main" val="41907945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492935-EFFC-8A91-66D4-7B11A41C03AF}"/>
              </a:ext>
            </a:extLst>
          </p:cNvPr>
          <p:cNvSpPr>
            <a:spLocks noGrp="1"/>
          </p:cNvSpPr>
          <p:nvPr>
            <p:ph type="title"/>
          </p:nvPr>
        </p:nvSpPr>
        <p:spPr/>
        <p:txBody>
          <a:bodyPr/>
          <a:lstStyle/>
          <a:p>
            <a:r>
              <a:rPr lang="zh-CN" altLang="en-US" dirty="0"/>
              <a:t>举例：</a:t>
            </a:r>
            <a:r>
              <a:rPr lang="en-US" altLang="zh-CN" dirty="0"/>
              <a:t>break</a:t>
            </a:r>
            <a:r>
              <a:rPr lang="zh-CN" altLang="en-US" dirty="0"/>
              <a:t>的作用</a:t>
            </a:r>
          </a:p>
        </p:txBody>
      </p:sp>
      <p:sp>
        <p:nvSpPr>
          <p:cNvPr id="3" name="内容占位符 2">
            <a:extLst>
              <a:ext uri="{FF2B5EF4-FFF2-40B4-BE49-F238E27FC236}">
                <a16:creationId xmlns:a16="http://schemas.microsoft.com/office/drawing/2014/main" id="{D7198D2A-025D-4C04-7D11-D7A8AA6AC602}"/>
              </a:ext>
            </a:extLst>
          </p:cNvPr>
          <p:cNvSpPr>
            <a:spLocks noGrp="1"/>
          </p:cNvSpPr>
          <p:nvPr>
            <p:ph idx="1"/>
          </p:nvPr>
        </p:nvSpPr>
        <p:spPr/>
        <p:txBody>
          <a:bodyPr>
            <a:normAutofit lnSpcReduction="1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输出结果：</a:t>
            </a:r>
            <a:r>
              <a:rPr lang="en-US" altLang="zh-CN" dirty="0"/>
              <a:t>1 2 3 4</a:t>
            </a:r>
            <a:endParaRPr lang="zh-CN" altLang="en-US" dirty="0"/>
          </a:p>
        </p:txBody>
      </p:sp>
      <p:pic>
        <p:nvPicPr>
          <p:cNvPr id="7" name="图片 6">
            <a:extLst>
              <a:ext uri="{FF2B5EF4-FFF2-40B4-BE49-F238E27FC236}">
                <a16:creationId xmlns:a16="http://schemas.microsoft.com/office/drawing/2014/main" id="{F8F61B69-A731-3BCE-4387-1A75476E2AF6}"/>
              </a:ext>
            </a:extLst>
          </p:cNvPr>
          <p:cNvPicPr>
            <a:picLocks noChangeAspect="1"/>
          </p:cNvPicPr>
          <p:nvPr/>
        </p:nvPicPr>
        <p:blipFill>
          <a:blip r:embed="rId2"/>
          <a:stretch>
            <a:fillRect/>
          </a:stretch>
        </p:blipFill>
        <p:spPr>
          <a:xfrm>
            <a:off x="5048196" y="1241659"/>
            <a:ext cx="4230558" cy="5542143"/>
          </a:xfrm>
          <a:prstGeom prst="rect">
            <a:avLst/>
          </a:prstGeom>
        </p:spPr>
      </p:pic>
    </p:spTree>
    <p:extLst>
      <p:ext uri="{BB962C8B-B14F-4D97-AF65-F5344CB8AC3E}">
        <p14:creationId xmlns:p14="http://schemas.microsoft.com/office/powerpoint/2010/main" val="1637850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4343B-0C98-0C38-5750-9C3A0A1E7557}"/>
              </a:ext>
            </a:extLst>
          </p:cNvPr>
          <p:cNvSpPr>
            <a:spLocks noGrp="1"/>
          </p:cNvSpPr>
          <p:nvPr>
            <p:ph type="title"/>
          </p:nvPr>
        </p:nvSpPr>
        <p:spPr/>
        <p:txBody>
          <a:bodyPr/>
          <a:lstStyle/>
          <a:p>
            <a:r>
              <a:rPr lang="zh-CN" altLang="en-US" dirty="0"/>
              <a:t>举例</a:t>
            </a:r>
            <a:r>
              <a:rPr lang="en-US" altLang="zh-CN" dirty="0"/>
              <a:t>:continue</a:t>
            </a:r>
            <a:r>
              <a:rPr lang="zh-CN" altLang="en-US" dirty="0"/>
              <a:t>的作用</a:t>
            </a:r>
          </a:p>
        </p:txBody>
      </p:sp>
      <p:sp>
        <p:nvSpPr>
          <p:cNvPr id="3" name="内容占位符 2">
            <a:extLst>
              <a:ext uri="{FF2B5EF4-FFF2-40B4-BE49-F238E27FC236}">
                <a16:creationId xmlns:a16="http://schemas.microsoft.com/office/drawing/2014/main" id="{B6B0E0CB-2A34-8435-A098-460A154D2B79}"/>
              </a:ext>
            </a:extLst>
          </p:cNvPr>
          <p:cNvSpPr>
            <a:spLocks noGrp="1"/>
          </p:cNvSpPr>
          <p:nvPr>
            <p:ph idx="1"/>
          </p:nvPr>
        </p:nvSpPr>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输出结果：光标会一直闪烁，说明</a:t>
            </a:r>
            <a:endParaRPr lang="en-US" altLang="zh-CN" dirty="0"/>
          </a:p>
          <a:p>
            <a:pPr marL="0" indent="0">
              <a:buNone/>
            </a:pPr>
            <a:r>
              <a:rPr lang="zh-CN" altLang="en-US" dirty="0"/>
              <a:t>代码还没有结束（死循环）</a:t>
            </a:r>
          </a:p>
          <a:p>
            <a:endParaRPr lang="en-US" altLang="zh-CN" dirty="0"/>
          </a:p>
          <a:p>
            <a:endParaRPr lang="en-US" altLang="zh-CN" dirty="0"/>
          </a:p>
        </p:txBody>
      </p:sp>
      <p:pic>
        <p:nvPicPr>
          <p:cNvPr id="5" name="图片 4">
            <a:extLst>
              <a:ext uri="{FF2B5EF4-FFF2-40B4-BE49-F238E27FC236}">
                <a16:creationId xmlns:a16="http://schemas.microsoft.com/office/drawing/2014/main" id="{43AAF2B6-80FF-F851-E900-A76ED0007780}"/>
              </a:ext>
            </a:extLst>
          </p:cNvPr>
          <p:cNvPicPr>
            <a:picLocks noChangeAspect="1"/>
          </p:cNvPicPr>
          <p:nvPr/>
        </p:nvPicPr>
        <p:blipFill>
          <a:blip r:embed="rId2"/>
          <a:stretch>
            <a:fillRect/>
          </a:stretch>
        </p:blipFill>
        <p:spPr>
          <a:xfrm>
            <a:off x="6565425" y="681038"/>
            <a:ext cx="4282247" cy="5941144"/>
          </a:xfrm>
          <a:prstGeom prst="rect">
            <a:avLst/>
          </a:prstGeom>
        </p:spPr>
      </p:pic>
    </p:spTree>
    <p:extLst>
      <p:ext uri="{BB962C8B-B14F-4D97-AF65-F5344CB8AC3E}">
        <p14:creationId xmlns:p14="http://schemas.microsoft.com/office/powerpoint/2010/main" val="2350787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60ABB8-769D-C4F8-19C5-E1FD3AB60358}"/>
              </a:ext>
            </a:extLst>
          </p:cNvPr>
          <p:cNvSpPr>
            <a:spLocks noGrp="1"/>
          </p:cNvSpPr>
          <p:nvPr>
            <p:ph type="title"/>
          </p:nvPr>
        </p:nvSpPr>
        <p:spPr/>
        <p:txBody>
          <a:bodyPr/>
          <a:lstStyle/>
          <a:p>
            <a:r>
              <a:rPr lang="en-US" altLang="zh-CN" dirty="0"/>
              <a:t>while</a:t>
            </a:r>
            <a:r>
              <a:rPr lang="zh-CN" altLang="en-US" dirty="0"/>
              <a:t>循环流程图：</a:t>
            </a:r>
          </a:p>
        </p:txBody>
      </p:sp>
      <p:pic>
        <p:nvPicPr>
          <p:cNvPr id="1026" name="Picture 2">
            <a:extLst>
              <a:ext uri="{FF2B5EF4-FFF2-40B4-BE49-F238E27FC236}">
                <a16:creationId xmlns:a16="http://schemas.microsoft.com/office/drawing/2014/main" id="{9654AC8A-ED19-6065-C904-D8805224CFD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9339" y="1381183"/>
            <a:ext cx="7813322" cy="5932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6713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78DF37-61D3-1BEF-2036-23C4FA4039BE}"/>
              </a:ext>
            </a:extLst>
          </p:cNvPr>
          <p:cNvSpPr>
            <a:spLocks noGrp="1"/>
          </p:cNvSpPr>
          <p:nvPr>
            <p:ph type="title"/>
          </p:nvPr>
        </p:nvSpPr>
        <p:spPr/>
        <p:txBody>
          <a:bodyPr/>
          <a:lstStyle/>
          <a:p>
            <a:r>
              <a:rPr lang="zh-CN" altLang="en-US" dirty="0"/>
              <a:t>典型例题</a:t>
            </a:r>
          </a:p>
        </p:txBody>
      </p:sp>
      <p:sp>
        <p:nvSpPr>
          <p:cNvPr id="3" name="内容占位符 2">
            <a:extLst>
              <a:ext uri="{FF2B5EF4-FFF2-40B4-BE49-F238E27FC236}">
                <a16:creationId xmlns:a16="http://schemas.microsoft.com/office/drawing/2014/main" id="{C4CDF8BF-91C5-DEE7-4929-E52A75B6D8DA}"/>
              </a:ext>
            </a:extLst>
          </p:cNvPr>
          <p:cNvSpPr>
            <a:spLocks noGrp="1"/>
          </p:cNvSpPr>
          <p:nvPr>
            <p:ph idx="1"/>
          </p:nvPr>
        </p:nvSpPr>
        <p:spPr/>
        <p:txBody>
          <a:bodyPr/>
          <a:lstStyle/>
          <a:p>
            <a:r>
              <a:rPr lang="zh-CN" altLang="en-US" dirty="0"/>
              <a:t>求和运算</a:t>
            </a:r>
            <a:endParaRPr lang="en-US" altLang="zh-CN" dirty="0"/>
          </a:p>
          <a:p>
            <a:endParaRPr lang="en-US" altLang="zh-CN" dirty="0"/>
          </a:p>
          <a:p>
            <a:r>
              <a:rPr lang="zh-CN" altLang="en-US" dirty="0"/>
              <a:t>回文数</a:t>
            </a:r>
            <a:endParaRPr lang="en-US" altLang="zh-CN" dirty="0"/>
          </a:p>
          <a:p>
            <a:endParaRPr lang="en-US" altLang="zh-CN" dirty="0"/>
          </a:p>
          <a:p>
            <a:r>
              <a:rPr lang="zh-CN" altLang="en-US" dirty="0"/>
              <a:t>字符转换</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085019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B3E32-ACE8-A365-70C1-46794687839E}"/>
              </a:ext>
            </a:extLst>
          </p:cNvPr>
          <p:cNvSpPr>
            <a:spLocks noGrp="1"/>
          </p:cNvSpPr>
          <p:nvPr>
            <p:ph type="title"/>
          </p:nvPr>
        </p:nvSpPr>
        <p:spPr/>
        <p:txBody>
          <a:bodyPr/>
          <a:lstStyle/>
          <a:p>
            <a:r>
              <a:rPr lang="zh-CN" altLang="en-US" dirty="0"/>
              <a:t>求和运算</a:t>
            </a:r>
          </a:p>
        </p:txBody>
      </p:sp>
      <p:sp>
        <p:nvSpPr>
          <p:cNvPr id="3" name="内容占位符 2">
            <a:extLst>
              <a:ext uri="{FF2B5EF4-FFF2-40B4-BE49-F238E27FC236}">
                <a16:creationId xmlns:a16="http://schemas.microsoft.com/office/drawing/2014/main" id="{1591D76F-5CCC-B7BB-30BA-26EDD5C57B68}"/>
              </a:ext>
            </a:extLst>
          </p:cNvPr>
          <p:cNvSpPr>
            <a:spLocks noGrp="1"/>
          </p:cNvSpPr>
          <p:nvPr>
            <p:ph idx="1"/>
          </p:nvPr>
        </p:nvSpPr>
        <p:spPr/>
        <p:txBody>
          <a:bodyPr/>
          <a:lstStyle/>
          <a:p>
            <a:pPr marL="0" indent="0">
              <a:buNone/>
            </a:pPr>
            <a:r>
              <a:rPr lang="zh-CN" altLang="en-US" dirty="0"/>
              <a:t>求序列：</a:t>
            </a:r>
            <a:r>
              <a:rPr lang="en-US" altLang="zh-CN" dirty="0"/>
              <a:t>1/2,3/4,5/8,7/16,9/32,......</a:t>
            </a:r>
            <a:r>
              <a:rPr lang="zh-CN" altLang="en-US" dirty="0"/>
              <a:t>，所有大于等于</a:t>
            </a:r>
            <a:r>
              <a:rPr lang="en-US" altLang="zh-CN" dirty="0"/>
              <a:t>0.000001</a:t>
            </a:r>
            <a:r>
              <a:rPr lang="zh-CN" altLang="en-US" dirty="0"/>
              <a:t>的数据项之和，显示输出计算的结果。</a:t>
            </a:r>
            <a:endParaRPr lang="en-US" altLang="zh-CN" dirty="0"/>
          </a:p>
          <a:p>
            <a:pPr marL="0" indent="0">
              <a:buNone/>
            </a:pPr>
            <a:endParaRPr lang="zh-CN" altLang="en-US" dirty="0"/>
          </a:p>
        </p:txBody>
      </p:sp>
    </p:spTree>
    <p:extLst>
      <p:ext uri="{BB962C8B-B14F-4D97-AF65-F5344CB8AC3E}">
        <p14:creationId xmlns:p14="http://schemas.microsoft.com/office/powerpoint/2010/main" val="205556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5001D3-5E19-7431-4F84-897D7778A92E}"/>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8E5DC8C3-8B7D-4D7E-0B20-EDA58E2E5297}"/>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13C48DB3-9AFC-0D5A-EBFB-6C90DC26073E}"/>
              </a:ext>
            </a:extLst>
          </p:cNvPr>
          <p:cNvPicPr>
            <a:picLocks noChangeAspect="1"/>
          </p:cNvPicPr>
          <p:nvPr/>
        </p:nvPicPr>
        <p:blipFill>
          <a:blip r:embed="rId2"/>
          <a:stretch>
            <a:fillRect/>
          </a:stretch>
        </p:blipFill>
        <p:spPr>
          <a:xfrm>
            <a:off x="685016" y="166782"/>
            <a:ext cx="5410984" cy="6524435"/>
          </a:xfrm>
          <a:prstGeom prst="rect">
            <a:avLst/>
          </a:prstGeom>
        </p:spPr>
      </p:pic>
    </p:spTree>
    <p:extLst>
      <p:ext uri="{BB962C8B-B14F-4D97-AF65-F5344CB8AC3E}">
        <p14:creationId xmlns:p14="http://schemas.microsoft.com/office/powerpoint/2010/main" val="4602440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341E2-72EF-43DE-7BB8-157ADDCDBA75}"/>
              </a:ext>
            </a:extLst>
          </p:cNvPr>
          <p:cNvSpPr>
            <a:spLocks noGrp="1"/>
          </p:cNvSpPr>
          <p:nvPr>
            <p:ph type="title"/>
          </p:nvPr>
        </p:nvSpPr>
        <p:spPr/>
        <p:txBody>
          <a:bodyPr/>
          <a:lstStyle/>
          <a:p>
            <a:r>
              <a:rPr lang="zh-CN" altLang="en-US" dirty="0"/>
              <a:t>回文数</a:t>
            </a:r>
          </a:p>
        </p:txBody>
      </p:sp>
      <p:sp>
        <p:nvSpPr>
          <p:cNvPr id="3" name="内容占位符 2">
            <a:extLst>
              <a:ext uri="{FF2B5EF4-FFF2-40B4-BE49-F238E27FC236}">
                <a16:creationId xmlns:a16="http://schemas.microsoft.com/office/drawing/2014/main" id="{B7313CEC-2BC8-F66F-A940-CD11D2B5673F}"/>
              </a:ext>
            </a:extLst>
          </p:cNvPr>
          <p:cNvSpPr>
            <a:spLocks noGrp="1"/>
          </p:cNvSpPr>
          <p:nvPr>
            <p:ph idx="1"/>
          </p:nvPr>
        </p:nvSpPr>
        <p:spPr/>
        <p:txBody>
          <a:bodyPr/>
          <a:lstStyle/>
          <a:p>
            <a:pPr marL="0" indent="0">
              <a:buNone/>
            </a:pPr>
            <a:r>
              <a:rPr lang="zh-CN" altLang="en-US" dirty="0"/>
              <a:t>输入一个整数，用</a:t>
            </a:r>
            <a:r>
              <a:rPr lang="en-US" altLang="zh-CN" dirty="0"/>
              <a:t>while</a:t>
            </a:r>
            <a:r>
              <a:rPr lang="zh-CN" altLang="en-US" dirty="0"/>
              <a:t>循环语句判断其是否为回文数。</a:t>
            </a:r>
          </a:p>
        </p:txBody>
      </p:sp>
    </p:spTree>
    <p:extLst>
      <p:ext uri="{BB962C8B-B14F-4D97-AF65-F5344CB8AC3E}">
        <p14:creationId xmlns:p14="http://schemas.microsoft.com/office/powerpoint/2010/main" val="10278735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0ED90-7C22-C05D-E3AC-CB330A49E446}"/>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6CAD515C-52A4-0F06-440D-0A566AF2E582}"/>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841D6B7C-2EB3-BAEC-96F6-653DD22BF8E4}"/>
              </a:ext>
            </a:extLst>
          </p:cNvPr>
          <p:cNvPicPr>
            <a:picLocks noChangeAspect="1"/>
          </p:cNvPicPr>
          <p:nvPr/>
        </p:nvPicPr>
        <p:blipFill>
          <a:blip r:embed="rId2"/>
          <a:stretch>
            <a:fillRect/>
          </a:stretch>
        </p:blipFill>
        <p:spPr>
          <a:xfrm>
            <a:off x="1998482" y="22202"/>
            <a:ext cx="5995447" cy="6835798"/>
          </a:xfrm>
          <a:prstGeom prst="rect">
            <a:avLst/>
          </a:prstGeom>
        </p:spPr>
      </p:pic>
    </p:spTree>
    <p:extLst>
      <p:ext uri="{BB962C8B-B14F-4D97-AF65-F5344CB8AC3E}">
        <p14:creationId xmlns:p14="http://schemas.microsoft.com/office/powerpoint/2010/main" val="163772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9CD73-1520-A2D3-6611-2E926E253099}"/>
              </a:ext>
            </a:extLst>
          </p:cNvPr>
          <p:cNvSpPr>
            <a:spLocks noGrp="1"/>
          </p:cNvSpPr>
          <p:nvPr>
            <p:ph type="title"/>
          </p:nvPr>
        </p:nvSpPr>
        <p:spPr/>
        <p:txBody>
          <a:bodyPr/>
          <a:lstStyle/>
          <a:p>
            <a:r>
              <a:rPr lang="zh-CN" altLang="en-US" dirty="0"/>
              <a:t>字符转换</a:t>
            </a:r>
          </a:p>
        </p:txBody>
      </p:sp>
      <p:pic>
        <p:nvPicPr>
          <p:cNvPr id="5" name="内容占位符 4">
            <a:extLst>
              <a:ext uri="{FF2B5EF4-FFF2-40B4-BE49-F238E27FC236}">
                <a16:creationId xmlns:a16="http://schemas.microsoft.com/office/drawing/2014/main" id="{7AC1C443-2FBB-A7C6-5FA3-9BFED7734399}"/>
              </a:ext>
            </a:extLst>
          </p:cNvPr>
          <p:cNvPicPr>
            <a:picLocks noGrp="1" noChangeAspect="1"/>
          </p:cNvPicPr>
          <p:nvPr>
            <p:ph idx="1"/>
          </p:nvPr>
        </p:nvPicPr>
        <p:blipFill>
          <a:blip r:embed="rId2"/>
          <a:stretch>
            <a:fillRect/>
          </a:stretch>
        </p:blipFill>
        <p:spPr>
          <a:xfrm>
            <a:off x="3516198" y="330601"/>
            <a:ext cx="5835191" cy="6444456"/>
          </a:xfrm>
        </p:spPr>
      </p:pic>
    </p:spTree>
    <p:extLst>
      <p:ext uri="{BB962C8B-B14F-4D97-AF65-F5344CB8AC3E}">
        <p14:creationId xmlns:p14="http://schemas.microsoft.com/office/powerpoint/2010/main" val="2146515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04D0F6-4409-9B4B-1548-DAC1B6F029A8}"/>
              </a:ext>
            </a:extLst>
          </p:cNvPr>
          <p:cNvSpPr>
            <a:spLocks noGrp="1"/>
          </p:cNvSpPr>
          <p:nvPr>
            <p:ph type="title"/>
          </p:nvPr>
        </p:nvSpPr>
        <p:spPr/>
        <p:txBody>
          <a:bodyPr/>
          <a:lstStyle/>
          <a:p>
            <a:r>
              <a:rPr lang="zh-CN" altLang="en-US" dirty="0"/>
              <a:t>实现函数</a:t>
            </a:r>
          </a:p>
        </p:txBody>
      </p:sp>
      <p:sp>
        <p:nvSpPr>
          <p:cNvPr id="3" name="内容占位符 2">
            <a:extLst>
              <a:ext uri="{FF2B5EF4-FFF2-40B4-BE49-F238E27FC236}">
                <a16:creationId xmlns:a16="http://schemas.microsoft.com/office/drawing/2014/main" id="{6F56CA31-8A40-4316-6C31-8F76CD901BC3}"/>
              </a:ext>
            </a:extLst>
          </p:cNvPr>
          <p:cNvSpPr>
            <a:spLocks noGrp="1"/>
          </p:cNvSpPr>
          <p:nvPr>
            <p:ph idx="1"/>
          </p:nvPr>
        </p:nvSpPr>
        <p:spPr/>
        <p:txBody>
          <a:bodyPr>
            <a:normAutofit lnSpcReduction="10000"/>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zh-CN" altLang="en-US" strike="sngStrike" dirty="0"/>
              <a:t>这就是罗马灭亡的原因</a:t>
            </a:r>
          </a:p>
        </p:txBody>
      </p:sp>
      <p:pic>
        <p:nvPicPr>
          <p:cNvPr id="7" name="图片 6">
            <a:extLst>
              <a:ext uri="{FF2B5EF4-FFF2-40B4-BE49-F238E27FC236}">
                <a16:creationId xmlns:a16="http://schemas.microsoft.com/office/drawing/2014/main" id="{A8D891C3-DDE2-368D-A8F3-99533EA37D07}"/>
              </a:ext>
            </a:extLst>
          </p:cNvPr>
          <p:cNvPicPr>
            <a:picLocks noChangeAspect="1"/>
          </p:cNvPicPr>
          <p:nvPr/>
        </p:nvPicPr>
        <p:blipFill>
          <a:blip r:embed="rId2"/>
          <a:stretch>
            <a:fillRect/>
          </a:stretch>
        </p:blipFill>
        <p:spPr>
          <a:xfrm>
            <a:off x="188995" y="1690688"/>
            <a:ext cx="11436938" cy="3943553"/>
          </a:xfrm>
          <a:prstGeom prst="rect">
            <a:avLst/>
          </a:prstGeom>
        </p:spPr>
      </p:pic>
    </p:spTree>
    <p:extLst>
      <p:ext uri="{BB962C8B-B14F-4D97-AF65-F5344CB8AC3E}">
        <p14:creationId xmlns:p14="http://schemas.microsoft.com/office/powerpoint/2010/main" val="18046853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 中的 do...while 循环">
            <a:extLst>
              <a:ext uri="{FF2B5EF4-FFF2-40B4-BE49-F238E27FC236}">
                <a16:creationId xmlns:a16="http://schemas.microsoft.com/office/drawing/2014/main" id="{9050E34F-B518-F34A-95EE-CF86EC05A9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94" y="196381"/>
            <a:ext cx="5896135" cy="7057266"/>
          </a:xfrm>
          <a:prstGeom prst="rect">
            <a:avLst/>
          </a:prstGeom>
          <a:noFill/>
          <a:extLst>
            <a:ext uri="{909E8E84-426E-40DD-AFC4-6F175D3DCCD1}">
              <a14:hiddenFill xmlns:a14="http://schemas.microsoft.com/office/drawing/2010/main">
                <a:solidFill>
                  <a:srgbClr val="FFFFFF"/>
                </a:solidFill>
              </a14:hiddenFill>
            </a:ext>
          </a:extLst>
        </p:spPr>
      </p:pic>
      <p:sp>
        <p:nvSpPr>
          <p:cNvPr id="4" name="标题 1">
            <a:extLst>
              <a:ext uri="{FF2B5EF4-FFF2-40B4-BE49-F238E27FC236}">
                <a16:creationId xmlns:a16="http://schemas.microsoft.com/office/drawing/2014/main" id="{36CC5D0F-B3A8-C408-B519-30152D0F7399}"/>
              </a:ext>
            </a:extLst>
          </p:cNvPr>
          <p:cNvSpPr>
            <a:spLocks noGrp="1"/>
          </p:cNvSpPr>
          <p:nvPr>
            <p:ph type="title"/>
          </p:nvPr>
        </p:nvSpPr>
        <p:spPr>
          <a:xfrm>
            <a:off x="0" y="0"/>
            <a:ext cx="10515600" cy="1325563"/>
          </a:xfrm>
        </p:spPr>
        <p:txBody>
          <a:bodyPr/>
          <a:lstStyle/>
          <a:p>
            <a:r>
              <a:rPr lang="en-US" altLang="zh-CN" dirty="0"/>
              <a:t>do while</a:t>
            </a:r>
            <a:r>
              <a:rPr lang="zh-CN" altLang="en-US" dirty="0"/>
              <a:t>循环流程图：</a:t>
            </a:r>
          </a:p>
        </p:txBody>
      </p:sp>
      <p:sp>
        <p:nvSpPr>
          <p:cNvPr id="5" name="矩形 4">
            <a:extLst>
              <a:ext uri="{FF2B5EF4-FFF2-40B4-BE49-F238E27FC236}">
                <a16:creationId xmlns:a16="http://schemas.microsoft.com/office/drawing/2014/main" id="{CE8A6FBB-AC42-ED3E-E171-A3935E7ABE36}"/>
              </a:ext>
            </a:extLst>
          </p:cNvPr>
          <p:cNvSpPr/>
          <p:nvPr/>
        </p:nvSpPr>
        <p:spPr>
          <a:xfrm>
            <a:off x="5590728" y="6186008"/>
            <a:ext cx="1945401" cy="6719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66865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E84B800-CF89-F513-F08B-7F05AA9B9E1B}"/>
              </a:ext>
            </a:extLst>
          </p:cNvPr>
          <p:cNvSpPr>
            <a:spLocks noGrp="1"/>
          </p:cNvSpPr>
          <p:nvPr>
            <p:ph idx="1"/>
          </p:nvPr>
        </p:nvSpPr>
        <p:spPr/>
        <p:txBody>
          <a:bodyPr/>
          <a:lstStyle/>
          <a:p>
            <a:r>
              <a:rPr lang="zh-CN" altLang="en-US" b="0" i="0" dirty="0">
                <a:solidFill>
                  <a:srgbClr val="333333"/>
                </a:solidFill>
                <a:effectLst/>
                <a:latin typeface="Helvetica Neue"/>
              </a:rPr>
              <a:t>请注意，条件表达式出现在循环的尾部，所以循环中的</a:t>
            </a:r>
            <a:r>
              <a:rPr lang="zh-CN" altLang="en-US" dirty="0">
                <a:solidFill>
                  <a:srgbClr val="333333"/>
                </a:solidFill>
                <a:latin typeface="Helvetica Neue"/>
              </a:rPr>
              <a:t>语句</a:t>
            </a:r>
            <a:r>
              <a:rPr lang="zh-CN" altLang="en-US" b="0" i="0" dirty="0">
                <a:solidFill>
                  <a:srgbClr val="333333"/>
                </a:solidFill>
                <a:effectLst/>
                <a:latin typeface="Helvetica Neue"/>
              </a:rPr>
              <a:t>会在条件被测试之前至少执行一次。</a:t>
            </a:r>
            <a:endParaRPr lang="zh-CN" altLang="en-US" dirty="0"/>
          </a:p>
        </p:txBody>
      </p:sp>
      <p:pic>
        <p:nvPicPr>
          <p:cNvPr id="7" name="图片 6">
            <a:extLst>
              <a:ext uri="{FF2B5EF4-FFF2-40B4-BE49-F238E27FC236}">
                <a16:creationId xmlns:a16="http://schemas.microsoft.com/office/drawing/2014/main" id="{6FEBF65C-8D15-C81B-6CBF-8E3AAC00F311}"/>
              </a:ext>
            </a:extLst>
          </p:cNvPr>
          <p:cNvPicPr>
            <a:picLocks noChangeAspect="1"/>
          </p:cNvPicPr>
          <p:nvPr/>
        </p:nvPicPr>
        <p:blipFill>
          <a:blip r:embed="rId2"/>
          <a:stretch>
            <a:fillRect/>
          </a:stretch>
        </p:blipFill>
        <p:spPr>
          <a:xfrm>
            <a:off x="3038475" y="3067844"/>
            <a:ext cx="6115050" cy="1866900"/>
          </a:xfrm>
          <a:prstGeom prst="rect">
            <a:avLst/>
          </a:prstGeom>
        </p:spPr>
      </p:pic>
    </p:spTree>
    <p:extLst>
      <p:ext uri="{BB962C8B-B14F-4D97-AF65-F5344CB8AC3E}">
        <p14:creationId xmlns:p14="http://schemas.microsoft.com/office/powerpoint/2010/main" val="173184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439922-C74D-9544-01AD-2B5A209AB41A}"/>
              </a:ext>
            </a:extLst>
          </p:cNvPr>
          <p:cNvSpPr>
            <a:spLocks noGrp="1"/>
          </p:cNvSpPr>
          <p:nvPr>
            <p:ph type="title"/>
          </p:nvPr>
        </p:nvSpPr>
        <p:spPr/>
        <p:txBody>
          <a:bodyPr/>
          <a:lstStyle/>
          <a:p>
            <a:r>
              <a:rPr lang="zh-CN" altLang="en-US" dirty="0"/>
              <a:t>典型例题：</a:t>
            </a:r>
          </a:p>
        </p:txBody>
      </p:sp>
      <p:sp>
        <p:nvSpPr>
          <p:cNvPr id="4" name="内容占位符 2">
            <a:extLst>
              <a:ext uri="{FF2B5EF4-FFF2-40B4-BE49-F238E27FC236}">
                <a16:creationId xmlns:a16="http://schemas.microsoft.com/office/drawing/2014/main" id="{33E8970C-E79A-510B-8A17-83681ABE2C19}"/>
              </a:ext>
            </a:extLst>
          </p:cNvPr>
          <p:cNvSpPr>
            <a:spLocks noGrp="1"/>
          </p:cNvSpPr>
          <p:nvPr>
            <p:ph idx="1"/>
          </p:nvPr>
        </p:nvSpPr>
        <p:spPr>
          <a:xfrm>
            <a:off x="838200" y="1825625"/>
            <a:ext cx="10515600" cy="4351338"/>
          </a:xfrm>
        </p:spPr>
        <p:txBody>
          <a:bodyPr/>
          <a:lstStyle/>
          <a:p>
            <a:r>
              <a:rPr lang="zh-CN" altLang="en-US" dirty="0"/>
              <a:t>求和运算</a:t>
            </a:r>
            <a:r>
              <a:rPr lang="en-US" altLang="zh-CN" dirty="0"/>
              <a:t>(</a:t>
            </a:r>
            <a:r>
              <a:rPr lang="zh-CN" altLang="en-US" dirty="0"/>
              <a:t>多次输入</a:t>
            </a:r>
            <a:r>
              <a:rPr lang="en-US" altLang="zh-CN" dirty="0"/>
              <a:t>)</a:t>
            </a:r>
          </a:p>
          <a:p>
            <a:r>
              <a:rPr lang="zh-CN" altLang="en-US" dirty="0"/>
              <a:t>是否素数</a:t>
            </a:r>
            <a:endParaRPr lang="en-US" altLang="zh-CN" dirty="0"/>
          </a:p>
          <a:p>
            <a:pPr marL="0" indent="0">
              <a:buNone/>
            </a:pPr>
            <a:endParaRPr lang="en-US" altLang="zh-CN" dirty="0"/>
          </a:p>
          <a:p>
            <a:endParaRPr lang="zh-CN" altLang="en-US" dirty="0"/>
          </a:p>
        </p:txBody>
      </p:sp>
    </p:spTree>
    <p:extLst>
      <p:ext uri="{BB962C8B-B14F-4D97-AF65-F5344CB8AC3E}">
        <p14:creationId xmlns:p14="http://schemas.microsoft.com/office/powerpoint/2010/main" val="37234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B3E32-ACE8-A365-70C1-46794687839E}"/>
              </a:ext>
            </a:extLst>
          </p:cNvPr>
          <p:cNvSpPr>
            <a:spLocks noGrp="1"/>
          </p:cNvSpPr>
          <p:nvPr>
            <p:ph type="title"/>
          </p:nvPr>
        </p:nvSpPr>
        <p:spPr/>
        <p:txBody>
          <a:bodyPr/>
          <a:lstStyle/>
          <a:p>
            <a:r>
              <a:rPr lang="zh-CN" altLang="en-US" dirty="0"/>
              <a:t>求和运算</a:t>
            </a:r>
            <a:r>
              <a:rPr lang="en-US" altLang="zh-CN" dirty="0"/>
              <a:t>(</a:t>
            </a:r>
            <a:r>
              <a:rPr lang="zh-CN" altLang="en-US" dirty="0"/>
              <a:t>多次输入</a:t>
            </a:r>
            <a:r>
              <a:rPr lang="en-US" altLang="zh-CN" dirty="0"/>
              <a:t>)</a:t>
            </a:r>
            <a:endParaRPr lang="zh-CN" altLang="en-US" dirty="0"/>
          </a:p>
        </p:txBody>
      </p:sp>
      <p:pic>
        <p:nvPicPr>
          <p:cNvPr id="7" name="图片 6">
            <a:extLst>
              <a:ext uri="{FF2B5EF4-FFF2-40B4-BE49-F238E27FC236}">
                <a16:creationId xmlns:a16="http://schemas.microsoft.com/office/drawing/2014/main" id="{5FF18893-F190-C404-E766-30E87BAE5931}"/>
              </a:ext>
            </a:extLst>
          </p:cNvPr>
          <p:cNvPicPr>
            <a:picLocks noChangeAspect="1"/>
          </p:cNvPicPr>
          <p:nvPr/>
        </p:nvPicPr>
        <p:blipFill>
          <a:blip r:embed="rId2"/>
          <a:stretch>
            <a:fillRect/>
          </a:stretch>
        </p:blipFill>
        <p:spPr>
          <a:xfrm>
            <a:off x="2933700" y="1824037"/>
            <a:ext cx="6324600" cy="3209925"/>
          </a:xfrm>
          <a:prstGeom prst="rect">
            <a:avLst/>
          </a:prstGeom>
        </p:spPr>
      </p:pic>
    </p:spTree>
    <p:extLst>
      <p:ext uri="{BB962C8B-B14F-4D97-AF65-F5344CB8AC3E}">
        <p14:creationId xmlns:p14="http://schemas.microsoft.com/office/powerpoint/2010/main" val="36807909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AB3E32-ACE8-A365-70C1-46794687839E}"/>
              </a:ext>
            </a:extLst>
          </p:cNvPr>
          <p:cNvSpPr>
            <a:spLocks noGrp="1"/>
          </p:cNvSpPr>
          <p:nvPr>
            <p:ph type="title"/>
          </p:nvPr>
        </p:nvSpPr>
        <p:spPr/>
        <p:txBody>
          <a:bodyPr/>
          <a:lstStyle/>
          <a:p>
            <a:r>
              <a:rPr lang="zh-CN" altLang="en-US" dirty="0"/>
              <a:t>是否素数</a:t>
            </a:r>
          </a:p>
        </p:txBody>
      </p:sp>
      <p:pic>
        <p:nvPicPr>
          <p:cNvPr id="4" name="图片 3">
            <a:extLst>
              <a:ext uri="{FF2B5EF4-FFF2-40B4-BE49-F238E27FC236}">
                <a16:creationId xmlns:a16="http://schemas.microsoft.com/office/drawing/2014/main" id="{452959CB-295D-64B0-0AA7-2E85E5C534D2}"/>
              </a:ext>
            </a:extLst>
          </p:cNvPr>
          <p:cNvPicPr>
            <a:picLocks noChangeAspect="1"/>
          </p:cNvPicPr>
          <p:nvPr/>
        </p:nvPicPr>
        <p:blipFill>
          <a:blip r:embed="rId2"/>
          <a:stretch>
            <a:fillRect/>
          </a:stretch>
        </p:blipFill>
        <p:spPr>
          <a:xfrm>
            <a:off x="3509962" y="710092"/>
            <a:ext cx="5172075" cy="5867400"/>
          </a:xfrm>
          <a:prstGeom prst="rect">
            <a:avLst/>
          </a:prstGeom>
        </p:spPr>
      </p:pic>
    </p:spTree>
    <p:extLst>
      <p:ext uri="{BB962C8B-B14F-4D97-AF65-F5344CB8AC3E}">
        <p14:creationId xmlns:p14="http://schemas.microsoft.com/office/powerpoint/2010/main" val="34757028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EC82B5-C51D-11D6-1EC0-1192B2600FBB}"/>
              </a:ext>
            </a:extLst>
          </p:cNvPr>
          <p:cNvSpPr>
            <a:spLocks noGrp="1"/>
          </p:cNvSpPr>
          <p:nvPr>
            <p:ph type="ctrTitle"/>
          </p:nvPr>
        </p:nvSpPr>
        <p:spPr>
          <a:xfrm>
            <a:off x="1524000" y="2087868"/>
            <a:ext cx="9144000" cy="1179274"/>
          </a:xfrm>
        </p:spPr>
        <p:txBody>
          <a:bodyPr>
            <a:normAutofit/>
          </a:bodyPr>
          <a:lstStyle/>
          <a:p>
            <a:r>
              <a:rPr lang="zh-CN" altLang="en-US" sz="4800" b="1" dirty="0"/>
              <a:t>专题六   </a:t>
            </a:r>
            <a:r>
              <a:rPr lang="en-US" altLang="zh-CN" sz="4800" b="1" dirty="0"/>
              <a:t>For</a:t>
            </a:r>
            <a:r>
              <a:rPr lang="zh-CN" altLang="en-US" sz="4800" b="1" dirty="0"/>
              <a:t>循环</a:t>
            </a:r>
          </a:p>
        </p:txBody>
      </p:sp>
    </p:spTree>
    <p:extLst>
      <p:ext uri="{BB962C8B-B14F-4D97-AF65-F5344CB8AC3E}">
        <p14:creationId xmlns:p14="http://schemas.microsoft.com/office/powerpoint/2010/main" val="19440700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5B6C90B-695A-8A04-214F-E65944DEE1D4}"/>
              </a:ext>
            </a:extLst>
          </p:cNvPr>
          <p:cNvSpPr/>
          <p:nvPr/>
        </p:nvSpPr>
        <p:spPr>
          <a:xfrm>
            <a:off x="850109" y="421480"/>
            <a:ext cx="2278856" cy="43576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2060"/>
                </a:solidFill>
              </a:rPr>
              <a:t>知识点</a:t>
            </a:r>
          </a:p>
        </p:txBody>
      </p:sp>
      <p:sp>
        <p:nvSpPr>
          <p:cNvPr id="8" name="矩形 7">
            <a:extLst>
              <a:ext uri="{FF2B5EF4-FFF2-40B4-BE49-F238E27FC236}">
                <a16:creationId xmlns:a16="http://schemas.microsoft.com/office/drawing/2014/main" id="{1A340540-2B1D-01A7-D945-CAA3F3473E9A}"/>
              </a:ext>
            </a:extLst>
          </p:cNvPr>
          <p:cNvSpPr/>
          <p:nvPr/>
        </p:nvSpPr>
        <p:spPr>
          <a:xfrm>
            <a:off x="714375" y="701873"/>
            <a:ext cx="3100388" cy="1014412"/>
          </a:xfrm>
          <a:prstGeom prst="rect">
            <a:avLst/>
          </a:prstGeom>
          <a:noFill/>
          <a:ln>
            <a:noFill/>
          </a:ln>
        </p:spPr>
        <p:style>
          <a:lnRef idx="0">
            <a:scrgbClr r="0" g="0" b="0"/>
          </a:lnRef>
          <a:fillRef idx="0">
            <a:scrgbClr r="0" g="0" b="0"/>
          </a:fillRef>
          <a:effectRef idx="0">
            <a:scrgbClr r="0" g="0" b="0"/>
          </a:effectRef>
          <a:fontRef idx="minor">
            <a:schemeClr val="accent6"/>
          </a:fontRef>
        </p:style>
        <p:txBody>
          <a:bodyPr rtlCol="0" anchor="ctr"/>
          <a:lstStyle/>
          <a:p>
            <a:pPr algn="ctr"/>
            <a:r>
              <a:rPr lang="en-US" altLang="zh-CN" b="0" i="0" dirty="0">
                <a:solidFill>
                  <a:srgbClr val="4D4D4D"/>
                </a:solidFill>
                <a:effectLst/>
                <a:latin typeface="-apple-system"/>
              </a:rPr>
              <a:t>for</a:t>
            </a:r>
            <a:r>
              <a:rPr lang="en-US" altLang="zh-CN" dirty="0">
                <a:solidFill>
                  <a:srgbClr val="4D4D4D"/>
                </a:solidFill>
                <a:latin typeface="-apple-system"/>
              </a:rPr>
              <a:t> </a:t>
            </a:r>
            <a:r>
              <a:rPr lang="zh-CN" altLang="en-US" dirty="0">
                <a:solidFill>
                  <a:srgbClr val="4D4D4D"/>
                </a:solidFill>
                <a:latin typeface="-apple-system"/>
              </a:rPr>
              <a:t>循环语句的</a:t>
            </a:r>
            <a:r>
              <a:rPr lang="zh-CN" altLang="en-US" b="0" i="0" dirty="0">
                <a:solidFill>
                  <a:srgbClr val="4D4D4D"/>
                </a:solidFill>
                <a:effectLst/>
                <a:latin typeface="-apple-system"/>
              </a:rPr>
              <a:t>一般形式为：</a:t>
            </a:r>
            <a:endParaRPr lang="zh-CN" altLang="en-US" dirty="0"/>
          </a:p>
        </p:txBody>
      </p:sp>
      <p:pic>
        <p:nvPicPr>
          <p:cNvPr id="10" name="图片 9">
            <a:extLst>
              <a:ext uri="{FF2B5EF4-FFF2-40B4-BE49-F238E27FC236}">
                <a16:creationId xmlns:a16="http://schemas.microsoft.com/office/drawing/2014/main" id="{57C48F37-285A-1882-E211-522F83CF0495}"/>
              </a:ext>
            </a:extLst>
          </p:cNvPr>
          <p:cNvPicPr>
            <a:picLocks noChangeAspect="1"/>
          </p:cNvPicPr>
          <p:nvPr/>
        </p:nvPicPr>
        <p:blipFill>
          <a:blip r:embed="rId2"/>
          <a:stretch>
            <a:fillRect/>
          </a:stretch>
        </p:blipFill>
        <p:spPr>
          <a:xfrm>
            <a:off x="714375" y="1333202"/>
            <a:ext cx="4991100" cy="1428750"/>
          </a:xfrm>
          <a:prstGeom prst="rect">
            <a:avLst/>
          </a:prstGeom>
        </p:spPr>
      </p:pic>
      <p:cxnSp>
        <p:nvCxnSpPr>
          <p:cNvPr id="12" name="直接连接符 11">
            <a:extLst>
              <a:ext uri="{FF2B5EF4-FFF2-40B4-BE49-F238E27FC236}">
                <a16:creationId xmlns:a16="http://schemas.microsoft.com/office/drawing/2014/main" id="{B3FE5BA8-5CD9-2248-F650-75221E42F375}"/>
              </a:ext>
            </a:extLst>
          </p:cNvPr>
          <p:cNvCxnSpPr>
            <a:cxnSpLocks/>
          </p:cNvCxnSpPr>
          <p:nvPr/>
        </p:nvCxnSpPr>
        <p:spPr>
          <a:xfrm flipV="1">
            <a:off x="6250777" y="250031"/>
            <a:ext cx="0" cy="6357938"/>
          </a:xfrm>
          <a:prstGeom prst="line">
            <a:avLst/>
          </a:prstGeom>
        </p:spPr>
        <p:style>
          <a:lnRef idx="1">
            <a:schemeClr val="dk1"/>
          </a:lnRef>
          <a:fillRef idx="0">
            <a:schemeClr val="dk1"/>
          </a:fillRef>
          <a:effectRef idx="0">
            <a:schemeClr val="dk1"/>
          </a:effectRef>
          <a:fontRef idx="minor">
            <a:schemeClr val="tx1"/>
          </a:fontRef>
        </p:style>
      </p:cxnSp>
      <p:sp>
        <p:nvSpPr>
          <p:cNvPr id="15" name="矩形 14">
            <a:extLst>
              <a:ext uri="{FF2B5EF4-FFF2-40B4-BE49-F238E27FC236}">
                <a16:creationId xmlns:a16="http://schemas.microsoft.com/office/drawing/2014/main" id="{E727B6D5-E6E4-BF6E-536D-3A866EC22469}"/>
              </a:ext>
            </a:extLst>
          </p:cNvPr>
          <p:cNvSpPr/>
          <p:nvPr/>
        </p:nvSpPr>
        <p:spPr>
          <a:xfrm>
            <a:off x="714375" y="2593180"/>
            <a:ext cx="4991100" cy="146447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solidFill>
                  <a:schemeClr val="tx1">
                    <a:lumMod val="95000"/>
                    <a:lumOff val="5000"/>
                  </a:schemeClr>
                </a:solidFill>
              </a:rPr>
              <a:t>表达式</a:t>
            </a:r>
            <a:r>
              <a:rPr lang="en-US" altLang="zh-CN" dirty="0">
                <a:solidFill>
                  <a:schemeClr val="tx1">
                    <a:lumMod val="95000"/>
                    <a:lumOff val="5000"/>
                  </a:schemeClr>
                </a:solidFill>
              </a:rPr>
              <a:t>1</a:t>
            </a:r>
            <a:r>
              <a:rPr lang="zh-CN" altLang="en-US" dirty="0">
                <a:solidFill>
                  <a:schemeClr val="tx1">
                    <a:lumMod val="95000"/>
                    <a:lumOff val="5000"/>
                  </a:schemeClr>
                </a:solidFill>
              </a:rPr>
              <a:t>：赋初值，也可以定义变量后赋初值</a:t>
            </a:r>
            <a:endParaRPr lang="en-US" altLang="zh-CN" dirty="0">
              <a:solidFill>
                <a:schemeClr val="tx1">
                  <a:lumMod val="95000"/>
                  <a:lumOff val="5000"/>
                </a:schemeClr>
              </a:solidFill>
            </a:endParaRPr>
          </a:p>
          <a:p>
            <a:r>
              <a:rPr lang="zh-CN" altLang="en-US" dirty="0">
                <a:solidFill>
                  <a:schemeClr val="tx1">
                    <a:lumMod val="95000"/>
                    <a:lumOff val="5000"/>
                  </a:schemeClr>
                </a:solidFill>
              </a:rPr>
              <a:t>表达式</a:t>
            </a:r>
            <a:r>
              <a:rPr lang="en-US" altLang="zh-CN" dirty="0">
                <a:solidFill>
                  <a:schemeClr val="tx1">
                    <a:lumMod val="95000"/>
                    <a:lumOff val="5000"/>
                  </a:schemeClr>
                </a:solidFill>
              </a:rPr>
              <a:t>2</a:t>
            </a:r>
            <a:r>
              <a:rPr lang="zh-CN" altLang="en-US" dirty="0">
                <a:solidFill>
                  <a:schemeClr val="tx1">
                    <a:lumMod val="95000"/>
                    <a:lumOff val="5000"/>
                  </a:schemeClr>
                </a:solidFill>
              </a:rPr>
              <a:t>：循环条件</a:t>
            </a:r>
            <a:endParaRPr lang="en-US" altLang="zh-CN" dirty="0">
              <a:solidFill>
                <a:schemeClr val="tx1">
                  <a:lumMod val="95000"/>
                  <a:lumOff val="5000"/>
                </a:schemeClr>
              </a:solidFill>
            </a:endParaRPr>
          </a:p>
          <a:p>
            <a:r>
              <a:rPr lang="zh-CN" altLang="en-US" dirty="0">
                <a:solidFill>
                  <a:schemeClr val="tx1">
                    <a:lumMod val="95000"/>
                    <a:lumOff val="5000"/>
                  </a:schemeClr>
                </a:solidFill>
              </a:rPr>
              <a:t>表达式</a:t>
            </a:r>
            <a:r>
              <a:rPr lang="en-US" altLang="zh-CN" dirty="0">
                <a:solidFill>
                  <a:schemeClr val="tx1">
                    <a:lumMod val="95000"/>
                    <a:lumOff val="5000"/>
                  </a:schemeClr>
                </a:solidFill>
              </a:rPr>
              <a:t>3</a:t>
            </a:r>
            <a:r>
              <a:rPr lang="zh-CN" altLang="en-US" dirty="0">
                <a:solidFill>
                  <a:schemeClr val="tx1">
                    <a:lumMod val="95000"/>
                    <a:lumOff val="5000"/>
                  </a:schemeClr>
                </a:solidFill>
              </a:rPr>
              <a:t>：循环中修改变量值</a:t>
            </a:r>
            <a:endParaRPr lang="en-US" altLang="zh-CN" dirty="0">
              <a:solidFill>
                <a:schemeClr val="tx1">
                  <a:lumMod val="95000"/>
                  <a:lumOff val="5000"/>
                </a:schemeClr>
              </a:solidFill>
            </a:endParaRPr>
          </a:p>
          <a:p>
            <a:endParaRPr lang="zh-CN" altLang="en-US" dirty="0">
              <a:solidFill>
                <a:schemeClr val="tx1">
                  <a:lumMod val="95000"/>
                  <a:lumOff val="5000"/>
                </a:schemeClr>
              </a:solidFill>
            </a:endParaRPr>
          </a:p>
        </p:txBody>
      </p:sp>
      <p:sp>
        <p:nvSpPr>
          <p:cNvPr id="17" name="矩形 16">
            <a:extLst>
              <a:ext uri="{FF2B5EF4-FFF2-40B4-BE49-F238E27FC236}">
                <a16:creationId xmlns:a16="http://schemas.microsoft.com/office/drawing/2014/main" id="{4316BDFC-13F1-E91F-2BB6-C995F0F36894}"/>
              </a:ext>
            </a:extLst>
          </p:cNvPr>
          <p:cNvSpPr/>
          <p:nvPr/>
        </p:nvSpPr>
        <p:spPr>
          <a:xfrm>
            <a:off x="690555" y="3643313"/>
            <a:ext cx="4050507" cy="279320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zh-CN" altLang="en-US" sz="2000" dirty="0"/>
              <a:t>细节：</a:t>
            </a:r>
            <a:endParaRPr lang="en-US" altLang="zh-CN" sz="2000" dirty="0"/>
          </a:p>
          <a:p>
            <a:r>
              <a:rPr lang="zh-CN" altLang="en-US" dirty="0"/>
              <a:t>（</a:t>
            </a:r>
            <a:r>
              <a:rPr lang="en-US" altLang="zh-CN" dirty="0"/>
              <a:t>1) </a:t>
            </a:r>
            <a:r>
              <a:rPr lang="zh-CN" altLang="en-US" dirty="0"/>
              <a:t>表达式</a:t>
            </a:r>
            <a:r>
              <a:rPr lang="en-US" altLang="zh-CN" dirty="0"/>
              <a:t>1</a:t>
            </a:r>
            <a:r>
              <a:rPr lang="zh-CN" altLang="en-US" dirty="0"/>
              <a:t>、表达式</a:t>
            </a:r>
            <a:r>
              <a:rPr lang="en-US" altLang="zh-CN" dirty="0"/>
              <a:t>2</a:t>
            </a:r>
            <a:r>
              <a:rPr lang="zh-CN" altLang="en-US" dirty="0"/>
              <a:t>和表达式</a:t>
            </a:r>
            <a:r>
              <a:rPr lang="en-US" altLang="zh-CN" dirty="0"/>
              <a:t>3</a:t>
            </a:r>
            <a:r>
              <a:rPr lang="zh-CN" altLang="en-US" dirty="0"/>
              <a:t>之间是用分号</a:t>
            </a:r>
            <a:r>
              <a:rPr lang="en-US" altLang="zh-CN" dirty="0"/>
              <a:t>;</a:t>
            </a:r>
            <a:r>
              <a:rPr lang="zh-CN" altLang="en-US" dirty="0"/>
              <a:t>隔开的，千万不要写成逗号 。   （</a:t>
            </a:r>
            <a:r>
              <a:rPr lang="en-US" altLang="zh-CN" dirty="0"/>
              <a:t>2) for(</a:t>
            </a:r>
            <a:r>
              <a:rPr lang="zh-CN" altLang="en-US" dirty="0"/>
              <a:t>表达式</a:t>
            </a:r>
            <a:r>
              <a:rPr lang="en-US" altLang="zh-CN" dirty="0"/>
              <a:t>1</a:t>
            </a:r>
            <a:r>
              <a:rPr lang="zh-CN" altLang="en-US" dirty="0"/>
              <a:t>；表达式</a:t>
            </a:r>
            <a:r>
              <a:rPr lang="en-US" altLang="zh-CN" dirty="0"/>
              <a:t>2</a:t>
            </a:r>
            <a:r>
              <a:rPr lang="zh-CN" altLang="en-US" dirty="0"/>
              <a:t>；表达式</a:t>
            </a:r>
            <a:r>
              <a:rPr lang="en-US" altLang="zh-CN" dirty="0"/>
              <a:t>3)</a:t>
            </a:r>
            <a:r>
              <a:rPr lang="zh-CN" altLang="en-US" dirty="0"/>
              <a:t>的后面不要加分号。</a:t>
            </a:r>
            <a:endParaRPr lang="en-US" altLang="zh-CN" dirty="0"/>
          </a:p>
          <a:p>
            <a:r>
              <a:rPr lang="zh-CN" altLang="en-US" dirty="0"/>
              <a:t>（</a:t>
            </a:r>
            <a:r>
              <a:rPr lang="en-US" altLang="zh-CN" dirty="0"/>
              <a:t>3</a:t>
            </a:r>
            <a:r>
              <a:rPr lang="zh-CN" altLang="en-US" dirty="0"/>
              <a:t>）若循环体只有一句，可以不加花括号。为了程序的规范，最好加上。</a:t>
            </a:r>
            <a:endParaRPr lang="en-US" altLang="zh-CN" dirty="0"/>
          </a:p>
          <a:p>
            <a:r>
              <a:rPr lang="zh-CN" altLang="en-US" dirty="0"/>
              <a:t>（</a:t>
            </a:r>
            <a:r>
              <a:rPr lang="en-US" altLang="zh-CN" dirty="0"/>
              <a:t>4</a:t>
            </a:r>
            <a:r>
              <a:rPr lang="zh-CN" altLang="en-US" dirty="0"/>
              <a:t>）表达式</a:t>
            </a:r>
            <a:r>
              <a:rPr lang="en-US" altLang="zh-CN" dirty="0"/>
              <a:t>1</a:t>
            </a:r>
            <a:r>
              <a:rPr lang="zh-CN" altLang="en-US" dirty="0"/>
              <a:t>，表达式</a:t>
            </a:r>
            <a:r>
              <a:rPr lang="en-US" altLang="zh-CN" dirty="0"/>
              <a:t>2</a:t>
            </a:r>
            <a:r>
              <a:rPr lang="zh-CN" altLang="en-US" dirty="0"/>
              <a:t>，表达式</a:t>
            </a:r>
            <a:r>
              <a:rPr lang="en-US" altLang="zh-CN" dirty="0"/>
              <a:t>3</a:t>
            </a:r>
            <a:r>
              <a:rPr lang="zh-CN" altLang="en-US" dirty="0"/>
              <a:t>都可由包含逗号运算符的多个表达式组成。</a:t>
            </a:r>
          </a:p>
        </p:txBody>
      </p:sp>
      <p:sp>
        <p:nvSpPr>
          <p:cNvPr id="20" name="矩形 19">
            <a:extLst>
              <a:ext uri="{FF2B5EF4-FFF2-40B4-BE49-F238E27FC236}">
                <a16:creationId xmlns:a16="http://schemas.microsoft.com/office/drawing/2014/main" id="{8E530372-F43F-74D3-32AE-B7C033F251BE}"/>
              </a:ext>
            </a:extLst>
          </p:cNvPr>
          <p:cNvSpPr/>
          <p:nvPr/>
        </p:nvSpPr>
        <p:spPr>
          <a:xfrm>
            <a:off x="6928245" y="421480"/>
            <a:ext cx="2085975" cy="4572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dirty="0"/>
              <a:t>关于省略</a:t>
            </a:r>
          </a:p>
        </p:txBody>
      </p:sp>
      <p:sp>
        <p:nvSpPr>
          <p:cNvPr id="21" name="矩形 20">
            <a:extLst>
              <a:ext uri="{FF2B5EF4-FFF2-40B4-BE49-F238E27FC236}">
                <a16:creationId xmlns:a16="http://schemas.microsoft.com/office/drawing/2014/main" id="{5EB3ABE5-D3A0-CFDA-D240-8512D40B5CA3}"/>
              </a:ext>
            </a:extLst>
          </p:cNvPr>
          <p:cNvSpPr/>
          <p:nvPr/>
        </p:nvSpPr>
        <p:spPr>
          <a:xfrm>
            <a:off x="6796080" y="963072"/>
            <a:ext cx="4362446" cy="2714625"/>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en-US" altLang="zh-CN" dirty="0"/>
              <a:t>(1)</a:t>
            </a:r>
            <a:r>
              <a:rPr lang="zh-CN" altLang="en-US" dirty="0"/>
              <a:t>表达式</a:t>
            </a:r>
            <a:r>
              <a:rPr lang="en-US" altLang="zh-CN" dirty="0"/>
              <a:t>1</a:t>
            </a:r>
            <a:r>
              <a:rPr lang="zh-CN" altLang="en-US" dirty="0"/>
              <a:t>省略，表示该</a:t>
            </a:r>
            <a:r>
              <a:rPr lang="en-US" altLang="zh-CN" dirty="0"/>
              <a:t>for</a:t>
            </a:r>
            <a:r>
              <a:rPr lang="zh-CN" altLang="en-US" dirty="0"/>
              <a:t>语句没有赋初值部分，或前面的程序段已为有关变量赋了初值，或确实没有特别的初值。</a:t>
            </a:r>
            <a:endParaRPr lang="en-US" altLang="zh-CN" dirty="0"/>
          </a:p>
          <a:p>
            <a:r>
              <a:rPr lang="en-US" altLang="zh-CN" dirty="0"/>
              <a:t>(2)</a:t>
            </a:r>
            <a:r>
              <a:rPr lang="zh-CN" altLang="en-US" dirty="0"/>
              <a:t>表达式</a:t>
            </a:r>
            <a:r>
              <a:rPr lang="en-US" altLang="zh-CN" dirty="0"/>
              <a:t>2</a:t>
            </a:r>
            <a:r>
              <a:rPr lang="zh-CN" altLang="en-US" dirty="0"/>
              <a:t>省略，表示循环条件永远为真可能循环体内有控制转移语句转出</a:t>
            </a:r>
            <a:r>
              <a:rPr lang="en-US" altLang="zh-CN" dirty="0"/>
              <a:t>for</a:t>
            </a:r>
            <a:r>
              <a:rPr lang="zh-CN" altLang="en-US" dirty="0"/>
              <a:t>语句。这与 </a:t>
            </a:r>
            <a:r>
              <a:rPr lang="en-US" altLang="zh-CN" dirty="0"/>
              <a:t>while</a:t>
            </a:r>
            <a:r>
              <a:rPr lang="zh-CN" altLang="en-US" dirty="0"/>
              <a:t>（</a:t>
            </a:r>
            <a:r>
              <a:rPr lang="en-US" altLang="zh-CN" dirty="0"/>
              <a:t>1</a:t>
            </a:r>
            <a:r>
              <a:rPr lang="zh-CN" altLang="en-US" dirty="0"/>
              <a:t>）功能相同。</a:t>
            </a:r>
            <a:endParaRPr lang="en-US" altLang="zh-CN" dirty="0"/>
          </a:p>
          <a:p>
            <a:r>
              <a:rPr lang="en-US" altLang="zh-CN" dirty="0"/>
              <a:t>(3)</a:t>
            </a:r>
            <a:r>
              <a:rPr lang="zh-CN" altLang="en-US" dirty="0"/>
              <a:t>表达式</a:t>
            </a:r>
            <a:r>
              <a:rPr lang="en-US" altLang="zh-CN" dirty="0"/>
              <a:t>3</a:t>
            </a:r>
            <a:r>
              <a:rPr lang="zh-CN" altLang="en-US" dirty="0"/>
              <a:t>省略，表示没有对循环变量的更新，对变量的更新已在循环体内一起完成。</a:t>
            </a:r>
          </a:p>
        </p:txBody>
      </p:sp>
      <p:cxnSp>
        <p:nvCxnSpPr>
          <p:cNvPr id="23" name="直接连接符 22">
            <a:extLst>
              <a:ext uri="{FF2B5EF4-FFF2-40B4-BE49-F238E27FC236}">
                <a16:creationId xmlns:a16="http://schemas.microsoft.com/office/drawing/2014/main" id="{ABFE8731-41A8-939A-70EF-FD669D03E2B4}"/>
              </a:ext>
            </a:extLst>
          </p:cNvPr>
          <p:cNvCxnSpPr>
            <a:cxnSpLocks/>
          </p:cNvCxnSpPr>
          <p:nvPr/>
        </p:nvCxnSpPr>
        <p:spPr>
          <a:xfrm flipH="1">
            <a:off x="521494" y="3643313"/>
            <a:ext cx="5336381" cy="0"/>
          </a:xfrm>
          <a:prstGeom prst="line">
            <a:avLst/>
          </a:prstGeom>
        </p:spPr>
        <p:style>
          <a:lnRef idx="1">
            <a:schemeClr val="dk1"/>
          </a:lnRef>
          <a:fillRef idx="0">
            <a:schemeClr val="dk1"/>
          </a:fillRef>
          <a:effectRef idx="0">
            <a:schemeClr val="dk1"/>
          </a:effectRef>
          <a:fontRef idx="minor">
            <a:schemeClr val="tx1"/>
          </a:fontRef>
        </p:style>
      </p:cxnSp>
      <p:pic>
        <p:nvPicPr>
          <p:cNvPr id="27" name="图片 26">
            <a:extLst>
              <a:ext uri="{FF2B5EF4-FFF2-40B4-BE49-F238E27FC236}">
                <a16:creationId xmlns:a16="http://schemas.microsoft.com/office/drawing/2014/main" id="{DBFFE6F7-F3E5-046E-2A0D-B8D321DBF267}"/>
              </a:ext>
            </a:extLst>
          </p:cNvPr>
          <p:cNvPicPr>
            <a:picLocks noChangeAspect="1"/>
          </p:cNvPicPr>
          <p:nvPr/>
        </p:nvPicPr>
        <p:blipFill>
          <a:blip r:embed="rId3"/>
          <a:stretch>
            <a:fillRect/>
          </a:stretch>
        </p:blipFill>
        <p:spPr>
          <a:xfrm>
            <a:off x="6924672" y="4250239"/>
            <a:ext cx="4898238" cy="2300432"/>
          </a:xfrm>
          <a:prstGeom prst="rect">
            <a:avLst/>
          </a:prstGeom>
        </p:spPr>
      </p:pic>
      <p:cxnSp>
        <p:nvCxnSpPr>
          <p:cNvPr id="28" name="直接连接符 27">
            <a:extLst>
              <a:ext uri="{FF2B5EF4-FFF2-40B4-BE49-F238E27FC236}">
                <a16:creationId xmlns:a16="http://schemas.microsoft.com/office/drawing/2014/main" id="{5E1DABB3-2146-8318-45A6-4B9E46A3B068}"/>
              </a:ext>
            </a:extLst>
          </p:cNvPr>
          <p:cNvCxnSpPr>
            <a:cxnSpLocks/>
          </p:cNvCxnSpPr>
          <p:nvPr/>
        </p:nvCxnSpPr>
        <p:spPr>
          <a:xfrm flipH="1">
            <a:off x="6628802" y="3617120"/>
            <a:ext cx="5336381" cy="0"/>
          </a:xfrm>
          <a:prstGeom prst="line">
            <a:avLst/>
          </a:prstGeom>
        </p:spPr>
        <p:style>
          <a:lnRef idx="1">
            <a:schemeClr val="dk1"/>
          </a:lnRef>
          <a:fillRef idx="0">
            <a:schemeClr val="dk1"/>
          </a:fillRef>
          <a:effectRef idx="0">
            <a:schemeClr val="dk1"/>
          </a:effectRef>
          <a:fontRef idx="minor">
            <a:schemeClr val="tx1"/>
          </a:fontRef>
        </p:style>
      </p:cxnSp>
      <p:sp>
        <p:nvSpPr>
          <p:cNvPr id="32" name="矩形: 圆角 31">
            <a:extLst>
              <a:ext uri="{FF2B5EF4-FFF2-40B4-BE49-F238E27FC236}">
                <a16:creationId xmlns:a16="http://schemas.microsoft.com/office/drawing/2014/main" id="{0E1CF5CA-2E75-F130-D927-B934AF5CA4D6}"/>
              </a:ext>
            </a:extLst>
          </p:cNvPr>
          <p:cNvSpPr/>
          <p:nvPr/>
        </p:nvSpPr>
        <p:spPr>
          <a:xfrm>
            <a:off x="714375" y="394690"/>
            <a:ext cx="3257550" cy="61436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t>知识点</a:t>
            </a:r>
          </a:p>
        </p:txBody>
      </p:sp>
      <p:sp>
        <p:nvSpPr>
          <p:cNvPr id="33" name="矩形: 圆角 32">
            <a:extLst>
              <a:ext uri="{FF2B5EF4-FFF2-40B4-BE49-F238E27FC236}">
                <a16:creationId xmlns:a16="http://schemas.microsoft.com/office/drawing/2014/main" id="{FBBBBC82-2A5F-46F8-A0A2-DA73D915BF37}"/>
              </a:ext>
            </a:extLst>
          </p:cNvPr>
          <p:cNvSpPr/>
          <p:nvPr/>
        </p:nvSpPr>
        <p:spPr>
          <a:xfrm>
            <a:off x="6923471" y="390530"/>
            <a:ext cx="3257550" cy="61436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dirty="0"/>
              <a:t>关于省略</a:t>
            </a:r>
          </a:p>
        </p:txBody>
      </p:sp>
      <p:sp>
        <p:nvSpPr>
          <p:cNvPr id="34" name="矩形: 圆角 33">
            <a:extLst>
              <a:ext uri="{FF2B5EF4-FFF2-40B4-BE49-F238E27FC236}">
                <a16:creationId xmlns:a16="http://schemas.microsoft.com/office/drawing/2014/main" id="{1AB0158E-FB47-8970-9AE9-502C2DD03560}"/>
              </a:ext>
            </a:extLst>
          </p:cNvPr>
          <p:cNvSpPr/>
          <p:nvPr/>
        </p:nvSpPr>
        <p:spPr>
          <a:xfrm>
            <a:off x="6923471" y="3658941"/>
            <a:ext cx="3140875" cy="50466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案例：前</a:t>
            </a:r>
            <a:r>
              <a:rPr lang="en-US" altLang="zh-CN" dirty="0"/>
              <a:t>100</a:t>
            </a:r>
            <a:r>
              <a:rPr lang="zh-CN" altLang="en-US" dirty="0"/>
              <a:t>奇数和</a:t>
            </a:r>
          </a:p>
        </p:txBody>
      </p:sp>
    </p:spTree>
    <p:extLst>
      <p:ext uri="{BB962C8B-B14F-4D97-AF65-F5344CB8AC3E}">
        <p14:creationId xmlns:p14="http://schemas.microsoft.com/office/powerpoint/2010/main" val="3013954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B9ACA4-515F-0F48-03AB-A1E5A6D8C6AC}"/>
              </a:ext>
            </a:extLst>
          </p:cNvPr>
          <p:cNvSpPr>
            <a:spLocks noGrp="1"/>
          </p:cNvSpPr>
          <p:nvPr>
            <p:ph type="title"/>
          </p:nvPr>
        </p:nvSpPr>
        <p:spPr>
          <a:xfrm>
            <a:off x="459581" y="77389"/>
            <a:ext cx="10515600" cy="1325563"/>
          </a:xfrm>
        </p:spPr>
        <p:txBody>
          <a:bodyPr/>
          <a:lstStyle/>
          <a:p>
            <a:r>
              <a:rPr lang="en-US" altLang="zh-CN" dirty="0"/>
              <a:t>for</a:t>
            </a:r>
            <a:r>
              <a:rPr lang="zh-CN" altLang="en-US" dirty="0"/>
              <a:t>循环嵌套</a:t>
            </a:r>
          </a:p>
        </p:txBody>
      </p:sp>
      <p:sp>
        <p:nvSpPr>
          <p:cNvPr id="4" name="矩形 3">
            <a:extLst>
              <a:ext uri="{FF2B5EF4-FFF2-40B4-BE49-F238E27FC236}">
                <a16:creationId xmlns:a16="http://schemas.microsoft.com/office/drawing/2014/main" id="{29C185F0-49A3-1994-3445-4F8B600118CD}"/>
              </a:ext>
            </a:extLst>
          </p:cNvPr>
          <p:cNvSpPr/>
          <p:nvPr/>
        </p:nvSpPr>
        <p:spPr>
          <a:xfrm>
            <a:off x="9195197" y="5806283"/>
            <a:ext cx="3202781" cy="97432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sz="2000" dirty="0"/>
              <a:t>套</a:t>
            </a:r>
            <a:r>
              <a:rPr lang="zh-CN" altLang="en-US" sz="3200" dirty="0"/>
              <a:t>就</a:t>
            </a:r>
            <a:r>
              <a:rPr lang="zh-CN" altLang="en-US" sz="4000" dirty="0"/>
              <a:t>完</a:t>
            </a:r>
            <a:r>
              <a:rPr lang="zh-CN" altLang="en-US" sz="6000" dirty="0"/>
              <a:t>了</a:t>
            </a:r>
          </a:p>
        </p:txBody>
      </p:sp>
      <p:sp>
        <p:nvSpPr>
          <p:cNvPr id="5" name="矩形 4">
            <a:extLst>
              <a:ext uri="{FF2B5EF4-FFF2-40B4-BE49-F238E27FC236}">
                <a16:creationId xmlns:a16="http://schemas.microsoft.com/office/drawing/2014/main" id="{C74EAF69-EA36-43AC-7DAD-D4AEA9B0B0AA}"/>
              </a:ext>
            </a:extLst>
          </p:cNvPr>
          <p:cNvSpPr/>
          <p:nvPr/>
        </p:nvSpPr>
        <p:spPr>
          <a:xfrm>
            <a:off x="459581" y="1371600"/>
            <a:ext cx="3636169" cy="178593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t>基本语法： </a:t>
            </a:r>
            <a:r>
              <a:rPr lang="en-US" altLang="zh-CN" dirty="0"/>
              <a:t>for</a:t>
            </a:r>
            <a:r>
              <a:rPr lang="zh-CN" altLang="en-US" dirty="0"/>
              <a:t>循环嵌套的基本语法是在一个</a:t>
            </a:r>
            <a:r>
              <a:rPr lang="en-US" altLang="zh-CN" dirty="0"/>
              <a:t>for</a:t>
            </a:r>
            <a:r>
              <a:rPr lang="zh-CN" altLang="en-US" dirty="0"/>
              <a:t>循环体内包含另一个或多个</a:t>
            </a:r>
            <a:r>
              <a:rPr lang="en-US" altLang="zh-CN" dirty="0"/>
              <a:t>for</a:t>
            </a:r>
            <a:r>
              <a:rPr lang="zh-CN" altLang="en-US" dirty="0"/>
              <a:t>循环。每个循环都有自己的循环变量和循环条件。如下：</a:t>
            </a:r>
          </a:p>
        </p:txBody>
      </p:sp>
      <p:pic>
        <p:nvPicPr>
          <p:cNvPr id="7" name="图片 6">
            <a:extLst>
              <a:ext uri="{FF2B5EF4-FFF2-40B4-BE49-F238E27FC236}">
                <a16:creationId xmlns:a16="http://schemas.microsoft.com/office/drawing/2014/main" id="{C81365EE-79A9-0627-6143-C503D3F91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581" y="3754835"/>
            <a:ext cx="3636169" cy="1785938"/>
          </a:xfrm>
          <a:prstGeom prst="rect">
            <a:avLst/>
          </a:prstGeom>
        </p:spPr>
      </p:pic>
      <p:sp>
        <p:nvSpPr>
          <p:cNvPr id="10" name="矩形 9">
            <a:extLst>
              <a:ext uri="{FF2B5EF4-FFF2-40B4-BE49-F238E27FC236}">
                <a16:creationId xmlns:a16="http://schemas.microsoft.com/office/drawing/2014/main" id="{8EC647CF-DFFE-8EE6-7225-58E3CE535E4E}"/>
              </a:ext>
            </a:extLst>
          </p:cNvPr>
          <p:cNvSpPr/>
          <p:nvPr/>
        </p:nvSpPr>
        <p:spPr>
          <a:xfrm>
            <a:off x="5000625" y="1393031"/>
            <a:ext cx="6731794" cy="414774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t>嵌套循环的效率： </a:t>
            </a:r>
            <a:endParaRPr lang="en-US" altLang="zh-CN" dirty="0"/>
          </a:p>
          <a:p>
            <a:r>
              <a:rPr lang="zh-CN" altLang="en-US" dirty="0"/>
              <a:t>嵌套循环可能导致算法的时间复杂度增加，因此在设计算法时需要注意嵌套层数和循环体内的操作。</a:t>
            </a:r>
            <a:endParaRPr lang="en-US" altLang="zh-CN" dirty="0"/>
          </a:p>
          <a:p>
            <a:endParaRPr lang="en-US" altLang="zh-CN" dirty="0"/>
          </a:p>
          <a:p>
            <a:endParaRPr lang="en-US" altLang="zh-CN" dirty="0"/>
          </a:p>
          <a:p>
            <a:r>
              <a:rPr lang="zh-CN" altLang="en-US" dirty="0"/>
              <a:t>注意循环变量的作用域： </a:t>
            </a:r>
            <a:endParaRPr lang="en-US" altLang="zh-CN" dirty="0"/>
          </a:p>
          <a:p>
            <a:r>
              <a:rPr lang="zh-CN" altLang="en-US" dirty="0"/>
              <a:t>在嵌套循环中，内部循环的循环变量在外部循环之外是不可见的。每个循环都有自己的循环变量，它们在各自的作用域内生效。</a:t>
            </a:r>
            <a:endParaRPr lang="en-US" altLang="zh-CN" dirty="0"/>
          </a:p>
          <a:p>
            <a:endParaRPr lang="en-US" altLang="zh-CN" dirty="0"/>
          </a:p>
          <a:p>
            <a:endParaRPr lang="en-US" altLang="zh-CN" dirty="0"/>
          </a:p>
          <a:p>
            <a:r>
              <a:rPr lang="zh-CN" altLang="en-US" dirty="0"/>
              <a:t>总体来说，嵌套循环是一种强大的工具，但也需要小心使用，以避免不必要的性能问题。在编写嵌套循环时，应确保代码结构清晰，逻辑正确，并且循环变量的作用域和生命周期符合预期。</a:t>
            </a:r>
          </a:p>
        </p:txBody>
      </p:sp>
    </p:spTree>
    <p:extLst>
      <p:ext uri="{BB962C8B-B14F-4D97-AF65-F5344CB8AC3E}">
        <p14:creationId xmlns:p14="http://schemas.microsoft.com/office/powerpoint/2010/main" val="2884374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52113457-61B0-C4AA-A15B-C1CB2ADA6D00}"/>
              </a:ext>
            </a:extLst>
          </p:cNvPr>
          <p:cNvSpPr/>
          <p:nvPr/>
        </p:nvSpPr>
        <p:spPr>
          <a:xfrm>
            <a:off x="535782" y="328612"/>
            <a:ext cx="3257550" cy="61436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For</a:t>
            </a:r>
            <a:r>
              <a:rPr lang="zh-CN" altLang="en-US" dirty="0"/>
              <a:t>循环</a:t>
            </a:r>
            <a:r>
              <a:rPr lang="en-US" altLang="zh-CN" dirty="0"/>
              <a:t>-</a:t>
            </a:r>
            <a:r>
              <a:rPr lang="zh-CN" altLang="en-US" dirty="0"/>
              <a:t>应用场景</a:t>
            </a:r>
          </a:p>
        </p:txBody>
      </p:sp>
      <p:cxnSp>
        <p:nvCxnSpPr>
          <p:cNvPr id="5" name="直接连接符 4">
            <a:extLst>
              <a:ext uri="{FF2B5EF4-FFF2-40B4-BE49-F238E27FC236}">
                <a16:creationId xmlns:a16="http://schemas.microsoft.com/office/drawing/2014/main" id="{DF9FFBD5-6D25-03BE-6567-EC3951A3A923}"/>
              </a:ext>
            </a:extLst>
          </p:cNvPr>
          <p:cNvCxnSpPr>
            <a:cxnSpLocks/>
          </p:cNvCxnSpPr>
          <p:nvPr/>
        </p:nvCxnSpPr>
        <p:spPr>
          <a:xfrm flipV="1">
            <a:off x="6202651" y="250031"/>
            <a:ext cx="0" cy="6357938"/>
          </a:xfrm>
          <a:prstGeom prst="line">
            <a:avLst/>
          </a:prstGeom>
        </p:spPr>
        <p:style>
          <a:lnRef idx="1">
            <a:schemeClr val="dk1"/>
          </a:lnRef>
          <a:fillRef idx="0">
            <a:schemeClr val="dk1"/>
          </a:fillRef>
          <a:effectRef idx="0">
            <a:schemeClr val="dk1"/>
          </a:effectRef>
          <a:fontRef idx="minor">
            <a:schemeClr val="tx1"/>
          </a:fontRef>
        </p:style>
      </p:cxnSp>
      <p:sp>
        <p:nvSpPr>
          <p:cNvPr id="6" name="矩形 5">
            <a:extLst>
              <a:ext uri="{FF2B5EF4-FFF2-40B4-BE49-F238E27FC236}">
                <a16:creationId xmlns:a16="http://schemas.microsoft.com/office/drawing/2014/main" id="{1E84E03B-9C00-7F57-034C-B565B3109692}"/>
              </a:ext>
            </a:extLst>
          </p:cNvPr>
          <p:cNvSpPr/>
          <p:nvPr/>
        </p:nvSpPr>
        <p:spPr>
          <a:xfrm>
            <a:off x="6828236" y="1107281"/>
            <a:ext cx="4207666" cy="1989534"/>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t>（</a:t>
            </a:r>
            <a:r>
              <a:rPr lang="en-US" altLang="zh-CN" dirty="0"/>
              <a:t>1</a:t>
            </a:r>
            <a:r>
              <a:rPr lang="zh-CN" altLang="en-US" dirty="0"/>
              <a:t>）多维数组遍历： 对二维及以上的数组进行遍历。</a:t>
            </a:r>
            <a:endParaRPr lang="en-US" altLang="zh-CN" dirty="0"/>
          </a:p>
          <a:p>
            <a:r>
              <a:rPr lang="zh-CN" altLang="en-US" dirty="0"/>
              <a:t>（</a:t>
            </a:r>
            <a:r>
              <a:rPr lang="en-US" altLang="zh-CN" dirty="0"/>
              <a:t>2</a:t>
            </a:r>
            <a:r>
              <a:rPr lang="zh-CN" altLang="en-US" dirty="0"/>
              <a:t>）图形和模式打印： 在控制台上打印图形或特定模式时，嵌套循环是一个常见的选择。</a:t>
            </a:r>
          </a:p>
        </p:txBody>
      </p:sp>
      <p:sp>
        <p:nvSpPr>
          <p:cNvPr id="8" name="矩形: 圆角 7">
            <a:extLst>
              <a:ext uri="{FF2B5EF4-FFF2-40B4-BE49-F238E27FC236}">
                <a16:creationId xmlns:a16="http://schemas.microsoft.com/office/drawing/2014/main" id="{F7528662-87D1-46CB-6B56-0250CD84ABA1}"/>
              </a:ext>
            </a:extLst>
          </p:cNvPr>
          <p:cNvSpPr/>
          <p:nvPr/>
        </p:nvSpPr>
        <p:spPr>
          <a:xfrm>
            <a:off x="6828236" y="328612"/>
            <a:ext cx="3257550" cy="61436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For</a:t>
            </a:r>
            <a:r>
              <a:rPr lang="zh-CN" altLang="en-US" dirty="0"/>
              <a:t>循环嵌套</a:t>
            </a:r>
            <a:r>
              <a:rPr lang="en-US" altLang="zh-CN" dirty="0"/>
              <a:t>-</a:t>
            </a:r>
            <a:r>
              <a:rPr lang="zh-CN" altLang="en-US" dirty="0"/>
              <a:t>应用场景</a:t>
            </a:r>
          </a:p>
        </p:txBody>
      </p:sp>
      <p:sp>
        <p:nvSpPr>
          <p:cNvPr id="11" name="矩形 10">
            <a:extLst>
              <a:ext uri="{FF2B5EF4-FFF2-40B4-BE49-F238E27FC236}">
                <a16:creationId xmlns:a16="http://schemas.microsoft.com/office/drawing/2014/main" id="{EF1BEEFB-815D-3AB0-092F-A701ABF5CDD5}"/>
              </a:ext>
            </a:extLst>
          </p:cNvPr>
          <p:cNvSpPr/>
          <p:nvPr/>
        </p:nvSpPr>
        <p:spPr>
          <a:xfrm>
            <a:off x="535782" y="916781"/>
            <a:ext cx="4207666" cy="2736057"/>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t>（</a:t>
            </a:r>
            <a:r>
              <a:rPr lang="en-US" altLang="zh-CN" dirty="0"/>
              <a:t>1</a:t>
            </a:r>
            <a:r>
              <a:rPr lang="zh-CN" altLang="en-US" dirty="0"/>
              <a:t>）遍历数组元素： </a:t>
            </a:r>
            <a:r>
              <a:rPr lang="en-US" altLang="zh-CN" dirty="0"/>
              <a:t>for</a:t>
            </a:r>
            <a:r>
              <a:rPr lang="zh-CN" altLang="en-US" dirty="0"/>
              <a:t>循环非常适合遍历）数组，对数组中的每个元素执行相同的操作。</a:t>
            </a:r>
            <a:endParaRPr lang="en-US" altLang="zh-CN" dirty="0"/>
          </a:p>
          <a:p>
            <a:r>
              <a:rPr lang="zh-CN" altLang="en-US" dirty="0"/>
              <a:t>（</a:t>
            </a:r>
            <a:r>
              <a:rPr lang="en-US" altLang="zh-CN" dirty="0"/>
              <a:t>2</a:t>
            </a:r>
            <a:r>
              <a:rPr lang="zh-CN" altLang="en-US" dirty="0"/>
              <a:t>）数值范围迭代： </a:t>
            </a:r>
            <a:r>
              <a:rPr lang="en-US" altLang="zh-CN" dirty="0"/>
              <a:t>for</a:t>
            </a:r>
            <a:r>
              <a:rPr lang="zh-CN" altLang="en-US" dirty="0"/>
              <a:t>循环可以方便地迭代一定范围内的数字。</a:t>
            </a:r>
            <a:endParaRPr lang="en-US" altLang="zh-CN" dirty="0"/>
          </a:p>
          <a:p>
            <a:r>
              <a:rPr lang="zh-CN" altLang="en-US" dirty="0"/>
              <a:t>（</a:t>
            </a:r>
            <a:r>
              <a:rPr lang="en-US" altLang="zh-CN" dirty="0"/>
              <a:t>3</a:t>
            </a:r>
            <a:r>
              <a:rPr lang="zh-CN" altLang="en-US" dirty="0"/>
              <a:t>）执行固定次数的任务： 当你知道循环次数时，</a:t>
            </a:r>
            <a:r>
              <a:rPr lang="en-US" altLang="zh-CN" dirty="0"/>
              <a:t>for</a:t>
            </a:r>
            <a:r>
              <a:rPr lang="zh-CN" altLang="en-US" dirty="0"/>
              <a:t>循环是一个很方便的选择。</a:t>
            </a:r>
          </a:p>
        </p:txBody>
      </p:sp>
      <p:pic>
        <p:nvPicPr>
          <p:cNvPr id="13" name="图片 12">
            <a:extLst>
              <a:ext uri="{FF2B5EF4-FFF2-40B4-BE49-F238E27FC236}">
                <a16:creationId xmlns:a16="http://schemas.microsoft.com/office/drawing/2014/main" id="{0FAAABDC-9113-EB05-B730-526E6CFF6C9C}"/>
              </a:ext>
            </a:extLst>
          </p:cNvPr>
          <p:cNvPicPr>
            <a:picLocks noChangeAspect="1"/>
          </p:cNvPicPr>
          <p:nvPr/>
        </p:nvPicPr>
        <p:blipFill>
          <a:blip r:embed="rId2"/>
          <a:stretch>
            <a:fillRect/>
          </a:stretch>
        </p:blipFill>
        <p:spPr>
          <a:xfrm>
            <a:off x="6828236" y="4284406"/>
            <a:ext cx="4448174" cy="1984234"/>
          </a:xfrm>
          <a:prstGeom prst="rect">
            <a:avLst/>
          </a:prstGeom>
        </p:spPr>
      </p:pic>
      <p:sp>
        <p:nvSpPr>
          <p:cNvPr id="14" name="矩形: 圆角 13">
            <a:extLst>
              <a:ext uri="{FF2B5EF4-FFF2-40B4-BE49-F238E27FC236}">
                <a16:creationId xmlns:a16="http://schemas.microsoft.com/office/drawing/2014/main" id="{2F2108D0-892D-D1AD-A626-EA759881362C}"/>
              </a:ext>
            </a:extLst>
          </p:cNvPr>
          <p:cNvSpPr/>
          <p:nvPr/>
        </p:nvSpPr>
        <p:spPr>
          <a:xfrm>
            <a:off x="6828236" y="3345656"/>
            <a:ext cx="3257550" cy="61436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案例：打印三角形</a:t>
            </a:r>
          </a:p>
        </p:txBody>
      </p:sp>
      <p:sp>
        <p:nvSpPr>
          <p:cNvPr id="15" name="矩形: 圆角 14">
            <a:extLst>
              <a:ext uri="{FF2B5EF4-FFF2-40B4-BE49-F238E27FC236}">
                <a16:creationId xmlns:a16="http://schemas.microsoft.com/office/drawing/2014/main" id="{B9099C15-98B3-FCF8-D3AD-EE0AB62EB3D6}"/>
              </a:ext>
            </a:extLst>
          </p:cNvPr>
          <p:cNvSpPr/>
          <p:nvPr/>
        </p:nvSpPr>
        <p:spPr>
          <a:xfrm>
            <a:off x="535782" y="3429000"/>
            <a:ext cx="3257550" cy="614363"/>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dirty="0"/>
              <a:t>案例：一维数组遍历</a:t>
            </a:r>
          </a:p>
        </p:txBody>
      </p:sp>
      <p:pic>
        <p:nvPicPr>
          <p:cNvPr id="17" name="图片 16">
            <a:extLst>
              <a:ext uri="{FF2B5EF4-FFF2-40B4-BE49-F238E27FC236}">
                <a16:creationId xmlns:a16="http://schemas.microsoft.com/office/drawing/2014/main" id="{C86DAB8E-6EB6-2DCF-663C-4E88823865F8}"/>
              </a:ext>
            </a:extLst>
          </p:cNvPr>
          <p:cNvPicPr>
            <a:picLocks noChangeAspect="1"/>
          </p:cNvPicPr>
          <p:nvPr/>
        </p:nvPicPr>
        <p:blipFill>
          <a:blip r:embed="rId3"/>
          <a:stretch>
            <a:fillRect/>
          </a:stretch>
        </p:blipFill>
        <p:spPr>
          <a:xfrm>
            <a:off x="535782" y="4284407"/>
            <a:ext cx="4455921" cy="1984234"/>
          </a:xfrm>
          <a:prstGeom prst="rect">
            <a:avLst/>
          </a:prstGeom>
        </p:spPr>
      </p:pic>
    </p:spTree>
    <p:extLst>
      <p:ext uri="{BB962C8B-B14F-4D97-AF65-F5344CB8AC3E}">
        <p14:creationId xmlns:p14="http://schemas.microsoft.com/office/powerpoint/2010/main" val="38886369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A17E6F50-851B-486D-5237-21D7843181F5}"/>
              </a:ext>
            </a:extLst>
          </p:cNvPr>
          <p:cNvSpPr/>
          <p:nvPr/>
        </p:nvSpPr>
        <p:spPr>
          <a:xfrm>
            <a:off x="600076" y="457199"/>
            <a:ext cx="3257550" cy="61436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dirty="0"/>
              <a:t>For</a:t>
            </a:r>
            <a:r>
              <a:rPr lang="zh-CN" altLang="en-US" dirty="0"/>
              <a:t>循环优势</a:t>
            </a:r>
          </a:p>
        </p:txBody>
      </p:sp>
      <p:sp>
        <p:nvSpPr>
          <p:cNvPr id="5" name="矩形 4">
            <a:extLst>
              <a:ext uri="{FF2B5EF4-FFF2-40B4-BE49-F238E27FC236}">
                <a16:creationId xmlns:a16="http://schemas.microsoft.com/office/drawing/2014/main" id="{E35C25AD-C9A5-FF02-E9E7-AB00A81CE828}"/>
              </a:ext>
            </a:extLst>
          </p:cNvPr>
          <p:cNvSpPr/>
          <p:nvPr/>
        </p:nvSpPr>
        <p:spPr>
          <a:xfrm>
            <a:off x="600076" y="1285875"/>
            <a:ext cx="10615612" cy="474345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r>
              <a:rPr lang="zh-CN" altLang="en-US" dirty="0"/>
              <a:t>相比其他循环结构（比如</a:t>
            </a:r>
            <a:r>
              <a:rPr lang="en-US" altLang="zh-CN" dirty="0"/>
              <a:t>while</a:t>
            </a:r>
            <a:r>
              <a:rPr lang="zh-CN" altLang="en-US" dirty="0"/>
              <a:t>和</a:t>
            </a:r>
            <a:r>
              <a:rPr lang="en-US" altLang="zh-CN" dirty="0"/>
              <a:t>do-while</a:t>
            </a:r>
            <a:r>
              <a:rPr lang="zh-CN" altLang="en-US" dirty="0"/>
              <a:t>循环），</a:t>
            </a:r>
            <a:r>
              <a:rPr lang="en-US" altLang="zh-CN" dirty="0"/>
              <a:t>for</a:t>
            </a:r>
            <a:r>
              <a:rPr lang="zh-CN" altLang="en-US" dirty="0"/>
              <a:t>循环具有以下优势：</a:t>
            </a:r>
            <a:endParaRPr lang="en-US" altLang="zh-CN" dirty="0"/>
          </a:p>
          <a:p>
            <a:endParaRPr lang="en-US" altLang="zh-CN" dirty="0"/>
          </a:p>
          <a:p>
            <a:r>
              <a:rPr lang="zh-CN" altLang="en-US" dirty="0"/>
              <a:t>（</a:t>
            </a:r>
            <a:r>
              <a:rPr lang="en-US" altLang="zh-CN" dirty="0"/>
              <a:t>1</a:t>
            </a:r>
            <a:r>
              <a:rPr lang="zh-CN" altLang="en-US" dirty="0"/>
              <a:t>）结构清晰： </a:t>
            </a:r>
            <a:r>
              <a:rPr lang="en-US" altLang="zh-CN" dirty="0"/>
              <a:t>for</a:t>
            </a:r>
            <a:r>
              <a:rPr lang="zh-CN" altLang="en-US" dirty="0"/>
              <a:t>循环提供了一个明确的地方来初始化循环控制变量、设置循环条件和更新循环变量的表达式。这使得代码的结构更加清晰，降低了出错的可能性。</a:t>
            </a:r>
            <a:endParaRPr lang="en-US" altLang="zh-CN" dirty="0"/>
          </a:p>
          <a:p>
            <a:r>
              <a:rPr lang="zh-CN" altLang="en-US" dirty="0"/>
              <a:t>（</a:t>
            </a:r>
            <a:r>
              <a:rPr lang="en-US" altLang="zh-CN" dirty="0"/>
              <a:t>2</a:t>
            </a:r>
            <a:r>
              <a:rPr lang="zh-CN" altLang="en-US" dirty="0"/>
              <a:t>）初始化、条件、迭代合并： </a:t>
            </a:r>
            <a:r>
              <a:rPr lang="en-US" altLang="zh-CN" dirty="0"/>
              <a:t>for</a:t>
            </a:r>
            <a:r>
              <a:rPr lang="zh-CN" altLang="en-US" dirty="0"/>
              <a:t>循环将初始化、条件检查和迭代操作合并在一个地方，使得相关的控制逻辑更加集中和易于维护适用于已知迭代次数的循环： 当循环次数已知时，使用</a:t>
            </a:r>
            <a:r>
              <a:rPr lang="en-US" altLang="zh-CN" dirty="0"/>
              <a:t>for</a:t>
            </a:r>
            <a:r>
              <a:rPr lang="zh-CN" altLang="en-US" dirty="0"/>
              <a:t>循环更加简洁和方便</a:t>
            </a:r>
            <a:endParaRPr lang="en-US" altLang="zh-CN" dirty="0"/>
          </a:p>
          <a:p>
            <a:r>
              <a:rPr lang="zh-CN" altLang="en-US" dirty="0"/>
              <a:t>（</a:t>
            </a:r>
            <a:r>
              <a:rPr lang="en-US" altLang="zh-CN" dirty="0"/>
              <a:t>3</a:t>
            </a:r>
            <a:r>
              <a:rPr lang="zh-CN" altLang="en-US" dirty="0"/>
              <a:t>）适用于数值范围的迭代： </a:t>
            </a:r>
            <a:r>
              <a:rPr lang="en-US" altLang="zh-CN" dirty="0"/>
              <a:t>for</a:t>
            </a:r>
            <a:r>
              <a:rPr lang="zh-CN" altLang="en-US" dirty="0"/>
              <a:t>循环特别适合在数值范围内进行迭代，如数组的遍历或其他数值操作。（</a:t>
            </a:r>
            <a:r>
              <a:rPr lang="en-US" altLang="zh-CN" dirty="0"/>
              <a:t>4</a:t>
            </a:r>
            <a:r>
              <a:rPr lang="zh-CN" altLang="en-US" dirty="0"/>
              <a:t>）简洁性和可读性： 由于</a:t>
            </a:r>
            <a:r>
              <a:rPr lang="en-US" altLang="zh-CN" dirty="0"/>
              <a:t>for</a:t>
            </a:r>
            <a:r>
              <a:rPr lang="zh-CN" altLang="en-US" dirty="0"/>
              <a:t>循环提供了一个紧凑的语法，使用它能够使代码更加简洁，也更容易阅读和理解。</a:t>
            </a:r>
            <a:endParaRPr lang="en-US" altLang="zh-CN" dirty="0"/>
          </a:p>
          <a:p>
            <a:r>
              <a:rPr lang="zh-CN" altLang="en-US" dirty="0"/>
              <a:t>        总的来说，</a:t>
            </a:r>
            <a:r>
              <a:rPr lang="en-US" altLang="zh-CN" dirty="0"/>
              <a:t>for</a:t>
            </a:r>
            <a:r>
              <a:rPr lang="zh-CN" altLang="en-US" dirty="0"/>
              <a:t>循环的设计使得它在处理已知循环次数、数值范围的迭代以及需要集中管理循环控制变量的情况下更为优越。然而，对于一些特定的场景，其他循环结构可能会更为适用。选择使用哪种循环结构取决于具体的需求和代码结构。</a:t>
            </a:r>
            <a:r>
              <a:rPr lang="en-US" altLang="zh-CN" dirty="0"/>
              <a:t> while</a:t>
            </a:r>
            <a:r>
              <a:rPr lang="zh-CN" altLang="en-US" dirty="0"/>
              <a:t>和</a:t>
            </a:r>
            <a:r>
              <a:rPr lang="en-US" altLang="zh-CN" dirty="0"/>
              <a:t>do-while</a:t>
            </a:r>
            <a:r>
              <a:rPr lang="zh-CN" altLang="en-US" dirty="0"/>
              <a:t>循环是可以完全被</a:t>
            </a:r>
            <a:r>
              <a:rPr lang="en-US" altLang="zh-CN" dirty="0"/>
              <a:t>For</a:t>
            </a:r>
            <a:r>
              <a:rPr lang="zh-CN" altLang="en-US" dirty="0"/>
              <a:t>循环功能代替的，但反过来就不一定可以。</a:t>
            </a:r>
          </a:p>
        </p:txBody>
      </p:sp>
    </p:spTree>
    <p:extLst>
      <p:ext uri="{BB962C8B-B14F-4D97-AF65-F5344CB8AC3E}">
        <p14:creationId xmlns:p14="http://schemas.microsoft.com/office/powerpoint/2010/main" val="16920030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35C0EAA-E215-4856-AC3A-756653A8DDD2}"/>
              </a:ext>
            </a:extLst>
          </p:cNvPr>
          <p:cNvSpPr>
            <a:spLocks noGrp="1"/>
          </p:cNvSpPr>
          <p:nvPr>
            <p:ph type="subTitle" idx="1"/>
          </p:nvPr>
        </p:nvSpPr>
        <p:spPr>
          <a:xfrm>
            <a:off x="1524000" y="2013870"/>
            <a:ext cx="9144000" cy="1655762"/>
          </a:xfrm>
        </p:spPr>
        <p:txBody>
          <a:bodyPr>
            <a:normAutofit lnSpcReduction="10000"/>
          </a:bodyPr>
          <a:lstStyle/>
          <a:p>
            <a:pPr algn="l"/>
            <a:r>
              <a:rPr lang="en-US" altLang="zh-CN" dirty="0"/>
              <a:t>1.</a:t>
            </a:r>
            <a:r>
              <a:rPr lang="zh-CN" altLang="en-US" dirty="0"/>
              <a:t>设变量</a:t>
            </a:r>
            <a:r>
              <a:rPr lang="en-US" altLang="zh-CN" dirty="0"/>
              <a:t>x</a:t>
            </a:r>
            <a:r>
              <a:rPr lang="zh-CN" altLang="en-US" dirty="0"/>
              <a:t>，</a:t>
            </a:r>
            <a:r>
              <a:rPr lang="en-US" altLang="zh-CN" dirty="0"/>
              <a:t>y</a:t>
            </a:r>
            <a:r>
              <a:rPr lang="zh-CN" altLang="en-US" dirty="0"/>
              <a:t>为</a:t>
            </a:r>
            <a:r>
              <a:rPr lang="en-US" altLang="zh-CN" dirty="0"/>
              <a:t>int</a:t>
            </a:r>
            <a:r>
              <a:rPr lang="zh-CN" altLang="en-US" dirty="0"/>
              <a:t>类型，则循环语句</a:t>
            </a:r>
            <a:endParaRPr lang="en-US" altLang="zh-CN" dirty="0"/>
          </a:p>
          <a:p>
            <a:pPr algn="l"/>
            <a:r>
              <a:rPr lang="en-US" altLang="zh-CN" dirty="0"/>
              <a:t>for(x = 4, y = 0; (y != 10) &amp;&amp; (x &gt; 0);  x--, y+=2);</a:t>
            </a:r>
          </a:p>
          <a:p>
            <a:pPr algn="l"/>
            <a:r>
              <a:rPr lang="zh-CN" altLang="en-US" dirty="0"/>
              <a:t>执行的循环次数为</a:t>
            </a:r>
            <a:r>
              <a:rPr lang="en-US" altLang="zh-CN" dirty="0"/>
              <a:t>(  )? </a:t>
            </a:r>
          </a:p>
          <a:p>
            <a:pPr algn="l"/>
            <a:r>
              <a:rPr lang="en-US" altLang="zh-CN" dirty="0"/>
              <a:t>A. </a:t>
            </a:r>
            <a:r>
              <a:rPr lang="zh-CN" altLang="en-US" dirty="0"/>
              <a:t>无限多次           </a:t>
            </a:r>
            <a:r>
              <a:rPr lang="en-US" altLang="zh-CN" dirty="0"/>
              <a:t>B. 4</a:t>
            </a:r>
            <a:r>
              <a:rPr lang="zh-CN" altLang="en-US" dirty="0"/>
              <a:t>次          </a:t>
            </a:r>
            <a:r>
              <a:rPr lang="en-US" altLang="zh-CN" dirty="0"/>
              <a:t>C. 3</a:t>
            </a:r>
            <a:r>
              <a:rPr lang="zh-CN" altLang="en-US" dirty="0"/>
              <a:t>次</a:t>
            </a:r>
            <a:r>
              <a:rPr lang="en-US" altLang="zh-CN" dirty="0"/>
              <a:t>           D.2</a:t>
            </a:r>
            <a:r>
              <a:rPr lang="zh-CN" altLang="en-US" dirty="0"/>
              <a:t>次</a:t>
            </a:r>
          </a:p>
        </p:txBody>
      </p:sp>
      <p:sp>
        <p:nvSpPr>
          <p:cNvPr id="6" name="标题 1">
            <a:extLst>
              <a:ext uri="{FF2B5EF4-FFF2-40B4-BE49-F238E27FC236}">
                <a16:creationId xmlns:a16="http://schemas.microsoft.com/office/drawing/2014/main" id="{E64D1A0C-8499-4154-8A54-EBD13E7EF8A8}"/>
              </a:ext>
            </a:extLst>
          </p:cNvPr>
          <p:cNvSpPr txBox="1">
            <a:spLocks/>
          </p:cNvSpPr>
          <p:nvPr/>
        </p:nvSpPr>
        <p:spPr>
          <a:xfrm>
            <a:off x="708145" y="446888"/>
            <a:ext cx="3293215" cy="98941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571500" indent="-571500" algn="l">
              <a:buFont typeface="Arial" panose="020B0604020202020204" pitchFamily="34" charset="0"/>
              <a:buChar char="•"/>
            </a:pPr>
            <a:r>
              <a:rPr lang="zh-CN" altLang="en-US" sz="4400" dirty="0"/>
              <a:t>例题</a:t>
            </a:r>
          </a:p>
        </p:txBody>
      </p:sp>
    </p:spTree>
    <p:extLst>
      <p:ext uri="{BB962C8B-B14F-4D97-AF65-F5344CB8AC3E}">
        <p14:creationId xmlns:p14="http://schemas.microsoft.com/office/powerpoint/2010/main" val="536427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0C8D3138-2571-4B65-ADFD-E8491CCC1C62}"/>
              </a:ext>
            </a:extLst>
          </p:cNvPr>
          <p:cNvSpPr>
            <a:spLocks noGrp="1"/>
          </p:cNvSpPr>
          <p:nvPr>
            <p:ph type="subTitle" idx="1"/>
          </p:nvPr>
        </p:nvSpPr>
        <p:spPr>
          <a:xfrm>
            <a:off x="1145864" y="1793864"/>
            <a:ext cx="9998816" cy="2688759"/>
          </a:xfrm>
        </p:spPr>
        <p:txBody>
          <a:bodyPr>
            <a:normAutofit/>
          </a:bodyPr>
          <a:lstStyle/>
          <a:p>
            <a:pPr algn="l"/>
            <a:r>
              <a:rPr lang="zh-CN" altLang="en-US" dirty="0"/>
              <a:t>本题考查较为基础，考察</a:t>
            </a:r>
            <a:r>
              <a:rPr lang="en-US" altLang="zh-CN" dirty="0"/>
              <a:t>for</a:t>
            </a:r>
            <a:r>
              <a:rPr lang="zh-CN" altLang="en-US" dirty="0"/>
              <a:t>语句基本功能的实现并结合了部分运算符相关知识。</a:t>
            </a:r>
            <a:endParaRPr lang="en-US" altLang="zh-CN" dirty="0"/>
          </a:p>
          <a:p>
            <a:pPr algn="l"/>
            <a:endParaRPr lang="en-US" altLang="zh-CN" dirty="0"/>
          </a:p>
          <a:p>
            <a:pPr algn="l"/>
            <a:r>
              <a:rPr lang="zh-CN" altLang="en-US" dirty="0"/>
              <a:t>本题正确答案为 </a:t>
            </a:r>
            <a:r>
              <a:rPr lang="en-US" altLang="zh-CN" dirty="0"/>
              <a:t>B</a:t>
            </a:r>
          </a:p>
          <a:p>
            <a:pPr algn="l"/>
            <a:r>
              <a:rPr lang="zh-CN" altLang="en-US" dirty="0"/>
              <a:t>解析：第一次循环结束</a:t>
            </a:r>
            <a:r>
              <a:rPr lang="en-US" altLang="zh-CN" dirty="0"/>
              <a:t>: x=3,y=2: </a:t>
            </a:r>
            <a:r>
              <a:rPr lang="zh-CN" altLang="en-US" dirty="0"/>
              <a:t>第二次循环结束</a:t>
            </a:r>
            <a:r>
              <a:rPr lang="en-US" altLang="zh-CN" dirty="0"/>
              <a:t>: x=2,y=4:</a:t>
            </a:r>
            <a:r>
              <a:rPr lang="zh-CN" altLang="en-US" dirty="0"/>
              <a:t>第三次循环结束</a:t>
            </a:r>
            <a:r>
              <a:rPr lang="en-US" altLang="zh-CN" dirty="0"/>
              <a:t>: x=1,y=6;</a:t>
            </a:r>
            <a:r>
              <a:rPr lang="zh-CN" altLang="en-US" dirty="0"/>
              <a:t>第四次循环结束</a:t>
            </a:r>
            <a:r>
              <a:rPr lang="en-US" altLang="zh-CN" dirty="0"/>
              <a:t>:x=0,y=8;</a:t>
            </a:r>
            <a:r>
              <a:rPr lang="zh-CN" altLang="en-US" dirty="0"/>
              <a:t>不再满足条件，循环结束。</a:t>
            </a:r>
            <a:endParaRPr lang="en-US" altLang="zh-CN" dirty="0"/>
          </a:p>
          <a:p>
            <a:endParaRPr lang="zh-CN" altLang="en-US" dirty="0"/>
          </a:p>
        </p:txBody>
      </p:sp>
    </p:spTree>
    <p:extLst>
      <p:ext uri="{BB962C8B-B14F-4D97-AF65-F5344CB8AC3E}">
        <p14:creationId xmlns:p14="http://schemas.microsoft.com/office/powerpoint/2010/main" val="27256415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C8453F04-6A09-4B84-ABBE-701222937154}"/>
              </a:ext>
            </a:extLst>
          </p:cNvPr>
          <p:cNvSpPr>
            <a:spLocks noGrp="1"/>
          </p:cNvSpPr>
          <p:nvPr>
            <p:ph type="subTitle" idx="1"/>
          </p:nvPr>
        </p:nvSpPr>
        <p:spPr>
          <a:xfrm>
            <a:off x="1220345" y="1242848"/>
            <a:ext cx="3405510" cy="4888819"/>
          </a:xfrm>
        </p:spPr>
        <p:txBody>
          <a:bodyPr>
            <a:normAutofit fontScale="92500" lnSpcReduction="10000"/>
          </a:bodyPr>
          <a:lstStyle/>
          <a:p>
            <a:pPr algn="l"/>
            <a:r>
              <a:rPr lang="en-US" altLang="zh-CN" sz="1900" dirty="0"/>
              <a:t>#include&lt;stdio.h&gt;</a:t>
            </a:r>
          </a:p>
          <a:p>
            <a:pPr algn="l"/>
            <a:r>
              <a:rPr lang="en-US" altLang="zh-CN" sz="1900" dirty="0"/>
              <a:t>sort(char*book[], int num)</a:t>
            </a:r>
          </a:p>
          <a:p>
            <a:pPr algn="l"/>
            <a:r>
              <a:rPr lang="en-US" altLang="zh-CN" sz="1900" dirty="0"/>
              <a:t>{</a:t>
            </a:r>
          </a:p>
          <a:p>
            <a:pPr algn="l"/>
            <a:r>
              <a:rPr lang="zh-CN" altLang="en-US" sz="1900" dirty="0"/>
              <a:t> </a:t>
            </a:r>
            <a:r>
              <a:rPr lang="en-US" altLang="zh-CN" sz="1900" dirty="0"/>
              <a:t>int </a:t>
            </a:r>
            <a:r>
              <a:rPr lang="en-US" altLang="zh-CN" sz="1900" dirty="0" err="1"/>
              <a:t>i</a:t>
            </a:r>
            <a:r>
              <a:rPr lang="en-US" altLang="zh-CN" sz="1900" dirty="0"/>
              <a:t>, j;</a:t>
            </a:r>
          </a:p>
          <a:p>
            <a:pPr algn="l"/>
            <a:r>
              <a:rPr lang="en-US" altLang="zh-CN" sz="1900" dirty="0"/>
              <a:t>char*temp;</a:t>
            </a:r>
          </a:p>
          <a:p>
            <a:pPr algn="l"/>
            <a:r>
              <a:rPr lang="en-US" altLang="zh-CN" sz="1900" dirty="0"/>
              <a:t>for(j = 1,;j &lt;= num-1; </a:t>
            </a:r>
            <a:r>
              <a:rPr lang="en-US" altLang="zh-CN" sz="1900" dirty="0" err="1"/>
              <a:t>j++</a:t>
            </a:r>
            <a:r>
              <a:rPr lang="en-US" altLang="zh-CN" sz="1900" dirty="0"/>
              <a:t>)</a:t>
            </a:r>
          </a:p>
          <a:p>
            <a:pPr algn="l"/>
            <a:r>
              <a:rPr lang="en-US" altLang="zh-CN" sz="1900" dirty="0"/>
              <a:t>for(</a:t>
            </a:r>
            <a:r>
              <a:rPr lang="en-US" altLang="zh-CN" sz="1900" dirty="0" err="1"/>
              <a:t>i</a:t>
            </a:r>
            <a:r>
              <a:rPr lang="en-US" altLang="zh-CN" sz="1900" dirty="0"/>
              <a:t>= 0; _____________; </a:t>
            </a:r>
            <a:r>
              <a:rPr lang="en-US" altLang="zh-CN" sz="1900" dirty="0" err="1"/>
              <a:t>i</a:t>
            </a:r>
            <a:r>
              <a:rPr lang="en-US" altLang="zh-CN" sz="1900" dirty="0"/>
              <a:t>++)</a:t>
            </a:r>
          </a:p>
          <a:p>
            <a:pPr algn="l"/>
            <a:r>
              <a:rPr lang="en-US" altLang="zh-CN" sz="1900" dirty="0"/>
              <a:t>if (</a:t>
            </a:r>
            <a:r>
              <a:rPr lang="en-US" altLang="zh-CN" sz="1900" dirty="0" err="1"/>
              <a:t>strcmp</a:t>
            </a:r>
            <a:r>
              <a:rPr lang="en-US" altLang="zh-CN" sz="1900" dirty="0"/>
              <a:t>(book[</a:t>
            </a:r>
            <a:r>
              <a:rPr lang="en-US" altLang="zh-CN" sz="1900" dirty="0" err="1"/>
              <a:t>i</a:t>
            </a:r>
            <a:r>
              <a:rPr lang="en-US" altLang="zh-CN" sz="1900" dirty="0"/>
              <a:t>], book [i+1])&gt;0)</a:t>
            </a:r>
          </a:p>
          <a:p>
            <a:pPr algn="l"/>
            <a:r>
              <a:rPr lang="en-US" altLang="zh-CN" sz="1900" dirty="0"/>
              <a:t>{</a:t>
            </a:r>
          </a:p>
          <a:p>
            <a:pPr algn="l"/>
            <a:r>
              <a:rPr lang="en-US" altLang="zh-CN" sz="1900" dirty="0"/>
              <a:t>temp = book[</a:t>
            </a:r>
            <a:r>
              <a:rPr lang="en-US" altLang="zh-CN" sz="1900" dirty="0" err="1"/>
              <a:t>i</a:t>
            </a:r>
            <a:r>
              <a:rPr lang="en-US" altLang="zh-CN" sz="1900" dirty="0"/>
              <a:t>];</a:t>
            </a:r>
          </a:p>
          <a:p>
            <a:pPr algn="l"/>
            <a:r>
              <a:rPr lang="en-US" altLang="zh-CN" sz="1900" dirty="0"/>
              <a:t>book[</a:t>
            </a:r>
            <a:r>
              <a:rPr lang="en-US" altLang="zh-CN" sz="1900" dirty="0" err="1"/>
              <a:t>i</a:t>
            </a:r>
            <a:r>
              <a:rPr lang="en-US" altLang="zh-CN" sz="1900" dirty="0"/>
              <a:t>] = book[</a:t>
            </a:r>
            <a:r>
              <a:rPr lang="en-US" altLang="zh-CN" sz="1900" dirty="0" err="1"/>
              <a:t>i</a:t>
            </a:r>
            <a:r>
              <a:rPr lang="en-US" altLang="zh-CN" sz="1900" dirty="0"/>
              <a:t> + 1];</a:t>
            </a:r>
          </a:p>
          <a:p>
            <a:pPr algn="l"/>
            <a:r>
              <a:rPr lang="en-US" altLang="zh-CN" sz="1900" dirty="0"/>
              <a:t>_______________;</a:t>
            </a:r>
          </a:p>
          <a:p>
            <a:pPr algn="l"/>
            <a:r>
              <a:rPr lang="en-US" altLang="zh-CN" sz="1900" dirty="0"/>
              <a:t>}</a:t>
            </a:r>
          </a:p>
          <a:p>
            <a:pPr algn="l"/>
            <a:r>
              <a:rPr lang="en-US" altLang="zh-CN" sz="1900" dirty="0"/>
              <a:t>}</a:t>
            </a:r>
          </a:p>
          <a:p>
            <a:pPr algn="l"/>
            <a:endParaRPr lang="en-US" altLang="zh-CN" sz="1800" dirty="0"/>
          </a:p>
          <a:p>
            <a:pPr algn="l"/>
            <a:endParaRPr lang="zh-CN" altLang="en-US" sz="1800" dirty="0"/>
          </a:p>
        </p:txBody>
      </p:sp>
      <p:sp>
        <p:nvSpPr>
          <p:cNvPr id="4" name="副标题 2">
            <a:extLst>
              <a:ext uri="{FF2B5EF4-FFF2-40B4-BE49-F238E27FC236}">
                <a16:creationId xmlns:a16="http://schemas.microsoft.com/office/drawing/2014/main" id="{F1854902-F622-4CB2-8D21-506202F69D2D}"/>
              </a:ext>
            </a:extLst>
          </p:cNvPr>
          <p:cNvSpPr txBox="1">
            <a:spLocks/>
          </p:cNvSpPr>
          <p:nvPr/>
        </p:nvSpPr>
        <p:spPr>
          <a:xfrm>
            <a:off x="5863390" y="338322"/>
            <a:ext cx="3405510" cy="618135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altLang="zh-CN" sz="1800" dirty="0"/>
          </a:p>
          <a:p>
            <a:pPr algn="l"/>
            <a:endParaRPr lang="zh-CN" altLang="en-US" sz="1800" dirty="0"/>
          </a:p>
        </p:txBody>
      </p:sp>
      <p:sp>
        <p:nvSpPr>
          <p:cNvPr id="5" name="副标题 2">
            <a:extLst>
              <a:ext uri="{FF2B5EF4-FFF2-40B4-BE49-F238E27FC236}">
                <a16:creationId xmlns:a16="http://schemas.microsoft.com/office/drawing/2014/main" id="{2AFB175E-E942-4BD2-B906-0EC594C01160}"/>
              </a:ext>
            </a:extLst>
          </p:cNvPr>
          <p:cNvSpPr txBox="1">
            <a:spLocks/>
          </p:cNvSpPr>
          <p:nvPr/>
        </p:nvSpPr>
        <p:spPr>
          <a:xfrm>
            <a:off x="5774013" y="1242848"/>
            <a:ext cx="3405510" cy="488881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1900" dirty="0"/>
              <a:t>int main()</a:t>
            </a:r>
          </a:p>
          <a:p>
            <a:pPr algn="l"/>
            <a:r>
              <a:rPr lang="en-US" altLang="zh-CN" sz="1900" dirty="0"/>
              <a:t>{</a:t>
            </a:r>
          </a:p>
          <a:p>
            <a:pPr algn="l"/>
            <a:r>
              <a:rPr lang="en-US" altLang="zh-CN" sz="1900" dirty="0"/>
              <a:t>Int I;</a:t>
            </a:r>
          </a:p>
          <a:p>
            <a:pPr algn="l"/>
            <a:r>
              <a:rPr lang="en-US" altLang="zh-CN" sz="1900" dirty="0"/>
              <a:t>char*book[] = {“FORTRAN”, “PASCAL”, “BASIC”, “”COBOL”, “C”}</a:t>
            </a:r>
          </a:p>
          <a:p>
            <a:pPr algn="l"/>
            <a:r>
              <a:rPr lang="en-US" altLang="zh-CN" sz="1900" dirty="0"/>
              <a:t>sort (____________);</a:t>
            </a:r>
          </a:p>
          <a:p>
            <a:pPr algn="l"/>
            <a:r>
              <a:rPr lang="en-US" altLang="zh-CN" sz="1900" dirty="0"/>
              <a:t>for(</a:t>
            </a:r>
            <a:r>
              <a:rPr lang="en-US" altLang="zh-CN" sz="1900" dirty="0" err="1"/>
              <a:t>i</a:t>
            </a:r>
            <a:r>
              <a:rPr lang="en-US" altLang="zh-CN" sz="1900" dirty="0"/>
              <a:t>= 0; </a:t>
            </a:r>
            <a:r>
              <a:rPr lang="en-US" altLang="zh-CN" sz="1900" dirty="0" err="1"/>
              <a:t>i</a:t>
            </a:r>
            <a:r>
              <a:rPr lang="en-US" altLang="zh-CN" sz="1900" dirty="0"/>
              <a:t>&lt; 5; </a:t>
            </a:r>
            <a:r>
              <a:rPr lang="en-US" altLang="zh-CN" sz="1900" dirty="0" err="1"/>
              <a:t>i</a:t>
            </a:r>
            <a:r>
              <a:rPr lang="en-US" altLang="zh-CN" sz="1900" dirty="0"/>
              <a:t>++)</a:t>
            </a:r>
          </a:p>
          <a:p>
            <a:pPr algn="l"/>
            <a:r>
              <a:rPr lang="en-US" altLang="zh-CN" sz="1900" dirty="0" err="1"/>
              <a:t>printf</a:t>
            </a:r>
            <a:r>
              <a:rPr lang="en-US" altLang="zh-CN" sz="1900" dirty="0"/>
              <a:t>(“%s\n”, book[</a:t>
            </a:r>
            <a:r>
              <a:rPr lang="en-US" altLang="zh-CN" sz="1900" dirty="0" err="1"/>
              <a:t>i</a:t>
            </a:r>
            <a:r>
              <a:rPr lang="en-US" altLang="zh-CN" sz="1900" dirty="0"/>
              <a:t>]);</a:t>
            </a:r>
          </a:p>
          <a:p>
            <a:pPr algn="l"/>
            <a:r>
              <a:rPr lang="en-US" altLang="zh-CN" sz="1900" dirty="0"/>
              <a:t>}</a:t>
            </a:r>
          </a:p>
          <a:p>
            <a:pPr algn="l"/>
            <a:endParaRPr lang="en-US" altLang="zh-CN" sz="1800" dirty="0"/>
          </a:p>
          <a:p>
            <a:pPr algn="l"/>
            <a:endParaRPr lang="zh-CN" altLang="en-US" sz="1800" dirty="0"/>
          </a:p>
        </p:txBody>
      </p:sp>
      <p:sp>
        <p:nvSpPr>
          <p:cNvPr id="6" name="副标题 2">
            <a:extLst>
              <a:ext uri="{FF2B5EF4-FFF2-40B4-BE49-F238E27FC236}">
                <a16:creationId xmlns:a16="http://schemas.microsoft.com/office/drawing/2014/main" id="{12D18EE5-5F3D-45C2-95AE-CCD267C50C12}"/>
              </a:ext>
            </a:extLst>
          </p:cNvPr>
          <p:cNvSpPr txBox="1">
            <a:spLocks/>
          </p:cNvSpPr>
          <p:nvPr/>
        </p:nvSpPr>
        <p:spPr>
          <a:xfrm>
            <a:off x="1540042" y="203134"/>
            <a:ext cx="8772740" cy="651705"/>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dirty="0"/>
              <a:t>2.</a:t>
            </a:r>
            <a:r>
              <a:rPr lang="zh-CN" altLang="en-US" dirty="0"/>
              <a:t>下面程序完成的功能是对一批程序设计语言从小到大进行排序并输出，请完成填空。</a:t>
            </a:r>
          </a:p>
        </p:txBody>
      </p:sp>
    </p:spTree>
    <p:extLst>
      <p:ext uri="{BB962C8B-B14F-4D97-AF65-F5344CB8AC3E}">
        <p14:creationId xmlns:p14="http://schemas.microsoft.com/office/powerpoint/2010/main" val="16892779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86B4B55-E486-476C-A34E-2189D6C640E7}"/>
              </a:ext>
            </a:extLst>
          </p:cNvPr>
          <p:cNvSpPr>
            <a:spLocks noGrp="1"/>
          </p:cNvSpPr>
          <p:nvPr>
            <p:ph idx="1"/>
          </p:nvPr>
        </p:nvSpPr>
        <p:spPr>
          <a:xfrm>
            <a:off x="838200" y="1622676"/>
            <a:ext cx="10515600" cy="3612648"/>
          </a:xfrm>
        </p:spPr>
        <p:txBody>
          <a:bodyPr>
            <a:normAutofit/>
          </a:bodyPr>
          <a:lstStyle/>
          <a:p>
            <a:pPr marL="0" indent="0">
              <a:buNone/>
            </a:pPr>
            <a:r>
              <a:rPr lang="en-US" altLang="zh-CN" sz="2400" dirty="0"/>
              <a:t>2</a:t>
            </a:r>
            <a:r>
              <a:rPr lang="zh-CN" altLang="en-US" sz="2400" dirty="0"/>
              <a:t>、</a:t>
            </a:r>
            <a:r>
              <a:rPr lang="en-US" altLang="zh-CN" sz="2400" dirty="0"/>
              <a:t>[</a:t>
            </a:r>
            <a:r>
              <a:rPr lang="zh-CN" altLang="en-US" sz="2400" dirty="0"/>
              <a:t>分析</a:t>
            </a:r>
            <a:r>
              <a:rPr lang="en-US" altLang="zh-CN" sz="2400" dirty="0"/>
              <a:t>]</a:t>
            </a:r>
            <a:r>
              <a:rPr lang="zh-CN" altLang="en-US" sz="2400" dirty="0"/>
              <a:t>本题难点主要在第一空，考查冒泡排序循环停止的条件，第二空考查冒泡排序的具体实现，而第三空则考查函数的调用。</a:t>
            </a:r>
            <a:endParaRPr lang="en-US" altLang="zh-CN" sz="2400" dirty="0"/>
          </a:p>
          <a:p>
            <a:pPr marL="0" indent="0">
              <a:buNone/>
            </a:pPr>
            <a:endParaRPr lang="en-US" altLang="zh-CN" sz="2400" dirty="0"/>
          </a:p>
          <a:p>
            <a:pPr marL="0" indent="0">
              <a:buNone/>
            </a:pPr>
            <a:r>
              <a:rPr lang="en-US" altLang="zh-CN" sz="2400" dirty="0"/>
              <a:t>[</a:t>
            </a:r>
            <a:r>
              <a:rPr lang="zh-CN" altLang="en-US" sz="2400" dirty="0"/>
              <a:t>正解</a:t>
            </a:r>
            <a:r>
              <a:rPr lang="en-US" altLang="zh-CN" sz="2400" dirty="0"/>
              <a:t>] </a:t>
            </a:r>
            <a:r>
              <a:rPr lang="en-US" altLang="zh-CN" sz="2400" dirty="0" err="1"/>
              <a:t>i</a:t>
            </a:r>
            <a:r>
              <a:rPr lang="en-US" altLang="zh-CN" sz="2400" dirty="0"/>
              <a:t>&lt;=num-j-1; book[i+1]=temp; book,5</a:t>
            </a:r>
            <a:br>
              <a:rPr lang="en-US" altLang="zh-CN" sz="2400" dirty="0"/>
            </a:br>
            <a:endParaRPr lang="en-US" altLang="zh-CN" sz="2400" dirty="0"/>
          </a:p>
          <a:p>
            <a:pPr marL="0" indent="0">
              <a:buNone/>
            </a:pPr>
            <a:r>
              <a:rPr lang="en-US" altLang="zh-CN" sz="2400" dirty="0"/>
              <a:t>[</a:t>
            </a:r>
            <a:r>
              <a:rPr lang="zh-CN" altLang="en-US" sz="2400" dirty="0"/>
              <a:t>解析</a:t>
            </a:r>
            <a:r>
              <a:rPr lang="en-US" altLang="zh-CN" sz="2400" dirty="0"/>
              <a:t>] sort </a:t>
            </a:r>
            <a:r>
              <a:rPr lang="zh-CN" altLang="en-US" sz="2400" dirty="0"/>
              <a:t>函数中采用的是冒泡排序，第</a:t>
            </a:r>
            <a:r>
              <a:rPr lang="en-US" altLang="zh-CN" sz="2400" dirty="0"/>
              <a:t>j</a:t>
            </a:r>
            <a:r>
              <a:rPr lang="zh-CN" altLang="en-US" sz="2400" dirty="0"/>
              <a:t>趟中需要排序的元素共有</a:t>
            </a:r>
            <a:r>
              <a:rPr lang="en-US" altLang="zh-CN" sz="2400" dirty="0"/>
              <a:t>num-j </a:t>
            </a:r>
            <a:r>
              <a:rPr lang="zh-CN" altLang="en-US" sz="2400" dirty="0"/>
              <a:t>个，其索引为</a:t>
            </a:r>
            <a:r>
              <a:rPr lang="en-US" altLang="zh-CN" sz="2400" dirty="0"/>
              <a:t>0-num-j-1;</a:t>
            </a:r>
            <a:r>
              <a:rPr lang="zh-CN" altLang="en-US" sz="2400" dirty="0"/>
              <a:t>交换两个位置上的元素，应填入</a:t>
            </a:r>
            <a:r>
              <a:rPr lang="en-US" altLang="zh-CN" sz="2400" dirty="0"/>
              <a:t>book[i+1]=temp; sort </a:t>
            </a:r>
            <a:r>
              <a:rPr lang="zh-CN" altLang="en-US" sz="2400" dirty="0"/>
              <a:t>函数的参数是需要排序的字符数组及数组的大小，应填入</a:t>
            </a:r>
            <a:r>
              <a:rPr lang="en-US" altLang="zh-CN" sz="2400" dirty="0"/>
              <a:t>book,5</a:t>
            </a:r>
            <a:r>
              <a:rPr lang="zh-CN" altLang="en-US" sz="2400" dirty="0"/>
              <a:t>。</a:t>
            </a:r>
            <a:br>
              <a:rPr lang="zh-CN" altLang="en-US" sz="2400" dirty="0"/>
            </a:br>
            <a:endParaRPr lang="zh-CN" altLang="en-US" sz="2400" dirty="0"/>
          </a:p>
        </p:txBody>
      </p:sp>
    </p:spTree>
    <p:extLst>
      <p:ext uri="{BB962C8B-B14F-4D97-AF65-F5344CB8AC3E}">
        <p14:creationId xmlns:p14="http://schemas.microsoft.com/office/powerpoint/2010/main" val="4381745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6920972-612B-C621-B215-87ABA4CAC97B}"/>
              </a:ext>
            </a:extLst>
          </p:cNvPr>
          <p:cNvSpPr/>
          <p:nvPr/>
        </p:nvSpPr>
        <p:spPr>
          <a:xfrm>
            <a:off x="657223" y="421481"/>
            <a:ext cx="10239949" cy="89296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zh-CN" altLang="en-US" dirty="0"/>
              <a:t>同时，</a:t>
            </a:r>
            <a:r>
              <a:rPr lang="en-US" altLang="zh-CN" dirty="0"/>
              <a:t>For</a:t>
            </a:r>
            <a:r>
              <a:rPr lang="zh-CN" altLang="en-US" dirty="0"/>
              <a:t>循环衍生了许多编程题，包括但不限于</a:t>
            </a:r>
            <a:r>
              <a:rPr lang="en-US" altLang="zh-CN" dirty="0"/>
              <a:t>:</a:t>
            </a:r>
            <a:endParaRPr lang="zh-CN" altLang="en-US" dirty="0"/>
          </a:p>
        </p:txBody>
      </p:sp>
      <p:sp>
        <p:nvSpPr>
          <p:cNvPr id="8" name="矩形 7">
            <a:extLst>
              <a:ext uri="{FF2B5EF4-FFF2-40B4-BE49-F238E27FC236}">
                <a16:creationId xmlns:a16="http://schemas.microsoft.com/office/drawing/2014/main" id="{E382A5EA-DF44-9B62-01F0-5C6448D30EFE}"/>
              </a:ext>
            </a:extLst>
          </p:cNvPr>
          <p:cNvSpPr/>
          <p:nvPr/>
        </p:nvSpPr>
        <p:spPr>
          <a:xfrm>
            <a:off x="1314450" y="1921669"/>
            <a:ext cx="7672388" cy="4193381"/>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B71496DF-5649-6BA8-7B2C-37B7C9114712}"/>
              </a:ext>
            </a:extLst>
          </p:cNvPr>
          <p:cNvSpPr txBox="1"/>
          <p:nvPr/>
        </p:nvSpPr>
        <p:spPr>
          <a:xfrm>
            <a:off x="657225" y="1726643"/>
            <a:ext cx="2323505" cy="2123658"/>
          </a:xfrm>
          <a:prstGeom prst="rect">
            <a:avLst/>
          </a:prstGeom>
          <a:noFill/>
        </p:spPr>
        <p:txBody>
          <a:bodyPr wrap="square">
            <a:spAutoFit/>
          </a:bodyPr>
          <a:lstStyle/>
          <a:p>
            <a:r>
              <a:rPr lang="zh-CN" altLang="en-US" sz="2400" dirty="0"/>
              <a:t>打印图形类：</a:t>
            </a:r>
            <a:endParaRPr lang="en-US" altLang="zh-CN" sz="2400" dirty="0"/>
          </a:p>
          <a:p>
            <a:r>
              <a:rPr lang="en-US" altLang="zh-CN" dirty="0"/>
              <a:t>1.</a:t>
            </a:r>
            <a:r>
              <a:rPr lang="zh-CN" altLang="en-US" dirty="0"/>
              <a:t>直角三角形</a:t>
            </a:r>
            <a:endParaRPr lang="en-US" altLang="zh-CN" dirty="0"/>
          </a:p>
          <a:p>
            <a:r>
              <a:rPr lang="en-US" altLang="zh-CN" dirty="0"/>
              <a:t>2.</a:t>
            </a:r>
            <a:r>
              <a:rPr lang="zh-CN" altLang="en-US" dirty="0"/>
              <a:t>等腰三角形</a:t>
            </a:r>
            <a:endParaRPr lang="en-US" altLang="zh-CN" dirty="0"/>
          </a:p>
          <a:p>
            <a:r>
              <a:rPr lang="en-US" altLang="zh-CN" dirty="0"/>
              <a:t>3.</a:t>
            </a:r>
            <a:r>
              <a:rPr lang="zh-CN" altLang="en-US" dirty="0"/>
              <a:t>正方形</a:t>
            </a:r>
            <a:endParaRPr lang="en-US" altLang="zh-CN" dirty="0"/>
          </a:p>
          <a:p>
            <a:r>
              <a:rPr lang="en-US" altLang="zh-CN" dirty="0"/>
              <a:t>4.</a:t>
            </a:r>
            <a:r>
              <a:rPr lang="zh-CN" altLang="en-US" dirty="0"/>
              <a:t>菱形计</a:t>
            </a:r>
            <a:endParaRPr lang="en-US" altLang="zh-CN" dirty="0"/>
          </a:p>
          <a:p>
            <a:r>
              <a:rPr lang="en-US" altLang="zh-CN" dirty="0"/>
              <a:t>5.</a:t>
            </a:r>
            <a:r>
              <a:rPr lang="zh-CN" altLang="en-US" dirty="0"/>
              <a:t>乘法表</a:t>
            </a:r>
            <a:endParaRPr lang="en-US" altLang="zh-CN" dirty="0"/>
          </a:p>
          <a:p>
            <a:endParaRPr lang="en-US" altLang="zh-CN" dirty="0"/>
          </a:p>
        </p:txBody>
      </p:sp>
      <p:sp>
        <p:nvSpPr>
          <p:cNvPr id="11" name="文本框 10">
            <a:extLst>
              <a:ext uri="{FF2B5EF4-FFF2-40B4-BE49-F238E27FC236}">
                <a16:creationId xmlns:a16="http://schemas.microsoft.com/office/drawing/2014/main" id="{3B50D8D7-5247-79E9-7129-0E14441FD430}"/>
              </a:ext>
            </a:extLst>
          </p:cNvPr>
          <p:cNvSpPr txBox="1"/>
          <p:nvPr/>
        </p:nvSpPr>
        <p:spPr>
          <a:xfrm>
            <a:off x="7449593" y="1717355"/>
            <a:ext cx="3144143" cy="2400657"/>
          </a:xfrm>
          <a:prstGeom prst="rect">
            <a:avLst/>
          </a:prstGeom>
          <a:noFill/>
        </p:spPr>
        <p:txBody>
          <a:bodyPr wrap="square">
            <a:spAutoFit/>
          </a:bodyPr>
          <a:lstStyle/>
          <a:p>
            <a:r>
              <a:rPr lang="zh-CN" altLang="en-US" sz="2400" dirty="0"/>
              <a:t>计算类：</a:t>
            </a:r>
            <a:endParaRPr lang="en-US" altLang="zh-CN" sz="2400" dirty="0"/>
          </a:p>
          <a:p>
            <a:r>
              <a:rPr lang="en-US" altLang="zh-CN" dirty="0"/>
              <a:t>1.</a:t>
            </a:r>
            <a:r>
              <a:rPr lang="zh-CN" altLang="en-US" dirty="0"/>
              <a:t>求数列求和（包括泰勒展开，斐波那契数列求和）</a:t>
            </a:r>
            <a:endParaRPr lang="en-US" altLang="zh-CN" dirty="0"/>
          </a:p>
          <a:p>
            <a:r>
              <a:rPr lang="en-US" altLang="zh-CN" dirty="0"/>
              <a:t>2.</a:t>
            </a:r>
            <a:r>
              <a:rPr lang="zh-CN" altLang="en-US" dirty="0"/>
              <a:t>求阶乘</a:t>
            </a:r>
            <a:endParaRPr lang="en-US" altLang="zh-CN" dirty="0"/>
          </a:p>
          <a:p>
            <a:r>
              <a:rPr lang="en-US" altLang="zh-CN" dirty="0"/>
              <a:t>3.</a:t>
            </a:r>
            <a:r>
              <a:rPr lang="zh-CN" altLang="en-US" dirty="0"/>
              <a:t>找水仙花数</a:t>
            </a:r>
            <a:endParaRPr lang="en-US" altLang="zh-CN" dirty="0"/>
          </a:p>
          <a:p>
            <a:r>
              <a:rPr lang="en-US" altLang="zh-CN" dirty="0"/>
              <a:t>4.</a:t>
            </a:r>
            <a:r>
              <a:rPr lang="zh-CN" altLang="en-US" dirty="0"/>
              <a:t>找素数</a:t>
            </a:r>
            <a:endParaRPr lang="en-US" altLang="zh-CN" dirty="0"/>
          </a:p>
          <a:p>
            <a:r>
              <a:rPr lang="en-US" altLang="zh-CN" dirty="0"/>
              <a:t>5.</a:t>
            </a:r>
            <a:r>
              <a:rPr lang="zh-CN" altLang="en-US" dirty="0"/>
              <a:t>求最大公约数、最小公倍数</a:t>
            </a:r>
            <a:endParaRPr lang="en-US" altLang="zh-CN" dirty="0"/>
          </a:p>
          <a:p>
            <a:r>
              <a:rPr lang="en-US" altLang="zh-CN" dirty="0"/>
              <a:t>6.</a:t>
            </a:r>
            <a:r>
              <a:rPr lang="zh-CN" altLang="en-US" dirty="0"/>
              <a:t>迭代法求方程的根</a:t>
            </a:r>
            <a:endParaRPr lang="en-US" altLang="zh-CN" dirty="0"/>
          </a:p>
        </p:txBody>
      </p:sp>
      <p:sp>
        <p:nvSpPr>
          <p:cNvPr id="12" name="文本框 11">
            <a:extLst>
              <a:ext uri="{FF2B5EF4-FFF2-40B4-BE49-F238E27FC236}">
                <a16:creationId xmlns:a16="http://schemas.microsoft.com/office/drawing/2014/main" id="{C3B98FB3-808E-F115-31D0-4BF2F29C786E}"/>
              </a:ext>
            </a:extLst>
          </p:cNvPr>
          <p:cNvSpPr txBox="1"/>
          <p:nvPr/>
        </p:nvSpPr>
        <p:spPr>
          <a:xfrm>
            <a:off x="4142482" y="1726643"/>
            <a:ext cx="2016323" cy="1846659"/>
          </a:xfrm>
          <a:prstGeom prst="rect">
            <a:avLst/>
          </a:prstGeom>
          <a:noFill/>
        </p:spPr>
        <p:txBody>
          <a:bodyPr wrap="square">
            <a:spAutoFit/>
          </a:bodyPr>
          <a:lstStyle/>
          <a:p>
            <a:r>
              <a:rPr lang="zh-CN" altLang="en-US" sz="2400" dirty="0"/>
              <a:t>数组：</a:t>
            </a:r>
            <a:endParaRPr lang="en-US" altLang="zh-CN" sz="2400" dirty="0"/>
          </a:p>
          <a:p>
            <a:r>
              <a:rPr lang="en-US" altLang="zh-CN" dirty="0"/>
              <a:t>1.</a:t>
            </a:r>
            <a:r>
              <a:rPr lang="zh-CN" altLang="en-US" dirty="0"/>
              <a:t>找最大</a:t>
            </a:r>
            <a:r>
              <a:rPr lang="en-US" altLang="zh-CN" dirty="0"/>
              <a:t>(</a:t>
            </a:r>
            <a:r>
              <a:rPr lang="zh-CN" altLang="en-US" dirty="0"/>
              <a:t>小</a:t>
            </a:r>
            <a:r>
              <a:rPr lang="en-US" altLang="zh-CN" dirty="0"/>
              <a:t>)</a:t>
            </a:r>
            <a:r>
              <a:rPr lang="zh-CN" altLang="en-US" dirty="0"/>
              <a:t>值</a:t>
            </a:r>
            <a:endParaRPr lang="en-US" altLang="zh-CN" dirty="0"/>
          </a:p>
          <a:p>
            <a:r>
              <a:rPr lang="en-US" altLang="zh-CN" dirty="0"/>
              <a:t>2.</a:t>
            </a:r>
            <a:r>
              <a:rPr lang="zh-CN" altLang="en-US" dirty="0"/>
              <a:t>平均值</a:t>
            </a:r>
            <a:endParaRPr lang="en-US" altLang="zh-CN" dirty="0"/>
          </a:p>
          <a:p>
            <a:r>
              <a:rPr lang="en-US" altLang="zh-CN" dirty="0"/>
              <a:t>3.</a:t>
            </a:r>
            <a:r>
              <a:rPr lang="zh-CN" altLang="en-US" dirty="0"/>
              <a:t>倒序输出</a:t>
            </a:r>
            <a:endParaRPr lang="en-US" altLang="zh-CN" dirty="0"/>
          </a:p>
          <a:p>
            <a:r>
              <a:rPr lang="en-US" altLang="zh-CN" dirty="0"/>
              <a:t>4.</a:t>
            </a:r>
            <a:r>
              <a:rPr lang="zh-CN" altLang="en-US" dirty="0"/>
              <a:t>查找特定元素</a:t>
            </a:r>
            <a:endParaRPr lang="en-US" altLang="zh-CN" dirty="0"/>
          </a:p>
          <a:p>
            <a:r>
              <a:rPr lang="en-US" altLang="zh-CN" dirty="0"/>
              <a:t>5.</a:t>
            </a:r>
            <a:r>
              <a:rPr lang="zh-CN" altLang="en-US" dirty="0"/>
              <a:t>冒泡排序</a:t>
            </a:r>
            <a:endParaRPr lang="en-US" altLang="zh-CN" dirty="0"/>
          </a:p>
        </p:txBody>
      </p:sp>
      <p:sp>
        <p:nvSpPr>
          <p:cNvPr id="13" name="文本框 12">
            <a:extLst>
              <a:ext uri="{FF2B5EF4-FFF2-40B4-BE49-F238E27FC236}">
                <a16:creationId xmlns:a16="http://schemas.microsoft.com/office/drawing/2014/main" id="{47B60483-407B-B7DC-1DB2-4B1D2DE15E08}"/>
              </a:ext>
            </a:extLst>
          </p:cNvPr>
          <p:cNvSpPr txBox="1"/>
          <p:nvPr/>
        </p:nvSpPr>
        <p:spPr>
          <a:xfrm>
            <a:off x="4142482" y="3850301"/>
            <a:ext cx="2016323" cy="1292662"/>
          </a:xfrm>
          <a:prstGeom prst="rect">
            <a:avLst/>
          </a:prstGeom>
          <a:noFill/>
        </p:spPr>
        <p:txBody>
          <a:bodyPr wrap="square">
            <a:spAutoFit/>
          </a:bodyPr>
          <a:lstStyle/>
          <a:p>
            <a:r>
              <a:rPr lang="zh-CN" altLang="en-US" sz="2400" dirty="0"/>
              <a:t>其他：</a:t>
            </a:r>
            <a:endParaRPr lang="en-US" altLang="zh-CN" sz="2400" dirty="0"/>
          </a:p>
          <a:p>
            <a:r>
              <a:rPr lang="en-US" altLang="zh-CN" dirty="0"/>
              <a:t>1.</a:t>
            </a:r>
            <a:r>
              <a:rPr lang="zh-CN" altLang="en-US" dirty="0"/>
              <a:t>百钱百鸡</a:t>
            </a:r>
            <a:endParaRPr lang="en-US" altLang="zh-CN" dirty="0"/>
          </a:p>
          <a:p>
            <a:r>
              <a:rPr lang="en-US" altLang="zh-CN" dirty="0"/>
              <a:t>2.</a:t>
            </a:r>
            <a:r>
              <a:rPr lang="zh-CN" altLang="en-US" dirty="0"/>
              <a:t>圈圈报数</a:t>
            </a:r>
            <a:endParaRPr lang="en-US" altLang="zh-CN" dirty="0"/>
          </a:p>
          <a:p>
            <a:r>
              <a:rPr lang="en-US" altLang="zh-CN" dirty="0"/>
              <a:t>3.</a:t>
            </a:r>
            <a:r>
              <a:rPr lang="zh-CN" altLang="en-US" dirty="0"/>
              <a:t>矩阵转置</a:t>
            </a:r>
            <a:endParaRPr lang="en-US" altLang="zh-CN" dirty="0"/>
          </a:p>
        </p:txBody>
      </p:sp>
      <p:sp>
        <p:nvSpPr>
          <p:cNvPr id="16" name="文本框 15">
            <a:extLst>
              <a:ext uri="{FF2B5EF4-FFF2-40B4-BE49-F238E27FC236}">
                <a16:creationId xmlns:a16="http://schemas.microsoft.com/office/drawing/2014/main" id="{CDD26E7E-F998-81EF-1CE9-01B47232A849}"/>
              </a:ext>
            </a:extLst>
          </p:cNvPr>
          <p:cNvSpPr txBox="1"/>
          <p:nvPr/>
        </p:nvSpPr>
        <p:spPr>
          <a:xfrm>
            <a:off x="657224" y="3743562"/>
            <a:ext cx="3450431" cy="2123658"/>
          </a:xfrm>
          <a:prstGeom prst="rect">
            <a:avLst/>
          </a:prstGeom>
          <a:noFill/>
        </p:spPr>
        <p:txBody>
          <a:bodyPr wrap="square">
            <a:spAutoFit/>
          </a:bodyPr>
          <a:lstStyle/>
          <a:p>
            <a:r>
              <a:rPr lang="zh-CN" altLang="en-US" sz="2400" dirty="0"/>
              <a:t>字符串类：</a:t>
            </a:r>
            <a:endParaRPr lang="en-US" altLang="zh-CN" sz="2400" dirty="0"/>
          </a:p>
          <a:p>
            <a:r>
              <a:rPr lang="en-US" altLang="zh-CN" dirty="0"/>
              <a:t>1.</a:t>
            </a:r>
            <a:r>
              <a:rPr lang="zh-CN" altLang="en-US" dirty="0"/>
              <a:t>计算字符串长度</a:t>
            </a:r>
            <a:endParaRPr lang="en-US" altLang="zh-CN" dirty="0"/>
          </a:p>
          <a:p>
            <a:r>
              <a:rPr lang="en-US" altLang="zh-CN" dirty="0"/>
              <a:t>2.</a:t>
            </a:r>
            <a:r>
              <a:rPr lang="zh-CN" altLang="en-US" dirty="0"/>
              <a:t>反转字符串</a:t>
            </a:r>
            <a:endParaRPr lang="en-US" altLang="zh-CN" dirty="0"/>
          </a:p>
          <a:p>
            <a:r>
              <a:rPr lang="en-US" altLang="zh-CN" dirty="0"/>
              <a:t>3.</a:t>
            </a:r>
            <a:r>
              <a:rPr lang="zh-CN" altLang="en-US" dirty="0"/>
              <a:t>统计字符串中的单词数</a:t>
            </a:r>
            <a:endParaRPr lang="en-US" altLang="zh-CN" dirty="0"/>
          </a:p>
          <a:p>
            <a:r>
              <a:rPr lang="en-US" altLang="zh-CN" dirty="0"/>
              <a:t>4.</a:t>
            </a:r>
            <a:r>
              <a:rPr lang="zh-CN" altLang="en-US" dirty="0"/>
              <a:t>检查回文字符串</a:t>
            </a:r>
            <a:endParaRPr lang="en-US" altLang="zh-CN" dirty="0"/>
          </a:p>
          <a:p>
            <a:r>
              <a:rPr lang="en-US" altLang="zh-CN" dirty="0"/>
              <a:t>5.</a:t>
            </a:r>
            <a:r>
              <a:rPr lang="zh-CN" altLang="en-US" dirty="0"/>
              <a:t>将字符串转换为大写或小写</a:t>
            </a:r>
            <a:endParaRPr lang="en-US" altLang="zh-CN" dirty="0"/>
          </a:p>
          <a:p>
            <a:endParaRPr lang="en-US" altLang="zh-CN" dirty="0"/>
          </a:p>
        </p:txBody>
      </p:sp>
      <p:cxnSp>
        <p:nvCxnSpPr>
          <p:cNvPr id="17" name="直接连接符 16">
            <a:extLst>
              <a:ext uri="{FF2B5EF4-FFF2-40B4-BE49-F238E27FC236}">
                <a16:creationId xmlns:a16="http://schemas.microsoft.com/office/drawing/2014/main" id="{F571A5AE-EC24-2E82-3698-EE8B19543B3B}"/>
              </a:ext>
            </a:extLst>
          </p:cNvPr>
          <p:cNvCxnSpPr>
            <a:cxnSpLocks/>
          </p:cNvCxnSpPr>
          <p:nvPr/>
        </p:nvCxnSpPr>
        <p:spPr>
          <a:xfrm flipV="1">
            <a:off x="6794064" y="1460832"/>
            <a:ext cx="0" cy="4300576"/>
          </a:xfrm>
          <a:prstGeom prst="line">
            <a:avLst/>
          </a:prstGeom>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8C3E513E-0F7B-0E52-744A-A0C62DD91184}"/>
              </a:ext>
            </a:extLst>
          </p:cNvPr>
          <p:cNvCxnSpPr>
            <a:cxnSpLocks/>
          </p:cNvCxnSpPr>
          <p:nvPr/>
        </p:nvCxnSpPr>
        <p:spPr>
          <a:xfrm flipH="1" flipV="1">
            <a:off x="3743345" y="1460831"/>
            <a:ext cx="16613" cy="4300577"/>
          </a:xfrm>
          <a:prstGeom prst="line">
            <a:avLst/>
          </a:prstGeom>
        </p:spPr>
        <p:style>
          <a:lnRef idx="1">
            <a:schemeClr val="dk1"/>
          </a:lnRef>
          <a:fillRef idx="0">
            <a:schemeClr val="dk1"/>
          </a:fillRef>
          <a:effectRef idx="0">
            <a:schemeClr val="dk1"/>
          </a:effectRef>
          <a:fontRef idx="minor">
            <a:schemeClr val="tx1"/>
          </a:fontRef>
        </p:style>
      </p:cxnSp>
      <p:sp>
        <p:nvSpPr>
          <p:cNvPr id="14" name="内容占位符 2">
            <a:extLst>
              <a:ext uri="{FF2B5EF4-FFF2-40B4-BE49-F238E27FC236}">
                <a16:creationId xmlns:a16="http://schemas.microsoft.com/office/drawing/2014/main" id="{6156689B-633A-4BBE-92DE-4A42E3409B5A}"/>
              </a:ext>
            </a:extLst>
          </p:cNvPr>
          <p:cNvSpPr>
            <a:spLocks noGrp="1"/>
          </p:cNvSpPr>
          <p:nvPr>
            <p:ph idx="1"/>
          </p:nvPr>
        </p:nvSpPr>
        <p:spPr>
          <a:xfrm>
            <a:off x="1047068" y="5956434"/>
            <a:ext cx="9652764" cy="689383"/>
          </a:xfrm>
        </p:spPr>
        <p:txBody>
          <a:bodyPr>
            <a:normAutofit/>
          </a:bodyPr>
          <a:lstStyle/>
          <a:p>
            <a:pPr marL="0" indent="0">
              <a:buNone/>
            </a:pPr>
            <a:r>
              <a:rPr lang="zh-CN" altLang="en-US" sz="2400" dirty="0"/>
              <a:t>下面</a:t>
            </a:r>
            <a:r>
              <a:rPr lang="en-US" altLang="zh-CN" sz="2400" dirty="0"/>
              <a:t>,</a:t>
            </a:r>
            <a:r>
              <a:rPr lang="zh-CN" altLang="en-US" sz="2400" dirty="0"/>
              <a:t>我们将通过几个实例来进一步加深对</a:t>
            </a:r>
            <a:r>
              <a:rPr lang="en-US" altLang="zh-CN" sz="2400" dirty="0"/>
              <a:t>for</a:t>
            </a:r>
            <a:r>
              <a:rPr lang="zh-CN" altLang="en-US" sz="2400" dirty="0"/>
              <a:t>语句的理解</a:t>
            </a:r>
          </a:p>
        </p:txBody>
      </p:sp>
    </p:spTree>
    <p:extLst>
      <p:ext uri="{BB962C8B-B14F-4D97-AF65-F5344CB8AC3E}">
        <p14:creationId xmlns:p14="http://schemas.microsoft.com/office/powerpoint/2010/main" val="10184511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a:extLst>
              <a:ext uri="{FF2B5EF4-FFF2-40B4-BE49-F238E27FC236}">
                <a16:creationId xmlns:a16="http://schemas.microsoft.com/office/drawing/2014/main" id="{EE291C38-3E40-4E3A-8CCB-C2E75404220A}"/>
              </a:ext>
            </a:extLst>
          </p:cNvPr>
          <p:cNvSpPr txBox="1">
            <a:spLocks/>
          </p:cNvSpPr>
          <p:nvPr/>
        </p:nvSpPr>
        <p:spPr>
          <a:xfrm>
            <a:off x="2653823" y="2654402"/>
            <a:ext cx="6884354" cy="1028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600" dirty="0"/>
              <a:t>1.</a:t>
            </a:r>
            <a:r>
              <a:rPr lang="zh-CN" altLang="en-US" sz="3600" dirty="0"/>
              <a:t>查找</a:t>
            </a:r>
            <a:r>
              <a:rPr lang="en-US" altLang="zh-CN" sz="3600" dirty="0"/>
              <a:t>0~999</a:t>
            </a:r>
            <a:r>
              <a:rPr lang="zh-CN" altLang="en-US" sz="3600" dirty="0"/>
              <a:t>内的所有水仙花数</a:t>
            </a:r>
          </a:p>
        </p:txBody>
      </p:sp>
    </p:spTree>
    <p:extLst>
      <p:ext uri="{BB962C8B-B14F-4D97-AF65-F5344CB8AC3E}">
        <p14:creationId xmlns:p14="http://schemas.microsoft.com/office/powerpoint/2010/main" val="382291147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内容占位符 13">
            <a:extLst>
              <a:ext uri="{FF2B5EF4-FFF2-40B4-BE49-F238E27FC236}">
                <a16:creationId xmlns:a16="http://schemas.microsoft.com/office/drawing/2014/main" id="{265A25A6-D3BC-FC63-A5D7-453AC67E638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796063"/>
            <a:ext cx="5181600" cy="3262699"/>
          </a:xfrm>
        </p:spPr>
      </p:pic>
      <p:pic>
        <p:nvPicPr>
          <p:cNvPr id="16" name="内容占位符 15">
            <a:extLst>
              <a:ext uri="{FF2B5EF4-FFF2-40B4-BE49-F238E27FC236}">
                <a16:creationId xmlns:a16="http://schemas.microsoft.com/office/drawing/2014/main" id="{645D8647-0CE5-1C30-994D-7BA6B343B9F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7458075" y="2727325"/>
            <a:ext cx="2609850" cy="1400175"/>
          </a:xfrm>
        </p:spPr>
      </p:pic>
    </p:spTree>
    <p:extLst>
      <p:ext uri="{BB962C8B-B14F-4D97-AF65-F5344CB8AC3E}">
        <p14:creationId xmlns:p14="http://schemas.microsoft.com/office/powerpoint/2010/main" val="1422901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a:extLst>
              <a:ext uri="{FF2B5EF4-FFF2-40B4-BE49-F238E27FC236}">
                <a16:creationId xmlns:a16="http://schemas.microsoft.com/office/drawing/2014/main" id="{779AD255-A18F-48F1-B41C-BA37E22CEFFB}"/>
              </a:ext>
            </a:extLst>
          </p:cNvPr>
          <p:cNvSpPr txBox="1">
            <a:spLocks/>
          </p:cNvSpPr>
          <p:nvPr/>
        </p:nvSpPr>
        <p:spPr>
          <a:xfrm>
            <a:off x="4127978" y="2482522"/>
            <a:ext cx="3936044" cy="10289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3600" dirty="0"/>
              <a:t>2.</a:t>
            </a:r>
            <a:r>
              <a:rPr lang="zh-CN" altLang="en-US" sz="3600" dirty="0"/>
              <a:t>打印乘法口诀表</a:t>
            </a:r>
          </a:p>
        </p:txBody>
      </p:sp>
    </p:spTree>
    <p:extLst>
      <p:ext uri="{BB962C8B-B14F-4D97-AF65-F5344CB8AC3E}">
        <p14:creationId xmlns:p14="http://schemas.microsoft.com/office/powerpoint/2010/main" val="36252733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558D54BF-B566-F986-B46A-8FED1F73795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78814" y="680085"/>
            <a:ext cx="6510803" cy="2748915"/>
          </a:xfrm>
        </p:spPr>
      </p:pic>
      <p:pic>
        <p:nvPicPr>
          <p:cNvPr id="10" name="内容占位符 9">
            <a:extLst>
              <a:ext uri="{FF2B5EF4-FFF2-40B4-BE49-F238E27FC236}">
                <a16:creationId xmlns:a16="http://schemas.microsoft.com/office/drawing/2014/main" id="{0A62CCC7-CCC0-56B8-1149-FB23BD3B827C}"/>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2344439" y="3764167"/>
            <a:ext cx="6579555" cy="1900988"/>
          </a:xfrm>
        </p:spPr>
      </p:pic>
    </p:spTree>
    <p:extLst>
      <p:ext uri="{BB962C8B-B14F-4D97-AF65-F5344CB8AC3E}">
        <p14:creationId xmlns:p14="http://schemas.microsoft.com/office/powerpoint/2010/main" val="4278936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C638804-645F-431D-A407-EB2558E5BE65}"/>
              </a:ext>
            </a:extLst>
          </p:cNvPr>
          <p:cNvSpPr>
            <a:spLocks noGrp="1"/>
          </p:cNvSpPr>
          <p:nvPr>
            <p:ph type="subTitle" idx="1"/>
          </p:nvPr>
        </p:nvSpPr>
        <p:spPr>
          <a:xfrm>
            <a:off x="1524000" y="2508883"/>
            <a:ext cx="9144000" cy="1655762"/>
          </a:xfrm>
        </p:spPr>
        <p:txBody>
          <a:bodyPr>
            <a:normAutofit/>
          </a:bodyPr>
          <a:lstStyle/>
          <a:p>
            <a:r>
              <a:rPr lang="en-US" altLang="zh-CN" sz="3600" dirty="0"/>
              <a:t>3.</a:t>
            </a:r>
            <a:r>
              <a:rPr lang="zh-CN" altLang="en-US" sz="3600" dirty="0"/>
              <a:t>求前</a:t>
            </a:r>
            <a:r>
              <a:rPr lang="en-US" altLang="zh-CN" sz="3600" dirty="0"/>
              <a:t>n</a:t>
            </a:r>
            <a:r>
              <a:rPr lang="zh-CN" altLang="en-US" sz="3600" dirty="0"/>
              <a:t>项阶乘和</a:t>
            </a:r>
          </a:p>
        </p:txBody>
      </p:sp>
    </p:spTree>
    <p:extLst>
      <p:ext uri="{BB962C8B-B14F-4D97-AF65-F5344CB8AC3E}">
        <p14:creationId xmlns:p14="http://schemas.microsoft.com/office/powerpoint/2010/main" val="14857319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D7FA901-A7A1-4401-9F3D-8BA4FC67B090}"/>
              </a:ext>
            </a:extLst>
          </p:cNvPr>
          <p:cNvSpPr>
            <a:spLocks noGrp="1"/>
          </p:cNvSpPr>
          <p:nvPr>
            <p:ph type="subTitle" idx="1"/>
          </p:nvPr>
        </p:nvSpPr>
        <p:spPr>
          <a:xfrm>
            <a:off x="2452151" y="564625"/>
            <a:ext cx="6389341" cy="5728750"/>
          </a:xfrm>
        </p:spPr>
        <p:txBody>
          <a:bodyPr>
            <a:normAutofit lnSpcReduction="10000"/>
          </a:bodyPr>
          <a:lstStyle/>
          <a:p>
            <a:pPr algn="l"/>
            <a:r>
              <a:rPr lang="en-US" altLang="zh-CN" dirty="0"/>
              <a:t>#</a:t>
            </a:r>
            <a:r>
              <a:rPr lang="en-US" altLang="zh-CN" sz="2200" dirty="0"/>
              <a:t>include &lt;</a:t>
            </a:r>
            <a:r>
              <a:rPr lang="en-US" altLang="zh-CN" sz="2200" dirty="0" err="1"/>
              <a:t>stdio.h</a:t>
            </a:r>
            <a:r>
              <a:rPr lang="en-US" altLang="zh-CN" sz="2200" dirty="0"/>
              <a:t>&gt;</a:t>
            </a:r>
            <a:br>
              <a:rPr lang="en-US" altLang="zh-CN" sz="2200" dirty="0"/>
            </a:br>
            <a:br>
              <a:rPr lang="en-US" altLang="zh-CN" sz="2200" dirty="0"/>
            </a:br>
            <a:r>
              <a:rPr lang="en-US" altLang="zh-CN" sz="2200" dirty="0"/>
              <a:t>int </a:t>
            </a:r>
            <a:r>
              <a:rPr lang="en-US" altLang="zh-CN" sz="2200" dirty="0" err="1"/>
              <a:t>factorialSum</a:t>
            </a:r>
            <a:r>
              <a:rPr lang="en-US" altLang="zh-CN" sz="2200" dirty="0"/>
              <a:t>(int n) {</a:t>
            </a:r>
            <a:br>
              <a:rPr lang="en-US" altLang="zh-CN" sz="2200" dirty="0"/>
            </a:br>
            <a:r>
              <a:rPr lang="en-US" altLang="zh-CN" sz="2200" dirty="0"/>
              <a:t>    int result = 0;  </a:t>
            </a:r>
            <a:br>
              <a:rPr lang="zh-CN" altLang="en-US" sz="2200" dirty="0"/>
            </a:br>
            <a:r>
              <a:rPr lang="zh-CN" altLang="en-US" sz="2200" dirty="0"/>
              <a:t>    </a:t>
            </a:r>
            <a:r>
              <a:rPr lang="en-US" altLang="zh-CN" sz="2200" dirty="0"/>
              <a:t>int factorial = 1;  </a:t>
            </a:r>
            <a:br>
              <a:rPr lang="zh-CN" altLang="en-US" sz="2200" dirty="0"/>
            </a:br>
            <a:r>
              <a:rPr lang="zh-CN" altLang="en-US" sz="2200" dirty="0"/>
              <a:t>    </a:t>
            </a:r>
            <a:r>
              <a:rPr lang="en-US" altLang="zh-CN" sz="2200" dirty="0"/>
              <a:t>for (int </a:t>
            </a:r>
            <a:r>
              <a:rPr lang="en-US" altLang="zh-CN" sz="2200" dirty="0" err="1"/>
              <a:t>i</a:t>
            </a:r>
            <a:r>
              <a:rPr lang="en-US" altLang="zh-CN" sz="2200" dirty="0"/>
              <a:t> = 1; </a:t>
            </a:r>
            <a:r>
              <a:rPr lang="en-US" altLang="zh-CN" sz="2200" dirty="0" err="1"/>
              <a:t>i</a:t>
            </a:r>
            <a:r>
              <a:rPr lang="en-US" altLang="zh-CN" sz="2200" dirty="0"/>
              <a:t> &lt;= n; </a:t>
            </a:r>
            <a:r>
              <a:rPr lang="en-US" altLang="zh-CN" sz="2200" dirty="0" err="1"/>
              <a:t>i</a:t>
            </a:r>
            <a:r>
              <a:rPr lang="en-US" altLang="zh-CN" sz="2200" dirty="0"/>
              <a:t>++) {</a:t>
            </a:r>
            <a:br>
              <a:rPr lang="en-US" altLang="zh-CN" sz="2200" dirty="0"/>
            </a:br>
            <a:r>
              <a:rPr lang="en-US" altLang="zh-CN" sz="2200" dirty="0"/>
              <a:t>        factorial *= </a:t>
            </a:r>
            <a:r>
              <a:rPr lang="en-US" altLang="zh-CN" sz="2200" dirty="0" err="1"/>
              <a:t>i</a:t>
            </a:r>
            <a:r>
              <a:rPr lang="en-US" altLang="zh-CN" sz="2200" dirty="0"/>
              <a:t>; </a:t>
            </a:r>
            <a:br>
              <a:rPr lang="zh-CN" altLang="en-US" sz="2200" dirty="0"/>
            </a:br>
            <a:r>
              <a:rPr lang="zh-CN" altLang="en-US" sz="2200" dirty="0"/>
              <a:t>        </a:t>
            </a:r>
            <a:r>
              <a:rPr lang="en-US" altLang="zh-CN" sz="2200" dirty="0"/>
              <a:t>result += factorial;  </a:t>
            </a:r>
            <a:br>
              <a:rPr lang="zh-CN" altLang="en-US" sz="2200" dirty="0"/>
            </a:br>
            <a:r>
              <a:rPr lang="zh-CN" altLang="en-US" sz="2200" dirty="0"/>
              <a:t>    </a:t>
            </a:r>
            <a:r>
              <a:rPr lang="en-US" altLang="zh-CN" sz="2200" dirty="0"/>
              <a:t>}</a:t>
            </a:r>
            <a:br>
              <a:rPr lang="en-US" altLang="zh-CN" sz="2200" dirty="0"/>
            </a:br>
            <a:r>
              <a:rPr lang="en-US" altLang="zh-CN" sz="2200" dirty="0"/>
              <a:t>    return result;</a:t>
            </a:r>
            <a:br>
              <a:rPr lang="en-US" altLang="zh-CN" sz="2200" dirty="0"/>
            </a:br>
            <a:r>
              <a:rPr lang="en-US" altLang="zh-CN" sz="2200" dirty="0"/>
              <a:t>}</a:t>
            </a:r>
            <a:br>
              <a:rPr lang="en-US" altLang="zh-CN" sz="2200" dirty="0"/>
            </a:br>
            <a:br>
              <a:rPr lang="en-US" altLang="zh-CN" sz="2200" dirty="0"/>
            </a:br>
            <a:r>
              <a:rPr lang="en-US" altLang="zh-CN" sz="2200" dirty="0"/>
              <a:t>int main() {</a:t>
            </a:r>
          </a:p>
          <a:p>
            <a:pPr algn="l"/>
            <a:r>
              <a:rPr lang="en-US" altLang="zh-CN" sz="2200" dirty="0"/>
              <a:t>    int n;</a:t>
            </a:r>
          </a:p>
          <a:p>
            <a:pPr algn="l"/>
            <a:r>
              <a:rPr lang="en-US" altLang="zh-CN" sz="2200" dirty="0"/>
              <a:t>    </a:t>
            </a:r>
            <a:r>
              <a:rPr lang="en-US" altLang="zh-CN" sz="2200" dirty="0" err="1"/>
              <a:t>scanf</a:t>
            </a:r>
            <a:r>
              <a:rPr lang="en-US" altLang="zh-CN" sz="2200" dirty="0"/>
              <a:t>(“%d”, &amp;n);</a:t>
            </a:r>
            <a:br>
              <a:rPr lang="en-US" altLang="zh-CN" sz="2200" dirty="0"/>
            </a:br>
            <a:r>
              <a:rPr lang="en-US" altLang="zh-CN" sz="2200" dirty="0"/>
              <a:t>    </a:t>
            </a:r>
            <a:r>
              <a:rPr lang="en-US" altLang="zh-CN" sz="2200" dirty="0" err="1"/>
              <a:t>printf</a:t>
            </a:r>
            <a:r>
              <a:rPr lang="en-US" altLang="zh-CN" sz="2200" dirty="0"/>
              <a:t>("%d\n", </a:t>
            </a:r>
            <a:r>
              <a:rPr lang="en-US" altLang="zh-CN" sz="2200" dirty="0" err="1"/>
              <a:t>factorialSum</a:t>
            </a:r>
            <a:r>
              <a:rPr lang="en-US" altLang="zh-CN" sz="2200" dirty="0"/>
              <a:t>(n));  </a:t>
            </a:r>
            <a:br>
              <a:rPr lang="zh-CN" altLang="en-US" sz="2200" dirty="0"/>
            </a:br>
            <a:r>
              <a:rPr lang="zh-CN" altLang="en-US" sz="2200" dirty="0"/>
              <a:t>    </a:t>
            </a:r>
            <a:r>
              <a:rPr lang="en-US" altLang="zh-CN" sz="2200" dirty="0"/>
              <a:t>return 0;</a:t>
            </a:r>
            <a:br>
              <a:rPr lang="en-US" altLang="zh-CN" sz="2200" dirty="0"/>
            </a:br>
            <a:r>
              <a:rPr lang="en-US" altLang="zh-CN" sz="2200" dirty="0"/>
              <a:t>}</a:t>
            </a:r>
            <a:br>
              <a:rPr lang="en-US" altLang="zh-CN" sz="2200" dirty="0"/>
            </a:br>
            <a:endParaRPr lang="zh-CN" altLang="en-US" sz="2200" dirty="0"/>
          </a:p>
        </p:txBody>
      </p:sp>
    </p:spTree>
    <p:extLst>
      <p:ext uri="{BB962C8B-B14F-4D97-AF65-F5344CB8AC3E}">
        <p14:creationId xmlns:p14="http://schemas.microsoft.com/office/powerpoint/2010/main" val="42599246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CE11E089-4504-4437-8DAC-F3A114181D7F}"/>
              </a:ext>
            </a:extLst>
          </p:cNvPr>
          <p:cNvSpPr>
            <a:spLocks noGrp="1"/>
          </p:cNvSpPr>
          <p:nvPr>
            <p:ph type="subTitle" idx="1"/>
          </p:nvPr>
        </p:nvSpPr>
        <p:spPr>
          <a:xfrm>
            <a:off x="1303993" y="803837"/>
            <a:ext cx="9144000" cy="1655762"/>
          </a:xfrm>
        </p:spPr>
        <p:txBody>
          <a:bodyPr>
            <a:normAutofit/>
          </a:bodyPr>
          <a:lstStyle/>
          <a:p>
            <a:r>
              <a:rPr lang="zh-CN" altLang="en-US" sz="3200" dirty="0"/>
              <a:t>运行结果如下所示</a:t>
            </a:r>
            <a:r>
              <a:rPr lang="en-US" altLang="zh-CN" sz="3200" dirty="0"/>
              <a:t>:</a:t>
            </a:r>
            <a:endParaRPr lang="zh-CN" altLang="en-US" sz="3200" dirty="0"/>
          </a:p>
        </p:txBody>
      </p:sp>
      <p:pic>
        <p:nvPicPr>
          <p:cNvPr id="5" name="图片 4">
            <a:extLst>
              <a:ext uri="{FF2B5EF4-FFF2-40B4-BE49-F238E27FC236}">
                <a16:creationId xmlns:a16="http://schemas.microsoft.com/office/drawing/2014/main" id="{159058BB-AFB5-4EBC-AFF2-DC9081D219C3}"/>
              </a:ext>
            </a:extLst>
          </p:cNvPr>
          <p:cNvPicPr>
            <a:picLocks noChangeAspect="1"/>
          </p:cNvPicPr>
          <p:nvPr/>
        </p:nvPicPr>
        <p:blipFill>
          <a:blip r:embed="rId2"/>
          <a:stretch>
            <a:fillRect/>
          </a:stretch>
        </p:blipFill>
        <p:spPr>
          <a:xfrm>
            <a:off x="2183649" y="2157224"/>
            <a:ext cx="7824701" cy="1802884"/>
          </a:xfrm>
          <a:prstGeom prst="rect">
            <a:avLst/>
          </a:prstGeom>
        </p:spPr>
      </p:pic>
    </p:spTree>
    <p:extLst>
      <p:ext uri="{BB962C8B-B14F-4D97-AF65-F5344CB8AC3E}">
        <p14:creationId xmlns:p14="http://schemas.microsoft.com/office/powerpoint/2010/main" val="5264297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CC6490C3-DE19-4108-8F7D-143ED3315B63}"/>
              </a:ext>
            </a:extLst>
          </p:cNvPr>
          <p:cNvSpPr>
            <a:spLocks noGrp="1"/>
          </p:cNvSpPr>
          <p:nvPr>
            <p:ph type="subTitle" idx="1"/>
          </p:nvPr>
        </p:nvSpPr>
        <p:spPr>
          <a:xfrm>
            <a:off x="1524000" y="2621745"/>
            <a:ext cx="9144000" cy="1118358"/>
          </a:xfrm>
        </p:spPr>
        <p:txBody>
          <a:bodyPr>
            <a:normAutofit/>
          </a:bodyPr>
          <a:lstStyle/>
          <a:p>
            <a:r>
              <a:rPr lang="en-US" altLang="zh-CN" sz="3600" dirty="0"/>
              <a:t>4.</a:t>
            </a:r>
            <a:r>
              <a:rPr lang="zh-CN" altLang="en-US" sz="3600" dirty="0"/>
              <a:t>求</a:t>
            </a:r>
            <a:r>
              <a:rPr lang="en-US" altLang="zh-CN" sz="3600" dirty="0"/>
              <a:t>100</a:t>
            </a:r>
            <a:r>
              <a:rPr lang="zh-CN" altLang="en-US" sz="3600" dirty="0"/>
              <a:t>到</a:t>
            </a:r>
            <a:r>
              <a:rPr lang="en-US" altLang="zh-CN" sz="3600" dirty="0"/>
              <a:t>200</a:t>
            </a:r>
            <a:r>
              <a:rPr lang="zh-CN" altLang="en-US" sz="3600" dirty="0"/>
              <a:t>间的素数</a:t>
            </a:r>
          </a:p>
        </p:txBody>
      </p:sp>
    </p:spTree>
    <p:extLst>
      <p:ext uri="{BB962C8B-B14F-4D97-AF65-F5344CB8AC3E}">
        <p14:creationId xmlns:p14="http://schemas.microsoft.com/office/powerpoint/2010/main" val="37849230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021A91AD-15F9-9514-EAA4-124B34166E3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89049" y="1650231"/>
            <a:ext cx="5143215" cy="3043290"/>
          </a:xfrm>
        </p:spPr>
      </p:pic>
      <p:pic>
        <p:nvPicPr>
          <p:cNvPr id="10" name="内容占位符 9">
            <a:extLst>
              <a:ext uri="{FF2B5EF4-FFF2-40B4-BE49-F238E27FC236}">
                <a16:creationId xmlns:a16="http://schemas.microsoft.com/office/drawing/2014/main" id="{30589D5F-E1BD-349B-CAF5-007760EE7F1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933968" y="675350"/>
            <a:ext cx="935026" cy="4993051"/>
          </a:xfrm>
        </p:spPr>
      </p:pic>
    </p:spTree>
    <p:extLst>
      <p:ext uri="{BB962C8B-B14F-4D97-AF65-F5344CB8AC3E}">
        <p14:creationId xmlns:p14="http://schemas.microsoft.com/office/powerpoint/2010/main" val="216929263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C86D8747-BBC9-663D-13C9-E64006CC5C1F}"/>
              </a:ext>
            </a:extLst>
          </p:cNvPr>
          <p:cNvSpPr>
            <a:spLocks noGrp="1"/>
          </p:cNvSpPr>
          <p:nvPr>
            <p:ph idx="1"/>
          </p:nvPr>
        </p:nvSpPr>
        <p:spPr>
          <a:xfrm>
            <a:off x="1310869" y="2526181"/>
            <a:ext cx="9570261" cy="1361712"/>
          </a:xfrm>
        </p:spPr>
        <p:txBody>
          <a:bodyPr>
            <a:normAutofit/>
          </a:bodyPr>
          <a:lstStyle/>
          <a:p>
            <a:pPr marL="0" indent="0">
              <a:buNone/>
            </a:pPr>
            <a:r>
              <a:rPr lang="en-US" altLang="zh-CN" dirty="0"/>
              <a:t>5.</a:t>
            </a:r>
            <a:r>
              <a:rPr lang="zh-CN" altLang="en-US" dirty="0"/>
              <a:t>小明有五本新书，要借给</a:t>
            </a:r>
            <a:r>
              <a:rPr lang="en-US" altLang="zh-CN" dirty="0"/>
              <a:t>A</a:t>
            </a:r>
            <a:r>
              <a:rPr lang="zh-CN" altLang="en-US" dirty="0"/>
              <a:t>、</a:t>
            </a:r>
            <a:r>
              <a:rPr lang="en-US" altLang="zh-CN" dirty="0"/>
              <a:t>B</a:t>
            </a:r>
            <a:r>
              <a:rPr lang="zh-CN" altLang="en-US" dirty="0"/>
              <a:t>、</a:t>
            </a:r>
            <a:r>
              <a:rPr lang="en-US" altLang="zh-CN" dirty="0"/>
              <a:t>C</a:t>
            </a:r>
            <a:r>
              <a:rPr lang="zh-CN" altLang="en-US" dirty="0"/>
              <a:t>三位小朋友，若每人每次只能借一本书，问一共有多少种借法</a:t>
            </a:r>
            <a:r>
              <a:rPr lang="en-US" altLang="zh-CN" dirty="0"/>
              <a:t>?</a:t>
            </a:r>
            <a:endParaRPr lang="zh-CN" altLang="en-US" dirty="0"/>
          </a:p>
        </p:txBody>
      </p:sp>
    </p:spTree>
    <p:extLst>
      <p:ext uri="{BB962C8B-B14F-4D97-AF65-F5344CB8AC3E}">
        <p14:creationId xmlns:p14="http://schemas.microsoft.com/office/powerpoint/2010/main" val="1794378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47587E-925D-AAE4-63D5-FF7E23FA3776}"/>
              </a:ext>
            </a:extLst>
          </p:cNvPr>
          <p:cNvSpPr>
            <a:spLocks noGrp="1"/>
          </p:cNvSpPr>
          <p:nvPr>
            <p:ph idx="1"/>
          </p:nvPr>
        </p:nvSpPr>
        <p:spPr>
          <a:xfrm>
            <a:off x="1210210" y="2415467"/>
            <a:ext cx="9771579" cy="1167628"/>
          </a:xfrm>
        </p:spPr>
        <p:txBody>
          <a:bodyPr>
            <a:normAutofit/>
          </a:bodyPr>
          <a:lstStyle/>
          <a:p>
            <a:r>
              <a:rPr lang="zh-CN" altLang="zh-CN" dirty="0">
                <a:effectLst/>
                <a:ea typeface="等线" panose="02010600030101010101" pitchFamily="2" charset="-122"/>
                <a:cs typeface="Times New Roman" panose="02020603050405020304" pitchFamily="18" charset="0"/>
              </a:rPr>
              <a:t>首先对五本书进行编号。假设三个人分别借五本书的</a:t>
            </a:r>
            <a:r>
              <a:rPr lang="zh-CN" altLang="en-US" dirty="0">
                <a:effectLst/>
                <a:ea typeface="等线" panose="02010600030101010101" pitchFamily="2" charset="-122"/>
                <a:cs typeface="Times New Roman" panose="02020603050405020304" pitchFamily="18" charset="0"/>
              </a:rPr>
              <a:t>其中</a:t>
            </a:r>
            <a:r>
              <a:rPr lang="zh-CN" altLang="zh-CN" dirty="0">
                <a:effectLst/>
                <a:ea typeface="等线" panose="02010600030101010101" pitchFamily="2" charset="-122"/>
                <a:cs typeface="Times New Roman" panose="02020603050405020304" pitchFamily="18" charset="0"/>
              </a:rPr>
              <a:t>一本，当三个人借的书的编号</a:t>
            </a:r>
            <a:r>
              <a:rPr lang="zh-CN" altLang="en-US" dirty="0">
                <a:effectLst/>
                <a:ea typeface="等线" panose="02010600030101010101" pitchFamily="2" charset="-122"/>
                <a:cs typeface="Times New Roman" panose="02020603050405020304" pitchFamily="18" charset="0"/>
              </a:rPr>
              <a:t>都</a:t>
            </a:r>
            <a:r>
              <a:rPr lang="zh-CN" altLang="zh-CN" dirty="0">
                <a:effectLst/>
                <a:ea typeface="等线" panose="02010600030101010101" pitchFamily="2" charset="-122"/>
                <a:cs typeface="Times New Roman" panose="02020603050405020304" pitchFamily="18" charset="0"/>
              </a:rPr>
              <a:t>不同时，就是一种方法</a:t>
            </a:r>
            <a:r>
              <a:rPr lang="zh-CN" altLang="en-US" dirty="0">
                <a:effectLst/>
                <a:ea typeface="等线"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83615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9">
            <a:extLst>
              <a:ext uri="{FF2B5EF4-FFF2-40B4-BE49-F238E27FC236}">
                <a16:creationId xmlns:a16="http://schemas.microsoft.com/office/drawing/2014/main" id="{DAF0D7A5-96EC-CE9C-A897-6C19FBF868D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49330" y="2203551"/>
            <a:ext cx="7556749" cy="2450897"/>
          </a:xfrm>
        </p:spPr>
      </p:pic>
      <p:pic>
        <p:nvPicPr>
          <p:cNvPr id="5" name="图片 4">
            <a:extLst>
              <a:ext uri="{FF2B5EF4-FFF2-40B4-BE49-F238E27FC236}">
                <a16:creationId xmlns:a16="http://schemas.microsoft.com/office/drawing/2014/main" id="{DB9632E8-25CE-45D7-B15F-C1D2F7C19B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3812" y="1624011"/>
            <a:ext cx="1350241" cy="3984309"/>
          </a:xfrm>
          <a:prstGeom prst="rect">
            <a:avLst/>
          </a:prstGeom>
        </p:spPr>
      </p:pic>
      <p:pic>
        <p:nvPicPr>
          <p:cNvPr id="7" name="图片 6">
            <a:extLst>
              <a:ext uri="{FF2B5EF4-FFF2-40B4-BE49-F238E27FC236}">
                <a16:creationId xmlns:a16="http://schemas.microsoft.com/office/drawing/2014/main" id="{57A0BF86-4E94-4FFF-91EF-C74BADA5E0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1006" y="1624011"/>
            <a:ext cx="1281767" cy="3984309"/>
          </a:xfrm>
          <a:prstGeom prst="rect">
            <a:avLst/>
          </a:prstGeom>
        </p:spPr>
      </p:pic>
    </p:spTree>
    <p:extLst>
      <p:ext uri="{BB962C8B-B14F-4D97-AF65-F5344CB8AC3E}">
        <p14:creationId xmlns:p14="http://schemas.microsoft.com/office/powerpoint/2010/main" val="20764872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45DF4FC-C5B8-482B-9F9D-84831B45D4D8}"/>
              </a:ext>
            </a:extLst>
          </p:cNvPr>
          <p:cNvSpPr>
            <a:spLocks noGrp="1"/>
          </p:cNvSpPr>
          <p:nvPr>
            <p:ph idx="1"/>
          </p:nvPr>
        </p:nvSpPr>
        <p:spPr>
          <a:xfrm>
            <a:off x="838200" y="2512300"/>
            <a:ext cx="10515600" cy="1928228"/>
          </a:xfrm>
        </p:spPr>
        <p:txBody>
          <a:bodyPr>
            <a:normAutofit/>
          </a:bodyPr>
          <a:lstStyle/>
          <a:p>
            <a:pPr marL="0" indent="0" algn="ctr">
              <a:buNone/>
            </a:pPr>
            <a:r>
              <a:rPr lang="en-US" altLang="zh-CN" sz="3600" dirty="0"/>
              <a:t>6.</a:t>
            </a:r>
            <a:r>
              <a:rPr lang="zh-CN" altLang="en-US" sz="3600" dirty="0"/>
              <a:t>打印</a:t>
            </a:r>
            <a:r>
              <a:rPr lang="en-US" altLang="zh-CN" sz="3600" dirty="0"/>
              <a:t>n</a:t>
            </a:r>
            <a:r>
              <a:rPr lang="zh-CN" altLang="en-US" sz="3600" dirty="0"/>
              <a:t>阶杨辉三角</a:t>
            </a:r>
          </a:p>
        </p:txBody>
      </p:sp>
    </p:spTree>
    <p:extLst>
      <p:ext uri="{BB962C8B-B14F-4D97-AF65-F5344CB8AC3E}">
        <p14:creationId xmlns:p14="http://schemas.microsoft.com/office/powerpoint/2010/main" val="14539810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166352E-FC77-4534-9809-4AC3CAC300BA}"/>
              </a:ext>
            </a:extLst>
          </p:cNvPr>
          <p:cNvSpPr>
            <a:spLocks noGrp="1"/>
          </p:cNvSpPr>
          <p:nvPr>
            <p:ph idx="1"/>
          </p:nvPr>
        </p:nvSpPr>
        <p:spPr>
          <a:xfrm>
            <a:off x="934454" y="656777"/>
            <a:ext cx="4105060" cy="5544446"/>
          </a:xfrm>
        </p:spPr>
        <p:txBody>
          <a:bodyPr>
            <a:normAutofit/>
          </a:bodyPr>
          <a:lstStyle/>
          <a:p>
            <a:pPr marL="0" indent="0">
              <a:buNone/>
            </a:pPr>
            <a:r>
              <a:rPr lang="en-US" altLang="zh-CN" sz="1400" dirty="0"/>
              <a:t>#include&lt;stdio.h&gt;</a:t>
            </a:r>
          </a:p>
          <a:p>
            <a:pPr marL="0" indent="0">
              <a:buNone/>
            </a:pPr>
            <a:r>
              <a:rPr lang="en-US" altLang="zh-CN" sz="1400" dirty="0"/>
              <a:t>int main(){</a:t>
            </a:r>
          </a:p>
          <a:p>
            <a:pPr marL="0" indent="0">
              <a:buNone/>
            </a:pPr>
            <a:r>
              <a:rPr lang="en-US" altLang="zh-CN" sz="1400" dirty="0"/>
              <a:t>int n, </a:t>
            </a:r>
            <a:r>
              <a:rPr lang="en-US" altLang="zh-CN" sz="1400" dirty="0" err="1"/>
              <a:t>i</a:t>
            </a:r>
            <a:r>
              <a:rPr lang="en-US" altLang="zh-CN" sz="1400" dirty="0"/>
              <a:t>, j, k;</a:t>
            </a:r>
          </a:p>
          <a:p>
            <a:pPr marL="0" indent="0">
              <a:buNone/>
            </a:pPr>
            <a:r>
              <a:rPr lang="en-US" altLang="zh-CN" sz="1400" dirty="0" err="1"/>
              <a:t>printf</a:t>
            </a:r>
            <a:r>
              <a:rPr lang="en-US" altLang="zh-CN" sz="1400" dirty="0"/>
              <a:t>("</a:t>
            </a:r>
            <a:r>
              <a:rPr lang="zh-CN" altLang="en-US" sz="1400" dirty="0"/>
              <a:t>请输入行数</a:t>
            </a:r>
            <a:r>
              <a:rPr lang="en-US" altLang="zh-CN" sz="1400" dirty="0"/>
              <a:t>:"); </a:t>
            </a:r>
          </a:p>
          <a:p>
            <a:pPr marL="0" indent="0">
              <a:buNone/>
            </a:pPr>
            <a:r>
              <a:rPr lang="en-US" altLang="zh-CN" sz="1400" dirty="0" err="1"/>
              <a:t>scanf</a:t>
            </a:r>
            <a:r>
              <a:rPr lang="en-US" altLang="zh-CN" sz="1400" dirty="0"/>
              <a:t>("%d", &amp;n); </a:t>
            </a:r>
          </a:p>
          <a:p>
            <a:pPr marL="0" indent="0">
              <a:buNone/>
            </a:pPr>
            <a:r>
              <a:rPr lang="en-US" altLang="zh-CN" sz="1400" dirty="0"/>
              <a:t>int a[n][n];</a:t>
            </a:r>
          </a:p>
          <a:p>
            <a:pPr marL="0" indent="0">
              <a:buNone/>
            </a:pPr>
            <a:r>
              <a:rPr lang="en-US" altLang="zh-CN" sz="1400" dirty="0"/>
              <a:t>	</a:t>
            </a:r>
          </a:p>
          <a:p>
            <a:pPr marL="0" indent="0">
              <a:buNone/>
            </a:pPr>
            <a:r>
              <a:rPr lang="en-US" altLang="zh-CN" sz="1400" dirty="0"/>
              <a:t>for(</a:t>
            </a:r>
            <a:r>
              <a:rPr lang="en-US" altLang="zh-CN" sz="1400" dirty="0" err="1"/>
              <a:t>i</a:t>
            </a:r>
            <a:r>
              <a:rPr lang="en-US" altLang="zh-CN" sz="1400" dirty="0"/>
              <a:t> = 0; </a:t>
            </a:r>
            <a:r>
              <a:rPr lang="en-US" altLang="zh-CN" sz="1400" dirty="0" err="1"/>
              <a:t>i</a:t>
            </a:r>
            <a:r>
              <a:rPr lang="en-US" altLang="zh-CN" sz="1400" dirty="0"/>
              <a:t> &lt; n ; </a:t>
            </a:r>
            <a:r>
              <a:rPr lang="en-US" altLang="zh-CN" sz="1400" dirty="0" err="1"/>
              <a:t>i</a:t>
            </a:r>
            <a:r>
              <a:rPr lang="en-US" altLang="zh-CN" sz="1400" dirty="0"/>
              <a:t>++){</a:t>
            </a:r>
          </a:p>
          <a:p>
            <a:pPr marL="0" indent="0">
              <a:buNone/>
            </a:pPr>
            <a:r>
              <a:rPr lang="en-US" altLang="zh-CN" sz="1400" dirty="0"/>
              <a:t>a[</a:t>
            </a:r>
            <a:r>
              <a:rPr lang="en-US" altLang="zh-CN" sz="1400" dirty="0" err="1"/>
              <a:t>i</a:t>
            </a:r>
            <a:r>
              <a:rPr lang="en-US" altLang="zh-CN" sz="1400" dirty="0"/>
              <a:t>][0] = 1;</a:t>
            </a:r>
          </a:p>
          <a:p>
            <a:pPr marL="0" indent="0">
              <a:buNone/>
            </a:pPr>
            <a:r>
              <a:rPr lang="en-US" altLang="zh-CN" sz="1400" dirty="0"/>
              <a:t>a[</a:t>
            </a:r>
            <a:r>
              <a:rPr lang="en-US" altLang="zh-CN" sz="1400" dirty="0" err="1"/>
              <a:t>i</a:t>
            </a:r>
            <a:r>
              <a:rPr lang="en-US" altLang="zh-CN" sz="1400" dirty="0"/>
              <a:t>][</a:t>
            </a:r>
            <a:r>
              <a:rPr lang="en-US" altLang="zh-CN" sz="1400" dirty="0" err="1"/>
              <a:t>i</a:t>
            </a:r>
            <a:r>
              <a:rPr lang="en-US" altLang="zh-CN" sz="1400" dirty="0"/>
              <a:t>] = 1;</a:t>
            </a:r>
          </a:p>
          <a:p>
            <a:pPr marL="0" indent="0">
              <a:buNone/>
            </a:pPr>
            <a:r>
              <a:rPr lang="en-US" altLang="zh-CN" sz="1400" dirty="0"/>
              <a:t>}</a:t>
            </a:r>
          </a:p>
          <a:p>
            <a:pPr marL="0" indent="0">
              <a:buNone/>
            </a:pPr>
            <a:r>
              <a:rPr lang="en-US" altLang="zh-CN" sz="1400" dirty="0"/>
              <a:t>for(</a:t>
            </a:r>
            <a:r>
              <a:rPr lang="en-US" altLang="zh-CN" sz="1400" dirty="0" err="1"/>
              <a:t>i</a:t>
            </a:r>
            <a:r>
              <a:rPr lang="en-US" altLang="zh-CN" sz="1400" dirty="0"/>
              <a:t> = 2; </a:t>
            </a:r>
            <a:r>
              <a:rPr lang="en-US" altLang="zh-CN" sz="1400" dirty="0" err="1"/>
              <a:t>i</a:t>
            </a:r>
            <a:r>
              <a:rPr lang="en-US" altLang="zh-CN" sz="1400" dirty="0"/>
              <a:t> &lt; n ; </a:t>
            </a:r>
            <a:r>
              <a:rPr lang="en-US" altLang="zh-CN" sz="1400" dirty="0" err="1"/>
              <a:t>i</a:t>
            </a:r>
            <a:r>
              <a:rPr lang="en-US" altLang="zh-CN" sz="1400" dirty="0"/>
              <a:t>++){</a:t>
            </a:r>
          </a:p>
          <a:p>
            <a:pPr marL="0" indent="0">
              <a:buNone/>
            </a:pPr>
            <a:r>
              <a:rPr lang="en-US" altLang="zh-CN" sz="1400" dirty="0"/>
              <a:t>for(j = 1; j &lt; </a:t>
            </a:r>
            <a:r>
              <a:rPr lang="en-US" altLang="zh-CN" sz="1400" dirty="0" err="1"/>
              <a:t>i</a:t>
            </a:r>
            <a:r>
              <a:rPr lang="en-US" altLang="zh-CN" sz="1400" dirty="0"/>
              <a:t>; </a:t>
            </a:r>
            <a:r>
              <a:rPr lang="en-US" altLang="zh-CN" sz="1400" dirty="0" err="1"/>
              <a:t>j++</a:t>
            </a:r>
            <a:r>
              <a:rPr lang="en-US" altLang="zh-CN" sz="1400" dirty="0"/>
              <a:t>){</a:t>
            </a:r>
          </a:p>
          <a:p>
            <a:pPr marL="0" indent="0">
              <a:buNone/>
            </a:pPr>
            <a:r>
              <a:rPr lang="en-US" altLang="zh-CN" sz="1400" dirty="0"/>
              <a:t>a[</a:t>
            </a:r>
            <a:r>
              <a:rPr lang="en-US" altLang="zh-CN" sz="1400" dirty="0" err="1"/>
              <a:t>i</a:t>
            </a:r>
            <a:r>
              <a:rPr lang="en-US" altLang="zh-CN" sz="1400" dirty="0"/>
              <a:t>][j] = a[i-1][j-1] + a[i-1][j];</a:t>
            </a:r>
          </a:p>
          <a:p>
            <a:pPr marL="0" indent="0">
              <a:buNone/>
            </a:pPr>
            <a:r>
              <a:rPr lang="en-US" altLang="zh-CN" sz="1400" dirty="0"/>
              <a:t>}</a:t>
            </a:r>
          </a:p>
          <a:p>
            <a:pPr marL="0" indent="0">
              <a:buNone/>
            </a:pPr>
            <a:r>
              <a:rPr lang="en-US" altLang="zh-CN" sz="1400" dirty="0"/>
              <a:t>}</a:t>
            </a:r>
            <a:endParaRPr lang="zh-CN" altLang="en-US" sz="1400" dirty="0"/>
          </a:p>
        </p:txBody>
      </p:sp>
      <p:sp>
        <p:nvSpPr>
          <p:cNvPr id="4" name="内容占位符 2">
            <a:extLst>
              <a:ext uri="{FF2B5EF4-FFF2-40B4-BE49-F238E27FC236}">
                <a16:creationId xmlns:a16="http://schemas.microsoft.com/office/drawing/2014/main" id="{4C2AF0F0-6D73-4146-8379-477A41AF07FA}"/>
              </a:ext>
            </a:extLst>
          </p:cNvPr>
          <p:cNvSpPr txBox="1">
            <a:spLocks/>
          </p:cNvSpPr>
          <p:nvPr/>
        </p:nvSpPr>
        <p:spPr>
          <a:xfrm>
            <a:off x="5700104" y="656777"/>
            <a:ext cx="4105060" cy="3564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1400" dirty="0"/>
              <a:t>for(</a:t>
            </a:r>
            <a:r>
              <a:rPr lang="en-US" altLang="zh-CN" sz="1400" dirty="0" err="1"/>
              <a:t>i</a:t>
            </a:r>
            <a:r>
              <a:rPr lang="en-US" altLang="zh-CN" sz="1400" dirty="0"/>
              <a:t> = 0; </a:t>
            </a:r>
            <a:r>
              <a:rPr lang="en-US" altLang="zh-CN" sz="1400" dirty="0" err="1"/>
              <a:t>i</a:t>
            </a:r>
            <a:r>
              <a:rPr lang="en-US" altLang="zh-CN" sz="1400" dirty="0"/>
              <a:t> &lt; n; </a:t>
            </a:r>
            <a:r>
              <a:rPr lang="en-US" altLang="zh-CN" sz="1400" dirty="0" err="1"/>
              <a:t>i</a:t>
            </a:r>
            <a:r>
              <a:rPr lang="en-US" altLang="zh-CN" sz="1400" dirty="0"/>
              <a:t>++){</a:t>
            </a:r>
          </a:p>
          <a:p>
            <a:pPr marL="0" indent="0">
              <a:buFont typeface="Arial" panose="020B0604020202020204" pitchFamily="34" charset="0"/>
              <a:buNone/>
            </a:pPr>
            <a:r>
              <a:rPr lang="en-US" altLang="zh-CN" sz="1400" dirty="0"/>
              <a:t>for(k = 0; k &lt;= n - </a:t>
            </a:r>
            <a:r>
              <a:rPr lang="en-US" altLang="zh-CN" sz="1400" dirty="0" err="1"/>
              <a:t>i</a:t>
            </a:r>
            <a:r>
              <a:rPr lang="en-US" altLang="zh-CN" sz="1400" dirty="0"/>
              <a:t>; k++){</a:t>
            </a:r>
          </a:p>
          <a:p>
            <a:pPr marL="0" indent="0">
              <a:buFont typeface="Arial" panose="020B0604020202020204" pitchFamily="34" charset="0"/>
              <a:buNone/>
            </a:pPr>
            <a:r>
              <a:rPr lang="en-US" altLang="zh-CN" sz="1400" dirty="0" err="1"/>
              <a:t>printf</a:t>
            </a:r>
            <a:r>
              <a:rPr lang="en-US" altLang="zh-CN" sz="1400" dirty="0"/>
              <a:t>(" ");</a:t>
            </a:r>
          </a:p>
          <a:p>
            <a:pPr marL="0" indent="0">
              <a:buFont typeface="Arial" panose="020B0604020202020204" pitchFamily="34" charset="0"/>
              <a:buNone/>
            </a:pPr>
            <a:r>
              <a:rPr lang="en-US" altLang="zh-CN" sz="1400" dirty="0"/>
              <a:t>}</a:t>
            </a:r>
          </a:p>
          <a:p>
            <a:pPr marL="0" indent="0">
              <a:buFont typeface="Arial" panose="020B0604020202020204" pitchFamily="34" charset="0"/>
              <a:buNone/>
            </a:pPr>
            <a:r>
              <a:rPr lang="en-US" altLang="zh-CN" sz="1400" dirty="0"/>
              <a:t>for(j = 0; j &lt;= </a:t>
            </a:r>
            <a:r>
              <a:rPr lang="en-US" altLang="zh-CN" sz="1400" dirty="0" err="1"/>
              <a:t>i</a:t>
            </a:r>
            <a:r>
              <a:rPr lang="en-US" altLang="zh-CN" sz="1400" dirty="0"/>
              <a:t>; </a:t>
            </a:r>
            <a:r>
              <a:rPr lang="en-US" altLang="zh-CN" sz="1400" dirty="0" err="1"/>
              <a:t>j++</a:t>
            </a:r>
            <a:r>
              <a:rPr lang="en-US" altLang="zh-CN" sz="1400" dirty="0"/>
              <a:t>){</a:t>
            </a:r>
          </a:p>
          <a:p>
            <a:pPr marL="0" indent="0">
              <a:buFont typeface="Arial" panose="020B0604020202020204" pitchFamily="34" charset="0"/>
              <a:buNone/>
            </a:pPr>
            <a:r>
              <a:rPr lang="en-US" altLang="zh-CN" sz="1400" dirty="0" err="1"/>
              <a:t>printf</a:t>
            </a:r>
            <a:r>
              <a:rPr lang="en-US" altLang="zh-CN" sz="1400" dirty="0"/>
              <a:t>("%d ", a[</a:t>
            </a:r>
            <a:r>
              <a:rPr lang="en-US" altLang="zh-CN" sz="1400" dirty="0" err="1"/>
              <a:t>i</a:t>
            </a:r>
            <a:r>
              <a:rPr lang="en-US" altLang="zh-CN" sz="1400" dirty="0"/>
              <a:t>][j]);</a:t>
            </a:r>
          </a:p>
          <a:p>
            <a:pPr marL="0" indent="0">
              <a:buFont typeface="Arial" panose="020B0604020202020204" pitchFamily="34" charset="0"/>
              <a:buNone/>
            </a:pPr>
            <a:r>
              <a:rPr lang="en-US" altLang="zh-CN" sz="1400" dirty="0"/>
              <a:t>}</a:t>
            </a:r>
          </a:p>
          <a:p>
            <a:pPr marL="0" indent="0">
              <a:buFont typeface="Arial" panose="020B0604020202020204" pitchFamily="34" charset="0"/>
              <a:buNone/>
            </a:pPr>
            <a:r>
              <a:rPr lang="en-US" altLang="zh-CN" sz="1400" dirty="0" err="1"/>
              <a:t>printf</a:t>
            </a:r>
            <a:r>
              <a:rPr lang="en-US" altLang="zh-CN" sz="1400" dirty="0"/>
              <a:t>("\n");</a:t>
            </a:r>
          </a:p>
          <a:p>
            <a:pPr marL="0" indent="0">
              <a:buFont typeface="Arial" panose="020B0604020202020204" pitchFamily="34" charset="0"/>
              <a:buNone/>
            </a:pPr>
            <a:r>
              <a:rPr lang="en-US" altLang="zh-CN" sz="1400" dirty="0"/>
              <a:t>} </a:t>
            </a:r>
          </a:p>
          <a:p>
            <a:pPr marL="0" indent="0">
              <a:buFont typeface="Arial" panose="020B0604020202020204" pitchFamily="34" charset="0"/>
              <a:buNone/>
            </a:pPr>
            <a:r>
              <a:rPr lang="en-US" altLang="zh-CN" sz="1400" dirty="0"/>
              <a:t>return 0;</a:t>
            </a:r>
          </a:p>
          <a:p>
            <a:pPr marL="0" indent="0">
              <a:buFont typeface="Arial" panose="020B0604020202020204" pitchFamily="34" charset="0"/>
              <a:buNone/>
            </a:pPr>
            <a:r>
              <a:rPr lang="en-US" altLang="zh-CN" sz="1400" dirty="0"/>
              <a:t>} </a:t>
            </a:r>
            <a:endParaRPr lang="zh-CN" altLang="en-US" sz="1400" dirty="0"/>
          </a:p>
        </p:txBody>
      </p:sp>
      <p:sp>
        <p:nvSpPr>
          <p:cNvPr id="5" name="内容占位符 2">
            <a:extLst>
              <a:ext uri="{FF2B5EF4-FFF2-40B4-BE49-F238E27FC236}">
                <a16:creationId xmlns:a16="http://schemas.microsoft.com/office/drawing/2014/main" id="{3C14E255-4C05-4547-A16E-0AD01B01865A}"/>
              </a:ext>
            </a:extLst>
          </p:cNvPr>
          <p:cNvSpPr txBox="1">
            <a:spLocks/>
          </p:cNvSpPr>
          <p:nvPr/>
        </p:nvSpPr>
        <p:spPr>
          <a:xfrm>
            <a:off x="5700104" y="4221365"/>
            <a:ext cx="4105060" cy="3643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400" dirty="0"/>
              <a:t>运行结果如下所示</a:t>
            </a:r>
            <a:r>
              <a:rPr lang="en-US" altLang="zh-CN" sz="1400" dirty="0"/>
              <a:t>:</a:t>
            </a:r>
            <a:endParaRPr lang="zh-CN" altLang="en-US" sz="1400" dirty="0"/>
          </a:p>
        </p:txBody>
      </p:sp>
      <p:pic>
        <p:nvPicPr>
          <p:cNvPr id="7" name="图片 6">
            <a:extLst>
              <a:ext uri="{FF2B5EF4-FFF2-40B4-BE49-F238E27FC236}">
                <a16:creationId xmlns:a16="http://schemas.microsoft.com/office/drawing/2014/main" id="{2BA76B60-0E18-4CD5-8095-80F1859BFB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0104" y="4585750"/>
            <a:ext cx="3698278" cy="1618405"/>
          </a:xfrm>
          <a:prstGeom prst="rect">
            <a:avLst/>
          </a:prstGeom>
        </p:spPr>
      </p:pic>
    </p:spTree>
    <p:extLst>
      <p:ext uri="{BB962C8B-B14F-4D97-AF65-F5344CB8AC3E}">
        <p14:creationId xmlns:p14="http://schemas.microsoft.com/office/powerpoint/2010/main" val="21055681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1A3F6EF-6968-4B18-AFC8-EF833685F302}"/>
              </a:ext>
            </a:extLst>
          </p:cNvPr>
          <p:cNvSpPr txBox="1">
            <a:spLocks/>
          </p:cNvSpPr>
          <p:nvPr/>
        </p:nvSpPr>
        <p:spPr>
          <a:xfrm>
            <a:off x="2461259" y="683501"/>
            <a:ext cx="7269481" cy="118594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7.</a:t>
            </a:r>
            <a:r>
              <a:rPr lang="zh-CN" altLang="en-US" sz="3600" dirty="0"/>
              <a:t>如何打印出以下四种三角形？</a:t>
            </a:r>
          </a:p>
        </p:txBody>
      </p:sp>
      <p:pic>
        <p:nvPicPr>
          <p:cNvPr id="4" name="内容占位符 11">
            <a:extLst>
              <a:ext uri="{FF2B5EF4-FFF2-40B4-BE49-F238E27FC236}">
                <a16:creationId xmlns:a16="http://schemas.microsoft.com/office/drawing/2014/main" id="{C7BC7F8C-C5B5-49DC-9DC2-92DD42379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508" y="2526533"/>
            <a:ext cx="1748258" cy="1804933"/>
          </a:xfrm>
          <a:prstGeom prst="rect">
            <a:avLst/>
          </a:prstGeom>
        </p:spPr>
      </p:pic>
      <p:pic>
        <p:nvPicPr>
          <p:cNvPr id="6" name="内容占位符 13">
            <a:extLst>
              <a:ext uri="{FF2B5EF4-FFF2-40B4-BE49-F238E27FC236}">
                <a16:creationId xmlns:a16="http://schemas.microsoft.com/office/drawing/2014/main" id="{F5C8BAB5-46E9-46FD-AE56-2CF740D9E1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1484" y="2526533"/>
            <a:ext cx="1864942" cy="1850258"/>
          </a:xfrm>
          <a:prstGeom prst="rect">
            <a:avLst/>
          </a:prstGeom>
        </p:spPr>
      </p:pic>
      <p:pic>
        <p:nvPicPr>
          <p:cNvPr id="7" name="内容占位符 11">
            <a:extLst>
              <a:ext uri="{FF2B5EF4-FFF2-40B4-BE49-F238E27FC236}">
                <a16:creationId xmlns:a16="http://schemas.microsoft.com/office/drawing/2014/main" id="{2BB99991-4B2A-45F5-9BDB-E87CB7789A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7144" y="2547271"/>
            <a:ext cx="1960509" cy="1829520"/>
          </a:xfrm>
          <a:prstGeom prst="rect">
            <a:avLst/>
          </a:prstGeom>
        </p:spPr>
      </p:pic>
      <p:pic>
        <p:nvPicPr>
          <p:cNvPr id="8" name="内容占位符 14">
            <a:extLst>
              <a:ext uri="{FF2B5EF4-FFF2-40B4-BE49-F238E27FC236}">
                <a16:creationId xmlns:a16="http://schemas.microsoft.com/office/drawing/2014/main" id="{06EB7DB2-8B60-4B3F-9A45-10508F802AC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98371" y="2526533"/>
            <a:ext cx="1903889" cy="1850258"/>
          </a:xfrm>
          <a:prstGeom prst="rect">
            <a:avLst/>
          </a:prstGeom>
        </p:spPr>
      </p:pic>
    </p:spTree>
    <p:extLst>
      <p:ext uri="{BB962C8B-B14F-4D97-AF65-F5344CB8AC3E}">
        <p14:creationId xmlns:p14="http://schemas.microsoft.com/office/powerpoint/2010/main" val="35854798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4454DF97-BB23-0709-D26F-FC92CEE44F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14443" y="779219"/>
            <a:ext cx="3379892" cy="2152127"/>
          </a:xfrm>
        </p:spPr>
      </p:pic>
      <p:sp>
        <p:nvSpPr>
          <p:cNvPr id="3" name="内容占位符 2">
            <a:extLst>
              <a:ext uri="{FF2B5EF4-FFF2-40B4-BE49-F238E27FC236}">
                <a16:creationId xmlns:a16="http://schemas.microsoft.com/office/drawing/2014/main" id="{9D6DDB20-676D-44CC-AF4A-21C51AD7B3BC}"/>
              </a:ext>
            </a:extLst>
          </p:cNvPr>
          <p:cNvSpPr txBox="1">
            <a:spLocks/>
          </p:cNvSpPr>
          <p:nvPr/>
        </p:nvSpPr>
        <p:spPr>
          <a:xfrm>
            <a:off x="646006" y="972740"/>
            <a:ext cx="857674" cy="6305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1.</a:t>
            </a:r>
          </a:p>
          <a:p>
            <a:pPr marL="571500" indent="-571500">
              <a:buFont typeface="Arial" panose="020B0604020202020204" pitchFamily="34" charset="0"/>
              <a:buChar char="•"/>
            </a:pPr>
            <a:endParaRPr lang="zh-CN" altLang="en-US" sz="3600" dirty="0"/>
          </a:p>
        </p:txBody>
      </p:sp>
      <p:sp>
        <p:nvSpPr>
          <p:cNvPr id="4" name="内容占位符 2">
            <a:extLst>
              <a:ext uri="{FF2B5EF4-FFF2-40B4-BE49-F238E27FC236}">
                <a16:creationId xmlns:a16="http://schemas.microsoft.com/office/drawing/2014/main" id="{367AC61D-446C-484D-B73C-D96FE391C1CF}"/>
              </a:ext>
            </a:extLst>
          </p:cNvPr>
          <p:cNvSpPr txBox="1">
            <a:spLocks/>
          </p:cNvSpPr>
          <p:nvPr/>
        </p:nvSpPr>
        <p:spPr>
          <a:xfrm>
            <a:off x="6352540" y="972740"/>
            <a:ext cx="857674" cy="6305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2.</a:t>
            </a:r>
          </a:p>
        </p:txBody>
      </p:sp>
      <p:pic>
        <p:nvPicPr>
          <p:cNvPr id="6" name="内容占位符 4">
            <a:extLst>
              <a:ext uri="{FF2B5EF4-FFF2-40B4-BE49-F238E27FC236}">
                <a16:creationId xmlns:a16="http://schemas.microsoft.com/office/drawing/2014/main" id="{B92F91B0-6A07-49A1-8039-463743583B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0977" y="972740"/>
            <a:ext cx="3038650" cy="1958606"/>
          </a:xfrm>
          <a:prstGeom prst="rect">
            <a:avLst/>
          </a:prstGeom>
        </p:spPr>
      </p:pic>
      <p:sp>
        <p:nvSpPr>
          <p:cNvPr id="8" name="内容占位符 2">
            <a:extLst>
              <a:ext uri="{FF2B5EF4-FFF2-40B4-BE49-F238E27FC236}">
                <a16:creationId xmlns:a16="http://schemas.microsoft.com/office/drawing/2014/main" id="{B79EBCA4-F1A5-4712-9ACA-6D1F35C20889}"/>
              </a:ext>
            </a:extLst>
          </p:cNvPr>
          <p:cNvSpPr txBox="1">
            <a:spLocks/>
          </p:cNvSpPr>
          <p:nvPr/>
        </p:nvSpPr>
        <p:spPr>
          <a:xfrm>
            <a:off x="646942" y="3733375"/>
            <a:ext cx="857674" cy="6305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3.</a:t>
            </a:r>
          </a:p>
          <a:p>
            <a:pPr marL="571500" indent="-571500">
              <a:buFont typeface="Arial" panose="020B0604020202020204" pitchFamily="34" charset="0"/>
              <a:buChar char="•"/>
            </a:pPr>
            <a:endParaRPr lang="zh-CN" altLang="en-US" sz="3600" dirty="0"/>
          </a:p>
        </p:txBody>
      </p:sp>
      <p:pic>
        <p:nvPicPr>
          <p:cNvPr id="9" name="内容占位符 4">
            <a:extLst>
              <a:ext uri="{FF2B5EF4-FFF2-40B4-BE49-F238E27FC236}">
                <a16:creationId xmlns:a16="http://schemas.microsoft.com/office/drawing/2014/main" id="{6603574B-CD19-4DD0-AB27-C6636EF825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14443" y="3815239"/>
            <a:ext cx="4153280" cy="2152127"/>
          </a:xfrm>
          <a:prstGeom prst="rect">
            <a:avLst/>
          </a:prstGeom>
        </p:spPr>
      </p:pic>
      <p:sp>
        <p:nvSpPr>
          <p:cNvPr id="10" name="内容占位符 2">
            <a:extLst>
              <a:ext uri="{FF2B5EF4-FFF2-40B4-BE49-F238E27FC236}">
                <a16:creationId xmlns:a16="http://schemas.microsoft.com/office/drawing/2014/main" id="{6A84FAF6-69F9-42DA-8B42-6FC729FACD0B}"/>
              </a:ext>
            </a:extLst>
          </p:cNvPr>
          <p:cNvSpPr txBox="1">
            <a:spLocks/>
          </p:cNvSpPr>
          <p:nvPr/>
        </p:nvSpPr>
        <p:spPr>
          <a:xfrm>
            <a:off x="6352540" y="3733375"/>
            <a:ext cx="857674" cy="6305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CN" sz="3600" dirty="0"/>
              <a:t>4.</a:t>
            </a:r>
          </a:p>
          <a:p>
            <a:pPr marL="571500" indent="-571500">
              <a:buFont typeface="Arial" panose="020B0604020202020204" pitchFamily="34" charset="0"/>
              <a:buChar char="•"/>
            </a:pPr>
            <a:endParaRPr lang="zh-CN" altLang="en-US" sz="3600" dirty="0"/>
          </a:p>
        </p:txBody>
      </p:sp>
      <p:pic>
        <p:nvPicPr>
          <p:cNvPr id="11" name="内容占位符 4">
            <a:extLst>
              <a:ext uri="{FF2B5EF4-FFF2-40B4-BE49-F238E27FC236}">
                <a16:creationId xmlns:a16="http://schemas.microsoft.com/office/drawing/2014/main" id="{83CC213B-41E0-417B-B4D5-EBBA5C24E3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0977" y="3815239"/>
            <a:ext cx="3919183" cy="1910080"/>
          </a:xfrm>
          <a:prstGeom prst="rect">
            <a:avLst/>
          </a:prstGeom>
        </p:spPr>
      </p:pic>
    </p:spTree>
    <p:extLst>
      <p:ext uri="{BB962C8B-B14F-4D97-AF65-F5344CB8AC3E}">
        <p14:creationId xmlns:p14="http://schemas.microsoft.com/office/powerpoint/2010/main" val="2455893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B64A1685-4B0A-490C-A9C7-07549A8D29C8}"/>
              </a:ext>
            </a:extLst>
          </p:cNvPr>
          <p:cNvSpPr>
            <a:spLocks noGrp="1"/>
          </p:cNvSpPr>
          <p:nvPr>
            <p:ph type="subTitle" idx="1"/>
          </p:nvPr>
        </p:nvSpPr>
        <p:spPr>
          <a:xfrm>
            <a:off x="1524000" y="2378254"/>
            <a:ext cx="9144000" cy="1655762"/>
          </a:xfrm>
        </p:spPr>
        <p:txBody>
          <a:bodyPr>
            <a:normAutofit/>
          </a:bodyPr>
          <a:lstStyle/>
          <a:p>
            <a:r>
              <a:rPr lang="en-US" altLang="zh-CN" sz="3600" dirty="0"/>
              <a:t>8.</a:t>
            </a:r>
            <a:r>
              <a:rPr lang="zh-CN" altLang="en-US" sz="3600" dirty="0"/>
              <a:t>求任意长度数据冒泡排序</a:t>
            </a:r>
          </a:p>
        </p:txBody>
      </p:sp>
    </p:spTree>
    <p:extLst>
      <p:ext uri="{BB962C8B-B14F-4D97-AF65-F5344CB8AC3E}">
        <p14:creationId xmlns:p14="http://schemas.microsoft.com/office/powerpoint/2010/main" val="26907375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598A4AAC-BC85-47F3-BAE9-1533936FF72C}"/>
              </a:ext>
            </a:extLst>
          </p:cNvPr>
          <p:cNvSpPr>
            <a:spLocks noGrp="1"/>
          </p:cNvSpPr>
          <p:nvPr>
            <p:ph type="subTitle" idx="1"/>
          </p:nvPr>
        </p:nvSpPr>
        <p:spPr>
          <a:xfrm>
            <a:off x="747105" y="433136"/>
            <a:ext cx="3488011" cy="5617029"/>
          </a:xfrm>
        </p:spPr>
        <p:txBody>
          <a:bodyPr>
            <a:normAutofit fontScale="55000" lnSpcReduction="20000"/>
          </a:bodyPr>
          <a:lstStyle/>
          <a:p>
            <a:pPr algn="l"/>
            <a:r>
              <a:rPr lang="en-US" altLang="zh-CN" dirty="0"/>
              <a:t>#include &lt;</a:t>
            </a:r>
            <a:r>
              <a:rPr lang="en-US" altLang="zh-CN" dirty="0" err="1"/>
              <a:t>stdio.h</a:t>
            </a:r>
            <a:r>
              <a:rPr lang="en-US" altLang="zh-CN" dirty="0"/>
              <a:t>&gt;</a:t>
            </a:r>
          </a:p>
          <a:p>
            <a:pPr algn="l"/>
            <a:r>
              <a:rPr lang="en-US" altLang="zh-CN" dirty="0"/>
              <a:t>#include &lt;</a:t>
            </a:r>
            <a:r>
              <a:rPr lang="en-US" altLang="zh-CN" dirty="0" err="1"/>
              <a:t>stdlib.h</a:t>
            </a:r>
            <a:r>
              <a:rPr lang="en-US" altLang="zh-CN" dirty="0"/>
              <a:t>&gt;</a:t>
            </a:r>
          </a:p>
          <a:p>
            <a:pPr algn="l"/>
            <a:r>
              <a:rPr lang="en-US" altLang="zh-CN" dirty="0"/>
              <a:t>void </a:t>
            </a:r>
            <a:r>
              <a:rPr lang="en-US" altLang="zh-CN" dirty="0" err="1"/>
              <a:t>BubSort</a:t>
            </a:r>
            <a:r>
              <a:rPr lang="en-US" altLang="zh-CN" dirty="0"/>
              <a:t>(int </a:t>
            </a:r>
            <a:r>
              <a:rPr lang="en-US" altLang="zh-CN" dirty="0" err="1"/>
              <a:t>arr</a:t>
            </a:r>
            <a:r>
              <a:rPr lang="en-US" altLang="zh-CN" dirty="0"/>
              <a:t>[], int n);</a:t>
            </a:r>
          </a:p>
          <a:p>
            <a:pPr algn="l"/>
            <a:r>
              <a:rPr lang="en-US" altLang="zh-CN" dirty="0"/>
              <a:t>int main()</a:t>
            </a:r>
          </a:p>
          <a:p>
            <a:pPr algn="l"/>
            <a:r>
              <a:rPr lang="en-US" altLang="zh-CN" dirty="0"/>
              <a:t>{</a:t>
            </a:r>
          </a:p>
          <a:p>
            <a:pPr algn="l"/>
            <a:r>
              <a:rPr lang="en-US" altLang="zh-CN" dirty="0"/>
              <a:t>     int </a:t>
            </a:r>
            <a:r>
              <a:rPr lang="en-US" altLang="zh-CN" dirty="0" err="1"/>
              <a:t>i</a:t>
            </a:r>
            <a:r>
              <a:rPr lang="en-US" altLang="zh-CN" dirty="0"/>
              <a:t>; </a:t>
            </a:r>
            <a:endParaRPr lang="zh-CN" altLang="en-US" dirty="0"/>
          </a:p>
          <a:p>
            <a:pPr algn="l"/>
            <a:r>
              <a:rPr lang="zh-CN" altLang="en-US" dirty="0"/>
              <a:t>     </a:t>
            </a:r>
            <a:r>
              <a:rPr lang="en-US" altLang="zh-CN" dirty="0"/>
              <a:t>int *</a:t>
            </a:r>
            <a:r>
              <a:rPr lang="en-US" altLang="zh-CN" dirty="0" err="1"/>
              <a:t>arr</a:t>
            </a:r>
            <a:r>
              <a:rPr lang="en-US" altLang="zh-CN" dirty="0"/>
              <a:t> = NULL;</a:t>
            </a:r>
          </a:p>
          <a:p>
            <a:pPr algn="l"/>
            <a:r>
              <a:rPr lang="en-US" altLang="zh-CN" dirty="0"/>
              <a:t>     int size = 0; </a:t>
            </a:r>
          </a:p>
          <a:p>
            <a:pPr algn="l"/>
            <a:r>
              <a:rPr lang="en-US" altLang="zh-CN" dirty="0"/>
              <a:t>     int num;</a:t>
            </a:r>
          </a:p>
          <a:p>
            <a:pPr algn="l"/>
            <a:r>
              <a:rPr lang="en-US" altLang="zh-CN" dirty="0"/>
              <a:t>     </a:t>
            </a:r>
          </a:p>
          <a:p>
            <a:pPr algn="l"/>
            <a:r>
              <a:rPr lang="en-US" altLang="zh-CN" dirty="0"/>
              <a:t>     </a:t>
            </a:r>
            <a:r>
              <a:rPr lang="en-US" altLang="zh-CN" dirty="0" err="1"/>
              <a:t>printf</a:t>
            </a:r>
            <a:r>
              <a:rPr lang="en-US" altLang="zh-CN" dirty="0"/>
              <a:t>("Please input the numbers(stop with </a:t>
            </a:r>
          </a:p>
          <a:p>
            <a:pPr algn="l"/>
            <a:r>
              <a:rPr lang="en-US" altLang="zh-CN" dirty="0"/>
              <a:t>Enter):\n");</a:t>
            </a:r>
          </a:p>
          <a:p>
            <a:pPr algn="l"/>
            <a:r>
              <a:rPr lang="en-US" altLang="zh-CN" dirty="0"/>
              <a:t>      do{</a:t>
            </a:r>
          </a:p>
          <a:p>
            <a:pPr algn="l"/>
            <a:r>
              <a:rPr lang="en-US" altLang="zh-CN" dirty="0"/>
              <a:t>     </a:t>
            </a:r>
            <a:r>
              <a:rPr lang="en-US" altLang="zh-CN" dirty="0" err="1"/>
              <a:t>scanf</a:t>
            </a:r>
            <a:r>
              <a:rPr lang="en-US" altLang="zh-CN" dirty="0"/>
              <a:t>("%d", &amp;num);</a:t>
            </a:r>
          </a:p>
          <a:p>
            <a:pPr algn="l"/>
            <a:r>
              <a:rPr lang="en-US" altLang="zh-CN" dirty="0"/>
              <a:t>     size++;</a:t>
            </a:r>
          </a:p>
          <a:p>
            <a:pPr algn="l"/>
            <a:r>
              <a:rPr lang="en-US" altLang="zh-CN" dirty="0"/>
              <a:t>     </a:t>
            </a:r>
            <a:r>
              <a:rPr lang="en-US" altLang="zh-CN" dirty="0" err="1"/>
              <a:t>arr</a:t>
            </a:r>
            <a:r>
              <a:rPr lang="en-US" altLang="zh-CN" dirty="0"/>
              <a:t> = (int*) </a:t>
            </a:r>
            <a:r>
              <a:rPr lang="en-US" altLang="zh-CN" dirty="0" err="1"/>
              <a:t>realloc</a:t>
            </a:r>
            <a:r>
              <a:rPr lang="en-US" altLang="zh-CN" dirty="0"/>
              <a:t>(</a:t>
            </a:r>
            <a:r>
              <a:rPr lang="en-US" altLang="zh-CN" dirty="0" err="1"/>
              <a:t>arr,size</a:t>
            </a:r>
            <a:r>
              <a:rPr lang="en-US" altLang="zh-CN" dirty="0"/>
              <a:t> * </a:t>
            </a:r>
            <a:r>
              <a:rPr lang="en-US" altLang="zh-CN" dirty="0" err="1"/>
              <a:t>sizeof</a:t>
            </a:r>
            <a:r>
              <a:rPr lang="en-US" altLang="zh-CN" dirty="0"/>
              <a:t>(int));</a:t>
            </a:r>
          </a:p>
          <a:p>
            <a:pPr algn="l"/>
            <a:r>
              <a:rPr lang="en-US" altLang="zh-CN" dirty="0"/>
              <a:t>     </a:t>
            </a:r>
            <a:r>
              <a:rPr lang="en-US" altLang="zh-CN" dirty="0" err="1"/>
              <a:t>arr</a:t>
            </a:r>
            <a:r>
              <a:rPr lang="en-US" altLang="zh-CN" dirty="0"/>
              <a:t>[size - 1] = num;</a:t>
            </a:r>
          </a:p>
          <a:p>
            <a:pPr algn="l"/>
            <a:r>
              <a:rPr lang="en-US" altLang="zh-CN" dirty="0"/>
              <a:t>      }while(</a:t>
            </a:r>
            <a:r>
              <a:rPr lang="en-US" altLang="zh-CN" dirty="0" err="1"/>
              <a:t>getchar</a:t>
            </a:r>
            <a:r>
              <a:rPr lang="en-US" altLang="zh-CN" dirty="0"/>
              <a:t>() != '\n’);</a:t>
            </a:r>
          </a:p>
          <a:p>
            <a:pPr algn="l"/>
            <a:r>
              <a:rPr lang="en-US" altLang="zh-CN" dirty="0"/>
              <a:t>      </a:t>
            </a:r>
            <a:r>
              <a:rPr lang="en-US" altLang="zh-CN" dirty="0" err="1"/>
              <a:t>BubSort</a:t>
            </a:r>
            <a:r>
              <a:rPr lang="en-US" altLang="zh-CN" dirty="0"/>
              <a:t>(</a:t>
            </a:r>
            <a:r>
              <a:rPr lang="en-US" altLang="zh-CN" dirty="0" err="1"/>
              <a:t>arr</a:t>
            </a:r>
            <a:r>
              <a:rPr lang="en-US" altLang="zh-CN" dirty="0"/>
              <a:t>, size);   </a:t>
            </a:r>
            <a:endParaRPr lang="zh-CN" altLang="en-US" dirty="0"/>
          </a:p>
          <a:p>
            <a:pPr algn="l"/>
            <a:r>
              <a:rPr lang="zh-CN" altLang="en-US" dirty="0"/>
              <a:t>	 </a:t>
            </a:r>
          </a:p>
        </p:txBody>
      </p:sp>
      <p:sp>
        <p:nvSpPr>
          <p:cNvPr id="6" name="副标题 2">
            <a:extLst>
              <a:ext uri="{FF2B5EF4-FFF2-40B4-BE49-F238E27FC236}">
                <a16:creationId xmlns:a16="http://schemas.microsoft.com/office/drawing/2014/main" id="{C799F185-BF20-4BA5-B9A3-2460289D554F}"/>
              </a:ext>
            </a:extLst>
          </p:cNvPr>
          <p:cNvSpPr txBox="1">
            <a:spLocks/>
          </p:cNvSpPr>
          <p:nvPr/>
        </p:nvSpPr>
        <p:spPr>
          <a:xfrm>
            <a:off x="5595259" y="433136"/>
            <a:ext cx="3488011" cy="613266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altLang="zh-CN" sz="1400" dirty="0"/>
              <a:t>for (</a:t>
            </a:r>
            <a:r>
              <a:rPr lang="en-US" altLang="zh-CN" sz="1400" dirty="0" err="1"/>
              <a:t>i</a:t>
            </a:r>
            <a:r>
              <a:rPr lang="en-US" altLang="zh-CN" sz="1400" dirty="0"/>
              <a:t> = 0; </a:t>
            </a:r>
            <a:r>
              <a:rPr lang="en-US" altLang="zh-CN" sz="1400" dirty="0" err="1"/>
              <a:t>i</a:t>
            </a:r>
            <a:r>
              <a:rPr lang="en-US" altLang="zh-CN" sz="1400" dirty="0"/>
              <a:t> &lt; size; </a:t>
            </a:r>
            <a:r>
              <a:rPr lang="en-US" altLang="zh-CN" sz="1400" dirty="0" err="1"/>
              <a:t>i</a:t>
            </a:r>
            <a:r>
              <a:rPr lang="en-US" altLang="zh-CN" sz="1400" dirty="0"/>
              <a:t>++){</a:t>
            </a:r>
          </a:p>
          <a:p>
            <a:pPr algn="l"/>
            <a:r>
              <a:rPr lang="en-US" altLang="zh-CN" sz="1400" dirty="0" err="1"/>
              <a:t>printf</a:t>
            </a:r>
            <a:r>
              <a:rPr lang="en-US" altLang="zh-CN" sz="1400" dirty="0"/>
              <a:t>("%d\t", </a:t>
            </a:r>
            <a:r>
              <a:rPr lang="en-US" altLang="zh-CN" sz="1400" dirty="0" err="1"/>
              <a:t>arr</a:t>
            </a:r>
            <a:r>
              <a:rPr lang="en-US" altLang="zh-CN" sz="1400" dirty="0"/>
              <a:t>[</a:t>
            </a:r>
            <a:r>
              <a:rPr lang="en-US" altLang="zh-CN" sz="1400" dirty="0" err="1"/>
              <a:t>i</a:t>
            </a:r>
            <a:r>
              <a:rPr lang="en-US" altLang="zh-CN" sz="1400" dirty="0"/>
              <a:t>]); }</a:t>
            </a:r>
          </a:p>
          <a:p>
            <a:pPr algn="l"/>
            <a:r>
              <a:rPr lang="en-US" altLang="zh-CN" sz="1400" dirty="0"/>
              <a:t>   </a:t>
            </a:r>
            <a:r>
              <a:rPr lang="en-US" altLang="zh-CN" sz="1400" dirty="0" err="1"/>
              <a:t>printf</a:t>
            </a:r>
            <a:r>
              <a:rPr lang="en-US" altLang="zh-CN" sz="1400" dirty="0"/>
              <a:t>("\n");</a:t>
            </a:r>
          </a:p>
          <a:p>
            <a:pPr algn="l"/>
            <a:r>
              <a:rPr lang="en-US" altLang="zh-CN" sz="1400" dirty="0"/>
              <a:t>   free(</a:t>
            </a:r>
            <a:r>
              <a:rPr lang="en-US" altLang="zh-CN" sz="1400" dirty="0" err="1"/>
              <a:t>arr</a:t>
            </a:r>
            <a:r>
              <a:rPr lang="en-US" altLang="zh-CN" sz="1400" dirty="0"/>
              <a:t>);</a:t>
            </a:r>
          </a:p>
          <a:p>
            <a:pPr algn="l"/>
            <a:r>
              <a:rPr lang="en-US" altLang="zh-CN" sz="1400" dirty="0"/>
              <a:t>  return 0;</a:t>
            </a:r>
          </a:p>
          <a:p>
            <a:pPr algn="l"/>
            <a:r>
              <a:rPr lang="en-US" altLang="zh-CN" sz="1400" dirty="0"/>
              <a:t>} </a:t>
            </a:r>
          </a:p>
          <a:p>
            <a:pPr algn="l"/>
            <a:r>
              <a:rPr lang="en-US" altLang="zh-CN" sz="1400" dirty="0"/>
              <a:t>void </a:t>
            </a:r>
            <a:r>
              <a:rPr lang="en-US" altLang="zh-CN" sz="1400" dirty="0" err="1"/>
              <a:t>BubSort</a:t>
            </a:r>
            <a:r>
              <a:rPr lang="en-US" altLang="zh-CN" sz="1400" dirty="0"/>
              <a:t>(int </a:t>
            </a:r>
            <a:r>
              <a:rPr lang="en-US" altLang="zh-CN" sz="1400" dirty="0" err="1"/>
              <a:t>arr</a:t>
            </a:r>
            <a:r>
              <a:rPr lang="en-US" altLang="zh-CN" sz="1400" dirty="0"/>
              <a:t>[], int n){ </a:t>
            </a:r>
          </a:p>
          <a:p>
            <a:pPr algn="l"/>
            <a:r>
              <a:rPr lang="en-US" altLang="zh-CN" sz="1400" dirty="0"/>
              <a:t>int </a:t>
            </a:r>
            <a:r>
              <a:rPr lang="en-US" altLang="zh-CN" sz="1400" dirty="0" err="1"/>
              <a:t>i</a:t>
            </a:r>
            <a:r>
              <a:rPr lang="en-US" altLang="zh-CN" sz="1400" dirty="0"/>
              <a:t>, j, temp;</a:t>
            </a:r>
          </a:p>
          <a:p>
            <a:pPr algn="l"/>
            <a:r>
              <a:rPr lang="en-US" altLang="zh-CN" sz="1400" dirty="0"/>
              <a:t>for(</a:t>
            </a:r>
            <a:r>
              <a:rPr lang="en-US" altLang="zh-CN" sz="1400" dirty="0" err="1"/>
              <a:t>i</a:t>
            </a:r>
            <a:r>
              <a:rPr lang="en-US" altLang="zh-CN" sz="1400" dirty="0"/>
              <a:t> = 0; </a:t>
            </a:r>
            <a:r>
              <a:rPr lang="en-US" altLang="zh-CN" sz="1400" dirty="0" err="1"/>
              <a:t>i</a:t>
            </a:r>
            <a:r>
              <a:rPr lang="en-US" altLang="zh-CN" sz="1400" dirty="0"/>
              <a:t> &lt; n - 1; </a:t>
            </a:r>
            <a:r>
              <a:rPr lang="en-US" altLang="zh-CN" sz="1400" dirty="0" err="1"/>
              <a:t>i</a:t>
            </a:r>
            <a:r>
              <a:rPr lang="en-US" altLang="zh-CN" sz="1400" dirty="0"/>
              <a:t>++){</a:t>
            </a:r>
          </a:p>
          <a:p>
            <a:pPr algn="l"/>
            <a:r>
              <a:rPr lang="en-US" altLang="zh-CN" sz="1400" dirty="0"/>
              <a:t>for(j = 0; j &lt; n- </a:t>
            </a:r>
            <a:r>
              <a:rPr lang="en-US" altLang="zh-CN" sz="1400" dirty="0" err="1"/>
              <a:t>i</a:t>
            </a:r>
            <a:r>
              <a:rPr lang="en-US" altLang="zh-CN" sz="1400" dirty="0"/>
              <a:t> - 1; </a:t>
            </a:r>
            <a:r>
              <a:rPr lang="en-US" altLang="zh-CN" sz="1400" dirty="0" err="1"/>
              <a:t>j++</a:t>
            </a:r>
            <a:r>
              <a:rPr lang="en-US" altLang="zh-CN" sz="1400" dirty="0"/>
              <a:t>){</a:t>
            </a:r>
          </a:p>
          <a:p>
            <a:pPr algn="l"/>
            <a:r>
              <a:rPr lang="en-US" altLang="zh-CN" sz="1400" dirty="0"/>
              <a:t>if(</a:t>
            </a:r>
            <a:r>
              <a:rPr lang="en-US" altLang="zh-CN" sz="1400" dirty="0" err="1"/>
              <a:t>arr</a:t>
            </a:r>
            <a:r>
              <a:rPr lang="en-US" altLang="zh-CN" sz="1400" dirty="0"/>
              <a:t>[j] &gt; </a:t>
            </a:r>
            <a:r>
              <a:rPr lang="en-US" altLang="zh-CN" sz="1400" dirty="0" err="1"/>
              <a:t>arr</a:t>
            </a:r>
            <a:r>
              <a:rPr lang="en-US" altLang="zh-CN" sz="1400" dirty="0"/>
              <a:t>[j + 1]){</a:t>
            </a:r>
          </a:p>
          <a:p>
            <a:pPr algn="l"/>
            <a:r>
              <a:rPr lang="en-US" altLang="zh-CN" sz="1400" dirty="0"/>
              <a:t>temp = </a:t>
            </a:r>
            <a:r>
              <a:rPr lang="en-US" altLang="zh-CN" sz="1400" dirty="0" err="1"/>
              <a:t>arr</a:t>
            </a:r>
            <a:r>
              <a:rPr lang="en-US" altLang="zh-CN" sz="1400" dirty="0"/>
              <a:t>[j];</a:t>
            </a:r>
          </a:p>
          <a:p>
            <a:pPr algn="l"/>
            <a:r>
              <a:rPr lang="en-US" altLang="zh-CN" sz="1400" dirty="0" err="1"/>
              <a:t>arr</a:t>
            </a:r>
            <a:r>
              <a:rPr lang="en-US" altLang="zh-CN" sz="1400" dirty="0"/>
              <a:t>[j] = </a:t>
            </a:r>
            <a:r>
              <a:rPr lang="en-US" altLang="zh-CN" sz="1400" dirty="0" err="1"/>
              <a:t>arr</a:t>
            </a:r>
            <a:r>
              <a:rPr lang="en-US" altLang="zh-CN" sz="1400" dirty="0"/>
              <a:t>[j + 1];</a:t>
            </a:r>
          </a:p>
          <a:p>
            <a:pPr algn="l"/>
            <a:r>
              <a:rPr lang="en-US" altLang="zh-CN" sz="1400" dirty="0" err="1"/>
              <a:t>arr</a:t>
            </a:r>
            <a:r>
              <a:rPr lang="en-US" altLang="zh-CN" sz="1400" dirty="0"/>
              <a:t>[j + 1] = temp;</a:t>
            </a:r>
          </a:p>
          <a:p>
            <a:pPr algn="l"/>
            <a:r>
              <a:rPr lang="en-US" altLang="zh-CN" sz="1400" dirty="0"/>
              <a:t>        }</a:t>
            </a:r>
          </a:p>
          <a:p>
            <a:pPr algn="l"/>
            <a:r>
              <a:rPr lang="en-US" altLang="zh-CN" sz="1400" dirty="0"/>
              <a:t>     }</a:t>
            </a:r>
          </a:p>
          <a:p>
            <a:pPr algn="l"/>
            <a:r>
              <a:rPr lang="en-US" altLang="zh-CN" sz="1400" dirty="0"/>
              <a:t>  }</a:t>
            </a:r>
          </a:p>
          <a:p>
            <a:pPr algn="l"/>
            <a:r>
              <a:rPr lang="en-US" altLang="zh-CN" sz="1400" dirty="0"/>
              <a:t>}</a:t>
            </a:r>
            <a:r>
              <a:rPr lang="zh-CN" altLang="en-US" sz="1000" dirty="0"/>
              <a:t>	 </a:t>
            </a:r>
            <a:endParaRPr lang="zh-CN" altLang="en-US" sz="1100" dirty="0"/>
          </a:p>
        </p:txBody>
      </p:sp>
    </p:spTree>
    <p:extLst>
      <p:ext uri="{BB962C8B-B14F-4D97-AF65-F5344CB8AC3E}">
        <p14:creationId xmlns:p14="http://schemas.microsoft.com/office/powerpoint/2010/main" val="29039893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42668-7F3C-4E62-8CC8-E9F274E8F1C5}"/>
              </a:ext>
            </a:extLst>
          </p:cNvPr>
          <p:cNvSpPr>
            <a:spLocks noGrp="1"/>
          </p:cNvSpPr>
          <p:nvPr>
            <p:ph type="ctrTitle"/>
          </p:nvPr>
        </p:nvSpPr>
        <p:spPr>
          <a:xfrm>
            <a:off x="1524000" y="825022"/>
            <a:ext cx="9144000" cy="691136"/>
          </a:xfrm>
        </p:spPr>
        <p:txBody>
          <a:bodyPr>
            <a:normAutofit/>
          </a:bodyPr>
          <a:lstStyle/>
          <a:p>
            <a:r>
              <a:rPr lang="zh-CN" altLang="en-US" sz="3200" dirty="0"/>
              <a:t>运行结果如下所示：</a:t>
            </a:r>
          </a:p>
        </p:txBody>
      </p:sp>
      <p:pic>
        <p:nvPicPr>
          <p:cNvPr id="5" name="图片 4">
            <a:extLst>
              <a:ext uri="{FF2B5EF4-FFF2-40B4-BE49-F238E27FC236}">
                <a16:creationId xmlns:a16="http://schemas.microsoft.com/office/drawing/2014/main" id="{0BA781AA-12EB-4B73-B30E-7E4616A83FD2}"/>
              </a:ext>
            </a:extLst>
          </p:cNvPr>
          <p:cNvPicPr>
            <a:picLocks noChangeAspect="1"/>
          </p:cNvPicPr>
          <p:nvPr/>
        </p:nvPicPr>
        <p:blipFill>
          <a:blip r:embed="rId2"/>
          <a:stretch>
            <a:fillRect/>
          </a:stretch>
        </p:blipFill>
        <p:spPr>
          <a:xfrm>
            <a:off x="1120656" y="2478182"/>
            <a:ext cx="9861311" cy="1447874"/>
          </a:xfrm>
          <a:prstGeom prst="rect">
            <a:avLst/>
          </a:prstGeom>
        </p:spPr>
      </p:pic>
    </p:spTree>
    <p:extLst>
      <p:ext uri="{BB962C8B-B14F-4D97-AF65-F5344CB8AC3E}">
        <p14:creationId xmlns:p14="http://schemas.microsoft.com/office/powerpoint/2010/main" val="9751721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AD79CE-FA3E-49BE-8272-4B73C4BD35FD}"/>
              </a:ext>
            </a:extLst>
          </p:cNvPr>
          <p:cNvSpPr>
            <a:spLocks noGrp="1"/>
          </p:cNvSpPr>
          <p:nvPr>
            <p:ph type="ctrTitle"/>
          </p:nvPr>
        </p:nvSpPr>
        <p:spPr>
          <a:xfrm>
            <a:off x="2099733" y="2174557"/>
            <a:ext cx="7992533" cy="1254443"/>
          </a:xfrm>
        </p:spPr>
        <p:txBody>
          <a:bodyPr>
            <a:normAutofit/>
          </a:bodyPr>
          <a:lstStyle/>
          <a:p>
            <a:r>
              <a:rPr lang="zh-CN" altLang="en-US" sz="4800" b="1" dirty="0"/>
              <a:t>辅助控制语句</a:t>
            </a:r>
          </a:p>
        </p:txBody>
      </p:sp>
    </p:spTree>
    <p:extLst>
      <p:ext uri="{BB962C8B-B14F-4D97-AF65-F5344CB8AC3E}">
        <p14:creationId xmlns:p14="http://schemas.microsoft.com/office/powerpoint/2010/main" val="26976310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7A6424-E92B-538A-4725-B699BCE4EFA0}"/>
              </a:ext>
            </a:extLst>
          </p:cNvPr>
          <p:cNvSpPr>
            <a:spLocks noGrp="1"/>
          </p:cNvSpPr>
          <p:nvPr>
            <p:ph type="ctrTitle"/>
          </p:nvPr>
        </p:nvSpPr>
        <p:spPr>
          <a:xfrm>
            <a:off x="1084521" y="772631"/>
            <a:ext cx="9583479" cy="1226289"/>
          </a:xfrm>
        </p:spPr>
        <p:txBody>
          <a:bodyPr>
            <a:normAutofit fontScale="90000"/>
          </a:bodyPr>
          <a:lstStyle/>
          <a:p>
            <a:pPr algn="l"/>
            <a:br>
              <a:rPr lang="en-US" altLang="zh-CN" sz="2800" dirty="0"/>
            </a:br>
            <a:br>
              <a:rPr lang="en-US" altLang="zh-CN" sz="2800" dirty="0"/>
            </a:br>
            <a:br>
              <a:rPr lang="en-US" altLang="zh-CN" sz="2800" dirty="0"/>
            </a:br>
            <a:br>
              <a:rPr lang="en-US" altLang="zh-CN" sz="2800" dirty="0"/>
            </a:br>
            <a:r>
              <a:rPr lang="en-US" altLang="zh-CN" sz="2800" dirty="0"/>
              <a:t>break</a:t>
            </a:r>
            <a:r>
              <a:rPr lang="zh-CN" altLang="en-US" sz="2800" dirty="0"/>
              <a:t>语句：</a:t>
            </a:r>
            <a:br>
              <a:rPr lang="zh-CN" altLang="en-US" sz="1400" dirty="0"/>
            </a:br>
            <a:br>
              <a:rPr lang="zh-CN" altLang="en-US" sz="1400" dirty="0"/>
            </a:br>
            <a:r>
              <a:rPr lang="zh-CN" altLang="en-US" sz="1400" dirty="0"/>
              <a:t>用于从循环体内跳出循环体，即提前结束一层循环。</a:t>
            </a:r>
            <a:br>
              <a:rPr lang="zh-CN" altLang="en-US" sz="1400" dirty="0"/>
            </a:br>
            <a:br>
              <a:rPr lang="zh-CN" altLang="en-US" sz="1400" dirty="0"/>
            </a:br>
            <a:r>
              <a:rPr lang="en-US" altLang="zh-CN" sz="1400" dirty="0"/>
              <a:t>break</a:t>
            </a:r>
            <a:r>
              <a:rPr lang="zh-CN" altLang="en-US" sz="1400" dirty="0"/>
              <a:t>只能用在循环语句和</a:t>
            </a:r>
            <a:r>
              <a:rPr lang="en-US" altLang="zh-CN" sz="1400" dirty="0"/>
              <a:t>switch</a:t>
            </a:r>
            <a:r>
              <a:rPr lang="zh-CN" altLang="en-US" sz="1400" dirty="0"/>
              <a:t>语句中。</a:t>
            </a:r>
            <a:br>
              <a:rPr lang="en-US" altLang="zh-CN" sz="1400" dirty="0"/>
            </a:br>
            <a:br>
              <a:rPr lang="en-US" altLang="zh-CN" sz="1400" dirty="0"/>
            </a:br>
            <a:r>
              <a:rPr lang="zh-CN" altLang="en-US" sz="1400" dirty="0"/>
              <a:t>例子：打印出半径不超过</a:t>
            </a:r>
            <a:r>
              <a:rPr lang="en-US" altLang="zh-CN" sz="1400" dirty="0"/>
              <a:t>10</a:t>
            </a:r>
            <a:r>
              <a:rPr lang="zh-CN" altLang="en-US" sz="1400" dirty="0"/>
              <a:t>，面积小于</a:t>
            </a:r>
            <a:r>
              <a:rPr lang="en-US" altLang="zh-CN" sz="1400" dirty="0"/>
              <a:t>100</a:t>
            </a:r>
            <a:r>
              <a:rPr lang="zh-CN" altLang="en-US" sz="1400" dirty="0"/>
              <a:t>的圆。</a:t>
            </a:r>
            <a:br>
              <a:rPr lang="en-US" altLang="zh-CN" sz="1400" dirty="0"/>
            </a:br>
            <a:endParaRPr lang="zh-CN" altLang="en-US" sz="1400" dirty="0"/>
          </a:p>
        </p:txBody>
      </p:sp>
      <p:sp>
        <p:nvSpPr>
          <p:cNvPr id="3" name="副标题 2">
            <a:extLst>
              <a:ext uri="{FF2B5EF4-FFF2-40B4-BE49-F238E27FC236}">
                <a16:creationId xmlns:a16="http://schemas.microsoft.com/office/drawing/2014/main" id="{3CB52699-9DEC-4477-5F19-A75F2C020B93}"/>
              </a:ext>
            </a:extLst>
          </p:cNvPr>
          <p:cNvSpPr>
            <a:spLocks noGrp="1"/>
          </p:cNvSpPr>
          <p:nvPr>
            <p:ph type="subTitle" idx="1"/>
          </p:nvPr>
        </p:nvSpPr>
        <p:spPr>
          <a:xfrm>
            <a:off x="1084521" y="2357771"/>
            <a:ext cx="9144000" cy="2550042"/>
          </a:xfrm>
        </p:spPr>
        <p:txBody>
          <a:bodyPr>
            <a:normAutofit/>
          </a:bodyPr>
          <a:lstStyle/>
          <a:p>
            <a:endParaRPr lang="zh-CN" altLang="en-US" dirty="0"/>
          </a:p>
        </p:txBody>
      </p:sp>
      <p:pic>
        <p:nvPicPr>
          <p:cNvPr id="5" name="图片 4">
            <a:extLst>
              <a:ext uri="{FF2B5EF4-FFF2-40B4-BE49-F238E27FC236}">
                <a16:creationId xmlns:a16="http://schemas.microsoft.com/office/drawing/2014/main" id="{B149BD88-AC76-CFC4-A0CF-84A329AA04AB}"/>
              </a:ext>
            </a:extLst>
          </p:cNvPr>
          <p:cNvPicPr>
            <a:picLocks noChangeAspect="1"/>
          </p:cNvPicPr>
          <p:nvPr/>
        </p:nvPicPr>
        <p:blipFill>
          <a:blip r:embed="rId2"/>
          <a:stretch>
            <a:fillRect/>
          </a:stretch>
        </p:blipFill>
        <p:spPr>
          <a:xfrm>
            <a:off x="1006548" y="1998920"/>
            <a:ext cx="8444101" cy="3505099"/>
          </a:xfrm>
          <a:prstGeom prst="rect">
            <a:avLst/>
          </a:prstGeom>
        </p:spPr>
      </p:pic>
      <p:pic>
        <p:nvPicPr>
          <p:cNvPr id="8" name="图片 7">
            <a:extLst>
              <a:ext uri="{FF2B5EF4-FFF2-40B4-BE49-F238E27FC236}">
                <a16:creationId xmlns:a16="http://schemas.microsoft.com/office/drawing/2014/main" id="{167E2089-F071-E9DE-4F91-115D0009A399}"/>
              </a:ext>
            </a:extLst>
          </p:cNvPr>
          <p:cNvPicPr>
            <a:picLocks noChangeAspect="1"/>
          </p:cNvPicPr>
          <p:nvPr/>
        </p:nvPicPr>
        <p:blipFill>
          <a:blip r:embed="rId3"/>
          <a:stretch>
            <a:fillRect/>
          </a:stretch>
        </p:blipFill>
        <p:spPr>
          <a:xfrm>
            <a:off x="5876260" y="4352217"/>
            <a:ext cx="4686541" cy="1828894"/>
          </a:xfrm>
          <a:prstGeom prst="rect">
            <a:avLst/>
          </a:prstGeom>
        </p:spPr>
      </p:pic>
    </p:spTree>
    <p:extLst>
      <p:ext uri="{BB962C8B-B14F-4D97-AF65-F5344CB8AC3E}">
        <p14:creationId xmlns:p14="http://schemas.microsoft.com/office/powerpoint/2010/main" val="28720670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D07B4F-BD64-B82B-2BBA-3D9C744DEF3E}"/>
              </a:ext>
            </a:extLst>
          </p:cNvPr>
          <p:cNvSpPr>
            <a:spLocks noGrp="1"/>
          </p:cNvSpPr>
          <p:nvPr>
            <p:ph type="title"/>
          </p:nvPr>
        </p:nvSpPr>
        <p:spPr>
          <a:xfrm>
            <a:off x="838200" y="365125"/>
            <a:ext cx="10515600" cy="1747210"/>
          </a:xfrm>
        </p:spPr>
        <p:txBody>
          <a:bodyPr>
            <a:normAutofit fontScale="90000"/>
          </a:bodyPr>
          <a:lstStyle/>
          <a:p>
            <a:r>
              <a:rPr lang="en-US" altLang="zh-CN" sz="2800" dirty="0"/>
              <a:t>continue</a:t>
            </a:r>
            <a:r>
              <a:rPr lang="zh-CN" altLang="en-US" sz="2800" dirty="0"/>
              <a:t>语句：</a:t>
            </a:r>
            <a:br>
              <a:rPr lang="zh-CN" altLang="en-US" dirty="0"/>
            </a:br>
            <a:r>
              <a:rPr lang="zh-CN" altLang="en-US" sz="1400" dirty="0"/>
              <a:t>结束本次循环，接着判定下一次是否执行循环。</a:t>
            </a:r>
            <a:br>
              <a:rPr lang="zh-CN" altLang="en-US" sz="1400" dirty="0"/>
            </a:br>
            <a:br>
              <a:rPr lang="zh-CN" altLang="en-US" sz="1400" dirty="0"/>
            </a:br>
            <a:r>
              <a:rPr lang="zh-CN" altLang="en-US" sz="1400" dirty="0"/>
              <a:t>注意</a:t>
            </a:r>
            <a:r>
              <a:rPr lang="en-US" altLang="zh-CN" sz="1400" dirty="0"/>
              <a:t>continue</a:t>
            </a:r>
            <a:r>
              <a:rPr lang="zh-CN" altLang="en-US" sz="1400" dirty="0"/>
              <a:t>与</a:t>
            </a:r>
            <a:r>
              <a:rPr lang="en-US" altLang="zh-CN" sz="1400" dirty="0"/>
              <a:t>break</a:t>
            </a:r>
            <a:r>
              <a:rPr lang="zh-CN" altLang="en-US" sz="1400" dirty="0"/>
              <a:t>的区别</a:t>
            </a:r>
            <a:br>
              <a:rPr lang="zh-CN" altLang="en-US" sz="1400" dirty="0"/>
            </a:br>
            <a:br>
              <a:rPr lang="zh-CN" altLang="en-US" sz="1400" dirty="0"/>
            </a:br>
            <a:r>
              <a:rPr lang="en-US" altLang="zh-CN" sz="1400" dirty="0"/>
              <a:t>continue</a:t>
            </a:r>
            <a:r>
              <a:rPr lang="zh-CN" altLang="en-US" sz="1400" dirty="0"/>
              <a:t>只结束本次循环，而</a:t>
            </a:r>
            <a:r>
              <a:rPr lang="en-US" altLang="zh-CN" sz="1400" dirty="0"/>
              <a:t>break</a:t>
            </a:r>
            <a:r>
              <a:rPr lang="zh-CN" altLang="en-US" sz="1400" dirty="0"/>
              <a:t>终止本层循环</a:t>
            </a:r>
            <a:br>
              <a:rPr lang="en-US" altLang="zh-CN" sz="1400" dirty="0"/>
            </a:br>
            <a:br>
              <a:rPr lang="en-US" altLang="zh-CN" sz="1400" dirty="0"/>
            </a:br>
            <a:r>
              <a:rPr lang="zh-CN" altLang="en-US" sz="1400" dirty="0"/>
              <a:t>例子：打印出</a:t>
            </a:r>
            <a:r>
              <a:rPr lang="en-US" altLang="zh-CN" sz="1400" dirty="0"/>
              <a:t>100</a:t>
            </a:r>
            <a:r>
              <a:rPr lang="zh-CN" altLang="en-US" sz="1400" dirty="0"/>
              <a:t>到</a:t>
            </a:r>
            <a:r>
              <a:rPr lang="en-US" altLang="zh-CN" sz="1400" dirty="0"/>
              <a:t>110</a:t>
            </a:r>
            <a:r>
              <a:rPr lang="zh-CN" altLang="en-US" sz="1400" dirty="0"/>
              <a:t>之间不能被</a:t>
            </a:r>
            <a:r>
              <a:rPr lang="en-US" altLang="zh-CN" sz="1400" dirty="0"/>
              <a:t>3</a:t>
            </a:r>
            <a:r>
              <a:rPr lang="zh-CN" altLang="en-US" sz="1400" dirty="0"/>
              <a:t>整除的所有数。</a:t>
            </a:r>
            <a:br>
              <a:rPr lang="zh-CN" altLang="en-US" dirty="0"/>
            </a:br>
            <a:endParaRPr lang="zh-CN" altLang="en-US" sz="1400" dirty="0"/>
          </a:p>
        </p:txBody>
      </p:sp>
      <p:pic>
        <p:nvPicPr>
          <p:cNvPr id="5" name="内容占位符 4">
            <a:extLst>
              <a:ext uri="{FF2B5EF4-FFF2-40B4-BE49-F238E27FC236}">
                <a16:creationId xmlns:a16="http://schemas.microsoft.com/office/drawing/2014/main" id="{95B04278-EF66-7AD7-E2BB-65CB1F5D2178}"/>
              </a:ext>
            </a:extLst>
          </p:cNvPr>
          <p:cNvPicPr>
            <a:picLocks noGrp="1" noChangeAspect="1"/>
          </p:cNvPicPr>
          <p:nvPr>
            <p:ph idx="1"/>
          </p:nvPr>
        </p:nvPicPr>
        <p:blipFill>
          <a:blip r:embed="rId2"/>
          <a:stretch>
            <a:fillRect/>
          </a:stretch>
        </p:blipFill>
        <p:spPr>
          <a:xfrm>
            <a:off x="838200" y="2112335"/>
            <a:ext cx="5520815" cy="3454400"/>
          </a:xfrm>
        </p:spPr>
      </p:pic>
      <p:pic>
        <p:nvPicPr>
          <p:cNvPr id="7" name="图片 6">
            <a:extLst>
              <a:ext uri="{FF2B5EF4-FFF2-40B4-BE49-F238E27FC236}">
                <a16:creationId xmlns:a16="http://schemas.microsoft.com/office/drawing/2014/main" id="{CF35B34F-9027-7FE6-A78F-DD71A49D7A4D}"/>
              </a:ext>
            </a:extLst>
          </p:cNvPr>
          <p:cNvPicPr>
            <a:picLocks noChangeAspect="1"/>
          </p:cNvPicPr>
          <p:nvPr/>
        </p:nvPicPr>
        <p:blipFill>
          <a:blip r:embed="rId3"/>
          <a:stretch>
            <a:fillRect/>
          </a:stretch>
        </p:blipFill>
        <p:spPr>
          <a:xfrm>
            <a:off x="5638506" y="2811991"/>
            <a:ext cx="5715294" cy="3867349"/>
          </a:xfrm>
          <a:prstGeom prst="rect">
            <a:avLst/>
          </a:prstGeom>
        </p:spPr>
      </p:pic>
    </p:spTree>
    <p:extLst>
      <p:ext uri="{BB962C8B-B14F-4D97-AF65-F5344CB8AC3E}">
        <p14:creationId xmlns:p14="http://schemas.microsoft.com/office/powerpoint/2010/main" val="12574297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85CCC5-B294-18C7-C894-43249366221E}"/>
              </a:ext>
            </a:extLst>
          </p:cNvPr>
          <p:cNvSpPr>
            <a:spLocks noGrp="1"/>
          </p:cNvSpPr>
          <p:nvPr>
            <p:ph type="title"/>
          </p:nvPr>
        </p:nvSpPr>
        <p:spPr/>
        <p:txBody>
          <a:bodyPr>
            <a:normAutofit/>
          </a:bodyPr>
          <a:lstStyle/>
          <a:p>
            <a:r>
              <a:rPr lang="en-US" altLang="zh-CN" sz="2500" dirty="0" err="1"/>
              <a:t>goto</a:t>
            </a:r>
            <a:r>
              <a:rPr lang="zh-CN" altLang="en-US" sz="2500" dirty="0"/>
              <a:t>语句的用法</a:t>
            </a:r>
            <a:r>
              <a:rPr lang="en-US" altLang="zh-CN" sz="2500" dirty="0"/>
              <a:t>:</a:t>
            </a:r>
            <a:br>
              <a:rPr lang="en-US" altLang="zh-CN" sz="2500" dirty="0"/>
            </a:br>
            <a:br>
              <a:rPr lang="en-US" altLang="zh-CN" sz="2500" dirty="0"/>
            </a:br>
            <a:r>
              <a:rPr lang="zh-CN" altLang="en-US" sz="1300" dirty="0"/>
              <a:t>把程序转移控制到标号指定的语句处，常用于结束多重循环。</a:t>
            </a:r>
            <a:br>
              <a:rPr lang="en-US" altLang="zh-CN" sz="1300" dirty="0"/>
            </a:br>
            <a:br>
              <a:rPr lang="en-US" altLang="zh-CN" sz="1300" dirty="0"/>
            </a:br>
            <a:r>
              <a:rPr lang="zh-CN" altLang="en-US" sz="1300" dirty="0"/>
              <a:t>下面是一个常用的程序。</a:t>
            </a:r>
          </a:p>
        </p:txBody>
      </p:sp>
      <p:pic>
        <p:nvPicPr>
          <p:cNvPr id="5" name="内容占位符 4">
            <a:extLst>
              <a:ext uri="{FF2B5EF4-FFF2-40B4-BE49-F238E27FC236}">
                <a16:creationId xmlns:a16="http://schemas.microsoft.com/office/drawing/2014/main" id="{2A820103-7F73-2E6C-055A-09246F94AC02}"/>
              </a:ext>
            </a:extLst>
          </p:cNvPr>
          <p:cNvPicPr>
            <a:picLocks noGrp="1" noChangeAspect="1"/>
          </p:cNvPicPr>
          <p:nvPr>
            <p:ph idx="1"/>
          </p:nvPr>
        </p:nvPicPr>
        <p:blipFill>
          <a:blip r:embed="rId2"/>
          <a:stretch>
            <a:fillRect/>
          </a:stretch>
        </p:blipFill>
        <p:spPr>
          <a:xfrm>
            <a:off x="838200" y="1646386"/>
            <a:ext cx="6204269" cy="2876698"/>
          </a:xfrm>
        </p:spPr>
      </p:pic>
      <p:sp>
        <p:nvSpPr>
          <p:cNvPr id="7" name="文本框 6">
            <a:extLst>
              <a:ext uri="{FF2B5EF4-FFF2-40B4-BE49-F238E27FC236}">
                <a16:creationId xmlns:a16="http://schemas.microsoft.com/office/drawing/2014/main" id="{13227477-AC27-47A3-F22B-6D775E7CF2FD}"/>
              </a:ext>
            </a:extLst>
          </p:cNvPr>
          <p:cNvSpPr txBox="1"/>
          <p:nvPr/>
        </p:nvSpPr>
        <p:spPr>
          <a:xfrm>
            <a:off x="7485321" y="1646386"/>
            <a:ext cx="2558902" cy="2308324"/>
          </a:xfrm>
          <a:prstGeom prst="rect">
            <a:avLst/>
          </a:prstGeom>
          <a:noFill/>
        </p:spPr>
        <p:txBody>
          <a:bodyPr wrap="square" rtlCol="0">
            <a:spAutoFit/>
          </a:bodyPr>
          <a:lstStyle/>
          <a:p>
            <a:r>
              <a:rPr lang="zh-CN" altLang="en-US" dirty="0"/>
              <a:t>这条语句一直是</a:t>
            </a:r>
            <a:r>
              <a:rPr lang="en-US" altLang="zh-CN" dirty="0"/>
              <a:t>c</a:t>
            </a:r>
            <a:r>
              <a:rPr lang="zh-CN" altLang="en-US" dirty="0"/>
              <a:t>语言里最具有争议的语句，这是因为，因为它有一个致命的缺点：一旦滥用</a:t>
            </a:r>
            <a:r>
              <a:rPr lang="en-US" altLang="zh-CN" dirty="0" err="1"/>
              <a:t>goto</a:t>
            </a:r>
            <a:r>
              <a:rPr lang="zh-CN" altLang="en-US" dirty="0"/>
              <a:t>语句将会导致逻辑混乱，导致系统崩溃等问题！！！所以大家慎用。</a:t>
            </a:r>
          </a:p>
        </p:txBody>
      </p:sp>
    </p:spTree>
    <p:extLst>
      <p:ext uri="{BB962C8B-B14F-4D97-AF65-F5344CB8AC3E}">
        <p14:creationId xmlns:p14="http://schemas.microsoft.com/office/powerpoint/2010/main" val="1974243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ew shape"/>
          <p:cNvSpPr/>
          <p:nvPr/>
        </p:nvSpPr>
        <p:spPr>
          <a:xfrm>
            <a:off x="611778" y="1645747"/>
            <a:ext cx="11038043" cy="1073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专题八 </a:t>
            </a:r>
            <a:r>
              <a:rPr kumimoji="0" lang="en-US" altLang="zh-CN" sz="4800"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C</a:t>
            </a:r>
            <a:r>
              <a:rPr kumimoji="0" lang="zh-CN" altLang="en-US" sz="4800"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语言指针解析</a:t>
            </a:r>
            <a:endParaRPr kumimoji="0" sz="4800" b="0" i="0" u="none" strike="noStrike" kern="1200" cap="none" spc="0" normalizeH="0" baseline="0" noProof="0" dirty="0">
              <a:ln>
                <a:noFill/>
              </a:ln>
              <a:solidFill>
                <a:schemeClr val="tx1"/>
              </a:solidFill>
              <a:effectLst/>
              <a:highlight>
                <a:srgbClr val="FFFFFF">
                  <a:alpha val="0"/>
                </a:srgbClr>
              </a:highlight>
              <a:uLnTx/>
              <a:uFillTx/>
              <a:latin typeface="+mn-lt"/>
              <a:ea typeface="+mn-ea"/>
              <a:cs typeface="+mn-cs"/>
            </a:endParaRPr>
          </a:p>
        </p:txBody>
      </p:sp>
      <p:sp>
        <p:nvSpPr>
          <p:cNvPr id="3" name="New shape"/>
          <p:cNvSpPr/>
          <p:nvPr/>
        </p:nvSpPr>
        <p:spPr>
          <a:xfrm>
            <a:off x="588000" y="3068960"/>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240220230"/>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43396"/>
            <a:ext cx="9369360" cy="70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宋体" panose="02010600030101010101" pitchFamily="2" charset="-122"/>
                <a:cs typeface="+mn-cs"/>
              </a:rPr>
              <a:t>指针</a:t>
            </a:r>
            <a:r>
              <a:rPr kumimoji="0" lang="zh-CN" altLang="en-US" sz="30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变量的基本概念</a:t>
            </a:r>
            <a:endParaRPr kumimoji="0" sz="30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p:txBody>
      </p:sp>
      <p:sp>
        <p:nvSpPr>
          <p:cNvPr id="4" name="New shape"/>
          <p:cNvSpPr/>
          <p:nvPr/>
        </p:nvSpPr>
        <p:spPr>
          <a:xfrm>
            <a:off x="6458401" y="1730444"/>
            <a:ext cx="4545078" cy="1142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指针变量的概念</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a:p>
            <a:pPr algn="r">
              <a:defRPr/>
            </a:pPr>
            <a:r>
              <a:rPr lang="zh-CN" altLang="en-US" sz="1575" dirty="0">
                <a:solidFill>
                  <a:schemeClr val="tx1"/>
                </a:solidFill>
                <a:highlight>
                  <a:srgbClr val="FFFFFF">
                    <a:alpha val="0"/>
                  </a:srgbClr>
                </a:highlight>
                <a:latin typeface="微软雅黑"/>
                <a:ea typeface="宋体" panose="02010600030101010101" pitchFamily="2" charset="-122"/>
              </a:rPr>
              <a:t>指针变量是一种存放地址的特殊变量，他和普通变量一样占据存储空间，但存放的不是普通的数据，而是地址。</a:t>
            </a:r>
            <a:endParaRPr sz="1575" dirty="0">
              <a:solidFill>
                <a:schemeClr val="tx1"/>
              </a:solidFill>
              <a:highlight>
                <a:srgbClr val="FFFFFF">
                  <a:alpha val="0"/>
                </a:srgbClr>
              </a:highlight>
              <a:latin typeface="微软雅黑"/>
              <a:ea typeface="宋体" panose="02010600030101010101" pitchFamily="2" charset="-122"/>
            </a:endParaRPr>
          </a:p>
        </p:txBody>
      </p:sp>
      <p:sp>
        <p:nvSpPr>
          <p:cNvPr id="5" name="New shape"/>
          <p:cNvSpPr/>
          <p:nvPr/>
        </p:nvSpPr>
        <p:spPr>
          <a:xfrm>
            <a:off x="981860" y="2565644"/>
            <a:ext cx="4545077" cy="1142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指针变量的初始化</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指针变量在定义的同时，也可以被赋予初值</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endParaRPr kumimoji="0" 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指针变量初始化的一般形式是：</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&lt;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存储类型</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&gt;&lt;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数据类型</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&gt;*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指针名</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初始地址值</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t>
            </a:r>
            <a:endPar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p:txBody>
      </p:sp>
      <p:sp>
        <p:nvSpPr>
          <p:cNvPr id="6" name="New shape"/>
          <p:cNvSpPr/>
          <p:nvPr/>
        </p:nvSpPr>
        <p:spPr>
          <a:xfrm>
            <a:off x="6356204" y="3537900"/>
            <a:ext cx="4554174" cy="11426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指针的使用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取地址运算符</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取内容运算符</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NULL</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a:t>
            </a:r>
          </a:p>
        </p:txBody>
      </p:sp>
      <p:sp>
        <p:nvSpPr>
          <p:cNvPr id="7" name="New shape"/>
          <p:cNvSpPr/>
          <p:nvPr/>
        </p:nvSpPr>
        <p:spPr>
          <a:xfrm>
            <a:off x="5965200" y="2106203"/>
            <a:ext cx="39600" cy="284197"/>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New shape"/>
          <p:cNvSpPr/>
          <p:nvPr/>
        </p:nvSpPr>
        <p:spPr>
          <a:xfrm>
            <a:off x="6152400" y="1915943"/>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a:ea typeface="+mn-ea"/>
              <a:cs typeface="+mn-cs"/>
            </a:endParaRPr>
          </a:p>
        </p:txBody>
      </p:sp>
      <p:sp>
        <p:nvSpPr>
          <p:cNvPr id="9" name="New shape"/>
          <p:cNvSpPr/>
          <p:nvPr/>
        </p:nvSpPr>
        <p:spPr>
          <a:xfrm>
            <a:off x="5806800" y="1735403"/>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1</a:t>
            </a:r>
          </a:p>
        </p:txBody>
      </p:sp>
      <p:sp>
        <p:nvSpPr>
          <p:cNvPr id="10" name="New shape"/>
          <p:cNvSpPr/>
          <p:nvPr/>
        </p:nvSpPr>
        <p:spPr>
          <a:xfrm>
            <a:off x="5965200" y="2761201"/>
            <a:ext cx="39600" cy="604606"/>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New shape"/>
          <p:cNvSpPr/>
          <p:nvPr/>
        </p:nvSpPr>
        <p:spPr>
          <a:xfrm>
            <a:off x="5515200" y="2570941"/>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a:ea typeface="+mn-ea"/>
              <a:cs typeface="+mn-cs"/>
            </a:endParaRPr>
          </a:p>
        </p:txBody>
      </p:sp>
      <p:sp>
        <p:nvSpPr>
          <p:cNvPr id="12" name="New shape"/>
          <p:cNvSpPr/>
          <p:nvPr/>
        </p:nvSpPr>
        <p:spPr>
          <a:xfrm>
            <a:off x="5806800" y="2390401"/>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2</a:t>
            </a:r>
          </a:p>
        </p:txBody>
      </p:sp>
      <p:sp>
        <p:nvSpPr>
          <p:cNvPr id="13" name="New shape"/>
          <p:cNvSpPr/>
          <p:nvPr/>
        </p:nvSpPr>
        <p:spPr>
          <a:xfrm>
            <a:off x="5965200" y="3736607"/>
            <a:ext cx="39600" cy="4572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New shape"/>
          <p:cNvSpPr/>
          <p:nvPr/>
        </p:nvSpPr>
        <p:spPr>
          <a:xfrm>
            <a:off x="6152400" y="3546347"/>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New shape"/>
          <p:cNvSpPr/>
          <p:nvPr/>
        </p:nvSpPr>
        <p:spPr>
          <a:xfrm>
            <a:off x="5806800" y="3365807"/>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3</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43396"/>
            <a:ext cx="9369360" cy="70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30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指针的声明和初始化</a:t>
            </a:r>
            <a:endParaRPr kumimoji="0" sz="30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p:txBody>
      </p:sp>
      <p:sp>
        <p:nvSpPr>
          <p:cNvPr id="4" name="New shape"/>
          <p:cNvSpPr/>
          <p:nvPr/>
        </p:nvSpPr>
        <p:spPr>
          <a:xfrm>
            <a:off x="911424" y="862592"/>
            <a:ext cx="4680520" cy="14196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指针变量的概念</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uLnTx/>
                <a:uFillTx/>
                <a:latin typeface="微软雅黑"/>
                <a:ea typeface="宋体" panose="02010600030101010101" pitchFamily="2" charset="-122"/>
                <a:cs typeface="+mn-cs"/>
              </a:rPr>
              <a:t>指针变量是一种存放地址的特殊变量，他和普通变量一样占据存储空间，但存放的不是普通的数据，而是地址。</a:t>
            </a:r>
          </a:p>
        </p:txBody>
      </p:sp>
      <p:sp>
        <p:nvSpPr>
          <p:cNvPr id="5" name="New shape"/>
          <p:cNvSpPr/>
          <p:nvPr/>
        </p:nvSpPr>
        <p:spPr>
          <a:xfrm>
            <a:off x="812974" y="2702439"/>
            <a:ext cx="4877419" cy="11772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指针变量的声明</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指针变量初始化的一般形式是：</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&lt;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存储类型</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&gt;&lt;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数据类型</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&gt;*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指针名</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初始地址值</a:t>
            </a:r>
            <a:r>
              <a:rPr kumimoji="0" lang="en-US" altLang="zh-CN"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a:t>
            </a:r>
            <a:endPar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p:txBody>
      </p:sp>
      <p:sp>
        <p:nvSpPr>
          <p:cNvPr id="6" name="New shape"/>
          <p:cNvSpPr/>
          <p:nvPr/>
        </p:nvSpPr>
        <p:spPr>
          <a:xfrm>
            <a:off x="802593" y="4392838"/>
            <a:ext cx="4877419" cy="1740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指针变量的初始化</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指针变量</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的初始化和普通</a:t>
            </a:r>
            <a:r>
              <a:rPr kumimoji="0" lang="zh-CN" altLang="en-US" sz="1575"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变量</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类似，我们可以在声明时直接赋值，也可以先声明再逐个赋值，例如：int</a:t>
            </a:r>
            <a:r>
              <a:rPr kumimoji="0" sz="1575"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 *p</a:t>
            </a:r>
            <a:r>
              <a:rPr kumimoji="0" lang="en-US" sz="1575"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=&amp;a</a:t>
            </a:r>
            <a:endParaRPr kumimoji="0" sz="1575"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endParaRPr>
          </a:p>
        </p:txBody>
      </p:sp>
      <p:pic>
        <p:nvPicPr>
          <p:cNvPr id="7" name="图片 6">
            <a:extLst>
              <a:ext uri="{FF2B5EF4-FFF2-40B4-BE49-F238E27FC236}">
                <a16:creationId xmlns:a16="http://schemas.microsoft.com/office/drawing/2014/main" id="{8A07C7A5-8821-EB00-2219-D78D6CEFD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8887" y="4293096"/>
            <a:ext cx="5234558" cy="2124728"/>
          </a:xfrm>
          <a:prstGeom prst="rect">
            <a:avLst/>
          </a:prstGeom>
        </p:spPr>
      </p:pic>
      <p:pic>
        <p:nvPicPr>
          <p:cNvPr id="9" name="图片 8">
            <a:extLst>
              <a:ext uri="{FF2B5EF4-FFF2-40B4-BE49-F238E27FC236}">
                <a16:creationId xmlns:a16="http://schemas.microsoft.com/office/drawing/2014/main" id="{71621E75-A46C-FA79-AC9E-FB97BB234B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0393" y="900112"/>
            <a:ext cx="5539582" cy="2728681"/>
          </a:xfrm>
          <a:prstGeom prst="rect">
            <a:avLst/>
          </a:prstGeom>
        </p:spPr>
      </p:pic>
    </p:spTree>
    <p:extLst>
      <p:ext uri="{BB962C8B-B14F-4D97-AF65-F5344CB8AC3E}">
        <p14:creationId xmlns:p14="http://schemas.microsoft.com/office/powerpoint/2010/main" val="184757364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指针变量的使用</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9376" y="857944"/>
            <a:ext cx="3537992" cy="722511"/>
          </a:xfrm>
        </p:spPr>
        <p:txBody>
          <a:bodyPr>
            <a:normAutofit/>
          </a:bodyPr>
          <a:lstStyle/>
          <a:p>
            <a:pPr algn="l"/>
            <a:r>
              <a:rPr lang="zh-CN" altLang="en-US" sz="2800" dirty="0">
                <a:solidFill>
                  <a:schemeClr val="bg1"/>
                </a:solidFill>
                <a:latin typeface="+mn-ea"/>
                <a:ea typeface="+mn-ea"/>
              </a:rPr>
              <a:t>取</a:t>
            </a:r>
            <a:r>
              <a:rPr lang="zh-CN" altLang="en-US" sz="2800" dirty="0">
                <a:latin typeface="+mn-ea"/>
                <a:ea typeface="+mn-ea"/>
              </a:rPr>
              <a:t>地址运算符号</a:t>
            </a:r>
            <a:r>
              <a:rPr lang="en-US" altLang="zh-CN" sz="2800" dirty="0">
                <a:latin typeface="+mn-ea"/>
                <a:ea typeface="+mn-ea"/>
              </a:rPr>
              <a:t>&amp;</a:t>
            </a:r>
            <a:endParaRPr lang="zh-CN" altLang="en-US" sz="2800" dirty="0">
              <a:latin typeface="+mn-ea"/>
              <a:ea typeface="+mn-ea"/>
            </a:endParaRP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p:txBody>
          <a:bodyPr/>
          <a:lstStyle/>
          <a:p>
            <a:endParaRPr lang="zh-CN" altLang="en-US"/>
          </a:p>
        </p:txBody>
      </p:sp>
      <p:pic>
        <p:nvPicPr>
          <p:cNvPr id="3" name="图片 2">
            <a:extLst>
              <a:ext uri="{FF2B5EF4-FFF2-40B4-BE49-F238E27FC236}">
                <a16:creationId xmlns:a16="http://schemas.microsoft.com/office/drawing/2014/main" id="{CDF34D39-29CD-9565-2B7C-06A82E0E5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68" y="1580455"/>
            <a:ext cx="10585176" cy="5004019"/>
          </a:xfrm>
          <a:prstGeom prst="rect">
            <a:avLst/>
          </a:prstGeom>
        </p:spPr>
      </p:pic>
    </p:spTree>
    <p:extLst>
      <p:ext uri="{BB962C8B-B14F-4D97-AF65-F5344CB8AC3E}">
        <p14:creationId xmlns:p14="http://schemas.microsoft.com/office/powerpoint/2010/main" val="2317487151"/>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指针变量的使用</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07368" y="857944"/>
            <a:ext cx="3537992" cy="722511"/>
          </a:xfrm>
        </p:spPr>
        <p:txBody>
          <a:bodyPr>
            <a:normAutofit/>
          </a:bodyPr>
          <a:lstStyle/>
          <a:p>
            <a:pPr algn="l"/>
            <a:r>
              <a:rPr lang="zh-CN" altLang="en-US" sz="2800" dirty="0">
                <a:solidFill>
                  <a:schemeClr val="bg1"/>
                </a:solidFill>
                <a:latin typeface="+mn-ea"/>
                <a:ea typeface="+mn-ea"/>
              </a:rPr>
              <a:t>取</a:t>
            </a:r>
            <a:r>
              <a:rPr lang="zh-CN" altLang="en-US" sz="2800" dirty="0">
                <a:latin typeface="+mn-ea"/>
                <a:ea typeface="+mn-ea"/>
              </a:rPr>
              <a:t>内容运算符号</a:t>
            </a:r>
            <a:r>
              <a:rPr lang="en-US" altLang="zh-CN" sz="2800" dirty="0">
                <a:latin typeface="+mn-ea"/>
                <a:ea typeface="+mn-ea"/>
              </a:rPr>
              <a:t>*</a:t>
            </a:r>
            <a:endParaRPr lang="zh-CN" altLang="en-US" sz="2800" dirty="0">
              <a:latin typeface="+mn-ea"/>
              <a:ea typeface="+mn-ea"/>
            </a:endParaRP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p:txBody>
          <a:bodyPr/>
          <a:lstStyle/>
          <a:p>
            <a:endParaRPr lang="zh-CN" altLang="en-US"/>
          </a:p>
        </p:txBody>
      </p:sp>
      <p:pic>
        <p:nvPicPr>
          <p:cNvPr id="10" name="图片 9">
            <a:extLst>
              <a:ext uri="{FF2B5EF4-FFF2-40B4-BE49-F238E27FC236}">
                <a16:creationId xmlns:a16="http://schemas.microsoft.com/office/drawing/2014/main" id="{4D3A7FA8-F11B-A9ED-E907-7FED3A0484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68" y="1622677"/>
            <a:ext cx="10585175" cy="5097813"/>
          </a:xfrm>
          <a:prstGeom prst="rect">
            <a:avLst/>
          </a:prstGeom>
        </p:spPr>
      </p:pic>
    </p:spTree>
    <p:extLst>
      <p:ext uri="{BB962C8B-B14F-4D97-AF65-F5344CB8AC3E}">
        <p14:creationId xmlns:p14="http://schemas.microsoft.com/office/powerpoint/2010/main" val="2258714995"/>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指针变量的使用</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07368" y="857944"/>
            <a:ext cx="3537992" cy="722511"/>
          </a:xfrm>
        </p:spPr>
        <p:txBody>
          <a:bodyPr>
            <a:normAutofit/>
          </a:bodyPr>
          <a:lstStyle/>
          <a:p>
            <a:pPr algn="l"/>
            <a:r>
              <a:rPr lang="en-US" altLang="zh-CN" sz="2800" dirty="0">
                <a:latin typeface="+mn-ea"/>
                <a:ea typeface="+mn-ea"/>
              </a:rPr>
              <a:t>NULL</a:t>
            </a:r>
            <a:r>
              <a:rPr lang="zh-CN" altLang="en-US" sz="2800" dirty="0">
                <a:latin typeface="+mn-ea"/>
                <a:ea typeface="+mn-ea"/>
              </a:rPr>
              <a:t>指针</a:t>
            </a: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p:txBody>
          <a:bodyPr/>
          <a:lstStyle/>
          <a:p>
            <a:endParaRPr lang="zh-CN" altLang="en-US"/>
          </a:p>
        </p:txBody>
      </p:sp>
      <p:pic>
        <p:nvPicPr>
          <p:cNvPr id="3" name="图片 2">
            <a:extLst>
              <a:ext uri="{FF2B5EF4-FFF2-40B4-BE49-F238E27FC236}">
                <a16:creationId xmlns:a16="http://schemas.microsoft.com/office/drawing/2014/main" id="{56CE3C86-C1E8-15CA-C00D-A6A62C8057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246" y="1580455"/>
            <a:ext cx="10542290" cy="5107131"/>
          </a:xfrm>
          <a:prstGeom prst="rect">
            <a:avLst/>
          </a:prstGeom>
        </p:spPr>
      </p:pic>
    </p:spTree>
    <p:extLst>
      <p:ext uri="{BB962C8B-B14F-4D97-AF65-F5344CB8AC3E}">
        <p14:creationId xmlns:p14="http://schemas.microsoft.com/office/powerpoint/2010/main" val="1765670588"/>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ew shape"/>
          <p:cNvSpPr/>
          <p:nvPr/>
        </p:nvSpPr>
        <p:spPr>
          <a:xfrm>
            <a:off x="576978" y="2085759"/>
            <a:ext cx="11038043" cy="1073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指针的运算</a:t>
            </a:r>
            <a:endParaRPr kumimoji="0" sz="4800" b="0" i="0" u="none" strike="noStrike" kern="1200" cap="none" spc="0" normalizeH="0" baseline="0" noProof="0" dirty="0">
              <a:ln>
                <a:noFill/>
              </a:ln>
              <a:solidFill>
                <a:schemeClr val="tx1"/>
              </a:solidFill>
              <a:effectLst/>
              <a:highlight>
                <a:srgbClr val="FFFFFF">
                  <a:alpha val="0"/>
                </a:srgbClr>
              </a:highlight>
              <a:uLnTx/>
              <a:uFillTx/>
              <a:latin typeface="+mn-lt"/>
              <a:ea typeface="+mn-ea"/>
              <a:cs typeface="+mn-cs"/>
            </a:endParaRPr>
          </a:p>
        </p:txBody>
      </p:sp>
      <p:sp>
        <p:nvSpPr>
          <p:cNvPr id="3" name="New shape"/>
          <p:cNvSpPr/>
          <p:nvPr/>
        </p:nvSpPr>
        <p:spPr>
          <a:xfrm>
            <a:off x="633821" y="3107887"/>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75562247"/>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43396"/>
            <a:ext cx="9369360" cy="70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宋体" panose="02010600030101010101" pitchFamily="2" charset="-122"/>
                <a:cs typeface="+mn-cs"/>
              </a:rPr>
              <a:t>指针的运算</a:t>
            </a:r>
            <a:endParaRPr kumimoji="0"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mn-ea"/>
              <a:cs typeface="+mn-cs"/>
            </a:endParaRPr>
          </a:p>
        </p:txBody>
      </p:sp>
      <p:sp>
        <p:nvSpPr>
          <p:cNvPr id="4" name="New shape"/>
          <p:cNvSpPr/>
          <p:nvPr/>
        </p:nvSpPr>
        <p:spPr>
          <a:xfrm>
            <a:off x="6459222" y="1763868"/>
            <a:ext cx="4545078"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指针算术运算</a:t>
            </a:r>
            <a:endParaRPr kumimoji="0" sz="1575" b="0" i="0" u="none" strike="noStrike" kern="1200" cap="none" spc="0" normalizeH="0" baseline="0" noProof="0" dirty="0">
              <a:ln>
                <a:noFill/>
              </a:ln>
              <a:solidFill>
                <a:schemeClr val="tx1"/>
              </a:solidFill>
              <a:effectLst/>
              <a:highlight>
                <a:srgbClr val="FF0000"/>
              </a:highlight>
              <a:uLnTx/>
              <a:uFillTx/>
              <a:latin typeface="微软雅黑"/>
              <a:ea typeface="+mn-ea"/>
              <a:cs typeface="+mn-cs"/>
            </a:endParaRPr>
          </a:p>
        </p:txBody>
      </p:sp>
      <p:sp>
        <p:nvSpPr>
          <p:cNvPr id="5" name="New shape"/>
          <p:cNvSpPr/>
          <p:nvPr/>
        </p:nvSpPr>
        <p:spPr>
          <a:xfrm>
            <a:off x="982800" y="2363192"/>
            <a:ext cx="4545077"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指针的关系运算</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p:txBody>
      </p:sp>
      <p:sp>
        <p:nvSpPr>
          <p:cNvPr id="6" name="New shape"/>
          <p:cNvSpPr/>
          <p:nvPr/>
        </p:nvSpPr>
        <p:spPr>
          <a:xfrm>
            <a:off x="6479016" y="3391232"/>
            <a:ext cx="455417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指针的赋值运算</a:t>
            </a:r>
          </a:p>
        </p:txBody>
      </p:sp>
      <p:sp>
        <p:nvSpPr>
          <p:cNvPr id="7" name="New shape"/>
          <p:cNvSpPr/>
          <p:nvPr/>
        </p:nvSpPr>
        <p:spPr>
          <a:xfrm>
            <a:off x="5965200" y="2106203"/>
            <a:ext cx="39600" cy="284197"/>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New shape"/>
          <p:cNvSpPr/>
          <p:nvPr/>
        </p:nvSpPr>
        <p:spPr>
          <a:xfrm>
            <a:off x="6152400" y="1915943"/>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New shape"/>
          <p:cNvSpPr/>
          <p:nvPr/>
        </p:nvSpPr>
        <p:spPr>
          <a:xfrm>
            <a:off x="5806800" y="1735403"/>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1</a:t>
            </a:r>
          </a:p>
        </p:txBody>
      </p:sp>
      <p:sp>
        <p:nvSpPr>
          <p:cNvPr id="10" name="New shape"/>
          <p:cNvSpPr/>
          <p:nvPr/>
        </p:nvSpPr>
        <p:spPr>
          <a:xfrm>
            <a:off x="5965200" y="2761201"/>
            <a:ext cx="39600" cy="604606"/>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New shape"/>
          <p:cNvSpPr/>
          <p:nvPr/>
        </p:nvSpPr>
        <p:spPr>
          <a:xfrm>
            <a:off x="5515200" y="2570941"/>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New shape"/>
          <p:cNvSpPr/>
          <p:nvPr/>
        </p:nvSpPr>
        <p:spPr>
          <a:xfrm>
            <a:off x="5806800" y="2390401"/>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2</a:t>
            </a:r>
          </a:p>
        </p:txBody>
      </p:sp>
      <p:sp>
        <p:nvSpPr>
          <p:cNvPr id="13" name="New shape"/>
          <p:cNvSpPr/>
          <p:nvPr/>
        </p:nvSpPr>
        <p:spPr>
          <a:xfrm>
            <a:off x="5965200" y="3736607"/>
            <a:ext cx="39600" cy="4572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New shape"/>
          <p:cNvSpPr/>
          <p:nvPr/>
        </p:nvSpPr>
        <p:spPr>
          <a:xfrm>
            <a:off x="6152400" y="3546347"/>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New shape"/>
          <p:cNvSpPr/>
          <p:nvPr/>
        </p:nvSpPr>
        <p:spPr>
          <a:xfrm>
            <a:off x="5806800" y="3365807"/>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3</a:t>
            </a:r>
          </a:p>
        </p:txBody>
      </p:sp>
    </p:spTree>
    <p:extLst>
      <p:ext uri="{BB962C8B-B14F-4D97-AF65-F5344CB8AC3E}">
        <p14:creationId xmlns:p14="http://schemas.microsoft.com/office/powerpoint/2010/main" val="2182113727"/>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指针的运算</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9376" y="857944"/>
            <a:ext cx="7560840" cy="722511"/>
          </a:xfrm>
        </p:spPr>
        <p:txBody>
          <a:bodyPr>
            <a:normAutofit fontScale="90000"/>
          </a:bodyPr>
          <a:lstStyle/>
          <a:p>
            <a:pPr algn="l"/>
            <a:r>
              <a:rPr lang="zh-CN" altLang="en-US" sz="2800" dirty="0">
                <a:latin typeface="+mn-ea"/>
                <a:ea typeface="+mn-ea"/>
              </a:rPr>
              <a:t>指针算术运算：与整数加减、自增自减、指针相减</a:t>
            </a: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a:xfrm>
            <a:off x="92731" y="1988840"/>
            <a:ext cx="6400800" cy="1752600"/>
          </a:xfrm>
        </p:spPr>
        <p:txBody>
          <a:bodyPr/>
          <a:lstStyle/>
          <a:p>
            <a:endParaRPr lang="zh-CN" altLang="en-US" dirty="0"/>
          </a:p>
        </p:txBody>
      </p:sp>
      <p:pic>
        <p:nvPicPr>
          <p:cNvPr id="4" name="图片 3">
            <a:extLst>
              <a:ext uri="{FF2B5EF4-FFF2-40B4-BE49-F238E27FC236}">
                <a16:creationId xmlns:a16="http://schemas.microsoft.com/office/drawing/2014/main" id="{EAA50901-5252-72C2-4233-7BACCB486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92" y="1554781"/>
            <a:ext cx="7560840" cy="1329240"/>
          </a:xfrm>
          <a:prstGeom prst="rect">
            <a:avLst/>
          </a:prstGeom>
        </p:spPr>
      </p:pic>
      <p:pic>
        <p:nvPicPr>
          <p:cNvPr id="9" name="图片 8">
            <a:extLst>
              <a:ext uri="{FF2B5EF4-FFF2-40B4-BE49-F238E27FC236}">
                <a16:creationId xmlns:a16="http://schemas.microsoft.com/office/drawing/2014/main" id="{D987811E-D53A-C8D2-6A32-ECAA42BC19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352" y="3039515"/>
            <a:ext cx="7568603" cy="1829057"/>
          </a:xfrm>
          <a:prstGeom prst="rect">
            <a:avLst/>
          </a:prstGeom>
        </p:spPr>
      </p:pic>
      <p:pic>
        <p:nvPicPr>
          <p:cNvPr id="11" name="图片 10">
            <a:extLst>
              <a:ext uri="{FF2B5EF4-FFF2-40B4-BE49-F238E27FC236}">
                <a16:creationId xmlns:a16="http://schemas.microsoft.com/office/drawing/2014/main" id="{7DB06C8A-FE0D-9ADD-7565-55A4C1E005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2208" y="4941168"/>
            <a:ext cx="10325100" cy="1819275"/>
          </a:xfrm>
          <a:prstGeom prst="rect">
            <a:avLst/>
          </a:prstGeom>
        </p:spPr>
      </p:pic>
    </p:spTree>
    <p:extLst>
      <p:ext uri="{BB962C8B-B14F-4D97-AF65-F5344CB8AC3E}">
        <p14:creationId xmlns:p14="http://schemas.microsoft.com/office/powerpoint/2010/main" val="2412605911"/>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指针的运算</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86252" y="942293"/>
            <a:ext cx="7560840" cy="722511"/>
          </a:xfrm>
        </p:spPr>
        <p:txBody>
          <a:bodyPr>
            <a:normAutofit fontScale="90000"/>
          </a:bodyPr>
          <a:lstStyle/>
          <a:p>
            <a:pPr algn="l"/>
            <a:r>
              <a:rPr lang="zh-CN" altLang="en-US" sz="2800" dirty="0">
                <a:latin typeface="+mn-ea"/>
                <a:ea typeface="+mn-ea"/>
              </a:rPr>
              <a:t>指针关系运算</a:t>
            </a:r>
            <a:br>
              <a:rPr lang="en-US" altLang="zh-CN" sz="2800" dirty="0">
                <a:latin typeface="+mn-ea"/>
                <a:ea typeface="+mn-ea"/>
              </a:rPr>
            </a:br>
            <a:endParaRPr lang="zh-CN" altLang="en-US" sz="2800" dirty="0">
              <a:latin typeface="+mn-ea"/>
              <a:ea typeface="+mn-ea"/>
            </a:endParaRPr>
          </a:p>
        </p:txBody>
      </p:sp>
      <p:pic>
        <p:nvPicPr>
          <p:cNvPr id="3" name="图片 2">
            <a:extLst>
              <a:ext uri="{FF2B5EF4-FFF2-40B4-BE49-F238E27FC236}">
                <a16:creationId xmlns:a16="http://schemas.microsoft.com/office/drawing/2014/main" id="{51315B70-1AAE-0CAE-C831-A02A369706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384" y="1340768"/>
            <a:ext cx="10081120" cy="5320818"/>
          </a:xfrm>
          <a:prstGeom prst="rect">
            <a:avLst/>
          </a:prstGeom>
        </p:spPr>
      </p:pic>
    </p:spTree>
    <p:extLst>
      <p:ext uri="{BB962C8B-B14F-4D97-AF65-F5344CB8AC3E}">
        <p14:creationId xmlns:p14="http://schemas.microsoft.com/office/powerpoint/2010/main" val="1159924296"/>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指针的运算</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2501" y="908620"/>
            <a:ext cx="7560840" cy="722511"/>
          </a:xfrm>
        </p:spPr>
        <p:txBody>
          <a:bodyPr>
            <a:normAutofit fontScale="90000"/>
          </a:bodyPr>
          <a:lstStyle/>
          <a:p>
            <a:pPr algn="l"/>
            <a:r>
              <a:rPr lang="zh-CN" altLang="en-US" sz="2800" dirty="0">
                <a:latin typeface="+mn-ea"/>
                <a:ea typeface="+mn-ea"/>
              </a:rPr>
              <a:t>指针赋值运算</a:t>
            </a:r>
            <a:br>
              <a:rPr lang="en-US" altLang="zh-CN" sz="2800" dirty="0">
                <a:latin typeface="+mn-ea"/>
                <a:ea typeface="+mn-ea"/>
              </a:rPr>
            </a:br>
            <a:endParaRPr lang="zh-CN" altLang="en-US" sz="2800" dirty="0">
              <a:latin typeface="+mn-ea"/>
              <a:ea typeface="+mn-ea"/>
            </a:endParaRP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a:xfrm>
            <a:off x="92731" y="1988840"/>
            <a:ext cx="6400800" cy="1752600"/>
          </a:xfrm>
        </p:spPr>
        <p:txBody>
          <a:bodyPr/>
          <a:lstStyle/>
          <a:p>
            <a:endParaRPr lang="zh-CN" altLang="en-US" dirty="0"/>
          </a:p>
        </p:txBody>
      </p:sp>
      <p:pic>
        <p:nvPicPr>
          <p:cNvPr id="4" name="图片 3">
            <a:extLst>
              <a:ext uri="{FF2B5EF4-FFF2-40B4-BE49-F238E27FC236}">
                <a16:creationId xmlns:a16="http://schemas.microsoft.com/office/drawing/2014/main" id="{CE98E7D1-DC2F-A4B2-CF69-01EE8263D7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52" y="1273423"/>
            <a:ext cx="10225136" cy="5546476"/>
          </a:xfrm>
          <a:prstGeom prst="rect">
            <a:avLst/>
          </a:prstGeom>
        </p:spPr>
      </p:pic>
    </p:spTree>
    <p:extLst>
      <p:ext uri="{BB962C8B-B14F-4D97-AF65-F5344CB8AC3E}">
        <p14:creationId xmlns:p14="http://schemas.microsoft.com/office/powerpoint/2010/main" val="3393960767"/>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ew shape"/>
          <p:cNvSpPr/>
          <p:nvPr/>
        </p:nvSpPr>
        <p:spPr>
          <a:xfrm>
            <a:off x="611778" y="1572480"/>
            <a:ext cx="11038043" cy="1073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4800" b="0" i="0" u="none" strike="noStrike" kern="1200" cap="none" spc="0" normalizeH="0" baseline="0" noProof="0" dirty="0">
                <a:ln>
                  <a:noFill/>
                </a:ln>
                <a:solidFill>
                  <a:schemeClr val="tx1"/>
                </a:solidFill>
                <a:effectLst/>
                <a:highlight>
                  <a:srgbClr val="FFFFFF">
                    <a:alpha val="0"/>
                  </a:srgbClr>
                </a:highlight>
                <a:uLnTx/>
                <a:uFillTx/>
                <a:latin typeface="宋体" panose="02010600030101010101" pitchFamily="2" charset="-122"/>
                <a:ea typeface="宋体" panose="02010600030101010101" pitchFamily="2" charset="-122"/>
                <a:cs typeface="+mn-cs"/>
              </a:rPr>
              <a:t>指针与数组</a:t>
            </a:r>
            <a:endParaRPr kumimoji="0" sz="4800" b="0" i="0" u="none" strike="noStrike" kern="1200" cap="none" spc="0" normalizeH="0" baseline="0" noProof="0" dirty="0">
              <a:ln>
                <a:noFill/>
              </a:ln>
              <a:solidFill>
                <a:schemeClr val="tx1"/>
              </a:solidFill>
              <a:effectLst/>
              <a:highlight>
                <a:srgbClr val="FFFFFF">
                  <a:alpha val="0"/>
                </a:srgbClr>
              </a:highlight>
              <a:uLnTx/>
              <a:uFillTx/>
              <a:latin typeface="+mn-lt"/>
              <a:ea typeface="+mn-ea"/>
              <a:cs typeface="+mn-cs"/>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29523840"/>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43396"/>
            <a:ext cx="9369360" cy="70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宋体" panose="02010600030101010101" pitchFamily="2" charset="-122"/>
                <a:cs typeface="+mn-cs"/>
              </a:rPr>
              <a:t>数组与指针</a:t>
            </a:r>
            <a:endParaRPr kumimoji="0"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mn-ea"/>
              <a:cs typeface="+mn-cs"/>
            </a:endParaRPr>
          </a:p>
        </p:txBody>
      </p:sp>
      <p:sp>
        <p:nvSpPr>
          <p:cNvPr id="4" name="New shape"/>
          <p:cNvSpPr/>
          <p:nvPr/>
        </p:nvSpPr>
        <p:spPr>
          <a:xfrm>
            <a:off x="6456461" y="1711938"/>
            <a:ext cx="4545078" cy="1642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数组与指针</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数组与指针在访问内存时采用统</a:t>
            </a:r>
            <a:r>
              <a:rPr kumimoji="0" lang="en-US" altLang="zh-CN"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 -</a:t>
            </a:r>
            <a:r>
              <a:rPr kumimoji="0" lang="zh-CN" altLang="en-US"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的地址计算方法</a:t>
            </a:r>
            <a:r>
              <a:rPr kumimoji="0" lang="en-US" altLang="zh-CN"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a:t>
            </a:r>
            <a:r>
              <a:rPr kumimoji="0" lang="zh-CN" altLang="en-US"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都可以处理内存中连续存放的一系列数据，两者之间既有密切关系</a:t>
            </a:r>
            <a:r>
              <a:rPr kumimoji="0" lang="en-US" altLang="zh-CN"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a:t>
            </a:r>
            <a:r>
              <a:rPr kumimoji="0" lang="zh-CN" altLang="en-US"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t>又有本质区别。</a:t>
            </a:r>
            <a:br>
              <a:rPr kumimoji="0" lang="zh-CN" altLang="en-US" sz="1600" b="0" i="0" u="none" strike="noStrike" kern="1200" cap="none" spc="0" normalizeH="0" baseline="0" noProof="0" dirty="0">
                <a:ln>
                  <a:noFill/>
                </a:ln>
                <a:solidFill>
                  <a:schemeClr val="tx1"/>
                </a:solidFill>
                <a:effectLst/>
                <a:uLnTx/>
                <a:uFillTx/>
                <a:latin typeface="Calibri"/>
                <a:ea typeface="宋体" panose="02010600030101010101" pitchFamily="2" charset="-122"/>
                <a:cs typeface="+mn-cs"/>
              </a:rPr>
            </a:br>
            <a:endParaRPr kumimoji="0" lang="en-US" altLang="zh-CN" sz="16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sz="1575" b="0" i="0" u="none" strike="noStrike" kern="1200" cap="none" spc="0" normalizeH="0" baseline="0" noProof="0" dirty="0">
              <a:ln>
                <a:noFill/>
              </a:ln>
              <a:solidFill>
                <a:srgbClr val="FFFFFF"/>
              </a:solidFill>
              <a:effectLst/>
              <a:highlight>
                <a:srgbClr val="FF0000"/>
              </a:highlight>
              <a:uLnTx/>
              <a:uFillTx/>
              <a:latin typeface="微软雅黑"/>
              <a:ea typeface="+mn-ea"/>
              <a:cs typeface="+mn-cs"/>
            </a:endParaRPr>
          </a:p>
        </p:txBody>
      </p:sp>
      <p:sp>
        <p:nvSpPr>
          <p:cNvPr id="5" name="New shape"/>
          <p:cNvSpPr/>
          <p:nvPr/>
        </p:nvSpPr>
        <p:spPr>
          <a:xfrm>
            <a:off x="982800" y="2363192"/>
            <a:ext cx="4545077"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一维数组与指针</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p:txBody>
      </p:sp>
      <p:sp>
        <p:nvSpPr>
          <p:cNvPr id="6" name="New shape"/>
          <p:cNvSpPr/>
          <p:nvPr/>
        </p:nvSpPr>
        <p:spPr>
          <a:xfrm>
            <a:off x="6479016" y="3391232"/>
            <a:ext cx="4554174" cy="415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rPr>
              <a:t>多维数组与指针</a:t>
            </a:r>
            <a:endParaRPr kumimoji="0" lang="en-US" altLang="zh-CN"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宋体" panose="02010600030101010101" pitchFamily="2" charset="-122"/>
              <a:cs typeface="+mn-cs"/>
            </a:endParaRPr>
          </a:p>
        </p:txBody>
      </p:sp>
      <p:sp>
        <p:nvSpPr>
          <p:cNvPr id="7" name="New shape"/>
          <p:cNvSpPr/>
          <p:nvPr/>
        </p:nvSpPr>
        <p:spPr>
          <a:xfrm>
            <a:off x="5965200" y="2106203"/>
            <a:ext cx="39600" cy="284197"/>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New shape"/>
          <p:cNvSpPr/>
          <p:nvPr/>
        </p:nvSpPr>
        <p:spPr>
          <a:xfrm>
            <a:off x="6152400" y="1915943"/>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New shape"/>
          <p:cNvSpPr/>
          <p:nvPr/>
        </p:nvSpPr>
        <p:spPr>
          <a:xfrm>
            <a:off x="5806800" y="1735403"/>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1</a:t>
            </a:r>
          </a:p>
        </p:txBody>
      </p:sp>
      <p:sp>
        <p:nvSpPr>
          <p:cNvPr id="10" name="New shape"/>
          <p:cNvSpPr/>
          <p:nvPr/>
        </p:nvSpPr>
        <p:spPr>
          <a:xfrm>
            <a:off x="5965200" y="2761201"/>
            <a:ext cx="39600" cy="604606"/>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New shape"/>
          <p:cNvSpPr/>
          <p:nvPr/>
        </p:nvSpPr>
        <p:spPr>
          <a:xfrm>
            <a:off x="5515200" y="2570941"/>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New shape"/>
          <p:cNvSpPr/>
          <p:nvPr/>
        </p:nvSpPr>
        <p:spPr>
          <a:xfrm>
            <a:off x="5806800" y="2390401"/>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2</a:t>
            </a:r>
          </a:p>
        </p:txBody>
      </p:sp>
      <p:sp>
        <p:nvSpPr>
          <p:cNvPr id="13" name="New shape"/>
          <p:cNvSpPr/>
          <p:nvPr/>
        </p:nvSpPr>
        <p:spPr>
          <a:xfrm>
            <a:off x="5965200" y="3736607"/>
            <a:ext cx="39600" cy="4572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New shape"/>
          <p:cNvSpPr/>
          <p:nvPr/>
        </p:nvSpPr>
        <p:spPr>
          <a:xfrm>
            <a:off x="6152400" y="3546347"/>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New shape"/>
          <p:cNvSpPr/>
          <p:nvPr/>
        </p:nvSpPr>
        <p:spPr>
          <a:xfrm>
            <a:off x="5806800" y="3365807"/>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3</a:t>
            </a:r>
          </a:p>
        </p:txBody>
      </p:sp>
    </p:spTree>
    <p:extLst>
      <p:ext uri="{BB962C8B-B14F-4D97-AF65-F5344CB8AC3E}">
        <p14:creationId xmlns:p14="http://schemas.microsoft.com/office/powerpoint/2010/main" val="2496505305"/>
      </p:ext>
    </p:extLst>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数组与指针</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9376" y="857944"/>
            <a:ext cx="7560840" cy="722511"/>
          </a:xfrm>
        </p:spPr>
        <p:txBody>
          <a:bodyPr>
            <a:normAutofit/>
          </a:bodyPr>
          <a:lstStyle/>
          <a:p>
            <a:pPr algn="l"/>
            <a:r>
              <a:rPr lang="zh-CN" altLang="en-US" sz="2800" dirty="0">
                <a:latin typeface="+mn-ea"/>
                <a:ea typeface="+mn-ea"/>
              </a:rPr>
              <a:t>一维数组与指针</a:t>
            </a: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a:xfrm>
            <a:off x="92731" y="1988840"/>
            <a:ext cx="6400800" cy="1752600"/>
          </a:xfrm>
        </p:spPr>
        <p:txBody>
          <a:bodyPr/>
          <a:lstStyle/>
          <a:p>
            <a:endParaRPr lang="zh-CN" altLang="en-US" dirty="0"/>
          </a:p>
        </p:txBody>
      </p:sp>
      <p:pic>
        <p:nvPicPr>
          <p:cNvPr id="3" name="图片 2">
            <a:extLst>
              <a:ext uri="{FF2B5EF4-FFF2-40B4-BE49-F238E27FC236}">
                <a16:creationId xmlns:a16="http://schemas.microsoft.com/office/drawing/2014/main" id="{3284C873-2641-E119-B448-8F9E19718C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628800"/>
            <a:ext cx="10325100" cy="5057775"/>
          </a:xfrm>
          <a:prstGeom prst="rect">
            <a:avLst/>
          </a:prstGeom>
        </p:spPr>
      </p:pic>
    </p:spTree>
    <p:extLst>
      <p:ext uri="{BB962C8B-B14F-4D97-AF65-F5344CB8AC3E}">
        <p14:creationId xmlns:p14="http://schemas.microsoft.com/office/powerpoint/2010/main" val="2044709252"/>
      </p:ext>
    </p:extLst>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数组与指针</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9376" y="857944"/>
            <a:ext cx="7560840" cy="722511"/>
          </a:xfrm>
        </p:spPr>
        <p:txBody>
          <a:bodyPr>
            <a:normAutofit/>
          </a:bodyPr>
          <a:lstStyle/>
          <a:p>
            <a:pPr algn="l"/>
            <a:r>
              <a:rPr lang="zh-CN" altLang="en-US" sz="2800" dirty="0">
                <a:latin typeface="+mn-ea"/>
                <a:ea typeface="+mn-ea"/>
              </a:rPr>
              <a:t>多维数组与指针</a:t>
            </a: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a:xfrm>
            <a:off x="92731" y="1988840"/>
            <a:ext cx="6400800" cy="1752600"/>
          </a:xfrm>
        </p:spPr>
        <p:txBody>
          <a:bodyPr/>
          <a:lstStyle/>
          <a:p>
            <a:endParaRPr lang="zh-CN" altLang="en-US" dirty="0"/>
          </a:p>
        </p:txBody>
      </p:sp>
      <p:pic>
        <p:nvPicPr>
          <p:cNvPr id="4" name="图片 3">
            <a:extLst>
              <a:ext uri="{FF2B5EF4-FFF2-40B4-BE49-F238E27FC236}">
                <a16:creationId xmlns:a16="http://schemas.microsoft.com/office/drawing/2014/main" id="{7422CA64-2465-4414-395A-9FB2EA068F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576189"/>
            <a:ext cx="10297144" cy="5176558"/>
          </a:xfrm>
          <a:prstGeom prst="rect">
            <a:avLst/>
          </a:prstGeom>
        </p:spPr>
      </p:pic>
    </p:spTree>
    <p:extLst>
      <p:ext uri="{BB962C8B-B14F-4D97-AF65-F5344CB8AC3E}">
        <p14:creationId xmlns:p14="http://schemas.microsoft.com/office/powerpoint/2010/main" val="3341358196"/>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35352"/>
            <a:ext cx="5771526" cy="10618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宋体" panose="02010600030101010101" pitchFamily="2" charset="-122"/>
                <a:cs typeface="+mn-cs"/>
              </a:rPr>
              <a:t>数组与指针</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sp>
        <p:nvSpPr>
          <p:cNvPr id="6" name="标题 5">
            <a:extLst>
              <a:ext uri="{FF2B5EF4-FFF2-40B4-BE49-F238E27FC236}">
                <a16:creationId xmlns:a16="http://schemas.microsoft.com/office/drawing/2014/main" id="{1F382641-6ACD-218C-533A-B51AF0EA7FFD}"/>
              </a:ext>
            </a:extLst>
          </p:cNvPr>
          <p:cNvSpPr>
            <a:spLocks noGrp="1"/>
          </p:cNvSpPr>
          <p:nvPr>
            <p:ph type="ctrTitle"/>
          </p:nvPr>
        </p:nvSpPr>
        <p:spPr>
          <a:xfrm>
            <a:off x="479376" y="857944"/>
            <a:ext cx="7560840" cy="722511"/>
          </a:xfrm>
        </p:spPr>
        <p:txBody>
          <a:bodyPr>
            <a:normAutofit/>
          </a:bodyPr>
          <a:lstStyle/>
          <a:p>
            <a:pPr algn="l"/>
            <a:r>
              <a:rPr lang="zh-CN" altLang="en-US" sz="2800" dirty="0">
                <a:latin typeface="+mn-ea"/>
                <a:ea typeface="+mn-ea"/>
              </a:rPr>
              <a:t>多维数组与指针</a:t>
            </a:r>
          </a:p>
        </p:txBody>
      </p:sp>
      <p:sp>
        <p:nvSpPr>
          <p:cNvPr id="8" name="副标题 7">
            <a:extLst>
              <a:ext uri="{FF2B5EF4-FFF2-40B4-BE49-F238E27FC236}">
                <a16:creationId xmlns:a16="http://schemas.microsoft.com/office/drawing/2014/main" id="{459DEC66-4C87-4230-A941-99FF6BBA88F0}"/>
              </a:ext>
            </a:extLst>
          </p:cNvPr>
          <p:cNvSpPr>
            <a:spLocks noGrp="1"/>
          </p:cNvSpPr>
          <p:nvPr>
            <p:ph type="subTitle" idx="1"/>
          </p:nvPr>
        </p:nvSpPr>
        <p:spPr>
          <a:xfrm>
            <a:off x="92731" y="1988840"/>
            <a:ext cx="6400800" cy="1752600"/>
          </a:xfrm>
        </p:spPr>
        <p:txBody>
          <a:bodyPr/>
          <a:lstStyle/>
          <a:p>
            <a:endParaRPr lang="zh-CN" altLang="en-US" dirty="0"/>
          </a:p>
        </p:txBody>
      </p:sp>
      <p:pic>
        <p:nvPicPr>
          <p:cNvPr id="3" name="图片 2">
            <a:extLst>
              <a:ext uri="{FF2B5EF4-FFF2-40B4-BE49-F238E27FC236}">
                <a16:creationId xmlns:a16="http://schemas.microsoft.com/office/drawing/2014/main" id="{F5CC61E6-BCDC-2838-BC46-558358FD84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52" y="1514878"/>
            <a:ext cx="10153127" cy="5175517"/>
          </a:xfrm>
          <a:prstGeom prst="rect">
            <a:avLst/>
          </a:prstGeom>
        </p:spPr>
      </p:pic>
    </p:spTree>
    <p:extLst>
      <p:ext uri="{BB962C8B-B14F-4D97-AF65-F5344CB8AC3E}">
        <p14:creationId xmlns:p14="http://schemas.microsoft.com/office/powerpoint/2010/main" val="873749675"/>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New shape"/>
          <p:cNvSpPr/>
          <p:nvPr/>
        </p:nvSpPr>
        <p:spPr>
          <a:xfrm>
            <a:off x="611778" y="1574499"/>
            <a:ext cx="11038043" cy="1069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sz="4800"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C语言指针数组与多级指针解析</a:t>
            </a:r>
            <a:endParaRPr kumimoji="0" sz="4800"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FFFFFF"/>
                </a:solidFill>
                <a:effectLst/>
                <a:highlight>
                  <a:srgbClr val="FFFFFF">
                    <a:alpha val="0"/>
                  </a:srgbClr>
                </a:highlight>
                <a:uLnTx/>
                <a:uFillTx/>
                <a:latin typeface="微软雅黑"/>
                <a:ea typeface="宋体" panose="02010600030101010101" pitchFamily="2" charset="-122"/>
                <a:cs typeface="+mn-cs"/>
              </a:rPr>
              <a:t>指针数组的基本概念</a:t>
            </a:r>
          </a:p>
        </p:txBody>
      </p:sp>
      <p:sp>
        <p:nvSpPr>
          <p:cNvPr id="4" name="New shape"/>
          <p:cNvSpPr/>
          <p:nvPr/>
        </p:nvSpPr>
        <p:spPr>
          <a:xfrm>
            <a:off x="6458401" y="1751859"/>
            <a:ext cx="4545078" cy="10997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lnSpc>
                <a:spcPct val="100000"/>
              </a:lnSpc>
              <a:defRPr/>
            </a:pPr>
            <a:r>
              <a:rPr sz="2100" b="1" dirty="0" err="1">
                <a:solidFill>
                  <a:schemeClr val="tx1"/>
                </a:solidFill>
                <a:highlight>
                  <a:srgbClr val="FFFFFF">
                    <a:alpha val="0"/>
                  </a:srgbClr>
                </a:highlight>
                <a:latin typeface="微软雅黑"/>
              </a:rPr>
              <a:t>指针数组的定义</a:t>
            </a:r>
            <a:endParaRPr sz="2100" b="1" dirty="0">
              <a:solidFill>
                <a:schemeClr val="tx1"/>
              </a:solidFill>
              <a:highlight>
                <a:srgbClr val="FFFFFF">
                  <a:alpha val="0"/>
                </a:srgbClr>
              </a:highlight>
              <a:latin typeface="微软雅黑"/>
            </a:endParaRPr>
          </a:p>
          <a:p>
            <a:pPr algn="r">
              <a:lnSpc>
                <a:spcPct val="150000"/>
              </a:lnSpc>
              <a:defRPr/>
            </a:pPr>
            <a:r>
              <a:rPr sz="1575" dirty="0" err="1">
                <a:solidFill>
                  <a:schemeClr val="tx1"/>
                </a:solidFill>
                <a:highlight>
                  <a:srgbClr val="FFFFFF">
                    <a:alpha val="0"/>
                  </a:srgbClr>
                </a:highlight>
                <a:latin typeface="微软雅黑"/>
              </a:rPr>
              <a:t>指针数组是一种特殊的数组，其元素类型为指针，用于存储多个相同类型的指针</a:t>
            </a:r>
            <a:r>
              <a:rPr lang="zh-CN" altLang="en-US" sz="1575" dirty="0">
                <a:solidFill>
                  <a:schemeClr val="tx1"/>
                </a:solidFill>
                <a:highlight>
                  <a:srgbClr val="FFFFFF">
                    <a:alpha val="0"/>
                  </a:srgbClr>
                </a:highlight>
                <a:latin typeface="微软雅黑"/>
              </a:rPr>
              <a:t>。</a:t>
            </a:r>
            <a:endParaRPr sz="2100" b="1" dirty="0">
              <a:solidFill>
                <a:schemeClr val="tx1"/>
              </a:solidFill>
              <a:highlight>
                <a:srgbClr val="FFFFFF">
                  <a:alpha val="0"/>
                </a:srgbClr>
              </a:highlight>
              <a:latin typeface="微软雅黑"/>
            </a:endParaRPr>
          </a:p>
        </p:txBody>
      </p:sp>
      <p:sp>
        <p:nvSpPr>
          <p:cNvPr id="5" name="New shape"/>
          <p:cNvSpPr/>
          <p:nvPr/>
        </p:nvSpPr>
        <p:spPr>
          <a:xfrm>
            <a:off x="981860" y="2390401"/>
            <a:ext cx="4545077"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指针数组的初始化</a:t>
            </a:r>
            <a:endParaRPr kumimoji="0"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指针数组的初始化需要指定数组的大小和每个元素的初始值，即每个元素的指针应该指向一个已存在的同类型变量</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6" name="New shape"/>
          <p:cNvSpPr/>
          <p:nvPr/>
        </p:nvSpPr>
        <p:spPr>
          <a:xfrm>
            <a:off x="6356204" y="3362657"/>
            <a:ext cx="4554174"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多级指针的概念</a:t>
            </a:r>
            <a:endParaRPr kumimoji="0"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多级指针是一个指针，它指向的也是一个指针，这种结构可以用于实现复杂的数据结构和高效的内存管理</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7" name="New shape"/>
          <p:cNvSpPr/>
          <p:nvPr/>
        </p:nvSpPr>
        <p:spPr>
          <a:xfrm>
            <a:off x="5965200" y="2106203"/>
            <a:ext cx="39600" cy="284197"/>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New shape"/>
          <p:cNvSpPr/>
          <p:nvPr/>
        </p:nvSpPr>
        <p:spPr>
          <a:xfrm>
            <a:off x="6152400" y="1915943"/>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New shape"/>
          <p:cNvSpPr/>
          <p:nvPr/>
        </p:nvSpPr>
        <p:spPr>
          <a:xfrm>
            <a:off x="5806800" y="1735403"/>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1</a:t>
            </a:r>
          </a:p>
        </p:txBody>
      </p:sp>
      <p:sp>
        <p:nvSpPr>
          <p:cNvPr id="10" name="New shape"/>
          <p:cNvSpPr/>
          <p:nvPr/>
        </p:nvSpPr>
        <p:spPr>
          <a:xfrm>
            <a:off x="5965200" y="2761201"/>
            <a:ext cx="39600" cy="604606"/>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New shape"/>
          <p:cNvSpPr/>
          <p:nvPr/>
        </p:nvSpPr>
        <p:spPr>
          <a:xfrm>
            <a:off x="5515200" y="2570941"/>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New shape"/>
          <p:cNvSpPr/>
          <p:nvPr/>
        </p:nvSpPr>
        <p:spPr>
          <a:xfrm>
            <a:off x="5806800" y="2390401"/>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2</a:t>
            </a:r>
          </a:p>
        </p:txBody>
      </p:sp>
      <p:sp>
        <p:nvSpPr>
          <p:cNvPr id="13" name="New shape"/>
          <p:cNvSpPr/>
          <p:nvPr/>
        </p:nvSpPr>
        <p:spPr>
          <a:xfrm>
            <a:off x="5965200" y="3736607"/>
            <a:ext cx="39600" cy="4572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New shape"/>
          <p:cNvSpPr/>
          <p:nvPr/>
        </p:nvSpPr>
        <p:spPr>
          <a:xfrm>
            <a:off x="6152400" y="3546347"/>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New shape"/>
          <p:cNvSpPr/>
          <p:nvPr/>
        </p:nvSpPr>
        <p:spPr>
          <a:xfrm>
            <a:off x="5806800" y="3365807"/>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3</a:t>
            </a:r>
          </a:p>
        </p:txBody>
      </p:sp>
    </p:spTree>
    <p:extLst>
      <p:ext uri="{BB962C8B-B14F-4D97-AF65-F5344CB8AC3E}">
        <p14:creationId xmlns:p14="http://schemas.microsoft.com/office/powerpoint/2010/main" val="3315095024"/>
      </p:ext>
    </p:extLst>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3000" b="1" i="0" u="none" strike="noStrike" kern="1200" cap="none" spc="0" normalizeH="0" baseline="0" noProof="0">
                <a:ln>
                  <a:noFill/>
                </a:ln>
                <a:solidFill>
                  <a:srgbClr val="FFFFFF"/>
                </a:solidFill>
                <a:effectLst/>
                <a:highlight>
                  <a:srgbClr val="FFFFFF">
                    <a:alpha val="0"/>
                  </a:srgbClr>
                </a:highlight>
                <a:uLnTx/>
                <a:uFillTx/>
                <a:latin typeface="微软雅黑"/>
                <a:ea typeface="+mn-ea"/>
                <a:cs typeface="+mn-cs"/>
              </a:rPr>
              <a:t>指针数组的声明和初始化</a:t>
            </a:r>
          </a:p>
        </p:txBody>
      </p:sp>
      <p:sp>
        <p:nvSpPr>
          <p:cNvPr id="4" name="New shape"/>
          <p:cNvSpPr/>
          <p:nvPr/>
        </p:nvSpPr>
        <p:spPr>
          <a:xfrm>
            <a:off x="911424" y="884008"/>
            <a:ext cx="4680520" cy="1376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指针数组的定义</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指针数组是一种特殊的数组，其元素均为指针类型，主要用于存储和管理同一类型的数据</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5" name="New shape"/>
          <p:cNvSpPr/>
          <p:nvPr/>
        </p:nvSpPr>
        <p:spPr>
          <a:xfrm>
            <a:off x="812974" y="2420888"/>
            <a:ext cx="4877419" cy="1740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指针数组的声明</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在C语言中，我们使用类型名后跟一对方括号来声明一个指针数组，如int</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 *</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ptr</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[10]表示这是一个包含10个int类型指针的数组。</a:t>
            </a:r>
          </a:p>
        </p:txBody>
      </p:sp>
      <p:sp>
        <p:nvSpPr>
          <p:cNvPr id="6" name="New shape"/>
          <p:cNvSpPr/>
          <p:nvPr/>
        </p:nvSpPr>
        <p:spPr>
          <a:xfrm>
            <a:off x="802593" y="4392838"/>
            <a:ext cx="4877419" cy="17403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指针数组的初始化</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指针数组的初始化和普通数组类似，我们可以在声明时直接赋值，也可以先声明再逐个赋值，例如：int</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 *</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ptr</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[10] = {&amp;a, &amp;b, &amp;c, ...};</a:t>
            </a:r>
          </a:p>
        </p:txBody>
      </p:sp>
      <p:pic>
        <p:nvPicPr>
          <p:cNvPr id="13" name="图片 12">
            <a:extLst>
              <a:ext uri="{FF2B5EF4-FFF2-40B4-BE49-F238E27FC236}">
                <a16:creationId xmlns:a16="http://schemas.microsoft.com/office/drawing/2014/main" id="{DE1F8C77-458D-A0AB-7C61-5117C4311799}"/>
              </a:ext>
            </a:extLst>
          </p:cNvPr>
          <p:cNvPicPr>
            <a:picLocks noChangeAspect="1"/>
          </p:cNvPicPr>
          <p:nvPr/>
        </p:nvPicPr>
        <p:blipFill rotWithShape="1">
          <a:blip r:embed="rId2">
            <a:extLst>
              <a:ext uri="{28A0092B-C50C-407E-A947-70E740481C1C}">
                <a14:useLocalDpi xmlns:a14="http://schemas.microsoft.com/office/drawing/2010/main" val="0"/>
              </a:ext>
            </a:extLst>
          </a:blip>
          <a:srcRect l="5635" t="18898" r="1409" b="68503"/>
          <a:stretch/>
        </p:blipFill>
        <p:spPr>
          <a:xfrm>
            <a:off x="5663320" y="884008"/>
            <a:ext cx="5760640" cy="1440161"/>
          </a:xfrm>
          <a:prstGeom prst="rect">
            <a:avLst/>
          </a:prstGeom>
        </p:spPr>
      </p:pic>
      <p:pic>
        <p:nvPicPr>
          <p:cNvPr id="15" name="图片 14">
            <a:extLst>
              <a:ext uri="{FF2B5EF4-FFF2-40B4-BE49-F238E27FC236}">
                <a16:creationId xmlns:a16="http://schemas.microsoft.com/office/drawing/2014/main" id="{435914AB-584D-0B68-662D-9986BF54F216}"/>
              </a:ext>
            </a:extLst>
          </p:cNvPr>
          <p:cNvPicPr>
            <a:picLocks noChangeAspect="1"/>
          </p:cNvPicPr>
          <p:nvPr/>
        </p:nvPicPr>
        <p:blipFill rotWithShape="1">
          <a:blip r:embed="rId2">
            <a:extLst>
              <a:ext uri="{28A0092B-C50C-407E-A947-70E740481C1C}">
                <a14:useLocalDpi xmlns:a14="http://schemas.microsoft.com/office/drawing/2010/main" val="0"/>
              </a:ext>
            </a:extLst>
          </a:blip>
          <a:srcRect l="6300" t="32940" r="18101" b="42957"/>
          <a:stretch/>
        </p:blipFill>
        <p:spPr>
          <a:xfrm>
            <a:off x="5735960" y="2636912"/>
            <a:ext cx="5184576" cy="1239714"/>
          </a:xfrm>
          <a:prstGeom prst="rect">
            <a:avLst/>
          </a:prstGeom>
        </p:spPr>
      </p:pic>
      <p:pic>
        <p:nvPicPr>
          <p:cNvPr id="17" name="图片 16">
            <a:extLst>
              <a:ext uri="{FF2B5EF4-FFF2-40B4-BE49-F238E27FC236}">
                <a16:creationId xmlns:a16="http://schemas.microsoft.com/office/drawing/2014/main" id="{93F9F543-4006-2319-7FB7-779094B028C1}"/>
              </a:ext>
            </a:extLst>
          </p:cNvPr>
          <p:cNvPicPr>
            <a:picLocks noChangeAspect="1"/>
          </p:cNvPicPr>
          <p:nvPr/>
        </p:nvPicPr>
        <p:blipFill rotWithShape="1">
          <a:blip r:embed="rId2">
            <a:extLst>
              <a:ext uri="{28A0092B-C50C-407E-A947-70E740481C1C}">
                <a14:useLocalDpi xmlns:a14="http://schemas.microsoft.com/office/drawing/2010/main" val="0"/>
              </a:ext>
            </a:extLst>
          </a:blip>
          <a:srcRect l="11550" t="63206" b="12692"/>
          <a:stretch/>
        </p:blipFill>
        <p:spPr>
          <a:xfrm>
            <a:off x="5680012" y="4304445"/>
            <a:ext cx="6065912" cy="1906386"/>
          </a:xfrm>
          <a:prstGeom prst="rect">
            <a:avLst/>
          </a:prstGeom>
        </p:spPr>
      </p:pic>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407368" y="-99392"/>
            <a:ext cx="5771526"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4800" b="1" i="0" u="none" strike="noStrike" kern="1200" cap="none" spc="0" normalizeH="0" baseline="0" noProof="0" dirty="0" err="1">
                <a:ln>
                  <a:noFill/>
                </a:ln>
                <a:solidFill>
                  <a:srgbClr val="FE9471"/>
                </a:solidFill>
                <a:effectLst/>
                <a:highlight>
                  <a:srgbClr val="FFFFFF">
                    <a:alpha val="0"/>
                  </a:srgbClr>
                </a:highlight>
                <a:uLnTx/>
                <a:uFillTx/>
                <a:latin typeface="微软雅黑"/>
                <a:ea typeface="+mn-ea"/>
                <a:cs typeface="+mn-cs"/>
              </a:rPr>
              <a:t>指针数组的使用案例</a:t>
            </a:r>
            <a:endParaRPr kumimoji="0" sz="4800" b="1" i="0" u="none" strike="noStrike" kern="1200" cap="none" spc="0" normalizeH="0" baseline="0" noProof="0" dirty="0">
              <a:ln>
                <a:noFill/>
              </a:ln>
              <a:solidFill>
                <a:srgbClr val="FE9471"/>
              </a:solidFill>
              <a:effectLst/>
              <a:highlight>
                <a:srgbClr val="FFFFFF">
                  <a:alpha val="0"/>
                </a:srgbClr>
              </a:highlight>
              <a:uLnTx/>
              <a:uFillTx/>
              <a:latin typeface="微软雅黑"/>
              <a:ea typeface="+mn-ea"/>
              <a:cs typeface="+mn-cs"/>
            </a:endParaRPr>
          </a:p>
        </p:txBody>
      </p:sp>
      <p:pic>
        <p:nvPicPr>
          <p:cNvPr id="7" name="图片 6">
            <a:extLst>
              <a:ext uri="{FF2B5EF4-FFF2-40B4-BE49-F238E27FC236}">
                <a16:creationId xmlns:a16="http://schemas.microsoft.com/office/drawing/2014/main" id="{1A40FD59-5164-0A9E-BB62-FB3AB350EB76}"/>
              </a:ext>
            </a:extLst>
          </p:cNvPr>
          <p:cNvPicPr>
            <a:picLocks noChangeAspect="1"/>
          </p:cNvPicPr>
          <p:nvPr/>
        </p:nvPicPr>
        <p:blipFill rotWithShape="1">
          <a:blip r:embed="rId2">
            <a:extLst>
              <a:ext uri="{28A0092B-C50C-407E-A947-70E740481C1C}">
                <a14:useLocalDpi xmlns:a14="http://schemas.microsoft.com/office/drawing/2010/main" val="0"/>
              </a:ext>
            </a:extLst>
          </a:blip>
          <a:srcRect t="12201" b="9400"/>
          <a:stretch/>
        </p:blipFill>
        <p:spPr>
          <a:xfrm>
            <a:off x="191344" y="1076229"/>
            <a:ext cx="11521280" cy="5758256"/>
          </a:xfrm>
          <a:prstGeom prst="rect">
            <a:avLst/>
          </a:prstGeom>
        </p:spPr>
      </p:pic>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11424" y="692696"/>
            <a:ext cx="9369360" cy="7032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30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指针数组的使用</a:t>
            </a:r>
            <a:endParaRPr kumimoji="0" sz="30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p:txBody>
      </p:sp>
      <p:sp>
        <p:nvSpPr>
          <p:cNvPr id="4" name="New shape"/>
          <p:cNvSpPr/>
          <p:nvPr/>
        </p:nvSpPr>
        <p:spPr>
          <a:xfrm>
            <a:off x="986820" y="2378587"/>
            <a:ext cx="2744215" cy="21281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指针数组的基本概念</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指针数组是C语言中一种特殊的数组，其元素为指针类型，主要用于存储和操作一组同类型的指针</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5" name="New shape"/>
          <p:cNvSpPr/>
          <p:nvPr/>
        </p:nvSpPr>
        <p:spPr>
          <a:xfrm>
            <a:off x="4295800" y="2218406"/>
            <a:ext cx="2744215" cy="2448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指针数组的声明与初始化</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在C语言中，我们可以通过指定数组的元素类型为</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来声明一个指针数组，并通过赋值操作进行初始化</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6" name="New shape"/>
          <p:cNvSpPr/>
          <p:nvPr/>
        </p:nvSpPr>
        <p:spPr>
          <a:xfrm>
            <a:off x="7752184" y="2198383"/>
            <a:ext cx="2744216" cy="2488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多级指针的使用案例</a:t>
            </a:r>
            <a:br>
              <a:rPr kumimoji="0" sz="1800" b="0" i="0" u="none" strike="noStrike" kern="1200" cap="none" spc="0" normalizeH="0" baseline="0" noProof="0" dirty="0">
                <a:ln>
                  <a:noFill/>
                </a:ln>
                <a:solidFill>
                  <a:schemeClr val="tx1"/>
                </a:solidFill>
                <a:effectLst/>
                <a:uLnTx/>
                <a:uFillTx/>
                <a:latin typeface="微软雅黑"/>
                <a:ea typeface="+mn-ea"/>
                <a:cs typeface="+mn-cs"/>
              </a:rPr>
            </a:br>
            <a:endParaRPr kumimoji="0" sz="1800" b="0" i="0" u="none" strike="noStrike" kern="1200" cap="none" spc="0" normalizeH="0" baseline="0" noProof="0" dirty="0">
              <a:ln>
                <a:noFill/>
              </a:ln>
              <a:solidFill>
                <a:schemeClr val="tx1"/>
              </a:solidFill>
              <a:effectLs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多级指针是指向指针的指针，常用于处理复杂的数据结构，如树、图等，通过多级指针可以更方便地访问和修改数据</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3000" b="1" i="0" u="none" strike="noStrike" kern="1200" cap="none" spc="0" normalizeH="0" baseline="0" noProof="0">
                <a:ln>
                  <a:noFill/>
                </a:ln>
                <a:solidFill>
                  <a:srgbClr val="FFFFFF"/>
                </a:solidFill>
                <a:effectLst/>
                <a:highlight>
                  <a:srgbClr val="FFFFFF">
                    <a:alpha val="0"/>
                  </a:srgbClr>
                </a:highlight>
                <a:uLnTx/>
                <a:uFillTx/>
                <a:latin typeface="微软雅黑"/>
                <a:ea typeface="+mn-ea"/>
                <a:cs typeface="+mn-cs"/>
              </a:rPr>
              <a:t>多级指针的基本概念</a:t>
            </a:r>
          </a:p>
        </p:txBody>
      </p:sp>
      <p:sp>
        <p:nvSpPr>
          <p:cNvPr id="4" name="New shape"/>
          <p:cNvSpPr/>
          <p:nvPr/>
        </p:nvSpPr>
        <p:spPr>
          <a:xfrm>
            <a:off x="6458401" y="1555200"/>
            <a:ext cx="4545078"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多级指针的定义</a:t>
            </a:r>
            <a:endParaRPr kumimoji="0"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sz="1575" dirty="0" err="1">
                <a:solidFill>
                  <a:schemeClr val="tx1"/>
                </a:solidFill>
                <a:highlight>
                  <a:srgbClr val="FFFFFF">
                    <a:alpha val="0"/>
                  </a:srgbClr>
                </a:highlight>
                <a:latin typeface="微软雅黑"/>
              </a:rPr>
              <a:t>多级指针是C语言中的一种特殊类型的指针，它指向的是一个指针变量，而这个指针变量又可以指向其他数据类型</a:t>
            </a:r>
            <a:r>
              <a:rPr sz="1575" dirty="0">
                <a:solidFill>
                  <a:schemeClr val="tx1"/>
                </a:solidFill>
                <a:highlight>
                  <a:srgbClr val="FFFFFF">
                    <a:alpha val="0"/>
                  </a:srgbClr>
                </a:highlight>
                <a:latin typeface="微软雅黑"/>
              </a:rPr>
              <a:t>。</a:t>
            </a:r>
          </a:p>
        </p:txBody>
      </p:sp>
      <p:sp>
        <p:nvSpPr>
          <p:cNvPr id="5" name="New shape"/>
          <p:cNvSpPr/>
          <p:nvPr/>
        </p:nvSpPr>
        <p:spPr>
          <a:xfrm>
            <a:off x="981860" y="2390401"/>
            <a:ext cx="4545077"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多级指针的声明和初始化</a:t>
            </a:r>
            <a:endParaRPr kumimoji="0"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在C语言中，声明和初始化多级指针需要使用星号</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操作符，并且需要指定指针的类型，例如int</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 **</a:t>
            </a: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p表示一个指向整型指针的二级指针</a:t>
            </a:r>
            <a:r>
              <a:rPr kumimoji="0" sz="1575" b="0"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rPr>
              <a:t>。</a:t>
            </a:r>
          </a:p>
        </p:txBody>
      </p:sp>
      <p:sp>
        <p:nvSpPr>
          <p:cNvPr id="6" name="New shape"/>
          <p:cNvSpPr/>
          <p:nvPr/>
        </p:nvSpPr>
        <p:spPr>
          <a:xfrm>
            <a:off x="6458401" y="3365807"/>
            <a:ext cx="4554174" cy="149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多级指针的使用</a:t>
            </a:r>
            <a:endParaRPr kumimoji="0" sz="2100" b="1" i="0" u="none" strike="noStrike" kern="1200" cap="none" spc="0" normalizeH="0" baseline="0" noProof="0" dirty="0">
              <a:ln>
                <a:noFill/>
              </a:ln>
              <a:solidFill>
                <a:schemeClr val="tx1"/>
              </a:solidFill>
              <a:effectLst/>
              <a:highlight>
                <a:srgbClr val="FFFFFF">
                  <a:alpha val="0"/>
                </a:srgbClr>
              </a:highlight>
              <a:uLnTx/>
              <a:uFillTx/>
              <a:latin typeface="微软雅黑"/>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sz="1575" b="0" i="0" u="none" strike="noStrike" kern="1200" cap="none" spc="0" normalizeH="0" baseline="0" noProof="0" dirty="0" err="1">
                <a:ln>
                  <a:noFill/>
                </a:ln>
                <a:solidFill>
                  <a:schemeClr val="tx1"/>
                </a:solidFill>
                <a:effectLst/>
                <a:highlight>
                  <a:srgbClr val="FFFFFF">
                    <a:alpha val="0"/>
                  </a:srgbClr>
                </a:highlight>
                <a:uLnTx/>
                <a:uFillTx/>
                <a:latin typeface="微软雅黑"/>
                <a:ea typeface="+mn-ea"/>
                <a:cs typeface="+mn-cs"/>
              </a:rPr>
              <a:t>多级指针在C语言中常用于实现复杂的数据结构，如链表、树等，通过多级指针的操作，可以方便地访问和修改这些数据结构中的元素</a:t>
            </a:r>
            <a:r>
              <a:rPr kumimoji="0" sz="1575" b="0" i="0" u="none" strike="noStrike" kern="1200" cap="none" spc="0" normalizeH="0" baseline="0" noProof="0" dirty="0">
                <a:ln>
                  <a:noFill/>
                </a:ln>
                <a:solidFill>
                  <a:srgbClr val="FFFFFF"/>
                </a:solidFill>
                <a:effectLst/>
                <a:highlight>
                  <a:srgbClr val="FFFFFF">
                    <a:alpha val="0"/>
                  </a:srgbClr>
                </a:highlight>
                <a:uLnTx/>
                <a:uFillTx/>
                <a:latin typeface="微软雅黑"/>
                <a:ea typeface="+mn-ea"/>
                <a:cs typeface="+mn-cs"/>
              </a:rPr>
              <a:t>。</a:t>
            </a:r>
          </a:p>
        </p:txBody>
      </p:sp>
      <p:sp>
        <p:nvSpPr>
          <p:cNvPr id="7" name="New shape"/>
          <p:cNvSpPr/>
          <p:nvPr/>
        </p:nvSpPr>
        <p:spPr>
          <a:xfrm>
            <a:off x="5965200" y="1926000"/>
            <a:ext cx="39600" cy="4644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New shape"/>
          <p:cNvSpPr/>
          <p:nvPr/>
        </p:nvSpPr>
        <p:spPr>
          <a:xfrm>
            <a:off x="6152400" y="1735740"/>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New shape"/>
          <p:cNvSpPr/>
          <p:nvPr/>
        </p:nvSpPr>
        <p:spPr>
          <a:xfrm>
            <a:off x="5806800" y="1555200"/>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1</a:t>
            </a:r>
          </a:p>
        </p:txBody>
      </p:sp>
      <p:sp>
        <p:nvSpPr>
          <p:cNvPr id="10" name="New shape"/>
          <p:cNvSpPr/>
          <p:nvPr/>
        </p:nvSpPr>
        <p:spPr>
          <a:xfrm>
            <a:off x="5965200" y="2761201"/>
            <a:ext cx="39600" cy="604606"/>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New shape"/>
          <p:cNvSpPr/>
          <p:nvPr/>
        </p:nvSpPr>
        <p:spPr>
          <a:xfrm>
            <a:off x="5515200" y="2570941"/>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New shape"/>
          <p:cNvSpPr/>
          <p:nvPr/>
        </p:nvSpPr>
        <p:spPr>
          <a:xfrm>
            <a:off x="5806800" y="2390401"/>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2</a:t>
            </a:r>
          </a:p>
        </p:txBody>
      </p:sp>
      <p:sp>
        <p:nvSpPr>
          <p:cNvPr id="13" name="New shape"/>
          <p:cNvSpPr/>
          <p:nvPr/>
        </p:nvSpPr>
        <p:spPr>
          <a:xfrm>
            <a:off x="5965200" y="3736607"/>
            <a:ext cx="39600" cy="4572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New shape"/>
          <p:cNvSpPr/>
          <p:nvPr/>
        </p:nvSpPr>
        <p:spPr>
          <a:xfrm>
            <a:off x="6152400" y="3546347"/>
            <a:ext cx="309600" cy="39600"/>
          </a:xfrm>
          <a:prstGeom prst="rect">
            <a:avLst/>
          </a:prstGeom>
          <a:solidFill>
            <a:srgbClr val="00FF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New shape"/>
          <p:cNvSpPr/>
          <p:nvPr/>
        </p:nvSpPr>
        <p:spPr>
          <a:xfrm>
            <a:off x="5806800" y="3365807"/>
            <a:ext cx="360000" cy="370800"/>
          </a:xfrm>
          <a:prstGeom prst="roundRect">
            <a:avLst>
              <a:gd name="adj" fmla="val 8819"/>
            </a:avLst>
          </a:prstGeom>
          <a:solidFill>
            <a:srgbClr val="FE9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a:ea typeface="+mn-ea"/>
                <a:cs typeface="+mn-cs"/>
              </a:rPr>
              <a:t>3</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New shape"/>
          <p:cNvSpPr/>
          <p:nvPr/>
        </p:nvSpPr>
        <p:spPr>
          <a:xfrm>
            <a:off x="191344" y="-111368"/>
            <a:ext cx="11449272" cy="1069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sz="4800" b="1" i="0" u="none" strike="noStrike" kern="1200" cap="none" spc="0" normalizeH="0" baseline="0" noProof="0" dirty="0" err="1">
                <a:ln>
                  <a:noFill/>
                </a:ln>
                <a:solidFill>
                  <a:srgbClr val="FE9471"/>
                </a:solidFill>
                <a:effectLst/>
                <a:highlight>
                  <a:srgbClr val="FFFFFF">
                    <a:alpha val="0"/>
                  </a:srgbClr>
                </a:highlight>
                <a:uLnTx/>
                <a:uFillTx/>
                <a:latin typeface="微软雅黑"/>
                <a:ea typeface="+mn-ea"/>
                <a:cs typeface="+mn-cs"/>
              </a:rPr>
              <a:t>多级指针的基本概念</a:t>
            </a:r>
            <a:r>
              <a:rPr lang="zh-CN" altLang="en-US" sz="4800" b="1" dirty="0">
                <a:solidFill>
                  <a:srgbClr val="FE9471"/>
                </a:solidFill>
                <a:highlight>
                  <a:srgbClr val="FFFFFF">
                    <a:alpha val="0"/>
                  </a:srgbClr>
                </a:highlight>
                <a:latin typeface="微软雅黑" panose="020B0503020204020204" pitchFamily="34" charset="-122"/>
                <a:ea typeface="微软雅黑" panose="020B0503020204020204" pitchFamily="34" charset="-122"/>
              </a:rPr>
              <a:t>及声明形式</a:t>
            </a:r>
            <a:endParaRPr sz="4800" b="1" dirty="0">
              <a:solidFill>
                <a:srgbClr val="FE9471"/>
              </a:solidFill>
              <a:highlight>
                <a:srgbClr val="FFFFFF">
                  <a:alpha val="0"/>
                </a:srgbClr>
              </a:highlight>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A631199-00F7-A60E-EF91-1BA97E69BC77}"/>
              </a:ext>
            </a:extLst>
          </p:cNvPr>
          <p:cNvPicPr>
            <a:picLocks noChangeAspect="1"/>
          </p:cNvPicPr>
          <p:nvPr/>
        </p:nvPicPr>
        <p:blipFill rotWithShape="1">
          <a:blip r:embed="rId2">
            <a:extLst>
              <a:ext uri="{28A0092B-C50C-407E-A947-70E740481C1C}">
                <a14:useLocalDpi xmlns:a14="http://schemas.microsoft.com/office/drawing/2010/main" val="0"/>
              </a:ext>
            </a:extLst>
          </a:blip>
          <a:srcRect t="12201" b="9400"/>
          <a:stretch/>
        </p:blipFill>
        <p:spPr>
          <a:xfrm>
            <a:off x="119336" y="908720"/>
            <a:ext cx="11377264" cy="5927616"/>
          </a:xfrm>
          <a:prstGeom prst="rect">
            <a:avLst/>
          </a:prstGeom>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3D9AD8C-4145-1462-F8A6-87457068A707}"/>
              </a:ext>
            </a:extLst>
          </p:cNvPr>
          <p:cNvPicPr>
            <a:picLocks noChangeAspect="1"/>
          </p:cNvPicPr>
          <p:nvPr/>
        </p:nvPicPr>
        <p:blipFill rotWithShape="1">
          <a:blip r:embed="rId2">
            <a:extLst>
              <a:ext uri="{28A0092B-C50C-407E-A947-70E740481C1C}">
                <a14:useLocalDpi xmlns:a14="http://schemas.microsoft.com/office/drawing/2010/main" val="0"/>
              </a:ext>
            </a:extLst>
          </a:blip>
          <a:srcRect t="12200" b="6601"/>
          <a:stretch/>
        </p:blipFill>
        <p:spPr>
          <a:xfrm>
            <a:off x="551384" y="116631"/>
            <a:ext cx="11089232" cy="6753249"/>
          </a:xfrm>
          <a:prstGeom prst="rect">
            <a:avLst/>
          </a:prstGeom>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4698DE-2DA3-133C-14BB-E0716E9A111B}"/>
              </a:ext>
            </a:extLst>
          </p:cNvPr>
          <p:cNvSpPr>
            <a:spLocks noGrp="1"/>
          </p:cNvSpPr>
          <p:nvPr>
            <p:ph type="ctrTitle"/>
          </p:nvPr>
        </p:nvSpPr>
        <p:spPr>
          <a:xfrm>
            <a:off x="1583871" y="2020422"/>
            <a:ext cx="9024257" cy="1470025"/>
          </a:xfrm>
        </p:spPr>
        <p:txBody>
          <a:bodyPr>
            <a:normAutofit/>
          </a:bodyPr>
          <a:lstStyle/>
          <a:p>
            <a:r>
              <a:rPr lang="zh-CN" altLang="en-US" sz="4800" dirty="0"/>
              <a:t>专题十   </a:t>
            </a:r>
            <a:r>
              <a:rPr lang="en-US" altLang="zh-CN" sz="4800" dirty="0"/>
              <a:t>C</a:t>
            </a:r>
            <a:r>
              <a:rPr lang="zh-CN" altLang="en-US" sz="4800" dirty="0"/>
              <a:t>语言函数知识点总结</a:t>
            </a:r>
          </a:p>
        </p:txBody>
      </p:sp>
    </p:spTree>
    <p:extLst>
      <p:ext uri="{BB962C8B-B14F-4D97-AF65-F5344CB8AC3E}">
        <p14:creationId xmlns:p14="http://schemas.microsoft.com/office/powerpoint/2010/main" val="1582253461"/>
      </p:ext>
    </p:extLst>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5CCD9-3E60-851C-B0EC-A15268ADB3EE}"/>
              </a:ext>
            </a:extLst>
          </p:cNvPr>
          <p:cNvSpPr>
            <a:spLocks noGrp="1"/>
          </p:cNvSpPr>
          <p:nvPr>
            <p:ph type="title"/>
          </p:nvPr>
        </p:nvSpPr>
        <p:spPr>
          <a:xfrm>
            <a:off x="1981200" y="395323"/>
            <a:ext cx="8229600" cy="1143000"/>
          </a:xfrm>
        </p:spPr>
        <p:txBody>
          <a:bodyPr/>
          <a:lstStyle/>
          <a:p>
            <a:r>
              <a:rPr lang="zh-CN" altLang="en-US" dirty="0"/>
              <a:t>目录：</a:t>
            </a:r>
          </a:p>
        </p:txBody>
      </p:sp>
      <p:sp>
        <p:nvSpPr>
          <p:cNvPr id="3" name="内容占位符 2">
            <a:extLst>
              <a:ext uri="{FF2B5EF4-FFF2-40B4-BE49-F238E27FC236}">
                <a16:creationId xmlns:a16="http://schemas.microsoft.com/office/drawing/2014/main" id="{CFAA63DB-FFBF-73E1-64DA-B1978B640FE7}"/>
              </a:ext>
            </a:extLst>
          </p:cNvPr>
          <p:cNvSpPr>
            <a:spLocks noGrp="1"/>
          </p:cNvSpPr>
          <p:nvPr>
            <p:ph idx="1"/>
          </p:nvPr>
        </p:nvSpPr>
        <p:spPr>
          <a:xfrm>
            <a:off x="1981200" y="1717078"/>
            <a:ext cx="8229600" cy="4525963"/>
          </a:xfrm>
        </p:spPr>
        <p:txBody>
          <a:bodyPr/>
          <a:lstStyle/>
          <a:p>
            <a:r>
              <a:rPr lang="en-US" altLang="zh-CN" dirty="0"/>
              <a:t>8.1 </a:t>
            </a:r>
            <a:r>
              <a:rPr lang="zh-CN" altLang="en-US" dirty="0"/>
              <a:t>函数的定义与声明</a:t>
            </a:r>
            <a:endParaRPr lang="en-US" altLang="zh-CN" dirty="0"/>
          </a:p>
          <a:p>
            <a:r>
              <a:rPr lang="en-US" altLang="zh-CN" dirty="0"/>
              <a:t>8.2 </a:t>
            </a:r>
            <a:r>
              <a:rPr lang="zh-CN" altLang="en-US" dirty="0"/>
              <a:t>函数的调用</a:t>
            </a:r>
            <a:endParaRPr lang="en-US" altLang="zh-CN" dirty="0"/>
          </a:p>
          <a:p>
            <a:r>
              <a:rPr lang="en-US" altLang="zh-CN" dirty="0"/>
              <a:t>8.3</a:t>
            </a:r>
            <a:r>
              <a:rPr lang="zh-CN" altLang="en-US" dirty="0"/>
              <a:t>内部函数与外部函数</a:t>
            </a:r>
            <a:endParaRPr lang="en-US" altLang="zh-CN" dirty="0"/>
          </a:p>
          <a:p>
            <a:r>
              <a:rPr lang="en-US" altLang="zh-CN" dirty="0"/>
              <a:t>8.4</a:t>
            </a:r>
            <a:r>
              <a:rPr lang="zh-CN" altLang="en-US" dirty="0"/>
              <a:t>预处理命令</a:t>
            </a:r>
            <a:endParaRPr lang="en-US" altLang="zh-CN" dirty="0"/>
          </a:p>
          <a:p>
            <a:r>
              <a:rPr lang="zh-CN" altLang="en-US" dirty="0"/>
              <a:t>习题总结</a:t>
            </a:r>
          </a:p>
        </p:txBody>
      </p:sp>
    </p:spTree>
    <p:extLst>
      <p:ext uri="{BB962C8B-B14F-4D97-AF65-F5344CB8AC3E}">
        <p14:creationId xmlns:p14="http://schemas.microsoft.com/office/powerpoint/2010/main" val="69238823"/>
      </p:ext>
    </p:extLst>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8C2647-F4E4-1E48-10AA-5C7E317BB0E3}"/>
              </a:ext>
            </a:extLst>
          </p:cNvPr>
          <p:cNvSpPr>
            <a:spLocks noGrp="1"/>
          </p:cNvSpPr>
          <p:nvPr>
            <p:ph type="title"/>
          </p:nvPr>
        </p:nvSpPr>
        <p:spPr/>
        <p:txBody>
          <a:bodyPr>
            <a:normAutofit/>
          </a:bodyPr>
          <a:lstStyle/>
          <a:p>
            <a:r>
              <a:rPr lang="en-US" altLang="zh-CN" sz="3200" dirty="0">
                <a:latin typeface="+mn-ea"/>
                <a:ea typeface="+mn-ea"/>
              </a:rPr>
              <a:t>8.1</a:t>
            </a:r>
            <a:r>
              <a:rPr lang="zh-CN" altLang="en-US" sz="3200" dirty="0">
                <a:latin typeface="+mn-ea"/>
                <a:ea typeface="+mn-ea"/>
              </a:rPr>
              <a:t> 函数的定义与声明</a:t>
            </a:r>
          </a:p>
        </p:txBody>
      </p:sp>
      <p:sp>
        <p:nvSpPr>
          <p:cNvPr id="3" name="内容占位符 2">
            <a:extLst>
              <a:ext uri="{FF2B5EF4-FFF2-40B4-BE49-F238E27FC236}">
                <a16:creationId xmlns:a16="http://schemas.microsoft.com/office/drawing/2014/main" id="{0CF51BED-3478-9F0D-92B6-6F82B27B6C53}"/>
              </a:ext>
            </a:extLst>
          </p:cNvPr>
          <p:cNvSpPr>
            <a:spLocks noGrp="1"/>
          </p:cNvSpPr>
          <p:nvPr>
            <p:ph idx="1"/>
          </p:nvPr>
        </p:nvSpPr>
        <p:spPr>
          <a:xfrm>
            <a:off x="838200" y="1825625"/>
            <a:ext cx="10515600" cy="4892945"/>
          </a:xfrm>
        </p:spPr>
        <p:txBody>
          <a:bodyPr>
            <a:normAutofit lnSpcReduction="10000"/>
          </a:bodyPr>
          <a:lstStyle/>
          <a:p>
            <a:r>
              <a:rPr lang="en-US" altLang="zh-CN" sz="2400" dirty="0">
                <a:latin typeface="+mn-ea"/>
              </a:rPr>
              <a:t>1.1 </a:t>
            </a:r>
            <a:r>
              <a:rPr lang="zh-CN" altLang="en-US" sz="2400" dirty="0">
                <a:latin typeface="+mn-ea"/>
              </a:rPr>
              <a:t>函数的分类</a:t>
            </a:r>
            <a:endParaRPr lang="en-US" altLang="zh-CN" sz="2400" dirty="0">
              <a:latin typeface="+mn-ea"/>
            </a:endParaRPr>
          </a:p>
          <a:p>
            <a:pPr marL="0" indent="0">
              <a:buNone/>
            </a:pPr>
            <a:r>
              <a:rPr lang="en-US" altLang="zh-CN" sz="2600" dirty="0">
                <a:latin typeface="+mn-ea"/>
              </a:rPr>
              <a:t>1.</a:t>
            </a:r>
            <a:r>
              <a:rPr lang="zh-CN" altLang="en-US" sz="2600" dirty="0">
                <a:latin typeface="+mn-ea"/>
              </a:rPr>
              <a:t>从用户使用的角度看</a:t>
            </a:r>
          </a:p>
          <a:p>
            <a:pPr marL="0" indent="0">
              <a:buNone/>
            </a:pPr>
            <a:r>
              <a:rPr lang="zh-CN" altLang="en-US" sz="2200" dirty="0">
                <a:latin typeface="+mn-ea"/>
              </a:rPr>
              <a:t>（</a:t>
            </a:r>
            <a:r>
              <a:rPr lang="en-US" altLang="zh-CN" sz="2200" dirty="0">
                <a:latin typeface="+mn-ea"/>
              </a:rPr>
              <a:t>1</a:t>
            </a:r>
            <a:r>
              <a:rPr lang="zh-CN" altLang="en-US" sz="2200" dirty="0">
                <a:latin typeface="+mn-ea"/>
              </a:rPr>
              <a:t>）标准函数，即库函数：由</a:t>
            </a:r>
            <a:r>
              <a:rPr lang="en-US" altLang="zh-CN" sz="2200" dirty="0">
                <a:latin typeface="+mn-ea"/>
              </a:rPr>
              <a:t>C</a:t>
            </a:r>
            <a:r>
              <a:rPr lang="zh-CN" altLang="en-US" sz="2200" dirty="0">
                <a:latin typeface="+mn-ea"/>
              </a:rPr>
              <a:t>语言标准库提供，用户无需定义</a:t>
            </a:r>
            <a:r>
              <a:rPr lang="en-US" altLang="zh-CN" sz="2200" dirty="0">
                <a:latin typeface="+mn-ea"/>
              </a:rPr>
              <a:t>·</a:t>
            </a:r>
            <a:r>
              <a:rPr lang="zh-CN" altLang="en-US" sz="2200" dirty="0">
                <a:latin typeface="+mn-ea"/>
              </a:rPr>
              <a:t>，可以直接使用它们。只需在程序前包含该函数原型的头文件即可。如</a:t>
            </a:r>
            <a:r>
              <a:rPr lang="en-US" altLang="zh-CN" sz="2200" dirty="0" err="1">
                <a:latin typeface="+mn-ea"/>
              </a:rPr>
              <a:t>printf</a:t>
            </a:r>
            <a:r>
              <a:rPr lang="zh-CN" altLang="en-US" sz="2200" dirty="0">
                <a:latin typeface="+mn-ea"/>
              </a:rPr>
              <a:t>（），</a:t>
            </a:r>
            <a:r>
              <a:rPr lang="en-US" altLang="zh-CN" sz="2200" dirty="0" err="1">
                <a:latin typeface="+mn-ea"/>
              </a:rPr>
              <a:t>scanf</a:t>
            </a:r>
            <a:r>
              <a:rPr lang="zh-CN" altLang="en-US" sz="2200" dirty="0">
                <a:latin typeface="+mn-ea"/>
              </a:rPr>
              <a:t>（）等函数均属此类。</a:t>
            </a:r>
          </a:p>
          <a:p>
            <a:pPr marL="0" indent="0">
              <a:buNone/>
            </a:pPr>
            <a:r>
              <a:rPr lang="zh-CN" altLang="en-US" sz="2200" dirty="0">
                <a:latin typeface="+mn-ea"/>
              </a:rPr>
              <a:t>（</a:t>
            </a:r>
            <a:r>
              <a:rPr lang="en-US" altLang="zh-CN" sz="2200" dirty="0">
                <a:latin typeface="+mn-ea"/>
              </a:rPr>
              <a:t>2</a:t>
            </a:r>
            <a:r>
              <a:rPr lang="zh-CN" altLang="en-US" sz="2200" dirty="0">
                <a:latin typeface="+mn-ea"/>
              </a:rPr>
              <a:t>）用户自定义函数：由用户自己定义，用以解决用户的专门需要。</a:t>
            </a:r>
            <a:endParaRPr lang="en-US" altLang="zh-CN" sz="2200" dirty="0">
              <a:latin typeface="+mn-ea"/>
            </a:endParaRPr>
          </a:p>
          <a:p>
            <a:pPr marL="0" indent="0">
              <a:buNone/>
            </a:pPr>
            <a:endParaRPr lang="en-US" altLang="zh-CN" sz="2000" dirty="0">
              <a:latin typeface="+mn-ea"/>
            </a:endParaRPr>
          </a:p>
          <a:p>
            <a:pPr marL="0" indent="0">
              <a:buNone/>
            </a:pPr>
            <a:r>
              <a:rPr lang="en-US" altLang="zh-CN" sz="2400" dirty="0">
                <a:latin typeface="+mn-ea"/>
              </a:rPr>
              <a:t>2.</a:t>
            </a:r>
            <a:r>
              <a:rPr lang="zh-CN" altLang="en-US" sz="2400" dirty="0">
                <a:latin typeface="+mn-ea"/>
              </a:rPr>
              <a:t>从函数形式的角度看</a:t>
            </a:r>
          </a:p>
          <a:p>
            <a:pPr marL="0" indent="0">
              <a:buNone/>
            </a:pPr>
            <a:r>
              <a:rPr lang="zh-CN" altLang="en-US" sz="2200" dirty="0">
                <a:latin typeface="+mn-ea"/>
              </a:rPr>
              <a:t>（</a:t>
            </a:r>
            <a:r>
              <a:rPr lang="en-US" altLang="zh-CN" sz="2200" dirty="0">
                <a:latin typeface="+mn-ea"/>
              </a:rPr>
              <a:t>1</a:t>
            </a:r>
            <a:r>
              <a:rPr lang="zh-CN" altLang="en-US" sz="2200" dirty="0">
                <a:latin typeface="+mn-ea"/>
              </a:rPr>
              <a:t>）无参函数：函数定义及函数调用中均不带参数。主调函数和被调函数之间不进行参数传递。此类函数通常用来完成一组指定的功能，可以返回或不返回函数值。</a:t>
            </a:r>
          </a:p>
          <a:p>
            <a:pPr marL="0" indent="0">
              <a:buNone/>
            </a:pPr>
            <a:r>
              <a:rPr lang="zh-CN" altLang="en-US" sz="2200" dirty="0">
                <a:latin typeface="+mn-ea"/>
              </a:rPr>
              <a:t>（</a:t>
            </a:r>
            <a:r>
              <a:rPr lang="en-US" altLang="zh-CN" sz="2200" dirty="0">
                <a:latin typeface="+mn-ea"/>
              </a:rPr>
              <a:t>2</a:t>
            </a:r>
            <a:r>
              <a:rPr lang="zh-CN" altLang="en-US" sz="2200" dirty="0">
                <a:latin typeface="+mn-ea"/>
              </a:rPr>
              <a:t>）有参函数：也称带参函数。在调用函数时，主调函数与被调函数之间有数据传递。即主调函数可以将数据传给被调函数使用，被调函数中的数据也可以带回来供主调函数使用。</a:t>
            </a:r>
            <a:endParaRPr lang="en-US" altLang="zh-CN" sz="2200" dirty="0">
              <a:latin typeface="+mn-ea"/>
            </a:endParaRPr>
          </a:p>
          <a:p>
            <a:pPr marL="0" indent="0">
              <a:buNone/>
            </a:pPr>
            <a:endParaRPr lang="zh-CN" altLang="en-US" dirty="0"/>
          </a:p>
        </p:txBody>
      </p:sp>
    </p:spTree>
    <p:extLst>
      <p:ext uri="{BB962C8B-B14F-4D97-AF65-F5344CB8AC3E}">
        <p14:creationId xmlns:p14="http://schemas.microsoft.com/office/powerpoint/2010/main" val="1696892141"/>
      </p:ext>
    </p:extLst>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EC15EE-13CA-8CD0-6D18-DA2C31D31447}"/>
              </a:ext>
            </a:extLst>
          </p:cNvPr>
          <p:cNvSpPr>
            <a:spLocks noGrp="1"/>
          </p:cNvSpPr>
          <p:nvPr>
            <p:ph type="title"/>
          </p:nvPr>
        </p:nvSpPr>
        <p:spPr>
          <a:xfrm>
            <a:off x="1981200" y="256590"/>
            <a:ext cx="8229600" cy="1143000"/>
          </a:xfrm>
        </p:spPr>
        <p:txBody>
          <a:bodyPr>
            <a:normAutofit/>
          </a:bodyPr>
          <a:lstStyle/>
          <a:p>
            <a:r>
              <a:rPr lang="en-US" altLang="zh-CN" sz="3200" dirty="0">
                <a:latin typeface="+mn-ea"/>
                <a:ea typeface="+mn-ea"/>
              </a:rPr>
              <a:t>8.1 </a:t>
            </a:r>
            <a:r>
              <a:rPr lang="zh-CN" altLang="en-US" sz="3200" dirty="0">
                <a:latin typeface="+mn-ea"/>
                <a:ea typeface="+mn-ea"/>
              </a:rPr>
              <a:t>函数的定义与声明</a:t>
            </a:r>
          </a:p>
        </p:txBody>
      </p:sp>
      <p:sp>
        <p:nvSpPr>
          <p:cNvPr id="3" name="内容占位符 2">
            <a:extLst>
              <a:ext uri="{FF2B5EF4-FFF2-40B4-BE49-F238E27FC236}">
                <a16:creationId xmlns:a16="http://schemas.microsoft.com/office/drawing/2014/main" id="{D286CDB0-2E39-C21F-A8EE-6C0D70E0592A}"/>
              </a:ext>
            </a:extLst>
          </p:cNvPr>
          <p:cNvSpPr>
            <a:spLocks noGrp="1"/>
          </p:cNvSpPr>
          <p:nvPr>
            <p:ph idx="1"/>
          </p:nvPr>
        </p:nvSpPr>
        <p:spPr>
          <a:xfrm>
            <a:off x="1981200" y="1510822"/>
            <a:ext cx="8229600" cy="4525963"/>
          </a:xfrm>
        </p:spPr>
        <p:txBody>
          <a:bodyPr/>
          <a:lstStyle/>
          <a:p>
            <a:r>
              <a:rPr lang="en-US" altLang="zh-CN" dirty="0">
                <a:latin typeface="+mn-ea"/>
              </a:rPr>
              <a:t>1.2 </a:t>
            </a:r>
            <a:r>
              <a:rPr lang="zh-CN" altLang="en-US" dirty="0">
                <a:latin typeface="+mn-ea"/>
              </a:rPr>
              <a:t>函数的定义</a:t>
            </a:r>
            <a:endParaRPr lang="en-US" altLang="zh-CN" dirty="0">
              <a:latin typeface="+mn-ea"/>
            </a:endParaRPr>
          </a:p>
          <a:p>
            <a:pPr marL="0" indent="0">
              <a:buNone/>
            </a:pPr>
            <a:endParaRPr lang="en-US" altLang="zh-CN" dirty="0">
              <a:latin typeface="+mn-ea"/>
            </a:endParaRPr>
          </a:p>
          <a:p>
            <a:pPr marL="0" indent="0">
              <a:buNone/>
            </a:pPr>
            <a:r>
              <a:rPr lang="en-US" altLang="zh-CN" sz="2400" dirty="0">
                <a:latin typeface="+mn-ea"/>
              </a:rPr>
              <a:t>1.</a:t>
            </a:r>
            <a:r>
              <a:rPr lang="zh-CN" altLang="en-US" sz="2400" dirty="0">
                <a:latin typeface="+mn-ea"/>
              </a:rPr>
              <a:t>无参函数的定义</a:t>
            </a:r>
          </a:p>
          <a:p>
            <a:pPr marL="0" indent="0">
              <a:buNone/>
            </a:pPr>
            <a:r>
              <a:rPr lang="zh-CN" altLang="en-US" sz="2000" dirty="0">
                <a:latin typeface="+mn-ea"/>
              </a:rPr>
              <a:t>定义形式：类型标识符 函数名 （）   </a:t>
            </a:r>
            <a:r>
              <a:rPr lang="en-US" altLang="zh-CN" sz="2000" dirty="0">
                <a:latin typeface="+mn-ea"/>
              </a:rPr>
              <a:t>//</a:t>
            </a:r>
            <a:r>
              <a:rPr lang="zh-CN" altLang="en-US" sz="2000" dirty="0">
                <a:latin typeface="+mn-ea"/>
              </a:rPr>
              <a:t>函数首部</a:t>
            </a:r>
          </a:p>
          <a:p>
            <a:pPr marL="0" indent="0">
              <a:buNone/>
            </a:pPr>
            <a:r>
              <a:rPr lang="en-US" altLang="zh-CN" sz="2000" dirty="0">
                <a:latin typeface="+mn-ea"/>
              </a:rPr>
              <a:t>{</a:t>
            </a:r>
          </a:p>
          <a:p>
            <a:pPr marL="0" indent="0">
              <a:buNone/>
            </a:pPr>
            <a:r>
              <a:rPr lang="en-US" altLang="zh-CN" sz="2000" dirty="0">
                <a:latin typeface="+mn-ea"/>
              </a:rPr>
              <a:t>……</a:t>
            </a:r>
          </a:p>
          <a:p>
            <a:pPr marL="0" indent="0">
              <a:buNone/>
            </a:pPr>
            <a:r>
              <a:rPr lang="en-US" altLang="zh-CN" sz="2000" dirty="0">
                <a:latin typeface="+mn-ea"/>
              </a:rPr>
              <a:t>}                                                    //</a:t>
            </a:r>
            <a:r>
              <a:rPr lang="zh-CN" altLang="en-US" sz="2000" dirty="0">
                <a:latin typeface="+mn-ea"/>
              </a:rPr>
              <a:t>函数体</a:t>
            </a:r>
          </a:p>
        </p:txBody>
      </p:sp>
    </p:spTree>
    <p:extLst>
      <p:ext uri="{BB962C8B-B14F-4D97-AF65-F5344CB8AC3E}">
        <p14:creationId xmlns:p14="http://schemas.microsoft.com/office/powerpoint/2010/main" val="1075675843"/>
      </p:ext>
    </p:extLst>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4AC978C-9404-9CA3-7566-D74E498350A9}"/>
              </a:ext>
            </a:extLst>
          </p:cNvPr>
          <p:cNvSpPr>
            <a:spLocks noGrp="1"/>
          </p:cNvSpPr>
          <p:nvPr>
            <p:ph idx="1"/>
          </p:nvPr>
        </p:nvSpPr>
        <p:spPr>
          <a:xfrm>
            <a:off x="838200" y="1003467"/>
            <a:ext cx="10515600" cy="5173496"/>
          </a:xfrm>
        </p:spPr>
        <p:txBody>
          <a:bodyPr>
            <a:normAutofit fontScale="92500" lnSpcReduction="10000"/>
          </a:bodyPr>
          <a:lstStyle/>
          <a:p>
            <a:pPr marL="0" indent="0">
              <a:buNone/>
            </a:pPr>
            <a:r>
              <a:rPr lang="en-US" altLang="zh-CN" sz="2600" dirty="0">
                <a:latin typeface="+mn-ea"/>
              </a:rPr>
              <a:t>1.</a:t>
            </a:r>
            <a:r>
              <a:rPr lang="zh-CN" altLang="en-US" sz="2600" dirty="0">
                <a:latin typeface="+mn-ea"/>
              </a:rPr>
              <a:t>无参函数的定义</a:t>
            </a:r>
            <a:endParaRPr lang="en-US" altLang="zh-CN" sz="2600" dirty="0">
              <a:latin typeface="+mn-ea"/>
            </a:endParaRPr>
          </a:p>
          <a:p>
            <a:pPr marL="0" indent="0">
              <a:buNone/>
            </a:pPr>
            <a:r>
              <a:rPr lang="zh-CN" altLang="en-US" sz="2000" dirty="0">
                <a:latin typeface="+mn-ea"/>
              </a:rPr>
              <a:t>（</a:t>
            </a:r>
            <a:r>
              <a:rPr lang="en-US" altLang="zh-CN" sz="2000" dirty="0">
                <a:latin typeface="+mn-ea"/>
              </a:rPr>
              <a:t>1</a:t>
            </a:r>
            <a:r>
              <a:rPr lang="zh-CN" altLang="en-US" sz="2000" dirty="0">
                <a:latin typeface="+mn-ea"/>
              </a:rPr>
              <a:t>）类型标识符指明本函数的类型，也就是函数返回值的数据类型。</a:t>
            </a:r>
            <a:r>
              <a:rPr lang="en-US" altLang="zh-CN" sz="2000" dirty="0">
                <a:latin typeface="+mn-ea"/>
              </a:rPr>
              <a:t>int</a:t>
            </a:r>
            <a:r>
              <a:rPr lang="zh-CN" altLang="en-US" sz="2000" dirty="0">
                <a:latin typeface="+mn-ea"/>
              </a:rPr>
              <a:t>型函数定义时可以省略类型标识</a:t>
            </a:r>
            <a:r>
              <a:rPr lang="en-US" altLang="zh-CN" sz="2000" dirty="0">
                <a:latin typeface="+mn-ea"/>
              </a:rPr>
              <a:t>int</a:t>
            </a:r>
            <a:r>
              <a:rPr lang="zh-CN" altLang="en-US" sz="2000" dirty="0">
                <a:latin typeface="+mn-ea"/>
              </a:rPr>
              <a:t>，</a:t>
            </a:r>
            <a:r>
              <a:rPr lang="en-US" altLang="zh-CN" sz="2000" dirty="0">
                <a:latin typeface="+mn-ea"/>
              </a:rPr>
              <a:t>int</a:t>
            </a:r>
            <a:r>
              <a:rPr lang="zh-CN" altLang="en-US" sz="2000" dirty="0">
                <a:latin typeface="+mn-ea"/>
              </a:rPr>
              <a:t>是有返回值函数的缺省类型：即若函数无类型标识符，则返回值进行强制转换成</a:t>
            </a:r>
            <a:r>
              <a:rPr lang="en-US" altLang="zh-CN" sz="2000" dirty="0">
                <a:latin typeface="+mn-ea"/>
              </a:rPr>
              <a:t>int</a:t>
            </a:r>
            <a:r>
              <a:rPr lang="zh-CN" altLang="en-US" sz="2000" dirty="0">
                <a:latin typeface="+mn-ea"/>
              </a:rPr>
              <a:t>型。另外，函数也可以无返回值，其类型标识符为</a:t>
            </a:r>
            <a:r>
              <a:rPr lang="en-US" altLang="zh-CN" sz="2000" dirty="0">
                <a:latin typeface="+mn-ea"/>
              </a:rPr>
              <a:t>void</a:t>
            </a:r>
            <a:r>
              <a:rPr lang="zh-CN" altLang="en-US" sz="2000" dirty="0">
                <a:latin typeface="+mn-ea"/>
              </a:rPr>
              <a:t>，又称“空类型函数“，此函数不向主函数返回值，主调函数也禁止使用此函数的返回值。</a:t>
            </a:r>
            <a:endParaRPr lang="en-US" altLang="zh-CN" sz="2000" dirty="0">
              <a:latin typeface="+mn-ea"/>
            </a:endParaRPr>
          </a:p>
          <a:p>
            <a:pPr marL="0" indent="0">
              <a:buNone/>
            </a:pPr>
            <a:r>
              <a:rPr lang="zh-CN" altLang="en-US" sz="2000" dirty="0">
                <a:latin typeface="+mn-ea"/>
              </a:rPr>
              <a:t>（</a:t>
            </a:r>
            <a:r>
              <a:rPr lang="en-US" altLang="zh-CN" sz="2000" dirty="0">
                <a:latin typeface="+mn-ea"/>
              </a:rPr>
              <a:t>2</a:t>
            </a:r>
            <a:r>
              <a:rPr lang="zh-CN" altLang="en-US" sz="2000" dirty="0">
                <a:latin typeface="+mn-ea"/>
              </a:rPr>
              <a:t>）函数名是一个标识符，它是唯一的，两个函数名不能重名。函数名后有一对括号，即使是无参函数，其中无参数，但括号不能省略，这是函数的标志。</a:t>
            </a:r>
            <a:endParaRPr lang="en-US" altLang="zh-CN" sz="2000" dirty="0">
              <a:latin typeface="+mn-ea"/>
            </a:endParaRPr>
          </a:p>
          <a:p>
            <a:pPr marL="0" indent="0">
              <a:buNone/>
            </a:pPr>
            <a:endParaRPr lang="en-US" altLang="zh-CN" sz="2400" dirty="0">
              <a:latin typeface="+mn-ea"/>
            </a:endParaRPr>
          </a:p>
          <a:p>
            <a:pPr marL="0" indent="0">
              <a:buNone/>
            </a:pPr>
            <a:endParaRPr lang="en-US" altLang="zh-CN" sz="2400" dirty="0">
              <a:latin typeface="+mn-ea"/>
            </a:endParaRPr>
          </a:p>
          <a:p>
            <a:pPr marL="0" indent="0">
              <a:buNone/>
            </a:pPr>
            <a:r>
              <a:rPr lang="en-US" altLang="zh-CN" sz="2600" dirty="0">
                <a:latin typeface="+mn-ea"/>
              </a:rPr>
              <a:t>2.</a:t>
            </a:r>
            <a:r>
              <a:rPr lang="zh-CN" altLang="en-US" sz="2600" dirty="0">
                <a:latin typeface="+mn-ea"/>
              </a:rPr>
              <a:t>有参函数的定义</a:t>
            </a:r>
          </a:p>
          <a:p>
            <a:pPr marL="0" indent="0">
              <a:buNone/>
            </a:pPr>
            <a:r>
              <a:rPr lang="zh-CN" altLang="en-US" sz="2000" dirty="0">
                <a:latin typeface="+mn-ea"/>
              </a:rPr>
              <a:t>定义形式：函数类型 函数名 （形参类型说明表）</a:t>
            </a:r>
          </a:p>
          <a:p>
            <a:pPr marL="0" indent="0">
              <a:buNone/>
            </a:pPr>
            <a:r>
              <a:rPr lang="en-US" altLang="zh-CN" sz="2000" dirty="0">
                <a:latin typeface="+mn-ea"/>
              </a:rPr>
              <a:t>{……}</a:t>
            </a:r>
          </a:p>
          <a:p>
            <a:pPr marL="0" indent="0">
              <a:buNone/>
            </a:pPr>
            <a:r>
              <a:rPr lang="zh-CN" altLang="en-US" sz="2000" dirty="0">
                <a:latin typeface="+mn-ea"/>
              </a:rPr>
              <a:t>在形参类型说明表中，给出的参数称为形参，它们可以是各种类型的变量，各参数之间用逗号间隔。</a:t>
            </a:r>
          </a:p>
          <a:p>
            <a:pPr marL="0" indent="0">
              <a:buNone/>
            </a:pPr>
            <a:r>
              <a:rPr lang="zh-CN" altLang="en-US" sz="2000" dirty="0">
                <a:latin typeface="+mn-ea"/>
              </a:rPr>
              <a:t>如 </a:t>
            </a:r>
            <a:r>
              <a:rPr lang="en-US" altLang="zh-CN" sz="2000" dirty="0">
                <a:latin typeface="+mn-ea"/>
              </a:rPr>
              <a:t>double power</a:t>
            </a:r>
            <a:r>
              <a:rPr lang="zh-CN" altLang="en-US" sz="2000" dirty="0">
                <a:latin typeface="+mn-ea"/>
              </a:rPr>
              <a:t>（</a:t>
            </a:r>
            <a:r>
              <a:rPr lang="en-US" altLang="zh-CN" sz="2000" dirty="0">
                <a:latin typeface="+mn-ea"/>
              </a:rPr>
              <a:t>int x</a:t>
            </a:r>
            <a:r>
              <a:rPr lang="zh-CN" altLang="en-US" sz="2000" dirty="0">
                <a:latin typeface="+mn-ea"/>
              </a:rPr>
              <a:t>，</a:t>
            </a:r>
            <a:r>
              <a:rPr lang="en-US" altLang="zh-CN" sz="2000" dirty="0">
                <a:latin typeface="+mn-ea"/>
              </a:rPr>
              <a:t>int n</a:t>
            </a:r>
            <a:r>
              <a:rPr lang="zh-CN" altLang="en-US" sz="2000" dirty="0">
                <a:latin typeface="+mn-ea"/>
              </a:rPr>
              <a:t>）</a:t>
            </a:r>
          </a:p>
        </p:txBody>
      </p:sp>
    </p:spTree>
    <p:extLst>
      <p:ext uri="{BB962C8B-B14F-4D97-AF65-F5344CB8AC3E}">
        <p14:creationId xmlns:p14="http://schemas.microsoft.com/office/powerpoint/2010/main" val="2649820536"/>
      </p:ext>
    </p:extLst>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E37EDE9-9D4B-5A27-A335-653892A2B389}"/>
              </a:ext>
            </a:extLst>
          </p:cNvPr>
          <p:cNvSpPr>
            <a:spLocks noGrp="1"/>
          </p:cNvSpPr>
          <p:nvPr>
            <p:ph idx="1"/>
          </p:nvPr>
        </p:nvSpPr>
        <p:spPr>
          <a:xfrm>
            <a:off x="838200" y="674914"/>
            <a:ext cx="10515599" cy="5502049"/>
          </a:xfrm>
        </p:spPr>
        <p:txBody>
          <a:bodyPr>
            <a:normAutofit/>
          </a:bodyPr>
          <a:lstStyle/>
          <a:p>
            <a:pPr marL="0" indent="0">
              <a:buNone/>
            </a:pPr>
            <a:r>
              <a:rPr lang="en-US" altLang="zh-CN" sz="2600" dirty="0">
                <a:latin typeface="+mn-ea"/>
              </a:rPr>
              <a:t>3.</a:t>
            </a:r>
            <a:r>
              <a:rPr lang="zh-CN" altLang="en-US" sz="2600" dirty="0">
                <a:latin typeface="+mn-ea"/>
              </a:rPr>
              <a:t>函数的公共特点：</a:t>
            </a:r>
            <a:endParaRPr lang="en-US" altLang="zh-CN" sz="2600" dirty="0">
              <a:latin typeface="+mn-ea"/>
            </a:endParaRPr>
          </a:p>
          <a:p>
            <a:pPr marL="0" indent="0">
              <a:buNone/>
            </a:pPr>
            <a:endParaRPr lang="zh-CN" altLang="en-US" sz="2600" dirty="0">
              <a:latin typeface="+mn-ea"/>
            </a:endParaRPr>
          </a:p>
          <a:p>
            <a:pPr marL="0" indent="0">
              <a:buNone/>
            </a:pPr>
            <a:r>
              <a:rPr lang="zh-CN" altLang="en-US" sz="2200" dirty="0">
                <a:latin typeface="+mn-ea"/>
              </a:rPr>
              <a:t>（</a:t>
            </a:r>
            <a:r>
              <a:rPr lang="en-US" altLang="zh-CN" sz="2200" dirty="0">
                <a:latin typeface="+mn-ea"/>
              </a:rPr>
              <a:t>1</a:t>
            </a:r>
            <a:r>
              <a:rPr lang="zh-CN" altLang="en-US" sz="2200" dirty="0">
                <a:latin typeface="+mn-ea"/>
              </a:rPr>
              <a:t>）每个函数都有唯一的名字，用这个名字，程序可以转去执行该函数所包含的语句，这种操作称为调用函数。</a:t>
            </a:r>
          </a:p>
          <a:p>
            <a:pPr marL="0" indent="0">
              <a:buNone/>
            </a:pPr>
            <a:r>
              <a:rPr lang="zh-CN" altLang="en-US" sz="2200" dirty="0">
                <a:latin typeface="+mn-ea"/>
              </a:rPr>
              <a:t>（</a:t>
            </a:r>
            <a:r>
              <a:rPr lang="en-US" altLang="zh-CN" sz="2200" dirty="0">
                <a:latin typeface="+mn-ea"/>
              </a:rPr>
              <a:t>2</a:t>
            </a:r>
            <a:r>
              <a:rPr lang="zh-CN" altLang="en-US" sz="2200" dirty="0">
                <a:latin typeface="+mn-ea"/>
              </a:rPr>
              <a:t>）</a:t>
            </a:r>
            <a:r>
              <a:rPr lang="en-US" altLang="zh-CN" sz="2200" dirty="0">
                <a:latin typeface="+mn-ea"/>
              </a:rPr>
              <a:t>C</a:t>
            </a:r>
            <a:r>
              <a:rPr lang="zh-CN" altLang="en-US" sz="2200" dirty="0">
                <a:latin typeface="+mn-ea"/>
              </a:rPr>
              <a:t>语言中，所有函数的定义都是独立的、封闭的、包括主函数在内。也就是说，在一个函数体内，不能再定义另一个函数，即不能嵌套定义，但允许函数之间互相调用。</a:t>
            </a:r>
          </a:p>
          <a:p>
            <a:pPr marL="0" indent="0">
              <a:buNone/>
            </a:pPr>
            <a:r>
              <a:rPr lang="zh-CN" altLang="en-US" sz="2200" dirty="0">
                <a:latin typeface="+mn-ea"/>
              </a:rPr>
              <a:t>（</a:t>
            </a:r>
            <a:r>
              <a:rPr lang="en-US" altLang="zh-CN" sz="2200" dirty="0">
                <a:latin typeface="+mn-ea"/>
              </a:rPr>
              <a:t>3</a:t>
            </a:r>
            <a:r>
              <a:rPr lang="zh-CN" altLang="en-US" sz="2200" dirty="0">
                <a:latin typeface="+mn-ea"/>
              </a:rPr>
              <a:t>）</a:t>
            </a:r>
            <a:r>
              <a:rPr lang="en-US" altLang="zh-CN" sz="2200" dirty="0">
                <a:latin typeface="+mn-ea"/>
              </a:rPr>
              <a:t>C</a:t>
            </a:r>
            <a:r>
              <a:rPr lang="zh-CN" altLang="en-US" sz="2200" dirty="0">
                <a:latin typeface="+mn-ea"/>
              </a:rPr>
              <a:t>语言源程序中有且只有一个</a:t>
            </a:r>
            <a:r>
              <a:rPr lang="en-US" altLang="zh-CN" sz="2200" dirty="0">
                <a:latin typeface="+mn-ea"/>
              </a:rPr>
              <a:t>main</a:t>
            </a:r>
            <a:r>
              <a:rPr lang="zh-CN" altLang="en-US" sz="2200" dirty="0">
                <a:latin typeface="+mn-ea"/>
              </a:rPr>
              <a:t>（）函数。</a:t>
            </a:r>
            <a:r>
              <a:rPr lang="en-US" altLang="zh-CN" sz="2200" dirty="0">
                <a:latin typeface="+mn-ea"/>
              </a:rPr>
              <a:t>main</a:t>
            </a:r>
            <a:r>
              <a:rPr lang="zh-CN" altLang="en-US" sz="2200" dirty="0">
                <a:latin typeface="+mn-ea"/>
              </a:rPr>
              <a:t>（）函数可以调用其他函数，但不允许被其他函数调用。因此，</a:t>
            </a:r>
            <a:r>
              <a:rPr lang="en-US" altLang="zh-CN" sz="2200" dirty="0">
                <a:latin typeface="+mn-ea"/>
              </a:rPr>
              <a:t>C</a:t>
            </a:r>
            <a:r>
              <a:rPr lang="zh-CN" altLang="en-US" sz="2200" dirty="0">
                <a:latin typeface="+mn-ea"/>
              </a:rPr>
              <a:t>语言程序的执行总是从</a:t>
            </a:r>
            <a:r>
              <a:rPr lang="en-US" altLang="zh-CN" sz="2200" dirty="0">
                <a:latin typeface="+mn-ea"/>
              </a:rPr>
              <a:t>main</a:t>
            </a:r>
            <a:r>
              <a:rPr lang="zh-CN" altLang="en-US" sz="2200" dirty="0">
                <a:latin typeface="+mn-ea"/>
              </a:rPr>
              <a:t>（）函数开始，完成对其他函数的调用后再返回到</a:t>
            </a:r>
            <a:r>
              <a:rPr lang="en-US" altLang="zh-CN" sz="2200" dirty="0">
                <a:latin typeface="+mn-ea"/>
              </a:rPr>
              <a:t>main</a:t>
            </a:r>
            <a:r>
              <a:rPr lang="zh-CN" altLang="en-US" sz="2200" dirty="0">
                <a:latin typeface="+mn-ea"/>
              </a:rPr>
              <a:t>（）函数，最后在</a:t>
            </a:r>
            <a:r>
              <a:rPr lang="en-US" altLang="zh-CN" sz="2200" dirty="0">
                <a:latin typeface="+mn-ea"/>
              </a:rPr>
              <a:t>main</a:t>
            </a:r>
            <a:r>
              <a:rPr lang="zh-CN" altLang="en-US" sz="2200" dirty="0">
                <a:latin typeface="+mn-ea"/>
              </a:rPr>
              <a:t>（）函数中结束整个程序的运行。</a:t>
            </a:r>
          </a:p>
          <a:p>
            <a:pPr marL="0" indent="0">
              <a:buNone/>
            </a:pPr>
            <a:r>
              <a:rPr lang="zh-CN" altLang="en-US" sz="2200" dirty="0">
                <a:latin typeface="+mn-ea"/>
              </a:rPr>
              <a:t>（</a:t>
            </a:r>
            <a:r>
              <a:rPr lang="en-US" altLang="zh-CN" sz="2200" dirty="0">
                <a:latin typeface="+mn-ea"/>
              </a:rPr>
              <a:t>4</a:t>
            </a:r>
            <a:r>
              <a:rPr lang="zh-CN" altLang="en-US" sz="2200" dirty="0">
                <a:latin typeface="+mn-ea"/>
              </a:rPr>
              <a:t>）要注意的是，</a:t>
            </a:r>
            <a:r>
              <a:rPr lang="en-US" altLang="zh-CN" sz="2200" dirty="0">
                <a:latin typeface="+mn-ea"/>
              </a:rPr>
              <a:t>C</a:t>
            </a:r>
            <a:r>
              <a:rPr lang="zh-CN" altLang="en-US" sz="2200" dirty="0">
                <a:latin typeface="+mn-ea"/>
              </a:rPr>
              <a:t>语言源程序可以分别放在不同的文件里，因而一个</a:t>
            </a:r>
            <a:r>
              <a:rPr lang="en-US" altLang="zh-CN" sz="2200" dirty="0">
                <a:latin typeface="+mn-ea"/>
              </a:rPr>
              <a:t>C</a:t>
            </a:r>
            <a:r>
              <a:rPr lang="zh-CN" altLang="en-US" sz="2200" dirty="0">
                <a:latin typeface="+mn-ea"/>
              </a:rPr>
              <a:t>语言程序可以有一个或多个源程序文件，每个源程序文件可以有一个或多个函数组成。</a:t>
            </a:r>
          </a:p>
        </p:txBody>
      </p:sp>
    </p:spTree>
    <p:extLst>
      <p:ext uri="{BB962C8B-B14F-4D97-AF65-F5344CB8AC3E}">
        <p14:creationId xmlns:p14="http://schemas.microsoft.com/office/powerpoint/2010/main" val="926832842"/>
      </p:ext>
    </p:extLst>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85289C-B90E-739B-5A68-5C5718F5D3B6}"/>
              </a:ext>
            </a:extLst>
          </p:cNvPr>
          <p:cNvSpPr>
            <a:spLocks noGrp="1"/>
          </p:cNvSpPr>
          <p:nvPr>
            <p:ph type="title"/>
          </p:nvPr>
        </p:nvSpPr>
        <p:spPr/>
        <p:txBody>
          <a:bodyPr>
            <a:normAutofit/>
          </a:bodyPr>
          <a:lstStyle/>
          <a:p>
            <a:r>
              <a:rPr lang="en-US" altLang="zh-CN" sz="2800" dirty="0">
                <a:latin typeface="+mn-ea"/>
                <a:ea typeface="+mn-ea"/>
              </a:rPr>
              <a:t>1.3</a:t>
            </a:r>
            <a:r>
              <a:rPr lang="zh-CN" altLang="en-US" sz="2800" dirty="0">
                <a:latin typeface="+mn-ea"/>
                <a:ea typeface="+mn-ea"/>
              </a:rPr>
              <a:t>函数的参数和返回值</a:t>
            </a:r>
          </a:p>
        </p:txBody>
      </p:sp>
      <p:sp>
        <p:nvSpPr>
          <p:cNvPr id="3" name="内容占位符 2">
            <a:extLst>
              <a:ext uri="{FF2B5EF4-FFF2-40B4-BE49-F238E27FC236}">
                <a16:creationId xmlns:a16="http://schemas.microsoft.com/office/drawing/2014/main" id="{F8918366-874A-3BF1-5D8D-ACE2D51A9900}"/>
              </a:ext>
            </a:extLst>
          </p:cNvPr>
          <p:cNvSpPr>
            <a:spLocks noGrp="1"/>
          </p:cNvSpPr>
          <p:nvPr>
            <p:ph idx="1"/>
          </p:nvPr>
        </p:nvSpPr>
        <p:spPr>
          <a:xfrm>
            <a:off x="838200" y="1690688"/>
            <a:ext cx="10515600" cy="4776334"/>
          </a:xfrm>
        </p:spPr>
        <p:txBody>
          <a:bodyPr>
            <a:normAutofit/>
          </a:bodyPr>
          <a:lstStyle/>
          <a:p>
            <a:pPr marL="0" indent="0">
              <a:buNone/>
            </a:pPr>
            <a:r>
              <a:rPr lang="en-US" altLang="zh-CN" sz="2200" dirty="0">
                <a:latin typeface="+mn-ea"/>
              </a:rPr>
              <a:t>1.</a:t>
            </a:r>
            <a:r>
              <a:rPr lang="zh-CN" altLang="en-US" sz="2200" dirty="0">
                <a:latin typeface="+mn-ea"/>
              </a:rPr>
              <a:t>函数的形参和实参</a:t>
            </a:r>
          </a:p>
          <a:p>
            <a:pPr marL="0" indent="0">
              <a:buNone/>
            </a:pPr>
            <a:r>
              <a:rPr lang="zh-CN" altLang="en-US" sz="2000" dirty="0">
                <a:latin typeface="+mn-ea"/>
              </a:rPr>
              <a:t>形参是在定义函数时函数名后面括弧中的变量名；实参是主调函数调用一个函数时，函数名后括号中的参数。</a:t>
            </a:r>
          </a:p>
          <a:p>
            <a:pPr marL="0" indent="0">
              <a:buNone/>
            </a:pPr>
            <a:endParaRPr lang="en-US" altLang="zh-CN" sz="2000" dirty="0">
              <a:latin typeface="+mn-ea"/>
            </a:endParaRPr>
          </a:p>
          <a:p>
            <a:pPr marL="0" indent="0">
              <a:buNone/>
            </a:pPr>
            <a:r>
              <a:rPr lang="en-US" altLang="zh-CN" sz="2000" dirty="0">
                <a:latin typeface="+mn-ea"/>
              </a:rPr>
              <a:t>int max(int </a:t>
            </a:r>
            <a:r>
              <a:rPr lang="en-US" altLang="zh-CN" sz="2000" dirty="0" err="1">
                <a:latin typeface="+mn-ea"/>
              </a:rPr>
              <a:t>x,int</a:t>
            </a:r>
            <a:r>
              <a:rPr lang="en-US" altLang="zh-CN" sz="2000" dirty="0">
                <a:latin typeface="+mn-ea"/>
              </a:rPr>
              <a:t> y);       //</a:t>
            </a:r>
            <a:r>
              <a:rPr lang="en-US" altLang="zh-CN" sz="2000" dirty="0" err="1">
                <a:latin typeface="+mn-ea"/>
              </a:rPr>
              <a:t>x,y</a:t>
            </a:r>
            <a:r>
              <a:rPr lang="zh-CN" altLang="en-US" sz="2000" dirty="0">
                <a:latin typeface="+mn-ea"/>
              </a:rPr>
              <a:t>为形参</a:t>
            </a:r>
          </a:p>
          <a:p>
            <a:pPr marL="0" indent="0">
              <a:buNone/>
            </a:pPr>
            <a:r>
              <a:rPr lang="en-US" altLang="zh-CN" sz="2000" dirty="0">
                <a:latin typeface="+mn-ea"/>
              </a:rPr>
              <a:t>int main()</a:t>
            </a:r>
          </a:p>
          <a:p>
            <a:pPr marL="0" indent="0">
              <a:buNone/>
            </a:pPr>
            <a:r>
              <a:rPr lang="en-US" altLang="zh-CN" sz="2000" dirty="0">
                <a:latin typeface="+mn-ea"/>
              </a:rPr>
              <a:t>{  int </a:t>
            </a:r>
            <a:r>
              <a:rPr lang="en-US" altLang="zh-CN" sz="2000" dirty="0" err="1">
                <a:latin typeface="+mn-ea"/>
              </a:rPr>
              <a:t>a,b,c</a:t>
            </a:r>
            <a:r>
              <a:rPr lang="en-US" altLang="zh-CN" sz="2000" dirty="0">
                <a:latin typeface="+mn-ea"/>
              </a:rPr>
              <a:t>;</a:t>
            </a:r>
          </a:p>
          <a:p>
            <a:pPr marL="0" indent="0">
              <a:buNone/>
            </a:pPr>
            <a:r>
              <a:rPr lang="en-US" altLang="zh-CN" sz="2000" dirty="0" err="1">
                <a:latin typeface="+mn-ea"/>
              </a:rPr>
              <a:t>scanf</a:t>
            </a:r>
            <a:r>
              <a:rPr lang="en-US" altLang="zh-CN" sz="2000" dirty="0">
                <a:latin typeface="+mn-ea"/>
              </a:rPr>
              <a:t>(“%</a:t>
            </a:r>
            <a:r>
              <a:rPr lang="en-US" altLang="zh-CN" sz="2000" dirty="0" err="1">
                <a:latin typeface="+mn-ea"/>
              </a:rPr>
              <a:t>d%d</a:t>
            </a:r>
            <a:r>
              <a:rPr lang="en-US" altLang="zh-CN" sz="2000" dirty="0">
                <a:latin typeface="+mn-ea"/>
              </a:rPr>
              <a:t>”,&amp;</a:t>
            </a:r>
            <a:r>
              <a:rPr lang="en-US" altLang="zh-CN" sz="2000" dirty="0" err="1">
                <a:latin typeface="+mn-ea"/>
              </a:rPr>
              <a:t>a,&amp;b</a:t>
            </a:r>
            <a:r>
              <a:rPr lang="en-US" altLang="zh-CN" sz="2000" dirty="0">
                <a:latin typeface="+mn-ea"/>
              </a:rPr>
              <a:t>);</a:t>
            </a:r>
          </a:p>
          <a:p>
            <a:pPr marL="0" indent="0">
              <a:buNone/>
            </a:pPr>
            <a:r>
              <a:rPr lang="en-US" altLang="zh-CN" sz="2000" dirty="0">
                <a:latin typeface="+mn-ea"/>
              </a:rPr>
              <a:t>c=max(</a:t>
            </a:r>
            <a:r>
              <a:rPr lang="en-US" altLang="zh-CN" sz="2000" dirty="0" err="1">
                <a:latin typeface="+mn-ea"/>
              </a:rPr>
              <a:t>a,b</a:t>
            </a:r>
            <a:r>
              <a:rPr lang="en-US" altLang="zh-CN" sz="2000" dirty="0">
                <a:latin typeface="+mn-ea"/>
              </a:rPr>
              <a:t>);             //a</a:t>
            </a:r>
            <a:r>
              <a:rPr lang="zh-CN" altLang="en-US" sz="2000" dirty="0">
                <a:latin typeface="+mn-ea"/>
              </a:rPr>
              <a:t>，</a:t>
            </a:r>
            <a:r>
              <a:rPr lang="en-US" altLang="zh-CN" sz="2000" dirty="0">
                <a:latin typeface="+mn-ea"/>
              </a:rPr>
              <a:t>b</a:t>
            </a:r>
            <a:r>
              <a:rPr lang="zh-CN" altLang="en-US" sz="2000" dirty="0">
                <a:latin typeface="+mn-ea"/>
              </a:rPr>
              <a:t>为实参</a:t>
            </a:r>
          </a:p>
          <a:p>
            <a:pPr marL="0" indent="0">
              <a:buNone/>
            </a:pPr>
            <a:r>
              <a:rPr lang="en-US" altLang="zh-CN" sz="2000" dirty="0" err="1">
                <a:latin typeface="+mn-ea"/>
              </a:rPr>
              <a:t>printf</a:t>
            </a:r>
            <a:r>
              <a:rPr lang="en-US" altLang="zh-CN" sz="2000" dirty="0">
                <a:latin typeface="+mn-ea"/>
              </a:rPr>
              <a:t>(“%</a:t>
            </a:r>
            <a:r>
              <a:rPr lang="en-US" altLang="zh-CN" sz="2000" dirty="0" err="1">
                <a:latin typeface="+mn-ea"/>
              </a:rPr>
              <a:t>d”,c</a:t>
            </a:r>
            <a:r>
              <a:rPr lang="en-US" altLang="zh-CN" sz="2000" dirty="0">
                <a:latin typeface="+mn-ea"/>
              </a:rPr>
              <a:t>);</a:t>
            </a:r>
          </a:p>
          <a:p>
            <a:pPr marL="0" indent="0">
              <a:buNone/>
            </a:pPr>
            <a:r>
              <a:rPr lang="en-US" altLang="zh-CN" sz="2000" dirty="0">
                <a:latin typeface="+mn-ea"/>
              </a:rPr>
              <a:t>return 0;</a:t>
            </a:r>
            <a:endParaRPr lang="zh-CN" altLang="en-US" sz="2000" dirty="0">
              <a:latin typeface="+mn-ea"/>
            </a:endParaRPr>
          </a:p>
        </p:txBody>
      </p:sp>
    </p:spTree>
    <p:extLst>
      <p:ext uri="{BB962C8B-B14F-4D97-AF65-F5344CB8AC3E}">
        <p14:creationId xmlns:p14="http://schemas.microsoft.com/office/powerpoint/2010/main" val="3741680197"/>
      </p:ext>
    </p:extLst>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EEFE206-9D51-F132-C743-41707894CB84}"/>
              </a:ext>
            </a:extLst>
          </p:cNvPr>
          <p:cNvSpPr>
            <a:spLocks noGrp="1"/>
          </p:cNvSpPr>
          <p:nvPr>
            <p:ph idx="1"/>
          </p:nvPr>
        </p:nvSpPr>
        <p:spPr>
          <a:xfrm>
            <a:off x="838200" y="681038"/>
            <a:ext cx="10515600" cy="5495925"/>
          </a:xfrm>
        </p:spPr>
        <p:txBody>
          <a:bodyPr/>
          <a:lstStyle/>
          <a:p>
            <a:r>
              <a:rPr lang="zh-CN" altLang="en-US" dirty="0"/>
              <a:t>实参和形参的特点</a:t>
            </a:r>
            <a:endParaRPr lang="en-US" altLang="zh-CN" dirty="0"/>
          </a:p>
          <a:p>
            <a:pPr marL="0" indent="0">
              <a:buNone/>
            </a:pPr>
            <a:r>
              <a:rPr lang="zh-CN" altLang="en-US" sz="2000" dirty="0">
                <a:latin typeface="+mn-ea"/>
              </a:rPr>
              <a:t>（</a:t>
            </a:r>
            <a:r>
              <a:rPr lang="en-US" altLang="zh-CN" sz="2000" dirty="0">
                <a:latin typeface="+mn-ea"/>
              </a:rPr>
              <a:t>1</a:t>
            </a:r>
            <a:r>
              <a:rPr lang="zh-CN" altLang="en-US" sz="2000" dirty="0">
                <a:latin typeface="+mn-ea"/>
              </a:rPr>
              <a:t>）形参只有在被调用时才分配内存单元，在调用结束时，即刻释放所分配的内存单元。因此，形参只有在函数内部才有效。当函数调用结束返回主调函数后，不能再使用。</a:t>
            </a:r>
            <a:endParaRPr lang="en-US" altLang="zh-CN" sz="2000" dirty="0">
              <a:latin typeface="+mn-ea"/>
            </a:endParaRPr>
          </a:p>
          <a:p>
            <a:pPr marL="0" indent="0">
              <a:buNone/>
            </a:pPr>
            <a:endParaRPr lang="en-US" altLang="zh-CN" sz="2000" dirty="0">
              <a:latin typeface="+mn-ea"/>
            </a:endParaRPr>
          </a:p>
          <a:p>
            <a:pPr marL="0" indent="0">
              <a:buNone/>
            </a:pPr>
            <a:r>
              <a:rPr lang="zh-CN" altLang="en-US" sz="2000" dirty="0">
                <a:latin typeface="+mn-ea"/>
              </a:rPr>
              <a:t>（</a:t>
            </a:r>
            <a:r>
              <a:rPr lang="en-US" altLang="zh-CN" sz="2000" dirty="0">
                <a:latin typeface="+mn-ea"/>
              </a:rPr>
              <a:t>2</a:t>
            </a:r>
            <a:r>
              <a:rPr lang="zh-CN" altLang="en-US" sz="2000" dirty="0">
                <a:latin typeface="+mn-ea"/>
              </a:rPr>
              <a:t>）实参可以是常量、变量、表达式、函数调用等，无论是哪种类型的量，在进行函数调用时，必须具有与实参类型相对应的确定的值，以便将值传送给形参。</a:t>
            </a:r>
            <a:endParaRPr lang="en-US" altLang="zh-CN" sz="2000" dirty="0">
              <a:latin typeface="+mn-ea"/>
            </a:endParaRPr>
          </a:p>
          <a:p>
            <a:pPr marL="0" indent="0">
              <a:buNone/>
            </a:pPr>
            <a:endParaRPr lang="en-US" altLang="zh-CN" sz="2000" dirty="0">
              <a:latin typeface="+mn-ea"/>
            </a:endParaRPr>
          </a:p>
          <a:p>
            <a:pPr marL="0" indent="0">
              <a:buNone/>
            </a:pPr>
            <a:r>
              <a:rPr lang="zh-CN" altLang="en-US" sz="2000" dirty="0">
                <a:latin typeface="+mn-ea"/>
              </a:rPr>
              <a:t>（</a:t>
            </a:r>
            <a:r>
              <a:rPr lang="en-US" altLang="zh-CN" sz="2000" dirty="0">
                <a:latin typeface="+mn-ea"/>
              </a:rPr>
              <a:t>3</a:t>
            </a:r>
            <a:r>
              <a:rPr lang="zh-CN" altLang="en-US" sz="2000" dirty="0">
                <a:latin typeface="+mn-ea"/>
              </a:rPr>
              <a:t>）函数参数表的一致性原则</a:t>
            </a:r>
            <a:endParaRPr lang="en-US" altLang="zh-CN" sz="2000" dirty="0">
              <a:latin typeface="+mn-ea"/>
            </a:endParaRPr>
          </a:p>
          <a:p>
            <a:pPr marL="0" indent="0">
              <a:buNone/>
            </a:pPr>
            <a:r>
              <a:rPr lang="en-US" altLang="zh-CN" sz="2000" dirty="0">
                <a:latin typeface="+mn-ea"/>
              </a:rPr>
              <a:t>         a</a:t>
            </a:r>
            <a:r>
              <a:rPr lang="zh-CN" altLang="en-US" sz="2000" dirty="0">
                <a:latin typeface="+mn-ea"/>
              </a:rPr>
              <a:t>）函数调用中实参的数目必须与函数定义形参表中的数目一致，按照自己所需功能来安排顺序。</a:t>
            </a:r>
            <a:endParaRPr lang="en-US" altLang="zh-CN" sz="2000" dirty="0">
              <a:latin typeface="+mn-ea"/>
            </a:endParaRPr>
          </a:p>
          <a:p>
            <a:pPr marL="0" indent="0">
              <a:buNone/>
            </a:pPr>
            <a:r>
              <a:rPr lang="en-US" altLang="zh-CN" sz="2000" dirty="0">
                <a:latin typeface="+mn-ea"/>
              </a:rPr>
              <a:t>         b</a:t>
            </a:r>
            <a:r>
              <a:rPr lang="zh-CN" altLang="en-US" sz="2000" dirty="0">
                <a:latin typeface="+mn-ea"/>
              </a:rPr>
              <a:t>）函数调用中实参的数据类型必须与函数定义形参表中对应形参的数据类型相同或赋值兼容。</a:t>
            </a:r>
            <a:endParaRPr lang="en-US" altLang="zh-CN" sz="2000" dirty="0">
              <a:latin typeface="+mn-ea"/>
            </a:endParaRPr>
          </a:p>
          <a:p>
            <a:pPr marL="0" indent="0">
              <a:buNone/>
            </a:pPr>
            <a:endParaRPr lang="en-US" altLang="zh-CN" sz="2000" dirty="0">
              <a:latin typeface="+mn-ea"/>
            </a:endParaRPr>
          </a:p>
          <a:p>
            <a:pPr marL="0" indent="0">
              <a:buNone/>
            </a:pPr>
            <a:r>
              <a:rPr lang="en-US" altLang="zh-CN" sz="2000" dirty="0">
                <a:latin typeface="+mn-ea"/>
              </a:rPr>
              <a:t>(4)   </a:t>
            </a:r>
            <a:r>
              <a:rPr lang="zh-CN" altLang="en-US" sz="2000" dirty="0">
                <a:latin typeface="+mn-ea"/>
              </a:rPr>
              <a:t>函数调用中发生的数据传递是单向的。即只能把实参的值传递给形参，而不能把形参的值反向传递给实参。因此在函数调用过程中，形参的值发生改变，而实参中的值不会变化。</a:t>
            </a:r>
          </a:p>
        </p:txBody>
      </p:sp>
    </p:spTree>
    <p:extLst>
      <p:ext uri="{BB962C8B-B14F-4D97-AF65-F5344CB8AC3E}">
        <p14:creationId xmlns:p14="http://schemas.microsoft.com/office/powerpoint/2010/main" val="3496471021"/>
      </p:ext>
    </p:extLst>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68A4E51-81D7-92AB-7B4D-88B2480A4594}"/>
              </a:ext>
            </a:extLst>
          </p:cNvPr>
          <p:cNvSpPr>
            <a:spLocks noGrp="1"/>
          </p:cNvSpPr>
          <p:nvPr>
            <p:ph idx="1"/>
          </p:nvPr>
        </p:nvSpPr>
        <p:spPr>
          <a:xfrm>
            <a:off x="838200" y="791030"/>
            <a:ext cx="10515600" cy="5385934"/>
          </a:xfrm>
        </p:spPr>
        <p:txBody>
          <a:bodyPr>
            <a:normAutofit/>
          </a:bodyPr>
          <a:lstStyle/>
          <a:p>
            <a:r>
              <a:rPr lang="en-US" altLang="zh-CN" sz="2200" dirty="0">
                <a:latin typeface="+mn-ea"/>
              </a:rPr>
              <a:t>2.</a:t>
            </a:r>
            <a:r>
              <a:rPr lang="zh-CN" altLang="en-US" sz="2200" dirty="0">
                <a:latin typeface="+mn-ea"/>
              </a:rPr>
              <a:t>函数的返回值</a:t>
            </a:r>
            <a:endParaRPr lang="en-US" altLang="zh-CN" sz="2200" dirty="0">
              <a:latin typeface="+mn-ea"/>
            </a:endParaRPr>
          </a:p>
          <a:p>
            <a:pPr marL="0" indent="0">
              <a:buNone/>
            </a:pPr>
            <a:endParaRPr lang="zh-CN" altLang="en-US" sz="2200" dirty="0">
              <a:latin typeface="+mn-ea"/>
            </a:endParaRPr>
          </a:p>
          <a:p>
            <a:pPr marL="0" indent="0">
              <a:buNone/>
            </a:pPr>
            <a:r>
              <a:rPr lang="zh-CN" altLang="en-US" sz="2000" dirty="0">
                <a:latin typeface="+mn-ea"/>
              </a:rPr>
              <a:t>定义：函数被调用时，执行函数体中的程序段，需要返回给主调函数的结果值。</a:t>
            </a:r>
          </a:p>
          <a:p>
            <a:pPr marL="0" indent="0">
              <a:buNone/>
            </a:pPr>
            <a:r>
              <a:rPr lang="zh-CN" altLang="en-US" sz="2000" dirty="0">
                <a:latin typeface="+mn-ea"/>
              </a:rPr>
              <a:t>形式</a:t>
            </a:r>
            <a:r>
              <a:rPr lang="en-US" altLang="zh-CN" sz="2000" dirty="0">
                <a:latin typeface="+mn-ea"/>
              </a:rPr>
              <a:t>·1</a:t>
            </a:r>
            <a:r>
              <a:rPr lang="zh-CN" altLang="en-US" sz="2000" dirty="0">
                <a:latin typeface="+mn-ea"/>
              </a:rPr>
              <a:t>：</a:t>
            </a:r>
            <a:r>
              <a:rPr lang="en-US" altLang="zh-CN" sz="2000" dirty="0">
                <a:latin typeface="+mn-ea"/>
              </a:rPr>
              <a:t>return</a:t>
            </a:r>
            <a:r>
              <a:rPr lang="zh-CN" altLang="en-US" sz="2000" dirty="0">
                <a:latin typeface="+mn-ea"/>
              </a:rPr>
              <a:t>表达式；</a:t>
            </a:r>
          </a:p>
          <a:p>
            <a:pPr marL="0" indent="0">
              <a:buNone/>
            </a:pPr>
            <a:r>
              <a:rPr lang="zh-CN" altLang="en-US" sz="2000" dirty="0">
                <a:latin typeface="+mn-ea"/>
              </a:rPr>
              <a:t>形式</a:t>
            </a:r>
            <a:r>
              <a:rPr lang="en-US" altLang="zh-CN" sz="2000" dirty="0">
                <a:latin typeface="+mn-ea"/>
              </a:rPr>
              <a:t>2</a:t>
            </a:r>
            <a:r>
              <a:rPr lang="zh-CN" altLang="en-US" sz="2000" dirty="0">
                <a:latin typeface="+mn-ea"/>
              </a:rPr>
              <a:t>：</a:t>
            </a:r>
            <a:r>
              <a:rPr lang="en-US" altLang="zh-CN" sz="2000" dirty="0">
                <a:latin typeface="+mn-ea"/>
              </a:rPr>
              <a:t>return</a:t>
            </a:r>
            <a:r>
              <a:rPr lang="zh-CN" altLang="en-US" sz="2000" dirty="0">
                <a:latin typeface="+mn-ea"/>
              </a:rPr>
              <a:t>（表达式）；</a:t>
            </a:r>
            <a:endParaRPr lang="en-US" altLang="zh-CN" sz="2000" dirty="0">
              <a:latin typeface="+mn-ea"/>
            </a:endParaRPr>
          </a:p>
          <a:p>
            <a:pPr marL="0" indent="0">
              <a:buNone/>
            </a:pPr>
            <a:r>
              <a:rPr lang="zh-CN" altLang="en-US" sz="2000" dirty="0">
                <a:latin typeface="+mn-ea"/>
              </a:rPr>
              <a:t>（</a:t>
            </a:r>
            <a:r>
              <a:rPr lang="en-US" altLang="zh-CN" sz="2000" dirty="0">
                <a:latin typeface="+mn-ea"/>
              </a:rPr>
              <a:t>1</a:t>
            </a:r>
            <a:r>
              <a:rPr lang="zh-CN" altLang="en-US" sz="2000" dirty="0">
                <a:latin typeface="+mn-ea"/>
              </a:rPr>
              <a:t>）函数的值只能通过</a:t>
            </a:r>
            <a:r>
              <a:rPr lang="en-US" altLang="zh-CN" sz="2000" dirty="0">
                <a:latin typeface="+mn-ea"/>
              </a:rPr>
              <a:t>return</a:t>
            </a:r>
            <a:r>
              <a:rPr lang="zh-CN" altLang="en-US" sz="2000" dirty="0">
                <a:latin typeface="+mn-ea"/>
              </a:rPr>
              <a:t>语句返回给主调函数。在函数中允许有多个</a:t>
            </a:r>
            <a:r>
              <a:rPr lang="en-US" altLang="zh-CN" sz="2000" dirty="0">
                <a:latin typeface="+mn-ea"/>
              </a:rPr>
              <a:t>return</a:t>
            </a:r>
            <a:r>
              <a:rPr lang="zh-CN" altLang="en-US" sz="2000" dirty="0">
                <a:latin typeface="+mn-ea"/>
              </a:rPr>
              <a:t>语句，但每次调用时只能有一个</a:t>
            </a:r>
            <a:r>
              <a:rPr lang="en-US" altLang="zh-CN" sz="2000" dirty="0">
                <a:latin typeface="+mn-ea"/>
              </a:rPr>
              <a:t>return</a:t>
            </a:r>
            <a:r>
              <a:rPr lang="zh-CN" altLang="en-US" sz="2000" dirty="0">
                <a:latin typeface="+mn-ea"/>
              </a:rPr>
              <a:t>语句被执行。这种情况通常出现在</a:t>
            </a:r>
            <a:r>
              <a:rPr lang="en-US" altLang="zh-CN" sz="2000" dirty="0">
                <a:latin typeface="+mn-ea"/>
              </a:rPr>
              <a:t>if-else</a:t>
            </a:r>
            <a:r>
              <a:rPr lang="zh-CN" altLang="en-US" sz="2000" dirty="0">
                <a:latin typeface="+mn-ea"/>
              </a:rPr>
              <a:t>语句中，表示在不同的条件下返回不同的值。</a:t>
            </a:r>
            <a:endParaRPr lang="en-US" altLang="zh-CN" sz="2000" dirty="0">
              <a:latin typeface="+mn-ea"/>
            </a:endParaRPr>
          </a:p>
          <a:p>
            <a:pPr marL="0" indent="0">
              <a:buNone/>
            </a:pPr>
            <a:r>
              <a:rPr lang="en-US" altLang="zh-CN" sz="2000" dirty="0">
                <a:latin typeface="+mn-ea"/>
              </a:rPr>
              <a:t>         </a:t>
            </a:r>
          </a:p>
          <a:p>
            <a:pPr marL="0" indent="0">
              <a:buNone/>
            </a:pPr>
            <a:r>
              <a:rPr lang="zh-CN" altLang="en-US" sz="2000" dirty="0">
                <a:latin typeface="+mn-ea"/>
              </a:rPr>
              <a:t>（</a:t>
            </a:r>
            <a:r>
              <a:rPr lang="en-US" altLang="zh-CN" sz="2000" dirty="0">
                <a:latin typeface="+mn-ea"/>
              </a:rPr>
              <a:t>2</a:t>
            </a:r>
            <a:r>
              <a:rPr lang="zh-CN" altLang="en-US" sz="2000" dirty="0">
                <a:latin typeface="+mn-ea"/>
              </a:rPr>
              <a:t>）函数返回值的类型应和函数定义中函数的类型保持一致。如果两者不一致，则以函数类型为准，编译系统会自动进行类型转换。</a:t>
            </a:r>
            <a:endParaRPr lang="en-US" altLang="zh-CN" sz="2000" dirty="0">
              <a:latin typeface="+mn-ea"/>
            </a:endParaRPr>
          </a:p>
          <a:p>
            <a:pPr marL="0" indent="0">
              <a:buNone/>
            </a:pPr>
            <a:r>
              <a:rPr lang="en-US" altLang="zh-CN" sz="2000" dirty="0">
                <a:latin typeface="+mn-ea"/>
              </a:rPr>
              <a:t>         </a:t>
            </a:r>
          </a:p>
          <a:p>
            <a:pPr marL="0" indent="0">
              <a:buNone/>
            </a:pPr>
            <a:r>
              <a:rPr lang="zh-CN" altLang="en-US" sz="2000" dirty="0">
                <a:latin typeface="+mn-ea"/>
              </a:rPr>
              <a:t>（</a:t>
            </a:r>
            <a:r>
              <a:rPr lang="en-US" altLang="zh-CN" sz="2000" dirty="0">
                <a:latin typeface="+mn-ea"/>
              </a:rPr>
              <a:t>3</a:t>
            </a:r>
            <a:r>
              <a:rPr lang="zh-CN" altLang="en-US" sz="2000" dirty="0">
                <a:latin typeface="+mn-ea"/>
              </a:rPr>
              <a:t>）若不要求被调用函数有返回值，则可以不使用</a:t>
            </a:r>
            <a:r>
              <a:rPr lang="en-US" altLang="zh-CN" sz="2000" dirty="0">
                <a:latin typeface="+mn-ea"/>
              </a:rPr>
              <a:t>return</a:t>
            </a:r>
            <a:r>
              <a:rPr lang="zh-CN" altLang="en-US" sz="2000" dirty="0">
                <a:latin typeface="+mn-ea"/>
              </a:rPr>
              <a:t>语句，或写成</a:t>
            </a:r>
            <a:r>
              <a:rPr lang="en-US" altLang="zh-CN" sz="2000" dirty="0">
                <a:latin typeface="+mn-ea"/>
              </a:rPr>
              <a:t>return</a:t>
            </a:r>
            <a:r>
              <a:rPr lang="zh-CN" altLang="en-US" sz="2000" dirty="0">
                <a:latin typeface="+mn-ea"/>
              </a:rPr>
              <a:t>；的形式，或直接将函数类型明确为”空类型“，即”</a:t>
            </a:r>
            <a:r>
              <a:rPr lang="en-US" altLang="zh-CN" sz="2000" dirty="0">
                <a:latin typeface="+mn-ea"/>
              </a:rPr>
              <a:t>void“</a:t>
            </a:r>
            <a:r>
              <a:rPr lang="zh-CN" altLang="en-US" sz="2000" dirty="0">
                <a:latin typeface="+mn-ea"/>
              </a:rPr>
              <a:t>，不过一旦定义为空类型，就不能在主调函数中使用被调函数的函数值了。</a:t>
            </a:r>
          </a:p>
        </p:txBody>
      </p:sp>
    </p:spTree>
    <p:extLst>
      <p:ext uri="{BB962C8B-B14F-4D97-AF65-F5344CB8AC3E}">
        <p14:creationId xmlns:p14="http://schemas.microsoft.com/office/powerpoint/2010/main" val="390439350"/>
      </p:ext>
    </p:extLst>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A0F81-A20E-5465-DD04-9DDFE275BB2F}"/>
              </a:ext>
            </a:extLst>
          </p:cNvPr>
          <p:cNvSpPr>
            <a:spLocks noGrp="1"/>
          </p:cNvSpPr>
          <p:nvPr>
            <p:ph type="title"/>
          </p:nvPr>
        </p:nvSpPr>
        <p:spPr/>
        <p:txBody>
          <a:bodyPr>
            <a:normAutofit/>
          </a:bodyPr>
          <a:lstStyle/>
          <a:p>
            <a:r>
              <a:rPr lang="en-US" altLang="zh-CN" sz="2800" dirty="0">
                <a:latin typeface="+mn-ea"/>
                <a:ea typeface="+mn-ea"/>
              </a:rPr>
              <a:t>1.4 </a:t>
            </a:r>
            <a:r>
              <a:rPr lang="zh-CN" altLang="en-US" sz="2800" dirty="0">
                <a:latin typeface="+mn-ea"/>
                <a:ea typeface="+mn-ea"/>
              </a:rPr>
              <a:t>函数的声明</a:t>
            </a:r>
          </a:p>
        </p:txBody>
      </p:sp>
      <p:sp>
        <p:nvSpPr>
          <p:cNvPr id="3" name="内容占位符 2">
            <a:extLst>
              <a:ext uri="{FF2B5EF4-FFF2-40B4-BE49-F238E27FC236}">
                <a16:creationId xmlns:a16="http://schemas.microsoft.com/office/drawing/2014/main" id="{54F560B2-D50D-8298-AF21-0BE5CBEB8F61}"/>
              </a:ext>
            </a:extLst>
          </p:cNvPr>
          <p:cNvSpPr>
            <a:spLocks noGrp="1"/>
          </p:cNvSpPr>
          <p:nvPr>
            <p:ph idx="1"/>
          </p:nvPr>
        </p:nvSpPr>
        <p:spPr>
          <a:xfrm>
            <a:off x="838200" y="1516743"/>
            <a:ext cx="10515600" cy="4660220"/>
          </a:xfrm>
        </p:spPr>
        <p:txBody>
          <a:bodyPr>
            <a:normAutofit/>
          </a:bodyPr>
          <a:lstStyle/>
          <a:p>
            <a:pPr marL="0" indent="0">
              <a:buNone/>
            </a:pPr>
            <a:r>
              <a:rPr lang="en-US" altLang="zh-CN" sz="2200" dirty="0">
                <a:latin typeface="+mn-ea"/>
              </a:rPr>
              <a:t>1.</a:t>
            </a:r>
            <a:r>
              <a:rPr lang="zh-CN" altLang="en-US" sz="2200" dirty="0">
                <a:latin typeface="+mn-ea"/>
              </a:rPr>
              <a:t>函数声明的形式</a:t>
            </a:r>
          </a:p>
          <a:p>
            <a:pPr marL="0" indent="0">
              <a:buNone/>
            </a:pPr>
            <a:endParaRPr lang="en-US" altLang="zh-CN" sz="2000" dirty="0">
              <a:latin typeface="+mn-ea"/>
            </a:endParaRPr>
          </a:p>
          <a:p>
            <a:pPr marL="0" indent="0">
              <a:buNone/>
            </a:pPr>
            <a:endParaRPr lang="en-US" altLang="zh-CN" sz="2000" dirty="0">
              <a:latin typeface="+mn-ea"/>
            </a:endParaRPr>
          </a:p>
          <a:p>
            <a:pPr marL="0" indent="0">
              <a:buNone/>
            </a:pPr>
            <a:r>
              <a:rPr lang="zh-CN" altLang="en-US" sz="2000" dirty="0">
                <a:latin typeface="+mn-ea"/>
              </a:rPr>
              <a:t>类型说明符 被调用函数名（类型 形参</a:t>
            </a:r>
            <a:r>
              <a:rPr lang="en-US" altLang="zh-CN" sz="2000" dirty="0">
                <a:latin typeface="+mn-ea"/>
              </a:rPr>
              <a:t>1</a:t>
            </a:r>
            <a:r>
              <a:rPr lang="zh-CN" altLang="en-US" sz="2000" dirty="0">
                <a:latin typeface="+mn-ea"/>
              </a:rPr>
              <a:t>，类型 形参</a:t>
            </a:r>
            <a:r>
              <a:rPr lang="en-US" altLang="zh-CN" sz="2000" dirty="0">
                <a:latin typeface="+mn-ea"/>
              </a:rPr>
              <a:t>2</a:t>
            </a:r>
            <a:r>
              <a:rPr lang="zh-CN" altLang="en-US" sz="2000" dirty="0">
                <a:latin typeface="+mn-ea"/>
              </a:rPr>
              <a:t>，</a:t>
            </a:r>
            <a:r>
              <a:rPr lang="en-US" altLang="zh-CN" sz="2000" dirty="0">
                <a:latin typeface="+mn-ea"/>
              </a:rPr>
              <a:t>……</a:t>
            </a:r>
            <a:r>
              <a:rPr lang="zh-CN" altLang="en-US" sz="2000" dirty="0">
                <a:latin typeface="+mn-ea"/>
              </a:rPr>
              <a:t>）；</a:t>
            </a:r>
          </a:p>
          <a:p>
            <a:pPr marL="0" indent="0">
              <a:buNone/>
            </a:pPr>
            <a:r>
              <a:rPr lang="zh-CN" altLang="en-US" sz="2000" dirty="0">
                <a:latin typeface="+mn-ea"/>
              </a:rPr>
              <a:t>如</a:t>
            </a:r>
            <a:r>
              <a:rPr lang="en-US" altLang="zh-CN" sz="2000" dirty="0">
                <a:latin typeface="+mn-ea"/>
              </a:rPr>
              <a:t>int max</a:t>
            </a:r>
            <a:r>
              <a:rPr lang="zh-CN" altLang="en-US" sz="2000" dirty="0">
                <a:latin typeface="+mn-ea"/>
              </a:rPr>
              <a:t>（</a:t>
            </a:r>
            <a:r>
              <a:rPr lang="en-US" altLang="zh-CN" sz="2000" dirty="0">
                <a:latin typeface="+mn-ea"/>
              </a:rPr>
              <a:t>int a</a:t>
            </a:r>
            <a:r>
              <a:rPr lang="zh-CN" altLang="en-US" sz="2000" dirty="0">
                <a:latin typeface="+mn-ea"/>
              </a:rPr>
              <a:t>，</a:t>
            </a:r>
            <a:r>
              <a:rPr lang="en-US" altLang="zh-CN" sz="2000" dirty="0">
                <a:latin typeface="+mn-ea"/>
              </a:rPr>
              <a:t>int b</a:t>
            </a:r>
            <a:r>
              <a:rPr lang="zh-CN" altLang="en-US" sz="2000" dirty="0">
                <a:latin typeface="+mn-ea"/>
              </a:rPr>
              <a:t>）；</a:t>
            </a:r>
          </a:p>
          <a:p>
            <a:pPr marL="0" indent="0">
              <a:buNone/>
            </a:pPr>
            <a:r>
              <a:rPr lang="zh-CN" altLang="en-US" sz="2000" dirty="0">
                <a:latin typeface="+mn-ea"/>
              </a:rPr>
              <a:t>或</a:t>
            </a:r>
          </a:p>
          <a:p>
            <a:pPr marL="0" indent="0">
              <a:buNone/>
            </a:pPr>
            <a:r>
              <a:rPr lang="zh-CN" altLang="en-US" sz="2000" dirty="0">
                <a:latin typeface="+mn-ea"/>
              </a:rPr>
              <a:t>类型说明符 被调用函数名（类型，类型，类型</a:t>
            </a:r>
            <a:r>
              <a:rPr lang="en-US" altLang="zh-CN" sz="2000" dirty="0">
                <a:latin typeface="+mn-ea"/>
              </a:rPr>
              <a:t>……</a:t>
            </a:r>
            <a:r>
              <a:rPr lang="zh-CN" altLang="en-US" sz="2000" dirty="0">
                <a:latin typeface="+mn-ea"/>
              </a:rPr>
              <a:t>）；</a:t>
            </a:r>
          </a:p>
          <a:p>
            <a:pPr marL="0" indent="0">
              <a:buNone/>
            </a:pPr>
            <a:r>
              <a:rPr lang="zh-CN" altLang="en-US" sz="2000" dirty="0">
                <a:latin typeface="+mn-ea"/>
              </a:rPr>
              <a:t>如 </a:t>
            </a:r>
            <a:r>
              <a:rPr lang="en-US" altLang="zh-CN" sz="2000" dirty="0">
                <a:latin typeface="+mn-ea"/>
              </a:rPr>
              <a:t>int max</a:t>
            </a:r>
            <a:r>
              <a:rPr lang="zh-CN" altLang="en-US" sz="2000" dirty="0">
                <a:latin typeface="+mn-ea"/>
              </a:rPr>
              <a:t>（</a:t>
            </a:r>
            <a:r>
              <a:rPr lang="en-US" altLang="zh-CN" sz="2000" dirty="0">
                <a:latin typeface="+mn-ea"/>
              </a:rPr>
              <a:t>int </a:t>
            </a:r>
            <a:r>
              <a:rPr lang="zh-CN" altLang="en-US" sz="2000" dirty="0">
                <a:latin typeface="+mn-ea"/>
              </a:rPr>
              <a:t>，</a:t>
            </a:r>
            <a:r>
              <a:rPr lang="en-US" altLang="zh-CN" sz="2000" dirty="0">
                <a:latin typeface="+mn-ea"/>
              </a:rPr>
              <a:t>int</a:t>
            </a:r>
            <a:r>
              <a:rPr lang="zh-CN" altLang="en-US" sz="2000" dirty="0">
                <a:latin typeface="+mn-ea"/>
              </a:rPr>
              <a:t>）；</a:t>
            </a:r>
            <a:endParaRPr lang="en-US" altLang="zh-CN" sz="2000" dirty="0">
              <a:latin typeface="+mn-ea"/>
            </a:endParaRPr>
          </a:p>
          <a:p>
            <a:pPr marL="0" indent="0">
              <a:buNone/>
            </a:pPr>
            <a:endParaRPr lang="zh-CN" altLang="en-US" sz="2000" dirty="0">
              <a:latin typeface="+mn-ea"/>
            </a:endParaRPr>
          </a:p>
          <a:p>
            <a:pPr marL="0" indent="0">
              <a:buNone/>
            </a:pPr>
            <a:endParaRPr lang="zh-CN" altLang="en-US" sz="2000" dirty="0">
              <a:latin typeface="+mn-ea"/>
            </a:endParaRPr>
          </a:p>
        </p:txBody>
      </p:sp>
    </p:spTree>
    <p:extLst>
      <p:ext uri="{BB962C8B-B14F-4D97-AF65-F5344CB8AC3E}">
        <p14:creationId xmlns:p14="http://schemas.microsoft.com/office/powerpoint/2010/main" val="2691698427"/>
      </p:ext>
    </p:extLst>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A4FA6F1-DCD5-FA95-525C-BF7BCCE9ED80}"/>
              </a:ext>
            </a:extLst>
          </p:cNvPr>
          <p:cNvSpPr>
            <a:spLocks noGrp="1"/>
          </p:cNvSpPr>
          <p:nvPr>
            <p:ph idx="1"/>
          </p:nvPr>
        </p:nvSpPr>
        <p:spPr>
          <a:xfrm>
            <a:off x="838200" y="820058"/>
            <a:ext cx="10515600" cy="5291592"/>
          </a:xfrm>
        </p:spPr>
        <p:txBody>
          <a:bodyPr>
            <a:normAutofit/>
          </a:bodyPr>
          <a:lstStyle/>
          <a:p>
            <a:pPr marL="0" indent="0">
              <a:buNone/>
            </a:pPr>
            <a:r>
              <a:rPr lang="en-US" altLang="zh-CN" sz="2200" dirty="0">
                <a:latin typeface="+mn-ea"/>
              </a:rPr>
              <a:t>2.</a:t>
            </a:r>
            <a:r>
              <a:rPr lang="zh-CN" altLang="en-US" sz="2200" dirty="0">
                <a:latin typeface="+mn-ea"/>
              </a:rPr>
              <a:t>进行函数声明的原因：</a:t>
            </a:r>
            <a:endParaRPr lang="en-US" altLang="zh-CN" sz="2200" dirty="0">
              <a:latin typeface="+mn-ea"/>
            </a:endParaRPr>
          </a:p>
          <a:p>
            <a:pPr marL="0" indent="0">
              <a:buNone/>
            </a:pPr>
            <a:endParaRPr lang="en-US" altLang="zh-CN" sz="2000" dirty="0">
              <a:latin typeface="+mn-ea"/>
            </a:endParaRPr>
          </a:p>
          <a:p>
            <a:pPr marL="0" indent="0">
              <a:buNone/>
            </a:pPr>
            <a:r>
              <a:rPr lang="zh-CN" altLang="en-US" sz="2000" dirty="0">
                <a:latin typeface="+mn-ea"/>
              </a:rPr>
              <a:t>在</a:t>
            </a:r>
            <a:r>
              <a:rPr lang="en-US" altLang="zh-CN" sz="2000" dirty="0">
                <a:latin typeface="+mn-ea"/>
              </a:rPr>
              <a:t>C</a:t>
            </a:r>
            <a:r>
              <a:rPr lang="zh-CN" altLang="en-US" sz="2000" dirty="0">
                <a:latin typeface="+mn-ea"/>
              </a:rPr>
              <a:t>语言源程序中函数的排列位置是任意的，即允许主调函数排列在被调函数前面，也允许被调函数排列在主调函数前面。</a:t>
            </a:r>
            <a:r>
              <a:rPr lang="en-US" altLang="zh-CN" sz="2000" dirty="0">
                <a:latin typeface="+mn-ea"/>
              </a:rPr>
              <a:t>C</a:t>
            </a:r>
            <a:r>
              <a:rPr lang="zh-CN" altLang="en-US" sz="2000" dirty="0">
                <a:latin typeface="+mn-ea"/>
              </a:rPr>
              <a:t>语言规定，函数先定义后调用，若对某函数先调用后定义，则在调用该函数之前先对该被调用函数进行声明。</a:t>
            </a:r>
          </a:p>
          <a:p>
            <a:pPr marL="0" indent="0">
              <a:buNone/>
            </a:pPr>
            <a:endParaRPr lang="en-US" altLang="zh-CN" sz="2000" dirty="0">
              <a:latin typeface="+mn-ea"/>
            </a:endParaRPr>
          </a:p>
          <a:p>
            <a:pPr marL="0" indent="0">
              <a:buNone/>
            </a:pPr>
            <a:r>
              <a:rPr lang="en-US" altLang="zh-CN" sz="2000" dirty="0">
                <a:latin typeface="+mn-ea"/>
              </a:rPr>
              <a:t>3.</a:t>
            </a:r>
            <a:r>
              <a:rPr lang="zh-CN" altLang="en-US" sz="2000" dirty="0">
                <a:latin typeface="+mn-ea"/>
              </a:rPr>
              <a:t>以下几种情况可以省略对被调函数的函数声明</a:t>
            </a:r>
            <a:endParaRPr lang="en-US" altLang="zh-CN" sz="2000" dirty="0">
              <a:latin typeface="+mn-ea"/>
            </a:endParaRPr>
          </a:p>
          <a:p>
            <a:pPr marL="0" indent="0">
              <a:buNone/>
            </a:pPr>
            <a:endParaRPr lang="zh-CN" altLang="en-US" sz="2000" dirty="0">
              <a:latin typeface="+mn-ea"/>
            </a:endParaRPr>
          </a:p>
          <a:p>
            <a:pPr marL="0" indent="0">
              <a:buNone/>
            </a:pPr>
            <a:r>
              <a:rPr lang="zh-CN" altLang="en-US" sz="2000" dirty="0">
                <a:latin typeface="+mn-ea"/>
              </a:rPr>
              <a:t>（</a:t>
            </a:r>
            <a:r>
              <a:rPr lang="en-US" altLang="zh-CN" sz="2000" dirty="0">
                <a:latin typeface="+mn-ea"/>
              </a:rPr>
              <a:t>1</a:t>
            </a:r>
            <a:r>
              <a:rPr lang="zh-CN" altLang="en-US" sz="2000" dirty="0">
                <a:latin typeface="+mn-ea"/>
              </a:rPr>
              <a:t>）当被调用函数的函数定义出现在主调函数之前，或在所有函数定义之前，在函数外预先对各个函数进行了声明，则在后面的各主调函数中，可不再对被调函数声明。</a:t>
            </a:r>
          </a:p>
          <a:p>
            <a:pPr marL="0" indent="0">
              <a:buNone/>
            </a:pPr>
            <a:r>
              <a:rPr lang="zh-CN" altLang="en-US" sz="2000" dirty="0">
                <a:latin typeface="+mn-ea"/>
              </a:rPr>
              <a:t>（</a:t>
            </a:r>
            <a:r>
              <a:rPr lang="en-US" altLang="zh-CN" sz="2000" dirty="0">
                <a:latin typeface="+mn-ea"/>
              </a:rPr>
              <a:t>2</a:t>
            </a:r>
            <a:r>
              <a:rPr lang="zh-CN" altLang="en-US" sz="2000" dirty="0">
                <a:latin typeface="+mn-ea"/>
              </a:rPr>
              <a:t>）对库函数的调用不需要再作说明，但必须把该函数的头文件用</a:t>
            </a:r>
            <a:r>
              <a:rPr lang="en-US" altLang="zh-CN" sz="2000" dirty="0">
                <a:latin typeface="+mn-ea"/>
              </a:rPr>
              <a:t>include</a:t>
            </a:r>
            <a:r>
              <a:rPr lang="zh-CN" altLang="en-US" sz="2000" dirty="0">
                <a:latin typeface="+mn-ea"/>
              </a:rPr>
              <a:t>命令包含在源文件前部。如</a:t>
            </a:r>
            <a:r>
              <a:rPr lang="en-US" altLang="zh-CN" sz="2000" dirty="0">
                <a:latin typeface="+mn-ea"/>
              </a:rPr>
              <a:t>#include&lt;math.h&gt;</a:t>
            </a:r>
            <a:r>
              <a:rPr lang="zh-CN" altLang="en-US" sz="2000" dirty="0">
                <a:latin typeface="+mn-ea"/>
              </a:rPr>
              <a:t>（指的是调用数学库函数）</a:t>
            </a:r>
          </a:p>
        </p:txBody>
      </p:sp>
    </p:spTree>
    <p:extLst>
      <p:ext uri="{BB962C8B-B14F-4D97-AF65-F5344CB8AC3E}">
        <p14:creationId xmlns:p14="http://schemas.microsoft.com/office/powerpoint/2010/main" val="156006518"/>
      </p:ext>
    </p:extLst>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121AEB-CB4F-AAB9-E4E6-ABE4DCD4AA23}"/>
              </a:ext>
            </a:extLst>
          </p:cNvPr>
          <p:cNvSpPr>
            <a:spLocks noGrp="1"/>
          </p:cNvSpPr>
          <p:nvPr>
            <p:ph type="title"/>
          </p:nvPr>
        </p:nvSpPr>
        <p:spPr/>
        <p:txBody>
          <a:bodyPr>
            <a:normAutofit/>
          </a:bodyPr>
          <a:lstStyle/>
          <a:p>
            <a:r>
              <a:rPr lang="en-US" altLang="zh-CN" sz="3200" dirty="0">
                <a:latin typeface="+mn-ea"/>
                <a:ea typeface="+mn-ea"/>
              </a:rPr>
              <a:t>8.2 </a:t>
            </a:r>
            <a:r>
              <a:rPr lang="zh-CN" altLang="en-US" sz="3200" dirty="0">
                <a:latin typeface="+mn-ea"/>
                <a:ea typeface="+mn-ea"/>
              </a:rPr>
              <a:t>函数的调用</a:t>
            </a:r>
          </a:p>
        </p:txBody>
      </p:sp>
      <p:sp>
        <p:nvSpPr>
          <p:cNvPr id="3" name="内容占位符 2">
            <a:extLst>
              <a:ext uri="{FF2B5EF4-FFF2-40B4-BE49-F238E27FC236}">
                <a16:creationId xmlns:a16="http://schemas.microsoft.com/office/drawing/2014/main" id="{DCA314DD-A980-E55C-E67C-3292DC4CDC6B}"/>
              </a:ext>
            </a:extLst>
          </p:cNvPr>
          <p:cNvSpPr>
            <a:spLocks noGrp="1"/>
          </p:cNvSpPr>
          <p:nvPr>
            <p:ph idx="1"/>
          </p:nvPr>
        </p:nvSpPr>
        <p:spPr>
          <a:xfrm>
            <a:off x="838200" y="1458686"/>
            <a:ext cx="10515600" cy="4718277"/>
          </a:xfrm>
        </p:spPr>
        <p:txBody>
          <a:bodyPr>
            <a:normAutofit/>
          </a:bodyPr>
          <a:lstStyle/>
          <a:p>
            <a:r>
              <a:rPr lang="en-US" altLang="zh-CN" sz="2400" dirty="0">
                <a:latin typeface="+mn-ea"/>
              </a:rPr>
              <a:t>2.1</a:t>
            </a:r>
            <a:r>
              <a:rPr lang="zh-CN" altLang="en-US" sz="2400" dirty="0">
                <a:latin typeface="+mn-ea"/>
              </a:rPr>
              <a:t>函数的调用形式</a:t>
            </a:r>
            <a:endParaRPr lang="en-US" altLang="zh-CN" sz="2400" dirty="0">
              <a:latin typeface="+mn-ea"/>
            </a:endParaRPr>
          </a:p>
          <a:p>
            <a:pPr marL="0" indent="0">
              <a:buNone/>
            </a:pPr>
            <a:r>
              <a:rPr lang="en-US" altLang="zh-CN" sz="2000" dirty="0">
                <a:latin typeface="+mn-ea"/>
              </a:rPr>
              <a:t>1.</a:t>
            </a:r>
            <a:r>
              <a:rPr lang="zh-CN" altLang="en-US" sz="2000" dirty="0">
                <a:latin typeface="+mn-ea"/>
              </a:rPr>
              <a:t>调用的一般形式：函数名</a:t>
            </a:r>
            <a:r>
              <a:rPr lang="en-US" altLang="zh-CN" sz="2000" dirty="0">
                <a:latin typeface="+mn-ea"/>
              </a:rPr>
              <a:t>(</a:t>
            </a:r>
            <a:r>
              <a:rPr lang="zh-CN" altLang="en-US" sz="2000" dirty="0">
                <a:latin typeface="+mn-ea"/>
              </a:rPr>
              <a:t>实际参数表</a:t>
            </a:r>
            <a:r>
              <a:rPr lang="en-US" altLang="zh-CN" sz="2000" dirty="0">
                <a:latin typeface="+mn-ea"/>
              </a:rPr>
              <a:t>)</a:t>
            </a:r>
            <a:r>
              <a:rPr lang="zh-CN" altLang="en-US" sz="2000" dirty="0">
                <a:latin typeface="+mn-ea"/>
              </a:rPr>
              <a:t>； </a:t>
            </a:r>
            <a:r>
              <a:rPr lang="en-US" altLang="zh-CN" sz="2000" dirty="0">
                <a:latin typeface="+mn-ea"/>
              </a:rPr>
              <a:t>//</a:t>
            </a:r>
            <a:r>
              <a:rPr lang="zh-CN" altLang="en-US" sz="2000" dirty="0">
                <a:latin typeface="+mn-ea"/>
              </a:rPr>
              <a:t>各实参间用逗号隔开。无参函数的形式</a:t>
            </a:r>
            <a:r>
              <a:rPr lang="en-US" altLang="zh-CN" sz="2000" dirty="0">
                <a:latin typeface="+mn-ea"/>
              </a:rPr>
              <a:t>: </a:t>
            </a:r>
            <a:r>
              <a:rPr lang="zh-CN" altLang="en-US" sz="2000" dirty="0">
                <a:latin typeface="+mn-ea"/>
              </a:rPr>
              <a:t>函数名</a:t>
            </a:r>
            <a:r>
              <a:rPr lang="en-US" altLang="zh-CN" sz="2000" dirty="0">
                <a:latin typeface="+mn-ea"/>
              </a:rPr>
              <a:t>()</a:t>
            </a:r>
          </a:p>
          <a:p>
            <a:pPr marL="0" indent="0">
              <a:buNone/>
            </a:pPr>
            <a:endParaRPr lang="en-US" altLang="zh-CN" sz="2000" dirty="0">
              <a:latin typeface="+mn-ea"/>
            </a:endParaRPr>
          </a:p>
          <a:p>
            <a:pPr marL="0" indent="0">
              <a:buNone/>
            </a:pPr>
            <a:r>
              <a:rPr lang="en-US" altLang="zh-CN" sz="2000" dirty="0">
                <a:latin typeface="+mn-ea"/>
              </a:rPr>
              <a:t>2.</a:t>
            </a:r>
            <a:r>
              <a:rPr lang="zh-CN" altLang="en-US" sz="2000" dirty="0">
                <a:latin typeface="+mn-ea"/>
              </a:rPr>
              <a:t>调用函数方式</a:t>
            </a:r>
          </a:p>
          <a:p>
            <a:pPr marL="0" indent="0">
              <a:buNone/>
            </a:pPr>
            <a:r>
              <a:rPr lang="en-US" altLang="zh-CN" sz="2000" dirty="0">
                <a:latin typeface="+mn-ea"/>
              </a:rPr>
              <a:t>(1)</a:t>
            </a:r>
            <a:r>
              <a:rPr lang="zh-CN" altLang="en-US" sz="2000" dirty="0">
                <a:latin typeface="+mn-ea"/>
              </a:rPr>
              <a:t>函数语句： 函数调用的一般形式加上分号即构成函数语句。</a:t>
            </a:r>
          </a:p>
          <a:p>
            <a:pPr marL="0" indent="0">
              <a:buNone/>
            </a:pPr>
            <a:r>
              <a:rPr lang="en-US" altLang="zh-CN" sz="2000" dirty="0">
                <a:latin typeface="+mn-ea"/>
              </a:rPr>
              <a:t>(2)</a:t>
            </a:r>
            <a:r>
              <a:rPr lang="zh-CN" altLang="en-US" sz="2000" dirty="0">
                <a:latin typeface="+mn-ea"/>
              </a:rPr>
              <a:t>函数表达式：函数调用作为表达式中的一项出现在表达式中，用函数返回值参与表达式的计算。如：</a:t>
            </a:r>
            <a:r>
              <a:rPr lang="en-US" altLang="zh-CN" sz="2000" dirty="0">
                <a:latin typeface="+mn-ea"/>
              </a:rPr>
              <a:t>z=2∗max(</a:t>
            </a:r>
            <a:r>
              <a:rPr lang="en-US" altLang="zh-CN" sz="2000" dirty="0" err="1">
                <a:latin typeface="+mn-ea"/>
              </a:rPr>
              <a:t>x,y</a:t>
            </a:r>
            <a:r>
              <a:rPr lang="en-US" altLang="zh-CN" sz="2000" dirty="0">
                <a:latin typeface="+mn-ea"/>
              </a:rPr>
              <a:t>);</a:t>
            </a:r>
          </a:p>
          <a:p>
            <a:pPr marL="0" indent="0">
              <a:buNone/>
            </a:pPr>
            <a:r>
              <a:rPr lang="en-US" altLang="zh-CN" sz="2000" dirty="0">
                <a:latin typeface="+mn-ea"/>
              </a:rPr>
              <a:t>(3)</a:t>
            </a:r>
            <a:r>
              <a:rPr lang="zh-CN" altLang="en-US" sz="2000" dirty="0">
                <a:latin typeface="+mn-ea"/>
              </a:rPr>
              <a:t>函数实参</a:t>
            </a:r>
            <a:r>
              <a:rPr lang="en-US" altLang="zh-CN" sz="2000" dirty="0">
                <a:latin typeface="+mn-ea"/>
              </a:rPr>
              <a:t>: </a:t>
            </a:r>
            <a:r>
              <a:rPr lang="zh-CN" altLang="en-US" sz="2000" dirty="0">
                <a:latin typeface="+mn-ea"/>
              </a:rPr>
              <a:t>函数调用作为另</a:t>
            </a:r>
            <a:r>
              <a:rPr lang="en-US" altLang="zh-CN" sz="2000" dirty="0">
                <a:latin typeface="+mn-ea"/>
              </a:rPr>
              <a:t>1</a:t>
            </a:r>
            <a:r>
              <a:rPr lang="zh-CN" altLang="en-US" sz="2000" dirty="0">
                <a:latin typeface="+mn-ea"/>
              </a:rPr>
              <a:t>个函数调用的实参出现。 如</a:t>
            </a:r>
            <a:r>
              <a:rPr lang="en-US" altLang="zh-CN" sz="2000" dirty="0">
                <a:latin typeface="+mn-ea"/>
              </a:rPr>
              <a:t>: z=max(max(</a:t>
            </a:r>
            <a:r>
              <a:rPr lang="en-US" altLang="zh-CN" sz="2000" dirty="0" err="1">
                <a:latin typeface="+mn-ea"/>
              </a:rPr>
              <a:t>a,b</a:t>
            </a:r>
            <a:r>
              <a:rPr lang="en-US" altLang="zh-CN" sz="2000" dirty="0">
                <a:latin typeface="+mn-ea"/>
              </a:rPr>
              <a:t>),c);</a:t>
            </a:r>
          </a:p>
          <a:p>
            <a:pPr marL="0" indent="0">
              <a:buNone/>
            </a:pPr>
            <a:r>
              <a:rPr lang="en-US" altLang="zh-CN" sz="2000" dirty="0">
                <a:latin typeface="+mn-ea"/>
              </a:rPr>
              <a:t>3.</a:t>
            </a:r>
            <a:r>
              <a:rPr lang="zh-CN" altLang="en-US" sz="2000" dirty="0">
                <a:latin typeface="+mn-ea"/>
              </a:rPr>
              <a:t>在主调函数执行过程中，一旦遇到函数调用，系统首先计算实参的值并为每个形参分配存储单元，然后把实参值复制到对应形参的存储单元中。</a:t>
            </a:r>
          </a:p>
          <a:p>
            <a:pPr marL="0" indent="0">
              <a:buNone/>
            </a:pPr>
            <a:endParaRPr lang="zh-CN" altLang="en-US" dirty="0"/>
          </a:p>
        </p:txBody>
      </p:sp>
    </p:spTree>
    <p:extLst>
      <p:ext uri="{BB962C8B-B14F-4D97-AF65-F5344CB8AC3E}">
        <p14:creationId xmlns:p14="http://schemas.microsoft.com/office/powerpoint/2010/main" val="2986525856"/>
      </p:ext>
    </p:extLst>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21DFA-FCED-D93B-C3CF-BAAC2412626B}"/>
              </a:ext>
            </a:extLst>
          </p:cNvPr>
          <p:cNvSpPr>
            <a:spLocks noGrp="1"/>
          </p:cNvSpPr>
          <p:nvPr>
            <p:ph type="title"/>
          </p:nvPr>
        </p:nvSpPr>
        <p:spPr/>
        <p:txBody>
          <a:bodyPr>
            <a:normAutofit/>
          </a:bodyPr>
          <a:lstStyle/>
          <a:p>
            <a:r>
              <a:rPr lang="en-US" altLang="zh-CN" sz="2400" dirty="0">
                <a:latin typeface="+mn-ea"/>
                <a:ea typeface="+mn-ea"/>
              </a:rPr>
              <a:t>2.2 </a:t>
            </a:r>
            <a:r>
              <a:rPr lang="zh-CN" altLang="en-US" sz="2400" kern="100" dirty="0">
                <a:effectLst/>
                <a:latin typeface="+mn-ea"/>
                <a:ea typeface="+mn-ea"/>
                <a:cs typeface="Arial" panose="020B0604020202020204" pitchFamily="34" charset="0"/>
              </a:rPr>
              <a:t>函数调用时的参数传递</a:t>
            </a:r>
            <a:endParaRPr lang="zh-CN" altLang="en-US" sz="2400" dirty="0">
              <a:latin typeface="+mn-ea"/>
              <a:ea typeface="+mn-ea"/>
            </a:endParaRPr>
          </a:p>
        </p:txBody>
      </p:sp>
      <p:sp>
        <p:nvSpPr>
          <p:cNvPr id="3" name="内容占位符 2">
            <a:extLst>
              <a:ext uri="{FF2B5EF4-FFF2-40B4-BE49-F238E27FC236}">
                <a16:creationId xmlns:a16="http://schemas.microsoft.com/office/drawing/2014/main" id="{C2CF45CA-E645-1871-FE43-E4E98F64FBB6}"/>
              </a:ext>
            </a:extLst>
          </p:cNvPr>
          <p:cNvSpPr>
            <a:spLocks noGrp="1"/>
          </p:cNvSpPr>
          <p:nvPr>
            <p:ph idx="1"/>
          </p:nvPr>
        </p:nvSpPr>
        <p:spPr/>
        <p:txBody>
          <a:bodyPr>
            <a:normAutofit/>
          </a:bodyPr>
          <a:lstStyle/>
          <a:p>
            <a:pPr marL="0" indent="0">
              <a:buNone/>
            </a:pPr>
            <a:r>
              <a:rPr lang="en-US" altLang="zh-CN" sz="2000" dirty="0">
                <a:latin typeface="+mn-ea"/>
              </a:rPr>
              <a:t>1. </a:t>
            </a:r>
            <a:r>
              <a:rPr lang="zh-CN" altLang="en-US" sz="2000" dirty="0">
                <a:latin typeface="+mn-ea"/>
              </a:rPr>
              <a:t>按值调用：当形参和实参是基本类型变量时，参数传递的方式是按值调用。</a:t>
            </a:r>
          </a:p>
          <a:p>
            <a:pPr marL="0" indent="0">
              <a:buNone/>
            </a:pPr>
            <a:r>
              <a:rPr lang="zh-CN" altLang="en-US" sz="2000" dirty="0">
                <a:latin typeface="+mn-ea"/>
              </a:rPr>
              <a:t>过程： </a:t>
            </a:r>
            <a:r>
              <a:rPr lang="en-US" altLang="zh-CN" sz="2000" dirty="0">
                <a:latin typeface="+mn-ea"/>
              </a:rPr>
              <a:t>a)</a:t>
            </a:r>
            <a:r>
              <a:rPr lang="zh-CN" altLang="en-US" sz="2000" dirty="0">
                <a:latin typeface="+mn-ea"/>
              </a:rPr>
              <a:t>函数被调用时，形参变量被创建。</a:t>
            </a:r>
          </a:p>
          <a:p>
            <a:pPr marL="0" indent="0">
              <a:buNone/>
            </a:pPr>
            <a:r>
              <a:rPr lang="en-US" altLang="zh-CN" sz="2000" dirty="0">
                <a:latin typeface="+mn-ea"/>
              </a:rPr>
              <a:t>b)</a:t>
            </a:r>
            <a:r>
              <a:rPr lang="zh-CN" altLang="en-US" sz="2000" dirty="0">
                <a:latin typeface="+mn-ea"/>
              </a:rPr>
              <a:t>形参变量的值从实参中一一对应复制而得。</a:t>
            </a:r>
          </a:p>
          <a:p>
            <a:pPr marL="0" indent="0">
              <a:buNone/>
            </a:pPr>
            <a:r>
              <a:rPr lang="en-US" altLang="zh-CN" sz="2000" dirty="0">
                <a:latin typeface="+mn-ea"/>
              </a:rPr>
              <a:t>c)</a:t>
            </a:r>
            <a:r>
              <a:rPr lang="zh-CN" altLang="en-US" sz="2000" dirty="0">
                <a:latin typeface="+mn-ea"/>
              </a:rPr>
              <a:t>当从被调用的函数返回主调函数时，形参所占内存单元被释放。</a:t>
            </a:r>
          </a:p>
          <a:p>
            <a:pPr marL="0" indent="0">
              <a:buNone/>
            </a:pPr>
            <a:r>
              <a:rPr lang="zh-CN" altLang="en-US" sz="2000" dirty="0">
                <a:latin typeface="+mn-ea"/>
              </a:rPr>
              <a:t>由于形参和实参在内存中各自占用不同的内存单元，所以形参的数值变化不会导致实参的相应变化。按值调用采用的就是一种“单向”的值传递方式，即由实参向形参进行值传递。</a:t>
            </a:r>
          </a:p>
          <a:p>
            <a:pPr marL="0" indent="0">
              <a:buNone/>
            </a:pPr>
            <a:r>
              <a:rPr lang="en-US" altLang="zh-CN" sz="2000" dirty="0">
                <a:latin typeface="+mn-ea"/>
              </a:rPr>
              <a:t>(1)</a:t>
            </a:r>
            <a:r>
              <a:rPr lang="zh-CN" altLang="en-US" sz="2000" dirty="0">
                <a:latin typeface="+mn-ea"/>
              </a:rPr>
              <a:t>变量作函数参数</a:t>
            </a:r>
          </a:p>
          <a:p>
            <a:pPr marL="0" indent="0">
              <a:buNone/>
            </a:pPr>
            <a:r>
              <a:rPr lang="en-US" altLang="zh-CN" sz="2000" dirty="0">
                <a:latin typeface="+mn-ea"/>
              </a:rPr>
              <a:t>(2)</a:t>
            </a:r>
            <a:r>
              <a:rPr lang="zh-CN" altLang="en-US" sz="2000" dirty="0">
                <a:latin typeface="+mn-ea"/>
              </a:rPr>
              <a:t>数组元素做函数实参与普通变量没有区别</a:t>
            </a:r>
          </a:p>
        </p:txBody>
      </p:sp>
    </p:spTree>
    <p:extLst>
      <p:ext uri="{BB962C8B-B14F-4D97-AF65-F5344CB8AC3E}">
        <p14:creationId xmlns:p14="http://schemas.microsoft.com/office/powerpoint/2010/main" val="3629828173"/>
      </p:ext>
    </p:extLst>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B765E8-C290-194C-021A-EC8CE5D1E32E}"/>
              </a:ext>
            </a:extLst>
          </p:cNvPr>
          <p:cNvSpPr>
            <a:spLocks noGrp="1"/>
          </p:cNvSpPr>
          <p:nvPr>
            <p:ph idx="1"/>
          </p:nvPr>
        </p:nvSpPr>
        <p:spPr>
          <a:xfrm>
            <a:off x="838200" y="435430"/>
            <a:ext cx="10515600" cy="5979884"/>
          </a:xfrm>
        </p:spPr>
        <p:txBody>
          <a:bodyPr>
            <a:normAutofit fontScale="62500" lnSpcReduction="20000"/>
          </a:bodyPr>
          <a:lstStyle/>
          <a:p>
            <a:pPr marL="0" indent="0">
              <a:buNone/>
            </a:pPr>
            <a:r>
              <a:rPr lang="en-US" altLang="zh-CN" sz="3100" dirty="0">
                <a:latin typeface="+mn-ea"/>
              </a:rPr>
              <a:t>2.</a:t>
            </a:r>
            <a:r>
              <a:rPr lang="zh-CN" altLang="en-US" sz="3100" dirty="0">
                <a:latin typeface="+mn-ea"/>
              </a:rPr>
              <a:t>按地址调用</a:t>
            </a:r>
          </a:p>
          <a:p>
            <a:pPr marL="0" indent="0">
              <a:buNone/>
            </a:pPr>
            <a:endParaRPr lang="en-US" altLang="zh-CN" dirty="0">
              <a:latin typeface="+mn-ea"/>
            </a:endParaRPr>
          </a:p>
          <a:p>
            <a:pPr marL="0" indent="0">
              <a:buNone/>
            </a:pPr>
            <a:r>
              <a:rPr lang="zh-CN" altLang="en-US" dirty="0">
                <a:latin typeface="+mn-ea"/>
              </a:rPr>
              <a:t>当形参和实参是指针</a:t>
            </a:r>
            <a:r>
              <a:rPr lang="en-US" altLang="zh-CN" dirty="0">
                <a:latin typeface="+mn-ea"/>
              </a:rPr>
              <a:t>(</a:t>
            </a:r>
            <a:r>
              <a:rPr lang="zh-CN" altLang="en-US" dirty="0">
                <a:latin typeface="+mn-ea"/>
              </a:rPr>
              <a:t>地址</a:t>
            </a:r>
            <a:r>
              <a:rPr lang="en-US" altLang="zh-CN" dirty="0">
                <a:latin typeface="+mn-ea"/>
              </a:rPr>
              <a:t>)</a:t>
            </a:r>
            <a:r>
              <a:rPr lang="zh-CN" altLang="en-US" dirty="0">
                <a:latin typeface="+mn-ea"/>
              </a:rPr>
              <a:t>类型的数据时，实参到形参的参数传递是地址值的传递，称为按地址调用。</a:t>
            </a:r>
          </a:p>
          <a:p>
            <a:pPr marL="0" indent="0">
              <a:buNone/>
            </a:pPr>
            <a:r>
              <a:rPr lang="zh-CN" altLang="en-US" dirty="0">
                <a:latin typeface="+mn-ea"/>
              </a:rPr>
              <a:t>特点：主调函数中的实参和被调函数中的形参仍占用不同的存储单元，但是形参和实参所指向的是同一地址，对形参所指地址上的内容的操作会影响实参所指向的地址上的内容。此时，函数也无须通过</a:t>
            </a:r>
            <a:r>
              <a:rPr lang="en-US" altLang="zh-CN" dirty="0">
                <a:latin typeface="+mn-ea"/>
              </a:rPr>
              <a:t>return</a:t>
            </a:r>
            <a:r>
              <a:rPr lang="zh-CN" altLang="en-US" dirty="0">
                <a:latin typeface="+mn-ea"/>
              </a:rPr>
              <a:t>语句返回函数值了。</a:t>
            </a:r>
          </a:p>
          <a:p>
            <a:pPr marL="0" indent="0">
              <a:buNone/>
            </a:pPr>
            <a:r>
              <a:rPr lang="en-US" altLang="zh-CN" dirty="0">
                <a:latin typeface="+mn-ea"/>
              </a:rPr>
              <a:t>(1) </a:t>
            </a:r>
            <a:r>
              <a:rPr lang="zh-CN" altLang="en-US" dirty="0">
                <a:latin typeface="+mn-ea"/>
              </a:rPr>
              <a:t>指针作函数参数</a:t>
            </a:r>
          </a:p>
          <a:p>
            <a:pPr marL="0" indent="0">
              <a:buNone/>
            </a:pPr>
            <a:r>
              <a:rPr lang="en-US" altLang="zh-CN" dirty="0">
                <a:latin typeface="+mn-ea"/>
              </a:rPr>
              <a:t>(2)</a:t>
            </a:r>
            <a:r>
              <a:rPr lang="zh-CN" altLang="en-US" dirty="0">
                <a:latin typeface="+mn-ea"/>
              </a:rPr>
              <a:t>数组名作参数</a:t>
            </a:r>
          </a:p>
          <a:p>
            <a:pPr marL="0" indent="0">
              <a:buNone/>
            </a:pPr>
            <a:r>
              <a:rPr lang="zh-CN" altLang="en-US" dirty="0">
                <a:latin typeface="+mn-ea"/>
              </a:rPr>
              <a:t>数组名是数组的地址</a:t>
            </a:r>
            <a:r>
              <a:rPr lang="en-US" altLang="zh-CN" dirty="0">
                <a:latin typeface="+mn-ea"/>
              </a:rPr>
              <a:t>,</a:t>
            </a:r>
            <a:r>
              <a:rPr lang="zh-CN" altLang="en-US" dirty="0">
                <a:latin typeface="+mn-ea"/>
              </a:rPr>
              <a:t>属于是地址传递。 如</a:t>
            </a:r>
            <a:r>
              <a:rPr lang="en-US" altLang="zh-CN" dirty="0">
                <a:latin typeface="+mn-ea"/>
              </a:rPr>
              <a:t>: float sum(float a[]);</a:t>
            </a:r>
          </a:p>
          <a:p>
            <a:pPr marL="0" indent="0">
              <a:buNone/>
            </a:pPr>
            <a:r>
              <a:rPr lang="zh-CN" altLang="en-US" dirty="0">
                <a:latin typeface="+mn-ea"/>
              </a:rPr>
              <a:t>但是在编译时是将数组</a:t>
            </a:r>
            <a:r>
              <a:rPr lang="en-US" altLang="zh-CN" dirty="0">
                <a:latin typeface="+mn-ea"/>
              </a:rPr>
              <a:t>a </a:t>
            </a:r>
            <a:r>
              <a:rPr lang="zh-CN" altLang="en-US" dirty="0">
                <a:latin typeface="+mn-ea"/>
              </a:rPr>
              <a:t>按指针变量处理的，所以上面定义相当于</a:t>
            </a:r>
          </a:p>
          <a:p>
            <a:pPr marL="0" indent="0">
              <a:buNone/>
            </a:pPr>
            <a:r>
              <a:rPr lang="en-US" altLang="zh-CN" dirty="0">
                <a:latin typeface="+mn-ea"/>
              </a:rPr>
              <a:t>float sum(float *a);</a:t>
            </a:r>
          </a:p>
          <a:p>
            <a:pPr marL="0" indent="0">
              <a:buNone/>
            </a:pPr>
            <a:r>
              <a:rPr lang="zh-CN" altLang="en-US" dirty="0">
                <a:latin typeface="+mn-ea"/>
              </a:rPr>
              <a:t>用数组名作为函数参数时还应注意以下问题：</a:t>
            </a:r>
          </a:p>
          <a:p>
            <a:pPr marL="0" indent="0">
              <a:buNone/>
            </a:pPr>
            <a:r>
              <a:rPr lang="en-US" altLang="zh-CN" dirty="0">
                <a:latin typeface="+mn-ea"/>
              </a:rPr>
              <a:t>a)</a:t>
            </a:r>
            <a:r>
              <a:rPr lang="zh-CN" altLang="en-US" dirty="0">
                <a:latin typeface="+mn-ea"/>
              </a:rPr>
              <a:t>形参数组和实参数组的类型必须一致，否则将引起错误，因为不同类型数据存储时所占字节数不同。</a:t>
            </a:r>
          </a:p>
          <a:p>
            <a:pPr marL="0" indent="0">
              <a:buNone/>
            </a:pPr>
            <a:r>
              <a:rPr lang="en-US" altLang="zh-CN" dirty="0">
                <a:latin typeface="+mn-ea"/>
              </a:rPr>
              <a:t>b)</a:t>
            </a:r>
            <a:r>
              <a:rPr lang="zh-CN" altLang="en-US" dirty="0">
                <a:latin typeface="+mn-ea"/>
              </a:rPr>
              <a:t>形参数组可以不指定大小，实参数组和形参数组的大小可以不一致，编译时不做检查。</a:t>
            </a:r>
          </a:p>
          <a:p>
            <a:pPr marL="0" indent="0">
              <a:buNone/>
            </a:pPr>
            <a:r>
              <a:rPr lang="en-US" altLang="zh-CN" dirty="0">
                <a:latin typeface="+mn-ea"/>
              </a:rPr>
              <a:t>c) </a:t>
            </a:r>
            <a:r>
              <a:rPr lang="zh-CN" altLang="en-US" dirty="0">
                <a:latin typeface="+mn-ea"/>
              </a:rPr>
              <a:t>由于是地址传递，所以实参和形参指向内存单元的同一个地址，形式上是两个数组，而实质上是同一个数组，所以形参中所指的各元素值的变化，实际上就是实参所指的各元素的变化。</a:t>
            </a:r>
          </a:p>
        </p:txBody>
      </p:sp>
    </p:spTree>
    <p:extLst>
      <p:ext uri="{BB962C8B-B14F-4D97-AF65-F5344CB8AC3E}">
        <p14:creationId xmlns:p14="http://schemas.microsoft.com/office/powerpoint/2010/main" val="3031105733"/>
      </p:ext>
    </p:extLst>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7FC6B-39BC-BA75-9CEB-80C3116190F9}"/>
              </a:ext>
            </a:extLst>
          </p:cNvPr>
          <p:cNvSpPr>
            <a:spLocks noGrp="1"/>
          </p:cNvSpPr>
          <p:nvPr>
            <p:ph type="title"/>
          </p:nvPr>
        </p:nvSpPr>
        <p:spPr/>
        <p:txBody>
          <a:bodyPr>
            <a:normAutofit/>
          </a:bodyPr>
          <a:lstStyle/>
          <a:p>
            <a:r>
              <a:rPr lang="en-US" altLang="zh-CN" sz="3200" dirty="0">
                <a:latin typeface="+mn-ea"/>
                <a:ea typeface="+mn-ea"/>
              </a:rPr>
              <a:t>2.3 </a:t>
            </a:r>
            <a:r>
              <a:rPr lang="zh-CN" altLang="en-US" sz="3200" dirty="0">
                <a:latin typeface="+mn-ea"/>
                <a:ea typeface="+mn-ea"/>
              </a:rPr>
              <a:t>库函数的调用</a:t>
            </a:r>
          </a:p>
        </p:txBody>
      </p:sp>
      <p:sp>
        <p:nvSpPr>
          <p:cNvPr id="3" name="内容占位符 2">
            <a:extLst>
              <a:ext uri="{FF2B5EF4-FFF2-40B4-BE49-F238E27FC236}">
                <a16:creationId xmlns:a16="http://schemas.microsoft.com/office/drawing/2014/main" id="{8BB8AE51-9342-73C2-D129-9AD2D95A3EC4}"/>
              </a:ext>
            </a:extLst>
          </p:cNvPr>
          <p:cNvSpPr>
            <a:spLocks noGrp="1"/>
          </p:cNvSpPr>
          <p:nvPr>
            <p:ph idx="1"/>
          </p:nvPr>
        </p:nvSpPr>
        <p:spPr>
          <a:xfrm>
            <a:off x="838200" y="1393371"/>
            <a:ext cx="10515600" cy="4783592"/>
          </a:xfrm>
        </p:spPr>
        <p:txBody>
          <a:bodyPr>
            <a:normAutofit/>
          </a:bodyPr>
          <a:lstStyle/>
          <a:p>
            <a:pPr marL="0" indent="0">
              <a:buNone/>
            </a:pPr>
            <a:r>
              <a:rPr lang="en-US" altLang="zh-CN" sz="2000" dirty="0">
                <a:latin typeface="+mn-ea"/>
              </a:rPr>
              <a:t>C</a:t>
            </a:r>
            <a:r>
              <a:rPr lang="zh-CN" altLang="en-US" sz="2000" dirty="0">
                <a:latin typeface="+mn-ea"/>
              </a:rPr>
              <a:t>语言提供了丰富的库函数，包括常用的数学函数，如求绝对值的 </a:t>
            </a:r>
            <a:r>
              <a:rPr lang="en-US" altLang="zh-CN" sz="2000" dirty="0">
                <a:latin typeface="+mn-ea"/>
              </a:rPr>
              <a:t>fabs()</a:t>
            </a:r>
            <a:r>
              <a:rPr lang="zh-CN" altLang="en-US" sz="2000" dirty="0">
                <a:latin typeface="+mn-ea"/>
              </a:rPr>
              <a:t>函数，求正弦值的 </a:t>
            </a:r>
            <a:r>
              <a:rPr lang="en-US" altLang="zh-CN" sz="2000" dirty="0">
                <a:latin typeface="+mn-ea"/>
              </a:rPr>
              <a:t>sin()</a:t>
            </a:r>
            <a:r>
              <a:rPr lang="zh-CN" altLang="en-US" sz="2000" dirty="0">
                <a:latin typeface="+mn-ea"/>
              </a:rPr>
              <a:t>函数，也包括对字符和字符串进行处理的函数，还包括进行输入和输出的各种函数等。</a:t>
            </a:r>
          </a:p>
          <a:p>
            <a:pPr marL="0" indent="0">
              <a:buNone/>
            </a:pPr>
            <a:r>
              <a:rPr lang="en-US" altLang="zh-CN" sz="2000" dirty="0">
                <a:latin typeface="+mn-ea"/>
              </a:rPr>
              <a:t>1. </a:t>
            </a:r>
            <a:r>
              <a:rPr lang="zh-CN" altLang="en-US" sz="2000" dirty="0">
                <a:latin typeface="+mn-ea"/>
              </a:rPr>
              <a:t>调用</a:t>
            </a:r>
            <a:r>
              <a:rPr lang="en-US" altLang="zh-CN" sz="2000" dirty="0">
                <a:latin typeface="+mn-ea"/>
              </a:rPr>
              <a:t>C</a:t>
            </a:r>
            <a:r>
              <a:rPr lang="zh-CN" altLang="en-US" sz="2000" dirty="0">
                <a:latin typeface="+mn-ea"/>
              </a:rPr>
              <a:t>语言标准库函数时的格式</a:t>
            </a:r>
            <a:r>
              <a:rPr lang="en-US" altLang="zh-CN" sz="2000" dirty="0">
                <a:latin typeface="+mn-ea"/>
              </a:rPr>
              <a:t>;#include&lt;</a:t>
            </a:r>
            <a:r>
              <a:rPr lang="zh-CN" altLang="en-US" sz="2000" dirty="0">
                <a:latin typeface="+mn-ea"/>
              </a:rPr>
              <a:t>头文件</a:t>
            </a:r>
            <a:r>
              <a:rPr lang="en-US" altLang="zh-CN" sz="2000" dirty="0">
                <a:latin typeface="+mn-ea"/>
              </a:rPr>
              <a:t>&gt; </a:t>
            </a:r>
            <a:r>
              <a:rPr lang="zh-CN" altLang="en-US" sz="2000" dirty="0">
                <a:latin typeface="+mn-ea"/>
              </a:rPr>
              <a:t>或 </a:t>
            </a:r>
            <a:r>
              <a:rPr lang="en-US" altLang="zh-CN" sz="2000" dirty="0">
                <a:latin typeface="+mn-ea"/>
              </a:rPr>
              <a:t>#include“</a:t>
            </a:r>
            <a:r>
              <a:rPr lang="zh-CN" altLang="en-US" sz="2000" dirty="0">
                <a:latin typeface="+mn-ea"/>
              </a:rPr>
              <a:t>头文件”</a:t>
            </a:r>
          </a:p>
          <a:p>
            <a:pPr marL="0" indent="0">
              <a:buNone/>
            </a:pPr>
            <a:r>
              <a:rPr lang="en-US" altLang="zh-CN" sz="2000" dirty="0">
                <a:latin typeface="+mn-ea"/>
              </a:rPr>
              <a:t>include </a:t>
            </a:r>
            <a:r>
              <a:rPr lang="zh-CN" altLang="en-US" sz="2000" dirty="0">
                <a:latin typeface="+mn-ea"/>
              </a:rPr>
              <a:t>命令必须以</a:t>
            </a:r>
            <a:r>
              <a:rPr lang="en-US" altLang="zh-CN" sz="2000" dirty="0">
                <a:latin typeface="+mn-ea"/>
              </a:rPr>
              <a:t>#</a:t>
            </a:r>
            <a:r>
              <a:rPr lang="zh-CN" altLang="en-US" sz="2000" dirty="0">
                <a:latin typeface="+mn-ea"/>
              </a:rPr>
              <a:t>开头，系统提供的头文件以</a:t>
            </a:r>
            <a:r>
              <a:rPr lang="en-US" altLang="zh-CN" sz="2000" dirty="0">
                <a:latin typeface="+mn-ea"/>
              </a:rPr>
              <a:t>. h</a:t>
            </a:r>
            <a:r>
              <a:rPr lang="zh-CN" altLang="en-US" sz="2000" dirty="0">
                <a:latin typeface="+mn-ea"/>
              </a:rPr>
              <a:t>作为文件后缀， </a:t>
            </a:r>
            <a:r>
              <a:rPr lang="en-US" altLang="zh-CN" sz="2000" dirty="0">
                <a:latin typeface="+mn-ea"/>
              </a:rPr>
              <a:t>include </a:t>
            </a:r>
            <a:r>
              <a:rPr lang="zh-CN" altLang="en-US" sz="2000" dirty="0">
                <a:latin typeface="+mn-ea"/>
              </a:rPr>
              <a:t>命令不是 </a:t>
            </a:r>
            <a:r>
              <a:rPr lang="en-US" altLang="zh-CN" sz="2000" dirty="0">
                <a:latin typeface="+mn-ea"/>
              </a:rPr>
              <a:t>C</a:t>
            </a:r>
            <a:r>
              <a:rPr lang="zh-CN" altLang="en-US" sz="2000" dirty="0">
                <a:latin typeface="+mn-ea"/>
              </a:rPr>
              <a:t>的语句， 所以不能在最后加分号。</a:t>
            </a:r>
          </a:p>
          <a:p>
            <a:pPr marL="0" indent="0">
              <a:buNone/>
            </a:pPr>
            <a:endParaRPr lang="en-US" altLang="zh-CN" sz="2000" dirty="0">
              <a:latin typeface="+mn-ea"/>
            </a:endParaRPr>
          </a:p>
          <a:p>
            <a:pPr marL="0" indent="0">
              <a:buNone/>
            </a:pPr>
            <a:r>
              <a:rPr lang="en-US" altLang="zh-CN" sz="2000" dirty="0">
                <a:latin typeface="+mn-ea"/>
              </a:rPr>
              <a:t>2.</a:t>
            </a:r>
            <a:r>
              <a:rPr lang="zh-CN" altLang="en-US" sz="2000" dirty="0">
                <a:latin typeface="+mn-ea"/>
              </a:rPr>
              <a:t>常用头文件</a:t>
            </a:r>
          </a:p>
          <a:p>
            <a:pPr marL="0" indent="0">
              <a:buNone/>
            </a:pPr>
            <a:r>
              <a:rPr lang="en-US" altLang="zh-CN" sz="2000" dirty="0">
                <a:latin typeface="+mn-ea"/>
              </a:rPr>
              <a:t>(1) </a:t>
            </a:r>
            <a:r>
              <a:rPr lang="en-US" altLang="zh-CN" sz="2000" dirty="0" err="1">
                <a:latin typeface="+mn-ea"/>
              </a:rPr>
              <a:t>stdio</a:t>
            </a:r>
            <a:r>
              <a:rPr lang="en-US" altLang="zh-CN" sz="2000" dirty="0">
                <a:latin typeface="+mn-ea"/>
              </a:rPr>
              <a:t>. h </a:t>
            </a:r>
            <a:r>
              <a:rPr lang="zh-CN" altLang="en-US" sz="2000" dirty="0">
                <a:latin typeface="+mn-ea"/>
              </a:rPr>
              <a:t>输入</a:t>
            </a:r>
            <a:r>
              <a:rPr lang="en-US" altLang="zh-CN" sz="2000" dirty="0">
                <a:latin typeface="+mn-ea"/>
              </a:rPr>
              <a:t>/</a:t>
            </a:r>
            <a:r>
              <a:rPr lang="zh-CN" altLang="en-US" sz="2000" dirty="0">
                <a:latin typeface="+mn-ea"/>
              </a:rPr>
              <a:t>输出库函数</a:t>
            </a:r>
          </a:p>
          <a:p>
            <a:pPr marL="0" indent="0">
              <a:buNone/>
            </a:pPr>
            <a:r>
              <a:rPr lang="en-US" altLang="zh-CN" sz="2000" dirty="0">
                <a:latin typeface="+mn-ea"/>
              </a:rPr>
              <a:t>(2) math. h</a:t>
            </a:r>
            <a:r>
              <a:rPr lang="zh-CN" altLang="en-US" sz="2000" dirty="0">
                <a:latin typeface="+mn-ea"/>
              </a:rPr>
              <a:t>、</a:t>
            </a:r>
            <a:r>
              <a:rPr lang="en-US" altLang="zh-CN" sz="2000" dirty="0" err="1">
                <a:latin typeface="+mn-ea"/>
              </a:rPr>
              <a:t>stdlib</a:t>
            </a:r>
            <a:r>
              <a:rPr lang="en-US" altLang="zh-CN" sz="2000" dirty="0">
                <a:latin typeface="+mn-ea"/>
              </a:rPr>
              <a:t>. h</a:t>
            </a:r>
            <a:r>
              <a:rPr lang="zh-CN" altLang="en-US" sz="2000" dirty="0">
                <a:latin typeface="+mn-ea"/>
              </a:rPr>
              <a:t>、</a:t>
            </a:r>
            <a:r>
              <a:rPr lang="en-US" altLang="zh-CN" sz="2000" dirty="0">
                <a:latin typeface="+mn-ea"/>
              </a:rPr>
              <a:t>float. h </a:t>
            </a:r>
            <a:r>
              <a:rPr lang="zh-CN" altLang="en-US" sz="2000" dirty="0">
                <a:latin typeface="+mn-ea"/>
              </a:rPr>
              <a:t>数学库函数</a:t>
            </a:r>
          </a:p>
          <a:p>
            <a:pPr marL="0" indent="0">
              <a:buNone/>
            </a:pPr>
            <a:r>
              <a:rPr lang="en-US" altLang="zh-CN" sz="2000" dirty="0">
                <a:latin typeface="+mn-ea"/>
              </a:rPr>
              <a:t>(3) string. h </a:t>
            </a:r>
            <a:r>
              <a:rPr lang="zh-CN" altLang="en-US" sz="2000" dirty="0">
                <a:latin typeface="+mn-ea"/>
              </a:rPr>
              <a:t>内存缓冲区和字符串处理库函数</a:t>
            </a:r>
          </a:p>
          <a:p>
            <a:pPr marL="0" indent="0">
              <a:buNone/>
            </a:pPr>
            <a:r>
              <a:rPr lang="en-US" altLang="zh-CN" sz="2000" dirty="0">
                <a:latin typeface="+mn-ea"/>
              </a:rPr>
              <a:t>(4) time. h </a:t>
            </a:r>
            <a:r>
              <a:rPr lang="zh-CN" altLang="en-US" sz="2000" dirty="0">
                <a:latin typeface="+mn-ea"/>
              </a:rPr>
              <a:t>时间库函数</a:t>
            </a:r>
          </a:p>
          <a:p>
            <a:pPr marL="0" indent="0">
              <a:buNone/>
            </a:pPr>
            <a:r>
              <a:rPr lang="en-US" altLang="zh-CN" sz="2000" dirty="0">
                <a:latin typeface="+mn-ea"/>
              </a:rPr>
              <a:t>(5) malloc. h</a:t>
            </a:r>
            <a:r>
              <a:rPr lang="zh-CN" altLang="en-US" sz="2000" dirty="0">
                <a:latin typeface="+mn-ea"/>
              </a:rPr>
              <a:t>、</a:t>
            </a:r>
            <a:r>
              <a:rPr lang="en-US" altLang="zh-CN" sz="2000" dirty="0" err="1">
                <a:latin typeface="+mn-ea"/>
              </a:rPr>
              <a:t>stdlib</a:t>
            </a:r>
            <a:r>
              <a:rPr lang="en-US" altLang="zh-CN" sz="2000" dirty="0">
                <a:latin typeface="+mn-ea"/>
              </a:rPr>
              <a:t>. h </a:t>
            </a:r>
            <a:r>
              <a:rPr lang="zh-CN" altLang="en-US" sz="2000" dirty="0">
                <a:latin typeface="+mn-ea"/>
              </a:rPr>
              <a:t>内存动态分配库函数</a:t>
            </a:r>
          </a:p>
        </p:txBody>
      </p:sp>
    </p:spTree>
    <p:extLst>
      <p:ext uri="{BB962C8B-B14F-4D97-AF65-F5344CB8AC3E}">
        <p14:creationId xmlns:p14="http://schemas.microsoft.com/office/powerpoint/2010/main" val="3626359823"/>
      </p:ext>
    </p:extLst>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3DB5F77-DB6B-6174-C700-664B36A2881D}"/>
              </a:ext>
            </a:extLst>
          </p:cNvPr>
          <p:cNvSpPr>
            <a:spLocks noGrp="1"/>
          </p:cNvSpPr>
          <p:nvPr>
            <p:ph idx="1"/>
          </p:nvPr>
        </p:nvSpPr>
        <p:spPr>
          <a:xfrm>
            <a:off x="838200" y="856343"/>
            <a:ext cx="10515600" cy="5320620"/>
          </a:xfrm>
        </p:spPr>
        <p:txBody>
          <a:bodyPr/>
          <a:lstStyle/>
          <a:p>
            <a:pPr marL="0" indent="0">
              <a:buNone/>
            </a:pPr>
            <a:r>
              <a:rPr lang="en-US" altLang="zh-CN" sz="3200" kern="100" dirty="0">
                <a:effectLst/>
                <a:latin typeface="+mn-ea"/>
                <a:cs typeface="Arial" panose="020B0604020202020204" pitchFamily="34" charset="0"/>
              </a:rPr>
              <a:t>2.4 </a:t>
            </a:r>
            <a:r>
              <a:rPr lang="zh-CN" altLang="en-US" sz="3200" kern="100" dirty="0">
                <a:effectLst/>
                <a:latin typeface="+mn-ea"/>
                <a:cs typeface="Arial" panose="020B0604020202020204" pitchFamily="34" charset="0"/>
              </a:rPr>
              <a:t>函数的嵌套调用</a:t>
            </a:r>
          </a:p>
          <a:p>
            <a:pPr marL="0" indent="0">
              <a:buNone/>
            </a:pPr>
            <a:endParaRPr lang="en-US" altLang="zh-CN" sz="1800" kern="100" dirty="0">
              <a:effectLst/>
              <a:latin typeface="+mn-ea"/>
              <a:cs typeface="Arial" panose="020B0604020202020204" pitchFamily="34" charset="0"/>
            </a:endParaRPr>
          </a:p>
          <a:p>
            <a:pPr marL="0" indent="0">
              <a:buNone/>
            </a:pPr>
            <a:r>
              <a:rPr lang="zh-CN" altLang="en-US" sz="2000" kern="100" dirty="0">
                <a:effectLst/>
                <a:latin typeface="+mn-ea"/>
                <a:cs typeface="Arial" panose="020B0604020202020204" pitchFamily="34" charset="0"/>
              </a:rPr>
              <a:t>当一个函数作为被调函数时，它也可以作为另一个函数的主调函数，而它的被调函数又可以调用其它函数，这就是函数的嵌套调用。</a:t>
            </a:r>
            <a:endParaRPr lang="en-US" altLang="zh-CN" sz="2000" kern="100" dirty="0">
              <a:effectLst/>
              <a:latin typeface="+mn-ea"/>
              <a:cs typeface="Arial" panose="020B0604020202020204" pitchFamily="34" charset="0"/>
            </a:endParaRPr>
          </a:p>
          <a:p>
            <a:pPr marL="0" indent="0">
              <a:buNone/>
            </a:pPr>
            <a:endParaRPr lang="en-US" altLang="zh-CN" sz="1800" kern="100" dirty="0">
              <a:latin typeface="+mn-ea"/>
              <a:cs typeface="Arial" panose="020B0604020202020204" pitchFamily="34" charset="0"/>
            </a:endParaRPr>
          </a:p>
          <a:p>
            <a:pPr marL="0" indent="0">
              <a:buNone/>
            </a:pPr>
            <a:r>
              <a:rPr lang="en-US" altLang="zh-CN" sz="3200" kern="100" dirty="0">
                <a:effectLst/>
                <a:latin typeface="+mn-ea"/>
                <a:cs typeface="Arial" panose="020B0604020202020204" pitchFamily="34" charset="0"/>
              </a:rPr>
              <a:t>2.5</a:t>
            </a:r>
            <a:r>
              <a:rPr lang="zh-CN" altLang="en-US" sz="3200" kern="100" dirty="0">
                <a:effectLst/>
                <a:latin typeface="+mn-ea"/>
                <a:cs typeface="Arial" panose="020B0604020202020204" pitchFamily="34" charset="0"/>
              </a:rPr>
              <a:t>函数的递归调用</a:t>
            </a:r>
          </a:p>
          <a:p>
            <a:pPr marL="0" indent="0">
              <a:buNone/>
            </a:pPr>
            <a:endParaRPr lang="en-US" altLang="zh-CN" sz="1800" kern="100" dirty="0">
              <a:effectLst/>
              <a:latin typeface="+mn-ea"/>
              <a:cs typeface="Arial" panose="020B0604020202020204" pitchFamily="34" charset="0"/>
            </a:endParaRPr>
          </a:p>
          <a:p>
            <a:pPr marL="0" marR="0" indent="0" algn="just">
              <a:spcBef>
                <a:spcPts val="0"/>
              </a:spcBef>
              <a:spcAft>
                <a:spcPts val="0"/>
              </a:spcAft>
              <a:buNone/>
            </a:pPr>
            <a:r>
              <a:rPr lang="zh-CN" altLang="en-US" sz="2000" kern="100" dirty="0">
                <a:effectLst/>
                <a:latin typeface="+mn-ea"/>
                <a:cs typeface="Arial" panose="020B0604020202020204" pitchFamily="34" charset="0"/>
              </a:rPr>
              <a:t>一个函数直接或间接调用自身</a:t>
            </a:r>
          </a:p>
          <a:p>
            <a:pPr marL="0" marR="0" lvl="0" indent="0" algn="just">
              <a:spcBef>
                <a:spcPts val="0"/>
              </a:spcBef>
              <a:spcAft>
                <a:spcPts val="0"/>
              </a:spcAft>
              <a:buNone/>
            </a:pPr>
            <a:r>
              <a:rPr lang="en-US" altLang="zh-CN" sz="2000" kern="100" dirty="0">
                <a:effectLst/>
                <a:latin typeface="+mn-ea"/>
                <a:cs typeface="Arial" panose="020B0604020202020204" pitchFamily="34" charset="0"/>
              </a:rPr>
              <a:t>1.</a:t>
            </a:r>
            <a:r>
              <a:rPr lang="zh-CN" altLang="en-US" sz="2000" kern="100" dirty="0">
                <a:effectLst/>
                <a:latin typeface="+mn-ea"/>
                <a:cs typeface="Arial" panose="020B0604020202020204" pitchFamily="34" charset="0"/>
              </a:rPr>
              <a:t>条件： 直接或间接调用自身</a:t>
            </a:r>
          </a:p>
          <a:p>
            <a:pPr marL="266700" marR="0" indent="0" algn="just">
              <a:spcBef>
                <a:spcPts val="0"/>
              </a:spcBef>
              <a:spcAft>
                <a:spcPts val="0"/>
              </a:spcAft>
              <a:buNone/>
            </a:pPr>
            <a:r>
              <a:rPr lang="zh-CN" altLang="en-US" sz="2000" kern="100" dirty="0">
                <a:effectLst/>
                <a:latin typeface="+mn-ea"/>
                <a:cs typeface="Arial" panose="020B0604020202020204" pitchFamily="34" charset="0"/>
              </a:rPr>
              <a:t>           有使递归结束的条件</a:t>
            </a:r>
          </a:p>
          <a:p>
            <a:pPr marL="0" marR="0" lvl="0" indent="0" algn="just">
              <a:spcBef>
                <a:spcPts val="0"/>
              </a:spcBef>
              <a:spcAft>
                <a:spcPts val="0"/>
              </a:spcAft>
              <a:buNone/>
            </a:pPr>
            <a:endParaRPr lang="en-US" altLang="zh-CN" sz="2000" kern="100" dirty="0">
              <a:effectLst/>
              <a:latin typeface="+mn-ea"/>
              <a:cs typeface="Arial" panose="020B0604020202020204" pitchFamily="34" charset="0"/>
            </a:endParaRPr>
          </a:p>
          <a:p>
            <a:pPr marL="0" marR="0" lvl="0" indent="0" algn="just">
              <a:spcBef>
                <a:spcPts val="0"/>
              </a:spcBef>
              <a:spcAft>
                <a:spcPts val="0"/>
              </a:spcAft>
              <a:buNone/>
            </a:pPr>
            <a:r>
              <a:rPr lang="en-US" altLang="zh-CN" sz="2000" kern="100" dirty="0">
                <a:effectLst/>
                <a:latin typeface="+mn-ea"/>
                <a:cs typeface="Arial" panose="020B0604020202020204" pitchFamily="34" charset="0"/>
              </a:rPr>
              <a:t>2.</a:t>
            </a:r>
            <a:r>
              <a:rPr lang="zh-CN" altLang="en-US" sz="2000" kern="100" dirty="0">
                <a:effectLst/>
                <a:latin typeface="+mn-ea"/>
                <a:cs typeface="Arial" panose="020B0604020202020204" pitchFamily="34" charset="0"/>
              </a:rPr>
              <a:t>次数没有限制</a:t>
            </a:r>
            <a:endParaRPr lang="en-US" altLang="zh-CN" sz="2000" kern="100" dirty="0">
              <a:effectLst/>
              <a:latin typeface="+mn-ea"/>
              <a:cs typeface="Arial" panose="020B0604020202020204" pitchFamily="34" charset="0"/>
            </a:endParaRPr>
          </a:p>
          <a:p>
            <a:pPr marL="0" marR="0" lvl="0" indent="0" algn="just">
              <a:spcBef>
                <a:spcPts val="0"/>
              </a:spcBef>
              <a:spcAft>
                <a:spcPts val="0"/>
              </a:spcAft>
              <a:buNone/>
            </a:pPr>
            <a:endParaRPr lang="zh-CN" altLang="en-US" sz="2000" kern="100" dirty="0">
              <a:effectLst/>
              <a:latin typeface="+mn-ea"/>
              <a:cs typeface="Arial" panose="020B0604020202020204" pitchFamily="34" charset="0"/>
            </a:endParaRPr>
          </a:p>
          <a:p>
            <a:pPr marL="0" marR="0" indent="0" algn="just">
              <a:spcBef>
                <a:spcPts val="0"/>
              </a:spcBef>
              <a:spcAft>
                <a:spcPts val="0"/>
              </a:spcAft>
              <a:buNone/>
            </a:pPr>
            <a:r>
              <a:rPr lang="en-US" altLang="zh-CN" sz="2000" kern="100" dirty="0">
                <a:effectLst/>
                <a:latin typeface="+mn-ea"/>
                <a:cs typeface="Arial" panose="020B0604020202020204" pitchFamily="34" charset="0"/>
              </a:rPr>
              <a:t>3.</a:t>
            </a:r>
            <a:r>
              <a:rPr lang="zh-CN" altLang="en-US" sz="2000" kern="100" dirty="0">
                <a:effectLst/>
                <a:latin typeface="+mn-ea"/>
                <a:cs typeface="Arial" panose="020B0604020202020204" pitchFamily="34" charset="0"/>
              </a:rPr>
              <a:t>递归次数过多，可能会引起堆栈溢出。</a:t>
            </a:r>
          </a:p>
          <a:p>
            <a:pPr marL="0" indent="0">
              <a:buNone/>
            </a:pPr>
            <a:endParaRPr lang="zh-CN" altLang="en-US" sz="2000" kern="100" dirty="0">
              <a:effectLst/>
              <a:latin typeface="+mn-ea"/>
              <a:cs typeface="Arial" panose="020B0604020202020204" pitchFamily="34" charset="0"/>
            </a:endParaRPr>
          </a:p>
          <a:p>
            <a:pPr marL="0" indent="0">
              <a:buNone/>
            </a:pPr>
            <a:endParaRPr lang="zh-CN" altLang="en-US" dirty="0"/>
          </a:p>
        </p:txBody>
      </p:sp>
    </p:spTree>
    <p:extLst>
      <p:ext uri="{BB962C8B-B14F-4D97-AF65-F5344CB8AC3E}">
        <p14:creationId xmlns:p14="http://schemas.microsoft.com/office/powerpoint/2010/main" val="96484168"/>
      </p:ext>
    </p:extLst>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98741F-ACEC-D7DD-AF6A-1D836906D929}"/>
              </a:ext>
            </a:extLst>
          </p:cNvPr>
          <p:cNvSpPr>
            <a:spLocks noGrp="1"/>
          </p:cNvSpPr>
          <p:nvPr>
            <p:ph type="title"/>
          </p:nvPr>
        </p:nvSpPr>
        <p:spPr>
          <a:xfrm>
            <a:off x="1981200" y="309014"/>
            <a:ext cx="8229600" cy="1143000"/>
          </a:xfrm>
        </p:spPr>
        <p:txBody>
          <a:bodyPr>
            <a:normAutofit/>
          </a:bodyPr>
          <a:lstStyle/>
          <a:p>
            <a:r>
              <a:rPr lang="en-US" altLang="zh-CN" sz="3200" dirty="0">
                <a:latin typeface="+mn-ea"/>
                <a:ea typeface="+mn-ea"/>
              </a:rPr>
              <a:t>8.3 </a:t>
            </a:r>
            <a:r>
              <a:rPr lang="zh-CN" altLang="en-US" sz="3200" dirty="0">
                <a:latin typeface="+mn-ea"/>
                <a:ea typeface="+mn-ea"/>
              </a:rPr>
              <a:t>内部函数和外部函数</a:t>
            </a:r>
          </a:p>
        </p:txBody>
      </p:sp>
      <p:sp>
        <p:nvSpPr>
          <p:cNvPr id="3" name="内容占位符 2">
            <a:extLst>
              <a:ext uri="{FF2B5EF4-FFF2-40B4-BE49-F238E27FC236}">
                <a16:creationId xmlns:a16="http://schemas.microsoft.com/office/drawing/2014/main" id="{CE39EC84-15CB-B3A1-10E1-722D4414A9AD}"/>
              </a:ext>
            </a:extLst>
          </p:cNvPr>
          <p:cNvSpPr>
            <a:spLocks noGrp="1"/>
          </p:cNvSpPr>
          <p:nvPr>
            <p:ph idx="1"/>
          </p:nvPr>
        </p:nvSpPr>
        <p:spPr>
          <a:xfrm>
            <a:off x="1981200" y="1586450"/>
            <a:ext cx="8229600" cy="4525963"/>
          </a:xfrm>
        </p:spPr>
        <p:txBody>
          <a:bodyPr/>
          <a:lstStyle/>
          <a:p>
            <a:pPr marL="0" indent="0">
              <a:buNone/>
            </a:pPr>
            <a:r>
              <a:rPr lang="en-US" altLang="zh-CN" kern="100" dirty="0">
                <a:latin typeface="+mn-ea"/>
                <a:cs typeface="Times New Roman" panose="02020603050405020304" pitchFamily="18" charset="0"/>
              </a:rPr>
              <a:t>3.1 </a:t>
            </a:r>
            <a:r>
              <a:rPr lang="zh-CN" altLang="en-US" kern="100" dirty="0">
                <a:effectLst/>
                <a:latin typeface="+mn-ea"/>
                <a:cs typeface="Times New Roman" panose="02020603050405020304" pitchFamily="18" charset="0"/>
              </a:rPr>
              <a:t>变量的储存类型</a:t>
            </a:r>
          </a:p>
          <a:p>
            <a:pPr marL="0" indent="0">
              <a:buNone/>
            </a:pPr>
            <a:endParaRPr lang="en-US" altLang="zh-CN" dirty="0"/>
          </a:p>
          <a:p>
            <a:pPr marL="0" marR="0" indent="0" algn="just">
              <a:spcBef>
                <a:spcPts val="0"/>
              </a:spcBef>
              <a:spcAft>
                <a:spcPts val="0"/>
              </a:spcAft>
              <a:buNone/>
            </a:pPr>
            <a:r>
              <a:rPr lang="en-US" altLang="zh-CN" sz="2000" kern="100" dirty="0">
                <a:effectLst/>
                <a:latin typeface="+mn-ea"/>
                <a:cs typeface="Times New Roman" panose="02020603050405020304" pitchFamily="18" charset="0"/>
              </a:rPr>
              <a:t>C</a:t>
            </a:r>
            <a:r>
              <a:rPr lang="zh-CN" altLang="en-US" sz="2000" kern="100" dirty="0">
                <a:effectLst/>
                <a:latin typeface="+mn-ea"/>
                <a:cs typeface="Times New Roman" panose="02020603050405020304" pitchFamily="18" charset="0"/>
              </a:rPr>
              <a:t>语言中变量的存储类型包括：   </a:t>
            </a:r>
            <a:r>
              <a:rPr lang="en-US" altLang="zh-CN" sz="2000" kern="100" dirty="0">
                <a:effectLst/>
                <a:latin typeface="+mn-ea"/>
                <a:cs typeface="Times New Roman" panose="02020603050405020304" pitchFamily="18" charset="0"/>
              </a:rPr>
              <a:t>auto </a:t>
            </a:r>
            <a:r>
              <a:rPr lang="zh-CN" altLang="en-US" sz="2000" kern="100" dirty="0">
                <a:effectLst/>
                <a:latin typeface="+mn-ea"/>
                <a:cs typeface="Times New Roman" panose="02020603050405020304" pitchFamily="18" charset="0"/>
              </a:rPr>
              <a:t>自动型</a:t>
            </a:r>
            <a:endParaRPr lang="en-US" altLang="zh-CN" sz="2000" kern="100" dirty="0">
              <a:effectLst/>
              <a:latin typeface="+mn-ea"/>
              <a:cs typeface="Times New Roman" panose="02020603050405020304" pitchFamily="18" charset="0"/>
            </a:endParaRPr>
          </a:p>
          <a:p>
            <a:pPr marL="0" marR="0" indent="0" algn="just">
              <a:spcBef>
                <a:spcPts val="0"/>
              </a:spcBef>
              <a:spcAft>
                <a:spcPts val="0"/>
              </a:spcAft>
              <a:buNone/>
            </a:pPr>
            <a:endParaRPr lang="zh-CN" altLang="en-US" sz="2000" kern="100" dirty="0">
              <a:effectLst/>
              <a:latin typeface="+mn-ea"/>
              <a:cs typeface="Times New Roman" panose="02020603050405020304" pitchFamily="18" charset="0"/>
            </a:endParaRPr>
          </a:p>
          <a:p>
            <a:pPr marL="1600200" marR="0" indent="0" algn="just">
              <a:spcBef>
                <a:spcPts val="0"/>
              </a:spcBef>
              <a:spcAft>
                <a:spcPts val="0"/>
              </a:spcAft>
              <a:buNone/>
            </a:pPr>
            <a:r>
              <a:rPr lang="en-US" altLang="zh-CN" sz="2000" kern="100" dirty="0">
                <a:effectLst/>
                <a:latin typeface="+mn-ea"/>
                <a:cs typeface="Times New Roman" panose="02020603050405020304" pitchFamily="18" charset="0"/>
              </a:rPr>
              <a:t>                             register</a:t>
            </a:r>
            <a:r>
              <a:rPr lang="zh-CN" altLang="en-US" sz="2000" kern="100" dirty="0">
                <a:effectLst/>
                <a:latin typeface="+mn-ea"/>
                <a:cs typeface="Times New Roman" panose="02020603050405020304" pitchFamily="18" charset="0"/>
              </a:rPr>
              <a:t>寄存器型</a:t>
            </a:r>
            <a:endParaRPr lang="en-US" altLang="zh-CN" sz="2000" kern="100" dirty="0">
              <a:effectLst/>
              <a:latin typeface="+mn-ea"/>
              <a:cs typeface="Times New Roman" panose="02020603050405020304" pitchFamily="18" charset="0"/>
            </a:endParaRPr>
          </a:p>
          <a:p>
            <a:pPr marL="1600200" marR="0" indent="0" algn="just">
              <a:spcBef>
                <a:spcPts val="0"/>
              </a:spcBef>
              <a:spcAft>
                <a:spcPts val="0"/>
              </a:spcAft>
              <a:buNone/>
            </a:pPr>
            <a:endParaRPr lang="zh-CN" altLang="en-US" sz="2000" kern="100" dirty="0">
              <a:effectLst/>
              <a:latin typeface="+mn-ea"/>
              <a:cs typeface="Times New Roman" panose="02020603050405020304" pitchFamily="18" charset="0"/>
            </a:endParaRPr>
          </a:p>
          <a:p>
            <a:pPr marL="1600200" marR="0" indent="0" algn="just">
              <a:spcBef>
                <a:spcPts val="0"/>
              </a:spcBef>
              <a:spcAft>
                <a:spcPts val="0"/>
              </a:spcAft>
              <a:buNone/>
            </a:pPr>
            <a:r>
              <a:rPr lang="en-US" altLang="zh-CN" sz="2000" kern="100" dirty="0">
                <a:effectLst/>
                <a:latin typeface="+mn-ea"/>
                <a:cs typeface="Times New Roman" panose="02020603050405020304" pitchFamily="18" charset="0"/>
              </a:rPr>
              <a:t>                             extern</a:t>
            </a:r>
            <a:r>
              <a:rPr lang="zh-CN" altLang="en-US" sz="2000" kern="100" dirty="0">
                <a:effectLst/>
                <a:latin typeface="+mn-ea"/>
                <a:cs typeface="Times New Roman" panose="02020603050405020304" pitchFamily="18" charset="0"/>
              </a:rPr>
              <a:t>外部参照型</a:t>
            </a:r>
            <a:endParaRPr lang="en-US" altLang="zh-CN" sz="2000" kern="100" dirty="0">
              <a:effectLst/>
              <a:latin typeface="+mn-ea"/>
              <a:cs typeface="Times New Roman" panose="02020603050405020304" pitchFamily="18" charset="0"/>
            </a:endParaRPr>
          </a:p>
          <a:p>
            <a:pPr marL="1600200" marR="0" indent="0" algn="just">
              <a:spcBef>
                <a:spcPts val="0"/>
              </a:spcBef>
              <a:spcAft>
                <a:spcPts val="0"/>
              </a:spcAft>
              <a:buNone/>
            </a:pPr>
            <a:endParaRPr lang="zh-CN" altLang="en-US" sz="2000" kern="100" dirty="0">
              <a:effectLst/>
              <a:latin typeface="+mn-ea"/>
              <a:cs typeface="Times New Roman" panose="02020603050405020304" pitchFamily="18" charset="0"/>
            </a:endParaRPr>
          </a:p>
          <a:p>
            <a:pPr marL="1600200" marR="0" indent="0" algn="just">
              <a:spcBef>
                <a:spcPts val="0"/>
              </a:spcBef>
              <a:spcAft>
                <a:spcPts val="0"/>
              </a:spcAft>
              <a:buNone/>
            </a:pPr>
            <a:r>
              <a:rPr lang="en-US" altLang="zh-CN" sz="2000" kern="100" dirty="0">
                <a:effectLst/>
                <a:latin typeface="+mn-ea"/>
                <a:cs typeface="Times New Roman" panose="02020603050405020304" pitchFamily="18" charset="0"/>
              </a:rPr>
              <a:t>                             static</a:t>
            </a:r>
            <a:r>
              <a:rPr lang="zh-CN" altLang="en-US" sz="2000" kern="100" dirty="0">
                <a:effectLst/>
                <a:latin typeface="+mn-ea"/>
                <a:cs typeface="Times New Roman" panose="02020603050405020304" pitchFamily="18" charset="0"/>
              </a:rPr>
              <a:t>静态型</a:t>
            </a:r>
          </a:p>
          <a:p>
            <a:pPr marL="0" indent="0">
              <a:buNone/>
            </a:pPr>
            <a:endParaRPr lang="zh-CN" altLang="en-US" dirty="0"/>
          </a:p>
        </p:txBody>
      </p:sp>
    </p:spTree>
    <p:extLst>
      <p:ext uri="{BB962C8B-B14F-4D97-AF65-F5344CB8AC3E}">
        <p14:creationId xmlns:p14="http://schemas.microsoft.com/office/powerpoint/2010/main" val="4254013822"/>
      </p:ext>
    </p:extLst>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04D9095-702F-A8A8-FAAF-92F6E0E25A73}"/>
              </a:ext>
            </a:extLst>
          </p:cNvPr>
          <p:cNvSpPr>
            <a:spLocks noGrp="1"/>
          </p:cNvSpPr>
          <p:nvPr>
            <p:ph idx="1"/>
          </p:nvPr>
        </p:nvSpPr>
        <p:spPr>
          <a:xfrm>
            <a:off x="838200" y="805543"/>
            <a:ext cx="10515600" cy="5551713"/>
          </a:xfrm>
        </p:spPr>
        <p:txBody>
          <a:bodyPr>
            <a:normAutofit lnSpcReduction="10000"/>
          </a:bodyPr>
          <a:lstStyle/>
          <a:p>
            <a:pPr marL="0" marR="0" indent="0" algn="just">
              <a:spcBef>
                <a:spcPts val="0"/>
              </a:spcBef>
              <a:spcAft>
                <a:spcPts val="0"/>
              </a:spcAft>
              <a:buNone/>
            </a:pPr>
            <a:r>
              <a:rPr lang="zh-CN" altLang="en-US" sz="2200" kern="100" dirty="0">
                <a:latin typeface="+mn-ea"/>
                <a:cs typeface="Times New Roman" panose="02020603050405020304" pitchFamily="18" charset="0"/>
              </a:rPr>
              <a:t>（</a:t>
            </a:r>
            <a:r>
              <a:rPr lang="en-US" altLang="zh-CN" sz="2200" kern="100" dirty="0">
                <a:latin typeface="+mn-ea"/>
                <a:cs typeface="Times New Roman" panose="02020603050405020304" pitchFamily="18" charset="0"/>
              </a:rPr>
              <a:t>1</a:t>
            </a:r>
            <a:r>
              <a:rPr lang="zh-CN" altLang="en-US" sz="2200" kern="100" dirty="0">
                <a:latin typeface="+mn-ea"/>
                <a:cs typeface="Times New Roman" panose="02020603050405020304" pitchFamily="18" charset="0"/>
              </a:rPr>
              <a:t>）自动型变量</a:t>
            </a:r>
            <a:endParaRPr lang="en-US" altLang="zh-CN" sz="2200" kern="100" dirty="0">
              <a:effectLst/>
              <a:latin typeface="+mn-ea"/>
              <a:cs typeface="Times New Roman" panose="02020603050405020304" pitchFamily="18" charset="0"/>
            </a:endParaRPr>
          </a:p>
          <a:p>
            <a:pPr marL="0" marR="0" indent="0" algn="just">
              <a:spcBef>
                <a:spcPts val="0"/>
              </a:spcBef>
              <a:spcAft>
                <a:spcPts val="0"/>
              </a:spcAft>
              <a:buNone/>
            </a:pPr>
            <a:endParaRPr lang="en-US" altLang="zh-CN" sz="1800" kern="100" dirty="0">
              <a:latin typeface="+mn-ea"/>
              <a:cs typeface="Times New Roman" panose="02020603050405020304" pitchFamily="18" charset="0"/>
            </a:endParaRPr>
          </a:p>
          <a:p>
            <a:pPr marL="0" marR="0" indent="0" algn="just">
              <a:spcBef>
                <a:spcPts val="0"/>
              </a:spcBef>
              <a:spcAft>
                <a:spcPts val="0"/>
              </a:spcAft>
              <a:buNone/>
            </a:pPr>
            <a:r>
              <a:rPr lang="en-US" altLang="zh-CN" sz="1800" kern="100" dirty="0">
                <a:effectLst/>
                <a:latin typeface="+mn-ea"/>
                <a:cs typeface="Times New Roman" panose="02020603050405020304" pitchFamily="18" charset="0"/>
              </a:rPr>
              <a:t>1.</a:t>
            </a:r>
            <a:r>
              <a:rPr lang="zh-CN" altLang="en-US" sz="1800" kern="100" dirty="0">
                <a:effectLst/>
                <a:latin typeface="+mn-ea"/>
                <a:cs typeface="Times New Roman" panose="02020603050405020304" pitchFamily="18" charset="0"/>
              </a:rPr>
              <a:t>定义</a:t>
            </a:r>
            <a:endParaRPr lang="en-US" altLang="zh-CN" sz="1800" kern="100" dirty="0">
              <a:effectLst/>
              <a:latin typeface="+mn-ea"/>
              <a:cs typeface="Times New Roman" panose="02020603050405020304" pitchFamily="18" charset="0"/>
            </a:endParaRP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自动型变量用关键字</a:t>
            </a:r>
            <a:r>
              <a:rPr lang="en-US" altLang="zh-CN" sz="1800" kern="100" dirty="0">
                <a:effectLst/>
                <a:latin typeface="+mn-ea"/>
                <a:cs typeface="Times New Roman" panose="02020603050405020304" pitchFamily="18" charset="0"/>
              </a:rPr>
              <a:t>auto</a:t>
            </a:r>
            <a:r>
              <a:rPr lang="zh-CN" altLang="en-US" sz="1800" kern="100" dirty="0">
                <a:effectLst/>
                <a:latin typeface="+mn-ea"/>
                <a:cs typeface="Times New Roman" panose="02020603050405020304" pitchFamily="18" charset="0"/>
              </a:rPr>
              <a:t>进行存储类型声明</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在函数内或复合语句中定义自动型变量时 </a:t>
            </a:r>
            <a:r>
              <a:rPr lang="en-US" altLang="zh-CN" sz="1800" kern="100" dirty="0">
                <a:effectLst/>
                <a:latin typeface="+mn-ea"/>
                <a:cs typeface="Times New Roman" panose="02020603050405020304" pitchFamily="18" charset="0"/>
              </a:rPr>
              <a:t>auto </a:t>
            </a:r>
            <a:r>
              <a:rPr lang="zh-CN" altLang="en-US" sz="1800" kern="100" dirty="0">
                <a:effectLst/>
                <a:latin typeface="+mn-ea"/>
                <a:cs typeface="Times New Roman" panose="02020603050405020304" pitchFamily="18" charset="0"/>
              </a:rPr>
              <a:t>可缺省</a:t>
            </a:r>
          </a:p>
          <a:p>
            <a:pPr marL="0" marR="0" indent="0" algn="just">
              <a:spcBef>
                <a:spcPts val="0"/>
              </a:spcBef>
              <a:spcAft>
                <a:spcPts val="0"/>
              </a:spcAft>
              <a:buNone/>
            </a:pPr>
            <a:endParaRPr lang="en-US" altLang="zh-CN" sz="1800" kern="100" dirty="0">
              <a:effectLst/>
              <a:latin typeface="+mn-ea"/>
              <a:cs typeface="Times New Roman" panose="02020603050405020304" pitchFamily="18" charset="0"/>
            </a:endParaRPr>
          </a:p>
          <a:p>
            <a:pPr marL="0" marR="0" indent="0" algn="just">
              <a:spcBef>
                <a:spcPts val="0"/>
              </a:spcBef>
              <a:spcAft>
                <a:spcPts val="0"/>
              </a:spcAft>
              <a:buNone/>
            </a:pPr>
            <a:r>
              <a:rPr lang="en-US" altLang="zh-CN" sz="1800" kern="100" dirty="0">
                <a:effectLst/>
                <a:latin typeface="+mn-ea"/>
                <a:cs typeface="Times New Roman" panose="02020603050405020304" pitchFamily="18" charset="0"/>
              </a:rPr>
              <a:t>2.</a:t>
            </a:r>
            <a:r>
              <a:rPr lang="zh-CN" altLang="en-US" sz="1800" kern="100" dirty="0">
                <a:effectLst/>
                <a:latin typeface="+mn-ea"/>
                <a:cs typeface="Times New Roman" panose="02020603050405020304" pitchFamily="18" charset="0"/>
              </a:rPr>
              <a:t>作用域及寿命</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由于自动型变量只能作内部变量，所以自动变量只在定义它的函数或复合语句内有效，即</a:t>
            </a:r>
            <a:r>
              <a:rPr lang="en-US" altLang="zh-CN" sz="1800" kern="100" dirty="0">
                <a:effectLst/>
                <a:latin typeface="+mn-ea"/>
                <a:cs typeface="Times New Roman" panose="02020603050405020304" pitchFamily="18" charset="0"/>
              </a:rPr>
              <a:t>"</a:t>
            </a:r>
            <a:r>
              <a:rPr lang="zh-CN" altLang="en-US" sz="1800" kern="100" dirty="0">
                <a:effectLst/>
                <a:latin typeface="+mn-ea"/>
                <a:cs typeface="Times New Roman" panose="02020603050405020304" pitchFamily="18" charset="0"/>
              </a:rPr>
              <a:t>局部可见</a:t>
            </a:r>
            <a:r>
              <a:rPr lang="en-US" altLang="zh-CN" sz="1800" kern="100" dirty="0">
                <a:effectLst/>
                <a:latin typeface="+mn-ea"/>
                <a:cs typeface="Times New Roman" panose="02020603050405020304" pitchFamily="18" charset="0"/>
              </a:rPr>
              <a:t>"</a:t>
            </a:r>
            <a:r>
              <a:rPr lang="zh-CN" altLang="en-US" sz="1800" kern="100" dirty="0">
                <a:effectLst/>
                <a:latin typeface="+mn-ea"/>
                <a:cs typeface="Times New Roman" panose="02020603050405020304" pitchFamily="18" charset="0"/>
              </a:rPr>
              <a:t>。</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变量的作用域是指该程序中可以使用该变量名字的范围。</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对于在函数开头声明的自动变量来说，其作用域是声明该变量的函数。</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函数的参数，也是自动变量，实际上可以将它看作是该函数的局部变量。</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复合语句中的自动变量，其作用域是复合语句范围内。</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总之，不同函数中声明的具有相同名字的各个局部变量之间没有任何关系。</a:t>
            </a:r>
            <a:endParaRPr lang="en-US" altLang="zh-CN" sz="1800" kern="100" dirty="0">
              <a:effectLst/>
              <a:latin typeface="+mn-ea"/>
              <a:cs typeface="Times New Roman" panose="02020603050405020304" pitchFamily="18" charset="0"/>
            </a:endParaRPr>
          </a:p>
          <a:p>
            <a:pPr marL="0" marR="0" indent="0" algn="just">
              <a:spcBef>
                <a:spcPts val="0"/>
              </a:spcBef>
              <a:spcAft>
                <a:spcPts val="0"/>
              </a:spcAft>
              <a:buNone/>
            </a:pPr>
            <a:endParaRPr lang="en-US" altLang="zh-CN" sz="1800" kern="100" dirty="0">
              <a:effectLst/>
              <a:latin typeface="+mn-ea"/>
              <a:cs typeface="Times New Roman" panose="02020603050405020304" pitchFamily="18" charset="0"/>
            </a:endParaRPr>
          </a:p>
          <a:p>
            <a:pPr marL="0" marR="0" indent="0" algn="just">
              <a:spcBef>
                <a:spcPts val="0"/>
              </a:spcBef>
              <a:spcAft>
                <a:spcPts val="0"/>
              </a:spcAft>
              <a:buNone/>
            </a:pPr>
            <a:r>
              <a:rPr lang="en-US" altLang="zh-CN" sz="2000" kern="100" dirty="0">
                <a:latin typeface="+mn-ea"/>
                <a:cs typeface="Times New Roman" panose="02020603050405020304" pitchFamily="18" charset="0"/>
              </a:rPr>
              <a:t>1.</a:t>
            </a:r>
            <a:r>
              <a:rPr lang="zh-CN" altLang="en-US" sz="2000" kern="100" dirty="0">
                <a:latin typeface="+mn-ea"/>
                <a:cs typeface="Times New Roman" panose="02020603050405020304" pitchFamily="18" charset="0"/>
              </a:rPr>
              <a:t>寄存器型变量</a:t>
            </a:r>
            <a:endParaRPr lang="en-US" altLang="zh-CN" sz="2000" kern="100" dirty="0">
              <a:latin typeface="+mn-ea"/>
              <a:cs typeface="Times New Roman" panose="02020603050405020304" pitchFamily="18" charset="0"/>
            </a:endParaRPr>
          </a:p>
          <a:p>
            <a:pPr marL="0" marR="0" indent="0" algn="just">
              <a:spcBef>
                <a:spcPts val="0"/>
              </a:spcBef>
              <a:spcAft>
                <a:spcPts val="0"/>
              </a:spcAft>
              <a:buNone/>
            </a:pPr>
            <a:endParaRPr lang="en-US" altLang="zh-CN" sz="1800" kern="100" dirty="0">
              <a:effectLst/>
              <a:latin typeface="+mn-ea"/>
              <a:cs typeface="Times New Roman" panose="02020603050405020304" pitchFamily="18" charset="0"/>
            </a:endParaRP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定义</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寄存器型变量在函数内或复合语句内定义。</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寄存器型变量存储在 </a:t>
            </a:r>
            <a:r>
              <a:rPr lang="en-US" altLang="zh-CN" sz="1800" kern="100" dirty="0">
                <a:effectLst/>
                <a:latin typeface="+mn-ea"/>
                <a:cs typeface="Times New Roman" panose="02020603050405020304" pitchFamily="18" charset="0"/>
              </a:rPr>
              <a:t>CPU </a:t>
            </a:r>
            <a:r>
              <a:rPr lang="zh-CN" altLang="en-US" sz="1800" kern="100" dirty="0">
                <a:effectLst/>
                <a:latin typeface="+mn-ea"/>
                <a:cs typeface="Times New Roman" panose="02020603050405020304" pitchFamily="18" charset="0"/>
              </a:rPr>
              <a:t>的通用寄存器中，因为数据在寄存器中操作比在内存中快得多，因此通常把程序中使用频率最高的少数几个变量定义为 </a:t>
            </a:r>
            <a:r>
              <a:rPr lang="en-US" altLang="zh-CN" sz="1800" kern="100" dirty="0">
                <a:effectLst/>
                <a:latin typeface="+mn-ea"/>
                <a:cs typeface="Times New Roman" panose="02020603050405020304" pitchFamily="18" charset="0"/>
              </a:rPr>
              <a:t>register </a:t>
            </a:r>
            <a:r>
              <a:rPr lang="zh-CN" altLang="en-US" sz="1800" kern="100" dirty="0">
                <a:effectLst/>
                <a:latin typeface="+mn-ea"/>
                <a:cs typeface="Times New Roman" panose="02020603050405020304" pitchFamily="18" charset="0"/>
              </a:rPr>
              <a:t>型，目的是提高运行速度。</a:t>
            </a:r>
          </a:p>
          <a:p>
            <a:pPr marL="0" marR="0" indent="0" algn="just">
              <a:spcBef>
                <a:spcPts val="0"/>
              </a:spcBef>
              <a:spcAft>
                <a:spcPts val="0"/>
              </a:spcAft>
              <a:buNone/>
            </a:pPr>
            <a:r>
              <a:rPr lang="zh-CN" altLang="en-US" sz="1800" kern="100" dirty="0">
                <a:effectLst/>
                <a:latin typeface="+mn-ea"/>
                <a:cs typeface="Times New Roman" panose="02020603050405020304" pitchFamily="18" charset="0"/>
              </a:rPr>
              <a:t>作用域和寿命同 </a:t>
            </a:r>
            <a:r>
              <a:rPr lang="en-US" altLang="zh-CN" sz="1800" kern="100" dirty="0">
                <a:effectLst/>
                <a:latin typeface="+mn-ea"/>
                <a:cs typeface="Times New Roman" panose="02020603050405020304" pitchFamily="18" charset="0"/>
              </a:rPr>
              <a:t>auto </a:t>
            </a:r>
            <a:r>
              <a:rPr lang="zh-CN" altLang="en-US" sz="1800" kern="100" dirty="0">
                <a:effectLst/>
                <a:latin typeface="+mn-ea"/>
                <a:cs typeface="Times New Roman" panose="02020603050405020304" pitchFamily="18" charset="0"/>
              </a:rPr>
              <a:t>类型，也是在定义它的函数或复合语句内有效，即</a:t>
            </a:r>
            <a:r>
              <a:rPr lang="en-US" altLang="zh-CN" sz="1800" kern="100" dirty="0">
                <a:effectLst/>
                <a:latin typeface="+mn-ea"/>
                <a:cs typeface="Times New Roman" panose="02020603050405020304" pitchFamily="18" charset="0"/>
              </a:rPr>
              <a:t>"</a:t>
            </a:r>
            <a:r>
              <a:rPr lang="zh-CN" altLang="en-US" sz="1800" kern="100" dirty="0">
                <a:effectLst/>
                <a:latin typeface="+mn-ea"/>
                <a:cs typeface="Times New Roman" panose="02020603050405020304" pitchFamily="18" charset="0"/>
              </a:rPr>
              <a:t>局部可见</a:t>
            </a:r>
            <a:r>
              <a:rPr lang="en-US" altLang="zh-CN" sz="1800" kern="100" dirty="0">
                <a:effectLst/>
                <a:latin typeface="+mn-ea"/>
                <a:cs typeface="Times New Roman" panose="02020603050405020304" pitchFamily="18" charset="0"/>
              </a:rPr>
              <a:t>"</a:t>
            </a:r>
            <a:r>
              <a:rPr lang="zh-CN" altLang="en-US" sz="1800" kern="100" dirty="0">
                <a:effectLst/>
                <a:latin typeface="+mn-ea"/>
                <a:cs typeface="Times New Roman" panose="02020603050405020304" pitchFamily="18" charset="0"/>
              </a:rPr>
              <a:t>。</a:t>
            </a:r>
          </a:p>
          <a:p>
            <a:pPr marL="0" indent="0">
              <a:buNone/>
            </a:pPr>
            <a:endParaRPr lang="zh-CN" altLang="en-US" dirty="0"/>
          </a:p>
        </p:txBody>
      </p:sp>
    </p:spTree>
    <p:extLst>
      <p:ext uri="{BB962C8B-B14F-4D97-AF65-F5344CB8AC3E}">
        <p14:creationId xmlns:p14="http://schemas.microsoft.com/office/powerpoint/2010/main" val="3791494297"/>
      </p:ext>
    </p:extLst>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B7E74E-E0A0-1CE8-5BBF-7E9137D75E96}"/>
              </a:ext>
            </a:extLst>
          </p:cNvPr>
          <p:cNvSpPr>
            <a:spLocks noGrp="1"/>
          </p:cNvSpPr>
          <p:nvPr>
            <p:ph idx="1"/>
          </p:nvPr>
        </p:nvSpPr>
        <p:spPr>
          <a:xfrm>
            <a:off x="838200" y="762000"/>
            <a:ext cx="10515600" cy="5414963"/>
          </a:xfrm>
        </p:spPr>
        <p:txBody>
          <a:bodyPr>
            <a:normAutofit/>
          </a:bodyPr>
          <a:lstStyle/>
          <a:p>
            <a:pPr marL="0" indent="0">
              <a:buNone/>
            </a:pPr>
            <a:r>
              <a:rPr lang="zh-CN" altLang="en-US" sz="2200" dirty="0">
                <a:latin typeface="+mn-ea"/>
              </a:rPr>
              <a:t>（二）外部参照型变量</a:t>
            </a:r>
            <a:endParaRPr lang="en-US" altLang="zh-CN" sz="2200" dirty="0">
              <a:latin typeface="+mn-ea"/>
            </a:endParaRPr>
          </a:p>
          <a:p>
            <a:pPr marL="0" indent="0">
              <a:buNone/>
            </a:pPr>
            <a:endParaRPr lang="en-US" altLang="zh-CN" sz="2200" dirty="0">
              <a:latin typeface="+mn-ea"/>
            </a:endParaRPr>
          </a:p>
          <a:p>
            <a:pPr marL="0" indent="0">
              <a:buNone/>
            </a:pPr>
            <a:r>
              <a:rPr lang="en-US" altLang="zh-CN" sz="2000" dirty="0">
                <a:latin typeface="+mn-ea"/>
              </a:rPr>
              <a:t>1</a:t>
            </a:r>
            <a:r>
              <a:rPr lang="zh-CN" altLang="en-US" sz="2000" dirty="0">
                <a:latin typeface="+mn-ea"/>
              </a:rPr>
              <a:t>．定义：</a:t>
            </a:r>
          </a:p>
          <a:p>
            <a:pPr marL="0" indent="0">
              <a:buNone/>
            </a:pPr>
            <a:r>
              <a:rPr lang="zh-CN" altLang="en-US" sz="2000" dirty="0">
                <a:latin typeface="+mn-ea"/>
              </a:rPr>
              <a:t>外部参照型变量一般用于在程序的多个编译单位之间传送数据，在这种情况下指定为外部参照型的变量是在其它编译单位的源程序中定义的，它的存储空间在静态数据区，在程序执行过程中长期占用空间。</a:t>
            </a:r>
          </a:p>
          <a:p>
            <a:pPr marL="0" indent="0">
              <a:buNone/>
            </a:pPr>
            <a:r>
              <a:rPr lang="zh-CN" altLang="en-US" sz="2000" dirty="0">
                <a:latin typeface="+mn-ea"/>
              </a:rPr>
              <a:t>要访问另一个文件中定义的跨文件作用域的全局变量，必须进行外部参照型变量的说明。</a:t>
            </a:r>
          </a:p>
          <a:p>
            <a:pPr marL="0" indent="0">
              <a:buNone/>
            </a:pPr>
            <a:endParaRPr lang="en-US" altLang="zh-CN" sz="2000" dirty="0">
              <a:latin typeface="+mn-ea"/>
            </a:endParaRPr>
          </a:p>
          <a:p>
            <a:pPr marL="0" indent="0">
              <a:buNone/>
            </a:pPr>
            <a:r>
              <a:rPr lang="en-US" altLang="zh-CN" sz="2000" dirty="0">
                <a:latin typeface="+mn-ea"/>
              </a:rPr>
              <a:t>2.</a:t>
            </a:r>
            <a:r>
              <a:rPr lang="zh-CN" altLang="en-US" sz="2000" dirty="0">
                <a:latin typeface="+mn-ea"/>
              </a:rPr>
              <a:t>作用域及寿命</a:t>
            </a:r>
          </a:p>
          <a:p>
            <a:pPr marL="0" indent="0">
              <a:buNone/>
            </a:pPr>
            <a:r>
              <a:rPr lang="zh-CN" altLang="en-US" sz="2000" dirty="0">
                <a:latin typeface="+mn-ea"/>
              </a:rPr>
              <a:t>外部参照型变量是全局存在，全局可见的</a:t>
            </a:r>
          </a:p>
          <a:p>
            <a:pPr marL="0" indent="0">
              <a:buNone/>
            </a:pPr>
            <a:r>
              <a:rPr lang="zh-CN" altLang="en-US" sz="2000" dirty="0">
                <a:latin typeface="+mn-ea"/>
              </a:rPr>
              <a:t>当多个源文件中共享使用同一个全局变量时，需要在一个地方定义一次，其他地方多次进行</a:t>
            </a:r>
            <a:r>
              <a:rPr lang="en-US" altLang="zh-CN" sz="2000" dirty="0">
                <a:latin typeface="+mn-ea"/>
              </a:rPr>
              <a:t>extern</a:t>
            </a:r>
            <a:r>
              <a:rPr lang="zh-CN" altLang="en-US" sz="2000" dirty="0">
                <a:latin typeface="+mn-ea"/>
              </a:rPr>
              <a:t>声明。</a:t>
            </a:r>
          </a:p>
        </p:txBody>
      </p:sp>
    </p:spTree>
    <p:extLst>
      <p:ext uri="{BB962C8B-B14F-4D97-AF65-F5344CB8AC3E}">
        <p14:creationId xmlns:p14="http://schemas.microsoft.com/office/powerpoint/2010/main" val="1908989891"/>
      </p:ext>
    </p:extLst>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8B1D50-60DB-ECB5-BDC1-F428EADAB2AD}"/>
              </a:ext>
            </a:extLst>
          </p:cNvPr>
          <p:cNvSpPr>
            <a:spLocks noGrp="1"/>
          </p:cNvSpPr>
          <p:nvPr>
            <p:ph idx="1"/>
          </p:nvPr>
        </p:nvSpPr>
        <p:spPr>
          <a:xfrm>
            <a:off x="838200" y="870858"/>
            <a:ext cx="10515600" cy="5306105"/>
          </a:xfrm>
        </p:spPr>
        <p:txBody>
          <a:bodyPr>
            <a:normAutofit/>
          </a:bodyPr>
          <a:lstStyle/>
          <a:p>
            <a:pPr marL="0" indent="0">
              <a:buNone/>
            </a:pPr>
            <a:r>
              <a:rPr lang="zh-CN" altLang="en-US" sz="2200" dirty="0"/>
              <a:t>（三）静态型变量</a:t>
            </a:r>
            <a:endParaRPr lang="en-US" altLang="zh-CN" sz="2200" dirty="0"/>
          </a:p>
          <a:p>
            <a:pPr marL="0" indent="0">
              <a:buNone/>
            </a:pPr>
            <a:endParaRPr lang="en-US" altLang="zh-CN" sz="2000" dirty="0">
              <a:latin typeface="+mn-ea"/>
            </a:endParaRPr>
          </a:p>
          <a:p>
            <a:pPr marL="0" indent="0">
              <a:buNone/>
            </a:pPr>
            <a:r>
              <a:rPr lang="en-US" altLang="zh-CN" sz="2000" dirty="0">
                <a:latin typeface="+mn-ea"/>
              </a:rPr>
              <a:t>1.</a:t>
            </a:r>
            <a:r>
              <a:rPr lang="zh-CN" altLang="en-US" sz="2000" dirty="0">
                <a:latin typeface="+mn-ea"/>
              </a:rPr>
              <a:t>定义</a:t>
            </a:r>
          </a:p>
          <a:p>
            <a:pPr marL="0" indent="0">
              <a:buNone/>
            </a:pPr>
            <a:r>
              <a:rPr lang="zh-CN" altLang="en-US" sz="2000" dirty="0">
                <a:latin typeface="+mn-ea"/>
              </a:rPr>
              <a:t>静态型变量既可以在函数或复合语句内进行，也可以在所有函数之外进行。在函数或复合语句内部定义的静态变量称为局部静态变量，在函数外定义的静态变量称为全局静态变量。</a:t>
            </a:r>
          </a:p>
          <a:p>
            <a:pPr marL="0" indent="0">
              <a:buNone/>
            </a:pPr>
            <a:endParaRPr lang="en-US" altLang="zh-CN" sz="2000" dirty="0">
              <a:latin typeface="+mn-ea"/>
            </a:endParaRPr>
          </a:p>
          <a:p>
            <a:pPr marL="0" indent="0">
              <a:buNone/>
            </a:pPr>
            <a:endParaRPr lang="en-US" altLang="zh-CN" sz="2000" dirty="0">
              <a:latin typeface="+mn-ea"/>
            </a:endParaRPr>
          </a:p>
          <a:p>
            <a:pPr marL="0" indent="0">
              <a:buNone/>
            </a:pPr>
            <a:endParaRPr lang="en-US" altLang="zh-CN" sz="2000" dirty="0">
              <a:latin typeface="+mn-ea"/>
            </a:endParaRPr>
          </a:p>
          <a:p>
            <a:pPr marL="0" indent="0">
              <a:buNone/>
            </a:pPr>
            <a:r>
              <a:rPr lang="en-US" altLang="zh-CN" sz="2000" dirty="0">
                <a:latin typeface="+mn-ea"/>
              </a:rPr>
              <a:t>2.</a:t>
            </a:r>
            <a:r>
              <a:rPr lang="zh-CN" altLang="en-US" sz="2000" dirty="0">
                <a:latin typeface="+mn-ea"/>
              </a:rPr>
              <a:t>作用域及寿命</a:t>
            </a:r>
          </a:p>
          <a:p>
            <a:pPr marL="0" indent="0">
              <a:buNone/>
            </a:pPr>
            <a:r>
              <a:rPr lang="zh-CN" altLang="en-US" sz="2000" dirty="0">
                <a:latin typeface="+mn-ea"/>
              </a:rPr>
              <a:t>静态型变量具有全局寿命，全局静态型变量全局可见，局部静态型变量局部可见。</a:t>
            </a:r>
          </a:p>
          <a:p>
            <a:pPr marL="0" indent="0">
              <a:buNone/>
            </a:pPr>
            <a:endParaRPr lang="zh-CN" altLang="en-US" sz="2200" dirty="0"/>
          </a:p>
        </p:txBody>
      </p:sp>
    </p:spTree>
    <p:extLst>
      <p:ext uri="{BB962C8B-B14F-4D97-AF65-F5344CB8AC3E}">
        <p14:creationId xmlns:p14="http://schemas.microsoft.com/office/powerpoint/2010/main" val="233182086"/>
      </p:ext>
    </p:extLst>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0EA89-35E1-D897-034F-F59272E11F13}"/>
              </a:ext>
            </a:extLst>
          </p:cNvPr>
          <p:cNvSpPr>
            <a:spLocks noGrp="1"/>
          </p:cNvSpPr>
          <p:nvPr>
            <p:ph type="title"/>
          </p:nvPr>
        </p:nvSpPr>
        <p:spPr/>
        <p:txBody>
          <a:bodyPr>
            <a:normAutofit/>
          </a:bodyPr>
          <a:lstStyle/>
          <a:p>
            <a:r>
              <a:rPr lang="en-US" altLang="zh-CN" sz="2800" dirty="0">
                <a:latin typeface="+mn-ea"/>
                <a:ea typeface="+mn-ea"/>
              </a:rPr>
              <a:t>3.2 </a:t>
            </a:r>
            <a:r>
              <a:rPr lang="zh-CN" altLang="en-US" sz="2800" dirty="0">
                <a:latin typeface="+mn-ea"/>
                <a:ea typeface="+mn-ea"/>
              </a:rPr>
              <a:t>内部函数与外部函数</a:t>
            </a:r>
          </a:p>
        </p:txBody>
      </p:sp>
      <p:sp>
        <p:nvSpPr>
          <p:cNvPr id="3" name="内容占位符 2">
            <a:extLst>
              <a:ext uri="{FF2B5EF4-FFF2-40B4-BE49-F238E27FC236}">
                <a16:creationId xmlns:a16="http://schemas.microsoft.com/office/drawing/2014/main" id="{1207BC0F-82E4-1A1F-8A18-D88F9D764FEA}"/>
              </a:ext>
            </a:extLst>
          </p:cNvPr>
          <p:cNvSpPr>
            <a:spLocks noGrp="1"/>
          </p:cNvSpPr>
          <p:nvPr>
            <p:ph idx="1"/>
          </p:nvPr>
        </p:nvSpPr>
        <p:spPr/>
        <p:txBody>
          <a:bodyPr/>
          <a:lstStyle/>
          <a:p>
            <a:pPr marL="0" indent="0">
              <a:buNone/>
            </a:pPr>
            <a:r>
              <a:rPr lang="zh-CN" altLang="en-US" sz="2200" dirty="0"/>
              <a:t>（</a:t>
            </a:r>
            <a:r>
              <a:rPr lang="zh-CN" altLang="en-US" sz="2200" dirty="0">
                <a:latin typeface="+mn-ea"/>
              </a:rPr>
              <a:t>一）内部函数</a:t>
            </a:r>
            <a:endParaRPr lang="en-US" altLang="zh-CN" sz="2200" dirty="0">
              <a:latin typeface="+mn-ea"/>
            </a:endParaRPr>
          </a:p>
          <a:p>
            <a:pPr marL="0" indent="0">
              <a:buNone/>
            </a:pPr>
            <a:endParaRPr lang="zh-CN" altLang="en-US" sz="2200" dirty="0">
              <a:latin typeface="+mn-ea"/>
            </a:endParaRPr>
          </a:p>
          <a:p>
            <a:pPr marL="0" indent="0">
              <a:buNone/>
            </a:pPr>
            <a:r>
              <a:rPr lang="zh-CN" altLang="en-US" sz="2000" dirty="0">
                <a:latin typeface="+mn-ea"/>
              </a:rPr>
              <a:t>一个函数只能在所定义的源文件中其它函数调用，而不能被程序中其它源文件中的函数所调用，这样的函数称为内部函数。</a:t>
            </a:r>
          </a:p>
          <a:p>
            <a:pPr marL="0" indent="0">
              <a:buNone/>
            </a:pPr>
            <a:r>
              <a:rPr lang="zh-CN" altLang="en-US" sz="2000" dirty="0">
                <a:latin typeface="+mn-ea"/>
              </a:rPr>
              <a:t>形式：</a:t>
            </a:r>
            <a:r>
              <a:rPr lang="en-US" altLang="zh-CN" sz="2000" dirty="0">
                <a:latin typeface="+mn-ea"/>
              </a:rPr>
              <a:t>static </a:t>
            </a:r>
            <a:r>
              <a:rPr lang="zh-CN" altLang="en-US" sz="2000" dirty="0">
                <a:latin typeface="+mn-ea"/>
              </a:rPr>
              <a:t>类型定义字符 函数名（形参表）；</a:t>
            </a:r>
          </a:p>
          <a:p>
            <a:pPr marL="0" indent="0">
              <a:buNone/>
            </a:pPr>
            <a:endParaRPr lang="en-US" altLang="zh-CN" sz="2200" dirty="0">
              <a:latin typeface="+mn-ea"/>
            </a:endParaRPr>
          </a:p>
          <a:p>
            <a:pPr marL="0" indent="0">
              <a:buNone/>
            </a:pPr>
            <a:r>
              <a:rPr lang="zh-CN" altLang="en-US" sz="2200" dirty="0">
                <a:latin typeface="+mn-ea"/>
              </a:rPr>
              <a:t>（二）外部函数</a:t>
            </a:r>
            <a:endParaRPr lang="en-US" altLang="zh-CN" sz="2200" dirty="0">
              <a:latin typeface="+mn-ea"/>
            </a:endParaRPr>
          </a:p>
          <a:p>
            <a:pPr marL="0" indent="0">
              <a:buNone/>
            </a:pPr>
            <a:endParaRPr lang="zh-CN" altLang="en-US" sz="2200" dirty="0">
              <a:latin typeface="+mn-ea"/>
            </a:endParaRPr>
          </a:p>
          <a:p>
            <a:pPr marL="0" indent="0">
              <a:buNone/>
            </a:pPr>
            <a:r>
              <a:rPr lang="zh-CN" altLang="en-US" sz="2000" dirty="0">
                <a:latin typeface="+mn-ea"/>
              </a:rPr>
              <a:t>一个函数可以被所定义的源文件中被其它函数调用，还可以被程序中其它源文件中的函数所调用，这样的函数称为外部函数。</a:t>
            </a:r>
          </a:p>
          <a:p>
            <a:pPr marL="0" indent="0">
              <a:buNone/>
            </a:pPr>
            <a:r>
              <a:rPr lang="zh-CN" altLang="en-US" sz="2000" dirty="0">
                <a:latin typeface="+mn-ea"/>
              </a:rPr>
              <a:t>形式</a:t>
            </a:r>
            <a:r>
              <a:rPr lang="en-US" altLang="zh-CN" sz="2000" dirty="0">
                <a:latin typeface="+mn-ea"/>
              </a:rPr>
              <a:t>: extern </a:t>
            </a:r>
            <a:r>
              <a:rPr lang="zh-CN" altLang="en-US" sz="2000" dirty="0">
                <a:latin typeface="+mn-ea"/>
              </a:rPr>
              <a:t>类型定义符 函数名 （形参表）</a:t>
            </a:r>
            <a:r>
              <a:rPr lang="en-US" altLang="zh-CN" sz="2000" dirty="0">
                <a:latin typeface="+mn-ea"/>
              </a:rPr>
              <a:t>;</a:t>
            </a:r>
            <a:endParaRPr lang="zh-CN" altLang="en-US" sz="2000" dirty="0">
              <a:latin typeface="+mn-ea"/>
            </a:endParaRPr>
          </a:p>
        </p:txBody>
      </p:sp>
    </p:spTree>
    <p:extLst>
      <p:ext uri="{BB962C8B-B14F-4D97-AF65-F5344CB8AC3E}">
        <p14:creationId xmlns:p14="http://schemas.microsoft.com/office/powerpoint/2010/main" val="157809461"/>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A6F495-9794-B61A-6F4E-7FD406456323}"/>
              </a:ext>
            </a:extLst>
          </p:cNvPr>
          <p:cNvSpPr>
            <a:spLocks noGrp="1"/>
          </p:cNvSpPr>
          <p:nvPr>
            <p:ph type="title"/>
          </p:nvPr>
        </p:nvSpPr>
        <p:spPr/>
        <p:txBody>
          <a:bodyPr>
            <a:normAutofit/>
          </a:bodyPr>
          <a:lstStyle/>
          <a:p>
            <a:r>
              <a:rPr lang="en-US" altLang="zh-CN" sz="3200" dirty="0">
                <a:latin typeface="+mn-ea"/>
                <a:ea typeface="+mn-ea"/>
              </a:rPr>
              <a:t>8.4 </a:t>
            </a:r>
            <a:r>
              <a:rPr lang="zh-CN" altLang="en-US" sz="3200" dirty="0">
                <a:latin typeface="+mn-ea"/>
                <a:ea typeface="+mn-ea"/>
              </a:rPr>
              <a:t>预处理命令</a:t>
            </a:r>
          </a:p>
        </p:txBody>
      </p:sp>
      <p:sp>
        <p:nvSpPr>
          <p:cNvPr id="3" name="内容占位符 2">
            <a:extLst>
              <a:ext uri="{FF2B5EF4-FFF2-40B4-BE49-F238E27FC236}">
                <a16:creationId xmlns:a16="http://schemas.microsoft.com/office/drawing/2014/main" id="{8EA5632A-7670-B379-9C12-DD679F59455C}"/>
              </a:ext>
            </a:extLst>
          </p:cNvPr>
          <p:cNvSpPr>
            <a:spLocks noGrp="1"/>
          </p:cNvSpPr>
          <p:nvPr>
            <p:ph idx="1"/>
          </p:nvPr>
        </p:nvSpPr>
        <p:spPr>
          <a:xfrm>
            <a:off x="838200" y="1348438"/>
            <a:ext cx="10515600" cy="5253400"/>
          </a:xfrm>
        </p:spPr>
        <p:txBody>
          <a:bodyPr>
            <a:normAutofit lnSpcReduction="10000"/>
          </a:bodyPr>
          <a:lstStyle/>
          <a:p>
            <a:pPr marL="0" indent="0">
              <a:buNone/>
            </a:pPr>
            <a:r>
              <a:rPr lang="zh-CN" altLang="en-US" sz="2100" dirty="0">
                <a:latin typeface="+mn-ea"/>
              </a:rPr>
              <a:t>定义：</a:t>
            </a:r>
            <a:endParaRPr lang="en-US" altLang="zh-CN" sz="2100" dirty="0">
              <a:latin typeface="+mn-ea"/>
            </a:endParaRPr>
          </a:p>
          <a:p>
            <a:pPr marL="0" indent="0">
              <a:buNone/>
            </a:pPr>
            <a:r>
              <a:rPr lang="zh-CN" altLang="en-US" sz="2100" dirty="0">
                <a:latin typeface="+mn-ea"/>
              </a:rPr>
              <a:t>在程序中以</a:t>
            </a:r>
            <a:r>
              <a:rPr lang="en-US" altLang="zh-CN" sz="2100" dirty="0">
                <a:latin typeface="+mn-ea"/>
              </a:rPr>
              <a:t>#include</a:t>
            </a:r>
            <a:r>
              <a:rPr lang="zh-CN" altLang="en-US" sz="2100" dirty="0">
                <a:latin typeface="+mn-ea"/>
              </a:rPr>
              <a:t>、</a:t>
            </a:r>
            <a:r>
              <a:rPr lang="en-US" altLang="zh-CN" sz="2100" dirty="0">
                <a:latin typeface="+mn-ea"/>
              </a:rPr>
              <a:t>#define</a:t>
            </a:r>
            <a:r>
              <a:rPr lang="zh-CN" altLang="en-US" sz="2100" dirty="0">
                <a:latin typeface="+mn-ea"/>
              </a:rPr>
              <a:t>开头的行，这些特殊的行称为预处理控制指令。预处理命令可以出现在程序中的任何位置，作用域是从出现点到所在的源程序的末尾。编译预处理的主要功能有：宏定义，文件包含和条件编译。</a:t>
            </a:r>
            <a:endParaRPr lang="en-US" altLang="zh-CN" sz="2000" dirty="0">
              <a:latin typeface="+mn-ea"/>
            </a:endParaRPr>
          </a:p>
          <a:p>
            <a:pPr marL="0" indent="0">
              <a:buNone/>
            </a:pPr>
            <a:r>
              <a:rPr lang="zh-CN" altLang="en-US" sz="2600" dirty="0">
                <a:latin typeface="+mn-ea"/>
              </a:rPr>
              <a:t>一、宏定义</a:t>
            </a:r>
            <a:endParaRPr lang="en-US" altLang="zh-CN" sz="2600" dirty="0">
              <a:latin typeface="+mn-ea"/>
            </a:endParaRPr>
          </a:p>
          <a:p>
            <a:pPr marL="0" indent="0">
              <a:buNone/>
            </a:pPr>
            <a:r>
              <a:rPr lang="en-US" altLang="zh-CN" sz="2400" dirty="0">
                <a:latin typeface="+mn-ea"/>
              </a:rPr>
              <a:t>1.</a:t>
            </a:r>
            <a:r>
              <a:rPr lang="zh-CN" altLang="en-US" sz="2400" dirty="0">
                <a:latin typeface="+mn-ea"/>
              </a:rPr>
              <a:t>不带参数的宏定义</a:t>
            </a:r>
          </a:p>
          <a:p>
            <a:pPr marL="0" indent="0">
              <a:buNone/>
            </a:pPr>
            <a:r>
              <a:rPr lang="zh-CN" altLang="en-US" sz="2400" dirty="0">
                <a:latin typeface="+mn-ea"/>
              </a:rPr>
              <a:t>格式：</a:t>
            </a:r>
            <a:r>
              <a:rPr lang="en-US" altLang="zh-CN" sz="2400" dirty="0">
                <a:latin typeface="+mn-ea"/>
              </a:rPr>
              <a:t>#define </a:t>
            </a:r>
            <a:r>
              <a:rPr lang="zh-CN" altLang="en-US" sz="2400" dirty="0">
                <a:latin typeface="+mn-ea"/>
              </a:rPr>
              <a:t>宏名 字符串</a:t>
            </a:r>
          </a:p>
          <a:p>
            <a:pPr marL="0" indent="0">
              <a:buNone/>
            </a:pPr>
            <a:r>
              <a:rPr lang="zh-CN" altLang="en-US" sz="2200" dirty="0">
                <a:latin typeface="+mn-ea"/>
              </a:rPr>
              <a:t>（</a:t>
            </a:r>
            <a:r>
              <a:rPr lang="en-US" altLang="zh-CN" sz="2200" dirty="0">
                <a:latin typeface="+mn-ea"/>
              </a:rPr>
              <a:t>1</a:t>
            </a:r>
            <a:r>
              <a:rPr lang="zh-CN" altLang="en-US" sz="2200" dirty="0">
                <a:latin typeface="+mn-ea"/>
              </a:rPr>
              <a:t>）在程序中用“”括起来的字符串中，即使有的字符与宏名相同，也不进行替换。</a:t>
            </a:r>
          </a:p>
          <a:p>
            <a:pPr marL="0" indent="0">
              <a:buNone/>
            </a:pPr>
            <a:r>
              <a:rPr lang="zh-CN" altLang="en-US" sz="2200" dirty="0">
                <a:latin typeface="+mn-ea"/>
              </a:rPr>
              <a:t>（</a:t>
            </a:r>
            <a:r>
              <a:rPr lang="en-US" altLang="zh-CN" sz="2200" dirty="0">
                <a:latin typeface="+mn-ea"/>
              </a:rPr>
              <a:t>2</a:t>
            </a:r>
            <a:r>
              <a:rPr lang="zh-CN" altLang="en-US" sz="2200" dirty="0">
                <a:latin typeface="+mn-ea"/>
              </a:rPr>
              <a:t>）宏定义只是一种简单的字符替换，不进行语法检查，只有在编译已被宏展开后的源程序时才会发现语法错误并报错。</a:t>
            </a:r>
          </a:p>
          <a:p>
            <a:pPr marL="0" indent="0">
              <a:buNone/>
            </a:pPr>
            <a:r>
              <a:rPr lang="zh-CN" altLang="en-US" sz="2200" dirty="0">
                <a:latin typeface="+mn-ea"/>
              </a:rPr>
              <a:t>（</a:t>
            </a:r>
            <a:r>
              <a:rPr lang="en-US" altLang="zh-CN" sz="2200" dirty="0">
                <a:latin typeface="+mn-ea"/>
              </a:rPr>
              <a:t>3</a:t>
            </a:r>
            <a:r>
              <a:rPr lang="zh-CN" altLang="en-US" sz="2200" dirty="0">
                <a:latin typeface="+mn-ea"/>
              </a:rPr>
              <a:t>）</a:t>
            </a:r>
            <a:r>
              <a:rPr lang="en-US" altLang="zh-CN" sz="2200" dirty="0">
                <a:latin typeface="+mn-ea"/>
              </a:rPr>
              <a:t>#define</a:t>
            </a:r>
            <a:r>
              <a:rPr lang="zh-CN" altLang="en-US" sz="2200" dirty="0">
                <a:latin typeface="+mn-ea"/>
              </a:rPr>
              <a:t>命令出现在函数的外部，宏名的有效范围为定义命令之后到本文件结束，可以用</a:t>
            </a:r>
            <a:r>
              <a:rPr lang="en-US" altLang="zh-CN" sz="2200" dirty="0">
                <a:latin typeface="+mn-ea"/>
              </a:rPr>
              <a:t>#undef</a:t>
            </a:r>
            <a:r>
              <a:rPr lang="zh-CN" altLang="en-US" sz="2200" dirty="0">
                <a:latin typeface="+mn-ea"/>
              </a:rPr>
              <a:t>命令终止宏定义的作用域。</a:t>
            </a:r>
          </a:p>
          <a:p>
            <a:pPr marL="0" indent="0">
              <a:buNone/>
            </a:pPr>
            <a:r>
              <a:rPr lang="zh-CN" altLang="en-US" sz="2200" dirty="0">
                <a:latin typeface="+mn-ea"/>
              </a:rPr>
              <a:t>（</a:t>
            </a:r>
            <a:r>
              <a:rPr lang="en-US" altLang="zh-CN" sz="2200" dirty="0">
                <a:latin typeface="+mn-ea"/>
              </a:rPr>
              <a:t>4</a:t>
            </a:r>
            <a:r>
              <a:rPr lang="zh-CN" altLang="en-US" sz="2200" dirty="0">
                <a:latin typeface="+mn-ea"/>
              </a:rPr>
              <a:t>）宏定义与变量定义不同，它只作字符替换，不分配内存空间。</a:t>
            </a:r>
          </a:p>
          <a:p>
            <a:pPr marL="0" indent="0">
              <a:buNone/>
            </a:pPr>
            <a:r>
              <a:rPr lang="zh-CN" altLang="en-US" sz="2200" dirty="0">
                <a:latin typeface="+mn-ea"/>
              </a:rPr>
              <a:t>宏定义可以嵌套使用。</a:t>
            </a:r>
            <a:endParaRPr lang="en-US" altLang="zh-CN" sz="2200" dirty="0">
              <a:latin typeface="+mn-ea"/>
            </a:endParaRPr>
          </a:p>
          <a:p>
            <a:pPr marL="0" indent="0">
              <a:buNone/>
            </a:pPr>
            <a:endParaRPr lang="zh-CN" altLang="en-US" sz="2000" dirty="0">
              <a:latin typeface="+mn-ea"/>
            </a:endParaRPr>
          </a:p>
        </p:txBody>
      </p:sp>
    </p:spTree>
    <p:extLst>
      <p:ext uri="{BB962C8B-B14F-4D97-AF65-F5344CB8AC3E}">
        <p14:creationId xmlns:p14="http://schemas.microsoft.com/office/powerpoint/2010/main" val="3465991557"/>
      </p:ext>
    </p:extLst>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09232C4-99ED-49A1-C3E6-E5BD8BA44F4C}"/>
              </a:ext>
            </a:extLst>
          </p:cNvPr>
          <p:cNvSpPr>
            <a:spLocks noGrp="1"/>
          </p:cNvSpPr>
          <p:nvPr>
            <p:ph idx="1"/>
          </p:nvPr>
        </p:nvSpPr>
        <p:spPr>
          <a:xfrm>
            <a:off x="838200" y="718457"/>
            <a:ext cx="10515600" cy="5458506"/>
          </a:xfrm>
        </p:spPr>
        <p:txBody>
          <a:bodyPr>
            <a:normAutofit/>
          </a:bodyPr>
          <a:lstStyle/>
          <a:p>
            <a:pPr marL="0" indent="0">
              <a:buNone/>
            </a:pPr>
            <a:r>
              <a:rPr lang="en-US" altLang="zh-CN" sz="2200" dirty="0">
                <a:latin typeface="+mn-ea"/>
              </a:rPr>
              <a:t>2.</a:t>
            </a:r>
            <a:r>
              <a:rPr lang="zh-CN" altLang="en-US" sz="2200" dirty="0">
                <a:latin typeface="+mn-ea"/>
              </a:rPr>
              <a:t>带参数的宏定义</a:t>
            </a:r>
            <a:endParaRPr lang="en-US" altLang="zh-CN" sz="2200" dirty="0">
              <a:latin typeface="+mn-ea"/>
            </a:endParaRPr>
          </a:p>
          <a:p>
            <a:pPr marL="0" indent="0">
              <a:buNone/>
            </a:pPr>
            <a:r>
              <a:rPr lang="zh-CN" altLang="en-US" sz="2000" dirty="0">
                <a:latin typeface="+mn-ea"/>
              </a:rPr>
              <a:t>格式：</a:t>
            </a:r>
            <a:r>
              <a:rPr lang="en-US" altLang="zh-CN" sz="2000" dirty="0">
                <a:latin typeface="+mn-ea"/>
              </a:rPr>
              <a:t>#define </a:t>
            </a:r>
            <a:r>
              <a:rPr lang="zh-CN" altLang="en-US" sz="2000" dirty="0">
                <a:latin typeface="+mn-ea"/>
              </a:rPr>
              <a:t>宏名（形参表） 字符串</a:t>
            </a:r>
          </a:p>
          <a:p>
            <a:pPr marL="0" indent="0">
              <a:buNone/>
            </a:pPr>
            <a:r>
              <a:rPr lang="zh-CN" altLang="en-US" sz="2000" dirty="0">
                <a:latin typeface="+mn-ea"/>
              </a:rPr>
              <a:t>（</a:t>
            </a:r>
            <a:r>
              <a:rPr lang="en-US" altLang="zh-CN" sz="2000" dirty="0">
                <a:latin typeface="+mn-ea"/>
              </a:rPr>
              <a:t>1</a:t>
            </a:r>
            <a:r>
              <a:rPr lang="zh-CN" altLang="en-US" sz="2000" dirty="0">
                <a:latin typeface="+mn-ea"/>
              </a:rPr>
              <a:t>）宏定义时宏名和括号之间没有空格，若有空格则会把空格后的所有字符都看成宏体。</a:t>
            </a:r>
          </a:p>
          <a:p>
            <a:pPr marL="0" indent="0">
              <a:buNone/>
            </a:pPr>
            <a:r>
              <a:rPr lang="zh-CN" altLang="en-US" sz="2000" dirty="0">
                <a:latin typeface="+mn-ea"/>
              </a:rPr>
              <a:t>（</a:t>
            </a:r>
            <a:r>
              <a:rPr lang="en-US" altLang="zh-CN" sz="2000" dirty="0">
                <a:latin typeface="+mn-ea"/>
              </a:rPr>
              <a:t>2</a:t>
            </a:r>
            <a:r>
              <a:rPr lang="zh-CN" altLang="en-US" sz="2000" dirty="0">
                <a:latin typeface="+mn-ea"/>
              </a:rPr>
              <a:t>）建议带运算符的宏体和形参用（）括起来。</a:t>
            </a:r>
            <a:endParaRPr lang="en-US" altLang="zh-CN" sz="2000" dirty="0">
              <a:latin typeface="+mn-ea"/>
            </a:endParaRPr>
          </a:p>
          <a:p>
            <a:pPr marL="0" indent="0">
              <a:buNone/>
            </a:pPr>
            <a:endParaRPr lang="zh-CN" altLang="en-US" sz="2000" dirty="0">
              <a:latin typeface="+mn-ea"/>
            </a:endParaRPr>
          </a:p>
          <a:p>
            <a:pPr marL="0" indent="0">
              <a:buNone/>
            </a:pPr>
            <a:r>
              <a:rPr lang="en-US" altLang="zh-CN" sz="2200" dirty="0">
                <a:latin typeface="+mn-ea"/>
              </a:rPr>
              <a:t>3</a:t>
            </a:r>
            <a:r>
              <a:rPr lang="zh-CN" altLang="en-US" sz="2200" dirty="0">
                <a:latin typeface="+mn-ea"/>
              </a:rPr>
              <a:t>、带参数的宏和有参函数的区别</a:t>
            </a:r>
          </a:p>
          <a:p>
            <a:pPr marL="0" indent="0">
              <a:buNone/>
            </a:pPr>
            <a:r>
              <a:rPr lang="zh-CN" altLang="en-US" sz="2000" dirty="0">
                <a:latin typeface="+mn-ea"/>
              </a:rPr>
              <a:t>（</a:t>
            </a:r>
            <a:r>
              <a:rPr lang="en-US" altLang="zh-CN" sz="2000" dirty="0">
                <a:latin typeface="+mn-ea"/>
              </a:rPr>
              <a:t>1</a:t>
            </a:r>
            <a:r>
              <a:rPr lang="zh-CN" altLang="en-US" sz="2000" dirty="0">
                <a:latin typeface="+mn-ea"/>
              </a:rPr>
              <a:t>）函数调用是在程序运行时处理，分配临时的内存单元；宏展开是在编译时进行的，在展开时不分配内存单元。</a:t>
            </a:r>
          </a:p>
          <a:p>
            <a:pPr marL="0" indent="0">
              <a:buNone/>
            </a:pPr>
            <a:r>
              <a:rPr lang="zh-CN" altLang="en-US" sz="2000" dirty="0">
                <a:latin typeface="+mn-ea"/>
              </a:rPr>
              <a:t>（</a:t>
            </a:r>
            <a:r>
              <a:rPr lang="en-US" altLang="zh-CN" sz="2000" dirty="0">
                <a:latin typeface="+mn-ea"/>
              </a:rPr>
              <a:t>2</a:t>
            </a:r>
            <a:r>
              <a:rPr lang="zh-CN" altLang="en-US" sz="2000" dirty="0">
                <a:latin typeface="+mn-ea"/>
              </a:rPr>
              <a:t>）对函数的形参和实参都要定义类型，且要求一致；宏不存在类型问题，宏名无类型，其参数也无类型。</a:t>
            </a:r>
          </a:p>
          <a:p>
            <a:pPr marL="0" indent="0">
              <a:buNone/>
            </a:pPr>
            <a:r>
              <a:rPr lang="zh-CN" altLang="en-US" sz="2000" dirty="0">
                <a:latin typeface="+mn-ea"/>
              </a:rPr>
              <a:t>（</a:t>
            </a:r>
            <a:r>
              <a:rPr lang="en-US" altLang="zh-CN" sz="2000" dirty="0">
                <a:latin typeface="+mn-ea"/>
              </a:rPr>
              <a:t>3</a:t>
            </a:r>
            <a:r>
              <a:rPr lang="zh-CN" altLang="en-US" sz="2000" dirty="0">
                <a:latin typeface="+mn-ea"/>
              </a:rPr>
              <a:t>）函数只可得到一个返回值；宏可以设法得到几个结果。</a:t>
            </a:r>
          </a:p>
          <a:p>
            <a:pPr marL="0" indent="0">
              <a:buNone/>
            </a:pPr>
            <a:r>
              <a:rPr lang="zh-CN" altLang="en-US" sz="2000" dirty="0">
                <a:latin typeface="+mn-ea"/>
              </a:rPr>
              <a:t>（</a:t>
            </a:r>
            <a:r>
              <a:rPr lang="en-US" altLang="zh-CN" sz="2000" dirty="0">
                <a:latin typeface="+mn-ea"/>
              </a:rPr>
              <a:t>4</a:t>
            </a:r>
            <a:r>
              <a:rPr lang="zh-CN" altLang="en-US" sz="2000" dirty="0">
                <a:latin typeface="+mn-ea"/>
              </a:rPr>
              <a:t>）函数调用不会使源程序变长；宏展开会使源程序变长。函数调用占用运行时间；宏展开不占运行时间，只占编译时长。</a:t>
            </a:r>
          </a:p>
          <a:p>
            <a:pPr marL="0" indent="0">
              <a:buNone/>
            </a:pPr>
            <a:endParaRPr lang="zh-CN" altLang="en-US" sz="2200" dirty="0">
              <a:latin typeface="+mn-ea"/>
            </a:endParaRPr>
          </a:p>
        </p:txBody>
      </p:sp>
    </p:spTree>
    <p:extLst>
      <p:ext uri="{BB962C8B-B14F-4D97-AF65-F5344CB8AC3E}">
        <p14:creationId xmlns:p14="http://schemas.microsoft.com/office/powerpoint/2010/main" val="2814393183"/>
      </p:ext>
    </p:extLst>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47B3F83-D838-59AA-9907-338D353293DD}"/>
              </a:ext>
            </a:extLst>
          </p:cNvPr>
          <p:cNvSpPr>
            <a:spLocks noGrp="1"/>
          </p:cNvSpPr>
          <p:nvPr>
            <p:ph idx="1"/>
          </p:nvPr>
        </p:nvSpPr>
        <p:spPr>
          <a:xfrm>
            <a:off x="838200" y="827315"/>
            <a:ext cx="10515600" cy="5435600"/>
          </a:xfrm>
        </p:spPr>
        <p:txBody>
          <a:bodyPr>
            <a:normAutofit fontScale="85000" lnSpcReduction="20000"/>
          </a:bodyPr>
          <a:lstStyle/>
          <a:p>
            <a:pPr marL="0" indent="0">
              <a:buNone/>
            </a:pPr>
            <a:r>
              <a:rPr lang="zh-CN" altLang="en-US" dirty="0">
                <a:latin typeface="+mn-ea"/>
              </a:rPr>
              <a:t>二、文件包含</a:t>
            </a:r>
            <a:endParaRPr lang="en-US" altLang="zh-CN" dirty="0">
              <a:latin typeface="+mn-ea"/>
            </a:endParaRPr>
          </a:p>
          <a:p>
            <a:pPr marL="0" indent="0">
              <a:buNone/>
            </a:pPr>
            <a:r>
              <a:rPr lang="zh-CN" altLang="en-US" sz="2400" dirty="0">
                <a:latin typeface="+mn-ea"/>
              </a:rPr>
              <a:t>文件包含是指一个源文件可以将另外一个源文件的全部内容包含起来。</a:t>
            </a:r>
          </a:p>
          <a:p>
            <a:pPr marL="0" indent="0">
              <a:buNone/>
            </a:pPr>
            <a:r>
              <a:rPr lang="zh-CN" altLang="en-US" sz="2400" dirty="0">
                <a:latin typeface="+mn-ea"/>
              </a:rPr>
              <a:t>格式</a:t>
            </a:r>
            <a:r>
              <a:rPr lang="en-US" altLang="zh-CN" sz="2400" dirty="0">
                <a:latin typeface="+mn-ea"/>
              </a:rPr>
              <a:t>1</a:t>
            </a:r>
            <a:r>
              <a:rPr lang="zh-CN" altLang="en-US" sz="2400" dirty="0">
                <a:latin typeface="+mn-ea"/>
              </a:rPr>
              <a:t>：</a:t>
            </a:r>
            <a:r>
              <a:rPr lang="en-US" altLang="zh-CN" sz="2400" dirty="0">
                <a:latin typeface="+mn-ea"/>
              </a:rPr>
              <a:t>#include“</a:t>
            </a:r>
            <a:r>
              <a:rPr lang="zh-CN" altLang="en-US" sz="2400" dirty="0">
                <a:latin typeface="+mn-ea"/>
              </a:rPr>
              <a:t>文件标识”</a:t>
            </a:r>
          </a:p>
          <a:p>
            <a:pPr marL="0" indent="0">
              <a:buNone/>
            </a:pPr>
            <a:r>
              <a:rPr lang="zh-CN" altLang="en-US" sz="2400" dirty="0">
                <a:latin typeface="+mn-ea"/>
              </a:rPr>
              <a:t>文件标识可以包含文件路径，使用时系统先在引用被包含文件的源文件所在的目录下寻找被包含文件。如果找不到，系统再按指定的标准方式检索其他目录，直到找到为止，此格式通常用于用户自己编写的文件。</a:t>
            </a:r>
            <a:endParaRPr lang="en-US" altLang="zh-CN" sz="2400" dirty="0">
              <a:latin typeface="+mn-ea"/>
            </a:endParaRPr>
          </a:p>
          <a:p>
            <a:pPr marL="0" indent="0">
              <a:buNone/>
            </a:pPr>
            <a:endParaRPr lang="zh-CN" altLang="en-US" sz="2400" dirty="0">
              <a:latin typeface="+mn-ea"/>
            </a:endParaRPr>
          </a:p>
          <a:p>
            <a:pPr marL="0" indent="0">
              <a:buNone/>
            </a:pPr>
            <a:r>
              <a:rPr lang="zh-CN" altLang="en-US" sz="2400" dirty="0">
                <a:latin typeface="+mn-ea"/>
              </a:rPr>
              <a:t>格式</a:t>
            </a:r>
            <a:r>
              <a:rPr lang="en-US" altLang="zh-CN" sz="2400" dirty="0">
                <a:latin typeface="+mn-ea"/>
              </a:rPr>
              <a:t>2</a:t>
            </a:r>
            <a:r>
              <a:rPr lang="zh-CN" altLang="en-US" sz="2400" dirty="0">
                <a:latin typeface="+mn-ea"/>
              </a:rPr>
              <a:t>：</a:t>
            </a:r>
            <a:r>
              <a:rPr lang="en-US" altLang="zh-CN" sz="2400" dirty="0">
                <a:latin typeface="+mn-ea"/>
              </a:rPr>
              <a:t>#include&lt;</a:t>
            </a:r>
            <a:r>
              <a:rPr lang="zh-CN" altLang="en-US" sz="2400" dirty="0">
                <a:latin typeface="+mn-ea"/>
              </a:rPr>
              <a:t>文件名</a:t>
            </a:r>
            <a:r>
              <a:rPr lang="en-US" altLang="zh-CN" sz="2400" dirty="0">
                <a:latin typeface="+mn-ea"/>
              </a:rPr>
              <a:t>&gt;</a:t>
            </a:r>
          </a:p>
          <a:p>
            <a:pPr marL="0" indent="0">
              <a:buNone/>
            </a:pPr>
            <a:r>
              <a:rPr lang="zh-CN" altLang="en-US" sz="2400" dirty="0">
                <a:latin typeface="+mn-ea"/>
              </a:rPr>
              <a:t>系统只按规定的标准方式检索文件目录，通常使用系统提供的标准头文件文件时用</a:t>
            </a:r>
            <a:r>
              <a:rPr lang="en-US" altLang="zh-CN" sz="2400" dirty="0">
                <a:latin typeface="+mn-ea"/>
              </a:rPr>
              <a:t>&lt; &gt;</a:t>
            </a:r>
            <a:r>
              <a:rPr lang="zh-CN" altLang="en-US" sz="2400" dirty="0">
                <a:latin typeface="+mn-ea"/>
              </a:rPr>
              <a:t>。</a:t>
            </a:r>
          </a:p>
          <a:p>
            <a:pPr marL="0" indent="0">
              <a:buNone/>
            </a:pPr>
            <a:r>
              <a:rPr lang="zh-CN" altLang="en-US" sz="2400" dirty="0">
                <a:latin typeface="+mn-ea"/>
              </a:rPr>
              <a:t>说明：</a:t>
            </a:r>
          </a:p>
          <a:p>
            <a:pPr marL="0" indent="0">
              <a:buNone/>
            </a:pPr>
            <a:r>
              <a:rPr lang="zh-CN" altLang="en-US" sz="2400" dirty="0">
                <a:latin typeface="+mn-ea"/>
              </a:rPr>
              <a:t>（</a:t>
            </a:r>
            <a:r>
              <a:rPr lang="en-US" altLang="zh-CN" sz="2400" dirty="0">
                <a:latin typeface="+mn-ea"/>
              </a:rPr>
              <a:t>1</a:t>
            </a:r>
            <a:r>
              <a:rPr lang="zh-CN" altLang="en-US" sz="2400" dirty="0">
                <a:latin typeface="+mn-ea"/>
              </a:rPr>
              <a:t>）文件包含的作用就是在编译预处理时将被包含的文件全部内容复制并插入</a:t>
            </a:r>
            <a:r>
              <a:rPr lang="en-US" altLang="zh-CN" sz="2400" dirty="0">
                <a:latin typeface="+mn-ea"/>
              </a:rPr>
              <a:t>#include</a:t>
            </a:r>
            <a:r>
              <a:rPr lang="zh-CN" altLang="en-US" sz="2400" dirty="0">
                <a:latin typeface="+mn-ea"/>
              </a:rPr>
              <a:t>命令处。</a:t>
            </a:r>
          </a:p>
          <a:p>
            <a:pPr marL="0" indent="0">
              <a:buNone/>
            </a:pPr>
            <a:r>
              <a:rPr lang="zh-CN" altLang="en-US" sz="2400" dirty="0">
                <a:latin typeface="+mn-ea"/>
              </a:rPr>
              <a:t>（</a:t>
            </a:r>
            <a:r>
              <a:rPr lang="en-US" altLang="zh-CN" sz="2400" dirty="0">
                <a:latin typeface="+mn-ea"/>
              </a:rPr>
              <a:t>2</a:t>
            </a:r>
            <a:r>
              <a:rPr lang="zh-CN" altLang="en-US" sz="2400" dirty="0">
                <a:latin typeface="+mn-ea"/>
              </a:rPr>
              <a:t>）一个</a:t>
            </a:r>
            <a:r>
              <a:rPr lang="en-US" altLang="zh-CN" sz="2400" dirty="0">
                <a:latin typeface="+mn-ea"/>
              </a:rPr>
              <a:t>include</a:t>
            </a:r>
            <a:r>
              <a:rPr lang="zh-CN" altLang="en-US" sz="2400" dirty="0">
                <a:latin typeface="+mn-ea"/>
              </a:rPr>
              <a:t>命令只能指定一个被包含文件。如果有</a:t>
            </a:r>
            <a:r>
              <a:rPr lang="en-US" altLang="zh-CN" sz="2400" dirty="0">
                <a:latin typeface="+mn-ea"/>
              </a:rPr>
              <a:t>n</a:t>
            </a:r>
            <a:r>
              <a:rPr lang="zh-CN" altLang="en-US" sz="2400" dirty="0">
                <a:latin typeface="+mn-ea"/>
              </a:rPr>
              <a:t>个被包含文件，则需要用</a:t>
            </a:r>
            <a:r>
              <a:rPr lang="en-US" altLang="zh-CN" sz="2400" dirty="0">
                <a:latin typeface="+mn-ea"/>
              </a:rPr>
              <a:t>n</a:t>
            </a:r>
            <a:r>
              <a:rPr lang="zh-CN" altLang="en-US" sz="2400" dirty="0">
                <a:latin typeface="+mn-ea"/>
              </a:rPr>
              <a:t>个</a:t>
            </a:r>
            <a:r>
              <a:rPr lang="en-US" altLang="zh-CN" sz="2400" dirty="0">
                <a:latin typeface="+mn-ea"/>
              </a:rPr>
              <a:t>include</a:t>
            </a:r>
            <a:r>
              <a:rPr lang="zh-CN" altLang="en-US" sz="2400" dirty="0">
                <a:latin typeface="+mn-ea"/>
              </a:rPr>
              <a:t>命令，且一个命令占一行。</a:t>
            </a:r>
          </a:p>
          <a:p>
            <a:pPr marL="0" indent="0">
              <a:buNone/>
            </a:pPr>
            <a:r>
              <a:rPr lang="zh-CN" altLang="en-US" sz="2400" dirty="0">
                <a:latin typeface="+mn-ea"/>
              </a:rPr>
              <a:t>（</a:t>
            </a:r>
            <a:r>
              <a:rPr lang="en-US" altLang="zh-CN" sz="2400" dirty="0">
                <a:latin typeface="+mn-ea"/>
              </a:rPr>
              <a:t>3</a:t>
            </a:r>
            <a:r>
              <a:rPr lang="zh-CN" altLang="en-US" sz="2400" dirty="0">
                <a:latin typeface="+mn-ea"/>
              </a:rPr>
              <a:t>）使用文件包含时，在被包含文件中决不能有</a:t>
            </a:r>
            <a:r>
              <a:rPr lang="en-US" altLang="zh-CN" sz="2400" dirty="0">
                <a:latin typeface="+mn-ea"/>
              </a:rPr>
              <a:t>main</a:t>
            </a:r>
            <a:r>
              <a:rPr lang="zh-CN" altLang="en-US" sz="2400" dirty="0">
                <a:latin typeface="+mn-ea"/>
              </a:rPr>
              <a:t>（）函数。</a:t>
            </a:r>
          </a:p>
          <a:p>
            <a:pPr marL="0" indent="0">
              <a:buNone/>
            </a:pPr>
            <a:r>
              <a:rPr lang="zh-CN" altLang="en-US" sz="2400" dirty="0">
                <a:latin typeface="+mn-ea"/>
              </a:rPr>
              <a:t>（</a:t>
            </a:r>
            <a:r>
              <a:rPr lang="en-US" altLang="zh-CN" sz="2400" dirty="0">
                <a:latin typeface="+mn-ea"/>
              </a:rPr>
              <a:t>4</a:t>
            </a:r>
            <a:r>
              <a:rPr lang="zh-CN" altLang="en-US" sz="2400" dirty="0">
                <a:latin typeface="+mn-ea"/>
              </a:rPr>
              <a:t>）文件包含可以嵌套使用。</a:t>
            </a:r>
          </a:p>
          <a:p>
            <a:pPr marL="0" indent="0">
              <a:buNone/>
            </a:pPr>
            <a:r>
              <a:rPr lang="zh-CN" altLang="en-US" sz="2400" dirty="0">
                <a:latin typeface="+mn-ea"/>
              </a:rPr>
              <a:t>（</a:t>
            </a:r>
            <a:r>
              <a:rPr lang="en-US" altLang="zh-CN" sz="2400" dirty="0">
                <a:latin typeface="+mn-ea"/>
              </a:rPr>
              <a:t>5</a:t>
            </a:r>
            <a:r>
              <a:rPr lang="zh-CN" altLang="en-US" sz="2400" dirty="0">
                <a:latin typeface="+mn-ea"/>
              </a:rPr>
              <a:t>）被包含文件中的全局变量在其所在的文件中有效。</a:t>
            </a:r>
          </a:p>
        </p:txBody>
      </p:sp>
    </p:spTree>
    <p:extLst>
      <p:ext uri="{BB962C8B-B14F-4D97-AF65-F5344CB8AC3E}">
        <p14:creationId xmlns:p14="http://schemas.microsoft.com/office/powerpoint/2010/main" val="3445046894"/>
      </p:ext>
    </p:extLst>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1C83E99-5F22-ADC5-AA9A-450CB474B538}"/>
              </a:ext>
            </a:extLst>
          </p:cNvPr>
          <p:cNvSpPr>
            <a:spLocks noGrp="1"/>
          </p:cNvSpPr>
          <p:nvPr>
            <p:ph idx="1"/>
          </p:nvPr>
        </p:nvSpPr>
        <p:spPr>
          <a:xfrm>
            <a:off x="838200" y="762000"/>
            <a:ext cx="10515600" cy="5414963"/>
          </a:xfrm>
        </p:spPr>
        <p:txBody>
          <a:bodyPr>
            <a:normAutofit/>
          </a:bodyPr>
          <a:lstStyle/>
          <a:p>
            <a:pPr marL="0" indent="0">
              <a:buNone/>
            </a:pPr>
            <a:r>
              <a:rPr lang="zh-CN" altLang="en-US" sz="2400" dirty="0"/>
              <a:t>三、条件编译</a:t>
            </a:r>
            <a:endParaRPr lang="en-US" altLang="zh-CN" sz="2400" dirty="0"/>
          </a:p>
          <a:p>
            <a:pPr marL="0" indent="0">
              <a:buNone/>
            </a:pPr>
            <a:r>
              <a:rPr lang="zh-CN" altLang="en-US" sz="2000" dirty="0">
                <a:latin typeface="+mn-ea"/>
              </a:rPr>
              <a:t>所谓条件编译，是对部分内容指定编译的条件，使其只在满足一定条件时才进行编译。条件编译也是一种编译预处理命令，它主要是为了解决在不同系统条件下</a:t>
            </a:r>
            <a:r>
              <a:rPr lang="en-US" altLang="zh-CN" sz="2000" dirty="0">
                <a:latin typeface="+mn-ea"/>
              </a:rPr>
              <a:t>C</a:t>
            </a:r>
            <a:r>
              <a:rPr lang="zh-CN" altLang="en-US" sz="2000" dirty="0">
                <a:latin typeface="+mn-ea"/>
              </a:rPr>
              <a:t>语言程序的可移植性问题，使程序能在不同系统环境下，选择合适的不同程序段进行编译，生成不同的目标函数代码文件。</a:t>
            </a:r>
          </a:p>
          <a:p>
            <a:pPr marL="0" indent="0">
              <a:buNone/>
            </a:pPr>
            <a:r>
              <a:rPr lang="zh-CN" altLang="en-US" sz="2000" dirty="0">
                <a:latin typeface="+mn-ea"/>
              </a:rPr>
              <a:t>条件编译命令有如下</a:t>
            </a:r>
            <a:r>
              <a:rPr lang="en-US" altLang="zh-CN" sz="2000" dirty="0">
                <a:latin typeface="+mn-ea"/>
              </a:rPr>
              <a:t>3</a:t>
            </a:r>
            <a:r>
              <a:rPr lang="zh-CN" altLang="en-US" sz="2000" dirty="0">
                <a:latin typeface="+mn-ea"/>
              </a:rPr>
              <a:t>种形式：</a:t>
            </a:r>
            <a:endParaRPr lang="en-US" altLang="zh-CN" sz="2000" dirty="0">
              <a:latin typeface="+mn-ea"/>
            </a:endParaRPr>
          </a:p>
          <a:p>
            <a:pPr marL="0" indent="0">
              <a:buNone/>
            </a:pPr>
            <a:endParaRPr lang="zh-CN" altLang="en-US" sz="2000" dirty="0">
              <a:latin typeface="+mn-ea"/>
            </a:endParaRPr>
          </a:p>
          <a:p>
            <a:pPr marL="0" indent="0">
              <a:buNone/>
            </a:pPr>
            <a:r>
              <a:rPr lang="zh-CN" altLang="en-US" sz="2000" dirty="0">
                <a:latin typeface="+mn-ea"/>
              </a:rPr>
              <a:t>（</a:t>
            </a:r>
            <a:r>
              <a:rPr lang="en-US" altLang="zh-CN" sz="2000" dirty="0">
                <a:latin typeface="+mn-ea"/>
              </a:rPr>
              <a:t>1</a:t>
            </a:r>
            <a:r>
              <a:rPr lang="zh-CN" altLang="en-US" sz="2000" dirty="0">
                <a:latin typeface="+mn-ea"/>
              </a:rPr>
              <a:t>）</a:t>
            </a:r>
            <a:r>
              <a:rPr lang="en-US" altLang="zh-CN" sz="2000" dirty="0">
                <a:latin typeface="+mn-ea"/>
              </a:rPr>
              <a:t>#ifdef</a:t>
            </a:r>
            <a:r>
              <a:rPr lang="zh-CN" altLang="en-US" sz="2000" dirty="0">
                <a:latin typeface="+mn-ea"/>
              </a:rPr>
              <a:t>标识符</a:t>
            </a:r>
          </a:p>
          <a:p>
            <a:pPr marL="0" indent="0">
              <a:buNone/>
            </a:pPr>
            <a:r>
              <a:rPr lang="zh-CN" altLang="en-US" sz="2000" dirty="0">
                <a:latin typeface="+mn-ea"/>
              </a:rPr>
              <a:t>程序段</a:t>
            </a:r>
            <a:r>
              <a:rPr lang="en-US" altLang="zh-CN" sz="2000" dirty="0">
                <a:latin typeface="+mn-ea"/>
              </a:rPr>
              <a:t>1</a:t>
            </a:r>
          </a:p>
          <a:p>
            <a:pPr marL="0" indent="0">
              <a:buNone/>
            </a:pPr>
            <a:r>
              <a:rPr lang="en-US" altLang="zh-CN" sz="2000" dirty="0">
                <a:latin typeface="+mn-ea"/>
              </a:rPr>
              <a:t>#else</a:t>
            </a:r>
          </a:p>
          <a:p>
            <a:pPr marL="0" indent="0">
              <a:buNone/>
            </a:pPr>
            <a:r>
              <a:rPr lang="en-US" altLang="zh-CN" sz="2000" dirty="0">
                <a:latin typeface="+mn-ea"/>
              </a:rPr>
              <a:t>  </a:t>
            </a:r>
            <a:r>
              <a:rPr lang="zh-CN" altLang="en-US" sz="2000" dirty="0">
                <a:latin typeface="+mn-ea"/>
              </a:rPr>
              <a:t>程序段</a:t>
            </a:r>
            <a:r>
              <a:rPr lang="en-US" altLang="zh-CN" sz="2000" dirty="0">
                <a:latin typeface="+mn-ea"/>
              </a:rPr>
              <a:t>2</a:t>
            </a:r>
          </a:p>
          <a:p>
            <a:pPr marL="0" indent="0">
              <a:buNone/>
            </a:pPr>
            <a:r>
              <a:rPr lang="en-US" altLang="zh-CN" sz="2000" dirty="0">
                <a:latin typeface="+mn-ea"/>
              </a:rPr>
              <a:t>#endif</a:t>
            </a:r>
          </a:p>
          <a:p>
            <a:pPr marL="0" indent="0">
              <a:buNone/>
            </a:pPr>
            <a:r>
              <a:rPr lang="zh-CN" altLang="en-US" sz="2000" dirty="0">
                <a:latin typeface="+mn-ea"/>
              </a:rPr>
              <a:t>其中标识符一般是用</a:t>
            </a:r>
            <a:r>
              <a:rPr lang="en-US" altLang="zh-CN" sz="2000" dirty="0">
                <a:latin typeface="+mn-ea"/>
              </a:rPr>
              <a:t>#define</a:t>
            </a:r>
            <a:r>
              <a:rPr lang="zh-CN" altLang="en-US" sz="2000" dirty="0">
                <a:latin typeface="+mn-ea"/>
              </a:rPr>
              <a:t>定义的宏名，也可缺省</a:t>
            </a:r>
            <a:r>
              <a:rPr lang="en-US" altLang="zh-CN" sz="2000" dirty="0">
                <a:latin typeface="+mn-ea"/>
              </a:rPr>
              <a:t>#else</a:t>
            </a:r>
            <a:r>
              <a:rPr lang="zh-CN" altLang="en-US" sz="2000" dirty="0">
                <a:latin typeface="+mn-ea"/>
              </a:rPr>
              <a:t>部分。</a:t>
            </a:r>
          </a:p>
          <a:p>
            <a:pPr marL="0" indent="0">
              <a:buNone/>
            </a:pPr>
            <a:r>
              <a:rPr lang="zh-CN" altLang="en-US" sz="2000" dirty="0">
                <a:latin typeface="+mn-ea"/>
              </a:rPr>
              <a:t>功能：若标识符定义过，则对程序段</a:t>
            </a:r>
            <a:r>
              <a:rPr lang="en-US" altLang="zh-CN" sz="2000" dirty="0">
                <a:latin typeface="+mn-ea"/>
              </a:rPr>
              <a:t>1</a:t>
            </a:r>
            <a:r>
              <a:rPr lang="zh-CN" altLang="en-US" sz="2000" dirty="0">
                <a:latin typeface="+mn-ea"/>
              </a:rPr>
              <a:t>进行编译，否则对程序段</a:t>
            </a:r>
            <a:r>
              <a:rPr lang="en-US" altLang="zh-CN" sz="2000" dirty="0">
                <a:latin typeface="+mn-ea"/>
              </a:rPr>
              <a:t>2</a:t>
            </a:r>
            <a:r>
              <a:rPr lang="zh-CN" altLang="en-US" sz="2000" dirty="0">
                <a:latin typeface="+mn-ea"/>
              </a:rPr>
              <a:t>进行编译</a:t>
            </a:r>
            <a:r>
              <a:rPr lang="zh-CN" altLang="en-US" sz="2400" dirty="0"/>
              <a:t>。</a:t>
            </a:r>
          </a:p>
        </p:txBody>
      </p:sp>
    </p:spTree>
    <p:extLst>
      <p:ext uri="{BB962C8B-B14F-4D97-AF65-F5344CB8AC3E}">
        <p14:creationId xmlns:p14="http://schemas.microsoft.com/office/powerpoint/2010/main" val="2018724572"/>
      </p:ext>
    </p:extLst>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3F576A2-CED0-8DEC-4E09-6776B9DF8BDA}"/>
              </a:ext>
            </a:extLst>
          </p:cNvPr>
          <p:cNvSpPr>
            <a:spLocks noGrp="1"/>
          </p:cNvSpPr>
          <p:nvPr>
            <p:ph idx="1"/>
          </p:nvPr>
        </p:nvSpPr>
        <p:spPr>
          <a:xfrm>
            <a:off x="838200" y="580571"/>
            <a:ext cx="10515600" cy="5912303"/>
          </a:xfrm>
        </p:spPr>
        <p:txBody>
          <a:bodyPr>
            <a:noAutofit/>
          </a:bodyPr>
          <a:lstStyle/>
          <a:p>
            <a:pPr marL="0" indent="0">
              <a:buNone/>
            </a:pPr>
            <a:r>
              <a:rPr lang="zh-CN" altLang="en-US" sz="2000" dirty="0">
                <a:latin typeface="+mn-ea"/>
              </a:rPr>
              <a:t>（</a:t>
            </a:r>
            <a:r>
              <a:rPr lang="en-US" altLang="zh-CN" sz="2000" dirty="0">
                <a:latin typeface="+mn-ea"/>
              </a:rPr>
              <a:t>2</a:t>
            </a:r>
            <a:r>
              <a:rPr lang="zh-CN" altLang="en-US" sz="2000" dirty="0">
                <a:latin typeface="+mn-ea"/>
              </a:rPr>
              <a:t>）</a:t>
            </a:r>
            <a:r>
              <a:rPr lang="en-US" altLang="zh-CN" sz="2000" dirty="0">
                <a:latin typeface="+mn-ea"/>
              </a:rPr>
              <a:t>#ifdef</a:t>
            </a:r>
            <a:r>
              <a:rPr lang="zh-CN" altLang="en-US" sz="2000" dirty="0">
                <a:latin typeface="+mn-ea"/>
              </a:rPr>
              <a:t>标识符</a:t>
            </a:r>
          </a:p>
          <a:p>
            <a:pPr marL="0" indent="0">
              <a:buNone/>
            </a:pPr>
            <a:r>
              <a:rPr lang="zh-CN" altLang="en-US" sz="2000" dirty="0">
                <a:latin typeface="+mn-ea"/>
              </a:rPr>
              <a:t>        程序段</a:t>
            </a:r>
            <a:r>
              <a:rPr lang="en-US" altLang="zh-CN" sz="2000" dirty="0">
                <a:latin typeface="+mn-ea"/>
              </a:rPr>
              <a:t>1</a:t>
            </a:r>
          </a:p>
          <a:p>
            <a:pPr marL="0" indent="0">
              <a:buNone/>
            </a:pPr>
            <a:r>
              <a:rPr lang="en-US" altLang="zh-CN" sz="2000" dirty="0">
                <a:latin typeface="+mn-ea"/>
              </a:rPr>
              <a:t>     #else</a:t>
            </a:r>
          </a:p>
          <a:p>
            <a:pPr marL="0" indent="0">
              <a:buNone/>
            </a:pPr>
            <a:r>
              <a:rPr lang="en-US" altLang="zh-CN" sz="2000" dirty="0">
                <a:latin typeface="+mn-ea"/>
              </a:rPr>
              <a:t>        </a:t>
            </a:r>
            <a:r>
              <a:rPr lang="zh-CN" altLang="en-US" sz="2000" dirty="0">
                <a:latin typeface="+mn-ea"/>
              </a:rPr>
              <a:t>程序段</a:t>
            </a:r>
            <a:r>
              <a:rPr lang="en-US" altLang="zh-CN" sz="2000" dirty="0">
                <a:latin typeface="+mn-ea"/>
              </a:rPr>
              <a:t>2</a:t>
            </a:r>
          </a:p>
          <a:p>
            <a:pPr marL="0" indent="0">
              <a:buNone/>
            </a:pPr>
            <a:r>
              <a:rPr lang="zh-CN" altLang="en-US" sz="2000" dirty="0">
                <a:latin typeface="+mn-ea"/>
              </a:rPr>
              <a:t>功能：若标识符未定义过，则对程序段</a:t>
            </a:r>
            <a:r>
              <a:rPr lang="en-US" altLang="zh-CN" sz="2000" dirty="0">
                <a:latin typeface="+mn-ea"/>
              </a:rPr>
              <a:t>1</a:t>
            </a:r>
            <a:r>
              <a:rPr lang="zh-CN" altLang="en-US" sz="2000" dirty="0">
                <a:latin typeface="+mn-ea"/>
              </a:rPr>
              <a:t>进行编译，否则对程序段</a:t>
            </a:r>
            <a:r>
              <a:rPr lang="en-US" altLang="zh-CN" sz="2000" dirty="0">
                <a:latin typeface="+mn-ea"/>
              </a:rPr>
              <a:t>2</a:t>
            </a:r>
            <a:r>
              <a:rPr lang="zh-CN" altLang="en-US" sz="2000" dirty="0">
                <a:latin typeface="+mn-ea"/>
              </a:rPr>
              <a:t>进行编译。</a:t>
            </a:r>
          </a:p>
          <a:p>
            <a:pPr marL="0" indent="0">
              <a:buNone/>
            </a:pPr>
            <a:r>
              <a:rPr lang="zh-CN" altLang="en-US" sz="2000" dirty="0">
                <a:latin typeface="+mn-ea"/>
              </a:rPr>
              <a:t>（</a:t>
            </a:r>
            <a:r>
              <a:rPr lang="en-US" altLang="zh-CN" sz="2000" dirty="0">
                <a:latin typeface="+mn-ea"/>
              </a:rPr>
              <a:t>3</a:t>
            </a:r>
            <a:r>
              <a:rPr lang="zh-CN" altLang="en-US" sz="2000" dirty="0">
                <a:latin typeface="+mn-ea"/>
              </a:rPr>
              <a:t>）</a:t>
            </a:r>
            <a:r>
              <a:rPr lang="en-US" altLang="zh-CN" sz="2000" dirty="0">
                <a:latin typeface="+mn-ea"/>
              </a:rPr>
              <a:t>#if</a:t>
            </a:r>
            <a:r>
              <a:rPr lang="zh-CN" altLang="en-US" sz="2000" dirty="0">
                <a:latin typeface="+mn-ea"/>
              </a:rPr>
              <a:t>表达式</a:t>
            </a:r>
          </a:p>
          <a:p>
            <a:pPr marL="0" indent="0">
              <a:buNone/>
            </a:pPr>
            <a:r>
              <a:rPr lang="zh-CN" altLang="en-US" sz="2000" dirty="0">
                <a:latin typeface="+mn-ea"/>
              </a:rPr>
              <a:t>        程序段</a:t>
            </a:r>
            <a:r>
              <a:rPr lang="en-US" altLang="zh-CN" sz="2000" dirty="0">
                <a:latin typeface="+mn-ea"/>
              </a:rPr>
              <a:t>1</a:t>
            </a:r>
          </a:p>
          <a:p>
            <a:pPr marL="0" indent="0">
              <a:buNone/>
            </a:pPr>
            <a:r>
              <a:rPr lang="en-US" altLang="zh-CN" sz="2000" dirty="0">
                <a:latin typeface="+mn-ea"/>
              </a:rPr>
              <a:t>     #else</a:t>
            </a:r>
          </a:p>
          <a:p>
            <a:pPr marL="0" indent="0">
              <a:buNone/>
            </a:pPr>
            <a:r>
              <a:rPr lang="en-US" altLang="zh-CN" sz="2000" dirty="0">
                <a:latin typeface="+mn-ea"/>
              </a:rPr>
              <a:t>        </a:t>
            </a:r>
            <a:r>
              <a:rPr lang="zh-CN" altLang="en-US" sz="2000" dirty="0">
                <a:latin typeface="+mn-ea"/>
              </a:rPr>
              <a:t>程序段</a:t>
            </a:r>
            <a:r>
              <a:rPr lang="en-US" altLang="zh-CN" sz="2000" dirty="0">
                <a:latin typeface="+mn-ea"/>
              </a:rPr>
              <a:t>2</a:t>
            </a:r>
          </a:p>
          <a:p>
            <a:pPr marL="0" indent="0">
              <a:buNone/>
            </a:pPr>
            <a:r>
              <a:rPr lang="en-US" altLang="zh-CN" sz="2000" dirty="0">
                <a:latin typeface="+mn-ea"/>
              </a:rPr>
              <a:t>     #endif</a:t>
            </a:r>
          </a:p>
          <a:p>
            <a:pPr marL="0" indent="0">
              <a:buNone/>
            </a:pPr>
            <a:r>
              <a:rPr lang="zh-CN" altLang="en-US" sz="2000" dirty="0">
                <a:latin typeface="+mn-ea"/>
              </a:rPr>
              <a:t>功能：当表达式的值非</a:t>
            </a:r>
            <a:r>
              <a:rPr lang="en-US" altLang="zh-CN" sz="2000" dirty="0">
                <a:latin typeface="+mn-ea"/>
              </a:rPr>
              <a:t>0</a:t>
            </a:r>
            <a:r>
              <a:rPr lang="zh-CN" altLang="en-US" sz="2000" dirty="0">
                <a:latin typeface="+mn-ea"/>
              </a:rPr>
              <a:t>时，则对程序段</a:t>
            </a:r>
            <a:r>
              <a:rPr lang="en-US" altLang="zh-CN" sz="2000" dirty="0">
                <a:latin typeface="+mn-ea"/>
              </a:rPr>
              <a:t>1</a:t>
            </a:r>
            <a:r>
              <a:rPr lang="zh-CN" altLang="en-US" sz="2000" dirty="0">
                <a:latin typeface="+mn-ea"/>
              </a:rPr>
              <a:t>进行编译，否则对程序段</a:t>
            </a:r>
            <a:r>
              <a:rPr lang="en-US" altLang="zh-CN" sz="2000" dirty="0">
                <a:latin typeface="+mn-ea"/>
              </a:rPr>
              <a:t>2</a:t>
            </a:r>
            <a:r>
              <a:rPr lang="zh-CN" altLang="en-US" sz="2000" dirty="0">
                <a:latin typeface="+mn-ea"/>
              </a:rPr>
              <a:t>进行编译。</a:t>
            </a:r>
            <a:endParaRPr lang="en-US" altLang="zh-CN" sz="2000" dirty="0">
              <a:latin typeface="+mn-ea"/>
            </a:endParaRPr>
          </a:p>
          <a:p>
            <a:pPr marL="0" indent="0">
              <a:buNone/>
            </a:pPr>
            <a:endParaRPr lang="zh-CN" altLang="en-US" sz="2000" dirty="0">
              <a:latin typeface="+mn-ea"/>
            </a:endParaRPr>
          </a:p>
          <a:p>
            <a:pPr marL="0" indent="0">
              <a:buNone/>
            </a:pPr>
            <a:r>
              <a:rPr lang="zh-CN" altLang="en-US" sz="2000" dirty="0">
                <a:latin typeface="+mn-ea"/>
              </a:rPr>
              <a:t>条件编译指令都以</a:t>
            </a:r>
            <a:r>
              <a:rPr lang="en-US" altLang="zh-CN" sz="2000" dirty="0">
                <a:latin typeface="+mn-ea"/>
              </a:rPr>
              <a:t>#</a:t>
            </a:r>
            <a:r>
              <a:rPr lang="zh-CN" altLang="en-US" sz="2000" dirty="0">
                <a:latin typeface="+mn-ea"/>
              </a:rPr>
              <a:t>开头，其意义与选择结构语句</a:t>
            </a:r>
            <a:r>
              <a:rPr lang="en-US" altLang="zh-CN" sz="2000" dirty="0">
                <a:latin typeface="+mn-ea"/>
              </a:rPr>
              <a:t>if-else</a:t>
            </a:r>
            <a:r>
              <a:rPr lang="zh-CN" altLang="en-US" sz="2000" dirty="0">
                <a:latin typeface="+mn-ea"/>
              </a:rPr>
              <a:t>完全不同。</a:t>
            </a:r>
            <a:r>
              <a:rPr lang="en-US" altLang="zh-CN" sz="2000" dirty="0">
                <a:latin typeface="+mn-ea"/>
              </a:rPr>
              <a:t>If-else</a:t>
            </a:r>
            <a:r>
              <a:rPr lang="zh-CN" altLang="en-US" sz="2000" dirty="0">
                <a:latin typeface="+mn-ea"/>
              </a:rPr>
              <a:t>语句分支中的程序段都会被生成到目标代码中，有程序在执行过程中根据条件来决定执行哪一个分支的代码，但条件编译</a:t>
            </a:r>
            <a:r>
              <a:rPr lang="en-US" altLang="zh-CN" sz="2000" dirty="0">
                <a:latin typeface="+mn-ea"/>
              </a:rPr>
              <a:t>#if-#else-#endif</a:t>
            </a:r>
            <a:r>
              <a:rPr lang="zh-CN" altLang="en-US" sz="2000" dirty="0">
                <a:latin typeface="+mn-ea"/>
              </a:rPr>
              <a:t>则是在编译预处理时起作用，满足条件的程序段会被生成到目标代码中，而另一部分则会被舍弃。</a:t>
            </a:r>
          </a:p>
        </p:txBody>
      </p:sp>
    </p:spTree>
    <p:extLst>
      <p:ext uri="{BB962C8B-B14F-4D97-AF65-F5344CB8AC3E}">
        <p14:creationId xmlns:p14="http://schemas.microsoft.com/office/powerpoint/2010/main" val="666249933"/>
      </p:ext>
    </p:extLst>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0EC43-12F7-2072-0BE1-9AEFE642848A}"/>
              </a:ext>
            </a:extLst>
          </p:cNvPr>
          <p:cNvSpPr>
            <a:spLocks noGrp="1"/>
          </p:cNvSpPr>
          <p:nvPr>
            <p:ph type="title"/>
          </p:nvPr>
        </p:nvSpPr>
        <p:spPr/>
        <p:txBody>
          <a:bodyPr>
            <a:normAutofit/>
          </a:bodyPr>
          <a:lstStyle/>
          <a:p>
            <a:r>
              <a:rPr lang="zh-CN" altLang="en-US" sz="3200" dirty="0"/>
              <a:t>函数习题</a:t>
            </a:r>
          </a:p>
        </p:txBody>
      </p:sp>
      <p:sp>
        <p:nvSpPr>
          <p:cNvPr id="3" name="内容占位符 2">
            <a:extLst>
              <a:ext uri="{FF2B5EF4-FFF2-40B4-BE49-F238E27FC236}">
                <a16:creationId xmlns:a16="http://schemas.microsoft.com/office/drawing/2014/main" id="{AB42AB2F-B8FF-2FFC-5D57-4A52AF2EB743}"/>
              </a:ext>
            </a:extLst>
          </p:cNvPr>
          <p:cNvSpPr>
            <a:spLocks noGrp="1"/>
          </p:cNvSpPr>
          <p:nvPr>
            <p:ph idx="1"/>
          </p:nvPr>
        </p:nvSpPr>
        <p:spPr/>
        <p:txBody>
          <a:bodyPr>
            <a:normAutofit fontScale="92500" lnSpcReduction="20000"/>
          </a:bodyPr>
          <a:lstStyle/>
          <a:p>
            <a:pPr marL="0" indent="0">
              <a:buNone/>
            </a:pPr>
            <a:r>
              <a:rPr lang="zh-CN" altLang="en-US" sz="2400" dirty="0">
                <a:latin typeface="+mn-ea"/>
              </a:rPr>
              <a:t>一、判断题</a:t>
            </a:r>
            <a:endParaRPr lang="en-US" altLang="zh-CN" sz="2400" dirty="0">
              <a:latin typeface="+mn-ea"/>
            </a:endParaRPr>
          </a:p>
          <a:p>
            <a:pPr marL="0" indent="0">
              <a:buNone/>
            </a:pPr>
            <a:endParaRPr lang="en-US" altLang="zh-CN" sz="2000" dirty="0">
              <a:latin typeface="+mn-ea"/>
            </a:endParaRPr>
          </a:p>
          <a:p>
            <a:pPr marL="0" indent="0">
              <a:buNone/>
            </a:pPr>
            <a:r>
              <a:rPr lang="en-US" altLang="zh-CN" sz="2000" dirty="0">
                <a:latin typeface="+mn-ea"/>
              </a:rPr>
              <a:t>1.</a:t>
            </a:r>
            <a:r>
              <a:rPr lang="zh-CN" altLang="en-US" sz="2000" dirty="0">
                <a:latin typeface="+mn-ea"/>
              </a:rPr>
              <a:t>当函数的返回值类型为</a:t>
            </a:r>
            <a:r>
              <a:rPr lang="en-US" altLang="zh-CN" sz="2000" dirty="0" err="1">
                <a:latin typeface="+mn-ea"/>
              </a:rPr>
              <a:t>int,float</a:t>
            </a:r>
            <a:r>
              <a:rPr lang="zh-CN" altLang="en-US" sz="2000" dirty="0">
                <a:latin typeface="+mn-ea"/>
              </a:rPr>
              <a:t>型时，类型说明可省略（）</a:t>
            </a:r>
            <a:endParaRPr lang="en-US" altLang="zh-CN" sz="2000" dirty="0">
              <a:latin typeface="+mn-ea"/>
            </a:endParaRPr>
          </a:p>
          <a:p>
            <a:pPr marL="0" indent="0">
              <a:buNone/>
            </a:pPr>
            <a:endParaRPr lang="zh-CN" altLang="en-US" sz="2000" dirty="0">
              <a:latin typeface="+mn-ea"/>
            </a:endParaRPr>
          </a:p>
          <a:p>
            <a:pPr marL="0" indent="0">
              <a:buNone/>
            </a:pPr>
            <a:r>
              <a:rPr lang="en-US" altLang="zh-CN" sz="2000" dirty="0">
                <a:latin typeface="+mn-ea"/>
              </a:rPr>
              <a:t>2.</a:t>
            </a:r>
            <a:r>
              <a:rPr lang="zh-CN" altLang="en-US" sz="2000" dirty="0">
                <a:latin typeface="+mn-ea"/>
              </a:rPr>
              <a:t>可以在函数体内定义另一个函数（）</a:t>
            </a:r>
            <a:endParaRPr lang="en-US" altLang="zh-CN" sz="2000" dirty="0">
              <a:latin typeface="+mn-ea"/>
            </a:endParaRPr>
          </a:p>
          <a:p>
            <a:pPr marL="0" indent="0">
              <a:buNone/>
            </a:pPr>
            <a:endParaRPr lang="zh-CN" altLang="en-US" sz="2000" dirty="0">
              <a:latin typeface="+mn-ea"/>
            </a:endParaRPr>
          </a:p>
          <a:p>
            <a:pPr marL="0" indent="0">
              <a:buNone/>
            </a:pPr>
            <a:r>
              <a:rPr lang="en-US" altLang="zh-CN" sz="2000" dirty="0">
                <a:latin typeface="+mn-ea"/>
              </a:rPr>
              <a:t>3.</a:t>
            </a:r>
            <a:r>
              <a:rPr lang="zh-CN" altLang="en-US" sz="2000" dirty="0">
                <a:latin typeface="+mn-ea"/>
              </a:rPr>
              <a:t>实参的个数和类型必须与函数定义的形参保持一致（）</a:t>
            </a:r>
            <a:endParaRPr lang="en-US" altLang="zh-CN" sz="2000" dirty="0">
              <a:latin typeface="+mn-ea"/>
            </a:endParaRPr>
          </a:p>
          <a:p>
            <a:pPr marL="0" indent="0">
              <a:buNone/>
            </a:pPr>
            <a:endParaRPr lang="zh-CN" altLang="en-US" sz="2000" dirty="0">
              <a:latin typeface="+mn-ea"/>
            </a:endParaRPr>
          </a:p>
          <a:p>
            <a:pPr marL="0" indent="0">
              <a:buNone/>
            </a:pPr>
            <a:r>
              <a:rPr lang="en-US" altLang="zh-CN" sz="2000" dirty="0">
                <a:latin typeface="+mn-ea"/>
              </a:rPr>
              <a:t>4.</a:t>
            </a:r>
            <a:r>
              <a:rPr lang="zh-CN" altLang="en-US" sz="2000" dirty="0">
                <a:latin typeface="+mn-ea"/>
              </a:rPr>
              <a:t>由于数据在寄存器中操作比在内存中快得多，应该尽量多的把变量命名为寄存器型变量（）</a:t>
            </a:r>
            <a:endParaRPr lang="en-US" altLang="zh-CN" sz="2000" dirty="0">
              <a:latin typeface="+mn-ea"/>
            </a:endParaRPr>
          </a:p>
          <a:p>
            <a:pPr marL="0" indent="0">
              <a:buNone/>
            </a:pPr>
            <a:endParaRPr lang="zh-CN" altLang="en-US" sz="2000" dirty="0">
              <a:latin typeface="+mn-ea"/>
            </a:endParaRPr>
          </a:p>
          <a:p>
            <a:pPr marL="0" indent="0">
              <a:buNone/>
            </a:pPr>
            <a:r>
              <a:rPr lang="en-US" altLang="zh-CN" sz="2000" dirty="0">
                <a:latin typeface="+mn-ea"/>
              </a:rPr>
              <a:t>5.</a:t>
            </a:r>
            <a:r>
              <a:rPr lang="zh-CN" altLang="en-US" sz="2000" dirty="0">
                <a:latin typeface="+mn-ea"/>
              </a:rPr>
              <a:t>如果在定义局部变量时不赋初值的话，编译时会将局部静态变量和自动变量自动赋初值</a:t>
            </a:r>
            <a:r>
              <a:rPr lang="en-US" altLang="zh-CN" sz="2000" dirty="0">
                <a:latin typeface="+mn-ea"/>
              </a:rPr>
              <a:t>0</a:t>
            </a:r>
            <a:r>
              <a:rPr lang="zh-CN" altLang="en-US" sz="2000" dirty="0">
                <a:latin typeface="+mn-ea"/>
              </a:rPr>
              <a:t>（）</a:t>
            </a:r>
            <a:endParaRPr lang="en-US" altLang="zh-CN" sz="2000" dirty="0">
              <a:latin typeface="+mn-ea"/>
            </a:endParaRPr>
          </a:p>
          <a:p>
            <a:pPr marL="0" indent="0">
              <a:buNone/>
            </a:pPr>
            <a:endParaRPr lang="zh-CN" altLang="en-US" sz="2000" dirty="0">
              <a:latin typeface="+mn-ea"/>
            </a:endParaRPr>
          </a:p>
          <a:p>
            <a:pPr marL="0" indent="0">
              <a:buNone/>
            </a:pPr>
            <a:r>
              <a:rPr lang="en-US" altLang="zh-CN" sz="2000" dirty="0">
                <a:latin typeface="+mn-ea"/>
              </a:rPr>
              <a:t>6.</a:t>
            </a:r>
            <a:r>
              <a:rPr lang="zh-CN" altLang="en-US" sz="2000" dirty="0">
                <a:latin typeface="+mn-ea"/>
              </a:rPr>
              <a:t>设有多个</a:t>
            </a:r>
            <a:r>
              <a:rPr lang="en-US" altLang="zh-CN" sz="2000" dirty="0">
                <a:latin typeface="+mn-ea"/>
              </a:rPr>
              <a:t>return</a:t>
            </a:r>
            <a:r>
              <a:rPr lang="zh-CN" altLang="en-US" sz="2000" dirty="0">
                <a:latin typeface="+mn-ea"/>
              </a:rPr>
              <a:t>语句的函数的返回值有多个（）</a:t>
            </a:r>
          </a:p>
        </p:txBody>
      </p:sp>
    </p:spTree>
    <p:extLst>
      <p:ext uri="{BB962C8B-B14F-4D97-AF65-F5344CB8AC3E}">
        <p14:creationId xmlns:p14="http://schemas.microsoft.com/office/powerpoint/2010/main" val="2495623651"/>
      </p:ext>
    </p:extLst>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BBABB9E-AB03-1CA5-635A-1D1D993DF9AF}"/>
              </a:ext>
            </a:extLst>
          </p:cNvPr>
          <p:cNvSpPr>
            <a:spLocks noGrp="1"/>
          </p:cNvSpPr>
          <p:nvPr>
            <p:ph idx="1"/>
          </p:nvPr>
        </p:nvSpPr>
        <p:spPr>
          <a:xfrm>
            <a:off x="838200" y="623456"/>
            <a:ext cx="10515600" cy="5553508"/>
          </a:xfrm>
        </p:spPr>
        <p:txBody>
          <a:bodyPr>
            <a:normAutofit fontScale="77500" lnSpcReduction="20000"/>
          </a:bodyPr>
          <a:lstStyle/>
          <a:p>
            <a:pPr marL="0" indent="0">
              <a:buNone/>
            </a:pPr>
            <a:r>
              <a:rPr lang="zh-CN" altLang="en-US" sz="2900" dirty="0"/>
              <a:t>二、填空题</a:t>
            </a:r>
            <a:endParaRPr lang="en-US" altLang="zh-CN" sz="2900" dirty="0"/>
          </a:p>
          <a:p>
            <a:pPr marL="0" indent="0">
              <a:buNone/>
            </a:pPr>
            <a:r>
              <a:rPr lang="en-US" altLang="zh-CN" sz="2200" dirty="0"/>
              <a:t>1.</a:t>
            </a:r>
            <a:r>
              <a:rPr lang="zh-CN" altLang="en-US" sz="2200" dirty="0"/>
              <a:t>请写出下列程序的输出结果</a:t>
            </a:r>
          </a:p>
          <a:p>
            <a:pPr marL="0" indent="0">
              <a:buNone/>
            </a:pPr>
            <a:r>
              <a:rPr lang="zh-CN" altLang="en-US" sz="2200" dirty="0"/>
              <a:t>   </a:t>
            </a:r>
            <a:r>
              <a:rPr lang="en-US" altLang="zh-CN" sz="2200" dirty="0"/>
              <a:t>#include&lt;stdio.h&gt;</a:t>
            </a:r>
          </a:p>
          <a:p>
            <a:pPr marL="0" indent="0">
              <a:buNone/>
            </a:pPr>
            <a:r>
              <a:rPr lang="en-US" altLang="zh-CN" sz="2200" dirty="0"/>
              <a:t>void value( );</a:t>
            </a:r>
          </a:p>
          <a:p>
            <a:pPr marL="0" indent="0">
              <a:buNone/>
            </a:pPr>
            <a:r>
              <a:rPr lang="en-US" altLang="zh-CN" sz="2200" dirty="0"/>
              <a:t>void value( )</a:t>
            </a:r>
          </a:p>
          <a:p>
            <a:pPr marL="0" indent="0">
              <a:buNone/>
            </a:pPr>
            <a:r>
              <a:rPr lang="en-US" altLang="zh-CN" sz="2200" dirty="0"/>
              <a:t>{</a:t>
            </a:r>
          </a:p>
          <a:p>
            <a:pPr marL="0" indent="0">
              <a:buNone/>
            </a:pPr>
            <a:r>
              <a:rPr lang="en-US" altLang="zh-CN" sz="2200" dirty="0"/>
              <a:t>     int au=0;</a:t>
            </a:r>
          </a:p>
          <a:p>
            <a:pPr marL="0" indent="0">
              <a:buNone/>
            </a:pPr>
            <a:r>
              <a:rPr lang="en-US" altLang="zh-CN" sz="2200" dirty="0"/>
              <a:t>     static int </a:t>
            </a:r>
            <a:r>
              <a:rPr lang="en-US" altLang="zh-CN" sz="2200" dirty="0" err="1"/>
              <a:t>st</a:t>
            </a:r>
            <a:r>
              <a:rPr lang="en-US" altLang="zh-CN" sz="2200" dirty="0"/>
              <a:t>=0;</a:t>
            </a:r>
          </a:p>
          <a:p>
            <a:pPr marL="0" indent="0">
              <a:buNone/>
            </a:pPr>
            <a:r>
              <a:rPr lang="en-US" altLang="zh-CN" sz="2200" dirty="0"/>
              <a:t>     </a:t>
            </a:r>
            <a:r>
              <a:rPr lang="en-US" altLang="zh-CN" sz="2200" dirty="0" err="1"/>
              <a:t>printf</a:t>
            </a:r>
            <a:r>
              <a:rPr lang="en-US" altLang="zh-CN" sz="2200" dirty="0"/>
              <a:t>(“</a:t>
            </a:r>
            <a:r>
              <a:rPr lang="en-US" altLang="zh-CN" sz="2200" dirty="0" err="1"/>
              <a:t>au_variable</a:t>
            </a:r>
            <a:r>
              <a:rPr lang="en-US" altLang="zh-CN" sz="2200" dirty="0"/>
              <a:t>=%</a:t>
            </a:r>
            <a:r>
              <a:rPr lang="en-US" altLang="zh-CN" sz="2200" dirty="0" err="1"/>
              <a:t>d,st_variable</a:t>
            </a:r>
            <a:r>
              <a:rPr lang="en-US" altLang="zh-CN" sz="2200" dirty="0"/>
              <a:t>=%d\</a:t>
            </a:r>
            <a:r>
              <a:rPr lang="en-US" altLang="zh-CN" sz="2200" dirty="0" err="1"/>
              <a:t>n,au,st</a:t>
            </a:r>
            <a:r>
              <a:rPr lang="en-US" altLang="zh-CN" sz="2200" dirty="0"/>
              <a:t>”);</a:t>
            </a:r>
          </a:p>
          <a:p>
            <a:pPr marL="0" indent="0">
              <a:buNone/>
            </a:pPr>
            <a:r>
              <a:rPr lang="en-US" altLang="zh-CN" sz="2200" dirty="0"/>
              <a:t>     au++;</a:t>
            </a:r>
          </a:p>
          <a:p>
            <a:pPr marL="0" indent="0">
              <a:buNone/>
            </a:pPr>
            <a:r>
              <a:rPr lang="en-US" altLang="zh-CN" sz="2200" dirty="0"/>
              <a:t>     </a:t>
            </a:r>
            <a:r>
              <a:rPr lang="en-US" altLang="zh-CN" sz="2200" dirty="0" err="1"/>
              <a:t>st</a:t>
            </a:r>
            <a:r>
              <a:rPr lang="en-US" altLang="zh-CN" sz="2200" dirty="0"/>
              <a:t>++;</a:t>
            </a:r>
          </a:p>
          <a:p>
            <a:pPr marL="0" indent="0">
              <a:buNone/>
            </a:pPr>
            <a:r>
              <a:rPr lang="en-US" altLang="zh-CN" sz="2200" dirty="0"/>
              <a:t>}</a:t>
            </a:r>
          </a:p>
          <a:p>
            <a:pPr marL="0" indent="0">
              <a:buNone/>
            </a:pPr>
            <a:r>
              <a:rPr lang="en-US" altLang="zh-CN" sz="2200" dirty="0"/>
              <a:t>void main( )</a:t>
            </a:r>
          </a:p>
          <a:p>
            <a:pPr marL="0" indent="0">
              <a:buNone/>
            </a:pPr>
            <a:r>
              <a:rPr lang="en-US" altLang="zh-CN" sz="2200" dirty="0"/>
              <a:t>{</a:t>
            </a:r>
          </a:p>
          <a:p>
            <a:pPr marL="0" indent="0">
              <a:buNone/>
            </a:pPr>
            <a:r>
              <a:rPr lang="en-US" altLang="zh-CN" sz="2200" dirty="0"/>
              <a:t>    int </a:t>
            </a:r>
            <a:r>
              <a:rPr lang="en-US" altLang="zh-CN" sz="2200" dirty="0" err="1"/>
              <a:t>i</a:t>
            </a:r>
            <a:r>
              <a:rPr lang="en-US" altLang="zh-CN" sz="2200" dirty="0"/>
              <a:t>;</a:t>
            </a:r>
          </a:p>
          <a:p>
            <a:pPr marL="0" indent="0">
              <a:buNone/>
            </a:pPr>
            <a:r>
              <a:rPr lang="en-US" altLang="zh-CN" sz="2200" dirty="0"/>
              <a:t>    for(</a:t>
            </a:r>
            <a:r>
              <a:rPr lang="en-US" altLang="zh-CN" sz="2200" dirty="0" err="1"/>
              <a:t>i</a:t>
            </a:r>
            <a:r>
              <a:rPr lang="en-US" altLang="zh-CN" sz="2200" dirty="0"/>
              <a:t>=0;i&lt;3;i++)</a:t>
            </a:r>
          </a:p>
          <a:p>
            <a:pPr marL="0" indent="0">
              <a:buNone/>
            </a:pPr>
            <a:r>
              <a:rPr lang="en-US" altLang="zh-CN" sz="2200" dirty="0"/>
              <a:t>    {</a:t>
            </a:r>
          </a:p>
          <a:p>
            <a:pPr marL="0" indent="0">
              <a:buNone/>
            </a:pPr>
            <a:r>
              <a:rPr lang="en-US" altLang="zh-CN" sz="2200" dirty="0"/>
              <a:t>       value( );</a:t>
            </a:r>
          </a:p>
          <a:p>
            <a:pPr marL="0" indent="0">
              <a:buNone/>
            </a:pPr>
            <a:r>
              <a:rPr lang="en-US" altLang="zh-CN" sz="2200" dirty="0"/>
              <a:t>    }</a:t>
            </a:r>
          </a:p>
          <a:p>
            <a:pPr marL="0" indent="0">
              <a:buNone/>
            </a:pPr>
            <a:r>
              <a:rPr lang="en-US" altLang="zh-CN" sz="2200" dirty="0"/>
              <a:t>}</a:t>
            </a:r>
            <a:endParaRPr lang="zh-CN" altLang="en-US" sz="2200" dirty="0"/>
          </a:p>
        </p:txBody>
      </p:sp>
    </p:spTree>
    <p:extLst>
      <p:ext uri="{BB962C8B-B14F-4D97-AF65-F5344CB8AC3E}">
        <p14:creationId xmlns:p14="http://schemas.microsoft.com/office/powerpoint/2010/main" val="4247718120"/>
      </p:ext>
    </p:extLst>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D4D4B2C-6D8B-FDC9-BAC4-6A607C2E8817}"/>
              </a:ext>
            </a:extLst>
          </p:cNvPr>
          <p:cNvSpPr>
            <a:spLocks noGrp="1"/>
          </p:cNvSpPr>
          <p:nvPr>
            <p:ph idx="1"/>
          </p:nvPr>
        </p:nvSpPr>
        <p:spPr>
          <a:xfrm>
            <a:off x="838200" y="725714"/>
            <a:ext cx="10515600" cy="5451249"/>
          </a:xfrm>
        </p:spPr>
        <p:txBody>
          <a:bodyPr>
            <a:normAutofit/>
          </a:bodyPr>
          <a:lstStyle/>
          <a:p>
            <a:pPr marL="0" indent="0">
              <a:buNone/>
            </a:pPr>
            <a:r>
              <a:rPr lang="en-US" altLang="zh-CN" sz="2000" dirty="0">
                <a:latin typeface="+mn-ea"/>
              </a:rPr>
              <a:t>2.</a:t>
            </a:r>
            <a:r>
              <a:rPr lang="zh-CN" altLang="en-US" sz="2000" dirty="0">
                <a:latin typeface="+mn-ea"/>
              </a:rPr>
              <a:t>求二分之一的圆面积，函数通过形参得到圆的半径，函数返回二分之一的圆面积（圆面积公式为：</a:t>
            </a:r>
            <a:r>
              <a:rPr lang="en-US" altLang="zh-CN" sz="2000" dirty="0">
                <a:latin typeface="+mn-ea"/>
              </a:rPr>
              <a:t>s=3.14159*r*r</a:t>
            </a:r>
            <a:r>
              <a:rPr lang="zh-CN" altLang="en-US" sz="2000" dirty="0">
                <a:latin typeface="+mn-ea"/>
              </a:rPr>
              <a:t>）</a:t>
            </a:r>
            <a:r>
              <a:rPr lang="en-US" altLang="zh-CN" sz="2000" dirty="0">
                <a:latin typeface="+mn-ea"/>
              </a:rPr>
              <a:t>,</a:t>
            </a:r>
            <a:r>
              <a:rPr lang="zh-CN" altLang="en-US" sz="2000" dirty="0">
                <a:latin typeface="+mn-ea"/>
              </a:rPr>
              <a:t>请补全程序。</a:t>
            </a:r>
          </a:p>
          <a:p>
            <a:pPr marL="0" indent="0">
              <a:buNone/>
            </a:pPr>
            <a:r>
              <a:rPr lang="en-US" altLang="zh-CN" sz="2000" dirty="0">
                <a:latin typeface="+mn-ea"/>
              </a:rPr>
              <a:t>double fun(float________)</a:t>
            </a:r>
          </a:p>
          <a:p>
            <a:pPr marL="0" indent="0">
              <a:buNone/>
            </a:pPr>
            <a:r>
              <a:rPr lang="en-US" altLang="zh-CN" sz="2000" dirty="0">
                <a:latin typeface="+mn-ea"/>
              </a:rPr>
              <a:t>{</a:t>
            </a:r>
          </a:p>
          <a:p>
            <a:pPr marL="0" indent="0">
              <a:buNone/>
            </a:pPr>
            <a:r>
              <a:rPr lang="en-US" altLang="zh-CN" sz="2000" dirty="0">
                <a:latin typeface="+mn-ea"/>
              </a:rPr>
              <a:t>return 3.14159*r*r/2.0;</a:t>
            </a:r>
          </a:p>
          <a:p>
            <a:pPr marL="0" indent="0">
              <a:buNone/>
            </a:pPr>
            <a:r>
              <a:rPr lang="en-US" altLang="zh-CN" sz="2000" dirty="0">
                <a:latin typeface="+mn-ea"/>
              </a:rPr>
              <a:t>}</a:t>
            </a:r>
          </a:p>
          <a:p>
            <a:pPr marL="0" indent="0">
              <a:buNone/>
            </a:pPr>
            <a:r>
              <a:rPr lang="en-US" altLang="zh-CN" sz="2000" dirty="0">
                <a:latin typeface="+mn-ea"/>
              </a:rPr>
              <a:t>int main( )</a:t>
            </a:r>
          </a:p>
          <a:p>
            <a:pPr marL="0" indent="0">
              <a:buNone/>
            </a:pPr>
            <a:r>
              <a:rPr lang="en-US" altLang="zh-CN" sz="2000" dirty="0">
                <a:latin typeface="+mn-ea"/>
              </a:rPr>
              <a:t>{</a:t>
            </a:r>
          </a:p>
          <a:p>
            <a:pPr marL="0" indent="0">
              <a:buNone/>
            </a:pPr>
            <a:r>
              <a:rPr lang="en-US" altLang="zh-CN" sz="2000" dirty="0">
                <a:latin typeface="+mn-ea"/>
              </a:rPr>
              <a:t>float x;</a:t>
            </a:r>
          </a:p>
          <a:p>
            <a:pPr marL="0" indent="0">
              <a:buNone/>
            </a:pPr>
            <a:r>
              <a:rPr lang="en-US" altLang="zh-CN" sz="2000" dirty="0" err="1">
                <a:latin typeface="+mn-ea"/>
              </a:rPr>
              <a:t>scanf</a:t>
            </a:r>
            <a:r>
              <a:rPr lang="en-US" altLang="zh-CN" sz="2000" dirty="0">
                <a:latin typeface="+mn-ea"/>
              </a:rPr>
              <a:t>(“%f”,__________);</a:t>
            </a:r>
          </a:p>
          <a:p>
            <a:pPr marL="0" indent="0">
              <a:buNone/>
            </a:pPr>
            <a:r>
              <a:rPr lang="en-US" altLang="zh-CN" sz="2000" dirty="0" err="1">
                <a:latin typeface="+mn-ea"/>
              </a:rPr>
              <a:t>printf</a:t>
            </a:r>
            <a:r>
              <a:rPr lang="en-US" altLang="zh-CN" sz="2000" dirty="0">
                <a:latin typeface="+mn-ea"/>
              </a:rPr>
              <a:t>(“s=%f\</a:t>
            </a:r>
            <a:r>
              <a:rPr lang="en-US" altLang="zh-CN" sz="2000" dirty="0" err="1">
                <a:latin typeface="+mn-ea"/>
              </a:rPr>
              <a:t>n”,fun</a:t>
            </a:r>
            <a:r>
              <a:rPr lang="en-US" altLang="zh-CN" sz="2000" dirty="0">
                <a:latin typeface="+mn-ea"/>
              </a:rPr>
              <a:t>(x));</a:t>
            </a:r>
          </a:p>
          <a:p>
            <a:pPr marL="0" indent="0">
              <a:buNone/>
            </a:pPr>
            <a:r>
              <a:rPr lang="en-US" altLang="zh-CN" sz="2000" dirty="0">
                <a:latin typeface="+mn-ea"/>
              </a:rPr>
              <a:t>}</a:t>
            </a:r>
            <a:endParaRPr lang="zh-CN" altLang="en-US" sz="2000" dirty="0">
              <a:latin typeface="+mn-ea"/>
            </a:endParaRPr>
          </a:p>
        </p:txBody>
      </p:sp>
    </p:spTree>
    <p:extLst>
      <p:ext uri="{BB962C8B-B14F-4D97-AF65-F5344CB8AC3E}">
        <p14:creationId xmlns:p14="http://schemas.microsoft.com/office/powerpoint/2010/main" val="799423469"/>
      </p:ext>
    </p:extLst>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A110913-EB7E-50B8-A5DE-D1C84E703C3B}"/>
              </a:ext>
            </a:extLst>
          </p:cNvPr>
          <p:cNvSpPr>
            <a:spLocks noGrp="1"/>
          </p:cNvSpPr>
          <p:nvPr>
            <p:ph idx="1"/>
          </p:nvPr>
        </p:nvSpPr>
        <p:spPr>
          <a:xfrm>
            <a:off x="413657" y="79829"/>
            <a:ext cx="10940143" cy="6778171"/>
          </a:xfrm>
        </p:spPr>
        <p:txBody>
          <a:bodyPr>
            <a:normAutofit fontScale="47500" lnSpcReduction="20000"/>
          </a:bodyPr>
          <a:lstStyle/>
          <a:p>
            <a:pPr marL="0" indent="0">
              <a:buNone/>
            </a:pPr>
            <a:r>
              <a:rPr lang="en-US" altLang="zh-CN" sz="3400" dirty="0">
                <a:latin typeface="+mn-ea"/>
              </a:rPr>
              <a:t>3.</a:t>
            </a:r>
            <a:r>
              <a:rPr lang="zh-CN" altLang="en-US" sz="3400" dirty="0">
                <a:latin typeface="+mn-ea"/>
              </a:rPr>
              <a:t>计算</a:t>
            </a:r>
            <a:r>
              <a:rPr lang="en-US" altLang="zh-CN" sz="3400" dirty="0">
                <a:latin typeface="+mn-ea"/>
              </a:rPr>
              <a:t>50</a:t>
            </a:r>
            <a:r>
              <a:rPr lang="zh-CN" altLang="en-US" sz="3400" dirty="0">
                <a:latin typeface="+mn-ea"/>
              </a:rPr>
              <a:t>个学生</a:t>
            </a:r>
            <a:r>
              <a:rPr lang="en-US" altLang="zh-CN" sz="3400" dirty="0">
                <a:latin typeface="+mn-ea"/>
              </a:rPr>
              <a:t>C</a:t>
            </a:r>
            <a:r>
              <a:rPr lang="zh-CN" altLang="en-US" sz="3400" dirty="0">
                <a:latin typeface="+mn-ea"/>
              </a:rPr>
              <a:t>语言成绩的最高分和最低分，请补全程序</a:t>
            </a:r>
          </a:p>
          <a:p>
            <a:pPr marL="0" indent="0">
              <a:buNone/>
            </a:pPr>
            <a:r>
              <a:rPr lang="en-US" altLang="zh-CN" dirty="0"/>
              <a:t>#include&lt;stdio&gt;</a:t>
            </a:r>
          </a:p>
          <a:p>
            <a:pPr marL="0" indent="0">
              <a:buNone/>
            </a:pPr>
            <a:r>
              <a:rPr lang="en-US" altLang="zh-CN" dirty="0"/>
              <a:t>____________________;</a:t>
            </a:r>
          </a:p>
          <a:p>
            <a:pPr marL="0" indent="0">
              <a:buNone/>
            </a:pPr>
            <a:r>
              <a:rPr lang="en-US" altLang="zh-CN" dirty="0"/>
              <a:t>void main(void)</a:t>
            </a:r>
          </a:p>
          <a:p>
            <a:pPr marL="0" indent="0">
              <a:buNone/>
            </a:pPr>
            <a:r>
              <a:rPr lang="en-US" altLang="zh-CN" dirty="0"/>
              <a:t>{</a:t>
            </a:r>
          </a:p>
          <a:p>
            <a:pPr marL="0" indent="0">
              <a:buNone/>
            </a:pPr>
            <a:r>
              <a:rPr lang="en-US" altLang="zh-CN" dirty="0"/>
              <a:t>float[50],min;</a:t>
            </a:r>
          </a:p>
          <a:p>
            <a:pPr marL="0" indent="0">
              <a:buNone/>
            </a:pPr>
            <a:r>
              <a:rPr lang="en-US" altLang="zh-CN" dirty="0"/>
              <a:t>int m;</a:t>
            </a:r>
          </a:p>
          <a:p>
            <a:pPr marL="0" indent="0">
              <a:buNone/>
            </a:pPr>
            <a:r>
              <a:rPr lang="en-US" altLang="zh-CN" dirty="0"/>
              <a:t>float max;</a:t>
            </a:r>
          </a:p>
          <a:p>
            <a:pPr marL="0" indent="0">
              <a:buNone/>
            </a:pPr>
            <a:r>
              <a:rPr lang="en-US" altLang="zh-CN" dirty="0"/>
              <a:t>for(m=0;m&lt;50;m++0)</a:t>
            </a:r>
          </a:p>
          <a:p>
            <a:pPr marL="0" indent="0">
              <a:buNone/>
            </a:pPr>
            <a:r>
              <a:rPr lang="en-US" altLang="zh-CN" dirty="0"/>
              <a:t>     </a:t>
            </a:r>
            <a:r>
              <a:rPr lang="en-US" altLang="zh-CN" dirty="0" err="1"/>
              <a:t>scanf</a:t>
            </a:r>
            <a:r>
              <a:rPr lang="en-US" altLang="zh-CN" dirty="0"/>
              <a:t>(“%f”,___________);</a:t>
            </a:r>
          </a:p>
          <a:p>
            <a:pPr marL="0" indent="0">
              <a:buNone/>
            </a:pPr>
            <a:r>
              <a:rPr lang="en-US" altLang="zh-CN" dirty="0"/>
              <a:t>______________________;</a:t>
            </a:r>
          </a:p>
          <a:p>
            <a:pPr marL="0" indent="0">
              <a:buNone/>
            </a:pPr>
            <a:r>
              <a:rPr lang="en-US" altLang="zh-CN" dirty="0" err="1"/>
              <a:t>printf</a:t>
            </a:r>
            <a:r>
              <a:rPr lang="en-US" altLang="zh-CN" dirty="0"/>
              <a:t>(“max=%</a:t>
            </a:r>
            <a:r>
              <a:rPr lang="en-US" altLang="zh-CN" dirty="0" err="1"/>
              <a:t>f,min</a:t>
            </a:r>
            <a:r>
              <a:rPr lang="en-US" altLang="zh-CN" dirty="0"/>
              <a:t>=%f\n”,</a:t>
            </a:r>
            <a:r>
              <a:rPr lang="en-US" altLang="zh-CN" dirty="0" err="1"/>
              <a:t>max,min</a:t>
            </a:r>
            <a:r>
              <a:rPr lang="en-US" altLang="zh-CN" dirty="0"/>
              <a:t>)</a:t>
            </a:r>
          </a:p>
          <a:p>
            <a:pPr marL="0" indent="0">
              <a:buNone/>
            </a:pPr>
            <a:r>
              <a:rPr lang="en-US" altLang="zh-CN" dirty="0"/>
              <a:t>}</a:t>
            </a:r>
          </a:p>
          <a:p>
            <a:pPr marL="0" indent="0">
              <a:buNone/>
            </a:pPr>
            <a:r>
              <a:rPr lang="en-US" altLang="zh-CN" dirty="0"/>
              <a:t>float statistic(float*p1,int </a:t>
            </a:r>
            <a:r>
              <a:rPr lang="en-US" altLang="zh-CN" dirty="0" err="1"/>
              <a:t>n,float</a:t>
            </a:r>
            <a:r>
              <a:rPr lang="en-US" altLang="zh-CN" dirty="0"/>
              <a:t>*p2)</a:t>
            </a:r>
          </a:p>
          <a:p>
            <a:pPr marL="0" indent="0">
              <a:buNone/>
            </a:pPr>
            <a:r>
              <a:rPr lang="en-US" altLang="zh-CN" dirty="0"/>
              <a:t>{</a:t>
            </a:r>
          </a:p>
          <a:p>
            <a:pPr marL="0" indent="0">
              <a:buNone/>
            </a:pPr>
            <a:r>
              <a:rPr lang="en-US" altLang="zh-CN" dirty="0"/>
              <a:t>_______________________;</a:t>
            </a:r>
          </a:p>
          <a:p>
            <a:pPr marL="0" indent="0">
              <a:buNone/>
            </a:pPr>
            <a:r>
              <a:rPr lang="en-US" altLang="zh-CN" dirty="0"/>
              <a:t>float temp=p1[0];</a:t>
            </a:r>
          </a:p>
          <a:p>
            <a:pPr marL="0" indent="0">
              <a:buNone/>
            </a:pPr>
            <a:r>
              <a:rPr lang="en-US" altLang="zh-CN" dirty="0"/>
              <a:t>*p2=p1[0];</a:t>
            </a:r>
          </a:p>
          <a:p>
            <a:pPr marL="0" indent="0">
              <a:buNone/>
            </a:pPr>
            <a:r>
              <a:rPr lang="en-US" altLang="zh-CN" dirty="0"/>
              <a:t>for(</a:t>
            </a:r>
            <a:r>
              <a:rPr lang="en-US" altLang="zh-CN" dirty="0" err="1"/>
              <a:t>i</a:t>
            </a:r>
            <a:r>
              <a:rPr lang="en-US" altLang="zh-CN" dirty="0"/>
              <a:t>=0;i&lt;</a:t>
            </a:r>
            <a:r>
              <a:rPr lang="en-US" altLang="zh-CN" dirty="0" err="1"/>
              <a:t>n;i</a:t>
            </a:r>
            <a:r>
              <a:rPr lang="en-US" altLang="zh-CN" dirty="0"/>
              <a:t>++)</a:t>
            </a:r>
          </a:p>
          <a:p>
            <a:pPr marL="0" indent="0">
              <a:buNone/>
            </a:pPr>
            <a:r>
              <a:rPr lang="en-US" altLang="zh-CN" dirty="0"/>
              <a:t>{</a:t>
            </a:r>
          </a:p>
          <a:p>
            <a:pPr marL="0" indent="0">
              <a:buNone/>
            </a:pPr>
            <a:r>
              <a:rPr lang="en-US" altLang="zh-CN" dirty="0"/>
              <a:t>if(__________________);</a:t>
            </a:r>
          </a:p>
          <a:p>
            <a:pPr marL="0" indent="0">
              <a:buNone/>
            </a:pPr>
            <a:r>
              <a:rPr lang="en-US" altLang="zh-CN" dirty="0"/>
              <a:t>temp=p1[</a:t>
            </a:r>
            <a:r>
              <a:rPr lang="en-US" altLang="zh-CN" dirty="0" err="1"/>
              <a:t>i</a:t>
            </a:r>
            <a:r>
              <a:rPr lang="en-US" altLang="zh-CN" dirty="0"/>
              <a:t>];</a:t>
            </a:r>
          </a:p>
          <a:p>
            <a:pPr marL="0" indent="0">
              <a:buNone/>
            </a:pPr>
            <a:r>
              <a:rPr lang="en-US" altLang="zh-CN" dirty="0"/>
              <a:t>if(p[</a:t>
            </a:r>
            <a:r>
              <a:rPr lang="en-US" altLang="zh-CN" dirty="0" err="1"/>
              <a:t>i</a:t>
            </a:r>
            <a:r>
              <a:rPr lang="en-US" altLang="zh-CN" dirty="0"/>
              <a:t>]&lt;*p2)</a:t>
            </a:r>
          </a:p>
          <a:p>
            <a:pPr marL="0" indent="0">
              <a:buNone/>
            </a:pPr>
            <a:r>
              <a:rPr lang="en-US" altLang="zh-CN" dirty="0"/>
              <a:t>_______________________;</a:t>
            </a:r>
          </a:p>
          <a:p>
            <a:pPr marL="0" indent="0">
              <a:buNone/>
            </a:pPr>
            <a:r>
              <a:rPr lang="en-US" altLang="zh-CN" dirty="0"/>
              <a:t>}</a:t>
            </a:r>
          </a:p>
          <a:p>
            <a:pPr marL="0" indent="0">
              <a:buNone/>
            </a:pPr>
            <a:r>
              <a:rPr lang="en-US" altLang="zh-CN" dirty="0"/>
              <a:t>__________________;</a:t>
            </a:r>
          </a:p>
          <a:p>
            <a:pPr marL="0" indent="0">
              <a:buNone/>
            </a:pPr>
            <a:r>
              <a:rPr lang="en-US" altLang="zh-CN" dirty="0"/>
              <a:t>}</a:t>
            </a:r>
            <a:endParaRPr lang="zh-CN" altLang="en-US" dirty="0"/>
          </a:p>
        </p:txBody>
      </p:sp>
    </p:spTree>
    <p:extLst>
      <p:ext uri="{BB962C8B-B14F-4D97-AF65-F5344CB8AC3E}">
        <p14:creationId xmlns:p14="http://schemas.microsoft.com/office/powerpoint/2010/main" val="4091561723"/>
      </p:ext>
    </p:extLst>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CA53F4-5542-CB2D-B085-0446C661E2FA}"/>
              </a:ext>
            </a:extLst>
          </p:cNvPr>
          <p:cNvSpPr>
            <a:spLocks noGrp="1"/>
          </p:cNvSpPr>
          <p:nvPr>
            <p:ph idx="1"/>
          </p:nvPr>
        </p:nvSpPr>
        <p:spPr>
          <a:xfrm>
            <a:off x="838200" y="573314"/>
            <a:ext cx="10515600" cy="5603649"/>
          </a:xfrm>
        </p:spPr>
        <p:txBody>
          <a:bodyPr/>
          <a:lstStyle/>
          <a:p>
            <a:pPr marL="0" indent="0">
              <a:buNone/>
            </a:pPr>
            <a:r>
              <a:rPr lang="zh-CN" altLang="en-US" dirty="0">
                <a:latin typeface="+mn-ea"/>
              </a:rPr>
              <a:t>三、程序设计题</a:t>
            </a:r>
            <a:endParaRPr lang="en-US" altLang="zh-CN" dirty="0">
              <a:latin typeface="+mn-ea"/>
            </a:endParaRPr>
          </a:p>
          <a:p>
            <a:pPr marL="0" indent="0">
              <a:buNone/>
            </a:pPr>
            <a:endParaRPr lang="en-US" altLang="zh-CN" sz="2000" dirty="0">
              <a:latin typeface="+mn-ea"/>
            </a:endParaRPr>
          </a:p>
          <a:p>
            <a:pPr marL="0" indent="0">
              <a:buNone/>
            </a:pPr>
            <a:r>
              <a:rPr lang="en-US" altLang="zh-CN" sz="2000" dirty="0">
                <a:latin typeface="+mn-ea"/>
              </a:rPr>
              <a:t>1.</a:t>
            </a:r>
            <a:r>
              <a:rPr lang="zh-CN" altLang="en-US" sz="2000" dirty="0">
                <a:latin typeface="+mn-ea"/>
              </a:rPr>
              <a:t>设计程序对三个整数</a:t>
            </a:r>
            <a:r>
              <a:rPr lang="en-US" altLang="zh-CN" sz="2000" dirty="0" err="1">
                <a:latin typeface="+mn-ea"/>
              </a:rPr>
              <a:t>a,b,c</a:t>
            </a:r>
            <a:r>
              <a:rPr lang="zh-CN" altLang="en-US" sz="2000" dirty="0">
                <a:latin typeface="+mn-ea"/>
              </a:rPr>
              <a:t>进行从小到大的排序（调用</a:t>
            </a:r>
            <a:r>
              <a:rPr lang="en-US" altLang="zh-CN" sz="2000" dirty="0">
                <a:latin typeface="+mn-ea"/>
              </a:rPr>
              <a:t>swap</a:t>
            </a:r>
            <a:r>
              <a:rPr lang="zh-CN" altLang="en-US" sz="2000" dirty="0">
                <a:latin typeface="+mn-ea"/>
              </a:rPr>
              <a:t>交换函数）</a:t>
            </a:r>
          </a:p>
          <a:p>
            <a:pPr marL="0" indent="0">
              <a:buNone/>
            </a:pPr>
            <a:endParaRPr lang="en-US" altLang="zh-CN" sz="2000" dirty="0">
              <a:latin typeface="+mn-ea"/>
            </a:endParaRPr>
          </a:p>
          <a:p>
            <a:pPr marL="0" indent="0">
              <a:buNone/>
            </a:pPr>
            <a:endParaRPr lang="en-US" altLang="zh-CN" sz="2000" dirty="0">
              <a:latin typeface="+mn-ea"/>
            </a:endParaRPr>
          </a:p>
          <a:p>
            <a:pPr marL="0" indent="0">
              <a:buNone/>
            </a:pPr>
            <a:endParaRPr lang="en-US" altLang="zh-CN" sz="2000" dirty="0">
              <a:latin typeface="+mn-ea"/>
            </a:endParaRPr>
          </a:p>
          <a:p>
            <a:pPr marL="0" indent="0">
              <a:buNone/>
            </a:pPr>
            <a:endParaRPr lang="en-US" altLang="zh-CN" sz="2000" dirty="0">
              <a:latin typeface="+mn-ea"/>
            </a:endParaRPr>
          </a:p>
          <a:p>
            <a:pPr marL="0" indent="0">
              <a:buNone/>
            </a:pPr>
            <a:r>
              <a:rPr lang="en-US" altLang="zh-CN" sz="2000" dirty="0">
                <a:latin typeface="+mn-ea"/>
              </a:rPr>
              <a:t>2.</a:t>
            </a:r>
            <a:r>
              <a:rPr lang="zh-CN" altLang="en-US" sz="2000" dirty="0">
                <a:latin typeface="+mn-ea"/>
              </a:rPr>
              <a:t>设计程序：求一元二次方程的根，实系数</a:t>
            </a:r>
            <a:r>
              <a:rPr lang="en-US" altLang="zh-CN" sz="2000" dirty="0" err="1">
                <a:latin typeface="+mn-ea"/>
              </a:rPr>
              <a:t>a,b,c</a:t>
            </a:r>
            <a:r>
              <a:rPr lang="zh-CN" altLang="en-US" sz="2000" dirty="0">
                <a:latin typeface="+mn-ea"/>
              </a:rPr>
              <a:t>从终端输入，考虑两个不同实根，相同实根和复根的情况。（调用开根号</a:t>
            </a:r>
            <a:r>
              <a:rPr lang="en-US" altLang="zh-CN" sz="2000" dirty="0">
                <a:latin typeface="+mn-ea"/>
              </a:rPr>
              <a:t>sqrt</a:t>
            </a:r>
            <a:r>
              <a:rPr lang="zh-CN" altLang="en-US" sz="2000" dirty="0">
                <a:latin typeface="+mn-ea"/>
              </a:rPr>
              <a:t>函数）</a:t>
            </a:r>
          </a:p>
          <a:p>
            <a:pPr marL="0" indent="0">
              <a:buNone/>
            </a:pPr>
            <a:endParaRPr lang="zh-CN" altLang="en-US" dirty="0"/>
          </a:p>
        </p:txBody>
      </p:sp>
    </p:spTree>
    <p:extLst>
      <p:ext uri="{BB962C8B-B14F-4D97-AF65-F5344CB8AC3E}">
        <p14:creationId xmlns:p14="http://schemas.microsoft.com/office/powerpoint/2010/main" val="1821146813"/>
      </p:ext>
    </p:extLst>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AAED7D-6E68-AEA7-FAB5-4B73E6C0367F}"/>
              </a:ext>
            </a:extLst>
          </p:cNvPr>
          <p:cNvSpPr>
            <a:spLocks noGrp="1"/>
          </p:cNvSpPr>
          <p:nvPr>
            <p:ph type="title"/>
          </p:nvPr>
        </p:nvSpPr>
        <p:spPr/>
        <p:txBody>
          <a:bodyPr>
            <a:normAutofit/>
          </a:bodyPr>
          <a:lstStyle/>
          <a:p>
            <a:r>
              <a:rPr lang="zh-CN" altLang="en-US" sz="3200" dirty="0"/>
              <a:t>答案与解析</a:t>
            </a:r>
          </a:p>
        </p:txBody>
      </p:sp>
      <p:sp>
        <p:nvSpPr>
          <p:cNvPr id="3" name="内容占位符 2">
            <a:extLst>
              <a:ext uri="{FF2B5EF4-FFF2-40B4-BE49-F238E27FC236}">
                <a16:creationId xmlns:a16="http://schemas.microsoft.com/office/drawing/2014/main" id="{F504E8A5-110D-7F06-6C16-E2A41565F7D4}"/>
              </a:ext>
            </a:extLst>
          </p:cNvPr>
          <p:cNvSpPr>
            <a:spLocks noGrp="1"/>
          </p:cNvSpPr>
          <p:nvPr>
            <p:ph idx="1"/>
          </p:nvPr>
        </p:nvSpPr>
        <p:spPr/>
        <p:txBody>
          <a:bodyPr>
            <a:normAutofit lnSpcReduction="10000"/>
          </a:bodyPr>
          <a:lstStyle/>
          <a:p>
            <a:pPr marL="0" indent="0">
              <a:buNone/>
            </a:pPr>
            <a:r>
              <a:rPr lang="zh-CN" altLang="en-US" sz="2000" dirty="0">
                <a:latin typeface="+mn-ea"/>
              </a:rPr>
              <a:t>一、判断题</a:t>
            </a:r>
            <a:endParaRPr lang="en-US" altLang="zh-CN" sz="2000" dirty="0">
              <a:latin typeface="+mn-ea"/>
            </a:endParaRPr>
          </a:p>
          <a:p>
            <a:pPr marL="0" indent="0">
              <a:buNone/>
            </a:pPr>
            <a:endParaRPr lang="en-US" altLang="zh-CN" sz="2000" dirty="0">
              <a:latin typeface="+mn-ea"/>
            </a:endParaRPr>
          </a:p>
          <a:p>
            <a:pPr marL="0" indent="0">
              <a:buNone/>
            </a:pPr>
            <a:r>
              <a:rPr lang="en-US" altLang="zh-CN" sz="2000" dirty="0">
                <a:latin typeface="+mn-ea"/>
              </a:rPr>
              <a:t>   1.</a:t>
            </a:r>
            <a:r>
              <a:rPr lang="zh-CN" altLang="en-US" sz="2000" dirty="0">
                <a:latin typeface="+mn-ea"/>
              </a:rPr>
              <a:t>错误：只有当函数的返回值类型为</a:t>
            </a:r>
            <a:r>
              <a:rPr lang="en-US" altLang="zh-CN" sz="2000" dirty="0">
                <a:latin typeface="+mn-ea"/>
              </a:rPr>
              <a:t>int</a:t>
            </a:r>
            <a:r>
              <a:rPr lang="zh-CN" altLang="en-US" sz="2000" dirty="0">
                <a:latin typeface="+mn-ea"/>
              </a:rPr>
              <a:t>型时，类型说明可省略（书</a:t>
            </a:r>
            <a:r>
              <a:rPr lang="en-US" altLang="zh-CN" sz="2000" dirty="0">
                <a:latin typeface="+mn-ea"/>
              </a:rPr>
              <a:t>P80</a:t>
            </a:r>
            <a:r>
              <a:rPr lang="zh-CN" altLang="en-US" sz="2000" dirty="0">
                <a:latin typeface="+mn-ea"/>
              </a:rPr>
              <a:t>）</a:t>
            </a:r>
          </a:p>
          <a:p>
            <a:pPr marL="0" indent="0">
              <a:buNone/>
            </a:pPr>
            <a:r>
              <a:rPr lang="zh-CN" altLang="en-US" sz="2000" dirty="0">
                <a:latin typeface="+mn-ea"/>
              </a:rPr>
              <a:t>   </a:t>
            </a:r>
            <a:r>
              <a:rPr lang="en-US" altLang="zh-CN" sz="2000" dirty="0">
                <a:latin typeface="+mn-ea"/>
              </a:rPr>
              <a:t>2.</a:t>
            </a:r>
            <a:r>
              <a:rPr lang="zh-CN" altLang="en-US" sz="2000" dirty="0">
                <a:latin typeface="+mn-ea"/>
              </a:rPr>
              <a:t>错误：不允许在函数体内定义另一个函数（书</a:t>
            </a:r>
            <a:r>
              <a:rPr lang="en-US" altLang="zh-CN" sz="2000" dirty="0">
                <a:latin typeface="+mn-ea"/>
              </a:rPr>
              <a:t>P80</a:t>
            </a:r>
            <a:r>
              <a:rPr lang="zh-CN" altLang="en-US" sz="2000" dirty="0">
                <a:latin typeface="+mn-ea"/>
              </a:rPr>
              <a:t>）</a:t>
            </a:r>
          </a:p>
          <a:p>
            <a:pPr marL="0" indent="0">
              <a:buNone/>
            </a:pPr>
            <a:r>
              <a:rPr lang="zh-CN" altLang="en-US" sz="2000" dirty="0">
                <a:latin typeface="+mn-ea"/>
              </a:rPr>
              <a:t>   </a:t>
            </a:r>
            <a:r>
              <a:rPr lang="en-US" altLang="zh-CN" sz="2000" dirty="0">
                <a:latin typeface="+mn-ea"/>
              </a:rPr>
              <a:t>3.</a:t>
            </a:r>
            <a:r>
              <a:rPr lang="zh-CN" altLang="en-US" sz="2000" dirty="0">
                <a:latin typeface="+mn-ea"/>
              </a:rPr>
              <a:t>正确（书</a:t>
            </a:r>
            <a:r>
              <a:rPr lang="en-US" altLang="zh-CN" sz="2000" dirty="0">
                <a:latin typeface="+mn-ea"/>
              </a:rPr>
              <a:t>P82</a:t>
            </a:r>
            <a:r>
              <a:rPr lang="zh-CN" altLang="en-US" sz="2000" dirty="0">
                <a:latin typeface="+mn-ea"/>
              </a:rPr>
              <a:t>）</a:t>
            </a:r>
          </a:p>
          <a:p>
            <a:pPr marL="0" indent="0">
              <a:buNone/>
            </a:pPr>
            <a:r>
              <a:rPr lang="zh-CN" altLang="en-US" sz="2000" dirty="0">
                <a:latin typeface="+mn-ea"/>
              </a:rPr>
              <a:t>   </a:t>
            </a:r>
            <a:r>
              <a:rPr lang="en-US" altLang="zh-CN" sz="2000" dirty="0">
                <a:latin typeface="+mn-ea"/>
              </a:rPr>
              <a:t>4.</a:t>
            </a:r>
            <a:r>
              <a:rPr lang="zh-CN" altLang="en-US" sz="2000" dirty="0">
                <a:latin typeface="+mn-ea"/>
              </a:rPr>
              <a:t>错误：计算机的寄存器是有限的，应将使用最频繁的变量定义为寄存器型变量（书</a:t>
            </a:r>
            <a:r>
              <a:rPr lang="en-US" altLang="zh-CN" sz="2000" dirty="0">
                <a:latin typeface="+mn-ea"/>
              </a:rPr>
              <a:t>P88</a:t>
            </a:r>
            <a:r>
              <a:rPr lang="zh-CN" altLang="en-US" sz="2000" dirty="0">
                <a:latin typeface="+mn-ea"/>
              </a:rPr>
              <a:t>）</a:t>
            </a:r>
          </a:p>
          <a:p>
            <a:pPr marL="0" indent="0">
              <a:buNone/>
            </a:pPr>
            <a:r>
              <a:rPr lang="zh-CN" altLang="en-US" sz="2000" dirty="0">
                <a:latin typeface="+mn-ea"/>
              </a:rPr>
              <a:t>   </a:t>
            </a:r>
            <a:r>
              <a:rPr lang="en-US" altLang="zh-CN" sz="2000" dirty="0">
                <a:latin typeface="+mn-ea"/>
              </a:rPr>
              <a:t>5.</a:t>
            </a:r>
            <a:r>
              <a:rPr lang="zh-CN" altLang="en-US" sz="2000" dirty="0">
                <a:latin typeface="+mn-ea"/>
              </a:rPr>
              <a:t>错误：如果在定义局部变量时不赋初值的话，编译时会将局部静态变量自动赋初值</a:t>
            </a:r>
            <a:r>
              <a:rPr lang="en-US" altLang="zh-CN" sz="2000" dirty="0">
                <a:latin typeface="+mn-ea"/>
              </a:rPr>
              <a:t>0</a:t>
            </a:r>
            <a:r>
              <a:rPr lang="zh-CN" altLang="en-US" sz="2000" dirty="0">
                <a:latin typeface="+mn-ea"/>
              </a:rPr>
              <a:t>，但自动变量的值是一个不确定的值（书</a:t>
            </a:r>
            <a:r>
              <a:rPr lang="en-US" altLang="zh-CN" sz="2000" dirty="0">
                <a:latin typeface="+mn-ea"/>
              </a:rPr>
              <a:t>P92</a:t>
            </a:r>
            <a:r>
              <a:rPr lang="zh-CN" altLang="en-US" sz="2000" dirty="0">
                <a:latin typeface="+mn-ea"/>
              </a:rPr>
              <a:t>）</a:t>
            </a:r>
          </a:p>
          <a:p>
            <a:pPr marL="0" indent="0">
              <a:buNone/>
            </a:pPr>
            <a:r>
              <a:rPr lang="zh-CN" altLang="en-US" sz="2000" dirty="0">
                <a:latin typeface="+mn-ea"/>
              </a:rPr>
              <a:t>   </a:t>
            </a:r>
            <a:r>
              <a:rPr lang="en-US" altLang="zh-CN" sz="2000" dirty="0">
                <a:latin typeface="+mn-ea"/>
              </a:rPr>
              <a:t>6.</a:t>
            </a:r>
            <a:r>
              <a:rPr lang="zh-CN" altLang="en-US" sz="2000" dirty="0">
                <a:latin typeface="+mn-ea"/>
              </a:rPr>
              <a:t>错误：虽然设有多个</a:t>
            </a:r>
            <a:r>
              <a:rPr lang="en-US" altLang="zh-CN" sz="2000" dirty="0">
                <a:latin typeface="+mn-ea"/>
              </a:rPr>
              <a:t>return</a:t>
            </a:r>
            <a:r>
              <a:rPr lang="zh-CN" altLang="en-US" sz="2000" dirty="0">
                <a:latin typeface="+mn-ea"/>
              </a:rPr>
              <a:t>语句，但每次调用时可能只执行一个</a:t>
            </a:r>
            <a:r>
              <a:rPr lang="en-US" altLang="zh-CN" sz="2000" dirty="0">
                <a:latin typeface="+mn-ea"/>
              </a:rPr>
              <a:t>return</a:t>
            </a:r>
            <a:r>
              <a:rPr lang="zh-CN" altLang="en-US" sz="2000" dirty="0">
                <a:latin typeface="+mn-ea"/>
              </a:rPr>
              <a:t>语句，故返回</a:t>
            </a:r>
          </a:p>
          <a:p>
            <a:pPr marL="0" indent="0">
              <a:buNone/>
            </a:pPr>
            <a:r>
              <a:rPr lang="zh-CN" altLang="en-US" sz="2000" dirty="0">
                <a:latin typeface="+mn-ea"/>
              </a:rPr>
              <a:t>值只有一个（书</a:t>
            </a:r>
            <a:r>
              <a:rPr lang="en-US" altLang="zh-CN" sz="2000" dirty="0">
                <a:latin typeface="+mn-ea"/>
              </a:rPr>
              <a:t>P98</a:t>
            </a:r>
            <a:r>
              <a:rPr lang="zh-CN" altLang="en-US" sz="2000" dirty="0">
                <a:latin typeface="+mn-ea"/>
              </a:rPr>
              <a:t>）</a:t>
            </a:r>
          </a:p>
        </p:txBody>
      </p:sp>
    </p:spTree>
    <p:extLst>
      <p:ext uri="{BB962C8B-B14F-4D97-AF65-F5344CB8AC3E}">
        <p14:creationId xmlns:p14="http://schemas.microsoft.com/office/powerpoint/2010/main" val="1123089226"/>
      </p:ext>
    </p:extLst>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A603FBE-9100-01F5-172A-9303DE9F694A}"/>
              </a:ext>
            </a:extLst>
          </p:cNvPr>
          <p:cNvSpPr>
            <a:spLocks noGrp="1"/>
          </p:cNvSpPr>
          <p:nvPr>
            <p:ph idx="1"/>
          </p:nvPr>
        </p:nvSpPr>
        <p:spPr>
          <a:xfrm>
            <a:off x="838200" y="486229"/>
            <a:ext cx="10515600" cy="5690734"/>
          </a:xfrm>
        </p:spPr>
        <p:txBody>
          <a:bodyPr>
            <a:normAutofit/>
          </a:bodyPr>
          <a:lstStyle/>
          <a:p>
            <a:pPr marL="0" indent="0">
              <a:buNone/>
            </a:pPr>
            <a:r>
              <a:rPr lang="zh-CN" altLang="en-US" sz="2400" dirty="0">
                <a:latin typeface="+mn-ea"/>
              </a:rPr>
              <a:t>二、填空题</a:t>
            </a:r>
            <a:endParaRPr lang="en-US" altLang="zh-CN" sz="2400" dirty="0">
              <a:latin typeface="+mn-ea"/>
            </a:endParaRPr>
          </a:p>
          <a:p>
            <a:pPr marL="0" indent="0">
              <a:buNone/>
            </a:pPr>
            <a:r>
              <a:rPr lang="en-US" altLang="zh-CN" dirty="0">
                <a:latin typeface="+mn-ea"/>
              </a:rPr>
              <a:t>   </a:t>
            </a:r>
            <a:r>
              <a:rPr lang="en-US" altLang="zh-CN" sz="2000" dirty="0">
                <a:latin typeface="+mn-ea"/>
              </a:rPr>
              <a:t>1.au_variable=0,st_variable=0</a:t>
            </a:r>
          </a:p>
          <a:p>
            <a:pPr marL="0" indent="0">
              <a:buNone/>
            </a:pPr>
            <a:r>
              <a:rPr lang="en-US" altLang="zh-CN" sz="2000" dirty="0">
                <a:latin typeface="+mn-ea"/>
              </a:rPr>
              <a:t>     </a:t>
            </a:r>
            <a:r>
              <a:rPr lang="en-US" altLang="zh-CN" sz="2000" dirty="0" err="1">
                <a:latin typeface="+mn-ea"/>
              </a:rPr>
              <a:t>au_variable</a:t>
            </a:r>
            <a:r>
              <a:rPr lang="en-US" altLang="zh-CN" sz="2000" dirty="0">
                <a:latin typeface="+mn-ea"/>
              </a:rPr>
              <a:t>=0,st_variable=1</a:t>
            </a:r>
          </a:p>
          <a:p>
            <a:pPr marL="0" indent="0">
              <a:buNone/>
            </a:pPr>
            <a:r>
              <a:rPr lang="en-US" altLang="zh-CN" sz="2000" dirty="0">
                <a:latin typeface="+mn-ea"/>
              </a:rPr>
              <a:t>     </a:t>
            </a:r>
            <a:r>
              <a:rPr lang="en-US" altLang="zh-CN" sz="2000" dirty="0" err="1">
                <a:latin typeface="+mn-ea"/>
              </a:rPr>
              <a:t>au_variable</a:t>
            </a:r>
            <a:r>
              <a:rPr lang="en-US" altLang="zh-CN" sz="2000" dirty="0">
                <a:latin typeface="+mn-ea"/>
              </a:rPr>
              <a:t>=0,st_variable=2</a:t>
            </a:r>
          </a:p>
          <a:p>
            <a:pPr marL="0" indent="0">
              <a:buNone/>
            </a:pPr>
            <a:endParaRPr lang="en-US" altLang="zh-CN" sz="2000" dirty="0">
              <a:latin typeface="+mn-ea"/>
            </a:endParaRPr>
          </a:p>
          <a:p>
            <a:pPr marL="0" indent="0">
              <a:buNone/>
            </a:pPr>
            <a:r>
              <a:rPr lang="en-US" altLang="zh-CN" sz="2000" dirty="0">
                <a:latin typeface="+mn-ea"/>
              </a:rPr>
              <a:t>   2.r;&amp;x</a:t>
            </a:r>
          </a:p>
          <a:p>
            <a:pPr marL="0" indent="0">
              <a:buNone/>
            </a:pPr>
            <a:endParaRPr lang="en-US" altLang="zh-CN" sz="2000" dirty="0">
              <a:latin typeface="+mn-ea"/>
            </a:endParaRPr>
          </a:p>
          <a:p>
            <a:pPr marL="0" indent="0">
              <a:buNone/>
            </a:pPr>
            <a:r>
              <a:rPr lang="en-US" altLang="zh-CN" sz="2000" dirty="0">
                <a:latin typeface="+mn-ea"/>
              </a:rPr>
              <a:t>   3.float statistic(float*p1,int </a:t>
            </a:r>
            <a:r>
              <a:rPr lang="en-US" altLang="zh-CN" sz="2000" dirty="0" err="1">
                <a:latin typeface="+mn-ea"/>
              </a:rPr>
              <a:t>n,float</a:t>
            </a:r>
            <a:r>
              <a:rPr lang="en-US" altLang="zh-CN" sz="2000" dirty="0">
                <a:latin typeface="+mn-ea"/>
              </a:rPr>
              <a:t>*p2)</a:t>
            </a:r>
          </a:p>
          <a:p>
            <a:pPr marL="0" indent="0">
              <a:buNone/>
            </a:pPr>
            <a:r>
              <a:rPr lang="en-US" altLang="zh-CN" sz="2000" dirty="0">
                <a:latin typeface="+mn-ea"/>
              </a:rPr>
              <a:t>     &amp;a[m]</a:t>
            </a:r>
          </a:p>
          <a:p>
            <a:pPr marL="0" indent="0">
              <a:buNone/>
            </a:pPr>
            <a:r>
              <a:rPr lang="en-US" altLang="zh-CN" sz="2000" dirty="0">
                <a:latin typeface="+mn-ea"/>
              </a:rPr>
              <a:t>     max=statistic(</a:t>
            </a:r>
            <a:r>
              <a:rPr lang="en-US" altLang="zh-CN" sz="2000" dirty="0" err="1">
                <a:latin typeface="+mn-ea"/>
              </a:rPr>
              <a:t>a,m,&amp;min</a:t>
            </a:r>
            <a:r>
              <a:rPr lang="en-US" altLang="zh-CN" sz="2000" dirty="0">
                <a:latin typeface="+mn-ea"/>
              </a:rPr>
              <a:t>)</a:t>
            </a:r>
          </a:p>
          <a:p>
            <a:pPr marL="0" indent="0">
              <a:buNone/>
            </a:pPr>
            <a:r>
              <a:rPr lang="en-US" altLang="zh-CN" sz="2000" dirty="0">
                <a:latin typeface="+mn-ea"/>
              </a:rPr>
              <a:t>     n+=1</a:t>
            </a:r>
          </a:p>
          <a:p>
            <a:pPr marL="0" indent="0">
              <a:buNone/>
            </a:pPr>
            <a:r>
              <a:rPr lang="en-US" altLang="zh-CN" sz="2000" dirty="0">
                <a:latin typeface="+mn-ea"/>
              </a:rPr>
              <a:t>     temp[</a:t>
            </a:r>
            <a:r>
              <a:rPr lang="en-US" altLang="zh-CN" sz="2000" dirty="0" err="1">
                <a:latin typeface="+mn-ea"/>
              </a:rPr>
              <a:t>i</a:t>
            </a:r>
            <a:r>
              <a:rPr lang="en-US" altLang="zh-CN" sz="2000" dirty="0">
                <a:latin typeface="+mn-ea"/>
              </a:rPr>
              <a:t>]&lt;p1[</a:t>
            </a:r>
            <a:r>
              <a:rPr lang="en-US" altLang="zh-CN" sz="2000" dirty="0" err="1">
                <a:latin typeface="+mn-ea"/>
              </a:rPr>
              <a:t>i</a:t>
            </a:r>
            <a:r>
              <a:rPr lang="en-US" altLang="zh-CN" sz="2000" dirty="0">
                <a:latin typeface="+mn-ea"/>
              </a:rPr>
              <a:t>]</a:t>
            </a:r>
          </a:p>
          <a:p>
            <a:pPr marL="0" indent="0">
              <a:buNone/>
            </a:pPr>
            <a:r>
              <a:rPr lang="en-US" altLang="zh-CN" sz="2000" dirty="0">
                <a:latin typeface="+mn-ea"/>
              </a:rPr>
              <a:t>     *p2=p[</a:t>
            </a:r>
            <a:r>
              <a:rPr lang="en-US" altLang="zh-CN" sz="2000" dirty="0" err="1">
                <a:latin typeface="+mn-ea"/>
              </a:rPr>
              <a:t>i</a:t>
            </a:r>
            <a:r>
              <a:rPr lang="en-US" altLang="zh-CN" sz="2000" dirty="0">
                <a:latin typeface="+mn-ea"/>
              </a:rPr>
              <a:t>]</a:t>
            </a:r>
          </a:p>
          <a:p>
            <a:pPr marL="0" indent="0">
              <a:buNone/>
            </a:pPr>
            <a:r>
              <a:rPr lang="en-US" altLang="zh-CN" sz="2000" dirty="0">
                <a:latin typeface="+mn-ea"/>
              </a:rPr>
              <a:t>      return temp</a:t>
            </a:r>
            <a:endParaRPr lang="zh-CN" altLang="en-US" sz="2000" dirty="0">
              <a:latin typeface="+mn-ea"/>
            </a:endParaRPr>
          </a:p>
        </p:txBody>
      </p:sp>
    </p:spTree>
    <p:extLst>
      <p:ext uri="{BB962C8B-B14F-4D97-AF65-F5344CB8AC3E}">
        <p14:creationId xmlns:p14="http://schemas.microsoft.com/office/powerpoint/2010/main" val="4231932196"/>
      </p:ext>
    </p:extLst>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702761-F661-3CB6-A89E-D6F5152AF093}"/>
              </a:ext>
            </a:extLst>
          </p:cNvPr>
          <p:cNvSpPr>
            <a:spLocks noGrp="1"/>
          </p:cNvSpPr>
          <p:nvPr>
            <p:ph idx="1"/>
          </p:nvPr>
        </p:nvSpPr>
        <p:spPr>
          <a:xfrm>
            <a:off x="838200" y="224970"/>
            <a:ext cx="10515600" cy="6262915"/>
          </a:xfrm>
        </p:spPr>
        <p:txBody>
          <a:bodyPr>
            <a:normAutofit fontScale="70000" lnSpcReduction="20000"/>
          </a:bodyPr>
          <a:lstStyle/>
          <a:p>
            <a:pPr marL="0" indent="0">
              <a:buNone/>
            </a:pPr>
            <a:r>
              <a:rPr lang="zh-CN" altLang="en-US" sz="3300" dirty="0"/>
              <a:t>三、程序设计题</a:t>
            </a:r>
            <a:endParaRPr lang="en-US" altLang="zh-CN" sz="3300" dirty="0"/>
          </a:p>
          <a:p>
            <a:pPr marL="0" indent="0">
              <a:buNone/>
            </a:pPr>
            <a:r>
              <a:rPr lang="en-US" altLang="zh-CN" sz="2400" dirty="0"/>
              <a:t>1.#include&lt;</a:t>
            </a:r>
            <a:r>
              <a:rPr lang="en-US" altLang="zh-CN" sz="2400" dirty="0" err="1"/>
              <a:t>stdio.h</a:t>
            </a:r>
            <a:r>
              <a:rPr lang="en-US" altLang="zh-CN" sz="2400" dirty="0"/>
              <a:t>&gt;</a:t>
            </a:r>
          </a:p>
          <a:p>
            <a:pPr marL="0" indent="0">
              <a:buNone/>
            </a:pPr>
            <a:r>
              <a:rPr lang="en-US" altLang="zh-CN" sz="2400" dirty="0"/>
              <a:t>     void swap(int *</a:t>
            </a:r>
            <a:r>
              <a:rPr lang="en-US" altLang="zh-CN" sz="2400" dirty="0" err="1"/>
              <a:t>x,int</a:t>
            </a:r>
            <a:r>
              <a:rPr lang="en-US" altLang="zh-CN" sz="2400" dirty="0"/>
              <a:t> *y)</a:t>
            </a:r>
          </a:p>
          <a:p>
            <a:pPr marL="0" indent="0">
              <a:buNone/>
            </a:pPr>
            <a:r>
              <a:rPr lang="en-US" altLang="zh-CN" sz="2400" dirty="0"/>
              <a:t>     void main( )</a:t>
            </a:r>
          </a:p>
          <a:p>
            <a:pPr marL="0" indent="0">
              <a:buNone/>
            </a:pPr>
            <a:r>
              <a:rPr lang="en-US" altLang="zh-CN" sz="2400" dirty="0"/>
              <a:t>     {</a:t>
            </a:r>
          </a:p>
          <a:p>
            <a:pPr marL="0" indent="0">
              <a:buNone/>
            </a:pPr>
            <a:r>
              <a:rPr lang="en-US" altLang="zh-CN" sz="2400" dirty="0"/>
              <a:t>         int </a:t>
            </a:r>
            <a:r>
              <a:rPr lang="en-US" altLang="zh-CN" sz="2400" dirty="0" err="1"/>
              <a:t>a,b,c</a:t>
            </a:r>
            <a:r>
              <a:rPr lang="en-US" altLang="zh-CN" sz="2400" dirty="0"/>
              <a:t>;</a:t>
            </a:r>
          </a:p>
          <a:p>
            <a:pPr marL="0" indent="0">
              <a:buNone/>
            </a:pPr>
            <a:r>
              <a:rPr lang="en-US" altLang="zh-CN" sz="2400" dirty="0"/>
              <a:t>         </a:t>
            </a:r>
            <a:r>
              <a:rPr lang="en-US" altLang="zh-CN" sz="2400" dirty="0" err="1"/>
              <a:t>scanf</a:t>
            </a:r>
            <a:r>
              <a:rPr lang="en-US" altLang="zh-CN" sz="2400" dirty="0"/>
              <a:t>(“%</a:t>
            </a:r>
            <a:r>
              <a:rPr lang="en-US" altLang="zh-CN" sz="2400" dirty="0" err="1"/>
              <a:t>d%d%d</a:t>
            </a:r>
            <a:r>
              <a:rPr lang="en-US" altLang="zh-CN" sz="2400" dirty="0"/>
              <a:t>,&amp;</a:t>
            </a:r>
            <a:r>
              <a:rPr lang="en-US" altLang="zh-CN" sz="2400" dirty="0" err="1"/>
              <a:t>a,&amp;b,&amp;c</a:t>
            </a:r>
            <a:r>
              <a:rPr lang="en-US" altLang="zh-CN" sz="2400" dirty="0"/>
              <a:t>);</a:t>
            </a:r>
          </a:p>
          <a:p>
            <a:pPr marL="0" indent="0">
              <a:buNone/>
            </a:pPr>
            <a:r>
              <a:rPr lang="en-US" altLang="zh-CN" sz="2400" dirty="0"/>
              <a:t>         if(a&gt;b)</a:t>
            </a:r>
          </a:p>
          <a:p>
            <a:pPr marL="0" indent="0">
              <a:buNone/>
            </a:pPr>
            <a:r>
              <a:rPr lang="en-US" altLang="zh-CN" sz="2400" dirty="0"/>
              <a:t>              Swap(&amp;</a:t>
            </a:r>
            <a:r>
              <a:rPr lang="en-US" altLang="zh-CN" sz="2400" dirty="0" err="1"/>
              <a:t>a,&amp;b</a:t>
            </a:r>
            <a:r>
              <a:rPr lang="en-US" altLang="zh-CN" sz="2400" dirty="0"/>
              <a:t>);</a:t>
            </a:r>
          </a:p>
          <a:p>
            <a:pPr marL="0" indent="0">
              <a:buNone/>
            </a:pPr>
            <a:r>
              <a:rPr lang="en-US" altLang="zh-CN" sz="2400" dirty="0"/>
              <a:t>         if(a&gt;c)</a:t>
            </a:r>
          </a:p>
          <a:p>
            <a:pPr marL="0" indent="0">
              <a:buNone/>
            </a:pPr>
            <a:r>
              <a:rPr lang="en-US" altLang="zh-CN" sz="2400" dirty="0"/>
              <a:t>              Swap(&amp;</a:t>
            </a:r>
            <a:r>
              <a:rPr lang="en-US" altLang="zh-CN" sz="2400" dirty="0" err="1"/>
              <a:t>a,&amp;c</a:t>
            </a:r>
            <a:r>
              <a:rPr lang="en-US" altLang="zh-CN" sz="2400" dirty="0"/>
              <a:t>);</a:t>
            </a:r>
          </a:p>
          <a:p>
            <a:pPr marL="0" indent="0">
              <a:buNone/>
            </a:pPr>
            <a:r>
              <a:rPr lang="en-US" altLang="zh-CN" sz="2400" dirty="0"/>
              <a:t>         if(b&gt;c)</a:t>
            </a:r>
          </a:p>
          <a:p>
            <a:pPr marL="0" indent="0">
              <a:buNone/>
            </a:pPr>
            <a:r>
              <a:rPr lang="en-US" altLang="zh-CN" sz="2400" dirty="0"/>
              <a:t>              Swap(&amp;</a:t>
            </a:r>
            <a:r>
              <a:rPr lang="en-US" altLang="zh-CN" sz="2400" dirty="0" err="1"/>
              <a:t>b,&amp;c</a:t>
            </a:r>
            <a:r>
              <a:rPr lang="en-US" altLang="zh-CN" sz="2400" dirty="0"/>
              <a:t>)</a:t>
            </a:r>
          </a:p>
          <a:p>
            <a:pPr marL="0" indent="0">
              <a:buNone/>
            </a:pPr>
            <a:r>
              <a:rPr lang="en-US" altLang="zh-CN" sz="2400" dirty="0"/>
              <a:t>         </a:t>
            </a:r>
            <a:r>
              <a:rPr lang="en-US" altLang="zh-CN" sz="2400" dirty="0" err="1"/>
              <a:t>printf</a:t>
            </a:r>
            <a:r>
              <a:rPr lang="en-US" altLang="zh-CN" sz="2400" dirty="0"/>
              <a:t>(“%d\</a:t>
            </a:r>
            <a:r>
              <a:rPr lang="en-US" altLang="zh-CN" sz="2400" dirty="0" err="1"/>
              <a:t>t%d</a:t>
            </a:r>
            <a:r>
              <a:rPr lang="en-US" altLang="zh-CN" sz="2400" dirty="0"/>
              <a:t>\</a:t>
            </a:r>
            <a:r>
              <a:rPr lang="en-US" altLang="zh-CN" sz="2400" dirty="0" err="1"/>
              <a:t>t%d</a:t>
            </a:r>
            <a:r>
              <a:rPr lang="en-US" altLang="zh-CN" sz="2400" dirty="0"/>
              <a:t>\</a:t>
            </a:r>
            <a:r>
              <a:rPr lang="en-US" altLang="zh-CN" sz="2400" dirty="0" err="1"/>
              <a:t>t,a,b,c</a:t>
            </a:r>
            <a:r>
              <a:rPr lang="en-US" altLang="zh-CN" sz="2400" dirty="0"/>
              <a:t>);</a:t>
            </a:r>
          </a:p>
          <a:p>
            <a:pPr marL="0" indent="0">
              <a:buNone/>
            </a:pPr>
            <a:r>
              <a:rPr lang="en-US" altLang="zh-CN" sz="2400" dirty="0"/>
              <a:t>     }</a:t>
            </a:r>
          </a:p>
          <a:p>
            <a:pPr marL="0" indent="0">
              <a:buNone/>
            </a:pPr>
            <a:r>
              <a:rPr lang="en-US" altLang="zh-CN" sz="2400" dirty="0"/>
              <a:t>     void swap(int *</a:t>
            </a:r>
            <a:r>
              <a:rPr lang="en-US" altLang="zh-CN" sz="2400" dirty="0" err="1"/>
              <a:t>x,int</a:t>
            </a:r>
            <a:r>
              <a:rPr lang="en-US" altLang="zh-CN" sz="2400" dirty="0"/>
              <a:t>* y)</a:t>
            </a:r>
          </a:p>
          <a:p>
            <a:pPr marL="0" indent="0">
              <a:buNone/>
            </a:pPr>
            <a:r>
              <a:rPr lang="en-US" altLang="zh-CN" sz="2400" dirty="0"/>
              <a:t>     {</a:t>
            </a:r>
          </a:p>
          <a:p>
            <a:pPr marL="0" indent="0">
              <a:buNone/>
            </a:pPr>
            <a:r>
              <a:rPr lang="en-US" altLang="zh-CN" sz="2400" dirty="0"/>
              <a:t>          int temp;</a:t>
            </a:r>
          </a:p>
          <a:p>
            <a:pPr marL="0" indent="0">
              <a:buNone/>
            </a:pPr>
            <a:r>
              <a:rPr lang="en-US" altLang="zh-CN" sz="2400" dirty="0"/>
              <a:t>          temp=*x;</a:t>
            </a:r>
          </a:p>
          <a:p>
            <a:pPr marL="0" indent="0">
              <a:buNone/>
            </a:pPr>
            <a:r>
              <a:rPr lang="en-US" altLang="zh-CN" sz="2400" dirty="0"/>
              <a:t>          *y=temp;</a:t>
            </a:r>
          </a:p>
          <a:p>
            <a:pPr marL="0" indent="0">
              <a:buNone/>
            </a:pPr>
            <a:r>
              <a:rPr lang="en-US" altLang="zh-CN" sz="2400" dirty="0"/>
              <a:t>          return;</a:t>
            </a:r>
          </a:p>
          <a:p>
            <a:pPr marL="0" indent="0">
              <a:buNone/>
            </a:pPr>
            <a:r>
              <a:rPr lang="en-US" altLang="zh-CN" sz="2400" dirty="0"/>
              <a:t>     }</a:t>
            </a:r>
            <a:endParaRPr lang="zh-CN" altLang="en-US" sz="2400" dirty="0"/>
          </a:p>
        </p:txBody>
      </p:sp>
    </p:spTree>
    <p:extLst>
      <p:ext uri="{BB962C8B-B14F-4D97-AF65-F5344CB8AC3E}">
        <p14:creationId xmlns:p14="http://schemas.microsoft.com/office/powerpoint/2010/main" val="377163958"/>
      </p:ext>
    </p:extLst>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B1B6CFA-D5D4-1787-5163-D94536242568}"/>
              </a:ext>
            </a:extLst>
          </p:cNvPr>
          <p:cNvSpPr>
            <a:spLocks noGrp="1"/>
          </p:cNvSpPr>
          <p:nvPr>
            <p:ph idx="1"/>
          </p:nvPr>
        </p:nvSpPr>
        <p:spPr>
          <a:xfrm>
            <a:off x="2263898" y="0"/>
            <a:ext cx="8519886" cy="6858000"/>
          </a:xfrm>
        </p:spPr>
        <p:txBody>
          <a:bodyPr>
            <a:normAutofit fontScale="40000" lnSpcReduction="20000"/>
          </a:bodyPr>
          <a:lstStyle/>
          <a:p>
            <a:pPr marL="0" indent="0">
              <a:buNone/>
            </a:pPr>
            <a:r>
              <a:rPr lang="en-US" altLang="zh-CN" dirty="0"/>
              <a:t>2.#include&lt;</a:t>
            </a:r>
            <a:r>
              <a:rPr lang="en-US" altLang="zh-CN" dirty="0" err="1"/>
              <a:t>stdio.h</a:t>
            </a:r>
            <a:r>
              <a:rPr lang="en-US" altLang="zh-CN" dirty="0"/>
              <a:t>&gt;</a:t>
            </a:r>
          </a:p>
          <a:p>
            <a:pPr marL="0" indent="0">
              <a:buNone/>
            </a:pPr>
            <a:r>
              <a:rPr lang="en-US" altLang="zh-CN" dirty="0"/>
              <a:t>     #include&lt;math.h&gt;</a:t>
            </a:r>
          </a:p>
          <a:p>
            <a:pPr marL="0" indent="0">
              <a:buNone/>
            </a:pPr>
            <a:r>
              <a:rPr lang="en-US" altLang="zh-CN" dirty="0"/>
              <a:t>     void main( )</a:t>
            </a:r>
          </a:p>
          <a:p>
            <a:pPr marL="0" indent="0">
              <a:buNone/>
            </a:pPr>
            <a:r>
              <a:rPr lang="en-US" altLang="zh-CN" dirty="0"/>
              <a:t>     {</a:t>
            </a:r>
          </a:p>
          <a:p>
            <a:pPr marL="0" indent="0">
              <a:buNone/>
            </a:pPr>
            <a:r>
              <a:rPr lang="en-US" altLang="zh-CN" dirty="0"/>
              <a:t>             float </a:t>
            </a:r>
            <a:r>
              <a:rPr lang="en-US" altLang="zh-CN" dirty="0" err="1"/>
              <a:t>a,b,c</a:t>
            </a:r>
            <a:r>
              <a:rPr lang="en-US" altLang="zh-CN" dirty="0"/>
              <a:t>;</a:t>
            </a:r>
          </a:p>
          <a:p>
            <a:pPr marL="0" indent="0">
              <a:buNone/>
            </a:pPr>
            <a:r>
              <a:rPr lang="en-US" altLang="zh-CN" dirty="0"/>
              <a:t>             float x1,x2;</a:t>
            </a:r>
          </a:p>
          <a:p>
            <a:pPr marL="0" indent="0">
              <a:buNone/>
            </a:pPr>
            <a:r>
              <a:rPr lang="en-US" altLang="zh-CN" dirty="0"/>
              <a:t>             float x3,x4;</a:t>
            </a:r>
          </a:p>
          <a:p>
            <a:pPr marL="0" indent="0">
              <a:buNone/>
            </a:pPr>
            <a:r>
              <a:rPr lang="en-US" altLang="zh-CN" dirty="0"/>
              <a:t>             </a:t>
            </a:r>
            <a:r>
              <a:rPr lang="en-US" altLang="zh-CN" dirty="0" err="1"/>
              <a:t>printf</a:t>
            </a:r>
            <a:r>
              <a:rPr lang="en-US" altLang="zh-CN" dirty="0"/>
              <a:t>(“input the </a:t>
            </a:r>
            <a:r>
              <a:rPr lang="en-US" altLang="zh-CN" dirty="0" err="1"/>
              <a:t>numbers:a,b,c</a:t>
            </a:r>
            <a:r>
              <a:rPr lang="en-US" altLang="zh-CN" dirty="0"/>
              <a:t>”);</a:t>
            </a:r>
          </a:p>
          <a:p>
            <a:pPr marL="0" indent="0">
              <a:buNone/>
            </a:pPr>
            <a:r>
              <a:rPr lang="en-US" altLang="zh-CN" dirty="0"/>
              <a:t>             </a:t>
            </a:r>
            <a:r>
              <a:rPr lang="en-US" altLang="zh-CN" dirty="0" err="1"/>
              <a:t>scanf</a:t>
            </a:r>
            <a:r>
              <a:rPr lang="en-US" altLang="zh-CN" dirty="0"/>
              <a:t>(“%</a:t>
            </a:r>
            <a:r>
              <a:rPr lang="en-US" altLang="zh-CN" dirty="0" err="1"/>
              <a:t>f%f%f</a:t>
            </a:r>
            <a:r>
              <a:rPr lang="en-US" altLang="zh-CN" dirty="0"/>
              <a:t>”,&amp;</a:t>
            </a:r>
            <a:r>
              <a:rPr lang="en-US" altLang="zh-CN" dirty="0" err="1"/>
              <a:t>a,&amp;b,&amp;c</a:t>
            </a:r>
            <a:r>
              <a:rPr lang="en-US" altLang="zh-CN" dirty="0"/>
              <a:t>);</a:t>
            </a:r>
          </a:p>
          <a:p>
            <a:pPr marL="0" indent="0">
              <a:buNone/>
            </a:pPr>
            <a:r>
              <a:rPr lang="en-US" altLang="zh-CN" dirty="0"/>
              <a:t>             if(fabs(a)&lt;1e-6)</a:t>
            </a:r>
          </a:p>
          <a:p>
            <a:pPr marL="0" indent="0">
              <a:buNone/>
            </a:pPr>
            <a:r>
              <a:rPr lang="en-US" altLang="zh-CN" dirty="0"/>
              <a:t>             {</a:t>
            </a:r>
          </a:p>
          <a:p>
            <a:pPr marL="0" indent="0">
              <a:buNone/>
            </a:pPr>
            <a:r>
              <a:rPr lang="en-US" altLang="zh-CN" dirty="0"/>
              <a:t>                  </a:t>
            </a:r>
            <a:r>
              <a:rPr lang="en-US" altLang="zh-CN" dirty="0" err="1"/>
              <a:t>printf</a:t>
            </a:r>
            <a:r>
              <a:rPr lang="en-US" altLang="zh-CN" dirty="0"/>
              <a:t>(“the input is error\n);</a:t>
            </a:r>
          </a:p>
          <a:p>
            <a:pPr marL="0" indent="0">
              <a:buNone/>
            </a:pPr>
            <a:r>
              <a:rPr lang="en-US" altLang="zh-CN" dirty="0"/>
              <a:t>                  return;</a:t>
            </a:r>
          </a:p>
          <a:p>
            <a:pPr marL="0" indent="0">
              <a:buNone/>
            </a:pPr>
            <a:r>
              <a:rPr lang="en-US" altLang="zh-CN" dirty="0"/>
              <a:t>             }</a:t>
            </a:r>
          </a:p>
          <a:p>
            <a:pPr marL="0" indent="0">
              <a:buNone/>
            </a:pPr>
            <a:r>
              <a:rPr lang="en-US" altLang="zh-CN" dirty="0"/>
              <a:t>             if(b*b&gt;4*a*c)</a:t>
            </a:r>
          </a:p>
          <a:p>
            <a:pPr marL="0" indent="0">
              <a:buNone/>
            </a:pPr>
            <a:r>
              <a:rPr lang="en-US" altLang="zh-CN" dirty="0"/>
              <a:t>             {</a:t>
            </a:r>
          </a:p>
          <a:p>
            <a:pPr marL="0" indent="0">
              <a:buNone/>
            </a:pPr>
            <a:r>
              <a:rPr lang="en-US" altLang="zh-CN" dirty="0"/>
              <a:t>                  x1=(-</a:t>
            </a:r>
            <a:r>
              <a:rPr lang="en-US" altLang="zh-CN" dirty="0" err="1"/>
              <a:t>b+sqrt</a:t>
            </a:r>
            <a:r>
              <a:rPr lang="en-US" altLang="zh-CN" dirty="0"/>
              <a:t>(b*b-4*a*c)/(2*a);</a:t>
            </a:r>
          </a:p>
          <a:p>
            <a:pPr marL="0" indent="0">
              <a:buNone/>
            </a:pPr>
            <a:r>
              <a:rPr lang="en-US" altLang="zh-CN" dirty="0"/>
              <a:t>                  x2=(-b-sqrt(b*b-4*a*c)/(2*a);</a:t>
            </a:r>
          </a:p>
          <a:p>
            <a:pPr marL="0" indent="0">
              <a:buNone/>
            </a:pPr>
            <a:r>
              <a:rPr lang="en-US" altLang="zh-CN" dirty="0"/>
              <a:t>                  </a:t>
            </a:r>
            <a:r>
              <a:rPr lang="en-US" altLang="zh-CN" dirty="0" err="1"/>
              <a:t>printf</a:t>
            </a:r>
            <a:r>
              <a:rPr lang="en-US" altLang="zh-CN" dirty="0"/>
              <a:t>(“x1=%.2f,x2=%.2f”,x1,x2);</a:t>
            </a:r>
          </a:p>
          <a:p>
            <a:pPr marL="0" indent="0">
              <a:buNone/>
            </a:pPr>
            <a:r>
              <a:rPr lang="en-US" altLang="zh-CN" dirty="0"/>
              <a:t>             else if(fabs(b*b-4*a*c)&lt;1e-6)</a:t>
            </a:r>
          </a:p>
          <a:p>
            <a:pPr marL="0" indent="0">
              <a:buNone/>
            </a:pPr>
            <a:r>
              <a:rPr lang="en-US" altLang="zh-CN" dirty="0"/>
              <a:t>             {</a:t>
            </a:r>
          </a:p>
          <a:p>
            <a:pPr marL="0" indent="0">
              <a:buNone/>
            </a:pPr>
            <a:r>
              <a:rPr lang="en-US" altLang="zh-CN" dirty="0"/>
              <a:t>                 x1=x2=(-</a:t>
            </a:r>
            <a:r>
              <a:rPr lang="en-US" altLang="zh-CN" dirty="0" err="1"/>
              <a:t>b+sqrt</a:t>
            </a:r>
            <a:r>
              <a:rPr lang="en-US" altLang="zh-CN" dirty="0"/>
              <a:t>(b*b-4*a*c))/(2*a)</a:t>
            </a:r>
          </a:p>
          <a:p>
            <a:pPr marL="0" indent="0">
              <a:buNone/>
            </a:pPr>
            <a:r>
              <a:rPr lang="en-US" altLang="zh-CN" dirty="0"/>
              <a:t>                 </a:t>
            </a:r>
            <a:r>
              <a:rPr lang="en-US" altLang="zh-CN" dirty="0" err="1"/>
              <a:t>printf</a:t>
            </a:r>
            <a:r>
              <a:rPr lang="en-US" altLang="zh-CN" dirty="0"/>
              <a:t>(“x1=x2=%.2f”,x1);</a:t>
            </a:r>
          </a:p>
          <a:p>
            <a:pPr marL="0" indent="0">
              <a:buNone/>
            </a:pPr>
            <a:r>
              <a:rPr lang="en-US" altLang="zh-CN" dirty="0"/>
              <a:t>             }</a:t>
            </a:r>
          </a:p>
          <a:p>
            <a:pPr marL="0" indent="0">
              <a:buNone/>
            </a:pPr>
            <a:r>
              <a:rPr lang="en-US" altLang="zh-CN" dirty="0"/>
              <a:t>             else</a:t>
            </a:r>
          </a:p>
          <a:p>
            <a:pPr marL="0" indent="0">
              <a:buNone/>
            </a:pPr>
            <a:r>
              <a:rPr lang="en-US" altLang="zh-CN" dirty="0"/>
              <a:t>             { </a:t>
            </a:r>
          </a:p>
          <a:p>
            <a:pPr marL="0" indent="0">
              <a:buNone/>
            </a:pPr>
            <a:r>
              <a:rPr lang="en-US" altLang="zh-CN" dirty="0"/>
              <a:t>                  x3=-b/(2*a);</a:t>
            </a:r>
          </a:p>
          <a:p>
            <a:pPr marL="0" indent="0">
              <a:buNone/>
            </a:pPr>
            <a:r>
              <a:rPr lang="en-US" altLang="zh-CN" dirty="0"/>
              <a:t>                  x4=sqrt(4*a*c-b*b)/(2*a);</a:t>
            </a:r>
          </a:p>
          <a:p>
            <a:pPr marL="0" indent="0">
              <a:buNone/>
            </a:pPr>
            <a:r>
              <a:rPr lang="en-US" altLang="zh-CN" dirty="0"/>
              <a:t>                  </a:t>
            </a:r>
            <a:r>
              <a:rPr lang="en-US" altLang="zh-CN" dirty="0" err="1"/>
              <a:t>printf</a:t>
            </a:r>
            <a:r>
              <a:rPr lang="en-US" altLang="zh-CN" dirty="0"/>
              <a:t>(“x1=%.2f+%.2f </a:t>
            </a:r>
            <a:r>
              <a:rPr lang="en-US" altLang="zh-CN" dirty="0" err="1"/>
              <a:t>i</a:t>
            </a:r>
            <a:r>
              <a:rPr lang="en-US" altLang="zh-CN" dirty="0"/>
              <a:t>\n”,x3,x4);</a:t>
            </a:r>
          </a:p>
          <a:p>
            <a:pPr marL="0" indent="0">
              <a:buNone/>
            </a:pPr>
            <a:r>
              <a:rPr lang="en-US" altLang="zh-CN" dirty="0"/>
              <a:t>                  </a:t>
            </a:r>
            <a:r>
              <a:rPr lang="en-US" altLang="zh-CN" dirty="0" err="1"/>
              <a:t>printf</a:t>
            </a:r>
            <a:r>
              <a:rPr lang="en-US" altLang="zh-CN" dirty="0"/>
              <a:t>(“x2=%.2f-%.2f </a:t>
            </a:r>
            <a:r>
              <a:rPr lang="en-US" altLang="zh-CN" dirty="0" err="1"/>
              <a:t>i</a:t>
            </a:r>
            <a:r>
              <a:rPr lang="en-US" altLang="zh-CN" dirty="0"/>
              <a:t>\n”,x3,x4);</a:t>
            </a:r>
          </a:p>
          <a:p>
            <a:pPr marL="0" indent="0">
              <a:buNone/>
            </a:pPr>
            <a:r>
              <a:rPr lang="en-US" altLang="zh-CN" dirty="0"/>
              <a:t>                }</a:t>
            </a:r>
          </a:p>
          <a:p>
            <a:pPr marL="0" indent="0">
              <a:buNone/>
            </a:pPr>
            <a:r>
              <a:rPr lang="en-US" altLang="zh-CN" dirty="0"/>
              <a:t>              }</a:t>
            </a:r>
            <a:endParaRPr lang="zh-CN" altLang="en-US" dirty="0"/>
          </a:p>
        </p:txBody>
      </p:sp>
    </p:spTree>
    <p:extLst>
      <p:ext uri="{BB962C8B-B14F-4D97-AF65-F5344CB8AC3E}">
        <p14:creationId xmlns:p14="http://schemas.microsoft.com/office/powerpoint/2010/main" val="209040122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MoolBoran"/>
        <a:font script="Laoo" typeface="DokChampa"/>
        <a:font script="Cher" typeface="Plantagenet Cherokee"/>
        <a:font script="Hans" typeface="宋体"/>
        <a:font script="Hebr" typeface="Times New Roman"/>
        <a:font script="Uigh" typeface="Microsoft Uighur"/>
        <a:font script="Guru" typeface="Raavi"/>
        <a:font script="Cans" typeface="Euphemia"/>
        <a:font script="Jpan" typeface="ＭＳ Ｐゴシック"/>
        <a:font script="Arab" typeface="Times New Roman"/>
        <a:font script="Syrc" typeface="Estrangelo Edessa"/>
        <a:font script="Hang" typeface="맑은 고딕"/>
        <a:font script="Viet" typeface="Times New Roman"/>
        <a:font script="Thai" typeface="Angsana New"/>
        <a:font script="Yiii" typeface="Microsoft Yi Baiti"/>
        <a:font script="Thaa" typeface="MV Boli"/>
        <a:font script="Beng" typeface="Vrinda"/>
        <a:font script="Telu" typeface="Gautami"/>
        <a:font script="Knda" typeface="Tunga"/>
      </a:majorFont>
      <a:minorFont>
        <a:latin typeface="Calibri"/>
        <a:ea typeface=""/>
        <a:cs typeface=""/>
        <a:font script="Orya" typeface="Kalinga"/>
        <a:font script="Mlym" typeface="Kartika"/>
        <a:font script="Deva" typeface="Mangal"/>
        <a:font script="Mong" typeface="Mongolian Baiti"/>
        <a:font script="Ethi" typeface="Nyala"/>
        <a:font script="Geor" typeface="Sylfaen"/>
        <a:font script="Sinh" typeface="Iskoola Pota"/>
        <a:font script="Taml" typeface="Latha"/>
        <a:font script="Tibt" typeface="Microsoft Himalaya"/>
        <a:font script="Gujr" typeface="Shruti"/>
        <a:font script="Hant" typeface="新細明體"/>
        <a:font script="Khmr" typeface="DaunPenh"/>
        <a:font script="Laoo" typeface="DokChampa"/>
        <a:font script="Cher" typeface="Plantagenet Cherokee"/>
        <a:font script="Hans" typeface="宋体"/>
        <a:font script="Hebr" typeface="Arial"/>
        <a:font script="Uigh" typeface="Microsoft Uighur"/>
        <a:font script="Guru" typeface="Raavi"/>
        <a:font script="Cans" typeface="Euphemia"/>
        <a:font script="Jpan" typeface="ＭＳ Ｐゴシック"/>
        <a:font script="Arab" typeface="Arial"/>
        <a:font script="Syrc" typeface="Estrangelo Edessa"/>
        <a:font script="Hang" typeface="맑은 고딕"/>
        <a:font script="Viet" typeface="Arial"/>
        <a:font script="Thai" typeface="Cordia New"/>
        <a:font script="Yiii" typeface="Microsoft Yi Baiti"/>
        <a:font script="Thaa" typeface="MV Boli"/>
        <a:font script="Beng" typeface="Vrinda"/>
        <a:font script="Telu" typeface="Gautami"/>
        <a:font script="Knda" typeface="Tung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9811</Words>
  <Application>Microsoft Office PowerPoint</Application>
  <PresentationFormat>宽屏</PresentationFormat>
  <Paragraphs>898</Paragraphs>
  <Slides>141</Slides>
  <Notes>3</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141</vt:i4>
      </vt:variant>
    </vt:vector>
  </HeadingPairs>
  <TitlesOfParts>
    <vt:vector size="151" baseType="lpstr">
      <vt:lpstr>-apple-system</vt:lpstr>
      <vt:lpstr>Helvetica Neue</vt:lpstr>
      <vt:lpstr>等线</vt:lpstr>
      <vt:lpstr>等线 Light</vt:lpstr>
      <vt:lpstr>宋体</vt:lpstr>
      <vt:lpstr>微软雅黑</vt:lpstr>
      <vt:lpstr>Arial</vt:lpstr>
      <vt:lpstr>Calibri</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内容预览</vt:lpstr>
      <vt:lpstr>4.1 while语句</vt:lpstr>
      <vt:lpstr>while语句的组成</vt:lpstr>
      <vt:lpstr>注意看:</vt:lpstr>
      <vt:lpstr>关于break、continue在while循环中的使用</vt:lpstr>
      <vt:lpstr>举例：break的作用</vt:lpstr>
      <vt:lpstr>举例:continue的作用</vt:lpstr>
      <vt:lpstr>while循环流程图：</vt:lpstr>
      <vt:lpstr>典型例题</vt:lpstr>
      <vt:lpstr>求和运算</vt:lpstr>
      <vt:lpstr>PowerPoint 演示文稿</vt:lpstr>
      <vt:lpstr>回文数</vt:lpstr>
      <vt:lpstr>PowerPoint 演示文稿</vt:lpstr>
      <vt:lpstr>字符转换</vt:lpstr>
      <vt:lpstr>实现函数</vt:lpstr>
      <vt:lpstr>do while循环流程图：</vt:lpstr>
      <vt:lpstr>PowerPoint 演示文稿</vt:lpstr>
      <vt:lpstr>典型例题：</vt:lpstr>
      <vt:lpstr>求和运算(多次输入)</vt:lpstr>
      <vt:lpstr>是否素数</vt:lpstr>
      <vt:lpstr>专题六   For循环</vt:lpstr>
      <vt:lpstr>PowerPoint 演示文稿</vt:lpstr>
      <vt:lpstr>for循环嵌套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运行结果如下所示：</vt:lpstr>
      <vt:lpstr>辅助控制语句</vt:lpstr>
      <vt:lpstr>    break语句：  用于从循环体内跳出循环体，即提前结束一层循环。  break只能用在循环语句和switch语句中。  例子：打印出半径不超过10，面积小于100的圆。 </vt:lpstr>
      <vt:lpstr>continue语句： 结束本次循环，接着判定下一次是否执行循环。  注意continue与break的区别  continue只结束本次循环，而break终止本层循环  例子：打印出100到110之间不能被3整除的所有数。 </vt:lpstr>
      <vt:lpstr>goto语句的用法:  把程序转移控制到标号指定的语句处，常用于结束多重循环。  下面是一个常用的程序。</vt:lpstr>
      <vt:lpstr>PowerPoint 演示文稿</vt:lpstr>
      <vt:lpstr>PowerPoint 演示文稿</vt:lpstr>
      <vt:lpstr>PowerPoint 演示文稿</vt:lpstr>
      <vt:lpstr>取地址运算符号&amp;</vt:lpstr>
      <vt:lpstr>取内容运算符号*</vt:lpstr>
      <vt:lpstr>NULL指针</vt:lpstr>
      <vt:lpstr>PowerPoint 演示文稿</vt:lpstr>
      <vt:lpstr>PowerPoint 演示文稿</vt:lpstr>
      <vt:lpstr>指针算术运算：与整数加减、自增自减、指针相减</vt:lpstr>
      <vt:lpstr>指针关系运算 </vt:lpstr>
      <vt:lpstr>指针赋值运算 </vt:lpstr>
      <vt:lpstr>PowerPoint 演示文稿</vt:lpstr>
      <vt:lpstr>PowerPoint 演示文稿</vt:lpstr>
      <vt:lpstr>一维数组与指针</vt:lpstr>
      <vt:lpstr>多维数组与指针</vt:lpstr>
      <vt:lpstr>多维数组与指针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专题十   C语言函数知识点总结</vt:lpstr>
      <vt:lpstr>目录：</vt:lpstr>
      <vt:lpstr>8.1 函数的定义与声明</vt:lpstr>
      <vt:lpstr>8.1 函数的定义与声明</vt:lpstr>
      <vt:lpstr>PowerPoint 演示文稿</vt:lpstr>
      <vt:lpstr>PowerPoint 演示文稿</vt:lpstr>
      <vt:lpstr>1.3函数的参数和返回值</vt:lpstr>
      <vt:lpstr>PowerPoint 演示文稿</vt:lpstr>
      <vt:lpstr>PowerPoint 演示文稿</vt:lpstr>
      <vt:lpstr>1.4 函数的声明</vt:lpstr>
      <vt:lpstr>PowerPoint 演示文稿</vt:lpstr>
      <vt:lpstr>8.2 函数的调用</vt:lpstr>
      <vt:lpstr>2.2 函数调用时的参数传递</vt:lpstr>
      <vt:lpstr>PowerPoint 演示文稿</vt:lpstr>
      <vt:lpstr>2.3 库函数的调用</vt:lpstr>
      <vt:lpstr>PowerPoint 演示文稿</vt:lpstr>
      <vt:lpstr>8.3 内部函数和外部函数</vt:lpstr>
      <vt:lpstr>PowerPoint 演示文稿</vt:lpstr>
      <vt:lpstr>PowerPoint 演示文稿</vt:lpstr>
      <vt:lpstr>PowerPoint 演示文稿</vt:lpstr>
      <vt:lpstr>3.2 内部函数与外部函数</vt:lpstr>
      <vt:lpstr>8.4 预处理命令</vt:lpstr>
      <vt:lpstr>PowerPoint 演示文稿</vt:lpstr>
      <vt:lpstr>PowerPoint 演示文稿</vt:lpstr>
      <vt:lpstr>PowerPoint 演示文稿</vt:lpstr>
      <vt:lpstr>PowerPoint 演示文稿</vt:lpstr>
      <vt:lpstr>函数习题</vt:lpstr>
      <vt:lpstr>PowerPoint 演示文稿</vt:lpstr>
      <vt:lpstr>PowerPoint 演示文稿</vt:lpstr>
      <vt:lpstr>PowerPoint 演示文稿</vt:lpstr>
      <vt:lpstr>PowerPoint 演示文稿</vt:lpstr>
      <vt:lpstr>答案与解析</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 语句在c语言中的运用极为广泛，在考试中也常有涉及，如:</dc:title>
  <dc:creator>吴烨洋</dc:creator>
  <cp:lastModifiedBy>吴烨洋</cp:lastModifiedBy>
  <cp:revision>26</cp:revision>
  <dcterms:created xsi:type="dcterms:W3CDTF">2023-12-19T07:04:44Z</dcterms:created>
  <dcterms:modified xsi:type="dcterms:W3CDTF">2023-12-25T07:06:10Z</dcterms:modified>
</cp:coreProperties>
</file>