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2.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3.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4.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5.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6.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7.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790.xml" ContentType="application/vnd.openxmlformats-officedocument.presentationml.tags+xml"/>
  <Override PartName="/ppt/tags/tag820.xml" ContentType="application/vnd.openxmlformats-officedocument.presentationml.tags+xml"/>
  <Override PartName="/ppt/tags/tag86.xml" ContentType="application/vnd.openxmlformats-officedocument.presentationml.tags+xml"/>
  <Override PartName="/ppt/tags/tag89.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6" r:id="rId2"/>
    <p:sldId id="290" r:id="rId3"/>
    <p:sldId id="291" r:id="rId4"/>
    <p:sldId id="292" r:id="rId5"/>
    <p:sldId id="293" r:id="rId6"/>
    <p:sldId id="295" r:id="rId7"/>
    <p:sldId id="257" r:id="rId8"/>
    <p:sldId id="258" r:id="rId9"/>
    <p:sldId id="259" r:id="rId10"/>
    <p:sldId id="260" r:id="rId11"/>
    <p:sldId id="294" r:id="rId12"/>
    <p:sldId id="261" r:id="rId13"/>
    <p:sldId id="262" r:id="rId14"/>
    <p:sldId id="263" r:id="rId15"/>
    <p:sldId id="264" r:id="rId16"/>
    <p:sldId id="298" r:id="rId17"/>
    <p:sldId id="296" r:id="rId18"/>
    <p:sldId id="297" r:id="rId19"/>
    <p:sldId id="299" r:id="rId20"/>
    <p:sldId id="300" r:id="rId21"/>
    <p:sldId id="301" r:id="rId22"/>
    <p:sldId id="305" r:id="rId23"/>
    <p:sldId id="302" r:id="rId24"/>
    <p:sldId id="303" r:id="rId25"/>
    <p:sldId id="304" r:id="rId26"/>
    <p:sldId id="307" r:id="rId27"/>
    <p:sldId id="308" r:id="rId28"/>
    <p:sldId id="309" r:id="rId29"/>
    <p:sldId id="310" r:id="rId30"/>
    <p:sldId id="311" r:id="rId31"/>
    <p:sldId id="312" r:id="rId32"/>
    <p:sldId id="306" r:id="rId33"/>
    <p:sldId id="265" r:id="rId34"/>
    <p:sldId id="266" r:id="rId35"/>
    <p:sldId id="267" r:id="rId36"/>
    <p:sldId id="313" r:id="rId37"/>
    <p:sldId id="268" r:id="rId38"/>
    <p:sldId id="269" r:id="rId39"/>
    <p:sldId id="270" r:id="rId40"/>
    <p:sldId id="271" r:id="rId41"/>
    <p:sldId id="272" r:id="rId42"/>
    <p:sldId id="273" r:id="rId43"/>
    <p:sldId id="274"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275" r:id="rId57"/>
    <p:sldId id="276" r:id="rId58"/>
    <p:sldId id="277" r:id="rId59"/>
    <p:sldId id="278" r:id="rId60"/>
    <p:sldId id="279" r:id="rId61"/>
    <p:sldId id="360" r:id="rId62"/>
    <p:sldId id="366" r:id="rId63"/>
    <p:sldId id="367" r:id="rId64"/>
    <p:sldId id="368" r:id="rId65"/>
    <p:sldId id="369" r:id="rId66"/>
    <p:sldId id="370" r:id="rId67"/>
    <p:sldId id="371" r:id="rId68"/>
    <p:sldId id="372" r:id="rId69"/>
    <p:sldId id="373" r:id="rId70"/>
    <p:sldId id="374" r:id="rId71"/>
    <p:sldId id="361" r:id="rId72"/>
    <p:sldId id="362" r:id="rId73"/>
    <p:sldId id="363" r:id="rId74"/>
    <p:sldId id="364" r:id="rId75"/>
    <p:sldId id="280" r:id="rId76"/>
    <p:sldId id="281" r:id="rId77"/>
    <p:sldId id="282" r:id="rId78"/>
    <p:sldId id="283" r:id="rId79"/>
    <p:sldId id="284" r:id="rId80"/>
    <p:sldId id="285" r:id="rId81"/>
    <p:sldId id="286" r:id="rId82"/>
    <p:sldId id="287" r:id="rId83"/>
    <p:sldId id="288" r:id="rId84"/>
    <p:sldId id="289" r:id="rId85"/>
    <p:sldId id="375" r:id="rId86"/>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PTer_Tang" initials="z" lastIdx="1" clrIdx="0"/>
  <p:cmAuthor id="1" name="幸全" initials="幸全" lastIdx="1" clrIdx="0"/>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23" d="100"/>
          <a:sy n="123" d="100"/>
        </p:scale>
        <p:origin x="533" y="1128"/>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7T04:14:00"/>
    </inkml:context>
    <inkml:brush xml:id="br0">
      <inkml:brushProperty name="width" value="0.035" units="cm"/>
      <inkml:brushProperty name="height" value="0.035" units="cm"/>
    </inkml:brush>
  </inkml:definitions>
  <inkml:trace contextRef="#ctx0" brushRef="#br0">228 14 24575,'1'19'0,"-1"-15"0,1 1 0,-1 0 0,0-1 0,0 1 0,0 0 0,-1-1 0,1 1 0,-1-1 0,-1 1 0,1-1 0,0 1 0,-1-1 0,0 0 0,-3 6 0,-15 19 0,16-21 0,-1-1 0,0 0 0,0 0 0,-1 0 0,1-1 0,-9 8 0,13-14 0,1 1 0,0-1 0,0 0 0,-1 0 0,1 1 0,0-1 0,0 0 0,-1 0 0,1 0 0,0 1 0,-1-1 0,1 0 0,0 0 0,-1 0 0,1 0 0,0 0 0,-1 0 0,1 0 0,-1 1 0,1-1 0,0 0 0,-1 0 0,1 0 0,0-1 0,-1 1 0,1 0 0,0 0 0,-1 0 0,1 0 0,0 0 0,-1 0 0,1 0 0,0-1 0,-1 1 0,1 0 0,0 0 0,-1 0 0,1-1 0,0 1 0,0 0 0,-1 0 0,1-1 0,0 1 0,0 0 0,-1-1 0,1 1 0,0 0 0,0-1 0,0 1 0,0 0 0,0-1 0,0 1 0,0 0 0,-1-1 0,1 1 0,0 0 0,0-1 0,0 1 0,0-1 0,0 1 0,1 0 0,-1-1 0,0 1 0,0 0 0,0-1 0,5-27 0,4 11 0,0 0 0,1 0 0,1 1 0,1 0 0,0 1 0,16-15 0,-22 24 0,5-4 0,-7 11 0,-5 1 0,1-1 0,-1 1 0,1-1 0,-1 1 0,1-1 0,-1 1 0,0-1 0,0 1 0,0-1 0,0 0 0,-1 3 0,-28 33 0,-45 74 0,71-104 0,-14 23 0,17-29 0,1 0 0,-1 1 0,0-1 0,0 0 0,0 0 0,0 0 0,-1 0 0,1 0 0,0 0 0,0 0 0,-1 0 0,1 0 0,0-1 0,-1 1 0,1 0 0,-3 0 0,24-33 0,22-25 0,-5 8 0,-30 38 0,-2 2 0,0 1 0,0 1 0,1-1 0,0 1 0,0 0 0,0 0 0,10-7 0,-17 22 0,-6 5 0,-28 32 0,26-35 0,1 0 0,0 1 0,1-1 0,0 1 0,0 1 0,-8 21 0,12-21 0,2-9 0,1 0 0,-1-1 0,0 1 0,0 0 0,0 0 0,0-1 0,0 1 0,-1-1 0,1 1 0,-1-1 0,0 1 0,-3 3 0,19-31 0,36-10 0,-40 29 0,-1 0 0,0 0 0,0-1 0,0 0 0,-1-1 0,0 0 0,0 0 0,-1-1 0,8-12 0,-4 3 0,-10 18 0,-2 4 0,-17 29 0,7-18 0,0 0 0,-1-1 0,-1 0 0,-1-1 0,0-1 0,0 0 0,-25 15 0,38-27 0,0 1 0,0 0 0,0-1 0,0 1 0,-1 0 0,1-1 0,0 0 0,0 1 0,-1-1 0,1 0 0,0 1 0,-3-1 0,4 0 0,-1 0 0,1-1 0,0 1 0,0 0 0,0 0 0,0 0 0,-1-1 0,1 1 0,0 0 0,0 0 0,0-1 0,0 1 0,0 0 0,0 0 0,0-1 0,0 1 0,0 0 0,0-1 0,0 1 0,0 0 0,0 0 0,0-1 0,0 1 0,0 0 0,0 0 0,0-1 0,0 1 0,0 0 0,0-1 0,0 1 0,1 0 0,-1 0 0,0 0 0,0-1 0,21-31 0,-9 18 0,0 2 0,0 0 0,2 0 0,24-17 0,21-17 0,-56 43 0,0 1 0,0-1 0,-1 0 0,1 0 0,-1 0 0,0 0 0,0 0 0,0 0 0,0-1 0,0 1 0,-1-1 0,0 1 0,1-1 0,0-5 0,-2 9 0,0-1 0,0 1 0,0 0 0,0 0 0,0 0 0,0-1 0,0 1 0,0 0 0,0 0 0,0-1 0,0 1 0,0 0 0,0 0 0,0 0 0,0 0 0,0-1 0,-1 1 0,1 0 0,0 0 0,0 0 0,0-1 0,0 1 0,0 0 0,0 0 0,-1 0 0,1 0 0,0 0 0,0-1 0,0 1 0,0 0 0,-1 0 0,1 0 0,0 0 0,0 0 0,0 0 0,0 0 0,-1 0 0,1 0 0,0 0 0,0 0 0,0 0 0,-1 0 0,1 0 0,0 0 0,0 0 0,-1 0 0,1 0 0,0 0 0,0 0 0,0 0 0,-1 0 0,1 0 0,0 0 0,0 0 0,0 0 0,-1 1 0,-13 7 0,-104 88 0,15-11 0,79-65 0,18-14 0,0-1 0,-1 0 0,0 0 0,1 0 0,-2-1 0,-14 7 0,23-11 0,-1 0 0,0 0 0,0 0 0,0 0 0,0 0 0,0-1 0,0 1 0,0 0 0,0 0 0,0 0 0,0 0 0,0 0 0,0 0 0,0 0 0,1 0 0,-1-1 0,0 1 0,0 0 0,0 0 0,0 0 0,0 0 0,0 0 0,0 0 0,0 0 0,0-1 0,0 1 0,0 0 0,0 0 0,0 0 0,-1 0 0,1 0 0,0 0 0,0 0 0,0-1 0,0 1 0,0 0 0,0 0 0,0 0 0,0 0 0,0 0 0,0 0 0,0 0 0,0 0 0,-1 0 0,1 0 0,0 0 0,0-1 0,0 1 0,0 0 0,0 0 0,0 0 0,0 0 0,0 0 0,-1 0 0,1 0 0,0 0 0,0 0 0,0 0 0,0 0 0,0 0 0,0 0 0,-1 0 0,9-10 0,16-8 0,0 0 0,43-24 0,26-18 0,-75 46 0,0-1 0,21-24 0,-39 39 0,0 0 0,0 0 0,0 0 0,0 1 0,0-1 0,0 0 0,0 0 0,0 0 0,0 0 0,0 0 0,0 0 0,0 0 0,0 1 0,0-1 0,0 0 0,0 0 0,1 0 0,-1 0 0,0 0 0,0 0 0,0 0 0,0 0 0,0 1 0,0-1 0,0 0 0,0 0 0,0 0 0,0 0 0,1 0 0,-1 0 0,0 0 0,0 0 0,0 0 0,0 0 0,0 0 0,0 0 0,0 0 0,1 0 0,-1 0 0,0 0 0,0 0 0,0 0 0,0 0 0,0 0 0,0 0 0,1 0 0,-1 0 0,-4 13 0,-6 4 0,-1 0 0,-20 23 0,10-13 0,-21 19 0,33-39 0,10-13 0,12-15 0,12-11-341,1 1 0,1 2-1,38-32 1,-33 34-6485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t>17</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t>18</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t>19</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t>20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t>21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t>23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2023/12/27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2023/12/27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2023/12/27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2023/12/27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2023/12/27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2023/12/27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2023/12/27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2023/12/27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2023/12/27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2023/12/27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2023/12/27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2023/12/27</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6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68.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sv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25.jpe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 Id="rId9" Type="http://schemas.openxmlformats.org/officeDocument/2006/relationships/image" Target="../media/image3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34.jpeg"/></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7.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image" Target="../media/image37.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38.png"/><Relationship Id="rId5" Type="http://schemas.openxmlformats.org/officeDocument/2006/relationships/notesSlide" Target="../notesSlides/notesSlide1.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40.png"/><Relationship Id="rId5" Type="http://schemas.openxmlformats.org/officeDocument/2006/relationships/tags" Target="../tags/tag790.xml"/><Relationship Id="rId4"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83.xml"/><Relationship Id="rId7" Type="http://schemas.openxmlformats.org/officeDocument/2006/relationships/image" Target="../media/image41.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20.xml"/><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43.png"/><Relationship Id="rId5" Type="http://schemas.openxmlformats.org/officeDocument/2006/relationships/tags" Target="../tags/tag86.xml"/><Relationship Id="rId4"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slideLayout" Target="../slideLayouts/slideLayout2.xml"/><Relationship Id="rId7" Type="http://schemas.openxmlformats.org/officeDocument/2006/relationships/image" Target="../media/image42.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44.png"/><Relationship Id="rId5" Type="http://schemas.openxmlformats.org/officeDocument/2006/relationships/tags" Target="../tags/tag89.xml"/><Relationship Id="rId4"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93.xml"/><Relationship Id="rId7" Type="http://schemas.openxmlformats.org/officeDocument/2006/relationships/image" Target="../media/image46.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notesSlide" Target="../notesSlides/notesSlide6.xml"/><Relationship Id="rId5" Type="http://schemas.openxmlformats.org/officeDocument/2006/relationships/slideLayout" Target="../slideLayouts/slideLayout3.xml"/><Relationship Id="rId4" Type="http://schemas.openxmlformats.org/officeDocument/2006/relationships/tags" Target="../tags/tag94.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slideLayout" Target="../slideLayouts/slideLayout7.xml"/><Relationship Id="rId1" Type="http://schemas.openxmlformats.org/officeDocument/2006/relationships/tags" Target="../tags/tag9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7.xml"/><Relationship Id="rId1" Type="http://schemas.openxmlformats.org/officeDocument/2006/relationships/tags" Target="../tags/tag9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slideLayout" Target="../slideLayouts/slideLayout2.xml"/><Relationship Id="rId1" Type="http://schemas.openxmlformats.org/officeDocument/2006/relationships/tags" Target="../tags/tag97.xml"/><Relationship Id="rId4" Type="http://schemas.openxmlformats.org/officeDocument/2006/relationships/image" Target="../media/image55.jpeg"/></Relationships>
</file>

<file path=ppt/slides/_rels/slide2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8.xml"/></Relationships>
</file>

<file path=ppt/slides/_rels/slide3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37.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image" Target="../media/image64.jpe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image" Target="../media/image63.sv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image" Target="../media/image62.png"/><Relationship Id="rId5" Type="http://schemas.openxmlformats.org/officeDocument/2006/relationships/tags" Target="../tags/tag107.xml"/><Relationship Id="rId10" Type="http://schemas.openxmlformats.org/officeDocument/2006/relationships/slideLayout" Target="../slideLayouts/slideLayout7.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image" Target="../media/image65.jpeg"/></Relationships>
</file>

<file path=ppt/slides/_rels/slide3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tags" Target="../tags/tag114.xml"/><Relationship Id="rId7" Type="http://schemas.openxmlformats.org/officeDocument/2006/relationships/image" Target="../media/image67.sv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6.png"/><Relationship Id="rId5" Type="http://schemas.openxmlformats.org/officeDocument/2006/relationships/slideLayout" Target="../slideLayouts/slideLayout7.xml"/><Relationship Id="rId10" Type="http://schemas.openxmlformats.org/officeDocument/2006/relationships/image" Target="../media/image68.jpeg"/><Relationship Id="rId4" Type="http://schemas.openxmlformats.org/officeDocument/2006/relationships/tags" Target="../tags/tag115.xml"/><Relationship Id="rId9" Type="http://schemas.openxmlformats.org/officeDocument/2006/relationships/image" Target="../media/image63.svg"/></Relationships>
</file>

<file path=ppt/slides/_rels/slide3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tags" Target="../tags/tag118.xml"/><Relationship Id="rId7" Type="http://schemas.openxmlformats.org/officeDocument/2006/relationships/image" Target="../media/image69.pn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slideLayout" Target="../slideLayouts/slideLayout7.xml"/><Relationship Id="rId5" Type="http://schemas.openxmlformats.org/officeDocument/2006/relationships/tags" Target="../tags/tag120.xml"/><Relationship Id="rId4" Type="http://schemas.openxmlformats.org/officeDocument/2006/relationships/tags" Target="../tags/tag119.xml"/></Relationships>
</file>

<file path=ppt/slides/_rels/slide40.xml.rels><?xml version="1.0" encoding="UTF-8" standalone="yes"?>
<Relationships xmlns="http://schemas.openxmlformats.org/package/2006/relationships"><Relationship Id="rId13" Type="http://schemas.openxmlformats.org/officeDocument/2006/relationships/tags" Target="../tags/tag133.xml"/><Relationship Id="rId18" Type="http://schemas.openxmlformats.org/officeDocument/2006/relationships/tags" Target="../tags/tag138.xml"/><Relationship Id="rId26" Type="http://schemas.openxmlformats.org/officeDocument/2006/relationships/tags" Target="../tags/tag146.xml"/><Relationship Id="rId3" Type="http://schemas.openxmlformats.org/officeDocument/2006/relationships/tags" Target="../tags/tag123.xml"/><Relationship Id="rId21" Type="http://schemas.openxmlformats.org/officeDocument/2006/relationships/tags" Target="../tags/tag141.xml"/><Relationship Id="rId34" Type="http://schemas.openxmlformats.org/officeDocument/2006/relationships/image" Target="../media/image63.svg"/><Relationship Id="rId7" Type="http://schemas.openxmlformats.org/officeDocument/2006/relationships/tags" Target="../tags/tag127.xml"/><Relationship Id="rId12" Type="http://schemas.openxmlformats.org/officeDocument/2006/relationships/tags" Target="../tags/tag132.xml"/><Relationship Id="rId17" Type="http://schemas.openxmlformats.org/officeDocument/2006/relationships/tags" Target="../tags/tag137.xml"/><Relationship Id="rId25" Type="http://schemas.openxmlformats.org/officeDocument/2006/relationships/tags" Target="../tags/tag145.xml"/><Relationship Id="rId33" Type="http://schemas.openxmlformats.org/officeDocument/2006/relationships/image" Target="../media/image62.png"/><Relationship Id="rId2" Type="http://schemas.openxmlformats.org/officeDocument/2006/relationships/tags" Target="../tags/tag122.xml"/><Relationship Id="rId16" Type="http://schemas.openxmlformats.org/officeDocument/2006/relationships/tags" Target="../tags/tag136.xml"/><Relationship Id="rId20" Type="http://schemas.openxmlformats.org/officeDocument/2006/relationships/tags" Target="../tags/tag140.xml"/><Relationship Id="rId29" Type="http://schemas.openxmlformats.org/officeDocument/2006/relationships/tags" Target="../tags/tag149.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24" Type="http://schemas.openxmlformats.org/officeDocument/2006/relationships/tags" Target="../tags/tag144.xml"/><Relationship Id="rId32" Type="http://schemas.openxmlformats.org/officeDocument/2006/relationships/image" Target="../media/image67.svg"/><Relationship Id="rId5" Type="http://schemas.openxmlformats.org/officeDocument/2006/relationships/tags" Target="../tags/tag125.xml"/><Relationship Id="rId15" Type="http://schemas.openxmlformats.org/officeDocument/2006/relationships/tags" Target="../tags/tag135.xml"/><Relationship Id="rId23" Type="http://schemas.openxmlformats.org/officeDocument/2006/relationships/tags" Target="../tags/tag143.xml"/><Relationship Id="rId28" Type="http://schemas.openxmlformats.org/officeDocument/2006/relationships/tags" Target="../tags/tag148.xml"/><Relationship Id="rId10" Type="http://schemas.openxmlformats.org/officeDocument/2006/relationships/tags" Target="../tags/tag130.xml"/><Relationship Id="rId19" Type="http://schemas.openxmlformats.org/officeDocument/2006/relationships/tags" Target="../tags/tag139.xml"/><Relationship Id="rId31" Type="http://schemas.openxmlformats.org/officeDocument/2006/relationships/image" Target="../media/image66.png"/><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tags" Target="../tags/tag134.xml"/><Relationship Id="rId22" Type="http://schemas.openxmlformats.org/officeDocument/2006/relationships/tags" Target="../tags/tag142.xml"/><Relationship Id="rId27" Type="http://schemas.openxmlformats.org/officeDocument/2006/relationships/tags" Target="../tags/tag147.xml"/><Relationship Id="rId30" Type="http://schemas.openxmlformats.org/officeDocument/2006/relationships/slideLayout" Target="../slideLayouts/slideLayout7.xml"/><Relationship Id="rId35" Type="http://schemas.openxmlformats.org/officeDocument/2006/relationships/image" Target="../media/image71.png"/><Relationship Id="rId8" Type="http://schemas.openxmlformats.org/officeDocument/2006/relationships/tags" Target="../tags/tag128.xml"/></Relationships>
</file>

<file path=ppt/slides/_rels/slide4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tags" Target="../tags/tag152.xml"/><Relationship Id="rId7" Type="http://schemas.openxmlformats.org/officeDocument/2006/relationships/image" Target="../media/image67.sv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image" Target="../media/image66.png"/><Relationship Id="rId5" Type="http://schemas.openxmlformats.org/officeDocument/2006/relationships/slideLayout" Target="../slideLayouts/slideLayout7.xml"/><Relationship Id="rId10" Type="http://schemas.openxmlformats.org/officeDocument/2006/relationships/image" Target="../media/image72.png"/><Relationship Id="rId4" Type="http://schemas.openxmlformats.org/officeDocument/2006/relationships/tags" Target="../tags/tag153.xml"/><Relationship Id="rId9" Type="http://schemas.openxmlformats.org/officeDocument/2006/relationships/image" Target="../media/image63.svg"/></Relationships>
</file>

<file path=ppt/slides/_rels/slide42.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image" Target="../media/image63.svg"/><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image" Target="../media/image62.png"/><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image" Target="../media/image67.svg"/><Relationship Id="rId5" Type="http://schemas.openxmlformats.org/officeDocument/2006/relationships/tags" Target="../tags/tag158.xml"/><Relationship Id="rId10" Type="http://schemas.openxmlformats.org/officeDocument/2006/relationships/image" Target="../media/image66.png"/><Relationship Id="rId4" Type="http://schemas.openxmlformats.org/officeDocument/2006/relationships/tags" Target="../tags/tag157.xml"/><Relationship Id="rId9"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76.emf"/><Relationship Id="rId4" Type="http://schemas.openxmlformats.org/officeDocument/2006/relationships/image" Target="../media/image75.emf"/></Relationships>
</file>

<file path=ppt/slides/_rels/slide4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emf"/><Relationship Id="rId1" Type="http://schemas.openxmlformats.org/officeDocument/2006/relationships/slideLayout" Target="../slideLayouts/slideLayout1.xml"/><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9.emf"/></Relationships>
</file>

<file path=ppt/slides/_rels/slide49.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1.xml"/><Relationship Id="rId5" Type="http://schemas.openxmlformats.org/officeDocument/2006/relationships/image" Target="../media/image85.emf"/><Relationship Id="rId4" Type="http://schemas.openxmlformats.org/officeDocument/2006/relationships/image" Target="../media/image84.emf"/></Relationships>
</file>

<file path=ppt/slides/_rels/slide50.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1.xml"/><Relationship Id="rId6" Type="http://schemas.openxmlformats.org/officeDocument/2006/relationships/image" Target="../media/image90.emf"/><Relationship Id="rId5" Type="http://schemas.openxmlformats.org/officeDocument/2006/relationships/image" Target="../media/image89.emf"/><Relationship Id="rId4" Type="http://schemas.openxmlformats.org/officeDocument/2006/relationships/image" Target="../media/image88.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92.jpeg"/><Relationship Id="rId5" Type="http://schemas.openxmlformats.org/officeDocument/2006/relationships/image" Target="../media/image91.jpeg"/><Relationship Id="rId4" Type="http://schemas.openxmlformats.org/officeDocument/2006/relationships/image" Target="../media/image93.png"/></Relationships>
</file>

<file path=ppt/slides/_rels/slide5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2.xml"/><Relationship Id="rId1" Type="http://schemas.openxmlformats.org/officeDocument/2006/relationships/tags" Target="../tags/tag166.xml"/><Relationship Id="rId5" Type="http://schemas.openxmlformats.org/officeDocument/2006/relationships/image" Target="../media/image94.jpeg"/><Relationship Id="rId4" Type="http://schemas.openxmlformats.org/officeDocument/2006/relationships/image" Target="../media/image93.jpeg"/></Relationships>
</file>

<file path=ppt/slides/_rels/slide5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slideLayout" Target="../slideLayouts/slideLayout2.xml"/><Relationship Id="rId1" Type="http://schemas.openxmlformats.org/officeDocument/2006/relationships/tags" Target="../tags/tag167.xml"/><Relationship Id="rId6" Type="http://schemas.openxmlformats.org/officeDocument/2006/relationships/image" Target="../media/image98.jpeg"/><Relationship Id="rId5" Type="http://schemas.openxmlformats.org/officeDocument/2006/relationships/image" Target="../media/image97.jpeg"/><Relationship Id="rId4" Type="http://schemas.openxmlformats.org/officeDocument/2006/relationships/image" Target="../media/image96.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99.jpeg"/><Relationship Id="rId4" Type="http://schemas.openxmlformats.org/officeDocument/2006/relationships/image" Target="../media/image10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104.jpeg"/><Relationship Id="rId3" Type="http://schemas.openxmlformats.org/officeDocument/2006/relationships/tags" Target="../tags/tag172.xml"/><Relationship Id="rId7" Type="http://schemas.openxmlformats.org/officeDocument/2006/relationships/image" Target="../media/image103.jpeg"/><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image" Target="../media/image102.jpeg"/><Relationship Id="rId5" Type="http://schemas.openxmlformats.org/officeDocument/2006/relationships/slideLayout" Target="../slideLayouts/slideLayout7.xml"/><Relationship Id="rId4" Type="http://schemas.openxmlformats.org/officeDocument/2006/relationships/tags" Target="../tags/tag173.xml"/><Relationship Id="rId9" Type="http://schemas.openxmlformats.org/officeDocument/2006/relationships/image" Target="../media/image105.png"/></Relationships>
</file>

<file path=ppt/slides/_rels/slide5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slideLayout" Target="../slideLayouts/slideLayout7.xml"/><Relationship Id="rId1" Type="http://schemas.openxmlformats.org/officeDocument/2006/relationships/tags" Target="../tags/tag174.xml"/><Relationship Id="rId5" Type="http://schemas.openxmlformats.org/officeDocument/2006/relationships/image" Target="../media/image108.jpeg"/><Relationship Id="rId4" Type="http://schemas.openxmlformats.org/officeDocument/2006/relationships/image" Target="../media/image107.jpeg"/></Relationships>
</file>

<file path=ppt/slides/_rels/slide60.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jpeg"/><Relationship Id="rId7" Type="http://schemas.openxmlformats.org/officeDocument/2006/relationships/image" Target="../media/image114.jpeg"/><Relationship Id="rId2" Type="http://schemas.openxmlformats.org/officeDocument/2006/relationships/image" Target="../media/image109.jpeg"/><Relationship Id="rId1" Type="http://schemas.openxmlformats.org/officeDocument/2006/relationships/slideLayout" Target="../slideLayouts/slideLayout7.xml"/><Relationship Id="rId6" Type="http://schemas.openxmlformats.org/officeDocument/2006/relationships/image" Target="../media/image113.jpeg"/><Relationship Id="rId5" Type="http://schemas.openxmlformats.org/officeDocument/2006/relationships/image" Target="../media/image112.jpeg"/><Relationship Id="rId10" Type="http://schemas.openxmlformats.org/officeDocument/2006/relationships/image" Target="../media/image117.svg"/><Relationship Id="rId4" Type="http://schemas.openxmlformats.org/officeDocument/2006/relationships/image" Target="../media/image111.jpeg"/><Relationship Id="rId9" Type="http://schemas.openxmlformats.org/officeDocument/2006/relationships/image" Target="../media/image1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slideLayout" Target="../slideLayouts/slideLayout7.xml"/><Relationship Id="rId1" Type="http://schemas.openxmlformats.org/officeDocument/2006/relationships/tags" Target="../tags/tag175.xml"/></Relationships>
</file>

<file path=ppt/slides/_rels/slide6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slideLayout" Target="../slideLayouts/slideLayout7.xml"/><Relationship Id="rId1" Type="http://schemas.openxmlformats.org/officeDocument/2006/relationships/tags" Target="../tags/tag176.xml"/></Relationships>
</file>

<file path=ppt/slides/_rels/slide6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7.xml"/><Relationship Id="rId1" Type="http://schemas.openxmlformats.org/officeDocument/2006/relationships/tags" Target="../tags/tag177.xml"/></Relationships>
</file>

<file path=ppt/slides/_rels/slide6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slideLayout" Target="../slideLayouts/slideLayout7.xml"/><Relationship Id="rId1" Type="http://schemas.openxmlformats.org/officeDocument/2006/relationships/tags" Target="../tags/tag178.xml"/></Relationships>
</file>

<file path=ppt/slides/_rels/slide6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7.xml"/><Relationship Id="rId1" Type="http://schemas.openxmlformats.org/officeDocument/2006/relationships/tags" Target="../tags/tag179.xml"/></Relationships>
</file>

<file path=ppt/slides/_rels/slide6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slideLayout" Target="../slideLayouts/slideLayout7.xml"/><Relationship Id="rId1" Type="http://schemas.openxmlformats.org/officeDocument/2006/relationships/tags" Target="../tags/tag180.xml"/></Relationships>
</file>

<file path=ppt/slides/_rels/slide6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slideLayout" Target="../slideLayouts/slideLayout7.xml"/><Relationship Id="rId1" Type="http://schemas.openxmlformats.org/officeDocument/2006/relationships/tags" Target="../tags/tag181.xml"/></Relationships>
</file>

<file path=ppt/slides/_rels/slide6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Layout" Target="../slideLayouts/slideLayout7.xml"/><Relationship Id="rId1" Type="http://schemas.openxmlformats.org/officeDocument/2006/relationships/tags" Target="../tags/tag182.xml"/></Relationships>
</file>

<file path=ppt/slides/_rels/slide7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slideLayout" Target="../slideLayouts/slideLayout7.xml"/><Relationship Id="rId1" Type="http://schemas.openxmlformats.org/officeDocument/2006/relationships/tags" Target="../tags/tag18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186.xml"/><Relationship Id="rId7" Type="http://schemas.openxmlformats.org/officeDocument/2006/relationships/slideLayout" Target="../slideLayouts/slideLayout7.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5" Type="http://schemas.openxmlformats.org/officeDocument/2006/relationships/tags" Target="../tags/tag188.xml"/><Relationship Id="rId10" Type="http://schemas.openxmlformats.org/officeDocument/2006/relationships/image" Target="../media/image128.png"/><Relationship Id="rId4" Type="http://schemas.openxmlformats.org/officeDocument/2006/relationships/tags" Target="../tags/tag187.xml"/><Relationship Id="rId9" Type="http://schemas.openxmlformats.org/officeDocument/2006/relationships/image" Target="../media/image127.png"/></Relationships>
</file>

<file path=ppt/slides/_rels/slide73.xml.rels><?xml version="1.0" encoding="UTF-8" standalone="yes"?>
<Relationships xmlns="http://schemas.openxmlformats.org/package/2006/relationships"><Relationship Id="rId8" Type="http://schemas.openxmlformats.org/officeDocument/2006/relationships/tags" Target="../tags/tag197.xml"/><Relationship Id="rId13" Type="http://schemas.openxmlformats.org/officeDocument/2006/relationships/image" Target="../media/image132.png"/><Relationship Id="rId3" Type="http://schemas.openxmlformats.org/officeDocument/2006/relationships/tags" Target="../tags/tag192.xml"/><Relationship Id="rId7" Type="http://schemas.openxmlformats.org/officeDocument/2006/relationships/tags" Target="../tags/tag196.xml"/><Relationship Id="rId12" Type="http://schemas.openxmlformats.org/officeDocument/2006/relationships/image" Target="../media/image131.png"/><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tags" Target="../tags/tag195.xml"/><Relationship Id="rId11" Type="http://schemas.openxmlformats.org/officeDocument/2006/relationships/image" Target="../media/image130.png"/><Relationship Id="rId5" Type="http://schemas.openxmlformats.org/officeDocument/2006/relationships/tags" Target="../tags/tag194.xml"/><Relationship Id="rId10" Type="http://schemas.openxmlformats.org/officeDocument/2006/relationships/image" Target="../media/image129.png"/><Relationship Id="rId4" Type="http://schemas.openxmlformats.org/officeDocument/2006/relationships/tags" Target="../tags/tag193.xml"/><Relationship Id="rId9"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8" Type="http://schemas.openxmlformats.org/officeDocument/2006/relationships/tags" Target="../tags/tag205.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image" Target="../media/image135.png"/><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image" Target="../media/image134.png"/><Relationship Id="rId5" Type="http://schemas.openxmlformats.org/officeDocument/2006/relationships/tags" Target="../tags/tag202.xml"/><Relationship Id="rId10" Type="http://schemas.openxmlformats.org/officeDocument/2006/relationships/image" Target="../media/image133.png"/><Relationship Id="rId4" Type="http://schemas.openxmlformats.org/officeDocument/2006/relationships/tags" Target="../tags/tag201.xml"/><Relationship Id="rId9"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image" Target="../media/image144.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46.jpeg"/><Relationship Id="rId1" Type="http://schemas.openxmlformats.org/officeDocument/2006/relationships/slideLayout" Target="../slideLayouts/slideLayout2.xml"/><Relationship Id="rId5" Type="http://schemas.openxmlformats.org/officeDocument/2006/relationships/image" Target="../media/image153.png"/><Relationship Id="rId4" Type="http://schemas.openxmlformats.org/officeDocument/2006/relationships/customXml" Target="../ink/ink1.xml"/></Relationships>
</file>

<file path=ppt/slides/_rels/slide84.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image" Target="../media/image148.jpeg"/><Relationship Id="rId1" Type="http://schemas.openxmlformats.org/officeDocument/2006/relationships/slideLayout" Target="../slideLayouts/slideLayout2.xml"/><Relationship Id="rId4" Type="http://schemas.openxmlformats.org/officeDocument/2006/relationships/image" Target="../media/image150.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611948" y="150495"/>
            <a:ext cx="8968105" cy="1600835"/>
          </a:xfrm>
          <a:prstGeom prst="rect">
            <a:avLst/>
          </a:prstGeom>
        </p:spPr>
      </p:pic>
      <p:sp>
        <p:nvSpPr>
          <p:cNvPr id="5" name="文本框 4"/>
          <p:cNvSpPr txBox="1"/>
          <p:nvPr/>
        </p:nvSpPr>
        <p:spPr>
          <a:xfrm>
            <a:off x="2293938" y="2136775"/>
            <a:ext cx="7604125" cy="4739005"/>
          </a:xfrm>
          <a:prstGeom prst="rect">
            <a:avLst/>
          </a:prstGeom>
          <a:noFill/>
        </p:spPr>
        <p:txBody>
          <a:bodyPr wrap="square" rtlCol="0">
            <a:spAutoFit/>
          </a:bodyPr>
          <a:lstStyle/>
          <a:p>
            <a:pPr algn="ctr"/>
            <a:r>
              <a:rPr lang="zh-CN" altLang="en-US" sz="4000" b="1">
                <a:latin typeface="宋体" panose="02010600030101010101" pitchFamily="2" charset="-122"/>
                <a:ea typeface="宋体" panose="02010600030101010101" pitchFamily="2" charset="-122"/>
              </a:rPr>
              <a:t>微</a:t>
            </a:r>
            <a:r>
              <a:rPr lang="en-US" altLang="zh-CN" sz="4000" b="1">
                <a:latin typeface="宋体" panose="02010600030101010101" pitchFamily="2" charset="-122"/>
                <a:ea typeface="宋体" panose="02010600030101010101" pitchFamily="2" charset="-122"/>
              </a:rPr>
              <a:t> </a:t>
            </a:r>
            <a:r>
              <a:rPr lang="zh-CN" altLang="en-US" sz="4000" b="1">
                <a:latin typeface="宋体" panose="02010600030101010101" pitchFamily="2" charset="-122"/>
                <a:ea typeface="宋体" panose="02010600030101010101" pitchFamily="2" charset="-122"/>
              </a:rPr>
              <a:t>积</a:t>
            </a:r>
            <a:r>
              <a:rPr lang="en-US" altLang="zh-CN" sz="4000" b="1">
                <a:latin typeface="宋体" panose="02010600030101010101" pitchFamily="2" charset="-122"/>
                <a:ea typeface="宋体" panose="02010600030101010101" pitchFamily="2" charset="-122"/>
              </a:rPr>
              <a:t> </a:t>
            </a:r>
            <a:r>
              <a:rPr lang="zh-CN" altLang="en-US" sz="4000" b="1">
                <a:latin typeface="宋体" panose="02010600030101010101" pitchFamily="2" charset="-122"/>
                <a:ea typeface="宋体" panose="02010600030101010101" pitchFamily="2" charset="-122"/>
              </a:rPr>
              <a:t>分</a:t>
            </a:r>
          </a:p>
          <a:p>
            <a:pPr algn="ct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1.1 - 4.3</a:t>
            </a:r>
            <a:r>
              <a:rPr lang="zh-CN" altLang="en-US" sz="2000" b="1">
                <a:latin typeface="宋体" panose="02010600030101010101" pitchFamily="2" charset="-122"/>
                <a:ea typeface="宋体" panose="02010600030101010101" pitchFamily="2" charset="-122"/>
              </a:rPr>
              <a:t>）</a:t>
            </a:r>
            <a:endParaRPr lang="zh-CN" altLang="en-US" sz="4000" b="1">
              <a:latin typeface="宋体" panose="02010600030101010101" pitchFamily="2" charset="-122"/>
              <a:ea typeface="宋体" panose="02010600030101010101" pitchFamily="2" charset="-122"/>
            </a:endParaRPr>
          </a:p>
          <a:p>
            <a:pPr algn="ctr"/>
            <a:r>
              <a:rPr lang="en-US" altLang="zh-CN" sz="4000" b="1">
                <a:latin typeface="宋体" panose="02010600030101010101" pitchFamily="2" charset="-122"/>
                <a:ea typeface="宋体" panose="02010600030101010101" pitchFamily="2" charset="-122"/>
              </a:rPr>
              <a:t> </a:t>
            </a:r>
            <a:endParaRPr lang="zh-CN" altLang="en-US" sz="4000" b="1">
              <a:latin typeface="宋体" panose="02010600030101010101" pitchFamily="2" charset="-122"/>
              <a:ea typeface="宋体" panose="02010600030101010101" pitchFamily="2" charset="-122"/>
            </a:endParaRPr>
          </a:p>
          <a:p>
            <a:pPr algn="ctr"/>
            <a:r>
              <a:rPr lang="zh-CN" altLang="en-US" sz="4000" b="1">
                <a:latin typeface="宋体" panose="02010600030101010101" pitchFamily="2" charset="-122"/>
                <a:ea typeface="宋体" panose="02010600030101010101" pitchFamily="2" charset="-122"/>
              </a:rPr>
              <a:t>共</a:t>
            </a:r>
            <a:r>
              <a:rPr lang="en-US" altLang="zh-CN" sz="4000" b="1">
                <a:latin typeface="宋体" panose="02010600030101010101" pitchFamily="2" charset="-122"/>
                <a:ea typeface="宋体" panose="02010600030101010101" pitchFamily="2" charset="-122"/>
              </a:rPr>
              <a:t> </a:t>
            </a:r>
            <a:r>
              <a:rPr lang="zh-CN" altLang="en-US" sz="4000" b="1">
                <a:latin typeface="宋体" panose="02010600030101010101" pitchFamily="2" charset="-122"/>
                <a:ea typeface="宋体" panose="02010600030101010101" pitchFamily="2" charset="-122"/>
              </a:rPr>
              <a:t>享</a:t>
            </a:r>
            <a:r>
              <a:rPr lang="en-US" altLang="zh-CN" sz="4000" b="1">
                <a:latin typeface="宋体" panose="02010600030101010101" pitchFamily="2" charset="-122"/>
                <a:ea typeface="宋体" panose="02010600030101010101" pitchFamily="2" charset="-122"/>
              </a:rPr>
              <a:t> </a:t>
            </a:r>
            <a:r>
              <a:rPr lang="zh-CN" altLang="en-US" sz="4000" b="1">
                <a:latin typeface="宋体" panose="02010600030101010101" pitchFamily="2" charset="-122"/>
                <a:ea typeface="宋体" panose="02010600030101010101" pitchFamily="2" charset="-122"/>
              </a:rPr>
              <a:t>学</a:t>
            </a:r>
            <a:r>
              <a:rPr lang="en-US" altLang="zh-CN" sz="4000" b="1">
                <a:latin typeface="宋体" panose="02010600030101010101" pitchFamily="2" charset="-122"/>
                <a:ea typeface="宋体" panose="02010600030101010101" pitchFamily="2" charset="-122"/>
              </a:rPr>
              <a:t> </a:t>
            </a:r>
            <a:r>
              <a:rPr lang="zh-CN" altLang="en-US" sz="4000" b="1">
                <a:latin typeface="宋体" panose="02010600030101010101" pitchFamily="2" charset="-122"/>
                <a:ea typeface="宋体" panose="02010600030101010101" pitchFamily="2" charset="-122"/>
              </a:rPr>
              <a:t>报</a:t>
            </a:r>
          </a:p>
          <a:p>
            <a:pPr algn="ctr"/>
            <a:endParaRPr lang="zh-CN" altLang="en-US" sz="5400" b="1">
              <a:latin typeface="宋体" panose="02010600030101010101" pitchFamily="2" charset="-122"/>
              <a:ea typeface="宋体" panose="02010600030101010101" pitchFamily="2" charset="-122"/>
            </a:endParaRPr>
          </a:p>
          <a:p>
            <a:pPr algn="ctr"/>
            <a:endParaRPr lang="zh-CN" altLang="en-US" sz="5400" b="1">
              <a:latin typeface="宋体" panose="02010600030101010101" pitchFamily="2" charset="-122"/>
              <a:ea typeface="宋体" panose="02010600030101010101" pitchFamily="2" charset="-122"/>
            </a:endParaRPr>
          </a:p>
          <a:p>
            <a:pPr algn="ctr"/>
            <a:r>
              <a:rPr lang="zh-CN" altLang="en-US" b="1">
                <a:latin typeface="宋体" panose="02010600030101010101" pitchFamily="2" charset="-122"/>
                <a:ea typeface="宋体" panose="02010600030101010101" pitchFamily="2" charset="-122"/>
              </a:rPr>
              <a:t>制作：</a:t>
            </a:r>
            <a:r>
              <a:rPr lang="zh-CN" altLang="en-US">
                <a:latin typeface="宋体" panose="02010600030101010101" pitchFamily="2" charset="-122"/>
                <a:ea typeface="宋体" panose="02010600030101010101" pitchFamily="2" charset="-122"/>
              </a:rPr>
              <a:t>电信</a:t>
            </a:r>
            <a:r>
              <a:rPr lang="en-US" altLang="zh-CN">
                <a:latin typeface="宋体" panose="02010600030101010101" pitchFamily="2" charset="-122"/>
                <a:ea typeface="宋体" panose="02010600030101010101" pitchFamily="2" charset="-122"/>
              </a:rPr>
              <a:t>2302</a:t>
            </a:r>
            <a:r>
              <a:rPr lang="zh-CN" altLang="en-US">
                <a:latin typeface="宋体" panose="02010600030101010101" pitchFamily="2" charset="-122"/>
                <a:ea typeface="宋体" panose="02010600030101010101" pitchFamily="2" charset="-122"/>
              </a:rPr>
              <a:t>班</a:t>
            </a:r>
          </a:p>
          <a:p>
            <a:pPr algn="ctr"/>
            <a:endParaRPr lang="zh-CN" altLang="en-US">
              <a:latin typeface="宋体" panose="02010600030101010101" pitchFamily="2" charset="-122"/>
              <a:ea typeface="宋体" panose="02010600030101010101" pitchFamily="2" charset="-122"/>
            </a:endParaRPr>
          </a:p>
          <a:p>
            <a:pPr algn="ctr"/>
            <a:r>
              <a:rPr lang="zh-CN" altLang="en-US">
                <a:latin typeface="宋体" panose="02010600030101010101" pitchFamily="2" charset="-122"/>
                <a:ea typeface="宋体" panose="02010600030101010101" pitchFamily="2" charset="-122"/>
              </a:rPr>
              <a:t>二〇二三年拾贰月</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副标题 10"/>
          <p:cNvSpPr>
            <a:spLocks noGrp="1"/>
          </p:cNvSpPr>
          <p:nvPr>
            <p:ph type="subTitle" idx="1"/>
            <p:custDataLst>
              <p:tags r:id="rId2"/>
            </p:custDataLst>
          </p:nvPr>
        </p:nvSpPr>
        <p:spPr>
          <a:xfrm>
            <a:off x="2366645" y="2422525"/>
            <a:ext cx="7458710" cy="1765300"/>
          </a:xfrm>
        </p:spPr>
        <p:txBody>
          <a:bodyPr>
            <a:noAutofit/>
          </a:bodyPr>
          <a:lstStyle/>
          <a:p>
            <a:pPr marL="0" indent="0" algn="ctr">
              <a:buNone/>
            </a:pPr>
            <a:r>
              <a:rPr lang="en-US" altLang="zh-CN" sz="5400" b="1">
                <a:solidFill>
                  <a:schemeClr val="tx1">
                    <a:lumMod val="95000"/>
                    <a:lumOff val="5000"/>
                  </a:schemeClr>
                </a:solidFill>
              </a:rPr>
              <a:t>1.1 </a:t>
            </a:r>
            <a:r>
              <a:rPr lang="zh-CN" altLang="en-US" sz="5400" b="1">
                <a:solidFill>
                  <a:schemeClr val="tx1">
                    <a:lumMod val="95000"/>
                    <a:lumOff val="5000"/>
                  </a:schemeClr>
                </a:solidFill>
              </a:rPr>
              <a:t>变量与函数</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5901b5c43ff1ddad69cb427b35106a8"/>
          <p:cNvPicPr>
            <a:picLocks noChangeAspect="1"/>
          </p:cNvPicPr>
          <p:nvPr/>
        </p:nvPicPr>
        <p:blipFill>
          <a:blip r:embed="rId3"/>
          <a:srcRect l="4172" t="-1166" r="1327"/>
          <a:stretch>
            <a:fillRect/>
          </a:stretch>
        </p:blipFill>
        <p:spPr>
          <a:xfrm>
            <a:off x="6473190" y="5074920"/>
            <a:ext cx="5718810" cy="1488440"/>
          </a:xfrm>
          <a:prstGeom prst="rect">
            <a:avLst/>
          </a:prstGeom>
        </p:spPr>
      </p:pic>
      <p:sp>
        <p:nvSpPr>
          <p:cNvPr id="2" name="标题 1"/>
          <p:cNvSpPr>
            <a:spLocks noGrp="1"/>
          </p:cNvSpPr>
          <p:nvPr>
            <p:ph type="title"/>
          </p:nvPr>
        </p:nvSpPr>
        <p:spPr>
          <a:xfrm>
            <a:off x="608400" y="264230"/>
            <a:ext cx="10969200" cy="705600"/>
          </a:xfrm>
        </p:spPr>
        <p:txBody>
          <a:bodyPr/>
          <a:lstStyle/>
          <a:p>
            <a:r>
              <a:rPr lang="en-US" altLang="zh-CN" sz="2900"/>
              <a:t>1.1.1 </a:t>
            </a:r>
            <a:r>
              <a:rPr lang="zh-CN" altLang="en-US" sz="2900"/>
              <a:t>集合与实数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01745" y="969700"/>
                <a:ext cx="10969200" cy="4759200"/>
              </a:xfrm>
            </p:spPr>
            <p:txBody>
              <a:bodyPr/>
              <a:lstStyle/>
              <a:p>
                <a:pPr>
                  <a:lnSpc>
                    <a:spcPct val="100000"/>
                  </a:lnSpc>
                </a:pPr>
                <a:r>
                  <a:rPr lang="zh-CN" altLang="en-US" sz="2000">
                    <a:solidFill>
                      <a:schemeClr val="tx1">
                        <a:lumMod val="95000"/>
                        <a:lumOff val="5000"/>
                      </a:schemeClr>
                    </a:solidFill>
                    <a:latin typeface="+mn-ea"/>
                    <a:ea typeface="+mn-ea"/>
                    <a:cs typeface="+mn-ea"/>
                  </a:rPr>
                  <a:t>集合（集）：具有某种特定性质的对象的总体</a:t>
                </a:r>
              </a:p>
              <a:p>
                <a:pPr>
                  <a:lnSpc>
                    <a:spcPct val="100000"/>
                  </a:lnSpc>
                </a:pPr>
                <a:r>
                  <a:rPr lang="zh-CN" altLang="en-US" sz="2000">
                    <a:solidFill>
                      <a:schemeClr val="tx1">
                        <a:lumMod val="95000"/>
                        <a:lumOff val="5000"/>
                      </a:schemeClr>
                    </a:solidFill>
                    <a:latin typeface="+mn-ea"/>
                    <a:ea typeface="+mn-ea"/>
                    <a:cs typeface="+mn-ea"/>
                  </a:rPr>
                  <a:t>元素：构成集合的每个对象</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通常，大写字母表示集合，小写字母表示集合的元素，（</a:t>
                </a:r>
                <a:r>
                  <a:rPr sz="2000">
                    <a:solidFill>
                      <a:schemeClr val="tx1">
                        <a:lumMod val="95000"/>
                        <a:lumOff val="5000"/>
                      </a:schemeClr>
                    </a:solidFill>
                    <a:latin typeface="+mn-ea"/>
                    <a:ea typeface="+mn-ea"/>
                    <a:cs typeface="+mn-ea"/>
                  </a:rPr>
                  <a:t>若a 属于集合 A，记作a∈A；</a:t>
                </a:r>
                <a:r>
                  <a:rPr lang="zh-CN" altLang="en-US" sz="2000">
                    <a:solidFill>
                      <a:schemeClr val="tx1">
                        <a:lumMod val="95000"/>
                        <a:lumOff val="5000"/>
                      </a:schemeClr>
                    </a:solidFill>
                    <a:latin typeface="+mn-ea"/>
                    <a:ea typeface="+mn-ea"/>
                    <a:cs typeface="+mn-ea"/>
                  </a:rPr>
                  <a:t>若 b 不属于集合 A，记作 b∉A）</a:t>
                </a:r>
              </a:p>
              <a:p>
                <a:pPr>
                  <a:lnSpc>
                    <a:spcPct val="100000"/>
                  </a:lnSpc>
                </a:pPr>
                <a:r>
                  <a:rPr lang="zh-CN" altLang="en-US" sz="2000">
                    <a:solidFill>
                      <a:schemeClr val="tx1">
                        <a:lumMod val="95000"/>
                        <a:lumOff val="5000"/>
                      </a:schemeClr>
                    </a:solidFill>
                    <a:latin typeface="+mn-ea"/>
                    <a:ea typeface="+mn-ea"/>
                    <a:cs typeface="+mn-ea"/>
                  </a:rPr>
                  <a:t>常见数集的记法：</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自然数集：N</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正整数集：N*(或</a:t>
                </a:r>
                <a14:m>
                  <m:oMath xmlns:m="http://schemas.openxmlformats.org/officeDocument/2006/math">
                    <m:sSub>
                      <m:sSubPr>
                        <m:ctrlPr>
                          <a:rPr lang="en-US" altLang="zh-CN" sz="2000" i="1">
                            <a:solidFill>
                              <a:schemeClr val="tx1">
                                <a:lumMod val="95000"/>
                                <a:lumOff val="5000"/>
                              </a:schemeClr>
                            </a:solidFill>
                            <a:latin typeface="Cambria Math" panose="02040503050406030204" pitchFamily="18" charset="0"/>
                            <a:ea typeface="+mn-ea"/>
                            <a:cs typeface="Cambria Math" panose="02040503050406030204" charset="0"/>
                          </a:rPr>
                        </m:ctrlPr>
                      </m:sSubPr>
                      <m:e>
                        <m:r>
                          <a:rPr lang="en-US" altLang="zh-CN" sz="2000" i="1">
                            <a:solidFill>
                              <a:schemeClr val="tx1">
                                <a:lumMod val="95000"/>
                                <a:lumOff val="5000"/>
                              </a:schemeClr>
                            </a:solidFill>
                            <a:latin typeface="Cambria Math" panose="02040503050406030204" charset="0"/>
                            <a:ea typeface="+mn-ea"/>
                            <a:cs typeface="Cambria Math" panose="02040503050406030204" charset="0"/>
                          </a:rPr>
                          <m:t>𝑁</m:t>
                        </m:r>
                      </m:e>
                      <m:sub>
                        <m:r>
                          <a:rPr lang="en-US" altLang="zh-CN" sz="2000" i="1">
                            <a:solidFill>
                              <a:schemeClr val="tx1">
                                <a:lumMod val="95000"/>
                                <a:lumOff val="5000"/>
                              </a:schemeClr>
                            </a:solidFill>
                            <a:latin typeface="Cambria Math" panose="02040503050406030204" charset="0"/>
                            <a:ea typeface="+mn-ea"/>
                            <a:cs typeface="Cambria Math" panose="02040503050406030204" charset="0"/>
                          </a:rPr>
                          <m:t>+</m:t>
                        </m:r>
                      </m:sub>
                    </m:sSub>
                  </m:oMath>
                </a14:m>
                <a:r>
                  <a:rPr lang="zh-CN" altLang="en-US" sz="2000">
                    <a:solidFill>
                      <a:schemeClr val="tx1">
                        <a:lumMod val="95000"/>
                        <a:lumOff val="5000"/>
                      </a:schemeClr>
                    </a:solidFill>
                    <a:latin typeface="+mn-ea"/>
                    <a:ea typeface="+mn-ea"/>
                    <a:cs typeface="+mn-ea"/>
                  </a:rPr>
                  <a:t>)</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整数集：Z</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有理数集：Q</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实数集：R</a:t>
                </a:r>
              </a:p>
              <a:p>
                <a:pPr>
                  <a:lnSpc>
                    <a:spcPct val="100000"/>
                  </a:lnSpc>
                  <a:buFont typeface="Wingdings" panose="05000000000000000000" charset="0"/>
                  <a:buChar char="Ø"/>
                </a:pPr>
                <a:r>
                  <a:rPr lang="zh-CN" altLang="en-US" sz="2000">
                    <a:solidFill>
                      <a:schemeClr val="tx1">
                        <a:lumMod val="95000"/>
                        <a:lumOff val="5000"/>
                      </a:schemeClr>
                    </a:solidFill>
                    <a:latin typeface="+mn-ea"/>
                    <a:ea typeface="+mn-ea"/>
                    <a:cs typeface="+mn-ea"/>
                  </a:rPr>
                  <a:t>空集（不含任何元素的集合）：∅</a:t>
                </a:r>
                <a:endParaRPr sz="2000" i="1" u="sng">
                  <a:solidFill>
                    <a:schemeClr val="tx1">
                      <a:lumMod val="95000"/>
                      <a:lumOff val="5000"/>
                    </a:schemeClr>
                  </a:solidFill>
                  <a:latin typeface="+mn-ea"/>
                  <a:ea typeface="+mn-ea"/>
                  <a:cs typeface="+mn-ea"/>
                </a:endParaRPr>
              </a:p>
              <a:p>
                <a:pPr>
                  <a:lnSpc>
                    <a:spcPct val="100000"/>
                  </a:lnSpc>
                </a:pPr>
                <a14:m>
                  <m:oMath xmlns:m="http://schemas.openxmlformats.org/officeDocument/2006/math">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oMath>
                </a14:m>
                <a:r>
                  <a:rPr sz="2000">
                    <a:solidFill>
                      <a:schemeClr val="tx1">
                        <a:lumMod val="95000"/>
                        <a:lumOff val="5000"/>
                      </a:schemeClr>
                    </a:solidFill>
                    <a:latin typeface="+mn-ea"/>
                    <a:ea typeface="+mn-ea"/>
                    <a:cs typeface="+mn-ea"/>
                  </a:rPr>
                  <a:t> ：所有、一切、每一个（如</a:t>
                </a:r>
                <a14:m>
                  <m:oMath xmlns:m="http://schemas.openxmlformats.org/officeDocument/2006/math">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r>
                      <a:rPr lang="en-US" sz="2000" i="1">
                        <a:solidFill>
                          <a:schemeClr val="tx1">
                            <a:lumMod val="95000"/>
                            <a:lumOff val="5000"/>
                          </a:schemeClr>
                        </a:solidFill>
                        <a:latin typeface="Cambria Math" panose="02040503050406030204" charset="0"/>
                        <a:ea typeface="+mn-ea"/>
                        <a:cs typeface="Cambria Math" panose="02040503050406030204" charset="0"/>
                      </a:rPr>
                      <m:t>𝑥</m:t>
                    </m:r>
                    <m:r>
                      <a:rPr lang="en-US" sz="2000" i="1">
                        <a:solidFill>
                          <a:schemeClr val="tx1">
                            <a:lumMod val="95000"/>
                            <a:lumOff val="5000"/>
                          </a:schemeClr>
                        </a:solidFill>
                        <a:latin typeface="Cambria Math" panose="02040503050406030204" charset="0"/>
                        <a:ea typeface="MS Mincho" charset="0"/>
                        <a:cs typeface="Cambria Math" panose="02040503050406030204" charset="0"/>
                      </a:rPr>
                      <m:t>≥0:|</m:t>
                    </m:r>
                    <m:r>
                      <a:rPr lang="en-US" sz="2000" i="1">
                        <a:solidFill>
                          <a:schemeClr val="tx1">
                            <a:lumMod val="95000"/>
                            <a:lumOff val="5000"/>
                          </a:schemeClr>
                        </a:solidFill>
                        <a:latin typeface="Cambria Math" panose="02040503050406030204" charset="0"/>
                        <a:ea typeface="+mn-ea"/>
                        <a:cs typeface="Cambria Math" panose="02040503050406030204" charset="0"/>
                      </a:rPr>
                      <m:t>𝑥</m:t>
                    </m:r>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r>
                      <a:rPr lang="en-US" sz="2000" i="1">
                        <a:solidFill>
                          <a:schemeClr val="tx1">
                            <a:lumMod val="95000"/>
                            <a:lumOff val="5000"/>
                          </a:schemeClr>
                        </a:solidFill>
                        <a:latin typeface="Cambria Math" panose="02040503050406030204" charset="0"/>
                        <a:ea typeface="+mn-ea"/>
                        <a:cs typeface="Cambria Math" panose="02040503050406030204" charset="0"/>
                      </a:rPr>
                      <m:t>𝑥</m:t>
                    </m:r>
                  </m:oMath>
                </a14:m>
                <a:r>
                  <a:rPr sz="2000">
                    <a:solidFill>
                      <a:schemeClr val="tx1">
                        <a:lumMod val="95000"/>
                        <a:lumOff val="5000"/>
                      </a:schemeClr>
                    </a:solidFill>
                    <a:latin typeface="+mn-ea"/>
                    <a:ea typeface="+mn-ea"/>
                    <a:cs typeface="+mn-ea"/>
                  </a:rPr>
                  <a:t>）</a:t>
                </a:r>
              </a:p>
              <a:p>
                <a:pPr>
                  <a:lnSpc>
                    <a:spcPct val="100000"/>
                  </a:lnSpc>
                </a:pPr>
                <a14:m>
                  <m:oMath xmlns:m="http://schemas.openxmlformats.org/officeDocument/2006/math">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oMath>
                </a14:m>
                <a:r>
                  <a:rPr sz="2000">
                    <a:solidFill>
                      <a:schemeClr val="tx1">
                        <a:lumMod val="95000"/>
                        <a:lumOff val="5000"/>
                      </a:schemeClr>
                    </a:solidFill>
                    <a:latin typeface="+mn-ea"/>
                    <a:ea typeface="+mn-ea"/>
                    <a:cs typeface="+mn-ea"/>
                    <a:sym typeface="+mn-ea"/>
                  </a:rPr>
                  <a:t>存在、至少有（如</a:t>
                </a:r>
                <a14:m>
                  <m:oMath xmlns:m="http://schemas.openxmlformats.org/officeDocument/2006/math">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r>
                      <a:rPr lang="en-US" sz="2000" i="1">
                        <a:solidFill>
                          <a:schemeClr val="tx1">
                            <a:lumMod val="95000"/>
                            <a:lumOff val="5000"/>
                          </a:schemeClr>
                        </a:solidFill>
                        <a:latin typeface="Cambria Math" panose="02040503050406030204" charset="0"/>
                        <a:ea typeface="+mn-ea"/>
                        <a:cs typeface="Cambria Math" panose="02040503050406030204" charset="0"/>
                      </a:rPr>
                      <m:t>𝑥</m:t>
                    </m:r>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r>
                      <a:rPr lang="en-US" sz="2000" i="1">
                        <a:solidFill>
                          <a:schemeClr val="tx1">
                            <a:lumMod val="95000"/>
                            <a:lumOff val="5000"/>
                          </a:schemeClr>
                        </a:solidFill>
                        <a:latin typeface="Cambria Math" panose="02040503050406030204" charset="0"/>
                        <a:ea typeface="+mn-ea"/>
                        <a:cs typeface="Cambria Math" panose="02040503050406030204" charset="0"/>
                      </a:rPr>
                      <m:t>𝑅</m:t>
                    </m:r>
                    <m:r>
                      <a:rPr lang="en-US" sz="2000" i="1">
                        <a:solidFill>
                          <a:schemeClr val="tx1">
                            <a:lumMod val="95000"/>
                            <a:lumOff val="5000"/>
                          </a:schemeClr>
                        </a:solidFill>
                        <a:latin typeface="Cambria Math" panose="02040503050406030204" charset="0"/>
                        <a:ea typeface="MS Mincho" charset="0"/>
                        <a:cs typeface="Cambria Math" panose="02040503050406030204" charset="0"/>
                      </a:rPr>
                      <m:t>:</m:t>
                    </m:r>
                    <m:sSup>
                      <m:sSupPr>
                        <m:ctrlPr>
                          <a:rPr lang="en-US" sz="2000" i="1">
                            <a:solidFill>
                              <a:schemeClr val="tx1">
                                <a:lumMod val="95000"/>
                                <a:lumOff val="5000"/>
                              </a:schemeClr>
                            </a:solidFill>
                            <a:latin typeface="Cambria Math" panose="02040503050406030204" pitchFamily="18" charset="0"/>
                            <a:ea typeface="+mn-ea"/>
                            <a:cs typeface="Cambria Math" panose="02040503050406030204" charset="0"/>
                          </a:rPr>
                        </m:ctrlPr>
                      </m:sSupPr>
                      <m:e>
                        <m:r>
                          <a:rPr lang="en-US" sz="2000" i="1">
                            <a:solidFill>
                              <a:schemeClr val="tx1">
                                <a:lumMod val="95000"/>
                                <a:lumOff val="5000"/>
                              </a:schemeClr>
                            </a:solidFill>
                            <a:latin typeface="Cambria Math" panose="02040503050406030204" charset="0"/>
                            <a:ea typeface="+mn-ea"/>
                            <a:cs typeface="Cambria Math" panose="02040503050406030204" charset="0"/>
                          </a:rPr>
                          <m:t>𝑥</m:t>
                        </m:r>
                      </m:e>
                      <m:sup>
                        <m:r>
                          <a:rPr lang="en-US" sz="2000" i="1">
                            <a:solidFill>
                              <a:schemeClr val="tx1">
                                <a:lumMod val="95000"/>
                                <a:lumOff val="5000"/>
                              </a:schemeClr>
                            </a:solidFill>
                            <a:latin typeface="Cambria Math" panose="02040503050406030204" charset="0"/>
                            <a:ea typeface="MS Mincho" charset="0"/>
                            <a:cs typeface="Cambria Math" panose="02040503050406030204" charset="0"/>
                          </a:rPr>
                          <m:t>3</m:t>
                        </m:r>
                      </m:sup>
                    </m:sSup>
                    <m:r>
                      <a:rPr lang="en-US" sz="2000" i="1">
                        <a:solidFill>
                          <a:schemeClr val="tx1">
                            <a:lumMod val="95000"/>
                            <a:lumOff val="5000"/>
                          </a:schemeClr>
                        </a:solidFill>
                        <a:latin typeface="Cambria Math" panose="02040503050406030204" charset="0"/>
                        <a:ea typeface="MS Mincho" charset="0"/>
                        <a:cs typeface="Cambria Math" panose="02040503050406030204" charset="0"/>
                      </a:rPr>
                      <m:t>+3</m:t>
                    </m:r>
                    <m:r>
                      <a:rPr lang="en-US" sz="2000" i="1">
                        <a:solidFill>
                          <a:schemeClr val="tx1">
                            <a:lumMod val="95000"/>
                            <a:lumOff val="5000"/>
                          </a:schemeClr>
                        </a:solidFill>
                        <a:latin typeface="Cambria Math" panose="02040503050406030204" charset="0"/>
                        <a:ea typeface="+mn-ea"/>
                        <a:cs typeface="Cambria Math" panose="02040503050406030204" charset="0"/>
                      </a:rPr>
                      <m:t>𝑥</m:t>
                    </m:r>
                    <m:r>
                      <a:rPr lang="en-US" sz="2000" i="1">
                        <a:solidFill>
                          <a:schemeClr val="tx1">
                            <a:lumMod val="95000"/>
                            <a:lumOff val="5000"/>
                          </a:schemeClr>
                        </a:solidFill>
                        <a:latin typeface="Cambria Math" panose="02040503050406030204" charset="0"/>
                        <a:ea typeface="MS Mincho" charset="0"/>
                        <a:cs typeface="Cambria Math" panose="02040503050406030204" charset="0"/>
                      </a:rPr>
                      <m:t>+1=0</m:t>
                    </m:r>
                  </m:oMath>
                </a14:m>
                <a:r>
                  <a:rPr sz="2000">
                    <a:solidFill>
                      <a:schemeClr val="tx1">
                        <a:lumMod val="95000"/>
                        <a:lumOff val="5000"/>
                      </a:schemeClr>
                    </a:solidFill>
                    <a:latin typeface="+mn-ea"/>
                    <a:ea typeface="+mn-ea"/>
                    <a:cs typeface="+mn-ea"/>
                    <a:sym typeface="+mn-ea"/>
                  </a:rPr>
                  <a:t>）</a:t>
                </a:r>
                <a:endParaRPr lang="en-US" altLang="zh-CN" sz="2000">
                  <a:solidFill>
                    <a:schemeClr val="tx1">
                      <a:lumMod val="95000"/>
                      <a:lumOff val="5000"/>
                    </a:schemeClr>
                  </a:solidFill>
                  <a:latin typeface="+mn-ea"/>
                  <a:ea typeface="+mn-ea"/>
                  <a:cs typeface="+mn-ea"/>
                  <a:sym typeface="+mn-ea"/>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701745" y="969700"/>
                <a:ext cx="10969200" cy="4759200"/>
              </a:xfrm>
              <a:blipFill rotWithShape="1">
                <a:blip r:embed="rId4"/>
                <a:stretch>
                  <a:fillRect l="-1" t="-1" r="3" b="-13864"/>
                </a:stretch>
              </a:blipFill>
            </p:spPr>
            <p:txBody>
              <a:bodyPr/>
              <a:lstStyle/>
              <a:p>
                <a:r>
                  <a:rPr lang="zh-CN" altLang="en-US">
                    <a:noFill/>
                  </a:rPr>
                  <a:t> </a:t>
                </a:r>
              </a:p>
            </p:txBody>
          </p:sp>
        </mc:Fallback>
      </mc:AlternateContent>
      <p:pic>
        <p:nvPicPr>
          <p:cNvPr id="6" name="图片 5" descr="f88bd7262cddcae7b8c11504539b3fa"/>
          <p:cNvPicPr>
            <a:picLocks noChangeAspect="1"/>
          </p:cNvPicPr>
          <p:nvPr/>
        </p:nvPicPr>
        <p:blipFill>
          <a:blip r:embed="rId5"/>
          <a:stretch>
            <a:fillRect/>
          </a:stretch>
        </p:blipFill>
        <p:spPr>
          <a:xfrm>
            <a:off x="7615555" y="2313940"/>
            <a:ext cx="4055110" cy="2396490"/>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379165"/>
            <a:ext cx="10969200" cy="705600"/>
          </a:xfrm>
        </p:spPr>
        <p:txBody>
          <a:bodyPr/>
          <a:lstStyle/>
          <a:p>
            <a:r>
              <a:rPr lang="en-US" altLang="zh-CN" sz="2900"/>
              <a:t>1.1.2 </a:t>
            </a:r>
            <a:r>
              <a:rPr sz="2900"/>
              <a:t>变量与函数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69925" y="952500"/>
                <a:ext cx="11125835" cy="5388610"/>
              </a:xfrm>
            </p:spPr>
            <p:txBody>
              <a:bodyPr/>
              <a:lstStyle/>
              <a:p>
                <a:pPr>
                  <a:lnSpc>
                    <a:spcPct val="100000"/>
                  </a:lnSpc>
                </a:pPr>
                <a:r>
                  <a:rPr lang="zh-CN" altLang="en-US" sz="2000">
                    <a:latin typeface="+mn-ea"/>
                    <a:ea typeface="+mn-ea"/>
                    <a:cs typeface="+mn-ea"/>
                  </a:rPr>
                  <a:t>变量：过程中发生改变的量</a:t>
                </a:r>
              </a:p>
              <a:p>
                <a:pPr>
                  <a:lnSpc>
                    <a:spcPct val="100000"/>
                  </a:lnSpc>
                </a:pPr>
                <a:r>
                  <a:rPr lang="zh-CN" altLang="en-US" sz="2000">
                    <a:latin typeface="+mn-ea"/>
                    <a:ea typeface="+mn-ea"/>
                    <a:cs typeface="+mn-ea"/>
                  </a:rPr>
                  <a:t>常量：</a:t>
                </a:r>
                <a:r>
                  <a:rPr sz="2000">
                    <a:latin typeface="+mn-ea"/>
                    <a:ea typeface="+mn-ea"/>
                    <a:cs typeface="+mn-ea"/>
                    <a:sym typeface="+mn-ea"/>
                  </a:rPr>
                  <a:t>过程中不发生改变的量</a:t>
                </a:r>
              </a:p>
              <a:p>
                <a:pPr>
                  <a:lnSpc>
                    <a:spcPct val="100000"/>
                  </a:lnSpc>
                </a:pPr>
                <a:r>
                  <a:rPr sz="2000">
                    <a:solidFill>
                      <a:srgbClr val="00B0F0"/>
                    </a:solidFill>
                    <a:latin typeface="+mn-ea"/>
                    <a:ea typeface="+mn-ea"/>
                    <a:cs typeface="+mn-ea"/>
                    <a:sym typeface="+mn-ea"/>
                  </a:rPr>
                  <a:t>取整函数</a:t>
                </a:r>
                <a:r>
                  <a:rPr lang="en-US" altLang="zh-CN" sz="2000">
                    <a:latin typeface="+mn-ea"/>
                    <a:ea typeface="+mn-ea"/>
                    <a:cs typeface="+mn-ea"/>
                    <a:sym typeface="+mn-ea"/>
                  </a:rPr>
                  <a:t>[x]</a:t>
                </a:r>
                <a:r>
                  <a:rPr sz="2000">
                    <a:latin typeface="+mn-ea"/>
                    <a:ea typeface="+mn-ea"/>
                    <a:cs typeface="+mn-ea"/>
                    <a:sym typeface="+mn-ea"/>
                  </a:rPr>
                  <a:t>：</a:t>
                </a:r>
                <a:r>
                  <a:rPr lang="en-US" altLang="zh-CN" sz="2000">
                    <a:latin typeface="+mn-ea"/>
                    <a:ea typeface="+mn-ea"/>
                    <a:cs typeface="+mn-ea"/>
                    <a:sym typeface="+mn-ea"/>
                  </a:rPr>
                  <a:t>[x]≤x</a:t>
                </a:r>
                <a:r>
                  <a:rPr sz="2000">
                    <a:latin typeface="+mn-ea"/>
                    <a:ea typeface="+mn-ea"/>
                    <a:cs typeface="+mn-ea"/>
                    <a:sym typeface="+mn-ea"/>
                  </a:rPr>
                  <a:t>（如</a:t>
                </a:r>
                <a:r>
                  <a:rPr lang="en-US" altLang="zh-CN" sz="2000">
                    <a:latin typeface="+mn-ea"/>
                    <a:ea typeface="+mn-ea"/>
                    <a:cs typeface="+mn-ea"/>
                    <a:sym typeface="+mn-ea"/>
                  </a:rPr>
                  <a:t>[-π]=-4</a:t>
                </a:r>
                <a:r>
                  <a:rPr sz="2000">
                    <a:latin typeface="+mn-ea"/>
                    <a:ea typeface="+mn-ea"/>
                    <a:cs typeface="+mn-ea"/>
                    <a:sym typeface="+mn-ea"/>
                  </a:rPr>
                  <a:t>）</a:t>
                </a:r>
              </a:p>
              <a:p>
                <a:pPr>
                  <a:lnSpc>
                    <a:spcPct val="100000"/>
                  </a:lnSpc>
                </a:pPr>
                <a:r>
                  <a:rPr lang="zh-CN" altLang="en-US" sz="2000">
                    <a:latin typeface="+mn-ea"/>
                    <a:ea typeface="+mn-ea"/>
                    <a:cs typeface="+mn-ea"/>
                  </a:rPr>
                  <a:t>奇函数：</a:t>
                </a:r>
                <a14:m>
                  <m:oMath xmlns:m="http://schemas.openxmlformats.org/officeDocument/2006/math">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oMath>
                </a14:m>
                <a:endParaRPr lang="zh-CN" altLang="en-US" sz="2000">
                  <a:latin typeface="+mn-ea"/>
                  <a:ea typeface="+mn-ea"/>
                  <a:cs typeface="+mn-ea"/>
                </a:endParaRPr>
              </a:p>
              <a:p>
                <a:pPr>
                  <a:lnSpc>
                    <a:spcPct val="100000"/>
                  </a:lnSpc>
                </a:pPr>
                <a:r>
                  <a:rPr lang="zh-CN" altLang="en-US" sz="2000">
                    <a:latin typeface="+mn-ea"/>
                    <a:ea typeface="+mn-ea"/>
                    <a:cs typeface="+mn-ea"/>
                  </a:rPr>
                  <a:t>偶函数：</a:t>
                </a:r>
                <a14:m>
                  <m:oMath xmlns:m="http://schemas.openxmlformats.org/officeDocument/2006/math">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oMath>
                </a14:m>
                <a:endParaRPr lang="en-US" altLang="zh-CN" sz="2000" i="1">
                  <a:latin typeface="+mn-ea"/>
                  <a:ea typeface="+mn-ea"/>
                  <a:cs typeface="+mn-ea"/>
                </a:endParaRPr>
              </a:p>
              <a:p>
                <a:pPr>
                  <a:lnSpc>
                    <a:spcPct val="100000"/>
                  </a:lnSpc>
                </a:pPr>
                <a:r>
                  <a:rPr sz="2000">
                    <a:latin typeface="+mn-ea"/>
                    <a:ea typeface="+mn-ea"/>
                    <a:cs typeface="+mn-ea"/>
                    <a:sym typeface="+mn-ea"/>
                  </a:rPr>
                  <a:t>若</a:t>
                </a:r>
                <a14:m>
                  <m:oMath xmlns:m="http://schemas.openxmlformats.org/officeDocument/2006/math">
                    <m:r>
                      <a:rPr lang="en-US" altLang="zh-CN" sz="2000" i="1">
                        <a:latin typeface="Cambria Math" panose="02040503050406030204" charset="0"/>
                        <a:ea typeface="MS Mincho" charset="0"/>
                        <a:cs typeface="Cambria Math" panose="02040503050406030204" charset="0"/>
                      </a:rPr>
                      <m:t>∀</m:t>
                    </m:r>
                    <m:r>
                      <m:rPr>
                        <m:sty m:val="p"/>
                      </m:rPr>
                      <a:rPr lang="en-US" altLang="zh-CN" sz="2000" i="1">
                        <a:latin typeface="Cambria Math" panose="02040503050406030204" charset="0"/>
                        <a:ea typeface="+mn-ea"/>
                        <a:cs typeface="Cambria Math" panose="02040503050406030204" charset="0"/>
                      </a:rPr>
                      <m:t>x</m:t>
                    </m:r>
                    <m:r>
                      <a:rPr lang="en-US" altLang="zh-CN" sz="2000" i="1">
                        <a:latin typeface="Cambria Math" panose="02040503050406030204" charset="0"/>
                        <a:ea typeface="MS Mincho" charset="0"/>
                        <a:cs typeface="Cambria Math" panose="02040503050406030204" charset="0"/>
                      </a:rPr>
                      <m:t>，</m:t>
                    </m:r>
                    <m:r>
                      <m:rPr>
                        <m:sty m:val="p"/>
                      </m:rPr>
                      <a:rPr lang="en-US" altLang="zh-CN" sz="2000" i="1">
                        <a:latin typeface="Cambria Math" panose="02040503050406030204" charset="0"/>
                        <a:ea typeface="+mn-ea"/>
                        <a:cs typeface="Cambria Math" panose="02040503050406030204" charset="0"/>
                      </a:rPr>
                      <m:t>y</m:t>
                    </m:r>
                    <m:r>
                      <a:rPr lang="en-US" sz="2000">
                        <a:latin typeface="Cambria Math" panose="02040503050406030204" charset="0"/>
                        <a:ea typeface="MS Mincho" charset="0"/>
                        <a:cs typeface="Cambria Math" panose="02040503050406030204" charset="0"/>
                      </a:rPr>
                      <m:t>∈</m:t>
                    </m:r>
                    <m:r>
                      <m:rPr>
                        <m:sty m:val="p"/>
                      </m:rPr>
                      <a:rPr lang="en-US" sz="2000">
                        <a:latin typeface="Cambria Math" panose="02040503050406030204" charset="0"/>
                        <a:ea typeface="+mn-ea"/>
                        <a:cs typeface="Cambria Math" panose="02040503050406030204" charset="0"/>
                      </a:rPr>
                      <m:t>I</m:t>
                    </m:r>
                  </m:oMath>
                </a14:m>
                <a:r>
                  <a:rPr lang="en-US" altLang="zh-CN" sz="2000">
                    <a:latin typeface="+mn-ea"/>
                    <a:ea typeface="+mn-ea"/>
                    <a:cs typeface="+mn-ea"/>
                    <a:sym typeface="+mn-ea"/>
                  </a:rPr>
                  <a:t>,当</a:t>
                </a:r>
                <a14:m>
                  <m:oMath xmlns:m="http://schemas.openxmlformats.org/officeDocument/2006/math">
                    <m:r>
                      <a:rPr lang="en-US" altLang="zh-CN" sz="2000">
                        <a:latin typeface="Cambria Math" panose="02040503050406030204" charset="0"/>
                        <a:ea typeface="+mn-ea"/>
                        <a:cs typeface="Cambria Math" panose="02040503050406030204" charset="0"/>
                        <a:sym typeface="+mn-ea"/>
                      </a:rPr>
                      <m:t>𝑥</m:t>
                    </m:r>
                    <m:r>
                      <a:rPr lang="en-US" altLang="zh-CN" sz="2000">
                        <a:latin typeface="Cambria Math" panose="02040503050406030204" charset="0"/>
                        <a:ea typeface="MS Mincho" charset="0"/>
                        <a:cs typeface="Cambria Math" panose="02040503050406030204" charset="0"/>
                        <a:sym typeface="+mn-ea"/>
                      </a:rPr>
                      <m:t>&lt;</m:t>
                    </m:r>
                    <m:r>
                      <m:rPr>
                        <m:sty m:val="p"/>
                      </m:rPr>
                      <a:rPr lang="en-US" altLang="zh-CN" sz="2000" i="1">
                        <a:latin typeface="Cambria Math" panose="02040503050406030204" charset="0"/>
                        <a:ea typeface="+mn-ea"/>
                        <a:cs typeface="Cambria Math" panose="02040503050406030204" charset="0"/>
                      </a:rPr>
                      <m:t>y</m:t>
                    </m:r>
                  </m:oMath>
                </a14:m>
                <a:r>
                  <a:rPr lang="en-US" altLang="zh-CN" sz="2000">
                    <a:latin typeface="+mn-ea"/>
                    <a:ea typeface="+mn-ea"/>
                    <a:cs typeface="+mn-ea"/>
                    <a:sym typeface="+mn-ea"/>
                  </a:rPr>
                  <a:t>时恒有</a:t>
                </a:r>
                <a14:m>
                  <m:oMath xmlns:m="http://schemas.openxmlformats.org/officeDocument/2006/math">
                    <m:r>
                      <a:rPr lang="en-US" altLang="zh-CN" sz="2000">
                        <a:latin typeface="Cambria Math" panose="02040503050406030204" charset="0"/>
                        <a:ea typeface="+mn-ea"/>
                        <a:cs typeface="Cambria Math" panose="02040503050406030204" charset="0"/>
                        <a:sym typeface="+mn-ea"/>
                      </a:rPr>
                      <m:t>𝑓</m:t>
                    </m:r>
                    <m:r>
                      <a:rPr lang="en-US" altLang="zh-CN" sz="2000">
                        <a:latin typeface="Cambria Math" panose="02040503050406030204" charset="0"/>
                        <a:ea typeface="MS Mincho" charset="0"/>
                        <a:cs typeface="Cambria Math" panose="02040503050406030204" charset="0"/>
                        <a:sym typeface="+mn-ea"/>
                      </a:rPr>
                      <m:t>(</m:t>
                    </m:r>
                    <m:r>
                      <a:rPr lang="en-US" altLang="zh-CN" sz="2000">
                        <a:latin typeface="Cambria Math" panose="02040503050406030204" charset="0"/>
                        <a:ea typeface="+mn-ea"/>
                        <a:cs typeface="Cambria Math" panose="02040503050406030204" charset="0"/>
                        <a:sym typeface="+mn-ea"/>
                      </a:rPr>
                      <m:t>𝑥</m:t>
                    </m:r>
                    <m:r>
                      <a:rPr lang="en-US" altLang="zh-CN" sz="2000">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S Mincho" charset="0"/>
                        <a:cs typeface="Cambria Math" panose="02040503050406030204" charset="0"/>
                      </a:rPr>
                      <m:t>≤</m:t>
                    </m:r>
                    <m:r>
                      <a:rPr lang="en-US" altLang="zh-CN" sz="2000">
                        <a:latin typeface="Cambria Math" panose="02040503050406030204" charset="0"/>
                        <a:ea typeface="+mn-ea"/>
                        <a:cs typeface="Cambria Math" panose="02040503050406030204" charset="0"/>
                        <a:sym typeface="+mn-ea"/>
                      </a:rPr>
                      <m:t>𝑓</m:t>
                    </m:r>
                    <m:r>
                      <a:rPr lang="en-US" altLang="zh-CN" sz="2000">
                        <a:latin typeface="Cambria Math" panose="02040503050406030204" charset="0"/>
                        <a:ea typeface="MS Mincho" charset="0"/>
                        <a:cs typeface="Cambria Math" panose="02040503050406030204" charset="0"/>
                        <a:sym typeface="+mn-ea"/>
                      </a:rPr>
                      <m:t>(</m:t>
                    </m:r>
                    <m:r>
                      <a:rPr lang="en-US" altLang="zh-CN" sz="2000">
                        <a:latin typeface="Cambria Math" panose="02040503050406030204" charset="0"/>
                        <a:ea typeface="+mn-ea"/>
                        <a:cs typeface="Cambria Math" panose="02040503050406030204" charset="0"/>
                        <a:sym typeface="+mn-ea"/>
                      </a:rPr>
                      <m:t>𝑦</m:t>
                    </m:r>
                    <m:r>
                      <a:rPr lang="en-US" altLang="zh-CN" sz="2000">
                        <a:latin typeface="Cambria Math" panose="02040503050406030204" charset="0"/>
                        <a:ea typeface="MS Mincho" charset="0"/>
                        <a:cs typeface="Cambria Math" panose="02040503050406030204" charset="0"/>
                        <a:sym typeface="+mn-ea"/>
                      </a:rPr>
                      <m:t>)</m:t>
                    </m:r>
                  </m:oMath>
                </a14:m>
                <a:r>
                  <a:rPr lang="en-US" altLang="zh-CN" sz="2000">
                    <a:latin typeface="+mn-ea"/>
                    <a:ea typeface="+mn-ea"/>
                    <a:cs typeface="+mn-ea"/>
                    <a:sym typeface="+mn-ea"/>
                  </a:rPr>
                  <a:t>,</a:t>
                </a:r>
                <a:r>
                  <a:rPr sz="2000">
                    <a:latin typeface="+mn-ea"/>
                    <a:ea typeface="+mn-ea"/>
                    <a:cs typeface="+mn-ea"/>
                    <a:sym typeface="+mn-ea"/>
                  </a:rPr>
                  <a:t>（</a:t>
                </a:r>
                <a:r>
                  <a:rPr lang="en-US" altLang="zh-CN" sz="2000">
                    <a:latin typeface="+mn-ea"/>
                    <a:ea typeface="+mn-ea"/>
                    <a:cs typeface="+mn-ea"/>
                    <a:sym typeface="+mn-ea"/>
                  </a:rPr>
                  <a:t>或恒有</a:t>
                </a:r>
                <a14:m>
                  <m:oMath xmlns:m="http://schemas.openxmlformats.org/officeDocument/2006/math">
                    <m:r>
                      <a:rPr lang="en-US" altLang="zh-CN" sz="2000">
                        <a:latin typeface="Cambria Math" panose="02040503050406030204" charset="0"/>
                        <a:ea typeface="+mn-ea"/>
                        <a:cs typeface="Cambria Math" panose="02040503050406030204" charset="0"/>
                        <a:sym typeface="+mn-ea"/>
                      </a:rPr>
                      <m:t>𝑓</m:t>
                    </m:r>
                    <m:r>
                      <a:rPr lang="en-US" altLang="zh-CN" sz="2000">
                        <a:latin typeface="Cambria Math" panose="02040503050406030204" charset="0"/>
                        <a:ea typeface="MS Mincho" charset="0"/>
                        <a:cs typeface="Cambria Math" panose="02040503050406030204" charset="0"/>
                        <a:sym typeface="+mn-ea"/>
                      </a:rPr>
                      <m:t>(</m:t>
                    </m:r>
                    <m:r>
                      <a:rPr lang="en-US" altLang="zh-CN" sz="2000">
                        <a:latin typeface="Cambria Math" panose="02040503050406030204" charset="0"/>
                        <a:ea typeface="+mn-ea"/>
                        <a:cs typeface="Cambria Math" panose="02040503050406030204" charset="0"/>
                        <a:sym typeface="+mn-ea"/>
                      </a:rPr>
                      <m:t>𝑥</m:t>
                    </m:r>
                    <m:r>
                      <a:rPr lang="en-US" altLang="zh-CN" sz="2000">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S Mincho" charset="0"/>
                        <a:cs typeface="Cambria Math" panose="02040503050406030204" charset="0"/>
                        <a:sym typeface="+mn-ea"/>
                      </a:rPr>
                      <m:t>≥</m:t>
                    </m:r>
                    <m:r>
                      <a:rPr lang="en-US" altLang="zh-CN" sz="2000">
                        <a:latin typeface="Cambria Math" panose="02040503050406030204" charset="0"/>
                        <a:ea typeface="+mn-ea"/>
                        <a:cs typeface="Cambria Math" panose="02040503050406030204" charset="0"/>
                        <a:sym typeface="+mn-ea"/>
                      </a:rPr>
                      <m:t>𝑓</m:t>
                    </m:r>
                    <m:r>
                      <a:rPr lang="en-US" altLang="zh-CN" sz="2000">
                        <a:latin typeface="Cambria Math" panose="02040503050406030204" charset="0"/>
                        <a:ea typeface="MS Mincho" charset="0"/>
                        <a:cs typeface="Cambria Math" panose="02040503050406030204" charset="0"/>
                        <a:sym typeface="+mn-ea"/>
                      </a:rPr>
                      <m:t>(</m:t>
                    </m:r>
                    <m:r>
                      <a:rPr lang="en-US" altLang="zh-CN" sz="2000">
                        <a:latin typeface="Cambria Math" panose="02040503050406030204" charset="0"/>
                        <a:ea typeface="+mn-ea"/>
                        <a:cs typeface="Cambria Math" panose="02040503050406030204" charset="0"/>
                        <a:sym typeface="+mn-ea"/>
                      </a:rPr>
                      <m:t>𝑦</m:t>
                    </m:r>
                  </m:oMath>
                </a14:m>
                <a:r>
                  <a:rPr sz="2000">
                    <a:latin typeface="+mn-ea"/>
                    <a:ea typeface="+mn-ea"/>
                    <a:cs typeface="+mn-ea"/>
                    <a:sym typeface="+mn-ea"/>
                  </a:rPr>
                  <a:t>）</a:t>
                </a:r>
                <a:r>
                  <a:rPr lang="en-US" altLang="zh-CN" sz="2000">
                    <a:latin typeface="+mn-ea"/>
                    <a:ea typeface="+mn-ea"/>
                    <a:cs typeface="+mn-ea"/>
                    <a:sym typeface="+mn-ea"/>
                  </a:rPr>
                  <a:t>) </a:t>
                </a:r>
                <a:r>
                  <a:rPr sz="2000">
                    <a:latin typeface="+mn-ea"/>
                    <a:ea typeface="+mn-ea"/>
                    <a:cs typeface="+mn-ea"/>
                    <a:sym typeface="+mn-ea"/>
                  </a:rPr>
                  <a:t>，则称</a:t>
                </a:r>
                <a14:m>
                  <m:oMath xmlns:m="http://schemas.openxmlformats.org/officeDocument/2006/math">
                    <m:r>
                      <a:rPr lang="en-US" altLang="zh-CN" sz="2000">
                        <a:latin typeface="Cambria Math" panose="02040503050406030204" charset="0"/>
                        <a:ea typeface="+mn-ea"/>
                        <a:cs typeface="Cambria Math" panose="02040503050406030204" charset="0"/>
                        <a:sym typeface="+mn-ea"/>
                      </a:rPr>
                      <m:t>𝑓</m:t>
                    </m:r>
                    <m:r>
                      <a:rPr lang="en-US" altLang="zh-CN" sz="2000">
                        <a:latin typeface="Cambria Math" panose="02040503050406030204" charset="0"/>
                        <a:ea typeface="MS Mincho" charset="0"/>
                        <a:cs typeface="Cambria Math" panose="02040503050406030204" charset="0"/>
                        <a:sym typeface="+mn-ea"/>
                      </a:rPr>
                      <m:t>(</m:t>
                    </m:r>
                    <m:r>
                      <a:rPr lang="en-US" altLang="zh-CN" sz="2000">
                        <a:latin typeface="Cambria Math" panose="02040503050406030204" charset="0"/>
                        <a:ea typeface="+mn-ea"/>
                        <a:cs typeface="Cambria Math" panose="02040503050406030204" charset="0"/>
                        <a:sym typeface="+mn-ea"/>
                      </a:rPr>
                      <m:t>𝑥</m:t>
                    </m:r>
                    <m:r>
                      <a:rPr lang="en-US" altLang="zh-CN" sz="2000">
                        <a:latin typeface="Cambria Math" panose="02040503050406030204" charset="0"/>
                        <a:ea typeface="MS Mincho" charset="0"/>
                        <a:cs typeface="Cambria Math" panose="02040503050406030204" charset="0"/>
                        <a:sym typeface="+mn-ea"/>
                      </a:rPr>
                      <m:t>)</m:t>
                    </m:r>
                  </m:oMath>
                </a14:m>
                <a:r>
                  <a:rPr sz="2000">
                    <a:latin typeface="+mn-ea"/>
                    <a:ea typeface="+mn-ea"/>
                    <a:cs typeface="+mn-ea"/>
                    <a:sym typeface="+mn-ea"/>
                  </a:rPr>
                  <a:t>为</a:t>
                </a:r>
                <a14:m>
                  <m:oMath xmlns:m="http://schemas.openxmlformats.org/officeDocument/2006/math">
                    <m:r>
                      <m:rPr>
                        <m:sty m:val="p"/>
                      </m:rPr>
                      <a:rPr lang="en-US" sz="2000">
                        <a:latin typeface="Cambria Math" panose="02040503050406030204" charset="0"/>
                        <a:ea typeface="+mn-ea"/>
                        <a:cs typeface="Cambria Math" panose="02040503050406030204" charset="0"/>
                      </a:rPr>
                      <m:t>I</m:t>
                    </m:r>
                  </m:oMath>
                </a14:m>
                <a:r>
                  <a:rPr sz="2000">
                    <a:latin typeface="+mn-ea"/>
                    <a:ea typeface="+mn-ea"/>
                    <a:cs typeface="+mn-ea"/>
                    <a:sym typeface="+mn-ea"/>
                  </a:rPr>
                  <a:t>的</a:t>
                </a:r>
                <a:r>
                  <a:rPr sz="2000" u="sng">
                    <a:solidFill>
                      <a:srgbClr val="00B0F0"/>
                    </a:solidFill>
                    <a:latin typeface="+mn-ea"/>
                    <a:ea typeface="+mn-ea"/>
                    <a:cs typeface="+mn-ea"/>
                    <a:sym typeface="+mn-ea"/>
                  </a:rPr>
                  <a:t>单调增（单调减）函数</a:t>
                </a:r>
                <a:endParaRPr lang="zh-CN" altLang="en-US" sz="2000" u="sng">
                  <a:solidFill>
                    <a:srgbClr val="00B0F0"/>
                  </a:solidFill>
                  <a:latin typeface="+mn-ea"/>
                  <a:ea typeface="+mn-ea"/>
                  <a:cs typeface="+mn-ea"/>
                </a:endParaRPr>
              </a:p>
              <a:p>
                <a:pPr>
                  <a:lnSpc>
                    <a:spcPct val="100000"/>
                  </a:lnSpc>
                </a:pPr>
                <a:r>
                  <a:rPr lang="zh-CN" altLang="en-US" sz="2000">
                    <a:latin typeface="+mn-ea"/>
                    <a:ea typeface="+mn-ea"/>
                    <a:cs typeface="+mn-ea"/>
                  </a:rPr>
                  <a:t>若存</a:t>
                </a:r>
                <a14:m>
                  <m:oMath xmlns:m="http://schemas.openxmlformats.org/officeDocument/2006/math">
                    <m:r>
                      <a:rPr lang="en-US" altLang="zh-CN" sz="2000" i="1">
                        <a:latin typeface="Cambria Math" panose="02040503050406030204" charset="0"/>
                        <a:ea typeface="+mn-ea"/>
                        <a:cs typeface="Cambria Math" panose="02040503050406030204" charset="0"/>
                      </a:rPr>
                      <m:t>𝑀</m:t>
                    </m:r>
                    <m:r>
                      <a:rPr lang="en-US" altLang="zh-CN" sz="2000" i="1">
                        <a:latin typeface="Cambria Math" panose="02040503050406030204" charset="0"/>
                        <a:ea typeface="MS Mincho" charset="0"/>
                        <a:cs typeface="Cambria Math" panose="02040503050406030204" charset="0"/>
                      </a:rPr>
                      <m:t>&gt;0</m:t>
                    </m:r>
                    <m:r>
                      <a:rPr lang="en-US" altLang="zh-CN" sz="2000" i="1">
                        <a:latin typeface="Cambria Math" panose="02040503050406030204" charset="0"/>
                        <a:ea typeface="MS Mincho" charset="0"/>
                        <a:cs typeface="Cambria Math" panose="02040503050406030204" charset="0"/>
                      </a:rPr>
                      <m:t>，</m:t>
                    </m:r>
                  </m:oMath>
                </a14:m>
                <a:r>
                  <a:rPr sz="2000">
                    <a:latin typeface="+mn-ea"/>
                    <a:ea typeface="+mn-ea"/>
                    <a:cs typeface="+mn-ea"/>
                  </a:rPr>
                  <a:t>使得</a:t>
                </a:r>
                <a14:m>
                  <m:oMath xmlns:m="http://schemas.openxmlformats.org/officeDocument/2006/math">
                    <m:r>
                      <a:rPr lang="en-US" sz="2000">
                        <a:latin typeface="Cambria Math" panose="02040503050406030204" charset="0"/>
                        <a:ea typeface="MS Mincho" charset="0"/>
                        <a:cs typeface="Cambria Math" panose="02040503050406030204" charset="0"/>
                      </a:rPr>
                      <m:t>∀</m:t>
                    </m:r>
                    <m:r>
                      <m:rPr>
                        <m:sty m:val="p"/>
                      </m:rPr>
                      <a:rPr lang="en-US" sz="2000">
                        <a:latin typeface="Cambria Math" panose="02040503050406030204" charset="0"/>
                        <a:ea typeface="+mn-ea"/>
                        <a:cs typeface="Cambria Math" panose="02040503050406030204" charset="0"/>
                      </a:rPr>
                      <m:t>x</m:t>
                    </m:r>
                    <m:r>
                      <a:rPr lang="en-US" sz="2000">
                        <a:latin typeface="Cambria Math" panose="02040503050406030204" charset="0"/>
                        <a:ea typeface="MS Mincho" charset="0"/>
                        <a:cs typeface="Cambria Math" panose="02040503050406030204" charset="0"/>
                      </a:rPr>
                      <m:t>∈</m:t>
                    </m:r>
                    <m:r>
                      <m:rPr>
                        <m:sty m:val="p"/>
                      </m:rPr>
                      <a:rPr lang="en-US" sz="2000">
                        <a:latin typeface="Cambria Math" panose="02040503050406030204" charset="0"/>
                        <a:ea typeface="+mn-ea"/>
                        <a:cs typeface="Cambria Math" panose="02040503050406030204" charset="0"/>
                      </a:rPr>
                      <m:t>D</m:t>
                    </m:r>
                    <m:r>
                      <a:rPr lang="en-US" sz="2000">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sz="2000">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𝑀</m:t>
                    </m:r>
                    <m:r>
                      <a:rPr sz="2000">
                        <a:latin typeface="Cambria Math" panose="02040503050406030204" charset="0"/>
                        <a:ea typeface="MS Mincho" charset="0"/>
                        <a:cs typeface="Cambria Math" panose="02040503050406030204" charset="0"/>
                        <a:sym typeface="+mn-ea"/>
                      </a:rPr>
                      <m:t>，</m:t>
                    </m:r>
                  </m:oMath>
                </a14:m>
                <a:r>
                  <a:rPr sz="2000">
                    <a:latin typeface="+mn-ea"/>
                    <a:ea typeface="+mn-ea"/>
                    <a:cs typeface="+mn-ea"/>
                  </a:rPr>
                  <a:t>则</a:t>
                </a:r>
                <a14:m>
                  <m:oMath xmlns:m="http://schemas.openxmlformats.org/officeDocument/2006/math">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oMath>
                </a14:m>
                <a:r>
                  <a:rPr sz="2000">
                    <a:latin typeface="+mn-ea"/>
                    <a:ea typeface="+mn-ea"/>
                    <a:cs typeface="+mn-ea"/>
                  </a:rPr>
                  <a:t>为</a:t>
                </a:r>
                <a:r>
                  <a:rPr lang="en-US" altLang="zh-CN" sz="2000">
                    <a:latin typeface="+mn-ea"/>
                    <a:ea typeface="+mn-ea"/>
                    <a:cs typeface="+mn-ea"/>
                  </a:rPr>
                  <a:t>D</a:t>
                </a:r>
                <a:r>
                  <a:rPr sz="2000">
                    <a:latin typeface="+mn-ea"/>
                    <a:ea typeface="+mn-ea"/>
                    <a:cs typeface="+mn-ea"/>
                  </a:rPr>
                  <a:t>上的</a:t>
                </a:r>
                <a:r>
                  <a:rPr sz="2000" u="sng">
                    <a:solidFill>
                      <a:srgbClr val="00B0F0"/>
                    </a:solidFill>
                    <a:latin typeface="+mn-ea"/>
                    <a:ea typeface="+mn-ea"/>
                    <a:cs typeface="+mn-ea"/>
                  </a:rPr>
                  <a:t>有界函数</a:t>
                </a:r>
                <a:r>
                  <a:rPr sz="2000">
                    <a:latin typeface="+mn-ea"/>
                    <a:ea typeface="+mn-ea"/>
                    <a:cs typeface="+mn-ea"/>
                  </a:rPr>
                  <a:t>，否则，则称</a:t>
                </a:r>
                <a14:m>
                  <m:oMath xmlns:m="http://schemas.openxmlformats.org/officeDocument/2006/math">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oMath>
                </a14:m>
                <a:r>
                  <a:rPr sz="2000">
                    <a:latin typeface="+mn-ea"/>
                    <a:ea typeface="+mn-ea"/>
                    <a:cs typeface="+mn-ea"/>
                  </a:rPr>
                  <a:t>为</a:t>
                </a:r>
                <a:r>
                  <a:rPr lang="en-US" altLang="zh-CN" sz="2000">
                    <a:latin typeface="+mn-ea"/>
                    <a:ea typeface="+mn-ea"/>
                    <a:cs typeface="+mn-ea"/>
                  </a:rPr>
                  <a:t>D</a:t>
                </a:r>
                <a:r>
                  <a:rPr sz="2000">
                    <a:latin typeface="+mn-ea"/>
                    <a:ea typeface="+mn-ea"/>
                    <a:cs typeface="+mn-ea"/>
                  </a:rPr>
                  <a:t>上的</a:t>
                </a:r>
                <a:r>
                  <a:rPr sz="2000" u="sng">
                    <a:solidFill>
                      <a:srgbClr val="00B0F0"/>
                    </a:solidFill>
                    <a:latin typeface="+mn-ea"/>
                    <a:ea typeface="+mn-ea"/>
                    <a:cs typeface="+mn-ea"/>
                  </a:rPr>
                  <a:t>无界函数</a:t>
                </a:r>
                <a:endParaRPr sz="2000" u="sng">
                  <a:latin typeface="+mn-ea"/>
                  <a:ea typeface="+mn-ea"/>
                  <a:cs typeface="+mn-ea"/>
                </a:endParaRPr>
              </a:p>
              <a:p>
                <a:pPr>
                  <a:lnSpc>
                    <a:spcPct val="100000"/>
                  </a:lnSpc>
                </a:pPr>
                <a:r>
                  <a:rPr sz="2000">
                    <a:solidFill>
                      <a:srgbClr val="00B0F0"/>
                    </a:solidFill>
                    <a:latin typeface="+mn-ea"/>
                    <a:ea typeface="+mn-ea"/>
                    <a:cs typeface="+mn-ea"/>
                    <a:sym typeface="+mn-ea"/>
                  </a:rPr>
                  <a:t>周期函数</a:t>
                </a:r>
                <a:r>
                  <a:rPr sz="2000">
                    <a:latin typeface="+mn-ea"/>
                    <a:ea typeface="+mn-ea"/>
                    <a:cs typeface="+mn-ea"/>
                    <a:sym typeface="+mn-ea"/>
                  </a:rPr>
                  <a:t>：</a:t>
                </a:r>
                <a14:m>
                  <m:oMath xmlns:m="http://schemas.openxmlformats.org/officeDocument/2006/math">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𝑇</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S Mincho" charset="0"/>
                        <a:cs typeface="Cambria Math" panose="02040503050406030204" charset="0"/>
                      </a:rPr>
                      <m:t>（</m:t>
                    </m:r>
                  </m:oMath>
                </a14:m>
                <a:r>
                  <a:rPr sz="2000">
                    <a:latin typeface="+mn-ea"/>
                    <a:ea typeface="+mn-ea"/>
                    <a:cs typeface="+mn-ea"/>
                    <a:sym typeface="+mn-ea"/>
                  </a:rPr>
                  <a:t>若</a:t>
                </a:r>
                <a14:m>
                  <m:oMath xmlns:m="http://schemas.openxmlformats.org/officeDocument/2006/math">
                    <m:r>
                      <a:rPr lang="en-US" altLang="zh-CN" sz="2000" i="1">
                        <a:latin typeface="Cambria Math" panose="02040503050406030204" charset="0"/>
                        <a:ea typeface="+mn-ea"/>
                        <a:cs typeface="Cambria Math" panose="02040503050406030204" charset="0"/>
                      </a:rPr>
                      <m:t>𝑇</m:t>
                    </m:r>
                  </m:oMath>
                </a14:m>
                <a:r>
                  <a:rPr sz="2000">
                    <a:latin typeface="+mn-ea"/>
                    <a:ea typeface="+mn-ea"/>
                    <a:cs typeface="+mn-ea"/>
                    <a:sym typeface="+mn-ea"/>
                  </a:rPr>
                  <a:t>为最小周期，则</a:t>
                </a:r>
                <a14:m>
                  <m:oMath xmlns:m="http://schemas.openxmlformats.org/officeDocument/2006/math">
                    <m:r>
                      <a:rPr lang="en-US" altLang="zh-CN" sz="2000" i="1">
                        <a:latin typeface="Cambria Math" panose="02040503050406030204" charset="0"/>
                        <a:ea typeface="+mn-ea"/>
                        <a:cs typeface="Cambria Math" panose="02040503050406030204" charset="0"/>
                      </a:rPr>
                      <m:t>𝑇</m:t>
                    </m:r>
                  </m:oMath>
                </a14:m>
                <a:r>
                  <a:rPr sz="2000">
                    <a:latin typeface="+mn-ea"/>
                    <a:ea typeface="+mn-ea"/>
                    <a:cs typeface="+mn-ea"/>
                    <a:sym typeface="+mn-ea"/>
                  </a:rPr>
                  <a:t>为</a:t>
                </a:r>
                <a14:m>
                  <m:oMath xmlns:m="http://schemas.openxmlformats.org/officeDocument/2006/math">
                    <m:r>
                      <a:rPr lang="en-US" altLang="zh-CN" sz="2000" i="1">
                        <a:latin typeface="Cambria Math" panose="02040503050406030204" charset="0"/>
                        <a:ea typeface="+mn-ea"/>
                        <a:cs typeface="Cambria Math" panose="02040503050406030204" charset="0"/>
                      </a:rPr>
                      <m:t>𝑓</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oMath>
                </a14:m>
                <a:r>
                  <a:rPr sz="2000">
                    <a:latin typeface="+mn-ea"/>
                    <a:ea typeface="+mn-ea"/>
                    <a:cs typeface="+mn-ea"/>
                    <a:sym typeface="+mn-ea"/>
                  </a:rPr>
                  <a:t>的基本周期）</a:t>
                </a:r>
              </a:p>
              <a:p>
                <a:pPr>
                  <a:lnSpc>
                    <a:spcPct val="100000"/>
                  </a:lnSpc>
                  <a:buFont typeface="Wingdings" panose="05000000000000000000" charset="0"/>
                  <a:buChar char="Ø"/>
                </a:pPr>
                <a:r>
                  <a:rPr sz="2000">
                    <a:latin typeface="+mn-ea"/>
                    <a:ea typeface="+mn-ea"/>
                    <a:cs typeface="+mn-ea"/>
                    <a:sym typeface="+mn-ea"/>
                  </a:rPr>
                  <a:t>（如）以</a:t>
                </a:r>
                <a14:m>
                  <m:oMath xmlns:m="http://schemas.openxmlformats.org/officeDocument/2006/math">
                    <m:r>
                      <a:rPr lang="en-US" altLang="zh-CN" sz="2000" i="1">
                        <a:latin typeface="Cambria Math" panose="02040503050406030204" charset="0"/>
                        <a:ea typeface="MS Mincho" charset="0"/>
                        <a:cs typeface="Cambria Math" panose="02040503050406030204" charset="0"/>
                        <a:sym typeface="+mn-ea"/>
                      </a:rPr>
                      <m:t>2</m:t>
                    </m:r>
                    <m:r>
                      <a:rPr lang="en-US" altLang="zh-CN" sz="2000" i="1">
                        <a:latin typeface="Cambria Math" panose="02040503050406030204" charset="0"/>
                        <a:ea typeface="MS Mincho" charset="0"/>
                        <a:cs typeface="Cambria Math" panose="02040503050406030204" charset="0"/>
                        <a:sym typeface="+mn-ea"/>
                      </a:rPr>
                      <m:t>𝜋</m:t>
                    </m:r>
                  </m:oMath>
                </a14:m>
                <a:r>
                  <a:rPr sz="2000">
                    <a:latin typeface="+mn-ea"/>
                    <a:ea typeface="+mn-ea"/>
                    <a:cs typeface="+mn-ea"/>
                    <a:sym typeface="+mn-ea"/>
                  </a:rPr>
                  <a:t>为周期的有：</a:t>
                </a:r>
                <a14:m>
                  <m:oMath xmlns:m="http://schemas.openxmlformats.org/officeDocument/2006/math">
                    <m:r>
                      <a:rPr lang="en-US" altLang="zh-CN" sz="2000" i="1">
                        <a:latin typeface="Cambria Math" panose="02040503050406030204" charset="0"/>
                        <a:ea typeface="+mn-ea"/>
                        <a:cs typeface="Cambria Math" panose="02040503050406030204" charset="0"/>
                        <a:sym typeface="+mn-ea"/>
                      </a:rPr>
                      <m:t>𝑠𝑖𝑛𝑥</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n-ea"/>
                        <a:cs typeface="Cambria Math" panose="02040503050406030204" charset="0"/>
                        <a:sym typeface="+mn-ea"/>
                      </a:rPr>
                      <m:t>𝑐𝑜𝑠𝑥</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n-ea"/>
                        <a:cs typeface="Cambria Math" panose="02040503050406030204" charset="0"/>
                        <a:sym typeface="+mn-ea"/>
                      </a:rPr>
                      <m:t>𝑡𝑎𝑛</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n-ea"/>
                        <a:cs typeface="Cambria Math" panose="02040503050406030204" charset="0"/>
                        <a:sym typeface="+mn-ea"/>
                      </a:rPr>
                      <m:t>𝑥</m:t>
                    </m:r>
                    <m:r>
                      <a:rPr lang="en-US" altLang="zh-CN" sz="2000" i="1">
                        <a:latin typeface="Cambria Math" panose="02040503050406030204" charset="0"/>
                        <a:ea typeface="MS Mincho" charset="0"/>
                        <a:cs typeface="Cambria Math" panose="02040503050406030204" charset="0"/>
                        <a:sym typeface="+mn-ea"/>
                      </a:rPr>
                      <m:t>/2)</m:t>
                    </m:r>
                  </m:oMath>
                </a14:m>
                <a:endParaRPr lang="en-US" altLang="zh-CN" sz="2000" i="1">
                  <a:latin typeface="+mn-ea"/>
                  <a:ea typeface="+mn-ea"/>
                  <a:cs typeface="+mn-ea"/>
                  <a:sym typeface="+mn-ea"/>
                </a:endParaRPr>
              </a:p>
              <a:p>
                <a:pPr>
                  <a:lnSpc>
                    <a:spcPct val="100000"/>
                  </a:lnSpc>
                  <a:buFont typeface="Wingdings" panose="05000000000000000000" charset="0"/>
                  <a:buChar char="Ø"/>
                </a:pPr>
                <a:r>
                  <a:rPr sz="2000">
                    <a:latin typeface="+mn-ea"/>
                    <a:ea typeface="+mn-ea"/>
                    <a:cs typeface="+mn-ea"/>
                    <a:sym typeface="+mn-ea"/>
                  </a:rPr>
                  <a:t>以</a:t>
                </a:r>
                <a14:m>
                  <m:oMath xmlns:m="http://schemas.openxmlformats.org/officeDocument/2006/math">
                    <m:r>
                      <a:rPr lang="en-US" altLang="zh-CN" sz="2000" i="1">
                        <a:latin typeface="Cambria Math" panose="02040503050406030204" charset="0"/>
                        <a:ea typeface="MS Mincho" charset="0"/>
                        <a:cs typeface="Cambria Math" panose="02040503050406030204" charset="0"/>
                        <a:sym typeface="+mn-ea"/>
                      </a:rPr>
                      <m:t>𝜋</m:t>
                    </m:r>
                  </m:oMath>
                </a14:m>
                <a:r>
                  <a:rPr sz="2000">
                    <a:latin typeface="+mn-ea"/>
                    <a:ea typeface="+mn-ea"/>
                    <a:cs typeface="+mn-ea"/>
                    <a:sym typeface="+mn-ea"/>
                  </a:rPr>
                  <a:t>为周期的有：</a:t>
                </a:r>
                <a14:m>
                  <m:oMath xmlns:m="http://schemas.openxmlformats.org/officeDocument/2006/math">
                    <m:r>
                      <a:rPr lang="en-US" altLang="zh-CN" sz="2000" i="1">
                        <a:latin typeface="Cambria Math" panose="02040503050406030204" charset="0"/>
                        <a:ea typeface="+mn-ea"/>
                        <a:cs typeface="Cambria Math" panose="02040503050406030204" charset="0"/>
                        <a:sym typeface="+mn-ea"/>
                      </a:rPr>
                      <m:t>𝑡𝑎𝑛𝑥</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n-ea"/>
                        <a:cs typeface="Cambria Math" panose="02040503050406030204" charset="0"/>
                        <a:sym typeface="+mn-ea"/>
                      </a:rPr>
                      <m:t>𝑐𝑜𝑡𝑥</m:t>
                    </m:r>
                    <m:r>
                      <a:rPr lang="en-US" altLang="zh-CN" sz="2000" i="1">
                        <a:latin typeface="Cambria Math" panose="02040503050406030204" charset="0"/>
                        <a:ea typeface="MS Mincho" charset="0"/>
                        <a:cs typeface="Cambria Math" panose="02040503050406030204" charset="0"/>
                        <a:sym typeface="+mn-ea"/>
                      </a:rPr>
                      <m:t>,</m:t>
                    </m:r>
                    <m:sSup>
                      <m:sSupPr>
                        <m:ctrlPr>
                          <a:rPr lang="en-US" altLang="zh-CN" sz="2000" i="1">
                            <a:latin typeface="Cambria Math" panose="02040503050406030204" pitchFamily="18" charset="0"/>
                            <a:ea typeface="+mn-ea"/>
                            <a:cs typeface="Cambria Math" panose="02040503050406030204" charset="0"/>
                            <a:sym typeface="+mn-ea"/>
                          </a:rPr>
                        </m:ctrlPr>
                      </m:sSupPr>
                      <m:e>
                        <m:r>
                          <a:rPr lang="en-US" altLang="zh-CN" sz="2000" i="1">
                            <a:latin typeface="Cambria Math" panose="02040503050406030204" charset="0"/>
                            <a:ea typeface="+mn-ea"/>
                            <a:cs typeface="Cambria Math" panose="02040503050406030204" charset="0"/>
                            <a:sym typeface="+mn-ea"/>
                          </a:rPr>
                          <m:t>𝑠𝑖𝑛</m:t>
                        </m:r>
                      </m:e>
                      <m:sup>
                        <m:r>
                          <a:rPr lang="en-US" altLang="zh-CN" sz="2000" i="1">
                            <a:latin typeface="Cambria Math" panose="02040503050406030204" charset="0"/>
                            <a:ea typeface="MS Mincho" charset="0"/>
                            <a:cs typeface="Cambria Math" panose="02040503050406030204" charset="0"/>
                            <a:sym typeface="+mn-ea"/>
                          </a:rPr>
                          <m:t>2</m:t>
                        </m:r>
                      </m:sup>
                    </m:sSup>
                    <m:r>
                      <a:rPr lang="en-US" altLang="zh-CN" sz="2000" i="1">
                        <a:latin typeface="Cambria Math" panose="02040503050406030204" charset="0"/>
                        <a:ea typeface="+mn-ea"/>
                        <a:cs typeface="Cambria Math" panose="02040503050406030204" charset="0"/>
                        <a:sym typeface="+mn-ea"/>
                      </a:rPr>
                      <m:t>𝑥</m:t>
                    </m:r>
                  </m:oMath>
                </a14:m>
                <a:endParaRPr lang="en-US" altLang="zh-CN" sz="2000" i="1">
                  <a:latin typeface="+mn-ea"/>
                  <a:ea typeface="+mn-ea"/>
                  <a:cs typeface="+mn-ea"/>
                  <a:sym typeface="+mn-ea"/>
                </a:endParaRPr>
              </a:p>
              <a:p>
                <a:pPr>
                  <a:lnSpc>
                    <a:spcPct val="100000"/>
                  </a:lnSpc>
                  <a:buFont typeface="Wingdings" panose="05000000000000000000" charset="0"/>
                  <a:buChar char="Ø"/>
                </a:pPr>
                <a:r>
                  <a:rPr sz="1400" i="1">
                    <a:latin typeface="+mn-ea"/>
                    <a:ea typeface="+mn-ea"/>
                    <a:cs typeface="+mn-ea"/>
                    <a:sym typeface="+mn-ea"/>
                  </a:rPr>
                  <a:t>如右图即为一种周期函数图</a:t>
                </a:r>
                <a:endParaRPr sz="1400" u="sng">
                  <a:latin typeface="Cambria Math" panose="02040503050406030204" charset="0"/>
                  <a:cs typeface="Cambria Math" panose="02040503050406030204" charset="0"/>
                </a:endParaRPr>
              </a:p>
              <a:p>
                <a:pPr marL="0" indent="0">
                  <a:buNone/>
                </a:pPr>
                <a:endParaRPr sz="1400" i="1" u="sng">
                  <a:latin typeface="Cambria Math" panose="02040503050406030204" charset="0"/>
                  <a:cs typeface="Cambria Math" panose="02040503050406030204" charset="0"/>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69925" y="952500"/>
                <a:ext cx="11125835" cy="5388610"/>
              </a:xfrm>
              <a:blipFill rotWithShape="1">
                <a:blip r:embed="rId3"/>
                <a:stretch>
                  <a:fillRect b="-4007"/>
                </a:stretch>
              </a:blipFill>
            </p:spPr>
            <p:txBody>
              <a:bodyPr/>
              <a:lstStyle/>
              <a:p>
                <a:r>
                  <a:rPr lang="zh-CN" altLang="en-US">
                    <a:noFill/>
                  </a:rPr>
                  <a:t> </a:t>
                </a:r>
              </a:p>
            </p:txBody>
          </p:sp>
        </mc:Fallback>
      </mc:AlternateContent>
      <p:pic>
        <p:nvPicPr>
          <p:cNvPr id="4" name="图片 3" descr="a79e4501f07d20afe33eb86333af2cc"/>
          <p:cNvPicPr>
            <a:picLocks noChangeAspect="1"/>
          </p:cNvPicPr>
          <p:nvPr/>
        </p:nvPicPr>
        <p:blipFill>
          <a:blip r:embed="rId4"/>
          <a:srcRect b="4921"/>
          <a:stretch>
            <a:fillRect/>
          </a:stretch>
        </p:blipFill>
        <p:spPr>
          <a:xfrm>
            <a:off x="8028305" y="4896485"/>
            <a:ext cx="3644900" cy="1901825"/>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endParaRPr i="1">
              <a:latin typeface="Cambria Math" panose="02040503050406030204" charset="0"/>
              <a:cs typeface="Cambria Math" panose="02040503050406030204" charset="0"/>
            </a:endParaRPr>
          </a:p>
          <a:p>
            <a:pPr marL="0" indent="0">
              <a:buNone/>
            </a:pPr>
            <a:endParaRPr lang="en-US" altLang="zh-CN"/>
          </a:p>
        </p:txBody>
      </p:sp>
      <p:pic>
        <p:nvPicPr>
          <p:cNvPr id="10" name="图片 9" descr="76d7cebc3300711e2e120dcec31c79e"/>
          <p:cNvPicPr>
            <a:picLocks noChangeAspect="1"/>
          </p:cNvPicPr>
          <p:nvPr/>
        </p:nvPicPr>
        <p:blipFill>
          <a:blip r:embed="rId3"/>
          <a:stretch>
            <a:fillRect/>
          </a:stretch>
        </p:blipFill>
        <p:spPr>
          <a:xfrm>
            <a:off x="1872615" y="765175"/>
            <a:ext cx="8446770" cy="3183255"/>
          </a:xfrm>
          <a:prstGeom prst="rect">
            <a:avLst/>
          </a:prstGeom>
        </p:spPr>
      </p:pic>
      <p:pic>
        <p:nvPicPr>
          <p:cNvPr id="11" name="图片 10" descr="0bd6d95ad119f9075ff6a7e00f6c503"/>
          <p:cNvPicPr>
            <a:picLocks noChangeAspect="1"/>
          </p:cNvPicPr>
          <p:nvPr/>
        </p:nvPicPr>
        <p:blipFill>
          <a:blip r:embed="rId4"/>
          <a:stretch>
            <a:fillRect/>
          </a:stretch>
        </p:blipFill>
        <p:spPr>
          <a:xfrm>
            <a:off x="1297305" y="3762375"/>
            <a:ext cx="9387205" cy="2044065"/>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775585" y="2967990"/>
            <a:ext cx="6640830" cy="922020"/>
          </a:xfrm>
          <a:prstGeom prst="rect">
            <a:avLst/>
          </a:prstGeom>
          <a:noFill/>
        </p:spPr>
        <p:txBody>
          <a:bodyPr wrap="square" rtlCol="0">
            <a:spAutoFit/>
          </a:bodyPr>
          <a:lstStyle/>
          <a:p>
            <a:pPr algn="ctr"/>
            <a:r>
              <a:rPr lang="en-US" altLang="zh-CN" sz="5400" b="1">
                <a:latin typeface="+mj-ea"/>
                <a:ea typeface="+mj-ea"/>
                <a:cs typeface="+mj-ea"/>
              </a:rPr>
              <a:t>1.2 </a:t>
            </a:r>
            <a:r>
              <a:rPr lang="zh-CN" altLang="en-US" sz="5400" b="1">
                <a:latin typeface="+mj-ea"/>
                <a:ea typeface="+mj-ea"/>
                <a:cs typeface="+mj-ea"/>
              </a:rPr>
              <a:t>函数运算</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0794" y="282405"/>
            <a:ext cx="77964" cy="501717"/>
            <a:chOff x="0" y="0"/>
            <a:chExt cx="114300" cy="735550"/>
          </a:xfrm>
        </p:grpSpPr>
        <p:sp>
          <p:nvSpPr>
            <p:cNvPr id="3" name="Freeform 3"/>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sp>
        <p:nvSpPr>
          <p:cNvPr id="4" name="Freeform 4"/>
          <p:cNvSpPr/>
          <p:nvPr/>
        </p:nvSpPr>
        <p:spPr>
          <a:xfrm>
            <a:off x="4165600" y="228600"/>
            <a:ext cx="5247640" cy="951653"/>
          </a:xfrm>
          <a:custGeom>
            <a:avLst/>
            <a:gdLst/>
            <a:ahLst/>
            <a:cxnLst/>
            <a:rect l="l" t="t" r="r" b="b"/>
            <a:pathLst>
              <a:path w="10670916" h="1546971">
                <a:moveTo>
                  <a:pt x="0" y="0"/>
                </a:moveTo>
                <a:lnTo>
                  <a:pt x="10670916" y="0"/>
                </a:lnTo>
                <a:lnTo>
                  <a:pt x="10670916" y="1546972"/>
                </a:lnTo>
                <a:lnTo>
                  <a:pt x="0" y="1546972"/>
                </a:lnTo>
                <a:lnTo>
                  <a:pt x="0" y="0"/>
                </a:lnTo>
                <a:close/>
              </a:path>
            </a:pathLst>
          </a:custGeom>
          <a:blipFill>
            <a:blip r:embed="rId2"/>
            <a:stretch>
              <a:fillRect r="-1290" b="-6222"/>
            </a:stretch>
          </a:blipFill>
          <a:effectLst>
            <a:softEdge rad="31750"/>
          </a:effectLst>
        </p:spPr>
      </p:sp>
      <p:sp>
        <p:nvSpPr>
          <p:cNvPr id="6" name="Freeform 6"/>
          <p:cNvSpPr/>
          <p:nvPr/>
        </p:nvSpPr>
        <p:spPr>
          <a:xfrm>
            <a:off x="203200" y="2508673"/>
            <a:ext cx="5530850" cy="1556173"/>
          </a:xfrm>
          <a:custGeom>
            <a:avLst/>
            <a:gdLst/>
            <a:ahLst/>
            <a:cxnLst/>
            <a:rect l="l" t="t" r="r" b="b"/>
            <a:pathLst>
              <a:path w="9298898" h="2182601">
                <a:moveTo>
                  <a:pt x="0" y="0"/>
                </a:moveTo>
                <a:lnTo>
                  <a:pt x="9298897" y="0"/>
                </a:lnTo>
                <a:lnTo>
                  <a:pt x="9298897" y="2182601"/>
                </a:lnTo>
                <a:lnTo>
                  <a:pt x="0" y="2182601"/>
                </a:lnTo>
                <a:lnTo>
                  <a:pt x="0" y="0"/>
                </a:lnTo>
                <a:close/>
              </a:path>
            </a:pathLst>
          </a:custGeom>
          <a:blipFill>
            <a:blip r:embed="rId3"/>
            <a:stretch>
              <a:fillRect l="-2422" r="-5231" b="-7444"/>
            </a:stretch>
          </a:blipFill>
        </p:spPr>
      </p:sp>
      <p:sp>
        <p:nvSpPr>
          <p:cNvPr id="7" name="Freeform 7"/>
          <p:cNvSpPr/>
          <p:nvPr/>
        </p:nvSpPr>
        <p:spPr>
          <a:xfrm>
            <a:off x="228600" y="4423833"/>
            <a:ext cx="5558790" cy="2184823"/>
          </a:xfrm>
          <a:custGeom>
            <a:avLst/>
            <a:gdLst/>
            <a:ahLst/>
            <a:cxnLst/>
            <a:rect l="l" t="t" r="r" b="b"/>
            <a:pathLst>
              <a:path w="9680098" h="3490547">
                <a:moveTo>
                  <a:pt x="0" y="0"/>
                </a:moveTo>
                <a:lnTo>
                  <a:pt x="9680098" y="0"/>
                </a:lnTo>
                <a:lnTo>
                  <a:pt x="9680098" y="3490547"/>
                </a:lnTo>
                <a:lnTo>
                  <a:pt x="0" y="3490547"/>
                </a:lnTo>
                <a:lnTo>
                  <a:pt x="0" y="0"/>
                </a:lnTo>
                <a:close/>
              </a:path>
            </a:pathLst>
          </a:custGeom>
          <a:blipFill>
            <a:blip r:embed="rId4"/>
            <a:stretch>
              <a:fillRect l="-1987" r="-2981"/>
            </a:stretch>
          </a:blipFill>
        </p:spPr>
      </p:sp>
      <p:sp>
        <p:nvSpPr>
          <p:cNvPr id="8" name="Freeform 8"/>
          <p:cNvSpPr/>
          <p:nvPr/>
        </p:nvSpPr>
        <p:spPr>
          <a:xfrm>
            <a:off x="5913967" y="2464223"/>
            <a:ext cx="5875867" cy="1706457"/>
          </a:xfrm>
          <a:custGeom>
            <a:avLst/>
            <a:gdLst/>
            <a:ahLst/>
            <a:cxnLst/>
            <a:rect l="l" t="t" r="r" b="b"/>
            <a:pathLst>
              <a:path w="10005707" h="2618194">
                <a:moveTo>
                  <a:pt x="0" y="0"/>
                </a:moveTo>
                <a:lnTo>
                  <a:pt x="10005707" y="0"/>
                </a:lnTo>
                <a:lnTo>
                  <a:pt x="10005707" y="2618194"/>
                </a:lnTo>
                <a:lnTo>
                  <a:pt x="0" y="2618194"/>
                </a:lnTo>
                <a:lnTo>
                  <a:pt x="0" y="0"/>
                </a:lnTo>
                <a:close/>
              </a:path>
            </a:pathLst>
          </a:custGeom>
          <a:blipFill>
            <a:blip r:embed="rId5"/>
            <a:stretch>
              <a:fillRect l="-1716" r="-4004" b="-4372"/>
            </a:stretch>
          </a:blipFill>
        </p:spPr>
      </p:sp>
      <p:sp>
        <p:nvSpPr>
          <p:cNvPr id="9" name="Freeform 9"/>
          <p:cNvSpPr/>
          <p:nvPr/>
        </p:nvSpPr>
        <p:spPr>
          <a:xfrm>
            <a:off x="355600" y="1346200"/>
            <a:ext cx="311150" cy="557530"/>
          </a:xfrm>
          <a:custGeom>
            <a:avLst/>
            <a:gdLst/>
            <a:ahLst/>
            <a:cxnLst/>
            <a:rect l="l" t="t" r="r" b="b"/>
            <a:pathLst>
              <a:path w="434713" h="1166303">
                <a:moveTo>
                  <a:pt x="0" y="0"/>
                </a:moveTo>
                <a:lnTo>
                  <a:pt x="434713" y="0"/>
                </a:lnTo>
                <a:lnTo>
                  <a:pt x="434713" y="1166303"/>
                </a:lnTo>
                <a:lnTo>
                  <a:pt x="0" y="11663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1" name="TextBox 11"/>
          <p:cNvSpPr txBox="1"/>
          <p:nvPr/>
        </p:nvSpPr>
        <p:spPr>
          <a:xfrm>
            <a:off x="351243" y="257039"/>
            <a:ext cx="4894866" cy="845820"/>
          </a:xfrm>
          <a:prstGeom prst="rect">
            <a:avLst/>
          </a:prstGeom>
        </p:spPr>
        <p:txBody>
          <a:bodyPr lIns="0" tIns="0" rIns="0" bIns="0" rtlCol="0" anchor="t">
            <a:spAutoFit/>
          </a:bodyPr>
          <a:lstStyle/>
          <a:p>
            <a:pPr marL="0" lvl="0" indent="0">
              <a:lnSpc>
                <a:spcPts val="6600"/>
              </a:lnSpc>
              <a:spcBef>
                <a:spcPct val="0"/>
              </a:spcBef>
            </a:pPr>
            <a:r>
              <a:rPr 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1.2.1 函数的四则运算</a:t>
            </a:r>
          </a:p>
        </p:txBody>
      </p:sp>
      <p:sp>
        <p:nvSpPr>
          <p:cNvPr id="12" name="AutoShape 12"/>
          <p:cNvSpPr/>
          <p:nvPr/>
        </p:nvSpPr>
        <p:spPr>
          <a:xfrm flipV="1">
            <a:off x="762000" y="2819400"/>
            <a:ext cx="4997450" cy="1693"/>
          </a:xfrm>
          <a:prstGeom prst="line">
            <a:avLst/>
          </a:prstGeom>
          <a:ln w="38100" cap="flat">
            <a:solidFill>
              <a:srgbClr val="000000"/>
            </a:solidFill>
            <a:prstDash val="solid"/>
            <a:headEnd type="none" w="sm" len="sm"/>
            <a:tailEnd type="none" w="sm" len="sm"/>
          </a:ln>
        </p:spPr>
      </p:sp>
      <p:sp>
        <p:nvSpPr>
          <p:cNvPr id="13" name="AutoShape 13"/>
          <p:cNvSpPr/>
          <p:nvPr/>
        </p:nvSpPr>
        <p:spPr>
          <a:xfrm>
            <a:off x="1847850" y="6305127"/>
            <a:ext cx="3911600" cy="9737"/>
          </a:xfrm>
          <a:prstGeom prst="line">
            <a:avLst/>
          </a:prstGeom>
          <a:ln w="38100" cap="flat">
            <a:solidFill>
              <a:srgbClr val="000000"/>
            </a:solidFill>
            <a:prstDash val="solid"/>
            <a:headEnd type="none" w="sm" len="sm"/>
            <a:tailEnd type="none" w="sm" len="sm"/>
          </a:ln>
        </p:spPr>
      </p:sp>
      <p:sp>
        <p:nvSpPr>
          <p:cNvPr id="14" name="AutoShape 14"/>
          <p:cNvSpPr/>
          <p:nvPr/>
        </p:nvSpPr>
        <p:spPr>
          <a:xfrm flipV="1">
            <a:off x="304800" y="6527800"/>
            <a:ext cx="1514263" cy="20743"/>
          </a:xfrm>
          <a:prstGeom prst="line">
            <a:avLst/>
          </a:prstGeom>
          <a:ln w="38100" cap="flat">
            <a:solidFill>
              <a:srgbClr val="000000"/>
            </a:solidFill>
            <a:prstDash val="solid"/>
            <a:headEnd type="none" w="sm" len="sm"/>
            <a:tailEnd type="none" w="sm" len="sm"/>
          </a:ln>
        </p:spPr>
      </p:sp>
      <p:sp>
        <p:nvSpPr>
          <p:cNvPr id="15" name="AutoShape 15"/>
          <p:cNvSpPr/>
          <p:nvPr/>
        </p:nvSpPr>
        <p:spPr>
          <a:xfrm flipV="1">
            <a:off x="233257" y="3063663"/>
            <a:ext cx="2697057" cy="9737"/>
          </a:xfrm>
          <a:prstGeom prst="line">
            <a:avLst/>
          </a:prstGeom>
          <a:ln w="38100" cap="flat">
            <a:solidFill>
              <a:srgbClr val="000000"/>
            </a:solidFill>
            <a:prstDash val="solid"/>
            <a:headEnd type="none" w="sm" len="sm"/>
            <a:tailEnd type="none" w="sm" len="sm"/>
          </a:ln>
        </p:spPr>
      </p:sp>
      <p:sp>
        <p:nvSpPr>
          <p:cNvPr id="16" name="AutoShape 16"/>
          <p:cNvSpPr/>
          <p:nvPr/>
        </p:nvSpPr>
        <p:spPr>
          <a:xfrm flipV="1">
            <a:off x="6756400" y="2680547"/>
            <a:ext cx="4661747" cy="3810"/>
          </a:xfrm>
          <a:prstGeom prst="line">
            <a:avLst/>
          </a:prstGeom>
          <a:ln w="38100" cap="flat">
            <a:solidFill>
              <a:srgbClr val="000000"/>
            </a:solidFill>
            <a:prstDash val="solid"/>
            <a:headEnd type="none" w="sm" len="sm"/>
            <a:tailEnd type="none" w="sm" len="sm"/>
          </a:ln>
        </p:spPr>
      </p:sp>
      <p:sp>
        <p:nvSpPr>
          <p:cNvPr id="18" name="文本框 17"/>
          <p:cNvSpPr txBox="1"/>
          <p:nvPr/>
        </p:nvSpPr>
        <p:spPr>
          <a:xfrm>
            <a:off x="254000" y="1651000"/>
            <a:ext cx="5277273" cy="665480"/>
          </a:xfrm>
          <a:prstGeom prst="rect">
            <a:avLst/>
          </a:prstGeom>
          <a:noFill/>
        </p:spPr>
        <p:txBody>
          <a:bodyPr wrap="square" rtlCol="0">
            <a:spAutoFit/>
          </a:bodyPr>
          <a:lstStyle/>
          <a:p>
            <a:r>
              <a:rPr lang="en-US" altLang="zh-CN" sz="1865">
                <a:latin typeface="微软雅黑" panose="020B0503020204020204" charset="-122"/>
                <a:ea typeface="微软雅黑" panose="020B0503020204020204" charset="-122"/>
                <a:cs typeface="微软雅黑" panose="020B0503020204020204" charset="-122"/>
              </a:rPr>
              <a:t>      </a:t>
            </a:r>
            <a:r>
              <a:rPr lang="zh-CN" altLang="en-US" sz="1865">
                <a:latin typeface="微软雅黑" panose="020B0503020204020204" charset="-122"/>
                <a:ea typeface="微软雅黑" panose="020B0503020204020204" charset="-122"/>
                <a:cs typeface="微软雅黑" panose="020B0503020204020204" charset="-122"/>
              </a:rPr>
              <a:t>若已知</a:t>
            </a:r>
            <a:r>
              <a:rPr lang="en-US" altLang="zh-CN" sz="1865">
                <a:latin typeface="微软雅黑" panose="020B0503020204020204" charset="-122"/>
                <a:ea typeface="微软雅黑" panose="020B0503020204020204" charset="-122"/>
                <a:cs typeface="微软雅黑" panose="020B0503020204020204" charset="-122"/>
              </a:rPr>
              <a:t>f</a:t>
            </a:r>
            <a:r>
              <a:rPr lang="zh-CN" altLang="en-US" sz="1865">
                <a:latin typeface="微软雅黑" panose="020B0503020204020204" charset="-122"/>
                <a:ea typeface="微软雅黑" panose="020B0503020204020204" charset="-122"/>
                <a:cs typeface="微软雅黑" panose="020B0503020204020204" charset="-122"/>
              </a:rPr>
              <a:t>和</a:t>
            </a:r>
            <a:r>
              <a:rPr lang="en-US" altLang="zh-CN" sz="1865">
                <a:latin typeface="微软雅黑" panose="020B0503020204020204" charset="-122"/>
                <a:ea typeface="微软雅黑" panose="020B0503020204020204" charset="-122"/>
                <a:cs typeface="微软雅黑" panose="020B0503020204020204" charset="-122"/>
              </a:rPr>
              <a:t>g</a:t>
            </a:r>
            <a:r>
              <a:rPr lang="zh-CN" altLang="en-US" sz="1865">
                <a:latin typeface="微软雅黑" panose="020B0503020204020204" charset="-122"/>
                <a:ea typeface="微软雅黑" panose="020B0503020204020204" charset="-122"/>
                <a:cs typeface="微软雅黑" panose="020B0503020204020204" charset="-122"/>
              </a:rPr>
              <a:t>有某性质</a:t>
            </a:r>
            <a:r>
              <a:rPr lang="en-US" altLang="zh-CN" sz="1865">
                <a:latin typeface="微软雅黑" panose="020B0503020204020204" charset="-122"/>
                <a:ea typeface="微软雅黑" panose="020B0503020204020204" charset="-122"/>
                <a:cs typeface="微软雅黑" panose="020B0503020204020204" charset="-122"/>
              </a:rPr>
              <a:t>P</a:t>
            </a:r>
            <a:endParaRPr lang="zh-CN" altLang="en-US" sz="1865">
              <a:latin typeface="微软雅黑" panose="020B0503020204020204" charset="-122"/>
              <a:ea typeface="微软雅黑" panose="020B0503020204020204" charset="-122"/>
              <a:cs typeface="微软雅黑" panose="020B0503020204020204" charset="-122"/>
            </a:endParaRPr>
          </a:p>
          <a:p>
            <a:r>
              <a:rPr lang="zh-CN" altLang="en-US" sz="1865">
                <a:latin typeface="微软雅黑" panose="020B0503020204020204" charset="-122"/>
                <a:ea typeface="微软雅黑" panose="020B0503020204020204" charset="-122"/>
                <a:cs typeface="微软雅黑" panose="020B0503020204020204" charset="-122"/>
              </a:rPr>
              <a:t>问：</a:t>
            </a:r>
            <a:r>
              <a:rPr lang="en-US" altLang="zh-CN" sz="1865">
                <a:latin typeface="微软雅黑" panose="020B0503020204020204" charset="-122"/>
                <a:ea typeface="微软雅黑" panose="020B0503020204020204" charset="-122"/>
                <a:cs typeface="微软雅黑" panose="020B0503020204020204" charset="-122"/>
              </a:rPr>
              <a:t>f</a:t>
            </a:r>
            <a:r>
              <a:rPr lang="zh-CN" altLang="en-US" sz="1865">
                <a:latin typeface="微软雅黑" panose="020B0503020204020204" charset="-122"/>
                <a:ea typeface="微软雅黑" panose="020B0503020204020204" charset="-122"/>
                <a:cs typeface="微软雅黑" panose="020B0503020204020204" charset="-122"/>
              </a:rPr>
              <a:t>±</a:t>
            </a:r>
            <a:r>
              <a:rPr lang="en-US" altLang="zh-CN" sz="1865">
                <a:latin typeface="微软雅黑" panose="020B0503020204020204" charset="-122"/>
                <a:ea typeface="微软雅黑" panose="020B0503020204020204" charset="-122"/>
                <a:cs typeface="微软雅黑" panose="020B0503020204020204" charset="-122"/>
              </a:rPr>
              <a:t>g</a:t>
            </a:r>
            <a:r>
              <a:rPr lang="zh-CN" altLang="en-US" sz="1865">
                <a:latin typeface="微软雅黑" panose="020B0503020204020204" charset="-122"/>
                <a:ea typeface="微软雅黑" panose="020B0503020204020204" charset="-122"/>
                <a:cs typeface="微软雅黑" panose="020B0503020204020204" charset="-122"/>
              </a:rPr>
              <a:t>、</a:t>
            </a:r>
            <a:r>
              <a:rPr lang="en-US" altLang="zh-CN" sz="1865">
                <a:latin typeface="微软雅黑" panose="020B0503020204020204" charset="-122"/>
                <a:ea typeface="微软雅黑" panose="020B0503020204020204" charset="-122"/>
                <a:cs typeface="微软雅黑" panose="020B0503020204020204" charset="-122"/>
              </a:rPr>
              <a:t>fg</a:t>
            </a:r>
            <a:r>
              <a:rPr lang="zh-CN" altLang="en-US" sz="1865">
                <a:latin typeface="微软雅黑" panose="020B0503020204020204" charset="-122"/>
                <a:ea typeface="微软雅黑" panose="020B0503020204020204" charset="-122"/>
                <a:cs typeface="微软雅黑" panose="020B0503020204020204" charset="-122"/>
              </a:rPr>
              <a:t>与</a:t>
            </a:r>
            <a:r>
              <a:rPr lang="en-US" altLang="zh-CN" sz="1865">
                <a:latin typeface="微软雅黑" panose="020B0503020204020204" charset="-122"/>
                <a:ea typeface="微软雅黑" panose="020B0503020204020204" charset="-122"/>
                <a:cs typeface="微软雅黑" panose="020B0503020204020204" charset="-122"/>
              </a:rPr>
              <a:t>f/g</a:t>
            </a:r>
            <a:r>
              <a:rPr lang="zh-CN" altLang="en-US" sz="1865">
                <a:latin typeface="微软雅黑" panose="020B0503020204020204" charset="-122"/>
                <a:ea typeface="微软雅黑" panose="020B0503020204020204" charset="-122"/>
                <a:cs typeface="微软雅黑" panose="020B0503020204020204" charset="-122"/>
              </a:rPr>
              <a:t>是否亦具有性质</a:t>
            </a:r>
            <a:r>
              <a:rPr lang="en-US" altLang="zh-CN" sz="1865">
                <a:latin typeface="微软雅黑" panose="020B0503020204020204" charset="-122"/>
                <a:ea typeface="微软雅黑" panose="020B0503020204020204" charset="-122"/>
                <a:cs typeface="微软雅黑" panose="020B0503020204020204" charset="-122"/>
              </a:rPr>
              <a:t>p</a:t>
            </a:r>
            <a:r>
              <a:rPr lang="zh-CN" altLang="en-US" sz="1865">
                <a:latin typeface="微软雅黑" panose="020B0503020204020204" charset="-122"/>
                <a:ea typeface="微软雅黑" panose="020B0503020204020204" charset="-122"/>
                <a:cs typeface="微软雅黑" panose="020B0503020204020204" charset="-122"/>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6442" y="434941"/>
            <a:ext cx="77964" cy="501717"/>
            <a:chOff x="0" y="0"/>
            <a:chExt cx="114300" cy="735550"/>
          </a:xfrm>
        </p:grpSpPr>
        <p:sp>
          <p:nvSpPr>
            <p:cNvPr id="3" name="Freeform 3"/>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sp>
        <p:nvSpPr>
          <p:cNvPr id="6" name="Freeform 6"/>
          <p:cNvSpPr/>
          <p:nvPr/>
        </p:nvSpPr>
        <p:spPr>
          <a:xfrm>
            <a:off x="711200" y="1600200"/>
            <a:ext cx="6422813" cy="1840653"/>
          </a:xfrm>
          <a:custGeom>
            <a:avLst/>
            <a:gdLst/>
            <a:ahLst/>
            <a:cxnLst/>
            <a:rect l="l" t="t" r="r" b="b"/>
            <a:pathLst>
              <a:path w="9452917" h="2760717">
                <a:moveTo>
                  <a:pt x="0" y="0"/>
                </a:moveTo>
                <a:lnTo>
                  <a:pt x="9452916" y="0"/>
                </a:lnTo>
                <a:lnTo>
                  <a:pt x="9452916" y="2760717"/>
                </a:lnTo>
                <a:lnTo>
                  <a:pt x="0" y="2760717"/>
                </a:lnTo>
                <a:lnTo>
                  <a:pt x="0" y="0"/>
                </a:lnTo>
                <a:close/>
              </a:path>
            </a:pathLst>
          </a:custGeom>
          <a:blipFill>
            <a:blip r:embed="rId2"/>
            <a:stretch>
              <a:fillRect r="-1093"/>
            </a:stretch>
          </a:blipFill>
        </p:spPr>
      </p:sp>
      <p:sp>
        <p:nvSpPr>
          <p:cNvPr id="7" name="Freeform 7"/>
          <p:cNvSpPr/>
          <p:nvPr/>
        </p:nvSpPr>
        <p:spPr>
          <a:xfrm>
            <a:off x="711200" y="3632200"/>
            <a:ext cx="7614497" cy="1385147"/>
          </a:xfrm>
          <a:custGeom>
            <a:avLst/>
            <a:gdLst/>
            <a:ahLst/>
            <a:cxnLst/>
            <a:rect l="l" t="t" r="r" b="b"/>
            <a:pathLst>
              <a:path w="13584854" h="2499205">
                <a:moveTo>
                  <a:pt x="0" y="0"/>
                </a:moveTo>
                <a:lnTo>
                  <a:pt x="13584854" y="0"/>
                </a:lnTo>
                <a:lnTo>
                  <a:pt x="13584854" y="2499205"/>
                </a:lnTo>
                <a:lnTo>
                  <a:pt x="0" y="2499205"/>
                </a:lnTo>
                <a:lnTo>
                  <a:pt x="0" y="0"/>
                </a:lnTo>
                <a:close/>
              </a:path>
            </a:pathLst>
          </a:custGeom>
          <a:blipFill>
            <a:blip r:embed="rId3"/>
            <a:stretch>
              <a:fillRect r="-1371"/>
            </a:stretch>
          </a:blipFill>
        </p:spPr>
      </p:sp>
      <p:grpSp>
        <p:nvGrpSpPr>
          <p:cNvPr id="8" name="Group 8"/>
          <p:cNvGrpSpPr/>
          <p:nvPr/>
        </p:nvGrpSpPr>
        <p:grpSpPr>
          <a:xfrm>
            <a:off x="9144000" y="1229360"/>
            <a:ext cx="2577677" cy="2408767"/>
            <a:chOff x="0" y="0"/>
            <a:chExt cx="6065520" cy="7565268"/>
          </a:xfrm>
        </p:grpSpPr>
        <p:sp>
          <p:nvSpPr>
            <p:cNvPr id="9" name="Freeform 9"/>
            <p:cNvSpPr/>
            <p:nvPr/>
          </p:nvSpPr>
          <p:spPr>
            <a:xfrm>
              <a:off x="0" y="0"/>
              <a:ext cx="6065520" cy="7565263"/>
            </a:xfrm>
            <a:custGeom>
              <a:avLst/>
              <a:gdLst/>
              <a:ahLst/>
              <a:cxnLst/>
              <a:rect l="l" t="t" r="r" b="b"/>
              <a:pathLst>
                <a:path w="6065520" h="7565263">
                  <a:moveTo>
                    <a:pt x="127000" y="0"/>
                  </a:moveTo>
                  <a:lnTo>
                    <a:pt x="5938520" y="0"/>
                  </a:lnTo>
                  <a:cubicBezTo>
                    <a:pt x="6008624" y="0"/>
                    <a:pt x="6065520" y="56896"/>
                    <a:pt x="6065520" y="127000"/>
                  </a:cubicBezTo>
                  <a:lnTo>
                    <a:pt x="6065520" y="7438263"/>
                  </a:lnTo>
                  <a:cubicBezTo>
                    <a:pt x="6065520" y="7508367"/>
                    <a:pt x="6008624" y="7565263"/>
                    <a:pt x="5938520" y="7565263"/>
                  </a:cubicBezTo>
                  <a:lnTo>
                    <a:pt x="127000" y="7565263"/>
                  </a:lnTo>
                  <a:cubicBezTo>
                    <a:pt x="56896" y="7565263"/>
                    <a:pt x="0" y="7508367"/>
                    <a:pt x="0" y="7438263"/>
                  </a:cubicBezTo>
                  <a:lnTo>
                    <a:pt x="0" y="127000"/>
                  </a:lnTo>
                  <a:cubicBezTo>
                    <a:pt x="0" y="56896"/>
                    <a:pt x="56896" y="0"/>
                    <a:pt x="127000" y="0"/>
                  </a:cubicBezTo>
                  <a:moveTo>
                    <a:pt x="127000" y="254000"/>
                  </a:moveTo>
                  <a:lnTo>
                    <a:pt x="127000" y="127000"/>
                  </a:lnTo>
                  <a:lnTo>
                    <a:pt x="254000" y="127000"/>
                  </a:lnTo>
                  <a:lnTo>
                    <a:pt x="254000" y="7438263"/>
                  </a:lnTo>
                  <a:lnTo>
                    <a:pt x="127000" y="7438263"/>
                  </a:lnTo>
                  <a:lnTo>
                    <a:pt x="127000" y="7311263"/>
                  </a:lnTo>
                  <a:lnTo>
                    <a:pt x="5938520" y="7311263"/>
                  </a:lnTo>
                  <a:lnTo>
                    <a:pt x="5938520" y="7438263"/>
                  </a:lnTo>
                  <a:lnTo>
                    <a:pt x="5811520" y="7438263"/>
                  </a:lnTo>
                  <a:lnTo>
                    <a:pt x="5811520" y="127000"/>
                  </a:lnTo>
                  <a:lnTo>
                    <a:pt x="5938520" y="127000"/>
                  </a:lnTo>
                  <a:lnTo>
                    <a:pt x="5938520" y="254000"/>
                  </a:lnTo>
                  <a:lnTo>
                    <a:pt x="127000" y="254000"/>
                  </a:lnTo>
                  <a:close/>
                </a:path>
              </a:pathLst>
            </a:custGeom>
            <a:solidFill>
              <a:srgbClr val="000000"/>
            </a:solidFill>
          </p:spPr>
        </p:sp>
      </p:grpSp>
      <p:sp>
        <p:nvSpPr>
          <p:cNvPr id="10" name="Freeform 10"/>
          <p:cNvSpPr/>
          <p:nvPr/>
        </p:nvSpPr>
        <p:spPr>
          <a:xfrm>
            <a:off x="8737600" y="1854200"/>
            <a:ext cx="3171613" cy="847513"/>
          </a:xfrm>
          <a:custGeom>
            <a:avLst/>
            <a:gdLst/>
            <a:ahLst/>
            <a:cxnLst/>
            <a:rect l="l" t="t" r="r" b="b"/>
            <a:pathLst>
              <a:path w="5576545" h="1566116">
                <a:moveTo>
                  <a:pt x="0" y="0"/>
                </a:moveTo>
                <a:lnTo>
                  <a:pt x="5576545" y="0"/>
                </a:lnTo>
                <a:lnTo>
                  <a:pt x="5576545" y="1566117"/>
                </a:lnTo>
                <a:lnTo>
                  <a:pt x="0" y="1566117"/>
                </a:lnTo>
                <a:lnTo>
                  <a:pt x="0" y="0"/>
                </a:lnTo>
                <a:close/>
              </a:path>
            </a:pathLst>
          </a:custGeom>
          <a:blipFill>
            <a:blip r:embed="rId4"/>
            <a:stretch>
              <a:fillRect/>
            </a:stretch>
          </a:blipFill>
        </p:spPr>
      </p:sp>
      <p:sp>
        <p:nvSpPr>
          <p:cNvPr id="11" name="TextBox 11"/>
          <p:cNvSpPr txBox="1"/>
          <p:nvPr/>
        </p:nvSpPr>
        <p:spPr>
          <a:xfrm>
            <a:off x="9347188" y="1346212"/>
            <a:ext cx="2112058" cy="526415"/>
          </a:xfrm>
          <a:prstGeom prst="rect">
            <a:avLst/>
          </a:prstGeom>
        </p:spPr>
        <p:txBody>
          <a:bodyPr lIns="0" tIns="0" rIns="0" bIns="0" rtlCol="0" anchor="t">
            <a:spAutoFit/>
          </a:bodyPr>
          <a:lstStyle/>
          <a:p>
            <a:pPr algn="ctr">
              <a:lnSpc>
                <a:spcPts val="4105"/>
              </a:lnSpc>
            </a:pPr>
            <a:r>
              <a:rPr lang="en-US" sz="1865">
                <a:solidFill>
                  <a:srgbClr val="000000"/>
                </a:solidFill>
                <a:ea typeface="字由点字典黑 65J Bold"/>
              </a:rPr>
              <a:t>反函数特征性质</a:t>
            </a:r>
          </a:p>
        </p:txBody>
      </p:sp>
      <p:sp>
        <p:nvSpPr>
          <p:cNvPr id="12" name="Freeform 12"/>
          <p:cNvSpPr/>
          <p:nvPr/>
        </p:nvSpPr>
        <p:spPr>
          <a:xfrm>
            <a:off x="660400" y="5410200"/>
            <a:ext cx="406400" cy="752263"/>
          </a:xfrm>
          <a:custGeom>
            <a:avLst/>
            <a:gdLst/>
            <a:ahLst/>
            <a:cxnLst/>
            <a:rect l="l" t="t" r="r" b="b"/>
            <a:pathLst>
              <a:path w="854620" h="1370383">
                <a:moveTo>
                  <a:pt x="0" y="0"/>
                </a:moveTo>
                <a:lnTo>
                  <a:pt x="854620" y="0"/>
                </a:lnTo>
                <a:lnTo>
                  <a:pt x="854620" y="1370383"/>
                </a:lnTo>
                <a:lnTo>
                  <a:pt x="0" y="13703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4" name="TextBox 14"/>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5" name="TextBox 15"/>
          <p:cNvSpPr txBox="1"/>
          <p:nvPr/>
        </p:nvSpPr>
        <p:spPr>
          <a:xfrm>
            <a:off x="816891" y="409575"/>
            <a:ext cx="5279109" cy="845820"/>
          </a:xfrm>
          <a:prstGeom prst="rect">
            <a:avLst/>
          </a:prstGeom>
        </p:spPr>
        <p:txBody>
          <a:bodyPr lIns="0" tIns="0" rIns="0" bIns="0" rtlCol="0" anchor="t">
            <a:spAutoFit/>
          </a:bodyPr>
          <a:lstStyle/>
          <a:p>
            <a:pPr marL="0" lvl="0" indent="0">
              <a:lnSpc>
                <a:spcPts val="6600"/>
              </a:lnSpc>
              <a:spcBef>
                <a:spcPct val="0"/>
              </a:spcBef>
            </a:pPr>
            <a:r>
              <a:rPr lang="en-US" sz="2665">
                <a:solidFill>
                  <a:srgbClr val="000000"/>
                </a:solidFill>
                <a:latin typeface="宋体" panose="02010600030101010101" pitchFamily="2" charset="-122"/>
                <a:ea typeface="宋体" panose="02010600030101010101" pitchFamily="2" charset="-122"/>
                <a:cs typeface="宋体" panose="02010600030101010101" pitchFamily="2" charset="-122"/>
              </a:rPr>
              <a:t>1.2.2 复合函数与反函数</a:t>
            </a:r>
          </a:p>
        </p:txBody>
      </p:sp>
      <p:sp>
        <p:nvSpPr>
          <p:cNvPr id="16" name="TextBox 16"/>
          <p:cNvSpPr txBox="1"/>
          <p:nvPr/>
        </p:nvSpPr>
        <p:spPr>
          <a:xfrm>
            <a:off x="9309743" y="2616190"/>
            <a:ext cx="2411581" cy="1108710"/>
          </a:xfrm>
          <a:prstGeom prst="rect">
            <a:avLst/>
          </a:prstGeom>
        </p:spPr>
        <p:txBody>
          <a:bodyPr lIns="0" tIns="0" rIns="0" bIns="0" rtlCol="0" anchor="t">
            <a:spAutoFit/>
          </a:bodyPr>
          <a:lstStyle/>
          <a:p>
            <a:pPr>
              <a:lnSpc>
                <a:spcPts val="4325"/>
              </a:lnSpc>
            </a:pPr>
            <a:r>
              <a:rPr lang="en-US" sz="1335">
                <a:solidFill>
                  <a:srgbClr val="6B6B6B"/>
                </a:solidFill>
                <a:latin typeface="字由点字典黑 65J" panose="00020600040101010101" charset="-122"/>
                <a:ea typeface="字由点字典黑 65J" panose="00020600040101010101" charset="-122"/>
              </a:rPr>
              <a:t>y=f(x)的图像与y=φ(x)的图形关于直线y=x对称</a:t>
            </a:r>
          </a:p>
        </p:txBody>
      </p:sp>
      <p:sp>
        <p:nvSpPr>
          <p:cNvPr id="17" name="TextBox 17"/>
          <p:cNvSpPr txBox="1"/>
          <p:nvPr/>
        </p:nvSpPr>
        <p:spPr>
          <a:xfrm>
            <a:off x="914400" y="5918200"/>
            <a:ext cx="8107680" cy="987425"/>
          </a:xfrm>
          <a:prstGeom prst="rect">
            <a:avLst/>
          </a:prstGeom>
        </p:spPr>
        <p:txBody>
          <a:bodyPr wrap="square" lIns="0" tIns="0" rIns="0" bIns="0" rtlCol="0" anchor="t">
            <a:spAutoFit/>
          </a:bodyPr>
          <a:lstStyle/>
          <a:p>
            <a:pPr algn="ctr">
              <a:lnSpc>
                <a:spcPts val="3850"/>
              </a:lnSpc>
            </a:pPr>
            <a:r>
              <a:rPr lang="en-US" sz="1865">
                <a:solidFill>
                  <a:srgbClr val="000000"/>
                </a:solidFill>
                <a:latin typeface="微软雅黑" panose="020B0503020204020204" charset="-122"/>
                <a:ea typeface="微软雅黑" panose="020B0503020204020204" charset="-122"/>
              </a:rPr>
              <a:t>严格单调函数为可逆函数，因而有反函数，经常以此来判定反函数的存在</a:t>
            </a:r>
          </a:p>
          <a:p>
            <a:pPr>
              <a:lnSpc>
                <a:spcPts val="3850"/>
              </a:lnSpc>
              <a:spcBef>
                <a:spcPct val="0"/>
              </a:spcBef>
            </a:pPr>
            <a:r>
              <a:rPr lang="en-US" sz="1865">
                <a:solidFill>
                  <a:srgbClr val="000000"/>
                </a:solidFill>
                <a:latin typeface="微软雅黑" panose="020B0503020204020204" charset="-122"/>
                <a:ea typeface="微软雅黑" panose="020B0503020204020204" charset="-122"/>
              </a:rPr>
              <a:t>    但可逆函数不一定是严格单调函数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3200" y="1397000"/>
            <a:ext cx="4160520" cy="3338407"/>
          </a:xfrm>
          <a:custGeom>
            <a:avLst/>
            <a:gdLst/>
            <a:ahLst/>
            <a:cxnLst/>
            <a:rect l="l" t="t" r="r" b="b"/>
            <a:pathLst>
              <a:path w="6492240" h="5237376">
                <a:moveTo>
                  <a:pt x="0" y="0"/>
                </a:moveTo>
                <a:lnTo>
                  <a:pt x="6492240" y="0"/>
                </a:lnTo>
                <a:lnTo>
                  <a:pt x="6492240" y="5237377"/>
                </a:lnTo>
                <a:lnTo>
                  <a:pt x="0" y="5237377"/>
                </a:lnTo>
                <a:lnTo>
                  <a:pt x="0" y="0"/>
                </a:lnTo>
                <a:close/>
              </a:path>
            </a:pathLst>
          </a:custGeom>
          <a:blipFill>
            <a:blip r:embed="rId2"/>
            <a:stretch>
              <a:fillRect l="-3656" t="-2071" b="-4183"/>
            </a:stretch>
          </a:blipFill>
        </p:spPr>
      </p:sp>
      <p:sp>
        <p:nvSpPr>
          <p:cNvPr id="3" name="Freeform 3"/>
          <p:cNvSpPr/>
          <p:nvPr/>
        </p:nvSpPr>
        <p:spPr>
          <a:xfrm>
            <a:off x="152400" y="4945380"/>
            <a:ext cx="5109210" cy="1261957"/>
          </a:xfrm>
          <a:custGeom>
            <a:avLst/>
            <a:gdLst/>
            <a:ahLst/>
            <a:cxnLst/>
            <a:rect l="l" t="t" r="r" b="b"/>
            <a:pathLst>
              <a:path w="7970473" h="1906315">
                <a:moveTo>
                  <a:pt x="0" y="0"/>
                </a:moveTo>
                <a:lnTo>
                  <a:pt x="7970472" y="0"/>
                </a:lnTo>
                <a:lnTo>
                  <a:pt x="7970472" y="1906316"/>
                </a:lnTo>
                <a:lnTo>
                  <a:pt x="0" y="1906316"/>
                </a:lnTo>
                <a:lnTo>
                  <a:pt x="0" y="0"/>
                </a:lnTo>
                <a:close/>
              </a:path>
            </a:pathLst>
          </a:custGeom>
          <a:blipFill>
            <a:blip r:embed="rId3"/>
            <a:stretch>
              <a:fillRect l="-4032" r="-3387"/>
            </a:stretch>
          </a:blipFill>
        </p:spPr>
      </p:sp>
      <p:sp>
        <p:nvSpPr>
          <p:cNvPr id="4" name="Freeform 4"/>
          <p:cNvSpPr/>
          <p:nvPr/>
        </p:nvSpPr>
        <p:spPr>
          <a:xfrm>
            <a:off x="5484283" y="1549400"/>
            <a:ext cx="5930053" cy="1631527"/>
          </a:xfrm>
          <a:custGeom>
            <a:avLst/>
            <a:gdLst/>
            <a:ahLst/>
            <a:cxnLst/>
            <a:rect l="l" t="t" r="r" b="b"/>
            <a:pathLst>
              <a:path w="9530581" h="2628966">
                <a:moveTo>
                  <a:pt x="0" y="0"/>
                </a:moveTo>
                <a:lnTo>
                  <a:pt x="9530581" y="0"/>
                </a:lnTo>
                <a:lnTo>
                  <a:pt x="9530581" y="2628966"/>
                </a:lnTo>
                <a:lnTo>
                  <a:pt x="0" y="2628966"/>
                </a:lnTo>
                <a:lnTo>
                  <a:pt x="0" y="0"/>
                </a:lnTo>
                <a:close/>
              </a:path>
            </a:pathLst>
          </a:custGeom>
          <a:blipFill>
            <a:blip r:embed="rId4"/>
            <a:stretch>
              <a:fillRect l="-2701" t="-2879" r="-4862"/>
            </a:stretch>
          </a:blipFill>
        </p:spPr>
      </p:sp>
      <p:sp>
        <p:nvSpPr>
          <p:cNvPr id="5" name="Freeform 5"/>
          <p:cNvSpPr/>
          <p:nvPr/>
        </p:nvSpPr>
        <p:spPr>
          <a:xfrm>
            <a:off x="5543973" y="3429000"/>
            <a:ext cx="5895763" cy="1051983"/>
          </a:xfrm>
          <a:custGeom>
            <a:avLst/>
            <a:gdLst/>
            <a:ahLst/>
            <a:cxnLst/>
            <a:rect l="l" t="t" r="r" b="b"/>
            <a:pathLst>
              <a:path w="9530581" h="1631937">
                <a:moveTo>
                  <a:pt x="0" y="0"/>
                </a:moveTo>
                <a:lnTo>
                  <a:pt x="9530581" y="0"/>
                </a:lnTo>
                <a:lnTo>
                  <a:pt x="9530581" y="1631937"/>
                </a:lnTo>
                <a:lnTo>
                  <a:pt x="0" y="1631937"/>
                </a:lnTo>
                <a:lnTo>
                  <a:pt x="0" y="0"/>
                </a:lnTo>
                <a:close/>
              </a:path>
            </a:pathLst>
          </a:custGeom>
          <a:blipFill>
            <a:blip r:embed="rId5"/>
            <a:stretch>
              <a:fillRect l="-2674" t="-8326" b="-9746"/>
            </a:stretch>
          </a:blipFill>
        </p:spPr>
      </p:sp>
      <p:grpSp>
        <p:nvGrpSpPr>
          <p:cNvPr id="6" name="Group 6"/>
          <p:cNvGrpSpPr/>
          <p:nvPr/>
        </p:nvGrpSpPr>
        <p:grpSpPr>
          <a:xfrm>
            <a:off x="92565" y="158716"/>
            <a:ext cx="77964" cy="501717"/>
            <a:chOff x="0" y="0"/>
            <a:chExt cx="114300" cy="735550"/>
          </a:xfrm>
        </p:grpSpPr>
        <p:sp>
          <p:nvSpPr>
            <p:cNvPr id="7" name="Freeform 7"/>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sp>
        <p:nvSpPr>
          <p:cNvPr id="8" name="Freeform 8"/>
          <p:cNvSpPr/>
          <p:nvPr/>
        </p:nvSpPr>
        <p:spPr>
          <a:xfrm>
            <a:off x="5638800" y="4516967"/>
            <a:ext cx="2782147" cy="1711960"/>
          </a:xfrm>
          <a:custGeom>
            <a:avLst/>
            <a:gdLst/>
            <a:ahLst/>
            <a:cxnLst/>
            <a:rect l="l" t="t" r="r" b="b"/>
            <a:pathLst>
              <a:path w="5015897" h="2894660">
                <a:moveTo>
                  <a:pt x="0" y="0"/>
                </a:moveTo>
                <a:lnTo>
                  <a:pt x="5015897" y="0"/>
                </a:lnTo>
                <a:lnTo>
                  <a:pt x="5015897" y="2894660"/>
                </a:lnTo>
                <a:lnTo>
                  <a:pt x="0" y="2894660"/>
                </a:lnTo>
                <a:lnTo>
                  <a:pt x="0" y="0"/>
                </a:lnTo>
                <a:close/>
              </a:path>
            </a:pathLst>
          </a:custGeom>
          <a:blipFill>
            <a:blip r:embed="rId6"/>
            <a:stretch>
              <a:fillRect l="-8662" r="-5543" b="-72165"/>
            </a:stretch>
          </a:blipFill>
        </p:spPr>
      </p:sp>
      <p:sp>
        <p:nvSpPr>
          <p:cNvPr id="9" name="Freeform 9"/>
          <p:cNvSpPr/>
          <p:nvPr/>
        </p:nvSpPr>
        <p:spPr>
          <a:xfrm>
            <a:off x="8737600" y="4495800"/>
            <a:ext cx="2427393" cy="956733"/>
          </a:xfrm>
          <a:custGeom>
            <a:avLst/>
            <a:gdLst/>
            <a:ahLst/>
            <a:cxnLst/>
            <a:rect l="l" t="t" r="r" b="b"/>
            <a:pathLst>
              <a:path w="4514684" h="1655684">
                <a:moveTo>
                  <a:pt x="0" y="0"/>
                </a:moveTo>
                <a:lnTo>
                  <a:pt x="4514684" y="0"/>
                </a:lnTo>
                <a:lnTo>
                  <a:pt x="4514684" y="1655684"/>
                </a:lnTo>
                <a:lnTo>
                  <a:pt x="0" y="1655684"/>
                </a:lnTo>
                <a:lnTo>
                  <a:pt x="0" y="0"/>
                </a:lnTo>
                <a:close/>
              </a:path>
            </a:pathLst>
          </a:custGeom>
          <a:blipFill>
            <a:blip r:embed="rId7"/>
            <a:stretch>
              <a:fillRect l="-8291" t="-163443" r="-5441" b="-6359"/>
            </a:stretch>
          </a:blipFill>
        </p:spPr>
      </p:sp>
      <p:sp>
        <p:nvSpPr>
          <p:cNvPr id="10" name="TextBox 10"/>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1" name="TextBox 11"/>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2" name="TextBox 12"/>
          <p:cNvSpPr txBox="1"/>
          <p:nvPr/>
        </p:nvSpPr>
        <p:spPr>
          <a:xfrm>
            <a:off x="283015" y="133350"/>
            <a:ext cx="3260550" cy="845820"/>
          </a:xfrm>
          <a:prstGeom prst="rect">
            <a:avLst/>
          </a:prstGeom>
        </p:spPr>
        <p:txBody>
          <a:bodyPr lIns="0" tIns="0" rIns="0" bIns="0" rtlCol="0" anchor="t">
            <a:spAutoFit/>
          </a:bodyPr>
          <a:lstStyle/>
          <a:p>
            <a:pPr marL="0" lvl="0" indent="0">
              <a:lnSpc>
                <a:spcPts val="6600"/>
              </a:lnSpc>
              <a:spcBef>
                <a:spcPct val="0"/>
              </a:spcBef>
            </a:pPr>
            <a:r>
              <a:rPr 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1.2.3 初等函数</a:t>
            </a:r>
          </a:p>
        </p:txBody>
      </p:sp>
      <p:sp>
        <p:nvSpPr>
          <p:cNvPr id="13" name="TextBox 13"/>
          <p:cNvSpPr txBox="1"/>
          <p:nvPr/>
        </p:nvSpPr>
        <p:spPr>
          <a:xfrm>
            <a:off x="283015" y="793849"/>
            <a:ext cx="10522144" cy="530225"/>
          </a:xfrm>
          <a:prstGeom prst="rect">
            <a:avLst/>
          </a:prstGeom>
        </p:spPr>
        <p:txBody>
          <a:bodyPr lIns="0" tIns="0" rIns="0" bIns="0" rtlCol="0" anchor="t">
            <a:spAutoFit/>
          </a:bodyPr>
          <a:lstStyle/>
          <a:p>
            <a:pPr>
              <a:lnSpc>
                <a:spcPts val="4135"/>
              </a:lnSpc>
            </a:pPr>
            <a:r>
              <a:rPr lang="en-US" sz="1865" spc="159">
                <a:solidFill>
                  <a:srgbClr val="000000"/>
                </a:solidFill>
                <a:latin typeface="微软雅黑" panose="020B0503020204020204" charset="-122"/>
                <a:ea typeface="微软雅黑" panose="020B0503020204020204" charset="-122"/>
              </a:rPr>
              <a:t>常数与基本初等函数经有限次四则运算与复合构成并可用一个式子表示的函数</a:t>
            </a:r>
          </a:p>
        </p:txBody>
      </p:sp>
      <p:sp>
        <p:nvSpPr>
          <p:cNvPr id="14" name="AutoShape 14"/>
          <p:cNvSpPr/>
          <p:nvPr/>
        </p:nvSpPr>
        <p:spPr>
          <a:xfrm>
            <a:off x="5842169" y="1752629"/>
            <a:ext cx="1145512" cy="0"/>
          </a:xfrm>
          <a:prstGeom prst="line">
            <a:avLst/>
          </a:prstGeom>
          <a:ln w="38100" cap="flat">
            <a:solidFill>
              <a:srgbClr val="000000"/>
            </a:solidFill>
            <a:prstDash val="solid"/>
            <a:headEnd type="none" w="sm" len="sm"/>
            <a:tailEnd type="none" w="sm" len="sm"/>
          </a:ln>
        </p:spPr>
      </p:sp>
      <p:sp>
        <p:nvSpPr>
          <p:cNvPr id="15" name="AutoShape 15"/>
          <p:cNvSpPr/>
          <p:nvPr/>
        </p:nvSpPr>
        <p:spPr>
          <a:xfrm>
            <a:off x="5928952" y="3657804"/>
            <a:ext cx="1451763" cy="0"/>
          </a:xfrm>
          <a:prstGeom prst="line">
            <a:avLst/>
          </a:prstGeom>
          <a:ln w="38100" cap="flat">
            <a:solidFill>
              <a:srgbClr val="000000"/>
            </a:solidFill>
            <a:prstDash val="solid"/>
            <a:headEnd type="none" w="sm" len="sm"/>
            <a:tailEnd type="none" w="sm" len="sm"/>
          </a:ln>
        </p:spPr>
      </p:sp>
      <p:sp>
        <p:nvSpPr>
          <p:cNvPr id="16" name="AutoShape 16"/>
          <p:cNvSpPr/>
          <p:nvPr/>
        </p:nvSpPr>
        <p:spPr>
          <a:xfrm flipV="1">
            <a:off x="441255" y="5204957"/>
            <a:ext cx="1297708" cy="0"/>
          </a:xfrm>
          <a:prstGeom prst="line">
            <a:avLst/>
          </a:prstGeom>
          <a:ln w="38100" cap="flat">
            <a:solidFill>
              <a:srgbClr val="000000"/>
            </a:solidFill>
            <a:prstDash val="solid"/>
            <a:headEnd type="none" w="sm" len="sm"/>
            <a:tailEnd type="none" w="sm" len="sm"/>
          </a:ln>
        </p:spPr>
      </p:sp>
      <p:sp>
        <p:nvSpPr>
          <p:cNvPr id="17" name="AutoShape 17"/>
          <p:cNvSpPr/>
          <p:nvPr/>
        </p:nvSpPr>
        <p:spPr>
          <a:xfrm flipV="1">
            <a:off x="511387" y="1752548"/>
            <a:ext cx="1227490"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2415" y="158716"/>
            <a:ext cx="77964" cy="501717"/>
            <a:chOff x="0" y="0"/>
            <a:chExt cx="114300" cy="735550"/>
          </a:xfrm>
        </p:grpSpPr>
        <p:sp>
          <p:nvSpPr>
            <p:cNvPr id="3" name="Freeform 3"/>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sp>
        <p:nvSpPr>
          <p:cNvPr id="4" name="Freeform 4"/>
          <p:cNvSpPr/>
          <p:nvPr/>
        </p:nvSpPr>
        <p:spPr>
          <a:xfrm>
            <a:off x="6724227" y="4923790"/>
            <a:ext cx="4680797" cy="1878330"/>
          </a:xfrm>
          <a:custGeom>
            <a:avLst/>
            <a:gdLst/>
            <a:ahLst/>
            <a:cxnLst/>
            <a:rect l="l" t="t" r="r" b="b"/>
            <a:pathLst>
              <a:path w="7186537" h="2901097">
                <a:moveTo>
                  <a:pt x="0" y="0"/>
                </a:moveTo>
                <a:lnTo>
                  <a:pt x="7186537" y="0"/>
                </a:lnTo>
                <a:lnTo>
                  <a:pt x="7186537" y="2901097"/>
                </a:lnTo>
                <a:lnTo>
                  <a:pt x="0" y="2901097"/>
                </a:lnTo>
                <a:lnTo>
                  <a:pt x="0" y="0"/>
                </a:lnTo>
                <a:close/>
              </a:path>
            </a:pathLst>
          </a:custGeom>
          <a:blipFill>
            <a:blip r:embed="rId2"/>
            <a:stretch>
              <a:fillRect r="-5936" b="-9343"/>
            </a:stretch>
          </a:blipFill>
        </p:spPr>
      </p:sp>
      <p:sp>
        <p:nvSpPr>
          <p:cNvPr id="5" name="Freeform 5"/>
          <p:cNvSpPr/>
          <p:nvPr/>
        </p:nvSpPr>
        <p:spPr>
          <a:xfrm>
            <a:off x="6724227" y="3733800"/>
            <a:ext cx="3122507" cy="1227243"/>
          </a:xfrm>
          <a:custGeom>
            <a:avLst/>
            <a:gdLst/>
            <a:ahLst/>
            <a:cxnLst/>
            <a:rect l="l" t="t" r="r" b="b"/>
            <a:pathLst>
              <a:path w="5010010" h="1925493">
                <a:moveTo>
                  <a:pt x="0" y="0"/>
                </a:moveTo>
                <a:lnTo>
                  <a:pt x="5010010" y="0"/>
                </a:lnTo>
                <a:lnTo>
                  <a:pt x="5010010" y="1925492"/>
                </a:lnTo>
                <a:lnTo>
                  <a:pt x="0" y="1925492"/>
                </a:lnTo>
                <a:lnTo>
                  <a:pt x="0" y="0"/>
                </a:lnTo>
                <a:close/>
              </a:path>
            </a:pathLst>
          </a:custGeom>
          <a:blipFill>
            <a:blip r:embed="rId3"/>
            <a:stretch>
              <a:fillRect l="-4720" r="-51491"/>
            </a:stretch>
          </a:blipFill>
        </p:spPr>
      </p:sp>
      <p:sp>
        <p:nvSpPr>
          <p:cNvPr id="6" name="Freeform 6"/>
          <p:cNvSpPr/>
          <p:nvPr/>
        </p:nvSpPr>
        <p:spPr>
          <a:xfrm>
            <a:off x="6705600" y="554567"/>
            <a:ext cx="3122507" cy="1259840"/>
          </a:xfrm>
          <a:custGeom>
            <a:avLst/>
            <a:gdLst/>
            <a:ahLst/>
            <a:cxnLst/>
            <a:rect l="l" t="t" r="r" b="b"/>
            <a:pathLst>
              <a:path w="5010010" h="2010437">
                <a:moveTo>
                  <a:pt x="0" y="0"/>
                </a:moveTo>
                <a:lnTo>
                  <a:pt x="5010010" y="0"/>
                </a:lnTo>
                <a:lnTo>
                  <a:pt x="5010010" y="2010438"/>
                </a:lnTo>
                <a:lnTo>
                  <a:pt x="0" y="2010438"/>
                </a:lnTo>
                <a:lnTo>
                  <a:pt x="0" y="0"/>
                </a:lnTo>
                <a:close/>
              </a:path>
            </a:pathLst>
          </a:custGeom>
          <a:blipFill>
            <a:blip r:embed="rId4"/>
            <a:stretch>
              <a:fillRect/>
            </a:stretch>
          </a:blipFill>
        </p:spPr>
      </p:sp>
      <p:sp>
        <p:nvSpPr>
          <p:cNvPr id="7" name="Freeform 7"/>
          <p:cNvSpPr/>
          <p:nvPr/>
        </p:nvSpPr>
        <p:spPr>
          <a:xfrm>
            <a:off x="7417886" y="2185457"/>
            <a:ext cx="3939355" cy="1129297"/>
          </a:xfrm>
          <a:custGeom>
            <a:avLst/>
            <a:gdLst/>
            <a:ahLst/>
            <a:cxnLst/>
            <a:rect l="l" t="t" r="r" b="b"/>
            <a:pathLst>
              <a:path w="5909032" h="1693946">
                <a:moveTo>
                  <a:pt x="0" y="0"/>
                </a:moveTo>
                <a:lnTo>
                  <a:pt x="5909032" y="0"/>
                </a:lnTo>
                <a:lnTo>
                  <a:pt x="5909032" y="1693946"/>
                </a:lnTo>
                <a:lnTo>
                  <a:pt x="0" y="1693946"/>
                </a:lnTo>
                <a:lnTo>
                  <a:pt x="0" y="0"/>
                </a:lnTo>
                <a:close/>
              </a:path>
            </a:pathLst>
          </a:custGeom>
          <a:blipFill>
            <a:blip r:embed="rId5"/>
            <a:stretch>
              <a:fillRect l="-4089" t="-3566" r="-47236" b="-7846"/>
            </a:stretch>
          </a:blipFill>
        </p:spPr>
      </p:sp>
      <p:sp>
        <p:nvSpPr>
          <p:cNvPr id="8" name="Freeform 8"/>
          <p:cNvSpPr/>
          <p:nvPr/>
        </p:nvSpPr>
        <p:spPr>
          <a:xfrm>
            <a:off x="6724227" y="1905000"/>
            <a:ext cx="4672753" cy="1621790"/>
          </a:xfrm>
          <a:custGeom>
            <a:avLst/>
            <a:gdLst/>
            <a:ahLst/>
            <a:cxnLst/>
            <a:rect l="l" t="t" r="r" b="b"/>
            <a:pathLst>
              <a:path w="7333626" h="2689627">
                <a:moveTo>
                  <a:pt x="0" y="0"/>
                </a:moveTo>
                <a:lnTo>
                  <a:pt x="7333626" y="0"/>
                </a:lnTo>
                <a:lnTo>
                  <a:pt x="7333626" y="2689628"/>
                </a:lnTo>
                <a:lnTo>
                  <a:pt x="0" y="2689628"/>
                </a:lnTo>
                <a:lnTo>
                  <a:pt x="0" y="0"/>
                </a:lnTo>
                <a:close/>
              </a:path>
            </a:pathLst>
          </a:custGeom>
          <a:blipFill>
            <a:blip r:embed="rId6"/>
            <a:stretch>
              <a:fillRect l="-1299" t="-6690" r="-4395" b="-19287"/>
            </a:stretch>
          </a:blipFill>
        </p:spPr>
      </p:sp>
      <p:sp>
        <p:nvSpPr>
          <p:cNvPr id="9" name="TextBox 9"/>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0" name="TextBox 10"/>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1" name="TextBox 11"/>
          <p:cNvSpPr txBox="1"/>
          <p:nvPr/>
        </p:nvSpPr>
        <p:spPr>
          <a:xfrm>
            <a:off x="402865" y="133350"/>
            <a:ext cx="3260550" cy="845820"/>
          </a:xfrm>
          <a:prstGeom prst="rect">
            <a:avLst/>
          </a:prstGeom>
        </p:spPr>
        <p:txBody>
          <a:bodyPr lIns="0" tIns="0" rIns="0" bIns="0" rtlCol="0" anchor="t">
            <a:spAutoFit/>
          </a:bodyPr>
          <a:lstStyle/>
          <a:p>
            <a:pPr marL="0" lvl="0" indent="0">
              <a:lnSpc>
                <a:spcPts val="6600"/>
              </a:lnSpc>
              <a:spcBef>
                <a:spcPct val="0"/>
              </a:spcBef>
            </a:pPr>
            <a:r>
              <a:rPr 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1.2.3 初等函数</a:t>
            </a:r>
          </a:p>
        </p:txBody>
      </p:sp>
      <p:sp>
        <p:nvSpPr>
          <p:cNvPr id="12" name="TextBox 12"/>
          <p:cNvSpPr txBox="1"/>
          <p:nvPr/>
        </p:nvSpPr>
        <p:spPr>
          <a:xfrm>
            <a:off x="385946" y="1045805"/>
            <a:ext cx="2709457" cy="530225"/>
          </a:xfrm>
          <a:prstGeom prst="rect">
            <a:avLst/>
          </a:prstGeom>
        </p:spPr>
        <p:txBody>
          <a:bodyPr lIns="0" tIns="0" rIns="0" bIns="0" rtlCol="0" anchor="t">
            <a:spAutoFit/>
          </a:bodyPr>
          <a:lstStyle/>
          <a:p>
            <a:pPr>
              <a:lnSpc>
                <a:spcPts val="4135"/>
              </a:lnSpc>
            </a:pPr>
            <a:r>
              <a:rPr lang="en-US" sz="1865" spc="159">
                <a:solidFill>
                  <a:srgbClr val="000000"/>
                </a:solidFill>
                <a:latin typeface="微软雅黑" panose="020B0503020204020204" charset="-122"/>
                <a:ea typeface="微软雅黑" panose="020B0503020204020204" charset="-122"/>
                <a:cs typeface="微软雅黑" panose="020B0503020204020204" charset="-122"/>
              </a:rPr>
              <a:t>5.反三角函数</a:t>
            </a:r>
          </a:p>
        </p:txBody>
      </p:sp>
      <p:sp>
        <p:nvSpPr>
          <p:cNvPr id="13" name="Freeform 13"/>
          <p:cNvSpPr/>
          <p:nvPr/>
        </p:nvSpPr>
        <p:spPr>
          <a:xfrm>
            <a:off x="50800" y="3937000"/>
            <a:ext cx="2243243" cy="2134447"/>
          </a:xfrm>
          <a:custGeom>
            <a:avLst/>
            <a:gdLst/>
            <a:ahLst/>
            <a:cxnLst/>
            <a:rect l="l" t="t" r="r" b="b"/>
            <a:pathLst>
              <a:path w="3455486" h="3352801">
                <a:moveTo>
                  <a:pt x="0" y="0"/>
                </a:moveTo>
                <a:lnTo>
                  <a:pt x="3455486" y="0"/>
                </a:lnTo>
                <a:lnTo>
                  <a:pt x="3455486" y="3352801"/>
                </a:lnTo>
                <a:lnTo>
                  <a:pt x="0" y="3352801"/>
                </a:lnTo>
                <a:lnTo>
                  <a:pt x="0" y="0"/>
                </a:lnTo>
                <a:close/>
              </a:path>
            </a:pathLst>
          </a:custGeom>
          <a:blipFill>
            <a:blip r:embed="rId7"/>
            <a:stretch>
              <a:fillRect l="-14920" t="-7097" r="-147253" b="-11434"/>
            </a:stretch>
          </a:blipFill>
        </p:spPr>
      </p:sp>
      <p:sp>
        <p:nvSpPr>
          <p:cNvPr id="14" name="Freeform 14"/>
          <p:cNvSpPr/>
          <p:nvPr/>
        </p:nvSpPr>
        <p:spPr>
          <a:xfrm>
            <a:off x="0" y="1681903"/>
            <a:ext cx="5788660" cy="1256877"/>
          </a:xfrm>
          <a:custGeom>
            <a:avLst/>
            <a:gdLst/>
            <a:ahLst/>
            <a:cxnLst/>
            <a:rect l="l" t="t" r="r" b="b"/>
            <a:pathLst>
              <a:path w="9286207" h="2021534">
                <a:moveTo>
                  <a:pt x="0" y="0"/>
                </a:moveTo>
                <a:lnTo>
                  <a:pt x="9286207" y="0"/>
                </a:lnTo>
                <a:lnTo>
                  <a:pt x="9286207" y="2021534"/>
                </a:lnTo>
                <a:lnTo>
                  <a:pt x="0" y="2021534"/>
                </a:lnTo>
                <a:lnTo>
                  <a:pt x="0" y="0"/>
                </a:lnTo>
                <a:close/>
              </a:path>
            </a:pathLst>
          </a:custGeom>
          <a:blipFill>
            <a:blip r:embed="rId8"/>
            <a:stretch>
              <a:fillRect l="-1215" t="-19064" r="-2758" b="-6373"/>
            </a:stretch>
          </a:blipFill>
        </p:spPr>
      </p:sp>
      <p:sp>
        <p:nvSpPr>
          <p:cNvPr id="15" name="Freeform 15"/>
          <p:cNvSpPr/>
          <p:nvPr/>
        </p:nvSpPr>
        <p:spPr>
          <a:xfrm>
            <a:off x="609600" y="2667000"/>
            <a:ext cx="3156373" cy="1252220"/>
          </a:xfrm>
          <a:custGeom>
            <a:avLst/>
            <a:gdLst/>
            <a:ahLst/>
            <a:cxnLst/>
            <a:rect l="l" t="t" r="r" b="b"/>
            <a:pathLst>
              <a:path w="4970786" h="2056500">
                <a:moveTo>
                  <a:pt x="0" y="0"/>
                </a:moveTo>
                <a:lnTo>
                  <a:pt x="4970786" y="0"/>
                </a:lnTo>
                <a:lnTo>
                  <a:pt x="4970786" y="2056500"/>
                </a:lnTo>
                <a:lnTo>
                  <a:pt x="0" y="2056500"/>
                </a:lnTo>
                <a:lnTo>
                  <a:pt x="0" y="0"/>
                </a:lnTo>
                <a:close/>
              </a:path>
            </a:pathLst>
          </a:custGeom>
          <a:blipFill>
            <a:blip r:embed="rId9"/>
            <a:stretch>
              <a:fillRect l="-6937" t="-8877" r="-44247" b="-986"/>
            </a:stretch>
          </a:blipFill>
        </p:spPr>
      </p:sp>
      <p:sp>
        <p:nvSpPr>
          <p:cNvPr id="16" name="Freeform 16"/>
          <p:cNvSpPr/>
          <p:nvPr/>
        </p:nvSpPr>
        <p:spPr>
          <a:xfrm>
            <a:off x="2438400" y="4038600"/>
            <a:ext cx="2420620" cy="1964690"/>
          </a:xfrm>
          <a:custGeom>
            <a:avLst/>
            <a:gdLst/>
            <a:ahLst/>
            <a:cxnLst/>
            <a:rect l="l" t="t" r="r" b="b"/>
            <a:pathLst>
              <a:path w="4167557" h="3275701">
                <a:moveTo>
                  <a:pt x="0" y="0"/>
                </a:moveTo>
                <a:lnTo>
                  <a:pt x="4167556" y="0"/>
                </a:lnTo>
                <a:lnTo>
                  <a:pt x="4167556" y="3275701"/>
                </a:lnTo>
                <a:lnTo>
                  <a:pt x="0" y="3275701"/>
                </a:lnTo>
                <a:lnTo>
                  <a:pt x="0" y="0"/>
                </a:lnTo>
                <a:close/>
              </a:path>
            </a:pathLst>
          </a:custGeom>
          <a:blipFill>
            <a:blip r:embed="rId7"/>
            <a:stretch>
              <a:fillRect l="-105871" t="-7097" r="-6508" b="-11434"/>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08885" y="2967990"/>
            <a:ext cx="7173595" cy="922020"/>
          </a:xfrm>
          <a:prstGeom prst="rect">
            <a:avLst/>
          </a:prstGeom>
          <a:noFill/>
        </p:spPr>
        <p:txBody>
          <a:bodyPr wrap="square" rtlCol="0">
            <a:spAutoFit/>
          </a:bodyPr>
          <a:lstStyle/>
          <a:p>
            <a:pPr algn="ctr"/>
            <a:r>
              <a:rPr lang="en-US" altLang="zh-CN" sz="5400" b="1">
                <a:latin typeface="+mj-ea"/>
                <a:ea typeface="+mj-ea"/>
                <a:cs typeface="+mj-ea"/>
              </a:rPr>
              <a:t>2.1 </a:t>
            </a:r>
            <a:r>
              <a:rPr lang="zh-CN" altLang="en-US" sz="5400" b="1">
                <a:latin typeface="+mj-ea"/>
                <a:ea typeface="+mj-ea"/>
                <a:cs typeface="+mj-ea"/>
              </a:rPr>
              <a:t>数列极限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900">
                <a:latin typeface="+mn-ea"/>
                <a:ea typeface="+mn-ea"/>
              </a:rPr>
              <a:t>数列概念</a:t>
            </a:r>
          </a:p>
        </p:txBody>
      </p:sp>
      <p:sp>
        <p:nvSpPr>
          <p:cNvPr id="3" name="内容占位符 2"/>
          <p:cNvSpPr>
            <a:spLocks noGrp="1"/>
          </p:cNvSpPr>
          <p:nvPr>
            <p:ph idx="1"/>
          </p:nvPr>
        </p:nvSpPr>
        <p:spPr/>
        <p:txBody>
          <a:bodyPr/>
          <a:lstStyle/>
          <a:p>
            <a:pPr marL="0" indent="0">
              <a:buNone/>
            </a:pPr>
            <a:r>
              <a:rPr lang="zh-CN" altLang="en-US" sz="2000"/>
              <a:t>在求解数列极限之前，我们先需要了解一下数列的一些定义。</a:t>
            </a:r>
          </a:p>
          <a:p>
            <a:pPr marL="0" indent="0">
              <a:buNone/>
            </a:pPr>
            <a:endParaRPr lang="zh-CN" altLang="en-US" sz="2000"/>
          </a:p>
        </p:txBody>
      </p:sp>
      <p:pic>
        <p:nvPicPr>
          <p:cNvPr id="4" name="图片 3" descr="微信图片_20231218203515"/>
          <p:cNvPicPr>
            <a:picLocks noChangeAspect="1"/>
          </p:cNvPicPr>
          <p:nvPr/>
        </p:nvPicPr>
        <p:blipFill>
          <a:blip r:embed="rId3"/>
          <a:stretch>
            <a:fillRect/>
          </a:stretch>
        </p:blipFill>
        <p:spPr>
          <a:xfrm>
            <a:off x="743585" y="2063115"/>
            <a:ext cx="10697845" cy="2341245"/>
          </a:xfrm>
          <a:prstGeom prst="rect">
            <a:avLst/>
          </a:prstGeom>
        </p:spPr>
      </p:pic>
      <p:pic>
        <p:nvPicPr>
          <p:cNvPr id="5" name="图片 4" descr="微信图片编辑_20231218203552"/>
          <p:cNvPicPr>
            <a:picLocks noChangeAspect="1"/>
          </p:cNvPicPr>
          <p:nvPr/>
        </p:nvPicPr>
        <p:blipFill>
          <a:blip r:embed="rId4"/>
          <a:stretch>
            <a:fillRect/>
          </a:stretch>
        </p:blipFill>
        <p:spPr>
          <a:xfrm>
            <a:off x="1566545" y="4772025"/>
            <a:ext cx="8734425" cy="1179830"/>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900">
                <a:latin typeface="+mn-ea"/>
                <a:ea typeface="+mn-ea"/>
              </a:rPr>
              <a:t>数列的收敛与有界</a:t>
            </a:r>
          </a:p>
        </p:txBody>
      </p:sp>
      <p:sp>
        <p:nvSpPr>
          <p:cNvPr id="3" name="内容占位符 2"/>
          <p:cNvSpPr>
            <a:spLocks noGrp="1"/>
          </p:cNvSpPr>
          <p:nvPr>
            <p:ph idx="1"/>
          </p:nvPr>
        </p:nvSpPr>
        <p:spPr/>
        <p:txBody>
          <a:bodyPr/>
          <a:lstStyle/>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p:txBody>
      </p:sp>
      <p:pic>
        <p:nvPicPr>
          <p:cNvPr id="5" name="图片 4" descr="微信图片_20231218204736"/>
          <p:cNvPicPr>
            <a:picLocks noChangeAspect="1"/>
          </p:cNvPicPr>
          <p:nvPr/>
        </p:nvPicPr>
        <p:blipFill>
          <a:blip r:embed="rId3"/>
          <a:stretch>
            <a:fillRect/>
          </a:stretch>
        </p:blipFill>
        <p:spPr>
          <a:xfrm>
            <a:off x="608330" y="1490345"/>
            <a:ext cx="10969625" cy="2025015"/>
          </a:xfrm>
          <a:prstGeom prst="rect">
            <a:avLst/>
          </a:prstGeom>
        </p:spPr>
      </p:pic>
      <p:sp>
        <p:nvSpPr>
          <p:cNvPr id="7" name="文本框 6"/>
          <p:cNvSpPr txBox="1"/>
          <p:nvPr/>
        </p:nvSpPr>
        <p:spPr>
          <a:xfrm>
            <a:off x="726440" y="3793490"/>
            <a:ext cx="10107295" cy="2526665"/>
          </a:xfrm>
          <a:prstGeom prst="rect">
            <a:avLst/>
          </a:prstGeom>
          <a:noFill/>
        </p:spPr>
        <p:txBody>
          <a:bodyPr wrap="square" rtlCol="0">
            <a:noAutofit/>
          </a:bodyPr>
          <a:lstStyle/>
          <a:p>
            <a:r>
              <a:rPr lang="zh-CN" altLang="en-US" sz="2000"/>
              <a:t>对于证明数列收敛，需要先证明数列有界，而证明有界，只需证明数列的通式一定小于某一数值即可。</a:t>
            </a:r>
          </a:p>
          <a:p>
            <a:r>
              <a:rPr lang="zh-CN" altLang="en-US" sz="2000"/>
              <a:t>由此可以较为方便的得出数列有界的结论。</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900">
                <a:latin typeface="+mn-ea"/>
                <a:ea typeface="+mn-ea"/>
              </a:rPr>
              <a:t>数列极限的性质</a:t>
            </a:r>
          </a:p>
        </p:txBody>
      </p:sp>
      <p:sp>
        <p:nvSpPr>
          <p:cNvPr id="3" name="内容占位符 2"/>
          <p:cNvSpPr>
            <a:spLocks noGrp="1"/>
          </p:cNvSpPr>
          <p:nvPr>
            <p:ph idx="1"/>
          </p:nvPr>
        </p:nvSpPr>
        <p:spPr/>
        <p:txBody>
          <a:bodyPr/>
          <a:lstStyle/>
          <a:p>
            <a:pPr marL="0" indent="0">
              <a:buNone/>
            </a:pPr>
            <a:r>
              <a:rPr lang="en-US" altLang="zh-CN"/>
              <a:t>1.</a:t>
            </a:r>
            <a:r>
              <a:rPr lang="zh-CN" altLang="en-US"/>
              <a:t>极限的四则运算：</a:t>
            </a:r>
          </a:p>
          <a:p>
            <a:pPr marL="0" indent="0">
              <a:buNone/>
            </a:pPr>
            <a:endParaRPr lang="zh-CN" altLang="en-US"/>
          </a:p>
        </p:txBody>
      </p:sp>
      <p:pic>
        <p:nvPicPr>
          <p:cNvPr id="4" name="图片 3" descr="微信图片_20231218210014"/>
          <p:cNvPicPr>
            <a:picLocks noChangeAspect="1"/>
          </p:cNvPicPr>
          <p:nvPr/>
        </p:nvPicPr>
        <p:blipFill>
          <a:blip r:embed="rId3"/>
          <a:stretch>
            <a:fillRect/>
          </a:stretch>
        </p:blipFill>
        <p:spPr>
          <a:xfrm>
            <a:off x="608330" y="1916430"/>
            <a:ext cx="10989945" cy="3397885"/>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900">
                <a:latin typeface="+mn-ea"/>
                <a:ea typeface="+mn-ea"/>
              </a:rPr>
              <a:t>数列的收敛判断法</a:t>
            </a:r>
          </a:p>
        </p:txBody>
      </p:sp>
      <p:sp>
        <p:nvSpPr>
          <p:cNvPr id="3" name="内容占位符 2"/>
          <p:cNvSpPr>
            <a:spLocks noGrp="1"/>
          </p:cNvSpPr>
          <p:nvPr>
            <p:ph idx="1"/>
          </p:nvPr>
        </p:nvSpPr>
        <p:spPr/>
        <p:txBody>
          <a:bodyPr>
            <a:normAutofit/>
          </a:bodyPr>
          <a:lstStyle/>
          <a:p>
            <a:pPr marL="0" indent="0">
              <a:buNone/>
            </a:pPr>
            <a:r>
              <a:rPr lang="en-US" altLang="zh-CN" sz="2000">
                <a:latin typeface="+mn-ea"/>
                <a:cs typeface="+mn-ea"/>
              </a:rPr>
              <a:t>1.</a:t>
            </a:r>
            <a:r>
              <a:rPr lang="zh-CN" altLang="en-US" sz="2000">
                <a:latin typeface="+mn-ea"/>
                <a:cs typeface="+mn-ea"/>
              </a:rPr>
              <a:t>夹逼定理：即若有两数列，一始终大于原数列，一始终小于原数列，但在趋于极限时，两数列的极限相等，即可证明原数列极限也是该极限。</a:t>
            </a:r>
          </a:p>
          <a:p>
            <a:pPr marL="0" indent="0">
              <a:buNone/>
            </a:pPr>
            <a:r>
              <a:rPr lang="en-US" altLang="zh-CN" sz="2000">
                <a:latin typeface="+mn-ea"/>
                <a:cs typeface="+mn-ea"/>
              </a:rPr>
              <a:t>2.</a:t>
            </a:r>
            <a:r>
              <a:rPr lang="zh-CN" altLang="en-US" sz="2000">
                <a:latin typeface="+mn-ea"/>
                <a:cs typeface="+mn-ea"/>
              </a:rPr>
              <a:t>单调有界数列必收敛：这种方法使用很多，在做题时需要分清有界与收敛的区别。有界只是说极限不会趋于无穷，而收敛需要数列存在极限。</a:t>
            </a:r>
          </a:p>
          <a:p>
            <a:pPr marL="0" indent="0">
              <a:buNone/>
            </a:pPr>
            <a:r>
              <a:rPr lang="en-US" altLang="zh-CN" sz="2000">
                <a:latin typeface="+mn-ea"/>
                <a:cs typeface="+mn-ea"/>
              </a:rPr>
              <a:t>3.</a:t>
            </a:r>
            <a:r>
              <a:rPr lang="zh-CN" altLang="en-US" sz="2000">
                <a:latin typeface="+mn-ea"/>
                <a:cs typeface="+mn-ea"/>
              </a:rPr>
              <a:t>将数列分为两个子列，通过子列的单调性以及收敛判断原数列的收敛性质。这种多用于原数列单调性不定，但子数列单调性确定的情况。</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03705" y="2967990"/>
            <a:ext cx="8784590" cy="922020"/>
          </a:xfrm>
          <a:prstGeom prst="rect">
            <a:avLst/>
          </a:prstGeom>
          <a:noFill/>
        </p:spPr>
        <p:txBody>
          <a:bodyPr wrap="square" rtlCol="0">
            <a:spAutoFit/>
          </a:bodyPr>
          <a:lstStyle/>
          <a:p>
            <a:pPr algn="ctr"/>
            <a:r>
              <a:rPr lang="en-US" altLang="zh-CN" sz="5400" b="1">
                <a:latin typeface="+mj-ea"/>
                <a:ea typeface="+mj-ea"/>
                <a:cs typeface="+mj-ea"/>
              </a:rPr>
              <a:t>2.2 </a:t>
            </a:r>
            <a:r>
              <a:rPr lang="zh-CN" altLang="en-US" sz="5400" b="1">
                <a:latin typeface="+mj-ea"/>
                <a:ea typeface="+mj-ea"/>
                <a:cs typeface="+mj-ea"/>
              </a:rPr>
              <a:t>函数的极限</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2"/>
            <p:custDataLst>
              <p:tags r:id="rId2"/>
            </p:custDataLst>
          </p:nvPr>
        </p:nvSpPr>
        <p:spPr>
          <a:xfrm>
            <a:off x="126365" y="0"/>
            <a:ext cx="4942840" cy="1050925"/>
          </a:xfrm>
        </p:spPr>
        <p:txBody>
          <a:bodyPr/>
          <a:lstStyle/>
          <a:p>
            <a:r>
              <a:rPr lang="en-US" altLang="zh-CN" sz="2800">
                <a:latin typeface="微软雅黑" panose="020B0503020204020204" charset="-122"/>
                <a:ea typeface="微软雅黑" panose="020B0503020204020204" charset="-122"/>
                <a:cs typeface="微软雅黑" panose="020B0503020204020204" charset="-122"/>
              </a:rPr>
              <a:t>2.2 </a:t>
            </a:r>
            <a:r>
              <a:rPr sz="2800">
                <a:latin typeface="微软雅黑" panose="020B0503020204020204" charset="-122"/>
                <a:ea typeface="微软雅黑" panose="020B0503020204020204" charset="-122"/>
                <a:cs typeface="微软雅黑" panose="020B0503020204020204" charset="-122"/>
              </a:rPr>
              <a:t>函数的极限</a:t>
            </a:r>
          </a:p>
        </p:txBody>
      </p:sp>
      <mc:AlternateContent xmlns:mc="http://schemas.openxmlformats.org/markup-compatibility/2006" xmlns:a14="http://schemas.microsoft.com/office/drawing/2010/main">
        <mc:Choice Requires="a14">
          <p:sp>
            <p:nvSpPr>
              <p:cNvPr id="3" name="文本框 2"/>
              <p:cNvSpPr txBox="1"/>
              <p:nvPr/>
            </p:nvSpPr>
            <p:spPr>
              <a:xfrm>
                <a:off x="126365" y="1102360"/>
                <a:ext cx="7121525" cy="5797550"/>
              </a:xfrm>
              <a:prstGeom prst="rect">
                <a:avLst/>
              </a:prstGeom>
              <a:noFill/>
            </p:spPr>
            <p:txBody>
              <a:bodyPr wrap="square" rtlCol="0">
                <a:noAutofit/>
              </a:bodyPr>
              <a:lstStyle/>
              <a:p>
                <a:pPr>
                  <a:lnSpc>
                    <a:spcPct val="100000"/>
                  </a:lnSpc>
                  <a:buFont typeface="Wingdings" panose="05000000000000000000" charset="0"/>
                  <a:buChar char="l"/>
                </a:pPr>
                <a:r>
                  <a:rPr lang="zh-CN" altLang="en-US" sz="2000" dirty="0">
                    <a:solidFill>
                      <a:srgbClr val="2C70FF"/>
                    </a:solidFill>
                    <a:latin typeface="微软雅黑" panose="020B0503020204020204" charset="-122"/>
                    <a:ea typeface="微软雅黑" panose="020B0503020204020204" charset="-122"/>
                    <a:cs typeface="微软雅黑" panose="020B0503020204020204" charset="-122"/>
                    <a:sym typeface="+mn-ea"/>
                  </a:rPr>
                  <a:t>定义1</a:t>
                </a:r>
                <a:r>
                  <a:rPr lang="zh-CN" altLang="en-US" sz="2000" dirty="0">
                    <a:latin typeface="微软雅黑" panose="020B0503020204020204" charset="-122"/>
                    <a:ea typeface="微软雅黑" panose="020B0503020204020204" charset="-122"/>
                    <a:cs typeface="微软雅黑" panose="020B0503020204020204" charset="-122"/>
                    <a:sym typeface="+mn-ea"/>
                  </a:rPr>
                  <a:t> 设f(x）在区间［a,+∞）上有定义，l是一常数．若 </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en-US" altLang="zh-CN" sz="2000" dirty="0">
                    <a:latin typeface="微软雅黑" panose="020B0503020204020204" charset="-122"/>
                    <a:ea typeface="微软雅黑" panose="020B0503020204020204" charset="-122"/>
                    <a:cs typeface="微软雅黑" panose="020B0503020204020204" charset="-122"/>
                    <a:sym typeface="+mn-ea"/>
                  </a:rPr>
                  <a:t>                   </a:t>
                </a:r>
                <a:r>
                  <a:rPr lang="zh-CN" altLang="en-US" sz="2000" dirty="0">
                    <a:latin typeface="微软雅黑" panose="020B0503020204020204" charset="-122"/>
                    <a:ea typeface="微软雅黑" panose="020B0503020204020204" charset="-122"/>
                    <a:cs typeface="微软雅黑" panose="020B0503020204020204" charset="-122"/>
                    <a:sym typeface="+mn-ea"/>
                  </a:rPr>
                  <a:t> ∀ℇ&gt;0,∃X&gt;a,∀x&gt;X: |f(x)-l|&lt;ℇ,</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则说当x→+∞时f(x)收敛于（或趋于）l，称l为当x→+∞时f(x)的极限，记作</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en-US" altLang="zh-CN" sz="2000" dirty="0">
                    <a:latin typeface="微软雅黑" panose="020B0503020204020204" charset="-122"/>
                    <a:ea typeface="微软雅黑" panose="020B0503020204020204" charset="-122"/>
                    <a:cs typeface="微软雅黑" panose="020B0503020204020204" charset="-122"/>
                    <a:sym typeface="+mn-ea"/>
                  </a:rPr>
                  <a:t>                     </a:t>
                </a:r>
                <a:r>
                  <a:rPr lang="zh-CN" altLang="en-US" sz="2000" dirty="0">
                    <a:latin typeface="微软雅黑" panose="020B0503020204020204" charset="-122"/>
                    <a:ea typeface="微软雅黑" panose="020B0503020204020204" charset="-122"/>
                    <a:cs typeface="微软雅黑" panose="020B0503020204020204" charset="-122"/>
                    <a:sym typeface="+mn-ea"/>
                  </a:rPr>
                  <a:t>lim f(x)=l或f(x)→l(x→+∞),</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有时也简写作f(+∞)=l.</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00000"/>
                  </a:lnSpc>
                  <a:buFont typeface="Wingdings" panose="05000000000000000000" charset="0"/>
                  <a:buChar char="l"/>
                </a:pPr>
                <a:r>
                  <a:rPr lang="zh-CN" altLang="en-US" sz="2000" dirty="0">
                    <a:solidFill>
                      <a:srgbClr val="2C70FF"/>
                    </a:solidFill>
                    <a:latin typeface="微软雅黑" panose="020B0503020204020204" charset="-122"/>
                    <a:ea typeface="微软雅黑" panose="020B0503020204020204" charset="-122"/>
                    <a:cs typeface="微软雅黑" panose="020B0503020204020204" charset="-122"/>
                    <a:sym typeface="+mn-ea"/>
                  </a:rPr>
                  <a:t>定义2</a:t>
                </a:r>
                <a:r>
                  <a:rPr lang="zh-CN" altLang="en-US" sz="2000" dirty="0">
                    <a:latin typeface="微软雅黑" panose="020B0503020204020204" charset="-122"/>
                    <a:ea typeface="微软雅黑" panose="020B0503020204020204" charset="-122"/>
                    <a:cs typeface="微软雅黑" panose="020B0503020204020204" charset="-122"/>
                    <a:sym typeface="+mn-ea"/>
                  </a:rPr>
                  <a:t> 设f(x)在区间（-∞,a］上有定义，l是一常数．若</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en-US" altLang="zh-CN" sz="2000" dirty="0">
                    <a:latin typeface="微软雅黑" panose="020B0503020204020204" charset="-122"/>
                    <a:ea typeface="微软雅黑" panose="020B0503020204020204" charset="-122"/>
                    <a:cs typeface="微软雅黑" panose="020B0503020204020204" charset="-122"/>
                    <a:sym typeface="+mn-ea"/>
                  </a:rPr>
                  <a:t>                    </a:t>
                </a:r>
                <a:r>
                  <a:rPr lang="zh-CN" altLang="en-US" sz="2000" dirty="0">
                    <a:latin typeface="微软雅黑" panose="020B0503020204020204" charset="-122"/>
                    <a:ea typeface="微软雅黑" panose="020B0503020204020204" charset="-122"/>
                    <a:cs typeface="微软雅黑" panose="020B0503020204020204" charset="-122"/>
                    <a:sym typeface="+mn-ea"/>
                  </a:rPr>
                  <a:t>∀ℇ&gt;0,∃X&lt;a,∀x&lt;X: |f(x)-l|&lt;ℇ,</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则说当x→-∞时f(x）收敛于（或趋于）l，称l为当x→-∞时f(x)的极限，记作</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 </a:t>
                </a:r>
                <a:r>
                  <a:rPr lang="en-US" altLang="zh-CN" sz="2000" dirty="0">
                    <a:latin typeface="微软雅黑" panose="020B0503020204020204" charset="-122"/>
                    <a:ea typeface="微软雅黑" panose="020B0503020204020204" charset="-122"/>
                    <a:cs typeface="微软雅黑" panose="020B0503020204020204" charset="-122"/>
                    <a:sym typeface="+mn-ea"/>
                  </a:rPr>
                  <a:t>                   </a:t>
                </a:r>
                <a:r>
                  <a:rPr lang="zh-CN" altLang="en-US" sz="2000" dirty="0">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𝑙</m:t>
                        </m:r>
                      </m:e>
                    </m:func>
                  </m:oMath>
                </a14:m>
                <a:r>
                  <a:rPr lang="zh-CN" altLang="en-US" sz="2000" dirty="0">
                    <a:latin typeface="微软雅黑" panose="020B0503020204020204" charset="-122"/>
                    <a:ea typeface="微软雅黑" panose="020B0503020204020204" charset="-122"/>
                    <a:cs typeface="微软雅黑" panose="020B0503020204020204" charset="-122"/>
                    <a:sym typeface="+mn-ea"/>
                  </a:rPr>
                  <a:t>或 f(x)→l(x→-∞),</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有时也简写作f(-∞)=l</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若当x→+∞与x→-∞均有f(x)→l，则说当x→∞时f(x）收敛于l，记作</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或 f(x)→l(x→∞).</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sym typeface="+mn-ea"/>
                  </a:rPr>
                  <a:t>这显然等价于  ∀ℇ&gt;0,∃X&gt;0,当|x|&gt;X时，有|f(x)-l|&lt;ℇ.</a:t>
                </a:r>
                <a:endParaRPr lang="zh-CN" altLang="en-US" sz="2000">
                  <a:latin typeface="微软雅黑" panose="020B0503020204020204" charset="-122"/>
                  <a:ea typeface="微软雅黑" panose="020B0503020204020204" charset="-122"/>
                  <a:cs typeface="微软雅黑" panose="020B050302020402020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26365" y="1102360"/>
                <a:ext cx="7121525" cy="5797550"/>
              </a:xfrm>
              <a:prstGeom prst="rect">
                <a:avLst/>
              </a:prstGeom>
              <a:blipFill rotWithShape="1">
                <a:blip r:embed="rId6"/>
                <a:stretch>
                  <a:fillRect/>
                </a:stretch>
              </a:blipFill>
            </p:spPr>
            <p:txBody>
              <a:bodyPr/>
              <a:lstStyle/>
              <a:p>
                <a:r>
                  <a:rPr lang="zh-CN" altLang="en-US">
                    <a:noFill/>
                  </a:rPr>
                  <a:t> </a:t>
                </a:r>
              </a:p>
            </p:txBody>
          </p:sp>
        </mc:Fallback>
      </mc:AlternateContent>
      <p:sp>
        <p:nvSpPr>
          <p:cNvPr id="6" name="文本框 5"/>
          <p:cNvSpPr txBox="1"/>
          <p:nvPr/>
        </p:nvSpPr>
        <p:spPr>
          <a:xfrm>
            <a:off x="7895590" y="1556385"/>
            <a:ext cx="4064000" cy="2323465"/>
          </a:xfrm>
          <a:prstGeom prst="rect">
            <a:avLst/>
          </a:prstGeom>
          <a:noFill/>
        </p:spPr>
        <p:txBody>
          <a:bodyPr wrap="square" rtlCol="0">
            <a:noAutofit/>
          </a:bodyPr>
          <a:lstStyle/>
          <a:p>
            <a:pPr marL="0" indent="0">
              <a:buNone/>
            </a:pPr>
            <a:r>
              <a:rPr lang="zh-CN" altLang="en-US" sz="20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|f(x)-1|&lt;ℇ⇔l-ℇ&lt;f(x)&lt;l+ℇ,在几何上意味着：∀ℇ&gt;0,∃X&gt;a，在(X,+∞)上曲线y=f(x)介于水平直线y=l-ℇ与y=l+ℇ之间</a:t>
            </a:r>
            <a:endParaRPr lang="zh-CN" altLang="en-US" sz="2000">
              <a:latin typeface="微软雅黑" panose="020B0503020204020204" charset="-122"/>
              <a:ea typeface="微软雅黑" panose="020B0503020204020204" charset="-122"/>
              <a:cs typeface="微软雅黑" panose="020B0503020204020204" charset="-122"/>
            </a:endParaRPr>
          </a:p>
        </p:txBody>
      </p:sp>
      <p:pic>
        <p:nvPicPr>
          <p:cNvPr id="8" name="图片 7" descr="屏幕截图 2023-12-17 114526"/>
          <p:cNvPicPr>
            <a:picLocks noChangeAspect="1"/>
          </p:cNvPicPr>
          <p:nvPr>
            <p:custDataLst>
              <p:tags r:id="rId3"/>
            </p:custDataLst>
          </p:nvPr>
        </p:nvPicPr>
        <p:blipFill>
          <a:blip r:embed="rId7"/>
          <a:stretch>
            <a:fillRect/>
          </a:stretch>
        </p:blipFill>
        <p:spPr>
          <a:xfrm>
            <a:off x="7079615" y="3504565"/>
            <a:ext cx="5112385" cy="99250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3"/>
                <p:custDataLst>
                  <p:tags r:id="rId2"/>
                </p:custDataLst>
              </p:nvPr>
            </p:nvSpPr>
            <p:spPr>
              <a:xfrm>
                <a:off x="572770" y="238125"/>
                <a:ext cx="10821670" cy="6395720"/>
              </a:xfrm>
            </p:spPr>
            <p:txBody>
              <a:bodyPr>
                <a:noAutofit/>
              </a:bodyPr>
              <a:lstStyle/>
              <a:p>
                <a:pPr>
                  <a:lnSpc>
                    <a:spcPct val="100000"/>
                  </a:lnSpc>
                  <a:buFont typeface="Wingdings" panose="05000000000000000000" charset="0"/>
                  <a:buChar char="l"/>
                </a:pPr>
                <a:r>
                  <a:rPr lang="zh-CN" altLang="en-US" sz="2000" dirty="0">
                    <a:solidFill>
                      <a:srgbClr val="2C70FF"/>
                    </a:solidFill>
                    <a:latin typeface="微软雅黑" panose="020B0503020204020204" charset="-122"/>
                    <a:ea typeface="微软雅黑" panose="020B0503020204020204" charset="-122"/>
                    <a:cs typeface="微软雅黑" panose="020B0503020204020204" charset="-122"/>
                  </a:rPr>
                  <a:t>"e-δ语言"</a:t>
                </a:r>
              </a:p>
              <a:p>
                <a:pPr marL="0" indent="0">
                  <a:lnSpc>
                    <a:spcPct val="100000"/>
                  </a:lnSpc>
                  <a:buNone/>
                </a:pPr>
                <a:r>
                  <a:rPr lang="zh-CN" altLang="en-US" sz="2000" dirty="0">
                    <a:solidFill>
                      <a:srgbClr val="2C70FF"/>
                    </a:solidFill>
                    <a:latin typeface="微软雅黑" panose="020B0503020204020204" charset="-122"/>
                    <a:ea typeface="微软雅黑" panose="020B0503020204020204" charset="-122"/>
                    <a:cs typeface="微软雅黑" panose="020B0503020204020204" charset="-122"/>
                  </a:rPr>
                  <a:t>定义3</a:t>
                </a:r>
                <a:r>
                  <a:rPr lang="zh-CN" altLang="en-US" sz="2000" dirty="0">
                    <a:latin typeface="微软雅黑" panose="020B0503020204020204" charset="-122"/>
                    <a:ea typeface="微软雅黑" panose="020B0503020204020204" charset="-122"/>
                    <a:cs typeface="微软雅黑" panose="020B0503020204020204" charset="-122"/>
                  </a:rPr>
                  <a:t> 设l是一常数．</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（i）设f(x)在区间（a,b）上有定义.若 ∀ℇ&gt;0,∃δ&gt;0,∀x∈(a,a+δ):|f(x)-l|&lt;ℇ,</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则说当x从右侧趋于a时f(x)收敛于（或趋于）l，称为f(x)在点a的右极限，记作</a:t>
                </a:r>
              </a:p>
              <a:p>
                <a:pPr marL="0" indent="0">
                  <a:lnSpc>
                    <a:spcPct val="100000"/>
                  </a:lnSpc>
                  <a:buNone/>
                </a:pPr>
                <a:r>
                  <a:rPr lang="en-US" altLang="zh-CN"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微软雅黑" panose="020B0503020204020204" charset="-122"/>
                                    <a:cs typeface="Cambria Math" panose="02040503050406030204" charset="0"/>
                                  </a:rPr>
                                  <m:t>𝑎</m:t>
                                </m:r>
                              </m:e>
                              <m:sup>
                                <m:r>
                                  <a:rPr lang="en-US" altLang="zh-CN" sz="2000" i="1" dirty="0">
                                    <a:latin typeface="Cambria Math" panose="02040503050406030204" charset="0"/>
                                    <a:ea typeface="MS Mincho" charset="0"/>
                                    <a:cs typeface="Cambria Math" panose="02040503050406030204" charset="0"/>
                                  </a:rPr>
                                  <m:t>+</m:t>
                                </m:r>
                              </m:sup>
                            </m:sSup>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𝑙</m:t>
                        </m:r>
                      </m:e>
                    </m:func>
                  </m:oMath>
                </a14:m>
                <a:r>
                  <a:rPr lang="zh-CN" altLang="en-US" sz="2000" dirty="0">
                    <a:latin typeface="微软雅黑" panose="020B0503020204020204" charset="-122"/>
                    <a:ea typeface="微软雅黑" panose="020B0503020204020204" charset="-122"/>
                    <a:cs typeface="微软雅黑" panose="020B0503020204020204" charset="-122"/>
                  </a:rPr>
                  <a:t>或 f(x)→l(x→</a:t>
                </a:r>
                <a14:m>
                  <m:oMath xmlns:m="http://schemas.openxmlformats.org/officeDocument/2006/math">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微软雅黑" panose="020B0503020204020204" charset="-122"/>
                            <a:cs typeface="Cambria Math" panose="02040503050406030204" charset="0"/>
                          </a:rPr>
                          <m:t>𝑎</m:t>
                        </m:r>
                      </m:e>
                      <m:sup>
                        <m:r>
                          <a:rPr lang="en-US" altLang="zh-CN" sz="2000" i="1" dirty="0">
                            <a:latin typeface="Cambria Math" panose="02040503050406030204" charset="0"/>
                            <a:ea typeface="MS Mincho" charset="0"/>
                            <a:cs typeface="Cambria Math" panose="02040503050406030204" charset="0"/>
                          </a:rPr>
                          <m:t>+</m:t>
                        </m:r>
                      </m:sup>
                    </m:sSup>
                  </m:oMath>
                </a14:m>
                <a:r>
                  <a:rPr lang="zh-CN" altLang="en-US" sz="2000" dirty="0">
                    <a:latin typeface="微软雅黑" panose="020B0503020204020204" charset="-122"/>
                    <a:ea typeface="微软雅黑" panose="020B0503020204020204" charset="-122"/>
                    <a:cs typeface="微软雅黑" panose="020B0503020204020204" charset="-122"/>
                  </a:rPr>
                  <a:t>)，也简写作f(</a:t>
                </a:r>
                <a14:m>
                  <m:oMath xmlns:m="http://schemas.openxmlformats.org/officeDocument/2006/math">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微软雅黑" panose="020B0503020204020204" charset="-122"/>
                            <a:cs typeface="Cambria Math" panose="02040503050406030204" charset="0"/>
                          </a:rPr>
                          <m:t>𝑎</m:t>
                        </m:r>
                      </m:e>
                      <m:sup>
                        <m:r>
                          <a:rPr lang="en-US" altLang="zh-CN" sz="2000" i="1" dirty="0">
                            <a:latin typeface="Cambria Math" panose="02040503050406030204" charset="0"/>
                            <a:ea typeface="MS Mincho" charset="0"/>
                            <a:cs typeface="Cambria Math" panose="02040503050406030204" charset="0"/>
                          </a:rPr>
                          <m:t>+</m:t>
                        </m:r>
                      </m:sup>
                    </m:sSup>
                  </m:oMath>
                </a14:m>
                <a:r>
                  <a:rPr lang="zh-CN" altLang="en-US" sz="2000" dirty="0">
                    <a:latin typeface="微软雅黑" panose="020B0503020204020204" charset="-122"/>
                    <a:ea typeface="微软雅黑" panose="020B0503020204020204" charset="-122"/>
                    <a:cs typeface="微软雅黑" panose="020B0503020204020204" charset="-122"/>
                  </a:rPr>
                  <a:t>)=1.</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（ii）设f(x)在区间（c,a）上有定义.若 ∀ℇ&gt;0,∃δ&gt;0,∀x∈(a-δ,a):|f(x)-l|&lt;ℇ,</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则说当x从左侧趋于a时f(x)收敛于（或趋于）l，称l为f(x)在点a的左极限，记作</a:t>
                </a:r>
              </a:p>
              <a:p>
                <a:pPr marL="0" indent="0">
                  <a:lnSpc>
                    <a:spcPct val="100000"/>
                  </a:lnSpc>
                  <a:buNone/>
                </a:pPr>
                <a:r>
                  <a:rPr lang="en-US" altLang="zh-CN"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微软雅黑" panose="020B0503020204020204" charset="-122"/>
                                    <a:cs typeface="Cambria Math" panose="02040503050406030204" charset="0"/>
                                  </a:rPr>
                                  <m:t>𝑎</m:t>
                                </m:r>
                              </m:e>
                              <m:sup>
                                <m:r>
                                  <a:rPr lang="en-US" altLang="zh-CN" sz="2000" i="1" dirty="0">
                                    <a:latin typeface="Cambria Math" panose="02040503050406030204" charset="0"/>
                                    <a:ea typeface="MS Mincho" charset="0"/>
                                    <a:cs typeface="Cambria Math" panose="02040503050406030204" charset="0"/>
                                  </a:rPr>
                                  <m:t>+</m:t>
                                </m:r>
                              </m:sup>
                            </m:sSup>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𝑙</m:t>
                        </m:r>
                      </m:e>
                    </m:func>
                  </m:oMath>
                </a14:m>
                <a:r>
                  <a:rPr lang="zh-CN" altLang="en-US" sz="2000" dirty="0">
                    <a:latin typeface="微软雅黑" panose="020B0503020204020204" charset="-122"/>
                    <a:ea typeface="微软雅黑" panose="020B0503020204020204" charset="-122"/>
                    <a:cs typeface="微软雅黑" panose="020B0503020204020204" charset="-122"/>
                  </a:rPr>
                  <a:t>或 f(x)→l(x→</a:t>
                </a:r>
                <a14:m>
                  <m:oMath xmlns:m="http://schemas.openxmlformats.org/officeDocument/2006/math">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微软雅黑" panose="020B0503020204020204" charset="-122"/>
                            <a:cs typeface="Cambria Math" panose="02040503050406030204" charset="0"/>
                          </a:rPr>
                          <m:t>𝑎</m:t>
                        </m:r>
                      </m:e>
                      <m:sup>
                        <m:r>
                          <a:rPr lang="en-US" altLang="zh-CN" sz="2000" i="1" dirty="0">
                            <a:latin typeface="Cambria Math" panose="02040503050406030204" charset="0"/>
                            <a:ea typeface="MS Mincho" charset="0"/>
                            <a:cs typeface="Cambria Math" panose="02040503050406030204" charset="0"/>
                          </a:rPr>
                          <m:t>−</m:t>
                        </m:r>
                      </m:sup>
                    </m:sSup>
                  </m:oMath>
                </a14:m>
                <a:r>
                  <a:rPr lang="zh-CN" altLang="en-US" sz="2000" dirty="0">
                    <a:latin typeface="微软雅黑" panose="020B0503020204020204" charset="-122"/>
                    <a:ea typeface="微软雅黑" panose="020B0503020204020204" charset="-122"/>
                    <a:cs typeface="微软雅黑" panose="020B0503020204020204" charset="-122"/>
                  </a:rPr>
                  <a:t>)，也简写作f(</a:t>
                </a:r>
                <a14:m>
                  <m:oMath xmlns:m="http://schemas.openxmlformats.org/officeDocument/2006/math">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微软雅黑" panose="020B0503020204020204" charset="-122"/>
                            <a:cs typeface="Cambria Math" panose="02040503050406030204" charset="0"/>
                          </a:rPr>
                          <m:t>𝑎</m:t>
                        </m:r>
                      </m:e>
                      <m:sup>
                        <m:r>
                          <a:rPr lang="en-US" altLang="zh-CN" sz="2000" i="1" dirty="0">
                            <a:latin typeface="Cambria Math" panose="02040503050406030204" charset="0"/>
                            <a:ea typeface="MS Mincho" charset="0"/>
                            <a:cs typeface="Cambria Math" panose="02040503050406030204" charset="0"/>
                          </a:rPr>
                          <m:t>−</m:t>
                        </m:r>
                      </m:sup>
                    </m:sSup>
                  </m:oMath>
                </a14:m>
                <a:r>
                  <a:rPr lang="zh-CN" altLang="en-US" sz="2000" dirty="0">
                    <a:latin typeface="微软雅黑" panose="020B0503020204020204" charset="-122"/>
                    <a:ea typeface="微软雅黑" panose="020B0503020204020204" charset="-122"/>
                    <a:cs typeface="微软雅黑" panose="020B0503020204020204" charset="-122"/>
                  </a:rPr>
                  <a:t>)=1.</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（iii）设f(x)在a的某个去心邻域上有定义.若 ∀ℇ&gt;0,∃δ&gt;0,∀x∈°N(a,δ):|f(x)-l|&lt;ℇ,</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则说当x趋于a时f(x)收敛于（或趋于）l，称l为当x→a时f(x)的极限，记作</a:t>
                </a:r>
              </a:p>
              <a:p>
                <a:pPr marL="0" indent="0">
                  <a:lnSpc>
                    <a:spcPct val="100000"/>
                  </a:lnSpc>
                  <a:buNone/>
                </a:pPr>
                <a:r>
                  <a:rPr lang="en-US" altLang="zh-CN"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𝑙</m:t>
                        </m:r>
                      </m:e>
                    </m:func>
                  </m:oMath>
                </a14:m>
                <a:r>
                  <a:rPr lang="zh-CN" altLang="en-US" sz="2000" dirty="0">
                    <a:latin typeface="微软雅黑" panose="020B0503020204020204" charset="-122"/>
                    <a:ea typeface="微软雅黑" panose="020B0503020204020204" charset="-122"/>
                    <a:cs typeface="微软雅黑" panose="020B0503020204020204" charset="-122"/>
                  </a:rPr>
                  <a:t>或 f(x)→l(x→a).</a:t>
                </a:r>
              </a:p>
              <a:p>
                <a:pPr marL="0" indent="0">
                  <a:lnSpc>
                    <a:spcPct val="100000"/>
                  </a:lnSpc>
                  <a:buNone/>
                </a:pPr>
                <a:r>
                  <a:rPr lang="zh-CN" altLang="en-US" sz="2000" dirty="0">
                    <a:latin typeface="微软雅黑" panose="020B0503020204020204" charset="-122"/>
                    <a:ea typeface="微软雅黑" panose="020B0503020204020204" charset="-122"/>
                    <a:cs typeface="微软雅黑" panose="020B0503020204020204" charset="-122"/>
                  </a:rPr>
                  <a:t>如果有常数l使得，则说极限存在．类似的说法适合于左极限与右极限．</a:t>
                </a:r>
              </a:p>
            </p:txBody>
          </p:sp>
        </mc:Choice>
        <mc:Fallback xmlns="">
          <p:sp>
            <p:nvSpPr>
              <p:cNvPr id="3" name="内容占位符 2"/>
              <p:cNvSpPr>
                <a:spLocks noRot="1" noChangeAspect="1" noMove="1" noResize="1" noEditPoints="1" noAdjustHandles="1" noChangeArrowheads="1" noChangeShapeType="1" noTextEdit="1"/>
              </p:cNvSpPr>
              <p:nvPr>
                <p:ph idx="3"/>
                <p:custDataLst>
                  <p:tags r:id="rId5"/>
                </p:custDataLst>
              </p:nvPr>
            </p:nvSpPr>
            <p:spPr>
              <a:xfrm>
                <a:off x="572770" y="238125"/>
                <a:ext cx="10821670" cy="6395720"/>
              </a:xfrm>
              <a:blipFill rotWithShape="1">
                <a:blip r:embed="rId6"/>
                <a:stretch>
                  <a:fillRect/>
                </a:stretch>
              </a:blipFill>
            </p:spPr>
            <p:txBody>
              <a:bodyPr/>
              <a:lstStyle/>
              <a:p>
                <a:r>
                  <a:rPr lang="zh-CN" altLang="en-US">
                    <a:noFill/>
                  </a:rPr>
                  <a:t> </a:t>
                </a:r>
              </a:p>
            </p:txBody>
          </p:sp>
        </mc:Fallback>
      </mc:AlternateContent>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3"/>
                <p:custDataLst>
                  <p:tags r:id="rId2"/>
                </p:custDataLst>
              </p:nvPr>
            </p:nvSpPr>
            <p:spPr>
              <a:xfrm>
                <a:off x="608330" y="882015"/>
                <a:ext cx="6858000" cy="5367655"/>
              </a:xfrm>
            </p:spPr>
            <p:txBody>
              <a:bodyPr>
                <a:normAutofit lnSpcReduction="10000"/>
              </a:bodyPr>
              <a:lstStyle/>
              <a:p>
                <a:pPr>
                  <a:lnSpc>
                    <a:spcPct val="100000"/>
                  </a:lnSpc>
                  <a:buFont typeface="Wingdings" panose="05000000000000000000" charset="0"/>
                  <a:buChar char="l"/>
                </a:pPr>
                <a:r>
                  <a:rPr sz="2000">
                    <a:solidFill>
                      <a:srgbClr val="FF0000"/>
                    </a:solidFill>
                    <a:latin typeface="微软雅黑" panose="020B0503020204020204" charset="-122"/>
                    <a:ea typeface="微软雅黑" panose="020B0503020204020204" charset="-122"/>
                    <a:cs typeface="微软雅黑" panose="020B0503020204020204" charset="-122"/>
                    <a:sym typeface="+mn-ea"/>
                  </a:rPr>
                  <a:t>定理1（极限的唯一性）</a:t>
                </a:r>
                <a:r>
                  <a:rPr sz="2000">
                    <a:solidFill>
                      <a:srgbClr val="2C70FF"/>
                    </a:solidFill>
                    <a:latin typeface="微软雅黑" panose="020B0503020204020204" charset="-122"/>
                    <a:ea typeface="微软雅黑" panose="020B0503020204020204" charset="-122"/>
                    <a:cs typeface="微软雅黑" panose="020B0503020204020204" charset="-122"/>
                    <a:sym typeface="+mn-ea"/>
                  </a:rPr>
                  <a:t> </a:t>
                </a:r>
                <a:r>
                  <a:rPr sz="2000">
                    <a:latin typeface="微软雅黑" panose="020B0503020204020204" charset="-122"/>
                    <a:ea typeface="微软雅黑" panose="020B0503020204020204" charset="-122"/>
                    <a:cs typeface="微软雅黑" panose="020B0503020204020204" charset="-122"/>
                    <a:sym typeface="+mn-ea"/>
                  </a:rPr>
                  <a:t>若limf(x)存在，则其极限是唯一的.</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00000"/>
                  </a:lnSpc>
                  <a:buFont typeface="Wingdings" panose="05000000000000000000" charset="0"/>
                  <a:buChar char="l"/>
                </a:pPr>
                <a:r>
                  <a:rPr sz="2000">
                    <a:solidFill>
                      <a:srgbClr val="FF0000"/>
                    </a:solidFill>
                    <a:latin typeface="微软雅黑" panose="020B0503020204020204" charset="-122"/>
                    <a:ea typeface="微软雅黑" panose="020B0503020204020204" charset="-122"/>
                    <a:cs typeface="微软雅黑" panose="020B0503020204020204" charset="-122"/>
                    <a:sym typeface="+mn-ea"/>
                  </a:rPr>
                  <a:t>定理2（局部有界性）</a:t>
                </a:r>
                <a:r>
                  <a:rPr sz="2000">
                    <a:latin typeface="微软雅黑" panose="020B0503020204020204" charset="-122"/>
                    <a:ea typeface="微软雅黑" panose="020B0503020204020204" charset="-122"/>
                    <a:cs typeface="微软雅黑" panose="020B0503020204020204" charset="-122"/>
                    <a:sym typeface="+mn-ea"/>
                  </a:rPr>
                  <a:t>若当x→a时f(x)收敛，则f(x)在a的某个去心邻域上有界。</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Font typeface="Wingdings" panose="05000000000000000000" charset="0"/>
                  <a:buNone/>
                </a:pPr>
                <a:r>
                  <a:rPr sz="2000">
                    <a:latin typeface="微软雅黑" panose="020B0503020204020204" charset="-122"/>
                    <a:ea typeface="微软雅黑" panose="020B0503020204020204" charset="-122"/>
                    <a:cs typeface="微软雅黑" panose="020B0503020204020204" charset="-122"/>
                    <a:sym typeface="+mn-ea"/>
                  </a:rPr>
                  <a:t>以下定理沟通了函数极限与数列极限的关系.</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00000"/>
                  </a:lnSpc>
                  <a:buFont typeface="Wingdings" panose="05000000000000000000" charset="0"/>
                  <a:buChar char="l"/>
                </a:pPr>
                <a:r>
                  <a:rPr sz="2000">
                    <a:solidFill>
                      <a:srgbClr val="FF0000"/>
                    </a:solidFill>
                    <a:latin typeface="微软雅黑" panose="020B0503020204020204" charset="-122"/>
                    <a:ea typeface="微软雅黑" panose="020B0503020204020204" charset="-122"/>
                    <a:cs typeface="微软雅黑" panose="020B0503020204020204" charset="-122"/>
                    <a:sym typeface="+mn-ea"/>
                  </a:rPr>
                  <a:t>定理3</a:t>
                </a:r>
                <a:r>
                  <a:rPr lang="en-US" altLang="zh-CN" sz="2000">
                    <a:solidFill>
                      <a:srgbClr val="FF0000"/>
                    </a:solidFill>
                    <a:latin typeface="微软雅黑" panose="020B0503020204020204" charset="-122"/>
                    <a:ea typeface="微软雅黑" panose="020B0503020204020204" charset="-122"/>
                    <a:cs typeface="微软雅黑" panose="020B0503020204020204" charset="-122"/>
                    <a:sym typeface="+mn-ea"/>
                  </a:rPr>
                  <a:t> </a:t>
                </a:r>
                <a14:m>
                  <m:oMath xmlns:m="http://schemas.openxmlformats.org/officeDocument/2006/math">
                    <m:func>
                      <m:funcPr>
                        <m:ctrlPr>
                          <a:rPr lang="en-US" altLang="zh-CN" sz="2000" i="1" dirty="0">
                            <a:solidFill>
                              <a:schemeClr val="tx1"/>
                            </a:solidFill>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solidFill>
                                  <a:schemeClr val="tx1"/>
                                </a:solidFill>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solidFill>
                                  <a:schemeClr val="tx1"/>
                                </a:solidFill>
                                <a:latin typeface="Cambria Math" panose="02040503050406030204" charset="0"/>
                                <a:ea typeface="微软雅黑" panose="020B0503020204020204" charset="-122"/>
                                <a:cs typeface="Cambria Math" panose="02040503050406030204" charset="0"/>
                              </a:rPr>
                              <m:t>lim</m:t>
                            </m:r>
                          </m:e>
                          <m:lim>
                            <m:r>
                              <a:rPr lang="en-US" altLang="zh-CN" sz="2000" i="1" dirty="0">
                                <a:solidFill>
                                  <a:schemeClr val="tx1"/>
                                </a:solidFill>
                                <a:latin typeface="Cambria Math" panose="02040503050406030204" charset="0"/>
                                <a:ea typeface="微软雅黑" panose="020B0503020204020204" charset="-122"/>
                                <a:cs typeface="Cambria Math" panose="02040503050406030204" charset="0"/>
                              </a:rPr>
                              <m:t>𝑥</m:t>
                            </m:r>
                            <m:r>
                              <a:rPr lang="en-US" altLang="zh-CN" sz="2000" i="1" dirty="0">
                                <a:solidFill>
                                  <a:schemeClr val="tx1"/>
                                </a:solidFill>
                                <a:latin typeface="Cambria Math" panose="02040503050406030204" charset="0"/>
                                <a:ea typeface="MS Mincho" charset="0"/>
                                <a:cs typeface="Cambria Math" panose="02040503050406030204" charset="0"/>
                              </a:rPr>
                              <m:t>→</m:t>
                            </m:r>
                            <m:r>
                              <a:rPr lang="en-US" altLang="zh-CN" sz="2000" i="1" dirty="0">
                                <a:solidFill>
                                  <a:schemeClr val="tx1"/>
                                </a:solidFill>
                                <a:latin typeface="Cambria Math" panose="02040503050406030204" charset="0"/>
                                <a:ea typeface="微软雅黑" panose="020B0503020204020204" charset="-122"/>
                                <a:cs typeface="Cambria Math" panose="02040503050406030204" charset="0"/>
                              </a:rPr>
                              <m:t>𝑎</m:t>
                            </m:r>
                          </m:lim>
                        </m:limLow>
                      </m:fName>
                      <m:e>
                        <m:r>
                          <a:rPr lang="en-US" altLang="zh-CN" sz="2000" i="1" dirty="0">
                            <a:solidFill>
                              <a:schemeClr val="tx1"/>
                            </a:solidFill>
                            <a:latin typeface="Cambria Math" panose="02040503050406030204" charset="0"/>
                            <a:ea typeface="微软雅黑" panose="020B0503020204020204" charset="-122"/>
                            <a:cs typeface="Cambria Math" panose="02040503050406030204" charset="0"/>
                          </a:rPr>
                          <m:t>𝑓</m:t>
                        </m:r>
                        <m:r>
                          <a:rPr lang="en-US" altLang="zh-CN" sz="2000" i="1" dirty="0">
                            <a:solidFill>
                              <a:schemeClr val="tx1"/>
                            </a:solidFill>
                            <a:latin typeface="Cambria Math" panose="02040503050406030204" charset="0"/>
                            <a:ea typeface="MS Mincho" charset="0"/>
                            <a:cs typeface="Cambria Math" panose="02040503050406030204" charset="0"/>
                          </a:rPr>
                          <m:t>(</m:t>
                        </m:r>
                        <m:r>
                          <a:rPr lang="en-US" altLang="zh-CN" sz="2000" i="1" dirty="0">
                            <a:solidFill>
                              <a:schemeClr val="tx1"/>
                            </a:solidFill>
                            <a:latin typeface="Cambria Math" panose="02040503050406030204" charset="0"/>
                            <a:ea typeface="微软雅黑" panose="020B0503020204020204" charset="-122"/>
                            <a:cs typeface="Cambria Math" panose="02040503050406030204" charset="0"/>
                          </a:rPr>
                          <m:t>𝑥</m:t>
                        </m:r>
                        <m:r>
                          <a:rPr lang="en-US" altLang="zh-CN" sz="2000" i="1" dirty="0">
                            <a:solidFill>
                              <a:schemeClr val="tx1"/>
                            </a:solidFill>
                            <a:latin typeface="Cambria Math" panose="02040503050406030204" charset="0"/>
                            <a:ea typeface="MS Mincho" charset="0"/>
                            <a:cs typeface="Cambria Math" panose="02040503050406030204" charset="0"/>
                          </a:rPr>
                          <m:t>)=</m:t>
                        </m:r>
                        <m:r>
                          <a:rPr lang="en-US" altLang="zh-CN" sz="2000" i="1" dirty="0">
                            <a:solidFill>
                              <a:schemeClr val="tx1"/>
                            </a:solidFill>
                            <a:latin typeface="Cambria Math" panose="02040503050406030204" charset="0"/>
                            <a:ea typeface="微软雅黑" panose="020B0503020204020204" charset="-122"/>
                            <a:cs typeface="Cambria Math" panose="02040503050406030204" charset="0"/>
                          </a:rPr>
                          <m:t>𝑙</m:t>
                        </m:r>
                      </m:e>
                    </m:func>
                  </m:oMath>
                </a14:m>
                <a:r>
                  <a:rPr sz="2000">
                    <a:latin typeface="微软雅黑" panose="020B0503020204020204" charset="-122"/>
                    <a:ea typeface="微软雅黑" panose="020B0503020204020204" charset="-122"/>
                    <a:cs typeface="微软雅黑" panose="020B0503020204020204" charset="-122"/>
                    <a:sym typeface="+mn-ea"/>
                  </a:rPr>
                  <a:t>的充要条件是：在a的某去心邻域°N(a,r)内，任何收敛的数列{</a:t>
                </a:r>
                <a14:m>
                  <m:oMath xmlns:m="http://schemas.openxmlformats.org/officeDocument/2006/math">
                    <m:sSub>
                      <m:sSubPr>
                        <m:ctrlPr>
                          <a:rPr lang="en-US" altLang="zh-CN" sz="2000" i="1" dirty="0">
                            <a:latin typeface="Cambria Math" panose="02040503050406030204" pitchFamily="18" charset="0"/>
                            <a:ea typeface="微软雅黑" panose="020B0503020204020204" charset="-122"/>
                            <a:cs typeface="Cambria Math" panose="02040503050406030204" charset="0"/>
                          </a:rPr>
                        </m:ctrlPr>
                      </m:sSubPr>
                      <m:e>
                        <m:r>
                          <a:rPr lang="en-US" altLang="zh-CN" sz="2000" i="1" dirty="0">
                            <a:latin typeface="Cambria Math" panose="02040503050406030204" charset="0"/>
                            <a:ea typeface="微软雅黑" panose="020B0503020204020204" charset="-122"/>
                            <a:cs typeface="Cambria Math" panose="02040503050406030204" charset="0"/>
                          </a:rPr>
                          <m:t>𝑥</m:t>
                        </m:r>
                      </m:e>
                      <m:sub>
                        <m:r>
                          <a:rPr lang="en-US" altLang="zh-CN" sz="2000" i="1" dirty="0">
                            <a:latin typeface="Cambria Math" panose="02040503050406030204" charset="0"/>
                            <a:ea typeface="微软雅黑" panose="020B0503020204020204" charset="-122"/>
                            <a:cs typeface="Cambria Math" panose="02040503050406030204" charset="0"/>
                          </a:rPr>
                          <m:t>𝑛</m:t>
                        </m:r>
                      </m:sub>
                    </m:sSub>
                  </m:oMath>
                </a14:m>
                <a:r>
                  <a:rPr sz="2000">
                    <a:latin typeface="微软雅黑" panose="020B0503020204020204" charset="-122"/>
                    <a:ea typeface="微软雅黑" panose="020B0503020204020204" charset="-122"/>
                    <a:cs typeface="微软雅黑" panose="020B0503020204020204" charset="-122"/>
                    <a:sym typeface="+mn-ea"/>
                  </a:rPr>
                  <a:t>}有f(</a:t>
                </a:r>
                <a14:m>
                  <m:oMath xmlns:m="http://schemas.openxmlformats.org/officeDocument/2006/math">
                    <m:sSub>
                      <m:sSubPr>
                        <m:ctrlPr>
                          <a:rPr lang="en-US" altLang="zh-CN" sz="2000" i="1" dirty="0">
                            <a:latin typeface="Cambria Math" panose="02040503050406030204" pitchFamily="18" charset="0"/>
                            <a:ea typeface="微软雅黑" panose="020B0503020204020204" charset="-122"/>
                            <a:cs typeface="Cambria Math" panose="02040503050406030204" charset="0"/>
                          </a:rPr>
                        </m:ctrlPr>
                      </m:sSubPr>
                      <m:e>
                        <m:r>
                          <a:rPr lang="en-US" altLang="zh-CN" sz="2000" i="1" dirty="0">
                            <a:latin typeface="Cambria Math" panose="02040503050406030204" charset="0"/>
                            <a:ea typeface="微软雅黑" panose="020B0503020204020204" charset="-122"/>
                            <a:cs typeface="Cambria Math" panose="02040503050406030204" charset="0"/>
                          </a:rPr>
                          <m:t>𝑥</m:t>
                        </m:r>
                      </m:e>
                      <m:sub>
                        <m:r>
                          <a:rPr lang="en-US" altLang="zh-CN" sz="2000" i="1" dirty="0">
                            <a:latin typeface="Cambria Math" panose="02040503050406030204" charset="0"/>
                            <a:ea typeface="微软雅黑" panose="020B0503020204020204" charset="-122"/>
                            <a:cs typeface="Cambria Math" panose="02040503050406030204" charset="0"/>
                          </a:rPr>
                          <m:t>𝑛</m:t>
                        </m:r>
                      </m:sub>
                    </m:sSub>
                  </m:oMath>
                </a14:m>
                <a:r>
                  <a:rPr sz="2000">
                    <a:latin typeface="微软雅黑" panose="020B0503020204020204" charset="-122"/>
                    <a:ea typeface="微软雅黑" panose="020B0503020204020204" charset="-122"/>
                    <a:cs typeface="微软雅黑" panose="020B0503020204020204" charset="-122"/>
                    <a:sym typeface="+mn-ea"/>
                  </a:rPr>
                  <a:t>)→l(n→∞).</a:t>
                </a:r>
                <a:endParaRPr lang="zh-CN" altLang="en-US" sz="2000" dirty="0">
                  <a:latin typeface="微软雅黑" panose="020B0503020204020204" charset="-122"/>
                  <a:ea typeface="微软雅黑" panose="020B0503020204020204" charset="-122"/>
                  <a:cs typeface="微软雅黑" panose="020B0503020204020204" charset="-122"/>
                </a:endParaRPr>
              </a:p>
              <a:p>
                <a:pPr>
                  <a:lnSpc>
                    <a:spcPct val="100000"/>
                  </a:lnSpc>
                  <a:buFont typeface="Wingdings" panose="05000000000000000000" charset="0"/>
                  <a:buChar char="l"/>
                </a:pPr>
                <a:r>
                  <a:rPr sz="2000">
                    <a:solidFill>
                      <a:srgbClr val="FF0000"/>
                    </a:solidFill>
                    <a:latin typeface="微软雅黑" panose="020B0503020204020204" charset="-122"/>
                    <a:ea typeface="微软雅黑" panose="020B0503020204020204" charset="-122"/>
                    <a:cs typeface="微软雅黑" panose="020B0503020204020204" charset="-122"/>
                    <a:sym typeface="+mn-ea"/>
                  </a:rPr>
                  <a:t>定理4</a:t>
                </a:r>
                <a:r>
                  <a:rPr sz="2000">
                    <a:latin typeface="微软雅黑" panose="020B0503020204020204" charset="-122"/>
                    <a:ea typeface="微软雅黑" panose="020B0503020204020204" charset="-122"/>
                    <a:cs typeface="微软雅黑" panose="020B0503020204020204" charset="-122"/>
                    <a:sym typeface="+mn-ea"/>
                  </a:rPr>
                  <a:t> 设α,β是常数，lim u与lim v均存在，则成立．</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Font typeface="Wingdings" panose="05000000000000000000" charset="0"/>
                  <a:buNone/>
                </a:pPr>
                <a:r>
                  <a:rPr sz="2000">
                    <a:latin typeface="微软雅黑" panose="020B0503020204020204" charset="-122"/>
                    <a:ea typeface="微软雅黑" panose="020B0503020204020204" charset="-122"/>
                    <a:cs typeface="微软雅黑" panose="020B0503020204020204" charset="-122"/>
                    <a:sym typeface="+mn-ea"/>
                  </a:rPr>
                  <a:t>I. 线性规则  </a:t>
                </a:r>
                <a:r>
                  <a:rPr lang="en-US" altLang="zh-CN" sz="2000">
                    <a:latin typeface="微软雅黑" panose="020B0503020204020204" charset="-122"/>
                    <a:ea typeface="微软雅黑" panose="020B0503020204020204" charset="-122"/>
                    <a:cs typeface="微软雅黑" panose="020B0503020204020204" charset="-122"/>
                    <a:sym typeface="+mn-ea"/>
                  </a:rPr>
                  <a:t>  </a:t>
                </a:r>
                <a:r>
                  <a:rPr sz="2000">
                    <a:latin typeface="微软雅黑" panose="020B0503020204020204" charset="-122"/>
                    <a:ea typeface="微软雅黑" panose="020B0503020204020204" charset="-122"/>
                    <a:cs typeface="微软雅黑" panose="020B0503020204020204" charset="-122"/>
                    <a:sym typeface="+mn-ea"/>
                  </a:rPr>
                  <a:t>lim(αu+βv)= αlim u+βlim v.</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Font typeface="Wingdings" panose="05000000000000000000" charset="0"/>
                  <a:buNone/>
                </a:pPr>
                <a:r>
                  <a:rPr sz="2000">
                    <a:latin typeface="微软雅黑" panose="020B0503020204020204" charset="-122"/>
                    <a:ea typeface="微软雅黑" panose="020B0503020204020204" charset="-122"/>
                    <a:cs typeface="微软雅黑" panose="020B0503020204020204" charset="-122"/>
                    <a:sym typeface="+mn-ea"/>
                  </a:rPr>
                  <a:t>II．积规则    </a:t>
                </a:r>
                <a:r>
                  <a:rPr lang="en-US" altLang="zh-CN" sz="2000">
                    <a:latin typeface="微软雅黑" panose="020B0503020204020204" charset="-122"/>
                    <a:ea typeface="微软雅黑" panose="020B0503020204020204" charset="-122"/>
                    <a:cs typeface="微软雅黑" panose="020B0503020204020204" charset="-122"/>
                    <a:sym typeface="+mn-ea"/>
                  </a:rPr>
                  <a:t> </a:t>
                </a:r>
                <a:r>
                  <a:rPr sz="2000">
                    <a:latin typeface="微软雅黑" panose="020B0503020204020204" charset="-122"/>
                    <a:ea typeface="微软雅黑" panose="020B0503020204020204" charset="-122"/>
                    <a:cs typeface="微软雅黑" panose="020B0503020204020204" charset="-122"/>
                    <a:sym typeface="+mn-ea"/>
                  </a:rPr>
                  <a:t>lim uv=lim ulim v.</a:t>
                </a: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Font typeface="Wingdings" panose="05000000000000000000" charset="0"/>
                  <a:buNone/>
                </a:pPr>
                <a:r>
                  <a:rPr sz="2000">
                    <a:latin typeface="微软雅黑" panose="020B0503020204020204" charset="-122"/>
                    <a:ea typeface="微软雅黑" panose="020B0503020204020204" charset="-122"/>
                    <a:cs typeface="微软雅黑" panose="020B0503020204020204" charset="-122"/>
                    <a:sym typeface="+mn-ea"/>
                  </a:rPr>
                  <a:t>III. 商规则    lim (u/v)= lim u/lim v(lim v≠0).</a:t>
                </a:r>
                <a:endParaRPr lang="zh-CN" altLang="en-US" sz="2000" dirty="0">
                  <a:latin typeface="微软雅黑" panose="020B0503020204020204" charset="-122"/>
                  <a:ea typeface="微软雅黑" panose="020B0503020204020204" charset="-122"/>
                  <a:cs typeface="微软雅黑" panose="020B0503020204020204" charset="-122"/>
                </a:endParaRPr>
              </a:p>
              <a:p>
                <a:pPr>
                  <a:buFont typeface="Wingdings" panose="05000000000000000000" charset="0"/>
                  <a:buChar char="l"/>
                </a:pPr>
                <a:endParaRPr lang="zh-CN" altLang="en-US" sz="2000" dirty="0">
                  <a:latin typeface="微软雅黑" panose="020B0503020204020204" charset="-122"/>
                  <a:ea typeface="微软雅黑" panose="020B0503020204020204" charset="-122"/>
                  <a:cs typeface="微软雅黑" panose="020B0503020204020204" charset="-122"/>
                </a:endParaRPr>
              </a:p>
            </p:txBody>
          </p:sp>
        </mc:Choice>
        <mc:Fallback xmlns="">
          <p:sp>
            <p:nvSpPr>
              <p:cNvPr id="3" name="内容占位符 2"/>
              <p:cNvSpPr>
                <a:spLocks noRot="1" noChangeAspect="1" noMove="1" noResize="1" noEditPoints="1" noAdjustHandles="1" noChangeArrowheads="1" noChangeShapeType="1" noTextEdit="1"/>
              </p:cNvSpPr>
              <p:nvPr>
                <p:ph idx="3"/>
                <p:custDataLst>
                  <p:tags r:id="rId6"/>
                </p:custDataLst>
              </p:nvPr>
            </p:nvSpPr>
            <p:spPr>
              <a:xfrm>
                <a:off x="608330" y="882015"/>
                <a:ext cx="6858000" cy="5367655"/>
              </a:xfrm>
              <a:blipFill rotWithShape="1">
                <a:blip r:embed="rId7"/>
                <a:stretch>
                  <a:fillRect t="-12"/>
                </a:stretch>
              </a:blipFill>
            </p:spPr>
            <p:txBody>
              <a:bodyPr/>
              <a:lstStyle/>
              <a:p>
                <a:r>
                  <a:rPr lang="zh-CN" altLang="en-US">
                    <a:noFill/>
                  </a:rPr>
                  <a:t> </a:t>
                </a:r>
              </a:p>
            </p:txBody>
          </p:sp>
        </mc:Fallback>
      </mc:AlternateContent>
      <p:pic>
        <p:nvPicPr>
          <p:cNvPr id="4" name="图片 3" descr="屏幕截图 2023-12-17 101631"/>
          <p:cNvPicPr>
            <a:picLocks noChangeAspect="1"/>
          </p:cNvPicPr>
          <p:nvPr>
            <p:custDataLst>
              <p:tags r:id="rId3"/>
            </p:custDataLst>
          </p:nvPr>
        </p:nvPicPr>
        <p:blipFill>
          <a:blip r:embed="rId8"/>
          <a:stretch>
            <a:fillRect/>
          </a:stretch>
        </p:blipFill>
        <p:spPr>
          <a:xfrm>
            <a:off x="7379335" y="1094740"/>
            <a:ext cx="4812665" cy="3882390"/>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3"/>
                <p:custDataLst>
                  <p:tags r:id="rId2"/>
                </p:custDataLst>
              </p:nvPr>
            </p:nvSpPr>
            <p:spPr>
              <a:xfrm>
                <a:off x="400685" y="763905"/>
                <a:ext cx="11457940" cy="5324475"/>
              </a:xfrm>
            </p:spPr>
            <p:txBody>
              <a:bodyPr>
                <a:noAutofit/>
              </a:bodyPr>
              <a:lstStyle/>
              <a:p>
                <a:pPr>
                  <a:lnSpc>
                    <a:spcPct val="100000"/>
                  </a:lnSpc>
                  <a:buFont typeface="Wingdings" panose="05000000000000000000" charset="0"/>
                  <a:buChar char="l"/>
                </a:pP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定理5</a:t>
                </a:r>
                <a:r>
                  <a:rPr lang="en-US" altLang="zh-CN" sz="2000" dirty="0">
                    <a:solidFill>
                      <a:schemeClr val="accent1">
                        <a:lumMod val="75000"/>
                      </a:schemeClr>
                    </a:solidFill>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设</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𝑢</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𝐴</m:t>
                        </m:r>
                      </m:e>
                    </m:func>
                  </m:oMath>
                </a14:m>
                <a:r>
                  <a:rPr lang="zh-CN" altLang="en-US"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𝑣</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b="1" i="1" dirty="0">
                            <a:latin typeface="Cambria Math" panose="02040503050406030204" charset="0"/>
                            <a:ea typeface="微软雅黑" panose="020B0503020204020204" charset="-122"/>
                            <a:cs typeface="Cambria Math" panose="02040503050406030204" charset="0"/>
                          </a:rPr>
                          <m:t>𝑩</m:t>
                        </m:r>
                      </m:e>
                    </m:func>
                  </m:oMath>
                </a14:m>
                <a:r>
                  <a:rPr lang="zh-CN" altLang="en-US" sz="2000" dirty="0">
                    <a:latin typeface="微软雅黑" panose="020B0503020204020204" charset="-122"/>
                    <a:ea typeface="微软雅黑" panose="020B0503020204020204" charset="-122"/>
                    <a:cs typeface="微软雅黑" panose="020B0503020204020204" charset="-122"/>
                  </a:rPr>
                  <a:t>.若A&lt;B，则在a的某个去心邻域°N(a,r)内u(x)&lt;v(x).</a:t>
                </a:r>
              </a:p>
              <a:p>
                <a:pPr marL="0" indent="0">
                  <a:lnSpc>
                    <a:spcPct val="100000"/>
                  </a:lnSpc>
                  <a:buFont typeface="Wingdings" panose="05000000000000000000" charset="0"/>
                  <a:buNone/>
                </a:pPr>
                <a:r>
                  <a:rPr lang="zh-CN" altLang="en-US" sz="2000" dirty="0">
                    <a:latin typeface="微软雅黑" panose="020B0503020204020204" charset="-122"/>
                    <a:ea typeface="微软雅黑" panose="020B0503020204020204" charset="-122"/>
                    <a:cs typeface="微软雅黑" panose="020B0503020204020204" charset="-122"/>
                  </a:rPr>
                  <a:t>特别地，若</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&lt;l（或</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&gt;l），则在某个°N(a,r)内f(x)&lt;l（或f(x)&gt;l).</a:t>
                </a:r>
              </a:p>
              <a:p>
                <a:pPr>
                  <a:lnSpc>
                    <a:spcPct val="100000"/>
                  </a:lnSpc>
                  <a:buFont typeface="Wingdings" panose="05000000000000000000" charset="0"/>
                  <a:buChar char="l"/>
                </a:pP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定理6</a:t>
                </a:r>
                <a:r>
                  <a:rPr lang="zh-CN" altLang="en-US" sz="2000" dirty="0">
                    <a:latin typeface="微软雅黑" panose="020B0503020204020204" charset="-122"/>
                    <a:ea typeface="微软雅黑" panose="020B0503020204020204" charset="-122"/>
                    <a:cs typeface="微软雅黑" panose="020B0503020204020204" charset="-122"/>
                  </a:rPr>
                  <a:t> 设</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𝑢</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𝐴</m:t>
                        </m:r>
                      </m:e>
                    </m:func>
                  </m:oMath>
                </a14:m>
                <a:r>
                  <a:rPr lang="zh-CN" altLang="en-US"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𝑣</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b="1" i="1" dirty="0">
                            <a:latin typeface="Cambria Math" panose="02040503050406030204" charset="0"/>
                            <a:ea typeface="微软雅黑" panose="020B0503020204020204" charset="-122"/>
                            <a:cs typeface="Cambria Math" panose="02040503050406030204" charset="0"/>
                          </a:rPr>
                          <m:t>𝑩</m:t>
                        </m:r>
                      </m:e>
                    </m:func>
                  </m:oMath>
                </a14:m>
                <a:r>
                  <a:rPr lang="zh-CN" altLang="en-US" sz="2000" dirty="0">
                    <a:latin typeface="微软雅黑" panose="020B0503020204020204" charset="-122"/>
                    <a:ea typeface="微软雅黑" panose="020B0503020204020204" charset="-122"/>
                    <a:cs typeface="微软雅黑" panose="020B0503020204020204" charset="-122"/>
                  </a:rPr>
                  <a:t>.若在a的某个去心邻域°N(a,r)内X+g u(x)≤v(x)，则A≤B.</a:t>
                </a:r>
              </a:p>
              <a:p>
                <a:pPr marL="0" indent="0">
                  <a:lnSpc>
                    <a:spcPct val="100000"/>
                  </a:lnSpc>
                  <a:buFont typeface="Wingdings" panose="05000000000000000000" charset="0"/>
                  <a:buNone/>
                </a:pPr>
                <a:r>
                  <a:rPr lang="zh-CN" altLang="en-US" sz="2000" dirty="0">
                    <a:latin typeface="微软雅黑" panose="020B0503020204020204" charset="-122"/>
                    <a:ea typeface="微软雅黑" panose="020B0503020204020204" charset="-122"/>
                    <a:cs typeface="微软雅黑" panose="020B0503020204020204" charset="-122"/>
                  </a:rPr>
                  <a:t>特别地，若在某个°N(a,r)内f(x)≤l（或f(x)≥l），则</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r>
                      <a:rPr sz="2000">
                        <a:latin typeface="Cambria Math" panose="02040503050406030204" charset="0"/>
                        <a:ea typeface="MS Mincho" charset="0"/>
                        <a:cs typeface="Cambria Math" panose="02040503050406030204" charset="0"/>
                        <a:sym typeface="+mn-ea"/>
                      </a:rPr>
                      <m:t>≤</m:t>
                    </m:r>
                  </m:oMath>
                </a14:m>
                <a:r>
                  <a:rPr lang="zh-CN" altLang="en-US" sz="2000" dirty="0">
                    <a:latin typeface="微软雅黑" panose="020B0503020204020204" charset="-122"/>
                    <a:ea typeface="微软雅黑" panose="020B0503020204020204" charset="-122"/>
                    <a:cs typeface="微软雅黑" panose="020B0503020204020204" charset="-122"/>
                  </a:rPr>
                  <a:t>l（或</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r>
                      <a:rPr sz="2000">
                        <a:latin typeface="Cambria Math" panose="02040503050406030204" charset="0"/>
                        <a:ea typeface="MS Mincho" charset="0"/>
                        <a:cs typeface="Cambria Math" panose="02040503050406030204" charset="0"/>
                        <a:sym typeface="+mn-ea"/>
                      </a:rPr>
                      <m:t>≥</m:t>
                    </m:r>
                  </m:oMath>
                </a14:m>
                <a:r>
                  <a:rPr lang="zh-CN" altLang="en-US" sz="2000" dirty="0">
                    <a:latin typeface="微软雅黑" panose="020B0503020204020204" charset="-122"/>
                    <a:ea typeface="微软雅黑" panose="020B0503020204020204" charset="-122"/>
                    <a:cs typeface="微软雅黑" panose="020B0503020204020204" charset="-122"/>
                  </a:rPr>
                  <a:t>l）.</a:t>
                </a:r>
              </a:p>
              <a:p>
                <a:pPr>
                  <a:lnSpc>
                    <a:spcPct val="100000"/>
                  </a:lnSpc>
                  <a:buFont typeface="Wingdings" panose="05000000000000000000" charset="0"/>
                  <a:buChar char="l"/>
                </a:pPr>
                <a:endParaRPr lang="zh-CN" altLang="en-US" sz="2000" dirty="0">
                  <a:latin typeface="微软雅黑" panose="020B0503020204020204" charset="-122"/>
                  <a:ea typeface="微软雅黑" panose="020B0503020204020204" charset="-122"/>
                  <a:cs typeface="微软雅黑" panose="020B0503020204020204" charset="-122"/>
                </a:endParaRPr>
              </a:p>
              <a:p>
                <a:pPr marL="0" indent="0">
                  <a:lnSpc>
                    <a:spcPct val="100000"/>
                  </a:lnSpc>
                  <a:buFont typeface="Wingdings" panose="05000000000000000000" charset="0"/>
                  <a:buNone/>
                </a:pPr>
                <a:r>
                  <a:rPr lang="zh-CN" altLang="en-US" sz="2000" dirty="0">
                    <a:latin typeface="微软雅黑" panose="020B0503020204020204" charset="-122"/>
                    <a:ea typeface="微软雅黑" panose="020B0503020204020204" charset="-122"/>
                    <a:cs typeface="微软雅黑" panose="020B0503020204020204" charset="-122"/>
                  </a:rPr>
                  <a:t>同样由定理5,6推出：</a:t>
                </a:r>
              </a:p>
              <a:p>
                <a:pPr>
                  <a:lnSpc>
                    <a:spcPct val="100000"/>
                  </a:lnSpc>
                  <a:buFont typeface="Wingdings" panose="05000000000000000000" charset="0"/>
                  <a:buChar char="l"/>
                </a:pPr>
                <a:r>
                  <a:rPr lang="zh-CN" altLang="en-US" sz="2000" dirty="0">
                    <a:solidFill>
                      <a:srgbClr val="2C70FF"/>
                    </a:solidFill>
                    <a:latin typeface="微软雅黑" panose="020B0503020204020204" charset="-122"/>
                    <a:ea typeface="微软雅黑" panose="020B0503020204020204" charset="-122"/>
                    <a:cs typeface="微软雅黑" panose="020B0503020204020204" charset="-122"/>
                  </a:rPr>
                  <a:t>极限的保号性</a:t>
                </a:r>
                <a:r>
                  <a:rPr lang="zh-CN" altLang="en-US" sz="2000" dirty="0">
                    <a:latin typeface="微软雅黑" panose="020B0503020204020204" charset="-122"/>
                    <a:ea typeface="微软雅黑" panose="020B0503020204020204" charset="-122"/>
                    <a:cs typeface="微软雅黑" panose="020B0503020204020204" charset="-122"/>
                  </a:rPr>
                  <a:t> 设</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=l.</a:t>
                </a:r>
              </a:p>
              <a:p>
                <a:pPr marL="0" indent="0">
                  <a:lnSpc>
                    <a:spcPct val="100000"/>
                  </a:lnSpc>
                  <a:buFont typeface="Wingdings" panose="05000000000000000000" charset="0"/>
                  <a:buNone/>
                </a:pPr>
                <a:r>
                  <a:rPr lang="zh-CN" altLang="en-US" sz="2000" dirty="0">
                    <a:latin typeface="微软雅黑" panose="020B0503020204020204" charset="-122"/>
                    <a:ea typeface="微软雅黑" panose="020B0503020204020204" charset="-122"/>
                    <a:cs typeface="微软雅黑" panose="020B0503020204020204" charset="-122"/>
                  </a:rPr>
                  <a:t>（i）若l≠0，则在a的某个去心邻域内f(x)与I同号．</a:t>
                </a:r>
              </a:p>
              <a:p>
                <a:pPr marL="0" indent="0">
                  <a:lnSpc>
                    <a:spcPct val="100000"/>
                  </a:lnSpc>
                  <a:buFont typeface="Wingdings" panose="05000000000000000000" charset="0"/>
                  <a:buNone/>
                </a:pPr>
                <a:r>
                  <a:rPr lang="zh-CN" altLang="en-US" sz="2000" dirty="0">
                    <a:latin typeface="微软雅黑" panose="020B0503020204020204" charset="-122"/>
                    <a:ea typeface="微软雅黑" panose="020B0503020204020204" charset="-122"/>
                    <a:cs typeface="微软雅黑" panose="020B0503020204020204" charset="-122"/>
                  </a:rPr>
                  <a:t>（ii）若在 a 的某个去心邻域内f(x)≥0（或f(x)≤0)，则l≥0（或l≤0).</a:t>
                </a:r>
              </a:p>
            </p:txBody>
          </p:sp>
        </mc:Choice>
        <mc:Fallback xmlns="">
          <p:sp>
            <p:nvSpPr>
              <p:cNvPr id="3" name="内容占位符 2"/>
              <p:cNvSpPr>
                <a:spLocks noRot="1" noChangeAspect="1" noMove="1" noResize="1" noEditPoints="1" noAdjustHandles="1" noChangeArrowheads="1" noChangeShapeType="1" noTextEdit="1"/>
              </p:cNvSpPr>
              <p:nvPr>
                <p:ph idx="3"/>
                <p:custDataLst>
                  <p:tags r:id="rId5"/>
                </p:custDataLst>
              </p:nvPr>
            </p:nvSpPr>
            <p:spPr>
              <a:xfrm>
                <a:off x="400685" y="763905"/>
                <a:ext cx="11457940" cy="5324475"/>
              </a:xfrm>
              <a:blipFill rotWithShape="1">
                <a:blip r:embed="rId6"/>
                <a:stretch>
                  <a:fillRect/>
                </a:stretch>
              </a:blipFill>
            </p:spPr>
            <p:txBody>
              <a:bodyPr/>
              <a:lstStyle/>
              <a:p>
                <a:r>
                  <a:rPr lang="zh-CN" altLang="en-US">
                    <a:noFill/>
                  </a:rPr>
                  <a:t> </a:t>
                </a:r>
              </a:p>
            </p:txBody>
          </p:sp>
        </mc:Fallback>
      </mc:AlternateContent>
      <p:sp>
        <p:nvSpPr>
          <p:cNvPr id="2" name="文本框 1"/>
          <p:cNvSpPr txBox="1"/>
          <p:nvPr/>
        </p:nvSpPr>
        <p:spPr>
          <a:xfrm>
            <a:off x="7599045" y="458470"/>
            <a:ext cx="4064000" cy="6159500"/>
          </a:xfrm>
          <a:prstGeom prst="rect">
            <a:avLst/>
          </a:prstGeom>
          <a:noFill/>
        </p:spPr>
        <p:txBody>
          <a:bodyPr wrap="square" rtlCol="0">
            <a:noAutofit/>
          </a:bodyPr>
          <a:lstStyle/>
          <a:p>
            <a:endParaRPr lang="en-US" altLang="zh-CN" i="1">
              <a:solidFill>
                <a:schemeClr val="tx1"/>
              </a:solidFill>
              <a:latin typeface="Cambria Math" panose="02040503050406030204" charset="0"/>
              <a:cs typeface="Cambria Math" panose="02040503050406030204"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3"/>
                <p:custDataLst>
                  <p:tags r:id="rId2"/>
                </p:custDataLst>
              </p:nvPr>
            </p:nvSpPr>
            <p:spPr>
              <a:xfrm>
                <a:off x="608330" y="112395"/>
                <a:ext cx="6858000" cy="6137275"/>
              </a:xfrm>
            </p:spPr>
            <p:txBody>
              <a:bodyPr>
                <a:noAutofit/>
              </a:bodyPr>
              <a:lstStyle/>
              <a:p>
                <a:pPr>
                  <a:buFont typeface="Wingdings" panose="05000000000000000000" charset="0"/>
                  <a:buChar char="l"/>
                </a:pP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定理7（复合函数的极限）</a:t>
                </a:r>
                <a:r>
                  <a:rPr lang="zh-CN" altLang="en-US" sz="2000" dirty="0">
                    <a:latin typeface="微软雅黑" panose="020B0503020204020204" charset="-122"/>
                    <a:ea typeface="微软雅黑" panose="020B0503020204020204" charset="-122"/>
                    <a:cs typeface="微软雅黑" panose="020B0503020204020204" charset="-122"/>
                  </a:rPr>
                  <a:t> 设limf(x)=l,u(t)与f(u(t))在t=τ的某个去心邻域内有定义，且u(t)≠a,u(t)→a(t→τ)，则</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𝑡</m:t>
                            </m:r>
                            <m:r>
                              <a:rPr lang="en-US" altLang="zh-CN" sz="2000" i="1" dirty="0">
                                <a:latin typeface="Cambria Math" panose="02040503050406030204" charset="0"/>
                                <a:ea typeface="MS Mincho" charset="0"/>
                                <a:cs typeface="Cambria Math" panose="02040503050406030204" charset="0"/>
                              </a:rPr>
                              <m:t>→</m:t>
                            </m:r>
                            <m:r>
                              <a:rPr sz="2000">
                                <a:latin typeface="Cambria Math" panose="02040503050406030204" charset="0"/>
                                <a:ea typeface="MS Mincho" charset="0"/>
                                <a:cs typeface="Cambria Math" panose="02040503050406030204" charset="0"/>
                                <a:sym typeface="+mn-ea"/>
                              </a:rPr>
                              <m:t>𝜏</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𝑢</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𝑡</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a:t>
                </a:r>
              </a:p>
              <a:p>
                <a:pPr>
                  <a:buFont typeface="Wingdings" panose="05000000000000000000" charset="0"/>
                  <a:buChar char="l"/>
                </a:pP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定理8（夹逼原理）</a:t>
                </a:r>
                <a:r>
                  <a:rPr lang="zh-CN" altLang="en-US" sz="2000" dirty="0">
                    <a:latin typeface="微软雅黑" panose="020B0503020204020204" charset="-122"/>
                    <a:ea typeface="微软雅黑" panose="020B0503020204020204" charset="-122"/>
                    <a:cs typeface="微软雅黑" panose="020B0503020204020204" charset="-122"/>
                  </a:rPr>
                  <a:t> 设</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𝑔</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=l，且在a 的某个去心邻域内有f(x)≤h(x)≤g(x)，则</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𝑎</m:t>
                            </m:r>
                          </m:lim>
                        </m:limLow>
                      </m:fName>
                      <m:e>
                        <m:r>
                          <a:rPr lang="en-US" altLang="zh-CN" sz="2000" i="1" dirty="0">
                            <a:latin typeface="Cambria Math" panose="02040503050406030204" charset="0"/>
                            <a:ea typeface="微软雅黑" panose="020B0503020204020204" charset="-122"/>
                            <a:cs typeface="Cambria Math" panose="02040503050406030204" charset="0"/>
                          </a:rPr>
                          <m:t>h</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=l.</a:t>
                </a:r>
              </a:p>
              <a:p>
                <a:pPr>
                  <a:buFont typeface="Wingdings" panose="05000000000000000000" charset="0"/>
                  <a:buChar char="l"/>
                </a:pP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定理9（单调有界收敛原理）</a:t>
                </a:r>
                <a:r>
                  <a:rPr lang="zh-CN" altLang="en-US" sz="2000" dirty="0">
                    <a:latin typeface="微软雅黑" panose="020B0503020204020204" charset="-122"/>
                    <a:ea typeface="微软雅黑" panose="020B0503020204020204" charset="-122"/>
                    <a:cs typeface="微软雅黑" panose="020B0503020204020204" charset="-122"/>
                  </a:rPr>
                  <a:t>若f(x)在区间I上单调有界，则f(x)在区间端点的单侧极限存在（若I=(a,+∞)，则f(x)在"端点"+∞的单侧极限理解为</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lim>
                        </m:limLow>
                      </m:fName>
                      <m:e>
                        <m:r>
                          <a:rPr lang="en-US" altLang="zh-CN" sz="2000" i="1" dirty="0">
                            <a:latin typeface="Cambria Math" panose="02040503050406030204" charset="0"/>
                            <a:ea typeface="微软雅黑" panose="020B0503020204020204" charset="-122"/>
                            <a:cs typeface="Cambria Math" panose="02040503050406030204" charset="0"/>
                          </a:rPr>
                          <m:t>𝑓</m:t>
                        </m:r>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e>
                    </m:func>
                  </m:oMath>
                </a14:m>
                <a:r>
                  <a:rPr lang="zh-CN" altLang="en-US" sz="2000" dirty="0">
                    <a:latin typeface="微软雅黑" panose="020B0503020204020204" charset="-122"/>
                    <a:ea typeface="微软雅黑" panose="020B0503020204020204" charset="-122"/>
                    <a:cs typeface="微软雅黑" panose="020B0503020204020204" charset="-122"/>
                  </a:rPr>
                  <a:t>，余类推）.</a:t>
                </a:r>
              </a:p>
              <a:p>
                <a:pPr>
                  <a:buFont typeface="Wingdings" panose="05000000000000000000" charset="0"/>
                  <a:buChar char="l"/>
                </a:pPr>
                <a:r>
                  <a:rPr lang="zh-CN" altLang="en-US" sz="2000" dirty="0">
                    <a:solidFill>
                      <a:srgbClr val="1871EE"/>
                    </a:solidFill>
                    <a:latin typeface="微软雅黑" panose="020B0503020204020204" charset="-122"/>
                    <a:ea typeface="微软雅黑" panose="020B0503020204020204" charset="-122"/>
                    <a:cs typeface="微软雅黑" panose="020B0503020204020204" charset="-122"/>
                  </a:rPr>
                  <a:t>两个重要极限</a:t>
                </a:r>
                <a:r>
                  <a:rPr lang="en-US" altLang="zh-CN" sz="2000" dirty="0">
                    <a:latin typeface="微软雅黑" panose="020B0503020204020204" charset="-122"/>
                    <a:ea typeface="微软雅黑" panose="020B0503020204020204" charset="-122"/>
                    <a:cs typeface="微软雅黑" panose="020B0503020204020204" charset="-122"/>
                  </a:rPr>
                  <a:t>  </a:t>
                </a:r>
              </a:p>
              <a:p>
                <a:pPr marL="0" indent="0">
                  <a:buFont typeface="Wingdings" panose="05000000000000000000" charset="0"/>
                  <a:buNone/>
                </a:pPr>
                <a:r>
                  <a:rPr lang="en-US" altLang="zh-CN" sz="2000" dirty="0">
                    <a:latin typeface="微软雅黑" panose="020B0503020204020204" charset="-122"/>
                    <a:ea typeface="微软雅黑" panose="020B0503020204020204" charset="-122"/>
                    <a:cs typeface="微软雅黑" panose="020B0503020204020204" charset="-122"/>
                  </a:rPr>
                  <a:t>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MS Mincho" charset="0"/>
                                    <a:cs typeface="Cambria Math" panose="02040503050406030204" charset="0"/>
                                  </a:rPr>
                                  <m:t>0</m:t>
                                </m:r>
                              </m:e>
                              <m:sup>
                                <m:r>
                                  <a:rPr lang="en-US" altLang="zh-CN" sz="2000" i="1" dirty="0">
                                    <a:latin typeface="Cambria Math" panose="02040503050406030204" charset="0"/>
                                    <a:ea typeface="MS Mincho" charset="0"/>
                                    <a:cs typeface="Cambria Math" panose="02040503050406030204" charset="0"/>
                                  </a:rPr>
                                  <m:t>+</m:t>
                                </m:r>
                              </m:sup>
                            </m:sSup>
                          </m:lim>
                        </m:limLow>
                      </m:fName>
                      <m:e>
                        <m:f>
                          <m:fPr>
                            <m:ctrlPr>
                              <a:rPr lang="en-US" altLang="zh-CN" sz="2000" i="1" dirty="0">
                                <a:latin typeface="Cambria Math" panose="02040503050406030204" pitchFamily="18" charset="0"/>
                                <a:ea typeface="微软雅黑" panose="020B0503020204020204" charset="-122"/>
                                <a:cs typeface="Cambria Math" panose="02040503050406030204" charset="0"/>
                              </a:rPr>
                            </m:ctrlPr>
                          </m:fPr>
                          <m:num>
                            <m:r>
                              <a:rPr lang="en-US" altLang="zh-CN" sz="2000" i="1" dirty="0">
                                <a:latin typeface="Cambria Math" panose="02040503050406030204" charset="0"/>
                                <a:ea typeface="微软雅黑" panose="020B0503020204020204" charset="-122"/>
                                <a:cs typeface="Cambria Math" panose="02040503050406030204" charset="0"/>
                              </a:rPr>
                              <m:t>𝑠𝑖𝑛</m:t>
                            </m:r>
                            <m:r>
                              <a:rPr lang="en-US" altLang="zh-CN" sz="2000" i="1" dirty="0">
                                <a:latin typeface="Cambria Math" panose="02040503050406030204" charset="0"/>
                                <a:ea typeface="MS Mincho" charset="0"/>
                                <a:cs typeface="Cambria Math" panose="02040503050406030204" charset="0"/>
                              </a:rPr>
                              <m:t> </m:t>
                            </m:r>
                            <m:r>
                              <a:rPr lang="en-US" altLang="zh-CN" sz="2000" i="1" dirty="0">
                                <a:latin typeface="Cambria Math" panose="02040503050406030204" charset="0"/>
                                <a:ea typeface="微软雅黑" panose="020B0503020204020204" charset="-122"/>
                                <a:cs typeface="Cambria Math" panose="02040503050406030204" charset="0"/>
                              </a:rPr>
                              <m:t>𝑥</m:t>
                            </m:r>
                          </m:num>
                          <m:den>
                            <m:r>
                              <a:rPr lang="en-US" altLang="zh-CN" sz="2000" i="1" dirty="0">
                                <a:latin typeface="Cambria Math" panose="02040503050406030204" charset="0"/>
                                <a:ea typeface="微软雅黑" panose="020B0503020204020204" charset="-122"/>
                                <a:cs typeface="Cambria Math" panose="02040503050406030204" charset="0"/>
                              </a:rPr>
                              <m:t>𝑥</m:t>
                            </m:r>
                          </m:den>
                        </m:f>
                      </m:e>
                    </m:func>
                  </m:oMath>
                </a14:m>
                <a:r>
                  <a:rPr lang="en-US" altLang="zh-CN" sz="2000" dirty="0">
                    <a:latin typeface="微软雅黑" panose="020B0503020204020204" charset="-122"/>
                    <a:ea typeface="微软雅黑" panose="020B0503020204020204" charset="-122"/>
                    <a:cs typeface="微软雅黑" panose="020B0503020204020204" charset="-122"/>
                  </a:rPr>
                  <a:t>=1                   </a:t>
                </a:r>
                <a14:m>
                  <m:oMath xmlns:m="http://schemas.openxmlformats.org/officeDocument/2006/math">
                    <m:func>
                      <m:funcPr>
                        <m:ctrlPr>
                          <a:rPr lang="en-US" altLang="zh-CN" sz="2000" i="1" dirty="0">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dirty="0">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dirty="0">
                                <a:latin typeface="Cambria Math" panose="02040503050406030204" charset="0"/>
                                <a:ea typeface="微软雅黑" panose="020B0503020204020204" charset="-122"/>
                                <a:cs typeface="Cambria Math" panose="02040503050406030204" charset="0"/>
                              </a:rPr>
                              <m:t>lim</m:t>
                            </m:r>
                          </m:e>
                          <m:lim>
                            <m:r>
                              <a:rPr lang="en-US" altLang="zh-CN" sz="2000" i="1" dirty="0">
                                <a:latin typeface="Cambria Math" panose="02040503050406030204" charset="0"/>
                                <a:ea typeface="微软雅黑" panose="020B0503020204020204" charset="-122"/>
                                <a:cs typeface="Cambria Math" panose="02040503050406030204" charset="0"/>
                              </a:rPr>
                              <m:t>𝑥</m:t>
                            </m:r>
                            <m:r>
                              <a:rPr lang="en-US" altLang="zh-CN" sz="2000" i="1" dirty="0">
                                <a:latin typeface="Cambria Math" panose="02040503050406030204" charset="0"/>
                                <a:ea typeface="MS Mincho" charset="0"/>
                                <a:cs typeface="Cambria Math" panose="02040503050406030204" charset="0"/>
                              </a:rPr>
                              <m:t>→∞</m:t>
                            </m:r>
                          </m:lim>
                        </m:limLow>
                      </m:fName>
                      <m:e>
                        <m:sSup>
                          <m:sSupPr>
                            <m:ctrlPr>
                              <a:rPr lang="en-US" altLang="zh-CN" sz="2000" i="1" dirty="0">
                                <a:latin typeface="Cambria Math" panose="02040503050406030204" pitchFamily="18" charset="0"/>
                                <a:ea typeface="微软雅黑" panose="020B0503020204020204" charset="-122"/>
                                <a:cs typeface="Cambria Math" panose="02040503050406030204" charset="0"/>
                              </a:rPr>
                            </m:ctrlPr>
                          </m:sSupPr>
                          <m:e>
                            <m:r>
                              <a:rPr lang="en-US" altLang="zh-CN" sz="2000" i="1" dirty="0">
                                <a:latin typeface="Cambria Math" panose="02040503050406030204" charset="0"/>
                                <a:ea typeface="MS Mincho" charset="0"/>
                                <a:cs typeface="Cambria Math" panose="02040503050406030204" charset="0"/>
                              </a:rPr>
                              <m:t>(1+</m:t>
                            </m:r>
                            <m:f>
                              <m:fPr>
                                <m:ctrlPr>
                                  <a:rPr lang="en-US" altLang="zh-CN" sz="2000" i="1" dirty="0">
                                    <a:latin typeface="Cambria Math" panose="02040503050406030204" pitchFamily="18" charset="0"/>
                                    <a:ea typeface="微软雅黑" panose="020B0503020204020204" charset="-122"/>
                                    <a:cs typeface="Cambria Math" panose="02040503050406030204" charset="0"/>
                                  </a:rPr>
                                </m:ctrlPr>
                              </m:fPr>
                              <m:num>
                                <m:r>
                                  <a:rPr lang="en-US" altLang="zh-CN" sz="2000" i="1" dirty="0">
                                    <a:latin typeface="Cambria Math" panose="02040503050406030204" charset="0"/>
                                    <a:ea typeface="MS Mincho" charset="0"/>
                                    <a:cs typeface="Cambria Math" panose="02040503050406030204" charset="0"/>
                                  </a:rPr>
                                  <m:t>1</m:t>
                                </m:r>
                              </m:num>
                              <m:den>
                                <m:r>
                                  <a:rPr lang="en-US" altLang="zh-CN" sz="2000" i="1" dirty="0">
                                    <a:latin typeface="Cambria Math" panose="02040503050406030204" charset="0"/>
                                    <a:ea typeface="微软雅黑" panose="020B0503020204020204" charset="-122"/>
                                    <a:cs typeface="Cambria Math" panose="02040503050406030204" charset="0"/>
                                  </a:rPr>
                                  <m:t>𝑥</m:t>
                                </m:r>
                              </m:den>
                            </m:f>
                            <m:r>
                              <a:rPr lang="en-US" altLang="zh-CN" sz="2000" i="1" dirty="0">
                                <a:latin typeface="Cambria Math" panose="02040503050406030204" charset="0"/>
                                <a:ea typeface="MS Mincho" charset="0"/>
                                <a:cs typeface="Cambria Math" panose="02040503050406030204" charset="0"/>
                              </a:rPr>
                              <m:t>)</m:t>
                            </m:r>
                          </m:e>
                          <m:sup>
                            <m:r>
                              <a:rPr lang="en-US" altLang="zh-CN" sz="2000" i="1" dirty="0">
                                <a:latin typeface="Cambria Math" panose="02040503050406030204" charset="0"/>
                                <a:ea typeface="微软雅黑" panose="020B0503020204020204" charset="-122"/>
                                <a:cs typeface="Cambria Math" panose="02040503050406030204" charset="0"/>
                              </a:rPr>
                              <m:t>𝑥</m:t>
                            </m:r>
                          </m:sup>
                        </m:sSup>
                      </m:e>
                    </m:func>
                    <m:r>
                      <a:rPr lang="en-US" altLang="zh-CN" sz="2000" i="1" dirty="0">
                        <a:latin typeface="Cambria Math" panose="02040503050406030204" charset="0"/>
                        <a:ea typeface="MS Mincho" charset="0"/>
                        <a:cs typeface="Cambria Math" panose="02040503050406030204" charset="0"/>
                      </a:rPr>
                      <m:t>=</m:t>
                    </m:r>
                    <m:r>
                      <a:rPr lang="en-US" altLang="zh-CN" sz="2000" i="1" dirty="0">
                        <a:latin typeface="Cambria Math" panose="02040503050406030204" charset="0"/>
                        <a:ea typeface="微软雅黑" panose="020B0503020204020204" charset="-122"/>
                        <a:cs typeface="Cambria Math" panose="02040503050406030204" charset="0"/>
                      </a:rPr>
                      <m:t>𝑒</m:t>
                    </m:r>
                  </m:oMath>
                </a14:m>
                <a:endParaRPr lang="zh-CN" altLang="en-US" sz="2000" dirty="0">
                  <a:latin typeface="微软雅黑" panose="020B0503020204020204" charset="-122"/>
                  <a:ea typeface="微软雅黑" panose="020B0503020204020204" charset="-122"/>
                  <a:cs typeface="微软雅黑" panose="020B0503020204020204" charset="-122"/>
                </a:endParaRPr>
              </a:p>
              <a:p>
                <a:pPr>
                  <a:buFont typeface="Wingdings" panose="05000000000000000000" charset="0"/>
                  <a:buChar char="l"/>
                </a:pPr>
                <a:endParaRPr lang="zh-CN" altLang="en-US" sz="2000" dirty="0">
                  <a:latin typeface="微软雅黑" panose="020B0503020204020204" charset="-122"/>
                  <a:ea typeface="微软雅黑" panose="020B0503020204020204" charset="-122"/>
                  <a:cs typeface="微软雅黑" panose="020B0503020204020204" charset="-122"/>
                </a:endParaRPr>
              </a:p>
            </p:txBody>
          </p:sp>
        </mc:Choice>
        <mc:Fallback xmlns="">
          <p:sp>
            <p:nvSpPr>
              <p:cNvPr id="3" name="内容占位符 2"/>
              <p:cNvSpPr>
                <a:spLocks noRot="1" noChangeAspect="1" noMove="1" noResize="1" noEditPoints="1" noAdjustHandles="1" noChangeArrowheads="1" noChangeShapeType="1" noTextEdit="1"/>
              </p:cNvSpPr>
              <p:nvPr>
                <p:ph idx="3"/>
                <p:custDataLst>
                  <p:tags r:id="rId5"/>
                </p:custDataLst>
              </p:nvPr>
            </p:nvSpPr>
            <p:spPr>
              <a:xfrm>
                <a:off x="608330" y="112395"/>
                <a:ext cx="6858000" cy="6137275"/>
              </a:xfrm>
              <a:blipFill rotWithShape="1">
                <a:blip r:embed="rId6"/>
                <a:stretch>
                  <a:fillRect r="-565" b="-476"/>
                </a:stretch>
              </a:blipFill>
            </p:spPr>
            <p:txBody>
              <a:bodyPr/>
              <a:lstStyle/>
              <a:p>
                <a:r>
                  <a:rPr lang="zh-CN" altLang="en-US">
                    <a:noFill/>
                  </a:rPr>
                  <a:t> </a:t>
                </a:r>
              </a:p>
            </p:txBody>
          </p:sp>
        </mc:Fallback>
      </mc:AlternateContent>
      <p:pic>
        <p:nvPicPr>
          <p:cNvPr id="2" name="图片 1" descr="屏幕截图 2023-12-17 102420"/>
          <p:cNvPicPr>
            <a:picLocks noChangeAspect="1"/>
          </p:cNvPicPr>
          <p:nvPr/>
        </p:nvPicPr>
        <p:blipFill>
          <a:blip r:embed="rId7"/>
          <a:stretch>
            <a:fillRect/>
          </a:stretch>
        </p:blipFill>
        <p:spPr>
          <a:xfrm>
            <a:off x="7289165" y="533400"/>
            <a:ext cx="4844415" cy="3663950"/>
          </a:xfrm>
          <a:prstGeom prst="rect">
            <a:avLst/>
          </a:prstGeom>
        </p:spPr>
      </p:pic>
      <p:pic>
        <p:nvPicPr>
          <p:cNvPr id="5" name="图片 4" descr="屏幕截图 2023-12-17 102451"/>
          <p:cNvPicPr>
            <a:picLocks noChangeAspect="1"/>
          </p:cNvPicPr>
          <p:nvPr/>
        </p:nvPicPr>
        <p:blipFill>
          <a:blip r:embed="rId8"/>
          <a:srcRect l="2404" t="-2174"/>
          <a:stretch>
            <a:fillRect/>
          </a:stretch>
        </p:blipFill>
        <p:spPr>
          <a:xfrm>
            <a:off x="7244080" y="4197350"/>
            <a:ext cx="4831080" cy="748030"/>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13585" y="2967990"/>
            <a:ext cx="8165465" cy="922020"/>
          </a:xfrm>
          <a:prstGeom prst="rect">
            <a:avLst/>
          </a:prstGeom>
          <a:noFill/>
        </p:spPr>
        <p:txBody>
          <a:bodyPr wrap="square" rtlCol="0">
            <a:spAutoFit/>
          </a:bodyPr>
          <a:lstStyle/>
          <a:p>
            <a:pPr algn="ctr"/>
            <a:r>
              <a:rPr lang="en-US" altLang="zh-CN" sz="5400" b="1">
                <a:latin typeface="+mj-ea"/>
                <a:ea typeface="+mj-ea"/>
                <a:cs typeface="+mj-ea"/>
              </a:rPr>
              <a:t>2.3 </a:t>
            </a:r>
            <a:r>
              <a:rPr lang="zh-CN" altLang="en-US" sz="5400" b="1">
                <a:latin typeface="+mj-ea"/>
                <a:ea typeface="+mj-ea"/>
                <a:cs typeface="+mj-ea"/>
              </a:rPr>
              <a:t>无穷小量与无穷大量</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2"/>
            <p:custDataLst>
              <p:tags r:id="rId2"/>
            </p:custDataLst>
          </p:nvPr>
        </p:nvSpPr>
        <p:spPr>
          <a:xfrm>
            <a:off x="191135" y="103505"/>
            <a:ext cx="7631430" cy="1199515"/>
          </a:xfrm>
        </p:spPr>
        <p:txBody>
          <a:bodyPr>
            <a:normAutofit/>
          </a:bodyPr>
          <a:lstStyle/>
          <a:p>
            <a:r>
              <a:rPr lang="en-US" altLang="zh-CN" sz="2800">
                <a:latin typeface="微软雅黑" panose="020B0503020204020204" charset="-122"/>
                <a:ea typeface="微软雅黑" panose="020B0503020204020204" charset="-122"/>
                <a:cs typeface="微软雅黑" panose="020B0503020204020204" charset="-122"/>
              </a:rPr>
              <a:t>2.3 </a:t>
            </a:r>
            <a:r>
              <a:rPr sz="2800">
                <a:latin typeface="微软雅黑" panose="020B0503020204020204" charset="-122"/>
                <a:ea typeface="微软雅黑" panose="020B0503020204020204" charset="-122"/>
                <a:cs typeface="微软雅黑" panose="020B0503020204020204" charset="-122"/>
              </a:rPr>
              <a:t>无穷大量与无穷小量</a:t>
            </a:r>
          </a:p>
        </p:txBody>
      </p:sp>
      <p:sp>
        <p:nvSpPr>
          <p:cNvPr id="4" name="文本框 3"/>
          <p:cNvSpPr txBox="1"/>
          <p:nvPr/>
        </p:nvSpPr>
        <p:spPr>
          <a:xfrm>
            <a:off x="370840" y="1303020"/>
            <a:ext cx="7952105" cy="4775200"/>
          </a:xfrm>
          <a:prstGeom prst="rect">
            <a:avLst/>
          </a:prstGeom>
          <a:noFill/>
        </p:spPr>
        <p:txBody>
          <a:bodyPr wrap="square" rtlCol="0">
            <a:noAutofit/>
          </a:bodyPr>
          <a:lstStyle/>
          <a:p>
            <a:pPr marL="285750" indent="-285750">
              <a:lnSpc>
                <a:spcPct val="100000"/>
              </a:lnSpc>
              <a:buFont typeface="Wingdings" panose="05000000000000000000" charset="0"/>
              <a:buChar char="l"/>
            </a:pPr>
            <a:r>
              <a:rPr lang="zh-CN" altLang="en-US" sz="2000">
                <a:solidFill>
                  <a:srgbClr val="2C70FF"/>
                </a:solidFill>
                <a:latin typeface="微软雅黑" panose="020B0503020204020204" charset="-122"/>
                <a:ea typeface="微软雅黑" panose="020B0503020204020204" charset="-122"/>
                <a:cs typeface="微软雅黑" panose="020B0503020204020204" charset="-122"/>
                <a:sym typeface="+mn-ea"/>
              </a:rPr>
              <a:t>定义1 </a:t>
            </a:r>
            <a:r>
              <a:rPr lang="zh-CN" altLang="en-US" sz="2000">
                <a:latin typeface="微软雅黑" panose="020B0503020204020204" charset="-122"/>
                <a:ea typeface="微软雅黑" panose="020B0503020204020204" charset="-122"/>
                <a:cs typeface="微软雅黑" panose="020B0503020204020204" charset="-122"/>
                <a:sym typeface="+mn-ea"/>
              </a:rPr>
              <a:t>若lim u=0，则称u为该极限过程中的无穷小量，或简称无穷小.</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sym typeface="+mn-ea"/>
              </a:rPr>
              <a:t>   </a:t>
            </a:r>
            <a:r>
              <a:rPr lang="zh-CN" altLang="en-US" sz="2000">
                <a:latin typeface="微软雅黑" panose="020B0503020204020204" charset="-122"/>
                <a:ea typeface="微软雅黑" panose="020B0503020204020204" charset="-122"/>
                <a:cs typeface="微软雅黑" panose="020B0503020204020204" charset="-122"/>
                <a:sym typeface="+mn-ea"/>
              </a:rPr>
              <a:t>简言之，无穷小量就是以零为极限的变量．</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endParaRPr lang="zh-CN" altLang="en-US" sz="2000">
              <a:latin typeface="微软雅黑" panose="020B0503020204020204" charset="-122"/>
              <a:ea typeface="微软雅黑" panose="020B0503020204020204" charset="-122"/>
              <a:cs typeface="微软雅黑" panose="020B0503020204020204" charset="-122"/>
            </a:endParaRPr>
          </a:p>
          <a:p>
            <a:pPr marL="342900" indent="-342900">
              <a:lnSpc>
                <a:spcPct val="100000"/>
              </a:lnSpc>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定理1</a:t>
            </a:r>
            <a:r>
              <a:rPr lang="zh-CN" altLang="en-US" sz="2000">
                <a:latin typeface="微软雅黑" panose="020B0503020204020204" charset="-122"/>
                <a:ea typeface="微软雅黑" panose="020B0503020204020204" charset="-122"/>
                <a:cs typeface="微软雅黑" panose="020B0503020204020204" charset="-122"/>
                <a:sym typeface="+mn-ea"/>
              </a:rPr>
              <a:t> lim u=l⇔u=l+α，其中a为同一极限过程中的无穷小量.</a:t>
            </a:r>
            <a:endParaRPr lang="zh-CN" altLang="en-US" sz="2000">
              <a:latin typeface="微软雅黑" panose="020B0503020204020204" charset="-122"/>
              <a:ea typeface="微软雅黑" panose="020B0503020204020204" charset="-122"/>
              <a:cs typeface="微软雅黑" panose="020B0503020204020204" charset="-122"/>
            </a:endParaRPr>
          </a:p>
          <a:p>
            <a:pPr marL="342900" indent="-342900">
              <a:lnSpc>
                <a:spcPct val="100000"/>
              </a:lnSpc>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定理2</a:t>
            </a:r>
            <a:r>
              <a:rPr lang="zh-CN" altLang="en-US" sz="2000">
                <a:latin typeface="微软雅黑" panose="020B0503020204020204" charset="-122"/>
                <a:ea typeface="微软雅黑" panose="020B0503020204020204" charset="-122"/>
                <a:cs typeface="微软雅黑" panose="020B0503020204020204" charset="-122"/>
                <a:sym typeface="+mn-ea"/>
              </a:rPr>
              <a:t> 任意有限个无穷小量的和与积仍为无穷小量；</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sym typeface="+mn-ea"/>
              </a:rPr>
              <a:t> </a:t>
            </a:r>
            <a:r>
              <a:rPr lang="en-US" altLang="zh-CN" sz="2000">
                <a:latin typeface="微软雅黑" panose="020B0503020204020204" charset="-122"/>
                <a:ea typeface="微软雅黑" panose="020B0503020204020204" charset="-122"/>
                <a:cs typeface="微软雅黑" panose="020B0503020204020204" charset="-122"/>
                <a:sym typeface="+mn-ea"/>
              </a:rPr>
              <a:t>        </a:t>
            </a:r>
            <a:r>
              <a:rPr lang="zh-CN" altLang="en-US" sz="2000">
                <a:latin typeface="微软雅黑" panose="020B0503020204020204" charset="-122"/>
                <a:ea typeface="微软雅黑" panose="020B0503020204020204" charset="-122"/>
                <a:cs typeface="微软雅黑" panose="020B0503020204020204" charset="-122"/>
                <a:sym typeface="+mn-ea"/>
              </a:rPr>
              <a:t>有界量与无穷小量之积是无穷小量．</a:t>
            </a: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lnSpc>
                <a:spcPct val="100000"/>
              </a:lnSpc>
              <a:buFont typeface="Wingdings" panose="05000000000000000000" charset="0"/>
              <a:buChar char="l"/>
            </a:pP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sym typeface="+mn-ea"/>
              </a:rPr>
              <a:t>引入在微积分学中普遍采用的记号”o符号”．本书约定</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sym typeface="+mn-ea"/>
              </a:rPr>
              <a:t>        </a:t>
            </a:r>
            <a:r>
              <a:rPr lang="zh-CN" altLang="en-US" sz="2000">
                <a:latin typeface="微软雅黑" panose="020B0503020204020204" charset="-122"/>
                <a:ea typeface="微软雅黑" panose="020B0503020204020204" charset="-122"/>
                <a:cs typeface="微软雅黑" panose="020B0503020204020204" charset="-122"/>
                <a:sym typeface="+mn-ea"/>
              </a:rPr>
              <a:t>u=o(v)→lim(u/v)=0;</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sym typeface="+mn-ea"/>
              </a:rPr>
              <a:t>        </a:t>
            </a:r>
            <a:r>
              <a:rPr lang="zh-CN" altLang="en-US" sz="2000">
                <a:latin typeface="微软雅黑" panose="020B0503020204020204" charset="-122"/>
                <a:ea typeface="微软雅黑" panose="020B0503020204020204" charset="-122"/>
                <a:cs typeface="微软雅黑" panose="020B0503020204020204" charset="-122"/>
                <a:sym typeface="+mn-ea"/>
              </a:rPr>
              <a:t>u=w+o(v)⇔u-w=o(v).</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lnSpc>
                <a:spcPct val="100000"/>
              </a:lnSpc>
              <a:buFont typeface="Wingdings" panose="05000000000000000000" charset="0"/>
              <a:buChar char="l"/>
            </a:pPr>
            <a:r>
              <a:rPr lang="zh-CN" altLang="en-US" sz="2000">
                <a:solidFill>
                  <a:srgbClr val="2C70FF"/>
                </a:solidFill>
                <a:latin typeface="微软雅黑" panose="020B0503020204020204" charset="-122"/>
                <a:ea typeface="微软雅黑" panose="020B0503020204020204" charset="-122"/>
                <a:cs typeface="微软雅黑" panose="020B0503020204020204" charset="-122"/>
                <a:sym typeface="+mn-ea"/>
              </a:rPr>
              <a:t>有关规则:</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sym typeface="+mn-ea"/>
              </a:rPr>
              <a:t>(i)o(u)±o(u)=o(u);</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sym typeface="+mn-ea"/>
              </a:rPr>
              <a:t>(ii)o(u)o(u)=o(uv);</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sym typeface="+mn-ea"/>
              </a:rPr>
              <a:t>(iii)c·o(u)=o(u)(c为常数）,u·o(v)=o(uv);</a:t>
            </a:r>
            <a:endParaRPr lang="zh-CN" altLang="en-US" sz="2000">
              <a:latin typeface="微软雅黑" panose="020B0503020204020204" charset="-122"/>
              <a:ea typeface="微软雅黑" panose="020B0503020204020204" charset="-122"/>
              <a:cs typeface="微软雅黑" panose="020B0503020204020204" charset="-122"/>
            </a:endParaRPr>
          </a:p>
          <a:p>
            <a:pPr indent="0">
              <a:lnSpc>
                <a:spcPct val="100000"/>
              </a:lnSpc>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sym typeface="+mn-ea"/>
              </a:rPr>
              <a:t>(iv)o(o(u))=o(u). </a:t>
            </a: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8211820" y="1303020"/>
            <a:ext cx="3821430" cy="2307590"/>
          </a:xfrm>
          <a:prstGeom prst="rect">
            <a:avLst/>
          </a:prstGeom>
          <a:noFill/>
        </p:spPr>
        <p:txBody>
          <a:bodyPr wrap="square" rtlCol="0">
            <a:noAutofit/>
          </a:bodyPr>
          <a:lstStyle/>
          <a:p>
            <a:pPr indent="0">
              <a:buFont typeface="Wingdings" panose="05000000000000000000" charset="0"/>
              <a:buNone/>
            </a:pPr>
            <a:r>
              <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o(v)除了表示lim(u/v)=0之外，别无意义．</a:t>
            </a:r>
          </a:p>
          <a:p>
            <a:pPr indent="0">
              <a:buFont typeface="Wingdings" panose="05000000000000000000" charset="0"/>
              <a:buNone/>
            </a:pPr>
            <a:r>
              <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因此不可将u=o(v)当作通常的等式处理，否则将导致错误．</a:t>
            </a:r>
          </a:p>
          <a:p>
            <a:pPr indent="0">
              <a:buFont typeface="Wingdings" panose="05000000000000000000" charset="0"/>
              <a:buNone/>
            </a:pPr>
            <a:r>
              <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例如，不能由u=o(v)推出u-o(v)=0或o(v)=u；也不能由u=o(v)与w=o(v)推出u=w.</a:t>
            </a:r>
            <a:endParaRPr lang="zh-CN" altLang="en-US" sz="2000">
              <a:latin typeface="微软雅黑" panose="020B0503020204020204" charset="-122"/>
              <a:ea typeface="微软雅黑" panose="020B0503020204020204" charset="-122"/>
              <a:cs typeface="微软雅黑" panose="020B0503020204020204" charset="-122"/>
            </a:endParaRPr>
          </a:p>
        </p:txBody>
      </p:sp>
      <p:pic>
        <p:nvPicPr>
          <p:cNvPr id="8" name="图片 7" descr="屏幕截图 2023-12-17 113856"/>
          <p:cNvPicPr>
            <a:picLocks noChangeAspect="1"/>
          </p:cNvPicPr>
          <p:nvPr>
            <p:custDataLst>
              <p:tags r:id="rId3"/>
            </p:custDataLst>
          </p:nvPr>
        </p:nvPicPr>
        <p:blipFill>
          <a:blip r:embed="rId7"/>
          <a:stretch>
            <a:fillRect/>
          </a:stretch>
        </p:blipFill>
        <p:spPr>
          <a:xfrm>
            <a:off x="8211820" y="3550920"/>
            <a:ext cx="3552190" cy="1549400"/>
          </a:xfrm>
          <a:prstGeom prst="rect">
            <a:avLst/>
          </a:prstGeom>
        </p:spPr>
      </p:pic>
      <p:pic>
        <p:nvPicPr>
          <p:cNvPr id="9" name="图片 8" descr="屏幕截图 2023-12-17 113842"/>
          <p:cNvPicPr>
            <a:picLocks noChangeAspect="1"/>
          </p:cNvPicPr>
          <p:nvPr>
            <p:custDataLst>
              <p:tags r:id="rId4"/>
            </p:custDataLst>
          </p:nvPr>
        </p:nvPicPr>
        <p:blipFill>
          <a:blip r:embed="rId8"/>
          <a:stretch>
            <a:fillRect/>
          </a:stretch>
        </p:blipFill>
        <p:spPr>
          <a:xfrm>
            <a:off x="8212455" y="5100320"/>
            <a:ext cx="2471420" cy="1181100"/>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407035" y="325120"/>
                <a:ext cx="6633845" cy="6040755"/>
              </a:xfrm>
              <a:prstGeom prst="rect">
                <a:avLst/>
              </a:prstGeom>
              <a:noFill/>
            </p:spPr>
            <p:txBody>
              <a:bodyPr wrap="square" rtlCol="0">
                <a:noAutofit/>
              </a:bodyPr>
              <a:lstStyle/>
              <a:p>
                <a:pPr marL="285750" indent="-285750">
                  <a:buFont typeface="Wingdings" panose="05000000000000000000" charset="0"/>
                  <a:buChar char="l"/>
                </a:pPr>
                <a:r>
                  <a:rPr lang="zh-CN" altLang="en-US" sz="2000">
                    <a:solidFill>
                      <a:srgbClr val="1871EE"/>
                    </a:solidFill>
                    <a:latin typeface="微软雅黑" panose="020B0503020204020204" charset="-122"/>
                    <a:ea typeface="微软雅黑" panose="020B0503020204020204" charset="-122"/>
                    <a:cs typeface="微软雅黑" panose="020B0503020204020204" charset="-122"/>
                  </a:rPr>
                  <a:t>定义2</a:t>
                </a:r>
                <a:r>
                  <a:rPr lang="zh-CN" altLang="en-US" sz="2000">
                    <a:latin typeface="微软雅黑" panose="020B0503020204020204" charset="-122"/>
                    <a:ea typeface="微软雅黑" panose="020B0503020204020204" charset="-122"/>
                    <a:cs typeface="微软雅黑" panose="020B0503020204020204" charset="-122"/>
                  </a:rPr>
                  <a:t> 设u,v是同一极限过程中的无穷小量．若u=o(v)，则说u是v的高阶无穷小，或说v是u的低阶无穷小；若lim(u/v)=l(l≠0)，则说u与v是同阶无穷小；若lim(u/v)=1，则说u与v是等价无穷小，记作u~v.</a:t>
                </a:r>
              </a:p>
              <a:p>
                <a:pPr indent="0">
                  <a:buFont typeface="Wingdings" panose="05000000000000000000" charset="0"/>
                  <a:buNone/>
                </a:pP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rPr>
                  <a:t>定理3</a:t>
                </a:r>
                <a:r>
                  <a:rPr lang="zh-CN" altLang="en-US" sz="2000">
                    <a:latin typeface="微软雅黑" panose="020B0503020204020204" charset="-122"/>
                    <a:ea typeface="微软雅黑" panose="020B0503020204020204" charset="-122"/>
                    <a:cs typeface="微软雅黑" panose="020B0503020204020204" charset="-122"/>
                  </a:rPr>
                  <a:t> 设在某个极限过程中，u,v为无穷小量．则</a:t>
                </a:r>
              </a:p>
              <a:p>
                <a:pPr indent="0">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  </a:t>
                </a: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u~u⇔u=u+o(v)</a:t>
                </a:r>
              </a:p>
              <a:p>
                <a:pPr marL="285750" indent="-285750">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rPr>
                  <a:t>定理4 </a:t>
                </a:r>
                <a:r>
                  <a:rPr lang="zh-CN" altLang="en-US" sz="2000">
                    <a:latin typeface="微软雅黑" panose="020B0503020204020204" charset="-122"/>
                    <a:ea typeface="微软雅黑" panose="020B0503020204020204" charset="-122"/>
                    <a:cs typeface="微软雅黑" panose="020B0503020204020204" charset="-122"/>
                  </a:rPr>
                  <a:t>设在某个极限过程中，u,v,</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𝑢</m:t>
                        </m:r>
                      </m:e>
                    </m:bar>
                  </m:oMath>
                </a14:m>
                <a:r>
                  <a:rPr lang="zh-CN" altLang="en-US" sz="2000">
                    <a:latin typeface="微软雅黑" panose="020B0503020204020204" charset="-122"/>
                    <a:ea typeface="微软雅黑" panose="020B0503020204020204" charset="-122"/>
                    <a:cs typeface="微软雅黑" panose="020B0503020204020204" charset="-122"/>
                  </a:rPr>
                  <a:t>,</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𝑣</m:t>
                        </m:r>
                      </m:e>
                    </m:bar>
                  </m:oMath>
                </a14:m>
                <a:r>
                  <a:rPr lang="zh-CN" altLang="en-US" sz="2000">
                    <a:latin typeface="微软雅黑" panose="020B0503020204020204" charset="-122"/>
                    <a:ea typeface="微软雅黑" panose="020B0503020204020204" charset="-122"/>
                    <a:cs typeface="微软雅黑" panose="020B0503020204020204" charset="-122"/>
                  </a:rPr>
                  <a:t>为无穷小量，u~</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𝑢</m:t>
                        </m:r>
                      </m:e>
                    </m:bar>
                  </m:oMath>
                </a14:m>
                <a:r>
                  <a:rPr lang="zh-CN" altLang="en-US" sz="2000">
                    <a:latin typeface="微软雅黑" panose="020B0503020204020204" charset="-122"/>
                    <a:ea typeface="微软雅黑" panose="020B0503020204020204" charset="-122"/>
                    <a:cs typeface="微软雅黑" panose="020B0503020204020204" charset="-122"/>
                  </a:rPr>
                  <a:t>,v~</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𝑣</m:t>
                        </m:r>
                      </m:e>
                    </m:bar>
                  </m:oMath>
                </a14:m>
                <a:r>
                  <a:rPr lang="zh-CN" altLang="en-US" sz="2000">
                    <a:latin typeface="微软雅黑" panose="020B0503020204020204" charset="-122"/>
                    <a:ea typeface="微软雅黑" panose="020B0503020204020204" charset="-122"/>
                    <a:cs typeface="微软雅黑" panose="020B0503020204020204" charset="-122"/>
                  </a:rPr>
                  <a:t>,w是收敛于非零实数a的变量，则有：</a:t>
                </a:r>
              </a:p>
              <a:p>
                <a:pPr indent="0">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(i)wu~au,uv</a:t>
                </a:r>
                <a:r>
                  <a:rPr lang="en-US" altLang="zh-CN" sz="2000">
                    <a:latin typeface="微软雅黑" panose="020B0503020204020204" charset="-122"/>
                    <a:ea typeface="微软雅黑" panose="020B0503020204020204" charset="-122"/>
                    <a:cs typeface="微软雅黑" panose="020B0503020204020204" charset="-122"/>
                  </a:rPr>
                  <a:t>~</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𝑢</m:t>
                        </m:r>
                      </m:e>
                    </m:bar>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𝑣</m:t>
                        </m:r>
                      </m:e>
                    </m:bar>
                  </m:oMath>
                </a14:m>
                <a:r>
                  <a:rPr lang="zh-CN" altLang="en-US" sz="2000">
                    <a:latin typeface="微软雅黑" panose="020B0503020204020204" charset="-122"/>
                    <a:ea typeface="微软雅黑" panose="020B0503020204020204" charset="-122"/>
                    <a:cs typeface="微软雅黑" panose="020B0503020204020204" charset="-122"/>
                  </a:rPr>
                  <a:t>;</a:t>
                </a:r>
              </a:p>
              <a:p>
                <a:pPr indent="0">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(ii)若</a:t>
                </a:r>
                <a:r>
                  <a:rPr lang="en-US" altLang="zh-CN" sz="2000">
                    <a:latin typeface="微软雅黑" panose="020B0503020204020204" charset="-122"/>
                    <a:ea typeface="微软雅黑" panose="020B0503020204020204" charset="-122"/>
                    <a:cs typeface="微软雅黑" panose="020B0503020204020204" charset="-122"/>
                  </a:rPr>
                  <a:t>v</a:t>
                </a:r>
                <a:r>
                  <a:rPr lang="zh-CN" altLang="en-US" sz="2000">
                    <a:latin typeface="微软雅黑" panose="020B0503020204020204" charset="-122"/>
                    <a:ea typeface="微软雅黑" panose="020B0503020204020204" charset="-122"/>
                    <a:cs typeface="微软雅黑" panose="020B0503020204020204" charset="-122"/>
                  </a:rPr>
                  <a:t>=o(u)，则</a:t>
                </a:r>
                <a:r>
                  <a:rPr lang="en-US" altLang="zh-CN" sz="2000">
                    <a:latin typeface="微软雅黑" panose="020B0503020204020204" charset="-122"/>
                    <a:ea typeface="微软雅黑" panose="020B0503020204020204" charset="-122"/>
                    <a:cs typeface="微软雅黑" panose="020B0503020204020204" charset="-122"/>
                  </a:rPr>
                  <a:t>u+v~u</a:t>
                </a:r>
                <a:endParaRPr lang="zh-CN" altLang="en-US" sz="2000">
                  <a:latin typeface="微软雅黑" panose="020B0503020204020204" charset="-122"/>
                  <a:ea typeface="微软雅黑" panose="020B0503020204020204" charset="-122"/>
                  <a:cs typeface="微软雅黑" panose="020B0503020204020204" charset="-122"/>
                </a:endParaRPr>
              </a:p>
              <a:p>
                <a:pPr indent="0">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(iii)若u与v是同阶无穷小，且</a:t>
                </a:r>
                <a14:m>
                  <m:oMath xmlns:m="http://schemas.openxmlformats.org/officeDocument/2006/math">
                    <m:f>
                      <m:fPr>
                        <m:ctrlPr>
                          <a:rPr lang="en-US" altLang="zh-CN" sz="2000" i="1">
                            <a:latin typeface="Cambria Math" panose="02040503050406030204" pitchFamily="18" charset="0"/>
                            <a:ea typeface="微软雅黑" panose="020B0503020204020204" charset="-122"/>
                            <a:cs typeface="Cambria Math" panose="02040503050406030204" charset="0"/>
                          </a:rPr>
                        </m:ctrlPr>
                      </m:fPr>
                      <m:num>
                        <m:r>
                          <a:rPr lang="en-US" altLang="zh-CN" sz="2000" i="1">
                            <a:latin typeface="Cambria Math" panose="02040503050406030204" charset="0"/>
                            <a:ea typeface="微软雅黑" panose="020B0503020204020204" charset="-122"/>
                            <a:cs typeface="Cambria Math" panose="02040503050406030204" charset="0"/>
                          </a:rPr>
                          <m:t>𝑣</m:t>
                        </m:r>
                      </m:num>
                      <m:den>
                        <m:r>
                          <a:rPr lang="en-US" altLang="zh-CN" sz="2000" i="1">
                            <a:latin typeface="Cambria Math" panose="02040503050406030204" charset="0"/>
                            <a:ea typeface="微软雅黑" panose="020B0503020204020204" charset="-122"/>
                            <a:cs typeface="Cambria Math" panose="02040503050406030204" charset="0"/>
                          </a:rPr>
                          <m:t>𝑢</m:t>
                        </m:r>
                      </m:den>
                    </m:f>
                  </m:oMath>
                </a14:m>
                <a:r>
                  <a:rPr lang="zh-CN" altLang="en-US" sz="2000">
                    <a:latin typeface="微软雅黑" panose="020B0503020204020204" charset="-122"/>
                    <a:ea typeface="微软雅黑" panose="020B0503020204020204" charset="-122"/>
                    <a:cs typeface="微软雅黑" panose="020B0503020204020204" charset="-122"/>
                  </a:rPr>
                  <a:t>→l≠1，则u+v~</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𝑢</m:t>
                        </m:r>
                      </m:e>
                    </m:bar>
                  </m:oMath>
                </a14:m>
                <a:r>
                  <a:rPr lang="zh-CN" altLang="en-US" sz="2000">
                    <a:latin typeface="微软雅黑" panose="020B0503020204020204" charset="-122"/>
                    <a:ea typeface="微软雅黑" panose="020B0503020204020204" charset="-122"/>
                    <a:cs typeface="微软雅黑" panose="020B0503020204020204" charset="-122"/>
                  </a:rPr>
                  <a:t>+</a:t>
                </a:r>
                <a14:m>
                  <m:oMath xmlns:m="http://schemas.openxmlformats.org/officeDocument/2006/math">
                    <m:bar>
                      <m:barPr>
                        <m:pos m:val="top"/>
                        <m:ctrlPr>
                          <a:rPr lang="en-US" altLang="zh-CN" sz="2000" i="1">
                            <a:latin typeface="Cambria Math" panose="02040503050406030204" pitchFamily="18" charset="0"/>
                            <a:ea typeface="微软雅黑" panose="020B0503020204020204" charset="-122"/>
                            <a:cs typeface="Cambria Math" panose="02040503050406030204" charset="0"/>
                          </a:rPr>
                        </m:ctrlPr>
                      </m:barPr>
                      <m:e>
                        <m:r>
                          <a:rPr lang="en-US" altLang="zh-CN" sz="2000" i="1">
                            <a:latin typeface="Cambria Math" panose="02040503050406030204" charset="0"/>
                            <a:ea typeface="微软雅黑" panose="020B0503020204020204" charset="-122"/>
                            <a:cs typeface="Cambria Math" panose="02040503050406030204" charset="0"/>
                          </a:rPr>
                          <m:t>𝑣</m:t>
                        </m:r>
                      </m:e>
                    </m:bar>
                  </m:oMath>
                </a14:m>
                <a:r>
                  <a:rPr lang="en-US" altLang="zh-CN" sz="2000">
                    <a:latin typeface="微软雅黑" panose="020B0503020204020204" charset="-122"/>
                    <a:ea typeface="微软雅黑" panose="020B0503020204020204" charset="-122"/>
                    <a:cs typeface="微软雅黑" panose="020B0503020204020204" charset="-122"/>
                  </a:rPr>
                  <a:t> </a:t>
                </a: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rPr>
                  <a:t>定理5（等价替换原理） </a:t>
                </a:r>
                <a:r>
                  <a:rPr lang="zh-CN" altLang="en-US" sz="2000">
                    <a:latin typeface="微软雅黑" panose="020B0503020204020204" charset="-122"/>
                    <a:ea typeface="微软雅黑" panose="020B0503020204020204" charset="-122"/>
                    <a:cs typeface="微软雅黑" panose="020B0503020204020204" charset="-122"/>
                  </a:rPr>
                  <a:t>若u~v则</a:t>
                </a:r>
              </a:p>
              <a:p>
                <a:pPr indent="0">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lim uw =lim vw;</a:t>
                </a:r>
              </a:p>
              <a:p>
                <a:pPr indent="0">
                  <a:buFont typeface="Wingdings" panose="05000000000000000000" charset="0"/>
                  <a:buNone/>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lim(w/u)=lim(w/v),</a:t>
                </a:r>
              </a:p>
              <a:p>
                <a:pPr marL="285750" indent="-285750">
                  <a:buFont typeface="Wingdings" panose="05000000000000000000" charset="0"/>
                  <a:buChar char="l"/>
                </a:pPr>
                <a:r>
                  <a:rPr lang="zh-CN" altLang="en-US" sz="2000">
                    <a:solidFill>
                      <a:srgbClr val="1871EE"/>
                    </a:solidFill>
                    <a:latin typeface="微软雅黑" panose="020B0503020204020204" charset="-122"/>
                    <a:ea typeface="微软雅黑" panose="020B0503020204020204" charset="-122"/>
                    <a:cs typeface="微软雅黑" panose="020B0503020204020204" charset="-122"/>
                  </a:rPr>
                  <a:t>定义3 </a:t>
                </a:r>
                <a:r>
                  <a:rPr lang="zh-CN" altLang="en-US" sz="2000">
                    <a:latin typeface="微软雅黑" panose="020B0503020204020204" charset="-122"/>
                    <a:ea typeface="微软雅黑" panose="020B0503020204020204" charset="-122"/>
                    <a:cs typeface="微软雅黑" panose="020B0503020204020204" charset="-122"/>
                  </a:rPr>
                  <a:t>当x→a时，称x-a为基本无穷小，当x→∞时，称</a:t>
                </a:r>
                <a14:m>
                  <m:oMath xmlns:m="http://schemas.openxmlformats.org/officeDocument/2006/math">
                    <m:f>
                      <m:fPr>
                        <m:ctrlPr>
                          <a:rPr lang="en-US" altLang="zh-CN" sz="2000" i="1">
                            <a:latin typeface="Cambria Math" panose="02040503050406030204" pitchFamily="18" charset="0"/>
                            <a:ea typeface="微软雅黑" panose="020B0503020204020204" charset="-122"/>
                            <a:cs typeface="Cambria Math" panose="02040503050406030204" charset="0"/>
                          </a:rPr>
                        </m:ctrlPr>
                      </m:fPr>
                      <m:num>
                        <m:r>
                          <a:rPr lang="en-US" altLang="zh-CN" sz="2000" i="1">
                            <a:latin typeface="Cambria Math" panose="02040503050406030204" charset="0"/>
                            <a:ea typeface="MS Mincho" charset="0"/>
                            <a:cs typeface="Cambria Math" panose="02040503050406030204" charset="0"/>
                          </a:rPr>
                          <m:t>1</m:t>
                        </m:r>
                      </m:num>
                      <m:den>
                        <m:r>
                          <a:rPr lang="en-US" altLang="zh-CN" sz="2000" i="1">
                            <a:latin typeface="Cambria Math" panose="02040503050406030204" charset="0"/>
                            <a:ea typeface="微软雅黑" panose="020B0503020204020204" charset="-122"/>
                            <a:cs typeface="Cambria Math" panose="02040503050406030204" charset="0"/>
                          </a:rPr>
                          <m:t>𝑥</m:t>
                        </m:r>
                      </m:den>
                    </m:f>
                  </m:oMath>
                </a14:m>
                <a:r>
                  <a:rPr lang="zh-CN" altLang="en-US" sz="2000">
                    <a:latin typeface="微软雅黑" panose="020B0503020204020204" charset="-122"/>
                    <a:ea typeface="微软雅黑" panose="020B0503020204020204" charset="-122"/>
                    <a:cs typeface="微软雅黑" panose="020B0503020204020204" charset="-122"/>
                  </a:rPr>
                  <a:t>为基本无穷小．</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若u~c</a:t>
                </a:r>
                <a14:m>
                  <m:oMath xmlns:m="http://schemas.openxmlformats.org/officeDocument/2006/math">
                    <m:sSup>
                      <m:sSupPr>
                        <m:ctrlPr>
                          <a:rPr lang="en-US" altLang="zh-CN" sz="2000" i="1">
                            <a:latin typeface="Cambria Math" panose="02040503050406030204" pitchFamily="18" charset="0"/>
                            <a:ea typeface="微软雅黑" panose="020B0503020204020204" charset="-122"/>
                            <a:cs typeface="Cambria Math" panose="02040503050406030204" charset="0"/>
                          </a:rPr>
                        </m:ctrlPr>
                      </m:sSupPr>
                      <m:e>
                        <m:r>
                          <a:rPr lang="en-US" altLang="zh-CN" sz="2000" i="1">
                            <a:latin typeface="Cambria Math" panose="02040503050406030204" charset="0"/>
                            <a:ea typeface="微软雅黑" panose="020B0503020204020204" charset="-122"/>
                            <a:cs typeface="Cambria Math" panose="02040503050406030204" charset="0"/>
                          </a:rPr>
                          <m:t>𝑣</m:t>
                        </m:r>
                      </m:e>
                      <m:sup>
                        <m:r>
                          <a:rPr lang="en-US" altLang="zh-CN" sz="2000" i="1">
                            <a:latin typeface="Cambria Math" panose="02040503050406030204" charset="0"/>
                            <a:ea typeface="微软雅黑" panose="020B0503020204020204" charset="-122"/>
                            <a:cs typeface="Cambria Math" panose="02040503050406030204" charset="0"/>
                          </a:rPr>
                          <m:t>𝑘</m:t>
                        </m:r>
                      </m:sup>
                    </m:sSup>
                  </m:oMath>
                </a14:m>
                <a:r>
                  <a:rPr lang="zh-CN" altLang="en-US" sz="2000">
                    <a:latin typeface="微软雅黑" panose="020B0503020204020204" charset="-122"/>
                    <a:ea typeface="微软雅黑" panose="020B0503020204020204" charset="-122"/>
                    <a:cs typeface="微软雅黑" panose="020B0503020204020204" charset="-122"/>
                  </a:rPr>
                  <a:t>(c≠0,k&gt;0),v为基本无穷小，则称u是关于v 的k阶无</a:t>
                </a: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穷小,k是其阶数 </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c</a:t>
                </a:r>
                <a14:m>
                  <m:oMath xmlns:m="http://schemas.openxmlformats.org/officeDocument/2006/math">
                    <m:sSup>
                      <m:sSupPr>
                        <m:ctrlPr>
                          <a:rPr lang="en-US" altLang="zh-CN" sz="2000" i="1">
                            <a:latin typeface="Cambria Math" panose="02040503050406030204" pitchFamily="18" charset="0"/>
                            <a:ea typeface="微软雅黑" panose="020B0503020204020204" charset="-122"/>
                            <a:cs typeface="Cambria Math" panose="02040503050406030204" charset="0"/>
                          </a:rPr>
                        </m:ctrlPr>
                      </m:sSupPr>
                      <m:e>
                        <m:r>
                          <a:rPr lang="en-US" altLang="zh-CN" sz="2000" i="1">
                            <a:latin typeface="Cambria Math" panose="02040503050406030204" charset="0"/>
                            <a:ea typeface="微软雅黑" panose="020B0503020204020204" charset="-122"/>
                            <a:cs typeface="Cambria Math" panose="02040503050406030204" charset="0"/>
                          </a:rPr>
                          <m:t>𝑣</m:t>
                        </m:r>
                      </m:e>
                      <m:sup>
                        <m:r>
                          <a:rPr lang="en-US" altLang="zh-CN" sz="2000" i="1">
                            <a:latin typeface="Cambria Math" panose="02040503050406030204" charset="0"/>
                            <a:ea typeface="微软雅黑" panose="020B0503020204020204" charset="-122"/>
                            <a:cs typeface="Cambria Math" panose="02040503050406030204" charset="0"/>
                          </a:rPr>
                          <m:t>𝑘</m:t>
                        </m:r>
                      </m:sup>
                    </m:sSup>
                  </m:oMath>
                </a14:m>
                <a:r>
                  <a:rPr lang="zh-CN" altLang="en-US" sz="2000">
                    <a:latin typeface="微软雅黑" panose="020B0503020204020204" charset="-122"/>
                    <a:ea typeface="微软雅黑" panose="020B0503020204020204" charset="-122"/>
                    <a:cs typeface="微软雅黑" panose="020B0503020204020204" charset="-122"/>
                  </a:rPr>
                  <a:t>为u的主部．</a:t>
                </a:r>
              </a:p>
            </p:txBody>
          </p:sp>
        </mc:Choice>
        <mc:Fallback xmlns="">
          <p:sp>
            <p:nvSpPr>
              <p:cNvPr id="2" name="文本框 1"/>
              <p:cNvSpPr txBox="1">
                <a:spLocks noRot="1" noChangeAspect="1" noMove="1" noResize="1" noEditPoints="1" noAdjustHandles="1" noChangeArrowheads="1" noChangeShapeType="1" noTextEdit="1"/>
              </p:cNvSpPr>
              <p:nvPr/>
            </p:nvSpPr>
            <p:spPr>
              <a:xfrm>
                <a:off x="407035" y="325120"/>
                <a:ext cx="6633845" cy="6040755"/>
              </a:xfrm>
              <a:prstGeom prst="rect">
                <a:avLst/>
              </a:prstGeom>
              <a:blipFill rotWithShape="1">
                <a:blip r:embed="rId3"/>
                <a:stretch>
                  <a:fillRect b="-1671"/>
                </a:stretch>
              </a:blipFill>
            </p:spPr>
            <p:txBody>
              <a:bodyPr/>
              <a:lstStyle/>
              <a:p>
                <a:r>
                  <a:rPr lang="zh-CN" altLang="en-US">
                    <a:noFill/>
                  </a:rPr>
                  <a:t> </a:t>
                </a:r>
              </a:p>
            </p:txBody>
          </p:sp>
        </mc:Fallback>
      </mc:AlternateContent>
      <p:pic>
        <p:nvPicPr>
          <p:cNvPr id="6" name="图片 5" descr="屏幕截图 2023-12-17 112041"/>
          <p:cNvPicPr>
            <a:picLocks noChangeAspect="1"/>
          </p:cNvPicPr>
          <p:nvPr/>
        </p:nvPicPr>
        <p:blipFill>
          <a:blip r:embed="rId4"/>
          <a:stretch>
            <a:fillRect/>
          </a:stretch>
        </p:blipFill>
        <p:spPr>
          <a:xfrm>
            <a:off x="7085330" y="228600"/>
            <a:ext cx="5010150" cy="2952750"/>
          </a:xfrm>
          <a:prstGeom prst="rect">
            <a:avLst/>
          </a:prstGeom>
        </p:spPr>
      </p:pic>
      <p:pic>
        <p:nvPicPr>
          <p:cNvPr id="9" name="图片 8" descr="屏幕截图 2023-12-17 112235"/>
          <p:cNvPicPr>
            <a:picLocks noChangeAspect="1"/>
          </p:cNvPicPr>
          <p:nvPr/>
        </p:nvPicPr>
        <p:blipFill>
          <a:blip r:embed="rId5"/>
          <a:stretch>
            <a:fillRect/>
          </a:stretch>
        </p:blipFill>
        <p:spPr>
          <a:xfrm>
            <a:off x="7085330" y="3136900"/>
            <a:ext cx="5001895" cy="1442085"/>
          </a:xfrm>
          <a:prstGeom prst="rect">
            <a:avLst/>
          </a:prstGeom>
          <a:noFill/>
        </p:spPr>
      </p:pic>
      <p:pic>
        <p:nvPicPr>
          <p:cNvPr id="10" name="图片 9" descr="屏幕截图 2023-12-17 113152"/>
          <p:cNvPicPr>
            <a:picLocks noChangeAspect="1"/>
          </p:cNvPicPr>
          <p:nvPr/>
        </p:nvPicPr>
        <p:blipFill>
          <a:blip r:embed="rId6"/>
          <a:stretch>
            <a:fillRect/>
          </a:stretch>
        </p:blipFill>
        <p:spPr>
          <a:xfrm>
            <a:off x="7301865" y="4194175"/>
            <a:ext cx="693420" cy="384810"/>
          </a:xfrm>
          <a:prstGeom prst="rect">
            <a:avLst/>
          </a:prstGeom>
        </p:spPr>
      </p:pic>
      <p:pic>
        <p:nvPicPr>
          <p:cNvPr id="11" name="图片 10" descr="屏幕截图 2023-12-17 113407"/>
          <p:cNvPicPr>
            <a:picLocks noChangeAspect="1"/>
          </p:cNvPicPr>
          <p:nvPr/>
        </p:nvPicPr>
        <p:blipFill>
          <a:blip r:embed="rId7"/>
          <a:stretch>
            <a:fillRect/>
          </a:stretch>
        </p:blipFill>
        <p:spPr>
          <a:xfrm>
            <a:off x="7085965" y="4846320"/>
            <a:ext cx="5001260" cy="1450340"/>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320675" y="88265"/>
                <a:ext cx="11550650" cy="6626225"/>
              </a:xfrm>
              <a:prstGeom prst="rect">
                <a:avLst/>
              </a:prstGeom>
              <a:noFill/>
            </p:spPr>
            <p:txBody>
              <a:bodyPr wrap="square" rtlCol="0">
                <a:noAutofit/>
              </a:bodyPr>
              <a:lstStyle/>
              <a:p>
                <a:pPr marL="285750" indent="-285750">
                  <a:buFont typeface="Wingdings" panose="05000000000000000000" charset="0"/>
                  <a:buChar char="l"/>
                </a:pPr>
                <a:r>
                  <a:rPr lang="zh-CN" altLang="en-US" sz="2000">
                    <a:solidFill>
                      <a:srgbClr val="2C70FF"/>
                    </a:solidFill>
                    <a:latin typeface="微软雅黑" panose="020B0503020204020204" charset="-122"/>
                    <a:ea typeface="微软雅黑" panose="020B0503020204020204" charset="-122"/>
                    <a:cs typeface="微软雅黑" panose="020B0503020204020204" charset="-122"/>
                  </a:rPr>
                  <a:t>定义4</a:t>
                </a: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设{</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}是一数列．若 ∀M&gt;0,∃N&gt;0,∀n&gt;N:</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&gt;M,</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则说当n→∞时</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为正无穷大量（简称正无穷大），或说当n→∞时x趋于＋∞，记作</a:t>
                </a:r>
                <a14:m>
                  <m:oMath xmlns:m="http://schemas.openxmlformats.org/officeDocument/2006/math">
                    <m:r>
                      <a:rPr lang="en-US" altLang="zh-CN" sz="2000">
                        <a:latin typeface="Cambria Math" panose="02040503050406030204" charset="0"/>
                        <a:ea typeface="MS Mincho" charset="0"/>
                        <a:cs typeface="Cambria Math" panose="02040503050406030204" charset="0"/>
                      </a:rPr>
                      <m:t>  </m:t>
                    </m:r>
                  </m:oMath>
                </a14:m>
                <a:endParaRPr lang="en-US" altLang="zh-CN" sz="2000">
                  <a:latin typeface="Cambria Math" panose="02040503050406030204" charset="0"/>
                  <a:ea typeface="MS Mincho" charset="0"/>
                  <a:cs typeface="Cambria Math" panose="02040503050406030204" charset="0"/>
                </a:endParaRPr>
              </a:p>
              <a:p>
                <a:pPr indent="0">
                  <a:buFont typeface="Wingdings" panose="05000000000000000000" charset="0"/>
                  <a:buNone/>
                </a:pPr>
                <a:r>
                  <a:rPr lang="en-US" altLang="zh-CN" sz="2000">
                    <a:latin typeface="Cambria Math" panose="02040503050406030204" charset="0"/>
                    <a:ea typeface="MS Mincho" charset="0"/>
                    <a:cs typeface="Cambria Math" panose="02040503050406030204" charset="0"/>
                  </a:rPr>
                  <a:t>                   </a:t>
                </a:r>
                <a14:m>
                  <m:oMath xmlns:m="http://schemas.openxmlformats.org/officeDocument/2006/math">
                    <m:r>
                      <a:rPr lang="en-US" altLang="zh-CN" sz="2000">
                        <a:latin typeface="Cambria Math" panose="02040503050406030204" charset="0"/>
                        <a:ea typeface="MS Mincho" charset="0"/>
                        <a:cs typeface="Cambria Math" panose="02040503050406030204" charset="0"/>
                      </a:rPr>
                      <m:t>    </m:t>
                    </m:r>
                    <m:func>
                      <m:funcPr>
                        <m:ctrlPr>
                          <a:rPr lang="en-US" altLang="zh-CN" sz="2000" i="1">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a:latin typeface="Cambria Math" panose="02040503050406030204" charset="0"/>
                                <a:ea typeface="微软雅黑" panose="020B0503020204020204" charset="-122"/>
                                <a:cs typeface="Cambria Math" panose="02040503050406030204" charset="0"/>
                              </a:rPr>
                              <m:t>lim</m:t>
                            </m:r>
                          </m:e>
                          <m:lim>
                            <m:r>
                              <a:rPr lang="en-US" altLang="zh-CN" sz="2000" i="1">
                                <a:latin typeface="Cambria Math" panose="02040503050406030204" charset="0"/>
                                <a:ea typeface="微软雅黑" panose="020B0503020204020204" charset="-122"/>
                                <a:cs typeface="Cambria Math" panose="02040503050406030204" charset="0"/>
                              </a:rPr>
                              <m:t>𝑛</m:t>
                            </m:r>
                            <m:r>
                              <a:rPr lang="en-US" altLang="zh-CN" sz="2000" i="1">
                                <a:latin typeface="Cambria Math" panose="02040503050406030204" charset="0"/>
                                <a:ea typeface="MS Mincho" charset="0"/>
                                <a:cs typeface="Cambria Math" panose="02040503050406030204" charset="0"/>
                              </a:rPr>
                              <m:t>→∞</m:t>
                            </m:r>
                          </m:lim>
                        </m:limLow>
                      </m:fName>
                      <m:e>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e>
                    </m:func>
                  </m:oMath>
                </a14:m>
                <a:r>
                  <a:rPr lang="zh-CN" altLang="en-US" sz="2000">
                    <a:latin typeface="微软雅黑" panose="020B0503020204020204" charset="-122"/>
                    <a:ea typeface="微软雅黑" panose="020B0503020204020204" charset="-122"/>
                    <a:cs typeface="微软雅黑" panose="020B0503020204020204" charset="-122"/>
                  </a:rPr>
                  <a:t>=+∞ 或</a:t>
                </a:r>
                <a:r>
                  <a:rPr lang="en-US" altLang="zh-CN" sz="2000">
                    <a:latin typeface="微软雅黑" panose="020B0503020204020204" charset="-122"/>
                    <a:ea typeface="微软雅黑" panose="020B0503020204020204" charset="-122"/>
                    <a:cs typeface="微软雅黑" panose="020B0503020204020204" charset="-122"/>
                  </a:rPr>
                  <a:t> </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→+∞(n→∞)</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若﹣</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为正无穷大，则</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称为负无穷大，或说当n→∞时</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趋于﹣∞，记作</a:t>
                </a:r>
              </a:p>
              <a:p>
                <a:pPr indent="0">
                  <a:buFont typeface="Wingdings" panose="05000000000000000000" charset="0"/>
                  <a:buNone/>
                </a:pPr>
                <a14:m>
                  <m:oMath xmlns:m="http://schemas.openxmlformats.org/officeDocument/2006/math">
                    <m:r>
                      <a:rPr lang="en-US" altLang="zh-CN" sz="2000" i="1">
                        <a:latin typeface="Cambria Math" panose="02040503050406030204" charset="0"/>
                        <a:ea typeface="MS Mincho" charset="0"/>
                        <a:cs typeface="Cambria Math" panose="02040503050406030204" charset="0"/>
                      </a:rPr>
                      <m:t>                       </m:t>
                    </m:r>
                    <m:func>
                      <m:funcPr>
                        <m:ctrlPr>
                          <a:rPr lang="en-US" altLang="zh-CN" sz="2000" i="1">
                            <a:latin typeface="Cambria Math" panose="02040503050406030204" pitchFamily="18" charset="0"/>
                            <a:ea typeface="微软雅黑" panose="020B0503020204020204" charset="-122"/>
                            <a:cs typeface="Cambria Math" panose="02040503050406030204" charset="0"/>
                          </a:rPr>
                        </m:ctrlPr>
                      </m:funcPr>
                      <m:fName>
                        <m:limLow>
                          <m:limLowPr>
                            <m:ctrlPr>
                              <a:rPr lang="en-US" altLang="zh-CN" sz="2000" i="1">
                                <a:latin typeface="Cambria Math" panose="02040503050406030204" pitchFamily="18" charset="0"/>
                                <a:ea typeface="微软雅黑" panose="020B0503020204020204" charset="-122"/>
                                <a:cs typeface="Cambria Math" panose="02040503050406030204" charset="0"/>
                              </a:rPr>
                            </m:ctrlPr>
                          </m:limLowPr>
                          <m:e>
                            <m:r>
                              <m:rPr>
                                <m:sty m:val="p"/>
                              </m:rPr>
                              <a:rPr lang="en-US" altLang="zh-CN" sz="2000">
                                <a:latin typeface="Cambria Math" panose="02040503050406030204" charset="0"/>
                                <a:ea typeface="微软雅黑" panose="020B0503020204020204" charset="-122"/>
                                <a:cs typeface="Cambria Math" panose="02040503050406030204" charset="0"/>
                              </a:rPr>
                              <m:t>lim</m:t>
                            </m:r>
                          </m:e>
                          <m:lim>
                            <m:r>
                              <a:rPr lang="en-US" altLang="zh-CN" sz="2000" i="1">
                                <a:latin typeface="Cambria Math" panose="02040503050406030204" charset="0"/>
                                <a:ea typeface="微软雅黑" panose="020B0503020204020204" charset="-122"/>
                                <a:cs typeface="Cambria Math" panose="02040503050406030204" charset="0"/>
                              </a:rPr>
                              <m:t>𝑛</m:t>
                            </m:r>
                            <m:r>
                              <a:rPr lang="en-US" altLang="zh-CN" sz="2000" i="1">
                                <a:latin typeface="Cambria Math" panose="02040503050406030204" charset="0"/>
                                <a:ea typeface="MS Mincho" charset="0"/>
                                <a:cs typeface="Cambria Math" panose="02040503050406030204" charset="0"/>
                              </a:rPr>
                              <m:t>→∞</m:t>
                            </m:r>
                          </m:lim>
                        </m:limLow>
                      </m:fName>
                      <m:e>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e>
                    </m:func>
                  </m:oMath>
                </a14:m>
                <a:r>
                  <a:rPr lang="zh-CN" altLang="en-US" sz="2000">
                    <a:latin typeface="微软雅黑" panose="020B0503020204020204" charset="-122"/>
                    <a:ea typeface="微软雅黑" panose="020B0503020204020204" charset="-122"/>
                    <a:cs typeface="微软雅黑" panose="020B0503020204020204" charset="-122"/>
                  </a:rPr>
                  <a:t>=-∞ 或 </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→-∞(n→∞)</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若|</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|为正无穷大，则称</a:t>
                </a:r>
                <a14:m>
                  <m:oMath xmlns:m="http://schemas.openxmlformats.org/officeDocument/2006/math">
                    <m:sSub>
                      <m:sSubPr>
                        <m:ctrlPr>
                          <a:rPr lang="en-US" altLang="zh-CN" sz="2000" i="1">
                            <a:latin typeface="Cambria Math" panose="02040503050406030204" pitchFamily="18" charset="0"/>
                            <a:ea typeface="微软雅黑" panose="020B0503020204020204" charset="-122"/>
                            <a:cs typeface="Cambria Math" panose="02040503050406030204" charset="0"/>
                          </a:rPr>
                        </m:ctrlPr>
                      </m:sSubPr>
                      <m:e>
                        <m:r>
                          <a:rPr lang="en-US" altLang="zh-CN" sz="2000" i="1">
                            <a:latin typeface="Cambria Math" panose="02040503050406030204" charset="0"/>
                            <a:ea typeface="微软雅黑" panose="020B0503020204020204" charset="-122"/>
                            <a:cs typeface="Cambria Math" panose="02040503050406030204" charset="0"/>
                          </a:rPr>
                          <m:t>𝑥</m:t>
                        </m:r>
                      </m:e>
                      <m:sub>
                        <m:r>
                          <a:rPr lang="en-US" altLang="zh-CN" sz="2000" i="1">
                            <a:latin typeface="Cambria Math" panose="02040503050406030204" charset="0"/>
                            <a:ea typeface="微软雅黑" panose="020B0503020204020204" charset="-122"/>
                            <a:cs typeface="Cambria Math" panose="02040503050406030204" charset="0"/>
                          </a:rPr>
                          <m:t>𝑛</m:t>
                        </m:r>
                      </m:sub>
                    </m:sSub>
                  </m:oMath>
                </a14:m>
                <a:r>
                  <a:rPr lang="zh-CN" altLang="en-US" sz="2000">
                    <a:latin typeface="微软雅黑" panose="020B0503020204020204" charset="-122"/>
                    <a:ea typeface="微软雅黑" panose="020B0503020204020204" charset="-122"/>
                    <a:cs typeface="微软雅黑" panose="020B0503020204020204" charset="-122"/>
                  </a:rPr>
                  <a:t>为无穷大量．</a:t>
                </a:r>
              </a:p>
              <a:p>
                <a:pPr marL="285750" indent="-285750">
                  <a:buFont typeface="Wingdings" panose="05000000000000000000" charset="0"/>
                  <a:buChar char="l"/>
                </a:pP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rPr>
                  <a:t>定理6</a:t>
                </a:r>
                <a:r>
                  <a:rPr lang="en-US" altLang="zh-CN" sz="20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若u≠0，则u是无穷大量⇔1/u是无穷小量；</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若u&gt;0（或u&lt;0)是正无穷大（或负无穷大）⇔1/u是无穷小．</a:t>
                </a:r>
              </a:p>
              <a:p>
                <a:pPr marL="285750" indent="-285750">
                  <a:buFont typeface="Wingdings" panose="05000000000000000000" charset="0"/>
                  <a:buChar char="l"/>
                </a:pPr>
                <a:r>
                  <a:rPr lang="zh-CN" altLang="en-US" sz="2000">
                    <a:solidFill>
                      <a:srgbClr val="1871EE"/>
                    </a:solidFill>
                    <a:latin typeface="微软雅黑" panose="020B0503020204020204" charset="-122"/>
                    <a:ea typeface="微软雅黑" panose="020B0503020204020204" charset="-122"/>
                    <a:cs typeface="微软雅黑" panose="020B0503020204020204" charset="-122"/>
                  </a:rPr>
                  <a:t>约定</a:t>
                </a:r>
                <a:r>
                  <a:rPr lang="zh-CN" altLang="en-US" sz="2000">
                    <a:latin typeface="微软雅黑" panose="020B0503020204020204" charset="-122"/>
                    <a:ea typeface="微软雅黑" panose="020B0503020204020204" charset="-122"/>
                    <a:cs typeface="微软雅黑" panose="020B0503020204020204" charset="-122"/>
                  </a:rPr>
                  <a:t> 今后若写出极限式l=lim u而未加说明，则总意味着﹣∞≤l≤+∞．但区分两种情况：</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(i)若﹣∞&lt;l&lt;+∞，则说u收敛于l或趋于l.</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(ii)若l=±∞，则说u趋于±∞或发散到±∞，但不可说"u收敛于±∞".</a:t>
                </a:r>
              </a:p>
              <a:p>
                <a:pPr indent="0">
                  <a:buFont typeface="Wingdings" panose="05000000000000000000" charset="0"/>
                  <a:buNone/>
                </a:pPr>
                <a:endParaRPr lang="zh-CN" altLang="en-US" sz="20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l"/>
                </a:pPr>
                <a:r>
                  <a:rPr lang="zh-CN" altLang="en-US" sz="2000">
                    <a:solidFill>
                      <a:srgbClr val="2C70FF"/>
                    </a:solidFill>
                    <a:latin typeface="微软雅黑" panose="020B0503020204020204" charset="-122"/>
                    <a:ea typeface="微软雅黑" panose="020B0503020204020204" charset="-122"/>
                    <a:cs typeface="微软雅黑" panose="020B0503020204020204" charset="-122"/>
                  </a:rPr>
                  <a:t>定义5</a:t>
                </a:r>
                <a:r>
                  <a:rPr lang="zh-CN" altLang="en-US" sz="2000">
                    <a:latin typeface="微软雅黑" panose="020B0503020204020204" charset="-122"/>
                    <a:ea typeface="微软雅黑" panose="020B0503020204020204" charset="-122"/>
                    <a:cs typeface="微软雅黑" panose="020B0503020204020204" charset="-122"/>
                  </a:rPr>
                  <a:t> 设u,v是同一极限过程中的无穷大量．若u=o(v)，则说u是v的低阶无穷大，或说v是u的高阶无穷大；若lim</a:t>
                </a:r>
                <a14:m>
                  <m:oMath xmlns:m="http://schemas.openxmlformats.org/officeDocument/2006/math">
                    <m:f>
                      <m:fPr>
                        <m:ctrlPr>
                          <a:rPr lang="en-US" altLang="zh-CN" sz="2000" i="1">
                            <a:latin typeface="Cambria Math" panose="02040503050406030204" pitchFamily="18" charset="0"/>
                            <a:ea typeface="微软雅黑" panose="020B0503020204020204" charset="-122"/>
                            <a:cs typeface="Cambria Math" panose="02040503050406030204" charset="0"/>
                          </a:rPr>
                        </m:ctrlPr>
                      </m:fPr>
                      <m:num>
                        <m:r>
                          <a:rPr lang="en-US" altLang="zh-CN" sz="2000" i="1">
                            <a:latin typeface="Cambria Math" panose="02040503050406030204" charset="0"/>
                            <a:ea typeface="微软雅黑" panose="020B0503020204020204" charset="-122"/>
                            <a:cs typeface="Cambria Math" panose="02040503050406030204" charset="0"/>
                          </a:rPr>
                          <m:t>𝑢</m:t>
                        </m:r>
                      </m:num>
                      <m:den>
                        <m:r>
                          <a:rPr lang="en-US" altLang="zh-CN" sz="2000" i="1">
                            <a:latin typeface="Cambria Math" panose="02040503050406030204" charset="0"/>
                            <a:ea typeface="微软雅黑" panose="020B0503020204020204" charset="-122"/>
                            <a:cs typeface="Cambria Math" panose="02040503050406030204" charset="0"/>
                          </a:rPr>
                          <m:t>𝑣</m:t>
                        </m:r>
                      </m:den>
                    </m:f>
                  </m:oMath>
                </a14:m>
                <a:r>
                  <a:rPr lang="zh-CN" altLang="en-US" sz="2000">
                    <a:latin typeface="微软雅黑" panose="020B0503020204020204" charset="-122"/>
                    <a:ea typeface="微软雅黑" panose="020B0503020204020204" charset="-122"/>
                    <a:cs typeface="微软雅黑" panose="020B0503020204020204" charset="-122"/>
                  </a:rPr>
                  <a:t>=l(l≠0)，则说u与v是同阶无穷大；特别地，若lim</a:t>
                </a:r>
                <a14:m>
                  <m:oMath xmlns:m="http://schemas.openxmlformats.org/officeDocument/2006/math">
                    <m:f>
                      <m:fPr>
                        <m:ctrlPr>
                          <a:rPr lang="en-US" altLang="zh-CN" sz="2000" i="1">
                            <a:latin typeface="Cambria Math" panose="02040503050406030204" pitchFamily="18" charset="0"/>
                            <a:ea typeface="微软雅黑" panose="020B0503020204020204" charset="-122"/>
                            <a:cs typeface="Cambria Math" panose="02040503050406030204" charset="0"/>
                          </a:rPr>
                        </m:ctrlPr>
                      </m:fPr>
                      <m:num>
                        <m:r>
                          <a:rPr lang="en-US" altLang="zh-CN" sz="2000" i="1">
                            <a:latin typeface="Cambria Math" panose="02040503050406030204" charset="0"/>
                            <a:ea typeface="微软雅黑" panose="020B0503020204020204" charset="-122"/>
                            <a:cs typeface="Cambria Math" panose="02040503050406030204" charset="0"/>
                          </a:rPr>
                          <m:t>𝑢</m:t>
                        </m:r>
                      </m:num>
                      <m:den>
                        <m:r>
                          <a:rPr lang="en-US" altLang="zh-CN" sz="2000" i="1">
                            <a:latin typeface="Cambria Math" panose="02040503050406030204" charset="0"/>
                            <a:ea typeface="微软雅黑" panose="020B0503020204020204" charset="-122"/>
                            <a:cs typeface="Cambria Math" panose="02040503050406030204" charset="0"/>
                          </a:rPr>
                          <m:t>𝑣</m:t>
                        </m:r>
                      </m:den>
                    </m:f>
                  </m:oMath>
                </a14:m>
                <a:r>
                  <a:rPr lang="zh-CN" altLang="en-US" sz="2000">
                    <a:latin typeface="微软雅黑" panose="020B0503020204020204" charset="-122"/>
                    <a:ea typeface="微软雅黑" panose="020B0503020204020204" charset="-122"/>
                    <a:cs typeface="微软雅黑" panose="020B0503020204020204" charset="-122"/>
                  </a:rPr>
                  <a:t>=1，则说u,v是等价无穷大，记作u~v.</a:t>
                </a:r>
              </a:p>
              <a:p>
                <a:pPr indent="0">
                  <a:buFont typeface="Wingdings" panose="05000000000000000000" charset="0"/>
                  <a:buNone/>
                </a:pPr>
                <a:r>
                  <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rPr>
                  <a:t>利用u/v=/(uv≠0）容易证明：</a:t>
                </a:r>
              </a:p>
              <a:p>
                <a:pPr marL="285750" indent="-285750">
                  <a:buFont typeface="Wingdings" panose="05000000000000000000" charset="0"/>
                  <a:buChar char="l"/>
                </a:pPr>
                <a:r>
                  <a:rPr lang="zh-CN" altLang="en-US" sz="2000">
                    <a:solidFill>
                      <a:srgbClr val="FF0000"/>
                    </a:solidFill>
                    <a:latin typeface="微软雅黑" panose="020B0503020204020204" charset="-122"/>
                    <a:ea typeface="微软雅黑" panose="020B0503020204020204" charset="-122"/>
                    <a:cs typeface="微软雅黑" panose="020B0503020204020204" charset="-122"/>
                  </a:rPr>
                  <a:t>定理7</a:t>
                </a:r>
                <a:r>
                  <a:rPr lang="zh-CN" altLang="en-US" sz="2000">
                    <a:latin typeface="微软雅黑" panose="020B0503020204020204" charset="-122"/>
                    <a:ea typeface="微软雅黑" panose="020B0503020204020204" charset="-122"/>
                    <a:cs typeface="微软雅黑" panose="020B0503020204020204" charset="-122"/>
                  </a:rPr>
                  <a:t> 设u,v是无穷大且uv≠0，则</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(i)u是v的高阶无穷大⇔1/u是1/v的高阶无穷小</a:t>
                </a:r>
              </a:p>
              <a:p>
                <a:pPr indent="0">
                  <a:buFont typeface="Wingdings" panose="05000000000000000000" charset="0"/>
                  <a:buNone/>
                </a:pPr>
                <a:r>
                  <a:rPr lang="zh-CN" altLang="en-US" sz="2000">
                    <a:latin typeface="微软雅黑" panose="020B0503020204020204" charset="-122"/>
                    <a:ea typeface="微软雅黑" panose="020B0503020204020204" charset="-122"/>
                    <a:cs typeface="微软雅黑" panose="020B0503020204020204" charset="-122"/>
                  </a:rPr>
                  <a:t>(ii)u与v是同阶无穷大⇔1/u与1/v是同阶无穷小．</a:t>
                </a:r>
              </a:p>
            </p:txBody>
          </p:sp>
        </mc:Choice>
        <mc:Fallback xmlns="">
          <p:sp>
            <p:nvSpPr>
              <p:cNvPr id="3" name="文本框 2"/>
              <p:cNvSpPr txBox="1">
                <a:spLocks noRot="1" noChangeAspect="1" noMove="1" noResize="1" noEditPoints="1" noAdjustHandles="1" noChangeArrowheads="1" noChangeShapeType="1" noTextEdit="1"/>
              </p:cNvSpPr>
              <p:nvPr/>
            </p:nvSpPr>
            <p:spPr>
              <a:xfrm>
                <a:off x="320675" y="88265"/>
                <a:ext cx="11550650" cy="6626225"/>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bwMode="auto">
          <a:xfrm>
            <a:off x="387350" y="-48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3"/>
          <p:cNvSpPr/>
          <p:nvPr/>
        </p:nvSpPr>
        <p:spPr bwMode="auto">
          <a:xfrm>
            <a:off x="387350" y="1047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AutoShape 6"/>
          <p:cNvSpPr/>
          <p:nvPr/>
        </p:nvSpPr>
        <p:spPr bwMode="auto">
          <a:xfrm>
            <a:off x="539750" y="2571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文本框 11"/>
          <p:cNvSpPr txBox="1"/>
          <p:nvPr/>
        </p:nvSpPr>
        <p:spPr>
          <a:xfrm>
            <a:off x="3127375" y="2766060"/>
            <a:ext cx="6580505" cy="922020"/>
          </a:xfrm>
          <a:prstGeom prst="rect">
            <a:avLst/>
          </a:prstGeom>
          <a:noFill/>
        </p:spPr>
        <p:txBody>
          <a:bodyPr wrap="square" rtlCol="0">
            <a:spAutoFit/>
          </a:bodyPr>
          <a:lstStyle/>
          <a:p>
            <a:r>
              <a:rPr lang="en-US" altLang="zh-CN" sz="5400" b="1" dirty="0">
                <a:latin typeface="+mj-ea"/>
                <a:ea typeface="+mj-ea"/>
                <a:cs typeface="+mj-ea"/>
              </a:rPr>
              <a:t>2.4   </a:t>
            </a:r>
            <a:r>
              <a:rPr lang="zh-CN" altLang="en-US" sz="5400" b="1" dirty="0">
                <a:latin typeface="+mj-ea"/>
                <a:ea typeface="+mj-ea"/>
                <a:cs typeface="+mj-ea"/>
              </a:rPr>
              <a:t>函数的连续性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82372" y="56516"/>
            <a:ext cx="3576320" cy="802640"/>
          </a:xfrm>
        </p:spPr>
        <p:txBody>
          <a:bodyPr>
            <a:normAutofit/>
          </a:bodyPr>
          <a:lstStyle/>
          <a:p>
            <a:r>
              <a:rPr lang="zh-CN" altLang="en-US" sz="3600" dirty="0"/>
              <a:t>一、定义篇</a:t>
            </a:r>
          </a:p>
        </p:txBody>
      </p:sp>
      <p:sp>
        <p:nvSpPr>
          <p:cNvPr id="3" name="副标题 2"/>
          <p:cNvSpPr>
            <a:spLocks noGrp="1"/>
          </p:cNvSpPr>
          <p:nvPr>
            <p:ph type="subTitle" idx="1"/>
          </p:nvPr>
        </p:nvSpPr>
        <p:spPr>
          <a:xfrm>
            <a:off x="279400" y="1204278"/>
            <a:ext cx="11757152" cy="2928560"/>
          </a:xfrm>
          <a:blipFill rotWithShape="1">
            <a:blip r:embed="rId2"/>
            <a:stretch>
              <a:fillRect t="-206" r="1" b="-7515"/>
            </a:stretch>
          </a:blipFill>
        </p:spPr>
        <p:txBody>
          <a:bodyPr/>
          <a:lstStyle/>
          <a:p>
            <a:r>
              <a:rPr lang="zh-CN" altLang="en-US">
                <a:noFill/>
              </a:rPr>
              <a:t> </a:t>
            </a:r>
          </a:p>
        </p:txBody>
      </p:sp>
      <p:sp>
        <p:nvSpPr>
          <p:cNvPr id="10" name="左大括号 9"/>
          <p:cNvSpPr/>
          <p:nvPr/>
        </p:nvSpPr>
        <p:spPr>
          <a:xfrm>
            <a:off x="1651508" y="4488934"/>
            <a:ext cx="155448" cy="11647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文本框 10"/>
          <p:cNvSpPr txBox="1"/>
          <p:nvPr/>
        </p:nvSpPr>
        <p:spPr>
          <a:xfrm>
            <a:off x="1806956" y="4397236"/>
            <a:ext cx="2357120" cy="369332"/>
          </a:xfrm>
          <a:prstGeom prst="rect">
            <a:avLst/>
          </a:prstGeom>
          <a:noFill/>
        </p:spPr>
        <p:txBody>
          <a:bodyPr wrap="square" rtlCol="0">
            <a:spAutoFit/>
          </a:bodyPr>
          <a:lstStyle/>
          <a:p>
            <a:r>
              <a:rPr lang="zh-CN" altLang="en-US" dirty="0"/>
              <a:t>第一类间断点</a:t>
            </a:r>
          </a:p>
        </p:txBody>
      </p:sp>
      <p:sp>
        <p:nvSpPr>
          <p:cNvPr id="12" name="文本框 11"/>
          <p:cNvSpPr txBox="1"/>
          <p:nvPr/>
        </p:nvSpPr>
        <p:spPr>
          <a:xfrm>
            <a:off x="1756664" y="5376088"/>
            <a:ext cx="4166616" cy="369332"/>
          </a:xfrm>
          <a:prstGeom prst="rect">
            <a:avLst/>
          </a:prstGeom>
          <a:noFill/>
        </p:spPr>
        <p:txBody>
          <a:bodyPr wrap="square" rtlCol="0">
            <a:spAutoFit/>
          </a:bodyPr>
          <a:lstStyle/>
          <a:p>
            <a:r>
              <a:rPr lang="zh-CN" altLang="en-US" dirty="0"/>
              <a:t>第二类间断点：非第一类的间断点</a:t>
            </a:r>
          </a:p>
        </p:txBody>
      </p:sp>
      <p:sp>
        <p:nvSpPr>
          <p:cNvPr id="13" name="左大括号 12"/>
          <p:cNvSpPr/>
          <p:nvPr/>
        </p:nvSpPr>
        <p:spPr>
          <a:xfrm>
            <a:off x="3334512" y="4268966"/>
            <a:ext cx="155448" cy="762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p:cNvSpPr txBox="1"/>
          <p:nvPr/>
        </p:nvSpPr>
        <p:spPr>
          <a:xfrm>
            <a:off x="3650110" y="4209852"/>
            <a:ext cx="5724644" cy="369332"/>
          </a:xfrm>
          <a:prstGeom prst="rect">
            <a:avLst/>
          </a:prstGeom>
          <a:noFill/>
        </p:spPr>
        <p:txBody>
          <a:bodyPr wrap="none" rtlCol="0">
            <a:spAutoFit/>
          </a:bodyPr>
          <a:lstStyle/>
          <a:p>
            <a:r>
              <a:rPr lang="zh-CN" altLang="en-US" dirty="0"/>
              <a:t>可去间断点：左极限等于右极限，但不等于该点函数值</a:t>
            </a:r>
          </a:p>
        </p:txBody>
      </p:sp>
      <p:sp>
        <p:nvSpPr>
          <p:cNvPr id="16" name="文本框 15"/>
          <p:cNvSpPr txBox="1"/>
          <p:nvPr/>
        </p:nvSpPr>
        <p:spPr>
          <a:xfrm>
            <a:off x="3650110" y="4723745"/>
            <a:ext cx="3647152" cy="369332"/>
          </a:xfrm>
          <a:prstGeom prst="rect">
            <a:avLst/>
          </a:prstGeom>
          <a:noFill/>
        </p:spPr>
        <p:txBody>
          <a:bodyPr wrap="none" rtlCol="0">
            <a:spAutoFit/>
          </a:bodyPr>
          <a:lstStyle/>
          <a:p>
            <a:r>
              <a:rPr lang="zh-CN" altLang="en-US" dirty="0"/>
              <a:t>跳跃间断点：左极限不等于右极限</a:t>
            </a:r>
          </a:p>
        </p:txBody>
      </p:sp>
      <p:sp>
        <p:nvSpPr>
          <p:cNvPr id="17" name="文本框 16"/>
          <p:cNvSpPr txBox="1"/>
          <p:nvPr/>
        </p:nvSpPr>
        <p:spPr>
          <a:xfrm>
            <a:off x="5524500" y="6028055"/>
            <a:ext cx="6593840" cy="398780"/>
          </a:xfrm>
          <a:prstGeom prst="rect">
            <a:avLst/>
          </a:prstGeom>
          <a:noFill/>
        </p:spPr>
        <p:txBody>
          <a:bodyPr wrap="square" rtlCol="0">
            <a:spAutoFit/>
          </a:bodyPr>
          <a:lstStyle/>
          <a:p>
            <a:r>
              <a:rPr lang="zh-CN" altLang="en-US" sz="2000" dirty="0">
                <a:latin typeface="等线 Light" panose="02010600030101010101" charset="-122"/>
                <a:ea typeface="等线 Light" panose="02010600030101010101" charset="-122"/>
              </a:rPr>
              <a:t>还有最值定理、介值定理、零点存在定理等可在书上查找</a:t>
            </a:r>
          </a:p>
        </p:txBody>
      </p:sp>
      <p:sp>
        <p:nvSpPr>
          <p:cNvPr id="20" name="文本框 19"/>
          <p:cNvSpPr txBox="1"/>
          <p:nvPr/>
        </p:nvSpPr>
        <p:spPr>
          <a:xfrm>
            <a:off x="8278761" y="1204279"/>
            <a:ext cx="3362633" cy="830997"/>
          </a:xfrm>
          <a:prstGeom prst="rect">
            <a:avLst/>
          </a:prstGeom>
          <a:noFill/>
        </p:spPr>
        <p:txBody>
          <a:bodyPr wrap="square" rtlCol="0">
            <a:spAutoFit/>
          </a:bodyPr>
          <a:lstStyle/>
          <a:p>
            <a:r>
              <a:rPr lang="zh-CN" altLang="en-US" sz="1600" dirty="0">
                <a:solidFill>
                  <a:srgbClr val="FF0000"/>
                </a:solidFill>
              </a:rPr>
              <a:t>注：也可以说，左右极限等于该点函数值，则说函数在该点连续（题目常用方法）</a:t>
            </a:r>
          </a:p>
        </p:txBody>
      </p:sp>
      <p:sp>
        <p:nvSpPr>
          <p:cNvPr id="24" name="箭头: 圆角右 8"/>
          <p:cNvSpPr/>
          <p:nvPr/>
        </p:nvSpPr>
        <p:spPr>
          <a:xfrm flipV="1">
            <a:off x="961390" y="4379595"/>
            <a:ext cx="550545" cy="979170"/>
          </a:xfrm>
          <a:prstGeom prst="bentArrow">
            <a:avLst>
              <a:gd name="adj1" fmla="val 15244"/>
              <a:gd name="adj2" fmla="val 50000"/>
              <a:gd name="adj3" fmla="val 24024"/>
              <a:gd name="adj4" fmla="val 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0" grpId="0" bldLvl="0" animBg="1"/>
      <p:bldP spid="11" grpId="0"/>
      <p:bldP spid="12" grpId="0"/>
      <p:bldP spid="13" grpId="0" bldLvl="0" animBg="1"/>
      <p:bldP spid="15" grpId="0"/>
      <p:bldP spid="16" grpId="0"/>
      <p:bldP spid="17" grpId="0"/>
      <p:bldP spid="20" grpId="0"/>
      <p:bldP spid="24"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838200" y="419427"/>
            <a:ext cx="1980029" cy="523220"/>
          </a:xfrm>
          <a:prstGeom prst="rect">
            <a:avLst/>
          </a:prstGeom>
          <a:noFill/>
        </p:spPr>
        <p:txBody>
          <a:bodyPr wrap="none" rtlCol="0">
            <a:spAutoFit/>
          </a:bodyPr>
          <a:lstStyle/>
          <a:p>
            <a:r>
              <a:rPr lang="zh-CN" altLang="en-US" sz="2800" dirty="0"/>
              <a:t>二、习题篇</a:t>
            </a:r>
          </a:p>
        </p:txBody>
      </p:sp>
      <p:pic>
        <p:nvPicPr>
          <p:cNvPr id="11" name="图片 10"/>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1769307" y="1102334"/>
            <a:ext cx="8653143" cy="877855"/>
          </a:xfrm>
          <a:prstGeom prst="rect">
            <a:avLst/>
          </a:prstGeom>
        </p:spPr>
      </p:pic>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710" y="2249715"/>
            <a:ext cx="10965025" cy="3377681"/>
          </a:xfrm>
          <a:prstGeom prst="rect">
            <a:avLst/>
          </a:prstGeom>
        </p:spPr>
      </p:pic>
      <p:sp>
        <p:nvSpPr>
          <p:cNvPr id="14" name="文本框 13"/>
          <p:cNvSpPr txBox="1"/>
          <p:nvPr/>
        </p:nvSpPr>
        <p:spPr>
          <a:xfrm>
            <a:off x="939685" y="1102437"/>
            <a:ext cx="341796" cy="369332"/>
          </a:xfrm>
          <a:prstGeom prst="rect">
            <a:avLst/>
          </a:prstGeom>
          <a:noFill/>
        </p:spPr>
        <p:txBody>
          <a:bodyPr wrap="square" rtlCol="0">
            <a:spAutoFit/>
          </a:bodyPr>
          <a:lstStyle/>
          <a:p>
            <a:r>
              <a:rPr lang="en-US" altLang="zh-CN" dirty="0"/>
              <a:t>1.</a:t>
            </a:r>
            <a:endParaRPr lang="zh-CN" altLang="en-US" dirty="0"/>
          </a:p>
        </p:txBody>
      </p:sp>
      <p:sp>
        <p:nvSpPr>
          <p:cNvPr id="15" name="文本框 14"/>
          <p:cNvSpPr txBox="1"/>
          <p:nvPr/>
        </p:nvSpPr>
        <p:spPr>
          <a:xfrm>
            <a:off x="8340981" y="4835204"/>
            <a:ext cx="6317603" cy="46037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（利用介值定理解题）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59159" y="1108636"/>
            <a:ext cx="1129004" cy="369332"/>
          </a:xfrm>
          <a:prstGeom prst="rect">
            <a:avLst/>
          </a:prstGeom>
          <a:noFill/>
        </p:spPr>
        <p:txBody>
          <a:bodyPr wrap="square" rtlCol="0">
            <a:spAutoFit/>
          </a:bodyPr>
          <a:lstStyle/>
          <a:p>
            <a:r>
              <a:rPr lang="en-US" altLang="zh-CN" dirty="0"/>
              <a:t>2.</a:t>
            </a:r>
            <a:endParaRPr lang="zh-CN" altLang="en-US" dirty="0"/>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50000" t="10271" r="53911" b="-3128"/>
          <a:stretch>
            <a:fillRect/>
          </a:stretch>
        </p:blipFill>
        <p:spPr>
          <a:xfrm rot="-5400000">
            <a:off x="5606629" y="-2638236"/>
            <a:ext cx="978582" cy="8472197"/>
          </a:xfrm>
          <a:prstGeom prst="rect">
            <a:avLst/>
          </a:prstGeom>
        </p:spPr>
      </p:pic>
      <p:pic>
        <p:nvPicPr>
          <p:cNvPr id="8" name="图片 7"/>
          <p:cNvPicPr>
            <a:picLocks noChangeAspect="1"/>
          </p:cNvPicPr>
          <p:nvPr/>
        </p:nvPicPr>
        <p:blipFill rotWithShape="1">
          <a:blip r:embed="rId3">
            <a:extLst>
              <a:ext uri="{28A0092B-C50C-407E-A947-70E740481C1C}">
                <a14:useLocalDpi xmlns:a14="http://schemas.microsoft.com/office/drawing/2010/main" val="0"/>
              </a:ext>
            </a:extLst>
          </a:blip>
          <a:srcRect t="4325"/>
          <a:stretch>
            <a:fillRect/>
          </a:stretch>
        </p:blipFill>
        <p:spPr>
          <a:xfrm>
            <a:off x="1135252" y="1951100"/>
            <a:ext cx="9921335" cy="1996035"/>
          </a:xfrm>
          <a:prstGeom prst="rect">
            <a:avLst/>
          </a:prstGeom>
        </p:spPr>
      </p:pic>
      <p:sp>
        <p:nvSpPr>
          <p:cNvPr id="9" name="文本框 8"/>
          <p:cNvSpPr txBox="1"/>
          <p:nvPr/>
        </p:nvSpPr>
        <p:spPr>
          <a:xfrm>
            <a:off x="8081670" y="4420197"/>
            <a:ext cx="3881836" cy="706755"/>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解题方法不止一种，或许可以试试反证法？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35367" t="10362" r="53023"/>
          <a:stretch>
            <a:fillRect/>
          </a:stretch>
        </p:blipFill>
        <p:spPr>
          <a:xfrm rot="-5400000">
            <a:off x="5746078" y="-3841526"/>
            <a:ext cx="699797" cy="9605203"/>
          </a:xfrm>
          <a:prstGeom prst="rect">
            <a:avLst/>
          </a:prstGeom>
        </p:spPr>
      </p:pic>
      <p:sp>
        <p:nvSpPr>
          <p:cNvPr id="8" name="文本框 7"/>
          <p:cNvSpPr txBox="1"/>
          <p:nvPr/>
        </p:nvSpPr>
        <p:spPr>
          <a:xfrm>
            <a:off x="839755" y="744212"/>
            <a:ext cx="449162" cy="461665"/>
          </a:xfrm>
          <a:prstGeom prst="rect">
            <a:avLst/>
          </a:prstGeom>
          <a:noFill/>
        </p:spPr>
        <p:txBody>
          <a:bodyPr wrap="none" rtlCol="0">
            <a:spAutoFit/>
          </a:bodyPr>
          <a:lstStyle/>
          <a:p>
            <a:r>
              <a:rPr lang="en-US" altLang="zh-CN" sz="2400" dirty="0">
                <a:latin typeface="方正粗黑宋简体" panose="02000000000000000000" pitchFamily="2" charset="-122"/>
                <a:ea typeface="方正粗黑宋简体" panose="02000000000000000000" pitchFamily="2" charset="-122"/>
              </a:rPr>
              <a:t>3.</a:t>
            </a:r>
            <a:endParaRPr lang="zh-CN" altLang="en-US" sz="2400" dirty="0">
              <a:latin typeface="方正粗黑宋简体" panose="02000000000000000000" pitchFamily="2" charset="-122"/>
              <a:ea typeface="方正粗黑宋简体" panose="02000000000000000000" pitchFamily="2" charset="-122"/>
            </a:endParaRPr>
          </a:p>
        </p:txBody>
      </p:sp>
      <p:sp>
        <p:nvSpPr>
          <p:cNvPr id="9" name="文本框 8"/>
          <p:cNvSpPr txBox="1"/>
          <p:nvPr/>
        </p:nvSpPr>
        <p:spPr>
          <a:xfrm>
            <a:off x="9862456" y="1763344"/>
            <a:ext cx="2052735" cy="1568450"/>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这是一道有关洛必达法则的经典例题，很容易错！！！</a:t>
            </a:r>
          </a:p>
        </p:txBody>
      </p:sp>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l="3431" t="25834" r="20643" b="11734"/>
          <a:stretch>
            <a:fillRect/>
          </a:stretch>
        </p:blipFill>
        <p:spPr>
          <a:xfrm rot="-5400000">
            <a:off x="4630911" y="947142"/>
            <a:ext cx="2928937" cy="4281488"/>
          </a:xfrm>
          <a:prstGeom prst="rect">
            <a:avLst/>
          </a:prstGeom>
        </p:spPr>
      </p:pic>
      <p:sp>
        <p:nvSpPr>
          <p:cNvPr id="12" name="文本框 11"/>
          <p:cNvSpPr txBox="1"/>
          <p:nvPr/>
        </p:nvSpPr>
        <p:spPr>
          <a:xfrm>
            <a:off x="1886464" y="4864616"/>
            <a:ext cx="8419585" cy="646331"/>
          </a:xfrm>
          <a:prstGeom prst="rect">
            <a:avLst/>
          </a:prstGeom>
          <a:noFill/>
        </p:spPr>
        <p:txBody>
          <a:bodyPr wrap="square" rtlCol="0">
            <a:spAutoFit/>
          </a:bodyPr>
          <a:lstStyle/>
          <a:p>
            <a:r>
              <a:rPr lang="zh-CN" altLang="en-US" dirty="0"/>
              <a:t>如果你是这么写的，那么恭喜你成为了第无数个经典，</a:t>
            </a:r>
            <a:r>
              <a:rPr lang="en-US" altLang="zh-CN" dirty="0"/>
              <a:t>f</a:t>
            </a:r>
            <a:r>
              <a:rPr lang="zh-CN" altLang="en-US" dirty="0"/>
              <a:t>二导的极限不一定存在，又如何能直接求呢？故除了最后一步算数是对的，其余做法均错。</a:t>
            </a:r>
          </a:p>
        </p:txBody>
      </p:sp>
      <p:sp>
        <p:nvSpPr>
          <p:cNvPr id="13" name="文本框 12"/>
          <p:cNvSpPr txBox="1"/>
          <p:nvPr/>
        </p:nvSpPr>
        <p:spPr>
          <a:xfrm>
            <a:off x="2391345" y="1763293"/>
            <a:ext cx="1107996" cy="369332"/>
          </a:xfrm>
          <a:prstGeom prst="rect">
            <a:avLst/>
          </a:prstGeom>
          <a:noFill/>
        </p:spPr>
        <p:txBody>
          <a:bodyPr wrap="none" rtlCol="0">
            <a:spAutoFit/>
          </a:bodyPr>
          <a:lstStyle/>
          <a:p>
            <a:r>
              <a:rPr lang="zh-CN" altLang="en-US" dirty="0"/>
              <a:t>方法一：</a:t>
            </a:r>
          </a:p>
        </p:txBody>
      </p:sp>
      <p:sp>
        <p:nvSpPr>
          <p:cNvPr id="14" name="文本框 13"/>
          <p:cNvSpPr txBox="1"/>
          <p:nvPr/>
        </p:nvSpPr>
        <p:spPr>
          <a:xfrm>
            <a:off x="2918974" y="5734002"/>
            <a:ext cx="6355080" cy="368300"/>
          </a:xfrm>
          <a:prstGeom prst="rect">
            <a:avLst/>
          </a:prstGeom>
          <a:noFill/>
        </p:spPr>
        <p:txBody>
          <a:bodyPr wrap="none" rtlCol="0">
            <a:spAutoFit/>
          </a:bodyPr>
          <a:lstStyle/>
          <a:p>
            <a:r>
              <a:rPr lang="zh-CN" altLang="en-US" dirty="0">
                <a:solidFill>
                  <a:schemeClr val="accent2"/>
                </a:solidFill>
                <a:latin typeface="宋体" panose="02010600030101010101" pitchFamily="2" charset="-122"/>
                <a:ea typeface="宋体" panose="02010600030101010101" pitchFamily="2" charset="-122"/>
              </a:rPr>
              <a:t>这题涉及到的知识点其实与连续有点关系，下面是正确接法。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l="24542" t="37361" r="37608" b="21667"/>
          <a:stretch>
            <a:fillRect/>
          </a:stretch>
        </p:blipFill>
        <p:spPr>
          <a:xfrm rot="-5400000">
            <a:off x="3623777" y="-150557"/>
            <a:ext cx="2677495" cy="5095876"/>
          </a:xfrm>
          <a:prstGeom prst="rect">
            <a:avLst/>
          </a:prstGeom>
        </p:spPr>
      </p:pic>
      <p:sp>
        <p:nvSpPr>
          <p:cNvPr id="6" name="文本框 5"/>
          <p:cNvSpPr txBox="1"/>
          <p:nvPr/>
        </p:nvSpPr>
        <p:spPr>
          <a:xfrm>
            <a:off x="666749" y="1058633"/>
            <a:ext cx="3838576" cy="461665"/>
          </a:xfrm>
          <a:prstGeom prst="rect">
            <a:avLst/>
          </a:prstGeom>
          <a:noFill/>
        </p:spPr>
        <p:txBody>
          <a:bodyPr wrap="square" rtlCol="0">
            <a:spAutoFit/>
          </a:bodyPr>
          <a:lstStyle/>
          <a:p>
            <a:r>
              <a:rPr lang="zh-CN" altLang="en-US" sz="2400" dirty="0"/>
              <a:t>正确解法：</a:t>
            </a:r>
          </a:p>
        </p:txBody>
      </p:sp>
      <p:sp>
        <p:nvSpPr>
          <p:cNvPr id="9" name="箭头: 右 8"/>
          <p:cNvSpPr/>
          <p:nvPr/>
        </p:nvSpPr>
        <p:spPr>
          <a:xfrm flipH="1">
            <a:off x="7591423" y="1140169"/>
            <a:ext cx="390527" cy="38012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 name="文本框 9"/>
          <p:cNvSpPr txBox="1"/>
          <p:nvPr/>
        </p:nvSpPr>
        <p:spPr>
          <a:xfrm>
            <a:off x="8177210" y="868568"/>
            <a:ext cx="3924300" cy="922020"/>
          </a:xfrm>
          <a:prstGeom prst="rect">
            <a:avLst/>
          </a:prstGeom>
          <a:noFill/>
        </p:spPr>
        <p:txBody>
          <a:bodyPr wrap="square" rtlCol="0">
            <a:spAutoFit/>
          </a:bodyPr>
          <a:lstStyle/>
          <a:p>
            <a:r>
              <a:rPr lang="zh-CN" altLang="en-US" dirty="0">
                <a:latin typeface="等线 Light" panose="02010600030101010101" charset="-122"/>
                <a:ea typeface="等线 Light" panose="02010600030101010101" charset="-122"/>
                <a:cs typeface="等线 Light" panose="02010600030101010101" charset="-122"/>
              </a:rPr>
              <a:t>和前面第一步的含义不同，此处得知</a:t>
            </a:r>
            <a:r>
              <a:rPr lang="en-US" altLang="zh-CN" dirty="0">
                <a:latin typeface="等线 Light" panose="02010600030101010101" charset="-122"/>
                <a:ea typeface="等线 Light" panose="02010600030101010101" charset="-122"/>
                <a:cs typeface="等线 Light" panose="02010600030101010101" charset="-122"/>
              </a:rPr>
              <a:t>f(x)</a:t>
            </a:r>
            <a:r>
              <a:rPr lang="zh-CN" altLang="en-US" dirty="0">
                <a:latin typeface="等线 Light" panose="02010600030101010101" charset="-122"/>
                <a:ea typeface="等线 Light" panose="02010600030101010101" charset="-122"/>
                <a:cs typeface="等线 Light" panose="02010600030101010101" charset="-122"/>
              </a:rPr>
              <a:t>连续可导，故可以直接用洛必达；而上一步并未体会洛必达的使用前提。</a:t>
            </a:r>
            <a:endParaRPr lang="en-US" altLang="zh-CN" dirty="0">
              <a:latin typeface="等线 Light" panose="02010600030101010101" charset="-122"/>
              <a:ea typeface="等线 Light" panose="02010600030101010101" charset="-122"/>
              <a:cs typeface="等线 Light"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bldLvl="0" animBg="1"/>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70175" y="2967990"/>
            <a:ext cx="6851650" cy="922020"/>
          </a:xfrm>
          <a:prstGeom prst="rect">
            <a:avLst/>
          </a:prstGeom>
          <a:noFill/>
        </p:spPr>
        <p:txBody>
          <a:bodyPr wrap="square" rtlCol="0">
            <a:spAutoFit/>
          </a:bodyPr>
          <a:lstStyle/>
          <a:p>
            <a:pPr algn="ctr"/>
            <a:r>
              <a:rPr lang="en-US" altLang="zh-CN" sz="5400" b="1">
                <a:latin typeface="+mj-ea"/>
                <a:ea typeface="+mj-ea"/>
                <a:cs typeface="+mj-ea"/>
              </a:rPr>
              <a:t>3.1 </a:t>
            </a:r>
            <a:r>
              <a:rPr lang="zh-CN" altLang="en-US" sz="5400" b="1">
                <a:latin typeface="+mj-ea"/>
                <a:ea typeface="+mj-ea"/>
                <a:cs typeface="+mj-ea"/>
              </a:rPr>
              <a:t>导数概念</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900">
                <a:latin typeface="+mn-ea"/>
                <a:ea typeface="+mn-ea"/>
              </a:rPr>
              <a:t>导数的定义</a:t>
            </a:r>
          </a:p>
        </p:txBody>
      </p:sp>
      <p:pic>
        <p:nvPicPr>
          <p:cNvPr id="4" name="内容占位符 3" descr="微信图片_20231218194956"/>
          <p:cNvPicPr>
            <a:picLocks noGrp="1" noChangeAspect="1"/>
          </p:cNvPicPr>
          <p:nvPr>
            <p:ph idx="1"/>
          </p:nvPr>
        </p:nvPicPr>
        <p:blipFill>
          <a:blip r:embed="rId3"/>
          <a:stretch>
            <a:fillRect/>
          </a:stretch>
        </p:blipFill>
        <p:spPr>
          <a:xfrm>
            <a:off x="1776730" y="1449705"/>
            <a:ext cx="9580880" cy="3594735"/>
          </a:xfrm>
          <a:prstGeom prst="rect">
            <a:avLst/>
          </a:prstGeom>
        </p:spPr>
      </p:pic>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mn-ea"/>
                <a:ea typeface="+mn-ea"/>
              </a:rPr>
              <a:t>对于导数的一些个人理解</a:t>
            </a:r>
          </a:p>
        </p:txBody>
      </p:sp>
      <p:sp>
        <p:nvSpPr>
          <p:cNvPr id="3" name="内容占位符 2"/>
          <p:cNvSpPr>
            <a:spLocks noGrp="1"/>
          </p:cNvSpPr>
          <p:nvPr>
            <p:ph idx="1"/>
          </p:nvPr>
        </p:nvSpPr>
        <p:spPr/>
        <p:txBody>
          <a:bodyPr>
            <a:noAutofit/>
          </a:bodyPr>
          <a:lstStyle/>
          <a:p>
            <a:pPr marL="0" indent="0">
              <a:buNone/>
            </a:pPr>
            <a:r>
              <a:rPr lang="zh-CN" altLang="en-US" sz="2000">
                <a:latin typeface="+mn-ea"/>
                <a:cs typeface="+mn-ea"/>
              </a:rPr>
              <a:t>首先，我们都知道，对于一个圆，我们可以将圆弧分成多个小折线进行计算圆的周长。</a:t>
            </a:r>
          </a:p>
          <a:p>
            <a:pPr marL="0" indent="0">
              <a:buNone/>
            </a:pPr>
            <a:r>
              <a:rPr lang="zh-CN" altLang="en-US" sz="2000">
                <a:latin typeface="+mn-ea"/>
                <a:cs typeface="+mn-ea"/>
              </a:rPr>
              <a:t>同理，对于一个曲线来说，我们也可以将曲线无限的放大，将弯曲化成直线，而这个直线，我们把它称作一个微元。当放在直角坐标系中时，这个微元就能和</a:t>
            </a:r>
            <a:r>
              <a:rPr lang="en-US" altLang="zh-CN" sz="2000">
                <a:latin typeface="+mn-ea"/>
                <a:cs typeface="+mn-ea"/>
              </a:rPr>
              <a:t>dx</a:t>
            </a:r>
            <a:r>
              <a:rPr lang="zh-CN" altLang="en-US" sz="2000">
                <a:latin typeface="+mn-ea"/>
                <a:cs typeface="+mn-ea"/>
              </a:rPr>
              <a:t>与</a:t>
            </a:r>
            <a:r>
              <a:rPr lang="en-US" altLang="zh-CN" sz="2000">
                <a:latin typeface="+mn-ea"/>
                <a:cs typeface="+mn-ea"/>
              </a:rPr>
              <a:t>dy</a:t>
            </a:r>
            <a:r>
              <a:rPr lang="zh-CN" altLang="en-US" sz="2000">
                <a:latin typeface="+mn-ea"/>
                <a:cs typeface="+mn-ea"/>
              </a:rPr>
              <a:t>组成一个直角三角形，</a:t>
            </a:r>
            <a:r>
              <a:rPr lang="en-US" altLang="zh-CN" sz="2000">
                <a:latin typeface="+mn-ea"/>
                <a:cs typeface="+mn-ea"/>
              </a:rPr>
              <a:t>dx</a:t>
            </a:r>
            <a:r>
              <a:rPr lang="zh-CN" altLang="en-US" sz="2000">
                <a:latin typeface="+mn-ea"/>
                <a:cs typeface="+mn-ea"/>
              </a:rPr>
              <a:t>与</a:t>
            </a:r>
            <a:r>
              <a:rPr lang="en-US" altLang="zh-CN" sz="2000">
                <a:latin typeface="+mn-ea"/>
                <a:cs typeface="+mn-ea"/>
              </a:rPr>
              <a:t>dy</a:t>
            </a:r>
            <a:r>
              <a:rPr lang="zh-CN" altLang="en-US" sz="2000">
                <a:latin typeface="+mn-ea"/>
                <a:cs typeface="+mn-ea"/>
              </a:rPr>
              <a:t>为这个直角三角形的两直角边。而这个直角三角形的斜边处于直角坐标系中的斜率即是我们所求的导数。并且，从微元的图像中可以很直观的了解到，这个斜边其实就是函数图像在这一点处的切线中的一段。</a:t>
            </a:r>
          </a:p>
          <a:p>
            <a:pPr marL="0" indent="0">
              <a:buNone/>
            </a:pPr>
            <a:r>
              <a:rPr lang="zh-CN" altLang="en-US" sz="2000">
                <a:latin typeface="+mn-ea"/>
                <a:cs typeface="+mn-ea"/>
              </a:rPr>
              <a:t>而在以后的问题当中，我们可以将</a:t>
            </a:r>
            <a:r>
              <a:rPr lang="en-US" altLang="zh-CN" sz="2000">
                <a:latin typeface="+mn-ea"/>
                <a:cs typeface="+mn-ea"/>
              </a:rPr>
              <a:t>y</a:t>
            </a:r>
            <a:r>
              <a:rPr lang="zh-CN" altLang="en-US" sz="2000">
                <a:latin typeface="+mn-ea"/>
                <a:cs typeface="+mn-ea"/>
              </a:rPr>
              <a:t>，即函数值看作一个实际存在的物理量，导数大于</a:t>
            </a:r>
            <a:r>
              <a:rPr lang="en-US" altLang="zh-CN" sz="2000">
                <a:latin typeface="+mn-ea"/>
                <a:cs typeface="+mn-ea"/>
              </a:rPr>
              <a:t>0</a:t>
            </a:r>
            <a:r>
              <a:rPr lang="zh-CN" altLang="en-US" sz="2000">
                <a:latin typeface="+mn-ea"/>
                <a:cs typeface="+mn-ea"/>
              </a:rPr>
              <a:t>，即表示这个物理量正在增加，换到图像当中即</a:t>
            </a:r>
            <a:r>
              <a:rPr lang="en-US" altLang="zh-CN" sz="2000">
                <a:latin typeface="+mn-ea"/>
                <a:cs typeface="+mn-ea"/>
              </a:rPr>
              <a:t>y</a:t>
            </a:r>
            <a:r>
              <a:rPr lang="zh-CN" altLang="en-US" sz="2000">
                <a:latin typeface="+mn-ea"/>
                <a:cs typeface="+mn-ea"/>
              </a:rPr>
              <a:t>图像正在向右上角</a:t>
            </a:r>
            <a:r>
              <a:rPr lang="en-US" altLang="zh-CN" sz="2000">
                <a:latin typeface="+mn-ea"/>
                <a:cs typeface="+mn-ea"/>
              </a:rPr>
              <a:t>“</a:t>
            </a:r>
            <a:r>
              <a:rPr lang="zh-CN" altLang="en-US" sz="2000">
                <a:latin typeface="+mn-ea"/>
                <a:cs typeface="+mn-ea"/>
              </a:rPr>
              <a:t>移动</a:t>
            </a:r>
            <a:r>
              <a:rPr lang="en-US" altLang="zh-CN" sz="2000">
                <a:latin typeface="+mn-ea"/>
                <a:cs typeface="+mn-ea"/>
              </a:rPr>
              <a:t>”</a:t>
            </a:r>
            <a:r>
              <a:rPr lang="zh-CN" altLang="en-US" sz="2000">
                <a:latin typeface="+mn-ea"/>
                <a:cs typeface="+mn-ea"/>
              </a:rPr>
              <a:t>。（注：在函数问题中，若解决一些零点问题或者取值问题，可以先画出图像，在这时，建议将函数想象成一个变化量，</a:t>
            </a:r>
            <a:r>
              <a:rPr lang="en-US" altLang="zh-CN" sz="2000">
                <a:latin typeface="+mn-ea"/>
                <a:cs typeface="+mn-ea"/>
              </a:rPr>
              <a:t>y</a:t>
            </a:r>
            <a:r>
              <a:rPr lang="zh-CN" altLang="en-US" sz="2000">
                <a:latin typeface="+mn-ea"/>
                <a:cs typeface="+mn-ea"/>
              </a:rPr>
              <a:t>在随着</a:t>
            </a:r>
            <a:r>
              <a:rPr lang="en-US" altLang="zh-CN" sz="2000">
                <a:latin typeface="+mn-ea"/>
                <a:cs typeface="+mn-ea"/>
              </a:rPr>
              <a:t>x</a:t>
            </a:r>
            <a:r>
              <a:rPr lang="zh-CN" altLang="en-US" sz="2000">
                <a:latin typeface="+mn-ea"/>
                <a:cs typeface="+mn-ea"/>
              </a:rPr>
              <a:t>从左到右逐渐增大而发生变化。此时，便可以称</a:t>
            </a:r>
            <a:r>
              <a:rPr lang="en-US" altLang="zh-CN" sz="2000">
                <a:latin typeface="+mn-ea"/>
                <a:cs typeface="+mn-ea"/>
              </a:rPr>
              <a:t>y</a:t>
            </a:r>
            <a:r>
              <a:rPr lang="zh-CN" altLang="en-US" sz="2000">
                <a:latin typeface="+mn-ea"/>
                <a:cs typeface="+mn-ea"/>
              </a:rPr>
              <a:t>在向着右上角移动。）而这其实恰好符合了泰勒展开的一阶项。</a:t>
            </a: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mn-ea"/>
                <a:ea typeface="+mn-ea"/>
              </a:rPr>
              <a:t>导数定义中的主要题型</a:t>
            </a:r>
          </a:p>
        </p:txBody>
      </p:sp>
      <p:sp>
        <p:nvSpPr>
          <p:cNvPr id="3" name="内容占位符 2"/>
          <p:cNvSpPr>
            <a:spLocks noGrp="1"/>
          </p:cNvSpPr>
          <p:nvPr>
            <p:ph idx="1"/>
          </p:nvPr>
        </p:nvSpPr>
        <p:spPr/>
        <p:txBody>
          <a:bodyPr/>
          <a:lstStyle/>
          <a:p>
            <a:pPr marL="0" indent="0">
              <a:buNone/>
            </a:pPr>
            <a:r>
              <a:rPr lang="en-US" altLang="zh-CN">
                <a:latin typeface="+mn-ea"/>
                <a:cs typeface="+mn-ea"/>
              </a:rPr>
              <a:t>1.</a:t>
            </a:r>
            <a:r>
              <a:rPr lang="zh-CN" altLang="en-US">
                <a:latin typeface="+mn-ea"/>
                <a:cs typeface="+mn-ea"/>
              </a:rPr>
              <a:t>求某一函数的导数。</a:t>
            </a:r>
          </a:p>
          <a:p>
            <a:pPr marL="0" indent="0">
              <a:buNone/>
            </a:pPr>
            <a:r>
              <a:rPr lang="en-US" altLang="zh-CN">
                <a:latin typeface="+mn-ea"/>
                <a:cs typeface="+mn-ea"/>
              </a:rPr>
              <a:t>   </a:t>
            </a:r>
            <a:r>
              <a:rPr lang="zh-CN" altLang="en-US">
                <a:latin typeface="+mn-ea"/>
                <a:cs typeface="+mn-ea"/>
              </a:rPr>
              <a:t>这类题型的解题方法十分固定，无非就是代入导数的求导公式进行求解。但也有一些例外需要进行一些代换。比如：</a:t>
            </a:r>
            <a:r>
              <a:rPr lang="en-US" altLang="zh-CN">
                <a:latin typeface="+mn-ea"/>
                <a:cs typeface="+mn-ea"/>
              </a:rPr>
              <a:t>sin(a*x)*e^(b*x)</a:t>
            </a:r>
            <a:r>
              <a:rPr lang="zh-CN" altLang="en-US">
                <a:latin typeface="+mn-ea"/>
                <a:cs typeface="+mn-ea"/>
              </a:rPr>
              <a:t>的</a:t>
            </a:r>
            <a:r>
              <a:rPr lang="en-US" altLang="zh-CN">
                <a:latin typeface="+mn-ea"/>
                <a:cs typeface="+mn-ea"/>
              </a:rPr>
              <a:t>n</a:t>
            </a:r>
            <a:r>
              <a:rPr lang="zh-CN" altLang="en-US">
                <a:latin typeface="+mn-ea"/>
                <a:cs typeface="+mn-ea"/>
              </a:rPr>
              <a:t>阶导就需要利用欧拉公式进行转换形式，还需知晓求导不会影响虚数的虚部，从而方便的求出</a:t>
            </a:r>
            <a:r>
              <a:rPr lang="en-US" altLang="zh-CN">
                <a:latin typeface="+mn-ea"/>
                <a:cs typeface="+mn-ea"/>
              </a:rPr>
              <a:t>n</a:t>
            </a:r>
            <a:r>
              <a:rPr lang="zh-CN" altLang="en-US">
                <a:latin typeface="+mn-ea"/>
                <a:cs typeface="+mn-ea"/>
              </a:rPr>
              <a:t>阶导。</a:t>
            </a:r>
          </a:p>
          <a:p>
            <a:pPr marL="0" indent="0">
              <a:buNone/>
            </a:pPr>
            <a:r>
              <a:rPr lang="en-US" altLang="zh-CN">
                <a:latin typeface="+mn-ea"/>
                <a:cs typeface="+mn-ea"/>
              </a:rPr>
              <a:t>2.</a:t>
            </a:r>
            <a:r>
              <a:rPr lang="zh-CN" altLang="en-US">
                <a:latin typeface="+mn-ea"/>
                <a:cs typeface="+mn-ea"/>
              </a:rPr>
              <a:t>求某一函数上某一点的切线或者法线。</a:t>
            </a:r>
          </a:p>
          <a:p>
            <a:pPr marL="0" indent="0">
              <a:buNone/>
            </a:pPr>
            <a:r>
              <a:rPr lang="en-US" altLang="zh-CN">
                <a:latin typeface="+mn-ea"/>
                <a:cs typeface="+mn-ea"/>
              </a:rPr>
              <a:t>   </a:t>
            </a:r>
            <a:r>
              <a:rPr lang="zh-CN" altLang="en-US">
                <a:latin typeface="+mn-ea"/>
                <a:cs typeface="+mn-ea"/>
              </a:rPr>
              <a:t>这类题直接求出那一点的导数即可，由前可知，导数即为切线的斜率，而法线与切线垂直，有都过一点，所以可以很容易的得到直线方程。</a:t>
            </a:r>
          </a:p>
          <a:p>
            <a:pPr marL="0" indent="0">
              <a:buNone/>
            </a:pPr>
            <a:r>
              <a:rPr lang="en-US" altLang="zh-CN">
                <a:latin typeface="+mn-ea"/>
                <a:cs typeface="+mn-ea"/>
              </a:rPr>
              <a:t>3.</a:t>
            </a:r>
            <a:r>
              <a:rPr lang="zh-CN" altLang="en-US">
                <a:latin typeface="+mn-ea"/>
                <a:cs typeface="+mn-ea"/>
              </a:rPr>
              <a:t>函数某一点的导数是否存在。</a:t>
            </a:r>
          </a:p>
          <a:p>
            <a:pPr marL="0" indent="0">
              <a:buNone/>
            </a:pPr>
            <a:r>
              <a:rPr lang="en-US" altLang="zh-CN">
                <a:latin typeface="+mn-ea"/>
                <a:cs typeface="+mn-ea"/>
              </a:rPr>
              <a:t>   </a:t>
            </a:r>
            <a:r>
              <a:rPr lang="zh-CN" altLang="en-US">
                <a:latin typeface="+mn-ea"/>
                <a:cs typeface="+mn-ea"/>
              </a:rPr>
              <a:t>观察导数定义可知，我们定义导数的式子当中的极限并没有标定从左趋近还是从右趋近，即导数存在必须要求左右两极限必须同时存在，这部分直接与前面的求解极限相关。</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06700" y="2967990"/>
            <a:ext cx="6579235" cy="922020"/>
          </a:xfrm>
          <a:prstGeom prst="rect">
            <a:avLst/>
          </a:prstGeom>
          <a:noFill/>
        </p:spPr>
        <p:txBody>
          <a:bodyPr wrap="square" rtlCol="0">
            <a:spAutoFit/>
          </a:bodyPr>
          <a:lstStyle/>
          <a:p>
            <a:pPr algn="ctr"/>
            <a:r>
              <a:rPr lang="en-US" altLang="zh-CN" sz="5400" b="1">
                <a:latin typeface="+mj-ea"/>
                <a:ea typeface="+mj-ea"/>
                <a:cs typeface="+mj-ea"/>
              </a:rPr>
              <a:t>3.2 </a:t>
            </a:r>
            <a:r>
              <a:rPr lang="zh-CN" altLang="en-US" sz="5400" b="1">
                <a:latin typeface="+mj-ea"/>
                <a:ea typeface="+mj-ea"/>
                <a:cs typeface="+mj-ea"/>
              </a:rPr>
              <a:t>导数的计算</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形 12"/>
          <p:cNvPicPr>
            <a:picLocks noChangeAspect="1"/>
          </p:cNvPicPr>
          <p:nvPr>
            <p:custDataLst>
              <p:tags r:id="rId2"/>
            </p:custDataLst>
          </p:nvPr>
        </p:nvPicPr>
        <p:blipFill>
          <a:blip r:embed="rId11">
            <a:extLst>
              <a:ext uri="{96DAC541-7B7A-43D3-8B79-37D633B846F1}">
                <asvg:svgBlip xmlns:asvg="http://schemas.microsoft.com/office/drawing/2016/SVG/main" r:embed="rId12"/>
              </a:ext>
            </a:extLst>
          </a:blip>
          <a:stretch>
            <a:fillRect/>
          </a:stretch>
        </p:blipFill>
        <p:spPr>
          <a:xfrm>
            <a:off x="11471910" y="6137910"/>
            <a:ext cx="720090" cy="720090"/>
          </a:xfrm>
          <a:prstGeom prst="rect">
            <a:avLst/>
          </a:prstGeom>
        </p:spPr>
      </p:pic>
      <p:sp>
        <p:nvSpPr>
          <p:cNvPr id="11" name="矩形 10"/>
          <p:cNvSpPr/>
          <p:nvPr>
            <p:custDataLst>
              <p:tags r:id="rId3"/>
            </p:custDataLst>
          </p:nvPr>
        </p:nvSpPr>
        <p:spPr>
          <a:xfrm>
            <a:off x="582613" y="848995"/>
            <a:ext cx="11048365" cy="5523865"/>
          </a:xfrm>
          <a:prstGeom prst="rect">
            <a:avLst/>
          </a:prstGeom>
          <a:solidFill>
            <a:schemeClr val="lt1"/>
          </a:solidFill>
          <a:ln w="349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8" name="标题 1"/>
          <p:cNvSpPr>
            <a:spLocks noGrp="1"/>
          </p:cNvSpPr>
          <p:nvPr>
            <p:custDataLst>
              <p:tags r:id="rId4"/>
            </p:custDataLst>
          </p:nvPr>
        </p:nvSpPr>
        <p:spPr>
          <a:xfrm>
            <a:off x="-601980" y="934720"/>
            <a:ext cx="6998335" cy="562610"/>
          </a:xfrm>
          <a:prstGeom prst="rect">
            <a:avLst/>
          </a:prstGeom>
        </p:spPr>
        <p:txBody>
          <a:bodyPr vert="horz" lIns="91440" tIns="45720" rIns="91440" bIns="45720" rtlCol="0" anchor="ctr" anchorCtr="0">
            <a:normAutofit fontScale="55000"/>
          </a:bodyPr>
          <a:lst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微软雅黑" panose="020B0503020204020204" charset="-122"/>
                <a:ea typeface="微软雅黑" panose="020B0503020204020204" charset="-122"/>
                <a:cs typeface="+mj-cs"/>
              </a:defRPr>
            </a:lvl1pPr>
          </a:lstStyle>
          <a:p>
            <a:pPr marL="0" indent="0" algn="ctr">
              <a:lnSpc>
                <a:spcPct val="100000"/>
              </a:lnSpc>
              <a:spcBef>
                <a:spcPts val="0"/>
              </a:spcBef>
              <a:spcAft>
                <a:spcPts val="0"/>
              </a:spcAft>
              <a:buSzPct val="100000"/>
              <a:buNone/>
            </a:pPr>
            <a:r>
              <a:rPr lang="en-US" altLang="zh-CN" sz="4400" spc="280">
                <a:solidFill>
                  <a:schemeClr val="lt1"/>
                </a:solidFill>
                <a:highlight>
                  <a:srgbClr val="000000"/>
                </a:highlight>
                <a:uFillTx/>
                <a:cs typeface="汉仪旗黑-85S" panose="00020600040101010101" pitchFamily="18" charset="-122"/>
              </a:rPr>
              <a:t>3.2.1</a:t>
            </a:r>
            <a:r>
              <a:rPr lang="en-US" altLang="zh-CN" sz="4400" spc="280">
                <a:solidFill>
                  <a:schemeClr val="lt1"/>
                </a:solidFill>
                <a:uFillTx/>
                <a:latin typeface="汉仪旗黑-85S" panose="00020600040101010101" pitchFamily="18" charset="-122"/>
                <a:ea typeface="汉仪旗黑-85S" panose="00020600040101010101" pitchFamily="18" charset="-122"/>
                <a:cs typeface="汉仪旗黑-85S" panose="00020600040101010101" pitchFamily="18" charset="-122"/>
              </a:rPr>
              <a:t> </a:t>
            </a:r>
            <a:r>
              <a:rPr lang="en-US" altLang="zh-CN" sz="4400" spc="280">
                <a:solidFill>
                  <a:schemeClr val="lt1"/>
                </a:solidFill>
                <a:highlight>
                  <a:srgbClr val="000000"/>
                </a:highlight>
                <a:uFillTx/>
                <a:cs typeface="汉仪旗黑-85S" panose="00020600040101010101" pitchFamily="18" charset="-122"/>
              </a:rPr>
              <a:t>基本求导法</a:t>
            </a:r>
            <a:r>
              <a:rPr lang="en-US" altLang="zh-CN" sz="4400" spc="280">
                <a:solidFill>
                  <a:schemeClr val="lt1"/>
                </a:solidFill>
                <a:highlight>
                  <a:srgbClr val="000000"/>
                </a:highlight>
                <a:uFillTx/>
                <a:latin typeface="汉仪旗黑-85S" panose="00020600040101010101" pitchFamily="18" charset="-122"/>
                <a:ea typeface="汉仪旗黑-85S" panose="00020600040101010101" pitchFamily="18" charset="-122"/>
                <a:cs typeface="汉仪旗黑-85S" panose="00020600040101010101" pitchFamily="18" charset="-122"/>
              </a:rPr>
              <a:t>则</a:t>
            </a:r>
          </a:p>
        </p:txBody>
      </p:sp>
      <p:sp>
        <p:nvSpPr>
          <p:cNvPr id="10" name="文本框 9"/>
          <p:cNvSpPr txBox="1"/>
          <p:nvPr>
            <p:custDataLst>
              <p:tags r:id="rId5"/>
            </p:custDataLst>
          </p:nvPr>
        </p:nvSpPr>
        <p:spPr>
          <a:xfrm>
            <a:off x="1065530" y="1497330"/>
            <a:ext cx="11719560" cy="4721225"/>
          </a:xfrm>
          <a:prstGeom prst="rect">
            <a:avLst/>
          </a:prstGeom>
          <a:noFill/>
        </p:spPr>
        <p:txBody>
          <a:bodyPr vert="horz" lIns="90000" tIns="46800" rIns="90000" bIns="46800" rtlCol="0" anchor="ctr">
            <a:normAutofit lnSpcReduction="20000"/>
          </a:bodyPr>
          <a:lstStyle>
            <a:lvl1pPr marL="285750" indent="-285750" fontAlgn="auto">
              <a:lnSpc>
                <a:spcPct val="150000"/>
              </a:lnSpc>
              <a:spcBef>
                <a:spcPts val="0"/>
              </a:spcBef>
              <a:spcAft>
                <a:spcPts val="800"/>
              </a:spcAft>
              <a:buFont typeface="+mj-ea"/>
              <a:buAutoNum type="ea1JpnChsDbPeriod"/>
              <a:defRPr sz="1100" u="none" strike="noStrike" cap="none" spc="150" normalizeH="0" baseline="0">
                <a:solidFill>
                  <a:schemeClr val="tx1">
                    <a:lumMod val="95000"/>
                    <a:lumOff val="5000"/>
                  </a:scheme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微软雅黑" panose="020B0503020204020204" charset="-122"/>
                <a:ea typeface="微软雅黑" panose="020B050302020402020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0" indent="0" algn="l">
              <a:lnSpc>
                <a:spcPct val="120000"/>
              </a:lnSpc>
              <a:buClr>
                <a:schemeClr val="tx1">
                  <a:lumMod val="95000"/>
                  <a:lumOff val="5000"/>
                </a:schemeClr>
              </a:buClr>
              <a:buSzPct val="100000"/>
              <a:buFont typeface="+mj-ea"/>
              <a:buNone/>
            </a:pPr>
            <a:r>
              <a:rPr lang="zh-CN" altLang="en-US" sz="3200" b="1" spc="2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对数求导法</a:t>
            </a:r>
            <a:endParaRPr lang="zh-CN" altLang="en-US" sz="3600" b="1" spc="280">
              <a:solidFill>
                <a:schemeClr val="tx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a:p>
            <a:pPr marL="0" lvl="0" indent="0" algn="l">
              <a:lnSpc>
                <a:spcPct val="120000"/>
              </a:lnSpc>
              <a:buClr>
                <a:schemeClr val="tx1">
                  <a:lumMod val="95000"/>
                  <a:lumOff val="5000"/>
                </a:schemeClr>
              </a:buClr>
              <a:buSzPct val="100000"/>
              <a:buFont typeface="+mj-ea"/>
              <a:buNone/>
            </a:pPr>
            <a:r>
              <a:rPr lang="en-US" altLang="zh-CN" sz="2800" b="1" spc="2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适用条件</a:t>
            </a:r>
            <a:endParaRPr lang="en-US" altLang="zh-CN" sz="2800" b="1" spc="28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a:p>
            <a:pPr marL="558800" lvl="1" indent="0" algn="l">
              <a:lnSpc>
                <a:spcPct val="120000"/>
              </a:lnSpc>
              <a:buClr>
                <a:schemeClr val="tx1">
                  <a:lumMod val="95000"/>
                  <a:lumOff val="5000"/>
                </a:schemeClr>
              </a:buClr>
              <a:buSzPct val="100000"/>
              <a:buFont typeface="+mj-ea"/>
              <a:buNone/>
            </a:pPr>
            <a:r>
              <a:rPr lang="zh-CN" altLang="en-US"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①幂指函数</a:t>
            </a:r>
            <a:r>
              <a:rPr lang="en-US" altLang="zh-CN" sz="2800" spc="26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p>
          <a:p>
            <a:pPr marL="558800" lvl="1" indent="0" algn="l" fontAlgn="ctr">
              <a:lnSpc>
                <a:spcPct val="120000"/>
              </a:lnSpc>
              <a:spcAft>
                <a:spcPts val="800"/>
              </a:spcAft>
              <a:buSzPct val="100000"/>
              <a:buFont typeface="Calibri Light" panose="020F0302020204030204" charset="0"/>
              <a:buNone/>
            </a:pPr>
            <a:r>
              <a:rPr lang="zh-CN" altLang="en-US"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②多因子乘幂型函数</a:t>
            </a:r>
            <a:endParaRPr lang="zh-CN" altLang="en-US" sz="2800" spc="26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a:p>
            <a:pPr marL="0" lvl="0" indent="0" algn="l" fontAlgn="ctr">
              <a:lnSpc>
                <a:spcPct val="120000"/>
              </a:lnSpc>
              <a:spcAft>
                <a:spcPts val="800"/>
              </a:spcAft>
              <a:buSzPct val="100000"/>
              <a:buFont typeface="Calibri Light" panose="020F0302020204030204" charset="0"/>
              <a:buNone/>
            </a:pPr>
            <a:r>
              <a:rPr lang="en-US" altLang="zh-CN" sz="2800" b="1" spc="2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方法点拨</a:t>
            </a:r>
          </a:p>
          <a:p>
            <a:pPr marL="558800" lvl="1" algn="l" fontAlgn="ctr">
              <a:lnSpc>
                <a:spcPct val="120000"/>
              </a:lnSpc>
              <a:spcAft>
                <a:spcPts val="800"/>
              </a:spcAft>
              <a:buClrTx/>
              <a:buSzTx/>
              <a:buFont typeface="Calibri Light" panose="020F0302020204030204" charset="0"/>
              <a:buNone/>
              <a:tabLst>
                <a:tab pos="1609725" algn="l"/>
              </a:tabLst>
            </a:pPr>
            <a:r>
              <a:rPr lang="en-US" altLang="zh-CN"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lang="zh-CN" altLang="en-US"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①两边同取对数</a:t>
            </a:r>
          </a:p>
          <a:p>
            <a:pPr marL="558800" lvl="1" algn="l" fontAlgn="ctr">
              <a:lnSpc>
                <a:spcPct val="120000"/>
              </a:lnSpc>
              <a:spcAft>
                <a:spcPts val="800"/>
              </a:spcAft>
              <a:buClrTx/>
              <a:buSzTx/>
              <a:buFont typeface="Calibri Light" panose="020F0302020204030204" charset="0"/>
              <a:buNone/>
              <a:tabLst>
                <a:tab pos="1609725" algn="l"/>
              </a:tabLst>
            </a:pPr>
            <a:r>
              <a:rPr lang="en-US" altLang="zh-CN"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lang="zh-CN" altLang="en-US"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②两边同时对x求导</a:t>
            </a:r>
          </a:p>
          <a:p>
            <a:pPr marL="558800" lvl="1" algn="l" fontAlgn="ctr">
              <a:lnSpc>
                <a:spcPct val="120000"/>
              </a:lnSpc>
              <a:spcAft>
                <a:spcPts val="800"/>
              </a:spcAft>
              <a:buClrTx/>
              <a:buSzTx/>
              <a:buFont typeface="Calibri Light" panose="020F0302020204030204" charset="0"/>
              <a:buNone/>
              <a:tabLst>
                <a:tab pos="1609725" algn="l"/>
              </a:tabLst>
            </a:pPr>
            <a:r>
              <a:rPr lang="en-US" altLang="zh-CN"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lang="zh-CN" altLang="en-US"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③解出y’</a:t>
            </a:r>
          </a:p>
          <a:p>
            <a:pPr marL="0" lvl="0" indent="0" algn="l" fontAlgn="ctr">
              <a:lnSpc>
                <a:spcPct val="120000"/>
              </a:lnSpc>
              <a:spcAft>
                <a:spcPts val="800"/>
              </a:spcAft>
              <a:buSzPct val="100000"/>
              <a:buFont typeface="Calibri Light" panose="020F0302020204030204" charset="0"/>
              <a:buNone/>
            </a:pPr>
            <a:endParaRPr lang="zh-CN" altLang="en-US" sz="2800" spc="260">
              <a:solidFill>
                <a:schemeClr val="bg2">
                  <a:lumMod val="50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pic>
        <p:nvPicPr>
          <p:cNvPr id="2" name="图片 1" descr="夸克分享_1702652377586_0"/>
          <p:cNvPicPr>
            <a:picLocks noChangeAspect="1"/>
          </p:cNvPicPr>
          <p:nvPr>
            <p:custDataLst>
              <p:tags r:id="rId6"/>
            </p:custDataLst>
          </p:nvPr>
        </p:nvPicPr>
        <p:blipFill>
          <a:blip r:embed="rId13"/>
          <a:stretch>
            <a:fillRect/>
          </a:stretch>
        </p:blipFill>
        <p:spPr>
          <a:xfrm>
            <a:off x="7192645" y="2559685"/>
            <a:ext cx="2733040" cy="686435"/>
          </a:xfrm>
          <a:prstGeom prst="rect">
            <a:avLst/>
          </a:prstGeom>
        </p:spPr>
      </p:pic>
      <p:sp>
        <p:nvSpPr>
          <p:cNvPr id="5" name="矩形 4"/>
          <p:cNvSpPr/>
          <p:nvPr>
            <p:custDataLst>
              <p:tags r:id="rId7"/>
            </p:custDataLst>
          </p:nvPr>
        </p:nvSpPr>
        <p:spPr>
          <a:xfrm>
            <a:off x="41211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6" name="矩形 5"/>
          <p:cNvSpPr/>
          <p:nvPr>
            <p:custDataLst>
              <p:tags r:id="rId8"/>
            </p:custDataLst>
          </p:nvPr>
        </p:nvSpPr>
        <p:spPr>
          <a:xfrm>
            <a:off x="1145349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pic>
        <p:nvPicPr>
          <p:cNvPr id="3" name="图片 2" descr="夸克分享_1702652531597_0"/>
          <p:cNvPicPr>
            <a:picLocks noChangeAspect="1"/>
          </p:cNvPicPr>
          <p:nvPr>
            <p:custDataLst>
              <p:tags r:id="rId9"/>
            </p:custDataLst>
          </p:nvPr>
        </p:nvPicPr>
        <p:blipFill>
          <a:blip r:embed="rId14"/>
          <a:stretch>
            <a:fillRect/>
          </a:stretch>
        </p:blipFill>
        <p:spPr>
          <a:xfrm>
            <a:off x="7067550" y="3110230"/>
            <a:ext cx="3470910" cy="596265"/>
          </a:xfrm>
          <a:prstGeom prst="rect">
            <a:avLst/>
          </a:prstGeom>
        </p:spPr>
      </p:pic>
      <p:sp>
        <p:nvSpPr>
          <p:cNvPr id="9" name="右箭头 8"/>
          <p:cNvSpPr/>
          <p:nvPr/>
        </p:nvSpPr>
        <p:spPr>
          <a:xfrm>
            <a:off x="5795010" y="2698115"/>
            <a:ext cx="601345" cy="41211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右箭头 13"/>
          <p:cNvSpPr/>
          <p:nvPr/>
        </p:nvSpPr>
        <p:spPr>
          <a:xfrm>
            <a:off x="5800725" y="3246120"/>
            <a:ext cx="595630" cy="410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0" y="156845"/>
            <a:ext cx="4089400" cy="1162050"/>
          </a:xfrm>
          <a:prstGeom prst="rect">
            <a:avLst/>
          </a:prstGeom>
          <a:noFill/>
        </p:spPr>
        <p:txBody>
          <a:bodyPr wrap="square" rtlCol="0" anchor="t">
            <a:noAutofit/>
          </a:bodyPr>
          <a:lstStyle/>
          <a:p>
            <a:pPr marL="0" indent="0" algn="l">
              <a:lnSpc>
                <a:spcPct val="100000"/>
              </a:lnSpc>
              <a:spcBef>
                <a:spcPts val="0"/>
              </a:spcBef>
              <a:buSzPct val="100000"/>
              <a:buNone/>
            </a:pPr>
            <a:r>
              <a:rPr lang="en-US" altLang="zh-CN" sz="4000" b="1">
                <a:solidFill>
                  <a:schemeClr val="dk1">
                    <a:lumMod val="85000"/>
                    <a:lumOff val="15000"/>
                  </a:schemeClr>
                </a:solidFill>
                <a:latin typeface="微软雅黑" panose="020B0503020204020204" charset="-122"/>
                <a:ea typeface="微软雅黑" panose="020B0503020204020204" charset="-122"/>
                <a:cs typeface="微软雅黑" panose="020B0503020204020204" charset="-122"/>
                <a:sym typeface="+mn-ea"/>
              </a:rPr>
              <a:t>3.2导数的计算</a:t>
            </a: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形 11"/>
          <p:cNvPicPr>
            <a:picLocks noChangeAspect="1"/>
          </p:cNvPicPr>
          <p:nvPr>
            <p:custDataLst>
              <p:tags r:id="rId2"/>
            </p:custDataLst>
          </p:nvPr>
        </p:nvPicPr>
        <p:blipFill>
          <a:blip r:embed="rId6">
            <a:extLst>
              <a:ext uri="{96DAC541-7B7A-43D3-8B79-37D633B846F1}">
                <asvg:svgBlip xmlns:asvg="http://schemas.microsoft.com/office/drawing/2016/SVG/main" r:embed="rId7"/>
              </a:ext>
            </a:extLst>
          </a:blip>
          <a:stretch>
            <a:fillRect/>
          </a:stretch>
        </p:blipFill>
        <p:spPr>
          <a:xfrm>
            <a:off x="0" y="0"/>
            <a:ext cx="720090" cy="720090"/>
          </a:xfrm>
          <a:prstGeom prst="rect">
            <a:avLst/>
          </a:prstGeom>
        </p:spPr>
      </p:pic>
      <p:pic>
        <p:nvPicPr>
          <p:cNvPr id="13" name="图形 12"/>
          <p:cNvPicPr>
            <a:picLocks noChangeAspect="1"/>
          </p:cNvPicPr>
          <p:nvPr>
            <p:custDataLst>
              <p:tags r:id="rId3"/>
            </p:custDataLst>
          </p:nvPr>
        </p:nvPicPr>
        <p:blipFill>
          <a:blip r:embed="rId8">
            <a:extLst>
              <a:ext uri="{96DAC541-7B7A-43D3-8B79-37D633B846F1}">
                <asvg:svgBlip xmlns:asvg="http://schemas.microsoft.com/office/drawing/2016/SVG/main" r:embed="rId9"/>
              </a:ext>
            </a:extLst>
          </a:blip>
          <a:stretch>
            <a:fillRect/>
          </a:stretch>
        </p:blipFill>
        <p:spPr>
          <a:xfrm>
            <a:off x="11471910" y="6137910"/>
            <a:ext cx="720090" cy="720090"/>
          </a:xfrm>
          <a:prstGeom prst="rect">
            <a:avLst/>
          </a:prstGeom>
        </p:spPr>
      </p:pic>
      <p:pic>
        <p:nvPicPr>
          <p:cNvPr id="4" name="图片 3"/>
          <p:cNvPicPr>
            <a:picLocks noChangeAspect="1"/>
          </p:cNvPicPr>
          <p:nvPr>
            <p:custDataLst>
              <p:tags r:id="rId4"/>
            </p:custDataLst>
          </p:nvPr>
        </p:nvPicPr>
        <p:blipFill rotWithShape="1">
          <a:blip r:embed="rId10"/>
          <a:srcRect/>
          <a:stretch>
            <a:fillRect/>
          </a:stretch>
        </p:blipFill>
        <p:spPr>
          <a:xfrm>
            <a:off x="635000" y="971538"/>
            <a:ext cx="10922000" cy="4914925"/>
          </a:xfrm>
          <a:prstGeom prst="roundRect">
            <a:avLst>
              <a:gd name="adj" fmla="val 8890"/>
            </a:avLst>
          </a:prstGeom>
          <a:effectLst>
            <a:outerShdw blurRad="279400" dist="88900" dir="2700000" algn="tl" rotWithShape="0">
              <a:srgbClr val="000000">
                <a:alpha val="10000"/>
              </a:srgbClr>
            </a:outerShdw>
          </a:effectLst>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609567" y="457178"/>
            <a:ext cx="9601276" cy="7620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4100" b="1" spc="250">
                <a:solidFill>
                  <a:schemeClr val="tx1"/>
                </a:solidFill>
                <a:uFillTx/>
                <a:latin typeface="微软雅黑" panose="020B0503020204020204" charset="-122"/>
                <a:ea typeface="微软雅黑" panose="020B0503020204020204" charset="-122"/>
                <a:cs typeface="微软雅黑" panose="020B0503020204020204" charset="-122"/>
              </a:rPr>
              <a:t>3.2.2反函数的导数 &amp; 导数表</a:t>
            </a:r>
          </a:p>
        </p:txBody>
      </p:sp>
      <p:pic>
        <p:nvPicPr>
          <p:cNvPr id="8" name="图片 7"/>
          <p:cNvPicPr>
            <a:picLocks noChangeAspect="1"/>
          </p:cNvPicPr>
          <p:nvPr>
            <p:custDataLst>
              <p:tags r:id="rId3"/>
            </p:custDataLst>
          </p:nvPr>
        </p:nvPicPr>
        <p:blipFill rotWithShape="1">
          <a:blip r:embed="rId7"/>
          <a:srcRect/>
          <a:stretch>
            <a:fillRect/>
          </a:stretch>
        </p:blipFill>
        <p:spPr>
          <a:xfrm>
            <a:off x="2871470" y="1510030"/>
            <a:ext cx="8924925" cy="772160"/>
          </a:xfrm>
          <a:custGeom>
            <a:avLst/>
            <a:gdLst/>
            <a:ahLst/>
            <a:cxnLst>
              <a:cxn ang="3">
                <a:pos x="hc" y="t"/>
              </a:cxn>
              <a:cxn ang="cd2">
                <a:pos x="l" y="vc"/>
              </a:cxn>
              <a:cxn ang="cd4">
                <a:pos x="hc" y="b"/>
              </a:cxn>
              <a:cxn ang="0">
                <a:pos x="r" y="vc"/>
              </a:cxn>
            </a:cxnLst>
            <a:rect l="l" t="t" r="r" b="b"/>
            <a:pathLst>
              <a:path w="17280" h="4800">
                <a:moveTo>
                  <a:pt x="0" y="0"/>
                </a:moveTo>
                <a:lnTo>
                  <a:pt x="17280" y="0"/>
                </a:lnTo>
                <a:lnTo>
                  <a:pt x="17280" y="4800"/>
                </a:lnTo>
                <a:lnTo>
                  <a:pt x="0" y="4800"/>
                </a:lnTo>
                <a:lnTo>
                  <a:pt x="0" y="0"/>
                </a:lnTo>
                <a:close/>
              </a:path>
            </a:pathLst>
          </a:custGeom>
        </p:spPr>
      </p:pic>
      <p:sp>
        <p:nvSpPr>
          <p:cNvPr id="9" name="Title 6"/>
          <p:cNvSpPr txBox="1"/>
          <p:nvPr>
            <p:custDataLst>
              <p:tags r:id="rId4"/>
            </p:custDataLst>
          </p:nvPr>
        </p:nvSpPr>
        <p:spPr>
          <a:xfrm>
            <a:off x="302260" y="1595755"/>
            <a:ext cx="9908540" cy="60134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00000"/>
              </a:lnSpc>
              <a:spcBef>
                <a:spcPts val="0"/>
              </a:spcBef>
              <a:spcAft>
                <a:spcPts val="800"/>
              </a:spcAft>
              <a:buSzPct val="100000"/>
              <a:buNone/>
            </a:pPr>
            <a:r>
              <a:rPr lang="zh-CN" altLang="en-US" sz="4000" b="1" spc="280">
                <a:ln w="3175">
                  <a:noFill/>
                  <a:prstDash val="dash"/>
                </a:ln>
                <a:solidFill>
                  <a:schemeClr val="tx1"/>
                </a:solidFill>
                <a:uFillTx/>
                <a:latin typeface="微软雅黑" panose="020B0503020204020204" charset="-122"/>
                <a:ea typeface="微软雅黑" panose="020B0503020204020204" charset="-122"/>
                <a:cs typeface="微软雅黑" panose="020B0503020204020204" charset="-122"/>
              </a:rPr>
              <a:t>反函数条件</a:t>
            </a:r>
            <a:r>
              <a:rPr lang="zh-CN" altLang="en-US" sz="3600" spc="280">
                <a:ln w="3175">
                  <a:noFill/>
                  <a:prstDash val="dash"/>
                </a:ln>
                <a:solidFill>
                  <a:schemeClr val="tx2">
                    <a:lumMod val="50000"/>
                  </a:schemeClr>
                </a:solidFill>
                <a:uFillTx/>
                <a:latin typeface="微软雅黑" panose="020B0503020204020204" charset="-122"/>
                <a:ea typeface="微软雅黑" panose="020B0503020204020204" charset="-122"/>
                <a:cs typeface="微软雅黑" panose="020B0503020204020204" charset="-122"/>
              </a:rPr>
              <a:t>：</a:t>
            </a:r>
          </a:p>
        </p:txBody>
      </p:sp>
      <p:sp>
        <p:nvSpPr>
          <p:cNvPr id="2" name="文本框 1"/>
          <p:cNvSpPr txBox="1"/>
          <p:nvPr/>
        </p:nvSpPr>
        <p:spPr>
          <a:xfrm>
            <a:off x="266065" y="2617470"/>
            <a:ext cx="11130915" cy="1383665"/>
          </a:xfrm>
          <a:prstGeom prst="rect">
            <a:avLst/>
          </a:prstGeom>
          <a:noFill/>
        </p:spPr>
        <p:txBody>
          <a:bodyPr wrap="square" rtlCol="0">
            <a:spAutoFit/>
          </a:bodyPr>
          <a:lstStyle/>
          <a:p>
            <a:r>
              <a:rPr lang="zh-CN" altLang="en-US" sz="3200" b="1" spc="280">
                <a:ln w="3175">
                  <a:noFill/>
                  <a:prstDash val="dash"/>
                </a:ln>
                <a:solidFill>
                  <a:schemeClr val="tx1"/>
                </a:solidFill>
                <a:effectLst/>
                <a:uFillTx/>
                <a:latin typeface="微软雅黑" panose="020B0503020204020204" charset="-122"/>
                <a:ea typeface="微软雅黑" panose="020B0503020204020204" charset="-122"/>
                <a:cs typeface="微软雅黑" panose="020B0503020204020204" charset="-122"/>
              </a:rPr>
              <a:t>解释</a:t>
            </a:r>
            <a:r>
              <a:rPr lang="zh-CN" altLang="en-US" sz="3600" spc="280">
                <a:ln w="3175">
                  <a:noFill/>
                  <a:prstDash val="dash"/>
                </a:ln>
                <a:solidFill>
                  <a:schemeClr val="tx1"/>
                </a:solidFill>
                <a:effectLst/>
                <a:uFillTx/>
                <a:latin typeface="微软雅黑" panose="020B0503020204020204" charset="-122"/>
                <a:ea typeface="微软雅黑" panose="020B0503020204020204" charset="-122"/>
                <a:cs typeface="微软雅黑" panose="020B0503020204020204" charset="-122"/>
              </a:rPr>
              <a:t>：</a:t>
            </a:r>
            <a:r>
              <a:rPr lang="zh-CN" altLang="en-US" sz="2400">
                <a:solidFill>
                  <a:schemeClr val="bg2">
                    <a:lumMod val="50000"/>
                  </a:schemeClr>
                </a:solidFill>
              </a:rPr>
              <a:t>一个函数如果有反函数的就必须是单调的，而且不存在两个值，值与值之间是一一对应的，并且因变量和自变量之间是双射的，否则在原函数和反函数这两个函数一定会存在一对多和多对一的情况。</a:t>
            </a:r>
          </a:p>
        </p:txBody>
      </p:sp>
      <p:sp>
        <p:nvSpPr>
          <p:cNvPr id="4" name="文本框 3"/>
          <p:cNvSpPr txBox="1"/>
          <p:nvPr/>
        </p:nvSpPr>
        <p:spPr>
          <a:xfrm>
            <a:off x="302260" y="4421505"/>
            <a:ext cx="1605915" cy="661035"/>
          </a:xfrm>
          <a:prstGeom prst="rect">
            <a:avLst/>
          </a:prstGeom>
          <a:noFill/>
        </p:spPr>
        <p:txBody>
          <a:bodyPr wrap="square" rtlCol="0">
            <a:noAutofit/>
          </a:bodyPr>
          <a:lstStyle/>
          <a:p>
            <a:r>
              <a:rPr lang="zh-CN" altLang="en-US" sz="3200" b="1" spc="280">
                <a:ln w="3175">
                  <a:noFill/>
                  <a:prstDash val="dash"/>
                </a:ln>
                <a:solidFill>
                  <a:schemeClr val="tx1"/>
                </a:solidFill>
                <a:effectLst/>
                <a:uFillTx/>
                <a:latin typeface="微软雅黑" panose="020B0503020204020204" charset="-122"/>
                <a:ea typeface="微软雅黑" panose="020B0503020204020204" charset="-122"/>
                <a:cs typeface="微软雅黑" panose="020B0503020204020204" charset="-122"/>
              </a:rPr>
              <a:t>求导：</a:t>
            </a:r>
          </a:p>
        </p:txBody>
      </p:sp>
      <p:pic>
        <p:nvPicPr>
          <p:cNvPr id="5" name="图片 4" descr="W44VD_O]VG0XCI4)71ILJKF"/>
          <p:cNvPicPr>
            <a:picLocks noChangeAspect="1"/>
          </p:cNvPicPr>
          <p:nvPr>
            <p:custDataLst>
              <p:tags r:id="rId5"/>
            </p:custDataLst>
          </p:nvPr>
        </p:nvPicPr>
        <p:blipFill>
          <a:blip r:embed="rId8"/>
          <a:stretch>
            <a:fillRect/>
          </a:stretch>
        </p:blipFill>
        <p:spPr>
          <a:xfrm>
            <a:off x="2947670" y="4479290"/>
            <a:ext cx="8999855" cy="830580"/>
          </a:xfrm>
          <a:prstGeom prst="rect">
            <a:avLst/>
          </a:prstGeom>
          <a:effectLst>
            <a:softEdge rad="12700"/>
          </a:effectLst>
        </p:spPr>
      </p:pic>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形 11"/>
          <p:cNvPicPr>
            <a:picLocks noChangeAspect="1"/>
          </p:cNvPicPr>
          <p:nvPr>
            <p:custDataLst>
              <p:tags r:id="rId2"/>
            </p:custDataLst>
          </p:nvPr>
        </p:nvPicPr>
        <p:blipFill>
          <a:blip r:embed="rId31">
            <a:extLst>
              <a:ext uri="{96DAC541-7B7A-43D3-8B79-37D633B846F1}">
                <asvg:svgBlip xmlns:asvg="http://schemas.microsoft.com/office/drawing/2016/SVG/main" r:embed="rId32"/>
              </a:ext>
            </a:extLst>
          </a:blip>
          <a:stretch>
            <a:fillRect/>
          </a:stretch>
        </p:blipFill>
        <p:spPr>
          <a:xfrm>
            <a:off x="0" y="0"/>
            <a:ext cx="720090" cy="720090"/>
          </a:xfrm>
          <a:prstGeom prst="rect">
            <a:avLst/>
          </a:prstGeom>
        </p:spPr>
      </p:pic>
      <p:pic>
        <p:nvPicPr>
          <p:cNvPr id="13" name="图形 12"/>
          <p:cNvPicPr>
            <a:picLocks noChangeAspect="1"/>
          </p:cNvPicPr>
          <p:nvPr>
            <p:custDataLst>
              <p:tags r:id="rId3"/>
            </p:custDataLst>
          </p:nvPr>
        </p:nvPicPr>
        <p:blipFill>
          <a:blip r:embed="rId33">
            <a:extLst>
              <a:ext uri="{96DAC541-7B7A-43D3-8B79-37D633B846F1}">
                <asvg:svgBlip xmlns:asvg="http://schemas.microsoft.com/office/drawing/2016/SVG/main" r:embed="rId34"/>
              </a:ext>
            </a:extLst>
          </a:blip>
          <a:stretch>
            <a:fillRect/>
          </a:stretch>
        </p:blipFill>
        <p:spPr>
          <a:xfrm>
            <a:off x="11471910" y="6137910"/>
            <a:ext cx="720090" cy="720090"/>
          </a:xfrm>
          <a:prstGeom prst="rect">
            <a:avLst/>
          </a:prstGeom>
        </p:spPr>
      </p:pic>
      <p:grpSp>
        <p:nvGrpSpPr>
          <p:cNvPr id="2" name="组合 1"/>
          <p:cNvGrpSpPr/>
          <p:nvPr>
            <p:custDataLst>
              <p:tags r:id="rId4"/>
            </p:custDataLst>
          </p:nvPr>
        </p:nvGrpSpPr>
        <p:grpSpPr>
          <a:xfrm>
            <a:off x="570230" y="217274"/>
            <a:ext cx="680706" cy="157696"/>
            <a:chOff x="6096000" y="3052233"/>
            <a:chExt cx="1270015" cy="294217"/>
          </a:xfrm>
        </p:grpSpPr>
        <p:sp>
          <p:nvSpPr>
            <p:cNvPr id="5" name="椭圆 4"/>
            <p:cNvSpPr/>
            <p:nvPr>
              <p:custDataLst>
                <p:tags r:id="rId26"/>
              </p:custDataLst>
            </p:nvPr>
          </p:nvSpPr>
          <p:spPr>
            <a:xfrm>
              <a:off x="6096000" y="3052233"/>
              <a:ext cx="294217" cy="2942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latin typeface="微软雅黑" panose="020B0503020204020204" charset="-122"/>
                <a:ea typeface="微软雅黑" panose="020B0503020204020204" charset="-122"/>
              </a:endParaRPr>
            </a:p>
          </p:txBody>
        </p:sp>
        <p:sp>
          <p:nvSpPr>
            <p:cNvPr id="7" name="等腰三角形 6"/>
            <p:cNvSpPr/>
            <p:nvPr>
              <p:custDataLst>
                <p:tags r:id="rId27"/>
              </p:custDataLst>
            </p:nvPr>
          </p:nvSpPr>
          <p:spPr>
            <a:xfrm>
              <a:off x="6422761" y="3067052"/>
              <a:ext cx="306912" cy="2645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latin typeface="微软雅黑" panose="020B0503020204020204" charset="-122"/>
                <a:ea typeface="微软雅黑" panose="020B0503020204020204" charset="-122"/>
              </a:endParaRPr>
            </a:p>
          </p:txBody>
        </p:sp>
        <p:sp>
          <p:nvSpPr>
            <p:cNvPr id="8" name="矩形 7"/>
            <p:cNvSpPr/>
            <p:nvPr>
              <p:custDataLst>
                <p:tags r:id="rId28"/>
              </p:custDataLst>
            </p:nvPr>
          </p:nvSpPr>
          <p:spPr>
            <a:xfrm>
              <a:off x="6791855" y="3067050"/>
              <a:ext cx="264584" cy="264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latin typeface="微软雅黑" panose="020B0503020204020204" charset="-122"/>
                <a:ea typeface="微软雅黑" panose="020B0503020204020204" charset="-122"/>
              </a:endParaRPr>
            </a:p>
          </p:txBody>
        </p:sp>
        <p:sp>
          <p:nvSpPr>
            <p:cNvPr id="9" name="椭圆 8"/>
            <p:cNvSpPr/>
            <p:nvPr>
              <p:custDataLst>
                <p:tags r:id="rId29"/>
              </p:custDataLst>
            </p:nvPr>
          </p:nvSpPr>
          <p:spPr>
            <a:xfrm>
              <a:off x="7131065" y="3081868"/>
              <a:ext cx="234950" cy="234948"/>
            </a:xfrm>
            <a:prstGeom prst="ellipse">
              <a:avLst/>
            </a:prstGeom>
            <a:noFill/>
            <a:ln w="28575" cmpd="sng">
              <a:solidFill>
                <a:schemeClr val="dk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grpSp>
        <p:nvGrpSpPr>
          <p:cNvPr id="11" name="组合 10"/>
          <p:cNvGrpSpPr/>
          <p:nvPr>
            <p:custDataLst>
              <p:tags r:id="rId5"/>
            </p:custDataLst>
          </p:nvPr>
        </p:nvGrpSpPr>
        <p:grpSpPr>
          <a:xfrm>
            <a:off x="1888332" y="6130929"/>
            <a:ext cx="8415337" cy="74613"/>
            <a:chOff x="1872871" y="6130929"/>
            <a:chExt cx="8415337" cy="74613"/>
          </a:xfrm>
        </p:grpSpPr>
        <p:cxnSp>
          <p:nvCxnSpPr>
            <p:cNvPr id="12" name="直接连接符 11"/>
            <p:cNvCxnSpPr/>
            <p:nvPr>
              <p:custDataLst>
                <p:tags r:id="rId17"/>
              </p:custDataLst>
            </p:nvPr>
          </p:nvCxnSpPr>
          <p:spPr>
            <a:xfrm>
              <a:off x="1872871" y="6130929"/>
              <a:ext cx="0" cy="74613"/>
            </a:xfrm>
            <a:prstGeom prst="line">
              <a:avLst/>
            </a:prstGeom>
            <a:ln w="12700">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18"/>
              </p:custDataLst>
            </p:nvPr>
          </p:nvCxnSpPr>
          <p:spPr>
            <a:xfrm>
              <a:off x="3976705" y="6130929"/>
              <a:ext cx="0" cy="74613"/>
            </a:xfrm>
            <a:prstGeom prst="line">
              <a:avLst/>
            </a:prstGeom>
            <a:ln w="12700">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9"/>
              </p:custDataLst>
            </p:nvPr>
          </p:nvCxnSpPr>
          <p:spPr>
            <a:xfrm>
              <a:off x="6080539" y="6130929"/>
              <a:ext cx="0" cy="74613"/>
            </a:xfrm>
            <a:prstGeom prst="line">
              <a:avLst/>
            </a:prstGeom>
            <a:ln w="12700">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20"/>
              </p:custDataLst>
            </p:nvPr>
          </p:nvCxnSpPr>
          <p:spPr>
            <a:xfrm>
              <a:off x="8184373" y="6130929"/>
              <a:ext cx="0" cy="74613"/>
            </a:xfrm>
            <a:prstGeom prst="line">
              <a:avLst/>
            </a:prstGeom>
            <a:ln w="12700">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21"/>
              </p:custDataLst>
            </p:nvPr>
          </p:nvCxnSpPr>
          <p:spPr>
            <a:xfrm>
              <a:off x="10288208" y="6130929"/>
              <a:ext cx="0" cy="74613"/>
            </a:xfrm>
            <a:prstGeom prst="line">
              <a:avLst/>
            </a:prstGeom>
            <a:ln w="12700">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22"/>
              </p:custDataLst>
            </p:nvPr>
          </p:nvCxnSpPr>
          <p:spPr>
            <a:xfrm>
              <a:off x="9236290" y="6168235"/>
              <a:ext cx="0" cy="36000"/>
            </a:xfrm>
            <a:prstGeom prst="line">
              <a:avLst/>
            </a:prstGeom>
            <a:ln>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23"/>
              </p:custDataLst>
            </p:nvPr>
          </p:nvCxnSpPr>
          <p:spPr>
            <a:xfrm>
              <a:off x="7132456" y="6168235"/>
              <a:ext cx="0" cy="36000"/>
            </a:xfrm>
            <a:prstGeom prst="line">
              <a:avLst/>
            </a:prstGeom>
            <a:ln>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24"/>
              </p:custDataLst>
            </p:nvPr>
          </p:nvCxnSpPr>
          <p:spPr>
            <a:xfrm>
              <a:off x="5028622" y="6168235"/>
              <a:ext cx="0" cy="36000"/>
            </a:xfrm>
            <a:prstGeom prst="line">
              <a:avLst/>
            </a:prstGeom>
            <a:ln>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5"/>
              </p:custDataLst>
            </p:nvPr>
          </p:nvCxnSpPr>
          <p:spPr>
            <a:xfrm>
              <a:off x="2924788" y="6168235"/>
              <a:ext cx="0" cy="36000"/>
            </a:xfrm>
            <a:prstGeom prst="line">
              <a:avLst/>
            </a:prstGeom>
            <a:ln>
              <a:solidFill>
                <a:schemeClr val="dk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22" name="椭圆 21"/>
          <p:cNvSpPr/>
          <p:nvPr>
            <p:custDataLst>
              <p:tags r:id="rId6"/>
            </p:custDataLst>
          </p:nvPr>
        </p:nvSpPr>
        <p:spPr>
          <a:xfrm>
            <a:off x="11607165" y="2759075"/>
            <a:ext cx="53975" cy="53975"/>
          </a:xfrm>
          <a:prstGeom prst="ellipse">
            <a:avLst/>
          </a:prstGeom>
          <a:solidFill>
            <a:srgbClr val="90726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7"/>
            </p:custDataLst>
          </p:nvPr>
        </p:nvSpPr>
        <p:spPr>
          <a:xfrm>
            <a:off x="11607165" y="3002280"/>
            <a:ext cx="53975" cy="53975"/>
          </a:xfrm>
          <a:prstGeom prst="ellipse">
            <a:avLst/>
          </a:prstGeom>
          <a:solidFill>
            <a:srgbClr val="90726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8"/>
            </p:custDataLst>
          </p:nvPr>
        </p:nvSpPr>
        <p:spPr>
          <a:xfrm>
            <a:off x="11607165" y="4429125"/>
            <a:ext cx="53975" cy="53975"/>
          </a:xfrm>
          <a:prstGeom prst="ellipse">
            <a:avLst/>
          </a:prstGeom>
          <a:solidFill>
            <a:srgbClr val="90726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5" name="椭圆 24"/>
          <p:cNvSpPr/>
          <p:nvPr>
            <p:custDataLst>
              <p:tags r:id="rId9"/>
            </p:custDataLst>
          </p:nvPr>
        </p:nvSpPr>
        <p:spPr>
          <a:xfrm>
            <a:off x="11607165" y="4671695"/>
            <a:ext cx="53975" cy="53975"/>
          </a:xfrm>
          <a:prstGeom prst="ellipse">
            <a:avLst/>
          </a:prstGeom>
          <a:solidFill>
            <a:srgbClr val="90726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nvGrpSpPr>
          <p:cNvPr id="26" name="组合 25"/>
          <p:cNvGrpSpPr/>
          <p:nvPr>
            <p:custDataLst>
              <p:tags r:id="rId10"/>
            </p:custDataLst>
          </p:nvPr>
        </p:nvGrpSpPr>
        <p:grpSpPr>
          <a:xfrm rot="16200000">
            <a:off x="11250930" y="3646170"/>
            <a:ext cx="765810" cy="182880"/>
            <a:chOff x="8953" y="9433"/>
            <a:chExt cx="1206" cy="288"/>
          </a:xfrm>
        </p:grpSpPr>
        <p:sp>
          <p:nvSpPr>
            <p:cNvPr id="30" name="矩形 29"/>
            <p:cNvSpPr/>
            <p:nvPr>
              <p:custDataLst>
                <p:tags r:id="rId14"/>
              </p:custDataLst>
            </p:nvPr>
          </p:nvSpPr>
          <p:spPr>
            <a:xfrm rot="2700000">
              <a:off x="8953" y="9481"/>
              <a:ext cx="194" cy="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31" name="矩形 30"/>
            <p:cNvSpPr/>
            <p:nvPr>
              <p:custDataLst>
                <p:tags r:id="rId15"/>
              </p:custDataLst>
            </p:nvPr>
          </p:nvSpPr>
          <p:spPr>
            <a:xfrm rot="2700000">
              <a:off x="9965" y="9480"/>
              <a:ext cx="194" cy="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32" name="矩形 31"/>
            <p:cNvSpPr/>
            <p:nvPr>
              <p:custDataLst>
                <p:tags r:id="rId16"/>
              </p:custDataLst>
            </p:nvPr>
          </p:nvSpPr>
          <p:spPr>
            <a:xfrm rot="2700000">
              <a:off x="9404" y="9433"/>
              <a:ext cx="289" cy="2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33" name="直接连接符 32"/>
          <p:cNvCxnSpPr/>
          <p:nvPr>
            <p:custDataLst>
              <p:tags r:id="rId11"/>
            </p:custDataLst>
          </p:nvPr>
        </p:nvCxnSpPr>
        <p:spPr>
          <a:xfrm>
            <a:off x="0" y="615950"/>
            <a:ext cx="12192000" cy="0"/>
          </a:xfrm>
          <a:prstGeom prst="line">
            <a:avLst/>
          </a:prstGeom>
          <a:ln>
            <a:solidFill>
              <a:schemeClr val="lt1">
                <a:lumMod val="75000"/>
                <a:alpha val="99000"/>
              </a:schemeClr>
            </a:solidFill>
          </a:ln>
        </p:spPr>
        <p:style>
          <a:lnRef idx="1">
            <a:schemeClr val="accent1"/>
          </a:lnRef>
          <a:fillRef idx="0">
            <a:schemeClr val="accent1"/>
          </a:fillRef>
          <a:effectRef idx="0">
            <a:schemeClr val="accent1"/>
          </a:effectRef>
          <a:fontRef idx="minor">
            <a:schemeClr val="tx1"/>
          </a:fontRef>
        </p:style>
      </p:cxnSp>
      <p:sp>
        <p:nvSpPr>
          <p:cNvPr id="6" name="Title 6"/>
          <p:cNvSpPr txBox="1"/>
          <p:nvPr>
            <p:custDataLst>
              <p:tags r:id="rId12"/>
            </p:custDataLst>
          </p:nvPr>
        </p:nvSpPr>
        <p:spPr>
          <a:xfrm>
            <a:off x="1593850" y="1136015"/>
            <a:ext cx="8616950" cy="997585"/>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00000"/>
              </a:lnSpc>
              <a:spcBef>
                <a:spcPts val="0"/>
              </a:spcBef>
              <a:spcAft>
                <a:spcPts val="800"/>
              </a:spcAft>
              <a:buSzPct val="100000"/>
              <a:buNone/>
            </a:pPr>
            <a:r>
              <a:rPr lang="zh-CN" altLang="en-US" sz="4000" b="1" spc="270">
                <a:solidFill>
                  <a:schemeClr val="tx1"/>
                </a:solidFill>
                <a:effectLst>
                  <a:outerShdw blurRad="38100" dist="25400" dir="5400000" algn="ctr" rotWithShape="0">
                    <a:srgbClr val="6E747A">
                      <a:alpha val="43000"/>
                    </a:srgbClr>
                  </a:outerShdw>
                </a:effectLst>
                <a:uFillTx/>
                <a:latin typeface="微软雅黑" panose="020B0503020204020204" charset="-122"/>
                <a:ea typeface="微软雅黑" panose="020B0503020204020204" charset="-122"/>
                <a:cs typeface="微软雅黑" panose="020B0503020204020204" charset="-122"/>
              </a:rPr>
              <a:t>例：求y=arcsin(x)的导数</a:t>
            </a:r>
          </a:p>
        </p:txBody>
      </p:sp>
      <p:pic>
        <p:nvPicPr>
          <p:cNvPr id="10" name="图片 9"/>
          <p:cNvPicPr>
            <a:picLocks noChangeAspect="1"/>
          </p:cNvPicPr>
          <p:nvPr>
            <p:custDataLst>
              <p:tags r:id="rId13"/>
            </p:custDataLst>
          </p:nvPr>
        </p:nvPicPr>
        <p:blipFill rotWithShape="1">
          <a:blip r:embed="rId35"/>
          <a:srcRect/>
          <a:stretch>
            <a:fillRect/>
          </a:stretch>
        </p:blipFill>
        <p:spPr>
          <a:xfrm>
            <a:off x="506730" y="3056255"/>
            <a:ext cx="11040745" cy="1715770"/>
          </a:xfrm>
          <a:prstGeom prst="roundRect">
            <a:avLst>
              <a:gd name="adj" fmla="val 8890"/>
            </a:avLst>
          </a:prstGeom>
          <a:effectLst>
            <a:outerShdw blurRad="279400" dist="88900" dir="2700000" algn="tl" rotWithShape="0">
              <a:srgbClr val="000000">
                <a:alpha val="10000"/>
              </a:srgbClr>
            </a:outerShdw>
          </a:effectLst>
        </p:spPr>
      </p:pic>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形 11"/>
          <p:cNvPicPr>
            <a:picLocks noChangeAspect="1"/>
          </p:cNvPicPr>
          <p:nvPr>
            <p:custDataLst>
              <p:tags r:id="rId2"/>
            </p:custDataLst>
          </p:nvPr>
        </p:nvPicPr>
        <p:blipFill>
          <a:blip r:embed="rId6">
            <a:extLst>
              <a:ext uri="{96DAC541-7B7A-43D3-8B79-37D633B846F1}">
                <asvg:svgBlip xmlns:asvg="http://schemas.microsoft.com/office/drawing/2016/SVG/main" r:embed="rId7"/>
              </a:ext>
            </a:extLst>
          </a:blip>
          <a:stretch>
            <a:fillRect/>
          </a:stretch>
        </p:blipFill>
        <p:spPr>
          <a:xfrm>
            <a:off x="0" y="0"/>
            <a:ext cx="720090" cy="720090"/>
          </a:xfrm>
          <a:prstGeom prst="rect">
            <a:avLst/>
          </a:prstGeom>
        </p:spPr>
      </p:pic>
      <p:pic>
        <p:nvPicPr>
          <p:cNvPr id="13" name="图形 12"/>
          <p:cNvPicPr>
            <a:picLocks noChangeAspect="1"/>
          </p:cNvPicPr>
          <p:nvPr>
            <p:custDataLst>
              <p:tags r:id="rId3"/>
            </p:custDataLst>
          </p:nvPr>
        </p:nvPicPr>
        <p:blipFill>
          <a:blip r:embed="rId8">
            <a:extLst>
              <a:ext uri="{96DAC541-7B7A-43D3-8B79-37D633B846F1}">
                <asvg:svgBlip xmlns:asvg="http://schemas.microsoft.com/office/drawing/2016/SVG/main" r:embed="rId9"/>
              </a:ext>
            </a:extLst>
          </a:blip>
          <a:stretch>
            <a:fillRect/>
          </a:stretch>
        </p:blipFill>
        <p:spPr>
          <a:xfrm>
            <a:off x="11471910" y="6137910"/>
            <a:ext cx="720090" cy="720090"/>
          </a:xfrm>
          <a:prstGeom prst="rect">
            <a:avLst/>
          </a:prstGeom>
        </p:spPr>
      </p:pic>
      <p:pic>
        <p:nvPicPr>
          <p:cNvPr id="3" name="图片 2"/>
          <p:cNvPicPr>
            <a:picLocks noChangeAspect="1"/>
          </p:cNvPicPr>
          <p:nvPr>
            <p:custDataLst>
              <p:tags r:id="rId4"/>
            </p:custDataLst>
          </p:nvPr>
        </p:nvPicPr>
        <p:blipFill rotWithShape="1">
          <a:blip r:embed="rId10"/>
          <a:srcRect/>
          <a:stretch>
            <a:fillRect/>
          </a:stretch>
        </p:blipFill>
        <p:spPr>
          <a:xfrm>
            <a:off x="2210752" y="615639"/>
            <a:ext cx="7770495" cy="5626722"/>
          </a:xfrm>
          <a:custGeom>
            <a:avLst/>
            <a:gdLst/>
            <a:ahLst/>
            <a:cxnLst>
              <a:cxn ang="3">
                <a:pos x="hc" y="t"/>
              </a:cxn>
              <a:cxn ang="cd2">
                <a:pos x="l" y="vc"/>
              </a:cxn>
              <a:cxn ang="cd4">
                <a:pos x="hc" y="b"/>
              </a:cxn>
              <a:cxn ang="0">
                <a:pos x="r" y="vc"/>
              </a:cxn>
            </a:cxnLst>
            <a:rect l="l" t="t" r="r" b="b"/>
            <a:pathLst>
              <a:path w="17280" h="6480">
                <a:moveTo>
                  <a:pt x="0" y="0"/>
                </a:moveTo>
                <a:lnTo>
                  <a:pt x="17280" y="0"/>
                </a:lnTo>
                <a:lnTo>
                  <a:pt x="17280" y="6480"/>
                </a:lnTo>
                <a:lnTo>
                  <a:pt x="0" y="6480"/>
                </a:lnTo>
                <a:lnTo>
                  <a:pt x="0" y="0"/>
                </a:lnTo>
                <a:close/>
              </a:path>
            </a:pathLst>
          </a:custGeom>
          <a:ln w="38100">
            <a:solidFill>
              <a:srgbClr val="000000"/>
            </a:solidFill>
          </a:ln>
        </p:spPr>
      </p:pic>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形 11"/>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0" y="0"/>
            <a:ext cx="720090" cy="720090"/>
          </a:xfrm>
          <a:prstGeom prst="rect">
            <a:avLst/>
          </a:prstGeom>
        </p:spPr>
      </p:pic>
      <p:pic>
        <p:nvPicPr>
          <p:cNvPr id="13" name="图形 12"/>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11471910" y="6137910"/>
            <a:ext cx="720090" cy="720090"/>
          </a:xfrm>
          <a:prstGeom prst="rect">
            <a:avLst/>
          </a:prstGeom>
        </p:spPr>
      </p:pic>
      <p:sp>
        <p:nvSpPr>
          <p:cNvPr id="9" name="任意多边形: 形状 8"/>
          <p:cNvSpPr/>
          <p:nvPr>
            <p:custDataLst>
              <p:tags r:id="rId4"/>
            </p:custDataLst>
          </p:nvPr>
        </p:nvSpPr>
        <p:spPr>
          <a:xfrm>
            <a:off x="0" y="2477770"/>
            <a:ext cx="12192000" cy="4380230"/>
          </a:xfrm>
          <a:custGeom>
            <a:avLst/>
            <a:gdLst>
              <a:gd name="connsiteX0" fmla="*/ 5197620 w 12192000"/>
              <a:gd name="connsiteY0" fmla="*/ 0 h 4380230"/>
              <a:gd name="connsiteX1" fmla="*/ 7834487 w 12192000"/>
              <a:gd name="connsiteY1" fmla="*/ 0 h 4380230"/>
              <a:gd name="connsiteX2" fmla="*/ 8158288 w 12192000"/>
              <a:gd name="connsiteY2" fmla="*/ 25223 h 4380230"/>
              <a:gd name="connsiteX3" fmla="*/ 11699343 w 12192000"/>
              <a:gd name="connsiteY3" fmla="*/ 764665 h 4380230"/>
              <a:gd name="connsiteX4" fmla="*/ 12192000 w 12192000"/>
              <a:gd name="connsiteY4" fmla="*/ 959976 h 4380230"/>
              <a:gd name="connsiteX5" fmla="*/ 12192000 w 12192000"/>
              <a:gd name="connsiteY5" fmla="*/ 4380230 h 4380230"/>
              <a:gd name="connsiteX6" fmla="*/ 0 w 12192000"/>
              <a:gd name="connsiteY6" fmla="*/ 4380230 h 4380230"/>
              <a:gd name="connsiteX7" fmla="*/ 0 w 12192000"/>
              <a:gd name="connsiteY7" fmla="*/ 1379581 h 4380230"/>
              <a:gd name="connsiteX8" fmla="*/ 228168 w 12192000"/>
              <a:gd name="connsiteY8" fmla="*/ 1246487 h 4380230"/>
              <a:gd name="connsiteX9" fmla="*/ 4873819 w 12192000"/>
              <a:gd name="connsiteY9" fmla="*/ 25223 h 438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4380230">
                <a:moveTo>
                  <a:pt x="5197620" y="0"/>
                </a:moveTo>
                <a:lnTo>
                  <a:pt x="7834487" y="0"/>
                </a:lnTo>
                <a:lnTo>
                  <a:pt x="8158288" y="25223"/>
                </a:lnTo>
                <a:cubicBezTo>
                  <a:pt x="9484429" y="143593"/>
                  <a:pt x="10693225" y="402481"/>
                  <a:pt x="11699343" y="764665"/>
                </a:cubicBezTo>
                <a:lnTo>
                  <a:pt x="12192000" y="959976"/>
                </a:lnTo>
                <a:lnTo>
                  <a:pt x="12192000" y="4380230"/>
                </a:lnTo>
                <a:lnTo>
                  <a:pt x="0" y="4380230"/>
                </a:lnTo>
                <a:lnTo>
                  <a:pt x="0" y="1379581"/>
                </a:lnTo>
                <a:lnTo>
                  <a:pt x="228168" y="1246487"/>
                </a:lnTo>
                <a:cubicBezTo>
                  <a:pt x="1390619" y="632074"/>
                  <a:pt x="3017220" y="190941"/>
                  <a:pt x="4873819" y="25223"/>
                </a:cubicBez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1" name="圆角矩形 10"/>
          <p:cNvSpPr/>
          <p:nvPr>
            <p:custDataLst>
              <p:tags r:id="rId5"/>
            </p:custDataLst>
          </p:nvPr>
        </p:nvSpPr>
        <p:spPr>
          <a:xfrm>
            <a:off x="582930" y="1645920"/>
            <a:ext cx="11048365" cy="4848860"/>
          </a:xfrm>
          <a:prstGeom prst="roundRect">
            <a:avLst>
              <a:gd name="adj" fmla="val 3666"/>
            </a:avLst>
          </a:prstGeom>
          <a:solidFill>
            <a:schemeClr val="lt1"/>
          </a:solidFill>
          <a:ln w="19050">
            <a:noFill/>
          </a:ln>
          <a:effectLst>
            <a:outerShdw blurRad="1270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7" name="标题 1"/>
          <p:cNvSpPr>
            <a:spLocks noGrp="1"/>
          </p:cNvSpPr>
          <p:nvPr>
            <p:custDataLst>
              <p:tags r:id="rId6"/>
            </p:custDataLst>
          </p:nvPr>
        </p:nvSpPr>
        <p:spPr>
          <a:xfrm>
            <a:off x="1038860" y="343535"/>
            <a:ext cx="10111739" cy="788035"/>
          </a:xfrm>
          <a:prstGeom prst="rect">
            <a:avLst/>
          </a:prstGeom>
        </p:spPr>
        <p:txBody>
          <a:bodyPr vert="horz" lIns="101600" tIns="38100" rIns="76200" bIns="38100" rtlCol="0" anchor="t" anchorCtr="0">
            <a:normAutofit/>
          </a:bodyPr>
          <a:lst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微软雅黑" panose="020B0503020204020204" charset="-122"/>
                <a:ea typeface="微软雅黑" panose="020B0503020204020204" charset="-122"/>
                <a:cs typeface="+mj-cs"/>
              </a:defRPr>
            </a:lvl1pPr>
          </a:lstStyle>
          <a:p>
            <a:pPr marL="0" indent="0" algn="ctr">
              <a:lnSpc>
                <a:spcPct val="100000"/>
              </a:lnSpc>
              <a:spcBef>
                <a:spcPts val="0"/>
              </a:spcBef>
              <a:spcAft>
                <a:spcPts val="0"/>
              </a:spcAft>
              <a:buSzPct val="100000"/>
              <a:buNone/>
            </a:pPr>
            <a:r>
              <a:rPr lang="en-US" altLang="zh-CN" sz="4000" spc="240">
                <a:solidFill>
                  <a:schemeClr val="tx1"/>
                </a:solidFill>
                <a:uFillTx/>
                <a:cs typeface="微软雅黑" panose="020B0503020204020204" charset="-122"/>
              </a:rPr>
              <a:t>3.2.3相关变化率</a:t>
            </a:r>
          </a:p>
        </p:txBody>
      </p:sp>
      <p:sp>
        <p:nvSpPr>
          <p:cNvPr id="10" name="文本框 9"/>
          <p:cNvSpPr txBox="1"/>
          <p:nvPr>
            <p:custDataLst>
              <p:tags r:id="rId7"/>
            </p:custDataLst>
          </p:nvPr>
        </p:nvSpPr>
        <p:spPr>
          <a:xfrm>
            <a:off x="1038860" y="1880235"/>
            <a:ext cx="10111740" cy="4380230"/>
          </a:xfrm>
          <a:prstGeom prst="rect">
            <a:avLst/>
          </a:prstGeom>
          <a:noFill/>
        </p:spPr>
        <p:txBody>
          <a:bodyPr vert="horz" lIns="90000" tIns="46800" rIns="90000" bIns="46800" rtlCol="0" anchor="t" anchorCtr="0">
            <a:noAutofit/>
          </a:bodyPr>
          <a:lstStyle>
            <a:lvl1pPr marL="285750" indent="-285750" fontAlgn="auto">
              <a:lnSpc>
                <a:spcPct val="150000"/>
              </a:lnSpc>
              <a:spcBef>
                <a:spcPts val="0"/>
              </a:spcBef>
              <a:spcAft>
                <a:spcPts val="800"/>
              </a:spcAft>
              <a:buFont typeface="+mj-ea"/>
              <a:buAutoNum type="ea1JpnChsDbPeriod"/>
              <a:defRPr sz="1100" u="none" strike="noStrike" cap="none" spc="150" normalizeH="0" baseline="0">
                <a:solidFill>
                  <a:schemeClr val="tx1">
                    <a:lumMod val="95000"/>
                    <a:lumOff val="5000"/>
                  </a:scheme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微软雅黑" panose="020B0503020204020204" charset="-122"/>
                <a:ea typeface="微软雅黑" panose="020B050302020402020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04800" lvl="0" indent="-304800" algn="l">
              <a:lnSpc>
                <a:spcPct val="120000"/>
              </a:lnSpc>
              <a:buSzPct val="100000"/>
            </a:pPr>
            <a:r>
              <a:rPr lang="en-US" altLang="zh-CN" sz="1800" b="1"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确定自变量和因变量</a:t>
            </a:r>
            <a:r>
              <a:rPr lang="en-US" altLang="zh-CN" sz="1800"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a:t>
            </a:r>
            <a:r>
              <a:rPr lang="en-US" altLang="zh-CN" sz="1800" spc="80">
                <a:solidFill>
                  <a:schemeClr val="accent1">
                    <a:lumMod val="75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首先需要明确哪个变量是自变量，哪个变量是因变量。在给定的问题中，自变量通常是变化的因素，而因变量是随着自变量的变化而变化的量。</a:t>
            </a:r>
          </a:p>
          <a:p>
            <a:pPr marL="304800" lvl="0" indent="-304800" algn="l">
              <a:lnSpc>
                <a:spcPct val="120000"/>
              </a:lnSpc>
              <a:buSzPct val="100000"/>
            </a:pPr>
            <a:r>
              <a:rPr lang="en-US" altLang="zh-CN" sz="1800" b="1"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理解函数关系</a:t>
            </a:r>
            <a:r>
              <a:rPr lang="en-US" altLang="zh-CN" sz="1800"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a:t>
            </a:r>
            <a:r>
              <a:rPr lang="en-US" altLang="zh-CN" sz="1800" spc="80">
                <a:solidFill>
                  <a:schemeClr val="accent1">
                    <a:lumMod val="75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根据题目描述，理解自变量和因变量之间的函数关系。这可以通过解析式、图像或表格等方式表示。</a:t>
            </a:r>
          </a:p>
          <a:p>
            <a:pPr marL="304800" lvl="0" indent="-304800" algn="l">
              <a:lnSpc>
                <a:spcPct val="120000"/>
              </a:lnSpc>
              <a:buSzPct val="100000"/>
            </a:pPr>
            <a:r>
              <a:rPr lang="en-US" altLang="zh-CN" sz="1800" b="1"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计算导数：</a:t>
            </a:r>
            <a:r>
              <a:rPr lang="en-US" altLang="zh-CN" sz="1800" spc="80">
                <a:solidFill>
                  <a:schemeClr val="accent1">
                    <a:lumMod val="75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对于给定的函数，需要计算其导数。导数描述了函数在某一点的变化率，即因变量相对于自变量的变化速度。</a:t>
            </a:r>
          </a:p>
          <a:p>
            <a:pPr marL="304800" lvl="0" indent="-304800" algn="l">
              <a:lnSpc>
                <a:spcPct val="120000"/>
              </a:lnSpc>
              <a:buSzPct val="100000"/>
            </a:pPr>
            <a:r>
              <a:rPr lang="en-US" altLang="zh-CN" sz="1800" b="1"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分析导数的正负性：</a:t>
            </a:r>
            <a:r>
              <a:rPr lang="en-US" altLang="zh-CN" sz="1800" spc="80">
                <a:solidFill>
                  <a:schemeClr val="accent1">
                    <a:lumMod val="75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根据导数的正负性，可以判断函数在相应区间上的单调性。如果导数大于零，则函数在该区间内单调递增；如果导数小于零，则函数在该区间内单调递减。</a:t>
            </a:r>
          </a:p>
          <a:p>
            <a:pPr marL="304800" lvl="0" indent="-304800" algn="l">
              <a:lnSpc>
                <a:spcPct val="120000"/>
              </a:lnSpc>
              <a:buSzPct val="100000"/>
            </a:pPr>
            <a:r>
              <a:rPr lang="en-US" altLang="zh-CN" sz="1800" b="1"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考虑实际意义</a:t>
            </a:r>
            <a:r>
              <a:rPr lang="en-US" altLang="zh-CN" sz="1800"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a:t>
            </a:r>
            <a:r>
              <a:rPr lang="en-US" altLang="zh-CN" sz="1800" spc="80">
                <a:solidFill>
                  <a:schemeClr val="accent1">
                    <a:lumMod val="75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在求相关变化率时，要结合实际情况理解变化率的含义。例如，如果要求一个物体在某个方向上的速度变化率，那么需要考虑该物体的加速度。</a:t>
            </a:r>
          </a:p>
          <a:p>
            <a:pPr marL="304800" lvl="0" indent="-304800" algn="l">
              <a:lnSpc>
                <a:spcPct val="120000"/>
              </a:lnSpc>
              <a:buSzPct val="100000"/>
            </a:pPr>
            <a:r>
              <a:rPr lang="en-US" altLang="zh-CN" sz="1800" b="1" spc="80">
                <a:solidFill>
                  <a:schemeClr val="tx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注意单位的统一：</a:t>
            </a:r>
            <a:r>
              <a:rPr lang="en-US" altLang="zh-CN" sz="1800" spc="80">
                <a:solidFill>
                  <a:schemeClr val="accent1">
                    <a:lumMod val="75000"/>
                  </a:schemeClr>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在计算变化率时，要注意单位的一致性。如果涉及到的单位不同，需要进行适当的单位转换。</a:t>
            </a:r>
          </a:p>
        </p:txBody>
      </p:sp>
      <p:sp>
        <p:nvSpPr>
          <p:cNvPr id="8" name="矩形 7"/>
          <p:cNvSpPr/>
          <p:nvPr>
            <p:custDataLst>
              <p:tags r:id="rId8"/>
            </p:custDataLst>
          </p:nvPr>
        </p:nvSpPr>
        <p:spPr>
          <a:xfrm>
            <a:off x="4895533" y="1235710"/>
            <a:ext cx="2400935" cy="45719"/>
          </a:xfrm>
          <a:prstGeom prst="rect">
            <a:avLst/>
          </a:prstGeom>
          <a:solidFill>
            <a:schemeClr val="accent2">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8780" y="152400"/>
            <a:ext cx="11464925" cy="2306955"/>
          </a:xfrm>
          <a:prstGeom prst="rect">
            <a:avLst/>
          </a:prstGeom>
          <a:noFill/>
        </p:spPr>
        <p:txBody>
          <a:bodyPr wrap="square" rtlCol="0">
            <a:spAutoFit/>
          </a:bodyPr>
          <a:lstStyle/>
          <a:p>
            <a:r>
              <a:rPr lang="zh-CN" altLang="en-US" b="1">
                <a:solidFill>
                  <a:schemeClr val="tx1"/>
                </a:solidFill>
                <a:effectLst>
                  <a:outerShdw blurRad="38100" dist="25400" dir="5400000" algn="ctr" rotWithShape="0">
                    <a:srgbClr val="6E747A">
                      <a:alpha val="43000"/>
                    </a:srgbClr>
                  </a:outerShdw>
                </a:effectLst>
              </a:rPr>
              <a:t>题目：</a:t>
            </a:r>
          </a:p>
          <a:p>
            <a:endParaRPr lang="zh-CN" altLang="en-US" b="1">
              <a:solidFill>
                <a:schemeClr val="bg2">
                  <a:lumMod val="25000"/>
                </a:schemeClr>
              </a:solidFill>
              <a:effectLst>
                <a:outerShdw blurRad="38100" dist="25400" dir="5400000" algn="ctr" rotWithShape="0">
                  <a:srgbClr val="6E747A">
                    <a:alpha val="43000"/>
                  </a:srgbClr>
                </a:outerShdw>
              </a:effectLst>
            </a:endParaRPr>
          </a:p>
          <a:p>
            <a:r>
              <a:rPr lang="zh-CN" altLang="en-US" b="1">
                <a:solidFill>
                  <a:schemeClr val="tx1"/>
                </a:solidFill>
                <a:effectLst>
                  <a:outerShdw blurRad="38100" dist="25400" dir="5400000" algn="ctr" rotWithShape="0">
                    <a:srgbClr val="6E747A">
                      <a:alpha val="43000"/>
                    </a:srgbClr>
                  </a:outerShdw>
                </a:effectLst>
              </a:rPr>
              <a:t>一个水塔的水位高度 h（单位：米）与时间 t（单位：小时）之间的关系可以近似表示为 h(t) = 50 + 2t - 0.04t^2。</a:t>
            </a:r>
          </a:p>
          <a:p>
            <a:endParaRPr lang="zh-CN" altLang="en-US" b="1">
              <a:solidFill>
                <a:schemeClr val="tx1"/>
              </a:solidFill>
              <a:effectLst>
                <a:outerShdw blurRad="38100" dist="25400" dir="5400000" algn="ctr" rotWithShape="0">
                  <a:srgbClr val="6E747A">
                    <a:alpha val="43000"/>
                  </a:srgbClr>
                </a:outerShdw>
              </a:effectLst>
            </a:endParaRPr>
          </a:p>
          <a:p>
            <a:r>
              <a:rPr lang="zh-CN" altLang="en-US" b="1">
                <a:solidFill>
                  <a:schemeClr val="tx1"/>
                </a:solidFill>
                <a:effectLst>
                  <a:outerShdw blurRad="38100" dist="25400" dir="5400000" algn="ctr" rotWithShape="0">
                    <a:srgbClr val="6E747A">
                      <a:alpha val="43000"/>
                    </a:srgbClr>
                  </a:outerShdw>
                </a:effectLst>
              </a:rPr>
              <a:t>（</a:t>
            </a:r>
            <a:r>
              <a:rPr lang="en-US" altLang="zh-CN" b="1">
                <a:solidFill>
                  <a:schemeClr val="tx1"/>
                </a:solidFill>
                <a:effectLst>
                  <a:outerShdw blurRad="38100" dist="25400" dir="5400000" algn="ctr" rotWithShape="0">
                    <a:srgbClr val="6E747A">
                      <a:alpha val="43000"/>
                    </a:srgbClr>
                  </a:outerShdw>
                </a:effectLst>
              </a:rPr>
              <a:t>1</a:t>
            </a:r>
            <a:r>
              <a:rPr lang="zh-CN" altLang="en-US" b="1">
                <a:solidFill>
                  <a:schemeClr val="tx1"/>
                </a:solidFill>
                <a:effectLst>
                  <a:outerShdw blurRad="38100" dist="25400" dir="5400000" algn="ctr" rotWithShape="0">
                    <a:srgbClr val="6E747A">
                      <a:alpha val="43000"/>
                    </a:srgbClr>
                  </a:outerShdw>
                </a:effectLst>
              </a:rPr>
              <a:t>）求水位高度 h 相对于时间 t 的变化率。</a:t>
            </a:r>
          </a:p>
          <a:p>
            <a:r>
              <a:rPr lang="zh-CN" altLang="en-US" b="1">
                <a:solidFill>
                  <a:schemeClr val="tx1"/>
                </a:solidFill>
                <a:effectLst>
                  <a:outerShdw blurRad="38100" dist="25400" dir="5400000" algn="ctr" rotWithShape="0">
                    <a:srgbClr val="6E747A">
                      <a:alpha val="43000"/>
                    </a:srgbClr>
                  </a:outerShdw>
                </a:effectLst>
              </a:rPr>
              <a:t>（</a:t>
            </a:r>
            <a:r>
              <a:rPr lang="en-US" altLang="zh-CN" b="1">
                <a:solidFill>
                  <a:schemeClr val="tx1"/>
                </a:solidFill>
                <a:effectLst>
                  <a:outerShdw blurRad="38100" dist="25400" dir="5400000" algn="ctr" rotWithShape="0">
                    <a:srgbClr val="6E747A">
                      <a:alpha val="43000"/>
                    </a:srgbClr>
                  </a:outerShdw>
                </a:effectLst>
              </a:rPr>
              <a:t>2</a:t>
            </a:r>
            <a:r>
              <a:rPr lang="zh-CN" altLang="en-US" b="1">
                <a:solidFill>
                  <a:schemeClr val="tx1"/>
                </a:solidFill>
                <a:effectLst>
                  <a:outerShdw blurRad="38100" dist="25400" dir="5400000" algn="ctr" rotWithShape="0">
                    <a:srgbClr val="6E747A">
                      <a:alpha val="43000"/>
                    </a:srgbClr>
                  </a:outerShdw>
                </a:effectLst>
              </a:rPr>
              <a:t>）当 t = 10 小时时，水位高度的变化率是多少？</a:t>
            </a:r>
          </a:p>
          <a:p>
            <a:br>
              <a:rPr lang="zh-CN" altLang="en-US" b="1">
                <a:solidFill>
                  <a:schemeClr val="tx1"/>
                </a:solidFill>
                <a:effectLst>
                  <a:outerShdw blurRad="38100" dist="25400" dir="5400000" algn="ctr" rotWithShape="0">
                    <a:srgbClr val="6E747A">
                      <a:alpha val="43000"/>
                    </a:srgbClr>
                  </a:outerShdw>
                </a:effectLst>
              </a:rPr>
            </a:br>
            <a:r>
              <a:rPr lang="zh-CN" altLang="en-US" b="1">
                <a:solidFill>
                  <a:schemeClr val="tx1"/>
                </a:solidFill>
                <a:effectLst>
                  <a:outerShdw blurRad="38100" dist="25400" dir="5400000" algn="ctr" rotWithShape="0">
                    <a:srgbClr val="6E747A">
                      <a:alpha val="43000"/>
                    </a:srgbClr>
                  </a:outerShdw>
                </a:effectLst>
              </a:rPr>
              <a:t>（</a:t>
            </a:r>
            <a:r>
              <a:rPr lang="en-US" altLang="zh-CN" b="1">
                <a:solidFill>
                  <a:schemeClr val="tx1"/>
                </a:solidFill>
                <a:effectLst>
                  <a:outerShdw blurRad="38100" dist="25400" dir="5400000" algn="ctr" rotWithShape="0">
                    <a:srgbClr val="6E747A">
                      <a:alpha val="43000"/>
                    </a:srgbClr>
                  </a:outerShdw>
                </a:effectLst>
              </a:rPr>
              <a:t>3</a:t>
            </a:r>
            <a:r>
              <a:rPr lang="zh-CN" altLang="en-US" b="1">
                <a:solidFill>
                  <a:schemeClr val="tx1"/>
                </a:solidFill>
                <a:effectLst>
                  <a:outerShdw blurRad="38100" dist="25400" dir="5400000" algn="ctr" rotWithShape="0">
                    <a:srgbClr val="6E747A">
                      <a:alpha val="43000"/>
                    </a:srgbClr>
                  </a:outerShdw>
                </a:effectLst>
              </a:rPr>
              <a:t>）解释这个变化率的实际意义。</a:t>
            </a:r>
          </a:p>
        </p:txBody>
      </p:sp>
      <p:sp>
        <p:nvSpPr>
          <p:cNvPr id="3" name="文本框 2"/>
          <p:cNvSpPr txBox="1"/>
          <p:nvPr/>
        </p:nvSpPr>
        <p:spPr>
          <a:xfrm>
            <a:off x="399415" y="2559685"/>
            <a:ext cx="10891520" cy="3415030"/>
          </a:xfrm>
          <a:prstGeom prst="rect">
            <a:avLst/>
          </a:prstGeom>
          <a:noFill/>
        </p:spPr>
        <p:txBody>
          <a:bodyPr wrap="square" rtlCol="0">
            <a:spAutoFit/>
          </a:bodyPr>
          <a:lstStyle/>
          <a:p>
            <a:r>
              <a:rPr lang="zh-CN" altLang="en-US" b="1">
                <a:solidFill>
                  <a:schemeClr val="bg2">
                    <a:lumMod val="50000"/>
                  </a:schemeClr>
                </a:solidFill>
              </a:rPr>
              <a:t>（</a:t>
            </a:r>
            <a:r>
              <a:rPr lang="en-US" altLang="zh-CN" b="1">
                <a:solidFill>
                  <a:schemeClr val="bg2">
                    <a:lumMod val="50000"/>
                  </a:schemeClr>
                </a:solidFill>
              </a:rPr>
              <a:t>1</a:t>
            </a:r>
            <a:r>
              <a:rPr lang="zh-CN" altLang="en-US" b="1">
                <a:solidFill>
                  <a:schemeClr val="bg2">
                    <a:lumMod val="50000"/>
                  </a:schemeClr>
                </a:solidFill>
              </a:rPr>
              <a:t>）对 h(t) 求导得到水位高度 h 相对于时间 t 的变化率：</a:t>
            </a:r>
          </a:p>
          <a:p>
            <a:r>
              <a:rPr lang="zh-CN" altLang="en-US" b="1">
                <a:solidFill>
                  <a:schemeClr val="bg2">
                    <a:lumMod val="50000"/>
                  </a:schemeClr>
                </a:solidFill>
              </a:rPr>
              <a:t>h'(t) = 2 - 0.08t</a:t>
            </a:r>
          </a:p>
          <a:p>
            <a:endParaRPr lang="zh-CN" altLang="en-US" b="1">
              <a:solidFill>
                <a:schemeClr val="bg2">
                  <a:lumMod val="50000"/>
                </a:schemeClr>
              </a:solidFill>
            </a:endParaRPr>
          </a:p>
          <a:p>
            <a:r>
              <a:rPr lang="zh-CN" altLang="en-US" b="1">
                <a:solidFill>
                  <a:schemeClr val="bg2">
                    <a:lumMod val="50000"/>
                  </a:schemeClr>
                </a:solidFill>
              </a:rPr>
              <a:t>所以，水位高度的变化率是 h'(t) = 2 - 0.08t。</a:t>
            </a:r>
          </a:p>
          <a:p>
            <a:endParaRPr lang="zh-CN" altLang="en-US" b="1">
              <a:solidFill>
                <a:schemeClr val="bg2">
                  <a:lumMod val="50000"/>
                </a:schemeClr>
              </a:solidFill>
            </a:endParaRPr>
          </a:p>
          <a:p>
            <a:r>
              <a:rPr lang="zh-CN" altLang="en-US" b="1">
                <a:solidFill>
                  <a:schemeClr val="bg2">
                    <a:lumMod val="50000"/>
                  </a:schemeClr>
                </a:solidFill>
              </a:rPr>
              <a:t>（</a:t>
            </a:r>
            <a:r>
              <a:rPr lang="en-US" altLang="zh-CN" b="1">
                <a:solidFill>
                  <a:schemeClr val="bg2">
                    <a:lumMod val="50000"/>
                  </a:schemeClr>
                </a:solidFill>
              </a:rPr>
              <a:t>2</a:t>
            </a:r>
            <a:r>
              <a:rPr lang="zh-CN" altLang="en-US" b="1">
                <a:solidFill>
                  <a:schemeClr val="bg2">
                    <a:lumMod val="50000"/>
                  </a:schemeClr>
                </a:solidFill>
              </a:rPr>
              <a:t>）当 t = 10 小时时，代入变化率函数得到：</a:t>
            </a:r>
          </a:p>
          <a:p>
            <a:r>
              <a:rPr lang="zh-CN" altLang="en-US" b="1">
                <a:solidFill>
                  <a:schemeClr val="bg2">
                    <a:lumMod val="50000"/>
                  </a:schemeClr>
                </a:solidFill>
              </a:rPr>
              <a:t>h'(10) = 2 - 0.08 × 10 = 1.2</a:t>
            </a:r>
          </a:p>
          <a:p>
            <a:endParaRPr lang="zh-CN" altLang="en-US" b="1">
              <a:solidFill>
                <a:schemeClr val="bg2">
                  <a:lumMod val="50000"/>
                </a:schemeClr>
              </a:solidFill>
            </a:endParaRPr>
          </a:p>
          <a:p>
            <a:r>
              <a:rPr lang="zh-CN" altLang="en-US" b="1">
                <a:solidFill>
                  <a:schemeClr val="bg2">
                    <a:lumMod val="50000"/>
                  </a:schemeClr>
                </a:solidFill>
              </a:rPr>
              <a:t>所以，当 t = 10 小时时，水位高度的变化率是 1.2 米/小时。</a:t>
            </a:r>
          </a:p>
          <a:p>
            <a:endParaRPr lang="zh-CN" altLang="en-US" b="1">
              <a:solidFill>
                <a:schemeClr val="bg2">
                  <a:lumMod val="50000"/>
                </a:schemeClr>
              </a:solidFill>
            </a:endParaRPr>
          </a:p>
          <a:p>
            <a:r>
              <a:rPr lang="zh-CN" altLang="en-US" b="1">
                <a:solidFill>
                  <a:schemeClr val="bg2">
                    <a:lumMod val="50000"/>
                  </a:schemeClr>
                </a:solidFill>
              </a:rPr>
              <a:t>（</a:t>
            </a:r>
            <a:r>
              <a:rPr lang="en-US" altLang="zh-CN" b="1">
                <a:solidFill>
                  <a:schemeClr val="bg2">
                    <a:lumMod val="50000"/>
                  </a:schemeClr>
                </a:solidFill>
              </a:rPr>
              <a:t>3</a:t>
            </a:r>
            <a:r>
              <a:rPr lang="zh-CN" altLang="en-US" b="1">
                <a:solidFill>
                  <a:schemeClr val="bg2">
                    <a:lumMod val="50000"/>
                  </a:schemeClr>
                </a:solidFill>
              </a:rPr>
              <a:t>）这个变化率的实际意义是，在 t = 10 小时时，水位高度每小时上升 1.2 米。如果变化率是负数，则表示水位高度在下降。因此，变化率可以帮助我们了解水位高度随时间的增加或减少的速度。</a:t>
            </a: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62885" y="2967990"/>
            <a:ext cx="6666230" cy="922020"/>
          </a:xfrm>
          <a:prstGeom prst="rect">
            <a:avLst/>
          </a:prstGeom>
          <a:noFill/>
        </p:spPr>
        <p:txBody>
          <a:bodyPr wrap="square" rtlCol="0">
            <a:spAutoFit/>
          </a:bodyPr>
          <a:lstStyle/>
          <a:p>
            <a:pPr algn="ctr"/>
            <a:r>
              <a:rPr lang="en-US" altLang="zh-CN" sz="5400" b="1">
                <a:latin typeface="+mj-ea"/>
                <a:ea typeface="+mj-ea"/>
                <a:cs typeface="+mj-ea"/>
              </a:rPr>
              <a:t>3.3 </a:t>
            </a:r>
            <a:r>
              <a:rPr lang="zh-CN" altLang="en-US" sz="5400" b="1">
                <a:latin typeface="+mj-ea"/>
                <a:ea typeface="+mj-ea"/>
                <a:cs typeface="+mj-ea"/>
              </a:rPr>
              <a:t>微分</a:t>
            </a: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653743" y="648519"/>
            <a:ext cx="7171690" cy="1014730"/>
          </a:xfrm>
          <a:prstGeom prst="rect">
            <a:avLst/>
          </a:prstGeom>
          <a:noFill/>
        </p:spPr>
        <p:txBody>
          <a:bodyPr wrap="square" rtlCol="0">
            <a:spAutoFit/>
          </a:bodyPr>
          <a:lstStyle/>
          <a:p>
            <a:pPr>
              <a:lnSpc>
                <a:spcPct val="150000"/>
              </a:lnSpc>
            </a:pPr>
            <a:r>
              <a:rPr lang="zh-CN" altLang="en-US" sz="4000" b="1" dirty="0">
                <a:solidFill>
                  <a:schemeClr val="accent4"/>
                </a:solidFill>
                <a:latin typeface="宋体" panose="02010600030101010101" pitchFamily="2" charset="-122"/>
                <a:ea typeface="宋体" panose="02010600030101010101" pitchFamily="2" charset="-122"/>
                <a:cs typeface="宋体" panose="02010600030101010101" pitchFamily="2" charset="-122"/>
              </a:rPr>
              <a:t>定义</a:t>
            </a:r>
            <a:r>
              <a:rPr lang="en-US" altLang="zh-CN" sz="4000" b="1" dirty="0">
                <a:solidFill>
                  <a:schemeClr val="accent4"/>
                </a:solidFill>
                <a:latin typeface="宋体" panose="02010600030101010101" pitchFamily="2" charset="-122"/>
                <a:ea typeface="宋体" panose="02010600030101010101" pitchFamily="2" charset="-122"/>
                <a:cs typeface="宋体" panose="02010600030101010101" pitchFamily="2" charset="-122"/>
              </a:rPr>
              <a:t> </a:t>
            </a:r>
          </a:p>
        </p:txBody>
      </p:sp>
      <p:sp>
        <p:nvSpPr>
          <p:cNvPr id="4" name="矩形 3"/>
          <p:cNvSpPr/>
          <p:nvPr/>
        </p:nvSpPr>
        <p:spPr>
          <a:xfrm flipH="1">
            <a:off x="1198880" y="1083945"/>
            <a:ext cx="513715" cy="39941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4"/>
              </a:solidFill>
            </a:endParaRPr>
          </a:p>
        </p:txBody>
      </p:sp>
      <p:sp>
        <p:nvSpPr>
          <p:cNvPr id="32" name="文本框 31"/>
          <p:cNvSpPr txBox="1"/>
          <p:nvPr/>
        </p:nvSpPr>
        <p:spPr>
          <a:xfrm>
            <a:off x="1075030" y="1913737"/>
            <a:ext cx="9345549" cy="1476375"/>
          </a:xfrm>
          <a:prstGeom prst="rect">
            <a:avLst/>
          </a:prstGeom>
          <a:noFill/>
        </p:spPr>
        <p:txBody>
          <a:bodyPr wrap="square" rtlCol="0">
            <a:spAutoFit/>
          </a:bodyPr>
          <a:lstStyle/>
          <a:p>
            <a:pPr>
              <a:lnSpc>
                <a:spcPct val="150000"/>
              </a:lnSpc>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设函数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y=f(x)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在点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r>
              <a:rPr lang="en-US" altLang="zh-CN" sz="2000" baseline="-25000" dirty="0">
                <a:solidFill>
                  <a:schemeClr val="accent4"/>
                </a:solidFill>
                <a:latin typeface="微软雅黑" panose="020B0503020204020204" charset="-122"/>
                <a:ea typeface="微软雅黑" panose="020B0503020204020204" charset="-122"/>
                <a:cs typeface="微软雅黑" panose="020B0503020204020204" charset="-122"/>
                <a:sym typeface="+mn-ea"/>
              </a:rPr>
              <a:t>0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的某个邻域内有定义，若存在与 </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无关的常数</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，使得</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y=A</a:t>
            </a:r>
            <a:r>
              <a:rPr kumimoji="0" lang="el-GR" altLang="zh-CN" sz="2000" b="0" i="0" u="none" strike="noStrike" kern="1200" cap="none" spc="0" normalizeH="0" baseline="0" noProof="0" dirty="0">
                <a:ln>
                  <a:noFill/>
                </a:ln>
                <a:solidFill>
                  <a:srgbClr val="363636"/>
                </a:solidFill>
                <a:effectLst/>
                <a:uLnTx/>
                <a:uFillTx/>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ο</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成立，则说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f(x)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在点</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r>
              <a:rPr lang="en-US" altLang="zh-CN" sz="2000" baseline="-25000" dirty="0">
                <a:solidFill>
                  <a:schemeClr val="accent4"/>
                </a:solidFill>
                <a:latin typeface="微软雅黑" panose="020B0503020204020204" charset="-122"/>
                <a:ea typeface="微软雅黑" panose="020B0503020204020204" charset="-122"/>
                <a:cs typeface="微软雅黑" panose="020B0503020204020204" charset="-122"/>
                <a:sym typeface="+mn-ea"/>
              </a:rPr>
              <a:t>0</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处可微，且称</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为</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y</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或</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f(x)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在</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r>
              <a:rPr lang="en-US" altLang="zh-CN" sz="2000" baseline="-25000" dirty="0">
                <a:solidFill>
                  <a:schemeClr val="accent4"/>
                </a:solidFill>
                <a:latin typeface="微软雅黑" panose="020B0503020204020204" charset="-122"/>
                <a:ea typeface="微软雅黑" panose="020B0503020204020204" charset="-122"/>
                <a:cs typeface="微软雅黑" panose="020B0503020204020204" charset="-122"/>
                <a:sym typeface="+mn-ea"/>
              </a:rPr>
              <a:t>0</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处的微分，记作</a:t>
            </a:r>
            <a:r>
              <a:rPr lang="en-US" altLang="zh-CN" sz="2000" dirty="0" err="1">
                <a:solidFill>
                  <a:schemeClr val="accent4"/>
                </a:solidFill>
                <a:latin typeface="微软雅黑" panose="020B0503020204020204" charset="-122"/>
                <a:ea typeface="微软雅黑" panose="020B0503020204020204" charset="-122"/>
                <a:cs typeface="微软雅黑" panose="020B0503020204020204" charset="-122"/>
                <a:sym typeface="+mn-ea"/>
              </a:rPr>
              <a:t>dy</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或</a:t>
            </a:r>
            <a:r>
              <a:rPr lang="en-US" altLang="zh-CN" sz="2000" dirty="0" err="1">
                <a:solidFill>
                  <a:schemeClr val="accent4"/>
                </a:solidFill>
                <a:latin typeface="微软雅黑" panose="020B0503020204020204" charset="-122"/>
                <a:ea typeface="微软雅黑" panose="020B0503020204020204" charset="-122"/>
                <a:cs typeface="微软雅黑" panose="020B0503020204020204" charset="-122"/>
                <a:sym typeface="+mn-ea"/>
              </a:rPr>
              <a:t>df</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(x0)</a:t>
            </a:r>
            <a:endParaRPr lang="en-US" altLang="zh-CN" sz="2000" dirty="0">
              <a:solidFill>
                <a:schemeClr val="accent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635786" y="702945"/>
            <a:ext cx="7171690" cy="1014730"/>
          </a:xfrm>
          <a:prstGeom prst="rect">
            <a:avLst/>
          </a:prstGeom>
          <a:noFill/>
        </p:spPr>
        <p:txBody>
          <a:bodyPr wrap="square" rtlCol="0">
            <a:spAutoFit/>
          </a:bodyPr>
          <a:lstStyle>
            <a:defPPr>
              <a:defRPr lang="zh-CN"/>
            </a:defPPr>
            <a:lvl1pPr>
              <a:lnSpc>
                <a:spcPct val="150000"/>
              </a:lnSpc>
              <a:defRPr sz="3600">
                <a:solidFill>
                  <a:schemeClr val="accent4"/>
                </a:solidFill>
                <a:latin typeface="+mj-lt"/>
                <a:ea typeface="OPPOSans R" panose="00020600040101010101" charset="-122"/>
                <a:cs typeface="思源黑体 Regular" panose="020B0500000000000000" charset="-122"/>
              </a:defRPr>
            </a:lvl1pPr>
          </a:lstStyle>
          <a:p>
            <a:r>
              <a:rPr lang="zh-CN" altLang="en-US" sz="4000" b="1" dirty="0">
                <a:latin typeface="宋体" panose="02010600030101010101" pitchFamily="2" charset="-122"/>
                <a:ea typeface="宋体" panose="02010600030101010101" pitchFamily="2" charset="-122"/>
                <a:cs typeface="宋体" panose="02010600030101010101" pitchFamily="2" charset="-122"/>
              </a:rPr>
              <a:t>定理</a:t>
            </a:r>
            <a:r>
              <a:rPr lang="en-US" altLang="zh-CN" sz="4000" b="1" dirty="0">
                <a:latin typeface="宋体" panose="02010600030101010101" pitchFamily="2" charset="-122"/>
                <a:ea typeface="宋体" panose="02010600030101010101" pitchFamily="2" charset="-122"/>
                <a:cs typeface="宋体" panose="02010600030101010101" pitchFamily="2" charset="-122"/>
              </a:rPr>
              <a:t>1 </a:t>
            </a:r>
          </a:p>
        </p:txBody>
      </p:sp>
      <p:sp>
        <p:nvSpPr>
          <p:cNvPr id="4" name="矩形 3"/>
          <p:cNvSpPr/>
          <p:nvPr/>
        </p:nvSpPr>
        <p:spPr>
          <a:xfrm flipH="1">
            <a:off x="1198880" y="1083945"/>
            <a:ext cx="513715" cy="39941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4"/>
              </a:solidFill>
            </a:endParaRPr>
          </a:p>
        </p:txBody>
      </p:sp>
      <p:sp>
        <p:nvSpPr>
          <p:cNvPr id="32" name="文本框 31"/>
          <p:cNvSpPr txBox="1"/>
          <p:nvPr/>
        </p:nvSpPr>
        <p:spPr>
          <a:xfrm>
            <a:off x="1198880" y="1858188"/>
            <a:ext cx="9391879" cy="1783715"/>
          </a:xfrm>
          <a:prstGeom prst="rect">
            <a:avLst/>
          </a:prstGeom>
          <a:noFill/>
        </p:spPr>
        <p:txBody>
          <a:bodyPr wrap="square" rtlCol="0">
            <a:spAutoFit/>
          </a:bodyPr>
          <a:lstStyle/>
          <a:p>
            <a:pPr lvl="0" algn="l">
              <a:lnSpc>
                <a:spcPct val="150000"/>
              </a:lnSpc>
              <a:buClrTx/>
              <a:buSzTx/>
              <a:buFontTx/>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设</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y=f(x)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在</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x₀</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的某邻域内有定义，则</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f(x)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在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x₀</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可微的充要条件是</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f(x)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在</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x₀</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可导</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且当</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f(x)</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在</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x₀</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可微时</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有</a:t>
            </a:r>
            <a:endPar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en-US" altLang="zh-CN" sz="2000" dirty="0" err="1">
                <a:solidFill>
                  <a:schemeClr val="accent4"/>
                </a:solidFill>
                <a:latin typeface="微软雅黑" panose="020B0503020204020204" charset="-122"/>
                <a:ea typeface="微软雅黑" panose="020B0503020204020204" charset="-122"/>
                <a:cs typeface="微软雅黑" panose="020B0503020204020204" charset="-122"/>
                <a:sym typeface="+mn-ea"/>
              </a:rPr>
              <a:t>dy</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en-US" altLang="zh-CN" sz="2000" dirty="0" err="1">
                <a:solidFill>
                  <a:schemeClr val="accent4"/>
                </a:solidFill>
                <a:latin typeface="微软雅黑" panose="020B0503020204020204" charset="-122"/>
                <a:ea typeface="微软雅黑" panose="020B0503020204020204" charset="-122"/>
                <a:cs typeface="微软雅黑" panose="020B0503020204020204" charset="-122"/>
                <a:sym typeface="+mn-ea"/>
              </a:rPr>
              <a:t>df</a:t>
            </a:r>
            <a:r>
              <a:rPr lang="zh-CN" altLang="en-US" sz="2000" b="1" baseline="30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en-US" altLang="zh-CN" sz="2000" b="1" baseline="30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(x₀)</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endPar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endParaRPr>
          </a:p>
          <a:p>
            <a:pPr lvl="0" algn="l">
              <a:lnSpc>
                <a:spcPct val="150000"/>
              </a:lnSpc>
              <a:buClrTx/>
              <a:buSzTx/>
              <a:buFontTx/>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12621" y="1083945"/>
            <a:ext cx="7171690" cy="3322955"/>
          </a:xfrm>
          <a:prstGeom prst="rect">
            <a:avLst/>
          </a:prstGeom>
          <a:noFill/>
        </p:spPr>
        <p:txBody>
          <a:bodyPr wrap="square" rtlCol="0">
            <a:spAutoFit/>
          </a:bodyPr>
          <a:lstStyle>
            <a:defPPr>
              <a:defRPr lang="zh-CN"/>
            </a:defPPr>
            <a:lvl1pPr>
              <a:lnSpc>
                <a:spcPct val="150000"/>
              </a:lnSpc>
              <a:defRPr sz="3600">
                <a:solidFill>
                  <a:schemeClr val="accent4"/>
                </a:solidFill>
                <a:latin typeface="+mj-lt"/>
                <a:ea typeface="OPPOSans R" panose="00020600040101010101" charset="-122"/>
                <a:cs typeface="思源黑体 Regular" panose="020B0500000000000000" charset="-122"/>
              </a:defRPr>
            </a:lvl1pPr>
          </a:lstStyle>
          <a:p>
            <a:r>
              <a:rPr lang="zh-CN" altLang="en-US" sz="2000" dirty="0">
                <a:latin typeface="微软雅黑" panose="020B0503020204020204" charset="-122"/>
                <a:ea typeface="微软雅黑" panose="020B0503020204020204" charset="-122"/>
                <a:cs typeface="微软雅黑" panose="020B0503020204020204" charset="-122"/>
              </a:rPr>
              <a:t>导数与微分可相互表示：</a:t>
            </a:r>
            <a:r>
              <a:rPr lang="en-US" altLang="zh-CN" sz="2000" dirty="0" err="1">
                <a:latin typeface="微软雅黑" panose="020B0503020204020204" charset="-122"/>
                <a:ea typeface="微软雅黑" panose="020B0503020204020204" charset="-122"/>
                <a:cs typeface="微软雅黑" panose="020B0503020204020204" charset="-122"/>
              </a:rPr>
              <a:t>df</a:t>
            </a:r>
            <a:r>
              <a:rPr lang="en-US" altLang="zh-CN" sz="2000" dirty="0">
                <a:latin typeface="微软雅黑" panose="020B0503020204020204" charset="-122"/>
                <a:ea typeface="微软雅黑" panose="020B0503020204020204" charset="-122"/>
                <a:cs typeface="微软雅黑" panose="020B0503020204020204" charset="-122"/>
              </a:rPr>
              <a:t>(x)</a:t>
            </a:r>
            <a:r>
              <a:rPr lang="zh-CN" altLang="en-US" sz="2000" dirty="0">
                <a:latin typeface="微软雅黑" panose="020B0503020204020204" charset="-122"/>
                <a:ea typeface="微软雅黑" panose="020B0503020204020204" charset="-122"/>
                <a:cs typeface="微软雅黑" panose="020B0503020204020204" charset="-122"/>
              </a:rPr>
              <a:t>与 只相差一个因子 </a:t>
            </a:r>
            <a:r>
              <a:rPr lang="en-US" altLang="zh-CN" sz="2000" dirty="0">
                <a:latin typeface="微软雅黑" panose="020B0503020204020204" charset="-122"/>
                <a:ea typeface="微软雅黑" panose="020B0503020204020204" charset="-122"/>
                <a:cs typeface="微软雅黑" panose="020B0503020204020204" charset="-122"/>
              </a:rPr>
              <a:t>dx </a:t>
            </a:r>
            <a:r>
              <a:rPr lang="zh-CN" altLang="en-US" sz="2000" dirty="0">
                <a:latin typeface="微软雅黑" panose="020B0503020204020204" charset="-122"/>
                <a:ea typeface="微软雅黑" panose="020B0503020204020204" charset="-122"/>
                <a:cs typeface="微软雅黑" panose="020B0503020204020204" charset="-122"/>
              </a:rPr>
              <a:t>因此，计算微分与计算导数的方法实质上是相同的，二者并称为 微分法</a:t>
            </a:r>
            <a:endParaRPr lang="en-US" altLang="zh-CN" sz="2000" dirty="0">
              <a:latin typeface="微软雅黑" panose="020B0503020204020204" charset="-122"/>
              <a:ea typeface="微软雅黑" panose="020B0503020204020204" charset="-122"/>
              <a:cs typeface="微软雅黑" panose="020B0503020204020204" charset="-122"/>
            </a:endParaRPr>
          </a:p>
          <a:p>
            <a:r>
              <a:rPr lang="zh-CN" altLang="en-US" sz="2000" dirty="0">
                <a:latin typeface="微软雅黑" panose="020B0503020204020204" charset="-122"/>
                <a:ea typeface="微软雅黑" panose="020B0503020204020204" charset="-122"/>
                <a:cs typeface="微软雅黑" panose="020B0503020204020204" charset="-122"/>
              </a:rPr>
              <a:t>公式</a:t>
            </a:r>
            <a:r>
              <a:rPr lang="en-US" altLang="zh-CN" sz="2000" dirty="0">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   </a:t>
            </a:r>
            <a:r>
              <a:rPr lang="en-US" altLang="zh-CN" sz="2000" dirty="0">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       表明，导数</a:t>
            </a:r>
            <a:r>
              <a:rPr lang="en-US" altLang="zh-CN" sz="2000" dirty="0">
                <a:latin typeface="微软雅黑" panose="020B0503020204020204" charset="-122"/>
                <a:ea typeface="微软雅黑" panose="020B0503020204020204" charset="-122"/>
                <a:cs typeface="微软雅黑" panose="020B0503020204020204" charset="-122"/>
              </a:rPr>
              <a:t>f`(x)</a:t>
            </a:r>
            <a:r>
              <a:rPr lang="zh-CN" altLang="en-US" sz="2000" dirty="0">
                <a:latin typeface="微软雅黑" panose="020B0503020204020204" charset="-122"/>
                <a:ea typeface="微软雅黑" panose="020B0503020204020204" charset="-122"/>
                <a:cs typeface="微软雅黑" panose="020B0503020204020204" charset="-122"/>
              </a:rPr>
              <a:t>是函数微分 </a:t>
            </a:r>
            <a:r>
              <a:rPr lang="en-US" altLang="zh-CN" sz="2000" dirty="0" err="1">
                <a:latin typeface="微软雅黑" panose="020B0503020204020204" charset="-122"/>
                <a:ea typeface="微软雅黑" panose="020B0503020204020204" charset="-122"/>
                <a:cs typeface="微软雅黑" panose="020B0503020204020204" charset="-122"/>
              </a:rPr>
              <a:t>dy</a:t>
            </a:r>
            <a:r>
              <a:rPr lang="en-US" altLang="zh-CN" sz="2000" dirty="0">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与自变量微分 </a:t>
            </a:r>
            <a:r>
              <a:rPr lang="en-US" altLang="zh-CN" sz="2000" dirty="0">
                <a:latin typeface="微软雅黑" panose="020B0503020204020204" charset="-122"/>
                <a:ea typeface="微软雅黑" panose="020B0503020204020204" charset="-122"/>
                <a:cs typeface="微软雅黑" panose="020B0503020204020204" charset="-122"/>
              </a:rPr>
              <a:t>dx </a:t>
            </a:r>
            <a:r>
              <a:rPr lang="zh-CN" altLang="en-US" sz="2000" dirty="0">
                <a:latin typeface="微软雅黑" panose="020B0503020204020204" charset="-122"/>
                <a:ea typeface="微软雅黑" panose="020B0503020204020204" charset="-122"/>
                <a:cs typeface="微软雅黑" panose="020B0503020204020204" charset="-122"/>
              </a:rPr>
              <a:t>之商，因此也称导数为“微商”</a:t>
            </a:r>
            <a:r>
              <a:rPr lang="en-US" altLang="zh-CN" sz="2000"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将导数解释为微商并采用记号 是 </a:t>
            </a:r>
            <a:r>
              <a:rPr lang="en-US" altLang="zh-CN" sz="2000" dirty="0">
                <a:latin typeface="微软雅黑" panose="020B0503020204020204" charset="-122"/>
                <a:ea typeface="微软雅黑" panose="020B0503020204020204" charset="-122"/>
                <a:cs typeface="微软雅黑" panose="020B0503020204020204" charset="-122"/>
              </a:rPr>
              <a:t>Leibniz(</a:t>
            </a:r>
            <a:r>
              <a:rPr lang="zh-CN" altLang="en-US" sz="2000" dirty="0">
                <a:latin typeface="微软雅黑" panose="020B0503020204020204" charset="-122"/>
                <a:ea typeface="微软雅黑" panose="020B0503020204020204" charset="-122"/>
                <a:cs typeface="微软雅黑" panose="020B0503020204020204" charset="-122"/>
              </a:rPr>
              <a:t>莱布尼茨</a:t>
            </a:r>
            <a:r>
              <a:rPr lang="en-US" altLang="zh-CN" sz="2000"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首倡的</a:t>
            </a:r>
            <a:r>
              <a:rPr lang="en-US" altLang="zh-CN" sz="2000" dirty="0">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是一个极富启发性的记号，它使得许多微分学公式获得十分自然的解释</a:t>
            </a:r>
            <a:r>
              <a:rPr lang="en-US" altLang="zh-CN" sz="2000"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例如，链规则与反函数求导规则可分别写成       </a:t>
            </a:r>
            <a:r>
              <a:rPr lang="en-US" altLang="zh-CN" sz="2000" dirty="0">
                <a:latin typeface="微软雅黑" panose="020B0503020204020204" charset="-122"/>
                <a:ea typeface="微软雅黑" panose="020B0503020204020204" charset="-122"/>
                <a:cs typeface="微软雅黑" panose="020B0503020204020204" charset="-122"/>
              </a:rPr>
              <a:t>       </a:t>
            </a:r>
            <a:r>
              <a:rPr lang="zh-CN" altLang="en-US" sz="2000" dirty="0">
                <a:latin typeface="微软雅黑" panose="020B0503020204020204" charset="-122"/>
                <a:ea typeface="微软雅黑" panose="020B0503020204020204" charset="-122"/>
                <a:cs typeface="微软雅黑" panose="020B0503020204020204" charset="-122"/>
              </a:rPr>
              <a:t>  与 </a:t>
            </a:r>
            <a:endParaRPr lang="en-US" altLang="zh-CN" sz="2000" dirty="0">
              <a:latin typeface="微软雅黑" panose="020B0503020204020204" charset="-122"/>
              <a:ea typeface="微软雅黑" panose="020B0503020204020204" charset="-122"/>
              <a:cs typeface="微软雅黑" panose="020B0503020204020204" charset="-122"/>
            </a:endParaRPr>
          </a:p>
        </p:txBody>
      </p:sp>
      <p:sp>
        <p:nvSpPr>
          <p:cNvPr id="4" name="矩形 3"/>
          <p:cNvSpPr/>
          <p:nvPr/>
        </p:nvSpPr>
        <p:spPr>
          <a:xfrm flipH="1">
            <a:off x="1198880" y="1083945"/>
            <a:ext cx="513715" cy="39941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4"/>
              </a:solidFill>
            </a:endParaRPr>
          </a:p>
        </p:txBody>
      </p:sp>
      <p:pic>
        <p:nvPicPr>
          <p:cNvPr id="2" name="图片 1"/>
          <p:cNvPicPr>
            <a:picLocks noChangeAspect="1"/>
          </p:cNvPicPr>
          <p:nvPr/>
        </p:nvPicPr>
        <p:blipFill rotWithShape="1">
          <a:blip r:embed="rId2"/>
          <a:srcRect b="12611"/>
          <a:stretch>
            <a:fillRect/>
          </a:stretch>
        </p:blipFill>
        <p:spPr>
          <a:xfrm>
            <a:off x="8816975" y="1282700"/>
            <a:ext cx="3018155" cy="2545715"/>
          </a:xfrm>
          <a:prstGeom prst="rect">
            <a:avLst/>
          </a:prstGeom>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962" t="14917"/>
          <a:stretch>
            <a:fillRect/>
          </a:stretch>
        </p:blipFill>
        <p:spPr bwMode="auto">
          <a:xfrm>
            <a:off x="2457526" y="2157781"/>
            <a:ext cx="1476830" cy="333795"/>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5274310" y="3719195"/>
            <a:ext cx="7322820" cy="834390"/>
          </a:xfrm>
          <a:prstGeom prst="rect">
            <a:avLst/>
          </a:prstGeom>
        </p:spPr>
      </p:pic>
      <p:pic>
        <p:nvPicPr>
          <p:cNvPr id="5" name="图片 4"/>
          <p:cNvPicPr>
            <a:picLocks noChangeAspect="1"/>
          </p:cNvPicPr>
          <p:nvPr/>
        </p:nvPicPr>
        <p:blipFill>
          <a:blip r:embed="rId5"/>
          <a:stretch>
            <a:fillRect/>
          </a:stretch>
        </p:blipFill>
        <p:spPr>
          <a:xfrm>
            <a:off x="6664960" y="3751580"/>
            <a:ext cx="7322820" cy="7696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825625" y="767715"/>
            <a:ext cx="7171690" cy="1014730"/>
          </a:xfrm>
          <a:prstGeom prst="rect">
            <a:avLst/>
          </a:prstGeom>
          <a:noFill/>
        </p:spPr>
        <p:txBody>
          <a:bodyPr wrap="square" rtlCol="0">
            <a:spAutoFit/>
          </a:bodyPr>
          <a:lstStyle>
            <a:defPPr>
              <a:defRPr lang="zh-CN"/>
            </a:defPPr>
            <a:lvl1pPr>
              <a:lnSpc>
                <a:spcPct val="150000"/>
              </a:lnSpc>
              <a:defRPr sz="3600">
                <a:solidFill>
                  <a:schemeClr val="accent4"/>
                </a:solidFill>
                <a:latin typeface="+mj-lt"/>
                <a:ea typeface="OPPOSans R" panose="00020600040101010101" charset="-122"/>
                <a:cs typeface="思源黑体 Regular" panose="020B0500000000000000" charset="-122"/>
              </a:defRPr>
            </a:lvl1pPr>
          </a:lstStyle>
          <a:p>
            <a:r>
              <a:rPr lang="zh-CN" altLang="en-US" sz="4000" b="1" dirty="0">
                <a:latin typeface="宋体" panose="02010600030101010101" pitchFamily="2" charset="-122"/>
                <a:ea typeface="宋体" panose="02010600030101010101" pitchFamily="2" charset="-122"/>
              </a:rPr>
              <a:t>基本微分规则</a:t>
            </a:r>
            <a:endParaRPr lang="en-US" altLang="zh-CN" sz="4000" b="1" dirty="0">
              <a:latin typeface="宋体" panose="02010600030101010101" pitchFamily="2" charset="-122"/>
              <a:ea typeface="宋体" panose="02010600030101010101" pitchFamily="2" charset="-122"/>
            </a:endParaRPr>
          </a:p>
        </p:txBody>
      </p:sp>
      <p:sp>
        <p:nvSpPr>
          <p:cNvPr id="4" name="矩形 3"/>
          <p:cNvSpPr/>
          <p:nvPr/>
        </p:nvSpPr>
        <p:spPr>
          <a:xfrm flipH="1">
            <a:off x="1198880" y="1083945"/>
            <a:ext cx="513715" cy="39941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4"/>
              </a:solidFill>
            </a:endParaRPr>
          </a:p>
        </p:txBody>
      </p:sp>
      <p:sp>
        <p:nvSpPr>
          <p:cNvPr id="32" name="文本框 31"/>
          <p:cNvSpPr txBox="1"/>
          <p:nvPr/>
        </p:nvSpPr>
        <p:spPr>
          <a:xfrm>
            <a:off x="1198880" y="1797050"/>
            <a:ext cx="9364269" cy="4707890"/>
          </a:xfrm>
          <a:prstGeom prst="rect">
            <a:avLst/>
          </a:prstGeom>
          <a:noFill/>
        </p:spPr>
        <p:txBody>
          <a:bodyPr wrap="square" rtlCol="0">
            <a:spAutoFit/>
          </a:bodyPr>
          <a:lstStyle/>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Ⅰ.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线性规则</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,α,β</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为常数</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p>
          <a:p>
            <a:pPr>
              <a:lnSpc>
                <a:spcPct val="150000"/>
              </a:lnSpc>
            </a:pPr>
            <a:endPar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Ⅱ.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积规则</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p>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p>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Ⅲ.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商规则</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a:t>
            </a:r>
          </a:p>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 </a:t>
            </a:r>
          </a:p>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Ⅳ.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链规则</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a:t>
            </a:r>
          </a:p>
          <a:p>
            <a:pPr>
              <a:lnSpc>
                <a:spcPct val="150000"/>
              </a:lnSpc>
            </a:pP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 </a:t>
            </a:r>
          </a:p>
          <a:p>
            <a:pPr>
              <a:lnSpc>
                <a:spcPct val="150000"/>
              </a:lnSpc>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一阶微分形式不变性 设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y=f(u)</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是可微函数，则无论</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rPr>
              <a:t>u</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rPr>
              <a:t>是自变量或者是中间变量，都有</a:t>
            </a:r>
            <a:endParaRPr lang="en-US" altLang="zh-CN" sz="2000" dirty="0">
              <a:solidFill>
                <a:schemeClr val="accent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2941320" y="1960880"/>
            <a:ext cx="7183120" cy="425450"/>
          </a:xfrm>
          <a:prstGeom prst="rect">
            <a:avLst/>
          </a:prstGeom>
        </p:spPr>
      </p:pic>
      <p:pic>
        <p:nvPicPr>
          <p:cNvPr id="307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3507" t="44747"/>
          <a:stretch>
            <a:fillRect/>
          </a:stretch>
        </p:blipFill>
        <p:spPr bwMode="auto">
          <a:xfrm>
            <a:off x="3022244" y="2932585"/>
            <a:ext cx="2284781" cy="30100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2941320" y="3641090"/>
            <a:ext cx="8088630" cy="664210"/>
          </a:xfrm>
          <a:prstGeom prst="rect">
            <a:avLst/>
          </a:prstGeom>
        </p:spPr>
      </p:pic>
      <p:pic>
        <p:nvPicPr>
          <p:cNvPr id="6" name="图片 5"/>
          <p:cNvPicPr>
            <a:picLocks noChangeAspect="1"/>
          </p:cNvPicPr>
          <p:nvPr/>
        </p:nvPicPr>
        <p:blipFill>
          <a:blip r:embed="rId5"/>
          <a:stretch>
            <a:fillRect/>
          </a:stretch>
        </p:blipFill>
        <p:spPr>
          <a:xfrm>
            <a:off x="2941320" y="4532630"/>
            <a:ext cx="7040880" cy="612140"/>
          </a:xfrm>
          <a:prstGeom prst="rect">
            <a:avLst/>
          </a:prstGeom>
        </p:spPr>
      </p:pic>
      <p:pic>
        <p:nvPicPr>
          <p:cNvPr id="7" name="图片 6"/>
          <p:cNvPicPr>
            <a:picLocks noChangeAspect="1"/>
          </p:cNvPicPr>
          <p:nvPr/>
        </p:nvPicPr>
        <p:blipFill>
          <a:blip r:embed="rId6"/>
          <a:stretch>
            <a:fillRect/>
          </a:stretch>
        </p:blipFill>
        <p:spPr>
          <a:xfrm>
            <a:off x="-1946681" y="5885272"/>
            <a:ext cx="9255531" cy="61999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12595" y="735965"/>
            <a:ext cx="7171690" cy="1014730"/>
          </a:xfrm>
          <a:prstGeom prst="rect">
            <a:avLst/>
          </a:prstGeom>
          <a:noFill/>
        </p:spPr>
        <p:txBody>
          <a:bodyPr wrap="square" rtlCol="0">
            <a:spAutoFit/>
          </a:bodyPr>
          <a:lstStyle>
            <a:defPPr>
              <a:defRPr lang="zh-CN"/>
            </a:defPPr>
            <a:lvl1pPr>
              <a:lnSpc>
                <a:spcPct val="150000"/>
              </a:lnSpc>
              <a:defRPr sz="3600">
                <a:solidFill>
                  <a:schemeClr val="accent4"/>
                </a:solidFill>
                <a:latin typeface="+mj-lt"/>
                <a:ea typeface="OPPOSans R" panose="00020600040101010101" charset="-122"/>
                <a:cs typeface="思源黑体 Regular" panose="020B0500000000000000" charset="-122"/>
              </a:defRPr>
            </a:lvl1pPr>
          </a:lstStyle>
          <a:p>
            <a:r>
              <a:rPr lang="zh-CN" altLang="en-US" sz="4000" b="1" dirty="0">
                <a:latin typeface="宋体" panose="02010600030101010101" pitchFamily="2" charset="-122"/>
                <a:ea typeface="宋体" panose="02010600030101010101" pitchFamily="2" charset="-122"/>
                <a:cs typeface="宋体" panose="02010600030101010101" pitchFamily="2" charset="-122"/>
              </a:rPr>
              <a:t>微分表</a:t>
            </a:r>
            <a:r>
              <a:rPr lang="en-US" altLang="zh-CN" sz="4000" b="1" dirty="0">
                <a:latin typeface="宋体" panose="02010600030101010101" pitchFamily="2" charset="-122"/>
                <a:ea typeface="宋体" panose="02010600030101010101" pitchFamily="2" charset="-122"/>
                <a:cs typeface="宋体" panose="02010600030101010101" pitchFamily="2" charset="-122"/>
              </a:rPr>
              <a:t> </a:t>
            </a:r>
          </a:p>
        </p:txBody>
      </p:sp>
      <p:sp>
        <p:nvSpPr>
          <p:cNvPr id="4" name="矩形 3"/>
          <p:cNvSpPr/>
          <p:nvPr/>
        </p:nvSpPr>
        <p:spPr>
          <a:xfrm flipH="1">
            <a:off x="1198880" y="1083945"/>
            <a:ext cx="513715" cy="39941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4"/>
              </a:solidFill>
            </a:endParaRPr>
          </a:p>
        </p:txBody>
      </p:sp>
      <p:sp>
        <p:nvSpPr>
          <p:cNvPr id="13" name="文本框 12"/>
          <p:cNvSpPr txBox="1"/>
          <p:nvPr/>
        </p:nvSpPr>
        <p:spPr>
          <a:xfrm>
            <a:off x="546202" y="5206528"/>
            <a:ext cx="11594592" cy="1014730"/>
          </a:xfrm>
          <a:prstGeom prst="rect">
            <a:avLst/>
          </a:prstGeom>
          <a:noFill/>
        </p:spPr>
        <p:txBody>
          <a:bodyPr wrap="square" rtlCol="0">
            <a:spAutoFit/>
          </a:bodyPr>
          <a:lstStyle/>
          <a:p>
            <a:pPr lvl="0">
              <a:lnSpc>
                <a:spcPct val="150000"/>
              </a:lnSpc>
              <a:buClrTx/>
              <a:buSzTx/>
              <a:buFontTx/>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值得注意的是，由一阶微分形式的不变性，以上公式中的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u</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既可以是自变量，也可以是某个自变量的可微函数</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与此不同的是，相对应的导数表中的变量必须是自变量</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p>
        </p:txBody>
      </p:sp>
      <p:pic>
        <p:nvPicPr>
          <p:cNvPr id="15" name="图片 14"/>
          <p:cNvPicPr>
            <a:picLocks noChangeAspect="1"/>
          </p:cNvPicPr>
          <p:nvPr/>
        </p:nvPicPr>
        <p:blipFill>
          <a:blip r:embed="rId2"/>
          <a:stretch>
            <a:fillRect/>
          </a:stretch>
        </p:blipFill>
        <p:spPr>
          <a:xfrm>
            <a:off x="-1798320" y="2502535"/>
            <a:ext cx="6508115" cy="437515"/>
          </a:xfrm>
          <a:prstGeom prst="rect">
            <a:avLst/>
          </a:prstGeom>
        </p:spPr>
      </p:pic>
      <p:sp>
        <p:nvSpPr>
          <p:cNvPr id="17" name="文本框 16"/>
          <p:cNvSpPr txBox="1"/>
          <p:nvPr/>
        </p:nvSpPr>
        <p:spPr>
          <a:xfrm>
            <a:off x="1712494" y="2502792"/>
            <a:ext cx="6378854" cy="398780"/>
          </a:xfrm>
          <a:prstGeom prst="rect">
            <a:avLst/>
          </a:prstGeom>
          <a:noFill/>
        </p:spPr>
        <p:txBody>
          <a:bodyPr wrap="square">
            <a:spAutoFit/>
          </a:bodyPr>
          <a:lstStyle/>
          <a:p>
            <a:pPr marL="0" marR="0" algn="just">
              <a:spcBef>
                <a:spcPts val="0"/>
              </a:spcBef>
              <a:spcAft>
                <a:spcPts val="0"/>
              </a:spcAft>
            </a:pPr>
            <a:r>
              <a:rPr lang="zh-CN" altLang="en-US" sz="2000"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000" dirty="0">
                <a:solidFill>
                  <a:srgbClr val="000000"/>
                </a:solidFill>
                <a:latin typeface="微软雅黑" panose="020B0503020204020204" charset="-122"/>
                <a:ea typeface="微软雅黑" panose="020B0503020204020204" charset="-122"/>
                <a:cs typeface="微软雅黑" panose="020B0503020204020204" charset="-122"/>
              </a:rPr>
              <a:t> C </a:t>
            </a:r>
            <a:r>
              <a:rPr lang="zh-CN" altLang="en-US" sz="2000" dirty="0">
                <a:solidFill>
                  <a:srgbClr val="000000"/>
                </a:solidFill>
                <a:effectLst/>
                <a:latin typeface="微软雅黑" panose="020B0503020204020204" charset="-122"/>
                <a:ea typeface="微软雅黑" panose="020B0503020204020204" charset="-122"/>
                <a:cs typeface="微软雅黑" panose="020B0503020204020204" charset="-122"/>
              </a:rPr>
              <a:t>是常数</a:t>
            </a:r>
            <a:endParaRPr lang="zh-CN" altLang="en-US" sz="2000" dirty="0">
              <a:effectLst/>
              <a:latin typeface="微软雅黑" panose="020B0503020204020204" charset="-122"/>
              <a:ea typeface="微软雅黑" panose="020B0503020204020204" charset="-122"/>
              <a:cs typeface="微软雅黑" panose="020B0503020204020204" charset="-122"/>
            </a:endParaRPr>
          </a:p>
        </p:txBody>
      </p:sp>
      <p:pic>
        <p:nvPicPr>
          <p:cNvPr id="18" name="图片 17"/>
          <p:cNvPicPr>
            <a:picLocks noChangeAspect="1"/>
          </p:cNvPicPr>
          <p:nvPr/>
        </p:nvPicPr>
        <p:blipFill>
          <a:blip r:embed="rId3"/>
          <a:stretch>
            <a:fillRect/>
          </a:stretch>
        </p:blipFill>
        <p:spPr>
          <a:xfrm>
            <a:off x="-1863725" y="3763010"/>
            <a:ext cx="8201660" cy="356235"/>
          </a:xfrm>
          <a:prstGeom prst="rect">
            <a:avLst/>
          </a:prstGeom>
        </p:spPr>
      </p:pic>
      <p:sp>
        <p:nvSpPr>
          <p:cNvPr id="20" name="文本框 19"/>
          <p:cNvSpPr txBox="1"/>
          <p:nvPr/>
        </p:nvSpPr>
        <p:spPr>
          <a:xfrm>
            <a:off x="3495040" y="3741716"/>
            <a:ext cx="6378854" cy="398780"/>
          </a:xfrm>
          <a:prstGeom prst="rect">
            <a:avLst/>
          </a:prstGeom>
          <a:noFill/>
        </p:spPr>
        <p:txBody>
          <a:bodyPr wrap="square">
            <a:spAutoFit/>
          </a:bodyPr>
          <a:lstStyle/>
          <a:p>
            <a:pPr marL="0" marR="0" algn="just">
              <a:spcBef>
                <a:spcPts val="0"/>
              </a:spcBef>
              <a:spcAft>
                <a:spcPts val="0"/>
              </a:spcAft>
            </a:pPr>
            <a:r>
              <a:rPr lang="el-GR" altLang="zh-CN" sz="2000" dirty="0">
                <a:solidFill>
                  <a:srgbClr val="000000"/>
                </a:solidFill>
                <a:effectLst/>
                <a:latin typeface="微软雅黑" panose="020B0503020204020204" charset="-122"/>
                <a:ea typeface="微软雅黑" panose="020B0503020204020204" charset="-122"/>
                <a:cs typeface="微软雅黑" panose="020B0503020204020204" charset="-122"/>
              </a:rPr>
              <a:t>α</a:t>
            </a:r>
            <a:r>
              <a:rPr lang="zh-CN" altLang="en-US" sz="2000" dirty="0">
                <a:solidFill>
                  <a:srgbClr val="000000"/>
                </a:solidFill>
                <a:effectLst/>
                <a:latin typeface="微软雅黑" panose="020B0503020204020204" charset="-122"/>
                <a:ea typeface="微软雅黑" panose="020B0503020204020204" charset="-122"/>
                <a:cs typeface="微软雅黑" panose="020B0503020204020204" charset="-122"/>
              </a:rPr>
              <a:t>是常数</a:t>
            </a:r>
            <a:endParaRPr lang="zh-CN" altLang="en-US" sz="2000" dirty="0">
              <a:effectLst/>
              <a:latin typeface="微软雅黑" panose="020B0503020204020204" charset="-122"/>
              <a:ea typeface="微软雅黑" panose="020B0503020204020204" charset="-122"/>
              <a:cs typeface="微软雅黑" panose="020B0503020204020204" charset="-122"/>
            </a:endParaRPr>
          </a:p>
        </p:txBody>
      </p:sp>
      <p:pic>
        <p:nvPicPr>
          <p:cNvPr id="21" name="图片 20"/>
          <p:cNvPicPr>
            <a:picLocks noChangeAspect="1"/>
          </p:cNvPicPr>
          <p:nvPr/>
        </p:nvPicPr>
        <p:blipFill>
          <a:blip r:embed="rId4"/>
          <a:stretch>
            <a:fillRect/>
          </a:stretch>
        </p:blipFill>
        <p:spPr>
          <a:xfrm>
            <a:off x="1198880" y="4590415"/>
            <a:ext cx="7390130" cy="866775"/>
          </a:xfrm>
          <a:prstGeom prst="rect">
            <a:avLst/>
          </a:prstGeom>
        </p:spPr>
      </p:pic>
      <p:pic>
        <p:nvPicPr>
          <p:cNvPr id="23" name="图片 22"/>
          <p:cNvPicPr>
            <a:picLocks noChangeAspect="1"/>
          </p:cNvPicPr>
          <p:nvPr/>
        </p:nvPicPr>
        <p:blipFill>
          <a:blip r:embed="rId5"/>
          <a:stretch>
            <a:fillRect/>
          </a:stretch>
        </p:blipFill>
        <p:spPr>
          <a:xfrm>
            <a:off x="5038090" y="1235075"/>
            <a:ext cx="8881110" cy="417385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712595" y="758490"/>
            <a:ext cx="7171690" cy="1014730"/>
          </a:xfrm>
          <a:prstGeom prst="rect">
            <a:avLst/>
          </a:prstGeom>
          <a:noFill/>
        </p:spPr>
        <p:txBody>
          <a:bodyPr wrap="square" rtlCol="0">
            <a:spAutoFit/>
          </a:bodyPr>
          <a:lstStyle>
            <a:defPPr>
              <a:defRPr lang="zh-CN"/>
            </a:defPPr>
            <a:lvl1pPr>
              <a:lnSpc>
                <a:spcPct val="150000"/>
              </a:lnSpc>
              <a:defRPr sz="3600">
                <a:solidFill>
                  <a:schemeClr val="accent4"/>
                </a:solidFill>
                <a:latin typeface="+mj-lt"/>
                <a:ea typeface="OPPOSans R" panose="00020600040101010101" charset="-122"/>
                <a:cs typeface="思源黑体 Regular" panose="020B0500000000000000" charset="-122"/>
              </a:defRPr>
            </a:lvl1pPr>
          </a:lstStyle>
          <a:p>
            <a:r>
              <a:rPr lang="zh-CN" altLang="en-US" sz="4000" b="1" dirty="0">
                <a:latin typeface="宋体" panose="02010600030101010101" pitchFamily="2" charset="-122"/>
                <a:ea typeface="宋体" panose="02010600030101010101" pitchFamily="2" charset="-122"/>
              </a:rPr>
              <a:t>微分的应用</a:t>
            </a:r>
          </a:p>
        </p:txBody>
      </p:sp>
      <p:sp>
        <p:nvSpPr>
          <p:cNvPr id="4" name="矩形 3"/>
          <p:cNvSpPr/>
          <p:nvPr/>
        </p:nvSpPr>
        <p:spPr>
          <a:xfrm flipH="1">
            <a:off x="1198880" y="1083945"/>
            <a:ext cx="513715" cy="39941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accent4"/>
              </a:solidFill>
            </a:endParaRPr>
          </a:p>
        </p:txBody>
      </p:sp>
      <p:grpSp>
        <p:nvGrpSpPr>
          <p:cNvPr id="6" name="组合 5"/>
          <p:cNvGrpSpPr/>
          <p:nvPr/>
        </p:nvGrpSpPr>
        <p:grpSpPr>
          <a:xfrm>
            <a:off x="1198880" y="1972945"/>
            <a:ext cx="10182225" cy="1938020"/>
            <a:chOff x="1994" y="2151"/>
            <a:chExt cx="16035" cy="3052"/>
          </a:xfrm>
        </p:grpSpPr>
        <p:sp>
          <p:nvSpPr>
            <p:cNvPr id="5" name="文本框 4"/>
            <p:cNvSpPr txBox="1"/>
            <p:nvPr/>
          </p:nvSpPr>
          <p:spPr>
            <a:xfrm>
              <a:off x="1994" y="2151"/>
              <a:ext cx="16035" cy="3052"/>
            </a:xfrm>
            <a:prstGeom prst="rect">
              <a:avLst/>
            </a:prstGeom>
          </p:spPr>
          <p:txBody>
            <a:bodyPr wrap="square" rtlCol="0">
              <a:spAutoFit/>
            </a:bodyPr>
            <a:lstStyle/>
            <a:p>
              <a:pPr>
                <a:lnSpc>
                  <a:spcPct val="150000"/>
                </a:lnSpc>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近似计算：如果</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 与   </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都容易计算，那么可利用式</a:t>
              </a:r>
              <a:endPar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来近似计算 </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y</a:t>
              </a:r>
            </a:p>
            <a:p>
              <a:pPr>
                <a:lnSpc>
                  <a:spcPct val="150000"/>
                </a:lnSpc>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利用式</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来近似计算</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f(x</a:t>
              </a:r>
              <a:r>
                <a:rPr lang="en-US" altLang="zh-CN" sz="2000" baseline="-25000" dirty="0">
                  <a:solidFill>
                    <a:schemeClr val="accent4"/>
                  </a:solidFill>
                  <a:latin typeface="微软雅黑" panose="020B0503020204020204" charset="-122"/>
                  <a:ea typeface="微软雅黑" panose="020B0503020204020204" charset="-122"/>
                  <a:cs typeface="微软雅黑" panose="020B0503020204020204" charset="-122"/>
                  <a:sym typeface="+mn-ea"/>
                </a:rPr>
                <a:t>0</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a:t>
              </a:r>
              <a:r>
                <a:rPr lang="el-GR"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Δ</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x)</a:t>
              </a:r>
            </a:p>
            <a:p>
              <a:pPr>
                <a:lnSpc>
                  <a:spcPct val="150000"/>
                </a:lnSpc>
              </a:pP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或利用式</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rPr>
                <a:t>来近似计算</a:t>
              </a:r>
              <a:r>
                <a:rPr lang="en-US" altLang="zh-CN" sz="2000" dirty="0">
                  <a:solidFill>
                    <a:schemeClr val="accent4"/>
                  </a:solidFill>
                  <a:latin typeface="微软雅黑" panose="020B0503020204020204" charset="-122"/>
                  <a:ea typeface="微软雅黑" panose="020B0503020204020204" charset="-122"/>
                  <a:cs typeface="微软雅黑" panose="020B0503020204020204" charset="-122"/>
                  <a:sym typeface="+mn-ea"/>
                </a:rPr>
                <a:t>f(x)</a:t>
              </a:r>
              <a:endParaRPr lang="zh-CN" altLang="en-US" sz="2000" dirty="0">
                <a:solidFill>
                  <a:schemeClr val="accent4"/>
                </a:solidFill>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rotWithShape="1">
            <a:blip r:embed="rId2"/>
            <a:srcRect r="89896" b="-4349"/>
            <a:stretch>
              <a:fillRect/>
            </a:stretch>
          </p:blipFill>
          <p:spPr>
            <a:xfrm>
              <a:off x="4955" y="2252"/>
              <a:ext cx="863" cy="772"/>
            </a:xfrm>
            <a:prstGeom prst="rect">
              <a:avLst/>
            </a:prstGeom>
          </p:spPr>
        </p:pic>
        <p:pic>
          <p:nvPicPr>
            <p:cNvPr id="14" name="图片 13"/>
            <p:cNvPicPr>
              <a:picLocks noChangeAspect="1"/>
            </p:cNvPicPr>
            <p:nvPr/>
          </p:nvPicPr>
          <p:blipFill rotWithShape="1">
            <a:blip r:embed="rId3"/>
            <a:srcRect l="43569" t="1" r="43939" b="-2490"/>
            <a:stretch>
              <a:fillRect/>
            </a:stretch>
          </p:blipFill>
          <p:spPr>
            <a:xfrm>
              <a:off x="6247" y="2332"/>
              <a:ext cx="1037" cy="692"/>
            </a:xfrm>
            <a:prstGeom prst="rect">
              <a:avLst/>
            </a:prstGeom>
          </p:spPr>
        </p:pic>
        <p:pic>
          <p:nvPicPr>
            <p:cNvPr id="15" name="图片 14"/>
            <p:cNvPicPr>
              <a:picLocks noChangeAspect="1"/>
            </p:cNvPicPr>
            <p:nvPr/>
          </p:nvPicPr>
          <p:blipFill rotWithShape="1">
            <a:blip r:embed="rId4"/>
            <a:srcRect l="25248" t="-1" r="25341" b="-4348"/>
            <a:stretch>
              <a:fillRect/>
            </a:stretch>
          </p:blipFill>
          <p:spPr>
            <a:xfrm>
              <a:off x="12403" y="2314"/>
              <a:ext cx="4101" cy="647"/>
            </a:xfrm>
            <a:prstGeom prst="rect">
              <a:avLst/>
            </a:prstGeom>
          </p:spPr>
        </p:pic>
        <p:pic>
          <p:nvPicPr>
            <p:cNvPr id="16" name="图片 15"/>
            <p:cNvPicPr>
              <a:picLocks noChangeAspect="1"/>
            </p:cNvPicPr>
            <p:nvPr/>
          </p:nvPicPr>
          <p:blipFill rotWithShape="1">
            <a:blip r:embed="rId5"/>
            <a:srcRect r="50589" b="-4349"/>
            <a:stretch>
              <a:fillRect/>
            </a:stretch>
          </p:blipFill>
          <p:spPr>
            <a:xfrm>
              <a:off x="3458" y="3776"/>
              <a:ext cx="4101" cy="647"/>
            </a:xfrm>
            <a:prstGeom prst="rect">
              <a:avLst/>
            </a:prstGeom>
          </p:spPr>
        </p:pic>
        <p:pic>
          <p:nvPicPr>
            <p:cNvPr id="18" name="图片 17"/>
            <p:cNvPicPr>
              <a:picLocks noChangeAspect="1"/>
            </p:cNvPicPr>
            <p:nvPr/>
          </p:nvPicPr>
          <p:blipFill rotWithShape="1">
            <a:blip r:embed="rId6"/>
            <a:srcRect r="50589" b="6395"/>
            <a:stretch>
              <a:fillRect/>
            </a:stretch>
          </p:blipFill>
          <p:spPr>
            <a:xfrm>
              <a:off x="3803" y="4492"/>
              <a:ext cx="4101" cy="580"/>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47060" y="2967990"/>
            <a:ext cx="5897880" cy="922020"/>
          </a:xfrm>
          <a:prstGeom prst="rect">
            <a:avLst/>
          </a:prstGeom>
          <a:noFill/>
        </p:spPr>
        <p:txBody>
          <a:bodyPr wrap="square" rtlCol="0">
            <a:spAutoFit/>
          </a:bodyPr>
          <a:lstStyle/>
          <a:p>
            <a:pPr algn="ctr"/>
            <a:r>
              <a:rPr lang="en-US" altLang="zh-CN" sz="5400" b="1">
                <a:latin typeface="+mj-ea"/>
                <a:ea typeface="+mj-ea"/>
                <a:cs typeface="+mj-ea"/>
              </a:rPr>
              <a:t>3.4 </a:t>
            </a:r>
            <a:r>
              <a:rPr lang="zh-CN" altLang="en-US" sz="5400" b="1">
                <a:latin typeface="+mj-ea"/>
                <a:ea typeface="+mj-ea"/>
                <a:cs typeface="+mj-ea"/>
              </a:rPr>
              <a:t>隐函数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a:lstStyle/>
          <a:p>
            <a:r>
              <a:rPr lang="en-US" altLang="zh-CN" sz="2900"/>
              <a:t>3.4</a:t>
            </a:r>
            <a:r>
              <a:rPr sz="2900"/>
              <a:t>隐函数及用参数表示的函数的微分法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00000"/>
                  </a:lnSpc>
                </a:pPr>
                <a:r>
                  <a:rPr lang="zh-CN" altLang="en-US" sz="2000" dirty="0">
                    <a:latin typeface="+mn-ea"/>
                    <a:ea typeface="+mn-ea"/>
                    <a:cs typeface="+mn-ea"/>
                  </a:rPr>
                  <a:t>隐函数：</a:t>
                </a:r>
                <a:r>
                  <a:rPr sz="2000" dirty="0" err="1">
                    <a:latin typeface="+mn-ea"/>
                    <a:ea typeface="+mn-ea"/>
                    <a:cs typeface="+mn-ea"/>
                  </a:rPr>
                  <a:t>如果方程F</a:t>
                </a:r>
                <a:r>
                  <a:rPr sz="2000" dirty="0">
                    <a:latin typeface="+mn-ea"/>
                    <a:ea typeface="+mn-ea"/>
                    <a:cs typeface="+mn-ea"/>
                  </a:rPr>
                  <a:t>(</a:t>
                </a:r>
                <a:r>
                  <a:rPr sz="2000" dirty="0" err="1">
                    <a:latin typeface="+mn-ea"/>
                    <a:ea typeface="+mn-ea"/>
                    <a:cs typeface="+mn-ea"/>
                  </a:rPr>
                  <a:t>x,y</a:t>
                </a:r>
                <a:r>
                  <a:rPr sz="2000" dirty="0">
                    <a:latin typeface="+mn-ea"/>
                    <a:ea typeface="+mn-ea"/>
                    <a:cs typeface="+mn-ea"/>
                  </a:rPr>
                  <a:t>)=0能确定y是x的函数，那么称这种方式表示的函数是隐函数</a:t>
                </a:r>
              </a:p>
              <a:p>
                <a:pPr marL="342900" indent="-342900">
                  <a:lnSpc>
                    <a:spcPct val="100000"/>
                  </a:lnSpc>
                  <a:buAutoNum type="arabicPeriod"/>
                </a:pPr>
                <a:r>
                  <a:rPr sz="2000" dirty="0">
                    <a:latin typeface="+mn-ea"/>
                    <a:ea typeface="+mn-ea"/>
                    <a:cs typeface="+mn-ea"/>
                  </a:rPr>
                  <a:t>求</a:t>
                </a:r>
                <a14:m>
                  <m:oMath xmlns:m="http://schemas.openxmlformats.org/officeDocument/2006/math">
                    <m:r>
                      <a:rPr lang="en-US" altLang="zh-CN" sz="2000" i="1">
                        <a:latin typeface="Cambria Math" panose="02040503050406030204" charset="0"/>
                        <a:ea typeface="+mn-ea"/>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oMath>
                </a14:m>
                <a:r>
                  <a:rPr sz="2000" dirty="0">
                    <a:latin typeface="+mn-ea"/>
                    <a:ea typeface="+mn-ea"/>
                    <a:cs typeface="+mn-ea"/>
                  </a:rPr>
                  <a:t>，</a:t>
                </a:r>
                <a:r>
                  <a:rPr sz="2000" dirty="0" err="1">
                    <a:latin typeface="+mn-ea"/>
                    <a:ea typeface="+mn-ea"/>
                    <a:cs typeface="+mn-ea"/>
                  </a:rPr>
                  <a:t>可将方程两边对</a:t>
                </a:r>
                <a:r>
                  <a:rPr lang="en-US" altLang="zh-CN" sz="2000" dirty="0" err="1">
                    <a:latin typeface="+mn-ea"/>
                    <a:ea typeface="+mn-ea"/>
                    <a:cs typeface="+mn-ea"/>
                  </a:rPr>
                  <a:t>x</a:t>
                </a:r>
                <a:r>
                  <a:rPr sz="2000" dirty="0" err="1">
                    <a:latin typeface="+mn-ea"/>
                    <a:ea typeface="+mn-ea"/>
                    <a:cs typeface="+mn-ea"/>
                  </a:rPr>
                  <a:t>求导</a:t>
                </a:r>
                <a:endParaRPr sz="2000" dirty="0">
                  <a:latin typeface="+mn-ea"/>
                  <a:ea typeface="+mn-ea"/>
                  <a:cs typeface="+mn-ea"/>
                </a:endParaRPr>
              </a:p>
              <a:p>
                <a:pPr marL="342900" indent="-342900">
                  <a:lnSpc>
                    <a:spcPct val="100000"/>
                  </a:lnSpc>
                  <a:buAutoNum type="arabicPeriod"/>
                </a:pPr>
                <a:r>
                  <a:rPr sz="2000" dirty="0" err="1">
                    <a:latin typeface="+mn-ea"/>
                    <a:ea typeface="+mn-ea"/>
                    <a:cs typeface="+mn-ea"/>
                  </a:rPr>
                  <a:t>或者用求微分法，方程两边微分，得含</a:t>
                </a:r>
                <a14:m>
                  <m:oMath xmlns:m="http://schemas.openxmlformats.org/officeDocument/2006/math">
                    <m:r>
                      <a:rPr lang="en-US" altLang="zh-CN" sz="2000" i="1">
                        <a:latin typeface="Cambria Math" panose="02040503050406030204" charset="0"/>
                        <a:ea typeface="+mn-ea"/>
                        <a:cs typeface="Cambria Math" panose="02040503050406030204" charset="0"/>
                      </a:rPr>
                      <m:t>𝑑𝑦</m:t>
                    </m:r>
                  </m:oMath>
                </a14:m>
                <a:r>
                  <a:rPr sz="2000" dirty="0" err="1">
                    <a:latin typeface="+mn-ea"/>
                    <a:ea typeface="+mn-ea"/>
                    <a:cs typeface="+mn-ea"/>
                  </a:rPr>
                  <a:t>的方程，解</a:t>
                </a:r>
                <a14:m>
                  <m:oMath xmlns:m="http://schemas.openxmlformats.org/officeDocument/2006/math">
                    <m:r>
                      <a:rPr lang="en-US" altLang="zh-CN" sz="2000" i="1">
                        <a:latin typeface="Cambria Math" panose="02040503050406030204" charset="0"/>
                        <a:ea typeface="+mn-ea"/>
                        <a:cs typeface="Cambria Math" panose="02040503050406030204" charset="0"/>
                      </a:rPr>
                      <m:t>𝑑𝑦</m:t>
                    </m:r>
                  </m:oMath>
                </a14:m>
                <a:r>
                  <a:rPr sz="2000" dirty="0">
                    <a:latin typeface="+mn-ea"/>
                    <a:ea typeface="+mn-ea"/>
                    <a:cs typeface="+mn-ea"/>
                  </a:rPr>
                  <a:t>，由</a:t>
                </a:r>
                <a14:m>
                  <m:oMath xmlns:m="http://schemas.openxmlformats.org/officeDocument/2006/math">
                    <m:r>
                      <a:rPr lang="en-US" altLang="zh-CN" sz="2000" i="1">
                        <a:latin typeface="Cambria Math" panose="02040503050406030204" charset="0"/>
                        <a:ea typeface="+mn-ea"/>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𝑑𝑦</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n-ea"/>
                        <a:cs typeface="Cambria Math" panose="02040503050406030204" charset="0"/>
                      </a:rPr>
                      <m:t>𝑑𝑥</m:t>
                    </m:r>
                  </m:oMath>
                </a14:m>
                <a:r>
                  <a:rPr sz="2000" dirty="0">
                    <a:latin typeface="+mn-ea"/>
                    <a:ea typeface="+mn-ea"/>
                    <a:cs typeface="+mn-ea"/>
                  </a:rPr>
                  <a:t>得</a:t>
                </a:r>
                <a14:m>
                  <m:oMath xmlns:m="http://schemas.openxmlformats.org/officeDocument/2006/math">
                    <m:r>
                      <a:rPr lang="en-US" altLang="zh-CN" sz="2000" i="1">
                        <a:latin typeface="Cambria Math" panose="02040503050406030204" charset="0"/>
                        <a:ea typeface="+mn-ea"/>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oMath>
                </a14:m>
                <a:endParaRPr sz="2000" dirty="0">
                  <a:latin typeface="+mn-ea"/>
                  <a:ea typeface="+mn-ea"/>
                  <a:cs typeface="+mn-ea"/>
                </a:endParaRPr>
              </a:p>
              <a:p>
                <a:pPr marL="0" indent="0">
                  <a:buNone/>
                </a:pPr>
                <a:endParaRPr sz="2000" dirty="0">
                  <a:latin typeface="+mn-ea"/>
                  <a:ea typeface="+mn-ea"/>
                  <a:cs typeface="+mn-ea"/>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4"/>
                <a:stretch>
                  <a:fillRect l="-1" t="-1" r="3" b="12"/>
                </a:stretch>
              </a:blipFill>
            </p:spPr>
            <p:txBody>
              <a:bodyPr/>
              <a:lstStyle/>
              <a:p>
                <a:r>
                  <a:rPr lang="zh-CN" altLang="en-US">
                    <a:noFill/>
                  </a:rPr>
                  <a:t> </a:t>
                </a:r>
              </a:p>
            </p:txBody>
          </p:sp>
        </mc:Fallback>
      </mc:AlternateContent>
      <p:pic>
        <p:nvPicPr>
          <p:cNvPr id="4" name="图片 3" descr="7c19a21779aa3dbfb9cb5fead716542"/>
          <p:cNvPicPr>
            <a:picLocks noChangeAspect="1"/>
          </p:cNvPicPr>
          <p:nvPr/>
        </p:nvPicPr>
        <p:blipFill>
          <a:blip r:embed="rId5"/>
          <a:srcRect l="3982" r="13285"/>
          <a:stretch>
            <a:fillRect/>
          </a:stretch>
        </p:blipFill>
        <p:spPr>
          <a:xfrm>
            <a:off x="3398139" y="2778379"/>
            <a:ext cx="5758053" cy="1160068"/>
          </a:xfrm>
          <a:prstGeom prst="rect">
            <a:avLst/>
          </a:prstGeom>
        </p:spPr>
      </p:pic>
      <p:pic>
        <p:nvPicPr>
          <p:cNvPr id="6" name="图片 5" descr="cf9264b85eb017a71cb899f1b6f4fbb"/>
          <p:cNvPicPr>
            <a:picLocks noChangeAspect="1"/>
          </p:cNvPicPr>
          <p:nvPr/>
        </p:nvPicPr>
        <p:blipFill>
          <a:blip r:embed="rId6"/>
          <a:srcRect l="4074" r="18481" b="846"/>
          <a:stretch>
            <a:fillRect/>
          </a:stretch>
        </p:blipFill>
        <p:spPr>
          <a:xfrm>
            <a:off x="3526057" y="3924545"/>
            <a:ext cx="5139886" cy="2808993"/>
          </a:xfrm>
          <a:prstGeom prst="rect">
            <a:avLst/>
          </a:prstGeom>
        </p:spPr>
      </p:pic>
      <p:sp>
        <p:nvSpPr>
          <p:cNvPr id="7" name="文本框 6"/>
          <p:cNvSpPr txBox="1"/>
          <p:nvPr/>
        </p:nvSpPr>
        <p:spPr>
          <a:xfrm>
            <a:off x="793115" y="2880995"/>
            <a:ext cx="4064000" cy="398780"/>
          </a:xfrm>
          <a:prstGeom prst="rect">
            <a:avLst/>
          </a:prstGeom>
          <a:noFill/>
        </p:spPr>
        <p:txBody>
          <a:bodyPr wrap="square" rtlCol="0">
            <a:spAutoFit/>
          </a:bodyPr>
          <a:lstStyle/>
          <a:p>
            <a:r>
              <a:rPr lang="zh-CN" altLang="en-US" sz="2000" dirty="0">
                <a:solidFill>
                  <a:srgbClr val="FF0000"/>
                </a:solidFill>
              </a:rPr>
              <a:t>一、两边同时求导</a:t>
            </a:r>
          </a:p>
        </p:txBody>
      </p:sp>
      <p:sp>
        <p:nvSpPr>
          <p:cNvPr id="8" name="文本框 7"/>
          <p:cNvSpPr txBox="1"/>
          <p:nvPr>
            <p:custDataLst>
              <p:tags r:id="rId2"/>
            </p:custDataLst>
          </p:nvPr>
        </p:nvSpPr>
        <p:spPr>
          <a:xfrm>
            <a:off x="793115" y="3777615"/>
            <a:ext cx="4064000" cy="398780"/>
          </a:xfrm>
          <a:prstGeom prst="rect">
            <a:avLst/>
          </a:prstGeom>
          <a:noFill/>
        </p:spPr>
        <p:txBody>
          <a:bodyPr wrap="square" rtlCol="0">
            <a:spAutoFit/>
          </a:bodyPr>
          <a:lstStyle/>
          <a:p>
            <a:r>
              <a:rPr lang="zh-CN" altLang="en-US" sz="2000" dirty="0">
                <a:solidFill>
                  <a:srgbClr val="FF0000"/>
                </a:solidFill>
              </a:rPr>
              <a:t>二、求微分法</a:t>
            </a: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3930" y="310585"/>
            <a:ext cx="10969200" cy="705600"/>
          </a:xfrm>
        </p:spPr>
        <p:txBody>
          <a:bodyPr/>
          <a:lstStyle/>
          <a:p>
            <a:r>
              <a:rPr lang="en-US" altLang="zh-CN" sz="2900"/>
              <a:t>3.4</a:t>
            </a:r>
            <a:r>
              <a:rPr sz="2900"/>
              <a:t>隐函数及用参数表示的函数的微分法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03930" y="1016055"/>
                <a:ext cx="10969200" cy="4759200"/>
              </a:xfrm>
            </p:spPr>
            <p:txBody>
              <a:bodyPr/>
              <a:lstStyle/>
              <a:p>
                <a:pPr marL="0" indent="0">
                  <a:lnSpc>
                    <a:spcPct val="100000"/>
                  </a:lnSpc>
                  <a:buFont typeface="+mj-lt"/>
                  <a:buNone/>
                </a:pPr>
                <a:r>
                  <a:rPr sz="2000">
                    <a:solidFill>
                      <a:srgbClr val="FF0000"/>
                    </a:solidFill>
                  </a:rPr>
                  <a:t>三</a:t>
                </a:r>
                <a:r>
                  <a:rPr sz="2000">
                    <a:solidFill>
                      <a:srgbClr val="FF0000"/>
                    </a:solidFill>
                    <a:sym typeface="+mn-ea"/>
                  </a:rPr>
                  <a:t>、</a:t>
                </a:r>
                <a:r>
                  <a:rPr sz="2000">
                    <a:solidFill>
                      <a:srgbClr val="FF0000"/>
                    </a:solidFill>
                  </a:rPr>
                  <a:t>参数表示函数的微分法</a:t>
                </a:r>
              </a:p>
              <a:p>
                <a:pPr marL="0" indent="0">
                  <a:lnSpc>
                    <a:spcPct val="100000"/>
                  </a:lnSpc>
                  <a:buFont typeface="+mj-lt"/>
                  <a:buNone/>
                </a:pPr>
                <a:r>
                  <a:rPr sz="2000"/>
                  <a:t>设函数</a:t>
                </a:r>
                <a14:m>
                  <m:oMath xmlns:m="http://schemas.openxmlformats.org/officeDocument/2006/math">
                    <m:r>
                      <a:rPr lang="en-US" altLang="zh-CN" sz="2000" i="1">
                        <a:latin typeface="Cambria Math" panose="02040503050406030204" charset="0"/>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sz="2000">
                        <a:latin typeface="Cambria Math" panose="02040503050406030204" charset="0"/>
                        <a:ea typeface="MS Mincho" charset="0"/>
                        <a:cs typeface="Cambria Math" panose="02040503050406030204" charset="0"/>
                        <a:sym typeface="+mn-ea"/>
                      </a:rPr>
                      <m:t>由含参数</m:t>
                    </m:r>
                    <m:r>
                      <a:rPr lang="en-US" altLang="zh-CN" sz="2000">
                        <a:latin typeface="Cambria Math" panose="02040503050406030204" charset="0"/>
                        <a:cs typeface="Cambria Math" panose="02040503050406030204" charset="0"/>
                        <a:sym typeface="+mn-ea"/>
                      </a:rPr>
                      <m:t>𝑡</m:t>
                    </m:r>
                    <m:r>
                      <a:rPr sz="2000">
                        <a:latin typeface="Cambria Math" panose="02040503050406030204" charset="0"/>
                        <a:ea typeface="MS Mincho" charset="0"/>
                        <a:cs typeface="Cambria Math" panose="02040503050406030204" charset="0"/>
                        <a:sym typeface="+mn-ea"/>
                      </a:rPr>
                      <m:t>的方程组</m:t>
                    </m:r>
                    <m:r>
                      <a:rPr lang="en-US" altLang="zh-CN" sz="2000">
                        <a:latin typeface="Cambria Math" panose="02040503050406030204" charset="0"/>
                        <a:ea typeface="MS Mincho" charset="0"/>
                        <a:cs typeface="Cambria Math" panose="02040503050406030204" charset="0"/>
                        <a:sym typeface="+mn-ea"/>
                      </a:rPr>
                      <m:t> </m:t>
                    </m:r>
                    <m:r>
                      <a:rPr lang="en-US" altLang="zh-CN" sz="2000" i="1">
                        <a:latin typeface="Cambria Math" panose="02040503050406030204" charset="0"/>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𝑥</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𝑡</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𝑦</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𝑡</m:t>
                    </m:r>
                    <m:r>
                      <a:rPr lang="en-US" altLang="zh-CN" sz="2000" i="1">
                        <a:latin typeface="Cambria Math" panose="02040503050406030204" charset="0"/>
                        <a:ea typeface="MS Mincho" charset="0"/>
                        <a:cs typeface="Cambria Math" panose="02040503050406030204" charset="0"/>
                      </a:rPr>
                      <m:t>) (</m:t>
                    </m:r>
                    <m:r>
                      <a:rPr lang="en-US" altLang="zh-CN" sz="2000" i="1">
                        <a:latin typeface="Cambria Math" panose="02040503050406030204" charset="0"/>
                        <a:cs typeface="Cambria Math" panose="02040503050406030204" charset="0"/>
                      </a:rPr>
                      <m:t>𝑡</m:t>
                    </m:r>
                    <m:r>
                      <a:rPr lang="en-US" altLang="zh-CN" sz="2000" i="1">
                        <a:latin typeface="Cambria Math" panose="02040503050406030204" charset="0"/>
                        <a:ea typeface="MS Mincho" charset="0"/>
                        <a:cs typeface="Cambria Math" panose="02040503050406030204" charset="0"/>
                      </a:rPr>
                      <m:t>𝜖</m:t>
                    </m:r>
                    <m:r>
                      <a:rPr lang="en-US" altLang="zh-CN" sz="2000" i="1">
                        <a:latin typeface="Cambria Math" panose="02040503050406030204" charset="0"/>
                        <a:cs typeface="Cambria Math" panose="02040503050406030204" charset="0"/>
                      </a:rPr>
                      <m:t>𝐼</m:t>
                    </m:r>
                    <m:r>
                      <a:rPr lang="en-US" altLang="zh-CN" sz="2000" i="1">
                        <a:latin typeface="Cambria Math" panose="02040503050406030204" charset="0"/>
                        <a:ea typeface="MS Mincho" charset="0"/>
                        <a:cs typeface="Cambria Math" panose="02040503050406030204" charset="0"/>
                      </a:rPr>
                      <m:t>)</m:t>
                    </m:r>
                  </m:oMath>
                </a14:m>
                <a:r>
                  <a:rPr sz="2000"/>
                  <a:t>确定，</a:t>
                </a:r>
                <a:r>
                  <a:rPr lang="en-US" altLang="zh-CN" sz="2000"/>
                  <a:t>I</a:t>
                </a:r>
                <a:r>
                  <a:rPr sz="2000"/>
                  <a:t>是某个区间，若</a:t>
                </a:r>
                <a:r>
                  <a:rPr lang="en-US" altLang="zh-CN" sz="2000"/>
                  <a:t>x(t)</a:t>
                </a:r>
                <a:r>
                  <a:rPr sz="2000"/>
                  <a:t>与</a:t>
                </a:r>
                <a:r>
                  <a:rPr lang="en-US" altLang="zh-CN" sz="2000"/>
                  <a:t>y(t)</a:t>
                </a:r>
                <a:r>
                  <a:rPr sz="2000"/>
                  <a:t>皆可导且</a:t>
                </a:r>
                <a14:m>
                  <m:oMath xmlns:m="http://schemas.openxmlformats.org/officeDocument/2006/math">
                    <m:sSup>
                      <m:sSupPr>
                        <m:ctrlPr>
                          <a:rPr lang="en-US" altLang="zh-CN" sz="2000" i="1">
                            <a:latin typeface="Cambria Math" panose="02040503050406030204" pitchFamily="18" charset="0"/>
                            <a:cs typeface="Cambria Math" panose="02040503050406030204" charset="0"/>
                          </a:rPr>
                        </m:ctrlPr>
                      </m:sSupPr>
                      <m:e>
                        <m:r>
                          <a:rPr lang="en-US" altLang="zh-CN" sz="2000" i="1">
                            <a:latin typeface="Cambria Math" panose="02040503050406030204" charset="0"/>
                            <a:cs typeface="Cambria Math" panose="02040503050406030204" charset="0"/>
                          </a:rPr>
                          <m:t>𝑥</m:t>
                        </m:r>
                      </m:e>
                      <m:sup>
                        <m:r>
                          <a:rPr lang="en-US" altLang="zh-CN" sz="2000" i="1">
                            <a:latin typeface="Cambria Math" panose="02040503050406030204" charset="0"/>
                            <a:ea typeface="MS Mincho" charset="0"/>
                            <a:cs typeface="Cambria Math" panose="02040503050406030204" charset="0"/>
                          </a:rPr>
                          <m:t>’</m:t>
                        </m:r>
                      </m:sup>
                    </m:sSup>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𝑡</m:t>
                    </m:r>
                    <m:r>
                      <a:rPr lang="en-US" altLang="zh-CN" sz="2000" i="1">
                        <a:latin typeface="Cambria Math" panose="02040503050406030204" charset="0"/>
                        <a:ea typeface="MS Mincho" charset="0"/>
                        <a:cs typeface="Cambria Math" panose="02040503050406030204" charset="0"/>
                      </a:rPr>
                      <m:t>)≠0</m:t>
                    </m:r>
                  </m:oMath>
                </a14:m>
                <a:r>
                  <a:rPr sz="2000"/>
                  <a:t>，则</a:t>
                </a:r>
                <a14:m>
                  <m:oMath xmlns:m="http://schemas.openxmlformats.org/officeDocument/2006/math">
                    <m:r>
                      <a:rPr lang="en-US" altLang="zh-CN" sz="2000" i="1">
                        <a:solidFill>
                          <a:srgbClr val="00B0F0"/>
                        </a:solidFill>
                        <a:latin typeface="Cambria Math" panose="02040503050406030204" charset="0"/>
                        <a:cs typeface="Cambria Math" panose="02040503050406030204" charset="0"/>
                      </a:rPr>
                      <m:t>𝑑𝑥</m:t>
                    </m:r>
                    <m:r>
                      <a:rPr lang="en-US" altLang="zh-CN" sz="2000" i="1">
                        <a:solidFill>
                          <a:srgbClr val="00B0F0"/>
                        </a:solidFill>
                        <a:latin typeface="Cambria Math" panose="02040503050406030204" charset="0"/>
                        <a:ea typeface="MS Mincho" charset="0"/>
                        <a:cs typeface="Cambria Math" panose="02040503050406030204" charset="0"/>
                      </a:rPr>
                      <m:t>=</m:t>
                    </m:r>
                    <m:sSup>
                      <m:sSupPr>
                        <m:ctrlPr>
                          <a:rPr lang="en-US" altLang="zh-CN" sz="2000" i="1">
                            <a:solidFill>
                              <a:srgbClr val="00B0F0"/>
                            </a:solidFill>
                            <a:latin typeface="Cambria Math" panose="02040503050406030204" pitchFamily="18" charset="0"/>
                            <a:cs typeface="Cambria Math" panose="02040503050406030204" charset="0"/>
                          </a:rPr>
                        </m:ctrlPr>
                      </m:sSupPr>
                      <m:e>
                        <m:r>
                          <a:rPr lang="en-US" altLang="zh-CN" sz="2000" i="1">
                            <a:solidFill>
                              <a:srgbClr val="00B0F0"/>
                            </a:solidFill>
                            <a:latin typeface="Cambria Math" panose="02040503050406030204" charset="0"/>
                            <a:cs typeface="Cambria Math" panose="02040503050406030204" charset="0"/>
                          </a:rPr>
                          <m:t>𝑥</m:t>
                        </m:r>
                      </m:e>
                      <m:sup>
                        <m:r>
                          <a:rPr lang="en-US" altLang="zh-CN" sz="2000" i="1">
                            <a:solidFill>
                              <a:srgbClr val="00B0F0"/>
                            </a:solidFill>
                            <a:latin typeface="Cambria Math" panose="02040503050406030204" charset="0"/>
                            <a:ea typeface="MS Mincho" charset="0"/>
                            <a:cs typeface="Cambria Math" panose="02040503050406030204" charset="0"/>
                          </a:rPr>
                          <m:t>’</m:t>
                        </m:r>
                      </m:sup>
                    </m:sSup>
                    <m:r>
                      <a:rPr lang="en-US" altLang="zh-CN" sz="2000" i="1">
                        <a:solidFill>
                          <a:srgbClr val="00B0F0"/>
                        </a:solidFill>
                        <a:latin typeface="Cambria Math" panose="02040503050406030204" charset="0"/>
                        <a:ea typeface="MS Mincho" charset="0"/>
                        <a:cs typeface="Cambria Math" panose="02040503050406030204" charset="0"/>
                      </a:rPr>
                      <m:t>(</m:t>
                    </m:r>
                    <m:r>
                      <a:rPr lang="en-US" altLang="zh-CN" sz="2000" i="1">
                        <a:solidFill>
                          <a:srgbClr val="00B0F0"/>
                        </a:solidFill>
                        <a:latin typeface="Cambria Math" panose="02040503050406030204" charset="0"/>
                        <a:cs typeface="Cambria Math" panose="02040503050406030204" charset="0"/>
                      </a:rPr>
                      <m:t>𝑡</m:t>
                    </m:r>
                    <m:r>
                      <a:rPr lang="en-US" altLang="zh-CN" sz="2000" i="1">
                        <a:solidFill>
                          <a:srgbClr val="00B0F0"/>
                        </a:solidFill>
                        <a:latin typeface="Cambria Math" panose="02040503050406030204" charset="0"/>
                        <a:ea typeface="MS Mincho" charset="0"/>
                        <a:cs typeface="Cambria Math" panose="02040503050406030204" charset="0"/>
                      </a:rPr>
                      <m:t>)</m:t>
                    </m:r>
                    <m:r>
                      <a:rPr lang="en-US" altLang="zh-CN" sz="2000" i="1">
                        <a:solidFill>
                          <a:srgbClr val="00B0F0"/>
                        </a:solidFill>
                        <a:latin typeface="Cambria Math" panose="02040503050406030204" charset="0"/>
                        <a:cs typeface="Cambria Math" panose="02040503050406030204" charset="0"/>
                      </a:rPr>
                      <m:t>𝑑𝑡</m:t>
                    </m:r>
                    <m:r>
                      <a:rPr lang="en-US" altLang="zh-CN" sz="2000" i="1">
                        <a:solidFill>
                          <a:srgbClr val="00B0F0"/>
                        </a:solidFill>
                        <a:latin typeface="Cambria Math" panose="02040503050406030204" charset="0"/>
                        <a:ea typeface="MS Mincho" charset="0"/>
                        <a:cs typeface="Cambria Math" panose="02040503050406030204" charset="0"/>
                      </a:rPr>
                      <m:t>,</m:t>
                    </m:r>
                    <m:r>
                      <a:rPr lang="en-US" altLang="zh-CN" sz="2000" i="1">
                        <a:solidFill>
                          <a:srgbClr val="00B0F0"/>
                        </a:solidFill>
                        <a:latin typeface="Cambria Math" panose="02040503050406030204" charset="0"/>
                        <a:cs typeface="Cambria Math" panose="02040503050406030204" charset="0"/>
                      </a:rPr>
                      <m:t>𝑑𝑦</m:t>
                    </m:r>
                    <m:r>
                      <a:rPr lang="en-US" altLang="zh-CN" sz="2000" i="1">
                        <a:solidFill>
                          <a:srgbClr val="00B0F0"/>
                        </a:solidFill>
                        <a:latin typeface="Cambria Math" panose="02040503050406030204" charset="0"/>
                        <a:ea typeface="MS Mincho" charset="0"/>
                        <a:cs typeface="Cambria Math" panose="02040503050406030204" charset="0"/>
                      </a:rPr>
                      <m:t>=</m:t>
                    </m:r>
                    <m:sSup>
                      <m:sSupPr>
                        <m:ctrlPr>
                          <a:rPr lang="en-US" altLang="zh-CN" sz="2000" i="1">
                            <a:solidFill>
                              <a:srgbClr val="00B0F0"/>
                            </a:solidFill>
                            <a:latin typeface="Cambria Math" panose="02040503050406030204" pitchFamily="18" charset="0"/>
                            <a:cs typeface="Cambria Math" panose="02040503050406030204" charset="0"/>
                          </a:rPr>
                        </m:ctrlPr>
                      </m:sSupPr>
                      <m:e>
                        <m:r>
                          <a:rPr lang="en-US" altLang="zh-CN" sz="2000" i="1">
                            <a:solidFill>
                              <a:srgbClr val="00B0F0"/>
                            </a:solidFill>
                            <a:latin typeface="Cambria Math" panose="02040503050406030204" charset="0"/>
                            <a:cs typeface="Cambria Math" panose="02040503050406030204" charset="0"/>
                          </a:rPr>
                          <m:t>𝑦</m:t>
                        </m:r>
                      </m:e>
                      <m:sup>
                        <m:r>
                          <a:rPr lang="en-US" altLang="zh-CN" sz="2000" i="1">
                            <a:solidFill>
                              <a:srgbClr val="00B0F0"/>
                            </a:solidFill>
                            <a:latin typeface="Cambria Math" panose="02040503050406030204" charset="0"/>
                            <a:ea typeface="MS Mincho" charset="0"/>
                            <a:cs typeface="Cambria Math" panose="02040503050406030204" charset="0"/>
                          </a:rPr>
                          <m:t>’</m:t>
                        </m:r>
                      </m:sup>
                    </m:sSup>
                    <m:r>
                      <a:rPr lang="en-US" altLang="zh-CN" sz="2000" i="1">
                        <a:solidFill>
                          <a:srgbClr val="00B0F0"/>
                        </a:solidFill>
                        <a:latin typeface="Cambria Math" panose="02040503050406030204" charset="0"/>
                        <a:ea typeface="MS Mincho" charset="0"/>
                        <a:cs typeface="Cambria Math" panose="02040503050406030204" charset="0"/>
                      </a:rPr>
                      <m:t>(</m:t>
                    </m:r>
                    <m:r>
                      <a:rPr lang="en-US" altLang="zh-CN" sz="2000" i="1">
                        <a:solidFill>
                          <a:srgbClr val="00B0F0"/>
                        </a:solidFill>
                        <a:latin typeface="Cambria Math" panose="02040503050406030204" charset="0"/>
                        <a:cs typeface="Cambria Math" panose="02040503050406030204" charset="0"/>
                      </a:rPr>
                      <m:t>𝑡</m:t>
                    </m:r>
                    <m:r>
                      <a:rPr lang="en-US" altLang="zh-CN" sz="2000" i="1">
                        <a:solidFill>
                          <a:srgbClr val="00B0F0"/>
                        </a:solidFill>
                        <a:latin typeface="Cambria Math" panose="02040503050406030204" charset="0"/>
                        <a:ea typeface="MS Mincho" charset="0"/>
                        <a:cs typeface="Cambria Math" panose="02040503050406030204" charset="0"/>
                      </a:rPr>
                      <m:t>)</m:t>
                    </m:r>
                    <m:r>
                      <a:rPr lang="en-US" altLang="zh-CN" sz="2000" i="1">
                        <a:solidFill>
                          <a:srgbClr val="00B0F0"/>
                        </a:solidFill>
                        <a:latin typeface="Cambria Math" panose="02040503050406030204" charset="0"/>
                        <a:cs typeface="Cambria Math" panose="02040503050406030204" charset="0"/>
                      </a:rPr>
                      <m:t>𝑑𝑡</m:t>
                    </m:r>
                  </m:oMath>
                </a14:m>
                <a:r>
                  <a:rPr sz="2000"/>
                  <a:t>（即</a:t>
                </a:r>
                <a:r>
                  <a:rPr lang="en-US" altLang="zh-CN" sz="2000"/>
                  <a:t>x</a:t>
                </a:r>
                <a:r>
                  <a:rPr sz="2000"/>
                  <a:t>对</a:t>
                </a:r>
                <a:r>
                  <a:rPr lang="en-US" altLang="zh-CN" sz="2000"/>
                  <a:t>t</a:t>
                </a:r>
                <a:r>
                  <a:rPr sz="2000"/>
                  <a:t>求导，</a:t>
                </a:r>
                <a:r>
                  <a:rPr lang="en-US" altLang="zh-CN" sz="2000"/>
                  <a:t>y</a:t>
                </a:r>
                <a:r>
                  <a:rPr sz="2000"/>
                  <a:t>对</a:t>
                </a:r>
                <a:r>
                  <a:rPr lang="en-US" altLang="zh-CN" sz="2000"/>
                  <a:t>t</a:t>
                </a:r>
                <a:r>
                  <a:rPr sz="2000"/>
                  <a:t>求导，</a:t>
                </a:r>
                <a:r>
                  <a:rPr sz="2000">
                    <a:sym typeface="+mn-ea"/>
                  </a:rPr>
                  <a:t>与前面</a:t>
                </a:r>
                <a:r>
                  <a:rPr lang="en-US" altLang="zh-CN" sz="2000">
                    <a:sym typeface="+mn-ea"/>
                  </a:rPr>
                  <a:t>y</a:t>
                </a:r>
                <a:r>
                  <a:rPr sz="2000">
                    <a:sym typeface="+mn-ea"/>
                  </a:rPr>
                  <a:t>对</a:t>
                </a:r>
                <a:r>
                  <a:rPr lang="en-US" altLang="zh-CN" sz="2000">
                    <a:sym typeface="+mn-ea"/>
                  </a:rPr>
                  <a:t>x</a:t>
                </a:r>
                <a:r>
                  <a:rPr sz="2000">
                    <a:sym typeface="+mn-ea"/>
                  </a:rPr>
                  <a:t>求导不同</a:t>
                </a:r>
                <a:r>
                  <a:rPr sz="2000"/>
                  <a:t>）</a:t>
                </a:r>
              </a:p>
              <a:p>
                <a:pPr marL="0" indent="0">
                  <a:lnSpc>
                    <a:spcPct val="100000"/>
                  </a:lnSpc>
                  <a:buFont typeface="+mj-lt"/>
                  <a:buNone/>
                </a:pPr>
                <a:r>
                  <a:rPr sz="2000"/>
                  <a:t>两者相除得</a:t>
                </a:r>
                <a:r>
                  <a:rPr lang="en-US" altLang="zh-CN" sz="2000"/>
                  <a:t>   </a:t>
                </a:r>
                <a14:m>
                  <m:oMath xmlns:m="http://schemas.openxmlformats.org/officeDocument/2006/math">
                    <m:sSubSup>
                      <m:sSubSupPr>
                        <m:ctrlPr>
                          <a:rPr lang="en-US" sz="2000" i="1">
                            <a:latin typeface="Cambria Math" panose="02040503050406030204" pitchFamily="18" charset="0"/>
                            <a:cs typeface="Cambria Math" panose="02040503050406030204" charset="0"/>
                          </a:rPr>
                        </m:ctrlPr>
                      </m:sSubSupPr>
                      <m:e>
                        <m:r>
                          <a:rPr lang="en-US" sz="2000" i="1">
                            <a:latin typeface="Cambria Math" panose="02040503050406030204" charset="0"/>
                            <a:cs typeface="Cambria Math" panose="02040503050406030204" charset="0"/>
                          </a:rPr>
                          <m:t>𝑦</m:t>
                        </m:r>
                      </m:e>
                      <m:sub>
                        <m:r>
                          <a:rPr lang="en-US" sz="2000" i="1">
                            <a:latin typeface="Cambria Math" panose="02040503050406030204" charset="0"/>
                            <a:cs typeface="Cambria Math" panose="02040503050406030204" charset="0"/>
                          </a:rPr>
                          <m:t>𝑥</m:t>
                        </m:r>
                      </m:sub>
                      <m:sup>
                        <m:r>
                          <a:rPr lang="en-US" sz="2000" i="1">
                            <a:latin typeface="Cambria Math" panose="02040503050406030204" charset="0"/>
                            <a:ea typeface="MS Mincho" charset="0"/>
                            <a:cs typeface="Cambria Math" panose="02040503050406030204" charset="0"/>
                          </a:rPr>
                          <m:t>’</m:t>
                        </m:r>
                      </m:sup>
                    </m:sSubSup>
                    <m:r>
                      <a:rPr lang="en-US" sz="2000" i="1">
                        <a:latin typeface="Cambria Math" panose="02040503050406030204" charset="0"/>
                        <a:ea typeface="MS Mincho" charset="0"/>
                        <a:cs typeface="Cambria Math" panose="02040503050406030204" charset="0"/>
                      </a:rPr>
                      <m:t>=</m:t>
                    </m:r>
                    <m:f>
                      <m:fPr>
                        <m:ctrlPr>
                          <a:rPr lang="en-US" sz="2000" i="1">
                            <a:latin typeface="Cambria Math" panose="02040503050406030204" pitchFamily="18" charset="0"/>
                            <a:cs typeface="Cambria Math" panose="02040503050406030204" charset="0"/>
                          </a:rPr>
                        </m:ctrlPr>
                      </m:fPr>
                      <m:num>
                        <m:r>
                          <a:rPr lang="en-US" sz="2000" i="1">
                            <a:latin typeface="Cambria Math" panose="02040503050406030204" charset="0"/>
                            <a:cs typeface="Cambria Math" panose="02040503050406030204" charset="0"/>
                          </a:rPr>
                          <m:t>𝑑𝑦</m:t>
                        </m:r>
                      </m:num>
                      <m:den>
                        <m:r>
                          <a:rPr lang="en-US" sz="2000" i="1">
                            <a:latin typeface="Cambria Math" panose="02040503050406030204" charset="0"/>
                            <a:cs typeface="Cambria Math" panose="02040503050406030204" charset="0"/>
                          </a:rPr>
                          <m:t>𝑑𝑥</m:t>
                        </m:r>
                      </m:den>
                    </m:f>
                    <m:r>
                      <a:rPr lang="en-US" sz="2000" i="1">
                        <a:latin typeface="Cambria Math" panose="02040503050406030204" charset="0"/>
                        <a:ea typeface="MS Mincho" charset="0"/>
                        <a:cs typeface="Cambria Math" panose="02040503050406030204" charset="0"/>
                      </a:rPr>
                      <m:t>=</m:t>
                    </m:r>
                    <m:f>
                      <m:fPr>
                        <m:ctrlPr>
                          <a:rPr lang="en-US" sz="2000" i="1">
                            <a:latin typeface="Cambria Math" panose="02040503050406030204" pitchFamily="18" charset="0"/>
                            <a:cs typeface="Cambria Math" panose="02040503050406030204" charset="0"/>
                          </a:rPr>
                        </m:ctrlPr>
                      </m:fPr>
                      <m:num>
                        <m:sSup>
                          <m:sSupPr>
                            <m:ctrlPr>
                              <a:rPr lang="en-US" sz="2000" i="1">
                                <a:latin typeface="Cambria Math" panose="02040503050406030204" pitchFamily="18" charset="0"/>
                                <a:cs typeface="Cambria Math" panose="02040503050406030204" charset="0"/>
                              </a:rPr>
                            </m:ctrlPr>
                          </m:sSupPr>
                          <m:e>
                            <m:r>
                              <a:rPr lang="en-US" sz="2000" i="1">
                                <a:latin typeface="Cambria Math" panose="02040503050406030204" charset="0"/>
                                <a:cs typeface="Cambria Math" panose="02040503050406030204" charset="0"/>
                              </a:rPr>
                              <m:t>𝑦</m:t>
                            </m:r>
                          </m:e>
                          <m:sup>
                            <m:r>
                              <a:rPr lang="en-US" sz="2000" i="1">
                                <a:latin typeface="Cambria Math" panose="02040503050406030204" charset="0"/>
                                <a:ea typeface="MS Mincho" charset="0"/>
                                <a:cs typeface="Cambria Math" panose="02040503050406030204" charset="0"/>
                              </a:rPr>
                              <m:t>’</m:t>
                            </m:r>
                          </m:sup>
                        </m:sSup>
                        <m:r>
                          <a:rPr lang="en-US" sz="2000" i="1">
                            <a:latin typeface="Cambria Math" panose="02040503050406030204" charset="0"/>
                            <a:ea typeface="MS Mincho" charset="0"/>
                            <a:cs typeface="Cambria Math" panose="02040503050406030204" charset="0"/>
                          </a:rPr>
                          <m:t>(</m:t>
                        </m:r>
                        <m:r>
                          <a:rPr lang="en-US" sz="2000" i="1">
                            <a:latin typeface="Cambria Math" panose="02040503050406030204" charset="0"/>
                            <a:cs typeface="Cambria Math" panose="02040503050406030204" charset="0"/>
                          </a:rPr>
                          <m:t>𝑡</m:t>
                        </m:r>
                        <m:r>
                          <a:rPr lang="en-US" sz="2000" i="1">
                            <a:latin typeface="Cambria Math" panose="02040503050406030204" charset="0"/>
                            <a:ea typeface="MS Mincho" charset="0"/>
                            <a:cs typeface="Cambria Math" panose="02040503050406030204" charset="0"/>
                          </a:rPr>
                          <m:t>)</m:t>
                        </m:r>
                      </m:num>
                      <m:den>
                        <m:sSup>
                          <m:sSupPr>
                            <m:ctrlPr>
                              <a:rPr lang="en-US" sz="2000" i="1">
                                <a:latin typeface="Cambria Math" panose="02040503050406030204" pitchFamily="18" charset="0"/>
                                <a:cs typeface="Cambria Math" panose="02040503050406030204" charset="0"/>
                              </a:rPr>
                            </m:ctrlPr>
                          </m:sSupPr>
                          <m:e>
                            <m:r>
                              <a:rPr lang="en-US" sz="2000" i="1">
                                <a:latin typeface="Cambria Math" panose="02040503050406030204" charset="0"/>
                                <a:cs typeface="Cambria Math" panose="02040503050406030204" charset="0"/>
                              </a:rPr>
                              <m:t>𝑥</m:t>
                            </m:r>
                          </m:e>
                          <m:sup>
                            <m:r>
                              <a:rPr lang="en-US" sz="2000" i="1">
                                <a:latin typeface="Cambria Math" panose="02040503050406030204" charset="0"/>
                                <a:ea typeface="MS Mincho" charset="0"/>
                                <a:cs typeface="Cambria Math" panose="02040503050406030204" charset="0"/>
                              </a:rPr>
                              <m:t>’</m:t>
                            </m:r>
                          </m:sup>
                        </m:sSup>
                        <m:r>
                          <a:rPr lang="en-US" sz="2000" i="1">
                            <a:latin typeface="Cambria Math" panose="02040503050406030204" charset="0"/>
                            <a:ea typeface="MS Mincho" charset="0"/>
                            <a:cs typeface="Cambria Math" panose="02040503050406030204" charset="0"/>
                          </a:rPr>
                          <m:t>(</m:t>
                        </m:r>
                        <m:r>
                          <a:rPr lang="en-US" sz="2000" i="1">
                            <a:latin typeface="Cambria Math" panose="02040503050406030204" charset="0"/>
                            <a:cs typeface="Cambria Math" panose="02040503050406030204" charset="0"/>
                          </a:rPr>
                          <m:t>𝑡</m:t>
                        </m:r>
                        <m:r>
                          <a:rPr lang="en-US" sz="2000" i="1">
                            <a:latin typeface="Cambria Math" panose="02040503050406030204" charset="0"/>
                            <a:ea typeface="MS Mincho" charset="0"/>
                            <a:cs typeface="Cambria Math" panose="02040503050406030204" charset="0"/>
                          </a:rPr>
                          <m:t>)</m:t>
                        </m:r>
                      </m:den>
                    </m:f>
                    <m:r>
                      <a:rPr lang="en-US" sz="2000" i="1">
                        <a:latin typeface="Cambria Math" panose="02040503050406030204" charset="0"/>
                        <a:ea typeface="MS Mincho" charset="0"/>
                        <a:cs typeface="Cambria Math" panose="02040503050406030204" charset="0"/>
                      </a:rPr>
                      <m:t>=</m:t>
                    </m:r>
                    <m:f>
                      <m:fPr>
                        <m:ctrlPr>
                          <a:rPr lang="en-US" sz="2000" i="1">
                            <a:latin typeface="Cambria Math" panose="02040503050406030204" pitchFamily="18" charset="0"/>
                            <a:cs typeface="Cambria Math" panose="02040503050406030204" charset="0"/>
                          </a:rPr>
                        </m:ctrlPr>
                      </m:fPr>
                      <m:num>
                        <m:sSubSup>
                          <m:sSubSupPr>
                            <m:ctrlPr>
                              <a:rPr lang="en-US" sz="2000" i="1">
                                <a:latin typeface="Cambria Math" panose="02040503050406030204" pitchFamily="18" charset="0"/>
                                <a:cs typeface="Cambria Math" panose="02040503050406030204" charset="0"/>
                              </a:rPr>
                            </m:ctrlPr>
                          </m:sSubSupPr>
                          <m:e>
                            <m:r>
                              <a:rPr lang="en-US" sz="2000" i="1">
                                <a:latin typeface="Cambria Math" panose="02040503050406030204" charset="0"/>
                                <a:cs typeface="Cambria Math" panose="02040503050406030204" charset="0"/>
                              </a:rPr>
                              <m:t>𝑦</m:t>
                            </m:r>
                          </m:e>
                          <m:sub>
                            <m:r>
                              <a:rPr lang="en-US" sz="2000" i="1">
                                <a:latin typeface="Cambria Math" panose="02040503050406030204" charset="0"/>
                                <a:cs typeface="Cambria Math" panose="02040503050406030204" charset="0"/>
                              </a:rPr>
                              <m:t>𝑡</m:t>
                            </m:r>
                          </m:sub>
                          <m:sup>
                            <m:r>
                              <a:rPr lang="en-US" sz="2000" i="1">
                                <a:latin typeface="Cambria Math" panose="02040503050406030204" charset="0"/>
                                <a:ea typeface="MS Mincho" charset="0"/>
                                <a:cs typeface="Cambria Math" panose="02040503050406030204" charset="0"/>
                              </a:rPr>
                              <m:t>’</m:t>
                            </m:r>
                          </m:sup>
                        </m:sSubSup>
                      </m:num>
                      <m:den>
                        <m:sSubSup>
                          <m:sSubSupPr>
                            <m:ctrlPr>
                              <a:rPr lang="en-US" sz="2000" i="1">
                                <a:latin typeface="Cambria Math" panose="02040503050406030204" pitchFamily="18" charset="0"/>
                                <a:cs typeface="Cambria Math" panose="02040503050406030204" charset="0"/>
                              </a:rPr>
                            </m:ctrlPr>
                          </m:sSubSupPr>
                          <m:e>
                            <m:r>
                              <a:rPr lang="en-US" sz="2000" i="1">
                                <a:latin typeface="Cambria Math" panose="02040503050406030204" charset="0"/>
                                <a:cs typeface="Cambria Math" panose="02040503050406030204" charset="0"/>
                              </a:rPr>
                              <m:t>𝑥</m:t>
                            </m:r>
                          </m:e>
                          <m:sub>
                            <m:r>
                              <a:rPr lang="en-US" sz="2000" i="1">
                                <a:latin typeface="Cambria Math" panose="02040503050406030204" charset="0"/>
                                <a:cs typeface="Cambria Math" panose="02040503050406030204" charset="0"/>
                              </a:rPr>
                              <m:t>𝑡</m:t>
                            </m:r>
                          </m:sub>
                          <m:sup>
                            <m:r>
                              <a:rPr lang="en-US" sz="2000" i="1">
                                <a:latin typeface="Cambria Math" panose="02040503050406030204" charset="0"/>
                                <a:ea typeface="MS Mincho" charset="0"/>
                                <a:cs typeface="Cambria Math" panose="02040503050406030204" charset="0"/>
                              </a:rPr>
                              <m:t>’</m:t>
                            </m:r>
                          </m:sup>
                        </m:sSubSup>
                      </m:den>
                    </m:f>
                  </m:oMath>
                </a14:m>
                <a:r>
                  <a:rPr lang="en-US" sz="2000" i="1"/>
                  <a:t>    </a:t>
                </a:r>
                <a:r>
                  <a:rPr sz="2000" b="1" u="sng"/>
                  <a:t>（会经常用到，以下例题都会用到此公式）</a:t>
                </a:r>
                <a:endParaRPr sz="2000" u="sng"/>
              </a:p>
              <a:p>
                <a:pPr marL="0" indent="0">
                  <a:lnSpc>
                    <a:spcPct val="100000"/>
                  </a:lnSpc>
                  <a:buFont typeface="+mj-lt"/>
                  <a:buNone/>
                </a:pPr>
                <a:r>
                  <a:rPr sz="2000"/>
                  <a:t>例</a:t>
                </a: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403930" y="1016055"/>
                <a:ext cx="10969200" cy="4759200"/>
              </a:xfrm>
              <a:blipFill rotWithShape="1">
                <a:blip r:embed="rId3"/>
                <a:stretch>
                  <a:fillRect l="-1" t="-1" r="3" b="12"/>
                </a:stretch>
              </a:blipFill>
            </p:spPr>
            <p:txBody>
              <a:bodyPr/>
              <a:lstStyle/>
              <a:p>
                <a:r>
                  <a:rPr lang="zh-CN" altLang="en-US">
                    <a:noFill/>
                  </a:rPr>
                  <a:t> </a:t>
                </a:r>
              </a:p>
            </p:txBody>
          </p:sp>
        </mc:Fallback>
      </mc:AlternateContent>
      <p:pic>
        <p:nvPicPr>
          <p:cNvPr id="5" name="图片 4" descr="5fbf210bf1e05959406024356606613"/>
          <p:cNvPicPr>
            <a:picLocks noChangeAspect="1"/>
          </p:cNvPicPr>
          <p:nvPr/>
        </p:nvPicPr>
        <p:blipFill>
          <a:blip r:embed="rId4"/>
          <a:srcRect r="3612" b="36771"/>
          <a:stretch>
            <a:fillRect/>
          </a:stretch>
        </p:blipFill>
        <p:spPr>
          <a:xfrm>
            <a:off x="1782445" y="3302635"/>
            <a:ext cx="6506210" cy="448310"/>
          </a:xfrm>
          <a:prstGeom prst="rect">
            <a:avLst/>
          </a:prstGeom>
        </p:spPr>
      </p:pic>
      <p:pic>
        <p:nvPicPr>
          <p:cNvPr id="9" name="图片 8" descr="f1201ff573bf9443640ff42c1a343aa"/>
          <p:cNvPicPr>
            <a:picLocks noChangeAspect="1"/>
          </p:cNvPicPr>
          <p:nvPr/>
        </p:nvPicPr>
        <p:blipFill>
          <a:blip r:embed="rId5"/>
          <a:srcRect l="3857" t="26404" r="2511"/>
          <a:stretch>
            <a:fillRect/>
          </a:stretch>
        </p:blipFill>
        <p:spPr>
          <a:xfrm>
            <a:off x="1782445" y="3990975"/>
            <a:ext cx="7555230" cy="1864995"/>
          </a:xfrm>
          <a:prstGeom prst="rect">
            <a:avLst/>
          </a:prstGeom>
        </p:spPr>
      </p:pic>
      <p:pic>
        <p:nvPicPr>
          <p:cNvPr id="10" name="图片 9" descr="f1201ff573bf9443640ff42c1a343aa"/>
          <p:cNvPicPr>
            <a:picLocks noChangeAspect="1"/>
          </p:cNvPicPr>
          <p:nvPr/>
        </p:nvPicPr>
        <p:blipFill>
          <a:blip r:embed="rId5"/>
          <a:srcRect l="3542" r="79037" b="84167"/>
          <a:stretch>
            <a:fillRect/>
          </a:stretch>
        </p:blipFill>
        <p:spPr>
          <a:xfrm>
            <a:off x="8122920" y="3235960"/>
            <a:ext cx="1570355" cy="448310"/>
          </a:xfrm>
          <a:prstGeom prst="rect">
            <a:avLst/>
          </a:prstGeom>
        </p:spPr>
      </p:pic>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372815"/>
            <a:ext cx="10969200" cy="705600"/>
          </a:xfrm>
        </p:spPr>
        <p:txBody>
          <a:bodyPr/>
          <a:lstStyle/>
          <a:p>
            <a:r>
              <a:rPr lang="en-US" altLang="zh-CN" sz="2900">
                <a:sym typeface="+mn-ea"/>
              </a:rPr>
              <a:t>3.4</a:t>
            </a:r>
            <a:r>
              <a:rPr sz="2900">
                <a:sym typeface="+mn-ea"/>
              </a:rPr>
              <a:t>隐函数及用参数表示的函数的微分法</a:t>
            </a:r>
            <a:endParaRPr lang="zh-CN" altLang="en-US" sz="2900"/>
          </a:p>
        </p:txBody>
      </p:sp>
      <p:pic>
        <p:nvPicPr>
          <p:cNvPr id="4" name="图片 3" descr="5f4b7fb4db67839af29d010f3de8f5b"/>
          <p:cNvPicPr>
            <a:picLocks noChangeAspect="1"/>
          </p:cNvPicPr>
          <p:nvPr/>
        </p:nvPicPr>
        <p:blipFill>
          <a:blip r:embed="rId3"/>
          <a:srcRect b="5258"/>
          <a:stretch>
            <a:fillRect/>
          </a:stretch>
        </p:blipFill>
        <p:spPr>
          <a:xfrm>
            <a:off x="669925" y="1214120"/>
            <a:ext cx="9394190" cy="799465"/>
          </a:xfrm>
          <a:prstGeom prst="rect">
            <a:avLst/>
          </a:prstGeom>
        </p:spPr>
      </p:pic>
      <p:sp>
        <p:nvSpPr>
          <p:cNvPr id="6" name="文本框 5"/>
          <p:cNvSpPr txBox="1"/>
          <p:nvPr/>
        </p:nvSpPr>
        <p:spPr>
          <a:xfrm>
            <a:off x="1098550" y="2345055"/>
            <a:ext cx="4064000" cy="398780"/>
          </a:xfrm>
          <a:prstGeom prst="rect">
            <a:avLst/>
          </a:prstGeom>
          <a:noFill/>
        </p:spPr>
        <p:txBody>
          <a:bodyPr wrap="square" rtlCol="0">
            <a:spAutoFit/>
          </a:bodyPr>
          <a:lstStyle/>
          <a:p>
            <a:r>
              <a:rPr lang="zh-CN" altLang="en-US" sz="2000"/>
              <a:t>解：</a:t>
            </a:r>
          </a:p>
        </p:txBody>
      </p:sp>
      <p:pic>
        <p:nvPicPr>
          <p:cNvPr id="7" name="图片 6" descr="328b6bf5110dc3646afe8145cc7b80a"/>
          <p:cNvPicPr>
            <a:picLocks noChangeAspect="1"/>
          </p:cNvPicPr>
          <p:nvPr/>
        </p:nvPicPr>
        <p:blipFill>
          <a:blip r:embed="rId4"/>
          <a:stretch>
            <a:fillRect/>
          </a:stretch>
        </p:blipFill>
        <p:spPr>
          <a:xfrm>
            <a:off x="1920875" y="2406650"/>
            <a:ext cx="3130550" cy="681990"/>
          </a:xfrm>
          <a:prstGeom prst="rect">
            <a:avLst/>
          </a:prstGeom>
        </p:spPr>
      </p:pic>
      <p:pic>
        <p:nvPicPr>
          <p:cNvPr id="8" name="图片 7" descr="002ed07ce7749907b6e6ea13e231161"/>
          <p:cNvPicPr>
            <a:picLocks noChangeAspect="1"/>
          </p:cNvPicPr>
          <p:nvPr/>
        </p:nvPicPr>
        <p:blipFill>
          <a:blip r:embed="rId5"/>
          <a:srcRect l="4124" r="2303"/>
          <a:stretch>
            <a:fillRect/>
          </a:stretch>
        </p:blipFill>
        <p:spPr>
          <a:xfrm>
            <a:off x="1358900" y="3188335"/>
            <a:ext cx="7648575" cy="2429510"/>
          </a:xfrm>
          <a:prstGeom prst="rect">
            <a:avLst/>
          </a:prstGeom>
        </p:spPr>
      </p:pic>
      <p:sp>
        <p:nvSpPr>
          <p:cNvPr id="9" name="文本框 8"/>
          <p:cNvSpPr txBox="1"/>
          <p:nvPr/>
        </p:nvSpPr>
        <p:spPr>
          <a:xfrm>
            <a:off x="669925" y="933450"/>
            <a:ext cx="4064000" cy="39878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a:t>摆线</a:t>
            </a:r>
          </a:p>
        </p:txBody>
      </p:sp>
      <p:pic>
        <p:nvPicPr>
          <p:cNvPr id="5" name="图片 4" descr="8b58ba16ff83caef5a523baaca068c0"/>
          <p:cNvPicPr>
            <a:picLocks noChangeAspect="1"/>
          </p:cNvPicPr>
          <p:nvPr/>
        </p:nvPicPr>
        <p:blipFill>
          <a:blip r:embed="rId6"/>
          <a:srcRect l="31009" r="28870"/>
          <a:stretch>
            <a:fillRect/>
          </a:stretch>
        </p:blipFill>
        <p:spPr>
          <a:xfrm>
            <a:off x="7971790" y="1868170"/>
            <a:ext cx="3098800" cy="1981200"/>
          </a:xfrm>
          <a:prstGeom prst="rect">
            <a:avLst/>
          </a:prstGeom>
        </p:spPr>
      </p:pic>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900">
                <a:sym typeface="+mn-ea"/>
              </a:rPr>
              <a:t>3.4</a:t>
            </a:r>
            <a:r>
              <a:rPr sz="2900">
                <a:sym typeface="+mn-ea"/>
              </a:rPr>
              <a:t>隐函数及用参数表示的函数的微分法</a:t>
            </a:r>
            <a:endParaRPr lang="zh-CN" altLang="en-US" sz="290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000" b="1"/>
                  <a:t>极经与极角</a:t>
                </a:r>
              </a:p>
              <a:p>
                <a:pPr marL="0" indent="0">
                  <a:lnSpc>
                    <a:spcPct val="100000"/>
                  </a:lnSpc>
                  <a:buNone/>
                </a:pPr>
                <a:r>
                  <a:rPr lang="zh-CN" altLang="en-US" sz="2000"/>
                  <a:t>设在极坐标系中函数关系由方程</a:t>
                </a:r>
                <a14:m>
                  <m:oMath xmlns:m="http://schemas.openxmlformats.org/officeDocument/2006/math">
                    <m:r>
                      <a:rPr lang="en-US" altLang="zh-CN" sz="2000" i="1">
                        <a:latin typeface="Cambria Math" panose="02040503050406030204" charset="0"/>
                        <a:cs typeface="Cambria Math" panose="02040503050406030204" charset="0"/>
                      </a:rPr>
                      <m:t>𝑟</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𝑟</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𝜃</m:t>
                    </m:r>
                    <m:r>
                      <a:rPr lang="en-US" altLang="zh-CN" sz="2000" i="1">
                        <a:latin typeface="Cambria Math" panose="02040503050406030204" charset="0"/>
                        <a:cs typeface="Cambria Math" panose="02040503050406030204" charset="0"/>
                      </a:rPr>
                      <m:t>)</m:t>
                    </m:r>
                  </m:oMath>
                </a14:m>
                <a:r>
                  <a:rPr sz="2000">
                    <a:latin typeface="Cambria Math" panose="02040503050406030204" charset="0"/>
                    <a:cs typeface="Cambria Math" panose="02040503050406030204" charset="0"/>
                  </a:rPr>
                  <a:t>给定，其中</a:t>
                </a:r>
                <a:r>
                  <a:rPr lang="en-US" altLang="zh-CN" sz="2000">
                    <a:latin typeface="Cambria Math" panose="02040503050406030204" charset="0"/>
                    <a:cs typeface="Cambria Math" panose="02040503050406030204" charset="0"/>
                  </a:rPr>
                  <a:t>r,</a:t>
                </a:r>
                <a14:m>
                  <m:oMath xmlns:m="http://schemas.openxmlformats.org/officeDocument/2006/math">
                    <m:r>
                      <a:rPr lang="en-US" altLang="zh-CN" sz="2000" i="1">
                        <a:latin typeface="Cambria Math" panose="02040503050406030204" charset="0"/>
                        <a:cs typeface="Cambria Math" panose="02040503050406030204" charset="0"/>
                      </a:rPr>
                      <m:t>𝜃</m:t>
                    </m:r>
                  </m:oMath>
                </a14:m>
                <a:r>
                  <a:rPr sz="2000">
                    <a:latin typeface="Cambria Math" panose="02040503050406030204" charset="0"/>
                    <a:cs typeface="Cambria Math" panose="02040503050406030204" charset="0"/>
                  </a:rPr>
                  <a:t>分别为点</a:t>
                </a:r>
                <a:r>
                  <a:rPr lang="en-US" altLang="zh-CN" sz="2000">
                    <a:latin typeface="Cambria Math" panose="02040503050406030204" charset="0"/>
                    <a:cs typeface="Cambria Math" panose="02040503050406030204" charset="0"/>
                  </a:rPr>
                  <a:t>(x,y)</a:t>
                </a:r>
                <a:r>
                  <a:rPr sz="2000">
                    <a:latin typeface="Cambria Math" panose="02040503050406030204" charset="0"/>
                    <a:cs typeface="Cambria Math" panose="02040503050406030204" charset="0"/>
                  </a:rPr>
                  <a:t>的</a:t>
                </a:r>
                <a:r>
                  <a:rPr sz="2000" u="sng">
                    <a:solidFill>
                      <a:srgbClr val="00B0F0"/>
                    </a:solidFill>
                    <a:sym typeface="+mn-ea"/>
                  </a:rPr>
                  <a:t>极经与极角</a:t>
                </a:r>
                <a:r>
                  <a:rPr sz="2000">
                    <a:sym typeface="+mn-ea"/>
                  </a:rPr>
                  <a:t>，即</a:t>
                </a:r>
              </a:p>
              <a:p>
                <a:pPr marL="0" indent="0" algn="ctr">
                  <a:lnSpc>
                    <a:spcPct val="100000"/>
                  </a:lnSpc>
                  <a:buNone/>
                </a:pPr>
                <a14:m>
                  <m:oMath xmlns:m="http://schemas.openxmlformats.org/officeDocument/2006/math">
                    <m:r>
                      <a:rPr lang="en-US" altLang="zh-CN" sz="2000" i="1">
                        <a:solidFill>
                          <a:srgbClr val="FF0000"/>
                        </a:solidFill>
                        <a:latin typeface="Cambria Math" panose="02040503050406030204" charset="0"/>
                        <a:cs typeface="Cambria Math" panose="02040503050406030204" charset="0"/>
                        <a:sym typeface="+mn-ea"/>
                      </a:rPr>
                      <m:t>𝑥</m:t>
                    </m:r>
                    <m:r>
                      <a:rPr lang="en-US" altLang="zh-CN" sz="2000" i="1">
                        <a:solidFill>
                          <a:srgbClr val="FF0000"/>
                        </a:solidFill>
                        <a:latin typeface="Cambria Math" panose="02040503050406030204" charset="0"/>
                        <a:cs typeface="Cambria Math" panose="02040503050406030204" charset="0"/>
                        <a:sym typeface="+mn-ea"/>
                      </a:rPr>
                      <m:t>=</m:t>
                    </m:r>
                    <m:r>
                      <a:rPr lang="en-US" altLang="zh-CN" sz="2000" i="1">
                        <a:solidFill>
                          <a:srgbClr val="FF0000"/>
                        </a:solidFill>
                        <a:latin typeface="Cambria Math" panose="02040503050406030204" charset="0"/>
                        <a:cs typeface="Cambria Math" panose="02040503050406030204" charset="0"/>
                        <a:sym typeface="+mn-ea"/>
                      </a:rPr>
                      <m:t>𝑟𝑐𝑜𝑠</m:t>
                    </m:r>
                    <m:r>
                      <a:rPr lang="en-US" altLang="zh-CN" sz="2000" i="1">
                        <a:solidFill>
                          <a:srgbClr val="FF0000"/>
                        </a:solidFill>
                        <a:latin typeface="Cambria Math" panose="02040503050406030204" charset="0"/>
                        <a:cs typeface="Cambria Math" panose="02040503050406030204" charset="0"/>
                      </a:rPr>
                      <m:t>𝜃</m:t>
                    </m:r>
                  </m:oMath>
                </a14:m>
                <a:r>
                  <a:rPr lang="en-US" altLang="zh-CN" sz="2000">
                    <a:solidFill>
                      <a:srgbClr val="FF0000"/>
                    </a:solidFill>
                    <a:sym typeface="+mn-ea"/>
                  </a:rPr>
                  <a:t>,</a:t>
                </a:r>
                <a14:m>
                  <m:oMath xmlns:m="http://schemas.openxmlformats.org/officeDocument/2006/math">
                    <m:r>
                      <a:rPr lang="en-US" altLang="zh-CN" sz="2000" i="1">
                        <a:solidFill>
                          <a:srgbClr val="FF0000"/>
                        </a:solidFill>
                        <a:latin typeface="Cambria Math" panose="02040503050406030204" charset="0"/>
                        <a:cs typeface="Cambria Math" panose="02040503050406030204" charset="0"/>
                        <a:sym typeface="+mn-ea"/>
                      </a:rPr>
                      <m:t>𝑦</m:t>
                    </m:r>
                    <m:r>
                      <a:rPr lang="en-US" altLang="zh-CN" sz="2000" i="1">
                        <a:solidFill>
                          <a:srgbClr val="FF0000"/>
                        </a:solidFill>
                        <a:latin typeface="Cambria Math" panose="02040503050406030204" charset="0"/>
                        <a:cs typeface="Cambria Math" panose="02040503050406030204" charset="0"/>
                        <a:sym typeface="+mn-ea"/>
                      </a:rPr>
                      <m:t>=</m:t>
                    </m:r>
                    <m:r>
                      <a:rPr lang="en-US" altLang="zh-CN" sz="2000" i="1">
                        <a:solidFill>
                          <a:srgbClr val="FF0000"/>
                        </a:solidFill>
                        <a:latin typeface="Cambria Math" panose="02040503050406030204" charset="0"/>
                        <a:cs typeface="Cambria Math" panose="02040503050406030204" charset="0"/>
                        <a:sym typeface="+mn-ea"/>
                      </a:rPr>
                      <m:t>𝑟𝑠𝑖𝑛</m:t>
                    </m:r>
                    <m:r>
                      <a:rPr lang="en-US" altLang="zh-CN" sz="2000" i="1">
                        <a:solidFill>
                          <a:srgbClr val="FF0000"/>
                        </a:solidFill>
                        <a:latin typeface="Cambria Math" panose="02040503050406030204" charset="0"/>
                        <a:cs typeface="Cambria Math" panose="02040503050406030204" charset="0"/>
                      </a:rPr>
                      <m:t>𝜃</m:t>
                    </m:r>
                  </m:oMath>
                </a14:m>
                <a:endParaRPr lang="en-US" altLang="zh-CN" sz="2000" i="1">
                  <a:solidFill>
                    <a:srgbClr val="FF0000"/>
                  </a:solidFill>
                  <a:latin typeface="Cambria Math" panose="02040503050406030204" charset="0"/>
                  <a:cs typeface="Cambria Math" panose="02040503050406030204" charset="0"/>
                </a:endParaRPr>
              </a:p>
              <a:p>
                <a:pPr marL="0" indent="0" algn="l">
                  <a:lnSpc>
                    <a:spcPct val="100000"/>
                  </a:lnSpc>
                  <a:buNone/>
                </a:pPr>
                <a:r>
                  <a:rPr sz="2000">
                    <a:sym typeface="+mn-ea"/>
                  </a:rPr>
                  <a:t>其中</a:t>
                </a:r>
                <a14:m>
                  <m:oMath xmlns:m="http://schemas.openxmlformats.org/officeDocument/2006/math">
                    <m:r>
                      <a:rPr lang="en-US" altLang="zh-CN" sz="2000" i="1">
                        <a:latin typeface="Cambria Math" panose="02040503050406030204" charset="0"/>
                        <a:cs typeface="Cambria Math" panose="02040503050406030204" charset="0"/>
                        <a:sym typeface="+mn-ea"/>
                      </a:rPr>
                      <m:t>𝑟</m:t>
                    </m:r>
                    <m:r>
                      <a:rPr lang="en-US" altLang="zh-CN" sz="2000" i="1">
                        <a:latin typeface="Cambria Math" panose="02040503050406030204" charset="0"/>
                        <a:cs typeface="Cambria Math" panose="02040503050406030204" charset="0"/>
                        <a:sym typeface="+mn-ea"/>
                      </a:rPr>
                      <m:t>≥0，</m:t>
                    </m:r>
                    <m:r>
                      <a:rPr sz="2000" i="1">
                        <a:latin typeface="Cambria Math" panose="02040503050406030204" charset="0"/>
                        <a:ea typeface="MS Mincho" charset="0"/>
                        <a:cs typeface="Cambria Math" panose="02040503050406030204" charset="0"/>
                        <a:sym typeface="+mn-ea"/>
                      </a:rPr>
                      <m:t>以</m:t>
                    </m:r>
                    <m:r>
                      <a:rPr lang="en-US" altLang="zh-CN" sz="2000" i="1">
                        <a:latin typeface="Cambria Math" panose="02040503050406030204" charset="0"/>
                        <a:ea typeface="MS Mincho" charset="0"/>
                        <a:cs typeface="Cambria Math" panose="02040503050406030204" charset="0"/>
                        <a:sym typeface="+mn-ea"/>
                      </a:rPr>
                      <m:t>𝑟</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S Mincho" charset="0"/>
                        <a:cs typeface="Cambria Math" panose="02040503050406030204" charset="0"/>
                        <a:sym typeface="+mn-ea"/>
                      </a:rPr>
                      <m:t>𝑟</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S Mincho" charset="0"/>
                        <a:cs typeface="Cambria Math" panose="02040503050406030204" charset="0"/>
                        <a:sym typeface="+mn-ea"/>
                      </a:rPr>
                      <m:t>𝜃</m:t>
                    </m:r>
                    <m:r>
                      <a:rPr lang="en-US" altLang="zh-CN" sz="2000" i="1">
                        <a:latin typeface="Cambria Math" panose="02040503050406030204" charset="0"/>
                        <a:ea typeface="MS Mincho" charset="0"/>
                        <a:cs typeface="Cambria Math" panose="02040503050406030204" charset="0"/>
                        <a:sym typeface="+mn-ea"/>
                      </a:rPr>
                      <m:t>)</m:t>
                    </m:r>
                  </m:oMath>
                </a14:m>
                <a:r>
                  <a:rPr sz="2000">
                    <a:latin typeface="+mj-ea"/>
                    <a:ea typeface="+mj-ea"/>
                    <a:cs typeface="Cambria Math" panose="02040503050406030204" charset="0"/>
                    <a:sym typeface="+mn-ea"/>
                  </a:rPr>
                  <a:t>代入上式，便可得以</a:t>
                </a:r>
                <a14:m>
                  <m:oMath xmlns:m="http://schemas.openxmlformats.org/officeDocument/2006/math">
                    <m:r>
                      <a:rPr lang="en-US" altLang="zh-CN" sz="2000" i="1">
                        <a:latin typeface="Cambria Math" panose="02040503050406030204" charset="0"/>
                        <a:ea typeface="MS Mincho" charset="0"/>
                        <a:cs typeface="Cambria Math" panose="02040503050406030204" charset="0"/>
                        <a:sym typeface="+mn-ea"/>
                      </a:rPr>
                      <m:t>𝜃</m:t>
                    </m:r>
                  </m:oMath>
                </a14:m>
                <a:r>
                  <a:rPr sz="2000">
                    <a:latin typeface="+mj-ea"/>
                    <a:ea typeface="+mj-ea"/>
                    <a:cs typeface="Cambria Math" panose="02040503050406030204" charset="0"/>
                    <a:sym typeface="+mn-ea"/>
                  </a:rPr>
                  <a:t>为参数的方程</a:t>
                </a:r>
              </a:p>
              <a:p>
                <a:pPr marL="0" indent="0" algn="ctr">
                  <a:lnSpc>
                    <a:spcPct val="100000"/>
                  </a:lnSpc>
                  <a:buNone/>
                </a:pPr>
                <a14:m>
                  <m:oMath xmlns:m="http://schemas.openxmlformats.org/officeDocument/2006/math">
                    <m:r>
                      <a:rPr lang="en-US" altLang="zh-CN" sz="2000" i="1">
                        <a:latin typeface="Cambria Math" panose="02040503050406030204" charset="0"/>
                        <a:cs typeface="Cambria Math" panose="02040503050406030204" charset="0"/>
                        <a:sym typeface="+mn-ea"/>
                      </a:rPr>
                      <m:t>𝑥</m:t>
                    </m:r>
                    <m:r>
                      <a:rPr lang="en-US" altLang="zh-CN" sz="2000" i="1">
                        <a:latin typeface="Cambria Math" panose="02040503050406030204" charset="0"/>
                        <a:cs typeface="Cambria Math" panose="02040503050406030204" charset="0"/>
                        <a:sym typeface="+mn-ea"/>
                      </a:rPr>
                      <m:t>=</m:t>
                    </m:r>
                    <m:r>
                      <a:rPr lang="en-US" altLang="zh-CN" sz="2000" i="1">
                        <a:latin typeface="Cambria Math" panose="02040503050406030204" charset="0"/>
                        <a:cs typeface="Cambria Math" panose="02040503050406030204" charset="0"/>
                        <a:sym typeface="+mn-ea"/>
                      </a:rPr>
                      <m:t>𝑟</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S Mincho" charset="0"/>
                        <a:cs typeface="Cambria Math" panose="02040503050406030204" charset="0"/>
                        <a:sym typeface="+mn-ea"/>
                      </a:rPr>
                      <m:t>𝜃</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cs typeface="Cambria Math" panose="02040503050406030204" charset="0"/>
                        <a:sym typeface="+mn-ea"/>
                      </a:rPr>
                      <m:t>𝑐𝑜𝑠</m:t>
                    </m:r>
                    <m:r>
                      <a:rPr lang="en-US" altLang="zh-CN" sz="2000" i="1">
                        <a:latin typeface="Cambria Math" panose="02040503050406030204" charset="0"/>
                        <a:cs typeface="Cambria Math" panose="02040503050406030204" charset="0"/>
                      </a:rPr>
                      <m:t>𝜃</m:t>
                    </m:r>
                  </m:oMath>
                </a14:m>
                <a:r>
                  <a:rPr lang="en-US" altLang="zh-CN" sz="2000">
                    <a:sym typeface="+mn-ea"/>
                  </a:rPr>
                  <a:t>,</a:t>
                </a:r>
                <a14:m>
                  <m:oMath xmlns:m="http://schemas.openxmlformats.org/officeDocument/2006/math">
                    <m:r>
                      <a:rPr lang="en-US" altLang="zh-CN" sz="2000" i="1">
                        <a:latin typeface="Cambria Math" panose="02040503050406030204" charset="0"/>
                        <a:cs typeface="Cambria Math" panose="02040503050406030204" charset="0"/>
                        <a:sym typeface="+mn-ea"/>
                      </a:rPr>
                      <m:t>𝑦</m:t>
                    </m:r>
                    <m:r>
                      <a:rPr lang="en-US" altLang="zh-CN" sz="2000" i="1">
                        <a:latin typeface="Cambria Math" panose="02040503050406030204" charset="0"/>
                        <a:cs typeface="Cambria Math" panose="02040503050406030204" charset="0"/>
                        <a:sym typeface="+mn-ea"/>
                      </a:rPr>
                      <m:t>=</m:t>
                    </m:r>
                    <m:r>
                      <a:rPr lang="en-US" altLang="zh-CN" sz="2000" i="1">
                        <a:latin typeface="Cambria Math" panose="02040503050406030204" charset="0"/>
                        <a:cs typeface="Cambria Math" panose="02040503050406030204" charset="0"/>
                        <a:sym typeface="+mn-ea"/>
                      </a:rPr>
                      <m:t>𝑟</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ea typeface="MS Mincho" charset="0"/>
                        <a:cs typeface="Cambria Math" panose="02040503050406030204" charset="0"/>
                        <a:sym typeface="+mn-ea"/>
                      </a:rPr>
                      <m:t>𝜃</m:t>
                    </m:r>
                    <m:r>
                      <a:rPr lang="en-US" altLang="zh-CN" sz="2000" i="1">
                        <a:latin typeface="Cambria Math" panose="02040503050406030204" charset="0"/>
                        <a:ea typeface="MS Mincho" charset="0"/>
                        <a:cs typeface="Cambria Math" panose="02040503050406030204" charset="0"/>
                        <a:sym typeface="+mn-ea"/>
                      </a:rPr>
                      <m:t>)</m:t>
                    </m:r>
                    <m:r>
                      <a:rPr lang="en-US" altLang="zh-CN" sz="2000" i="1">
                        <a:latin typeface="Cambria Math" panose="02040503050406030204" charset="0"/>
                        <a:cs typeface="Cambria Math" panose="02040503050406030204" charset="0"/>
                        <a:sym typeface="+mn-ea"/>
                      </a:rPr>
                      <m:t>𝑠𝑖𝑛</m:t>
                    </m:r>
                    <m:r>
                      <a:rPr lang="en-US" altLang="zh-CN" sz="2000" i="1">
                        <a:latin typeface="Cambria Math" panose="02040503050406030204" charset="0"/>
                        <a:ea typeface="MS Mincho" charset="0"/>
                        <a:cs typeface="Cambria Math" panose="02040503050406030204" charset="0"/>
                      </a:rPr>
                      <m:t>𝜃</m:t>
                    </m:r>
                  </m:oMath>
                </a14:m>
                <a:endParaRPr lang="en-US" altLang="zh-CN" sz="2000" i="1">
                  <a:latin typeface="Cambria Math" panose="02040503050406030204" charset="0"/>
                  <a:ea typeface="MS Mincho" charset="0"/>
                  <a:cs typeface="Cambria Math" panose="02040503050406030204" charset="0"/>
                  <a:sym typeface="+mn-ea"/>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4"/>
                <a:stretch>
                  <a:fillRect l="-1" t="-1" r="3" b="12"/>
                </a:stretch>
              </a:blipFill>
            </p:spPr>
            <p:txBody>
              <a:bodyPr/>
              <a:lstStyle/>
              <a:p>
                <a:r>
                  <a:rPr lang="zh-CN" altLang="en-US">
                    <a:noFill/>
                  </a:rPr>
                  <a:t> </a:t>
                </a:r>
              </a:p>
            </p:txBody>
          </p:sp>
        </mc:Fallback>
      </mc:AlternateContent>
      <p:pic>
        <p:nvPicPr>
          <p:cNvPr id="4" name="图片 3" descr="28501da78aeb5ed37baf73421a1ff74"/>
          <p:cNvPicPr>
            <a:picLocks noChangeAspect="1"/>
          </p:cNvPicPr>
          <p:nvPr/>
        </p:nvPicPr>
        <p:blipFill>
          <a:blip r:embed="rId5"/>
          <a:srcRect l="5537" r="10630" b="86657"/>
          <a:stretch>
            <a:fillRect/>
          </a:stretch>
        </p:blipFill>
        <p:spPr>
          <a:xfrm>
            <a:off x="2390140" y="3486785"/>
            <a:ext cx="7412355" cy="359410"/>
          </a:xfrm>
          <a:prstGeom prst="rect">
            <a:avLst/>
          </a:prstGeom>
        </p:spPr>
      </p:pic>
      <p:pic>
        <p:nvPicPr>
          <p:cNvPr id="5" name="图片 4" descr="28501da78aeb5ed37baf73421a1ff74"/>
          <p:cNvPicPr>
            <a:picLocks noChangeAspect="1"/>
          </p:cNvPicPr>
          <p:nvPr>
            <p:custDataLst>
              <p:tags r:id="rId2"/>
            </p:custDataLst>
          </p:nvPr>
        </p:nvPicPr>
        <p:blipFill>
          <a:blip r:embed="rId5"/>
          <a:srcRect l="5537" t="27112" r="10630" b="4894"/>
          <a:stretch>
            <a:fillRect/>
          </a:stretch>
        </p:blipFill>
        <p:spPr>
          <a:xfrm>
            <a:off x="2033905" y="4104640"/>
            <a:ext cx="7403465" cy="1829435"/>
          </a:xfrm>
          <a:prstGeom prst="rect">
            <a:avLst/>
          </a:prstGeom>
        </p:spPr>
      </p:pic>
      <p:sp>
        <p:nvSpPr>
          <p:cNvPr id="6" name="文本框 5"/>
          <p:cNvSpPr txBox="1"/>
          <p:nvPr/>
        </p:nvSpPr>
        <p:spPr>
          <a:xfrm>
            <a:off x="2108200" y="4156075"/>
            <a:ext cx="4064000" cy="398780"/>
          </a:xfrm>
          <a:prstGeom prst="rect">
            <a:avLst/>
          </a:prstGeom>
          <a:noFill/>
        </p:spPr>
        <p:txBody>
          <a:bodyPr wrap="square" rtlCol="0">
            <a:spAutoFit/>
          </a:bodyPr>
          <a:lstStyle/>
          <a:p>
            <a:r>
              <a:rPr lang="zh-CN" altLang="en-US" sz="2000"/>
              <a:t>解</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3" name="TextBox 3"/>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5" name="文本框 4"/>
          <p:cNvSpPr txBox="1"/>
          <p:nvPr/>
        </p:nvSpPr>
        <p:spPr>
          <a:xfrm>
            <a:off x="2118995" y="2967990"/>
            <a:ext cx="6817360" cy="922020"/>
          </a:xfrm>
          <a:prstGeom prst="rect">
            <a:avLst/>
          </a:prstGeom>
          <a:noFill/>
        </p:spPr>
        <p:txBody>
          <a:bodyPr wrap="square" rtlCol="0">
            <a:spAutoFit/>
          </a:bodyPr>
          <a:lstStyle/>
          <a:p>
            <a:pPr algn="ctr"/>
            <a:r>
              <a:rPr lang="en-US" altLang="zh-CN" sz="5400" b="1">
                <a:latin typeface="+mj-ea"/>
                <a:ea typeface="+mj-ea"/>
                <a:cs typeface="+mj-ea"/>
              </a:rPr>
              <a:t>3.5 </a:t>
            </a:r>
            <a:r>
              <a:rPr lang="zh-CN" altLang="en-US" sz="5400" b="1">
                <a:latin typeface="+mj-ea"/>
                <a:ea typeface="+mj-ea"/>
                <a:cs typeface="+mj-ea"/>
              </a:rPr>
              <a:t>高阶导数</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6442" y="434941"/>
            <a:ext cx="77964" cy="501717"/>
            <a:chOff x="0" y="0"/>
            <a:chExt cx="114300" cy="735550"/>
          </a:xfrm>
        </p:grpSpPr>
        <p:sp>
          <p:nvSpPr>
            <p:cNvPr id="3" name="Freeform 3"/>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grpSp>
        <p:nvGrpSpPr>
          <p:cNvPr id="4" name="Group 4"/>
          <p:cNvGrpSpPr/>
          <p:nvPr/>
        </p:nvGrpSpPr>
        <p:grpSpPr>
          <a:xfrm>
            <a:off x="761858" y="1290453"/>
            <a:ext cx="7722513" cy="2371045"/>
            <a:chOff x="0" y="0"/>
            <a:chExt cx="15445025" cy="4742091"/>
          </a:xfrm>
        </p:grpSpPr>
        <p:sp>
          <p:nvSpPr>
            <p:cNvPr id="5" name="Freeform 5"/>
            <p:cNvSpPr/>
            <p:nvPr/>
          </p:nvSpPr>
          <p:spPr>
            <a:xfrm>
              <a:off x="0" y="0"/>
              <a:ext cx="15445025" cy="1539410"/>
            </a:xfrm>
            <a:custGeom>
              <a:avLst/>
              <a:gdLst/>
              <a:ahLst/>
              <a:cxnLst/>
              <a:rect l="l" t="t" r="r" b="b"/>
              <a:pathLst>
                <a:path w="15445025" h="1539410">
                  <a:moveTo>
                    <a:pt x="0" y="0"/>
                  </a:moveTo>
                  <a:lnTo>
                    <a:pt x="15445025" y="0"/>
                  </a:lnTo>
                  <a:lnTo>
                    <a:pt x="15445025" y="1539410"/>
                  </a:lnTo>
                  <a:lnTo>
                    <a:pt x="0" y="1539410"/>
                  </a:lnTo>
                  <a:lnTo>
                    <a:pt x="0" y="0"/>
                  </a:lnTo>
                  <a:close/>
                </a:path>
              </a:pathLst>
            </a:custGeom>
            <a:blipFill>
              <a:blip r:embed="rId2"/>
              <a:stretch>
                <a:fillRect t="-690" r="-628" b="-3844"/>
              </a:stretch>
            </a:blipFill>
          </p:spPr>
        </p:sp>
        <p:sp>
          <p:nvSpPr>
            <p:cNvPr id="6" name="Freeform 6"/>
            <p:cNvSpPr/>
            <p:nvPr/>
          </p:nvSpPr>
          <p:spPr>
            <a:xfrm>
              <a:off x="0" y="1330919"/>
              <a:ext cx="15445025" cy="3411171"/>
            </a:xfrm>
            <a:custGeom>
              <a:avLst/>
              <a:gdLst/>
              <a:ahLst/>
              <a:cxnLst/>
              <a:rect l="l" t="t" r="r" b="b"/>
              <a:pathLst>
                <a:path w="15445025" h="3411171">
                  <a:moveTo>
                    <a:pt x="0" y="0"/>
                  </a:moveTo>
                  <a:lnTo>
                    <a:pt x="15445025" y="0"/>
                  </a:lnTo>
                  <a:lnTo>
                    <a:pt x="15445025" y="3411172"/>
                  </a:lnTo>
                  <a:lnTo>
                    <a:pt x="0" y="3411172"/>
                  </a:lnTo>
                  <a:lnTo>
                    <a:pt x="0" y="0"/>
                  </a:lnTo>
                  <a:close/>
                </a:path>
              </a:pathLst>
            </a:custGeom>
            <a:blipFill>
              <a:blip r:embed="rId3"/>
              <a:stretch>
                <a:fillRect/>
              </a:stretch>
            </a:blipFill>
            <a:effectLst>
              <a:softEdge rad="63500"/>
            </a:effectLst>
          </p:spPr>
        </p:sp>
      </p:grpSp>
      <p:sp>
        <p:nvSpPr>
          <p:cNvPr id="7" name="TextBox 7"/>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8" name="TextBox 8"/>
          <p:cNvSpPr txBox="1"/>
          <p:nvPr/>
        </p:nvSpPr>
        <p:spPr>
          <a:xfrm>
            <a:off x="817033" y="409363"/>
            <a:ext cx="5404273" cy="845820"/>
          </a:xfrm>
          <a:prstGeom prst="rect">
            <a:avLst/>
          </a:prstGeom>
        </p:spPr>
        <p:txBody>
          <a:bodyPr wrap="square" lIns="0" tIns="0" rIns="0" bIns="0" rtlCol="0" anchor="t">
            <a:spAutoFit/>
          </a:bodyPr>
          <a:lstStyle/>
          <a:p>
            <a:pPr marL="0" lvl="0" indent="0">
              <a:lnSpc>
                <a:spcPts val="6600"/>
              </a:lnSpc>
              <a:spcBef>
                <a:spcPct val="0"/>
              </a:spcBef>
            </a:pPr>
            <a:r>
              <a:rPr 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3.5.1 高阶导数概念</a:t>
            </a:r>
          </a:p>
        </p:txBody>
      </p:sp>
      <p:sp>
        <p:nvSpPr>
          <p:cNvPr id="9" name="TextBox 9"/>
          <p:cNvSpPr txBox="1"/>
          <p:nvPr/>
        </p:nvSpPr>
        <p:spPr>
          <a:xfrm>
            <a:off x="816891" y="4331080"/>
            <a:ext cx="2423808" cy="680720"/>
          </a:xfrm>
          <a:prstGeom prst="rect">
            <a:avLst/>
          </a:prstGeom>
        </p:spPr>
        <p:txBody>
          <a:bodyPr lIns="0" tIns="0" rIns="0" bIns="0" rtlCol="0" anchor="t">
            <a:spAutoFit/>
          </a:bodyPr>
          <a:lstStyle/>
          <a:p>
            <a:pPr algn="l">
              <a:lnSpc>
                <a:spcPts val="5310"/>
              </a:lnSpc>
            </a:pPr>
            <a:r>
              <a:rPr lang="en-US" sz="2400">
                <a:solidFill>
                  <a:srgbClr val="000000"/>
                </a:solidFill>
                <a:latin typeface="宋体" panose="02010600030101010101" pitchFamily="2" charset="-122"/>
                <a:ea typeface="宋体" panose="02010600030101010101" pitchFamily="2" charset="-122"/>
              </a:rPr>
              <a:t>tip</a:t>
            </a:r>
          </a:p>
        </p:txBody>
      </p:sp>
      <p:sp>
        <p:nvSpPr>
          <p:cNvPr id="10" name="TextBox 10"/>
          <p:cNvSpPr txBox="1"/>
          <p:nvPr/>
        </p:nvSpPr>
        <p:spPr>
          <a:xfrm>
            <a:off x="817033" y="4924213"/>
            <a:ext cx="5085503" cy="913130"/>
          </a:xfrm>
          <a:prstGeom prst="rect">
            <a:avLst/>
          </a:prstGeom>
        </p:spPr>
        <p:txBody>
          <a:bodyPr wrap="square" lIns="0" tIns="0" rIns="0" bIns="0" rtlCol="0" anchor="t">
            <a:noAutofit/>
          </a:bodyPr>
          <a:lstStyle/>
          <a:p>
            <a:pPr algn="just">
              <a:lnSpc>
                <a:spcPts val="3615"/>
              </a:lnSpc>
            </a:pPr>
            <a:r>
              <a:rPr lang="en-US" sz="1865">
                <a:solidFill>
                  <a:srgbClr val="000000"/>
                </a:solidFill>
                <a:latin typeface="宋体" panose="02010600030101010101" pitchFamily="2" charset="-122"/>
                <a:ea typeface="宋体" panose="02010600030101010101" pitchFamily="2" charset="-122"/>
                <a:cs typeface="宋体" panose="02010600030101010101" pitchFamily="2" charset="-122"/>
              </a:rPr>
              <a:t>正如“ 一阶导数是函数的变化率” 一样，</a:t>
            </a:r>
          </a:p>
          <a:p>
            <a:pPr algn="just">
              <a:lnSpc>
                <a:spcPts val="3615"/>
              </a:lnSpc>
            </a:pPr>
            <a:r>
              <a:rPr lang="en-US" sz="1865">
                <a:solidFill>
                  <a:srgbClr val="000000"/>
                </a:solidFill>
                <a:latin typeface="宋体" panose="02010600030101010101" pitchFamily="2" charset="-122"/>
                <a:ea typeface="宋体" panose="02010600030101010101" pitchFamily="2" charset="-122"/>
                <a:cs typeface="宋体" panose="02010600030101010101" pitchFamily="2" charset="-122"/>
              </a:rPr>
              <a:t>可以说 二阶导数是“ 变化率的变化率”</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6442" y="434941"/>
            <a:ext cx="77964" cy="501717"/>
            <a:chOff x="0" y="0"/>
            <a:chExt cx="114300" cy="735550"/>
          </a:xfrm>
        </p:grpSpPr>
        <p:sp>
          <p:nvSpPr>
            <p:cNvPr id="3" name="Freeform 3"/>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sp>
        <p:nvSpPr>
          <p:cNvPr id="4" name="Freeform 4"/>
          <p:cNvSpPr/>
          <p:nvPr/>
        </p:nvSpPr>
        <p:spPr>
          <a:xfrm>
            <a:off x="626533" y="1803400"/>
            <a:ext cx="7132320" cy="997373"/>
          </a:xfrm>
          <a:custGeom>
            <a:avLst/>
            <a:gdLst/>
            <a:ahLst/>
            <a:cxnLst/>
            <a:rect l="l" t="t" r="r" b="b"/>
            <a:pathLst>
              <a:path w="13016223" h="1817581">
                <a:moveTo>
                  <a:pt x="0" y="0"/>
                </a:moveTo>
                <a:lnTo>
                  <a:pt x="13016223" y="0"/>
                </a:lnTo>
                <a:lnTo>
                  <a:pt x="13016223" y="1817581"/>
                </a:lnTo>
                <a:lnTo>
                  <a:pt x="0" y="1817581"/>
                </a:lnTo>
                <a:lnTo>
                  <a:pt x="0" y="0"/>
                </a:lnTo>
                <a:close/>
              </a:path>
            </a:pathLst>
          </a:custGeom>
          <a:blipFill>
            <a:blip r:embed="rId6"/>
            <a:stretch>
              <a:fillRect/>
            </a:stretch>
          </a:blipFill>
        </p:spPr>
      </p:sp>
      <p:sp>
        <p:nvSpPr>
          <p:cNvPr id="5" name="Freeform 5"/>
          <p:cNvSpPr/>
          <p:nvPr/>
        </p:nvSpPr>
        <p:spPr>
          <a:xfrm>
            <a:off x="457200" y="2874010"/>
            <a:ext cx="7361343" cy="993563"/>
          </a:xfrm>
          <a:custGeom>
            <a:avLst/>
            <a:gdLst/>
            <a:ahLst/>
            <a:cxnLst/>
            <a:rect l="l" t="t" r="r" b="b"/>
            <a:pathLst>
              <a:path w="13016223" h="1638269">
                <a:moveTo>
                  <a:pt x="0" y="0"/>
                </a:moveTo>
                <a:lnTo>
                  <a:pt x="13016223" y="0"/>
                </a:lnTo>
                <a:lnTo>
                  <a:pt x="13016223" y="1638269"/>
                </a:lnTo>
                <a:lnTo>
                  <a:pt x="0" y="1638269"/>
                </a:lnTo>
                <a:lnTo>
                  <a:pt x="0" y="0"/>
                </a:lnTo>
                <a:close/>
              </a:path>
            </a:pathLst>
          </a:custGeom>
          <a:blipFill>
            <a:blip r:embed="rId7"/>
            <a:stretch>
              <a:fillRect t="-11341" b="-16329"/>
            </a:stretch>
          </a:blipFill>
          <a:effectLst>
            <a:softEdge rad="63500"/>
          </a:effectLst>
        </p:spPr>
      </p:sp>
      <p:sp>
        <p:nvSpPr>
          <p:cNvPr id="6" name="TextBox 6"/>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7" name="TextBox 7"/>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9" name="TextBox 9"/>
          <p:cNvSpPr txBox="1"/>
          <p:nvPr/>
        </p:nvSpPr>
        <p:spPr>
          <a:xfrm>
            <a:off x="626442" y="1346024"/>
            <a:ext cx="6172464" cy="364652"/>
          </a:xfrm>
          <a:prstGeom prst="rect">
            <a:avLst/>
          </a:prstGeom>
        </p:spPr>
        <p:txBody>
          <a:bodyPr wrap="square" lIns="0" tIns="0" rIns="0" bIns="0" rtlCol="0" anchor="t">
            <a:spAutoFit/>
          </a:bodyPr>
          <a:lstStyle/>
          <a:p>
            <a:pPr marL="582930" lvl="1" indent="-291465" algn="ctr">
              <a:lnSpc>
                <a:spcPts val="3240"/>
              </a:lnSpc>
              <a:buFont typeface="Arial" panose="020B0604020202020204"/>
              <a:buChar char="•"/>
            </a:pPr>
            <a:r>
              <a:rPr lang="en-US" sz="1865" dirty="0" err="1">
                <a:solidFill>
                  <a:srgbClr val="000000"/>
                </a:solidFill>
                <a:latin typeface="微软雅黑" panose="020B0503020204020204" charset="-122"/>
                <a:ea typeface="微软雅黑" panose="020B0503020204020204" charset="-122"/>
              </a:rPr>
              <a:t>高阶导数计算一般分为以下两种情况</a:t>
            </a:r>
            <a:r>
              <a:rPr lang="en-US" sz="1865" dirty="0">
                <a:solidFill>
                  <a:srgbClr val="000000"/>
                </a:solidFill>
                <a:latin typeface="微软雅黑" panose="020B0503020204020204" charset="-122"/>
                <a:ea typeface="微软雅黑" panose="020B0503020204020204" charset="-122"/>
              </a:rPr>
              <a:t>：</a:t>
            </a:r>
          </a:p>
        </p:txBody>
      </p:sp>
      <p:sp>
        <p:nvSpPr>
          <p:cNvPr id="12" name="TextBox 8"/>
          <p:cNvSpPr txBox="1"/>
          <p:nvPr>
            <p:custDataLst>
              <p:tags r:id="rId1"/>
            </p:custDataLst>
          </p:nvPr>
        </p:nvSpPr>
        <p:spPr>
          <a:xfrm>
            <a:off x="817033" y="409363"/>
            <a:ext cx="5404273" cy="845820"/>
          </a:xfrm>
          <a:prstGeom prst="rect">
            <a:avLst/>
          </a:prstGeom>
        </p:spPr>
        <p:txBody>
          <a:bodyPr wrap="square" lIns="0" tIns="0" rIns="0" bIns="0" rtlCol="0" anchor="t">
            <a:spAutoFit/>
          </a:bodyPr>
          <a:lstStyle/>
          <a:p>
            <a:pPr marL="0" lvl="0" indent="0">
              <a:lnSpc>
                <a:spcPts val="6600"/>
              </a:lnSpc>
              <a:spcBef>
                <a:spcPct val="0"/>
              </a:spcBef>
            </a:pPr>
            <a:r>
              <a:rPr 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3.5.1 高阶导数概念</a:t>
            </a:r>
          </a:p>
        </p:txBody>
      </p:sp>
      <p:sp>
        <p:nvSpPr>
          <p:cNvPr id="13" name="Freeform 11"/>
          <p:cNvSpPr/>
          <p:nvPr>
            <p:custDataLst>
              <p:tags r:id="rId2"/>
            </p:custDataLst>
          </p:nvPr>
        </p:nvSpPr>
        <p:spPr>
          <a:xfrm>
            <a:off x="2844800" y="3940810"/>
            <a:ext cx="4640580" cy="2830830"/>
          </a:xfrm>
          <a:custGeom>
            <a:avLst/>
            <a:gdLst/>
            <a:ahLst/>
            <a:cxnLst/>
            <a:rect l="l" t="t" r="r" b="b"/>
            <a:pathLst>
              <a:path w="9641219" h="5464494">
                <a:moveTo>
                  <a:pt x="0" y="0"/>
                </a:moveTo>
                <a:lnTo>
                  <a:pt x="9641219" y="0"/>
                </a:lnTo>
                <a:lnTo>
                  <a:pt x="9641219" y="5464493"/>
                </a:lnTo>
                <a:lnTo>
                  <a:pt x="0" y="5464493"/>
                </a:lnTo>
                <a:lnTo>
                  <a:pt x="0" y="0"/>
                </a:lnTo>
                <a:close/>
              </a:path>
            </a:pathLst>
          </a:custGeom>
          <a:blipFill>
            <a:blip r:embed="rId8"/>
            <a:stretch>
              <a:fillRect l="-605" r="-3426"/>
            </a:stretch>
          </a:blipFill>
        </p:spPr>
      </p:sp>
      <p:sp>
        <p:nvSpPr>
          <p:cNvPr id="14" name="TextBox 9"/>
          <p:cNvSpPr txBox="1"/>
          <p:nvPr>
            <p:custDataLst>
              <p:tags r:id="rId3"/>
            </p:custDataLst>
          </p:nvPr>
        </p:nvSpPr>
        <p:spPr>
          <a:xfrm>
            <a:off x="558709" y="3987624"/>
            <a:ext cx="4274807" cy="830580"/>
          </a:xfrm>
          <a:prstGeom prst="rect">
            <a:avLst/>
          </a:prstGeom>
        </p:spPr>
        <p:txBody>
          <a:bodyPr lIns="0" tIns="0" rIns="0" bIns="0" rtlCol="0" anchor="t">
            <a:spAutoFit/>
          </a:bodyPr>
          <a:lstStyle/>
          <a:p>
            <a:pPr marL="582930" lvl="1" indent="-291465" algn="l">
              <a:lnSpc>
                <a:spcPts val="3240"/>
              </a:lnSpc>
              <a:buFont typeface="Arial" panose="020B0604020202020204"/>
              <a:buChar char="•"/>
            </a:pPr>
            <a:r>
              <a:rPr lang="en-US" sz="1865" b="1">
                <a:solidFill>
                  <a:srgbClr val="000000"/>
                </a:solidFill>
                <a:latin typeface="微软雅黑" panose="020B0503020204020204" charset="-122"/>
                <a:ea typeface="微软雅黑" panose="020B0503020204020204" charset="-122"/>
                <a:cs typeface="微软雅黑" panose="020B0503020204020204" charset="-122"/>
                <a:sym typeface="+mn-ea"/>
              </a:rPr>
              <a:t>n阶导数基本公式</a:t>
            </a:r>
            <a:endParaRPr lang="en-US" sz="1865" b="1">
              <a:solidFill>
                <a:srgbClr val="000000"/>
              </a:solidFill>
              <a:latin typeface="微软雅黑" panose="020B0503020204020204" charset="-122"/>
              <a:ea typeface="微软雅黑" panose="020B0503020204020204" charset="-122"/>
              <a:cs typeface="微软雅黑" panose="020B0503020204020204" charset="-122"/>
            </a:endParaRPr>
          </a:p>
          <a:p>
            <a:pPr marL="291465" lvl="1" indent="0" algn="l">
              <a:lnSpc>
                <a:spcPts val="3240"/>
              </a:lnSpc>
              <a:buFont typeface="Arial" panose="020B0604020202020204"/>
              <a:buNone/>
            </a:pPr>
            <a:endParaRPr lang="en-US" sz="1865">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15" name="Group 12"/>
          <p:cNvGrpSpPr/>
          <p:nvPr/>
        </p:nvGrpSpPr>
        <p:grpSpPr>
          <a:xfrm>
            <a:off x="7637780" y="4648200"/>
            <a:ext cx="4534323" cy="1374140"/>
            <a:chOff x="0" y="0"/>
            <a:chExt cx="2367438" cy="620369"/>
          </a:xfrm>
        </p:grpSpPr>
        <p:sp>
          <p:nvSpPr>
            <p:cNvPr id="16" name="Freeform 13"/>
            <p:cNvSpPr/>
            <p:nvPr>
              <p:custDataLst>
                <p:tags r:id="rId4"/>
              </p:custDataLst>
            </p:nvPr>
          </p:nvSpPr>
          <p:spPr>
            <a:xfrm>
              <a:off x="0" y="0"/>
              <a:ext cx="2367438" cy="620369"/>
            </a:xfrm>
            <a:custGeom>
              <a:avLst/>
              <a:gdLst/>
              <a:ahLst/>
              <a:cxnLst/>
              <a:rect l="l" t="t" r="r" b="b"/>
              <a:pathLst>
                <a:path w="2367438" h="620369">
                  <a:moveTo>
                    <a:pt x="22755" y="0"/>
                  </a:moveTo>
                  <a:lnTo>
                    <a:pt x="2344683" y="0"/>
                  </a:lnTo>
                  <a:cubicBezTo>
                    <a:pt x="2350718" y="0"/>
                    <a:pt x="2356506" y="2397"/>
                    <a:pt x="2360773" y="6665"/>
                  </a:cubicBezTo>
                  <a:cubicBezTo>
                    <a:pt x="2365041" y="10932"/>
                    <a:pt x="2367438" y="16720"/>
                    <a:pt x="2367438" y="22755"/>
                  </a:cubicBezTo>
                  <a:lnTo>
                    <a:pt x="2367438" y="597614"/>
                  </a:lnTo>
                  <a:cubicBezTo>
                    <a:pt x="2367438" y="610182"/>
                    <a:pt x="2357250" y="620369"/>
                    <a:pt x="2344683" y="620369"/>
                  </a:cubicBezTo>
                  <a:lnTo>
                    <a:pt x="22755" y="620369"/>
                  </a:lnTo>
                  <a:cubicBezTo>
                    <a:pt x="10188" y="620369"/>
                    <a:pt x="0" y="610182"/>
                    <a:pt x="0" y="597614"/>
                  </a:cubicBezTo>
                  <a:lnTo>
                    <a:pt x="0" y="22755"/>
                  </a:lnTo>
                  <a:cubicBezTo>
                    <a:pt x="0" y="10188"/>
                    <a:pt x="10188" y="0"/>
                    <a:pt x="22755" y="0"/>
                  </a:cubicBezTo>
                  <a:close/>
                </a:path>
              </a:pathLst>
            </a:custGeom>
            <a:blipFill>
              <a:blip r:embed="rId9"/>
              <a:stretch>
                <a:fillRect t="-13100" b="-19016"/>
              </a:stretch>
            </a:blipFill>
          </p:spPr>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6442" y="434941"/>
            <a:ext cx="77964" cy="501717"/>
            <a:chOff x="0" y="0"/>
            <a:chExt cx="114300" cy="735550"/>
          </a:xfrm>
        </p:grpSpPr>
        <p:sp>
          <p:nvSpPr>
            <p:cNvPr id="3" name="Freeform 3"/>
            <p:cNvSpPr/>
            <p:nvPr/>
          </p:nvSpPr>
          <p:spPr>
            <a:xfrm>
              <a:off x="0" y="0"/>
              <a:ext cx="114300" cy="735584"/>
            </a:xfrm>
            <a:custGeom>
              <a:avLst/>
              <a:gdLst/>
              <a:ahLst/>
              <a:cxnLst/>
              <a:rect l="l" t="t" r="r" b="b"/>
              <a:pathLst>
                <a:path w="114300" h="735584">
                  <a:moveTo>
                    <a:pt x="0" y="0"/>
                  </a:moveTo>
                  <a:lnTo>
                    <a:pt x="114300" y="0"/>
                  </a:lnTo>
                  <a:lnTo>
                    <a:pt x="114300" y="735584"/>
                  </a:lnTo>
                  <a:lnTo>
                    <a:pt x="0" y="735584"/>
                  </a:lnTo>
                  <a:close/>
                </a:path>
              </a:pathLst>
            </a:custGeom>
            <a:solidFill>
              <a:srgbClr val="FFFFFF"/>
            </a:solidFill>
          </p:spPr>
        </p:sp>
      </p:grpSp>
      <p:sp>
        <p:nvSpPr>
          <p:cNvPr id="4" name="Freeform 4"/>
          <p:cNvSpPr/>
          <p:nvPr/>
        </p:nvSpPr>
        <p:spPr>
          <a:xfrm>
            <a:off x="7122976" y="178893"/>
            <a:ext cx="5069024" cy="6679107"/>
          </a:xfrm>
          <a:custGeom>
            <a:avLst/>
            <a:gdLst/>
            <a:ahLst/>
            <a:cxnLst/>
            <a:rect l="l" t="t" r="r" b="b"/>
            <a:pathLst>
              <a:path w="7603536" h="10018661">
                <a:moveTo>
                  <a:pt x="0" y="0"/>
                </a:moveTo>
                <a:lnTo>
                  <a:pt x="7603536" y="0"/>
                </a:lnTo>
                <a:lnTo>
                  <a:pt x="7603536" y="10018661"/>
                </a:lnTo>
                <a:lnTo>
                  <a:pt x="0" y="10018661"/>
                </a:lnTo>
                <a:lnTo>
                  <a:pt x="0" y="0"/>
                </a:lnTo>
                <a:close/>
              </a:path>
            </a:pathLst>
          </a:custGeom>
          <a:blipFill>
            <a:blip r:embed="rId3"/>
            <a:stretch>
              <a:fillRect l="-2326" r="-12485"/>
            </a:stretch>
          </a:blipFill>
        </p:spPr>
      </p:sp>
      <p:sp>
        <p:nvSpPr>
          <p:cNvPr id="5" name="Freeform 5"/>
          <p:cNvSpPr/>
          <p:nvPr/>
        </p:nvSpPr>
        <p:spPr>
          <a:xfrm>
            <a:off x="665424" y="1439380"/>
            <a:ext cx="5469558" cy="1327755"/>
          </a:xfrm>
          <a:custGeom>
            <a:avLst/>
            <a:gdLst/>
            <a:ahLst/>
            <a:cxnLst/>
            <a:rect l="l" t="t" r="r" b="b"/>
            <a:pathLst>
              <a:path w="8204337" h="1991633">
                <a:moveTo>
                  <a:pt x="0" y="0"/>
                </a:moveTo>
                <a:lnTo>
                  <a:pt x="8204337" y="0"/>
                </a:lnTo>
                <a:lnTo>
                  <a:pt x="8204337" y="1991632"/>
                </a:lnTo>
                <a:lnTo>
                  <a:pt x="0" y="1991632"/>
                </a:lnTo>
                <a:lnTo>
                  <a:pt x="0" y="0"/>
                </a:lnTo>
                <a:close/>
              </a:path>
            </a:pathLst>
          </a:custGeom>
          <a:blipFill>
            <a:blip r:embed="rId4"/>
            <a:stretch>
              <a:fillRect/>
            </a:stretch>
          </a:blipFill>
        </p:spPr>
      </p:sp>
      <p:grpSp>
        <p:nvGrpSpPr>
          <p:cNvPr id="6" name="Group 6"/>
          <p:cNvGrpSpPr/>
          <p:nvPr/>
        </p:nvGrpSpPr>
        <p:grpSpPr>
          <a:xfrm>
            <a:off x="685800" y="3269827"/>
            <a:ext cx="4403513" cy="2617047"/>
            <a:chOff x="0" y="0"/>
            <a:chExt cx="2005635" cy="1258715"/>
          </a:xfrm>
        </p:grpSpPr>
        <p:sp>
          <p:nvSpPr>
            <p:cNvPr id="7" name="Freeform 7"/>
            <p:cNvSpPr/>
            <p:nvPr/>
          </p:nvSpPr>
          <p:spPr>
            <a:xfrm>
              <a:off x="0" y="0"/>
              <a:ext cx="2005635" cy="1258715"/>
            </a:xfrm>
            <a:custGeom>
              <a:avLst/>
              <a:gdLst/>
              <a:ahLst/>
              <a:cxnLst/>
              <a:rect l="l" t="t" r="r" b="b"/>
              <a:pathLst>
                <a:path w="2005635" h="1258715">
                  <a:moveTo>
                    <a:pt x="24567" y="0"/>
                  </a:moveTo>
                  <a:lnTo>
                    <a:pt x="1981068" y="0"/>
                  </a:lnTo>
                  <a:cubicBezTo>
                    <a:pt x="1994636" y="0"/>
                    <a:pt x="2005635" y="10999"/>
                    <a:pt x="2005635" y="24567"/>
                  </a:cubicBezTo>
                  <a:lnTo>
                    <a:pt x="2005635" y="1234149"/>
                  </a:lnTo>
                  <a:cubicBezTo>
                    <a:pt x="2005635" y="1240664"/>
                    <a:pt x="2003047" y="1246913"/>
                    <a:pt x="1998439" y="1251520"/>
                  </a:cubicBezTo>
                  <a:cubicBezTo>
                    <a:pt x="1993832" y="1256127"/>
                    <a:pt x="1987584" y="1258715"/>
                    <a:pt x="1981068" y="1258715"/>
                  </a:cubicBezTo>
                  <a:lnTo>
                    <a:pt x="24567" y="1258715"/>
                  </a:lnTo>
                  <a:cubicBezTo>
                    <a:pt x="10999" y="1258715"/>
                    <a:pt x="0" y="1247716"/>
                    <a:pt x="0" y="1234149"/>
                  </a:cubicBezTo>
                  <a:lnTo>
                    <a:pt x="0" y="24567"/>
                  </a:lnTo>
                  <a:cubicBezTo>
                    <a:pt x="0" y="18051"/>
                    <a:pt x="2588" y="11803"/>
                    <a:pt x="7195" y="7195"/>
                  </a:cubicBezTo>
                  <a:cubicBezTo>
                    <a:pt x="11803" y="2588"/>
                    <a:pt x="18051" y="0"/>
                    <a:pt x="24567" y="0"/>
                  </a:cubicBezTo>
                  <a:close/>
                </a:path>
              </a:pathLst>
            </a:custGeom>
            <a:blipFill>
              <a:blip r:embed="rId5"/>
              <a:stretch>
                <a:fillRect l="-2129" r="-2129"/>
              </a:stretch>
            </a:blipFill>
          </p:spPr>
        </p:sp>
      </p:grpSp>
      <p:sp>
        <p:nvSpPr>
          <p:cNvPr id="8" name="TextBox 8"/>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9" name="TextBox 9"/>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1" name="TextBox 11"/>
          <p:cNvSpPr txBox="1"/>
          <p:nvPr/>
        </p:nvSpPr>
        <p:spPr>
          <a:xfrm>
            <a:off x="101600" y="3429000"/>
            <a:ext cx="1983317" cy="295910"/>
          </a:xfrm>
          <a:prstGeom prst="rect">
            <a:avLst/>
          </a:prstGeom>
        </p:spPr>
        <p:txBody>
          <a:bodyPr lIns="0" tIns="0" rIns="0" bIns="0" rtlCol="0" anchor="t">
            <a:noAutofit/>
          </a:bodyPr>
          <a:lstStyle/>
          <a:p>
            <a:pPr algn="ctr">
              <a:lnSpc>
                <a:spcPts val="4035"/>
              </a:lnSpc>
              <a:spcBef>
                <a:spcPct val="0"/>
              </a:spcBef>
            </a:pPr>
            <a:r>
              <a:rPr lang="en-US" sz="2245">
                <a:solidFill>
                  <a:srgbClr val="000000"/>
                </a:solidFill>
                <a:latin typeface="字由点字典黑 45J" panose="00020600040101010101" charset="-122"/>
                <a:ea typeface="字由点字典黑 45J" panose="00020600040101010101" charset="-122"/>
              </a:rPr>
              <a:t>例1</a:t>
            </a:r>
          </a:p>
        </p:txBody>
      </p:sp>
      <p:sp>
        <p:nvSpPr>
          <p:cNvPr id="12" name="AutoShape 12"/>
          <p:cNvSpPr/>
          <p:nvPr/>
        </p:nvSpPr>
        <p:spPr>
          <a:xfrm>
            <a:off x="6096000" y="2090557"/>
            <a:ext cx="1062517" cy="12700"/>
          </a:xfrm>
          <a:prstGeom prst="line">
            <a:avLst/>
          </a:prstGeom>
          <a:ln w="38100" cap="flat">
            <a:solidFill>
              <a:srgbClr val="000000"/>
            </a:solidFill>
            <a:prstDash val="solid"/>
            <a:headEnd type="none" w="sm" len="sm"/>
            <a:tailEnd type="arrow" w="med" len="sm"/>
          </a:ln>
        </p:spPr>
      </p:sp>
      <p:sp>
        <p:nvSpPr>
          <p:cNvPr id="13" name="TextBox 13"/>
          <p:cNvSpPr txBox="1"/>
          <p:nvPr/>
        </p:nvSpPr>
        <p:spPr>
          <a:xfrm>
            <a:off x="6418149" y="1751447"/>
            <a:ext cx="457200" cy="415290"/>
          </a:xfrm>
          <a:prstGeom prst="rect">
            <a:avLst/>
          </a:prstGeom>
        </p:spPr>
        <p:txBody>
          <a:bodyPr lIns="0" tIns="0" rIns="0" bIns="0" rtlCol="0" anchor="t">
            <a:spAutoFit/>
          </a:bodyPr>
          <a:lstStyle/>
          <a:p>
            <a:pPr algn="ctr">
              <a:lnSpc>
                <a:spcPts val="3240"/>
              </a:lnSpc>
              <a:spcBef>
                <a:spcPct val="0"/>
              </a:spcBef>
            </a:pPr>
            <a:r>
              <a:rPr lang="en-US">
                <a:solidFill>
                  <a:srgbClr val="000000"/>
                </a:solidFill>
                <a:ea typeface="字由点字典黑 65J" panose="00020600040101010101" charset="-122"/>
              </a:rPr>
              <a:t>证明</a:t>
            </a:r>
          </a:p>
        </p:txBody>
      </p:sp>
      <p:sp>
        <p:nvSpPr>
          <p:cNvPr id="14" name="AutoShape 14"/>
          <p:cNvSpPr/>
          <p:nvPr/>
        </p:nvSpPr>
        <p:spPr>
          <a:xfrm>
            <a:off x="1084743" y="2396416"/>
            <a:ext cx="5011225" cy="12700"/>
          </a:xfrm>
          <a:prstGeom prst="line">
            <a:avLst/>
          </a:prstGeom>
          <a:ln w="38100" cap="flat">
            <a:solidFill>
              <a:srgbClr val="000000"/>
            </a:solidFill>
            <a:prstDash val="sysDash"/>
            <a:headEnd type="none" w="sm" len="sm"/>
            <a:tailEnd type="none" w="sm" len="sm"/>
          </a:ln>
        </p:spPr>
      </p:sp>
      <p:sp>
        <p:nvSpPr>
          <p:cNvPr id="15" name="TextBox 8"/>
          <p:cNvSpPr txBox="1"/>
          <p:nvPr>
            <p:custDataLst>
              <p:tags r:id="rId1"/>
            </p:custDataLst>
          </p:nvPr>
        </p:nvSpPr>
        <p:spPr>
          <a:xfrm>
            <a:off x="863600" y="416983"/>
            <a:ext cx="5404273" cy="845820"/>
          </a:xfrm>
          <a:prstGeom prst="rect">
            <a:avLst/>
          </a:prstGeom>
        </p:spPr>
        <p:txBody>
          <a:bodyPr wrap="square" lIns="0" tIns="0" rIns="0" bIns="0" rtlCol="0" anchor="t">
            <a:spAutoFit/>
          </a:bodyPr>
          <a:lstStyle/>
          <a:p>
            <a:pPr marL="0" lvl="0" indent="0">
              <a:lnSpc>
                <a:spcPts val="6600"/>
              </a:lnSpc>
              <a:spcBef>
                <a:spcPct val="0"/>
              </a:spcBef>
            </a:pPr>
            <a:r>
              <a:rPr 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3.5.2 高阶导数</a:t>
            </a:r>
            <a:r>
              <a:rPr lang="zh-CN" altLang="en-US" sz="2665" b="1">
                <a:solidFill>
                  <a:srgbClr val="000000"/>
                </a:solidFill>
                <a:latin typeface="宋体" panose="02010600030101010101" pitchFamily="2" charset="-122"/>
                <a:ea typeface="宋体" panose="02010600030101010101" pitchFamily="2" charset="-122"/>
                <a:cs typeface="宋体" panose="02010600030101010101" pitchFamily="2" charset="-122"/>
              </a:rPr>
              <a:t>的计算</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973781" y="2909239"/>
            <a:ext cx="45719" cy="1012139"/>
            <a:chOff x="0" y="0"/>
            <a:chExt cx="91438" cy="2024278"/>
          </a:xfrm>
        </p:grpSpPr>
        <p:sp>
          <p:nvSpPr>
            <p:cNvPr id="3" name="Freeform 3"/>
            <p:cNvSpPr/>
            <p:nvPr/>
          </p:nvSpPr>
          <p:spPr>
            <a:xfrm>
              <a:off x="0" y="0"/>
              <a:ext cx="91440" cy="2024253"/>
            </a:xfrm>
            <a:custGeom>
              <a:avLst/>
              <a:gdLst/>
              <a:ahLst/>
              <a:cxnLst/>
              <a:rect l="l" t="t" r="r" b="b"/>
              <a:pathLst>
                <a:path w="91440" h="2024253">
                  <a:moveTo>
                    <a:pt x="0" y="0"/>
                  </a:moveTo>
                  <a:lnTo>
                    <a:pt x="91440" y="0"/>
                  </a:lnTo>
                  <a:lnTo>
                    <a:pt x="91440" y="2024253"/>
                  </a:lnTo>
                  <a:lnTo>
                    <a:pt x="0" y="2024253"/>
                  </a:lnTo>
                  <a:close/>
                </a:path>
              </a:pathLst>
            </a:custGeom>
            <a:solidFill>
              <a:srgbClr val="FFFFFF"/>
            </a:solidFill>
          </p:spPr>
        </p:sp>
      </p:grpSp>
      <p:sp>
        <p:nvSpPr>
          <p:cNvPr id="4" name="Freeform 4"/>
          <p:cNvSpPr/>
          <p:nvPr/>
        </p:nvSpPr>
        <p:spPr>
          <a:xfrm>
            <a:off x="8403167" y="228600"/>
            <a:ext cx="3549227" cy="3277447"/>
          </a:xfrm>
          <a:custGeom>
            <a:avLst/>
            <a:gdLst/>
            <a:ahLst/>
            <a:cxnLst/>
            <a:rect l="l" t="t" r="r" b="b"/>
            <a:pathLst>
              <a:path w="5323590" h="4834639">
                <a:moveTo>
                  <a:pt x="0" y="0"/>
                </a:moveTo>
                <a:lnTo>
                  <a:pt x="5323590" y="0"/>
                </a:lnTo>
                <a:lnTo>
                  <a:pt x="5323590" y="4834639"/>
                </a:lnTo>
                <a:lnTo>
                  <a:pt x="0" y="4834639"/>
                </a:lnTo>
                <a:lnTo>
                  <a:pt x="0" y="0"/>
                </a:lnTo>
                <a:close/>
              </a:path>
            </a:pathLst>
          </a:custGeom>
          <a:blipFill>
            <a:blip r:embed="rId2"/>
            <a:stretch>
              <a:fillRect l="-16137" t="-49786" r="-15458" b="-44409"/>
            </a:stretch>
          </a:blipFill>
        </p:spPr>
      </p:sp>
      <p:grpSp>
        <p:nvGrpSpPr>
          <p:cNvPr id="5" name="Group 5"/>
          <p:cNvGrpSpPr/>
          <p:nvPr/>
        </p:nvGrpSpPr>
        <p:grpSpPr>
          <a:xfrm>
            <a:off x="182880" y="287443"/>
            <a:ext cx="3669877" cy="3097530"/>
            <a:chOff x="0" y="0"/>
            <a:chExt cx="7788336" cy="6436494"/>
          </a:xfrm>
        </p:grpSpPr>
        <p:sp>
          <p:nvSpPr>
            <p:cNvPr id="6" name="Freeform 6"/>
            <p:cNvSpPr/>
            <p:nvPr/>
          </p:nvSpPr>
          <p:spPr>
            <a:xfrm>
              <a:off x="0" y="1863691"/>
              <a:ext cx="7788336" cy="4572803"/>
            </a:xfrm>
            <a:custGeom>
              <a:avLst/>
              <a:gdLst/>
              <a:ahLst/>
              <a:cxnLst/>
              <a:rect l="l" t="t" r="r" b="b"/>
              <a:pathLst>
                <a:path w="7788336" h="4572803">
                  <a:moveTo>
                    <a:pt x="0" y="0"/>
                  </a:moveTo>
                  <a:lnTo>
                    <a:pt x="7788336" y="0"/>
                  </a:lnTo>
                  <a:lnTo>
                    <a:pt x="7788336" y="4572803"/>
                  </a:lnTo>
                  <a:lnTo>
                    <a:pt x="0" y="4572803"/>
                  </a:lnTo>
                  <a:lnTo>
                    <a:pt x="0" y="0"/>
                  </a:lnTo>
                  <a:close/>
                </a:path>
              </a:pathLst>
            </a:custGeom>
            <a:blipFill>
              <a:blip r:embed="rId3"/>
              <a:stretch>
                <a:fillRect r="-4211"/>
              </a:stretch>
            </a:blipFill>
          </p:spPr>
        </p:sp>
        <p:sp>
          <p:nvSpPr>
            <p:cNvPr id="7" name="Freeform 7"/>
            <p:cNvSpPr/>
            <p:nvPr/>
          </p:nvSpPr>
          <p:spPr>
            <a:xfrm>
              <a:off x="0" y="0"/>
              <a:ext cx="7788336" cy="1863691"/>
            </a:xfrm>
            <a:custGeom>
              <a:avLst/>
              <a:gdLst/>
              <a:ahLst/>
              <a:cxnLst/>
              <a:rect l="l" t="t" r="r" b="b"/>
              <a:pathLst>
                <a:path w="7788336" h="1863691">
                  <a:moveTo>
                    <a:pt x="0" y="0"/>
                  </a:moveTo>
                  <a:lnTo>
                    <a:pt x="7788336" y="0"/>
                  </a:lnTo>
                  <a:lnTo>
                    <a:pt x="7788336" y="1863691"/>
                  </a:lnTo>
                  <a:lnTo>
                    <a:pt x="0" y="1863691"/>
                  </a:lnTo>
                  <a:lnTo>
                    <a:pt x="0" y="0"/>
                  </a:lnTo>
                  <a:close/>
                </a:path>
              </a:pathLst>
            </a:custGeom>
            <a:blipFill>
              <a:blip r:embed="rId4"/>
              <a:stretch>
                <a:fillRect r="-73289"/>
              </a:stretch>
            </a:blipFill>
          </p:spPr>
        </p:sp>
      </p:grpSp>
      <p:sp>
        <p:nvSpPr>
          <p:cNvPr id="8" name="AutoShape 8"/>
          <p:cNvSpPr/>
          <p:nvPr/>
        </p:nvSpPr>
        <p:spPr>
          <a:xfrm>
            <a:off x="1255415" y="1260807"/>
            <a:ext cx="599971" cy="0"/>
          </a:xfrm>
          <a:prstGeom prst="line">
            <a:avLst/>
          </a:prstGeom>
          <a:ln w="38100" cap="flat">
            <a:solidFill>
              <a:srgbClr val="000000"/>
            </a:solidFill>
            <a:prstDash val="solid"/>
            <a:headEnd type="none" w="sm" len="sm"/>
            <a:tailEnd type="none" w="sm" len="sm"/>
          </a:ln>
        </p:spPr>
      </p:sp>
      <p:grpSp>
        <p:nvGrpSpPr>
          <p:cNvPr id="9" name="Group 9"/>
          <p:cNvGrpSpPr/>
          <p:nvPr/>
        </p:nvGrpSpPr>
        <p:grpSpPr>
          <a:xfrm>
            <a:off x="4146973" y="287443"/>
            <a:ext cx="4117763" cy="3153410"/>
            <a:chOff x="0" y="0"/>
            <a:chExt cx="8512007" cy="6436494"/>
          </a:xfrm>
        </p:grpSpPr>
        <p:sp>
          <p:nvSpPr>
            <p:cNvPr id="10" name="Freeform 10"/>
            <p:cNvSpPr/>
            <p:nvPr/>
          </p:nvSpPr>
          <p:spPr>
            <a:xfrm>
              <a:off x="0" y="0"/>
              <a:ext cx="8512007" cy="3052715"/>
            </a:xfrm>
            <a:custGeom>
              <a:avLst/>
              <a:gdLst/>
              <a:ahLst/>
              <a:cxnLst/>
              <a:rect l="l" t="t" r="r" b="b"/>
              <a:pathLst>
                <a:path w="8512007" h="3052715">
                  <a:moveTo>
                    <a:pt x="0" y="0"/>
                  </a:moveTo>
                  <a:lnTo>
                    <a:pt x="8512007" y="0"/>
                  </a:lnTo>
                  <a:lnTo>
                    <a:pt x="8512007" y="3052715"/>
                  </a:lnTo>
                  <a:lnTo>
                    <a:pt x="0" y="3052715"/>
                  </a:lnTo>
                  <a:lnTo>
                    <a:pt x="0" y="0"/>
                  </a:lnTo>
                  <a:close/>
                </a:path>
              </a:pathLst>
            </a:custGeom>
            <a:blipFill>
              <a:blip r:embed="rId5"/>
              <a:stretch>
                <a:fillRect l="-11861" t="-11703" r="-14781" b="-10348"/>
              </a:stretch>
            </a:blipFill>
          </p:spPr>
        </p:sp>
        <p:sp>
          <p:nvSpPr>
            <p:cNvPr id="11" name="Freeform 11"/>
            <p:cNvSpPr/>
            <p:nvPr/>
          </p:nvSpPr>
          <p:spPr>
            <a:xfrm>
              <a:off x="0" y="3052715"/>
              <a:ext cx="8512007" cy="3383779"/>
            </a:xfrm>
            <a:custGeom>
              <a:avLst/>
              <a:gdLst/>
              <a:ahLst/>
              <a:cxnLst/>
              <a:rect l="l" t="t" r="r" b="b"/>
              <a:pathLst>
                <a:path w="8512007" h="3383779">
                  <a:moveTo>
                    <a:pt x="0" y="0"/>
                  </a:moveTo>
                  <a:lnTo>
                    <a:pt x="8512007" y="0"/>
                  </a:lnTo>
                  <a:lnTo>
                    <a:pt x="8512007" y="3383779"/>
                  </a:lnTo>
                  <a:lnTo>
                    <a:pt x="0" y="3383779"/>
                  </a:lnTo>
                  <a:lnTo>
                    <a:pt x="0" y="0"/>
                  </a:lnTo>
                  <a:close/>
                </a:path>
              </a:pathLst>
            </a:custGeom>
            <a:blipFill>
              <a:blip r:embed="rId2"/>
              <a:stretch>
                <a:fillRect l="-6651" r="-7762" b="-285713"/>
              </a:stretch>
            </a:blipFill>
          </p:spPr>
        </p:sp>
        <p:sp>
          <p:nvSpPr>
            <p:cNvPr id="12" name="Freeform 12"/>
            <p:cNvSpPr/>
            <p:nvPr/>
          </p:nvSpPr>
          <p:spPr>
            <a:xfrm>
              <a:off x="0" y="0"/>
              <a:ext cx="8473406" cy="3052715"/>
            </a:xfrm>
            <a:custGeom>
              <a:avLst/>
              <a:gdLst/>
              <a:ahLst/>
              <a:cxnLst/>
              <a:rect l="l" t="t" r="r" b="b"/>
              <a:pathLst>
                <a:path w="8473406" h="3052715">
                  <a:moveTo>
                    <a:pt x="0" y="0"/>
                  </a:moveTo>
                  <a:lnTo>
                    <a:pt x="8473406" y="0"/>
                  </a:lnTo>
                  <a:lnTo>
                    <a:pt x="8473406" y="3052715"/>
                  </a:lnTo>
                  <a:lnTo>
                    <a:pt x="0" y="3052715"/>
                  </a:lnTo>
                  <a:lnTo>
                    <a:pt x="0" y="0"/>
                  </a:lnTo>
                  <a:close/>
                </a:path>
              </a:pathLst>
            </a:custGeom>
            <a:blipFill>
              <a:blip r:embed="rId6"/>
              <a:stretch>
                <a:fillRect l="-1960" t="-13649" r="-1690" b="-8842"/>
              </a:stretch>
            </a:blipFill>
          </p:spPr>
        </p:sp>
      </p:grpSp>
      <p:sp>
        <p:nvSpPr>
          <p:cNvPr id="13" name="Freeform 13"/>
          <p:cNvSpPr/>
          <p:nvPr/>
        </p:nvSpPr>
        <p:spPr>
          <a:xfrm>
            <a:off x="4114800" y="3762587"/>
            <a:ext cx="5109210" cy="1423670"/>
          </a:xfrm>
          <a:custGeom>
            <a:avLst/>
            <a:gdLst/>
            <a:ahLst/>
            <a:cxnLst/>
            <a:rect l="l" t="t" r="r" b="b"/>
            <a:pathLst>
              <a:path w="7847442" h="2252665">
                <a:moveTo>
                  <a:pt x="0" y="0"/>
                </a:moveTo>
                <a:lnTo>
                  <a:pt x="7847442" y="0"/>
                </a:lnTo>
                <a:lnTo>
                  <a:pt x="7847442" y="2252665"/>
                </a:lnTo>
                <a:lnTo>
                  <a:pt x="0" y="2252665"/>
                </a:lnTo>
                <a:lnTo>
                  <a:pt x="0" y="0"/>
                </a:lnTo>
                <a:close/>
              </a:path>
            </a:pathLst>
          </a:custGeom>
          <a:blipFill>
            <a:blip r:embed="rId7"/>
            <a:stretch>
              <a:fillRect b="-2902"/>
            </a:stretch>
          </a:blipFill>
        </p:spPr>
      </p:sp>
      <p:sp>
        <p:nvSpPr>
          <p:cNvPr id="14" name="Freeform 14"/>
          <p:cNvSpPr/>
          <p:nvPr/>
        </p:nvSpPr>
        <p:spPr>
          <a:xfrm>
            <a:off x="4114800" y="5670973"/>
            <a:ext cx="7166610" cy="729827"/>
          </a:xfrm>
          <a:custGeom>
            <a:avLst/>
            <a:gdLst/>
            <a:ahLst/>
            <a:cxnLst/>
            <a:rect l="l" t="t" r="r" b="b"/>
            <a:pathLst>
              <a:path w="11910186" h="1159603">
                <a:moveTo>
                  <a:pt x="0" y="0"/>
                </a:moveTo>
                <a:lnTo>
                  <a:pt x="11910186" y="0"/>
                </a:lnTo>
                <a:lnTo>
                  <a:pt x="11910186" y="1159603"/>
                </a:lnTo>
                <a:lnTo>
                  <a:pt x="0" y="1159603"/>
                </a:lnTo>
                <a:lnTo>
                  <a:pt x="0" y="0"/>
                </a:lnTo>
                <a:close/>
              </a:path>
            </a:pathLst>
          </a:custGeom>
          <a:blipFill>
            <a:blip r:embed="rId8"/>
            <a:stretch>
              <a:fillRect r="-19" b="-2253"/>
            </a:stretch>
          </a:blipFill>
        </p:spPr>
      </p:sp>
      <p:sp>
        <p:nvSpPr>
          <p:cNvPr id="15" name="Freeform 15"/>
          <p:cNvSpPr/>
          <p:nvPr/>
        </p:nvSpPr>
        <p:spPr>
          <a:xfrm>
            <a:off x="4251960" y="5443220"/>
            <a:ext cx="364913" cy="508000"/>
          </a:xfrm>
          <a:custGeom>
            <a:avLst/>
            <a:gdLst/>
            <a:ahLst/>
            <a:cxnLst/>
            <a:rect l="l" t="t" r="r" b="b"/>
            <a:pathLst>
              <a:path w="723368" h="921488">
                <a:moveTo>
                  <a:pt x="0" y="0"/>
                </a:moveTo>
                <a:lnTo>
                  <a:pt x="723369" y="0"/>
                </a:lnTo>
                <a:lnTo>
                  <a:pt x="723369" y="921488"/>
                </a:lnTo>
                <a:lnTo>
                  <a:pt x="0" y="92148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6" name="TextBox 16"/>
          <p:cNvSpPr txBox="1"/>
          <p:nvPr/>
        </p:nvSpPr>
        <p:spPr>
          <a:xfrm>
            <a:off x="-6080760" y="-239268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7" name="TextBox 17"/>
          <p:cNvSpPr txBox="1"/>
          <p:nvPr/>
        </p:nvSpPr>
        <p:spPr>
          <a:xfrm>
            <a:off x="16169640" y="8580120"/>
            <a:ext cx="1728266" cy="415290"/>
          </a:xfrm>
          <a:prstGeom prst="rect">
            <a:avLst/>
          </a:prstGeom>
        </p:spPr>
        <p:txBody>
          <a:bodyPr lIns="0" tIns="0" rIns="0" bIns="0" rtlCol="0" anchor="t">
            <a:spAutoFit/>
          </a:bodyPr>
          <a:lstStyle/>
          <a:p>
            <a:pPr algn="l">
              <a:lnSpc>
                <a:spcPts val="3240"/>
              </a:lnSpc>
            </a:pPr>
            <a:r>
              <a:rPr lang="en-US">
                <a:solidFill>
                  <a:srgbClr val="FFFFFF"/>
                </a:solidFill>
                <a:ea typeface="字由点字典黑 65J" panose="00020600040101010101" charset="-122"/>
              </a:rPr>
              <a:t>版权：咦派胡言</a:t>
            </a:r>
          </a:p>
        </p:txBody>
      </p:sp>
      <p:sp>
        <p:nvSpPr>
          <p:cNvPr id="18" name="TextBox 18"/>
          <p:cNvSpPr txBox="1"/>
          <p:nvPr/>
        </p:nvSpPr>
        <p:spPr>
          <a:xfrm>
            <a:off x="384387" y="410210"/>
            <a:ext cx="494453" cy="296333"/>
          </a:xfrm>
          <a:prstGeom prst="rect">
            <a:avLst/>
          </a:prstGeom>
        </p:spPr>
        <p:txBody>
          <a:bodyPr lIns="0" tIns="0" rIns="0" bIns="0" rtlCol="0" anchor="t">
            <a:noAutofit/>
          </a:bodyPr>
          <a:lstStyle/>
          <a:p>
            <a:pPr algn="ctr">
              <a:lnSpc>
                <a:spcPts val="3975"/>
              </a:lnSpc>
              <a:spcBef>
                <a:spcPct val="0"/>
              </a:spcBef>
            </a:pPr>
            <a:r>
              <a:rPr lang="en-US" sz="2205">
                <a:solidFill>
                  <a:srgbClr val="000000"/>
                </a:solidFill>
                <a:latin typeface="字由点字典黑 45J" panose="00020600040101010101" charset="-122"/>
                <a:ea typeface="字由点字典黑 45J" panose="00020600040101010101" charset="-122"/>
              </a:rPr>
              <a:t>例2</a:t>
            </a:r>
          </a:p>
        </p:txBody>
      </p:sp>
      <p:sp>
        <p:nvSpPr>
          <p:cNvPr id="19" name="TextBox 19"/>
          <p:cNvSpPr txBox="1"/>
          <p:nvPr/>
        </p:nvSpPr>
        <p:spPr>
          <a:xfrm>
            <a:off x="4013200" y="279400"/>
            <a:ext cx="519853" cy="239607"/>
          </a:xfrm>
          <a:prstGeom prst="rect">
            <a:avLst/>
          </a:prstGeom>
        </p:spPr>
        <p:txBody>
          <a:bodyPr wrap="square" lIns="0" tIns="0" rIns="0" bIns="0" rtlCol="0" anchor="t">
            <a:noAutofit/>
          </a:bodyPr>
          <a:lstStyle/>
          <a:p>
            <a:pPr algn="ctr">
              <a:lnSpc>
                <a:spcPts val="3140"/>
              </a:lnSpc>
              <a:spcBef>
                <a:spcPct val="0"/>
              </a:spcBef>
            </a:pPr>
            <a:r>
              <a:rPr lang="en-US" sz="1745">
                <a:solidFill>
                  <a:srgbClr val="000000"/>
                </a:solidFill>
                <a:latin typeface="字由点字典黑 45J" panose="00020600040101010101" charset="-122"/>
                <a:ea typeface="字由点字典黑 45J" panose="00020600040101010101" charset="-122"/>
              </a:rPr>
              <a:t>例3</a:t>
            </a:r>
          </a:p>
        </p:txBody>
      </p:sp>
      <p:sp>
        <p:nvSpPr>
          <p:cNvPr id="20" name="TextBox 20"/>
          <p:cNvSpPr txBox="1"/>
          <p:nvPr/>
        </p:nvSpPr>
        <p:spPr>
          <a:xfrm>
            <a:off x="4267322" y="3756352"/>
            <a:ext cx="360281" cy="375285"/>
          </a:xfrm>
          <a:prstGeom prst="rect">
            <a:avLst/>
          </a:prstGeom>
        </p:spPr>
        <p:txBody>
          <a:bodyPr lIns="0" tIns="0" rIns="0" bIns="0" rtlCol="0" anchor="t">
            <a:spAutoFit/>
          </a:bodyPr>
          <a:lstStyle/>
          <a:p>
            <a:pPr algn="ctr">
              <a:lnSpc>
                <a:spcPts val="2930"/>
              </a:lnSpc>
              <a:spcBef>
                <a:spcPct val="0"/>
              </a:spcBef>
            </a:pPr>
            <a:r>
              <a:rPr lang="en-US" sz="1630">
                <a:solidFill>
                  <a:srgbClr val="000000"/>
                </a:solidFill>
                <a:latin typeface="字由点字典黑 45J" panose="00020600040101010101" charset="-122"/>
                <a:ea typeface="字由点字典黑 45J" panose="00020600040101010101" charset="-122"/>
              </a:rPr>
              <a:t>例4</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96565" y="2967990"/>
            <a:ext cx="6198870" cy="922020"/>
          </a:xfrm>
          <a:prstGeom prst="rect">
            <a:avLst/>
          </a:prstGeom>
          <a:noFill/>
        </p:spPr>
        <p:txBody>
          <a:bodyPr wrap="square" rtlCol="0">
            <a:spAutoFit/>
          </a:bodyPr>
          <a:lstStyle/>
          <a:p>
            <a:pPr algn="ctr"/>
            <a:r>
              <a:rPr lang="en-US" altLang="zh-CN" sz="5400" b="1">
                <a:latin typeface="+mj-ea"/>
                <a:ea typeface="+mj-ea"/>
                <a:cs typeface="+mj-ea"/>
              </a:rPr>
              <a:t>4.1 </a:t>
            </a:r>
            <a:r>
              <a:rPr lang="zh-CN" altLang="en-US" sz="5400" b="1">
                <a:latin typeface="+mj-ea"/>
                <a:ea typeface="+mj-ea"/>
                <a:cs typeface="+mj-ea"/>
              </a:rPr>
              <a:t>微分中值定理</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52400" y="57150"/>
            <a:ext cx="11887200" cy="67437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42875" y="63500"/>
            <a:ext cx="11906250" cy="6731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52400" y="63500"/>
            <a:ext cx="11887200" cy="6731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36525" y="66675"/>
            <a:ext cx="11918950" cy="67246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58750" y="69850"/>
            <a:ext cx="11874500" cy="67183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39700" y="73025"/>
            <a:ext cx="11912600" cy="671195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17475" y="73025"/>
            <a:ext cx="11957050" cy="671195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52400" y="101600"/>
            <a:ext cx="11887200" cy="66548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55575" y="89535"/>
            <a:ext cx="11880850" cy="666115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4080" y="2967990"/>
            <a:ext cx="7864475" cy="922020"/>
          </a:xfrm>
          <a:prstGeom prst="rect">
            <a:avLst/>
          </a:prstGeom>
          <a:noFill/>
        </p:spPr>
        <p:txBody>
          <a:bodyPr wrap="square" rtlCol="0">
            <a:spAutoFit/>
          </a:bodyPr>
          <a:lstStyle/>
          <a:p>
            <a:pPr algn="ctr"/>
            <a:r>
              <a:rPr lang="en-US" altLang="zh-CN" sz="5400" b="1">
                <a:latin typeface="+mj-ea"/>
                <a:ea typeface="+mj-ea"/>
                <a:cs typeface="+mj-ea"/>
              </a:rPr>
              <a:t>4.2 </a:t>
            </a:r>
            <a:r>
              <a:rPr lang="zh-CN" altLang="en-US" sz="5400" b="1">
                <a:latin typeface="+mj-ea"/>
                <a:ea typeface="+mj-ea"/>
                <a:cs typeface="+mj-ea"/>
              </a:rPr>
              <a:t>洛必达法则</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2"/>
            </p:custDataLst>
          </p:nvPr>
        </p:nvSpPr>
        <p:spPr>
          <a:xfrm>
            <a:off x="305439" y="200661"/>
            <a:ext cx="11277689" cy="609600"/>
          </a:xfrm>
          <a:prstGeom prst="rect">
            <a:avLst/>
          </a:prstGeom>
          <a:noFill/>
        </p:spPr>
        <p:txBody>
          <a:bodyPr wrap="square" lIns="63500" tIns="25400" rIns="63500" bIns="25400" rtlCol="0" anchor="ctr" anchorCtr="0">
            <a:normAutofit lnSpcReduction="10000"/>
          </a:bodyPr>
          <a:lstStyle/>
          <a:p>
            <a:pPr marL="0" indent="0" algn="l">
              <a:lnSpc>
                <a:spcPct val="100000"/>
              </a:lnSpc>
              <a:spcBef>
                <a:spcPts val="0"/>
              </a:spcBef>
              <a:spcAft>
                <a:spcPts val="0"/>
              </a:spcAft>
              <a:buSzPct val="100000"/>
              <a:buNone/>
            </a:pPr>
            <a:r>
              <a:rPr lang="zh-CN" altLang="zh-CN" sz="3600" b="1" spc="200" dirty="0">
                <a:solidFill>
                  <a:schemeClr val="accent1">
                    <a:lumMod val="50000"/>
                  </a:schemeClr>
                </a:solidFill>
                <a:uFillTx/>
                <a:latin typeface="汉仪旗黑-85S" panose="00020600040101010101" pitchFamily="18" charset="-122"/>
                <a:ea typeface="汉仪旗黑-85S" panose="00020600040101010101" pitchFamily="18" charset="-122"/>
              </a:rPr>
              <a:t>定义</a:t>
            </a:r>
          </a:p>
        </p:txBody>
      </p:sp>
      <p:pic>
        <p:nvPicPr>
          <p:cNvPr id="9" name="图片 8"/>
          <p:cNvPicPr>
            <a:picLocks noChangeAspect="1"/>
          </p:cNvPicPr>
          <p:nvPr>
            <p:custDataLst>
              <p:tags r:id="rId3"/>
            </p:custDataLst>
          </p:nvPr>
        </p:nvPicPr>
        <p:blipFill rotWithShape="1">
          <a:blip r:embed="rId9"/>
          <a:srcRect/>
          <a:stretch>
            <a:fillRect/>
          </a:stretch>
        </p:blipFill>
        <p:spPr>
          <a:xfrm>
            <a:off x="1495425" y="200660"/>
            <a:ext cx="9196705" cy="2348865"/>
          </a:xfrm>
          <a:custGeom>
            <a:avLst/>
            <a:gdLst/>
            <a:ahLst/>
            <a:cxnLst>
              <a:cxn ang="3">
                <a:pos x="hc" y="t"/>
              </a:cxn>
              <a:cxn ang="cd2">
                <a:pos x="l" y="vc"/>
              </a:cxn>
              <a:cxn ang="cd4">
                <a:pos x="hc" y="b"/>
              </a:cxn>
              <a:cxn ang="0">
                <a:pos x="r" y="vc"/>
              </a:cxn>
            </a:cxnLst>
            <a:rect l="l" t="t" r="r" b="b"/>
            <a:pathLst>
              <a:path w="12960" h="3600">
                <a:moveTo>
                  <a:pt x="12960" y="0"/>
                </a:moveTo>
                <a:lnTo>
                  <a:pt x="12960" y="3600"/>
                </a:lnTo>
                <a:lnTo>
                  <a:pt x="0" y="3600"/>
                </a:lnTo>
                <a:lnTo>
                  <a:pt x="0" y="0"/>
                </a:lnTo>
                <a:lnTo>
                  <a:pt x="12960" y="0"/>
                </a:lnTo>
                <a:close/>
              </a:path>
            </a:pathLst>
          </a:custGeom>
        </p:spPr>
      </p:pic>
      <p:sp>
        <p:nvSpPr>
          <p:cNvPr id="6" name="文本框 5"/>
          <p:cNvSpPr txBox="1"/>
          <p:nvPr>
            <p:custDataLst>
              <p:tags r:id="rId4"/>
            </p:custDataLst>
          </p:nvPr>
        </p:nvSpPr>
        <p:spPr>
          <a:xfrm>
            <a:off x="332695" y="2636520"/>
            <a:ext cx="11277689" cy="609600"/>
          </a:xfrm>
          <a:prstGeom prst="rect">
            <a:avLst/>
          </a:prstGeom>
          <a:noFill/>
        </p:spPr>
        <p:txBody>
          <a:bodyPr wrap="square" lIns="63500" tIns="25400" rIns="63500" bIns="25400" rtlCol="0" anchor="ctr" anchorCtr="0">
            <a:normAutofit lnSpcReduction="10000"/>
          </a:bodyPr>
          <a:lstStyle/>
          <a:p>
            <a:pPr marL="0" indent="0" algn="l">
              <a:lnSpc>
                <a:spcPct val="100000"/>
              </a:lnSpc>
              <a:spcBef>
                <a:spcPts val="0"/>
              </a:spcBef>
              <a:spcAft>
                <a:spcPts val="0"/>
              </a:spcAft>
              <a:buSzPct val="100000"/>
              <a:buNone/>
            </a:pPr>
            <a:r>
              <a:rPr lang="zh-CN" altLang="en-US" sz="3600" b="1" spc="200">
                <a:solidFill>
                  <a:schemeClr val="accent1">
                    <a:lumMod val="50000"/>
                  </a:schemeClr>
                </a:solidFill>
                <a:uFillTx/>
                <a:latin typeface="汉仪旗黑-85S" panose="00020600040101010101" pitchFamily="18" charset="-122"/>
                <a:ea typeface="汉仪旗黑-85S" panose="00020600040101010101" pitchFamily="18" charset="-122"/>
              </a:rPr>
              <a:t>洛必达法则的使用条件</a:t>
            </a:r>
          </a:p>
        </p:txBody>
      </p:sp>
      <p:pic>
        <p:nvPicPr>
          <p:cNvPr id="2" name="图片 1"/>
          <p:cNvPicPr>
            <a:picLocks noChangeAspect="1"/>
          </p:cNvPicPr>
          <p:nvPr>
            <p:custDataLst>
              <p:tags r:id="rId5"/>
            </p:custDataLst>
          </p:nvPr>
        </p:nvPicPr>
        <p:blipFill rotWithShape="1">
          <a:blip r:embed="rId10"/>
          <a:srcRect/>
          <a:stretch>
            <a:fillRect/>
          </a:stretch>
        </p:blipFill>
        <p:spPr>
          <a:xfrm>
            <a:off x="1889128" y="3332504"/>
            <a:ext cx="6457975" cy="3402330"/>
          </a:xfrm>
          <a:prstGeom prst="roundRect">
            <a:avLst>
              <a:gd name="adj" fmla="val 8890"/>
            </a:avLst>
          </a:prstGeom>
          <a:effectLst>
            <a:outerShdw blurRad="279400" dist="88900" dir="2700000" algn="tl" rotWithShape="0">
              <a:srgbClr val="000000">
                <a:alpha val="10000"/>
              </a:srgbClr>
            </a:outerShdw>
          </a:effectLst>
        </p:spPr>
      </p:pic>
      <p:sp>
        <p:nvSpPr>
          <p:cNvPr id="11" name="Title 6"/>
          <p:cNvSpPr txBox="1"/>
          <p:nvPr>
            <p:custDataLst>
              <p:tags r:id="rId6"/>
            </p:custDataLst>
          </p:nvPr>
        </p:nvSpPr>
        <p:spPr>
          <a:xfrm>
            <a:off x="8347075" y="3347085"/>
            <a:ext cx="3335020" cy="338772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否是未定式、是否可以求导，挺容易判断的，而实战中一般让你解答的题都是有极限的，所以有极限这个条件也可以忽略。但，我们忘了一点，使用洛必达法则的初衷是什么？就是想简化计算，但是这个却不是一定的。</a:t>
            </a:r>
          </a:p>
        </p:txBody>
      </p:sp>
    </p:spTree>
    <p:custDataLst>
      <p:tags r:id="rId1"/>
    </p:custDataLst>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2"/>
            </p:custDataLst>
          </p:nvPr>
        </p:nvSpPr>
        <p:spPr>
          <a:xfrm>
            <a:off x="203157" y="214630"/>
            <a:ext cx="977900" cy="41084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non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200" b="1" spc="205">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例子</a:t>
            </a:r>
            <a:r>
              <a:rPr lang="en-US" altLang="zh-CN" sz="2200" b="1" spc="205">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1</a:t>
            </a:r>
          </a:p>
        </p:txBody>
      </p:sp>
      <p:pic>
        <p:nvPicPr>
          <p:cNvPr id="3" name="图片 2"/>
          <p:cNvPicPr>
            <a:picLocks noChangeAspect="1"/>
          </p:cNvPicPr>
          <p:nvPr>
            <p:custDataLst>
              <p:tags r:id="rId3"/>
            </p:custDataLst>
          </p:nvPr>
        </p:nvPicPr>
        <p:blipFill>
          <a:blip r:embed="rId10"/>
          <a:stretch>
            <a:fillRect/>
          </a:stretch>
        </p:blipFill>
        <p:spPr>
          <a:xfrm>
            <a:off x="1579245" y="88265"/>
            <a:ext cx="2266950" cy="695325"/>
          </a:xfrm>
          <a:prstGeom prst="rect">
            <a:avLst/>
          </a:prstGeom>
        </p:spPr>
      </p:pic>
      <p:pic>
        <p:nvPicPr>
          <p:cNvPr id="4" name="图片 3"/>
          <p:cNvPicPr>
            <a:picLocks noChangeAspect="1"/>
          </p:cNvPicPr>
          <p:nvPr>
            <p:custDataLst>
              <p:tags r:id="rId4"/>
            </p:custDataLst>
          </p:nvPr>
        </p:nvPicPr>
        <p:blipFill>
          <a:blip r:embed="rId11"/>
          <a:stretch>
            <a:fillRect/>
          </a:stretch>
        </p:blipFill>
        <p:spPr>
          <a:xfrm>
            <a:off x="260350" y="783590"/>
            <a:ext cx="4905375" cy="2804160"/>
          </a:xfrm>
          <a:prstGeom prst="rect">
            <a:avLst/>
          </a:prstGeom>
        </p:spPr>
      </p:pic>
      <p:cxnSp>
        <p:nvCxnSpPr>
          <p:cNvPr id="7" name="肘形连接符 6"/>
          <p:cNvCxnSpPr/>
          <p:nvPr>
            <p:custDataLst>
              <p:tags r:id="rId5"/>
            </p:custDataLst>
          </p:nvPr>
        </p:nvCxnSpPr>
        <p:spPr>
          <a:xfrm>
            <a:off x="2700020" y="4224020"/>
            <a:ext cx="1762125" cy="1162050"/>
          </a:xfrm>
          <a:prstGeom prst="bentConnector3">
            <a:avLst>
              <a:gd name="adj1" fmla="val 50018"/>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custDataLst>
              <p:tags r:id="rId6"/>
            </p:custDataLst>
          </p:nvPr>
        </p:nvSpPr>
        <p:spPr>
          <a:xfrm>
            <a:off x="2519045" y="3855720"/>
            <a:ext cx="1201420" cy="368300"/>
          </a:xfrm>
          <a:prstGeom prst="rect">
            <a:avLst/>
          </a:prstGeom>
          <a:noFill/>
        </p:spPr>
        <p:txBody>
          <a:bodyPr wrap="square" rtlCol="0">
            <a:spAutoFit/>
          </a:bodyPr>
          <a:lstStyle/>
          <a:p>
            <a:r>
              <a:rPr lang="zh-CN" altLang="en-US">
                <a:solidFill>
                  <a:schemeClr val="tx1"/>
                </a:solidFill>
              </a:rPr>
              <a:t>正确解法</a:t>
            </a:r>
          </a:p>
        </p:txBody>
      </p:sp>
      <p:pic>
        <p:nvPicPr>
          <p:cNvPr id="5" name="图片 4"/>
          <p:cNvPicPr>
            <a:picLocks noChangeAspect="1"/>
          </p:cNvPicPr>
          <p:nvPr>
            <p:custDataLst>
              <p:tags r:id="rId7"/>
            </p:custDataLst>
          </p:nvPr>
        </p:nvPicPr>
        <p:blipFill>
          <a:blip r:embed="rId12"/>
          <a:stretch>
            <a:fillRect/>
          </a:stretch>
        </p:blipFill>
        <p:spPr>
          <a:xfrm>
            <a:off x="5165725" y="214630"/>
            <a:ext cx="6018530" cy="3440430"/>
          </a:xfrm>
          <a:prstGeom prst="rect">
            <a:avLst/>
          </a:prstGeom>
        </p:spPr>
      </p:pic>
      <p:pic>
        <p:nvPicPr>
          <p:cNvPr id="6" name="图片 5"/>
          <p:cNvPicPr>
            <a:picLocks noChangeAspect="1"/>
          </p:cNvPicPr>
          <p:nvPr>
            <p:custDataLst>
              <p:tags r:id="rId8"/>
            </p:custDataLst>
          </p:nvPr>
        </p:nvPicPr>
        <p:blipFill>
          <a:blip r:embed="rId13"/>
          <a:stretch>
            <a:fillRect/>
          </a:stretch>
        </p:blipFill>
        <p:spPr>
          <a:xfrm>
            <a:off x="5174615" y="3429000"/>
            <a:ext cx="5518785" cy="3253105"/>
          </a:xfrm>
          <a:prstGeom prst="rect">
            <a:avLst/>
          </a:prstGeom>
        </p:spPr>
      </p:pic>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2"/>
            </p:custDataLst>
          </p:nvPr>
        </p:nvPicPr>
        <p:blipFill>
          <a:blip r:embed="rId10"/>
          <a:stretch>
            <a:fillRect/>
          </a:stretch>
        </p:blipFill>
        <p:spPr>
          <a:xfrm>
            <a:off x="285750" y="802640"/>
            <a:ext cx="5694045" cy="3770630"/>
          </a:xfrm>
          <a:prstGeom prst="rect">
            <a:avLst/>
          </a:prstGeom>
        </p:spPr>
      </p:pic>
      <p:sp>
        <p:nvSpPr>
          <p:cNvPr id="6" name="文本框 5"/>
          <p:cNvSpPr txBox="1"/>
          <p:nvPr>
            <p:custDataLst>
              <p:tags r:id="rId3"/>
            </p:custDataLst>
          </p:nvPr>
        </p:nvSpPr>
        <p:spPr>
          <a:xfrm>
            <a:off x="285750" y="4573270"/>
            <a:ext cx="11247120" cy="922020"/>
          </a:xfrm>
          <a:prstGeom prst="rect">
            <a:avLst/>
          </a:prstGeom>
          <a:noFill/>
        </p:spPr>
        <p:txBody>
          <a:bodyPr wrap="square" rtlCol="0">
            <a:spAutoFit/>
          </a:bodyPr>
          <a:lstStyle/>
          <a:p>
            <a:r>
              <a:rPr lang="en-US" altLang="zh-CN">
                <a:solidFill>
                  <a:schemeClr val="tx1"/>
                </a:solidFill>
              </a:rPr>
              <a:t>       </a:t>
            </a:r>
            <a:r>
              <a:rPr lang="zh-CN" altLang="en-US">
                <a:solidFill>
                  <a:schemeClr val="tx1"/>
                </a:solidFill>
              </a:rPr>
              <a:t>每用一次洛必达法则，就像在自己心口戳了一下。足够聪明的我们，算了差不多十次之后，应该可以认识到就算用尽全世界的草稿纸都无法用洛必达法则拯救这道题。为什么会出现这种情况  洛必达法则能简化计算的结论，是因为求导一般会简化函数形式。  但求导并非一定能简化函数！</a:t>
            </a:r>
          </a:p>
        </p:txBody>
      </p:sp>
      <p:pic>
        <p:nvPicPr>
          <p:cNvPr id="7" name="图片 6"/>
          <p:cNvPicPr>
            <a:picLocks noChangeAspect="1"/>
          </p:cNvPicPr>
          <p:nvPr>
            <p:custDataLst>
              <p:tags r:id="rId4"/>
            </p:custDataLst>
          </p:nvPr>
        </p:nvPicPr>
        <p:blipFill>
          <a:blip r:embed="rId11"/>
          <a:stretch>
            <a:fillRect/>
          </a:stretch>
        </p:blipFill>
        <p:spPr>
          <a:xfrm>
            <a:off x="5979795" y="802640"/>
            <a:ext cx="5553075" cy="3769995"/>
          </a:xfrm>
          <a:prstGeom prst="rect">
            <a:avLst/>
          </a:prstGeom>
        </p:spPr>
      </p:pic>
      <p:sp>
        <p:nvSpPr>
          <p:cNvPr id="12" name="Title 6"/>
          <p:cNvSpPr txBox="1"/>
          <p:nvPr>
            <p:custDataLst>
              <p:tags r:id="rId5"/>
            </p:custDataLst>
          </p:nvPr>
        </p:nvSpPr>
        <p:spPr>
          <a:xfrm>
            <a:off x="222207" y="214630"/>
            <a:ext cx="977900" cy="41084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non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200" b="1" spc="205">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例子</a:t>
            </a:r>
            <a:r>
              <a:rPr lang="en-US" altLang="zh-CN" sz="2200" b="1" spc="205">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a:t>
            </a:r>
          </a:p>
        </p:txBody>
      </p:sp>
      <p:pic>
        <p:nvPicPr>
          <p:cNvPr id="3" name="图片 2"/>
          <p:cNvPicPr>
            <a:picLocks noChangeAspect="1"/>
          </p:cNvPicPr>
          <p:nvPr>
            <p:custDataLst>
              <p:tags r:id="rId6"/>
            </p:custDataLst>
          </p:nvPr>
        </p:nvPicPr>
        <p:blipFill>
          <a:blip r:embed="rId12"/>
          <a:stretch>
            <a:fillRect/>
          </a:stretch>
        </p:blipFill>
        <p:spPr>
          <a:xfrm>
            <a:off x="1257300" y="69215"/>
            <a:ext cx="2228850" cy="733425"/>
          </a:xfrm>
          <a:prstGeom prst="rect">
            <a:avLst/>
          </a:prstGeom>
        </p:spPr>
      </p:pic>
      <p:sp>
        <p:nvSpPr>
          <p:cNvPr id="5" name="文本框 4"/>
          <p:cNvSpPr txBox="1"/>
          <p:nvPr>
            <p:custDataLst>
              <p:tags r:id="rId7"/>
            </p:custDataLst>
          </p:nvPr>
        </p:nvSpPr>
        <p:spPr>
          <a:xfrm>
            <a:off x="803275" y="5495925"/>
            <a:ext cx="6096000" cy="368300"/>
          </a:xfrm>
          <a:prstGeom prst="rect">
            <a:avLst/>
          </a:prstGeom>
          <a:noFill/>
        </p:spPr>
        <p:txBody>
          <a:bodyPr wrap="square" rtlCol="0" anchor="t">
            <a:spAutoFit/>
          </a:bodyPr>
          <a:lstStyle/>
          <a:p>
            <a:r>
              <a:rPr lang="zh-CN" altLang="en-US"/>
              <a:t>洛必达法则求出来极限不存在，不一定极限真的不存在</a:t>
            </a:r>
          </a:p>
        </p:txBody>
      </p:sp>
      <p:sp>
        <p:nvSpPr>
          <p:cNvPr id="8" name="文本框 7"/>
          <p:cNvSpPr txBox="1"/>
          <p:nvPr>
            <p:custDataLst>
              <p:tags r:id="rId8"/>
            </p:custDataLst>
          </p:nvPr>
        </p:nvSpPr>
        <p:spPr>
          <a:xfrm>
            <a:off x="803275" y="5965825"/>
            <a:ext cx="6626860" cy="1456690"/>
          </a:xfrm>
          <a:prstGeom prst="rect">
            <a:avLst/>
          </a:prstGeom>
          <a:noFill/>
        </p:spPr>
        <p:txBody>
          <a:bodyPr wrap="square" rtlCol="0" anchor="t">
            <a:noAutofit/>
          </a:bodyPr>
          <a:lstStyle/>
          <a:p>
            <a:r>
              <a:rPr lang="zh-CN" altLang="en-US"/>
              <a:t>求导不一定能简化函数形式。 </a:t>
            </a: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75" y="2371160"/>
            <a:ext cx="10969200" cy="705600"/>
          </a:xfrm>
        </p:spPr>
        <p:txBody>
          <a:bodyPr>
            <a:normAutofit fontScale="90000"/>
          </a:bodyPr>
          <a:lstStyle/>
          <a:p>
            <a:r>
              <a:rPr lang="en-US" altLang="zh-CN" sz="5400" b="1" dirty="0">
                <a:latin typeface="微软雅黑" panose="020B0503020204020204" charset="-122"/>
                <a:ea typeface="微软雅黑" panose="020B0503020204020204" charset="-122"/>
              </a:rPr>
              <a:t>             4.3  </a:t>
            </a:r>
            <a:r>
              <a:rPr lang="zh-CN" altLang="en-US" sz="5400" b="1" dirty="0">
                <a:latin typeface="微软雅黑" panose="020B0503020204020204" charset="-122"/>
                <a:ea typeface="微软雅黑" panose="020B0503020204020204" charset="-122"/>
              </a:rPr>
              <a:t>泰勒公式</a:t>
            </a:r>
          </a:p>
        </p:txBody>
      </p:sp>
      <p:sp>
        <p:nvSpPr>
          <p:cNvPr id="3" name="内容占位符 2"/>
          <p:cNvSpPr>
            <a:spLocks noGrp="1"/>
          </p:cNvSpPr>
          <p:nvPr>
            <p:ph idx="1"/>
          </p:nvPr>
        </p:nvSpPr>
        <p:spPr>
          <a:xfrm>
            <a:off x="4168775" y="4058920"/>
            <a:ext cx="5719445" cy="2506345"/>
          </a:xfrm>
        </p:spPr>
        <p:txBody>
          <a:bodyPr>
            <a:normAutofit/>
          </a:bodyPr>
          <a:lstStyle/>
          <a:p>
            <a:pPr algn="l"/>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泰勒公式的</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种余项</a:t>
            </a:r>
            <a:endParaRPr lang="en-US" altLang="zh-CN" sz="2000" dirty="0">
              <a:latin typeface="宋体" panose="02010600030101010101" pitchFamily="2" charset="-122"/>
              <a:ea typeface="宋体" panose="02010600030101010101" pitchFamily="2" charset="-122"/>
            </a:endParaRPr>
          </a:p>
          <a:p>
            <a:pPr algn="l"/>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常用函数的麦克劳林展开</a:t>
            </a:r>
            <a:endParaRPr lang="en-US" altLang="zh-CN" sz="2000" dirty="0">
              <a:latin typeface="宋体" panose="02010600030101010101" pitchFamily="2" charset="-122"/>
              <a:ea typeface="宋体" panose="02010600030101010101" pitchFamily="2" charset="-122"/>
            </a:endParaRPr>
          </a:p>
          <a:p>
            <a:pPr algn="l"/>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泰勒公式求极限</a:t>
            </a:r>
            <a:endParaRPr lang="en-US" altLang="zh-CN" sz="2000" dirty="0">
              <a:latin typeface="宋体" panose="02010600030101010101" pitchFamily="2" charset="-122"/>
              <a:ea typeface="宋体" panose="02010600030101010101" pitchFamily="2" charset="-122"/>
            </a:endParaRPr>
          </a:p>
          <a:p>
            <a:pPr algn="l"/>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有关泰勒公式的简单证明题</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1310" y="476885"/>
            <a:ext cx="5640070" cy="977900"/>
          </a:xfrm>
        </p:spPr>
        <p:txBody>
          <a:bodyPr>
            <a:normAutofit fontScale="90000"/>
          </a:bodyPr>
          <a:lstStyle/>
          <a:p>
            <a:pPr algn="l"/>
            <a:r>
              <a:rPr lang="en-US" altLang="zh-CN" sz="3555" dirty="0">
                <a:latin typeface="宋体" panose="02010600030101010101" pitchFamily="2" charset="-122"/>
                <a:ea typeface="宋体" panose="02010600030101010101" pitchFamily="2" charset="-122"/>
              </a:rPr>
              <a:t>1.</a:t>
            </a:r>
            <a:r>
              <a:rPr lang="zh-CN" altLang="en-US" sz="3555" dirty="0">
                <a:latin typeface="宋体" panose="02010600030101010101" pitchFamily="2" charset="-122"/>
                <a:ea typeface="宋体" panose="02010600030101010101" pitchFamily="2" charset="-122"/>
              </a:rPr>
              <a:t>泰勒公式的</a:t>
            </a:r>
            <a:r>
              <a:rPr lang="en-US" altLang="zh-CN" sz="3555" dirty="0">
                <a:latin typeface="宋体" panose="02010600030101010101" pitchFamily="2" charset="-122"/>
                <a:ea typeface="宋体" panose="02010600030101010101" pitchFamily="2" charset="-122"/>
              </a:rPr>
              <a:t>2</a:t>
            </a:r>
            <a:r>
              <a:rPr lang="zh-CN" altLang="en-US" sz="3555" dirty="0">
                <a:latin typeface="宋体" panose="02010600030101010101" pitchFamily="2" charset="-122"/>
                <a:ea typeface="宋体" panose="02010600030101010101" pitchFamily="2" charset="-122"/>
              </a:rPr>
              <a:t>种余项</a:t>
            </a:r>
            <a:br>
              <a:rPr lang="en-US" altLang="zh-CN" sz="3110" dirty="0">
                <a:latin typeface="宋体" panose="02010600030101010101" pitchFamily="2" charset="-122"/>
                <a:ea typeface="宋体" panose="02010600030101010101" pitchFamily="2" charset="-122"/>
              </a:rPr>
            </a:br>
            <a:endParaRPr lang="zh-CN" altLang="en-US" sz="3110" dirty="0"/>
          </a:p>
        </p:txBody>
      </p:sp>
      <p:sp>
        <p:nvSpPr>
          <p:cNvPr id="3" name="副标题 2"/>
          <p:cNvSpPr>
            <a:spLocks noGrp="1"/>
          </p:cNvSpPr>
          <p:nvPr>
            <p:ph type="subTitle" idx="1"/>
          </p:nvPr>
        </p:nvSpPr>
        <p:spPr/>
        <p:txBody>
          <a:bodyPr/>
          <a:lstStyle/>
          <a:p>
            <a:endParaRPr lang="zh-CN" altLang="en-US" dirty="0"/>
          </a:p>
        </p:txBody>
      </p:sp>
      <p:pic>
        <p:nvPicPr>
          <p:cNvPr id="5" name="图片 4"/>
          <p:cNvPicPr>
            <a:picLocks noChangeAspect="1"/>
          </p:cNvPicPr>
          <p:nvPr/>
        </p:nvPicPr>
        <p:blipFill>
          <a:blip r:embed="rId2"/>
          <a:stretch>
            <a:fillRect/>
          </a:stretch>
        </p:blipFill>
        <p:spPr>
          <a:xfrm>
            <a:off x="321496" y="1260046"/>
            <a:ext cx="11549008" cy="510051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263957" y="417375"/>
            <a:ext cx="11089843" cy="60755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458196" y="541325"/>
            <a:ext cx="11099871" cy="5253488"/>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95646"/>
            <a:ext cx="10515600" cy="439387"/>
          </a:xfrm>
        </p:spPr>
        <p:txBody>
          <a:bodyPr>
            <a:normAutofit fontScale="90000"/>
          </a:bodyPr>
          <a:lstStyle/>
          <a:p>
            <a:r>
              <a:rPr lang="en-US" altLang="zh-CN" sz="4400" dirty="0">
                <a:latin typeface="宋体" panose="02010600030101010101" pitchFamily="2" charset="-122"/>
                <a:ea typeface="宋体" panose="02010600030101010101" pitchFamily="2" charset="-122"/>
              </a:rPr>
              <a:t>2.</a:t>
            </a:r>
            <a:r>
              <a:rPr lang="zh-CN" altLang="en-US" sz="4400" dirty="0">
                <a:latin typeface="宋体" panose="02010600030101010101" pitchFamily="2" charset="-122"/>
                <a:ea typeface="宋体" panose="02010600030101010101" pitchFamily="2" charset="-122"/>
              </a:rPr>
              <a:t>常用函数的麦克劳林展开</a:t>
            </a:r>
            <a:br>
              <a:rPr lang="en-US" altLang="zh-CN" sz="4400" dirty="0">
                <a:latin typeface="宋体" panose="02010600030101010101" pitchFamily="2" charset="-122"/>
                <a:ea typeface="宋体" panose="02010600030101010101" pitchFamily="2" charset="-122"/>
              </a:rPr>
            </a:br>
            <a:endParaRPr lang="zh-CN" altLang="en-US" dirty="0"/>
          </a:p>
        </p:txBody>
      </p:sp>
      <p:sp>
        <p:nvSpPr>
          <p:cNvPr id="3" name="内容占位符 2"/>
          <p:cNvSpPr>
            <a:spLocks noGrp="1"/>
          </p:cNvSpPr>
          <p:nvPr>
            <p:ph idx="1"/>
          </p:nvPr>
        </p:nvSpPr>
        <p:spPr/>
        <p:txBody>
          <a:bodyPr/>
          <a:lstStyle/>
          <a:p>
            <a:pPr marL="0" indent="0">
              <a:buNone/>
            </a:pPr>
            <a:endParaRPr lang="zh-CN" altLang="en-US" b="1" i="1" dirty="0"/>
          </a:p>
        </p:txBody>
      </p:sp>
      <p:pic>
        <p:nvPicPr>
          <p:cNvPr id="7" name="图片 6"/>
          <p:cNvPicPr>
            <a:picLocks noChangeAspect="1"/>
          </p:cNvPicPr>
          <p:nvPr/>
        </p:nvPicPr>
        <p:blipFill>
          <a:blip r:embed="rId2"/>
          <a:stretch>
            <a:fillRect/>
          </a:stretch>
        </p:blipFill>
        <p:spPr>
          <a:xfrm>
            <a:off x="838200" y="1149372"/>
            <a:ext cx="9576609" cy="5027591"/>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dirty="0">
                <a:latin typeface="宋体" panose="02010600030101010101" pitchFamily="2" charset="-122"/>
                <a:ea typeface="宋体" panose="02010600030101010101" pitchFamily="2" charset="-122"/>
              </a:rPr>
              <a:t>3.</a:t>
            </a:r>
            <a:r>
              <a:rPr lang="zh-CN" altLang="en-US" sz="4400" dirty="0">
                <a:latin typeface="宋体" panose="02010600030101010101" pitchFamily="2" charset="-122"/>
                <a:ea typeface="宋体" panose="02010600030101010101" pitchFamily="2" charset="-122"/>
              </a:rPr>
              <a:t>泰勒公式求极限</a:t>
            </a:r>
            <a:br>
              <a:rPr lang="en-US" altLang="zh-CN" sz="4400" dirty="0">
                <a:latin typeface="宋体" panose="02010600030101010101" pitchFamily="2" charset="-122"/>
                <a:ea typeface="宋体" panose="02010600030101010101" pitchFamily="2" charset="-122"/>
              </a:rPr>
            </a:br>
            <a:endParaRPr lang="zh-CN" altLang="en-US" dirty="0"/>
          </a:p>
        </p:txBody>
      </p:sp>
      <p:pic>
        <p:nvPicPr>
          <p:cNvPr id="9" name="内容占位符 8"/>
          <p:cNvPicPr>
            <a:picLocks noGrp="1" noChangeAspect="1"/>
          </p:cNvPicPr>
          <p:nvPr>
            <p:ph idx="1"/>
          </p:nvPr>
        </p:nvPicPr>
        <p:blipFill>
          <a:blip r:embed="rId2"/>
          <a:stretch>
            <a:fillRect/>
          </a:stretch>
        </p:blipFill>
        <p:spPr>
          <a:xfrm>
            <a:off x="648195" y="3610017"/>
            <a:ext cx="10515600" cy="1986880"/>
          </a:xfrm>
        </p:spPr>
      </p:pic>
      <p:pic>
        <p:nvPicPr>
          <p:cNvPr id="7" name="图片 6"/>
          <p:cNvPicPr>
            <a:picLocks noChangeAspect="1"/>
          </p:cNvPicPr>
          <p:nvPr/>
        </p:nvPicPr>
        <p:blipFill>
          <a:blip r:embed="rId3"/>
          <a:stretch>
            <a:fillRect/>
          </a:stretch>
        </p:blipFill>
        <p:spPr>
          <a:xfrm>
            <a:off x="924899" y="1007231"/>
            <a:ext cx="9129370" cy="2602786"/>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5" name="图片 4"/>
          <p:cNvPicPr>
            <a:picLocks noChangeAspect="1"/>
          </p:cNvPicPr>
          <p:nvPr/>
        </p:nvPicPr>
        <p:blipFill>
          <a:blip r:embed="rId2"/>
          <a:stretch>
            <a:fillRect/>
          </a:stretch>
        </p:blipFill>
        <p:spPr>
          <a:xfrm>
            <a:off x="838200" y="506384"/>
            <a:ext cx="9305248" cy="2105143"/>
          </a:xfrm>
          <a:prstGeom prst="rect">
            <a:avLst/>
          </a:prstGeom>
        </p:spPr>
      </p:pic>
      <p:pic>
        <p:nvPicPr>
          <p:cNvPr id="11" name="内容占位符 10"/>
          <p:cNvPicPr>
            <a:picLocks noGrp="1" noChangeAspect="1"/>
          </p:cNvPicPr>
          <p:nvPr>
            <p:ph idx="1"/>
          </p:nvPr>
        </p:nvPicPr>
        <p:blipFill>
          <a:blip r:embed="rId3"/>
          <a:stretch>
            <a:fillRect/>
          </a:stretch>
        </p:blipFill>
        <p:spPr>
          <a:xfrm>
            <a:off x="838200" y="2536811"/>
            <a:ext cx="10280904" cy="3760971"/>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8885" t="34674" r="5057" b="8996"/>
          <a:stretch>
            <a:fillRect/>
          </a:stretch>
        </p:blipFill>
        <p:spPr>
          <a:xfrm>
            <a:off x="351310" y="2060369"/>
            <a:ext cx="4492243" cy="3865418"/>
          </a:xfrm>
        </p:spPr>
      </p:pic>
      <p:sp>
        <p:nvSpPr>
          <p:cNvPr id="7" name="标题 6"/>
          <p:cNvSpPr>
            <a:spLocks noGrp="1"/>
          </p:cNvSpPr>
          <p:nvPr>
            <p:ph type="title"/>
          </p:nvPr>
        </p:nvSpPr>
        <p:spPr>
          <a:xfrm>
            <a:off x="838200" y="100940"/>
            <a:ext cx="8192984" cy="2042555"/>
          </a:xfrm>
        </p:spPr>
        <p:txBody>
          <a:bodyPr>
            <a:normAutofit/>
          </a:bodyPr>
          <a:lstStyle/>
          <a:p>
            <a:r>
              <a:rPr lang="en-US" altLang="zh-CN" sz="4000" dirty="0">
                <a:latin typeface="宋体" panose="02010600030101010101" pitchFamily="2" charset="-122"/>
                <a:ea typeface="宋体" panose="02010600030101010101" pitchFamily="2" charset="-122"/>
              </a:rPr>
              <a:t>4.</a:t>
            </a:r>
            <a:r>
              <a:rPr lang="zh-CN" altLang="en-US" sz="4000" dirty="0">
                <a:latin typeface="宋体" panose="02010600030101010101" pitchFamily="2" charset="-122"/>
                <a:ea typeface="宋体" panose="02010600030101010101" pitchFamily="2" charset="-122"/>
              </a:rPr>
              <a:t>有关泰勒公式的简单证明题</a:t>
            </a:r>
            <a:br>
              <a:rPr lang="zh-CN" altLang="en-US" sz="1600" dirty="0">
                <a:latin typeface="宋体" panose="02010600030101010101" pitchFamily="2" charset="-122"/>
                <a:ea typeface="宋体" panose="02010600030101010101" pitchFamily="2" charset="-122"/>
              </a:rPr>
            </a:br>
            <a:br>
              <a:rPr lang="en-US" altLang="zh-CN" sz="1600" dirty="0"/>
            </a:br>
            <a:r>
              <a:rPr lang="en-US" altLang="zh-CN" sz="1600" dirty="0"/>
              <a:t>Taylor</a:t>
            </a:r>
            <a:r>
              <a:rPr lang="zh-CN" altLang="en-US" sz="1600" dirty="0"/>
              <a:t>公式求高阶导数，对比系数法                                 </a:t>
            </a:r>
            <a:r>
              <a:rPr lang="en-US" altLang="zh-CN" sz="1600" dirty="0"/>
              <a:t>Taylor</a:t>
            </a:r>
            <a:r>
              <a:rPr lang="zh-CN" altLang="en-US" sz="1600" dirty="0"/>
              <a:t>与绝对值不等式</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16214" t="28654" r="5056" b="23137"/>
          <a:stretch>
            <a:fillRect/>
          </a:stretch>
        </p:blipFill>
        <p:spPr>
          <a:xfrm>
            <a:off x="5444836" y="2060369"/>
            <a:ext cx="5179766" cy="3782291"/>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39279"/>
          </a:xfrm>
        </p:spPr>
        <p:txBody>
          <a:bodyPr>
            <a:normAutofit/>
          </a:bodyPr>
          <a:lstStyle/>
          <a:p>
            <a:r>
              <a:rPr lang="zh-CN" altLang="en-US" sz="1600" dirty="0"/>
              <a:t>不可积分，先放缩，再用介值定理                         在信息最丰富的点展开（鸿哥说的）                                       </a:t>
            </a:r>
          </a:p>
        </p:txBody>
      </p:sp>
      <p:pic>
        <p:nvPicPr>
          <p:cNvPr id="5" name="内容占位符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6577" t="26320" r="4090" b="6639"/>
          <a:stretch>
            <a:fillRect/>
          </a:stretch>
        </p:blipFill>
        <p:spPr>
          <a:xfrm>
            <a:off x="416626" y="1335973"/>
            <a:ext cx="3946118" cy="3948546"/>
          </a:xfrm>
        </p:spPr>
      </p:pic>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l="9635" t="19481" r="3670" b="13766"/>
          <a:stretch>
            <a:fillRect/>
          </a:stretch>
        </p:blipFill>
        <p:spPr>
          <a:xfrm>
            <a:off x="5444835" y="1335973"/>
            <a:ext cx="4459186" cy="4577940"/>
          </a:xfrm>
          <a:prstGeom prst="rect">
            <a:avLst/>
          </a:prstGeom>
        </p:spPr>
      </p:pic>
      <p:cxnSp>
        <p:nvCxnSpPr>
          <p:cNvPr id="9" name="直接连接符 8"/>
          <p:cNvCxnSpPr/>
          <p:nvPr/>
        </p:nvCxnSpPr>
        <p:spPr>
          <a:xfrm flipH="1">
            <a:off x="5029200" y="734765"/>
            <a:ext cx="4156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5058888" y="734765"/>
            <a:ext cx="385947" cy="3421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2" name="墨迹 11"/>
              <p14:cNvContentPartPr/>
              <p14:nvPr/>
            </p14:nvContentPartPr>
            <p14:xfrm>
              <a:off x="9198589" y="5030177"/>
              <a:ext cx="128160" cy="93240"/>
            </p14:xfrm>
          </p:contentPart>
        </mc:Choice>
        <mc:Fallback xmlns="">
          <p:pic>
            <p:nvPicPr>
              <p:cNvPr id="12" name="墨迹 11"/>
            </p:nvPicPr>
            <p:blipFill>
              <a:blip r:embed="rId5"/>
            </p:blipFill>
            <p:spPr>
              <a:xfrm>
                <a:off x="9198589" y="5030177"/>
                <a:ext cx="128160" cy="93240"/>
              </a:xfrm>
              <a:prstGeom prst="rect"/>
            </p:spPr>
          </p:pic>
        </mc:Fallback>
      </mc:AlternateContent>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47205"/>
            <a:ext cx="10515600" cy="682831"/>
          </a:xfrm>
        </p:spPr>
        <p:txBody>
          <a:bodyPr>
            <a:normAutofit/>
          </a:bodyPr>
          <a:lstStyle/>
          <a:p>
            <a:r>
              <a:rPr lang="zh-CN" altLang="en-US" sz="1600" dirty="0"/>
              <a:t>在哪个点展开好判断</a:t>
            </a:r>
            <a:r>
              <a:rPr lang="zh-CN" altLang="en-US" sz="1600"/>
              <a:t>，但是，是</a:t>
            </a:r>
            <a:r>
              <a:rPr lang="zh-CN" altLang="en-US" sz="1600" dirty="0"/>
              <a:t>放在左边还是右边？看下面</a:t>
            </a:r>
            <a:r>
              <a:rPr lang="en-US" altLang="zh-CN" sz="1600" dirty="0"/>
              <a:t>2</a:t>
            </a:r>
            <a:r>
              <a:rPr lang="zh-CN" altLang="en-US" sz="1600" dirty="0"/>
              <a:t>个例题吧</a:t>
            </a: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l="2415" t="24213" r="14116" b="17462"/>
          <a:stretch>
            <a:fillRect/>
          </a:stretch>
        </p:blipFill>
        <p:spPr>
          <a:xfrm rot="16200000">
            <a:off x="947096" y="2360186"/>
            <a:ext cx="3924719" cy="4655125"/>
          </a:xfrm>
          <a:prstGeom prst="rect">
            <a:avLst/>
          </a:prstGeom>
        </p:spPr>
      </p:pic>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l="7902" t="23809" r="13829" b="64675"/>
          <a:stretch>
            <a:fillRect/>
          </a:stretch>
        </p:blipFill>
        <p:spPr>
          <a:xfrm>
            <a:off x="6537365" y="1763482"/>
            <a:ext cx="4025735" cy="789710"/>
          </a:xfrm>
          <a:prstGeom prst="rect">
            <a:avLst/>
          </a:prstGeom>
        </p:spPr>
      </p:pic>
      <p:pic>
        <p:nvPicPr>
          <p:cNvPr id="14" name="图片 13"/>
          <p:cNvPicPr>
            <a:picLocks noChangeAspect="1"/>
          </p:cNvPicPr>
          <p:nvPr/>
        </p:nvPicPr>
        <p:blipFill rotWithShape="1">
          <a:blip r:embed="rId3" cstate="print">
            <a:extLst>
              <a:ext uri="{28A0092B-C50C-407E-A947-70E740481C1C}">
                <a14:useLocalDpi xmlns:a14="http://schemas.microsoft.com/office/drawing/2010/main" val="0"/>
              </a:ext>
            </a:extLst>
          </a:blip>
          <a:srcRect l="8939" t="57056" r="7274" b="4070"/>
          <a:stretch>
            <a:fillRect/>
          </a:stretch>
        </p:blipFill>
        <p:spPr>
          <a:xfrm>
            <a:off x="6537364" y="2553192"/>
            <a:ext cx="4025735" cy="2666010"/>
          </a:xfrm>
          <a:prstGeom prst="rect">
            <a:avLst/>
          </a:prstGeom>
        </p:spPr>
      </p:pic>
      <p:pic>
        <p:nvPicPr>
          <p:cNvPr id="16" name="图片 15"/>
          <p:cNvPicPr>
            <a:picLocks noChangeAspect="1"/>
          </p:cNvPicPr>
          <p:nvPr/>
        </p:nvPicPr>
        <p:blipFill rotWithShape="1">
          <a:blip r:embed="rId4" cstate="print">
            <a:extLst>
              <a:ext uri="{28A0092B-C50C-407E-A947-70E740481C1C}">
                <a14:useLocalDpi xmlns:a14="http://schemas.microsoft.com/office/drawing/2010/main" val="0"/>
              </a:ext>
            </a:extLst>
          </a:blip>
          <a:srcRect l="3631" t="52208" r="5863" b="29177"/>
          <a:stretch>
            <a:fillRect/>
          </a:stretch>
        </p:blipFill>
        <p:spPr>
          <a:xfrm>
            <a:off x="581891" y="1448792"/>
            <a:ext cx="4655127" cy="1276598"/>
          </a:xfrm>
          <a:prstGeom prst="rect">
            <a:avLst/>
          </a:prstGeom>
        </p:spPr>
      </p:pic>
      <p:sp>
        <p:nvSpPr>
          <p:cNvPr id="18" name="内容占位符 17"/>
          <p:cNvSpPr>
            <a:spLocks noGrp="1"/>
          </p:cNvSpPr>
          <p:nvPr>
            <p:ph idx="1"/>
          </p:nvPr>
        </p:nvSpPr>
        <p:spPr>
          <a:xfrm>
            <a:off x="838200" y="6614556"/>
            <a:ext cx="10515600" cy="285007"/>
          </a:xfrm>
        </p:spPr>
        <p:txBody>
          <a:bodyPr>
            <a:normAutofit fontScale="55000" lnSpcReduction="20000"/>
          </a:bodyPr>
          <a:lstStyle/>
          <a:p>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特别鸣谢：</a:t>
            </a:r>
          </a:p>
        </p:txBody>
      </p:sp>
      <p:sp>
        <p:nvSpPr>
          <p:cNvPr id="3" name="内容占位符 2"/>
          <p:cNvSpPr>
            <a:spLocks noGrp="1"/>
          </p:cNvSpPr>
          <p:nvPr>
            <p:ph idx="1"/>
          </p:nvPr>
        </p:nvSpPr>
        <p:spPr>
          <a:xfrm>
            <a:off x="608330" y="1490345"/>
            <a:ext cx="6920865" cy="4759325"/>
          </a:xfrm>
        </p:spPr>
        <p:txBody>
          <a:bodyPr/>
          <a:lstStyle/>
          <a:p>
            <a:r>
              <a:rPr lang="zh-CN" altLang="en-US"/>
              <a:t>指导老师：鲁智敏</a:t>
            </a:r>
          </a:p>
          <a:p>
            <a:endParaRPr lang="zh-CN" altLang="en-US"/>
          </a:p>
          <a:p>
            <a:r>
              <a:rPr lang="zh-CN" altLang="en-US"/>
              <a:t>参与制作同学（按姓名首字母排序）：</a:t>
            </a:r>
          </a:p>
          <a:p>
            <a:r>
              <a:rPr lang="zh-CN" altLang="en-US"/>
              <a:t>陈锡铭</a:t>
            </a:r>
            <a:r>
              <a:rPr lang="en-US" altLang="zh-CN"/>
              <a:t> </a:t>
            </a:r>
            <a:r>
              <a:rPr lang="zh-CN" altLang="en-US"/>
              <a:t>郭涵</a:t>
            </a:r>
            <a:r>
              <a:rPr lang="en-US" altLang="zh-CN"/>
              <a:t> </a:t>
            </a:r>
            <a:r>
              <a:rPr lang="zh-CN" altLang="en-US"/>
              <a:t>王嘉璇</a:t>
            </a:r>
            <a:r>
              <a:rPr lang="en-US" altLang="zh-CN"/>
              <a:t> </a:t>
            </a:r>
            <a:r>
              <a:rPr lang="zh-CN" altLang="en-US"/>
              <a:t>王鹏辉</a:t>
            </a:r>
            <a:r>
              <a:rPr lang="en-US" altLang="zh-CN"/>
              <a:t> </a:t>
            </a:r>
            <a:r>
              <a:rPr lang="zh-CN" altLang="en-US"/>
              <a:t>王爽</a:t>
            </a:r>
            <a:r>
              <a:rPr lang="en-US" altLang="zh-CN"/>
              <a:t> </a:t>
            </a:r>
            <a:r>
              <a:rPr lang="zh-CN" altLang="en-US"/>
              <a:t>卫欣悦</a:t>
            </a:r>
          </a:p>
          <a:p>
            <a:r>
              <a:rPr lang="zh-CN" altLang="en-US"/>
              <a:t>于凯</a:t>
            </a:r>
            <a:r>
              <a:rPr lang="en-US" altLang="zh-CN"/>
              <a:t> </a:t>
            </a:r>
            <a:r>
              <a:rPr lang="zh-CN" altLang="en-US"/>
              <a:t>张倩盈</a:t>
            </a:r>
            <a:r>
              <a:rPr lang="en-US" altLang="zh-CN"/>
              <a:t> </a:t>
            </a:r>
            <a:r>
              <a:rPr lang="zh-CN" altLang="en-US"/>
              <a:t>赵思宇</a:t>
            </a:r>
            <a:r>
              <a:rPr lang="en-US" altLang="zh-CN"/>
              <a:t> </a:t>
            </a:r>
            <a:r>
              <a:rPr lang="zh-CN" altLang="en-US"/>
              <a:t>周奕晖</a:t>
            </a:r>
            <a:r>
              <a:rPr lang="en-US" altLang="zh-CN"/>
              <a:t> </a:t>
            </a:r>
            <a:r>
              <a:rPr lang="zh-CN" altLang="en-US"/>
              <a:t>周子晋</a:t>
            </a:r>
          </a:p>
          <a:p>
            <a:endParaRPr lang="zh-CN" altLang="en-US"/>
          </a:p>
          <a:p>
            <a:r>
              <a:rPr lang="zh-CN" altLang="en-US"/>
              <a:t>如有不足还请同学们多多包涵，批评指正</a:t>
            </a:r>
          </a:p>
          <a:p>
            <a:r>
              <a:rPr lang="zh-CN" altLang="en-US"/>
              <a:t>预祝各位期末大捷！</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wNTM5NzYwMDRjMzkwZTVkZjY2ODkwMGIxNGU0OTU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230258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258"/>
  <p:tag name="KSO_WM_SLIDE_LAYOUT" val="a_e"/>
  <p:tag name="KSO_WM_SLIDE_LAYOUT_CNT" val="1_1"/>
  <p:tag name="KSO_WM_SLIDE_TYPE" val="sectionTitle"/>
  <p:tag name="KSO_WM_SLIDE_SUBTYPE" val="pureTxt"/>
  <p:tag name="KSO_WM_SLIDE_CONTENT_AREA" val="{&quot;left&quot;:&quot;52.8&quot;,&quot;top&quot;:&quot;76.45&quot;,&quot;width&quot;:&quot;704.15&quot;,&quot;height&quot;:&quot;329.85&quot;}"/>
</p:tagLst>
</file>

<file path=ppt/tags/tag7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8_7*a*1"/>
  <p:tag name="KSO_WM_TEMPLATE_CATEGORY" val="custom"/>
  <p:tag name="KSO_WM_TEMPLATE_INDEX" val="20230258"/>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 name="KSO_WM_UNIT_CONTENT_GROUP_TYPE" val="contentchip"/>
  <p:tag name="KSO_WM_UNIT_PRESET_TEXT" val="添加章节标题"/>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230258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58"/>
  <p:tag name="KSO_WM_SLIDE_LAYOUT" val="a_f"/>
  <p:tag name="KSO_WM_SLIDE_LAYOUT_CNT" val="1_1"/>
  <p:tag name="KSO_WM_SLIDE_TYPE" val="text"/>
  <p:tag name="KSO_WM_SLIDE_SUBTYPE" val="pureTxt"/>
  <p:tag name="KSO_WM_SLIDE_SIZE" val="864*444"/>
  <p:tag name="KSO_WM_SLIDE_POSITION" val="47*47"/>
  <p:tag name="KSO_WM_SLIDE_LAYOUT_NAME" val="标题和内容"/>
</p:tagLst>
</file>

<file path=ppt/tags/tag8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wm#"/>
  <p:tag name="KSO_WM_UNIT_PRESET_TEXT" val="单击此处添加文本"/>
</p:tagLst>
</file>

<file path=ppt/tags/tag81.xml><?xml version="1.0" encoding="utf-8"?>
<p:tagLst xmlns:a="http://schemas.openxmlformats.org/drawingml/2006/main" xmlns:r="http://schemas.openxmlformats.org/officeDocument/2006/relationships" xmlns:p="http://schemas.openxmlformats.org/presentationml/2006/main">
  <p:tag name="KSO_WM_SLIDE_ID" val="custom20230258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58"/>
  <p:tag name="KSO_WM_SLIDE_LAYOUT" val="a_f"/>
  <p:tag name="KSO_WM_SLIDE_LAYOUT_CNT" val="1_1"/>
  <p:tag name="KSO_WM_SLIDE_TYPE" val="text"/>
  <p:tag name="KSO_WM_SLIDE_SUBTYPE" val="pureTxt"/>
  <p:tag name="KSO_WM_SLIDE_SIZE" val="864*444"/>
  <p:tag name="KSO_WM_SLIDE_POSITION" val="47*47"/>
  <p:tag name="KSO_WM_SLIDE_LAYOUT_NAME" val="标题和内容"/>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wm#"/>
  <p:tag name="KSO_WM_UNIT_PRESET_TEXT" val="单击此处添加文本"/>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SLIDE_ID" val="custom20230258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58"/>
  <p:tag name="KSO_WM_SLIDE_LAYOUT" val="a_f"/>
  <p:tag name="KSO_WM_SLIDE_LAYOUT_CNT" val="1_1"/>
  <p:tag name="KSO_WM_SLIDE_TYPE" val="text"/>
  <p:tag name="KSO_WM_SLIDE_SUBTYPE" val="pureTxt"/>
  <p:tag name="KSO_WM_SLIDE_SIZE" val="864*444"/>
  <p:tag name="KSO_WM_SLIDE_POSITION" val="47*47"/>
  <p:tag name="KSO_WM_SLIDE_LAYOUT_NAME" val="标题和内容"/>
</p:tagLst>
</file>

<file path=ppt/tags/tag8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
  <p:tag name="KSO_WM_UNIT_PRESET_TEXT" val="单击此处添加文本"/>
</p:tagLst>
</file>

<file path=ppt/tags/tag8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
  <p:tag name="KSO_WM_UNIT_PRESET_TEXT" val="单击此处添加文本"/>
</p:tagLst>
</file>

<file path=ppt/tags/tag87.xml><?xml version="1.0" encoding="utf-8"?>
<p:tagLst xmlns:a="http://schemas.openxmlformats.org/drawingml/2006/main" xmlns:r="http://schemas.openxmlformats.org/officeDocument/2006/relationships" xmlns:p="http://schemas.openxmlformats.org/presentationml/2006/main">
  <p:tag name="KSO_WM_SLIDE_ID" val="custom20230258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258"/>
  <p:tag name="KSO_WM_SLIDE_LAYOUT" val="a_f"/>
  <p:tag name="KSO_WM_SLIDE_LAYOUT_CNT" val="1_1"/>
  <p:tag name="KSO_WM_SLIDE_TYPE" val="text"/>
  <p:tag name="KSO_WM_SLIDE_SUBTYPE" val="pureTxt"/>
  <p:tag name="KSO_WM_SLIDE_SIZE" val="864*444"/>
  <p:tag name="KSO_WM_SLIDE_POSITION" val="47*47"/>
  <p:tag name="KSO_WM_SLIDE_LAYOUT_NAME" val="标题和内容"/>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wm#"/>
  <p:tag name="KSO_WM_UNIT_PRESET_TEXT" val="单击此处添加文本"/>
</p:tagLst>
</file>

<file path=ppt/tags/tag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wm#"/>
  <p:tag name="KSO_WM_UNIT_PRESET_TEXT" val="单击此处添加文本"/>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0258"/>
</p:tagLst>
</file>

<file path=ppt/tags/tag91.xml><?xml version="1.0" encoding="utf-8"?>
<p:tagLst xmlns:a="http://schemas.openxmlformats.org/drawingml/2006/main" xmlns:r="http://schemas.openxmlformats.org/officeDocument/2006/relationships" xmlns:p="http://schemas.openxmlformats.org/presentationml/2006/main">
  <p:tag name="KSO_WM_SLIDE_ID" val="custom20230258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258"/>
  <p:tag name="KSO_WM_SLIDE_LAYOUT" val="a_e"/>
  <p:tag name="KSO_WM_SLIDE_LAYOUT_CNT" val="1_1"/>
  <p:tag name="KSO_WM_SLIDE_TYPE" val="sectionTitle"/>
  <p:tag name="KSO_WM_SLIDE_SUBTYPE" val="pureTxt"/>
  <p:tag name="KSO_WM_SLIDE_CONTENT_AREA" val="{&quot;left&quot;:&quot;52.8&quot;,&quot;top&quot;:&quot;76.45&quot;,&quot;width&quot;:&quot;704.15&quot;,&quot;height&quot;:&quot;329.85&quot;}"/>
</p:tagLst>
</file>

<file path=ppt/tags/tag9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8_7*a*1"/>
  <p:tag name="KSO_WM_TEMPLATE_CATEGORY" val="custom"/>
  <p:tag name="KSO_WM_TEMPLATE_INDEX" val="20230258"/>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 name="KSO_WM_UNIT_CONTENT_GROUP_TYPE" val="contentchip"/>
  <p:tag name="KSO_WM_UNIT_PRESET_TEXT" val="添加章节标题"/>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0258"/>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0258"/>
</p:tagLst>
</file>

<file path=ppt/tags/tag9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382.4488188976377,&quot;width&quot;:13626.9968503937}"/>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0258"/>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671"/>
  <p:tag name="KSO_WM_SLIDE_ID" val="diagram2020367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95*464"/>
  <p:tag name="KSO_WM_SLIDE_POSITION" val="32*36"/>
  <p:tag name="KSO_WM_TAG_VERSION" val="1.0"/>
  <p:tag name="KSO_WM_SLIDE_LAYOUT" val="a_f"/>
  <p:tag name="KSO_WM_SLIDE_LAYOUT_CNT" val="1_1"/>
  <p:tag name="KSO_WM_SLIDE_BACKGROUND_TYPE" val="general"/>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4*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6"/>
  <p:tag name="KSO_WM_UNIT_DEC_AREA_ID" val="ce1351e906b94b41bc85aad46ab80205"/>
  <p:tag name="KSO_WM_UNIT_DECORATE_INFO" val=""/>
  <p:tag name="KSO_WM_UNIT_SM_LIMIT_TYPE" val=""/>
  <p:tag name="KSO_WM_CHIP_FILLAREA_FILL_RULE" val="{&quot;fill_align&quot;:&quot;cm&quot;,&quot;fill_effect&quot;:[],&quot;fill_mode&quot;:&quot;full&quot;,&quot;sacle_strategy&quot;:&quot;stretch&quot;}"/>
  <p:tag name="KSO_WM_ASSEMBLE_CHIP_INDEX" val="3f675911653346178f7ba5b9ca362953"/>
  <p:tag name="KSO_WM_SLIDE_BACKGROUND_TYPE" val="general"/>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671_1*i*1"/>
  <p:tag name="KSO_WM_TEMPLATE_CATEGORY" val="diagram"/>
  <p:tag name="KSO_WM_TEMPLATE_INDEX" val="20203671"/>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03671_1*a*1"/>
  <p:tag name="KSO_WM_TEMPLATE_CATEGORY" val="diagram"/>
  <p:tag name="KSO_WM_TEMPLATE_INDEX" val="20203671"/>
  <p:tag name="KSO_WM_UNIT_LAYERLEVEL" val="1"/>
  <p:tag name="KSO_WM_TAG_VERSION" val="1.0"/>
  <p:tag name="KSO_WM_BEAUTIFY_FLAG" val="#wm#"/>
  <p:tag name="KSO_WM_UNIT_PRESET_TEXT" val="单击此处添加标题"/>
  <p:tag name="KSO_WM_UNIT_ISNUMDGMTITLE" val="0"/>
  <p:tag name="KSO_WM_UNIT_TEXT_FILL_FORE_SCHEMECOLOR_INDEX_BRIGHTNESS" val="0"/>
  <p:tag name="KSO_WM_UNIT_TEXT_FILL_FORE_SCHEMECOLOR_INDEX" val="14"/>
  <p:tag name="KSO_WM_UNIT_TEX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UNIT_NOCLEAR" val="0"/>
  <p:tag name="KSO_WM_UNIT_VALUE" val="1144"/>
  <p:tag name="KSO_WM_UNIT_HIGHLIGHT" val="0"/>
  <p:tag name="KSO_WM_UNIT_COMPATIBLE" val="0"/>
  <p:tag name="KSO_WM_UNIT_DIAGRAM_ISNUMVISUAL" val="0"/>
  <p:tag name="KSO_WM_UNIT_DIAGRAM_ISREFERUNIT" val="0"/>
  <p:tag name="KSO_WM_UNIT_TYPE" val="f"/>
  <p:tag name="KSO_WM_UNIT_INDEX" val="1"/>
  <p:tag name="KSO_WM_UNIT_ID" val="diagram20203671_1*f*1"/>
  <p:tag name="KSO_WM_TEMPLATE_CATEGORY" val="diagram"/>
  <p:tag name="KSO_WM_TEMPLATE_INDEX" val="20203671"/>
  <p:tag name="KSO_WM_UNIT_LAYERLEVEL" val="1"/>
  <p:tag name="KSO_WM_TAG_VERSION" val="1.0"/>
  <p:tag name="KSO_WM_BEAUTIFY_FLAG" val="#wm#"/>
  <p:tag name="KSO_WM_UNIT_PRESET_TEXT" val="单击此处添加文本具体内容，简明扼要地阐述你的观点。&#10;单击此处添加文本具体内容，简明扼要地阐述你的观点。&#10;单击此处添加文本具体内容，简明扼要地阐述你的观点。&#10;单击此处添加文本具体内容，简明扼要地阐述你的观点。&#10;单击此处添加文本具体内容，简明扼要地阐述你的观点。"/>
  <p:tag name="KSO_WM_UNIT_SUBTYPE" val="a"/>
  <p:tag name="KSO_WM_UNIT_TEXT_FILL_FORE_SCHEMECOLOR_INDEX_BRIGHTNESS" val="0.15"/>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1,&quot;width&quot;:4304}"/>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71_1*i*3"/>
  <p:tag name="KSO_WM_TEMPLATE_CATEGORY" val="diagram"/>
  <p:tag name="KSO_WM_TEMPLATE_INDEX" val="20203671"/>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671_1*i*4"/>
  <p:tag name="KSO_WM_TEMPLATE_CATEGORY" val="diagram"/>
  <p:tag name="KSO_WM_TEMPLATE_INDEX" val="20203671"/>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39,&quot;width&quot;:5466}"/>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9527"/>
  <p:tag name="KSO_WM_SLIDE_ID" val="diagram2020952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SLIDE_LAYOUT" val="d"/>
  <p:tag name="KSO_WM_SLIDE_LAYOUT_CNT" val="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3-12-15T23:12:04&quot;,&quot;maxSize&quot;:{&quot;size1&quot;:2.4000510464101183},&quot;minSize&quot;:{&quot;size1&quot;:2.4000510464101183},&quot;normalSize&quot;:{&quot;size1&quot;:2.4000510464101183},&quot;subLayout&quot;:[{&quot;id&quot;:&quot;2023-12-15T23:12:04&quot;,&quot;type&quot;:0},{&quot;id&quot;:&quot;2023-12-15T23:12:04&quot;,&quot;margin&quot;:{&quot;bottom&quot;:1.6929999589920044,&quot;left&quot;:1.6929999589920044,&quot;right&quot;:1.6929999589920044,&quot;top&quot;:1.2699999809265137},&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lm&quot;,&quot;text_direction&quot;:&quot;horizontal&quot;,&quot;support_features&quot;:[&quot;collage&quot;,&quot;carousel&quot;],&quot;support_big_font&quot;:false,&quot;picture_toward&quot;:0,&quot;picture_dockside&quot;:[],&quot;fill_id&quot;:&quot;05426f0b1077440ebd8848530286d431&quot;,&quot;fill_align&quot;:&quot;cm&quot;,&quot;chip_types&quot;:[&quot;diagram&quot;,&quot;pictext&quot;,&quot;text&quot;,&quot;picture&quot;,&quot;chart&quot;,&quot;table&quot;,&quot;video&quot;]}]]"/>
  <p:tag name="KSO_WM_SLIDE_SIZE" val="864*324"/>
  <p:tag name="KSO_WM_SLIDE_POSITION" val="47*107"/>
  <p:tag name="KSO_WM_CHIP_XID" val="5f20142fc4814ce96fb1281b"/>
  <p:tag name="KSO_WM_CHIP_DECFILLPROP" val="[]"/>
  <p:tag name="KSO_WM_CHIP_GROUPID" val="5f20142fc4814ce96fb1281a"/>
  <p:tag name="KSO_WM_SLIDE_BACKGROUND_TYPE" val="general"/>
  <p:tag name="KSO_WM_SLIDE_SUPPORT_FEATURE_TYPE" val="3"/>
  <p:tag name="KSO_WM_TEMPLATE_ASSEMBLE_XID" val="60656e904054ed1e2fb7fb93"/>
  <p:tag name="KSO_WM_TEMPLATE_ASSEMBLE_GROUPID" val="60656e904054ed1e2fb7fb93"/>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3*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5"/>
  <p:tag name="KSO_WM_UNIT_DEC_AREA_ID" val="2766060b6f2d4743a4721cfd3dee5688"/>
  <p:tag name="KSO_WM_UNIT_DECORATE_INFO" val=""/>
  <p:tag name="KSO_WM_UNIT_SM_LIMIT_TYPE" val=""/>
  <p:tag name="KSO_WM_CHIP_FILLAREA_FILL_RULE" val="{&quot;fill_align&quot;:&quot;cm&quot;,&quot;fill_effect&quot;:[],&quot;fill_mode&quot;:&quot;full&quot;,&quot;sacle_strategy&quot;:&quot;stretch&quot;}"/>
  <p:tag name="KSO_WM_ASSEMBLE_CHIP_INDEX" val="f7421498c5984fd3b382e56cfefe44da"/>
  <p:tag name="KSO_WM_SLIDE_BACKGROUND_TYPE" val="general"/>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4*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6"/>
  <p:tag name="KSO_WM_UNIT_DEC_AREA_ID" val="ce1351e906b94b41bc85aad46ab80205"/>
  <p:tag name="KSO_WM_UNIT_DECORATE_INFO" val=""/>
  <p:tag name="KSO_WM_UNIT_SM_LIMIT_TYPE" val=""/>
  <p:tag name="KSO_WM_CHIP_FILLAREA_FILL_RULE" val="{&quot;fill_align&quot;:&quot;cm&quot;,&quot;fill_effect&quot;:[],&quot;fill_mode&quot;:&quot;full&quot;,&quot;sacle_strategy&quot;:&quot;stretch&quot;}"/>
  <p:tag name="KSO_WM_ASSEMBLE_CHIP_INDEX" val="3f675911653346178f7ba5b9ca362953"/>
  <p:tag name="KSO_WM_SLIDE_BACKGROUND_TYPE" val="general"/>
</p:tagLst>
</file>

<file path=ppt/tags/tag115.xml><?xml version="1.0" encoding="utf-8"?>
<p:tagLst xmlns:a="http://schemas.openxmlformats.org/drawingml/2006/main" xmlns:r="http://schemas.openxmlformats.org/officeDocument/2006/relationships" xmlns:p="http://schemas.openxmlformats.org/presentationml/2006/main">
  <p:tag name="KSO_WM_UNIT_VALUE" val="1142*3046"/>
  <p:tag name="KSO_WM_UNIT_HIGHLIGHT" val="0"/>
  <p:tag name="KSO_WM_UNIT_COMPATIBLE" val="0"/>
  <p:tag name="KSO_WM_UNIT_DIAGRAM_ISNUMVISUAL" val="0"/>
  <p:tag name="KSO_WM_UNIT_DIAGRAM_ISREFERUNIT" val="0"/>
  <p:tag name="KSO_WM_UNIT_TYPE" val="d"/>
  <p:tag name="KSO_WM_UNIT_INDEX" val="1"/>
  <p:tag name="KSO_WM_UNIT_ID" val="diagram20209527_1*d*1"/>
  <p:tag name="KSO_WM_TEMPLATE_CATEGORY" val="diagram"/>
  <p:tag name="KSO_WM_TEMPLATE_INDEX" val="20209527"/>
  <p:tag name="KSO_WM_UNIT_LAYERLEVEL" val="1"/>
  <p:tag name="KSO_WM_TAG_VERSION" val="1.0"/>
  <p:tag name="KSO_WM_BEAUTIFY_FLAG" val="#wm#"/>
  <p:tag name="KSO_WM_CHIP_GROUPID" val="5e7310da9a230a26b9e88a19"/>
  <p:tag name="KSO_WM_CHIP_XID" val="5e7310da9a230a26b9e88a1a"/>
  <p:tag name="KSO_WM_UNIT_DEC_AREA_ID" val="437555d1b835431c829775a5b1f76d6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1e7be60216245b399ecb640bacdb779"/>
  <p:tag name="KSO_WM_UNIT_SUPPORT_UNIT_TYPE" val="[&quot;l&quot;,&quot;m&quot;,&quot;n&quot;,&quot;o&quot;,&quot;p&quot;,&quot;q&quot;,&quot;r&quot;,&quot;δ&quot;,&quot;ε&quot;,&quot;ζ&quot;,&quot;η&quot;,&quot;d&quot;,&quot;α&quot;,&quot;β&quot;,&quot;θ&quot;]"/>
  <p:tag name="KSO_WM_TEMPLATE_ASSEMBLE_XID" val="60656e904054ed1e2fb7fb93"/>
  <p:tag name="KSO_WM_TEMPLATE_ASSEMBLE_GROUPID" val="60656e904054ed1e2fb7fb93"/>
  <p:tag name="KSO_WM_UNIT_PICTURE_CLIP_FLAG" val="0"/>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9186"/>
  <p:tag name="KSO_WM_SLIDE_ID" val="diagram20209186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36"/>
  <p:tag name="KSO_WM_TAG_VERSION" val="1.0"/>
  <p:tag name="KSO_WM_SLIDE_LAYOUT" val="a_d_f"/>
  <p:tag name="KSO_WM_SLIDE_LAYOUT_CNT" val="1_1_1"/>
  <p:tag name="KSO_WM_SLIDE_BACKGROUND" val="[&quot;general&quot;]"/>
  <p:tag name="KSO_WM_SLIDE_RATIO" val="1.777778"/>
  <p:tag name="KSO_WM_SLIDE_LAYOUT_INFO" val="{&quot;backgroundInfo&quot;:[{&quot;bottom&quot;:0,&quot;bottomAbs&quot;:false,&quot;left&quot;:0,&quot;leftAbs&quot;:false,&quot;right&quot;:0,&quot;rightAbs&quot;:false,&quot;top&quot;:0,&quot;topAbs&quot;:false,&quot;type&quot;:&quot;general&quot;}],&quot;id&quot;:&quot;2021-04-01T15:05:45&quot;,&quot;maxSize&quot;:{&quot;size1&quot;:17.799628021054108},&quot;minSize&quot;:{&quot;size1&quot;:17.799628021054108},&quot;normalSize&quot;:{&quot;size1&quot;:17.799628021054108},&quot;subLayout&quot;:[{&quot;id&quot;:&quot;2021-04-01T15:05:45&quot;,&quot;margin&quot;:{&quot;bottom&quot;:0,&quot;left&quot;:1.6929999589920044,&quot;right&quot;:5.502999782562256,&quot;top&quot;:1.2699999809265137},&quot;type&quot;:0},{&quot;id&quot;:&quot;2021-04-01T15:05:45&quot;,&quot;maxSize&quot;:{&quot;size1&quot;:78.49954747291656},&quot;minSize&quot;:{&quot;size1&quot;:78.49954747291656},&quot;normalSize&quot;:{&quot;size1&quot;:78.49954747291656},&quot;subLayout&quot;:[{&quot;id&quot;:&quot;2021-04-01T15:05:45&quot;,&quot;margin&quot;:{&quot;bottom&quot;:1.6929999589920044,&quot;left&quot;:1.6929999589920044,&quot;right&quot;:1.6929999589920044,&quot;top&quot;:1.2699999809265137},&quot;type&quot;:0},{&quot;id&quot;:&quot;2021-04-01T15:05:45&quot;,&quot;margin&quot;:{&quot;bottom&quot;:1.2699999809265137,&quot;left&quot;:1.6929999589920044,&quot;right&quot;:1.6929999589920044,&quot;top&quot;:0},&quot;type&quot;:0}],&quot;type&quot;:0}],&quot;type&quot;: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lm&quot;,&quot;text_direction&quot;:&quot;horizontal&quot;,&quot;support_big_font&quot;:false,&quot;fill_id&quot;:&quot;8d15dc65d1934423bfab615d7c3cf51c&quot;,&quot;fill_align&quot;:&quot;lm&quot;,&quot;chip_types&quot;:[&quot;header&quot;]},{&quot;text_align&quot;:&quot;lm&quot;,&quot;text_direction&quot;:&quot;horizontal&quot;,&quot;support_features&quot;:[&quot;collage&quot;,&quot;carousel&quot;],&quot;support_big_font&quot;:false,&quot;fill_id&quot;:&quot;7a9e16b08dd1491598975707cb9a750e&quot;,&quot;fill_align&quot;:&quot;cm&quot;,&quot;chip_types&quot;:[&quot;diagram&quot;,&quot;pictext&quot;,&quot;text&quot;,&quot;picture&quot;,&quot;chart&quot;,&quot;table&quot;,&quot;video&quot;]},{&quot;text_align&quot;:&quot;lm&quot;,&quot;text_direction&quot;:&quot;horizontal&quot;,&quot;support_big_font&quot;:false,&quot;fill_id&quot;:&quot;e19ee7aa8873479184c598dabbc965b8&quot;,&quot;fill_align&quot;:&quot;lm&quot;,&quot;chip_types&quot;:[&quot;text&quot;]}]]"/>
  <p:tag name="KSO_WM_CHIP_XID" val="5f0d54168050c250ba656b68"/>
  <p:tag name="KSO_WM_CHIP_DECFILLPROP" val="[]"/>
  <p:tag name="KSO_WM_CHIP_GROUPID" val="5f0d54168050c250ba656b67"/>
  <p:tag name="KSO_WM_SLIDE_BACKGROUND_TYPE" val="general"/>
  <p:tag name="KSO_WM_SLIDE_SUPPORT_FEATURE_TYPE" val="3"/>
  <p:tag name="KSO_WM_TEMPLATE_ASSEMBLE_XID" val="60656e8b4054ed1e2fb7fb32"/>
  <p:tag name="KSO_WM_TEMPLATE_ASSEMBLE_GROUPID" val="60656e8b4054ed1e2fb7fb32"/>
</p:tagLst>
</file>

<file path=ppt/tags/tag1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a"/>
  <p:tag name="KSO_WM_UNIT_INDEX" val="1"/>
  <p:tag name="KSO_WM_UNIT_ID" val="diagram20209186_1*a*1"/>
  <p:tag name="KSO_WM_TEMPLATE_CATEGORY" val="diagram"/>
  <p:tag name="KSO_WM_TEMPLATE_INDEX" val="2020918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75ac08273e3c4c04992c6db43f7673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6bffb964c0884387b0991864b8ca49ac"/>
  <p:tag name="KSO_WM_UNIT_TEXT_FILL_FORE_SCHEMECOLOR_INDEX_BRIGHTNESS" val="0"/>
  <p:tag name="KSO_WM_UNIT_TEXT_FILL_FORE_SCHEMECOLOR_INDEX" val="13"/>
  <p:tag name="KSO_WM_UNIT_TEXT_FILL_TYPE" val="1"/>
  <p:tag name="KSO_WM_TEMPLATE_ASSEMBLE_XID" val="60656e8b4054ed1e2fb7fb32"/>
  <p:tag name="KSO_WM_TEMPLATE_ASSEMBLE_GROUPID" val="60656e8b4054ed1e2fb7fb32"/>
</p:tagLst>
</file>

<file path=ppt/tags/tag118.xml><?xml version="1.0" encoding="utf-8"?>
<p:tagLst xmlns:a="http://schemas.openxmlformats.org/drawingml/2006/main" xmlns:r="http://schemas.openxmlformats.org/officeDocument/2006/relationships" xmlns:p="http://schemas.openxmlformats.org/presentationml/2006/main">
  <p:tag name="KSO_WM_UNIT_VALUE" val="846*3046"/>
  <p:tag name="KSO_WM_UNIT_HIGHLIGHT" val="0"/>
  <p:tag name="KSO_WM_UNIT_COMPATIBLE" val="1"/>
  <p:tag name="KSO_WM_UNIT_DIAGRAM_ISNUMVISUAL" val="0"/>
  <p:tag name="KSO_WM_UNIT_DIAGRAM_ISREFERUNIT" val="0"/>
  <p:tag name="KSO_WM_UNIT_TYPE" val="d"/>
  <p:tag name="KSO_WM_UNIT_INDEX" val="1"/>
  <p:tag name="KSO_WM_UNIT_ID" val="diagram20209186_1*d*1"/>
  <p:tag name="KSO_WM_TEMPLATE_CATEGORY" val="diagram"/>
  <p:tag name="KSO_WM_TEMPLATE_INDEX" val="20209186"/>
  <p:tag name="KSO_WM_UNIT_LAYERLEVEL" val="1"/>
  <p:tag name="KSO_WM_TAG_VERSION" val="1.0"/>
  <p:tag name="KSO_WM_BEAUTIFY_FLAG" val="#wm#"/>
  <p:tag name="KSO_WM_CHIP_GROUPID" val="5e7310da9a230a26b9e88a19"/>
  <p:tag name="KSO_WM_CHIP_XID" val="5e7310da9a230a26b9e88a1a"/>
  <p:tag name="KSO_WM_UNIT_DEC_AREA_ID" val="48ed47d99bbb4a97815103d6f9947cd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ea3898ed24aa45749b7109eb5545e3da"/>
  <p:tag name="KSO_WM_UNIT_SUPPORT_UNIT_TYPE" val="[&quot;l&quot;,&quot;m&quot;,&quot;n&quot;,&quot;o&quot;,&quot;p&quot;,&quot;q&quot;,&quot;r&quot;,&quot;δ&quot;,&quot;ε&quot;,&quot;ζ&quot;,&quot;η&quot;,&quot;d&quot;,&quot;α&quot;,&quot;β&quot;,&quot;θ&quot;]"/>
  <p:tag name="KSO_WM_TEMPLATE_ASSEMBLE_XID" val="60656e8b4054ed1e2fb7fb32"/>
  <p:tag name="KSO_WM_TEMPLATE_ASSEMBLE_GROUPID" val="60656e8b4054ed1e2fb7fb32"/>
  <p:tag name="KSO_WM_UNIT_PICTURE_CLIP_FLAG" val="0"/>
</p:tagLst>
</file>

<file path=ppt/tags/tag11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9186_1*f*1"/>
  <p:tag name="KSO_WM_TEMPLATE_CATEGORY" val="diagram"/>
  <p:tag name="KSO_WM_TEMPLATE_INDEX" val="20209186"/>
  <p:tag name="KSO_WM_UNIT_LAYERLEVEL" val="1"/>
  <p:tag name="KSO_WM_TAG_VERSION" val="1.0"/>
  <p:tag name="KSO_WM_BEAUTIFY_FLAG" val="#wm#"/>
  <p:tag name="KSO_WM_UNIT_DEFAULT_FONT" val="14;20;2"/>
  <p:tag name="KSO_WM_UNIT_BLOCK" val="0"/>
  <p:tag name="KSO_WM_UNIT_VALUE" val="43"/>
  <p:tag name="KSO_WM_UNIT_SHOW_EDIT_AREA_INDICATION" val="1"/>
  <p:tag name="KSO_WM_CHIP_GROUPID" val="5e6b05596848fb12bee65ac8"/>
  <p:tag name="KSO_WM_CHIP_XID" val="5e6b05596848fb12bee65aca"/>
  <p:tag name="KSO_WM_UNIT_DEC_AREA_ID" val="63cffaa7943a49b7a421999d936de59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e14943a7244d3cacf02e0c935f71d1"/>
  <p:tag name="KSO_WM_UNIT_TEXT_FILL_FORE_SCHEMECOLOR_INDEX_BRIGHTNESS" val="0.25"/>
  <p:tag name="KSO_WM_UNIT_TEXT_FILL_FORE_SCHEMECOLOR_INDEX" val="13"/>
  <p:tag name="KSO_WM_UNIT_TEXT_FILL_TYPE" val="1"/>
  <p:tag name="KSO_WM_TEMPLATE_ASSEMBLE_XID" val="60656e8b4054ed1e2fb7fb32"/>
  <p:tag name="KSO_WM_TEMPLATE_ASSEMBLE_GROUPID" val="60656e8b4054ed1e2fb7fb32"/>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7388"/>
  <p:tag name="KSO_WM_SLIDE_ID" val="diagram20217388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70"/>
  <p:tag name="KSO_WM_SLIDE_POSITION" val="0*17"/>
  <p:tag name="KSO_WM_TAG_VERSION" val="1.0"/>
  <p:tag name="KSO_WM_SLIDE_LAYOUT" val="d_f"/>
  <p:tag name="KSO_WM_SLIDE_LAYOUT_CNT" val="1_1"/>
  <p:tag name="KSO_WM_SLIDE_CAN_ADD_NAVIGATION" val="1"/>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7e214d383dce34166719"/>
  <p:tag name="KSO_WM_CHIP_FILLPROP" val="[[{&quot;text_align&quot;:&quot;lb&quot;,&quot;text_direction&quot;:&quot;horizontal&quot;,&quot;support_big_font&quot;:false,&quot;picture_toward&quot;:0,&quot;picture_dockside&quot;:[],&quot;fill_id&quot;:&quot;57cb550cf250444db0b4ac32a85bbfee&quot;,&quot;fill_align&quot;:&quot;lb&quot;,&quot;chip_types&quot;:[&quot;text&quot;,&quot;header&quot;]},{&quot;text_align&quot;:&quot;lt&quot;,&quot;text_direction&quot;:&quot;horizontal&quot;,&quot;support_big_font&quot;:false,&quot;picture_toward&quot;:0,&quot;picture_dockside&quot;:[],&quot;fill_id&quot;:&quot;0fd6899152de4c8b85f823fc1bc4cc6c&quot;,&quot;fill_align&quot;:&quot;lt&quot;,&quot;chip_types&quot;:[&quot;diagram&quot;,&quot;text&quot;,&quot;picture&quot;,&quot;chart&quot;,&quot;table&quot;]}]]"/>
  <p:tag name="KSO_WM_CHIP_DECFILLPROP" val="[]"/>
  <p:tag name="KSO_WM_SLIDE_LAYOUT_INFO" val="{&quot;backgroundInfo&quot;:[{&quot;bottom&quot;:0,&quot;bottomAbs&quot;:false,&quot;left&quot;:0,&quot;leftAbs&quot;:false,&quot;right&quot;:0,&quot;rightAbs&quot;:false,&quot;top&quot;:0,&quot;topAbs&quot;:false,&quot;type&quot;:&quot;general&quot;}],&quot;id&quot;:&quot;2021-04-01T16:21:10&quot;,&quot;maxSize&quot;:{&quot;size1&quot;:40},&quot;minSize&quot;:{&quot;size1&quot;:31.2},&quot;normalSize&quot;:{&quot;size1&quot;:35.4},&quot;subLayout&quot;:[{&quot;id&quot;:&quot;2021-04-01T16:21:10&quot;,&quot;margin&quot;:{&quot;bottom&quot;:0.8199999928474426,&quot;left&quot;:5.079999923706055,&quot;right&quot;:5.502999782562256,&quot;top&quot;:2.9629998207092285},&quot;type&quot;:0},{&quot;id&quot;:&quot;2021-04-01T16:21:10&quot;,&quot;margin&quot;:{&quot;bottom&quot;:2.997999906539917,&quot;left&quot;:5.079999923706055,&quot;right&quot;:5.502999782562256,&quot;top&quot;:0.0260000042617321},&quot;type&quot;:0}],&quot;type&quot;:0}"/>
  <p:tag name="KSO_WM_CHIP_GROUPID" val="5fd07e214d383dce34166718"/>
  <p:tag name="KSO_WM_SLIDE_BACKGROUND_TYPE" val="general"/>
  <p:tag name="KSO_WM_SLIDE_SUPPORT_FEATURE_TYPE" val="0"/>
  <p:tag name="KSO_WM_TEMPLATE_ASSEMBLE_XID" val="606570814054ed1e2fb816a1"/>
  <p:tag name="KSO_WM_TEMPLATE_ASSEMBLE_GROUPID" val="606570814054ed1e2fb816a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3*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5"/>
  <p:tag name="KSO_WM_UNIT_DEC_AREA_ID" val="2766060b6f2d4743a4721cfd3dee5688"/>
  <p:tag name="KSO_WM_UNIT_DECORATE_INFO" val=""/>
  <p:tag name="KSO_WM_UNIT_SM_LIMIT_TYPE" val=""/>
  <p:tag name="KSO_WM_CHIP_FILLAREA_FILL_RULE" val="{&quot;fill_align&quot;:&quot;cm&quot;,&quot;fill_effect&quot;:[],&quot;fill_mode&quot;:&quot;full&quot;,&quot;sacle_strategy&quot;:&quot;stretch&quot;}"/>
  <p:tag name="KSO_WM_ASSEMBLE_CHIP_INDEX" val="f7421498c5984fd3b382e56cfefe44da"/>
  <p:tag name="KSO_WM_SLIDE_BACKGROUND_TYPE" val="general"/>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4*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6"/>
  <p:tag name="KSO_WM_UNIT_DEC_AREA_ID" val="ce1351e906b94b41bc85aad46ab80205"/>
  <p:tag name="KSO_WM_UNIT_DECORATE_INFO" val=""/>
  <p:tag name="KSO_WM_UNIT_SM_LIMIT_TYPE" val=""/>
  <p:tag name="KSO_WM_CHIP_FILLAREA_FILL_RULE" val="{&quot;fill_align&quot;:&quot;cm&quot;,&quot;fill_effect&quot;:[],&quot;fill_mode&quot;:&quot;full&quot;,&quot;sacle_strategy&quot;:&quot;stretch&quot;}"/>
  <p:tag name="KSO_WM_ASSEMBLE_CHIP_INDEX" val="3f675911653346178f7ba5b9ca362953"/>
  <p:tag name="KSO_WM_SLIDE_BACKGROUND_TYPE" val="general"/>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7388_1*i*1"/>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TEMPLATE_ASSEMBLE_XID" val="606570814054ed1e2fb816a1"/>
  <p:tag name="KSO_WM_TEMPLATE_ASSEMBLE_GROUPID" val="606570814054ed1e2fb816a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7388_1*i*6"/>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TEMPLATE_ASSEMBLE_XID" val="606570814054ed1e2fb816a1"/>
  <p:tag name="KSO_WM_TEMPLATE_ASSEMBLE_GROUPID" val="606570814054ed1e2fb816a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217388_1*i*16"/>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217388_1*i*17"/>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217388_1*i*18"/>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217388_1*i*19"/>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217388_1*i*20"/>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TEMPLATE_ASSEMBLE_XID" val="606570814054ed1e2fb816a1"/>
  <p:tag name="KSO_WM_TEMPLATE_ASSEMBLE_GROUPID" val="606570814054ed1e2fb816a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217388_1*i*24"/>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25"/>
  <p:tag name="KSO_WM_UNIT_LINE_FORE_SCHEMECOLOR_INDEX" val="14"/>
  <p:tag name="KSO_WM_UNIT_LINE_FILL_TYPE" val="2"/>
  <p:tag name="KSO_WM_TEMPLATE_ASSEMBLE_XID" val="606570814054ed1e2fb816a1"/>
  <p:tag name="KSO_WM_TEMPLATE_ASSEMBLE_GROUPID" val="606570814054ed1e2fb816a1"/>
</p:tagLst>
</file>

<file path=ppt/tags/tag13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388_1*f*1"/>
  <p:tag name="KSO_WM_TEMPLATE_CATEGORY" val="diagram"/>
  <p:tag name="KSO_WM_TEMPLATE_INDEX" val="20217388"/>
  <p:tag name="KSO_WM_UNIT_LAYERLEVEL" val="1"/>
  <p:tag name="KSO_WM_TAG_VERSION" val="1.0"/>
  <p:tag name="KSO_WM_BEAUTIFY_FLAG" val="#wm#"/>
  <p:tag name="KSO_WM_UNIT_DEFAULT_FONT" val="14;20;2"/>
  <p:tag name="KSO_WM_UNIT_BLOCK" val="0"/>
  <p:tag name="KSO_WM_UNIT_VALUE" val="72"/>
  <p:tag name="KSO_WM_UNIT_SHOW_EDIT_AREA_INDICATION" val="1"/>
  <p:tag name="KSO_WM_CHIP_GROUPID" val="5e6b05596848fb12bee65ac8"/>
  <p:tag name="KSO_WM_CHIP_XID" val="5e6b05596848fb12bee65aca"/>
  <p:tag name="KSO_WM_UNIT_DEC_AREA_ID" val="e29bab4509714460b9ffb4f61289117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466ab4cbffe4de8b5998cd5847b44fb"/>
  <p:tag name="KSO_WM_UNIT_TEXT_FILL_FORE_SCHEMECOLOR_INDEX_BRIGHTNESS" val="0.25"/>
  <p:tag name="KSO_WM_UNIT_TEXT_FILL_FORE_SCHEMECOLOR_INDEX" val="13"/>
  <p:tag name="KSO_WM_UNIT_TEXT_FILL_TYPE" val="1"/>
  <p:tag name="KSO_WM_TEMPLATE_ASSEMBLE_XID" val="606570814054ed1e2fb816a1"/>
  <p:tag name="KSO_WM_TEMPLATE_ASSEMBLE_GROUPID" val="606570814054ed1e2fb816a1"/>
</p:tagLst>
</file>

<file path=ppt/tags/tag133.xml><?xml version="1.0" encoding="utf-8"?>
<p:tagLst xmlns:a="http://schemas.openxmlformats.org/drawingml/2006/main" xmlns:r="http://schemas.openxmlformats.org/officeDocument/2006/relationships" xmlns:p="http://schemas.openxmlformats.org/presentationml/2006/main">
  <p:tag name="KSO_WM_UNIT_VALUE" val="846*2327"/>
  <p:tag name="KSO_WM_UNIT_HIGHLIGHT" val="0"/>
  <p:tag name="KSO_WM_UNIT_COMPATIBLE" val="0"/>
  <p:tag name="KSO_WM_UNIT_DIAGRAM_ISNUMVISUAL" val="0"/>
  <p:tag name="KSO_WM_UNIT_DIAGRAM_ISREFERUNIT" val="0"/>
  <p:tag name="KSO_WM_UNIT_TYPE" val="d"/>
  <p:tag name="KSO_WM_UNIT_INDEX" val="1"/>
  <p:tag name="KSO_WM_UNIT_ID" val="diagram20217388_1*d*1"/>
  <p:tag name="KSO_WM_TEMPLATE_CATEGORY" val="diagram"/>
  <p:tag name="KSO_WM_TEMPLATE_INDEX" val="20217388"/>
  <p:tag name="KSO_WM_UNIT_LAYERLEVEL" val="1"/>
  <p:tag name="KSO_WM_TAG_VERSION" val="1.0"/>
  <p:tag name="KSO_WM_BEAUTIFY_FLAG" val="#wm#"/>
  <p:tag name="KSO_WM_CHIP_GROUPID" val="5e7310da9a230a26b9e88a19"/>
  <p:tag name="KSO_WM_CHIP_XID" val="5e7310da9a230a26b9e88a1a"/>
  <p:tag name="KSO_WM_UNIT_DEC_AREA_ID" val="9c68add7376f44fe95e468d5343cb5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6ddb21f4961f4580b19e55d02586b46e"/>
  <p:tag name="KSO_WM_UNIT_SUPPORT_UNIT_TYPE" val="[&quot;l&quot;,&quot;m&quot;,&quot;n&quot;,&quot;o&quot;,&quot;p&quot;,&quot;q&quot;,&quot;r&quot;,&quot;δ&quot;,&quot;ε&quot;,&quot;ζ&quot;,&quot;η&quot;,&quot;d&quot;,&quot;α&quot;,&quot;β&quot;]"/>
  <p:tag name="KSO_WM_TEMPLATE_ASSEMBLE_XID" val="606570814054ed1e2fb816a1"/>
  <p:tag name="KSO_WM_TEMPLATE_ASSEMBLE_GROUPID" val="606570814054ed1e2fb816a1"/>
  <p:tag name="KSO_WM_UNIT_PICTURE_CLIP_FLAG" val="0"/>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217388_1*i*21"/>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217388_1*i*22"/>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217388_1*i*23"/>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17388_1*i*7"/>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17388_1*i*8"/>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17388_1*i*9"/>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217388_1*i*10"/>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217388_1*i*11"/>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217388_1*i*12"/>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217388_1*i*13"/>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217388_1*i*14"/>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217388_1*i*15"/>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5"/>
  <p:tag name="KSO_WM_UNIT_LINE_FORE_SCHEMECOLOR_INDEX" val="13"/>
  <p:tag name="KSO_WM_UNIT_LINE_FILL_TYPE" val="2"/>
  <p:tag name="KSO_WM_TEMPLATE_ASSEMBLE_XID" val="606570814054ed1e2fb816a1"/>
  <p:tag name="KSO_WM_TEMPLATE_ASSEMBLE_GROUPID" val="606570814054ed1e2fb816a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7388_1*i*2"/>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VALUE" val="0"/>
  <p:tag name="KSO_WM_TEMPLATE_ASSEMBLE_XID" val="606570814054ed1e2fb816a1"/>
  <p:tag name="KSO_WM_TEMPLATE_ASSEMBLE_GROUPID" val="606570814054ed1e2fb816a1"/>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7388_1*i*3"/>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VALUE" val="0"/>
  <p:tag name="KSO_WM_TEMPLATE_ASSEMBLE_XID" val="606570814054ed1e2fb816a1"/>
  <p:tag name="KSO_WM_TEMPLATE_ASSEMBLE_GROUPID" val="606570814054ed1e2fb816a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7388_1*i*4"/>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FILL_FORE_SCHEMECOLOR_INDEX_BRIGHTNESS" val="0"/>
  <p:tag name="KSO_WM_UNIT_FILL_FORE_SCHEMECOLOR_INDEX" val="5"/>
  <p:tag name="KSO_WM_UNIT_FILL_TYPE" val="1"/>
  <p:tag name="KSO_WM_UNIT_VALUE" val="0"/>
  <p:tag name="KSO_WM_TEMPLATE_ASSEMBLE_XID" val="606570814054ed1e2fb816a1"/>
  <p:tag name="KSO_WM_TEMPLATE_ASSEMBLE_GROUPID" val="606570814054ed1e2fb816a1"/>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7388_1*i*5"/>
  <p:tag name="KSO_WM_TEMPLATE_CATEGORY" val="diagram"/>
  <p:tag name="KSO_WM_TEMPLATE_INDEX" val="20217388"/>
  <p:tag name="KSO_WM_UNIT_LAYERLEVEL" val="1"/>
  <p:tag name="KSO_WM_TAG_VERSION" val="1.0"/>
  <p:tag name="KSO_WM_BEAUTIFY_FLAG" val="#wm#"/>
  <p:tag name="KSO_WM_CHIP_GROUPID" val="5fd07e214d383dce34166718"/>
  <p:tag name="KSO_WM_CHIP_XID" val="5fd07e214d383dce34166719"/>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2"/>
  <p:tag name="KSO_WM_UNIT_TEXT_FILL_TYPE" val="1"/>
  <p:tag name="KSO_WM_UNIT_VALUE" val="0"/>
  <p:tag name="KSO_WM_TEMPLATE_ASSEMBLE_XID" val="606570814054ed1e2fb816a1"/>
  <p:tag name="KSO_WM_TEMPLATE_ASSEMBLE_GROUPID" val="606570814054ed1e2fb816a1"/>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9527"/>
  <p:tag name="KSO_WM_SLIDE_ID" val="diagram2020952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SLIDE_LAYOUT" val="d"/>
  <p:tag name="KSO_WM_SLIDE_LAYOUT_CNT" val="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3-12-15T23:27:03&quot;,&quot;maxSize&quot;:{&quot;size1&quot;:2.310280974926772},&quot;minSize&quot;:{&quot;size1&quot;:2.310280974926772},&quot;normalSize&quot;:{&quot;size1&quot;:2.310280974926772},&quot;subLayout&quot;:[{&quot;id&quot;:&quot;2023-12-15T23:27:03&quot;,&quot;type&quot;:0},{&quot;id&quot;:&quot;2023-12-15T23:27:03&quot;,&quot;margin&quot;:{&quot;bottom&quot;:1.6929999589920044,&quot;left&quot;:1.6929999589920044,&quot;right&quot;:1.6929999589920044,&quot;top&quot;:1.2699999809265137},&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lm&quot;,&quot;text_direction&quot;:&quot;horizontal&quot;,&quot;support_features&quot;:[&quot;collage&quot;,&quot;carousel&quot;],&quot;support_big_font&quot;:false,&quot;picture_toward&quot;:0,&quot;picture_dockside&quot;:[],&quot;fill_id&quot;:&quot;05426f0b1077440ebd8848530286d431&quot;,&quot;fill_align&quot;:&quot;cm&quot;,&quot;chip_types&quot;:[&quot;diagram&quot;,&quot;pictext&quot;,&quot;text&quot;,&quot;picture&quot;,&quot;chart&quot;,&quot;table&quot;,&quot;video&quot;]}]]"/>
  <p:tag name="KSO_WM_SLIDE_SIZE" val="864*324"/>
  <p:tag name="KSO_WM_SLIDE_POSITION" val="47*107"/>
  <p:tag name="KSO_WM_CHIP_XID" val="5f20142fc4814ce96fb1281b"/>
  <p:tag name="KSO_WM_CHIP_DECFILLPROP" val="[]"/>
  <p:tag name="KSO_WM_CHIP_GROUPID" val="5f20142fc4814ce96fb1281a"/>
  <p:tag name="KSO_WM_SLIDE_BACKGROUND_TYPE" val="general"/>
  <p:tag name="KSO_WM_SLIDE_SUPPORT_FEATURE_TYPE" val="3"/>
  <p:tag name="KSO_WM_TEMPLATE_ASSEMBLE_XID" val="60656e904054ed1e2fb7fb93"/>
  <p:tag name="KSO_WM_TEMPLATE_ASSEMBLE_GROUPID" val="60656e904054ed1e2fb7fb93"/>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3*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5"/>
  <p:tag name="KSO_WM_UNIT_DEC_AREA_ID" val="2766060b6f2d4743a4721cfd3dee5688"/>
  <p:tag name="KSO_WM_UNIT_DECORATE_INFO" val=""/>
  <p:tag name="KSO_WM_UNIT_SM_LIMIT_TYPE" val=""/>
  <p:tag name="KSO_WM_CHIP_FILLAREA_FILL_RULE" val="{&quot;fill_align&quot;:&quot;cm&quot;,&quot;fill_effect&quot;:[],&quot;fill_mode&quot;:&quot;full&quot;,&quot;sacle_strategy&quot;:&quot;stretch&quot;}"/>
  <p:tag name="KSO_WM_ASSEMBLE_CHIP_INDEX" val="f7421498c5984fd3b382e56cfefe44da"/>
  <p:tag name="KSO_WM_SLIDE_BACKGROUND_TYPE" val="general"/>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4*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6"/>
  <p:tag name="KSO_WM_UNIT_DEC_AREA_ID" val="ce1351e906b94b41bc85aad46ab80205"/>
  <p:tag name="KSO_WM_UNIT_DECORATE_INFO" val=""/>
  <p:tag name="KSO_WM_UNIT_SM_LIMIT_TYPE" val=""/>
  <p:tag name="KSO_WM_CHIP_FILLAREA_FILL_RULE" val="{&quot;fill_align&quot;:&quot;cm&quot;,&quot;fill_effect&quot;:[],&quot;fill_mode&quot;:&quot;full&quot;,&quot;sacle_strategy&quot;:&quot;stretch&quot;}"/>
  <p:tag name="KSO_WM_ASSEMBLE_CHIP_INDEX" val="3f675911653346178f7ba5b9ca362953"/>
  <p:tag name="KSO_WM_SLIDE_BACKGROUND_TYPE" val="general"/>
</p:tagLst>
</file>

<file path=ppt/tags/tag153.xml><?xml version="1.0" encoding="utf-8"?>
<p:tagLst xmlns:a="http://schemas.openxmlformats.org/drawingml/2006/main" xmlns:r="http://schemas.openxmlformats.org/officeDocument/2006/relationships" xmlns:p="http://schemas.openxmlformats.org/presentationml/2006/main">
  <p:tag name="KSO_WM_UNIT_VALUE" val="1142*3046"/>
  <p:tag name="KSO_WM_UNIT_HIGHLIGHT" val="0"/>
  <p:tag name="KSO_WM_UNIT_COMPATIBLE" val="0"/>
  <p:tag name="KSO_WM_UNIT_DIAGRAM_ISNUMVISUAL" val="0"/>
  <p:tag name="KSO_WM_UNIT_DIAGRAM_ISREFERUNIT" val="0"/>
  <p:tag name="KSO_WM_UNIT_TYPE" val="d"/>
  <p:tag name="KSO_WM_UNIT_INDEX" val="1"/>
  <p:tag name="KSO_WM_UNIT_ID" val="diagram20209527_1*d*1"/>
  <p:tag name="KSO_WM_TEMPLATE_CATEGORY" val="diagram"/>
  <p:tag name="KSO_WM_TEMPLATE_INDEX" val="20209527"/>
  <p:tag name="KSO_WM_UNIT_LAYERLEVEL" val="1"/>
  <p:tag name="KSO_WM_TAG_VERSION" val="1.0"/>
  <p:tag name="KSO_WM_BEAUTIFY_FLAG" val="#wm#"/>
  <p:tag name="KSO_WM_CHIP_GROUPID" val="5e7310da9a230a26b9e88a19"/>
  <p:tag name="KSO_WM_CHIP_XID" val="5e7310da9a230a26b9e88a1a"/>
  <p:tag name="KSO_WM_UNIT_DEC_AREA_ID" val="437555d1b835431c829775a5b1f76d6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1e7be60216245b399ecb640bacdb779"/>
  <p:tag name="KSO_WM_UNIT_SUPPORT_UNIT_TYPE" val="[&quot;l&quot;,&quot;m&quot;,&quot;n&quot;,&quot;o&quot;,&quot;p&quot;,&quot;q&quot;,&quot;r&quot;,&quot;δ&quot;,&quot;ε&quot;,&quot;ζ&quot;,&quot;η&quot;,&quot;d&quot;,&quot;α&quot;,&quot;β&quot;,&quot;θ&quot;]"/>
  <p:tag name="KSO_WM_TEMPLATE_ASSEMBLE_XID" val="60656e904054ed1e2fb7fb93"/>
  <p:tag name="KSO_WM_TEMPLATE_ASSEMBLE_GROUPID" val="60656e904054ed1e2fb7fb93"/>
  <p:tag name="KSO_WM_UNIT_PICTURE_CLIP_FLAG" val="0"/>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672"/>
  <p:tag name="KSO_WM_SLIDE_ID" val="diagram2020367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12"/>
  <p:tag name="KSO_WM_SLIDE_POSITION" val="0*27"/>
  <p:tag name="KSO_WM_TAG_VERSION" val="1.0"/>
  <p:tag name="KSO_WM_SLIDE_LAYOUT" val="a_f"/>
  <p:tag name="KSO_WM_SLIDE_LAYOUT_CNT" val="1_1"/>
  <p:tag name="KSO_WM_SLIDE_BACKGROUND_TYPE" val="general"/>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3*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5"/>
  <p:tag name="KSO_WM_UNIT_DEC_AREA_ID" val="2766060b6f2d4743a4721cfd3dee5688"/>
  <p:tag name="KSO_WM_UNIT_DECORATE_INFO" val=""/>
  <p:tag name="KSO_WM_UNIT_SM_LIMIT_TYPE" val=""/>
  <p:tag name="KSO_WM_CHIP_FILLAREA_FILL_RULE" val="{&quot;fill_align&quot;:&quot;cm&quot;,&quot;fill_effect&quot;:[],&quot;fill_mode&quot;:&quot;full&quot;,&quot;sacle_strategy&quot;:&quot;stretch&quot;}"/>
  <p:tag name="KSO_WM_ASSEMBLE_CHIP_INDEX" val="f7421498c5984fd3b382e56cfefe44da"/>
  <p:tag name="KSO_WM_SLIDE_BACKGROUND_TYPE" val="general"/>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14674_4*i*1"/>
  <p:tag name="KSO_WM_TEMPLATE_CATEGORY" val="chip"/>
  <p:tag name="KSO_WM_TEMPLATE_INDEX" val="20214674"/>
  <p:tag name="KSO_WM_UNIT_LAYERLEVEL" val="1"/>
  <p:tag name="KSO_WM_TAG_VERSION" val="1.0"/>
  <p:tag name="KSO_WM_BEAUTIFY_FLAG" val="#wm#"/>
  <p:tag name="KSO_WM_CHIP_GROUPID" val="5f9f75dbe206d3a5ffe88742"/>
  <p:tag name="KSO_WM_CHIP_XID" val="5f9f75dbe206d3a5ffe88746"/>
  <p:tag name="KSO_WM_UNIT_DEC_AREA_ID" val="ce1351e906b94b41bc85aad46ab80205"/>
  <p:tag name="KSO_WM_UNIT_DECORATE_INFO" val=""/>
  <p:tag name="KSO_WM_UNIT_SM_LIMIT_TYPE" val=""/>
  <p:tag name="KSO_WM_CHIP_FILLAREA_FILL_RULE" val="{&quot;fill_align&quot;:&quot;cm&quot;,&quot;fill_effect&quot;:[],&quot;fill_mode&quot;:&quot;full&quot;,&quot;sacle_strategy&quot;:&quot;stretch&quot;}"/>
  <p:tag name="KSO_WM_ASSEMBLE_CHIP_INDEX" val="3f675911653346178f7ba5b9ca362953"/>
  <p:tag name="KSO_WM_SLIDE_BACKGROUND_TYPE" val="general"/>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672_1*i*1"/>
  <p:tag name="KSO_WM_TEMPLATE_CATEGORY" val="diagram"/>
  <p:tag name="KSO_WM_TEMPLATE_INDEX" val="20203672"/>
  <p:tag name="KSO_WM_UNIT_LAYERLEVEL" val="1"/>
  <p:tag name="KSO_WM_TAG_VERSION" val="1.0"/>
  <p:tag name="KSO_WM_BEAUTIFY_FLAG" val="#wm#"/>
  <p:tag name="KSO_WM_UNIT_FILL_FORE_SCHEMECOLOR_INDEX_BRIGHTNESS" val="-0.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672_1*i*2"/>
  <p:tag name="KSO_WM_TEMPLATE_CATEGORY" val="diagram"/>
  <p:tag name="KSO_WM_TEMPLATE_INDEX" val="20203672"/>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5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03672_1*a*1"/>
  <p:tag name="KSO_WM_TEMPLATE_CATEGORY" val="diagram"/>
  <p:tag name="KSO_WM_TEMPLATE_INDEX" val="20203672"/>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60.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正如我们都希望改变世界，希望给别人带去光明，但更多时候我们只需要播下一颗种子，自然有微风吹拂，雨露滋养。恰如其分的表达观点，往往事半功倍。&#10;当您的正文内容到达这个限度时，或许已经不纯粹作用于演示，极大可能运用于阅读领域；无论是传播观点、知识分享还是汇报工作，内容的详尽固然重要，但请一定注意信息框架的清晰，这样才能使内容层次分明，页面简洁易读。&#10;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VALUE" val="1144"/>
  <p:tag name="KSO_WM_UNIT_HIGHLIGHT" val="0"/>
  <p:tag name="KSO_WM_UNIT_COMPATIBLE" val="0"/>
  <p:tag name="KSO_WM_UNIT_DIAGRAM_ISNUMVISUAL" val="0"/>
  <p:tag name="KSO_WM_UNIT_DIAGRAM_ISREFERUNIT" val="0"/>
  <p:tag name="KSO_WM_UNIT_TYPE" val="f"/>
  <p:tag name="KSO_WM_UNIT_INDEX" val="1"/>
  <p:tag name="KSO_WM_UNIT_ID" val="diagram20203672_1*f*1"/>
  <p:tag name="KSO_WM_TEMPLATE_CATEGORY" val="diagram"/>
  <p:tag name="KSO_WM_TEMPLATE_INDEX" val="20203672"/>
  <p:tag name="KSO_WM_UNIT_LAYERLEVEL" val="1"/>
  <p:tag name="KSO_WM_TAG_VERSION" val="1.0"/>
  <p:tag name="KSO_WM_BEAUTIFY_FLAG" val="#wm#"/>
  <p:tag name="KSO_WM_UNIT_TEXT_FILL_FORE_SCHEMECOLOR_INDEX_BRIGHTNESS" val="0.05"/>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72_1*i*3"/>
  <p:tag name="KSO_WM_TEMPLATE_CATEGORY" val="diagram"/>
  <p:tag name="KSO_WM_TEMPLATE_INDEX" val="20203672"/>
  <p:tag name="KSO_WM_UNIT_LAYERLEVEL" val="1"/>
  <p:tag name="KSO_WM_TAG_VERSION" val="1.0"/>
  <p:tag name="KSO_WM_BEAUTIFY_FLAG" val="#wm#"/>
  <p:tag name="KSO_WM_UNIT_FILL_FORE_SCHEMECOLOR_INDEX_BRIGHTNESS" val="-0.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672"/>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672"/>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124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5d8e478fb0c58a93f0"/>
  <p:tag name="KSO_WM_SLIDE_ID" val="diagram20211240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07"/>
  <p:tag name="KSO_WM_SLIDE_POSITION" val="0*0"/>
  <p:tag name="KSO_WM_TAG_VERSION" val="1.0"/>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big_font&quot;:false,&quot;picture_toward&quot;:0,&quot;picture_dockside&quot;:[],&quot;fill_id&quot;:&quot;d2ad3a6e3730411899b8d771a1ca619d&quot;,&quot;fill_align&quot;:&quot;cm&quot;,&quot;chip_types&quot;:[&quot;text&quot;,&quot;picture&quot;,&quot;chart&quot;,&quot;table&quot;,&quot;video&quot;]}]]"/>
  <p:tag name="KSO_WM_SLIDE_LAYOUT" val="a_d"/>
  <p:tag name="KSO_WM_SLIDE_LAYOUT_CNT" val="1_1"/>
  <p:tag name="KSO_WM_CHIP_GROUPID" val="5f5ee1ca4d6848d78f644aeb"/>
  <p:tag name="KSO_WM_SLIDE_BK_DARK_LIGHT" val="2"/>
  <p:tag name="KSO_WM_SLIDE_BACKGROUND_TYPE" val="navigation"/>
  <p:tag name="KSO_WM_SLIDE_SUPPORT_FEATURE_TYPE" val="0"/>
  <p:tag name="KSO_WM_TEMPLATE_ASSEMBLE_XID" val="639af7e80c9383becde6942e"/>
  <p:tag name="KSO_WM_TEMPLATE_ASSEMBLE_GROUPID" val="639af7e80c9383becde6942e"/>
  <p:tag name="KSO_WM_SLIDE_LAYOUT_INFO" val="{&quot;id&quot;:&quot;2022-12-15T18:33:12&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15T18:33:12&quot;,&quot;margin&quot;:{&quot;bottom&quot;:0.4270000159740448,&quot;left&quot;:1.2649999856948853,&quot;right&quot;:1.274999976158142,&quot;top&quot;:0.41999998688697815},&quot;type&quot;:0},{&quot;id&quot;:&quot;2022-12-15T18:33:12&quot;,&quot;margin&quot;:{&quot;bottom&quot;:2.9629998207092285,&quot;left&quot;:3.809999942779541,&quot;right&quot;:3.809999942779541,&quot;top&quot;:3.38700008392334},&quot;type&quot;:0}],&quot;type&quot;:0}"/>
  <p:tag name="FIXED_XID_TMP" val="5f5ee1ca4d6848d78f644aeb"/>
  <p:tag name="KSO_WM_CHIP_DECFILLPROP" val="[]"/>
</p:tagLst>
</file>

<file path=ppt/tags/tag18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0_1*a*1"/>
  <p:tag name="KSO_WM_TEMPLATE_CATEGORY" val="diagram"/>
  <p:tag name="KSO_WM_TEMPLATE_INDEX" val="20211240"/>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4c28d35372ce49f29a46a72f30d4b1c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0b79a60f86304bcc8310c404c7c59987"/>
  <p:tag name="KSO_WM_UNIT_TEXT_FILL_FORE_SCHEMECOLOR_INDEX_BRIGHTNESS" val="0"/>
  <p:tag name="KSO_WM_UNIT_TEXT_FILL_FORE_SCHEMECOLOR_INDEX" val="13"/>
  <p:tag name="KSO_WM_UNIT_TEXT_FILL_TYPE" val="1"/>
  <p:tag name="KSO_WM_TEMPLATE_ASSEMBLE_XID" val="639af7e80c9383becde6942e"/>
  <p:tag name="KSO_WM_TEMPLATE_ASSEMBLE_GROUPID" val="639af7e80c9383becde6942e"/>
</p:tagLst>
</file>

<file path=ppt/tags/tag186.xml><?xml version="1.0" encoding="utf-8"?>
<p:tagLst xmlns:a="http://schemas.openxmlformats.org/drawingml/2006/main" xmlns:r="http://schemas.openxmlformats.org/officeDocument/2006/relationships" xmlns:p="http://schemas.openxmlformats.org/presentationml/2006/main">
  <p:tag name="KSO_WM_UNIT_VALUE" val="635*2284"/>
  <p:tag name="KSO_WM_UNIT_HIGHLIGHT" val="0"/>
  <p:tag name="KSO_WM_UNIT_COMPATIBLE" val="0"/>
  <p:tag name="KSO_WM_UNIT_DIAGRAM_ISNUMVISUAL" val="0"/>
  <p:tag name="KSO_WM_UNIT_DIAGRAM_ISREFERUNIT" val="0"/>
  <p:tag name="KSO_WM_UNIT_TYPE" val="d"/>
  <p:tag name="KSO_WM_UNIT_INDEX" val="1"/>
  <p:tag name="KSO_WM_UNIT_ID" val="diagram20211240_1*d*1"/>
  <p:tag name="KSO_WM_TEMPLATE_CATEGORY" val="diagram"/>
  <p:tag name="KSO_WM_TEMPLATE_INDEX" val="20211240"/>
  <p:tag name="KSO_WM_UNIT_LAYERLEVEL" val="1"/>
  <p:tag name="KSO_WM_TAG_VERSION" val="1.0"/>
  <p:tag name="KSO_WM_BEAUTIFY_FLAG" val="#wm#"/>
  <p:tag name="KSO_WM_CHIP_GROUPID" val="5e7310da9a230a26b9e88a19"/>
  <p:tag name="KSO_WM_CHIP_XID" val="5e7310da9a230a26b9e88a1a"/>
  <p:tag name="KSO_WM_UNIT_DEC_AREA_ID" val="6b44609149e049138e186109d1fbbc4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85bd05b597344fb87e8c8902849fc81"/>
  <p:tag name="KSO_WM_UNIT_SUPPORT_UNIT_TYPE" val="[&quot;d&quot;,&quot;α&quot;,&quot;β&quot;,&quot;θ&quot;]"/>
  <p:tag name="KSO_WM_TEMPLATE_ASSEMBLE_XID" val="639af7e80c9383becde6942e"/>
  <p:tag name="KSO_WM_TEMPLATE_ASSEMBLE_GROUPID" val="639af7e80c9383becde6942e"/>
  <p:tag name="KSO_WM_UNIT_PICTURE_CLIP_FLAG" val="0"/>
</p:tagLst>
</file>

<file path=ppt/tags/tag18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21_1*a*1"/>
  <p:tag name="KSO_WM_TEMPLATE_CATEGORY" val="diagram"/>
  <p:tag name="KSO_WM_TEMPLATE_INDEX" val="20215821"/>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d6967b7cbfdd49db98dac943c921b42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bfbb0fc61064a90acaa69246cc83bf9"/>
  <p:tag name="KSO_WM_UNIT_TEXT_FILL_FORE_SCHEMECOLOR_INDEX_BRIGHTNESS" val="0"/>
  <p:tag name="KSO_WM_UNIT_TEXT_FILL_FORE_SCHEMECOLOR_INDEX" val="13"/>
  <p:tag name="KSO_WM_UNIT_TEXT_FILL_TYPE" val="1"/>
  <p:tag name="KSO_WM_TEMPLATE_ASSEMBLE_XID" val="60656fc04054ed1e2fb80fac"/>
  <p:tag name="KSO_WM_TEMPLATE_ASSEMBLE_GROUPID" val="60656fc04054ed1e2fb80fac"/>
</p:tagLst>
</file>

<file path=ppt/tags/tag188.xml><?xml version="1.0" encoding="utf-8"?>
<p:tagLst xmlns:a="http://schemas.openxmlformats.org/drawingml/2006/main" xmlns:r="http://schemas.openxmlformats.org/officeDocument/2006/relationships" xmlns:p="http://schemas.openxmlformats.org/presentationml/2006/main">
  <p:tag name="KSO_WM_UNIT_VALUE" val="1311*1269"/>
  <p:tag name="KSO_WM_UNIT_HIGHLIGHT" val="0"/>
  <p:tag name="KSO_WM_UNIT_COMPATIBLE" val="1"/>
  <p:tag name="KSO_WM_UNIT_DIAGRAM_ISNUMVISUAL" val="0"/>
  <p:tag name="KSO_WM_UNIT_DIAGRAM_ISREFERUNIT" val="0"/>
  <p:tag name="KSO_WM_UNIT_TYPE" val="d"/>
  <p:tag name="KSO_WM_UNIT_INDEX" val="1"/>
  <p:tag name="KSO_WM_UNIT_ID" val="diagram20215821_1*d*1"/>
  <p:tag name="KSO_WM_TEMPLATE_CATEGORY" val="diagram"/>
  <p:tag name="KSO_WM_TEMPLATE_INDEX" val="20215821"/>
  <p:tag name="KSO_WM_UNIT_LAYERLEVEL" val="1"/>
  <p:tag name="KSO_WM_TAG_VERSION" val="1.0"/>
  <p:tag name="KSO_WM_BEAUTIFY_FLAG" val=""/>
  <p:tag name="KSO_WM_CHIP_GROUPID" val="5e7310da9a230a26b9e88a19"/>
  <p:tag name="KSO_WM_CHIP_XID" val="5e7310da9a230a26b9e88a1a"/>
  <p:tag name="KSO_WM_UNIT_DEC_AREA_ID" val="72724b5f8f7d49fd87ad8a10f5f2704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70633e9b5804ede9614deac90e3a027"/>
  <p:tag name="KSO_WM_UNIT_SUPPORT_UNIT_TYPE" val="[&quot;l&quot;,&quot;m&quot;,&quot;n&quot;,&quot;o&quot;,&quot;p&quot;,&quot;q&quot;,&quot;r&quot;,&quot;δ&quot;,&quot;ε&quot;,&quot;ζ&quot;,&quot;η&quot;,&quot;d&quot;,&quot;α&quot;,&quot;β&quot;,&quot;θ&quot;]"/>
  <p:tag name="KSO_WM_TEMPLATE_ASSEMBLE_XID" val="60656fc04054ed1e2fb80fac"/>
  <p:tag name="KSO_WM_TEMPLATE_ASSEMBLE_GROUPID" val="60656fc04054ed1e2fb80fac"/>
  <p:tag name="KSO_WM_UNIT_PICTURE_CLIP_FLAG" val="0"/>
</p:tagLst>
</file>

<file path=ppt/tags/tag18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21_1*f*1"/>
  <p:tag name="KSO_WM_TEMPLATE_CATEGORY" val="diagram"/>
  <p:tag name="KSO_WM_TEMPLATE_INDEX" val="20215821"/>
  <p:tag name="KSO_WM_UNIT_LAYERLEVEL" val="1"/>
  <p:tag name="KSO_WM_TAG_VERSION" val="1.0"/>
  <p:tag name="KSO_WM_BEAUTIFY_FLAG" val=""/>
  <p:tag name="KSO_WM_UNIT_DEFAULT_FONT" val="14;20;2"/>
  <p:tag name="KSO_WM_UNIT_BLOCK" val="0"/>
  <p:tag name="KSO_WM_UNIT_VALUE" val="92"/>
  <p:tag name="KSO_WM_UNIT_SHOW_EDIT_AREA_INDICATION" val="1"/>
  <p:tag name="KSO_WM_CHIP_GROUPID" val="5e6b05596848fb12bee65ac8"/>
  <p:tag name="KSO_WM_CHIP_XID" val="5e6b05596848fb12bee65aca"/>
  <p:tag name="KSO_WM_UNIT_DEC_AREA_ID" val="b2e0fc33c8fb4226b2c7912eabade10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f236953d9354eba87d4571f82370dc3"/>
  <p:tag name="KSO_WM_UNIT_TEXT_FILL_FORE_SCHEMECOLOR_INDEX_BRIGHTNESS" val="0.25"/>
  <p:tag name="KSO_WM_UNIT_TEXT_FILL_FORE_SCHEMECOLOR_INDEX" val="13"/>
  <p:tag name="KSO_WM_UNIT_TEXT_FILL_TYPE" val="1"/>
  <p:tag name="KSO_WM_TEMPLATE_ASSEMBLE_XID" val="60656fc04054ed1e2fb80fac"/>
  <p:tag name="KSO_WM_TEMPLATE_ASSEMBLE_GROUPID" val="60656fc04054ed1e2fb80fac"/>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1240"/>
</p:tagLst>
</file>

<file path=ppt/tags/tag191.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mixed20201883_46*a*1"/>
  <p:tag name="KSO_WM_TEMPLATE_CATEGORY" val="mixed"/>
  <p:tag name="KSO_WM_TEMPLATE_INDEX" val="20201883"/>
  <p:tag name="KSO_WM_UNIT_LAYERLEVEL" val="1"/>
  <p:tag name="KSO_WM_TAG_VERSION" val="1.0"/>
  <p:tag name="KSO_WM_BEAUTIFY_FLAG" val=""/>
  <p:tag name="KSO_WM_UNIT_TEXTBOXSTYLE_GUID" val="{d542ad84-542e-4e27-b10b-feef77ae9784}"/>
  <p:tag name="KSO_WM_UNIT_TEXTBOXSTYLE_TYPE" val="3"/>
  <p:tag name="KSO_WM_UNIT_TEXT_FILL_FORE_SCHEMECOLOR_INDEX_BRIGHTNESS" val="0.25"/>
  <p:tag name="KSO_WM_UNIT_TEXT_FILL_FORE_SCHEMECOLOR_INDEX" val="13"/>
  <p:tag name="KSO_WM_UNIT_TEXT_FILL_TYPE" val="1"/>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095,&quot;width&quot;:3570}"/>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419,&quot;width&quot;:9480}"/>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445,&quot;width&quot;:11505}"/>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1240"/>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938,&quot;width&quot;:8967}"/>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937,&quot;width&quot;:8745}"/>
</p:tagLst>
</file>

<file path=ppt/tags/tag202.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mixed20201883_46*a*1"/>
  <p:tag name="KSO_WM_TEMPLATE_CATEGORY" val="mixed"/>
  <p:tag name="KSO_WM_TEMPLATE_INDEX" val="20201883"/>
  <p:tag name="KSO_WM_UNIT_LAYERLEVEL" val="1"/>
  <p:tag name="KSO_WM_TAG_VERSION" val="1.0"/>
  <p:tag name="KSO_WM_BEAUTIFY_FLAG" val=""/>
  <p:tag name="KSO_WM_UNIT_TEXTBOXSTYLE_GUID" val="{aebff388-a0dd-44de-8d15-c99d665beb2d}"/>
  <p:tag name="KSO_WM_UNIT_TEXTBOXSTYLE_TYPE" val="3"/>
  <p:tag name="KSO_WM_UNIT_TEXT_FILL_FORE_SCHEMECOLOR_INDEX_BRIGHTNESS" val="0.25"/>
  <p:tag name="KSO_WM_UNIT_TEXT_FILL_FORE_SCHEMECOLOR_INDEX" val="13"/>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1155,&quot;width&quot;:3510}"/>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wm#"/>
  <p:tag name="KSO_WM_UNIT_PRESET_TEXT" val="单击此处添加文本"/>
</p:tagLst>
</file>

<file path=ppt/tags/tag8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58_8*f*1"/>
  <p:tag name="KSO_WM_TEMPLATE_CATEGORY" val="custom"/>
  <p:tag name="KSO_WM_TEMPLATE_INDEX" val="20230258"/>
  <p:tag name="KSO_WM_UNIT_LAYERLEVEL" val="1"/>
  <p:tag name="KSO_WM_TAG_VERSION" val="1.0"/>
  <p:tag name="KSO_WM_BEAUTIFY_FLAG" val="#wm#"/>
  <p:tag name="KSO_WM_UNIT_PRESET_TEXT" val="单击此处添加文本"/>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5178</Words>
  <Application>Microsoft Office PowerPoint</Application>
  <PresentationFormat>宽屏</PresentationFormat>
  <Paragraphs>360</Paragraphs>
  <Slides>85</Slides>
  <Notes>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85</vt:i4>
      </vt:variant>
    </vt:vector>
  </HeadingPairs>
  <TitlesOfParts>
    <vt:vector size="101" baseType="lpstr">
      <vt:lpstr>MS Mincho</vt:lpstr>
      <vt:lpstr>等线 Light</vt:lpstr>
      <vt:lpstr>方正粗黑宋简体</vt:lpstr>
      <vt:lpstr>汉仪旗黑-85S</vt:lpstr>
      <vt:lpstr>思源黑体 Regular</vt:lpstr>
      <vt:lpstr>宋体</vt:lpstr>
      <vt:lpstr>微软雅黑</vt:lpstr>
      <vt:lpstr>字由点字典黑 45J</vt:lpstr>
      <vt:lpstr>字由点字典黑 65J</vt:lpstr>
      <vt:lpstr>字由点字典黑 65J Bold</vt:lpstr>
      <vt:lpstr>Arial</vt:lpstr>
      <vt:lpstr>Calibri</vt:lpstr>
      <vt:lpstr>Calibri Light</vt:lpstr>
      <vt:lpstr>Cambria Math</vt:lpstr>
      <vt:lpstr>Wingdings</vt:lpstr>
      <vt:lpstr>WPS</vt:lpstr>
      <vt:lpstr>PowerPoint 演示文稿</vt:lpstr>
      <vt:lpstr>PowerPoint 演示文稿</vt:lpstr>
      <vt:lpstr>1.1.1 集合与实数</vt:lpstr>
      <vt:lpstr>1.1.2 变量与函数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数列概念</vt:lpstr>
      <vt:lpstr>数列的收敛与有界</vt:lpstr>
      <vt:lpstr>数列极限的性质</vt:lpstr>
      <vt:lpstr>数列的收敛判断法</vt:lpstr>
      <vt:lpstr>PowerPoint 演示文稿</vt:lpstr>
      <vt:lpstr>2.2 函数的极限</vt:lpstr>
      <vt:lpstr>PowerPoint 演示文稿</vt:lpstr>
      <vt:lpstr>PowerPoint 演示文稿</vt:lpstr>
      <vt:lpstr>PowerPoint 演示文稿</vt:lpstr>
      <vt:lpstr>PowerPoint 演示文稿</vt:lpstr>
      <vt:lpstr>PowerPoint 演示文稿</vt:lpstr>
      <vt:lpstr>2.3 无穷大量与无穷小量</vt:lpstr>
      <vt:lpstr>PowerPoint 演示文稿</vt:lpstr>
      <vt:lpstr>PowerPoint 演示文稿</vt:lpstr>
      <vt:lpstr>PowerPoint 演示文稿</vt:lpstr>
      <vt:lpstr>一、定义篇</vt:lpstr>
      <vt:lpstr>PowerPoint 演示文稿</vt:lpstr>
      <vt:lpstr>PowerPoint 演示文稿</vt:lpstr>
      <vt:lpstr>PowerPoint 演示文稿</vt:lpstr>
      <vt:lpstr>PowerPoint 演示文稿</vt:lpstr>
      <vt:lpstr>PowerPoint 演示文稿</vt:lpstr>
      <vt:lpstr>导数的定义</vt:lpstr>
      <vt:lpstr>对于导数的一些个人理解</vt:lpstr>
      <vt:lpstr>导数定义中的主要题型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3.4隐函数及用参数表示的函数的微分法</vt:lpstr>
      <vt:lpstr>3.4隐函数及用参数表示的函数的微分法</vt:lpstr>
      <vt:lpstr>3.4隐函数及用参数表示的函数的微分法</vt:lpstr>
      <vt:lpstr>3.4隐函数及用参数表示的函数的微分法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4.3  泰勒公式</vt:lpstr>
      <vt:lpstr>1.泰勒公式的2种余项 </vt:lpstr>
      <vt:lpstr>PowerPoint 演示文稿</vt:lpstr>
      <vt:lpstr>PowerPoint 演示文稿</vt:lpstr>
      <vt:lpstr>2.常用函数的麦克劳林展开 </vt:lpstr>
      <vt:lpstr>3.泰勒公式求极限 </vt:lpstr>
      <vt:lpstr>PowerPoint 演示文稿</vt:lpstr>
      <vt:lpstr>4.有关泰勒公式的简单证明题  Taylor公式求高阶导数，对比系数法                                 Taylor与绝对值不等式</vt:lpstr>
      <vt:lpstr>不可积分，先放缩，再用介值定理                         在信息最丰富的点展开（鸿哥说的）                                       </vt:lpstr>
      <vt:lpstr>在哪个点展开好判断，但是，是放在左边还是右边？看下面2个例题吧</vt:lpstr>
      <vt:lpstr>特别鸣谢：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Zhimin Lu</cp:lastModifiedBy>
  <cp:revision>159</cp:revision>
  <dcterms:created xsi:type="dcterms:W3CDTF">2019-06-19T02:08:00Z</dcterms:created>
  <dcterms:modified xsi:type="dcterms:W3CDTF">2023-12-27T07:06:33Z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625290D8D02A4E85A343739717091175_11</vt:lpwstr>
  </property>
</Properties>
</file>