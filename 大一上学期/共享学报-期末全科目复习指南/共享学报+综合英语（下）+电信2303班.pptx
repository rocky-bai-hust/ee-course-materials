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72"/>
  </p:notesMasterIdLst>
  <p:sldIdLst>
    <p:sldId id="336" r:id="rId2"/>
    <p:sldId id="337" r:id="rId3"/>
    <p:sldId id="338" r:id="rId4"/>
    <p:sldId id="339" r:id="rId5"/>
    <p:sldId id="340" r:id="rId6"/>
    <p:sldId id="341" r:id="rId7"/>
    <p:sldId id="342" r:id="rId8"/>
    <p:sldId id="343" r:id="rId9"/>
    <p:sldId id="344" r:id="rId10"/>
    <p:sldId id="345" r:id="rId11"/>
    <p:sldId id="346" r:id="rId12"/>
    <p:sldId id="347" r:id="rId13"/>
    <p:sldId id="348" r:id="rId14"/>
    <p:sldId id="349" r:id="rId15"/>
    <p:sldId id="350" r:id="rId16"/>
    <p:sldId id="351" r:id="rId17"/>
    <p:sldId id="352" r:id="rId18"/>
    <p:sldId id="353" r:id="rId19"/>
    <p:sldId id="354" r:id="rId20"/>
    <p:sldId id="356" r:id="rId21"/>
    <p:sldId id="358" r:id="rId22"/>
    <p:sldId id="359" r:id="rId23"/>
    <p:sldId id="360" r:id="rId24"/>
    <p:sldId id="361" r:id="rId25"/>
    <p:sldId id="362" r:id="rId26"/>
    <p:sldId id="363" r:id="rId27"/>
    <p:sldId id="364" r:id="rId28"/>
    <p:sldId id="365" r:id="rId29"/>
    <p:sldId id="366" r:id="rId30"/>
    <p:sldId id="367" r:id="rId31"/>
    <p:sldId id="368" r:id="rId32"/>
    <p:sldId id="369" r:id="rId33"/>
    <p:sldId id="370" r:id="rId34"/>
    <p:sldId id="371" r:id="rId35"/>
    <p:sldId id="372" r:id="rId36"/>
    <p:sldId id="373" r:id="rId37"/>
    <p:sldId id="374" r:id="rId38"/>
    <p:sldId id="375" r:id="rId39"/>
    <p:sldId id="376" r:id="rId40"/>
    <p:sldId id="377" r:id="rId41"/>
    <p:sldId id="378" r:id="rId42"/>
    <p:sldId id="379" r:id="rId43"/>
    <p:sldId id="380" r:id="rId44"/>
    <p:sldId id="381" r:id="rId45"/>
    <p:sldId id="382" r:id="rId46"/>
    <p:sldId id="383" r:id="rId47"/>
    <p:sldId id="384" r:id="rId48"/>
    <p:sldId id="385" r:id="rId49"/>
    <p:sldId id="386" r:id="rId50"/>
    <p:sldId id="387" r:id="rId51"/>
    <p:sldId id="388" r:id="rId52"/>
    <p:sldId id="389" r:id="rId53"/>
    <p:sldId id="390" r:id="rId54"/>
    <p:sldId id="391" r:id="rId55"/>
    <p:sldId id="392" r:id="rId56"/>
    <p:sldId id="393" r:id="rId57"/>
    <p:sldId id="394" r:id="rId58"/>
    <p:sldId id="395" r:id="rId59"/>
    <p:sldId id="396" r:id="rId60"/>
    <p:sldId id="397" r:id="rId61"/>
    <p:sldId id="398" r:id="rId62"/>
    <p:sldId id="399" r:id="rId63"/>
    <p:sldId id="400" r:id="rId64"/>
    <p:sldId id="401" r:id="rId65"/>
    <p:sldId id="402" r:id="rId66"/>
    <p:sldId id="403" r:id="rId67"/>
    <p:sldId id="404" r:id="rId68"/>
    <p:sldId id="405" r:id="rId69"/>
    <p:sldId id="406" r:id="rId70"/>
    <p:sldId id="407" r:id="rId71"/>
  </p:sldIdLst>
  <p:sldSz cx="9144000" cy="6858000" type="screen4x3"/>
  <p:notesSz cx="6858000" cy="9144000"/>
  <p:custDataLst>
    <p:tags r:id="rId73"/>
  </p:custDataLst>
  <p:defaultTextStyle>
    <a:defPPr>
      <a:defRPr lang="ru-RU"/>
    </a:defPPr>
    <a:lvl1pPr marL="0" lvl="0" indent="0" algn="l" defTabSz="914400" rtl="0" eaLnBrk="1" fontAlgn="base" latinLnBrk="0" hangingPunct="1">
      <a:lnSpc>
        <a:spcPct val="100000"/>
      </a:lnSpc>
      <a:spcBef>
        <a:spcPct val="0"/>
      </a:spcBef>
      <a:spcAft>
        <a:spcPct val="0"/>
      </a:spcAft>
      <a:buSzPct val="100000"/>
      <a:buNone/>
      <a:defRPr b="0" i="0" u="none" kern="120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SzPct val="100000"/>
      <a:buFontTx/>
      <a:buNone/>
      <a:defRPr sz="1800" b="0" i="0" u="none" kern="12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SzPct val="100000"/>
      <a:buFontTx/>
      <a:buNone/>
      <a:defRPr sz="1800" b="0" i="0" u="none" kern="12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SzPct val="100000"/>
      <a:buFontTx/>
      <a:buNone/>
      <a:defRPr sz="1800" b="0" i="0" u="none" kern="12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SzPct val="100000"/>
      <a:buFontTx/>
      <a:buNone/>
      <a:defRPr sz="1800" b="0" i="0" u="none" kern="12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ClrTx/>
      <a:buSzPct val="100000"/>
      <a:buFontTx/>
      <a:buNone/>
      <a:defRPr sz="1800" b="0" i="0" u="none" kern="12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ClrTx/>
      <a:buSzPct val="100000"/>
      <a:buFontTx/>
      <a:buNone/>
      <a:defRPr sz="1800" b="0" i="0" u="none" kern="12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ClrTx/>
      <a:buSzPct val="100000"/>
      <a:buFontTx/>
      <a:buNone/>
      <a:defRPr sz="1800" b="0" i="0" u="none" kern="12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ClrTx/>
      <a:buSzPct val="100000"/>
      <a:buFontTx/>
      <a:buNone/>
      <a:defRPr sz="1800" b="0" i="0" u="none"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1" d="100"/>
          <a:sy n="81" d="100"/>
        </p:scale>
        <p:origin x="1498" y="58"/>
      </p:cViewPr>
      <p:guideLst>
        <p:guide orient="horz" pos="2139"/>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2023/12/26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5CFB072-F445-4A58-A337-BB3800F0A3CA}" type="slidenum">
              <a:rPr lang="zh-CN" altLang="en-US" smtClean="0"/>
              <a:t>63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组合 2049"/>
          <p:cNvGrpSpPr/>
          <p:nvPr/>
        </p:nvGrpSpPr>
        <p:grpSpPr>
          <a:xfrm>
            <a:off x="1658938" y="1600200"/>
            <a:ext cx="6837362" cy="3200400"/>
            <a:chOff x="1045" y="1008"/>
            <a:chExt cx="4307" cy="2016"/>
          </a:xfrm>
        </p:grpSpPr>
        <p:sp>
          <p:nvSpPr>
            <p:cNvPr id="2051" name="椭圆 2050"/>
            <p:cNvSpPr/>
            <p:nvPr/>
          </p:nvSpPr>
          <p:spPr>
            <a:xfrm flipH="1">
              <a:off x="4392" y="1008"/>
              <a:ext cx="960" cy="960"/>
            </a:xfrm>
            <a:prstGeom prst="ellipse">
              <a:avLst/>
            </a:prstGeom>
            <a:solidFill>
              <a:srgbClr val="D9D8EC"/>
            </a:solidFill>
            <a:ln w="9525">
              <a:noFill/>
            </a:ln>
          </p:spPr>
          <p:txBody>
            <a:bodyPr wrap="none" anchor="ctr" anchorCtr="0"/>
            <a:lstStyle/>
            <a:p>
              <a:pPr lvl="0" algn="ctr"/>
              <a:endParaRPr sz="2400">
                <a:latin typeface="Times New Roman" panose="02020603050405020304" pitchFamily="18" charset="0"/>
              </a:endParaRPr>
            </a:p>
          </p:txBody>
        </p:sp>
        <p:sp>
          <p:nvSpPr>
            <p:cNvPr id="2052" name="椭圆 2051"/>
            <p:cNvSpPr/>
            <p:nvPr/>
          </p:nvSpPr>
          <p:spPr>
            <a:xfrm flipH="1">
              <a:off x="3264" y="1008"/>
              <a:ext cx="960" cy="960"/>
            </a:xfrm>
            <a:prstGeom prst="ellipse">
              <a:avLst/>
            </a:prstGeom>
            <a:solidFill>
              <a:srgbClr val="D9D8EC"/>
            </a:solidFill>
            <a:ln w="9525">
              <a:noFill/>
            </a:ln>
          </p:spPr>
          <p:txBody>
            <a:bodyPr wrap="none" anchor="ctr" anchorCtr="0"/>
            <a:lstStyle/>
            <a:p>
              <a:pPr lvl="0" algn="ctr"/>
              <a:endParaRPr sz="2400">
                <a:latin typeface="Times New Roman" panose="02020603050405020304" pitchFamily="18" charset="0"/>
              </a:endParaRPr>
            </a:p>
          </p:txBody>
        </p:sp>
        <p:sp>
          <p:nvSpPr>
            <p:cNvPr id="2053" name="椭圆 2052"/>
            <p:cNvSpPr/>
            <p:nvPr/>
          </p:nvSpPr>
          <p:spPr>
            <a:xfrm flipH="1">
              <a:off x="2136" y="1008"/>
              <a:ext cx="960" cy="960"/>
            </a:xfrm>
            <a:prstGeom prst="ellipse">
              <a:avLst/>
            </a:prstGeom>
            <a:noFill/>
            <a:ln w="28575" cap="flat" cmpd="sng">
              <a:solidFill>
                <a:srgbClr val="D9D8EC"/>
              </a:solidFill>
              <a:prstDash val="solid"/>
              <a:headEnd type="none" w="med" len="med"/>
              <a:tailEnd type="none" w="med" len="med"/>
            </a:ln>
          </p:spPr>
          <p:txBody>
            <a:bodyPr wrap="none" anchor="ctr" anchorCtr="0"/>
            <a:lstStyle/>
            <a:p>
              <a:pPr lvl="0" algn="ctr"/>
              <a:endParaRPr sz="2400">
                <a:latin typeface="Times New Roman" panose="02020603050405020304" pitchFamily="18" charset="0"/>
              </a:endParaRPr>
            </a:p>
          </p:txBody>
        </p:sp>
        <p:sp>
          <p:nvSpPr>
            <p:cNvPr id="2054" name="椭圆 2053"/>
            <p:cNvSpPr/>
            <p:nvPr/>
          </p:nvSpPr>
          <p:spPr>
            <a:xfrm flipH="1">
              <a:off x="2136" y="2064"/>
              <a:ext cx="960" cy="960"/>
            </a:xfrm>
            <a:prstGeom prst="ellipse">
              <a:avLst/>
            </a:prstGeom>
            <a:solidFill>
              <a:srgbClr val="D9D8EC"/>
            </a:solidFill>
            <a:ln w="28575">
              <a:noFill/>
            </a:ln>
          </p:spPr>
          <p:txBody>
            <a:bodyPr wrap="none" anchor="ctr" anchorCtr="0"/>
            <a:lstStyle/>
            <a:p>
              <a:pPr lvl="0" algn="ctr"/>
              <a:endParaRPr sz="2400">
                <a:latin typeface="Times New Roman" panose="02020603050405020304" pitchFamily="18" charset="0"/>
              </a:endParaRPr>
            </a:p>
          </p:txBody>
        </p:sp>
        <p:sp>
          <p:nvSpPr>
            <p:cNvPr id="2055" name="椭圆 2054"/>
            <p:cNvSpPr/>
            <p:nvPr/>
          </p:nvSpPr>
          <p:spPr>
            <a:xfrm flipH="1">
              <a:off x="1045" y="2064"/>
              <a:ext cx="960" cy="960"/>
            </a:xfrm>
            <a:prstGeom prst="ellipse">
              <a:avLst/>
            </a:prstGeom>
            <a:solidFill>
              <a:srgbClr val="D9D8EC"/>
            </a:solidFill>
            <a:ln w="9525">
              <a:noFill/>
            </a:ln>
          </p:spPr>
          <p:txBody>
            <a:bodyPr wrap="none" anchor="ctr" anchorCtr="0"/>
            <a:lstStyle/>
            <a:p>
              <a:pPr lvl="0" algn="ctr"/>
              <a:endParaRPr sz="2400">
                <a:latin typeface="Times New Roman" panose="02020603050405020304" pitchFamily="18" charset="0"/>
              </a:endParaRPr>
            </a:p>
          </p:txBody>
        </p:sp>
        <p:sp>
          <p:nvSpPr>
            <p:cNvPr id="2056" name="椭圆 2055"/>
            <p:cNvSpPr/>
            <p:nvPr/>
          </p:nvSpPr>
          <p:spPr>
            <a:xfrm flipH="1">
              <a:off x="4392" y="2064"/>
              <a:ext cx="960" cy="960"/>
            </a:xfrm>
            <a:prstGeom prst="ellipse">
              <a:avLst/>
            </a:prstGeom>
            <a:noFill/>
            <a:ln w="28575" cap="flat" cmpd="sng">
              <a:solidFill>
                <a:srgbClr val="D9D8EC"/>
              </a:solidFill>
              <a:prstDash val="solid"/>
              <a:headEnd type="none" w="med" len="med"/>
              <a:tailEnd type="none" w="med" len="med"/>
            </a:ln>
          </p:spPr>
          <p:txBody>
            <a:bodyPr wrap="none" anchor="ctr" anchorCtr="0"/>
            <a:lstStyle/>
            <a:p>
              <a:pPr lvl="0" algn="ctr"/>
              <a:endParaRPr sz="2400">
                <a:latin typeface="Times New Roman" panose="02020603050405020304" pitchFamily="18" charset="0"/>
              </a:endParaRPr>
            </a:p>
          </p:txBody>
        </p:sp>
      </p:grpSp>
      <p:sp>
        <p:nvSpPr>
          <p:cNvPr id="2057" name="日期占位符 2056"/>
          <p:cNvSpPr>
            <a:spLocks noGrp="1"/>
          </p:cNvSpPr>
          <p:nvPr>
            <p:ph type="dt" sz="half"/>
          </p:nvPr>
        </p:nvSpPr>
        <p:spPr>
          <a:xfrm>
            <a:off x="457200" y="6248400"/>
            <a:ext cx="2133600" cy="457200"/>
          </a:xfrm>
          <a:prstGeom prst="rect">
            <a:avLst/>
          </a:prstGeom>
          <a:noFill/>
          <a:ln w="9525">
            <a:noFill/>
          </a:ln>
        </p:spPr>
        <p:txBody>
          <a:bodyPr anchor="t" anchorCtr="0"/>
          <a:lstStyle>
            <a:lvl1pPr>
              <a:defRPr sz="1000"/>
            </a:lvl1pPr>
          </a:lstStyle>
          <a:p>
            <a:fld id="{BB962C8B-B14F-4D97-AF65-F5344CB8AC3E}" type="datetime1">
              <a:rPr lang="ru-RU"/>
              <a:t>26.12.2023</a:t>
            </a:fld>
            <a:endParaRPr lang="ru-RU"/>
          </a:p>
        </p:txBody>
      </p:sp>
      <p:sp>
        <p:nvSpPr>
          <p:cNvPr id="2058" name="页脚占位符 2057"/>
          <p:cNvSpPr>
            <a:spLocks noGrp="1"/>
          </p:cNvSpPr>
          <p:nvPr>
            <p:ph type="ftr" sz="quarter" idx="1"/>
          </p:nvPr>
        </p:nvSpPr>
        <p:spPr>
          <a:xfrm>
            <a:off x="3124200" y="6248400"/>
            <a:ext cx="2895600" cy="457200"/>
          </a:xfrm>
          <a:prstGeom prst="rect">
            <a:avLst/>
          </a:prstGeom>
          <a:noFill/>
          <a:ln w="9525">
            <a:noFill/>
          </a:ln>
        </p:spPr>
        <p:txBody>
          <a:bodyPr anchor="t" anchorCtr="0"/>
          <a:lstStyle>
            <a:lvl1pPr algn="ctr">
              <a:defRPr sz="1000"/>
            </a:lvl1pPr>
          </a:lstStyle>
          <a:p>
            <a:r>
              <a:rPr lang="en-US" altLang="zh-CN"/>
              <a:t>2021</a:t>
            </a:r>
          </a:p>
        </p:txBody>
      </p:sp>
      <p:sp>
        <p:nvSpPr>
          <p:cNvPr id="2059" name="灯片编号占位符 2058"/>
          <p:cNvSpPr>
            <a:spLocks noGrp="1"/>
          </p:cNvSpPr>
          <p:nvPr>
            <p:ph type="sldNum" sz="quarter" idx="2"/>
          </p:nvPr>
        </p:nvSpPr>
        <p:spPr>
          <a:xfrm>
            <a:off x="6553200" y="6248400"/>
            <a:ext cx="2133600" cy="457200"/>
          </a:xfrm>
          <a:prstGeom prst="rect">
            <a:avLst/>
          </a:prstGeom>
          <a:noFill/>
          <a:ln w="9525">
            <a:noFill/>
          </a:ln>
        </p:spPr>
        <p:txBody>
          <a:bodyPr anchor="t" anchorCtr="0"/>
          <a:lstStyle>
            <a:lvl1pPr algn="r">
              <a:defRPr sz="1000"/>
            </a:lvl1pPr>
          </a:lstStyle>
          <a:p>
            <a:fld id="{9A0DB2DC-4C9A-4742-B13C-FB6460FD3503}" type="slidenum">
              <a:rPr lang="ru-RU"/>
              <a:t>‹#›</a:t>
            </a:fld>
            <a:endParaRPr lang="ru-RU"/>
          </a:p>
        </p:txBody>
      </p:sp>
      <p:sp>
        <p:nvSpPr>
          <p:cNvPr id="2060" name="标题 2059"/>
          <p:cNvSpPr>
            <a:spLocks noGrp="1"/>
          </p:cNvSpPr>
          <p:nvPr>
            <p:ph type="ctrTitle" idx="3"/>
          </p:nvPr>
        </p:nvSpPr>
        <p:spPr>
          <a:xfrm>
            <a:off x="685800" y="1219200"/>
            <a:ext cx="7772400" cy="1933575"/>
          </a:xfrm>
          <a:prstGeom prst="rect">
            <a:avLst/>
          </a:prstGeom>
          <a:noFill/>
          <a:ln w="9525">
            <a:noFill/>
          </a:ln>
        </p:spPr>
        <p:txBody>
          <a:bodyPr anchor="b" anchorCtr="0"/>
          <a:lstStyle>
            <a:lvl1pPr marL="0" lvl="0" indent="0" algn="r" defTabSz="914400" rtl="0" eaLnBrk="1" fontAlgn="base" latinLnBrk="0" hangingPunct="1">
              <a:lnSpc>
                <a:spcPct val="100000"/>
              </a:lnSpc>
              <a:spcBef>
                <a:spcPct val="0"/>
              </a:spcBef>
              <a:spcAft>
                <a:spcPct val="0"/>
              </a:spcAft>
              <a:buClrTx/>
              <a:buSzPct val="100000"/>
              <a:buFontTx/>
              <a:buNone/>
              <a:defRPr sz="4400" b="0" i="0" u="none">
                <a:solidFill>
                  <a:schemeClr val="tx2"/>
                </a:solidFill>
                <a:latin typeface="Arial" panose="020B0604020202020204" pitchFamily="34" charset="0"/>
                <a:ea typeface="宋体" panose="02010600030101010101" pitchFamily="2" charset="-122"/>
              </a:defRPr>
            </a:lvl1pPr>
          </a:lstStyle>
          <a:p>
            <a:pPr lvl="0"/>
            <a:r>
              <a:rPr lang="zh-CN" altLang="en-US"/>
              <a:t>单击此处编辑母版标题样式</a:t>
            </a:r>
          </a:p>
        </p:txBody>
      </p:sp>
      <p:sp>
        <p:nvSpPr>
          <p:cNvPr id="2061" name="副标题 2060"/>
          <p:cNvSpPr>
            <a:spLocks noGrp="1"/>
          </p:cNvSpPr>
          <p:nvPr>
            <p:ph type="subTitle" idx="4"/>
          </p:nvPr>
        </p:nvSpPr>
        <p:spPr>
          <a:xfrm>
            <a:off x="2057400" y="3505200"/>
            <a:ext cx="6400800" cy="1752600"/>
          </a:xfrm>
          <a:prstGeom prst="rect">
            <a:avLst/>
          </a:prstGeom>
          <a:noFill/>
          <a:ln w="9525">
            <a:noFill/>
          </a:ln>
        </p:spPr>
        <p:txBody>
          <a:bodyPr anchor="t" anchorCtr="0"/>
          <a:lstStyle>
            <a:lvl1pPr marL="0" lvl="0" indent="0" algn="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defRPr sz="3200" b="0" i="0" u="none">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None/>
              <a:defRPr sz="2700" b="0" i="0" u="none">
                <a:solidFill>
                  <a:schemeClr val="tx1"/>
                </a:solidFill>
                <a:latin typeface="Arial" panose="020B0604020202020204" pitchFamily="34" charset="0"/>
                <a:ea typeface="宋体" panose="02010600030101010101" pitchFamily="2" charset="-122"/>
              </a:defRPr>
            </a:lvl2pPr>
            <a:lvl3pPr marL="914400" lvl="2"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defRPr sz="2300" b="0" i="0" u="none">
                <a:solidFill>
                  <a:schemeClr val="tx1"/>
                </a:solidFill>
                <a:latin typeface="Arial" panose="020B0604020202020204" pitchFamily="34" charset="0"/>
                <a:ea typeface="宋体" panose="02010600030101010101" pitchFamily="2" charset="-122"/>
              </a:defRPr>
            </a:lvl3pPr>
            <a:lvl4pPr marL="1371600" lvl="3" indent="0" algn="ctr" defTabSz="914400" rtl="0" eaLnBrk="1" fontAlgn="base" latinLnBrk="0" hangingPunct="1">
              <a:lnSpc>
                <a:spcPct val="100000"/>
              </a:lnSpc>
              <a:spcBef>
                <a:spcPct val="20000"/>
              </a:spcBef>
              <a:spcAft>
                <a:spcPct val="0"/>
              </a:spcAft>
              <a:buClr>
                <a:schemeClr val="accent1"/>
              </a:buClr>
              <a:buSzPct val="100000"/>
              <a:buFontTx/>
              <a:buNone/>
              <a:defRPr sz="2000" b="0" i="0" u="none">
                <a:solidFill>
                  <a:schemeClr val="tx1"/>
                </a:solidFill>
                <a:latin typeface="Arial" panose="020B0604020202020204" pitchFamily="34" charset="0"/>
                <a:ea typeface="宋体" panose="02010600030101010101" pitchFamily="2" charset="-122"/>
              </a:defRPr>
            </a:lvl4pPr>
            <a:lvl5pPr marL="1828800" lvl="4" indent="0" algn="ctr" defTabSz="914400" rtl="0" eaLnBrk="1" fontAlgn="base" latinLnBrk="0" hangingPunct="1">
              <a:lnSpc>
                <a:spcPct val="100000"/>
              </a:lnSpc>
              <a:spcBef>
                <a:spcPct val="20000"/>
              </a:spcBef>
              <a:spcAft>
                <a:spcPct val="0"/>
              </a:spcAft>
              <a:buClr>
                <a:schemeClr val="accent1"/>
              </a:buClr>
              <a:buSzPct val="100000"/>
              <a:buFont typeface="Wingdings" panose="05000000000000000000" pitchFamily="2" charset="2"/>
              <a:buNone/>
              <a:defRPr sz="2000" b="0" i="0" u="none">
                <a:solidFill>
                  <a:schemeClr val="tx1"/>
                </a:solidFill>
                <a:latin typeface="Arial" panose="020B0604020202020204" pitchFamily="34" charset="0"/>
                <a:ea typeface="宋体" panose="02010600030101010101" pitchFamily="2" charset="-122"/>
              </a:defRPr>
            </a:lvl5pPr>
          </a:lstStyle>
          <a:p>
            <a:pPr lvl="0"/>
            <a:r>
              <a:rPr lang="zh-CN" altLang="en-US"/>
              <a:t>单击此处编辑母版副标题样式</a:t>
            </a:r>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2504"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4296" y="1600200"/>
            <a:ext cx="4032504"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6" name="页脚占位符 5"/>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7" name="灯片编号占位符 6"/>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8" name="页脚占位符 7"/>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9" name="灯片编号占位符 8"/>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4" name="页脚占位符 3"/>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5" name="灯片编号占位符 4"/>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3" name="页脚占位符 2"/>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4" name="灯片编号占位符 3"/>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6" name="页脚占位符 5"/>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7" name="灯片编号占位符 6"/>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6" name="页脚占位符 5"/>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7" name="灯片编号占位符 6"/>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62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52930" cy="58562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5" name="页脚占位符 4"/>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6" name="灯片编号占位符 5"/>
          <p:cNvSpPr>
            <a:spLocks noGrp="1"/>
          </p:cNvSpPr>
          <p:nvPr>
            <p:ph type="sldNum" sz="quarter" idx="12"/>
          </p:nvPr>
        </p:nvSpPr>
        <p:spPr/>
        <p:txBody>
          <a:body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组合 1025"/>
          <p:cNvGrpSpPr/>
          <p:nvPr/>
        </p:nvGrpSpPr>
        <p:grpSpPr>
          <a:xfrm>
            <a:off x="1071563" y="304800"/>
            <a:ext cx="7615237" cy="1106488"/>
            <a:chOff x="675" y="192"/>
            <a:chExt cx="4797" cy="697"/>
          </a:xfrm>
        </p:grpSpPr>
        <p:sp>
          <p:nvSpPr>
            <p:cNvPr id="1027" name="椭圆 1026"/>
            <p:cNvSpPr/>
            <p:nvPr/>
          </p:nvSpPr>
          <p:spPr>
            <a:xfrm flipH="1">
              <a:off x="3067" y="192"/>
              <a:ext cx="696" cy="696"/>
            </a:xfrm>
            <a:prstGeom prst="ellipse">
              <a:avLst/>
            </a:prstGeom>
            <a:solidFill>
              <a:srgbClr val="D9D8EC"/>
            </a:solidFill>
            <a:ln w="28575">
              <a:noFill/>
            </a:ln>
          </p:spPr>
          <p:txBody>
            <a:bodyPr wrap="none" anchor="ctr" anchorCtr="0"/>
            <a:lstStyle/>
            <a:p>
              <a:pPr lvl="0" algn="ctr"/>
              <a:endParaRPr sz="2400">
                <a:latin typeface="Times New Roman" panose="02020603050405020304" pitchFamily="18" charset="0"/>
              </a:endParaRPr>
            </a:p>
          </p:txBody>
        </p:sp>
        <p:sp>
          <p:nvSpPr>
            <p:cNvPr id="1028" name="椭圆 1027"/>
            <p:cNvSpPr/>
            <p:nvPr/>
          </p:nvSpPr>
          <p:spPr>
            <a:xfrm flipH="1">
              <a:off x="4777" y="192"/>
              <a:ext cx="695" cy="696"/>
            </a:xfrm>
            <a:prstGeom prst="ellipse">
              <a:avLst/>
            </a:prstGeom>
            <a:solidFill>
              <a:srgbClr val="D9D8EC"/>
            </a:solidFill>
            <a:ln w="28575">
              <a:noFill/>
            </a:ln>
          </p:spPr>
          <p:txBody>
            <a:bodyPr wrap="none" anchor="ctr" anchorCtr="0"/>
            <a:lstStyle/>
            <a:p>
              <a:pPr lvl="0" algn="ctr"/>
              <a:endParaRPr sz="2400">
                <a:latin typeface="Times New Roman" panose="02020603050405020304" pitchFamily="18" charset="0"/>
              </a:endParaRPr>
            </a:p>
          </p:txBody>
        </p:sp>
        <p:sp>
          <p:nvSpPr>
            <p:cNvPr id="1029" name="椭圆 1028"/>
            <p:cNvSpPr/>
            <p:nvPr/>
          </p:nvSpPr>
          <p:spPr>
            <a:xfrm flipH="1">
              <a:off x="675" y="193"/>
              <a:ext cx="695" cy="696"/>
            </a:xfrm>
            <a:prstGeom prst="ellipse">
              <a:avLst/>
            </a:prstGeom>
            <a:solidFill>
              <a:srgbClr val="D9D8EC"/>
            </a:solidFill>
            <a:ln w="28575">
              <a:noFill/>
            </a:ln>
          </p:spPr>
          <p:txBody>
            <a:bodyPr wrap="none" anchor="ctr" anchorCtr="0"/>
            <a:lstStyle/>
            <a:p>
              <a:pPr lvl="0" algn="ctr"/>
              <a:endParaRPr sz="2400">
                <a:latin typeface="Times New Roman" panose="02020603050405020304" pitchFamily="18" charset="0"/>
              </a:endParaRPr>
            </a:p>
          </p:txBody>
        </p:sp>
        <p:sp>
          <p:nvSpPr>
            <p:cNvPr id="1030" name="椭圆 1029"/>
            <p:cNvSpPr/>
            <p:nvPr/>
          </p:nvSpPr>
          <p:spPr>
            <a:xfrm flipH="1">
              <a:off x="3984" y="192"/>
              <a:ext cx="695" cy="696"/>
            </a:xfrm>
            <a:prstGeom prst="ellipse">
              <a:avLst/>
            </a:prstGeom>
            <a:noFill/>
            <a:ln w="28575" cap="flat" cmpd="sng">
              <a:solidFill>
                <a:srgbClr val="D9D8EC"/>
              </a:solidFill>
              <a:prstDash val="solid"/>
              <a:headEnd type="none" w="med" len="med"/>
              <a:tailEnd type="none" w="med" len="med"/>
            </a:ln>
          </p:spPr>
          <p:txBody>
            <a:bodyPr wrap="none" anchor="ctr" anchorCtr="0"/>
            <a:lstStyle/>
            <a:p>
              <a:pPr lvl="0" algn="ctr"/>
              <a:endParaRPr sz="2400">
                <a:latin typeface="Times New Roman" panose="02020603050405020304" pitchFamily="18" charset="0"/>
              </a:endParaRPr>
            </a:p>
          </p:txBody>
        </p:sp>
        <p:sp>
          <p:nvSpPr>
            <p:cNvPr id="1031" name="椭圆 1030"/>
            <p:cNvSpPr/>
            <p:nvPr/>
          </p:nvSpPr>
          <p:spPr>
            <a:xfrm flipH="1">
              <a:off x="1486" y="192"/>
              <a:ext cx="695" cy="696"/>
            </a:xfrm>
            <a:prstGeom prst="ellipse">
              <a:avLst/>
            </a:prstGeom>
            <a:noFill/>
            <a:ln w="28575" cap="flat" cmpd="sng">
              <a:solidFill>
                <a:srgbClr val="D9D8EC"/>
              </a:solidFill>
              <a:prstDash val="solid"/>
              <a:headEnd type="none" w="med" len="med"/>
              <a:tailEnd type="none" w="med" len="med"/>
            </a:ln>
          </p:spPr>
          <p:txBody>
            <a:bodyPr wrap="none" anchor="ctr" anchorCtr="0"/>
            <a:lstStyle/>
            <a:p>
              <a:pPr lvl="0" algn="ctr"/>
              <a:endParaRPr sz="2400">
                <a:latin typeface="Times New Roman" panose="02020603050405020304" pitchFamily="18" charset="0"/>
              </a:endParaRPr>
            </a:p>
          </p:txBody>
        </p:sp>
      </p:grpSp>
      <p:sp>
        <p:nvSpPr>
          <p:cNvPr id="1032" name="文本占位符 1031"/>
          <p:cNvSpPr>
            <a:spLocks noGrp="1"/>
          </p:cNvSpPr>
          <p:nvPr>
            <p:ph type="body"/>
          </p:nvPr>
        </p:nvSpPr>
        <p:spPr>
          <a:xfrm>
            <a:off x="457200" y="1600200"/>
            <a:ext cx="8229600" cy="4530725"/>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3" name="日期占位符 1032"/>
          <p:cNvSpPr>
            <a:spLocks noGrp="1"/>
          </p:cNvSpPr>
          <p:nvPr>
            <p:ph type="dt" sz="half" idx="1"/>
          </p:nvPr>
        </p:nvSpPr>
        <p:spPr>
          <a:xfrm>
            <a:off x="457200" y="6248400"/>
            <a:ext cx="2133600" cy="457200"/>
          </a:xfrm>
          <a:prstGeom prst="rect">
            <a:avLst/>
          </a:prstGeom>
          <a:noFill/>
          <a:ln w="9525">
            <a:noFill/>
          </a:ln>
        </p:spPr>
        <p:txBody>
          <a:bodyPr/>
          <a:lstStyle>
            <a:lvl1pPr marL="0" indent="0" algn="l" fontAlgn="base">
              <a:buFont typeface="Arial" panose="020B0604020202020204" pitchFamily="34" charset="0"/>
              <a:defRPr sz="1000">
                <a:solidFill>
                  <a:schemeClr val="tx1"/>
                </a:solidFill>
              </a:defRPr>
            </a:lvl1pPr>
          </a:lstStyle>
          <a:p>
            <a:pPr lvl="0" defTabSz="914400" rtl="0" eaLnBrk="1" latinLnBrk="0" hangingPunct="1">
              <a:lnSpc>
                <a:spcPct val="100000"/>
              </a:lnSpc>
              <a:spcBef>
                <a:spcPct val="0"/>
              </a:spcBef>
              <a:spcAft>
                <a:spcPct val="0"/>
              </a:spcAft>
              <a:buClrTx/>
              <a:buSzPct val="100000"/>
            </a:pPr>
            <a:fld id="{BB962C8B-B14F-4D97-AF65-F5344CB8AC3E}" type="datetime1">
              <a:rPr lang="ru-RU"/>
              <a:t>26.12.2023</a:t>
            </a:fld>
            <a:endParaRPr lang="ru-RU"/>
          </a:p>
        </p:txBody>
      </p:sp>
      <p:sp>
        <p:nvSpPr>
          <p:cNvPr id="1034" name="页脚占位符 1033"/>
          <p:cNvSpPr>
            <a:spLocks noGrp="1"/>
          </p:cNvSpPr>
          <p:nvPr>
            <p:ph type="ftr" sz="quarter" idx="2"/>
          </p:nvPr>
        </p:nvSpPr>
        <p:spPr>
          <a:xfrm>
            <a:off x="3124200" y="6248400"/>
            <a:ext cx="2895600" cy="457200"/>
          </a:xfrm>
          <a:prstGeom prst="rect">
            <a:avLst/>
          </a:prstGeom>
          <a:noFill/>
          <a:ln w="9525">
            <a:noFill/>
          </a:ln>
        </p:spPr>
        <p:txBody>
          <a:bodyPr/>
          <a:lstStyle>
            <a:lvl1pPr marL="0" indent="0" algn="ctr" fontAlgn="base">
              <a:buFont typeface="Arial" panose="020B0604020202020204" pitchFamily="34" charset="0"/>
              <a:defRPr sz="1000">
                <a:solidFill>
                  <a:schemeClr val="tx1"/>
                </a:solidFill>
              </a:defRPr>
            </a:lvl1p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1035" name="灯片编号占位符 1034"/>
          <p:cNvSpPr>
            <a:spLocks noGrp="1"/>
          </p:cNvSpPr>
          <p:nvPr>
            <p:ph type="sldNum" sz="quarter" idx="3"/>
          </p:nvPr>
        </p:nvSpPr>
        <p:spPr>
          <a:xfrm>
            <a:off x="6553200" y="6248400"/>
            <a:ext cx="2133600" cy="457200"/>
          </a:xfrm>
          <a:prstGeom prst="rect">
            <a:avLst/>
          </a:prstGeom>
          <a:noFill/>
          <a:ln w="9525">
            <a:noFill/>
          </a:ln>
        </p:spPr>
        <p:txBody>
          <a:bodyPr/>
          <a:lstStyle>
            <a:lvl1pPr marL="0" indent="0" algn="r" fontAlgn="base">
              <a:buFont typeface="Arial" panose="020B0604020202020204" pitchFamily="34" charset="0"/>
              <a:defRPr sz="1000">
                <a:solidFill>
                  <a:schemeClr val="tx1"/>
                </a:solidFill>
              </a:defRPr>
            </a:lvl1pPr>
          </a:lstStyle>
          <a:p>
            <a:pPr lvl="0" defTabSz="914400" rtl="0" eaLnBrk="1" latinLnBrk="0" hangingPunct="1">
              <a:lnSpc>
                <a:spcPct val="100000"/>
              </a:lnSpc>
              <a:spcBef>
                <a:spcPct val="0"/>
              </a:spcBef>
              <a:spcAft>
                <a:spcPct val="0"/>
              </a:spcAft>
              <a:buClrTx/>
              <a:buSzPct val="100000"/>
            </a:pPr>
            <a:fld id="{9A0DB2DC-4C9A-4742-B13C-FB6460FD3503}" type="slidenum">
              <a:rPr lang="ru-RU"/>
              <a:t>‹#›</a:t>
            </a:fld>
            <a:endParaRPr lang="ru-RU" sz="1000" u="none">
              <a:solidFill>
                <a:schemeClr val="tx1"/>
              </a:solidFill>
            </a:endParaRPr>
          </a:p>
        </p:txBody>
      </p:sp>
      <p:sp>
        <p:nvSpPr>
          <p:cNvPr id="1036" name="标题 1035"/>
          <p:cNvSpPr>
            <a:spLocks noGrp="1"/>
          </p:cNvSpPr>
          <p:nvPr>
            <p:ph type="title" idx="4"/>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marL="0" lvl="0" indent="0" algn="l" defTabSz="914400" rtl="0" eaLnBrk="1" fontAlgn="base" latinLnBrk="0" hangingPunct="1">
        <a:lnSpc>
          <a:spcPct val="100000"/>
        </a:lnSpc>
        <a:spcBef>
          <a:spcPct val="0"/>
        </a:spcBef>
        <a:spcAft>
          <a:spcPct val="0"/>
        </a:spcAft>
        <a:buSzPct val="100000"/>
        <a:buNone/>
        <a:defRPr sz="3800" b="0" i="0" u="none" kern="120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3200" b="0" i="0" u="none" kern="120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
        <a:defRPr sz="2700" b="0" i="0" u="none" kern="1200">
          <a:solidFill>
            <a:schemeClr val="tx1"/>
          </a:solidFill>
          <a:latin typeface="Arial" panose="020B0604020202020204" pitchFamily="34" charset="0"/>
          <a:ea typeface="宋体" panose="02010600030101010101" pitchFamily="2" charset="-122"/>
          <a:cs typeface="+mn-cs"/>
        </a:defRPr>
      </a:lvl2pPr>
      <a:lvl3pPr marL="1143000" lvl="2" indent="-2286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l"/>
        <a:defRPr sz="2300" b="0" i="0" u="none" kern="1200">
          <a:solidFill>
            <a:schemeClr val="tx1"/>
          </a:solidFill>
          <a:latin typeface="Arial" panose="020B0604020202020204" pitchFamily="34" charset="0"/>
          <a:ea typeface="宋体" panose="02010600030101010101" pitchFamily="2" charset="-122"/>
          <a:cs typeface="+mn-cs"/>
        </a:defRPr>
      </a:lvl3pPr>
      <a:lvl4pPr marL="1600200" lvl="3" indent="-228600" algn="l" defTabSz="914400" rtl="0" eaLnBrk="1" fontAlgn="base" latinLnBrk="0" hangingPunct="1">
        <a:lnSpc>
          <a:spcPct val="100000"/>
        </a:lnSpc>
        <a:spcBef>
          <a:spcPct val="20000"/>
        </a:spcBef>
        <a:spcAft>
          <a:spcPct val="0"/>
        </a:spcAft>
        <a:buClr>
          <a:schemeClr val="accent1"/>
        </a:buClr>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100000"/>
        <a:buFont typeface="Wingdings" panose="05000000000000000000" pitchFamily="2" charset="2"/>
        <a:buChar char=""/>
        <a:defRPr sz="2000" b="0" i="0" u="none" kern="1200">
          <a:solidFill>
            <a:schemeClr val="tx1"/>
          </a:solidFill>
          <a:latin typeface="Arial" panose="020B0604020202020204" pitchFamily="34" charset="0"/>
          <a:ea typeface="宋体" panose="02010600030101010101" pitchFamily="2" charset="-122"/>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100000"/>
        <a:buFont typeface="Wingdings" panose="05000000000000000000" pitchFamily="2" charset="2"/>
        <a:buChar char=""/>
        <a:defRPr sz="2000" b="0" i="0" u="none" kern="1200">
          <a:solidFill>
            <a:schemeClr val="tx1"/>
          </a:solidFill>
          <a:latin typeface="Arial" panose="020B0604020202020204" pitchFamily="34" charset="0"/>
          <a:ea typeface="宋体" panose="02010600030101010101" pitchFamily="2" charset="-122"/>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100000"/>
        <a:buFont typeface="Wingdings" panose="05000000000000000000" pitchFamily="2" charset="2"/>
        <a:buChar char=""/>
        <a:defRPr sz="2000" b="0" i="0" u="none" kern="1200">
          <a:solidFill>
            <a:schemeClr val="tx1"/>
          </a:solidFill>
          <a:latin typeface="Arial" panose="020B0604020202020204" pitchFamily="34" charset="0"/>
          <a:ea typeface="宋体" panose="02010600030101010101" pitchFamily="2" charset="-122"/>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100000"/>
        <a:buFont typeface="Wingdings" panose="05000000000000000000" pitchFamily="2" charset="2"/>
        <a:buChar char=""/>
        <a:defRPr sz="2000" b="0" i="0" u="none" kern="1200">
          <a:solidFill>
            <a:schemeClr val="tx1"/>
          </a:solidFill>
          <a:latin typeface="Arial" panose="020B0604020202020204" pitchFamily="34" charset="0"/>
          <a:ea typeface="宋体" panose="02010600030101010101" pitchFamily="2" charset="-122"/>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100000"/>
        <a:buFont typeface="Wingdings" panose="05000000000000000000" pitchFamily="2" charset="2"/>
        <a:buChar char=""/>
        <a:defRPr sz="2000" b="0" i="0" u="none" kern="1200">
          <a:solidFill>
            <a:schemeClr val="tx1"/>
          </a:solidFill>
          <a:latin typeface="Arial" panose="020B0604020202020204" pitchFamily="34" charset="0"/>
          <a:ea typeface="宋体" panose="02010600030101010101" pitchFamily="2" charset="-122"/>
          <a:cs typeface="+mn-cs"/>
        </a:defRPr>
      </a:lvl9pPr>
    </p:bodyStyle>
    <p:otherStyle>
      <a:lvl1pPr marL="0" lvl="0" indent="0" algn="l" defTabSz="914400" rtl="0" eaLnBrk="1" fontAlgn="base" latinLnBrk="0" hangingPunct="1">
        <a:lnSpc>
          <a:spcPct val="100000"/>
        </a:lnSpc>
        <a:spcBef>
          <a:spcPct val="0"/>
        </a:spcBef>
        <a:spcAft>
          <a:spcPct val="0"/>
        </a:spcAft>
        <a:buSzPct val="100000"/>
        <a:buFont typeface="Arial" panose="020B0604020202020204" pitchFamily="34" charset="0"/>
        <a:buNone/>
        <a:defRPr sz="1800" b="0" i="0" u="none" kern="120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Arial" panose="020B0604020202020204" pitchFamily="34" charset="0"/>
        <a:buNone/>
        <a:defRPr sz="1800" b="0" i="0" u="none" kern="120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Arial" panose="020B0604020202020204" pitchFamily="34" charset="0"/>
        <a:buNone/>
        <a:defRPr sz="1800" b="0" i="0" u="none" kern="120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Arial" panose="020B0604020202020204" pitchFamily="34" charset="0"/>
        <a:buNone/>
        <a:defRPr sz="1800" b="0" i="0" u="none" kern="120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Arial" panose="020B0604020202020204" pitchFamily="34" charset="0"/>
        <a:buNone/>
        <a:defRPr sz="1800" b="0" i="0" u="none" kern="120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sz="1800" b="0" i="0" u="none" kern="120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sz="1800" b="0" i="0" u="none" kern="120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sz="1800" b="0" i="0" u="none" kern="120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sz="1800" b="0" i="0" u="none"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221094" y="5044711"/>
            <a:ext cx="2701812" cy="368300"/>
          </a:xfrm>
          <a:prstGeom prst="rect">
            <a:avLst/>
          </a:prstGeom>
          <a:noFill/>
        </p:spPr>
        <p:txBody>
          <a:bodyPr wrap="square">
            <a:spAutoFit/>
          </a:bodyPr>
          <a:lstStyle/>
          <a:p>
            <a:pPr algn="ctr"/>
            <a:r>
              <a:rPr lang="en-US" altLang="zh-CN" sz="1800" dirty="0">
                <a:solidFill>
                  <a:schemeClr val="bg1"/>
                </a:solidFill>
                <a:latin typeface="宋体" panose="02010600030101010101" pitchFamily="2" charset="-122"/>
                <a:ea typeface="楷体" panose="02010609060101010101" charset="-122"/>
              </a:rPr>
              <a:t>2023</a:t>
            </a:r>
            <a:r>
              <a:rPr lang="zh-CN" altLang="en-US" sz="1800" dirty="0">
                <a:solidFill>
                  <a:schemeClr val="bg1"/>
                </a:solidFill>
                <a:latin typeface="宋体" panose="02010600030101010101" pitchFamily="2" charset="-122"/>
                <a:ea typeface="楷体" panose="02010609060101010101" charset="-122"/>
              </a:rPr>
              <a:t>年</a:t>
            </a:r>
            <a:r>
              <a:rPr lang="en-US" altLang="zh-CN" sz="1800" dirty="0">
                <a:solidFill>
                  <a:schemeClr val="bg1"/>
                </a:solidFill>
                <a:latin typeface="宋体" panose="02010600030101010101" pitchFamily="2" charset="-122"/>
                <a:ea typeface="楷体" panose="02010609060101010101" charset="-122"/>
              </a:rPr>
              <a:t>9</a:t>
            </a:r>
            <a:r>
              <a:rPr lang="zh-CN" altLang="en-US" sz="1800" dirty="0">
                <a:solidFill>
                  <a:schemeClr val="bg1"/>
                </a:solidFill>
                <a:latin typeface="宋体" panose="02010600030101010101" pitchFamily="2" charset="-122"/>
                <a:ea typeface="楷体" panose="02010609060101010101" charset="-122"/>
              </a:rPr>
              <a:t>月</a:t>
            </a:r>
            <a:r>
              <a:rPr lang="en-US" altLang="zh-CN" sz="1800" dirty="0">
                <a:solidFill>
                  <a:schemeClr val="bg1"/>
                </a:solidFill>
                <a:latin typeface="宋体" panose="02010600030101010101" pitchFamily="2" charset="-122"/>
                <a:ea typeface="楷体" panose="02010609060101010101" charset="-122"/>
              </a:rPr>
              <a:t>28</a:t>
            </a:r>
            <a:r>
              <a:rPr lang="zh-CN" altLang="en-US" sz="1800" dirty="0">
                <a:solidFill>
                  <a:schemeClr val="bg1"/>
                </a:solidFill>
                <a:latin typeface="宋体" panose="02010600030101010101" pitchFamily="2" charset="-122"/>
                <a:ea typeface="楷体" panose="02010609060101010101" charset="-122"/>
              </a:rPr>
              <a:t>日</a:t>
            </a:r>
          </a:p>
        </p:txBody>
      </p:sp>
      <p:sp>
        <p:nvSpPr>
          <p:cNvPr id="24" name="文本框 23"/>
          <p:cNvSpPr txBox="1"/>
          <p:nvPr/>
        </p:nvSpPr>
        <p:spPr>
          <a:xfrm>
            <a:off x="0" y="1919041"/>
            <a:ext cx="9144002" cy="1476375"/>
          </a:xfrm>
          <a:prstGeom prst="rect">
            <a:avLst/>
          </a:prstGeom>
          <a:noFill/>
        </p:spPr>
        <p:txBody>
          <a:bodyPr wrap="square">
            <a:spAutoFit/>
          </a:bodyPr>
          <a:lstStyle/>
          <a:p>
            <a:pPr algn="ctr">
              <a:lnSpc>
                <a:spcPct val="125000"/>
              </a:lnSpc>
            </a:pPr>
            <a:r>
              <a:rPr lang="zh-CN" altLang="en-US" sz="3600" b="1" spc="600" dirty="0">
                <a:solidFill>
                  <a:schemeClr val="bg1"/>
                </a:solidFill>
                <a:effectLst>
                  <a:outerShdw blurRad="38100" dist="38100" dir="2700000" algn="tl">
                    <a:srgbClr val="000000">
                      <a:alpha val="43137"/>
                    </a:srgbClr>
                  </a:outerShdw>
                </a:effectLst>
                <a:latin typeface="宋体" panose="02010600030101010101" pitchFamily="2" charset="-122"/>
                <a:ea typeface="楷体" panose="02010609060101010101" charset="-122"/>
              </a:rPr>
              <a:t> </a:t>
            </a:r>
            <a:r>
              <a:rPr lang="zh-CN" altLang="en-US" sz="3600" b="1" spc="600" dirty="0">
                <a:solidFill>
                  <a:schemeClr val="tx1"/>
                </a:solidFill>
                <a:effectLst>
                  <a:outerShdw blurRad="38100" dist="38100" dir="2700000" algn="tl">
                    <a:srgbClr val="000000">
                      <a:alpha val="43137"/>
                    </a:srgbClr>
                  </a:outerShdw>
                </a:effectLst>
                <a:latin typeface="宋体" panose="02010600030101010101" pitchFamily="2" charset="-122"/>
                <a:ea typeface="楷体" panose="02010609060101010101" charset="-122"/>
              </a:rPr>
              <a:t>华中科技大学电子信息与通信学院</a:t>
            </a:r>
          </a:p>
          <a:p>
            <a:pPr algn="ctr">
              <a:lnSpc>
                <a:spcPct val="125000"/>
              </a:lnSpc>
            </a:pPr>
            <a:r>
              <a:rPr lang="zh-CN" altLang="en-US" sz="3600" b="1" spc="600" dirty="0">
                <a:solidFill>
                  <a:schemeClr val="tx1"/>
                </a:solidFill>
                <a:effectLst>
                  <a:outerShdw blurRad="38100" dist="38100" dir="2700000" algn="tl">
                    <a:srgbClr val="000000">
                      <a:alpha val="43137"/>
                    </a:srgbClr>
                  </a:outerShdw>
                </a:effectLst>
                <a:latin typeface="宋体" panose="02010600030101010101" pitchFamily="2" charset="-122"/>
                <a:ea typeface="楷体" panose="02010609060101010101" charset="-122"/>
              </a:rPr>
              <a:t>电信</a:t>
            </a:r>
            <a:r>
              <a:rPr lang="en-US" altLang="zh-CN" sz="3600" b="1" spc="600">
                <a:solidFill>
                  <a:schemeClr val="tx1"/>
                </a:solidFill>
                <a:effectLst>
                  <a:outerShdw blurRad="38100" dist="38100" dir="2700000" algn="tl">
                    <a:srgbClr val="000000">
                      <a:alpha val="43137"/>
                    </a:srgbClr>
                  </a:outerShdw>
                </a:effectLst>
                <a:latin typeface="宋体" panose="02010600030101010101" pitchFamily="2" charset="-122"/>
                <a:ea typeface="楷体" panose="02010609060101010101" charset="-122"/>
              </a:rPr>
              <a:t>2303</a:t>
            </a:r>
            <a:r>
              <a:rPr lang="zh-CN" altLang="en-US" sz="3600" b="1" spc="600">
                <a:solidFill>
                  <a:schemeClr val="tx1"/>
                </a:solidFill>
                <a:effectLst>
                  <a:outerShdw blurRad="38100" dist="38100" dir="2700000" algn="tl">
                    <a:srgbClr val="000000">
                      <a:alpha val="43137"/>
                    </a:srgbClr>
                  </a:outerShdw>
                </a:effectLst>
                <a:latin typeface="宋体" panose="02010600030101010101" pitchFamily="2" charset="-122"/>
                <a:ea typeface="楷体" panose="02010609060101010101" charset="-122"/>
              </a:rPr>
              <a:t>班</a:t>
            </a:r>
            <a:endParaRPr lang="zh-CN" altLang="en-US" sz="3600" b="1" spc="600" dirty="0">
              <a:solidFill>
                <a:schemeClr val="tx1"/>
              </a:solidFill>
              <a:effectLst>
                <a:outerShdw blurRad="38100" dist="38100" dir="2700000" algn="tl">
                  <a:srgbClr val="000000">
                    <a:alpha val="43137"/>
                  </a:srgbClr>
                </a:outerShdw>
              </a:effectLst>
              <a:latin typeface="宋体" panose="02010600030101010101" pitchFamily="2" charset="-122"/>
              <a:ea typeface="楷体" panose="02010609060101010101" charset="-122"/>
            </a:endParaRPr>
          </a:p>
        </p:txBody>
      </p:sp>
      <p:sp>
        <p:nvSpPr>
          <p:cNvPr id="30" name="文本框 29"/>
          <p:cNvSpPr txBox="1"/>
          <p:nvPr/>
        </p:nvSpPr>
        <p:spPr>
          <a:xfrm>
            <a:off x="0" y="3620770"/>
            <a:ext cx="9144000" cy="1198880"/>
          </a:xfrm>
          <a:prstGeom prst="rect">
            <a:avLst/>
          </a:prstGeom>
          <a:noFill/>
        </p:spPr>
        <p:txBody>
          <a:bodyPr wrap="square">
            <a:spAutoFit/>
          </a:bodyPr>
          <a:lstStyle/>
          <a:p>
            <a:pPr algn="ctr"/>
            <a:r>
              <a:rPr lang="zh-CN" altLang="en-US" sz="3600" b="1" spc="3000">
                <a:solidFill>
                  <a:schemeClr val="tx1"/>
                </a:solidFill>
                <a:effectLst>
                  <a:outerShdw blurRad="38100" dist="38100" dir="2700000" algn="tl">
                    <a:srgbClr val="000000">
                      <a:alpha val="43137"/>
                    </a:srgbClr>
                  </a:outerShdw>
                </a:effectLst>
                <a:latin typeface="宋体" panose="02010600030101010101" pitchFamily="2" charset="-122"/>
                <a:ea typeface="楷体" panose="02010609060101010101" charset="-122"/>
              </a:rPr>
              <a:t>共享学报</a:t>
            </a:r>
          </a:p>
          <a:p>
            <a:pPr algn="ctr"/>
            <a:r>
              <a:rPr lang="zh-CN" altLang="en-US" sz="3600" b="1" spc="3000">
                <a:solidFill>
                  <a:schemeClr val="tx1"/>
                </a:solidFill>
                <a:effectLst>
                  <a:outerShdw blurRad="38100" dist="38100" dir="2700000" algn="tl">
                    <a:srgbClr val="000000">
                      <a:alpha val="43137"/>
                    </a:srgbClr>
                  </a:outerShdw>
                </a:effectLst>
                <a:latin typeface="宋体" panose="02010600030101010101" pitchFamily="2" charset="-122"/>
                <a:ea typeface="楷体" panose="02010609060101010101" charset="-122"/>
              </a:rPr>
              <a:t>（英语）</a:t>
            </a:r>
          </a:p>
        </p:txBody>
      </p:sp>
      <p:pic>
        <p:nvPicPr>
          <p:cNvPr id="7" name="图片 6"/>
          <p:cNvPicPr>
            <a:picLocks noChangeAspect="1"/>
          </p:cNvPicPr>
          <p:nvPr/>
        </p:nvPicPr>
        <p:blipFill>
          <a:blip r:embed="rId3">
            <a:clrChange>
              <a:clrFrom>
                <a:srgbClr val="FFFFFF"/>
              </a:clrFrom>
              <a:clrTo>
                <a:srgbClr val="FFFFFF">
                  <a:alpha val="0"/>
                </a:srgbClr>
              </a:clrTo>
            </a:clrChange>
          </a:blip>
          <a:stretch>
            <a:fillRect/>
          </a:stretch>
        </p:blipFill>
        <p:spPr>
          <a:xfrm>
            <a:off x="395413" y="188548"/>
            <a:ext cx="868238" cy="67529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latin typeface="宋体" panose="02010600030101010101" pitchFamily="2" charset="-122"/>
                <a:ea typeface="楷体" panose="02010609060101010101" charset="-122"/>
              </a:rPr>
              <a:t>PART 1</a:t>
            </a:r>
          </a:p>
        </p:txBody>
      </p:sp>
      <p:sp>
        <p:nvSpPr>
          <p:cNvPr id="6" name="文本占位符 5"/>
          <p:cNvSpPr>
            <a:spLocks noGrp="1"/>
          </p:cNvSpPr>
          <p:nvPr>
            <p:ph type="body" idx="1"/>
          </p:nvPr>
        </p:nvSpPr>
        <p:spPr/>
        <p:txBody>
          <a:bodyPr/>
          <a:lstStyle/>
          <a:p>
            <a:r>
              <a:rPr lang="zh-CN" altLang="en-US" b="1">
                <a:latin typeface="宋体" panose="02010600030101010101" pitchFamily="2" charset="-122"/>
                <a:ea typeface="楷体" panose="02010609060101010101" charset="-122"/>
              </a:rPr>
              <a:t>写作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9" name="文本占位符 2068"/>
          <p:cNvSpPr>
            <a:spLocks noGrp="1"/>
          </p:cNvSpPr>
          <p:nvPr>
            <p:ph type="body"/>
          </p:nvPr>
        </p:nvSpPr>
        <p:spPr>
          <a:xfrm>
            <a:off x="457200" y="836613"/>
            <a:ext cx="8229600" cy="5294312"/>
          </a:xfrm>
        </p:spPr>
        <p:txBody>
          <a:bodyPr/>
          <a:lstStyle/>
          <a:p>
            <a:pPr>
              <a:lnSpc>
                <a:spcPct val="125000"/>
              </a:lnSpc>
              <a:buClr>
                <a:schemeClr val="accent1"/>
              </a:buClr>
            </a:pPr>
            <a:r>
              <a:rPr lang="zh-CN" altLang="en-US" sz="3600" b="1">
                <a:latin typeface="宋体" panose="02010600030101010101" pitchFamily="2" charset="-122"/>
                <a:ea typeface="楷体" panose="02010609060101010101" charset="-122"/>
              </a:rPr>
              <a:t>段落的写作  主题句与推展句 </a:t>
            </a:r>
          </a:p>
          <a:p>
            <a:pPr>
              <a:lnSpc>
                <a:spcPct val="125000"/>
              </a:lnSpc>
              <a:buClr>
                <a:schemeClr val="accent1"/>
              </a:buClr>
            </a:pPr>
            <a:r>
              <a:rPr lang="en-US" altLang="zh-CN" sz="3600" b="1">
                <a:latin typeface="宋体" panose="02010600030101010101" pitchFamily="2" charset="-122"/>
                <a:ea typeface="楷体" panose="02010609060101010101" charset="-122"/>
              </a:rPr>
              <a:t>1</a:t>
            </a:r>
            <a:r>
              <a:rPr lang="zh-CN" altLang="en-US" sz="3600" b="1">
                <a:latin typeface="宋体" panose="02010600030101010101" pitchFamily="2" charset="-122"/>
                <a:ea typeface="楷体" panose="02010609060101010101" charset="-122"/>
              </a:rPr>
              <a:t>． 主题句</a:t>
            </a:r>
          </a:p>
          <a:p>
            <a:pPr>
              <a:lnSpc>
                <a:spcPct val="125000"/>
              </a:lnSpc>
              <a:buClr>
                <a:schemeClr val="accent1"/>
              </a:buClr>
            </a:pPr>
            <a:r>
              <a:rPr lang="zh-CN" altLang="en-US" sz="3600" b="1">
                <a:latin typeface="宋体" panose="02010600030101010101" pitchFamily="2" charset="-122"/>
                <a:ea typeface="楷体" panose="02010609060101010101" charset="-122"/>
              </a:rPr>
              <a:t>主题句（</a:t>
            </a:r>
            <a:r>
              <a:rPr lang="en-US" altLang="zh-CN" sz="3600" b="1">
                <a:latin typeface="宋体" panose="02010600030101010101" pitchFamily="2" charset="-122"/>
                <a:ea typeface="楷体" panose="02010609060101010101" charset="-122"/>
              </a:rPr>
              <a:t>topic sentence</a:t>
            </a:r>
            <a:r>
              <a:rPr lang="zh-CN" altLang="en-US" sz="3600" b="1">
                <a:latin typeface="宋体" panose="02010600030101010101" pitchFamily="2" charset="-122"/>
                <a:ea typeface="楷体" panose="02010609060101010101" charset="-122"/>
              </a:rPr>
              <a:t>）是表达段落主题的句子。它用以概括段落大意，要求全段其他文字都围绕它展开。请看下例：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3" name="文本占位符 2072"/>
          <p:cNvSpPr>
            <a:spLocks noGrp="1"/>
          </p:cNvSpPr>
          <p:nvPr>
            <p:ph type="body"/>
          </p:nvPr>
        </p:nvSpPr>
        <p:spPr>
          <a:xfrm>
            <a:off x="457200" y="620713"/>
            <a:ext cx="8229600" cy="5510212"/>
          </a:xfrm>
        </p:spPr>
        <p:txBody>
          <a:bodyPr/>
          <a:lstStyle/>
          <a:p>
            <a:pPr>
              <a:lnSpc>
                <a:spcPct val="125000"/>
              </a:lnSpc>
              <a:buClr>
                <a:schemeClr val="accent1"/>
              </a:buClr>
            </a:pPr>
            <a:r>
              <a:rPr lang="en-US" altLang="zh-CN" sz="2800" b="1">
                <a:latin typeface="宋体" panose="02010600030101010101" pitchFamily="2" charset="-122"/>
                <a:ea typeface="楷体" panose="02010609060101010101" charset="-122"/>
              </a:rPr>
              <a:t>My mother has passed along to me certain rules for getting along with others. Don't argue with parents; they will think you don't love them. Don't argue with children; they will think themselves victimized. Don't argue with spouses; they will think you are a tiresome mate. Don't argue with strangers; they will think you are not friendly. My mother's rules, in fact, can be summed up in two words: Don't argue.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6" name="标题 2075"/>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077" name="文本占位符 2076"/>
          <p:cNvSpPr>
            <a:spLocks noGrp="1"/>
          </p:cNvSpPr>
          <p:nvPr>
            <p:ph type="body"/>
          </p:nvPr>
        </p:nvSpPr>
        <p:spPr>
          <a:xfrm>
            <a:off x="457200" y="1371600"/>
            <a:ext cx="8229600" cy="4759325"/>
          </a:xfrm>
        </p:spPr>
        <p:txBody>
          <a:bodyPr/>
          <a:lstStyle/>
          <a:p>
            <a:pPr>
              <a:lnSpc>
                <a:spcPct val="135000"/>
              </a:lnSpc>
              <a:buClr>
                <a:schemeClr val="accent1"/>
              </a:buClr>
            </a:pPr>
            <a:r>
              <a:rPr lang="en-US" altLang="zh-CN" sz="3600" b="1">
                <a:latin typeface="宋体" panose="02010600030101010101" pitchFamily="2" charset="-122"/>
                <a:ea typeface="楷体" panose="02010609060101010101" charset="-122"/>
              </a:rPr>
              <a:t>1</a:t>
            </a:r>
            <a:r>
              <a:rPr lang="zh-CN" altLang="en-US" sz="3600" b="1">
                <a:latin typeface="宋体" panose="02010600030101010101" pitchFamily="2" charset="-122"/>
                <a:ea typeface="楷体" panose="02010609060101010101" charset="-122"/>
              </a:rPr>
              <a:t>． 主题句 </a:t>
            </a:r>
          </a:p>
          <a:p>
            <a:pPr>
              <a:lnSpc>
                <a:spcPct val="135000"/>
              </a:lnSpc>
              <a:buClr>
                <a:schemeClr val="accent1"/>
              </a:buClr>
            </a:pPr>
            <a:r>
              <a:rPr lang="en-US" altLang="zh-CN" sz="3600" b="1">
                <a:latin typeface="宋体" panose="02010600030101010101" pitchFamily="2" charset="-122"/>
                <a:ea typeface="楷体" panose="02010609060101010101" charset="-122"/>
              </a:rPr>
              <a:t>1</a:t>
            </a:r>
            <a:r>
              <a:rPr lang="zh-CN" altLang="en-US" sz="3600" b="1">
                <a:latin typeface="宋体" panose="02010600030101010101" pitchFamily="2" charset="-122"/>
                <a:ea typeface="楷体" panose="02010609060101010101" charset="-122"/>
              </a:rPr>
              <a:t>．</a:t>
            </a:r>
            <a:r>
              <a:rPr lang="en-US" altLang="zh-CN" sz="3600" b="1">
                <a:latin typeface="宋体" panose="02010600030101010101" pitchFamily="2" charset="-122"/>
                <a:ea typeface="楷体" panose="02010609060101010101" charset="-122"/>
              </a:rPr>
              <a:t>1 </a:t>
            </a:r>
            <a:r>
              <a:rPr lang="zh-CN" altLang="en-US" sz="3600" b="1">
                <a:latin typeface="宋体" panose="02010600030101010101" pitchFamily="2" charset="-122"/>
                <a:ea typeface="楷体" panose="02010609060101010101" charset="-122"/>
              </a:rPr>
              <a:t>主题句的位置</a:t>
            </a:r>
          </a:p>
          <a:p>
            <a:pPr>
              <a:lnSpc>
                <a:spcPct val="135000"/>
              </a:lnSpc>
              <a:buClr>
                <a:schemeClr val="accent1"/>
              </a:buClr>
            </a:pPr>
            <a:r>
              <a:rPr lang="zh-CN" altLang="en-US" sz="3600" b="1">
                <a:latin typeface="宋体" panose="02010600030101010101" pitchFamily="2" charset="-122"/>
                <a:ea typeface="楷体" panose="02010609060101010101" charset="-122"/>
              </a:rPr>
              <a:t>　　主题句通常放在段落的开端，其特点是开门见山地摆出问题，然后加以详细说明。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1" name="文本占位符 2080"/>
          <p:cNvSpPr>
            <a:spLocks noGrp="1"/>
          </p:cNvSpPr>
          <p:nvPr>
            <p:ph type="body"/>
          </p:nvPr>
        </p:nvSpPr>
        <p:spPr>
          <a:xfrm>
            <a:off x="457200" y="549275"/>
            <a:ext cx="8229600" cy="5433695"/>
          </a:xfrm>
        </p:spPr>
        <p:txBody>
          <a:bodyPr/>
          <a:lstStyle/>
          <a:p>
            <a:pPr>
              <a:lnSpc>
                <a:spcPct val="140000"/>
              </a:lnSpc>
              <a:buClr>
                <a:schemeClr val="accent1"/>
              </a:buClr>
            </a:pPr>
            <a:r>
              <a:rPr lang="zh-CN" altLang="en-US" sz="2800" b="1" dirty="0">
                <a:latin typeface="宋体" panose="02010600030101010101" pitchFamily="2" charset="-122"/>
                <a:ea typeface="楷体" panose="02010609060101010101" charset="-122"/>
              </a:rPr>
              <a:t>例</a:t>
            </a:r>
            <a:r>
              <a:rPr lang="en-US" altLang="zh-CN" sz="2800" b="1" dirty="0">
                <a:latin typeface="宋体" panose="02010600030101010101" pitchFamily="2" charset="-122"/>
                <a:ea typeface="楷体" panose="02010609060101010101" charset="-122"/>
              </a:rPr>
              <a:t>1</a:t>
            </a:r>
            <a:r>
              <a:rPr lang="en-US" altLang="zh-CN" sz="2800" b="1" i="1" dirty="0">
                <a:latin typeface="宋体" panose="02010600030101010101" pitchFamily="2" charset="-122"/>
                <a:ea typeface="楷体" panose="02010609060101010101" charset="-122"/>
              </a:rPr>
              <a:t> </a:t>
            </a:r>
            <a:r>
              <a:rPr lang="en-US" altLang="zh-CN" sz="2800" b="1" i="1" dirty="0">
                <a:solidFill>
                  <a:srgbClr val="FF0000"/>
                </a:solidFill>
                <a:latin typeface="宋体" panose="02010600030101010101" pitchFamily="2" charset="-122"/>
                <a:ea typeface="楷体" panose="02010609060101010101" charset="-122"/>
              </a:rPr>
              <a:t>Our life today depends very much on energy. </a:t>
            </a:r>
            <a:r>
              <a:rPr lang="en-US" altLang="zh-CN" sz="2800" b="1" dirty="0">
                <a:latin typeface="宋体" panose="02010600030101010101" pitchFamily="2" charset="-122"/>
                <a:ea typeface="楷体" panose="02010609060101010101" charset="-122"/>
              </a:rPr>
              <a:t>In towns and in villages, on farms and in factories, machines have made life easier than it used to be. The machines use energy, and energy is needed for heating, lighting, communications, carrying goods --- everything. Factories and industrial plants use a great deal of energy to make the things that we use and buy and sell.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5" name="文本占位符 2084"/>
          <p:cNvSpPr>
            <a:spLocks noGrp="1"/>
          </p:cNvSpPr>
          <p:nvPr>
            <p:ph type="body"/>
          </p:nvPr>
        </p:nvSpPr>
        <p:spPr>
          <a:xfrm>
            <a:off x="457200" y="1371600"/>
            <a:ext cx="8229600" cy="4987925"/>
          </a:xfrm>
        </p:spPr>
        <p:txBody>
          <a:bodyPr/>
          <a:lstStyle/>
          <a:p>
            <a:pPr marL="609600" indent="-609600">
              <a:lnSpc>
                <a:spcPct val="145000"/>
              </a:lnSpc>
              <a:buClr>
                <a:schemeClr val="accent1"/>
              </a:buClr>
            </a:pPr>
            <a:r>
              <a:rPr lang="zh-CN" altLang="en-US" sz="2800" b="1">
                <a:latin typeface="宋体" panose="02010600030101010101" pitchFamily="2" charset="-122"/>
                <a:ea typeface="楷体" panose="02010609060101010101" charset="-122"/>
              </a:rPr>
              <a:t>推展句  </a:t>
            </a:r>
          </a:p>
          <a:p>
            <a:pPr marL="609600" indent="-609600">
              <a:lnSpc>
                <a:spcPct val="145000"/>
              </a:lnSpc>
              <a:buClr>
                <a:schemeClr val="accent1"/>
              </a:buClr>
            </a:pPr>
            <a:r>
              <a:rPr lang="zh-CN" altLang="en-US" sz="2800" b="1">
                <a:latin typeface="宋体" panose="02010600030101010101" pitchFamily="2" charset="-122"/>
                <a:ea typeface="楷体" panose="02010609060101010101" charset="-122"/>
              </a:rPr>
              <a:t>主要推展句</a:t>
            </a:r>
            <a:r>
              <a:rPr lang="en-US" altLang="zh-CN" sz="2800" b="1">
                <a:latin typeface="宋体" panose="02010600030101010101" pitchFamily="2" charset="-122"/>
                <a:ea typeface="楷体" panose="02010609060101010101" charset="-122"/>
              </a:rPr>
              <a:t>(major supporting statement) </a:t>
            </a:r>
            <a:r>
              <a:rPr lang="zh-CN" altLang="en-US" sz="2800" b="1">
                <a:latin typeface="宋体" panose="02010600030101010101" pitchFamily="2" charset="-122"/>
                <a:ea typeface="楷体" panose="02010609060101010101" charset="-122"/>
              </a:rPr>
              <a:t>的主要特点是：围绕段落主题句展开的每一个推展句本身都不要求作进一步的说明或证明，句与句之间的关系是相互独立又是互相连接的。 </a:t>
            </a:r>
          </a:p>
          <a:p>
            <a:pPr marL="609600" indent="-609600">
              <a:lnSpc>
                <a:spcPct val="145000"/>
              </a:lnSpc>
              <a:buClr>
                <a:schemeClr val="accent1"/>
              </a:buClr>
            </a:pPr>
            <a:r>
              <a:rPr lang="zh-CN" altLang="en-US" sz="2800" b="1">
                <a:latin typeface="宋体" panose="02010600030101010101" pitchFamily="2" charset="-122"/>
                <a:ea typeface="楷体" panose="02010609060101010101" charset="-122"/>
              </a:rPr>
              <a:t>例如：</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1"/>
          </p:nvPr>
        </p:nvSpPr>
        <p:spPr/>
        <p:txBody>
          <a:bodyPr/>
          <a:lstStyle/>
          <a:p>
            <a:pPr lvl="0" defTabSz="914400" rtl="0" eaLnBrk="1" latinLnBrk="0" hangingPunct="1">
              <a:lnSpc>
                <a:spcPct val="100000"/>
              </a:lnSpc>
              <a:spcBef>
                <a:spcPct val="0"/>
              </a:spcBef>
              <a:spcAft>
                <a:spcPct val="0"/>
              </a:spcAft>
              <a:buClrTx/>
              <a:buSzPct val="100000"/>
            </a:pPr>
            <a:r>
              <a:rPr lang="en-US" altLang="zh-CN"/>
              <a:t>2021</a:t>
            </a:r>
            <a:endParaRPr lang="en-US" altLang="zh-CN" sz="1000" u="none">
              <a:solidFill>
                <a:schemeClr val="tx1"/>
              </a:solidFill>
            </a:endParaRPr>
          </a:p>
        </p:txBody>
      </p:sp>
      <p:sp>
        <p:nvSpPr>
          <p:cNvPr id="2088" name="标题 2087"/>
          <p:cNvSpPr>
            <a:spLocks noGrp="1"/>
          </p:cNvSpPr>
          <p:nvPr>
            <p:ph type="title"/>
          </p:nvPr>
        </p:nvSpPr>
        <p:spPr>
          <a:xfrm flipV="1">
            <a:off x="457200" y="200025"/>
            <a:ext cx="8229600" cy="74613"/>
          </a:xfrm>
        </p:spPr>
        <p:txBody>
          <a:bodyPr anchor="ctr" anchorCtr="0"/>
          <a:lstStyle/>
          <a:p>
            <a:r>
              <a:rPr lang="en-US" sz="3400">
                <a:ea typeface="楷体" panose="02010609060101010101" charset="-122"/>
              </a:rPr>
              <a:t> </a:t>
            </a:r>
          </a:p>
        </p:txBody>
      </p:sp>
      <p:sp>
        <p:nvSpPr>
          <p:cNvPr id="2089" name="文本占位符 2088"/>
          <p:cNvSpPr>
            <a:spLocks noGrp="1"/>
          </p:cNvSpPr>
          <p:nvPr>
            <p:ph type="body"/>
          </p:nvPr>
        </p:nvSpPr>
        <p:spPr>
          <a:xfrm>
            <a:off x="457200" y="1066800"/>
            <a:ext cx="8229600" cy="5581650"/>
          </a:xfrm>
        </p:spPr>
        <p:txBody>
          <a:bodyPr/>
          <a:lstStyle/>
          <a:p>
            <a:pPr>
              <a:lnSpc>
                <a:spcPct val="140000"/>
              </a:lnSpc>
              <a:buClr>
                <a:schemeClr val="accent1"/>
              </a:buClr>
            </a:pPr>
            <a:r>
              <a:rPr lang="en-US" altLang="zh-CN" sz="2800" b="1" dirty="0">
                <a:latin typeface="宋体" panose="02010600030101010101" pitchFamily="2" charset="-122"/>
                <a:ea typeface="楷体" panose="02010609060101010101" charset="-122"/>
              </a:rPr>
              <a:t>(</a:t>
            </a:r>
            <a:r>
              <a:rPr lang="zh-CN" altLang="en-US" sz="2800" b="1" dirty="0">
                <a:latin typeface="宋体" panose="02010600030101010101" pitchFamily="2" charset="-122"/>
                <a:ea typeface="楷体" panose="02010609060101010101" charset="-122"/>
              </a:rPr>
              <a:t>主题句</a:t>
            </a:r>
            <a:r>
              <a:rPr lang="en-US" altLang="zh-CN" sz="2800" b="1" dirty="0">
                <a:latin typeface="宋体" panose="02010600030101010101" pitchFamily="2" charset="-122"/>
                <a:ea typeface="楷体" panose="02010609060101010101" charset="-122"/>
              </a:rPr>
              <a:t>) There are several factors affecting climate. (</a:t>
            </a:r>
            <a:r>
              <a:rPr lang="zh-CN" altLang="en-US" sz="2800" b="1" dirty="0">
                <a:latin typeface="宋体" panose="02010600030101010101" pitchFamily="2" charset="-122"/>
                <a:ea typeface="楷体" panose="02010609060101010101" charset="-122"/>
              </a:rPr>
              <a:t>推展句</a:t>
            </a:r>
            <a:r>
              <a:rPr lang="en-US" altLang="zh-CN" sz="2800" b="1" dirty="0">
                <a:latin typeface="宋体" panose="02010600030101010101" pitchFamily="2" charset="-122"/>
                <a:ea typeface="楷体" panose="02010609060101010101" charset="-122"/>
              </a:rPr>
              <a:t>1)One factor is the mount of sunlight received. (</a:t>
            </a:r>
            <a:r>
              <a:rPr lang="zh-CN" altLang="en-US" sz="2800" b="1" dirty="0">
                <a:latin typeface="宋体" panose="02010600030101010101" pitchFamily="2" charset="-122"/>
                <a:ea typeface="楷体" panose="02010609060101010101" charset="-122"/>
              </a:rPr>
              <a:t>推展句</a:t>
            </a:r>
            <a:r>
              <a:rPr lang="en-US" altLang="zh-CN" sz="2800" b="1" dirty="0">
                <a:latin typeface="宋体" panose="02010600030101010101" pitchFamily="2" charset="-122"/>
                <a:ea typeface="楷体" panose="02010609060101010101" charset="-122"/>
              </a:rPr>
              <a:t>2)Altitude, or the height above sea level, also determines climate. (</a:t>
            </a:r>
            <a:r>
              <a:rPr lang="zh-CN" altLang="en-US" sz="2800" b="1" dirty="0">
                <a:latin typeface="宋体" panose="02010600030101010101" pitchFamily="2" charset="-122"/>
                <a:ea typeface="楷体" panose="02010609060101010101" charset="-122"/>
              </a:rPr>
              <a:t>推展句</a:t>
            </a:r>
            <a:r>
              <a:rPr lang="en-US" altLang="zh-CN" sz="2800" b="1" dirty="0">
                <a:latin typeface="宋体" panose="02010600030101010101" pitchFamily="2" charset="-122"/>
                <a:ea typeface="楷体" panose="02010609060101010101" charset="-122"/>
              </a:rPr>
              <a:t>3)The oceans have an effect on the climate of adjacent land. (</a:t>
            </a:r>
            <a:r>
              <a:rPr lang="zh-CN" altLang="en-US" sz="2800" b="1" dirty="0">
                <a:latin typeface="宋体" panose="02010600030101010101" pitchFamily="2" charset="-122"/>
                <a:ea typeface="楷体" panose="02010609060101010101" charset="-122"/>
              </a:rPr>
              <a:t>推展句</a:t>
            </a:r>
            <a:r>
              <a:rPr lang="en-US" altLang="zh-CN" sz="2800" b="1" dirty="0">
                <a:latin typeface="宋体" panose="02010600030101010101" pitchFamily="2" charset="-122"/>
                <a:ea typeface="楷体" panose="02010609060101010101" charset="-122"/>
              </a:rPr>
              <a:t>4)In addition, climate is influenced by the general circulation of the atmosphere.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6A06BBD-2C9D-4C23-80FC-3525ED283780}"/>
              </a:ext>
            </a:extLst>
          </p:cNvPr>
          <p:cNvSpPr>
            <a:spLocks noGrp="1"/>
          </p:cNvSpPr>
          <p:nvPr>
            <p:ph type="title"/>
          </p:nvPr>
        </p:nvSpPr>
        <p:spPr/>
        <p:txBody>
          <a:bodyPr/>
          <a:lstStyle/>
          <a:p>
            <a:r>
              <a:rPr lang="zh-CN" altLang="en-US" dirty="0"/>
              <a:t>次要推展句</a:t>
            </a:r>
          </a:p>
        </p:txBody>
      </p:sp>
      <p:sp>
        <p:nvSpPr>
          <p:cNvPr id="2093" name="文本占位符 2092"/>
          <p:cNvSpPr>
            <a:spLocks noGrp="1"/>
          </p:cNvSpPr>
          <p:nvPr>
            <p:ph idx="1"/>
          </p:nvPr>
        </p:nvSpPr>
        <p:spPr/>
        <p:txBody>
          <a:bodyPr/>
          <a:lstStyle/>
          <a:p>
            <a:pPr>
              <a:lnSpc>
                <a:spcPct val="165000"/>
              </a:lnSpc>
              <a:buClr>
                <a:schemeClr val="accent1"/>
              </a:buClr>
              <a:buNone/>
            </a:pPr>
            <a:r>
              <a:rPr lang="en-US" altLang="zh-CN">
                <a:latin typeface="宋体" panose="02010600030101010101" pitchFamily="2" charset="-122"/>
                <a:ea typeface="楷体" panose="02010609060101010101" charset="-122"/>
              </a:rPr>
              <a:t>   </a:t>
            </a:r>
            <a:r>
              <a:rPr lang="zh-CN" altLang="en-US" sz="2800" b="1">
                <a:latin typeface="宋体" panose="02010600030101010101" pitchFamily="2" charset="-122"/>
                <a:ea typeface="楷体" panose="02010609060101010101" charset="-122"/>
              </a:rPr>
              <a:t>次要推展句（</a:t>
            </a:r>
            <a:r>
              <a:rPr lang="en-US" altLang="zh-CN" sz="2800" b="1">
                <a:latin typeface="宋体" panose="02010600030101010101" pitchFamily="2" charset="-122"/>
                <a:ea typeface="楷体" panose="02010609060101010101" charset="-122"/>
              </a:rPr>
              <a:t>minor supporting statement</a:t>
            </a:r>
            <a:r>
              <a:rPr lang="zh-CN" altLang="en-US" sz="2800" b="1">
                <a:latin typeface="宋体" panose="02010600030101010101" pitchFamily="2" charset="-122"/>
                <a:ea typeface="楷体" panose="02010609060101010101" charset="-122"/>
              </a:rPr>
              <a:t>）是指对主要推展句作进一步事实分析和举例说明。它从属于某一个或某几个推展句。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 name="文本占位符 2096"/>
          <p:cNvSpPr>
            <a:spLocks noGrp="1"/>
          </p:cNvSpPr>
          <p:nvPr>
            <p:ph type="body"/>
          </p:nvPr>
        </p:nvSpPr>
        <p:spPr>
          <a:xfrm>
            <a:off x="323850" y="981075"/>
            <a:ext cx="8229600" cy="4987925"/>
          </a:xfrm>
        </p:spPr>
        <p:txBody>
          <a:bodyPr/>
          <a:lstStyle/>
          <a:p>
            <a:pPr>
              <a:lnSpc>
                <a:spcPct val="125000"/>
              </a:lnSpc>
              <a:buClr>
                <a:schemeClr val="accent1"/>
              </a:buClr>
            </a:pPr>
            <a:r>
              <a:rPr lang="zh-CN" altLang="en-US" sz="2800" b="1">
                <a:latin typeface="宋体" panose="02010600030101010101" pitchFamily="2" charset="-122"/>
                <a:ea typeface="楷体" panose="02010609060101010101" charset="-122"/>
              </a:rPr>
              <a:t>（主题句）</a:t>
            </a:r>
            <a:r>
              <a:rPr lang="en-US" altLang="zh-CN" sz="2800" b="1">
                <a:latin typeface="宋体" panose="02010600030101010101" pitchFamily="2" charset="-122"/>
                <a:ea typeface="楷体" panose="02010609060101010101" charset="-122"/>
              </a:rPr>
              <a:t>I don’t teach because teaching is not easy for me.</a:t>
            </a:r>
            <a:r>
              <a:rPr lang="zh-CN" altLang="en-US" sz="2800" b="1">
                <a:latin typeface="宋体" panose="02010600030101010101" pitchFamily="2" charset="-122"/>
                <a:ea typeface="楷体" panose="02010609060101010101" charset="-122"/>
              </a:rPr>
              <a:t>（主要推展句</a:t>
            </a:r>
            <a:r>
              <a:rPr lang="en-US" altLang="zh-CN" sz="2800" b="1">
                <a:latin typeface="宋体" panose="02010600030101010101" pitchFamily="2" charset="-122"/>
                <a:ea typeface="楷体" panose="02010609060101010101" charset="-122"/>
              </a:rPr>
              <a:t>1</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Teaching is the most difficult of the various ways I have attempted to earn my living</a:t>
            </a:r>
            <a:r>
              <a:rPr lang="zh-CN" altLang="en-US" sz="2800" b="1">
                <a:latin typeface="宋体" panose="02010600030101010101" pitchFamily="2" charset="-122"/>
                <a:ea typeface="楷体" panose="02010609060101010101" charset="-122"/>
              </a:rPr>
              <a:t>： </a:t>
            </a:r>
            <a:r>
              <a:rPr lang="en-US" altLang="zh-CN" sz="2800" b="1">
                <a:latin typeface="宋体" panose="02010600030101010101" pitchFamily="2" charset="-122"/>
                <a:ea typeface="楷体" panose="02010609060101010101" charset="-122"/>
              </a:rPr>
              <a:t>mechanic</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carpenter</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writer.</a:t>
            </a:r>
            <a:r>
              <a:rPr lang="zh-CN" altLang="en-US" sz="2800" b="1">
                <a:latin typeface="宋体" panose="02010600030101010101" pitchFamily="2" charset="-122"/>
                <a:ea typeface="楷体" panose="02010609060101010101" charset="-122"/>
              </a:rPr>
              <a:t>（主要推展句</a:t>
            </a:r>
            <a:r>
              <a:rPr lang="en-US" altLang="zh-CN" sz="2800" b="1">
                <a:latin typeface="宋体" panose="02010600030101010101" pitchFamily="2" charset="-122"/>
                <a:ea typeface="楷体" panose="02010609060101010101" charset="-122"/>
              </a:rPr>
              <a:t>2</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For me</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teaching is a red-eye</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sweaty-palm</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sinking-stomach profession.</a:t>
            </a:r>
            <a:r>
              <a:rPr lang="zh-CN" altLang="en-US" sz="2800" b="1">
                <a:latin typeface="宋体" panose="02010600030101010101" pitchFamily="2" charset="-122"/>
                <a:ea typeface="楷体" panose="02010609060101010101" charset="-122"/>
              </a:rPr>
              <a:t>（次要推展句</a:t>
            </a:r>
            <a:r>
              <a:rPr lang="en-US" altLang="zh-CN" sz="2800" b="1">
                <a:latin typeface="宋体" panose="02010600030101010101" pitchFamily="2" charset="-122"/>
                <a:ea typeface="楷体" panose="02010609060101010101" charset="-122"/>
              </a:rPr>
              <a:t>1</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Red-eye</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because I never feel ready to teach no matter how late I stay up preparing.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36201AF-E09C-47C6-B4D9-21AFA4C7761F}"/>
              </a:ext>
            </a:extLst>
          </p:cNvPr>
          <p:cNvSpPr>
            <a:spLocks noGrp="1"/>
          </p:cNvSpPr>
          <p:nvPr>
            <p:ph idx="1"/>
          </p:nvPr>
        </p:nvSpPr>
        <p:spPr>
          <a:xfrm>
            <a:off x="457200" y="1484784"/>
            <a:ext cx="8229600" cy="4646141"/>
          </a:xfrm>
        </p:spPr>
        <p:txBody>
          <a:bodyPr/>
          <a:lstStyle/>
          <a:p>
            <a:r>
              <a:rPr lang="zh-CN" altLang="en-US" sz="3200" b="1" dirty="0">
                <a:latin typeface="宋体" panose="02010600030101010101" pitchFamily="2" charset="-122"/>
                <a:ea typeface="楷体" panose="02010609060101010101" charset="-122"/>
              </a:rPr>
              <a:t>（次要推展句</a:t>
            </a:r>
            <a:r>
              <a:rPr lang="en-US" altLang="zh-CN" sz="3200" b="1" dirty="0">
                <a:latin typeface="宋体" panose="02010600030101010101" pitchFamily="2" charset="-122"/>
                <a:ea typeface="楷体" panose="02010609060101010101" charset="-122"/>
              </a:rPr>
              <a:t>2</a:t>
            </a:r>
            <a:r>
              <a:rPr lang="zh-CN" altLang="en-US" sz="3200" b="1" dirty="0">
                <a:latin typeface="宋体" panose="02010600030101010101" pitchFamily="2" charset="-122"/>
                <a:ea typeface="楷体" panose="02010609060101010101" charset="-122"/>
              </a:rPr>
              <a:t>）</a:t>
            </a:r>
            <a:r>
              <a:rPr lang="en-US" altLang="zh-CN" sz="3200" b="1" dirty="0">
                <a:latin typeface="宋体" panose="02010600030101010101" pitchFamily="2" charset="-122"/>
                <a:ea typeface="楷体" panose="02010609060101010101" charset="-122"/>
              </a:rPr>
              <a:t>Sweaty-palm</a:t>
            </a:r>
            <a:r>
              <a:rPr lang="zh-CN" altLang="en-US" sz="3200" b="1" dirty="0">
                <a:latin typeface="宋体" panose="02010600030101010101" pitchFamily="2" charset="-122"/>
                <a:ea typeface="楷体" panose="02010609060101010101" charset="-122"/>
              </a:rPr>
              <a:t>，</a:t>
            </a:r>
            <a:r>
              <a:rPr lang="en-US" altLang="zh-CN" sz="3200" b="1" dirty="0">
                <a:latin typeface="宋体" panose="02010600030101010101" pitchFamily="2" charset="-122"/>
                <a:ea typeface="楷体" panose="02010609060101010101" charset="-122"/>
              </a:rPr>
              <a:t>because I’m always nervous before I enter the classroom</a:t>
            </a:r>
            <a:r>
              <a:rPr lang="zh-CN" altLang="en-US" sz="3200" b="1" dirty="0">
                <a:latin typeface="宋体" panose="02010600030101010101" pitchFamily="2" charset="-122"/>
                <a:ea typeface="楷体" panose="02010609060101010101" charset="-122"/>
              </a:rPr>
              <a:t>，</a:t>
            </a:r>
            <a:r>
              <a:rPr lang="en-US" altLang="zh-CN" sz="3200" b="1" dirty="0">
                <a:latin typeface="宋体" panose="02010600030101010101" pitchFamily="2" charset="-122"/>
                <a:ea typeface="楷体" panose="02010609060101010101" charset="-122"/>
              </a:rPr>
              <a:t>sure that I will be found out for the fool that I am.</a:t>
            </a:r>
            <a:r>
              <a:rPr lang="zh-CN" altLang="en-US" sz="3200" b="1" dirty="0">
                <a:latin typeface="宋体" panose="02010600030101010101" pitchFamily="2" charset="-122"/>
                <a:ea typeface="楷体" panose="02010609060101010101" charset="-122"/>
              </a:rPr>
              <a:t>（次要推展句</a:t>
            </a:r>
            <a:r>
              <a:rPr lang="en-US" altLang="zh-CN" sz="3200" b="1" dirty="0">
                <a:latin typeface="宋体" panose="02010600030101010101" pitchFamily="2" charset="-122"/>
                <a:ea typeface="楷体" panose="02010609060101010101" charset="-122"/>
              </a:rPr>
              <a:t>3</a:t>
            </a:r>
            <a:r>
              <a:rPr lang="zh-CN" altLang="en-US" sz="3200" b="1" dirty="0">
                <a:latin typeface="宋体" panose="02010600030101010101" pitchFamily="2" charset="-122"/>
                <a:ea typeface="楷体" panose="02010609060101010101" charset="-122"/>
              </a:rPr>
              <a:t>）</a:t>
            </a:r>
            <a:r>
              <a:rPr lang="en-US" altLang="zh-CN" sz="3200" b="1" dirty="0">
                <a:latin typeface="宋体" panose="02010600030101010101" pitchFamily="2" charset="-122"/>
                <a:ea typeface="楷体" panose="02010609060101010101" charset="-122"/>
              </a:rPr>
              <a:t>Sinking-stomach</a:t>
            </a:r>
            <a:r>
              <a:rPr lang="zh-CN" altLang="en-US" sz="3200" b="1" dirty="0">
                <a:latin typeface="宋体" panose="02010600030101010101" pitchFamily="2" charset="-122"/>
                <a:ea typeface="楷体" panose="02010609060101010101" charset="-122"/>
              </a:rPr>
              <a:t>，</a:t>
            </a:r>
            <a:r>
              <a:rPr lang="en-US" altLang="zh-CN" sz="3200" b="1" dirty="0">
                <a:latin typeface="宋体" panose="02010600030101010101" pitchFamily="2" charset="-122"/>
                <a:ea typeface="楷体" panose="02010609060101010101" charset="-122"/>
              </a:rPr>
              <a:t>because I leave the classroom an hour later convinced that I was even more boring than usual. </a:t>
            </a:r>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4" name="标题 2103"/>
          <p:cNvSpPr>
            <a:spLocks noGrp="1"/>
          </p:cNvSpPr>
          <p:nvPr>
            <p:ph type="title"/>
          </p:nvPr>
        </p:nvSpPr>
        <p:spPr>
          <a:xfrm>
            <a:off x="457200" y="1066800"/>
            <a:ext cx="4637088" cy="755650"/>
          </a:xfrm>
        </p:spPr>
        <p:txBody>
          <a:bodyPr anchor="ctr" anchorCtr="0"/>
          <a:lstStyle/>
          <a:p>
            <a:r>
              <a:rPr lang="zh-CN" altLang="en-US" sz="3400" b="1">
                <a:latin typeface="宋体" panose="02010600030101010101" pitchFamily="2" charset="-122"/>
                <a:ea typeface="楷体" panose="02010609060101010101" charset="-122"/>
              </a:rPr>
              <a:t>段落发展的几种手段</a:t>
            </a:r>
            <a:br>
              <a:rPr lang="zh-CN" altLang="en-US" sz="3400" b="1">
                <a:latin typeface="宋体" panose="02010600030101010101" pitchFamily="2" charset="-122"/>
                <a:ea typeface="楷体" panose="02010609060101010101" charset="-122"/>
              </a:rPr>
            </a:br>
            <a:endParaRPr lang="zh-CN" altLang="en-US" sz="3400" b="1">
              <a:latin typeface="宋体" panose="02010600030101010101" pitchFamily="2" charset="-122"/>
              <a:ea typeface="楷体" panose="02010609060101010101" charset="-122"/>
            </a:endParaRPr>
          </a:p>
        </p:txBody>
      </p:sp>
      <p:sp>
        <p:nvSpPr>
          <p:cNvPr id="2105" name="文本占位符 2104"/>
          <p:cNvSpPr>
            <a:spLocks noGrp="1"/>
          </p:cNvSpPr>
          <p:nvPr>
            <p:ph type="body"/>
          </p:nvPr>
        </p:nvSpPr>
        <p:spPr>
          <a:xfrm>
            <a:off x="457200" y="2057400"/>
            <a:ext cx="8229600" cy="3733800"/>
          </a:xfrm>
        </p:spPr>
        <p:txBody>
          <a:bodyPr/>
          <a:lstStyle/>
          <a:p>
            <a:pPr>
              <a:lnSpc>
                <a:spcPct val="145000"/>
              </a:lnSpc>
              <a:buClr>
                <a:schemeClr val="accent1"/>
              </a:buClr>
            </a:pPr>
            <a:r>
              <a:rPr lang="en-US" altLang="zh-CN" sz="2800" b="1">
                <a:latin typeface="宋体" panose="02010600030101010101" pitchFamily="2" charset="-122"/>
                <a:ea typeface="楷体" panose="02010609060101010101" charset="-122"/>
              </a:rPr>
              <a:t>1</a:t>
            </a:r>
            <a:r>
              <a:rPr lang="zh-CN" altLang="en-US" sz="2800" b="1">
                <a:latin typeface="宋体" panose="02010600030101010101" pitchFamily="2" charset="-122"/>
                <a:ea typeface="楷体" panose="02010609060101010101" charset="-122"/>
              </a:rPr>
              <a:t>． 列举法</a:t>
            </a:r>
            <a:r>
              <a:rPr lang="en-US" altLang="zh-CN" sz="2800" b="1">
                <a:latin typeface="宋体" panose="02010600030101010101" pitchFamily="2" charset="-122"/>
                <a:ea typeface="楷体" panose="02010609060101010101" charset="-122"/>
              </a:rPr>
              <a:t>(details) </a:t>
            </a:r>
            <a:r>
              <a:rPr lang="zh-CN" altLang="en-US" sz="2800" b="1">
                <a:latin typeface="宋体" panose="02010600030101010101" pitchFamily="2" charset="-122"/>
                <a:ea typeface="楷体" panose="02010609060101010101" charset="-122"/>
              </a:rPr>
              <a:t>作者运用列举法，是通过列举一系列的论据对</a:t>
            </a:r>
            <a:r>
              <a:rPr lang="en-US" altLang="zh-CN" sz="2800" b="1">
                <a:latin typeface="宋体" panose="02010600030101010101" pitchFamily="2" charset="-122"/>
                <a:ea typeface="楷体" panose="02010609060101010101" charset="-122"/>
              </a:rPr>
              <a:t>topic sentence</a:t>
            </a:r>
            <a:r>
              <a:rPr lang="zh-CN" altLang="en-US" sz="2800" b="1">
                <a:latin typeface="宋体" panose="02010600030101010101" pitchFamily="2" charset="-122"/>
                <a:ea typeface="楷体" panose="02010609060101010101" charset="-122"/>
              </a:rPr>
              <a:t>中摆出的论点进行广泛、全面地陈述或解释，列举的顺序可以按照所列各点内容的相对重要性、时间、空间等进行。 </a:t>
            </a:r>
          </a:p>
          <a:p>
            <a:pPr>
              <a:buClr>
                <a:schemeClr val="accent1"/>
              </a:buClr>
            </a:pPr>
            <a:endParaRPr lang="zh-CN" altLang="en-US" sz="2800" b="1">
              <a:latin typeface="宋体" panose="02010600030101010101" pitchFamily="2" charset="-122"/>
              <a:ea typeface="楷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8" name="标题 2107"/>
          <p:cNvSpPr>
            <a:spLocks noGrp="1"/>
          </p:cNvSpPr>
          <p:nvPr>
            <p:ph type="title"/>
          </p:nvPr>
        </p:nvSpPr>
        <p:spPr>
          <a:xfrm flipV="1">
            <a:off x="457200" y="200025"/>
            <a:ext cx="8229600" cy="74613"/>
          </a:xfrm>
        </p:spPr>
        <p:txBody>
          <a:bodyPr anchor="ctr" anchorCtr="0"/>
          <a:lstStyle/>
          <a:p>
            <a:r>
              <a:rPr lang="en-US" sz="3400">
                <a:ea typeface="楷体" panose="02010609060101010101" charset="-122"/>
              </a:rPr>
              <a:t> </a:t>
            </a:r>
          </a:p>
        </p:txBody>
      </p:sp>
      <p:sp>
        <p:nvSpPr>
          <p:cNvPr id="2109" name="文本占位符 2108"/>
          <p:cNvSpPr>
            <a:spLocks noGrp="1"/>
          </p:cNvSpPr>
          <p:nvPr>
            <p:ph type="body"/>
          </p:nvPr>
        </p:nvSpPr>
        <p:spPr>
          <a:xfrm>
            <a:off x="457200" y="1143000"/>
            <a:ext cx="8229600" cy="5140325"/>
          </a:xfrm>
        </p:spPr>
        <p:txBody>
          <a:bodyPr/>
          <a:lstStyle/>
          <a:p>
            <a:pPr>
              <a:lnSpc>
                <a:spcPct val="145000"/>
              </a:lnSpc>
              <a:buClr>
                <a:schemeClr val="accent1"/>
              </a:buClr>
            </a:pPr>
            <a:r>
              <a:rPr lang="en-US" altLang="zh-CN" sz="2800" b="1" dirty="0">
                <a:latin typeface="宋体" panose="02010600030101010101" pitchFamily="2" charset="-122"/>
                <a:ea typeface="楷体" panose="02010609060101010101" charset="-122"/>
              </a:rPr>
              <a:t>Yesterday as one of those awful days for me when everything I did went wrong. </a:t>
            </a:r>
            <a:r>
              <a:rPr lang="en-US" altLang="zh-CN" sz="2800" b="1" dirty="0">
                <a:solidFill>
                  <a:srgbClr val="CC0066"/>
                </a:solidFill>
                <a:latin typeface="宋体" panose="02010600030101010101" pitchFamily="2" charset="-122"/>
                <a:ea typeface="楷体" panose="02010609060101010101" charset="-122"/>
              </a:rPr>
              <a:t>First</a:t>
            </a:r>
            <a:r>
              <a:rPr lang="zh-CN" altLang="en-US" sz="2800" b="1" dirty="0">
                <a:solidFill>
                  <a:srgbClr val="CC0066"/>
                </a:solidFill>
                <a:latin typeface="宋体" panose="02010600030101010101" pitchFamily="2" charset="-122"/>
                <a:ea typeface="楷体" panose="02010609060101010101" charset="-122"/>
              </a:rPr>
              <a:t>，</a:t>
            </a:r>
            <a:r>
              <a:rPr lang="en-US" altLang="zh-CN" sz="2800" b="1" dirty="0">
                <a:latin typeface="宋体" panose="02010600030101010101" pitchFamily="2" charset="-122"/>
                <a:ea typeface="楷体" panose="02010609060101010101" charset="-122"/>
              </a:rPr>
              <a:t>I didn’t hear my alarm clock and arrived late for work. </a:t>
            </a:r>
            <a:r>
              <a:rPr lang="en-US" altLang="zh-CN" sz="2800" b="1" dirty="0">
                <a:solidFill>
                  <a:srgbClr val="CC0066"/>
                </a:solidFill>
                <a:latin typeface="宋体" panose="02010600030101010101" pitchFamily="2" charset="-122"/>
                <a:ea typeface="楷体" panose="02010609060101010101" charset="-122"/>
              </a:rPr>
              <a:t>Then</a:t>
            </a:r>
            <a:r>
              <a:rPr lang="zh-CN" altLang="en-US" sz="2800" b="1" dirty="0">
                <a:solidFill>
                  <a:srgbClr val="CC0066"/>
                </a:solidFill>
                <a:latin typeface="宋体" panose="02010600030101010101" pitchFamily="2" charset="-122"/>
                <a:ea typeface="楷体" panose="02010609060101010101" charset="-122"/>
              </a:rPr>
              <a:t>，</a:t>
            </a:r>
            <a:r>
              <a:rPr lang="en-US" altLang="zh-CN" sz="2800" b="1" dirty="0">
                <a:latin typeface="宋体" panose="02010600030101010101" pitchFamily="2" charset="-122"/>
                <a:ea typeface="楷体" panose="02010609060101010101" charset="-122"/>
              </a:rPr>
              <a:t>I didn’t read my diary properly and forgot to get to an important meeting with my boss. </a:t>
            </a:r>
            <a:r>
              <a:rPr lang="en-US" altLang="zh-CN" sz="2800" b="1" dirty="0">
                <a:solidFill>
                  <a:srgbClr val="CC0066"/>
                </a:solidFill>
                <a:latin typeface="宋体" panose="02010600030101010101" pitchFamily="2" charset="-122"/>
                <a:ea typeface="楷体" panose="02010609060101010101" charset="-122"/>
              </a:rPr>
              <a:t>During the coffee break</a:t>
            </a:r>
            <a:r>
              <a:rPr lang="zh-CN" altLang="en-US" sz="2800" b="1" dirty="0">
                <a:solidFill>
                  <a:srgbClr val="CC0066"/>
                </a:solidFill>
                <a:latin typeface="宋体" panose="02010600030101010101" pitchFamily="2" charset="-122"/>
                <a:ea typeface="楷体" panose="02010609060101010101" charset="-122"/>
              </a:rPr>
              <a:t>，</a:t>
            </a:r>
            <a:r>
              <a:rPr lang="en-US" altLang="zh-CN" sz="2800" b="1" dirty="0">
                <a:latin typeface="宋体" panose="02010600030101010101" pitchFamily="2" charset="-122"/>
                <a:ea typeface="楷体" panose="02010609060101010101" charset="-122"/>
              </a:rPr>
              <a:t>I dropped my coffee cup and spoilt my new skirt.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2" name="标题 2111"/>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13" name="文本占位符 2112"/>
          <p:cNvSpPr>
            <a:spLocks noGrp="1"/>
          </p:cNvSpPr>
          <p:nvPr>
            <p:ph type="body"/>
          </p:nvPr>
        </p:nvSpPr>
        <p:spPr>
          <a:xfrm>
            <a:off x="457200" y="990600"/>
            <a:ext cx="8229600" cy="5140325"/>
          </a:xfrm>
        </p:spPr>
        <p:txBody>
          <a:bodyPr/>
          <a:lstStyle/>
          <a:p>
            <a:pPr>
              <a:lnSpc>
                <a:spcPct val="125000"/>
              </a:lnSpc>
              <a:buClr>
                <a:schemeClr val="accent1"/>
              </a:buClr>
              <a:buNone/>
            </a:pPr>
            <a:r>
              <a:rPr lang="en-US" altLang="zh-CN" sz="2800" b="1">
                <a:latin typeface="宋体" panose="02010600030101010101" pitchFamily="2" charset="-122"/>
                <a:ea typeface="楷体" panose="02010609060101010101" charset="-122"/>
              </a:rPr>
              <a:t>    </a:t>
            </a:r>
            <a:r>
              <a:rPr lang="en-US" altLang="zh-CN" sz="2800" b="1">
                <a:solidFill>
                  <a:srgbClr val="CC0066"/>
                </a:solidFill>
                <a:latin typeface="宋体" panose="02010600030101010101" pitchFamily="2" charset="-122"/>
                <a:ea typeface="楷体" panose="02010609060101010101" charset="-122"/>
              </a:rPr>
              <a:t>At lunch time</a:t>
            </a:r>
            <a:r>
              <a:rPr lang="zh-CN" altLang="en-US" sz="2800" b="1">
                <a:solidFill>
                  <a:srgbClr val="CC0066"/>
                </a:solidFill>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I left my purse on a bus and lost all the money that as in it. </a:t>
            </a:r>
            <a:r>
              <a:rPr lang="en-US" altLang="zh-CN" sz="2800" b="1">
                <a:solidFill>
                  <a:srgbClr val="CC0066"/>
                </a:solidFill>
                <a:latin typeface="宋体" panose="02010600030101010101" pitchFamily="2" charset="-122"/>
                <a:ea typeface="楷体" panose="02010609060101010101" charset="-122"/>
              </a:rPr>
              <a:t>After lunch</a:t>
            </a:r>
            <a:r>
              <a:rPr lang="zh-CN" altLang="en-US" sz="2800" b="1">
                <a:solidFill>
                  <a:srgbClr val="CC0066"/>
                </a:solidFill>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my boss was angry because I hadn’t gone to the meeting. </a:t>
            </a:r>
            <a:r>
              <a:rPr lang="en-US" altLang="zh-CN" sz="2800" b="1">
                <a:solidFill>
                  <a:srgbClr val="CC0066"/>
                </a:solidFill>
                <a:latin typeface="宋体" panose="02010600030101010101" pitchFamily="2" charset="-122"/>
                <a:ea typeface="楷体" panose="02010609060101010101" charset="-122"/>
              </a:rPr>
              <a:t>Then </a:t>
            </a:r>
            <a:r>
              <a:rPr lang="en-US" altLang="zh-CN" sz="2800" b="1">
                <a:latin typeface="宋体" panose="02010600030101010101" pitchFamily="2" charset="-122"/>
                <a:ea typeface="楷体" panose="02010609060101010101" charset="-122"/>
              </a:rPr>
              <a:t>I didn’t notice a sign on a door that said “wet Paint” and so I spoilt my jacket too. </a:t>
            </a:r>
            <a:r>
              <a:rPr lang="en-US" altLang="zh-CN" sz="2800" b="1">
                <a:solidFill>
                  <a:srgbClr val="CC0066"/>
                </a:solidFill>
                <a:latin typeface="宋体" panose="02010600030101010101" pitchFamily="2" charset="-122"/>
                <a:ea typeface="楷体" panose="02010609060101010101" charset="-122"/>
              </a:rPr>
              <a:t>When I got home</a:t>
            </a:r>
            <a:r>
              <a:rPr lang="en-US" altLang="zh-CN" sz="2800" b="1">
                <a:latin typeface="宋体" panose="02010600030101010101" pitchFamily="2" charset="-122"/>
                <a:ea typeface="楷体" panose="02010609060101010101" charset="-122"/>
              </a:rPr>
              <a:t> I couldn’t get into my flat because I had left my key in my office. So I broke a window to get in and cut my hand.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6" name="标题 2115"/>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17" name="文本占位符 2116"/>
          <p:cNvSpPr>
            <a:spLocks noGrp="1"/>
          </p:cNvSpPr>
          <p:nvPr>
            <p:ph type="body"/>
          </p:nvPr>
        </p:nvSpPr>
        <p:spPr>
          <a:xfrm>
            <a:off x="457200" y="838200"/>
            <a:ext cx="8382000" cy="5292725"/>
          </a:xfrm>
        </p:spPr>
        <p:txBody>
          <a:bodyPr/>
          <a:lstStyle/>
          <a:p>
            <a:pPr>
              <a:lnSpc>
                <a:spcPct val="120000"/>
              </a:lnSpc>
              <a:buClr>
                <a:schemeClr val="accent1"/>
              </a:buClr>
            </a:pPr>
            <a:r>
              <a:rPr lang="zh-CN" altLang="en-US" sz="2800" b="1">
                <a:latin typeface="宋体" panose="02010600030101010101" pitchFamily="2" charset="-122"/>
                <a:ea typeface="楷体" panose="02010609060101010101" charset="-122"/>
              </a:rPr>
              <a:t>根据本段主题句中关键词组</a:t>
            </a:r>
            <a:r>
              <a:rPr lang="en-US" altLang="zh-CN" sz="2800" b="1">
                <a:latin typeface="宋体" panose="02010600030101010101" pitchFamily="2" charset="-122"/>
                <a:ea typeface="楷体" panose="02010609060101010101" charset="-122"/>
              </a:rPr>
              <a:t>everything I did went wrong</a:t>
            </a:r>
            <a:r>
              <a:rPr lang="zh-CN" altLang="en-US" sz="2800" b="1">
                <a:latin typeface="宋体" panose="02010600030101010101" pitchFamily="2" charset="-122"/>
                <a:ea typeface="楷体" panose="02010609060101010101" charset="-122"/>
              </a:rPr>
              <a:t>，作者列举了</a:t>
            </a:r>
            <a:r>
              <a:rPr lang="en-US" altLang="zh-CN" sz="2800" b="1">
                <a:latin typeface="宋体" panose="02010600030101010101" pitchFamily="2" charset="-122"/>
                <a:ea typeface="楷体" panose="02010609060101010101" charset="-122"/>
              </a:rPr>
              <a:t>8</a:t>
            </a:r>
            <a:r>
              <a:rPr lang="zh-CN" altLang="en-US" sz="2800" b="1">
                <a:latin typeface="宋体" panose="02010600030101010101" pitchFamily="2" charset="-122"/>
                <a:ea typeface="楷体" panose="02010609060101010101" charset="-122"/>
              </a:rPr>
              <a:t>点内容，分别由</a:t>
            </a:r>
            <a:r>
              <a:rPr lang="en-US" altLang="zh-CN" sz="2800" b="1">
                <a:latin typeface="宋体" panose="02010600030101010101" pitchFamily="2" charset="-122"/>
                <a:ea typeface="楷体" panose="02010609060101010101" charset="-122"/>
              </a:rPr>
              <a:t>first</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then</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during the coffee break</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after lunch time</a:t>
            </a:r>
            <a:r>
              <a:rPr lang="zh-CN" altLang="en-US" sz="2800" b="1">
                <a:latin typeface="宋体" panose="02010600030101010101" pitchFamily="2" charset="-122"/>
                <a:ea typeface="楷体" panose="02010609060101010101" charset="-122"/>
              </a:rPr>
              <a:t>等连接词语引出，使得该文条理清楚、脉络分明、内容连贯。</a:t>
            </a:r>
          </a:p>
          <a:p>
            <a:pPr>
              <a:lnSpc>
                <a:spcPct val="90000"/>
              </a:lnSpc>
              <a:buClr>
                <a:schemeClr val="accent1"/>
              </a:buClr>
            </a:pPr>
            <a:endParaRPr lang="zh-CN" altLang="en-US" sz="2800" b="1">
              <a:latin typeface="宋体" panose="02010600030101010101" pitchFamily="2" charset="-122"/>
              <a:ea typeface="楷体" panose="02010609060101010101" charset="-122"/>
            </a:endParaRPr>
          </a:p>
          <a:p>
            <a:pPr>
              <a:lnSpc>
                <a:spcPct val="120000"/>
              </a:lnSpc>
              <a:buClr>
                <a:schemeClr val="accent1"/>
              </a:buClr>
            </a:pPr>
            <a:r>
              <a:rPr lang="zh-CN" altLang="en-US" sz="2800" b="1">
                <a:solidFill>
                  <a:srgbClr val="CC0066"/>
                </a:solidFill>
                <a:latin typeface="宋体" panose="02010600030101010101" pitchFamily="2" charset="-122"/>
                <a:ea typeface="楷体" panose="02010609060101010101" charset="-122"/>
              </a:rPr>
              <a:t>常用于列举法过渡连接词有：</a:t>
            </a:r>
            <a:r>
              <a:rPr lang="en-US" altLang="zh-CN" sz="2800" b="1">
                <a:latin typeface="宋体" panose="02010600030101010101" pitchFamily="2" charset="-122"/>
                <a:ea typeface="楷体" panose="02010609060101010101" charset="-122"/>
              </a:rPr>
              <a:t>for one thing </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for another</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finally</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besides</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moreover</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one another </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still another</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first</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second</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also</a:t>
            </a:r>
            <a:r>
              <a:rPr lang="zh-CN" altLang="en-US" sz="2800" b="1">
                <a:latin typeface="宋体" panose="02010600030101010101" pitchFamily="2" charset="-122"/>
                <a:ea typeface="楷体" panose="02010609060101010101" charset="-122"/>
              </a:rPr>
              <a:t>等</a:t>
            </a:r>
            <a:r>
              <a:rPr lang="zh-CN" altLang="en-US" sz="2800">
                <a:latin typeface="宋体" panose="02010600030101010101" pitchFamily="2" charset="-122"/>
                <a:ea typeface="楷体" panose="02010609060101010101" charset="-122"/>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0" name="标题 2119"/>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21" name="文本占位符 2120"/>
          <p:cNvSpPr>
            <a:spLocks noGrp="1"/>
          </p:cNvSpPr>
          <p:nvPr>
            <p:ph type="body"/>
          </p:nvPr>
        </p:nvSpPr>
        <p:spPr>
          <a:xfrm>
            <a:off x="457200" y="1066800"/>
            <a:ext cx="8229600" cy="5365750"/>
          </a:xfrm>
        </p:spPr>
        <p:txBody>
          <a:bodyPr/>
          <a:lstStyle/>
          <a:p>
            <a:pPr>
              <a:lnSpc>
                <a:spcPct val="155000"/>
              </a:lnSpc>
              <a:buClr>
                <a:schemeClr val="accent1"/>
              </a:buClr>
            </a:pPr>
            <a:r>
              <a:rPr lang="en-US" altLang="zh-CN" sz="2800" b="1">
                <a:latin typeface="宋体" panose="02010600030101010101" pitchFamily="2" charset="-122"/>
                <a:ea typeface="楷体" panose="02010609060101010101" charset="-122"/>
              </a:rPr>
              <a:t>2. </a:t>
            </a:r>
            <a:r>
              <a:rPr lang="zh-CN" altLang="en-US" sz="2800" b="1">
                <a:latin typeface="宋体" panose="02010600030101010101" pitchFamily="2" charset="-122"/>
                <a:ea typeface="楷体" panose="02010609060101010101" charset="-122"/>
              </a:rPr>
              <a:t>举例法</a:t>
            </a:r>
            <a:r>
              <a:rPr lang="en-US" altLang="zh-CN" sz="2800" b="1">
                <a:latin typeface="宋体" panose="02010600030101010101" pitchFamily="2" charset="-122"/>
                <a:ea typeface="楷体" panose="02010609060101010101" charset="-122"/>
              </a:rPr>
              <a:t>(example)</a:t>
            </a:r>
          </a:p>
          <a:p>
            <a:pPr>
              <a:lnSpc>
                <a:spcPct val="155000"/>
              </a:lnSpc>
              <a:buClr>
                <a:schemeClr val="accent1"/>
              </a:buClr>
            </a:pPr>
            <a:r>
              <a:rPr lang="zh-CN" altLang="en-US" sz="2800" b="1">
                <a:latin typeface="宋体" panose="02010600030101010101" pitchFamily="2" charset="-122"/>
                <a:ea typeface="楷体" panose="02010609060101010101" charset="-122"/>
              </a:rPr>
              <a:t>作者通过举出具体事例来阐述、说明主题句的内容，严格地讲，举例法也是列举法的一种，它们的区别在于：列举法侧重罗列事实，所列事实力求全面；而举例法侧重通过举出典型事例来解释作者观点，且事例可多可少。</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4" name="标题 2123"/>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25" name="文本占位符 2124"/>
          <p:cNvSpPr>
            <a:spLocks noGrp="1"/>
          </p:cNvSpPr>
          <p:nvPr>
            <p:ph type="body"/>
          </p:nvPr>
        </p:nvSpPr>
        <p:spPr>
          <a:xfrm>
            <a:off x="457200" y="838200"/>
            <a:ext cx="8382000" cy="5521325"/>
          </a:xfrm>
        </p:spPr>
        <p:txBody>
          <a:bodyPr/>
          <a:lstStyle/>
          <a:p>
            <a:pPr>
              <a:lnSpc>
                <a:spcPct val="120000"/>
              </a:lnSpc>
              <a:buClr>
                <a:schemeClr val="accent1"/>
              </a:buClr>
            </a:pPr>
            <a:r>
              <a:rPr lang="en-US" altLang="zh-CN" sz="2800" dirty="0">
                <a:latin typeface="宋体" panose="02010600030101010101" pitchFamily="2" charset="-122"/>
                <a:ea typeface="楷体" panose="02010609060101010101" charset="-122"/>
              </a:rPr>
              <a:t>There are many different forms of exercises to suit different tastes. </a:t>
            </a:r>
            <a:r>
              <a:rPr lang="en-US" altLang="zh-CN" sz="2800" dirty="0">
                <a:solidFill>
                  <a:srgbClr val="CC0066"/>
                </a:solidFill>
                <a:latin typeface="宋体" panose="02010600030101010101" pitchFamily="2" charset="-122"/>
                <a:ea typeface="楷体" panose="02010609060101010101" charset="-122"/>
              </a:rPr>
              <a:t>For example</a:t>
            </a:r>
            <a:r>
              <a:rPr lang="zh-CN" altLang="en-US" sz="2800" dirty="0">
                <a:solidFill>
                  <a:srgbClr val="CC0066"/>
                </a:solidFill>
                <a:latin typeface="宋体" panose="02010600030101010101" pitchFamily="2" charset="-122"/>
                <a:ea typeface="楷体" panose="02010609060101010101" charset="-122"/>
              </a:rPr>
              <a:t>，</a:t>
            </a:r>
            <a:r>
              <a:rPr lang="en-US" altLang="zh-CN" sz="2800" dirty="0">
                <a:latin typeface="宋体" panose="02010600030101010101" pitchFamily="2" charset="-122"/>
                <a:ea typeface="楷体" panose="02010609060101010101" charset="-122"/>
              </a:rPr>
              <a:t>those who enjoy competitive sports may take up ball games. </a:t>
            </a:r>
            <a:r>
              <a:rPr lang="en-US" altLang="zh-CN" sz="2800" dirty="0">
                <a:solidFill>
                  <a:srgbClr val="CC0066"/>
                </a:solidFill>
                <a:latin typeface="宋体" panose="02010600030101010101" pitchFamily="2" charset="-122"/>
                <a:ea typeface="楷体" panose="02010609060101010101" charset="-122"/>
              </a:rPr>
              <a:t>For another example</a:t>
            </a:r>
            <a:r>
              <a:rPr lang="zh-CN" altLang="en-US" sz="2800" dirty="0">
                <a:solidFill>
                  <a:srgbClr val="CC0066"/>
                </a:solidFill>
                <a:latin typeface="宋体" panose="02010600030101010101" pitchFamily="2" charset="-122"/>
                <a:ea typeface="楷体" panose="02010609060101010101" charset="-122"/>
              </a:rPr>
              <a:t>，</a:t>
            </a:r>
            <a:r>
              <a:rPr lang="en-US" altLang="zh-CN" sz="2800" dirty="0">
                <a:latin typeface="宋体" panose="02010600030101010101" pitchFamily="2" charset="-122"/>
                <a:ea typeface="楷体" panose="02010609060101010101" charset="-122"/>
              </a:rPr>
              <a:t>if they prefer to exercise alone</a:t>
            </a:r>
            <a:r>
              <a:rPr lang="zh-CN" altLang="en-US" sz="2800" dirty="0">
                <a:latin typeface="宋体" panose="02010600030101010101" pitchFamily="2" charset="-122"/>
                <a:ea typeface="楷体" panose="02010609060101010101" charset="-122"/>
              </a:rPr>
              <a:t>，</a:t>
            </a:r>
            <a:r>
              <a:rPr lang="en-US" altLang="zh-CN" sz="2800" dirty="0">
                <a:latin typeface="宋体" panose="02010600030101010101" pitchFamily="2" charset="-122"/>
                <a:ea typeface="楷体" panose="02010609060101010101" charset="-122"/>
              </a:rPr>
              <a:t>they can have a run or take a walk in the morning or in the evening. </a:t>
            </a:r>
            <a:r>
              <a:rPr lang="en-US" altLang="zh-CN" sz="2800" dirty="0">
                <a:solidFill>
                  <a:srgbClr val="CC0066"/>
                </a:solidFill>
                <a:latin typeface="宋体" panose="02010600030101010101" pitchFamily="2" charset="-122"/>
                <a:ea typeface="楷体" panose="02010609060101010101" charset="-122"/>
              </a:rPr>
              <a:t>Besides</a:t>
            </a:r>
            <a:r>
              <a:rPr lang="zh-CN" altLang="en-US" sz="2800" dirty="0">
                <a:solidFill>
                  <a:srgbClr val="CC0066"/>
                </a:solidFill>
                <a:latin typeface="宋体" panose="02010600030101010101" pitchFamily="2" charset="-122"/>
                <a:ea typeface="楷体" panose="02010609060101010101" charset="-122"/>
              </a:rPr>
              <a:t>，</a:t>
            </a:r>
            <a:r>
              <a:rPr lang="en-US" altLang="zh-CN" sz="2800" dirty="0">
                <a:latin typeface="宋体" panose="02010600030101010101" pitchFamily="2" charset="-122"/>
                <a:ea typeface="楷体" panose="02010609060101010101" charset="-122"/>
              </a:rPr>
              <a:t>people can go swimming in the summer and go skating in the winter. In short</a:t>
            </a:r>
            <a:r>
              <a:rPr lang="zh-CN" altLang="en-US" sz="2800" dirty="0">
                <a:latin typeface="宋体" panose="02010600030101010101" pitchFamily="2" charset="-122"/>
                <a:ea typeface="楷体" panose="02010609060101010101" charset="-122"/>
              </a:rPr>
              <a:t>，</a:t>
            </a:r>
            <a:r>
              <a:rPr lang="en-US" altLang="zh-CN" sz="2800" dirty="0">
                <a:latin typeface="宋体" panose="02010600030101010101" pitchFamily="2" charset="-122"/>
                <a:ea typeface="楷体" panose="02010609060101010101" charset="-122"/>
              </a:rPr>
              <a:t>no matter what their interests are</a:t>
            </a:r>
            <a:r>
              <a:rPr lang="zh-CN" altLang="en-US" sz="2800" dirty="0">
                <a:latin typeface="宋体" panose="02010600030101010101" pitchFamily="2" charset="-122"/>
                <a:ea typeface="楷体" panose="02010609060101010101" charset="-122"/>
              </a:rPr>
              <a:t>，</a:t>
            </a:r>
            <a:r>
              <a:rPr lang="en-US" altLang="zh-CN" sz="2800" dirty="0">
                <a:latin typeface="宋体" panose="02010600030101010101" pitchFamily="2" charset="-122"/>
                <a:ea typeface="楷体" panose="02010609060101010101" charset="-122"/>
              </a:rPr>
              <a:t>people can always find more than one sports that are suitable to them.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8" name="标题 2127"/>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29" name="文本占位符 2128"/>
          <p:cNvSpPr>
            <a:spLocks noGrp="1"/>
          </p:cNvSpPr>
          <p:nvPr>
            <p:ph type="body"/>
          </p:nvPr>
        </p:nvSpPr>
        <p:spPr>
          <a:xfrm>
            <a:off x="457200" y="990600"/>
            <a:ext cx="8229600" cy="5140325"/>
          </a:xfrm>
        </p:spPr>
        <p:txBody>
          <a:bodyPr/>
          <a:lstStyle/>
          <a:p>
            <a:pPr>
              <a:lnSpc>
                <a:spcPct val="125000"/>
              </a:lnSpc>
              <a:buClr>
                <a:schemeClr val="accent1"/>
              </a:buClr>
            </a:pPr>
            <a:r>
              <a:rPr lang="zh-CN" altLang="en-US" sz="2800" b="1">
                <a:latin typeface="宋体" panose="02010600030101010101" pitchFamily="2" charset="-122"/>
                <a:ea typeface="楷体" panose="02010609060101010101" charset="-122"/>
              </a:rPr>
              <a:t>本段采用了三个事例来说明主题句中关键词组</a:t>
            </a:r>
            <a:r>
              <a:rPr lang="en-US" altLang="zh-CN" sz="2800" b="1">
                <a:latin typeface="宋体" panose="02010600030101010101" pitchFamily="2" charset="-122"/>
                <a:ea typeface="楷体" panose="02010609060101010101" charset="-122"/>
              </a:rPr>
              <a:t>different forms of exercises</a:t>
            </a:r>
            <a:r>
              <a:rPr lang="zh-CN" altLang="en-US" sz="2800" b="1">
                <a:latin typeface="宋体" panose="02010600030101010101" pitchFamily="2" charset="-122"/>
                <a:ea typeface="楷体" panose="02010609060101010101" charset="-122"/>
              </a:rPr>
              <a:t>，这三个例子分别由连接词</a:t>
            </a:r>
            <a:r>
              <a:rPr lang="en-US" altLang="zh-CN" sz="2800" b="1">
                <a:latin typeface="宋体" panose="02010600030101010101" pitchFamily="2" charset="-122"/>
                <a:ea typeface="楷体" panose="02010609060101010101" charset="-122"/>
              </a:rPr>
              <a:t>for example</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for another example </a:t>
            </a:r>
            <a:r>
              <a:rPr lang="zh-CN" altLang="en-US" sz="2800" b="1">
                <a:latin typeface="宋体" panose="02010600030101010101" pitchFamily="2" charset="-122"/>
                <a:ea typeface="楷体" panose="02010609060101010101" charset="-122"/>
              </a:rPr>
              <a:t>和 </a:t>
            </a:r>
            <a:r>
              <a:rPr lang="en-US" altLang="zh-CN" sz="2800" b="1">
                <a:latin typeface="宋体" panose="02010600030101010101" pitchFamily="2" charset="-122"/>
                <a:ea typeface="楷体" panose="02010609060101010101" charset="-122"/>
              </a:rPr>
              <a:t>besides</a:t>
            </a:r>
            <a:r>
              <a:rPr lang="zh-CN" altLang="en-US" sz="2800" b="1">
                <a:latin typeface="宋体" panose="02010600030101010101" pitchFamily="2" charset="-122"/>
                <a:ea typeface="楷体" panose="02010609060101010101" charset="-122"/>
              </a:rPr>
              <a:t>引出，最后由引导结尾句总结全段内容。</a:t>
            </a:r>
          </a:p>
          <a:p>
            <a:pPr>
              <a:buClr>
                <a:schemeClr val="accent1"/>
              </a:buClr>
              <a:buNone/>
            </a:pPr>
            <a:endParaRPr lang="zh-CN" altLang="en-US" sz="2800">
              <a:latin typeface="宋体" panose="02010600030101010101" pitchFamily="2" charset="-122"/>
              <a:ea typeface="楷体" panose="02010609060101010101" charset="-122"/>
            </a:endParaRPr>
          </a:p>
          <a:p>
            <a:pPr>
              <a:lnSpc>
                <a:spcPct val="125000"/>
              </a:lnSpc>
              <a:buClr>
                <a:schemeClr val="accent1"/>
              </a:buClr>
            </a:pPr>
            <a:r>
              <a:rPr lang="zh-CN" altLang="en-US" sz="2800" b="1">
                <a:solidFill>
                  <a:srgbClr val="CC0066"/>
                </a:solidFill>
                <a:latin typeface="宋体" panose="02010600030101010101" pitchFamily="2" charset="-122"/>
                <a:ea typeface="楷体" panose="02010609060101010101" charset="-122"/>
              </a:rPr>
              <a:t>举例法中常用连接词有：</a:t>
            </a:r>
            <a:r>
              <a:rPr lang="en-US" altLang="zh-CN" sz="2800" b="1">
                <a:latin typeface="宋体" panose="02010600030101010101" pitchFamily="2" charset="-122"/>
                <a:ea typeface="楷体" panose="02010609060101010101" charset="-122"/>
              </a:rPr>
              <a:t>for example</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instance</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one example is</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besides</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furthermore</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moreover</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in addition</a:t>
            </a:r>
            <a:r>
              <a:rPr lang="zh-CN" altLang="en-US" sz="2800" b="1">
                <a:latin typeface="宋体" panose="02010600030101010101" pitchFamily="2" charset="-122"/>
                <a:ea typeface="楷体" panose="02010609060101010101" charset="-122"/>
              </a:rPr>
              <a:t>等。</a:t>
            </a:r>
            <a:r>
              <a:rPr lang="zh-CN" altLang="en-US" sz="2800">
                <a:latin typeface="宋体" panose="02010600030101010101" pitchFamily="2" charset="-122"/>
                <a:ea typeface="楷体" panose="02010609060101010101" charset="-122"/>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3" name="文本占位符 2132"/>
          <p:cNvSpPr>
            <a:spLocks noGrp="1"/>
          </p:cNvSpPr>
          <p:nvPr>
            <p:ph type="body"/>
          </p:nvPr>
        </p:nvSpPr>
        <p:spPr>
          <a:xfrm>
            <a:off x="467360" y="980440"/>
            <a:ext cx="8229600" cy="5708650"/>
          </a:xfrm>
        </p:spPr>
        <p:txBody>
          <a:bodyPr/>
          <a:lstStyle/>
          <a:p>
            <a:pPr>
              <a:lnSpc>
                <a:spcPct val="145000"/>
              </a:lnSpc>
              <a:buClr>
                <a:schemeClr val="accent1"/>
              </a:buClr>
            </a:pPr>
            <a:r>
              <a:rPr lang="en-US" altLang="zh-CN" sz="2800" b="1">
                <a:latin typeface="宋体" panose="02010600030101010101" pitchFamily="2" charset="-122"/>
                <a:ea typeface="楷体" panose="02010609060101010101" charset="-122"/>
              </a:rPr>
              <a:t>4</a:t>
            </a:r>
            <a:r>
              <a:rPr lang="zh-CN" altLang="en-US" sz="2800" b="1">
                <a:latin typeface="宋体" panose="02010600030101010101" pitchFamily="2" charset="-122"/>
                <a:ea typeface="楷体" panose="02010609060101010101" charset="-122"/>
              </a:rPr>
              <a:t>． 对比法或比较法</a:t>
            </a:r>
            <a:r>
              <a:rPr lang="en-US" altLang="zh-CN" sz="2800" b="1">
                <a:latin typeface="宋体" panose="02010600030101010101" pitchFamily="2" charset="-122"/>
                <a:ea typeface="楷体" panose="02010609060101010101" charset="-122"/>
              </a:rPr>
              <a:t>(comparison &amp; contrast) </a:t>
            </a:r>
          </a:p>
          <a:p>
            <a:pPr>
              <a:lnSpc>
                <a:spcPct val="145000"/>
              </a:lnSpc>
              <a:buClr>
                <a:schemeClr val="accent1"/>
              </a:buClr>
            </a:pPr>
            <a:r>
              <a:rPr lang="zh-CN" altLang="en-US" sz="2800" b="1">
                <a:latin typeface="宋体" panose="02010600030101010101" pitchFamily="2" charset="-122"/>
                <a:ea typeface="楷体" panose="02010609060101010101" charset="-122"/>
              </a:rPr>
              <a:t>将同类的事物按照某种特定的规则进行比较分析是一种常用的思维方法。通过对比，更容易阐述所述对象之间的异同和优缺点 。</a:t>
            </a:r>
          </a:p>
          <a:p>
            <a:pPr>
              <a:lnSpc>
                <a:spcPct val="150000"/>
              </a:lnSpc>
              <a:buClr>
                <a:schemeClr val="accent1"/>
              </a:buClr>
            </a:pPr>
            <a:r>
              <a:rPr lang="en-US" altLang="zh-CN" sz="2800" b="1">
                <a:latin typeface="宋体" panose="02010600030101010101" pitchFamily="2" charset="-122"/>
                <a:ea typeface="楷体" panose="02010609060101010101" charset="-122"/>
                <a:sym typeface="+mn-ea"/>
              </a:rPr>
              <a:t>5</a:t>
            </a:r>
            <a:r>
              <a:rPr lang="zh-CN" altLang="en-US" sz="2800" b="1">
                <a:latin typeface="宋体" panose="02010600030101010101" pitchFamily="2" charset="-122"/>
                <a:ea typeface="楷体" panose="02010609060101010101" charset="-122"/>
                <a:sym typeface="+mn-ea"/>
              </a:rPr>
              <a:t>． 分类法</a:t>
            </a:r>
            <a:r>
              <a:rPr lang="en-US" altLang="zh-CN" sz="2800" b="1">
                <a:latin typeface="宋体" panose="02010600030101010101" pitchFamily="2" charset="-122"/>
                <a:ea typeface="楷体" panose="02010609060101010101" charset="-122"/>
                <a:sym typeface="+mn-ea"/>
              </a:rPr>
              <a:t>(classification) </a:t>
            </a:r>
            <a:endParaRPr lang="en-US" altLang="zh-CN" sz="2800" b="1">
              <a:latin typeface="宋体" panose="02010600030101010101" pitchFamily="2" charset="-122"/>
              <a:ea typeface="楷体" panose="02010609060101010101" charset="-122"/>
            </a:endParaRPr>
          </a:p>
          <a:p>
            <a:pPr>
              <a:lnSpc>
                <a:spcPct val="150000"/>
              </a:lnSpc>
              <a:buClr>
                <a:schemeClr val="accent1"/>
              </a:buClr>
            </a:pPr>
            <a:r>
              <a:rPr lang="zh-CN" altLang="en-US" sz="2800" b="1">
                <a:latin typeface="宋体" panose="02010600030101010101" pitchFamily="2" charset="-122"/>
                <a:ea typeface="楷体" panose="02010609060101010101" charset="-122"/>
                <a:sym typeface="+mn-ea"/>
              </a:rPr>
              <a:t>在阐述某一概念的段落中，常用分类法。通过对概念中所包括的事物进行分门别类，分别加以叙述，使读者有更为清晰的认识。</a:t>
            </a:r>
            <a:endParaRPr lang="zh-CN" altLang="en-US" sz="2800" b="1">
              <a:latin typeface="宋体" panose="02010600030101010101" pitchFamily="2" charset="-122"/>
              <a:ea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 name="标题 2139"/>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41" name="文本占位符 2140"/>
          <p:cNvSpPr>
            <a:spLocks noGrp="1"/>
          </p:cNvSpPr>
          <p:nvPr>
            <p:ph type="body"/>
          </p:nvPr>
        </p:nvSpPr>
        <p:spPr>
          <a:xfrm>
            <a:off x="467360" y="1340485"/>
            <a:ext cx="8229600" cy="4660265"/>
          </a:xfrm>
        </p:spPr>
        <p:txBody>
          <a:bodyPr/>
          <a:lstStyle/>
          <a:p>
            <a:pPr>
              <a:lnSpc>
                <a:spcPct val="135000"/>
              </a:lnSpc>
              <a:buClr>
                <a:schemeClr val="accent1"/>
              </a:buClr>
            </a:pPr>
            <a:r>
              <a:rPr lang="en-US" altLang="zh-CN" b="1" dirty="0">
                <a:latin typeface="宋体" panose="02010600030101010101" pitchFamily="2" charset="-122"/>
                <a:ea typeface="楷体" panose="02010609060101010101" charset="-122"/>
              </a:rPr>
              <a:t>6. </a:t>
            </a:r>
            <a:r>
              <a:rPr lang="zh-CN" altLang="en-US" b="1" dirty="0">
                <a:latin typeface="宋体" panose="02010600030101010101" pitchFamily="2" charset="-122"/>
                <a:ea typeface="楷体" panose="02010609060101010101" charset="-122"/>
              </a:rPr>
              <a:t>定义法</a:t>
            </a:r>
            <a:r>
              <a:rPr lang="en-US" altLang="zh-CN" b="1" dirty="0">
                <a:latin typeface="宋体" panose="02010600030101010101" pitchFamily="2" charset="-122"/>
                <a:ea typeface="楷体" panose="02010609060101010101" charset="-122"/>
              </a:rPr>
              <a:t>(definition)</a:t>
            </a:r>
          </a:p>
          <a:p>
            <a:pPr>
              <a:lnSpc>
                <a:spcPct val="135000"/>
              </a:lnSpc>
              <a:buClr>
                <a:schemeClr val="accent1"/>
              </a:buClr>
            </a:pPr>
            <a:r>
              <a:rPr lang="zh-CN" altLang="en-US" b="1" dirty="0">
                <a:latin typeface="宋体" panose="02010600030101010101" pitchFamily="2" charset="-122"/>
                <a:ea typeface="楷体" panose="02010609060101010101" charset="-122"/>
              </a:rPr>
              <a:t>　在科普文章的写作中，定义法是必不可少的。通过下定义，可以使读者对该事物有一个更直接的认识。</a:t>
            </a:r>
          </a:p>
          <a:p>
            <a:pPr>
              <a:buClr>
                <a:schemeClr val="accent1"/>
              </a:buClr>
            </a:pPr>
            <a:r>
              <a:rPr lang="en-US" altLang="zh-CN" b="1" dirty="0">
                <a:latin typeface="宋体" panose="02010600030101010101" pitchFamily="2" charset="-122"/>
                <a:ea typeface="楷体" panose="02010609060101010101" charset="-122"/>
                <a:sym typeface="+mn-ea"/>
              </a:rPr>
              <a:t>7</a:t>
            </a:r>
            <a:r>
              <a:rPr lang="zh-CN" altLang="en-US" b="1" dirty="0">
                <a:latin typeface="宋体" panose="02010600030101010101" pitchFamily="2" charset="-122"/>
                <a:ea typeface="楷体" panose="02010609060101010101" charset="-122"/>
                <a:sym typeface="+mn-ea"/>
              </a:rPr>
              <a:t>．因果分析法</a:t>
            </a:r>
            <a:r>
              <a:rPr lang="en-US" altLang="zh-CN" b="1" dirty="0">
                <a:latin typeface="宋体" panose="02010600030101010101" pitchFamily="2" charset="-122"/>
                <a:ea typeface="楷体" panose="02010609060101010101" charset="-122"/>
                <a:sym typeface="+mn-ea"/>
              </a:rPr>
              <a:t>(cause and effect )</a:t>
            </a:r>
          </a:p>
          <a:p>
            <a:pPr>
              <a:buClr>
                <a:schemeClr val="accent1"/>
              </a:buClr>
            </a:pPr>
            <a:r>
              <a:rPr lang="zh-CN" altLang="en-US" b="1" dirty="0">
                <a:latin typeface="宋体" panose="02010600030101010101" pitchFamily="2" charset="-122"/>
                <a:ea typeface="楷体" panose="02010609060101010101" charset="-122"/>
                <a:sym typeface="+mn-ea"/>
              </a:rPr>
              <a:t>在阐述某一现象的段落中，常采用因果分析法。</a:t>
            </a:r>
            <a:r>
              <a:rPr lang="zh-CN" altLang="en-US" dirty="0">
                <a:latin typeface="宋体" panose="02010600030101010101" pitchFamily="2" charset="-122"/>
                <a:ea typeface="楷体" panose="02010609060101010101" charset="-122"/>
                <a:sym typeface="+mn-ea"/>
              </a:rPr>
              <a:t> </a:t>
            </a:r>
            <a:endParaRPr lang="zh-CN" altLang="en-US" dirty="0">
              <a:latin typeface="宋体" panose="02010600030101010101" pitchFamily="2" charset="-122"/>
              <a:ea typeface="楷体" panose="02010609060101010101" charset="-122"/>
            </a:endParaRPr>
          </a:p>
          <a:p>
            <a:pPr>
              <a:lnSpc>
                <a:spcPct val="135000"/>
              </a:lnSpc>
              <a:buClr>
                <a:schemeClr val="accent1"/>
              </a:buClr>
            </a:pPr>
            <a:endParaRPr lang="zh-CN" altLang="en-US" b="1" dirty="0">
              <a:latin typeface="宋体" panose="02010600030101010101" pitchFamily="2" charset="-122"/>
              <a:ea typeface="楷体"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8" name="标题 2147"/>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49" name="文本占位符 2148"/>
          <p:cNvSpPr>
            <a:spLocks noGrp="1"/>
          </p:cNvSpPr>
          <p:nvPr>
            <p:ph type="body"/>
          </p:nvPr>
        </p:nvSpPr>
        <p:spPr>
          <a:xfrm>
            <a:off x="457200" y="1295400"/>
            <a:ext cx="8229600" cy="4530725"/>
          </a:xfrm>
        </p:spPr>
        <p:txBody>
          <a:bodyPr/>
          <a:lstStyle/>
          <a:p>
            <a:pPr>
              <a:lnSpc>
                <a:spcPct val="130000"/>
              </a:lnSpc>
              <a:buClr>
                <a:schemeClr val="accent1"/>
              </a:buClr>
            </a:pPr>
            <a:r>
              <a:rPr lang="en-US" altLang="zh-CN" b="1">
                <a:latin typeface="宋体" panose="02010600030101010101" pitchFamily="2" charset="-122"/>
                <a:ea typeface="楷体" panose="02010609060101010101" charset="-122"/>
              </a:rPr>
              <a:t>The role of women in today’s society is changing. </a:t>
            </a:r>
            <a:r>
              <a:rPr lang="en-US" altLang="zh-CN" b="1">
                <a:solidFill>
                  <a:srgbClr val="CC0066"/>
                </a:solidFill>
                <a:latin typeface="宋体" panose="02010600030101010101" pitchFamily="2" charset="-122"/>
                <a:ea typeface="楷体" panose="02010609060101010101" charset="-122"/>
              </a:rPr>
              <a:t>One reason</a:t>
            </a:r>
            <a:r>
              <a:rPr lang="en-US" altLang="zh-CN" b="1">
                <a:latin typeface="宋体" panose="02010600030101010101" pitchFamily="2" charset="-122"/>
                <a:ea typeface="楷体" panose="02010609060101010101" charset="-122"/>
              </a:rPr>
              <a:t> is that women have begun to assert themselves as independent people through the women’s movement. Also</a:t>
            </a:r>
            <a:r>
              <a:rPr lang="zh-CN" altLang="en-US" b="1">
                <a:latin typeface="宋体" panose="02010600030101010101" pitchFamily="2" charset="-122"/>
                <a:ea typeface="楷体" panose="02010609060101010101" charset="-122"/>
              </a:rPr>
              <a:t>，</a:t>
            </a:r>
            <a:r>
              <a:rPr lang="en-US" altLang="zh-CN" b="1">
                <a:latin typeface="宋体" panose="02010600030101010101" pitchFamily="2" charset="-122"/>
                <a:ea typeface="楷体" panose="02010609060101010101" charset="-122"/>
              </a:rPr>
              <a:t>women are aware of the alternatives to staying at home.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 name="标题 2151"/>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53" name="文本占位符 2152"/>
          <p:cNvSpPr>
            <a:spLocks noGrp="1"/>
          </p:cNvSpPr>
          <p:nvPr>
            <p:ph type="body"/>
          </p:nvPr>
        </p:nvSpPr>
        <p:spPr>
          <a:xfrm>
            <a:off x="457200" y="1295400"/>
            <a:ext cx="8382000" cy="4530725"/>
          </a:xfrm>
        </p:spPr>
        <p:txBody>
          <a:bodyPr/>
          <a:lstStyle/>
          <a:p>
            <a:pPr>
              <a:lnSpc>
                <a:spcPct val="130000"/>
              </a:lnSpc>
              <a:buClr>
                <a:schemeClr val="accent1"/>
              </a:buClr>
              <a:buNone/>
            </a:pPr>
            <a:r>
              <a:rPr lang="en-US" altLang="zh-CN">
                <a:latin typeface="宋体" panose="02010600030101010101" pitchFamily="2" charset="-122"/>
                <a:ea typeface="楷体" panose="02010609060101010101" charset="-122"/>
              </a:rPr>
              <a:t>  </a:t>
            </a:r>
            <a:r>
              <a:rPr lang="en-US" altLang="zh-CN" b="1">
                <a:solidFill>
                  <a:srgbClr val="CC0066"/>
                </a:solidFill>
                <a:latin typeface="宋体" panose="02010600030101010101" pitchFamily="2" charset="-122"/>
                <a:ea typeface="楷体" panose="02010609060101010101" charset="-122"/>
              </a:rPr>
              <a:t>Another reason</a:t>
            </a:r>
            <a:r>
              <a:rPr lang="en-US" altLang="zh-CN" b="1">
                <a:latin typeface="宋体" panose="02010600030101010101" pitchFamily="2" charset="-122"/>
                <a:ea typeface="楷体" panose="02010609060101010101" charset="-122"/>
              </a:rPr>
              <a:t> is that increasing numbers of women who enter new fields and interests serve as role models for other women. </a:t>
            </a:r>
            <a:r>
              <a:rPr lang="en-US" altLang="zh-CN" b="1">
                <a:solidFill>
                  <a:srgbClr val="CC0066"/>
                </a:solidFill>
                <a:latin typeface="宋体" panose="02010600030101010101" pitchFamily="2" charset="-122"/>
                <a:ea typeface="楷体" panose="02010609060101010101" charset="-122"/>
              </a:rPr>
              <a:t>Moreover</a:t>
            </a:r>
            <a:r>
              <a:rPr lang="zh-CN" altLang="en-US" b="1">
                <a:latin typeface="宋体" panose="02010600030101010101" pitchFamily="2" charset="-122"/>
                <a:ea typeface="楷体" panose="02010609060101010101" charset="-122"/>
              </a:rPr>
              <a:t>，</a:t>
            </a:r>
            <a:r>
              <a:rPr lang="en-US" altLang="zh-CN" b="1">
                <a:latin typeface="宋体" panose="02010600030101010101" pitchFamily="2" charset="-122"/>
                <a:ea typeface="楷体" panose="02010609060101010101" charset="-122"/>
              </a:rPr>
              <a:t>men are becoming more conscious of the abilities of women and have begun to view their independence positively.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7" name="文本占位符 2156"/>
          <p:cNvSpPr>
            <a:spLocks noGrp="1"/>
          </p:cNvSpPr>
          <p:nvPr>
            <p:ph type="body"/>
          </p:nvPr>
        </p:nvSpPr>
        <p:spPr>
          <a:xfrm>
            <a:off x="457200" y="1447800"/>
            <a:ext cx="8229600" cy="4683125"/>
          </a:xfrm>
        </p:spPr>
        <p:txBody>
          <a:bodyPr/>
          <a:lstStyle/>
          <a:p>
            <a:pPr>
              <a:lnSpc>
                <a:spcPct val="135000"/>
              </a:lnSpc>
              <a:buClr>
                <a:schemeClr val="accent1"/>
              </a:buClr>
            </a:pPr>
            <a:r>
              <a:rPr lang="zh-CN" altLang="en-US" sz="2800" b="1">
                <a:latin typeface="宋体" panose="02010600030101010101" pitchFamily="2" charset="-122"/>
                <a:ea typeface="楷体" panose="02010609060101010101" charset="-122"/>
              </a:rPr>
              <a:t>本段中，主题句提出了一种社会现象，推展句则对产生这种现象原因作出各种解释。</a:t>
            </a:r>
          </a:p>
          <a:p>
            <a:pPr>
              <a:buClr>
                <a:schemeClr val="accent1"/>
              </a:buClr>
              <a:buNone/>
            </a:pPr>
            <a:endParaRPr lang="zh-CN" altLang="en-US" sz="2800" b="1">
              <a:latin typeface="宋体" panose="02010600030101010101" pitchFamily="2" charset="-122"/>
              <a:ea typeface="楷体" panose="02010609060101010101" charset="-122"/>
            </a:endParaRPr>
          </a:p>
          <a:p>
            <a:pPr>
              <a:lnSpc>
                <a:spcPct val="135000"/>
              </a:lnSpc>
              <a:buClr>
                <a:schemeClr val="accent1"/>
              </a:buClr>
            </a:pPr>
            <a:r>
              <a:rPr lang="zh-CN" altLang="en-US" sz="2800" b="1">
                <a:latin typeface="宋体" panose="02010600030101010101" pitchFamily="2" charset="-122"/>
                <a:ea typeface="楷体" panose="02010609060101010101" charset="-122"/>
              </a:rPr>
              <a:t> </a:t>
            </a:r>
            <a:r>
              <a:rPr lang="zh-CN" altLang="en-US" sz="2800" b="1">
                <a:solidFill>
                  <a:srgbClr val="CC0066"/>
                </a:solidFill>
                <a:latin typeface="宋体" panose="02010600030101010101" pitchFamily="2" charset="-122"/>
                <a:ea typeface="楷体" panose="02010609060101010101" charset="-122"/>
              </a:rPr>
              <a:t>常用于因果分析法连接词有：</a:t>
            </a:r>
            <a:r>
              <a:rPr lang="en-US" altLang="zh-CN" sz="2800" b="1">
                <a:latin typeface="宋体" panose="02010600030101010101" pitchFamily="2" charset="-122"/>
                <a:ea typeface="楷体" panose="02010609060101010101" charset="-122"/>
              </a:rPr>
              <a:t>one reason, because</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so</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as a result</a:t>
            </a:r>
            <a:r>
              <a:rPr lang="zh-CN" altLang="en-US" sz="2800" b="1">
                <a:latin typeface="宋体" panose="02010600030101010101" pitchFamily="2" charset="-122"/>
                <a:ea typeface="楷体" panose="02010609060101010101" charset="-122"/>
              </a:rPr>
              <a:t>等。</a:t>
            </a:r>
            <a:r>
              <a:rPr lang="zh-CN" altLang="en-US">
                <a:latin typeface="宋体" panose="02010600030101010101" pitchFamily="2" charset="-122"/>
                <a:ea typeface="楷体" panose="02010609060101010101" charset="-122"/>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 name="标题 2159"/>
          <p:cNvSpPr>
            <a:spLocks noGrp="1"/>
          </p:cNvSpPr>
          <p:nvPr>
            <p:ph type="title"/>
          </p:nvPr>
        </p:nvSpPr>
        <p:spPr/>
        <p:txBody>
          <a:bodyPr anchor="ctr" anchorCtr="0"/>
          <a:lstStyle/>
          <a:p>
            <a:r>
              <a:rPr lang="zh-CN" altLang="en-US" sz="3200" b="1" dirty="0">
                <a:latin typeface="宋体" panose="02010600030101010101" pitchFamily="2" charset="-122"/>
                <a:ea typeface="楷体" panose="02010609060101010101" charset="-122"/>
              </a:rPr>
              <a:t>结尾段</a:t>
            </a:r>
          </a:p>
        </p:txBody>
      </p:sp>
      <p:sp>
        <p:nvSpPr>
          <p:cNvPr id="2" name="内容占位符 1">
            <a:extLst>
              <a:ext uri="{FF2B5EF4-FFF2-40B4-BE49-F238E27FC236}">
                <a16:creationId xmlns:a16="http://schemas.microsoft.com/office/drawing/2014/main" id="{43E85911-B714-4381-B129-2E3BCD92F187}"/>
              </a:ext>
            </a:extLst>
          </p:cNvPr>
          <p:cNvSpPr>
            <a:spLocks noGrp="1"/>
          </p:cNvSpPr>
          <p:nvPr>
            <p:ph idx="1"/>
          </p:nvPr>
        </p:nvSpPr>
        <p:spPr/>
        <p:txBody>
          <a:bodyPr/>
          <a:lstStyle/>
          <a:p>
            <a:r>
              <a:rPr lang="zh-CN" altLang="en-US" sz="3200" b="1" dirty="0">
                <a:latin typeface="宋体" panose="02010600030101010101" pitchFamily="2" charset="-122"/>
                <a:ea typeface="楷体" panose="02010609060101010101" charset="-122"/>
              </a:rPr>
              <a:t>文章结尾也很重要，好结尾会使读者对全文中心思想留下深刻印象，可以增添文章效果和说服力，让人深思，回味无穷。确切地说，结尾作用就是概括全文内容，进一步强调或肯定文章中心思想，使读者加深印象；有时也用于展望未来，提出今后方向或令人深思问题给读者留下回味和思考余地。 </a:t>
            </a:r>
          </a:p>
          <a:p>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4" name="标题 2163"/>
          <p:cNvSpPr>
            <a:spLocks noGrp="1"/>
          </p:cNvSpPr>
          <p:nvPr>
            <p:ph type="title"/>
          </p:nvPr>
        </p:nvSpPr>
        <p:spPr>
          <a:xfrm>
            <a:off x="381000" y="838200"/>
            <a:ext cx="8229600" cy="1143000"/>
          </a:xfrm>
        </p:spPr>
        <p:txBody>
          <a:bodyPr anchor="ctr" anchorCtr="0"/>
          <a:lstStyle/>
          <a:p>
            <a:r>
              <a:rPr lang="zh-CN" altLang="en-US" sz="3200" b="1">
                <a:latin typeface="宋体" panose="02010600030101010101" pitchFamily="2" charset="-122"/>
                <a:ea typeface="楷体" panose="02010609060101010101" charset="-122"/>
              </a:rPr>
              <a:t>几种写结尾段最常用方法</a:t>
            </a:r>
            <a:r>
              <a:rPr lang="zh-CN" altLang="en-US">
                <a:latin typeface="宋体" panose="02010600030101010101" pitchFamily="2" charset="-122"/>
                <a:ea typeface="楷体" panose="02010609060101010101" charset="-122"/>
              </a:rPr>
              <a:t>： </a:t>
            </a:r>
          </a:p>
        </p:txBody>
      </p:sp>
      <p:sp>
        <p:nvSpPr>
          <p:cNvPr id="2165" name="文本占位符 2164"/>
          <p:cNvSpPr>
            <a:spLocks noGrp="1"/>
          </p:cNvSpPr>
          <p:nvPr>
            <p:ph type="body"/>
          </p:nvPr>
        </p:nvSpPr>
        <p:spPr>
          <a:xfrm>
            <a:off x="381000" y="2209800"/>
            <a:ext cx="8229600" cy="3311525"/>
          </a:xfrm>
        </p:spPr>
        <p:txBody>
          <a:bodyPr/>
          <a:lstStyle/>
          <a:p>
            <a:pPr>
              <a:buClr>
                <a:schemeClr val="accent1"/>
              </a:buClr>
              <a:buNone/>
            </a:pPr>
            <a:endParaRPr lang="en-US" altLang="zh-CN" sz="4000">
              <a:latin typeface="宋体" panose="02010600030101010101" pitchFamily="2" charset="-122"/>
              <a:ea typeface="楷体" panose="02010609060101010101" charset="-122"/>
            </a:endParaRPr>
          </a:p>
          <a:p>
            <a:pPr>
              <a:lnSpc>
                <a:spcPct val="135000"/>
              </a:lnSpc>
              <a:buClr>
                <a:schemeClr val="accent1"/>
              </a:buClr>
            </a:pPr>
            <a:r>
              <a:rPr lang="en-US" altLang="zh-CN" sz="2800" b="1">
                <a:latin typeface="宋体" panose="02010600030101010101" pitchFamily="2" charset="-122"/>
                <a:ea typeface="楷体" panose="02010609060101010101" charset="-122"/>
              </a:rPr>
              <a:t>1</a:t>
            </a:r>
            <a:r>
              <a:rPr lang="zh-CN" altLang="en-US" sz="2800" b="1">
                <a:latin typeface="宋体" panose="02010600030101010101" pitchFamily="2" charset="-122"/>
                <a:ea typeface="楷体" panose="02010609060101010101" charset="-122"/>
              </a:rPr>
              <a:t>．重复中心思想 回到文章开头阐明的中心思想或主题句上，达到再次肯定和强调的效果。</a:t>
            </a:r>
          </a:p>
          <a:p>
            <a:pPr>
              <a:lnSpc>
                <a:spcPct val="135000"/>
              </a:lnSpc>
              <a:buClr>
                <a:schemeClr val="accent1"/>
              </a:buClr>
              <a:buNone/>
            </a:pPr>
            <a:endParaRPr lang="zh-CN" altLang="en-US" sz="2800">
              <a:latin typeface="宋体" panose="02010600030101010101" pitchFamily="2" charset="-122"/>
              <a:ea typeface="楷体" panose="0201060906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8" name="标题 2167"/>
          <p:cNvSpPr>
            <a:spLocks noGrp="1"/>
          </p:cNvSpPr>
          <p:nvPr>
            <p:ph type="title"/>
          </p:nvPr>
        </p:nvSpPr>
        <p:spPr>
          <a:xfrm flipV="1">
            <a:off x="457200" y="200025"/>
            <a:ext cx="8229600" cy="74613"/>
          </a:xfrm>
        </p:spPr>
        <p:txBody>
          <a:bodyPr anchor="ctr" anchorCtr="0"/>
          <a:lstStyle/>
          <a:p>
            <a:r>
              <a:rPr lang="en-US" sz="3400">
                <a:ea typeface="楷体" panose="02010609060101010101" charset="-122"/>
              </a:rPr>
              <a:t> </a:t>
            </a:r>
          </a:p>
        </p:txBody>
      </p:sp>
      <p:sp>
        <p:nvSpPr>
          <p:cNvPr id="2169" name="文本占位符 2168"/>
          <p:cNvSpPr>
            <a:spLocks noGrp="1"/>
          </p:cNvSpPr>
          <p:nvPr>
            <p:ph type="body"/>
          </p:nvPr>
        </p:nvSpPr>
        <p:spPr>
          <a:xfrm>
            <a:off x="457200" y="1143000"/>
            <a:ext cx="8229600" cy="4987925"/>
          </a:xfrm>
        </p:spPr>
        <p:txBody>
          <a:bodyPr/>
          <a:lstStyle/>
          <a:p>
            <a:pPr>
              <a:lnSpc>
                <a:spcPct val="130000"/>
              </a:lnSpc>
              <a:buClr>
                <a:schemeClr val="accent1"/>
              </a:buClr>
            </a:pPr>
            <a:r>
              <a:rPr lang="zh-CN" altLang="en-US" sz="2800" b="1">
                <a:latin typeface="宋体" panose="02010600030101010101" pitchFamily="2" charset="-122"/>
                <a:ea typeface="楷体" panose="02010609060101010101" charset="-122"/>
              </a:rPr>
              <a:t>例</a:t>
            </a:r>
            <a:r>
              <a:rPr lang="en-US" altLang="zh-CN" sz="2800" b="1">
                <a:latin typeface="宋体" panose="02010600030101010101" pitchFamily="2" charset="-122"/>
                <a:ea typeface="楷体" panose="02010609060101010101" charset="-122"/>
              </a:rPr>
              <a:t>1</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A sense of humor is really one of the keys to happiness. It gives zest to life to make it worth living.</a:t>
            </a:r>
          </a:p>
          <a:p>
            <a:pPr>
              <a:buClr>
                <a:schemeClr val="accent1"/>
              </a:buClr>
              <a:buNone/>
            </a:pPr>
            <a:endParaRPr lang="en-US" altLang="zh-CN" sz="2800" b="1">
              <a:latin typeface="宋体" panose="02010600030101010101" pitchFamily="2" charset="-122"/>
              <a:ea typeface="楷体" panose="02010609060101010101" charset="-122"/>
            </a:endParaRPr>
          </a:p>
          <a:p>
            <a:pPr>
              <a:lnSpc>
                <a:spcPct val="130000"/>
              </a:lnSpc>
              <a:buClr>
                <a:schemeClr val="accent1"/>
              </a:buClr>
            </a:pPr>
            <a:r>
              <a:rPr lang="zh-CN" altLang="en-US" sz="2800" b="1">
                <a:latin typeface="宋体" panose="02010600030101010101" pitchFamily="2" charset="-122"/>
                <a:ea typeface="楷体" panose="02010609060101010101" charset="-122"/>
              </a:rPr>
              <a:t>例</a:t>
            </a:r>
            <a:r>
              <a:rPr lang="en-US" altLang="zh-CN" sz="2800" b="1">
                <a:latin typeface="宋体" panose="02010600030101010101" pitchFamily="2" charset="-122"/>
                <a:ea typeface="楷体" panose="02010609060101010101" charset="-122"/>
              </a:rPr>
              <a:t>2</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with all these benefits</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it is no wonder that sports and games have now become more popular with people than ever.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2" name="标题 2171"/>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73" name="文本占位符 2172"/>
          <p:cNvSpPr>
            <a:spLocks noGrp="1"/>
          </p:cNvSpPr>
          <p:nvPr>
            <p:ph type="body"/>
          </p:nvPr>
        </p:nvSpPr>
        <p:spPr>
          <a:xfrm>
            <a:off x="381000" y="1219200"/>
            <a:ext cx="8458200" cy="5181600"/>
          </a:xfrm>
        </p:spPr>
        <p:txBody>
          <a:bodyPr/>
          <a:lstStyle/>
          <a:p>
            <a:pPr>
              <a:lnSpc>
                <a:spcPct val="140000"/>
              </a:lnSpc>
              <a:buClr>
                <a:schemeClr val="accent1"/>
              </a:buClr>
              <a:buNone/>
            </a:pPr>
            <a:r>
              <a:rPr lang="en-US" altLang="zh-CN" b="1">
                <a:latin typeface="宋体" panose="02010600030101010101" pitchFamily="2" charset="-122"/>
                <a:ea typeface="楷体" panose="02010609060101010101" charset="-122"/>
              </a:rPr>
              <a:t>   </a:t>
            </a:r>
            <a:r>
              <a:rPr lang="en-US" altLang="zh-CN" sz="2800" b="1">
                <a:latin typeface="宋体" panose="02010600030101010101" pitchFamily="2" charset="-122"/>
                <a:ea typeface="楷体" panose="02010609060101010101" charset="-122"/>
              </a:rPr>
              <a:t>2</a:t>
            </a:r>
            <a:r>
              <a:rPr lang="zh-CN" altLang="en-US" sz="2800" b="1">
                <a:latin typeface="宋体" panose="02010600030101010101" pitchFamily="2" charset="-122"/>
                <a:ea typeface="楷体" panose="02010609060101010101" charset="-122"/>
              </a:rPr>
              <a:t>．作出结论：文章最后用几句话概括全文内容，并进一步肯定文章的中心思想或作者的观点。</a:t>
            </a:r>
          </a:p>
          <a:p>
            <a:pPr>
              <a:lnSpc>
                <a:spcPct val="140000"/>
              </a:lnSpc>
              <a:buClr>
                <a:schemeClr val="accent1"/>
              </a:buClr>
              <a:buNone/>
            </a:pPr>
            <a:r>
              <a:rPr lang="zh-CN" altLang="en-US" sz="2800" b="1">
                <a:latin typeface="宋体" panose="02010600030101010101" pitchFamily="2" charset="-122"/>
                <a:ea typeface="楷体" panose="02010609060101010101" charset="-122"/>
              </a:rPr>
              <a:t>   例</a:t>
            </a:r>
            <a:r>
              <a:rPr lang="en-US" altLang="zh-CN" sz="2800" b="1">
                <a:latin typeface="宋体" panose="02010600030101010101" pitchFamily="2" charset="-122"/>
                <a:ea typeface="楷体" panose="02010609060101010101" charset="-122"/>
              </a:rPr>
              <a:t>1</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In conclusion</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a good teacher-student relationship can be mutual beneficial. The students gain knowledge eagerly and enjoyably</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and the teacher gains satisfaction from his job.</a:t>
            </a:r>
            <a:r>
              <a:rPr lang="en-US" altLang="zh-CN" sz="2400">
                <a:latin typeface="宋体" panose="02010600030101010101" pitchFamily="2" charset="-122"/>
                <a:ea typeface="楷体" panose="02010609060101010101" charset="-122"/>
              </a:rPr>
              <a:t> </a:t>
            </a:r>
            <a:r>
              <a:rPr lang="en-US" altLang="zh-CN" sz="2000" b="1">
                <a:latin typeface="宋体" panose="02010600030101010101" pitchFamily="2" charset="-122"/>
                <a:ea typeface="楷体" panose="02010609060101010101" charset="-122"/>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7" name="文本占位符 2176"/>
          <p:cNvSpPr>
            <a:spLocks noGrp="1"/>
          </p:cNvSpPr>
          <p:nvPr>
            <p:ph type="body"/>
          </p:nvPr>
        </p:nvSpPr>
        <p:spPr>
          <a:xfrm>
            <a:off x="457200" y="1600200"/>
            <a:ext cx="8382000" cy="4530725"/>
          </a:xfrm>
        </p:spPr>
        <p:txBody>
          <a:bodyPr/>
          <a:lstStyle/>
          <a:p>
            <a:pPr>
              <a:lnSpc>
                <a:spcPct val="135000"/>
              </a:lnSpc>
              <a:buClr>
                <a:schemeClr val="accent1"/>
              </a:buClr>
            </a:pPr>
            <a:r>
              <a:rPr lang="zh-CN" altLang="en-US" sz="2800" b="1">
                <a:latin typeface="宋体" panose="02010600030101010101" pitchFamily="2" charset="-122"/>
                <a:ea typeface="楷体" panose="02010609060101010101" charset="-122"/>
              </a:rPr>
              <a:t>例</a:t>
            </a:r>
            <a:r>
              <a:rPr lang="en-US" altLang="zh-CN" sz="2800" b="1">
                <a:latin typeface="宋体" panose="02010600030101010101" pitchFamily="2" charset="-122"/>
                <a:ea typeface="楷体" panose="02010609060101010101" charset="-122"/>
              </a:rPr>
              <a:t>2</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On the whole, there are more advantages than disadvantages in the use of TV. Yet different people may have different attitude toward TV. But we must realize that television in itself is neither good nor bad. Its value to people and society depends on how we look at it.</a:t>
            </a:r>
            <a:r>
              <a:rPr lang="en-US" altLang="zh-CN">
                <a:latin typeface="宋体" panose="02010600030101010101" pitchFamily="2" charset="-122"/>
                <a:ea typeface="楷体" panose="02010609060101010101" charset="-122"/>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0" name="标题 2179"/>
          <p:cNvSpPr>
            <a:spLocks noGrp="1"/>
          </p:cNvSpPr>
          <p:nvPr>
            <p:ph type="title"/>
          </p:nvPr>
        </p:nvSpPr>
        <p:spPr>
          <a:xfrm>
            <a:off x="457200" y="274638"/>
            <a:ext cx="4876800" cy="639762"/>
          </a:xfrm>
        </p:spPr>
        <p:txBody>
          <a:bodyPr anchor="ctr" anchorCtr="0"/>
          <a:lstStyle/>
          <a:p>
            <a:r>
              <a:rPr lang="zh-CN" altLang="en-US" sz="2800" b="1">
                <a:latin typeface="宋体" panose="02010600030101010101" pitchFamily="2" charset="-122"/>
                <a:ea typeface="楷体" panose="02010609060101010101" charset="-122"/>
              </a:rPr>
              <a:t>用于做出结论的短语及句型：</a:t>
            </a:r>
          </a:p>
        </p:txBody>
      </p:sp>
      <p:sp>
        <p:nvSpPr>
          <p:cNvPr id="2181" name="文本占位符 2180"/>
          <p:cNvSpPr>
            <a:spLocks noGrp="1"/>
          </p:cNvSpPr>
          <p:nvPr>
            <p:ph type="body"/>
          </p:nvPr>
        </p:nvSpPr>
        <p:spPr>
          <a:xfrm>
            <a:off x="304800" y="1447800"/>
            <a:ext cx="8229600" cy="4876800"/>
          </a:xfrm>
        </p:spPr>
        <p:txBody>
          <a:bodyPr/>
          <a:lstStyle/>
          <a:p>
            <a:pPr>
              <a:lnSpc>
                <a:spcPct val="90000"/>
              </a:lnSpc>
              <a:buClr>
                <a:schemeClr val="accent1"/>
              </a:buClr>
              <a:buNone/>
            </a:pPr>
            <a:r>
              <a:rPr lang="en-US" altLang="zh-CN" sz="2400" b="1">
                <a:solidFill>
                  <a:srgbClr val="CC0066"/>
                </a:solidFill>
                <a:latin typeface="宋体" panose="02010600030101010101" pitchFamily="2" charset="-122"/>
                <a:ea typeface="楷体" panose="02010609060101010101" charset="-122"/>
              </a:rPr>
              <a:t>in general, in conclusion, in short, in a word, in all, </a:t>
            </a:r>
          </a:p>
          <a:p>
            <a:pPr>
              <a:lnSpc>
                <a:spcPct val="90000"/>
              </a:lnSpc>
              <a:buClr>
                <a:schemeClr val="accent1"/>
              </a:buClr>
              <a:buNone/>
            </a:pPr>
            <a:r>
              <a:rPr lang="en-US" altLang="zh-CN" sz="2400" b="1">
                <a:solidFill>
                  <a:srgbClr val="CC0066"/>
                </a:solidFill>
                <a:latin typeface="宋体" panose="02010600030101010101" pitchFamily="2" charset="-122"/>
                <a:ea typeface="楷体" panose="02010609060101010101" charset="-122"/>
              </a:rPr>
              <a:t>in brief, on the whole, to sum up</a:t>
            </a:r>
          </a:p>
          <a:p>
            <a:pPr>
              <a:lnSpc>
                <a:spcPct val="90000"/>
              </a:lnSpc>
              <a:buClr>
                <a:schemeClr val="accent1"/>
              </a:buClr>
              <a:buNone/>
            </a:pPr>
            <a:r>
              <a:rPr lang="en-US" altLang="zh-CN" sz="2400" b="1">
                <a:latin typeface="宋体" panose="02010600030101010101" pitchFamily="2" charset="-122"/>
                <a:ea typeface="楷体" panose="02010609060101010101" charset="-122"/>
              </a:rPr>
              <a:t>1</a:t>
            </a:r>
            <a:r>
              <a:rPr lang="zh-CN" altLang="en-US" sz="2400" b="1">
                <a:latin typeface="宋体" panose="02010600030101010101" pitchFamily="2" charset="-122"/>
                <a:ea typeface="楷体" panose="02010609060101010101" charset="-122"/>
              </a:rPr>
              <a:t>）</a:t>
            </a:r>
            <a:r>
              <a:rPr lang="en-US" altLang="zh-CN" sz="2400" b="1">
                <a:latin typeface="宋体" panose="02010600030101010101" pitchFamily="2" charset="-122"/>
                <a:ea typeface="楷体" panose="02010609060101010101" charset="-122"/>
              </a:rPr>
              <a:t>In short</a:t>
            </a:r>
            <a:r>
              <a:rPr lang="zh-CN" altLang="en-US" sz="2400" b="1">
                <a:latin typeface="宋体" panose="02010600030101010101" pitchFamily="2" charset="-122"/>
                <a:ea typeface="楷体" panose="02010609060101010101" charset="-122"/>
              </a:rPr>
              <a:t>，</a:t>
            </a:r>
            <a:r>
              <a:rPr lang="en-US" altLang="zh-CN" sz="2400" b="1">
                <a:latin typeface="宋体" panose="02010600030101010101" pitchFamily="2" charset="-122"/>
                <a:ea typeface="楷体" panose="02010609060101010101" charset="-122"/>
              </a:rPr>
              <a:t>it can be said that … </a:t>
            </a:r>
          </a:p>
          <a:p>
            <a:pPr>
              <a:lnSpc>
                <a:spcPct val="90000"/>
              </a:lnSpc>
              <a:buClr>
                <a:schemeClr val="accent1"/>
              </a:buClr>
              <a:buNone/>
            </a:pPr>
            <a:r>
              <a:rPr lang="en-US" altLang="zh-CN" sz="2400" b="1">
                <a:latin typeface="宋体" panose="02010600030101010101" pitchFamily="2" charset="-122"/>
                <a:ea typeface="楷体" panose="02010609060101010101" charset="-122"/>
              </a:rPr>
              <a:t>2</a:t>
            </a:r>
            <a:r>
              <a:rPr lang="zh-CN" altLang="en-US" sz="2400" b="1">
                <a:latin typeface="宋体" panose="02010600030101010101" pitchFamily="2" charset="-122"/>
                <a:ea typeface="楷体" panose="02010609060101010101" charset="-122"/>
              </a:rPr>
              <a:t>）</a:t>
            </a:r>
            <a:r>
              <a:rPr lang="en-US" altLang="zh-CN" sz="2400" b="1">
                <a:latin typeface="宋体" panose="02010600030101010101" pitchFamily="2" charset="-122"/>
                <a:ea typeface="楷体" panose="02010609060101010101" charset="-122"/>
              </a:rPr>
              <a:t>It may be briefly summed up as follows… </a:t>
            </a:r>
          </a:p>
          <a:p>
            <a:pPr>
              <a:lnSpc>
                <a:spcPct val="90000"/>
              </a:lnSpc>
              <a:buClr>
                <a:schemeClr val="accent1"/>
              </a:buClr>
              <a:buNone/>
            </a:pPr>
            <a:r>
              <a:rPr lang="en-US" altLang="zh-CN" sz="2400" b="1">
                <a:latin typeface="宋体" panose="02010600030101010101" pitchFamily="2" charset="-122"/>
                <a:ea typeface="楷体" panose="02010609060101010101" charset="-122"/>
              </a:rPr>
              <a:t>3</a:t>
            </a:r>
            <a:r>
              <a:rPr lang="zh-CN" altLang="en-US" sz="2400" b="1">
                <a:latin typeface="宋体" panose="02010600030101010101" pitchFamily="2" charset="-122"/>
                <a:ea typeface="楷体" panose="02010609060101010101" charset="-122"/>
              </a:rPr>
              <a:t>）</a:t>
            </a:r>
            <a:r>
              <a:rPr lang="en-US" altLang="zh-CN" sz="2400" b="1">
                <a:latin typeface="宋体" panose="02010600030101010101" pitchFamily="2" charset="-122"/>
                <a:ea typeface="楷体" panose="02010609060101010101" charset="-122"/>
              </a:rPr>
              <a:t>From what has been mentioned above</a:t>
            </a:r>
            <a:r>
              <a:rPr lang="zh-CN" altLang="en-US" sz="2400" b="1">
                <a:latin typeface="宋体" panose="02010600030101010101" pitchFamily="2" charset="-122"/>
                <a:ea typeface="楷体" panose="02010609060101010101" charset="-122"/>
              </a:rPr>
              <a:t>，</a:t>
            </a:r>
            <a:r>
              <a:rPr lang="en-US" altLang="zh-CN" sz="2400" b="1">
                <a:latin typeface="宋体" panose="02010600030101010101" pitchFamily="2" charset="-122"/>
                <a:ea typeface="楷体" panose="02010609060101010101" charset="-122"/>
              </a:rPr>
              <a:t>we can   come to the conclusion that … </a:t>
            </a:r>
          </a:p>
          <a:p>
            <a:pPr>
              <a:lnSpc>
                <a:spcPct val="90000"/>
              </a:lnSpc>
              <a:buClr>
                <a:schemeClr val="accent1"/>
              </a:buClr>
              <a:buNone/>
            </a:pPr>
            <a:r>
              <a:rPr lang="zh-CN" altLang="en-US" sz="2400" b="1">
                <a:latin typeface="宋体" panose="02010600030101010101" pitchFamily="2" charset="-122"/>
                <a:ea typeface="楷体" panose="02010609060101010101" charset="-122"/>
              </a:rPr>
              <a:t>例如： </a:t>
            </a:r>
            <a:br>
              <a:rPr lang="zh-CN" altLang="en-US" sz="2400" b="1">
                <a:latin typeface="宋体" panose="02010600030101010101" pitchFamily="2" charset="-122"/>
                <a:ea typeface="楷体" panose="02010609060101010101" charset="-122"/>
              </a:rPr>
            </a:br>
            <a:r>
              <a:rPr lang="en-US" altLang="zh-CN" sz="2400" b="1">
                <a:latin typeface="宋体" panose="02010600030101010101" pitchFamily="2" charset="-122"/>
                <a:ea typeface="楷体" panose="02010609060101010101" charset="-122"/>
              </a:rPr>
              <a:t>From what has been mentioned above</a:t>
            </a:r>
            <a:r>
              <a:rPr lang="zh-CN" altLang="en-US" sz="2400" b="1">
                <a:latin typeface="宋体" panose="02010600030101010101" pitchFamily="2" charset="-122"/>
                <a:ea typeface="楷体" panose="02010609060101010101" charset="-122"/>
              </a:rPr>
              <a:t>，</a:t>
            </a:r>
            <a:r>
              <a:rPr lang="en-US" altLang="zh-CN" sz="2400" b="1">
                <a:latin typeface="宋体" panose="02010600030101010101" pitchFamily="2" charset="-122"/>
                <a:ea typeface="楷体" panose="02010609060101010101" charset="-122"/>
              </a:rPr>
              <a:t>we can come to the conclusion that examination is necessary</a:t>
            </a:r>
            <a:r>
              <a:rPr lang="zh-CN" altLang="en-US" sz="2400" b="1">
                <a:latin typeface="宋体" panose="02010600030101010101" pitchFamily="2" charset="-122"/>
                <a:ea typeface="楷体" panose="02010609060101010101" charset="-122"/>
              </a:rPr>
              <a:t>，</a:t>
            </a:r>
            <a:r>
              <a:rPr lang="en-US" altLang="zh-CN" sz="2400" b="1">
                <a:latin typeface="宋体" panose="02010600030101010101" pitchFamily="2" charset="-122"/>
                <a:ea typeface="楷体" panose="02010609060101010101" charset="-122"/>
              </a:rPr>
              <a:t>however</a:t>
            </a:r>
            <a:r>
              <a:rPr lang="zh-CN" altLang="en-US" sz="2400" b="1">
                <a:latin typeface="宋体" panose="02010600030101010101" pitchFamily="2" charset="-122"/>
                <a:ea typeface="楷体" panose="02010609060101010101" charset="-122"/>
              </a:rPr>
              <a:t>， </a:t>
            </a:r>
            <a:r>
              <a:rPr lang="en-US" altLang="zh-CN" sz="2400" b="1">
                <a:latin typeface="宋体" panose="02010600030101010101" pitchFamily="2" charset="-122"/>
                <a:ea typeface="楷体" panose="02010609060101010101" charset="-122"/>
              </a:rPr>
              <a:t>its method should be improved</a:t>
            </a:r>
            <a:r>
              <a:rPr lang="zh-CN" altLang="en-US" sz="2400" b="1">
                <a:latin typeface="宋体" panose="02010600030101010101" pitchFamily="2" charset="-122"/>
                <a:ea typeface="楷体" panose="02010609060101010101" charset="-122"/>
              </a:rPr>
              <a:t>．</a:t>
            </a:r>
            <a:r>
              <a:rPr lang="zh-CN" altLang="en-US" sz="2400">
                <a:latin typeface="宋体" panose="02010600030101010101" pitchFamily="2" charset="-122"/>
                <a:ea typeface="楷体" panose="02010609060101010101" charset="-122"/>
              </a:rPr>
              <a:t> </a:t>
            </a:r>
            <a:br>
              <a:rPr lang="zh-CN" altLang="en-US" sz="2400" b="1">
                <a:latin typeface="宋体" panose="02010600030101010101" pitchFamily="2" charset="-122"/>
                <a:ea typeface="楷体" panose="02010609060101010101" charset="-122"/>
              </a:rPr>
            </a:br>
            <a:br>
              <a:rPr lang="zh-CN" altLang="en-US" b="1">
                <a:latin typeface="宋体" panose="02010600030101010101" pitchFamily="2" charset="-122"/>
                <a:ea typeface="楷体" panose="02010609060101010101" charset="-122"/>
              </a:rPr>
            </a:br>
            <a:r>
              <a:rPr lang="zh-CN" altLang="en-US" sz="2400" b="1">
                <a:latin typeface="宋体" panose="02010600030101010101" pitchFamily="2" charset="-122"/>
                <a:ea typeface="楷体" panose="02010609060101010101" charset="-122"/>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5" name="文本占位符 2184"/>
          <p:cNvSpPr>
            <a:spLocks noGrp="1"/>
          </p:cNvSpPr>
          <p:nvPr>
            <p:ph type="body"/>
          </p:nvPr>
        </p:nvSpPr>
        <p:spPr>
          <a:xfrm>
            <a:off x="381000" y="2362200"/>
            <a:ext cx="8229600" cy="2889250"/>
          </a:xfrm>
        </p:spPr>
        <p:txBody>
          <a:bodyPr/>
          <a:lstStyle/>
          <a:p>
            <a:pPr>
              <a:lnSpc>
                <a:spcPct val="165000"/>
              </a:lnSpc>
              <a:buClr>
                <a:schemeClr val="accent1"/>
              </a:buClr>
            </a:pPr>
            <a:r>
              <a:rPr lang="en-US" altLang="zh-CN" sz="2800" b="1">
                <a:latin typeface="宋体" panose="02010600030101010101" pitchFamily="2" charset="-122"/>
                <a:ea typeface="楷体" panose="02010609060101010101" charset="-122"/>
              </a:rPr>
              <a:t>3</a:t>
            </a:r>
            <a:r>
              <a:rPr lang="zh-CN" altLang="en-US" sz="2800" b="1">
                <a:latin typeface="宋体" panose="02010600030101010101" pitchFamily="2" charset="-122"/>
                <a:ea typeface="楷体" panose="02010609060101010101" charset="-122"/>
              </a:rPr>
              <a:t>．应用引语 用格言、谚语或习语总结全文，既言简意赅又有更强的说服力。</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9" name="文本占位符 2188"/>
          <p:cNvSpPr>
            <a:spLocks noGrp="1"/>
          </p:cNvSpPr>
          <p:nvPr>
            <p:ph type="body"/>
          </p:nvPr>
        </p:nvSpPr>
        <p:spPr>
          <a:xfrm>
            <a:off x="304800" y="990600"/>
            <a:ext cx="8534400" cy="5410200"/>
          </a:xfrm>
        </p:spPr>
        <p:txBody>
          <a:bodyPr/>
          <a:lstStyle/>
          <a:p>
            <a:pPr>
              <a:lnSpc>
                <a:spcPct val="120000"/>
              </a:lnSpc>
              <a:buClr>
                <a:schemeClr val="accent1"/>
              </a:buClr>
            </a:pPr>
            <a:r>
              <a:rPr lang="zh-CN" altLang="en-US" sz="2800" b="1">
                <a:latin typeface="宋体" panose="02010600030101010101" pitchFamily="2" charset="-122"/>
                <a:ea typeface="楷体" panose="02010609060101010101" charset="-122"/>
              </a:rPr>
              <a:t>例</a:t>
            </a:r>
            <a:r>
              <a:rPr lang="en-US" altLang="zh-CN" sz="2800" b="1">
                <a:latin typeface="宋体" panose="02010600030101010101" pitchFamily="2" charset="-122"/>
                <a:ea typeface="楷体" panose="02010609060101010101" charset="-122"/>
              </a:rPr>
              <a:t>1</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If you have anything to do</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try to do it yourself</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for that is the safest way to permanent success. Remember the famous saying. “God helps those who help themselves.”</a:t>
            </a:r>
          </a:p>
          <a:p>
            <a:pPr>
              <a:buClr>
                <a:schemeClr val="accent1"/>
              </a:buClr>
              <a:buNone/>
            </a:pPr>
            <a:endParaRPr lang="en-US" altLang="zh-CN" sz="2800" b="1">
              <a:latin typeface="宋体" panose="02010600030101010101" pitchFamily="2" charset="-122"/>
              <a:ea typeface="楷体" panose="02010609060101010101" charset="-122"/>
            </a:endParaRPr>
          </a:p>
          <a:p>
            <a:pPr>
              <a:lnSpc>
                <a:spcPct val="120000"/>
              </a:lnSpc>
              <a:buClr>
                <a:schemeClr val="accent1"/>
              </a:buClr>
            </a:pPr>
            <a:r>
              <a:rPr lang="zh-CN" altLang="en-US" sz="2800" b="1">
                <a:latin typeface="宋体" panose="02010600030101010101" pitchFamily="2" charset="-122"/>
                <a:ea typeface="楷体" panose="02010609060101010101" charset="-122"/>
              </a:rPr>
              <a:t>例</a:t>
            </a:r>
            <a:r>
              <a:rPr lang="en-US" altLang="zh-CN" sz="2800" b="1">
                <a:latin typeface="宋体" panose="02010600030101010101" pitchFamily="2" charset="-122"/>
                <a:ea typeface="楷体" panose="02010609060101010101" charset="-122"/>
              </a:rPr>
              <a:t>2</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If we stick to studies day after day</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there is nothing that can’t be achieved. As an old saying goes</a:t>
            </a:r>
            <a:r>
              <a:rPr lang="zh-CN" altLang="en-US" sz="2800" b="1">
                <a:latin typeface="宋体" panose="02010600030101010101" pitchFamily="2" charset="-122"/>
                <a:ea typeface="楷体" panose="02010609060101010101" charset="-122"/>
              </a:rPr>
              <a:t>： “</a:t>
            </a:r>
            <a:r>
              <a:rPr lang="en-US" altLang="zh-CN" sz="2800" b="1">
                <a:latin typeface="宋体" panose="02010600030101010101" pitchFamily="2" charset="-122"/>
                <a:ea typeface="楷体" panose="02010609060101010101" charset="-122"/>
              </a:rPr>
              <a:t>Constant dropping of water wears away a stone.”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3" name="文本占位符 2192"/>
          <p:cNvSpPr>
            <a:spLocks noGrp="1"/>
          </p:cNvSpPr>
          <p:nvPr>
            <p:ph type="body"/>
          </p:nvPr>
        </p:nvSpPr>
        <p:spPr>
          <a:xfrm>
            <a:off x="381000" y="1905000"/>
            <a:ext cx="8229600" cy="2965450"/>
          </a:xfrm>
        </p:spPr>
        <p:txBody>
          <a:bodyPr/>
          <a:lstStyle/>
          <a:p>
            <a:pPr>
              <a:buClr>
                <a:schemeClr val="accent1"/>
              </a:buClr>
              <a:buNone/>
            </a:pPr>
            <a:endParaRPr lang="en-US" altLang="zh-CN" sz="4400" b="1">
              <a:latin typeface="宋体" panose="02010600030101010101" pitchFamily="2" charset="-122"/>
              <a:ea typeface="楷体" panose="02010609060101010101" charset="-122"/>
            </a:endParaRPr>
          </a:p>
          <a:p>
            <a:pPr>
              <a:lnSpc>
                <a:spcPct val="145000"/>
              </a:lnSpc>
              <a:buClr>
                <a:schemeClr val="accent1"/>
              </a:buClr>
            </a:pPr>
            <a:r>
              <a:rPr lang="en-US" altLang="zh-CN" sz="2800" b="1">
                <a:latin typeface="宋体" panose="02010600030101010101" pitchFamily="2" charset="-122"/>
                <a:ea typeface="楷体" panose="02010609060101010101" charset="-122"/>
              </a:rPr>
              <a:t>4</a:t>
            </a:r>
            <a:r>
              <a:rPr lang="zh-CN" altLang="en-US" sz="2800" b="1">
                <a:latin typeface="宋体" panose="02010600030101010101" pitchFamily="2" charset="-122"/>
                <a:ea typeface="楷体" panose="02010609060101010101" charset="-122"/>
              </a:rPr>
              <a:t>．用反问结尾</a:t>
            </a:r>
            <a:r>
              <a:rPr lang="en-US" altLang="zh-CN" sz="2800" b="1">
                <a:latin typeface="宋体" panose="02010600030101010101" pitchFamily="2" charset="-122"/>
                <a:ea typeface="楷体" panose="02010609060101010101" charset="-122"/>
              </a:rPr>
              <a:t>:</a:t>
            </a:r>
            <a:r>
              <a:rPr lang="zh-CN" altLang="en-US" sz="2800" b="1">
                <a:latin typeface="宋体" panose="02010600030101010101" pitchFamily="2" charset="-122"/>
                <a:ea typeface="楷体" panose="02010609060101010101" charset="-122"/>
              </a:rPr>
              <a:t>虽然形式是问句，但意义却是肯定的，具有明显的强调作用，引起读者思考。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6" name="标题 2195"/>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197" name="文本占位符 2196"/>
          <p:cNvSpPr>
            <a:spLocks noGrp="1"/>
          </p:cNvSpPr>
          <p:nvPr>
            <p:ph type="body"/>
          </p:nvPr>
        </p:nvSpPr>
        <p:spPr>
          <a:xfrm>
            <a:off x="457200" y="914400"/>
            <a:ext cx="8229600" cy="5216525"/>
          </a:xfrm>
        </p:spPr>
        <p:txBody>
          <a:bodyPr/>
          <a:lstStyle/>
          <a:p>
            <a:pPr>
              <a:lnSpc>
                <a:spcPct val="135000"/>
              </a:lnSpc>
              <a:buClr>
                <a:schemeClr val="accent1"/>
              </a:buClr>
            </a:pPr>
            <a:r>
              <a:rPr lang="zh-CN" altLang="en-US" sz="2800" b="1">
                <a:latin typeface="宋体" panose="02010600030101010101" pitchFamily="2" charset="-122"/>
                <a:ea typeface="楷体" panose="02010609060101010101" charset="-122"/>
              </a:rPr>
              <a:t>例</a:t>
            </a:r>
            <a:r>
              <a:rPr lang="en-US" altLang="zh-CN" sz="2800" b="1">
                <a:latin typeface="宋体" panose="02010600030101010101" pitchFamily="2" charset="-122"/>
                <a:ea typeface="楷体" panose="02010609060101010101" charset="-122"/>
              </a:rPr>
              <a:t>1</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Therefore</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listening skills must be consciously improved. Since it is such an important means of learning and communication</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why should we not develop this ability as far as possible</a:t>
            </a:r>
            <a:r>
              <a:rPr lang="zh-CN" altLang="en-US" sz="2800" b="1">
                <a:latin typeface="宋体" panose="02010600030101010101" pitchFamily="2" charset="-122"/>
                <a:ea typeface="楷体" panose="02010609060101010101" charset="-122"/>
              </a:rPr>
              <a:t>？</a:t>
            </a:r>
          </a:p>
          <a:p>
            <a:pPr>
              <a:buClr>
                <a:schemeClr val="accent1"/>
              </a:buClr>
              <a:buNone/>
            </a:pPr>
            <a:endParaRPr lang="zh-CN" altLang="en-US" sz="2800" b="1">
              <a:latin typeface="宋体" panose="02010600030101010101" pitchFamily="2" charset="-122"/>
              <a:ea typeface="楷体" panose="02010609060101010101" charset="-122"/>
            </a:endParaRPr>
          </a:p>
          <a:p>
            <a:pPr>
              <a:lnSpc>
                <a:spcPct val="140000"/>
              </a:lnSpc>
              <a:buClr>
                <a:schemeClr val="accent1"/>
              </a:buClr>
            </a:pPr>
            <a:r>
              <a:rPr lang="zh-CN" altLang="en-US" sz="2800" b="1">
                <a:latin typeface="宋体" panose="02010600030101010101" pitchFamily="2" charset="-122"/>
                <a:ea typeface="楷体" panose="02010609060101010101" charset="-122"/>
              </a:rPr>
              <a:t>例</a:t>
            </a:r>
            <a:r>
              <a:rPr lang="en-US" altLang="zh-CN" sz="2800" b="1">
                <a:latin typeface="宋体" panose="02010600030101010101" pitchFamily="2" charset="-122"/>
                <a:ea typeface="楷体" panose="02010609060101010101" charset="-122"/>
              </a:rPr>
              <a:t>2</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So</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what can we benefit from wealth if we do not have health</a:t>
            </a:r>
            <a:r>
              <a:rPr lang="zh-CN" altLang="en-US" sz="2800" b="1">
                <a:latin typeface="宋体" panose="02010600030101010101" pitchFamily="2" charset="-122"/>
                <a:ea typeface="楷体" panose="02010609060101010101" charset="-122"/>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0" name="标题 2199"/>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201" name="文本占位符 2200"/>
          <p:cNvSpPr>
            <a:spLocks noGrp="1"/>
          </p:cNvSpPr>
          <p:nvPr>
            <p:ph type="body"/>
          </p:nvPr>
        </p:nvSpPr>
        <p:spPr>
          <a:xfrm>
            <a:off x="457200" y="1143000"/>
            <a:ext cx="8382000" cy="5029200"/>
          </a:xfrm>
        </p:spPr>
        <p:txBody>
          <a:bodyPr/>
          <a:lstStyle/>
          <a:p>
            <a:pPr>
              <a:lnSpc>
                <a:spcPct val="145000"/>
              </a:lnSpc>
              <a:buClr>
                <a:schemeClr val="accent1"/>
              </a:buClr>
            </a:pPr>
            <a:r>
              <a:rPr lang="en-US" altLang="zh-CN" sz="2800" b="1">
                <a:latin typeface="宋体" panose="02010600030101010101" pitchFamily="2" charset="-122"/>
                <a:ea typeface="楷体" panose="02010609060101010101" charset="-122"/>
              </a:rPr>
              <a:t>5</a:t>
            </a:r>
            <a:r>
              <a:rPr lang="zh-CN" altLang="en-US" sz="2800" b="1">
                <a:latin typeface="宋体" panose="02010600030101010101" pitchFamily="2" charset="-122"/>
                <a:ea typeface="楷体" panose="02010609060101010101" charset="-122"/>
              </a:rPr>
              <a:t>．提出展望或期望</a:t>
            </a:r>
            <a:r>
              <a:rPr lang="en-US" altLang="zh-CN" sz="2800" b="1">
                <a:latin typeface="宋体" panose="02010600030101010101" pitchFamily="2" charset="-122"/>
                <a:ea typeface="楷体" panose="02010609060101010101" charset="-122"/>
              </a:rPr>
              <a:t>:</a:t>
            </a:r>
            <a:r>
              <a:rPr lang="zh-CN" altLang="en-US" sz="2800" b="1">
                <a:latin typeface="宋体" panose="02010600030101010101" pitchFamily="2" charset="-122"/>
                <a:ea typeface="楷体" panose="02010609060101010101" charset="-122"/>
              </a:rPr>
              <a:t>表示对将来的展望或期待读者投入行动。</a:t>
            </a:r>
          </a:p>
          <a:p>
            <a:pPr>
              <a:lnSpc>
                <a:spcPct val="145000"/>
              </a:lnSpc>
              <a:buClr>
                <a:schemeClr val="accent1"/>
              </a:buClr>
            </a:pPr>
            <a:r>
              <a:rPr lang="zh-CN" altLang="en-US" sz="2800" b="1">
                <a:latin typeface="宋体" panose="02010600030101010101" pitchFamily="2" charset="-122"/>
                <a:ea typeface="楷体" panose="02010609060101010101" charset="-122"/>
              </a:rPr>
              <a:t>例</a:t>
            </a:r>
            <a:r>
              <a:rPr lang="en-US" altLang="zh-CN" sz="2800" b="1">
                <a:latin typeface="宋体" panose="02010600030101010101" pitchFamily="2" charset="-122"/>
                <a:ea typeface="楷体" panose="02010609060101010101" charset="-122"/>
              </a:rPr>
              <a:t>1</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I am sure that Chinese will become one of the most important languages in the world in the next century. As China will open further to the outside world, the language is sure to be spread world widely.</a:t>
            </a:r>
            <a:r>
              <a:rPr lang="en-US" altLang="zh-CN" sz="2800">
                <a:latin typeface="宋体" panose="02010600030101010101" pitchFamily="2" charset="-122"/>
                <a:ea typeface="楷体" panose="02010609060101010101" charset="-122"/>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4" name="标题 2203"/>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205" name="文本占位符 2204"/>
          <p:cNvSpPr>
            <a:spLocks noGrp="1"/>
          </p:cNvSpPr>
          <p:nvPr>
            <p:ph type="body"/>
          </p:nvPr>
        </p:nvSpPr>
        <p:spPr>
          <a:xfrm>
            <a:off x="228600" y="1524000"/>
            <a:ext cx="8534400" cy="4530725"/>
          </a:xfrm>
        </p:spPr>
        <p:txBody>
          <a:bodyPr/>
          <a:lstStyle/>
          <a:p>
            <a:pPr>
              <a:lnSpc>
                <a:spcPct val="130000"/>
              </a:lnSpc>
              <a:buClr>
                <a:schemeClr val="accent1"/>
              </a:buClr>
            </a:pPr>
            <a:r>
              <a:rPr lang="zh-CN" altLang="en-US" sz="2800" b="1">
                <a:latin typeface="宋体" panose="02010600030101010101" pitchFamily="2" charset="-122"/>
                <a:ea typeface="楷体" panose="02010609060101010101" charset="-122"/>
              </a:rPr>
              <a:t>例</a:t>
            </a:r>
            <a:r>
              <a:rPr lang="en-US" altLang="zh-CN" sz="2800" b="1">
                <a:latin typeface="宋体" panose="02010600030101010101" pitchFamily="2" charset="-122"/>
                <a:ea typeface="楷体" panose="02010609060101010101" charset="-122"/>
              </a:rPr>
              <a:t>2: If everyone has developed good manners</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people will form a more harmonious relation. If everyone behaves considerately towards others and social ethics, people will live in a better world. With the </a:t>
            </a:r>
            <a:r>
              <a:rPr lang="en-US" altLang="zh-CN" sz="2800" b="1">
                <a:solidFill>
                  <a:srgbClr val="CC0066"/>
                </a:solidFill>
                <a:latin typeface="宋体" panose="02010600030101010101" pitchFamily="2" charset="-122"/>
                <a:ea typeface="楷体" panose="02010609060101010101" charset="-122"/>
              </a:rPr>
              <a:t>general mood of society</a:t>
            </a:r>
            <a:r>
              <a:rPr lang="en-US" altLang="zh-CN" sz="2800" b="1">
                <a:latin typeface="宋体" panose="02010600030101010101" pitchFamily="2" charset="-122"/>
                <a:ea typeface="楷体" panose="02010609060101010101" charset="-122"/>
              </a:rPr>
              <a:t> improved</a:t>
            </a:r>
            <a:r>
              <a:rPr lang="zh-CN" altLang="en-US" sz="2800" b="1">
                <a:latin typeface="宋体" panose="02010600030101010101" pitchFamily="2" charset="-122"/>
                <a:ea typeface="楷体" panose="02010609060101010101" charset="-122"/>
              </a:rPr>
              <a:t>，</a:t>
            </a:r>
            <a:r>
              <a:rPr lang="en-US" altLang="zh-CN" sz="2800" b="1">
                <a:latin typeface="宋体" panose="02010600030101010101" pitchFamily="2" charset="-122"/>
                <a:ea typeface="楷体" panose="02010609060101010101" charset="-122"/>
              </a:rPr>
              <a:t>there will be a progress of civilization.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8" name="标题 2207"/>
          <p:cNvSpPr>
            <a:spLocks noGrp="1"/>
          </p:cNvSpPr>
          <p:nvPr>
            <p:ph type="title"/>
          </p:nvPr>
        </p:nvSpPr>
        <p:spPr/>
        <p:txBody>
          <a:bodyPr anchor="ctr" anchorCtr="0"/>
          <a:lstStyle/>
          <a:p>
            <a:r>
              <a:rPr lang="zh-CN" altLang="en-US" sz="3400">
                <a:latin typeface="宋体" panose="02010600030101010101" pitchFamily="2" charset="-122"/>
                <a:ea typeface="楷体" panose="02010609060101010101" charset="-122"/>
              </a:rPr>
              <a:t>例文分析：</a:t>
            </a:r>
          </a:p>
        </p:txBody>
      </p:sp>
      <p:sp>
        <p:nvSpPr>
          <p:cNvPr id="3" name="内容占位符 2">
            <a:extLst>
              <a:ext uri="{FF2B5EF4-FFF2-40B4-BE49-F238E27FC236}">
                <a16:creationId xmlns:a16="http://schemas.microsoft.com/office/drawing/2014/main" id="{9F87080E-479C-4DB4-9B43-8FF7F1FFFAB7}"/>
              </a:ext>
            </a:extLst>
          </p:cNvPr>
          <p:cNvSpPr>
            <a:spLocks noGrp="1"/>
          </p:cNvSpPr>
          <p:nvPr>
            <p:ph idx="1"/>
          </p:nvPr>
        </p:nvSpPr>
        <p:spPr/>
        <p:txBody>
          <a:bodyPr/>
          <a:lstStyle/>
          <a:p>
            <a:pPr marL="609600" indent="-609600">
              <a:lnSpc>
                <a:spcPct val="145000"/>
              </a:lnSpc>
              <a:buClr>
                <a:schemeClr val="accent1"/>
              </a:buClr>
              <a:buNone/>
            </a:pPr>
            <a:r>
              <a:rPr lang="en-US" altLang="zh-CN" b="1" dirty="0">
                <a:latin typeface="宋体" panose="02010600030101010101" pitchFamily="2" charset="-122"/>
                <a:ea typeface="楷体" panose="02010609060101010101" charset="-122"/>
              </a:rPr>
              <a:t> </a:t>
            </a:r>
            <a:r>
              <a:rPr lang="en-US" altLang="zh-CN" sz="3200" b="1" dirty="0">
                <a:latin typeface="宋体" panose="02010600030101010101" pitchFamily="2" charset="-122"/>
                <a:ea typeface="楷体" panose="02010609060101010101" charset="-122"/>
              </a:rPr>
              <a:t>On Overseas Study</a:t>
            </a:r>
          </a:p>
          <a:p>
            <a:pPr marL="609600" indent="-609600">
              <a:lnSpc>
                <a:spcPct val="145000"/>
              </a:lnSpc>
              <a:buClr>
                <a:schemeClr val="accent1"/>
              </a:buClr>
              <a:buNone/>
            </a:pPr>
            <a:r>
              <a:rPr lang="en-US" altLang="zh-CN" sz="3200" b="1" dirty="0">
                <a:latin typeface="宋体" panose="02010600030101010101" pitchFamily="2" charset="-122"/>
                <a:ea typeface="楷体" panose="02010609060101010101" charset="-122"/>
              </a:rPr>
              <a:t>1. </a:t>
            </a:r>
            <a:r>
              <a:rPr lang="zh-CN" altLang="en-US" sz="3200" b="1" dirty="0">
                <a:latin typeface="宋体" panose="02010600030101010101" pitchFamily="2" charset="-122"/>
                <a:ea typeface="楷体" panose="02010609060101010101" charset="-122"/>
              </a:rPr>
              <a:t>有人认为出国留学是个人发展的最佳选择；</a:t>
            </a:r>
          </a:p>
          <a:p>
            <a:pPr marL="609600" indent="-609600">
              <a:lnSpc>
                <a:spcPct val="145000"/>
              </a:lnSpc>
              <a:buClr>
                <a:schemeClr val="accent1"/>
              </a:buClr>
              <a:buNone/>
            </a:pPr>
            <a:r>
              <a:rPr lang="en-US" altLang="zh-CN" sz="3200" b="1" dirty="0">
                <a:latin typeface="宋体" panose="02010600030101010101" pitchFamily="2" charset="-122"/>
                <a:ea typeface="楷体" panose="02010609060101010101" charset="-122"/>
              </a:rPr>
              <a:t>2. </a:t>
            </a:r>
            <a:r>
              <a:rPr lang="zh-CN" altLang="en-US" sz="3200" b="1" dirty="0">
                <a:latin typeface="宋体" panose="02010600030101010101" pitchFamily="2" charset="-122"/>
                <a:ea typeface="楷体" panose="02010609060101010101" charset="-122"/>
              </a:rPr>
              <a:t>也有人坚持在国内也能实现自己的理想；</a:t>
            </a:r>
          </a:p>
          <a:p>
            <a:pPr marL="609600" indent="-609600">
              <a:lnSpc>
                <a:spcPct val="145000"/>
              </a:lnSpc>
              <a:buClr>
                <a:schemeClr val="accent1"/>
              </a:buClr>
              <a:buNone/>
            </a:pPr>
            <a:r>
              <a:rPr lang="en-US" altLang="zh-CN" sz="3200" b="1" dirty="0">
                <a:latin typeface="宋体" panose="02010600030101010101" pitchFamily="2" charset="-122"/>
                <a:ea typeface="楷体" panose="02010609060101010101" charset="-122"/>
              </a:rPr>
              <a:t>3. </a:t>
            </a:r>
            <a:r>
              <a:rPr lang="zh-CN" altLang="en-US" sz="3200" b="1" dirty="0">
                <a:latin typeface="宋体" panose="02010600030101010101" pitchFamily="2" charset="-122"/>
                <a:ea typeface="楷体" panose="02010609060101010101" charset="-122"/>
              </a:rPr>
              <a:t>我的看法。 </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2" name="标题 2211"/>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213" name="文本占位符 2212"/>
          <p:cNvSpPr>
            <a:spLocks noGrp="1"/>
          </p:cNvSpPr>
          <p:nvPr>
            <p:ph type="body"/>
          </p:nvPr>
        </p:nvSpPr>
        <p:spPr>
          <a:xfrm>
            <a:off x="457200" y="1371600"/>
            <a:ext cx="8229600" cy="4759325"/>
          </a:xfrm>
        </p:spPr>
        <p:txBody>
          <a:bodyPr/>
          <a:lstStyle/>
          <a:p>
            <a:pPr>
              <a:lnSpc>
                <a:spcPct val="150000"/>
              </a:lnSpc>
              <a:buClr>
                <a:schemeClr val="accent1"/>
              </a:buClr>
              <a:buNone/>
            </a:pPr>
            <a:r>
              <a:rPr lang="en-US" altLang="zh-CN" sz="2800" b="1">
                <a:latin typeface="宋体" panose="02010600030101010101" pitchFamily="2" charset="-122"/>
                <a:ea typeface="楷体" panose="02010609060101010101" charset="-122"/>
              </a:rPr>
              <a:t>  </a:t>
            </a:r>
            <a:r>
              <a:rPr lang="en-US" altLang="zh-CN" sz="2800" b="1" u="sng">
                <a:latin typeface="宋体" panose="02010600030101010101" pitchFamily="2" charset="-122"/>
                <a:ea typeface="楷体" panose="02010609060101010101" charset="-122"/>
              </a:rPr>
              <a:t>When it comes to</a:t>
            </a:r>
            <a:r>
              <a:rPr lang="en-US" altLang="zh-CN" sz="2800" b="1">
                <a:latin typeface="宋体" panose="02010600030101010101" pitchFamily="2" charset="-122"/>
                <a:ea typeface="楷体" panose="02010609060101010101" charset="-122"/>
              </a:rPr>
              <a:t> the choice of whether to study abroad or at home, </a:t>
            </a:r>
            <a:r>
              <a:rPr lang="en-US" altLang="zh-CN" sz="2800" b="1" u="sng">
                <a:latin typeface="宋体" panose="02010600030101010101" pitchFamily="2" charset="-122"/>
                <a:ea typeface="楷体" panose="02010609060101010101" charset="-122"/>
              </a:rPr>
              <a:t>different people have different opinions. Some see more advantages to</a:t>
            </a:r>
            <a:r>
              <a:rPr lang="en-US" altLang="zh-CN" sz="2800" b="1">
                <a:latin typeface="宋体" panose="02010600030101010101" pitchFamily="2" charset="-122"/>
                <a:ea typeface="楷体" panose="02010609060101010101" charset="-122"/>
              </a:rPr>
              <a:t> overseas study, </a:t>
            </a:r>
            <a:r>
              <a:rPr lang="en-US" altLang="zh-CN" sz="2800" b="1" u="sng">
                <a:latin typeface="宋体" panose="02010600030101010101" pitchFamily="2" charset="-122"/>
                <a:ea typeface="楷体" panose="02010609060101010101" charset="-122"/>
              </a:rPr>
              <a:t>while others believe that</a:t>
            </a:r>
            <a:r>
              <a:rPr lang="en-US" altLang="zh-CN" sz="2800" b="1">
                <a:latin typeface="宋体" panose="02010600030101010101" pitchFamily="2" charset="-122"/>
                <a:ea typeface="楷体" panose="02010609060101010101" charset="-122"/>
              </a:rPr>
              <a:t> the disadvantages outweigh its advantages.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6" name="标题 2215"/>
          <p:cNvSpPr>
            <a:spLocks noGrp="1"/>
          </p:cNvSpPr>
          <p:nvPr>
            <p:ph type="title"/>
          </p:nvPr>
        </p:nvSpPr>
        <p:spPr>
          <a:xfrm>
            <a:off x="457200" y="274638"/>
            <a:ext cx="8229600" cy="334962"/>
          </a:xfrm>
        </p:spPr>
        <p:txBody>
          <a:bodyPr anchor="ctr" anchorCtr="0"/>
          <a:lstStyle/>
          <a:p>
            <a:r>
              <a:rPr lang="en-US" sz="3400">
                <a:ea typeface="楷体" panose="02010609060101010101" charset="-122"/>
              </a:rPr>
              <a:t> </a:t>
            </a:r>
          </a:p>
        </p:txBody>
      </p:sp>
      <p:sp>
        <p:nvSpPr>
          <p:cNvPr id="2217" name="文本占位符 2216"/>
          <p:cNvSpPr>
            <a:spLocks noGrp="1"/>
          </p:cNvSpPr>
          <p:nvPr>
            <p:ph type="body"/>
          </p:nvPr>
        </p:nvSpPr>
        <p:spPr>
          <a:xfrm>
            <a:off x="457200" y="1295400"/>
            <a:ext cx="8229600" cy="4835525"/>
          </a:xfrm>
        </p:spPr>
        <p:txBody>
          <a:bodyPr/>
          <a:lstStyle/>
          <a:p>
            <a:pPr>
              <a:lnSpc>
                <a:spcPct val="165000"/>
              </a:lnSpc>
              <a:buClr>
                <a:schemeClr val="accent1"/>
              </a:buClr>
              <a:buNone/>
            </a:pPr>
            <a:r>
              <a:rPr lang="en-US" altLang="zh-CN" sz="2400" b="1">
                <a:latin typeface="宋体" panose="02010600030101010101" pitchFamily="2" charset="-122"/>
                <a:ea typeface="楷体" panose="02010609060101010101" charset="-122"/>
              </a:rPr>
              <a:t>  </a:t>
            </a:r>
            <a:r>
              <a:rPr lang="en-US" altLang="zh-CN" sz="2400" b="1" u="sng">
                <a:latin typeface="宋体" panose="02010600030101010101" pitchFamily="2" charset="-122"/>
                <a:ea typeface="楷体" panose="02010609060101010101" charset="-122"/>
              </a:rPr>
              <a:t>With the deepening of reform and opening-up of our country</a:t>
            </a:r>
            <a:r>
              <a:rPr lang="en-US" altLang="zh-CN" sz="2400" b="1">
                <a:latin typeface="宋体" panose="02010600030101010101" pitchFamily="2" charset="-122"/>
                <a:ea typeface="楷体" panose="02010609060101010101" charset="-122"/>
              </a:rPr>
              <a:t>, many people can go abroad for further study. </a:t>
            </a:r>
            <a:r>
              <a:rPr lang="en-US" altLang="zh-CN" sz="2400" b="1" u="sng">
                <a:latin typeface="宋体" panose="02010600030101010101" pitchFamily="2" charset="-122"/>
                <a:ea typeface="楷体" panose="02010609060101010101" charset="-122"/>
              </a:rPr>
              <a:t>They insist that</a:t>
            </a:r>
            <a:r>
              <a:rPr lang="en-US" altLang="zh-CN" sz="2400" b="1">
                <a:latin typeface="宋体" panose="02010600030101010101" pitchFamily="2" charset="-122"/>
                <a:ea typeface="楷体" panose="02010609060101010101" charset="-122"/>
              </a:rPr>
              <a:t> there are more modern research facilities, world famous professors and excellent environment in some foreign colleges and universities, </a:t>
            </a:r>
            <a:r>
              <a:rPr lang="en-US" altLang="zh-CN" sz="2400" b="1" u="sng">
                <a:latin typeface="宋体" panose="02010600030101010101" pitchFamily="2" charset="-122"/>
                <a:ea typeface="楷体" panose="02010609060101010101" charset="-122"/>
              </a:rPr>
              <a:t>which</a:t>
            </a:r>
            <a:r>
              <a:rPr lang="en-US" altLang="zh-CN" sz="2400" b="1">
                <a:latin typeface="宋体" panose="02010600030101010101" pitchFamily="2" charset="-122"/>
                <a:ea typeface="楷体" panose="02010609060101010101" charset="-122"/>
              </a:rPr>
              <a:t> lay a perfect foundation for their future development.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0" name="标题 2219"/>
          <p:cNvSpPr>
            <a:spLocks noGrp="1"/>
          </p:cNvSpPr>
          <p:nvPr>
            <p:ph type="title"/>
          </p:nvPr>
        </p:nvSpPr>
        <p:spPr>
          <a:xfrm>
            <a:off x="457200" y="274638"/>
            <a:ext cx="8229600" cy="106362"/>
          </a:xfrm>
        </p:spPr>
        <p:txBody>
          <a:bodyPr anchor="ctr" anchorCtr="0"/>
          <a:lstStyle/>
          <a:p>
            <a:r>
              <a:rPr lang="en-US" sz="3400">
                <a:ea typeface="楷体" panose="02010609060101010101" charset="-122"/>
              </a:rPr>
              <a:t> </a:t>
            </a:r>
          </a:p>
        </p:txBody>
      </p:sp>
      <p:sp>
        <p:nvSpPr>
          <p:cNvPr id="2221" name="文本占位符 2220"/>
          <p:cNvSpPr>
            <a:spLocks noGrp="1"/>
          </p:cNvSpPr>
          <p:nvPr>
            <p:ph type="body"/>
          </p:nvPr>
        </p:nvSpPr>
        <p:spPr>
          <a:xfrm>
            <a:off x="457200" y="1447800"/>
            <a:ext cx="8229600" cy="4683125"/>
          </a:xfrm>
        </p:spPr>
        <p:txBody>
          <a:bodyPr/>
          <a:lstStyle/>
          <a:p>
            <a:pPr>
              <a:lnSpc>
                <a:spcPct val="190000"/>
              </a:lnSpc>
              <a:buClr>
                <a:schemeClr val="accent1"/>
              </a:buClr>
              <a:buNone/>
            </a:pPr>
            <a:r>
              <a:rPr lang="en-US" altLang="zh-CN" sz="2400" b="1">
                <a:latin typeface="宋体" panose="02010600030101010101" pitchFamily="2" charset="-122"/>
                <a:ea typeface="楷体" panose="02010609060101010101" charset="-122"/>
              </a:rPr>
              <a:t>   </a:t>
            </a:r>
            <a:r>
              <a:rPr lang="en-US" altLang="zh-CN" sz="2400" b="1" u="sng">
                <a:latin typeface="宋体" panose="02010600030101010101" pitchFamily="2" charset="-122"/>
                <a:ea typeface="楷体" panose="02010609060101010101" charset="-122"/>
              </a:rPr>
              <a:t>However, there are still many people who favor</a:t>
            </a:r>
            <a:r>
              <a:rPr lang="en-US" altLang="zh-CN" sz="2400" b="1">
                <a:latin typeface="宋体" panose="02010600030101010101" pitchFamily="2" charset="-122"/>
                <a:ea typeface="楷体" panose="02010609060101010101" charset="-122"/>
              </a:rPr>
              <a:t> studying at home. </a:t>
            </a:r>
            <a:r>
              <a:rPr lang="en-US" altLang="zh-CN" sz="2400" b="1" u="sng">
                <a:latin typeface="宋体" panose="02010600030101010101" pitchFamily="2" charset="-122"/>
                <a:ea typeface="楷体" panose="02010609060101010101" charset="-122"/>
              </a:rPr>
              <a:t>They argue that, for one thing</a:t>
            </a:r>
            <a:r>
              <a:rPr lang="en-US" altLang="zh-CN" sz="2400" b="1">
                <a:latin typeface="宋体" panose="02010600030101010101" pitchFamily="2" charset="-122"/>
                <a:ea typeface="楷体" panose="02010609060101010101" charset="-122"/>
              </a:rPr>
              <a:t>, studying abroad is too expensive and </a:t>
            </a:r>
            <a:r>
              <a:rPr lang="en-US" altLang="zh-CN" sz="2400" b="1" u="sng">
                <a:latin typeface="宋体" panose="02010600030101010101" pitchFamily="2" charset="-122"/>
                <a:ea typeface="楷体" panose="02010609060101010101" charset="-122"/>
              </a:rPr>
              <a:t>therefore</a:t>
            </a:r>
            <a:r>
              <a:rPr lang="en-US" altLang="zh-CN" sz="2400" b="1">
                <a:latin typeface="宋体" panose="02010600030101010101" pitchFamily="2" charset="-122"/>
                <a:ea typeface="楷体" panose="02010609060101010101" charset="-122"/>
              </a:rPr>
              <a:t> doesn’t pay off. </a:t>
            </a:r>
            <a:r>
              <a:rPr lang="en-US" altLang="zh-CN" sz="2400" b="1" u="sng">
                <a:latin typeface="宋体" panose="02010600030101010101" pitchFamily="2" charset="-122"/>
                <a:ea typeface="楷体" panose="02010609060101010101" charset="-122"/>
              </a:rPr>
              <a:t>For another</a:t>
            </a:r>
            <a:r>
              <a:rPr lang="en-US" altLang="zh-CN" sz="2400" b="1">
                <a:latin typeface="宋体" panose="02010600030101010101" pitchFamily="2" charset="-122"/>
                <a:ea typeface="楷体" panose="02010609060101010101" charset="-122"/>
              </a:rPr>
              <a:t>, there are no language and cultural barriers if they study in our country.</a:t>
            </a:r>
            <a:r>
              <a:rPr lang="en-US" altLang="zh-CN">
                <a:latin typeface="宋体" panose="02010600030101010101" pitchFamily="2" charset="-122"/>
                <a:ea typeface="楷体" panose="02010609060101010101" charset="-122"/>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4" name="标题 2223"/>
          <p:cNvSpPr>
            <a:spLocks noGrp="1"/>
          </p:cNvSpPr>
          <p:nvPr>
            <p:ph type="title"/>
          </p:nvPr>
        </p:nvSpPr>
        <p:spPr>
          <a:xfrm>
            <a:off x="457200" y="274638"/>
            <a:ext cx="8229600" cy="258762"/>
          </a:xfrm>
        </p:spPr>
        <p:txBody>
          <a:bodyPr anchor="ctr" anchorCtr="0"/>
          <a:lstStyle/>
          <a:p>
            <a:r>
              <a:rPr lang="en-US" sz="3400">
                <a:ea typeface="楷体" panose="02010609060101010101" charset="-122"/>
              </a:rPr>
              <a:t> </a:t>
            </a:r>
          </a:p>
        </p:txBody>
      </p:sp>
      <p:sp>
        <p:nvSpPr>
          <p:cNvPr id="2225" name="文本占位符 2224"/>
          <p:cNvSpPr>
            <a:spLocks noGrp="1"/>
          </p:cNvSpPr>
          <p:nvPr>
            <p:ph type="body"/>
          </p:nvPr>
        </p:nvSpPr>
        <p:spPr>
          <a:xfrm>
            <a:off x="457200" y="1219200"/>
            <a:ext cx="8229600" cy="5410200"/>
          </a:xfrm>
        </p:spPr>
        <p:txBody>
          <a:bodyPr/>
          <a:lstStyle/>
          <a:p>
            <a:pPr>
              <a:lnSpc>
                <a:spcPct val="150000"/>
              </a:lnSpc>
              <a:buClr>
                <a:schemeClr val="accent1"/>
              </a:buClr>
              <a:buNone/>
            </a:pPr>
            <a:r>
              <a:rPr lang="en-US" altLang="zh-CN" sz="2400" b="1" dirty="0">
                <a:latin typeface="宋体" panose="02010600030101010101" pitchFamily="2" charset="-122"/>
                <a:ea typeface="楷体" panose="02010609060101010101" charset="-122"/>
              </a:rPr>
              <a:t>  </a:t>
            </a:r>
            <a:r>
              <a:rPr lang="en-US" altLang="zh-CN" sz="2400" b="1" u="sng" dirty="0">
                <a:latin typeface="宋体" panose="02010600030101010101" pitchFamily="2" charset="-122"/>
                <a:ea typeface="楷体" panose="02010609060101010101" charset="-122"/>
              </a:rPr>
              <a:t>Just as the old saying goes, “Every advantage has its disadvantage,” so I believe both opinions are acceptable in some sense.</a:t>
            </a:r>
            <a:r>
              <a:rPr lang="en-US" altLang="zh-CN" sz="2400" b="1" dirty="0">
                <a:latin typeface="宋体" panose="02010600030101010101" pitchFamily="2" charset="-122"/>
                <a:ea typeface="楷体" panose="02010609060101010101" charset="-122"/>
              </a:rPr>
              <a:t> If students have the chances and financial resources, they should seize the opportunity to go abroad and broaden their eyes. </a:t>
            </a:r>
            <a:r>
              <a:rPr lang="en-US" altLang="zh-CN" sz="2400" b="1" u="sng" dirty="0">
                <a:latin typeface="宋体" panose="02010600030101010101" pitchFamily="2" charset="-122"/>
                <a:ea typeface="楷体" panose="02010609060101010101" charset="-122"/>
              </a:rPr>
              <a:t>On the other hand</a:t>
            </a:r>
            <a:r>
              <a:rPr lang="en-US" altLang="zh-CN" sz="2400" b="1" dirty="0">
                <a:latin typeface="宋体" panose="02010600030101010101" pitchFamily="2" charset="-122"/>
                <a:ea typeface="楷体" panose="02010609060101010101" charset="-122"/>
              </a:rPr>
              <a:t>, if conditions don’t permit, they can pursue their studies at top universities in our country. </a:t>
            </a:r>
            <a:r>
              <a:rPr lang="en-US" altLang="zh-CN" sz="2400" b="1" u="sng" dirty="0">
                <a:latin typeface="宋体" panose="02010600030101010101" pitchFamily="2" charset="-122"/>
                <a:ea typeface="楷体" panose="02010609060101010101" charset="-122"/>
              </a:rPr>
              <a:t>What counts is</a:t>
            </a:r>
            <a:r>
              <a:rPr lang="en-US" altLang="zh-CN" sz="2400" b="1" dirty="0">
                <a:latin typeface="宋体" panose="02010600030101010101" pitchFamily="2" charset="-122"/>
                <a:ea typeface="楷体" panose="02010609060101010101" charset="-122"/>
              </a:rPr>
              <a:t> </a:t>
            </a:r>
            <a:r>
              <a:rPr lang="en-US" altLang="zh-CN" sz="2400" b="1" u="sng" dirty="0">
                <a:latin typeface="宋体" panose="02010600030101010101" pitchFamily="2" charset="-122"/>
                <a:ea typeface="楷体" panose="02010609060101010101" charset="-122"/>
              </a:rPr>
              <a:t>not</a:t>
            </a:r>
            <a:r>
              <a:rPr lang="en-US" altLang="zh-CN" sz="2400" b="1" dirty="0">
                <a:latin typeface="宋体" panose="02010600030101010101" pitchFamily="2" charset="-122"/>
                <a:ea typeface="楷体" panose="02010609060101010101" charset="-122"/>
              </a:rPr>
              <a:t> the place where they study, </a:t>
            </a:r>
            <a:r>
              <a:rPr lang="en-US" altLang="zh-CN" sz="2400" b="1" u="sng" dirty="0">
                <a:latin typeface="宋体" panose="02010600030101010101" pitchFamily="2" charset="-122"/>
                <a:ea typeface="楷体" panose="02010609060101010101" charset="-122"/>
              </a:rPr>
              <a:t>but</a:t>
            </a:r>
            <a:r>
              <a:rPr lang="en-US" altLang="zh-CN" sz="2400" b="1" dirty="0">
                <a:latin typeface="宋体" panose="02010600030101010101" pitchFamily="2" charset="-122"/>
                <a:ea typeface="楷体" panose="02010609060101010101" charset="-122"/>
              </a:rPr>
              <a:t> what they can learn.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PART 2</a:t>
            </a:r>
          </a:p>
        </p:txBody>
      </p:sp>
      <p:sp>
        <p:nvSpPr>
          <p:cNvPr id="6" name="文本占位符 5"/>
          <p:cNvSpPr>
            <a:spLocks noGrp="1"/>
          </p:cNvSpPr>
          <p:nvPr>
            <p:ph type="body" idx="1"/>
          </p:nvPr>
        </p:nvSpPr>
        <p:spPr/>
        <p:txBody>
          <a:bodyPr/>
          <a:lstStyle/>
          <a:p>
            <a:r>
              <a:rPr lang="zh-CN" altLang="en-US"/>
              <a:t>阅读理解题</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宋体" panose="02010600030101010101" pitchFamily="2" charset="-122"/>
                <a:ea typeface="楷体" panose="02010609060101010101" charset="-122"/>
              </a:rPr>
              <a:t>I</a:t>
            </a:r>
          </a:p>
        </p:txBody>
      </p:sp>
      <p:sp>
        <p:nvSpPr>
          <p:cNvPr id="3" name="文本占位符 2"/>
          <p:cNvSpPr>
            <a:spLocks noGrp="1"/>
          </p:cNvSpPr>
          <p:nvPr>
            <p:ph type="body" idx="1"/>
          </p:nvPr>
        </p:nvSpPr>
        <p:spPr/>
        <p:txBody>
          <a:bodyPr/>
          <a:lstStyle/>
          <a:p>
            <a:r>
              <a:rPr lang="zh-CN" altLang="en-US" b="1">
                <a:latin typeface="宋体" panose="02010600030101010101" pitchFamily="2" charset="-122"/>
                <a:ea typeface="楷体" panose="02010609060101010101" charset="-122"/>
              </a:rPr>
              <a:t>题型详解</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57500" lnSpcReduction="10000"/>
          </a:bodyPr>
          <a:lstStyle/>
          <a:p>
            <a:r>
              <a:rPr lang="zh-CN" altLang="en-US" sz="3000">
                <a:latin typeface="宋体" panose="02010600030101010101" pitchFamily="2" charset="-122"/>
                <a:ea typeface="楷体" panose="02010609060101010101" charset="-122"/>
              </a:rPr>
              <a:t>1.细节题</a:t>
            </a:r>
          </a:p>
          <a:p>
            <a:r>
              <a:rPr lang="zh-CN" altLang="en-US" sz="3000">
                <a:latin typeface="宋体" panose="02010600030101010101" pitchFamily="2" charset="-122"/>
                <a:ea typeface="楷体" panose="02010609060101010101" charset="-122"/>
              </a:rPr>
              <a:t>（</a:t>
            </a:r>
            <a:r>
              <a:rPr lang="en-US" altLang="zh-CN" sz="3000">
                <a:latin typeface="宋体" panose="02010600030101010101" pitchFamily="2" charset="-122"/>
                <a:ea typeface="楷体" panose="02010609060101010101" charset="-122"/>
              </a:rPr>
              <a:t>1</a:t>
            </a:r>
            <a:r>
              <a:rPr lang="zh-CN" altLang="en-US" sz="3000">
                <a:latin typeface="宋体" panose="02010600030101010101" pitchFamily="2" charset="-122"/>
                <a:ea typeface="楷体" panose="02010609060101010101" charset="-122"/>
              </a:rPr>
              <a:t>）细节题表现形式</a:t>
            </a:r>
          </a:p>
          <a:p>
            <a:r>
              <a:rPr lang="zh-CN" altLang="en-US" sz="3000">
                <a:latin typeface="宋体" panose="02010600030101010101" pitchFamily="2" charset="-122"/>
                <a:ea typeface="楷体" panose="02010609060101010101" charset="-122"/>
              </a:rPr>
              <a:t>这类题在考试中题量较大，占到60%——70%的题量，可以说是考试成败的关键这类题特点是题干的信息比较具体，考查文章中的重要细节。</a:t>
            </a:r>
          </a:p>
          <a:p>
            <a:r>
              <a:rPr lang="zh-CN" altLang="en-US" sz="3000">
                <a:latin typeface="宋体" panose="02010600030101010101" pitchFamily="2" charset="-122"/>
                <a:ea typeface="楷体" panose="02010609060101010101" charset="-122"/>
              </a:rPr>
              <a:t>如“Free play has been introduced in someJapanese kindergartens in order to”，</a:t>
            </a:r>
          </a:p>
          <a:p>
            <a:r>
              <a:rPr lang="zh-CN" altLang="en-US" sz="3000">
                <a:latin typeface="宋体" panose="02010600030101010101" pitchFamily="2" charset="-122"/>
                <a:ea typeface="楷体" panose="02010609060101010101" charset="-122"/>
              </a:rPr>
              <a:t>本题通过“free play”，“some Japanese kindergartens”反映了原文考查对象，题干内容比较具体，属于细节分析。</a:t>
            </a:r>
          </a:p>
          <a:p>
            <a:r>
              <a:rPr lang="zh-CN" altLang="en-US" sz="3000">
                <a:latin typeface="宋体" panose="02010600030101010101" pitchFamily="2" charset="-122"/>
                <a:ea typeface="楷体" panose="02010609060101010101" charset="-122"/>
              </a:rPr>
              <a:t>又如：“What did the handball player do when he was not allowed a time out to change his gloves? ”</a:t>
            </a:r>
          </a:p>
          <a:p>
            <a:r>
              <a:rPr lang="zh-CN" altLang="en-US" sz="3000">
                <a:latin typeface="宋体" panose="02010600030101010101" pitchFamily="2" charset="-122"/>
                <a:ea typeface="楷体" panose="02010609060101010101" charset="-122"/>
              </a:rPr>
              <a:t>本题handball player 是中心话题，when引导状语从句，这两部分明确指定了考查的细节内容，在原文中找答案十分方便。</a:t>
            </a:r>
          </a:p>
          <a:p>
            <a:r>
              <a:rPr lang="zh-CN" altLang="en-US" sz="3000">
                <a:latin typeface="宋体" panose="02010600030101010101" pitchFamily="2" charset="-122"/>
                <a:ea typeface="楷体" panose="02010609060101010101" charset="-122"/>
              </a:rPr>
              <a:t>（</a:t>
            </a:r>
            <a:r>
              <a:rPr lang="en-US" altLang="zh-CN" sz="3000">
                <a:latin typeface="宋体" panose="02010600030101010101" pitchFamily="2" charset="-122"/>
                <a:ea typeface="楷体" panose="02010609060101010101" charset="-122"/>
              </a:rPr>
              <a:t>2</a:t>
            </a:r>
            <a:r>
              <a:rPr lang="zh-CN" altLang="en-US" sz="3000">
                <a:latin typeface="宋体" panose="02010600030101010101" pitchFamily="2" charset="-122"/>
                <a:ea typeface="楷体" panose="02010609060101010101" charset="-122"/>
              </a:rPr>
              <a:t>）细节题注意点</a:t>
            </a:r>
          </a:p>
          <a:p>
            <a:r>
              <a:rPr lang="zh-CN" altLang="en-US" sz="3000">
                <a:latin typeface="宋体" panose="02010600030101010101" pitchFamily="2" charset="-122"/>
                <a:ea typeface="楷体" panose="02010609060101010101" charset="-122"/>
              </a:rPr>
              <a:t>考生做细节题时，要注意合理但不正确的选项。很多考生在做题时，忽视了题目与原文的联系，凭着合理性的主观猜想选择答案。结果很多考生感觉做得很好，但对答案时发现错了很多。另外，很多表示程度、范围、频率等的副词或形容词可能会导致选项错误</a:t>
            </a:r>
          </a:p>
          <a:p>
            <a:endParaRPr lang="zh-CN" altLang="en-US" sz="3000">
              <a:latin typeface="宋体" panose="02010600030101010101" pitchFamily="2" charset="-122"/>
              <a:ea typeface="楷体" panose="02010609060101010101"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57500" lnSpcReduction="20000"/>
          </a:bodyPr>
          <a:lstStyle/>
          <a:p>
            <a:r>
              <a:rPr lang="zh-CN" altLang="en-US" dirty="0">
                <a:latin typeface="宋体" panose="02010600030101010101" pitchFamily="2" charset="-122"/>
                <a:ea typeface="楷体" panose="02010609060101010101" charset="-122"/>
                <a:sym typeface="+mn-ea"/>
              </a:rPr>
              <a:t>（</a:t>
            </a:r>
            <a:r>
              <a:rPr lang="en-US" altLang="zh-CN" dirty="0">
                <a:latin typeface="宋体" panose="02010600030101010101" pitchFamily="2" charset="-122"/>
                <a:ea typeface="楷体" panose="02010609060101010101" charset="-122"/>
                <a:sym typeface="+mn-ea"/>
              </a:rPr>
              <a:t>3</a:t>
            </a:r>
            <a:r>
              <a:rPr lang="zh-CN" altLang="en-US" dirty="0">
                <a:latin typeface="宋体" panose="02010600030101010101" pitchFamily="2" charset="-122"/>
                <a:ea typeface="楷体" panose="02010609060101010101" charset="-122"/>
                <a:sym typeface="+mn-ea"/>
              </a:rPr>
              <a:t>）细节题解题方法</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细节题考查信息查找能力和句子的理解能力。由于考试时间非常紧张，对于考生来说，做好细节题，首先是要在原文找到相关信息。正是由于这点，我们看文章需要目的。</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有同学先看文章再做题，导致做题时还得回去在文章中寻找相关内容，或者干脆凭着对文章的主观印象匆忙求解，结果是浪费时间或者错误较多。</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建议考生先看题干再看文章，这样就会有方向感，目的感。所以，细节题的重要做题方法就是：先看题干，再看原文，带着题干个别的特有信息或者带着题干的中心话题在原文定位。如“What did the handball player do when he was not allowed a time out to change his gloves? ”就可以结合handball player这个中心话题在原文找答案。</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细节题干有时会有比较明显的信息，如时间数字，专有名词，中心名词。</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例：What was confirmed by the Boston University Medical Centers study?题干中Boston University Medical Center这个专有名词可以让考生迅速找到考到的原文内容。如果用题干信息在原文找答案没有结果，可以根据题目的先后顺序来确定大概范围(除个别例外，四级细节题大体上还是按照出题的先后顺序找答案的)。</a:t>
            </a:r>
            <a:endParaRPr lang="zh-CN" altLang="en-US" dirty="0">
              <a:latin typeface="宋体" panose="02010600030101010101" pitchFamily="2" charset="-122"/>
              <a:ea typeface="楷体" panose="02010609060101010101" charset="-122"/>
            </a:endParaRPr>
          </a:p>
          <a:p>
            <a:endParaRPr lang="zh-CN" altLang="en-US" dirty="0">
              <a:latin typeface="宋体" panose="02010600030101010101" pitchFamily="2" charset="-122"/>
              <a:ea typeface="楷体" panose="02010609060101010101"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77500" lnSpcReduction="20000"/>
          </a:bodyPr>
          <a:lstStyle/>
          <a:p>
            <a:r>
              <a:rPr lang="zh-CN" altLang="en-US" dirty="0">
                <a:latin typeface="宋体" panose="02010600030101010101" pitchFamily="2" charset="-122"/>
                <a:ea typeface="楷体" panose="02010609060101010101" charset="-122"/>
              </a:rPr>
              <a:t>2</a:t>
            </a:r>
            <a:r>
              <a:rPr lang="en-US" altLang="zh-CN" dirty="0">
                <a:latin typeface="宋体" panose="02010600030101010101" pitchFamily="2" charset="-122"/>
                <a:ea typeface="楷体" panose="02010609060101010101" charset="-122"/>
              </a:rPr>
              <a:t>.</a:t>
            </a:r>
            <a:r>
              <a:rPr lang="zh-CN" altLang="en-US" dirty="0">
                <a:latin typeface="宋体" panose="02010600030101010101" pitchFamily="2" charset="-122"/>
                <a:ea typeface="楷体" panose="02010609060101010101" charset="-122"/>
              </a:rPr>
              <a:t>态度题</a:t>
            </a:r>
          </a:p>
          <a:p>
            <a:r>
              <a:rPr lang="zh-CN" altLang="en-US" dirty="0">
                <a:latin typeface="宋体" panose="02010600030101010101" pitchFamily="2" charset="-122"/>
                <a:ea typeface="楷体" panose="02010609060101010101" charset="-122"/>
              </a:rPr>
              <a:t>（</a:t>
            </a:r>
            <a:r>
              <a:rPr lang="en-US" altLang="zh-CN" dirty="0">
                <a:latin typeface="宋体" panose="02010600030101010101" pitchFamily="2" charset="-122"/>
                <a:ea typeface="楷体" panose="02010609060101010101" charset="-122"/>
              </a:rPr>
              <a:t>1</a:t>
            </a:r>
            <a:r>
              <a:rPr lang="zh-CN" altLang="en-US" dirty="0">
                <a:latin typeface="宋体" panose="02010600030101010101" pitchFamily="2" charset="-122"/>
                <a:ea typeface="楷体" panose="02010609060101010101" charset="-122"/>
              </a:rPr>
              <a:t>）态度题表现形式</a:t>
            </a:r>
          </a:p>
          <a:p>
            <a:r>
              <a:rPr lang="zh-CN" altLang="en-US" dirty="0">
                <a:latin typeface="宋体" panose="02010600030101010101" pitchFamily="2" charset="-122"/>
                <a:ea typeface="楷体" panose="02010609060101010101" charset="-122"/>
              </a:rPr>
              <a:t>态度题一般提问方式是：The author</a:t>
            </a:r>
            <a:r>
              <a:rPr lang="en-US" altLang="zh-CN" dirty="0">
                <a:latin typeface="宋体" panose="02010600030101010101" pitchFamily="2" charset="-122"/>
                <a:ea typeface="楷体" panose="02010609060101010101" charset="-122"/>
              </a:rPr>
              <a:t>’</a:t>
            </a:r>
            <a:r>
              <a:rPr lang="zh-CN" altLang="en-US" dirty="0">
                <a:latin typeface="宋体" panose="02010600030101010101" pitchFamily="2" charset="-122"/>
                <a:ea typeface="楷体" panose="02010609060101010101" charset="-122"/>
              </a:rPr>
              <a:t>s attitude towards</a:t>
            </a:r>
            <a:r>
              <a:rPr lang="en-US" altLang="zh-CN" dirty="0">
                <a:latin typeface="宋体" panose="02010600030101010101" pitchFamily="2" charset="-122"/>
                <a:ea typeface="楷体" panose="02010609060101010101" charset="-122"/>
              </a:rPr>
              <a:t>…</a:t>
            </a:r>
            <a:r>
              <a:rPr lang="zh-CN" altLang="en-US" dirty="0">
                <a:latin typeface="宋体" panose="02010600030101010101" pitchFamily="2" charset="-122"/>
                <a:ea typeface="楷体" panose="02010609060101010101" charset="-122"/>
              </a:rPr>
              <a:t>is _____.</a:t>
            </a:r>
          </a:p>
          <a:p>
            <a:r>
              <a:rPr lang="zh-CN" altLang="en-US" dirty="0">
                <a:latin typeface="宋体" panose="02010600030101010101" pitchFamily="2" charset="-122"/>
                <a:ea typeface="楷体" panose="02010609060101010101" charset="-122"/>
              </a:rPr>
              <a:t>或者是What is the author</a:t>
            </a:r>
            <a:r>
              <a:rPr lang="en-US" altLang="zh-CN" dirty="0">
                <a:latin typeface="宋体" panose="02010600030101010101" pitchFamily="2" charset="-122"/>
                <a:ea typeface="楷体" panose="02010609060101010101" charset="-122"/>
              </a:rPr>
              <a:t>‘</a:t>
            </a:r>
            <a:r>
              <a:rPr lang="zh-CN" altLang="en-US" dirty="0">
                <a:latin typeface="宋体" panose="02010600030101010101" pitchFamily="2" charset="-122"/>
                <a:ea typeface="楷体" panose="02010609060101010101" charset="-122"/>
              </a:rPr>
              <a:t>s attitude towards _______?</a:t>
            </a:r>
          </a:p>
          <a:p>
            <a:r>
              <a:rPr lang="zh-CN" altLang="en-US" dirty="0">
                <a:latin typeface="宋体" panose="02010600030101010101" pitchFamily="2" charset="-122"/>
                <a:ea typeface="楷体" panose="02010609060101010101" charset="-122"/>
              </a:rPr>
              <a:t>（</a:t>
            </a:r>
            <a:r>
              <a:rPr lang="en-US" altLang="zh-CN" dirty="0">
                <a:latin typeface="宋体" panose="02010600030101010101" pitchFamily="2" charset="-122"/>
                <a:ea typeface="楷体" panose="02010609060101010101" charset="-122"/>
              </a:rPr>
              <a:t>2</a:t>
            </a:r>
            <a:r>
              <a:rPr lang="zh-CN" altLang="en-US" dirty="0">
                <a:latin typeface="宋体" panose="02010600030101010101" pitchFamily="2" charset="-122"/>
                <a:ea typeface="楷体" panose="02010609060101010101" charset="-122"/>
              </a:rPr>
              <a:t>）态度题注意点</a:t>
            </a:r>
          </a:p>
          <a:p>
            <a:r>
              <a:rPr lang="zh-CN" altLang="en-US" dirty="0">
                <a:latin typeface="宋体" panose="02010600030101010101" pitchFamily="2" charset="-122"/>
                <a:ea typeface="楷体" panose="02010609060101010101" charset="-122"/>
              </a:rPr>
              <a:t>考生应该熟练掌握在态度题中经常出现的单词</a:t>
            </a:r>
          </a:p>
          <a:p>
            <a:r>
              <a:rPr lang="zh-CN" altLang="en-US" dirty="0">
                <a:latin typeface="宋体" panose="02010600030101010101" pitchFamily="2" charset="-122"/>
                <a:ea typeface="楷体" panose="02010609060101010101" charset="-122"/>
              </a:rPr>
              <a:t>如positive, negative, optimistic,pessimistic, approving, concerned, objective, compromise等。</a:t>
            </a:r>
          </a:p>
          <a:p>
            <a:r>
              <a:rPr lang="zh-CN" altLang="en-US" dirty="0">
                <a:latin typeface="宋体" panose="02010600030101010101" pitchFamily="2" charset="-122"/>
                <a:ea typeface="楷体" panose="02010609060101010101" charset="-122"/>
              </a:rPr>
              <a:t>另外，从以前考试的情况来看，作者的态度一般是或褒或贬，或乐观或担忧，中性评价为正确答案的较少。</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65000" lnSpcReduction="20000"/>
          </a:bodyPr>
          <a:lstStyle/>
          <a:p>
            <a:r>
              <a:rPr lang="zh-CN" altLang="en-US" dirty="0">
                <a:latin typeface="宋体" panose="02010600030101010101" pitchFamily="2" charset="-122"/>
                <a:ea typeface="楷体" panose="02010609060101010101" charset="-122"/>
                <a:sym typeface="+mn-ea"/>
              </a:rPr>
              <a:t>(</a:t>
            </a:r>
            <a:r>
              <a:rPr lang="en-US" altLang="zh-CN" dirty="0">
                <a:latin typeface="宋体" panose="02010600030101010101" pitchFamily="2" charset="-122"/>
                <a:ea typeface="楷体" panose="02010609060101010101" charset="-122"/>
                <a:sym typeface="+mn-ea"/>
              </a:rPr>
              <a:t>3</a:t>
            </a:r>
            <a:r>
              <a:rPr lang="zh-CN" altLang="en-US" dirty="0">
                <a:latin typeface="宋体" panose="02010600030101010101" pitchFamily="2" charset="-122"/>
                <a:ea typeface="楷体" panose="02010609060101010101" charset="-122"/>
                <a:sym typeface="+mn-ea"/>
              </a:rPr>
              <a:t>)态度题解题方法</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从原则上来讲，态度题可以考查作者对一个中心话题的看法，也可以考查作者对某一具体细节的态度，但是从历年考法来看，阅读更注重考查文章中心话题。</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所以，态度题经常可以通过文章主题来判断作者的态度</a:t>
            </a:r>
            <a:r>
              <a:rPr lang="en-US" altLang="zh-CN" dirty="0">
                <a:latin typeface="宋体" panose="02010600030101010101" pitchFamily="2" charset="-122"/>
                <a:ea typeface="楷体" panose="02010609060101010101" charset="-122"/>
                <a:sym typeface="+mn-ea"/>
              </a:rPr>
              <a:t>.</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如某篇原文首句：It’s no secret that many children would be healthier and happier</a:t>
            </a:r>
            <a:r>
              <a:rPr lang="en-US" altLang="zh-CN" dirty="0">
                <a:latin typeface="宋体" panose="02010600030101010101" pitchFamily="2" charset="-122"/>
                <a:ea typeface="楷体" panose="02010609060101010101" charset="-122"/>
                <a:sym typeface="+mn-ea"/>
              </a:rPr>
              <a:t> </a:t>
            </a:r>
            <a:r>
              <a:rPr lang="zh-CN" altLang="en-US" dirty="0">
                <a:latin typeface="宋体" panose="02010600030101010101" pitchFamily="2" charset="-122"/>
                <a:ea typeface="楷体" panose="02010609060101010101" charset="-122"/>
                <a:sym typeface="+mn-ea"/>
              </a:rPr>
              <a:t>with </a:t>
            </a:r>
            <a:r>
              <a:rPr lang="en-US" altLang="zh-CN" dirty="0">
                <a:latin typeface="宋体" panose="02010600030101010101" pitchFamily="2" charset="-122"/>
                <a:ea typeface="楷体" panose="02010609060101010101" charset="-122"/>
                <a:sym typeface="+mn-ea"/>
              </a:rPr>
              <a:t> </a:t>
            </a:r>
            <a:r>
              <a:rPr lang="zh-CN" altLang="en-US" dirty="0">
                <a:latin typeface="宋体" panose="02010600030101010101" pitchFamily="2" charset="-122"/>
                <a:ea typeface="楷体" panose="02010609060101010101" charset="-122"/>
                <a:sym typeface="+mn-ea"/>
              </a:rPr>
              <a:t>adoptive parents than </a:t>
            </a:r>
            <a:r>
              <a:rPr lang="en-US" altLang="zh-CN" dirty="0">
                <a:latin typeface="宋体" panose="02010600030101010101" pitchFamily="2" charset="-122"/>
                <a:ea typeface="楷体" panose="02010609060101010101" charset="-122"/>
                <a:sym typeface="+mn-ea"/>
              </a:rPr>
              <a:t>w</a:t>
            </a:r>
            <a:r>
              <a:rPr lang="zh-CN" altLang="en-US" dirty="0">
                <a:latin typeface="宋体" panose="02010600030101010101" pitchFamily="2" charset="-122"/>
                <a:ea typeface="楷体" panose="02010609060101010101" charset="-122"/>
                <a:sym typeface="+mn-ea"/>
              </a:rPr>
              <a:t>ith the parents that nature dealt them.</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题目：The</a:t>
            </a:r>
            <a:r>
              <a:rPr lang="en-US" altLang="zh-CN" dirty="0">
                <a:latin typeface="宋体" panose="02010600030101010101" pitchFamily="2" charset="-122"/>
                <a:ea typeface="楷体" panose="02010609060101010101" charset="-122"/>
                <a:sym typeface="+mn-ea"/>
              </a:rPr>
              <a:t> </a:t>
            </a:r>
            <a:r>
              <a:rPr lang="zh-CN" altLang="en-US" dirty="0">
                <a:latin typeface="宋体" panose="02010600030101010101" pitchFamily="2" charset="-122"/>
                <a:ea typeface="楷体" panose="02010609060101010101" charset="-122"/>
                <a:sym typeface="+mn-ea"/>
              </a:rPr>
              <a:t>author</a:t>
            </a:r>
            <a:r>
              <a:rPr lang="en-US" altLang="zh-CN" dirty="0">
                <a:latin typeface="宋体" panose="02010600030101010101" pitchFamily="2" charset="-122"/>
                <a:ea typeface="楷体" panose="02010609060101010101" charset="-122"/>
                <a:sym typeface="+mn-ea"/>
              </a:rPr>
              <a:t>’</a:t>
            </a:r>
            <a:r>
              <a:rPr lang="zh-CN" altLang="en-US" dirty="0">
                <a:latin typeface="宋体" panose="02010600030101010101" pitchFamily="2" charset="-122"/>
                <a:ea typeface="楷体" panose="02010609060101010101" charset="-122"/>
                <a:sym typeface="+mn-ea"/>
              </a:rPr>
              <a:t>s</a:t>
            </a:r>
            <a:r>
              <a:rPr lang="en-US" altLang="zh-CN" dirty="0">
                <a:latin typeface="宋体" panose="02010600030101010101" pitchFamily="2" charset="-122"/>
                <a:ea typeface="楷体" panose="02010609060101010101" charset="-122"/>
                <a:sym typeface="+mn-ea"/>
              </a:rPr>
              <a:t> </a:t>
            </a:r>
            <a:r>
              <a:rPr lang="zh-CN" altLang="en-US" dirty="0">
                <a:latin typeface="宋体" panose="02010600030101010101" pitchFamily="2" charset="-122"/>
                <a:ea typeface="楷体" panose="02010609060101010101" charset="-122"/>
                <a:sym typeface="+mn-ea"/>
              </a:rPr>
              <a:t>attitude towards the judge</a:t>
            </a:r>
            <a:r>
              <a:rPr lang="en-US" altLang="zh-CN" dirty="0">
                <a:latin typeface="宋体" panose="02010600030101010101" pitchFamily="2" charset="-122"/>
                <a:ea typeface="楷体" panose="02010609060101010101" charset="-122"/>
                <a:sym typeface="+mn-ea"/>
              </a:rPr>
              <a:t>‘</a:t>
            </a:r>
            <a:r>
              <a:rPr lang="zh-CN" altLang="en-US" dirty="0">
                <a:latin typeface="宋体" panose="02010600030101010101" pitchFamily="2" charset="-122"/>
                <a:ea typeface="楷体" panose="02010609060101010101" charset="-122"/>
                <a:sym typeface="+mn-ea"/>
              </a:rPr>
              <a:t>s ruling could be described as______.</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A) doubtful B) critical C) cautious D) supportive</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全文首句可以体现文章讨论的中心话题，它明确道出了作者的观点：有时小孩与养父母在一起比与亲生父母在一起更好。而原文中judge’s ruling的结果就是把小孩判给了养父，所以作者一定会持支持态度，故选D。</a:t>
            </a:r>
            <a:endParaRPr lang="zh-CN" altLang="en-US" dirty="0">
              <a:latin typeface="宋体" panose="02010600030101010101" pitchFamily="2" charset="-122"/>
              <a:ea typeface="楷体" panose="02010609060101010101" charset="-122"/>
            </a:endParaRPr>
          </a:p>
          <a:p>
            <a:endParaRPr lang="zh-CN" altLang="en-US" dirty="0">
              <a:latin typeface="宋体" panose="02010600030101010101" pitchFamily="2" charset="-122"/>
              <a:ea typeface="楷体" panose="0201060906010101010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570"/>
            <a:ext cx="7886700" cy="4358640"/>
          </a:xfrm>
        </p:spPr>
        <p:txBody>
          <a:bodyPr>
            <a:normAutofit fontScale="25000" lnSpcReduction="10000"/>
          </a:bodyPr>
          <a:lstStyle/>
          <a:p>
            <a:endParaRPr lang="zh-CN" altLang="en-US">
              <a:latin typeface="宋体" panose="02010600030101010101" pitchFamily="2" charset="-122"/>
              <a:ea typeface="楷体" panose="02010609060101010101" charset="-122"/>
            </a:endParaRPr>
          </a:p>
          <a:p>
            <a:r>
              <a:rPr lang="zh-CN" altLang="en-US" sz="7200">
                <a:latin typeface="宋体" panose="02010600030101010101" pitchFamily="2" charset="-122"/>
                <a:ea typeface="楷体" panose="02010609060101010101" charset="-122"/>
              </a:rPr>
              <a:t>3</a:t>
            </a:r>
            <a:r>
              <a:rPr lang="en-US" altLang="zh-CN" sz="7200">
                <a:latin typeface="宋体" panose="02010600030101010101" pitchFamily="2" charset="-122"/>
                <a:ea typeface="楷体" panose="02010609060101010101" charset="-122"/>
              </a:rPr>
              <a:t>.</a:t>
            </a:r>
            <a:r>
              <a:rPr lang="zh-CN" altLang="en-US" sz="7200">
                <a:latin typeface="宋体" panose="02010600030101010101" pitchFamily="2" charset="-122"/>
                <a:ea typeface="楷体" panose="02010609060101010101" charset="-122"/>
              </a:rPr>
              <a:t>主旨题</a:t>
            </a:r>
          </a:p>
          <a:p>
            <a:r>
              <a:rPr lang="zh-CN" altLang="en-US" sz="7200">
                <a:latin typeface="宋体" panose="02010600030101010101" pitchFamily="2" charset="-122"/>
                <a:ea typeface="楷体" panose="02010609060101010101" charset="-122"/>
              </a:rPr>
              <a:t>(1)主旨题表现形式</a:t>
            </a:r>
          </a:p>
          <a:p>
            <a:r>
              <a:rPr lang="zh-CN" altLang="en-US" sz="7200">
                <a:latin typeface="宋体" panose="02010600030101010101" pitchFamily="2" charset="-122"/>
                <a:ea typeface="楷体" panose="02010609060101010101" charset="-122"/>
              </a:rPr>
              <a:t>阅读中，主旨题主要可以表现为“What’s the best title for this passage”；</a:t>
            </a:r>
          </a:p>
          <a:p>
            <a:r>
              <a:rPr lang="zh-CN" altLang="en-US" sz="7200">
                <a:latin typeface="宋体" panose="02010600030101010101" pitchFamily="2" charset="-122"/>
                <a:ea typeface="楷体" panose="02010609060101010101" charset="-122"/>
              </a:rPr>
              <a:t>“What is the main idea of the passage”；</a:t>
            </a:r>
          </a:p>
          <a:p>
            <a:r>
              <a:rPr lang="zh-CN" altLang="en-US" sz="7200">
                <a:latin typeface="宋体" panose="02010600030101010101" pitchFamily="2" charset="-122"/>
                <a:ea typeface="楷体" panose="02010609060101010101" charset="-122"/>
              </a:rPr>
              <a:t>“The author’s purpose of writing this passage is to _____”</a:t>
            </a:r>
          </a:p>
          <a:p>
            <a:r>
              <a:rPr lang="zh-CN" altLang="en-US" sz="7200">
                <a:latin typeface="宋体" panose="02010600030101010101" pitchFamily="2" charset="-122"/>
                <a:ea typeface="楷体" panose="02010609060101010101" charset="-122"/>
              </a:rPr>
              <a:t>(2)主旨题解题方法</a:t>
            </a:r>
          </a:p>
          <a:p>
            <a:r>
              <a:rPr lang="zh-CN" altLang="en-US" sz="7200">
                <a:latin typeface="宋体" panose="02010600030101010101" pitchFamily="2" charset="-122"/>
                <a:ea typeface="楷体" panose="02010609060101010101" charset="-122"/>
              </a:rPr>
              <a:t>从理论上来讲，主旨题是各类题型中要求最高的，因为它要求考生看完文章后，能对文章的大概框架作一个宏观把握，从而解答后面的题目。但是把握文章框架对很多考生来说，是不能做到的。庆幸的是，一般的四级文章，都可以找到文章主题句，或者是可以体现文章主题的句子或单词。 文章主题一般在前两段出现，所以考生要比较关注前两段结论性的语言。阅读在全文首句出现文章主题的情况比较多见。另外，第一段转折性的语言，通常也能体现作者的观点偏好。</a:t>
            </a:r>
          </a:p>
          <a:p>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Autofit/>
          </a:bodyPr>
          <a:lstStyle/>
          <a:p>
            <a:r>
              <a:rPr lang="zh-CN" altLang="en-US" sz="1600" dirty="0">
                <a:latin typeface="宋体" panose="02010600030101010101" pitchFamily="2" charset="-122"/>
                <a:ea typeface="楷体" panose="02010609060101010101" charset="-122"/>
                <a:sym typeface="+mn-ea"/>
              </a:rPr>
              <a:t>(3)主旨题注意点</a:t>
            </a:r>
            <a:endParaRPr lang="zh-CN" altLang="en-US" sz="1600" dirty="0">
              <a:latin typeface="宋体" panose="02010600030101010101" pitchFamily="2" charset="-122"/>
              <a:ea typeface="楷体" panose="02010609060101010101" charset="-122"/>
            </a:endParaRPr>
          </a:p>
          <a:p>
            <a:r>
              <a:rPr lang="zh-CN" altLang="en-US" sz="1600" dirty="0">
                <a:latin typeface="宋体" panose="02010600030101010101" pitchFamily="2" charset="-122"/>
                <a:ea typeface="楷体" panose="02010609060101010101" charset="-122"/>
                <a:sym typeface="+mn-ea"/>
              </a:rPr>
              <a:t>如果是考文章主题，那么正确答案一定具有概括性和结论性，细节性的选项肯定是错的。</a:t>
            </a:r>
            <a:endParaRPr lang="zh-CN" altLang="en-US" sz="1600" dirty="0">
              <a:latin typeface="宋体" panose="02010600030101010101" pitchFamily="2" charset="-122"/>
              <a:ea typeface="楷体" panose="02010609060101010101" charset="-122"/>
            </a:endParaRPr>
          </a:p>
          <a:p>
            <a:r>
              <a:rPr lang="zh-CN" altLang="en-US" sz="1600" dirty="0">
                <a:latin typeface="宋体" panose="02010600030101010101" pitchFamily="2" charset="-122"/>
                <a:ea typeface="楷体" panose="02010609060101010101" charset="-122"/>
                <a:sym typeface="+mn-ea"/>
              </a:rPr>
              <a:t>What is the author’s purpose in writing this article?</a:t>
            </a:r>
            <a:endParaRPr lang="zh-CN" altLang="en-US" sz="1600" dirty="0">
              <a:latin typeface="宋体" panose="02010600030101010101" pitchFamily="2" charset="-122"/>
              <a:ea typeface="楷体" panose="02010609060101010101" charset="-122"/>
            </a:endParaRPr>
          </a:p>
          <a:p>
            <a:r>
              <a:rPr lang="zh-CN" altLang="en-US" sz="1600" dirty="0">
                <a:latin typeface="宋体" panose="02010600030101010101" pitchFamily="2" charset="-122"/>
                <a:ea typeface="楷体" panose="02010609060101010101" charset="-122"/>
                <a:sym typeface="+mn-ea"/>
              </a:rPr>
              <a:t>A)To justify the study of the Boston University Medical Center.</a:t>
            </a:r>
            <a:r>
              <a:rPr lang="en-US" altLang="zh-CN" sz="1600" dirty="0">
                <a:latin typeface="宋体" panose="02010600030101010101" pitchFamily="2" charset="-122"/>
                <a:ea typeface="楷体" panose="02010609060101010101" charset="-122"/>
                <a:sym typeface="+mn-ea"/>
              </a:rPr>
              <a:t>    </a:t>
            </a:r>
          </a:p>
          <a:p>
            <a:r>
              <a:rPr lang="zh-CN" altLang="en-US" sz="1600" dirty="0">
                <a:latin typeface="宋体" panose="02010600030101010101" pitchFamily="2" charset="-122"/>
                <a:ea typeface="楷体" panose="02010609060101010101" charset="-122"/>
                <a:sym typeface="+mn-ea"/>
              </a:rPr>
              <a:t>B)To stress theimportance of maintaining proper weight.</a:t>
            </a:r>
            <a:endParaRPr lang="zh-CN" altLang="en-US" sz="1600" dirty="0">
              <a:latin typeface="宋体" panose="02010600030101010101" pitchFamily="2" charset="-122"/>
              <a:ea typeface="楷体" panose="02010609060101010101" charset="-122"/>
            </a:endParaRPr>
          </a:p>
          <a:p>
            <a:r>
              <a:rPr lang="zh-CN" altLang="en-US" sz="1600" dirty="0">
                <a:latin typeface="宋体" panose="02010600030101010101" pitchFamily="2" charset="-122"/>
                <a:ea typeface="楷体" panose="02010609060101010101" charset="-122"/>
                <a:sym typeface="+mn-ea"/>
              </a:rPr>
              <a:t>C)To support the statement made by York Onnen.</a:t>
            </a:r>
            <a:r>
              <a:rPr lang="en-US" altLang="zh-CN" sz="1600" dirty="0">
                <a:latin typeface="宋体" panose="02010600030101010101" pitchFamily="2" charset="-122"/>
                <a:ea typeface="楷体" panose="02010609060101010101" charset="-122"/>
                <a:sym typeface="+mn-ea"/>
              </a:rPr>
              <a:t>                      </a:t>
            </a:r>
          </a:p>
          <a:p>
            <a:r>
              <a:rPr lang="zh-CN" altLang="en-US" sz="1600" dirty="0">
                <a:latin typeface="宋体" panose="02010600030101010101" pitchFamily="2" charset="-122"/>
                <a:ea typeface="楷体" panose="02010609060101010101" charset="-122"/>
                <a:sym typeface="+mn-ea"/>
              </a:rPr>
              <a:t>D)To show the most effective way to lose weight.</a:t>
            </a:r>
            <a:endParaRPr lang="zh-CN" altLang="en-US" sz="1600" dirty="0">
              <a:latin typeface="宋体" panose="02010600030101010101" pitchFamily="2" charset="-122"/>
              <a:ea typeface="楷体" panose="02010609060101010101" charset="-122"/>
            </a:endParaRPr>
          </a:p>
          <a:p>
            <a:r>
              <a:rPr lang="zh-CN" altLang="en-US" sz="1600" dirty="0">
                <a:latin typeface="宋体" panose="02010600030101010101" pitchFamily="2" charset="-122"/>
                <a:ea typeface="楷体" panose="02010609060101010101" charset="-122"/>
                <a:sym typeface="+mn-ea"/>
              </a:rPr>
              <a:t>一看这四个选项，就可以发现A和C里面包含十分具体信息“the Boston University Medical Center”和“York Onnen”，是利用原文中的具体话题，某个细节内容而设计的干扰选项。</a:t>
            </a:r>
            <a:endParaRPr lang="en-US" altLang="zh-CN" sz="1600" dirty="0">
              <a:latin typeface="宋体" panose="02010600030101010101" pitchFamily="2" charset="-122"/>
              <a:ea typeface="楷体" panose="02010609060101010101" charset="-122"/>
              <a:sym typeface="+mn-ea"/>
            </a:endParaRPr>
          </a:p>
          <a:p>
            <a:r>
              <a:rPr lang="zh-CN" altLang="en-US" sz="1600" dirty="0">
                <a:latin typeface="宋体" panose="02010600030101010101" pitchFamily="2" charset="-122"/>
                <a:ea typeface="楷体" panose="02010609060101010101" charset="-122"/>
                <a:sym typeface="+mn-ea"/>
              </a:rPr>
              <a:t>值得注意的是很多干扰选项还以“以偏概全”的形式出现的，所以分析时要注意正确答案概括的全面性。而利用扩大主题的范围来设计干扰选项的方式相对较少为了说明主题，为了论证，作者会引用一些人讲的话，而这些观点也很可能被考到</a:t>
            </a:r>
            <a:endParaRPr lang="zh-CN" altLang="en-US" sz="1600" dirty="0">
              <a:latin typeface="宋体" panose="02010600030101010101" pitchFamily="2" charset="-122"/>
              <a:ea typeface="楷体" panose="02010609060101010101"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Autofit/>
          </a:bodyPr>
          <a:lstStyle/>
          <a:p>
            <a:r>
              <a:rPr lang="zh-CN" altLang="en-US" sz="1800">
                <a:latin typeface="宋体" panose="02010600030101010101" pitchFamily="2" charset="-122"/>
                <a:ea typeface="楷体" panose="02010609060101010101" charset="-122"/>
              </a:rPr>
              <a:t>4.推理题</a:t>
            </a:r>
          </a:p>
          <a:p>
            <a:r>
              <a:rPr lang="zh-CN" altLang="en-US" sz="1800">
                <a:latin typeface="宋体" panose="02010600030101010101" pitchFamily="2" charset="-122"/>
                <a:ea typeface="楷体" panose="02010609060101010101" charset="-122"/>
              </a:rPr>
              <a:t>(1)推理题表现形式</a:t>
            </a:r>
          </a:p>
          <a:p>
            <a:r>
              <a:rPr lang="zh-CN" altLang="en-US" sz="1800">
                <a:latin typeface="宋体" panose="02010600030101010101" pitchFamily="2" charset="-122"/>
                <a:ea typeface="楷体" panose="02010609060101010101" charset="-122"/>
              </a:rPr>
              <a:t>推理题提问的方式有很多，比如suggest，imply，indicate，conclude，infer等。</a:t>
            </a:r>
          </a:p>
          <a:p>
            <a:r>
              <a:rPr lang="zh-CN" altLang="en-US" sz="1800">
                <a:latin typeface="宋体" panose="02010600030101010101" pitchFamily="2" charset="-122"/>
                <a:ea typeface="楷体" panose="02010609060101010101" charset="-122"/>
              </a:rPr>
              <a:t>然而，suggest，imply和indicate这些单词提问，这个题目往往按照细节题的方法来处理即可，真正难把握的是conclude和infer两个单词，这也是四级阅读推理题经常用来提问的方式。</a:t>
            </a:r>
          </a:p>
          <a:p>
            <a:r>
              <a:rPr lang="zh-CN" altLang="en-US" sz="1800">
                <a:latin typeface="宋体" panose="02010600030101010101" pitchFamily="2" charset="-122"/>
                <a:ea typeface="楷体" panose="02010609060101010101" charset="-122"/>
              </a:rPr>
              <a:t>(2)推理题解题方法</a:t>
            </a:r>
          </a:p>
          <a:p>
            <a:r>
              <a:rPr lang="zh-CN" altLang="en-US" sz="1800">
                <a:latin typeface="宋体" panose="02010600030101010101" pitchFamily="2" charset="-122"/>
                <a:ea typeface="楷体" panose="02010609060101010101" charset="-122"/>
              </a:rPr>
              <a:t>推理题难度高，不在于推理难，而在于找答案没有方向。比如，题目可能会问What can be inferred from the passage? What can be concluded from the passage? 如果我们对历年考题作一个仔细分析，可以发现conclude和infer还是有些答案查找的方向的。</a:t>
            </a:r>
          </a:p>
          <a:p>
            <a:r>
              <a:rPr lang="zh-CN" altLang="en-US" sz="1800">
                <a:latin typeface="宋体" panose="02010600030101010101" pitchFamily="2" charset="-122"/>
                <a:ea typeface="楷体" panose="02010609060101010101" charset="-122"/>
              </a:rPr>
              <a:t>Conclude提问的题目，一般会涉及原文中结论性，观点性的语言，尤其是段落首末的句子。而infer提问的题目，如果题干信息比较多比较具体，一般可以当作细节题来处理，如果题干信息比较少，则考查原文观点结论的语言比较多，甚至考文章主题。</a:t>
            </a:r>
          </a:p>
          <a:p>
            <a:endParaRPr lang="zh-CN" altLang="en-US" sz="800">
              <a:latin typeface="宋体" panose="02010600030101010101" pitchFamily="2" charset="-122"/>
              <a:ea typeface="楷体" panose="02010609060101010101"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417638"/>
            <a:ext cx="7886700" cy="4072572"/>
          </a:xfrm>
        </p:spPr>
        <p:txBody>
          <a:bodyPr>
            <a:normAutofit fontScale="57500" lnSpcReduction="20000"/>
          </a:bodyPr>
          <a:lstStyle/>
          <a:p>
            <a:r>
              <a:rPr lang="zh-CN" altLang="en-US" dirty="0">
                <a:latin typeface="宋体" panose="02010600030101010101" pitchFamily="2" charset="-122"/>
                <a:ea typeface="楷体" panose="02010609060101010101" charset="-122"/>
                <a:sym typeface="+mn-ea"/>
              </a:rPr>
              <a:t>(3)推理题注意点</a:t>
            </a:r>
            <a:endParaRPr lang="zh-CN" altLang="en-US" dirty="0">
              <a:latin typeface="宋体" panose="02010600030101010101" pitchFamily="2" charset="-122"/>
              <a:ea typeface="楷体" panose="02010609060101010101" charset="-122"/>
            </a:endParaRPr>
          </a:p>
          <a:p>
            <a:pPr marL="0" indent="0">
              <a:buNone/>
            </a:pPr>
            <a:r>
              <a:rPr lang="zh-CN" altLang="en-US" dirty="0">
                <a:latin typeface="宋体" panose="02010600030101010101" pitchFamily="2" charset="-122"/>
                <a:ea typeface="楷体" panose="02010609060101010101" charset="-122"/>
                <a:sym typeface="+mn-ea"/>
              </a:rPr>
              <a:t>很多考生在做推理题时，有一种思维误区，认为一个选项与原文相去越远，就越可能是正确答案，所以在找不到原文的依据时，就随心所欲地推导。其实，很多情况下，推理题的正确答案相差并不大，不应把这类题想得太难了。</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比如： It can be inferred from the passage that____.</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A)killing foxes with poison is illegal</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B)limiting the fox population is unnecessary</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C)hunting foxes with dogs is considered cruel and violent</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D)fox-hunting often leads to confrontation between the poor and the rich</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正确答案选择C，而原文相关信息是：┄ because they think it is brutal(残酷的)(原文已经给出brutal的含义)。可见两者相差并不大。</a:t>
            </a:r>
            <a:endParaRPr lang="zh-CN" altLang="en-US" dirty="0">
              <a:latin typeface="宋体" panose="02010600030101010101" pitchFamily="2" charset="-122"/>
              <a:ea typeface="楷体" panose="02010609060101010101" charset="-122"/>
            </a:endParaRPr>
          </a:p>
          <a:p>
            <a:endParaRPr lang="zh-CN" altLang="en-US" dirty="0">
              <a:latin typeface="宋体" panose="02010600030101010101" pitchFamily="2" charset="-122"/>
              <a:ea typeface="楷体" panose="02010609060101010101"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Autofit/>
          </a:bodyPr>
          <a:lstStyle/>
          <a:p>
            <a:pPr algn="l"/>
            <a:r>
              <a:rPr lang="zh-CN" altLang="en-US" sz="1700">
                <a:latin typeface="宋体" panose="02010600030101010101" pitchFamily="2" charset="-122"/>
                <a:ea typeface="楷体" panose="02010609060101010101" charset="-122"/>
              </a:rPr>
              <a:t>5</a:t>
            </a:r>
            <a:r>
              <a:rPr lang="en-US" altLang="zh-CN" sz="1700">
                <a:latin typeface="宋体" panose="02010600030101010101" pitchFamily="2" charset="-122"/>
                <a:ea typeface="楷体" panose="02010609060101010101" charset="-122"/>
              </a:rPr>
              <a:t>.</a:t>
            </a:r>
            <a:r>
              <a:rPr lang="zh-CN" altLang="en-US" sz="1700">
                <a:latin typeface="宋体" panose="02010600030101010101" pitchFamily="2" charset="-122"/>
                <a:ea typeface="楷体" panose="02010609060101010101" charset="-122"/>
              </a:rPr>
              <a:t>词汇题</a:t>
            </a:r>
          </a:p>
          <a:p>
            <a:pPr algn="l"/>
            <a:r>
              <a:rPr lang="zh-CN" altLang="en-US" sz="1700">
                <a:latin typeface="宋体" panose="02010600030101010101" pitchFamily="2" charset="-122"/>
                <a:ea typeface="楷体" panose="02010609060101010101" charset="-122"/>
              </a:rPr>
              <a:t>（</a:t>
            </a:r>
            <a:r>
              <a:rPr lang="en-US" altLang="zh-CN" sz="1700">
                <a:latin typeface="宋体" panose="02010600030101010101" pitchFamily="2" charset="-122"/>
                <a:ea typeface="楷体" panose="02010609060101010101" charset="-122"/>
              </a:rPr>
              <a:t>1</a:t>
            </a:r>
            <a:r>
              <a:rPr lang="zh-CN" altLang="en-US" sz="1700">
                <a:latin typeface="宋体" panose="02010600030101010101" pitchFamily="2" charset="-122"/>
                <a:ea typeface="楷体" panose="02010609060101010101" charset="-122"/>
              </a:rPr>
              <a:t>）词汇题表现形式</a:t>
            </a:r>
          </a:p>
          <a:p>
            <a:pPr algn="l"/>
            <a:r>
              <a:rPr lang="zh-CN" altLang="en-US" sz="1700">
                <a:latin typeface="宋体" panose="02010600030101010101" pitchFamily="2" charset="-122"/>
                <a:ea typeface="楷体" panose="02010609060101010101" charset="-122"/>
              </a:rPr>
              <a:t>词汇题一般会明确地告诉考生出题点在哪里，不需要考生查找所考查内容。它可以考一个单词的含义，一个词组的意思，或者考一个句子的弦外之音。</a:t>
            </a:r>
          </a:p>
          <a:p>
            <a:pPr algn="l"/>
            <a:r>
              <a:rPr lang="zh-CN" altLang="en-US" sz="1700">
                <a:latin typeface="宋体" panose="02010600030101010101" pitchFamily="2" charset="-122"/>
                <a:ea typeface="楷体" panose="02010609060101010101" charset="-122"/>
              </a:rPr>
              <a:t>（</a:t>
            </a:r>
            <a:r>
              <a:rPr lang="en-US" altLang="zh-CN" sz="1700">
                <a:latin typeface="宋体" panose="02010600030101010101" pitchFamily="2" charset="-122"/>
                <a:ea typeface="楷体" panose="02010609060101010101" charset="-122"/>
              </a:rPr>
              <a:t>2</a:t>
            </a:r>
            <a:r>
              <a:rPr lang="zh-CN" altLang="en-US" sz="1700">
                <a:latin typeface="宋体" panose="02010600030101010101" pitchFamily="2" charset="-122"/>
                <a:ea typeface="楷体" panose="02010609060101010101" charset="-122"/>
              </a:rPr>
              <a:t>）词汇题解题方法</a:t>
            </a:r>
          </a:p>
          <a:p>
            <a:pPr algn="l"/>
            <a:r>
              <a:rPr lang="zh-CN" altLang="en-US" sz="1700">
                <a:latin typeface="宋体" panose="02010600030101010101" pitchFamily="2" charset="-122"/>
                <a:ea typeface="楷体" panose="02010609060101010101" charset="-122"/>
              </a:rPr>
              <a:t>词汇题是考生得分率较低的一类题，因为它需要考生从上下文中进行分析，推敲单词背后的意思。问单词或词组的意思，加强调上下文逻辑分析；有时用转折逻辑，但更多是利用并列逻辑</a:t>
            </a:r>
          </a:p>
          <a:p>
            <a:pPr algn="l"/>
            <a:r>
              <a:rPr lang="zh-CN" altLang="en-US" sz="1700">
                <a:latin typeface="宋体" panose="02010600030101010101" pitchFamily="2" charset="-122"/>
                <a:ea typeface="楷体" panose="02010609060101010101" charset="-122"/>
              </a:rPr>
              <a:t>his is the Shadowland of hope, and anyone</a:t>
            </a:r>
            <a:r>
              <a:rPr lang="en-US" altLang="zh-CN" sz="1700">
                <a:latin typeface="宋体" panose="02010600030101010101" pitchFamily="2" charset="-122"/>
                <a:ea typeface="楷体" panose="02010609060101010101" charset="-122"/>
              </a:rPr>
              <a:t> </a:t>
            </a:r>
            <a:r>
              <a:rPr lang="zh-CN" altLang="en-US" sz="1700">
                <a:latin typeface="宋体" panose="02010600030101010101" pitchFamily="2" charset="-122"/>
                <a:ea typeface="楷体" panose="02010609060101010101" charset="-122"/>
              </a:rPr>
              <a:t>with a dream must learn to live there.</a:t>
            </a:r>
          </a:p>
          <a:p>
            <a:pPr algn="l"/>
            <a:r>
              <a:rPr lang="zh-CN" altLang="en-US" sz="1700">
                <a:latin typeface="宋体" panose="02010600030101010101" pitchFamily="2" charset="-122"/>
                <a:ea typeface="楷体" panose="02010609060101010101" charset="-122"/>
              </a:rPr>
              <a:t>“Shadowland”in the last sentence refers to____ .</a:t>
            </a:r>
          </a:p>
          <a:p>
            <a:pPr algn="l"/>
            <a:r>
              <a:rPr lang="zh-CN" altLang="en-US" sz="1700">
                <a:latin typeface="宋体" panose="02010600030101010101" pitchFamily="2" charset="-122"/>
                <a:ea typeface="楷体" panose="02010609060101010101" charset="-122"/>
              </a:rPr>
              <a:t>A) the wonderland one often dreams about</a:t>
            </a:r>
            <a:r>
              <a:rPr lang="en-US" altLang="zh-CN" sz="1700">
                <a:latin typeface="宋体" panose="02010600030101010101" pitchFamily="2" charset="-122"/>
                <a:ea typeface="楷体" panose="02010609060101010101" charset="-122"/>
              </a:rPr>
              <a:t>                                    </a:t>
            </a:r>
          </a:p>
          <a:p>
            <a:pPr algn="l"/>
            <a:r>
              <a:rPr lang="zh-CN" altLang="en-US" sz="1700">
                <a:latin typeface="宋体" panose="02010600030101010101" pitchFamily="2" charset="-122"/>
                <a:ea typeface="楷体" panose="02010609060101010101" charset="-122"/>
              </a:rPr>
              <a:t>B) the bright future that one is looking forward to</a:t>
            </a:r>
          </a:p>
          <a:p>
            <a:pPr algn="l"/>
            <a:r>
              <a:rPr lang="zh-CN" altLang="en-US" sz="1700">
                <a:latin typeface="宋体" panose="02010600030101010101" pitchFamily="2" charset="-122"/>
                <a:ea typeface="楷体" panose="02010609060101010101" charset="-122"/>
              </a:rPr>
              <a:t>C) the state of uncertainty before one's final goal is reached</a:t>
            </a:r>
            <a:r>
              <a:rPr lang="en-US" altLang="zh-CN" sz="1700">
                <a:latin typeface="宋体" panose="02010600030101010101" pitchFamily="2" charset="-122"/>
                <a:ea typeface="楷体" panose="02010609060101010101" charset="-122"/>
              </a:rPr>
              <a:t>    </a:t>
            </a:r>
          </a:p>
          <a:p>
            <a:pPr algn="l"/>
            <a:r>
              <a:rPr lang="zh-CN" altLang="en-US" sz="1700">
                <a:latin typeface="宋体" panose="02010600030101010101" pitchFamily="2" charset="-122"/>
                <a:ea typeface="楷体" panose="02010609060101010101" charset="-122"/>
              </a:rPr>
              <a:t>D) a world that exists only in one's imagination</a:t>
            </a:r>
          </a:p>
          <a:p>
            <a:pPr marL="0" indent="0" algn="l">
              <a:buNone/>
            </a:pPr>
            <a:endParaRPr lang="zh-CN" altLang="en-US" sz="700">
              <a:latin typeface="宋体" panose="02010600030101010101" pitchFamily="2" charset="-122"/>
              <a:ea typeface="楷体" panose="02010609060101010101"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a:bodyPr>
          <a:lstStyle/>
          <a:p>
            <a:pPr algn="l"/>
            <a:r>
              <a:rPr lang="zh-CN" altLang="en-US" sz="1800" dirty="0">
                <a:latin typeface="宋体" panose="02010600030101010101" pitchFamily="2" charset="-122"/>
                <a:ea typeface="楷体" panose="02010609060101010101" charset="-122"/>
                <a:cs typeface="+mj-ea"/>
                <a:sym typeface="+mn-ea"/>
              </a:rPr>
              <a:t>此题解法有多种，其中可以利用并列关系来求解。首先，and后面的句子告诉我们“任何有梦想的人必须要学会在那里生活”，这暗含了“那里”不好的环境。再从and可知，两个分句的逻辑是一致的，据此Shadowland也应该是不利的环境，故选择C</a:t>
            </a:r>
            <a:endParaRPr lang="en-US" altLang="zh-CN" sz="1800" dirty="0">
              <a:latin typeface="宋体" panose="02010600030101010101" pitchFamily="2" charset="-122"/>
              <a:ea typeface="楷体" panose="02010609060101010101" charset="-122"/>
              <a:cs typeface="+mj-ea"/>
              <a:sym typeface="+mn-ea"/>
            </a:endParaRPr>
          </a:p>
          <a:p>
            <a:pPr algn="l"/>
            <a:r>
              <a:rPr lang="zh-CN" altLang="en-US" sz="1800" dirty="0">
                <a:latin typeface="宋体" panose="02010600030101010101" pitchFamily="2" charset="-122"/>
                <a:ea typeface="楷体" panose="02010609060101010101" charset="-122"/>
                <a:cs typeface="+mj-ea"/>
                <a:sym typeface="+mn-ea"/>
              </a:rPr>
              <a:t>查找答案的方向还得做一个细分：</a:t>
            </a:r>
            <a:endParaRPr lang="zh-CN" altLang="en-US" sz="1800" dirty="0">
              <a:latin typeface="宋体" panose="02010600030101010101" pitchFamily="2" charset="-122"/>
              <a:ea typeface="楷体" panose="02010609060101010101" charset="-122"/>
              <a:cs typeface="+mj-ea"/>
            </a:endParaRPr>
          </a:p>
          <a:p>
            <a:pPr algn="l"/>
            <a:r>
              <a:rPr lang="zh-CN" altLang="en-US" sz="1800" dirty="0">
                <a:latin typeface="宋体" panose="02010600030101010101" pitchFamily="2" charset="-122"/>
                <a:ea typeface="楷体" panose="02010609060101010101" charset="-122"/>
                <a:cs typeface="+mj-ea"/>
                <a:sym typeface="+mn-ea"/>
              </a:rPr>
              <a:t>如果句子简单，一般在上下文中寻找答案；如果句子复杂，则更加倾向于在句子内部找答案。</a:t>
            </a:r>
            <a:endParaRPr lang="zh-CN" altLang="en-US" sz="1800" dirty="0">
              <a:latin typeface="宋体" panose="02010600030101010101" pitchFamily="2" charset="-122"/>
              <a:ea typeface="楷体" panose="02010609060101010101" charset="-122"/>
              <a:cs typeface="+mj-ea"/>
            </a:endParaRPr>
          </a:p>
          <a:p>
            <a:pPr algn="l"/>
            <a:r>
              <a:rPr lang="zh-CN" altLang="en-US" sz="1800" dirty="0">
                <a:latin typeface="宋体" panose="02010600030101010101" pitchFamily="2" charset="-122"/>
                <a:ea typeface="楷体" panose="02010609060101010101" charset="-122"/>
                <a:cs typeface="+mj-ea"/>
                <a:sym typeface="+mn-ea"/>
              </a:rPr>
              <a:t>(3)词汇题注意点</a:t>
            </a:r>
            <a:endParaRPr lang="zh-CN" altLang="en-US" sz="1800" dirty="0">
              <a:latin typeface="宋体" panose="02010600030101010101" pitchFamily="2" charset="-122"/>
              <a:ea typeface="楷体" panose="02010609060101010101" charset="-122"/>
              <a:cs typeface="+mj-ea"/>
            </a:endParaRPr>
          </a:p>
          <a:p>
            <a:pPr algn="l"/>
            <a:r>
              <a:rPr lang="zh-CN" altLang="en-US" sz="1800" dirty="0">
                <a:latin typeface="宋体" panose="02010600030101010101" pitchFamily="2" charset="-122"/>
                <a:ea typeface="楷体" panose="02010609060101010101" charset="-122"/>
                <a:cs typeface="+mj-ea"/>
                <a:sym typeface="+mn-ea"/>
              </a:rPr>
              <a:t>如果考简单单词，正确答案会与该单词的常用意思没有多大关系；</a:t>
            </a:r>
            <a:endParaRPr lang="zh-CN" altLang="en-US" sz="1800" dirty="0">
              <a:latin typeface="宋体" panose="02010600030101010101" pitchFamily="2" charset="-122"/>
              <a:ea typeface="楷体" panose="02010609060101010101" charset="-122"/>
              <a:cs typeface="+mj-ea"/>
            </a:endParaRPr>
          </a:p>
          <a:p>
            <a:pPr algn="l"/>
            <a:r>
              <a:rPr lang="zh-CN" altLang="en-US" sz="1800" dirty="0">
                <a:latin typeface="宋体" panose="02010600030101010101" pitchFamily="2" charset="-122"/>
                <a:ea typeface="楷体" panose="02010609060101010101" charset="-122"/>
                <a:cs typeface="+mj-ea"/>
                <a:sym typeface="+mn-ea"/>
              </a:rPr>
              <a:t>如果考难词，感觉很难有分析的线索时，就把四个选项代到原文中，使得原文逻辑正确，意思同学的为正确答案；</a:t>
            </a:r>
            <a:endParaRPr lang="zh-CN" altLang="en-US" sz="1800" dirty="0">
              <a:latin typeface="宋体" panose="02010600030101010101" pitchFamily="2" charset="-122"/>
              <a:ea typeface="楷体" panose="02010609060101010101" charset="-122"/>
              <a:cs typeface="+mj-ea"/>
            </a:endParaRPr>
          </a:p>
          <a:p>
            <a:pPr algn="l"/>
            <a:r>
              <a:rPr lang="zh-CN" altLang="en-US" sz="1800" dirty="0">
                <a:latin typeface="宋体" panose="02010600030101010101" pitchFamily="2" charset="-122"/>
                <a:ea typeface="楷体" panose="02010609060101010101" charset="-122"/>
                <a:cs typeface="+mj-ea"/>
                <a:sym typeface="+mn-ea"/>
              </a:rPr>
              <a:t>如果考句子的含义而导致分析完全没有思路时，不妨结合文章问题来分析，可以体现主题，或与主题的逻辑一致，一般就是答案。</a:t>
            </a:r>
            <a:endParaRPr lang="zh-CN" altLang="en-US" sz="1800" dirty="0">
              <a:latin typeface="宋体" panose="02010600030101010101" pitchFamily="2" charset="-122"/>
              <a:ea typeface="楷体" panose="02010609060101010101" charset="-122"/>
              <a:cs typeface="+mj-ea"/>
            </a:endParaRPr>
          </a:p>
          <a:p>
            <a:pPr marL="0" indent="0" algn="l">
              <a:buNone/>
            </a:pPr>
            <a:endParaRPr lang="zh-CN" altLang="en-US" dirty="0">
              <a:latin typeface="宋体" panose="02010600030101010101" pitchFamily="2" charset="-122"/>
              <a:ea typeface="楷体" panose="02010609060101010101" charset="-122"/>
            </a:endParaRPr>
          </a:p>
          <a:p>
            <a:endParaRPr lang="zh-CN" altLang="en-US" dirty="0">
              <a:latin typeface="宋体" panose="02010600030101010101" pitchFamily="2" charset="-122"/>
              <a:ea typeface="楷体" panose="02010609060101010101"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宋体" panose="02010600030101010101" pitchFamily="2" charset="-122"/>
                <a:ea typeface="楷体" panose="02010609060101010101" charset="-122"/>
              </a:rPr>
              <a:t>II</a:t>
            </a:r>
          </a:p>
        </p:txBody>
      </p:sp>
      <p:sp>
        <p:nvSpPr>
          <p:cNvPr id="3" name="文本占位符 2"/>
          <p:cNvSpPr>
            <a:spLocks noGrp="1"/>
          </p:cNvSpPr>
          <p:nvPr>
            <p:ph type="body" idx="1"/>
          </p:nvPr>
        </p:nvSpPr>
        <p:spPr/>
        <p:txBody>
          <a:bodyPr/>
          <a:lstStyle/>
          <a:p>
            <a:r>
              <a:rPr lang="zh-CN" altLang="en-US">
                <a:latin typeface="宋体" panose="02010600030101010101" pitchFamily="2" charset="-122"/>
                <a:ea typeface="楷体" panose="02010609060101010101" charset="-122"/>
              </a:rPr>
              <a:t>答题技巧</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77500" lnSpcReduction="10000"/>
          </a:bodyPr>
          <a:lstStyle/>
          <a:p>
            <a:r>
              <a:rPr lang="zh-CN" altLang="en-US">
                <a:latin typeface="宋体" panose="02010600030101010101" pitchFamily="2" charset="-122"/>
                <a:ea typeface="楷体" panose="02010609060101010101" charset="-122"/>
              </a:rPr>
              <a:t>1. 答题技巧</a:t>
            </a:r>
          </a:p>
          <a:p>
            <a:r>
              <a:rPr lang="zh-CN" altLang="en-US">
                <a:solidFill>
                  <a:srgbClr val="C00000"/>
                </a:solidFill>
                <a:latin typeface="宋体" panose="02010600030101010101" pitchFamily="2" charset="-122"/>
                <a:ea typeface="楷体" panose="02010609060101010101" charset="-122"/>
              </a:rPr>
              <a:t>答题技巧一： 详略得当</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rPr>
              <a:t>对于大学英语快速阅读测试来说，根据题目的“题眼”快速在文章中找到答案是最关键的，这样我们就要在阅读时注意详略得当。克服精读精益求精的习惯，做到有信息处精读，无信息处略读，略读处一扫而过。</a:t>
            </a:r>
          </a:p>
          <a:p>
            <a:r>
              <a:rPr lang="zh-CN" altLang="en-US">
                <a:latin typeface="宋体" panose="02010600030101010101" pitchFamily="2" charset="-122"/>
                <a:ea typeface="楷体" panose="02010609060101010101" charset="-122"/>
              </a:rPr>
              <a:t>对所要解释或证明的观点的细节举例处或者通常有数个名词的并列项，它们不是完整的主谓宾的句子，因此无法与问题对应的详细列举处，都可以略读。那么题目中数字、人名等信息（题眼）在原文中对应的部分必须详读。</a:t>
            </a:r>
          </a:p>
          <a:p>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lstStyle/>
          <a:p>
            <a:r>
              <a:rPr lang="zh-CN" altLang="en-US" sz="1800">
                <a:latin typeface="宋体" panose="02010600030101010101" pitchFamily="2" charset="-122"/>
                <a:ea typeface="楷体" panose="02010609060101010101" charset="-122"/>
                <a:sym typeface="+mn-ea"/>
              </a:rPr>
              <a:t>CET-4样卷原文中有这样一段： There are two ways to bury trash:</a:t>
            </a:r>
            <a:endParaRPr lang="zh-CN" altLang="en-US" sz="1800">
              <a:latin typeface="宋体" panose="02010600030101010101" pitchFamily="2" charset="-122"/>
              <a:ea typeface="楷体" panose="02010609060101010101" charset="-122"/>
            </a:endParaRPr>
          </a:p>
          <a:p>
            <a:r>
              <a:rPr lang="zh-CN" altLang="en-US" sz="1800">
                <a:latin typeface="宋体" panose="02010600030101010101" pitchFamily="2" charset="-122"/>
                <a:ea typeface="楷体" panose="02010609060101010101" charset="-122"/>
                <a:sym typeface="+mn-ea"/>
              </a:rPr>
              <a:t>Dump — an open hole in the ground where trash is buried and that is full of</a:t>
            </a:r>
            <a:r>
              <a:rPr lang="en-US" altLang="zh-CN" sz="1800">
                <a:latin typeface="宋体" panose="02010600030101010101" pitchFamily="2" charset="-122"/>
                <a:ea typeface="楷体" panose="02010609060101010101" charset="-122"/>
                <a:sym typeface="+mn-ea"/>
              </a:rPr>
              <a:t> </a:t>
            </a:r>
            <a:r>
              <a:rPr lang="zh-CN" altLang="en-US" sz="1800">
                <a:latin typeface="宋体" panose="02010600030101010101" pitchFamily="2" charset="-122"/>
                <a:ea typeface="楷体" panose="02010609060101010101" charset="-122"/>
                <a:sym typeface="+mn-ea"/>
              </a:rPr>
              <a:t>various animals (rats, mice, birds). (This is most people’s idea of a landfill!)</a:t>
            </a:r>
            <a:endParaRPr lang="zh-CN" altLang="en-US" sz="1800">
              <a:latin typeface="宋体" panose="02010600030101010101" pitchFamily="2" charset="-122"/>
              <a:ea typeface="楷体" panose="02010609060101010101" charset="-122"/>
            </a:endParaRPr>
          </a:p>
          <a:p>
            <a:r>
              <a:rPr lang="zh-CN" altLang="en-US" sz="1800">
                <a:latin typeface="宋体" panose="02010600030101010101" pitchFamily="2" charset="-122"/>
                <a:ea typeface="楷体" panose="02010609060101010101" charset="-122"/>
                <a:sym typeface="+mn-ea"/>
              </a:rPr>
              <a:t>Landfill— carefully designed structure built into or on top of the ground in</a:t>
            </a:r>
            <a:r>
              <a:rPr lang="en-US" altLang="zh-CN" sz="1800">
                <a:latin typeface="宋体" panose="02010600030101010101" pitchFamily="2" charset="-122"/>
                <a:ea typeface="楷体" panose="02010609060101010101" charset="-122"/>
                <a:sym typeface="+mn-ea"/>
              </a:rPr>
              <a:t> </a:t>
            </a:r>
            <a:r>
              <a:rPr lang="zh-CN" altLang="en-US" sz="1800">
                <a:latin typeface="宋体" panose="02010600030101010101" pitchFamily="2" charset="-122"/>
                <a:ea typeface="楷体" panose="02010609060101010101" charset="-122"/>
                <a:sym typeface="+mn-ea"/>
              </a:rPr>
              <a:t>which trash is isolated from the surrounding environment (groundwater, air,rain). This isolation is accomplished with a bottom liner and daily</a:t>
            </a:r>
            <a:r>
              <a:rPr lang="en-US" altLang="zh-CN" sz="1800">
                <a:latin typeface="宋体" panose="02010600030101010101" pitchFamily="2" charset="-122"/>
                <a:ea typeface="楷体" panose="02010609060101010101" charset="-122"/>
                <a:sym typeface="+mn-ea"/>
              </a:rPr>
              <a:t> </a:t>
            </a:r>
            <a:r>
              <a:rPr lang="zh-CN" altLang="en-US" sz="1800">
                <a:latin typeface="宋体" panose="02010600030101010101" pitchFamily="2" charset="-122"/>
                <a:ea typeface="楷体" panose="02010609060101010101" charset="-122"/>
                <a:sym typeface="+mn-ea"/>
              </a:rPr>
              <a:t>covering of soil. Sanitary landfill — landfill that uses a clay liner to</a:t>
            </a:r>
            <a:r>
              <a:rPr lang="en-US" altLang="zh-CN" sz="1800">
                <a:latin typeface="宋体" panose="02010600030101010101" pitchFamily="2" charset="-122"/>
                <a:ea typeface="楷体" panose="02010609060101010101" charset="-122"/>
                <a:sym typeface="+mn-ea"/>
              </a:rPr>
              <a:t> </a:t>
            </a:r>
            <a:r>
              <a:rPr lang="zh-CN" altLang="en-US" sz="1800">
                <a:latin typeface="宋体" panose="02010600030101010101" pitchFamily="2" charset="-122"/>
                <a:ea typeface="楷体" panose="02010609060101010101" charset="-122"/>
                <a:sym typeface="+mn-ea"/>
              </a:rPr>
              <a:t>isolate the trash from the environment</a:t>
            </a:r>
            <a:endParaRPr lang="zh-CN" altLang="en-US" sz="1800">
              <a:latin typeface="宋体" panose="02010600030101010101" pitchFamily="2" charset="-122"/>
              <a:ea typeface="楷体" panose="02010609060101010101" charset="-122"/>
            </a:endParaRPr>
          </a:p>
          <a:p>
            <a:r>
              <a:rPr lang="zh-CN" altLang="en-US" sz="1800">
                <a:latin typeface="宋体" panose="02010600030101010101" pitchFamily="2" charset="-122"/>
                <a:ea typeface="楷体" panose="02010609060101010101" charset="-122"/>
                <a:sym typeface="+mn-ea"/>
              </a:rPr>
              <a:t>Municipal solid waste (MSW) landfill — landfill that uses a</a:t>
            </a:r>
            <a:r>
              <a:rPr lang="en-US" altLang="zh-CN" sz="1800">
                <a:latin typeface="宋体" panose="02010600030101010101" pitchFamily="2" charset="-122"/>
                <a:ea typeface="楷体" panose="02010609060101010101" charset="-122"/>
                <a:sym typeface="+mn-ea"/>
              </a:rPr>
              <a:t> </a:t>
            </a:r>
            <a:r>
              <a:rPr lang="zh-CN" altLang="en-US" sz="1800">
                <a:latin typeface="宋体" panose="02010600030101010101" pitchFamily="2" charset="-122"/>
                <a:ea typeface="楷体" panose="02010609060101010101" charset="-122"/>
                <a:sym typeface="+mn-ea"/>
              </a:rPr>
              <a:t>synthetic (plastic) liner to isolate the trash from the environment</a:t>
            </a:r>
            <a:endParaRPr lang="zh-CN" altLang="en-US" sz="1800">
              <a:latin typeface="宋体" panose="02010600030101010101" pitchFamily="2" charset="-122"/>
              <a:ea typeface="楷体" panose="02010609060101010101" charset="-122"/>
            </a:endParaRPr>
          </a:p>
          <a:p>
            <a:r>
              <a:rPr lang="zh-CN" altLang="en-US" sz="1800">
                <a:latin typeface="宋体" panose="02010600030101010101" pitchFamily="2" charset="-122"/>
                <a:ea typeface="楷体" panose="02010609060101010101" charset="-122"/>
                <a:sym typeface="+mn-ea"/>
              </a:rPr>
              <a:t>文章是对Dump和Landfill分别做了一个解释，这些就应该是考生略读的地方。</a:t>
            </a:r>
            <a:endParaRPr lang="zh-CN" altLang="en-US" sz="1800">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62500" lnSpcReduction="20000"/>
          </a:bodyPr>
          <a:lstStyle/>
          <a:p>
            <a:r>
              <a:rPr lang="zh-CN" altLang="en-US" dirty="0">
                <a:solidFill>
                  <a:srgbClr val="C00000"/>
                </a:solidFill>
                <a:latin typeface="宋体" panose="02010600030101010101" pitchFamily="2" charset="-122"/>
                <a:ea typeface="楷体" panose="02010609060101010101" charset="-122"/>
                <a:sym typeface="+mn-ea"/>
              </a:rPr>
              <a:t>答题技巧二：显性信息</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查读的信息通常是显性信息，只要将问题在原文中进行准确定位就能得到正确答案，一般不需要做推理。</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[例2] The death rate on highways is half that of all other U.S. roads (0.86 deaths per 100 million passenger miles compared to 1.99 deaths per 100 million on all other roads).</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[题目] In spite of safety considerations, the death rate on interstate highways is still higher than that of other American roads.</a:t>
            </a:r>
            <a:endParaRPr lang="zh-CN" altLang="en-US" dirty="0">
              <a:latin typeface="宋体" panose="02010600030101010101" pitchFamily="2" charset="-122"/>
              <a:ea typeface="楷体" panose="02010609060101010101" charset="-122"/>
            </a:endParaRPr>
          </a:p>
          <a:p>
            <a:r>
              <a:rPr lang="zh-CN" altLang="en-US" dirty="0">
                <a:latin typeface="宋体" panose="02010600030101010101" pitchFamily="2" charset="-122"/>
                <a:ea typeface="楷体" panose="02010609060101010101" charset="-122"/>
                <a:sym typeface="+mn-ea"/>
              </a:rPr>
              <a:t>[解析] 从题干中的关键信息短语 the death rate on interstate highway可采取寻读法找到最后一句话为原文出处。原文中明确指出高速公路上的死亡率只是其他公路的一半（half that of…）与题干中的 is still high than（仍高出）相矛盾，可判断此句话错误。</a:t>
            </a:r>
            <a:endParaRPr lang="zh-CN" altLang="en-US" dirty="0">
              <a:latin typeface="宋体" panose="02010600030101010101" pitchFamily="2" charset="-122"/>
              <a:ea typeface="楷体" panose="02010609060101010101" charset="-122"/>
            </a:endParaRPr>
          </a:p>
          <a:p>
            <a:endParaRPr lang="zh-CN" altLang="en-US" dirty="0">
              <a:latin typeface="宋体" panose="02010600030101010101" pitchFamily="2" charset="-122"/>
              <a:ea typeface="楷体" panose="02010609060101010101" charset="-122"/>
            </a:endParaRPr>
          </a:p>
          <a:p>
            <a:endParaRPr lang="zh-CN" altLang="en-US" dirty="0">
              <a:latin typeface="宋体" panose="02010600030101010101" pitchFamily="2" charset="-122"/>
              <a:ea typeface="楷体" panose="02010609060101010101"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lstStyle/>
          <a:p>
            <a:r>
              <a:rPr lang="zh-CN" altLang="en-US" sz="1800">
                <a:latin typeface="宋体" panose="02010600030101010101" pitchFamily="2" charset="-122"/>
                <a:ea typeface="楷体" panose="02010609060101010101" charset="-122"/>
                <a:sym typeface="+mn-ea"/>
              </a:rPr>
              <a:t>特别提示：考生对于以下一些显性信息也应注意</a:t>
            </a:r>
            <a:endParaRPr lang="zh-CN" altLang="en-US" sz="1800">
              <a:latin typeface="宋体" panose="02010600030101010101" pitchFamily="2" charset="-122"/>
              <a:ea typeface="楷体" panose="02010609060101010101" charset="-122"/>
            </a:endParaRPr>
          </a:p>
          <a:p>
            <a:r>
              <a:rPr lang="zh-CN" altLang="en-US" sz="1800">
                <a:latin typeface="宋体" panose="02010600030101010101" pitchFamily="2" charset="-122"/>
                <a:ea typeface="楷体" panose="02010609060101010101" charset="-122"/>
                <a:sym typeface="+mn-ea"/>
              </a:rPr>
              <a:t>(1) 表示因果关系的词或词组：because, reason, due to, since,</a:t>
            </a:r>
            <a:endParaRPr lang="zh-CN" altLang="en-US" sz="1800">
              <a:latin typeface="宋体" panose="02010600030101010101" pitchFamily="2" charset="-122"/>
              <a:ea typeface="楷体" panose="02010609060101010101" charset="-122"/>
            </a:endParaRPr>
          </a:p>
          <a:p>
            <a:r>
              <a:rPr lang="zh-CN" altLang="en-US" sz="1800">
                <a:latin typeface="宋体" panose="02010600030101010101" pitchFamily="2" charset="-122"/>
                <a:ea typeface="楷体" panose="02010609060101010101" charset="-122"/>
                <a:sym typeface="+mn-ea"/>
              </a:rPr>
              <a:t>so that, therefore等</a:t>
            </a:r>
            <a:endParaRPr lang="zh-CN" altLang="en-US" sz="1800">
              <a:latin typeface="宋体" panose="02010600030101010101" pitchFamily="2" charset="-122"/>
              <a:ea typeface="楷体" panose="02010609060101010101" charset="-122"/>
            </a:endParaRPr>
          </a:p>
          <a:p>
            <a:r>
              <a:rPr lang="zh-CN" altLang="en-US" sz="1800">
                <a:latin typeface="宋体" panose="02010600030101010101" pitchFamily="2" charset="-122"/>
                <a:ea typeface="楷体" panose="02010609060101010101" charset="-122"/>
                <a:sym typeface="+mn-ea"/>
              </a:rPr>
              <a:t>(2) 表示目的关系的词或词组：in order to, so as to, by等 (3) 表示转折关系的词或词组：but, however, yet等 (4) 表示对比关系的词或词组：contrary to, unlike, like等</a:t>
            </a:r>
            <a:endParaRPr lang="zh-CN" altLang="en-US" sz="1800">
              <a:latin typeface="宋体" panose="02010600030101010101" pitchFamily="2" charset="-122"/>
              <a:ea typeface="楷体" panose="02010609060101010101" charset="-122"/>
            </a:endParaRPr>
          </a:p>
          <a:p>
            <a:r>
              <a:rPr lang="zh-CN" altLang="en-US" sz="1800">
                <a:solidFill>
                  <a:srgbClr val="C00000"/>
                </a:solidFill>
                <a:latin typeface="宋体" panose="02010600030101010101" pitchFamily="2" charset="-122"/>
                <a:ea typeface="楷体" panose="02010609060101010101" charset="-122"/>
                <a:sym typeface="+mn-ea"/>
              </a:rPr>
              <a:t>答题技巧三：题文同序</a:t>
            </a:r>
            <a:endParaRPr lang="zh-CN" altLang="en-US" sz="1800">
              <a:latin typeface="宋体" panose="02010600030101010101" pitchFamily="2" charset="-122"/>
              <a:ea typeface="楷体" panose="02010609060101010101" charset="-122"/>
            </a:endParaRPr>
          </a:p>
          <a:p>
            <a:r>
              <a:rPr lang="zh-CN" altLang="en-US" sz="1800">
                <a:latin typeface="宋体" panose="02010600030101010101" pitchFamily="2" charset="-122"/>
                <a:ea typeface="楷体" panose="02010609060101010101" charset="-122"/>
                <a:sym typeface="+mn-ea"/>
              </a:rPr>
              <a:t>大学英语考试的快速阅读部分，问题顺序与原文顺序一致（有时判断题和填空题交汇处顺序不一致），这就要求考生应该按照题目的顺序依次做题。对于所有的四级快速阅读文章这个技巧都适用，在此就不做特别举例 。</a:t>
            </a:r>
            <a:endParaRPr lang="zh-CN" altLang="en-US" sz="1800">
              <a:latin typeface="宋体" panose="02010600030101010101" pitchFamily="2" charset="-122"/>
              <a:ea typeface="楷体" panose="02010609060101010101" charset="-122"/>
            </a:endParaRPr>
          </a:p>
          <a:p>
            <a:endParaRPr lang="zh-CN" altLang="en-US" sz="1800">
              <a:latin typeface="宋体" panose="02010600030101010101" pitchFamily="2" charset="-122"/>
              <a:ea typeface="楷体" panose="02010609060101010101"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25000" lnSpcReduction="20000"/>
          </a:bodyPr>
          <a:lstStyle/>
          <a:p>
            <a:r>
              <a:rPr lang="zh-CN" altLang="en-US" sz="7200">
                <a:solidFill>
                  <a:srgbClr val="C00000"/>
                </a:solidFill>
                <a:latin typeface="宋体" panose="02010600030101010101" pitchFamily="2" charset="-122"/>
                <a:ea typeface="楷体" panose="02010609060101010101" charset="-122"/>
                <a:sym typeface="+mn-ea"/>
              </a:rPr>
              <a:t>答题技巧四：分解对应</a:t>
            </a:r>
            <a:endParaRPr lang="zh-CN" altLang="en-US" sz="7200">
              <a:solidFill>
                <a:srgbClr val="C00000"/>
              </a:solidFill>
              <a:latin typeface="宋体" panose="02010600030101010101" pitchFamily="2" charset="-122"/>
              <a:ea typeface="楷体" panose="02010609060101010101" charset="-122"/>
            </a:endParaRPr>
          </a:p>
          <a:p>
            <a:r>
              <a:rPr lang="zh-CN" altLang="en-US" sz="7200">
                <a:latin typeface="宋体" panose="02010600030101010101" pitchFamily="2" charset="-122"/>
                <a:ea typeface="楷体" panose="02010609060101010101" charset="-122"/>
                <a:sym typeface="+mn-ea"/>
              </a:rPr>
              <a:t>分解对应四分法（快速阅读的解题核心）：快速将问题分解成4个部分（主A 谓B宾C+其他D），与原文进行对比。</a:t>
            </a:r>
            <a:endParaRPr lang="zh-CN" altLang="en-US" sz="7200">
              <a:latin typeface="宋体" panose="02010600030101010101" pitchFamily="2" charset="-122"/>
              <a:ea typeface="楷体" panose="02010609060101010101" charset="-122"/>
            </a:endParaRPr>
          </a:p>
          <a:p>
            <a:r>
              <a:rPr lang="zh-CN" altLang="en-US" sz="7200">
                <a:latin typeface="宋体" panose="02010600030101010101" pitchFamily="2" charset="-122"/>
                <a:ea typeface="楷体" panose="02010609060101010101" charset="-122"/>
                <a:sym typeface="+mn-ea"/>
              </a:rPr>
              <a:t>[例3] A landfill is not like a compost pile, where the purpose is to bury trash in such a way that it will decompose quickly.</a:t>
            </a:r>
            <a:endParaRPr lang="zh-CN" altLang="en-US" sz="7200">
              <a:latin typeface="宋体" panose="02010600030101010101" pitchFamily="2" charset="-122"/>
              <a:ea typeface="楷体" panose="02010609060101010101" charset="-122"/>
            </a:endParaRPr>
          </a:p>
          <a:p>
            <a:r>
              <a:rPr lang="zh-CN" altLang="en-US" sz="7200">
                <a:latin typeface="宋体" panose="02010600030101010101" pitchFamily="2" charset="-122"/>
                <a:ea typeface="楷体" panose="02010609060101010101" charset="-122"/>
                <a:sym typeface="+mn-ea"/>
              </a:rPr>
              <a:t>[题目] Landfills are like compost piles in that they speed up decomposition of the buried trash.</a:t>
            </a:r>
            <a:endParaRPr lang="zh-CN" altLang="en-US" sz="7200">
              <a:latin typeface="宋体" panose="02010600030101010101" pitchFamily="2" charset="-122"/>
              <a:ea typeface="楷体" panose="02010609060101010101" charset="-122"/>
            </a:endParaRPr>
          </a:p>
          <a:p>
            <a:r>
              <a:rPr lang="zh-CN" altLang="en-US" sz="7200">
                <a:latin typeface="宋体" panose="02010600030101010101" pitchFamily="2" charset="-122"/>
                <a:ea typeface="楷体" panose="02010609060101010101" charset="-122"/>
                <a:sym typeface="+mn-ea"/>
              </a:rPr>
              <a:t>[解析] 我们可以将题目简单划分句子成分：主语为Landfills，谓语为are，宾语为like compost piles，speed up decomposition of the buried trash.与原文bury trash in such a way that it will decompose quickly相对应，这样我们就很容易的看到题目Landfills are like compost piles，可是原文中却是A landfill is not like a compost pile，很明显我们就可以得到正确答案。</a:t>
            </a:r>
          </a:p>
          <a:p>
            <a:r>
              <a:rPr lang="zh-CN" altLang="en-US" sz="7200">
                <a:solidFill>
                  <a:srgbClr val="C00000"/>
                </a:solidFill>
                <a:latin typeface="宋体" panose="02010600030101010101" pitchFamily="2" charset="-122"/>
                <a:ea typeface="楷体" panose="02010609060101010101" charset="-122"/>
                <a:sym typeface="+mn-ea"/>
              </a:rPr>
              <a:t>答题技巧五：一段一题、长段两题、平均分配</a:t>
            </a:r>
            <a:endParaRPr lang="zh-CN" altLang="en-US" sz="7200">
              <a:latin typeface="宋体" panose="02010600030101010101" pitchFamily="2" charset="-122"/>
              <a:ea typeface="楷体" panose="02010609060101010101" charset="-122"/>
            </a:endParaRPr>
          </a:p>
          <a:p>
            <a:r>
              <a:rPr lang="zh-CN" altLang="en-US" sz="7200">
                <a:latin typeface="宋体" panose="02010600030101010101" pitchFamily="2" charset="-122"/>
                <a:ea typeface="楷体" panose="02010609060101010101" charset="-122"/>
                <a:sym typeface="+mn-ea"/>
              </a:rPr>
              <a:t>大学英语考试的快速阅读的出题方式一般都为一段出一题、长段出两题，遵循平均分配题目所在位置的原则，在此也不做特别举例。</a:t>
            </a:r>
            <a:endParaRPr lang="zh-CN" altLang="en-US" sz="7200">
              <a:latin typeface="宋体" panose="02010600030101010101" pitchFamily="2" charset="-122"/>
              <a:ea typeface="楷体" panose="02010609060101010101" charset="-122"/>
            </a:endParaRPr>
          </a:p>
          <a:p>
            <a:endParaRPr lang="zh-CN" altLang="en-US" sz="7200">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57500" lnSpcReduction="10000"/>
          </a:bodyPr>
          <a:lstStyle/>
          <a:p>
            <a:r>
              <a:rPr lang="zh-CN" altLang="en-US">
                <a:solidFill>
                  <a:srgbClr val="C00000"/>
                </a:solidFill>
                <a:latin typeface="宋体" panose="02010600030101010101" pitchFamily="2" charset="-122"/>
                <a:ea typeface="楷体" panose="02010609060101010101" charset="-122"/>
                <a:sym typeface="+mn-ea"/>
              </a:rPr>
              <a:t>答题技巧六：选小不选大</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快速阅读中，问题的范围必须小于原文范围，反之则判定为错。</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[例4] In the United States, taking care of trash and building landfills are local government responsibilities.</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[题目] In the United States the building of landfills is the job of both federal and local governments.</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[解析] 原文明白无误地告诉考生“清理垃圾以及建造清埋场是由当地政府负责的”。据此可断定，该论断不准确。</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在此特别提示考生，如果题目中所表述的内容与原文明显不符、矛盾或相反，可判断为N 确定为N的情况：</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(1) 题目中的信息与原文内容相反</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(2) 题目将原文的意思张冠李戴</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(3) 将原文中的不确定因素转化为确定因素</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(4) 改变原文中的条件、范围等</a:t>
            </a:r>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87500" lnSpcReduction="10000"/>
          </a:bodyPr>
          <a:lstStyle/>
          <a:p>
            <a:r>
              <a:rPr lang="zh-CN" altLang="en-US" sz="2360">
                <a:solidFill>
                  <a:srgbClr val="C00000"/>
                </a:solidFill>
                <a:latin typeface="宋体" panose="02010600030101010101" pitchFamily="2" charset="-122"/>
                <a:ea typeface="楷体" panose="02010609060101010101" charset="-122"/>
                <a:sym typeface="+mn-ea"/>
              </a:rPr>
              <a:t>答题技巧七：两段判定（判断NG最好方法）</a:t>
            </a:r>
            <a:endParaRPr lang="zh-CN" altLang="en-US" sz="2360">
              <a:latin typeface="宋体" panose="02010600030101010101" pitchFamily="2" charset="-122"/>
              <a:ea typeface="楷体" panose="02010609060101010101" charset="-122"/>
            </a:endParaRPr>
          </a:p>
          <a:p>
            <a:r>
              <a:rPr lang="zh-CN" altLang="en-US" sz="2360">
                <a:latin typeface="宋体" panose="02010600030101010101" pitchFamily="2" charset="-122"/>
                <a:ea typeface="楷体" panose="02010609060101010101" charset="-122"/>
                <a:sym typeface="+mn-ea"/>
              </a:rPr>
              <a:t>在四级快速阅读中，如果上一题已经确定了在原文中的位置，读过两段后仍无下一题所需信息，则可以判定该题为NG，而不用通读全文。</a:t>
            </a:r>
            <a:endParaRPr lang="zh-CN" altLang="en-US" sz="2360">
              <a:latin typeface="宋体" panose="02010600030101010101" pitchFamily="2" charset="-122"/>
              <a:ea typeface="楷体" panose="02010609060101010101" charset="-122"/>
            </a:endParaRPr>
          </a:p>
          <a:p>
            <a:r>
              <a:rPr lang="zh-CN" altLang="en-US" sz="2360">
                <a:solidFill>
                  <a:srgbClr val="C00000"/>
                </a:solidFill>
                <a:latin typeface="宋体" panose="02010600030101010101" pitchFamily="2" charset="-122"/>
                <a:ea typeface="楷体" panose="02010609060101010101" charset="-122"/>
                <a:sym typeface="+mn-ea"/>
              </a:rPr>
              <a:t>答题技巧八： 主宾判定</a:t>
            </a:r>
            <a:endParaRPr lang="zh-CN" altLang="en-US" sz="2360">
              <a:solidFill>
                <a:srgbClr val="C00000"/>
              </a:solidFill>
              <a:latin typeface="宋体" panose="02010600030101010101" pitchFamily="2" charset="-122"/>
              <a:ea typeface="楷体" panose="02010609060101010101" charset="-122"/>
            </a:endParaRPr>
          </a:p>
          <a:p>
            <a:r>
              <a:rPr lang="zh-CN" altLang="en-US" sz="2360">
                <a:latin typeface="宋体" panose="02010600030101010101" pitchFamily="2" charset="-122"/>
                <a:ea typeface="楷体" panose="02010609060101010101" charset="-122"/>
                <a:sym typeface="+mn-ea"/>
              </a:rPr>
              <a:t>四级快速阅读中，将题干的句子进行简单分解后，问题中的主语、宾语在原文未出现或被偷换概念的情况：</a:t>
            </a:r>
            <a:endParaRPr lang="zh-CN" altLang="en-US" sz="2360">
              <a:latin typeface="宋体" panose="02010600030101010101" pitchFamily="2" charset="-122"/>
              <a:ea typeface="楷体" panose="02010609060101010101" charset="-122"/>
            </a:endParaRPr>
          </a:p>
          <a:p>
            <a:r>
              <a:rPr lang="zh-CN" altLang="en-US" sz="2360">
                <a:latin typeface="宋体" panose="02010600030101010101" pitchFamily="2" charset="-122"/>
                <a:ea typeface="楷体" panose="02010609060101010101" charset="-122"/>
                <a:sym typeface="+mn-ea"/>
              </a:rPr>
              <a:t>(1) 题目中的表述无中生有</a:t>
            </a:r>
            <a:endParaRPr lang="zh-CN" altLang="en-US" sz="2360">
              <a:latin typeface="宋体" panose="02010600030101010101" pitchFamily="2" charset="-122"/>
              <a:ea typeface="楷体" panose="02010609060101010101" charset="-122"/>
            </a:endParaRPr>
          </a:p>
          <a:p>
            <a:r>
              <a:rPr lang="zh-CN" altLang="en-US" sz="2360">
                <a:latin typeface="宋体" panose="02010600030101010101" pitchFamily="2" charset="-122"/>
                <a:ea typeface="楷体" panose="02010609060101010101" charset="-122"/>
                <a:sym typeface="+mn-ea"/>
              </a:rPr>
              <a:t>(2) 原文中作者的目的、意图、愿望等内容在题目中作为客观事实陈述</a:t>
            </a:r>
            <a:endParaRPr lang="zh-CN" altLang="en-US" sz="2360">
              <a:latin typeface="宋体" panose="02010600030101010101" pitchFamily="2" charset="-122"/>
              <a:ea typeface="楷体" panose="02010609060101010101" charset="-122"/>
            </a:endParaRPr>
          </a:p>
          <a:p>
            <a:r>
              <a:rPr lang="zh-CN" altLang="en-US" sz="2360">
                <a:latin typeface="宋体" panose="02010600030101010101" pitchFamily="2" charset="-122"/>
                <a:ea typeface="楷体" panose="02010609060101010101" charset="-122"/>
                <a:sym typeface="+mn-ea"/>
              </a:rPr>
              <a:t>(3) 将原文中的特殊情况推广为普遍现象</a:t>
            </a:r>
            <a:endParaRPr lang="zh-CN" altLang="en-US" sz="2360">
              <a:latin typeface="宋体" panose="02010600030101010101" pitchFamily="2" charset="-122"/>
              <a:ea typeface="楷体" panose="02010609060101010101" charset="-122"/>
            </a:endParaRPr>
          </a:p>
          <a:p>
            <a:r>
              <a:rPr lang="zh-CN" altLang="en-US" sz="2360">
                <a:latin typeface="宋体" panose="02010600030101010101" pitchFamily="2" charset="-122"/>
                <a:ea typeface="楷体" panose="02010609060101010101" charset="-122"/>
                <a:sym typeface="+mn-ea"/>
              </a:rPr>
              <a:t>(4) 将原文的内容具体化</a:t>
            </a:r>
            <a:endParaRPr lang="zh-CN" altLang="en-US" sz="2360">
              <a:latin typeface="宋体" panose="02010600030101010101" pitchFamily="2" charset="-122"/>
              <a:ea typeface="楷体" panose="02010609060101010101" charset="-122"/>
            </a:endParaRPr>
          </a:p>
          <a:p>
            <a:r>
              <a:rPr lang="zh-CN" altLang="en-US" sz="2360">
                <a:latin typeface="宋体" panose="02010600030101010101" pitchFamily="2" charset="-122"/>
                <a:ea typeface="楷体" panose="02010609060101010101" charset="-122"/>
                <a:sym typeface="+mn-ea"/>
              </a:rPr>
              <a:t>(5) 随意比较原文中的两个事物</a:t>
            </a:r>
            <a:endParaRPr lang="zh-CN" altLang="en-US" sz="2360">
              <a:latin typeface="宋体" panose="02010600030101010101" pitchFamily="2" charset="-122"/>
              <a:ea typeface="楷体" panose="02010609060101010101" charset="-122"/>
            </a:endParaRPr>
          </a:p>
          <a:p>
            <a:endParaRPr lang="zh-CN" altLang="en-US" sz="2360">
              <a:latin typeface="宋体" panose="02010600030101010101" pitchFamily="2" charset="-122"/>
              <a:ea typeface="楷体" panose="02010609060101010101"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28650" y="1131094"/>
            <a:ext cx="7886700" cy="4359116"/>
          </a:xfrm>
        </p:spPr>
        <p:txBody>
          <a:bodyPr>
            <a:normAutofit fontScale="40000" lnSpcReduction="20000"/>
          </a:bodyPr>
          <a:lstStyle/>
          <a:p>
            <a:r>
              <a:rPr lang="zh-CN" altLang="en-US">
                <a:solidFill>
                  <a:srgbClr val="C00000"/>
                </a:solidFill>
                <a:latin typeface="宋体" panose="02010600030101010101" pitchFamily="2" charset="-122"/>
                <a:ea typeface="楷体" panose="02010609060101010101" charset="-122"/>
                <a:sym typeface="+mn-ea"/>
              </a:rPr>
              <a:t>答题技巧九：相关信息准确合并</a:t>
            </a:r>
            <a:endParaRPr lang="zh-CN" altLang="en-US">
              <a:solidFill>
                <a:srgbClr val="C00000"/>
              </a:solidFill>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快速阅读文章中有时可能会问到所面临的问题是什么？某事情的原因是什么？等等，这样的问题在文中可能是在不同的位置都有表述，所以考生遇到这样的问题时，不能只局限在某一段里面找答案，可以先做后面的题目，在后面的阅读中发现还有该题的答案时，将相关信息合并后再确定答案</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[例5] Water woes may seem remote to people living in rich countries like the United States. But Americans could face serious water shortages, too especially in areas that rely on groundwater. Groundwater accumulates in aquifers, layers of sand and gravel that lie between soil and bedrock. (For every liter of surface water, more than 90 liters are hidden underground.) Although the United States has large aquifers, farmers, ranchers, and cities are tapping many of them for water faster than nature can replenish it. In northwest Texas, for example, over pumping has shrunk groundwater supplies by 25 percent, according to Postal.</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Americans may face even more urgent problems from pollution. Drinking water in</a:t>
            </a:r>
            <a:r>
              <a:rPr lang="en-US" altLang="zh-CN">
                <a:latin typeface="宋体" panose="02010600030101010101" pitchFamily="2" charset="-122"/>
                <a:ea typeface="楷体" panose="02010609060101010101" charset="-122"/>
                <a:sym typeface="+mn-ea"/>
              </a:rPr>
              <a:t> </a:t>
            </a:r>
            <a:r>
              <a:rPr lang="zh-CN" altLang="en-US">
                <a:latin typeface="宋体" panose="02010600030101010101" pitchFamily="2" charset="-122"/>
                <a:ea typeface="楷体" panose="02010609060101010101" charset="-122"/>
                <a:sym typeface="+mn-ea"/>
              </a:rPr>
              <a:t>the United States is generally safe and meets high standards. Nevertheless,</a:t>
            </a:r>
            <a:r>
              <a:rPr lang="en-US" altLang="zh-CN">
                <a:latin typeface="宋体" panose="02010600030101010101" pitchFamily="2" charset="-122"/>
                <a:ea typeface="楷体" panose="02010609060101010101" charset="-122"/>
                <a:sym typeface="+mn-ea"/>
              </a:rPr>
              <a:t> </a:t>
            </a:r>
            <a:r>
              <a:rPr lang="zh-CN" altLang="en-US">
                <a:latin typeface="宋体" panose="02010600030101010101" pitchFamily="2" charset="-122"/>
                <a:ea typeface="楷体" panose="02010609060101010101" charset="-122"/>
                <a:sym typeface="+mn-ea"/>
              </a:rPr>
              <a:t>one in five Americans every day unknowingly drinks tap water contaminated with bacteria and chemical wastes, according to the Environmental Protection Agency.In Milwaukee, 400,000 people fell ill in 1993 after drinking tap water tainted with cryptosporidium,a microbe that causes fever, diarrhea and vomiting.</a:t>
            </a:r>
          </a:p>
          <a:p>
            <a:r>
              <a:rPr lang="zh-CN" altLang="en-US">
                <a:latin typeface="宋体" panose="02010600030101010101" pitchFamily="2" charset="-122"/>
                <a:ea typeface="楷体" panose="02010609060101010101" charset="-122"/>
                <a:sym typeface="+mn-ea"/>
              </a:rPr>
              <a:t>[题目] The problems Americans face concerning water are ground water shrinkage and tap water pollution.</a:t>
            </a:r>
            <a:endParaRPr lang="zh-CN" altLang="en-US">
              <a:latin typeface="宋体" panose="02010600030101010101" pitchFamily="2" charset="-122"/>
              <a:ea typeface="楷体" panose="02010609060101010101" charset="-122"/>
            </a:endParaRPr>
          </a:p>
          <a:p>
            <a:r>
              <a:rPr lang="zh-CN" altLang="en-US">
                <a:latin typeface="宋体" panose="02010600030101010101" pitchFamily="2" charset="-122"/>
                <a:ea typeface="楷体" panose="02010609060101010101" charset="-122"/>
                <a:sym typeface="+mn-ea"/>
              </a:rPr>
              <a:t>[解析]根据上面2段文章，美国人面临水的问题主要有两个：But Americans could face serious water shortages, too especially in areas that rely on groundwater.和Americans may face even more urgent problems from pollution.这两句话决定了题目的答案，故为Y</a:t>
            </a:r>
            <a:endParaRPr lang="zh-CN" altLang="en-US">
              <a:latin typeface="宋体" panose="02010600030101010101" pitchFamily="2" charset="-122"/>
              <a:ea typeface="楷体" panose="02010609060101010101" charset="-122"/>
            </a:endParaRPr>
          </a:p>
          <a:p>
            <a:endParaRPr lang="zh-CN" altLang="en-US">
              <a:latin typeface="宋体" panose="02010600030101010101" pitchFamily="2" charset="-122"/>
              <a:ea typeface="楷体" panose="02010609060101010101"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683260" y="1340803"/>
            <a:ext cx="7886700" cy="4420553"/>
          </a:xfrm>
        </p:spPr>
        <p:txBody>
          <a:bodyPr>
            <a:normAutofit/>
          </a:bodyPr>
          <a:lstStyle/>
          <a:p>
            <a:r>
              <a:rPr lang="en-US" altLang="zh-CN" sz="1800">
                <a:latin typeface="宋体" panose="02010600030101010101" pitchFamily="2" charset="-122"/>
                <a:ea typeface="楷体" panose="02010609060101010101" charset="-122"/>
              </a:rPr>
              <a:t>x.</a:t>
            </a:r>
            <a:r>
              <a:rPr lang="zh-CN" altLang="en-US" sz="1800">
                <a:latin typeface="宋体" panose="02010600030101010101" pitchFamily="2" charset="-122"/>
                <a:ea typeface="楷体" panose="02010609060101010101" charset="-122"/>
              </a:rPr>
              <a:t>附加的</a:t>
            </a:r>
            <a:r>
              <a:rPr lang="en-US" altLang="zh-CN" sz="1800">
                <a:latin typeface="宋体" panose="02010600030101010101" pitchFamily="2" charset="-122"/>
                <a:ea typeface="楷体" panose="02010609060101010101" charset="-122"/>
              </a:rPr>
              <a:t>tip</a:t>
            </a:r>
            <a:r>
              <a:rPr lang="zh-CN" altLang="en-US" sz="1800">
                <a:latin typeface="宋体" panose="02010600030101010101" pitchFamily="2" charset="-122"/>
                <a:ea typeface="楷体" panose="02010609060101010101" charset="-122"/>
              </a:rPr>
              <a:t>：</a:t>
            </a:r>
          </a:p>
          <a:p>
            <a:r>
              <a:rPr lang="zh-CN" altLang="en-US" sz="1800">
                <a:latin typeface="宋体" panose="02010600030101010101" pitchFamily="2" charset="-122"/>
                <a:ea typeface="楷体" panose="02010609060101010101" charset="-122"/>
              </a:rPr>
              <a:t>刚开始做这个题的时候，等大家自己做完之后，根据答案把每个题的关键句在文中划出来，再反复思考为什么做错了，错在哪里了，需要注意的点和忽略的点</a:t>
            </a:r>
          </a:p>
          <a:p>
            <a:r>
              <a:rPr lang="zh-CN" altLang="en-US" sz="1800">
                <a:latin typeface="宋体" panose="02010600030101010101" pitchFamily="2" charset="-122"/>
                <a:ea typeface="楷体" panose="02010609060101010101" charset="-122"/>
              </a:rPr>
              <a:t>阅读是提升词汇最好的方式，二者相辅相成，背单词一个好方法就是在阅读里面画出来自己不认识的单词，再通过翻译查出中文意思，每天有时间的时候就背一背。</a:t>
            </a:r>
          </a:p>
          <a:p>
            <a:r>
              <a:rPr lang="zh-CN" altLang="en-US" sz="1800">
                <a:latin typeface="宋体" panose="02010600030101010101" pitchFamily="2" charset="-122"/>
                <a:ea typeface="楷体" panose="02010609060101010101" charset="-122"/>
              </a:rPr>
              <a:t>把单词放在文章里更容易背过，而且背了几篇之后发现，有很多单词高频率出现</a:t>
            </a:r>
          </a:p>
          <a:p>
            <a:r>
              <a:rPr lang="zh-CN" altLang="en-US" sz="1800">
                <a:latin typeface="宋体" panose="02010600030101010101" pitchFamily="2" charset="-122"/>
                <a:ea typeface="楷体" panose="02010609060101010101" charset="-122"/>
              </a:rPr>
              <a:t>一开始可能会很困难，甚至是一篇文章几乎都查了一遍，但也担心，万事开头难。坚持下来背，会发现不认识的单词一篇比一篇少，到了熟悉之后就查几个而已了</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latin typeface="宋体" panose="02010600030101010101" pitchFamily="2" charset="-122"/>
                <a:ea typeface="楷体" panose="02010609060101010101" charset="-122"/>
              </a:rPr>
              <a:t>PART 3</a:t>
            </a:r>
          </a:p>
        </p:txBody>
      </p:sp>
      <p:sp>
        <p:nvSpPr>
          <p:cNvPr id="6" name="文本占位符 5"/>
          <p:cNvSpPr>
            <a:spLocks noGrp="1"/>
          </p:cNvSpPr>
          <p:nvPr>
            <p:ph type="body" idx="1"/>
          </p:nvPr>
        </p:nvSpPr>
        <p:spPr/>
        <p:txBody>
          <a:bodyPr/>
          <a:lstStyle/>
          <a:p>
            <a:r>
              <a:rPr lang="zh-CN" altLang="en-US">
                <a:latin typeface="宋体" panose="02010600030101010101" pitchFamily="2" charset="-122"/>
                <a:ea typeface="楷体" panose="02010609060101010101" charset="-122"/>
              </a:rPr>
              <a:t>听力图表题</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楷体" panose="02010609060101010101" charset="-122"/>
              </a:rPr>
              <a:t>引言</a:t>
            </a:r>
          </a:p>
        </p:txBody>
      </p:sp>
      <p:sp>
        <p:nvSpPr>
          <p:cNvPr id="4" name="文本框 3"/>
          <p:cNvSpPr txBox="1"/>
          <p:nvPr/>
        </p:nvSpPr>
        <p:spPr>
          <a:xfrm>
            <a:off x="664535" y="2590357"/>
            <a:ext cx="7825562" cy="4276725"/>
          </a:xfrm>
          <a:prstGeom prst="rect">
            <a:avLst/>
          </a:prstGeom>
          <a:noFill/>
        </p:spPr>
        <p:txBody>
          <a:bodyPr wrap="square" rtlCol="0">
            <a:spAutoFit/>
          </a:bodyPr>
          <a:lstStyle/>
          <a:p>
            <a:r>
              <a:rPr lang="zh-CN" altLang="en-US" sz="1600" b="1" dirty="0">
                <a:latin typeface="宋体" panose="02010600030101010101" pitchFamily="2" charset="-122"/>
                <a:ea typeface="楷体" panose="02010609060101010101" charset="-122"/>
              </a:rPr>
              <a:t>听力，往往是一场英语考试的开端，而填表类题目则是英语听力的重头戏之一，因此对这一类别的题目的应对能力，会影响到整场考试的基调与考生的心态。本次共享学报将从以下几个方面对如何提升学生对于英语填表题的掌握程度进行一次简析与讨论。</a:t>
            </a:r>
            <a:endParaRPr lang="en-US" altLang="zh-CN" sz="1600" b="1"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r>
              <a:rPr lang="zh-CN" altLang="en-US" sz="1600" dirty="0">
                <a:latin typeface="宋体" panose="02010600030101010101" pitchFamily="2" charset="-122"/>
                <a:ea typeface="楷体" panose="02010609060101010101" charset="-122"/>
              </a:rPr>
              <a:t>考场上的心态管理</a:t>
            </a:r>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r>
              <a:rPr lang="zh-CN" altLang="en-US" sz="1600" dirty="0">
                <a:latin typeface="宋体" panose="02010600030101010101" pitchFamily="2" charset="-122"/>
                <a:ea typeface="楷体" panose="02010609060101010101" charset="-122"/>
              </a:rPr>
              <a:t>答题技巧</a:t>
            </a:r>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r>
              <a:rPr lang="zh-CN" altLang="en-US" sz="1600" dirty="0">
                <a:latin typeface="宋体" panose="02010600030101010101" pitchFamily="2" charset="-122"/>
                <a:ea typeface="楷体" panose="02010609060101010101" charset="-122"/>
              </a:rPr>
              <a:t>例题解析</a:t>
            </a:r>
            <a:endParaRPr lang="en-US" altLang="zh-CN" sz="1600"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endParaRPr lang="en-US" altLang="zh-CN" sz="1600"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endParaRPr lang="zh-CN" altLang="en-US" sz="1600" dirty="0">
              <a:latin typeface="宋体" panose="02010600030101010101" pitchFamily="2" charset="-122"/>
              <a:ea typeface="楷体" panose="02010609060101010101"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楷体" panose="02010609060101010101" charset="-122"/>
              </a:rPr>
              <a:t>考场上的心态管理</a:t>
            </a:r>
          </a:p>
        </p:txBody>
      </p:sp>
      <p:sp>
        <p:nvSpPr>
          <p:cNvPr id="4" name="文本框 3"/>
          <p:cNvSpPr txBox="1"/>
          <p:nvPr/>
        </p:nvSpPr>
        <p:spPr>
          <a:xfrm>
            <a:off x="607501" y="2643520"/>
            <a:ext cx="7928999" cy="2799715"/>
          </a:xfrm>
          <a:prstGeom prst="rect">
            <a:avLst/>
          </a:prstGeom>
          <a:noFill/>
        </p:spPr>
        <p:txBody>
          <a:bodyPr wrap="square" rtlCol="0">
            <a:spAutoFit/>
          </a:bodyPr>
          <a:lstStyle/>
          <a:p>
            <a:r>
              <a:rPr lang="zh-CN" altLang="en-US" sz="1600" b="1" dirty="0">
                <a:latin typeface="宋体" panose="02010600030101010101" pitchFamily="2" charset="-122"/>
                <a:ea typeface="楷体" panose="02010609060101010101" charset="-122"/>
              </a:rPr>
              <a:t>考试是对学生学业水平的检测，因而在面对卷子的那一刻，考生便应该抛去不必要的懊悔和紧张，以避免影响自己的正常发挥：</a:t>
            </a:r>
            <a:endParaRPr lang="en-US" altLang="zh-CN" sz="1600" b="1"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r>
              <a:rPr lang="zh-CN" altLang="en-US" sz="1600" dirty="0">
                <a:latin typeface="宋体" panose="02010600030101010101" pitchFamily="2" charset="-122"/>
                <a:ea typeface="楷体" panose="02010609060101010101" charset="-122"/>
              </a:rPr>
              <a:t>不要纠结与某一道题是否一定正确，过分纠结反而会让自己在其他题上丢更多的分，相信自己的运气可以帮助得到期望为</a:t>
            </a:r>
            <a:r>
              <a:rPr lang="en-US" altLang="zh-CN" sz="1600" dirty="0">
                <a:latin typeface="宋体" panose="02010600030101010101" pitchFamily="2" charset="-122"/>
                <a:ea typeface="楷体" panose="02010609060101010101" charset="-122"/>
              </a:rPr>
              <a:t>25%</a:t>
            </a:r>
            <a:r>
              <a:rPr lang="zh-CN" altLang="en-US" sz="1600" dirty="0">
                <a:latin typeface="宋体" panose="02010600030101010101" pitchFamily="2" charset="-122"/>
                <a:ea typeface="楷体" panose="02010609060101010101" charset="-122"/>
              </a:rPr>
              <a:t>的分数</a:t>
            </a:r>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r>
              <a:rPr lang="zh-CN" altLang="en-US" sz="1600" dirty="0">
                <a:latin typeface="宋体" panose="02010600030101010101" pitchFamily="2" charset="-122"/>
                <a:ea typeface="楷体" panose="02010609060101010101" charset="-122"/>
              </a:rPr>
              <a:t>听的时候要摆平心态，听不清楚时更要冷静下来继续往下听，尽量简略记录连贯的重点与逻辑关系</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楷体" panose="02010609060101010101" charset="-122"/>
              </a:rPr>
              <a:t>答题技巧</a:t>
            </a:r>
          </a:p>
        </p:txBody>
      </p:sp>
      <p:sp>
        <p:nvSpPr>
          <p:cNvPr id="4" name="文本框 3"/>
          <p:cNvSpPr txBox="1"/>
          <p:nvPr/>
        </p:nvSpPr>
        <p:spPr>
          <a:xfrm>
            <a:off x="607500" y="2595674"/>
            <a:ext cx="7986034" cy="3538220"/>
          </a:xfrm>
          <a:prstGeom prst="rect">
            <a:avLst/>
          </a:prstGeom>
          <a:noFill/>
        </p:spPr>
        <p:txBody>
          <a:bodyPr wrap="square" rtlCol="0">
            <a:spAutoFit/>
          </a:bodyPr>
          <a:lstStyle/>
          <a:p>
            <a:r>
              <a:rPr lang="zh-CN" altLang="en-US" sz="1600" b="1" dirty="0">
                <a:latin typeface="宋体" panose="02010600030101010101" pitchFamily="2" charset="-122"/>
                <a:ea typeface="楷体" panose="02010609060101010101" charset="-122"/>
              </a:rPr>
              <a:t>在考场上，考生所能差使的知识水平是有限的，但发挥能力的可能性是无限的，掌握合适的答题技巧，可以达到事半功倍的效果：</a:t>
            </a:r>
            <a:endParaRPr lang="en-US" altLang="zh-CN" sz="1600" b="1"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r>
              <a:rPr lang="zh-CN" altLang="en-US" sz="1600" dirty="0">
                <a:latin typeface="宋体" panose="02010600030101010101" pitchFamily="2" charset="-122"/>
                <a:ea typeface="楷体" panose="02010609060101010101" charset="-122"/>
              </a:rPr>
              <a:t>关注听力原文整体结构和人物，如果是选择题，听听力前先把选项看一遍，想象可能的语境，便于听的时候的提前代入；如果是填空题，听听力前先看清前后文，关注主语和指示代词等，防止在时态和语法上出错，同时要理解文意，尽可能对要填的答案有大概的方向，对模糊的选项采取理解前后文填入，并相信自己的第一印象</a:t>
            </a:r>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endParaRPr lang="en-US" altLang="zh-CN" sz="1600" dirty="0">
              <a:latin typeface="宋体" panose="02010600030101010101" pitchFamily="2" charset="-122"/>
              <a:ea typeface="楷体" panose="02010609060101010101" charset="-122"/>
            </a:endParaRPr>
          </a:p>
          <a:p>
            <a:pPr marL="285750" indent="-285750">
              <a:buFont typeface="Arial" panose="020B0604020202020204" pitchFamily="34" charset="0"/>
              <a:buChar char="•"/>
            </a:pPr>
            <a:r>
              <a:rPr lang="zh-CN" altLang="en-US" sz="1600" dirty="0">
                <a:latin typeface="宋体" panose="02010600030101010101" pitchFamily="2" charset="-122"/>
                <a:ea typeface="楷体" panose="02010609060101010101" charset="-122"/>
              </a:rPr>
              <a:t>听力部分会有一些是视听说教程课本里的原材料，考前可以将那些听力再听一遍，时间不够的话，也可以直接从网上找原文了解材料的大概。对于听力，重点要先搞清楚文章的主体结构与大致内容，知道了文章的结构与大致内容，再注意一些关键词，就差不多能了解文章的内容，把握住关键的细节。之后不论是做题，还是蒙题的准确率都能有所提高</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楷体" panose="02010609060101010101" charset="-122"/>
              </a:rPr>
              <a:t>例题解析</a:t>
            </a:r>
            <a:r>
              <a:rPr lang="en-US" altLang="zh-CN" dirty="0">
                <a:latin typeface="宋体" panose="02010600030101010101" pitchFamily="2" charset="-122"/>
                <a:ea typeface="楷体" panose="02010609060101010101" charset="-122"/>
              </a:rPr>
              <a:t>1</a:t>
            </a:r>
            <a:endParaRPr lang="zh-CN" altLang="en-US" dirty="0">
              <a:latin typeface="宋体" panose="02010600030101010101" pitchFamily="2" charset="-122"/>
              <a:ea typeface="楷体" panose="02010609060101010101"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51500" y="2054225"/>
            <a:ext cx="3111500" cy="3544570"/>
          </a:xfrm>
          <a:prstGeom prst="rect">
            <a:avLst/>
          </a:prstGeom>
        </p:spPr>
      </p:pic>
      <p:sp>
        <p:nvSpPr>
          <p:cNvPr id="6" name="文本框 5"/>
          <p:cNvSpPr txBox="1"/>
          <p:nvPr/>
        </p:nvSpPr>
        <p:spPr>
          <a:xfrm>
            <a:off x="611782" y="2038321"/>
            <a:ext cx="2169041" cy="3122930"/>
          </a:xfrm>
          <a:prstGeom prst="rect">
            <a:avLst/>
          </a:prstGeom>
          <a:noFill/>
        </p:spPr>
        <p:txBody>
          <a:bodyPr wrap="square" rtlCol="0">
            <a:spAutoFit/>
          </a:bodyPr>
          <a:lstStyle/>
          <a:p>
            <a:pPr algn="ctr"/>
            <a:r>
              <a:rPr lang="zh-CN" altLang="en-US" sz="1500" b="1" dirty="0">
                <a:latin typeface="宋体" panose="02010600030101010101" pitchFamily="2" charset="-122"/>
                <a:ea typeface="楷体" panose="02010609060101010101" charset="-122"/>
              </a:rPr>
              <a:t>题目特点</a:t>
            </a:r>
            <a:endParaRPr lang="en-US" altLang="zh-CN" sz="1500" b="1"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空格密集，且答案大多为单个词语或短词组</a:t>
            </a: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可以从上下文判断个别空格处所缺失内容</a:t>
            </a: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文章结构清晰，信息点出现顺序在题目与音频中不对应，容易漏听</a:t>
            </a:r>
          </a:p>
        </p:txBody>
      </p:sp>
      <p:sp>
        <p:nvSpPr>
          <p:cNvPr id="7" name="文本框 6"/>
          <p:cNvSpPr txBox="1"/>
          <p:nvPr/>
        </p:nvSpPr>
        <p:spPr>
          <a:xfrm>
            <a:off x="2898775" y="2038350"/>
            <a:ext cx="2169160" cy="3363595"/>
          </a:xfrm>
          <a:prstGeom prst="rect">
            <a:avLst/>
          </a:prstGeom>
          <a:noFill/>
        </p:spPr>
        <p:txBody>
          <a:bodyPr wrap="square" rtlCol="0">
            <a:noAutofit/>
          </a:bodyPr>
          <a:lstStyle/>
          <a:p>
            <a:pPr algn="ctr"/>
            <a:r>
              <a:rPr lang="zh-CN" altLang="en-US" sz="1500" b="1" dirty="0">
                <a:latin typeface="宋体" panose="02010600030101010101" pitchFamily="2" charset="-122"/>
                <a:ea typeface="楷体" panose="02010609060101010101" charset="-122"/>
              </a:rPr>
              <a:t>应对方法</a:t>
            </a:r>
            <a:endParaRPr lang="en-US" altLang="zh-CN" sz="1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在听力开始前仔细阅读文本，记住要点</a:t>
            </a: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联想可填入词汇，写在对应空格作为笔记</a:t>
            </a: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试着把握听力音频总体框架，将注意力放在音频上，对关键知识点进行笔记</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楷体" panose="02010609060101010101" charset="-122"/>
              </a:rPr>
              <a:t>例题解析</a:t>
            </a:r>
            <a:r>
              <a:rPr lang="en-US" altLang="zh-CN" dirty="0">
                <a:latin typeface="宋体" panose="02010600030101010101" pitchFamily="2" charset="-122"/>
                <a:ea typeface="楷体" panose="02010609060101010101" charset="-122"/>
              </a:rPr>
              <a:t>2</a:t>
            </a:r>
            <a:endParaRPr lang="zh-CN" altLang="en-US" dirty="0">
              <a:latin typeface="宋体" panose="02010600030101010101" pitchFamily="2" charset="-122"/>
              <a:ea typeface="楷体" panose="02010609060101010101" charset="-122"/>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7618" y="2538718"/>
            <a:ext cx="3843535" cy="3205328"/>
          </a:xfrm>
          <a:prstGeom prst="rect">
            <a:avLst/>
          </a:prstGeom>
        </p:spPr>
      </p:pic>
      <p:sp>
        <p:nvSpPr>
          <p:cNvPr id="7" name="文本框 6"/>
          <p:cNvSpPr txBox="1"/>
          <p:nvPr/>
        </p:nvSpPr>
        <p:spPr>
          <a:xfrm>
            <a:off x="386593" y="2860262"/>
            <a:ext cx="2169041" cy="2476500"/>
          </a:xfrm>
          <a:prstGeom prst="rect">
            <a:avLst/>
          </a:prstGeom>
          <a:noFill/>
        </p:spPr>
        <p:txBody>
          <a:bodyPr wrap="square" rtlCol="0">
            <a:spAutoFit/>
          </a:bodyPr>
          <a:lstStyle/>
          <a:p>
            <a:pPr algn="ctr"/>
            <a:r>
              <a:rPr lang="zh-CN" altLang="en-US" sz="1500" b="1" dirty="0">
                <a:latin typeface="宋体" panose="02010600030101010101" pitchFamily="2" charset="-122"/>
                <a:ea typeface="楷体" panose="02010609060101010101" charset="-122"/>
              </a:rPr>
              <a:t>题目特点</a:t>
            </a:r>
            <a:endParaRPr lang="en-US" altLang="zh-CN" sz="1500" b="1"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答案大多为长词组或短句格式</a:t>
            </a: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题干不清晰，主题不明确</a:t>
            </a: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答案大多为名词或形容词</a:t>
            </a:r>
          </a:p>
        </p:txBody>
      </p:sp>
      <p:sp>
        <p:nvSpPr>
          <p:cNvPr id="8" name="文本框 7"/>
          <p:cNvSpPr txBox="1"/>
          <p:nvPr/>
        </p:nvSpPr>
        <p:spPr>
          <a:xfrm>
            <a:off x="2757106" y="2860262"/>
            <a:ext cx="2169041" cy="2722880"/>
          </a:xfrm>
          <a:prstGeom prst="rect">
            <a:avLst/>
          </a:prstGeom>
          <a:noFill/>
        </p:spPr>
        <p:txBody>
          <a:bodyPr wrap="square" rtlCol="0">
            <a:spAutoFit/>
          </a:bodyPr>
          <a:lstStyle/>
          <a:p>
            <a:pPr algn="ctr"/>
            <a:r>
              <a:rPr lang="zh-CN" altLang="en-US" sz="1500" b="1" dirty="0">
                <a:latin typeface="宋体" panose="02010600030101010101" pitchFamily="2" charset="-122"/>
                <a:ea typeface="楷体" panose="02010609060101010101" charset="-122"/>
              </a:rPr>
              <a:t>应对方法</a:t>
            </a:r>
            <a:endParaRPr lang="en-US" altLang="zh-CN" sz="100" dirty="0">
              <a:latin typeface="宋体" panose="02010600030101010101" pitchFamily="2" charset="-122"/>
              <a:ea typeface="楷体" panose="02010609060101010101" charset="-122"/>
            </a:endParaRPr>
          </a:p>
          <a:p>
            <a:pPr marL="342900" indent="-342900">
              <a:buFont typeface="+mj-lt"/>
              <a:buAutoNum type="arabicPeriod"/>
            </a:pPr>
            <a:endParaRPr lang="en-US" altLang="zh-CN" sz="100" dirty="0">
              <a:latin typeface="宋体" panose="02010600030101010101" pitchFamily="2" charset="-122"/>
              <a:ea typeface="楷体" panose="02010609060101010101" charset="-122"/>
            </a:endParaRPr>
          </a:p>
          <a:p>
            <a:pPr marL="342900" indent="-342900">
              <a:buFont typeface="+mj-lt"/>
              <a:buAutoNum type="arabicPeriod"/>
            </a:pPr>
            <a:endParaRPr lang="en-US" altLang="zh-CN" sz="1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音频播放时可以比对文章内容，时刻参考对应题目</a:t>
            </a: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反复阅读，在音频第一次播放时试着不关注答案而是构造文章整体结构</a:t>
            </a: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endParaRPr lang="en-US" altLang="zh-CN" sz="1400" dirty="0">
              <a:latin typeface="宋体" panose="02010600030101010101" pitchFamily="2" charset="-122"/>
              <a:ea typeface="楷体" panose="02010609060101010101" charset="-122"/>
            </a:endParaRPr>
          </a:p>
          <a:p>
            <a:pPr marL="342900" indent="-342900">
              <a:buFont typeface="+mj-lt"/>
              <a:buAutoNum type="arabicPeriod"/>
            </a:pPr>
            <a:r>
              <a:rPr lang="zh-CN" altLang="en-US" sz="1400" dirty="0">
                <a:latin typeface="宋体" panose="02010600030101010101" pitchFamily="2" charset="-122"/>
                <a:ea typeface="楷体" panose="02010609060101010101" charset="-122"/>
              </a:rPr>
              <a:t>把握关键词语，进行笔记</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ea typeface="楷体" panose="02010609060101010101" charset="-122"/>
              </a:rPr>
              <a:t>总结</a:t>
            </a:r>
          </a:p>
        </p:txBody>
      </p:sp>
      <p:sp>
        <p:nvSpPr>
          <p:cNvPr id="4" name="文本框 3"/>
          <p:cNvSpPr txBox="1"/>
          <p:nvPr/>
        </p:nvSpPr>
        <p:spPr>
          <a:xfrm>
            <a:off x="683260" y="2708910"/>
            <a:ext cx="7929245" cy="2436495"/>
          </a:xfrm>
          <a:prstGeom prst="rect">
            <a:avLst/>
          </a:prstGeom>
          <a:noFill/>
        </p:spPr>
        <p:txBody>
          <a:bodyPr wrap="square" rtlCol="0">
            <a:noAutofit/>
          </a:bodyPr>
          <a:lstStyle/>
          <a:p>
            <a:r>
              <a:rPr lang="zh-CN" altLang="en-US" sz="1400" dirty="0">
                <a:latin typeface="宋体" panose="02010600030101010101" pitchFamily="2" charset="-122"/>
                <a:ea typeface="楷体" panose="02010609060101010101" charset="-122"/>
              </a:rPr>
              <a:t>尽管听力填表部分仅是整张考卷的一部分，但并不代表在考试的一开始，考生就要将精力全部投入，进行合理的资源分配，心态调控才是把握整场考试的关键，走好一步，才能以更佳的精神面貌应对其余题目，以上便是此节共享学报的全部内容。</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4F97B49-37FC-4B7B-9C51-8568963F5D66}"/>
              </a:ext>
            </a:extLst>
          </p:cNvPr>
          <p:cNvSpPr>
            <a:spLocks noGrp="1"/>
          </p:cNvSpPr>
          <p:nvPr>
            <p:ph type="ctrTitle" idx="3"/>
          </p:nvPr>
        </p:nvSpPr>
        <p:spPr>
          <a:xfrm>
            <a:off x="827584" y="4005064"/>
            <a:ext cx="7772400" cy="1933575"/>
          </a:xfrm>
        </p:spPr>
        <p:txBody>
          <a:bodyPr/>
          <a:lstStyle/>
          <a:p>
            <a:r>
              <a:rPr lang="en-US" altLang="zh-CN" dirty="0"/>
              <a:t>THE END</a:t>
            </a:r>
            <a:endParaRPr lang="zh-CN" altLang="en-US" dirty="0"/>
          </a:p>
        </p:txBody>
      </p:sp>
    </p:spTree>
    <p:extLst>
      <p:ext uri="{BB962C8B-B14F-4D97-AF65-F5344CB8AC3E}">
        <p14:creationId xmlns:p14="http://schemas.microsoft.com/office/powerpoint/2010/main" val="2322198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YyZGRjNDI0N2NlMjc1ZDMzYTAxNWI5NDZmZDRhMTEifQ=="/>
</p:tagLst>
</file>

<file path=ppt/theme/theme1.xml><?xml version="1.0" encoding="utf-8"?>
<a:theme xmlns:a="http://schemas.openxmlformats.org/drawingml/2006/main" name="1_ overriden">
  <a:themeElements>
    <a:clrScheme name="">
      <a:dk1>
        <a:srgbClr val="000000"/>
      </a:dk1>
      <a:lt1>
        <a:srgbClr val="FFFFFF"/>
      </a:lt1>
      <a:dk2>
        <a:srgbClr val="000000"/>
      </a:dk2>
      <a:lt2>
        <a:srgbClr val="808080"/>
      </a:lt2>
      <a:accent1>
        <a:srgbClr val="CCCCFF"/>
      </a:accent1>
      <a:accent2>
        <a:srgbClr val="D9D8EC"/>
      </a:accent2>
      <a:accent3>
        <a:srgbClr val="9BBB59"/>
      </a:accent3>
      <a:accent4>
        <a:srgbClr val="8064A2"/>
      </a:accent4>
      <a:accent5>
        <a:srgbClr val="4BACC6"/>
      </a:accent5>
      <a:accent6>
        <a:srgbClr val="F79646"/>
      </a:accent6>
      <a:hlink>
        <a:srgbClr val="6767FF"/>
      </a:hlink>
      <a:folHlink>
        <a:srgbClr val="9933FF"/>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000000"/>
        </a:dk1>
        <a:lt1>
          <a:srgbClr val="FFFFFF"/>
        </a:lt1>
        <a:dk2>
          <a:srgbClr val="000000"/>
        </a:dk2>
        <a:lt2>
          <a:srgbClr val="808080"/>
        </a:lt2>
        <a:accent1>
          <a:srgbClr val="CCCCFF"/>
        </a:accent1>
        <a:accent2>
          <a:srgbClr val="D9D8EC"/>
        </a:accent2>
        <a:accent3>
          <a:srgbClr val="9BBB59"/>
        </a:accent3>
        <a:accent4>
          <a:srgbClr val="8064A2"/>
        </a:accent4>
        <a:accent5>
          <a:srgbClr val="4BACC6"/>
        </a:accent5>
        <a:accent6>
          <a:srgbClr val="F7964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66633"/>
        </a:dk2>
        <a:lt2>
          <a:srgbClr val="5F5F5F"/>
        </a:lt2>
        <a:accent1>
          <a:srgbClr val="FFCC00"/>
        </a:accent1>
        <a:accent2>
          <a:srgbClr val="EFF0B2"/>
        </a:accent2>
        <a:accent3>
          <a:srgbClr val="9BBB59"/>
        </a:accent3>
        <a:accent4>
          <a:srgbClr val="8064A2"/>
        </a:accent4>
        <a:accent5>
          <a:srgbClr val="4BACC6"/>
        </a:accent5>
        <a:accent6>
          <a:srgbClr val="F79646"/>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666699"/>
        </a:lt2>
        <a:accent1>
          <a:srgbClr val="9BB0CB"/>
        </a:accent1>
        <a:accent2>
          <a:srgbClr val="D1E0CE"/>
        </a:accent2>
        <a:accent3>
          <a:srgbClr val="9BBB59"/>
        </a:accent3>
        <a:accent4>
          <a:srgbClr val="8064A2"/>
        </a:accent4>
        <a:accent5>
          <a:srgbClr val="4BACC6"/>
        </a:accent5>
        <a:accent6>
          <a:srgbClr val="F79646"/>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
        <a:dk1>
          <a:srgbClr val="FFFFCC"/>
        </a:dk1>
        <a:lt1>
          <a:srgbClr val="336600"/>
        </a:lt1>
        <a:dk2>
          <a:srgbClr val="FFFFCC"/>
        </a:dk2>
        <a:lt2>
          <a:srgbClr val="333300"/>
        </a:lt2>
        <a:accent1>
          <a:srgbClr val="99CC00"/>
        </a:accent1>
        <a:accent2>
          <a:srgbClr val="669900"/>
        </a:accent2>
        <a:accent3>
          <a:srgbClr val="9BBB59"/>
        </a:accent3>
        <a:accent4>
          <a:srgbClr val="8064A2"/>
        </a:accent4>
        <a:accent5>
          <a:srgbClr val="4BACC6"/>
        </a:accent5>
        <a:accent6>
          <a:srgbClr val="F79646"/>
        </a:accent6>
        <a:hlink>
          <a:srgbClr val="CC9900"/>
        </a:hlink>
        <a:folHlink>
          <a:srgbClr val="FFCC00"/>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FFFFFF"/>
        </a:dk2>
        <a:lt2>
          <a:srgbClr val="424458"/>
        </a:lt2>
        <a:accent1>
          <a:srgbClr val="83B200"/>
        </a:accent1>
        <a:accent2>
          <a:srgbClr val="006260"/>
        </a:accent2>
        <a:accent3>
          <a:srgbClr val="9BBB59"/>
        </a:accent3>
        <a:accent4>
          <a:srgbClr val="8064A2"/>
        </a:accent4>
        <a:accent5>
          <a:srgbClr val="4BACC6"/>
        </a:accent5>
        <a:accent6>
          <a:srgbClr val="F79646"/>
        </a:accent6>
        <a:hlink>
          <a:srgbClr val="6666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1C2046"/>
        </a:lt1>
        <a:dk2>
          <a:srgbClr val="FFFFFF"/>
        </a:dk2>
        <a:lt2>
          <a:srgbClr val="000000"/>
        </a:lt2>
        <a:accent1>
          <a:srgbClr val="00CCFF"/>
        </a:accent1>
        <a:accent2>
          <a:srgbClr val="2D226E"/>
        </a:accent2>
        <a:accent3>
          <a:srgbClr val="9BBB59"/>
        </a:accent3>
        <a:accent4>
          <a:srgbClr val="8064A2"/>
        </a:accent4>
        <a:accent5>
          <a:srgbClr val="4BACC6"/>
        </a:accent5>
        <a:accent6>
          <a:srgbClr val="F79646"/>
        </a:accent6>
        <a:hlink>
          <a:srgbClr val="666699"/>
        </a:hlink>
        <a:folHlink>
          <a:srgbClr val="9999FF"/>
        </a:folHlink>
      </a:clrScheme>
      <a:clrMap bg1="lt1" tx1="dk1" bg2="lt2" tx2="dk2" accent1="accent1" accent2="accent2" accent3="accent3" accent4="accent4" accent5="accent5" accent6="accent6" hlink="hlink" folHlink="folHlink"/>
    </a:extraClrScheme>
    <a:extraClrScheme>
      <a:clrScheme name="">
        <a:dk1>
          <a:srgbClr val="FFFFFF"/>
        </a:dk1>
        <a:lt1>
          <a:srgbClr val="000066"/>
        </a:lt1>
        <a:dk2>
          <a:srgbClr val="FFFFFF"/>
        </a:dk2>
        <a:lt2>
          <a:srgbClr val="424458"/>
        </a:lt2>
        <a:accent1>
          <a:srgbClr val="6666FF"/>
        </a:accent1>
        <a:accent2>
          <a:srgbClr val="333399"/>
        </a:accent2>
        <a:accent3>
          <a:srgbClr val="9BBB59"/>
        </a:accent3>
        <a:accent4>
          <a:srgbClr val="8064A2"/>
        </a:accent4>
        <a:accent5>
          <a:srgbClr val="4BACC6"/>
        </a:accent5>
        <a:accent6>
          <a:srgbClr val="F79646"/>
        </a:accent6>
        <a:hlink>
          <a:srgbClr val="FF9900"/>
        </a:hlink>
        <a:folHlink>
          <a:srgbClr val="CCCC00"/>
        </a:folHlink>
      </a:clrScheme>
      <a:clrMap bg1="lt1" tx1="dk1" bg2="lt2" tx2="dk2" accent1="accent1" accent2="accent2" accent3="accent3" accent4="accent4" accent5="accent5" accent6="accent6" hlink="hlink" folHlink="folHlink"/>
    </a:extraClrScheme>
    <a:extraClrScheme>
      <a:clrScheme name="">
        <a:dk1>
          <a:srgbClr val="FFFFCC"/>
        </a:dk1>
        <a:lt1>
          <a:srgbClr val="390B20"/>
        </a:lt1>
        <a:dk2>
          <a:srgbClr val="FFFFCC"/>
        </a:dk2>
        <a:lt2>
          <a:srgbClr val="1C1C1C"/>
        </a:lt2>
        <a:accent1>
          <a:srgbClr val="FF916F"/>
        </a:accent1>
        <a:accent2>
          <a:srgbClr val="561450"/>
        </a:accent2>
        <a:accent3>
          <a:srgbClr val="9BBB59"/>
        </a:accent3>
        <a:accent4>
          <a:srgbClr val="8064A2"/>
        </a:accent4>
        <a:accent5>
          <a:srgbClr val="4BACC6"/>
        </a:accent5>
        <a:accent6>
          <a:srgbClr val="F79646"/>
        </a:accent6>
        <a:hlink>
          <a:srgbClr val="637D95"/>
        </a:hlink>
        <a:folHlink>
          <a:srgbClr val="FFCC00"/>
        </a:folHlink>
      </a:clrScheme>
      <a:clrMap bg1="lt1" tx1="dk1" bg2="lt2" tx2="dk2" accent1="accent1" accent2="accent2" accent3="accent3" accent4="accent4" accent5="accent5" accent6="accent6" hlink="hlink" folHlink="folHlink"/>
    </a:extraClrScheme>
    <a:extraClrScheme>
      <a:clrScheme name="">
        <a:dk1>
          <a:srgbClr val="FFFFFF"/>
        </a:dk1>
        <a:lt1>
          <a:srgbClr val="722104"/>
        </a:lt1>
        <a:dk2>
          <a:srgbClr val="FFFFFF"/>
        </a:dk2>
        <a:lt2>
          <a:srgbClr val="4C0000"/>
        </a:lt2>
        <a:accent1>
          <a:srgbClr val="CC6600"/>
        </a:accent1>
        <a:accent2>
          <a:srgbClr val="8A2E00"/>
        </a:accent2>
        <a:accent3>
          <a:srgbClr val="9BBB59"/>
        </a:accent3>
        <a:accent4>
          <a:srgbClr val="8064A2"/>
        </a:accent4>
        <a:accent5>
          <a:srgbClr val="4BACC6"/>
        </a:accent5>
        <a:accent6>
          <a:srgbClr val="F79646"/>
        </a:accent6>
        <a:hlink>
          <a:srgbClr val="FFCC00"/>
        </a:hlink>
        <a:folHlink>
          <a:srgbClr val="FF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CCCFF"/>
        </a:accent1>
        <a:accent2>
          <a:srgbClr val="D9D8EC"/>
        </a:accent2>
        <a:accent3>
          <a:srgbClr val="9BBB59"/>
        </a:accent3>
        <a:accent4>
          <a:srgbClr val="8064A2"/>
        </a:accent4>
        <a:accent5>
          <a:srgbClr val="4BACC6"/>
        </a:accent5>
        <a:accent6>
          <a:srgbClr val="F7964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66633"/>
        </a:dk2>
        <a:lt2>
          <a:srgbClr val="5F5F5F"/>
        </a:lt2>
        <a:accent1>
          <a:srgbClr val="FFCC00"/>
        </a:accent1>
        <a:accent2>
          <a:srgbClr val="EFF0B2"/>
        </a:accent2>
        <a:accent3>
          <a:srgbClr val="9BBB59"/>
        </a:accent3>
        <a:accent4>
          <a:srgbClr val="8064A2"/>
        </a:accent4>
        <a:accent5>
          <a:srgbClr val="4BACC6"/>
        </a:accent5>
        <a:accent6>
          <a:srgbClr val="F79646"/>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666699"/>
        </a:lt2>
        <a:accent1>
          <a:srgbClr val="9BB0CB"/>
        </a:accent1>
        <a:accent2>
          <a:srgbClr val="D1E0CE"/>
        </a:accent2>
        <a:accent3>
          <a:srgbClr val="9BBB59"/>
        </a:accent3>
        <a:accent4>
          <a:srgbClr val="8064A2"/>
        </a:accent4>
        <a:accent5>
          <a:srgbClr val="4BACC6"/>
        </a:accent5>
        <a:accent6>
          <a:srgbClr val="F79646"/>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
        <a:dk1>
          <a:srgbClr val="FFFFCC"/>
        </a:dk1>
        <a:lt1>
          <a:srgbClr val="336600"/>
        </a:lt1>
        <a:dk2>
          <a:srgbClr val="FFFFCC"/>
        </a:dk2>
        <a:lt2>
          <a:srgbClr val="333300"/>
        </a:lt2>
        <a:accent1>
          <a:srgbClr val="99CC00"/>
        </a:accent1>
        <a:accent2>
          <a:srgbClr val="669900"/>
        </a:accent2>
        <a:accent3>
          <a:srgbClr val="9BBB59"/>
        </a:accent3>
        <a:accent4>
          <a:srgbClr val="8064A2"/>
        </a:accent4>
        <a:accent5>
          <a:srgbClr val="4BACC6"/>
        </a:accent5>
        <a:accent6>
          <a:srgbClr val="F79646"/>
        </a:accent6>
        <a:hlink>
          <a:srgbClr val="CC9900"/>
        </a:hlink>
        <a:folHlink>
          <a:srgbClr val="FFCC00"/>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FFFFFF"/>
        </a:dk2>
        <a:lt2>
          <a:srgbClr val="424458"/>
        </a:lt2>
        <a:accent1>
          <a:srgbClr val="83B200"/>
        </a:accent1>
        <a:accent2>
          <a:srgbClr val="006260"/>
        </a:accent2>
        <a:accent3>
          <a:srgbClr val="9BBB59"/>
        </a:accent3>
        <a:accent4>
          <a:srgbClr val="8064A2"/>
        </a:accent4>
        <a:accent5>
          <a:srgbClr val="4BACC6"/>
        </a:accent5>
        <a:accent6>
          <a:srgbClr val="F79646"/>
        </a:accent6>
        <a:hlink>
          <a:srgbClr val="6666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1C2046"/>
        </a:lt1>
        <a:dk2>
          <a:srgbClr val="FFFFFF"/>
        </a:dk2>
        <a:lt2>
          <a:srgbClr val="000000"/>
        </a:lt2>
        <a:accent1>
          <a:srgbClr val="00CCFF"/>
        </a:accent1>
        <a:accent2>
          <a:srgbClr val="2D226E"/>
        </a:accent2>
        <a:accent3>
          <a:srgbClr val="9BBB59"/>
        </a:accent3>
        <a:accent4>
          <a:srgbClr val="8064A2"/>
        </a:accent4>
        <a:accent5>
          <a:srgbClr val="4BACC6"/>
        </a:accent5>
        <a:accent6>
          <a:srgbClr val="F79646"/>
        </a:accent6>
        <a:hlink>
          <a:srgbClr val="666699"/>
        </a:hlink>
        <a:folHlink>
          <a:srgbClr val="9999FF"/>
        </a:folHlink>
      </a:clrScheme>
      <a:clrMap bg1="lt1" tx1="dk1" bg2="lt2" tx2="dk2" accent1="accent1" accent2="accent2" accent3="accent3" accent4="accent4" accent5="accent5" accent6="accent6" hlink="hlink" folHlink="folHlink"/>
    </a:extraClrScheme>
    <a:extraClrScheme>
      <a:clrScheme name="">
        <a:dk1>
          <a:srgbClr val="FFFFFF"/>
        </a:dk1>
        <a:lt1>
          <a:srgbClr val="000066"/>
        </a:lt1>
        <a:dk2>
          <a:srgbClr val="FFFFFF"/>
        </a:dk2>
        <a:lt2>
          <a:srgbClr val="424458"/>
        </a:lt2>
        <a:accent1>
          <a:srgbClr val="6666FF"/>
        </a:accent1>
        <a:accent2>
          <a:srgbClr val="333399"/>
        </a:accent2>
        <a:accent3>
          <a:srgbClr val="9BBB59"/>
        </a:accent3>
        <a:accent4>
          <a:srgbClr val="8064A2"/>
        </a:accent4>
        <a:accent5>
          <a:srgbClr val="4BACC6"/>
        </a:accent5>
        <a:accent6>
          <a:srgbClr val="F79646"/>
        </a:accent6>
        <a:hlink>
          <a:srgbClr val="FF9900"/>
        </a:hlink>
        <a:folHlink>
          <a:srgbClr val="CCCC00"/>
        </a:folHlink>
      </a:clrScheme>
      <a:clrMap bg1="lt1" tx1="dk1" bg2="lt2" tx2="dk2" accent1="accent1" accent2="accent2" accent3="accent3" accent4="accent4" accent5="accent5" accent6="accent6" hlink="hlink" folHlink="folHlink"/>
    </a:extraClrScheme>
    <a:extraClrScheme>
      <a:clrScheme name="">
        <a:dk1>
          <a:srgbClr val="FFFFCC"/>
        </a:dk1>
        <a:lt1>
          <a:srgbClr val="390B20"/>
        </a:lt1>
        <a:dk2>
          <a:srgbClr val="FFFFCC"/>
        </a:dk2>
        <a:lt2>
          <a:srgbClr val="1C1C1C"/>
        </a:lt2>
        <a:accent1>
          <a:srgbClr val="FF916F"/>
        </a:accent1>
        <a:accent2>
          <a:srgbClr val="561450"/>
        </a:accent2>
        <a:accent3>
          <a:srgbClr val="9BBB59"/>
        </a:accent3>
        <a:accent4>
          <a:srgbClr val="8064A2"/>
        </a:accent4>
        <a:accent5>
          <a:srgbClr val="4BACC6"/>
        </a:accent5>
        <a:accent6>
          <a:srgbClr val="F79646"/>
        </a:accent6>
        <a:hlink>
          <a:srgbClr val="637D95"/>
        </a:hlink>
        <a:folHlink>
          <a:srgbClr val="FFCC00"/>
        </a:folHlink>
      </a:clrScheme>
      <a:clrMap bg1="lt1" tx1="dk1" bg2="lt2" tx2="dk2" accent1="accent1" accent2="accent2" accent3="accent3" accent4="accent4" accent5="accent5" accent6="accent6" hlink="hlink" folHlink="folHlink"/>
    </a:extraClrScheme>
    <a:extraClrScheme>
      <a:clrScheme name="">
        <a:dk1>
          <a:srgbClr val="FFFFFF"/>
        </a:dk1>
        <a:lt1>
          <a:srgbClr val="722104"/>
        </a:lt1>
        <a:dk2>
          <a:srgbClr val="FFFFFF"/>
        </a:dk2>
        <a:lt2>
          <a:srgbClr val="4C0000"/>
        </a:lt2>
        <a:accent1>
          <a:srgbClr val="CC6600"/>
        </a:accent1>
        <a:accent2>
          <a:srgbClr val="8A2E00"/>
        </a:accent2>
        <a:accent3>
          <a:srgbClr val="9BBB59"/>
        </a:accent3>
        <a:accent4>
          <a:srgbClr val="8064A2"/>
        </a:accent4>
        <a:accent5>
          <a:srgbClr val="4BACC6"/>
        </a:accent5>
        <a:accent6>
          <a:srgbClr val="F79646"/>
        </a:accent6>
        <a:hlink>
          <a:srgbClr val="FFCC00"/>
        </a:hlink>
        <a:folHlink>
          <a:srgbClr val="FF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Watermark</Template>
  <TotalTime>15</TotalTime>
  <Words>6800</Words>
  <Application>Microsoft Office PowerPoint</Application>
  <PresentationFormat>全屏显示(4:3)</PresentationFormat>
  <Paragraphs>346</Paragraphs>
  <Slides>70</Slides>
  <Notes>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70</vt:i4>
      </vt:variant>
    </vt:vector>
  </HeadingPairs>
  <TitlesOfParts>
    <vt:vector size="76" baseType="lpstr">
      <vt:lpstr>宋体</vt:lpstr>
      <vt:lpstr>Arial</vt:lpstr>
      <vt:lpstr>Calibri</vt:lpstr>
      <vt:lpstr>Times New Roman</vt:lpstr>
      <vt:lpstr>Wingdings</vt:lpstr>
      <vt:lpstr>1_ overriden</vt:lpstr>
      <vt:lpstr>PowerPoint 演示文稿</vt:lpstr>
      <vt:lpstr>PART 1</vt:lpstr>
      <vt:lpstr>PowerPoint 演示文稿</vt:lpstr>
      <vt:lpstr>PowerPoint 演示文稿</vt:lpstr>
      <vt:lpstr> </vt:lpstr>
      <vt:lpstr>PowerPoint 演示文稿</vt:lpstr>
      <vt:lpstr>PowerPoint 演示文稿</vt:lpstr>
      <vt:lpstr> </vt:lpstr>
      <vt:lpstr>次要推展句</vt:lpstr>
      <vt:lpstr>PowerPoint 演示文稿</vt:lpstr>
      <vt:lpstr>PowerPoint 演示文稿</vt:lpstr>
      <vt:lpstr>段落发展的几种手段 </vt:lpstr>
      <vt:lpstr> </vt:lpstr>
      <vt:lpstr> </vt:lpstr>
      <vt:lpstr> </vt:lpstr>
      <vt:lpstr> </vt:lpstr>
      <vt:lpstr> </vt:lpstr>
      <vt:lpstr> </vt:lpstr>
      <vt:lpstr>PowerPoint 演示文稿</vt:lpstr>
      <vt:lpstr> </vt:lpstr>
      <vt:lpstr> </vt:lpstr>
      <vt:lpstr> </vt:lpstr>
      <vt:lpstr>PowerPoint 演示文稿</vt:lpstr>
      <vt:lpstr>结尾段</vt:lpstr>
      <vt:lpstr>几种写结尾段最常用方法： </vt:lpstr>
      <vt:lpstr> </vt:lpstr>
      <vt:lpstr> </vt:lpstr>
      <vt:lpstr>PowerPoint 演示文稿</vt:lpstr>
      <vt:lpstr>用于做出结论的短语及句型：</vt:lpstr>
      <vt:lpstr>PowerPoint 演示文稿</vt:lpstr>
      <vt:lpstr>PowerPoint 演示文稿</vt:lpstr>
      <vt:lpstr>PowerPoint 演示文稿</vt:lpstr>
      <vt:lpstr> </vt:lpstr>
      <vt:lpstr> </vt:lpstr>
      <vt:lpstr> </vt:lpstr>
      <vt:lpstr>例文分析：</vt:lpstr>
      <vt:lpstr> </vt:lpstr>
      <vt:lpstr> </vt:lpstr>
      <vt:lpstr> </vt:lpstr>
      <vt:lpstr> </vt:lpstr>
      <vt:lpstr>PART 2</vt:lpstr>
      <vt:lpstr>I</vt:lpstr>
      <vt:lpstr> </vt:lpstr>
      <vt:lpstr> </vt:lpstr>
      <vt:lpstr> </vt:lpstr>
      <vt:lpstr> </vt:lpstr>
      <vt:lpstr> </vt:lpstr>
      <vt:lpstr> </vt:lpstr>
      <vt:lpstr> </vt:lpstr>
      <vt:lpstr> </vt:lpstr>
      <vt:lpstr> </vt:lpstr>
      <vt:lpstr> </vt:lpstr>
      <vt:lpstr>II</vt:lpstr>
      <vt:lpstr> </vt:lpstr>
      <vt:lpstr> </vt:lpstr>
      <vt:lpstr> </vt:lpstr>
      <vt:lpstr> </vt:lpstr>
      <vt:lpstr> </vt:lpstr>
      <vt:lpstr> </vt:lpstr>
      <vt:lpstr> </vt:lpstr>
      <vt:lpstr> </vt:lpstr>
      <vt:lpstr> </vt:lpstr>
      <vt:lpstr>PART 3</vt:lpstr>
      <vt:lpstr>引言</vt:lpstr>
      <vt:lpstr>考场上的心态管理</vt:lpstr>
      <vt:lpstr>答题技巧</vt:lpstr>
      <vt:lpstr>例题解析1</vt:lpstr>
      <vt:lpstr>例题解析2</vt:lpstr>
      <vt:lpstr>总结</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Admin</cp:lastModifiedBy>
  <cp:revision>62</cp:revision>
  <dcterms:created xsi:type="dcterms:W3CDTF">2023-12-25T11:09:00Z</dcterms:created>
  <dcterms:modified xsi:type="dcterms:W3CDTF">2023-12-26T02:46:28Z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B99B95B30C31409BBC3DD83FAC29F800_13</vt:lpwstr>
  </property>
  <property fmtid="{D5CDD505-2E9C-101B-9397-08002B2CF9AE}" pid="4" name="KSOProductBuildVer">
    <vt:lpwstr>2052-12.1.0.16120</vt:lpwstr>
  </property>
</Properties>
</file>