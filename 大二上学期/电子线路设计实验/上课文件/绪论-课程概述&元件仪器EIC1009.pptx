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3" r:id="rId3"/>
    <p:sldMasterId id="2147483685" r:id="rId4"/>
  </p:sldMasterIdLst>
  <p:notesMasterIdLst>
    <p:notesMasterId r:id="rId64"/>
  </p:notesMasterIdLst>
  <p:handoutMasterIdLst>
    <p:handoutMasterId r:id="rId65"/>
  </p:handoutMasterIdLst>
  <p:sldIdLst>
    <p:sldId id="312" r:id="rId5"/>
    <p:sldId id="360" r:id="rId6"/>
    <p:sldId id="672" r:id="rId7"/>
    <p:sldId id="553" r:id="rId8"/>
    <p:sldId id="719" r:id="rId9"/>
    <p:sldId id="376" r:id="rId10"/>
    <p:sldId id="395" r:id="rId11"/>
    <p:sldId id="393" r:id="rId12"/>
    <p:sldId id="396" r:id="rId13"/>
    <p:sldId id="392" r:id="rId14"/>
    <p:sldId id="669" r:id="rId15"/>
    <p:sldId id="673" r:id="rId16"/>
    <p:sldId id="538" r:id="rId17"/>
    <p:sldId id="468" r:id="rId18"/>
    <p:sldId id="441" r:id="rId19"/>
    <p:sldId id="479" r:id="rId20"/>
    <p:sldId id="407" r:id="rId21"/>
    <p:sldId id="525" r:id="rId22"/>
    <p:sldId id="631" r:id="rId23"/>
    <p:sldId id="524" r:id="rId24"/>
    <p:sldId id="412" r:id="rId25"/>
    <p:sldId id="442" r:id="rId26"/>
    <p:sldId id="419" r:id="rId27"/>
    <p:sldId id="437" r:id="rId28"/>
    <p:sldId id="549" r:id="rId29"/>
    <p:sldId id="533" r:id="rId30"/>
    <p:sldId id="670" r:id="rId31"/>
    <p:sldId id="473" r:id="rId32"/>
    <p:sldId id="676" r:id="rId33"/>
    <p:sldId id="453" r:id="rId34"/>
    <p:sldId id="455" r:id="rId35"/>
    <p:sldId id="457" r:id="rId36"/>
    <p:sldId id="671" r:id="rId37"/>
    <p:sldId id="666" r:id="rId38"/>
    <p:sldId id="466" r:id="rId39"/>
    <p:sldId id="621" r:id="rId40"/>
    <p:sldId id="629" r:id="rId41"/>
    <p:sldId id="558" r:id="rId42"/>
    <p:sldId id="623" r:id="rId43"/>
    <p:sldId id="551" r:id="rId44"/>
    <p:sldId id="506" r:id="rId45"/>
    <p:sldId id="526" r:id="rId46"/>
    <p:sldId id="511" r:id="rId47"/>
    <p:sldId id="559" r:id="rId48"/>
    <p:sldId id="560" r:id="rId49"/>
    <p:sldId id="512" r:id="rId50"/>
    <p:sldId id="718" r:id="rId51"/>
    <p:sldId id="518" r:id="rId52"/>
    <p:sldId id="535" r:id="rId53"/>
    <p:sldId id="554" r:id="rId54"/>
    <p:sldId id="668" r:id="rId55"/>
    <p:sldId id="370" r:id="rId56"/>
    <p:sldId id="675" r:id="rId57"/>
    <p:sldId id="345" r:id="rId58"/>
    <p:sldId id="677" r:id="rId59"/>
    <p:sldId id="717" r:id="rId60"/>
    <p:sldId id="550" r:id="rId61"/>
    <p:sldId id="470" r:id="rId62"/>
    <p:sldId id="546" r:id="rId63"/>
  </p:sldIdLst>
  <p:sldSz cx="9144000" cy="6858000" type="screen4x3"/>
  <p:notesSz cx="9926638" cy="6669088"/>
  <p:custDataLst>
    <p:tags r:id="rId66"/>
  </p:custDataLst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13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n Ming" initials="PM" lastIdx="2" clrIdx="0"/>
  <p:cmAuthor id="2" name="PanXM" initials="P" lastIdx="1" clrIdx="1">
    <p:extLst>
      <p:ext uri="{19B8F6BF-5375-455C-9EA6-DF929625EA0E}">
        <p15:presenceInfo xmlns:p15="http://schemas.microsoft.com/office/powerpoint/2012/main" userId="db71c69218b0f2c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722FA"/>
    <a:srgbClr val="0000FF"/>
    <a:srgbClr val="FF9900"/>
    <a:srgbClr val="8AE6AD"/>
    <a:srgbClr val="5644FE"/>
    <a:srgbClr val="F0FE9C"/>
    <a:srgbClr val="FFFFCC"/>
    <a:srgbClr val="969696"/>
    <a:srgbClr val="C8FFC8"/>
    <a:srgbClr val="82CC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2" autoAdjust="0"/>
    <p:restoredTop sz="91566" autoAdjust="0"/>
  </p:normalViewPr>
  <p:slideViewPr>
    <p:cSldViewPr>
      <p:cViewPr varScale="1">
        <p:scale>
          <a:sx n="80" d="100"/>
          <a:sy n="80" d="100"/>
        </p:scale>
        <p:origin x="1310" y="67"/>
      </p:cViewPr>
      <p:guideLst>
        <p:guide orient="horz" pos="2160"/>
        <p:guide pos="2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45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gs" Target="tags/tag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notesMaster" Target="notesMasters/notesMaster1.xml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1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1338" y="0"/>
            <a:ext cx="4303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6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34125"/>
            <a:ext cx="43021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6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1338" y="6334125"/>
            <a:ext cx="4303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DB73A74-6064-4BD9-9506-BF38BCD3FD47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1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4513" y="0"/>
            <a:ext cx="43021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95650" y="500063"/>
            <a:ext cx="3335338" cy="2501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3975" y="3167063"/>
            <a:ext cx="7278688" cy="300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35713"/>
            <a:ext cx="43021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4513" y="6335713"/>
            <a:ext cx="43021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37605B6-D285-40DF-BC7A-D69FC6790432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DBD52CB-F473-4BA9-958C-4A743B6E6DA5}" type="slidenum">
              <a:rPr lang="en-US" altLang="zh-CN" smtClean="0">
                <a:latin typeface="Times New Roman" panose="02020603050405020304" pitchFamily="18" charset="0"/>
              </a:rPr>
              <a:t>3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6B6AAA0-963D-4650-81A5-C463E731C0B4}" type="slidenum">
              <a:rPr lang="en-US" altLang="zh-CN" smtClean="0">
                <a:latin typeface="Times New Roman" panose="02020603050405020304" pitchFamily="18" charset="0"/>
              </a:rPr>
              <a:t>4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6B6AAA0-963D-4650-81A5-C463E731C0B4}" type="slidenum">
              <a:rPr lang="en-US" altLang="zh-CN" smtClean="0">
                <a:latin typeface="Times New Roman" panose="02020603050405020304" pitchFamily="18" charset="0"/>
              </a:rPr>
              <a:t>5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17860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2EE4C98-8DC7-4FAB-8A42-F6586DECD49B}" type="slidenum">
              <a:rPr lang="en-US" altLang="zh-CN" smtClean="0">
                <a:latin typeface="Times New Roman" panose="02020603050405020304" pitchFamily="18" charset="0"/>
              </a:rPr>
              <a:t>10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lvl="1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b="0" kern="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耐压值</a:t>
            </a:r>
            <a:r>
              <a:rPr lang="zh-CN" altLang="en-US" sz="1200" b="0" kern="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－</a:t>
            </a:r>
            <a:r>
              <a:rPr lang="zh-CN" altLang="en-US" sz="1200" b="0" kern="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如果</a:t>
            </a:r>
            <a:r>
              <a:rPr lang="zh-CN" altLang="en-US" sz="1200" b="0" ker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加在电容</a:t>
            </a:r>
            <a:r>
              <a:rPr lang="zh-CN" altLang="en-US" sz="1200" b="0" kern="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两端的正向电压超过此值，电容可能会被击穿而损坏。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605B6-D285-40DF-BC7A-D69FC6790432}" type="slidenum">
              <a:rPr lang="en-US" altLang="zh-CN" smtClean="0"/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605B6-D285-40DF-BC7A-D69FC6790432}" type="slidenum">
              <a:rPr lang="en-US" altLang="zh-CN" smtClean="0"/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latin typeface="隶书" panose="02010509060101010101" pitchFamily="49" charset="-122"/>
                <a:ea typeface="隶书" panose="02010509060101010101" pitchFamily="49" charset="-122"/>
              </a:rPr>
              <a:t> 请拿出玩游戏找攻略的劲头练习仪器操作。</a:t>
            </a:r>
            <a:endParaRPr lang="zh-CN" altLang="zh-CN" sz="1200">
              <a:solidFill>
                <a:srgbClr val="3333CC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605B6-D285-40DF-BC7A-D69FC6790432}" type="slidenum">
              <a:rPr lang="en-US" altLang="zh-CN" smtClean="0"/>
              <a:t>27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37605B6-D285-40DF-BC7A-D69FC6790432}" type="slidenum">
              <a:rPr lang="en-US" altLang="zh-CN" smtClean="0"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05777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稳压电源中间的</a:t>
            </a:r>
            <a:r>
              <a:rPr lang="en-US" altLang="zh-CN" dirty="0"/>
              <a:t>GND</a:t>
            </a:r>
            <a:r>
              <a:rPr lang="zh-CN" altLang="en-US" dirty="0"/>
              <a:t>和电测实验共地 无关 无关 无关。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605B6-D285-40DF-BC7A-D69FC6790432}" type="slidenum">
              <a:rPr lang="en-US" altLang="zh-CN" smtClean="0"/>
              <a:t>33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37605B6-D285-40DF-BC7A-D69FC6790432}" type="slidenum">
              <a:rPr lang="en-US" altLang="zh-CN" smtClean="0"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42951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37605B6-D285-40DF-BC7A-D69FC6790432}" type="slidenum">
              <a:rPr lang="en-US" altLang="zh-CN" smtClean="0"/>
              <a:t>46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100" b="0" dirty="0"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1C4516E-BA39-4CBF-921F-D1A8D615D42E}" type="slidenum">
              <a:rPr kumimoji="0" lang="zh-CN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47</a:t>
            </a:fld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37605B6-D285-40DF-BC7A-D69FC6790432}" type="slidenum">
              <a:rPr lang="en-US" altLang="zh-CN" smtClean="0"/>
              <a:t>48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37605B6-D285-40DF-BC7A-D69FC6790432}" type="slidenum">
              <a:rPr lang="en-US" altLang="zh-CN" smtClean="0"/>
              <a:t>56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B0DA1A-4888-42C6-857D-129590971E06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57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体会：实验中所遇到的问题、原因分析，解决方法与解决效果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605B6-D285-40DF-BC7A-D69FC6790432}" type="slidenum">
              <a:rPr lang="en-US" altLang="zh-CN" smtClean="0"/>
              <a:t>58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50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850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46FCA26A-5763-4442-90AC-1125BB42D8E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3FFE6D-27BD-44C1-8B31-58E66B9DD80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009E1B-26BD-4765-883D-2F64955CD75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7450" y="1412875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9850" y="1412875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E9FA93-B35A-4E57-8C77-CAEDA42E64E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9A2FDA-1154-449C-826A-0F754AA6572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DF68A0-EC6E-4470-A0A4-BD02354C454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E74B08-6F65-4273-AEE6-028CB0F17F8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81D854-11BB-49D1-AFC3-185BB65877A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B0D99-2172-4E7A-AE92-E7BC6F72A08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C30BAD-50EC-44E0-8A88-73BAF32B4DC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8813" y="214313"/>
            <a:ext cx="1951037" cy="53133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5475" cy="53133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5AED5A-2F65-4F12-AB6E-F8B47BDC04B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9826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7450" y="1412875"/>
            <a:ext cx="77724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2D6776-A3B4-4309-AD2D-4A91B7A1BCE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0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3" y="68"/>
              <a:ext cx="449" cy="299"/>
              <a:chOff x="0" y="0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1" y="334"/>
              <a:ext cx="466" cy="299"/>
              <a:chOff x="0" y="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20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fld id="{F12C0F6A-FB13-4533-ABB4-ED02E110BDDD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CA421F-82FE-41AD-9B85-C18CBAA9AAB5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A11A8C-8E8B-48D0-94C0-B340946E3509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7450" y="1412875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9850" y="1412875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304FD6-FA17-400A-ACE3-83E1FE2513E1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0BF0A-CE7B-41CE-AB55-17DC1011354F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486D9-3312-4719-AE9A-43E3A05ACDD4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61E81A-2FD9-4D67-A3B0-46EFE68BBF77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E08DDD-1C3A-45DF-AF9C-3AC56A0AEBD7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35FBF2-5E73-4842-9755-95DAF234D302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27426-C48A-4BD3-8F16-CC82781A1D60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8813" y="214313"/>
            <a:ext cx="1951037" cy="53133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5475" cy="53133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DCC40A-3F1E-421A-917D-CC119B7FD5A8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125538"/>
            <a:ext cx="4141787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9475" y="1125538"/>
            <a:ext cx="4141788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3063" y="188913"/>
            <a:ext cx="2108200" cy="6264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188913"/>
            <a:ext cx="6175375" cy="6264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FFC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zh-CN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zh-CN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zh-CN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zh-CN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zh-CN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zh-CN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68313" y="12684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zh-CN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98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7450" y="1412875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397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8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8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303F8158-304C-4E38-A6A9-ED1ECD73325F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chemeClr val="bg1"/>
            </a:gs>
            <a:gs pos="100000">
              <a:srgbClr val="CCFF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Font typeface="Arial" panose="020B0604020202020204" pitchFamily="34" charset="0"/>
              <a:buNone/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Font typeface="Arial" panose="020B0604020202020204" pitchFamily="34" charset="0"/>
              <a:buNone/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Font typeface="Arial" panose="020B0604020202020204" pitchFamily="34" charset="0"/>
              <a:buNone/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Font typeface="Arial" panose="020B0604020202020204" pitchFamily="34" charset="0"/>
              <a:buNone/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Font typeface="Arial" panose="020B0604020202020204" pitchFamily="34" charset="0"/>
              <a:buNone/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Font typeface="Arial" panose="020B0604020202020204" pitchFamily="34" charset="0"/>
              <a:buNone/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468313" y="12684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Font typeface="Arial" panose="020B0604020202020204" pitchFamily="34" charset="0"/>
              <a:buNone/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205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98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7450" y="1412875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56AC49E9-863E-47AA-B9F4-B8BDBAB9A141}" type="slidenum">
              <a:rPr lang="zh-CN" altLang="zh-CN"/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CCFFCC">
                <a:gamma/>
                <a:tint val="34902"/>
                <a:invGamma/>
              </a:srgbClr>
            </a:gs>
            <a:gs pos="100000">
              <a:srgbClr val="CCFF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2"/>
          <p:cNvSpPr>
            <a:spLocks noChangeShapeType="1"/>
          </p:cNvSpPr>
          <p:nvPr/>
        </p:nvSpPr>
        <p:spPr bwMode="auto">
          <a:xfrm>
            <a:off x="88900" y="914400"/>
            <a:ext cx="8978900" cy="0"/>
          </a:xfrm>
          <a:prstGeom prst="line">
            <a:avLst/>
          </a:prstGeom>
          <a:noFill/>
          <a:ln w="63500">
            <a:solidFill>
              <a:srgbClr val="FFCC00"/>
            </a:solidFill>
            <a:round/>
          </a:ln>
          <a:effectLst>
            <a:outerShdw dist="17961" dir="2700000" algn="ctr" rotWithShape="0">
              <a:srgbClr val="997A00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187" name="Line 3"/>
          <p:cNvSpPr>
            <a:spLocks noChangeShapeType="1"/>
          </p:cNvSpPr>
          <p:nvPr/>
        </p:nvSpPr>
        <p:spPr bwMode="auto">
          <a:xfrm>
            <a:off x="88900" y="6604000"/>
            <a:ext cx="89789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>
            <a:outerShdw dist="17961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8913"/>
            <a:ext cx="8229600" cy="777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125538"/>
            <a:ext cx="8435975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33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33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华文新魏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33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华文新魏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33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华文新魏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33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华文新魏" panose="0201080004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33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华文新魏" panose="0201080004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33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华文新魏" panose="0201080004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33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华文新魏" panose="0201080004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33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panxm@mail.hust.edu.cn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../" TargetMode="Externa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../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3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4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64.png"/><Relationship Id="rId5" Type="http://schemas.openxmlformats.org/officeDocument/2006/relationships/image" Target="../media/image63.wmf"/><Relationship Id="rId4" Type="http://schemas.openxmlformats.org/officeDocument/2006/relationships/oleObject" Target="../embeddings/oleObject6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5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67.png"/><Relationship Id="rId5" Type="http://schemas.microsoft.com/office/2007/relationships/hdphoto" Target="../media/hdphoto2.wdp"/><Relationship Id="rId4" Type="http://schemas.openxmlformats.org/officeDocument/2006/relationships/image" Target="../media/image66.png"/><Relationship Id="rId9" Type="http://schemas.openxmlformats.org/officeDocument/2006/relationships/image" Target="../media/image7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1116013" y="1412875"/>
            <a:ext cx="7127875" cy="474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6000" b="1" dirty="0">
                <a:solidFill>
                  <a:schemeClr val="tx2"/>
                </a:solidFill>
                <a:latin typeface="Arial" panose="020B0604020202020204" pitchFamily="34" charset="0"/>
              </a:rPr>
              <a:t>电子线路测试与实验</a:t>
            </a:r>
            <a:endParaRPr kumimoji="1" lang="zh-CN" altLang="en-US" sz="6000" b="1" dirty="0">
              <a:solidFill>
                <a:schemeClr val="tx2"/>
              </a:solidFill>
            </a:endParaRPr>
          </a:p>
          <a:p>
            <a:pPr>
              <a:spcBef>
                <a:spcPct val="50000"/>
              </a:spcBef>
              <a:buClr>
                <a:schemeClr val="hlink"/>
              </a:buClr>
              <a:buSzPct val="110000"/>
            </a:pPr>
            <a:r>
              <a:rPr kumimoji="1" lang="zh-CN" altLang="en-US" sz="4000">
                <a:ea typeface="华文楷体" panose="02010600040101010101" pitchFamily="2" charset="-122"/>
              </a:rPr>
              <a:t>电信学院实验中心：</a:t>
            </a:r>
            <a:r>
              <a:rPr kumimoji="1" lang="zh-CN" altLang="en-US" sz="4000" b="1" dirty="0">
                <a:ea typeface="华文楷体" panose="02010600040101010101" pitchFamily="2" charset="-122"/>
              </a:rPr>
              <a:t>潘晓明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kumimoji="1"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  <a:hlinkClick r:id="rId2"/>
              </a:rPr>
              <a:t>panxm@mail.hust.edu.cn</a:t>
            </a:r>
            <a:endParaRPr kumimoji="1" lang="en-US" altLang="zh-CN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kumimoji="1" lang="en-US" altLang="zh-CN" sz="3200" b="1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kumimoji="1" lang="zh-CN" altLang="en-US" sz="3200" b="1">
                <a:solidFill>
                  <a:schemeClr val="folHlink"/>
                </a:solidFill>
                <a:latin typeface="Times New Roman" panose="02020603050405020304" pitchFamily="18" charset="0"/>
              </a:rPr>
              <a:t>请</a:t>
            </a:r>
            <a:r>
              <a:rPr kumimoji="1"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来的同学按 </a:t>
            </a:r>
            <a:r>
              <a:rPr kumimoji="1" lang="zh-CN" altLang="en-US" sz="3200" b="1" u="sng" dirty="0">
                <a:solidFill>
                  <a:schemeClr val="folHlink"/>
                </a:solidFill>
                <a:latin typeface="Times New Roman" panose="02020603050405020304" pitchFamily="18" charset="0"/>
              </a:rPr>
              <a:t>学号顺序 </a:t>
            </a:r>
            <a:r>
              <a:rPr kumimoji="1"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就座并签到！</a:t>
            </a:r>
          </a:p>
          <a:p>
            <a:pPr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华文楷体" panose="02010600040101010101" pitchFamily="2" charset="-122"/>
              </a:rPr>
              <a:t>参照</a:t>
            </a:r>
            <a:r>
              <a:rPr kumimoji="1" lang="en-US" altLang="zh-CN" sz="2400">
                <a:latin typeface="Times New Roman" panose="02020603050405020304" pitchFamily="18" charset="0"/>
                <a:ea typeface="华文楷体" panose="02010600040101010101" pitchFamily="2" charset="-122"/>
              </a:rPr>
              <a:t>HUB</a:t>
            </a:r>
            <a:r>
              <a:rPr kumimoji="1" lang="zh-CN" altLang="en-US" sz="2400">
                <a:latin typeface="Times New Roman" panose="02020603050405020304" pitchFamily="18" charset="0"/>
                <a:ea typeface="华文楷体" panose="02010600040101010101" pitchFamily="2" charset="-122"/>
              </a:rPr>
              <a:t>系统名单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另请班长报</a:t>
            </a:r>
            <a:r>
              <a:rPr kumimoji="1" lang="zh-CN" altLang="en-US" sz="2400">
                <a:latin typeface="Times New Roman" panose="02020603050405020304" pitchFamily="18" charset="0"/>
                <a:ea typeface="华文楷体" panose="02010600040101010101" pitchFamily="2" charset="-122"/>
              </a:rPr>
              <a:t>联系电话加</a:t>
            </a:r>
            <a:r>
              <a:rPr kumimoji="1" lang="en-US" altLang="zh-CN" sz="2400">
                <a:latin typeface="Times New Roman" panose="02020603050405020304" pitchFamily="18" charset="0"/>
                <a:ea typeface="华文楷体" panose="02010600040101010101" pitchFamily="2" charset="-122"/>
              </a:rPr>
              <a:t>QQ</a:t>
            </a:r>
            <a:endParaRPr kumimoji="1" lang="zh-CN" altLang="en-US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绪论</a:t>
            </a:r>
          </a:p>
        </p:txBody>
      </p:sp>
      <p:sp>
        <p:nvSpPr>
          <p:cNvPr id="6147" name="Rectangle 4"/>
          <p:cNvSpPr>
            <a:spLocks noChangeArrowheads="1"/>
          </p:cNvSpPr>
          <p:nvPr/>
        </p:nvSpPr>
        <p:spPr bwMode="auto">
          <a:xfrm>
            <a:off x="1476375" y="1412875"/>
            <a:ext cx="6553200" cy="5008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kumimoji="1" lang="en-US" altLang="zh-CN" sz="3200" b="1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</a:t>
            </a:r>
            <a:r>
              <a:rPr kumimoji="1" lang="zh-CN" altLang="en-US" sz="3600" b="1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课程规则</a:t>
            </a:r>
          </a:p>
          <a:p>
            <a:pPr marL="914400" lvl="1" indent="-457200" algn="l">
              <a:lnSpc>
                <a:spcPct val="12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Char char="Ø"/>
            </a:pPr>
            <a:r>
              <a:rPr kumimoji="1" lang="zh-CN" altLang="en-US" sz="32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课程概述</a:t>
            </a:r>
            <a:endParaRPr kumimoji="1" lang="en-US" altLang="zh-CN" sz="3200" b="1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914400" lvl="1" indent="-457200" algn="l">
              <a:lnSpc>
                <a:spcPct val="12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Char char="Ø"/>
            </a:pPr>
            <a:r>
              <a:rPr kumimoji="1" lang="zh-CN" altLang="en-US" sz="32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实验室有关规定</a:t>
            </a:r>
          </a:p>
          <a:p>
            <a:pPr marL="914400" lvl="1" indent="-457200" algn="l">
              <a:lnSpc>
                <a:spcPct val="12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Char char="Ø"/>
            </a:pPr>
            <a:r>
              <a:rPr kumimoji="1" lang="zh-CN" altLang="en-US" sz="32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课程安排</a:t>
            </a:r>
            <a:endParaRPr kumimoji="1" lang="en-US" altLang="zh-CN" sz="3200" b="1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914400" lvl="1" indent="-457200" algn="l">
              <a:lnSpc>
                <a:spcPct val="12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Char char="Ø"/>
            </a:pPr>
            <a:r>
              <a:rPr kumimoji="1" lang="zh-CN" altLang="en-US" sz="32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实验报告及</a:t>
            </a:r>
            <a:r>
              <a:rPr kumimoji="1" lang="en-US" altLang="zh-CN" sz="32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MOOC</a:t>
            </a:r>
            <a:r>
              <a:rPr kumimoji="1" lang="zh-CN" altLang="en-US" sz="32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要求</a:t>
            </a:r>
            <a:endParaRPr kumimoji="1" lang="zh-CN" altLang="en-US" sz="3200" b="1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2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kumimoji="1" lang="zh-CN" altLang="en-US" sz="3200" b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</a:t>
            </a:r>
            <a:r>
              <a:rPr kumimoji="1" lang="zh-CN" altLang="en-US" sz="320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常用器件的识别</a:t>
            </a:r>
            <a:endParaRPr kumimoji="1" lang="zh-CN" altLang="en-US" sz="3200">
              <a:solidFill>
                <a:schemeClr val="bg1">
                  <a:lumMod val="65000"/>
                </a:schemeClr>
              </a:solidFill>
              <a:ea typeface="黑体" panose="02010609060101010101" pitchFamily="2" charset="-122"/>
            </a:endParaRPr>
          </a:p>
          <a:p>
            <a:pPr algn="l">
              <a:lnSpc>
                <a:spcPct val="12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kumimoji="1" lang="zh-CN" altLang="en-US" sz="3200" b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</a:t>
            </a:r>
            <a:r>
              <a:rPr kumimoji="1" lang="zh-CN" altLang="en-US" sz="3200" b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常用仪器的使用</a:t>
            </a:r>
          </a:p>
          <a:p>
            <a:pPr algn="l">
              <a:lnSpc>
                <a:spcPct val="12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kumimoji="1" lang="zh-CN" altLang="en-US" sz="3200" b="1">
                <a:solidFill>
                  <a:schemeClr val="bg1">
                    <a:lumMod val="6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</a:t>
            </a:r>
            <a:r>
              <a:rPr kumimoji="1" lang="zh-CN" altLang="en-US" sz="3200" b="1">
                <a:solidFill>
                  <a:schemeClr val="bg1">
                    <a:lumMod val="6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实验</a:t>
            </a:r>
            <a:r>
              <a:rPr kumimoji="1" lang="en-US" altLang="zh-CN" sz="3200" b="1">
                <a:solidFill>
                  <a:schemeClr val="bg1">
                    <a:lumMod val="6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endParaRPr kumimoji="1" lang="zh-CN" altLang="en-US" sz="3200" b="1">
              <a:solidFill>
                <a:schemeClr val="bg1">
                  <a:lumMod val="6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308850" cy="982662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chemeClr val="tx1"/>
                </a:solidFill>
                <a:ea typeface="华文楷体" panose="02010600040101010101" pitchFamily="2" charset="-122"/>
              </a:rPr>
              <a:t>课程概述</a:t>
            </a:r>
            <a:endParaRPr kumimoji="1" lang="zh-CN" altLang="en-US" sz="4000">
              <a:solidFill>
                <a:schemeClr val="tx1"/>
              </a:solidFill>
              <a:ea typeface="华文楷体" panose="02010600040101010101" pitchFamily="2" charset="-122"/>
            </a:endParaRPr>
          </a:p>
        </p:txBody>
      </p:sp>
      <p:sp>
        <p:nvSpPr>
          <p:cNvPr id="7171" name="Rectangle 7"/>
          <p:cNvSpPr>
            <a:spLocks noChangeArrowheads="1"/>
          </p:cNvSpPr>
          <p:nvPr/>
        </p:nvSpPr>
        <p:spPr bwMode="auto">
          <a:xfrm>
            <a:off x="1403648" y="1496005"/>
            <a:ext cx="7308850" cy="2267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课程名称</a:t>
            </a:r>
            <a:r>
              <a:rPr lang="zh-CN" altLang="en-US" sz="2800" dirty="0">
                <a:latin typeface="宋体" panose="02010600030101010101" pitchFamily="2" charset="-122"/>
              </a:rPr>
              <a:t>： </a:t>
            </a:r>
          </a:p>
          <a:p>
            <a:pPr marL="342900" indent="-342900" algn="l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《</a:t>
            </a:r>
            <a:r>
              <a:rPr lang="zh-CN" altLang="en-US" sz="2800" b="1" dirty="0">
                <a:latin typeface="宋体" panose="02010600030101010101" pitchFamily="2" charset="-122"/>
              </a:rPr>
              <a:t>电子线路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</a:rPr>
              <a:t>设计</a:t>
            </a:r>
            <a:r>
              <a:rPr lang="zh-CN" altLang="en-US" sz="2800" b="1" dirty="0">
                <a:latin typeface="宋体" panose="02010600030101010101" pitchFamily="2" charset="-122"/>
              </a:rPr>
              <a:t>、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测试</a:t>
            </a:r>
            <a:r>
              <a:rPr lang="zh-CN" altLang="en-US" sz="2800" b="1" dirty="0">
                <a:latin typeface="宋体" panose="02010600030101010101" pitchFamily="2" charset="-122"/>
              </a:rPr>
              <a:t>与实验</a:t>
            </a:r>
            <a:r>
              <a:rPr lang="en-US" altLang="zh-CN" sz="2800" b="1" dirty="0">
                <a:latin typeface="宋体" panose="02010600030101010101" pitchFamily="2" charset="-122"/>
              </a:rPr>
              <a:t>》</a:t>
            </a:r>
          </a:p>
          <a:p>
            <a:pPr marL="342900" indent="-342900" algn="l"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教材：</a:t>
            </a:r>
            <a:r>
              <a:rPr lang="zh-CN" altLang="zh-CN" sz="2800" dirty="0">
                <a:latin typeface="+mn-ea"/>
                <a:ea typeface="+mn-ea"/>
              </a:rPr>
              <a:t>罗杰、谢自美，电子工业出版社；</a:t>
            </a:r>
            <a:endParaRPr lang="en-US" altLang="zh-CN" sz="2800" dirty="0">
              <a:latin typeface="+mn-ea"/>
              <a:ea typeface="+mn-ea"/>
            </a:endParaRP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110000"/>
            </a:pPr>
            <a:r>
              <a:rPr lang="zh-CN" altLang="zh-CN" sz="2800" dirty="0">
                <a:latin typeface="+mn-ea"/>
                <a:ea typeface="+mn-ea"/>
              </a:rPr>
              <a:t>《电子线路设计</a:t>
            </a:r>
            <a:r>
              <a:rPr lang="en-US" altLang="zh-CN" sz="2800" dirty="0">
                <a:latin typeface="+mn-ea"/>
                <a:ea typeface="+mn-ea"/>
              </a:rPr>
              <a:t>.</a:t>
            </a:r>
            <a:r>
              <a:rPr lang="zh-CN" altLang="zh-CN" sz="2800" dirty="0">
                <a:latin typeface="+mn-ea"/>
                <a:ea typeface="+mn-ea"/>
              </a:rPr>
              <a:t>实验</a:t>
            </a:r>
            <a:r>
              <a:rPr lang="en-US" altLang="zh-CN" sz="2800" dirty="0">
                <a:latin typeface="+mn-ea"/>
                <a:ea typeface="+mn-ea"/>
              </a:rPr>
              <a:t>.</a:t>
            </a:r>
            <a:r>
              <a:rPr lang="zh-CN" altLang="zh-CN" sz="2800" dirty="0">
                <a:latin typeface="+mn-ea"/>
                <a:ea typeface="+mn-ea"/>
              </a:rPr>
              <a:t>测试》第</a:t>
            </a:r>
            <a:r>
              <a:rPr lang="en-US" altLang="zh-CN" sz="2800" dirty="0">
                <a:latin typeface="+mn-ea"/>
                <a:ea typeface="+mn-ea"/>
              </a:rPr>
              <a:t>5</a:t>
            </a:r>
            <a:r>
              <a:rPr lang="zh-CN" altLang="zh-CN" sz="2800" dirty="0">
                <a:latin typeface="+mn-ea"/>
                <a:ea typeface="+mn-ea"/>
              </a:rPr>
              <a:t>版，</a:t>
            </a:r>
            <a:r>
              <a:rPr lang="en-US" altLang="zh-CN" sz="2800" dirty="0">
                <a:latin typeface="+mn-ea"/>
                <a:ea typeface="+mn-ea"/>
              </a:rPr>
              <a:t>2015</a:t>
            </a:r>
            <a:r>
              <a:rPr lang="zh-CN" altLang="en-US" sz="2800" dirty="0">
                <a:latin typeface="+mn-ea"/>
                <a:ea typeface="+mn-ea"/>
              </a:rPr>
              <a:t>年</a:t>
            </a:r>
            <a:endParaRPr lang="en-US" altLang="zh-CN" sz="2800" dirty="0">
              <a:latin typeface="+mn-ea"/>
              <a:ea typeface="+mn-ea"/>
            </a:endParaRPr>
          </a:p>
        </p:txBody>
      </p:sp>
      <p:sp>
        <p:nvSpPr>
          <p:cNvPr id="180233" name="Rectangle 9"/>
          <p:cNvSpPr>
            <a:spLocks noChangeArrowheads="1"/>
          </p:cNvSpPr>
          <p:nvPr/>
        </p:nvSpPr>
        <p:spPr bwMode="auto">
          <a:xfrm>
            <a:off x="1403648" y="3763873"/>
            <a:ext cx="7344816" cy="2879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 algn="l">
              <a:spcBef>
                <a:spcPts val="18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课程性质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 algn="l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宋体" panose="02010600030101010101" pitchFamily="2" charset="-122"/>
              </a:rPr>
              <a:t>独立操作为主</a:t>
            </a:r>
            <a:r>
              <a:rPr lang="zh-CN" altLang="en-US" sz="2800" dirty="0">
                <a:latin typeface="宋体" panose="02010600030101010101" pitchFamily="2" charset="-122"/>
              </a:rPr>
              <a:t>，平台专业基础课</a:t>
            </a:r>
          </a:p>
          <a:p>
            <a:pPr marL="457200" indent="-457200" algn="l">
              <a:lnSpc>
                <a:spcPct val="110000"/>
              </a:lnSpc>
              <a:spcBef>
                <a:spcPts val="12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宋体" panose="02010600030101010101" pitchFamily="2" charset="-122"/>
              </a:rPr>
              <a:t>基于</a:t>
            </a:r>
            <a:r>
              <a:rPr lang="zh-CN" altLang="en-US" sz="2800" b="1" dirty="0">
                <a:solidFill>
                  <a:srgbClr val="0070C0"/>
                </a:solidFill>
                <a:latin typeface="宋体" panose="02010600030101010101" pitchFamily="2" charset="-122"/>
              </a:rPr>
              <a:t>电路基础、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模电</a:t>
            </a:r>
            <a:r>
              <a:rPr lang="zh-CN" altLang="en-US" sz="2800" b="1" dirty="0">
                <a:solidFill>
                  <a:srgbClr val="0070C0"/>
                </a:solidFill>
                <a:latin typeface="宋体" panose="02010600030101010101" pitchFamily="2" charset="-122"/>
              </a:rPr>
              <a:t>、数电 </a:t>
            </a:r>
            <a:r>
              <a:rPr lang="zh-CN" altLang="en-US" sz="2800" b="1" dirty="0">
                <a:latin typeface="宋体" panose="02010600030101010101" pitchFamily="2" charset="-122"/>
              </a:rPr>
              <a:t>理论课程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marL="457200" indent="-457200" algn="l">
              <a:lnSpc>
                <a:spcPct val="110000"/>
              </a:lnSpc>
              <a:spcBef>
                <a:spcPts val="12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宋体" panose="02010600030101010101" pitchFamily="2" charset="-122"/>
              </a:rPr>
              <a:t>不是插板子的手工课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marL="457200" indent="-457200" algn="l">
              <a:lnSpc>
                <a:spcPct val="110000"/>
              </a:lnSpc>
              <a:spcBef>
                <a:spcPts val="12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宋体" panose="02010600030101010101" pitchFamily="2" charset="-122"/>
              </a:rPr>
              <a:t>设计性虽是初步，但非验证性实验</a:t>
            </a:r>
          </a:p>
        </p:txBody>
      </p:sp>
      <p:pic>
        <p:nvPicPr>
          <p:cNvPr id="6" name="图片 1">
            <a:extLst>
              <a:ext uri="{FF2B5EF4-FFF2-40B4-BE49-F238E27FC236}">
                <a16:creationId xmlns:a16="http://schemas.microsoft.com/office/drawing/2014/main" id="{73971370-DAD1-4DFC-81EB-29AA0B60A8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107" y="1988840"/>
            <a:ext cx="3352800" cy="452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0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0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0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0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02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02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0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0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02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02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33" grpId="0" uiExpand="1" build="p" autoUpdateAnimBg="0" advAuto="100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FFC8">
                <a:lumMod val="100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549275"/>
            <a:ext cx="7742237" cy="655638"/>
          </a:xfrm>
        </p:spPr>
        <p:txBody>
          <a:bodyPr/>
          <a:lstStyle/>
          <a:p>
            <a:pPr eaLnBrk="1" hangingPunct="1"/>
            <a:r>
              <a:rPr lang="zh-CN" altLang="en-US" b="1" dirty="0">
                <a:ea typeface="华文楷体" panose="02010600040101010101" pitchFamily="2" charset="-122"/>
              </a:rPr>
              <a:t>课程目标</a:t>
            </a:r>
            <a:r>
              <a:rPr lang="zh-CN" altLang="en-US" dirty="0">
                <a:ea typeface="华文楷体" panose="02010600040101010101" pitchFamily="2" charset="-122"/>
              </a:rPr>
              <a:t>即大家努力方向</a:t>
            </a:r>
          </a:p>
        </p:txBody>
      </p:sp>
      <p:sp>
        <p:nvSpPr>
          <p:cNvPr id="8195" name="Rectangle 5"/>
          <p:cNvSpPr>
            <a:spLocks noChangeArrowheads="1"/>
          </p:cNvSpPr>
          <p:nvPr/>
        </p:nvSpPr>
        <p:spPr bwMode="auto">
          <a:xfrm>
            <a:off x="1187450" y="1412776"/>
            <a:ext cx="7454900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l">
              <a:lnSpc>
                <a:spcPct val="130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能正确使用常用电子</a:t>
            </a:r>
            <a:r>
              <a:rPr lang="zh-CN" altLang="en-US" sz="2400" dirty="0">
                <a:solidFill>
                  <a:srgbClr val="2722FA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仪器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，如示波器、信号发生器、稳压电源、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……</a:t>
            </a:r>
          </a:p>
          <a:p>
            <a:pPr marL="342900" indent="-342900" algn="l">
              <a:lnSpc>
                <a:spcPct val="130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掌握</a:t>
            </a:r>
            <a:r>
              <a:rPr lang="zh-CN" altLang="en-US" sz="2400" dirty="0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电路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基本测试技术，如信号主要参数测试，电路静态动态参数测试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……</a:t>
            </a:r>
          </a:p>
          <a:p>
            <a:pPr marL="342900" indent="-342900" algn="l">
              <a:lnSpc>
                <a:spcPct val="130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能正确处理实验</a:t>
            </a:r>
            <a:r>
              <a:rPr lang="zh-CN" altLang="en-US" sz="2400" dirty="0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，进行误差分析，写出符合要求的实验报告。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 algn="l">
              <a:lnSpc>
                <a:spcPct val="130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能（上网）查阅电子器件</a:t>
            </a:r>
            <a:r>
              <a:rPr lang="zh-CN" altLang="en-US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资料</a:t>
            </a:r>
            <a:endParaRPr lang="en-US" altLang="zh-CN" sz="2400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 algn="l">
              <a:lnSpc>
                <a:spcPct val="130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初步学会分析、寻找和排除电路</a:t>
            </a:r>
            <a:r>
              <a:rPr lang="zh-CN" altLang="en-US" sz="2400" dirty="0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故障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方法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 algn="l">
              <a:lnSpc>
                <a:spcPct val="130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初步学会电路</a:t>
            </a:r>
            <a:r>
              <a:rPr lang="zh-CN" altLang="en-US" sz="2400" dirty="0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仿真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EDA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工具软件的使用，能对模拟或数字电路进行仿真、分析和辅助设计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 algn="l">
              <a:lnSpc>
                <a:spcPct val="130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初步积累小电路</a:t>
            </a:r>
            <a:r>
              <a:rPr lang="zh-CN" altLang="en-US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系统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的设计、组装和调试经验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/>
      <p:bldP spid="819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FFC8">
                <a:lumMod val="100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549275"/>
            <a:ext cx="7742237" cy="655638"/>
          </a:xfrm>
        </p:spPr>
        <p:txBody>
          <a:bodyPr/>
          <a:lstStyle/>
          <a:p>
            <a:pPr eaLnBrk="1" hangingPunct="1"/>
            <a:r>
              <a:rPr lang="zh-CN" altLang="en-US" b="1">
                <a:ea typeface="华文楷体" panose="02010600040101010101" pitchFamily="2" charset="-122"/>
              </a:rPr>
              <a:t>课程基本学习方法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8195" name="Rectangle 5"/>
          <p:cNvSpPr>
            <a:spLocks noChangeArrowheads="1"/>
          </p:cNvSpPr>
          <p:nvPr/>
        </p:nvSpPr>
        <p:spPr bwMode="auto">
          <a:xfrm>
            <a:off x="1187450" y="1412776"/>
            <a:ext cx="7454900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3200" b="1">
                <a:latin typeface="华文楷体" panose="02010600040101010101" pitchFamily="2" charset="-122"/>
                <a:ea typeface="华文楷体" panose="02010600040101010101" pitchFamily="2" charset="-122"/>
              </a:rPr>
              <a:t>综合运用所学 </a:t>
            </a:r>
            <a:r>
              <a:rPr lang="en-US" altLang="zh-CN" sz="3200" b="1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 </a:t>
            </a:r>
            <a:r>
              <a:rPr lang="zh-CN" altLang="en-US" sz="3200" b="1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实际小</a:t>
            </a:r>
            <a:r>
              <a:rPr lang="zh-CN" altLang="en-US" sz="3200" b="1">
                <a:latin typeface="华文楷体" panose="02010600040101010101" pitchFamily="2" charset="-122"/>
                <a:ea typeface="华文楷体" panose="02010600040101010101" pitchFamily="2" charset="-122"/>
              </a:rPr>
              <a:t>系统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800" b="1">
                <a:latin typeface="宋体" panose="02010600030101010101" pitchFamily="2" charset="-122"/>
              </a:rPr>
              <a:t>平时操作</a:t>
            </a:r>
            <a:r>
              <a:rPr lang="en-US" altLang="zh-CN" sz="2800" b="1">
                <a:latin typeface="宋体" panose="02010600030101010101" pitchFamily="2" charset="-122"/>
              </a:rPr>
              <a:t>==</a:t>
            </a:r>
            <a:r>
              <a:rPr lang="zh-CN" altLang="en-US" sz="2800" b="1">
                <a:latin typeface="宋体" panose="02010600030101010101" pitchFamily="2" charset="-122"/>
              </a:rPr>
              <a:t>练习锻炼 </a:t>
            </a:r>
            <a:r>
              <a:rPr lang="en-US" altLang="zh-CN" sz="2800" b="1">
                <a:latin typeface="宋体" panose="02010600030101010101" pitchFamily="2" charset="-122"/>
              </a:rPr>
              <a:t>— 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出问题</a:t>
            </a:r>
            <a:r>
              <a:rPr lang="zh-CN" altLang="en-US" sz="2800" b="1">
                <a:latin typeface="宋体" panose="02010600030101010101" pitchFamily="2" charset="-122"/>
              </a:rPr>
              <a:t>正常，好！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800" b="1">
                <a:latin typeface="宋体" panose="02010600030101010101" pitchFamily="2" charset="-122"/>
              </a:rPr>
              <a:t>靠习惯规范操作 </a:t>
            </a:r>
            <a:r>
              <a:rPr lang="en-US" altLang="zh-CN" sz="2800" b="1">
                <a:latin typeface="宋体" panose="02010600030101010101" pitchFamily="2" charset="-122"/>
                <a:sym typeface="Wingdings" panose="05000000000000000000" pitchFamily="2" charset="2"/>
              </a:rPr>
              <a:t> </a:t>
            </a:r>
            <a:r>
              <a:rPr lang="zh-CN" altLang="en-US" sz="2800" b="1">
                <a:latin typeface="宋体" panose="02010600030101010101" pitchFamily="2" charset="-122"/>
              </a:rPr>
              <a:t>减少低级问题概率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800" b="1">
                <a:latin typeface="宋体" panose="02010600030101010101" pitchFamily="2" charset="-122"/>
              </a:rPr>
              <a:t>分析、综合、解决、总结 </a:t>
            </a:r>
            <a:r>
              <a:rPr lang="en-US" altLang="zh-CN" sz="2800" b="1">
                <a:latin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zh-CN" altLang="en-US" sz="2800" b="1">
                <a:latin typeface="宋体" panose="02010600030101010101" pitchFamily="2" charset="-122"/>
              </a:rPr>
              <a:t> 提高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800" b="1">
                <a:latin typeface="宋体" panose="02010600030101010101" pitchFamily="2" charset="-122"/>
              </a:rPr>
              <a:t>主动思考、主动学习、主动实践 </a:t>
            </a:r>
            <a:r>
              <a:rPr lang="en-US" altLang="zh-CN" sz="2800" b="1">
                <a:latin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zh-CN" altLang="en-US" sz="2800" b="1">
                <a:latin typeface="宋体" panose="02010600030101010101" pitchFamily="2" charset="-122"/>
              </a:rPr>
              <a:t> 创新</a:t>
            </a:r>
          </a:p>
          <a:p>
            <a:pPr>
              <a:lnSpc>
                <a:spcPct val="150000"/>
              </a:lnSpc>
            </a:pPr>
            <a:endParaRPr lang="en-US" altLang="zh-CN" sz="2800" b="1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rgbClr val="C00000"/>
                </a:solidFill>
                <a:latin typeface="宋体" panose="02010600030101010101" pitchFamily="2" charset="-122"/>
              </a:rPr>
              <a:t>积极主动，勤动脑，稳动手，慢动嘴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5437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/>
      <p:bldP spid="819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476250"/>
            <a:ext cx="7793037" cy="720725"/>
          </a:xfrm>
        </p:spPr>
        <p:txBody>
          <a:bodyPr/>
          <a:lstStyle/>
          <a:p>
            <a:pPr eaLnBrk="1" hangingPunct="1"/>
            <a:r>
              <a:rPr lang="zh-CN" altLang="en-US" b="1">
                <a:ea typeface="华文楷体" panose="02010600040101010101" pitchFamily="2" charset="-122"/>
              </a:rPr>
              <a:t>实验课流程</a:t>
            </a:r>
            <a:r>
              <a:rPr lang="en-US" altLang="zh-CN">
                <a:ea typeface="华文楷体" panose="02010600040101010101" pitchFamily="2" charset="-122"/>
              </a:rPr>
              <a:t>—</a:t>
            </a:r>
            <a:r>
              <a:rPr lang="zh-CN" altLang="en-US" sz="4000">
                <a:latin typeface="华文楷体" panose="02010600040101010101" pitchFamily="2" charset="-122"/>
                <a:ea typeface="华文楷体" panose="02010600040101010101" pitchFamily="2" charset="-122"/>
              </a:rPr>
              <a:t>融合</a:t>
            </a:r>
            <a:r>
              <a:rPr lang="en-US" altLang="zh-CN" sz="4000" b="1">
                <a:latin typeface="华文楷体" panose="02010600040101010101" pitchFamily="2" charset="-122"/>
                <a:ea typeface="华文楷体" panose="02010600040101010101" pitchFamily="2" charset="-122"/>
              </a:rPr>
              <a:t>MOOC</a:t>
            </a:r>
            <a:endParaRPr lang="zh-CN" altLang="en-US" b="1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5617" y="1485602"/>
            <a:ext cx="7704856" cy="503974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b="1" dirty="0">
                <a:solidFill>
                  <a:srgbClr val="C00000"/>
                </a:solidFill>
                <a:ea typeface="华文楷体" panose="02010600040101010101" pitchFamily="2" charset="-122"/>
              </a:rPr>
              <a:t>课</a:t>
            </a:r>
            <a:r>
              <a:rPr lang="zh-CN" altLang="en-US" b="1">
                <a:solidFill>
                  <a:srgbClr val="C00000"/>
                </a:solidFill>
                <a:ea typeface="华文楷体" panose="02010600040101010101" pitchFamily="2" charset="-122"/>
              </a:rPr>
              <a:t>前</a:t>
            </a:r>
            <a:r>
              <a:rPr lang="zh-CN" altLang="en-US" sz="2800" b="1">
                <a:ea typeface="华文楷体" panose="02010600040101010101" pitchFamily="2" charset="-122"/>
              </a:rPr>
              <a:t>－预习</a:t>
            </a:r>
            <a:endParaRPr lang="zh-CN" altLang="en-US" sz="2800" b="1" dirty="0"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sz="2400" dirty="0">
                <a:ea typeface="华文楷体" panose="02010600040101010101" pitchFamily="2" charset="-122"/>
              </a:rPr>
              <a:t>       预习</a:t>
            </a:r>
            <a:r>
              <a:rPr lang="en-US" altLang="zh-CN" sz="2400" dirty="0">
                <a:ea typeface="华文楷体" panose="02010600040101010101" pitchFamily="2" charset="-122"/>
              </a:rPr>
              <a:t>=</a:t>
            </a:r>
            <a:r>
              <a:rPr lang="zh-CN" altLang="en-US" sz="2400" dirty="0">
                <a:ea typeface="华文楷体" panose="02010600040101010101" pitchFamily="2" charset="-122"/>
              </a:rPr>
              <a:t>复习：原理教材、实验教材、</a:t>
            </a:r>
            <a:r>
              <a:rPr lang="en-US" altLang="zh-CN" sz="2400" dirty="0">
                <a:ea typeface="华文楷体" panose="02010600040101010101" pitchFamily="2" charset="-122"/>
              </a:rPr>
              <a:t>MOOC</a:t>
            </a:r>
            <a:r>
              <a:rPr lang="zh-CN" altLang="en-US" sz="2400" dirty="0">
                <a:ea typeface="华文楷体" panose="02010600040101010101" pitchFamily="2" charset="-122"/>
              </a:rPr>
              <a:t>、网络资料等</a:t>
            </a:r>
            <a:r>
              <a:rPr lang="zh-CN" altLang="en-US" sz="2400">
                <a:ea typeface="华文楷体" panose="02010600040101010101" pitchFamily="2" charset="-122"/>
              </a:rPr>
              <a:t>。还有自行预插</a:t>
            </a:r>
            <a:r>
              <a:rPr lang="zh-CN" altLang="en-US" sz="2400" dirty="0">
                <a:ea typeface="华文楷体" panose="02010600040101010101" pitchFamily="2" charset="-122"/>
              </a:rPr>
              <a:t>板、试用软件</a:t>
            </a:r>
            <a:r>
              <a:rPr lang="en-US" altLang="zh-CN" sz="2400" dirty="0">
                <a:ea typeface="华文楷体" panose="02010600040101010101" pitchFamily="2" charset="-122"/>
              </a:rPr>
              <a:t> ……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sz="2400">
                <a:solidFill>
                  <a:srgbClr val="7030A0"/>
                </a:solidFill>
                <a:ea typeface="华文楷体" panose="02010600040101010101" pitchFamily="2" charset="-122"/>
              </a:rPr>
              <a:t>       </a:t>
            </a:r>
            <a:r>
              <a:rPr lang="zh-CN" altLang="en-US" sz="2400" b="1">
                <a:ea typeface="华文楷体" panose="02010600040101010101" pitchFamily="2" charset="-122"/>
              </a:rPr>
              <a:t>线</a:t>
            </a:r>
            <a:r>
              <a:rPr lang="zh-CN" altLang="en-US" sz="2400" b="1" dirty="0">
                <a:ea typeface="华文楷体" panose="02010600040101010101" pitchFamily="2" charset="-122"/>
              </a:rPr>
              <a:t>上提交</a:t>
            </a:r>
            <a:r>
              <a:rPr lang="zh-CN" altLang="en-US" sz="2400" b="1" dirty="0">
                <a:solidFill>
                  <a:srgbClr val="2722FA"/>
                </a:solidFill>
                <a:ea typeface="华文楷体" panose="02010600040101010101" pitchFamily="2" charset="-122"/>
              </a:rPr>
              <a:t>预习报告 </a:t>
            </a:r>
            <a:r>
              <a:rPr lang="en-US" altLang="zh-CN" sz="2400" b="1" dirty="0">
                <a:solidFill>
                  <a:srgbClr val="2722FA"/>
                </a:solidFill>
                <a:ea typeface="华文楷体" panose="02010600040101010101" pitchFamily="2" charset="-122"/>
              </a:rPr>
              <a:t>&amp; MOOC</a:t>
            </a:r>
            <a:r>
              <a:rPr lang="zh-CN" altLang="en-US" sz="2400" b="1">
                <a:solidFill>
                  <a:srgbClr val="2722FA"/>
                </a:solidFill>
                <a:ea typeface="华文楷体" panose="02010600040101010101" pitchFamily="2" charset="-122"/>
              </a:rPr>
              <a:t>章测试</a:t>
            </a:r>
            <a:endParaRPr lang="zh-CN" altLang="en-US" sz="2800" dirty="0"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b="1">
                <a:solidFill>
                  <a:srgbClr val="C00000"/>
                </a:solidFill>
                <a:ea typeface="华文楷体" panose="02010600040101010101" pitchFamily="2" charset="-122"/>
              </a:rPr>
              <a:t>课堂</a:t>
            </a:r>
            <a:r>
              <a:rPr lang="zh-CN" altLang="en-US" sz="2800" b="1">
                <a:ea typeface="华文楷体" panose="02010600040101010101" pitchFamily="2" charset="-122"/>
              </a:rPr>
              <a:t>－自己操作</a:t>
            </a:r>
            <a:endParaRPr lang="en-US" altLang="zh-CN" sz="2800">
              <a:ea typeface="华文楷体" panose="02010600040101010101" pitchFamily="2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kumimoji="1" lang="zh-CN" altLang="en-US" sz="2400" b="1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</a:t>
            </a:r>
            <a:r>
              <a: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基础要求尽量在规划课时内</a:t>
            </a:r>
            <a:r>
              <a:rPr kumimoji="1" lang="zh-CN" altLang="en-US" sz="2400" b="1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当场验收</a:t>
            </a:r>
            <a:r>
              <a: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当场以实验电路运行向老师演示规定要求的测试结果。确实无法按时完成，只能</a:t>
            </a:r>
            <a:r>
              <a: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阶段性验收；延后补全验收</a:t>
            </a: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，酌情扣分。</a:t>
            </a: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b="1" dirty="0">
                <a:solidFill>
                  <a:srgbClr val="C00000"/>
                </a:solidFill>
                <a:ea typeface="华文楷体" panose="02010600040101010101" pitchFamily="2" charset="-122"/>
              </a:rPr>
              <a:t>课后</a:t>
            </a:r>
            <a:r>
              <a:rPr lang="zh-CN" altLang="en-US" sz="2800" b="1" dirty="0">
                <a:ea typeface="华文楷体" panose="02010600040101010101" pitchFamily="2" charset="-122"/>
              </a:rPr>
              <a:t>－总结</a:t>
            </a:r>
            <a:r>
              <a:rPr lang="zh-CN" altLang="en-US" sz="2400" b="1" dirty="0">
                <a:ea typeface="华文楷体" panose="02010600040101010101" pitchFamily="2" charset="-122"/>
              </a:rPr>
              <a:t>～</a:t>
            </a:r>
            <a:r>
              <a:rPr lang="zh-CN" altLang="en-US" sz="2400" dirty="0">
                <a:ea typeface="华文楷体" panose="02010600040101010101" pitchFamily="2" charset="-122"/>
              </a:rPr>
              <a:t>不要犯同样的</a:t>
            </a:r>
            <a:r>
              <a:rPr lang="zh-CN" altLang="en-US" sz="2400">
                <a:ea typeface="华文楷体" panose="02010600040101010101" pitchFamily="2" charset="-122"/>
              </a:rPr>
              <a:t>错，线上交</a:t>
            </a:r>
            <a:r>
              <a:rPr lang="zh-CN" altLang="en-US" sz="2400" b="1">
                <a:solidFill>
                  <a:srgbClr val="2722FA"/>
                </a:solidFill>
                <a:ea typeface="华文楷体" panose="02010600040101010101" pitchFamily="2" charset="-122"/>
              </a:rPr>
              <a:t>实验</a:t>
            </a:r>
            <a:r>
              <a:rPr lang="zh-CN" altLang="en-US" sz="2400" b="1" dirty="0">
                <a:solidFill>
                  <a:srgbClr val="2722FA"/>
                </a:solidFill>
                <a:ea typeface="华文楷体" panose="02010600040101010101" pitchFamily="2" charset="-122"/>
              </a:rPr>
              <a:t>报告</a:t>
            </a:r>
            <a:endParaRPr lang="en-US" altLang="zh-CN" sz="2800" b="1" dirty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90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90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90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7" grpId="0" uiExpand="1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实验课有关规定（</a:t>
            </a:r>
            <a:r>
              <a:rPr lang="en-US" altLang="zh-CN" b="1"/>
              <a:t>1</a:t>
            </a:r>
            <a:r>
              <a:rPr lang="zh-CN" altLang="en-US" b="1"/>
              <a:t>）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7450" y="1412875"/>
            <a:ext cx="7200900" cy="5184775"/>
          </a:xfrm>
        </p:spPr>
        <p:txBody>
          <a:bodyPr/>
          <a:lstStyle/>
          <a:p>
            <a:pPr marL="360680" indent="-360680" eaLnBrk="1" hangingPunct="1">
              <a:lnSpc>
                <a:spcPct val="120000"/>
              </a:lnSpc>
            </a:pPr>
            <a:r>
              <a:rPr kumimoji="1" lang="zh-CN" altLang="en-US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请按时到课</a:t>
            </a:r>
            <a:endParaRPr kumimoji="1" lang="en-US" altLang="zh-CN" sz="2800" b="1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1339850" lvl="1" indent="-533400" eaLnBrk="1" hangingPunct="1">
              <a:lnSpc>
                <a:spcPct val="120000"/>
              </a:lnSpc>
            </a:pPr>
            <a:r>
              <a:rPr kumimoji="1" lang="zh-CN" altLang="en-US" sz="2200"/>
              <a:t>秋冬季时间（</a:t>
            </a:r>
            <a:r>
              <a:rPr kumimoji="1" lang="en-US" altLang="zh-CN" sz="2200"/>
              <a:t>10.1~4.30</a:t>
            </a:r>
            <a:r>
              <a:rPr kumimoji="1" lang="zh-CN" altLang="en-US" sz="2200"/>
              <a:t>）</a:t>
            </a:r>
          </a:p>
          <a:p>
            <a:pPr marL="1339850" lvl="1" indent="-5334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kumimoji="1" lang="zh-CN" altLang="en-US" sz="2200"/>
              <a:t>上午  </a:t>
            </a:r>
            <a:r>
              <a:rPr kumimoji="1" lang="en-US" altLang="zh-CN" sz="2200"/>
              <a:t>8:00~11:10    </a:t>
            </a:r>
            <a:r>
              <a:rPr kumimoji="1" lang="zh-CN" altLang="en-US" sz="2200"/>
              <a:t>下午</a:t>
            </a:r>
            <a:r>
              <a:rPr kumimoji="1" lang="en-US" altLang="zh-CN" sz="2200"/>
              <a:t>14:00~17:10</a:t>
            </a:r>
          </a:p>
          <a:p>
            <a:pPr marL="1339850" lvl="1" indent="-5334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kumimoji="1" lang="zh-CN" altLang="en-US" sz="2200"/>
              <a:t>晚上 </a:t>
            </a:r>
            <a:r>
              <a:rPr kumimoji="1" lang="en-US" altLang="zh-CN" sz="2200"/>
              <a:t>18:30~21:40   </a:t>
            </a:r>
            <a:r>
              <a:rPr kumimoji="1" lang="zh-CN" altLang="en-US" sz="2200"/>
              <a:t>含中间休息</a:t>
            </a:r>
            <a:r>
              <a:rPr kumimoji="1" lang="en-US" altLang="zh-CN" sz="2200"/>
              <a:t>10</a:t>
            </a:r>
            <a:r>
              <a:rPr kumimoji="1" lang="zh-CN" altLang="en-US" sz="2200"/>
              <a:t>分钟</a:t>
            </a:r>
          </a:p>
          <a:p>
            <a:pPr marL="1339850" lvl="1" indent="-533400" eaLnBrk="1" hangingPunct="1">
              <a:lnSpc>
                <a:spcPct val="120000"/>
              </a:lnSpc>
            </a:pPr>
            <a:r>
              <a:rPr kumimoji="1" lang="zh-CN" altLang="en-US" sz="2200"/>
              <a:t>夏季时间（</a:t>
            </a:r>
            <a:r>
              <a:rPr kumimoji="1" lang="en-US" altLang="zh-CN" sz="2200"/>
              <a:t>5.1~9.30</a:t>
            </a:r>
            <a:r>
              <a:rPr kumimoji="1" lang="zh-CN" altLang="en-US" sz="2200"/>
              <a:t>）</a:t>
            </a:r>
          </a:p>
          <a:p>
            <a:pPr marL="1339850" lvl="1" indent="-5334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kumimoji="1" lang="zh-CN" altLang="en-US" sz="2200"/>
              <a:t>上午  </a:t>
            </a:r>
            <a:r>
              <a:rPr kumimoji="1" lang="en-US" altLang="zh-CN" sz="2200"/>
              <a:t>8:00~11:10    </a:t>
            </a:r>
            <a:r>
              <a:rPr kumimoji="1" lang="zh-CN" altLang="en-US" sz="2200"/>
              <a:t>下午</a:t>
            </a:r>
            <a:r>
              <a:rPr kumimoji="1" lang="en-US" altLang="zh-CN" sz="2200"/>
              <a:t>14:30~17:40</a:t>
            </a:r>
          </a:p>
          <a:p>
            <a:pPr marL="1339850" lvl="1" indent="-53340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kumimoji="1" lang="zh-CN" altLang="en-US" sz="2200"/>
              <a:t>晚上 </a:t>
            </a:r>
            <a:r>
              <a:rPr kumimoji="1" lang="en-US" altLang="zh-CN" sz="2200"/>
              <a:t>19:00~22:10   </a:t>
            </a:r>
            <a:r>
              <a:rPr kumimoji="1" lang="zh-CN" altLang="en-US" sz="2200"/>
              <a:t>含中间休息</a:t>
            </a:r>
            <a:r>
              <a:rPr kumimoji="1" lang="en-US" altLang="zh-CN" sz="2200"/>
              <a:t>10</a:t>
            </a:r>
            <a:r>
              <a:rPr kumimoji="1" lang="zh-CN" altLang="en-US" sz="2200"/>
              <a:t>分钟。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学时</a:t>
            </a:r>
            <a:r>
              <a:rPr kumimoji="1"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次</a:t>
            </a:r>
            <a:r>
              <a:rPr kumimoji="1"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=3</a:t>
            </a:r>
            <a:r>
              <a: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小时，</a:t>
            </a: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实验课下课前会有</a:t>
            </a:r>
            <a:r>
              <a:rPr kumimoji="1" lang="zh-CN" altLang="en-US" sz="2400" b="1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下课准备铃</a:t>
            </a: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，听到请立即进行实验</a:t>
            </a:r>
            <a:r>
              <a:rPr kumimoji="1" lang="zh-CN" altLang="en-US" sz="2400" b="1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收尾</a:t>
            </a: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工作，不要拖延。</a:t>
            </a:r>
            <a:endParaRPr kumimoji="1"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 b="1"/>
              <a:t>培养</a:t>
            </a:r>
            <a:r>
              <a:rPr kumimoji="1" lang="zh-CN" altLang="en-US" sz="2400" b="1">
                <a:solidFill>
                  <a:srgbClr val="2722FA"/>
                </a:solidFill>
              </a:rPr>
              <a:t>高效</a:t>
            </a:r>
            <a:r>
              <a:rPr kumimoji="1" lang="zh-CN" altLang="en-US" sz="2400" b="1"/>
              <a:t>操作的习惯－</a:t>
            </a: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操作考试全程才</a:t>
            </a:r>
            <a:r>
              <a:rPr kumimoji="1"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小时</a:t>
            </a:r>
            <a:r>
              <a:rPr kumimoji="1" lang="zh-CN" altLang="en-US" sz="2400">
                <a:ea typeface="华文楷体" panose="02010600040101010101" pitchFamily="2" charset="-122"/>
              </a:rPr>
              <a:t>！</a:t>
            </a:r>
            <a:endParaRPr kumimoji="1" lang="en-US" altLang="zh-CN" sz="2400">
              <a:latin typeface="宋体" panose="02010600030101010101" pitchFamily="2" charset="-122"/>
            </a:endParaRPr>
          </a:p>
          <a:p>
            <a:pPr marL="360680" indent="-360680" eaLnBrk="1" hangingPunct="1">
              <a:lnSpc>
                <a:spcPct val="120000"/>
              </a:lnSpc>
            </a:pPr>
            <a:endParaRPr kumimoji="1"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实验课有关规定（</a:t>
            </a:r>
            <a:r>
              <a:rPr lang="en-US" altLang="zh-CN" b="1"/>
              <a:t>2</a:t>
            </a:r>
            <a:r>
              <a:rPr lang="zh-CN" altLang="en-US" b="1"/>
              <a:t>）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7450" y="1484313"/>
            <a:ext cx="7488238" cy="2880791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ts val="12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Char char="Ø"/>
            </a:pPr>
            <a:r>
              <a:rPr kumimoji="1" lang="zh-CN" altLang="en-US" sz="2400" b="1"/>
              <a:t> 无预习报告不得实验。</a:t>
            </a: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因网络等其他原因未及时线上提交，由班长收电子档，</a:t>
            </a:r>
            <a:r>
              <a:rPr kumimoji="1" lang="zh-CN" altLang="en-US" sz="2400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开课前</a:t>
            </a:r>
            <a:r>
              <a:rPr kumimoji="1"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直接给我。</a:t>
            </a:r>
            <a:endParaRPr kumimoji="1"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ts val="12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Char char="Ø"/>
            </a:pPr>
            <a:r>
              <a:rPr kumimoji="1" lang="zh-CN" altLang="en-US" sz="2400" b="1">
                <a:solidFill>
                  <a:srgbClr val="2722FA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1" lang="zh-CN" altLang="en-US" sz="2400">
                <a:latin typeface="宋体" panose="02010600030101010101" pitchFamily="2" charset="-122"/>
                <a:sym typeface="Symbol" panose="05050102010706020507" pitchFamily="18" charset="2"/>
              </a:rPr>
              <a:t>遵守</a:t>
            </a:r>
            <a:r>
              <a:rPr kumimoji="1"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实验室规章制度；</a:t>
            </a:r>
            <a:r>
              <a:rPr kumimoji="1"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不要有扰乱实验课</a:t>
            </a:r>
            <a:r>
              <a:rPr kumimoji="1"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的行为。</a:t>
            </a:r>
            <a:r>
              <a:rPr kumimoji="1" lang="zh-CN" altLang="en-US" sz="2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（包括吃喝食物在走廊</a:t>
            </a:r>
            <a:r>
              <a:rPr kumimoji="1" lang="en-US" altLang="zh-CN" sz="2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</a:t>
            </a:r>
            <a:r>
              <a:rPr kumimoji="1" lang="zh-CN" altLang="en-US" sz="2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处理好垃圾）</a:t>
            </a:r>
            <a:endParaRPr kumimoji="1"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ts val="12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Char char="Ø"/>
            </a:pPr>
            <a:r>
              <a:rPr kumimoji="1" lang="zh-CN" altLang="en-US" sz="2400">
                <a:latin typeface="宋体" panose="02010600030101010101" pitchFamily="2" charset="-122"/>
              </a:rPr>
              <a:t> 按</a:t>
            </a:r>
            <a:r>
              <a:rPr kumimoji="1" lang="zh-CN" altLang="en-US" sz="2400" dirty="0">
                <a:latin typeface="宋体" panose="02010600030101010101" pitchFamily="2" charset="-122"/>
              </a:rPr>
              <a:t>学号和桌号</a:t>
            </a:r>
            <a:r>
              <a:rPr kumimoji="1" lang="zh-CN" altLang="en-US" sz="2400">
                <a:solidFill>
                  <a:srgbClr val="2722FA"/>
                </a:solidFill>
                <a:latin typeface="宋体" panose="02010600030101010101" pitchFamily="2" charset="-122"/>
              </a:rPr>
              <a:t>对号就座，签到</a:t>
            </a:r>
            <a:r>
              <a:rPr kumimoji="1" lang="zh-CN" altLang="en-US" sz="2400">
                <a:latin typeface="宋体" panose="02010600030101010101" pitchFamily="2" charset="-122"/>
              </a:rPr>
              <a:t>！</a:t>
            </a:r>
            <a:r>
              <a:rPr kumimoji="1" lang="zh-CN" altLang="en-US" sz="2400" b="1"/>
              <a:t> </a:t>
            </a:r>
            <a:endParaRPr kumimoji="1" lang="en-US" altLang="zh-CN" sz="2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1B5A06-7CF6-4E66-9304-46D8E0BCF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4365104"/>
            <a:ext cx="7272338" cy="2233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12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Ø"/>
            </a:pPr>
            <a:r>
              <a:rPr kumimoji="1" lang="zh-CN" altLang="en-US" sz="2400" kern="0">
                <a:latin typeface="宋体" panose="02010600030101010101" pitchFamily="2" charset="-122"/>
              </a:rPr>
              <a:t> 课间自行安排短时休息，保持秩序，无须报告。</a:t>
            </a:r>
            <a:endParaRPr kumimoji="1" lang="en-US" altLang="zh-CN" sz="2400" kern="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12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Ø"/>
            </a:pPr>
            <a:r>
              <a:rPr kumimoji="1" lang="zh-CN" altLang="en-US" sz="2400" kern="0">
                <a:latin typeface="宋体" panose="02010600030101010101" pitchFamily="2" charset="-122"/>
              </a:rPr>
              <a:t> 拓展要求自行规划完成，操作考试前课内验收</a:t>
            </a:r>
            <a:r>
              <a:rPr kumimoji="1" lang="zh-CN" altLang="en-US" sz="2400" kern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kumimoji="1" lang="en-US" altLang="zh-CN" sz="2400" ker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1200"/>
              </a:spcBef>
              <a:buSzTx/>
              <a:buFont typeface="Wingdings" panose="05000000000000000000" pitchFamily="2" charset="2"/>
              <a:buChar char="Ø"/>
            </a:pPr>
            <a:r>
              <a:rPr kumimoji="1" lang="en-US" altLang="zh-CN" sz="2400" b="1" kern="0">
                <a:solidFill>
                  <a:schemeClr val="hlink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 kern="0">
                <a:latin typeface="宋体" panose="02010600030101010101" pitchFamily="2" charset="-122"/>
                <a:ea typeface="宋体" panose="02010600030101010101" pitchFamily="2" charset="-122"/>
              </a:rPr>
              <a:t>验收完的同学自行安排后续：做拓展</a:t>
            </a:r>
            <a:r>
              <a:rPr kumimoji="1" lang="en-US" altLang="zh-CN" sz="2400" ker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2400" kern="0">
                <a:latin typeface="宋体" panose="02010600030101010101" pitchFamily="2" charset="-122"/>
                <a:ea typeface="宋体" panose="02010600030101010101" pitchFamily="2" charset="-122"/>
              </a:rPr>
              <a:t>放松</a:t>
            </a:r>
            <a:r>
              <a:rPr kumimoji="1" lang="en-US" altLang="zh-CN" sz="2400" kern="0">
                <a:latin typeface="宋体" panose="02010600030101010101" pitchFamily="2" charset="-122"/>
                <a:ea typeface="宋体" panose="02010600030101010101" pitchFamily="2" charset="-122"/>
              </a:rPr>
              <a:t> …</a:t>
            </a:r>
            <a:r>
              <a:rPr kumimoji="1" lang="zh-CN" altLang="en-US" sz="2400" ker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zh-CN" altLang="en-US" sz="2400" kern="0">
                <a:latin typeface="华文楷体" panose="02010600040101010101" pitchFamily="2" charset="-122"/>
                <a:ea typeface="华文楷体" panose="02010600040101010101" pitchFamily="2" charset="-122"/>
              </a:rPr>
              <a:t>但注意保持教学秩序，</a:t>
            </a:r>
            <a:r>
              <a:rPr kumimoji="1" lang="zh-CN" altLang="en-US" sz="2400" b="1" kern="0">
                <a:latin typeface="华文楷体" panose="02010600040101010101" pitchFamily="2" charset="-122"/>
                <a:ea typeface="华文楷体" panose="02010600040101010101" pitchFamily="2" charset="-122"/>
              </a:rPr>
              <a:t>不可太早退</a:t>
            </a:r>
            <a:r>
              <a:rPr kumimoji="1" lang="zh-CN" altLang="en-US" sz="2400" kern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kumimoji="1" lang="zh-CN" altLang="en-US" sz="2400" kern="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实验课有关规定（</a:t>
            </a:r>
            <a:r>
              <a:rPr lang="en-US" altLang="zh-CN" b="1" dirty="0"/>
              <a:t>3</a:t>
            </a:r>
            <a:r>
              <a:rPr lang="zh-CN" altLang="en-US" b="1" dirty="0"/>
              <a:t>）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7450" y="1485900"/>
            <a:ext cx="6912942" cy="4967288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latin typeface="宋体" panose="02010600030101010101" pitchFamily="2" charset="-122"/>
              </a:rPr>
              <a:t>课前自己取用小工具，调整仪器。</a:t>
            </a:r>
            <a:r>
              <a:rPr kumimoji="1" lang="en-US" altLang="zh-CN" sz="2400" dirty="0"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Ø"/>
            </a:pPr>
            <a:r>
              <a:rPr kumimoji="1" lang="zh-CN" altLang="en-US" sz="2400" b="1" dirty="0"/>
              <a:t>实验完毕，离开前</a:t>
            </a:r>
            <a:r>
              <a:rPr kumimoji="1" lang="zh-CN" altLang="en-US" sz="2400" b="1" dirty="0">
                <a:solidFill>
                  <a:srgbClr val="2722FA"/>
                </a:solidFill>
              </a:rPr>
              <a:t>自行收场</a:t>
            </a:r>
            <a:r>
              <a:rPr kumimoji="1" lang="zh-CN" altLang="en-US" sz="2400" b="1" dirty="0"/>
              <a:t>：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chemeClr val="hlink"/>
              </a:buClr>
              <a:buSzTx/>
              <a:buNone/>
            </a:pPr>
            <a:r>
              <a:rPr kumimoji="1" lang="zh-CN" altLang="en-US" sz="2400" dirty="0">
                <a:ea typeface="华文楷体" panose="02010600040101010101" pitchFamily="2" charset="-122"/>
              </a:rPr>
              <a:t>        整理自己位置（仪器电源；配件；桌面；板凳）；</a:t>
            </a:r>
            <a:r>
              <a:rPr kumimoji="1" lang="zh-CN" altLang="en-US" sz="2400">
                <a:ea typeface="华文楷体" panose="02010600040101010101" pitchFamily="2" charset="-122"/>
              </a:rPr>
              <a:t>小工具交回；</a:t>
            </a:r>
            <a:endParaRPr lang="zh-CN" altLang="en-US" sz="2400" dirty="0"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Ø"/>
            </a:pPr>
            <a:r>
              <a:rPr kumimoji="1" lang="zh-CN" altLang="en-US" sz="2400" b="1" dirty="0"/>
              <a:t>轮流</a:t>
            </a:r>
            <a:r>
              <a:rPr kumimoji="1" lang="zh-CN" altLang="en-US" sz="2400" b="1" dirty="0">
                <a:solidFill>
                  <a:srgbClr val="2722FA"/>
                </a:solidFill>
              </a:rPr>
              <a:t>值日</a:t>
            </a:r>
            <a:r>
              <a:rPr kumimoji="1" lang="zh-CN" altLang="en-US" sz="2400" b="1" dirty="0"/>
              <a:t>：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1" lang="zh-CN" altLang="en-US" sz="2400" dirty="0"/>
              <a:t>        </a:t>
            </a:r>
            <a:r>
              <a:rPr kumimoji="1" lang="zh-CN" altLang="en-US" sz="2400" dirty="0">
                <a:ea typeface="华文楷体" panose="02010600040101010101" pitchFamily="2" charset="-122"/>
              </a:rPr>
              <a:t>每次实验课结束，由班长安排同学轮流做全室卫生－扫地倒垃圾、擦白板、检查个人位置</a:t>
            </a:r>
            <a:r>
              <a:rPr kumimoji="1" lang="zh-CN" altLang="en-US" sz="2400" dirty="0"/>
              <a:t>。</a:t>
            </a:r>
            <a:endParaRPr kumimoji="1" lang="en-US" altLang="zh-CN" sz="2400" dirty="0"/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hlink"/>
              </a:buClr>
              <a:buSzTx/>
              <a:buNone/>
            </a:pPr>
            <a:r>
              <a:rPr kumimoji="1" lang="zh-CN" altLang="en-US" sz="2400" b="1" dirty="0"/>
              <a:t>     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ChangeArrowheads="1"/>
          </p:cNvSpPr>
          <p:nvPr/>
        </p:nvSpPr>
        <p:spPr bwMode="auto">
          <a:xfrm>
            <a:off x="1187450" y="1484313"/>
            <a:ext cx="7416800" cy="3699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3B2C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/>
            </a:pPr>
            <a:r>
              <a:rPr lang="en-US" altLang="zh-CN" sz="3200" b="1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3200" b="1" dirty="0">
                <a:solidFill>
                  <a:schemeClr val="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安全问题</a:t>
            </a:r>
            <a:endParaRPr lang="en-US" altLang="zh-CN" sz="3600" b="1" dirty="0">
              <a:solidFill>
                <a:schemeClr val="hlin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buClr>
                <a:schemeClr val="accent2"/>
              </a:buClr>
              <a:defRPr/>
            </a:pPr>
            <a:r>
              <a:rPr lang="en-US" altLang="zh-CN" sz="2800" b="1" dirty="0">
                <a:solidFill>
                  <a:srgbClr val="2722FA"/>
                </a:solidFill>
                <a:latin typeface="+mn-ea"/>
                <a:ea typeface="+mn-ea"/>
              </a:rPr>
              <a:t>  </a:t>
            </a:r>
            <a:r>
              <a:rPr lang="zh-CN" altLang="en-US" sz="2800" b="1" dirty="0">
                <a:solidFill>
                  <a:srgbClr val="2722FA"/>
                </a:solidFill>
                <a:latin typeface="+mn-ea"/>
                <a:ea typeface="+mn-ea"/>
              </a:rPr>
              <a:t>保护眼睛！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异常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情况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（如发烫、冒烟、异味等）马上</a:t>
            </a:r>
            <a:r>
              <a:rPr lang="zh-CN" altLang="en-US" sz="24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切断直流电源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再处理或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报告</a:t>
            </a:r>
            <a:r>
              <a:rPr lang="zh-CN" altLang="en-US" sz="2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老师。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   有仪器故障请直接报告老师处理。</a:t>
            </a:r>
            <a:endParaRPr lang="en-US" altLang="zh-CN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   但</a:t>
            </a:r>
            <a:r>
              <a:rPr lang="zh-CN" altLang="en-US" sz="2400" b="1" dirty="0">
                <a:solidFill>
                  <a:srgbClr val="2722FA"/>
                </a:solidFill>
                <a:latin typeface="宋体" panose="02010600030101010101" pitchFamily="2" charset="-122"/>
              </a:rPr>
              <a:t>请勿野蛮操作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仪器。</a:t>
            </a:r>
          </a:p>
        </p:txBody>
      </p:sp>
      <p:sp>
        <p:nvSpPr>
          <p:cNvPr id="19459" name="Rectangle 4"/>
          <p:cNvSpPr>
            <a:spLocks noChangeArrowheads="1"/>
          </p:cNvSpPr>
          <p:nvPr/>
        </p:nvSpPr>
        <p:spPr bwMode="auto">
          <a:xfrm>
            <a:off x="1116013" y="333375"/>
            <a:ext cx="7416800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l"/>
            <a:r>
              <a:rPr lang="zh-CN" altLang="en-US" sz="4400" b="1" dirty="0">
                <a:solidFill>
                  <a:schemeClr val="tx2"/>
                </a:solidFill>
              </a:rPr>
              <a:t>实验课有关规定（</a:t>
            </a:r>
            <a:r>
              <a:rPr lang="en-US" altLang="zh-CN" sz="4400" b="1" dirty="0">
                <a:solidFill>
                  <a:schemeClr val="tx2"/>
                </a:solidFill>
              </a:rPr>
              <a:t>4</a:t>
            </a:r>
            <a:r>
              <a:rPr lang="zh-CN" altLang="en-US" sz="4400" b="1" dirty="0">
                <a:solidFill>
                  <a:schemeClr val="tx2"/>
                </a:solidFill>
              </a:rPr>
              <a:t>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917" name="Group 45"/>
          <p:cNvGraphicFramePr>
            <a:graphicFrameLocks noGrp="1"/>
          </p:cNvGraphicFramePr>
          <p:nvPr>
            <p:ph type="tbl" idx="1"/>
            <p:custDataLst>
              <p:tags r:id="rId1"/>
            </p:custDataLst>
            <p:extLst/>
          </p:nvPr>
        </p:nvGraphicFramePr>
        <p:xfrm>
          <a:off x="1205725" y="2780928"/>
          <a:ext cx="6732549" cy="2316480"/>
        </p:xfrm>
        <a:graphic>
          <a:graphicData uri="http://schemas.openxmlformats.org/drawingml/2006/table">
            <a:tbl>
              <a:tblPr/>
              <a:tblGrid>
                <a:gridCol w="6732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0425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Arial" panose="020B0604020202020204" pitchFamily="34" charset="0"/>
                        <a:buChar char="•"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即使无提醒，也请按照本年级安排的周次和内容做好预习。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24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机动</a:t>
                      </a:r>
                      <a:r>
                        <a:rPr lang="zh-CN" altLang="en-US" sz="2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：若规定课时被节假停课延后则用机动课时，否则无课。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524" name="Text Box 46"/>
          <p:cNvSpPr txBox="1">
            <a:spLocks noChangeArrowheads="1"/>
          </p:cNvSpPr>
          <p:nvPr/>
        </p:nvSpPr>
        <p:spPr bwMode="auto">
          <a:xfrm>
            <a:off x="1259632" y="1844824"/>
            <a:ext cx="626402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000" b="1" u="sng" dirty="0">
                <a:solidFill>
                  <a:schemeClr val="hlink"/>
                </a:solidFill>
                <a:hlinkClick r:id="rId3" action="ppaction://hlinkfile"/>
              </a:rPr>
              <a:t>实验内容安排</a:t>
            </a:r>
            <a:r>
              <a:rPr lang="en-US" altLang="zh-CN" sz="4000" b="1" u="sng" dirty="0">
                <a:solidFill>
                  <a:schemeClr val="hlink"/>
                </a:solidFill>
                <a:hlinkClick r:id="rId3" action="ppaction://hlinkfile"/>
              </a:rPr>
              <a:t>-</a:t>
            </a:r>
            <a:r>
              <a:rPr lang="zh-CN" altLang="en-US" sz="4000" b="1" u="sng" dirty="0">
                <a:solidFill>
                  <a:schemeClr val="hlink"/>
                </a:solidFill>
                <a:hlinkClick r:id="rId3" action="ppaction://hlinkfile"/>
              </a:rPr>
              <a:t>年级</a:t>
            </a:r>
            <a:r>
              <a:rPr lang="en-US" altLang="zh-CN" sz="4000" b="1" u="sng" dirty="0">
                <a:solidFill>
                  <a:schemeClr val="hlink"/>
                </a:solidFill>
                <a:hlinkClick r:id="rId3" action="ppaction://hlinkfile"/>
              </a:rPr>
              <a:t>.</a:t>
            </a:r>
            <a:r>
              <a:rPr lang="en-US" altLang="zh-CN" sz="4000" b="1" u="sng" dirty="0">
                <a:solidFill>
                  <a:schemeClr val="hlink"/>
                </a:solidFill>
              </a:rPr>
              <a:t>docx</a:t>
            </a:r>
            <a:endParaRPr lang="zh-CN" altLang="en-US" sz="3200" b="1" dirty="0">
              <a:solidFill>
                <a:schemeClr val="tx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476250"/>
            <a:ext cx="7058025" cy="769938"/>
          </a:xfrm>
        </p:spPr>
        <p:txBody>
          <a:bodyPr/>
          <a:lstStyle/>
          <a:p>
            <a:pPr eaLnBrk="1" hangingPunct="1"/>
            <a:r>
              <a:rPr lang="zh-CN" altLang="en-US" b="1">
                <a:ea typeface="华文楷体" panose="02010600040101010101" pitchFamily="2" charset="-122"/>
              </a:rPr>
              <a:t>课程安排</a:t>
            </a:r>
            <a:endParaRPr lang="zh-CN" altLang="en-US" sz="3600" b="1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79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7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7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/>
        </p:nvSpPr>
        <p:spPr>
          <a:xfrm>
            <a:off x="801649" y="2024089"/>
            <a:ext cx="7686752" cy="19397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altLang="zh-CN" sz="2000" dirty="0"/>
              <a:t>……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</a:t>
            </a:r>
            <a:r>
              <a:rPr lang="zh-CN" altLang="zh-CN" sz="2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平时成绩占</a:t>
            </a:r>
            <a:r>
              <a:rPr lang="en-US" altLang="zh-CN" sz="2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</a:t>
            </a:r>
            <a:r>
              <a:rPr lang="zh-CN" altLang="en-US" sz="2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zh-CN" altLang="zh-CN" sz="2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其中</a:t>
            </a:r>
            <a:r>
              <a:rPr lang="en-US" altLang="zh-CN" sz="2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MOOC</a:t>
            </a:r>
            <a:r>
              <a:rPr lang="zh-CN" altLang="en-US" sz="2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zh-CN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操作考试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、平时</a:t>
            </a:r>
            <a:r>
              <a:rPr lang="en-US" altLang="zh-CN" sz="2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</a:t>
            </a:r>
            <a:r>
              <a:rPr lang="zh-CN" altLang="en-US" sz="2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r>
              <a:rPr lang="zh-CN" altLang="zh-CN" sz="2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；</a:t>
            </a:r>
            <a:endParaRPr lang="en-US" altLang="zh-CN" sz="2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</a:t>
            </a:r>
            <a:r>
              <a:rPr lang="zh-CN" altLang="zh-CN" sz="2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考试成绩占</a:t>
            </a:r>
            <a:r>
              <a:rPr lang="en-US" altLang="zh-CN" sz="2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</a:t>
            </a:r>
            <a:r>
              <a:rPr lang="zh-CN" altLang="zh-CN" sz="2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闭卷</a:t>
            </a:r>
            <a:r>
              <a:rPr lang="zh-CN" altLang="zh-CN" sz="2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笔试）</a:t>
            </a:r>
            <a:endParaRPr lang="en-US" altLang="zh-CN" sz="2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altLang="zh-CN" sz="2000" dirty="0"/>
              <a:t>   </a:t>
            </a:r>
            <a:r>
              <a:rPr lang="zh-CN" altLang="en-US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本课程无补考，只能重修！</a:t>
            </a:r>
            <a:endParaRPr lang="en-US" altLang="zh-CN" sz="2400" b="0" dirty="0">
              <a:latin typeface="+mn-ea"/>
              <a:cs typeface="华文楷体" panose="02010600040101010101" pitchFamily="2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220191" y="1420779"/>
            <a:ext cx="719518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2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分值规定见大纲</a:t>
            </a:r>
            <a:r>
              <a:rPr lang="en-US" altLang="zh-CN" sz="28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lang="zh-CN" altLang="en-US" sz="36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3200" b="1" u="sng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hlinkClick r:id="rId2" action="ppaction://hlinkfile"/>
              </a:rPr>
              <a:t>实验内容安排文档</a:t>
            </a:r>
            <a:r>
              <a:rPr lang="zh-CN" altLang="en-US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最后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116013" y="476250"/>
            <a:ext cx="7058025" cy="7699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kern="0">
                <a:ea typeface="华文楷体" panose="02010600040101010101" pitchFamily="2" charset="-122"/>
              </a:rPr>
              <a:t>成绩分配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D9C02B-0CF0-4ABC-9711-35C1840ED55A}"/>
              </a:ext>
            </a:extLst>
          </p:cNvPr>
          <p:cNvSpPr txBox="1"/>
          <p:nvPr/>
        </p:nvSpPr>
        <p:spPr>
          <a:xfrm>
            <a:off x="242740" y="4116977"/>
            <a:ext cx="8658522" cy="20167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 algn="l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两三个实验后就要操作考试！？ 晕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@_@</a:t>
            </a:r>
          </a:p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cs typeface="华文楷体" panose="02010600040101010101" pitchFamily="2" charset="-122"/>
              </a:rPr>
              <a:t>原理课，预习，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cs typeface="华文楷体" panose="02010600040101010101" pitchFamily="2" charset="-122"/>
              </a:rPr>
              <a:t>MOOC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cs typeface="华文楷体" panose="02010600040101010101" pitchFamily="2" charset="-122"/>
              </a:rPr>
              <a:t>，课堂，课后，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cs typeface="华文楷体" panose="02010600040101010101" pitchFamily="2" charset="-122"/>
              </a:rPr>
              <a:t>… </a:t>
            </a:r>
            <a:r>
              <a:rPr lang="zh-CN" altLang="en-US" sz="2400" b="1" dirty="0">
                <a:latin typeface="宋体" panose="02010600030101010101" pitchFamily="2" charset="-122"/>
                <a:cs typeface="华文楷体" panose="02010600040101010101" pitchFamily="2" charset="-122"/>
              </a:rPr>
              <a:t>每次实验含多个环节。</a:t>
            </a:r>
            <a:endParaRPr lang="en-US" altLang="zh-CN" sz="2400" b="1" dirty="0">
              <a:latin typeface="宋体" panose="02010600030101010101" pitchFamily="2" charset="-122"/>
              <a:cs typeface="华文楷体" panose="02010600040101010101" pitchFamily="2" charset="-122"/>
            </a:endParaRPr>
          </a:p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cs typeface="华文楷体" panose="02010600040101010101" pitchFamily="2" charset="-122"/>
              </a:rPr>
              <a:t>环环相扣，次次递进</a:t>
            </a:r>
            <a:r>
              <a:rPr lang="zh-CN" altLang="en-US" sz="2400" b="1" dirty="0">
                <a:latin typeface="宋体" panose="02010600030101010101" pitchFamily="2" charset="-122"/>
                <a:cs typeface="华文楷体" panose="02010600040101010101" pitchFamily="2" charset="-122"/>
              </a:rPr>
              <a:t>。</a:t>
            </a:r>
            <a:r>
              <a:rPr lang="zh-CN" altLang="en-US" sz="2400" b="1" dirty="0">
                <a:latin typeface="宋体" panose="02010600030101010101" pitchFamily="2" charset="-122"/>
              </a:rPr>
              <a:t>各环节单独计分</a:t>
            </a:r>
            <a:r>
              <a:rPr lang="zh-CN" altLang="en-US" sz="2400" dirty="0">
                <a:latin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预习报告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MOOC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送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、操作验收、课后报告（有验收才算）、操作考试、笔试卷面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CF95EC-306A-42BC-8EFF-84A307AF7A35}"/>
              </a:ext>
            </a:extLst>
          </p:cNvPr>
          <p:cNvSpPr/>
          <p:nvPr/>
        </p:nvSpPr>
        <p:spPr>
          <a:xfrm>
            <a:off x="242739" y="6120140"/>
            <a:ext cx="87937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800" b="1" dirty="0">
                <a:latin typeface="+mn-ea"/>
                <a:cs typeface="华文楷体" panose="02010600040101010101" pitchFamily="2" charset="-122"/>
              </a:rPr>
              <a:t>希望大家一次过</a:t>
            </a:r>
            <a:r>
              <a:rPr lang="en-US" altLang="zh-CN" sz="2800" b="1" dirty="0">
                <a:latin typeface="+mn-ea"/>
                <a:cs typeface="华文楷体" panose="02010600040101010101" pitchFamily="2" charset="-122"/>
              </a:rPr>
              <a:t>&amp;</a:t>
            </a:r>
            <a:r>
              <a:rPr lang="zh-CN" altLang="en-US" sz="2800" b="1" dirty="0">
                <a:latin typeface="+mn-ea"/>
                <a:cs typeface="华文楷体" panose="02010600040101010101" pitchFamily="2" charset="-122"/>
              </a:rPr>
              <a:t>拿高分，但请认真对待每个环节。</a:t>
            </a:r>
            <a:endParaRPr lang="en-US" altLang="zh-CN" sz="2800" b="1" dirty="0">
              <a:latin typeface="+mn-ea"/>
              <a:cs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59632" y="1484784"/>
            <a:ext cx="7489081" cy="5184576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操作考试（模拟</a:t>
            </a:r>
            <a:r>
              <a:rPr lang="en-US" altLang="zh-CN" b="1" dirty="0">
                <a:ea typeface="华文楷体" panose="02010600040101010101" pitchFamily="2" charset="-122"/>
              </a:rPr>
              <a:t>&amp;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数字） </a:t>
            </a:r>
            <a:r>
              <a:rPr lang="zh-CN" altLang="en-US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（开卷） </a:t>
            </a:r>
          </a:p>
          <a:p>
            <a:pPr marL="0" lvl="1" indent="447675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00FF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实验室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现场操作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，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规定时间内完成题目规定的电路安装、测试以及实验报告。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考前给定大致范围；自行做好复习和预习，同时确定元件仪器完好；但考试开始前面包板必须空白。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1200"/>
              </a:spcBef>
              <a:buClr>
                <a:schemeClr val="tx1"/>
              </a:buClr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期末笔试</a:t>
            </a:r>
            <a:r>
              <a:rPr lang="zh-CN" altLang="en-US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（闭卷） </a:t>
            </a:r>
          </a:p>
          <a:p>
            <a:pPr marL="0" lvl="1" indent="447675"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按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常规课答卷模式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另外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安排时间地点，不在实验室。</a:t>
            </a:r>
            <a:r>
              <a:rPr lang="zh-CN" altLang="en-US" sz="2400" b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考查</a:t>
            </a:r>
            <a:r>
              <a:rPr lang="zh-CN" altLang="en-US" sz="24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实验原理、仪器使用、测试方法、小型电路设计等；涵盖与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基础理论及</a:t>
            </a:r>
            <a:r>
              <a:rPr lang="zh-CN" altLang="en-US" sz="24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实际操作相关内容。</a:t>
            </a:r>
            <a:endParaRPr lang="zh-CN" altLang="en-US" b="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116013" y="476250"/>
            <a:ext cx="7058025" cy="7699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kern="0" dirty="0">
                <a:ea typeface="华文楷体" panose="02010600040101010101" pitchFamily="2" charset="-122"/>
              </a:rPr>
              <a:t>成绩分配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b="1">
                <a:solidFill>
                  <a:srgbClr val="7030A0"/>
                </a:solidFill>
                <a:ea typeface="华文楷体" panose="02010600040101010101" pitchFamily="2" charset="-122"/>
              </a:rPr>
              <a:t>MOOC</a:t>
            </a:r>
            <a:r>
              <a:rPr lang="zh-CN" altLang="en-US" sz="4000" b="1">
                <a:solidFill>
                  <a:srgbClr val="7030A0"/>
                </a:solidFill>
                <a:ea typeface="华文楷体" panose="02010600040101010101" pitchFamily="2" charset="-122"/>
              </a:rPr>
              <a:t>学习</a:t>
            </a:r>
            <a:endParaRPr lang="zh-CN" altLang="en-US" sz="4000" b="1" dirty="0">
              <a:solidFill>
                <a:schemeClr val="tx1"/>
              </a:solidFill>
              <a:ea typeface="华文楷体" panose="02010600040101010101" pitchFamily="2" charset="-122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7" y="1628800"/>
            <a:ext cx="7850262" cy="4968552"/>
          </a:xfrm>
        </p:spPr>
        <p:txBody>
          <a:bodyPr/>
          <a:lstStyle/>
          <a:p>
            <a:pPr marL="0" lvl="0" indent="0" eaLnBrk="1" hangingPunct="1">
              <a:spcBef>
                <a:spcPts val="1200"/>
              </a:spcBef>
              <a:buClrTx/>
              <a:buSzTx/>
              <a:buNone/>
            </a:pPr>
            <a:r>
              <a:rPr lang="zh-CN" altLang="en-US" sz="2800" b="1" kern="1200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本课程</a:t>
            </a:r>
            <a:r>
              <a:rPr lang="en-US" altLang="zh-CN" sz="2800" b="1" kern="1200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MOOC</a:t>
            </a:r>
            <a:r>
              <a:rPr lang="zh-CN" altLang="en-US" sz="2800" b="1" kern="1200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zh-CN" altLang="en-US" sz="2800" b="1" kern="120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中国大学</a:t>
            </a:r>
            <a:r>
              <a:rPr lang="en-US" altLang="zh-CN" sz="2800" b="1" kern="120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MOOC</a:t>
            </a:r>
            <a:r>
              <a:rPr lang="zh-CN" altLang="en-US" sz="2800" kern="12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网站 </a:t>
            </a:r>
            <a:endParaRPr lang="zh-CN" altLang="en-US" sz="2800" b="1" kern="120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2400" dirty="0"/>
              <a:t>https://</a:t>
            </a:r>
            <a:r>
              <a:rPr lang="en-US" altLang="zh-CN" sz="2400" dirty="0">
                <a:solidFill>
                  <a:srgbClr val="C00000"/>
                </a:solidFill>
              </a:rPr>
              <a:t>www.icourse163.org</a:t>
            </a:r>
            <a:r>
              <a:rPr lang="en-US" altLang="zh-CN" sz="2400" dirty="0"/>
              <a:t>/</a:t>
            </a:r>
            <a:r>
              <a:rPr kumimoji="1" lang="en-US" altLang="zh-CN" sz="2400" dirty="0"/>
              <a:t>learn</a:t>
            </a:r>
            <a:r>
              <a:rPr lang="en-US" altLang="zh-CN" sz="2400" dirty="0"/>
              <a:t>/HUST-1001942004#/info   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电测（一） 即模拟部分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kumimoji="1" lang="en-US" altLang="zh-CN" sz="2400" dirty="0"/>
              <a:t>https://www.icourse163.org/learn/HUST-1001943003</a:t>
            </a:r>
            <a:r>
              <a:rPr lang="en-US" altLang="zh-CN" sz="2400" dirty="0"/>
              <a:t>#/info   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电测（二） 即数字部分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1200"/>
              </a:spcBef>
              <a:buNone/>
            </a:pPr>
            <a:r>
              <a:rPr kumimoji="1" lang="zh-CN" altLang="en-US" sz="2800" b="1" dirty="0"/>
              <a:t>    </a:t>
            </a:r>
            <a:r>
              <a:rPr kumimoji="1" lang="zh-CN" altLang="en-US" sz="2800" b="1"/>
              <a:t>请 注册</a:t>
            </a:r>
            <a:r>
              <a:rPr kumimoji="1" lang="en-US" altLang="zh-CN" sz="2800" b="1"/>
              <a:t>—</a:t>
            </a:r>
            <a:r>
              <a:rPr kumimoji="1" lang="zh-CN" altLang="en-US" sz="2800" b="1"/>
              <a:t>认证学校云</a:t>
            </a:r>
            <a:r>
              <a:rPr kumimoji="1" lang="en-US" altLang="zh-CN" sz="2800" b="1"/>
              <a:t>—</a:t>
            </a:r>
            <a:r>
              <a:rPr kumimoji="1" lang="zh-CN" altLang="en-US" sz="2800" b="1"/>
              <a:t>加入</a:t>
            </a:r>
            <a:r>
              <a:rPr kumimoji="1" lang="en-US" altLang="zh-CN" sz="2800" b="1"/>
              <a:t>SPOC</a:t>
            </a:r>
            <a:r>
              <a:rPr kumimoji="1" lang="zh-CN" altLang="en-US" sz="2800" b="1"/>
              <a:t>课堂</a:t>
            </a:r>
            <a:r>
              <a:rPr kumimoji="1" lang="en-US" altLang="zh-CN" sz="2800" b="1"/>
              <a:t>—</a:t>
            </a: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kumimoji="1" lang="zh-CN" altLang="en-US" sz="2800">
                <a:latin typeface="+mn-ea"/>
              </a:rPr>
              <a:t>按本课程安排进度 </a:t>
            </a:r>
            <a:r>
              <a:rPr kumimoji="1" lang="zh-CN" altLang="en-US" sz="2800">
                <a:solidFill>
                  <a:srgbClr val="2722FA"/>
                </a:solidFill>
              </a:rPr>
              <a:t>学习</a:t>
            </a:r>
            <a:r>
              <a:rPr kumimoji="1" lang="en-US" altLang="zh-CN" sz="2800" dirty="0"/>
              <a:t>&amp;</a:t>
            </a:r>
            <a:r>
              <a:rPr kumimoji="1" lang="zh-CN" altLang="en-US" sz="2800" dirty="0">
                <a:solidFill>
                  <a:srgbClr val="5644FE"/>
                </a:solidFill>
              </a:rPr>
              <a:t>互动</a:t>
            </a:r>
            <a:r>
              <a:rPr kumimoji="1" lang="en-US" altLang="zh-CN" sz="2800" dirty="0"/>
              <a:t>&amp;</a:t>
            </a:r>
            <a:r>
              <a:rPr kumimoji="1" lang="zh-CN" altLang="en-US" sz="2800" dirty="0">
                <a:solidFill>
                  <a:srgbClr val="5644FE"/>
                </a:solidFill>
              </a:rPr>
              <a:t>单元测</a:t>
            </a:r>
            <a:r>
              <a:rPr kumimoji="1" lang="en-US" altLang="zh-CN" sz="2800" dirty="0">
                <a:solidFill>
                  <a:srgbClr val="2722FA"/>
                </a:solidFill>
              </a:rPr>
              <a:t>&amp;</a:t>
            </a:r>
            <a:r>
              <a:rPr kumimoji="1" lang="zh-CN" altLang="en-US" sz="2800">
                <a:solidFill>
                  <a:srgbClr val="2722FA"/>
                </a:solidFill>
              </a:rPr>
              <a:t>期末测</a:t>
            </a:r>
            <a:endParaRPr kumimoji="1" lang="en-US" altLang="zh-CN" sz="2800">
              <a:solidFill>
                <a:srgbClr val="2722FA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800">
                <a:latin typeface="+mn-ea"/>
              </a:rPr>
              <a:t>   操作细节见</a:t>
            </a:r>
            <a:r>
              <a:rPr lang="en-US" altLang="zh-CN" sz="2800">
                <a:latin typeface="+mn-ea"/>
              </a:rPr>
              <a:t>\</a:t>
            </a:r>
            <a:r>
              <a:rPr lang="zh-CN" altLang="en-US" sz="2800">
                <a:latin typeface="+mn-ea"/>
              </a:rPr>
              <a:t>实验教辅资料</a:t>
            </a:r>
            <a:r>
              <a:rPr lang="en-US" altLang="zh-CN" sz="2800">
                <a:latin typeface="+mn-ea"/>
              </a:rPr>
              <a:t>\</a:t>
            </a:r>
            <a:r>
              <a:rPr lang="zh-CN" altLang="en-US" sz="2800">
                <a:latin typeface="+mn-ea"/>
              </a:rPr>
              <a:t>文件夹下的</a:t>
            </a:r>
            <a:endParaRPr lang="en-US" altLang="zh-CN" sz="2800">
              <a:latin typeface="+mn-ea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>
                <a:latin typeface="华文楷体" panose="02010600040101010101" pitchFamily="2" charset="-122"/>
                <a:ea typeface="华文楷体" panose="02010600040101010101" pitchFamily="2" charset="-122"/>
              </a:rPr>
              <a:t>     MOOC</a:t>
            </a:r>
            <a:r>
              <a:rPr lang="zh-CN" altLang="en-US" sz="2800">
                <a:latin typeface="华文楷体" panose="02010600040101010101" pitchFamily="2" charset="-122"/>
                <a:ea typeface="华文楷体" panose="02010600040101010101" pitchFamily="2" charset="-122"/>
              </a:rPr>
              <a:t>学校云</a:t>
            </a:r>
            <a:r>
              <a:rPr lang="en-US" altLang="zh-CN" sz="2800"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lang="zh-CN" altLang="en-US" sz="2800">
                <a:latin typeface="华文楷体" panose="02010600040101010101" pitchFamily="2" charset="-122"/>
                <a:ea typeface="华文楷体" panose="02010600040101010101" pitchFamily="2" charset="-122"/>
              </a:rPr>
              <a:t>学生注册，认证指南</a:t>
            </a:r>
            <a:r>
              <a:rPr lang="en-US" altLang="zh-CN" sz="280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docx</a:t>
            </a:r>
          </a:p>
          <a:p>
            <a:pPr marL="0" indent="0" eaLnBrk="1" hangingPunct="1">
              <a:lnSpc>
                <a:spcPct val="120000"/>
              </a:lnSpc>
              <a:spcBef>
                <a:spcPts val="1200"/>
              </a:spcBef>
              <a:buNone/>
            </a:pPr>
            <a:endParaRPr kumimoji="1" lang="en-US" altLang="zh-CN" sz="2800" b="1" dirty="0">
              <a:solidFill>
                <a:srgbClr val="2722FA"/>
              </a:solidFill>
            </a:endParaRPr>
          </a:p>
        </p:txBody>
      </p:sp>
      <p:pic>
        <p:nvPicPr>
          <p:cNvPr id="39939" name="Picture 3"/>
          <p:cNvPicPr>
            <a:picLocks noChangeAspect="1" noChangeArrowheads="1"/>
          </p:cNvPicPr>
          <p:nvPr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539552" y="2593630"/>
            <a:ext cx="6480720" cy="3985445"/>
          </a:xfrm>
          <a:prstGeom prst="rect">
            <a:avLst/>
          </a:prstGeom>
          <a:noFill/>
          <a:ln w="31750" cmpd="thickThin">
            <a:solidFill>
              <a:srgbClr val="2722F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b="1">
                <a:solidFill>
                  <a:srgbClr val="7030A0"/>
                </a:solidFill>
                <a:ea typeface="华文楷体" panose="02010600040101010101" pitchFamily="2" charset="-122"/>
              </a:rPr>
              <a:t>MOOC</a:t>
            </a:r>
            <a:r>
              <a:rPr lang="zh-CN" altLang="en-US" sz="4000" b="1">
                <a:solidFill>
                  <a:srgbClr val="7030A0"/>
                </a:solidFill>
                <a:ea typeface="华文楷体" panose="02010600040101010101" pitchFamily="2" charset="-122"/>
              </a:rPr>
              <a:t>学习</a:t>
            </a:r>
            <a:endParaRPr lang="zh-CN" altLang="en-US" sz="4000" b="1" dirty="0">
              <a:solidFill>
                <a:srgbClr val="7030A0"/>
              </a:solidFill>
              <a:ea typeface="华文楷体" panose="02010600040101010101" pitchFamily="2" charset="-122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7" y="1340768"/>
            <a:ext cx="7850262" cy="1656184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kumimoji="1" lang="en-US" altLang="zh-CN" b="1">
                <a:latin typeface="+mn-ea"/>
              </a:rPr>
              <a:t>    </a:t>
            </a:r>
            <a:r>
              <a:rPr kumimoji="1" lang="zh-CN" altLang="en-US" sz="2800" b="1">
                <a:latin typeface="+mn-ea"/>
              </a:rPr>
              <a:t> 可用</a:t>
            </a:r>
            <a:r>
              <a:rPr kumimoji="1" lang="zh-CN" altLang="en-US" sz="2800" b="1" dirty="0">
                <a:latin typeface="+mn-ea"/>
              </a:rPr>
              <a:t>学校邮箱</a:t>
            </a:r>
            <a:r>
              <a:rPr kumimoji="1" lang="en-US" altLang="zh-CN" sz="2800" b="1" dirty="0">
                <a:latin typeface="+mn-ea"/>
              </a:rPr>
              <a:t>@</a:t>
            </a:r>
            <a:r>
              <a:rPr kumimoji="1" lang="en-US" altLang="zh-CN" sz="2800" b="1" dirty="0">
                <a:solidFill>
                  <a:srgbClr val="7030A0"/>
                </a:solidFill>
                <a:latin typeface="+mn-ea"/>
              </a:rPr>
              <a:t>mail.</a:t>
            </a:r>
            <a:r>
              <a:rPr kumimoji="1" lang="en-US" altLang="zh-CN" sz="2800" b="1" dirty="0">
                <a:latin typeface="+mn-ea"/>
              </a:rPr>
              <a:t>hust.edu.cn</a:t>
            </a:r>
            <a:r>
              <a:rPr kumimoji="1" lang="zh-CN" altLang="en-US" sz="2800" b="1" dirty="0">
                <a:latin typeface="+mn-ea"/>
              </a:rPr>
              <a:t>注册，以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班级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+</a:t>
            </a:r>
            <a:r>
              <a:rPr lang="zh-CN" altLang="en-US" sz="2800" b="1">
                <a:solidFill>
                  <a:srgbClr val="FF0000"/>
                </a:solidFill>
                <a:latin typeface="+mn-ea"/>
              </a:rPr>
              <a:t>实名</a:t>
            </a:r>
            <a:r>
              <a:rPr lang="zh-CN" altLang="en-US" sz="2800" b="1">
                <a:latin typeface="+mn-ea"/>
              </a:rPr>
              <a:t>格式（</a:t>
            </a:r>
            <a:r>
              <a:rPr lang="zh-CN" altLang="en-US" sz="2800" b="1" dirty="0">
                <a:latin typeface="+mn-ea"/>
              </a:rPr>
              <a:t>如 生医</a:t>
            </a:r>
            <a:r>
              <a:rPr lang="en-US" altLang="zh-CN" sz="2800" b="1" dirty="0">
                <a:latin typeface="+mn-ea"/>
              </a:rPr>
              <a:t>1501</a:t>
            </a:r>
            <a:r>
              <a:rPr lang="zh-CN" altLang="en-US" sz="2800" b="1" dirty="0">
                <a:latin typeface="+mn-ea"/>
              </a:rPr>
              <a:t>张三）为</a:t>
            </a:r>
            <a:r>
              <a:rPr lang="zh-CN" altLang="en-US" sz="2800" b="1">
                <a:latin typeface="+mn-ea"/>
              </a:rPr>
              <a:t>用户名。务必严格按规则取名，否则影响期末登分。</a:t>
            </a:r>
            <a:endParaRPr lang="en-US" altLang="zh-CN" sz="2800" b="1">
              <a:latin typeface="+mn-ea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kumimoji="1" lang="zh-CN" altLang="en-US" sz="2800" b="1">
                <a:latin typeface="+mn-ea"/>
              </a:rPr>
              <a:t>     </a:t>
            </a:r>
            <a:endParaRPr kumimoji="1" lang="en-US" altLang="zh-CN" sz="2000" b="1" dirty="0">
              <a:solidFill>
                <a:srgbClr val="2722FA"/>
              </a:solidFill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DE5E6F-4449-4E79-B751-1D4134B51E01}"/>
              </a:ext>
            </a:extLst>
          </p:cNvPr>
          <p:cNvSpPr/>
          <p:nvPr/>
        </p:nvSpPr>
        <p:spPr>
          <a:xfrm>
            <a:off x="885646" y="3015034"/>
            <a:ext cx="2664296" cy="3654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zh-CN" altLang="en-US" sz="2800" b="1" kern="0">
                <a:solidFill>
                  <a:srgbClr val="000000"/>
                </a:solidFill>
                <a:latin typeface="宋体"/>
                <a:ea typeface="宋体"/>
              </a:rPr>
              <a:t>  认证学校云，登录进</a:t>
            </a:r>
            <a:r>
              <a:rPr kumimoji="1" lang="en-US" altLang="zh-CN" sz="2800" b="1" kern="0">
                <a:solidFill>
                  <a:srgbClr val="0000FF"/>
                </a:solidFill>
                <a:latin typeface="宋体"/>
                <a:ea typeface="宋体"/>
              </a:rPr>
              <a:t>SPOC</a:t>
            </a:r>
            <a:r>
              <a:rPr kumimoji="1" lang="zh-CN" altLang="en-US" sz="2800" b="1" kern="0">
                <a:solidFill>
                  <a:srgbClr val="0000FF"/>
                </a:solidFill>
                <a:latin typeface="宋体"/>
                <a:ea typeface="宋体"/>
              </a:rPr>
              <a:t>课堂</a:t>
            </a:r>
            <a:r>
              <a:rPr kumimoji="1" lang="zh-CN" altLang="en-US" sz="2800" b="1" kern="0">
                <a:solidFill>
                  <a:srgbClr val="000000"/>
                </a:solidFill>
                <a:latin typeface="宋体"/>
                <a:ea typeface="宋体"/>
              </a:rPr>
              <a:t>后，按安排进度及时完成相应章节测验</a:t>
            </a:r>
            <a:r>
              <a:rPr kumimoji="1" lang="en-US" altLang="zh-CN" sz="2800" b="1" kern="0">
                <a:solidFill>
                  <a:srgbClr val="000000"/>
                </a:solidFill>
                <a:latin typeface="宋体"/>
                <a:ea typeface="宋体"/>
              </a:rPr>
              <a:t>,</a:t>
            </a:r>
            <a:r>
              <a:rPr kumimoji="1" lang="zh-CN" altLang="en-US" sz="2800" b="1" kern="0">
                <a:solidFill>
                  <a:srgbClr val="0000FF"/>
                </a:solidFill>
                <a:latin typeface="宋体"/>
                <a:ea typeface="宋体"/>
              </a:rPr>
              <a:t>成绩</a:t>
            </a:r>
            <a:r>
              <a:rPr kumimoji="1" lang="zh-CN" altLang="en-US" sz="2800" b="1" kern="0">
                <a:solidFill>
                  <a:srgbClr val="2722FA"/>
                </a:solidFill>
                <a:latin typeface="宋体"/>
                <a:ea typeface="宋体"/>
              </a:rPr>
              <a:t>截屏加入预习报告。</a:t>
            </a:r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597746A-0837-40CF-8B54-AA7FCD7B6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485" y="3140745"/>
            <a:ext cx="4912246" cy="15123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绪论</a:t>
            </a:r>
          </a:p>
        </p:txBody>
      </p:sp>
      <p:sp>
        <p:nvSpPr>
          <p:cNvPr id="6147" name="Rectangle 4"/>
          <p:cNvSpPr>
            <a:spLocks noChangeArrowheads="1"/>
          </p:cNvSpPr>
          <p:nvPr/>
        </p:nvSpPr>
        <p:spPr bwMode="auto">
          <a:xfrm>
            <a:off x="1476375" y="1412875"/>
            <a:ext cx="6553200" cy="299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ts val="12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kumimoji="1" lang="en-US" altLang="zh-CN" sz="3200" b="1">
                <a:solidFill>
                  <a:schemeClr val="tx1">
                    <a:lumMod val="50000"/>
                    <a:lumOff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</a:t>
            </a:r>
            <a:r>
              <a:rPr kumimoji="1" lang="zh-CN" altLang="en-US" sz="3600" b="1">
                <a:solidFill>
                  <a:schemeClr val="tx1">
                    <a:lumMod val="50000"/>
                    <a:lumOff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课程规则</a:t>
            </a:r>
            <a:endParaRPr kumimoji="1" lang="en-US" altLang="zh-CN" sz="3600" b="1">
              <a:solidFill>
                <a:schemeClr val="tx1">
                  <a:lumMod val="50000"/>
                  <a:lumOff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2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kumimoji="1" lang="zh-CN" altLang="en-US" sz="3200" b="1">
                <a:solidFill>
                  <a:srgbClr val="2722FA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</a:t>
            </a:r>
            <a:r>
              <a:rPr kumimoji="1" lang="zh-CN" altLang="en-US" sz="320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常用器件的识别</a:t>
            </a:r>
            <a:endParaRPr kumimoji="1" lang="zh-CN" altLang="en-US" sz="3200">
              <a:solidFill>
                <a:srgbClr val="C00000"/>
              </a:solidFill>
              <a:ea typeface="黑体" panose="0201060906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2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kumimoji="1" lang="zh-CN" altLang="en-US" sz="3200" b="1">
                <a:solidFill>
                  <a:srgbClr val="2722FA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</a:t>
            </a:r>
            <a:r>
              <a:rPr kumimoji="1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常用仪器的使用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kumimoji="1" lang="zh-CN" altLang="en-US" sz="3200" b="1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</a:t>
            </a:r>
            <a:r>
              <a:rPr kumimoji="1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实验</a:t>
            </a:r>
            <a:r>
              <a:rPr kumimoji="1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endParaRPr kumimoji="1" lang="zh-CN" altLang="en-US" sz="320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504825"/>
            <a:ext cx="7813675" cy="692150"/>
          </a:xfrm>
        </p:spPr>
        <p:txBody>
          <a:bodyPr/>
          <a:lstStyle/>
          <a:p>
            <a:pPr eaLnBrk="1" hangingPunct="1"/>
            <a:r>
              <a:rPr lang="zh-CN" altLang="en-US" sz="4000" b="1">
                <a:ea typeface="华文楷体" panose="02010600040101010101" pitchFamily="2" charset="-122"/>
              </a:rPr>
              <a:t>常用器件的识别</a:t>
            </a:r>
            <a:endParaRPr lang="zh-CN" altLang="en-US" sz="3600" b="1">
              <a:ea typeface="华文楷体" panose="02010600040101010101" pitchFamily="2" charset="-122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6013" y="1484313"/>
            <a:ext cx="7772400" cy="489701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b="1"/>
              <a:t>电阻、电位器、电容</a:t>
            </a:r>
            <a:r>
              <a:rPr lang="zh-CN" altLang="en-US" b="1">
                <a:ea typeface="华文楷体" panose="02010600040101010101" pitchFamily="2" charset="-122"/>
              </a:rPr>
              <a:t>（</a:t>
            </a:r>
            <a:r>
              <a:rPr lang="zh-CN" altLang="en-US" b="1">
                <a:solidFill>
                  <a:srgbClr val="7030A0"/>
                </a:solidFill>
                <a:ea typeface="华文楷体" panose="02010600040101010101" pitchFamily="2" charset="-122"/>
              </a:rPr>
              <a:t>教材</a:t>
            </a:r>
            <a:r>
              <a:rPr lang="en-US" altLang="zh-CN" b="1">
                <a:solidFill>
                  <a:srgbClr val="7030A0"/>
                </a:solidFill>
                <a:ea typeface="华文楷体" panose="02010600040101010101" pitchFamily="2" charset="-122"/>
              </a:rPr>
              <a:t>P316</a:t>
            </a:r>
            <a:r>
              <a:rPr lang="zh-CN" altLang="en-US" b="1">
                <a:ea typeface="华文楷体" panose="02010600040101010101" pitchFamily="2" charset="-122"/>
              </a:rPr>
              <a:t>）</a:t>
            </a:r>
            <a:endParaRPr lang="en-US" altLang="zh-CN" b="1"/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集成电路芯片</a:t>
            </a:r>
            <a:r>
              <a:rPr lang="zh-CN" altLang="en-US" b="1">
                <a:ea typeface="华文楷体" panose="02010600040101010101" pitchFamily="2" charset="-122"/>
              </a:rPr>
              <a:t>（</a:t>
            </a:r>
            <a:r>
              <a:rPr lang="zh-CN" altLang="en-US" b="1">
                <a:solidFill>
                  <a:srgbClr val="7030A0"/>
                </a:solidFill>
                <a:ea typeface="华文楷体" panose="02010600040101010101" pitchFamily="2" charset="-122"/>
              </a:rPr>
              <a:t>教材各实验及附录</a:t>
            </a:r>
            <a:r>
              <a:rPr lang="zh-CN" altLang="en-US" b="1">
                <a:ea typeface="华文楷体" panose="02010600040101010101" pitchFamily="2" charset="-122"/>
              </a:rPr>
              <a:t>）</a:t>
            </a:r>
            <a:endParaRPr lang="zh-CN" altLang="en-US" b="1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b="1">
                <a:solidFill>
                  <a:schemeClr val="bg1">
                    <a:lumMod val="6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二极管、发光二极管</a:t>
            </a:r>
            <a:endParaRPr lang="en-US" altLang="zh-CN" b="1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b="1">
                <a:solidFill>
                  <a:schemeClr val="bg1">
                    <a:lumMod val="6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三极管</a:t>
            </a:r>
            <a:endParaRPr lang="en-US" altLang="zh-CN" b="1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b="1">
                <a:solidFill>
                  <a:schemeClr val="bg1">
                    <a:lumMod val="6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共阴</a:t>
            </a:r>
            <a:r>
              <a:rPr lang="zh-CN" altLang="zh-CN" b="1">
                <a:solidFill>
                  <a:schemeClr val="bg1">
                    <a:lumMod val="6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7</a:t>
            </a:r>
            <a:r>
              <a:rPr lang="zh-CN" altLang="en-US" b="1">
                <a:solidFill>
                  <a:schemeClr val="bg1">
                    <a:lumMod val="6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段显示器 </a:t>
            </a:r>
            <a:endParaRPr lang="en-US" altLang="zh-CN" b="1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3600" b="1">
                <a:solidFill>
                  <a:srgbClr val="5644FE"/>
                </a:solidFill>
                <a:ea typeface="华文楷体" panose="02010600040101010101" pitchFamily="2" charset="-122"/>
              </a:rPr>
              <a:t>  </a:t>
            </a:r>
            <a:r>
              <a:rPr lang="en-US" altLang="zh-CN" b="1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b="1">
                <a:solidFill>
                  <a:srgbClr val="2722FA"/>
                </a:solidFill>
                <a:ea typeface="华文楷体" panose="02010600040101010101" pitchFamily="2" charset="-122"/>
              </a:rPr>
              <a:t>结合教材附录、</a:t>
            </a:r>
            <a:r>
              <a:rPr lang="en-US" altLang="zh-CN" b="1">
                <a:solidFill>
                  <a:srgbClr val="2722FA"/>
                </a:solidFill>
                <a:ea typeface="华文楷体" panose="02010600040101010101" pitchFamily="2" charset="-122"/>
              </a:rPr>
              <a:t>MOOC</a:t>
            </a:r>
            <a:r>
              <a:rPr lang="zh-CN" altLang="en-US" b="1">
                <a:solidFill>
                  <a:srgbClr val="2722FA"/>
                </a:solidFill>
                <a:ea typeface="华文楷体" panose="02010600040101010101" pitchFamily="2" charset="-122"/>
              </a:rPr>
              <a:t>模块二，自学）</a:t>
            </a:r>
            <a:endParaRPr lang="zh-CN" altLang="en-US" b="1">
              <a:solidFill>
                <a:srgbClr val="2722FA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ea typeface="华文楷体" panose="02010600040101010101" pitchFamily="2" charset="-122"/>
              </a:rPr>
              <a:t>电阻</a:t>
            </a:r>
            <a:endParaRPr lang="zh-CN" altLang="en-US" sz="2800">
              <a:solidFill>
                <a:srgbClr val="0000FF"/>
              </a:solidFill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7450" y="1412874"/>
            <a:ext cx="7272982" cy="4464398"/>
          </a:xfrm>
        </p:spPr>
        <p:txBody>
          <a:bodyPr/>
          <a:lstStyle/>
          <a:p>
            <a:pPr marL="355600" indent="-355600" eaLnBrk="1" hangingPunct="1">
              <a:lnSpc>
                <a:spcPct val="120000"/>
              </a:lnSpc>
              <a:spcBef>
                <a:spcPts val="1200"/>
              </a:spcBef>
            </a:pPr>
            <a:r>
              <a:rPr lang="zh-CN" altLang="en-US" sz="2800" b="1"/>
              <a:t>实际阻值</a:t>
            </a:r>
            <a:r>
              <a:rPr lang="zh-CN" altLang="en-US" sz="2800" b="1">
                <a:solidFill>
                  <a:schemeClr val="hlink"/>
                </a:solidFill>
              </a:rPr>
              <a:t>以</a:t>
            </a:r>
            <a:r>
              <a:rPr lang="zh-CN" altLang="en-US" sz="2800" b="1" dirty="0">
                <a:solidFill>
                  <a:schemeClr val="hlink"/>
                </a:solidFill>
              </a:rPr>
              <a:t>万用表测量值</a:t>
            </a:r>
            <a:r>
              <a:rPr lang="zh-CN" altLang="en-US" sz="2800" b="1" dirty="0"/>
              <a:t>为准！</a:t>
            </a:r>
            <a:endParaRPr lang="en-US" altLang="zh-CN" sz="2800" b="1" dirty="0"/>
          </a:p>
          <a:p>
            <a:pPr marL="355600" indent="-355600" eaLnBrk="1" hangingPunct="1">
              <a:lnSpc>
                <a:spcPct val="120000"/>
              </a:lnSpc>
              <a:spcBef>
                <a:spcPts val="1200"/>
              </a:spcBef>
            </a:pPr>
            <a:r>
              <a:rPr lang="zh-CN" altLang="en-US" sz="2800"/>
              <a:t>一般实验，实测值接近设计参数</a:t>
            </a:r>
            <a:r>
              <a:rPr lang="zh-CN" altLang="en-US" sz="2800" dirty="0"/>
              <a:t>值即可用，是否调整要看最后结果的误差。</a:t>
            </a:r>
            <a:endParaRPr lang="zh-CN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55600" indent="-355600" eaLnBrk="1" hangingPunct="1">
              <a:lnSpc>
                <a:spcPct val="120000"/>
              </a:lnSpc>
              <a:spcBef>
                <a:spcPts val="1200"/>
              </a:spcBef>
            </a:pPr>
            <a:r>
              <a:rPr lang="zh-CN" altLang="en-US" sz="2800" b="1" dirty="0"/>
              <a:t>色环电阻</a:t>
            </a:r>
            <a:r>
              <a:rPr lang="zh-CN" altLang="en-US" sz="2800" b="1" dirty="0">
                <a:solidFill>
                  <a:srgbClr val="C00000"/>
                </a:solidFill>
              </a:rPr>
              <a:t>倍率标值</a:t>
            </a:r>
            <a:r>
              <a:rPr lang="zh-CN" altLang="en-US" sz="2800" b="1">
                <a:solidFill>
                  <a:srgbClr val="C00000"/>
                </a:solidFill>
              </a:rPr>
              <a:t>法</a:t>
            </a:r>
            <a:r>
              <a:rPr lang="zh-CN" altLang="en-US" sz="2800" b="1"/>
              <a:t>，逐步熟练掌握</a:t>
            </a:r>
            <a:endParaRPr lang="en-US" altLang="zh-CN" sz="2800" b="1" dirty="0"/>
          </a:p>
          <a:p>
            <a:pPr marL="857250" lvl="1" indent="-457200" eaLnBrk="1" hangingPunct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用于初选</a:t>
            </a:r>
            <a:r>
              <a:rPr lang="zh-CN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排错</a:t>
            </a:r>
            <a:r>
              <a:rPr lang="zh-CN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选表档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857250" lvl="1" indent="-457200" eaLnBrk="1" hangingPunct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操作中边用边记，省时高效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857250" lvl="1" indent="-457200" eaLnBrk="1" hangingPunct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笔试前硬背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857250" lvl="1" indent="-457200" eaLnBrk="1" hangingPunct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0164DC43-6E5B-4AD8-A8B4-84CB8CF0D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28184" y="212725"/>
            <a:ext cx="1843087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7018A35B-2B21-4695-B8F8-EED13D458F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982662"/>
          </a:xfrm>
        </p:spPr>
        <p:txBody>
          <a:bodyPr/>
          <a:lstStyle/>
          <a:p>
            <a:pPr eaLnBrk="1" hangingPunct="1"/>
            <a:r>
              <a:rPr lang="zh-CN" altLang="en-US" sz="4000" b="1">
                <a:ea typeface="华文楷体" panose="02010600040101010101" pitchFamily="2" charset="-122"/>
              </a:rPr>
              <a:t>色环</a:t>
            </a:r>
            <a:endParaRPr lang="zh-CN" altLang="en-US" sz="3200">
              <a:solidFill>
                <a:srgbClr val="0000FF"/>
              </a:solidFill>
            </a:endParaRPr>
          </a:p>
        </p:txBody>
      </p:sp>
      <p:pic>
        <p:nvPicPr>
          <p:cNvPr id="6" name="图片 1">
            <a:extLst>
              <a:ext uri="{FF2B5EF4-FFF2-40B4-BE49-F238E27FC236}">
                <a16:creationId xmlns:a16="http://schemas.microsoft.com/office/drawing/2014/main" id="{C05C0368-CAB4-493C-BA7B-C2246818D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1412776"/>
            <a:ext cx="7093470" cy="5368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B38C9F0F-14B7-4B88-8CE0-BF9A86C88004}"/>
              </a:ext>
            </a:extLst>
          </p:cNvPr>
          <p:cNvSpPr/>
          <p:nvPr/>
        </p:nvSpPr>
        <p:spPr bwMode="auto">
          <a:xfrm>
            <a:off x="4932040" y="1844824"/>
            <a:ext cx="1152128" cy="648072"/>
          </a:xfrm>
          <a:prstGeom prst="roundRect">
            <a:avLst/>
          </a:prstGeom>
          <a:noFill/>
          <a:ln w="38100" cap="flat" cmpd="sng" algn="ctr">
            <a:solidFill>
              <a:srgbClr val="2722FA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3048C-0049-4D90-8B3B-89DCC65DD1AD}"/>
              </a:ext>
            </a:extLst>
          </p:cNvPr>
          <p:cNvSpPr/>
          <p:nvPr/>
        </p:nvSpPr>
        <p:spPr bwMode="auto">
          <a:xfrm>
            <a:off x="5148064" y="5661247"/>
            <a:ext cx="504056" cy="982439"/>
          </a:xfrm>
          <a:prstGeom prst="roundRect">
            <a:avLst/>
          </a:prstGeom>
          <a:noFill/>
          <a:ln w="19050" cap="flat" cmpd="sng" algn="ctr">
            <a:solidFill>
              <a:srgbClr val="00B0F0"/>
            </a:solidFill>
            <a:prstDash val="sysDot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DE6DFDC-1A52-4D4C-A7C2-A5DF6F01C022}"/>
              </a:ext>
            </a:extLst>
          </p:cNvPr>
          <p:cNvSpPr/>
          <p:nvPr/>
        </p:nvSpPr>
        <p:spPr bwMode="auto">
          <a:xfrm>
            <a:off x="4067944" y="1844824"/>
            <a:ext cx="792088" cy="1728192"/>
          </a:xfrm>
          <a:prstGeom prst="roundRect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35C81D4-C50F-4BB3-B54F-4D712FA57CDD}"/>
              </a:ext>
            </a:extLst>
          </p:cNvPr>
          <p:cNvSpPr/>
          <p:nvPr/>
        </p:nvSpPr>
        <p:spPr bwMode="auto">
          <a:xfrm>
            <a:off x="4067944" y="5326880"/>
            <a:ext cx="792088" cy="982439"/>
          </a:xfrm>
          <a:prstGeom prst="round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17D9F14-B633-48D5-9C97-CCE171E03EBA}"/>
              </a:ext>
            </a:extLst>
          </p:cNvPr>
          <p:cNvCxnSpPr/>
          <p:nvPr/>
        </p:nvCxnSpPr>
        <p:spPr bwMode="auto">
          <a:xfrm>
            <a:off x="3419872" y="1916832"/>
            <a:ext cx="0" cy="3600400"/>
          </a:xfrm>
          <a:prstGeom prst="line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97904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type="title"/>
          </p:nvPr>
        </p:nvSpPr>
        <p:spPr>
          <a:xfrm>
            <a:off x="1150938" y="247650"/>
            <a:ext cx="7793037" cy="949325"/>
          </a:xfrm>
        </p:spPr>
        <p:txBody>
          <a:bodyPr/>
          <a:lstStyle/>
          <a:p>
            <a:pPr eaLnBrk="1" hangingPunct="1"/>
            <a:r>
              <a:rPr lang="zh-CN" altLang="en-US" b="1">
                <a:ea typeface="华文楷体" panose="02010600040101010101" pitchFamily="2" charset="-122"/>
              </a:rPr>
              <a:t>电阻</a:t>
            </a:r>
            <a:endParaRPr lang="zh-CN" altLang="en-US" sz="3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1" name="Rectangle 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464758" y="3356992"/>
            <a:ext cx="4456112" cy="14214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pPr marL="342900" indent="-342900" algn="l">
              <a:spcBef>
                <a:spcPts val="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绿</a:t>
            </a:r>
            <a:r>
              <a:rPr lang="zh-CN" altLang="en-US" sz="2800" b="1">
                <a:solidFill>
                  <a:srgbClr val="8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棕</a:t>
            </a:r>
            <a:r>
              <a:rPr lang="zh-CN" altLang="en-US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黑</a:t>
            </a:r>
            <a:r>
              <a:rPr lang="zh-CN" altLang="en-US" sz="1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红</a:t>
            </a:r>
            <a:r>
              <a:rPr lang="zh-CN" altLang="en-US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zh-CN" altLang="en-US" sz="280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棕</a:t>
            </a:r>
            <a:r>
              <a:rPr lang="zh-CN" altLang="en-US" sz="2800" b="1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zh-CN" altLang="en-US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zh-CN" altLang="en-US" sz="2800" b="1" dirty="0">
              <a:solidFill>
                <a:srgbClr val="3333CC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 algn="l">
              <a:spcBef>
                <a:spcPts val="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None/>
            </a:pPr>
            <a:r>
              <a:rPr lang="zh-CN" altLang="en-US" sz="12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</a:t>
            </a:r>
            <a:r>
              <a:rPr lang="en-US" altLang="zh-CN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zh-CN" altLang="zh-CN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1 </a:t>
            </a:r>
            <a:r>
              <a:rPr lang="en-US" altLang="zh-CN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r>
              <a:rPr lang="zh-CN" altLang="zh-CN" sz="20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zh-CN" altLang="zh-CN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en-US" altLang="zh-CN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en-US" altLang="zh-CN" sz="280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endParaRPr lang="zh-CN" altLang="en-US" sz="2800" dirty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lvl="0" indent="-342900" algn="l">
              <a:spcBef>
                <a:spcPts val="0"/>
              </a:spcBef>
              <a:buClr>
                <a:srgbClr val="FF0000"/>
              </a:buClr>
              <a:buSzPct val="110000"/>
            </a:pPr>
            <a:r>
              <a:rPr lang="zh-CN" altLang="zh-CN" sz="28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510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zh-CN" sz="2800" b="1">
                <a:solidFill>
                  <a:srgbClr val="2722FA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10</a:t>
            </a:r>
            <a:r>
              <a:rPr lang="zh-CN" altLang="zh-CN" sz="2800" b="1" baseline="300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en-US" altLang="zh-CN" sz="2800" b="1" baseline="300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＝ </a:t>
            </a:r>
            <a:r>
              <a:rPr lang="zh-CN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51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k </a:t>
            </a:r>
            <a:r>
              <a:rPr lang="el-GR" altLang="zh-CN" sz="28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800" b="1">
                <a:solidFill>
                  <a:srgbClr val="C00000"/>
                </a:solidFill>
                <a:latin typeface="+mn-ea"/>
              </a:rPr>
              <a:t> ±1%</a:t>
            </a:r>
            <a:endParaRPr lang="zh-CN" altLang="zh-CN" sz="2800" b="1" dirty="0">
              <a:solidFill>
                <a:srgbClr val="000000"/>
              </a:solidFill>
              <a:latin typeface="Symbol" panose="05050102010706020507" pitchFamily="18" charset="2"/>
              <a:ea typeface="黑体" panose="02010609060101010101" pitchFamily="2" charset="-122"/>
            </a:endParaRPr>
          </a:p>
        </p:txBody>
      </p:sp>
      <p:graphicFrame>
        <p:nvGraphicFramePr>
          <p:cNvPr id="286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4053521"/>
              </p:ext>
            </p:extLst>
          </p:nvPr>
        </p:nvGraphicFramePr>
        <p:xfrm>
          <a:off x="1139607" y="1507250"/>
          <a:ext cx="3752190" cy="1674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8" name="Picture" r:id="rId3" imgW="12658725" imgH="5610225" progId="Word.Picture.8">
                  <p:embed/>
                </p:oleObj>
              </mc:Choice>
              <mc:Fallback>
                <p:oleObj name="Picture" r:id="rId3" imgW="12658725" imgH="5610225" progId="Word.Pictur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9607" y="1507250"/>
                        <a:ext cx="3752190" cy="16740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Object 16"/>
          <p:cNvGraphicFramePr>
            <a:graphicFrameLocks noChangeAspect="1"/>
          </p:cNvGraphicFramePr>
          <p:nvPr/>
        </p:nvGraphicFramePr>
        <p:xfrm>
          <a:off x="5390075" y="3239358"/>
          <a:ext cx="3467902" cy="3325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9" r:id="rId5" imgW="2105025" imgH="2019300" progId="PBrush">
                  <p:embed/>
                </p:oleObj>
              </mc:Choice>
              <mc:Fallback>
                <p:oleObj r:id="rId5" imgW="2105025" imgH="2019300" progId="PBrush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0075" y="3239358"/>
                        <a:ext cx="3467902" cy="3325366"/>
                      </a:xfrm>
                      <a:prstGeom prst="rect">
                        <a:avLst/>
                      </a:prstGeom>
                      <a:noFill/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2790235" y="3415117"/>
            <a:ext cx="1415772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55600" lvl="0" indent="-355600" algn="l">
              <a:spcBef>
                <a:spcPts val="0"/>
              </a:spcBef>
              <a:buClr>
                <a:srgbClr val="3333CC"/>
              </a:buClr>
              <a:buSzPct val="60000"/>
            </a:pPr>
            <a:r>
              <a:rPr lang="zh-CN" altLang="en-US" sz="2400" dirty="0">
                <a:latin typeface="Times New Roman" panose="02020603050405020304" pitchFamily="18" charset="0"/>
              </a:rPr>
              <a:t>缺省单位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355600" lvl="0" indent="-355600" algn="l">
              <a:spcBef>
                <a:spcPts val="0"/>
              </a:spcBef>
              <a:buClr>
                <a:srgbClr val="3333CC"/>
              </a:buClr>
              <a:buSzPct val="60000"/>
            </a:pP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C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endParaRPr lang="zh-CN" altLang="en-US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占位符 2">
            <a:extLst>
              <a:ext uri="{FF2B5EF4-FFF2-40B4-BE49-F238E27FC236}">
                <a16:creationId xmlns:a16="http://schemas.microsoft.com/office/drawing/2014/main" id="{9E38A580-8D30-4310-8D56-8F9C9A572909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390075" y="1331502"/>
            <a:ext cx="3467902" cy="184977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indent="-457200">
              <a:defRPr sz="240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>
              <a:buFont typeface="Wingdings" panose="05000000000000000000" pitchFamily="2" charset="2"/>
              <a:buChar char="l"/>
              <a:defRPr/>
            </a:pPr>
            <a:r>
              <a:rPr lang="zh-CN" alt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标称阻值</a:t>
            </a:r>
            <a:endParaRPr lang="en-US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>
              <a:buFont typeface="Wingdings" panose="05000000000000000000" pitchFamily="2" charset="2"/>
              <a:buChar char="l"/>
              <a:defRPr/>
            </a:pPr>
            <a:r>
              <a:rPr lang="zh-CN" altLang="en-US">
                <a:solidFill>
                  <a:schemeClr val="bg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生产精度</a:t>
            </a:r>
            <a:endParaRPr lang="en-US" altLang="zh-CN">
              <a:solidFill>
                <a:schemeClr val="bg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>
              <a:buFont typeface="Wingdings" panose="05000000000000000000" pitchFamily="2" charset="2"/>
              <a:buChar char="l"/>
              <a:defRPr/>
            </a:pPr>
            <a:r>
              <a:rPr lang="zh-CN" altLang="en-US" sz="28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额定功率</a:t>
            </a:r>
            <a:r>
              <a:rPr lang="en-US" altLang="zh-CN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~</a:t>
            </a:r>
            <a:r>
              <a:rPr lang="zh-CN" altLang="en-US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个头</a:t>
            </a:r>
            <a:endParaRPr lang="en-US" altLang="zh-CN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algn="l">
              <a:defRPr/>
            </a:pPr>
            <a:r>
              <a:rPr lang="en-US" altLang="zh-CN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0.25w 0.5w 1w 2w  …</a:t>
            </a:r>
            <a:endParaRPr lang="zh-CN" altLang="en-US" dirty="0">
              <a:solidFill>
                <a:schemeClr val="accent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CC1FA77-B615-4D41-8BF2-DD35E670FCAD}"/>
              </a:ext>
            </a:extLst>
          </p:cNvPr>
          <p:cNvSpPr/>
          <p:nvPr/>
        </p:nvSpPr>
        <p:spPr>
          <a:xfrm>
            <a:off x="464758" y="5069164"/>
            <a:ext cx="2989833" cy="5442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55600" indent="-355600" algn="l">
              <a:lnSpc>
                <a:spcPct val="110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绿</a:t>
            </a:r>
            <a:r>
              <a:rPr lang="zh-CN" altLang="en-US" sz="2800" b="1" dirty="0">
                <a:solidFill>
                  <a:srgbClr val="8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棕</a:t>
            </a:r>
            <a:r>
              <a:rPr lang="zh-CN" altLang="en-US" sz="28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黑 </a:t>
            </a:r>
            <a:r>
              <a:rPr lang="zh-CN" altLang="en-US" sz="2800" b="1" dirty="0">
                <a:solidFill>
                  <a:srgbClr val="FF99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金</a:t>
            </a:r>
            <a:r>
              <a:rPr lang="zh-CN" altLang="en-US" sz="2800" b="1" dirty="0">
                <a:solidFill>
                  <a:srgbClr val="99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zh-CN" altLang="en-US" sz="280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棕</a:t>
            </a:r>
            <a:r>
              <a:rPr lang="zh-CN" altLang="zh-CN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 </a:t>
            </a:r>
            <a:r>
              <a:rPr lang="zh-CN" altLang="en-US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？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6" grpId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23928" y="1349342"/>
            <a:ext cx="3545706" cy="2481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2200" y="384175"/>
            <a:ext cx="4170363" cy="720725"/>
          </a:xfrm>
        </p:spPr>
        <p:txBody>
          <a:bodyPr/>
          <a:lstStyle/>
          <a:p>
            <a:pPr eaLnBrk="1" hangingPunct="1"/>
            <a:r>
              <a:rPr lang="zh-CN" altLang="en-US" sz="4000" b="1" dirty="0">
                <a:ea typeface="华文楷体" panose="02010600040101010101" pitchFamily="2" charset="-122"/>
              </a:rPr>
              <a:t>电容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3286116" y="5364505"/>
            <a:ext cx="550072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000000"/>
                </a:solidFill>
              </a:rPr>
              <a:t> 电解电容    </a:t>
            </a:r>
            <a:r>
              <a:rPr lang="zh-CN" altLang="en-US" sz="2800" b="1" dirty="0">
                <a:solidFill>
                  <a:srgbClr val="C00000"/>
                </a:solidFill>
              </a:rPr>
              <a:t>有极性，</a:t>
            </a:r>
            <a:r>
              <a:rPr lang="zh-CN" altLang="en-US" sz="2800" b="1" dirty="0">
                <a:solidFill>
                  <a:srgbClr val="000000"/>
                </a:solidFill>
              </a:rPr>
              <a:t>容量较大</a:t>
            </a:r>
            <a:r>
              <a:rPr lang="en-US" altLang="zh-CN" sz="2800" b="1" dirty="0">
                <a:solidFill>
                  <a:srgbClr val="000000"/>
                </a:solidFill>
              </a:rPr>
              <a:t> </a:t>
            </a:r>
            <a:endParaRPr lang="zh-CN" altLang="zh-CN" sz="4000" b="1" dirty="0">
              <a:solidFill>
                <a:srgbClr val="000000"/>
              </a:solidFill>
            </a:endParaRPr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843255" y="3899247"/>
            <a:ext cx="2786082" cy="1330533"/>
          </a:xfrm>
          <a:prstGeom prst="rect">
            <a:avLst/>
          </a:prstGeom>
          <a:solidFill>
            <a:srgbClr val="8AE6A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51520" y="5385359"/>
            <a:ext cx="2880320" cy="11079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  </a:t>
            </a:r>
            <a:r>
              <a:rPr lang="zh-CN" altLang="en-US" sz="3200" b="1">
                <a:solidFill>
                  <a:srgbClr val="000000"/>
                </a:solidFill>
              </a:rPr>
              <a:t>瓷片电容</a:t>
            </a:r>
            <a:endParaRPr lang="en-US" altLang="zh-CN" sz="3200" b="1">
              <a:solidFill>
                <a:srgbClr val="000000"/>
              </a:solidFill>
            </a:endParaRPr>
          </a:p>
          <a:p>
            <a:pPr algn="l" eaLnBrk="1" hangingPunct="1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0000"/>
                </a:solidFill>
              </a:rPr>
              <a:t>无极性，耐压</a:t>
            </a:r>
            <a:r>
              <a:rPr lang="en-US" altLang="zh-CN" sz="2400" b="1">
                <a:solidFill>
                  <a:srgbClr val="000000"/>
                </a:solidFill>
              </a:rPr>
              <a:t>&lt;50V</a:t>
            </a:r>
            <a:endParaRPr lang="zh-CN" altLang="zh-CN" sz="3600" b="1" dirty="0">
              <a:solidFill>
                <a:srgbClr val="00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286116" y="6026746"/>
            <a:ext cx="5702500" cy="4654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l">
              <a:lnSpc>
                <a:spcPct val="110000"/>
              </a:lnSpc>
              <a:spcBef>
                <a:spcPts val="600"/>
              </a:spcBef>
              <a:buClr>
                <a:srgbClr val="3333CC"/>
              </a:buClr>
              <a:buSzPct val="60000"/>
            </a:pPr>
            <a:r>
              <a:rPr lang="zh-CN" altLang="en-US" sz="2400" b="1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完整标印</a:t>
            </a:r>
            <a:r>
              <a:rPr lang="en-US" altLang="zh-CN" sz="2400" b="1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</a:t>
            </a:r>
            <a:r>
              <a:rPr lang="zh-CN" altLang="en-US" sz="2400" b="1" kern="0">
                <a:solidFill>
                  <a:srgbClr val="000000"/>
                </a:solidFill>
                <a:latin typeface="Times New Roman" panose="02020603050405020304" pitchFamily="18" charset="0"/>
              </a:rPr>
              <a:t>数值、</a:t>
            </a:r>
            <a:r>
              <a:rPr lang="zh-CN" altLang="en-US" sz="2400" b="1" kern="0">
                <a:latin typeface="Times New Roman" panose="02020603050405020304" pitchFamily="18" charset="0"/>
              </a:rPr>
              <a:t>单位、</a:t>
            </a:r>
            <a:r>
              <a:rPr lang="zh-CN" altLang="en-US" sz="2400" b="1" kern="0">
                <a:latin typeface="Times New Roman" panose="02020603050405020304" pitchFamily="18" charset="0"/>
                <a:ea typeface="宋体" panose="02010600030101010101" pitchFamily="2" charset="-122"/>
              </a:rPr>
              <a:t>耐压值、</a:t>
            </a:r>
            <a:r>
              <a:rPr lang="zh-CN" altLang="en-US" sz="2400" b="1" u="sng" kern="0">
                <a:solidFill>
                  <a:srgbClr val="2722FA"/>
                </a:solidFill>
                <a:latin typeface="Times New Roman" panose="02020603050405020304" pitchFamily="18" charset="0"/>
              </a:rPr>
              <a:t>负极</a:t>
            </a:r>
            <a:endParaRPr lang="zh-CN" altLang="en-US" sz="2400" b="1" kern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7892" name="Picture 4"/>
          <p:cNvPicPr>
            <a:picLocks noChangeAspect="1" noChangeArrowheads="1"/>
          </p:cNvPicPr>
          <p:nvPr/>
        </p:nvPicPr>
        <p:blipFill rotWithShape="1">
          <a:blip r:embed="rId5"/>
          <a:srcRect b="11424"/>
          <a:stretch/>
        </p:blipFill>
        <p:spPr bwMode="auto">
          <a:xfrm>
            <a:off x="990585" y="1412776"/>
            <a:ext cx="1426619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直接箭头连接符 6"/>
          <p:cNvCxnSpPr/>
          <p:nvPr/>
        </p:nvCxnSpPr>
        <p:spPr bwMode="auto">
          <a:xfrm>
            <a:off x="5843255" y="2708920"/>
            <a:ext cx="1897097" cy="1368152"/>
          </a:xfrm>
          <a:prstGeom prst="straightConnector1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" name="椭圆 12"/>
          <p:cNvSpPr/>
          <p:nvPr/>
        </p:nvSpPr>
        <p:spPr bwMode="auto">
          <a:xfrm>
            <a:off x="6660232" y="3861048"/>
            <a:ext cx="360040" cy="393849"/>
          </a:xfrm>
          <a:prstGeom prst="ellipse">
            <a:avLst/>
          </a:prstGeom>
          <a:noFill/>
          <a:ln w="38100" cap="flat" cmpd="sng" algn="ctr">
            <a:solidFill>
              <a:srgbClr val="7030A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13306" y="4293096"/>
            <a:ext cx="1781175" cy="101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F43709E-8F9A-4AD6-9866-371C4BEF6B8E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148064" y="3501009"/>
            <a:ext cx="3096344" cy="2592287"/>
          </a:xfrm>
          <a:prstGeom prst="straightConnector1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2"/>
          <p:cNvSpPr/>
          <p:nvPr/>
        </p:nvSpPr>
        <p:spPr bwMode="auto">
          <a:xfrm>
            <a:off x="6689395" y="4102488"/>
            <a:ext cx="2254579" cy="233482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圆角矩形 2"/>
          <p:cNvSpPr/>
          <p:nvPr/>
        </p:nvSpPr>
        <p:spPr bwMode="auto">
          <a:xfrm>
            <a:off x="2627784" y="4131979"/>
            <a:ext cx="229704" cy="222264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 dirty="0">
                <a:ea typeface="华文楷体" panose="02010600040101010101" pitchFamily="2" charset="-122"/>
              </a:rPr>
              <a:t>瓷片电容的标称容量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6963" y="1643050"/>
            <a:ext cx="7862887" cy="4794263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</a:rPr>
              <a:t>小于</a:t>
            </a:r>
            <a:r>
              <a:rPr lang="zh-CN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zh-CN" sz="2800" b="1" dirty="0">
                <a:latin typeface="Symbol" panose="05050102010706020507" pitchFamily="18" charset="2"/>
              </a:rPr>
              <a:t>m</a:t>
            </a:r>
            <a:r>
              <a:rPr lang="zh-CN" altLang="zh-CN" sz="2800" b="1" dirty="0"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</a:rPr>
              <a:t> ，一般只标数值，单位缺省为</a:t>
            </a:r>
            <a:r>
              <a:rPr lang="zh-CN" altLang="zh-CN" sz="28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p</a:t>
            </a:r>
            <a:r>
              <a:rPr lang="zh-CN" altLang="zh-CN" sz="2800" b="1" dirty="0">
                <a:solidFill>
                  <a:srgbClr val="990099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不到三位数，全是有效数值。例：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zh-CN" sz="2800" b="1" dirty="0">
                <a:latin typeface="Times New Roman" panose="02020603050405020304" pitchFamily="18" charset="0"/>
              </a:rPr>
              <a:t>        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22</a:t>
            </a:r>
            <a:r>
              <a:rPr lang="zh-CN" altLang="en-US" sz="2800" b="1" dirty="0">
                <a:latin typeface="Times New Roman" panose="02020603050405020304" pitchFamily="18" charset="0"/>
              </a:rPr>
              <a:t>即</a:t>
            </a:r>
            <a:r>
              <a:rPr lang="en-US" altLang="zh-CN" sz="2800" b="1" dirty="0">
                <a:latin typeface="Times New Roman" panose="02020603050405020304" pitchFamily="18" charset="0"/>
              </a:rPr>
              <a:t>22</a:t>
            </a:r>
            <a:r>
              <a:rPr lang="zh-CN" altLang="zh-CN" sz="2800" b="1" dirty="0">
                <a:latin typeface="Times New Roman" panose="02020603050405020304" pitchFamily="18" charset="0"/>
              </a:rPr>
              <a:t>pF</a:t>
            </a:r>
            <a:r>
              <a:rPr lang="zh-CN" altLang="en-US" sz="2800" b="1" dirty="0">
                <a:latin typeface="Times New Roman" panose="02020603050405020304" pitchFamily="18" charset="0"/>
              </a:rPr>
              <a:t>；</a:t>
            </a:r>
            <a:r>
              <a:rPr lang="zh-CN" altLang="zh-CN" sz="2800" b="1" dirty="0">
                <a:latin typeface="Times New Roman" panose="02020603050405020304" pitchFamily="18" charset="0"/>
              </a:rPr>
              <a:t>6.8</a:t>
            </a:r>
            <a:r>
              <a:rPr lang="zh-CN" altLang="en-US" sz="2800" b="1" dirty="0">
                <a:latin typeface="Times New Roman" panose="02020603050405020304" pitchFamily="18" charset="0"/>
              </a:rPr>
              <a:t>即</a:t>
            </a:r>
            <a:r>
              <a:rPr lang="zh-CN" altLang="zh-CN" sz="2800" b="1" dirty="0">
                <a:latin typeface="Times New Roman" panose="02020603050405020304" pitchFamily="18" charset="0"/>
              </a:rPr>
              <a:t>6.8pF</a:t>
            </a:r>
            <a:r>
              <a:rPr lang="zh-CN" altLang="en-US" sz="2800" b="1" dirty="0">
                <a:latin typeface="Times New Roman" panose="02020603050405020304" pitchFamily="18" charset="0"/>
              </a:rPr>
              <a:t>；</a:t>
            </a:r>
            <a:r>
              <a:rPr lang="en-US" altLang="zh-CN" sz="2800" b="1" u="sng" dirty="0">
                <a:latin typeface="Times New Roman" panose="02020603050405020304" pitchFamily="18" charset="0"/>
              </a:rPr>
              <a:t>4</a:t>
            </a:r>
            <a:r>
              <a:rPr lang="en-US" altLang="zh-CN" sz="2800" b="1" u="sng" dirty="0">
                <a:solidFill>
                  <a:srgbClr val="2722FA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u="sng" dirty="0">
                <a:latin typeface="Times New Roman" panose="02020603050405020304" pitchFamily="18" charset="0"/>
              </a:rPr>
              <a:t>7</a:t>
            </a:r>
            <a:r>
              <a:rPr lang="zh-CN" altLang="en-US" sz="2800" b="1" u="sng" dirty="0">
                <a:latin typeface="Times New Roman" panose="02020603050405020304" pitchFamily="18" charset="0"/>
              </a:rPr>
              <a:t>即</a:t>
            </a:r>
            <a:r>
              <a:rPr lang="en-US" altLang="zh-CN" sz="2800" b="1" u="sng" dirty="0">
                <a:latin typeface="Times New Roman" panose="02020603050405020304" pitchFamily="18" charset="0"/>
              </a:rPr>
              <a:t>4</a:t>
            </a:r>
            <a:r>
              <a:rPr lang="en-US" altLang="zh-CN" sz="2800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2800" b="1" u="sng" dirty="0">
                <a:latin typeface="Times New Roman" panose="02020603050405020304" pitchFamily="18" charset="0"/>
              </a:rPr>
              <a:t>7</a:t>
            </a:r>
            <a:r>
              <a:rPr lang="en-US" altLang="zh-CN" sz="2800" b="1" u="sng" dirty="0">
                <a:solidFill>
                  <a:srgbClr val="2722FA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zh-CN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标示三位数，</a:t>
            </a:r>
            <a:r>
              <a:rPr lang="zh-CN" altLang="en-US" b="1" dirty="0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末位是倍率</a:t>
            </a: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!  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zh-CN" sz="2800" b="1" dirty="0">
                <a:latin typeface="Times New Roman" panose="02020603050405020304" pitchFamily="18" charset="0"/>
              </a:rPr>
              <a:t>            10</a:t>
            </a:r>
            <a:r>
              <a:rPr lang="en-US" altLang="zh-CN" sz="1100" b="1" dirty="0">
                <a:latin typeface="Times New Roman" panose="02020603050405020304" pitchFamily="18" charset="0"/>
              </a:rPr>
              <a:t> </a:t>
            </a:r>
            <a:r>
              <a:rPr lang="zh-CN" altLang="zh-CN" sz="2800" b="1" dirty="0">
                <a:latin typeface="Times New Roman" panose="02020603050405020304" pitchFamily="18" charset="0"/>
              </a:rPr>
              <a:t>4</a:t>
            </a:r>
            <a:r>
              <a:rPr lang="zh-CN" altLang="en-US" sz="2800" b="1" dirty="0">
                <a:latin typeface="Times New Roman" panose="02020603050405020304" pitchFamily="18" charset="0"/>
              </a:rPr>
              <a:t>表示</a:t>
            </a:r>
            <a:r>
              <a:rPr lang="zh-CN" altLang="zh-CN" sz="2800" b="1" dirty="0">
                <a:latin typeface="Times New Roman" panose="02020603050405020304" pitchFamily="18" charset="0"/>
              </a:rPr>
              <a:t>10</a:t>
            </a:r>
            <a:r>
              <a:rPr lang="zh-CN" altLang="zh-CN" sz="2800" b="1" dirty="0"/>
              <a:t>×</a:t>
            </a:r>
            <a:r>
              <a:rPr lang="zh-CN" altLang="zh-CN" sz="2800" b="1" dirty="0">
                <a:latin typeface="Times New Roman" panose="02020603050405020304" pitchFamily="18" charset="0"/>
              </a:rPr>
              <a:t>10</a:t>
            </a:r>
            <a:r>
              <a:rPr lang="zh-CN" altLang="zh-CN" sz="2800" b="1" baseline="30000" dirty="0">
                <a:latin typeface="Times New Roman" panose="02020603050405020304" pitchFamily="18" charset="0"/>
              </a:rPr>
              <a:t>4</a:t>
            </a:r>
            <a:r>
              <a:rPr lang="zh-CN" altLang="zh-CN" sz="2800" b="1" dirty="0">
                <a:latin typeface="Times New Roman" panose="02020603050405020304" pitchFamily="18" charset="0"/>
              </a:rPr>
              <a:t>pF= </a:t>
            </a:r>
            <a:r>
              <a:rPr lang="zh-CN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10</a:t>
            </a:r>
            <a:r>
              <a:rPr lang="zh-CN" altLang="zh-CN" sz="28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F</a:t>
            </a:r>
            <a:r>
              <a:rPr lang="zh-CN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=</a:t>
            </a:r>
            <a:r>
              <a:rPr lang="zh-CN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sz="2800" dirty="0">
                <a:latin typeface="Times New Roman" panose="02020603050405020304" pitchFamily="18" charset="0"/>
              </a:rPr>
              <a:t>10</a:t>
            </a:r>
            <a:r>
              <a:rPr lang="en-US" altLang="zh-CN" sz="2800" dirty="0">
                <a:latin typeface="Times New Roman" panose="02020603050405020304" pitchFamily="18" charset="0"/>
              </a:rPr>
              <a:t>0n</a:t>
            </a:r>
            <a:r>
              <a:rPr lang="zh-CN" altLang="zh-CN" sz="2800" dirty="0">
                <a:latin typeface="Times New Roman" panose="02020603050405020304" pitchFamily="18" charset="0"/>
              </a:rPr>
              <a:t> </a:t>
            </a:r>
            <a:r>
              <a:rPr lang="zh-CN" altLang="zh-CN" sz="2800" b="1" dirty="0">
                <a:latin typeface="Times New Roman" panose="02020603050405020304" pitchFamily="18" charset="0"/>
              </a:rPr>
              <a:t>=</a:t>
            </a:r>
            <a:r>
              <a:rPr lang="zh-CN" altLang="zh-CN" sz="2800" b="1" dirty="0">
                <a:solidFill>
                  <a:srgbClr val="969696"/>
                </a:solidFill>
                <a:latin typeface="Times New Roman" panose="02020603050405020304" pitchFamily="18" charset="0"/>
              </a:rPr>
              <a:t>0</a:t>
            </a:r>
            <a:r>
              <a:rPr lang="zh-CN" altLang="zh-CN" sz="28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.1</a:t>
            </a:r>
            <a:r>
              <a:rPr lang="zh-CN" altLang="zh-CN" sz="2800" b="1" dirty="0">
                <a:solidFill>
                  <a:srgbClr val="0070C0"/>
                </a:solidFill>
                <a:latin typeface="Symbol" panose="05050102010706020507" pitchFamily="18" charset="2"/>
              </a:rPr>
              <a:t>m</a:t>
            </a:r>
            <a:endParaRPr lang="zh-CN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zh-CN" sz="2800" b="1" dirty="0">
                <a:latin typeface="Times New Roman" panose="02020603050405020304" pitchFamily="18" charset="0"/>
              </a:rPr>
              <a:t>            10</a:t>
            </a:r>
            <a:r>
              <a:rPr lang="en-US" altLang="zh-CN" sz="11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sz="2800" b="1" dirty="0"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</a:rPr>
              <a:t>表示</a:t>
            </a:r>
            <a:r>
              <a:rPr lang="zh-CN" altLang="zh-CN" sz="2800" b="1" dirty="0">
                <a:latin typeface="Times New Roman" panose="02020603050405020304" pitchFamily="18" charset="0"/>
              </a:rPr>
              <a:t>10</a:t>
            </a:r>
            <a:r>
              <a:rPr lang="zh-CN" altLang="zh-CN" sz="2800" b="1" dirty="0"/>
              <a:t>×</a:t>
            </a:r>
            <a:r>
              <a:rPr lang="zh-CN" altLang="zh-CN" sz="2800" b="1" dirty="0">
                <a:latin typeface="Times New Roman" panose="02020603050405020304" pitchFamily="18" charset="0"/>
              </a:rPr>
              <a:t>10</a:t>
            </a:r>
            <a:r>
              <a:rPr lang="zh-CN" altLang="zh-CN" sz="2800" b="1" baseline="30000" dirty="0">
                <a:latin typeface="Times New Roman" panose="02020603050405020304" pitchFamily="18" charset="0"/>
              </a:rPr>
              <a:t>3</a:t>
            </a:r>
            <a:r>
              <a:rPr lang="zh-CN" altLang="zh-CN" sz="2800" b="1" dirty="0">
                <a:latin typeface="Times New Roman" panose="02020603050405020304" pitchFamily="18" charset="0"/>
              </a:rPr>
              <a:t>pF= </a:t>
            </a:r>
            <a:r>
              <a:rPr lang="zh-CN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10</a:t>
            </a:r>
            <a:r>
              <a:rPr lang="zh-CN" altLang="zh-CN" sz="28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F</a:t>
            </a:r>
            <a:r>
              <a:rPr lang="zh-CN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=</a:t>
            </a:r>
            <a:r>
              <a:rPr lang="zh-CN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sz="2800" b="1" dirty="0">
                <a:latin typeface="Times New Roman" panose="02020603050405020304" pitchFamily="18" charset="0"/>
              </a:rPr>
              <a:t>10</a:t>
            </a:r>
            <a:r>
              <a:rPr lang="en-US" altLang="zh-CN" sz="2800" b="1" dirty="0">
                <a:solidFill>
                  <a:srgbClr val="2722FA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zh-CN" sz="2800" b="1" dirty="0">
                <a:latin typeface="Times New Roman" panose="02020603050405020304" pitchFamily="18" charset="0"/>
              </a:rPr>
              <a:t>=0.01</a:t>
            </a:r>
            <a:r>
              <a:rPr lang="zh-CN" altLang="zh-CN" sz="2800" b="1" dirty="0">
                <a:solidFill>
                  <a:srgbClr val="0070C0"/>
                </a:solidFill>
                <a:latin typeface="Symbol" panose="05050102010706020507" pitchFamily="18" charset="2"/>
              </a:rPr>
              <a:t>m</a:t>
            </a:r>
            <a:endParaRPr lang="zh-CN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zh-CN" sz="2800" b="1" dirty="0">
                <a:latin typeface="Times New Roman" panose="02020603050405020304" pitchFamily="18" charset="0"/>
              </a:rPr>
              <a:t>            10</a:t>
            </a:r>
            <a:r>
              <a:rPr lang="en-US" altLang="zh-CN" sz="11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sz="2800" b="1" dirty="0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表示</a:t>
            </a:r>
            <a:r>
              <a:rPr lang="zh-CN" altLang="zh-CN" sz="2800" b="1" dirty="0">
                <a:latin typeface="Times New Roman" panose="02020603050405020304" pitchFamily="18" charset="0"/>
              </a:rPr>
              <a:t>10×10</a:t>
            </a:r>
            <a:r>
              <a:rPr lang="zh-CN" altLang="zh-CN" sz="2800" b="1" baseline="30000" dirty="0">
                <a:latin typeface="Times New Roman" panose="02020603050405020304" pitchFamily="18" charset="0"/>
              </a:rPr>
              <a:t>2</a:t>
            </a:r>
            <a:r>
              <a:rPr lang="zh-CN" altLang="zh-CN" sz="2800" b="1" dirty="0">
                <a:latin typeface="Times New Roman" panose="02020603050405020304" pitchFamily="18" charset="0"/>
              </a:rPr>
              <a:t>pF= </a:t>
            </a:r>
            <a:r>
              <a:rPr lang="en-US" altLang="zh-CN" sz="2800" b="1" dirty="0">
                <a:latin typeface="Times New Roman" panose="02020603050405020304" pitchFamily="18" charset="0"/>
              </a:rPr>
              <a:t>              </a:t>
            </a:r>
            <a:r>
              <a:rPr lang="zh-CN" altLang="zh-CN" sz="2800" b="1" dirty="0">
                <a:latin typeface="Times New Roman" panose="02020603050405020304" pitchFamily="18" charset="0"/>
              </a:rPr>
              <a:t>1000p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969696"/>
                </a:solidFill>
                <a:latin typeface="Times New Roman" panose="02020603050405020304" pitchFamily="18" charset="0"/>
              </a:rPr>
              <a:t>=1n</a:t>
            </a:r>
            <a:r>
              <a:rPr lang="zh-CN" altLang="zh-CN" sz="2800" b="1" dirty="0">
                <a:solidFill>
                  <a:srgbClr val="969696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solidFill>
                <a:srgbClr val="969696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04248" y="662642"/>
            <a:ext cx="1872208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n </a:t>
            </a:r>
            <a:r>
              <a:rPr lang="zh-CN" altLang="en-US" sz="2400" b="1" dirty="0"/>
              <a:t>纳 </a:t>
            </a:r>
            <a:r>
              <a:rPr lang="en-US" altLang="zh-CN" sz="2400" b="1" dirty="0"/>
              <a:t>~10</a:t>
            </a:r>
            <a:r>
              <a:rPr lang="en-US" altLang="zh-CN" sz="2400" b="1" baseline="30000" dirty="0"/>
              <a:t>-9</a:t>
            </a:r>
            <a:endParaRPr lang="zh-CN" altLang="en-US" sz="2400" b="1" baseline="30000" dirty="0"/>
          </a:p>
        </p:txBody>
      </p:sp>
      <p:sp>
        <p:nvSpPr>
          <p:cNvPr id="5" name="TextBox 4"/>
          <p:cNvSpPr txBox="1"/>
          <p:nvPr/>
        </p:nvSpPr>
        <p:spPr>
          <a:xfrm>
            <a:off x="2070815" y="5995861"/>
            <a:ext cx="1357322" cy="40011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器件标示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08053" y="5937711"/>
            <a:ext cx="1477968" cy="40011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原理图标示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3848" y="3395280"/>
            <a:ext cx="3238500" cy="293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10509" y="4055686"/>
            <a:ext cx="1221647" cy="257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1"/>
          <p:cNvSpPr txBox="1"/>
          <p:nvPr/>
        </p:nvSpPr>
        <p:spPr>
          <a:xfrm>
            <a:off x="6804248" y="196089"/>
            <a:ext cx="1872208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/>
              <a:t>p </a:t>
            </a:r>
            <a:r>
              <a:rPr lang="zh-CN" altLang="en-US" sz="2400" b="1"/>
              <a:t>皮 </a:t>
            </a:r>
            <a:r>
              <a:rPr lang="en-US" altLang="zh-CN" sz="2400" b="1"/>
              <a:t>~10</a:t>
            </a:r>
            <a:r>
              <a:rPr lang="en-US" altLang="zh-CN" sz="2400" b="1" baseline="30000"/>
              <a:t>-12</a:t>
            </a:r>
            <a:endParaRPr lang="zh-CN" altLang="en-US" sz="2400" b="1" baseline="30000" dirty="0"/>
          </a:p>
        </p:txBody>
      </p:sp>
      <p:sp>
        <p:nvSpPr>
          <p:cNvPr id="11" name="TextBox 1"/>
          <p:cNvSpPr txBox="1"/>
          <p:nvPr/>
        </p:nvSpPr>
        <p:spPr>
          <a:xfrm>
            <a:off x="6804248" y="1124307"/>
            <a:ext cx="1872208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l-GR" altLang="zh-CN" sz="2400" b="1"/>
              <a:t>μ</a:t>
            </a:r>
            <a:r>
              <a:rPr lang="en-US" altLang="zh-CN" sz="2400" b="1"/>
              <a:t> </a:t>
            </a:r>
            <a:r>
              <a:rPr lang="zh-CN" altLang="en-US" sz="2400" b="1"/>
              <a:t>微 </a:t>
            </a:r>
            <a:r>
              <a:rPr lang="en-US" altLang="zh-CN" sz="2400" b="1"/>
              <a:t>~10</a:t>
            </a:r>
            <a:r>
              <a:rPr lang="en-US" altLang="zh-CN" sz="2400" b="1" baseline="30000"/>
              <a:t>-6</a:t>
            </a:r>
            <a:endParaRPr lang="zh-CN" altLang="en-US" sz="2400" b="1" baseline="30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" grpId="0" animBg="1"/>
      <p:bldP spid="2" grpId="0" animBg="1"/>
      <p:bldP spid="5" grpId="0" animBg="1"/>
      <p:bldP spid="6" grpId="0" animBg="1"/>
      <p:bldP spid="10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8313" y="2133600"/>
            <a:ext cx="7510462" cy="389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Rectangle 3"/>
          <p:cNvSpPr>
            <a:spLocks noGrp="1" noChangeArrowheads="1"/>
          </p:cNvSpPr>
          <p:nvPr>
            <p:ph type="title"/>
          </p:nvPr>
        </p:nvSpPr>
        <p:spPr>
          <a:xfrm>
            <a:off x="1150938" y="365125"/>
            <a:ext cx="7793037" cy="722313"/>
          </a:xfrm>
        </p:spPr>
        <p:txBody>
          <a:bodyPr/>
          <a:lstStyle/>
          <a:p>
            <a:pPr eaLnBrk="1" hangingPunct="1"/>
            <a:r>
              <a:rPr lang="zh-CN" altLang="en-US" sz="4000" b="1" dirty="0">
                <a:ea typeface="华文楷体" panose="02010600040101010101" pitchFamily="2" charset="-122"/>
              </a:rPr>
              <a:t>集成电路芯片</a:t>
            </a:r>
            <a:r>
              <a:rPr lang="zh-CN" altLang="en-US" sz="3600" b="1" dirty="0"/>
              <a:t>（</a:t>
            </a:r>
            <a:r>
              <a:rPr lang="zh-CN" altLang="en-US" sz="3200" b="1" dirty="0">
                <a:solidFill>
                  <a:srgbClr val="C00000"/>
                </a:solidFill>
                <a:latin typeface="宋体" panose="02010600030101010101" pitchFamily="2" charset="-122"/>
              </a:rPr>
              <a:t>双列直插封装</a:t>
            </a:r>
            <a:r>
              <a:rPr lang="zh-CN" altLang="zh-CN" sz="3200" b="1" dirty="0">
                <a:solidFill>
                  <a:srgbClr val="C00000"/>
                </a:solidFill>
                <a:latin typeface="宋体" panose="02010600030101010101" pitchFamily="2" charset="-122"/>
              </a:rPr>
              <a:t>DIP</a:t>
            </a:r>
            <a:r>
              <a:rPr lang="zh-CN" altLang="en-US" sz="3600" b="1" dirty="0"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414588" y="5157788"/>
            <a:ext cx="290512" cy="7302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FF0000"/>
                </a:solidFill>
                <a:ea typeface="黑体" panose="02010609060101010101" pitchFamily="2" charset="-122"/>
              </a:rPr>
              <a:t>缺口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2655888" y="4584700"/>
            <a:ext cx="161925" cy="2746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7415" name="Arc 7"/>
          <p:cNvSpPr/>
          <p:nvPr/>
        </p:nvSpPr>
        <p:spPr bwMode="auto">
          <a:xfrm flipH="1">
            <a:off x="611188" y="3500438"/>
            <a:ext cx="1081087" cy="1008062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chemeClr val="hlink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2" name="Rectangle 8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1116013" y="1484313"/>
            <a:ext cx="7777162" cy="4873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以正面字序或</a:t>
            </a:r>
            <a:r>
              <a:rPr lang="zh-CN" altLang="en-US" sz="2800" b="1" dirty="0">
                <a:solidFill>
                  <a:schemeClr val="hlink"/>
                </a:solidFill>
              </a:rPr>
              <a:t>缺口</a:t>
            </a:r>
            <a:r>
              <a:rPr lang="zh-CN" altLang="en-US" sz="2800" b="1" dirty="0"/>
              <a:t>下方定位 </a:t>
            </a:r>
            <a:r>
              <a:rPr lang="zh-CN" altLang="zh-CN" sz="2800" b="1" dirty="0"/>
              <a:t>1</a:t>
            </a:r>
            <a:r>
              <a:rPr lang="zh-CN" altLang="en-US" sz="2800" b="1" dirty="0"/>
              <a:t>，</a:t>
            </a:r>
            <a:r>
              <a:rPr lang="zh-CN" altLang="en-US" sz="2800" b="1" dirty="0">
                <a:solidFill>
                  <a:schemeClr val="hlink"/>
                </a:solidFill>
              </a:rPr>
              <a:t>逆时针</a:t>
            </a:r>
            <a:r>
              <a:rPr lang="zh-CN" altLang="en-US" sz="2800" b="1" dirty="0"/>
              <a:t>转一圈。</a:t>
            </a:r>
          </a:p>
        </p:txBody>
      </p:sp>
      <p:graphicFrame>
        <p:nvGraphicFramePr>
          <p:cNvPr id="36873" name="Object 9"/>
          <p:cNvGraphicFramePr>
            <a:graphicFrameLocks noChangeAspect="1"/>
          </p:cNvGraphicFramePr>
          <p:nvPr/>
        </p:nvGraphicFramePr>
        <p:xfrm>
          <a:off x="5207000" y="3533775"/>
          <a:ext cx="2709863" cy="243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r:id="rId4" imgW="1289685" imgH="1141730" progId="Word.Picture.8">
                  <p:embed/>
                </p:oleObj>
              </mc:Choice>
              <mc:Fallback>
                <p:oleObj r:id="rId4" imgW="1289685" imgH="1141730" progId="Word.Picture.8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044" r="-1378"/>
                      <a:stretch>
                        <a:fillRect/>
                      </a:stretch>
                    </p:blipFill>
                    <p:spPr bwMode="auto">
                      <a:xfrm>
                        <a:off x="5207000" y="3533775"/>
                        <a:ext cx="2709863" cy="24368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4" name="Text Box 10"/>
          <p:cNvSpPr txBox="1">
            <a:spLocks noChangeArrowheads="1"/>
          </p:cNvSpPr>
          <p:nvPr/>
        </p:nvSpPr>
        <p:spPr bwMode="auto">
          <a:xfrm>
            <a:off x="5511800" y="3916363"/>
            <a:ext cx="4318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FF0000"/>
                </a:solidFill>
              </a:rPr>
              <a:t>马蹄缺口</a:t>
            </a:r>
          </a:p>
        </p:txBody>
      </p:sp>
      <p:sp>
        <p:nvSpPr>
          <p:cNvPr id="36875" name="Text Box 11"/>
          <p:cNvSpPr txBox="1">
            <a:spLocks noChangeArrowheads="1"/>
          </p:cNvSpPr>
          <p:nvPr/>
        </p:nvSpPr>
        <p:spPr bwMode="auto">
          <a:xfrm>
            <a:off x="5932488" y="4129088"/>
            <a:ext cx="16303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Font typeface="Arial" panose="020B0604020202020204" pitchFamily="34" charset="0"/>
              <a:buNone/>
            </a:pPr>
            <a:r>
              <a:rPr lang="zh-CN" altLang="zh-CN" sz="2400" b="1" dirty="0">
                <a:solidFill>
                  <a:srgbClr val="FF0000"/>
                </a:solidFill>
              </a:rPr>
              <a:t> </a:t>
            </a:r>
            <a:r>
              <a:rPr lang="zh-CN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…</a:t>
            </a:r>
            <a:r>
              <a:rPr lang="zh-CN" altLang="zh-CN" sz="2400" b="1" dirty="0">
                <a:solidFill>
                  <a:srgbClr val="FF0000"/>
                </a:solidFill>
              </a:rPr>
              <a:t> </a:t>
            </a:r>
            <a:r>
              <a:rPr lang="zh-CN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…</a:t>
            </a:r>
            <a:r>
              <a:rPr lang="zh-CN" altLang="zh-CN" sz="2400" b="1" dirty="0">
                <a:solidFill>
                  <a:srgbClr val="FF0000"/>
                </a:solidFill>
              </a:rPr>
              <a:t> </a:t>
            </a:r>
            <a:r>
              <a:rPr lang="zh-CN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…</a:t>
            </a:r>
            <a:endParaRPr lang="zh-CN" altLang="zh-CN" sz="2400" b="1" dirty="0">
              <a:solidFill>
                <a:srgbClr val="FF0000"/>
              </a:solidFill>
            </a:endParaRPr>
          </a:p>
          <a:p>
            <a:pPr algn="l" eaLnBrk="1" hangingPunct="1">
              <a:buFont typeface="Arial" panose="020B0604020202020204" pitchFamily="34" charset="0"/>
              <a:buNone/>
            </a:pPr>
            <a:r>
              <a:rPr lang="zh-CN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…</a:t>
            </a:r>
            <a:r>
              <a:rPr lang="zh-CN" altLang="zh-CN" sz="2400" b="1" dirty="0">
                <a:solidFill>
                  <a:srgbClr val="FF0000"/>
                </a:solidFill>
              </a:rPr>
              <a:t> 741 </a:t>
            </a:r>
            <a:r>
              <a:rPr lang="zh-CN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…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17420" name="Text Box 12"/>
          <p:cNvSpPr txBox="1">
            <a:spLocks noChangeArrowheads="1"/>
          </p:cNvSpPr>
          <p:nvPr/>
        </p:nvSpPr>
        <p:spPr bwMode="auto">
          <a:xfrm>
            <a:off x="1628775" y="3565525"/>
            <a:ext cx="161925" cy="2746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7421" name="Text Box 13"/>
          <p:cNvSpPr txBox="1">
            <a:spLocks noChangeArrowheads="1"/>
          </p:cNvSpPr>
          <p:nvPr/>
        </p:nvSpPr>
        <p:spPr bwMode="auto">
          <a:xfrm>
            <a:off x="733425" y="4451350"/>
            <a:ext cx="161925" cy="2746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7422" name="Text Box 14"/>
          <p:cNvSpPr txBox="1">
            <a:spLocks noChangeArrowheads="1"/>
          </p:cNvSpPr>
          <p:nvPr/>
        </p:nvSpPr>
        <p:spPr bwMode="auto">
          <a:xfrm>
            <a:off x="1798638" y="5629275"/>
            <a:ext cx="303212" cy="2746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95536" y="6165304"/>
            <a:ext cx="7776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7030A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更多信息就要看各自资料、生产商的</a:t>
            </a:r>
            <a:r>
              <a:rPr lang="en-US" altLang="zh-CN" sz="2400" b="1">
                <a:solidFill>
                  <a:srgbClr val="7030A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Datesheet  ……</a:t>
            </a:r>
            <a:endParaRPr lang="zh-CN" altLang="en-US" sz="2400" b="1">
              <a:solidFill>
                <a:srgbClr val="7030A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6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animBg="1" autoUpdateAnimBg="0"/>
      <p:bldP spid="17413" grpId="0" animBg="1" autoUpdateAnimBg="0"/>
      <p:bldP spid="17415" grpId="0" animBg="1"/>
      <p:bldP spid="36872" grpId="0" build="p"/>
      <p:bldP spid="36874" grpId="0"/>
      <p:bldP spid="36875" grpId="0"/>
      <p:bldP spid="17420" grpId="0" animBg="1" autoUpdateAnimBg="0"/>
      <p:bldP spid="17421" grpId="0" animBg="1" autoUpdateAnimBg="0"/>
      <p:bldP spid="17422" grpId="0" animBg="1" autoUpdateAnimBg="0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9" name="Picture 7" descr="led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4321531" y="4802132"/>
            <a:ext cx="1977989" cy="1918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Picture 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03648" y="1364131"/>
            <a:ext cx="3264594" cy="3600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826" name="矩形 17"/>
          <p:cNvSpPr>
            <a:spLocks noChangeArrowheads="1"/>
          </p:cNvSpPr>
          <p:nvPr/>
        </p:nvSpPr>
        <p:spPr bwMode="auto">
          <a:xfrm>
            <a:off x="3070070" y="5967040"/>
            <a:ext cx="151216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/>
              <a:t>发光</a:t>
            </a:r>
            <a:endParaRPr lang="en-US" altLang="zh-CN" sz="2400" b="1"/>
          </a:p>
          <a:p>
            <a:r>
              <a:rPr lang="zh-CN" altLang="en-US" sz="2400" b="1"/>
              <a:t>二极管</a:t>
            </a:r>
          </a:p>
        </p:txBody>
      </p:sp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4089499" y="1581333"/>
            <a:ext cx="1295400" cy="1708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2000" b="1" dirty="0">
                <a:latin typeface="宋体" panose="02010600030101010101" pitchFamily="2" charset="-122"/>
              </a:rPr>
              <a:t>若有注意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 eaLnBrk="1" hangingPunct="1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 algn="l" eaLnBrk="1" hangingPunct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rPr>
              <a:t>个头有差</a:t>
            </a:r>
          </a:p>
          <a:p>
            <a:pPr algn="l" eaLnBrk="1" hangingPunct="1">
              <a:spcBef>
                <a:spcPts val="0"/>
              </a:spcBef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rPr>
              <a:t>种类不同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不可混放</a:t>
            </a:r>
            <a:endParaRPr lang="zh-CN" altLang="zh-CN" sz="20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screen"/>
          <a:srcRect/>
          <a:stretch>
            <a:fillRect/>
          </a:stretch>
        </p:blipFill>
        <p:spPr>
          <a:xfrm>
            <a:off x="6183363" y="2241179"/>
            <a:ext cx="1946100" cy="18463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006892" y="1410182"/>
            <a:ext cx="24228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/>
              <a:t>（共阴七段</a:t>
            </a:r>
            <a:r>
              <a:rPr lang="en-US" altLang="zh-CN" sz="2400" b="1"/>
              <a:t>LED</a:t>
            </a:r>
            <a:r>
              <a:rPr lang="zh-CN" altLang="en-US" sz="2400" b="1"/>
              <a:t>）</a:t>
            </a:r>
            <a:endParaRPr lang="en-US" altLang="zh-CN" sz="2400" b="1"/>
          </a:p>
          <a:p>
            <a:r>
              <a:rPr lang="en-US" altLang="zh-CN" sz="2400" b="1"/>
              <a:t>  </a:t>
            </a:r>
            <a:r>
              <a:rPr lang="zh-CN" altLang="en-US" sz="2400" b="1">
                <a:solidFill>
                  <a:srgbClr val="2722FA"/>
                </a:solidFill>
              </a:rPr>
              <a:t>数码管</a:t>
            </a:r>
            <a:endParaRPr lang="zh-CN" altLang="en-US" sz="24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更多器件</a:t>
            </a:r>
            <a:r>
              <a:rPr lang="en-US" altLang="zh-CN" b="1">
                <a:latin typeface="华文楷体" panose="02010600040101010101" pitchFamily="2" charset="-122"/>
                <a:ea typeface="华文楷体" panose="02010600040101010101" pitchFamily="2" charset="-122"/>
              </a:rPr>
              <a:t>—</a:t>
            </a:r>
            <a:r>
              <a:rPr lang="zh-CN" altLang="en-US" sz="3600" b="1">
                <a:latin typeface="华文楷体" panose="02010600040101010101" pitchFamily="2" charset="-122"/>
                <a:ea typeface="华文楷体" panose="02010600040101010101" pitchFamily="2" charset="-122"/>
              </a:rPr>
              <a:t>实验用到时自学</a:t>
            </a:r>
            <a:endParaRPr lang="zh-CN" altLang="en-US" sz="3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3689" y="4365104"/>
            <a:ext cx="1266693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800" b="1">
                <a:ea typeface="华文楷体" panose="02010600040101010101" pitchFamily="2" charset="-122"/>
              </a:rPr>
              <a:t>二极管</a:t>
            </a:r>
            <a:endParaRPr lang="zh-CN" altLang="en-US" sz="2800"/>
          </a:p>
        </p:txBody>
      </p:sp>
      <p:sp>
        <p:nvSpPr>
          <p:cNvPr id="12" name="矩形 11"/>
          <p:cNvSpPr/>
          <p:nvPr/>
        </p:nvSpPr>
        <p:spPr>
          <a:xfrm>
            <a:off x="1490382" y="2325901"/>
            <a:ext cx="958916" cy="400110"/>
          </a:xfrm>
          <a:prstGeom prst="rect">
            <a:avLst/>
          </a:prstGeom>
          <a:solidFill>
            <a:schemeClr val="accent1">
              <a:lumMod val="20000"/>
              <a:lumOff val="80000"/>
              <a:alpha val="65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000" b="1">
                <a:ea typeface="华文楷体" panose="02010600040101010101" pitchFamily="2" charset="-122"/>
              </a:rPr>
              <a:t>开关管</a:t>
            </a:r>
            <a:endParaRPr lang="zh-CN" altLang="en-US" sz="2000"/>
          </a:p>
        </p:txBody>
      </p:sp>
      <p:sp>
        <p:nvSpPr>
          <p:cNvPr id="13" name="矩形 12"/>
          <p:cNvSpPr/>
          <p:nvPr/>
        </p:nvSpPr>
        <p:spPr>
          <a:xfrm>
            <a:off x="3042346" y="2325901"/>
            <a:ext cx="958917" cy="400110"/>
          </a:xfrm>
          <a:prstGeom prst="rect">
            <a:avLst/>
          </a:prstGeom>
          <a:solidFill>
            <a:schemeClr val="accent1">
              <a:lumMod val="20000"/>
              <a:lumOff val="80000"/>
              <a:alpha val="65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000" b="1">
                <a:ea typeface="华文楷体" panose="02010600040101010101" pitchFamily="2" charset="-122"/>
              </a:rPr>
              <a:t>稳压管</a:t>
            </a:r>
            <a:endParaRPr lang="zh-CN" altLang="en-US" sz="20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348500" y="5153586"/>
            <a:ext cx="1017069" cy="1493703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331640" y="5157192"/>
            <a:ext cx="1261884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2800" b="1">
                <a:ea typeface="华文楷体" panose="02010600040101010101" pitchFamily="2" charset="-122"/>
              </a:rPr>
              <a:t>电位器</a:t>
            </a:r>
            <a:endParaRPr lang="zh-CN" altLang="en-US" sz="2800"/>
          </a:p>
        </p:txBody>
      </p:sp>
      <p:pic>
        <p:nvPicPr>
          <p:cNvPr id="17" name="Picture 5">
            <a:extLst>
              <a:ext uri="{FF2B5EF4-FFF2-40B4-BE49-F238E27FC236}">
                <a16:creationId xmlns:a16="http://schemas.microsoft.com/office/drawing/2014/main" id="{0B6F5ADA-C2D7-46BF-A65B-91ED4EF3B674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736" y="4974446"/>
            <a:ext cx="2310764" cy="1746128"/>
          </a:xfrm>
          <a:prstGeom prst="rect">
            <a:avLst/>
          </a:prstGeom>
          <a:noFill/>
          <a:ln>
            <a:noFill/>
          </a:ln>
          <a:effectLst/>
          <a:extLst/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B9383BDF-A756-47EF-875E-7C0D1AB0D242}"/>
              </a:ext>
            </a:extLst>
          </p:cNvPr>
          <p:cNvSpPr/>
          <p:nvPr/>
        </p:nvSpPr>
        <p:spPr>
          <a:xfrm>
            <a:off x="6484736" y="4451226"/>
            <a:ext cx="2047704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>
                <a:ea typeface="华文楷体" panose="02010600040101010101" pitchFamily="2" charset="-122"/>
              </a:rPr>
              <a:t>MOSFET</a:t>
            </a:r>
            <a:r>
              <a:rPr lang="zh-CN" altLang="en-US" sz="2800" b="1">
                <a:ea typeface="华文楷体" panose="02010600040101010101" pitchFamily="2" charset="-122"/>
              </a:rPr>
              <a:t>管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403648" y="1127698"/>
            <a:ext cx="58143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2722FA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工欲善其事必先利其器！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333375" y="836712"/>
            <a:ext cx="35814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20650" y="95250"/>
            <a:ext cx="8686800" cy="777875"/>
          </a:xfrm>
        </p:spPr>
        <p:txBody>
          <a:bodyPr/>
          <a:lstStyle/>
          <a:p>
            <a:pPr lvl="0" algn="l" eaLnBrk="1" hangingPunct="1">
              <a:spcBef>
                <a:spcPct val="50000"/>
              </a:spcBef>
            </a:pPr>
            <a:r>
              <a:rPr kumimoji="1" lang="zh-CN" altLang="en-US" sz="4000" b="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元件</a:t>
            </a:r>
            <a:r>
              <a:rPr kumimoji="1" lang="zh-CN" altLang="en-US" sz="4000" b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收纳</a:t>
            </a:r>
          </a:p>
        </p:txBody>
      </p:sp>
      <p:pic>
        <p:nvPicPr>
          <p:cNvPr id="8" name="Picture 4" descr="元件储存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467544" y="2095029"/>
            <a:ext cx="6222687" cy="4667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672" y="3429000"/>
            <a:ext cx="6868130" cy="2972954"/>
          </a:xfrm>
          <a:prstGeom prst="rect">
            <a:avLst/>
          </a:prstGeom>
          <a:ln w="63500">
            <a:solidFill>
              <a:srgbClr val="00B05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绪论</a:t>
            </a:r>
          </a:p>
        </p:txBody>
      </p:sp>
      <p:sp>
        <p:nvSpPr>
          <p:cNvPr id="6147" name="Rectangle 4"/>
          <p:cNvSpPr>
            <a:spLocks noChangeArrowheads="1"/>
          </p:cNvSpPr>
          <p:nvPr/>
        </p:nvSpPr>
        <p:spPr bwMode="auto">
          <a:xfrm>
            <a:off x="1476375" y="1412875"/>
            <a:ext cx="6553200" cy="2935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ts val="12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kumimoji="1" lang="en-US" altLang="zh-CN" sz="3200" b="1">
                <a:solidFill>
                  <a:schemeClr val="tx1">
                    <a:lumMod val="50000"/>
                    <a:lumOff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</a:t>
            </a:r>
            <a:r>
              <a:rPr kumimoji="1" lang="zh-CN" altLang="en-US" sz="3600" b="1">
                <a:solidFill>
                  <a:schemeClr val="tx1">
                    <a:lumMod val="50000"/>
                    <a:lumOff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课程规则</a:t>
            </a:r>
            <a:endParaRPr kumimoji="1" lang="en-US" altLang="zh-CN" sz="3600" b="1">
              <a:solidFill>
                <a:schemeClr val="tx1">
                  <a:lumMod val="50000"/>
                  <a:lumOff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2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kumimoji="1" lang="zh-CN" altLang="en-US" sz="3200" b="1">
                <a:solidFill>
                  <a:srgbClr val="969696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</a:t>
            </a:r>
            <a:r>
              <a:rPr kumimoji="1" lang="zh-CN" altLang="en-US" sz="3200">
                <a:solidFill>
                  <a:srgbClr val="969696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常用器件的识别</a:t>
            </a:r>
            <a:endParaRPr kumimoji="1" lang="zh-CN" altLang="en-US" sz="3200">
              <a:solidFill>
                <a:srgbClr val="969696"/>
              </a:solidFill>
              <a:ea typeface="黑体" panose="0201060906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2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kumimoji="1" lang="zh-CN" altLang="en-US" sz="3200" b="1">
                <a:solidFill>
                  <a:srgbClr val="2722FA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</a:t>
            </a:r>
            <a:r>
              <a:rPr kumimoji="1" lang="zh-CN" altLang="en-US" sz="32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常用仪器的使用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kumimoji="1" lang="zh-CN" altLang="en-US" sz="3200" b="1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</a:t>
            </a:r>
            <a:r>
              <a:rPr kumimoji="1" lang="zh-CN" altLang="en-US" sz="32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实验</a:t>
            </a:r>
            <a:r>
              <a:rPr kumimoji="1" lang="en-US" altLang="zh-CN" sz="32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endParaRPr kumimoji="1" lang="zh-CN" altLang="en-US" sz="3200" b="1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89025" y="381000"/>
            <a:ext cx="7727950" cy="768350"/>
          </a:xfrm>
        </p:spPr>
        <p:txBody>
          <a:bodyPr/>
          <a:lstStyle/>
          <a:p>
            <a:pPr eaLnBrk="1" hangingPunct="1"/>
            <a:r>
              <a:rPr kumimoji="1" lang="zh-CN" altLang="en-US" sz="48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常用仪器的使用</a:t>
            </a:r>
            <a:endParaRPr lang="zh-CN" altLang="en-US" sz="4800" b="1">
              <a:ea typeface="华文楷体" panose="02010600040101010101" pitchFamily="2" charset="-122"/>
            </a:endParaRPr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1547664" y="1556792"/>
            <a:ext cx="6084863" cy="3682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Blip>
                <a:blip r:embed="rId3"/>
              </a:buBlip>
            </a:pPr>
            <a:r>
              <a:rPr lang="zh-CN" altLang="zh-CN" sz="3200" b="1">
                <a:solidFill>
                  <a:srgbClr val="000000"/>
                </a:solidFill>
              </a:rPr>
              <a:t> </a:t>
            </a:r>
            <a:r>
              <a:rPr lang="zh-CN" altLang="en-US" sz="3200" b="1">
                <a:solidFill>
                  <a:srgbClr val="000000"/>
                </a:solidFill>
              </a:rPr>
              <a:t>面包板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Blip>
                <a:blip r:embed="rId3"/>
              </a:buBlip>
            </a:pPr>
            <a:r>
              <a:rPr lang="zh-CN" altLang="zh-CN" sz="3200" b="1">
                <a:solidFill>
                  <a:srgbClr val="000000"/>
                </a:solidFill>
              </a:rPr>
              <a:t> </a:t>
            </a:r>
            <a:r>
              <a:rPr lang="zh-CN" altLang="en-US" sz="3200" b="1">
                <a:solidFill>
                  <a:srgbClr val="000000"/>
                </a:solidFill>
              </a:rPr>
              <a:t>万用表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Blip>
                <a:blip r:embed="rId3"/>
              </a:buBlip>
            </a:pPr>
            <a:r>
              <a:rPr lang="zh-CN" altLang="zh-CN" sz="3200" b="1">
                <a:solidFill>
                  <a:srgbClr val="000000"/>
                </a:solidFill>
              </a:rPr>
              <a:t> </a:t>
            </a:r>
            <a:r>
              <a:rPr lang="zh-CN" altLang="en-US" sz="3200" b="1">
                <a:solidFill>
                  <a:srgbClr val="000000"/>
                </a:solidFill>
              </a:rPr>
              <a:t>稳压电源 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110000"/>
              <a:buBlip>
                <a:blip r:embed="rId3"/>
              </a:buBlip>
            </a:pPr>
            <a:r>
              <a:rPr lang="zh-CN" altLang="en-US" sz="3200" b="1">
                <a:solidFill>
                  <a:srgbClr val="000000"/>
                </a:solidFill>
              </a:rPr>
              <a:t> 数字示波器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Blip>
                <a:blip r:embed="rId3"/>
              </a:buBlip>
            </a:pPr>
            <a:r>
              <a:rPr lang="zh-CN" altLang="en-US" sz="3200" b="1">
                <a:solidFill>
                  <a:srgbClr val="000000"/>
                </a:solidFill>
              </a:rPr>
              <a:t> 波形产生器</a:t>
            </a:r>
            <a:r>
              <a:rPr lang="zh-CN" altLang="zh-CN" sz="3200" b="1">
                <a:solidFill>
                  <a:srgbClr val="000000"/>
                </a:solidFill>
              </a:rPr>
              <a:t> </a:t>
            </a:r>
            <a:endParaRPr lang="zh-CN" altLang="en-US" sz="3200" b="1">
              <a:solidFill>
                <a:srgbClr val="000000"/>
              </a:solidFill>
            </a:endParaRPr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4788024" y="1916832"/>
            <a:ext cx="3576104" cy="1605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3333CC"/>
                </a:solidFill>
                <a:ea typeface="华文楷体" panose="02010600040101010101" pitchFamily="2" charset="-122"/>
              </a:rPr>
              <a:t>       请参考</a:t>
            </a:r>
            <a:r>
              <a:rPr lang="en-US" altLang="zh-CN" sz="2800" b="1" dirty="0">
                <a:solidFill>
                  <a:srgbClr val="3333CC"/>
                </a:solidFill>
                <a:ea typeface="华文楷体" panose="02010600040101010101" pitchFamily="2" charset="-122"/>
              </a:rPr>
              <a:t>MOOC</a:t>
            </a:r>
            <a:r>
              <a:rPr lang="zh-CN" altLang="en-US" sz="2800" b="1" dirty="0">
                <a:solidFill>
                  <a:srgbClr val="3333CC"/>
                </a:solidFill>
                <a:ea typeface="华文楷体" panose="02010600040101010101" pitchFamily="2" charset="-122"/>
              </a:rPr>
              <a:t>、课件资料以及网络资源，认真自学自练。</a:t>
            </a:r>
            <a:endParaRPr lang="zh-CN" altLang="zh-CN" sz="2800" dirty="0">
              <a:solidFill>
                <a:srgbClr val="3333CC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763" y="396296"/>
            <a:ext cx="8086725" cy="6315075"/>
          </a:xfrm>
          <a:prstGeom prst="rect">
            <a:avLst/>
          </a:prstGeom>
          <a:ln w="63500">
            <a:solidFill>
              <a:srgbClr val="0070C0"/>
            </a:solidFill>
          </a:ln>
        </p:spPr>
      </p:pic>
      <p:sp>
        <p:nvSpPr>
          <p:cNvPr id="6" name="圆角矩形 5"/>
          <p:cNvSpPr/>
          <p:nvPr/>
        </p:nvSpPr>
        <p:spPr bwMode="auto">
          <a:xfrm flipV="1">
            <a:off x="3635896" y="6228272"/>
            <a:ext cx="5256584" cy="322641"/>
          </a:xfrm>
          <a:prstGeom prst="roundRect">
            <a:avLst/>
          </a:prstGeom>
          <a:noFill/>
          <a:ln w="38100" cap="flat" cmpd="sng" algn="ctr">
            <a:solidFill>
              <a:srgbClr val="2722F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24434E9-ADD9-40E7-8A2C-53C53CA3D483}"/>
              </a:ext>
            </a:extLst>
          </p:cNvPr>
          <p:cNvSpPr/>
          <p:nvPr/>
        </p:nvSpPr>
        <p:spPr bwMode="auto">
          <a:xfrm>
            <a:off x="3923928" y="5013176"/>
            <a:ext cx="4680520" cy="432048"/>
          </a:xfrm>
          <a:prstGeom prst="rect">
            <a:avLst/>
          </a:prstGeom>
          <a:noFill/>
          <a:ln w="2222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ADCCABD-E1A8-48E4-A6E7-4D8986A53FAD}"/>
              </a:ext>
            </a:extLst>
          </p:cNvPr>
          <p:cNvSpPr/>
          <p:nvPr/>
        </p:nvSpPr>
        <p:spPr bwMode="auto">
          <a:xfrm>
            <a:off x="3923928" y="4380343"/>
            <a:ext cx="3816424" cy="432048"/>
          </a:xfrm>
          <a:prstGeom prst="rect">
            <a:avLst/>
          </a:prstGeom>
          <a:noFill/>
          <a:ln w="2222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4675B2-1EF1-4BFF-AA23-D6CBC36EC55C}"/>
              </a:ext>
            </a:extLst>
          </p:cNvPr>
          <p:cNvSpPr/>
          <p:nvPr/>
        </p:nvSpPr>
        <p:spPr bwMode="auto">
          <a:xfrm>
            <a:off x="3923928" y="3228215"/>
            <a:ext cx="4104456" cy="432048"/>
          </a:xfrm>
          <a:prstGeom prst="rect">
            <a:avLst/>
          </a:prstGeom>
          <a:noFill/>
          <a:ln w="2222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/>
      <p:bldP spid="6" grpId="0" animBg="1"/>
      <p:bldP spid="2" grpId="0" animBg="1"/>
      <p:bldP spid="8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/>
          <p:nvPr/>
        </p:nvPicPr>
        <p:blipFill>
          <a:blip r:embed="rId2" cstate="screen"/>
          <a:stretch>
            <a:fillRect/>
          </a:stretch>
        </p:blipFill>
        <p:spPr>
          <a:xfrm rot="5400000">
            <a:off x="3483129" y="1205503"/>
            <a:ext cx="2404110" cy="8003233"/>
          </a:xfrm>
          <a:prstGeom prst="rect">
            <a:avLst/>
          </a:prstGeom>
        </p:spPr>
      </p:pic>
      <p:pic>
        <p:nvPicPr>
          <p:cNvPr id="22" name="图片 21"/>
          <p:cNvPicPr/>
          <p:nvPr/>
        </p:nvPicPr>
        <p:blipFill>
          <a:blip r:embed="rId3"/>
          <a:stretch>
            <a:fillRect/>
          </a:stretch>
        </p:blipFill>
        <p:spPr>
          <a:xfrm>
            <a:off x="683568" y="1257702"/>
            <a:ext cx="8003232" cy="2412598"/>
          </a:xfrm>
          <a:prstGeom prst="rect">
            <a:avLst/>
          </a:prstGeom>
        </p:spPr>
      </p:pic>
      <p:sp>
        <p:nvSpPr>
          <p:cNvPr id="40964" name="Line 4"/>
          <p:cNvSpPr>
            <a:spLocks noChangeShapeType="1"/>
          </p:cNvSpPr>
          <p:nvPr/>
        </p:nvSpPr>
        <p:spPr bwMode="auto">
          <a:xfrm>
            <a:off x="1016000" y="1066800"/>
            <a:ext cx="767080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title"/>
          </p:nvPr>
        </p:nvSpPr>
        <p:spPr>
          <a:xfrm>
            <a:off x="900113" y="266700"/>
            <a:ext cx="6167437" cy="692150"/>
          </a:xfrm>
        </p:spPr>
        <p:txBody>
          <a:bodyPr/>
          <a:lstStyle/>
          <a:p>
            <a:pPr eaLnBrk="1" hangingPunct="1"/>
            <a:r>
              <a:rPr lang="zh-CN" altLang="en-US" b="1">
                <a:ea typeface="华文楷体" panose="02010600040101010101" pitchFamily="2" charset="-122"/>
              </a:rPr>
              <a:t>面包板</a:t>
            </a:r>
            <a:endParaRPr lang="zh-CN" altLang="en-US" sz="2800" b="1">
              <a:ea typeface="华文楷体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1230086" y="1578429"/>
            <a:ext cx="6942314" cy="1730828"/>
          </a:xfrm>
          <a:prstGeom prst="rect">
            <a:avLst/>
          </a:prstGeom>
          <a:noFill/>
          <a:ln w="44450" cap="flat" cmpd="sng" algn="ctr">
            <a:solidFill>
              <a:schemeClr val="hlink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>
              <a:buFont typeface="Arial" panose="020B0604020202020204" pitchFamily="34" charset="0"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17702" y="4348960"/>
            <a:ext cx="5850642" cy="523220"/>
          </a:xfrm>
          <a:prstGeom prst="rect">
            <a:avLst/>
          </a:prstGeom>
          <a:solidFill>
            <a:srgbClr val="5644FE">
              <a:alpha val="70000"/>
            </a:srgb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C8FFC8"/>
                </a:solidFill>
              </a:rPr>
              <a:t>打开背面看，更好理解</a:t>
            </a:r>
            <a:r>
              <a:rPr lang="en-US" altLang="zh-CN" sz="2800" b="1">
                <a:solidFill>
                  <a:srgbClr val="C8FFC8"/>
                </a:solidFill>
              </a:rPr>
              <a:t>MOOC</a:t>
            </a:r>
            <a:r>
              <a:rPr lang="zh-CN" altLang="en-US" sz="2800" b="1">
                <a:solidFill>
                  <a:srgbClr val="C8FFC8"/>
                </a:solidFill>
              </a:rPr>
              <a:t>讲解</a:t>
            </a:r>
            <a:endParaRPr lang="zh-CN" altLang="en-US" sz="2400" b="1">
              <a:solidFill>
                <a:srgbClr val="C8FFC8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30086" y="3347700"/>
            <a:ext cx="7750629" cy="369332"/>
          </a:xfrm>
          <a:prstGeom prst="rect">
            <a:avLst/>
          </a:prstGeom>
          <a:solidFill>
            <a:schemeClr val="tx2">
              <a:lumMod val="40000"/>
              <a:lumOff val="60000"/>
              <a:alpha val="50000"/>
            </a:schemeClr>
          </a:solidFill>
        </p:spPr>
        <p:txBody>
          <a:bodyPr wrap="square" lIns="36000" rIns="36000" rtlCol="0">
            <a:spAutoFit/>
          </a:bodyPr>
          <a:lstStyle/>
          <a:p>
            <a:pPr algn="r"/>
            <a:r>
              <a:rPr lang="zh-CN" altLang="en-US" b="1">
                <a:solidFill>
                  <a:srgbClr val="000000"/>
                </a:solidFill>
              </a:rPr>
              <a:t>公共条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0086" y="1196752"/>
            <a:ext cx="7750629" cy="369332"/>
          </a:xfrm>
          <a:prstGeom prst="rect">
            <a:avLst/>
          </a:prstGeom>
          <a:solidFill>
            <a:schemeClr val="tx2">
              <a:lumMod val="40000"/>
              <a:lumOff val="60000"/>
              <a:alpha val="50000"/>
            </a:schemeClr>
          </a:solidFill>
        </p:spPr>
        <p:txBody>
          <a:bodyPr wrap="square" lIns="36000" rIns="36000" rtlCol="0">
            <a:spAutoFit/>
          </a:bodyPr>
          <a:lstStyle/>
          <a:p>
            <a:pPr algn="r"/>
            <a:r>
              <a:rPr lang="zh-CN" altLang="en-US" b="1">
                <a:solidFill>
                  <a:srgbClr val="000000"/>
                </a:solidFill>
              </a:rPr>
              <a:t>公共条</a:t>
            </a:r>
          </a:p>
        </p:txBody>
      </p:sp>
      <p:sp>
        <p:nvSpPr>
          <p:cNvPr id="23" name="Text Box 12"/>
          <p:cNvSpPr txBox="1">
            <a:spLocks noChangeArrowheads="1"/>
          </p:cNvSpPr>
          <p:nvPr/>
        </p:nvSpPr>
        <p:spPr bwMode="auto">
          <a:xfrm>
            <a:off x="2138392" y="5068485"/>
            <a:ext cx="5313928" cy="96597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2722FA"/>
                </a:solidFill>
              </a:rPr>
              <a:t>公共条  </a:t>
            </a:r>
            <a:r>
              <a:rPr lang="zh-CN" altLang="en-US" sz="2400" b="1"/>
              <a:t>组间通断不一，</a:t>
            </a:r>
            <a:r>
              <a:rPr lang="zh-CN" altLang="en-US" sz="2400"/>
              <a:t>务必查清再用</a:t>
            </a:r>
            <a:endParaRPr lang="en-US" altLang="zh-CN" sz="2400"/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三四三 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or 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五五 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or 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全通？</a:t>
            </a:r>
            <a:r>
              <a:rPr lang="zh-CN" altLang="en-US" sz="24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不要想当然！</a:t>
            </a: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圆角矩形 1"/>
          <p:cNvSpPr/>
          <p:nvPr/>
        </p:nvSpPr>
        <p:spPr bwMode="auto">
          <a:xfrm>
            <a:off x="1115616" y="6093296"/>
            <a:ext cx="7344816" cy="243871"/>
          </a:xfrm>
          <a:prstGeom prst="roundRect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等腰三角形 3"/>
          <p:cNvSpPr/>
          <p:nvPr/>
        </p:nvSpPr>
        <p:spPr bwMode="auto">
          <a:xfrm>
            <a:off x="3293351" y="6372693"/>
            <a:ext cx="216024" cy="260185"/>
          </a:xfrm>
          <a:prstGeom prst="triangle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等腰三角形 25"/>
          <p:cNvSpPr/>
          <p:nvPr/>
        </p:nvSpPr>
        <p:spPr bwMode="auto">
          <a:xfrm>
            <a:off x="6048164" y="6375099"/>
            <a:ext cx="216024" cy="260185"/>
          </a:xfrm>
          <a:prstGeom prst="triangle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爆炸形 1 5"/>
          <p:cNvSpPr/>
          <p:nvPr/>
        </p:nvSpPr>
        <p:spPr bwMode="auto">
          <a:xfrm>
            <a:off x="3707904" y="238281"/>
            <a:ext cx="1953774" cy="1908212"/>
          </a:xfrm>
          <a:prstGeom prst="irregularSeal1">
            <a:avLst/>
          </a:prstGeom>
          <a:solidFill>
            <a:srgbClr val="FF9900"/>
          </a:solidFill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更多见</a:t>
            </a:r>
            <a:endParaRPr kumimoji="0" lang="en-US" altLang="zh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MOOC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Text Box 12">
            <a:extLst>
              <a:ext uri="{FF2B5EF4-FFF2-40B4-BE49-F238E27FC236}">
                <a16:creationId xmlns:a16="http://schemas.microsoft.com/office/drawing/2014/main" id="{137DB7B3-FC25-4F4B-A58D-1C32D43A87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278" y="2234835"/>
            <a:ext cx="4945628" cy="458331"/>
          </a:xfrm>
          <a:prstGeom prst="rect">
            <a:avLst/>
          </a:prstGeom>
          <a:solidFill>
            <a:srgbClr val="8AE6AD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6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b="1">
                <a:latin typeface="Tahoma" panose="020B0604030504040204" pitchFamily="34" charset="0"/>
              </a:rPr>
              <a:t>中间区：竖列五孔一组，组外绝缘！</a:t>
            </a:r>
            <a:endParaRPr lang="zh-CN" altLang="en-US" sz="2400" b="1">
              <a:latin typeface="Tahoma" panose="020B0604030504040204" pitchFamily="34" charset="0"/>
              <a:ea typeface="楷体_GB2312" pitchFamily="49" charset="-122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464A109-82F7-431B-978F-75589712FD74}"/>
              </a:ext>
            </a:extLst>
          </p:cNvPr>
          <p:cNvCxnSpPr>
            <a:cxnSpLocks/>
          </p:cNvCxnSpPr>
          <p:nvPr/>
        </p:nvCxnSpPr>
        <p:spPr>
          <a:xfrm>
            <a:off x="2627784" y="1684418"/>
            <a:ext cx="0" cy="664462"/>
          </a:xfrm>
          <a:prstGeom prst="line">
            <a:avLst/>
          </a:prstGeom>
          <a:ln w="76200">
            <a:solidFill>
              <a:srgbClr val="7030A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5AB58F0-042F-43D7-A63E-F30A7AF415C6}"/>
              </a:ext>
            </a:extLst>
          </p:cNvPr>
          <p:cNvCxnSpPr>
            <a:cxnSpLocks/>
          </p:cNvCxnSpPr>
          <p:nvPr/>
        </p:nvCxnSpPr>
        <p:spPr>
          <a:xfrm>
            <a:off x="2627784" y="2564904"/>
            <a:ext cx="0" cy="648072"/>
          </a:xfrm>
          <a:prstGeom prst="line">
            <a:avLst/>
          </a:prstGeom>
          <a:ln w="76200">
            <a:solidFill>
              <a:srgbClr val="7030A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54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5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29" grpId="0" animBg="1"/>
      <p:bldP spid="30" grpId="0" animBg="1"/>
      <p:bldP spid="23" grpId="0" animBg="1"/>
      <p:bldP spid="23" grpId="1" animBg="1"/>
      <p:bldP spid="2" grpId="0" animBg="1"/>
      <p:bldP spid="4" grpId="0" animBg="1"/>
      <p:bldP spid="26" grpId="0" animBg="1"/>
      <p:bldP spid="15" grpId="0" animBg="1"/>
      <p:bldP spid="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8AC3F0-D5F6-486C-A8C3-5BF7F568480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502" y="2102148"/>
            <a:ext cx="4032448" cy="365335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DB9CE93-18E3-4739-8DBC-C2874B56D9E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 rot="5400000">
            <a:off x="4478246" y="2202777"/>
            <a:ext cx="3653355" cy="3452098"/>
          </a:xfrm>
          <a:prstGeom prst="rect">
            <a:avLst/>
          </a:prstGeom>
        </p:spPr>
      </p:pic>
      <p:sp>
        <p:nvSpPr>
          <p:cNvPr id="8" name="直接连接符 82">
            <a:extLst>
              <a:ext uri="{FF2B5EF4-FFF2-40B4-BE49-F238E27FC236}">
                <a16:creationId xmlns:a16="http://schemas.microsoft.com/office/drawing/2014/main" id="{7C47D28B-DF44-42F1-8335-F8FC3BF774C7}"/>
              </a:ext>
            </a:extLst>
          </p:cNvPr>
          <p:cNvSpPr>
            <a:spLocks/>
          </p:cNvSpPr>
          <p:nvPr/>
        </p:nvSpPr>
        <p:spPr bwMode="auto">
          <a:xfrm flipH="1">
            <a:off x="6543708" y="3281544"/>
            <a:ext cx="682625" cy="4968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直接连接符 84">
            <a:extLst>
              <a:ext uri="{FF2B5EF4-FFF2-40B4-BE49-F238E27FC236}">
                <a16:creationId xmlns:a16="http://schemas.microsoft.com/office/drawing/2014/main" id="{D8A72AF7-B82A-41F9-A26A-0D5C9B0F6EC8}"/>
              </a:ext>
            </a:extLst>
          </p:cNvPr>
          <p:cNvSpPr>
            <a:spLocks/>
          </p:cNvSpPr>
          <p:nvPr/>
        </p:nvSpPr>
        <p:spPr bwMode="auto">
          <a:xfrm flipH="1">
            <a:off x="5335049" y="2979919"/>
            <a:ext cx="808038" cy="6032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直接连接符 83">
            <a:extLst>
              <a:ext uri="{FF2B5EF4-FFF2-40B4-BE49-F238E27FC236}">
                <a16:creationId xmlns:a16="http://schemas.microsoft.com/office/drawing/2014/main" id="{290A2064-5C4A-4506-895F-E4055476BA1A}"/>
              </a:ext>
            </a:extLst>
          </p:cNvPr>
          <p:cNvSpPr>
            <a:spLocks/>
          </p:cNvSpPr>
          <p:nvPr/>
        </p:nvSpPr>
        <p:spPr bwMode="auto">
          <a:xfrm flipH="1" flipV="1">
            <a:off x="5104862" y="3281544"/>
            <a:ext cx="230187" cy="3016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直接连接符 81">
            <a:extLst>
              <a:ext uri="{FF2B5EF4-FFF2-40B4-BE49-F238E27FC236}">
                <a16:creationId xmlns:a16="http://schemas.microsoft.com/office/drawing/2014/main" id="{7406D1B3-2BAB-4F94-BBD9-D7B5885C9B09}"/>
              </a:ext>
            </a:extLst>
          </p:cNvPr>
          <p:cNvSpPr>
            <a:spLocks/>
          </p:cNvSpPr>
          <p:nvPr/>
        </p:nvSpPr>
        <p:spPr bwMode="auto">
          <a:xfrm flipH="1" flipV="1">
            <a:off x="6677058" y="3235506"/>
            <a:ext cx="460375" cy="5413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Line 6">
            <a:extLst>
              <a:ext uri="{FF2B5EF4-FFF2-40B4-BE49-F238E27FC236}">
                <a16:creationId xmlns:a16="http://schemas.microsoft.com/office/drawing/2014/main" id="{8AD0B5CC-69D7-43BC-8F19-0E986CC14ADA}"/>
              </a:ext>
            </a:extLst>
          </p:cNvPr>
          <p:cNvSpPr>
            <a:spLocks/>
          </p:cNvSpPr>
          <p:nvPr/>
        </p:nvSpPr>
        <p:spPr bwMode="auto">
          <a:xfrm flipH="1">
            <a:off x="5488998" y="4769594"/>
            <a:ext cx="682625" cy="4968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Line 7">
            <a:extLst>
              <a:ext uri="{FF2B5EF4-FFF2-40B4-BE49-F238E27FC236}">
                <a16:creationId xmlns:a16="http://schemas.microsoft.com/office/drawing/2014/main" id="{161C53F5-045D-40A1-BE22-053141BA3650}"/>
              </a:ext>
            </a:extLst>
          </p:cNvPr>
          <p:cNvSpPr>
            <a:spLocks/>
          </p:cNvSpPr>
          <p:nvPr/>
        </p:nvSpPr>
        <p:spPr bwMode="auto">
          <a:xfrm flipH="1" flipV="1">
            <a:off x="5622348" y="4725144"/>
            <a:ext cx="460375" cy="54133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0AF42D5F-1423-4F0D-987A-7C495C3BB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938" y="214313"/>
            <a:ext cx="7793037" cy="98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kern="0">
                <a:ea typeface="华文楷体" panose="02010600040101010101" pitchFamily="2" charset="-122"/>
              </a:rPr>
              <a:t>面包板</a:t>
            </a:r>
            <a:r>
              <a:rPr lang="en-US" altLang="zh-CN" b="1" kern="0">
                <a:ea typeface="华文楷体" panose="02010600040101010101" pitchFamily="2" charset="-122"/>
              </a:rPr>
              <a:t>-</a:t>
            </a:r>
            <a:r>
              <a:rPr lang="zh-CN" altLang="en-US" b="1" kern="0">
                <a:ea typeface="华文楷体" panose="02010600040101010101" pitchFamily="2" charset="-122"/>
              </a:rPr>
              <a:t>容易迷糊的示例</a:t>
            </a:r>
          </a:p>
        </p:txBody>
      </p:sp>
    </p:spTree>
    <p:extLst>
      <p:ext uri="{BB962C8B-B14F-4D97-AF65-F5344CB8AC3E}">
        <p14:creationId xmlns:p14="http://schemas.microsoft.com/office/powerpoint/2010/main" val="9403678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ea typeface="华文楷体" panose="02010600040101010101" pitchFamily="2" charset="-122"/>
              </a:rPr>
              <a:t>面包板</a:t>
            </a:r>
            <a:r>
              <a:rPr lang="en-US" altLang="zh-CN" b="1">
                <a:ea typeface="华文楷体" panose="02010600040101010101" pitchFamily="2" charset="-122"/>
              </a:rPr>
              <a:t>-</a:t>
            </a:r>
            <a:r>
              <a:rPr lang="zh-CN" altLang="en-US" b="1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布局布线习惯</a:t>
            </a:r>
            <a:endParaRPr lang="zh-CN" altLang="en-US" b="1">
              <a:ea typeface="华文楷体" panose="02010600040101010101" pitchFamily="2" charset="-122"/>
            </a:endParaRPr>
          </a:p>
        </p:txBody>
      </p:sp>
      <p:pic>
        <p:nvPicPr>
          <p:cNvPr id="44035" name="Picture 3" descr="大小比较脉冲产生计数译码显示4_自动化0207梁超"/>
          <p:cNvPicPr>
            <a:picLocks noChangeAspect="1" noChangeArrowheads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 bwMode="auto">
          <a:xfrm>
            <a:off x="252640" y="1417183"/>
            <a:ext cx="8648019" cy="31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345280" y="5572137"/>
            <a:ext cx="8453439" cy="1097223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疏密规划适当；芯片跨槽同向；布线</a:t>
            </a:r>
            <a:r>
              <a:rPr lang="zh-CN" altLang="en-US" sz="28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绕片贴板拉直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横平竖直！尽量</a:t>
            </a:r>
            <a:r>
              <a:rPr lang="zh-CN" altLang="en-US" sz="28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循规：</a:t>
            </a:r>
            <a:r>
              <a:rPr lang="zh-CN" altLang="en-US" sz="24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红线－正电源，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黑线－地，</a:t>
            </a:r>
            <a:r>
              <a:rPr lang="en-US" altLang="zh-CN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…</a:t>
            </a:r>
            <a:endParaRPr lang="zh-CN" altLang="en-US" sz="2800" dirty="0">
              <a:solidFill>
                <a:srgbClr val="00B05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C5CF017-F3F4-4E0E-AD1B-BA143281818E}"/>
              </a:ext>
            </a:extLst>
          </p:cNvPr>
          <p:cNvSpPr/>
          <p:nvPr/>
        </p:nvSpPr>
        <p:spPr>
          <a:xfrm>
            <a:off x="447221" y="4967324"/>
            <a:ext cx="8453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请大家逐步培养规范布局布线习惯</a:t>
            </a: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_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为了操作顺畅</a:t>
            </a:r>
            <a:r>
              <a:rPr lang="zh-CN" altLang="en-US" sz="2800" b="1" dirty="0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animBg="1"/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1214414" y="1622425"/>
            <a:ext cx="7642249" cy="455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zh-CN" sz="3600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zh-CN" altLang="en-US" sz="3600" b="1" dirty="0">
                <a:solidFill>
                  <a:schemeClr val="bg1">
                    <a:lumMod val="85000"/>
                  </a:schemeClr>
                </a:solidFill>
              </a:rPr>
              <a:t>面包板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zh-CN" sz="3600" b="1">
                <a:solidFill>
                  <a:srgbClr val="000000"/>
                </a:solidFill>
              </a:rPr>
              <a:t> </a:t>
            </a:r>
            <a:r>
              <a:rPr lang="zh-CN" altLang="en-US" sz="3600" b="1">
                <a:solidFill>
                  <a:srgbClr val="000000"/>
                </a:solidFill>
              </a:rPr>
              <a:t>万用表</a:t>
            </a:r>
            <a:endParaRPr lang="zh-CN" altLang="en-US" sz="3600" b="1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zh-CN" sz="3600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zh-CN" altLang="en-US" sz="3600" b="1" dirty="0">
                <a:solidFill>
                  <a:schemeClr val="bg1">
                    <a:lumMod val="85000"/>
                  </a:schemeClr>
                </a:solidFill>
              </a:rPr>
              <a:t>稳压电源    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Pct val="110000"/>
              <a:buBlip>
                <a:blip r:embed="rId2"/>
              </a:buBlip>
            </a:pPr>
            <a:r>
              <a:rPr lang="zh-CN" altLang="en-US" sz="3600" b="1">
                <a:solidFill>
                  <a:schemeClr val="bg1">
                    <a:lumMod val="85000"/>
                  </a:schemeClr>
                </a:solidFill>
              </a:rPr>
              <a:t> 数字示波器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sz="3600" b="1">
                <a:solidFill>
                  <a:schemeClr val="bg1">
                    <a:lumMod val="85000"/>
                  </a:schemeClr>
                </a:solidFill>
              </a:rPr>
              <a:t> 波形产生器</a:t>
            </a:r>
            <a:r>
              <a:rPr lang="zh-CN" altLang="zh-CN" sz="3600" b="1">
                <a:solidFill>
                  <a:srgbClr val="000000"/>
                </a:solidFill>
              </a:rPr>
              <a:t> </a:t>
            </a:r>
            <a:endParaRPr lang="zh-CN" altLang="en-US" sz="3600" b="1" dirty="0">
              <a:solidFill>
                <a:srgbClr val="82CC28"/>
              </a:solidFill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089025" y="381000"/>
            <a:ext cx="77279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4800" b="1" ker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常用仪器的使用</a:t>
            </a:r>
            <a:endParaRPr lang="zh-CN" altLang="en-US" sz="4800" b="1" kern="0">
              <a:ea typeface="华文楷体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18" y="2780928"/>
            <a:ext cx="8784764" cy="386966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 bwMode="auto">
          <a:xfrm>
            <a:off x="7380312" y="3710581"/>
            <a:ext cx="504056" cy="1086571"/>
          </a:xfrm>
          <a:prstGeom prst="rect">
            <a:avLst/>
          </a:prstGeom>
          <a:noFill/>
          <a:ln w="63500" cap="flat" cmpd="dbl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爆炸形 1 4"/>
          <p:cNvSpPr/>
          <p:nvPr/>
        </p:nvSpPr>
        <p:spPr bwMode="auto">
          <a:xfrm>
            <a:off x="3275856" y="2276872"/>
            <a:ext cx="1436167" cy="1296144"/>
          </a:xfrm>
          <a:prstGeom prst="irregularSeal1">
            <a:avLst/>
          </a:prstGeom>
          <a:solidFill>
            <a:srgbClr val="FF9900"/>
          </a:solidFill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更详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见</a:t>
            </a:r>
            <a:endParaRPr kumimoji="0" lang="en-US" altLang="zh-C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说明书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86027" y="1349336"/>
            <a:ext cx="3996631" cy="1585819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/>
              <a:t>基本认识</a:t>
            </a:r>
            <a:r>
              <a:rPr lang="en-US" altLang="zh-CN" sz="2800" dirty="0"/>
              <a:t>&amp;</a:t>
            </a:r>
            <a:r>
              <a:rPr lang="zh-CN" altLang="en-US" sz="2800" dirty="0"/>
              <a:t>使用</a:t>
            </a:r>
            <a:endParaRPr lang="en-US" altLang="zh-CN" sz="2800" dirty="0"/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latin typeface="华文楷体" panose="02010600040101010101" pitchFamily="2" charset="-122"/>
                <a:ea typeface="华文楷体" panose="02010600040101010101" pitchFamily="2" charset="-122"/>
              </a:rPr>
              <a:t>有不适用的频率范围</a:t>
            </a:r>
            <a:endParaRPr lang="en-US" altLang="zh-CN" sz="28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2722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常用的功能熟练读数</a:t>
            </a:r>
            <a:endParaRPr lang="en-US" altLang="zh-CN" sz="3200" b="1" dirty="0">
              <a:solidFill>
                <a:srgbClr val="2722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5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412655"/>
            <a:ext cx="7308999" cy="5182342"/>
          </a:xfrm>
          <a:prstGeom prst="rect">
            <a:avLst/>
          </a:prstGeom>
        </p:spPr>
      </p:pic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1214414" y="1622425"/>
            <a:ext cx="7642249" cy="455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Blip>
                <a:blip r:embed="rId3"/>
              </a:buBlip>
            </a:pPr>
            <a:r>
              <a:rPr lang="zh-CN" altLang="zh-CN" sz="3600" b="1" dirty="0">
                <a:solidFill>
                  <a:srgbClr val="000000"/>
                </a:solidFill>
              </a:rPr>
              <a:t> </a:t>
            </a:r>
            <a:r>
              <a:rPr lang="zh-CN" altLang="en-US" sz="3600" b="1" dirty="0">
                <a:solidFill>
                  <a:schemeClr val="bg1">
                    <a:lumMod val="75000"/>
                  </a:schemeClr>
                </a:solidFill>
              </a:rPr>
              <a:t>面包板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Blip>
                <a:blip r:embed="rId3"/>
              </a:buBlip>
            </a:pPr>
            <a:r>
              <a:rPr lang="zh-CN" altLang="zh-CN" sz="3600" b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zh-CN" altLang="en-US" sz="3600" b="1" dirty="0">
                <a:solidFill>
                  <a:schemeClr val="bg1">
                    <a:lumMod val="75000"/>
                  </a:schemeClr>
                </a:solidFill>
              </a:rPr>
              <a:t>万用表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Blip>
                <a:blip r:embed="rId3"/>
              </a:buBlip>
            </a:pPr>
            <a:r>
              <a:rPr lang="zh-CN" altLang="zh-CN" sz="3600" b="1" dirty="0">
                <a:solidFill>
                  <a:srgbClr val="000000"/>
                </a:solidFill>
              </a:rPr>
              <a:t> </a:t>
            </a:r>
            <a:r>
              <a:rPr lang="zh-CN" altLang="en-US" sz="3600" b="1" dirty="0">
                <a:solidFill>
                  <a:srgbClr val="000000"/>
                </a:solidFill>
              </a:rPr>
              <a:t>稳压电源    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Pct val="110000"/>
              <a:buBlip>
                <a:blip r:embed="rId3"/>
              </a:buBlip>
            </a:pPr>
            <a:r>
              <a:rPr lang="zh-CN" altLang="en-US" sz="3600" b="1">
                <a:solidFill>
                  <a:srgbClr val="82CC28"/>
                </a:solidFill>
              </a:rPr>
              <a:t> </a:t>
            </a:r>
            <a:r>
              <a:rPr lang="zh-CN" altLang="en-US" sz="3600" b="1">
                <a:solidFill>
                  <a:schemeClr val="bg1">
                    <a:lumMod val="75000"/>
                  </a:schemeClr>
                </a:solidFill>
              </a:rPr>
              <a:t>数字示波器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Blip>
                <a:blip r:embed="rId3"/>
              </a:buBlip>
            </a:pPr>
            <a:r>
              <a:rPr lang="zh-CN" altLang="en-US" sz="3600" b="1">
                <a:solidFill>
                  <a:schemeClr val="bg1">
                    <a:lumMod val="75000"/>
                  </a:schemeClr>
                </a:solidFill>
              </a:rPr>
              <a:t> 波形</a:t>
            </a:r>
            <a:r>
              <a:rPr lang="zh-CN" altLang="en-US" sz="3600" b="1" dirty="0">
                <a:solidFill>
                  <a:schemeClr val="bg1">
                    <a:lumMod val="75000"/>
                  </a:schemeClr>
                </a:solidFill>
              </a:rPr>
              <a:t>产生</a:t>
            </a:r>
            <a:r>
              <a:rPr lang="zh-CN" altLang="en-US" sz="3600" b="1">
                <a:solidFill>
                  <a:schemeClr val="bg1">
                    <a:lumMod val="75000"/>
                  </a:schemeClr>
                </a:solidFill>
              </a:rPr>
              <a:t>器 </a:t>
            </a:r>
            <a:r>
              <a:rPr lang="zh-CN" altLang="zh-CN" sz="3600" b="1">
                <a:solidFill>
                  <a:schemeClr val="bg1">
                    <a:lumMod val="75000"/>
                  </a:schemeClr>
                </a:solidFill>
              </a:rPr>
              <a:t> </a:t>
            </a:r>
            <a:endParaRPr lang="zh-CN" altLang="en-US" sz="36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爆炸形 1 3"/>
          <p:cNvSpPr/>
          <p:nvPr/>
        </p:nvSpPr>
        <p:spPr bwMode="auto">
          <a:xfrm>
            <a:off x="3711897" y="3140968"/>
            <a:ext cx="1436167" cy="1296144"/>
          </a:xfrm>
          <a:prstGeom prst="irregularSeal1">
            <a:avLst/>
          </a:prstGeom>
          <a:solidFill>
            <a:srgbClr val="FF9900"/>
          </a:solidFill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/>
              <a:t>新设备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详见</a:t>
            </a:r>
            <a:endParaRPr kumimoji="0" lang="en-US" altLang="zh-C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说明书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187909" y="1760581"/>
            <a:ext cx="3668912" cy="332295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>
                <a:solidFill>
                  <a:srgbClr val="2722FA"/>
                </a:solidFill>
                <a:sym typeface="+mn-ea"/>
              </a:rPr>
              <a:t>不用不</a:t>
            </a:r>
            <a:r>
              <a:rPr lang="zh-CN" altLang="en-US" sz="2800" b="1" dirty="0">
                <a:solidFill>
                  <a:srgbClr val="2722FA"/>
                </a:solidFill>
                <a:sym typeface="+mn-ea"/>
              </a:rPr>
              <a:t>乱置，</a:t>
            </a:r>
            <a:endParaRPr lang="en-US" altLang="zh-CN" sz="2800" b="1" dirty="0">
              <a:solidFill>
                <a:srgbClr val="2722FA"/>
              </a:solidFill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rgbClr val="2722FA"/>
                </a:solidFill>
              </a:rPr>
              <a:t>该用功能好好用。</a:t>
            </a: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tx1"/>
                </a:solidFill>
              </a:rPr>
              <a:t>双重开关；</a:t>
            </a: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tx1"/>
                </a:solidFill>
              </a:rPr>
              <a:t>调</a:t>
            </a:r>
            <a:r>
              <a:rPr lang="zh-CN" altLang="en-US" sz="2800" b="1">
                <a:solidFill>
                  <a:schemeClr val="tx1"/>
                </a:solidFill>
              </a:rPr>
              <a:t>好电压</a:t>
            </a:r>
            <a:r>
              <a:rPr lang="zh-CN" altLang="en-US" sz="2800" b="1">
                <a:solidFill>
                  <a:srgbClr val="2722FA"/>
                </a:solidFill>
              </a:rPr>
              <a:t>注意</a:t>
            </a:r>
            <a:r>
              <a:rPr lang="zh-CN" altLang="en-US" sz="2800" b="1">
                <a:solidFill>
                  <a:srgbClr val="0000FF"/>
                </a:solidFill>
              </a:rPr>
              <a:t>电流</a:t>
            </a:r>
            <a:r>
              <a:rPr lang="zh-CN" altLang="en-US" sz="2800" b="1" dirty="0">
                <a:solidFill>
                  <a:schemeClr val="tx1"/>
                </a:solidFill>
              </a:rPr>
              <a:t>；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tx1"/>
                </a:solidFill>
              </a:rPr>
              <a:t>分清接线柱。</a:t>
            </a:r>
            <a:endParaRPr lang="zh-CN" altLang="en-US" sz="2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1089025" y="381000"/>
            <a:ext cx="77279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4800" b="1" ker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常用仪器的使用</a:t>
            </a:r>
            <a:endParaRPr lang="zh-CN" altLang="en-US" sz="4800" b="1" kern="0">
              <a:ea typeface="华文楷体" panose="020106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7206" y="6080438"/>
            <a:ext cx="8981946" cy="5407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28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直流</a:t>
            </a:r>
            <a:r>
              <a:rPr lang="en-US" altLang="zh-CN" sz="28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电压</a:t>
            </a:r>
            <a:r>
              <a:rPr lang="en-US" altLang="zh-CN" sz="28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信号</a:t>
            </a:r>
            <a:r>
              <a:rPr lang="zh-CN" altLang="en-US" sz="280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也常以</a:t>
            </a:r>
            <a:r>
              <a:rPr lang="zh-CN" altLang="en-US" sz="2800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稳压源</a:t>
            </a:r>
            <a:r>
              <a:rPr lang="zh-CN" altLang="en-US" sz="280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产生，</a:t>
            </a:r>
            <a:r>
              <a:rPr lang="zh-CN" altLang="en-US" sz="2800">
                <a:latin typeface="黑体" panose="02010609060101010101" pitchFamily="2" charset="-122"/>
                <a:ea typeface="黑体" panose="02010609060101010101" pitchFamily="2" charset="-122"/>
              </a:rPr>
              <a:t>但</a:t>
            </a: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意义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全然不同！</a:t>
            </a: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4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/>
      <p:bldP spid="39939" grpId="2"/>
      <p:bldP spid="4" grpId="1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Line 2"/>
          <p:cNvSpPr>
            <a:spLocks noChangeShapeType="1"/>
          </p:cNvSpPr>
          <p:nvPr/>
        </p:nvSpPr>
        <p:spPr bwMode="auto">
          <a:xfrm>
            <a:off x="7513787" y="2544583"/>
            <a:ext cx="0" cy="611188"/>
          </a:xfrm>
          <a:prstGeom prst="line">
            <a:avLst/>
          </a:prstGeom>
          <a:noFill/>
          <a:ln w="57150">
            <a:solidFill>
              <a:srgbClr val="00206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723" name="Line 3"/>
          <p:cNvSpPr>
            <a:spLocks noChangeShapeType="1"/>
          </p:cNvSpPr>
          <p:nvPr/>
        </p:nvSpPr>
        <p:spPr bwMode="auto">
          <a:xfrm>
            <a:off x="6443663" y="2996952"/>
            <a:ext cx="0" cy="2214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50180" name="Object 4" descr="羊皮纸"/>
          <p:cNvGraphicFramePr>
            <a:graphicFrameLocks noChangeAspect="1"/>
          </p:cNvGraphicFramePr>
          <p:nvPr/>
        </p:nvGraphicFramePr>
        <p:xfrm>
          <a:off x="127000" y="2709639"/>
          <a:ext cx="4724400" cy="309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Picture" r:id="rId4" imgW="9801225" imgH="6410325" progId="Word.Picture.8">
                  <p:embed/>
                </p:oleObj>
              </mc:Choice>
              <mc:Fallback>
                <p:oleObj name="Picture" r:id="rId4" imgW="9801225" imgH="6410325" progId="Word.Picture.8">
                  <p:embed/>
                  <p:pic>
                    <p:nvPicPr>
                      <p:cNvPr id="50180" name="Object 4" descr="羊皮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" y="2709639"/>
                        <a:ext cx="4724400" cy="309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tile tx="0" ty="0" sx="100000" sy="100000" flip="none" algn="tl"/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Line 5"/>
          <p:cNvSpPr>
            <a:spLocks noChangeShapeType="1"/>
          </p:cNvSpPr>
          <p:nvPr/>
        </p:nvSpPr>
        <p:spPr bwMode="auto">
          <a:xfrm>
            <a:off x="8346656" y="2492896"/>
            <a:ext cx="0" cy="2549836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5556250" y="2427287"/>
            <a:ext cx="2830513" cy="474662"/>
            <a:chOff x="12" y="378"/>
            <a:chExt cx="1783" cy="299"/>
          </a:xfrm>
        </p:grpSpPr>
        <p:sp>
          <p:nvSpPr>
            <p:cNvPr id="50215" name="Text Box 7"/>
            <p:cNvSpPr txBox="1">
              <a:spLocks noChangeArrowheads="1"/>
            </p:cNvSpPr>
            <p:nvPr/>
          </p:nvSpPr>
          <p:spPr bwMode="auto">
            <a:xfrm>
              <a:off x="12" y="378"/>
              <a:ext cx="57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12V</a:t>
              </a:r>
            </a:p>
          </p:txBody>
        </p:sp>
        <p:sp>
          <p:nvSpPr>
            <p:cNvPr id="50216" name="Text Box 8"/>
            <p:cNvSpPr txBox="1">
              <a:spLocks noChangeArrowheads="1"/>
            </p:cNvSpPr>
            <p:nvPr/>
          </p:nvSpPr>
          <p:spPr bwMode="auto">
            <a:xfrm>
              <a:off x="1219" y="386"/>
              <a:ext cx="57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12V</a:t>
              </a:r>
            </a:p>
          </p:txBody>
        </p:sp>
      </p:grpSp>
      <p:grpSp>
        <p:nvGrpSpPr>
          <p:cNvPr id="4" name="Group 20"/>
          <p:cNvGrpSpPr/>
          <p:nvPr/>
        </p:nvGrpSpPr>
        <p:grpSpPr bwMode="auto">
          <a:xfrm>
            <a:off x="2808287" y="2527052"/>
            <a:ext cx="2771776" cy="496888"/>
            <a:chOff x="5" y="0"/>
            <a:chExt cx="1746" cy="313"/>
          </a:xfrm>
        </p:grpSpPr>
        <p:sp>
          <p:nvSpPr>
            <p:cNvPr id="50211" name="Freeform 21"/>
            <p:cNvSpPr/>
            <p:nvPr/>
          </p:nvSpPr>
          <p:spPr bwMode="auto">
            <a:xfrm>
              <a:off x="5" y="0"/>
              <a:ext cx="1746" cy="94"/>
            </a:xfrm>
            <a:custGeom>
              <a:avLst/>
              <a:gdLst>
                <a:gd name="T0" fmla="*/ 1733 w 1733"/>
                <a:gd name="T1" fmla="*/ 0 h 94"/>
                <a:gd name="T2" fmla="*/ 1556 w 1733"/>
                <a:gd name="T3" fmla="*/ 88 h 94"/>
                <a:gd name="T4" fmla="*/ 0 w 1733"/>
                <a:gd name="T5" fmla="*/ 94 h 94"/>
                <a:gd name="T6" fmla="*/ 0 60000 65536"/>
                <a:gd name="T7" fmla="*/ 0 60000 65536"/>
                <a:gd name="T8" fmla="*/ 0 60000 65536"/>
                <a:gd name="T9" fmla="*/ 0 w 1733"/>
                <a:gd name="T10" fmla="*/ 0 h 94"/>
                <a:gd name="T11" fmla="*/ 1733 w 1733"/>
                <a:gd name="T12" fmla="*/ 94 h 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3" h="94">
                  <a:moveTo>
                    <a:pt x="1733" y="0"/>
                  </a:moveTo>
                  <a:lnTo>
                    <a:pt x="1556" y="88"/>
                  </a:lnTo>
                  <a:lnTo>
                    <a:pt x="0" y="94"/>
                  </a:lnTo>
                </a:path>
              </a:pathLst>
            </a:custGeom>
            <a:noFill/>
            <a:ln w="5715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50212" name="Line 22"/>
            <p:cNvSpPr>
              <a:spLocks noChangeShapeType="1"/>
            </p:cNvSpPr>
            <p:nvPr/>
          </p:nvSpPr>
          <p:spPr bwMode="auto">
            <a:xfrm>
              <a:off x="16" y="86"/>
              <a:ext cx="0" cy="227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30743" name="Text Box 23"/>
          <p:cNvSpPr txBox="1">
            <a:spLocks noChangeArrowheads="1"/>
          </p:cNvSpPr>
          <p:nvPr/>
        </p:nvSpPr>
        <p:spPr bwMode="auto">
          <a:xfrm>
            <a:off x="3581400" y="2181225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zh-CN" sz="2800" b="1">
                <a:solidFill>
                  <a:srgbClr val="000099"/>
                </a:solidFill>
                <a:ea typeface="黑体" panose="02010609060101010101" pitchFamily="2" charset="-122"/>
              </a:rPr>
              <a:t>-</a:t>
            </a:r>
            <a:r>
              <a:rPr lang="zh-CN" altLang="zh-CN" sz="2800" b="1">
                <a:solidFill>
                  <a:srgbClr val="000099"/>
                </a:solidFill>
              </a:rPr>
              <a:t>12V</a:t>
            </a:r>
          </a:p>
        </p:txBody>
      </p:sp>
      <p:sp>
        <p:nvSpPr>
          <p:cNvPr id="30744" name="Text Box 24"/>
          <p:cNvSpPr txBox="1">
            <a:spLocks noChangeArrowheads="1"/>
          </p:cNvSpPr>
          <p:nvPr/>
        </p:nvSpPr>
        <p:spPr bwMode="auto">
          <a:xfrm>
            <a:off x="6989763" y="4561964"/>
            <a:ext cx="12017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zh-CN" sz="2800" b="1" dirty="0">
                <a:solidFill>
                  <a:srgbClr val="FF0000"/>
                </a:solidFill>
              </a:rPr>
              <a:t>+12V</a:t>
            </a:r>
          </a:p>
        </p:txBody>
      </p:sp>
      <p:sp>
        <p:nvSpPr>
          <p:cNvPr id="30745" name="Line 25"/>
          <p:cNvSpPr>
            <a:spLocks noChangeShapeType="1"/>
          </p:cNvSpPr>
          <p:nvPr/>
        </p:nvSpPr>
        <p:spPr bwMode="auto">
          <a:xfrm>
            <a:off x="755576" y="5172076"/>
            <a:ext cx="5688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746" name="Oval 26"/>
          <p:cNvSpPr>
            <a:spLocks noChangeArrowheads="1"/>
          </p:cNvSpPr>
          <p:nvPr/>
        </p:nvSpPr>
        <p:spPr bwMode="auto">
          <a:xfrm>
            <a:off x="738000" y="5114926"/>
            <a:ext cx="117475" cy="1143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0197" name="Text Box 27"/>
          <p:cNvSpPr txBox="1">
            <a:spLocks noChangeArrowheads="1"/>
          </p:cNvSpPr>
          <p:nvPr/>
        </p:nvSpPr>
        <p:spPr bwMode="auto">
          <a:xfrm>
            <a:off x="1044765" y="5263505"/>
            <a:ext cx="380663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zh-CN" sz="2800" b="1" dirty="0">
                <a:solidFill>
                  <a:srgbClr val="000000"/>
                </a:solidFill>
              </a:rPr>
              <a:t>0V</a:t>
            </a:r>
            <a:r>
              <a:rPr lang="en-US" altLang="zh-CN" sz="2800" b="1" dirty="0">
                <a:solidFill>
                  <a:srgbClr val="000000"/>
                </a:solidFill>
              </a:rPr>
              <a:t>=</a:t>
            </a:r>
            <a:r>
              <a:rPr lang="zh-CN" altLang="en-US" sz="2400" b="1" dirty="0">
                <a:solidFill>
                  <a:srgbClr val="000000"/>
                </a:solidFill>
              </a:rPr>
              <a:t>原理图的</a:t>
            </a:r>
            <a:r>
              <a:rPr lang="zh-CN" altLang="en-US" sz="2800" b="1" dirty="0">
                <a:solidFill>
                  <a:srgbClr val="000000"/>
                </a:solidFill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地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⊥</a:t>
            </a:r>
            <a:endParaRPr lang="zh-CN" altLang="zh-CN" sz="28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198" name="Rectangle 28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hlink"/>
                </a:solidFill>
                <a:ea typeface="华文楷体" panose="02010600040101010101" pitchFamily="2" charset="-122"/>
              </a:rPr>
              <a:t>共地</a:t>
            </a:r>
            <a:r>
              <a:rPr lang="en-US" altLang="zh-CN" b="1" dirty="0">
                <a:solidFill>
                  <a:schemeClr val="hlink"/>
                </a:solidFill>
                <a:ea typeface="华文楷体" panose="02010600040101010101" pitchFamily="2" charset="-122"/>
              </a:rPr>
              <a:t>&amp;</a:t>
            </a:r>
            <a:r>
              <a:rPr lang="zh-CN" altLang="en-US" b="1" dirty="0">
                <a:solidFill>
                  <a:srgbClr val="0070C0"/>
                </a:solidFill>
                <a:ea typeface="华文楷体" panose="02010600040101010101" pitchFamily="2" charset="-122"/>
              </a:rPr>
              <a:t>独立双路</a:t>
            </a:r>
            <a:r>
              <a:rPr lang="zh-CN" altLang="en-US" b="1" dirty="0">
                <a:solidFill>
                  <a:schemeClr val="tx1"/>
                </a:solidFill>
                <a:ea typeface="华文楷体" panose="02010600040101010101" pitchFamily="2" charset="-122"/>
              </a:rPr>
              <a:t>手工</a:t>
            </a:r>
            <a:r>
              <a:rPr lang="zh-CN" altLang="en-US" b="1" dirty="0">
                <a:solidFill>
                  <a:srgbClr val="C00000"/>
                </a:solidFill>
                <a:ea typeface="华文楷体" panose="02010600040101010101" pitchFamily="2" charset="-122"/>
              </a:rPr>
              <a:t>串联接法</a:t>
            </a:r>
          </a:p>
        </p:txBody>
      </p:sp>
      <p:sp>
        <p:nvSpPr>
          <p:cNvPr id="30756" name="Text Box 36"/>
          <p:cNvSpPr txBox="1">
            <a:spLocks noChangeArrowheads="1"/>
          </p:cNvSpPr>
          <p:nvPr/>
        </p:nvSpPr>
        <p:spPr bwMode="auto">
          <a:xfrm>
            <a:off x="5891713" y="3306762"/>
            <a:ext cx="468312" cy="15525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0000"/>
                </a:solidFill>
              </a:rPr>
              <a:t>共地线！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759" name="Line 39"/>
          <p:cNvSpPr>
            <a:spLocks noChangeShapeType="1"/>
          </p:cNvSpPr>
          <p:nvPr/>
        </p:nvSpPr>
        <p:spPr bwMode="auto">
          <a:xfrm>
            <a:off x="6424040" y="3136900"/>
            <a:ext cx="1100288" cy="0"/>
          </a:xfrm>
          <a:prstGeom prst="line">
            <a:avLst/>
          </a:prstGeom>
          <a:noFill/>
          <a:ln w="76200">
            <a:solidFill>
              <a:srgbClr val="00206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760" name="Line 40"/>
          <p:cNvSpPr>
            <a:spLocks noChangeShapeType="1"/>
          </p:cNvSpPr>
          <p:nvPr/>
        </p:nvSpPr>
        <p:spPr bwMode="auto">
          <a:xfrm>
            <a:off x="6438900" y="2540000"/>
            <a:ext cx="12700" cy="596900"/>
          </a:xfrm>
          <a:prstGeom prst="line">
            <a:avLst/>
          </a:prstGeom>
          <a:noFill/>
          <a:ln w="76200">
            <a:solidFill>
              <a:srgbClr val="00206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五角星 4"/>
          <p:cNvSpPr/>
          <p:nvPr/>
        </p:nvSpPr>
        <p:spPr bwMode="auto">
          <a:xfrm>
            <a:off x="8513763" y="116632"/>
            <a:ext cx="382587" cy="360040"/>
          </a:xfrm>
          <a:prstGeom prst="star5">
            <a:avLst/>
          </a:prstGeom>
          <a:solidFill>
            <a:srgbClr val="FFFF00"/>
          </a:solidFill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cxnSp>
        <p:nvCxnSpPr>
          <p:cNvPr id="7" name="直接箭头连接符 6"/>
          <p:cNvCxnSpPr/>
          <p:nvPr/>
        </p:nvCxnSpPr>
        <p:spPr bwMode="auto">
          <a:xfrm flipH="1">
            <a:off x="2843808" y="5013176"/>
            <a:ext cx="5493047" cy="0"/>
          </a:xfrm>
          <a:prstGeom prst="straightConnector1">
            <a:avLst/>
          </a:prstGeom>
          <a:noFill/>
          <a:ln w="57150" cap="flat" cmpd="sng" algn="ctr">
            <a:solidFill>
              <a:schemeClr val="hlink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动作按钮: 帮助 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C025335-48B4-473C-A0F5-B2AA3AB47222}"/>
              </a:ext>
            </a:extLst>
          </p:cNvPr>
          <p:cNvSpPr/>
          <p:nvPr/>
        </p:nvSpPr>
        <p:spPr bwMode="auto">
          <a:xfrm>
            <a:off x="6743700" y="3501008"/>
            <a:ext cx="1208583" cy="988948"/>
          </a:xfrm>
          <a:prstGeom prst="actionButtonHelp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接线</a:t>
            </a:r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2687C9D2-2E14-4C4C-8E9B-F32288C05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1" y="1358193"/>
            <a:ext cx="3733800" cy="1447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Line 4">
            <a:extLst>
              <a:ext uri="{FF2B5EF4-FFF2-40B4-BE49-F238E27FC236}">
                <a16:creationId xmlns:a16="http://schemas.microsoft.com/office/drawing/2014/main" id="{9B542674-9B8E-42B4-9E68-05D13EA3AFC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1" y="1967793"/>
            <a:ext cx="37338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Oval 5">
            <a:extLst>
              <a:ext uri="{FF2B5EF4-FFF2-40B4-BE49-F238E27FC236}">
                <a16:creationId xmlns:a16="http://schemas.microsoft.com/office/drawing/2014/main" id="{032497B8-5744-445F-AD51-B3DB7F520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487" y="2348793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Oval 6">
            <a:extLst>
              <a:ext uri="{FF2B5EF4-FFF2-40B4-BE49-F238E27FC236}">
                <a16:creationId xmlns:a16="http://schemas.microsoft.com/office/drawing/2014/main" id="{99C03412-B918-433A-9089-916F6B07D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0226" y="2356731"/>
            <a:ext cx="228600" cy="228600"/>
          </a:xfrm>
          <a:prstGeom prst="ellipse">
            <a:avLst/>
          </a:prstGeom>
          <a:solidFill>
            <a:srgbClr val="09D11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" name="Text Box 8">
            <a:extLst>
              <a:ext uri="{FF2B5EF4-FFF2-40B4-BE49-F238E27FC236}">
                <a16:creationId xmlns:a16="http://schemas.microsoft.com/office/drawing/2014/main" id="{682F646D-494B-449C-AA91-A0C1B6D7F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063" y="1383593"/>
            <a:ext cx="3581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直流电源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独立</a:t>
            </a:r>
            <a:r>
              <a:rPr lang="zh-CN" altLang="en-US" sz="2800" dirty="0">
                <a:solidFill>
                  <a:srgbClr val="000000"/>
                </a:solidFill>
              </a:rPr>
              <a:t>双路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" name="Oval 18">
            <a:extLst>
              <a:ext uri="{FF2B5EF4-FFF2-40B4-BE49-F238E27FC236}">
                <a16:creationId xmlns:a16="http://schemas.microsoft.com/office/drawing/2014/main" id="{5E079E77-BE62-448D-8F65-AC58EA69E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1" y="2348793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" name="Oval 19">
            <a:extLst>
              <a:ext uri="{FF2B5EF4-FFF2-40B4-BE49-F238E27FC236}">
                <a16:creationId xmlns:a16="http://schemas.microsoft.com/office/drawing/2014/main" id="{8706A286-7F43-4BA1-8D73-0AC1F8F10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367" y="2348793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" name="Oval 20">
            <a:extLst>
              <a:ext uri="{FF2B5EF4-FFF2-40B4-BE49-F238E27FC236}">
                <a16:creationId xmlns:a16="http://schemas.microsoft.com/office/drawing/2014/main" id="{B5476858-A06C-48B4-A197-7E1B5425F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1832" y="2348793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" name="Text Box 26">
            <a:extLst>
              <a:ext uri="{FF2B5EF4-FFF2-40B4-BE49-F238E27FC236}">
                <a16:creationId xmlns:a16="http://schemas.microsoft.com/office/drawing/2014/main" id="{C23B7472-B036-4790-9CB8-FCF083319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514" y="1888418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—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+  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+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9C1079E-6612-426E-AFD7-D6103A7CC4E3}"/>
              </a:ext>
            </a:extLst>
          </p:cNvPr>
          <p:cNvSpPr/>
          <p:nvPr/>
        </p:nvSpPr>
        <p:spPr>
          <a:xfrm>
            <a:off x="6645077" y="1982731"/>
            <a:ext cx="7024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CN" sz="2000" b="0" dirty="0">
                <a:solidFill>
                  <a:srgbClr val="006600"/>
                </a:solidFill>
                <a:latin typeface="Tahoma" panose="020B0604030504040204" pitchFamily="34" charset="0"/>
              </a:rPr>
              <a:t>GND</a:t>
            </a:r>
            <a:endParaRPr lang="zh-CN" altLang="en-US" dirty="0"/>
          </a:p>
        </p:txBody>
      </p:sp>
      <p:sp>
        <p:nvSpPr>
          <p:cNvPr id="50" name="Line 37">
            <a:extLst>
              <a:ext uri="{FF2B5EF4-FFF2-40B4-BE49-F238E27FC236}">
                <a16:creationId xmlns:a16="http://schemas.microsoft.com/office/drawing/2014/main" id="{72D73336-A97B-4C75-A3CF-834443D803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5926" y="2128132"/>
            <a:ext cx="457199" cy="457199"/>
          </a:xfrm>
          <a:prstGeom prst="line">
            <a:avLst/>
          </a:prstGeom>
          <a:noFill/>
          <a:ln w="50800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" name="Line 38">
            <a:extLst>
              <a:ext uri="{FF2B5EF4-FFF2-40B4-BE49-F238E27FC236}">
                <a16:creationId xmlns:a16="http://schemas.microsoft.com/office/drawing/2014/main" id="{5EC580BE-2747-4254-80A0-E725941694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44005" y="2091730"/>
            <a:ext cx="457199" cy="488730"/>
          </a:xfrm>
          <a:prstGeom prst="line">
            <a:avLst/>
          </a:prstGeom>
          <a:noFill/>
          <a:ln w="50800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7" name="Rectangle 37"/>
          <p:cNvSpPr>
            <a:spLocks noChangeArrowheads="1"/>
          </p:cNvSpPr>
          <p:nvPr/>
        </p:nvSpPr>
        <p:spPr bwMode="auto">
          <a:xfrm>
            <a:off x="298556" y="2237668"/>
            <a:ext cx="5514279" cy="28315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00FF"/>
            </a:solidFill>
            <a:miter lim="800000"/>
          </a:ln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共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地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： 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将电源地、被测试电路地、信号源地、测试仪器地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（设备信号线的黑夹子</a:t>
            </a:r>
            <a:r>
              <a:rPr lang="en-US" altLang="zh-CN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or 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万用表</a:t>
            </a:r>
            <a:r>
              <a:rPr lang="en-US" altLang="zh-CN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COM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黑表笔）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---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这四者连接到一起，形成 </a:t>
            </a:r>
            <a:r>
              <a:rPr lang="zh-CN" altLang="en-US" sz="2800" b="1" dirty="0">
                <a:solidFill>
                  <a:srgbClr val="2722FA"/>
                </a:solidFill>
                <a:latin typeface="Times New Roman" panose="02020603050405020304" pitchFamily="18" charset="0"/>
              </a:rPr>
              <a:t>统一的</a:t>
            </a:r>
            <a:endParaRPr lang="en-US" altLang="zh-CN" sz="2800" b="1" dirty="0">
              <a:solidFill>
                <a:srgbClr val="2722FA"/>
              </a:solidFill>
              <a:latin typeface="Times New Roman" panose="02020603050405020304" pitchFamily="18" charset="0"/>
            </a:endParaRPr>
          </a:p>
          <a:p>
            <a:pPr algn="l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2722FA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sz="2800" b="1" dirty="0">
                <a:solidFill>
                  <a:srgbClr val="2722FA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800" b="1" dirty="0">
                <a:solidFill>
                  <a:srgbClr val="2722FA"/>
                </a:solidFill>
                <a:latin typeface="Times New Roman" panose="02020603050405020304" pitchFamily="18" charset="0"/>
              </a:rPr>
              <a:t>电位参考平面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=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弱电俗称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地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⊥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无共地无电压！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58" name="Text Box 38"/>
          <p:cNvSpPr txBox="1">
            <a:spLocks noChangeArrowheads="1"/>
          </p:cNvSpPr>
          <p:nvPr/>
        </p:nvSpPr>
        <p:spPr bwMode="auto">
          <a:xfrm>
            <a:off x="398463" y="5892344"/>
            <a:ext cx="8497887" cy="830997"/>
          </a:xfrm>
          <a:prstGeom prst="rect">
            <a:avLst/>
          </a:prstGeom>
          <a:solidFill>
            <a:srgbClr val="CCFFCC"/>
          </a:solidFill>
          <a:ln w="38100" cmpd="dbl">
            <a:solidFill>
              <a:schemeClr val="hlink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</a:rPr>
              <a:t>电源通常操作步骤：</a:t>
            </a:r>
            <a:r>
              <a:rPr lang="zh-CN" altLang="en-US" sz="24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先调好规定值，关上电源输出！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接线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?</a:t>
            </a:r>
            <a:r>
              <a:rPr lang="zh-CN" altLang="en-US" sz="24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，核对无误后开电源输出。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若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有短路红灯立即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关电源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输出再查。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8E2B15D-A2D2-4D80-BCC9-20B9D8DFAD42}"/>
              </a:ext>
            </a:extLst>
          </p:cNvPr>
          <p:cNvSpPr/>
          <p:nvPr/>
        </p:nvSpPr>
        <p:spPr bwMode="auto">
          <a:xfrm>
            <a:off x="6645077" y="2028076"/>
            <a:ext cx="638765" cy="6808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0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30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0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70" dur="1000"/>
                                        <p:tgtEl>
                                          <p:spTgt spid="307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nimBg="1"/>
      <p:bldP spid="30723" grpId="0" animBg="1"/>
      <p:bldP spid="30725" grpId="0" animBg="1"/>
      <p:bldP spid="30743" grpId="0" autoUpdateAnimBg="0"/>
      <p:bldP spid="30744" grpId="0" autoUpdateAnimBg="0"/>
      <p:bldP spid="30745" grpId="0" animBg="1"/>
      <p:bldP spid="30746" grpId="0" animBg="1"/>
      <p:bldP spid="30756" grpId="0" animBg="1" autoUpdateAnimBg="0"/>
      <p:bldP spid="30759" grpId="0" animBg="1"/>
      <p:bldP spid="30760" grpId="0" animBg="1"/>
      <p:bldP spid="3" grpId="0" animBg="1"/>
      <p:bldP spid="3" grpId="1" animBg="1"/>
      <p:bldP spid="50" grpId="0" animBg="1"/>
      <p:bldP spid="51" grpId="0" animBg="1"/>
      <p:bldP spid="30757" grpId="0" animBg="1" autoUpdateAnimBg="0"/>
      <p:bldP spid="30757" grpId="1" animBg="1"/>
      <p:bldP spid="30757" grpId="2" animBg="1"/>
      <p:bldP spid="30758" grpId="0" animBg="1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C8B91E4-3ECE-4E80-9EE2-7D7A3308B8B4}"/>
              </a:ext>
            </a:extLst>
          </p:cNvPr>
          <p:cNvSpPr/>
          <p:nvPr/>
        </p:nvSpPr>
        <p:spPr>
          <a:xfrm>
            <a:off x="827584" y="624548"/>
            <a:ext cx="78486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zh-CN" sz="2800" kern="1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以下</a:t>
            </a:r>
            <a:r>
              <a:rPr lang="zh-CN" altLang="zh-CN" sz="2800" kern="10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哪种电源连接能为运放</a:t>
            </a:r>
            <a:r>
              <a:rPr lang="zh-CN" altLang="en-US" sz="2800" kern="10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电路</a:t>
            </a:r>
            <a:r>
              <a:rPr lang="zh-CN" altLang="zh-CN" sz="2800" kern="10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提供正确</a:t>
            </a:r>
            <a:r>
              <a:rPr lang="zh-CN" altLang="en-US" sz="2800" kern="10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供电？</a:t>
            </a:r>
            <a:endParaRPr lang="zh-CN" altLang="en-US" sz="2800" dirty="0">
              <a:solidFill>
                <a:srgbClr val="000066"/>
              </a:solidFill>
            </a:endParaRPr>
          </a:p>
        </p:txBody>
      </p:sp>
      <p:pic>
        <p:nvPicPr>
          <p:cNvPr id="64515" name="Picture 2">
            <a:extLst>
              <a:ext uri="{FF2B5EF4-FFF2-40B4-BE49-F238E27FC236}">
                <a16:creationId xmlns:a16="http://schemas.microsoft.com/office/drawing/2014/main" id="{634890DE-B6FC-47B9-983D-7A7DF2DDB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484784"/>
            <a:ext cx="3203575" cy="254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6" name="Picture 3" descr="5512204F2A7616528D2207E5E20B984E">
            <a:extLst>
              <a:ext uri="{FF2B5EF4-FFF2-40B4-BE49-F238E27FC236}">
                <a16:creationId xmlns:a16="http://schemas.microsoft.com/office/drawing/2014/main" id="{7CDA71EE-AC97-4CCC-B03C-1F014A263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941" y="1453034"/>
            <a:ext cx="3311525" cy="256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7" name="Picture 4" descr="76F7B0D2FD965D3C76563DC750B81880">
            <a:extLst>
              <a:ext uri="{FF2B5EF4-FFF2-40B4-BE49-F238E27FC236}">
                <a16:creationId xmlns:a16="http://schemas.microsoft.com/office/drawing/2014/main" id="{CFDD1147-95B3-41C0-8503-ED5BB7849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741" y="4172421"/>
            <a:ext cx="3219450" cy="249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3A1C77D7-D485-4A99-B049-39252BB3EF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2940" y="4172421"/>
            <a:ext cx="3167335" cy="2498725"/>
          </a:xfrm>
          <a:prstGeom prst="rect">
            <a:avLst/>
          </a:prstGeom>
        </p:spPr>
      </p:pic>
      <p:sp>
        <p:nvSpPr>
          <p:cNvPr id="7" name="动作按钮: 帮助 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68F3A0C8-A73C-4518-8EA7-8D1AAAC90E9A}"/>
              </a:ext>
            </a:extLst>
          </p:cNvPr>
          <p:cNvSpPr/>
          <p:nvPr/>
        </p:nvSpPr>
        <p:spPr bwMode="auto">
          <a:xfrm>
            <a:off x="4031060" y="3527135"/>
            <a:ext cx="1208583" cy="988948"/>
          </a:xfrm>
          <a:prstGeom prst="actionButtonHelp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429178-DBDF-497C-A2D2-DBDCC7795B27}"/>
              </a:ext>
            </a:extLst>
          </p:cNvPr>
          <p:cNvSpPr txBox="1"/>
          <p:nvPr/>
        </p:nvSpPr>
        <p:spPr>
          <a:xfrm>
            <a:off x="3707904" y="285293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D43E4E7-0EB4-4C6A-82BA-0B9D536123BB}"/>
              </a:ext>
            </a:extLst>
          </p:cNvPr>
          <p:cNvSpPr txBox="1"/>
          <p:nvPr/>
        </p:nvSpPr>
        <p:spPr>
          <a:xfrm>
            <a:off x="7740352" y="285293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DE29DAD-0302-4D05-84EF-95E6027A9EA0}"/>
              </a:ext>
            </a:extLst>
          </p:cNvPr>
          <p:cNvSpPr txBox="1"/>
          <p:nvPr/>
        </p:nvSpPr>
        <p:spPr>
          <a:xfrm>
            <a:off x="3707904" y="5735903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A5886F3-4380-454D-B5FC-E922124005E1}"/>
              </a:ext>
            </a:extLst>
          </p:cNvPr>
          <p:cNvSpPr txBox="1"/>
          <p:nvPr/>
        </p:nvSpPr>
        <p:spPr>
          <a:xfrm>
            <a:off x="7740352" y="5735903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1214414" y="1622425"/>
            <a:ext cx="7642249" cy="455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zh-CN" sz="3600" b="1" dirty="0">
                <a:solidFill>
                  <a:srgbClr val="000000"/>
                </a:solidFill>
              </a:rPr>
              <a:t> </a:t>
            </a:r>
            <a:r>
              <a:rPr lang="zh-CN" altLang="en-US" sz="3600" b="1" dirty="0">
                <a:solidFill>
                  <a:srgbClr val="FFFFFF">
                    <a:lumMod val="75000"/>
                  </a:srgbClr>
                </a:solidFill>
              </a:rPr>
              <a:t>面包板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zh-CN" sz="3600" b="1" dirty="0">
                <a:solidFill>
                  <a:srgbClr val="000000"/>
                </a:solidFill>
              </a:rPr>
              <a:t> </a:t>
            </a:r>
            <a:r>
              <a:rPr lang="zh-CN" altLang="en-US" sz="3600" b="1" dirty="0">
                <a:solidFill>
                  <a:srgbClr val="FFFFFF">
                    <a:lumMod val="75000"/>
                  </a:srgbClr>
                </a:solidFill>
              </a:rPr>
              <a:t>万用表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zh-CN" sz="3600" b="1" dirty="0">
                <a:solidFill>
                  <a:srgbClr val="000000"/>
                </a:solidFill>
              </a:rPr>
              <a:t> </a:t>
            </a:r>
            <a:r>
              <a:rPr lang="zh-CN" altLang="en-US" sz="3600" b="1" dirty="0">
                <a:solidFill>
                  <a:srgbClr val="FFFFFF">
                    <a:lumMod val="75000"/>
                  </a:srgbClr>
                </a:solidFill>
              </a:rPr>
              <a:t>稳压电源 </a:t>
            </a:r>
            <a:r>
              <a:rPr lang="zh-CN" altLang="en-US" sz="3600" b="1" dirty="0">
                <a:solidFill>
                  <a:srgbClr val="000000"/>
                </a:solidFill>
              </a:rPr>
              <a:t>   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Pct val="110000"/>
              <a:buBlip>
                <a:blip r:embed="rId2"/>
              </a:buBlip>
            </a:pPr>
            <a:r>
              <a:rPr lang="zh-CN" altLang="en-US" sz="3600" b="1" dirty="0">
                <a:solidFill>
                  <a:srgbClr val="000000"/>
                </a:solidFill>
              </a:rPr>
              <a:t>波形产生</a:t>
            </a:r>
            <a:r>
              <a:rPr lang="zh-CN" altLang="en-US" sz="3600" b="1" dirty="0"/>
              <a:t>器</a:t>
            </a:r>
            <a:r>
              <a:rPr lang="en-US" altLang="zh-CN" sz="3600" b="1" dirty="0">
                <a:solidFill>
                  <a:srgbClr val="0000FF"/>
                </a:solidFill>
              </a:rPr>
              <a:t>=</a:t>
            </a:r>
            <a:r>
              <a:rPr lang="zh-CN" altLang="en-US" sz="3600" b="1" dirty="0">
                <a:solidFill>
                  <a:srgbClr val="0000FF"/>
                </a:solidFill>
              </a:rPr>
              <a:t>信号源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sz="3600" b="1" dirty="0"/>
              <a:t>数字示波</a:t>
            </a:r>
            <a:r>
              <a:rPr lang="zh-CN" altLang="en-US" sz="3600" b="1" dirty="0">
                <a:solidFill>
                  <a:srgbClr val="000000"/>
                </a:solidFill>
              </a:rPr>
              <a:t>器</a:t>
            </a:r>
            <a:endParaRPr lang="zh-CN" altLang="en-US" sz="3600" b="1" dirty="0"/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1349829" y="4376057"/>
            <a:ext cx="4408714" cy="0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50000"/>
                <a:lumOff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4" name="矩形 3"/>
          <p:cNvSpPr/>
          <p:nvPr/>
        </p:nvSpPr>
        <p:spPr bwMode="auto">
          <a:xfrm>
            <a:off x="5900046" y="3893569"/>
            <a:ext cx="2874201" cy="1047599"/>
          </a:xfrm>
          <a:prstGeom prst="rect">
            <a:avLst/>
          </a:prstGeom>
          <a:noFill/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3200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课间休息</a:t>
            </a:r>
            <a:r>
              <a:rPr lang="en-US" altLang="zh-CN" sz="3200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</a:t>
            </a:r>
            <a:r>
              <a:rPr lang="zh-CN" altLang="en-US" sz="3200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分钟</a:t>
            </a:r>
            <a:endParaRPr lang="en-US" altLang="zh-CN" sz="3200">
              <a:solidFill>
                <a:srgbClr val="2722FA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bg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再点击一次开始计时</a:t>
            </a:r>
            <a:endParaRPr lang="zh-CN" altLang="en-US" sz="2000" b="1" dirty="0">
              <a:solidFill>
                <a:schemeClr val="bg1">
                  <a:lumMod val="7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Text Box 46"/>
          <p:cNvSpPr txBox="1">
            <a:spLocks noChangeArrowheads="1"/>
          </p:cNvSpPr>
          <p:nvPr/>
        </p:nvSpPr>
        <p:spPr bwMode="auto">
          <a:xfrm>
            <a:off x="7684840" y="5836899"/>
            <a:ext cx="1171823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400" b="1" u="sng">
                <a:solidFill>
                  <a:srgbClr val="C00000"/>
                </a:solidFill>
              </a:rPr>
              <a:t>续</a:t>
            </a:r>
            <a:endParaRPr lang="zh-CN" altLang="en-US" sz="3600" b="1" dirty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" name="爆炸形 1 6"/>
          <p:cNvSpPr/>
          <p:nvPr/>
        </p:nvSpPr>
        <p:spPr bwMode="auto">
          <a:xfrm>
            <a:off x="3777394" y="1844824"/>
            <a:ext cx="3242878" cy="2376263"/>
          </a:xfrm>
          <a:prstGeom prst="irregularSeal1">
            <a:avLst/>
          </a:prstGeom>
          <a:solidFill>
            <a:srgbClr val="FF9900"/>
          </a:solidFill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多练</a:t>
            </a:r>
            <a:endParaRPr kumimoji="0" lang="en-US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多总结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089025" y="381000"/>
            <a:ext cx="77279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4800" b="1" ker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常用仪器的使用</a:t>
            </a:r>
            <a:endParaRPr lang="zh-CN" altLang="en-US" sz="4800" b="1" kern="0">
              <a:ea typeface="华文楷体" panose="02010600040101010101" pitchFamily="2" charset="-122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6352312" y="5890775"/>
            <a:ext cx="1406768" cy="800519"/>
          </a:xfrm>
          <a:prstGeom prst="rightArrow">
            <a:avLst/>
          </a:prstGeom>
          <a:solidFill>
            <a:srgbClr val="8263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31448" y="6081694"/>
            <a:ext cx="1312985" cy="422030"/>
          </a:xfrm>
          <a:prstGeom prst="rect">
            <a:avLst/>
          </a:prstGeom>
          <a:solidFill>
            <a:srgbClr val="F2B8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061664" y="6081694"/>
            <a:ext cx="1312985" cy="422030"/>
          </a:xfrm>
          <a:prstGeom prst="rect">
            <a:avLst/>
          </a:prstGeom>
          <a:solidFill>
            <a:srgbClr val="DAA6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491880" y="6081694"/>
            <a:ext cx="1312985" cy="422030"/>
          </a:xfrm>
          <a:prstGeom prst="rect">
            <a:avLst/>
          </a:prstGeom>
          <a:solidFill>
            <a:srgbClr val="BC8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922095" y="6081694"/>
            <a:ext cx="1312985" cy="422030"/>
          </a:xfrm>
          <a:prstGeom prst="rect">
            <a:avLst/>
          </a:prstGeom>
          <a:solidFill>
            <a:srgbClr val="A47D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58316" y="6081694"/>
            <a:ext cx="186349" cy="422030"/>
          </a:xfrm>
          <a:prstGeom prst="rect">
            <a:avLst/>
          </a:prstGeom>
          <a:solidFill>
            <a:srgbClr val="FFC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9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2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9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9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80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9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39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9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4" name="Rectangle 2"/>
          <p:cNvSpPr>
            <a:spLocks noChangeArrowheads="1"/>
          </p:cNvSpPr>
          <p:nvPr/>
        </p:nvSpPr>
        <p:spPr bwMode="auto">
          <a:xfrm>
            <a:off x="121299" y="246063"/>
            <a:ext cx="8817428" cy="620712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l"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看仪器  想信号</a:t>
            </a:r>
            <a:r>
              <a:rPr lang="en-US" altLang="zh-CN" sz="3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— </a:t>
            </a:r>
            <a:r>
              <a:rPr lang="zh-CN" altLang="en-US" sz="3600" b="1" noProof="0" dirty="0">
                <a:solidFill>
                  <a:srgbClr val="C00000"/>
                </a:solidFill>
                <a:latin typeface="Times New Roman" panose="02020603050405020304" pitchFamily="18" charset="0"/>
              </a:rPr>
              <a:t>从信号  学仪器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pSp>
        <p:nvGrpSpPr>
          <p:cNvPr id="97323" name="Group 43"/>
          <p:cNvGrpSpPr/>
          <p:nvPr/>
        </p:nvGrpSpPr>
        <p:grpSpPr bwMode="auto">
          <a:xfrm>
            <a:off x="4886115" y="4994607"/>
            <a:ext cx="3651250" cy="1579563"/>
            <a:chOff x="2944" y="1709"/>
            <a:chExt cx="2300" cy="995"/>
          </a:xfrm>
        </p:grpSpPr>
        <p:sp>
          <p:nvSpPr>
            <p:cNvPr id="97287" name="Text Box 15"/>
            <p:cNvSpPr txBox="1">
              <a:spLocks noChangeArrowheads="1"/>
            </p:cNvSpPr>
            <p:nvPr/>
          </p:nvSpPr>
          <p:spPr bwMode="auto">
            <a:xfrm>
              <a:off x="2944" y="2473"/>
              <a:ext cx="45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-2v</a:t>
              </a:r>
            </a:p>
          </p:txBody>
        </p:sp>
        <p:grpSp>
          <p:nvGrpSpPr>
            <p:cNvPr id="97322" name="Group 42"/>
            <p:cNvGrpSpPr/>
            <p:nvPr/>
          </p:nvGrpSpPr>
          <p:grpSpPr bwMode="auto">
            <a:xfrm>
              <a:off x="3025" y="1709"/>
              <a:ext cx="2219" cy="909"/>
              <a:chOff x="3025" y="1709"/>
              <a:chExt cx="2219" cy="909"/>
            </a:xfrm>
          </p:grpSpPr>
          <p:sp>
            <p:nvSpPr>
              <p:cNvPr id="97289" name="Freeform 4"/>
              <p:cNvSpPr/>
              <p:nvPr/>
            </p:nvSpPr>
            <p:spPr bwMode="auto">
              <a:xfrm>
                <a:off x="3325" y="2118"/>
                <a:ext cx="1628" cy="439"/>
              </a:xfrm>
              <a:custGeom>
                <a:avLst/>
                <a:gdLst>
                  <a:gd name="T0" fmla="*/ 2147483647 w 14433"/>
                  <a:gd name="T1" fmla="*/ 2147483647 h 4000"/>
                  <a:gd name="T2" fmla="*/ 2147483647 w 14433"/>
                  <a:gd name="T3" fmla="*/ 2147483647 h 4000"/>
                  <a:gd name="T4" fmla="*/ 2147483647 w 14433"/>
                  <a:gd name="T5" fmla="*/ 2147483647 h 4000"/>
                  <a:gd name="T6" fmla="*/ 2147483647 w 14433"/>
                  <a:gd name="T7" fmla="*/ 2147483647 h 4000"/>
                  <a:gd name="T8" fmla="*/ 2147483647 w 14433"/>
                  <a:gd name="T9" fmla="*/ 0 h 4000"/>
                  <a:gd name="T10" fmla="*/ 2147483647 w 14433"/>
                  <a:gd name="T11" fmla="*/ 2147483647 h 4000"/>
                  <a:gd name="T12" fmla="*/ 2147483647 w 14433"/>
                  <a:gd name="T13" fmla="*/ 2147483647 h 4000"/>
                  <a:gd name="T14" fmla="*/ 2147483647 w 14433"/>
                  <a:gd name="T15" fmla="*/ 2147483647 h 4000"/>
                  <a:gd name="T16" fmla="*/ 2147483647 w 14433"/>
                  <a:gd name="T17" fmla="*/ 2147483647 h 4000"/>
                  <a:gd name="T18" fmla="*/ 2147483647 w 14433"/>
                  <a:gd name="T19" fmla="*/ 2147483647 h 4000"/>
                  <a:gd name="T20" fmla="*/ 2147483647 w 14433"/>
                  <a:gd name="T21" fmla="*/ 2147483647 h 4000"/>
                  <a:gd name="T22" fmla="*/ 2147483647 w 14433"/>
                  <a:gd name="T23" fmla="*/ 2147483647 h 4000"/>
                  <a:gd name="T24" fmla="*/ 2147483647 w 14433"/>
                  <a:gd name="T25" fmla="*/ 2147483647 h 4000"/>
                  <a:gd name="T26" fmla="*/ 2147483647 w 14433"/>
                  <a:gd name="T27" fmla="*/ 2147483647 h 4000"/>
                  <a:gd name="T28" fmla="*/ 2147483647 w 14433"/>
                  <a:gd name="T29" fmla="*/ 2147483647 h 4000"/>
                  <a:gd name="T30" fmla="*/ 2147483647 w 14433"/>
                  <a:gd name="T31" fmla="*/ 2147483647 h 4000"/>
                  <a:gd name="T32" fmla="*/ 2147483647 w 14433"/>
                  <a:gd name="T33" fmla="*/ 2147483647 h 4000"/>
                  <a:gd name="T34" fmla="*/ 2147483647 w 14433"/>
                  <a:gd name="T35" fmla="*/ 2147483647 h 4000"/>
                  <a:gd name="T36" fmla="*/ 2147483647 w 14433"/>
                  <a:gd name="T37" fmla="*/ 2147483647 h 4000"/>
                  <a:gd name="T38" fmla="*/ 2147483647 w 14433"/>
                  <a:gd name="T39" fmla="*/ 2147483647 h 4000"/>
                  <a:gd name="T40" fmla="*/ 2147483647 w 14433"/>
                  <a:gd name="T41" fmla="*/ 2147483647 h 4000"/>
                  <a:gd name="T42" fmla="*/ 2147483647 w 14433"/>
                  <a:gd name="T43" fmla="*/ 2147483647 h 4000"/>
                  <a:gd name="T44" fmla="*/ 2147483647 w 14433"/>
                  <a:gd name="T45" fmla="*/ 0 h 4000"/>
                  <a:gd name="T46" fmla="*/ 2147483647 w 14433"/>
                  <a:gd name="T47" fmla="*/ 2147483647 h 4000"/>
                  <a:gd name="T48" fmla="*/ 2147483647 w 14433"/>
                  <a:gd name="T49" fmla="*/ 2147483647 h 4000"/>
                  <a:gd name="T50" fmla="*/ 2147483647 w 14433"/>
                  <a:gd name="T51" fmla="*/ 2147483647 h 4000"/>
                  <a:gd name="T52" fmla="*/ 2147483647 w 14433"/>
                  <a:gd name="T53" fmla="*/ 2147483647 h 4000"/>
                  <a:gd name="T54" fmla="*/ 2147483647 w 14433"/>
                  <a:gd name="T55" fmla="*/ 2147483647 h 4000"/>
                  <a:gd name="T56" fmla="*/ 2147483647 w 14433"/>
                  <a:gd name="T57" fmla="*/ 2147483647 h 4000"/>
                  <a:gd name="T58" fmla="*/ 2147483647 w 14433"/>
                  <a:gd name="T59" fmla="*/ 2147483647 h 4000"/>
                  <a:gd name="T60" fmla="*/ 2147483647 w 14433"/>
                  <a:gd name="T61" fmla="*/ 2147483647 h 4000"/>
                  <a:gd name="T62" fmla="*/ 2147483647 w 14433"/>
                  <a:gd name="T63" fmla="*/ 2147483647 h 4000"/>
                  <a:gd name="T64" fmla="*/ 2147483647 w 14433"/>
                  <a:gd name="T65" fmla="*/ 2147483647 h 4000"/>
                  <a:gd name="T66" fmla="*/ 2147483647 w 14433"/>
                  <a:gd name="T67" fmla="*/ 2147483647 h 4000"/>
                  <a:gd name="T68" fmla="*/ 2147483647 w 14433"/>
                  <a:gd name="T69" fmla="*/ 2147483647 h 4000"/>
                  <a:gd name="T70" fmla="*/ 2147483647 w 14433"/>
                  <a:gd name="T71" fmla="*/ 2147483647 h 4000"/>
                  <a:gd name="T72" fmla="*/ 2147483647 w 14433"/>
                  <a:gd name="T73" fmla="*/ 2147483647 h 4000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4433"/>
                  <a:gd name="T112" fmla="*/ 0 h 4000"/>
                  <a:gd name="T113" fmla="*/ 14433 w 14433"/>
                  <a:gd name="T114" fmla="*/ 4000 h 4000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4433" h="4000">
                    <a:moveTo>
                      <a:pt x="0" y="2000"/>
                    </a:moveTo>
                    <a:cubicBezTo>
                      <a:pt x="66" y="1883"/>
                      <a:pt x="133" y="1767"/>
                      <a:pt x="200" y="1653"/>
                    </a:cubicBezTo>
                    <a:cubicBezTo>
                      <a:pt x="267" y="1539"/>
                      <a:pt x="333" y="1425"/>
                      <a:pt x="400" y="1316"/>
                    </a:cubicBezTo>
                    <a:cubicBezTo>
                      <a:pt x="467" y="1207"/>
                      <a:pt x="533" y="1100"/>
                      <a:pt x="600" y="1000"/>
                    </a:cubicBezTo>
                    <a:cubicBezTo>
                      <a:pt x="667" y="900"/>
                      <a:pt x="733" y="803"/>
                      <a:pt x="800" y="714"/>
                    </a:cubicBezTo>
                    <a:cubicBezTo>
                      <a:pt x="867" y="625"/>
                      <a:pt x="933" y="542"/>
                      <a:pt x="1000" y="468"/>
                    </a:cubicBezTo>
                    <a:cubicBezTo>
                      <a:pt x="1067" y="394"/>
                      <a:pt x="1133" y="326"/>
                      <a:pt x="1200" y="268"/>
                    </a:cubicBezTo>
                    <a:cubicBezTo>
                      <a:pt x="1267" y="210"/>
                      <a:pt x="1333" y="161"/>
                      <a:pt x="1400" y="121"/>
                    </a:cubicBezTo>
                    <a:cubicBezTo>
                      <a:pt x="1467" y="81"/>
                      <a:pt x="1533" y="50"/>
                      <a:pt x="1600" y="30"/>
                    </a:cubicBezTo>
                    <a:cubicBezTo>
                      <a:pt x="1667" y="10"/>
                      <a:pt x="1733" y="0"/>
                      <a:pt x="1800" y="0"/>
                    </a:cubicBezTo>
                    <a:cubicBezTo>
                      <a:pt x="1867" y="0"/>
                      <a:pt x="1933" y="10"/>
                      <a:pt x="2000" y="30"/>
                    </a:cubicBezTo>
                    <a:cubicBezTo>
                      <a:pt x="2067" y="50"/>
                      <a:pt x="2133" y="81"/>
                      <a:pt x="2200" y="121"/>
                    </a:cubicBezTo>
                    <a:cubicBezTo>
                      <a:pt x="2267" y="161"/>
                      <a:pt x="2333" y="210"/>
                      <a:pt x="2400" y="268"/>
                    </a:cubicBezTo>
                    <a:cubicBezTo>
                      <a:pt x="2467" y="326"/>
                      <a:pt x="2533" y="394"/>
                      <a:pt x="2600" y="468"/>
                    </a:cubicBezTo>
                    <a:cubicBezTo>
                      <a:pt x="2667" y="542"/>
                      <a:pt x="2733" y="625"/>
                      <a:pt x="2800" y="714"/>
                    </a:cubicBezTo>
                    <a:cubicBezTo>
                      <a:pt x="2867" y="803"/>
                      <a:pt x="2933" y="900"/>
                      <a:pt x="3000" y="1000"/>
                    </a:cubicBezTo>
                    <a:cubicBezTo>
                      <a:pt x="3067" y="1100"/>
                      <a:pt x="3133" y="1207"/>
                      <a:pt x="3200" y="1316"/>
                    </a:cubicBezTo>
                    <a:cubicBezTo>
                      <a:pt x="3267" y="1425"/>
                      <a:pt x="3333" y="1539"/>
                      <a:pt x="3400" y="1653"/>
                    </a:cubicBezTo>
                    <a:cubicBezTo>
                      <a:pt x="3467" y="1767"/>
                      <a:pt x="3533" y="1884"/>
                      <a:pt x="3600" y="2000"/>
                    </a:cubicBezTo>
                    <a:cubicBezTo>
                      <a:pt x="3667" y="2116"/>
                      <a:pt x="3733" y="2233"/>
                      <a:pt x="3800" y="2347"/>
                    </a:cubicBezTo>
                    <a:cubicBezTo>
                      <a:pt x="3867" y="2461"/>
                      <a:pt x="3933" y="2575"/>
                      <a:pt x="4000" y="2684"/>
                    </a:cubicBezTo>
                    <a:cubicBezTo>
                      <a:pt x="4067" y="2793"/>
                      <a:pt x="4133" y="2900"/>
                      <a:pt x="4200" y="3000"/>
                    </a:cubicBezTo>
                    <a:cubicBezTo>
                      <a:pt x="4267" y="3100"/>
                      <a:pt x="4333" y="3196"/>
                      <a:pt x="4400" y="3285"/>
                    </a:cubicBezTo>
                    <a:cubicBezTo>
                      <a:pt x="4467" y="3374"/>
                      <a:pt x="4533" y="3458"/>
                      <a:pt x="4600" y="3532"/>
                    </a:cubicBezTo>
                    <a:cubicBezTo>
                      <a:pt x="4667" y="3606"/>
                      <a:pt x="4733" y="3674"/>
                      <a:pt x="4800" y="3732"/>
                    </a:cubicBezTo>
                    <a:cubicBezTo>
                      <a:pt x="4867" y="3790"/>
                      <a:pt x="4933" y="3839"/>
                      <a:pt x="5000" y="3879"/>
                    </a:cubicBezTo>
                    <a:cubicBezTo>
                      <a:pt x="5067" y="3919"/>
                      <a:pt x="5133" y="3950"/>
                      <a:pt x="5200" y="3970"/>
                    </a:cubicBezTo>
                    <a:cubicBezTo>
                      <a:pt x="5267" y="3990"/>
                      <a:pt x="5333" y="4000"/>
                      <a:pt x="5400" y="4000"/>
                    </a:cubicBezTo>
                    <a:cubicBezTo>
                      <a:pt x="5467" y="4000"/>
                      <a:pt x="5533" y="3990"/>
                      <a:pt x="5600" y="3970"/>
                    </a:cubicBezTo>
                    <a:cubicBezTo>
                      <a:pt x="5667" y="3950"/>
                      <a:pt x="5733" y="3919"/>
                      <a:pt x="5800" y="3879"/>
                    </a:cubicBezTo>
                    <a:cubicBezTo>
                      <a:pt x="5867" y="3839"/>
                      <a:pt x="5933" y="3790"/>
                      <a:pt x="6000" y="3732"/>
                    </a:cubicBezTo>
                    <a:cubicBezTo>
                      <a:pt x="6067" y="3674"/>
                      <a:pt x="6133" y="3606"/>
                      <a:pt x="6200" y="3532"/>
                    </a:cubicBezTo>
                    <a:cubicBezTo>
                      <a:pt x="6267" y="3458"/>
                      <a:pt x="6333" y="3375"/>
                      <a:pt x="6400" y="3286"/>
                    </a:cubicBezTo>
                    <a:cubicBezTo>
                      <a:pt x="6467" y="3197"/>
                      <a:pt x="6533" y="3100"/>
                      <a:pt x="6600" y="3000"/>
                    </a:cubicBezTo>
                    <a:cubicBezTo>
                      <a:pt x="6667" y="2900"/>
                      <a:pt x="6733" y="2793"/>
                      <a:pt x="6800" y="2684"/>
                    </a:cubicBezTo>
                    <a:cubicBezTo>
                      <a:pt x="6867" y="2575"/>
                      <a:pt x="6933" y="2462"/>
                      <a:pt x="7000" y="2348"/>
                    </a:cubicBezTo>
                    <a:cubicBezTo>
                      <a:pt x="7067" y="2234"/>
                      <a:pt x="7133" y="2116"/>
                      <a:pt x="7200" y="2000"/>
                    </a:cubicBezTo>
                    <a:cubicBezTo>
                      <a:pt x="7267" y="1884"/>
                      <a:pt x="7333" y="1767"/>
                      <a:pt x="7400" y="1653"/>
                    </a:cubicBezTo>
                    <a:cubicBezTo>
                      <a:pt x="7467" y="1539"/>
                      <a:pt x="7533" y="1425"/>
                      <a:pt x="7600" y="1316"/>
                    </a:cubicBezTo>
                    <a:cubicBezTo>
                      <a:pt x="7667" y="1207"/>
                      <a:pt x="7733" y="1100"/>
                      <a:pt x="7800" y="1000"/>
                    </a:cubicBezTo>
                    <a:cubicBezTo>
                      <a:pt x="7867" y="900"/>
                      <a:pt x="7933" y="804"/>
                      <a:pt x="8000" y="715"/>
                    </a:cubicBezTo>
                    <a:cubicBezTo>
                      <a:pt x="8067" y="626"/>
                      <a:pt x="8133" y="542"/>
                      <a:pt x="8200" y="468"/>
                    </a:cubicBezTo>
                    <a:cubicBezTo>
                      <a:pt x="8267" y="394"/>
                      <a:pt x="8333" y="326"/>
                      <a:pt x="8400" y="268"/>
                    </a:cubicBezTo>
                    <a:cubicBezTo>
                      <a:pt x="8467" y="210"/>
                      <a:pt x="8533" y="161"/>
                      <a:pt x="8600" y="121"/>
                    </a:cubicBezTo>
                    <a:cubicBezTo>
                      <a:pt x="8667" y="81"/>
                      <a:pt x="8733" y="50"/>
                      <a:pt x="8800" y="30"/>
                    </a:cubicBezTo>
                    <a:cubicBezTo>
                      <a:pt x="8867" y="10"/>
                      <a:pt x="8933" y="0"/>
                      <a:pt x="9000" y="0"/>
                    </a:cubicBezTo>
                    <a:cubicBezTo>
                      <a:pt x="9067" y="0"/>
                      <a:pt x="9133" y="10"/>
                      <a:pt x="9200" y="30"/>
                    </a:cubicBezTo>
                    <a:cubicBezTo>
                      <a:pt x="9267" y="50"/>
                      <a:pt x="9333" y="80"/>
                      <a:pt x="9400" y="120"/>
                    </a:cubicBezTo>
                    <a:cubicBezTo>
                      <a:pt x="9467" y="160"/>
                      <a:pt x="9533" y="210"/>
                      <a:pt x="9600" y="268"/>
                    </a:cubicBezTo>
                    <a:cubicBezTo>
                      <a:pt x="9667" y="326"/>
                      <a:pt x="9733" y="394"/>
                      <a:pt x="9800" y="468"/>
                    </a:cubicBezTo>
                    <a:cubicBezTo>
                      <a:pt x="9867" y="542"/>
                      <a:pt x="9933" y="625"/>
                      <a:pt x="10000" y="714"/>
                    </a:cubicBezTo>
                    <a:cubicBezTo>
                      <a:pt x="10067" y="803"/>
                      <a:pt x="10133" y="900"/>
                      <a:pt x="10200" y="1000"/>
                    </a:cubicBezTo>
                    <a:cubicBezTo>
                      <a:pt x="10267" y="1100"/>
                      <a:pt x="10333" y="1206"/>
                      <a:pt x="10400" y="1315"/>
                    </a:cubicBezTo>
                    <a:cubicBezTo>
                      <a:pt x="10467" y="1424"/>
                      <a:pt x="10533" y="1538"/>
                      <a:pt x="10600" y="1652"/>
                    </a:cubicBezTo>
                    <a:cubicBezTo>
                      <a:pt x="10667" y="1766"/>
                      <a:pt x="10733" y="1883"/>
                      <a:pt x="10800" y="1999"/>
                    </a:cubicBezTo>
                    <a:cubicBezTo>
                      <a:pt x="10867" y="2115"/>
                      <a:pt x="10933" y="2233"/>
                      <a:pt x="11000" y="2347"/>
                    </a:cubicBezTo>
                    <a:cubicBezTo>
                      <a:pt x="11067" y="2461"/>
                      <a:pt x="11133" y="2574"/>
                      <a:pt x="11200" y="2683"/>
                    </a:cubicBezTo>
                    <a:cubicBezTo>
                      <a:pt x="11267" y="2792"/>
                      <a:pt x="11333" y="2899"/>
                      <a:pt x="11400" y="2999"/>
                    </a:cubicBezTo>
                    <a:cubicBezTo>
                      <a:pt x="11467" y="3099"/>
                      <a:pt x="11533" y="3196"/>
                      <a:pt x="11600" y="3285"/>
                    </a:cubicBezTo>
                    <a:cubicBezTo>
                      <a:pt x="11667" y="3374"/>
                      <a:pt x="11733" y="3458"/>
                      <a:pt x="11800" y="3532"/>
                    </a:cubicBezTo>
                    <a:cubicBezTo>
                      <a:pt x="11867" y="3606"/>
                      <a:pt x="11933" y="3674"/>
                      <a:pt x="12000" y="3732"/>
                    </a:cubicBezTo>
                    <a:cubicBezTo>
                      <a:pt x="12067" y="3790"/>
                      <a:pt x="12133" y="3839"/>
                      <a:pt x="12200" y="3879"/>
                    </a:cubicBezTo>
                    <a:cubicBezTo>
                      <a:pt x="12267" y="3919"/>
                      <a:pt x="12333" y="3950"/>
                      <a:pt x="12400" y="3970"/>
                    </a:cubicBezTo>
                    <a:cubicBezTo>
                      <a:pt x="12467" y="3990"/>
                      <a:pt x="12533" y="4000"/>
                      <a:pt x="12600" y="4000"/>
                    </a:cubicBezTo>
                    <a:cubicBezTo>
                      <a:pt x="12667" y="4000"/>
                      <a:pt x="12733" y="3990"/>
                      <a:pt x="12800" y="3970"/>
                    </a:cubicBezTo>
                    <a:cubicBezTo>
                      <a:pt x="12867" y="3950"/>
                      <a:pt x="12933" y="3920"/>
                      <a:pt x="13000" y="3880"/>
                    </a:cubicBezTo>
                    <a:cubicBezTo>
                      <a:pt x="13067" y="3840"/>
                      <a:pt x="13133" y="3790"/>
                      <a:pt x="13200" y="3732"/>
                    </a:cubicBezTo>
                    <a:cubicBezTo>
                      <a:pt x="13267" y="3674"/>
                      <a:pt x="13333" y="3607"/>
                      <a:pt x="13400" y="3533"/>
                    </a:cubicBezTo>
                    <a:cubicBezTo>
                      <a:pt x="13467" y="3459"/>
                      <a:pt x="13533" y="3375"/>
                      <a:pt x="13600" y="3286"/>
                    </a:cubicBezTo>
                    <a:cubicBezTo>
                      <a:pt x="13667" y="3197"/>
                      <a:pt x="13733" y="3101"/>
                      <a:pt x="13800" y="3001"/>
                    </a:cubicBezTo>
                    <a:cubicBezTo>
                      <a:pt x="13867" y="2901"/>
                      <a:pt x="13933" y="2794"/>
                      <a:pt x="14000" y="2685"/>
                    </a:cubicBezTo>
                    <a:cubicBezTo>
                      <a:pt x="14067" y="2576"/>
                      <a:pt x="14133" y="2462"/>
                      <a:pt x="14200" y="2348"/>
                    </a:cubicBezTo>
                    <a:cubicBezTo>
                      <a:pt x="14267" y="2234"/>
                      <a:pt x="14367" y="2059"/>
                      <a:pt x="14400" y="2001"/>
                    </a:cubicBezTo>
                    <a:cubicBezTo>
                      <a:pt x="14433" y="1943"/>
                      <a:pt x="14416" y="1972"/>
                      <a:pt x="14400" y="2001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97290" name="Group 5"/>
              <p:cNvGrpSpPr/>
              <p:nvPr/>
            </p:nvGrpSpPr>
            <p:grpSpPr bwMode="auto">
              <a:xfrm>
                <a:off x="3143" y="1709"/>
                <a:ext cx="1951" cy="909"/>
                <a:chOff x="0" y="0"/>
                <a:chExt cx="2820" cy="1324"/>
              </a:xfrm>
            </p:grpSpPr>
            <p:sp>
              <p:nvSpPr>
                <p:cNvPr id="97291" name="Line 6"/>
                <p:cNvSpPr>
                  <a:spLocks noChangeShapeType="1"/>
                </p:cNvSpPr>
                <p:nvPr/>
              </p:nvSpPr>
              <p:spPr bwMode="auto">
                <a:xfrm>
                  <a:off x="225" y="960"/>
                  <a:ext cx="2595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7292" name="Line 7"/>
                <p:cNvSpPr>
                  <a:spLocks noChangeShapeType="1"/>
                </p:cNvSpPr>
                <p:nvPr/>
              </p:nvSpPr>
              <p:spPr bwMode="auto">
                <a:xfrm>
                  <a:off x="233" y="165"/>
                  <a:ext cx="2" cy="115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7293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8" y="855"/>
                  <a:ext cx="180" cy="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990099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990099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7294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595" y="585"/>
                  <a:ext cx="180" cy="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t</a:t>
                  </a:r>
                  <a:endParaRPr kumimoji="0" lang="en-US" altLang="zh-CN" sz="4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7295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180" cy="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sz="2800" b="0" i="1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v</a:t>
                  </a:r>
                  <a:endParaRPr kumimoji="0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97296" name="Text Box 12"/>
              <p:cNvSpPr txBox="1">
                <a:spLocks noChangeArrowheads="1"/>
              </p:cNvSpPr>
              <p:nvPr/>
            </p:nvSpPr>
            <p:spPr bwMode="auto">
              <a:xfrm>
                <a:off x="3025" y="2013"/>
                <a:ext cx="31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2v</a:t>
                </a:r>
              </a:p>
            </p:txBody>
          </p:sp>
          <p:sp>
            <p:nvSpPr>
              <p:cNvPr id="97300" name="Line 42"/>
              <p:cNvSpPr>
                <a:spLocks noChangeShapeType="1"/>
              </p:cNvSpPr>
              <p:nvPr/>
            </p:nvSpPr>
            <p:spPr bwMode="auto">
              <a:xfrm>
                <a:off x="3203" y="2369"/>
                <a:ext cx="9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7301" name="Text Box 47"/>
              <p:cNvSpPr txBox="1">
                <a:spLocks noChangeArrowheads="1"/>
              </p:cNvSpPr>
              <p:nvPr/>
            </p:nvSpPr>
            <p:spPr bwMode="auto">
              <a:xfrm>
                <a:off x="4506" y="1838"/>
                <a:ext cx="73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f=500Hz</a:t>
                </a:r>
              </a:p>
            </p:txBody>
          </p:sp>
          <p:sp>
            <p:nvSpPr>
              <p:cNvPr id="97302" name="Text Box 50"/>
              <p:cNvSpPr txBox="1">
                <a:spLocks noChangeArrowheads="1"/>
              </p:cNvSpPr>
              <p:nvPr/>
            </p:nvSpPr>
            <p:spPr bwMode="auto">
              <a:xfrm>
                <a:off x="3276" y="1766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(v)</a:t>
                </a:r>
              </a:p>
            </p:txBody>
          </p:sp>
        </p:grpSp>
      </p:grpSp>
      <p:grpSp>
        <p:nvGrpSpPr>
          <p:cNvPr id="88101" name="组合 55"/>
          <p:cNvGrpSpPr/>
          <p:nvPr/>
        </p:nvGrpSpPr>
        <p:grpSpPr bwMode="auto">
          <a:xfrm>
            <a:off x="145840" y="5154617"/>
            <a:ext cx="3743325" cy="1429638"/>
            <a:chOff x="0" y="0"/>
            <a:chExt cx="3743325" cy="1429638"/>
          </a:xfrm>
        </p:grpSpPr>
        <p:sp>
          <p:nvSpPr>
            <p:cNvPr id="97304" name="Freeform 25"/>
            <p:cNvSpPr/>
            <p:nvPr/>
          </p:nvSpPr>
          <p:spPr bwMode="auto">
            <a:xfrm>
              <a:off x="679450" y="516763"/>
              <a:ext cx="2584450" cy="696912"/>
            </a:xfrm>
            <a:custGeom>
              <a:avLst/>
              <a:gdLst>
                <a:gd name="T0" fmla="*/ 2147483647 w 14433"/>
                <a:gd name="T1" fmla="*/ 2147483647 h 4000"/>
                <a:gd name="T2" fmla="*/ 2147483647 w 14433"/>
                <a:gd name="T3" fmla="*/ 2147483647 h 4000"/>
                <a:gd name="T4" fmla="*/ 2147483647 w 14433"/>
                <a:gd name="T5" fmla="*/ 2147483647 h 4000"/>
                <a:gd name="T6" fmla="*/ 2147483647 w 14433"/>
                <a:gd name="T7" fmla="*/ 2147483647 h 4000"/>
                <a:gd name="T8" fmla="*/ 2147483647 w 14433"/>
                <a:gd name="T9" fmla="*/ 0 h 4000"/>
                <a:gd name="T10" fmla="*/ 2147483647 w 14433"/>
                <a:gd name="T11" fmla="*/ 2147483647 h 4000"/>
                <a:gd name="T12" fmla="*/ 2147483647 w 14433"/>
                <a:gd name="T13" fmla="*/ 2147483647 h 4000"/>
                <a:gd name="T14" fmla="*/ 2147483647 w 14433"/>
                <a:gd name="T15" fmla="*/ 2147483647 h 4000"/>
                <a:gd name="T16" fmla="*/ 2147483647 w 14433"/>
                <a:gd name="T17" fmla="*/ 2147483647 h 4000"/>
                <a:gd name="T18" fmla="*/ 2147483647 w 14433"/>
                <a:gd name="T19" fmla="*/ 2147483647 h 4000"/>
                <a:gd name="T20" fmla="*/ 2147483647 w 14433"/>
                <a:gd name="T21" fmla="*/ 2147483647 h 4000"/>
                <a:gd name="T22" fmla="*/ 2147483647 w 14433"/>
                <a:gd name="T23" fmla="*/ 2147483647 h 4000"/>
                <a:gd name="T24" fmla="*/ 2147483647 w 14433"/>
                <a:gd name="T25" fmla="*/ 2147483647 h 4000"/>
                <a:gd name="T26" fmla="*/ 2147483647 w 14433"/>
                <a:gd name="T27" fmla="*/ 2147483647 h 4000"/>
                <a:gd name="T28" fmla="*/ 2147483647 w 14433"/>
                <a:gd name="T29" fmla="*/ 2147483647 h 4000"/>
                <a:gd name="T30" fmla="*/ 2147483647 w 14433"/>
                <a:gd name="T31" fmla="*/ 2147483647 h 4000"/>
                <a:gd name="T32" fmla="*/ 2147483647 w 14433"/>
                <a:gd name="T33" fmla="*/ 2147483647 h 4000"/>
                <a:gd name="T34" fmla="*/ 2147483647 w 14433"/>
                <a:gd name="T35" fmla="*/ 2147483647 h 4000"/>
                <a:gd name="T36" fmla="*/ 2147483647 w 14433"/>
                <a:gd name="T37" fmla="*/ 2147483647 h 4000"/>
                <a:gd name="T38" fmla="*/ 2147483647 w 14433"/>
                <a:gd name="T39" fmla="*/ 2147483647 h 4000"/>
                <a:gd name="T40" fmla="*/ 2147483647 w 14433"/>
                <a:gd name="T41" fmla="*/ 2147483647 h 4000"/>
                <a:gd name="T42" fmla="*/ 2147483647 w 14433"/>
                <a:gd name="T43" fmla="*/ 2147483647 h 4000"/>
                <a:gd name="T44" fmla="*/ 2147483647 w 14433"/>
                <a:gd name="T45" fmla="*/ 0 h 4000"/>
                <a:gd name="T46" fmla="*/ 2147483647 w 14433"/>
                <a:gd name="T47" fmla="*/ 2147483647 h 4000"/>
                <a:gd name="T48" fmla="*/ 2147483647 w 14433"/>
                <a:gd name="T49" fmla="*/ 2147483647 h 4000"/>
                <a:gd name="T50" fmla="*/ 2147483647 w 14433"/>
                <a:gd name="T51" fmla="*/ 2147483647 h 4000"/>
                <a:gd name="T52" fmla="*/ 2147483647 w 14433"/>
                <a:gd name="T53" fmla="*/ 2147483647 h 4000"/>
                <a:gd name="T54" fmla="*/ 2147483647 w 14433"/>
                <a:gd name="T55" fmla="*/ 2147483647 h 4000"/>
                <a:gd name="T56" fmla="*/ 2147483647 w 14433"/>
                <a:gd name="T57" fmla="*/ 2147483647 h 4000"/>
                <a:gd name="T58" fmla="*/ 2147483647 w 14433"/>
                <a:gd name="T59" fmla="*/ 2147483647 h 4000"/>
                <a:gd name="T60" fmla="*/ 2147483647 w 14433"/>
                <a:gd name="T61" fmla="*/ 2147483647 h 4000"/>
                <a:gd name="T62" fmla="*/ 2147483647 w 14433"/>
                <a:gd name="T63" fmla="*/ 2147483647 h 4000"/>
                <a:gd name="T64" fmla="*/ 2147483647 w 14433"/>
                <a:gd name="T65" fmla="*/ 2147483647 h 4000"/>
                <a:gd name="T66" fmla="*/ 2147483647 w 14433"/>
                <a:gd name="T67" fmla="*/ 2147483647 h 4000"/>
                <a:gd name="T68" fmla="*/ 2147483647 w 14433"/>
                <a:gd name="T69" fmla="*/ 2147483647 h 4000"/>
                <a:gd name="T70" fmla="*/ 2147483647 w 14433"/>
                <a:gd name="T71" fmla="*/ 2147483647 h 4000"/>
                <a:gd name="T72" fmla="*/ 2147483647 w 14433"/>
                <a:gd name="T73" fmla="*/ 2147483647 h 400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4433"/>
                <a:gd name="T112" fmla="*/ 0 h 4000"/>
                <a:gd name="T113" fmla="*/ 14433 w 14433"/>
                <a:gd name="T114" fmla="*/ 4000 h 400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4433" h="4000">
                  <a:moveTo>
                    <a:pt x="0" y="2000"/>
                  </a:moveTo>
                  <a:cubicBezTo>
                    <a:pt x="66" y="1883"/>
                    <a:pt x="133" y="1767"/>
                    <a:pt x="200" y="1653"/>
                  </a:cubicBezTo>
                  <a:cubicBezTo>
                    <a:pt x="267" y="1539"/>
                    <a:pt x="333" y="1425"/>
                    <a:pt x="400" y="1316"/>
                  </a:cubicBezTo>
                  <a:cubicBezTo>
                    <a:pt x="467" y="1207"/>
                    <a:pt x="533" y="1100"/>
                    <a:pt x="600" y="1000"/>
                  </a:cubicBezTo>
                  <a:cubicBezTo>
                    <a:pt x="667" y="900"/>
                    <a:pt x="733" y="803"/>
                    <a:pt x="800" y="714"/>
                  </a:cubicBezTo>
                  <a:cubicBezTo>
                    <a:pt x="867" y="625"/>
                    <a:pt x="933" y="542"/>
                    <a:pt x="1000" y="468"/>
                  </a:cubicBezTo>
                  <a:cubicBezTo>
                    <a:pt x="1067" y="394"/>
                    <a:pt x="1133" y="326"/>
                    <a:pt x="1200" y="268"/>
                  </a:cubicBezTo>
                  <a:cubicBezTo>
                    <a:pt x="1267" y="210"/>
                    <a:pt x="1333" y="161"/>
                    <a:pt x="1400" y="121"/>
                  </a:cubicBezTo>
                  <a:cubicBezTo>
                    <a:pt x="1467" y="81"/>
                    <a:pt x="1533" y="50"/>
                    <a:pt x="1600" y="30"/>
                  </a:cubicBezTo>
                  <a:cubicBezTo>
                    <a:pt x="1667" y="10"/>
                    <a:pt x="1733" y="0"/>
                    <a:pt x="1800" y="0"/>
                  </a:cubicBezTo>
                  <a:cubicBezTo>
                    <a:pt x="1867" y="0"/>
                    <a:pt x="1933" y="10"/>
                    <a:pt x="2000" y="30"/>
                  </a:cubicBezTo>
                  <a:cubicBezTo>
                    <a:pt x="2067" y="50"/>
                    <a:pt x="2133" y="81"/>
                    <a:pt x="2200" y="121"/>
                  </a:cubicBezTo>
                  <a:cubicBezTo>
                    <a:pt x="2267" y="161"/>
                    <a:pt x="2333" y="210"/>
                    <a:pt x="2400" y="268"/>
                  </a:cubicBezTo>
                  <a:cubicBezTo>
                    <a:pt x="2467" y="326"/>
                    <a:pt x="2533" y="394"/>
                    <a:pt x="2600" y="468"/>
                  </a:cubicBezTo>
                  <a:cubicBezTo>
                    <a:pt x="2667" y="542"/>
                    <a:pt x="2733" y="625"/>
                    <a:pt x="2800" y="714"/>
                  </a:cubicBezTo>
                  <a:cubicBezTo>
                    <a:pt x="2867" y="803"/>
                    <a:pt x="2933" y="900"/>
                    <a:pt x="3000" y="1000"/>
                  </a:cubicBezTo>
                  <a:cubicBezTo>
                    <a:pt x="3067" y="1100"/>
                    <a:pt x="3133" y="1207"/>
                    <a:pt x="3200" y="1316"/>
                  </a:cubicBezTo>
                  <a:cubicBezTo>
                    <a:pt x="3267" y="1425"/>
                    <a:pt x="3333" y="1539"/>
                    <a:pt x="3400" y="1653"/>
                  </a:cubicBezTo>
                  <a:cubicBezTo>
                    <a:pt x="3467" y="1767"/>
                    <a:pt x="3533" y="1884"/>
                    <a:pt x="3600" y="2000"/>
                  </a:cubicBezTo>
                  <a:cubicBezTo>
                    <a:pt x="3667" y="2116"/>
                    <a:pt x="3733" y="2233"/>
                    <a:pt x="3800" y="2347"/>
                  </a:cubicBezTo>
                  <a:cubicBezTo>
                    <a:pt x="3867" y="2461"/>
                    <a:pt x="3933" y="2575"/>
                    <a:pt x="4000" y="2684"/>
                  </a:cubicBezTo>
                  <a:cubicBezTo>
                    <a:pt x="4067" y="2793"/>
                    <a:pt x="4133" y="2900"/>
                    <a:pt x="4200" y="3000"/>
                  </a:cubicBezTo>
                  <a:cubicBezTo>
                    <a:pt x="4267" y="3100"/>
                    <a:pt x="4333" y="3196"/>
                    <a:pt x="4400" y="3285"/>
                  </a:cubicBezTo>
                  <a:cubicBezTo>
                    <a:pt x="4467" y="3374"/>
                    <a:pt x="4533" y="3458"/>
                    <a:pt x="4600" y="3532"/>
                  </a:cubicBezTo>
                  <a:cubicBezTo>
                    <a:pt x="4667" y="3606"/>
                    <a:pt x="4733" y="3674"/>
                    <a:pt x="4800" y="3732"/>
                  </a:cubicBezTo>
                  <a:cubicBezTo>
                    <a:pt x="4867" y="3790"/>
                    <a:pt x="4933" y="3839"/>
                    <a:pt x="5000" y="3879"/>
                  </a:cubicBezTo>
                  <a:cubicBezTo>
                    <a:pt x="5067" y="3919"/>
                    <a:pt x="5133" y="3950"/>
                    <a:pt x="5200" y="3970"/>
                  </a:cubicBezTo>
                  <a:cubicBezTo>
                    <a:pt x="5267" y="3990"/>
                    <a:pt x="5333" y="4000"/>
                    <a:pt x="5400" y="4000"/>
                  </a:cubicBezTo>
                  <a:cubicBezTo>
                    <a:pt x="5467" y="4000"/>
                    <a:pt x="5533" y="3990"/>
                    <a:pt x="5600" y="3970"/>
                  </a:cubicBezTo>
                  <a:cubicBezTo>
                    <a:pt x="5667" y="3950"/>
                    <a:pt x="5733" y="3919"/>
                    <a:pt x="5800" y="3879"/>
                  </a:cubicBezTo>
                  <a:cubicBezTo>
                    <a:pt x="5867" y="3839"/>
                    <a:pt x="5933" y="3790"/>
                    <a:pt x="6000" y="3732"/>
                  </a:cubicBezTo>
                  <a:cubicBezTo>
                    <a:pt x="6067" y="3674"/>
                    <a:pt x="6133" y="3606"/>
                    <a:pt x="6200" y="3532"/>
                  </a:cubicBezTo>
                  <a:cubicBezTo>
                    <a:pt x="6267" y="3458"/>
                    <a:pt x="6333" y="3375"/>
                    <a:pt x="6400" y="3286"/>
                  </a:cubicBezTo>
                  <a:cubicBezTo>
                    <a:pt x="6467" y="3197"/>
                    <a:pt x="6533" y="3100"/>
                    <a:pt x="6600" y="3000"/>
                  </a:cubicBezTo>
                  <a:cubicBezTo>
                    <a:pt x="6667" y="2900"/>
                    <a:pt x="6733" y="2793"/>
                    <a:pt x="6800" y="2684"/>
                  </a:cubicBezTo>
                  <a:cubicBezTo>
                    <a:pt x="6867" y="2575"/>
                    <a:pt x="6933" y="2462"/>
                    <a:pt x="7000" y="2348"/>
                  </a:cubicBezTo>
                  <a:cubicBezTo>
                    <a:pt x="7067" y="2234"/>
                    <a:pt x="7133" y="2116"/>
                    <a:pt x="7200" y="2000"/>
                  </a:cubicBezTo>
                  <a:cubicBezTo>
                    <a:pt x="7267" y="1884"/>
                    <a:pt x="7333" y="1767"/>
                    <a:pt x="7400" y="1653"/>
                  </a:cubicBezTo>
                  <a:cubicBezTo>
                    <a:pt x="7467" y="1539"/>
                    <a:pt x="7533" y="1425"/>
                    <a:pt x="7600" y="1316"/>
                  </a:cubicBezTo>
                  <a:cubicBezTo>
                    <a:pt x="7667" y="1207"/>
                    <a:pt x="7733" y="1100"/>
                    <a:pt x="7800" y="1000"/>
                  </a:cubicBezTo>
                  <a:cubicBezTo>
                    <a:pt x="7867" y="900"/>
                    <a:pt x="7933" y="804"/>
                    <a:pt x="8000" y="715"/>
                  </a:cubicBezTo>
                  <a:cubicBezTo>
                    <a:pt x="8067" y="626"/>
                    <a:pt x="8133" y="542"/>
                    <a:pt x="8200" y="468"/>
                  </a:cubicBezTo>
                  <a:cubicBezTo>
                    <a:pt x="8267" y="394"/>
                    <a:pt x="8333" y="326"/>
                    <a:pt x="8400" y="268"/>
                  </a:cubicBezTo>
                  <a:cubicBezTo>
                    <a:pt x="8467" y="210"/>
                    <a:pt x="8533" y="161"/>
                    <a:pt x="8600" y="121"/>
                  </a:cubicBezTo>
                  <a:cubicBezTo>
                    <a:pt x="8667" y="81"/>
                    <a:pt x="8733" y="50"/>
                    <a:pt x="8800" y="30"/>
                  </a:cubicBezTo>
                  <a:cubicBezTo>
                    <a:pt x="8867" y="10"/>
                    <a:pt x="8933" y="0"/>
                    <a:pt x="9000" y="0"/>
                  </a:cubicBezTo>
                  <a:cubicBezTo>
                    <a:pt x="9067" y="0"/>
                    <a:pt x="9133" y="10"/>
                    <a:pt x="9200" y="30"/>
                  </a:cubicBezTo>
                  <a:cubicBezTo>
                    <a:pt x="9267" y="50"/>
                    <a:pt x="9333" y="80"/>
                    <a:pt x="9400" y="120"/>
                  </a:cubicBezTo>
                  <a:cubicBezTo>
                    <a:pt x="9467" y="160"/>
                    <a:pt x="9533" y="210"/>
                    <a:pt x="9600" y="268"/>
                  </a:cubicBezTo>
                  <a:cubicBezTo>
                    <a:pt x="9667" y="326"/>
                    <a:pt x="9733" y="394"/>
                    <a:pt x="9800" y="468"/>
                  </a:cubicBezTo>
                  <a:cubicBezTo>
                    <a:pt x="9867" y="542"/>
                    <a:pt x="9933" y="625"/>
                    <a:pt x="10000" y="714"/>
                  </a:cubicBezTo>
                  <a:cubicBezTo>
                    <a:pt x="10067" y="803"/>
                    <a:pt x="10133" y="900"/>
                    <a:pt x="10200" y="1000"/>
                  </a:cubicBezTo>
                  <a:cubicBezTo>
                    <a:pt x="10267" y="1100"/>
                    <a:pt x="10333" y="1206"/>
                    <a:pt x="10400" y="1315"/>
                  </a:cubicBezTo>
                  <a:cubicBezTo>
                    <a:pt x="10467" y="1424"/>
                    <a:pt x="10533" y="1538"/>
                    <a:pt x="10600" y="1652"/>
                  </a:cubicBezTo>
                  <a:cubicBezTo>
                    <a:pt x="10667" y="1766"/>
                    <a:pt x="10733" y="1883"/>
                    <a:pt x="10800" y="1999"/>
                  </a:cubicBezTo>
                  <a:cubicBezTo>
                    <a:pt x="10867" y="2115"/>
                    <a:pt x="10933" y="2233"/>
                    <a:pt x="11000" y="2347"/>
                  </a:cubicBezTo>
                  <a:cubicBezTo>
                    <a:pt x="11067" y="2461"/>
                    <a:pt x="11133" y="2574"/>
                    <a:pt x="11200" y="2683"/>
                  </a:cubicBezTo>
                  <a:cubicBezTo>
                    <a:pt x="11267" y="2792"/>
                    <a:pt x="11333" y="2899"/>
                    <a:pt x="11400" y="2999"/>
                  </a:cubicBezTo>
                  <a:cubicBezTo>
                    <a:pt x="11467" y="3099"/>
                    <a:pt x="11533" y="3196"/>
                    <a:pt x="11600" y="3285"/>
                  </a:cubicBezTo>
                  <a:cubicBezTo>
                    <a:pt x="11667" y="3374"/>
                    <a:pt x="11733" y="3458"/>
                    <a:pt x="11800" y="3532"/>
                  </a:cubicBezTo>
                  <a:cubicBezTo>
                    <a:pt x="11867" y="3606"/>
                    <a:pt x="11933" y="3674"/>
                    <a:pt x="12000" y="3732"/>
                  </a:cubicBezTo>
                  <a:cubicBezTo>
                    <a:pt x="12067" y="3790"/>
                    <a:pt x="12133" y="3839"/>
                    <a:pt x="12200" y="3879"/>
                  </a:cubicBezTo>
                  <a:cubicBezTo>
                    <a:pt x="12267" y="3919"/>
                    <a:pt x="12333" y="3950"/>
                    <a:pt x="12400" y="3970"/>
                  </a:cubicBezTo>
                  <a:cubicBezTo>
                    <a:pt x="12467" y="3990"/>
                    <a:pt x="12533" y="4000"/>
                    <a:pt x="12600" y="4000"/>
                  </a:cubicBezTo>
                  <a:cubicBezTo>
                    <a:pt x="12667" y="4000"/>
                    <a:pt x="12733" y="3990"/>
                    <a:pt x="12800" y="3970"/>
                  </a:cubicBezTo>
                  <a:cubicBezTo>
                    <a:pt x="12867" y="3950"/>
                    <a:pt x="12933" y="3920"/>
                    <a:pt x="13000" y="3880"/>
                  </a:cubicBezTo>
                  <a:cubicBezTo>
                    <a:pt x="13067" y="3840"/>
                    <a:pt x="13133" y="3790"/>
                    <a:pt x="13200" y="3732"/>
                  </a:cubicBezTo>
                  <a:cubicBezTo>
                    <a:pt x="13267" y="3674"/>
                    <a:pt x="13333" y="3607"/>
                    <a:pt x="13400" y="3533"/>
                  </a:cubicBezTo>
                  <a:cubicBezTo>
                    <a:pt x="13467" y="3459"/>
                    <a:pt x="13533" y="3375"/>
                    <a:pt x="13600" y="3286"/>
                  </a:cubicBezTo>
                  <a:cubicBezTo>
                    <a:pt x="13667" y="3197"/>
                    <a:pt x="13733" y="3101"/>
                    <a:pt x="13800" y="3001"/>
                  </a:cubicBezTo>
                  <a:cubicBezTo>
                    <a:pt x="13867" y="2901"/>
                    <a:pt x="13933" y="2794"/>
                    <a:pt x="14000" y="2685"/>
                  </a:cubicBezTo>
                  <a:cubicBezTo>
                    <a:pt x="14067" y="2576"/>
                    <a:pt x="14133" y="2462"/>
                    <a:pt x="14200" y="2348"/>
                  </a:cubicBezTo>
                  <a:cubicBezTo>
                    <a:pt x="14267" y="2234"/>
                    <a:pt x="14367" y="2059"/>
                    <a:pt x="14400" y="2001"/>
                  </a:cubicBezTo>
                  <a:cubicBezTo>
                    <a:pt x="14433" y="1943"/>
                    <a:pt x="14416" y="1972"/>
                    <a:pt x="14400" y="2001"/>
                  </a:cubicBezTo>
                </a:path>
              </a:pathLst>
            </a:custGeom>
            <a:noFill/>
            <a:ln w="25400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97305" name="Group 26"/>
            <p:cNvGrpSpPr/>
            <p:nvPr/>
          </p:nvGrpSpPr>
          <p:grpSpPr bwMode="auto">
            <a:xfrm>
              <a:off x="455613" y="0"/>
              <a:ext cx="3097212" cy="1333500"/>
              <a:chOff x="0" y="0"/>
              <a:chExt cx="2820" cy="1224"/>
            </a:xfrm>
          </p:grpSpPr>
          <p:sp>
            <p:nvSpPr>
              <p:cNvPr id="97306" name="Line 27"/>
              <p:cNvSpPr>
                <a:spLocks noChangeShapeType="1"/>
              </p:cNvSpPr>
              <p:nvPr/>
            </p:nvSpPr>
            <p:spPr bwMode="auto">
              <a:xfrm>
                <a:off x="225" y="960"/>
                <a:ext cx="2595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7307" name="Line 28"/>
              <p:cNvSpPr>
                <a:spLocks noChangeShapeType="1"/>
              </p:cNvSpPr>
              <p:nvPr/>
            </p:nvSpPr>
            <p:spPr bwMode="auto">
              <a:xfrm>
                <a:off x="233" y="165"/>
                <a:ext cx="10" cy="105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7308" name="Text Box 29"/>
              <p:cNvSpPr txBox="1">
                <a:spLocks noChangeArrowheads="1"/>
              </p:cNvSpPr>
              <p:nvPr/>
            </p:nvSpPr>
            <p:spPr bwMode="auto">
              <a:xfrm>
                <a:off x="8" y="855"/>
                <a:ext cx="180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990099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990099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7309" name="Text Box 30"/>
              <p:cNvSpPr txBox="1">
                <a:spLocks noChangeArrowheads="1"/>
              </p:cNvSpPr>
              <p:nvPr/>
            </p:nvSpPr>
            <p:spPr bwMode="auto">
              <a:xfrm>
                <a:off x="2595" y="585"/>
                <a:ext cx="180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t</a:t>
                </a:r>
                <a:endParaRPr kumimoji="0" lang="en-US" altLang="zh-CN" sz="4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7310" name="Text Box 31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180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v</a:t>
                </a:r>
                <a:endPara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97311" name="Text Box 32"/>
            <p:cNvSpPr txBox="1">
              <a:spLocks noChangeArrowheads="1"/>
            </p:cNvSpPr>
            <p:nvPr/>
          </p:nvSpPr>
          <p:spPr bwMode="auto">
            <a:xfrm>
              <a:off x="100013" y="601663"/>
              <a:ext cx="649287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1v</a:t>
              </a:r>
            </a:p>
          </p:txBody>
        </p:sp>
        <p:sp>
          <p:nvSpPr>
            <p:cNvPr id="97312" name="Text Box 33"/>
            <p:cNvSpPr txBox="1">
              <a:spLocks noChangeArrowheads="1"/>
            </p:cNvSpPr>
            <p:nvPr/>
          </p:nvSpPr>
          <p:spPr bwMode="auto">
            <a:xfrm>
              <a:off x="57150" y="293688"/>
              <a:ext cx="720725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3v</a:t>
              </a:r>
            </a:p>
          </p:txBody>
        </p:sp>
        <p:sp>
          <p:nvSpPr>
            <p:cNvPr id="97314" name="Line 36"/>
            <p:cNvSpPr>
              <a:spLocks noChangeShapeType="1"/>
            </p:cNvSpPr>
            <p:nvPr/>
          </p:nvSpPr>
          <p:spPr bwMode="auto">
            <a:xfrm>
              <a:off x="725488" y="854838"/>
              <a:ext cx="785812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7315" name="Line 40"/>
            <p:cNvSpPr>
              <a:spLocks noChangeShapeType="1"/>
            </p:cNvSpPr>
            <p:nvPr/>
          </p:nvSpPr>
          <p:spPr bwMode="auto">
            <a:xfrm>
              <a:off x="569913" y="1044575"/>
              <a:ext cx="1492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7316" name="Text Box 43"/>
            <p:cNvSpPr txBox="1">
              <a:spLocks noChangeArrowheads="1"/>
            </p:cNvSpPr>
            <p:nvPr/>
          </p:nvSpPr>
          <p:spPr bwMode="auto">
            <a:xfrm>
              <a:off x="0" y="1062925"/>
              <a:ext cx="79692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-1v</a:t>
              </a:r>
            </a:p>
          </p:txBody>
        </p:sp>
        <p:sp>
          <p:nvSpPr>
            <p:cNvPr id="97318" name="Text Box 46"/>
            <p:cNvSpPr txBox="1">
              <a:spLocks noChangeArrowheads="1"/>
            </p:cNvSpPr>
            <p:nvPr/>
          </p:nvSpPr>
          <p:spPr bwMode="auto">
            <a:xfrm>
              <a:off x="2571750" y="279400"/>
              <a:ext cx="117157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f=500Hz</a:t>
              </a:r>
            </a:p>
          </p:txBody>
        </p:sp>
        <p:sp>
          <p:nvSpPr>
            <p:cNvPr id="97319" name="Text Box 48"/>
            <p:cNvSpPr txBox="1">
              <a:spLocks noChangeArrowheads="1"/>
            </p:cNvSpPr>
            <p:nvPr/>
          </p:nvSpPr>
          <p:spPr bwMode="auto">
            <a:xfrm>
              <a:off x="656592" y="50800"/>
              <a:ext cx="457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(v)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2719440" y="1537895"/>
            <a:ext cx="5044974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i="1" dirty="0">
                <a:latin typeface="Times New Roman" panose="02020603050405020304" pitchFamily="18" charset="0"/>
                <a:ea typeface="黑体" panose="02010609060101010101" pitchFamily="2" charset="-122"/>
              </a:rPr>
              <a:t>f(t)  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pitchFamily="2" charset="-122"/>
              </a:rPr>
              <a:t>=   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2722F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</a:rPr>
              <a:t>O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</a:rPr>
              <a:t>  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</a:rPr>
              <a:t>  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</a:rPr>
              <a:t>A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kumimoji="0" lang="en-US" altLang="zh-CN" sz="3200" b="1" i="1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</a:rPr>
              <a:t>func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ymbol" panose="05050102010706020507" pitchFamily="18" charset="2"/>
                <a:ea typeface="黑体" panose="02010609060101010101" pitchFamily="2" charset="-122"/>
              </a:rPr>
              <a:t>w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1" name="Rectangle 3"/>
          <p:cNvSpPr>
            <a:spLocks noChangeArrowheads="1"/>
          </p:cNvSpPr>
          <p:nvPr/>
        </p:nvSpPr>
        <p:spPr bwMode="auto">
          <a:xfrm>
            <a:off x="992929" y="795881"/>
            <a:ext cx="6603407" cy="56415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实验中主要信号：</a:t>
            </a:r>
            <a:r>
              <a:rPr lang="zh-CN" altLang="en-US" sz="28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简单的周期函数信号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不等号 2"/>
          <p:cNvSpPr/>
          <p:nvPr/>
        </p:nvSpPr>
        <p:spPr>
          <a:xfrm>
            <a:off x="3781424" y="5808443"/>
            <a:ext cx="1199943" cy="540074"/>
          </a:xfrm>
          <a:prstGeom prst="mathNotEqual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42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308591"/>
              </p:ext>
            </p:extLst>
          </p:nvPr>
        </p:nvGraphicFramePr>
        <p:xfrm>
          <a:off x="133393" y="2228575"/>
          <a:ext cx="8712116" cy="2851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52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907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信号</a:t>
                      </a:r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四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要素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信号源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示波器 读取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记录波形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07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0000FF"/>
                          </a:solidFill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直流分量</a:t>
                      </a:r>
                      <a:r>
                        <a:rPr lang="en-US" altLang="zh-CN" sz="24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O</a:t>
                      </a:r>
                      <a:endParaRPr lang="zh-CN" altLang="en-US" sz="24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4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4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mpl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ffset</a:t>
                      </a:r>
                      <a:endParaRPr lang="zh-CN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2400" b="0" dirty="0">
                          <a:solidFill>
                            <a:schemeClr val="tx1"/>
                          </a:solidFill>
                        </a:rPr>
                        <a:t>或</a:t>
                      </a:r>
                      <a:endParaRPr lang="en-US" altLang="zh-CN" sz="2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zh-CN" sz="2400" b="0" dirty="0">
                          <a:solidFill>
                            <a:schemeClr val="tx1"/>
                          </a:solidFill>
                        </a:rPr>
                        <a:t>High </a:t>
                      </a:r>
                      <a:r>
                        <a:rPr lang="en-US" altLang="zh-CN" sz="2400" b="0" dirty="0">
                          <a:solidFill>
                            <a:srgbClr val="C00000"/>
                          </a:solidFill>
                        </a:rPr>
                        <a:t>&amp;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</a:rPr>
                        <a:t> 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定性：对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0V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位置</a:t>
                      </a:r>
                      <a:endParaRPr lang="en-US" altLang="zh-CN" sz="2400" b="1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  <a:p>
                      <a:pPr algn="ctr"/>
                      <a:r>
                        <a:rPr lang="zh-CN" altLang="en-US" sz="2400" b="1" dirty="0">
                          <a:solidFill>
                            <a:schemeClr val="tx1"/>
                          </a:solidFill>
                        </a:rPr>
                        <a:t>定量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</a:rPr>
                        <a:t>：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US" altLang="zh-CN" sz="1400" b="1">
                          <a:solidFill>
                            <a:schemeClr val="tx1"/>
                          </a:solidFill>
                        </a:rPr>
                        <a:t>max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US" altLang="zh-CN" sz="1400" b="1">
                          <a:solidFill>
                            <a:schemeClr val="tx1"/>
                          </a:solidFill>
                        </a:rPr>
                        <a:t>min</a:t>
                      </a:r>
                      <a:endParaRPr lang="en-US" altLang="zh-CN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altLang="zh-CN" sz="2000" b="1" dirty="0">
                          <a:solidFill>
                            <a:srgbClr val="2722FA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(</a:t>
                      </a:r>
                      <a:r>
                        <a:rPr lang="zh-CN" altLang="en-US" sz="2000" b="1" dirty="0">
                          <a:solidFill>
                            <a:srgbClr val="2722FA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单独</a:t>
                      </a:r>
                      <a:r>
                        <a:rPr lang="en-US" altLang="zh-CN" sz="2000" b="1" dirty="0" err="1">
                          <a:solidFill>
                            <a:srgbClr val="2722FA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V</a:t>
                      </a:r>
                      <a:r>
                        <a:rPr lang="en-US" altLang="zh-CN" sz="1200" b="1" dirty="0" err="1">
                          <a:solidFill>
                            <a:srgbClr val="2722FA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p</a:t>
                      </a:r>
                      <a:r>
                        <a:rPr lang="en-US" altLang="zh-CN" sz="1200" b="1" dirty="0">
                          <a:solidFill>
                            <a:srgbClr val="2722FA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-p</a:t>
                      </a:r>
                      <a:r>
                        <a:rPr lang="zh-CN" altLang="en-US" sz="2000" b="1" dirty="0">
                          <a:solidFill>
                            <a:srgbClr val="2722FA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无意义</a:t>
                      </a:r>
                      <a:r>
                        <a:rPr lang="en-US" altLang="zh-CN" sz="2000" b="1" dirty="0">
                          <a:solidFill>
                            <a:srgbClr val="2722FA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0000FF"/>
                          </a:solidFill>
                        </a:rPr>
                        <a:t>坐标轴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</a:rPr>
                        <a:t>&amp;</a:t>
                      </a:r>
                      <a:r>
                        <a:rPr lang="zh-CN" altLang="en-US" sz="2400" b="1" dirty="0">
                          <a:solidFill>
                            <a:srgbClr val="0000FF"/>
                          </a:solidFill>
                        </a:rPr>
                        <a:t>原点；</a:t>
                      </a:r>
                    </a:p>
                    <a:p>
                      <a:pPr algn="ctr"/>
                      <a:r>
                        <a:rPr kumimoji="0" lang="en-US" altLang="zh-CN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kumimoji="0" lang="en-US" altLang="zh-CN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max</a:t>
                      </a:r>
                      <a:r>
                        <a:rPr kumimoji="0" lang="zh-CN" altLang="en-U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kumimoji="0" lang="en-US" altLang="zh-CN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kumimoji="0" lang="en-US" altLang="zh-CN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min</a:t>
                      </a:r>
                      <a:r>
                        <a:rPr kumimoji="0" lang="zh-CN" altLang="en-U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两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</a:rPr>
                        <a:t>纵向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</a:rPr>
                        <a:t>标值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07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</a:rPr>
                        <a:t>交流</a:t>
                      </a:r>
                      <a:r>
                        <a:rPr lang="en-US" altLang="zh-CN" sz="2000" b="0">
                          <a:solidFill>
                            <a:schemeClr val="tx1"/>
                          </a:solidFill>
                        </a:rPr>
                        <a:t>_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</a:rPr>
                        <a:t>幅度</a:t>
                      </a:r>
                      <a:r>
                        <a:rPr lang="en-US" altLang="zh-CN" sz="2400" b="1">
                          <a:solidFill>
                            <a:srgbClr val="C00000"/>
                          </a:solidFill>
                        </a:rPr>
                        <a:t>A</a:t>
                      </a:r>
                      <a:endParaRPr lang="zh-CN" alt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07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</a:rPr>
                        <a:t>交流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</a:rPr>
                        <a:t>_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</a:rPr>
                        <a:t>频率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tx1"/>
                          </a:solidFill>
                        </a:rPr>
                        <a:t>频率设定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tx1"/>
                          </a:solidFill>
                        </a:rPr>
                        <a:t>频率 或 周期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tx1"/>
                          </a:solidFill>
                        </a:rPr>
                        <a:t>频率或周期值</a:t>
                      </a:r>
                      <a:endParaRPr lang="en-US" altLang="zh-CN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907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</a:rPr>
                        <a:t>交流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</a:rPr>
                        <a:t>_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</a:rPr>
                        <a:t>波形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tx1"/>
                          </a:solidFill>
                        </a:rPr>
                        <a:t>波形按键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tx1"/>
                          </a:solidFill>
                        </a:rPr>
                        <a:t>外观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tx1"/>
                          </a:solidFill>
                        </a:rPr>
                        <a:t>样式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88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51" grpId="0" build="p" autoUpdateAnimBg="0"/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3824"/>
          </a:xfrm>
        </p:spPr>
        <p:txBody>
          <a:bodyPr vert="horz" wrap="square" lIns="0" tIns="0" rIns="0" bIns="0" numCol="1" anchor="b" anchorCtr="0" compatLnSpc="1"/>
          <a:lstStyle/>
          <a:p>
            <a:pPr lvl="0" algn="l" eaLnBrk="1" hangingPunct="1">
              <a:defRPr/>
            </a:pP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波形</a:t>
            </a:r>
            <a:r>
              <a:rPr lang="zh-CN" altLang="en-US" sz="3200" b="1" kern="12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常用</a:t>
            </a:r>
            <a:r>
              <a:rPr lang="zh-CN" altLang="en-US" sz="3200" b="1" kern="1200" noProof="1">
                <a:solidFill>
                  <a:srgbClr val="2722FA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参数名称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与</a:t>
            </a:r>
            <a:r>
              <a:rPr lang="en-US" altLang="zh-CN" sz="3200"/>
              <a:t>AFG1000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rgbClr val="2722FA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设备</a:t>
            </a:r>
            <a:r>
              <a:rPr lang="zh-CN" altLang="en-US" sz="3200" b="1" kern="1200" noProof="1">
                <a:solidFill>
                  <a:srgbClr val="2722FA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中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rgbClr val="2722FA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标识</a:t>
            </a:r>
            <a:endParaRPr lang="zh-CN" altLang="en-US" sz="3200" b="1" kern="1200" noProof="1"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pic>
        <p:nvPicPr>
          <p:cNvPr id="4101" name="Picture 4"/>
          <p:cNvPicPr>
            <a:picLocks noChangeAspect="1"/>
          </p:cNvPicPr>
          <p:nvPr/>
        </p:nvPicPr>
        <p:blipFill rotWithShape="1">
          <a:blip r:embed="rId3"/>
          <a:srcRect l="7505"/>
          <a:stretch/>
        </p:blipFill>
        <p:spPr>
          <a:xfrm>
            <a:off x="3947695" y="3481970"/>
            <a:ext cx="4546572" cy="256984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4" name="Text Box 7"/>
          <p:cNvSpPr txBox="1"/>
          <p:nvPr/>
        </p:nvSpPr>
        <p:spPr>
          <a:xfrm>
            <a:off x="7343473" y="1447808"/>
            <a:ext cx="1430788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起始相位 </a:t>
            </a:r>
            <a:endParaRPr lang="en-US" altLang="zh-CN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StartPhase</a:t>
            </a:r>
            <a:endParaRPr lang="en-US" altLang="zh-CN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（本课程基本不用）</a:t>
            </a:r>
          </a:p>
        </p:txBody>
      </p:sp>
      <p:sp>
        <p:nvSpPr>
          <p:cNvPr id="4106" name="Line 9"/>
          <p:cNvSpPr/>
          <p:nvPr/>
        </p:nvSpPr>
        <p:spPr>
          <a:xfrm flipH="1">
            <a:off x="5393151" y="3505652"/>
            <a:ext cx="1" cy="2520280"/>
          </a:xfrm>
          <a:prstGeom prst="line">
            <a:avLst/>
          </a:prstGeom>
          <a:ln w="19050" cap="flat" cmpd="sng">
            <a:solidFill>
              <a:srgbClr val="FF33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4107" name="Text Box 10"/>
          <p:cNvSpPr txBox="1"/>
          <p:nvPr/>
        </p:nvSpPr>
        <p:spPr>
          <a:xfrm>
            <a:off x="476608" y="3755415"/>
            <a:ext cx="3408428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b="1">
                <a:solidFill>
                  <a:srgbClr val="2722FA"/>
                </a:solidFill>
                <a:latin typeface="Times New Roman" panose="02020603050405020304" pitchFamily="18" charset="0"/>
              </a:rPr>
              <a:t>幅度</a:t>
            </a:r>
            <a:r>
              <a:rPr lang="en-US" altLang="zh-CN" b="1">
                <a:solidFill>
                  <a:srgbClr val="2722FA"/>
                </a:solidFill>
                <a:latin typeface="Times New Roman" panose="02020603050405020304" pitchFamily="18" charset="0"/>
              </a:rPr>
              <a:t>Amp</a:t>
            </a:r>
            <a:r>
              <a:rPr lang="en-US" altLang="zh-CN" i="1">
                <a:solidFill>
                  <a:srgbClr val="2722FA"/>
                </a:solidFill>
                <a:latin typeface="Times New Roman" panose="02020603050405020304" pitchFamily="18" charset="0"/>
              </a:rPr>
              <a:t>litude</a:t>
            </a:r>
            <a:r>
              <a:rPr lang="en-US" altLang="zh-CN">
                <a:solidFill>
                  <a:srgbClr val="2722FA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>
                <a:solidFill>
                  <a:srgbClr val="0070C0"/>
                </a:solidFill>
                <a:latin typeface="Times New Roman" panose="02020603050405020304" pitchFamily="18" charset="0"/>
              </a:rPr>
              <a:t>~</a:t>
            </a:r>
            <a:r>
              <a:rPr lang="en-US" altLang="zh-CN" b="1" err="1">
                <a:latin typeface="Times New Roman" panose="02020603050405020304" pitchFamily="18" charset="0"/>
              </a:rPr>
              <a:t>Vpp</a:t>
            </a:r>
            <a:r>
              <a:rPr lang="en-US" altLang="zh-CN" b="1">
                <a:latin typeface="Times New Roman" panose="02020603050405020304" pitchFamily="18" charset="0"/>
              </a:rPr>
              <a:t>=</a:t>
            </a:r>
            <a:r>
              <a:rPr lang="zh-CN" altLang="en-US" b="1">
                <a:latin typeface="Times New Roman" panose="02020603050405020304" pitchFamily="18" charset="0"/>
              </a:rPr>
              <a:t>峰峰值</a:t>
            </a:r>
            <a:endParaRPr lang="zh-CN" altLang="en-US" b="1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8" name="Line 11"/>
          <p:cNvSpPr/>
          <p:nvPr/>
        </p:nvSpPr>
        <p:spPr>
          <a:xfrm>
            <a:off x="7401363" y="3465255"/>
            <a:ext cx="0" cy="2560677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4109" name="Line 12"/>
          <p:cNvSpPr/>
          <p:nvPr/>
        </p:nvSpPr>
        <p:spPr>
          <a:xfrm>
            <a:off x="3947695" y="5825881"/>
            <a:ext cx="3423507" cy="0"/>
          </a:xfrm>
          <a:prstGeom prst="line">
            <a:avLst/>
          </a:prstGeom>
          <a:ln w="25400" cap="flat" cmpd="sng">
            <a:solidFill>
              <a:srgbClr val="0000FF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4110" name="Text Box 13"/>
          <p:cNvSpPr txBox="1"/>
          <p:nvPr/>
        </p:nvSpPr>
        <p:spPr>
          <a:xfrm>
            <a:off x="4141586" y="6210598"/>
            <a:ext cx="371133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b="1">
                <a:solidFill>
                  <a:srgbClr val="0070C0"/>
                </a:solidFill>
                <a:latin typeface="Times New Roman" panose="02020603050405020304" pitchFamily="18" charset="0"/>
              </a:rPr>
              <a:t>周期</a:t>
            </a:r>
            <a:r>
              <a:rPr lang="en-US" altLang="zh-CN" b="1">
                <a:solidFill>
                  <a:srgbClr val="0070C0"/>
                </a:solidFill>
                <a:latin typeface="Times New Roman" panose="02020603050405020304" pitchFamily="18" charset="0"/>
              </a:rPr>
              <a:t>Period</a:t>
            </a:r>
            <a:r>
              <a:rPr lang="zh-CN" altLang="en-US" b="1">
                <a:solidFill>
                  <a:srgbClr val="0070C0"/>
                </a:solidFill>
                <a:latin typeface="Times New Roman" panose="02020603050405020304" pitchFamily="18" charset="0"/>
              </a:rPr>
              <a:t> =</a:t>
            </a:r>
            <a:r>
              <a:rPr lang="zh-CN" altLang="en-US" b="1">
                <a:latin typeface="Times New Roman" panose="02020603050405020304" pitchFamily="18" charset="0"/>
              </a:rPr>
              <a:t> 1 / </a:t>
            </a:r>
            <a:r>
              <a:rPr lang="zh-CN" altLang="en-US" b="1">
                <a:solidFill>
                  <a:srgbClr val="2722FA"/>
                </a:solidFill>
                <a:latin typeface="Times New Roman" panose="02020603050405020304" pitchFamily="18" charset="0"/>
              </a:rPr>
              <a:t>频率</a:t>
            </a:r>
            <a:r>
              <a:rPr lang="en-US" altLang="zh-CN" b="1">
                <a:solidFill>
                  <a:srgbClr val="2722FA"/>
                </a:solidFill>
                <a:latin typeface="Times New Roman" panose="02020603050405020304" pitchFamily="18" charset="0"/>
              </a:rPr>
              <a:t>Freq (Hz)</a:t>
            </a:r>
          </a:p>
        </p:txBody>
      </p:sp>
      <p:sp>
        <p:nvSpPr>
          <p:cNvPr id="4111" name="Line 14"/>
          <p:cNvSpPr/>
          <p:nvPr/>
        </p:nvSpPr>
        <p:spPr>
          <a:xfrm flipH="1" flipV="1">
            <a:off x="3578767" y="3934285"/>
            <a:ext cx="1826594" cy="120454"/>
          </a:xfrm>
          <a:prstGeom prst="line">
            <a:avLst/>
          </a:prstGeom>
          <a:ln w="12700" cap="flat" cmpd="sng">
            <a:solidFill>
              <a:srgbClr val="FF33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4112" name="Line 15"/>
          <p:cNvSpPr/>
          <p:nvPr/>
        </p:nvSpPr>
        <p:spPr>
          <a:xfrm>
            <a:off x="3968077" y="5377860"/>
            <a:ext cx="452619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DD6A24-BB62-4386-98E6-9B33AEC173AA}"/>
              </a:ext>
            </a:extLst>
          </p:cNvPr>
          <p:cNvSpPr txBox="1"/>
          <p:nvPr/>
        </p:nvSpPr>
        <p:spPr>
          <a:xfrm>
            <a:off x="2267745" y="5193194"/>
            <a:ext cx="1873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</a:rPr>
              <a:t>0</a:t>
            </a:r>
            <a:r>
              <a:rPr lang="en-US" altLang="zh-CN" sz="1600">
                <a:solidFill>
                  <a:srgbClr val="0000FF"/>
                </a:solidFill>
              </a:rPr>
              <a:t>mV</a:t>
            </a:r>
            <a:r>
              <a:rPr lang="en-US" altLang="zh-CN" sz="1600" b="1">
                <a:solidFill>
                  <a:srgbClr val="0070C0"/>
                </a:solidFill>
                <a:latin typeface="Times New Roman" panose="02020603050405020304" pitchFamily="18" charset="0"/>
              </a:rPr>
              <a:t> ~</a:t>
            </a:r>
            <a:r>
              <a:rPr lang="zh-CN" altLang="en-US" b="1"/>
              <a:t>共地</a:t>
            </a:r>
            <a:r>
              <a:rPr lang="en-US" altLang="zh-CN" b="1"/>
              <a:t>0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endParaRPr lang="zh-CN" altLang="en-US"/>
          </a:p>
        </p:txBody>
      </p:sp>
      <p:sp>
        <p:nvSpPr>
          <p:cNvPr id="19" name="Line 9">
            <a:extLst>
              <a:ext uri="{FF2B5EF4-FFF2-40B4-BE49-F238E27FC236}">
                <a16:creationId xmlns:a16="http://schemas.microsoft.com/office/drawing/2014/main" id="{0C68EF20-3FAA-40C9-BD48-442743FA8103}"/>
              </a:ext>
            </a:extLst>
          </p:cNvPr>
          <p:cNvSpPr/>
          <p:nvPr/>
        </p:nvSpPr>
        <p:spPr>
          <a:xfrm flipH="1">
            <a:off x="4937467" y="4757301"/>
            <a:ext cx="0" cy="620560"/>
          </a:xfrm>
          <a:prstGeom prst="line">
            <a:avLst/>
          </a:prstGeom>
          <a:ln w="19050" cap="flat" cmpd="sng">
            <a:solidFill>
              <a:srgbClr val="FF33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20" name="Text Box 10">
            <a:extLst>
              <a:ext uri="{FF2B5EF4-FFF2-40B4-BE49-F238E27FC236}">
                <a16:creationId xmlns:a16="http://schemas.microsoft.com/office/drawing/2014/main" id="{04D5B3E0-080E-4C4F-BCF1-E9BB9941C136}"/>
              </a:ext>
            </a:extLst>
          </p:cNvPr>
          <p:cNvSpPr txBox="1"/>
          <p:nvPr/>
        </p:nvSpPr>
        <p:spPr>
          <a:xfrm>
            <a:off x="1236127" y="4158066"/>
            <a:ext cx="2633967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b="1">
                <a:solidFill>
                  <a:srgbClr val="2722FA"/>
                </a:solidFill>
                <a:latin typeface="Times New Roman" panose="02020603050405020304" pitchFamily="18" charset="0"/>
              </a:rPr>
              <a:t>偏置 </a:t>
            </a:r>
            <a:r>
              <a:rPr lang="en-US" altLang="zh-CN" b="1">
                <a:solidFill>
                  <a:srgbClr val="7030A0"/>
                </a:solidFill>
                <a:latin typeface="Times New Roman" panose="02020603050405020304" pitchFamily="18" charset="0"/>
              </a:rPr>
              <a:t>Offset</a:t>
            </a:r>
            <a:r>
              <a:rPr lang="en-US" altLang="zh-CN" b="1">
                <a:solidFill>
                  <a:srgbClr val="0070C0"/>
                </a:solidFill>
                <a:latin typeface="Times New Roman" panose="02020603050405020304" pitchFamily="18" charset="0"/>
              </a:rPr>
              <a:t>=</a:t>
            </a:r>
            <a:r>
              <a:rPr lang="zh-CN" altLang="en-US" b="1">
                <a:latin typeface="Times New Roman" panose="02020603050405020304" pitchFamily="18" charset="0"/>
              </a:rPr>
              <a:t>直流分量</a:t>
            </a:r>
          </a:p>
        </p:txBody>
      </p:sp>
      <p:sp>
        <p:nvSpPr>
          <p:cNvPr id="21" name="Line 14">
            <a:extLst>
              <a:ext uri="{FF2B5EF4-FFF2-40B4-BE49-F238E27FC236}">
                <a16:creationId xmlns:a16="http://schemas.microsoft.com/office/drawing/2014/main" id="{80A89557-60A6-4DB0-9516-A76B2DC45F13}"/>
              </a:ext>
            </a:extLst>
          </p:cNvPr>
          <p:cNvSpPr/>
          <p:nvPr/>
        </p:nvSpPr>
        <p:spPr>
          <a:xfrm>
            <a:off x="3675061" y="4366253"/>
            <a:ext cx="1242025" cy="565647"/>
          </a:xfrm>
          <a:prstGeom prst="line">
            <a:avLst/>
          </a:prstGeom>
          <a:ln w="12700" cap="flat" cmpd="sng">
            <a:solidFill>
              <a:srgbClr val="FF33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89EEA91A-9163-4029-A1E5-56F7B19D05F9}"/>
              </a:ext>
            </a:extLst>
          </p:cNvPr>
          <p:cNvSpPr txBox="1"/>
          <p:nvPr/>
        </p:nvSpPr>
        <p:spPr>
          <a:xfrm>
            <a:off x="3182719" y="4582356"/>
            <a:ext cx="880369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b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中值</a:t>
            </a:r>
            <a:r>
              <a:rPr lang="en-US" altLang="zh-CN" b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endParaRPr lang="zh-CN" altLang="en-US" b="1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Text Box 10">
            <a:extLst>
              <a:ext uri="{FF2B5EF4-FFF2-40B4-BE49-F238E27FC236}">
                <a16:creationId xmlns:a16="http://schemas.microsoft.com/office/drawing/2014/main" id="{C5E3F9AF-1B73-4DAE-B2D1-97E8527EE6BB}"/>
              </a:ext>
            </a:extLst>
          </p:cNvPr>
          <p:cNvSpPr txBox="1"/>
          <p:nvPr/>
        </p:nvSpPr>
        <p:spPr>
          <a:xfrm>
            <a:off x="1043617" y="3357945"/>
            <a:ext cx="3708120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 eaLnBrk="1" hangingPunct="1"/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</a:rPr>
              <a:t>  高电平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</a:rPr>
              <a:t>High 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level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>
                <a:solidFill>
                  <a:srgbClr val="0070C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b="1">
                <a:latin typeface="Times New Roman" panose="02020603050405020304" pitchFamily="18" charset="0"/>
              </a:rPr>
              <a:t>Vmax</a:t>
            </a:r>
            <a:r>
              <a:rPr lang="en-US" altLang="zh-CN" b="1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24" name="Text Box 10">
            <a:extLst>
              <a:ext uri="{FF2B5EF4-FFF2-40B4-BE49-F238E27FC236}">
                <a16:creationId xmlns:a16="http://schemas.microsoft.com/office/drawing/2014/main" id="{372F393B-9F5F-46BF-AE57-62B198CFCDEC}"/>
              </a:ext>
            </a:extLst>
          </p:cNvPr>
          <p:cNvSpPr txBox="1"/>
          <p:nvPr/>
        </p:nvSpPr>
        <p:spPr>
          <a:xfrm>
            <a:off x="1115616" y="5825881"/>
            <a:ext cx="312775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 eaLnBrk="1" hangingPunct="1"/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</a:rPr>
              <a:t>  低电平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</a:rPr>
              <a:t>Low 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level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>
                <a:solidFill>
                  <a:srgbClr val="0070C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b="1" err="1">
                <a:latin typeface="Times New Roman" panose="02020603050405020304" pitchFamily="18" charset="0"/>
              </a:rPr>
              <a:t>Vmin</a:t>
            </a:r>
            <a:r>
              <a:rPr lang="en-US" altLang="zh-CN" b="1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25" name="Line 14">
            <a:extLst>
              <a:ext uri="{FF2B5EF4-FFF2-40B4-BE49-F238E27FC236}">
                <a16:creationId xmlns:a16="http://schemas.microsoft.com/office/drawing/2014/main" id="{3C42EB6D-AC37-4AA2-A9B5-86A6B25A6C79}"/>
              </a:ext>
            </a:extLst>
          </p:cNvPr>
          <p:cNvSpPr/>
          <p:nvPr/>
        </p:nvSpPr>
        <p:spPr>
          <a:xfrm flipV="1">
            <a:off x="5148063" y="5823819"/>
            <a:ext cx="721151" cy="432307"/>
          </a:xfrm>
          <a:prstGeom prst="line">
            <a:avLst/>
          </a:prstGeom>
          <a:ln w="12700" cap="flat" cmpd="sng">
            <a:solidFill>
              <a:srgbClr val="2722FA"/>
            </a:solidFill>
            <a:prstDash val="dash"/>
            <a:headEnd type="none" w="med" len="med"/>
            <a:tailEnd type="none" w="med" len="med"/>
          </a:ln>
        </p:spPr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B22589C-D637-4CD1-8650-EB3653469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1042919"/>
            <a:ext cx="3303759" cy="22390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A665A8C-6CD8-476F-968C-B6C1EB4472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5936" y="1054324"/>
            <a:ext cx="3360747" cy="222326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B737EDB-808E-42B0-A6D3-153518AE7D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3171" y="3480951"/>
            <a:ext cx="11049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5754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1299" y="246063"/>
            <a:ext cx="8817428" cy="620712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l">
              <a:defRPr/>
            </a:pPr>
            <a:r>
              <a:rPr lang="zh-CN" altLang="en-US" sz="3600" b="1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自学自练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003" y="1988840"/>
            <a:ext cx="2657475" cy="2743200"/>
          </a:xfrm>
          <a:prstGeom prst="rect">
            <a:avLst/>
          </a:prstGeom>
        </p:spPr>
      </p:pic>
      <p:sp>
        <p:nvSpPr>
          <p:cNvPr id="12" name="矩形: 圆角 11"/>
          <p:cNvSpPr/>
          <p:nvPr/>
        </p:nvSpPr>
        <p:spPr>
          <a:xfrm>
            <a:off x="3466400" y="3197445"/>
            <a:ext cx="504056" cy="440754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87630" y="1255045"/>
            <a:ext cx="842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华文楷体" panose="02010600040101010101" pitchFamily="2" charset="-122"/>
                <a:ea typeface="华文楷体" panose="02010600040101010101" pitchFamily="2" charset="-122"/>
              </a:rPr>
              <a:t>操作原则：无论输入或输出，均以</a:t>
            </a:r>
            <a:r>
              <a:rPr lang="zh-CN" altLang="en-US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示波器读取</a:t>
            </a:r>
            <a:r>
              <a:rPr lang="zh-CN" altLang="en-US" sz="280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为准</a:t>
            </a: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zh-CN" altLang="en-US" sz="2800" b="1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60" y="1988840"/>
            <a:ext cx="3501897" cy="2373293"/>
          </a:xfrm>
          <a:prstGeom prst="rect">
            <a:avLst/>
          </a:prstGeom>
        </p:spPr>
      </p:pic>
      <p:sp>
        <p:nvSpPr>
          <p:cNvPr id="14" name="矩形: 圆角 13"/>
          <p:cNvSpPr/>
          <p:nvPr/>
        </p:nvSpPr>
        <p:spPr>
          <a:xfrm>
            <a:off x="4490347" y="3649195"/>
            <a:ext cx="504056" cy="216024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21A980A8-40A8-4D6A-9369-B394C3B0314C}"/>
              </a:ext>
            </a:extLst>
          </p:cNvPr>
          <p:cNvSpPr/>
          <p:nvPr/>
        </p:nvSpPr>
        <p:spPr>
          <a:xfrm rot="1317612">
            <a:off x="4024022" y="3480665"/>
            <a:ext cx="375875" cy="205028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AF768B-FE8C-4007-B973-C5212C808A73}"/>
              </a:ext>
            </a:extLst>
          </p:cNvPr>
          <p:cNvSpPr/>
          <p:nvPr/>
        </p:nvSpPr>
        <p:spPr>
          <a:xfrm>
            <a:off x="1651168" y="4937809"/>
            <a:ext cx="5841664" cy="523220"/>
          </a:xfrm>
          <a:prstGeom prst="rect">
            <a:avLst/>
          </a:prstGeom>
          <a:ln w="12700">
            <a:solidFill>
              <a:srgbClr val="00B0F0"/>
            </a:solidFill>
          </a:ln>
        </p:spPr>
        <p:txBody>
          <a:bodyPr wrap="none">
            <a:spAutoFit/>
          </a:bodyPr>
          <a:lstStyle/>
          <a:p>
            <a:r>
              <a:rPr lang="zh-CN" altLang="en-US" sz="2800"/>
              <a:t>AFG1000信号源_课内基本使用.pptx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407659C-4500-4BA2-A746-A03C1D7ADBCD}"/>
              </a:ext>
            </a:extLst>
          </p:cNvPr>
          <p:cNvSpPr/>
          <p:nvPr/>
        </p:nvSpPr>
        <p:spPr>
          <a:xfrm>
            <a:off x="285494" y="5528873"/>
            <a:ext cx="8489038" cy="10156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>
                <a:solidFill>
                  <a:srgbClr val="0000FF"/>
                </a:solidFill>
              </a:rPr>
              <a:t>AFG1000</a:t>
            </a:r>
            <a:r>
              <a:rPr lang="zh-CN" altLang="en-US" sz="2000">
                <a:solidFill>
                  <a:srgbClr val="0000FF"/>
                </a:solidFill>
              </a:rPr>
              <a:t>系列     任意</a:t>
            </a:r>
            <a:r>
              <a:rPr lang="zh-CN" altLang="en-US" sz="2000" dirty="0">
                <a:solidFill>
                  <a:srgbClr val="0000FF"/>
                </a:solidFill>
              </a:rPr>
              <a:t>波形</a:t>
            </a:r>
            <a:r>
              <a:rPr lang="en-US" altLang="zh-CN" sz="2000" dirty="0">
                <a:solidFill>
                  <a:srgbClr val="0000FF"/>
                </a:solidFill>
              </a:rPr>
              <a:t>/</a:t>
            </a:r>
            <a:r>
              <a:rPr lang="zh-CN" altLang="en-US" sz="2000" dirty="0">
                <a:solidFill>
                  <a:srgbClr val="0000FF"/>
                </a:solidFill>
              </a:rPr>
              <a:t>函数发生器教学视频</a:t>
            </a:r>
          </a:p>
          <a:p>
            <a:r>
              <a:rPr lang="zh-CN" altLang="en-US" sz="2000" dirty="0"/>
              <a:t>https://www.bilibili.com/video/BV1mW411H77v?p=2&amp;vd_source=b6ba6d1d47d003f6e899ab1ff4cd478c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" grpId="0"/>
      <p:bldP spid="14" grpId="0" animBg="1"/>
      <p:bldP spid="5" grpId="0" animBg="1"/>
      <p:bldP spid="1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1214414" y="1622425"/>
            <a:ext cx="7642249" cy="455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/>
            </a:pP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面包板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/>
            </a:pP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万用表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/>
            </a:pP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稳压电源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110000"/>
              <a:buFontTx/>
              <a:buBlip>
                <a:blip r:embed="rId2"/>
              </a:buBlip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波形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产生器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信号源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数字示波器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1349829" y="4376057"/>
            <a:ext cx="4408714" cy="0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50000"/>
                <a:lumOff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089025" y="381000"/>
            <a:ext cx="77279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8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常用仪器的使用</a:t>
            </a:r>
            <a:endParaRPr kumimoji="0" lang="zh-CN" altLang="en-US" sz="4800" b="1" i="0" u="none" strike="noStrike" kern="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ahoma" panose="020B0604030504040204"/>
              <a:ea typeface="华文楷体" panose="02010600040101010101" pitchFamily="2" charset="-122"/>
              <a:cs typeface="+mj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626" y="2350196"/>
            <a:ext cx="3744416" cy="4136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741" y="2452394"/>
            <a:ext cx="4467807" cy="4017812"/>
          </a:xfrm>
          <a:prstGeom prst="rect">
            <a:avLst/>
          </a:prstGeom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1299" y="246063"/>
            <a:ext cx="8817428" cy="620712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l"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基本操作边看边练</a:t>
            </a:r>
            <a:r>
              <a:rPr lang="en-US" altLang="zh-CN" sz="36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--</a:t>
            </a:r>
            <a:r>
              <a:rPr lang="zh-CN" altLang="en-US" sz="36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仪器官方资料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3528" y="1052736"/>
            <a:ext cx="79928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</a:rPr>
              <a:t>示波器</a:t>
            </a:r>
            <a:r>
              <a:rPr lang="en-US" altLang="zh-CN" sz="2000" b="1" dirty="0">
                <a:solidFill>
                  <a:srgbClr val="0000FF"/>
                </a:solidFill>
              </a:rPr>
              <a:t>TBS1000C</a:t>
            </a:r>
            <a:r>
              <a:rPr lang="zh-CN" altLang="en-US" sz="2000" b="1" dirty="0">
                <a:solidFill>
                  <a:srgbClr val="0000FF"/>
                </a:solidFill>
              </a:rPr>
              <a:t>教学视频</a:t>
            </a:r>
          </a:p>
          <a:p>
            <a:r>
              <a:rPr lang="en-US" altLang="zh-CN" sz="2000" dirty="0"/>
              <a:t>https://mp.weixin.qq.com/s/M3xzgizkJ0TDPhrPsylM_w</a:t>
            </a:r>
          </a:p>
          <a:p>
            <a:r>
              <a:rPr lang="en-US" altLang="zh-CN" sz="2000" dirty="0"/>
              <a:t>https://mp.weixin.qq.com/s/G-vnaL3NBoCK_rES9sqKDA</a:t>
            </a:r>
          </a:p>
          <a:p>
            <a:r>
              <a:rPr lang="en-US" altLang="zh-CN" sz="2000" dirty="0"/>
              <a:t>https://mp.weixin.qq.com/s/gXfSUArD_UtWpe8ksCRWig</a:t>
            </a:r>
            <a:endParaRPr lang="zh-CN" altLang="en-US" sz="2000" dirty="0"/>
          </a:p>
        </p:txBody>
      </p:sp>
      <p:sp>
        <p:nvSpPr>
          <p:cNvPr id="8" name="Rectangle 41"/>
          <p:cNvSpPr>
            <a:spLocks noChangeArrowheads="1"/>
          </p:cNvSpPr>
          <p:nvPr/>
        </p:nvSpPr>
        <p:spPr bwMode="auto">
          <a:xfrm>
            <a:off x="4572000" y="3284984"/>
            <a:ext cx="3744416" cy="276998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AUTOSET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自动设定部分配置项；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方便但非万能。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不要完全依赖它！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要逐步学会熟练地手工调节以显示正确波形。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>
            <a:off x="3959932" y="3429000"/>
            <a:ext cx="612068" cy="0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8" name="标题 1"/>
          <p:cNvSpPr>
            <a:spLocks noChangeArrowheads="1"/>
          </p:cNvSpPr>
          <p:nvPr/>
        </p:nvSpPr>
        <p:spPr bwMode="auto">
          <a:xfrm>
            <a:off x="457200" y="276225"/>
            <a:ext cx="8459788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+mn-cs"/>
                <a:sym typeface="Arial" panose="020B0604020202020204" pitchFamily="34" charset="0"/>
              </a:rPr>
              <a:t>一、基本通用的  示波器外部自检操作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61" y="1030102"/>
            <a:ext cx="5797550" cy="2631044"/>
          </a:xfrm>
          <a:prstGeom prst="rect">
            <a:avLst/>
          </a:prstGeom>
          <a:ln w="25400">
            <a:solidFill>
              <a:srgbClr val="00B050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85" y="2568309"/>
            <a:ext cx="8103467" cy="2092444"/>
          </a:xfrm>
          <a:prstGeom prst="rect">
            <a:avLst/>
          </a:prstGeom>
          <a:ln w="25400">
            <a:solidFill>
              <a:srgbClr val="00B050"/>
            </a:solidFill>
          </a:ln>
        </p:spPr>
      </p:pic>
      <p:sp>
        <p:nvSpPr>
          <p:cNvPr id="32" name="Rectangle 2"/>
          <p:cNvSpPr>
            <a:spLocks noChangeArrowheads="1"/>
          </p:cNvSpPr>
          <p:nvPr/>
        </p:nvSpPr>
        <p:spPr bwMode="auto">
          <a:xfrm>
            <a:off x="76200" y="5045075"/>
            <a:ext cx="5967413" cy="1582738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</a:ln>
          <a:effectLst>
            <a:outerShdw dist="17961" dir="2700000" algn="ctr" rotWithShape="0">
              <a:srgbClr val="99995C"/>
            </a:outerShdw>
          </a:effectLst>
        </p:spPr>
        <p:txBody>
          <a:bodyPr anchor="ctr"/>
          <a:lstStyle/>
          <a:p>
            <a:pPr lvl="0" algn="l">
              <a:spcBef>
                <a:spcPts val="600"/>
              </a:spcBef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双探头都接该信号</a:t>
            </a:r>
            <a:r>
              <a:rPr lang="zh-CN" altLang="en-US" sz="2000" b="1" dirty="0">
                <a:solidFill>
                  <a:srgbClr val="7030A0"/>
                </a:solidFill>
              </a:rPr>
              <a:t>，打开双通道，按</a:t>
            </a:r>
            <a:r>
              <a:rPr kumimoji="0" lang="en-US" altLang="zh-CN" sz="200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AUTOset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；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应该有两个自校准方波显示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示波器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OK</a:t>
            </a:r>
            <a:r>
              <a:rPr lang="zh-CN" altLang="en-US" sz="2000" b="1" dirty="0">
                <a:solidFill>
                  <a:srgbClr val="FF0000"/>
                </a:solidFill>
              </a:rPr>
              <a:t>！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若无方波或只一方波则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更换对应通道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722FA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探头线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再看；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仍然没有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—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上报故障。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无自检不要乱报故障！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1245970" y="3370348"/>
            <a:ext cx="7226445" cy="1587679"/>
          </a:xfrm>
          <a:prstGeom prst="rect">
            <a:avLst/>
          </a:prstGeom>
          <a:solidFill>
            <a:srgbClr val="CCFFFF"/>
          </a:solidFill>
          <a:ln w="63500" cmpd="dbl">
            <a:solidFill>
              <a:srgbClr val="FF0000"/>
            </a:solidFill>
            <a:miter lim="800000"/>
          </a:ln>
          <a:effectLst>
            <a:prstShdw prst="shdw17" dist="17961" dir="2700000">
              <a:srgbClr val="FF0000">
                <a:gamma/>
                <a:shade val="60000"/>
                <a:invGamma/>
              </a:srgbClr>
            </a:prst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 实验开始确定示波器没问题就不要再怀疑！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lvl="0" algn="l" eaLnBrk="0" hangingPunct="0">
              <a:lnSpc>
                <a:spcPct val="120000"/>
              </a:lnSpc>
              <a:spcBef>
                <a:spcPct val="10000"/>
              </a:spcBef>
              <a:defRPr/>
            </a:pPr>
            <a:r>
              <a:rPr lang="en-US" altLang="zh-CN" sz="28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zh-CN" altLang="en-US" sz="2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更多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注意 </a:t>
            </a:r>
            <a:r>
              <a:rPr lang="zh-CN" altLang="en-US" sz="2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仪器操作，电路设计、搭建、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元件等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方面问题。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322" y="1297359"/>
            <a:ext cx="6958730" cy="3555555"/>
          </a:xfrm>
          <a:prstGeom prst="rect">
            <a:avLst/>
          </a:prstGeom>
          <a:ln w="63500">
            <a:solidFill>
              <a:srgbClr val="00B05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3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40211" y="1058955"/>
            <a:ext cx="5024277" cy="3319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800" dirty="0">
                <a:latin typeface="宋体" panose="02010600030101010101" pitchFamily="2" charset="-122"/>
              </a:rPr>
              <a:t>必须习惯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双通道</a:t>
            </a:r>
            <a:r>
              <a:rPr lang="zh-CN" altLang="en-US" sz="2800" dirty="0">
                <a:latin typeface="宋体" panose="02010600030101010101" pitchFamily="2" charset="-122"/>
              </a:rPr>
              <a:t>对比观测。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800" dirty="0">
                <a:latin typeface="宋体" panose="02010600030101010101" pitchFamily="2" charset="-122"/>
              </a:rPr>
              <a:t>重视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Trigger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触发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操作：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-457200" algn="l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验收时不准启动</a:t>
            </a: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STOP</a:t>
            </a:r>
            <a:r>
              <a:rPr lang="zh-CN" altLang="en-US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功能</a:t>
            </a:r>
            <a:endParaRPr lang="en-US" altLang="zh-CN" sz="2800" dirty="0">
              <a:effectLst>
                <a:outerShdw blurRad="38100" dist="38100" dir="2700000" algn="tl">
                  <a:srgbClr val="FFFFFF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关键</a:t>
            </a:r>
            <a:r>
              <a:rPr lang="en-US" altLang="zh-CN" sz="2800" b="1" noProof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Source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触发源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CH1/CH2</a:t>
            </a:r>
            <a:endParaRPr kumimoji="0" lang="en-US" altLang="zh-CN" sz="2800" b="0" i="1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+mn-ea"/>
                <a:ea typeface="+mn-ea"/>
              </a:rPr>
              <a:t>  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+mn-ea"/>
                <a:ea typeface="+mn-ea"/>
              </a:rPr>
              <a:t>CHx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+mn-ea"/>
                <a:ea typeface="+mn-ea"/>
              </a:rPr>
              <a:t>谁接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+mn-ea"/>
                <a:ea typeface="+mn-ea"/>
              </a:rPr>
              <a:t>稳定信号</a:t>
            </a:r>
            <a:r>
              <a:rPr kumimoji="0" lang="zh-CN" altLang="en-US" sz="2800" b="1" i="0" u="none" strike="noStrike" kern="1200" cap="none" spc="0" normalizeH="0" noProof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+mn-ea"/>
                <a:ea typeface="+mn-ea"/>
              </a:rPr>
              <a:t>就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+mn-ea"/>
                <a:ea typeface="+mn-ea"/>
              </a:rPr>
              <a:t>选谁</a:t>
            </a:r>
            <a:r>
              <a:rPr lang="en-US" altLang="zh-CN" sz="2800" b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</a:rPr>
              <a:t>!</a:t>
            </a:r>
            <a:endParaRPr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+mn-ea"/>
              <a:ea typeface="+mn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调或按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Level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让</a:t>
            </a: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触发电平合适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57163" y="187325"/>
            <a:ext cx="8529637" cy="677863"/>
          </a:xfrm>
          <a:prstGeom prst="rect">
            <a:avLst/>
          </a:prstGeo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j-cs"/>
              </a:rPr>
              <a:t>二、示波器显示稳定要靠正确触发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20" y="1128367"/>
            <a:ext cx="3798938" cy="3956817"/>
          </a:xfrm>
          <a:prstGeom prst="rect">
            <a:avLst/>
          </a:prstGeom>
        </p:spPr>
      </p:pic>
      <p:pic>
        <p:nvPicPr>
          <p:cNvPr id="7" name="图片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00166"/>
            <a:ext cx="7344816" cy="488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5724128" y="3501008"/>
            <a:ext cx="864096" cy="57606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动作按钮: 帮助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238909E-C87B-4053-9A68-C2402CAED270}"/>
              </a:ext>
            </a:extLst>
          </p:cNvPr>
          <p:cNvSpPr/>
          <p:nvPr/>
        </p:nvSpPr>
        <p:spPr bwMode="auto">
          <a:xfrm>
            <a:off x="7719656" y="1600166"/>
            <a:ext cx="676300" cy="604698"/>
          </a:xfrm>
          <a:prstGeom prst="actionButtonHelp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8" grpId="0" animBg="1"/>
      <p:bldP spid="8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6025" y="1149268"/>
            <a:ext cx="8221436" cy="533466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800" b="1" dirty="0">
                <a:latin typeface="+mn-ea"/>
              </a:rPr>
              <a:t>工科实验，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波形就是数据</a:t>
            </a:r>
            <a:r>
              <a:rPr lang="zh-CN" altLang="en-US" sz="2800" b="1" dirty="0">
                <a:latin typeface="+mn-ea"/>
              </a:rPr>
              <a:t>！</a:t>
            </a:r>
            <a:endParaRPr lang="en-US" altLang="zh-CN" sz="2800" b="1" dirty="0">
              <a:latin typeface="+mn-ea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800" b="1" dirty="0">
                <a:latin typeface="+mn-ea"/>
              </a:rPr>
              <a:t>信号测量记录要以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</a:rPr>
              <a:t>示波器测量值为准</a:t>
            </a:r>
            <a:r>
              <a:rPr lang="zh-CN" altLang="en-US" sz="2800" dirty="0">
                <a:solidFill>
                  <a:srgbClr val="0000FF"/>
                </a:solidFill>
                <a:latin typeface="+mn-ea"/>
              </a:rPr>
              <a:t>；</a:t>
            </a:r>
            <a:r>
              <a:rPr lang="zh-CN" altLang="en-US" sz="2800" b="1" dirty="0">
                <a:latin typeface="+mn-ea"/>
              </a:rPr>
              <a:t>信号发生器显示的数据只做参考。</a:t>
            </a:r>
            <a:endParaRPr lang="en-US" altLang="zh-CN" sz="2800" b="1" dirty="0">
              <a:latin typeface="+mn-ea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zh-CN" altLang="en-US" sz="2800" dirty="0">
                <a:latin typeface="+mn-ea"/>
              </a:rPr>
              <a:t>传统读数方法</a:t>
            </a:r>
            <a:r>
              <a:rPr lang="en-US" altLang="zh-CN" sz="2800" dirty="0">
                <a:latin typeface="+mn-ea"/>
              </a:rPr>
              <a:t>--</a:t>
            </a:r>
            <a:r>
              <a:rPr lang="zh-CN" altLang="en-US" sz="2800" dirty="0">
                <a:latin typeface="+mn-ea"/>
              </a:rPr>
              <a:t>刻度测量即“</a:t>
            </a:r>
            <a:r>
              <a:rPr lang="zh-CN" altLang="en-US" sz="2800" dirty="0">
                <a:solidFill>
                  <a:srgbClr val="0000FF"/>
                </a:solidFill>
                <a:latin typeface="+mn-ea"/>
              </a:rPr>
              <a:t>数格子</a:t>
            </a:r>
            <a:r>
              <a:rPr lang="zh-CN" altLang="en-US" sz="2800" dirty="0">
                <a:latin typeface="+mn-ea"/>
              </a:rPr>
              <a:t>”也好用。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800" b="1" dirty="0">
                <a:latin typeface="+mn-ea"/>
              </a:rPr>
              <a:t>数字示波器的</a:t>
            </a:r>
            <a:r>
              <a:rPr lang="zh-CN" altLang="en-US" sz="2800" b="1" dirty="0">
                <a:solidFill>
                  <a:srgbClr val="2722FA"/>
                </a:solidFill>
                <a:latin typeface="+mn-ea"/>
              </a:rPr>
              <a:t>自动测量</a:t>
            </a:r>
            <a:r>
              <a:rPr lang="en-US" altLang="zh-CN" sz="2800" b="1" dirty="0">
                <a:solidFill>
                  <a:srgbClr val="2722FA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2722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</a:t>
            </a:r>
            <a:r>
              <a:rPr lang="zh-CN" altLang="en-US" sz="2800" b="1" dirty="0">
                <a:latin typeface="+mn-ea"/>
              </a:rPr>
              <a:t>前提是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通道设置</a:t>
            </a:r>
            <a:endParaRPr lang="en-US" altLang="zh-CN" sz="2800" b="1" dirty="0">
              <a:solidFill>
                <a:srgbClr val="C00000"/>
              </a:solidFill>
              <a:latin typeface="+mn-ea"/>
            </a:endParaRPr>
          </a:p>
          <a:p>
            <a:pPr marL="0" indent="0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  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正确</a:t>
            </a:r>
            <a:r>
              <a:rPr lang="en-US" altLang="zh-CN" sz="2800" b="1" dirty="0">
                <a:latin typeface="+mn-ea"/>
              </a:rPr>
              <a:t>—</a:t>
            </a:r>
            <a:r>
              <a:rPr lang="zh-CN" altLang="en-US" sz="2600" b="1" dirty="0">
                <a:latin typeface="+mn-ea"/>
              </a:rPr>
              <a:t>目前用缺省设置即可，但</a:t>
            </a:r>
            <a:endParaRPr lang="en-US" altLang="zh-CN" sz="2600" b="1" dirty="0">
              <a:latin typeface="+mn-ea"/>
            </a:endParaRPr>
          </a:p>
          <a:p>
            <a:pPr lvl="1" indent="-342900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zh-CN" altLang="en-US" sz="2400" b="1" strike="sngStrike" dirty="0">
                <a:latin typeface="华文楷体" panose="02010600040101010101" pitchFamily="2" charset="-122"/>
                <a:ea typeface="华文楷体" panose="02010600040101010101" pitchFamily="2" charset="-122"/>
              </a:rPr>
              <a:t>被人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）设置不当会导致显示数据理解错，坑！</a:t>
            </a:r>
            <a:endParaRPr lang="en-US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 indent="-342900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+mn-ea"/>
              </a:rPr>
              <a:t>比如 直流</a:t>
            </a:r>
            <a:r>
              <a:rPr lang="en-US" altLang="zh-CN" sz="2400" b="1" dirty="0">
                <a:latin typeface="+mn-ea"/>
              </a:rPr>
              <a:t>/</a:t>
            </a:r>
            <a:r>
              <a:rPr lang="zh-CN" altLang="en-US" sz="2400" b="1" dirty="0">
                <a:latin typeface="+mn-ea"/>
              </a:rPr>
              <a:t>交流耦合；</a:t>
            </a:r>
            <a:endParaRPr lang="en-US" altLang="zh-CN" sz="2400" b="1" dirty="0">
              <a:latin typeface="+mn-ea"/>
            </a:endParaRPr>
          </a:p>
          <a:p>
            <a:pPr lvl="1" indent="-342900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+mn-ea"/>
              </a:rPr>
              <a:t>比如 探头衰减</a:t>
            </a:r>
            <a:r>
              <a:rPr lang="en-US" altLang="zh-CN" sz="2400" b="1" dirty="0">
                <a:latin typeface="+mn-ea"/>
              </a:rPr>
              <a:t>x1/x10</a:t>
            </a:r>
          </a:p>
        </p:txBody>
      </p:sp>
      <p:sp>
        <p:nvSpPr>
          <p:cNvPr id="90116" name="标题 1"/>
          <p:cNvSpPr>
            <a:spLocks noChangeArrowheads="1"/>
          </p:cNvSpPr>
          <p:nvPr/>
        </p:nvSpPr>
        <p:spPr bwMode="auto">
          <a:xfrm>
            <a:off x="457200" y="274638"/>
            <a:ext cx="845026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三、正确读取 实验波形的 基本参数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0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51995" y="3346256"/>
            <a:ext cx="2509442" cy="1424278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文本框 17"/>
          <p:cNvSpPr txBox="1"/>
          <p:nvPr/>
        </p:nvSpPr>
        <p:spPr>
          <a:xfrm>
            <a:off x="6104445" y="4124203"/>
            <a:ext cx="2088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u="sng" dirty="0"/>
              <a:t>兼容 可切换</a:t>
            </a:r>
            <a:endParaRPr lang="en-US" altLang="zh-CN" b="1" u="sng" dirty="0"/>
          </a:p>
          <a:p>
            <a:r>
              <a:rPr lang="en-US" altLang="zh-CN" b="1" u="sng" dirty="0"/>
              <a:t>x1</a:t>
            </a:r>
            <a:r>
              <a:rPr lang="zh-CN" altLang="en-US" b="1" u="sng" dirty="0"/>
              <a:t>、</a:t>
            </a:r>
            <a:r>
              <a:rPr lang="en-US" altLang="zh-CN" b="1" u="sng" dirty="0"/>
              <a:t>x10</a:t>
            </a:r>
            <a:endParaRPr lang="zh-CN" altLang="en-US" b="1" u="sng" dirty="0"/>
          </a:p>
        </p:txBody>
      </p:sp>
      <p:sp>
        <p:nvSpPr>
          <p:cNvPr id="19" name="文本框 18"/>
          <p:cNvSpPr txBox="1"/>
          <p:nvPr/>
        </p:nvSpPr>
        <p:spPr>
          <a:xfrm>
            <a:off x="6176651" y="5935966"/>
            <a:ext cx="2088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u="sng" dirty="0"/>
              <a:t>便宜 连接线</a:t>
            </a:r>
            <a:endParaRPr lang="en-US" altLang="zh-CN" b="1" u="sng" dirty="0"/>
          </a:p>
          <a:p>
            <a:r>
              <a:rPr lang="zh-CN" altLang="en-US" b="1" u="sng" dirty="0"/>
              <a:t>固定</a:t>
            </a:r>
            <a:r>
              <a:rPr lang="en-US" altLang="zh-CN" b="1" u="sng" dirty="0"/>
              <a:t>x1</a:t>
            </a:r>
            <a:r>
              <a:rPr lang="zh-CN" altLang="en-US" b="1" u="sng" dirty="0"/>
              <a:t>无衰减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124744"/>
            <a:ext cx="5495925" cy="37909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16867" y="4244355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u="sng" dirty="0"/>
              <a:t>Q9</a:t>
            </a:r>
            <a:r>
              <a:rPr lang="zh-CN" altLang="en-US" b="1" u="sng" dirty="0"/>
              <a:t>接头 连接操作</a:t>
            </a:r>
          </a:p>
        </p:txBody>
      </p:sp>
      <p:sp>
        <p:nvSpPr>
          <p:cNvPr id="10" name="Rectangle 22"/>
          <p:cNvSpPr>
            <a:spLocks noChangeArrowheads="1"/>
          </p:cNvSpPr>
          <p:nvPr/>
        </p:nvSpPr>
        <p:spPr bwMode="auto">
          <a:xfrm>
            <a:off x="182563" y="314325"/>
            <a:ext cx="8709025" cy="579438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0" algn="l">
              <a:defRPr/>
            </a:pPr>
            <a:r>
              <a:rPr lang="zh-CN" altLang="en-US" sz="3200" b="1" dirty="0"/>
              <a:t>示波器测量探头与通道探头设置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4943" y="1551168"/>
            <a:ext cx="2509442" cy="1653104"/>
          </a:xfrm>
          <a:prstGeom prst="rect">
            <a:avLst/>
          </a:prstGeom>
          <a:ln w="25400">
            <a:solidFill>
              <a:srgbClr val="00B050"/>
            </a:solidFill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167034" y="4197480"/>
            <a:ext cx="1079365" cy="25094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692319" y="1354416"/>
            <a:ext cx="2509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00" b="1">
                <a:solidFill>
                  <a:srgbClr val="2722FA"/>
                </a:solidFill>
              </a:rPr>
              <a:t>探头</a:t>
            </a:r>
            <a:r>
              <a:rPr lang="zh-CN" altLang="en-US" sz="2400" b="1" u="sng">
                <a:solidFill>
                  <a:srgbClr val="FF0000"/>
                </a:solidFill>
              </a:rPr>
              <a:t> </a:t>
            </a:r>
            <a:endParaRPr lang="en-US" altLang="zh-CN" sz="2400" b="1" u="sng">
              <a:solidFill>
                <a:srgbClr val="FF0000"/>
              </a:solidFill>
            </a:endParaRPr>
          </a:p>
          <a:p>
            <a:pPr lvl="0"/>
            <a:r>
              <a:rPr lang="zh-CN" altLang="en-US" sz="2400" b="1" u="sng">
                <a:solidFill>
                  <a:srgbClr val="000000"/>
                </a:solidFill>
              </a:rPr>
              <a:t>地夹</a:t>
            </a:r>
            <a:r>
              <a:rPr lang="en-US" altLang="zh-CN" sz="2400" b="1" u="sng">
                <a:solidFill>
                  <a:srgbClr val="2722FA"/>
                </a:solidFill>
              </a:rPr>
              <a:t>~</a:t>
            </a:r>
            <a:r>
              <a:rPr lang="zh-CN" altLang="en-US" sz="2400" b="1" u="sng">
                <a:solidFill>
                  <a:srgbClr val="FF0000"/>
                </a:solidFill>
              </a:rPr>
              <a:t>信号勾</a:t>
            </a:r>
            <a:endParaRPr lang="zh-CN" altLang="en-US" sz="2400" b="1" u="sng" dirty="0">
              <a:solidFill>
                <a:srgbClr val="000000"/>
              </a:solidFill>
            </a:endParaRPr>
          </a:p>
          <a:p>
            <a:endParaRPr lang="zh-CN" altLang="en-US" b="1" u="sng" dirty="0"/>
          </a:p>
        </p:txBody>
      </p:sp>
      <p:sp>
        <p:nvSpPr>
          <p:cNvPr id="17" name="文本框 16"/>
          <p:cNvSpPr txBox="1"/>
          <p:nvPr/>
        </p:nvSpPr>
        <p:spPr>
          <a:xfrm>
            <a:off x="6136837" y="1539082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u="sng" dirty="0"/>
              <a:t>原配 衰减</a:t>
            </a:r>
            <a:r>
              <a:rPr lang="en-US" altLang="zh-CN" b="1" u="sng" dirty="0"/>
              <a:t>x10</a:t>
            </a:r>
            <a:endParaRPr lang="zh-CN" altLang="en-US" b="1" u="sng" dirty="0"/>
          </a:p>
        </p:txBody>
      </p:sp>
      <p:sp>
        <p:nvSpPr>
          <p:cNvPr id="8" name="文本框 7"/>
          <p:cNvSpPr txBox="1"/>
          <p:nvPr/>
        </p:nvSpPr>
        <p:spPr>
          <a:xfrm>
            <a:off x="166735" y="4959757"/>
            <a:ext cx="56370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 dirty="0"/>
              <a:t>通道探头设置必须与硬件探头匹配，</a:t>
            </a:r>
            <a:endParaRPr lang="en-US" altLang="zh-CN" sz="2400" b="1" dirty="0"/>
          </a:p>
          <a:p>
            <a:pPr algn="l"/>
            <a:r>
              <a:rPr lang="zh-CN" altLang="en-US" sz="2400" b="1" dirty="0">
                <a:solidFill>
                  <a:srgbClr val="2722FA"/>
                </a:solidFill>
              </a:rPr>
              <a:t>特别是衰减系数！</a:t>
            </a:r>
            <a:endParaRPr lang="en-US" altLang="zh-CN" sz="2400" b="1" dirty="0">
              <a:solidFill>
                <a:srgbClr val="2722FA"/>
              </a:solidFill>
            </a:endParaRPr>
          </a:p>
          <a:p>
            <a:pPr algn="l"/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本示波器官方操作说明书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p47-p48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：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l"/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设置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快速设置 探头衰减系数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x1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或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x10</a:t>
            </a:r>
          </a:p>
        </p:txBody>
      </p:sp>
      <p:sp>
        <p:nvSpPr>
          <p:cNvPr id="9" name="箭头: 下 8"/>
          <p:cNvSpPr/>
          <p:nvPr/>
        </p:nvSpPr>
        <p:spPr>
          <a:xfrm>
            <a:off x="5724128" y="6259131"/>
            <a:ext cx="311349" cy="410229"/>
          </a:xfrm>
          <a:prstGeom prst="down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F64C5C35-A38C-4B3F-8085-A689B1239447}"/>
              </a:ext>
            </a:extLst>
          </p:cNvPr>
          <p:cNvSpPr/>
          <p:nvPr/>
        </p:nvSpPr>
        <p:spPr>
          <a:xfrm>
            <a:off x="5083754" y="2506475"/>
            <a:ext cx="1576478" cy="179886"/>
          </a:xfrm>
          <a:prstGeom prst="rightArrow">
            <a:avLst/>
          </a:prstGeom>
          <a:solidFill>
            <a:srgbClr val="FF99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6" grpId="0"/>
      <p:bldP spid="16" grpId="0"/>
      <p:bldP spid="17" grpId="0"/>
      <p:bldP spid="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252412" y="4912331"/>
            <a:ext cx="25849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/>
              <a:t>①设置衰减</a:t>
            </a:r>
            <a:endParaRPr lang="en-US" altLang="zh-CN" sz="2400" dirty="0"/>
          </a:p>
          <a:p>
            <a:pPr algn="l"/>
            <a:r>
              <a:rPr lang="zh-CN" altLang="en-US" sz="2400" dirty="0"/>
              <a:t>（说明书</a:t>
            </a:r>
            <a:r>
              <a:rPr lang="en-US" altLang="zh-CN" sz="2400" dirty="0"/>
              <a:t>p47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algn="l"/>
            <a:r>
              <a:rPr lang="zh-CN" altLang="en-US" sz="2400" dirty="0"/>
              <a:t>②快速设置衰减</a:t>
            </a:r>
            <a:endParaRPr lang="en-US" altLang="zh-CN" sz="2400" dirty="0"/>
          </a:p>
          <a:p>
            <a:pPr algn="l"/>
            <a:r>
              <a:rPr lang="zh-CN" altLang="en-US" sz="2400" dirty="0"/>
              <a:t>（说明书</a:t>
            </a:r>
            <a:r>
              <a:rPr lang="en-US" altLang="zh-CN" sz="2400" dirty="0"/>
              <a:t>p48</a:t>
            </a:r>
            <a:r>
              <a:rPr lang="zh-CN" altLang="en-US" sz="2400" dirty="0"/>
              <a:t>）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2" y="1052737"/>
            <a:ext cx="2584920" cy="3528392"/>
          </a:xfrm>
        </p:spPr>
      </p:pic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182563" y="314325"/>
            <a:ext cx="8709025" cy="579438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0" algn="l">
              <a:defRPr/>
            </a:pPr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</a:rPr>
              <a:t>通道探头参数设置操作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332" y="1194417"/>
            <a:ext cx="6054256" cy="5349258"/>
          </a:xfrm>
          <a:prstGeom prst="rect">
            <a:avLst/>
          </a:prstGeom>
        </p:spPr>
      </p:pic>
      <p:sp>
        <p:nvSpPr>
          <p:cNvPr id="27" name="矩形: 圆角 26"/>
          <p:cNvSpPr/>
          <p:nvPr/>
        </p:nvSpPr>
        <p:spPr>
          <a:xfrm>
            <a:off x="6372200" y="3789040"/>
            <a:ext cx="2232248" cy="576064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左 28"/>
          <p:cNvSpPr/>
          <p:nvPr/>
        </p:nvSpPr>
        <p:spPr>
          <a:xfrm>
            <a:off x="4675017" y="3862216"/>
            <a:ext cx="1656184" cy="288032"/>
          </a:xfrm>
          <a:prstGeom prst="leftArrow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/>
          <p:cNvSpPr/>
          <p:nvPr/>
        </p:nvSpPr>
        <p:spPr>
          <a:xfrm>
            <a:off x="5724128" y="1171278"/>
            <a:ext cx="1392156" cy="1465634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3334094" y="3027565"/>
            <a:ext cx="648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3391730" y="4912331"/>
            <a:ext cx="648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</a:rPr>
              <a:t>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27" grpId="0" animBg="1"/>
      <p:bldP spid="29" grpId="0" animBg="1"/>
      <p:bldP spid="30" grpId="0" animBg="1"/>
      <p:bldP spid="31" grpId="0"/>
      <p:bldP spid="3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30" name="Rectangle 22"/>
          <p:cNvSpPr>
            <a:spLocks noChangeArrowheads="1"/>
          </p:cNvSpPr>
          <p:nvPr/>
        </p:nvSpPr>
        <p:spPr bwMode="auto">
          <a:xfrm>
            <a:off x="182563" y="314325"/>
            <a:ext cx="8709025" cy="579438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0" algn="l">
              <a:defRPr/>
            </a:pPr>
            <a:r>
              <a:rPr lang="zh-CN" altLang="en-US" sz="3200" b="1" dirty="0">
                <a:solidFill>
                  <a:srgbClr val="2722FA"/>
                </a:solidFill>
              </a:rPr>
              <a:t>初学者</a:t>
            </a:r>
            <a:r>
              <a:rPr lang="zh-CN" altLang="en-US" sz="3200" b="1" dirty="0"/>
              <a:t>的示波器启动操作 小结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37075" y="1088388"/>
            <a:ext cx="4326030" cy="377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Default Setup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（默认设置）加载出厂</a:t>
            </a:r>
            <a:r>
              <a:rPr lang="zh-CN" altLang="en-US" sz="2800">
                <a:latin typeface="华文楷体" panose="02010600040101010101" pitchFamily="2" charset="-122"/>
                <a:ea typeface="华文楷体" panose="02010600040101010101" pitchFamily="2" charset="-122"/>
              </a:rPr>
              <a:t>定义设置</a:t>
            </a:r>
            <a:endParaRPr lang="en-US" altLang="zh-CN" sz="28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114300" lvl="1">
              <a:lnSpc>
                <a:spcPct val="130000"/>
              </a:lnSpc>
              <a:spcBef>
                <a:spcPts val="600"/>
              </a:spcBef>
            </a:pPr>
            <a:r>
              <a:rPr lang="en-US" altLang="zh-CN" sz="280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【</a:t>
            </a:r>
            <a:r>
              <a:rPr lang="zh-CN" altLang="en-US" sz="2400" b="1">
                <a:solidFill>
                  <a:srgbClr val="00B050"/>
                </a:solidFill>
                <a:latin typeface="+mn-ea"/>
              </a:rPr>
              <a:t>直流耦合；探头衰减</a:t>
            </a:r>
            <a:r>
              <a:rPr lang="en-US" altLang="zh-CN" sz="2400" b="1">
                <a:solidFill>
                  <a:srgbClr val="00B050"/>
                </a:solidFill>
                <a:latin typeface="+mn-ea"/>
              </a:rPr>
              <a:t>x10】</a:t>
            </a:r>
          </a:p>
          <a:p>
            <a:pPr marL="457200" indent="-457200" algn="l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latin typeface="华文楷体" panose="02010600040101010101" pitchFamily="2" charset="-122"/>
                <a:ea typeface="华文楷体" panose="02010600040101010101" pitchFamily="2" charset="-122"/>
              </a:rPr>
              <a:t>以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外部</a:t>
            </a:r>
            <a:r>
              <a:rPr lang="zh-CN" altLang="en-US"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自检</a:t>
            </a:r>
            <a:r>
              <a:rPr lang="zh-CN" altLang="en-US" sz="2800">
                <a:latin typeface="华文楷体" panose="02010600040101010101" pitchFamily="2" charset="-122"/>
                <a:ea typeface="华文楷体" panose="02010600040101010101" pitchFamily="2" charset="-122"/>
              </a:rPr>
              <a:t>确认好坏；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>
              <a:spcBef>
                <a:spcPts val="600"/>
              </a:spcBef>
            </a:pPr>
            <a:r>
              <a:rPr lang="en-US" altLang="zh-CN" sz="2800" b="1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AutoSet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才算</a:t>
            </a:r>
            <a:r>
              <a:rPr lang="zh-CN" altLang="en-US" sz="2800">
                <a:latin typeface="华文楷体" panose="02010600040101010101" pitchFamily="2" charset="-122"/>
                <a:ea typeface="华文楷体" panose="02010600040101010101" pitchFamily="2" charset="-122"/>
              </a:rPr>
              <a:t>真正可用。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再来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设定</a:t>
            </a:r>
            <a:r>
              <a:rPr lang="en-US" altLang="zh-CN"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Measure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项目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最后实测再</a:t>
            </a:r>
            <a:r>
              <a:rPr lang="zh-CN" altLang="en-US" sz="28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手动调整</a:t>
            </a:r>
            <a:endParaRPr lang="zh-CN" altLang="en-US" sz="2800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12" y="1088388"/>
            <a:ext cx="4067175" cy="2867025"/>
          </a:xfrm>
          <a:prstGeom prst="rect">
            <a:avLst/>
          </a:prstGeom>
        </p:spPr>
      </p:pic>
      <p:sp>
        <p:nvSpPr>
          <p:cNvPr id="7" name="矩形: 圆角 6"/>
          <p:cNvSpPr/>
          <p:nvPr/>
        </p:nvSpPr>
        <p:spPr>
          <a:xfrm>
            <a:off x="2987824" y="1556792"/>
            <a:ext cx="576064" cy="28803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3491880" y="1556792"/>
            <a:ext cx="1368152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755874" y="5769612"/>
            <a:ext cx="3888432" cy="5232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6195" indent="215900" algn="l"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波形纵横大小要适当</a:t>
            </a:r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9" name="TextBox 1"/>
          <p:cNvSpPr txBox="1"/>
          <p:nvPr/>
        </p:nvSpPr>
        <p:spPr>
          <a:xfrm>
            <a:off x="4755874" y="5015802"/>
            <a:ext cx="3888432" cy="5232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</a:rPr>
              <a:t>触发</a:t>
            </a:r>
            <a:r>
              <a:rPr lang="zh-CN" altLang="en-US" sz="2800" b="1" i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</a:rPr>
              <a:t>（信源，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Level</a:t>
            </a:r>
            <a:r>
              <a:rPr kumimoji="0" lang="zh-CN" altLang="en-US" sz="2800" b="1" i="1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1" animBg="1"/>
      <p:bldP spid="3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标题 1"/>
          <p:cNvSpPr>
            <a:spLocks noChangeArrowheads="1"/>
          </p:cNvSpPr>
          <p:nvPr/>
        </p:nvSpPr>
        <p:spPr bwMode="auto">
          <a:xfrm>
            <a:off x="158750" y="202224"/>
            <a:ext cx="8728075" cy="583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自练体验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8750" y="1030233"/>
            <a:ext cx="8728075" cy="573221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0" indent="0" algn="l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1. </a:t>
            </a:r>
            <a:r>
              <a:rPr lang="zh-CN" altLang="en-US" sz="2800" dirty="0">
                <a:solidFill>
                  <a:srgbClr val="000000"/>
                </a:solidFill>
              </a:rPr>
              <a:t>示波器开机，</a:t>
            </a:r>
            <a:r>
              <a:rPr lang="en-US" altLang="zh-CN" sz="2800" dirty="0">
                <a:solidFill>
                  <a:srgbClr val="2722FA"/>
                </a:solidFill>
              </a:rPr>
              <a:t>Default Setup</a:t>
            </a:r>
            <a:r>
              <a:rPr lang="zh-CN" altLang="en-US" sz="2800" dirty="0">
                <a:solidFill>
                  <a:srgbClr val="000000"/>
                </a:solidFill>
              </a:rPr>
              <a:t>，然后</a:t>
            </a:r>
            <a:r>
              <a:rPr lang="zh-CN" altLang="en-US" sz="2800" b="1" dirty="0">
                <a:solidFill>
                  <a:srgbClr val="2722FA"/>
                </a:solidFill>
              </a:rPr>
              <a:t>自检！</a:t>
            </a:r>
            <a:r>
              <a:rPr lang="en-US" altLang="zh-CN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514350" marR="0" lvl="0" indent="-51435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722FA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两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722FA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探头都接 校准信号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AUTO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。两正方波？显示稳定？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方波纵向有点矮，</a:t>
            </a:r>
            <a:r>
              <a:rPr lang="zh-CN" altLang="en-US" sz="2400" dirty="0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手动转垂直旋钮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让波形高度近</a:t>
            </a:r>
            <a:r>
              <a:rPr lang="en-US" altLang="zh-CN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大格。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514350" lvl="0" indent="-514350" algn="l" eaLnBrk="1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b="1" dirty="0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Measure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设定自动测</a:t>
            </a:r>
            <a:r>
              <a:rPr lang="en-US" altLang="zh-CN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CH1/2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 频率、最大</a:t>
            </a:r>
            <a:r>
              <a:rPr lang="en-US" altLang="zh-CN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峰</a:t>
            </a:r>
            <a:r>
              <a:rPr lang="en-US" altLang="zh-CN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值、最小值。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A47D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体验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触发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与实时稳定，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AUTO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的局限性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Tigger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区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；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Menu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，看屏内菜单是不是“信源：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CH1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R="0" lvl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CH1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探头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脱开！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CH2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波形显示还稳定吗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？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R="0" lvl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按下</a:t>
            </a:r>
            <a:r>
              <a:rPr lang="en-US" altLang="zh-CN" sz="2400" b="1" dirty="0" err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AutoSet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CH2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波形能稳定么？！</a:t>
            </a:r>
            <a:r>
              <a:rPr lang="en-US" altLang="zh-CN" sz="2400" b="1" u="sng" dirty="0" err="1">
                <a:solidFill>
                  <a:srgbClr val="000000"/>
                </a:solidFill>
                <a:latin typeface="宋体" panose="02010600030101010101" pitchFamily="2" charset="-122"/>
              </a:rPr>
              <a:t>AUTOset</a:t>
            </a:r>
            <a:r>
              <a:rPr lang="zh-CN" altLang="en-US" sz="2400" b="1" u="sng" dirty="0">
                <a:solidFill>
                  <a:srgbClr val="000000"/>
                </a:solidFill>
                <a:latin typeface="宋体" panose="02010600030101010101" pitchFamily="2" charset="-122"/>
              </a:rPr>
              <a:t>非万能！</a:t>
            </a:r>
            <a:endParaRPr lang="en-US" altLang="zh-CN" sz="2400" b="1" u="sng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lvl="0" algn="l" eaLnBrk="1" hangingPunct="1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正确操作：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手动切换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Tigger-</a:t>
            </a:r>
            <a:r>
              <a:rPr lang="zh-CN" altLang="en-US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信源：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CH2</a:t>
            </a:r>
            <a:r>
              <a:rPr lang="zh-CN" altLang="en-US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再按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Tigger-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Level </a:t>
            </a:r>
            <a:r>
              <a:rPr lang="zh-CN" altLang="en-US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钮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   </a:t>
            </a:r>
            <a:r>
              <a:rPr lang="en-US" altLang="zh-CN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CH2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波形稳定了么？  再旋转</a:t>
            </a:r>
            <a:r>
              <a:rPr lang="zh-CN" altLang="en-US" sz="24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水平旋钮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拉开波形看到</a:t>
            </a:r>
            <a:r>
              <a:rPr lang="zh-CN" altLang="en-US" sz="2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方波！</a:t>
            </a:r>
            <a:endParaRPr lang="en-US" altLang="zh-CN" sz="24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lvl="0" indent="0" algn="l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sz="2800"/>
              <a:t>3. </a:t>
            </a:r>
            <a:r>
              <a:rPr lang="zh-CN" altLang="en-US" sz="2800"/>
              <a:t>自己体验通道设置对波形及读数的影响</a:t>
            </a:r>
            <a:endParaRPr lang="en-US" altLang="zh-CN" sz="2800"/>
          </a:p>
          <a:p>
            <a:pPr algn="l" eaLnBrk="1" hangingPunct="1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通道耦合（第</a:t>
            </a:r>
            <a:r>
              <a:rPr lang="en-US" altLang="zh-CN" sz="2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4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页、零电平标记、读数变化）；探头倍率</a:t>
            </a:r>
            <a:endParaRPr lang="en-US" altLang="zh-CN" sz="240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108397"/>
            <a:ext cx="6958730" cy="35555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86" y="3000196"/>
            <a:ext cx="6756673" cy="350851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673" y="2996952"/>
            <a:ext cx="5940152" cy="3508511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0C2F8093-1A2F-4650-A8FE-573A81C73E7B}"/>
              </a:ext>
            </a:extLst>
          </p:cNvPr>
          <p:cNvSpPr/>
          <p:nvPr/>
        </p:nvSpPr>
        <p:spPr>
          <a:xfrm>
            <a:off x="5436096" y="4221088"/>
            <a:ext cx="504056" cy="5040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2A88F9D-F659-472A-ADC0-0A8713B851BD}"/>
              </a:ext>
            </a:extLst>
          </p:cNvPr>
          <p:cNvSpPr/>
          <p:nvPr/>
        </p:nvSpPr>
        <p:spPr>
          <a:xfrm>
            <a:off x="6804248" y="4221088"/>
            <a:ext cx="576064" cy="504056"/>
          </a:xfrm>
          <a:prstGeom prst="ellipse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F3FEC92-1FF1-4D83-8B24-CE6D0C5C049F}"/>
              </a:ext>
            </a:extLst>
          </p:cNvPr>
          <p:cNvSpPr/>
          <p:nvPr/>
        </p:nvSpPr>
        <p:spPr>
          <a:xfrm>
            <a:off x="7311102" y="4942520"/>
            <a:ext cx="504056" cy="5040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CC3F75D-8D9A-4538-9160-C09F54550369}"/>
              </a:ext>
            </a:extLst>
          </p:cNvPr>
          <p:cNvSpPr/>
          <p:nvPr/>
        </p:nvSpPr>
        <p:spPr>
          <a:xfrm>
            <a:off x="5436096" y="3861048"/>
            <a:ext cx="432048" cy="2880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8" grpId="0" animBg="1"/>
      <p:bldP spid="8" grpId="1" animBg="1"/>
      <p:bldP spid="9" grpId="0" animBg="1"/>
      <p:bldP spid="9" grpId="1" animBg="1"/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58" y="1716509"/>
            <a:ext cx="8259936" cy="1957816"/>
          </a:xfrm>
          <a:prstGeom prst="rect">
            <a:avLst/>
          </a:prstGeom>
        </p:spPr>
      </p:pic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41300" y="1052737"/>
            <a:ext cx="8661400" cy="520188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609600" indent="-609600">
              <a:lnSpc>
                <a:spcPct val="120000"/>
              </a:lnSpc>
              <a:spcBef>
                <a:spcPts val="60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示波器</a:t>
            </a:r>
            <a:r>
              <a:rPr lang="zh-CN" altLang="en-US" sz="2800" b="1" dirty="0">
                <a:solidFill>
                  <a:srgbClr val="2722FA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检查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信源（产生波形）</a:t>
            </a:r>
            <a:endParaRPr lang="en-US" altLang="zh-CN" sz="28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609600" indent="-609600">
              <a:lnSpc>
                <a:spcPct val="120000"/>
              </a:lnSpc>
              <a:spcBef>
                <a:spcPts val="600"/>
              </a:spcBef>
              <a:buFontTx/>
              <a:buNone/>
            </a:pPr>
            <a:endParaRPr lang="en-US" altLang="zh-CN" sz="28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609600" indent="-609600">
              <a:lnSpc>
                <a:spcPct val="120000"/>
              </a:lnSpc>
              <a:spcBef>
                <a:spcPts val="600"/>
              </a:spcBef>
              <a:buFontTx/>
              <a:buNone/>
            </a:pPr>
            <a:endParaRPr lang="en-US" altLang="zh-CN" sz="28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609600" indent="-609600">
              <a:lnSpc>
                <a:spcPct val="120000"/>
              </a:lnSpc>
              <a:spcBef>
                <a:spcPts val="600"/>
              </a:spcBef>
              <a:buFontTx/>
              <a:buNone/>
            </a:pPr>
            <a:endParaRPr lang="en-US" altLang="zh-CN" sz="28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609600" indent="-609600">
              <a:lnSpc>
                <a:spcPct val="120000"/>
              </a:lnSpc>
              <a:spcBef>
                <a:spcPts val="600"/>
              </a:spcBef>
              <a:buFontTx/>
              <a:buNone/>
            </a:pPr>
            <a:endParaRPr lang="en-US" altLang="zh-CN" sz="28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609600" indent="-609600">
              <a:lnSpc>
                <a:spcPct val="120000"/>
              </a:lnSpc>
              <a:spcBef>
                <a:spcPts val="600"/>
              </a:spcBef>
              <a:buFontTx/>
              <a:buNone/>
            </a:pPr>
            <a:endParaRPr lang="en-US" altLang="zh-CN" sz="28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609600" indent="-609600">
              <a:lnSpc>
                <a:spcPct val="120000"/>
              </a:lnSpc>
              <a:spcBef>
                <a:spcPts val="600"/>
              </a:spcBef>
              <a:buFontTx/>
              <a:buNone/>
            </a:pPr>
            <a:endParaRPr lang="en-US" altLang="zh-CN" sz="28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301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115888"/>
            <a:ext cx="8304213" cy="72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algn="l"/>
            <a:r>
              <a:rPr lang="zh-CN" altLang="en-US" sz="4000" b="1" dirty="0">
                <a:solidFill>
                  <a:schemeClr val="tx1"/>
                </a:solidFill>
              </a:rPr>
              <a:t>仪器练习实验</a:t>
            </a:r>
            <a:endParaRPr lang="zh-CN" altLang="en-US" sz="32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19815" name="Freeform 7"/>
          <p:cNvSpPr/>
          <p:nvPr/>
        </p:nvSpPr>
        <p:spPr bwMode="auto">
          <a:xfrm rot="120000">
            <a:off x="3378556" y="3362871"/>
            <a:ext cx="3876078" cy="944563"/>
          </a:xfrm>
          <a:custGeom>
            <a:avLst/>
            <a:gdLst>
              <a:gd name="T0" fmla="*/ 2147483647 w 4295"/>
              <a:gd name="T1" fmla="*/ 2147483647 h 773"/>
              <a:gd name="T2" fmla="*/ 2147483647 w 4295"/>
              <a:gd name="T3" fmla="*/ 2147483647 h 773"/>
              <a:gd name="T4" fmla="*/ 2147483647 w 4295"/>
              <a:gd name="T5" fmla="*/ 0 h 77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95" h="773">
                <a:moveTo>
                  <a:pt x="126" y="203"/>
                </a:moveTo>
                <a:cubicBezTo>
                  <a:pt x="63" y="488"/>
                  <a:pt x="0" y="773"/>
                  <a:pt x="695" y="739"/>
                </a:cubicBezTo>
                <a:cubicBezTo>
                  <a:pt x="1390" y="705"/>
                  <a:pt x="3699" y="122"/>
                  <a:pt x="4295" y="0"/>
                </a:cubicBezTo>
              </a:path>
            </a:pathLst>
          </a:custGeom>
          <a:noFill/>
          <a:ln w="76200" cap="flat" cmpd="sng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9816" name="Freeform 8"/>
          <p:cNvSpPr/>
          <p:nvPr/>
        </p:nvSpPr>
        <p:spPr bwMode="auto">
          <a:xfrm rot="21402824">
            <a:off x="4408724" y="3835452"/>
            <a:ext cx="1511300" cy="585787"/>
          </a:xfrm>
          <a:custGeom>
            <a:avLst/>
            <a:gdLst>
              <a:gd name="T0" fmla="*/ 0 w 952"/>
              <a:gd name="T1" fmla="*/ 2147483647 h 369"/>
              <a:gd name="T2" fmla="*/ 2147483647 w 952"/>
              <a:gd name="T3" fmla="*/ 2147483647 h 369"/>
              <a:gd name="T4" fmla="*/ 2147483647 w 952"/>
              <a:gd name="T5" fmla="*/ 0 h 36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52" h="369">
                <a:moveTo>
                  <a:pt x="0" y="201"/>
                </a:moveTo>
                <a:cubicBezTo>
                  <a:pt x="173" y="285"/>
                  <a:pt x="346" y="369"/>
                  <a:pt x="505" y="336"/>
                </a:cubicBezTo>
                <a:cubicBezTo>
                  <a:pt x="664" y="303"/>
                  <a:pt x="808" y="151"/>
                  <a:pt x="952" y="0"/>
                </a:cubicBezTo>
              </a:path>
            </a:pathLst>
          </a:custGeom>
          <a:noFill/>
          <a:ln w="50800" cap="flat" cmpd="sng">
            <a:solidFill>
              <a:srgbClr val="CD0B0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9817" name="Line 9"/>
          <p:cNvSpPr>
            <a:spLocks noChangeShapeType="1"/>
          </p:cNvSpPr>
          <p:nvPr/>
        </p:nvSpPr>
        <p:spPr bwMode="auto">
          <a:xfrm rot="20982824">
            <a:off x="5246055" y="4226561"/>
            <a:ext cx="332694" cy="148577"/>
          </a:xfrm>
          <a:prstGeom prst="line">
            <a:avLst/>
          </a:prstGeom>
          <a:noFill/>
          <a:ln w="82550">
            <a:solidFill>
              <a:srgbClr val="CD0B0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9818" name="Line 10"/>
          <p:cNvSpPr>
            <a:spLocks noChangeShapeType="1"/>
          </p:cNvSpPr>
          <p:nvPr/>
        </p:nvSpPr>
        <p:spPr bwMode="auto">
          <a:xfrm flipV="1">
            <a:off x="5004016" y="3910018"/>
            <a:ext cx="87431" cy="241623"/>
          </a:xfrm>
          <a:prstGeom prst="line">
            <a:avLst/>
          </a:prstGeom>
          <a:noFill/>
          <a:ln w="825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9812" name="AutoShape 4"/>
          <p:cNvSpPr>
            <a:spLocks noChangeArrowheads="1"/>
          </p:cNvSpPr>
          <p:nvPr/>
        </p:nvSpPr>
        <p:spPr bwMode="auto">
          <a:xfrm>
            <a:off x="5940122" y="3910018"/>
            <a:ext cx="3028830" cy="2111270"/>
          </a:xfrm>
          <a:prstGeom prst="wedgeRoundRectCallout">
            <a:avLst>
              <a:gd name="adj1" fmla="val -59523"/>
              <a:gd name="adj2" fmla="val -33309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170" tIns="46990" rIns="90170" bIns="469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</a:rPr>
              <a:t>输出线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对接：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黑夹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--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黑夹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(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共地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</a:rPr>
              <a:t>红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夹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</a:rPr>
              <a:t>--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</a:rPr>
              <a:t>探头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</a:rPr>
              <a:t>(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</a:rPr>
              <a:t>信号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用短线连接，不要直接勾夹！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115616" y="2474501"/>
            <a:ext cx="1020862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2722FA"/>
                </a:solidFill>
              </a:rPr>
              <a:t>勿忘</a:t>
            </a:r>
            <a:endParaRPr lang="en-US" altLang="zh-CN" b="1" dirty="0">
              <a:solidFill>
                <a:srgbClr val="2722FA"/>
              </a:solidFill>
            </a:endParaRPr>
          </a:p>
          <a:p>
            <a:r>
              <a:rPr lang="en-US" altLang="zh-CN" b="1" dirty="0">
                <a:solidFill>
                  <a:srgbClr val="2722FA"/>
                </a:solidFill>
              </a:rPr>
              <a:t>High Z</a:t>
            </a:r>
            <a:endParaRPr lang="zh-CN" altLang="en-US" b="1" dirty="0">
              <a:solidFill>
                <a:srgbClr val="2722F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5" grpId="0" animBg="1"/>
      <p:bldP spid="119816" grpId="0" animBg="1"/>
      <p:bldP spid="119817" grpId="0" animBg="1"/>
      <p:bldP spid="119818" grpId="0" animBg="1"/>
      <p:bldP spid="119812" grpId="0" bldLvl="0" animBg="1" autoUpdateAnimBg="0"/>
      <p:bldP spid="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88" y="4437112"/>
            <a:ext cx="4634452" cy="1962150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21299" y="246063"/>
            <a:ext cx="8817428" cy="620712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l"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正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方波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操作套路</a:t>
            </a:r>
            <a:r>
              <a:rPr lang="zh-CN" altLang="en-US" sz="2000" b="1">
                <a:latin typeface="Times New Roman" panose="02020603050405020304" pitchFamily="18" charset="0"/>
              </a:rPr>
              <a:t>（后面实验也会用到）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3" name="组合 55"/>
          <p:cNvGrpSpPr/>
          <p:nvPr/>
        </p:nvGrpSpPr>
        <p:grpSpPr bwMode="auto">
          <a:xfrm>
            <a:off x="5245668" y="1903328"/>
            <a:ext cx="3777486" cy="1458787"/>
            <a:chOff x="57150" y="-125287"/>
            <a:chExt cx="3739327" cy="1458787"/>
          </a:xfrm>
        </p:grpSpPr>
        <p:grpSp>
          <p:nvGrpSpPr>
            <p:cNvPr id="25" name="Group 26"/>
            <p:cNvGrpSpPr/>
            <p:nvPr/>
          </p:nvGrpSpPr>
          <p:grpSpPr bwMode="auto">
            <a:xfrm>
              <a:off x="372141" y="-125287"/>
              <a:ext cx="3180684" cy="1458787"/>
              <a:chOff x="-76" y="-115"/>
              <a:chExt cx="2896" cy="1339"/>
            </a:xfrm>
          </p:grpSpPr>
          <p:sp>
            <p:nvSpPr>
              <p:cNvPr id="35" name="Line 27"/>
              <p:cNvSpPr>
                <a:spLocks noChangeShapeType="1"/>
              </p:cNvSpPr>
              <p:nvPr/>
            </p:nvSpPr>
            <p:spPr bwMode="auto">
              <a:xfrm>
                <a:off x="225" y="960"/>
                <a:ext cx="2595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6" name="Line 28"/>
              <p:cNvSpPr>
                <a:spLocks noChangeShapeType="1"/>
              </p:cNvSpPr>
              <p:nvPr/>
            </p:nvSpPr>
            <p:spPr bwMode="auto">
              <a:xfrm>
                <a:off x="233" y="165"/>
                <a:ext cx="10" cy="105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7" name="Text Box 29"/>
              <p:cNvSpPr txBox="1">
                <a:spLocks noChangeArrowheads="1"/>
              </p:cNvSpPr>
              <p:nvPr/>
            </p:nvSpPr>
            <p:spPr bwMode="auto">
              <a:xfrm>
                <a:off x="-75" y="654"/>
                <a:ext cx="361" cy="4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0v</a:t>
                </a:r>
                <a:endParaRPr kumimoji="0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" name="Text Box 30"/>
              <p:cNvSpPr txBox="1">
                <a:spLocks noChangeArrowheads="1"/>
              </p:cNvSpPr>
              <p:nvPr/>
            </p:nvSpPr>
            <p:spPr bwMode="auto">
              <a:xfrm>
                <a:off x="2595" y="585"/>
                <a:ext cx="180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t</a:t>
                </a:r>
                <a:endParaRPr kumimoji="0" lang="en-US" altLang="zh-CN" sz="4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" name="Text Box 31"/>
              <p:cNvSpPr txBox="1">
                <a:spLocks noChangeArrowheads="1"/>
              </p:cNvSpPr>
              <p:nvPr/>
            </p:nvSpPr>
            <p:spPr bwMode="auto">
              <a:xfrm>
                <a:off x="-76" y="-115"/>
                <a:ext cx="303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v</a:t>
                </a:r>
                <a:r>
                  <a:rPr kumimoji="0" lang="en-US" altLang="zh-CN" sz="16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  <a:endPara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7" name="Text Box 33"/>
            <p:cNvSpPr txBox="1">
              <a:spLocks noChangeArrowheads="1"/>
            </p:cNvSpPr>
            <p:nvPr/>
          </p:nvSpPr>
          <p:spPr bwMode="auto">
            <a:xfrm>
              <a:off x="57150" y="293688"/>
              <a:ext cx="720725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1.5v</a:t>
              </a:r>
            </a:p>
          </p:txBody>
        </p:sp>
        <p:sp>
          <p:nvSpPr>
            <p:cNvPr id="28" name="Line 34"/>
            <p:cNvSpPr>
              <a:spLocks noChangeShapeType="1"/>
            </p:cNvSpPr>
            <p:nvPr/>
          </p:nvSpPr>
          <p:spPr bwMode="auto">
            <a:xfrm flipV="1">
              <a:off x="737968" y="458864"/>
              <a:ext cx="795337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Text Box 46"/>
            <p:cNvSpPr txBox="1">
              <a:spLocks noChangeArrowheads="1"/>
            </p:cNvSpPr>
            <p:nvPr/>
          </p:nvSpPr>
          <p:spPr bwMode="auto">
            <a:xfrm>
              <a:off x="2624902" y="92542"/>
              <a:ext cx="117157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f=1kHz</a:t>
              </a:r>
            </a:p>
          </p:txBody>
        </p:sp>
        <p:sp>
          <p:nvSpPr>
            <p:cNvPr id="34" name="Text Box 48"/>
            <p:cNvSpPr txBox="1">
              <a:spLocks noChangeArrowheads="1"/>
            </p:cNvSpPr>
            <p:nvPr/>
          </p:nvSpPr>
          <p:spPr bwMode="auto">
            <a:xfrm>
              <a:off x="656592" y="50800"/>
              <a:ext cx="457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(v)</a:t>
              </a: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5820468" y="2469761"/>
            <a:ext cx="2334591" cy="595653"/>
            <a:chOff x="971600" y="5241600"/>
            <a:chExt cx="2334591" cy="595653"/>
          </a:xfrm>
        </p:grpSpPr>
        <p:cxnSp>
          <p:nvCxnSpPr>
            <p:cNvPr id="48" name="直接连接符 47"/>
            <p:cNvCxnSpPr/>
            <p:nvPr/>
          </p:nvCxnSpPr>
          <p:spPr>
            <a:xfrm>
              <a:off x="971600" y="5832000"/>
              <a:ext cx="598991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V="1">
              <a:off x="1555200" y="5241600"/>
              <a:ext cx="0" cy="59400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1548000" y="5256000"/>
              <a:ext cx="598991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V="1">
              <a:off x="2142000" y="5241772"/>
              <a:ext cx="0" cy="59400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>
              <a:off x="2131200" y="5837253"/>
              <a:ext cx="598991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V="1">
              <a:off x="2714400" y="5241600"/>
              <a:ext cx="0" cy="59400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2707200" y="5256000"/>
              <a:ext cx="598991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矩形 31"/>
          <p:cNvSpPr/>
          <p:nvPr/>
        </p:nvSpPr>
        <p:spPr>
          <a:xfrm>
            <a:off x="5906712" y="1343465"/>
            <a:ext cx="2392001" cy="461665"/>
          </a:xfrm>
          <a:prstGeom prst="rect">
            <a:avLst/>
          </a:prstGeom>
          <a:solidFill>
            <a:srgbClr val="FFFFCC"/>
          </a:solidFill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全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正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电压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2400">
                <a:latin typeface="黑体" panose="02010609060101010101" pitchFamily="2" charset="-122"/>
                <a:ea typeface="黑体" panose="02010609060101010101" pitchFamily="2" charset="-122"/>
              </a:rPr>
              <a:t>方波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4888428"/>
            <a:ext cx="244407" cy="325876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634424" y="3712534"/>
            <a:ext cx="7892951" cy="461665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波形就是数据。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样子似乎没变化，但性质和数据全变！！</a:t>
            </a: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动作按钮: 帮助 1">
            <a:hlinkClick r:id="" action="ppaction://noaction" highlightClick="1"/>
          </p:cNvPr>
          <p:cNvSpPr/>
          <p:nvPr/>
        </p:nvSpPr>
        <p:spPr>
          <a:xfrm>
            <a:off x="5548551" y="4269062"/>
            <a:ext cx="2606508" cy="1968250"/>
          </a:xfrm>
          <a:prstGeom prst="actionButtonHel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highlight>
                  <a:srgbClr val="FFFF00"/>
                </a:highlight>
              </a:rPr>
              <a:t>=&gt; </a:t>
            </a:r>
            <a:r>
              <a:rPr lang="zh-CN" altLang="en-US" sz="2000" b="1" dirty="0">
                <a:solidFill>
                  <a:srgbClr val="0000FF"/>
                </a:solidFill>
                <a:highlight>
                  <a:srgbClr val="FFFF00"/>
                </a:highlight>
              </a:rPr>
              <a:t>一套操作：</a:t>
            </a:r>
            <a:endParaRPr lang="en-US" altLang="zh-CN" sz="20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00FF"/>
                </a:solidFill>
              </a:rPr>
              <a:t>怎么调出来？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00FF"/>
                </a:solidFill>
              </a:rPr>
              <a:t>怎么看出来？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00FF"/>
                </a:solidFill>
              </a:rPr>
              <a:t>怎么记录波形？</a:t>
            </a:r>
          </a:p>
        </p:txBody>
      </p:sp>
      <p:sp>
        <p:nvSpPr>
          <p:cNvPr id="31" name="椭圆 30"/>
          <p:cNvSpPr/>
          <p:nvPr/>
        </p:nvSpPr>
        <p:spPr>
          <a:xfrm>
            <a:off x="383653" y="4799338"/>
            <a:ext cx="576064" cy="504056"/>
          </a:xfrm>
          <a:prstGeom prst="ellipse">
            <a:avLst/>
          </a:prstGeom>
          <a:noFill/>
          <a:ln w="349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49" y="1259833"/>
            <a:ext cx="4634452" cy="1962150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799" y="2503012"/>
            <a:ext cx="244407" cy="325876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328970" y="2364638"/>
            <a:ext cx="576064" cy="504056"/>
          </a:xfrm>
          <a:prstGeom prst="ellipse">
            <a:avLst/>
          </a:prstGeom>
          <a:noFill/>
          <a:ln w="349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0" grpId="0" animBg="1"/>
      <p:bldP spid="2" grpId="0" animBg="1"/>
      <p:bldP spid="31" grpId="0" animBg="1"/>
      <p:bldP spid="31" grpId="1" animBg="1"/>
      <p:bldP spid="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47" y="1196752"/>
            <a:ext cx="8462505" cy="4896544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21299" y="246063"/>
            <a:ext cx="8817428" cy="620712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l"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基本操作边看边练</a:t>
            </a:r>
            <a:r>
              <a:rPr lang="en-US" altLang="zh-CN" sz="36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--</a:t>
            </a:r>
            <a:r>
              <a:rPr lang="zh-CN" altLang="en-US" sz="36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仪器官方资料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0449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绪论</a:t>
            </a:r>
          </a:p>
        </p:txBody>
      </p:sp>
      <p:sp>
        <p:nvSpPr>
          <p:cNvPr id="6147" name="Rectangle 4"/>
          <p:cNvSpPr>
            <a:spLocks noChangeArrowheads="1"/>
          </p:cNvSpPr>
          <p:nvPr/>
        </p:nvSpPr>
        <p:spPr bwMode="auto">
          <a:xfrm>
            <a:off x="1476375" y="1412875"/>
            <a:ext cx="6553200" cy="434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rgbClr val="FF0000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Symbol" panose="05050102010706020507" pitchFamily="18" charset="2"/>
              </a:rPr>
              <a:t>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课程规则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rgbClr val="FF0000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  <a:sym typeface="Symbol" panose="05050102010706020507" pitchFamily="18" charset="2"/>
              </a:rPr>
              <a:t>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常用器件的识别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969696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rgbClr val="FF0000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722F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  <a:sym typeface="Symbol" panose="05050102010706020507" pitchFamily="18" charset="2"/>
              </a:rPr>
              <a:t></a:t>
            </a:r>
            <a:r>
              <a:rPr kumimoji="1" lang="zh-CN" altLang="en-US" sz="3200" dirty="0">
                <a:solidFill>
                  <a:srgbClr val="969696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常用仪器的使用</a:t>
            </a:r>
          </a:p>
          <a:p>
            <a:pPr lvl="0" algn="l">
              <a:lnSpc>
                <a:spcPct val="120000"/>
              </a:lnSpc>
              <a:spcBef>
                <a:spcPts val="1200"/>
              </a:spcBef>
              <a:buClr>
                <a:srgbClr val="FF0000"/>
              </a:buClr>
              <a:buSzPct val="110000"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722FA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Symbol" panose="05050102010706020507" pitchFamily="18" charset="2"/>
              </a:rPr>
              <a:t>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实验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1  </a:t>
            </a:r>
            <a:r>
              <a:rPr lang="zh-CN" altLang="zh-CN" sz="3200" b="1" dirty="0"/>
              <a:t>基本运算电路</a:t>
            </a:r>
            <a:endParaRPr lang="en-US" altLang="zh-CN" sz="3200" b="1" dirty="0"/>
          </a:p>
          <a:p>
            <a:pPr lvl="2" algn="l">
              <a:lnSpc>
                <a:spcPct val="150000"/>
              </a:lnSpc>
              <a:defRPr/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预讲，结合任务练习仪器</a:t>
            </a:r>
          </a:p>
          <a:p>
            <a:pPr lvl="0" algn="l">
              <a:lnSpc>
                <a:spcPct val="120000"/>
              </a:lnSpc>
              <a:spcBef>
                <a:spcPts val="1200"/>
              </a:spcBef>
              <a:buClr>
                <a:srgbClr val="FF0000"/>
              </a:buClr>
              <a:buSzPct val="110000"/>
            </a:pP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00051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Line 4"/>
          <p:cNvSpPr>
            <a:spLocks noChangeShapeType="1"/>
          </p:cNvSpPr>
          <p:nvPr/>
        </p:nvSpPr>
        <p:spPr bwMode="auto">
          <a:xfrm>
            <a:off x="611560" y="1340768"/>
            <a:ext cx="7696200" cy="0"/>
          </a:xfrm>
          <a:prstGeom prst="line">
            <a:avLst/>
          </a:prstGeom>
          <a:noFill/>
          <a:ln w="88900" cap="sq" cmpd="tri">
            <a:solidFill>
              <a:srgbClr val="99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358775" y="368301"/>
            <a:ext cx="8435975" cy="9724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lvl="1" algn="l" eaLnBrk="1" hangingPunct="1">
              <a:lnSpc>
                <a:spcPct val="120000"/>
              </a:lnSpc>
              <a:spcBef>
                <a:spcPts val="600"/>
              </a:spcBef>
              <a:buClr>
                <a:srgbClr val="333399"/>
              </a:buClr>
              <a:defRPr/>
            </a:pPr>
            <a:r>
              <a:rPr lang="zh-CN" altLang="zh-CN" sz="3600"/>
              <a:t>实验</a:t>
            </a:r>
            <a:r>
              <a:rPr lang="en-US" altLang="zh-CN" sz="3600"/>
              <a:t>1.</a:t>
            </a:r>
            <a:r>
              <a:rPr lang="zh-CN" altLang="zh-CN" sz="3600"/>
              <a:t>电子仪器使用与基本运算电路</a:t>
            </a:r>
            <a:endParaRPr lang="zh-CN" altLang="zh-CN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98450" y="1484784"/>
            <a:ext cx="8496300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None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zh-CN" altLang="zh-CN" sz="2400">
                <a:latin typeface="+mn-ea"/>
              </a:rPr>
              <a:t>基本实验要求：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电压跟随器及电路负载特性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研究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（教材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3.6.2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实验任务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．反相比例加法电路运算关系研究（教材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3.6.2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实验任务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．积分器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研究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输入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1KHz,1V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幅值</a:t>
            </a:r>
            <a:r>
              <a:rPr lang="zh-CN" altLang="zh-CN" sz="24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方波，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观测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Vi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Vo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波形。（教材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3.6.2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实验任务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zh-CN" altLang="zh-CN" sz="2400">
                <a:latin typeface="+mn-ea"/>
              </a:rPr>
              <a:t>拓展实验要求：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设计并实现一高增益电压放大器，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具体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要求：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输入信号为正弦电压信号，峰峰值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V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ipp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=100mV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，频率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=10kHz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，输出信号峰峰值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V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opp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=24V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，且与输入信号反相。电路输入阻抗大于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兆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欧姆，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测出的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输出阻抗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应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小于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100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欧。</a:t>
            </a:r>
            <a:endParaRPr lang="zh-CN" altLang="zh-CN" sz="3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95FAF9-5FF0-4966-B620-6B2870C0B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880" y="1124744"/>
            <a:ext cx="4824536" cy="5303511"/>
          </a:xfrm>
        </p:spPr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b="0"/>
              <a:t>教材原理图中，运放常画成</a:t>
            </a:r>
            <a:r>
              <a:rPr lang="zh-CN" altLang="en-US" b="0">
                <a:solidFill>
                  <a:srgbClr val="0000FF"/>
                </a:solidFill>
              </a:rPr>
              <a:t>原理示意</a:t>
            </a:r>
            <a:r>
              <a:rPr lang="zh-CN" altLang="en-US" b="0"/>
              <a:t>形式，而</a:t>
            </a:r>
            <a:r>
              <a:rPr lang="zh-CN" altLang="en-US" b="0">
                <a:solidFill>
                  <a:srgbClr val="C00000"/>
                </a:solidFill>
              </a:rPr>
              <a:t>实际搭建</a:t>
            </a:r>
            <a:r>
              <a:rPr lang="zh-CN" altLang="en-US" b="0"/>
              <a:t>使用具体运放芯片。</a:t>
            </a:r>
            <a:endParaRPr lang="en-US" altLang="zh-CN" b="0"/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b="0"/>
              <a:t>务必要注意原理图中</a:t>
            </a:r>
            <a:r>
              <a:rPr lang="zh-CN" altLang="en-US" b="0">
                <a:solidFill>
                  <a:srgbClr val="0000FF"/>
                </a:solidFill>
              </a:rPr>
              <a:t>缺省</a:t>
            </a:r>
            <a:r>
              <a:rPr lang="zh-CN" altLang="en-US" b="0"/>
              <a:t>的东西。比如芯片工作电源、芯片中其他部分</a:t>
            </a:r>
            <a:r>
              <a:rPr lang="en-US" altLang="zh-CN" b="0"/>
              <a:t>…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理解电路原理，</a:t>
            </a:r>
            <a:r>
              <a:rPr lang="zh-CN" altLang="en-US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设计自己的电路装配图</a:t>
            </a: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，不是照原理图施工。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E8D4FA87-6E08-431F-828C-609DBA702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85728"/>
            <a:ext cx="68408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200">
                <a:solidFill>
                  <a:srgbClr val="0033CC"/>
                </a:solidFill>
                <a:ea typeface="黑体" panose="02010609060101010101" pitchFamily="2" charset="-122"/>
              </a:rPr>
              <a:t>组装</a:t>
            </a:r>
            <a:r>
              <a:rPr lang="zh-CN" altLang="en-US" sz="3200" dirty="0">
                <a:solidFill>
                  <a:srgbClr val="0033CC"/>
                </a:solidFill>
                <a:ea typeface="黑体" panose="02010609060101010101" pitchFamily="2" charset="-122"/>
              </a:rPr>
              <a:t>电路注意</a:t>
            </a:r>
            <a:endParaRPr lang="zh-CN" altLang="en-US" sz="2000" dirty="0">
              <a:ea typeface="楷体" panose="02010609060101010101" pitchFamily="49" charset="-122"/>
            </a:endParaRPr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B82F824B-2E8C-4B1C-BB9A-4658C3BA3B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375" y="928670"/>
            <a:ext cx="35814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9" name="Picture 15">
            <a:extLst>
              <a:ext uri="{FF2B5EF4-FFF2-40B4-BE49-F238E27FC236}">
                <a16:creationId xmlns:a16="http://schemas.microsoft.com/office/drawing/2014/main" id="{4D422184-95CA-40E6-8DF9-8BBAEC319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576" y="1700808"/>
            <a:ext cx="2376266" cy="2186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04329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E918B01C-4E54-4D69-BE1B-DE0BFD9EA4D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866310" y="1789614"/>
          <a:ext cx="4824413" cy="368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BMP 图像" r:id="rId3" imgW="3952381" imgH="3019048" progId="Paint.Picture">
                  <p:embed/>
                </p:oleObj>
              </mc:Choice>
              <mc:Fallback>
                <p:oleObj name="BMP 图像" r:id="rId3" imgW="3952381" imgH="3019048" progId="Paint.Picture">
                  <p:embed/>
                  <p:pic>
                    <p:nvPicPr>
                      <p:cNvPr id="13" name="Object 4">
                        <a:extLst>
                          <a:ext uri="{FF2B5EF4-FFF2-40B4-BE49-F238E27FC236}">
                            <a16:creationId xmlns:a16="http://schemas.microsoft.com/office/drawing/2014/main" id="{E918B01C-4E54-4D69-BE1B-DE0BFD9EA4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6310" y="1789614"/>
                        <a:ext cx="4824413" cy="368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179388" y="285728"/>
            <a:ext cx="68408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200">
                <a:solidFill>
                  <a:srgbClr val="0033CC"/>
                </a:solidFill>
                <a:ea typeface="黑体" panose="02010609060101010101" pitchFamily="2" charset="-122"/>
              </a:rPr>
              <a:t>组装</a:t>
            </a:r>
            <a:r>
              <a:rPr lang="zh-CN" altLang="en-US" sz="3200" dirty="0">
                <a:solidFill>
                  <a:srgbClr val="0033CC"/>
                </a:solidFill>
                <a:ea typeface="黑体" panose="02010609060101010101" pitchFamily="2" charset="-122"/>
              </a:rPr>
              <a:t>电路注意</a:t>
            </a:r>
            <a:endParaRPr lang="zh-CN" altLang="en-US" sz="2000" dirty="0">
              <a:ea typeface="楷体" panose="02010609060101010101" pitchFamily="49" charset="-122"/>
            </a:endParaRPr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431800" y="1160462"/>
            <a:ext cx="3276104" cy="4619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本实验核心器件</a:t>
            </a:r>
            <a:r>
              <a:rPr lang="en-US" altLang="zh-CN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NE5532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（高速低噪声双运算放大器） ，引脚图见教材。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0" algn="l"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内部</a:t>
            </a:r>
            <a:r>
              <a:rPr lang="zh-CN" altLang="en-US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双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运放，共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正负电源端</a:t>
            </a:r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！</a:t>
            </a:r>
            <a:r>
              <a:rPr lang="zh-CN" altLang="en-US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各自的信号端</a:t>
            </a:r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+</a:t>
            </a:r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OUT</a:t>
            </a:r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zh-CN" altLang="en-US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不要交叉用</a:t>
            </a:r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外围电阻用万用表先测再插板。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485" name="Line 4"/>
          <p:cNvSpPr>
            <a:spLocks noChangeShapeType="1"/>
          </p:cNvSpPr>
          <p:nvPr/>
        </p:nvSpPr>
        <p:spPr bwMode="auto">
          <a:xfrm>
            <a:off x="333375" y="928670"/>
            <a:ext cx="35814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04" name="Rectangle 70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val 6"/>
          <p:cNvSpPr>
            <a:spLocks noChangeArrowheads="1"/>
          </p:cNvSpPr>
          <p:nvPr/>
        </p:nvSpPr>
        <p:spPr bwMode="auto">
          <a:xfrm>
            <a:off x="3914775" y="4509120"/>
            <a:ext cx="1233290" cy="676275"/>
          </a:xfrm>
          <a:prstGeom prst="ellipse">
            <a:avLst/>
          </a:prstGeom>
          <a:noFill/>
          <a:ln w="444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" name="Oval 6"/>
          <p:cNvSpPr>
            <a:spLocks noChangeArrowheads="1"/>
          </p:cNvSpPr>
          <p:nvPr/>
        </p:nvSpPr>
        <p:spPr bwMode="auto">
          <a:xfrm>
            <a:off x="7308303" y="2132856"/>
            <a:ext cx="1382419" cy="844549"/>
          </a:xfrm>
          <a:prstGeom prst="ellipse">
            <a:avLst/>
          </a:prstGeom>
          <a:noFill/>
          <a:ln w="444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3"/>
          <p:cNvGraphicFramePr>
            <a:graphicFrameLocks noChangeAspect="1"/>
          </p:cNvGraphicFramePr>
          <p:nvPr/>
        </p:nvGraphicFramePr>
        <p:xfrm>
          <a:off x="395288" y="1125538"/>
          <a:ext cx="8675687" cy="519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图片" r:id="rId4" imgW="4849495" imgH="2290445" progId="Word.Picture.8">
                  <p:embed/>
                </p:oleObj>
              </mc:Choice>
              <mc:Fallback>
                <p:oleObj name="图片" r:id="rId4" imgW="4849495" imgH="2290445" progId="Word.Picture.8">
                  <p:embed/>
                  <p:pic>
                    <p:nvPicPr>
                      <p:cNvPr id="819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125538"/>
                        <a:ext cx="8675687" cy="5191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8C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746852" y="1109526"/>
            <a:ext cx="4968552" cy="2719271"/>
          </a:xfrm>
          <a:prstGeom prst="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芯片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跨置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722F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平下压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，数清管脚；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不要挪占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芯片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留空脚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的插孔组！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0" algn="l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布局合理，贴板布线，横平竖直。</a:t>
            </a:r>
            <a:endParaRPr kumimoji="1" lang="en-US" altLang="zh-CN" sz="2400" b="1" dirty="0">
              <a:latin typeface="宋体" panose="02010600030101010101" pitchFamily="2" charset="-122"/>
            </a:endParaRP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 </a:t>
            </a:r>
            <a:r>
              <a:rPr kumimoji="1"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面包板公共条先搞清楚再用。</a:t>
            </a:r>
            <a:endParaRPr kumimoji="1" lang="en-US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0" algn="l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插线剥头、容阻插脚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剪短后）保证裸露</a:t>
            </a:r>
            <a:r>
              <a:rPr kumimoji="1" lang="zh-CN" altLang="en-US" sz="2400" b="1" noProof="0" dirty="0">
                <a:solidFill>
                  <a:srgbClr val="0070C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约</a:t>
            </a:r>
            <a:r>
              <a:rPr kumimoji="1" lang="en-US" altLang="zh-CN" sz="2400" b="1" noProof="0" dirty="0">
                <a:solidFill>
                  <a:srgbClr val="0070C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8mm</a:t>
            </a:r>
            <a:r>
              <a:rPr kumimoji="1" lang="zh-CN" altLang="en-US" sz="2400" b="1" noProof="0" dirty="0">
                <a:solidFill>
                  <a:srgbClr val="0070C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插到底接牢靠；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5400" name="Picture 40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36724" y="4528503"/>
            <a:ext cx="8950650" cy="142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5482" name="Line 10"/>
          <p:cNvSpPr>
            <a:spLocks noChangeShapeType="1"/>
          </p:cNvSpPr>
          <p:nvPr/>
        </p:nvSpPr>
        <p:spPr bwMode="auto">
          <a:xfrm>
            <a:off x="173981" y="4754722"/>
            <a:ext cx="863600" cy="13684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483" name="Line 11"/>
          <p:cNvSpPr>
            <a:spLocks noChangeShapeType="1"/>
          </p:cNvSpPr>
          <p:nvPr/>
        </p:nvSpPr>
        <p:spPr bwMode="auto">
          <a:xfrm flipH="1">
            <a:off x="137468" y="4754722"/>
            <a:ext cx="900113" cy="133191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10"/>
          <p:cNvSpPr>
            <a:spLocks noChangeShapeType="1"/>
          </p:cNvSpPr>
          <p:nvPr/>
        </p:nvSpPr>
        <p:spPr bwMode="auto">
          <a:xfrm>
            <a:off x="1578993" y="4736465"/>
            <a:ext cx="863600" cy="13684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Line 11"/>
          <p:cNvSpPr>
            <a:spLocks noChangeShapeType="1"/>
          </p:cNvSpPr>
          <p:nvPr/>
        </p:nvSpPr>
        <p:spPr bwMode="auto">
          <a:xfrm flipH="1">
            <a:off x="1542480" y="4736465"/>
            <a:ext cx="900113" cy="133191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Line 10"/>
          <p:cNvSpPr>
            <a:spLocks noChangeShapeType="1"/>
          </p:cNvSpPr>
          <p:nvPr/>
        </p:nvSpPr>
        <p:spPr bwMode="auto">
          <a:xfrm>
            <a:off x="7535651" y="5544957"/>
            <a:ext cx="450850" cy="5763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Line 11"/>
          <p:cNvSpPr>
            <a:spLocks noChangeShapeType="1"/>
          </p:cNvSpPr>
          <p:nvPr/>
        </p:nvSpPr>
        <p:spPr bwMode="auto">
          <a:xfrm flipH="1">
            <a:off x="5382890" y="4789382"/>
            <a:ext cx="900113" cy="133191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Line 11"/>
          <p:cNvSpPr>
            <a:spLocks noChangeShapeType="1"/>
          </p:cNvSpPr>
          <p:nvPr/>
        </p:nvSpPr>
        <p:spPr bwMode="auto">
          <a:xfrm flipH="1">
            <a:off x="7986501" y="4754721"/>
            <a:ext cx="900113" cy="133191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4932040" y="5544957"/>
            <a:ext cx="450850" cy="5763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" name="直接箭头连接符 2"/>
          <p:cNvCxnSpPr/>
          <p:nvPr/>
        </p:nvCxnSpPr>
        <p:spPr bwMode="auto">
          <a:xfrm>
            <a:off x="3266331" y="4653136"/>
            <a:ext cx="9525" cy="360040"/>
          </a:xfrm>
          <a:prstGeom prst="straightConnector1">
            <a:avLst/>
          </a:prstGeom>
          <a:solidFill>
            <a:srgbClr val="CCFF99"/>
          </a:solidFill>
          <a:ln w="7302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2534233" y="5430415"/>
            <a:ext cx="1656184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用力平压</a:t>
            </a:r>
          </a:p>
        </p:txBody>
      </p:sp>
      <p:cxnSp>
        <p:nvCxnSpPr>
          <p:cNvPr id="7" name="直接连接符 6"/>
          <p:cNvCxnSpPr/>
          <p:nvPr/>
        </p:nvCxnSpPr>
        <p:spPr bwMode="auto">
          <a:xfrm flipV="1">
            <a:off x="4190417" y="5420678"/>
            <a:ext cx="4896957" cy="96554"/>
          </a:xfrm>
          <a:prstGeom prst="line">
            <a:avLst/>
          </a:prstGeom>
          <a:solidFill>
            <a:srgbClr val="CCFF99"/>
          </a:solidFill>
          <a:ln w="476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1" name="Line 4"/>
          <p:cNvSpPr>
            <a:spLocks noChangeShapeType="1"/>
          </p:cNvSpPr>
          <p:nvPr/>
        </p:nvSpPr>
        <p:spPr bwMode="auto">
          <a:xfrm>
            <a:off x="333375" y="836712"/>
            <a:ext cx="35814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120650" y="95250"/>
            <a:ext cx="8686800" cy="777875"/>
          </a:xfrm>
        </p:spPr>
        <p:txBody>
          <a:bodyPr/>
          <a:lstStyle/>
          <a:p>
            <a:pPr lvl="0" algn="l" eaLnBrk="1" hangingPunct="1">
              <a:spcBef>
                <a:spcPct val="50000"/>
              </a:spcBef>
            </a:pPr>
            <a:r>
              <a:rPr kumimoji="1" lang="zh-CN" altLang="en-US" sz="2800" kern="12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相关操作注意</a:t>
            </a:r>
            <a:r>
              <a:rPr kumimoji="1" lang="en-US" altLang="zh-CN" sz="3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—</a:t>
            </a:r>
            <a:r>
              <a:rPr kumimoji="1" lang="zh-CN" altLang="en-US" sz="3200" b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面包板插接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2771800" y="4179506"/>
            <a:ext cx="601898" cy="1035262"/>
          </a:xfrm>
          <a:prstGeom prst="rect">
            <a:avLst/>
          </a:prstGeom>
          <a:solidFill>
            <a:srgbClr val="0070C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Rectangle 2"/>
          <p:cNvSpPr txBox="1">
            <a:spLocks noChangeArrowheads="1"/>
          </p:cNvSpPr>
          <p:nvPr/>
        </p:nvSpPr>
        <p:spPr bwMode="auto">
          <a:xfrm>
            <a:off x="4644008" y="3939499"/>
            <a:ext cx="4071395" cy="77787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lvl="0" algn="l" eaLnBrk="1" hangingPunct="1">
              <a:defRPr/>
            </a:pPr>
            <a:r>
              <a:rPr lang="zh-CN" altLang="en-US" sz="2800" b="0" noProof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更多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rPr>
              <a:t>看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rPr>
              <a:t>MOOC</a:t>
            </a:r>
            <a:r>
              <a:rPr kumimoji="1" lang="zh-CN" altLang="en-US" sz="2800" b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自练自体会！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/>
                                        <p:tgtEl>
                                          <p:spTgt spid="105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105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42" presetClass="exit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154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/>
                                        <p:tgtEl>
                                          <p:spTgt spid="15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/>
                                        <p:tgtEl>
                                          <p:spTgt spid="15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82" grpId="0" animBg="1"/>
      <p:bldP spid="105482" grpId="1" animBg="1"/>
      <p:bldP spid="105483" grpId="0" animBg="1"/>
      <p:bldP spid="105483" grpId="1" animBg="1"/>
      <p:bldP spid="18" grpId="0" animBg="1"/>
      <p:bldP spid="18" grpId="1" animBg="1"/>
      <p:bldP spid="19" grpId="0" animBg="1"/>
      <p:bldP spid="19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5" grpId="0" animBg="1"/>
      <p:bldP spid="5" grpId="1" animBg="1"/>
      <p:bldP spid="2" grpId="0" animBg="1"/>
      <p:bldP spid="3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39" y="1117899"/>
            <a:ext cx="2447925" cy="866775"/>
          </a:xfrm>
          <a:prstGeom prst="rect">
            <a:avLst/>
          </a:prstGeom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333375" y="836712"/>
            <a:ext cx="35814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20650" y="62978"/>
            <a:ext cx="8686800" cy="777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3200" b="0" kern="12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相关操作注意：</a:t>
            </a:r>
            <a:r>
              <a:rPr kumimoji="1" lang="zh-CN" altLang="en-US" sz="32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插线剥头及电源专用连线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98016" y="2685638"/>
            <a:ext cx="3409434" cy="39339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矩形 6"/>
          <p:cNvSpPr/>
          <p:nvPr/>
        </p:nvSpPr>
        <p:spPr>
          <a:xfrm>
            <a:off x="309772" y="3166509"/>
            <a:ext cx="5041856" cy="2813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建议：</a:t>
            </a:r>
            <a:r>
              <a:rPr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三合一双电源</a:t>
            </a:r>
            <a:r>
              <a:rPr lang="zh-CN" altLang="en-US" sz="2800" b="1" u="sng" dirty="0">
                <a:latin typeface="楷体" panose="02010609060101010101" pitchFamily="49" charset="-122"/>
                <a:ea typeface="楷体" panose="02010609060101010101" pitchFamily="49" charset="-122"/>
              </a:rPr>
              <a:t>专用</a:t>
            </a:r>
            <a:r>
              <a:rPr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接线</a:t>
            </a:r>
            <a:endParaRPr lang="en-US" altLang="zh-CN" sz="16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红</a:t>
            </a:r>
            <a:r>
              <a:rPr lang="en-US" altLang="zh-CN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正</a:t>
            </a:r>
            <a:r>
              <a:rPr lang="en-US" altLang="zh-CN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)-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黑</a:t>
            </a:r>
            <a:r>
              <a:rPr lang="en-US" altLang="zh-CN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</a:t>
            </a:r>
            <a:r>
              <a:rPr lang="en-US" altLang="zh-CN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两色必有；</a:t>
            </a:r>
            <a:endParaRPr lang="en-US" altLang="zh-CN" sz="28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 algn="l"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线长约</a:t>
            </a:r>
            <a:r>
              <a:rPr lang="en-US" altLang="zh-CN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40c</a:t>
            </a:r>
            <a:r>
              <a:rPr lang="en-US" altLang="zh-CN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（现场适配）；</a:t>
            </a:r>
            <a:endParaRPr lang="en-US" altLang="zh-CN" sz="28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 algn="l"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一端剥头裸露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8mm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插板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</a:p>
          <a:p>
            <a:pPr marL="457200" indent="-457200" algn="l"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一端剥头</a:t>
            </a:r>
            <a:r>
              <a:rPr lang="en-US" altLang="zh-CN" sz="28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15mm</a:t>
            </a:r>
            <a:r>
              <a:rPr lang="zh-CN" altLang="en-US" sz="28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接电源线柱。</a:t>
            </a:r>
            <a:endParaRPr lang="en-US" altLang="zh-CN" sz="28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TextBox 12"/>
          <p:cNvSpPr txBox="1"/>
          <p:nvPr/>
        </p:nvSpPr>
        <p:spPr>
          <a:xfrm>
            <a:off x="6170034" y="747934"/>
            <a:ext cx="2758501" cy="1806264"/>
          </a:xfrm>
          <a:prstGeom prst="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插线剥头</a:t>
            </a:r>
            <a:r>
              <a:rPr kumimoji="1"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、容阻插脚裸露</a:t>
            </a:r>
            <a:r>
              <a:rPr kumimoji="1" lang="zh-CN" altLang="en-US" sz="2400" b="1" dirty="0">
                <a:solidFill>
                  <a:srgbClr val="2722FA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过长过短都不好！</a:t>
            </a:r>
            <a:r>
              <a:rPr kumimoji="1"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约</a:t>
            </a:r>
            <a:r>
              <a:rPr kumimoji="1" lang="en-US" altLang="zh-CN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cs typeface="Times New Roman" panose="02020603050405020304" pitchFamily="18" charset="0"/>
              </a:rPr>
              <a:t>mm ==</a:t>
            </a:r>
          </a:p>
          <a:p>
            <a:pPr lvl="0" algn="l">
              <a:lnSpc>
                <a:spcPct val="120000"/>
              </a:lnSpc>
              <a:defRPr/>
            </a:pP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4.5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个面包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孔距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2722FA"/>
              </a:solidFill>
              <a:effectLst/>
              <a:uLnTx/>
              <a:uFillTx/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椭圆 15"/>
          <p:cNvSpPr/>
          <p:nvPr/>
        </p:nvSpPr>
        <p:spPr bwMode="auto">
          <a:xfrm>
            <a:off x="2612679" y="1651066"/>
            <a:ext cx="306679" cy="224358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96A26FA-83B9-4D07-9495-722EBDABE71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3375" y="2086203"/>
            <a:ext cx="2103120" cy="208534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1439822-6B62-494F-90DD-123AE685F45D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41065" y="2086203"/>
            <a:ext cx="1562735" cy="208534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9548" y="963478"/>
            <a:ext cx="2295525" cy="1504950"/>
          </a:xfrm>
          <a:prstGeom prst="rect">
            <a:avLst/>
          </a:prstGeom>
        </p:spPr>
      </p:pic>
      <p:sp>
        <p:nvSpPr>
          <p:cNvPr id="2" name="箭头: 右 1"/>
          <p:cNvSpPr/>
          <p:nvPr/>
        </p:nvSpPr>
        <p:spPr bwMode="auto">
          <a:xfrm>
            <a:off x="2936482" y="1568823"/>
            <a:ext cx="2124122" cy="388844"/>
          </a:xfrm>
          <a:prstGeom prst="rightArrow">
            <a:avLst/>
          </a:prstGeom>
          <a:solidFill>
            <a:srgbClr val="CC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 bwMode="auto">
          <a:xfrm>
            <a:off x="5134153" y="1440287"/>
            <a:ext cx="268703" cy="926272"/>
          </a:xfrm>
          <a:prstGeom prst="straightConnector1">
            <a:avLst/>
          </a:prstGeom>
          <a:solidFill>
            <a:srgbClr val="CCFF99"/>
          </a:solidFill>
          <a:ln w="50800" cap="flat" cmpd="sng" algn="ctr">
            <a:solidFill>
              <a:srgbClr val="FF0000">
                <a:alpha val="70000"/>
              </a:srgbClr>
            </a:solidFill>
            <a:prstDash val="solid"/>
            <a:round/>
            <a:headEnd type="triangle"/>
            <a:tailEnd type="triangle"/>
          </a:ln>
        </p:spPr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597CC087-4D8B-409E-AD1E-937427E86DCC}"/>
              </a:ext>
            </a:extLst>
          </p:cNvPr>
          <p:cNvGrpSpPr/>
          <p:nvPr/>
        </p:nvGrpSpPr>
        <p:grpSpPr>
          <a:xfrm>
            <a:off x="1604130" y="4381998"/>
            <a:ext cx="2141855" cy="2237602"/>
            <a:chOff x="1604130" y="4381998"/>
            <a:chExt cx="2141855" cy="2237602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49C6357-5109-413D-8011-10EE0DF5EDB3}"/>
                </a:ext>
              </a:extLst>
            </p:cNvPr>
            <p:cNvPicPr/>
            <p:nvPr/>
          </p:nvPicPr>
          <p:blipFill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604130" y="4381998"/>
              <a:ext cx="2141855" cy="22376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7ECDD51D-A19D-4793-812E-6C4B681432B9}"/>
                </a:ext>
              </a:extLst>
            </p:cNvPr>
            <p:cNvSpPr/>
            <p:nvPr/>
          </p:nvSpPr>
          <p:spPr bwMode="auto">
            <a:xfrm>
              <a:off x="2436495" y="5157192"/>
              <a:ext cx="1199401" cy="648072"/>
            </a:xfrm>
            <a:prstGeom prst="ellips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allAtOnce" animBg="1"/>
      <p:bldP spid="16" grpId="0" animBg="1"/>
      <p:bldP spid="2" grpId="0" animBg="1"/>
      <p:bldP spid="2" grpId="1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476250"/>
            <a:ext cx="7793037" cy="66675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4000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强调</a:t>
            </a:r>
            <a:r>
              <a:rPr kumimoji="1" lang="en-US" altLang="zh-CN" sz="4000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--</a:t>
            </a:r>
            <a:r>
              <a:rPr kumimoji="1" lang="zh-CN" altLang="en-US" sz="4000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下次到课时 要求</a:t>
            </a:r>
            <a:endParaRPr kumimoji="1" lang="zh-CN" altLang="en-US" sz="40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" name="内容占位符 3"/>
          <p:cNvSpPr txBox="1">
            <a:spLocks noGrp="1"/>
          </p:cNvSpPr>
          <p:nvPr>
            <p:ph idx="1"/>
          </p:nvPr>
        </p:nvSpPr>
        <p:spPr>
          <a:xfrm>
            <a:off x="1116013" y="1628800"/>
            <a:ext cx="7391474" cy="438581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元器件</a:t>
            </a:r>
            <a:r>
              <a:rPr lang="zh-CN" altLang="en-US" sz="2800" b="1" dirty="0">
                <a:latin typeface="+mn-ea"/>
              </a:rPr>
              <a:t>已经整理</a:t>
            </a:r>
            <a:r>
              <a:rPr lang="zh-CN" altLang="en-US" sz="2800" b="1">
                <a:latin typeface="+mn-ea"/>
              </a:rPr>
              <a:t>分类存放</a:t>
            </a:r>
            <a:endParaRPr lang="en-US" altLang="zh-CN" sz="2800" b="1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800" b="1">
                <a:latin typeface="+mn-ea"/>
                <a:ea typeface="+mn-ea"/>
              </a:rPr>
              <a:t>三色双电源专用线已备好</a:t>
            </a:r>
            <a:endParaRPr lang="en-US" altLang="zh-CN" sz="28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预习实验</a:t>
            </a:r>
            <a:r>
              <a:rPr lang="en-US" altLang="zh-CN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集成运放的基本应用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MOOC</a:t>
            </a:r>
            <a:r>
              <a:rPr lang="zh-CN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电测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一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) </a:t>
            </a:r>
            <a:r>
              <a:rPr lang="zh-CN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单元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二、（三）、</a:t>
            </a:r>
            <a:r>
              <a:rPr lang="zh-CN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五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学完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MOOC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章节测验结果截图已贴入</a:t>
            </a:r>
            <a:r>
              <a:rPr lang="zh-CN" altLang="en-US" sz="2800" b="1" dirty="0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预习报告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预习报告电子档按要求完成并已提交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31640" y="1412875"/>
            <a:ext cx="7560840" cy="532849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b="1" dirty="0">
                <a:ea typeface="华文楷体" panose="02010600040101010101" pitchFamily="2" charset="-122"/>
              </a:rPr>
              <a:t>实验名称</a:t>
            </a:r>
            <a:r>
              <a:rPr lang="zh-CN" altLang="en-US" b="1">
                <a:ea typeface="华文楷体" panose="02010600040101010101" pitchFamily="2" charset="-122"/>
              </a:rPr>
              <a:t>、目的</a:t>
            </a:r>
            <a:endParaRPr lang="en-US" altLang="zh-CN" b="1"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b="1">
                <a:ea typeface="华文楷体" panose="02010600040101010101" pitchFamily="2" charset="-122"/>
              </a:rPr>
              <a:t>实验原理、内容、步骤</a:t>
            </a:r>
            <a:r>
              <a:rPr lang="zh-CN" altLang="en-US">
                <a:ea typeface="华文楷体" panose="02010600040101010101" pitchFamily="2" charset="-122"/>
              </a:rPr>
              <a:t>（</a:t>
            </a:r>
            <a:r>
              <a:rPr lang="zh-CN" altLang="en-US" b="1">
                <a:solidFill>
                  <a:srgbClr val="C00000"/>
                </a:solidFill>
                <a:ea typeface="华文楷体" panose="02010600040101010101" pitchFamily="2" charset="-122"/>
              </a:rPr>
              <a:t>简明</a:t>
            </a:r>
            <a:r>
              <a:rPr lang="zh-CN" altLang="en-US">
                <a:solidFill>
                  <a:srgbClr val="C00000"/>
                </a:solidFill>
                <a:ea typeface="华文楷体" panose="02010600040101010101" pitchFamily="2" charset="-122"/>
              </a:rPr>
              <a:t> </a:t>
            </a:r>
            <a:r>
              <a:rPr lang="zh-CN" altLang="en-US" b="1">
                <a:solidFill>
                  <a:srgbClr val="C00000"/>
                </a:solidFill>
                <a:ea typeface="华文楷体" panose="02010600040101010101" pitchFamily="2" charset="-122"/>
              </a:rPr>
              <a:t>扼要</a:t>
            </a:r>
            <a:r>
              <a:rPr lang="zh-CN" altLang="en-US">
                <a:ea typeface="华文楷体" panose="02010600040101010101" pitchFamily="2" charset="-122"/>
              </a:rPr>
              <a:t>）</a:t>
            </a:r>
            <a:endParaRPr lang="en-US" altLang="zh-CN"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b="1">
                <a:ea typeface="华文楷体" panose="02010600040101010101" pitchFamily="2" charset="-122"/>
              </a:rPr>
              <a:t>实验</a:t>
            </a:r>
            <a:r>
              <a:rPr lang="zh-CN" altLang="en-US" b="1" dirty="0">
                <a:ea typeface="华文楷体" panose="02010600040101010101" pitchFamily="2" charset="-122"/>
              </a:rPr>
              <a:t>电路图</a:t>
            </a:r>
            <a:r>
              <a:rPr lang="zh-CN" altLang="en-US" dirty="0">
                <a:ea typeface="华文楷体" panose="02010600040101010101" pitchFamily="2" charset="-122"/>
              </a:rPr>
              <a:t>（</a:t>
            </a:r>
            <a:r>
              <a:rPr lang="zh-CN" altLang="en-US" sz="2800" b="1" dirty="0">
                <a:solidFill>
                  <a:srgbClr val="C00000"/>
                </a:solidFill>
                <a:ea typeface="华文楷体" panose="02010600040101010101" pitchFamily="2" charset="-122"/>
              </a:rPr>
              <a:t>规范手画</a:t>
            </a:r>
            <a:r>
              <a:rPr lang="en-US" altLang="zh-CN" sz="2800" dirty="0">
                <a:solidFill>
                  <a:srgbClr val="C00000"/>
                </a:solidFill>
                <a:ea typeface="华文楷体" panose="02010600040101010101" pitchFamily="2" charset="-122"/>
              </a:rPr>
              <a:t>-</a:t>
            </a:r>
            <a:r>
              <a:rPr lang="zh-CN" altLang="en-US" sz="2800" dirty="0">
                <a:solidFill>
                  <a:srgbClr val="C00000"/>
                </a:solidFill>
                <a:ea typeface="华文楷体" panose="02010600040101010101" pitchFamily="2" charset="-122"/>
              </a:rPr>
              <a:t>拍照贴入</a:t>
            </a:r>
            <a:r>
              <a:rPr lang="zh-CN" altLang="en-US" dirty="0">
                <a:ea typeface="华文楷体" panose="02010600040101010101" pitchFamily="2" charset="-122"/>
              </a:rPr>
              <a:t>）</a:t>
            </a:r>
            <a:endParaRPr lang="zh-CN" altLang="en-US" sz="2800" dirty="0"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b="1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MOOC</a:t>
            </a:r>
            <a:r>
              <a:rPr lang="zh-CN" altLang="en-US" b="1">
                <a:ea typeface="华文楷体" panose="02010600040101010101" pitchFamily="2" charset="-122"/>
              </a:rPr>
              <a:t>章节测试结果（截图贴入）</a:t>
            </a:r>
            <a:endParaRPr lang="zh-CN" altLang="en-US" b="1" dirty="0"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1800"/>
              </a:spcBef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ea typeface="华文楷体" panose="02010600040101010101" pitchFamily="2" charset="-122"/>
              </a:rPr>
              <a:t>规范整理的记录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ea typeface="华文楷体" panose="02010600040101010101" pitchFamily="2" charset="-122"/>
              </a:rPr>
              <a:t>（数据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ea typeface="华文楷体" panose="02010600040101010101" pitchFamily="2" charset="-122"/>
              </a:rPr>
              <a:t>&amp;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ea typeface="华文楷体" panose="02010600040101010101" pitchFamily="2" charset="-122"/>
              </a:rPr>
              <a:t>表格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ea typeface="华文楷体" panose="02010600040101010101" pitchFamily="2" charset="-122"/>
              </a:rPr>
              <a:t>&amp;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ea typeface="华文楷体" panose="02010600040101010101" pitchFamily="2" charset="-122"/>
              </a:rPr>
              <a:t>波形手画）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ea typeface="华文楷体" panose="02010600040101010101" pitchFamily="2" charset="-122"/>
              </a:rPr>
              <a:t>规定的计算分析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ea typeface="华文楷体" panose="02010600040101010101" pitchFamily="2" charset="-122"/>
              </a:rPr>
              <a:t>（理论值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ea typeface="华文楷体" panose="02010600040101010101" pitchFamily="2" charset="-122"/>
              </a:rPr>
              <a:t>&amp;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ea typeface="华文楷体" panose="02010600040101010101" pitchFamily="2" charset="-122"/>
              </a:rPr>
              <a:t>结论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ea typeface="华文楷体" panose="02010600040101010101" pitchFamily="2" charset="-122"/>
              </a:rPr>
              <a:t>&amp;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ea typeface="华文楷体" panose="02010600040101010101" pitchFamily="2" charset="-122"/>
              </a:rPr>
              <a:t>误差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ea typeface="华文楷体" panose="02010600040101010101" pitchFamily="2" charset="-122"/>
              </a:rPr>
              <a:t>…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ea typeface="华文楷体" panose="02010600040101010101" pitchFamily="2" charset="-122"/>
              </a:rPr>
              <a:t>）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ea typeface="华文楷体" panose="02010600040101010101" pitchFamily="2" charset="-122"/>
              </a:rPr>
              <a:t>规定的思考题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ea typeface="华文楷体" panose="02010600040101010101" pitchFamily="2" charset="-122"/>
              </a:rPr>
              <a:t>额外（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ea typeface="华文楷体" panose="02010600040101010101" pitchFamily="2" charset="-122"/>
              </a:rPr>
              <a:t>条理整洁。有意义的体会及建议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ea typeface="华文楷体" panose="02010600040101010101" pitchFamily="2" charset="-122"/>
              </a:rPr>
              <a:t>）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xfrm>
            <a:off x="1116013" y="476250"/>
            <a:ext cx="7793037" cy="666750"/>
          </a:xfrm>
          <a:noFill/>
        </p:spPr>
        <p:txBody>
          <a:bodyPr/>
          <a:lstStyle/>
          <a:p>
            <a:pPr eaLnBrk="1" hangingPunct="1"/>
            <a:r>
              <a:rPr lang="zh-CN" altLang="en-US" sz="3600" b="1">
                <a:solidFill>
                  <a:srgbClr val="002060"/>
                </a:solidFill>
                <a:ea typeface="华文楷体" panose="02010600040101010101" pitchFamily="2" charset="-122"/>
              </a:rPr>
              <a:t>预习报告</a:t>
            </a:r>
            <a:r>
              <a:rPr lang="zh-CN" altLang="en-US" sz="3600" b="1" dirty="0">
                <a:solidFill>
                  <a:srgbClr val="2722FA"/>
                </a:solidFill>
                <a:ea typeface="华文楷体" panose="02010600040101010101" pitchFamily="2" charset="-122"/>
              </a:rPr>
              <a:t>－内容规范</a:t>
            </a:r>
            <a:endParaRPr lang="zh-CN" altLang="en-US" sz="3200" b="1" dirty="0">
              <a:solidFill>
                <a:srgbClr val="2722FA"/>
              </a:solidFill>
              <a:ea typeface="华文楷体" panose="02010600040101010101" pitchFamily="2" charset="-122"/>
            </a:endParaRPr>
          </a:p>
        </p:txBody>
      </p:sp>
      <p:sp>
        <p:nvSpPr>
          <p:cNvPr id="14340" name="Line 4"/>
          <p:cNvSpPr>
            <a:spLocks noChangeShapeType="1"/>
          </p:cNvSpPr>
          <p:nvPr/>
        </p:nvSpPr>
        <p:spPr bwMode="auto">
          <a:xfrm>
            <a:off x="1116013" y="4149080"/>
            <a:ext cx="7559675" cy="0"/>
          </a:xfrm>
          <a:prstGeom prst="line">
            <a:avLst/>
          </a:prstGeom>
          <a:noFill/>
          <a:ln w="635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b="1">
                <a:solidFill>
                  <a:srgbClr val="002060"/>
                </a:solidFill>
                <a:ea typeface="华文楷体" panose="02010600040101010101" pitchFamily="2" charset="-122"/>
              </a:rPr>
              <a:t>预习报告</a:t>
            </a:r>
            <a:r>
              <a:rPr lang="zh-CN" altLang="en-US" sz="3600" b="1">
                <a:solidFill>
                  <a:srgbClr val="2722FA"/>
                </a:solidFill>
                <a:ea typeface="华文楷体" panose="02010600040101010101" pitchFamily="2" charset="-122"/>
              </a:rPr>
              <a:t>－说明</a:t>
            </a:r>
            <a:endParaRPr lang="zh-CN" altLang="en-US" sz="3600" dirty="0"/>
          </a:p>
        </p:txBody>
      </p:sp>
      <p:sp>
        <p:nvSpPr>
          <p:cNvPr id="8" name="内容占位符 2"/>
          <p:cNvSpPr txBox="1"/>
          <p:nvPr/>
        </p:nvSpPr>
        <p:spPr bwMode="auto">
          <a:xfrm>
            <a:off x="1259632" y="1628800"/>
            <a:ext cx="7344816" cy="4679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kern="0">
                <a:latin typeface="华文楷体" panose="02010600040101010101" pitchFamily="2" charset="-122"/>
                <a:ea typeface="华文楷体" panose="02010600040101010101" pitchFamily="2" charset="-122"/>
              </a:rPr>
              <a:t>按进度安排</a:t>
            </a:r>
            <a:r>
              <a:rPr lang="zh-CN" altLang="en-US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zh-CN" altLang="en-US" kern="0">
                <a:latin typeface="华文楷体" panose="02010600040101010101" pitchFamily="2" charset="-122"/>
                <a:ea typeface="华文楷体" panose="02010600040101010101" pitchFamily="2" charset="-122"/>
              </a:rPr>
              <a:t>注意内容规范</a:t>
            </a:r>
            <a:r>
              <a:rPr lang="en-US" altLang="zh-CN" kern="0">
                <a:latin typeface="华文楷体" panose="02010600040101010101" pitchFamily="2" charset="-122"/>
                <a:ea typeface="华文楷体" panose="02010600040101010101" pitchFamily="2" charset="-122"/>
              </a:rPr>
              <a:t>--</a:t>
            </a:r>
            <a:r>
              <a:rPr lang="zh-CN" altLang="en-US" kern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有形式模板</a:t>
            </a:r>
            <a:endParaRPr lang="en-US" altLang="zh-CN" kern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kern="0">
                <a:solidFill>
                  <a:srgbClr val="000000"/>
                </a:solidFill>
                <a:latin typeface="+mn-ea"/>
              </a:rPr>
              <a:t>电路图手画拍照 </a:t>
            </a:r>
            <a:r>
              <a:rPr lang="en-US" altLang="zh-CN" kern="0">
                <a:solidFill>
                  <a:srgbClr val="000000"/>
                </a:solidFill>
                <a:latin typeface="+mn-ea"/>
              </a:rPr>
              <a:t>or </a:t>
            </a:r>
            <a:r>
              <a:rPr lang="zh-CN" altLang="en-US" kern="0">
                <a:solidFill>
                  <a:srgbClr val="000000"/>
                </a:solidFill>
                <a:latin typeface="+mn-ea"/>
              </a:rPr>
              <a:t>专业软件画。</a:t>
            </a:r>
            <a:endParaRPr lang="en-US" altLang="zh-CN" kern="0">
              <a:solidFill>
                <a:srgbClr val="000000"/>
              </a:solidFill>
              <a:latin typeface="+mn-ea"/>
            </a:endParaRPr>
          </a:p>
          <a:p>
            <a:pPr marL="800100" lvl="2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kern="0">
                <a:solidFill>
                  <a:srgbClr val="000000"/>
                </a:solidFill>
                <a:latin typeface="+mn-ea"/>
              </a:rPr>
              <a:t>图线规范，勿乱省乱画。</a:t>
            </a:r>
            <a:endParaRPr lang="en-US" altLang="zh-CN" kern="0">
              <a:solidFill>
                <a:srgbClr val="000000"/>
              </a:solidFill>
              <a:latin typeface="+mn-ea"/>
            </a:endParaRPr>
          </a:p>
          <a:p>
            <a:pPr marL="800100" lvl="2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kern="0">
                <a:solidFill>
                  <a:srgbClr val="000000"/>
                </a:solidFill>
                <a:latin typeface="+mn-ea"/>
              </a:rPr>
              <a:t>不得粘贴资料图、课件图。</a:t>
            </a:r>
            <a:endParaRPr lang="en-US" altLang="zh-CN" kern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kern="0">
                <a:latin typeface="华文楷体" panose="02010600040101010101" pitchFamily="2" charset="-122"/>
                <a:ea typeface="华文楷体" panose="02010600040101010101" pitchFamily="2" charset="-122"/>
              </a:rPr>
              <a:t>作业提交：</a:t>
            </a:r>
            <a:r>
              <a:rPr lang="en-US" altLang="zh-CN" kern="0">
                <a:latin typeface="华文楷体" panose="02010600040101010101" pitchFamily="2" charset="-122"/>
                <a:ea typeface="华文楷体" panose="02010600040101010101" pitchFamily="2" charset="-122"/>
              </a:rPr>
              <a:t>PC</a:t>
            </a:r>
            <a:r>
              <a:rPr lang="zh-CN" altLang="en-US" kern="0">
                <a:latin typeface="华文楷体" panose="02010600040101010101" pitchFamily="2" charset="-122"/>
                <a:ea typeface="华文楷体" panose="02010600040101010101" pitchFamily="2" charset="-122"/>
              </a:rPr>
              <a:t>端浏览器进微助教</a:t>
            </a:r>
            <a:r>
              <a:rPr lang="en-US" altLang="zh-CN" kern="0">
                <a:latin typeface="华文楷体" panose="02010600040101010101" pitchFamily="2" charset="-122"/>
                <a:ea typeface="华文楷体" panose="02010600040101010101" pitchFamily="2" charset="-122"/>
              </a:rPr>
              <a:t>_</a:t>
            </a:r>
            <a:r>
              <a:rPr lang="zh-CN" altLang="en-US" kern="0">
                <a:latin typeface="华文楷体" panose="02010600040101010101" pitchFamily="2" charset="-122"/>
                <a:ea typeface="华文楷体" panose="02010600040101010101" pitchFamily="2" charset="-122"/>
              </a:rPr>
              <a:t>校机构版</a:t>
            </a:r>
            <a:endParaRPr lang="en-US" altLang="zh-CN" ker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800100" lvl="2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i="1" u="sng" kern="0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wzj.</a:t>
            </a:r>
            <a:r>
              <a:rPr lang="en-US" altLang="zh-CN" i="1" u="sng" kern="0">
                <a:latin typeface="华文楷体" panose="02010600040101010101" pitchFamily="2" charset="-122"/>
                <a:ea typeface="华文楷体" panose="02010600040101010101" pitchFamily="2" charset="-122"/>
              </a:rPr>
              <a:t>hust.edu.cn </a:t>
            </a:r>
            <a:endParaRPr lang="en-US" altLang="zh-CN" u="sng" ker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800100" lvl="2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kern="0">
                <a:latin typeface="华文楷体" panose="02010600040101010101" pitchFamily="2" charset="-122"/>
                <a:ea typeface="华文楷体" panose="02010600040101010101" pitchFamily="2" charset="-122"/>
              </a:rPr>
              <a:t>及时</a:t>
            </a:r>
            <a:r>
              <a:rPr lang="zh-CN" altLang="en-US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交</a:t>
            </a:r>
            <a:r>
              <a:rPr lang="zh-CN" altLang="en-US" kern="0">
                <a:latin typeface="华文楷体" panose="02010600040101010101" pitchFamily="2" charset="-122"/>
                <a:ea typeface="华文楷体" panose="02010600040101010101" pitchFamily="2" charset="-122"/>
              </a:rPr>
              <a:t>单独记分；</a:t>
            </a:r>
            <a:r>
              <a:rPr lang="zh-CN" altLang="en-US" kern="0">
                <a:solidFill>
                  <a:srgbClr val="2722F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无法迟交补交。</a:t>
            </a:r>
            <a:endParaRPr lang="en-US" altLang="zh-CN" kern="0">
              <a:solidFill>
                <a:srgbClr val="2722FA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800100" lvl="2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kern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无</a:t>
            </a:r>
            <a:r>
              <a:rPr lang="zh-CN" altLang="en-US" kern="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预习报告不得</a:t>
            </a:r>
            <a:r>
              <a:rPr lang="zh-CN" altLang="en-US" kern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实验！</a:t>
            </a:r>
            <a:endParaRPr lang="en-US" altLang="zh-CN" kern="0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UyYTU1OGQ2YmViMDMyYmFlNWJmNjM3ZDFhNzQ0N2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b4f9522-516d-4a52-adb8-512ef7b609d3}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99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99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805</TotalTime>
  <Words>3884</Words>
  <Application>Microsoft Office PowerPoint</Application>
  <PresentationFormat>全屏显示(4:3)</PresentationFormat>
  <Paragraphs>511</Paragraphs>
  <Slides>59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59</vt:i4>
      </vt:variant>
    </vt:vector>
  </HeadingPairs>
  <TitlesOfParts>
    <vt:vector size="81" baseType="lpstr">
      <vt:lpstr>黑体</vt:lpstr>
      <vt:lpstr>华文楷体</vt:lpstr>
      <vt:lpstr>华文新魏</vt:lpstr>
      <vt:lpstr>楷体</vt:lpstr>
      <vt:lpstr>楷体_GB2312</vt:lpstr>
      <vt:lpstr>隶书</vt:lpstr>
      <vt:lpstr>宋体</vt:lpstr>
      <vt:lpstr>微软雅黑</vt:lpstr>
      <vt:lpstr>新宋体</vt:lpstr>
      <vt:lpstr>Arial</vt:lpstr>
      <vt:lpstr>Symbol</vt:lpstr>
      <vt:lpstr>Tahoma</vt:lpstr>
      <vt:lpstr>Times New Roman</vt:lpstr>
      <vt:lpstr>Wingdings</vt:lpstr>
      <vt:lpstr>Blends</vt:lpstr>
      <vt:lpstr>1_Blends</vt:lpstr>
      <vt:lpstr>1_自定义设计方案</vt:lpstr>
      <vt:lpstr>默认设计模板</vt:lpstr>
      <vt:lpstr>Picture</vt:lpstr>
      <vt:lpstr>Microsoft Word Picture</vt:lpstr>
      <vt:lpstr>BMP 图像</vt:lpstr>
      <vt:lpstr>图片</vt:lpstr>
      <vt:lpstr>PowerPoint 演示文稿</vt:lpstr>
      <vt:lpstr>绪论</vt:lpstr>
      <vt:lpstr>课程概述</vt:lpstr>
      <vt:lpstr>课程目标即大家努力方向</vt:lpstr>
      <vt:lpstr>课程基本学习方法</vt:lpstr>
      <vt:lpstr>实验课流程—融合MOOC</vt:lpstr>
      <vt:lpstr>实验课有关规定（1）</vt:lpstr>
      <vt:lpstr>实验课有关规定（2）</vt:lpstr>
      <vt:lpstr>实验课有关规定（3）</vt:lpstr>
      <vt:lpstr>PowerPoint 演示文稿</vt:lpstr>
      <vt:lpstr>课程安排</vt:lpstr>
      <vt:lpstr>PowerPoint 演示文稿</vt:lpstr>
      <vt:lpstr>PowerPoint 演示文稿</vt:lpstr>
      <vt:lpstr>MOOC学习</vt:lpstr>
      <vt:lpstr>MOOC学习</vt:lpstr>
      <vt:lpstr>绪论</vt:lpstr>
      <vt:lpstr>常用器件的识别</vt:lpstr>
      <vt:lpstr>电阻</vt:lpstr>
      <vt:lpstr>色环</vt:lpstr>
      <vt:lpstr>电阻</vt:lpstr>
      <vt:lpstr>电容</vt:lpstr>
      <vt:lpstr>瓷片电容的标称容量</vt:lpstr>
      <vt:lpstr>集成电路芯片（双列直插封装DIP）</vt:lpstr>
      <vt:lpstr>更多器件—实验用到时自学</vt:lpstr>
      <vt:lpstr>元件收纳</vt:lpstr>
      <vt:lpstr>绪论</vt:lpstr>
      <vt:lpstr>常用仪器的使用</vt:lpstr>
      <vt:lpstr>面包板</vt:lpstr>
      <vt:lpstr>PowerPoint 演示文稿</vt:lpstr>
      <vt:lpstr>面包板-布局布线习惯</vt:lpstr>
      <vt:lpstr>PowerPoint 演示文稿</vt:lpstr>
      <vt:lpstr>PowerPoint 演示文稿</vt:lpstr>
      <vt:lpstr>共地&amp;独立双路手工串联接法</vt:lpstr>
      <vt:lpstr>PowerPoint 演示文稿</vt:lpstr>
      <vt:lpstr>PowerPoint 演示文稿</vt:lpstr>
      <vt:lpstr>PowerPoint 演示文稿</vt:lpstr>
      <vt:lpstr>波形常用参数名称与AFG1000设备中标识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仪器练习实验</vt:lpstr>
      <vt:lpstr>PowerPoint 演示文稿</vt:lpstr>
      <vt:lpstr>PowerPoint 演示文稿</vt:lpstr>
      <vt:lpstr>绪论</vt:lpstr>
      <vt:lpstr>PowerPoint 演示文稿</vt:lpstr>
      <vt:lpstr>PowerPoint 演示文稿</vt:lpstr>
      <vt:lpstr>PowerPoint 演示文稿</vt:lpstr>
      <vt:lpstr>相关操作注意—面包板插接</vt:lpstr>
      <vt:lpstr>PowerPoint 演示文稿</vt:lpstr>
      <vt:lpstr>强调--下次到课时 要求</vt:lpstr>
      <vt:lpstr>预习报告－内容规范</vt:lpstr>
      <vt:lpstr>预习报告－说明</vt:lpstr>
    </vt:vector>
  </TitlesOfParts>
  <Company>HUST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电子线路测试与实验</dc:title>
  <dc:creator>PXM</dc:creator>
  <cp:lastModifiedBy>PXM</cp:lastModifiedBy>
  <cp:revision>627</cp:revision>
  <dcterms:created xsi:type="dcterms:W3CDTF">2004-02-14T13:48:00Z</dcterms:created>
  <dcterms:modified xsi:type="dcterms:W3CDTF">2024-10-09T13:42:34Z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2052-11.1.0.12358</vt:lpwstr>
  </property>
  <property fmtid="{D5CDD505-2E9C-101B-9397-08002B2CF9AE}" pid="3" name="ICV">
    <vt:lpwstr>F0055129AA2940C5BAB44F25C8444426</vt:lpwstr>
  </property>
</Properties>
</file>