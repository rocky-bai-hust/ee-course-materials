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7" r:id="rId2"/>
    <p:sldId id="257" r:id="rId3"/>
    <p:sldId id="256" r:id="rId4"/>
    <p:sldId id="259" r:id="rId5"/>
    <p:sldId id="258" r:id="rId6"/>
    <p:sldId id="278" r:id="rId7"/>
    <p:sldId id="279" r:id="rId8"/>
    <p:sldId id="296" r:id="rId9"/>
    <p:sldId id="298" r:id="rId10"/>
    <p:sldId id="29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3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1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4DF31-98B1-4EE9-9CC3-4FD5ABC22C9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26DF2-01D3-4596-AD97-D403EA640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3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40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76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9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20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98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50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17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73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34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28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90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46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B2B60-5F13-4753-AA27-79AB4341AB87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632B-4B62-4D2B-8E75-81CD6DF8F9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0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7"/>
          <p:cNvGrpSpPr/>
          <p:nvPr/>
        </p:nvGrpSpPr>
        <p:grpSpPr bwMode="auto">
          <a:xfrm>
            <a:off x="1524000" y="3386165"/>
            <a:ext cx="8926286" cy="1062038"/>
            <a:chOff x="-299503" y="3095622"/>
            <a:chExt cx="4973101" cy="714375"/>
          </a:xfrm>
        </p:grpSpPr>
        <p:sp>
          <p:nvSpPr>
            <p:cNvPr id="30" name="矩形 29"/>
            <p:cNvSpPr/>
            <p:nvPr/>
          </p:nvSpPr>
          <p:spPr>
            <a:xfrm>
              <a:off x="228614" y="3095622"/>
              <a:ext cx="4444984" cy="714375"/>
            </a:xfrm>
            <a:prstGeom prst="rect">
              <a:avLst/>
            </a:prstGeom>
            <a:solidFill>
              <a:srgbClr val="FFFF00">
                <a:alpha val="42000"/>
              </a:srgbClr>
            </a:solidFill>
            <a:ln>
              <a:noFill/>
            </a:ln>
            <a:effectLst>
              <a:glow rad="228600">
                <a:srgbClr val="8064A2">
                  <a:satMod val="175000"/>
                  <a:alpha val="40000"/>
                </a:srgbClr>
              </a:glow>
            </a:effectLst>
          </p:spPr>
        </p:sp>
        <p:sp>
          <p:nvSpPr>
            <p:cNvPr id="31" name="矩形 30"/>
            <p:cNvSpPr/>
            <p:nvPr/>
          </p:nvSpPr>
          <p:spPr>
            <a:xfrm>
              <a:off x="-299503" y="3095622"/>
              <a:ext cx="4973101" cy="714375"/>
            </a:xfrm>
            <a:prstGeom prst="rect">
              <a:avLst/>
            </a:prstGeom>
            <a:gradFill rotWithShape="1">
              <a:gsLst>
                <a:gs pos="0">
                  <a:srgbClr val="8064A2">
                    <a:shade val="51000"/>
                    <a:satMod val="130000"/>
                  </a:srgbClr>
                </a:gs>
                <a:gs pos="80000">
                  <a:srgbClr val="8064A2">
                    <a:shade val="93000"/>
                    <a:satMod val="130000"/>
                  </a:srgbClr>
                </a:gs>
                <a:gs pos="100000">
                  <a:srgbClr val="8064A2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99568" tIns="99568" rIns="99568" bIns="99568" spcCol="1270" anchor="ctr"/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8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5</a:t>
              </a:r>
              <a:r>
                <a:rPr lang="en-US" altLang="zh-CN" sz="2800" b="1" kern="0" baseline="2500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r>
                <a:rPr lang="en-US" altLang="zh-CN" sz="20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/</a:t>
              </a:r>
              <a:r>
                <a:rPr lang="en-US" altLang="zh-CN" sz="2800" b="1" kern="0" baseline="-1000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r>
                <a:rPr lang="zh-CN" altLang="en-US" sz="28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测量精度</a:t>
              </a:r>
              <a:r>
                <a:rPr lang="en-US" altLang="zh-CN" sz="28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,</a:t>
              </a:r>
              <a:r>
                <a:rPr lang="zh-CN" altLang="en-US" sz="28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扩展的测量范围</a:t>
              </a:r>
              <a:endParaRPr lang="zh-CN" altLang="en-US" sz="2800" kern="0" dirty="0">
                <a:solidFill>
                  <a:sysClr val="window" lastClr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pPr algn="ctr" defTabSz="6223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800" b="1" kern="0" dirty="0">
                  <a:solidFill>
                    <a:sysClr val="window" lastClr="FFFFFF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满足实验课基本测试需求</a:t>
              </a:r>
              <a:endParaRPr lang="en-US" altLang="zh-CN" sz="2800" b="1" kern="0" dirty="0">
                <a:solidFill>
                  <a:sysClr val="window" lastClr="FFFFFF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" name="组合 32"/>
          <p:cNvGrpSpPr/>
          <p:nvPr/>
        </p:nvGrpSpPr>
        <p:grpSpPr bwMode="auto">
          <a:xfrm>
            <a:off x="1045028" y="1432741"/>
            <a:ext cx="9942285" cy="1801024"/>
            <a:chOff x="1809212" y="1762132"/>
            <a:chExt cx="6841997" cy="1524000"/>
          </a:xfrm>
        </p:grpSpPr>
        <p:grpSp>
          <p:nvGrpSpPr>
            <p:cNvPr id="4" name="组合 47"/>
            <p:cNvGrpSpPr/>
            <p:nvPr/>
          </p:nvGrpSpPr>
          <p:grpSpPr bwMode="auto">
            <a:xfrm>
              <a:off x="1809212" y="1762132"/>
              <a:ext cx="2228572" cy="1524000"/>
              <a:chOff x="1846345" y="1905000"/>
              <a:chExt cx="2228572" cy="152400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846345" y="1905000"/>
                <a:ext cx="2228572" cy="1071562"/>
              </a:xfrm>
              <a:prstGeom prst="ellipse">
                <a:avLst/>
              </a:prstGeom>
              <a:gradFill rotWithShape="1">
                <a:gsLst>
                  <a:gs pos="0">
                    <a:srgbClr val="4BACC6">
                      <a:shade val="51000"/>
                      <a:satMod val="130000"/>
                    </a:srgbClr>
                  </a:gs>
                  <a:gs pos="80000">
                    <a:srgbClr val="4BACC6">
                      <a:shade val="93000"/>
                      <a:satMod val="130000"/>
                    </a:srgbClr>
                  </a:gs>
                  <a:gs pos="100000">
                    <a:srgbClr val="4BACC6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>
                <a:bevelT w="63500" h="25400"/>
              </a:sp3d>
            </p:spPr>
            <p:txBody>
              <a:bodyPr/>
              <a:lstStyle/>
              <a:p>
                <a:pPr defTabSz="7112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-1</a:t>
                </a:r>
                <a:r>
                  <a:rPr lang="en-US" altLang="zh-CN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0</a:t>
                </a: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00V</a:t>
                </a:r>
                <a:r>
                  <a:rPr lang="en-US" sz="2400" b="1" kern="0" dirty="0">
                    <a:solidFill>
                      <a:sysClr val="window" lastClr="FFFFFF"/>
                    </a:solidFill>
                  </a:rPr>
                  <a:t>~</a:t>
                </a: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+1</a:t>
                </a:r>
                <a:r>
                  <a:rPr lang="en-US" altLang="zh-CN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0</a:t>
                </a: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00V</a:t>
                </a:r>
              </a:p>
              <a:p>
                <a:pPr defTabSz="7112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直流电压测量</a:t>
                </a:r>
              </a:p>
            </p:txBody>
          </p:sp>
          <p:sp>
            <p:nvSpPr>
              <p:cNvPr id="43" name="下箭头 42"/>
              <p:cNvSpPr/>
              <p:nvPr/>
            </p:nvSpPr>
            <p:spPr>
              <a:xfrm>
                <a:off x="2476348" y="3048000"/>
                <a:ext cx="595312" cy="381000"/>
              </a:xfrm>
              <a:prstGeom prst="downArrow">
                <a:avLst/>
              </a:prstGeom>
              <a:solidFill>
                <a:srgbClr val="C0504D">
                  <a:tint val="40000"/>
                  <a:hueOff val="0"/>
                  <a:satOff val="0"/>
                  <a:lumOff val="0"/>
                  <a:alphaOff val="0"/>
                </a:srgbClr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 z="190500" prstMaterial="plastic">
                <a:bevelT w="120900" h="88900"/>
                <a:bevelB w="88900" h="31750" prst="angle"/>
              </a:sp3d>
            </p:spPr>
          </p:sp>
        </p:grpSp>
        <p:grpSp>
          <p:nvGrpSpPr>
            <p:cNvPr id="5" name="组合 48"/>
            <p:cNvGrpSpPr/>
            <p:nvPr/>
          </p:nvGrpSpPr>
          <p:grpSpPr bwMode="auto">
            <a:xfrm>
              <a:off x="4067749" y="1762132"/>
              <a:ext cx="2404800" cy="1524000"/>
              <a:chOff x="4104882" y="1905000"/>
              <a:chExt cx="2404800" cy="1524000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4104882" y="1905000"/>
                <a:ext cx="2404800" cy="1071562"/>
              </a:xfrm>
              <a:prstGeom prst="ellipse">
                <a:avLst/>
              </a:prstGeom>
              <a:gradFill rotWithShape="1">
                <a:gsLst>
                  <a:gs pos="0">
                    <a:srgbClr val="4BACC6">
                      <a:shade val="51000"/>
                      <a:satMod val="130000"/>
                    </a:srgbClr>
                  </a:gs>
                  <a:gs pos="80000">
                    <a:srgbClr val="4BACC6">
                      <a:shade val="93000"/>
                      <a:satMod val="130000"/>
                    </a:srgbClr>
                  </a:gs>
                  <a:gs pos="100000">
                    <a:srgbClr val="4BACC6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>
                <a:bevelT w="63500" h="25400"/>
              </a:sp3d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最大</a:t>
                </a:r>
                <a:r>
                  <a:rPr lang="en-US" altLang="zh-CN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100000uF</a:t>
                </a:r>
              </a:p>
              <a:p>
                <a:pPr algn="ctr">
                  <a:defRPr/>
                </a:pPr>
                <a:r>
                  <a:rPr lang="zh-CN" alt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电容测量</a:t>
                </a:r>
              </a:p>
            </p:txBody>
          </p:sp>
          <p:sp>
            <p:nvSpPr>
              <p:cNvPr id="41" name="下箭头 40"/>
              <p:cNvSpPr/>
              <p:nvPr/>
            </p:nvSpPr>
            <p:spPr>
              <a:xfrm>
                <a:off x="5009626" y="3048000"/>
                <a:ext cx="595312" cy="381000"/>
              </a:xfrm>
              <a:prstGeom prst="downArrow">
                <a:avLst/>
              </a:prstGeom>
              <a:solidFill>
                <a:srgbClr val="C0504D">
                  <a:tint val="40000"/>
                  <a:hueOff val="0"/>
                  <a:satOff val="0"/>
                  <a:lumOff val="0"/>
                  <a:alphaOff val="0"/>
                </a:srgbClr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 z="190500" prstMaterial="plastic">
                <a:bevelT w="120900" h="88900"/>
                <a:bevelB w="88900" h="31750" prst="angle"/>
              </a:sp3d>
            </p:spPr>
          </p:sp>
        </p:grpSp>
        <p:grpSp>
          <p:nvGrpSpPr>
            <p:cNvPr id="6" name="组合 49"/>
            <p:cNvGrpSpPr/>
            <p:nvPr/>
          </p:nvGrpSpPr>
          <p:grpSpPr bwMode="auto">
            <a:xfrm>
              <a:off x="6596355" y="1762132"/>
              <a:ext cx="2054854" cy="1524000"/>
              <a:chOff x="6633488" y="1905000"/>
              <a:chExt cx="2054854" cy="1524000"/>
            </a:xfrm>
          </p:grpSpPr>
          <p:sp>
            <p:nvSpPr>
              <p:cNvPr id="38" name="下箭头 37"/>
              <p:cNvSpPr/>
              <p:nvPr/>
            </p:nvSpPr>
            <p:spPr>
              <a:xfrm>
                <a:off x="7538233" y="3048000"/>
                <a:ext cx="595312" cy="381000"/>
              </a:xfrm>
              <a:prstGeom prst="downArrow">
                <a:avLst/>
              </a:prstGeom>
              <a:solidFill>
                <a:srgbClr val="C0504D">
                  <a:tint val="40000"/>
                  <a:hueOff val="0"/>
                  <a:satOff val="0"/>
                  <a:lumOff val="0"/>
                  <a:alphaOff val="0"/>
                </a:srgbClr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 z="190500" prstMaterial="plastic">
                <a:bevelT w="120900" h="88900"/>
                <a:bevelB w="88900" h="31750" prst="angle"/>
              </a:sp3d>
            </p:spPr>
          </p:sp>
          <p:sp>
            <p:nvSpPr>
              <p:cNvPr id="39" name="椭圆 38"/>
              <p:cNvSpPr/>
              <p:nvPr/>
            </p:nvSpPr>
            <p:spPr>
              <a:xfrm>
                <a:off x="6633488" y="1905000"/>
                <a:ext cx="2054854" cy="1071562"/>
              </a:xfrm>
              <a:prstGeom prst="ellipse">
                <a:avLst/>
              </a:prstGeom>
              <a:gradFill rotWithShape="1">
                <a:gsLst>
                  <a:gs pos="0">
                    <a:srgbClr val="4BACC6">
                      <a:shade val="51000"/>
                      <a:satMod val="130000"/>
                    </a:srgbClr>
                  </a:gs>
                  <a:gs pos="80000">
                    <a:srgbClr val="4BACC6">
                      <a:shade val="93000"/>
                      <a:satMod val="130000"/>
                    </a:srgbClr>
                  </a:gs>
                  <a:gs pos="100000">
                    <a:srgbClr val="4BACC6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/>
                <a:lightRig rig="flat" dir="t"/>
              </a:scene3d>
              <a:sp3d>
                <a:bevelT w="63500" h="25400"/>
              </a:sp3d>
            </p:spPr>
            <p:txBody>
              <a:bodyPr/>
              <a:lstStyle/>
              <a:p>
                <a:pPr algn="ctr" defTabSz="7112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0</a:t>
                </a:r>
                <a:r>
                  <a:rPr lang="en-US" sz="2400" b="1" kern="0" dirty="0">
                    <a:solidFill>
                      <a:sysClr val="window" lastClr="FFFFFF"/>
                    </a:solidFill>
                  </a:rPr>
                  <a:t>~</a:t>
                </a: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1</a:t>
                </a:r>
                <a:r>
                  <a:rPr lang="en-US" altLang="zh-CN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0</a:t>
                </a:r>
                <a:r>
                  <a:rPr 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0M</a:t>
                </a:r>
                <a:r>
                  <a:rPr lang="el-GR" sz="2400" b="1" kern="0" dirty="0">
                    <a:solidFill>
                      <a:sysClr val="window" lastClr="FFFFFF"/>
                    </a:solidFill>
                    <a:latin typeface="Calibri" panose="020F0502020204030204"/>
                  </a:rPr>
                  <a:t>Ω</a:t>
                </a:r>
                <a:endParaRPr lang="en-US" sz="2400" b="1" kern="0" dirty="0">
                  <a:solidFill>
                    <a:sysClr val="window" lastClr="FFFFFF"/>
                  </a:solidFill>
                  <a:latin typeface="Calibri" panose="020F0502020204030204"/>
                </a:endParaRPr>
              </a:p>
              <a:p>
                <a:pPr algn="ctr" defTabSz="7112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2400" b="1" kern="0" dirty="0">
                    <a:solidFill>
                      <a:sysClr val="window" lastClr="FFFFFF"/>
                    </a:solidFill>
                    <a:latin typeface="Calibri" panose="020F0502020204030204"/>
                    <a:ea typeface="宋体" panose="02010600030101010101" pitchFamily="2" charset="-122"/>
                  </a:rPr>
                  <a:t>电阻测量</a:t>
                </a:r>
              </a:p>
            </p:txBody>
          </p:sp>
        </p:grpSp>
      </p:grpSp>
      <p:sp>
        <p:nvSpPr>
          <p:cNvPr id="18437" name="Rectangle 2"/>
          <p:cNvSpPr>
            <a:spLocks noGrp="1"/>
          </p:cNvSpPr>
          <p:nvPr>
            <p:ph type="title" idx="4294967295"/>
          </p:nvPr>
        </p:nvSpPr>
        <p:spPr>
          <a:xfrm>
            <a:off x="1045028" y="275454"/>
            <a:ext cx="9136095" cy="720725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+mn-ea"/>
              </a:rPr>
              <a:t>SDM3055X-E </a:t>
            </a:r>
            <a:r>
              <a:rPr lang="zh-CN" altLang="en-US" sz="4000" b="1" dirty="0">
                <a:latin typeface="+mn-ea"/>
              </a:rPr>
              <a:t>万用表</a:t>
            </a:r>
            <a:r>
              <a:rPr lang="en-US" altLang="zh-CN" sz="4000" b="1" dirty="0">
                <a:latin typeface="+mn-ea"/>
              </a:rPr>
              <a:t>_</a:t>
            </a:r>
            <a:r>
              <a:rPr lang="zh-CN" altLang="en-US" sz="4000" b="1" dirty="0">
                <a:latin typeface="+mn-ea"/>
              </a:rPr>
              <a:t>实验课</a:t>
            </a:r>
            <a:r>
              <a:rPr lang="zh-CN" altLang="en-US" sz="4000" b="1" kern="0" dirty="0">
                <a:latin typeface="+mn-ea"/>
              </a:rPr>
              <a:t>基本使用</a:t>
            </a:r>
            <a:endParaRPr lang="zh-CN" altLang="en-US" sz="4000" dirty="0"/>
          </a:p>
        </p:txBody>
      </p:sp>
      <p:pic>
        <p:nvPicPr>
          <p:cNvPr id="28" name="图片 27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357959"/>
            <a:ext cx="9144000" cy="500042"/>
          </a:xfrm>
          <a:prstGeom prst="rect">
            <a:avLst/>
          </a:prstGeom>
        </p:spPr>
      </p:pic>
      <p:pic>
        <p:nvPicPr>
          <p:cNvPr id="29" name="图片 28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400" y="4612880"/>
            <a:ext cx="2619048" cy="4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3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0072" y="517137"/>
            <a:ext cx="8871856" cy="637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一、</a:t>
            </a:r>
            <a:r>
              <a:rPr lang="en-US" altLang="zh-CN" sz="3200" dirty="0"/>
              <a:t>SDM3055X-E</a:t>
            </a:r>
            <a:r>
              <a:rPr lang="zh-CN" altLang="en-US" sz="3200" dirty="0"/>
              <a:t>数字万用表</a:t>
            </a:r>
            <a:r>
              <a:rPr lang="en-US" altLang="zh-CN" sz="3200" dirty="0"/>
              <a:t>—</a:t>
            </a:r>
            <a:r>
              <a:rPr lang="zh-CN" altLang="en-US" sz="3200" dirty="0"/>
              <a:t>前面板介绍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4824" t="16855" r="1282" b="1536"/>
          <a:stretch/>
        </p:blipFill>
        <p:spPr>
          <a:xfrm>
            <a:off x="168642" y="1680478"/>
            <a:ext cx="11486329" cy="4502026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066800" y="5493653"/>
            <a:ext cx="5464629" cy="478972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923314" y="1959198"/>
            <a:ext cx="2612572" cy="1139598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923314" y="3098796"/>
            <a:ext cx="2612572" cy="1139598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781801" y="4354055"/>
            <a:ext cx="2612572" cy="1618570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644745" y="2094135"/>
            <a:ext cx="2010226" cy="3399518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6096000" y="6254623"/>
            <a:ext cx="2002971" cy="494520"/>
          </a:xfrm>
          <a:prstGeom prst="wedgeRoundRectCallout">
            <a:avLst>
              <a:gd name="adj1" fmla="val 49871"/>
              <a:gd name="adj2" fmla="val -124354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方向键</a:t>
            </a:r>
          </a:p>
        </p:txBody>
      </p:sp>
      <p:sp>
        <p:nvSpPr>
          <p:cNvPr id="18" name="圆角矩形标注 17"/>
          <p:cNvSpPr/>
          <p:nvPr/>
        </p:nvSpPr>
        <p:spPr>
          <a:xfrm>
            <a:off x="9579430" y="6230357"/>
            <a:ext cx="2002971" cy="518786"/>
          </a:xfrm>
          <a:prstGeom prst="wedgeRoundRectCallout">
            <a:avLst>
              <a:gd name="adj1" fmla="val -58824"/>
              <a:gd name="adj2" fmla="val -337082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辅助功能区</a:t>
            </a:r>
          </a:p>
        </p:txBody>
      </p:sp>
      <p:sp>
        <p:nvSpPr>
          <p:cNvPr id="19" name="圆角矩形标注 18"/>
          <p:cNvSpPr/>
          <p:nvPr/>
        </p:nvSpPr>
        <p:spPr>
          <a:xfrm>
            <a:off x="9601201" y="1117599"/>
            <a:ext cx="2002971" cy="515025"/>
          </a:xfrm>
          <a:prstGeom prst="wedgeRoundRectCallout">
            <a:avLst>
              <a:gd name="adj1" fmla="val -5563"/>
              <a:gd name="adj2" fmla="val 165989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测量输入端</a:t>
            </a:r>
          </a:p>
        </p:txBody>
      </p:sp>
      <p:sp>
        <p:nvSpPr>
          <p:cNvPr id="20" name="圆角矩形标注 19"/>
          <p:cNvSpPr/>
          <p:nvPr/>
        </p:nvSpPr>
        <p:spPr>
          <a:xfrm>
            <a:off x="2797628" y="6126018"/>
            <a:ext cx="2002971" cy="466617"/>
          </a:xfrm>
          <a:prstGeom prst="wedgeRoundRectCallout">
            <a:avLst>
              <a:gd name="adj1" fmla="val -43607"/>
              <a:gd name="adj2" fmla="val -86984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菜单选择键</a:t>
            </a:r>
          </a:p>
        </p:txBody>
      </p:sp>
      <p:sp>
        <p:nvSpPr>
          <p:cNvPr id="21" name="圆角矩形标注 20"/>
          <p:cNvSpPr/>
          <p:nvPr/>
        </p:nvSpPr>
        <p:spPr>
          <a:xfrm>
            <a:off x="7228114" y="1241770"/>
            <a:ext cx="2002971" cy="438708"/>
          </a:xfrm>
          <a:prstGeom prst="wedgeRoundRectCallout">
            <a:avLst>
              <a:gd name="adj1" fmla="val -25128"/>
              <a:gd name="adj2" fmla="val 114245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测量功能区</a:t>
            </a:r>
          </a:p>
        </p:txBody>
      </p:sp>
      <p:sp>
        <p:nvSpPr>
          <p:cNvPr id="22" name="圆角矩形标注 21"/>
          <p:cNvSpPr/>
          <p:nvPr/>
        </p:nvSpPr>
        <p:spPr>
          <a:xfrm>
            <a:off x="3882045" y="1277253"/>
            <a:ext cx="1734984" cy="390762"/>
          </a:xfrm>
          <a:prstGeom prst="wedgeRoundRectCallout">
            <a:avLst>
              <a:gd name="adj1" fmla="val -12243"/>
              <a:gd name="adj2" fmla="val 212771"/>
              <a:gd name="adj3" fmla="val 1666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显示区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3AC496-4BF7-42C3-8FD8-B4A569935BE8}"/>
              </a:ext>
            </a:extLst>
          </p:cNvPr>
          <p:cNvSpPr txBox="1"/>
          <p:nvPr/>
        </p:nvSpPr>
        <p:spPr>
          <a:xfrm>
            <a:off x="168643" y="6130970"/>
            <a:ext cx="161661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/>
              <a:t>电源键</a:t>
            </a:r>
            <a:r>
              <a:rPr lang="en-US" altLang="zh-CN" b="1"/>
              <a:t>&amp;</a:t>
            </a:r>
            <a:r>
              <a:rPr lang="zh-CN" altLang="en-US" b="1"/>
              <a:t>指示</a:t>
            </a:r>
            <a:endParaRPr lang="en-US" altLang="zh-CN" b="1"/>
          </a:p>
          <a:p>
            <a:r>
              <a:rPr lang="zh-CN" altLang="en-US"/>
              <a:t>关闭时要长按</a:t>
            </a:r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D2652FAD-8BD0-46B3-8B12-88AA91B462AD}"/>
              </a:ext>
            </a:extLst>
          </p:cNvPr>
          <p:cNvSpPr/>
          <p:nvPr/>
        </p:nvSpPr>
        <p:spPr>
          <a:xfrm>
            <a:off x="574766" y="5536173"/>
            <a:ext cx="241662" cy="589845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51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4057" y="411163"/>
            <a:ext cx="9144000" cy="633866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/>
              <a:t>二、测量功能区按键的功能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75429" y="1178150"/>
            <a:ext cx="6487886" cy="5660571"/>
          </a:xfrm>
        </p:spPr>
        <p:txBody>
          <a:bodyPr>
            <a:normAutofit lnSpcReduction="10000"/>
          </a:bodyPr>
          <a:lstStyle/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测量直流电压</a:t>
            </a:r>
            <a:r>
              <a:rPr lang="zh-CN" altLang="en-US" sz="2800" strike="dblStrike" dirty="0">
                <a:solidFill>
                  <a:schemeClr val="bg1">
                    <a:lumMod val="50000"/>
                  </a:schemeClr>
                </a:solidFill>
              </a:rPr>
              <a:t>或者直流电流</a:t>
            </a:r>
            <a:endParaRPr lang="en-US" altLang="zh-CN" sz="2800" strike="dblStrike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测量</a:t>
            </a:r>
            <a:r>
              <a:rPr lang="zh-CN" altLang="en-US" sz="2800" strike="dblStrike" dirty="0">
                <a:solidFill>
                  <a:schemeClr val="bg1">
                    <a:lumMod val="50000"/>
                  </a:schemeClr>
                </a:solidFill>
              </a:rPr>
              <a:t>交流电压或者交流电流</a:t>
            </a:r>
            <a:r>
              <a:rPr lang="en-US" altLang="zh-CN" sz="2800" strike="dblStrike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测量二线电阻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或者四线电阻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B050"/>
                </a:solidFill>
              </a:rPr>
              <a:t>测量电容       </a:t>
            </a:r>
            <a:r>
              <a:rPr lang="zh-CN" altLang="en-US" sz="2800" strike="dblStrike" dirty="0">
                <a:solidFill>
                  <a:schemeClr val="bg1">
                    <a:lumMod val="50000"/>
                  </a:schemeClr>
                </a:solidFill>
              </a:rPr>
              <a:t>或者频率</a:t>
            </a:r>
            <a:endParaRPr lang="en-US" altLang="zh-CN" sz="2800" strike="dblStrike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测量连通性   </a:t>
            </a:r>
            <a:r>
              <a:rPr lang="zh-CN" altLang="en-US" sz="2800" dirty="0"/>
              <a:t>或者</a:t>
            </a:r>
            <a:r>
              <a:rPr lang="zh-CN" altLang="en-US" sz="2800" dirty="0">
                <a:solidFill>
                  <a:srgbClr val="FF0000"/>
                </a:solidFill>
              </a:rPr>
              <a:t>二极管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测量温度       或者扫描卡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双显示功能  或者辅助系统功能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97" y="1138235"/>
            <a:ext cx="1124919" cy="5660571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2514603" y="1611087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491015" y="2402117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498272" y="3213776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500088" y="4030204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491014" y="4846632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2476500" y="5651041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2509160" y="6468601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F28FB86-4447-4FEA-8A96-F48166EE5751}"/>
              </a:ext>
            </a:extLst>
          </p:cNvPr>
          <p:cNvSpPr txBox="1"/>
          <p:nvPr/>
        </p:nvSpPr>
        <p:spPr>
          <a:xfrm>
            <a:off x="8835741" y="3429000"/>
            <a:ext cx="2713528" cy="2797048"/>
          </a:xfrm>
          <a:prstGeom prst="rect">
            <a:avLst/>
          </a:prstGeom>
          <a:noFill/>
          <a:ln w="50800" cmpd="dbl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再加删除线 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表示  此功能在本实验课内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禁止用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！如：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电流不测量；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交流由示波器测。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BDAF47-9598-4C91-A027-CE723B4C1363}"/>
              </a:ext>
            </a:extLst>
          </p:cNvPr>
          <p:cNvSpPr txBox="1"/>
          <p:nvPr/>
        </p:nvSpPr>
        <p:spPr>
          <a:xfrm>
            <a:off x="8835740" y="1376468"/>
            <a:ext cx="2713529" cy="16890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灰色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  此功能在本实验课内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不必掌握！</a:t>
            </a:r>
          </a:p>
        </p:txBody>
      </p:sp>
    </p:spTree>
    <p:extLst>
      <p:ext uri="{BB962C8B-B14F-4D97-AF65-F5344CB8AC3E}">
        <p14:creationId xmlns:p14="http://schemas.microsoft.com/office/powerpoint/2010/main" val="325040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4057" y="411163"/>
            <a:ext cx="9144000" cy="633866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/>
              <a:t>二、测量功能区按键的功能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80648" y="1125664"/>
            <a:ext cx="6487886" cy="5660571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采样设置或者帮助系统</a:t>
            </a:r>
            <a:endParaRPr lang="en-US" altLang="zh-CN" sz="2800" i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 algn="l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数学运算或者显示功能</a:t>
            </a:r>
            <a:endParaRPr lang="en-US" altLang="zh-CN" sz="2800" i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 algn="l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自动触发</a:t>
            </a:r>
            <a:r>
              <a:rPr lang="en-US" altLang="zh-CN" sz="2800" i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停止</a:t>
            </a:r>
            <a:endParaRPr lang="en-US" altLang="zh-CN" sz="2800" i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 algn="l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单次触发或者</a:t>
            </a:r>
            <a:r>
              <a:rPr lang="en-US" altLang="zh-CN" sz="2800" i="1" dirty="0">
                <a:solidFill>
                  <a:schemeClr val="bg1">
                    <a:lumMod val="50000"/>
                  </a:schemeClr>
                </a:solidFill>
              </a:rPr>
              <a:t>hold</a:t>
            </a: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测量功能</a:t>
            </a:r>
            <a:endParaRPr lang="en-US" altLang="zh-CN" sz="2800" i="1" dirty="0">
              <a:solidFill>
                <a:schemeClr val="bg1">
                  <a:lumMod val="50000"/>
                </a:schemeClr>
              </a:solidFill>
            </a:endParaRPr>
          </a:p>
          <a:p>
            <a:pPr marL="457200" indent="-457200" algn="l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FF0000"/>
                </a:solidFill>
              </a:rPr>
              <a:t>切换功能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从遥控状态返回</a:t>
            </a:r>
            <a:endParaRPr lang="en-US" altLang="zh-CN" sz="28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 algn="l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800" i="1" dirty="0">
                <a:solidFill>
                  <a:schemeClr val="bg1">
                    <a:lumMod val="50000"/>
                  </a:schemeClr>
                </a:solidFill>
              </a:rPr>
              <a:t>量程选择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11149"/>
            <a:ext cx="1059543" cy="5660571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2561772" y="1589314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480125" y="2416629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561772" y="3105568"/>
            <a:ext cx="595086" cy="1270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540001" y="3967241"/>
            <a:ext cx="616857" cy="2292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480124" y="4626034"/>
            <a:ext cx="698505" cy="3473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2583543" y="5839884"/>
            <a:ext cx="616857" cy="217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16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571" y="1317625"/>
            <a:ext cx="4880429" cy="16578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          键，进入直流电压</a:t>
            </a:r>
            <a:r>
              <a:rPr lang="en-US" altLang="zh-CN" dirty="0">
                <a:highlight>
                  <a:srgbClr val="FFFF00"/>
                </a:highlight>
              </a:rPr>
              <a:t>DC Voltage</a:t>
            </a:r>
            <a:r>
              <a:rPr lang="zh-CN" altLang="en-US" dirty="0"/>
              <a:t>测量界面</a:t>
            </a:r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—1.</a:t>
            </a:r>
            <a:r>
              <a:rPr lang="zh-CN" altLang="en-US" sz="3200" b="1" dirty="0"/>
              <a:t>测量直流电压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591" y="1173105"/>
            <a:ext cx="4419048" cy="2533333"/>
          </a:xfrm>
          <a:prstGeom prst="rect">
            <a:avLst/>
          </a:prstGeom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707571" y="3528468"/>
            <a:ext cx="4619172" cy="262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如图所示连接测量表笔和被测电路，红表笔插入</a:t>
            </a:r>
            <a:r>
              <a:rPr lang="en-US" altLang="zh-CN" dirty="0"/>
              <a:t>Input-HI</a:t>
            </a:r>
            <a:r>
              <a:rPr lang="zh-CN" altLang="en-US" dirty="0"/>
              <a:t>端，黑表笔插入</a:t>
            </a:r>
            <a:r>
              <a:rPr lang="en-US" altLang="zh-CN" dirty="0"/>
              <a:t>Input-LO</a:t>
            </a:r>
            <a:r>
              <a:rPr lang="zh-CN" altLang="en-US" dirty="0"/>
              <a:t>端。结果看显示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019" y="3706438"/>
            <a:ext cx="3905438" cy="30050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993" y="1391693"/>
            <a:ext cx="8763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6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571" y="1317625"/>
            <a:ext cx="4880429" cy="16578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         键，进入二线电阻</a:t>
            </a:r>
            <a:r>
              <a:rPr lang="en-US" altLang="zh-CN" dirty="0">
                <a:highlight>
                  <a:srgbClr val="FFFF00"/>
                </a:highlight>
              </a:rPr>
              <a:t>2 Wire Res</a:t>
            </a:r>
            <a:r>
              <a:rPr lang="zh-CN" altLang="en-US" dirty="0"/>
              <a:t>测量界面</a:t>
            </a:r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—2.</a:t>
            </a:r>
            <a:r>
              <a:rPr lang="zh-CN" altLang="en-US" sz="3200" b="1" dirty="0"/>
              <a:t>测量二线电阻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7571" y="3968152"/>
            <a:ext cx="4619172" cy="24907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如图所示连接测量表笔和被测电路，红表笔插入</a:t>
            </a:r>
            <a:r>
              <a:rPr lang="en-US" altLang="zh-CN" dirty="0"/>
              <a:t>Input-HI</a:t>
            </a:r>
            <a:r>
              <a:rPr lang="zh-CN" altLang="en-US" dirty="0"/>
              <a:t>端，黑表笔插入</a:t>
            </a:r>
            <a:r>
              <a:rPr lang="en-US" altLang="zh-CN" dirty="0"/>
              <a:t>Input-LO</a:t>
            </a:r>
            <a:r>
              <a:rPr lang="zh-CN" altLang="en-US" dirty="0"/>
              <a:t>端。结果看显示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1" y="1045029"/>
            <a:ext cx="4296229" cy="24923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81" y="3537393"/>
            <a:ext cx="4619172" cy="3030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618" y="1371589"/>
            <a:ext cx="862875" cy="6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1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571" y="1317625"/>
            <a:ext cx="4880429" cy="16578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         键，进入电容</a:t>
            </a:r>
            <a:r>
              <a:rPr lang="en-US" altLang="zh-CN" dirty="0" err="1">
                <a:highlight>
                  <a:srgbClr val="FFFF00"/>
                </a:highlight>
              </a:rPr>
              <a:t>Capa</a:t>
            </a:r>
            <a:r>
              <a:rPr lang="zh-CN" altLang="en-US" dirty="0"/>
              <a:t>测量界面</a:t>
            </a:r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—3.</a:t>
            </a:r>
            <a:r>
              <a:rPr lang="zh-CN" altLang="en-US" sz="3200" b="1" dirty="0"/>
              <a:t>测量电容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7571" y="3290960"/>
            <a:ext cx="4744323" cy="24733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如图所示连接测量表笔和被测器件，红表笔插入</a:t>
            </a:r>
            <a:r>
              <a:rPr lang="en-US" altLang="zh-CN" dirty="0"/>
              <a:t>Input-HI</a:t>
            </a:r>
            <a:r>
              <a:rPr lang="zh-CN" altLang="en-US" dirty="0"/>
              <a:t>端，黑表笔插入</a:t>
            </a:r>
            <a:r>
              <a:rPr lang="en-US" altLang="zh-CN" dirty="0"/>
              <a:t>Input-LO</a:t>
            </a:r>
            <a:r>
              <a:rPr lang="zh-CN" altLang="en-US" dirty="0"/>
              <a:t>端。结果看显示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1045029"/>
            <a:ext cx="4383314" cy="24733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3518372"/>
            <a:ext cx="5060377" cy="31627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620" y="1381595"/>
            <a:ext cx="862875" cy="65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0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—4.</a:t>
            </a:r>
            <a:r>
              <a:rPr lang="zh-CN" altLang="en-US" sz="3200" b="1" dirty="0"/>
              <a:t>测量电路的连通性（短路测量）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7571" y="2741368"/>
            <a:ext cx="4619172" cy="37888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如图所示连接测量表笔和被测电路，红表笔插入</a:t>
            </a:r>
            <a:r>
              <a:rPr lang="en-US" altLang="zh-CN" dirty="0"/>
              <a:t>Input-I</a:t>
            </a:r>
            <a:r>
              <a:rPr lang="zh-CN" altLang="en-US" dirty="0"/>
              <a:t>端，黑表笔插入</a:t>
            </a:r>
            <a:r>
              <a:rPr lang="en-US" altLang="zh-CN" dirty="0"/>
              <a:t>Input-LO</a:t>
            </a:r>
            <a:r>
              <a:rPr lang="zh-CN" altLang="en-US" dirty="0"/>
              <a:t>端。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当测量的电阻值低于设定值时，判定</a:t>
            </a:r>
            <a:r>
              <a:rPr lang="en-US" altLang="zh-CN" b="1" dirty="0">
                <a:solidFill>
                  <a:srgbClr val="FF0000"/>
                </a:solidFill>
              </a:rPr>
              <a:t>Close=</a:t>
            </a:r>
            <a:r>
              <a:rPr lang="zh-CN" altLang="en-US" dirty="0">
                <a:solidFill>
                  <a:srgbClr val="FF0000"/>
                </a:solidFill>
              </a:rPr>
              <a:t>电路连通</a:t>
            </a:r>
            <a:r>
              <a:rPr lang="zh-CN" altLang="en-US" dirty="0"/>
              <a:t>，同时仪器发出</a:t>
            </a:r>
            <a:r>
              <a:rPr lang="zh-CN" altLang="en-US" dirty="0">
                <a:solidFill>
                  <a:srgbClr val="0070C0"/>
                </a:solidFill>
              </a:rPr>
              <a:t>蜂鸣声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707571" y="1317624"/>
            <a:ext cx="4880429" cy="13996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/>
              <a:t>1.</a:t>
            </a:r>
            <a:r>
              <a:rPr lang="zh-CN" altLang="en-US" sz="2600" dirty="0"/>
              <a:t>按          键，进入连通性</a:t>
            </a:r>
            <a:r>
              <a:rPr lang="en-US" altLang="zh-CN" sz="2600" dirty="0">
                <a:highlight>
                  <a:srgbClr val="FFFF00"/>
                </a:highlight>
              </a:rPr>
              <a:t>Continuity</a:t>
            </a:r>
            <a:r>
              <a:rPr lang="zh-CN" altLang="en-US" sz="2600" dirty="0"/>
              <a:t>测量界面</a:t>
            </a:r>
            <a:endParaRPr lang="en-US" altLang="zh-CN" sz="2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879" y="1251469"/>
            <a:ext cx="3886200" cy="22193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879" y="3575764"/>
            <a:ext cx="4914673" cy="31092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539" y="1293577"/>
            <a:ext cx="8667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5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—5.</a:t>
            </a:r>
            <a:r>
              <a:rPr lang="zh-CN" altLang="en-US" sz="3200" b="1" dirty="0"/>
              <a:t>测量二极管导通或截止特性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7570" y="2907228"/>
            <a:ext cx="4619172" cy="38419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如图所示连接测量表笔和被测器件，红表笔插入</a:t>
            </a:r>
            <a:r>
              <a:rPr lang="en-US" altLang="zh-CN" dirty="0"/>
              <a:t>Input-I</a:t>
            </a:r>
            <a:r>
              <a:rPr lang="zh-CN" altLang="en-US" dirty="0"/>
              <a:t>端，黑表笔插入</a:t>
            </a:r>
            <a:r>
              <a:rPr lang="en-US" altLang="zh-CN" dirty="0"/>
              <a:t>Input-LO</a:t>
            </a:r>
            <a:r>
              <a:rPr lang="zh-CN" altLang="en-US" dirty="0"/>
              <a:t>端。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红黑表笔交换接触端再测一次。</a:t>
            </a:r>
            <a:r>
              <a:rPr lang="zh-CN" altLang="en-US" dirty="0">
                <a:solidFill>
                  <a:srgbClr val="0070C0"/>
                </a:solidFill>
              </a:rPr>
              <a:t>依结果综合分析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707571" y="1317625"/>
            <a:ext cx="4880429" cy="16578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按          键，再按          键，进入二极管</a:t>
            </a:r>
            <a:r>
              <a:rPr lang="en-US" altLang="zh-CN" dirty="0">
                <a:highlight>
                  <a:srgbClr val="FFFF00"/>
                </a:highlight>
              </a:rPr>
              <a:t>Diode</a:t>
            </a:r>
            <a:r>
              <a:rPr lang="zh-CN" altLang="en-US" dirty="0"/>
              <a:t>测量界面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67" y="1410890"/>
            <a:ext cx="810838" cy="63403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83" y="1317625"/>
            <a:ext cx="866775" cy="657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57" y="1169307"/>
            <a:ext cx="4314825" cy="2400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EEECD2-F98B-43D3-AE3C-C9E8D700A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057" y="3693885"/>
            <a:ext cx="4217059" cy="2965706"/>
          </a:xfrm>
          <a:prstGeom prst="rect">
            <a:avLst/>
          </a:prstGeom>
        </p:spPr>
      </p:pic>
      <p:sp>
        <p:nvSpPr>
          <p:cNvPr id="6" name="箭头: 下 5">
            <a:extLst>
              <a:ext uri="{FF2B5EF4-FFF2-40B4-BE49-F238E27FC236}">
                <a16:creationId xmlns:a16="http://schemas.microsoft.com/office/drawing/2014/main" id="{CF5C16CA-2849-4F28-A1EB-8B8F1E72F3C8}"/>
              </a:ext>
            </a:extLst>
          </p:cNvPr>
          <p:cNvSpPr/>
          <p:nvPr/>
        </p:nvSpPr>
        <p:spPr>
          <a:xfrm>
            <a:off x="4760843" y="6341165"/>
            <a:ext cx="215515" cy="4273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2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EE6CE6B-94C7-45F3-BAC5-1BE20B81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9" y="1794261"/>
            <a:ext cx="3462947" cy="2596583"/>
          </a:xfrm>
          <a:prstGeom prst="rect">
            <a:avLst/>
          </a:prstGeom>
        </p:spPr>
      </p:pic>
      <p:sp>
        <p:nvSpPr>
          <p:cNvPr id="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F31FDA3-E4AA-4E96-9846-663CAF91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529" y="1476784"/>
            <a:ext cx="7710217" cy="3604174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必须表笔交换测两次！</a:t>
            </a:r>
            <a:endParaRPr lang="en-US" altLang="zh-CN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正向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显示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导通电压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（硅管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0.6-0.7v 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；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负向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显示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截止特性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open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两结果正常，判断极性：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显示导通电压时，有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红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表笔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阳</a:t>
            </a:r>
            <a:r>
              <a:rPr lang="en-US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-P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；黑表笔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阴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K-N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任一结果异常：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排除操作问题，判定器件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坏！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1DFFC2-B4D3-4DC4-B698-2E10BF7B2714}"/>
              </a:ext>
            </a:extLst>
          </p:cNvPr>
          <p:cNvSpPr txBox="1">
            <a:spLocks/>
          </p:cNvSpPr>
          <p:nvPr/>
        </p:nvSpPr>
        <p:spPr>
          <a:xfrm>
            <a:off x="1074057" y="411163"/>
            <a:ext cx="9144000" cy="633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/>
              <a:t>三、基本测量</a:t>
            </a:r>
            <a:r>
              <a:rPr lang="en-US" altLang="zh-CN" sz="3200" b="1" dirty="0"/>
              <a:t>—5.</a:t>
            </a:r>
            <a:r>
              <a:rPr lang="zh-CN" altLang="en-US" sz="3200" b="1" dirty="0"/>
              <a:t>测量二极管导通或截止特性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CF199E-1738-4F19-AE7E-A462E2684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321" y="5189537"/>
            <a:ext cx="79724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4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563</Words>
  <Application>Microsoft Office PowerPoint</Application>
  <PresentationFormat>宽屏</PresentationFormat>
  <Paragraphs>61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等线 Light</vt:lpstr>
      <vt:lpstr>黑体</vt:lpstr>
      <vt:lpstr>华文楷体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SDM3055X-E 万用表_实验课基本使用</vt:lpstr>
      <vt:lpstr>PowerPoint 演示文稿</vt:lpstr>
      <vt:lpstr>二、测量功能区按键的功能</vt:lpstr>
      <vt:lpstr>二、测量功能区按键的功能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</dc:creator>
  <cp:lastModifiedBy>PanXM</cp:lastModifiedBy>
  <cp:revision>29</cp:revision>
  <dcterms:created xsi:type="dcterms:W3CDTF">2022-09-08T12:59:05Z</dcterms:created>
  <dcterms:modified xsi:type="dcterms:W3CDTF">2023-08-24T09:28:03Z</dcterms:modified>
</cp:coreProperties>
</file>