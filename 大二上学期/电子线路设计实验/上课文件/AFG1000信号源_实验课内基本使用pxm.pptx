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609" r:id="rId2"/>
    <p:sldId id="619" r:id="rId3"/>
    <p:sldId id="621" r:id="rId4"/>
    <p:sldId id="625" r:id="rId5"/>
    <p:sldId id="626" r:id="rId6"/>
    <p:sldId id="558" r:id="rId7"/>
    <p:sldId id="620" r:id="rId8"/>
    <p:sldId id="622" r:id="rId9"/>
    <p:sldId id="614" r:id="rId10"/>
    <p:sldId id="535" r:id="rId11"/>
    <p:sldId id="518" r:id="rId12"/>
    <p:sldId id="628" r:id="rId13"/>
    <p:sldId id="627" r:id="rId14"/>
    <p:sldId id="548" r:id="rId15"/>
  </p:sldIdLst>
  <p:sldSz cx="9144000" cy="6858000" type="screen4x3"/>
  <p:notesSz cx="9926638" cy="6669088"/>
  <p:custDataLst>
    <p:tags r:id="rId18"/>
  </p:custDataLst>
  <p:defaultTextStyle>
    <a:defPPr>
      <a:defRPr lang="zh-CN"/>
    </a:defPPr>
    <a:lvl1pPr algn="ctr"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ctr"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ctr"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ctr"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ctr"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1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n Ming" initials="PM"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722FA"/>
    <a:srgbClr val="FF9900"/>
    <a:srgbClr val="0000FF"/>
    <a:srgbClr val="FFFFCC"/>
    <a:srgbClr val="969696"/>
    <a:srgbClr val="5644FE"/>
    <a:srgbClr val="F0FE9C"/>
    <a:srgbClr val="8AE6AD"/>
    <a:srgbClr val="C8FFC8"/>
    <a:srgbClr val="82CC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62" autoAdjust="0"/>
    <p:restoredTop sz="91498" autoAdjust="0"/>
  </p:normalViewPr>
  <p:slideViewPr>
    <p:cSldViewPr>
      <p:cViewPr varScale="1">
        <p:scale>
          <a:sx n="81" d="100"/>
          <a:sy n="81" d="100"/>
        </p:scale>
        <p:origin x="1032" y="53"/>
      </p:cViewPr>
      <p:guideLst>
        <p:guide orient="horz" pos="2160"/>
        <p:guide pos="291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45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4302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kumimoji="1" sz="1200">
                <a:latin typeface="Times New Roman" panose="02020603050405020304" pitchFamily="18" charset="0"/>
              </a:defRPr>
            </a:lvl1pPr>
          </a:lstStyle>
          <a:p>
            <a:pPr>
              <a:defRPr/>
            </a:pPr>
            <a:endParaRPr lang="en-US" altLang="zh-CN"/>
          </a:p>
        </p:txBody>
      </p:sp>
      <p:sp>
        <p:nvSpPr>
          <p:cNvPr id="136195" name="Rectangle 3"/>
          <p:cNvSpPr>
            <a:spLocks noGrp="1" noChangeArrowheads="1"/>
          </p:cNvSpPr>
          <p:nvPr>
            <p:ph type="dt" sz="quarter" idx="1"/>
          </p:nvPr>
        </p:nvSpPr>
        <p:spPr bwMode="auto">
          <a:xfrm>
            <a:off x="5621338" y="0"/>
            <a:ext cx="43037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136196" name="Rectangle 4"/>
          <p:cNvSpPr>
            <a:spLocks noGrp="1" noChangeArrowheads="1"/>
          </p:cNvSpPr>
          <p:nvPr>
            <p:ph type="ftr" sz="quarter" idx="2"/>
          </p:nvPr>
        </p:nvSpPr>
        <p:spPr bwMode="auto">
          <a:xfrm>
            <a:off x="0" y="6334125"/>
            <a:ext cx="4302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kumimoji="1" sz="1200">
                <a:latin typeface="Times New Roman" panose="02020603050405020304" pitchFamily="18" charset="0"/>
              </a:defRPr>
            </a:lvl1pPr>
          </a:lstStyle>
          <a:p>
            <a:pPr>
              <a:defRPr/>
            </a:pPr>
            <a:endParaRPr lang="en-US" altLang="zh-CN"/>
          </a:p>
        </p:txBody>
      </p:sp>
      <p:sp>
        <p:nvSpPr>
          <p:cNvPr id="136197" name="Rectangle 5"/>
          <p:cNvSpPr>
            <a:spLocks noGrp="1" noChangeArrowheads="1"/>
          </p:cNvSpPr>
          <p:nvPr>
            <p:ph type="sldNum" sz="quarter" idx="3"/>
          </p:nvPr>
        </p:nvSpPr>
        <p:spPr bwMode="auto">
          <a:xfrm>
            <a:off x="5621338" y="6334125"/>
            <a:ext cx="4303712"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9DB73A74-6064-4BD9-9506-BF38BCD3FD47}" type="slidenum">
              <a:rPr lang="en-US" altLang="zh-CN"/>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4302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kumimoji="1" sz="1200">
                <a:latin typeface="Times New Roman" panose="02020603050405020304" pitchFamily="18" charset="0"/>
              </a:defRPr>
            </a:lvl1pPr>
          </a:lstStyle>
          <a:p>
            <a:pPr>
              <a:defRPr/>
            </a:pPr>
            <a:endParaRPr lang="en-US" altLang="zh-CN"/>
          </a:p>
        </p:txBody>
      </p:sp>
      <p:sp>
        <p:nvSpPr>
          <p:cNvPr id="53251" name="Rectangle 3"/>
          <p:cNvSpPr>
            <a:spLocks noGrp="1" noChangeArrowheads="1"/>
          </p:cNvSpPr>
          <p:nvPr>
            <p:ph type="dt" idx="1"/>
          </p:nvPr>
        </p:nvSpPr>
        <p:spPr bwMode="auto">
          <a:xfrm>
            <a:off x="5624513" y="0"/>
            <a:ext cx="4302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pPr>
              <a:defRPr/>
            </a:pPr>
            <a:endParaRPr lang="en-US" altLang="zh-CN"/>
          </a:p>
        </p:txBody>
      </p:sp>
      <p:sp>
        <p:nvSpPr>
          <p:cNvPr id="55300" name="Rectangle 4"/>
          <p:cNvSpPr>
            <a:spLocks noGrp="1" noRot="1" noChangeAspect="1" noChangeArrowheads="1" noTextEdit="1"/>
          </p:cNvSpPr>
          <p:nvPr>
            <p:ph type="sldImg" idx="2"/>
          </p:nvPr>
        </p:nvSpPr>
        <p:spPr bwMode="auto">
          <a:xfrm>
            <a:off x="3295650" y="500063"/>
            <a:ext cx="3335338" cy="25019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3" name="Rectangle 5"/>
          <p:cNvSpPr>
            <a:spLocks noGrp="1" noChangeArrowheads="1"/>
          </p:cNvSpPr>
          <p:nvPr>
            <p:ph type="body" sz="quarter" idx="3"/>
          </p:nvPr>
        </p:nvSpPr>
        <p:spPr bwMode="auto">
          <a:xfrm>
            <a:off x="1323975" y="3167063"/>
            <a:ext cx="7278688" cy="300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3254" name="Rectangle 6"/>
          <p:cNvSpPr>
            <a:spLocks noGrp="1" noChangeArrowheads="1"/>
          </p:cNvSpPr>
          <p:nvPr>
            <p:ph type="ftr" sz="quarter" idx="4"/>
          </p:nvPr>
        </p:nvSpPr>
        <p:spPr bwMode="auto">
          <a:xfrm>
            <a:off x="0" y="6335713"/>
            <a:ext cx="4302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defRPr kumimoji="1" sz="1200">
                <a:latin typeface="Times New Roman" panose="02020603050405020304" pitchFamily="18" charset="0"/>
              </a:defRPr>
            </a:lvl1pPr>
          </a:lstStyle>
          <a:p>
            <a:pPr>
              <a:defRPr/>
            </a:pPr>
            <a:endParaRPr lang="en-US" altLang="zh-CN"/>
          </a:p>
        </p:txBody>
      </p:sp>
      <p:sp>
        <p:nvSpPr>
          <p:cNvPr id="53255" name="Rectangle 7"/>
          <p:cNvSpPr>
            <a:spLocks noGrp="1" noChangeArrowheads="1"/>
          </p:cNvSpPr>
          <p:nvPr>
            <p:ph type="sldNum" sz="quarter" idx="5"/>
          </p:nvPr>
        </p:nvSpPr>
        <p:spPr bwMode="auto">
          <a:xfrm>
            <a:off x="5624513" y="6335713"/>
            <a:ext cx="43021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pPr>
              <a:defRPr/>
            </a:pPr>
            <a:fld id="{637605B6-D285-40DF-BC7A-D69FC6790432}"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637605B6-D285-40DF-BC7A-D69FC6790432}" type="slidenum">
              <a:rPr lang="en-US" altLang="zh-CN" smtClean="0"/>
              <a:t>7</a:t>
            </a:fld>
            <a:endParaRPr lang="en-US" altLang="zh-CN"/>
          </a:p>
        </p:txBody>
      </p:sp>
    </p:spTree>
    <p:extLst>
      <p:ext uri="{BB962C8B-B14F-4D97-AF65-F5344CB8AC3E}">
        <p14:creationId xmlns:p14="http://schemas.microsoft.com/office/powerpoint/2010/main" val="2060851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637605B6-D285-40DF-BC7A-D69FC6790432}" type="slidenum">
              <a:rPr lang="en-US" altLang="zh-CN" smtClean="0"/>
              <a:t>11</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637605B6-D285-40DF-BC7A-D69FC6790432}" type="slidenum">
              <a:rPr lang="en-US" altLang="zh-CN" smtClean="0"/>
              <a:t>13</a:t>
            </a:fld>
            <a:endParaRPr lang="en-US" altLang="zh-CN"/>
          </a:p>
        </p:txBody>
      </p:sp>
    </p:spTree>
    <p:extLst>
      <p:ext uri="{BB962C8B-B14F-4D97-AF65-F5344CB8AC3E}">
        <p14:creationId xmlns:p14="http://schemas.microsoft.com/office/powerpoint/2010/main" val="118813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CCFFCC">
                <a:gamma/>
                <a:tint val="34902"/>
                <a:invGamma/>
              </a:srgbClr>
            </a:gs>
            <a:gs pos="100000">
              <a:srgbClr val="CCFFCC"/>
            </a:gs>
          </a:gsLst>
          <a:lin ang="5400000" scaled="1"/>
        </a:gradFill>
        <a:effectLst/>
      </p:bgPr>
    </p:bg>
    <p:spTree>
      <p:nvGrpSpPr>
        <p:cNvPr id="1" name=""/>
        <p:cNvGrpSpPr/>
        <p:nvPr/>
      </p:nvGrpSpPr>
      <p:grpSpPr>
        <a:xfrm>
          <a:off x="0" y="0"/>
          <a:ext cx="0" cy="0"/>
          <a:chOff x="0" y="0"/>
          <a:chExt cx="0" cy="0"/>
        </a:xfrm>
      </p:grpSpPr>
      <p:sp>
        <p:nvSpPr>
          <p:cNvPr id="3074" name="Line 2"/>
          <p:cNvSpPr>
            <a:spLocks noChangeShapeType="1"/>
          </p:cNvSpPr>
          <p:nvPr/>
        </p:nvSpPr>
        <p:spPr bwMode="auto">
          <a:xfrm>
            <a:off x="88900" y="914400"/>
            <a:ext cx="8978900" cy="0"/>
          </a:xfrm>
          <a:prstGeom prst="line">
            <a:avLst/>
          </a:prstGeom>
          <a:noFill/>
          <a:ln w="63500">
            <a:solidFill>
              <a:srgbClr val="FFCC00"/>
            </a:solidFill>
            <a:round/>
          </a:ln>
          <a:effectLst>
            <a:outerShdw dist="17961" dir="2700000" algn="ctr" rotWithShape="0">
              <a:srgbClr val="997A00"/>
            </a:outerShdw>
          </a:effectLst>
          <a:extLst>
            <a:ext uri="{909E8E84-426E-40DD-AFC4-6F175D3DCCD1}">
              <a14:hiddenFill xmlns:a14="http://schemas.microsoft.com/office/drawing/2010/main">
                <a:noFill/>
              </a14:hiddenFill>
            </a:ext>
          </a:extLst>
        </p:spPr>
        <p:txBody>
          <a:bodyPr/>
          <a:lstStyle/>
          <a:p>
            <a:endParaRPr lang="zh-CN" altLang="en-US"/>
          </a:p>
        </p:txBody>
      </p:sp>
      <p:sp>
        <p:nvSpPr>
          <p:cNvPr id="93187" name="Line 3"/>
          <p:cNvSpPr>
            <a:spLocks noChangeShapeType="1"/>
          </p:cNvSpPr>
          <p:nvPr/>
        </p:nvSpPr>
        <p:spPr bwMode="auto">
          <a:xfrm>
            <a:off x="88900" y="6604000"/>
            <a:ext cx="8978900" cy="0"/>
          </a:xfrm>
          <a:prstGeom prst="line">
            <a:avLst/>
          </a:prstGeom>
          <a:noFill/>
          <a:ln w="9525">
            <a:solidFill>
              <a:schemeClr val="bg2"/>
            </a:solidFill>
            <a:round/>
          </a:ln>
          <a:effectLst>
            <a:outerShdw dist="17961" dir="2700000" algn="ctr" rotWithShape="0">
              <a:srgbClr val="000000"/>
            </a:outerShdw>
          </a:effectLst>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2378695"/>
          </a:xfrm>
        </p:spPr>
        <p:txBody>
          <a:bodyPr/>
          <a:lstStyle/>
          <a:p>
            <a:pPr>
              <a:lnSpc>
                <a:spcPct val="150000"/>
              </a:lnSpc>
              <a:spcBef>
                <a:spcPts val="1200"/>
              </a:spcBef>
              <a:spcAft>
                <a:spcPts val="1200"/>
              </a:spcAft>
            </a:pPr>
            <a:r>
              <a:rPr lang="zh-CN" altLang="en-US" b="1" u="sng">
                <a:solidFill>
                  <a:srgbClr val="0000FF"/>
                </a:solidFill>
                <a:latin typeface="华文楷体" panose="02010600040101010101" pitchFamily="2" charset="-122"/>
                <a:ea typeface="华文楷体" panose="02010600040101010101" pitchFamily="2" charset="-122"/>
              </a:rPr>
              <a:t>泰克</a:t>
            </a:r>
            <a:r>
              <a:rPr lang="zh-CN" altLang="en-US" b="1" u="sng">
                <a:solidFill>
                  <a:srgbClr val="0000FF"/>
                </a:solidFill>
                <a:latin typeface="华文楷体" panose="02010600040101010101" pitchFamily="2" charset="-122"/>
                <a:ea typeface="华文楷体" panose="02010600040101010101" pitchFamily="2" charset="-122"/>
                <a:sym typeface="+mn-ea"/>
              </a:rPr>
              <a:t> </a:t>
            </a:r>
            <a:r>
              <a:rPr lang="en-US" altLang="zh-CN" b="1" u="sng">
                <a:solidFill>
                  <a:srgbClr val="0000FF"/>
                </a:solidFill>
                <a:latin typeface="华文楷体" panose="02010600040101010101" pitchFamily="2" charset="-122"/>
                <a:ea typeface="华文楷体" panose="02010600040101010101" pitchFamily="2" charset="-122"/>
                <a:sym typeface="+mn-ea"/>
              </a:rPr>
              <a:t>AFG1000</a:t>
            </a:r>
            <a:r>
              <a:rPr lang="zh-CN" altLang="en-US" b="1" u="sng">
                <a:solidFill>
                  <a:srgbClr val="0000FF"/>
                </a:solidFill>
                <a:latin typeface="华文楷体" panose="02010600040101010101" pitchFamily="2" charset="-122"/>
                <a:ea typeface="华文楷体" panose="02010600040101010101" pitchFamily="2" charset="-122"/>
                <a:sym typeface="+mn-ea"/>
              </a:rPr>
              <a:t>信号源</a:t>
            </a:r>
            <a:br>
              <a:rPr lang="en-US" altLang="zh-CN" b="1" u="sng">
                <a:solidFill>
                  <a:srgbClr val="0000FF"/>
                </a:solidFill>
                <a:latin typeface="华文楷体" panose="02010600040101010101" pitchFamily="2" charset="-122"/>
                <a:ea typeface="华文楷体" panose="02010600040101010101" pitchFamily="2" charset="-122"/>
                <a:sym typeface="+mn-ea"/>
              </a:rPr>
            </a:br>
            <a:r>
              <a:rPr lang="zh-CN" altLang="en-US" b="1">
                <a:solidFill>
                  <a:srgbClr val="0000FF"/>
                </a:solidFill>
                <a:latin typeface="华文楷体" panose="02010600040101010101" pitchFamily="2" charset="-122"/>
                <a:ea typeface="华文楷体" panose="02010600040101010101" pitchFamily="2" charset="-122"/>
                <a:sym typeface="+mn-ea"/>
              </a:rPr>
              <a:t>实验课内基本使用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564515"/>
          </a:xfrm>
        </p:spPr>
        <p:txBody>
          <a:bodyPr vert="horz" wrap="square" lIns="0" tIns="0" rIns="0" bIns="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1">
                <a:ln>
                  <a:noFill/>
                </a:ln>
                <a:solidFill>
                  <a:schemeClr val="tx2"/>
                </a:solidFill>
                <a:effectLst>
                  <a:outerShdw blurRad="38100" dist="38100" dir="2700000">
                    <a:srgbClr val="C0C0C0"/>
                  </a:outerShdw>
                </a:effectLst>
                <a:uLnTx/>
                <a:uFillTx/>
                <a:latin typeface="宋体" panose="02010600030101010101" pitchFamily="2" charset="-122"/>
                <a:ea typeface="+mj-ea"/>
                <a:cs typeface="+mj-cs"/>
              </a:rPr>
              <a:t>信号源基础认知</a:t>
            </a:r>
            <a:endParaRPr kumimoji="0" lang="zh-CN" altLang="en-US" sz="3200" b="0" i="0" u="none" strike="noStrike" kern="1200" cap="none" spc="0" normalizeH="0" baseline="0" noProof="1">
              <a:ln>
                <a:noFill/>
              </a:ln>
              <a:solidFill>
                <a:schemeClr val="tx2"/>
              </a:solidFill>
              <a:effectLst/>
              <a:uLnTx/>
              <a:uFillTx/>
              <a:latin typeface="+mj-lt"/>
              <a:ea typeface="+mj-ea"/>
              <a:cs typeface="+mj-cs"/>
            </a:endParaRPr>
          </a:p>
        </p:txBody>
      </p:sp>
      <p:sp>
        <p:nvSpPr>
          <p:cNvPr id="3076" name="内容占位符 5"/>
          <p:cNvSpPr>
            <a:spLocks noGrp="1"/>
          </p:cNvSpPr>
          <p:nvPr>
            <p:ph idx="1"/>
          </p:nvPr>
        </p:nvSpPr>
        <p:spPr/>
        <p:txBody>
          <a:bodyPr vert="horz" wrap="square" lIns="0" tIns="0" rIns="0" bIns="0" anchor="t" anchorCtr="0"/>
          <a:lstStyle/>
          <a:p>
            <a:pPr eaLnBrk="1" hangingPunct="1">
              <a:lnSpc>
                <a:spcPct val="150000"/>
              </a:lnSpc>
            </a:pPr>
            <a:r>
              <a:rPr lang="zh-CN" altLang="en-US" sz="2400">
                <a:sym typeface="+mn-ea"/>
              </a:rPr>
              <a:t>信号源</a:t>
            </a:r>
            <a:r>
              <a:rPr lang="zh-CN" altLang="en-US" sz="2400"/>
              <a:t>（</a:t>
            </a:r>
            <a:r>
              <a:rPr lang="zh-CN" altLang="en-US" sz="2400">
                <a:sym typeface="+mn-ea"/>
              </a:rPr>
              <a:t>信号发生器</a:t>
            </a:r>
            <a:r>
              <a:rPr lang="zh-CN" altLang="en-US" sz="2400"/>
              <a:t>、信源、函数信号发生器、函数波形发生器 ）</a:t>
            </a:r>
            <a:r>
              <a:rPr lang="en-US" altLang="zh-CN" sz="2400"/>
              <a:t>~</a:t>
            </a:r>
            <a:r>
              <a:rPr lang="en-US" altLang="zh-CN" sz="2400">
                <a:solidFill>
                  <a:srgbClr val="000000"/>
                </a:solidFill>
                <a:latin typeface="华文楷体" panose="02010600040101010101" pitchFamily="2" charset="-122"/>
                <a:ea typeface="华文楷体" panose="02010600040101010101" pitchFamily="2" charset="-122"/>
              </a:rPr>
              <a:t> </a:t>
            </a:r>
            <a:r>
              <a:rPr lang="zh-CN" altLang="en-US" sz="2400">
                <a:solidFill>
                  <a:srgbClr val="000000"/>
                </a:solidFill>
                <a:latin typeface="华文楷体" panose="02010600040101010101" pitchFamily="2" charset="-122"/>
                <a:ea typeface="华文楷体" panose="02010600040101010101" pitchFamily="2" charset="-122"/>
              </a:rPr>
              <a:t>产生实验课用的</a:t>
            </a:r>
            <a:r>
              <a:rPr lang="zh-CN" altLang="en-US" sz="2400">
                <a:solidFill>
                  <a:srgbClr val="000000"/>
                </a:solidFill>
                <a:latin typeface="华文楷体" panose="02010600040101010101" pitchFamily="2" charset="-122"/>
                <a:ea typeface="华文楷体" panose="02010600040101010101" pitchFamily="2" charset="-122"/>
                <a:sym typeface="+mn-ea"/>
              </a:rPr>
              <a:t>简单周期函数信号</a:t>
            </a:r>
            <a:r>
              <a:rPr lang="en-US" altLang="zh-CN" sz="2400"/>
              <a:t>     </a:t>
            </a:r>
          </a:p>
          <a:p>
            <a:pPr eaLnBrk="1" hangingPunct="1">
              <a:lnSpc>
                <a:spcPct val="150000"/>
              </a:lnSpc>
            </a:pPr>
            <a:r>
              <a:rPr lang="zh-CN" altLang="en-US" sz="2400">
                <a:sym typeface="+mn-ea"/>
              </a:rPr>
              <a:t>信号源</a:t>
            </a:r>
            <a:r>
              <a:rPr lang="zh-CN" altLang="en-US" sz="2400" b="1">
                <a:sym typeface="+mn-ea"/>
              </a:rPr>
              <a:t>输出</a:t>
            </a:r>
            <a:r>
              <a:rPr lang="en-US" altLang="zh-CN" sz="2400">
                <a:sym typeface="+mn-ea"/>
              </a:rPr>
              <a:t>~</a:t>
            </a:r>
            <a:r>
              <a:rPr lang="zh-CN" altLang="en-US" sz="2400">
                <a:solidFill>
                  <a:srgbClr val="000000"/>
                </a:solidFill>
                <a:latin typeface="华文楷体" panose="02010600040101010101" pitchFamily="2" charset="-122"/>
                <a:ea typeface="华文楷体" panose="02010600040101010101" pitchFamily="2" charset="-122"/>
                <a:sym typeface="+mn-ea"/>
              </a:rPr>
              <a:t>实验电路</a:t>
            </a:r>
            <a:r>
              <a:rPr lang="zh-CN" altLang="en-US" sz="2400" b="1">
                <a:solidFill>
                  <a:srgbClr val="000000"/>
                </a:solidFill>
                <a:latin typeface="华文楷体" panose="02010600040101010101" pitchFamily="2" charset="-122"/>
                <a:ea typeface="华文楷体" panose="02010600040101010101" pitchFamily="2" charset="-122"/>
                <a:sym typeface="+mn-ea"/>
              </a:rPr>
              <a:t>输入</a:t>
            </a:r>
            <a:endParaRPr lang="zh-CN" altLang="en-US" sz="2400" b="1">
              <a:solidFill>
                <a:srgbClr val="000000"/>
              </a:solidFill>
              <a:latin typeface="华文楷体" panose="02010600040101010101" pitchFamily="2" charset="-122"/>
              <a:ea typeface="华文楷体" panose="02010600040101010101" pitchFamily="2" charset="-122"/>
            </a:endParaRPr>
          </a:p>
          <a:p>
            <a:pPr eaLnBrk="1" hangingPunct="1">
              <a:lnSpc>
                <a:spcPct val="150000"/>
              </a:lnSpc>
            </a:pPr>
            <a:r>
              <a:rPr lang="zh-CN" altLang="en-US" sz="2400"/>
              <a:t>设备</a:t>
            </a:r>
            <a:r>
              <a:rPr lang="en-US" altLang="zh-CN" sz="2400" b="1"/>
              <a:t>AFG1000 </a:t>
            </a:r>
            <a:r>
              <a:rPr lang="zh-CN" altLang="en-US" sz="2400"/>
              <a:t>课内只掌握 </a:t>
            </a:r>
            <a:r>
              <a:rPr lang="zh-CN" altLang="en-US" sz="2400" b="1"/>
              <a:t>函数信号发生</a:t>
            </a:r>
            <a:r>
              <a:rPr lang="zh-CN" altLang="en-US" sz="2400"/>
              <a:t> 功能</a:t>
            </a:r>
            <a:endParaRPr lang="en-US" altLang="zh-CN" sz="2400"/>
          </a:p>
          <a:p>
            <a:pPr eaLnBrk="1" hangingPunct="1">
              <a:lnSpc>
                <a:spcPct val="150000"/>
              </a:lnSpc>
            </a:pPr>
            <a:r>
              <a:rPr lang="zh-CN" altLang="en-US" sz="2400"/>
              <a:t>关闭及不误采用（实验课内不需要用的）功能：</a:t>
            </a:r>
            <a:r>
              <a:rPr lang="zh-CN" altLang="en-US" sz="2400">
                <a:solidFill>
                  <a:srgbClr val="000000"/>
                </a:solidFill>
                <a:latin typeface="华文楷体" panose="02010600040101010101" pitchFamily="2" charset="-122"/>
                <a:ea typeface="华文楷体" panose="02010600040101010101" pitchFamily="2" charset="-122"/>
              </a:rPr>
              <a:t>调制波形产生</a:t>
            </a:r>
            <a:r>
              <a:rPr lang="en-US" altLang="zh-CN" sz="2400">
                <a:solidFill>
                  <a:srgbClr val="000000"/>
                </a:solidFill>
                <a:latin typeface="华文楷体" panose="02010600040101010101" pitchFamily="2" charset="-122"/>
                <a:ea typeface="华文楷体" panose="02010600040101010101" pitchFamily="2" charset="-122"/>
              </a:rPr>
              <a:t> </a:t>
            </a:r>
            <a:r>
              <a:rPr lang="zh-CN" altLang="en-US" sz="2400">
                <a:solidFill>
                  <a:srgbClr val="000000"/>
                </a:solidFill>
                <a:latin typeface="华文楷体" panose="02010600040101010101" pitchFamily="2" charset="-122"/>
                <a:ea typeface="华文楷体" panose="02010600040101010101" pitchFamily="2" charset="-122"/>
              </a:rPr>
              <a:t>、任意波形产生、频率计（示波器功能代替）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D7C324E-309F-483B-803C-51D639A31515}"/>
              </a:ext>
            </a:extLst>
          </p:cNvPr>
          <p:cNvPicPr>
            <a:picLocks noChangeAspect="1"/>
          </p:cNvPicPr>
          <p:nvPr/>
        </p:nvPicPr>
        <p:blipFill>
          <a:blip r:embed="rId2"/>
          <a:stretch>
            <a:fillRect/>
          </a:stretch>
        </p:blipFill>
        <p:spPr>
          <a:xfrm>
            <a:off x="178077" y="1001088"/>
            <a:ext cx="6165482" cy="3219999"/>
          </a:xfrm>
          <a:prstGeom prst="rect">
            <a:avLst/>
          </a:prstGeom>
        </p:spPr>
      </p:pic>
      <p:sp>
        <p:nvSpPr>
          <p:cNvPr id="5122" name="标题 3073"/>
          <p:cNvSpPr>
            <a:spLocks noGrp="1"/>
          </p:cNvSpPr>
          <p:nvPr>
            <p:ph type="ctrTitle"/>
          </p:nvPr>
        </p:nvSpPr>
        <p:spPr>
          <a:xfrm>
            <a:off x="250825" y="260350"/>
            <a:ext cx="6585585" cy="527050"/>
          </a:xfrm>
        </p:spPr>
        <p:txBody>
          <a:bodyPr vert="horz" wrap="square" lIns="91440" tIns="45720" rIns="91440" bIns="45720" anchor="ctr" anchorCtr="0"/>
          <a:lstStyle/>
          <a:p>
            <a:pPr algn="l" eaLnBrk="1" hangingPunct="1">
              <a:buClrTx/>
              <a:buSzTx/>
              <a:buFontTx/>
            </a:pPr>
            <a:r>
              <a:rPr lang="en-US" altLang="zh-CN" sz="3600" kern="1200">
                <a:latin typeface="+mj-lt"/>
                <a:ea typeface="+mj-ea"/>
                <a:cs typeface="+mj-cs"/>
              </a:rPr>
              <a:t>AFG1000</a:t>
            </a:r>
            <a:r>
              <a:rPr lang="zh-CN" altLang="zh-CN" sz="3600" kern="1200">
                <a:latin typeface="+mj-lt"/>
                <a:ea typeface="+mj-ea"/>
                <a:cs typeface="+mj-cs"/>
              </a:rPr>
              <a:t>信号源面板</a:t>
            </a:r>
          </a:p>
        </p:txBody>
      </p:sp>
      <p:sp>
        <p:nvSpPr>
          <p:cNvPr id="2" name="文本框 1">
            <a:extLst>
              <a:ext uri="{FF2B5EF4-FFF2-40B4-BE49-F238E27FC236}">
                <a16:creationId xmlns:a16="http://schemas.microsoft.com/office/drawing/2014/main" id="{47210FE7-BBF0-45D7-81F4-8540EEE7853D}"/>
              </a:ext>
            </a:extLst>
          </p:cNvPr>
          <p:cNvSpPr txBox="1"/>
          <p:nvPr/>
        </p:nvSpPr>
        <p:spPr>
          <a:xfrm>
            <a:off x="6516216" y="1212483"/>
            <a:ext cx="2473552" cy="2846933"/>
          </a:xfrm>
          <a:prstGeom prst="rect">
            <a:avLst/>
          </a:prstGeom>
          <a:solidFill>
            <a:schemeClr val="accent1"/>
          </a:solidFill>
          <a:ln w="25400">
            <a:solidFill>
              <a:srgbClr val="00B050"/>
            </a:solidFill>
          </a:ln>
        </p:spPr>
        <p:txBody>
          <a:bodyPr wrap="square" rtlCol="0">
            <a:spAutoFit/>
          </a:bodyPr>
          <a:lstStyle/>
          <a:p>
            <a:pPr algn="l">
              <a:spcBef>
                <a:spcPts val="600"/>
              </a:spcBef>
            </a:pPr>
            <a:r>
              <a:rPr lang="zh-CN" altLang="en-US" b="1"/>
              <a:t>常用</a:t>
            </a:r>
            <a:r>
              <a:rPr lang="zh-CN" altLang="en-US"/>
              <a:t>（详述见后）</a:t>
            </a:r>
            <a:endParaRPr lang="en-US" altLang="zh-CN"/>
          </a:p>
          <a:p>
            <a:pPr algn="l">
              <a:spcBef>
                <a:spcPts val="600"/>
              </a:spcBef>
            </a:pPr>
            <a:r>
              <a:rPr lang="en-US" altLang="zh-CN" b="1">
                <a:highlight>
                  <a:srgbClr val="FF9900"/>
                </a:highlight>
              </a:rPr>
              <a:t>15</a:t>
            </a:r>
            <a:r>
              <a:rPr lang="en-US" altLang="zh-CN"/>
              <a:t>—</a:t>
            </a:r>
            <a:r>
              <a:rPr lang="zh-CN" altLang="en-US"/>
              <a:t>电源键</a:t>
            </a:r>
            <a:endParaRPr lang="en-US" altLang="zh-CN" i="1">
              <a:highlight>
                <a:srgbClr val="FFFF00"/>
              </a:highlight>
            </a:endParaRPr>
          </a:p>
          <a:p>
            <a:pPr algn="l">
              <a:spcBef>
                <a:spcPts val="600"/>
              </a:spcBef>
            </a:pPr>
            <a:r>
              <a:rPr lang="en-US" altLang="zh-CN" b="1">
                <a:highlight>
                  <a:srgbClr val="FF9900"/>
                </a:highlight>
              </a:rPr>
              <a:t>14</a:t>
            </a:r>
            <a:r>
              <a:rPr lang="en-US" altLang="zh-CN"/>
              <a:t>—</a:t>
            </a:r>
            <a:r>
              <a:rPr lang="zh-CN" altLang="en-US"/>
              <a:t>波形选择</a:t>
            </a:r>
            <a:endParaRPr lang="en-US" altLang="zh-CN"/>
          </a:p>
          <a:p>
            <a:pPr algn="l">
              <a:spcBef>
                <a:spcPts val="600"/>
              </a:spcBef>
            </a:pPr>
            <a:r>
              <a:rPr lang="en-US" altLang="zh-CN" b="1">
                <a:highlight>
                  <a:srgbClr val="FF9900"/>
                </a:highlight>
              </a:rPr>
              <a:t>12</a:t>
            </a:r>
            <a:r>
              <a:rPr lang="en-US" altLang="zh-CN"/>
              <a:t>—</a:t>
            </a:r>
            <a:r>
              <a:rPr lang="zh-CN" altLang="en-US"/>
              <a:t>通道选择</a:t>
            </a:r>
            <a:r>
              <a:rPr lang="zh-CN" altLang="en-US" i="1"/>
              <a:t>（</a:t>
            </a:r>
            <a:r>
              <a:rPr lang="en-US" altLang="zh-CN" i="1"/>
              <a:t>CH1</a:t>
            </a:r>
            <a:r>
              <a:rPr lang="zh-CN" altLang="en-US" i="1"/>
              <a:t>）</a:t>
            </a:r>
            <a:endParaRPr lang="en-US" altLang="zh-CN" i="1"/>
          </a:p>
          <a:p>
            <a:pPr algn="l">
              <a:spcBef>
                <a:spcPts val="600"/>
              </a:spcBef>
            </a:pPr>
            <a:r>
              <a:rPr lang="en-US" altLang="zh-CN" b="1">
                <a:highlight>
                  <a:srgbClr val="FF9900"/>
                </a:highlight>
              </a:rPr>
              <a:t>11</a:t>
            </a:r>
            <a:r>
              <a:rPr lang="en-US" altLang="zh-CN"/>
              <a:t>—</a:t>
            </a:r>
            <a:r>
              <a:rPr lang="zh-CN" altLang="en-US"/>
              <a:t>信号线接口</a:t>
            </a:r>
            <a:endParaRPr lang="en-US" altLang="zh-CN"/>
          </a:p>
          <a:p>
            <a:pPr algn="l">
              <a:spcBef>
                <a:spcPts val="600"/>
              </a:spcBef>
            </a:pPr>
            <a:r>
              <a:rPr lang="en-US" altLang="zh-CN" b="1">
                <a:highlight>
                  <a:srgbClr val="FF9900"/>
                </a:highlight>
              </a:rPr>
              <a:t>10</a:t>
            </a:r>
            <a:r>
              <a:rPr lang="en-US" altLang="zh-CN"/>
              <a:t>—</a:t>
            </a:r>
            <a:r>
              <a:rPr lang="zh-CN" altLang="en-US"/>
              <a:t>通道开关（带灯）</a:t>
            </a:r>
            <a:endParaRPr lang="en-US" altLang="zh-CN"/>
          </a:p>
          <a:p>
            <a:pPr algn="l">
              <a:spcBef>
                <a:spcPts val="600"/>
              </a:spcBef>
            </a:pPr>
            <a:r>
              <a:rPr lang="en-US" altLang="zh-CN" b="1">
                <a:highlight>
                  <a:srgbClr val="FF9900"/>
                </a:highlight>
              </a:rPr>
              <a:t>2</a:t>
            </a:r>
            <a:r>
              <a:rPr lang="en-US" altLang="zh-CN" b="1"/>
              <a:t>  </a:t>
            </a:r>
            <a:r>
              <a:rPr lang="en-US" altLang="zh-CN"/>
              <a:t>—</a:t>
            </a:r>
            <a:r>
              <a:rPr lang="zh-CN" altLang="en-US"/>
              <a:t>数字</a:t>
            </a:r>
            <a:r>
              <a:rPr lang="zh-CN" altLang="en-US" b="1"/>
              <a:t>输入</a:t>
            </a:r>
            <a:endParaRPr lang="en-US" altLang="zh-CN" b="1"/>
          </a:p>
          <a:p>
            <a:pPr algn="l">
              <a:spcBef>
                <a:spcPts val="600"/>
              </a:spcBef>
            </a:pPr>
            <a:r>
              <a:rPr lang="en-US" altLang="zh-CN" b="1">
                <a:highlight>
                  <a:srgbClr val="FF9900"/>
                </a:highlight>
              </a:rPr>
              <a:t>1</a:t>
            </a:r>
            <a:r>
              <a:rPr lang="en-US" altLang="zh-CN" b="1"/>
              <a:t>  </a:t>
            </a:r>
            <a:r>
              <a:rPr lang="en-US" altLang="zh-CN"/>
              <a:t>—</a:t>
            </a:r>
            <a:r>
              <a:rPr lang="zh-CN" altLang="en-US"/>
              <a:t>屏幕菜单</a:t>
            </a:r>
            <a:r>
              <a:rPr lang="zh-CN" altLang="en-US" b="1"/>
              <a:t>输入</a:t>
            </a:r>
            <a:endParaRPr lang="en-US" altLang="zh-CN" b="1"/>
          </a:p>
        </p:txBody>
      </p:sp>
      <p:pic>
        <p:nvPicPr>
          <p:cNvPr id="4" name="图片 3">
            <a:extLst>
              <a:ext uri="{FF2B5EF4-FFF2-40B4-BE49-F238E27FC236}">
                <a16:creationId xmlns:a16="http://schemas.microsoft.com/office/drawing/2014/main" id="{EB6F82C6-190D-4EB8-AB4B-DAC199FAC110}"/>
              </a:ext>
            </a:extLst>
          </p:cNvPr>
          <p:cNvPicPr>
            <a:picLocks noChangeAspect="1"/>
          </p:cNvPicPr>
          <p:nvPr/>
        </p:nvPicPr>
        <p:blipFill>
          <a:blip r:embed="rId3"/>
          <a:stretch>
            <a:fillRect/>
          </a:stretch>
        </p:blipFill>
        <p:spPr>
          <a:xfrm>
            <a:off x="1115616" y="1996544"/>
            <a:ext cx="381044" cy="424344"/>
          </a:xfrm>
          <a:prstGeom prst="rect">
            <a:avLst/>
          </a:prstGeom>
        </p:spPr>
      </p:pic>
      <p:sp>
        <p:nvSpPr>
          <p:cNvPr id="5" name="文本框 4">
            <a:extLst>
              <a:ext uri="{FF2B5EF4-FFF2-40B4-BE49-F238E27FC236}">
                <a16:creationId xmlns:a16="http://schemas.microsoft.com/office/drawing/2014/main" id="{EDF7773F-6678-4345-A521-D2D89AC0A7E4}"/>
              </a:ext>
            </a:extLst>
          </p:cNvPr>
          <p:cNvSpPr txBox="1"/>
          <p:nvPr/>
        </p:nvSpPr>
        <p:spPr>
          <a:xfrm>
            <a:off x="178078" y="4289326"/>
            <a:ext cx="2736592" cy="2308324"/>
          </a:xfrm>
          <a:prstGeom prst="rect">
            <a:avLst/>
          </a:prstGeom>
          <a:noFill/>
          <a:ln>
            <a:solidFill>
              <a:srgbClr val="00B050"/>
            </a:solidFill>
          </a:ln>
        </p:spPr>
        <p:txBody>
          <a:bodyPr wrap="square" rtlCol="0">
            <a:spAutoFit/>
          </a:bodyPr>
          <a:lstStyle/>
          <a:p>
            <a:pPr marL="342900" indent="-342900" algn="l">
              <a:spcBef>
                <a:spcPts val="0"/>
              </a:spcBef>
              <a:buFont typeface="+mj-lt"/>
              <a:buAutoNum type="arabicPeriod"/>
            </a:pPr>
            <a:r>
              <a:rPr lang="zh-CN" altLang="en-US" sz="1600"/>
              <a:t>屏 幕 菜 单 按 钮  </a:t>
            </a:r>
          </a:p>
          <a:p>
            <a:pPr marL="342900" indent="-342900" algn="l">
              <a:spcBef>
                <a:spcPts val="0"/>
              </a:spcBef>
              <a:buFont typeface="+mj-lt"/>
              <a:buAutoNum type="arabicPeriod"/>
            </a:pPr>
            <a:r>
              <a:rPr lang="zh-CN" altLang="en-US" sz="1600"/>
              <a:t>数 字 键 盘</a:t>
            </a:r>
          </a:p>
          <a:p>
            <a:pPr marL="342900" indent="-342900" algn="l">
              <a:spcBef>
                <a:spcPts val="0"/>
              </a:spcBef>
              <a:buFont typeface="+mj-lt"/>
              <a:buAutoNum type="arabicPeriod"/>
            </a:pPr>
            <a:r>
              <a:rPr lang="zh-CN" altLang="en-US" sz="1600"/>
              <a:t>通 用 旋 钮  </a:t>
            </a:r>
          </a:p>
          <a:p>
            <a:pPr marL="342900" indent="-342900" algn="l">
              <a:spcBef>
                <a:spcPts val="0"/>
              </a:spcBef>
              <a:buFont typeface="+mj-lt"/>
              <a:buAutoNum type="arabicPeriod"/>
            </a:pPr>
            <a:r>
              <a:rPr lang="zh-CN" altLang="en-US" sz="1600"/>
              <a:t>通 道 复 制 功 能  </a:t>
            </a:r>
          </a:p>
          <a:p>
            <a:pPr marL="342900" indent="-342900" algn="l">
              <a:spcBef>
                <a:spcPts val="0"/>
              </a:spcBef>
              <a:buFont typeface="+mj-lt"/>
              <a:buAutoNum type="arabicPeriod"/>
            </a:pPr>
            <a:r>
              <a:rPr lang="zh-CN" altLang="en-US" sz="1600"/>
              <a:t>辅 助 功 能  </a:t>
            </a:r>
          </a:p>
          <a:p>
            <a:pPr marL="342900" indent="-342900" algn="l">
              <a:spcBef>
                <a:spcPts val="0"/>
              </a:spcBef>
              <a:buFont typeface="+mj-lt"/>
              <a:buAutoNum type="arabicPeriod"/>
            </a:pPr>
            <a:r>
              <a:rPr lang="zh-CN" altLang="en-US" sz="1600"/>
              <a:t>帮 助 功 能</a:t>
            </a:r>
            <a:endParaRPr lang="en-US" altLang="zh-CN" sz="1600"/>
          </a:p>
          <a:p>
            <a:pPr marL="342900" indent="-342900" algn="l">
              <a:spcBef>
                <a:spcPts val="0"/>
              </a:spcBef>
              <a:buFont typeface="+mj-lt"/>
              <a:buAutoNum type="arabicPeriod"/>
            </a:pPr>
            <a:r>
              <a:rPr lang="zh-CN" altLang="en-US" sz="1600"/>
              <a:t>箭 头 按 钮 </a:t>
            </a:r>
            <a:endParaRPr lang="en-US" altLang="zh-CN" sz="1600"/>
          </a:p>
          <a:p>
            <a:pPr marL="342900" indent="-342900" algn="l">
              <a:spcBef>
                <a:spcPts val="0"/>
              </a:spcBef>
              <a:buFont typeface="+mj-lt"/>
              <a:buAutoNum type="arabicPeriod"/>
            </a:pPr>
            <a:r>
              <a:rPr lang="zh-CN" altLang="en-US" sz="1600"/>
              <a:t>通 道 </a:t>
            </a:r>
            <a:r>
              <a:rPr lang="en-US" altLang="zh-CN" sz="1600"/>
              <a:t>2 </a:t>
            </a:r>
            <a:r>
              <a:rPr lang="zh-CN" altLang="en-US" sz="1600"/>
              <a:t>开 </a:t>
            </a:r>
            <a:r>
              <a:rPr lang="en-US" altLang="zh-CN" sz="1600"/>
              <a:t>/</a:t>
            </a:r>
            <a:r>
              <a:rPr lang="zh-CN" altLang="en-US" sz="1600"/>
              <a:t>关 按 钮 </a:t>
            </a:r>
          </a:p>
          <a:p>
            <a:pPr marL="342900" indent="-342900" algn="l">
              <a:spcBef>
                <a:spcPts val="0"/>
              </a:spcBef>
              <a:buFont typeface="+mj-lt"/>
              <a:buAutoNum type="arabicPeriod"/>
            </a:pPr>
            <a:r>
              <a:rPr lang="zh-CN" altLang="en-US" sz="1600"/>
              <a:t>通 道 </a:t>
            </a:r>
            <a:r>
              <a:rPr lang="en-US" altLang="zh-CN" sz="1600"/>
              <a:t>2 </a:t>
            </a:r>
            <a:r>
              <a:rPr lang="zh-CN" altLang="en-US" sz="1600"/>
              <a:t>输 出 连 接 器</a:t>
            </a:r>
          </a:p>
        </p:txBody>
      </p:sp>
      <p:sp>
        <p:nvSpPr>
          <p:cNvPr id="11" name="文本框 10">
            <a:extLst>
              <a:ext uri="{FF2B5EF4-FFF2-40B4-BE49-F238E27FC236}">
                <a16:creationId xmlns:a16="http://schemas.microsoft.com/office/drawing/2014/main" id="{F8720DE0-7E3B-489E-A410-0D2E42367B99}"/>
              </a:ext>
            </a:extLst>
          </p:cNvPr>
          <p:cNvSpPr txBox="1"/>
          <p:nvPr/>
        </p:nvSpPr>
        <p:spPr>
          <a:xfrm>
            <a:off x="2914669" y="4289326"/>
            <a:ext cx="3673555" cy="2308324"/>
          </a:xfrm>
          <a:prstGeom prst="rect">
            <a:avLst/>
          </a:prstGeom>
          <a:noFill/>
          <a:ln>
            <a:solidFill>
              <a:srgbClr val="00B050"/>
            </a:solidFill>
          </a:ln>
        </p:spPr>
        <p:txBody>
          <a:bodyPr wrap="square" rtlCol="0">
            <a:spAutoFit/>
          </a:bodyPr>
          <a:lstStyle/>
          <a:p>
            <a:pPr marL="342900" indent="-342900" algn="l">
              <a:spcBef>
                <a:spcPts val="0"/>
              </a:spcBef>
              <a:buFont typeface="+mj-lt"/>
              <a:buAutoNum type="arabicPeriod" startAt="10"/>
            </a:pPr>
            <a:r>
              <a:rPr lang="zh-CN" altLang="en-US" sz="1600"/>
              <a:t>通道</a:t>
            </a:r>
            <a:r>
              <a:rPr lang="en-US" altLang="zh-CN" sz="1600"/>
              <a:t>1</a:t>
            </a:r>
            <a:r>
              <a:rPr lang="zh-CN" altLang="en-US" sz="1600"/>
              <a:t>开</a:t>
            </a:r>
            <a:r>
              <a:rPr lang="en-US" altLang="zh-CN" sz="1600"/>
              <a:t>/</a:t>
            </a:r>
            <a:r>
              <a:rPr lang="zh-CN" altLang="en-US" sz="1600"/>
              <a:t>关按钮 </a:t>
            </a:r>
          </a:p>
          <a:p>
            <a:pPr marL="342900" indent="-342900" algn="l">
              <a:spcBef>
                <a:spcPts val="0"/>
              </a:spcBef>
              <a:buFont typeface="+mj-lt"/>
              <a:buAutoNum type="arabicPeriod" startAt="10"/>
            </a:pPr>
            <a:r>
              <a:rPr lang="zh-CN" altLang="en-US" sz="1600"/>
              <a:t>通道</a:t>
            </a:r>
            <a:r>
              <a:rPr lang="en-US" altLang="zh-CN" sz="1600"/>
              <a:t>1</a:t>
            </a:r>
            <a:r>
              <a:rPr lang="zh-CN" altLang="en-US" sz="1600"/>
              <a:t>输出连接器 </a:t>
            </a:r>
          </a:p>
          <a:p>
            <a:pPr marL="342900" indent="-342900" algn="l">
              <a:spcBef>
                <a:spcPts val="0"/>
              </a:spcBef>
              <a:buFont typeface="+mj-lt"/>
              <a:buAutoNum type="arabicPeriod" startAt="10"/>
            </a:pPr>
            <a:r>
              <a:rPr lang="en-US" altLang="zh-CN" sz="1600"/>
              <a:t>Ch1/2</a:t>
            </a:r>
            <a:r>
              <a:rPr lang="zh-CN" altLang="en-US" sz="1600"/>
              <a:t>：屏幕上通道切换按钮</a:t>
            </a:r>
            <a:endParaRPr lang="en-US" altLang="zh-CN" sz="1600"/>
          </a:p>
          <a:p>
            <a:pPr algn="l">
              <a:spcBef>
                <a:spcPts val="0"/>
              </a:spcBef>
            </a:pPr>
            <a:r>
              <a:rPr lang="zh-CN" altLang="en-US" sz="1600"/>
              <a:t>       </a:t>
            </a:r>
            <a:r>
              <a:rPr lang="en-US" altLang="zh-CN" sz="1600"/>
              <a:t>Both</a:t>
            </a:r>
            <a:r>
              <a:rPr lang="zh-CN" altLang="en-US" sz="1600"/>
              <a:t>：屏幕上同时显示</a:t>
            </a:r>
            <a:r>
              <a:rPr lang="en-US" altLang="zh-CN" sz="1600"/>
              <a:t>2</a:t>
            </a:r>
            <a:r>
              <a:rPr lang="zh-CN" altLang="en-US" sz="1600"/>
              <a:t>通道参数 </a:t>
            </a:r>
          </a:p>
          <a:p>
            <a:pPr algn="l">
              <a:spcBef>
                <a:spcPts val="0"/>
              </a:spcBef>
            </a:pPr>
            <a:r>
              <a:rPr lang="en-US" altLang="zh-CN" sz="1600"/>
              <a:t>       Mod</a:t>
            </a:r>
            <a:r>
              <a:rPr lang="zh-CN" altLang="en-US" sz="1600"/>
              <a:t>：运行模式按钮，有</a:t>
            </a:r>
            <a:r>
              <a:rPr lang="en-US" altLang="zh-CN" sz="1600"/>
              <a:t>4</a:t>
            </a:r>
            <a:r>
              <a:rPr lang="zh-CN" altLang="en-US" sz="1600"/>
              <a:t>种模式  </a:t>
            </a:r>
          </a:p>
          <a:p>
            <a:pPr marL="342900" indent="-342900" algn="l">
              <a:spcBef>
                <a:spcPts val="0"/>
              </a:spcBef>
              <a:buFont typeface="+mj-lt"/>
              <a:buAutoNum type="arabicPeriod" startAt="13"/>
            </a:pPr>
            <a:r>
              <a:rPr lang="en-US" altLang="zh-CN" sz="1600"/>
              <a:t>USB</a:t>
            </a:r>
            <a:r>
              <a:rPr lang="zh-CN" altLang="en-US" sz="1600"/>
              <a:t>连接器 </a:t>
            </a:r>
          </a:p>
          <a:p>
            <a:pPr marL="342900" indent="-342900" algn="l">
              <a:spcBef>
                <a:spcPts val="0"/>
              </a:spcBef>
              <a:buFont typeface="+mj-lt"/>
              <a:buAutoNum type="arabicPeriod" startAt="13"/>
            </a:pPr>
            <a:r>
              <a:rPr lang="zh-CN" altLang="en-US" sz="1600"/>
              <a:t>波形选择按钮  </a:t>
            </a:r>
          </a:p>
          <a:p>
            <a:pPr marL="342900" indent="-342900" algn="l">
              <a:spcBef>
                <a:spcPts val="0"/>
              </a:spcBef>
              <a:buFont typeface="+mj-lt"/>
              <a:buAutoNum type="arabicPeriod" startAt="13"/>
            </a:pPr>
            <a:r>
              <a:rPr lang="zh-CN" altLang="en-US" sz="1600"/>
              <a:t>电源按钮  </a:t>
            </a:r>
          </a:p>
          <a:p>
            <a:pPr marL="342900" indent="-342900" algn="l">
              <a:spcBef>
                <a:spcPts val="0"/>
              </a:spcBef>
              <a:buFont typeface="+mj-lt"/>
              <a:buAutoNum type="arabicPeriod" startAt="13"/>
            </a:pPr>
            <a:r>
              <a:rPr lang="zh-CN" altLang="en-US" sz="1600"/>
              <a:t>屏幕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ChangeArrowheads="1"/>
          </p:cNvSpPr>
          <p:nvPr/>
        </p:nvSpPr>
        <p:spPr bwMode="auto">
          <a:xfrm>
            <a:off x="121299" y="246063"/>
            <a:ext cx="8817428" cy="620712"/>
          </a:xfrm>
          <a:prstGeom prst="rect">
            <a:avLst/>
          </a:prstGeom>
          <a:noFill/>
          <a:ln>
            <a:noFill/>
          </a:ln>
        </p:spPr>
        <p:txBody>
          <a:bodyPr anchor="b"/>
          <a:lstStyle/>
          <a:p>
            <a:pPr lvl="0" algn="l">
              <a:defRPr/>
            </a:pPr>
            <a:r>
              <a:rPr kumimoji="0" lang="zh-CN" altLang="en-US" sz="3600" b="1" i="0" u="none" strike="noStrike" kern="1200" cap="none" spc="0" normalizeH="0" baseline="0" noProof="0">
                <a:ln>
                  <a:noFill/>
                </a:ln>
                <a:solidFill>
                  <a:srgbClr val="0070C0"/>
                </a:solidFill>
                <a:effectLst/>
                <a:uLnTx/>
                <a:uFillTx/>
                <a:latin typeface="Times New Roman" panose="02020603050405020304" pitchFamily="18" charset="0"/>
              </a:rPr>
              <a:t>信号源使用关键原则</a:t>
            </a:r>
          </a:p>
        </p:txBody>
      </p:sp>
      <p:sp>
        <p:nvSpPr>
          <p:cNvPr id="51" name="Rectangle 3"/>
          <p:cNvSpPr>
            <a:spLocks noChangeArrowheads="1"/>
          </p:cNvSpPr>
          <p:nvPr/>
        </p:nvSpPr>
        <p:spPr bwMode="auto">
          <a:xfrm>
            <a:off x="625475" y="1052830"/>
            <a:ext cx="8001000" cy="5429250"/>
          </a:xfrm>
          <a:prstGeom prst="rect">
            <a:avLst/>
          </a:prstGeom>
          <a:noFill/>
          <a:ln>
            <a:noFill/>
          </a:ln>
        </p:spPr>
        <p:txBody>
          <a:bodyPr/>
          <a:lstStyle/>
          <a:p>
            <a:pPr marL="342900" marR="0" lvl="0" indent="-342900" algn="just" defTabSz="914400" rtl="0" eaLnBrk="1" fontAlgn="base" latinLnBrk="0" hangingPunct="1">
              <a:lnSpc>
                <a:spcPct val="150000"/>
              </a:lnSpc>
              <a:spcBef>
                <a:spcPts val="600"/>
              </a:spcBef>
              <a:spcAft>
                <a:spcPts val="0"/>
              </a:spcAft>
              <a:buClrTx/>
              <a:buSzTx/>
              <a:buFontTx/>
              <a:buNone/>
              <a:defRPr/>
            </a:pPr>
            <a:r>
              <a:rPr lang="en-US" altLang="zh-CN" sz="2400">
                <a:solidFill>
                  <a:srgbClr val="000000"/>
                </a:solidFill>
                <a:latin typeface="华文楷体" panose="02010600040101010101" pitchFamily="2" charset="-122"/>
                <a:ea typeface="华文楷体" panose="02010600040101010101" pitchFamily="2" charset="-122"/>
              </a:rPr>
              <a:t>          </a:t>
            </a:r>
            <a:r>
              <a:rPr lang="zh-CN" altLang="en-US" sz="2800">
                <a:solidFill>
                  <a:srgbClr val="0000FF"/>
                </a:solidFill>
                <a:latin typeface="华文楷体" panose="02010600040101010101" pitchFamily="2" charset="-122"/>
                <a:ea typeface="华文楷体" panose="02010600040101010101" pitchFamily="2" charset="-122"/>
              </a:rPr>
              <a:t>实验中波形信号参数应</a:t>
            </a:r>
            <a:r>
              <a:rPr lang="zh-CN" altLang="en-US" sz="2800" b="1">
                <a:solidFill>
                  <a:srgbClr val="0000FF"/>
                </a:solidFill>
                <a:latin typeface="华文楷体" panose="02010600040101010101" pitchFamily="2" charset="-122"/>
                <a:ea typeface="华文楷体" panose="02010600040101010101" pitchFamily="2" charset="-122"/>
              </a:rPr>
              <a:t>以示波器读数为准，</a:t>
            </a:r>
            <a:r>
              <a:rPr lang="zh-CN" altLang="en-US" sz="2800">
                <a:solidFill>
                  <a:srgbClr val="FF0000"/>
                </a:solidFill>
                <a:latin typeface="华文楷体" panose="02010600040101010101" pitchFamily="2" charset="-122"/>
                <a:ea typeface="华文楷体" panose="02010600040101010101" pitchFamily="2" charset="-122"/>
              </a:rPr>
              <a:t>信号源面板上展示的波形参数仅作粗调参考！</a:t>
            </a:r>
          </a:p>
          <a:p>
            <a:pPr marL="457200" lvl="0" indent="-457200" algn="just">
              <a:lnSpc>
                <a:spcPct val="150000"/>
              </a:lnSpc>
              <a:spcBef>
                <a:spcPts val="0"/>
              </a:spcBef>
              <a:spcAft>
                <a:spcPts val="0"/>
              </a:spcAft>
              <a:buFont typeface="Arial" panose="020B0604020202020204" pitchFamily="34" charset="0"/>
              <a:buChar char="•"/>
              <a:defRPr/>
            </a:pPr>
            <a:r>
              <a:rPr lang="en-US" altLang="zh-CN" sz="2400">
                <a:solidFill>
                  <a:srgbClr val="000000"/>
                </a:solidFill>
                <a:latin typeface="华文楷体" panose="02010600040101010101" pitchFamily="2" charset="-122"/>
                <a:ea typeface="华文楷体" panose="02010600040101010101" pitchFamily="2" charset="-122"/>
              </a:rPr>
              <a:t>在电路的信号</a:t>
            </a:r>
            <a:r>
              <a:rPr lang="en-US" altLang="zh-CN" sz="2400" b="1">
                <a:solidFill>
                  <a:srgbClr val="000000"/>
                </a:solidFill>
                <a:latin typeface="华文楷体" panose="02010600040101010101" pitchFamily="2" charset="-122"/>
                <a:ea typeface="华文楷体" panose="02010600040101010101" pitchFamily="2" charset="-122"/>
              </a:rPr>
              <a:t>输入点</a:t>
            </a:r>
            <a:r>
              <a:rPr lang="zh-CN" altLang="en-US" sz="2400" b="1">
                <a:solidFill>
                  <a:srgbClr val="000000"/>
                </a:solidFill>
                <a:latin typeface="华文楷体" panose="02010600040101010101" pitchFamily="2" charset="-122"/>
                <a:ea typeface="华文楷体" panose="02010600040101010101" pitchFamily="2" charset="-122"/>
              </a:rPr>
              <a:t>要以</a:t>
            </a:r>
            <a:r>
              <a:rPr lang="en-US" altLang="zh-CN" sz="2400" b="1">
                <a:solidFill>
                  <a:srgbClr val="000000"/>
                </a:solidFill>
                <a:latin typeface="华文楷体" panose="02010600040101010101" pitchFamily="2" charset="-122"/>
                <a:ea typeface="华文楷体" panose="02010600040101010101" pitchFamily="2" charset="-122"/>
              </a:rPr>
              <a:t>示波器监测</a:t>
            </a:r>
            <a:r>
              <a:rPr lang="zh-CN" altLang="en-US" sz="2400">
                <a:solidFill>
                  <a:srgbClr val="000000"/>
                </a:solidFill>
                <a:latin typeface="华文楷体" panose="02010600040101010101" pitchFamily="2" charset="-122"/>
                <a:ea typeface="华文楷体" panose="02010600040101010101" pitchFamily="2" charset="-122"/>
              </a:rPr>
              <a:t>由信号源输出的</a:t>
            </a:r>
            <a:r>
              <a:rPr lang="en-US" altLang="zh-CN" sz="2400">
                <a:solidFill>
                  <a:srgbClr val="000000"/>
                </a:solidFill>
                <a:latin typeface="华文楷体" panose="02010600040101010101" pitchFamily="2" charset="-122"/>
                <a:ea typeface="华文楷体" panose="02010600040101010101" pitchFamily="2" charset="-122"/>
              </a:rPr>
              <a:t>信号，</a:t>
            </a:r>
            <a:r>
              <a:rPr lang="zh-CN" altLang="en-US" sz="2400">
                <a:solidFill>
                  <a:srgbClr val="000000"/>
                </a:solidFill>
                <a:latin typeface="华文楷体" panose="02010600040101010101" pitchFamily="2" charset="-122"/>
                <a:ea typeface="华文楷体" panose="02010600040101010101" pitchFamily="2" charset="-122"/>
              </a:rPr>
              <a:t>读取相应参数。</a:t>
            </a:r>
          </a:p>
          <a:p>
            <a:pPr marL="457200" marR="0" lvl="0" indent="-457200" algn="just" defTabSz="914400" rtl="0" eaLnBrk="1" fontAlgn="base" latinLnBrk="0" hangingPunct="1">
              <a:lnSpc>
                <a:spcPct val="150000"/>
              </a:lnSpc>
              <a:spcBef>
                <a:spcPts val="0"/>
              </a:spcBef>
              <a:spcAft>
                <a:spcPts val="0"/>
              </a:spcAft>
              <a:buClrTx/>
              <a:buSzTx/>
              <a:buFont typeface="Arial" panose="020B0604020202020204" pitchFamily="34" charset="0"/>
              <a:buChar char="•"/>
              <a:defRPr/>
            </a:pPr>
            <a:r>
              <a:rPr lang="zh-CN" altLang="en-US" sz="2400">
                <a:solidFill>
                  <a:srgbClr val="000000"/>
                </a:solidFill>
                <a:latin typeface="华文楷体" panose="02010600040101010101" pitchFamily="2" charset="-122"/>
                <a:ea typeface="华文楷体" panose="02010600040101010101" pitchFamily="2" charset="-122"/>
              </a:rPr>
              <a:t>虽然信号源上有展示的信号参数，但必须</a:t>
            </a:r>
            <a:r>
              <a:rPr lang="zh-CN" altLang="en-US" sz="2400" b="1">
                <a:solidFill>
                  <a:srgbClr val="000000"/>
                </a:solidFill>
                <a:latin typeface="华文楷体" panose="02010600040101010101" pitchFamily="2" charset="-122"/>
                <a:ea typeface="华文楷体" panose="02010600040101010101" pitchFamily="2" charset="-122"/>
              </a:rPr>
              <a:t>以示波器正确操作获取的信号参数为准</a:t>
            </a:r>
            <a:r>
              <a:rPr lang="zh-CN" altLang="en-US" sz="2400">
                <a:solidFill>
                  <a:srgbClr val="000000"/>
                </a:solidFill>
                <a:latin typeface="华文楷体" panose="02010600040101010101" pitchFamily="2" charset="-122"/>
                <a:ea typeface="华文楷体" panose="02010600040101010101" pitchFamily="2" charset="-122"/>
              </a:rPr>
              <a:t>来记录和处理；</a:t>
            </a:r>
            <a:endParaRPr lang="en-US" altLang="zh-CN" sz="2400">
              <a:solidFill>
                <a:srgbClr val="000000"/>
              </a:solidFill>
              <a:latin typeface="华文楷体" panose="02010600040101010101" pitchFamily="2" charset="-122"/>
              <a:ea typeface="华文楷体" panose="02010600040101010101" pitchFamily="2" charset="-122"/>
            </a:endParaRPr>
          </a:p>
          <a:p>
            <a:pPr marL="457200" marR="0" lvl="0" indent="-457200" algn="just" defTabSz="914400" rtl="0" eaLnBrk="1" fontAlgn="base" latinLnBrk="0" hangingPunct="1">
              <a:lnSpc>
                <a:spcPct val="150000"/>
              </a:lnSpc>
              <a:spcBef>
                <a:spcPts val="0"/>
              </a:spcBef>
              <a:spcAft>
                <a:spcPts val="0"/>
              </a:spcAft>
              <a:buClrTx/>
              <a:buSzTx/>
              <a:buFont typeface="Arial" panose="020B0604020202020204" pitchFamily="34" charset="0"/>
              <a:buChar char="•"/>
              <a:defRPr/>
            </a:pPr>
            <a:r>
              <a:rPr lang="zh-CN" altLang="en-US" sz="2400">
                <a:solidFill>
                  <a:srgbClr val="000000"/>
                </a:solidFill>
                <a:latin typeface="华文楷体" panose="02010600040101010101" pitchFamily="2" charset="-122"/>
                <a:ea typeface="华文楷体" panose="02010600040101010101" pitchFamily="2" charset="-122"/>
              </a:rPr>
              <a:t>若示波器获取的输入信号参数</a:t>
            </a:r>
            <a:r>
              <a:rPr lang="zh-CN" altLang="en-US" sz="2400" b="1">
                <a:solidFill>
                  <a:srgbClr val="000000"/>
                </a:solidFill>
                <a:latin typeface="华文楷体" panose="02010600040101010101" pitchFamily="2" charset="-122"/>
                <a:ea typeface="华文楷体" panose="02010600040101010101" pitchFamily="2" charset="-122"/>
              </a:rPr>
              <a:t>明显</a:t>
            </a:r>
            <a:r>
              <a:rPr lang="zh-CN" altLang="en-US" sz="2400" b="1">
                <a:solidFill>
                  <a:srgbClr val="000000"/>
                </a:solidFill>
                <a:latin typeface="华文楷体" panose="02010600040101010101" pitchFamily="2" charset="-122"/>
                <a:ea typeface="华文楷体" panose="02010600040101010101" pitchFamily="2" charset="-122"/>
                <a:sym typeface="+mn-ea"/>
              </a:rPr>
              <a:t>未达要求，应调节信号源</a:t>
            </a:r>
            <a:r>
              <a:rPr lang="zh-CN" altLang="en-US" sz="2400">
                <a:solidFill>
                  <a:srgbClr val="000000"/>
                </a:solidFill>
                <a:latin typeface="华文楷体" panose="02010600040101010101" pitchFamily="2" charset="-122"/>
                <a:ea typeface="华文楷体" panose="02010600040101010101" pitchFamily="2" charset="-122"/>
                <a:sym typeface="+mn-ea"/>
              </a:rPr>
              <a:t>使之达到要求。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ChangeArrowheads="1"/>
          </p:cNvSpPr>
          <p:nvPr/>
        </p:nvSpPr>
        <p:spPr bwMode="auto">
          <a:xfrm>
            <a:off x="121299" y="246063"/>
            <a:ext cx="8817428" cy="620712"/>
          </a:xfrm>
          <a:prstGeom prst="rect">
            <a:avLst/>
          </a:prstGeom>
          <a:noFill/>
          <a:ln>
            <a:noFill/>
          </a:ln>
        </p:spPr>
        <p:txBody>
          <a:bodyPr anchor="b"/>
          <a:lstStyle/>
          <a:p>
            <a:pPr lvl="0" algn="l">
              <a:defRPr/>
            </a:pPr>
            <a:r>
              <a:rPr kumimoji="0" lang="zh-CN" altLang="en-US" sz="3600" b="1" i="0" u="none" strike="noStrike" kern="1200" cap="none" spc="0" normalizeH="0" baseline="0" noProof="0">
                <a:ln>
                  <a:noFill/>
                </a:ln>
                <a:solidFill>
                  <a:srgbClr val="0070C0"/>
                </a:solidFill>
                <a:effectLst/>
                <a:uLnTx/>
                <a:uFillTx/>
                <a:latin typeface="Times New Roman" panose="02020603050405020304" pitchFamily="18" charset="0"/>
              </a:rPr>
              <a:t>关键原则的实例</a:t>
            </a:r>
          </a:p>
        </p:txBody>
      </p:sp>
      <p:sp>
        <p:nvSpPr>
          <p:cNvPr id="51" name="Rectangle 3"/>
          <p:cNvSpPr>
            <a:spLocks noChangeArrowheads="1"/>
          </p:cNvSpPr>
          <p:nvPr/>
        </p:nvSpPr>
        <p:spPr bwMode="auto">
          <a:xfrm>
            <a:off x="625475" y="1052830"/>
            <a:ext cx="8001000" cy="5429250"/>
          </a:xfrm>
          <a:prstGeom prst="rect">
            <a:avLst/>
          </a:prstGeom>
          <a:noFill/>
          <a:ln>
            <a:noFill/>
          </a:ln>
        </p:spPr>
        <p:txBody>
          <a:bodyPr/>
          <a:lstStyle/>
          <a:p>
            <a:pPr marL="342900" marR="0" lvl="0" indent="-342900" algn="just" defTabSz="914400" rtl="0" eaLnBrk="1" fontAlgn="base" latinLnBrk="0" hangingPunct="1">
              <a:lnSpc>
                <a:spcPct val="130000"/>
              </a:lnSpc>
              <a:spcAft>
                <a:spcPts val="0"/>
              </a:spcAft>
              <a:buClrTx/>
              <a:buSzTx/>
              <a:buFontTx/>
              <a:buNone/>
              <a:defRPr/>
            </a:pPr>
            <a:r>
              <a:rPr lang="en-US" altLang="zh-CN" sz="2800">
                <a:solidFill>
                  <a:schemeClr val="tx1"/>
                </a:solidFill>
                <a:latin typeface="华文楷体" panose="02010600040101010101" pitchFamily="2" charset="-122"/>
                <a:ea typeface="华文楷体" panose="02010600040101010101" pitchFamily="2" charset="-122"/>
              </a:rPr>
              <a:t>            </a:t>
            </a:r>
            <a:r>
              <a:rPr lang="zh-CN" altLang="en-US" sz="2400">
                <a:solidFill>
                  <a:schemeClr val="tx1"/>
                </a:solidFill>
                <a:latin typeface="华文楷体" panose="02010600040101010101" pitchFamily="2" charset="-122"/>
                <a:ea typeface="华文楷体" panose="02010600040101010101" pitchFamily="2" charset="-122"/>
              </a:rPr>
              <a:t>实验室的</a:t>
            </a:r>
            <a:r>
              <a:rPr lang="en-US" altLang="zh-CN" sz="2400">
                <a:solidFill>
                  <a:schemeClr val="tx1"/>
                </a:solidFill>
                <a:latin typeface="华文楷体" panose="02010600040101010101" pitchFamily="2" charset="-122"/>
                <a:ea typeface="华文楷体" panose="02010600040101010101" pitchFamily="2" charset="-122"/>
              </a:rPr>
              <a:t>Tek </a:t>
            </a:r>
            <a:r>
              <a:rPr lang="en-US" altLang="zh-CN" sz="2400">
                <a:solidFill>
                  <a:schemeClr val="tx1"/>
                </a:solidFill>
                <a:latin typeface="华文楷体" panose="02010600040101010101" pitchFamily="2" charset="-122"/>
                <a:ea typeface="华文楷体" panose="02010600040101010101" pitchFamily="2" charset="-122"/>
                <a:sym typeface="+mn-ea"/>
              </a:rPr>
              <a:t>AFG1000</a:t>
            </a:r>
            <a:r>
              <a:rPr lang="zh-CN" altLang="en-US" sz="2400">
                <a:solidFill>
                  <a:schemeClr val="tx1"/>
                </a:solidFill>
                <a:latin typeface="华文楷体" panose="02010600040101010101" pitchFamily="2" charset="-122"/>
                <a:ea typeface="华文楷体" panose="02010600040101010101" pitchFamily="2" charset="-122"/>
              </a:rPr>
              <a:t>信号源在</a:t>
            </a:r>
            <a:r>
              <a:rPr lang="zh-CN" altLang="en-US" sz="2400">
                <a:solidFill>
                  <a:srgbClr val="0000FF"/>
                </a:solidFill>
                <a:latin typeface="华文楷体" panose="02010600040101010101" pitchFamily="2" charset="-122"/>
                <a:ea typeface="华文楷体" panose="02010600040101010101" pitchFamily="2" charset="-122"/>
              </a:rPr>
              <a:t>缺省设置下</a:t>
            </a:r>
            <a:r>
              <a:rPr lang="zh-CN" altLang="en-US" sz="2400">
                <a:solidFill>
                  <a:schemeClr val="tx1"/>
                </a:solidFill>
                <a:latin typeface="华文楷体" panose="02010600040101010101" pitchFamily="2" charset="-122"/>
                <a:ea typeface="华文楷体" panose="02010600040101010101" pitchFamily="2" charset="-122"/>
              </a:rPr>
              <a:t>，信源展示参数和示波器获取参数之间有</a:t>
            </a:r>
            <a:r>
              <a:rPr lang="zh-CN" altLang="en-US" sz="2400">
                <a:solidFill>
                  <a:srgbClr val="0000FF"/>
                </a:solidFill>
                <a:latin typeface="华文楷体" panose="02010600040101010101" pitchFamily="2" charset="-122"/>
                <a:ea typeface="华文楷体" panose="02010600040101010101" pitchFamily="2" charset="-122"/>
              </a:rPr>
              <a:t>大偏差。</a:t>
            </a:r>
            <a:r>
              <a:rPr lang="zh-CN" altLang="en-US" sz="2400">
                <a:solidFill>
                  <a:schemeClr val="tx1"/>
                </a:solidFill>
                <a:latin typeface="华文楷体" panose="02010600040101010101" pitchFamily="2" charset="-122"/>
                <a:ea typeface="华文楷体" panose="02010600040101010101" pitchFamily="2" charset="-122"/>
              </a:rPr>
              <a:t>手动修改</a:t>
            </a:r>
            <a:r>
              <a:rPr lang="zh-CN" altLang="en-US" sz="2400">
                <a:latin typeface="华文楷体" panose="02010600040101010101" pitchFamily="2" charset="-122"/>
                <a:ea typeface="华文楷体" panose="02010600040101010101" pitchFamily="2" charset="-122"/>
              </a:rPr>
              <a:t>系统设定</a:t>
            </a:r>
            <a:r>
              <a:rPr lang="en-US" altLang="zh-CN" sz="2400">
                <a:latin typeface="华文楷体" panose="02010600040101010101" pitchFamily="2" charset="-122"/>
                <a:ea typeface="华文楷体" panose="02010600040101010101" pitchFamily="2" charset="-122"/>
              </a:rPr>
              <a:t>HighZ</a:t>
            </a:r>
            <a:r>
              <a:rPr lang="zh-CN" altLang="en-US" sz="2400" b="1">
                <a:solidFill>
                  <a:schemeClr val="tx1"/>
                </a:solidFill>
                <a:latin typeface="华文楷体" panose="02010600040101010101" pitchFamily="2" charset="-122"/>
                <a:ea typeface="华文楷体" panose="02010600040101010101" pitchFamily="2" charset="-122"/>
              </a:rPr>
              <a:t>（操作下页说明）</a:t>
            </a:r>
            <a:r>
              <a:rPr lang="zh-CN" altLang="en-US" sz="2400">
                <a:solidFill>
                  <a:schemeClr val="tx1"/>
                </a:solidFill>
                <a:latin typeface="华文楷体" panose="02010600040101010101" pitchFamily="2" charset="-122"/>
                <a:ea typeface="华文楷体" panose="02010600040101010101" pitchFamily="2" charset="-122"/>
              </a:rPr>
              <a:t>会让设备更适合在本课程中使用。</a:t>
            </a:r>
          </a:p>
          <a:p>
            <a:pPr marL="342900" lvl="0" indent="-342900" algn="just">
              <a:lnSpc>
                <a:spcPct val="130000"/>
              </a:lnSpc>
              <a:spcAft>
                <a:spcPts val="0"/>
              </a:spcAft>
              <a:defRPr/>
            </a:pPr>
            <a:r>
              <a:rPr lang="zh-CN" altLang="en-US" sz="2400">
                <a:solidFill>
                  <a:srgbClr val="0000FF"/>
                </a:solidFill>
                <a:latin typeface="华文楷体" panose="02010600040101010101" pitchFamily="2" charset="-122"/>
                <a:ea typeface="华文楷体" panose="02010600040101010101" pitchFamily="2" charset="-122"/>
              </a:rPr>
              <a:t> </a:t>
            </a:r>
            <a:r>
              <a:rPr lang="en-US" altLang="zh-CN" sz="2400">
                <a:solidFill>
                  <a:srgbClr val="0000FF"/>
                </a:solidFill>
                <a:latin typeface="华文楷体" panose="02010600040101010101" pitchFamily="2" charset="-122"/>
                <a:ea typeface="华文楷体" panose="02010600040101010101" pitchFamily="2" charset="-122"/>
              </a:rPr>
              <a:t>            </a:t>
            </a:r>
            <a:r>
              <a:rPr lang="zh-CN" altLang="en-US" sz="2400" b="1">
                <a:latin typeface="华文楷体" panose="02010600040101010101" pitchFamily="2" charset="-122"/>
                <a:ea typeface="华文楷体" panose="02010600040101010101" pitchFamily="2" charset="-122"/>
              </a:rPr>
              <a:t>但</a:t>
            </a:r>
            <a:endParaRPr lang="en-US" altLang="zh-CN" sz="2400" b="1">
              <a:latin typeface="华文楷体" panose="02010600040101010101" pitchFamily="2" charset="-122"/>
              <a:ea typeface="华文楷体" panose="02010600040101010101" pitchFamily="2" charset="-122"/>
            </a:endParaRPr>
          </a:p>
          <a:p>
            <a:pPr marL="342900" lvl="0" indent="-342900" algn="just">
              <a:lnSpc>
                <a:spcPct val="130000"/>
              </a:lnSpc>
              <a:spcAft>
                <a:spcPts val="0"/>
              </a:spcAft>
              <a:defRPr/>
            </a:pPr>
            <a:r>
              <a:rPr lang="zh-CN" altLang="en-US" sz="2400">
                <a:solidFill>
                  <a:srgbClr val="0000FF"/>
                </a:solidFill>
                <a:latin typeface="华文楷体" panose="02010600040101010101" pitchFamily="2" charset="-122"/>
                <a:ea typeface="华文楷体" panose="02010600040101010101" pitchFamily="2" charset="-122"/>
              </a:rPr>
              <a:t> </a:t>
            </a:r>
            <a:r>
              <a:rPr lang="en-US" altLang="zh-CN" sz="2400">
                <a:solidFill>
                  <a:srgbClr val="0000FF"/>
                </a:solidFill>
                <a:latin typeface="华文楷体" panose="02010600040101010101" pitchFamily="2" charset="-122"/>
                <a:ea typeface="华文楷体" panose="02010600040101010101" pitchFamily="2" charset="-122"/>
              </a:rPr>
              <a:t>            </a:t>
            </a:r>
            <a:r>
              <a:rPr lang="zh-CN" altLang="en-US" sz="2400">
                <a:solidFill>
                  <a:schemeClr val="tx1"/>
                </a:solidFill>
                <a:latin typeface="华文楷体" panose="02010600040101010101" pitchFamily="2" charset="-122"/>
                <a:ea typeface="华文楷体" panose="02010600040101010101" pitchFamily="2" charset="-122"/>
              </a:rPr>
              <a:t>只要严格按实验操作原则，无论输入或输出均</a:t>
            </a:r>
            <a:r>
              <a:rPr lang="zh-CN" altLang="en-US" sz="2400">
                <a:solidFill>
                  <a:srgbClr val="FF0000"/>
                </a:solidFill>
                <a:latin typeface="华文楷体" panose="02010600040101010101" pitchFamily="2" charset="-122"/>
                <a:ea typeface="华文楷体" panose="02010600040101010101" pitchFamily="2" charset="-122"/>
              </a:rPr>
              <a:t>以示波器正确监测获取的信号参数为准，</a:t>
            </a:r>
            <a:r>
              <a:rPr lang="zh-CN" altLang="en-US" sz="2400">
                <a:latin typeface="华文楷体" panose="02010600040101010101" pitchFamily="2" charset="-122"/>
                <a:ea typeface="华文楷体" panose="02010600040101010101" pitchFamily="2" charset="-122"/>
                <a:sym typeface="+mn-ea"/>
              </a:rPr>
              <a:t>即使不改信源</a:t>
            </a:r>
            <a:r>
              <a:rPr lang="en-US" altLang="zh-CN" sz="2400">
                <a:latin typeface="华文楷体" panose="02010600040101010101" pitchFamily="2" charset="-122"/>
                <a:ea typeface="华文楷体" panose="02010600040101010101" pitchFamily="2" charset="-122"/>
                <a:sym typeface="+mn-ea"/>
              </a:rPr>
              <a:t>HighZ</a:t>
            </a:r>
            <a:r>
              <a:rPr lang="zh-CN" altLang="en-US" sz="2400">
                <a:latin typeface="华文楷体" panose="02010600040101010101" pitchFamily="2" charset="-122"/>
                <a:ea typeface="华文楷体" panose="02010600040101010101" pitchFamily="2" charset="-122"/>
                <a:sym typeface="+mn-ea"/>
              </a:rPr>
              <a:t>设定，</a:t>
            </a:r>
            <a:r>
              <a:rPr lang="zh-CN" altLang="en-US" sz="2400">
                <a:latin typeface="华文楷体" panose="02010600040101010101" pitchFamily="2" charset="-122"/>
                <a:ea typeface="华文楷体" panose="02010600040101010101" pitchFamily="2" charset="-122"/>
              </a:rPr>
              <a:t>实验结果也</a:t>
            </a:r>
            <a:r>
              <a:rPr lang="zh-CN" altLang="en-US" sz="2400">
                <a:solidFill>
                  <a:schemeClr val="tx1"/>
                </a:solidFill>
                <a:latin typeface="华文楷体" panose="02010600040101010101" pitchFamily="2" charset="-122"/>
                <a:ea typeface="华文楷体" panose="02010600040101010101" pitchFamily="2" charset="-122"/>
              </a:rPr>
              <a:t>不应该受影响。</a:t>
            </a:r>
            <a:endParaRPr lang="en-US" altLang="zh-CN" sz="2400">
              <a:solidFill>
                <a:schemeClr val="tx1"/>
              </a:solidFill>
              <a:latin typeface="华文楷体" panose="02010600040101010101" pitchFamily="2" charset="-122"/>
              <a:ea typeface="华文楷体" panose="02010600040101010101" pitchFamily="2" charset="-122"/>
            </a:endParaRPr>
          </a:p>
          <a:p>
            <a:pPr marL="342900" lvl="0" indent="-342900" algn="just">
              <a:lnSpc>
                <a:spcPct val="130000"/>
              </a:lnSpc>
              <a:spcAft>
                <a:spcPts val="0"/>
              </a:spcAft>
              <a:defRPr/>
            </a:pPr>
            <a:r>
              <a:rPr lang="zh-CN" altLang="en-US" sz="2400">
                <a:latin typeface="华文楷体" panose="02010600040101010101" pitchFamily="2" charset="-122"/>
                <a:ea typeface="华文楷体" panose="02010600040101010101" pitchFamily="2" charset="-122"/>
              </a:rPr>
              <a:t>             反之</a:t>
            </a:r>
            <a:endParaRPr lang="en-US" altLang="zh-CN" sz="2400">
              <a:latin typeface="华文楷体" panose="02010600040101010101" pitchFamily="2" charset="-122"/>
              <a:ea typeface="华文楷体" panose="02010600040101010101" pitchFamily="2" charset="-122"/>
            </a:endParaRPr>
          </a:p>
          <a:p>
            <a:pPr marL="342900" lvl="0" indent="-342900" algn="just">
              <a:lnSpc>
                <a:spcPct val="130000"/>
              </a:lnSpc>
              <a:spcAft>
                <a:spcPts val="0"/>
              </a:spcAft>
              <a:defRPr/>
            </a:pPr>
            <a:r>
              <a:rPr lang="en-US" altLang="zh-CN" sz="2400">
                <a:latin typeface="华文楷体" panose="02010600040101010101" pitchFamily="2" charset="-122"/>
                <a:ea typeface="华文楷体" panose="02010600040101010101" pitchFamily="2" charset="-122"/>
              </a:rPr>
              <a:t>             </a:t>
            </a:r>
            <a:r>
              <a:rPr lang="zh-CN" altLang="en-US" sz="2400">
                <a:latin typeface="华文楷体" panose="02010600040101010101" pitchFamily="2" charset="-122"/>
                <a:ea typeface="华文楷体" panose="02010600040101010101" pitchFamily="2" charset="-122"/>
              </a:rPr>
              <a:t>因此项设定导致实验结果错误，要反思的不是这项一次性操作，</a:t>
            </a:r>
            <a:r>
              <a:rPr lang="zh-CN" altLang="en-US" sz="2400" b="1">
                <a:latin typeface="华文楷体" panose="02010600040101010101" pitchFamily="2" charset="-122"/>
                <a:ea typeface="华文楷体" panose="02010600040101010101" pitchFamily="2" charset="-122"/>
              </a:rPr>
              <a:t>而是忽视了实验数据获取原则</a:t>
            </a:r>
            <a:r>
              <a:rPr lang="zh-CN" altLang="en-US" sz="2400">
                <a:latin typeface="华文楷体" panose="02010600040101010101" pitchFamily="2" charset="-122"/>
                <a:ea typeface="华文楷体"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169DEB49-C42E-4ACE-847B-7CC94E881E48}"/>
              </a:ext>
            </a:extLst>
          </p:cNvPr>
          <p:cNvPicPr>
            <a:picLocks noChangeAspect="1"/>
          </p:cNvPicPr>
          <p:nvPr/>
        </p:nvPicPr>
        <p:blipFill>
          <a:blip r:embed="rId2"/>
          <a:stretch>
            <a:fillRect/>
          </a:stretch>
        </p:blipFill>
        <p:spPr>
          <a:xfrm>
            <a:off x="6804248" y="1064006"/>
            <a:ext cx="1181100" cy="2562225"/>
          </a:xfrm>
          <a:prstGeom prst="rect">
            <a:avLst/>
          </a:prstGeom>
        </p:spPr>
      </p:pic>
      <p:sp>
        <p:nvSpPr>
          <p:cNvPr id="4" name="Rectangle 2"/>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a:latin typeface="华文楷体" panose="02010600040101010101" pitchFamily="2" charset="-122"/>
                <a:ea typeface="华文楷体" panose="02010600040101010101" pitchFamily="2" charset="-122"/>
                <a:sym typeface="+mn-ea"/>
              </a:rPr>
              <a:t>初始必设</a:t>
            </a:r>
            <a:r>
              <a:rPr lang="en-US" altLang="zh-CN" sz="3600" b="1">
                <a:solidFill>
                  <a:srgbClr val="FF0000"/>
                </a:solidFill>
                <a:latin typeface="华文楷体" panose="02010600040101010101" pitchFamily="2" charset="-122"/>
                <a:ea typeface="华文楷体" panose="02010600040101010101" pitchFamily="2" charset="-122"/>
              </a:rPr>
              <a:t>—HighZ</a:t>
            </a:r>
            <a:r>
              <a:rPr lang="zh-CN" altLang="en-US" sz="3600" b="1">
                <a:solidFill>
                  <a:srgbClr val="FF0000"/>
                </a:solidFill>
                <a:latin typeface="华文楷体" panose="02010600040101010101" pitchFamily="2" charset="-122"/>
                <a:ea typeface="华文楷体" panose="02010600040101010101" pitchFamily="2" charset="-122"/>
              </a:rPr>
              <a:t>高阻负载</a:t>
            </a:r>
            <a:endParaRPr lang="en-US" altLang="zh-CN" sz="3600" b="1">
              <a:solidFill>
                <a:srgbClr val="FF0000"/>
              </a:solidFill>
              <a:latin typeface="华文楷体" panose="02010600040101010101" pitchFamily="2" charset="-122"/>
              <a:ea typeface="华文楷体" panose="02010600040101010101" pitchFamily="2" charset="-122"/>
            </a:endParaRPr>
          </a:p>
        </p:txBody>
      </p:sp>
      <p:pic>
        <p:nvPicPr>
          <p:cNvPr id="6" name="图片 5"/>
          <p:cNvPicPr>
            <a:picLocks noChangeAspect="1"/>
          </p:cNvPicPr>
          <p:nvPr/>
        </p:nvPicPr>
        <p:blipFill>
          <a:blip r:embed="rId3"/>
          <a:stretch>
            <a:fillRect/>
          </a:stretch>
        </p:blipFill>
        <p:spPr>
          <a:xfrm>
            <a:off x="395536" y="1040523"/>
            <a:ext cx="3362325" cy="2905125"/>
          </a:xfrm>
          <a:prstGeom prst="rect">
            <a:avLst/>
          </a:prstGeom>
        </p:spPr>
      </p:pic>
      <p:pic>
        <p:nvPicPr>
          <p:cNvPr id="8" name="图片 7"/>
          <p:cNvPicPr>
            <a:picLocks noChangeAspect="1"/>
          </p:cNvPicPr>
          <p:nvPr/>
        </p:nvPicPr>
        <p:blipFill rotWithShape="1">
          <a:blip r:embed="rId4"/>
          <a:srcRect r="23734"/>
          <a:stretch/>
        </p:blipFill>
        <p:spPr>
          <a:xfrm>
            <a:off x="4057403" y="1031512"/>
            <a:ext cx="2026765" cy="2743200"/>
          </a:xfrm>
          <a:prstGeom prst="rect">
            <a:avLst/>
          </a:prstGeom>
        </p:spPr>
      </p:pic>
      <p:cxnSp>
        <p:nvCxnSpPr>
          <p:cNvPr id="11" name="直接箭头连接符 10"/>
          <p:cNvCxnSpPr/>
          <p:nvPr/>
        </p:nvCxnSpPr>
        <p:spPr>
          <a:xfrm>
            <a:off x="3707904" y="1772816"/>
            <a:ext cx="349499" cy="216024"/>
          </a:xfrm>
          <a:prstGeom prst="straightConnector1">
            <a:avLst/>
          </a:prstGeom>
          <a:ln w="635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44FD03F0-0ADB-4FBB-8B71-3034E223BB51}"/>
              </a:ext>
            </a:extLst>
          </p:cNvPr>
          <p:cNvSpPr txBox="1"/>
          <p:nvPr/>
        </p:nvSpPr>
        <p:spPr>
          <a:xfrm>
            <a:off x="467543" y="4077072"/>
            <a:ext cx="5256585" cy="2366032"/>
          </a:xfrm>
          <a:prstGeom prst="rect">
            <a:avLst/>
          </a:prstGeom>
          <a:noFill/>
        </p:spPr>
        <p:txBody>
          <a:bodyPr wrap="square" rtlCol="0">
            <a:spAutoFit/>
          </a:bodyPr>
          <a:lstStyle/>
          <a:p>
            <a:pPr algn="l">
              <a:lnSpc>
                <a:spcPct val="125000"/>
              </a:lnSpc>
            </a:pPr>
            <a:r>
              <a:rPr lang="en-US" altLang="zh-CN" sz="2400">
                <a:latin typeface="华文楷体" panose="02010600040101010101" pitchFamily="2" charset="-122"/>
                <a:ea typeface="华文楷体" panose="02010600040101010101" pitchFamily="2" charset="-122"/>
                <a:sym typeface="+mn-ea"/>
              </a:rPr>
              <a:t>AFG1000</a:t>
            </a:r>
            <a:r>
              <a:rPr lang="zh-CN" altLang="en-US" sz="2400">
                <a:latin typeface="华文楷体" panose="02010600040101010101" pitchFamily="2" charset="-122"/>
                <a:ea typeface="华文楷体" panose="02010600040101010101" pitchFamily="2" charset="-122"/>
              </a:rPr>
              <a:t>信号源在缺省设置下，信源展示参数和示波器获取参数之间有大偏差，务必修改系统设定。</a:t>
            </a:r>
            <a:r>
              <a:rPr lang="zh-CN" altLang="en-US" sz="2400" b="1">
                <a:latin typeface="华文楷体" panose="02010600040101010101" pitchFamily="2" charset="-122"/>
                <a:ea typeface="华文楷体" panose="02010600040101010101" pitchFamily="2" charset="-122"/>
              </a:rPr>
              <a:t>操作：</a:t>
            </a:r>
            <a:endParaRPr lang="en-US" altLang="zh-CN" sz="2400" b="1">
              <a:latin typeface="华文楷体" panose="02010600040101010101" pitchFamily="2" charset="-122"/>
              <a:ea typeface="华文楷体" panose="02010600040101010101" pitchFamily="2" charset="-122"/>
            </a:endParaRPr>
          </a:p>
          <a:p>
            <a:pPr algn="l">
              <a:lnSpc>
                <a:spcPct val="125000"/>
              </a:lnSpc>
            </a:pPr>
            <a:r>
              <a:rPr lang="en-US" altLang="zh-CN" sz="2400" b="1">
                <a:latin typeface="华文楷体" panose="02010600040101010101" pitchFamily="2" charset="-122"/>
                <a:ea typeface="华文楷体" panose="02010600040101010101" pitchFamily="2" charset="-122"/>
                <a:sym typeface="Wingdings" panose="05000000000000000000" pitchFamily="2" charset="2"/>
              </a:rPr>
              <a:t>⑤ </a:t>
            </a:r>
            <a:r>
              <a:rPr lang="en-US" altLang="zh-CN" sz="2400" b="1">
                <a:latin typeface="华文楷体" panose="02010600040101010101" pitchFamily="2" charset="-122"/>
                <a:ea typeface="华文楷体" panose="02010600040101010101" pitchFamily="2" charset="-122"/>
              </a:rPr>
              <a:t>Utility </a:t>
            </a:r>
            <a:r>
              <a:rPr lang="zh-CN" altLang="en-US" sz="2400" b="1">
                <a:latin typeface="华文楷体" panose="02010600040101010101" pitchFamily="2" charset="-122"/>
                <a:ea typeface="华文楷体" panose="02010600040101010101" pitchFamily="2" charset="-122"/>
              </a:rPr>
              <a:t>键</a:t>
            </a:r>
            <a:r>
              <a:rPr lang="en-US" altLang="zh-CN" sz="2400" b="1">
                <a:latin typeface="华文楷体" panose="02010600040101010101" pitchFamily="2" charset="-122"/>
                <a:ea typeface="华文楷体" panose="02010600040101010101" pitchFamily="2" charset="-122"/>
              </a:rPr>
              <a:t> </a:t>
            </a:r>
            <a:r>
              <a:rPr lang="en-US" altLang="zh-CN" sz="2400" b="1">
                <a:solidFill>
                  <a:srgbClr val="0000FF"/>
                </a:solidFill>
                <a:latin typeface="华文楷体" panose="02010600040101010101" pitchFamily="2" charset="-122"/>
                <a:ea typeface="华文楷体" panose="02010600040101010101" pitchFamily="2" charset="-122"/>
                <a:sym typeface="Wingdings" panose="05000000000000000000" pitchFamily="2" charset="2"/>
              </a:rPr>
              <a:t></a:t>
            </a:r>
            <a:r>
              <a:rPr lang="en-US" altLang="zh-CN" sz="2400" b="1">
                <a:latin typeface="华文楷体" panose="02010600040101010101" pitchFamily="2" charset="-122"/>
                <a:ea typeface="华文楷体" panose="02010600040101010101" pitchFamily="2" charset="-122"/>
                <a:sym typeface="Wingdings" panose="05000000000000000000" pitchFamily="2" charset="2"/>
              </a:rPr>
              <a:t> ①-3#</a:t>
            </a:r>
            <a:r>
              <a:rPr lang="zh-CN" altLang="en-US" sz="2400" b="1">
                <a:latin typeface="华文楷体" panose="02010600040101010101" pitchFamily="2" charset="-122"/>
                <a:ea typeface="华文楷体" panose="02010600040101010101" pitchFamily="2" charset="-122"/>
                <a:sym typeface="Wingdings" panose="05000000000000000000" pitchFamily="2" charset="2"/>
              </a:rPr>
              <a:t>键选屏内</a:t>
            </a:r>
            <a:r>
              <a:rPr lang="en-US" altLang="zh-CN" sz="2400" b="1">
                <a:latin typeface="华文楷体" panose="02010600040101010101" pitchFamily="2" charset="-122"/>
                <a:ea typeface="华文楷体" panose="02010600040101010101" pitchFamily="2" charset="-122"/>
                <a:sym typeface="Wingdings" panose="05000000000000000000" pitchFamily="2" charset="2"/>
              </a:rPr>
              <a:t>Output Setup</a:t>
            </a:r>
            <a:r>
              <a:rPr lang="zh-CN" altLang="en-US" sz="2400">
                <a:latin typeface="华文楷体" panose="02010600040101010101" pitchFamily="2" charset="-122"/>
                <a:ea typeface="华文楷体" panose="02010600040101010101" pitchFamily="2" charset="-122"/>
                <a:sym typeface="Wingdings" panose="05000000000000000000" pitchFamily="2" charset="2"/>
              </a:rPr>
              <a:t>菜单</a:t>
            </a:r>
            <a:r>
              <a:rPr lang="en-US" altLang="zh-CN" sz="2400" b="1">
                <a:solidFill>
                  <a:srgbClr val="0000FF"/>
                </a:solidFill>
                <a:latin typeface="华文楷体" panose="02010600040101010101" pitchFamily="2" charset="-122"/>
                <a:ea typeface="华文楷体" panose="02010600040101010101" pitchFamily="2" charset="-122"/>
                <a:sym typeface="Wingdings" panose="05000000000000000000" pitchFamily="2" charset="2"/>
              </a:rPr>
              <a:t></a:t>
            </a:r>
            <a:r>
              <a:rPr lang="zh-CN" altLang="en-US" sz="2400" b="1">
                <a:latin typeface="华文楷体" panose="02010600040101010101" pitchFamily="2" charset="-122"/>
                <a:ea typeface="华文楷体" panose="02010600040101010101" pitchFamily="2" charset="-122"/>
                <a:sym typeface="Wingdings" panose="05000000000000000000" pitchFamily="2" charset="2"/>
              </a:rPr>
              <a:t>切换</a:t>
            </a:r>
            <a:r>
              <a:rPr lang="en-US" altLang="zh-CN" sz="2400" b="1">
                <a:latin typeface="华文楷体" panose="02010600040101010101" pitchFamily="2" charset="-122"/>
                <a:ea typeface="华文楷体" panose="02010600040101010101" pitchFamily="2" charset="-122"/>
                <a:sym typeface="Wingdings" panose="05000000000000000000" pitchFamily="2" charset="2"/>
              </a:rPr>
              <a:t>CH1Load</a:t>
            </a:r>
            <a:r>
              <a:rPr lang="zh-CN" altLang="en-US" sz="2400" b="1">
                <a:latin typeface="华文楷体" panose="02010600040101010101" pitchFamily="2" charset="-122"/>
                <a:ea typeface="华文楷体" panose="02010600040101010101" pitchFamily="2" charset="-122"/>
                <a:sym typeface="Wingdings" panose="05000000000000000000" pitchFamily="2" charset="2"/>
              </a:rPr>
              <a:t>：</a:t>
            </a:r>
            <a:r>
              <a:rPr lang="en-US" altLang="zh-CN" sz="2400" b="1">
                <a:solidFill>
                  <a:srgbClr val="0000FF"/>
                </a:solidFill>
                <a:latin typeface="华文楷体" panose="02010600040101010101" pitchFamily="2" charset="-122"/>
                <a:ea typeface="华文楷体" panose="02010600040101010101" pitchFamily="2" charset="-122"/>
                <a:sym typeface="Wingdings" panose="05000000000000000000" pitchFamily="2" charset="2"/>
              </a:rPr>
              <a:t>HighZ</a:t>
            </a:r>
            <a:endParaRPr lang="zh-CN" altLang="en-US" sz="2400" b="1">
              <a:solidFill>
                <a:srgbClr val="0000FF"/>
              </a:solidFill>
            </a:endParaRPr>
          </a:p>
        </p:txBody>
      </p:sp>
      <p:sp>
        <p:nvSpPr>
          <p:cNvPr id="5" name="箭头: 右 4">
            <a:extLst>
              <a:ext uri="{FF2B5EF4-FFF2-40B4-BE49-F238E27FC236}">
                <a16:creationId xmlns:a16="http://schemas.microsoft.com/office/drawing/2014/main" id="{0AD57315-FDE5-4546-803A-78D72E5B4114}"/>
              </a:ext>
            </a:extLst>
          </p:cNvPr>
          <p:cNvSpPr/>
          <p:nvPr/>
        </p:nvSpPr>
        <p:spPr>
          <a:xfrm rot="19442967">
            <a:off x="6034704" y="2074735"/>
            <a:ext cx="819010" cy="305808"/>
          </a:xfrm>
          <a:prstGeom prst="rightArrow">
            <a:avLst/>
          </a:prstGeom>
          <a:solidFill>
            <a:srgbClr val="FFC000"/>
          </a:solidFill>
          <a:ln w="158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CACD6962-FAAB-4866-9A1B-DA0E392B0374}"/>
              </a:ext>
            </a:extLst>
          </p:cNvPr>
          <p:cNvPicPr>
            <a:picLocks noChangeAspect="1"/>
          </p:cNvPicPr>
          <p:nvPr/>
        </p:nvPicPr>
        <p:blipFill>
          <a:blip r:embed="rId5"/>
          <a:stretch>
            <a:fillRect/>
          </a:stretch>
        </p:blipFill>
        <p:spPr>
          <a:xfrm>
            <a:off x="5724128" y="4145948"/>
            <a:ext cx="3303759" cy="2239012"/>
          </a:xfrm>
          <a:prstGeom prst="rect">
            <a:avLst/>
          </a:prstGeom>
        </p:spPr>
      </p:pic>
      <p:sp>
        <p:nvSpPr>
          <p:cNvPr id="12" name="矩形: 圆角 11"/>
          <p:cNvSpPr/>
          <p:nvPr/>
        </p:nvSpPr>
        <p:spPr>
          <a:xfrm>
            <a:off x="5724129" y="5661248"/>
            <a:ext cx="720080" cy="288032"/>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40452ED0-0140-4415-B817-0DD40DCAAFAA}"/>
              </a:ext>
            </a:extLst>
          </p:cNvPr>
          <p:cNvCxnSpPr>
            <a:cxnSpLocks/>
          </p:cNvCxnSpPr>
          <p:nvPr/>
        </p:nvCxnSpPr>
        <p:spPr>
          <a:xfrm flipH="1">
            <a:off x="6228184" y="1563093"/>
            <a:ext cx="787783" cy="409815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circle(in)">
                                      <p:cBhvr>
                                        <p:cTn id="1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573824"/>
          </a:xfrm>
        </p:spPr>
        <p:txBody>
          <a:bodyPr vert="horz" wrap="square" lIns="0" tIns="0" rIns="0" bIns="0" numCol="1" anchor="b" anchorCtr="0" compatLnSpc="1"/>
          <a:lstStyle/>
          <a:p>
            <a:pPr lvl="0" algn="l" eaLnBrk="1" hangingPunct="1">
              <a:defRPr/>
            </a:pPr>
            <a:r>
              <a:rPr kumimoji="0" lang="zh-CN" altLang="en-US" sz="3200" b="1" i="0" u="none" strike="noStrike" kern="1200" cap="none" spc="0" normalizeH="0" baseline="0" noProof="1">
                <a:ln>
                  <a:noFill/>
                </a:ln>
                <a:solidFill>
                  <a:schemeClr val="tx2"/>
                </a:solidFill>
                <a:effectLst>
                  <a:outerShdw blurRad="38100" dist="38100" dir="2700000">
                    <a:srgbClr val="C0C0C0"/>
                  </a:outerShdw>
                </a:effectLst>
                <a:uLnTx/>
                <a:uFillTx/>
                <a:latin typeface="宋体" panose="02010600030101010101" pitchFamily="2" charset="-122"/>
                <a:ea typeface="+mj-ea"/>
                <a:cs typeface="+mj-cs"/>
              </a:rPr>
              <a:t>波形</a:t>
            </a:r>
            <a:r>
              <a:rPr lang="zh-CN" altLang="en-US" sz="3200" b="1" kern="1200" noProof="1">
                <a:effectLst>
                  <a:outerShdw blurRad="38100" dist="38100" dir="2700000">
                    <a:srgbClr val="C0C0C0"/>
                  </a:outerShdw>
                </a:effectLst>
                <a:latin typeface="宋体" panose="02010600030101010101" pitchFamily="2" charset="-122"/>
              </a:rPr>
              <a:t>常用</a:t>
            </a:r>
            <a:r>
              <a:rPr lang="zh-CN" altLang="en-US" sz="3200" b="1" kern="1200" noProof="1">
                <a:solidFill>
                  <a:srgbClr val="2722FA"/>
                </a:solidFill>
                <a:effectLst>
                  <a:outerShdw blurRad="38100" dist="38100" dir="2700000">
                    <a:srgbClr val="C0C0C0"/>
                  </a:outerShdw>
                </a:effectLst>
                <a:latin typeface="宋体" panose="02010600030101010101" pitchFamily="2" charset="-122"/>
              </a:rPr>
              <a:t>参数名称</a:t>
            </a:r>
            <a:r>
              <a:rPr kumimoji="0" lang="zh-CN" altLang="en-US" sz="3200" b="1" i="0" u="none" strike="noStrike" kern="1200" cap="none" spc="0" normalizeH="0" baseline="0" noProof="1">
                <a:ln>
                  <a:noFill/>
                </a:ln>
                <a:solidFill>
                  <a:schemeClr val="tx2"/>
                </a:solidFill>
                <a:effectLst>
                  <a:outerShdw blurRad="38100" dist="38100" dir="2700000">
                    <a:srgbClr val="C0C0C0"/>
                  </a:outerShdw>
                </a:effectLst>
                <a:uLnTx/>
                <a:uFillTx/>
                <a:latin typeface="宋体" panose="02010600030101010101" pitchFamily="2" charset="-122"/>
                <a:ea typeface="+mj-ea"/>
                <a:cs typeface="+mj-cs"/>
              </a:rPr>
              <a:t>与</a:t>
            </a:r>
            <a:r>
              <a:rPr lang="en-US" altLang="zh-CN" sz="3200"/>
              <a:t>AFG1000</a:t>
            </a:r>
            <a:r>
              <a:rPr kumimoji="0" lang="zh-CN" altLang="en-US" sz="3200" b="1" i="0" u="none" strike="noStrike" kern="1200" cap="none" spc="0" normalizeH="0" baseline="0" noProof="1">
                <a:ln>
                  <a:noFill/>
                </a:ln>
                <a:solidFill>
                  <a:srgbClr val="2722FA"/>
                </a:solidFill>
                <a:effectLst>
                  <a:outerShdw blurRad="38100" dist="38100" dir="2700000">
                    <a:srgbClr val="C0C0C0"/>
                  </a:outerShdw>
                </a:effectLst>
                <a:uLnTx/>
                <a:uFillTx/>
                <a:latin typeface="宋体" panose="02010600030101010101" pitchFamily="2" charset="-122"/>
                <a:ea typeface="+mj-ea"/>
                <a:cs typeface="+mj-cs"/>
              </a:rPr>
              <a:t>设备</a:t>
            </a:r>
            <a:r>
              <a:rPr lang="zh-CN" altLang="en-US" sz="3200" b="1" kern="1200" noProof="1">
                <a:solidFill>
                  <a:srgbClr val="2722FA"/>
                </a:solidFill>
                <a:effectLst>
                  <a:outerShdw blurRad="38100" dist="38100" dir="2700000">
                    <a:srgbClr val="C0C0C0"/>
                  </a:outerShdw>
                </a:effectLst>
                <a:latin typeface="宋体" panose="02010600030101010101" pitchFamily="2" charset="-122"/>
              </a:rPr>
              <a:t>中</a:t>
            </a:r>
            <a:r>
              <a:rPr kumimoji="0" lang="zh-CN" altLang="en-US" sz="3200" b="1" i="0" u="none" strike="noStrike" kern="1200" cap="none" spc="0" normalizeH="0" baseline="0" noProof="1">
                <a:ln>
                  <a:noFill/>
                </a:ln>
                <a:solidFill>
                  <a:srgbClr val="2722FA"/>
                </a:solidFill>
                <a:effectLst>
                  <a:outerShdw blurRad="38100" dist="38100" dir="2700000">
                    <a:srgbClr val="C0C0C0"/>
                  </a:outerShdw>
                </a:effectLst>
                <a:uLnTx/>
                <a:uFillTx/>
                <a:latin typeface="宋体" panose="02010600030101010101" pitchFamily="2" charset="-122"/>
                <a:ea typeface="+mj-ea"/>
                <a:cs typeface="+mj-cs"/>
              </a:rPr>
              <a:t>标识</a:t>
            </a:r>
            <a:endParaRPr lang="zh-CN" altLang="en-US" sz="3200" b="1" kern="1200" noProof="1">
              <a:effectLst>
                <a:outerShdw blurRad="38100" dist="38100" dir="2700000">
                  <a:srgbClr val="C0C0C0"/>
                </a:outerShdw>
              </a:effectLst>
              <a:latin typeface="宋体" panose="02010600030101010101" pitchFamily="2" charset="-122"/>
            </a:endParaRPr>
          </a:p>
        </p:txBody>
      </p:sp>
      <p:pic>
        <p:nvPicPr>
          <p:cNvPr id="4101" name="Picture 4"/>
          <p:cNvPicPr>
            <a:picLocks noChangeAspect="1"/>
          </p:cNvPicPr>
          <p:nvPr/>
        </p:nvPicPr>
        <p:blipFill rotWithShape="1">
          <a:blip r:embed="rId3"/>
          <a:srcRect l="7505"/>
          <a:stretch/>
        </p:blipFill>
        <p:spPr>
          <a:xfrm>
            <a:off x="3947695" y="3481970"/>
            <a:ext cx="4546572" cy="2569841"/>
          </a:xfrm>
          <a:prstGeom prst="rect">
            <a:avLst/>
          </a:prstGeom>
          <a:noFill/>
          <a:ln w="9525">
            <a:noFill/>
          </a:ln>
        </p:spPr>
      </p:pic>
      <p:sp>
        <p:nvSpPr>
          <p:cNvPr id="4104" name="Text Box 7"/>
          <p:cNvSpPr txBox="1"/>
          <p:nvPr/>
        </p:nvSpPr>
        <p:spPr>
          <a:xfrm>
            <a:off x="7343473" y="1447808"/>
            <a:ext cx="1430788" cy="1200329"/>
          </a:xfrm>
          <a:prstGeom prst="rect">
            <a:avLst/>
          </a:prstGeom>
          <a:noFill/>
          <a:ln w="9525">
            <a:noFill/>
          </a:ln>
        </p:spPr>
        <p:txBody>
          <a:bodyPr wrap="square">
            <a:spAutoFit/>
          </a:bodyPr>
          <a:lstStyle/>
          <a:p>
            <a:pPr eaLnBrk="1" hangingPunct="1"/>
            <a:r>
              <a:rPr lang="zh-CN" altLang="en-US">
                <a:solidFill>
                  <a:schemeClr val="bg1">
                    <a:lumMod val="50000"/>
                  </a:schemeClr>
                </a:solidFill>
                <a:latin typeface="Times New Roman" panose="02020603050405020304" pitchFamily="18" charset="0"/>
              </a:rPr>
              <a:t>起始相位 </a:t>
            </a:r>
            <a:endParaRPr lang="en-US" altLang="zh-CN">
              <a:solidFill>
                <a:schemeClr val="bg1">
                  <a:lumMod val="50000"/>
                </a:schemeClr>
              </a:solidFill>
              <a:latin typeface="Times New Roman" panose="02020603050405020304" pitchFamily="18" charset="0"/>
            </a:endParaRPr>
          </a:p>
          <a:p>
            <a:pPr eaLnBrk="1" hangingPunct="1"/>
            <a:r>
              <a:rPr lang="en-US" altLang="zh-CN" err="1">
                <a:solidFill>
                  <a:schemeClr val="bg1">
                    <a:lumMod val="50000"/>
                  </a:schemeClr>
                </a:solidFill>
                <a:latin typeface="Times New Roman" panose="02020603050405020304" pitchFamily="18" charset="0"/>
              </a:rPr>
              <a:t>StartPhase</a:t>
            </a:r>
            <a:endParaRPr lang="en-US" altLang="zh-CN">
              <a:solidFill>
                <a:schemeClr val="bg1">
                  <a:lumMod val="50000"/>
                </a:schemeClr>
              </a:solidFill>
              <a:latin typeface="Times New Roman" panose="02020603050405020304" pitchFamily="18" charset="0"/>
            </a:endParaRPr>
          </a:p>
          <a:p>
            <a:pPr eaLnBrk="1" hangingPunct="1"/>
            <a:r>
              <a:rPr lang="zh-CN" altLang="en-US">
                <a:solidFill>
                  <a:schemeClr val="bg1">
                    <a:lumMod val="50000"/>
                  </a:schemeClr>
                </a:solidFill>
                <a:latin typeface="Times New Roman" panose="02020603050405020304" pitchFamily="18" charset="0"/>
              </a:rPr>
              <a:t>（本课程基本不用）</a:t>
            </a:r>
          </a:p>
        </p:txBody>
      </p:sp>
      <p:sp>
        <p:nvSpPr>
          <p:cNvPr id="4106" name="Line 9"/>
          <p:cNvSpPr/>
          <p:nvPr/>
        </p:nvSpPr>
        <p:spPr>
          <a:xfrm flipH="1">
            <a:off x="5393151" y="3505652"/>
            <a:ext cx="1" cy="2520280"/>
          </a:xfrm>
          <a:prstGeom prst="line">
            <a:avLst/>
          </a:prstGeom>
          <a:ln w="19050" cap="flat" cmpd="sng">
            <a:solidFill>
              <a:srgbClr val="FF3300"/>
            </a:solidFill>
            <a:prstDash val="solid"/>
            <a:headEnd type="triangle" w="med" len="med"/>
            <a:tailEnd type="triangle" w="med" len="med"/>
          </a:ln>
        </p:spPr>
      </p:sp>
      <p:sp>
        <p:nvSpPr>
          <p:cNvPr id="4107" name="Text Box 10"/>
          <p:cNvSpPr txBox="1"/>
          <p:nvPr/>
        </p:nvSpPr>
        <p:spPr>
          <a:xfrm>
            <a:off x="476608" y="3755415"/>
            <a:ext cx="3408428" cy="369332"/>
          </a:xfrm>
          <a:prstGeom prst="rect">
            <a:avLst/>
          </a:prstGeom>
          <a:noFill/>
          <a:ln w="9525">
            <a:noFill/>
          </a:ln>
        </p:spPr>
        <p:txBody>
          <a:bodyPr wrap="square">
            <a:spAutoFit/>
          </a:bodyPr>
          <a:lstStyle/>
          <a:p>
            <a:pPr eaLnBrk="1" hangingPunct="1"/>
            <a:r>
              <a:rPr lang="zh-CN" altLang="en-US" b="1">
                <a:solidFill>
                  <a:srgbClr val="2722FA"/>
                </a:solidFill>
                <a:latin typeface="Times New Roman" panose="02020603050405020304" pitchFamily="18" charset="0"/>
              </a:rPr>
              <a:t>幅度</a:t>
            </a:r>
            <a:r>
              <a:rPr lang="en-US" altLang="zh-CN" b="1">
                <a:solidFill>
                  <a:srgbClr val="2722FA"/>
                </a:solidFill>
                <a:latin typeface="Times New Roman" panose="02020603050405020304" pitchFamily="18" charset="0"/>
              </a:rPr>
              <a:t>Amp</a:t>
            </a:r>
            <a:r>
              <a:rPr lang="en-US" altLang="zh-CN" i="1">
                <a:solidFill>
                  <a:srgbClr val="2722FA"/>
                </a:solidFill>
                <a:latin typeface="Times New Roman" panose="02020603050405020304" pitchFamily="18" charset="0"/>
              </a:rPr>
              <a:t>litude</a:t>
            </a:r>
            <a:r>
              <a:rPr lang="en-US" altLang="zh-CN">
                <a:solidFill>
                  <a:srgbClr val="2722FA"/>
                </a:solidFill>
                <a:latin typeface="Times New Roman" panose="02020603050405020304" pitchFamily="18" charset="0"/>
              </a:rPr>
              <a:t> </a:t>
            </a:r>
            <a:r>
              <a:rPr lang="en-US" altLang="zh-CN" b="1">
                <a:solidFill>
                  <a:srgbClr val="0070C0"/>
                </a:solidFill>
                <a:latin typeface="Times New Roman" panose="02020603050405020304" pitchFamily="18" charset="0"/>
              </a:rPr>
              <a:t>~</a:t>
            </a:r>
            <a:r>
              <a:rPr lang="en-US" altLang="zh-CN" b="1" err="1">
                <a:latin typeface="Times New Roman" panose="02020603050405020304" pitchFamily="18" charset="0"/>
              </a:rPr>
              <a:t>Vpp</a:t>
            </a:r>
            <a:r>
              <a:rPr lang="en-US" altLang="zh-CN" b="1">
                <a:latin typeface="Times New Roman" panose="02020603050405020304" pitchFamily="18" charset="0"/>
              </a:rPr>
              <a:t>=</a:t>
            </a:r>
            <a:r>
              <a:rPr lang="zh-CN" altLang="en-US" b="1">
                <a:latin typeface="Times New Roman" panose="02020603050405020304" pitchFamily="18" charset="0"/>
              </a:rPr>
              <a:t>峰峰值</a:t>
            </a:r>
            <a:endParaRPr lang="zh-CN" altLang="en-US" b="1">
              <a:solidFill>
                <a:srgbClr val="FF3300"/>
              </a:solidFill>
              <a:latin typeface="Times New Roman" panose="02020603050405020304" pitchFamily="18" charset="0"/>
            </a:endParaRPr>
          </a:p>
        </p:txBody>
      </p:sp>
      <p:sp>
        <p:nvSpPr>
          <p:cNvPr id="4108" name="Line 11"/>
          <p:cNvSpPr/>
          <p:nvPr/>
        </p:nvSpPr>
        <p:spPr>
          <a:xfrm>
            <a:off x="7401363" y="3465255"/>
            <a:ext cx="0" cy="2560677"/>
          </a:xfrm>
          <a:prstGeom prst="line">
            <a:avLst/>
          </a:prstGeom>
          <a:ln w="25400" cap="flat" cmpd="sng">
            <a:solidFill>
              <a:schemeClr val="tx1"/>
            </a:solidFill>
            <a:prstDash val="dash"/>
            <a:headEnd type="none" w="med" len="med"/>
            <a:tailEnd type="none" w="med" len="med"/>
          </a:ln>
        </p:spPr>
      </p:sp>
      <p:sp>
        <p:nvSpPr>
          <p:cNvPr id="4109" name="Line 12"/>
          <p:cNvSpPr/>
          <p:nvPr/>
        </p:nvSpPr>
        <p:spPr>
          <a:xfrm>
            <a:off x="3947695" y="5825881"/>
            <a:ext cx="3423507" cy="0"/>
          </a:xfrm>
          <a:prstGeom prst="line">
            <a:avLst/>
          </a:prstGeom>
          <a:ln w="25400" cap="flat" cmpd="sng">
            <a:solidFill>
              <a:srgbClr val="0000FF"/>
            </a:solidFill>
            <a:prstDash val="solid"/>
            <a:headEnd type="triangle" w="lg" len="lg"/>
            <a:tailEnd type="triangle" w="lg" len="lg"/>
          </a:ln>
        </p:spPr>
      </p:sp>
      <p:sp>
        <p:nvSpPr>
          <p:cNvPr id="4110" name="Text Box 13"/>
          <p:cNvSpPr txBox="1"/>
          <p:nvPr/>
        </p:nvSpPr>
        <p:spPr>
          <a:xfrm>
            <a:off x="4141586" y="6210598"/>
            <a:ext cx="3711335" cy="369332"/>
          </a:xfrm>
          <a:prstGeom prst="rect">
            <a:avLst/>
          </a:prstGeom>
          <a:noFill/>
          <a:ln w="9525">
            <a:noFill/>
          </a:ln>
        </p:spPr>
        <p:txBody>
          <a:bodyPr wrap="square">
            <a:spAutoFit/>
          </a:bodyPr>
          <a:lstStyle/>
          <a:p>
            <a:pPr eaLnBrk="1" hangingPunct="1"/>
            <a:r>
              <a:rPr lang="zh-CN" altLang="en-US" b="1">
                <a:solidFill>
                  <a:srgbClr val="0070C0"/>
                </a:solidFill>
                <a:latin typeface="Times New Roman" panose="02020603050405020304" pitchFamily="18" charset="0"/>
              </a:rPr>
              <a:t>周期</a:t>
            </a:r>
            <a:r>
              <a:rPr lang="en-US" altLang="zh-CN" b="1">
                <a:solidFill>
                  <a:srgbClr val="0070C0"/>
                </a:solidFill>
                <a:latin typeface="Times New Roman" panose="02020603050405020304" pitchFamily="18" charset="0"/>
              </a:rPr>
              <a:t>Period</a:t>
            </a:r>
            <a:r>
              <a:rPr lang="zh-CN" altLang="en-US" b="1">
                <a:solidFill>
                  <a:srgbClr val="0070C0"/>
                </a:solidFill>
                <a:latin typeface="Times New Roman" panose="02020603050405020304" pitchFamily="18" charset="0"/>
              </a:rPr>
              <a:t> =</a:t>
            </a:r>
            <a:r>
              <a:rPr lang="zh-CN" altLang="en-US" b="1">
                <a:latin typeface="Times New Roman" panose="02020603050405020304" pitchFamily="18" charset="0"/>
              </a:rPr>
              <a:t> 1 / </a:t>
            </a:r>
            <a:r>
              <a:rPr lang="zh-CN" altLang="en-US" b="1">
                <a:solidFill>
                  <a:srgbClr val="2722FA"/>
                </a:solidFill>
                <a:latin typeface="Times New Roman" panose="02020603050405020304" pitchFamily="18" charset="0"/>
              </a:rPr>
              <a:t>频率</a:t>
            </a:r>
            <a:r>
              <a:rPr lang="en-US" altLang="zh-CN" b="1">
                <a:solidFill>
                  <a:srgbClr val="2722FA"/>
                </a:solidFill>
                <a:latin typeface="Times New Roman" panose="02020603050405020304" pitchFamily="18" charset="0"/>
              </a:rPr>
              <a:t>Freq (Hz)</a:t>
            </a:r>
          </a:p>
        </p:txBody>
      </p:sp>
      <p:sp>
        <p:nvSpPr>
          <p:cNvPr id="4111" name="Line 14"/>
          <p:cNvSpPr/>
          <p:nvPr/>
        </p:nvSpPr>
        <p:spPr>
          <a:xfrm flipH="1" flipV="1">
            <a:off x="3578767" y="3934285"/>
            <a:ext cx="1826594" cy="120454"/>
          </a:xfrm>
          <a:prstGeom prst="line">
            <a:avLst/>
          </a:prstGeom>
          <a:ln w="12700" cap="flat" cmpd="sng">
            <a:solidFill>
              <a:srgbClr val="FF3300"/>
            </a:solidFill>
            <a:prstDash val="dash"/>
            <a:headEnd type="none" w="med" len="med"/>
            <a:tailEnd type="none" w="med" len="med"/>
          </a:ln>
        </p:spPr>
      </p:sp>
      <p:sp>
        <p:nvSpPr>
          <p:cNvPr id="4112" name="Line 15"/>
          <p:cNvSpPr/>
          <p:nvPr/>
        </p:nvSpPr>
        <p:spPr>
          <a:xfrm>
            <a:off x="3968077" y="5377860"/>
            <a:ext cx="4526190" cy="0"/>
          </a:xfrm>
          <a:prstGeom prst="line">
            <a:avLst/>
          </a:prstGeom>
          <a:ln w="38100" cap="flat" cmpd="sng">
            <a:solidFill>
              <a:schemeClr val="tx1"/>
            </a:solidFill>
            <a:prstDash val="solid"/>
            <a:headEnd type="none" w="med" len="med"/>
            <a:tailEnd type="none" w="med" len="med"/>
          </a:ln>
        </p:spPr>
      </p:sp>
      <p:sp>
        <p:nvSpPr>
          <p:cNvPr id="3" name="文本框 2">
            <a:extLst>
              <a:ext uri="{FF2B5EF4-FFF2-40B4-BE49-F238E27FC236}">
                <a16:creationId xmlns:a16="http://schemas.microsoft.com/office/drawing/2014/main" id="{5ADD6A24-BB62-4386-98E6-9B33AEC173AA}"/>
              </a:ext>
            </a:extLst>
          </p:cNvPr>
          <p:cNvSpPr txBox="1"/>
          <p:nvPr/>
        </p:nvSpPr>
        <p:spPr>
          <a:xfrm>
            <a:off x="2267745" y="5193194"/>
            <a:ext cx="1873841" cy="369332"/>
          </a:xfrm>
          <a:prstGeom prst="rect">
            <a:avLst/>
          </a:prstGeom>
          <a:noFill/>
        </p:spPr>
        <p:txBody>
          <a:bodyPr wrap="square" rtlCol="0">
            <a:spAutoFit/>
          </a:bodyPr>
          <a:lstStyle/>
          <a:p>
            <a:r>
              <a:rPr lang="en-US" altLang="zh-CN">
                <a:solidFill>
                  <a:srgbClr val="0000FF"/>
                </a:solidFill>
              </a:rPr>
              <a:t>0</a:t>
            </a:r>
            <a:r>
              <a:rPr lang="en-US" altLang="zh-CN" sz="1600">
                <a:solidFill>
                  <a:srgbClr val="0000FF"/>
                </a:solidFill>
              </a:rPr>
              <a:t>mV</a:t>
            </a:r>
            <a:r>
              <a:rPr lang="en-US" altLang="zh-CN" sz="1600" b="1">
                <a:solidFill>
                  <a:srgbClr val="0070C0"/>
                </a:solidFill>
                <a:latin typeface="Times New Roman" panose="02020603050405020304" pitchFamily="18" charset="0"/>
              </a:rPr>
              <a:t> ~</a:t>
            </a:r>
            <a:r>
              <a:rPr lang="zh-CN" altLang="en-US" b="1"/>
              <a:t>共地</a:t>
            </a:r>
            <a:r>
              <a:rPr lang="en-US" altLang="zh-CN" b="1"/>
              <a:t>0</a:t>
            </a:r>
            <a:r>
              <a:rPr lang="en-US" altLang="zh-CN">
                <a:sym typeface="Wingdings" panose="05000000000000000000" pitchFamily="2" charset="2"/>
              </a:rPr>
              <a:t></a:t>
            </a:r>
            <a:endParaRPr lang="zh-CN" altLang="en-US"/>
          </a:p>
        </p:txBody>
      </p:sp>
      <p:sp>
        <p:nvSpPr>
          <p:cNvPr id="19" name="Line 9">
            <a:extLst>
              <a:ext uri="{FF2B5EF4-FFF2-40B4-BE49-F238E27FC236}">
                <a16:creationId xmlns:a16="http://schemas.microsoft.com/office/drawing/2014/main" id="{0C68EF20-3FAA-40C9-BD48-442743FA8103}"/>
              </a:ext>
            </a:extLst>
          </p:cNvPr>
          <p:cNvSpPr/>
          <p:nvPr/>
        </p:nvSpPr>
        <p:spPr>
          <a:xfrm flipH="1">
            <a:off x="4937467" y="4757301"/>
            <a:ext cx="0" cy="620560"/>
          </a:xfrm>
          <a:prstGeom prst="line">
            <a:avLst/>
          </a:prstGeom>
          <a:ln w="19050" cap="flat" cmpd="sng">
            <a:solidFill>
              <a:srgbClr val="FF3300"/>
            </a:solidFill>
            <a:prstDash val="solid"/>
            <a:headEnd type="triangle" w="med" len="med"/>
            <a:tailEnd type="triangle" w="med" len="med"/>
          </a:ln>
        </p:spPr>
      </p:sp>
      <p:sp>
        <p:nvSpPr>
          <p:cNvPr id="20" name="Text Box 10">
            <a:extLst>
              <a:ext uri="{FF2B5EF4-FFF2-40B4-BE49-F238E27FC236}">
                <a16:creationId xmlns:a16="http://schemas.microsoft.com/office/drawing/2014/main" id="{04D5B3E0-080E-4C4F-BCF1-E9BB9941C136}"/>
              </a:ext>
            </a:extLst>
          </p:cNvPr>
          <p:cNvSpPr txBox="1"/>
          <p:nvPr/>
        </p:nvSpPr>
        <p:spPr>
          <a:xfrm>
            <a:off x="1236127" y="4158066"/>
            <a:ext cx="2633967" cy="369332"/>
          </a:xfrm>
          <a:prstGeom prst="rect">
            <a:avLst/>
          </a:prstGeom>
          <a:noFill/>
          <a:ln w="9525">
            <a:noFill/>
          </a:ln>
        </p:spPr>
        <p:txBody>
          <a:bodyPr wrap="square">
            <a:spAutoFit/>
          </a:bodyPr>
          <a:lstStyle/>
          <a:p>
            <a:pPr eaLnBrk="1" hangingPunct="1"/>
            <a:r>
              <a:rPr lang="zh-CN" altLang="en-US" b="1">
                <a:solidFill>
                  <a:srgbClr val="2722FA"/>
                </a:solidFill>
                <a:latin typeface="Times New Roman" panose="02020603050405020304" pitchFamily="18" charset="0"/>
              </a:rPr>
              <a:t>偏置 </a:t>
            </a:r>
            <a:r>
              <a:rPr lang="en-US" altLang="zh-CN" b="1">
                <a:solidFill>
                  <a:srgbClr val="2722FA"/>
                </a:solidFill>
                <a:latin typeface="Times New Roman" panose="02020603050405020304" pitchFamily="18" charset="0"/>
              </a:rPr>
              <a:t>Offset</a:t>
            </a:r>
            <a:r>
              <a:rPr lang="en-US" altLang="zh-CN" b="1">
                <a:solidFill>
                  <a:srgbClr val="0070C0"/>
                </a:solidFill>
                <a:latin typeface="Times New Roman" panose="02020603050405020304" pitchFamily="18" charset="0"/>
              </a:rPr>
              <a:t>=</a:t>
            </a:r>
            <a:r>
              <a:rPr lang="zh-CN" altLang="en-US" b="1">
                <a:latin typeface="Times New Roman" panose="02020603050405020304" pitchFamily="18" charset="0"/>
              </a:rPr>
              <a:t>直流分量</a:t>
            </a:r>
          </a:p>
        </p:txBody>
      </p:sp>
      <p:sp>
        <p:nvSpPr>
          <p:cNvPr id="21" name="Line 14">
            <a:extLst>
              <a:ext uri="{FF2B5EF4-FFF2-40B4-BE49-F238E27FC236}">
                <a16:creationId xmlns:a16="http://schemas.microsoft.com/office/drawing/2014/main" id="{80A89557-60A6-4DB0-9516-A76B2DC45F13}"/>
              </a:ext>
            </a:extLst>
          </p:cNvPr>
          <p:cNvSpPr/>
          <p:nvPr/>
        </p:nvSpPr>
        <p:spPr>
          <a:xfrm>
            <a:off x="3675061" y="4366253"/>
            <a:ext cx="1242025" cy="565647"/>
          </a:xfrm>
          <a:prstGeom prst="line">
            <a:avLst/>
          </a:prstGeom>
          <a:ln w="12700" cap="flat" cmpd="sng">
            <a:solidFill>
              <a:srgbClr val="FF3300"/>
            </a:solidFill>
            <a:prstDash val="dash"/>
            <a:headEnd type="none" w="med" len="med"/>
            <a:tailEnd type="none" w="med" len="med"/>
          </a:ln>
        </p:spPr>
      </p:sp>
      <p:sp>
        <p:nvSpPr>
          <p:cNvPr id="22" name="Text Box 10">
            <a:extLst>
              <a:ext uri="{FF2B5EF4-FFF2-40B4-BE49-F238E27FC236}">
                <a16:creationId xmlns:a16="http://schemas.microsoft.com/office/drawing/2014/main" id="{89EEA91A-9163-4029-A1E5-56F7B19D05F9}"/>
              </a:ext>
            </a:extLst>
          </p:cNvPr>
          <p:cNvSpPr txBox="1"/>
          <p:nvPr/>
        </p:nvSpPr>
        <p:spPr>
          <a:xfrm>
            <a:off x="3182719" y="4582356"/>
            <a:ext cx="880369" cy="369332"/>
          </a:xfrm>
          <a:prstGeom prst="rect">
            <a:avLst/>
          </a:prstGeom>
          <a:noFill/>
          <a:ln w="9525">
            <a:noFill/>
          </a:ln>
        </p:spPr>
        <p:txBody>
          <a:bodyPr wrap="square">
            <a:spAutoFit/>
          </a:bodyPr>
          <a:lstStyle/>
          <a:p>
            <a:pPr eaLnBrk="1" hangingPunct="1"/>
            <a:r>
              <a:rPr lang="zh-CN" altLang="en-US" b="1">
                <a:solidFill>
                  <a:schemeClr val="tx1">
                    <a:lumMod val="50000"/>
                    <a:lumOff val="50000"/>
                  </a:schemeClr>
                </a:solidFill>
                <a:latin typeface="Times New Roman" panose="02020603050405020304" pitchFamily="18" charset="0"/>
              </a:rPr>
              <a:t>中值</a:t>
            </a:r>
            <a:r>
              <a:rPr lang="en-US" altLang="zh-CN" b="1">
                <a:solidFill>
                  <a:schemeClr val="tx1">
                    <a:lumMod val="50000"/>
                    <a:lumOff val="50000"/>
                  </a:schemeClr>
                </a:solidFill>
                <a:latin typeface="Times New Roman" panose="02020603050405020304" pitchFamily="18" charset="0"/>
                <a:sym typeface="Wingdings" panose="05000000000000000000" pitchFamily="2" charset="2"/>
              </a:rPr>
              <a:t></a:t>
            </a:r>
            <a:endParaRPr lang="zh-CN" altLang="en-US" b="1">
              <a:solidFill>
                <a:schemeClr val="tx1">
                  <a:lumMod val="50000"/>
                  <a:lumOff val="50000"/>
                </a:schemeClr>
              </a:solidFill>
              <a:latin typeface="Times New Roman" panose="02020603050405020304" pitchFamily="18" charset="0"/>
            </a:endParaRPr>
          </a:p>
        </p:txBody>
      </p:sp>
      <p:sp>
        <p:nvSpPr>
          <p:cNvPr id="23" name="Text Box 10">
            <a:extLst>
              <a:ext uri="{FF2B5EF4-FFF2-40B4-BE49-F238E27FC236}">
                <a16:creationId xmlns:a16="http://schemas.microsoft.com/office/drawing/2014/main" id="{C5E3F9AF-1B73-4DAE-B2D1-97E8527EE6BB}"/>
              </a:ext>
            </a:extLst>
          </p:cNvPr>
          <p:cNvSpPr txBox="1"/>
          <p:nvPr/>
        </p:nvSpPr>
        <p:spPr>
          <a:xfrm>
            <a:off x="1043617" y="3357945"/>
            <a:ext cx="3708120" cy="369332"/>
          </a:xfrm>
          <a:prstGeom prst="rect">
            <a:avLst/>
          </a:prstGeom>
          <a:noFill/>
          <a:ln w="9525">
            <a:noFill/>
          </a:ln>
        </p:spPr>
        <p:txBody>
          <a:bodyPr wrap="square">
            <a:spAutoFit/>
          </a:bodyPr>
          <a:lstStyle/>
          <a:p>
            <a:pPr algn="l" eaLnBrk="1" hangingPunct="1"/>
            <a:r>
              <a:rPr lang="zh-CN" altLang="en-US" b="1">
                <a:solidFill>
                  <a:srgbClr val="0000FF"/>
                </a:solidFill>
                <a:latin typeface="Times New Roman" panose="02020603050405020304" pitchFamily="18" charset="0"/>
              </a:rPr>
              <a:t>  高电平</a:t>
            </a:r>
            <a:r>
              <a:rPr lang="en-US" altLang="zh-CN" b="1">
                <a:solidFill>
                  <a:srgbClr val="0000FF"/>
                </a:solidFill>
                <a:latin typeface="Times New Roman" panose="02020603050405020304" pitchFamily="18" charset="0"/>
              </a:rPr>
              <a:t>High </a:t>
            </a:r>
            <a:r>
              <a:rPr lang="en-US" altLang="zh-CN" i="1">
                <a:solidFill>
                  <a:srgbClr val="0000FF"/>
                </a:solidFill>
                <a:latin typeface="Times New Roman" panose="02020603050405020304" pitchFamily="18" charset="0"/>
              </a:rPr>
              <a:t>level</a:t>
            </a:r>
            <a:r>
              <a:rPr lang="en-US" altLang="zh-CN" b="1">
                <a:solidFill>
                  <a:srgbClr val="0000FF"/>
                </a:solidFill>
                <a:latin typeface="Times New Roman" panose="02020603050405020304" pitchFamily="18" charset="0"/>
              </a:rPr>
              <a:t> </a:t>
            </a:r>
            <a:r>
              <a:rPr lang="en-US" altLang="zh-CN" b="1">
                <a:solidFill>
                  <a:srgbClr val="0070C0"/>
                </a:solidFill>
                <a:latin typeface="Times New Roman" panose="02020603050405020304" pitchFamily="18" charset="0"/>
              </a:rPr>
              <a:t>=</a:t>
            </a:r>
            <a:r>
              <a:rPr lang="en-US" altLang="zh-CN" b="1">
                <a:latin typeface="Times New Roman" panose="02020603050405020304" pitchFamily="18" charset="0"/>
              </a:rPr>
              <a:t>Vmax</a:t>
            </a:r>
            <a:r>
              <a:rPr lang="en-US" altLang="zh-CN" b="1">
                <a:latin typeface="Times New Roman" panose="02020603050405020304" pitchFamily="18" charset="0"/>
                <a:sym typeface="Wingdings" panose="05000000000000000000" pitchFamily="2" charset="2"/>
              </a:rPr>
              <a:t></a:t>
            </a:r>
            <a:endParaRPr lang="zh-CN" altLang="en-US" b="1">
              <a:latin typeface="Times New Roman" panose="02020603050405020304" pitchFamily="18" charset="0"/>
            </a:endParaRPr>
          </a:p>
        </p:txBody>
      </p:sp>
      <p:sp>
        <p:nvSpPr>
          <p:cNvPr id="24" name="Text Box 10">
            <a:extLst>
              <a:ext uri="{FF2B5EF4-FFF2-40B4-BE49-F238E27FC236}">
                <a16:creationId xmlns:a16="http://schemas.microsoft.com/office/drawing/2014/main" id="{372F393B-9F5F-46BF-AE57-62B198CFCDEC}"/>
              </a:ext>
            </a:extLst>
          </p:cNvPr>
          <p:cNvSpPr txBox="1"/>
          <p:nvPr/>
        </p:nvSpPr>
        <p:spPr>
          <a:xfrm>
            <a:off x="1115616" y="5825881"/>
            <a:ext cx="3127755" cy="369332"/>
          </a:xfrm>
          <a:prstGeom prst="rect">
            <a:avLst/>
          </a:prstGeom>
          <a:noFill/>
          <a:ln w="9525">
            <a:noFill/>
          </a:ln>
        </p:spPr>
        <p:txBody>
          <a:bodyPr wrap="square">
            <a:spAutoFit/>
          </a:bodyPr>
          <a:lstStyle/>
          <a:p>
            <a:pPr algn="l" eaLnBrk="1" hangingPunct="1"/>
            <a:r>
              <a:rPr lang="zh-CN" altLang="en-US" b="1">
                <a:solidFill>
                  <a:srgbClr val="0000FF"/>
                </a:solidFill>
                <a:latin typeface="Times New Roman" panose="02020603050405020304" pitchFamily="18" charset="0"/>
              </a:rPr>
              <a:t>  低电平</a:t>
            </a:r>
            <a:r>
              <a:rPr lang="en-US" altLang="zh-CN" b="1">
                <a:solidFill>
                  <a:srgbClr val="0000FF"/>
                </a:solidFill>
                <a:latin typeface="Times New Roman" panose="02020603050405020304" pitchFamily="18" charset="0"/>
              </a:rPr>
              <a:t>Low </a:t>
            </a:r>
            <a:r>
              <a:rPr lang="en-US" altLang="zh-CN" i="1">
                <a:solidFill>
                  <a:srgbClr val="0000FF"/>
                </a:solidFill>
                <a:latin typeface="Times New Roman" panose="02020603050405020304" pitchFamily="18" charset="0"/>
              </a:rPr>
              <a:t>level</a:t>
            </a:r>
            <a:r>
              <a:rPr lang="en-US" altLang="zh-CN">
                <a:solidFill>
                  <a:srgbClr val="0000FF"/>
                </a:solidFill>
                <a:latin typeface="Times New Roman" panose="02020603050405020304" pitchFamily="18" charset="0"/>
              </a:rPr>
              <a:t> </a:t>
            </a:r>
            <a:r>
              <a:rPr lang="en-US" altLang="zh-CN" b="1">
                <a:solidFill>
                  <a:srgbClr val="0070C0"/>
                </a:solidFill>
                <a:latin typeface="Times New Roman" panose="02020603050405020304" pitchFamily="18" charset="0"/>
              </a:rPr>
              <a:t>=</a:t>
            </a:r>
            <a:r>
              <a:rPr lang="en-US" altLang="zh-CN" b="1" err="1">
                <a:latin typeface="Times New Roman" panose="02020603050405020304" pitchFamily="18" charset="0"/>
              </a:rPr>
              <a:t>Vmin</a:t>
            </a:r>
            <a:r>
              <a:rPr lang="en-US" altLang="zh-CN" b="1">
                <a:latin typeface="Times New Roman" panose="02020603050405020304" pitchFamily="18" charset="0"/>
                <a:sym typeface="Wingdings" panose="05000000000000000000" pitchFamily="2" charset="2"/>
              </a:rPr>
              <a:t></a:t>
            </a:r>
            <a:endParaRPr lang="zh-CN" altLang="en-US" b="1">
              <a:latin typeface="Times New Roman" panose="02020603050405020304" pitchFamily="18" charset="0"/>
            </a:endParaRPr>
          </a:p>
        </p:txBody>
      </p:sp>
      <p:sp>
        <p:nvSpPr>
          <p:cNvPr id="25" name="Line 14">
            <a:extLst>
              <a:ext uri="{FF2B5EF4-FFF2-40B4-BE49-F238E27FC236}">
                <a16:creationId xmlns:a16="http://schemas.microsoft.com/office/drawing/2014/main" id="{3C42EB6D-AC37-4AA2-A9B5-86A6B25A6C79}"/>
              </a:ext>
            </a:extLst>
          </p:cNvPr>
          <p:cNvSpPr/>
          <p:nvPr/>
        </p:nvSpPr>
        <p:spPr>
          <a:xfrm flipV="1">
            <a:off x="5148063" y="5823819"/>
            <a:ext cx="721151" cy="432307"/>
          </a:xfrm>
          <a:prstGeom prst="line">
            <a:avLst/>
          </a:prstGeom>
          <a:ln w="12700" cap="flat" cmpd="sng">
            <a:solidFill>
              <a:srgbClr val="2722FA"/>
            </a:solidFill>
            <a:prstDash val="dash"/>
            <a:headEnd type="none" w="med" len="med"/>
            <a:tailEnd type="none" w="med" len="med"/>
          </a:ln>
        </p:spPr>
      </p:sp>
      <p:pic>
        <p:nvPicPr>
          <p:cNvPr id="6" name="图片 5">
            <a:extLst>
              <a:ext uri="{FF2B5EF4-FFF2-40B4-BE49-F238E27FC236}">
                <a16:creationId xmlns:a16="http://schemas.microsoft.com/office/drawing/2014/main" id="{AB22589C-D637-4CD1-8650-EB3653469448}"/>
              </a:ext>
            </a:extLst>
          </p:cNvPr>
          <p:cNvPicPr>
            <a:picLocks noChangeAspect="1"/>
          </p:cNvPicPr>
          <p:nvPr/>
        </p:nvPicPr>
        <p:blipFill>
          <a:blip r:embed="rId4"/>
          <a:stretch>
            <a:fillRect/>
          </a:stretch>
        </p:blipFill>
        <p:spPr>
          <a:xfrm>
            <a:off x="539552" y="1042919"/>
            <a:ext cx="3303759" cy="2239012"/>
          </a:xfrm>
          <a:prstGeom prst="rect">
            <a:avLst/>
          </a:prstGeom>
        </p:spPr>
      </p:pic>
      <p:pic>
        <p:nvPicPr>
          <p:cNvPr id="7" name="图片 6">
            <a:extLst>
              <a:ext uri="{FF2B5EF4-FFF2-40B4-BE49-F238E27FC236}">
                <a16:creationId xmlns:a16="http://schemas.microsoft.com/office/drawing/2014/main" id="{5A665A8C-6CD8-476F-968C-B6C1EB447237}"/>
              </a:ext>
            </a:extLst>
          </p:cNvPr>
          <p:cNvPicPr>
            <a:picLocks noChangeAspect="1"/>
          </p:cNvPicPr>
          <p:nvPr/>
        </p:nvPicPr>
        <p:blipFill>
          <a:blip r:embed="rId5"/>
          <a:stretch>
            <a:fillRect/>
          </a:stretch>
        </p:blipFill>
        <p:spPr>
          <a:xfrm>
            <a:off x="3995936" y="1054324"/>
            <a:ext cx="3360747" cy="2223264"/>
          </a:xfrm>
          <a:prstGeom prst="rect">
            <a:avLst/>
          </a:prstGeom>
        </p:spPr>
      </p:pic>
      <p:pic>
        <p:nvPicPr>
          <p:cNvPr id="8" name="图片 7">
            <a:extLst>
              <a:ext uri="{FF2B5EF4-FFF2-40B4-BE49-F238E27FC236}">
                <a16:creationId xmlns:a16="http://schemas.microsoft.com/office/drawing/2014/main" id="{AB737EDB-808E-42B0-A6D3-153518AE7D40}"/>
              </a:ext>
            </a:extLst>
          </p:cNvPr>
          <p:cNvPicPr>
            <a:picLocks noChangeAspect="1"/>
          </p:cNvPicPr>
          <p:nvPr/>
        </p:nvPicPr>
        <p:blipFill>
          <a:blip r:embed="rId6"/>
          <a:stretch>
            <a:fillRect/>
          </a:stretch>
        </p:blipFill>
        <p:spPr>
          <a:xfrm>
            <a:off x="7403171" y="3480951"/>
            <a:ext cx="1104900" cy="25527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3073"/>
          <p:cNvSpPr>
            <a:spLocks noGrp="1"/>
          </p:cNvSpPr>
          <p:nvPr>
            <p:ph type="ctrTitle"/>
          </p:nvPr>
        </p:nvSpPr>
        <p:spPr>
          <a:xfrm>
            <a:off x="250825" y="260350"/>
            <a:ext cx="8209607" cy="527050"/>
          </a:xfrm>
        </p:spPr>
        <p:txBody>
          <a:bodyPr vert="horz" wrap="square" lIns="91440" tIns="45720" rIns="91440" bIns="45720" anchor="ctr" anchorCtr="0"/>
          <a:lstStyle/>
          <a:p>
            <a:pPr algn="l" eaLnBrk="1" hangingPunct="1">
              <a:buClrTx/>
              <a:buSzTx/>
              <a:buFontTx/>
            </a:pPr>
            <a:r>
              <a:rPr lang="en-US" altLang="zh-CN" sz="3200" kern="1200"/>
              <a:t>AFG1000</a:t>
            </a:r>
            <a:r>
              <a:rPr lang="zh-CN" altLang="en-US" sz="3200" kern="1200"/>
              <a:t>信号源课内主要操作流程</a:t>
            </a:r>
            <a:endParaRPr lang="zh-CN" altLang="zh-CN" sz="3200" kern="1200">
              <a:latin typeface="+mj-lt"/>
              <a:ea typeface="+mj-ea"/>
              <a:cs typeface="+mj-cs"/>
            </a:endParaRPr>
          </a:p>
        </p:txBody>
      </p:sp>
      <p:sp>
        <p:nvSpPr>
          <p:cNvPr id="11" name="文本框 10">
            <a:extLst>
              <a:ext uri="{FF2B5EF4-FFF2-40B4-BE49-F238E27FC236}">
                <a16:creationId xmlns:a16="http://schemas.microsoft.com/office/drawing/2014/main" id="{E86D4FA0-0368-4D4B-BDF8-3A10E3568FD7}"/>
              </a:ext>
            </a:extLst>
          </p:cNvPr>
          <p:cNvSpPr txBox="1"/>
          <p:nvPr/>
        </p:nvSpPr>
        <p:spPr>
          <a:xfrm>
            <a:off x="250824" y="4437112"/>
            <a:ext cx="8497639" cy="2139047"/>
          </a:xfrm>
          <a:prstGeom prst="rect">
            <a:avLst/>
          </a:prstGeom>
          <a:noFill/>
          <a:ln w="25400">
            <a:solidFill>
              <a:srgbClr val="00B050"/>
            </a:solidFill>
          </a:ln>
        </p:spPr>
        <p:txBody>
          <a:bodyPr wrap="square" rtlCol="0">
            <a:spAutoFit/>
          </a:bodyPr>
          <a:lstStyle/>
          <a:p>
            <a:pPr marL="742950" lvl="1" indent="-285750" algn="l">
              <a:spcBef>
                <a:spcPts val="600"/>
              </a:spcBef>
              <a:buFont typeface="Arial" panose="020B0604020202020204" pitchFamily="34" charset="0"/>
              <a:buChar char="•"/>
            </a:pPr>
            <a:r>
              <a:rPr lang="zh-CN" altLang="en-US"/>
              <a:t>开机</a:t>
            </a:r>
            <a:r>
              <a:rPr lang="en-US" altLang="zh-CN"/>
              <a:t>— </a:t>
            </a:r>
            <a:r>
              <a:rPr lang="zh-CN" altLang="en-US">
                <a:highlight>
                  <a:srgbClr val="FF9900"/>
                </a:highlight>
              </a:rPr>
              <a:t>通道键</a:t>
            </a:r>
            <a:r>
              <a:rPr lang="en-US" altLang="zh-CN">
                <a:highlight>
                  <a:srgbClr val="FF9900"/>
                </a:highlight>
              </a:rPr>
              <a:t>12-1#</a:t>
            </a:r>
            <a:r>
              <a:rPr lang="zh-CN" altLang="en-US"/>
              <a:t>切换通道</a:t>
            </a:r>
            <a:r>
              <a:rPr lang="en-US" altLang="zh-CN"/>
              <a:t>—</a:t>
            </a:r>
            <a:r>
              <a:rPr lang="zh-CN" altLang="en-US"/>
              <a:t>屏显</a:t>
            </a:r>
            <a:r>
              <a:rPr lang="en-US" altLang="zh-CN" sz="1400">
                <a:highlight>
                  <a:srgbClr val="FFFF00"/>
                </a:highlight>
              </a:rPr>
              <a:t>CH</a:t>
            </a:r>
            <a:r>
              <a:rPr lang="en-US" altLang="zh-CN">
                <a:highlight>
                  <a:srgbClr val="FFFF00"/>
                </a:highlight>
              </a:rPr>
              <a:t>1</a:t>
            </a:r>
            <a:r>
              <a:rPr lang="en-US" altLang="zh-CN"/>
              <a:t> </a:t>
            </a:r>
          </a:p>
          <a:p>
            <a:pPr marL="742950" lvl="1" indent="-285750" algn="l">
              <a:spcBef>
                <a:spcPts val="600"/>
              </a:spcBef>
              <a:buFont typeface="Arial" panose="020B0604020202020204" pitchFamily="34" charset="0"/>
              <a:buChar char="•"/>
            </a:pPr>
            <a:r>
              <a:rPr lang="zh-CN" altLang="en-US"/>
              <a:t>屏下方</a:t>
            </a:r>
            <a:r>
              <a:rPr lang="zh-CN" altLang="en-US">
                <a:highlight>
                  <a:srgbClr val="FF9900"/>
                </a:highlight>
              </a:rPr>
              <a:t>波形键</a:t>
            </a:r>
            <a:r>
              <a:rPr lang="en-US" altLang="zh-CN">
                <a:highlight>
                  <a:srgbClr val="FF9900"/>
                </a:highlight>
              </a:rPr>
              <a:t>14</a:t>
            </a:r>
            <a:r>
              <a:rPr lang="en-US" altLang="zh-CN"/>
              <a:t>—</a:t>
            </a:r>
            <a:r>
              <a:rPr lang="zh-CN" altLang="en-US"/>
              <a:t>按选</a:t>
            </a:r>
            <a:r>
              <a:rPr lang="zh-CN" altLang="en-US" b="1">
                <a:solidFill>
                  <a:srgbClr val="2722FA"/>
                </a:solidFill>
              </a:rPr>
              <a:t>波形</a:t>
            </a:r>
            <a:r>
              <a:rPr lang="en-US" altLang="zh-CN"/>
              <a:t>:</a:t>
            </a:r>
            <a:r>
              <a:rPr lang="en-US" altLang="zh-CN">
                <a:highlight>
                  <a:srgbClr val="FF9900"/>
                </a:highlight>
              </a:rPr>
              <a:t> -1#</a:t>
            </a:r>
            <a:r>
              <a:rPr lang="zh-CN" altLang="en-US"/>
              <a:t>正弦</a:t>
            </a:r>
            <a:r>
              <a:rPr lang="en-US" altLang="zh-CN"/>
              <a:t>Sine / </a:t>
            </a:r>
            <a:r>
              <a:rPr lang="en-US" altLang="zh-CN">
                <a:highlight>
                  <a:srgbClr val="FF9900"/>
                </a:highlight>
              </a:rPr>
              <a:t>-2#</a:t>
            </a:r>
            <a:r>
              <a:rPr lang="zh-CN" altLang="en-US"/>
              <a:t>方波</a:t>
            </a:r>
            <a:r>
              <a:rPr lang="en-US" altLang="zh-CN"/>
              <a:t>Square</a:t>
            </a:r>
            <a:endParaRPr lang="en-US" altLang="zh-CN" b="1"/>
          </a:p>
          <a:p>
            <a:pPr marL="742950" lvl="1" indent="-285750" algn="l">
              <a:spcBef>
                <a:spcPts val="600"/>
              </a:spcBef>
              <a:buFont typeface="Arial" panose="020B0604020202020204" pitchFamily="34" charset="0"/>
              <a:buChar char="•"/>
            </a:pPr>
            <a:r>
              <a:rPr lang="zh-CN" altLang="en-US"/>
              <a:t>屏右边</a:t>
            </a:r>
            <a:r>
              <a:rPr lang="zh-CN" altLang="en-US">
                <a:highlight>
                  <a:srgbClr val="FF9900"/>
                </a:highlight>
              </a:rPr>
              <a:t>菜单键</a:t>
            </a:r>
            <a:r>
              <a:rPr lang="en-US" altLang="zh-CN">
                <a:highlight>
                  <a:srgbClr val="FF9900"/>
                </a:highlight>
              </a:rPr>
              <a:t>1-n#</a:t>
            </a:r>
            <a:r>
              <a:rPr lang="en-US" altLang="zh-CN"/>
              <a:t>—</a:t>
            </a:r>
            <a:r>
              <a:rPr lang="zh-CN" altLang="en-US"/>
              <a:t>激活屏内菜单对应</a:t>
            </a:r>
            <a:r>
              <a:rPr lang="zh-CN" altLang="en-US" b="1">
                <a:solidFill>
                  <a:srgbClr val="2722FA"/>
                </a:solidFill>
              </a:rPr>
              <a:t>参数主项</a:t>
            </a:r>
            <a:r>
              <a:rPr lang="zh-CN" altLang="en-US"/>
              <a:t>（背景变深色）</a:t>
            </a:r>
            <a:endParaRPr lang="en-US" altLang="zh-CN"/>
          </a:p>
          <a:p>
            <a:pPr marL="742950" lvl="1" indent="-285750" algn="l">
              <a:spcBef>
                <a:spcPts val="600"/>
              </a:spcBef>
              <a:buFont typeface="Arial" panose="020B0604020202020204" pitchFamily="34" charset="0"/>
              <a:buChar char="•"/>
            </a:pPr>
            <a:r>
              <a:rPr lang="zh-CN" altLang="en-US"/>
              <a:t>主项内有</a:t>
            </a:r>
            <a:r>
              <a:rPr lang="zh-CN" altLang="en-US" b="1">
                <a:solidFill>
                  <a:srgbClr val="2722FA"/>
                </a:solidFill>
              </a:rPr>
              <a:t>参数子项</a:t>
            </a:r>
            <a:r>
              <a:rPr lang="zh-CN" altLang="en-US"/>
              <a:t>的，可再按</a:t>
            </a:r>
            <a:r>
              <a:rPr lang="en-US" altLang="zh-CN">
                <a:highlight>
                  <a:srgbClr val="FF9900"/>
                </a:highlight>
              </a:rPr>
              <a:t>1-n#</a:t>
            </a:r>
            <a:r>
              <a:rPr lang="zh-CN" altLang="en-US"/>
              <a:t>切换子项（单词反色）</a:t>
            </a:r>
            <a:endParaRPr lang="en-US" altLang="zh-CN"/>
          </a:p>
          <a:p>
            <a:pPr marL="742950" lvl="1" indent="-285750" algn="l">
              <a:spcBef>
                <a:spcPts val="600"/>
              </a:spcBef>
              <a:buFont typeface="Arial" panose="020B0604020202020204" pitchFamily="34" charset="0"/>
              <a:buChar char="•"/>
            </a:pPr>
            <a:r>
              <a:rPr lang="zh-CN" altLang="en-US"/>
              <a:t>以</a:t>
            </a:r>
            <a:r>
              <a:rPr lang="zh-CN" altLang="en-US">
                <a:highlight>
                  <a:srgbClr val="FF9900"/>
                </a:highlight>
              </a:rPr>
              <a:t>数字键盘</a:t>
            </a:r>
            <a:r>
              <a:rPr lang="en-US" altLang="zh-CN">
                <a:highlight>
                  <a:srgbClr val="FF9900"/>
                </a:highlight>
              </a:rPr>
              <a:t>2</a:t>
            </a:r>
            <a:r>
              <a:rPr lang="zh-CN" altLang="en-US" b="1">
                <a:solidFill>
                  <a:srgbClr val="2722FA"/>
                </a:solidFill>
              </a:rPr>
              <a:t>输入参数值</a:t>
            </a:r>
            <a:r>
              <a:rPr lang="zh-CN" altLang="en-US"/>
              <a:t>，配合</a:t>
            </a:r>
            <a:r>
              <a:rPr lang="en-US" altLang="zh-CN">
                <a:highlight>
                  <a:srgbClr val="FF9900"/>
                </a:highlight>
              </a:rPr>
              <a:t>1-n#</a:t>
            </a:r>
            <a:r>
              <a:rPr lang="zh-CN" altLang="en-US"/>
              <a:t>选屏内菜单显示的</a:t>
            </a:r>
            <a:r>
              <a:rPr lang="zh-CN" altLang="en-US" b="1">
                <a:solidFill>
                  <a:srgbClr val="2722FA"/>
                </a:solidFill>
              </a:rPr>
              <a:t>量纲子项</a:t>
            </a:r>
            <a:endParaRPr lang="en-US" altLang="zh-CN" b="1">
              <a:solidFill>
                <a:srgbClr val="2722FA"/>
              </a:solidFill>
            </a:endParaRPr>
          </a:p>
          <a:p>
            <a:pPr marL="742950" lvl="1" indent="-285750" algn="l">
              <a:spcBef>
                <a:spcPts val="600"/>
              </a:spcBef>
              <a:buFont typeface="Arial" panose="020B0604020202020204" pitchFamily="34" charset="0"/>
              <a:buChar char="•"/>
            </a:pPr>
            <a:r>
              <a:rPr lang="zh-CN" altLang="en-US"/>
              <a:t>按</a:t>
            </a:r>
            <a:r>
              <a:rPr lang="zh-CN" altLang="en-US">
                <a:highlight>
                  <a:srgbClr val="FF9900"/>
                </a:highlight>
              </a:rPr>
              <a:t>通道</a:t>
            </a:r>
            <a:r>
              <a:rPr lang="en-US" altLang="zh-CN">
                <a:highlight>
                  <a:srgbClr val="FF9900"/>
                </a:highlight>
              </a:rPr>
              <a:t>1</a:t>
            </a:r>
            <a:r>
              <a:rPr lang="zh-CN" altLang="en-US">
                <a:highlight>
                  <a:srgbClr val="FF9900"/>
                </a:highlight>
              </a:rPr>
              <a:t>开关</a:t>
            </a:r>
            <a:r>
              <a:rPr lang="en-US" altLang="zh-CN">
                <a:highlight>
                  <a:srgbClr val="FF9900"/>
                </a:highlight>
              </a:rPr>
              <a:t>10</a:t>
            </a:r>
            <a:r>
              <a:rPr lang="zh-CN" altLang="en-US"/>
              <a:t>开通道</a:t>
            </a:r>
            <a:r>
              <a:rPr lang="en-US" altLang="zh-CN"/>
              <a:t>1</a:t>
            </a:r>
            <a:r>
              <a:rPr lang="zh-CN" altLang="en-US"/>
              <a:t>（键内灯亮起）</a:t>
            </a:r>
            <a:r>
              <a:rPr lang="en-US" altLang="zh-CN"/>
              <a:t>—</a:t>
            </a:r>
            <a:r>
              <a:rPr lang="zh-CN" altLang="en-US">
                <a:highlight>
                  <a:srgbClr val="FF9900"/>
                </a:highlight>
              </a:rPr>
              <a:t>接口</a:t>
            </a:r>
            <a:r>
              <a:rPr lang="en-US" altLang="zh-CN">
                <a:highlight>
                  <a:srgbClr val="FF9900"/>
                </a:highlight>
              </a:rPr>
              <a:t>11</a:t>
            </a:r>
            <a:r>
              <a:rPr lang="zh-CN" altLang="en-US"/>
              <a:t>连线输出</a:t>
            </a:r>
            <a:endParaRPr lang="en-US" altLang="zh-CN" b="1">
              <a:solidFill>
                <a:srgbClr val="2722FA"/>
              </a:solidFill>
            </a:endParaRPr>
          </a:p>
        </p:txBody>
      </p:sp>
      <p:pic>
        <p:nvPicPr>
          <p:cNvPr id="2" name="图片 1">
            <a:extLst>
              <a:ext uri="{FF2B5EF4-FFF2-40B4-BE49-F238E27FC236}">
                <a16:creationId xmlns:a16="http://schemas.microsoft.com/office/drawing/2014/main" id="{A3D71256-D6E9-4FD0-92DC-963621CE33DC}"/>
              </a:ext>
            </a:extLst>
          </p:cNvPr>
          <p:cNvPicPr>
            <a:picLocks noChangeAspect="1"/>
          </p:cNvPicPr>
          <p:nvPr/>
        </p:nvPicPr>
        <p:blipFill>
          <a:blip r:embed="rId2"/>
          <a:stretch>
            <a:fillRect/>
          </a:stretch>
        </p:blipFill>
        <p:spPr>
          <a:xfrm>
            <a:off x="2987824" y="1031354"/>
            <a:ext cx="6038850" cy="3333750"/>
          </a:xfrm>
          <a:prstGeom prst="rect">
            <a:avLst/>
          </a:prstGeom>
        </p:spPr>
      </p:pic>
      <p:pic>
        <p:nvPicPr>
          <p:cNvPr id="3" name="图片 2">
            <a:extLst>
              <a:ext uri="{FF2B5EF4-FFF2-40B4-BE49-F238E27FC236}">
                <a16:creationId xmlns:a16="http://schemas.microsoft.com/office/drawing/2014/main" id="{0AB5C4E6-D2E3-4128-9F9F-BD1832F12F05}"/>
              </a:ext>
            </a:extLst>
          </p:cNvPr>
          <p:cNvPicPr>
            <a:picLocks noChangeAspect="1"/>
          </p:cNvPicPr>
          <p:nvPr/>
        </p:nvPicPr>
        <p:blipFill>
          <a:blip r:embed="rId3"/>
          <a:stretch>
            <a:fillRect/>
          </a:stretch>
        </p:blipFill>
        <p:spPr>
          <a:xfrm>
            <a:off x="95386" y="1196752"/>
            <a:ext cx="4502753" cy="2005881"/>
          </a:xfrm>
          <a:prstGeom prst="rect">
            <a:avLst/>
          </a:prstGeom>
          <a:ln w="38100">
            <a:solidFill>
              <a:srgbClr val="00B050"/>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CCFFCC">
                <a:gamma/>
                <a:tint val="34902"/>
                <a:invGamma/>
              </a:srgbClr>
            </a:gs>
            <a:gs pos="100000">
              <a:srgbClr val="CCFFCC"/>
            </a:gs>
          </a:gsLst>
          <a:lin ang="5400000" scaled="1"/>
        </a:gradFill>
        <a:effectLst/>
      </p:bgPr>
    </p:bg>
    <p:spTree>
      <p:nvGrpSpPr>
        <p:cNvPr id="1" name=""/>
        <p:cNvGrpSpPr/>
        <p:nvPr/>
      </p:nvGrpSpPr>
      <p:grpSpPr>
        <a:xfrm>
          <a:off x="0" y="0"/>
          <a:ext cx="0" cy="0"/>
          <a:chOff x="0" y="0"/>
          <a:chExt cx="0" cy="0"/>
        </a:xfrm>
      </p:grpSpPr>
      <p:sp>
        <p:nvSpPr>
          <p:cNvPr id="97284" name="Rectangle 2"/>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a:latin typeface="华文楷体" panose="02010600040101010101" pitchFamily="2" charset="-122"/>
                <a:ea typeface="华文楷体" panose="02010600040101010101" pitchFamily="2" charset="-122"/>
                <a:sym typeface="+mn-ea"/>
              </a:rPr>
              <a:t>操作示例</a:t>
            </a:r>
            <a:r>
              <a:rPr lang="en-US" altLang="zh-CN" sz="3600" b="1">
                <a:latin typeface="华文楷体" panose="02010600040101010101" pitchFamily="2" charset="-122"/>
                <a:ea typeface="华文楷体" panose="02010600040101010101" pitchFamily="2" charset="-122"/>
                <a:sym typeface="+mn-ea"/>
              </a:rPr>
              <a:t>—</a:t>
            </a:r>
            <a:r>
              <a:rPr lang="zh-CN" altLang="en-US" sz="3600" b="1">
                <a:latin typeface="华文楷体" panose="02010600040101010101" pitchFamily="2" charset="-122"/>
                <a:ea typeface="华文楷体" panose="02010600040101010101" pitchFamily="2" charset="-122"/>
                <a:sym typeface="+mn-ea"/>
              </a:rPr>
              <a:t>任务：</a:t>
            </a:r>
            <a:r>
              <a:rPr lang="en-US" altLang="zh-CN" sz="3600" b="1">
                <a:latin typeface="华文楷体" panose="02010600040101010101" pitchFamily="2" charset="-122"/>
                <a:ea typeface="华文楷体" panose="02010600040101010101" pitchFamily="2" charset="-122"/>
                <a:sym typeface="+mn-ea"/>
              </a:rPr>
              <a:t>1kHz</a:t>
            </a:r>
            <a:r>
              <a:rPr lang="zh-CN" altLang="en-US" sz="3600" b="1">
                <a:latin typeface="华文楷体" panose="02010600040101010101" pitchFamily="2" charset="-122"/>
                <a:ea typeface="华文楷体" panose="02010600040101010101" pitchFamily="2" charset="-122"/>
                <a:sym typeface="+mn-ea"/>
              </a:rPr>
              <a:t>、</a:t>
            </a:r>
            <a:r>
              <a:rPr lang="en-US" altLang="zh-CN" sz="3600" b="1">
                <a:latin typeface="华文楷体" panose="02010600040101010101" pitchFamily="2" charset="-122"/>
                <a:ea typeface="华文楷体" panose="02010600040101010101" pitchFamily="2" charset="-122"/>
                <a:sym typeface="+mn-ea"/>
              </a:rPr>
              <a:t>1Vpp </a:t>
            </a:r>
            <a:r>
              <a:rPr lang="zh-CN" altLang="en-US" sz="3600" b="1">
                <a:latin typeface="华文楷体" panose="02010600040101010101" pitchFamily="2" charset="-122"/>
                <a:ea typeface="华文楷体" panose="02010600040101010101" pitchFamily="2" charset="-122"/>
                <a:sym typeface="+mn-ea"/>
              </a:rPr>
              <a:t>正弦波</a:t>
            </a:r>
          </a:p>
        </p:txBody>
      </p:sp>
      <p:sp>
        <p:nvSpPr>
          <p:cNvPr id="4" name="文本框 3">
            <a:extLst>
              <a:ext uri="{FF2B5EF4-FFF2-40B4-BE49-F238E27FC236}">
                <a16:creationId xmlns:a16="http://schemas.microsoft.com/office/drawing/2014/main" id="{5A0365C6-C165-4415-B08E-2603A761CE77}"/>
              </a:ext>
            </a:extLst>
          </p:cNvPr>
          <p:cNvSpPr txBox="1"/>
          <p:nvPr/>
        </p:nvSpPr>
        <p:spPr>
          <a:xfrm>
            <a:off x="5868144" y="1088712"/>
            <a:ext cx="3097655" cy="5339923"/>
          </a:xfrm>
          <a:prstGeom prst="rect">
            <a:avLst/>
          </a:prstGeom>
          <a:noFill/>
          <a:ln w="25400">
            <a:solidFill>
              <a:srgbClr val="00B050"/>
            </a:solidFill>
          </a:ln>
        </p:spPr>
        <p:txBody>
          <a:bodyPr wrap="square" rtlCol="0">
            <a:spAutoFit/>
          </a:bodyPr>
          <a:lstStyle/>
          <a:p>
            <a:pPr algn="l">
              <a:spcBef>
                <a:spcPts val="200"/>
              </a:spcBef>
            </a:pPr>
            <a:r>
              <a:rPr lang="en-US" altLang="zh-CN" b="1">
                <a:highlight>
                  <a:srgbClr val="FF9900"/>
                </a:highlight>
              </a:rPr>
              <a:t>15</a:t>
            </a:r>
            <a:r>
              <a:rPr lang="en-US" altLang="zh-CN"/>
              <a:t>—</a:t>
            </a:r>
            <a:r>
              <a:rPr lang="zh-CN" altLang="en-US"/>
              <a:t>开机，保证</a:t>
            </a:r>
            <a:r>
              <a:rPr lang="en-US" altLang="zh-CN" sz="1400"/>
              <a:t>B</a:t>
            </a:r>
            <a:r>
              <a:rPr lang="en-US" altLang="zh-CN"/>
              <a:t>4=</a:t>
            </a:r>
            <a:r>
              <a:rPr lang="en-US" altLang="zh-CN" b="1"/>
              <a:t>HighZ</a:t>
            </a:r>
          </a:p>
          <a:p>
            <a:pPr algn="l">
              <a:spcBef>
                <a:spcPts val="200"/>
              </a:spcBef>
            </a:pPr>
            <a:r>
              <a:rPr lang="zh-CN" altLang="en-US"/>
              <a:t>（</a:t>
            </a:r>
            <a:r>
              <a:rPr lang="en-US" altLang="zh-CN" sz="1400"/>
              <a:t>B</a:t>
            </a:r>
            <a:r>
              <a:rPr lang="en-US" altLang="zh-CN"/>
              <a:t>5=</a:t>
            </a:r>
            <a:r>
              <a:rPr lang="zh-CN" altLang="en-US"/>
              <a:t>缺省</a:t>
            </a:r>
            <a:r>
              <a:rPr lang="en-US" altLang="zh-CN"/>
              <a:t>CH1</a:t>
            </a:r>
            <a:r>
              <a:rPr lang="zh-CN" altLang="en-US"/>
              <a:t>进入设定）</a:t>
            </a:r>
            <a:endParaRPr lang="en-US" altLang="zh-CN"/>
          </a:p>
          <a:p>
            <a:pPr algn="l">
              <a:spcBef>
                <a:spcPts val="200"/>
              </a:spcBef>
            </a:pPr>
            <a:r>
              <a:rPr lang="en-US" altLang="zh-CN" b="1">
                <a:highlight>
                  <a:srgbClr val="FF9900"/>
                </a:highlight>
              </a:rPr>
              <a:t>14-1#</a:t>
            </a:r>
            <a:r>
              <a:rPr lang="en-US" altLang="zh-CN"/>
              <a:t>—</a:t>
            </a:r>
            <a:r>
              <a:rPr lang="zh-CN" altLang="en-US"/>
              <a:t>选</a:t>
            </a:r>
            <a:r>
              <a:rPr lang="zh-CN" altLang="en-US" b="1">
                <a:solidFill>
                  <a:srgbClr val="2722FA"/>
                </a:solidFill>
              </a:rPr>
              <a:t>正弦</a:t>
            </a:r>
            <a:r>
              <a:rPr lang="zh-CN" altLang="en-US"/>
              <a:t>（</a:t>
            </a:r>
            <a:r>
              <a:rPr lang="en-US" altLang="zh-CN" sz="1400"/>
              <a:t>B</a:t>
            </a:r>
            <a:r>
              <a:rPr lang="en-US" altLang="zh-CN"/>
              <a:t>7=Sine</a:t>
            </a:r>
            <a:r>
              <a:rPr lang="zh-CN" altLang="en-US"/>
              <a:t>）</a:t>
            </a:r>
            <a:endParaRPr lang="en-US" altLang="zh-CN"/>
          </a:p>
          <a:p>
            <a:pPr algn="l">
              <a:spcBef>
                <a:spcPts val="200"/>
              </a:spcBef>
            </a:pPr>
            <a:r>
              <a:rPr lang="en-US" altLang="zh-CN" b="1">
                <a:highlight>
                  <a:srgbClr val="FF9900"/>
                </a:highlight>
              </a:rPr>
              <a:t>1-1#</a:t>
            </a:r>
            <a:r>
              <a:rPr lang="en-US" altLang="zh-CN"/>
              <a:t>—</a:t>
            </a:r>
            <a:r>
              <a:rPr lang="zh-CN" altLang="en-US"/>
              <a:t>激活时间参数项</a:t>
            </a:r>
            <a:r>
              <a:rPr lang="en-US" altLang="zh-CN" sz="1400"/>
              <a:t>B</a:t>
            </a:r>
            <a:r>
              <a:rPr lang="en-US" altLang="zh-CN"/>
              <a:t>1</a:t>
            </a:r>
          </a:p>
          <a:p>
            <a:pPr algn="l">
              <a:spcBef>
                <a:spcPts val="200"/>
              </a:spcBef>
            </a:pPr>
            <a:r>
              <a:rPr lang="zh-CN" altLang="en-US"/>
              <a:t>（缺省激活 </a:t>
            </a:r>
            <a:r>
              <a:rPr lang="zh-CN" altLang="en-US">
                <a:highlight>
                  <a:srgbClr val="FFFFCC"/>
                </a:highlight>
              </a:rPr>
              <a:t>频率</a:t>
            </a:r>
            <a:r>
              <a:rPr lang="en-US" altLang="zh-CN">
                <a:highlight>
                  <a:srgbClr val="FFFFCC"/>
                </a:highlight>
              </a:rPr>
              <a:t>Freq</a:t>
            </a:r>
            <a:r>
              <a:rPr lang="zh-CN" altLang="en-US"/>
              <a:t>）</a:t>
            </a:r>
            <a:endParaRPr lang="en-US" altLang="zh-CN"/>
          </a:p>
          <a:p>
            <a:pPr algn="l">
              <a:spcBef>
                <a:spcPts val="200"/>
              </a:spcBef>
            </a:pPr>
            <a:r>
              <a:rPr lang="en-US" altLang="zh-CN" b="1">
                <a:highlight>
                  <a:srgbClr val="FF9900"/>
                </a:highlight>
              </a:rPr>
              <a:t>2</a:t>
            </a:r>
            <a:r>
              <a:rPr lang="en-US" altLang="zh-CN" b="1"/>
              <a:t>—</a:t>
            </a:r>
            <a:r>
              <a:rPr lang="zh-CN" altLang="en-US"/>
              <a:t>输入数字</a:t>
            </a:r>
            <a:r>
              <a:rPr lang="en-US" altLang="zh-CN">
                <a:solidFill>
                  <a:srgbClr val="2722FA"/>
                </a:solidFill>
              </a:rPr>
              <a:t>1</a:t>
            </a:r>
          </a:p>
          <a:p>
            <a:pPr algn="l">
              <a:spcBef>
                <a:spcPts val="200"/>
              </a:spcBef>
            </a:pPr>
            <a:r>
              <a:rPr lang="en-US" altLang="zh-CN" b="1">
                <a:highlight>
                  <a:srgbClr val="FF9900"/>
                </a:highlight>
              </a:rPr>
              <a:t>1-1#</a:t>
            </a:r>
            <a:r>
              <a:rPr lang="en-US" altLang="zh-CN"/>
              <a:t>—</a:t>
            </a:r>
            <a:r>
              <a:rPr lang="zh-CN" altLang="en-US"/>
              <a:t>选屏内</a:t>
            </a:r>
            <a:r>
              <a:rPr lang="zh-CN" altLang="en-US" b="1"/>
              <a:t>量纲子项</a:t>
            </a:r>
            <a:r>
              <a:rPr lang="en-US" altLang="zh-CN">
                <a:solidFill>
                  <a:srgbClr val="2722FA"/>
                </a:solidFill>
              </a:rPr>
              <a:t>kHz</a:t>
            </a:r>
          </a:p>
          <a:p>
            <a:pPr algn="l">
              <a:spcBef>
                <a:spcPts val="200"/>
              </a:spcBef>
            </a:pPr>
            <a:r>
              <a:rPr lang="zh-CN" altLang="en-US"/>
              <a:t>（</a:t>
            </a:r>
            <a:r>
              <a:rPr lang="en-US" altLang="zh-CN" sz="1400"/>
              <a:t>B</a:t>
            </a:r>
            <a:r>
              <a:rPr lang="en-US" altLang="zh-CN"/>
              <a:t>6=1.00kHz</a:t>
            </a:r>
            <a:r>
              <a:rPr lang="zh-CN" altLang="en-US"/>
              <a:t>对应</a:t>
            </a:r>
            <a:r>
              <a:rPr lang="en-US" altLang="zh-CN"/>
              <a:t>1.0ms</a:t>
            </a:r>
            <a:r>
              <a:rPr lang="zh-CN" altLang="en-US"/>
              <a:t>）</a:t>
            </a:r>
            <a:endParaRPr lang="en-US" altLang="zh-CN"/>
          </a:p>
          <a:p>
            <a:pPr algn="l">
              <a:spcBef>
                <a:spcPts val="200"/>
              </a:spcBef>
            </a:pPr>
            <a:r>
              <a:rPr lang="en-US" altLang="zh-CN" b="1">
                <a:highlight>
                  <a:srgbClr val="FF9900"/>
                </a:highlight>
              </a:rPr>
              <a:t>1-3#</a:t>
            </a:r>
            <a:r>
              <a:rPr lang="en-US" altLang="zh-CN"/>
              <a:t>—</a:t>
            </a:r>
            <a:r>
              <a:rPr lang="zh-CN" altLang="en-US"/>
              <a:t>激活幅度参数项</a:t>
            </a:r>
            <a:r>
              <a:rPr lang="en-US" altLang="zh-CN" sz="1400"/>
              <a:t>B</a:t>
            </a:r>
            <a:r>
              <a:rPr lang="en-US" altLang="zh-CN"/>
              <a:t>2</a:t>
            </a:r>
          </a:p>
          <a:p>
            <a:pPr algn="l">
              <a:spcBef>
                <a:spcPts val="200"/>
              </a:spcBef>
            </a:pPr>
            <a:r>
              <a:rPr lang="zh-CN" altLang="en-US"/>
              <a:t>（缺省激活 </a:t>
            </a:r>
            <a:r>
              <a:rPr lang="en-US" altLang="zh-CN">
                <a:solidFill>
                  <a:schemeClr val="bg1">
                    <a:lumMod val="85000"/>
                  </a:schemeClr>
                </a:solidFill>
                <a:highlight>
                  <a:srgbClr val="000080"/>
                </a:highlight>
              </a:rPr>
              <a:t>Amp</a:t>
            </a:r>
            <a:r>
              <a:rPr lang="en-US" altLang="zh-CN">
                <a:solidFill>
                  <a:schemeClr val="bg1">
                    <a:lumMod val="85000"/>
                  </a:schemeClr>
                </a:solidFill>
              </a:rPr>
              <a:t> </a:t>
            </a:r>
            <a:r>
              <a:rPr lang="zh-CN" altLang="en-US"/>
              <a:t>带</a:t>
            </a:r>
            <a:r>
              <a:rPr lang="en-US" altLang="zh-CN">
                <a:solidFill>
                  <a:schemeClr val="bg1">
                    <a:lumMod val="85000"/>
                  </a:schemeClr>
                </a:solidFill>
                <a:highlight>
                  <a:srgbClr val="000080"/>
                </a:highlight>
              </a:rPr>
              <a:t>Offset</a:t>
            </a:r>
            <a:r>
              <a:rPr lang="zh-CN" altLang="en-US"/>
              <a:t>）</a:t>
            </a:r>
            <a:endParaRPr lang="en-US" altLang="zh-CN"/>
          </a:p>
          <a:p>
            <a:pPr algn="l">
              <a:spcBef>
                <a:spcPts val="200"/>
              </a:spcBef>
            </a:pPr>
            <a:r>
              <a:rPr lang="en-US" altLang="zh-CN" b="1">
                <a:highlight>
                  <a:srgbClr val="FF9900"/>
                </a:highlight>
              </a:rPr>
              <a:t>2</a:t>
            </a:r>
            <a:r>
              <a:rPr lang="en-US" altLang="zh-CN" b="1"/>
              <a:t>—</a:t>
            </a:r>
            <a:r>
              <a:rPr lang="zh-CN" altLang="en-US"/>
              <a:t>输入数字</a:t>
            </a:r>
            <a:r>
              <a:rPr lang="en-US" altLang="zh-CN">
                <a:solidFill>
                  <a:srgbClr val="2722FA"/>
                </a:solidFill>
              </a:rPr>
              <a:t>1</a:t>
            </a:r>
          </a:p>
          <a:p>
            <a:pPr algn="l">
              <a:spcBef>
                <a:spcPts val="200"/>
              </a:spcBef>
            </a:pPr>
            <a:r>
              <a:rPr lang="en-US" altLang="zh-CN" b="1">
                <a:highlight>
                  <a:srgbClr val="FF9900"/>
                </a:highlight>
              </a:rPr>
              <a:t>1-1#</a:t>
            </a:r>
            <a:r>
              <a:rPr lang="en-US" altLang="zh-CN"/>
              <a:t>—</a:t>
            </a:r>
            <a:r>
              <a:rPr lang="zh-CN" altLang="en-US"/>
              <a:t>选屏内</a:t>
            </a:r>
            <a:r>
              <a:rPr lang="zh-CN" altLang="en-US" b="1"/>
              <a:t>量纲子项</a:t>
            </a:r>
            <a:r>
              <a:rPr lang="en-US" altLang="zh-CN">
                <a:solidFill>
                  <a:srgbClr val="2722FA"/>
                </a:solidFill>
              </a:rPr>
              <a:t>Vpp</a:t>
            </a:r>
          </a:p>
          <a:p>
            <a:pPr algn="l">
              <a:spcBef>
                <a:spcPts val="200"/>
              </a:spcBef>
            </a:pPr>
            <a:r>
              <a:rPr lang="zh-CN" altLang="en-US"/>
              <a:t>（</a:t>
            </a:r>
            <a:r>
              <a:rPr lang="en-US" altLang="zh-CN" sz="1400"/>
              <a:t>B</a:t>
            </a:r>
            <a:r>
              <a:rPr lang="en-US" altLang="zh-CN"/>
              <a:t>3</a:t>
            </a:r>
            <a:r>
              <a:rPr lang="zh-CN" altLang="en-US"/>
              <a:t>的</a:t>
            </a:r>
            <a:r>
              <a:rPr lang="en-US" altLang="zh-CN"/>
              <a:t>Amplitude=1Vpp</a:t>
            </a:r>
            <a:r>
              <a:rPr lang="zh-CN" altLang="en-US"/>
              <a:t>）</a:t>
            </a:r>
            <a:endParaRPr lang="en-US" altLang="zh-CN"/>
          </a:p>
          <a:p>
            <a:pPr algn="l">
              <a:spcBef>
                <a:spcPts val="200"/>
              </a:spcBef>
            </a:pPr>
            <a:r>
              <a:rPr lang="en-US" altLang="zh-CN" b="1">
                <a:highlight>
                  <a:srgbClr val="C0C0C0"/>
                </a:highlight>
              </a:rPr>
              <a:t>1-4#</a:t>
            </a:r>
            <a:r>
              <a:rPr lang="zh-CN" altLang="en-US"/>
              <a:t>激活</a:t>
            </a:r>
            <a:r>
              <a:rPr lang="en-US" altLang="zh-CN"/>
              <a:t>Offset</a:t>
            </a:r>
            <a:r>
              <a:rPr lang="zh-CN" altLang="en-US"/>
              <a:t>设置</a:t>
            </a:r>
            <a:r>
              <a:rPr lang="en-US" altLang="zh-CN"/>
              <a:t>__</a:t>
            </a:r>
            <a:r>
              <a:rPr lang="zh-CN" altLang="en-US" b="1"/>
              <a:t>跳过</a:t>
            </a:r>
            <a:endParaRPr lang="en-US" altLang="zh-CN" b="1"/>
          </a:p>
          <a:p>
            <a:pPr algn="l">
              <a:spcBef>
                <a:spcPts val="200"/>
              </a:spcBef>
            </a:pPr>
            <a:r>
              <a:rPr lang="zh-CN" altLang="en-US"/>
              <a:t>（</a:t>
            </a:r>
            <a:r>
              <a:rPr lang="en-US" altLang="zh-CN" sz="1400"/>
              <a:t>B</a:t>
            </a:r>
            <a:r>
              <a:rPr lang="en-US" altLang="zh-CN"/>
              <a:t>3</a:t>
            </a:r>
            <a:r>
              <a:rPr lang="zh-CN" altLang="en-US"/>
              <a:t>的</a:t>
            </a:r>
            <a:r>
              <a:rPr lang="en-US" altLang="zh-CN">
                <a:solidFill>
                  <a:srgbClr val="2722FA"/>
                </a:solidFill>
              </a:rPr>
              <a:t>Offset=0</a:t>
            </a:r>
            <a:r>
              <a:rPr lang="en-US" altLang="zh-CN"/>
              <a:t>mV=</a:t>
            </a:r>
            <a:r>
              <a:rPr lang="zh-CN" altLang="en-US"/>
              <a:t>缺省）</a:t>
            </a:r>
            <a:endParaRPr lang="en-US" altLang="zh-CN"/>
          </a:p>
          <a:p>
            <a:pPr algn="l">
              <a:spcBef>
                <a:spcPts val="1200"/>
              </a:spcBef>
            </a:pPr>
            <a:r>
              <a:rPr lang="en-US" altLang="zh-CN" b="1">
                <a:highlight>
                  <a:srgbClr val="FF9900"/>
                </a:highlight>
              </a:rPr>
              <a:t>10</a:t>
            </a:r>
            <a:r>
              <a:rPr lang="en-US" altLang="zh-CN"/>
              <a:t>—</a:t>
            </a:r>
            <a:r>
              <a:rPr lang="zh-CN" altLang="en-US"/>
              <a:t>开通道</a:t>
            </a:r>
            <a:r>
              <a:rPr lang="en-US" altLang="zh-CN"/>
              <a:t>1</a:t>
            </a:r>
            <a:r>
              <a:rPr lang="zh-CN" altLang="en-US"/>
              <a:t>输出（键灯亮）</a:t>
            </a:r>
            <a:endParaRPr lang="en-US" altLang="zh-CN"/>
          </a:p>
          <a:p>
            <a:pPr algn="l">
              <a:spcBef>
                <a:spcPts val="200"/>
              </a:spcBef>
            </a:pPr>
            <a:r>
              <a:rPr lang="en-US" altLang="zh-CN" b="1">
                <a:highlight>
                  <a:srgbClr val="FF9900"/>
                </a:highlight>
              </a:rPr>
              <a:t>11</a:t>
            </a:r>
            <a:r>
              <a:rPr lang="en-US" altLang="zh-CN"/>
              <a:t>—</a:t>
            </a:r>
            <a:r>
              <a:rPr lang="zh-CN" altLang="en-US"/>
              <a:t>连</a:t>
            </a:r>
            <a:r>
              <a:rPr lang="en-US" altLang="zh-CN"/>
              <a:t>BNC</a:t>
            </a:r>
            <a:r>
              <a:rPr lang="zh-CN" altLang="en-US"/>
              <a:t>线，测输出波形</a:t>
            </a:r>
          </a:p>
        </p:txBody>
      </p:sp>
      <p:pic>
        <p:nvPicPr>
          <p:cNvPr id="6" name="图片 5">
            <a:extLst>
              <a:ext uri="{FF2B5EF4-FFF2-40B4-BE49-F238E27FC236}">
                <a16:creationId xmlns:a16="http://schemas.microsoft.com/office/drawing/2014/main" id="{118F6E2D-CD22-4001-A1C2-7AFA3333D643}"/>
              </a:ext>
            </a:extLst>
          </p:cNvPr>
          <p:cNvPicPr>
            <a:picLocks noChangeAspect="1"/>
          </p:cNvPicPr>
          <p:nvPr/>
        </p:nvPicPr>
        <p:blipFill>
          <a:blip r:embed="rId2"/>
          <a:stretch>
            <a:fillRect/>
          </a:stretch>
        </p:blipFill>
        <p:spPr>
          <a:xfrm>
            <a:off x="403224" y="1052736"/>
            <a:ext cx="3384376" cy="2447708"/>
          </a:xfrm>
          <a:prstGeom prst="rect">
            <a:avLst/>
          </a:prstGeom>
        </p:spPr>
      </p:pic>
      <p:pic>
        <p:nvPicPr>
          <p:cNvPr id="7" name="图片 6">
            <a:extLst>
              <a:ext uri="{FF2B5EF4-FFF2-40B4-BE49-F238E27FC236}">
                <a16:creationId xmlns:a16="http://schemas.microsoft.com/office/drawing/2014/main" id="{16B2FCA2-5E91-4C2F-ADCD-7BECD076A312}"/>
              </a:ext>
            </a:extLst>
          </p:cNvPr>
          <p:cNvPicPr>
            <a:picLocks noChangeAspect="1"/>
          </p:cNvPicPr>
          <p:nvPr/>
        </p:nvPicPr>
        <p:blipFill rotWithShape="1">
          <a:blip r:embed="rId3"/>
          <a:srcRect l="7031"/>
          <a:stretch/>
        </p:blipFill>
        <p:spPr>
          <a:xfrm>
            <a:off x="340435" y="3530329"/>
            <a:ext cx="5383693" cy="3024335"/>
          </a:xfrm>
          <a:prstGeom prst="rect">
            <a:avLst/>
          </a:prstGeom>
        </p:spPr>
      </p:pic>
      <p:sp>
        <p:nvSpPr>
          <p:cNvPr id="2" name="文本框 1">
            <a:extLst>
              <a:ext uri="{FF2B5EF4-FFF2-40B4-BE49-F238E27FC236}">
                <a16:creationId xmlns:a16="http://schemas.microsoft.com/office/drawing/2014/main" id="{B97C8A2C-69AF-4131-B980-DCC15CC7BEB7}"/>
              </a:ext>
            </a:extLst>
          </p:cNvPr>
          <p:cNvSpPr txBox="1"/>
          <p:nvPr/>
        </p:nvSpPr>
        <p:spPr>
          <a:xfrm>
            <a:off x="3923928" y="1088712"/>
            <a:ext cx="1872208" cy="2092881"/>
          </a:xfrm>
          <a:prstGeom prst="rect">
            <a:avLst/>
          </a:prstGeom>
          <a:solidFill>
            <a:schemeClr val="accent1"/>
          </a:solidFill>
        </p:spPr>
        <p:txBody>
          <a:bodyPr wrap="square" rtlCol="0">
            <a:spAutoFit/>
          </a:bodyPr>
          <a:lstStyle/>
          <a:p>
            <a:pPr algn="l">
              <a:spcBef>
                <a:spcPts val="1200"/>
              </a:spcBef>
            </a:pPr>
            <a:r>
              <a:rPr lang="zh-CN" altLang="en-US" sz="2000" b="1">
                <a:latin typeface="华文楷体" panose="02010600040101010101" pitchFamily="2" charset="-122"/>
                <a:ea typeface="华文楷体" panose="02010600040101010101" pitchFamily="2" charset="-122"/>
                <a:sym typeface="+mn-ea"/>
              </a:rPr>
              <a:t>    注意任务文字中峰峰值</a:t>
            </a:r>
            <a:r>
              <a:rPr lang="en-US" altLang="zh-CN" sz="2000" b="1">
                <a:latin typeface="华文楷体" panose="02010600040101010101" pitchFamily="2" charset="-122"/>
                <a:ea typeface="华文楷体" panose="02010600040101010101" pitchFamily="2" charset="-122"/>
                <a:sym typeface="+mn-ea"/>
              </a:rPr>
              <a:t>pp</a:t>
            </a:r>
            <a:r>
              <a:rPr lang="zh-CN" altLang="en-US" sz="2000" b="1">
                <a:latin typeface="华文楷体" panose="02010600040101010101" pitchFamily="2" charset="-122"/>
                <a:ea typeface="华文楷体" panose="02010600040101010101" pitchFamily="2" charset="-122"/>
                <a:sym typeface="+mn-ea"/>
              </a:rPr>
              <a:t>、幅度等提法；</a:t>
            </a:r>
            <a:endParaRPr lang="en-US" altLang="zh-CN" sz="2000" b="1">
              <a:latin typeface="华文楷体" panose="02010600040101010101" pitchFamily="2" charset="-122"/>
              <a:ea typeface="华文楷体" panose="02010600040101010101" pitchFamily="2" charset="-122"/>
              <a:sym typeface="+mn-ea"/>
            </a:endParaRPr>
          </a:p>
          <a:p>
            <a:pPr algn="l">
              <a:spcBef>
                <a:spcPts val="1200"/>
              </a:spcBef>
            </a:pPr>
            <a:r>
              <a:rPr lang="zh-CN" altLang="en-US" sz="2000" b="1">
                <a:latin typeface="华文楷体" panose="02010600040101010101" pitchFamily="2" charset="-122"/>
                <a:ea typeface="华文楷体" panose="02010600040101010101" pitchFamily="2" charset="-122"/>
                <a:sym typeface="+mn-ea"/>
              </a:rPr>
              <a:t>    不提直流偏置即认为无直流，</a:t>
            </a:r>
            <a:r>
              <a:rPr lang="en-US" altLang="zh-CN" sz="2000" b="1">
                <a:latin typeface="华文楷体" panose="02010600040101010101" pitchFamily="2" charset="-122"/>
                <a:ea typeface="华文楷体" panose="02010600040101010101" pitchFamily="2" charset="-122"/>
                <a:sym typeface="+mn-ea"/>
              </a:rPr>
              <a:t>offset=0</a:t>
            </a:r>
            <a:endParaRPr lang="zh-CN" altLang="en-US" sz="20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CCFFCC">
                <a:gamma/>
                <a:tint val="34902"/>
                <a:invGamma/>
              </a:srgbClr>
            </a:gs>
            <a:gs pos="100000">
              <a:srgbClr val="CCFFCC"/>
            </a:gs>
          </a:gsLst>
          <a:lin ang="5400000" scaled="1"/>
        </a:gra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655CC02-0730-432A-B103-C86253440EB2}"/>
              </a:ext>
            </a:extLst>
          </p:cNvPr>
          <p:cNvGrpSpPr/>
          <p:nvPr/>
        </p:nvGrpSpPr>
        <p:grpSpPr>
          <a:xfrm>
            <a:off x="5531262" y="1144800"/>
            <a:ext cx="3423232" cy="1038256"/>
            <a:chOff x="387536" y="5029103"/>
            <a:chExt cx="3423232" cy="1038256"/>
          </a:xfrm>
        </p:grpSpPr>
        <p:grpSp>
          <p:nvGrpSpPr>
            <p:cNvPr id="23" name="组合 55"/>
            <p:cNvGrpSpPr/>
            <p:nvPr/>
          </p:nvGrpSpPr>
          <p:grpSpPr bwMode="auto">
            <a:xfrm>
              <a:off x="387536" y="5029103"/>
              <a:ext cx="3423232" cy="1038256"/>
              <a:chOff x="191792" y="178672"/>
              <a:chExt cx="3388651" cy="1038256"/>
            </a:xfrm>
          </p:grpSpPr>
          <p:grpSp>
            <p:nvGrpSpPr>
              <p:cNvPr id="25" name="Group 26"/>
              <p:cNvGrpSpPr/>
              <p:nvPr/>
            </p:nvGrpSpPr>
            <p:grpSpPr bwMode="auto">
              <a:xfrm>
                <a:off x="373239" y="178672"/>
                <a:ext cx="3179586" cy="1038256"/>
                <a:chOff x="-75" y="164"/>
                <a:chExt cx="2895" cy="953"/>
              </a:xfrm>
            </p:grpSpPr>
            <p:sp>
              <p:nvSpPr>
                <p:cNvPr id="35" name="Line 27"/>
                <p:cNvSpPr>
                  <a:spLocks noChangeShapeType="1"/>
                </p:cNvSpPr>
                <p:nvPr/>
              </p:nvSpPr>
              <p:spPr bwMode="auto">
                <a:xfrm>
                  <a:off x="225" y="960"/>
                  <a:ext cx="2595" cy="0"/>
                </a:xfrm>
                <a:prstGeom prst="line">
                  <a:avLst/>
                </a:prstGeom>
                <a:noFill/>
                <a:ln w="12700">
                  <a:solidFill>
                    <a:srgbClr val="000000"/>
                  </a:solidFill>
                  <a:rou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6" name="Line 28"/>
                <p:cNvSpPr>
                  <a:spLocks noChangeShapeType="1"/>
                </p:cNvSpPr>
                <p:nvPr/>
              </p:nvSpPr>
              <p:spPr bwMode="auto">
                <a:xfrm>
                  <a:off x="235" y="422"/>
                  <a:ext cx="0" cy="587"/>
                </a:xfrm>
                <a:prstGeom prst="line">
                  <a:avLst/>
                </a:prstGeom>
                <a:noFill/>
                <a:ln w="12700">
                  <a:solidFill>
                    <a:srgbClr val="000000"/>
                  </a:solidFill>
                  <a:round/>
                  <a:head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 name="Text Box 29"/>
                <p:cNvSpPr txBox="1">
                  <a:spLocks noChangeArrowheads="1"/>
                </p:cNvSpPr>
                <p:nvPr/>
              </p:nvSpPr>
              <p:spPr bwMode="auto">
                <a:xfrm>
                  <a:off x="-75" y="806"/>
                  <a:ext cx="453"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effectLst/>
                      <a:uLnTx/>
                      <a:uFillTx/>
                      <a:latin typeface="Times New Roman" panose="02020603050405020304" pitchFamily="18" charset="0"/>
                      <a:ea typeface="宋体" panose="02010600030101010101" pitchFamily="2" charset="-122"/>
                      <a:cs typeface="+mn-cs"/>
                    </a:rPr>
                    <a:t>0v</a:t>
                  </a:r>
                  <a:endParaRPr kumimoji="0" lang="en-US" altLang="zh-CN" sz="2800" b="1" i="0" u="none" strike="noStrike" kern="1200" cap="none" spc="0" normalizeH="0" baseline="0" noProof="0">
                    <a:ln>
                      <a:noFill/>
                    </a:ln>
                    <a:effectLst/>
                    <a:uLnTx/>
                    <a:uFillTx/>
                    <a:ea typeface="宋体" panose="02010600030101010101" pitchFamily="2" charset="-122"/>
                    <a:cs typeface="+mn-cs"/>
                  </a:endParaRPr>
                </a:p>
              </p:txBody>
            </p:sp>
            <p:sp>
              <p:nvSpPr>
                <p:cNvPr id="39" name="Text Box 31"/>
                <p:cNvSpPr txBox="1">
                  <a:spLocks noChangeArrowheads="1"/>
                </p:cNvSpPr>
                <p:nvPr/>
              </p:nvSpPr>
              <p:spPr bwMode="auto">
                <a:xfrm>
                  <a:off x="4" y="164"/>
                  <a:ext cx="30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v</a:t>
                  </a:r>
                  <a:r>
                    <a:rPr kumimoji="0" lang="en-US" altLang="zh-CN" sz="1600" b="0"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a:t>
                  </a:r>
                  <a:endParaRPr kumimoji="0" lang="en-US" altLang="zh-CN" sz="2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27" name="Text Box 33"/>
              <p:cNvSpPr txBox="1">
                <a:spLocks noChangeArrowheads="1"/>
              </p:cNvSpPr>
              <p:nvPr/>
            </p:nvSpPr>
            <p:spPr bwMode="auto">
              <a:xfrm>
                <a:off x="191792" y="544271"/>
                <a:ext cx="7207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1v</a:t>
                </a:r>
              </a:p>
            </p:txBody>
          </p:sp>
          <p:sp>
            <p:nvSpPr>
              <p:cNvPr id="28" name="Line 34"/>
              <p:cNvSpPr>
                <a:spLocks noChangeShapeType="1"/>
              </p:cNvSpPr>
              <p:nvPr/>
            </p:nvSpPr>
            <p:spPr bwMode="auto">
              <a:xfrm flipV="1">
                <a:off x="737968" y="666801"/>
                <a:ext cx="795337" cy="0"/>
              </a:xfrm>
              <a:prstGeom prst="line">
                <a:avLst/>
              </a:prstGeom>
              <a:noFill/>
              <a:ln w="38100" cap="rnd">
                <a:solidFill>
                  <a:schemeClr val="tx1"/>
                </a:solidFill>
                <a:prstDash val="sysDot"/>
                <a:rou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3" name="Text Box 46"/>
              <p:cNvSpPr txBox="1">
                <a:spLocks noChangeArrowheads="1"/>
              </p:cNvSpPr>
              <p:nvPr/>
            </p:nvSpPr>
            <p:spPr bwMode="auto">
              <a:xfrm>
                <a:off x="2408868" y="694749"/>
                <a:ext cx="11715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f=500Hz</a:t>
                </a:r>
              </a:p>
            </p:txBody>
          </p:sp>
        </p:grpSp>
        <p:grpSp>
          <p:nvGrpSpPr>
            <p:cNvPr id="58" name="组合 57"/>
            <p:cNvGrpSpPr/>
            <p:nvPr/>
          </p:nvGrpSpPr>
          <p:grpSpPr>
            <a:xfrm>
              <a:off x="826320" y="5487766"/>
              <a:ext cx="2334591" cy="399464"/>
              <a:chOff x="971600" y="5241600"/>
              <a:chExt cx="2334591" cy="595653"/>
            </a:xfrm>
          </p:grpSpPr>
          <p:cxnSp>
            <p:nvCxnSpPr>
              <p:cNvPr id="48" name="直接连接符 47"/>
              <p:cNvCxnSpPr/>
              <p:nvPr/>
            </p:nvCxnSpPr>
            <p:spPr>
              <a:xfrm>
                <a:off x="971600" y="5832000"/>
                <a:ext cx="598991"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1555200" y="5241600"/>
                <a:ext cx="0" cy="594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548000" y="5256000"/>
                <a:ext cx="598991"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2142000" y="5241772"/>
                <a:ext cx="0" cy="594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2131200" y="5837253"/>
                <a:ext cx="598991"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2714400" y="5241600"/>
                <a:ext cx="0" cy="59400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2707200" y="5256000"/>
                <a:ext cx="598991"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32" name="矩形 31"/>
          <p:cNvSpPr/>
          <p:nvPr/>
        </p:nvSpPr>
        <p:spPr>
          <a:xfrm>
            <a:off x="6482342" y="1066572"/>
            <a:ext cx="2392000" cy="461665"/>
          </a:xfrm>
          <a:prstGeom prst="rect">
            <a:avLst/>
          </a:prstGeom>
          <a:solidFill>
            <a:srgbClr val="FFFFCC"/>
          </a:solidFill>
        </p:spPr>
        <p:txBody>
          <a:bodyPr wrap="none">
            <a:spAutoFit/>
          </a:bodyPr>
          <a:lstStyle/>
          <a:p>
            <a:r>
              <a:rPr lang="en-US" altLang="zh-CN" sz="2400">
                <a:latin typeface="华文楷体" panose="02010600040101010101" pitchFamily="2" charset="-122"/>
                <a:ea typeface="华文楷体" panose="02010600040101010101" pitchFamily="2" charset="-122"/>
              </a:rPr>
              <a:t>(</a:t>
            </a:r>
            <a:r>
              <a:rPr lang="zh-CN" altLang="en-US" sz="2400">
                <a:latin typeface="华文楷体" panose="02010600040101010101" pitchFamily="2" charset="-122"/>
                <a:ea typeface="华文楷体" panose="02010600040101010101" pitchFamily="2" charset="-122"/>
              </a:rPr>
              <a:t>全</a:t>
            </a:r>
            <a:r>
              <a:rPr lang="en-US" altLang="zh-CN" sz="2400">
                <a:latin typeface="华文楷体" panose="02010600040101010101" pitchFamily="2" charset="-122"/>
                <a:ea typeface="华文楷体" panose="02010600040101010101" pitchFamily="2" charset="-122"/>
              </a:rPr>
              <a:t>)</a:t>
            </a:r>
            <a:r>
              <a:rPr lang="zh-CN" altLang="en-US" sz="2400" b="1">
                <a:latin typeface="黑体" panose="02010609060101010101" pitchFamily="2" charset="-122"/>
                <a:ea typeface="黑体" panose="02010609060101010101" pitchFamily="2" charset="-122"/>
              </a:rPr>
              <a:t>正</a:t>
            </a:r>
            <a:r>
              <a:rPr lang="en-US" altLang="zh-CN" sz="2400">
                <a:latin typeface="华文楷体" panose="02010600040101010101" pitchFamily="2" charset="-122"/>
                <a:ea typeface="华文楷体" panose="02010600040101010101" pitchFamily="2" charset="-122"/>
              </a:rPr>
              <a:t>(</a:t>
            </a:r>
            <a:r>
              <a:rPr lang="zh-CN" altLang="en-US" sz="2400">
                <a:latin typeface="华文楷体" panose="02010600040101010101" pitchFamily="2" charset="-122"/>
                <a:ea typeface="华文楷体" panose="02010600040101010101" pitchFamily="2" charset="-122"/>
              </a:rPr>
              <a:t>电压</a:t>
            </a:r>
            <a:r>
              <a:rPr lang="en-US" altLang="zh-CN" sz="2400">
                <a:latin typeface="华文楷体" panose="02010600040101010101" pitchFamily="2" charset="-122"/>
                <a:ea typeface="华文楷体" panose="02010600040101010101" pitchFamily="2" charset="-122"/>
              </a:rPr>
              <a:t>)</a:t>
            </a:r>
            <a:r>
              <a:rPr lang="zh-CN" altLang="en-US" sz="2400">
                <a:latin typeface="黑体" panose="02010609060101010101" pitchFamily="2" charset="-122"/>
                <a:ea typeface="黑体" panose="02010609060101010101" pitchFamily="2" charset="-122"/>
              </a:rPr>
              <a:t>方波</a:t>
            </a:r>
            <a:endParaRPr lang="en-US" altLang="zh-CN" sz="2400">
              <a:latin typeface="黑体" panose="02010609060101010101" pitchFamily="2" charset="-122"/>
              <a:ea typeface="黑体" panose="02010609060101010101" pitchFamily="2" charset="-122"/>
            </a:endParaRPr>
          </a:p>
        </p:txBody>
      </p:sp>
      <p:sp>
        <p:nvSpPr>
          <p:cNvPr id="24" name="Rectangle 2">
            <a:extLst>
              <a:ext uri="{FF2B5EF4-FFF2-40B4-BE49-F238E27FC236}">
                <a16:creationId xmlns:a16="http://schemas.microsoft.com/office/drawing/2014/main" id="{D17F4641-06D2-4DE6-9EE5-CEB4820A21F5}"/>
              </a:ext>
            </a:extLst>
          </p:cNvPr>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a:latin typeface="华文楷体" panose="02010600040101010101" pitchFamily="2" charset="-122"/>
                <a:ea typeface="华文楷体" panose="02010600040101010101" pitchFamily="2" charset="-122"/>
                <a:sym typeface="+mn-ea"/>
              </a:rPr>
              <a:t>操作示例</a:t>
            </a:r>
            <a:r>
              <a:rPr lang="en-US" altLang="zh-CN" sz="3600" b="1">
                <a:latin typeface="华文楷体" panose="02010600040101010101" pitchFamily="2" charset="-122"/>
                <a:ea typeface="华文楷体" panose="02010600040101010101" pitchFamily="2" charset="-122"/>
                <a:sym typeface="+mn-ea"/>
              </a:rPr>
              <a:t>—</a:t>
            </a:r>
            <a:r>
              <a:rPr lang="zh-CN" altLang="en-US" sz="3600" b="1">
                <a:latin typeface="华文楷体" panose="02010600040101010101" pitchFamily="2" charset="-122"/>
                <a:ea typeface="华文楷体" panose="02010600040101010101" pitchFamily="2" charset="-122"/>
                <a:sym typeface="+mn-ea"/>
              </a:rPr>
              <a:t>任务：</a:t>
            </a:r>
            <a:r>
              <a:rPr lang="en-US" altLang="zh-CN" sz="3600" b="1">
                <a:latin typeface="华文楷体" panose="02010600040101010101" pitchFamily="2" charset="-122"/>
                <a:ea typeface="华文楷体" panose="02010600040101010101" pitchFamily="2" charset="-122"/>
                <a:sym typeface="+mn-ea"/>
              </a:rPr>
              <a:t>500Hz</a:t>
            </a:r>
            <a:r>
              <a:rPr lang="zh-CN" altLang="en-US" sz="3600" b="1">
                <a:latin typeface="华文楷体" panose="02010600040101010101" pitchFamily="2" charset="-122"/>
                <a:ea typeface="华文楷体" panose="02010600040101010101" pitchFamily="2" charset="-122"/>
                <a:sym typeface="+mn-ea"/>
              </a:rPr>
              <a:t>，</a:t>
            </a:r>
            <a:r>
              <a:rPr lang="en-US" altLang="zh-CN" sz="3600" b="1">
                <a:solidFill>
                  <a:schemeClr val="bg1">
                    <a:lumMod val="65000"/>
                  </a:schemeClr>
                </a:solidFill>
                <a:latin typeface="华文楷体" panose="02010600040101010101" pitchFamily="2" charset="-122"/>
                <a:ea typeface="华文楷体" panose="02010600040101010101" pitchFamily="2" charset="-122"/>
                <a:sym typeface="+mn-ea"/>
              </a:rPr>
              <a:t>0~</a:t>
            </a:r>
            <a:r>
              <a:rPr lang="en-US" altLang="zh-CN" sz="3600" b="1">
                <a:latin typeface="华文楷体" panose="02010600040101010101" pitchFamily="2" charset="-122"/>
                <a:ea typeface="华文楷体" panose="02010600040101010101" pitchFamily="2" charset="-122"/>
                <a:sym typeface="+mn-ea"/>
              </a:rPr>
              <a:t>1V </a:t>
            </a:r>
            <a:r>
              <a:rPr lang="zh-CN" altLang="en-US" sz="3600" b="1">
                <a:solidFill>
                  <a:srgbClr val="FF0000"/>
                </a:solidFill>
                <a:latin typeface="华文楷体" panose="02010600040101010101" pitchFamily="2" charset="-122"/>
                <a:ea typeface="华文楷体" panose="02010600040101010101" pitchFamily="2" charset="-122"/>
                <a:sym typeface="+mn-ea"/>
              </a:rPr>
              <a:t>正</a:t>
            </a:r>
            <a:r>
              <a:rPr lang="zh-CN" altLang="en-US" sz="3600" b="1">
                <a:latin typeface="华文楷体" panose="02010600040101010101" pitchFamily="2" charset="-122"/>
                <a:ea typeface="华文楷体" panose="02010600040101010101" pitchFamily="2" charset="-122"/>
                <a:sym typeface="+mn-ea"/>
              </a:rPr>
              <a:t>方波</a:t>
            </a:r>
          </a:p>
        </p:txBody>
      </p:sp>
      <p:sp>
        <p:nvSpPr>
          <p:cNvPr id="29" name="文本框 28">
            <a:extLst>
              <a:ext uri="{FF2B5EF4-FFF2-40B4-BE49-F238E27FC236}">
                <a16:creationId xmlns:a16="http://schemas.microsoft.com/office/drawing/2014/main" id="{2B91A2B6-D31E-4A2F-9272-42532B1C3D4B}"/>
              </a:ext>
            </a:extLst>
          </p:cNvPr>
          <p:cNvSpPr txBox="1"/>
          <p:nvPr/>
        </p:nvSpPr>
        <p:spPr>
          <a:xfrm>
            <a:off x="5970046" y="2225585"/>
            <a:ext cx="2966452" cy="4231928"/>
          </a:xfrm>
          <a:prstGeom prst="rect">
            <a:avLst/>
          </a:prstGeom>
          <a:noFill/>
          <a:ln w="25400">
            <a:solidFill>
              <a:srgbClr val="00B050"/>
            </a:solidFill>
          </a:ln>
        </p:spPr>
        <p:txBody>
          <a:bodyPr wrap="square" rtlCol="0">
            <a:spAutoFit/>
          </a:bodyPr>
          <a:lstStyle/>
          <a:p>
            <a:pPr algn="l">
              <a:spcBef>
                <a:spcPts val="200"/>
              </a:spcBef>
            </a:pPr>
            <a:r>
              <a:rPr lang="zh-CN" altLang="en-US" b="1"/>
              <a:t>加电 </a:t>
            </a:r>
            <a:r>
              <a:rPr lang="en-US" altLang="zh-CN"/>
              <a:t>— HighZ </a:t>
            </a:r>
            <a:r>
              <a:rPr lang="en-US" altLang="zh-CN" b="1"/>
              <a:t>— </a:t>
            </a:r>
            <a:r>
              <a:rPr lang="en-US" altLang="zh-CN"/>
              <a:t>CH1</a:t>
            </a:r>
          </a:p>
          <a:p>
            <a:pPr algn="l">
              <a:spcBef>
                <a:spcPts val="200"/>
              </a:spcBef>
            </a:pPr>
            <a:r>
              <a:rPr lang="en-US" altLang="zh-CN"/>
              <a:t>—</a:t>
            </a:r>
            <a:r>
              <a:rPr lang="zh-CN" altLang="en-US" b="1">
                <a:solidFill>
                  <a:srgbClr val="2722FA"/>
                </a:solidFill>
              </a:rPr>
              <a:t>方波</a:t>
            </a:r>
            <a:r>
              <a:rPr lang="zh-CN" altLang="en-US"/>
              <a:t>（</a:t>
            </a:r>
            <a:r>
              <a:rPr lang="en-US" altLang="zh-CN"/>
              <a:t>Square</a:t>
            </a:r>
            <a:r>
              <a:rPr lang="zh-CN" altLang="en-US"/>
              <a:t>）</a:t>
            </a:r>
            <a:endParaRPr lang="en-US" altLang="zh-CN"/>
          </a:p>
          <a:p>
            <a:pPr algn="l">
              <a:spcBef>
                <a:spcPts val="200"/>
              </a:spcBef>
            </a:pPr>
            <a:r>
              <a:rPr lang="en-US" altLang="zh-CN"/>
              <a:t>—Freq</a:t>
            </a:r>
            <a:r>
              <a:rPr lang="zh-CN" altLang="en-US"/>
              <a:t>设置 </a:t>
            </a:r>
            <a:r>
              <a:rPr lang="en-US" altLang="zh-CN" b="1"/>
              <a:t>— </a:t>
            </a:r>
            <a:r>
              <a:rPr lang="en-US" altLang="zh-CN" b="1">
                <a:solidFill>
                  <a:srgbClr val="2722FA"/>
                </a:solidFill>
              </a:rPr>
              <a:t>5 0 0 </a:t>
            </a:r>
            <a:r>
              <a:rPr lang="en-US" altLang="zh-CN"/>
              <a:t>— </a:t>
            </a:r>
            <a:r>
              <a:rPr lang="en-US" altLang="zh-CN" b="1">
                <a:solidFill>
                  <a:srgbClr val="2722FA"/>
                </a:solidFill>
              </a:rPr>
              <a:t>Hz</a:t>
            </a:r>
          </a:p>
          <a:p>
            <a:pPr algn="l">
              <a:spcBef>
                <a:spcPts val="1200"/>
              </a:spcBef>
            </a:pPr>
            <a:r>
              <a:rPr lang="en-US" altLang="zh-CN" b="1">
                <a:highlight>
                  <a:srgbClr val="FF9900"/>
                </a:highlight>
              </a:rPr>
              <a:t>1-3#</a:t>
            </a:r>
            <a:r>
              <a:rPr lang="en-US" altLang="zh-CN"/>
              <a:t>—</a:t>
            </a:r>
            <a:r>
              <a:rPr lang="en-US" altLang="zh-CN" b="1">
                <a:highlight>
                  <a:srgbClr val="FF9900"/>
                </a:highlight>
              </a:rPr>
              <a:t>1-3#</a:t>
            </a:r>
            <a:r>
              <a:rPr lang="en-US" altLang="zh-CN"/>
              <a:t>—</a:t>
            </a:r>
            <a:r>
              <a:rPr lang="zh-CN" altLang="en-US"/>
              <a:t>激活幅度参数项并换为</a:t>
            </a:r>
            <a:r>
              <a:rPr lang="en-US" altLang="zh-CN">
                <a:solidFill>
                  <a:schemeClr val="bg2">
                    <a:lumMod val="20000"/>
                    <a:lumOff val="80000"/>
                  </a:schemeClr>
                </a:solidFill>
                <a:highlight>
                  <a:srgbClr val="000080"/>
                </a:highlight>
              </a:rPr>
              <a:t>High</a:t>
            </a:r>
            <a:r>
              <a:rPr lang="en-US" altLang="zh-CN"/>
              <a:t>-Low</a:t>
            </a:r>
            <a:r>
              <a:rPr lang="zh-CN" altLang="en-US"/>
              <a:t>方式</a:t>
            </a:r>
            <a:endParaRPr lang="en-US" altLang="zh-CN"/>
          </a:p>
          <a:p>
            <a:pPr algn="l">
              <a:spcBef>
                <a:spcPts val="200"/>
              </a:spcBef>
            </a:pPr>
            <a:r>
              <a:rPr lang="en-US" altLang="zh-CN" b="1">
                <a:highlight>
                  <a:srgbClr val="FF9900"/>
                </a:highlight>
              </a:rPr>
              <a:t>2</a:t>
            </a:r>
            <a:r>
              <a:rPr lang="en-US" altLang="zh-CN" b="1"/>
              <a:t>—</a:t>
            </a:r>
            <a:r>
              <a:rPr lang="zh-CN" altLang="en-US"/>
              <a:t>输入</a:t>
            </a:r>
            <a:r>
              <a:rPr lang="en-US" altLang="zh-CN" b="1">
                <a:solidFill>
                  <a:srgbClr val="2722FA"/>
                </a:solidFill>
              </a:rPr>
              <a:t>1</a:t>
            </a:r>
          </a:p>
          <a:p>
            <a:pPr algn="l">
              <a:spcBef>
                <a:spcPts val="200"/>
              </a:spcBef>
            </a:pPr>
            <a:r>
              <a:rPr lang="en-US" altLang="zh-CN" b="1">
                <a:highlight>
                  <a:srgbClr val="FF9900"/>
                </a:highlight>
              </a:rPr>
              <a:t>1-1#</a:t>
            </a:r>
            <a:r>
              <a:rPr lang="en-US" altLang="zh-CN"/>
              <a:t>—</a:t>
            </a:r>
            <a:r>
              <a:rPr lang="zh-CN" altLang="en-US"/>
              <a:t>选</a:t>
            </a:r>
            <a:r>
              <a:rPr lang="zh-CN" altLang="en-US" b="1"/>
              <a:t>量纲</a:t>
            </a:r>
            <a:r>
              <a:rPr lang="en-US" altLang="zh-CN" b="1">
                <a:solidFill>
                  <a:srgbClr val="2722FA"/>
                </a:solidFill>
              </a:rPr>
              <a:t>V</a:t>
            </a:r>
            <a:r>
              <a:rPr lang="en-US" altLang="zh-CN" sz="1600" b="1">
                <a:solidFill>
                  <a:srgbClr val="FF0000"/>
                </a:solidFill>
              </a:rPr>
              <a:t>  </a:t>
            </a:r>
            <a:r>
              <a:rPr lang="en-US" altLang="zh-CN" sz="1600" i="1"/>
              <a:t>(</a:t>
            </a:r>
            <a:r>
              <a:rPr lang="zh-CN" altLang="en-US" sz="1600" i="1"/>
              <a:t>不带</a:t>
            </a:r>
            <a:r>
              <a:rPr lang="en-US" altLang="zh-CN" sz="1600" i="1"/>
              <a:t>pp)</a:t>
            </a:r>
            <a:endParaRPr lang="en-US" altLang="zh-CN" i="1"/>
          </a:p>
          <a:p>
            <a:pPr algn="l">
              <a:spcBef>
                <a:spcPts val="200"/>
              </a:spcBef>
            </a:pPr>
            <a:r>
              <a:rPr lang="zh-CN" altLang="en-US"/>
              <a:t>（</a:t>
            </a:r>
            <a:r>
              <a:rPr lang="en-US" altLang="zh-CN"/>
              <a:t>High level=1V</a:t>
            </a:r>
            <a:r>
              <a:rPr lang="zh-CN" altLang="en-US"/>
              <a:t>）</a:t>
            </a:r>
            <a:endParaRPr lang="en-US" altLang="zh-CN"/>
          </a:p>
          <a:p>
            <a:pPr algn="l">
              <a:spcBef>
                <a:spcPts val="200"/>
              </a:spcBef>
            </a:pPr>
            <a:r>
              <a:rPr lang="en-US" altLang="zh-CN" b="1">
                <a:highlight>
                  <a:srgbClr val="FF9900"/>
                </a:highlight>
              </a:rPr>
              <a:t>1-4#</a:t>
            </a:r>
            <a:r>
              <a:rPr lang="zh-CN" altLang="en-US"/>
              <a:t>激活</a:t>
            </a:r>
            <a:r>
              <a:rPr lang="en-US" altLang="zh-CN">
                <a:solidFill>
                  <a:schemeClr val="bg1">
                    <a:lumMod val="75000"/>
                  </a:schemeClr>
                </a:solidFill>
                <a:highlight>
                  <a:srgbClr val="000080"/>
                </a:highlight>
              </a:rPr>
              <a:t>Low</a:t>
            </a:r>
            <a:r>
              <a:rPr lang="zh-CN" altLang="en-US"/>
              <a:t>设置</a:t>
            </a:r>
            <a:endParaRPr lang="en-US" altLang="zh-CN"/>
          </a:p>
          <a:p>
            <a:pPr algn="l">
              <a:spcBef>
                <a:spcPts val="200"/>
              </a:spcBef>
            </a:pPr>
            <a:r>
              <a:rPr lang="en-US" altLang="zh-CN" b="1">
                <a:highlight>
                  <a:srgbClr val="FF9900"/>
                </a:highlight>
              </a:rPr>
              <a:t>2</a:t>
            </a:r>
            <a:r>
              <a:rPr lang="en-US" altLang="zh-CN" b="1"/>
              <a:t>—</a:t>
            </a:r>
            <a:r>
              <a:rPr lang="zh-CN" altLang="en-US" b="1"/>
              <a:t>键盘</a:t>
            </a:r>
            <a:r>
              <a:rPr lang="zh-CN" altLang="en-US"/>
              <a:t>输入数字</a:t>
            </a:r>
            <a:r>
              <a:rPr lang="en-US" altLang="zh-CN" b="1">
                <a:solidFill>
                  <a:srgbClr val="2722FA"/>
                </a:solidFill>
              </a:rPr>
              <a:t>0</a:t>
            </a:r>
          </a:p>
          <a:p>
            <a:pPr algn="l">
              <a:spcBef>
                <a:spcPts val="200"/>
              </a:spcBef>
            </a:pPr>
            <a:r>
              <a:rPr lang="en-US" altLang="zh-CN" b="1">
                <a:highlight>
                  <a:srgbClr val="FF9900"/>
                </a:highlight>
              </a:rPr>
              <a:t>1-1#</a:t>
            </a:r>
            <a:r>
              <a:rPr lang="en-US" altLang="zh-CN"/>
              <a:t>—</a:t>
            </a:r>
            <a:r>
              <a:rPr lang="zh-CN" altLang="en-US"/>
              <a:t>选</a:t>
            </a:r>
            <a:r>
              <a:rPr lang="zh-CN" altLang="en-US" b="1"/>
              <a:t>量纲子项</a:t>
            </a:r>
            <a:r>
              <a:rPr lang="en-US" altLang="zh-CN" b="1">
                <a:solidFill>
                  <a:srgbClr val="2722FA"/>
                </a:solidFill>
              </a:rPr>
              <a:t>V</a:t>
            </a:r>
            <a:endParaRPr lang="en-US" altLang="zh-CN" b="1">
              <a:solidFill>
                <a:srgbClr val="FF0000"/>
              </a:solidFill>
            </a:endParaRPr>
          </a:p>
          <a:p>
            <a:pPr algn="l">
              <a:spcBef>
                <a:spcPts val="200"/>
              </a:spcBef>
            </a:pPr>
            <a:r>
              <a:rPr lang="zh-CN" altLang="en-US"/>
              <a:t>（</a:t>
            </a:r>
            <a:r>
              <a:rPr lang="en-US" altLang="zh-CN"/>
              <a:t>Low level=0V</a:t>
            </a:r>
            <a:r>
              <a:rPr lang="zh-CN" altLang="en-US"/>
              <a:t>）</a:t>
            </a:r>
            <a:endParaRPr lang="en-US" altLang="zh-CN"/>
          </a:p>
          <a:p>
            <a:pPr algn="l">
              <a:spcBef>
                <a:spcPts val="1200"/>
              </a:spcBef>
            </a:pPr>
            <a:r>
              <a:rPr lang="en-US" altLang="zh-CN"/>
              <a:t>—</a:t>
            </a:r>
            <a:r>
              <a:rPr lang="zh-CN" altLang="en-US"/>
              <a:t>开</a:t>
            </a:r>
            <a:r>
              <a:rPr lang="en-US" altLang="zh-CN"/>
              <a:t>CH1—</a:t>
            </a:r>
            <a:r>
              <a:rPr lang="zh-CN" altLang="en-US"/>
              <a:t>连线输出</a:t>
            </a:r>
          </a:p>
        </p:txBody>
      </p:sp>
      <p:sp>
        <p:nvSpPr>
          <p:cNvPr id="31" name="文本框 30">
            <a:extLst>
              <a:ext uri="{FF2B5EF4-FFF2-40B4-BE49-F238E27FC236}">
                <a16:creationId xmlns:a16="http://schemas.microsoft.com/office/drawing/2014/main" id="{BC0B993C-30AC-40FA-AE2E-AED0365631C2}"/>
              </a:ext>
            </a:extLst>
          </p:cNvPr>
          <p:cNvSpPr txBox="1"/>
          <p:nvPr/>
        </p:nvSpPr>
        <p:spPr>
          <a:xfrm>
            <a:off x="4077758" y="1066572"/>
            <a:ext cx="1577029" cy="2092881"/>
          </a:xfrm>
          <a:prstGeom prst="rect">
            <a:avLst/>
          </a:prstGeom>
          <a:solidFill>
            <a:schemeClr val="accent1"/>
          </a:solidFill>
        </p:spPr>
        <p:txBody>
          <a:bodyPr wrap="square" rtlCol="0">
            <a:spAutoFit/>
          </a:bodyPr>
          <a:lstStyle/>
          <a:p>
            <a:pPr algn="l">
              <a:spcBef>
                <a:spcPts val="1200"/>
              </a:spcBef>
            </a:pPr>
            <a:r>
              <a:rPr lang="zh-CN" altLang="en-US" sz="2000" b="1">
                <a:latin typeface="华文楷体" panose="02010600040101010101" pitchFamily="2" charset="-122"/>
                <a:ea typeface="华文楷体" panose="02010600040101010101" pitchFamily="2" charset="-122"/>
                <a:sym typeface="+mn-ea"/>
              </a:rPr>
              <a:t>    务必理解</a:t>
            </a:r>
            <a:r>
              <a:rPr lang="zh-CN" altLang="en-US" sz="2000" b="1">
                <a:solidFill>
                  <a:srgbClr val="FF0000"/>
                </a:solidFill>
                <a:latin typeface="华文楷体" panose="02010600040101010101" pitchFamily="2" charset="-122"/>
                <a:ea typeface="华文楷体" panose="02010600040101010101" pitchFamily="2" charset="-122"/>
                <a:sym typeface="+mn-ea"/>
              </a:rPr>
              <a:t>正</a:t>
            </a:r>
            <a:r>
              <a:rPr lang="zh-CN" altLang="en-US" sz="2000" b="1">
                <a:latin typeface="华文楷体" panose="02010600040101010101" pitchFamily="2" charset="-122"/>
                <a:ea typeface="华文楷体" panose="02010600040101010101" pitchFamily="2" charset="-122"/>
                <a:sym typeface="+mn-ea"/>
              </a:rPr>
              <a:t>方波的含义。</a:t>
            </a:r>
            <a:endParaRPr lang="en-US" altLang="zh-CN" sz="2000" b="1">
              <a:latin typeface="华文楷体" panose="02010600040101010101" pitchFamily="2" charset="-122"/>
              <a:ea typeface="华文楷体" panose="02010600040101010101" pitchFamily="2" charset="-122"/>
              <a:sym typeface="+mn-ea"/>
            </a:endParaRPr>
          </a:p>
          <a:p>
            <a:pPr algn="l">
              <a:spcBef>
                <a:spcPts val="1200"/>
              </a:spcBef>
            </a:pPr>
            <a:r>
              <a:rPr lang="zh-CN" altLang="en-US" sz="2000">
                <a:latin typeface="华文楷体" panose="02010600040101010101" pitchFamily="2" charset="-122"/>
                <a:ea typeface="华文楷体" panose="02010600040101010101" pitchFamily="2" charset="-122"/>
                <a:sym typeface="+mn-ea"/>
              </a:rPr>
              <a:t>    与前页相同的步骤简化了描述。</a:t>
            </a:r>
            <a:endParaRPr lang="zh-CN" altLang="en-US" sz="2000"/>
          </a:p>
        </p:txBody>
      </p:sp>
      <p:pic>
        <p:nvPicPr>
          <p:cNvPr id="41" name="图片 40">
            <a:extLst>
              <a:ext uri="{FF2B5EF4-FFF2-40B4-BE49-F238E27FC236}">
                <a16:creationId xmlns:a16="http://schemas.microsoft.com/office/drawing/2014/main" id="{A8B454FA-081A-430A-869B-5A8CEE717635}"/>
              </a:ext>
            </a:extLst>
          </p:cNvPr>
          <p:cNvPicPr>
            <a:picLocks noChangeAspect="1"/>
          </p:cNvPicPr>
          <p:nvPr/>
        </p:nvPicPr>
        <p:blipFill rotWithShape="1">
          <a:blip r:embed="rId2"/>
          <a:srcRect l="7031"/>
          <a:stretch/>
        </p:blipFill>
        <p:spPr>
          <a:xfrm>
            <a:off x="340435" y="3530329"/>
            <a:ext cx="5383693" cy="3024335"/>
          </a:xfrm>
          <a:prstGeom prst="rect">
            <a:avLst/>
          </a:prstGeom>
        </p:spPr>
      </p:pic>
      <p:pic>
        <p:nvPicPr>
          <p:cNvPr id="4" name="图片 3">
            <a:extLst>
              <a:ext uri="{FF2B5EF4-FFF2-40B4-BE49-F238E27FC236}">
                <a16:creationId xmlns:a16="http://schemas.microsoft.com/office/drawing/2014/main" id="{C8D49643-F0A3-4106-B45E-565BB57E2800}"/>
              </a:ext>
            </a:extLst>
          </p:cNvPr>
          <p:cNvPicPr>
            <a:picLocks noChangeAspect="1"/>
          </p:cNvPicPr>
          <p:nvPr/>
        </p:nvPicPr>
        <p:blipFill>
          <a:blip r:embed="rId3"/>
          <a:stretch>
            <a:fillRect/>
          </a:stretch>
        </p:blipFill>
        <p:spPr>
          <a:xfrm>
            <a:off x="324957" y="1020016"/>
            <a:ext cx="3612738" cy="24206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42032" y="1649589"/>
            <a:ext cx="8259936" cy="1957816"/>
          </a:xfrm>
          <a:prstGeom prst="rect">
            <a:avLst/>
          </a:prstGeom>
        </p:spPr>
      </p:pic>
      <p:sp>
        <p:nvSpPr>
          <p:cNvPr id="119811" name="Rectangle 3"/>
          <p:cNvSpPr>
            <a:spLocks noGrp="1" noChangeArrowheads="1"/>
          </p:cNvSpPr>
          <p:nvPr>
            <p:ph type="body" idx="1"/>
          </p:nvPr>
        </p:nvSpPr>
        <p:spPr bwMode="auto">
          <a:xfrm>
            <a:off x="241300" y="1052737"/>
            <a:ext cx="8661400" cy="520188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609600" indent="-609600">
              <a:lnSpc>
                <a:spcPct val="120000"/>
              </a:lnSpc>
              <a:spcBef>
                <a:spcPts val="600"/>
              </a:spcBef>
              <a:buNone/>
            </a:pPr>
            <a:r>
              <a:rPr lang="en-US" altLang="zh-CN" sz="2800" b="1">
                <a:latin typeface="Times New Roman" panose="02020603050405020304" pitchFamily="18" charset="0"/>
                <a:ea typeface="华文楷体" panose="02010600040101010101" pitchFamily="2" charset="-122"/>
              </a:rPr>
              <a:t> </a:t>
            </a:r>
            <a:r>
              <a:rPr lang="zh-CN" altLang="en-US" sz="2800" b="1">
                <a:solidFill>
                  <a:srgbClr val="2722FA"/>
                </a:solidFill>
                <a:latin typeface="Times New Roman" panose="02020603050405020304" pitchFamily="18" charset="0"/>
                <a:ea typeface="华文楷体" panose="02010600040101010101" pitchFamily="2" charset="-122"/>
              </a:rPr>
              <a:t>用示波器直接检查信源情况</a:t>
            </a:r>
            <a:endParaRPr lang="en-US" altLang="zh-CN" sz="2800" b="1">
              <a:solidFill>
                <a:srgbClr val="2722FA"/>
              </a:solidFill>
              <a:latin typeface="Times New Roman" panose="02020603050405020304" pitchFamily="18" charset="0"/>
              <a:ea typeface="华文楷体" panose="02010600040101010101" pitchFamily="2" charset="-122"/>
            </a:endParaRPr>
          </a:p>
          <a:p>
            <a:pPr marL="609600" indent="-609600">
              <a:lnSpc>
                <a:spcPct val="120000"/>
              </a:lnSpc>
              <a:spcBef>
                <a:spcPts val="600"/>
              </a:spcBef>
              <a:buFontTx/>
              <a:buNone/>
            </a:pPr>
            <a:endParaRPr lang="en-US" altLang="zh-CN" sz="2800">
              <a:latin typeface="华文楷体" panose="02010600040101010101" pitchFamily="2" charset="-122"/>
              <a:ea typeface="华文楷体" panose="02010600040101010101" pitchFamily="2" charset="-122"/>
            </a:endParaRPr>
          </a:p>
        </p:txBody>
      </p:sp>
      <p:sp>
        <p:nvSpPr>
          <p:cNvPr id="119815" name="Freeform 7"/>
          <p:cNvSpPr/>
          <p:nvPr/>
        </p:nvSpPr>
        <p:spPr bwMode="auto">
          <a:xfrm rot="120000">
            <a:off x="3345430" y="3295951"/>
            <a:ext cx="3876078" cy="944563"/>
          </a:xfrm>
          <a:custGeom>
            <a:avLst/>
            <a:gdLst>
              <a:gd name="T0" fmla="*/ 2147483647 w 4295"/>
              <a:gd name="T1" fmla="*/ 2147483647 h 773"/>
              <a:gd name="T2" fmla="*/ 2147483647 w 4295"/>
              <a:gd name="T3" fmla="*/ 2147483647 h 773"/>
              <a:gd name="T4" fmla="*/ 2147483647 w 4295"/>
              <a:gd name="T5" fmla="*/ 0 h 773"/>
              <a:gd name="T6" fmla="*/ 0 60000 65536"/>
              <a:gd name="T7" fmla="*/ 0 60000 65536"/>
              <a:gd name="T8" fmla="*/ 0 60000 65536"/>
            </a:gdLst>
            <a:ahLst/>
            <a:cxnLst>
              <a:cxn ang="T6">
                <a:pos x="T0" y="T1"/>
              </a:cxn>
              <a:cxn ang="T7">
                <a:pos x="T2" y="T3"/>
              </a:cxn>
              <a:cxn ang="T8">
                <a:pos x="T4" y="T5"/>
              </a:cxn>
            </a:cxnLst>
            <a:rect l="0" t="0" r="r" b="b"/>
            <a:pathLst>
              <a:path w="4295" h="773">
                <a:moveTo>
                  <a:pt x="126" y="203"/>
                </a:moveTo>
                <a:cubicBezTo>
                  <a:pt x="63" y="488"/>
                  <a:pt x="0" y="773"/>
                  <a:pt x="695" y="739"/>
                </a:cubicBezTo>
                <a:cubicBezTo>
                  <a:pt x="1390" y="705"/>
                  <a:pt x="3699" y="122"/>
                  <a:pt x="4295" y="0"/>
                </a:cubicBezTo>
              </a:path>
            </a:pathLst>
          </a:custGeom>
          <a:noFill/>
          <a:ln w="76200" cap="flat"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9816" name="Freeform 8"/>
          <p:cNvSpPr/>
          <p:nvPr/>
        </p:nvSpPr>
        <p:spPr bwMode="auto">
          <a:xfrm rot="21402824">
            <a:off x="4375598" y="3768532"/>
            <a:ext cx="1511300" cy="585787"/>
          </a:xfrm>
          <a:custGeom>
            <a:avLst/>
            <a:gdLst>
              <a:gd name="T0" fmla="*/ 0 w 952"/>
              <a:gd name="T1" fmla="*/ 2147483647 h 369"/>
              <a:gd name="T2" fmla="*/ 2147483647 w 952"/>
              <a:gd name="T3" fmla="*/ 2147483647 h 369"/>
              <a:gd name="T4" fmla="*/ 2147483647 w 952"/>
              <a:gd name="T5" fmla="*/ 0 h 369"/>
              <a:gd name="T6" fmla="*/ 0 60000 65536"/>
              <a:gd name="T7" fmla="*/ 0 60000 65536"/>
              <a:gd name="T8" fmla="*/ 0 60000 65536"/>
            </a:gdLst>
            <a:ahLst/>
            <a:cxnLst>
              <a:cxn ang="T6">
                <a:pos x="T0" y="T1"/>
              </a:cxn>
              <a:cxn ang="T7">
                <a:pos x="T2" y="T3"/>
              </a:cxn>
              <a:cxn ang="T8">
                <a:pos x="T4" y="T5"/>
              </a:cxn>
            </a:cxnLst>
            <a:rect l="0" t="0" r="r" b="b"/>
            <a:pathLst>
              <a:path w="952" h="369">
                <a:moveTo>
                  <a:pt x="0" y="201"/>
                </a:moveTo>
                <a:cubicBezTo>
                  <a:pt x="173" y="285"/>
                  <a:pt x="346" y="369"/>
                  <a:pt x="505" y="336"/>
                </a:cubicBezTo>
                <a:cubicBezTo>
                  <a:pt x="664" y="303"/>
                  <a:pt x="808" y="151"/>
                  <a:pt x="952" y="0"/>
                </a:cubicBezTo>
              </a:path>
            </a:pathLst>
          </a:custGeom>
          <a:noFill/>
          <a:ln w="50800" cap="flat" cmpd="sng">
            <a:solidFill>
              <a:srgbClr val="CD0B0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9817" name="Line 9"/>
          <p:cNvSpPr>
            <a:spLocks noChangeShapeType="1"/>
          </p:cNvSpPr>
          <p:nvPr/>
        </p:nvSpPr>
        <p:spPr bwMode="auto">
          <a:xfrm rot="20982824">
            <a:off x="5212929" y="4159641"/>
            <a:ext cx="332694" cy="148577"/>
          </a:xfrm>
          <a:prstGeom prst="line">
            <a:avLst/>
          </a:prstGeom>
          <a:noFill/>
          <a:ln w="82550">
            <a:solidFill>
              <a:srgbClr val="CD0B0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9818" name="Line 10"/>
          <p:cNvSpPr>
            <a:spLocks noChangeShapeType="1"/>
          </p:cNvSpPr>
          <p:nvPr/>
        </p:nvSpPr>
        <p:spPr bwMode="auto">
          <a:xfrm flipV="1">
            <a:off x="4970890" y="3843098"/>
            <a:ext cx="87431" cy="241623"/>
          </a:xfrm>
          <a:prstGeom prst="line">
            <a:avLst/>
          </a:prstGeom>
          <a:noFill/>
          <a:ln w="825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pic>
        <p:nvPicPr>
          <p:cNvPr id="3" name="图片 2"/>
          <p:cNvPicPr>
            <a:picLocks noChangeAspect="1"/>
          </p:cNvPicPr>
          <p:nvPr/>
        </p:nvPicPr>
        <p:blipFill>
          <a:blip r:embed="rId4"/>
          <a:stretch>
            <a:fillRect/>
          </a:stretch>
        </p:blipFill>
        <p:spPr>
          <a:xfrm>
            <a:off x="501090" y="4336729"/>
            <a:ext cx="2862393" cy="2175515"/>
          </a:xfrm>
          <a:prstGeom prst="rect">
            <a:avLst/>
          </a:prstGeom>
        </p:spPr>
      </p:pic>
      <p:sp>
        <p:nvSpPr>
          <p:cNvPr id="119812" name="AutoShape 4"/>
          <p:cNvSpPr>
            <a:spLocks noChangeArrowheads="1"/>
          </p:cNvSpPr>
          <p:nvPr/>
        </p:nvSpPr>
        <p:spPr bwMode="auto">
          <a:xfrm>
            <a:off x="3491881" y="4427455"/>
            <a:ext cx="5446846" cy="2111270"/>
          </a:xfrm>
          <a:prstGeom prst="wedgeRoundRectCallout">
            <a:avLst>
              <a:gd name="adj1" fmla="val -21316"/>
              <a:gd name="adj2" fmla="val -55027"/>
              <a:gd name="adj3" fmla="val 16667"/>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400" b="1" i="0" u="none" strike="noStrike" kern="1200" cap="none" spc="0" normalizeH="0" baseline="0" noProof="0">
                <a:ln>
                  <a:noFill/>
                </a:ln>
                <a:solidFill>
                  <a:srgbClr val="000000"/>
                </a:solidFill>
                <a:effectLst/>
                <a:uLnTx/>
                <a:uFillTx/>
                <a:latin typeface="Arial" panose="020B0604020202020204" pitchFamily="34" charset="0"/>
              </a:rPr>
              <a:t>黑夹</a:t>
            </a:r>
            <a:r>
              <a:rPr kumimoji="0" lang="en-US" altLang="zh-CN" sz="2400" b="1" i="0" u="none" strike="noStrike" kern="1200" cap="none" spc="0" normalizeH="0" baseline="0" noProof="0">
                <a:ln>
                  <a:noFill/>
                </a:ln>
                <a:solidFill>
                  <a:srgbClr val="000000"/>
                </a:solidFill>
                <a:effectLst/>
                <a:uLnTx/>
                <a:uFillTx/>
                <a:latin typeface="Arial" panose="020B0604020202020204" pitchFamily="34" charset="0"/>
              </a:rPr>
              <a:t>—</a:t>
            </a:r>
            <a:r>
              <a:rPr lang="zh-CN" altLang="en-US" sz="2400" b="1">
                <a:solidFill>
                  <a:srgbClr val="000000"/>
                </a:solidFill>
                <a:latin typeface="Arial" panose="020B0604020202020204" pitchFamily="34" charset="0"/>
              </a:rPr>
              <a:t>探头</a:t>
            </a:r>
            <a:r>
              <a:rPr kumimoji="0" lang="zh-CN" altLang="en-US" sz="2400" b="1" i="0" u="none" strike="noStrike" kern="1200" cap="none" spc="0" normalizeH="0" baseline="0" noProof="0">
                <a:ln>
                  <a:noFill/>
                </a:ln>
                <a:solidFill>
                  <a:srgbClr val="000000"/>
                </a:solidFill>
                <a:effectLst/>
                <a:uLnTx/>
                <a:uFillTx/>
                <a:latin typeface="Arial" panose="020B0604020202020204" pitchFamily="34" charset="0"/>
              </a:rPr>
              <a:t>黑夹 </a:t>
            </a:r>
            <a:r>
              <a:rPr kumimoji="0" lang="en-US" altLang="zh-CN" sz="2400" b="1" i="0" u="none" strike="noStrike" kern="1200" cap="none" spc="0" normalizeH="0" baseline="0" noProof="0">
                <a:ln>
                  <a:noFill/>
                </a:ln>
                <a:solidFill>
                  <a:srgbClr val="000000"/>
                </a:solidFill>
                <a:effectLst/>
                <a:uLnTx/>
                <a:uFillTx/>
                <a:latin typeface="Arial" panose="020B0604020202020204" pitchFamily="34" charset="0"/>
              </a:rPr>
              <a:t>(</a:t>
            </a:r>
            <a:r>
              <a:rPr kumimoji="0" lang="zh-CN" altLang="en-US" sz="2400" b="1" i="0" u="none" strike="noStrike" kern="1200" cap="none" spc="0" normalizeH="0" baseline="0" noProof="0">
                <a:ln>
                  <a:noFill/>
                </a:ln>
                <a:solidFill>
                  <a:srgbClr val="000000"/>
                </a:solidFill>
                <a:effectLst/>
                <a:uLnTx/>
                <a:uFillTx/>
                <a:latin typeface="Arial" panose="020B0604020202020204" pitchFamily="34" charset="0"/>
              </a:rPr>
              <a:t>共地</a:t>
            </a:r>
            <a:r>
              <a:rPr kumimoji="0" lang="en-US" altLang="zh-CN" sz="2400" b="1" i="0" u="none" strike="noStrike" kern="1200" cap="none" spc="0" normalizeH="0" baseline="0" noProof="0">
                <a:ln>
                  <a:noFill/>
                </a:ln>
                <a:solidFill>
                  <a:srgbClr val="000000"/>
                </a:solidFill>
                <a:effectLst/>
                <a:uLnTx/>
                <a:uFillTx/>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400" b="1" i="0" u="none" strike="noStrike" kern="1200" cap="none" spc="0" normalizeH="0" baseline="0" noProof="0">
                <a:ln>
                  <a:noFill/>
                </a:ln>
                <a:solidFill>
                  <a:srgbClr val="FF0000"/>
                </a:solidFill>
                <a:effectLst/>
                <a:uLnTx/>
                <a:uFillTx/>
                <a:latin typeface="Arial" panose="020B0604020202020204" pitchFamily="34" charset="0"/>
              </a:rPr>
              <a:t>红</a:t>
            </a:r>
            <a:r>
              <a:rPr lang="zh-CN" altLang="en-US" sz="2400" b="1">
                <a:solidFill>
                  <a:srgbClr val="FF0000"/>
                </a:solidFill>
                <a:latin typeface="Arial" panose="020B0604020202020204" pitchFamily="34" charset="0"/>
              </a:rPr>
              <a:t>夹</a:t>
            </a:r>
            <a:r>
              <a:rPr kumimoji="0" lang="en-US" altLang="zh-CN" sz="2400" b="1" i="0" u="none" strike="noStrike" kern="1200" cap="none" spc="0" normalizeH="0" baseline="0" noProof="0">
                <a:ln>
                  <a:noFill/>
                </a:ln>
                <a:solidFill>
                  <a:srgbClr val="FF0000"/>
                </a:solidFill>
                <a:effectLst/>
                <a:uLnTx/>
                <a:uFillTx/>
                <a:latin typeface="Arial" panose="020B0604020202020204" pitchFamily="34" charset="0"/>
              </a:rPr>
              <a:t>—</a:t>
            </a:r>
            <a:r>
              <a:rPr kumimoji="0" lang="zh-CN" altLang="en-US" sz="2400" b="1" i="0" u="none" strike="noStrike" kern="1200" cap="none" spc="0" normalizeH="0" baseline="0" noProof="0">
                <a:ln>
                  <a:noFill/>
                </a:ln>
                <a:solidFill>
                  <a:srgbClr val="FF0000"/>
                </a:solidFill>
                <a:effectLst/>
                <a:uLnTx/>
                <a:uFillTx/>
                <a:latin typeface="Arial" panose="020B0604020202020204" pitchFamily="34" charset="0"/>
              </a:rPr>
              <a:t>探头主接头 </a:t>
            </a:r>
            <a:r>
              <a:rPr kumimoji="0" lang="en-US" altLang="zh-CN" sz="2400" b="1" i="0" u="none" strike="noStrike" kern="1200" cap="none" spc="0" normalizeH="0" baseline="0" noProof="0">
                <a:ln>
                  <a:noFill/>
                </a:ln>
                <a:solidFill>
                  <a:srgbClr val="FF0000"/>
                </a:solidFill>
                <a:effectLst/>
                <a:uLnTx/>
                <a:uFillTx/>
                <a:latin typeface="Arial" panose="020B0604020202020204" pitchFamily="34" charset="0"/>
              </a:rPr>
              <a:t>(</a:t>
            </a:r>
            <a:r>
              <a:rPr kumimoji="0" lang="zh-CN" altLang="en-US" sz="2400" b="1" i="0" u="none" strike="noStrike" kern="1200" cap="none" spc="0" normalizeH="0" baseline="0" noProof="0">
                <a:ln>
                  <a:noFill/>
                </a:ln>
                <a:solidFill>
                  <a:srgbClr val="FF0000"/>
                </a:solidFill>
                <a:effectLst/>
                <a:uLnTx/>
                <a:uFillTx/>
                <a:latin typeface="Arial" panose="020B0604020202020204" pitchFamily="34" charset="0"/>
              </a:rPr>
              <a:t>信号</a:t>
            </a:r>
            <a:r>
              <a:rPr kumimoji="0" lang="en-US" altLang="zh-CN" sz="2400" b="1" i="0" u="none" strike="noStrike" kern="1200" cap="none" spc="0" normalizeH="0" baseline="0" noProof="0">
                <a:ln>
                  <a:noFill/>
                </a:ln>
                <a:solidFill>
                  <a:srgbClr val="FF0000"/>
                </a:solidFill>
                <a:effectLst/>
                <a:uLnTx/>
                <a:uFillTx/>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defRPr/>
            </a:pPr>
            <a:r>
              <a:rPr kumimoji="0" lang="zh-CN" altLang="en-US" sz="2400" i="0" u="none" strike="noStrike" kern="1200" cap="none" spc="0" normalizeH="0" baseline="0" noProof="0">
                <a:ln>
                  <a:noFill/>
                </a:ln>
                <a:effectLst/>
                <a:uLnTx/>
                <a:uFillTx/>
                <a:latin typeface="华文楷体" panose="02010600040101010101" pitchFamily="2" charset="-122"/>
                <a:ea typeface="华文楷体" panose="02010600040101010101" pitchFamily="2" charset="-122"/>
                <a:cs typeface="+mn-cs"/>
              </a:rPr>
              <a:t>实验中，信号接入电路和示波器监测输入，都要借助短线，不要直接勾夹元件脚，以免干扰电路！</a:t>
            </a:r>
          </a:p>
        </p:txBody>
      </p:sp>
      <p:sp>
        <p:nvSpPr>
          <p:cNvPr id="4" name="文本框 3"/>
          <p:cNvSpPr txBox="1"/>
          <p:nvPr/>
        </p:nvSpPr>
        <p:spPr>
          <a:xfrm>
            <a:off x="1082490" y="2407581"/>
            <a:ext cx="1020862" cy="645160"/>
          </a:xfrm>
          <a:prstGeom prst="rect">
            <a:avLst/>
          </a:prstGeom>
          <a:solidFill>
            <a:schemeClr val="accent1"/>
          </a:solidFill>
        </p:spPr>
        <p:txBody>
          <a:bodyPr wrap="square" rtlCol="0">
            <a:spAutoFit/>
          </a:bodyPr>
          <a:lstStyle/>
          <a:p>
            <a:r>
              <a:rPr lang="zh-CN" altLang="en-US" b="1">
                <a:solidFill>
                  <a:srgbClr val="2722FA"/>
                </a:solidFill>
              </a:rPr>
              <a:t>设为</a:t>
            </a:r>
            <a:endParaRPr lang="en-US" altLang="zh-CN" b="1">
              <a:solidFill>
                <a:srgbClr val="2722FA"/>
              </a:solidFill>
            </a:endParaRPr>
          </a:p>
          <a:p>
            <a:r>
              <a:rPr lang="en-US" altLang="zh-CN" b="1">
                <a:solidFill>
                  <a:srgbClr val="2722FA"/>
                </a:solidFill>
              </a:rPr>
              <a:t>High Z</a:t>
            </a:r>
            <a:endParaRPr lang="zh-CN" altLang="en-US" b="1">
              <a:solidFill>
                <a:srgbClr val="2722FA"/>
              </a:solidFill>
            </a:endParaRPr>
          </a:p>
        </p:txBody>
      </p:sp>
      <p:sp>
        <p:nvSpPr>
          <p:cNvPr id="14" name="Rectangle 2">
            <a:extLst>
              <a:ext uri="{FF2B5EF4-FFF2-40B4-BE49-F238E27FC236}">
                <a16:creationId xmlns:a16="http://schemas.microsoft.com/office/drawing/2014/main" id="{FA491BD7-9B5E-438A-808C-FCD26BC0CBB1}"/>
              </a:ext>
            </a:extLst>
          </p:cNvPr>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a:latin typeface="华文楷体" panose="02010600040101010101" pitchFamily="2" charset="-122"/>
                <a:ea typeface="华文楷体" panose="02010600040101010101" pitchFamily="2" charset="-122"/>
                <a:sym typeface="+mn-ea"/>
              </a:rPr>
              <a:t>操作细节提醒</a:t>
            </a:r>
            <a:endParaRPr lang="zh-CN" altLang="en-US" sz="3600" b="1">
              <a:latin typeface="华文楷体" panose="02010600040101010101" pitchFamily="2" charset="-122"/>
              <a:ea typeface="华文楷体" panose="020106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98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98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98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9817"/>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198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circle(in)">
                                      <p:cBhvr>
                                        <p:cTn id="38" dur="20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5" grpId="0" animBg="1"/>
      <p:bldP spid="119816" grpId="0" animBg="1"/>
      <p:bldP spid="119817" grpId="0" animBg="1"/>
      <p:bldP spid="119818" grpId="0" animBg="1"/>
      <p:bldP spid="119812" grpId="0" bldLvl="0" animBg="1" autoUpdateAnimBg="0"/>
      <p:bldP spid="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E5D0B79-DC0E-485F-B0B6-D19F3990AEDD}"/>
              </a:ext>
            </a:extLst>
          </p:cNvPr>
          <p:cNvSpPr>
            <a:spLocks noChangeArrowheads="1"/>
          </p:cNvSpPr>
          <p:nvPr/>
        </p:nvSpPr>
        <p:spPr bwMode="auto">
          <a:xfrm>
            <a:off x="539750" y="1006720"/>
            <a:ext cx="3816226" cy="620712"/>
          </a:xfrm>
          <a:prstGeom prst="rect">
            <a:avLst/>
          </a:prstGeom>
          <a:noFill/>
          <a:ln>
            <a:noFill/>
          </a:ln>
        </p:spPr>
        <p:txBody>
          <a:bodyPr anchor="b"/>
          <a:lstStyle/>
          <a:p>
            <a:pPr lvl="0" algn="l">
              <a:defRPr/>
            </a:pPr>
            <a:r>
              <a:rPr lang="zh-CN" altLang="en-US" sz="2800" b="1">
                <a:solidFill>
                  <a:srgbClr val="2722FA"/>
                </a:solidFill>
                <a:latin typeface="华文楷体" panose="02010600040101010101" pitchFamily="2" charset="-122"/>
                <a:ea typeface="华文楷体" panose="02010600040101010101" pitchFamily="2" charset="-122"/>
                <a:sym typeface="+mn-ea"/>
              </a:rPr>
              <a:t>将信源设为中文显示</a:t>
            </a:r>
          </a:p>
        </p:txBody>
      </p:sp>
      <p:sp>
        <p:nvSpPr>
          <p:cNvPr id="5" name="Rectangle 2">
            <a:extLst>
              <a:ext uri="{FF2B5EF4-FFF2-40B4-BE49-F238E27FC236}">
                <a16:creationId xmlns:a16="http://schemas.microsoft.com/office/drawing/2014/main" id="{03E65237-0BB2-497D-BCB5-23A13E65990F}"/>
              </a:ext>
            </a:extLst>
          </p:cNvPr>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a:latin typeface="华文楷体" panose="02010600040101010101" pitchFamily="2" charset="-122"/>
                <a:ea typeface="华文楷体" panose="02010600040101010101" pitchFamily="2" charset="-122"/>
                <a:sym typeface="+mn-ea"/>
              </a:rPr>
              <a:t>操作细节提醒</a:t>
            </a:r>
            <a:endParaRPr lang="zh-CN" altLang="en-US" sz="3600" b="1">
              <a:latin typeface="华文楷体" panose="02010600040101010101" pitchFamily="2" charset="-122"/>
              <a:ea typeface="华文楷体" panose="02010600040101010101" pitchFamily="2" charset="-122"/>
              <a:sym typeface="+mn-ea"/>
            </a:endParaRPr>
          </a:p>
        </p:txBody>
      </p:sp>
      <p:pic>
        <p:nvPicPr>
          <p:cNvPr id="6" name="图片 5">
            <a:extLst>
              <a:ext uri="{FF2B5EF4-FFF2-40B4-BE49-F238E27FC236}">
                <a16:creationId xmlns:a16="http://schemas.microsoft.com/office/drawing/2014/main" id="{26392A99-6D0D-4FC8-B618-BCDB8E1E2858}"/>
              </a:ext>
            </a:extLst>
          </p:cNvPr>
          <p:cNvPicPr>
            <a:picLocks noChangeAspect="1"/>
          </p:cNvPicPr>
          <p:nvPr/>
        </p:nvPicPr>
        <p:blipFill>
          <a:blip r:embed="rId2"/>
          <a:stretch>
            <a:fillRect/>
          </a:stretch>
        </p:blipFill>
        <p:spPr>
          <a:xfrm>
            <a:off x="1403647" y="1767377"/>
            <a:ext cx="5351309" cy="4685959"/>
          </a:xfrm>
          <a:prstGeom prst="rect">
            <a:avLst/>
          </a:prstGeom>
        </p:spPr>
      </p:pic>
    </p:spTree>
    <p:extLst>
      <p:ext uri="{BB962C8B-B14F-4D97-AF65-F5344CB8AC3E}">
        <p14:creationId xmlns:p14="http://schemas.microsoft.com/office/powerpoint/2010/main" val="764787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FA491BD7-9B5E-438A-808C-FCD26BC0CBB1}"/>
              </a:ext>
            </a:extLst>
          </p:cNvPr>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a:latin typeface="华文楷体" panose="02010600040101010101" pitchFamily="2" charset="-122"/>
                <a:ea typeface="华文楷体" panose="02010600040101010101" pitchFamily="2" charset="-122"/>
                <a:sym typeface="+mn-ea"/>
              </a:rPr>
              <a:t>操作细节提醒</a:t>
            </a:r>
            <a:endParaRPr lang="zh-CN" altLang="en-US" sz="3600" b="1">
              <a:latin typeface="华文楷体" panose="02010600040101010101" pitchFamily="2" charset="-122"/>
              <a:ea typeface="华文楷体" panose="02010600040101010101" pitchFamily="2" charset="-122"/>
              <a:sym typeface="+mn-ea"/>
            </a:endParaRPr>
          </a:p>
        </p:txBody>
      </p:sp>
      <p:sp>
        <p:nvSpPr>
          <p:cNvPr id="6" name="内容占位符 5">
            <a:extLst>
              <a:ext uri="{FF2B5EF4-FFF2-40B4-BE49-F238E27FC236}">
                <a16:creationId xmlns:a16="http://schemas.microsoft.com/office/drawing/2014/main" id="{1797559C-A9C2-42C2-AF11-BC4EF626A533}"/>
              </a:ext>
            </a:extLst>
          </p:cNvPr>
          <p:cNvSpPr>
            <a:spLocks noGrp="1"/>
          </p:cNvSpPr>
          <p:nvPr>
            <p:ph idx="1"/>
          </p:nvPr>
        </p:nvSpPr>
        <p:spPr>
          <a:xfrm>
            <a:off x="457200" y="1196752"/>
            <a:ext cx="4906888" cy="4929411"/>
          </a:xfrm>
        </p:spPr>
        <p:txBody>
          <a:bodyPr/>
          <a:lstStyle/>
          <a:p>
            <a:pPr marL="0" indent="0">
              <a:buNone/>
            </a:pPr>
            <a:r>
              <a:rPr lang="zh-CN" altLang="en-US" sz="2800" b="1">
                <a:solidFill>
                  <a:srgbClr val="2722FA"/>
                </a:solidFill>
                <a:latin typeface="华文楷体" panose="02010600040101010101" pitchFamily="2" charset="-122"/>
                <a:ea typeface="华文楷体" panose="02010600040101010101" pitchFamily="2" charset="-122"/>
              </a:rPr>
              <a:t>连续调整参数</a:t>
            </a:r>
          </a:p>
          <a:p>
            <a:pPr>
              <a:lnSpc>
                <a:spcPct val="130000"/>
              </a:lnSpc>
              <a:spcBef>
                <a:spcPts val="1200"/>
              </a:spcBef>
            </a:pPr>
            <a:r>
              <a:rPr lang="zh-CN" altLang="en-US" sz="2400">
                <a:highlight>
                  <a:srgbClr val="FF9900"/>
                </a:highlight>
              </a:rPr>
              <a:t>箭头按钮</a:t>
            </a:r>
            <a:r>
              <a:rPr lang="en-US" altLang="zh-CN" sz="2400">
                <a:highlight>
                  <a:srgbClr val="FF9900"/>
                </a:highlight>
              </a:rPr>
              <a:t>7</a:t>
            </a:r>
            <a:r>
              <a:rPr lang="zh-CN" altLang="en-US" sz="2400">
                <a:highlight>
                  <a:srgbClr val="FF9900"/>
                </a:highlight>
              </a:rPr>
              <a:t> </a:t>
            </a:r>
            <a:r>
              <a:rPr lang="zh-CN" altLang="en-US" sz="2400"/>
              <a:t>允许在更改信号参数时在显示屏上选择特定数位；</a:t>
            </a:r>
            <a:endParaRPr lang="en-US" altLang="zh-CN" sz="2400"/>
          </a:p>
          <a:p>
            <a:pPr>
              <a:lnSpc>
                <a:spcPct val="130000"/>
              </a:lnSpc>
              <a:spcBef>
                <a:spcPts val="600"/>
              </a:spcBef>
            </a:pPr>
            <a:r>
              <a:rPr lang="zh-CN" altLang="en-US" sz="2400"/>
              <a:t>再配合</a:t>
            </a:r>
            <a:r>
              <a:rPr lang="zh-CN" altLang="en-US" sz="2400">
                <a:highlight>
                  <a:srgbClr val="FF9900"/>
                </a:highlight>
              </a:rPr>
              <a:t>通用旋钮</a:t>
            </a:r>
            <a:r>
              <a:rPr lang="en-US" altLang="zh-CN" sz="2400">
                <a:highlight>
                  <a:srgbClr val="FF9900"/>
                </a:highlight>
              </a:rPr>
              <a:t>3</a:t>
            </a:r>
            <a:r>
              <a:rPr lang="zh-CN" altLang="en-US" sz="2400"/>
              <a:t>可方便地连续变化参数对应位大小；</a:t>
            </a:r>
            <a:endParaRPr lang="en-US" altLang="zh-CN" sz="2400"/>
          </a:p>
          <a:p>
            <a:pPr>
              <a:lnSpc>
                <a:spcPct val="130000"/>
              </a:lnSpc>
              <a:spcBef>
                <a:spcPts val="600"/>
              </a:spcBef>
            </a:pPr>
            <a:r>
              <a:rPr lang="zh-CN" altLang="en-US" sz="2400">
                <a:latin typeface="华文楷体" panose="02010600040101010101" pitchFamily="2" charset="-122"/>
                <a:ea typeface="华文楷体" panose="02010600040101010101" pitchFamily="2" charset="-122"/>
              </a:rPr>
              <a:t>此操作有时比用键盘直接输入参数要</a:t>
            </a:r>
            <a:r>
              <a:rPr lang="zh-CN" altLang="en-US" sz="2400" b="1">
                <a:latin typeface="华文楷体" panose="02010600040101010101" pitchFamily="2" charset="-122"/>
                <a:ea typeface="华文楷体" panose="02010600040101010101" pitchFamily="2" charset="-122"/>
              </a:rPr>
              <a:t>方便</a:t>
            </a:r>
            <a:r>
              <a:rPr lang="zh-CN" altLang="en-US" sz="2400">
                <a:latin typeface="华文楷体" panose="02010600040101010101" pitchFamily="2" charset="-122"/>
                <a:ea typeface="华文楷体" panose="02010600040101010101" pitchFamily="2" charset="-122"/>
              </a:rPr>
              <a:t>，比如：实验步骤要求记录输入信号频率从低到高不断增加过程中的电路表现。</a:t>
            </a:r>
            <a:endParaRPr lang="en-US" altLang="zh-CN" sz="2400">
              <a:latin typeface="华文楷体" panose="02010600040101010101" pitchFamily="2" charset="-122"/>
              <a:ea typeface="华文楷体" panose="02010600040101010101" pitchFamily="2" charset="-122"/>
            </a:endParaRPr>
          </a:p>
        </p:txBody>
      </p:sp>
      <p:pic>
        <p:nvPicPr>
          <p:cNvPr id="2" name="图片 1">
            <a:extLst>
              <a:ext uri="{FF2B5EF4-FFF2-40B4-BE49-F238E27FC236}">
                <a16:creationId xmlns:a16="http://schemas.microsoft.com/office/drawing/2014/main" id="{FCCF904C-1B17-412B-BF03-961E15890599}"/>
              </a:ext>
            </a:extLst>
          </p:cNvPr>
          <p:cNvPicPr>
            <a:picLocks noChangeAspect="1"/>
          </p:cNvPicPr>
          <p:nvPr/>
        </p:nvPicPr>
        <p:blipFill>
          <a:blip r:embed="rId3"/>
          <a:stretch>
            <a:fillRect/>
          </a:stretch>
        </p:blipFill>
        <p:spPr>
          <a:xfrm>
            <a:off x="6111525" y="1124744"/>
            <a:ext cx="2827202" cy="2881311"/>
          </a:xfrm>
          <a:prstGeom prst="rect">
            <a:avLst/>
          </a:prstGeom>
        </p:spPr>
      </p:pic>
    </p:spTree>
    <p:extLst>
      <p:ext uri="{BB962C8B-B14F-4D97-AF65-F5344CB8AC3E}">
        <p14:creationId xmlns:p14="http://schemas.microsoft.com/office/powerpoint/2010/main" val="3716011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21299" y="246063"/>
            <a:ext cx="8817428" cy="620712"/>
          </a:xfrm>
          <a:prstGeom prst="rect">
            <a:avLst/>
          </a:prstGeom>
          <a:noFill/>
          <a:ln>
            <a:noFill/>
          </a:ln>
        </p:spPr>
        <p:txBody>
          <a:bodyPr anchor="b"/>
          <a:lstStyle/>
          <a:p>
            <a:pPr lvl="0" algn="l">
              <a:defRPr/>
            </a:pPr>
            <a:r>
              <a:rPr lang="zh-CN" altLang="en-US" sz="3600" b="1">
                <a:solidFill>
                  <a:srgbClr val="0070C0"/>
                </a:solidFill>
                <a:latin typeface="华文楷体" panose="02010600040101010101" pitchFamily="2" charset="-122"/>
                <a:ea typeface="华文楷体" panose="02010600040101010101" pitchFamily="2" charset="-122"/>
              </a:rPr>
              <a:t>更多操作请参考官方资料</a:t>
            </a:r>
            <a:endParaRPr kumimoji="0" lang="zh-CN" altLang="en-US" sz="2000" b="1" i="0" u="none" strike="noStrike" kern="1200" cap="none" spc="0" normalizeH="0" baseline="0" noProof="0">
              <a:ln>
                <a:noFill/>
              </a:ln>
              <a:solidFill>
                <a:srgbClr val="0070C0"/>
              </a:solidFill>
              <a:effectLst/>
              <a:uLnTx/>
              <a:uFillTx/>
              <a:latin typeface="Times New Roman" panose="02020603050405020304" pitchFamily="18" charset="0"/>
            </a:endParaRPr>
          </a:p>
        </p:txBody>
      </p:sp>
      <p:sp>
        <p:nvSpPr>
          <p:cNvPr id="6" name="矩形 5"/>
          <p:cNvSpPr/>
          <p:nvPr/>
        </p:nvSpPr>
        <p:spPr>
          <a:xfrm>
            <a:off x="340994" y="2564904"/>
            <a:ext cx="8263453" cy="1414554"/>
          </a:xfrm>
          <a:prstGeom prst="rect">
            <a:avLst/>
          </a:prstGeom>
          <a:solidFill>
            <a:schemeClr val="bg2">
              <a:lumMod val="20000"/>
              <a:lumOff val="80000"/>
            </a:schemeClr>
          </a:solidFill>
          <a:ln w="63500">
            <a:solidFill>
              <a:schemeClr val="accent1"/>
            </a:solidFill>
          </a:ln>
        </p:spPr>
        <p:txBody>
          <a:bodyPr wrap="square">
            <a:spAutoFit/>
          </a:bodyPr>
          <a:lstStyle/>
          <a:p>
            <a:pPr>
              <a:lnSpc>
                <a:spcPct val="150000"/>
              </a:lnSpc>
            </a:pPr>
            <a:r>
              <a:rPr lang="en-US" altLang="zh-CN" sz="2000">
                <a:solidFill>
                  <a:srgbClr val="0000FF"/>
                </a:solidFill>
              </a:rPr>
              <a:t>AFG1000</a:t>
            </a:r>
            <a:r>
              <a:rPr lang="zh-CN" altLang="en-US" sz="2000">
                <a:solidFill>
                  <a:srgbClr val="0000FF"/>
                </a:solidFill>
              </a:rPr>
              <a:t>系列 任意波形</a:t>
            </a:r>
            <a:r>
              <a:rPr lang="en-US" altLang="zh-CN" sz="2000">
                <a:solidFill>
                  <a:srgbClr val="0000FF"/>
                </a:solidFill>
              </a:rPr>
              <a:t>/</a:t>
            </a:r>
            <a:r>
              <a:rPr lang="zh-CN" altLang="en-US" sz="2000">
                <a:solidFill>
                  <a:srgbClr val="0000FF"/>
                </a:solidFill>
              </a:rPr>
              <a:t>函数发生器教学视频</a:t>
            </a:r>
          </a:p>
          <a:p>
            <a:pPr>
              <a:lnSpc>
                <a:spcPct val="150000"/>
              </a:lnSpc>
            </a:pPr>
            <a:r>
              <a:rPr lang="zh-CN" altLang="en-US" sz="2000"/>
              <a:t>https://www.bilibili.com/video/BV1mW411H77v?p=2&amp;vd_source=b6ba6d1d47d003f6e899ab1ff4cd478c</a:t>
            </a:r>
          </a:p>
        </p:txBody>
      </p:sp>
      <p:pic>
        <p:nvPicPr>
          <p:cNvPr id="2" name="图片 1"/>
          <p:cNvPicPr>
            <a:picLocks noChangeAspect="1"/>
          </p:cNvPicPr>
          <p:nvPr/>
        </p:nvPicPr>
        <p:blipFill>
          <a:blip r:embed="rId2"/>
          <a:srcRect t="17329" b="74616"/>
          <a:stretch>
            <a:fillRect/>
          </a:stretch>
        </p:blipFill>
        <p:spPr>
          <a:xfrm>
            <a:off x="340994" y="1700808"/>
            <a:ext cx="8462645" cy="466343"/>
          </a:xfrm>
          <a:prstGeom prst="rect">
            <a:avLst/>
          </a:prstGeom>
          <a:ln w="25400">
            <a:solidFill>
              <a:srgbClr val="82CC28"/>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UyYTU1OGQ2YmViMDMyYmFlNWJmNjM3ZDFhNzQ0N2EifQ=="/>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616</TotalTime>
  <Words>1164</Words>
  <Application>Microsoft Office PowerPoint</Application>
  <PresentationFormat>全屏显示(4:3)</PresentationFormat>
  <Paragraphs>125</Paragraphs>
  <Slides>14</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黑体</vt:lpstr>
      <vt:lpstr>华文楷体</vt:lpstr>
      <vt:lpstr>宋体</vt:lpstr>
      <vt:lpstr>Arial</vt:lpstr>
      <vt:lpstr>Tahoma</vt:lpstr>
      <vt:lpstr>Times New Roman</vt:lpstr>
      <vt:lpstr>Wingdings</vt:lpstr>
      <vt:lpstr>1_自定义设计方案</vt:lpstr>
      <vt:lpstr>泰克 AFG1000信号源 实验课内基本使用</vt:lpstr>
      <vt:lpstr>信号源基础认知</vt:lpstr>
      <vt:lpstr>AFG1000信号源面板</vt:lpstr>
      <vt:lpstr>PowerPoint 演示文稿</vt:lpstr>
      <vt:lpstr>PowerPoint 演示文稿</vt:lpstr>
      <vt:lpstr>PowerPoint 演示文稿</vt:lpstr>
      <vt:lpstr>波形常用参数名称与AFG1000设备中标识</vt:lpstr>
      <vt:lpstr>AFG1000信号源课内主要操作流程</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电子线路测试与实验</dc:title>
  <dc:creator>PXM</dc:creator>
  <cp:lastModifiedBy>PanXM</cp:lastModifiedBy>
  <cp:revision>616</cp:revision>
  <dcterms:created xsi:type="dcterms:W3CDTF">2004-02-14T13:48:00Z</dcterms:created>
  <dcterms:modified xsi:type="dcterms:W3CDTF">2023-08-24T09:21:26Z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87E6A50A7EB14D398A202FB24E72D255</vt:lpwstr>
  </property>
</Properties>
</file>