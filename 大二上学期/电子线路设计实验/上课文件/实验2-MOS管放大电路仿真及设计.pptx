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72"/>
  </p:notesMasterIdLst>
  <p:sldIdLst>
    <p:sldId id="256" r:id="rId2"/>
    <p:sldId id="619" r:id="rId3"/>
    <p:sldId id="702" r:id="rId4"/>
    <p:sldId id="703" r:id="rId5"/>
    <p:sldId id="701" r:id="rId6"/>
    <p:sldId id="700" r:id="rId7"/>
    <p:sldId id="620" r:id="rId8"/>
    <p:sldId id="712" r:id="rId9"/>
    <p:sldId id="470" r:id="rId10"/>
    <p:sldId id="625" r:id="rId11"/>
    <p:sldId id="626" r:id="rId12"/>
    <p:sldId id="627" r:id="rId13"/>
    <p:sldId id="629" r:id="rId14"/>
    <p:sldId id="630" r:id="rId15"/>
    <p:sldId id="632" r:id="rId16"/>
    <p:sldId id="640" r:id="rId17"/>
    <p:sldId id="636" r:id="rId18"/>
    <p:sldId id="637" r:id="rId19"/>
    <p:sldId id="641" r:id="rId20"/>
    <p:sldId id="645" r:id="rId21"/>
    <p:sldId id="649" r:id="rId22"/>
    <p:sldId id="650" r:id="rId23"/>
    <p:sldId id="646" r:id="rId24"/>
    <p:sldId id="651" r:id="rId25"/>
    <p:sldId id="643" r:id="rId26"/>
    <p:sldId id="664" r:id="rId27"/>
    <p:sldId id="652" r:id="rId28"/>
    <p:sldId id="665" r:id="rId29"/>
    <p:sldId id="654" r:id="rId30"/>
    <p:sldId id="655" r:id="rId31"/>
    <p:sldId id="656" r:id="rId32"/>
    <p:sldId id="657" r:id="rId33"/>
    <p:sldId id="669" r:id="rId34"/>
    <p:sldId id="694" r:id="rId35"/>
    <p:sldId id="735" r:id="rId36"/>
    <p:sldId id="671" r:id="rId37"/>
    <p:sldId id="672" r:id="rId38"/>
    <p:sldId id="673" r:id="rId39"/>
    <p:sldId id="675" r:id="rId40"/>
    <p:sldId id="676" r:id="rId41"/>
    <p:sldId id="697" r:id="rId42"/>
    <p:sldId id="698" r:id="rId43"/>
    <p:sldId id="715" r:id="rId44"/>
    <p:sldId id="693" r:id="rId45"/>
    <p:sldId id="681" r:id="rId46"/>
    <p:sldId id="692" r:id="rId47"/>
    <p:sldId id="683" r:id="rId48"/>
    <p:sldId id="682" r:id="rId49"/>
    <p:sldId id="410" r:id="rId50"/>
    <p:sldId id="736" r:id="rId51"/>
    <p:sldId id="716" r:id="rId52"/>
    <p:sldId id="717" r:id="rId53"/>
    <p:sldId id="721" r:id="rId54"/>
    <p:sldId id="723" r:id="rId55"/>
    <p:sldId id="724" r:id="rId56"/>
    <p:sldId id="718" r:id="rId57"/>
    <p:sldId id="719" r:id="rId58"/>
    <p:sldId id="714" r:id="rId59"/>
    <p:sldId id="708" r:id="rId60"/>
    <p:sldId id="725" r:id="rId61"/>
    <p:sldId id="533" r:id="rId62"/>
    <p:sldId id="534" r:id="rId63"/>
    <p:sldId id="535" r:id="rId64"/>
    <p:sldId id="536" r:id="rId65"/>
    <p:sldId id="537" r:id="rId66"/>
    <p:sldId id="556" r:id="rId67"/>
    <p:sldId id="539" r:id="rId68"/>
    <p:sldId id="540" r:id="rId69"/>
    <p:sldId id="497" r:id="rId70"/>
    <p:sldId id="710" r:id="rId71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9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99"/>
    <a:srgbClr val="FF3300"/>
    <a:srgbClr val="3333FF"/>
    <a:srgbClr val="003399"/>
    <a:srgbClr val="FF6600"/>
    <a:srgbClr val="B2B2B2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19" y="77"/>
      </p:cViewPr>
      <p:guideLst>
        <p:guide orient="horz" pos="2205"/>
        <p:guide pos="29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312F7C-8D5B-4A48-9240-6460CA261F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2042" tIns="56020" rIns="112042" bIns="56020" numCol="1" anchor="t" anchorCtr="0" compatLnSpc="1">
            <a:prstTxWarp prst="textNoShape">
              <a:avLst/>
            </a:prstTxWarp>
          </a:bodyPr>
          <a:lstStyle>
            <a:lvl1pPr defTabSz="1121166" eaLnBrk="1" hangingPunct="1">
              <a:buFont typeface="Arial" panose="020B0604020202020204" pitchFamily="34" charset="0"/>
              <a:buNone/>
              <a:defRPr sz="15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1D31F9-0CB4-4C78-8BED-9FB48D16FA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2042" tIns="56020" rIns="112042" bIns="56020" numCol="1" anchor="t" anchorCtr="0" compatLnSpc="1">
            <a:prstTxWarp prst="textNoShape">
              <a:avLst/>
            </a:prstTxWarp>
          </a:bodyPr>
          <a:lstStyle>
            <a:lvl1pPr algn="r" defTabSz="1121166" eaLnBrk="1" hangingPunct="1">
              <a:buFont typeface="Arial" panose="020B0604020202020204" pitchFamily="34" charset="0"/>
              <a:buNone/>
              <a:defRPr sz="15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6EB34B5-C810-4E45-8D84-D144A377EB55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89013" y="763588"/>
            <a:ext cx="5119687" cy="384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82DC4082-4C64-474B-8647-7E16ABD2E5F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2042" tIns="56020" rIns="112042" bIns="560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12FE4F0E-90E6-4F4F-806C-175485FA30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7088"/>
            <a:ext cx="3074988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2042" tIns="56020" rIns="112042" bIns="56020" numCol="1" anchor="b" anchorCtr="0" compatLnSpc="1">
            <a:prstTxWarp prst="textNoShape">
              <a:avLst/>
            </a:prstTxWarp>
          </a:bodyPr>
          <a:lstStyle>
            <a:lvl1pPr defTabSz="1121166" eaLnBrk="1" hangingPunct="1">
              <a:buFont typeface="Arial" panose="020B0604020202020204" pitchFamily="34" charset="0"/>
              <a:buNone/>
              <a:defRPr sz="15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EC8DFD9C-51A1-46F2-A80E-FDD86CBFDC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17088"/>
            <a:ext cx="3074988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2042" tIns="56020" rIns="112042" bIns="56020" numCol="1" anchor="b" anchorCtr="0" compatLnSpc="1">
            <a:prstTxWarp prst="textNoShape">
              <a:avLst/>
            </a:prstTxWarp>
          </a:bodyPr>
          <a:lstStyle>
            <a:lvl1pPr algn="r" defTabSz="1120775" eaLnBrk="1" hangingPunct="1">
              <a:buFont typeface="Arial" panose="020B0604020202020204" pitchFamily="34" charset="0"/>
              <a:buNone/>
              <a:defRPr sz="15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48A5407-653C-4902-A7AD-896E7B2EFF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D13BFB1-9A0A-4C93-B2F7-AFB077B956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2079D8A9-0FE3-48DA-B55D-C2295CB9A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A14D3027-B234-485D-B58F-BFE1834BE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301FF53-C465-454E-96F2-24305D69D7B1}" type="slidenum">
              <a:rPr lang="en-US" altLang="zh-CN" sz="1300" b="0" smtClean="0">
                <a:latin typeface="Arial" panose="020B0604020202020204" pitchFamily="34" charset="0"/>
              </a:rPr>
              <a:pPr/>
              <a:t>3</a:t>
            </a:fld>
            <a:endParaRPr lang="en-US" altLang="zh-CN" sz="13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Mos</a:t>
            </a:r>
            <a:r>
              <a:rPr lang="zh-CN" altLang="en-US"/>
              <a:t>管是电压控制器件，正常放大在恒流工作区，只受</a:t>
            </a:r>
            <a:r>
              <a:rPr lang="en-US" altLang="zh-CN"/>
              <a:t>vgs</a:t>
            </a:r>
            <a:r>
              <a:rPr lang="zh-CN" altLang="en-US"/>
              <a:t>影响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8A5407-653C-4902-A7AD-896E7B2EFFEB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023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424A53D-D766-4DF2-BBC3-26BCAD1A06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BA19197-88A3-491E-AA6E-5BB247AB8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建议接插电路先定三极管位置，再定＋－电源大致位置（建议用边条），再按三个管脚来依次插各部分器件，然后是输入输出。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8A5407-653C-4902-A7AD-896E7B2EFFEB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470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Ri</a:t>
            </a:r>
            <a:r>
              <a:rPr lang="zh-CN" altLang="en-US" dirty="0"/>
              <a:t>在</a:t>
            </a:r>
            <a:r>
              <a:rPr lang="en-US" altLang="zh-CN" dirty="0"/>
              <a:t>50K~100K</a:t>
            </a:r>
            <a:r>
              <a:rPr lang="zh-CN" altLang="en-US" dirty="0"/>
              <a:t>级别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8A5407-653C-4902-A7AD-896E7B2EFFEB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049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A645EDB-30DD-4F1A-A169-74847AD700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2F2B6F2-C08A-441F-B90D-1A06EB025C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46BB2-697C-4399-9254-EDB4D1C42C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01E21C0-3B7A-4F31-A259-69D9EEEE08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55F57-6556-4358-A040-9E3E0C50F5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11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F64260C-8E1D-476F-827C-F84DF91952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9D20FA8-0306-48D5-A7FB-164E96D680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09804-47FF-42E4-B129-8BF2C11347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44B931E-7521-43AC-9B2D-8893C45023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6925C-7D05-4F34-A2EA-0FD144A798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871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5716EBE-BDEC-4900-9161-64D2D8771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E841F43-1194-4DFC-B89E-B7749B3534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53CF5-6E65-401D-9DB2-0075CBC1E5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32AE305-DE3F-4639-A599-18F5D285BE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47B480-38F2-446B-9914-7DE07AEDC7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EBE16A-AA8C-4555-8619-3298D99943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1E1200B-2F64-4946-84F1-3329EBB9B2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0FF52-E024-45BE-BE0F-AB6189D20F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F9AAD34-F3CE-47B9-9668-FB577FEA08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BC557-2C64-4889-B087-F63BC3DAB8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544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A9AE01-7D5D-45CB-8172-E75998680C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3B84C-7BD6-4C86-A558-EF18012805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E5976-35E2-4861-9E0D-33A89F34FD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CACD1-DB12-4C3A-A4FB-75E3BFCB1C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0B8FE-F0CB-49C3-AE34-7B62867BBD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65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C0B6958-7F81-4D84-8144-61685C756A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553268D-213C-462F-83C3-8C15E06A6C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316E2-EA14-4A96-854B-73BC99A02A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BCD3F74-3031-46FF-B4FF-754672A6DC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8E084-E47E-44FE-AC72-A6F7C71994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4890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6893B9C-F50F-4F10-B77C-509D6A83A3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4C1D4E3-E6D3-423E-99B1-9732EA75DA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27ACE-4BA8-4088-8C6F-A3EC090812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4EB9B3F-D97D-4D3E-A488-ACE7759CB9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C24DA-659A-4FEB-8A95-5C9BAB31E3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009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CCD1B5-B861-42F0-970E-D3BA767457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A4E1755-9B39-4790-B305-5854EF39B8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2F7D6-948E-4299-B412-C205B15ED6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4EB07F4-50A7-4A38-8CEB-FA8BA84215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08294-3B98-4B3D-AE09-5E45D4BB5C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693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01CAFC7-25F3-4E18-8278-9E0FEF157B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0677AFB-8FFB-4806-8C60-646DE1A90A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C4B72-4AFA-416A-A294-9BBD5AE9A7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0FCB700-D463-4F64-8A65-DBCB4D0B29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5145B-5369-49FF-A3E1-098575D061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20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79A7FE-111F-4F8C-ABA5-F3F94320C0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23A1E9E-5499-42EE-AFB6-900163FA93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2EEDE-DB6E-48BD-855B-D029202FC9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7D76B7A-EE01-44B5-BC0D-035A619CBE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005ABD-8734-42AF-85B3-058AEA6D8A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0519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260350"/>
            <a:ext cx="2001837" cy="57594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260350"/>
            <a:ext cx="5854700" cy="5759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EA91A8-A437-4A83-846C-7C3FE340B7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09A456D-D63D-4655-9ADA-77659189DB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51A34-C5C5-449D-9E16-33ECF81D7F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35F1F3-5852-476B-9550-075BF99674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6DC3A-B5C7-4A30-AE8B-FDF5AA9918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6017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7556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0A0389-5864-4112-A50E-544BF876D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B3F7F46-03ED-4B58-82A8-97521E5F00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CFDFD-0E67-4B51-BD87-D3D7359DE7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C71ACE12-BA16-4864-8AF4-D319CAB96D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4F896-9BD3-494A-BEE2-5F0D196B72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184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8A99054-FAF7-4673-99E6-7AEE26D24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260350"/>
            <a:ext cx="80010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08454D-FDBD-4B75-A55C-AB5D99A8E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2337DFBA-81EC-4430-816E-7E26F7E75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mpd="sng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A79A039-8367-4810-B8E6-1A9EDAD255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3087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92462A-955F-4546-A40D-2767501258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0"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0FBE275-00E7-4871-88AD-0548C9082F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81763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600" b="0"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fld id="{08DBE8A8-E1E0-4D5D-A3C1-EBF407A1E1C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DC814AC-70CC-417F-B8C0-FF7062CA93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b="0"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fld id="{40446ED0-99A0-41A7-8E99-19C361630A4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微软雅黑" panose="020B0503020204020204" pitchFamily="34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微软雅黑" panose="020B0503020204020204" pitchFamily="34" charset="-122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微软雅黑" panose="020B0503020204020204" pitchFamily="34" charset="-122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微软雅黑" panose="020B0503020204020204" pitchFamily="34" charset="-122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微软雅黑" panose="020B0503020204020204" pitchFamily="34" charset="-122"/>
          <a:ea typeface="+mn-ea"/>
        </a:defRPr>
      </a:lvl5pPr>
      <a:lvl6pPr marL="25511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icourse163.org/course/HUST-100194200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png"/><Relationship Id="rId5" Type="http://schemas.openxmlformats.org/officeDocument/2006/relationships/image" Target="../media/image39.wmf"/><Relationship Id="rId4" Type="http://schemas.openxmlformats.org/officeDocument/2006/relationships/oleObject" Target="../embeddings/oleObject8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5.jpeg"/><Relationship Id="rId4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3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3.emf"/><Relationship Id="rId4" Type="http://schemas.openxmlformats.org/officeDocument/2006/relationships/oleObject" Target="../embeddings/oleObject10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11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49.wmf"/><Relationship Id="rId10" Type="http://schemas.openxmlformats.org/officeDocument/2006/relationships/image" Target="../media/image51.wmf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3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9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3.png"/><Relationship Id="rId5" Type="http://schemas.openxmlformats.org/officeDocument/2006/relationships/image" Target="../media/image61.wmf"/><Relationship Id="rId4" Type="http://schemas.openxmlformats.org/officeDocument/2006/relationships/oleObject" Target="../embeddings/oleObject18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9">
            <a:extLst>
              <a:ext uri="{FF2B5EF4-FFF2-40B4-BE49-F238E27FC236}">
                <a16:creationId xmlns:a16="http://schemas.microsoft.com/office/drawing/2014/main" id="{B4894B84-952A-48A7-A047-E1E4EB24E6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333375"/>
            <a:ext cx="8001000" cy="1216025"/>
          </a:xfrm>
        </p:spPr>
        <p:txBody>
          <a:bodyPr/>
          <a:lstStyle/>
          <a:p>
            <a:pPr eaLnBrk="1" hangingPunct="1"/>
            <a:r>
              <a:rPr lang="zh-CN" altLang="zh-CN" sz="6300">
                <a:solidFill>
                  <a:schemeClr val="tx1"/>
                </a:solidFill>
                <a:ea typeface="华文楷体" panose="02010600040101010101" pitchFamily="2" charset="-122"/>
              </a:rPr>
              <a:t>电子线路设计与测试</a:t>
            </a:r>
          </a:p>
        </p:txBody>
      </p:sp>
      <p:sp>
        <p:nvSpPr>
          <p:cNvPr id="3075" name="AutoShape 28">
            <a:extLst>
              <a:ext uri="{FF2B5EF4-FFF2-40B4-BE49-F238E27FC236}">
                <a16:creationId xmlns:a16="http://schemas.microsoft.com/office/drawing/2014/main" id="{BDB3182B-AF4B-42A8-BD31-B9F3659BE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90675"/>
            <a:ext cx="7958138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3076" name="Line 29">
            <a:extLst>
              <a:ext uri="{FF2B5EF4-FFF2-40B4-BE49-F238E27FC236}">
                <a16:creationId xmlns:a16="http://schemas.microsoft.com/office/drawing/2014/main" id="{7BA7844F-DEB4-4728-B30D-65DD0D55D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0928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6213071-4556-4445-99F9-A733D4167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3200400"/>
            <a:ext cx="7643813" cy="14208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3600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MOSFET</a:t>
            </a:r>
            <a:r>
              <a:rPr lang="zh-CN" altLang="en-US" sz="3600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共源放大电路设计</a:t>
            </a:r>
            <a:br>
              <a:rPr lang="en-US" altLang="zh-CN" sz="3600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3600" kern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安装、调试及测试</a:t>
            </a:r>
            <a:endParaRPr lang="zh-CN" altLang="zh-CN" sz="3600" kern="0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8" name="文本框 1">
            <a:extLst>
              <a:ext uri="{FF2B5EF4-FFF2-40B4-BE49-F238E27FC236}">
                <a16:creationId xmlns:a16="http://schemas.microsoft.com/office/drawing/2014/main" id="{761C5CB6-A3E1-44E6-9468-722168238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082800"/>
            <a:ext cx="22431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rgbClr val="000099"/>
                </a:solidFill>
                <a:latin typeface="宋体" panose="02010600030101010101" pitchFamily="2" charset="-122"/>
              </a:rPr>
              <a:t>第二阶段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页脚占位符 4">
            <a:extLst>
              <a:ext uri="{FF2B5EF4-FFF2-40B4-BE49-F238E27FC236}">
                <a16:creationId xmlns:a16="http://schemas.microsoft.com/office/drawing/2014/main" id="{16D98FE6-97D4-4FEF-9767-B9B6BDBA2B1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124200" y="6481763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fld id="{2CBD0605-6A6A-47E5-ABBE-C368C0D7B2A6}" type="slidenum">
              <a:rPr lang="en-US" altLang="zh-CN" sz="1600">
                <a:latin typeface="微软雅黑" panose="020B0503020204020204" pitchFamily="34" charset="-122"/>
              </a:rPr>
              <a:pPr algn="ctr" eaLnBrk="1" hangingPunct="1">
                <a:buFont typeface="Arial" panose="020B0604020202020204" pitchFamily="34" charset="0"/>
                <a:buNone/>
              </a:pPr>
              <a:t>2</a:t>
            </a:fld>
            <a:endParaRPr lang="en-US" altLang="zh-CN" sz="1600">
              <a:latin typeface="微软雅黑" panose="020B0503020204020204" pitchFamily="34" charset="-122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B43EB6AD-4DF1-4502-A45C-41E879E520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49300" y="1249363"/>
            <a:ext cx="7643813" cy="1420812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</a:pP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MOSFET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共源放大电路设计</a:t>
            </a:r>
            <a:b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安装、调试及测试 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(P53)</a:t>
            </a:r>
            <a:endParaRPr lang="zh-CN" altLang="zh-CN" sz="32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21D13B1F-BC29-48A9-A509-919142DB6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-214313"/>
            <a:ext cx="8001000" cy="1216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zh-CN" altLang="zh-CN" sz="3800" kern="0" dirty="0">
                <a:solidFill>
                  <a:srgbClr val="000099"/>
                </a:solidFill>
                <a:latin typeface="微软雅黑" panose="020B0503020204020204" pitchFamily="34" charset="-122"/>
                <a:ea typeface="华文楷体" panose="02010600040101010101" pitchFamily="2" charset="-122"/>
                <a:cs typeface="+mj-cs"/>
              </a:rPr>
              <a:t>电子线路设计与测试</a:t>
            </a:r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51F78FF1-91B9-4D05-A500-13B316C2E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2808288"/>
            <a:ext cx="8715375" cy="1076325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单级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MOSFET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共源放大电路</a:t>
            </a:r>
            <a:r>
              <a:rPr lang="zh-CN" altLang="en-US" sz="3200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仿真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教材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3.3.3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实验任务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3——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实验步骤与要求（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3200" dirty="0">
              <a:latin typeface="微软雅黑" panose="020B0503020204020204" pitchFamily="34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DE24B5E-24E5-4E54-AE6E-2491B009A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4152900"/>
            <a:ext cx="8358188" cy="2062163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（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2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）</a:t>
            </a:r>
            <a:r>
              <a:rPr 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单级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MOSFET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共源放大电路</a:t>
            </a:r>
            <a:r>
              <a:rPr lang="zh-CN" altLang="en-US" sz="3200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插板实现</a:t>
            </a:r>
            <a:endParaRPr lang="en-US" altLang="zh-CN" sz="3200" dirty="0">
              <a:solidFill>
                <a:srgbClr val="000099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教材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3.3.3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实验任务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3——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实验步骤与要求中的（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。</a:t>
            </a:r>
            <a:r>
              <a:rPr kumimoji="1" lang="zh-CN" altLang="en-US" sz="3200" kern="0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补充：观察失真现象</a:t>
            </a:r>
            <a:endParaRPr kumimoji="1" lang="en-US" altLang="zh-CN" sz="3200" kern="0" dirty="0">
              <a:solidFill>
                <a:srgbClr val="0000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zh-CN" altLang="en-US" sz="3200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C1C01143-739B-4714-BF0F-3A30DC796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0225" y="188913"/>
            <a:ext cx="8001000" cy="755650"/>
          </a:xfrm>
        </p:spPr>
        <p:txBody>
          <a:bodyPr/>
          <a:lstStyle/>
          <a:p>
            <a:r>
              <a:rPr lang="zh-CN" altLang="en-US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自学内容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CD880695-FF28-4F71-9B35-822E72A47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5925" y="1268413"/>
            <a:ext cx="8229600" cy="5334000"/>
          </a:xfrm>
        </p:spPr>
        <p:txBody>
          <a:bodyPr/>
          <a:lstStyle/>
          <a:p>
            <a:r>
              <a:rPr lang="zh-CN" altLang="en-US" sz="2400"/>
              <a:t>第</a:t>
            </a:r>
            <a:r>
              <a:rPr lang="en-US" altLang="zh-CN" sz="2400"/>
              <a:t>2</a:t>
            </a:r>
            <a:r>
              <a:rPr lang="zh-CN" altLang="en-US" sz="2400"/>
              <a:t>章  电子线路计算机辅助分析与设计</a:t>
            </a:r>
            <a:endParaRPr lang="en-US" altLang="zh-CN" sz="2400"/>
          </a:p>
          <a:p>
            <a:pPr lvl="1"/>
            <a:r>
              <a:rPr lang="en-US" altLang="zh-CN" sz="2400"/>
              <a:t>2.1  Orcad9.2</a:t>
            </a:r>
            <a:r>
              <a:rPr lang="zh-CN" altLang="en-US" sz="2400"/>
              <a:t>软件概述</a:t>
            </a:r>
            <a:endParaRPr lang="en-US" altLang="zh-CN" sz="2400"/>
          </a:p>
          <a:p>
            <a:pPr lvl="1"/>
            <a:r>
              <a:rPr lang="en-US" altLang="zh-CN" sz="2400"/>
              <a:t>2.2  Orcad9.2</a:t>
            </a:r>
            <a:r>
              <a:rPr lang="zh-CN" altLang="en-US" sz="2400"/>
              <a:t>电路设计仿真分析的流程</a:t>
            </a:r>
            <a:endParaRPr lang="en-US" altLang="zh-CN" sz="2400"/>
          </a:p>
          <a:p>
            <a:pPr lvl="1"/>
            <a:r>
              <a:rPr lang="en-US" altLang="zh-CN" sz="2400"/>
              <a:t>2.3  </a:t>
            </a:r>
            <a:r>
              <a:rPr lang="zh-CN" altLang="en-US" sz="2400"/>
              <a:t>电子线路分析示例（</a:t>
            </a:r>
            <a:r>
              <a:rPr lang="en-US" altLang="zh-CN" sz="2400"/>
              <a:t>2.3.1,2.3.4</a:t>
            </a:r>
            <a:r>
              <a:rPr lang="zh-CN" altLang="en-US" sz="2400"/>
              <a:t>）</a:t>
            </a:r>
            <a:endParaRPr lang="en-US" altLang="zh-CN" sz="2400"/>
          </a:p>
          <a:p>
            <a:r>
              <a:rPr lang="zh-CN" altLang="en-US" sz="2400"/>
              <a:t>第</a:t>
            </a:r>
            <a:r>
              <a:rPr lang="en-US" altLang="zh-CN" sz="2400"/>
              <a:t>3</a:t>
            </a:r>
            <a:r>
              <a:rPr lang="zh-CN" altLang="en-US" sz="2400"/>
              <a:t>章  模拟电子线路基础实验</a:t>
            </a:r>
            <a:endParaRPr lang="en-US" altLang="zh-CN" sz="2400"/>
          </a:p>
          <a:p>
            <a:pPr lvl="1"/>
            <a:r>
              <a:rPr lang="en-US" altLang="zh-CN" sz="2400"/>
              <a:t>3.2  </a:t>
            </a:r>
            <a:r>
              <a:rPr lang="zh-CN" altLang="en-US" sz="2400"/>
              <a:t>双极结型三极管的参数测试与基本应用</a:t>
            </a:r>
            <a:endParaRPr lang="en-US" altLang="zh-CN" sz="2400"/>
          </a:p>
          <a:p>
            <a:pPr lvl="1"/>
            <a:r>
              <a:rPr lang="en-US" altLang="zh-CN" sz="2400"/>
              <a:t>3.3  </a:t>
            </a:r>
            <a:r>
              <a:rPr lang="zh-CN" altLang="en-US" sz="2400"/>
              <a:t>金属</a:t>
            </a:r>
            <a:r>
              <a:rPr lang="en-US" altLang="zh-CN" sz="2400"/>
              <a:t>-</a:t>
            </a:r>
            <a:r>
              <a:rPr lang="zh-CN" altLang="en-US" sz="2400"/>
              <a:t>氧化物</a:t>
            </a:r>
            <a:r>
              <a:rPr lang="en-US" altLang="zh-CN" sz="2400"/>
              <a:t>-</a:t>
            </a:r>
            <a:r>
              <a:rPr lang="zh-CN" altLang="en-US" sz="2400"/>
              <a:t>半导体场效应管参数测试与应用</a:t>
            </a:r>
            <a:endParaRPr lang="en-US" altLang="zh-CN" sz="2400"/>
          </a:p>
          <a:p>
            <a:r>
              <a:rPr lang="zh-CN" altLang="en-US" sz="2400"/>
              <a:t>第</a:t>
            </a:r>
            <a:r>
              <a:rPr lang="en-US" altLang="zh-CN" sz="2400"/>
              <a:t>4</a:t>
            </a:r>
            <a:r>
              <a:rPr lang="zh-CN" altLang="en-US" sz="2400"/>
              <a:t>章  模拟电子线路应用设计</a:t>
            </a:r>
            <a:endParaRPr lang="en-US" altLang="zh-CN" sz="2400"/>
          </a:p>
          <a:p>
            <a:pPr lvl="1"/>
            <a:r>
              <a:rPr lang="en-US" altLang="zh-CN" sz="2400"/>
              <a:t>4.2  </a:t>
            </a:r>
            <a:r>
              <a:rPr lang="zh-CN" altLang="en-US" sz="2400"/>
              <a:t>双极结型晶体管共射放大器设计</a:t>
            </a:r>
            <a:endParaRPr lang="en-US" altLang="zh-CN" sz="2400"/>
          </a:p>
          <a:p>
            <a:pPr lvl="1"/>
            <a:r>
              <a:rPr lang="en-US" altLang="zh-CN" sz="2400"/>
              <a:t>4.3  </a:t>
            </a:r>
            <a:r>
              <a:rPr lang="zh-CN" altLang="en-US" sz="2400"/>
              <a:t>金属</a:t>
            </a:r>
            <a:r>
              <a:rPr lang="en-US" altLang="zh-CN" sz="2400"/>
              <a:t>-</a:t>
            </a:r>
            <a:r>
              <a:rPr lang="zh-CN" altLang="en-US" sz="2400"/>
              <a:t>氧化物</a:t>
            </a:r>
            <a:r>
              <a:rPr lang="en-US" altLang="zh-CN" sz="2400"/>
              <a:t>-</a:t>
            </a:r>
            <a:r>
              <a:rPr lang="zh-CN" altLang="en-US" sz="2400"/>
              <a:t>半导体场效应管放大器设计</a:t>
            </a:r>
            <a:endParaRPr lang="en-US" altLang="zh-CN" sz="2400"/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6070AB8A-010C-4B7F-B225-6631A5CA6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8163" y="188913"/>
            <a:ext cx="8001000" cy="755650"/>
          </a:xfrm>
        </p:spPr>
        <p:txBody>
          <a:bodyPr/>
          <a:lstStyle/>
          <a:p>
            <a:r>
              <a:rPr lang="zh-CN" altLang="en-US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线上教学资源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F4EF2D71-DBCA-4220-A08A-294ACF098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7688" y="1557338"/>
            <a:ext cx="8001000" cy="4267200"/>
          </a:xfrm>
        </p:spPr>
        <p:txBody>
          <a:bodyPr/>
          <a:lstStyle/>
          <a:p>
            <a:r>
              <a:rPr lang="zh-CN" altLang="en-US"/>
              <a:t>华中科技大学</a:t>
            </a:r>
            <a:r>
              <a:rPr lang="en-US" altLang="zh-CN"/>
              <a:t>《</a:t>
            </a:r>
            <a:r>
              <a:rPr lang="zh-CN" altLang="en-US"/>
              <a:t>电子线路设计、测试与实验（一）</a:t>
            </a:r>
            <a:r>
              <a:rPr lang="en-US" altLang="zh-CN"/>
              <a:t>》MOOC</a:t>
            </a:r>
            <a:r>
              <a:rPr lang="zh-CN" altLang="en-US"/>
              <a:t>课程：</a:t>
            </a:r>
          </a:p>
          <a:p>
            <a:r>
              <a:rPr lang="en-US" altLang="zh-CN">
                <a:hlinkClick r:id="rId2"/>
              </a:rPr>
              <a:t>http://www.icourse163.org/course/HUST-1001942004</a:t>
            </a:r>
            <a:endParaRPr lang="en-US" altLang="zh-CN"/>
          </a:p>
          <a:p>
            <a:r>
              <a:rPr lang="zh-CN" altLang="en-US"/>
              <a:t>模块四、模块六</a:t>
            </a:r>
          </a:p>
        </p:txBody>
      </p:sp>
      <p:pic>
        <p:nvPicPr>
          <p:cNvPr id="7172" name="图片 1">
            <a:extLst>
              <a:ext uri="{FF2B5EF4-FFF2-40B4-BE49-F238E27FC236}">
                <a16:creationId xmlns:a16="http://schemas.microsoft.com/office/drawing/2014/main" id="{786A1456-572B-4AE4-A7F3-0EC29705A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0" y="3284538"/>
            <a:ext cx="4297363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653898A5-62D1-4D08-8CD8-CE25C9DDB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9438" y="260350"/>
            <a:ext cx="8001000" cy="75565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实验要点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F6C0E68A-7291-46F4-984A-756E831A3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4675" y="1557338"/>
            <a:ext cx="8001000" cy="4267200"/>
          </a:xfrm>
        </p:spPr>
        <p:txBody>
          <a:bodyPr/>
          <a:lstStyle/>
          <a:p>
            <a:pPr eaLnBrk="1" hangingPunct="1">
              <a:buSzPct val="120000"/>
              <a:buFont typeface="Wingdings" panose="05000000000000000000" pitchFamily="2" charset="2"/>
              <a:buChar char="§"/>
            </a:pPr>
            <a:r>
              <a:rPr lang="en-US" altLang="zh-CN">
                <a:solidFill>
                  <a:srgbClr val="000099"/>
                </a:solidFill>
              </a:rPr>
              <a:t>PSpice</a:t>
            </a:r>
            <a:r>
              <a:rPr lang="zh-CN" altLang="en-US"/>
              <a:t>软件使用</a:t>
            </a:r>
          </a:p>
          <a:p>
            <a:pPr eaLnBrk="1" hangingPunct="1">
              <a:buSzPct val="120000"/>
              <a:buFont typeface="Wingdings" panose="05000000000000000000" pitchFamily="2" charset="2"/>
              <a:buChar char="§"/>
            </a:pPr>
            <a:r>
              <a:rPr lang="en-US" altLang="zh-CN"/>
              <a:t>MOSFET</a:t>
            </a:r>
            <a:r>
              <a:rPr lang="zh-CN" altLang="en-US"/>
              <a:t>放大电路的设计方法</a:t>
            </a:r>
          </a:p>
          <a:p>
            <a:pPr eaLnBrk="1" hangingPunct="1">
              <a:buSzPct val="120000"/>
              <a:buFont typeface="Wingdings" panose="05000000000000000000" pitchFamily="2" charset="2"/>
              <a:buChar char="§"/>
            </a:pPr>
            <a:r>
              <a:rPr lang="en-US" altLang="zh-CN"/>
              <a:t>MOSFET</a:t>
            </a:r>
            <a:r>
              <a:rPr lang="zh-CN" altLang="en-US"/>
              <a:t>放大电路</a:t>
            </a:r>
            <a:r>
              <a:rPr lang="zh-CN" altLang="en-US">
                <a:solidFill>
                  <a:srgbClr val="FF0000"/>
                </a:solidFill>
              </a:rPr>
              <a:t>静态工作点</a:t>
            </a:r>
            <a:r>
              <a:rPr lang="zh-CN" altLang="en-US"/>
              <a:t>设置与调整方法</a:t>
            </a:r>
          </a:p>
          <a:p>
            <a:pPr eaLnBrk="1" hangingPunct="1">
              <a:buSzPct val="120000"/>
              <a:buFont typeface="Wingdings" panose="05000000000000000000" pitchFamily="2" charset="2"/>
              <a:buChar char="§"/>
            </a:pPr>
            <a:r>
              <a:rPr lang="en-US" altLang="zh-CN"/>
              <a:t>MOSFET</a:t>
            </a:r>
            <a:r>
              <a:rPr lang="zh-CN" altLang="en-US"/>
              <a:t>放大电路</a:t>
            </a:r>
            <a:r>
              <a:rPr lang="zh-CN" altLang="en-US">
                <a:solidFill>
                  <a:srgbClr val="FF0000"/>
                </a:solidFill>
              </a:rPr>
              <a:t>性能指标</a:t>
            </a:r>
            <a:r>
              <a:rPr lang="zh-CN" altLang="en-US"/>
              <a:t>的测试方法及调试技术</a:t>
            </a:r>
          </a:p>
          <a:p>
            <a:pPr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/>
              <a:t>了解</a:t>
            </a:r>
            <a:r>
              <a:rPr lang="zh-CN" altLang="en-US">
                <a:solidFill>
                  <a:srgbClr val="FF0000"/>
                </a:solidFill>
              </a:rPr>
              <a:t>负反馈</a:t>
            </a:r>
            <a:r>
              <a:rPr lang="zh-CN" altLang="en-US"/>
              <a:t>对放大电路性能的影响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6DF3596-ECD6-49F1-A207-4DF8C2E55C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28638" y="188913"/>
            <a:ext cx="8229600" cy="777875"/>
          </a:xfrm>
        </p:spPr>
        <p:txBody>
          <a:bodyPr/>
          <a:lstStyle/>
          <a:p>
            <a:r>
              <a:rPr lang="zh-CN" altLang="en-US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设计要求</a:t>
            </a:r>
            <a:endParaRPr lang="en-US" altLang="zh-CN">
              <a:solidFill>
                <a:srgbClr val="0000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5DC6CA71-64BD-4A41-836D-E8CDE5FA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25550"/>
            <a:ext cx="92964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3300"/>
              </a:buClr>
              <a:defRPr/>
            </a:pPr>
            <a:r>
              <a:rPr kumimoji="1" lang="en-US" altLang="zh-CN" sz="3600" dirty="0">
                <a:solidFill>
                  <a:srgbClr val="000099"/>
                </a:solidFill>
                <a:latin typeface="+mn-ea"/>
                <a:ea typeface="+mn-ea"/>
              </a:rPr>
              <a:t>	3.3.3   </a:t>
            </a:r>
            <a:r>
              <a:rPr kumimoji="1" lang="zh-CN" altLang="en-US" sz="3600" dirty="0">
                <a:solidFill>
                  <a:srgbClr val="000099"/>
                </a:solidFill>
                <a:latin typeface="+mn-ea"/>
                <a:ea typeface="+mn-ea"/>
              </a:rPr>
              <a:t>实验任务</a:t>
            </a:r>
            <a:r>
              <a:rPr kumimoji="1" lang="en-US" altLang="zh-CN" sz="3600">
                <a:solidFill>
                  <a:srgbClr val="000099"/>
                </a:solidFill>
                <a:latin typeface="+mn-ea"/>
                <a:ea typeface="+mn-ea"/>
              </a:rPr>
              <a:t>3 </a:t>
            </a:r>
            <a:r>
              <a:rPr kumimoji="1" lang="zh-CN" altLang="en-US" sz="3600">
                <a:solidFill>
                  <a:srgbClr val="000099"/>
                </a:solidFill>
                <a:latin typeface="+mn-ea"/>
                <a:ea typeface="+mn-ea"/>
              </a:rPr>
              <a:t>（</a:t>
            </a:r>
            <a:r>
              <a:rPr kumimoji="1" lang="en-US" altLang="zh-CN" sz="3600">
                <a:solidFill>
                  <a:srgbClr val="000099"/>
                </a:solidFill>
                <a:latin typeface="+mn-ea"/>
                <a:ea typeface="+mn-ea"/>
              </a:rPr>
              <a:t>P54</a:t>
            </a:r>
            <a:r>
              <a:rPr kumimoji="1" lang="zh-CN" altLang="en-US" sz="3600">
                <a:solidFill>
                  <a:srgbClr val="000099"/>
                </a:solidFill>
                <a:latin typeface="+mn-ea"/>
                <a:ea typeface="+mn-ea"/>
              </a:rPr>
              <a:t>）</a:t>
            </a:r>
            <a:endParaRPr kumimoji="1" lang="en-US" altLang="zh-CN" sz="3600" dirty="0">
              <a:solidFill>
                <a:srgbClr val="000099"/>
              </a:solidFill>
              <a:latin typeface="+mn-ea"/>
              <a:ea typeface="+mn-ea"/>
            </a:endParaRP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66B131F0-CC00-43EF-8977-1FB9B2A02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139950"/>
            <a:ext cx="4013200" cy="3959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n"/>
            </a:pPr>
            <a:r>
              <a:rPr kumimoji="1" lang="zh-CN" altLang="en-US" sz="32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已知条件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</a:t>
            </a: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sz="2800" baseline="-30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CC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=+12V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baseline="-25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=5.1k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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sz="2800" baseline="-30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=10mV(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有效值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baseline="-30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si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=50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</a:t>
            </a:r>
            <a:endParaRPr kumimoji="1" lang="en-US" altLang="zh-CN" sz="280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21" name="Rectangle 6">
            <a:extLst>
              <a:ext uri="{FF2B5EF4-FFF2-40B4-BE49-F238E27FC236}">
                <a16:creationId xmlns:a16="http://schemas.microsoft.com/office/drawing/2014/main" id="{F7242A7B-F94F-4756-8EA7-63F6CECF4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154238"/>
            <a:ext cx="4013200" cy="3959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n"/>
            </a:pPr>
            <a:r>
              <a:rPr kumimoji="1" lang="zh-CN" altLang="en-US" sz="32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技术指标要求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|A</a:t>
            </a:r>
            <a:r>
              <a:rPr kumimoji="1" lang="en-US" altLang="zh-CN" sz="2800" baseline="-30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|</a:t>
            </a: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＞</a:t>
            </a:r>
            <a:r>
              <a:rPr kumimoji="1" lang="en-US" altLang="zh-CN" sz="28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baseline="-30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＞ 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50k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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baseline="-30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＜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5.1k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</a:t>
            </a:r>
            <a:endParaRPr kumimoji="1" lang="en-US" altLang="zh-CN" sz="2800">
              <a:solidFill>
                <a:srgbClr val="33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aseline="-30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＜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100Hz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aseline="-300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＞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100kHz</a:t>
            </a:r>
          </a:p>
          <a:p>
            <a:pPr lvl="1"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电路稳定性好。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55">
            <a:extLst>
              <a:ext uri="{FF2B5EF4-FFF2-40B4-BE49-F238E27FC236}">
                <a16:creationId xmlns:a16="http://schemas.microsoft.com/office/drawing/2014/main" id="{42841B26-B74B-43BE-94CA-7FD003EA7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143000"/>
            <a:ext cx="7112000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42549228-409D-4EE2-B087-5BAD03CAF036}"/>
              </a:ext>
            </a:extLst>
          </p:cNvPr>
          <p:cNvSpPr txBox="1">
            <a:spLocks/>
          </p:cNvSpPr>
          <p:nvPr/>
        </p:nvSpPr>
        <p:spPr bwMode="auto">
          <a:xfrm>
            <a:off x="683568" y="332656"/>
            <a:ext cx="8001000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电路设计一般流程</a:t>
            </a:r>
            <a:r>
              <a:rPr lang="en-US" altLang="zh-CN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参见教材</a:t>
            </a:r>
            <a:r>
              <a:rPr lang="en-US" altLang="zh-CN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4.3</a:t>
            </a:r>
            <a:r>
              <a:rPr lang="zh-CN" altLang="zh-CN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节</a:t>
            </a:r>
            <a:r>
              <a:rPr lang="en-US" altLang="zh-CN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dirty="0">
              <a:solidFill>
                <a:srgbClr val="0000CC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FE624592-DE9F-43F0-AB7A-BC00C07A4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电路设计举例</a:t>
            </a:r>
            <a:endParaRPr lang="zh-CN" altLang="en-US"/>
          </a:p>
        </p:txBody>
      </p:sp>
      <p:graphicFrame>
        <p:nvGraphicFramePr>
          <p:cNvPr id="11268" name="对象 7">
            <a:extLst>
              <a:ext uri="{FF2B5EF4-FFF2-40B4-BE49-F238E27FC236}">
                <a16:creationId xmlns:a16="http://schemas.microsoft.com/office/drawing/2014/main" id="{1418994E-39AE-4E52-86A1-99BE0D584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773795"/>
              </p:ext>
            </p:extLst>
          </p:nvPr>
        </p:nvGraphicFramePr>
        <p:xfrm>
          <a:off x="3857625" y="1416050"/>
          <a:ext cx="4452938" cy="473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Picture" r:id="rId3" imgW="2180520" imgH="2322720" progId="Word.Picture.8">
                  <p:embed/>
                </p:oleObj>
              </mc:Choice>
              <mc:Fallback>
                <p:oleObj name="Picture" r:id="rId3" imgW="2180520" imgH="2322720" progId="Word.Picture.8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1416050"/>
                        <a:ext cx="4452938" cy="473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A4DC1C1-F959-4E45-AAC5-C9FB631E0B0D}"/>
              </a:ext>
            </a:extLst>
          </p:cNvPr>
          <p:cNvSpPr txBox="1">
            <a:spLocks/>
          </p:cNvSpPr>
          <p:nvPr/>
        </p:nvSpPr>
        <p:spPr bwMode="auto">
          <a:xfrm>
            <a:off x="612665" y="1590413"/>
            <a:ext cx="2999707" cy="349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zh-CN" altLang="en-US" sz="2800" dirty="0">
                <a:latin typeface="华文楷体"/>
                <a:ea typeface="华文楷体"/>
                <a:cs typeface="华文楷体"/>
              </a:rPr>
              <a:t>    与教材略有不同，加了保护性电阻。</a:t>
            </a:r>
            <a:endParaRPr lang="en-US" altLang="zh-CN" sz="2800" dirty="0">
              <a:latin typeface="华文楷体"/>
              <a:ea typeface="华文楷体"/>
              <a:cs typeface="华文楷体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en-US" altLang="zh-CN" sz="2800" dirty="0">
                <a:latin typeface="华文楷体"/>
                <a:ea typeface="华文楷体"/>
                <a:cs typeface="华文楷体"/>
              </a:rPr>
              <a:t>    </a:t>
            </a:r>
            <a:r>
              <a:rPr lang="zh-CN" altLang="en-US" sz="2800" dirty="0">
                <a:latin typeface="华文楷体"/>
                <a:ea typeface="华文楷体"/>
                <a:cs typeface="华文楷体"/>
              </a:rPr>
              <a:t>相关原理知识务必复习熟悉掌握。</a:t>
            </a:r>
            <a:endParaRPr lang="en-US" altLang="zh-CN" sz="2800" dirty="0">
              <a:latin typeface="华文楷体"/>
              <a:ea typeface="华文楷体"/>
              <a:cs typeface="华文楷体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C6CF7A-3F1D-4C03-ACCF-E6ED4748B79C}"/>
              </a:ext>
            </a:extLst>
          </p:cNvPr>
          <p:cNvSpPr txBox="1"/>
          <p:nvPr/>
        </p:nvSpPr>
        <p:spPr>
          <a:xfrm>
            <a:off x="5652120" y="2996952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endParaRPr lang="zh-CN" altLang="en-US" sz="1600" b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CCC04A-17DE-45A5-81A0-0D274DC623CC}"/>
              </a:ext>
            </a:extLst>
          </p:cNvPr>
          <p:cNvSpPr txBox="1"/>
          <p:nvPr/>
        </p:nvSpPr>
        <p:spPr>
          <a:xfrm>
            <a:off x="6219551" y="3335506"/>
            <a:ext cx="282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>
                <a:solidFill>
                  <a:schemeClr val="accent1">
                    <a:lumMod val="50000"/>
                  </a:schemeClr>
                </a:solidFill>
              </a:rPr>
              <a:t>s</a:t>
            </a:r>
            <a:endParaRPr lang="zh-CN" altLang="en-US" sz="1600" b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BA6319-0B29-452C-83E3-5A48A0444488}"/>
              </a:ext>
            </a:extLst>
          </p:cNvPr>
          <p:cNvSpPr txBox="1"/>
          <p:nvPr/>
        </p:nvSpPr>
        <p:spPr>
          <a:xfrm>
            <a:off x="6218591" y="2658398"/>
            <a:ext cx="648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>
                <a:solidFill>
                  <a:schemeClr val="accent1">
                    <a:lumMod val="50000"/>
                  </a:schemeClr>
                </a:solidFill>
              </a:rPr>
              <a:t>d</a:t>
            </a:r>
            <a:endParaRPr lang="zh-CN" altLang="en-US" sz="1600" b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脚占位符 4">
            <a:extLst>
              <a:ext uri="{FF2B5EF4-FFF2-40B4-BE49-F238E27FC236}">
                <a16:creationId xmlns:a16="http://schemas.microsoft.com/office/drawing/2014/main" id="{2C9DBA32-5A49-49DF-AFAE-8CE8B872F8A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124200" y="6481763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fld id="{A846BE65-89EC-4496-935C-3325E91BF209}" type="slidenum">
              <a:rPr lang="en-US" altLang="zh-CN" sz="1600">
                <a:latin typeface="微软雅黑" panose="020B0503020204020204" pitchFamily="34" charset="-122"/>
              </a:rPr>
              <a:pPr algn="ctr" eaLnBrk="1" hangingPunct="1">
                <a:buFont typeface="Arial" panose="020B0604020202020204" pitchFamily="34" charset="0"/>
                <a:buNone/>
              </a:pPr>
              <a:t>9</a:t>
            </a:fld>
            <a:endParaRPr lang="en-US" altLang="zh-CN" sz="1600">
              <a:latin typeface="微软雅黑" panose="020B0503020204020204" pitchFamily="34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EA42DCE-519D-4BF5-BCB3-3159F4648BDF}"/>
              </a:ext>
            </a:extLst>
          </p:cNvPr>
          <p:cNvSpPr txBox="1">
            <a:spLocks/>
          </p:cNvSpPr>
          <p:nvPr/>
        </p:nvSpPr>
        <p:spPr bwMode="auto">
          <a:xfrm>
            <a:off x="500063" y="295275"/>
            <a:ext cx="8001000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一、</a:t>
            </a:r>
            <a:r>
              <a:rPr lang="zh-CN" altLang="en-US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单级</a:t>
            </a:r>
            <a:r>
              <a:rPr lang="en-US" altLang="zh-CN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MOSFET</a:t>
            </a:r>
            <a:r>
              <a:rPr lang="zh-CN" altLang="en-US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共源放大电路仿真</a:t>
            </a:r>
            <a:endParaRPr lang="zh-CN" altLang="en-US" dirty="0">
              <a:solidFill>
                <a:srgbClr val="0033CC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12292" name="Object 8">
            <a:extLst>
              <a:ext uri="{FF2B5EF4-FFF2-40B4-BE49-F238E27FC236}">
                <a16:creationId xmlns:a16="http://schemas.microsoft.com/office/drawing/2014/main" id="{553BB3CB-0EBD-4932-9CCC-56146A5E9A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7350" y="1196975"/>
          <a:ext cx="4356100" cy="464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Picture" r:id="rId3" imgW="2175641" imgH="2312276" progId="Word.Picture.8">
                  <p:embed/>
                </p:oleObj>
              </mc:Choice>
              <mc:Fallback>
                <p:oleObj name="Picture" r:id="rId3" imgW="2175641" imgH="2312276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1196975"/>
                        <a:ext cx="4356100" cy="464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Box 11">
            <a:extLst>
              <a:ext uri="{FF2B5EF4-FFF2-40B4-BE49-F238E27FC236}">
                <a16:creationId xmlns:a16="http://schemas.microsoft.com/office/drawing/2014/main" id="{89A79566-D1FC-47E5-9D27-0A07E0928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428750"/>
            <a:ext cx="371475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）静态工作点</a:t>
            </a:r>
          </a:p>
          <a:p>
            <a:pPr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）正常放大的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Vi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Vo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波形及增益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）失真</a:t>
            </a:r>
          </a:p>
          <a:p>
            <a:pPr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）输入电阻</a:t>
            </a:r>
          </a:p>
          <a:p>
            <a:pPr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）输出电阻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）通频带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sz="1600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1CE268C-5AEF-424E-8FBD-2645B6EA6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574800"/>
            <a:ext cx="847248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  <a:spcBef>
                <a:spcPct val="55000"/>
              </a:spcBef>
              <a:buFont typeface="Arial" panose="020B0604020202020204" pitchFamily="34" charset="0"/>
              <a:buNone/>
            </a:pPr>
            <a:endParaRPr kumimoji="1" lang="en-US" altLang="zh-CN" sz="360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5000"/>
              </a:lnSpc>
              <a:buFont typeface="Arial" panose="020B0604020202020204" pitchFamily="34" charset="0"/>
              <a:buNone/>
            </a:pPr>
            <a:r>
              <a:rPr kumimoji="1" lang="en-US" altLang="zh-CN" sz="2800">
                <a:solidFill>
                  <a:srgbClr val="0033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>
                <a:solidFill>
                  <a:srgbClr val="00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OrCAD</a:t>
            </a:r>
            <a:r>
              <a:rPr kumimoji="1" lang="zh-CN" altLang="en-US" sz="2800">
                <a:solidFill>
                  <a:srgbClr val="00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是美国</a:t>
            </a:r>
            <a:r>
              <a:rPr kumimoji="1" lang="en-US" altLang="zh-CN" sz="2800">
                <a:solidFill>
                  <a:srgbClr val="00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OrCAD System</a:t>
            </a:r>
            <a:r>
              <a:rPr kumimoji="1" lang="zh-CN" altLang="en-US" sz="2800">
                <a:solidFill>
                  <a:srgbClr val="00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公司推出的著名的</a:t>
            </a:r>
            <a:r>
              <a:rPr kumimoji="1" lang="en-US" altLang="zh-CN" sz="2800">
                <a:solidFill>
                  <a:srgbClr val="00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EDA</a:t>
            </a:r>
            <a:r>
              <a:rPr kumimoji="1" lang="zh-CN" altLang="en-US" sz="2800">
                <a:solidFill>
                  <a:srgbClr val="00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软件，它是一个软件包，</a:t>
            </a:r>
            <a:r>
              <a:rPr kumimoji="1" lang="zh-CN" altLang="en-US" sz="2800">
                <a:solidFill>
                  <a:srgbClr val="660033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覆盖了电子设计的</a:t>
            </a:r>
            <a:r>
              <a:rPr kumimoji="1" lang="en-US" altLang="zh-CN" sz="2800">
                <a:solidFill>
                  <a:srgbClr val="660033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kumimoji="1" lang="zh-CN" altLang="en-US" sz="2800">
                <a:solidFill>
                  <a:srgbClr val="660033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项核心任务</a:t>
            </a:r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098FC239-D266-4EF7-AB06-CCD709FE1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047" y="2348880"/>
            <a:ext cx="6014293" cy="39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AutoShape 4">
            <a:extLst>
              <a:ext uri="{FF2B5EF4-FFF2-40B4-BE49-F238E27FC236}">
                <a16:creationId xmlns:a16="http://schemas.microsoft.com/office/drawing/2014/main" id="{D1625E5F-27B9-488A-9239-E958526DA783}"/>
              </a:ext>
            </a:extLst>
          </p:cNvPr>
          <p:cNvSpPr>
            <a:spLocks/>
          </p:cNvSpPr>
          <p:nvPr/>
        </p:nvSpPr>
        <p:spPr bwMode="auto">
          <a:xfrm>
            <a:off x="6372200" y="2478881"/>
            <a:ext cx="885825" cy="1900238"/>
          </a:xfrm>
          <a:prstGeom prst="rightBrace">
            <a:avLst>
              <a:gd name="adj1" fmla="val 17876"/>
              <a:gd name="adj2" fmla="val 50000"/>
            </a:avLst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3D3F192B-F671-449A-A84C-F9F5B5866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560" y="2916614"/>
            <a:ext cx="128587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zh-CN" altLang="en-US" sz="3200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电路仿真</a:t>
            </a:r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9BAAAE72-8905-421A-8822-7567E5C44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3438" y="3429000"/>
            <a:ext cx="12858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13319" name="标题 1">
            <a:extLst>
              <a:ext uri="{FF2B5EF4-FFF2-40B4-BE49-F238E27FC236}">
                <a16:creationId xmlns:a16="http://schemas.microsoft.com/office/drawing/2014/main" id="{6060612C-7274-4853-952A-C714DCD5B464}"/>
              </a:ext>
            </a:extLst>
          </p:cNvPr>
          <p:cNvSpPr txBox="1">
            <a:spLocks/>
          </p:cNvSpPr>
          <p:nvPr/>
        </p:nvSpPr>
        <p:spPr bwMode="auto">
          <a:xfrm>
            <a:off x="468313" y="325438"/>
            <a:ext cx="800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OrCAD</a:t>
            </a:r>
            <a:r>
              <a:rPr lang="zh-CN" altLang="en-US" sz="32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功能概述</a:t>
            </a:r>
            <a:endParaRPr lang="en-US" altLang="zh-CN" sz="3200">
              <a:solidFill>
                <a:srgbClr val="0033CC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4861576-56AA-4890-B260-4DE7971E53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404813"/>
            <a:ext cx="8626475" cy="609600"/>
          </a:xfrm>
          <a:noFill/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PSpice</a:t>
            </a:r>
            <a:r>
              <a:rPr lang="zh-CN" altLang="en-US" sz="360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中的单位和数字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DA9921F-FAB6-4F34-B5CA-0606DA7CD3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1289050"/>
            <a:ext cx="8443913" cy="4876800"/>
          </a:xfrm>
          <a:noFill/>
        </p:spPr>
        <p:txBody>
          <a:bodyPr/>
          <a:lstStyle/>
          <a:p>
            <a:pPr algn="just" eaLnBrk="1" hangingPunct="1">
              <a:lnSpc>
                <a:spcPct val="140000"/>
              </a:lnSpc>
              <a:buClr>
                <a:schemeClr val="tx1"/>
              </a:buClr>
            </a:pPr>
            <a:r>
              <a:rPr lang="en-US" altLang="zh-CN" sz="2400" b="1">
                <a:latin typeface="宋体" panose="02010600030101010101" pitchFamily="2" charset="-122"/>
              </a:rPr>
              <a:t>    Pspice </a:t>
            </a:r>
            <a:r>
              <a:rPr lang="zh-CN" altLang="en-US" sz="2400" b="1">
                <a:latin typeface="宋体" panose="02010600030101010101" pitchFamily="2" charset="-122"/>
              </a:rPr>
              <a:t>中采用的是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实用工程单位制</a:t>
            </a:r>
            <a:r>
              <a:rPr lang="zh-CN" altLang="en-US" sz="2400" b="1">
                <a:latin typeface="宋体" panose="02010600030101010101" pitchFamily="2" charset="-122"/>
              </a:rPr>
              <a:t>，如电压用伏（</a:t>
            </a:r>
            <a:r>
              <a:rPr lang="en-US" altLang="zh-CN" sz="2400" b="1">
                <a:latin typeface="宋体" panose="02010600030101010101" pitchFamily="2" charset="-122"/>
              </a:rPr>
              <a:t>V</a:t>
            </a:r>
            <a:r>
              <a:rPr lang="zh-CN" altLang="en-US" sz="2400" b="1">
                <a:latin typeface="宋体" panose="02010600030101010101" pitchFamily="2" charset="-122"/>
              </a:rPr>
              <a:t>）、电流用安培（</a:t>
            </a:r>
            <a:r>
              <a:rPr lang="en-US" altLang="zh-CN" sz="2400" b="1">
                <a:latin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）、电阻用欧姆（</a:t>
            </a:r>
            <a:r>
              <a:rPr lang="en-US" altLang="zh-CN" sz="2400" b="1">
                <a:latin typeface="宋体" panose="02010600030101010101" pitchFamily="2" charset="-122"/>
              </a:rPr>
              <a:t>Ω</a:t>
            </a:r>
            <a:r>
              <a:rPr lang="zh-CN" altLang="en-US" sz="2400" b="1">
                <a:latin typeface="宋体" panose="02010600030101010101" pitchFamily="2" charset="-122"/>
              </a:rPr>
              <a:t>）、功率用瓦特（</a:t>
            </a:r>
            <a:r>
              <a:rPr lang="en-US" altLang="zh-CN" sz="2400" b="1">
                <a:latin typeface="宋体" panose="02010600030101010101" pitchFamily="2" charset="-122"/>
              </a:rPr>
              <a:t>W</a:t>
            </a:r>
            <a:r>
              <a:rPr lang="zh-CN" altLang="en-US" sz="2400" b="1">
                <a:latin typeface="宋体" panose="02010600030101010101" pitchFamily="2" charset="-122"/>
              </a:rPr>
              <a:t>）等。在运行中，</a:t>
            </a:r>
            <a:r>
              <a:rPr lang="en-US" altLang="zh-CN" sz="2400" b="1">
                <a:latin typeface="宋体" panose="02010600030101010101" pitchFamily="2" charset="-122"/>
              </a:rPr>
              <a:t>Pspice</a:t>
            </a:r>
            <a:r>
              <a:rPr lang="zh-CN" altLang="en-US" sz="2400" b="1">
                <a:latin typeface="宋体" panose="02010600030101010101" pitchFamily="2" charset="-122"/>
              </a:rPr>
              <a:t>会根据具体对象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自动确定</a:t>
            </a:r>
            <a:r>
              <a:rPr lang="zh-CN" altLang="en-US" sz="2400" b="1">
                <a:latin typeface="宋体" panose="02010600030101010101" pitchFamily="2" charset="-122"/>
              </a:rPr>
              <a:t>其单位。用户在输入数据时，代表单位的字母可以省去。例如给电压源赋值时，键入</a:t>
            </a:r>
            <a:r>
              <a:rPr lang="en-US" altLang="zh-CN" sz="2400" b="1">
                <a:latin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</a:rPr>
              <a:t>和</a:t>
            </a:r>
            <a:r>
              <a:rPr lang="en-US" altLang="zh-CN" sz="2400" b="1">
                <a:latin typeface="宋体" panose="02010600030101010101" pitchFamily="2" charset="-122"/>
              </a:rPr>
              <a:t>12V</a:t>
            </a:r>
            <a:r>
              <a:rPr lang="zh-CN" altLang="en-US" sz="2400" b="1">
                <a:latin typeface="宋体" panose="02010600030101010101" pitchFamily="2" charset="-122"/>
              </a:rPr>
              <a:t>意思一样。</a:t>
            </a:r>
          </a:p>
          <a:p>
            <a:pPr algn="just" eaLnBrk="1" hangingPunct="1">
              <a:lnSpc>
                <a:spcPct val="140000"/>
              </a:lnSpc>
              <a:buClr>
                <a:schemeClr val="tx1"/>
              </a:buClr>
            </a:pPr>
            <a:r>
              <a:rPr lang="zh-CN" altLang="en-US" sz="2400" b="1">
                <a:latin typeface="宋体" panose="02010600030101010101" pitchFamily="2" charset="-122"/>
              </a:rPr>
              <a:t>    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Pspice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中的数字采用</a:t>
            </a:r>
            <a:r>
              <a:rPr lang="zh-CN" altLang="en-US" sz="2400" b="1">
                <a:solidFill>
                  <a:srgbClr val="0033CC"/>
                </a:solidFill>
                <a:latin typeface="宋体" panose="02010600030101010101" pitchFamily="2" charset="-122"/>
              </a:rPr>
              <a:t>科学表示方式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，即可以使用整数、小数和以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为底的指数。用指数表示时，底数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用</a:t>
            </a:r>
            <a:r>
              <a:rPr lang="zh-CN" altLang="en-US" sz="2400" b="1">
                <a:solidFill>
                  <a:srgbClr val="0033CC"/>
                </a:solidFill>
                <a:latin typeface="宋体" panose="02010600030101010101" pitchFamily="2" charset="-122"/>
              </a:rPr>
              <a:t>字母</a:t>
            </a:r>
            <a:r>
              <a:rPr lang="en-US" altLang="zh-CN" sz="2400" b="1">
                <a:solidFill>
                  <a:srgbClr val="0033CC"/>
                </a:solidFill>
                <a:latin typeface="宋体" panose="02010600030101010101" pitchFamily="2" charset="-122"/>
              </a:rPr>
              <a:t>E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来表示。对于比较大或比较小的数字，还可采用</a:t>
            </a:r>
            <a:r>
              <a:rPr lang="en-US" altLang="zh-CN" sz="2400" b="1">
                <a:solidFill>
                  <a:srgbClr val="0033CC"/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2400" b="1">
                <a:solidFill>
                  <a:srgbClr val="0033CC"/>
                </a:solidFill>
                <a:latin typeface="宋体" panose="02010600030101010101" pitchFamily="2" charset="-122"/>
              </a:rPr>
              <a:t>种比例因子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，如下表所示。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4">
            <a:extLst>
              <a:ext uri="{FF2B5EF4-FFF2-40B4-BE49-F238E27FC236}">
                <a16:creationId xmlns:a16="http://schemas.microsoft.com/office/drawing/2014/main" id="{2B838CFC-C10A-4CA9-B421-D2F7D26A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A16945B-6556-4B0A-81B3-601CE4ABCDB1}" type="slidenum">
              <a:rPr lang="en-US" altLang="zh-CN" b="0" smtClean="0">
                <a:latin typeface="微软雅黑" panose="020B0503020204020204" pitchFamily="34" charset="-122"/>
              </a:rPr>
              <a:pPr/>
              <a:t>12</a:t>
            </a:fld>
            <a:endParaRPr lang="en-US" altLang="zh-CN" b="0">
              <a:latin typeface="微软雅黑" panose="020B0503020204020204" pitchFamily="34" charset="-122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08AD0A6-AC48-4534-90C9-0B683C4BD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8150" y="4976813"/>
            <a:ext cx="7639050" cy="730250"/>
          </a:xfrm>
          <a:noFill/>
        </p:spPr>
        <p:txBody>
          <a:bodyPr/>
          <a:lstStyle/>
          <a:p>
            <a:pPr eaLnBrk="1" hangingPunct="1">
              <a:lnSpc>
                <a:spcPct val="131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例：</a:t>
            </a:r>
            <a:r>
              <a:rPr lang="en-US" altLang="zh-CN" b="1" dirty="0">
                <a:latin typeface="宋体" panose="02010600030101010101" pitchFamily="2" charset="-122"/>
              </a:rPr>
              <a:t>1000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1E3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1K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</a:rPr>
              <a:t>1k</a:t>
            </a:r>
            <a:r>
              <a:rPr lang="zh-CN" altLang="en-US" b="1" dirty="0">
                <a:latin typeface="宋体" panose="02010600030101010101" pitchFamily="2" charset="-122"/>
              </a:rPr>
              <a:t>都表示同一个数。</a:t>
            </a:r>
            <a:endParaRPr lang="zh-CN" altLang="en-US" b="1" dirty="0">
              <a:solidFill>
                <a:srgbClr val="FF0066"/>
              </a:solidFill>
              <a:latin typeface="宋体" panose="02010600030101010101" pitchFamily="2" charset="-122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5F33991-21FD-4C19-94C6-FF26E3584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263" y="333375"/>
            <a:ext cx="8567737" cy="685800"/>
          </a:xfrm>
          <a:noFill/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PSpice</a:t>
            </a:r>
            <a:r>
              <a:rPr lang="zh-CN" altLang="en-US" sz="360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采用的比例因子</a:t>
            </a:r>
          </a:p>
        </p:txBody>
      </p:sp>
      <p:graphicFrame>
        <p:nvGraphicFramePr>
          <p:cNvPr id="388100" name="Group 4">
            <a:extLst>
              <a:ext uri="{FF2B5EF4-FFF2-40B4-BE49-F238E27FC236}">
                <a16:creationId xmlns:a16="http://schemas.microsoft.com/office/drawing/2014/main" id="{95B92C04-09A2-407E-BD67-FC99C91FB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549921"/>
              </p:ext>
            </p:extLst>
          </p:nvPr>
        </p:nvGraphicFramePr>
        <p:xfrm>
          <a:off x="1093788" y="1828800"/>
          <a:ext cx="6526212" cy="2782888"/>
        </p:xfrm>
        <a:graphic>
          <a:graphicData uri="http://schemas.openxmlformats.org/drawingml/2006/table">
            <a:tbl>
              <a:tblPr/>
              <a:tblGrid>
                <a:gridCol w="1236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5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符号</a:t>
                      </a:r>
                    </a:p>
                  </a:txBody>
                  <a:tcPr marL="91432" marR="914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比例因子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符号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比例因子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F f</a:t>
                      </a:r>
                    </a:p>
                  </a:txBody>
                  <a:tcPr marL="91432" marR="914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-15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M m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-3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P p</a:t>
                      </a:r>
                    </a:p>
                  </a:txBody>
                  <a:tcPr marL="91432" marR="914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-12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K k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+3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N n</a:t>
                      </a:r>
                    </a:p>
                  </a:txBody>
                  <a:tcPr marL="91432" marR="914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-9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MEG meg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+6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U u</a:t>
                      </a:r>
                    </a:p>
                  </a:txBody>
                  <a:tcPr marL="91432" marR="914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-6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G g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+9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MIL mil</a:t>
                      </a:r>
                    </a:p>
                  </a:txBody>
                  <a:tcPr marL="91432" marR="914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25.4× 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-6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微软雅黑" panose="020B0503020204020204" pitchFamily="34" charset="-122"/>
                        <a:ea typeface="宋体" panose="02010600030101010101" pitchFamily="2" charset="-122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T t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微软雅黑" panose="020B0503020204020204" pitchFamily="34" charset="-122"/>
                          <a:ea typeface="宋体" panose="02010600030101010101" pitchFamily="2" charset="-122"/>
                        </a:rPr>
                        <a:t>+12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脚占位符 2">
            <a:extLst>
              <a:ext uri="{FF2B5EF4-FFF2-40B4-BE49-F238E27FC236}">
                <a16:creationId xmlns:a16="http://schemas.microsoft.com/office/drawing/2014/main" id="{0B97321F-A777-4BED-98E1-92B8C399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39F59BA-352F-43A8-935E-15437F941AC2}" type="slidenum">
              <a:rPr lang="en-US" altLang="zh-CN" b="0" smtClean="0">
                <a:latin typeface="微软雅黑" panose="020B0503020204020204" pitchFamily="34" charset="-122"/>
              </a:rPr>
              <a:pPr/>
              <a:t>13</a:t>
            </a:fld>
            <a:endParaRPr lang="en-US" altLang="zh-CN" b="0">
              <a:latin typeface="微软雅黑" panose="020B0503020204020204" pitchFamily="34" charset="-122"/>
            </a:endParaRPr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8F98040C-8084-4902-8E95-CE47E48A1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38" y="1306513"/>
            <a:ext cx="7550150" cy="483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476C6153-E022-4C10-8AC7-D755AAF6CFE1}"/>
              </a:ext>
            </a:extLst>
          </p:cNvPr>
          <p:cNvSpPr txBox="1">
            <a:spLocks/>
          </p:cNvSpPr>
          <p:nvPr/>
        </p:nvSpPr>
        <p:spPr bwMode="auto">
          <a:xfrm>
            <a:off x="585788" y="333375"/>
            <a:ext cx="800100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dirty="0" err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PSpice</a:t>
            </a: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仿真步骤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D2A43D4D-3152-440C-8330-D64CD3A00120}"/>
              </a:ext>
            </a:extLst>
          </p:cNvPr>
          <p:cNvSpPr txBox="1">
            <a:spLocks/>
          </p:cNvSpPr>
          <p:nvPr/>
        </p:nvSpPr>
        <p:spPr bwMode="auto">
          <a:xfrm>
            <a:off x="600075" y="404813"/>
            <a:ext cx="800100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dirty="0" err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PSpice</a:t>
            </a: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仿真步骤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ADEFFB5-22CF-4DA4-A8AB-2EF786A814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11288"/>
            <a:ext cx="7389812" cy="5048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1.  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创建工程项目文件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AB692FEC-A265-4F3B-9FAB-E314A7CF2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2030413"/>
            <a:ext cx="60325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2.  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编辑电路原理图（画电路图）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9DCB127-67CB-4BDB-A821-EF452D118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2636838"/>
            <a:ext cx="4608513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3.  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设置仿真分析类型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925418C0-3A29-44B6-81C1-7DC24AB44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3181350"/>
            <a:ext cx="38893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4.  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仿真分析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F94026E-C977-46C6-BC68-6E464C0DF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789363"/>
            <a:ext cx="7343775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8001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5.  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查看仿真输出结果 </a:t>
            </a:r>
          </a:p>
          <a:p>
            <a:pPr lvl="1" algn="just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从输出文件中查看仿真结果</a:t>
            </a:r>
            <a:r>
              <a:rPr kumimoji="1" lang="en-US" altLang="zh-CN" sz="2800">
                <a:latin typeface="华文楷体" panose="02010600040101010101" pitchFamily="2" charset="-122"/>
                <a:ea typeface="华文楷体" panose="02010600040101010101" pitchFamily="2" charset="-122"/>
              </a:rPr>
              <a:t>__</a:t>
            </a:r>
            <a:r>
              <a:rPr kumimoji="1"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文本结果</a:t>
            </a:r>
          </a:p>
          <a:p>
            <a:pPr lvl="1" algn="just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kumimoji="1" lang="en-US" altLang="zh-CN" sz="2800">
                <a:latin typeface="华文楷体" panose="02010600040101010101" pitchFamily="2" charset="-122"/>
                <a:ea typeface="华文楷体" panose="02010600040101010101" pitchFamily="2" charset="-122"/>
              </a:rPr>
              <a:t>Probe</a:t>
            </a:r>
            <a:r>
              <a:rPr kumimoji="1"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程序观测</a:t>
            </a:r>
            <a:r>
              <a:rPr kumimoji="1" lang="en-US" altLang="zh-CN" sz="2800">
                <a:latin typeface="华文楷体" panose="02010600040101010101" pitchFamily="2" charset="-122"/>
                <a:ea typeface="华文楷体" panose="02010600040101010101" pitchFamily="2" charset="-122"/>
              </a:rPr>
              <a:t>__ </a:t>
            </a:r>
            <a:r>
              <a:rPr kumimoji="1"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图形结果</a:t>
            </a:r>
            <a:endParaRPr kumimoji="1" lang="en-US" altLang="zh-CN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8">
            <a:extLst>
              <a:ext uri="{FF2B5EF4-FFF2-40B4-BE49-F238E27FC236}">
                <a16:creationId xmlns:a16="http://schemas.microsoft.com/office/drawing/2014/main" id="{96AE783C-8642-4E2C-AE04-3C0C77AAB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8" y="2243138"/>
            <a:ext cx="4405312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页脚占位符 4">
            <a:extLst>
              <a:ext uri="{FF2B5EF4-FFF2-40B4-BE49-F238E27FC236}">
                <a16:creationId xmlns:a16="http://schemas.microsoft.com/office/drawing/2014/main" id="{5D2DE7C4-C04B-466E-8E9A-E02F2A02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236BE67-6A7C-4FDE-A345-C57079ED985F}" type="slidenum">
              <a:rPr lang="en-US" altLang="zh-CN" b="0" smtClean="0">
                <a:latin typeface="微软雅黑" panose="020B0503020204020204" pitchFamily="34" charset="-122"/>
              </a:rPr>
              <a:pPr/>
              <a:t>15</a:t>
            </a:fld>
            <a:endParaRPr lang="en-US" altLang="zh-CN" b="0">
              <a:latin typeface="微软雅黑" panose="020B0503020204020204" pitchFamily="34" charset="-122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B1CCC68-2DF6-4F3B-8C06-643A005A9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498475"/>
            <a:ext cx="8255000" cy="457200"/>
          </a:xfrm>
          <a:noFill/>
        </p:spPr>
        <p:txBody>
          <a:bodyPr/>
          <a:lstStyle/>
          <a:p>
            <a:pPr eaLnBrk="1" hangingPunct="1"/>
            <a:r>
              <a:rPr lang="zh-CN" altLang="en-US" sz="360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6435FE9F-5B28-47B2-BDA3-5577C18A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571750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18438" name="Rectangle 8">
            <a:extLst>
              <a:ext uri="{FF2B5EF4-FFF2-40B4-BE49-F238E27FC236}">
                <a16:creationId xmlns:a16="http://schemas.microsoft.com/office/drawing/2014/main" id="{11BDBD06-4266-4F31-A3B6-680D78232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41425"/>
            <a:ext cx="66738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AutoNum type="arabicPeriod"/>
            </a:pPr>
            <a:r>
              <a:rPr kumimoji="1"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创建工程项目文件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kumimoji="1"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		</a:t>
            </a:r>
            <a:r>
              <a:rPr kumimoji="1"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选</a:t>
            </a:r>
            <a:r>
              <a:rPr kumimoji="1" lang="en-US" altLang="zh-CN" sz="2800">
                <a:latin typeface="华文楷体" panose="02010600040101010101" pitchFamily="2" charset="-122"/>
                <a:ea typeface="华文楷体" panose="02010600040101010101" pitchFamily="2" charset="-122"/>
              </a:rPr>
              <a:t>File/New/ Project </a:t>
            </a:r>
            <a:endParaRPr kumimoji="1" lang="zh-CN" altLang="en-US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BE70EA6F-FDC6-4512-9829-AC10D6DB8C8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643563" y="1819275"/>
            <a:ext cx="3105150" cy="4346575"/>
          </a:xfrm>
        </p:spPr>
        <p:txBody>
          <a:bodyPr/>
          <a:lstStyle/>
          <a:p>
            <a:pPr algn="just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盘下，建立子目录，如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F:\mos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r>
              <a:rPr lang="zh-CN" altLang="en-US" sz="2800" b="1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注意：目录名和文件名不能有汉字、空格等！</a:t>
            </a:r>
          </a:p>
          <a:p>
            <a:pPr algn="just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选择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Analog or Mixed A/D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0EDBDC2-6CEA-4000-AB63-A4677C9B2E06}"/>
              </a:ext>
            </a:extLst>
          </p:cNvPr>
          <p:cNvSpPr/>
          <p:nvPr/>
        </p:nvSpPr>
        <p:spPr bwMode="auto">
          <a:xfrm>
            <a:off x="868363" y="2708275"/>
            <a:ext cx="1069975" cy="504825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3E17854-FBBF-43A4-AC55-423A9598FEAE}"/>
              </a:ext>
            </a:extLst>
          </p:cNvPr>
          <p:cNvSpPr/>
          <p:nvPr/>
        </p:nvSpPr>
        <p:spPr bwMode="auto">
          <a:xfrm>
            <a:off x="909638" y="5229225"/>
            <a:ext cx="1069975" cy="503238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E25C011-E516-482A-A3F8-CD9B63F1AEDB}"/>
              </a:ext>
            </a:extLst>
          </p:cNvPr>
          <p:cNvSpPr/>
          <p:nvPr/>
        </p:nvSpPr>
        <p:spPr bwMode="auto">
          <a:xfrm>
            <a:off x="1692275" y="3284538"/>
            <a:ext cx="1366838" cy="504825"/>
          </a:xfrm>
          <a:prstGeom prst="roundRect">
            <a:avLst/>
          </a:prstGeom>
          <a:noFill/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3">
            <a:extLst>
              <a:ext uri="{FF2B5EF4-FFF2-40B4-BE49-F238E27FC236}">
                <a16:creationId xmlns:a16="http://schemas.microsoft.com/office/drawing/2014/main" id="{344CCEBE-A70A-44E1-BFE4-080119BF3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438" y="1773238"/>
            <a:ext cx="5840412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7">
            <a:extLst>
              <a:ext uri="{FF2B5EF4-FFF2-40B4-BE49-F238E27FC236}">
                <a16:creationId xmlns:a16="http://schemas.microsoft.com/office/drawing/2014/main" id="{A1C31D53-C103-4806-AC68-C5EFF37DC2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71550" y="4076700"/>
            <a:ext cx="6515100" cy="1025525"/>
          </a:xfrm>
        </p:spPr>
        <p:txBody>
          <a:bodyPr/>
          <a:lstStyle/>
          <a:p>
            <a:pPr algn="just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b="1"/>
              <a:t>选择</a:t>
            </a:r>
            <a:r>
              <a:rPr lang="en-US" altLang="zh-CN" b="1"/>
              <a:t>Create a blank project</a:t>
            </a: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4900B177-7C09-41F4-B81A-611A13B6A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2422525"/>
            <a:ext cx="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4F384721-E62C-4A3E-AA9F-FC7B9AFDF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579688"/>
            <a:ext cx="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2" name="Rectangle 9">
            <a:extLst>
              <a:ext uri="{FF2B5EF4-FFF2-40B4-BE49-F238E27FC236}">
                <a16:creationId xmlns:a16="http://schemas.microsoft.com/office/drawing/2014/main" id="{C689BF92-48FE-424A-B5C1-B63B259B8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550" y="3079750"/>
            <a:ext cx="1957388" cy="34925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2F26C05-925B-4B2D-8035-25DFDD2201FB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404813"/>
            <a:ext cx="8255000" cy="4572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4">
            <a:extLst>
              <a:ext uri="{FF2B5EF4-FFF2-40B4-BE49-F238E27FC236}">
                <a16:creationId xmlns:a16="http://schemas.microsoft.com/office/drawing/2014/main" id="{8FE6695B-E8B4-473F-A99F-BA513BD9C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1152525"/>
            <a:ext cx="7158038" cy="550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3">
            <a:extLst>
              <a:ext uri="{FF2B5EF4-FFF2-40B4-BE49-F238E27FC236}">
                <a16:creationId xmlns:a16="http://schemas.microsoft.com/office/drawing/2014/main" id="{7F302DC0-7530-4292-8D30-9AC3623BA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463" y="1516063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20484" name="AutoShape 5">
            <a:extLst>
              <a:ext uri="{FF2B5EF4-FFF2-40B4-BE49-F238E27FC236}">
                <a16:creationId xmlns:a16="http://schemas.microsoft.com/office/drawing/2014/main" id="{A5529072-AA41-4DC8-9A3F-82B67DCF1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1341438"/>
            <a:ext cx="2346325" cy="503237"/>
          </a:xfrm>
          <a:prstGeom prst="wedgeRectCallout">
            <a:avLst>
              <a:gd name="adj1" fmla="val -51273"/>
              <a:gd name="adj2" fmla="val 127259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kumimoji="1" lang="zh-CN" altLang="en-GB" sz="2400">
                <a:solidFill>
                  <a:schemeClr val="tx2"/>
                </a:solidFill>
                <a:latin typeface="宋体" panose="02010600030101010101" pitchFamily="2" charset="-122"/>
              </a:rPr>
              <a:t>电路图编辑窗口</a:t>
            </a:r>
            <a:endParaRPr kumimoji="1" lang="zh-CN" altLang="en-US" sz="24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0485" name="AutoShape 6">
            <a:extLst>
              <a:ext uri="{FF2B5EF4-FFF2-40B4-BE49-F238E27FC236}">
                <a16:creationId xmlns:a16="http://schemas.microsoft.com/office/drawing/2014/main" id="{FFFEB0E9-09A2-4C41-8FDF-86262C983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635375"/>
            <a:ext cx="2484437" cy="644525"/>
          </a:xfrm>
          <a:prstGeom prst="wedgeRectCallout">
            <a:avLst>
              <a:gd name="adj1" fmla="val -6028"/>
              <a:gd name="adj2" fmla="val -12537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kumimoji="1" lang="zh-CN" altLang="en-GB" sz="2400">
                <a:solidFill>
                  <a:schemeClr val="tx2"/>
                </a:solidFill>
                <a:latin typeface="宋体" panose="02010600030101010101" pitchFamily="2" charset="-122"/>
              </a:rPr>
              <a:t>项目管理器窗口</a:t>
            </a:r>
            <a:endParaRPr kumimoji="1" lang="zh-CN" altLang="en-US" sz="24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0486" name="AutoShape 7">
            <a:extLst>
              <a:ext uri="{FF2B5EF4-FFF2-40B4-BE49-F238E27FC236}">
                <a16:creationId xmlns:a16="http://schemas.microsoft.com/office/drawing/2014/main" id="{A6969CE5-FA71-4FCC-93D8-741939D95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876925"/>
            <a:ext cx="2225675" cy="579438"/>
          </a:xfrm>
          <a:prstGeom prst="wedgeRectCallout">
            <a:avLst>
              <a:gd name="adj1" fmla="val -38204"/>
              <a:gd name="adj2" fmla="val -10519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信息查看窗口</a:t>
            </a:r>
            <a:r>
              <a:rPr kumimoji="1" lang="zh-CN" altLang="en-US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B26D899-815E-4096-83C5-E5BB0AD01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468313"/>
            <a:ext cx="6170613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页脚占位符 2">
            <a:extLst>
              <a:ext uri="{FF2B5EF4-FFF2-40B4-BE49-F238E27FC236}">
                <a16:creationId xmlns:a16="http://schemas.microsoft.com/office/drawing/2014/main" id="{F694B8CF-0C04-4A8A-A5C4-204CD3CCC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9D96107-11F3-4335-9E10-6B9A5A4796BE}" type="slidenum">
              <a:rPr lang="en-US" altLang="zh-CN" b="0" smtClean="0">
                <a:latin typeface="微软雅黑" panose="020B0503020204020204" pitchFamily="34" charset="-122"/>
              </a:rPr>
              <a:pPr/>
              <a:t>18</a:t>
            </a:fld>
            <a:endParaRPr lang="en-US" altLang="zh-CN" b="0">
              <a:latin typeface="微软雅黑" panose="020B0503020204020204" pitchFamily="34" charset="-122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D7B32BB-E6BC-465A-B796-D3C2C267B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966913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</a:endParaRPr>
          </a:p>
        </p:txBody>
      </p:sp>
      <p:graphicFrame>
        <p:nvGraphicFramePr>
          <p:cNvPr id="21508" name="Object 3">
            <a:extLst>
              <a:ext uri="{FF2B5EF4-FFF2-40B4-BE49-F238E27FC236}">
                <a16:creationId xmlns:a16="http://schemas.microsoft.com/office/drawing/2014/main" id="{E385D0DF-4615-47ED-B4CD-E29ADFE9E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203632"/>
              </p:ext>
            </p:extLst>
          </p:nvPr>
        </p:nvGraphicFramePr>
        <p:xfrm>
          <a:off x="0" y="971550"/>
          <a:ext cx="8859838" cy="569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r:id="rId3" imgW="5172797" imgH="3323810" progId="Paint.Picture">
                  <p:embed/>
                </p:oleObj>
              </mc:Choice>
              <mc:Fallback>
                <p:oleObj r:id="rId3" imgW="5172797" imgH="332381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71550"/>
                        <a:ext cx="8859838" cy="569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Rectangle 4">
            <a:extLst>
              <a:ext uri="{FF2B5EF4-FFF2-40B4-BE49-F238E27FC236}">
                <a16:creationId xmlns:a16="http://schemas.microsoft.com/office/drawing/2014/main" id="{89A3CCD3-06C9-4597-A781-05EAABB45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287337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12800" indent="-8128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1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kumimoji="1" lang="zh-CN" altLang="en-US" sz="32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绘图快捷键</a:t>
            </a:r>
          </a:p>
        </p:txBody>
      </p:sp>
      <p:sp>
        <p:nvSpPr>
          <p:cNvPr id="21510" name="Oval 5">
            <a:extLst>
              <a:ext uri="{FF2B5EF4-FFF2-40B4-BE49-F238E27FC236}">
                <a16:creationId xmlns:a16="http://schemas.microsoft.com/office/drawing/2014/main" id="{A25362EC-27E5-4CFE-ABA4-8545D4667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3379788"/>
            <a:ext cx="2695575" cy="12414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D45B861-93DC-4FFD-94BD-BD481EC61C5F}"/>
              </a:ext>
            </a:extLst>
          </p:cNvPr>
          <p:cNvSpPr/>
          <p:nvPr/>
        </p:nvSpPr>
        <p:spPr bwMode="auto">
          <a:xfrm>
            <a:off x="323528" y="3789040"/>
            <a:ext cx="1656184" cy="504056"/>
          </a:xfrm>
          <a:prstGeom prst="round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6AAD1D9-F579-4DE4-82AA-E4519AB946C4}"/>
              </a:ext>
            </a:extLst>
          </p:cNvPr>
          <p:cNvSpPr/>
          <p:nvPr/>
        </p:nvSpPr>
        <p:spPr bwMode="auto">
          <a:xfrm>
            <a:off x="3491880" y="3817144"/>
            <a:ext cx="360040" cy="504056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>
            <a:extLst>
              <a:ext uri="{FF2B5EF4-FFF2-40B4-BE49-F238E27FC236}">
                <a16:creationId xmlns:a16="http://schemas.microsoft.com/office/drawing/2014/main" id="{EFC8AFD3-8536-4F43-8ED7-E5369AEE6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52513"/>
            <a:ext cx="4895850" cy="5857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320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Place-Part</a:t>
            </a: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命令或快捷键 </a:t>
            </a:r>
            <a:endParaRPr lang="en-US" altLang="zh-CN" sz="3200" dirty="0">
              <a:solidFill>
                <a:schemeClr val="accent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2531" name="Object 12">
            <a:extLst>
              <a:ext uri="{FF2B5EF4-FFF2-40B4-BE49-F238E27FC236}">
                <a16:creationId xmlns:a16="http://schemas.microsoft.com/office/drawing/2014/main" id="{92C5BA74-9F78-4A39-A144-A4A3B37FDD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7950" y="1182688"/>
          <a:ext cx="4111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r:id="rId3" imgW="209524" imgH="181096" progId="Paint.Picture">
                  <p:embed/>
                </p:oleObj>
              </mc:Choice>
              <mc:Fallback>
                <p:oleObj r:id="rId3" imgW="209524" imgH="181096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1182688"/>
                        <a:ext cx="4111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FB13054D-1D4E-4109-B500-BAA9DDA73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52450"/>
            <a:ext cx="6170612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9914AE-3087-4CEC-A20F-64E9EC9B2ECF}"/>
              </a:ext>
            </a:extLst>
          </p:cNvPr>
          <p:cNvSpPr txBox="1"/>
          <p:nvPr/>
        </p:nvSpPr>
        <p:spPr>
          <a:xfrm>
            <a:off x="611188" y="1701453"/>
            <a:ext cx="74168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）添加元件库：</a:t>
            </a:r>
            <a:r>
              <a:rPr kumimoji="1"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Analog </a:t>
            </a: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kumimoji="1" lang="en-US" altLang="zh-CN" sz="2400" dirty="0" err="1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pwrmos</a:t>
            </a:r>
            <a:r>
              <a:rPr kumimoji="1" lang="en-US" altLang="zh-CN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kumimoji="1"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Source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22534" name="图片 4">
            <a:extLst>
              <a:ext uri="{FF2B5EF4-FFF2-40B4-BE49-F238E27FC236}">
                <a16:creationId xmlns:a16="http://schemas.microsoft.com/office/drawing/2014/main" id="{C95DD2D5-5229-4E65-A302-FC1229E165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80890"/>
            <a:ext cx="3956050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图片 6">
            <a:extLst>
              <a:ext uri="{FF2B5EF4-FFF2-40B4-BE49-F238E27FC236}">
                <a16:creationId xmlns:a16="http://schemas.microsoft.com/office/drawing/2014/main" id="{4B631C89-C295-4F3C-95F4-6A80BE0813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326928"/>
            <a:ext cx="4273550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C519EAD-CD95-48B1-9FFE-A3B69CD340F8}"/>
              </a:ext>
            </a:extLst>
          </p:cNvPr>
          <p:cNvSpPr txBox="1"/>
          <p:nvPr/>
        </p:nvSpPr>
        <p:spPr>
          <a:xfrm>
            <a:off x="468313" y="5661025"/>
            <a:ext cx="7416800" cy="8925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r>
              <a:rPr kumimoji="1"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提取</a:t>
            </a:r>
            <a:r>
              <a:rPr kumimoji="1" lang="zh-CN" altLang="en-US" sz="2400" dirty="0">
                <a:latin typeface="+mn-ea"/>
                <a:ea typeface="+mn-ea"/>
              </a:rPr>
              <a:t>元件</a:t>
            </a:r>
            <a:r>
              <a:rPr kumimoji="1" lang="en-US" altLang="zh-CN" sz="2400" dirty="0">
                <a:latin typeface="+mn-ea"/>
                <a:ea typeface="+mn-ea"/>
              </a:rPr>
              <a:t> </a:t>
            </a:r>
            <a:r>
              <a:rPr kumimoji="1" lang="zh-CN" altLang="en-US" sz="2400" dirty="0">
                <a:latin typeface="+mn-ea"/>
                <a:ea typeface="+mn-ea"/>
              </a:rPr>
              <a:t>：如 </a:t>
            </a:r>
            <a:r>
              <a:rPr kumimoji="1"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m2n7000</a:t>
            </a:r>
            <a:endParaRPr kumimoji="1"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98CAA8-6A1B-4CDB-A120-875DEE905F0F}"/>
              </a:ext>
            </a:extLst>
          </p:cNvPr>
          <p:cNvSpPr/>
          <p:nvPr/>
        </p:nvSpPr>
        <p:spPr>
          <a:xfrm>
            <a:off x="6443439" y="4168309"/>
            <a:ext cx="2232248" cy="1938992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0033CC"/>
                </a:solidFill>
              </a:rPr>
              <a:t>必须加</a:t>
            </a:r>
            <a:r>
              <a:rPr lang="en-US" altLang="zh-CN" sz="2400">
                <a:solidFill>
                  <a:srgbClr val="0033CC"/>
                </a:solidFill>
              </a:rPr>
              <a:t>Capture\</a:t>
            </a:r>
          </a:p>
          <a:p>
            <a:r>
              <a:rPr lang="en-US" altLang="zh-CN" sz="2400">
                <a:solidFill>
                  <a:srgbClr val="0033CC"/>
                </a:solidFill>
              </a:rPr>
              <a:t>Library\</a:t>
            </a:r>
          </a:p>
          <a:p>
            <a:r>
              <a:rPr lang="en-US" altLang="zh-CN" sz="2400">
                <a:solidFill>
                  <a:srgbClr val="0033CC"/>
                </a:solidFill>
              </a:rPr>
              <a:t>Pspice</a:t>
            </a:r>
            <a:r>
              <a:rPr lang="zh-CN" altLang="en-US" sz="2400">
                <a:solidFill>
                  <a:srgbClr val="0033CC"/>
                </a:solidFill>
              </a:rPr>
              <a:t>文件夹下的可仿真库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id="{122AD05F-8D82-4987-BEAB-6FDC40084A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1244600"/>
            <a:ext cx="8280400" cy="2184400"/>
          </a:xfrm>
        </p:spPr>
        <p:txBody>
          <a:bodyPr/>
          <a:lstStyle/>
          <a:p>
            <a:pPr marL="342900" indent="-342900" eaLnBrk="1" hangingPunct="1"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取放电源与接地符号</a:t>
            </a:r>
            <a:br>
              <a:rPr lang="zh-CN" altLang="en-US" sz="32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）取放电源符号</a:t>
            </a:r>
            <a:br>
              <a:rPr lang="en-US" altLang="zh-CN" sz="240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zh-CN" sz="240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Place-Part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SOURCE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库中取电压源或电流源。</a:t>
            </a:r>
            <a:br>
              <a:rPr lang="zh-CN" altLang="en-US" sz="2400" dirty="0">
                <a:solidFill>
                  <a:srgbClr val="990033"/>
                </a:solidFill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）取放接地符号</a:t>
            </a:r>
            <a:b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zh-CN" altLang="en-US" sz="2400">
                <a:solidFill>
                  <a:srgbClr val="990033"/>
                </a:solidFill>
                <a:latin typeface="+mn-ea"/>
                <a:ea typeface="+mn-ea"/>
                <a:cs typeface="Times New Roman" panose="02020603050405020304" pitchFamily="18" charset="0"/>
              </a:rPr>
              <a:t>启动</a:t>
            </a:r>
            <a:r>
              <a:rPr lang="en-US" altLang="zh-CN" sz="2400">
                <a:solidFill>
                  <a:srgbClr val="000099"/>
                </a:solidFill>
                <a:latin typeface="+mn-ea"/>
                <a:ea typeface="+mn-ea"/>
                <a:cs typeface="Times New Roman" panose="02020603050405020304" pitchFamily="18" charset="0"/>
              </a:rPr>
              <a:t>Place-Groud</a:t>
            </a:r>
            <a:r>
              <a:rPr lang="zh-CN" altLang="en-US" sz="2400" dirty="0">
                <a:solidFill>
                  <a:srgbClr val="990033"/>
                </a:solidFill>
                <a:latin typeface="+mn-ea"/>
                <a:ea typeface="+mn-ea"/>
                <a:cs typeface="Times New Roman" panose="02020603050405020304" pitchFamily="18" charset="0"/>
              </a:rPr>
              <a:t>，或按对应的绘图快捷键     ，出现如图所示的选择框。在</a:t>
            </a:r>
            <a:r>
              <a:rPr lang="en-US" altLang="zh-CN" sz="2400" dirty="0">
                <a:solidFill>
                  <a:srgbClr val="000099"/>
                </a:solidFill>
                <a:latin typeface="+mn-ea"/>
                <a:ea typeface="+mn-ea"/>
                <a:cs typeface="Times New Roman" panose="02020603050405020304" pitchFamily="18" charset="0"/>
              </a:rPr>
              <a:t>SOURCE</a:t>
            </a:r>
            <a:r>
              <a:rPr lang="zh-CN" altLang="en-US" sz="2400" dirty="0">
                <a:solidFill>
                  <a:srgbClr val="000099"/>
                </a:solidFill>
                <a:latin typeface="+mn-ea"/>
                <a:ea typeface="+mn-ea"/>
                <a:cs typeface="Times New Roman" panose="02020603050405020304" pitchFamily="18" charset="0"/>
              </a:rPr>
              <a:t>库中取“</a:t>
            </a:r>
            <a:r>
              <a:rPr lang="en-US" altLang="zh-CN" sz="2400" dirty="0">
                <a:solidFill>
                  <a:srgbClr val="000099"/>
                </a:solidFill>
                <a:latin typeface="+mn-ea"/>
                <a:ea typeface="+mn-ea"/>
                <a:cs typeface="Times New Roman" panose="02020603050405020304" pitchFamily="18" charset="0"/>
              </a:rPr>
              <a:t>0”</a:t>
            </a:r>
            <a:r>
              <a:rPr lang="zh-CN" altLang="en-US" sz="2400" dirty="0">
                <a:solidFill>
                  <a:srgbClr val="990033"/>
                </a:solidFill>
                <a:latin typeface="+mn-ea"/>
                <a:ea typeface="+mn-ea"/>
                <a:cs typeface="Times New Roman" panose="02020603050405020304" pitchFamily="18" charset="0"/>
              </a:rPr>
              <a:t>符号。</a:t>
            </a:r>
          </a:p>
        </p:txBody>
      </p:sp>
      <p:graphicFrame>
        <p:nvGraphicFramePr>
          <p:cNvPr id="23555" name="Object 3">
            <a:extLst>
              <a:ext uri="{FF2B5EF4-FFF2-40B4-BE49-F238E27FC236}">
                <a16:creationId xmlns:a16="http://schemas.microsoft.com/office/drawing/2014/main" id="{B8A149DE-D97D-4F27-98A7-A47B8E0975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1313" y="2636838"/>
          <a:ext cx="5365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r:id="rId3" imgW="181096" imgH="161990" progId="Paint.Picture">
                  <p:embed/>
                </p:oleObj>
              </mc:Choice>
              <mc:Fallback>
                <p:oleObj r:id="rId3" imgW="181096" imgH="16199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313" y="2636838"/>
                        <a:ext cx="53657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F1784EAC-8935-43CC-8540-0B0933F04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52450"/>
            <a:ext cx="6170612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  <p:pic>
        <p:nvPicPr>
          <p:cNvPr id="23557" name="图片 2">
            <a:extLst>
              <a:ext uri="{FF2B5EF4-FFF2-40B4-BE49-F238E27FC236}">
                <a16:creationId xmlns:a16="http://schemas.microsoft.com/office/drawing/2014/main" id="{27F74691-E746-4081-BDB0-E424E4EC3D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3500438"/>
            <a:ext cx="4114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>
            <a:extLst>
              <a:ext uri="{FF2B5EF4-FFF2-40B4-BE49-F238E27FC236}">
                <a16:creationId xmlns:a16="http://schemas.microsoft.com/office/drawing/2014/main" id="{E1CD538D-2000-42F9-8821-68F9E20F05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1125538"/>
            <a:ext cx="7299325" cy="584200"/>
          </a:xfr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元件移动、旋转和删除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221425A-B401-4355-AF98-A8D82878A0A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1175" y="1831975"/>
            <a:ext cx="8121650" cy="4019550"/>
          </a:xfrm>
        </p:spPr>
        <p:txBody>
          <a:bodyPr>
            <a:spAutoFit/>
          </a:bodyPr>
          <a:lstStyle/>
          <a:p>
            <a:pPr marL="0" indent="0" algn="just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）选中元器件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：用鼠标左键单击，此时元器件变为红色</a:t>
            </a: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）移动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：压住鼠标左键拖到合适位置，松开鼠标左键</a:t>
            </a: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）旋转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：菜单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Edit/Rotate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（或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）翻转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：菜单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Edit/mirror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28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）删除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：选择菜单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Edit/cut 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；或按键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Delete</a:t>
            </a:r>
            <a:endParaRPr lang="en-US" altLang="zh-CN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580" name="Text Box 7">
            <a:extLst>
              <a:ext uri="{FF2B5EF4-FFF2-40B4-BE49-F238E27FC236}">
                <a16:creationId xmlns:a16="http://schemas.microsoft.com/office/drawing/2014/main" id="{88B37558-7139-4E72-8EB5-9E3FD90E8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808663"/>
            <a:ext cx="6408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注意选中元件后</a:t>
            </a:r>
            <a:r>
              <a:rPr lang="en-US" altLang="zh-CN" sz="2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鼠标右键的使用</a:t>
            </a:r>
            <a:endParaRPr lang="zh-CN" altLang="en-US" sz="280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BA9D449-F9E1-4D45-9952-4706CB65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52450"/>
            <a:ext cx="6170612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Rectangle 3">
            <a:extLst>
              <a:ext uri="{FF2B5EF4-FFF2-40B4-BE49-F238E27FC236}">
                <a16:creationId xmlns:a16="http://schemas.microsoft.com/office/drawing/2014/main" id="{A319D962-7956-4A8C-80B0-8733B2C985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754188"/>
            <a:ext cx="8497887" cy="38862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+mn-ea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）</a:t>
            </a:r>
            <a:r>
              <a:rPr lang="zh-CN" altLang="en-US" sz="2800" b="1" dirty="0">
                <a:solidFill>
                  <a:srgbClr val="000099"/>
                </a:solidFill>
                <a:latin typeface="+mn-ea"/>
              </a:rPr>
              <a:t>画线：</a:t>
            </a:r>
            <a:r>
              <a:rPr lang="zh-CN" altLang="en-US" sz="2800" b="1" dirty="0">
                <a:latin typeface="+mn-ea"/>
              </a:rPr>
              <a:t>将光标移到需要连线的起点，单击左键（此时会拖着</a:t>
            </a:r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根线）；移动鼠标到所需位置，单击左键，如此循环，直到连线的终点（某元件的</a:t>
            </a:r>
            <a:r>
              <a:rPr lang="zh-CN" altLang="en-US" sz="2800" b="1">
                <a:latin typeface="+mn-ea"/>
              </a:rPr>
              <a:t>引脚）</a:t>
            </a:r>
            <a:endParaRPr lang="en-US" altLang="zh-CN" sz="2800" b="1">
              <a:latin typeface="+mn-ea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chemeClr val="tx2"/>
                </a:solidFill>
                <a:latin typeface="+mn-ea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+mn-ea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）</a:t>
            </a:r>
            <a:r>
              <a:rPr lang="zh-CN" altLang="en-US" sz="2800" b="1" dirty="0">
                <a:solidFill>
                  <a:srgbClr val="000099"/>
                </a:solidFill>
                <a:latin typeface="+mn-ea"/>
              </a:rPr>
              <a:t>结束：</a:t>
            </a:r>
            <a:r>
              <a:rPr lang="zh-CN" altLang="en-US" sz="2800" b="1" dirty="0">
                <a:latin typeface="+mn-ea"/>
              </a:rPr>
              <a:t>单击鼠标右键</a:t>
            </a:r>
            <a:r>
              <a:rPr lang="zh-CN" altLang="en-US" sz="2800" b="1">
                <a:latin typeface="+mn-ea"/>
              </a:rPr>
              <a:t>结束 </a:t>
            </a:r>
            <a:endParaRPr lang="en-US" altLang="zh-CN" sz="2800" b="1">
              <a:latin typeface="+mn-ea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  <a:defRPr/>
            </a:pP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2800">
                <a:latin typeface="华文楷体" panose="02010600040101010101" pitchFamily="2" charset="-122"/>
                <a:ea typeface="华文楷体" panose="02010600040101010101" pitchFamily="2" charset="-122"/>
              </a:rPr>
              <a:t>** 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画非连续的线，必须先结束画线态再定位又开始</a:t>
            </a:r>
            <a:endParaRPr lang="zh-CN" altLang="en-US" sz="2800" dirty="0">
              <a:latin typeface="+mn-ea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+mn-ea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）</a:t>
            </a:r>
            <a:r>
              <a:rPr lang="zh-CN" altLang="en-US" sz="2800" b="1" dirty="0">
                <a:solidFill>
                  <a:srgbClr val="000099"/>
                </a:solidFill>
                <a:latin typeface="+mn-ea"/>
              </a:rPr>
              <a:t>移动、旋转和删除：</a:t>
            </a:r>
            <a:r>
              <a:rPr lang="zh-CN" altLang="en-US" sz="2800" b="1" dirty="0">
                <a:latin typeface="+mn-ea"/>
              </a:rPr>
              <a:t>与元件操作相同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168CF13-992F-4265-A9D5-B66DF235D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6250"/>
            <a:ext cx="6170612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63B1F94-59F8-4F51-BFBF-D871A3E67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5538"/>
            <a:ext cx="65532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连线：</a:t>
            </a:r>
            <a:r>
              <a:rPr lang="en-US" altLang="zh-CN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Place/Wire</a:t>
            </a: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命令或快捷键 </a:t>
            </a:r>
            <a:endParaRPr lang="en-US" altLang="zh-CN" sz="3200" dirty="0">
              <a:solidFill>
                <a:schemeClr val="accent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E634D442-73F2-4825-9023-982DBEE0EA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8925" y="1168400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r:id="rId3" imgW="181096" imgH="181096" progId="Paint.Picture">
                  <p:embed/>
                </p:oleObj>
              </mc:Choice>
              <mc:Fallback>
                <p:oleObj r:id="rId3" imgW="181096" imgH="181096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8925" y="1168400"/>
                        <a:ext cx="5048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>
            <a:extLst>
              <a:ext uri="{FF2B5EF4-FFF2-40B4-BE49-F238E27FC236}">
                <a16:creationId xmlns:a16="http://schemas.microsoft.com/office/drawing/2014/main" id="{5198F40C-841A-4382-ADEB-0ED7E6DDD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1616075"/>
            <a:ext cx="8274050" cy="479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 例如：想把输出端的节点起名为</a:t>
            </a:r>
            <a:r>
              <a:rPr kumimoji="1" lang="en-US" altLang="zh-CN" sz="2400">
                <a:solidFill>
                  <a:srgbClr val="660033"/>
                </a:solidFill>
                <a:latin typeface="Times New Roman" panose="02020603050405020304" pitchFamily="18" charset="0"/>
              </a:rPr>
              <a:t>Vooooooo</a:t>
            </a: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。步骤如下：</a:t>
            </a:r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9EB45515-F419-495F-B0EC-CC9AC85D7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2151063"/>
            <a:ext cx="8274050" cy="90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kumimoji="1" lang="en-US" altLang="zh-CN" sz="2400">
                <a:solidFill>
                  <a:srgbClr val="660033"/>
                </a:solidFill>
                <a:latin typeface="宋体" panose="02010600030101010101" pitchFamily="2" charset="-122"/>
              </a:rPr>
              <a:t>①</a:t>
            </a: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启动命令，屏幕上出现设置框，在设置框中键入节点名（例</a:t>
            </a:r>
            <a:r>
              <a:rPr kumimoji="1" lang="en-US" altLang="zh-CN" sz="2400">
                <a:solidFill>
                  <a:srgbClr val="660033"/>
                </a:solidFill>
                <a:latin typeface="Times New Roman" panose="02020603050405020304" pitchFamily="18" charset="0"/>
              </a:rPr>
              <a:t>Vooooooo</a:t>
            </a: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）。</a:t>
            </a:r>
          </a:p>
        </p:txBody>
      </p:sp>
      <p:graphicFrame>
        <p:nvGraphicFramePr>
          <p:cNvPr id="26628" name="Object 7">
            <a:extLst>
              <a:ext uri="{FF2B5EF4-FFF2-40B4-BE49-F238E27FC236}">
                <a16:creationId xmlns:a16="http://schemas.microsoft.com/office/drawing/2014/main" id="{35B58EEE-E1F8-46FA-9F9A-EB98373EB6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9788" y="1150938"/>
          <a:ext cx="4079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" r:id="rId3" imgW="200159" imgH="209524" progId="Paint.Picture">
                  <p:embed/>
                </p:oleObj>
              </mc:Choice>
              <mc:Fallback>
                <p:oleObj r:id="rId3" imgW="200159" imgH="209524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9788" y="1150938"/>
                        <a:ext cx="4079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9">
            <a:extLst>
              <a:ext uri="{FF2B5EF4-FFF2-40B4-BE49-F238E27FC236}">
                <a16:creationId xmlns:a16="http://schemas.microsoft.com/office/drawing/2014/main" id="{7D519C3B-4488-4FF4-9472-1A16E1A74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3068638"/>
            <a:ext cx="8075612" cy="235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en-US" altLang="zh-CN" sz="2400">
                <a:solidFill>
                  <a:srgbClr val="660033"/>
                </a:solidFill>
                <a:latin typeface="宋体" panose="02010600030101010101" pitchFamily="2" charset="-122"/>
              </a:rPr>
              <a:t>②</a:t>
            </a:r>
            <a:r>
              <a:rPr kumimoji="1" lang="en-US" altLang="zh-CN" sz="2400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按</a:t>
            </a:r>
            <a:r>
              <a:rPr kumimoji="1" lang="en-US" altLang="zh-CN" sz="2400">
                <a:solidFill>
                  <a:srgbClr val="660033"/>
                </a:solidFill>
                <a:latin typeface="Times New Roman" panose="02020603050405020304" pitchFamily="18" charset="0"/>
              </a:rPr>
              <a:t>OK</a:t>
            </a: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键，则光标处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  附着一个小方框，光标尖</a:t>
            </a:r>
            <a:endParaRPr kumimoji="1" lang="en-US" altLang="zh-CN" sz="2400">
              <a:solidFill>
                <a:srgbClr val="66003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en-US" altLang="zh-CN" sz="2400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移至设置节点名的连线，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 点鼠标左键，新节点名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zh-CN" alt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 即出现在该位置。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29EFBB7-44F0-43CF-897A-08375D0FF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93713"/>
            <a:ext cx="6170613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4F1CE6D1-3491-45F6-B3C6-0737E0AB0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1058863"/>
            <a:ext cx="8075613" cy="5857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Ø"/>
              <a:defRPr/>
            </a:pPr>
            <a:r>
              <a:rPr kumimoji="1" lang="zh-CN" altLang="en-US" sz="32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设置节点名</a:t>
            </a: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</a:rPr>
              <a:t>Place/Net Alias</a:t>
            </a: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命令或快捷键 </a:t>
            </a:r>
            <a:endParaRPr lang="en-US" altLang="zh-CN" sz="3200" dirty="0">
              <a:solidFill>
                <a:schemeClr val="accent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6632" name="图片 1">
            <a:extLst>
              <a:ext uri="{FF2B5EF4-FFF2-40B4-BE49-F238E27FC236}">
                <a16:creationId xmlns:a16="http://schemas.microsoft.com/office/drawing/2014/main" id="{A70FEB27-C6BA-4E84-82DD-4D4D9DFB51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613" y="3051175"/>
            <a:ext cx="402907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E4C02FBC-4EF6-4D54-B1C9-0DC1D78B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67" y="5559488"/>
            <a:ext cx="8274050" cy="479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kumimoji="1" lang="en-US" altLang="zh-CN" sz="2400">
                <a:latin typeface="宋体" panose="02010600030101010101" pitchFamily="2" charset="-122"/>
              </a:rPr>
              <a:t>③</a:t>
            </a:r>
            <a:r>
              <a:rPr kumimoji="1" lang="zh-CN" altLang="en-US" sz="2400">
                <a:latin typeface="Times New Roman" panose="02020603050405020304" pitchFamily="18" charset="0"/>
              </a:rPr>
              <a:t>务必注意：</a:t>
            </a:r>
            <a:r>
              <a:rPr kumimoji="1"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同一节点名的节点相互短路</a:t>
            </a:r>
            <a:r>
              <a:rPr kumimoji="1" lang="zh-CN" altLang="en-US" sz="2400">
                <a:latin typeface="Times New Roman" panose="02020603050405020304" pitchFamily="18" charset="0"/>
              </a:rPr>
              <a:t>，不论图上呈现</a:t>
            </a: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D332FA9-91A9-43E2-AA3F-7C2978FB15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08000" y="1124744"/>
            <a:ext cx="6715125" cy="584200"/>
          </a:xfr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修改元器件参数 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38B3B02-BD6A-4BCF-8119-F151D351F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01825"/>
            <a:ext cx="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6755F4A-D399-4816-A7F8-4B3AF5646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93713"/>
            <a:ext cx="6170613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0CD729-5133-49EC-89CC-8E8D170967E0}"/>
              </a:ext>
            </a:extLst>
          </p:cNvPr>
          <p:cNvSpPr/>
          <p:nvPr/>
        </p:nvSpPr>
        <p:spPr>
          <a:xfrm>
            <a:off x="507999" y="2690917"/>
            <a:ext cx="55131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2. Capture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—Edit Properties</a:t>
            </a:r>
          </a:p>
          <a:p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         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</a:rPr>
              <a:t>元器件属性编辑</a:t>
            </a:r>
            <a:r>
              <a:rPr lang="zh-CN" altLang="en-US" sz="2800">
                <a:solidFill>
                  <a:srgbClr val="C00000"/>
                </a:solidFill>
                <a:latin typeface="宋体" panose="02010600030101010101" pitchFamily="2" charset="-122"/>
              </a:rPr>
              <a:t>弹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</a:rPr>
              <a:t>窗</a:t>
            </a:r>
            <a:endParaRPr lang="zh-CN" altLang="en-US" sz="28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2A7608-3297-4A6B-A0D5-D069235EC82A}"/>
              </a:ext>
            </a:extLst>
          </p:cNvPr>
          <p:cNvSpPr/>
          <p:nvPr/>
        </p:nvSpPr>
        <p:spPr>
          <a:xfrm>
            <a:off x="508000" y="1661541"/>
            <a:ext cx="56481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1. Capture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图显参数</a:t>
            </a:r>
            <a:endParaRPr lang="en-US" altLang="zh-CN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</a:rPr>
              <a:t>         电路图主界面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CD7D1F-1B86-4200-9874-CC3BC7F1488E}"/>
              </a:ext>
            </a:extLst>
          </p:cNvPr>
          <p:cNvSpPr/>
          <p:nvPr/>
        </p:nvSpPr>
        <p:spPr>
          <a:xfrm>
            <a:off x="533400" y="4707141"/>
            <a:ext cx="5936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latin typeface="+mn-ea"/>
                <a:ea typeface="+mn-ea"/>
              </a:rPr>
              <a:t>3. Capture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</a:rPr>
              <a:t>—Edit</a:t>
            </a:r>
            <a:r>
              <a:rPr lang="en-US" altLang="zh-CN" sz="2800" b="1" dirty="0">
                <a:latin typeface="+mn-ea"/>
                <a:ea typeface="+mn-ea"/>
              </a:rPr>
              <a:t> Pspice Model </a:t>
            </a:r>
          </a:p>
          <a:p>
            <a:r>
              <a:rPr lang="zh-CN" altLang="en-US" sz="2800" b="1">
                <a:solidFill>
                  <a:srgbClr val="C00000"/>
                </a:solidFill>
              </a:rPr>
              <a:t>              </a:t>
            </a:r>
            <a:r>
              <a:rPr lang="zh-CN" altLang="en-US" sz="2800">
                <a:solidFill>
                  <a:srgbClr val="C00000"/>
                </a:solidFill>
              </a:rPr>
              <a:t>转到</a:t>
            </a:r>
            <a:r>
              <a:rPr lang="zh-CN" altLang="en-US" sz="2800" b="1">
                <a:solidFill>
                  <a:srgbClr val="C00000"/>
                </a:solidFill>
              </a:rPr>
              <a:t>模型</a:t>
            </a:r>
            <a:r>
              <a:rPr lang="zh-CN" altLang="en-US" sz="2800" b="1" dirty="0">
                <a:solidFill>
                  <a:srgbClr val="C00000"/>
                </a:solidFill>
              </a:rPr>
              <a:t>编辑器界面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pic>
        <p:nvPicPr>
          <p:cNvPr id="12" name="Picture 50">
            <a:extLst>
              <a:ext uri="{FF2B5EF4-FFF2-40B4-BE49-F238E27FC236}">
                <a16:creationId xmlns:a16="http://schemas.microsoft.com/office/drawing/2014/main" id="{D2EC1CDE-C6E8-438A-8E2E-CE838A216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9" t="34918" r="56554" b="9601"/>
          <a:stretch>
            <a:fillRect/>
          </a:stretch>
        </p:blipFill>
        <p:spPr bwMode="auto">
          <a:xfrm>
            <a:off x="7106530" y="675228"/>
            <a:ext cx="1785950" cy="2194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7">
            <a:extLst>
              <a:ext uri="{FF2B5EF4-FFF2-40B4-BE49-F238E27FC236}">
                <a16:creationId xmlns:a16="http://schemas.microsoft.com/office/drawing/2014/main" id="{B3ADA356-B17F-4078-BA54-A1706FF423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658"/>
          <a:stretch/>
        </p:blipFill>
        <p:spPr bwMode="auto">
          <a:xfrm>
            <a:off x="323528" y="3611137"/>
            <a:ext cx="8655821" cy="117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9F28845-14C4-4ACA-83BB-386946E9E7D2}"/>
              </a:ext>
            </a:extLst>
          </p:cNvPr>
          <p:cNvSpPr/>
          <p:nvPr/>
        </p:nvSpPr>
        <p:spPr>
          <a:xfrm>
            <a:off x="5304780" y="1308253"/>
            <a:ext cx="1702792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>
                <a:latin typeface="+mn-ea"/>
              </a:rPr>
              <a:t>VSIN</a:t>
            </a:r>
            <a:r>
              <a:rPr lang="zh-CN" altLang="en-US">
                <a:latin typeface="+mn-ea"/>
              </a:rPr>
              <a:t>信号源：</a:t>
            </a:r>
            <a:endParaRPr lang="en-US" altLang="zh-CN">
              <a:latin typeface="+mn-ea"/>
            </a:endParaRPr>
          </a:p>
          <a:p>
            <a:r>
              <a:rPr lang="en-US" altLang="zh-CN">
                <a:solidFill>
                  <a:srgbClr val="FF0000"/>
                </a:solidFill>
                <a:latin typeface="+mn-ea"/>
              </a:rPr>
              <a:t>AC=15mV</a:t>
            </a:r>
            <a:r>
              <a:rPr lang="zh-CN" altLang="en-US">
                <a:latin typeface="+mn-ea"/>
              </a:rPr>
              <a:t>、</a:t>
            </a:r>
            <a:r>
              <a:rPr lang="en-US" altLang="zh-CN">
                <a:latin typeface="+mn-ea"/>
              </a:rPr>
              <a:t>VOFF=0V</a:t>
            </a:r>
            <a:r>
              <a:rPr lang="zh-CN" altLang="en-US">
                <a:latin typeface="+mn-ea"/>
              </a:rPr>
              <a:t>、</a:t>
            </a:r>
            <a:r>
              <a:rPr lang="en-US" altLang="zh-CN">
                <a:latin typeface="+mn-ea"/>
              </a:rPr>
              <a:t>FREQ=1kHz</a:t>
            </a:r>
            <a:r>
              <a:rPr lang="zh-CN" altLang="en-US">
                <a:latin typeface="+mn-ea"/>
              </a:rPr>
              <a:t>、</a:t>
            </a:r>
            <a:r>
              <a:rPr lang="en-US" altLang="zh-CN">
                <a:latin typeface="+mn-ea"/>
              </a:rPr>
              <a:t>VAMPL=15mV</a:t>
            </a:r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6F8F650-7870-4786-A452-99E8E55FDB5B}"/>
              </a:ext>
            </a:extLst>
          </p:cNvPr>
          <p:cNvSpPr/>
          <p:nvPr/>
        </p:nvSpPr>
        <p:spPr bwMode="auto">
          <a:xfrm>
            <a:off x="1979712" y="4111317"/>
            <a:ext cx="288032" cy="585396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F233E-4C5B-4149-A675-6FA348340E83}"/>
              </a:ext>
            </a:extLst>
          </p:cNvPr>
          <p:cNvSpPr/>
          <p:nvPr/>
        </p:nvSpPr>
        <p:spPr>
          <a:xfrm>
            <a:off x="434305" y="5612006"/>
            <a:ext cx="8275389" cy="10990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400" b="0"/>
              <a:t>.model M2n7000  NMOS(</a:t>
            </a:r>
            <a:r>
              <a:rPr lang="en-US" altLang="zh-CN" sz="1400" b="0">
                <a:solidFill>
                  <a:srgbClr val="FF0000"/>
                </a:solidFill>
              </a:rPr>
              <a:t>Level=3</a:t>
            </a:r>
            <a:r>
              <a:rPr lang="en-US" altLang="zh-CN" sz="1400" b="0"/>
              <a:t> Gamma=0 Delta=0 Eta=0 Theta=0 Kappa=0.2 Vmax=0 Xj=0 Tox=2u Uo=600 Phi=.6 </a:t>
            </a:r>
            <a:r>
              <a:rPr lang="en-US" altLang="zh-CN" sz="1400" b="0">
                <a:solidFill>
                  <a:srgbClr val="FF0000"/>
                </a:solidFill>
              </a:rPr>
              <a:t>Kp=1.073u W=.12 L=2u Rs=20m Vto=1.73 </a:t>
            </a:r>
            <a:r>
              <a:rPr lang="en-US" altLang="zh-CN" sz="1400" b="0"/>
              <a:t>Rd=.5489 Rds=48MEG Cgso=73.61p Cgdo=6.487p Cbd=74.46p Mj=.5 Pb=.8 Fc=.5 Rg=546.2 Is=10f N=1 Rb=1m)</a:t>
            </a:r>
            <a:endParaRPr lang="zh-CN" altLang="en-US" sz="12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2" grpId="0" animBg="1"/>
      <p:bldP spid="3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F14E4B37-82A5-48B3-9B24-2263F1216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93713"/>
            <a:ext cx="6170613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Capture CIS</a:t>
            </a:r>
            <a:r>
              <a:rPr lang="zh-CN" altLang="en-US" sz="3600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绘制电路图  </a:t>
            </a:r>
          </a:p>
        </p:txBody>
      </p:sp>
      <p:pic>
        <p:nvPicPr>
          <p:cNvPr id="28675" name="图片 3">
            <a:extLst>
              <a:ext uri="{FF2B5EF4-FFF2-40B4-BE49-F238E27FC236}">
                <a16:creationId xmlns:a16="http://schemas.microsoft.com/office/drawing/2014/main" id="{6D14CF4E-1184-466A-A568-94C70C0A8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484784"/>
            <a:ext cx="5614988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854005E9-81DF-44A1-B0A2-357186107D83}"/>
              </a:ext>
            </a:extLst>
          </p:cNvPr>
          <p:cNvSpPr/>
          <p:nvPr/>
        </p:nvSpPr>
        <p:spPr bwMode="auto">
          <a:xfrm>
            <a:off x="5219849" y="1916584"/>
            <a:ext cx="649288" cy="936625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28677" name="文本框 5">
            <a:extLst>
              <a:ext uri="{FF2B5EF4-FFF2-40B4-BE49-F238E27FC236}">
                <a16:creationId xmlns:a16="http://schemas.microsoft.com/office/drawing/2014/main" id="{66635FEB-0657-4F39-AD97-9B40195B5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88" y="1412776"/>
            <a:ext cx="2520950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120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</a:rPr>
              <a:t>注意：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</a:rPr>
              <a:t>R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</a:rPr>
              <a:t>g1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</a:rPr>
              <a:t>和插板电路不同，仿真电阻改值方便。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</a:rPr>
              <a:t>）</a:t>
            </a:r>
            <a:r>
              <a:rPr lang="zh-CN" altLang="en-US" sz="2400" b="0" dirty="0">
                <a:latin typeface="华文楷体"/>
                <a:ea typeface="华文楷体"/>
                <a:cs typeface="华文楷体"/>
              </a:rPr>
              <a:t>仿真时输出端必须接负载，否则会报错。（要仿真开路情况。可以将阻值设为很大的值，如</a:t>
            </a:r>
            <a:r>
              <a:rPr lang="en-US" altLang="zh-CN" sz="2400" b="0" dirty="0">
                <a:latin typeface="华文楷体"/>
                <a:ea typeface="华文楷体"/>
                <a:cs typeface="华文楷体"/>
              </a:rPr>
              <a:t>1t</a:t>
            </a:r>
            <a:r>
              <a:rPr lang="zh-CN" altLang="en-US" sz="2400" b="0" dirty="0">
                <a:latin typeface="华文楷体"/>
                <a:ea typeface="华文楷体"/>
                <a:cs typeface="华文楷体"/>
              </a:rPr>
              <a:t>（</a:t>
            </a:r>
            <a:r>
              <a:rPr lang="en-US" altLang="zh-CN" sz="2400" b="0" dirty="0">
                <a:latin typeface="华文楷体"/>
                <a:ea typeface="华文楷体"/>
                <a:cs typeface="华文楷体"/>
              </a:rPr>
              <a:t>=10</a:t>
            </a:r>
            <a:r>
              <a:rPr lang="en-US" altLang="zh-CN" sz="2400" b="0" baseline="30000" dirty="0">
                <a:latin typeface="华文楷体"/>
                <a:ea typeface="华文楷体"/>
                <a:cs typeface="华文楷体"/>
              </a:rPr>
              <a:t>12</a:t>
            </a:r>
            <a:r>
              <a:rPr lang="en-US" altLang="zh-CN" sz="2400" b="0" dirty="0">
                <a:latin typeface="华文楷体"/>
                <a:ea typeface="华文楷体"/>
                <a:cs typeface="华文楷体"/>
                <a:sym typeface="Symbol" pitchFamily="18" charset="2"/>
              </a:rPr>
              <a:t></a:t>
            </a:r>
            <a:r>
              <a:rPr lang="zh-CN" altLang="en-US" sz="2400" b="0" dirty="0">
                <a:latin typeface="华文楷体"/>
                <a:ea typeface="华文楷体"/>
                <a:cs typeface="华文楷体"/>
              </a:rPr>
              <a:t>）来）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</a:rPr>
              <a:t>  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D3B990C-1AAC-4768-8E0F-889507EF8A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342900"/>
            <a:ext cx="7280275" cy="646113"/>
          </a:xfrm>
        </p:spPr>
        <p:txBody>
          <a:bodyPr>
            <a:spAutoFit/>
          </a:bodyPr>
          <a:lstStyle/>
          <a:p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保存和自动检查 </a:t>
            </a:r>
          </a:p>
        </p:txBody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E07BC8E0-F974-44DB-85ED-39131BF76C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412875"/>
            <a:ext cx="8237538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3200" b="1" dirty="0">
                <a:latin typeface="+mn-ea"/>
              </a:rPr>
              <a:t>保存</a:t>
            </a:r>
          </a:p>
          <a:p>
            <a:pPr algn="just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latin typeface="+mn-ea"/>
              </a:rPr>
              <a:t> </a:t>
            </a:r>
            <a:r>
              <a:rPr lang="zh-CN" altLang="en-US" sz="3200" b="1">
                <a:latin typeface="+mn-ea"/>
              </a:rPr>
              <a:t>进行</a:t>
            </a:r>
            <a:r>
              <a:rPr lang="zh-CN" altLang="en-US" sz="3200" b="1" dirty="0">
                <a:latin typeface="+mn-ea"/>
              </a:rPr>
              <a:t>电路规则检查、建立网表文件（*</a:t>
            </a:r>
            <a:r>
              <a:rPr lang="en-US" altLang="zh-CN" sz="3200" b="1" dirty="0" err="1">
                <a:latin typeface="+mn-ea"/>
              </a:rPr>
              <a:t>.net</a:t>
            </a:r>
            <a:r>
              <a:rPr lang="zh-CN" altLang="en-US" sz="3200" b="1" dirty="0">
                <a:latin typeface="+mn-ea"/>
              </a:rPr>
              <a:t>） ：</a:t>
            </a:r>
          </a:p>
          <a:p>
            <a:pPr lvl="1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latin typeface="+mn-ea"/>
              </a:rPr>
              <a:t>		</a:t>
            </a:r>
            <a:r>
              <a:rPr lang="en-US" altLang="zh-CN" sz="3200" b="1" dirty="0" err="1">
                <a:latin typeface="+mn-ea"/>
              </a:rPr>
              <a:t>Pspice</a:t>
            </a:r>
            <a:r>
              <a:rPr lang="en-US" altLang="zh-CN" sz="3200" b="1" dirty="0">
                <a:latin typeface="+mn-ea"/>
              </a:rPr>
              <a:t>/Create netlist </a:t>
            </a:r>
          </a:p>
          <a:p>
            <a:pPr marL="909637" lvl="2" indent="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latin typeface="+mn-ea"/>
              </a:rPr>
              <a:t>若有问题，屏幕会有指示</a:t>
            </a:r>
          </a:p>
          <a:p>
            <a:pPr marL="909637" lvl="2" indent="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latin typeface="+mn-ea"/>
              </a:rPr>
              <a:t>Windows/</a:t>
            </a:r>
            <a:r>
              <a:rPr lang="en-US" altLang="zh-CN" sz="3200" b="1">
                <a:latin typeface="+mn-ea"/>
              </a:rPr>
              <a:t>Session Log </a:t>
            </a:r>
            <a:r>
              <a:rPr lang="zh-CN" altLang="en-US" sz="3200" b="1">
                <a:latin typeface="+mn-ea"/>
              </a:rPr>
              <a:t>弹</a:t>
            </a:r>
            <a:r>
              <a:rPr lang="zh-CN" altLang="en-US" sz="3200" b="1" dirty="0">
                <a:latin typeface="+mn-ea"/>
              </a:rPr>
              <a:t>出错误</a:t>
            </a:r>
            <a:r>
              <a:rPr lang="zh-CN" altLang="en-US" sz="3200" b="1">
                <a:latin typeface="+mn-ea"/>
              </a:rPr>
              <a:t>提示窗</a:t>
            </a:r>
            <a:endParaRPr lang="zh-CN" altLang="en-US" sz="3200" b="1" dirty="0">
              <a:latin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14EC867-8BC3-42D3-AEB1-84BBC493E84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15938" y="579438"/>
            <a:ext cx="4343400" cy="473075"/>
          </a:xfrm>
          <a:noFill/>
        </p:spPr>
        <p:txBody>
          <a:bodyPr/>
          <a:lstStyle/>
          <a:p>
            <a:pPr eaLnBrk="1" hangingPunct="1"/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设置分析类型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C386D27-1370-4A2B-A00E-4624D3B5F6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7325" y="1235075"/>
            <a:ext cx="8686800" cy="3298825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</a:rPr>
              <a:t>    为了便于管理，</a:t>
            </a:r>
            <a:r>
              <a:rPr lang="en-US" altLang="zh-CN" sz="2400" b="1" dirty="0" err="1">
                <a:latin typeface="+mn-ea"/>
              </a:rPr>
              <a:t>OrCAD</a:t>
            </a:r>
            <a:r>
              <a:rPr lang="en-US" altLang="zh-CN" sz="2400" b="1">
                <a:latin typeface="+mn-ea"/>
              </a:rPr>
              <a:t>/PSpice</a:t>
            </a:r>
            <a:r>
              <a:rPr lang="zh-CN" altLang="en-US" sz="2400" b="1">
                <a:latin typeface="+mn-ea"/>
              </a:rPr>
              <a:t>规定</a:t>
            </a:r>
            <a:r>
              <a:rPr lang="zh-CN" altLang="en-US" sz="2400" b="1">
                <a:solidFill>
                  <a:srgbClr val="000099"/>
                </a:solidFill>
                <a:latin typeface="+mn-ea"/>
              </a:rPr>
              <a:t>基本直流分析</a:t>
            </a:r>
            <a:r>
              <a:rPr lang="zh-CN" altLang="en-US" sz="2400" b="1">
                <a:solidFill>
                  <a:srgbClr val="0033CC"/>
                </a:solidFill>
                <a:latin typeface="+mn-ea"/>
              </a:rPr>
              <a:t>、</a:t>
            </a:r>
            <a:r>
              <a:rPr lang="zh-CN" altLang="en-US" sz="2400" b="1">
                <a:solidFill>
                  <a:srgbClr val="000099"/>
                </a:solidFill>
                <a:latin typeface="+mn-ea"/>
              </a:rPr>
              <a:t>瞬态分析、交流分析</a:t>
            </a:r>
            <a:r>
              <a:rPr lang="zh-CN" altLang="en-US" sz="2400" b="1">
                <a:latin typeface="+mn-ea"/>
              </a:rPr>
              <a:t>和</a:t>
            </a:r>
            <a:r>
              <a:rPr lang="zh-CN" altLang="en-US" sz="2400" b="1">
                <a:solidFill>
                  <a:srgbClr val="0070C0"/>
                </a:solidFill>
                <a:latin typeface="+mn-ea"/>
              </a:rPr>
              <a:t>直流扫描分析</a:t>
            </a:r>
            <a:r>
              <a:rPr lang="zh-CN" altLang="en-US" sz="2400" b="1">
                <a:latin typeface="+mn-ea"/>
              </a:rPr>
              <a:t>为</a:t>
            </a:r>
            <a:r>
              <a:rPr lang="en-US" altLang="zh-CN" sz="2400" b="1" dirty="0">
                <a:solidFill>
                  <a:srgbClr val="0033CC"/>
                </a:solidFill>
                <a:latin typeface="+mn-ea"/>
              </a:rPr>
              <a:t>4</a:t>
            </a:r>
            <a:r>
              <a:rPr lang="zh-CN" altLang="en-US" sz="2400" b="1" dirty="0">
                <a:solidFill>
                  <a:srgbClr val="0033CC"/>
                </a:solidFill>
                <a:latin typeface="+mn-ea"/>
              </a:rPr>
              <a:t>种</a:t>
            </a:r>
            <a:r>
              <a:rPr lang="zh-CN" altLang="en-US" sz="2400" b="1" dirty="0">
                <a:latin typeface="+mn-ea"/>
              </a:rPr>
              <a:t>基本分析类型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。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</a:rPr>
              <a:t>每一个模拟类型分组中只能包含其中的一种，但可以同时包括温度分析、参数扫描和蒙托卡诺分析等。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     在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电路图编辑窗口（</a:t>
            </a: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Page Editor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）下，点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击</a:t>
            </a:r>
            <a:r>
              <a:rPr lang="en-US" altLang="zh-CN" sz="2400" b="1" dirty="0" err="1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PSpice</a:t>
            </a:r>
            <a:r>
              <a:rPr lang="en-US" altLang="zh-CN" sz="2400" b="1" dirty="0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/New Simulation Profile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命令或快捷键   ，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</a:rPr>
              <a:t>出现</a:t>
            </a:r>
            <a:r>
              <a:rPr lang="en-US" altLang="zh-CN" sz="2400" b="1" dirty="0">
                <a:solidFill>
                  <a:schemeClr val="tx2"/>
                </a:solidFill>
                <a:latin typeface="+mn-ea"/>
              </a:rPr>
              <a:t>New </a:t>
            </a:r>
            <a:r>
              <a:rPr lang="en-US" altLang="zh-CN" sz="2400" b="1">
                <a:solidFill>
                  <a:schemeClr val="tx2"/>
                </a:solidFill>
                <a:latin typeface="+mn-ea"/>
              </a:rPr>
              <a:t>Simulation</a:t>
            </a:r>
            <a:r>
              <a:rPr lang="zh-CN" altLang="en-US" sz="2400" b="1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对话框，在</a:t>
            </a:r>
            <a:r>
              <a:rPr lang="en-US" altLang="zh-CN" sz="2400" b="1" dirty="0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Name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栏键入模拟</a:t>
            </a:r>
            <a:r>
              <a:rPr lang="zh-CN" altLang="en-US" sz="2400" b="1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类型组</a:t>
            </a:r>
            <a:endParaRPr lang="en-US" altLang="zh-CN" sz="2400" b="1" dirty="0">
              <a:solidFill>
                <a:schemeClr val="tx2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0724" name="Text Box 6">
            <a:extLst>
              <a:ext uri="{FF2B5EF4-FFF2-40B4-BE49-F238E27FC236}">
                <a16:creationId xmlns:a16="http://schemas.microsoft.com/office/drawing/2014/main" id="{BF14782D-CEEB-4C44-858B-975DB248A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36" y="4439721"/>
            <a:ext cx="4404295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>
                <a:solidFill>
                  <a:schemeClr val="tx2"/>
                </a:solidFill>
                <a:latin typeface="+mn-ea"/>
                <a:cs typeface="Times New Roman" panose="02020603050405020304" pitchFamily="18" charset="0"/>
              </a:rPr>
              <a:t>的名称，</a:t>
            </a:r>
            <a:r>
              <a:rPr kumimoji="1" lang="zh-CN" altLang="en-US" sz="240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屏幕上出现模拟类型分组对话框。 </a:t>
            </a:r>
            <a:endParaRPr kumimoji="1" lang="zh-CN" altLang="en-US" sz="24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25" name="图片 1">
            <a:extLst>
              <a:ext uri="{FF2B5EF4-FFF2-40B4-BE49-F238E27FC236}">
                <a16:creationId xmlns:a16="http://schemas.microsoft.com/office/drawing/2014/main" id="{DA0EA726-0CCC-41D4-9623-23AFF4422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498850"/>
            <a:ext cx="47466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图片 2">
            <a:extLst>
              <a:ext uri="{FF2B5EF4-FFF2-40B4-BE49-F238E27FC236}">
                <a16:creationId xmlns:a16="http://schemas.microsoft.com/office/drawing/2014/main" id="{BD2414EC-FDAA-4075-BBD5-10B290D32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8" y="4149725"/>
            <a:ext cx="3714750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D47E718E-42ED-4BD0-9E9B-ACA9A673B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36" y="5725090"/>
            <a:ext cx="4404295" cy="51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**</a:t>
            </a:r>
            <a:r>
              <a:rPr lang="zh-CN" altLang="en-US" sz="2400" b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课内实验主要练习前三种</a:t>
            </a:r>
            <a:endParaRPr kumimoji="1" lang="zh-CN" altLang="en-US" sz="2400" b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>
            <a:extLst>
              <a:ext uri="{FF2B5EF4-FFF2-40B4-BE49-F238E27FC236}">
                <a16:creationId xmlns:a16="http://schemas.microsoft.com/office/drawing/2014/main" id="{D0FB9958-F101-4452-8390-88D50748A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662113"/>
            <a:ext cx="6913562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4">
            <a:extLst>
              <a:ext uri="{FF2B5EF4-FFF2-40B4-BE49-F238E27FC236}">
                <a16:creationId xmlns:a16="http://schemas.microsoft.com/office/drawing/2014/main" id="{6447CC7B-4211-4835-BC04-4E546A417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1984375"/>
            <a:ext cx="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9E16C381-0C7F-42C3-A3DE-98371014D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443413"/>
            <a:ext cx="2808288" cy="498475"/>
          </a:xfrm>
          <a:prstGeom prst="wedgeRoundRectCallout">
            <a:avLst>
              <a:gd name="adj1" fmla="val -19619"/>
              <a:gd name="adj2" fmla="val -38084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r>
              <a:rPr kumimoji="1"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静态工作点分析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496DA1C3-1F3E-4B16-A779-6D98E0F22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412875"/>
            <a:ext cx="3024188" cy="503238"/>
          </a:xfrm>
          <a:prstGeom prst="wedgeRoundRectCallout">
            <a:avLst>
              <a:gd name="adj1" fmla="val -75322"/>
              <a:gd name="adj2" fmla="val 226880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>
              <a:defRPr/>
            </a:pPr>
            <a:r>
              <a:rPr kumimoji="1" lang="zh-CN" altLang="en-US" sz="280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输出文件更详细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E9DC72F-B981-4A77-A663-2772B45F5CD1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411163"/>
            <a:ext cx="4343400" cy="473075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设置分析类型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5DEF579-BEAC-4C22-8104-451B4290F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52513"/>
            <a:ext cx="6715125" cy="584200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静态工作点分析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60CA5412-3DE0-499C-83AE-B81BC48E344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9388" y="1209675"/>
            <a:ext cx="9036050" cy="1066800"/>
          </a:xfrm>
        </p:spPr>
        <p:txBody>
          <a:bodyPr/>
          <a:lstStyle/>
          <a:p>
            <a:pPr marL="457200" indent="-457200" eaLnBrk="1" hangingPunct="1">
              <a:lnSpc>
                <a:spcPts val="2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运行</a:t>
            </a:r>
            <a:r>
              <a:rPr lang="en-US" altLang="zh-CN" sz="3200" dirty="0" err="1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Pspice</a:t>
            </a:r>
            <a:br>
              <a:rPr lang="zh-CN" altLang="en-US" sz="2000" b="0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zh-CN" altLang="en-US" sz="2000" dirty="0">
                <a:latin typeface="宋体" panose="02010600030101010101" pitchFamily="2" charset="-122"/>
              </a:rPr>
              <a:t>    </a:t>
            </a:r>
            <a:br>
              <a:rPr lang="en-US" altLang="zh-CN" sz="2000" dirty="0">
                <a:latin typeface="宋体" panose="02010600030101010101" pitchFamily="2" charset="-122"/>
              </a:rPr>
            </a:br>
            <a:r>
              <a:rPr lang="zh-CN" altLang="en-US" sz="2800" dirty="0">
                <a:latin typeface="+mn-ea"/>
                <a:ea typeface="+mn-ea"/>
              </a:rPr>
              <a:t>启动</a:t>
            </a:r>
            <a:r>
              <a:rPr lang="en-US" altLang="zh-CN" sz="2800" dirty="0" err="1">
                <a:latin typeface="+mn-ea"/>
                <a:ea typeface="+mn-ea"/>
              </a:rPr>
              <a:t>Pspice</a:t>
            </a:r>
            <a:r>
              <a:rPr lang="en-US" altLang="zh-CN" sz="2800" dirty="0">
                <a:latin typeface="+mn-ea"/>
                <a:ea typeface="+mn-ea"/>
              </a:rPr>
              <a:t>/Run</a:t>
            </a:r>
            <a:r>
              <a:rPr lang="zh-CN" altLang="en-US" sz="2800" dirty="0">
                <a:latin typeface="+mn-ea"/>
                <a:ea typeface="+mn-ea"/>
              </a:rPr>
              <a:t>命令或快捷键   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1BBBCB7-D21B-4E72-85BB-AAA4EBF784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8275" y="2420938"/>
            <a:ext cx="8148638" cy="1803400"/>
          </a:xfrm>
        </p:spPr>
        <p:txBody>
          <a:bodyPr/>
          <a:lstStyle/>
          <a:p>
            <a:pPr marL="457200" indent="-457200" algn="just" eaLnBrk="1" hangingPunct="1">
              <a:lnSpc>
                <a:spcPct val="131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查看分析结果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分析计算结束后，系统自动调用</a:t>
            </a:r>
            <a:r>
              <a:rPr lang="en-US" altLang="zh-CN" sz="2800" b="1" dirty="0">
                <a:solidFill>
                  <a:schemeClr val="tx2"/>
                </a:solidFill>
                <a:latin typeface="+mn-ea"/>
              </a:rPr>
              <a:t>Probe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模块，屏幕上出现</a:t>
            </a:r>
            <a:r>
              <a:rPr lang="en-US" altLang="zh-CN" sz="2800" b="1" dirty="0">
                <a:solidFill>
                  <a:schemeClr val="tx2"/>
                </a:solidFill>
                <a:latin typeface="+mn-ea"/>
              </a:rPr>
              <a:t>Probe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窗口。选择</a:t>
            </a:r>
            <a:r>
              <a:rPr lang="en-US" altLang="zh-CN" sz="2800" b="1" dirty="0">
                <a:solidFill>
                  <a:schemeClr val="tx2"/>
                </a:solidFill>
                <a:latin typeface="+mn-ea"/>
              </a:rPr>
              <a:t>View/Output File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命令，即可看到本例的文本输出文件</a:t>
            </a:r>
            <a:r>
              <a:rPr lang="en-US" altLang="zh-CN" sz="2800" b="1" dirty="0" err="1">
                <a:solidFill>
                  <a:schemeClr val="tx2"/>
                </a:solidFill>
                <a:latin typeface="+mn-ea"/>
              </a:rPr>
              <a:t>bias.out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。</a:t>
            </a:r>
            <a:endParaRPr lang="zh-CN" altLang="en-US" sz="28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2EF46D2-A21F-42D5-A0FB-A0B31E6ABCCB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411163"/>
            <a:ext cx="4343400" cy="473075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结果输出</a:t>
            </a:r>
          </a:p>
        </p:txBody>
      </p:sp>
      <p:pic>
        <p:nvPicPr>
          <p:cNvPr id="32773" name="图片 1">
            <a:extLst>
              <a:ext uri="{FF2B5EF4-FFF2-40B4-BE49-F238E27FC236}">
                <a16:creationId xmlns:a16="http://schemas.microsoft.com/office/drawing/2014/main" id="{8C4AFD28-AE26-4D3B-A421-266A575FF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824038"/>
            <a:ext cx="3635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91990932-B2BF-4248-8696-C3AD3E52BC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15938" y="1793875"/>
            <a:ext cx="7772400" cy="3868738"/>
          </a:xfrm>
          <a:noFill/>
        </p:spPr>
        <p:txBody>
          <a:bodyPr/>
          <a:lstStyle/>
          <a:p>
            <a:pPr algn="just" eaLnBrk="1" hangingPunct="1">
              <a:lnSpc>
                <a:spcPct val="131000"/>
              </a:lnSpc>
            </a:pPr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</a:rPr>
              <a:t>瞬态分析又称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TRAN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</a:rPr>
              <a:t>分析，就是求电路的时域响应。它可在给定输入激励信号情况下，计算电路输出端的瞬态响应，也可在没有激励信号但有贮能元件（如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C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L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</a:rPr>
              <a:t>）的情况下，求振荡波形。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D5EE80B-ECB3-4572-96EA-DF49C4E40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579438"/>
            <a:ext cx="4343400" cy="47307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设置分析类型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1A83C60-52D9-417A-9479-3517FCDE2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14425"/>
            <a:ext cx="6715125" cy="584200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瞬态分析（时域分析</a:t>
            </a:r>
            <a:r>
              <a:rPr lang="en-US" altLang="zh-CN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3200" kern="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>
            <a:extLst>
              <a:ext uri="{FF2B5EF4-FFF2-40B4-BE49-F238E27FC236}">
                <a16:creationId xmlns:a16="http://schemas.microsoft.com/office/drawing/2014/main" id="{7BB87037-AB34-4DB6-9446-DB06D74B7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590675"/>
            <a:ext cx="3544887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Run to:</a:t>
            </a: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4m</a:t>
            </a:r>
          </a:p>
          <a:p>
            <a:pPr>
              <a:spcBef>
                <a:spcPts val="6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仿真终止时间为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4m s</a:t>
            </a:r>
          </a:p>
          <a:p>
            <a:pPr>
              <a:spcBef>
                <a:spcPts val="6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*</a:t>
            </a:r>
            <a:r>
              <a:rPr kumimoji="1" lang="zh-CN" altLang="en-US" sz="2400">
                <a:latin typeface="宋体" panose="02010600030101010101" pitchFamily="2" charset="-122"/>
              </a:rPr>
              <a:t>基于信号周期适当设定</a:t>
            </a:r>
          </a:p>
        </p:txBody>
      </p:sp>
      <p:sp>
        <p:nvSpPr>
          <p:cNvPr id="34819" name="Rectangle 12">
            <a:extLst>
              <a:ext uri="{FF2B5EF4-FFF2-40B4-BE49-F238E27FC236}">
                <a16:creationId xmlns:a16="http://schemas.microsoft.com/office/drawing/2014/main" id="{3966402B-006E-42F0-9EE4-F5804DC0B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129732"/>
            <a:ext cx="3456756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Start saving data:0</a:t>
            </a:r>
          </a:p>
          <a:p>
            <a:pPr>
              <a:spcBef>
                <a:spcPts val="6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仿真记录起始时刻为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endParaRPr kumimoji="1" lang="zh-CN" altLang="en-US" sz="240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4820" name="Rectangle 13">
            <a:extLst>
              <a:ext uri="{FF2B5EF4-FFF2-40B4-BE49-F238E27FC236}">
                <a16:creationId xmlns:a16="http://schemas.microsoft.com/office/drawing/2014/main" id="{929912D2-6EDA-4BAA-91E7-8E3458D15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282" y="4310172"/>
            <a:ext cx="3368873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Maximum Step</a:t>
            </a: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：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10u s</a:t>
            </a:r>
          </a:p>
          <a:p>
            <a:pPr>
              <a:spcBef>
                <a:spcPts val="6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仿真时间步长为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10</a:t>
            </a:r>
            <a:r>
              <a:rPr kumimoji="1" lang="en-US" altLang="zh-CN" sz="2400">
                <a:solidFill>
                  <a:schemeClr val="accent2"/>
                </a:solidFill>
                <a:latin typeface="Symbol" panose="05050102010706020507" pitchFamily="18" charset="2"/>
              </a:rPr>
              <a:t>m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s</a:t>
            </a:r>
            <a:endParaRPr kumimoji="1" lang="zh-CN" altLang="en-US" sz="240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26892EA-958E-4090-864C-76780B939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579438"/>
            <a:ext cx="4343400" cy="47307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设置分析类型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3EBDE6D-B349-4826-B180-455EAB261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123950"/>
            <a:ext cx="6715125" cy="584200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瞬态分析（时域分析</a:t>
            </a:r>
            <a:r>
              <a:rPr lang="en-US" altLang="zh-CN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3200" kern="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4823" name="图片 3">
            <a:extLst>
              <a:ext uri="{FF2B5EF4-FFF2-40B4-BE49-F238E27FC236}">
                <a16:creationId xmlns:a16="http://schemas.microsoft.com/office/drawing/2014/main" id="{F06F9D3B-B0CA-4E35-81C5-5F9635D2E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1801813"/>
            <a:ext cx="460851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8BB2D6AA-8CE8-4E90-A0F5-76311660F6FD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411163"/>
            <a:ext cx="4343400" cy="473075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结果输出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9DE2F51-459E-4C88-8C50-D049E5E00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1785938"/>
            <a:ext cx="7200900" cy="585787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kumimoji="1"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</a:t>
            </a:r>
            <a:r>
              <a:rPr kumimoji="1" lang="en-US" altLang="zh-CN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Trace/Add Trace</a:t>
            </a:r>
            <a:r>
              <a:rPr kumimoji="1"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命令或快捷键</a:t>
            </a:r>
            <a:endParaRPr lang="zh-CN" altLang="en-US" sz="3200" kern="0" dirty="0">
              <a:solidFill>
                <a:schemeClr val="accent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5844" name="图片 4">
            <a:extLst>
              <a:ext uri="{FF2B5EF4-FFF2-40B4-BE49-F238E27FC236}">
                <a16:creationId xmlns:a16="http://schemas.microsoft.com/office/drawing/2014/main" id="{7F35E2FE-2DE0-4C3C-A1B0-A2A544615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1906588"/>
            <a:ext cx="4603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BBE8DF07-98B6-4376-A768-019374052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25538"/>
            <a:ext cx="9036050" cy="10668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ts val="2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kern="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启动</a:t>
            </a:r>
            <a:r>
              <a:rPr lang="en-US" altLang="zh-CN" sz="3200" kern="0" dirty="0" err="1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Pspice</a:t>
            </a:r>
            <a:r>
              <a:rPr lang="en-US" altLang="zh-CN" sz="3200" kern="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/Run</a:t>
            </a:r>
            <a:r>
              <a:rPr lang="zh-CN" altLang="en-US" sz="3200" kern="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命令或快捷键</a:t>
            </a:r>
            <a:br>
              <a:rPr lang="zh-CN" altLang="en-US" sz="3200" b="0" kern="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000" kern="0" dirty="0">
                <a:latin typeface="宋体" panose="02010600030101010101" pitchFamily="2" charset="-122"/>
              </a:rPr>
              <a:t>    </a:t>
            </a:r>
            <a:br>
              <a:rPr lang="en-US" altLang="zh-CN" sz="2000" kern="0" dirty="0">
                <a:latin typeface="宋体" panose="02010600030101010101" pitchFamily="2" charset="-122"/>
              </a:rPr>
            </a:br>
            <a:endParaRPr lang="zh-CN" altLang="en-US" sz="2800" kern="0" dirty="0">
              <a:latin typeface="+mn-ea"/>
              <a:ea typeface="+mn-ea"/>
            </a:endParaRPr>
          </a:p>
        </p:txBody>
      </p:sp>
      <p:pic>
        <p:nvPicPr>
          <p:cNvPr id="35846" name="图片 13">
            <a:extLst>
              <a:ext uri="{FF2B5EF4-FFF2-40B4-BE49-F238E27FC236}">
                <a16:creationId xmlns:a16="http://schemas.microsoft.com/office/drawing/2014/main" id="{1F2C6A66-2325-4423-A41D-BF3A2AE05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277938"/>
            <a:ext cx="3635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图片 7">
            <a:extLst>
              <a:ext uri="{FF2B5EF4-FFF2-40B4-BE49-F238E27FC236}">
                <a16:creationId xmlns:a16="http://schemas.microsoft.com/office/drawing/2014/main" id="{3D4BC00E-2A54-447C-9209-BFA89E0D3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2050"/>
            <a:ext cx="4487863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图片 8">
            <a:extLst>
              <a:ext uri="{FF2B5EF4-FFF2-40B4-BE49-F238E27FC236}">
                <a16:creationId xmlns:a16="http://schemas.microsoft.com/office/drawing/2014/main" id="{D8AD16A0-FA2A-4CEF-9727-AA9F5C4BA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420938"/>
            <a:ext cx="4176713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对话气泡: 椭圆形 1">
            <a:extLst>
              <a:ext uri="{FF2B5EF4-FFF2-40B4-BE49-F238E27FC236}">
                <a16:creationId xmlns:a16="http://schemas.microsoft.com/office/drawing/2014/main" id="{39CF981A-E681-4432-95E3-4B9587B41B17}"/>
              </a:ext>
            </a:extLst>
          </p:cNvPr>
          <p:cNvSpPr/>
          <p:nvPr/>
        </p:nvSpPr>
        <p:spPr bwMode="auto">
          <a:xfrm>
            <a:off x="683568" y="6261100"/>
            <a:ext cx="4271019" cy="552276"/>
          </a:xfrm>
          <a:prstGeom prst="wedgeEllipseCallout">
            <a:avLst>
              <a:gd name="adj1" fmla="val -43508"/>
              <a:gd name="adj2" fmla="val -314734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0"/>
              <a:t>Vooooooo </a:t>
            </a:r>
            <a:r>
              <a:rPr lang="zh-CN" altLang="en-US"/>
              <a:t>信号名长的原因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C1EEC0A-3D97-4691-99FE-47E67178E4D1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411163"/>
            <a:ext cx="4343400" cy="473075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结果输出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71C209C-DE12-4042-B52D-CE17D930E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3775"/>
            <a:ext cx="9036050" cy="10668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ts val="2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建立两个以上的波形显示区</a:t>
            </a:r>
            <a:br>
              <a:rPr lang="zh-CN" altLang="en-US" sz="3200" kern="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000" kern="0" dirty="0">
                <a:latin typeface="宋体" panose="02010600030101010101" pitchFamily="2" charset="-122"/>
              </a:rPr>
              <a:t>    </a:t>
            </a:r>
            <a:br>
              <a:rPr lang="en-US" altLang="zh-CN" sz="2000" kern="0" dirty="0">
                <a:latin typeface="宋体" panose="02010600030101010101" pitchFamily="2" charset="-122"/>
              </a:rPr>
            </a:br>
            <a:endParaRPr lang="zh-CN" altLang="en-US" sz="2800" kern="0" dirty="0">
              <a:latin typeface="+mn-ea"/>
              <a:ea typeface="+mn-ea"/>
            </a:endParaRPr>
          </a:p>
        </p:txBody>
      </p:sp>
      <p:sp>
        <p:nvSpPr>
          <p:cNvPr id="36868" name="矩形 1">
            <a:extLst>
              <a:ext uri="{FF2B5EF4-FFF2-40B4-BE49-F238E27FC236}">
                <a16:creationId xmlns:a16="http://schemas.microsoft.com/office/drawing/2014/main" id="{4BE986E8-3D65-4986-B7F6-54344DFAF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541463"/>
            <a:ext cx="812165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t" hangingPunct="1">
              <a:lnSpc>
                <a:spcPct val="11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① 在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Add Trace 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对话框中，选择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Vo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），点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OK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按钮，显示出输出端的波形。</a:t>
            </a:r>
          </a:p>
          <a:p>
            <a:pPr algn="just" eaLnBrk="1" fontAlgn="t" hangingPunct="1">
              <a:lnSpc>
                <a:spcPct val="11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② 执行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Plot/Add Plot to Window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命令，屏幕上添加一个空白的波形显示区。</a:t>
            </a:r>
          </a:p>
          <a:p>
            <a:pPr algn="just" eaLnBrk="1" fontAlgn="t" hangingPunct="1">
              <a:lnSpc>
                <a:spcPct val="11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③ 再执行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Trace/Add Trace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命令，在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Add Trace 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对话框选择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Vi:+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），点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OK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按钮，在新加的波形显示区显示出输入信号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Vi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的波形。</a:t>
            </a:r>
          </a:p>
        </p:txBody>
      </p:sp>
      <p:pic>
        <p:nvPicPr>
          <p:cNvPr id="36869" name="图片 2">
            <a:extLst>
              <a:ext uri="{FF2B5EF4-FFF2-40B4-BE49-F238E27FC236}">
                <a16:creationId xmlns:a16="http://schemas.microsoft.com/office/drawing/2014/main" id="{53832020-51DD-4A4B-BE3D-75B4D896C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4433888"/>
            <a:ext cx="64039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196119C4-6A8F-45CF-AFA2-FE2A60675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如何标注特征值</a:t>
            </a:r>
          </a:p>
        </p:txBody>
      </p:sp>
      <p:pic>
        <p:nvPicPr>
          <p:cNvPr id="37891" name="Picture 2" descr="C:\Users\Administrator\Desktop\周涛\mosfet仿真\如何标注特征值.png">
            <a:extLst>
              <a:ext uri="{FF2B5EF4-FFF2-40B4-BE49-F238E27FC236}">
                <a16:creationId xmlns:a16="http://schemas.microsoft.com/office/drawing/2014/main" id="{4B7C69B5-4941-44BB-88DD-8C79751D0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8831263" cy="563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43624" y="332656"/>
            <a:ext cx="4191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9pPr>
          </a:lstStyle>
          <a:p>
            <a:r>
              <a:rPr lang="zh-CN" altLang="en-US" sz="3200" dirty="0">
                <a:solidFill>
                  <a:srgbClr val="0066FF"/>
                </a:solidFill>
              </a:rPr>
              <a:t>非线性失真现象 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43624" y="1440987"/>
            <a:ext cx="3452312" cy="397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buClr>
                <a:srgbClr val="FF0000"/>
              </a:buClr>
            </a:pP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参考插板电路，分别将</a:t>
            </a:r>
            <a:r>
              <a:rPr lang="en-US" altLang="zh-CN" sz="2400" i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R</a:t>
            </a:r>
            <a:r>
              <a:rPr lang="en-US" altLang="zh-CN" sz="1800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g1</a:t>
            </a:r>
            <a:r>
              <a:rPr lang="zh-CN" altLang="zh-CN" sz="2400">
                <a:latin typeface="华文楷体" pitchFamily="2" charset="-122"/>
                <a:ea typeface="华文楷体" pitchFamily="2" charset="-122"/>
              </a:rPr>
              <a:t>调整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为</a:t>
            </a:r>
            <a:r>
              <a:rPr lang="zh-CN" altLang="en-US" sz="240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最大</a:t>
            </a:r>
            <a:r>
              <a:rPr lang="en-US" altLang="zh-CN" sz="240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570K</a:t>
            </a:r>
            <a:r>
              <a:rPr lang="zh-CN" altLang="en-US" sz="240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、最小</a:t>
            </a:r>
            <a:r>
              <a:rPr lang="en-US" altLang="zh-CN" sz="2400">
                <a:solidFill>
                  <a:srgbClr val="C00000"/>
                </a:solidFill>
                <a:latin typeface="华文楷体" pitchFamily="2" charset="-122"/>
                <a:ea typeface="华文楷体" pitchFamily="2" charset="-122"/>
              </a:rPr>
              <a:t>100K</a:t>
            </a:r>
            <a:r>
              <a:rPr lang="zh-CN" altLang="zh-CN" sz="2400"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再分别做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静态分析和瞬态分析，记录静态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工作点和两种失真波形</a:t>
            </a:r>
            <a:r>
              <a:rPr lang="zh-CN" altLang="zh-CN" sz="2400" dirty="0">
                <a:latin typeface="华文楷体" pitchFamily="2" charset="-122"/>
                <a:ea typeface="华文楷体" pitchFamily="2" charset="-122"/>
              </a:rPr>
              <a:t>。</a:t>
            </a:r>
            <a:endParaRPr lang="en-US" altLang="zh-CN" sz="2400" dirty="0"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Clr>
                <a:srgbClr val="FF0000"/>
              </a:buClr>
            </a:pP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如果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发现没失真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，可以增大输入信号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幅值）</a:t>
            </a:r>
            <a:endParaRPr lang="en-US" altLang="zh-CN" sz="2400" dirty="0">
              <a:latin typeface="华文楷体" pitchFamily="2" charset="-122"/>
              <a:ea typeface="华文楷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C5DEBD-2E8A-4D35-9133-88691DE4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1268760"/>
            <a:ext cx="2455048" cy="2021805"/>
          </a:xfrm>
          <a:prstGeom prst="rect">
            <a:avLst/>
          </a:prstGeom>
        </p:spPr>
      </p:pic>
      <p:pic>
        <p:nvPicPr>
          <p:cNvPr id="6" name="图片 3">
            <a:extLst>
              <a:ext uri="{FF2B5EF4-FFF2-40B4-BE49-F238E27FC236}">
                <a16:creationId xmlns:a16="http://schemas.microsoft.com/office/drawing/2014/main" id="{71078BA9-BD53-4CFC-90E6-612612BDF6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2" t="6358" r="41001" b="43094"/>
          <a:stretch/>
        </p:blipFill>
        <p:spPr bwMode="auto">
          <a:xfrm>
            <a:off x="4794800" y="3717032"/>
            <a:ext cx="2304256" cy="229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2141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7E8DCFE7-28CF-4B42-B6B9-55BDB15189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15938" y="1793875"/>
            <a:ext cx="7772400" cy="3868738"/>
          </a:xfrm>
        </p:spPr>
        <p:txBody>
          <a:bodyPr/>
          <a:lstStyle/>
          <a:p>
            <a:pPr algn="just" eaLnBrk="1" hangingPunct="1">
              <a:lnSpc>
                <a:spcPct val="131000"/>
              </a:lnSpc>
              <a:defRPr/>
            </a:pPr>
            <a:r>
              <a:rPr lang="zh-CN" altLang="en-US" sz="2800" b="1" dirty="0">
                <a:latin typeface="+mn-ea"/>
              </a:rPr>
              <a:t>    交流分析又称</a:t>
            </a:r>
            <a:r>
              <a:rPr lang="en-US" altLang="zh-CN" sz="2800" b="1" dirty="0">
                <a:latin typeface="+mn-ea"/>
              </a:rPr>
              <a:t>AC</a:t>
            </a:r>
            <a:r>
              <a:rPr lang="zh-CN" altLang="en-US" sz="2800" b="1" dirty="0">
                <a:latin typeface="+mn-ea"/>
              </a:rPr>
              <a:t>分析，就是求电路的频域响应。当输入信号的频率变化时，它能够计算出电路的幅频响应和相频响应。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作交流分析时，</a:t>
            </a:r>
            <a:r>
              <a:rPr lang="zh-CN" altLang="en-US" sz="2800" b="1" dirty="0">
                <a:latin typeface="+mn-ea"/>
              </a:rPr>
              <a:t>应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注意：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AC Sweep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，必须具有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AC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激励源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ED89084-2CED-4995-AA68-C00B72F50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579438"/>
            <a:ext cx="4343400" cy="47307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设置分析类型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55CB08-8B89-4B6E-A417-3264331F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14425"/>
            <a:ext cx="6715125" cy="584200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交流分析（频域分析</a:t>
            </a:r>
            <a:r>
              <a:rPr lang="en-US" altLang="zh-CN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3200" kern="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7">
            <a:extLst>
              <a:ext uri="{FF2B5EF4-FFF2-40B4-BE49-F238E27FC236}">
                <a16:creationId xmlns:a16="http://schemas.microsoft.com/office/drawing/2014/main" id="{6D09F8CE-10D9-447F-9EF6-8EC6D69049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658"/>
          <a:stretch/>
        </p:blipFill>
        <p:spPr bwMode="auto">
          <a:xfrm>
            <a:off x="244089" y="4149080"/>
            <a:ext cx="8655821" cy="117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F2BB53-5F3F-49F4-A0B6-7FFDE9417021}"/>
              </a:ext>
            </a:extLst>
          </p:cNvPr>
          <p:cNvSpPr/>
          <p:nvPr/>
        </p:nvSpPr>
        <p:spPr bwMode="auto">
          <a:xfrm>
            <a:off x="1900273" y="4649260"/>
            <a:ext cx="288032" cy="585396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1">
            <a:extLst>
              <a:ext uri="{FF2B5EF4-FFF2-40B4-BE49-F238E27FC236}">
                <a16:creationId xmlns:a16="http://schemas.microsoft.com/office/drawing/2014/main" id="{A0305C96-C632-45BF-B487-808AD2F30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743075"/>
            <a:ext cx="360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Start :</a:t>
            </a: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10 </a:t>
            </a: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Hz</a:t>
            </a: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  <a:endParaRPr kumimoji="1" lang="en-US" altLang="zh-CN" sz="240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9939" name="Rectangle 12">
            <a:extLst>
              <a:ext uri="{FF2B5EF4-FFF2-40B4-BE49-F238E27FC236}">
                <a16:creationId xmlns:a16="http://schemas.microsoft.com/office/drawing/2014/main" id="{1D727E08-170F-41F9-91D8-9581F9975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349500"/>
            <a:ext cx="4464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End</a:t>
            </a: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：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100meg</a:t>
            </a:r>
          </a:p>
        </p:txBody>
      </p:sp>
      <p:sp>
        <p:nvSpPr>
          <p:cNvPr id="39940" name="Rectangle 13">
            <a:extLst>
              <a:ext uri="{FF2B5EF4-FFF2-40B4-BE49-F238E27FC236}">
                <a16:creationId xmlns:a16="http://schemas.microsoft.com/office/drawing/2014/main" id="{305441A1-D154-4F22-B7BE-66C906DB0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575" y="2924175"/>
            <a:ext cx="444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Points/Decade</a:t>
            </a:r>
            <a:r>
              <a:rPr kumimoji="1"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：</a:t>
            </a:r>
            <a:r>
              <a:rPr kumimoji="1"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101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1278F12-E7B0-48D3-B183-4DE4726F7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579438"/>
            <a:ext cx="4343400" cy="47307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设置分析类型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07F7D73-91EF-485D-BC6A-D4ABD87C2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123950"/>
            <a:ext cx="6715125" cy="584200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交流分析（频域分析</a:t>
            </a:r>
            <a:r>
              <a:rPr lang="en-US" altLang="zh-CN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3200" kern="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9943" name="图片 1">
            <a:extLst>
              <a:ext uri="{FF2B5EF4-FFF2-40B4-BE49-F238E27FC236}">
                <a16:creationId xmlns:a16="http://schemas.microsoft.com/office/drawing/2014/main" id="{20017C37-A6AB-432D-9B4D-031A28065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747838"/>
            <a:ext cx="472916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49CEAF7-96DB-4D7B-B823-9F69FA2747B1}"/>
              </a:ext>
            </a:extLst>
          </p:cNvPr>
          <p:cNvSpPr/>
          <p:nvPr/>
        </p:nvSpPr>
        <p:spPr>
          <a:xfrm>
            <a:off x="5262563" y="3552825"/>
            <a:ext cx="3292475" cy="4762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latin typeface="+mn-ea"/>
                <a:ea typeface="+mn-ea"/>
              </a:rPr>
              <a:t>Logarithmic</a:t>
            </a:r>
            <a:r>
              <a:rPr kumimoji="1"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： </a:t>
            </a:r>
            <a:r>
              <a:rPr kumimoji="1" lang="en-US" altLang="zh-CN" sz="2400" dirty="0">
                <a:solidFill>
                  <a:schemeClr val="accent2"/>
                </a:solidFill>
                <a:latin typeface="+mn-ea"/>
                <a:ea typeface="+mn-ea"/>
              </a:rPr>
              <a:t>Decade</a:t>
            </a: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4D324DF1-397A-4F56-BEE1-25037D065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579438"/>
            <a:ext cx="4343400" cy="47307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设置分析类型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20967DB-B0F7-468D-B179-5E66D47AD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123950"/>
            <a:ext cx="6715125" cy="584200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交流分析（频域分析</a:t>
            </a:r>
            <a:r>
              <a:rPr lang="en-US" altLang="zh-CN" sz="3200" kern="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3200" kern="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B1001E-62F8-4D67-9975-2C5338006DE9}"/>
              </a:ext>
            </a:extLst>
          </p:cNvPr>
          <p:cNvSpPr/>
          <p:nvPr/>
        </p:nvSpPr>
        <p:spPr>
          <a:xfrm>
            <a:off x="971550" y="1708150"/>
            <a:ext cx="6140450" cy="1203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+mn-ea"/>
                <a:ea typeface="+mn-ea"/>
              </a:rPr>
              <a:t>故障原因分析</a:t>
            </a:r>
            <a:r>
              <a:rPr kumimoji="1" lang="en-US" altLang="zh-CN" sz="2800" dirty="0">
                <a:latin typeface="+mn-ea"/>
                <a:ea typeface="+mn-ea"/>
              </a:rPr>
              <a:t>---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zh-CN" sz="2800" dirty="0">
                <a:latin typeface="+mn-ea"/>
                <a:ea typeface="+mn-ea"/>
              </a:rPr>
              <a:t>No AC sources -- AC Sweep ignored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40965" name="图片 7">
            <a:extLst>
              <a:ext uri="{FF2B5EF4-FFF2-40B4-BE49-F238E27FC236}">
                <a16:creationId xmlns:a16="http://schemas.microsoft.com/office/drawing/2014/main" id="{C701DCE9-864B-44C2-9800-754E27075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997200"/>
            <a:ext cx="7586663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6DD526D8-B50B-4D23-AB3D-67F172973EB5}"/>
              </a:ext>
            </a:extLst>
          </p:cNvPr>
          <p:cNvSpPr/>
          <p:nvPr/>
        </p:nvSpPr>
        <p:spPr bwMode="auto">
          <a:xfrm>
            <a:off x="2196430" y="3412836"/>
            <a:ext cx="287338" cy="504825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</a:endParaRPr>
          </a:p>
        </p:txBody>
      </p:sp>
      <p:pic>
        <p:nvPicPr>
          <p:cNvPr id="7" name="Picture 37">
            <a:extLst>
              <a:ext uri="{FF2B5EF4-FFF2-40B4-BE49-F238E27FC236}">
                <a16:creationId xmlns:a16="http://schemas.microsoft.com/office/drawing/2014/main" id="{F7EABB72-5EC6-4312-A13F-46C30722E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030271"/>
            <a:ext cx="4316412" cy="2530475"/>
          </a:xfrm>
          <a:prstGeom prst="rect">
            <a:avLst/>
          </a:prstGeom>
          <a:noFill/>
          <a:ln w="63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Rectangle 3">
            <a:extLst>
              <a:ext uri="{FF2B5EF4-FFF2-40B4-BE49-F238E27FC236}">
                <a16:creationId xmlns:a16="http://schemas.microsoft.com/office/drawing/2014/main" id="{F6616FBF-ACFA-479E-A38B-4C606A2CCA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196975"/>
            <a:ext cx="8497888" cy="48371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+mn-ea"/>
              </a:rPr>
              <a:t>击活</a:t>
            </a:r>
            <a:r>
              <a:rPr lang="en-US" altLang="zh-CN" sz="2400" b="1" dirty="0">
                <a:latin typeface="+mn-ea"/>
              </a:rPr>
              <a:t>AC Sweep, </a:t>
            </a:r>
            <a:r>
              <a:rPr lang="en-US" altLang="zh-CN" sz="2400" b="1" dirty="0" err="1">
                <a:latin typeface="+mn-ea"/>
              </a:rPr>
              <a:t>Pspice</a:t>
            </a:r>
            <a:r>
              <a:rPr lang="en-US" altLang="zh-CN" sz="2400" b="1" dirty="0">
                <a:latin typeface="+mn-ea"/>
              </a:rPr>
              <a:t>/Run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+mn-ea"/>
              </a:rPr>
              <a:t>观测幅频响应曲线：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latin typeface="+mn-ea"/>
              </a:rPr>
              <a:t>Trace/Add</a:t>
            </a:r>
            <a:r>
              <a:rPr lang="zh-CN" altLang="en-US" sz="2400" b="1" dirty="0">
                <a:latin typeface="+mn-ea"/>
              </a:rPr>
              <a:t>： </a:t>
            </a:r>
            <a:r>
              <a:rPr lang="en-US" altLang="zh-CN" sz="2400" b="1" dirty="0" err="1">
                <a:latin typeface="+mn-ea"/>
              </a:rPr>
              <a:t>db</a:t>
            </a:r>
            <a:r>
              <a:rPr lang="en-US" altLang="zh-CN" sz="2400" b="1" dirty="0">
                <a:latin typeface="+mn-ea"/>
              </a:rPr>
              <a:t>(V(Vo)/V(Vs:+))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latin typeface="+mn-ea"/>
              </a:rPr>
              <a:t>Trace /Cursor/Display</a:t>
            </a:r>
            <a:r>
              <a:rPr lang="zh-CN" altLang="en-US" sz="2400" b="1" dirty="0">
                <a:latin typeface="+mn-ea"/>
              </a:rPr>
              <a:t>激活游标测中频增益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+mn-ea"/>
              </a:rPr>
              <a:t>用游标找到增益下降</a:t>
            </a:r>
            <a:r>
              <a:rPr lang="en-US" altLang="zh-CN" sz="2400" b="1" dirty="0">
                <a:latin typeface="+mn-ea"/>
              </a:rPr>
              <a:t>3dB </a:t>
            </a:r>
            <a:r>
              <a:rPr lang="zh-CN" altLang="en-US" sz="2400" b="1" dirty="0">
                <a:latin typeface="+mn-ea"/>
              </a:rPr>
              <a:t>，对应频率为上限频率或下限频率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+mn-ea"/>
              </a:rPr>
              <a:t>*观测相频响应曲线： </a:t>
            </a:r>
            <a:r>
              <a:rPr lang="en-US" altLang="zh-CN" sz="2400" dirty="0">
                <a:latin typeface="+mn-ea"/>
              </a:rPr>
              <a:t>P(V(Vo)/V(Vs+)) </a:t>
            </a:r>
            <a:endParaRPr lang="en-US" altLang="zh-CN" sz="2400" b="1" dirty="0">
              <a:latin typeface="+mn-ea"/>
            </a:endParaRP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+mn-ea"/>
              </a:rPr>
              <a:t>观测输入电阻的频率响应：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latin typeface="+mn-ea"/>
              </a:rPr>
              <a:t>Trace/Add</a:t>
            </a:r>
            <a:r>
              <a:rPr lang="zh-CN" altLang="en-US" sz="2400" b="1" dirty="0">
                <a:latin typeface="+mn-ea"/>
              </a:rPr>
              <a:t>： </a:t>
            </a:r>
            <a:r>
              <a:rPr lang="en-US" altLang="zh-CN" sz="2400" b="1" dirty="0" err="1">
                <a:latin typeface="+mn-ea"/>
              </a:rPr>
              <a:t>Ri</a:t>
            </a:r>
            <a:r>
              <a:rPr lang="en-US" altLang="zh-CN" sz="2400" b="1" dirty="0">
                <a:latin typeface="+mn-ea"/>
              </a:rPr>
              <a:t> = V(Vi)/I(Vs)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latin typeface="+mn-ea"/>
              </a:rPr>
              <a:t>Trace /Cursor/Display</a:t>
            </a:r>
            <a:r>
              <a:rPr lang="zh-CN" altLang="en-US" sz="2400" b="1" dirty="0">
                <a:latin typeface="+mn-ea"/>
              </a:rPr>
              <a:t>激活游标测中频输入电阻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15AF4BE-D5CB-43ED-875B-2374DC527683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411163"/>
            <a:ext cx="4343400" cy="473075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结果输出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>
            <a:extLst>
              <a:ext uri="{FF2B5EF4-FFF2-40B4-BE49-F238E27FC236}">
                <a16:creationId xmlns:a16="http://schemas.microsoft.com/office/drawing/2014/main" id="{849D5F81-AEBF-4524-B0D6-46284D4CDD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1196975"/>
            <a:ext cx="7280275" cy="584200"/>
          </a:xfr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求解输出阻抗 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310726B-E334-48DE-B46C-636AEE5F214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2092325"/>
            <a:ext cx="8316912" cy="321468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1</a:t>
            </a:r>
            <a:r>
              <a:rPr lang="zh-CN" altLang="en-US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）修改电路：</a:t>
            </a:r>
          </a:p>
          <a:p>
            <a:pPr marL="4699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Arial Narrow" panose="020B0606020202030204" pitchFamily="34" charset="0"/>
                <a:ea typeface="华文楷体" panose="02010600040101010101" pitchFamily="2" charset="-122"/>
              </a:rPr>
              <a:t>令</a:t>
            </a:r>
            <a:r>
              <a:rPr lang="en-US" altLang="zh-CN" b="1">
                <a:latin typeface="Arial Narrow" panose="020B0606020202030204" pitchFamily="34" charset="0"/>
                <a:ea typeface="华文楷体" panose="02010600040101010101" pitchFamily="2" charset="-122"/>
              </a:rPr>
              <a:t>Vi=0</a:t>
            </a:r>
            <a:r>
              <a:rPr lang="zh-CN" altLang="en-US" b="1">
                <a:latin typeface="Arial Narrow" panose="020B0606020202030204" pitchFamily="34" charset="0"/>
                <a:ea typeface="华文楷体" panose="02010600040101010101" pitchFamily="2" charset="-122"/>
              </a:rPr>
              <a:t>，信号源短路，去掉负载</a:t>
            </a:r>
            <a:r>
              <a:rPr lang="en-US" altLang="zh-CN" b="1">
                <a:latin typeface="Arial Narrow" panose="020B0606020202030204" pitchFamily="34" charset="0"/>
                <a:ea typeface="华文楷体" panose="02010600040101010101" pitchFamily="2" charset="-122"/>
              </a:rPr>
              <a:t>R</a:t>
            </a:r>
            <a:r>
              <a:rPr lang="en-US" altLang="zh-CN" b="1" baseline="-30000">
                <a:latin typeface="Arial Narrow" panose="020B0606020202030204" pitchFamily="34" charset="0"/>
                <a:ea typeface="华文楷体" panose="02010600040101010101" pitchFamily="2" charset="-122"/>
              </a:rPr>
              <a:t>L</a:t>
            </a:r>
            <a:r>
              <a:rPr lang="zh-CN" altLang="en-US" b="1">
                <a:latin typeface="Arial Narrow" panose="020B0606020202030204" pitchFamily="34" charset="0"/>
                <a:ea typeface="华文楷体" panose="02010600040101010101" pitchFamily="2" charset="-122"/>
              </a:rPr>
              <a:t>，外加一个信号源</a:t>
            </a:r>
            <a:r>
              <a:rPr lang="en-US" altLang="zh-CN" b="1">
                <a:latin typeface="Arial Narrow" panose="020B0606020202030204" pitchFamily="34" charset="0"/>
                <a:ea typeface="华文楷体" panose="02010600040101010101" pitchFamily="2" charset="-122"/>
              </a:rPr>
              <a:t>VSIN(400mv)</a:t>
            </a:r>
            <a:r>
              <a:rPr lang="en-US" altLang="zh-CN">
                <a:latin typeface="Arial Narrow" panose="020B0606020202030204" pitchFamily="34" charset="0"/>
                <a:ea typeface="华文楷体" panose="02010600040101010101" pitchFamily="2" charset="-122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2</a:t>
            </a:r>
            <a:r>
              <a:rPr lang="zh-CN" altLang="en-US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）其他步骤与“输入电阻的频率响应”分析相同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3</a:t>
            </a:r>
            <a:r>
              <a:rPr lang="zh-CN" altLang="en-US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）</a:t>
            </a:r>
            <a:r>
              <a:rPr lang="en-US" altLang="zh-CN" sz="2800" b="1">
                <a:latin typeface="Arial Narrow" panose="020B0606020202030204" pitchFamily="34" charset="0"/>
                <a:ea typeface="华文楷体" panose="02010600040101010101" pitchFamily="2" charset="-122"/>
              </a:rPr>
              <a:t>Ro =V(Vo)/I(C2)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FF9EBA-39E1-4005-80A4-9091C89A27A9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411163"/>
            <a:ext cx="4343400" cy="473075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结果输出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659F1A4-C5A2-4035-A7EF-436649A3A737}"/>
              </a:ext>
            </a:extLst>
          </p:cNvPr>
          <p:cNvSpPr txBox="1">
            <a:spLocks noChangeArrowheads="1"/>
          </p:cNvSpPr>
          <p:nvPr/>
        </p:nvSpPr>
        <p:spPr>
          <a:xfrm>
            <a:off x="512763" y="333375"/>
            <a:ext cx="4343400" cy="473075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结果输出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B6BB166-F300-4E23-8845-FF09DEF07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96975"/>
            <a:ext cx="728027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3200" kern="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求解输出阻抗 </a:t>
            </a:r>
          </a:p>
        </p:txBody>
      </p:sp>
      <p:pic>
        <p:nvPicPr>
          <p:cNvPr id="44036" name="图片 1">
            <a:extLst>
              <a:ext uri="{FF2B5EF4-FFF2-40B4-BE49-F238E27FC236}">
                <a16:creationId xmlns:a16="http://schemas.microsoft.com/office/drawing/2014/main" id="{7800202B-D88A-4872-B6D8-06B73A40A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1770063"/>
            <a:ext cx="4452937" cy="447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5F0AAF0-487D-42FB-823D-E3D19FC7F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66FF"/>
                </a:solidFill>
                <a:latin typeface="宋体" panose="02010600030101010101" pitchFamily="2" charset="-122"/>
              </a:rPr>
              <a:t>求解输出阻抗</a:t>
            </a:r>
          </a:p>
        </p:txBody>
      </p:sp>
      <p:pic>
        <p:nvPicPr>
          <p:cNvPr id="45059" name="图片 2">
            <a:extLst>
              <a:ext uri="{FF2B5EF4-FFF2-40B4-BE49-F238E27FC236}">
                <a16:creationId xmlns:a16="http://schemas.microsoft.com/office/drawing/2014/main" id="{DC59F85A-3F85-454C-9B63-BFAE849E4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835342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1345EBCF-E5A0-4775-A93F-BD099A1B1FA9}"/>
              </a:ext>
            </a:extLst>
          </p:cNvPr>
          <p:cNvSpPr/>
          <p:nvPr/>
        </p:nvSpPr>
        <p:spPr bwMode="auto">
          <a:xfrm>
            <a:off x="2483768" y="2132856"/>
            <a:ext cx="1368152" cy="432048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D4D00E-163A-4225-9FF1-464365FF17E6}"/>
              </a:ext>
            </a:extLst>
          </p:cNvPr>
          <p:cNvSpPr txBox="1"/>
          <p:nvPr/>
        </p:nvSpPr>
        <p:spPr>
          <a:xfrm>
            <a:off x="468313" y="4149080"/>
            <a:ext cx="5975895" cy="1840056"/>
          </a:xfrm>
          <a:prstGeom prst="rect">
            <a:avLst/>
          </a:prstGeom>
          <a:solidFill>
            <a:schemeClr val="accent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注意：课后报告中要体现个人思考，比如仿真联系理论，仿真结果与理论简化计算的异同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…… 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不能只有操作和计算机给的结果。</a:t>
            </a:r>
            <a:endParaRPr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仿真是引导辅助人工设计，不是代替人工。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005B6553-6DBC-4C1B-BDB7-C70C8B2CC8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125538"/>
            <a:ext cx="8432800" cy="5039765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1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）电路图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2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）静态工作点：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I</a:t>
            </a:r>
            <a:r>
              <a:rPr lang="en-US" altLang="zh-CN" sz="2400" b="1" baseline="-25000">
                <a:latin typeface="Arial Narrow" panose="020B0606020202030204" pitchFamily="34" charset="0"/>
                <a:ea typeface="华文楷体" panose="02010600040101010101" pitchFamily="2" charset="-122"/>
              </a:rPr>
              <a:t>D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、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V</a:t>
            </a:r>
            <a:r>
              <a:rPr lang="en-US" altLang="zh-CN" sz="2400" b="1" baseline="-25000">
                <a:latin typeface="Arial Narrow" panose="020B0606020202030204" pitchFamily="34" charset="0"/>
                <a:ea typeface="华文楷体" panose="02010600040101010101" pitchFamily="2" charset="-122"/>
              </a:rPr>
              <a:t>GS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、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V</a:t>
            </a:r>
            <a:r>
              <a:rPr lang="en-US" altLang="zh-CN" sz="2400" b="1" baseline="-25000">
                <a:latin typeface="Arial Narrow" panose="020B0606020202030204" pitchFamily="34" charset="0"/>
                <a:ea typeface="华文楷体" panose="02010600040101010101" pitchFamily="2" charset="-122"/>
              </a:rPr>
              <a:t>DS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3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）输入、输出电压波形，并计算电压增益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A</a:t>
            </a:r>
            <a:r>
              <a:rPr lang="en-US" altLang="zh-CN" sz="2400" b="1" baseline="-25000">
                <a:latin typeface="Arial Narrow" panose="020B0606020202030204" pitchFamily="34" charset="0"/>
                <a:ea typeface="华文楷体" panose="02010600040101010101" pitchFamily="2" charset="-122"/>
              </a:rPr>
              <a:t>v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8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）非线性失真现象</a:t>
            </a:r>
            <a:r>
              <a:rPr lang="en-US" altLang="zh-CN" sz="2400" b="1">
                <a:solidFill>
                  <a:srgbClr val="FE2312"/>
                </a:solidFill>
                <a:latin typeface="Arial Narrow" panose="020B0606020202030204" pitchFamily="34" charset="0"/>
                <a:ea typeface="华文楷体" panose="02010600040101010101" pitchFamily="2" charset="-122"/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400" b="1" baseline="-25000">
              <a:latin typeface="Arial Narrow" panose="020B0606020202030204" pitchFamily="34" charset="0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4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）幅频响应曲线：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db(V(Vo)/V(Vs:+))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，测中频增益、上限频率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f</a:t>
            </a:r>
            <a:r>
              <a:rPr lang="en-US" altLang="zh-CN" sz="2400" b="1" baseline="-25000">
                <a:latin typeface="Arial Narrow" panose="020B0606020202030204" pitchFamily="34" charset="0"/>
                <a:ea typeface="华文楷体" panose="02010600040101010101" pitchFamily="2" charset="-122"/>
              </a:rPr>
              <a:t>H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和下限频率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f</a:t>
            </a:r>
            <a:r>
              <a:rPr lang="en-US" altLang="zh-CN" sz="2400" b="1" baseline="-25000">
                <a:latin typeface="Arial Narrow" panose="020B0606020202030204" pitchFamily="34" charset="0"/>
                <a:ea typeface="华文楷体" panose="02010600040101010101" pitchFamily="2" charset="-122"/>
              </a:rPr>
              <a:t>L</a:t>
            </a:r>
            <a:r>
              <a:rPr lang="zh-CN" altLang="en-US" sz="2400">
                <a:latin typeface="Arial Narrow" panose="020B0606020202030204" pitchFamily="34" charset="0"/>
                <a:ea typeface="华文楷体" panose="02010600040101010101" pitchFamily="2" charset="-122"/>
              </a:rPr>
              <a:t>	</a:t>
            </a:r>
            <a:endParaRPr lang="en-US" altLang="zh-CN" sz="2400" b="1">
              <a:latin typeface="Arial Narrow" panose="020B0606020202030204" pitchFamily="34" charset="0"/>
              <a:ea typeface="华文楷体" panose="02010600040101010101" pitchFamily="2" charset="-122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5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）相频响应曲线：</a:t>
            </a:r>
            <a:r>
              <a:rPr lang="en-US" altLang="zh-CN" sz="2400">
                <a:latin typeface="Arial Narrow" panose="020B0606020202030204" pitchFamily="34" charset="0"/>
                <a:ea typeface="华文楷体" panose="02010600040101010101" pitchFamily="2" charset="-122"/>
              </a:rPr>
              <a:t>V</a:t>
            </a:r>
            <a:r>
              <a:rPr lang="en-US" altLang="zh-CN" sz="2400">
                <a:solidFill>
                  <a:srgbClr val="0070C0"/>
                </a:solidFill>
                <a:latin typeface="Arial Narrow" panose="020B0606020202030204" pitchFamily="34" charset="0"/>
                <a:ea typeface="华文楷体" panose="02010600040101010101" pitchFamily="2" charset="-122"/>
              </a:rPr>
              <a:t>p</a:t>
            </a:r>
            <a:r>
              <a:rPr lang="en-US" altLang="zh-CN" sz="2400">
                <a:latin typeface="Arial Narrow" panose="020B0606020202030204" pitchFamily="34" charset="0"/>
                <a:ea typeface="华文楷体" panose="02010600040101010101" pitchFamily="2" charset="-122"/>
              </a:rPr>
              <a:t>(Vo)-V</a:t>
            </a:r>
            <a:r>
              <a:rPr lang="en-US" altLang="zh-CN" sz="2400">
                <a:solidFill>
                  <a:srgbClr val="0070C0"/>
                </a:solidFill>
                <a:latin typeface="Arial Narrow" panose="020B0606020202030204" pitchFamily="34" charset="0"/>
                <a:ea typeface="华文楷体" panose="02010600040101010101" pitchFamily="2" charset="-122"/>
              </a:rPr>
              <a:t>p</a:t>
            </a:r>
            <a:r>
              <a:rPr lang="en-US" altLang="zh-CN" sz="2400">
                <a:latin typeface="Arial Narrow" panose="020B0606020202030204" pitchFamily="34" charset="0"/>
                <a:ea typeface="华文楷体" panose="02010600040101010101" pitchFamily="2" charset="-122"/>
              </a:rPr>
              <a:t>(Vs:+)</a:t>
            </a:r>
            <a:r>
              <a:rPr lang="zh-CN" altLang="en-US" sz="2400">
                <a:latin typeface="Arial Narrow" panose="020B0606020202030204" pitchFamily="34" charset="0"/>
                <a:ea typeface="华文楷体" panose="02010600040101010101" pitchFamily="2" charset="-122"/>
              </a:rPr>
              <a:t> 或 </a:t>
            </a:r>
            <a:r>
              <a:rPr lang="en-US" altLang="zh-CN" sz="2400">
                <a:solidFill>
                  <a:srgbClr val="0070C0"/>
                </a:solidFill>
                <a:latin typeface="Arial Narrow" panose="020B0606020202030204" pitchFamily="34" charset="0"/>
                <a:ea typeface="华文楷体" panose="02010600040101010101" pitchFamily="2" charset="-122"/>
              </a:rPr>
              <a:t>P</a:t>
            </a:r>
            <a:r>
              <a:rPr lang="en-US" altLang="zh-CN" sz="2400">
                <a:latin typeface="Arial Narrow" panose="020B0606020202030204" pitchFamily="34" charset="0"/>
                <a:ea typeface="华文楷体" panose="02010600040101010101" pitchFamily="2" charset="-122"/>
              </a:rPr>
              <a:t>(V(Vo)/V(Vs:+))</a:t>
            </a:r>
            <a:r>
              <a:rPr lang="zh-CN" altLang="en-US" sz="2400">
                <a:latin typeface="Arial Narrow" panose="020B0606020202030204" pitchFamily="34" charset="0"/>
                <a:ea typeface="华文楷体" panose="02010600040101010101" pitchFamily="2" charset="-122"/>
              </a:rPr>
              <a:t> 	</a:t>
            </a:r>
            <a:endParaRPr lang="en-US" altLang="zh-CN" sz="2400">
              <a:latin typeface="Arial Narrow" panose="020B0606020202030204" pitchFamily="34" charset="0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6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）输入电阻的频率响应：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Ri -- V(Vi)/I(Vi:+)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（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7</a:t>
            </a:r>
            <a:r>
              <a:rPr lang="zh-CN" altLang="en-US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）输出电阻的频率响应：</a:t>
            </a:r>
            <a:r>
              <a:rPr lang="en-US" altLang="zh-CN" sz="2400" b="1">
                <a:latin typeface="Arial Narrow" panose="020B0606020202030204" pitchFamily="34" charset="0"/>
                <a:ea typeface="华文楷体" panose="02010600040101010101" pitchFamily="2" charset="-122"/>
              </a:rPr>
              <a:t>Ro-- V(Vo)/I(C2)</a:t>
            </a:r>
            <a:endParaRPr lang="zh-CN" altLang="en-US" sz="2400" b="1">
              <a:solidFill>
                <a:srgbClr val="FE2312"/>
              </a:solidFill>
              <a:latin typeface="Arial Narrow" panose="020B0606020202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A907DB9-982E-48F3-86AB-D5FC371BADB5}"/>
              </a:ext>
            </a:extLst>
          </p:cNvPr>
          <p:cNvSpPr txBox="1">
            <a:spLocks/>
          </p:cNvSpPr>
          <p:nvPr/>
        </p:nvSpPr>
        <p:spPr bwMode="auto">
          <a:xfrm>
            <a:off x="539750" y="333375"/>
            <a:ext cx="8001000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放大电路仿真验证设计要求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6851A79-BFDF-4703-9BB0-9DC4F1D3A575}"/>
              </a:ext>
            </a:extLst>
          </p:cNvPr>
          <p:cNvSpPr txBox="1">
            <a:spLocks/>
          </p:cNvSpPr>
          <p:nvPr/>
        </p:nvSpPr>
        <p:spPr bwMode="auto">
          <a:xfrm>
            <a:off x="250825" y="295057"/>
            <a:ext cx="8464550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b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二、</a:t>
            </a:r>
            <a:r>
              <a:rPr lang="zh-CN" altLang="en-US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单级</a:t>
            </a:r>
            <a:r>
              <a:rPr lang="en-US" altLang="zh-CN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MOSFET</a:t>
            </a:r>
            <a:r>
              <a:rPr lang="zh-CN" altLang="en-US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共源放大电路插板实现</a:t>
            </a:r>
            <a:endParaRPr lang="zh-CN" altLang="en-US" dirty="0">
              <a:solidFill>
                <a:srgbClr val="0033CC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7107" name="矩形 3">
            <a:extLst>
              <a:ext uri="{FF2B5EF4-FFF2-40B4-BE49-F238E27FC236}">
                <a16:creationId xmlns:a16="http://schemas.microsoft.com/office/drawing/2014/main" id="{9B4CD984-48A6-4E51-92D6-4FEC340B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125538"/>
            <a:ext cx="4070350" cy="5179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按照教材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3.3.3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实验任务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——实验步骤与要求中的（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~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）完成实验任务。 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注意有以下几点不同：</a:t>
            </a:r>
            <a:endParaRPr lang="zh-CN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）电路图改用右图</a:t>
            </a:r>
            <a:endParaRPr lang="en-US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）静态工作点测试表格有调整（只一行）</a:t>
            </a:r>
            <a:endParaRPr lang="en-US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）式（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3.3.8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）改为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2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zh-CN" sz="22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补充“观察失真现象”内容</a:t>
            </a:r>
            <a:endParaRPr lang="zh-CN" altLang="en-US" sz="2200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7109" name="对象 2">
            <a:extLst>
              <a:ext uri="{FF2B5EF4-FFF2-40B4-BE49-F238E27FC236}">
                <a16:creationId xmlns:a16="http://schemas.microsoft.com/office/drawing/2014/main" id="{6C374E65-EF98-44AE-81A9-B50AFCE925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4513" y="1285875"/>
          <a:ext cx="4360862" cy="464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name="Picture" r:id="rId4" imgW="2175641" imgH="2312276" progId="Word.Picture.8">
                  <p:embed/>
                </p:oleObj>
              </mc:Choice>
              <mc:Fallback>
                <p:oleObj name="Picture" r:id="rId4" imgW="2175641" imgH="2312276" progId="Word.Picture.8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1285875"/>
                        <a:ext cx="4360862" cy="464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B6A42D7A-CA56-4135-A687-BE08BC19B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834" y="4973780"/>
            <a:ext cx="1729308" cy="75746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2">
            <a:extLst>
              <a:ext uri="{FF2B5EF4-FFF2-40B4-BE49-F238E27FC236}">
                <a16:creationId xmlns:a16="http://schemas.microsoft.com/office/drawing/2014/main" id="{278EEFC3-DBDC-4B58-ACBC-588EBADF2E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333375"/>
            <a:ext cx="8001000" cy="646113"/>
          </a:xfrm>
        </p:spPr>
        <p:txBody>
          <a:bodyPr>
            <a:spAutoFit/>
          </a:bodyPr>
          <a:lstStyle/>
          <a:p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电路的基本调试步骤</a:t>
            </a:r>
          </a:p>
        </p:txBody>
      </p:sp>
      <p:sp>
        <p:nvSpPr>
          <p:cNvPr id="49155" name="内容占位符 3">
            <a:extLst>
              <a:ext uri="{FF2B5EF4-FFF2-40B4-BE49-F238E27FC236}">
                <a16:creationId xmlns:a16="http://schemas.microsoft.com/office/drawing/2014/main" id="{2ECE9A76-18B1-4EF1-A999-153EDAE09A8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76250" y="1268413"/>
            <a:ext cx="8424863" cy="51435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b="1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检查电路连接</a:t>
            </a: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kumimoji="1" lang="zh-CN" altLang="en-US" b="1">
                <a:solidFill>
                  <a:srgbClr val="FE231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磨刀不误砍柴工！</a:t>
            </a:r>
            <a:endParaRPr kumimoji="1" lang="en-US" altLang="zh-CN" b="1">
              <a:solidFill>
                <a:srgbClr val="FE231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按照电路图来检查实际安装的线路</a:t>
            </a: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特别注意：电源供电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包括极性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、信号源连线是否正确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地线的共地问题；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b="1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静态测试；</a:t>
            </a:r>
            <a:endParaRPr kumimoji="1" lang="en-US" altLang="zh-CN" b="1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静态工作点情况</a:t>
            </a:r>
            <a:endParaRPr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b="1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动态测试；</a:t>
            </a:r>
            <a:endParaRPr kumimoji="1" lang="en-US" altLang="zh-CN" b="1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基本信号输入输出情况</a:t>
            </a:r>
            <a:endParaRPr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b="1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整机联调；</a:t>
            </a:r>
            <a:endParaRPr kumimoji="1" lang="en-US" altLang="zh-CN" b="1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性能指标测试与电路参数调整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6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页脚占位符 4">
            <a:extLst>
              <a:ext uri="{FF2B5EF4-FFF2-40B4-BE49-F238E27FC236}">
                <a16:creationId xmlns:a16="http://schemas.microsoft.com/office/drawing/2014/main" id="{00453960-0628-4437-86F3-7C5FB529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DC612D3-AC64-4F26-B0BD-003E3D679BD6}" type="slidenum">
              <a:rPr lang="en-US" altLang="zh-CN" b="0" smtClean="0">
                <a:latin typeface="微软雅黑" panose="020B0503020204020204" pitchFamily="34" charset="-122"/>
              </a:rPr>
              <a:pPr/>
              <a:t>46</a:t>
            </a:fld>
            <a:endParaRPr lang="en-US" altLang="zh-CN" b="0">
              <a:latin typeface="微软雅黑" panose="020B0503020204020204" pitchFamily="34" charset="-122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F1D5E42-F6F1-4347-8FBB-39611A6DC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306388"/>
            <a:ext cx="8569325" cy="719137"/>
          </a:xfrm>
        </p:spPr>
        <p:txBody>
          <a:bodyPr/>
          <a:lstStyle/>
          <a:p>
            <a:pPr eaLnBrk="1" hangingPunct="1"/>
            <a:r>
              <a:rPr lang="zh-CN" altLang="en-US" sz="3600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调试中的注意事项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CF92B08-AD75-4F3B-AE79-89B2C4D4C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1268413"/>
            <a:ext cx="84978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500" b="0">
                <a:latin typeface="华文楷体" panose="02010600040101010101" pitchFamily="2" charset="-122"/>
                <a:ea typeface="华文楷体" panose="02010600040101010101" pitchFamily="2" charset="-122"/>
              </a:rPr>
              <a:t>① 测试前，要熟悉电路的工作原理和各项技术指标的测试方法</a:t>
            </a:r>
            <a:r>
              <a:rPr lang="zh-CN" altLang="en-US" sz="2500" b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A6CDE186-638B-4C93-8B3B-95E1474ED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3282950"/>
            <a:ext cx="8640762" cy="1008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zh-CN" sz="25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④ </a:t>
            </a:r>
            <a:r>
              <a:rPr lang="zh-CN" altLang="en-US" sz="2500" b="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测量仪器的带宽必须大于被测电路的带宽，否则，测试结果就有误差。</a:t>
            </a:r>
          </a:p>
        </p:txBody>
      </p:sp>
      <p:sp>
        <p:nvSpPr>
          <p:cNvPr id="47110" name="Rectangle 5">
            <a:extLst>
              <a:ext uri="{FF2B5EF4-FFF2-40B4-BE49-F238E27FC236}">
                <a16:creationId xmlns:a16="http://schemas.microsoft.com/office/drawing/2014/main" id="{98200A09-7F2E-45F4-A916-710180324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2565400"/>
            <a:ext cx="8497887" cy="574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③ </a:t>
            </a:r>
            <a:r>
              <a:rPr lang="zh-CN" altLang="en-US" sz="2500" b="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测量电压时，所用仪器的输入阻抗必须远大于被测处的等效阻抗。 </a:t>
            </a:r>
          </a:p>
        </p:txBody>
      </p:sp>
      <p:sp>
        <p:nvSpPr>
          <p:cNvPr id="50183" name="Rectangle 6">
            <a:extLst>
              <a:ext uri="{FF2B5EF4-FFF2-40B4-BE49-F238E27FC236}">
                <a16:creationId xmlns:a16="http://schemas.microsoft.com/office/drawing/2014/main" id="{B38F4837-87A8-455A-9793-6C2E16874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4294188"/>
            <a:ext cx="86407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120000"/>
              <a:buFont typeface="Wingdings" panose="05000000000000000000" pitchFamily="2" charset="2"/>
              <a:buNone/>
            </a:pPr>
            <a:r>
              <a:rPr lang="en-US" altLang="zh-CN" sz="2500" b="0">
                <a:latin typeface="华文楷体" panose="02010600040101010101" pitchFamily="2" charset="-122"/>
                <a:ea typeface="华文楷体" panose="02010600040101010101" pitchFamily="2" charset="-122"/>
              </a:rPr>
              <a:t>⑤ </a:t>
            </a:r>
            <a:r>
              <a:rPr lang="zh-CN" altLang="en-US" sz="2500" b="0">
                <a:latin typeface="华文楷体" panose="02010600040101010101" pitchFamily="2" charset="-122"/>
                <a:ea typeface="华文楷体" panose="02010600040101010101" pitchFamily="2" charset="-122"/>
              </a:rPr>
              <a:t>测量方法要方便可行。</a:t>
            </a:r>
          </a:p>
        </p:txBody>
      </p:sp>
      <p:sp>
        <p:nvSpPr>
          <p:cNvPr id="50184" name="Rectangle 7">
            <a:extLst>
              <a:ext uri="{FF2B5EF4-FFF2-40B4-BE49-F238E27FC236}">
                <a16:creationId xmlns:a16="http://schemas.microsoft.com/office/drawing/2014/main" id="{E2CABDDC-0AAF-4E9C-8705-00CFE6378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4868863"/>
            <a:ext cx="864235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120000"/>
              <a:buFont typeface="Wingdings" panose="05000000000000000000" pitchFamily="2" charset="2"/>
              <a:buNone/>
            </a:pPr>
            <a:r>
              <a:rPr lang="en-US" altLang="zh-CN" sz="2500" b="0">
                <a:latin typeface="华文楷体" panose="02010600040101010101" pitchFamily="2" charset="-122"/>
                <a:ea typeface="华文楷体" panose="02010600040101010101" pitchFamily="2" charset="-122"/>
              </a:rPr>
              <a:t>⑥ </a:t>
            </a:r>
            <a:r>
              <a:rPr lang="zh-CN" altLang="en-US" sz="2500" b="0">
                <a:latin typeface="华文楷体" panose="02010600040101010101" pitchFamily="2" charset="-122"/>
                <a:ea typeface="华文楷体" panose="02010600040101010101" pitchFamily="2" charset="-122"/>
              </a:rPr>
              <a:t>调试过程中，不但要认真观察和测量，还要认真做好记录。</a:t>
            </a:r>
          </a:p>
        </p:txBody>
      </p:sp>
      <p:sp>
        <p:nvSpPr>
          <p:cNvPr id="50185" name="Rectangle 8">
            <a:extLst>
              <a:ext uri="{FF2B5EF4-FFF2-40B4-BE49-F238E27FC236}">
                <a16:creationId xmlns:a16="http://schemas.microsoft.com/office/drawing/2014/main" id="{1424CB82-D874-49FC-B4F2-CC9871A22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1987550"/>
            <a:ext cx="849788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500" b="0">
                <a:latin typeface="华文楷体" panose="02010600040101010101" pitchFamily="2" charset="-122"/>
                <a:ea typeface="华文楷体" panose="02010600040101010101" pitchFamily="2" charset="-122"/>
              </a:rPr>
              <a:t>② </a:t>
            </a:r>
            <a:r>
              <a:rPr lang="zh-CN" altLang="en-US" sz="2500">
                <a:latin typeface="华文楷体" panose="02010600040101010101" pitchFamily="2" charset="-122"/>
                <a:ea typeface="华文楷体" panose="02010600040101010101" pitchFamily="2" charset="-122"/>
              </a:rPr>
              <a:t>注意仪器的信号线、地线的正确连接。</a:t>
            </a:r>
            <a:r>
              <a:rPr lang="zh-CN" altLang="en-US" sz="3000">
                <a:latin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内容占位符 2">
            <a:extLst>
              <a:ext uri="{FF2B5EF4-FFF2-40B4-BE49-F238E27FC236}">
                <a16:creationId xmlns:a16="http://schemas.microsoft.com/office/drawing/2014/main" id="{85403DB0-A783-4F54-BFFE-E5821185588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-107950" y="1268413"/>
            <a:ext cx="8820150" cy="4267200"/>
          </a:xfrm>
        </p:spPr>
        <p:txBody>
          <a:bodyPr/>
          <a:lstStyle/>
          <a:p>
            <a:pPr lvl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+mn-ea"/>
              </a:rPr>
              <a:t>三极管识别与使用</a:t>
            </a:r>
          </a:p>
          <a:p>
            <a:pPr lvl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+mn-ea"/>
              </a:rPr>
              <a:t>电路的安装方式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D738BD-4DED-4D2A-966F-5ACB94171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73063"/>
            <a:ext cx="4068763" cy="64611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/>
          <a:p>
            <a:pPr>
              <a:defRPr/>
            </a:pPr>
            <a:r>
              <a:rPr lang="zh-CN" altLang="en-US" sz="360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电路安装</a:t>
            </a:r>
          </a:p>
        </p:txBody>
      </p:sp>
      <p:pic>
        <p:nvPicPr>
          <p:cNvPr id="51204" name="图片 1">
            <a:extLst>
              <a:ext uri="{FF2B5EF4-FFF2-40B4-BE49-F238E27FC236}">
                <a16:creationId xmlns:a16="http://schemas.microsoft.com/office/drawing/2014/main" id="{148A5E70-8C98-4DFA-B825-4A749E8B3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013" y="1916113"/>
            <a:ext cx="511175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Picture 7">
            <a:extLst>
              <a:ext uri="{FF2B5EF4-FFF2-40B4-BE49-F238E27FC236}">
                <a16:creationId xmlns:a16="http://schemas.microsoft.com/office/drawing/2014/main" id="{9D129A69-4FA5-4848-8388-9C75CFF39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25800"/>
            <a:ext cx="2160587" cy="285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4">
            <a:extLst>
              <a:ext uri="{FF2B5EF4-FFF2-40B4-BE49-F238E27FC236}">
                <a16:creationId xmlns:a16="http://schemas.microsoft.com/office/drawing/2014/main" id="{B9C318E8-4783-405A-AD58-66114C78A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1161881"/>
            <a:ext cx="3914775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5E1CF68-0DC0-45DC-B8F5-447F3F8CB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73063"/>
            <a:ext cx="4068763" cy="64611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/>
          <a:p>
            <a:pPr>
              <a:defRPr/>
            </a:pPr>
            <a:r>
              <a:rPr lang="zh-CN" altLang="en-US" sz="360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电路安装</a:t>
            </a:r>
          </a:p>
        </p:txBody>
      </p:sp>
      <p:pic>
        <p:nvPicPr>
          <p:cNvPr id="52228" name="图片 2">
            <a:extLst>
              <a:ext uri="{FF2B5EF4-FFF2-40B4-BE49-F238E27FC236}">
                <a16:creationId xmlns:a16="http://schemas.microsoft.com/office/drawing/2014/main" id="{365D5F7A-03B7-4114-8E1E-360EFF3001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60631"/>
            <a:ext cx="4552950" cy="288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2229" name="对象 4">
            <a:extLst>
              <a:ext uri="{FF2B5EF4-FFF2-40B4-BE49-F238E27FC236}">
                <a16:creationId xmlns:a16="http://schemas.microsoft.com/office/drawing/2014/main" id="{9373FBAF-D0B5-454E-BA99-2C347D235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1075" y="401638"/>
          <a:ext cx="4373563" cy="464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5" name="Picture" r:id="rId6" imgW="2187006" imgH="2325051" progId="Word.Picture.8">
                  <p:embed/>
                </p:oleObj>
              </mc:Choice>
              <mc:Fallback>
                <p:oleObj name="Picture" r:id="rId6" imgW="2187006" imgH="2325051" progId="Word.Picture.8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075" y="401638"/>
                        <a:ext cx="4373563" cy="464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>
            <a:extLst>
              <a:ext uri="{FF2B5EF4-FFF2-40B4-BE49-F238E27FC236}">
                <a16:creationId xmlns:a16="http://schemas.microsoft.com/office/drawing/2014/main" id="{71C14244-E1D6-4352-9591-2B54C78BDC9B}"/>
              </a:ext>
            </a:extLst>
          </p:cNvPr>
          <p:cNvSpPr/>
          <p:nvPr/>
        </p:nvSpPr>
        <p:spPr bwMode="auto">
          <a:xfrm>
            <a:off x="5826125" y="260350"/>
            <a:ext cx="1150938" cy="19891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010" y="2851509"/>
            <a:ext cx="2342991" cy="3440998"/>
          </a:xfrm>
          <a:prstGeom prst="rect">
            <a:avLst/>
          </a:prstGeom>
        </p:spPr>
      </p:pic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67421" y="1145248"/>
            <a:ext cx="4958630" cy="1391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Arial" charset="0"/>
              <a:buNone/>
            </a:pPr>
            <a:r>
              <a:rPr lang="en-US" altLang="zh-CN" sz="2400" b="0" dirty="0">
                <a:solidFill>
                  <a:srgbClr val="3333CC"/>
                </a:solidFill>
              </a:rPr>
              <a:t>3296</a:t>
            </a:r>
            <a:r>
              <a:rPr lang="zh-CN" altLang="en-US" sz="2400" b="0" dirty="0">
                <a:solidFill>
                  <a:srgbClr val="3333CC"/>
                </a:solidFill>
              </a:rPr>
              <a:t>精密</a:t>
            </a:r>
            <a:r>
              <a:rPr lang="zh-CN" altLang="en-US" sz="2400" b="0" dirty="0">
                <a:solidFill>
                  <a:srgbClr val="FF0000"/>
                </a:solidFill>
              </a:rPr>
              <a:t>多圈</a:t>
            </a:r>
            <a:r>
              <a:rPr lang="zh-CN" altLang="en-US" sz="2400" b="0" dirty="0">
                <a:solidFill>
                  <a:srgbClr val="000000"/>
                </a:solidFill>
              </a:rPr>
              <a:t>电位器！</a:t>
            </a:r>
          </a:p>
          <a:p>
            <a:pPr algn="l" eaLnBrk="1" hangingPunct="1">
              <a:lnSpc>
                <a:spcPct val="120000"/>
              </a:lnSpc>
              <a:buFont typeface="Arial" charset="0"/>
              <a:buNone/>
            </a:pPr>
            <a:r>
              <a:rPr lang="zh-CN" altLang="en-US" sz="2400" b="1">
                <a:solidFill>
                  <a:srgbClr val="000000"/>
                </a:solidFill>
                <a:ea typeface="华文楷体" panose="02010600040101010101" pitchFamily="2" charset="-122"/>
              </a:rPr>
              <a:t>看</a:t>
            </a:r>
            <a:r>
              <a:rPr lang="zh-CN" altLang="en-US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着调节目标变化来转调</a:t>
            </a:r>
            <a:r>
              <a:rPr lang="zh-CN" altLang="en-US" sz="2400" b="1">
                <a:solidFill>
                  <a:srgbClr val="000000"/>
                </a:solidFill>
                <a:ea typeface="华文楷体" panose="02010600040101010101" pitchFamily="2" charset="-122"/>
              </a:rPr>
              <a:t>节口</a:t>
            </a:r>
            <a:endParaRPr lang="en-US" altLang="zh-CN" sz="2400" b="1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algn="l" eaLnBrk="1" hangingPunct="1">
              <a:lnSpc>
                <a:spcPct val="120000"/>
              </a:lnSpc>
              <a:buFont typeface="Arial" charset="0"/>
              <a:buNone/>
            </a:pPr>
            <a:r>
              <a:rPr lang="zh-CN" altLang="en-US" sz="2400" b="1">
                <a:solidFill>
                  <a:srgbClr val="000000"/>
                </a:solidFill>
                <a:ea typeface="华文楷体" panose="02010600040101010101" pitchFamily="2" charset="-122"/>
              </a:rPr>
              <a:t>（一次一圈的调）</a:t>
            </a:r>
            <a:endParaRPr lang="zh-CN" altLang="en-US" sz="24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30726" name="Text Box 21"/>
          <p:cNvSpPr txBox="1">
            <a:spLocks noChangeArrowheads="1"/>
          </p:cNvSpPr>
          <p:nvPr/>
        </p:nvSpPr>
        <p:spPr bwMode="auto">
          <a:xfrm>
            <a:off x="1259309" y="4310398"/>
            <a:ext cx="3603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zh-CN" sz="2800" b="1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30727" name="Line 22"/>
          <p:cNvSpPr>
            <a:spLocks noChangeShapeType="1"/>
          </p:cNvSpPr>
          <p:nvPr/>
        </p:nvSpPr>
        <p:spPr bwMode="auto">
          <a:xfrm>
            <a:off x="2195736" y="2427288"/>
            <a:ext cx="0" cy="504825"/>
          </a:xfrm>
          <a:prstGeom prst="line">
            <a:avLst/>
          </a:prstGeom>
          <a:noFill/>
          <a:ln w="101600">
            <a:solidFill>
              <a:schemeClr val="accent2">
                <a:lumMod val="60000"/>
                <a:lumOff val="4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728" name="Text Box 23"/>
          <p:cNvSpPr txBox="1">
            <a:spLocks noChangeArrowheads="1"/>
          </p:cNvSpPr>
          <p:nvPr/>
        </p:nvSpPr>
        <p:spPr bwMode="auto">
          <a:xfrm>
            <a:off x="1907704" y="4417948"/>
            <a:ext cx="3603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zh-CN" sz="2800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30729" name="Text Box 24"/>
          <p:cNvSpPr txBox="1">
            <a:spLocks noChangeArrowheads="1"/>
          </p:cNvSpPr>
          <p:nvPr/>
        </p:nvSpPr>
        <p:spPr bwMode="auto">
          <a:xfrm>
            <a:off x="539552" y="4345940"/>
            <a:ext cx="3603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zh-CN" sz="2800" b="1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860416" y="4629561"/>
            <a:ext cx="3068650" cy="165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l">
              <a:buFont typeface="Arial" charset="0"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     </a:t>
            </a:r>
            <a:r>
              <a:rPr lang="zh-CN" altLang="zh-CN" sz="2400" b="1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R</a:t>
            </a:r>
            <a:r>
              <a:rPr lang="zh-CN" altLang="zh-CN" sz="2000" b="1" u="sng" dirty="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13</a:t>
            </a:r>
            <a:r>
              <a:rPr lang="en-US" altLang="zh-CN" sz="2400" b="1" u="sng" dirty="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=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R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12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+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R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23</a:t>
            </a:r>
            <a:endParaRPr lang="en-US" altLang="zh-CN" sz="2000" b="1">
              <a:solidFill>
                <a:srgbClr val="000000"/>
              </a:solidFill>
              <a:latin typeface="Times New Roman" pitchFamily="18" charset="0"/>
              <a:ea typeface="Arial Unicode MS" pitchFamily="34" charset="-122"/>
              <a:cs typeface="Arial Unicode MS" pitchFamily="34" charset="-122"/>
            </a:endParaRPr>
          </a:p>
          <a:p>
            <a:pPr algn="l">
              <a:buFont typeface="Arial" charset="0"/>
              <a:buNone/>
            </a:pPr>
            <a:r>
              <a:rPr lang="zh-CN" altLang="en-US" sz="2000" b="0">
                <a:solidFill>
                  <a:srgbClr val="000000"/>
                </a:solidFill>
                <a:latin typeface="+mj-ea"/>
                <a:ea typeface="+mj-ea"/>
                <a:cs typeface="Arial Unicode MS" pitchFamily="34" charset="-122"/>
              </a:rPr>
              <a:t>器件标示（末位是倍率）</a:t>
            </a:r>
            <a:endParaRPr lang="zh-CN" altLang="zh-CN" sz="2000" b="0" dirty="0">
              <a:solidFill>
                <a:srgbClr val="000000"/>
              </a:solidFill>
              <a:latin typeface="+mj-ea"/>
              <a:ea typeface="+mj-ea"/>
            </a:endParaRPr>
          </a:p>
          <a:p>
            <a:pPr algn="l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</a:pPr>
            <a:r>
              <a:rPr lang="en-US" altLang="zh-CN" sz="2400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2</a:t>
            </a:r>
            <a:r>
              <a:rPr lang="en-US" altLang="zh-CN" sz="800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zh-CN" altLang="zh-CN" sz="2400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sz="800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400" u="sng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3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＝  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20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K</a:t>
            </a:r>
            <a:r>
              <a:rPr lang="zh-CN" altLang="zh-CN" sz="2400" b="1">
                <a:solidFill>
                  <a:srgbClr val="000000"/>
                </a:solidFill>
                <a:latin typeface="Symbol" pitchFamily="18" charset="2"/>
                <a:ea typeface="Arial Unicode MS" pitchFamily="34" charset="-122"/>
                <a:cs typeface="Arial Unicode MS" pitchFamily="34" charset="-122"/>
              </a:rPr>
              <a:t>W</a:t>
            </a:r>
            <a:endParaRPr lang="zh-CN" altLang="zh-CN" sz="2400" b="1" dirty="0">
              <a:solidFill>
                <a:srgbClr val="000000"/>
              </a:solidFill>
              <a:latin typeface="Symbol" pitchFamily="18" charset="2"/>
              <a:ea typeface="Arial Unicode MS" pitchFamily="34" charset="-122"/>
              <a:cs typeface="Arial Unicode MS" pitchFamily="34" charset="-122"/>
            </a:endParaRPr>
          </a:p>
          <a:p>
            <a:pPr algn="l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</a:pPr>
            <a:r>
              <a:rPr lang="en-US" altLang="zh-CN" sz="2400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5</a:t>
            </a:r>
            <a:r>
              <a:rPr lang="en-US" altLang="zh-CN" sz="800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zh-CN" altLang="zh-CN" sz="2400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sz="800" u="sng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400" u="sng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＝ 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5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00</a:t>
            </a:r>
            <a:r>
              <a:rPr lang="zh-CN" altLang="zh-CN" sz="2400" b="1">
                <a:solidFill>
                  <a:srgbClr val="000000"/>
                </a:solidFill>
                <a:latin typeface="Symbol" pitchFamily="18" charset="2"/>
                <a:ea typeface="Arial Unicode MS" pitchFamily="34" charset="-122"/>
                <a:cs typeface="Arial Unicode MS" pitchFamily="34" charset="-122"/>
              </a:rPr>
              <a:t>W</a:t>
            </a:r>
            <a:endParaRPr lang="zh-CN" altLang="zh-CN" sz="2400" b="1" dirty="0">
              <a:solidFill>
                <a:srgbClr val="000000"/>
              </a:solidFill>
              <a:latin typeface="Symbol" pitchFamily="18" charset="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43504" y="6251608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solidFill>
                  <a:schemeClr val="tx2"/>
                </a:solidFill>
              </a:rPr>
              <a:t> </a:t>
            </a:r>
            <a:r>
              <a:rPr lang="zh-CN" altLang="en-US" sz="2000" dirty="0">
                <a:solidFill>
                  <a:schemeClr val="tx2"/>
                </a:solidFill>
              </a:rPr>
              <a:t>原理图标示</a:t>
            </a:r>
          </a:p>
        </p:txBody>
      </p:sp>
      <p:cxnSp>
        <p:nvCxnSpPr>
          <p:cNvPr id="5" name="直接箭头连接符 4"/>
          <p:cNvCxnSpPr>
            <a:cxnSpLocks/>
          </p:cNvCxnSpPr>
          <p:nvPr/>
        </p:nvCxnSpPr>
        <p:spPr bwMode="auto">
          <a:xfrm flipH="1" flipV="1">
            <a:off x="1259312" y="3375024"/>
            <a:ext cx="2088552" cy="1422128"/>
          </a:xfrm>
          <a:prstGeom prst="straightConnector1">
            <a:avLst/>
          </a:prstGeom>
          <a:noFill/>
          <a:ln w="508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Line 3"/>
          <p:cNvSpPr>
            <a:spLocks noChangeShapeType="1"/>
          </p:cNvSpPr>
          <p:nvPr/>
        </p:nvSpPr>
        <p:spPr bwMode="ltGray">
          <a:xfrm>
            <a:off x="684213" y="785794"/>
            <a:ext cx="76708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153" y="101741"/>
            <a:ext cx="6572721" cy="64856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600" b="1">
                <a:solidFill>
                  <a:srgbClr val="3333FF"/>
                </a:solidFill>
                <a:effectLst/>
                <a:ea typeface="华文楷体" panose="02010600040101010101" pitchFamily="2" charset="-122"/>
              </a:rPr>
              <a:t>电位器</a:t>
            </a:r>
            <a:r>
              <a:rPr lang="zh-CN" altLang="en-US" sz="2800" b="1">
                <a:solidFill>
                  <a:srgbClr val="3333FF"/>
                </a:solidFill>
                <a:effectLst/>
              </a:rPr>
              <a:t>（可调电阻</a:t>
            </a:r>
            <a:r>
              <a:rPr lang="en-US" altLang="zh-CN" sz="2800" b="1">
                <a:solidFill>
                  <a:srgbClr val="3333FF"/>
                </a:solidFill>
                <a:effectLst/>
              </a:rPr>
              <a:t>=</a:t>
            </a:r>
            <a:r>
              <a:rPr lang="zh-CN" altLang="en-US" sz="2800" b="1">
                <a:solidFill>
                  <a:srgbClr val="3333FF"/>
                </a:solidFill>
                <a:effectLst/>
              </a:rPr>
              <a:t>滑动变阻器</a:t>
            </a:r>
            <a:r>
              <a:rPr lang="zh-CN" altLang="en-US" sz="2800">
                <a:solidFill>
                  <a:srgbClr val="3333FF"/>
                </a:solidFill>
                <a:effectLst/>
              </a:rPr>
              <a:t>）</a:t>
            </a:r>
            <a:endParaRPr lang="zh-CN" altLang="en-US" sz="3600" dirty="0">
              <a:solidFill>
                <a:srgbClr val="3333FF"/>
              </a:solidFill>
              <a:effectLst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8FFE815D-3F6C-4304-BC38-FCF6EDA62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31770" y="3308560"/>
            <a:ext cx="3002875" cy="282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Text Box 21">
            <a:extLst>
              <a:ext uri="{FF2B5EF4-FFF2-40B4-BE49-F238E27FC236}">
                <a16:creationId xmlns:a16="http://schemas.microsoft.com/office/drawing/2014/main" id="{D33E32EF-A05B-4D4E-B6B6-CB0667F58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9566" y="5547046"/>
            <a:ext cx="288355" cy="46166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zh-CN" sz="24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6" name="Text Box 21">
            <a:extLst>
              <a:ext uri="{FF2B5EF4-FFF2-40B4-BE49-F238E27FC236}">
                <a16:creationId xmlns:a16="http://schemas.microsoft.com/office/drawing/2014/main" id="{79E4B857-FEFF-4842-ACA9-1C14AEFE5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519" y="4454202"/>
            <a:ext cx="288355" cy="46166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zh-CN" sz="24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55FDA56-B911-4AD6-BF28-4C1DE0EE2C20}"/>
              </a:ext>
            </a:extLst>
          </p:cNvPr>
          <p:cNvSpPr txBox="1"/>
          <p:nvPr/>
        </p:nvSpPr>
        <p:spPr>
          <a:xfrm>
            <a:off x="5864135" y="1279886"/>
            <a:ext cx="2812580" cy="18998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>
                <a:solidFill>
                  <a:schemeClr val="tx2"/>
                </a:solidFill>
              </a:rPr>
              <a:t>这种是单圈可调，使用方便些；但不够精细，慢调。找准滑动端，一样用法。（本次</a:t>
            </a:r>
            <a:r>
              <a:rPr lang="en-US" altLang="zh-CN" sz="2000">
                <a:solidFill>
                  <a:schemeClr val="tx2"/>
                </a:solidFill>
              </a:rPr>
              <a:t>470k</a:t>
            </a:r>
            <a:r>
              <a:rPr lang="zh-CN" altLang="en-US" sz="2000">
                <a:solidFill>
                  <a:schemeClr val="tx2"/>
                </a:solidFill>
              </a:rPr>
              <a:t>是这种）</a:t>
            </a:r>
          </a:p>
        </p:txBody>
      </p:sp>
      <p:sp>
        <p:nvSpPr>
          <p:cNvPr id="38" name="Text Box 16">
            <a:extLst>
              <a:ext uri="{FF2B5EF4-FFF2-40B4-BE49-F238E27FC236}">
                <a16:creationId xmlns:a16="http://schemas.microsoft.com/office/drawing/2014/main" id="{409EBEC5-0024-4F2F-A9DC-60A138F08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589" y="3316982"/>
            <a:ext cx="12347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zh-CN" sz="2000" b="1" dirty="0">
                <a:solidFill>
                  <a:srgbClr val="2722FA"/>
                </a:solidFill>
              </a:rPr>
              <a:t>2-</a:t>
            </a:r>
            <a:r>
              <a:rPr lang="zh-CN" altLang="en-US" sz="2000" b="1" dirty="0">
                <a:solidFill>
                  <a:srgbClr val="2722FA"/>
                </a:solidFill>
              </a:rPr>
              <a:t>滑动端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E523C4A-8AF9-43C5-B2E0-E8845694C2F2}"/>
              </a:ext>
            </a:extLst>
          </p:cNvPr>
          <p:cNvGrpSpPr/>
          <p:nvPr/>
        </p:nvGrpSpPr>
        <p:grpSpPr>
          <a:xfrm>
            <a:off x="3487647" y="2453422"/>
            <a:ext cx="1728788" cy="2125660"/>
            <a:chOff x="2814864" y="2641598"/>
            <a:chExt cx="1728788" cy="2125660"/>
          </a:xfrm>
        </p:grpSpPr>
        <p:sp>
          <p:nvSpPr>
            <p:cNvPr id="40" name="Line 7">
              <a:extLst>
                <a:ext uri="{FF2B5EF4-FFF2-40B4-BE49-F238E27FC236}">
                  <a16:creationId xmlns:a16="http://schemas.microsoft.com/office/drawing/2014/main" id="{D2B62DF3-C824-4562-AD35-211DEA9FB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864" y="4087808"/>
              <a:ext cx="1728788" cy="2691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Rectangle 8">
              <a:extLst>
                <a:ext uri="{FF2B5EF4-FFF2-40B4-BE49-F238E27FC236}">
                  <a16:creationId xmlns:a16="http://schemas.microsoft.com/office/drawing/2014/main" id="{80343C0A-ADE4-4D2F-97D6-A99D18620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064" y="3983034"/>
              <a:ext cx="685800" cy="228600"/>
            </a:xfrm>
            <a:prstGeom prst="rect">
              <a:avLst/>
            </a:prstGeom>
            <a:solidFill>
              <a:schemeClr val="accent1"/>
            </a:solidFill>
            <a:ln w="571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 typeface="Arial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2" name="Line 9">
              <a:extLst>
                <a:ext uri="{FF2B5EF4-FFF2-40B4-BE49-F238E27FC236}">
                  <a16:creationId xmlns:a16="http://schemas.microsoft.com/office/drawing/2014/main" id="{EB1AA221-835A-4653-9B2D-053F218D6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5064" y="4078284"/>
              <a:ext cx="1588" cy="51435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10">
              <a:extLst>
                <a:ext uri="{FF2B5EF4-FFF2-40B4-BE49-F238E27FC236}">
                  <a16:creationId xmlns:a16="http://schemas.microsoft.com/office/drawing/2014/main" id="{5C1537F2-C513-47C7-A537-A3F181657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920" y="4583109"/>
              <a:ext cx="806450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11">
              <a:extLst>
                <a:ext uri="{FF2B5EF4-FFF2-40B4-BE49-F238E27FC236}">
                  <a16:creationId xmlns:a16="http://schemas.microsoft.com/office/drawing/2014/main" id="{48A0027B-7B2E-44D3-9219-087E40970B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3064" y="4211634"/>
              <a:ext cx="1588" cy="3810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Oval 12">
              <a:extLst>
                <a:ext uri="{FF2B5EF4-FFF2-40B4-BE49-F238E27FC236}">
                  <a16:creationId xmlns:a16="http://schemas.microsoft.com/office/drawing/2014/main" id="{437C5F8D-BD14-4EB6-9D41-0409A8065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8864" y="402113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buFont typeface="Arial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" name="Line 13">
              <a:extLst>
                <a:ext uri="{FF2B5EF4-FFF2-40B4-BE49-F238E27FC236}">
                  <a16:creationId xmlns:a16="http://schemas.microsoft.com/office/drawing/2014/main" id="{F00C4166-3896-4F15-8BDE-A327C56FC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864" y="3059110"/>
              <a:ext cx="1644650" cy="14287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Rectangle 14">
              <a:extLst>
                <a:ext uri="{FF2B5EF4-FFF2-40B4-BE49-F238E27FC236}">
                  <a16:creationId xmlns:a16="http://schemas.microsoft.com/office/drawing/2014/main" id="{0808790E-5328-4462-BEA9-471B940CD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064" y="2954335"/>
              <a:ext cx="685800" cy="228600"/>
            </a:xfrm>
            <a:prstGeom prst="rect">
              <a:avLst/>
            </a:prstGeom>
            <a:solidFill>
              <a:schemeClr val="accent1"/>
            </a:solidFill>
            <a:ln w="571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 typeface="Arial" charset="0"/>
                <a:buNone/>
              </a:pPr>
              <a:endParaRPr lang="zh-CN" altLang="zh-CN">
                <a:solidFill>
                  <a:srgbClr val="000000"/>
                </a:solidFill>
                <a:latin typeface="Verdana" pitchFamily="34" charset="0"/>
              </a:endParaRPr>
            </a:p>
          </p:txBody>
        </p:sp>
        <p:sp>
          <p:nvSpPr>
            <p:cNvPr id="48" name="Line 15">
              <a:extLst>
                <a:ext uri="{FF2B5EF4-FFF2-40B4-BE49-F238E27FC236}">
                  <a16:creationId xmlns:a16="http://schemas.microsoft.com/office/drawing/2014/main" id="{996D6C8F-1125-47B7-B67D-39C3B0757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3064" y="3182935"/>
              <a:ext cx="1588" cy="3810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Text Box 17">
              <a:extLst>
                <a:ext uri="{FF2B5EF4-FFF2-40B4-BE49-F238E27FC236}">
                  <a16:creationId xmlns:a16="http://schemas.microsoft.com/office/drawing/2014/main" id="{E9615C74-6D3A-4B65-8505-005792DEE1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139" y="4400546"/>
              <a:ext cx="3603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Arial" charset="0"/>
                <a:buNone/>
              </a:pPr>
              <a:r>
                <a:rPr lang="zh-CN" altLang="zh-CN" b="1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50" name="Text Box 18">
              <a:extLst>
                <a:ext uri="{FF2B5EF4-FFF2-40B4-BE49-F238E27FC236}">
                  <a16:creationId xmlns:a16="http://schemas.microsoft.com/office/drawing/2014/main" id="{7692CF90-503D-49CE-A3F9-D542BBCD2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302" y="2641598"/>
              <a:ext cx="3603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Arial" charset="0"/>
                <a:buNone/>
              </a:pPr>
              <a:r>
                <a:rPr lang="zh-CN" altLang="zh-CN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51" name="Text Box 19">
              <a:extLst>
                <a:ext uri="{FF2B5EF4-FFF2-40B4-BE49-F238E27FC236}">
                  <a16:creationId xmlns:a16="http://schemas.microsoft.com/office/drawing/2014/main" id="{88975518-6350-48E5-A8E1-B948F1628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827" y="2641598"/>
              <a:ext cx="3603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Arial" charset="0"/>
                <a:buNone/>
              </a:pPr>
              <a:r>
                <a:rPr lang="zh-CN" altLang="zh-CN" b="1">
                  <a:solidFill>
                    <a:srgbClr val="000000"/>
                  </a:solidFill>
                </a:rPr>
                <a:t>3</a:t>
              </a:r>
            </a:p>
          </p:txBody>
        </p:sp>
      </p:grpSp>
      <p:sp>
        <p:nvSpPr>
          <p:cNvPr id="52" name="Text Box 20">
            <a:extLst>
              <a:ext uri="{FF2B5EF4-FFF2-40B4-BE49-F238E27FC236}">
                <a16:creationId xmlns:a16="http://schemas.microsoft.com/office/drawing/2014/main" id="{44CA4128-57F8-4773-8DF4-BC3DBF845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0364" y="2117952"/>
            <a:ext cx="1150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en-US" b="1">
                <a:solidFill>
                  <a:srgbClr val="000099"/>
                </a:solidFill>
              </a:rPr>
              <a:t>安装方式</a:t>
            </a:r>
            <a:endParaRPr lang="zh-CN" altLang="en-US" b="1" dirty="0">
              <a:solidFill>
                <a:srgbClr val="000099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BD54040-B19F-49BF-BC80-AEFEC05B30B3}"/>
              </a:ext>
            </a:extLst>
          </p:cNvPr>
          <p:cNvCxnSpPr>
            <a:cxnSpLocks/>
          </p:cNvCxnSpPr>
          <p:nvPr/>
        </p:nvCxnSpPr>
        <p:spPr bwMode="auto">
          <a:xfrm flipV="1">
            <a:off x="3919448" y="3591920"/>
            <a:ext cx="3642879" cy="1205232"/>
          </a:xfrm>
          <a:prstGeom prst="straightConnector1">
            <a:avLst/>
          </a:prstGeom>
          <a:noFill/>
          <a:ln w="508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 animBg="1"/>
      <p:bldP spid="28" grpId="0"/>
      <p:bldP spid="3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对象 2">
            <a:extLst>
              <a:ext uri="{FF2B5EF4-FFF2-40B4-BE49-F238E27FC236}">
                <a16:creationId xmlns:a16="http://schemas.microsoft.com/office/drawing/2014/main" id="{34F38A44-C91A-4952-9E00-5F71B0B36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6575" y="908050"/>
          <a:ext cx="3060700" cy="325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6" name="Picture" r:id="rId3" imgW="2187006" imgH="2325051" progId="Word.Picture.8">
                  <p:embed/>
                </p:oleObj>
              </mc:Choice>
              <mc:Fallback>
                <p:oleObj name="Picture" r:id="rId3" imgW="2187006" imgH="2325051" progId="Word.Picture.8">
                  <p:embed/>
                  <p:pic>
                    <p:nvPicPr>
                      <p:cNvPr id="54274" name="对象 2">
                        <a:extLst>
                          <a:ext uri="{FF2B5EF4-FFF2-40B4-BE49-F238E27FC236}">
                            <a16:creationId xmlns:a16="http://schemas.microsoft.com/office/drawing/2014/main" id="{34F38A44-C91A-4952-9E00-5F71B0B36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908050"/>
                        <a:ext cx="3060700" cy="325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5" name="Rectangle 3">
            <a:extLst>
              <a:ext uri="{FF2B5EF4-FFF2-40B4-BE49-F238E27FC236}">
                <a16:creationId xmlns:a16="http://schemas.microsoft.com/office/drawing/2014/main" id="{3F353DF7-871E-44CC-9845-617635F8F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4813"/>
            <a:ext cx="4000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初调保证电路正确</a:t>
            </a:r>
          </a:p>
        </p:txBody>
      </p:sp>
      <p:sp>
        <p:nvSpPr>
          <p:cNvPr id="54276" name="矩形 5">
            <a:extLst>
              <a:ext uri="{FF2B5EF4-FFF2-40B4-BE49-F238E27FC236}">
                <a16:creationId xmlns:a16="http://schemas.microsoft.com/office/drawing/2014/main" id="{D7C390EE-23A0-448A-93B7-1EF17F276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00" y="1196752"/>
            <a:ext cx="4775200" cy="446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连接好电路后，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检查无误后接通电源。用数字万用表的直流电压档测量电路的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2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（漏极对地电压），调整电位器</a:t>
            </a:r>
            <a:r>
              <a:rPr lang="en-US" altLang="zh-CN" sz="2200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en-US" altLang="zh-CN" sz="2200" baseline="-25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2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初步</a:t>
            </a:r>
            <a:r>
              <a:rPr lang="zh-CN" altLang="zh-CN" sz="22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</a:t>
            </a:r>
            <a:r>
              <a:rPr lang="en-US" altLang="zh-CN" sz="2200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200" baseline="-25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zh-CN" altLang="en-US" sz="22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值为</a:t>
            </a:r>
            <a:r>
              <a:rPr lang="en-US" altLang="zh-CN" sz="22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5~6V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输入输出接到示波器。</a:t>
            </a:r>
            <a:endParaRPr lang="en-US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示波器上看到超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倍放大的类似正弦输出波形（频率对应），则电路正确。可细调</a:t>
            </a:r>
            <a:r>
              <a:rPr lang="en-US" altLang="zh-CN" sz="22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Rp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，开始后续测试。</a:t>
            </a:r>
            <a:endParaRPr lang="en-US" altLang="zh-CN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22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示波器上没看到有放大的近似频率的波形输出，检查整个实验平台。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5BE109-2A10-450A-994C-EA00EF6A17A7}"/>
              </a:ext>
            </a:extLst>
          </p:cNvPr>
          <p:cNvSpPr/>
          <p:nvPr/>
        </p:nvSpPr>
        <p:spPr>
          <a:xfrm>
            <a:off x="5580112" y="4509120"/>
            <a:ext cx="29878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建议：查电源</a:t>
            </a:r>
            <a:r>
              <a:rPr lang="en-US" altLang="zh-CN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查输入</a:t>
            </a:r>
            <a:r>
              <a:rPr lang="en-US" altLang="zh-CN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查连线</a:t>
            </a:r>
            <a:r>
              <a:rPr lang="en-US" altLang="zh-CN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查器件（特别是</a:t>
            </a:r>
            <a:r>
              <a:rPr lang="en-US" altLang="zh-CN" sz="2400" dirty="0" err="1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Rg</a:t>
            </a:r>
            <a:r>
              <a:rPr lang="zh-CN" altLang="en-US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Rs</a:t>
            </a:r>
            <a:r>
              <a:rPr lang="zh-CN" altLang="en-US" sz="2400" dirty="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支路上器件）</a:t>
            </a:r>
            <a:endParaRPr lang="zh-CN" alt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1012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7B33D22-6F32-4E5F-A5F1-23CFB527A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49" y="4017195"/>
            <a:ext cx="6426327" cy="2215002"/>
          </a:xfrm>
          <a:prstGeom prst="rect">
            <a:avLst/>
          </a:prstGeom>
        </p:spPr>
      </p:pic>
      <p:graphicFrame>
        <p:nvGraphicFramePr>
          <p:cNvPr id="54274" name="对象 2">
            <a:extLst>
              <a:ext uri="{FF2B5EF4-FFF2-40B4-BE49-F238E27FC236}">
                <a16:creationId xmlns:a16="http://schemas.microsoft.com/office/drawing/2014/main" id="{34F38A44-C91A-4952-9E00-5F71B0B36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6575" y="908050"/>
          <a:ext cx="3060700" cy="325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8" name="Picture" r:id="rId4" imgW="2187006" imgH="2325051" progId="Word.Picture.8">
                  <p:embed/>
                </p:oleObj>
              </mc:Choice>
              <mc:Fallback>
                <p:oleObj name="Picture" r:id="rId4" imgW="2187006" imgH="2325051" progId="Word.Picture.8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908050"/>
                        <a:ext cx="3060700" cy="325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5" name="Rectangle 3">
            <a:extLst>
              <a:ext uri="{FF2B5EF4-FFF2-40B4-BE49-F238E27FC236}">
                <a16:creationId xmlns:a16="http://schemas.microsoft.com/office/drawing/2014/main" id="{3F353DF7-871E-44CC-9845-617635F8F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4813"/>
            <a:ext cx="40005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测试静态工作点</a:t>
            </a:r>
          </a:p>
        </p:txBody>
      </p:sp>
      <p:sp>
        <p:nvSpPr>
          <p:cNvPr id="54276" name="矩形 5">
            <a:extLst>
              <a:ext uri="{FF2B5EF4-FFF2-40B4-BE49-F238E27FC236}">
                <a16:creationId xmlns:a16="http://schemas.microsoft.com/office/drawing/2014/main" id="{D7C390EE-23A0-448A-93B7-1EF17F276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315558"/>
            <a:ext cx="4775200" cy="27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细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调整电位器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en-US" altLang="zh-CN" sz="22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使输出正弦波有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倍以上放大且不失真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。测出电路的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2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G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（栅极对地电压）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2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（源极对地电压）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2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，填入表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3.3.2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zh-CN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与教材不同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中，并计算静态工作点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Q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en-US" altLang="zh-CN" sz="22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DQ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2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GSQ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200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200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DSQ</a:t>
            </a:r>
            <a:r>
              <a:rPr lang="zh-CN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）。</a:t>
            </a:r>
            <a:endParaRPr lang="zh-CN" altLang="en-US" sz="2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272063F1-093B-4EE4-9EEA-BFC9116AC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335088"/>
            <a:ext cx="488315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9900" indent="-469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测试放大电路的输入、输出波形和通带电压增益</a:t>
            </a:r>
            <a:endParaRPr lang="en-US" altLang="zh-CN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测试放大电路的输入电阻</a:t>
            </a:r>
            <a:endParaRPr lang="en-US" altLang="zh-CN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测试放大电路的输出电阻</a:t>
            </a:r>
            <a:endParaRPr lang="en-US" altLang="zh-CN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测试放大电路的通频带</a:t>
            </a:r>
          </a:p>
        </p:txBody>
      </p:sp>
      <p:sp>
        <p:nvSpPr>
          <p:cNvPr id="55299" name="标题 1">
            <a:extLst>
              <a:ext uri="{FF2B5EF4-FFF2-40B4-BE49-F238E27FC236}">
                <a16:creationId xmlns:a16="http://schemas.microsoft.com/office/drawing/2014/main" id="{952EB09A-4138-43BE-8F71-AF2837F467B9}"/>
              </a:ext>
            </a:extLst>
          </p:cNvPr>
          <p:cNvSpPr txBox="1">
            <a:spLocks/>
          </p:cNvSpPr>
          <p:nvPr/>
        </p:nvSpPr>
        <p:spPr bwMode="auto">
          <a:xfrm>
            <a:off x="568325" y="404813"/>
            <a:ext cx="66309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性能测试</a:t>
            </a:r>
          </a:p>
        </p:txBody>
      </p:sp>
      <p:graphicFrame>
        <p:nvGraphicFramePr>
          <p:cNvPr id="55301" name="对象 2">
            <a:extLst>
              <a:ext uri="{FF2B5EF4-FFF2-40B4-BE49-F238E27FC236}">
                <a16:creationId xmlns:a16="http://schemas.microsoft.com/office/drawing/2014/main" id="{4D53723F-027D-4267-972A-BA79AA5A05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1643063"/>
          <a:ext cx="3429000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3" name="Picture" r:id="rId4" imgW="2175641" imgH="2312276" progId="Word.Picture.8">
                  <p:embed/>
                </p:oleObj>
              </mc:Choice>
              <mc:Fallback>
                <p:oleObj name="Picture" r:id="rId4" imgW="2175641" imgH="2312276" progId="Word.Picture.8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1643063"/>
                        <a:ext cx="3429000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4">
            <a:extLst>
              <a:ext uri="{FF2B5EF4-FFF2-40B4-BE49-F238E27FC236}">
                <a16:creationId xmlns:a16="http://schemas.microsoft.com/office/drawing/2014/main" id="{8EAE976B-8FC5-4B13-B9ED-417B0B4E0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548" y="4438082"/>
            <a:ext cx="3708400" cy="573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以上按照教材要求做</a:t>
            </a: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页脚占位符 6">
            <a:extLst>
              <a:ext uri="{FF2B5EF4-FFF2-40B4-BE49-F238E27FC236}">
                <a16:creationId xmlns:a16="http://schemas.microsoft.com/office/drawing/2014/main" id="{215E1C30-C964-4505-942E-3975789DD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AF43D3A-CC7D-4C40-8A3D-3930863B543A}" type="slidenum">
              <a:rPr lang="en-US" altLang="zh-CN" sz="1600" smtClean="0">
                <a:latin typeface="微软雅黑" panose="020B0503020204020204" pitchFamily="34" charset="-122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53</a:t>
            </a:fld>
            <a:endParaRPr lang="en-US" altLang="zh-CN" sz="1600">
              <a:latin typeface="微软雅黑" panose="020B0503020204020204" pitchFamily="34" charset="-122"/>
            </a:endParaRPr>
          </a:p>
        </p:txBody>
      </p:sp>
      <p:graphicFrame>
        <p:nvGraphicFramePr>
          <p:cNvPr id="56323" name="Object 1">
            <a:extLst>
              <a:ext uri="{FF2B5EF4-FFF2-40B4-BE49-F238E27FC236}">
                <a16:creationId xmlns:a16="http://schemas.microsoft.com/office/drawing/2014/main" id="{5B3D8D5E-CAC1-4128-8BF0-945420C3C6E5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03838" y="2230438"/>
          <a:ext cx="3335337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5" name="图片" r:id="rId4" imgW="1856096" imgH="950794" progId="Word.Picture.8">
                  <p:embed/>
                </p:oleObj>
              </mc:Choice>
              <mc:Fallback>
                <p:oleObj name="图片" r:id="rId4" imgW="1856096" imgH="950794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2230438"/>
                        <a:ext cx="3335337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Rectangle 5">
            <a:extLst>
              <a:ext uri="{FF2B5EF4-FFF2-40B4-BE49-F238E27FC236}">
                <a16:creationId xmlns:a16="http://schemas.microsoft.com/office/drawing/2014/main" id="{1C197A5E-D6EC-478E-9366-6AD6C0B928C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23850" y="1160463"/>
            <a:ext cx="6408738" cy="6477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输入电阻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56325" name="Text Box 8">
            <a:extLst>
              <a:ext uri="{FF2B5EF4-FFF2-40B4-BE49-F238E27FC236}">
                <a16:creationId xmlns:a16="http://schemas.microsoft.com/office/drawing/2014/main" id="{621E8276-7DEC-4ED4-9648-EC216BE93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25" y="1122363"/>
            <a:ext cx="19796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实验测试</a:t>
            </a:r>
          </a:p>
        </p:txBody>
      </p:sp>
      <p:sp>
        <p:nvSpPr>
          <p:cNvPr id="56326" name="Line 9">
            <a:extLst>
              <a:ext uri="{FF2B5EF4-FFF2-40B4-BE49-F238E27FC236}">
                <a16:creationId xmlns:a16="http://schemas.microsoft.com/office/drawing/2014/main" id="{253115FA-9BD3-48C6-BBCC-0ED1791F7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4150" y="976313"/>
            <a:ext cx="0" cy="5400675"/>
          </a:xfrm>
          <a:prstGeom prst="line">
            <a:avLst/>
          </a:prstGeom>
          <a:noFill/>
          <a:ln w="38100" cmpd="dbl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</a:endParaRPr>
          </a:p>
        </p:txBody>
      </p:sp>
      <p:graphicFrame>
        <p:nvGraphicFramePr>
          <p:cNvPr id="56327" name="Object 3">
            <a:extLst>
              <a:ext uri="{FF2B5EF4-FFF2-40B4-BE49-F238E27FC236}">
                <a16:creationId xmlns:a16="http://schemas.microsoft.com/office/drawing/2014/main" id="{3D72B6F3-723B-43E2-B27B-C1DAF9ECE58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514975" y="4873625"/>
          <a:ext cx="243522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6" name="公式" r:id="rId6" imgW="799753" imgH="380835" progId="Equation.3">
                  <p:embed/>
                </p:oleObj>
              </mc:Choice>
              <mc:Fallback>
                <p:oleObj name="公式" r:id="rId6" imgW="799753" imgH="3808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975" y="4873625"/>
                        <a:ext cx="2435225" cy="8143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AutoShape 12">
            <a:extLst>
              <a:ext uri="{FF2B5EF4-FFF2-40B4-BE49-F238E27FC236}">
                <a16:creationId xmlns:a16="http://schemas.microsoft.com/office/drawing/2014/main" id="{6BBD0F5B-911A-4C99-ACEE-5B4BC9863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6463" y="1319213"/>
            <a:ext cx="1800225" cy="865187"/>
          </a:xfrm>
          <a:prstGeom prst="wedgeRoundRectCallout">
            <a:avLst>
              <a:gd name="adj1" fmla="val -75046"/>
              <a:gd name="adj2" fmla="val 6504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串联一个已知电阻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56329" name="Rectangle 13">
            <a:extLst>
              <a:ext uri="{FF2B5EF4-FFF2-40B4-BE49-F238E27FC236}">
                <a16:creationId xmlns:a16="http://schemas.microsoft.com/office/drawing/2014/main" id="{443823F6-8FE0-41EC-A6FF-68B7730C3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3941763"/>
            <a:ext cx="52578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FF33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400" b="0">
                <a:solidFill>
                  <a:srgbClr val="FF3300"/>
                </a:solidFill>
                <a:latin typeface="Times New Roman" panose="02020603050405020304" pitchFamily="18" charset="0"/>
              </a:rPr>
              <a:t>在输出波形不失真情况下</a:t>
            </a:r>
            <a:r>
              <a:rPr lang="zh-CN" altLang="en-US" sz="2400" b="0">
                <a:latin typeface="Times New Roman" panose="02020603050405020304" pitchFamily="18" charset="0"/>
              </a:rPr>
              <a:t>，用示波器分别测量出</a:t>
            </a:r>
            <a:r>
              <a:rPr lang="en-US" altLang="zh-CN" sz="2400" b="0" i="1">
                <a:latin typeface="Times New Roman" panose="02020603050405020304" pitchFamily="18" charset="0"/>
              </a:rPr>
              <a:t>V</a:t>
            </a:r>
            <a:r>
              <a:rPr lang="en-US" altLang="zh-CN" sz="2400" b="0">
                <a:latin typeface="Times New Roman" panose="02020603050405020304" pitchFamily="18" charset="0"/>
              </a:rPr>
              <a:t>i</a:t>
            </a:r>
            <a:r>
              <a:rPr lang="zh-CN" altLang="en-US" sz="2400" b="0">
                <a:latin typeface="Times New Roman" panose="02020603050405020304" pitchFamily="18" charset="0"/>
              </a:rPr>
              <a:t>与</a:t>
            </a:r>
            <a:r>
              <a:rPr lang="en-US" altLang="zh-CN" sz="2400" b="0" i="1">
                <a:latin typeface="Times New Roman" panose="02020603050405020304" pitchFamily="18" charset="0"/>
              </a:rPr>
              <a:t>V</a:t>
            </a:r>
            <a:r>
              <a:rPr lang="en-US" altLang="zh-CN" sz="2400" b="0">
                <a:latin typeface="Times New Roman" panose="02020603050405020304" pitchFamily="18" charset="0"/>
              </a:rPr>
              <a:t>s</a:t>
            </a:r>
            <a:r>
              <a:rPr lang="zh-CN" altLang="en-US" sz="2400" b="0">
                <a:latin typeface="Times New Roman" panose="02020603050405020304" pitchFamily="18" charset="0"/>
              </a:rPr>
              <a:t>的值，则</a:t>
            </a:r>
            <a:r>
              <a:rPr lang="zh-CN" altLang="en-US" sz="2400" b="0">
                <a:latin typeface="微软雅黑" panose="020B0503020204020204" pitchFamily="34" charset="-122"/>
              </a:rPr>
              <a:t> </a:t>
            </a:r>
          </a:p>
        </p:txBody>
      </p:sp>
      <p:sp>
        <p:nvSpPr>
          <p:cNvPr id="56330" name="标题 1">
            <a:extLst>
              <a:ext uri="{FF2B5EF4-FFF2-40B4-BE49-F238E27FC236}">
                <a16:creationId xmlns:a16="http://schemas.microsoft.com/office/drawing/2014/main" id="{C8EA58FA-D800-4A48-A545-CABA1056BFEB}"/>
              </a:ext>
            </a:extLst>
          </p:cNvPr>
          <p:cNvSpPr txBox="1">
            <a:spLocks/>
          </p:cNvSpPr>
          <p:nvPr/>
        </p:nvSpPr>
        <p:spPr bwMode="auto">
          <a:xfrm>
            <a:off x="568325" y="404813"/>
            <a:ext cx="66309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性能测试</a:t>
            </a:r>
          </a:p>
        </p:txBody>
      </p:sp>
      <p:pic>
        <p:nvPicPr>
          <p:cNvPr id="56331" name="图片 21">
            <a:extLst>
              <a:ext uri="{FF2B5EF4-FFF2-40B4-BE49-F238E27FC236}">
                <a16:creationId xmlns:a16="http://schemas.microsoft.com/office/drawing/2014/main" id="{E7EB9CF8-32B0-469D-B329-C28A75D91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668463"/>
            <a:ext cx="347662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5">
            <a:extLst>
              <a:ext uri="{FF2B5EF4-FFF2-40B4-BE49-F238E27FC236}">
                <a16:creationId xmlns:a16="http://schemas.microsoft.com/office/drawing/2014/main" id="{B3855EBF-9017-42FD-B57F-2358CCF7F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3" y="3228975"/>
            <a:ext cx="3760787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先后测量开关</a:t>
            </a:r>
            <a:r>
              <a:rPr lang="en-US" altLang="zh-CN" sz="2400" dirty="0">
                <a:latin typeface="+mn-ea"/>
                <a:ea typeface="+mn-ea"/>
              </a:rPr>
              <a:t>S</a:t>
            </a:r>
            <a:r>
              <a:rPr lang="zh-CN" altLang="en-US" sz="2400" dirty="0">
                <a:latin typeface="+mn-ea"/>
                <a:ea typeface="+mn-ea"/>
              </a:rPr>
              <a:t>闭合和断开时对应的输出电压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o1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o2</a:t>
            </a:r>
            <a:r>
              <a:rPr lang="zh-CN" altLang="en-US" sz="2400" dirty="0">
                <a:latin typeface="+mn-ea"/>
                <a:ea typeface="+mn-ea"/>
              </a:rPr>
              <a:t>，则输入电阻为：</a:t>
            </a:r>
          </a:p>
        </p:txBody>
      </p:sp>
      <p:graphicFrame>
        <p:nvGraphicFramePr>
          <p:cNvPr id="56333" name="对象 20">
            <a:extLst>
              <a:ext uri="{FF2B5EF4-FFF2-40B4-BE49-F238E27FC236}">
                <a16:creationId xmlns:a16="http://schemas.microsoft.com/office/drawing/2014/main" id="{5C81C94F-B13B-475D-8091-B8FE18C8D6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6788" y="4629150"/>
          <a:ext cx="209708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7" name="公式" r:id="rId9" imgW="1130485" imgH="495195" progId="Equation.3">
                  <p:embed/>
                </p:oleObj>
              </mc:Choice>
              <mc:Fallback>
                <p:oleObj name="公式" r:id="rId9" imgW="1130485" imgH="495195" progId="Equation.3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4629150"/>
                        <a:ext cx="2097087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4" name="AutoShape 12">
            <a:extLst>
              <a:ext uri="{FF2B5EF4-FFF2-40B4-BE49-F238E27FC236}">
                <a16:creationId xmlns:a16="http://schemas.microsoft.com/office/drawing/2014/main" id="{D353A2C8-D1AF-402F-B047-D520048A5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1135063"/>
            <a:ext cx="1638300" cy="717550"/>
          </a:xfrm>
          <a:prstGeom prst="wedgeRoundRectCallout">
            <a:avLst>
              <a:gd name="adj1" fmla="val -75046"/>
              <a:gd name="adj2" fmla="val 6504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串联一个已知电阻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CDCED458-113C-4E7C-93C7-52A1826F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7" y="5845298"/>
            <a:ext cx="4176455" cy="423740"/>
          </a:xfrm>
          <a:prstGeom prst="wedgeRoundRectCallout">
            <a:avLst>
              <a:gd name="adj1" fmla="val 26649"/>
              <a:gd name="adj2" fmla="val -40725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>
                <a:latin typeface="Times New Roman" panose="02020603050405020304" pitchFamily="18" charset="0"/>
              </a:rPr>
              <a:t>阻值尽量接近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Ri</a:t>
            </a:r>
            <a:r>
              <a:rPr lang="zh-CN" altLang="en-US" sz="2400">
                <a:latin typeface="Times New Roman" panose="02020603050405020304" pitchFamily="18" charset="0"/>
              </a:rPr>
              <a:t>，结果越准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D163D53C-61B9-4FC2-BDC3-851B62761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94" y="5739791"/>
            <a:ext cx="3180893" cy="423740"/>
          </a:xfrm>
          <a:prstGeom prst="wedgeRoundRectCallout">
            <a:avLst>
              <a:gd name="adj1" fmla="val 3799"/>
              <a:gd name="adj2" fmla="val -6977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Times New Roman" panose="02020603050405020304" pitchFamily="18" charset="0"/>
              </a:rPr>
              <a:t>适合仪器内阻不够大时</a:t>
            </a: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页脚占位符 5">
            <a:extLst>
              <a:ext uri="{FF2B5EF4-FFF2-40B4-BE49-F238E27FC236}">
                <a16:creationId xmlns:a16="http://schemas.microsoft.com/office/drawing/2014/main" id="{0ADBF941-7DCE-4707-A642-14EE6EAB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81763"/>
            <a:ext cx="2895600" cy="3317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A449F28-DF10-4CFC-80D4-233E871BC0E3}" type="slidenum">
              <a:rPr lang="en-US" altLang="zh-CN" sz="1600" smtClean="0">
                <a:latin typeface="微软雅黑" panose="020B0503020204020204" pitchFamily="34" charset="-122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54</a:t>
            </a:fld>
            <a:endParaRPr lang="en-US" altLang="zh-CN" sz="1600">
              <a:latin typeface="微软雅黑" panose="020B0503020204020204" pitchFamily="34" charset="-122"/>
            </a:endParaRPr>
          </a:p>
        </p:txBody>
      </p:sp>
      <p:sp>
        <p:nvSpPr>
          <p:cNvPr id="24583" name="Rectangle 4">
            <a:extLst>
              <a:ext uri="{FF2B5EF4-FFF2-40B4-BE49-F238E27FC236}">
                <a16:creationId xmlns:a16="http://schemas.microsoft.com/office/drawing/2014/main" id="{A5D28F80-330B-40F6-83E5-BCF21AE861B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915816" y="448108"/>
            <a:ext cx="2664296" cy="6477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800" b="1">
                <a:solidFill>
                  <a:srgbClr val="0000CC"/>
                </a:solidFill>
                <a:latin typeface="+mn-ea"/>
              </a:rPr>
              <a:t>输出电阻</a:t>
            </a:r>
            <a:r>
              <a:rPr lang="en-US" altLang="zh-CN" sz="2800" b="1" i="1">
                <a:solidFill>
                  <a:srgbClr val="0000CC"/>
                </a:solidFill>
                <a:latin typeface="+mn-ea"/>
              </a:rPr>
              <a:t>R</a:t>
            </a:r>
            <a:r>
              <a:rPr lang="en-US" altLang="zh-CN" sz="2800" b="1" baseline="-25000">
                <a:solidFill>
                  <a:srgbClr val="0000CC"/>
                </a:solidFill>
                <a:latin typeface="+mn-ea"/>
              </a:rPr>
              <a:t>o</a:t>
            </a:r>
            <a:endParaRPr lang="en-US" altLang="zh-CN" sz="2800" b="1" baseline="-2500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57348" name="Text Box 7">
            <a:extLst>
              <a:ext uri="{FF2B5EF4-FFF2-40B4-BE49-F238E27FC236}">
                <a16:creationId xmlns:a16="http://schemas.microsoft.com/office/drawing/2014/main" id="{FD2C9F04-8B57-484F-A1D7-416D417AF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163" y="1425575"/>
            <a:ext cx="1979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实验测试</a:t>
            </a:r>
          </a:p>
        </p:txBody>
      </p:sp>
      <p:sp>
        <p:nvSpPr>
          <p:cNvPr id="57349" name="AutoShape 9">
            <a:extLst>
              <a:ext uri="{FF2B5EF4-FFF2-40B4-BE49-F238E27FC236}">
                <a16:creationId xmlns:a16="http://schemas.microsoft.com/office/drawing/2014/main" id="{D3E52CB2-8F19-4BC0-9D58-60307A9C0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4" y="1189039"/>
            <a:ext cx="2869382" cy="519114"/>
          </a:xfrm>
          <a:prstGeom prst="wedgeRoundRectCallout">
            <a:avLst>
              <a:gd name="adj1" fmla="val -47551"/>
              <a:gd name="adj2" fmla="val 9857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开关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zh-CN" altLang="en-US" sz="2400">
                <a:latin typeface="Times New Roman" panose="02020603050405020304" pitchFamily="18" charset="0"/>
              </a:rPr>
              <a:t>连线手动切换</a:t>
            </a:r>
            <a:endParaRPr lang="en-US" altLang="zh-CN" sz="240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0" name="Rectangle 10">
            <a:extLst>
              <a:ext uri="{FF2B5EF4-FFF2-40B4-BE49-F238E27FC236}">
                <a16:creationId xmlns:a16="http://schemas.microsoft.com/office/drawing/2014/main" id="{7F2048A6-4150-4933-98BE-9260F8AE0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516313"/>
            <a:ext cx="6521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rgbClr val="FF3300"/>
                </a:solidFill>
                <a:latin typeface="Times New Roman" panose="02020603050405020304" pitchFamily="18" charset="0"/>
              </a:rPr>
              <a:t>在输出波形不失真情况下</a:t>
            </a:r>
            <a:r>
              <a:rPr lang="zh-CN" altLang="en-US" sz="2400" b="0">
                <a:latin typeface="Times New Roman" panose="02020603050405020304" pitchFamily="18" charset="0"/>
              </a:rPr>
              <a:t>，用示波器分别 测量负载开路时的输出电压值</a:t>
            </a:r>
            <a:r>
              <a:rPr lang="en-US" altLang="zh-CN" sz="2400" b="0" i="1">
                <a:latin typeface="Times New Roman" panose="02020603050405020304" pitchFamily="18" charset="0"/>
              </a:rPr>
              <a:t>V</a:t>
            </a:r>
            <a:r>
              <a:rPr lang="en-US" altLang="zh-CN" sz="2400" b="0" baseline="-25000">
                <a:latin typeface="Times New Roman" panose="02020603050405020304" pitchFamily="18" charset="0"/>
              </a:rPr>
              <a:t>o</a:t>
            </a:r>
            <a:r>
              <a:rPr lang="en-US" altLang="zh-CN" sz="2400" b="0">
                <a:latin typeface="Times New Roman" panose="02020603050405020304" pitchFamily="18" charset="0"/>
              </a:rPr>
              <a:t> </a:t>
            </a:r>
            <a:r>
              <a:rPr lang="zh-CN" altLang="en-US" sz="2400" b="0">
                <a:latin typeface="Times New Roman" panose="02020603050405020304" pitchFamily="18" charset="0"/>
              </a:rPr>
              <a:t>和接入</a:t>
            </a:r>
            <a:r>
              <a:rPr lang="en-US" altLang="zh-CN" sz="2400" b="0" i="1">
                <a:latin typeface="Times New Roman" panose="02020603050405020304" pitchFamily="18" charset="0"/>
              </a:rPr>
              <a:t>R</a:t>
            </a:r>
            <a:r>
              <a:rPr lang="en-US" altLang="zh-CN" sz="2400" b="0" baseline="-30000">
                <a:latin typeface="Times New Roman" panose="02020603050405020304" pitchFamily="18" charset="0"/>
              </a:rPr>
              <a:t>L</a:t>
            </a:r>
            <a:r>
              <a:rPr lang="zh-CN" altLang="en-US" sz="2400" b="0">
                <a:latin typeface="Times New Roman" panose="02020603050405020304" pitchFamily="18" charset="0"/>
              </a:rPr>
              <a:t>后，负载上的电压值</a:t>
            </a:r>
            <a:r>
              <a:rPr lang="en-US" altLang="zh-CN" sz="2400" b="0" i="1">
                <a:latin typeface="Times New Roman" panose="02020603050405020304" pitchFamily="18" charset="0"/>
              </a:rPr>
              <a:t>V</a:t>
            </a:r>
            <a:r>
              <a:rPr lang="en-US" altLang="zh-CN" sz="2400" b="0" baseline="-25000">
                <a:latin typeface="Times New Roman" panose="02020603050405020304" pitchFamily="18" charset="0"/>
              </a:rPr>
              <a:t>oL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57351" name="Object 1">
            <a:extLst>
              <a:ext uri="{FF2B5EF4-FFF2-40B4-BE49-F238E27FC236}">
                <a16:creationId xmlns:a16="http://schemas.microsoft.com/office/drawing/2014/main" id="{D8739EB6-964F-461D-9E5B-595B5686C34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446338" y="1949450"/>
          <a:ext cx="4576762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4" name="图片" r:id="rId3" imgW="2242782" imgH="809767" progId="Word.Picture.8">
                  <p:embed/>
                </p:oleObj>
              </mc:Choice>
              <mc:Fallback>
                <p:oleObj name="图片" r:id="rId3" imgW="2242782" imgH="809767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1949450"/>
                        <a:ext cx="4576762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2">
            <a:extLst>
              <a:ext uri="{FF2B5EF4-FFF2-40B4-BE49-F238E27FC236}">
                <a16:creationId xmlns:a16="http://schemas.microsoft.com/office/drawing/2014/main" id="{2640D336-7B3C-4C17-AF78-5CCA6A2EE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4825" y="4797425"/>
          <a:ext cx="29527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5" name="公式" r:id="rId5" imgW="965200" imgH="381000" progId="Equation.3">
                  <p:embed/>
                </p:oleObj>
              </mc:Choice>
              <mc:Fallback>
                <p:oleObj name="公式" r:id="rId5" imgW="965200" imgH="38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4797425"/>
                        <a:ext cx="2952750" cy="9842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标题 1">
            <a:extLst>
              <a:ext uri="{FF2B5EF4-FFF2-40B4-BE49-F238E27FC236}">
                <a16:creationId xmlns:a16="http://schemas.microsoft.com/office/drawing/2014/main" id="{01F43B69-1BC8-445B-ABF3-F79B311BB80D}"/>
              </a:ext>
            </a:extLst>
          </p:cNvPr>
          <p:cNvSpPr txBox="1">
            <a:spLocks/>
          </p:cNvSpPr>
          <p:nvPr/>
        </p:nvSpPr>
        <p:spPr bwMode="auto">
          <a:xfrm>
            <a:off x="568325" y="404813"/>
            <a:ext cx="66309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性能测试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页脚占位符 3">
            <a:extLst>
              <a:ext uri="{FF2B5EF4-FFF2-40B4-BE49-F238E27FC236}">
                <a16:creationId xmlns:a16="http://schemas.microsoft.com/office/drawing/2014/main" id="{A08E5A74-6D5A-459F-813D-8888089C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81763"/>
            <a:ext cx="2895600" cy="3316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062DD51-1DE9-49E0-B208-5629F792910E}" type="slidenum">
              <a:rPr lang="en-US" altLang="zh-CN" sz="1600" smtClean="0">
                <a:latin typeface="微软雅黑" panose="020B0503020204020204" pitchFamily="34" charset="-122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55</a:t>
            </a:fld>
            <a:endParaRPr lang="en-US" altLang="zh-CN" sz="1600">
              <a:latin typeface="微软雅黑" panose="020B0503020204020204" pitchFamily="34" charset="-122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7182DF23-5F35-4C23-8964-E4B2F9D4D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2588" y="404813"/>
            <a:ext cx="5122862" cy="576262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en-US" altLang="zh-CN" sz="3000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BW </a:t>
            </a:r>
            <a:r>
              <a:rPr lang="zh-CN" altLang="en-US" sz="3000">
                <a:solidFill>
                  <a:srgbClr val="FF0000"/>
                </a:solidFill>
              </a:rPr>
              <a:t>的测试方法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4AC8E76-CC06-4EFF-98A1-2D4A5ED0FE0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68288" y="1096963"/>
            <a:ext cx="7777162" cy="574675"/>
          </a:xfrm>
        </p:spPr>
        <p:txBody>
          <a:bodyPr/>
          <a:lstStyle/>
          <a:p>
            <a:pPr marL="0" indent="0" eaLnBrk="1" hangingPunct="1"/>
            <a:r>
              <a:rPr lang="zh-CN" altLang="en-US" sz="2800">
                <a:latin typeface="黑体" panose="02010609060101010101" pitchFamily="49" charset="-122"/>
              </a:rPr>
              <a:t>采用</a:t>
            </a:r>
            <a:r>
              <a:rPr lang="zh-CN" altLang="en-US" sz="2800">
                <a:latin typeface="Times New Roman" panose="02020603050405020304" pitchFamily="18" charset="0"/>
              </a:rPr>
              <a:t>“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</a:rPr>
              <a:t>逐点法</a:t>
            </a:r>
            <a:r>
              <a:rPr lang="zh-CN" altLang="en-US" sz="2800">
                <a:latin typeface="Times New Roman" panose="02020603050405020304" pitchFamily="18" charset="0"/>
              </a:rPr>
              <a:t>”</a:t>
            </a:r>
            <a:r>
              <a:rPr lang="zh-CN" altLang="en-US" sz="2800">
                <a:latin typeface="黑体" panose="02010609060101010101" pitchFamily="49" charset="-122"/>
              </a:rPr>
              <a:t>测量放大器的幅频特性曲线。</a:t>
            </a:r>
            <a:endParaRPr lang="zh-CN" altLang="en-US" sz="3200">
              <a:latin typeface="黑体" panose="02010609060101010101" pitchFamily="49" charset="-122"/>
            </a:endParaRPr>
          </a:p>
        </p:txBody>
      </p:sp>
      <p:graphicFrame>
        <p:nvGraphicFramePr>
          <p:cNvPr id="416772" name="Group 4">
            <a:extLst>
              <a:ext uri="{FF2B5EF4-FFF2-40B4-BE49-F238E27FC236}">
                <a16:creationId xmlns:a16="http://schemas.microsoft.com/office/drawing/2014/main" id="{175826EA-C2E0-4607-AF4F-46363D1D4E1A}"/>
              </a:ext>
            </a:extLst>
          </p:cNvPr>
          <p:cNvGraphicFramePr>
            <a:graphicFrameLocks noGrp="1"/>
          </p:cNvGraphicFramePr>
          <p:nvPr/>
        </p:nvGraphicFramePr>
        <p:xfrm>
          <a:off x="266700" y="4100513"/>
          <a:ext cx="8713788" cy="1655763"/>
        </p:xfrm>
        <a:graphic>
          <a:graphicData uri="http://schemas.openxmlformats.org/drawingml/2006/table">
            <a:tbl>
              <a:tblPr/>
              <a:tblGrid>
                <a:gridCol w="195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78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f  </a:t>
                      </a: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(Hz)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CN" sz="2400" i="1" dirty="0" err="1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</a:t>
                      </a:r>
                      <a:r>
                        <a:rPr kumimoji="1" lang="en-US" altLang="zh-CN" sz="2400" baseline="-30000" dirty="0" err="1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</a:t>
                      </a:r>
                      <a:endParaRPr kumimoji="1"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baseline="-30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op-p 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(mV)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20lg|</a:t>
                      </a:r>
                      <a:r>
                        <a:rPr kumimoji="0" lang="en-US" altLang="zh-CN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|(dB)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8419" name="Text Box 46">
            <a:extLst>
              <a:ext uri="{FF2B5EF4-FFF2-40B4-BE49-F238E27FC236}">
                <a16:creationId xmlns:a16="http://schemas.microsoft.com/office/drawing/2014/main" id="{9B7AE369-C029-4F4D-8CA7-05AEFCCCC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570288"/>
            <a:ext cx="864140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Monotype Sorts" pitchFamily="2" charset="2"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注意：维持输入信号的幅值不变且输出波形不失真</a:t>
            </a:r>
          </a:p>
        </p:txBody>
      </p:sp>
      <p:sp>
        <p:nvSpPr>
          <p:cNvPr id="58420" name="Text Box 47">
            <a:extLst>
              <a:ext uri="{FF2B5EF4-FFF2-40B4-BE49-F238E27FC236}">
                <a16:creationId xmlns:a16="http://schemas.microsoft.com/office/drawing/2014/main" id="{A5A6AD31-7B5C-4CD3-8C05-6C35BECCE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1595438"/>
            <a:ext cx="2078038" cy="5286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Monotype Sorts" pitchFamily="2" charset="2"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BW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aseline="-30000">
                <a:latin typeface="Times New Roman" panose="02020603050405020304" pitchFamily="18" charset="0"/>
                <a:ea typeface="黑体" panose="02010609060101010101" pitchFamily="49" charset="-122"/>
              </a:rPr>
              <a:t>H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–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aseline="-30000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endParaRPr kumimoji="1" lang="en-US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8421" name="Rectangle 49">
            <a:extLst>
              <a:ext uri="{FF2B5EF4-FFF2-40B4-BE49-F238E27FC236}">
                <a16:creationId xmlns:a16="http://schemas.microsoft.com/office/drawing/2014/main" id="{851C87A4-47E8-4775-9DD3-D74959836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805488"/>
            <a:ext cx="777716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0">
                <a:latin typeface="黑体" panose="02010609060101010101" pitchFamily="49" charset="-122"/>
              </a:rPr>
              <a:t>画出放大器的幅频特性曲线，计算通频带。</a:t>
            </a:r>
            <a:endParaRPr lang="zh-CN" altLang="en-US" sz="3200" b="0">
              <a:latin typeface="黑体" panose="02010609060101010101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3C77DE-DCCE-49C9-81AE-623D3F02A5D0}"/>
              </a:ext>
            </a:extLst>
          </p:cNvPr>
          <p:cNvSpPr/>
          <p:nvPr/>
        </p:nvSpPr>
        <p:spPr>
          <a:xfrm>
            <a:off x="277641" y="2244060"/>
            <a:ext cx="8289925" cy="11849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60000" eaLnBrk="1" hangingPunct="1">
              <a:spcBef>
                <a:spcPts val="18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带宽的确切含义；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60000" eaLnBrk="1" hangingPunct="1">
              <a:spcBef>
                <a:spcPts val="18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找到对应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低频截止频率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和高频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截止频率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CN" altLang="en-US" sz="2800" dirty="0">
              <a:latin typeface="微软雅黑" panose="020B0503020204020204" pitchFamily="34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E58F62B3-1A20-4A95-B1F2-60EC2D655BC0}"/>
              </a:ext>
            </a:extLst>
          </p:cNvPr>
          <p:cNvSpPr txBox="1">
            <a:spLocks/>
          </p:cNvSpPr>
          <p:nvPr/>
        </p:nvSpPr>
        <p:spPr bwMode="auto">
          <a:xfrm>
            <a:off x="568325" y="404813"/>
            <a:ext cx="66309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性能测试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58B65C9E-2DA3-4692-A381-0F1C1102E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264" y="357301"/>
            <a:ext cx="4883150" cy="6867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69900" indent="-469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观察失真波形</a:t>
            </a:r>
            <a:endParaRPr lang="en-US" altLang="zh-CN" sz="3200" dirty="0">
              <a:solidFill>
                <a:schemeClr val="accent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395" name="矩形 4">
            <a:extLst>
              <a:ext uri="{FF2B5EF4-FFF2-40B4-BE49-F238E27FC236}">
                <a16:creationId xmlns:a16="http://schemas.microsoft.com/office/drawing/2014/main" id="{3BF91BFA-F2FC-41A0-A4E0-B33EBEE39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078615"/>
            <a:ext cx="5027612" cy="533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信号源频率调回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1kHz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，示波器的两个通道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仍监测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o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zh-CN" sz="240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调整电位器</a:t>
            </a:r>
            <a:r>
              <a:rPr lang="en-US" altLang="zh-CN" sz="2400" i="1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en-US" altLang="zh-CN" sz="2400" baseline="-2500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，观察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o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波形的变化，直至出现明显的非线性失真。在表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3.3.5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（见下一页）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中画出失真波形，用万用表的直流电压档测量电路的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G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填入表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3.3.5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中，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并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计算静态工作点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Q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DQ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GSQ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400" i="1">
                <a:latin typeface="华文楷体" panose="02010600040101010101" pitchFamily="2" charset="-122"/>
                <a:ea typeface="华文楷体" panose="02010600040101010101" pitchFamily="2" charset="-122"/>
              </a:rPr>
              <a:t>V</a:t>
            </a:r>
            <a:r>
              <a:rPr lang="en-US" altLang="zh-CN" sz="2400" baseline="-25000">
                <a:latin typeface="华文楷体" panose="02010600040101010101" pitchFamily="2" charset="-122"/>
                <a:ea typeface="华文楷体" panose="02010600040101010101" pitchFamily="2" charset="-122"/>
              </a:rPr>
              <a:t>DSQ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）。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再反方向调整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en-US" altLang="zh-CN" sz="1600"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，直至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vo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出现另一种非线性失真现象，再次测量静态工作点，完成表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3.3.5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zh-CN" altLang="en-US" sz="22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396" name="标题 1">
            <a:extLst>
              <a:ext uri="{FF2B5EF4-FFF2-40B4-BE49-F238E27FC236}">
                <a16:creationId xmlns:a16="http://schemas.microsoft.com/office/drawing/2014/main" id="{0C775BFF-2F0B-4B6E-AAB5-162BC72E80E2}"/>
              </a:ext>
            </a:extLst>
          </p:cNvPr>
          <p:cNvSpPr txBox="1">
            <a:spLocks/>
          </p:cNvSpPr>
          <p:nvPr/>
        </p:nvSpPr>
        <p:spPr bwMode="auto">
          <a:xfrm>
            <a:off x="568325" y="404813"/>
            <a:ext cx="66309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补充的性能测试</a:t>
            </a:r>
          </a:p>
        </p:txBody>
      </p:sp>
      <p:graphicFrame>
        <p:nvGraphicFramePr>
          <p:cNvPr id="59397" name="对象 2">
            <a:extLst>
              <a:ext uri="{FF2B5EF4-FFF2-40B4-BE49-F238E27FC236}">
                <a16:creationId xmlns:a16="http://schemas.microsoft.com/office/drawing/2014/main" id="{7B2623E1-1E2B-478D-B719-D8C366DDC1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25" y="1501775"/>
          <a:ext cx="3286125" cy="349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0" name="Picture" r:id="rId3" imgW="2175641" imgH="2312276" progId="Word.Picture.8">
                  <p:embed/>
                </p:oleObj>
              </mc:Choice>
              <mc:Fallback>
                <p:oleObj name="Picture" r:id="rId3" imgW="2175641" imgH="2312276" progId="Word.Picture.8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1501775"/>
                        <a:ext cx="3286125" cy="349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EA5B31B-184D-4A2C-B43B-4A76A2448F9A}"/>
              </a:ext>
            </a:extLst>
          </p:cNvPr>
          <p:cNvSpPr/>
          <p:nvPr/>
        </p:nvSpPr>
        <p:spPr>
          <a:xfrm>
            <a:off x="5739291" y="5229200"/>
            <a:ext cx="32861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（注意，如果调不出失真现象，可以增大输入信号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到几百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mVpp</a:t>
            </a:r>
            <a:r>
              <a:rPr lang="zh-CN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，再调整</a:t>
            </a:r>
            <a:r>
              <a:rPr lang="en-US" altLang="zh-CN" sz="2000" i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en-US" altLang="zh-CN" sz="2000" baseline="-25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 </a:t>
            </a:r>
            <a:r>
              <a:rPr lang="zh-CN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图片 1">
            <a:extLst>
              <a:ext uri="{FF2B5EF4-FFF2-40B4-BE49-F238E27FC236}">
                <a16:creationId xmlns:a16="http://schemas.microsoft.com/office/drawing/2014/main" id="{D78C9417-CF13-41D8-8E68-F719B19B0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6738"/>
            <a:ext cx="9144000" cy="33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标题 1">
            <a:extLst>
              <a:ext uri="{FF2B5EF4-FFF2-40B4-BE49-F238E27FC236}">
                <a16:creationId xmlns:a16="http://schemas.microsoft.com/office/drawing/2014/main" id="{2321B230-CAC6-4AF7-9948-7FFD00637DD4}"/>
              </a:ext>
            </a:extLst>
          </p:cNvPr>
          <p:cNvSpPr txBox="1">
            <a:spLocks/>
          </p:cNvSpPr>
          <p:nvPr/>
        </p:nvSpPr>
        <p:spPr bwMode="auto">
          <a:xfrm>
            <a:off x="568325" y="404813"/>
            <a:ext cx="66309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33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补充的性能测试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90A3AF0-07DB-4941-A2DF-ADBF53E5B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264" y="357301"/>
            <a:ext cx="4883150" cy="6867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69900" indent="-469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zh-CN" altLang="en-US" sz="3200" dirty="0">
                <a:solidFill>
                  <a:schemeClr val="accent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观察失真波形</a:t>
            </a:r>
            <a:endParaRPr lang="en-US" altLang="zh-CN" sz="3200" dirty="0">
              <a:solidFill>
                <a:schemeClr val="accent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3A2DF7-F823-41F9-BCC7-25B634A93F20}"/>
              </a:ext>
            </a:extLst>
          </p:cNvPr>
          <p:cNvSpPr txBox="1"/>
          <p:nvPr/>
        </p:nvSpPr>
        <p:spPr>
          <a:xfrm>
            <a:off x="179512" y="3429000"/>
            <a:ext cx="1080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更要规范绘制</a:t>
            </a: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00B4596-F138-4A66-ABA6-73DFD8B8CBC5}"/>
              </a:ext>
            </a:extLst>
          </p:cNvPr>
          <p:cNvSpPr txBox="1">
            <a:spLocks/>
          </p:cNvSpPr>
          <p:nvPr/>
        </p:nvSpPr>
        <p:spPr bwMode="auto">
          <a:xfrm>
            <a:off x="523875" y="342900"/>
            <a:ext cx="8001000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 Narrow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三、选做内容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0384630-364D-4B05-B114-A9E1D41456E4}"/>
              </a:ext>
            </a:extLst>
          </p:cNvPr>
          <p:cNvSpPr txBox="1">
            <a:spLocks/>
          </p:cNvSpPr>
          <p:nvPr/>
        </p:nvSpPr>
        <p:spPr bwMode="auto">
          <a:xfrm>
            <a:off x="530225" y="1341438"/>
            <a:ext cx="8064500" cy="35147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基于基础实验，可选做以下实验之一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dirty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en-US" altLang="zh-CN" dirty="0">
                <a:latin typeface="华文楷体" pitchFamily="2" charset="-122"/>
                <a:ea typeface="华文楷体" pitchFamily="2" charset="-122"/>
              </a:rPr>
              <a:t>MOS</a:t>
            </a:r>
            <a:r>
              <a:rPr lang="zh-CN" altLang="en-US" dirty="0">
                <a:latin typeface="华文楷体" pitchFamily="2" charset="-122"/>
                <a:ea typeface="华文楷体" pitchFamily="2" charset="-122"/>
              </a:rPr>
              <a:t>管特性曲线仿真（教材</a:t>
            </a:r>
            <a:r>
              <a:rPr lang="en-US" altLang="zh-CN" dirty="0">
                <a:latin typeface="华文楷体" pitchFamily="2" charset="-122"/>
                <a:ea typeface="华文楷体" pitchFamily="2" charset="-122"/>
              </a:rPr>
              <a:t>3.3.3</a:t>
            </a:r>
            <a:r>
              <a:rPr lang="zh-CN" altLang="en-US" dirty="0">
                <a:latin typeface="华文楷体" pitchFamily="2" charset="-122"/>
                <a:ea typeface="华文楷体" pitchFamily="2" charset="-122"/>
              </a:rPr>
              <a:t>实验任务</a:t>
            </a:r>
            <a:r>
              <a:rPr lang="en-US" altLang="zh-CN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dirty="0">
                <a:latin typeface="华文楷体" pitchFamily="2" charset="-122"/>
                <a:ea typeface="华文楷体" pitchFamily="2" charset="-122"/>
              </a:rPr>
              <a:t>、任务</a:t>
            </a:r>
            <a:r>
              <a:rPr lang="en-US" altLang="zh-CN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dirty="0">
                <a:latin typeface="华文楷体" pitchFamily="2" charset="-122"/>
                <a:ea typeface="华文楷体" pitchFamily="2" charset="-122"/>
              </a:rPr>
              <a:t>）。</a:t>
            </a:r>
          </a:p>
          <a:p>
            <a:pPr>
              <a:lnSpc>
                <a:spcPct val="130000"/>
              </a:lnSpc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dirty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zh-CN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共射放大电路设计、仿真与实现（教材</a:t>
            </a:r>
            <a:r>
              <a:rPr lang="en-US" altLang="zh-CN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4.2.6</a:t>
            </a:r>
            <a:r>
              <a:rPr lang="zh-CN" altLang="zh-CN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设计任务）</a:t>
            </a:r>
          </a:p>
          <a:p>
            <a:pPr>
              <a:lnSpc>
                <a:spcPct val="130000"/>
              </a:lnSpc>
              <a:spcBef>
                <a:spcPts val="600"/>
              </a:spcBef>
              <a:buClr>
                <a:srgbClr val="FF0000"/>
              </a:buClr>
              <a:defRPr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页脚占位符 4">
            <a:extLst>
              <a:ext uri="{FF2B5EF4-FFF2-40B4-BE49-F238E27FC236}">
                <a16:creationId xmlns:a16="http://schemas.microsoft.com/office/drawing/2014/main" id="{FF51B7FA-B84C-412F-B377-74F38E5B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DD33506-9712-4BFC-83EE-DD2561258F3C}" type="slidenum">
              <a:rPr lang="en-US" altLang="zh-CN" sz="2400" b="0" smtClean="0">
                <a:latin typeface="微软雅黑" panose="020B0503020204020204" pitchFamily="34" charset="-122"/>
              </a:rPr>
              <a:pPr/>
              <a:t>59</a:t>
            </a:fld>
            <a:endParaRPr lang="en-US" altLang="zh-CN" sz="2400" b="0">
              <a:latin typeface="微软雅黑" panose="020B0503020204020204" pitchFamily="34" charset="-122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3D1E60A-B16B-4A15-92D6-BD9D93CE3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1350" y="-200025"/>
            <a:ext cx="6477000" cy="1143000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rgbClr val="000099"/>
                </a:solidFill>
              </a:rPr>
              <a:t>验收要求：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C2D6B561-AEEB-4140-9403-A94693C6F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017713"/>
            <a:ext cx="8345488" cy="2859087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600" b="1"/>
              <a:t>    </a:t>
            </a:r>
            <a:endParaRPr lang="en-US" altLang="zh-CN"/>
          </a:p>
        </p:txBody>
      </p:sp>
      <p:sp>
        <p:nvSpPr>
          <p:cNvPr id="62469" name="Text Box 5">
            <a:extLst>
              <a:ext uri="{FF2B5EF4-FFF2-40B4-BE49-F238E27FC236}">
                <a16:creationId xmlns:a16="http://schemas.microsoft.com/office/drawing/2014/main" id="{F9A1A3C0-7D52-4349-8D3A-5E2033E12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274674"/>
            <a:ext cx="83058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14400" indent="-4572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12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仿真测试结果（现场按要求仿真指定项目！）</a:t>
            </a:r>
            <a:endParaRPr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ts val="12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</a:rPr>
              <a:t>实际测试数据</a:t>
            </a:r>
            <a:r>
              <a:rPr lang="en-US" altLang="zh-CN" sz="2800" dirty="0">
                <a:latin typeface="Arial" panose="020B0604020202020204" pitchFamily="34" charset="0"/>
              </a:rPr>
              <a:t>---</a:t>
            </a:r>
            <a:r>
              <a:rPr lang="zh-CN" altLang="en-US" sz="2800" dirty="0">
                <a:latin typeface="Arial" panose="020B0604020202020204" pitchFamily="34" charset="0"/>
              </a:rPr>
              <a:t>验收表；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ts val="12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</a:rPr>
              <a:t>实际电路正常放大状态与测量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ts val="12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MOOC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课程模块四、模块六单元测验成绩</a:t>
            </a:r>
            <a:endParaRPr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ts val="12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Arial" panose="020B0604020202020204" pitchFamily="34" charset="0"/>
              </a:rPr>
              <a:t>*</a:t>
            </a:r>
            <a:r>
              <a:rPr lang="zh-CN" altLang="en-US" sz="2800" dirty="0">
                <a:latin typeface="Arial" panose="020B0604020202020204" pitchFamily="34" charset="0"/>
              </a:rPr>
              <a:t>选作部分实验报告与结果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ts val="12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插板实验中的问题和解决过程。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lvl="1" indent="0" eaLnBrk="1" hangingPunct="1">
              <a:spcBef>
                <a:spcPts val="1200"/>
              </a:spcBef>
              <a:buClr>
                <a:schemeClr val="accent2"/>
              </a:buClr>
              <a:buSzPct val="75000"/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39FD038-FC66-46FA-A71B-4B071E0867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738" y="1752600"/>
            <a:ext cx="8001000" cy="426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algn="ctr" eaLnBrk="1" hangingPunct="1">
              <a:buNone/>
            </a:pPr>
            <a:r>
              <a:rPr lang="en-US" altLang="zh-CN" sz="4000" b="1"/>
              <a:t>Pspice</a:t>
            </a:r>
            <a:r>
              <a:rPr lang="zh-CN" altLang="en-US" sz="4000" b="1"/>
              <a:t>仿真常见操作错误收集</a:t>
            </a:r>
          </a:p>
        </p:txBody>
      </p:sp>
    </p:spTree>
    <p:extLst>
      <p:ext uri="{BB962C8B-B14F-4D97-AF65-F5344CB8AC3E}">
        <p14:creationId xmlns:p14="http://schemas.microsoft.com/office/powerpoint/2010/main" val="7500124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6225" y="1167978"/>
            <a:ext cx="8229600" cy="6048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buNone/>
            </a:pPr>
            <a:r>
              <a:rPr lang="en-US" altLang="zh-CN" b="1">
                <a:solidFill>
                  <a:schemeClr val="tx2"/>
                </a:solidFill>
              </a:rPr>
              <a:t>1.</a:t>
            </a:r>
            <a:r>
              <a:rPr lang="zh-CN" altLang="en-US" b="1">
                <a:solidFill>
                  <a:schemeClr val="tx2"/>
                </a:solidFill>
              </a:rPr>
              <a:t>没有</a:t>
            </a:r>
            <a:r>
              <a:rPr lang="en-US" altLang="zh-CN" b="1">
                <a:solidFill>
                  <a:schemeClr val="tx2"/>
                </a:solidFill>
              </a:rPr>
              <a:t>PSpice</a:t>
            </a:r>
            <a:r>
              <a:rPr lang="zh-CN" altLang="en-US" b="1">
                <a:solidFill>
                  <a:schemeClr val="tx2"/>
                </a:solidFill>
              </a:rPr>
              <a:t>菜单也无法修改内部参数。</a:t>
            </a:r>
          </a:p>
          <a:p>
            <a:pPr eaLnBrk="1" hangingPunct="1">
              <a:buFontTx/>
              <a:buNone/>
            </a:pPr>
            <a:endParaRPr lang="zh-CN" altLang="en-US" sz="1000" b="1"/>
          </a:p>
        </p:txBody>
      </p:sp>
      <p:pic>
        <p:nvPicPr>
          <p:cNvPr id="20483" name="Picture 4" descr="PSerror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22"/>
          <a:stretch>
            <a:fillRect/>
          </a:stretch>
        </p:blipFill>
        <p:spPr bwMode="auto">
          <a:xfrm>
            <a:off x="4793750" y="1793443"/>
            <a:ext cx="4133850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Line 5"/>
          <p:cNvSpPr>
            <a:spLocks noChangeShapeType="1"/>
          </p:cNvSpPr>
          <p:nvPr/>
        </p:nvSpPr>
        <p:spPr bwMode="auto">
          <a:xfrm>
            <a:off x="5508125" y="3079318"/>
            <a:ext cx="13033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38443" y="2009493"/>
            <a:ext cx="4248150" cy="309219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6195" indent="-360045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b="1" kern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rPr>
              <a:t>因：工程</a:t>
            </a:r>
            <a:r>
              <a:rPr lang="zh-CN" altLang="en-US" sz="2800" b="1" kern="0" dirty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rPr>
              <a:t>文件类型错！</a:t>
            </a:r>
            <a:endParaRPr lang="en-US" altLang="zh-CN" sz="2800" b="1" kern="0" dirty="0">
              <a:solidFill>
                <a:schemeClr val="tx1"/>
              </a:solidFill>
              <a:latin typeface="+mn-lt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000" b="1" kern="0">
                <a:latin typeface="+mn-lt"/>
                <a:ea typeface="华文楷体" panose="02010600040101010101" pitchFamily="2" charset="-122"/>
              </a:rPr>
              <a:t>     </a:t>
            </a:r>
            <a:r>
              <a:rPr lang="zh-CN" altLang="en-US" sz="2000" kern="0">
                <a:latin typeface="+mn-lt"/>
                <a:ea typeface="华文楷体" panose="02010600040101010101" pitchFamily="2" charset="-122"/>
              </a:rPr>
              <a:t>新建</a:t>
            </a:r>
            <a:r>
              <a:rPr lang="zh-CN" altLang="en-US" sz="2000" kern="0" dirty="0">
                <a:latin typeface="+mn-lt"/>
                <a:ea typeface="华文楷体" panose="02010600040101010101" pitchFamily="2" charset="-122"/>
              </a:rPr>
              <a:t>工程时</a:t>
            </a:r>
            <a:r>
              <a:rPr lang="zh-CN" altLang="en-US" sz="2000" b="1" kern="0" dirty="0">
                <a:solidFill>
                  <a:srgbClr val="C00000"/>
                </a:solidFill>
                <a:latin typeface="+mn-lt"/>
                <a:ea typeface="华文楷体" panose="02010600040101010101" pitchFamily="2" charset="-122"/>
              </a:rPr>
              <a:t>未选第一</a:t>
            </a:r>
            <a:r>
              <a:rPr lang="zh-CN" altLang="en-US" sz="2000" b="1" kern="0">
                <a:solidFill>
                  <a:srgbClr val="C00000"/>
                </a:solidFill>
                <a:latin typeface="+mn-lt"/>
                <a:ea typeface="华文楷体" panose="02010600040101010101" pitchFamily="2" charset="-122"/>
              </a:rPr>
              <a:t>项</a:t>
            </a:r>
            <a:r>
              <a:rPr lang="zh-CN" altLang="en-US" sz="2000" b="1" kern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，</a:t>
            </a:r>
            <a:r>
              <a:rPr lang="zh-CN" altLang="en-US" sz="2000" kern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或其他非规范操作（如以单独</a:t>
            </a:r>
            <a:r>
              <a:rPr lang="en-US" altLang="zh-CN" sz="2000" kern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.DSN</a:t>
            </a:r>
            <a:r>
              <a:rPr lang="zh-CN" altLang="en-US" sz="2000" kern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文件为基础）</a:t>
            </a:r>
            <a:r>
              <a:rPr lang="zh-CN" altLang="en-US" sz="2000" kern="0">
                <a:latin typeface="华文楷体" panose="02010600040101010101" pitchFamily="2" charset="-122"/>
                <a:ea typeface="华文楷体" panose="02010600040101010101" pitchFamily="2" charset="-122"/>
              </a:rPr>
              <a:t>建立了</a:t>
            </a:r>
            <a:r>
              <a:rPr lang="zh-CN" altLang="en-US" sz="2000" b="1" ker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非仿真类型工程</a:t>
            </a:r>
            <a:r>
              <a:rPr lang="zh-CN" altLang="en-US" sz="2000" ker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000" ker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000" kern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2000" kern="0">
                <a:latin typeface="+mn-lt"/>
                <a:ea typeface="华文楷体" panose="02010600040101010101" pitchFamily="2" charset="-122"/>
              </a:rPr>
              <a:t>其</a:t>
            </a:r>
            <a:r>
              <a:rPr lang="zh-CN" altLang="en-US" sz="2000" kern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他类型工程可</a:t>
            </a:r>
            <a:r>
              <a:rPr lang="zh-CN" altLang="en-US" sz="2000" kern="0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画电路图，但无法调</a:t>
            </a:r>
            <a:r>
              <a:rPr lang="en-US" altLang="zh-CN" sz="2000" kern="0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PSpice</a:t>
            </a:r>
            <a:r>
              <a:rPr lang="zh-CN" altLang="en-US" sz="2000" kern="0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做仿真分析。</a:t>
            </a:r>
            <a:endParaRPr lang="en-US" altLang="zh-CN" sz="2000" b="1" kern="0" dirty="0">
              <a:solidFill>
                <a:srgbClr val="000000"/>
              </a:solidFill>
              <a:latin typeface="+mn-lt"/>
              <a:ea typeface="华文楷体" panose="02010600040101010101" pitchFamily="2" charset="-122"/>
            </a:endParaRPr>
          </a:p>
          <a:p>
            <a:pPr marL="36195" indent="-360045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b="1" kern="0">
                <a:latin typeface="+mn-lt"/>
                <a:ea typeface="华文楷体" panose="02010600040101010101" pitchFamily="2" charset="-122"/>
              </a:rPr>
              <a:t>解：</a:t>
            </a:r>
            <a:r>
              <a:rPr lang="zh-CN" altLang="en-US" sz="2800" b="1" kern="0" dirty="0">
                <a:latin typeface="+mn-lt"/>
                <a:ea typeface="华文楷体" panose="02010600040101010101" pitchFamily="2" charset="-122"/>
              </a:rPr>
              <a:t>重建仿真型工程</a:t>
            </a:r>
            <a:endParaRPr lang="zh-CN" altLang="en-US" sz="2800" b="1" dirty="0"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5587" y="5368203"/>
            <a:ext cx="8482013" cy="7819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b="1" kern="0">
                <a:solidFill>
                  <a:schemeClr val="tx2"/>
                </a:solidFill>
                <a:latin typeface="+mn-ea"/>
                <a:ea typeface="+mn-ea"/>
              </a:rPr>
              <a:t>   </a:t>
            </a:r>
            <a:r>
              <a:rPr lang="zh-CN" altLang="en-US" sz="2000" b="1" kern="0">
                <a:solidFill>
                  <a:schemeClr val="tx2"/>
                </a:solidFill>
                <a:latin typeface="+mn-ea"/>
                <a:ea typeface="+mn-ea"/>
              </a:rPr>
              <a:t>按规定步骤</a:t>
            </a:r>
            <a:r>
              <a:rPr lang="zh-CN" altLang="en-US" sz="2000" b="1" kern="0">
                <a:solidFill>
                  <a:srgbClr val="C00000"/>
                </a:solidFill>
                <a:latin typeface="+mn-ea"/>
                <a:ea typeface="+mn-ea"/>
              </a:rPr>
              <a:t>新建可仿真工程</a:t>
            </a:r>
            <a:r>
              <a:rPr lang="zh-CN" altLang="en-US" sz="2000" b="1" kern="0">
                <a:solidFill>
                  <a:schemeClr val="tx2"/>
                </a:solidFill>
                <a:latin typeface="+mn-ea"/>
                <a:ea typeface="+mn-ea"/>
              </a:rPr>
              <a:t>，画新电路图时</a:t>
            </a:r>
            <a:r>
              <a:rPr lang="zh-CN" altLang="en-US" sz="2000" b="1" kern="0">
                <a:latin typeface="+mn-ea"/>
                <a:ea typeface="+mn-ea"/>
              </a:rPr>
              <a:t>，</a:t>
            </a:r>
            <a:r>
              <a:rPr lang="en-US" altLang="zh-CN" sz="2000" b="1" kern="0">
                <a:latin typeface="+mn-ea"/>
                <a:ea typeface="+mn-ea"/>
              </a:rPr>
              <a:t>Open Design</a:t>
            </a:r>
            <a:r>
              <a:rPr lang="zh-CN" altLang="en-US" sz="2000" b="1" kern="0">
                <a:solidFill>
                  <a:schemeClr val="tx2"/>
                </a:solidFill>
                <a:latin typeface="+mn-ea"/>
                <a:ea typeface="+mn-ea"/>
              </a:rPr>
              <a:t>打开</a:t>
            </a:r>
            <a:r>
              <a:rPr lang="zh-CN" altLang="en-US" sz="2000" b="1" kern="0">
                <a:latin typeface="+mn-ea"/>
                <a:ea typeface="+mn-ea"/>
              </a:rPr>
              <a:t>旧</a:t>
            </a:r>
            <a:r>
              <a:rPr lang="en-US" altLang="zh-CN" sz="2000" b="1" kern="0">
                <a:latin typeface="+mn-ea"/>
                <a:ea typeface="+mn-ea"/>
              </a:rPr>
              <a:t>.DSN</a:t>
            </a:r>
            <a:r>
              <a:rPr lang="zh-CN" altLang="en-US" sz="2000" b="1" kern="0">
                <a:latin typeface="+mn-ea"/>
                <a:ea typeface="+mn-ea"/>
              </a:rPr>
              <a:t>文件，</a:t>
            </a:r>
            <a:r>
              <a:rPr lang="zh-CN" altLang="en-US" sz="2000" b="1" kern="0">
                <a:solidFill>
                  <a:schemeClr val="tx2"/>
                </a:solidFill>
                <a:latin typeface="+mn-ea"/>
                <a:ea typeface="+mn-ea"/>
              </a:rPr>
              <a:t>全选</a:t>
            </a:r>
            <a:r>
              <a:rPr lang="en-US" altLang="zh-CN" sz="2000" b="1" kern="0">
                <a:latin typeface="+mn-ea"/>
                <a:ea typeface="+mn-ea"/>
              </a:rPr>
              <a:t>—</a:t>
            </a:r>
            <a:r>
              <a:rPr lang="zh-CN" altLang="en-US" sz="2000" b="1" kern="0">
                <a:solidFill>
                  <a:schemeClr val="tx2"/>
                </a:solidFill>
                <a:latin typeface="+mn-ea"/>
                <a:ea typeface="+mn-ea"/>
              </a:rPr>
              <a:t>复制</a:t>
            </a:r>
            <a:r>
              <a:rPr lang="en-US" altLang="zh-CN" sz="2000" b="1" kern="0">
                <a:solidFill>
                  <a:schemeClr val="tx2"/>
                </a:solidFill>
                <a:latin typeface="+mn-ea"/>
                <a:ea typeface="+mn-ea"/>
              </a:rPr>
              <a:t>--</a:t>
            </a:r>
            <a:r>
              <a:rPr lang="zh-CN" altLang="en-US" sz="2000" b="1" kern="0">
                <a:solidFill>
                  <a:srgbClr val="C00000"/>
                </a:solidFill>
                <a:latin typeface="+mn-ea"/>
                <a:ea typeface="+mn-ea"/>
              </a:rPr>
              <a:t>粘贴旧电路图到新图</a:t>
            </a:r>
            <a:r>
              <a:rPr lang="zh-CN" altLang="en-US" sz="2000" b="1" kern="0">
                <a:solidFill>
                  <a:schemeClr val="tx2"/>
                </a:solidFill>
                <a:latin typeface="+mn-ea"/>
                <a:ea typeface="+mn-ea"/>
              </a:rPr>
              <a:t>，存盘</a:t>
            </a:r>
            <a:r>
              <a:rPr lang="en-US" altLang="zh-CN" sz="2000" b="1" kern="0">
                <a:solidFill>
                  <a:schemeClr val="tx2"/>
                </a:solidFill>
                <a:latin typeface="+mn-ea"/>
                <a:ea typeface="+mn-ea"/>
              </a:rPr>
              <a:t>,</a:t>
            </a:r>
            <a:r>
              <a:rPr lang="zh-CN" altLang="en-US" sz="2000" b="1" kern="0">
                <a:solidFill>
                  <a:schemeClr val="tx2"/>
                </a:solidFill>
                <a:latin typeface="+mn-ea"/>
                <a:ea typeface="+mn-ea"/>
              </a:rPr>
              <a:t>再重新设置仿真项目。</a:t>
            </a:r>
            <a:endParaRPr lang="zh-CN" altLang="en-US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048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0175"/>
            <a:ext cx="8229600" cy="706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>
                <a:solidFill>
                  <a:srgbClr val="C00000"/>
                </a:solidFill>
              </a:rPr>
              <a:t>常见操作错误说明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7680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/>
              <a:t>常见操作错误说明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0427" y="1268760"/>
            <a:ext cx="8229600" cy="5243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spcAft>
                <a:spcPts val="1200"/>
              </a:spcAft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2.</a:t>
            </a:r>
            <a:r>
              <a:rPr lang="zh-CN" altLang="en-US" b="1" dirty="0">
                <a:solidFill>
                  <a:schemeClr val="tx2"/>
                </a:solidFill>
              </a:rPr>
              <a:t>仿真时显示文件</a:t>
            </a:r>
            <a:r>
              <a:rPr lang="en-US" altLang="zh-CN" b="1" dirty="0">
                <a:solidFill>
                  <a:schemeClr val="tx2"/>
                </a:solidFill>
              </a:rPr>
              <a:t>I/O</a:t>
            </a:r>
            <a:r>
              <a:rPr lang="zh-CN" altLang="en-US" b="1" dirty="0">
                <a:solidFill>
                  <a:schemeClr val="tx2"/>
                </a:solidFill>
              </a:rPr>
              <a:t>操作有异常错误。</a:t>
            </a: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zh-CN" altLang="en-US" b="1" dirty="0"/>
              <a:t>     </a:t>
            </a:r>
            <a:r>
              <a:rPr lang="zh-CN" altLang="en-US" sz="2800" b="1"/>
              <a:t>项目名称、文件</a:t>
            </a:r>
            <a:r>
              <a:rPr lang="zh-CN" altLang="en-US" sz="2800" b="1" dirty="0"/>
              <a:t>存</a:t>
            </a:r>
            <a:endParaRPr lang="en-US" altLang="zh-CN" sz="2800" b="1" dirty="0"/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zh-CN" altLang="en-US" sz="2800" b="1"/>
              <a:t>储目录、内部元件标识</a:t>
            </a:r>
            <a:endParaRPr lang="en-US" altLang="zh-CN" sz="2800" b="1"/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zh-CN" altLang="en-US" sz="2800" b="1">
                <a:solidFill>
                  <a:srgbClr val="FF3300"/>
                </a:solidFill>
              </a:rPr>
              <a:t>都不能含有特殊字符或</a:t>
            </a:r>
            <a:endParaRPr lang="en-US" altLang="zh-CN" sz="2800" b="1">
              <a:solidFill>
                <a:srgbClr val="FF3300"/>
              </a:solidFill>
            </a:endParaRPr>
          </a:p>
          <a:p>
            <a:pPr eaLnBrk="1" hangingPunct="1">
              <a:spcBef>
                <a:spcPct val="45000"/>
              </a:spcBef>
              <a:buFontTx/>
              <a:buNone/>
            </a:pPr>
            <a:r>
              <a:rPr lang="zh-CN" altLang="en-US" sz="2800" b="1">
                <a:solidFill>
                  <a:srgbClr val="FF3300"/>
                </a:solidFill>
              </a:rPr>
              <a:t>空格</a:t>
            </a:r>
            <a:r>
              <a:rPr lang="zh-CN" altLang="en-US" sz="2800" b="1" dirty="0">
                <a:solidFill>
                  <a:schemeClr val="tx2"/>
                </a:solidFill>
              </a:rPr>
              <a:t>！</a:t>
            </a:r>
            <a:endParaRPr lang="en-US" altLang="zh-CN" sz="2800" b="1" dirty="0"/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文件目录也</a:t>
            </a:r>
            <a:r>
              <a:rPr lang="zh-CN" altLang="en-US" sz="28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不要放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Windows</a:t>
            </a:r>
            <a:r>
              <a:rPr lang="zh-CN" altLang="en-US" sz="28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桌面上</a:t>
            </a:r>
            <a:r>
              <a:rPr lang="zh-CN" altLang="en-US" sz="2800" b="1" dirty="0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zh-CN" altLang="en-US" sz="2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桌面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缺省目录有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汉字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）。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1508" name="Picture 4" descr="PSerror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15"/>
          <a:stretch>
            <a:fillRect/>
          </a:stretch>
        </p:blipFill>
        <p:spPr bwMode="auto">
          <a:xfrm>
            <a:off x="4364038" y="2241550"/>
            <a:ext cx="4598987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4498975" y="3094038"/>
            <a:ext cx="13033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4498975" y="5815013"/>
            <a:ext cx="1303338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/>
              <a:t>常见操作错误说明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2413" y="1241425"/>
            <a:ext cx="8229600" cy="5402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zh-CN" altLang="en-US" b="1">
                <a:solidFill>
                  <a:schemeClr val="tx2"/>
                </a:solidFill>
              </a:rPr>
              <a:t>  </a:t>
            </a:r>
            <a:r>
              <a:rPr lang="en-US" altLang="zh-CN" b="1">
                <a:solidFill>
                  <a:schemeClr val="tx2"/>
                </a:solidFill>
              </a:rPr>
              <a:t>3. </a:t>
            </a:r>
            <a:r>
              <a:rPr lang="zh-CN" altLang="en-US" b="1">
                <a:solidFill>
                  <a:schemeClr val="tx2"/>
                </a:solidFill>
              </a:rPr>
              <a:t>莫名出现</a:t>
            </a:r>
            <a:r>
              <a:rPr lang="zh-CN" altLang="en-US" b="1">
                <a:solidFill>
                  <a:srgbClr val="7030A0"/>
                </a:solidFill>
              </a:rPr>
              <a:t>很多</a:t>
            </a:r>
            <a:r>
              <a:rPr lang="zh-CN" altLang="en-US" b="1">
                <a:solidFill>
                  <a:schemeClr val="tx2"/>
                </a:solidFill>
              </a:rPr>
              <a:t>元件没有连结</a:t>
            </a:r>
            <a:r>
              <a:rPr lang="en-US" altLang="zh-CN" b="1">
                <a:solidFill>
                  <a:schemeClr val="tx2"/>
                </a:solidFill>
              </a:rPr>
              <a:t>Float Pin</a:t>
            </a:r>
            <a:r>
              <a:rPr lang="zh-CN" altLang="en-US" b="1">
                <a:solidFill>
                  <a:schemeClr val="tx2"/>
                </a:solidFill>
              </a:rPr>
              <a:t>。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 本实验中“地”必须用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/>
              <a:t>Place/Ground </a:t>
            </a:r>
            <a:r>
              <a:rPr lang="zh-CN" altLang="en-US" sz="2800" b="1"/>
              <a:t>命令，且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zh-CN" altLang="en-US" b="1"/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选用 </a:t>
            </a:r>
            <a:r>
              <a:rPr lang="en-US" altLang="zh-CN" sz="2800" b="1"/>
              <a:t>Source</a:t>
            </a:r>
            <a:r>
              <a:rPr lang="zh-CN" altLang="en-US" sz="2800" b="1"/>
              <a:t>库 中的 “</a:t>
            </a:r>
            <a:r>
              <a:rPr lang="en-US" altLang="zh-CN" sz="2800" b="1"/>
              <a:t>0”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  (</a:t>
            </a:r>
            <a:r>
              <a:rPr lang="zh-CN" altLang="en-US" sz="2400">
                <a:solidFill>
                  <a:schemeClr val="tx2"/>
                </a:solidFill>
              </a:rPr>
              <a:t>如果</a:t>
            </a:r>
            <a:r>
              <a:rPr lang="en-US" altLang="zh-CN" sz="2400">
                <a:solidFill>
                  <a:schemeClr val="tx2"/>
                </a:solidFill>
              </a:rPr>
              <a:t>Place Ground </a:t>
            </a:r>
            <a:r>
              <a:rPr lang="zh-CN" altLang="en-US" sz="2400">
                <a:solidFill>
                  <a:schemeClr val="tx2"/>
                </a:solidFill>
              </a:rPr>
              <a:t>中没看到</a:t>
            </a:r>
            <a:endParaRPr lang="en-US" altLang="zh-CN" sz="2400">
              <a:solidFill>
                <a:schemeClr val="tx2"/>
              </a:solidFill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</a:rPr>
              <a:t>Source</a:t>
            </a:r>
            <a:r>
              <a:rPr lang="zh-CN" altLang="en-US" sz="2400">
                <a:solidFill>
                  <a:schemeClr val="tx2"/>
                </a:solidFill>
              </a:rPr>
              <a:t>库就加，虽然其他库中</a:t>
            </a:r>
            <a:endParaRPr lang="en-US" altLang="zh-CN" sz="2400">
              <a:solidFill>
                <a:schemeClr val="tx2"/>
              </a:solidFill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zh-CN" altLang="en-US" sz="2400">
                <a:solidFill>
                  <a:schemeClr val="tx2"/>
                </a:solidFill>
              </a:rPr>
              <a:t>有一些地符号，但不适合本次实验。</a:t>
            </a:r>
            <a:r>
              <a:rPr lang="en-US" altLang="zh-CN" sz="2400">
                <a:solidFill>
                  <a:schemeClr val="tx2"/>
                </a:solidFill>
              </a:rPr>
              <a:t>)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rgbClr val="800000"/>
                </a:solidFill>
              </a:rPr>
              <a:t> </a:t>
            </a:r>
            <a:r>
              <a:rPr lang="en-US" altLang="zh-CN" sz="2400" b="1">
                <a:solidFill>
                  <a:srgbClr val="800000"/>
                </a:solidFill>
              </a:rPr>
              <a:t>Cache</a:t>
            </a:r>
            <a:r>
              <a:rPr lang="zh-CN" altLang="en-US" sz="2400" b="1">
                <a:solidFill>
                  <a:srgbClr val="800000"/>
                </a:solidFill>
              </a:rPr>
              <a:t>临时库元件错了。</a:t>
            </a:r>
            <a:r>
              <a:rPr lang="en-US" altLang="zh-CN" sz="2400">
                <a:solidFill>
                  <a:srgbClr val="000000"/>
                </a:solidFill>
              </a:rPr>
              <a:t>Remove</a:t>
            </a:r>
            <a:r>
              <a:rPr lang="zh-CN" altLang="en-US" sz="2400">
                <a:solidFill>
                  <a:srgbClr val="000000"/>
                </a:solidFill>
              </a:rPr>
              <a:t>当前所有的元件库，</a:t>
            </a:r>
            <a:r>
              <a:rPr lang="zh-CN" altLang="en-US" sz="2400" b="1"/>
              <a:t>重新</a:t>
            </a:r>
            <a:r>
              <a:rPr lang="en-US" altLang="zh-CN" sz="2400" b="1"/>
              <a:t>Add</a:t>
            </a:r>
            <a:r>
              <a:rPr lang="zh-CN" altLang="en-US" sz="2400" b="1"/>
              <a:t>正确目录下的</a:t>
            </a:r>
            <a:r>
              <a:rPr lang="en-US" altLang="zh-CN" sz="2400" b="1"/>
              <a:t>PSpice</a:t>
            </a:r>
            <a:r>
              <a:rPr lang="zh-CN" altLang="en-US" sz="2400" b="1"/>
              <a:t>库，</a:t>
            </a:r>
            <a:r>
              <a:rPr lang="zh-CN" altLang="en-US" sz="2400" b="1">
                <a:solidFill>
                  <a:srgbClr val="000000"/>
                </a:solidFill>
              </a:rPr>
              <a:t>然后重选元件（</a:t>
            </a:r>
            <a:r>
              <a:rPr lang="zh-CN" altLang="en-US" sz="2400" b="1"/>
              <a:t>不要再选用</a:t>
            </a:r>
            <a:r>
              <a:rPr lang="en-US" altLang="zh-CN" sz="2400" b="1"/>
              <a:t>Design</a:t>
            </a:r>
            <a:r>
              <a:rPr lang="zh-CN" altLang="en-US" sz="2400" b="1"/>
              <a:t> </a:t>
            </a:r>
            <a:r>
              <a:rPr lang="en-US" altLang="zh-CN" sz="2400" b="1"/>
              <a:t>Cache</a:t>
            </a:r>
            <a:r>
              <a:rPr lang="zh-CN" altLang="en-US" sz="2400" b="1"/>
              <a:t> </a:t>
            </a:r>
            <a:r>
              <a:rPr lang="zh-CN" altLang="en-US" sz="2400" b="1">
                <a:solidFill>
                  <a:srgbClr val="000000"/>
                </a:solidFill>
              </a:rPr>
              <a:t>临时库中的）完成电路。 </a:t>
            </a:r>
            <a:endParaRPr lang="en-US" altLang="zh-CN" sz="2400" b="1">
              <a:solidFill>
                <a:srgbClr val="000000"/>
              </a:solidFill>
            </a:endParaRPr>
          </a:p>
        </p:txBody>
      </p:sp>
      <p:pic>
        <p:nvPicPr>
          <p:cNvPr id="2150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2928938"/>
            <a:ext cx="3149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Oval 6"/>
          <p:cNvSpPr>
            <a:spLocks noChangeArrowheads="1"/>
          </p:cNvSpPr>
          <p:nvPr/>
        </p:nvSpPr>
        <p:spPr bwMode="auto">
          <a:xfrm>
            <a:off x="3351213" y="2936875"/>
            <a:ext cx="411162" cy="49212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151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57375"/>
            <a:ext cx="4354513" cy="27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388" y="436874"/>
            <a:ext cx="5572125" cy="473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 6"/>
          <p:cNvSpPr>
            <a:spLocks noChangeArrowheads="1"/>
          </p:cNvSpPr>
          <p:nvPr/>
        </p:nvSpPr>
        <p:spPr bwMode="auto">
          <a:xfrm>
            <a:off x="3500438" y="3357563"/>
            <a:ext cx="1000125" cy="500062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>
            <a:spLocks noChangeArrowheads="1"/>
          </p:cNvSpPr>
          <p:nvPr/>
        </p:nvSpPr>
        <p:spPr bwMode="auto">
          <a:xfrm>
            <a:off x="7572375" y="1571625"/>
            <a:ext cx="1214438" cy="5715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animBg="1"/>
      <p:bldP spid="7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/>
              <a:t>常见操作错误说明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buNone/>
            </a:pPr>
            <a:r>
              <a:rPr lang="en-US" altLang="zh-CN" b="1">
                <a:solidFill>
                  <a:schemeClr val="tx2"/>
                </a:solidFill>
              </a:rPr>
              <a:t>4. </a:t>
            </a:r>
            <a:r>
              <a:rPr lang="zh-CN" altLang="en-US" b="1">
                <a:solidFill>
                  <a:schemeClr val="tx2"/>
                </a:solidFill>
              </a:rPr>
              <a:t>提示</a:t>
            </a:r>
            <a:r>
              <a:rPr lang="zh-CN" altLang="en-US" b="1">
                <a:solidFill>
                  <a:srgbClr val="7030A0"/>
                </a:solidFill>
              </a:rPr>
              <a:t>个别</a:t>
            </a:r>
            <a:r>
              <a:rPr lang="zh-CN" altLang="en-US" b="1">
                <a:solidFill>
                  <a:schemeClr val="tx2"/>
                </a:solidFill>
              </a:rPr>
              <a:t>元器件无连结，但找不到</a:t>
            </a:r>
            <a:r>
              <a:rPr lang="en-US" altLang="zh-CN" b="1">
                <a:solidFill>
                  <a:schemeClr val="tx2"/>
                </a:solidFill>
              </a:rPr>
              <a:t>…</a:t>
            </a:r>
          </a:p>
          <a:p>
            <a:pPr eaLnBrk="1" hangingPunct="1"/>
            <a:endParaRPr lang="en-US" altLang="zh-CN" sz="1400" b="1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b="1"/>
              <a:t>  </a:t>
            </a:r>
            <a:r>
              <a:rPr lang="zh-CN" altLang="en-US" b="1"/>
              <a:t>可能在当前屏幕之外，</a:t>
            </a:r>
          </a:p>
          <a:p>
            <a:pPr eaLnBrk="1" hangingPunct="1">
              <a:buFontTx/>
              <a:buNone/>
            </a:pPr>
            <a:r>
              <a:rPr lang="zh-CN" altLang="en-US" b="1"/>
              <a:t>用第四个放大镜</a:t>
            </a:r>
            <a:r>
              <a:rPr lang="en-US" altLang="zh-CN" b="1"/>
              <a:t>-Zoom</a:t>
            </a:r>
          </a:p>
          <a:p>
            <a:pPr eaLnBrk="1" hangingPunct="1">
              <a:buFontTx/>
              <a:buNone/>
            </a:pPr>
            <a:r>
              <a:rPr lang="en-US" altLang="zh-CN" b="1"/>
              <a:t>to  all </a:t>
            </a:r>
            <a:r>
              <a:rPr lang="zh-CN" altLang="en-US" b="1"/>
              <a:t>来看全部。</a:t>
            </a:r>
          </a:p>
          <a:p>
            <a:pPr eaLnBrk="1" hangingPunct="1">
              <a:buFontTx/>
              <a:buNone/>
            </a:pPr>
            <a:endParaRPr lang="zh-CN" altLang="en-US" b="1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/>
              <a:t>   元件标识用了</a:t>
            </a:r>
            <a:r>
              <a:rPr lang="zh-CN" altLang="en-US" b="1">
                <a:solidFill>
                  <a:schemeClr val="tx2"/>
                </a:solidFill>
              </a:rPr>
              <a:t>特殊字符</a:t>
            </a:r>
            <a:r>
              <a:rPr lang="zh-CN" altLang="en-US" b="1"/>
              <a:t>，比如</a:t>
            </a:r>
            <a:r>
              <a:rPr lang="en-US" altLang="zh-CN" b="1"/>
              <a:t>R</a:t>
            </a:r>
            <a:r>
              <a:rPr lang="en-US" altLang="zh-CN" b="1">
                <a:solidFill>
                  <a:schemeClr val="tx2"/>
                </a:solidFill>
              </a:rPr>
              <a:t>’</a:t>
            </a:r>
            <a:r>
              <a:rPr lang="en-US" altLang="zh-CN" sz="2400" b="1"/>
              <a:t>e2</a:t>
            </a:r>
            <a:r>
              <a:rPr lang="zh-CN" altLang="en-US" b="1"/>
              <a:t>中的 </a:t>
            </a:r>
            <a:r>
              <a:rPr lang="zh-CN" altLang="en-US" b="1">
                <a:solidFill>
                  <a:schemeClr val="tx2"/>
                </a:solidFill>
              </a:rPr>
              <a:t>’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263" y="2693988"/>
            <a:ext cx="196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6642100" y="2824163"/>
            <a:ext cx="368300" cy="40322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/>
              <a:t>常见操作错误说明</a:t>
            </a:r>
            <a:endParaRPr lang="zh-CN" altLang="en-US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3838" y="1384300"/>
            <a:ext cx="4043362" cy="5284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5. </a:t>
            </a:r>
            <a:r>
              <a:rPr lang="zh-CN" altLang="en-US" b="1" dirty="0">
                <a:solidFill>
                  <a:schemeClr val="tx2"/>
                </a:solidFill>
              </a:rPr>
              <a:t>直流工作点错令瞬态分析明显错误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b="1" dirty="0"/>
              <a:t>  </a:t>
            </a:r>
            <a:r>
              <a:rPr lang="zh-CN" altLang="en-US" sz="2800" b="1" dirty="0"/>
              <a:t>  拉移元件，确定其连线是否正确。必要时</a:t>
            </a:r>
            <a:r>
              <a:rPr lang="zh-CN" altLang="en-US" sz="2800" b="1" dirty="0">
                <a:solidFill>
                  <a:srgbClr val="C00000"/>
                </a:solidFill>
              </a:rPr>
              <a:t>自己加节点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altLang="zh-CN" sz="2800" b="1" dirty="0"/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altLang="zh-CN" b="1" dirty="0"/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b="1" dirty="0"/>
              <a:t>    </a:t>
            </a:r>
            <a:r>
              <a:rPr lang="zh-CN" altLang="en-US" sz="2800" b="1" dirty="0"/>
              <a:t>器件</a:t>
            </a:r>
            <a:r>
              <a:rPr lang="zh-CN" altLang="en-US" sz="2800" b="1" dirty="0">
                <a:solidFill>
                  <a:schemeClr val="tx2"/>
                </a:solidFill>
              </a:rPr>
              <a:t>参数</a:t>
            </a:r>
            <a:r>
              <a:rPr lang="zh-CN" altLang="en-US" sz="2800" b="1" dirty="0"/>
              <a:t>勿错！</a:t>
            </a:r>
            <a:r>
              <a:rPr lang="en-US" altLang="zh-CN" sz="2800" dirty="0"/>
              <a:t>5.1</a:t>
            </a:r>
            <a:r>
              <a:rPr lang="en-US" altLang="zh-CN" sz="2800" dirty="0">
                <a:solidFill>
                  <a:srgbClr val="C00000"/>
                </a:solidFill>
              </a:rPr>
              <a:t>k</a:t>
            </a:r>
            <a:r>
              <a:rPr lang="zh-CN" altLang="en-US" sz="2800" dirty="0"/>
              <a:t>、</a:t>
            </a:r>
            <a:r>
              <a:rPr lang="en-US" altLang="zh-CN" sz="2800" dirty="0"/>
              <a:t>51</a:t>
            </a:r>
            <a:r>
              <a:rPr lang="en-US" altLang="zh-CN" sz="2800" dirty="0">
                <a:solidFill>
                  <a:srgbClr val="C00000"/>
                </a:solidFill>
              </a:rPr>
              <a:t>k</a:t>
            </a:r>
            <a:r>
              <a:rPr lang="zh-CN" altLang="en-US" sz="2800"/>
              <a:t>、</a:t>
            </a:r>
            <a:r>
              <a:rPr lang="en-US" altLang="zh-CN" sz="2800"/>
              <a:t>51 </a:t>
            </a:r>
            <a:r>
              <a:rPr lang="en-US" altLang="zh-CN" sz="2800" b="1"/>
              <a:t>…</a:t>
            </a:r>
            <a:endParaRPr lang="en-US" altLang="zh-CN" b="1" dirty="0"/>
          </a:p>
        </p:txBody>
      </p:sp>
      <p:sp>
        <p:nvSpPr>
          <p:cNvPr id="24580" name="Oval 6"/>
          <p:cNvSpPr>
            <a:spLocks noChangeArrowheads="1"/>
          </p:cNvSpPr>
          <p:nvPr/>
        </p:nvSpPr>
        <p:spPr bwMode="auto">
          <a:xfrm>
            <a:off x="5327650" y="3535363"/>
            <a:ext cx="360363" cy="3413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1" name="Oval 7"/>
          <p:cNvSpPr>
            <a:spLocks noChangeArrowheads="1"/>
          </p:cNvSpPr>
          <p:nvPr/>
        </p:nvSpPr>
        <p:spPr bwMode="auto">
          <a:xfrm>
            <a:off x="6596063" y="6110288"/>
            <a:ext cx="301625" cy="2444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458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6" y="4026694"/>
            <a:ext cx="2082800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下箭头标注 3"/>
          <p:cNvSpPr/>
          <p:nvPr/>
        </p:nvSpPr>
        <p:spPr bwMode="auto">
          <a:xfrm>
            <a:off x="4816475" y="1046163"/>
            <a:ext cx="2106613" cy="911225"/>
          </a:xfrm>
          <a:prstGeom prst="downArrowCallout">
            <a:avLst>
              <a:gd name="adj1" fmla="val 31530"/>
              <a:gd name="adj2" fmla="val 15765"/>
              <a:gd name="adj3" fmla="val 25000"/>
              <a:gd name="adj4" fmla="val 64977"/>
            </a:avLst>
          </a:prstGeom>
          <a:solidFill>
            <a:schemeClr val="accent1">
              <a:lumMod val="20000"/>
              <a:lumOff val="80000"/>
            </a:schemeClr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1800" b="1" dirty="0"/>
              <a:t>看正常放大取</a:t>
            </a:r>
            <a:r>
              <a:rPr lang="en-US" altLang="zh-CN" sz="1800" b="1" dirty="0"/>
              <a:t>35k</a:t>
            </a:r>
          </a:p>
          <a:p>
            <a:pPr>
              <a:defRPr/>
            </a:pPr>
            <a:r>
              <a:rPr lang="zh-CN" altLang="en-US" sz="1800" b="1" dirty="0"/>
              <a:t>看失真改</a:t>
            </a:r>
            <a:r>
              <a:rPr lang="en-US" altLang="zh-CN" sz="1800" b="1" dirty="0"/>
              <a:t>0.1k /100k</a:t>
            </a:r>
            <a:endParaRPr lang="zh-CN" altLang="en-US" sz="1800" b="1" dirty="0"/>
          </a:p>
        </p:txBody>
      </p:sp>
      <p:graphicFrame>
        <p:nvGraphicFramePr>
          <p:cNvPr id="24584" name="Object 5"/>
          <p:cNvGraphicFramePr>
            <a:graphicFrameLocks noChangeAspect="1"/>
          </p:cNvGraphicFramePr>
          <p:nvPr/>
        </p:nvGraphicFramePr>
        <p:xfrm>
          <a:off x="4357688" y="1785938"/>
          <a:ext cx="4448175" cy="471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0" name="Picture" r:id="rId4" imgW="4038600" imgH="4343400" progId="Word.Picture.8">
                  <p:embed/>
                </p:oleObj>
              </mc:Choice>
              <mc:Fallback>
                <p:oleObj name="Picture" r:id="rId4" imgW="4038600" imgH="4343400" progId="Word.Picture.8">
                  <p:embed/>
                  <p:pic>
                    <p:nvPicPr>
                      <p:cNvPr id="2458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1785938"/>
                        <a:ext cx="4448175" cy="471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888" y="981075"/>
            <a:ext cx="4586287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148263" y="3706813"/>
            <a:ext cx="19446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/>
              <a:t>中间</a:t>
            </a:r>
            <a:r>
              <a:rPr lang="zh-CN" altLang="en-US" dirty="0">
                <a:solidFill>
                  <a:srgbClr val="FF0000"/>
                </a:solidFill>
              </a:rPr>
              <a:t>错</a:t>
            </a:r>
            <a:r>
              <a:rPr lang="zh-CN" altLang="en-US" dirty="0"/>
              <a:t>连线</a:t>
            </a:r>
            <a:r>
              <a:rPr lang="zh-CN" altLang="en-US" dirty="0">
                <a:solidFill>
                  <a:schemeClr val="tx2"/>
                </a:solidFill>
              </a:rPr>
              <a:t>必须删掉！</a:t>
            </a:r>
          </a:p>
        </p:txBody>
      </p:sp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 flipV="1">
            <a:off x="6443663" y="3141663"/>
            <a:ext cx="649287" cy="620712"/>
          </a:xfrm>
          <a:prstGeom prst="straightConnector1">
            <a:avLst/>
          </a:prstGeom>
          <a:noFill/>
          <a:ln w="19050" algn="ctr">
            <a:solidFill>
              <a:srgbClr val="C00000"/>
            </a:solidFill>
            <a:rou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 flipH="1" flipV="1">
            <a:off x="4932363" y="3357563"/>
            <a:ext cx="1439862" cy="404812"/>
          </a:xfrm>
          <a:prstGeom prst="straightConnector1">
            <a:avLst/>
          </a:prstGeom>
          <a:noFill/>
          <a:ln w="19050" algn="ctr">
            <a:solidFill>
              <a:srgbClr val="C00000"/>
            </a:solidFill>
            <a:rou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>
            <a:off x="6746875" y="4121150"/>
            <a:ext cx="150813" cy="1544638"/>
          </a:xfrm>
          <a:prstGeom prst="straightConnector1">
            <a:avLst/>
          </a:prstGeom>
          <a:noFill/>
          <a:ln w="19050" algn="ctr">
            <a:solidFill>
              <a:srgbClr val="C00000"/>
            </a:solidFill>
            <a:rou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/>
              <a:t>常见操作错误说明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29600" cy="51839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6. </a:t>
            </a:r>
            <a:r>
              <a:rPr lang="zh-CN" altLang="en-US" b="1" dirty="0">
                <a:solidFill>
                  <a:schemeClr val="tx2"/>
                </a:solidFill>
              </a:rPr>
              <a:t>频率特性仿真运行报错，无法进行。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zh-CN" altLang="en-US" b="1"/>
              <a:t>       </a:t>
            </a:r>
            <a:r>
              <a:rPr lang="zh-CN" altLang="en-US" sz="2800" b="1"/>
              <a:t>忘</a:t>
            </a:r>
            <a:r>
              <a:rPr lang="zh-CN" altLang="en-US" sz="2800" b="1" dirty="0"/>
              <a:t>了设定</a:t>
            </a:r>
            <a:r>
              <a:rPr lang="en-US" altLang="zh-CN" sz="2800" b="1" dirty="0"/>
              <a:t>Vsin</a:t>
            </a:r>
            <a:r>
              <a:rPr lang="zh-CN" altLang="en-US" sz="2800" b="1" dirty="0"/>
              <a:t>的</a:t>
            </a:r>
            <a:r>
              <a:rPr lang="en-US" altLang="zh-CN" sz="2800" b="1" dirty="0"/>
              <a:t>AC</a:t>
            </a:r>
            <a:r>
              <a:rPr lang="zh-CN" altLang="en-US" sz="2800" b="1" dirty="0"/>
              <a:t>参数。</a:t>
            </a:r>
            <a:endParaRPr lang="en-US" altLang="zh-CN" b="1" dirty="0"/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FontTx/>
              <a:buNone/>
            </a:pPr>
            <a:r>
              <a:rPr lang="en-US" altLang="zh-CN" b="1">
                <a:solidFill>
                  <a:schemeClr val="tx2"/>
                </a:solidFill>
              </a:rPr>
              <a:t>7</a:t>
            </a:r>
            <a:r>
              <a:rPr lang="en-US" altLang="zh-CN" b="1" dirty="0">
                <a:solidFill>
                  <a:schemeClr val="tx2"/>
                </a:solidFill>
              </a:rPr>
              <a:t>. </a:t>
            </a:r>
            <a:r>
              <a:rPr lang="zh-CN" altLang="en-US" b="1" dirty="0">
                <a:solidFill>
                  <a:schemeClr val="tx2"/>
                </a:solidFill>
              </a:rPr>
              <a:t>得到的频率特性对数曲线很不正确。</a:t>
            </a:r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/>
              <a:t>    AC</a:t>
            </a:r>
            <a:r>
              <a:rPr lang="zh-CN" altLang="en-US" sz="2800" b="1" dirty="0"/>
              <a:t>参数设错</a:t>
            </a:r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m</a:t>
            </a:r>
            <a:r>
              <a:rPr lang="zh-CN" altLang="en-US" sz="2800" b="1" dirty="0">
                <a:solidFill>
                  <a:schemeClr val="tx2"/>
                </a:solidFill>
              </a:rPr>
              <a:t>级，最大不要超过</a:t>
            </a:r>
            <a:r>
              <a:rPr lang="en-US" altLang="zh-CN" sz="2800" b="1" dirty="0">
                <a:solidFill>
                  <a:schemeClr val="tx2"/>
                </a:solidFill>
              </a:rPr>
              <a:t>1V</a:t>
            </a:r>
            <a:r>
              <a:rPr lang="zh-CN" altLang="en-US" sz="2800" b="1" dirty="0">
                <a:solidFill>
                  <a:schemeClr val="tx2"/>
                </a:solidFill>
              </a:rPr>
              <a:t>）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</a:rPr>
              <a:t>   电容参数单位特意用</a:t>
            </a:r>
            <a:r>
              <a:rPr lang="en-US" altLang="zh-CN" sz="2800" b="1" dirty="0">
                <a:solidFill>
                  <a:schemeClr val="tx2"/>
                </a:solidFill>
                <a:latin typeface="Symbol" panose="05050102010706020507" charset="0"/>
                <a:cs typeface="Symbol" panose="05050102010706020507" charset="0"/>
              </a:rPr>
              <a:t>m</a:t>
            </a:r>
            <a:r>
              <a:rPr lang="zh-CN" altLang="en-US" sz="2800" b="1" dirty="0">
                <a:solidFill>
                  <a:schemeClr val="tx2"/>
                </a:solidFill>
              </a:rPr>
              <a:t>，反倒</a:t>
            </a:r>
            <a:r>
              <a:rPr lang="zh-CN" altLang="en-US" sz="2800" b="1">
                <a:solidFill>
                  <a:schemeClr val="tx2"/>
                </a:solidFill>
              </a:rPr>
              <a:t>错！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</a:rPr>
              <a:t>    </a:t>
            </a:r>
            <a:r>
              <a:rPr lang="zh-CN" altLang="en-US" sz="2800" b="1" dirty="0"/>
              <a:t>输入</a:t>
            </a:r>
            <a:r>
              <a:rPr lang="en-US" altLang="zh-CN" sz="2800" b="1" dirty="0"/>
              <a:t>Trace</a:t>
            </a:r>
            <a:r>
              <a:rPr lang="zh-CN" altLang="en-US" sz="2800" b="1" dirty="0"/>
              <a:t>表达式错。</a:t>
            </a:r>
            <a:r>
              <a:rPr lang="zh-CN" altLang="en-US" sz="2800" b="1" dirty="0">
                <a:solidFill>
                  <a:schemeClr val="tx2"/>
                </a:solidFill>
              </a:rPr>
              <a:t>比如 增益幅频特性</a:t>
            </a:r>
            <a:r>
              <a:rPr lang="en-US" altLang="zh-CN" sz="2800" b="1" dirty="0">
                <a:solidFill>
                  <a:schemeClr val="tx2"/>
                </a:solidFill>
              </a:rPr>
              <a:t>dB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dirty="0">
                <a:solidFill>
                  <a:schemeClr val="tx2"/>
                </a:solidFill>
              </a:rPr>
              <a:t>Vo(…)/Vs(…)</a:t>
            </a:r>
            <a:r>
              <a:rPr lang="en-US" altLang="zh-CN" sz="2800" b="1" dirty="0">
                <a:solidFill>
                  <a:srgbClr val="FF0000"/>
                </a:solidFill>
              </a:rPr>
              <a:t>) </a:t>
            </a:r>
            <a:r>
              <a:rPr lang="zh-CN" altLang="en-US" sz="2800" b="1" dirty="0">
                <a:solidFill>
                  <a:schemeClr val="tx2"/>
                </a:solidFill>
              </a:rPr>
              <a:t>错为 </a:t>
            </a:r>
            <a:r>
              <a:rPr lang="en-US" altLang="zh-CN" sz="2800" b="1" dirty="0">
                <a:solidFill>
                  <a:schemeClr val="tx2"/>
                </a:solidFill>
              </a:rPr>
              <a:t>dB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dirty="0">
                <a:solidFill>
                  <a:schemeClr val="tx2"/>
                </a:solidFill>
              </a:rPr>
              <a:t>Vo(…)</a:t>
            </a:r>
            <a:r>
              <a:rPr lang="en-US" altLang="zh-CN" sz="2800" b="1" dirty="0">
                <a:solidFill>
                  <a:srgbClr val="FF0000"/>
                </a:solidFill>
              </a:rPr>
              <a:t>) </a:t>
            </a:r>
            <a:r>
              <a:rPr lang="en-US" altLang="zh-CN" sz="2800" b="1" dirty="0">
                <a:solidFill>
                  <a:schemeClr val="tx2"/>
                </a:solidFill>
              </a:rPr>
              <a:t>/ Vs</a:t>
            </a:r>
            <a:r>
              <a:rPr lang="en-US" altLang="zh-CN" sz="2800" b="1">
                <a:solidFill>
                  <a:schemeClr val="tx2"/>
                </a:solidFill>
              </a:rPr>
              <a:t>(…)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6600"/>
                </a:solidFill>
              </a:rPr>
              <a:t>    修改三极管</a:t>
            </a:r>
            <a:r>
              <a:rPr lang="en-US" altLang="zh-CN" sz="2800" b="1">
                <a:solidFill>
                  <a:srgbClr val="006600"/>
                </a:solidFill>
              </a:rPr>
              <a:t>PSpice Model</a:t>
            </a:r>
            <a:r>
              <a:rPr lang="zh-CN" altLang="en-US" sz="2800" b="1">
                <a:solidFill>
                  <a:srgbClr val="006600"/>
                </a:solidFill>
              </a:rPr>
              <a:t>时操作失误。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6" name="乘号 5"/>
          <p:cNvSpPr/>
          <p:nvPr/>
        </p:nvSpPr>
        <p:spPr bwMode="auto">
          <a:xfrm rot="20659425">
            <a:off x="6071994" y="4882474"/>
            <a:ext cx="925947" cy="952058"/>
          </a:xfrm>
          <a:prstGeom prst="mathMultiply">
            <a:avLst>
              <a:gd name="adj1" fmla="val 7446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乘号 1"/>
          <p:cNvSpPr/>
          <p:nvPr/>
        </p:nvSpPr>
        <p:spPr bwMode="auto">
          <a:xfrm rot="20659425">
            <a:off x="4393464" y="3951995"/>
            <a:ext cx="925947" cy="952058"/>
          </a:xfrm>
          <a:prstGeom prst="mathMultiply">
            <a:avLst>
              <a:gd name="adj1" fmla="val 7446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2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标题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b="1" dirty="0"/>
              <a:t>常见操作错误说明</a:t>
            </a:r>
            <a:endParaRPr lang="zh-CN" altLang="en-US" dirty="0"/>
          </a:p>
        </p:txBody>
      </p:sp>
      <p:pic>
        <p:nvPicPr>
          <p:cNvPr id="4" name="图片 3" descr="错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77" y="2164889"/>
            <a:ext cx="8677275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05F8C38-C089-419A-8B0B-B14B43AC3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4899"/>
            <a:ext cx="8229600" cy="5727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rgbClr val="006600"/>
                </a:solidFill>
              </a:rPr>
              <a:t>修改</a:t>
            </a:r>
            <a:r>
              <a:rPr lang="en-US" altLang="zh-CN" sz="2800" b="1">
                <a:solidFill>
                  <a:srgbClr val="006600"/>
                </a:solidFill>
              </a:rPr>
              <a:t>PSpice Model</a:t>
            </a:r>
            <a:r>
              <a:rPr lang="zh-CN" altLang="en-US" sz="2800" b="1">
                <a:solidFill>
                  <a:srgbClr val="006600"/>
                </a:solidFill>
              </a:rPr>
              <a:t>时操作失误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一些操作错误说明</a:t>
            </a:r>
            <a:endParaRPr lang="zh-CN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10066" y="1371599"/>
            <a:ext cx="8229600" cy="518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b="1">
                <a:solidFill>
                  <a:schemeClr val="tx2"/>
                </a:solidFill>
              </a:rPr>
              <a:t>核心器件无法</a:t>
            </a:r>
            <a:r>
              <a:rPr lang="en-US" altLang="zh-CN" b="1">
                <a:solidFill>
                  <a:schemeClr val="tx2"/>
                </a:solidFill>
              </a:rPr>
              <a:t>Edit PSpice Model</a:t>
            </a:r>
            <a:r>
              <a:rPr lang="zh-CN" altLang="en-US" b="1">
                <a:solidFill>
                  <a:schemeClr val="tx2"/>
                </a:solidFill>
              </a:rPr>
              <a:t>。</a:t>
            </a:r>
            <a:endParaRPr lang="en-US" altLang="zh-CN" b="1">
              <a:solidFill>
                <a:schemeClr val="tx2"/>
              </a:solidFill>
            </a:endParaRP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SzPct val="55000"/>
              <a:buFont typeface="Wingdings" panose="05000000000000000000" pitchFamily="2" charset="2"/>
              <a:buChar char="ü"/>
            </a:pPr>
            <a:r>
              <a:rPr lang="zh-CN" altLang="en-US" sz="2400" b="1"/>
              <a:t>没有选中整个器件本身</a:t>
            </a:r>
            <a:endParaRPr lang="en-US" altLang="zh-CN" sz="2400" b="1"/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SzPct val="55000"/>
              <a:buFont typeface="Wingdings" panose="05000000000000000000" pitchFamily="2" charset="2"/>
              <a:buChar char="ü"/>
            </a:pPr>
            <a:r>
              <a:rPr lang="zh-CN" altLang="en-US" sz="2400" b="1"/>
              <a:t>添加了非</a:t>
            </a:r>
            <a:r>
              <a:rPr lang="en-US" altLang="zh-CN" sz="2400" b="1"/>
              <a:t>PSpice</a:t>
            </a:r>
            <a:r>
              <a:rPr lang="zh-CN" altLang="en-US" sz="2400" b="1"/>
              <a:t>仿真库中的元器件</a:t>
            </a:r>
            <a:endParaRPr lang="en-US" altLang="zh-CN" sz="2400" b="1"/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b="1">
                <a:solidFill>
                  <a:schemeClr val="tx2"/>
                </a:solidFill>
              </a:rPr>
              <a:t>Probe</a:t>
            </a:r>
            <a:r>
              <a:rPr lang="zh-CN" altLang="en-US" b="1">
                <a:solidFill>
                  <a:schemeClr val="tx2"/>
                </a:solidFill>
              </a:rPr>
              <a:t>窗口</a:t>
            </a:r>
            <a:r>
              <a:rPr lang="en-US" altLang="zh-CN" b="1">
                <a:solidFill>
                  <a:schemeClr val="tx2"/>
                </a:solidFill>
              </a:rPr>
              <a:t>PspiceAD</a:t>
            </a:r>
            <a:r>
              <a:rPr lang="zh-CN" altLang="en-US" b="1">
                <a:solidFill>
                  <a:schemeClr val="tx2"/>
                </a:solidFill>
              </a:rPr>
              <a:t>顶部操作栏消失。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SzPct val="55000"/>
              <a:buFont typeface="Wingdings" panose="05000000000000000000" pitchFamily="2" charset="2"/>
              <a:buChar char="ü"/>
            </a:pPr>
            <a:r>
              <a:rPr lang="zh-CN" altLang="en-US" sz="2400"/>
              <a:t>用</a:t>
            </a:r>
            <a:r>
              <a:rPr lang="en-US" altLang="zh-CN" sz="2400"/>
              <a:t>ALT+V</a:t>
            </a:r>
            <a:r>
              <a:rPr lang="zh-CN" altLang="en-US" sz="2400"/>
              <a:t>可以调出</a:t>
            </a:r>
            <a:r>
              <a:rPr lang="en-US" altLang="zh-CN" sz="2400"/>
              <a:t>View</a:t>
            </a:r>
            <a:r>
              <a:rPr lang="zh-CN" altLang="en-US" sz="2400"/>
              <a:t>菜单设置，</a:t>
            </a:r>
            <a:endParaRPr lang="en-US" altLang="zh-CN" sz="2400"/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SzPct val="55000"/>
              <a:buFont typeface="Wingdings" panose="05000000000000000000" pitchFamily="2" charset="2"/>
              <a:buChar char="ü"/>
            </a:pPr>
            <a:r>
              <a:rPr lang="zh-CN" altLang="en-US" sz="2400"/>
              <a:t>还可以用</a:t>
            </a:r>
            <a:r>
              <a:rPr lang="en-US" altLang="zh-CN" sz="2400"/>
              <a:t>ALT+o</a:t>
            </a:r>
            <a:r>
              <a:rPr lang="zh-CN" altLang="en-US" sz="2400"/>
              <a:t>调出</a:t>
            </a:r>
            <a:r>
              <a:rPr lang="en-US" altLang="zh-CN" sz="2400"/>
              <a:t>Tools</a:t>
            </a:r>
            <a:r>
              <a:rPr lang="zh-CN" altLang="en-US" sz="2400"/>
              <a:t>菜单设置。</a:t>
            </a:r>
            <a:endParaRPr lang="en-US" altLang="zh-CN" sz="2400"/>
          </a:p>
          <a:p>
            <a:pPr marL="457200" lvl="1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3200" b="1">
                <a:solidFill>
                  <a:schemeClr val="tx2"/>
                </a:solidFill>
              </a:rPr>
              <a:t>乱建的仿真项怎么删除？</a:t>
            </a:r>
            <a:endParaRPr lang="en-US" altLang="zh-CN" sz="3200" b="1">
              <a:solidFill>
                <a:schemeClr val="tx2"/>
              </a:solidFill>
            </a:endParaRP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SzPct val="55000"/>
              <a:buFont typeface="Wingdings" panose="05000000000000000000" pitchFamily="2" charset="2"/>
              <a:buChar char="ü"/>
            </a:pPr>
            <a:r>
              <a:rPr lang="zh-CN" altLang="en-US" sz="2400" b="1"/>
              <a:t>键盘</a:t>
            </a:r>
            <a:r>
              <a:rPr lang="en-US" altLang="zh-CN" sz="2400" b="1"/>
              <a:t>Del</a:t>
            </a:r>
            <a:r>
              <a:rPr lang="zh-CN" altLang="en-US" sz="2400" b="1"/>
              <a:t>键（</a:t>
            </a:r>
            <a:r>
              <a:rPr lang="zh-CN" altLang="en-US" sz="2400" b="1">
                <a:solidFill>
                  <a:srgbClr val="800000"/>
                </a:solidFill>
              </a:rPr>
              <a:t>删除后</a:t>
            </a:r>
            <a:r>
              <a:rPr lang="zh-CN" altLang="en-US" sz="2400" b="1"/>
              <a:t>无</a:t>
            </a:r>
            <a:r>
              <a:rPr lang="zh-CN" altLang="en-US" sz="2400" b="1">
                <a:solidFill>
                  <a:srgbClr val="800000"/>
                </a:solidFill>
              </a:rPr>
              <a:t>恢复操作，只能再建）</a:t>
            </a:r>
            <a:endParaRPr lang="en-US" altLang="zh-CN" b="1">
              <a:solidFill>
                <a:schemeClr val="tx2"/>
              </a:solidFill>
            </a:endParaRPr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085951"/>
            <a:ext cx="1046375" cy="77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动作按钮: 结束 2">
            <a:hlinkClick r:id="" action="ppaction://hlinkshowjump?jump=lastslide" highlightClick="1"/>
          </p:cNvPr>
          <p:cNvSpPr/>
          <p:nvPr/>
        </p:nvSpPr>
        <p:spPr bwMode="auto">
          <a:xfrm>
            <a:off x="6924638" y="343394"/>
            <a:ext cx="1651037" cy="1055914"/>
          </a:xfrm>
          <a:prstGeom prst="actionButtonEnd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更多请自</a:t>
            </a:r>
            <a:r>
              <a:rPr lang="zh-CN" altLang="en-US" b="1">
                <a:solidFill>
                  <a:srgbClr val="FFFF00"/>
                </a:solidFill>
              </a:rPr>
              <a:t>检</a:t>
            </a:r>
            <a:endParaRPr kumimoji="1" lang="en-US" altLang="zh-CN" b="1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FF00"/>
                </a:solidFill>
              </a:rPr>
              <a:t>自改</a:t>
            </a:r>
            <a:r>
              <a:rPr kumimoji="1" lang="zh-CN" altLang="en-US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自总结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b="1"/>
              <a:t>一些操作错误说明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spcAft>
                <a:spcPts val="1200"/>
              </a:spcAft>
            </a:pPr>
            <a:r>
              <a:rPr lang="zh-CN" altLang="en-US" b="1">
                <a:solidFill>
                  <a:schemeClr val="tx2"/>
                </a:solidFill>
              </a:rPr>
              <a:t>元件</a:t>
            </a:r>
            <a:r>
              <a:rPr lang="zh-CN" altLang="en-US" b="1" dirty="0">
                <a:solidFill>
                  <a:schemeClr val="tx2"/>
                </a:solidFill>
              </a:rPr>
              <a:t>属性表不正常，和教学很不相同。</a:t>
            </a:r>
          </a:p>
          <a:p>
            <a:pPr eaLnBrk="1" hangingPunct="1">
              <a:buFontTx/>
              <a:buNone/>
            </a:pPr>
            <a:r>
              <a:rPr lang="zh-CN" altLang="en-US" sz="2800" b="1" dirty="0"/>
              <a:t>     元件属性表中</a:t>
            </a:r>
            <a:r>
              <a:rPr lang="en-US" altLang="zh-CN" sz="2800" b="1" dirty="0"/>
              <a:t>Filter</a:t>
            </a:r>
            <a:r>
              <a:rPr lang="zh-CN" altLang="en-US" sz="2800" b="1" dirty="0"/>
              <a:t>选项，要保证是</a:t>
            </a:r>
          </a:p>
          <a:p>
            <a:pPr eaLnBrk="1" hangingPunct="1">
              <a:buFontTx/>
              <a:buNone/>
            </a:pPr>
            <a:r>
              <a:rPr lang="en-US" altLang="zh-CN" sz="2800" b="1"/>
              <a:t>&lt;Current  </a:t>
            </a:r>
            <a:r>
              <a:rPr lang="en-US" altLang="zh-CN" sz="2800" b="1" dirty="0"/>
              <a:t>properties&gt; </a:t>
            </a:r>
            <a:r>
              <a:rPr lang="zh-CN" altLang="en-US" sz="2800" b="1"/>
              <a:t>或 </a:t>
            </a:r>
            <a:r>
              <a:rPr lang="en-US" altLang="zh-CN" sz="2800" b="1"/>
              <a:t>Orcad/PS</a:t>
            </a:r>
            <a:r>
              <a:rPr lang="zh-CN" altLang="en-US" sz="2800" b="1"/>
              <a:t> 。</a:t>
            </a:r>
            <a:endParaRPr lang="zh-CN" altLang="en-US" sz="2400" b="1" dirty="0"/>
          </a:p>
        </p:txBody>
      </p:sp>
      <p:pic>
        <p:nvPicPr>
          <p:cNvPr id="72708" name="Picture 4" descr="PSerror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3876675"/>
            <a:ext cx="6837363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9" name="Oval 5"/>
          <p:cNvSpPr>
            <a:spLocks noChangeArrowheads="1"/>
          </p:cNvSpPr>
          <p:nvPr/>
        </p:nvSpPr>
        <p:spPr bwMode="auto">
          <a:xfrm>
            <a:off x="4203700" y="4735513"/>
            <a:ext cx="3152775" cy="15144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523DDB5-1613-43C9-830D-02E0C2430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763"/>
            <a:ext cx="8229600" cy="792162"/>
          </a:xfrm>
        </p:spPr>
        <p:txBody>
          <a:bodyPr/>
          <a:lstStyle/>
          <a:p>
            <a:r>
              <a:rPr lang="zh-CN" altLang="en-US" sz="3200"/>
              <a:t>下阶段：函数发生器设计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AD0FA17-C651-4D23-B343-AD13B4DA5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893175" cy="4968875"/>
          </a:xfrm>
        </p:spPr>
        <p:txBody>
          <a:bodyPr/>
          <a:lstStyle/>
          <a:p>
            <a:pPr>
              <a:defRPr/>
            </a:pPr>
            <a:r>
              <a:rPr lang="zh-CN" altLang="zh-CN" sz="3600" b="1" dirty="0">
                <a:latin typeface="+mn-ea"/>
              </a:rPr>
              <a:t>基本实验：</a:t>
            </a:r>
            <a:endParaRPr lang="zh-CN" altLang="zh-CN" sz="36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+mn-ea"/>
              </a:rPr>
              <a:t>  </a:t>
            </a:r>
            <a:r>
              <a:rPr lang="zh-CN" altLang="zh-CN" sz="3200" dirty="0">
                <a:latin typeface="+mn-ea"/>
              </a:rPr>
              <a:t>满足一定幅度与频域要求的方波、三角波产生电路的设计与实现</a:t>
            </a:r>
            <a:r>
              <a:rPr lang="zh-CN" altLang="zh-CN" sz="3200" b="1" dirty="0">
                <a:latin typeface="+mn-ea"/>
              </a:rPr>
              <a:t>（教材</a:t>
            </a:r>
            <a:r>
              <a:rPr lang="en-US" altLang="zh-CN" sz="3200" b="1" dirty="0">
                <a:latin typeface="+mn-ea"/>
              </a:rPr>
              <a:t>4.5.6</a:t>
            </a:r>
            <a:r>
              <a:rPr lang="zh-CN" altLang="zh-CN" sz="3200" b="1" dirty="0">
                <a:latin typeface="+mn-ea"/>
              </a:rPr>
              <a:t>设计任务）</a:t>
            </a:r>
            <a:endParaRPr lang="zh-CN" altLang="zh-CN" sz="32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2875</TotalTime>
  <Pages>0</Pages>
  <Words>3868</Words>
  <Characters>0</Characters>
  <Application>Microsoft Office PowerPoint</Application>
  <DocSecurity>0</DocSecurity>
  <PresentationFormat>全屏显示(4:3)</PresentationFormat>
  <Lines>0</Lines>
  <Paragraphs>456</Paragraphs>
  <Slides>70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70</vt:i4>
      </vt:variant>
    </vt:vector>
  </HeadingPairs>
  <TitlesOfParts>
    <vt:vector size="88" baseType="lpstr">
      <vt:lpstr>Arial Unicode MS</vt:lpstr>
      <vt:lpstr>Monotype Sorts</vt:lpstr>
      <vt:lpstr>黑体</vt:lpstr>
      <vt:lpstr>华文楷体</vt:lpstr>
      <vt:lpstr>宋体</vt:lpstr>
      <vt:lpstr>微软雅黑</vt:lpstr>
      <vt:lpstr>Arial</vt:lpstr>
      <vt:lpstr>Arial Narrow</vt:lpstr>
      <vt:lpstr>Symbol</vt:lpstr>
      <vt:lpstr>Tahoma</vt:lpstr>
      <vt:lpstr>Times New Roman</vt:lpstr>
      <vt:lpstr>Verdana</vt:lpstr>
      <vt:lpstr>Wingdings</vt:lpstr>
      <vt:lpstr>Profile</vt:lpstr>
      <vt:lpstr>Picture</vt:lpstr>
      <vt:lpstr>Bitmap Image</vt:lpstr>
      <vt:lpstr>图片</vt:lpstr>
      <vt:lpstr>公式</vt:lpstr>
      <vt:lpstr>电子线路设计与测试</vt:lpstr>
      <vt:lpstr>MOSFET共源放大电路设计 安装、调试及测试 (P53)</vt:lpstr>
      <vt:lpstr>自学内容</vt:lpstr>
      <vt:lpstr>线上教学资源</vt:lpstr>
      <vt:lpstr>实验要点</vt:lpstr>
      <vt:lpstr>设计要求</vt:lpstr>
      <vt:lpstr>PowerPoint 演示文稿</vt:lpstr>
      <vt:lpstr>电路设计举例</vt:lpstr>
      <vt:lpstr>PowerPoint 演示文稿</vt:lpstr>
      <vt:lpstr>PowerPoint 演示文稿</vt:lpstr>
      <vt:lpstr>PSpice中的单位和数字</vt:lpstr>
      <vt:lpstr>PSpice采用的比例因子</vt:lpstr>
      <vt:lpstr>PowerPoint 演示文稿</vt:lpstr>
      <vt:lpstr>PowerPoint 演示文稿</vt:lpstr>
      <vt:lpstr>用Capture CIS绘制电路图  </vt:lpstr>
      <vt:lpstr>PowerPoint 演示文稿</vt:lpstr>
      <vt:lpstr>PowerPoint 演示文稿</vt:lpstr>
      <vt:lpstr>PowerPoint 演示文稿</vt:lpstr>
      <vt:lpstr>PowerPoint 演示文稿</vt:lpstr>
      <vt:lpstr>取放电源与接地符号 （1）取放电源符号 Place-Part，在SOURCE库中取电压源或电流源。 （2）取放接地符号 启动Place-Groud，或按对应的绘图快捷键     ，出现如图所示的选择框。在SOURCE库中取“0”符号。</vt:lpstr>
      <vt:lpstr>元件移动、旋转和删除</vt:lpstr>
      <vt:lpstr>PowerPoint 演示文稿</vt:lpstr>
      <vt:lpstr>PowerPoint 演示文稿</vt:lpstr>
      <vt:lpstr>修改元器件参数 </vt:lpstr>
      <vt:lpstr>PowerPoint 演示文稿</vt:lpstr>
      <vt:lpstr>保存和自动检查 </vt:lpstr>
      <vt:lpstr>设置分析类型</vt:lpstr>
      <vt:lpstr>PowerPoint 演示文稿</vt:lpstr>
      <vt:lpstr>运行Pspice      启动Pspice/Run命令或快捷键   </vt:lpstr>
      <vt:lpstr>PowerPoint 演示文稿</vt:lpstr>
      <vt:lpstr>PowerPoint 演示文稿</vt:lpstr>
      <vt:lpstr>PowerPoint 演示文稿</vt:lpstr>
      <vt:lpstr>PowerPoint 演示文稿</vt:lpstr>
      <vt:lpstr>如何标注特征值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求解输出阻抗 </vt:lpstr>
      <vt:lpstr>PowerPoint 演示文稿</vt:lpstr>
      <vt:lpstr>求解输出阻抗</vt:lpstr>
      <vt:lpstr>PowerPoint 演示文稿</vt:lpstr>
      <vt:lpstr>PowerPoint 演示文稿</vt:lpstr>
      <vt:lpstr>电路的基本调试步骤</vt:lpstr>
      <vt:lpstr>调试中的注意事项</vt:lpstr>
      <vt:lpstr>PowerPoint 演示文稿</vt:lpstr>
      <vt:lpstr>PowerPoint 演示文稿</vt:lpstr>
      <vt:lpstr>电位器（可调电阻=滑动变阻器）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BW 的测试方法</vt:lpstr>
      <vt:lpstr>PowerPoint 演示文稿</vt:lpstr>
      <vt:lpstr>PowerPoint 演示文稿</vt:lpstr>
      <vt:lpstr>PowerPoint 演示文稿</vt:lpstr>
      <vt:lpstr>验收要求：</vt:lpstr>
      <vt:lpstr>PowerPoint 演示文稿</vt:lpstr>
      <vt:lpstr>常见操作错误说明</vt:lpstr>
      <vt:lpstr>常见操作错误说明</vt:lpstr>
      <vt:lpstr>常见操作错误说明</vt:lpstr>
      <vt:lpstr>常见操作错误说明</vt:lpstr>
      <vt:lpstr>常见操作错误说明</vt:lpstr>
      <vt:lpstr>常见操作错误说明</vt:lpstr>
      <vt:lpstr>常见操作错误说明</vt:lpstr>
      <vt:lpstr>一些操作错误说明</vt:lpstr>
      <vt:lpstr>一些操作错误说明</vt:lpstr>
      <vt:lpstr>下阶段：函数发生器设计</vt:lpstr>
    </vt:vector>
  </TitlesOfParts>
  <Manager/>
  <Company>电信系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陈林</dc:creator>
  <cp:keywords/>
  <dc:description/>
  <cp:lastModifiedBy>PXM</cp:lastModifiedBy>
  <cp:revision>485</cp:revision>
  <cp:lastPrinted>2016-10-16T11:59:01Z</cp:lastPrinted>
  <dcterms:created xsi:type="dcterms:W3CDTF">2004-08-29T02:51:05Z</dcterms:created>
  <dcterms:modified xsi:type="dcterms:W3CDTF">2024-09-26T02:34:20Z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2052-9.1.0.4856</vt:lpwstr>
  </property>
</Properties>
</file>