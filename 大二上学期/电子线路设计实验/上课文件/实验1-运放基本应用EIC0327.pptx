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8" r:id="rId2"/>
    <p:sldId id="345" r:id="rId3"/>
    <p:sldId id="535" r:id="rId4"/>
    <p:sldId id="717" r:id="rId5"/>
    <p:sldId id="460" r:id="rId6"/>
    <p:sldId id="399" r:id="rId7"/>
    <p:sldId id="362" r:id="rId8"/>
    <p:sldId id="718" r:id="rId9"/>
    <p:sldId id="624" r:id="rId10"/>
    <p:sldId id="353" r:id="rId11"/>
    <p:sldId id="716" r:id="rId12"/>
    <p:sldId id="318" r:id="rId13"/>
    <p:sldId id="317" r:id="rId14"/>
    <p:sldId id="529" r:id="rId15"/>
    <p:sldId id="275" r:id="rId16"/>
    <p:sldId id="357" r:id="rId17"/>
    <p:sldId id="262" r:id="rId18"/>
    <p:sldId id="368" r:id="rId19"/>
    <p:sldId id="267" r:id="rId20"/>
    <p:sldId id="625" r:id="rId21"/>
    <p:sldId id="343" r:id="rId22"/>
    <p:sldId id="627" r:id="rId23"/>
    <p:sldId id="715" r:id="rId24"/>
  </p:sldIdLst>
  <p:sldSz cx="9144000" cy="6858000" type="screen4x3"/>
  <p:notesSz cx="6858000" cy="9144000"/>
  <p:custShowLst>
    <p:custShow name="自定义放映 1" id="0">
      <p:sldLst/>
    </p:custShow>
    <p:custShow name="自定义放映 2" id="1">
      <p:sldLst/>
    </p:custShow>
  </p:custShow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8">
          <p15:clr>
            <a:srgbClr val="A4A3A4"/>
          </p15:clr>
        </p15:guide>
        <p15:guide id="2" pos="2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CCFFCC"/>
    <a:srgbClr val="CCFF99"/>
    <a:srgbClr val="0033CC"/>
    <a:srgbClr val="FFFFCC"/>
    <a:srgbClr val="0066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1278" autoAdjust="0"/>
  </p:normalViewPr>
  <p:slideViewPr>
    <p:cSldViewPr>
      <p:cViewPr varScale="1">
        <p:scale>
          <a:sx n="83" d="100"/>
          <a:sy n="83" d="100"/>
        </p:scale>
        <p:origin x="1411" y="82"/>
      </p:cViewPr>
      <p:guideLst>
        <p:guide orient="horz" pos="2166"/>
        <p:guide pos="2835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1608" y="-96"/>
      </p:cViewPr>
      <p:guideLst>
        <p:guide orient="horz" pos="2888"/>
        <p:guide pos="2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1FBD5B-1886-4F42-9272-94F11D2FDBD4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BC22671-7807-40AE-A33D-0FE2DD52F24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稳压电源中间的</a:t>
            </a:r>
            <a:r>
              <a:rPr lang="en-US" altLang="zh-CN" dirty="0"/>
              <a:t>GND</a:t>
            </a:r>
            <a:r>
              <a:rPr lang="zh-CN" altLang="en-US" dirty="0"/>
              <a:t>和电测实验共地 无关 无关 无关。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47784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开关</a:t>
            </a:r>
            <a:r>
              <a:rPr lang="en-US" altLang="zh-CN"/>
              <a:t>S</a:t>
            </a:r>
            <a:r>
              <a:rPr lang="zh-CN" altLang="en-US"/>
              <a:t>直接用引线手工换插来实现。</a:t>
            </a:r>
          </a:p>
        </p:txBody>
      </p:sp>
    </p:spTree>
    <p:extLst>
      <p:ext uri="{BB962C8B-B14F-4D97-AF65-F5344CB8AC3E}">
        <p14:creationId xmlns:p14="http://schemas.microsoft.com/office/powerpoint/2010/main" val="3742642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开关</a:t>
            </a:r>
            <a:r>
              <a:rPr lang="en-US" altLang="zh-CN"/>
              <a:t>S</a:t>
            </a:r>
            <a:r>
              <a:rPr lang="zh-CN" altLang="en-US"/>
              <a:t>直接用引线手工换插来实现。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C22671-7807-40AE-A33D-0FE2DD52F248}" type="slidenum">
              <a:rPr lang="en-US" altLang="zh-CN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634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体会：实验中所遇到的问题、原因分析，解决方法与解决效果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605B6-D285-40DF-BC7A-D69FC6790432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2217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>
            <a:extLst>
              <a:ext uri="{FF2B5EF4-FFF2-40B4-BE49-F238E27FC236}">
                <a16:creationId xmlns:a16="http://schemas.microsoft.com/office/drawing/2014/main" id="{B5B24F28-0AF9-4CBB-A186-303B1A818F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8307" name="备注占位符 2">
            <a:extLst>
              <a:ext uri="{FF2B5EF4-FFF2-40B4-BE49-F238E27FC236}">
                <a16:creationId xmlns:a16="http://schemas.microsoft.com/office/drawing/2014/main" id="{70467CF5-5167-41A4-8C8D-E9C5ED837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8308" name="灯片编号占位符 3">
            <a:extLst>
              <a:ext uri="{FF2B5EF4-FFF2-40B4-BE49-F238E27FC236}">
                <a16:creationId xmlns:a16="http://schemas.microsoft.com/office/drawing/2014/main" id="{A80BCF40-B75E-414A-A23D-15C41638B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701209E-0B94-4393-9E09-8137568AAF9D}" type="slidenum">
              <a:rPr lang="en-US" altLang="zh-CN" sz="1300" b="0">
                <a:latin typeface="Arial" panose="020B0604020202020204" pitchFamily="34" charset="0"/>
              </a:rPr>
              <a:pPr/>
              <a:t>23</a:t>
            </a:fld>
            <a:endParaRPr lang="en-US" altLang="zh-CN" sz="13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1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141787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9475" y="1125538"/>
            <a:ext cx="4141788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3063" y="188913"/>
            <a:ext cx="2108200" cy="6264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88913"/>
            <a:ext cx="6175375" cy="6264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25538"/>
            <a:ext cx="8435975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3300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8.png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0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Line 4"/>
          <p:cNvSpPr>
            <a:spLocks noChangeShapeType="1"/>
          </p:cNvSpPr>
          <p:nvPr/>
        </p:nvSpPr>
        <p:spPr bwMode="auto">
          <a:xfrm>
            <a:off x="682308" y="1340768"/>
            <a:ext cx="7696200" cy="0"/>
          </a:xfrm>
          <a:prstGeom prst="line">
            <a:avLst/>
          </a:prstGeom>
          <a:noFill/>
          <a:ln w="88900" cap="sq" cmpd="tri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358775" y="368301"/>
            <a:ext cx="8435975" cy="900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>
              <a:defRPr/>
            </a:pPr>
            <a:r>
              <a:rPr kumimoji="0" lang="zh-CN" altLang="en-US" sz="4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实验三</a:t>
            </a:r>
            <a:r>
              <a:rPr kumimoji="0" lang="en-US" altLang="zh-CN" sz="4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kumimoji="0" lang="zh-CN" altLang="en-US" sz="4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集成运放的基本应用</a:t>
            </a:r>
          </a:p>
        </p:txBody>
      </p:sp>
      <p:sp>
        <p:nvSpPr>
          <p:cNvPr id="5" name="矩形 4"/>
          <p:cNvSpPr/>
          <p:nvPr/>
        </p:nvSpPr>
        <p:spPr>
          <a:xfrm>
            <a:off x="611560" y="1628800"/>
            <a:ext cx="7992888" cy="200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fontAlgn="base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28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</a:t>
            </a:r>
            <a:r>
              <a:rPr kumimoji="1" lang="en-US" altLang="zh-CN" sz="28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HUB</a:t>
            </a:r>
            <a:r>
              <a:rPr kumimoji="1" lang="zh-CN" altLang="en-US" sz="28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序号对桌坐，</a:t>
            </a:r>
            <a:r>
              <a:rPr kumimoji="1" lang="zh-CN" altLang="en-US" sz="2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签到；</a:t>
            </a:r>
            <a:endParaRPr kumimoji="1" lang="en-US" altLang="zh-CN" sz="28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l" fontAlgn="base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Char char="Ø"/>
            </a:pPr>
            <a:r>
              <a:rPr lang="zh-CN" altLang="en-US" sz="2800" b="0" kern="0">
                <a:latin typeface="Tahoma" panose="020B0604030504040204"/>
              </a:rPr>
              <a:t>未及</a:t>
            </a:r>
            <a:r>
              <a:rPr lang="zh-CN" altLang="en-US" sz="2800" b="0" kern="0" dirty="0">
                <a:latin typeface="Tahoma" panose="020B0604030504040204"/>
              </a:rPr>
              <a:t>时提交</a:t>
            </a:r>
            <a:r>
              <a:rPr kumimoji="1" lang="zh-CN" altLang="en-US" sz="2800" b="0" kern="0" dirty="0">
                <a:latin typeface="Tahoma" panose="020B0604030504040204"/>
                <a:ea typeface="宋体" panose="02010600030101010101" pitchFamily="2" charset="-122"/>
              </a:rPr>
              <a:t>电子版</a:t>
            </a:r>
            <a:r>
              <a:rPr kumimoji="1" lang="zh-CN" altLang="en-US" sz="2800" b="0" kern="0">
                <a:latin typeface="Tahoma" panose="020B0604030504040204"/>
                <a:ea typeface="宋体" panose="02010600030101010101" pitchFamily="2" charset="-122"/>
              </a:rPr>
              <a:t>预习报告的提交纸</a:t>
            </a:r>
            <a:r>
              <a:rPr kumimoji="1" lang="zh-CN" altLang="en-US" sz="2800" b="0" kern="0" dirty="0">
                <a:latin typeface="Tahoma" panose="020B0604030504040204"/>
                <a:ea typeface="宋体" panose="02010600030101010101" pitchFamily="2" charset="-122"/>
              </a:rPr>
              <a:t>质</a:t>
            </a:r>
            <a:r>
              <a:rPr kumimoji="1" lang="zh-CN" altLang="en-US" sz="2800" b="0" kern="0">
                <a:latin typeface="Tahoma" panose="020B0604030504040204"/>
                <a:ea typeface="宋体" panose="02010600030101010101" pitchFamily="2" charset="-122"/>
              </a:rPr>
              <a:t>版。</a:t>
            </a:r>
            <a:endParaRPr kumimoji="1" lang="en-US" altLang="zh-CN" sz="2800" b="0" kern="0">
              <a:latin typeface="Tahoma" panose="020B0604030504040204"/>
              <a:ea typeface="宋体" panose="02010600030101010101" pitchFamily="2" charset="-122"/>
            </a:endParaRPr>
          </a:p>
          <a:p>
            <a:pPr marL="342900" lvl="0" indent="-342900" algn="l" fontAlgn="base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>
                <a:srgbClr val="FF0000"/>
              </a:buClr>
              <a:buSzPct val="110000"/>
              <a:buFont typeface="Wingdings" panose="05000000000000000000" pitchFamily="2" charset="2"/>
              <a:buChar char="Ø"/>
            </a:pPr>
            <a:r>
              <a:rPr kumimoji="1" lang="zh-CN" altLang="en-US" sz="2800" b="0" kern="0">
                <a:latin typeface="Tahoma" panose="020B0604030504040204"/>
                <a:ea typeface="宋体" panose="02010600030101010101" pitchFamily="2" charset="-122"/>
              </a:rPr>
              <a:t>无</a:t>
            </a:r>
            <a:r>
              <a:rPr kumimoji="1" lang="zh-CN" altLang="en-US" sz="2800" b="0" kern="0" dirty="0">
                <a:latin typeface="Tahoma" panose="020B0604030504040204"/>
                <a:ea typeface="宋体" panose="02010600030101010101" pitchFamily="2" charset="-122"/>
              </a:rPr>
              <a:t>预习报告不得</a:t>
            </a:r>
            <a:r>
              <a:rPr kumimoji="1" lang="zh-CN" altLang="en-US" sz="2800" b="0" kern="0">
                <a:latin typeface="Tahoma" panose="020B0604030504040204"/>
                <a:ea typeface="宋体" panose="02010600030101010101" pitchFamily="2" charset="-122"/>
              </a:rPr>
              <a:t>实验！</a:t>
            </a:r>
            <a:endParaRPr lang="en-US" altLang="zh-CN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7A45C79-19FA-42EB-B5FB-70C9DC89E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88" y="3789040"/>
            <a:ext cx="8496300" cy="2232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en-US" altLang="zh-CN" sz="3200" b="0" kern="0">
                <a:latin typeface="Times New Roman" panose="02020603050405020304" pitchFamily="18" charset="0"/>
              </a:rPr>
              <a:t>1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、电压跟随器（教材实验三任务</a:t>
            </a:r>
            <a:r>
              <a:rPr kumimoji="0" lang="en-US" altLang="zh-CN" sz="3200" b="0" kern="0">
                <a:latin typeface="Times New Roman" panose="02020603050405020304" pitchFamily="18" charset="0"/>
              </a:rPr>
              <a:t>1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en-US" altLang="zh-CN" sz="3200" b="0" kern="0">
                <a:latin typeface="Times New Roman" panose="02020603050405020304" pitchFamily="18" charset="0"/>
              </a:rPr>
              <a:t>2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、反相比例加法（教材实验三任务</a:t>
            </a:r>
            <a:r>
              <a:rPr kumimoji="0" lang="en-US" altLang="zh-CN" sz="3200" b="0" kern="0">
                <a:latin typeface="Times New Roman" panose="02020603050405020304" pitchFamily="18" charset="0"/>
              </a:rPr>
              <a:t>2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kumimoji="0" lang="en-US" altLang="zh-CN" sz="3200" b="0" kern="0">
                <a:latin typeface="Times New Roman" panose="02020603050405020304" pitchFamily="18" charset="0"/>
              </a:rPr>
              <a:t>3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、比例积分电路（教材实验三任务</a:t>
            </a:r>
            <a:r>
              <a:rPr kumimoji="0" lang="en-US" altLang="zh-CN" sz="3200" b="0" kern="0">
                <a:latin typeface="Times New Roman" panose="02020603050405020304" pitchFamily="18" charset="0"/>
              </a:rPr>
              <a:t>3</a:t>
            </a:r>
            <a:r>
              <a:rPr kumimoji="0" lang="zh-CN" altLang="en-US" sz="3200" b="0" kern="0">
                <a:latin typeface="Times New Roman" panose="02020603050405020304" pitchFamily="18" charset="0"/>
              </a:rPr>
              <a:t>）</a:t>
            </a:r>
            <a:endParaRPr kumimoji="0" lang="zh-CN" altLang="en-US" sz="3200" b="0" kern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E918B01C-4E54-4D69-BE1B-DE0BFD9EA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358441"/>
              </p:ext>
            </p:extLst>
          </p:nvPr>
        </p:nvGraphicFramePr>
        <p:xfrm>
          <a:off x="3866310" y="1789614"/>
          <a:ext cx="4824413" cy="368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BMP 图像" r:id="rId3" imgW="3952381" imgH="3019048" progId="Paint.Picture">
                  <p:embed/>
                </p:oleObj>
              </mc:Choice>
              <mc:Fallback>
                <p:oleObj name="BMP 图像" r:id="rId3" imgW="3952381" imgH="3019048" progId="Paint.Picture">
                  <p:embed/>
                  <p:pic>
                    <p:nvPicPr>
                      <p:cNvPr id="89093" name="Object 4">
                        <a:extLst>
                          <a:ext uri="{FF2B5EF4-FFF2-40B4-BE49-F238E27FC236}">
                            <a16:creationId xmlns:a16="http://schemas.microsoft.com/office/drawing/2014/main" id="{2B3B9A16-9D72-479C-B7EC-4F8C96B35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310" y="1789614"/>
                        <a:ext cx="4824413" cy="368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79388" y="285728"/>
            <a:ext cx="68408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ea typeface="黑体" panose="02010609060101010101" pitchFamily="2" charset="-122"/>
              </a:rPr>
              <a:t>组装</a:t>
            </a:r>
            <a:r>
              <a:rPr lang="zh-CN" altLang="en-US" sz="3200" dirty="0">
                <a:solidFill>
                  <a:srgbClr val="0033CC"/>
                </a:solidFill>
                <a:ea typeface="黑体" panose="02010609060101010101" pitchFamily="2" charset="-122"/>
              </a:rPr>
              <a:t>电路注意</a:t>
            </a:r>
            <a:endParaRPr lang="zh-CN" altLang="en-US" sz="2000" dirty="0">
              <a:ea typeface="楷体" panose="02010609060101010101" pitchFamily="49" charset="-122"/>
            </a:endParaRP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31800" y="1160462"/>
            <a:ext cx="3276104" cy="461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本实验核心器件</a:t>
            </a:r>
            <a:r>
              <a:rPr lang="en-US" altLang="zh-CN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NE5532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（高速低噪声双运算放大器） ，引脚图见教材。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内部</a:t>
            </a:r>
            <a:r>
              <a:rPr lang="zh-CN" altLang="en-US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双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运放，共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正负电源端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！</a:t>
            </a:r>
            <a:r>
              <a:rPr lang="zh-CN" altLang="en-US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各自的信号端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OUT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不要交叉用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外围电阻用万用表先测再插板。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333375" y="928670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04" name="Rectangle 70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3914775" y="4509120"/>
            <a:ext cx="1233290" cy="676275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Oval 6"/>
          <p:cNvSpPr>
            <a:spLocks noChangeArrowheads="1"/>
          </p:cNvSpPr>
          <p:nvPr/>
        </p:nvSpPr>
        <p:spPr bwMode="auto">
          <a:xfrm>
            <a:off x="7308303" y="2132856"/>
            <a:ext cx="1382419" cy="844549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395288" y="1125538"/>
          <a:ext cx="8675687" cy="519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图片" r:id="rId4" imgW="4849495" imgH="2290445" progId="Word.Picture.8">
                  <p:embed/>
                </p:oleObj>
              </mc:Choice>
              <mc:Fallback>
                <p:oleObj name="图片" r:id="rId4" imgW="4849495" imgH="2290445" progId="Word.Picture.8">
                  <p:embed/>
                  <p:pic>
                    <p:nvPicPr>
                      <p:cNvPr id="819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25538"/>
                        <a:ext cx="8675687" cy="519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8C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746852" y="1109526"/>
            <a:ext cx="4968552" cy="2719271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芯片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跨置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722F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平下压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，数清管脚；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不要挪占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芯片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留空脚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的插孔组！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布局合理，贴板布线，横平竖直。</a:t>
            </a:r>
            <a:endParaRPr kumimoji="1" lang="en-US" altLang="zh-CN" sz="2400" b="1" dirty="0"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面包板公共条先搞清楚再用。</a:t>
            </a:r>
            <a:endParaRPr kumimoji="1"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插线剥头、容阻插脚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剪短后）保证裸露</a:t>
            </a:r>
            <a:r>
              <a:rPr kumimoji="1" lang="zh-CN" altLang="en-US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约</a:t>
            </a:r>
            <a:r>
              <a:rPr kumimoji="1" lang="en-US" altLang="zh-CN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8mm</a:t>
            </a:r>
            <a:r>
              <a:rPr kumimoji="1" lang="zh-CN" altLang="en-US" sz="2400" b="1" noProof="0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插到底接牢靠；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400" name="Picture 4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6724" y="4528503"/>
            <a:ext cx="8950650" cy="142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482" name="Line 10"/>
          <p:cNvSpPr>
            <a:spLocks noChangeShapeType="1"/>
          </p:cNvSpPr>
          <p:nvPr/>
        </p:nvSpPr>
        <p:spPr bwMode="auto">
          <a:xfrm>
            <a:off x="173981" y="4754722"/>
            <a:ext cx="863600" cy="1368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H="1">
            <a:off x="137468" y="4754722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1578993" y="4736465"/>
            <a:ext cx="863600" cy="1368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H="1">
            <a:off x="1542480" y="4736465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>
            <a:off x="7535651" y="5544957"/>
            <a:ext cx="450850" cy="5763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 flipH="1">
            <a:off x="5382890" y="4789382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 flipH="1">
            <a:off x="7986501" y="4754721"/>
            <a:ext cx="900113" cy="13319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4932040" y="5544957"/>
            <a:ext cx="450850" cy="5763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3266331" y="4653136"/>
            <a:ext cx="9525" cy="360040"/>
          </a:xfrm>
          <a:prstGeom prst="straightConnector1">
            <a:avLst/>
          </a:prstGeom>
          <a:solidFill>
            <a:srgbClr val="CCFF99"/>
          </a:solidFill>
          <a:ln w="7302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2534233" y="5430415"/>
            <a:ext cx="1656184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用力平压</a:t>
            </a:r>
          </a:p>
        </p:txBody>
      </p:sp>
      <p:cxnSp>
        <p:nvCxnSpPr>
          <p:cNvPr id="7" name="直接连接符 6"/>
          <p:cNvCxnSpPr/>
          <p:nvPr/>
        </p:nvCxnSpPr>
        <p:spPr bwMode="auto">
          <a:xfrm flipV="1">
            <a:off x="4190417" y="5420678"/>
            <a:ext cx="4896957" cy="96554"/>
          </a:xfrm>
          <a:prstGeom prst="line">
            <a:avLst/>
          </a:prstGeom>
          <a:solidFill>
            <a:srgbClr val="CCFF99"/>
          </a:solidFill>
          <a:ln w="476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650" y="95250"/>
            <a:ext cx="8686800" cy="777875"/>
          </a:xfrm>
        </p:spPr>
        <p:txBody>
          <a:bodyPr/>
          <a:lstStyle/>
          <a:p>
            <a:pPr lvl="0" algn="l" eaLnBrk="1" hangingPunct="1">
              <a:spcBef>
                <a:spcPct val="50000"/>
              </a:spcBef>
            </a:pPr>
            <a:r>
              <a:rPr kumimoji="1" lang="zh-CN" altLang="en-US" sz="280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—</a:t>
            </a:r>
            <a:r>
              <a:rPr kumimoji="1" lang="zh-CN" altLang="en-US" sz="3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面包板插接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2771800" y="4179506"/>
            <a:ext cx="601898" cy="1035262"/>
          </a:xfrm>
          <a:prstGeom prst="rect">
            <a:avLst/>
          </a:prstGeom>
          <a:solidFill>
            <a:srgbClr val="0070C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4644008" y="3939499"/>
            <a:ext cx="4071395" cy="7778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lvl="0" algn="l" eaLnBrk="1" hangingPunct="1">
              <a:defRPr/>
            </a:pPr>
            <a:r>
              <a:rPr lang="zh-CN" altLang="en-US" sz="2800" b="0" noProof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更多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MOOC</a:t>
            </a:r>
            <a:r>
              <a:rPr kumimoji="1" lang="zh-CN" altLang="en-US" sz="2800" b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自练自体会！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2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 animBg="1"/>
      <p:bldP spid="105482" grpId="1" animBg="1"/>
      <p:bldP spid="105483" grpId="0" animBg="1"/>
      <p:bldP spid="105483" grpId="1" animBg="1"/>
      <p:bldP spid="18" grpId="0" animBg="1"/>
      <p:bldP spid="18" grpId="1" animBg="1"/>
      <p:bldP spid="19" grpId="0" animBg="1"/>
      <p:bldP spid="19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5" grpId="0" animBg="1"/>
      <p:bldP spid="5" grpId="1" animBg="1"/>
      <p:bldP spid="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39" y="1117899"/>
            <a:ext cx="2447925" cy="866775"/>
          </a:xfrm>
          <a:prstGeom prst="rect">
            <a:avLst/>
          </a:prstGeom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20650" y="62978"/>
            <a:ext cx="8686800" cy="7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32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相关操作注意：</a:t>
            </a:r>
            <a:r>
              <a:rPr kumimoji="1" lang="zh-CN" altLang="en-US" sz="32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插线剥头及电源专用连线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8016" y="2685638"/>
            <a:ext cx="3409434" cy="39339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309772" y="3166509"/>
            <a:ext cx="5041856" cy="281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建议：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三合一双电源</a:t>
            </a:r>
            <a:r>
              <a:rPr lang="zh-CN" altLang="en-US" sz="28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专用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接线</a:t>
            </a:r>
            <a:endParaRPr lang="en-US" altLang="zh-CN" sz="16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)-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两色必有；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线长约</a:t>
            </a:r>
            <a:r>
              <a:rPr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40c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（现场适配）；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一端剥头裸露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8mm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插板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 marL="457200" indent="-457200" algn="l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一端剥头</a:t>
            </a:r>
            <a:r>
              <a:rPr lang="en-US" altLang="zh-CN" sz="28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15mm</a:t>
            </a:r>
            <a:r>
              <a:rPr lang="zh-CN" altLang="en-US" sz="28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接电源线柱。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12"/>
          <p:cNvSpPr txBox="1"/>
          <p:nvPr/>
        </p:nvSpPr>
        <p:spPr>
          <a:xfrm>
            <a:off x="6170034" y="747934"/>
            <a:ext cx="2758501" cy="1806264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插线剥头</a:t>
            </a:r>
            <a:r>
              <a:rPr kumimoji="1"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、容阻插脚裸露</a:t>
            </a:r>
            <a:r>
              <a:rPr kumimoji="1" lang="zh-CN" altLang="en-US" sz="2400" b="1" dirty="0">
                <a:solidFill>
                  <a:srgbClr val="2722FA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过长过短都不好！</a:t>
            </a:r>
            <a:r>
              <a:rPr kumimoji="1" lang="zh-CN" altLang="en-US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约</a:t>
            </a:r>
            <a:r>
              <a:rPr kumimoji="1" lang="en-US" altLang="zh-CN" sz="2400" b="1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mm ==</a:t>
            </a:r>
          </a:p>
          <a:p>
            <a:pPr lvl="0" algn="l">
              <a:lnSpc>
                <a:spcPct val="120000"/>
              </a:lnSpc>
              <a:defRPr/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4.5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个面包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孔距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722FA"/>
              </a:solidFill>
              <a:effectLst/>
              <a:uLnTx/>
              <a:uFillTx/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2612679" y="1651066"/>
            <a:ext cx="306679" cy="22435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96A26FA-83B9-4D07-9495-722EBDABE7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375" y="2086203"/>
            <a:ext cx="2103120" cy="20853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1439822-6B62-494F-90DD-123AE685F45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41065" y="2086203"/>
            <a:ext cx="1562735" cy="20853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9548" y="963478"/>
            <a:ext cx="2295525" cy="1504950"/>
          </a:xfrm>
          <a:prstGeom prst="rect">
            <a:avLst/>
          </a:prstGeom>
        </p:spPr>
      </p:pic>
      <p:sp>
        <p:nvSpPr>
          <p:cNvPr id="2" name="箭头: 右 1"/>
          <p:cNvSpPr/>
          <p:nvPr/>
        </p:nvSpPr>
        <p:spPr bwMode="auto">
          <a:xfrm>
            <a:off x="2936482" y="1568823"/>
            <a:ext cx="2124122" cy="388844"/>
          </a:xfrm>
          <a:prstGeom prst="rightArrow">
            <a:avLst/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5134153" y="1440287"/>
            <a:ext cx="268703" cy="926272"/>
          </a:xfrm>
          <a:prstGeom prst="straightConnector1">
            <a:avLst/>
          </a:prstGeom>
          <a:solidFill>
            <a:srgbClr val="CCFF99"/>
          </a:solidFill>
          <a:ln w="50800" cap="flat" cmpd="sng" algn="ctr">
            <a:solidFill>
              <a:srgbClr val="FF0000">
                <a:alpha val="70000"/>
              </a:srgbClr>
            </a:solidFill>
            <a:prstDash val="solid"/>
            <a:round/>
            <a:headEnd type="triangle"/>
            <a:tailEnd type="triangle"/>
          </a:ln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597CC087-4D8B-409E-AD1E-937427E86DCC}"/>
              </a:ext>
            </a:extLst>
          </p:cNvPr>
          <p:cNvGrpSpPr/>
          <p:nvPr/>
        </p:nvGrpSpPr>
        <p:grpSpPr>
          <a:xfrm>
            <a:off x="1604130" y="4381998"/>
            <a:ext cx="2141855" cy="2237602"/>
            <a:chOff x="1604130" y="4381998"/>
            <a:chExt cx="2141855" cy="223760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B49C6357-5109-413D-8011-10EE0DF5EDB3}"/>
                </a:ext>
              </a:extLst>
            </p:cNvPr>
            <p:cNvPicPr/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04130" y="4381998"/>
              <a:ext cx="2141855" cy="22376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7ECDD51D-A19D-4793-812E-6C4B681432B9}"/>
                </a:ext>
              </a:extLst>
            </p:cNvPr>
            <p:cNvSpPr/>
            <p:nvPr/>
          </p:nvSpPr>
          <p:spPr bwMode="auto">
            <a:xfrm>
              <a:off x="2436495" y="5157192"/>
              <a:ext cx="1199401" cy="648072"/>
            </a:xfrm>
            <a:prstGeom prst="ellips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 animBg="1"/>
      <p:bldP spid="16" grpId="0" animBg="1"/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38">
            <a:extLst>
              <a:ext uri="{FF2B5EF4-FFF2-40B4-BE49-F238E27FC236}">
                <a16:creationId xmlns:a16="http://schemas.microsoft.com/office/drawing/2014/main" id="{F2E8D4C5-DE12-49EF-972B-502F3990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5833427"/>
            <a:ext cx="8497887" cy="830997"/>
          </a:xfrm>
          <a:prstGeom prst="rect">
            <a:avLst/>
          </a:prstGeom>
          <a:solidFill>
            <a:schemeClr val="accent5"/>
          </a:solidFill>
          <a:ln w="38100" cmpd="dbl">
            <a:solidFill>
              <a:schemeClr val="hlink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 eaLnBrk="1" hangingPunct="1">
              <a:spcBef>
                <a:spcPts val="0"/>
              </a:spcBef>
              <a:defRPr/>
            </a:pP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</a:rPr>
              <a:t>先调好电压再</a:t>
            </a:r>
            <a:r>
              <a:rPr lang="zh-CN" altLang="en-US" b="0">
                <a:solidFill>
                  <a:srgbClr val="000000"/>
                </a:solidFill>
                <a:latin typeface="宋体" panose="02010600030101010101" pitchFamily="2" charset="-122"/>
              </a:rPr>
              <a:t>连线。</a:t>
            </a:r>
            <a:r>
              <a:rPr lang="zh-CN" altLang="en-US" b="0">
                <a:solidFill>
                  <a:srgbClr val="FF0000"/>
                </a:solidFill>
                <a:latin typeface="宋体" panose="02010600030101010101" pitchFamily="2" charset="-122"/>
              </a:rPr>
              <a:t>注意</a:t>
            </a:r>
            <a:r>
              <a:rPr lang="zh-CN" altLang="en-US" b="0" dirty="0">
                <a:solidFill>
                  <a:srgbClr val="FF0000"/>
                </a:solidFill>
                <a:latin typeface="宋体" panose="02010600030101010101" pitchFamily="2" charset="-122"/>
              </a:rPr>
              <a:t>指示灯，谨防外电路短路亮红灯！</a:t>
            </a:r>
            <a:endParaRPr lang="en-US" altLang="zh-CN" b="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0" algn="l" eaLnBrk="1" hangingPunct="1">
              <a:spcBef>
                <a:spcPts val="0"/>
              </a:spcBef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" panose="02010609060101010101" pitchFamily="49" charset="-122"/>
                <a:cs typeface="+mn-cs"/>
              </a:rPr>
              <a:t>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楷体" panose="02010609060101010101" pitchFamily="49" charset="-122"/>
                <a:cs typeface="+mn-cs"/>
              </a:rPr>
              <a:t>正电源、负电源、共地线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一个都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不能少更不能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反！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</a:p>
        </p:txBody>
      </p:sp>
      <p:sp>
        <p:nvSpPr>
          <p:cNvPr id="30722" name="Line 2"/>
          <p:cNvSpPr>
            <a:spLocks noChangeShapeType="1"/>
          </p:cNvSpPr>
          <p:nvPr/>
        </p:nvSpPr>
        <p:spPr bwMode="auto">
          <a:xfrm>
            <a:off x="7358063" y="2565400"/>
            <a:ext cx="0" cy="611188"/>
          </a:xfrm>
          <a:prstGeom prst="line">
            <a:avLst/>
          </a:prstGeom>
          <a:noFill/>
          <a:ln w="5715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23" name="Line 3"/>
          <p:cNvSpPr>
            <a:spLocks noChangeShapeType="1"/>
          </p:cNvSpPr>
          <p:nvPr/>
        </p:nvSpPr>
        <p:spPr bwMode="auto">
          <a:xfrm>
            <a:off x="6443663" y="2527052"/>
            <a:ext cx="0" cy="26839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50180" name="Object 4" descr="羊皮纸"/>
          <p:cNvGraphicFramePr>
            <a:graphicFrameLocks noChangeAspect="1"/>
          </p:cNvGraphicFramePr>
          <p:nvPr/>
        </p:nvGraphicFramePr>
        <p:xfrm>
          <a:off x="127000" y="2709639"/>
          <a:ext cx="4724400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Picture" r:id="rId4" imgW="9801225" imgH="6410325" progId="Word.Picture.8">
                  <p:embed/>
                </p:oleObj>
              </mc:Choice>
              <mc:Fallback>
                <p:oleObj name="Picture" r:id="rId4" imgW="9801225" imgH="6410325" progId="Word.Picture.8">
                  <p:embed/>
                  <p:pic>
                    <p:nvPicPr>
                      <p:cNvPr id="50180" name="Object 4" descr="羊皮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" y="2709639"/>
                        <a:ext cx="4724400" cy="309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8308478" y="2599432"/>
            <a:ext cx="0" cy="2419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5537200" y="1827213"/>
            <a:ext cx="2743200" cy="519112"/>
            <a:chOff x="0" y="0"/>
            <a:chExt cx="1728" cy="327"/>
          </a:xfrm>
        </p:grpSpPr>
        <p:sp>
          <p:nvSpPr>
            <p:cNvPr id="50215" name="Text Box 7"/>
            <p:cNvSpPr txBox="1">
              <a:spLocks noChangeArrowheads="1"/>
            </p:cNvSpPr>
            <p:nvPr/>
          </p:nvSpPr>
          <p:spPr bwMode="auto">
            <a:xfrm>
              <a:off x="0" y="0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zh-CN" sz="2800" b="1">
                  <a:solidFill>
                    <a:srgbClr val="CC0000"/>
                  </a:solidFill>
                  <a:latin typeface="Times New Roman" panose="02020603050405020304" pitchFamily="18" charset="0"/>
                </a:rPr>
                <a:t>12V</a:t>
              </a:r>
            </a:p>
          </p:txBody>
        </p:sp>
        <p:sp>
          <p:nvSpPr>
            <p:cNvPr id="50216" name="Text Box 8"/>
            <p:cNvSpPr txBox="1">
              <a:spLocks noChangeArrowheads="1"/>
            </p:cNvSpPr>
            <p:nvPr/>
          </p:nvSpPr>
          <p:spPr bwMode="auto">
            <a:xfrm>
              <a:off x="1152" y="0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zh-CN" altLang="zh-CN" sz="2800" b="1">
                  <a:solidFill>
                    <a:srgbClr val="CC0000"/>
                  </a:solidFill>
                  <a:latin typeface="Times New Roman" panose="02020603050405020304" pitchFamily="18" charset="0"/>
                </a:rPr>
                <a:t>12V</a:t>
              </a:r>
            </a:p>
          </p:txBody>
        </p:sp>
      </p:grpSp>
      <p:sp>
        <p:nvSpPr>
          <p:cNvPr id="50183" name="Rectangle 9"/>
          <p:cNvSpPr>
            <a:spLocks noChangeArrowheads="1"/>
          </p:cNvSpPr>
          <p:nvPr/>
        </p:nvSpPr>
        <p:spPr bwMode="auto">
          <a:xfrm>
            <a:off x="5029200" y="1447800"/>
            <a:ext cx="3733800" cy="1447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84" name="Line 10"/>
          <p:cNvSpPr>
            <a:spLocks noChangeShapeType="1"/>
          </p:cNvSpPr>
          <p:nvPr/>
        </p:nvSpPr>
        <p:spPr bwMode="auto">
          <a:xfrm>
            <a:off x="5029200" y="2286000"/>
            <a:ext cx="3733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85" name="Oval 11"/>
          <p:cNvSpPr>
            <a:spLocks noChangeArrowheads="1"/>
          </p:cNvSpPr>
          <p:nvPr/>
        </p:nvSpPr>
        <p:spPr bwMode="auto">
          <a:xfrm>
            <a:off x="7239000" y="2390775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86" name="Oval 12"/>
          <p:cNvSpPr>
            <a:spLocks noChangeArrowheads="1"/>
          </p:cNvSpPr>
          <p:nvPr/>
        </p:nvSpPr>
        <p:spPr bwMode="auto">
          <a:xfrm>
            <a:off x="6743700" y="24765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87" name="Text Box 13"/>
          <p:cNvSpPr txBox="1">
            <a:spLocks noChangeArrowheads="1"/>
          </p:cNvSpPr>
          <p:nvPr/>
        </p:nvSpPr>
        <p:spPr bwMode="auto">
          <a:xfrm>
            <a:off x="5310758" y="1484784"/>
            <a:ext cx="32936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   双路</a:t>
            </a:r>
            <a:r>
              <a:rPr lang="zh-CN" altLang="en-US" dirty="0">
                <a:solidFill>
                  <a:srgbClr val="333399"/>
                </a:solidFill>
                <a:latin typeface="Times New Roman" panose="02020603050405020304" pitchFamily="18" charset="0"/>
              </a:rPr>
              <a:t>直流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电源</a:t>
            </a:r>
            <a:endParaRPr lang="zh-CN" altLang="zh-CN" sz="24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8" name="Oval 14"/>
          <p:cNvSpPr>
            <a:spLocks noChangeArrowheads="1"/>
          </p:cNvSpPr>
          <p:nvPr/>
        </p:nvSpPr>
        <p:spPr bwMode="auto">
          <a:xfrm>
            <a:off x="5410200" y="2400300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89" name="Oval 15"/>
          <p:cNvSpPr>
            <a:spLocks noChangeArrowheads="1"/>
          </p:cNvSpPr>
          <p:nvPr/>
        </p:nvSpPr>
        <p:spPr bwMode="auto">
          <a:xfrm>
            <a:off x="6324600" y="24003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90" name="Oval 16"/>
          <p:cNvSpPr>
            <a:spLocks noChangeArrowheads="1"/>
          </p:cNvSpPr>
          <p:nvPr/>
        </p:nvSpPr>
        <p:spPr bwMode="auto">
          <a:xfrm>
            <a:off x="8191500" y="2400300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4" name="Group 20"/>
          <p:cNvGrpSpPr/>
          <p:nvPr/>
        </p:nvGrpSpPr>
        <p:grpSpPr bwMode="auto">
          <a:xfrm>
            <a:off x="2808287" y="2527052"/>
            <a:ext cx="2771776" cy="496888"/>
            <a:chOff x="5" y="0"/>
            <a:chExt cx="1746" cy="313"/>
          </a:xfrm>
        </p:grpSpPr>
        <p:sp>
          <p:nvSpPr>
            <p:cNvPr id="50211" name="Freeform 21"/>
            <p:cNvSpPr/>
            <p:nvPr/>
          </p:nvSpPr>
          <p:spPr bwMode="auto">
            <a:xfrm>
              <a:off x="5" y="0"/>
              <a:ext cx="1746" cy="94"/>
            </a:xfrm>
            <a:custGeom>
              <a:avLst/>
              <a:gdLst>
                <a:gd name="T0" fmla="*/ 1733 w 1733"/>
                <a:gd name="T1" fmla="*/ 0 h 94"/>
                <a:gd name="T2" fmla="*/ 1556 w 1733"/>
                <a:gd name="T3" fmla="*/ 88 h 94"/>
                <a:gd name="T4" fmla="*/ 0 w 1733"/>
                <a:gd name="T5" fmla="*/ 94 h 94"/>
                <a:gd name="T6" fmla="*/ 0 60000 65536"/>
                <a:gd name="T7" fmla="*/ 0 60000 65536"/>
                <a:gd name="T8" fmla="*/ 0 60000 65536"/>
                <a:gd name="T9" fmla="*/ 0 w 1733"/>
                <a:gd name="T10" fmla="*/ 0 h 94"/>
                <a:gd name="T11" fmla="*/ 1733 w 1733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3" h="94">
                  <a:moveTo>
                    <a:pt x="1733" y="0"/>
                  </a:moveTo>
                  <a:lnTo>
                    <a:pt x="1556" y="88"/>
                  </a:lnTo>
                  <a:lnTo>
                    <a:pt x="0" y="94"/>
                  </a:lnTo>
                </a:path>
              </a:pathLst>
            </a:custGeom>
            <a:noFill/>
            <a:ln w="5715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50212" name="Line 22"/>
            <p:cNvSpPr>
              <a:spLocks noChangeShapeType="1"/>
            </p:cNvSpPr>
            <p:nvPr/>
          </p:nvSpPr>
          <p:spPr bwMode="auto">
            <a:xfrm>
              <a:off x="16" y="86"/>
              <a:ext cx="0" cy="227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3581400" y="218122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>
                <a:solidFill>
                  <a:srgbClr val="000099"/>
                </a:solidFill>
                <a:ea typeface="黑体" panose="02010609060101010101" pitchFamily="2" charset="-122"/>
              </a:rPr>
              <a:t>-</a:t>
            </a:r>
            <a:r>
              <a:rPr lang="zh-CN" altLang="zh-CN" sz="2800" b="1">
                <a:solidFill>
                  <a:srgbClr val="000099"/>
                </a:solidFill>
              </a:rPr>
              <a:t>12V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6989763" y="4561964"/>
            <a:ext cx="12017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 dirty="0">
                <a:solidFill>
                  <a:srgbClr val="FF0000"/>
                </a:solidFill>
              </a:rPr>
              <a:t>+12V</a:t>
            </a:r>
          </a:p>
        </p:txBody>
      </p:sp>
      <p:sp>
        <p:nvSpPr>
          <p:cNvPr id="30745" name="Line 25"/>
          <p:cNvSpPr>
            <a:spLocks noChangeShapeType="1"/>
          </p:cNvSpPr>
          <p:nvPr/>
        </p:nvSpPr>
        <p:spPr bwMode="auto">
          <a:xfrm>
            <a:off x="755576" y="5172076"/>
            <a:ext cx="5688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46" name="Oval 26"/>
          <p:cNvSpPr>
            <a:spLocks noChangeArrowheads="1"/>
          </p:cNvSpPr>
          <p:nvPr/>
        </p:nvSpPr>
        <p:spPr bwMode="auto">
          <a:xfrm>
            <a:off x="738000" y="5114926"/>
            <a:ext cx="117475" cy="1143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197" name="Text Box 27"/>
          <p:cNvSpPr txBox="1">
            <a:spLocks noChangeArrowheads="1"/>
          </p:cNvSpPr>
          <p:nvPr/>
        </p:nvSpPr>
        <p:spPr bwMode="auto">
          <a:xfrm>
            <a:off x="1044765" y="5263505"/>
            <a:ext cx="38066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zh-CN" sz="2800" b="1" dirty="0">
                <a:solidFill>
                  <a:srgbClr val="000000"/>
                </a:solidFill>
              </a:rPr>
              <a:t>0V</a:t>
            </a:r>
            <a:r>
              <a:rPr lang="en-US" altLang="zh-CN" sz="2800" b="1" dirty="0">
                <a:solidFill>
                  <a:srgbClr val="000000"/>
                </a:solidFill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</a:rPr>
              <a:t>原理图的</a:t>
            </a:r>
            <a:r>
              <a:rPr lang="zh-CN" altLang="en-US" sz="2800" b="1" dirty="0">
                <a:solidFill>
                  <a:srgbClr val="000000"/>
                </a:solidFill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</a:t>
            </a:r>
            <a:r>
              <a:rPr lang="en-US" altLang="zh-CN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⊥</a:t>
            </a:r>
            <a:endParaRPr lang="zh-CN" altLang="zh-CN" sz="2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199" name="Text Box 29"/>
          <p:cNvSpPr txBox="1">
            <a:spLocks noChangeArrowheads="1"/>
          </p:cNvSpPr>
          <p:nvPr/>
        </p:nvSpPr>
        <p:spPr bwMode="auto">
          <a:xfrm>
            <a:off x="7939088" y="2574925"/>
            <a:ext cx="2905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</a:rPr>
              <a:t>＋</a:t>
            </a:r>
          </a:p>
        </p:txBody>
      </p:sp>
      <p:sp>
        <p:nvSpPr>
          <p:cNvPr id="50200" name="Text Box 30"/>
          <p:cNvSpPr txBox="1">
            <a:spLocks noChangeArrowheads="1"/>
          </p:cNvSpPr>
          <p:nvPr/>
        </p:nvSpPr>
        <p:spPr bwMode="auto">
          <a:xfrm>
            <a:off x="6110288" y="2570163"/>
            <a:ext cx="2905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</a:rPr>
              <a:t>＋</a:t>
            </a:r>
          </a:p>
        </p:txBody>
      </p:sp>
      <p:sp>
        <p:nvSpPr>
          <p:cNvPr id="50201" name="Text Box 31"/>
          <p:cNvSpPr txBox="1">
            <a:spLocks noChangeArrowheads="1"/>
          </p:cNvSpPr>
          <p:nvPr/>
        </p:nvSpPr>
        <p:spPr bwMode="auto">
          <a:xfrm>
            <a:off x="5500688" y="2598738"/>
            <a:ext cx="2905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</a:rPr>
              <a:t>－</a:t>
            </a:r>
          </a:p>
        </p:txBody>
      </p:sp>
      <p:sp>
        <p:nvSpPr>
          <p:cNvPr id="50202" name="Text Box 32"/>
          <p:cNvSpPr txBox="1">
            <a:spLocks noChangeArrowheads="1"/>
          </p:cNvSpPr>
          <p:nvPr/>
        </p:nvSpPr>
        <p:spPr bwMode="auto">
          <a:xfrm>
            <a:off x="7408863" y="2589213"/>
            <a:ext cx="2905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</a:rPr>
              <a:t>－</a:t>
            </a:r>
          </a:p>
        </p:txBody>
      </p:sp>
      <p:sp>
        <p:nvSpPr>
          <p:cNvPr id="50203" name="Line 33"/>
          <p:cNvSpPr>
            <a:spLocks noChangeShapeType="1"/>
          </p:cNvSpPr>
          <p:nvPr/>
        </p:nvSpPr>
        <p:spPr bwMode="auto">
          <a:xfrm>
            <a:off x="6743700" y="2466975"/>
            <a:ext cx="285750" cy="28575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0204" name="Line 34"/>
          <p:cNvSpPr>
            <a:spLocks noChangeShapeType="1"/>
          </p:cNvSpPr>
          <p:nvPr/>
        </p:nvSpPr>
        <p:spPr bwMode="auto">
          <a:xfrm flipV="1">
            <a:off x="6734175" y="2457450"/>
            <a:ext cx="276225" cy="295275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5911965" y="3296643"/>
            <a:ext cx="468312" cy="15525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00"/>
                </a:solidFill>
              </a:rPr>
              <a:t>共地线！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59" name="Line 39"/>
          <p:cNvSpPr>
            <a:spLocks noChangeShapeType="1"/>
          </p:cNvSpPr>
          <p:nvPr/>
        </p:nvSpPr>
        <p:spPr bwMode="auto">
          <a:xfrm>
            <a:off x="6413500" y="3146628"/>
            <a:ext cx="939800" cy="0"/>
          </a:xfrm>
          <a:prstGeom prst="line">
            <a:avLst/>
          </a:prstGeom>
          <a:noFill/>
          <a:ln w="7620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>
            <a:off x="6438900" y="2540000"/>
            <a:ext cx="12700" cy="596900"/>
          </a:xfrm>
          <a:prstGeom prst="line">
            <a:avLst/>
          </a:prstGeom>
          <a:noFill/>
          <a:ln w="76200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五角星 4"/>
          <p:cNvSpPr/>
          <p:nvPr/>
        </p:nvSpPr>
        <p:spPr bwMode="auto">
          <a:xfrm>
            <a:off x="8513763" y="116632"/>
            <a:ext cx="382587" cy="360040"/>
          </a:xfrm>
          <a:prstGeom prst="star5">
            <a:avLst/>
          </a:prstGeom>
          <a:solidFill>
            <a:srgbClr val="FFFF00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2823369" y="5013176"/>
            <a:ext cx="5493047" cy="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1451BE74-2DA1-49B2-BB23-1B732F478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943" y="1606388"/>
            <a:ext cx="1984041" cy="4015425"/>
          </a:xfrm>
          <a:prstGeom prst="rect">
            <a:avLst/>
          </a:prstGeom>
          <a:ln w="63500">
            <a:solidFill>
              <a:srgbClr val="00B0F0"/>
            </a:solidFill>
          </a:ln>
        </p:spPr>
      </p:pic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C5C967C-79E8-44CB-8E4C-183FEED15F3A}"/>
              </a:ext>
            </a:extLst>
          </p:cNvPr>
          <p:cNvSpPr/>
          <p:nvPr/>
        </p:nvSpPr>
        <p:spPr bwMode="auto">
          <a:xfrm>
            <a:off x="3874401" y="2324434"/>
            <a:ext cx="730392" cy="461665"/>
          </a:xfrm>
          <a:prstGeom prst="roundRect">
            <a:avLst/>
          </a:prstGeom>
          <a:solidFill>
            <a:srgbClr val="FFFF00">
              <a:alpha val="30000"/>
            </a:srgbClr>
          </a:solidFill>
          <a:ln w="635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标注: 上箭头 44">
            <a:extLst>
              <a:ext uri="{FF2B5EF4-FFF2-40B4-BE49-F238E27FC236}">
                <a16:creationId xmlns:a16="http://schemas.microsoft.com/office/drawing/2014/main" id="{796199F3-C26D-4D35-AB6C-84D3999737D5}"/>
              </a:ext>
            </a:extLst>
          </p:cNvPr>
          <p:cNvSpPr/>
          <p:nvPr/>
        </p:nvSpPr>
        <p:spPr bwMode="auto">
          <a:xfrm>
            <a:off x="3602344" y="5525115"/>
            <a:ext cx="1566364" cy="1192377"/>
          </a:xfrm>
          <a:prstGeom prst="upArrowCallout">
            <a:avLst/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准备好后别忘</a:t>
            </a:r>
            <a:r>
              <a:rPr kumimoji="1" lang="en-US" altLang="zh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</a:t>
            </a: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Line 9">
            <a:extLst>
              <a:ext uri="{FF2B5EF4-FFF2-40B4-BE49-F238E27FC236}">
                <a16:creationId xmlns:a16="http://schemas.microsoft.com/office/drawing/2014/main" id="{8BEFE83A-D4A7-417C-AE7C-BC996955F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74" y="1968401"/>
            <a:ext cx="0" cy="571500"/>
          </a:xfrm>
          <a:prstGeom prst="line">
            <a:avLst/>
          </a:prstGeom>
          <a:noFill/>
          <a:ln w="25400">
            <a:solidFill>
              <a:srgbClr val="0070C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Line 11">
            <a:extLst>
              <a:ext uri="{FF2B5EF4-FFF2-40B4-BE49-F238E27FC236}">
                <a16:creationId xmlns:a16="http://schemas.microsoft.com/office/drawing/2014/main" id="{D3593F84-C0CE-4977-BC60-FE551B98E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7644" y="2000548"/>
            <a:ext cx="0" cy="564356"/>
          </a:xfrm>
          <a:prstGeom prst="line">
            <a:avLst/>
          </a:prstGeom>
          <a:noFill/>
          <a:ln w="25400">
            <a:solidFill>
              <a:srgbClr val="0070C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Line 14">
            <a:extLst>
              <a:ext uri="{FF2B5EF4-FFF2-40B4-BE49-F238E27FC236}">
                <a16:creationId xmlns:a16="http://schemas.microsoft.com/office/drawing/2014/main" id="{742F467F-FF1A-4965-9A9F-DC4ED60F3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4208" y="2006205"/>
            <a:ext cx="951458" cy="7144"/>
          </a:xfrm>
          <a:prstGeom prst="line">
            <a:avLst/>
          </a:prstGeom>
          <a:noFill/>
          <a:ln w="25400">
            <a:solidFill>
              <a:srgbClr val="0070C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Rectangle 2">
            <a:extLst>
              <a:ext uri="{FF2B5EF4-FFF2-40B4-BE49-F238E27FC236}">
                <a16:creationId xmlns:a16="http://schemas.microsoft.com/office/drawing/2014/main" id="{99623811-FD7C-4F4C-9DAF-AF9DD53A8E03}"/>
              </a:ext>
            </a:extLst>
          </p:cNvPr>
          <p:cNvSpPr txBox="1">
            <a:spLocks noChangeArrowheads="1"/>
          </p:cNvSpPr>
          <p:nvPr/>
        </p:nvSpPr>
        <p:spPr>
          <a:xfrm>
            <a:off x="120650" y="228192"/>
            <a:ext cx="8686800" cy="64493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8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--</a:t>
            </a:r>
            <a:r>
              <a:rPr kumimoji="1" lang="zh-CN" altLang="en-US" sz="3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运放电源连接及串联</a:t>
            </a:r>
          </a:p>
        </p:txBody>
      </p:sp>
      <p:sp>
        <p:nvSpPr>
          <p:cNvPr id="50" name="Line 4">
            <a:extLst>
              <a:ext uri="{FF2B5EF4-FFF2-40B4-BE49-F238E27FC236}">
                <a16:creationId xmlns:a16="http://schemas.microsoft.com/office/drawing/2014/main" id="{27B7DA37-DEB1-4774-A9D5-1487E18681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TextBox 2">
            <a:extLst>
              <a:ext uri="{FF2B5EF4-FFF2-40B4-BE49-F238E27FC236}">
                <a16:creationId xmlns:a16="http://schemas.microsoft.com/office/drawing/2014/main" id="{2018024F-F734-4D8E-A4A4-57A6C543CD87}"/>
              </a:ext>
            </a:extLst>
          </p:cNvPr>
          <p:cNvSpPr txBox="1"/>
          <p:nvPr/>
        </p:nvSpPr>
        <p:spPr>
          <a:xfrm>
            <a:off x="6616542" y="3152528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主从独立模式必加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1B63D87B-94A5-4CCB-9B35-92FBAA76B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13" y="965878"/>
            <a:ext cx="3002104" cy="1017955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3BC18CD4-945B-446B-B600-740737836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950" y="1428696"/>
            <a:ext cx="3283898" cy="1033820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749CFC81-2E4E-4235-812D-1966386354CC}"/>
              </a:ext>
            </a:extLst>
          </p:cNvPr>
          <p:cNvSpPr txBox="1"/>
          <p:nvPr/>
        </p:nvSpPr>
        <p:spPr>
          <a:xfrm>
            <a:off x="989624" y="2085975"/>
            <a:ext cx="1241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Ser</a:t>
            </a:r>
            <a:r>
              <a:rPr lang="zh-CN" altLang="en-US" sz="2000"/>
              <a:t>串联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830AD85-FE1C-4DA3-A96E-030855012EFE}"/>
              </a:ext>
            </a:extLst>
          </p:cNvPr>
          <p:cNvSpPr/>
          <p:nvPr/>
        </p:nvSpPr>
        <p:spPr>
          <a:xfrm>
            <a:off x="982479" y="1007131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>
                <a:sym typeface="Wingdings" panose="05000000000000000000" pitchFamily="2" charset="2"/>
              </a:rPr>
              <a:t></a:t>
            </a:r>
            <a:r>
              <a:rPr lang="zh-CN" altLang="en-US" sz="2000">
                <a:sym typeface="Wingdings" panose="05000000000000000000" pitchFamily="2" charset="2"/>
              </a:rPr>
              <a:t>双电源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2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6" dur="2000" fill="hold"/>
                                        <p:tgtEl>
                                          <p:spTgt spid="307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 autoUpdateAnimBg="0"/>
      <p:bldP spid="42" grpId="1" animBg="1"/>
      <p:bldP spid="30722" grpId="0" animBg="1"/>
      <p:bldP spid="30722" grpId="1" animBg="1"/>
      <p:bldP spid="30756" grpId="0" animBg="1"/>
      <p:bldP spid="30759" grpId="0" animBg="1"/>
      <p:bldP spid="30759" grpId="1" animBg="1"/>
      <p:bldP spid="30760" grpId="0" animBg="1"/>
      <p:bldP spid="30760" grpId="1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/>
      <p:bldP spid="51" grpId="1"/>
      <p:bldP spid="51" grpId="2"/>
      <p:bldP spid="54" grpId="0"/>
      <p:bldP spid="54" grpId="1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6" name="Picture 4" descr="基础实验_仪器使用[20121012-1108530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9363" y="1347788"/>
            <a:ext cx="6430962" cy="526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GW电源-接线孔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3650" y="4873625"/>
            <a:ext cx="4229100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5476875" y="4867275"/>
            <a:ext cx="1047750" cy="676275"/>
          </a:xfrm>
          <a:prstGeom prst="ellips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218484" y="5661248"/>
            <a:ext cx="1758702" cy="892818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接线头裸露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15mm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正好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650" y="95250"/>
            <a:ext cx="8686800" cy="777875"/>
          </a:xfrm>
        </p:spPr>
        <p:txBody>
          <a:bodyPr/>
          <a:lstStyle/>
          <a:p>
            <a:pPr lvl="0" algn="l" eaLnBrk="1" hangingPunct="1">
              <a:spcBef>
                <a:spcPct val="50000"/>
              </a:spcBef>
            </a:pPr>
            <a:r>
              <a:rPr kumimoji="1" lang="zh-CN" altLang="en-US" sz="28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28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--</a:t>
            </a:r>
            <a:r>
              <a:rPr kumimoji="1" lang="zh-CN" altLang="en-US" sz="3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稳压源接线操作细节</a:t>
            </a: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333375" y="83671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/>
        </p:nvSpPr>
        <p:spPr>
          <a:xfrm>
            <a:off x="179512" y="1196752"/>
            <a:ext cx="2192213" cy="541836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4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接完必须用</a:t>
            </a:r>
            <a:r>
              <a:rPr lang="zh-CN" altLang="en-US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万用表</a:t>
            </a:r>
            <a:r>
              <a:rPr lang="en-US" altLang="zh-CN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--V</a:t>
            </a:r>
            <a:r>
              <a:rPr lang="en-US" altLang="zh-CN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DC</a:t>
            </a:r>
            <a:r>
              <a:rPr lang="zh-CN" altLang="en-US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档</a:t>
            </a:r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测两</a:t>
            </a:r>
            <a:r>
              <a:rPr lang="zh-CN" altLang="en-US" b="0">
                <a:latin typeface="华文楷体" panose="02010600040101010101" pitchFamily="2" charset="-122"/>
                <a:ea typeface="华文楷体" panose="02010600040101010101" pitchFamily="2" charset="-122"/>
              </a:rPr>
              <a:t>个工作电压：</a:t>
            </a:r>
            <a:endParaRPr lang="en-US" altLang="zh-CN" b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endParaRPr lang="en-US" altLang="zh-CN" sz="16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110000"/>
              </a:lnSpc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芯片正、负电源接入管脚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110000"/>
              </a:lnSpc>
              <a:buNone/>
            </a:pPr>
            <a:r>
              <a:rPr lang="en-US" altLang="zh-CN" sz="2400" b="0" dirty="0"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 eaLnBrk="1" hangingPunct="1">
              <a:lnSpc>
                <a:spcPct val="11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电源地线端</a:t>
            </a:r>
            <a:endParaRPr lang="en-US" altLang="zh-CN" sz="2400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052735"/>
            <a:ext cx="7848871" cy="5400601"/>
          </a:xfrm>
          <a:noFill/>
        </p:spPr>
        <p:txBody>
          <a:bodyPr lIns="0" rIns="0"/>
          <a:lstStyle/>
          <a:p>
            <a:pPr eaLnBrk="1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运放是</a:t>
            </a:r>
            <a:r>
              <a:rPr kumimoji="1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有源</a:t>
            </a:r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电路，工作电源即使不画，实验者也不能忽略，同样也</a:t>
            </a:r>
            <a:r>
              <a:rPr kumimoji="1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不能缺</a:t>
            </a:r>
            <a:r>
              <a:rPr kumimoji="1" lang="zh-CN" altLang="en-US">
                <a:latin typeface="Times New Roman" panose="02020603050405020304" pitchFamily="18" charset="0"/>
                <a:ea typeface="楷体" panose="02010609060101010101" pitchFamily="49" charset="-122"/>
              </a:rPr>
              <a:t>共地线！</a:t>
            </a:r>
            <a:endParaRPr kumimoji="1" lang="en-US" altLang="zh-CN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运放常用工作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电源是 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±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对称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双</a:t>
            </a: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电源；</a:t>
            </a:r>
            <a:endParaRPr kumimoji="1" lang="en-US" altLang="zh-CN" b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用直流电源（</a:t>
            </a:r>
            <a:r>
              <a:rPr kumimoji="1" lang="zh-CN" altLang="en-US" sz="2400" b="0">
                <a:latin typeface="Times New Roman" panose="02020603050405020304" pitchFamily="18" charset="0"/>
                <a:ea typeface="楷体" panose="02010609060101010101" pitchFamily="49" charset="-122"/>
              </a:rPr>
              <a:t>、直流源、稳压电源</a:t>
            </a: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）设备供给；</a:t>
            </a:r>
            <a:endParaRPr kumimoji="1" lang="en-US" altLang="zh-CN" b="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双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电压值不能太</a:t>
            </a: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大（必须小于</a:t>
            </a:r>
            <a:r>
              <a:rPr kumimoji="1" lang="zh-CN" altLang="en-US" b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安全值</a:t>
            </a:r>
            <a:r>
              <a:rPr kumimoji="1" lang="en-US" altLang="zh-CN" b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±</a:t>
            </a:r>
            <a:r>
              <a:rPr kumimoji="1"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18V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）；</a:t>
            </a:r>
            <a:endParaRPr kumimoji="1" lang="en-US" altLang="zh-CN" b="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也</a:t>
            </a:r>
            <a:r>
              <a:rPr kumimoji="1"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不能太小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（限制输出信号峰值</a:t>
            </a:r>
            <a:r>
              <a:rPr kumimoji="1" lang="en-US" altLang="zh-CN" b="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Vomax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，易出现</a:t>
            </a:r>
            <a:r>
              <a:rPr kumimoji="1"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截顶失真</a:t>
            </a: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）！</a:t>
            </a:r>
            <a:endParaRPr kumimoji="1" lang="en-US" altLang="zh-CN" b="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 dirty="0">
                <a:latin typeface="Times New Roman" panose="02020603050405020304" pitchFamily="18" charset="0"/>
                <a:ea typeface="楷体" panose="02010609060101010101" pitchFamily="49" charset="-122"/>
              </a:rPr>
              <a:t>典型值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±12V </a:t>
            </a:r>
            <a:r>
              <a:rPr kumimoji="1"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kumimoji="1"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±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15V</a:t>
            </a: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。</a:t>
            </a:r>
            <a:endParaRPr kumimoji="1" lang="en-US" altLang="zh-CN" b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正确值按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±(V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omax</a:t>
            </a:r>
            <a:r>
              <a:rPr kumimoji="1"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+1)</a:t>
            </a:r>
            <a:r>
              <a:rPr kumimoji="1" lang="zh-CN" altLang="en-US" b="0">
                <a:latin typeface="Times New Roman" panose="02020603050405020304" pitchFamily="18" charset="0"/>
                <a:ea typeface="楷体" panose="02010609060101010101" pitchFamily="49" charset="-122"/>
              </a:rPr>
              <a:t>算。</a:t>
            </a:r>
            <a:endParaRPr kumimoji="1" lang="en-US" altLang="zh-CN" b="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20650" y="95250"/>
            <a:ext cx="8686800" cy="777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sz="28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2800" b="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--</a:t>
            </a:r>
            <a:r>
              <a:rPr kumimoji="1" lang="zh-CN" altLang="en-US" sz="3200" b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运放直流</a:t>
            </a:r>
            <a:r>
              <a:rPr kumimoji="1" lang="zh-CN" altLang="en-US" sz="3200" b="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工作电源 </a:t>
            </a:r>
            <a:r>
              <a:rPr lang="zh-CN" altLang="en-US" sz="3200" b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电压值</a:t>
            </a:r>
            <a:endParaRPr lang="zh-CN" altLang="en-US" sz="2800" b="0" dirty="0">
              <a:solidFill>
                <a:schemeClr val="tx1"/>
              </a:solidFill>
              <a:effectLst/>
              <a:ea typeface="黑体" panose="02010609060101010101" pitchFamily="2" charset="-122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227013" y="857232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01C63-9B7A-4C62-8358-86482737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72" y="4509120"/>
            <a:ext cx="3060360" cy="20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349F87-932E-B34D-7CAD-8177431A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022" y="2603582"/>
            <a:ext cx="6448425" cy="4086225"/>
          </a:xfrm>
          <a:prstGeom prst="rect">
            <a:avLst/>
          </a:prstGeom>
        </p:spPr>
      </p:pic>
      <p:sp>
        <p:nvSpPr>
          <p:cNvPr id="93188" name="Text Box 4">
            <a:extLst>
              <a:ext uri="{FF2B5EF4-FFF2-40B4-BE49-F238E27FC236}">
                <a16:creationId xmlns:a16="http://schemas.microsoft.com/office/drawing/2014/main" id="{64CD80A4-A460-4608-93A0-D69D9A612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113" y="168843"/>
            <a:ext cx="4608512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组装好面包板上电路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外围设备仪器接入</a:t>
            </a: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测试平台</a:t>
            </a:r>
            <a:endParaRPr lang="en-US" altLang="zh-CN" sz="240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确保共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地！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然后进行电路调试观测</a:t>
            </a: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DE6E442B-EB22-449B-A58C-92215E40E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928670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7807FB0-8B51-48CE-A9ED-D6EC3A6B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85728"/>
            <a:ext cx="68408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33CC"/>
                </a:solidFill>
                <a:ea typeface="黑体" panose="02010609060101010101" pitchFamily="2" charset="-122"/>
              </a:rPr>
              <a:t>电路安装调试</a:t>
            </a:r>
            <a:endParaRPr lang="zh-CN" altLang="en-US" sz="2000" dirty="0">
              <a:ea typeface="楷体" panose="02010609060101010101" pitchFamily="49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99B333A-6920-12DA-3FE9-20DA02B643DD}"/>
              </a:ext>
            </a:extLst>
          </p:cNvPr>
          <p:cNvSpPr/>
          <p:nvPr/>
        </p:nvSpPr>
        <p:spPr bwMode="auto">
          <a:xfrm>
            <a:off x="5220072" y="4725144"/>
            <a:ext cx="1872208" cy="1554739"/>
          </a:xfrm>
          <a:prstGeom prst="ellipse">
            <a:avLst/>
          </a:prstGeom>
          <a:solidFill>
            <a:schemeClr val="bg2">
              <a:lumMod val="20000"/>
              <a:lumOff val="80000"/>
              <a:alpha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电路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2EB0A594-7E17-34CD-22ED-F6210BF0BB73}"/>
              </a:ext>
            </a:extLst>
          </p:cNvPr>
          <p:cNvSpPr/>
          <p:nvPr/>
        </p:nvSpPr>
        <p:spPr bwMode="auto">
          <a:xfrm>
            <a:off x="4149272" y="6224665"/>
            <a:ext cx="3797257" cy="228671"/>
          </a:xfrm>
          <a:prstGeom prst="rightArrow">
            <a:avLst/>
          </a:prstGeom>
          <a:solidFill>
            <a:schemeClr val="tx1"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17FE8C-821D-4E1F-8BA6-1A575DD6A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74026" y="685264"/>
            <a:ext cx="2298795" cy="356774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C344A2E-723F-41B5-90BD-94C8BDB3E107}"/>
              </a:ext>
            </a:extLst>
          </p:cNvPr>
          <p:cNvSpPr txBox="1"/>
          <p:nvPr/>
        </p:nvSpPr>
        <p:spPr>
          <a:xfrm>
            <a:off x="1619672" y="2910648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注意仪器接入，勿勾夹电路本体，通过另外线引入，</a:t>
            </a:r>
            <a:r>
              <a:rPr lang="zh-CN" altLang="en-US" sz="18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线长保证不遮挡电路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1746110-F80D-48A6-B11B-2201D3F94FE8}"/>
              </a:ext>
            </a:extLst>
          </p:cNvPr>
          <p:cNvCxnSpPr/>
          <p:nvPr/>
        </p:nvCxnSpPr>
        <p:spPr bwMode="auto">
          <a:xfrm>
            <a:off x="6156176" y="6307591"/>
            <a:ext cx="288032" cy="0"/>
          </a:xfrm>
          <a:prstGeom prst="line">
            <a:avLst/>
          </a:prstGeom>
          <a:solidFill>
            <a:srgbClr val="CCFF99"/>
          </a:solidFill>
          <a:ln w="88900" cap="flat" cmpd="sng" algn="ctr">
            <a:solidFill>
              <a:schemeClr val="tx1">
                <a:alpha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Rectangle 37">
            <a:extLst>
              <a:ext uri="{FF2B5EF4-FFF2-40B4-BE49-F238E27FC236}">
                <a16:creationId xmlns:a16="http://schemas.microsoft.com/office/drawing/2014/main" id="{C0947855-9DC9-4F62-832D-0D4BADDB1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92" y="4125960"/>
            <a:ext cx="2037059" cy="2616101"/>
          </a:xfrm>
          <a:prstGeom prst="rect">
            <a:avLst/>
          </a:prstGeom>
          <a:solidFill>
            <a:schemeClr val="accent5">
              <a:lumMod val="90000"/>
            </a:schemeClr>
          </a:solidFill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</a:rPr>
              <a:t>共</a:t>
            </a: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地</a:t>
            </a:r>
            <a:r>
              <a:rPr lang="zh-CN" altLang="en-US">
                <a:solidFill>
                  <a:srgbClr val="000000"/>
                </a:solidFill>
              </a:rPr>
              <a:t>：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地、</a:t>
            </a: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地、</a:t>
            </a: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地、</a:t>
            </a: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地</a:t>
            </a:r>
            <a:r>
              <a:rPr lang="zh-CN" altLang="en-US" sz="20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（黑夹子、黑表笔）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连接到一起</a:t>
            </a:r>
            <a:r>
              <a:rPr lang="en-US" altLang="zh-CN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>
                <a:solidFill>
                  <a:srgbClr val="2722FA"/>
                </a:solidFill>
              </a:rPr>
              <a:t>统一的 </a:t>
            </a:r>
            <a:r>
              <a:rPr lang="zh-CN" altLang="zh-CN" b="1" dirty="0">
                <a:solidFill>
                  <a:srgbClr val="2722FA"/>
                </a:solidFill>
              </a:rPr>
              <a:t>0</a:t>
            </a:r>
            <a:r>
              <a:rPr lang="zh-CN" altLang="en-US" b="1" dirty="0">
                <a:solidFill>
                  <a:srgbClr val="2722FA"/>
                </a:solidFill>
              </a:rPr>
              <a:t>电位</a:t>
            </a:r>
            <a:r>
              <a:rPr lang="zh-CN" altLang="en-US" b="1">
                <a:solidFill>
                  <a:srgbClr val="2722FA"/>
                </a:solidFill>
              </a:rPr>
              <a:t>参考平面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EC59BDF-0D4A-4333-8038-E7D935168703}"/>
              </a:ext>
            </a:extLst>
          </p:cNvPr>
          <p:cNvCxnSpPr/>
          <p:nvPr/>
        </p:nvCxnSpPr>
        <p:spPr bwMode="auto">
          <a:xfrm>
            <a:off x="4202113" y="5661248"/>
            <a:ext cx="0" cy="618635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86FDB57-43C4-4761-B3BD-0434B070BE4E}"/>
              </a:ext>
            </a:extLst>
          </p:cNvPr>
          <p:cNvCxnSpPr>
            <a:cxnSpLocks/>
          </p:cNvCxnSpPr>
          <p:nvPr/>
        </p:nvCxnSpPr>
        <p:spPr bwMode="auto">
          <a:xfrm>
            <a:off x="4499992" y="3140968"/>
            <a:ext cx="0" cy="3168352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533DEF1-EB4F-461D-9870-C2BB162A900F}"/>
              </a:ext>
            </a:extLst>
          </p:cNvPr>
          <p:cNvCxnSpPr>
            <a:cxnSpLocks/>
          </p:cNvCxnSpPr>
          <p:nvPr/>
        </p:nvCxnSpPr>
        <p:spPr bwMode="auto">
          <a:xfrm>
            <a:off x="6012160" y="5733256"/>
            <a:ext cx="0" cy="546627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9704D04-0381-4AF8-BA61-1C621D9A7D02}"/>
              </a:ext>
            </a:extLst>
          </p:cNvPr>
          <p:cNvCxnSpPr/>
          <p:nvPr/>
        </p:nvCxnSpPr>
        <p:spPr bwMode="auto">
          <a:xfrm>
            <a:off x="7461556" y="5670484"/>
            <a:ext cx="0" cy="618635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586EE1F-D081-40E6-B753-80338382738D}"/>
              </a:ext>
            </a:extLst>
          </p:cNvPr>
          <p:cNvCxnSpPr/>
          <p:nvPr/>
        </p:nvCxnSpPr>
        <p:spPr bwMode="auto">
          <a:xfrm>
            <a:off x="7758824" y="5687076"/>
            <a:ext cx="0" cy="618635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6365CFC-F12C-4F55-B7EE-C3329E60413E}"/>
              </a:ext>
            </a:extLst>
          </p:cNvPr>
          <p:cNvCxnSpPr>
            <a:cxnSpLocks/>
          </p:cNvCxnSpPr>
          <p:nvPr/>
        </p:nvCxnSpPr>
        <p:spPr bwMode="auto">
          <a:xfrm>
            <a:off x="6300192" y="5733256"/>
            <a:ext cx="0" cy="546627"/>
          </a:xfrm>
          <a:prstGeom prst="straightConnector1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2" grpId="1" animBg="1"/>
      <p:bldP spid="12" grpId="2" animBg="1"/>
      <p:bldP spid="13" grpId="0"/>
      <p:bldP spid="1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>
            <a:extLst>
              <a:ext uri="{FF2B5EF4-FFF2-40B4-BE49-F238E27FC236}">
                <a16:creationId xmlns:a16="http://schemas.microsoft.com/office/drawing/2014/main" id="{D0066F75-F5E8-4DB3-A5F5-16BE1F343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785794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881315-A010-464B-AACE-4266B3282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650" y="95250"/>
            <a:ext cx="8686800" cy="777875"/>
          </a:xfrm>
        </p:spPr>
        <p:txBody>
          <a:bodyPr/>
          <a:lstStyle/>
          <a:p>
            <a:pPr lvl="0" algn="l" eaLnBrk="1" hangingPunct="1">
              <a:spcBef>
                <a:spcPct val="50000"/>
              </a:spcBef>
            </a:pPr>
            <a:r>
              <a:rPr kumimoji="1" lang="zh-CN" altLang="en-US" sz="3200" kern="12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—</a:t>
            </a:r>
            <a:r>
              <a:rPr kumimoji="1" lang="zh-CN" altLang="en-US" sz="3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教材内容</a:t>
            </a:r>
            <a:r>
              <a:rPr kumimoji="1" lang="en-US" altLang="zh-CN" sz="3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1</a:t>
            </a:r>
            <a:endParaRPr kumimoji="1" lang="zh-CN" altLang="en-US" sz="3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ADC2B52-7D0E-436D-9633-BAD5E09D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17" y="805653"/>
            <a:ext cx="4104456" cy="2712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0">
                <a:solidFill>
                  <a:srgbClr val="0000FF"/>
                </a:solidFill>
                <a:ea typeface="楷体" panose="02010609060101010101" pitchFamily="49" charset="-122"/>
              </a:rPr>
              <a:t>相关理论课概念</a:t>
            </a:r>
            <a:r>
              <a:rPr lang="en-US" altLang="zh-CN" b="0">
                <a:solidFill>
                  <a:srgbClr val="0000FF"/>
                </a:solidFill>
                <a:ea typeface="楷体" panose="02010609060101010101" pitchFamily="49" charset="-122"/>
              </a:rPr>
              <a:t>—</a:t>
            </a:r>
            <a:r>
              <a:rPr lang="zh-CN" altLang="en-US" b="0">
                <a:solidFill>
                  <a:srgbClr val="0000FF"/>
                </a:solidFill>
                <a:ea typeface="楷体" panose="02010609060101010101" pitchFamily="49" charset="-122"/>
              </a:rPr>
              <a:t>自复习：</a:t>
            </a:r>
            <a:endParaRPr lang="en-US" altLang="zh-CN" b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lang="zh-CN" altLang="en-US">
                <a:ea typeface="楷体" panose="02010609060101010101" pitchFamily="49" charset="-122"/>
              </a:rPr>
              <a:t>空载，带载，信源内阻，</a:t>
            </a:r>
            <a:endParaRPr lang="en-US" altLang="zh-CN"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lang="zh-CN" altLang="en-US">
                <a:ea typeface="楷体" panose="02010609060101010101" pitchFamily="49" charset="-122"/>
              </a:rPr>
              <a:t>放大器 输入</a:t>
            </a:r>
            <a:r>
              <a:rPr lang="en-US" altLang="zh-CN">
                <a:ea typeface="楷体" panose="02010609060101010101" pitchFamily="49" charset="-122"/>
              </a:rPr>
              <a:t>/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ea typeface="楷体" panose="02010609060101010101" pitchFamily="49" charset="-122"/>
              </a:rPr>
              <a:t>输出</a:t>
            </a:r>
            <a:r>
              <a:rPr lang="zh-CN" altLang="en-US">
                <a:ea typeface="楷体" panose="02010609060101010101" pitchFamily="49" charset="-122"/>
              </a:rPr>
              <a:t> 电阻，</a:t>
            </a:r>
            <a:endParaRPr lang="en-US" altLang="zh-CN"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lang="zh-CN" altLang="en-US">
                <a:ea typeface="楷体" panose="02010609060101010101" pitchFamily="49" charset="-122"/>
              </a:rPr>
              <a:t>运放 同相</a:t>
            </a:r>
            <a:r>
              <a:rPr lang="en-US" altLang="zh-CN">
                <a:ea typeface="楷体" panose="02010609060101010101" pitchFamily="49" charset="-122"/>
              </a:rPr>
              <a:t>/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ea typeface="楷体" panose="02010609060101010101" pitchFamily="49" charset="-122"/>
              </a:rPr>
              <a:t>反相</a:t>
            </a:r>
            <a:r>
              <a:rPr lang="zh-CN" altLang="en-US">
                <a:ea typeface="楷体" panose="02010609060101010101" pitchFamily="49" charset="-122"/>
              </a:rPr>
              <a:t> 放大电路，</a:t>
            </a:r>
            <a:endParaRPr lang="en-US" altLang="zh-CN"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lang="zh-CN" altLang="en-US">
                <a:ea typeface="楷体" panose="02010609060101010101" pitchFamily="49" charset="-122"/>
              </a:rPr>
              <a:t>运放 加</a:t>
            </a:r>
            <a:r>
              <a:rPr lang="en-US" altLang="zh-CN">
                <a:ea typeface="楷体" panose="02010609060101010101" pitchFamily="49" charset="-122"/>
              </a:rPr>
              <a:t>/</a:t>
            </a:r>
            <a:r>
              <a:rPr lang="zh-CN" altLang="en-US">
                <a:ea typeface="楷体" panose="02010609060101010101" pitchFamily="49" charset="-122"/>
              </a:rPr>
              <a:t>减</a:t>
            </a:r>
            <a:r>
              <a:rPr lang="en-US" altLang="zh-CN">
                <a:ea typeface="楷体" panose="02010609060101010101" pitchFamily="49" charset="-122"/>
              </a:rPr>
              <a:t>/</a:t>
            </a:r>
            <a:r>
              <a:rPr lang="zh-CN" altLang="en-US">
                <a:ea typeface="楷体" panose="02010609060101010101" pitchFamily="49" charset="-122"/>
              </a:rPr>
              <a:t>积分</a:t>
            </a:r>
            <a:r>
              <a:rPr lang="en-US" altLang="zh-CN">
                <a:ea typeface="楷体" panose="02010609060101010101" pitchFamily="49" charset="-122"/>
              </a:rPr>
              <a:t>/</a:t>
            </a:r>
            <a:r>
              <a:rPr lang="zh-CN" altLang="en-US">
                <a:ea typeface="楷体" panose="02010609060101010101" pitchFamily="49" charset="-122"/>
              </a:rPr>
              <a:t>微分电路，</a:t>
            </a:r>
            <a:endParaRPr lang="en-US" altLang="zh-CN"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</a:pPr>
            <a:r>
              <a:rPr lang="en-US" altLang="zh-CN">
                <a:ea typeface="楷体" panose="02010609060101010101" pitchFamily="49" charset="-122"/>
              </a:rPr>
              <a:t>……</a:t>
            </a:r>
            <a:endParaRPr lang="zh-CN" altLang="en-US" dirty="0">
              <a:ea typeface="楷体" panose="02010609060101010101" pitchFamily="49" charset="-122"/>
            </a:endParaRP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BE54BFFC-D397-4763-BCEC-E6020A35C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208821"/>
              </p:ext>
            </p:extLst>
          </p:nvPr>
        </p:nvGraphicFramePr>
        <p:xfrm>
          <a:off x="163640" y="973590"/>
          <a:ext cx="4319587" cy="245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BMP 图像" r:id="rId3" imgW="2076740" imgH="1066667" progId="Paint.Picture">
                  <p:embed/>
                </p:oleObj>
              </mc:Choice>
              <mc:Fallback>
                <p:oleObj name="BMP 图像" r:id="rId3" imgW="2076740" imgH="1066667" progId="Paint.Picture">
                  <p:embed/>
                  <p:pic>
                    <p:nvPicPr>
                      <p:cNvPr id="83976" name="Object 5">
                        <a:extLst>
                          <a:ext uri="{FF2B5EF4-FFF2-40B4-BE49-F238E27FC236}">
                            <a16:creationId xmlns:a16="http://schemas.microsoft.com/office/drawing/2014/main" id="{49A86C9A-5E5D-4C04-BE69-37A32FFA2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40" y="973590"/>
                        <a:ext cx="4319587" cy="2455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6">
            <a:extLst>
              <a:ext uri="{FF2B5EF4-FFF2-40B4-BE49-F238E27FC236}">
                <a16:creationId xmlns:a16="http://schemas.microsoft.com/office/drawing/2014/main" id="{4E8ACF9E-CF9E-48D1-A709-EB8F89940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3635629"/>
            <a:ext cx="56896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6">
            <a:extLst>
              <a:ext uri="{FF2B5EF4-FFF2-40B4-BE49-F238E27FC236}">
                <a16:creationId xmlns:a16="http://schemas.microsoft.com/office/drawing/2014/main" id="{54C3A465-BC7C-4E43-98CB-D8B24BBE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05" y="3165695"/>
            <a:ext cx="2577203" cy="36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        </a:t>
            </a:r>
            <a:r>
              <a:rPr lang="zh-CN" altLang="en-US" sz="1800"/>
              <a:t>直接连接</a:t>
            </a:r>
          </a:p>
        </p:txBody>
      </p:sp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691323B4-986F-42B1-9B4F-19D805BA81D5}"/>
              </a:ext>
            </a:extLst>
          </p:cNvPr>
          <p:cNvSpPr/>
          <p:nvPr/>
        </p:nvSpPr>
        <p:spPr bwMode="auto">
          <a:xfrm>
            <a:off x="6228184" y="5085184"/>
            <a:ext cx="2579266" cy="1224136"/>
          </a:xfrm>
          <a:prstGeom prst="wedgeEllipseCallout">
            <a:avLst>
              <a:gd name="adj1" fmla="val -83058"/>
              <a:gd name="adj2" fmla="val 10367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8000" tIns="18000" rIns="18000" bIns="1800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输入信号进</a:t>
            </a:r>
            <a:r>
              <a:rPr kumimoji="1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CH2</a:t>
            </a:r>
            <a:r>
              <a:rPr kumimoji="1" lang="zh-CN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，想稳定观察要调整</a:t>
            </a:r>
            <a:r>
              <a:rPr kumimoji="1" lang="zh-CN" altLang="en-US" sz="2000" b="1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触发</a:t>
            </a:r>
          </a:p>
        </p:txBody>
      </p:sp>
      <p:sp>
        <p:nvSpPr>
          <p:cNvPr id="3" name="对话气泡: 椭圆形 2">
            <a:extLst>
              <a:ext uri="{FF2B5EF4-FFF2-40B4-BE49-F238E27FC236}">
                <a16:creationId xmlns:a16="http://schemas.microsoft.com/office/drawing/2014/main" id="{CC3779F0-AFC7-4838-8FA5-226E2075D0E5}"/>
              </a:ext>
            </a:extLst>
          </p:cNvPr>
          <p:cNvSpPr/>
          <p:nvPr/>
        </p:nvSpPr>
        <p:spPr bwMode="auto">
          <a:xfrm>
            <a:off x="3779912" y="3546117"/>
            <a:ext cx="2448272" cy="480597"/>
          </a:xfrm>
          <a:prstGeom prst="wedgeEllipseCallout">
            <a:avLst>
              <a:gd name="adj1" fmla="val -78415"/>
              <a:gd name="adj2" fmla="val 30733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用上</a:t>
            </a: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双电源</a:t>
            </a: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3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568825" y="978024"/>
          <a:ext cx="4273550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Picture" r:id="rId4" imgW="2336800" imgH="1437640" progId="Word.Picture.8">
                  <p:embed/>
                </p:oleObj>
              </mc:Choice>
              <mc:Fallback>
                <p:oleObj name="Picture" r:id="rId4" imgW="2336800" imgH="1437640" progId="Word.Picture.8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978024"/>
                        <a:ext cx="4273550" cy="262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179389" y="139700"/>
            <a:ext cx="574993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ea typeface="楷体" panose="02010609060101010101" pitchFamily="49" charset="-122"/>
              </a:rPr>
              <a:t>自学提醒点</a:t>
            </a:r>
            <a:endParaRPr lang="en-US" altLang="zh-CN" dirty="0">
              <a:ea typeface="楷体" panose="02010609060101010101" pitchFamily="49" charset="-122"/>
            </a:endParaRPr>
          </a:p>
        </p:txBody>
      </p:sp>
      <p:graphicFrame>
        <p:nvGraphicFramePr>
          <p:cNvPr id="1027" name="Object 8"/>
          <p:cNvGraphicFramePr>
            <a:graphicFrameLocks noChangeAspect="1"/>
          </p:cNvGraphicFramePr>
          <p:nvPr/>
        </p:nvGraphicFramePr>
        <p:xfrm>
          <a:off x="2483768" y="1467817"/>
          <a:ext cx="129063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6" imgW="558800" imgH="381000" progId="">
                  <p:embed/>
                </p:oleObj>
              </mc:Choice>
              <mc:Fallback>
                <p:oleObj name="Equation" r:id="rId6" imgW="558800" imgH="381000" progId="">
                  <p:embed/>
                  <p:pic>
                    <p:nvPicPr>
                      <p:cNvPr id="102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467817"/>
                        <a:ext cx="1290637" cy="8810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417984" y="4279845"/>
            <a:ext cx="8301682" cy="1776577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     </a:t>
            </a:r>
            <a:r>
              <a:rPr lang="zh-CN" altLang="en-US" b="0" dirty="0">
                <a:cs typeface="Times New Roman" panose="02020603050405020304" pitchFamily="18" charset="0"/>
              </a:rPr>
              <a:t>实验课程限定 此电路中最大的 </a:t>
            </a:r>
            <a:r>
              <a:rPr lang="en-US" altLang="zh-CN" sz="2800" i="1" dirty="0">
                <a:solidFill>
                  <a:srgbClr val="0000FF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sz="1600" i="1" dirty="0">
                <a:solidFill>
                  <a:srgbClr val="0000FF"/>
                </a:solidFill>
                <a:cs typeface="Times New Roman" panose="02020603050405020304" pitchFamily="18" charset="0"/>
              </a:rPr>
              <a:t>f  </a:t>
            </a:r>
            <a:r>
              <a:rPr lang="en-US" altLang="zh-CN" sz="2800" dirty="0">
                <a:cs typeface="Times New Roman" panose="02020603050405020304" pitchFamily="18" charset="0"/>
              </a:rPr>
              <a:t>≈ </a:t>
            </a:r>
            <a:r>
              <a:rPr lang="en-US" altLang="zh-CN" dirty="0"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cs typeface="Times New Roman" panose="02020603050405020304" pitchFamily="18" charset="0"/>
              </a:rPr>
              <a:t>i</a:t>
            </a:r>
            <a:r>
              <a:rPr lang="en-US" altLang="zh-CN" dirty="0"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cs typeface="Times New Roman" panose="02020603050405020304" pitchFamily="18" charset="0"/>
              </a:rPr>
              <a:t>v </a:t>
            </a:r>
            <a:r>
              <a:rPr lang="zh-CN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不大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1M</a:t>
            </a:r>
            <a:r>
              <a:rPr lang="en-US" altLang="zh-CN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  <a:sym typeface="Symbol" panose="05050102010706020507"/>
              </a:rPr>
              <a:t></a:t>
            </a:r>
            <a:r>
              <a:rPr lang="zh-CN" altLang="en-US" dirty="0">
                <a:latin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cs typeface="Times New Roman" panose="02020603050405020304" pitchFamily="18" charset="0"/>
              </a:rPr>
              <a:t>A</a:t>
            </a:r>
            <a:r>
              <a:rPr lang="en-US" altLang="zh-CN" sz="2000" i="1" dirty="0">
                <a:cs typeface="Times New Roman" panose="02020603050405020304" pitchFamily="18" charset="0"/>
              </a:rPr>
              <a:t>v</a:t>
            </a:r>
            <a:r>
              <a:rPr lang="zh-CN" altLang="en-US" dirty="0"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cs typeface="Times New Roman" panose="02020603050405020304" pitchFamily="18" charset="0"/>
              </a:rPr>
              <a:t>R</a:t>
            </a:r>
            <a:r>
              <a:rPr lang="en-US" altLang="zh-CN" sz="2000" dirty="0" err="1">
                <a:cs typeface="Times New Roman" panose="02020603050405020304" pitchFamily="18" charset="0"/>
              </a:rPr>
              <a:t>i</a:t>
            </a:r>
            <a:r>
              <a:rPr lang="zh-CN" altLang="en-US" dirty="0">
                <a:cs typeface="Times New Roman" panose="02020603050405020304" pitchFamily="18" charset="0"/>
              </a:rPr>
              <a:t>同时要求比较大时，不能强行加大</a:t>
            </a:r>
            <a:r>
              <a:rPr lang="en-US" altLang="zh-CN" i="1" dirty="0">
                <a:cs typeface="Times New Roman" panose="02020603050405020304" pitchFamily="18" charset="0"/>
              </a:rPr>
              <a:t>R</a:t>
            </a:r>
            <a:r>
              <a:rPr lang="en-US" altLang="zh-CN" sz="1400" i="1" dirty="0">
                <a:cs typeface="Times New Roman" panose="02020603050405020304" pitchFamily="18" charset="0"/>
              </a:rPr>
              <a:t>f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rgbClr val="C00000"/>
                </a:solidFill>
                <a:cs typeface="Times New Roman" panose="02020603050405020304" pitchFamily="18" charset="0"/>
              </a:rPr>
              <a:t>而应该改电路形式</a:t>
            </a:r>
            <a:r>
              <a:rPr lang="en-US" altLang="zh-CN">
                <a:cs typeface="Times New Roman" panose="02020603050405020304" pitchFamily="18" charset="0"/>
              </a:rPr>
              <a:t>—</a:t>
            </a:r>
            <a:r>
              <a:rPr lang="zh-CN" altLang="en-US" b="0">
                <a:cs typeface="Times New Roman" panose="02020603050405020304" pitchFamily="18" charset="0"/>
              </a:rPr>
              <a:t> </a:t>
            </a:r>
            <a:r>
              <a:rPr lang="zh-CN" altLang="en-US" b="0" dirty="0">
                <a:cs typeface="Times New Roman" panose="02020603050405020304" pitchFamily="18" charset="0"/>
              </a:rPr>
              <a:t>怎么改</a:t>
            </a:r>
            <a:r>
              <a:rPr lang="zh-CN" altLang="en-US" b="0">
                <a:cs typeface="Times New Roman" panose="02020603050405020304" pitchFamily="18" charset="0"/>
              </a:rPr>
              <a:t>？自行综合运用</a:t>
            </a:r>
            <a:r>
              <a:rPr lang="zh-CN" altLang="en-US" b="0" dirty="0">
                <a:cs typeface="Times New Roman" panose="02020603050405020304" pitchFamily="18" charset="0"/>
              </a:rPr>
              <a:t>理论课堂知识</a:t>
            </a:r>
            <a:r>
              <a:rPr lang="en-US" altLang="zh-CN" b="0" dirty="0">
                <a:cs typeface="Times New Roman" panose="02020603050405020304" pitchFamily="18" charset="0"/>
              </a:rPr>
              <a:t>……</a:t>
            </a:r>
            <a:endParaRPr lang="zh-CN" altLang="en-US" b="0" dirty="0">
              <a:cs typeface="Times New Roman" panose="02020603050405020304" pitchFamily="18" charset="0"/>
            </a:endParaRPr>
          </a:p>
        </p:txBody>
      </p:sp>
      <p:sp>
        <p:nvSpPr>
          <p:cNvPr id="90124" name="Rectangle 12"/>
          <p:cNvSpPr>
            <a:spLocks noChangeArrowheads="1"/>
          </p:cNvSpPr>
          <p:nvPr/>
        </p:nvSpPr>
        <p:spPr bwMode="auto">
          <a:xfrm>
            <a:off x="308545" y="2490616"/>
            <a:ext cx="433546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输出电阻 </a:t>
            </a:r>
            <a:r>
              <a:rPr lang="en-US" altLang="zh-CN" i="1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R</a:t>
            </a:r>
            <a:r>
              <a:rPr lang="en-US" altLang="zh-CN" sz="2000" i="1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o 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≈0   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越小越好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 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ea typeface="楷体" panose="02010609060101010101" pitchFamily="49" charset="-122"/>
            </a:endParaRP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ea typeface="楷体" panose="02010609060101010101" pitchFamily="49" charset="-122"/>
              </a:rPr>
              <a:t>输入电阻 </a:t>
            </a:r>
            <a:r>
              <a:rPr lang="en-US" altLang="zh-CN" i="1" dirty="0">
                <a:ea typeface="楷体" panose="02010609060101010101" pitchFamily="49" charset="-122"/>
              </a:rPr>
              <a:t>R</a:t>
            </a:r>
            <a:r>
              <a:rPr lang="en-US" altLang="zh-CN" sz="1600" i="1" dirty="0">
                <a:ea typeface="楷体" panose="02010609060101010101" pitchFamily="49" charset="-122"/>
              </a:rPr>
              <a:t>i </a:t>
            </a:r>
            <a:r>
              <a:rPr lang="en-US" altLang="zh-CN" dirty="0">
                <a:ea typeface="楷体" panose="02010609060101010101" pitchFamily="49" charset="-122"/>
              </a:rPr>
              <a:t>≈</a:t>
            </a:r>
            <a:r>
              <a:rPr lang="en-US" altLang="zh-CN" i="1" dirty="0">
                <a:ea typeface="楷体" panose="02010609060101010101" pitchFamily="49" charset="-122"/>
              </a:rPr>
              <a:t>R</a:t>
            </a:r>
            <a:r>
              <a:rPr lang="en-US" altLang="zh-CN" sz="1400" i="1" dirty="0">
                <a:ea typeface="楷体" panose="02010609060101010101" pitchFamily="49" charset="-122"/>
              </a:rPr>
              <a:t>1</a:t>
            </a: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1036" name="Rectangle 13"/>
          <p:cNvSpPr>
            <a:spLocks noChangeArrowheads="1"/>
          </p:cNvSpPr>
          <p:nvPr/>
        </p:nvSpPr>
        <p:spPr bwMode="auto">
          <a:xfrm>
            <a:off x="287338" y="1683717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楷体" panose="02010609060101010101" pitchFamily="49" charset="-122"/>
              </a:rPr>
              <a:t>闭环电压增益</a:t>
            </a:r>
          </a:p>
        </p:txBody>
      </p:sp>
      <p:sp>
        <p:nvSpPr>
          <p:cNvPr id="2" name="矩形 1"/>
          <p:cNvSpPr/>
          <p:nvPr/>
        </p:nvSpPr>
        <p:spPr>
          <a:xfrm>
            <a:off x="287338" y="889556"/>
            <a:ext cx="58562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ea typeface="楷体" panose="02010609060101010101" pitchFamily="49" charset="-122"/>
              </a:rPr>
              <a:t>反相</a:t>
            </a:r>
            <a:r>
              <a:rPr lang="zh-CN" altLang="en-US" sz="2800" dirty="0">
                <a:solidFill>
                  <a:srgbClr val="0000FF"/>
                </a:solidFill>
                <a:ea typeface="楷体" panose="02010609060101010101" pitchFamily="49" charset="-122"/>
              </a:rPr>
              <a:t>比例运算（反相比例放大）</a:t>
            </a:r>
            <a:endParaRPr lang="en-US" altLang="zh-CN" sz="2800" dirty="0">
              <a:solidFill>
                <a:srgbClr val="993300"/>
              </a:solidFill>
              <a:ea typeface="楷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43174" y="3039343"/>
            <a:ext cx="171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0000FF"/>
                </a:solidFill>
              </a:rPr>
              <a:t>越大越好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6228184" y="3316922"/>
            <a:ext cx="1728192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10000"/>
              </a:spcBef>
            </a:pPr>
            <a:r>
              <a:rPr lang="zh-CN" altLang="en-US" sz="2000" dirty="0">
                <a:ea typeface="楷体" panose="02010609060101010101" pitchFamily="49" charset="-122"/>
              </a:rPr>
              <a:t>直流平衡电阻</a:t>
            </a:r>
            <a:endParaRPr lang="zh-CN" altLang="en-US" sz="2000" b="0" dirty="0">
              <a:ea typeface="楷体" panose="02010609060101010101" pitchFamily="49" charset="-122"/>
            </a:endParaRPr>
          </a:p>
        </p:txBody>
      </p:sp>
      <p:sp>
        <p:nvSpPr>
          <p:cNvPr id="24" name="Line 4"/>
          <p:cNvSpPr>
            <a:spLocks noChangeShapeType="1"/>
          </p:cNvSpPr>
          <p:nvPr/>
        </p:nvSpPr>
        <p:spPr bwMode="auto">
          <a:xfrm>
            <a:off x="227013" y="714356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17984" y="3729557"/>
            <a:ext cx="5725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C00000"/>
                </a:solidFill>
              </a:rPr>
              <a:t>但实际电路</a:t>
            </a:r>
            <a:r>
              <a:rPr lang="zh-CN" altLang="en-US">
                <a:solidFill>
                  <a:srgbClr val="C00000"/>
                </a:solidFill>
              </a:rPr>
              <a:t>中，电阻受</a:t>
            </a:r>
            <a:r>
              <a:rPr lang="zh-CN" altLang="en-US" dirty="0">
                <a:solidFill>
                  <a:srgbClr val="C00000"/>
                </a:solidFill>
              </a:rPr>
              <a:t>限，不能随便大！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89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2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Line 5"/>
          <p:cNvSpPr>
            <a:spLocks noChangeShapeType="1"/>
          </p:cNvSpPr>
          <p:nvPr/>
        </p:nvSpPr>
        <p:spPr bwMode="auto">
          <a:xfrm>
            <a:off x="141288" y="836712"/>
            <a:ext cx="3529012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" name="Text Box 6"/>
          <p:cNvSpPr txBox="1">
            <a:spLocks noChangeArrowheads="1"/>
          </p:cNvSpPr>
          <p:nvPr/>
        </p:nvSpPr>
        <p:spPr bwMode="auto">
          <a:xfrm>
            <a:off x="141288" y="961564"/>
            <a:ext cx="41449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006600"/>
                </a:solidFill>
                <a:ea typeface="楷体" panose="02010609060101010101" pitchFamily="49" charset="-122"/>
              </a:rPr>
              <a:t>2</a:t>
            </a:r>
            <a:r>
              <a:rPr lang="zh-CN" altLang="en-US" sz="2800">
                <a:solidFill>
                  <a:srgbClr val="0066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 dirty="0">
                <a:solidFill>
                  <a:srgbClr val="006600"/>
                </a:solidFill>
                <a:ea typeface="楷体" panose="02010609060101010101" pitchFamily="49" charset="-122"/>
              </a:rPr>
              <a:t>反相</a:t>
            </a:r>
            <a:r>
              <a:rPr lang="zh-CN" altLang="en-US" sz="2800">
                <a:solidFill>
                  <a:srgbClr val="006600"/>
                </a:solidFill>
                <a:ea typeface="楷体" panose="02010609060101010101" pitchFamily="49" charset="-122"/>
              </a:rPr>
              <a:t>比例加法运算 </a:t>
            </a:r>
            <a:endParaRPr lang="zh-CN" altLang="en-US" sz="2800" dirty="0">
              <a:solidFill>
                <a:srgbClr val="006600"/>
              </a:solidFill>
              <a:ea typeface="楷体" panose="02010609060101010101" pitchFamily="49" charset="-122"/>
            </a:endParaRP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AB268A0-681E-40B6-915C-2E39639F6F2F}"/>
              </a:ext>
            </a:extLst>
          </p:cNvPr>
          <p:cNvSpPr txBox="1">
            <a:spLocks noChangeArrowheads="1"/>
          </p:cNvSpPr>
          <p:nvPr/>
        </p:nvSpPr>
        <p:spPr>
          <a:xfrm>
            <a:off x="120650" y="95250"/>
            <a:ext cx="8686800" cy="777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3200" kern="120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—</a:t>
            </a:r>
            <a:r>
              <a:rPr kumimoji="1" lang="zh-CN" altLang="en-US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教材内容</a:t>
            </a:r>
            <a:r>
              <a:rPr kumimoji="1" lang="en-US" altLang="zh-CN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2</a:t>
            </a:r>
            <a:endParaRPr kumimoji="1" lang="zh-CN" altLang="en-US" sz="3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5E701AA7-01BA-4B11-85A7-617970F24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41" y="1450729"/>
            <a:ext cx="3960813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58DB7D38-7810-4990-8D1D-6A1BD11CE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80" y="1606238"/>
            <a:ext cx="1706369" cy="22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77FD198-E6E5-4604-A89F-80796EE873D6}"/>
              </a:ext>
            </a:extLst>
          </p:cNvPr>
          <p:cNvSpPr/>
          <p:nvPr/>
        </p:nvSpPr>
        <p:spPr>
          <a:xfrm>
            <a:off x="1644092" y="3399838"/>
            <a:ext cx="18357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CC"/>
                </a:solidFill>
              </a:rPr>
              <a:t> </a:t>
            </a:r>
            <a:r>
              <a:rPr lang="en-US" altLang="zh-CN" u="sng">
                <a:solidFill>
                  <a:srgbClr val="0000CC"/>
                </a:solidFill>
              </a:rPr>
              <a:t>P76  </a:t>
            </a:r>
            <a:r>
              <a:rPr lang="zh-CN" altLang="en-US" u="sng">
                <a:solidFill>
                  <a:srgbClr val="0000CC"/>
                </a:solidFill>
              </a:rPr>
              <a:t>图</a:t>
            </a:r>
            <a:r>
              <a:rPr lang="en-US" altLang="zh-CN" u="sng">
                <a:solidFill>
                  <a:srgbClr val="0000CC"/>
                </a:solidFill>
              </a:rPr>
              <a:t>3.6.8</a:t>
            </a:r>
            <a:endParaRPr lang="en-US" altLang="zh-CN" sz="2000" u="sng">
              <a:solidFill>
                <a:srgbClr val="0000CC"/>
              </a:solidFill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5026C79B-1EDA-4F9F-AD1F-7EEDB04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4092335"/>
            <a:ext cx="7632377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取  </a:t>
            </a:r>
            <a:r>
              <a:rPr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baseline="-250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100 k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8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10k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0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＝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5.1k</a:t>
            </a:r>
          </a:p>
          <a:p>
            <a:pPr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输入频率为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1KHz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、峰峰值为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300mV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的正弦信号，完成表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3.6.2</a:t>
            </a:r>
            <a:endParaRPr lang="zh-CN" altLang="en-US" sz="2800" b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F85F855A-EEFC-46F9-8108-9A8539264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123" y="6038859"/>
            <a:ext cx="5245957" cy="493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b="0">
                <a:solidFill>
                  <a:srgbClr val="0000FF"/>
                </a:solidFill>
                <a:ea typeface="楷体" panose="02010609060101010101" pitchFamily="49" charset="-122"/>
              </a:rPr>
              <a:t>综合扩展问题：</a:t>
            </a:r>
            <a:r>
              <a:rPr lang="zh-CN" altLang="en-US">
                <a:ea typeface="楷体" panose="02010609060101010101" pitchFamily="49" charset="-122"/>
              </a:rPr>
              <a:t>反相比例减法电路</a:t>
            </a:r>
            <a:endParaRPr lang="zh-CN" altLang="en-US" b="0" dirty="0">
              <a:ea typeface="楷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37D83C-3B15-4174-928F-06DD4D3C64A9}"/>
              </a:ext>
            </a:extLst>
          </p:cNvPr>
          <p:cNvSpPr txBox="1"/>
          <p:nvPr/>
        </p:nvSpPr>
        <p:spPr>
          <a:xfrm>
            <a:off x="6137743" y="3013501"/>
            <a:ext cx="2337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FF3300"/>
                </a:solidFill>
              </a:rPr>
              <a:t>=</a:t>
            </a:r>
            <a:r>
              <a:rPr lang="zh-CN" altLang="en-US">
                <a:solidFill>
                  <a:srgbClr val="FF3300"/>
                </a:solidFill>
              </a:rPr>
              <a:t>？</a:t>
            </a:r>
            <a:r>
              <a:rPr lang="zh-CN" altLang="en-US">
                <a:solidFill>
                  <a:srgbClr val="0000FF"/>
                </a:solidFill>
              </a:rPr>
              <a:t>理论分析基本功不能丢</a:t>
            </a:r>
          </a:p>
        </p:txBody>
      </p:sp>
    </p:spTree>
    <p:extLst>
      <p:ext uri="{BB962C8B-B14F-4D97-AF65-F5344CB8AC3E}">
        <p14:creationId xmlns:p14="http://schemas.microsoft.com/office/powerpoint/2010/main" val="144530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/>
          <p:nvPr/>
        </p:nvGrpSpPr>
        <p:grpSpPr bwMode="auto">
          <a:xfrm>
            <a:off x="3874715" y="1052561"/>
            <a:ext cx="4932362" cy="3068638"/>
            <a:chOff x="2622" y="-199"/>
            <a:chExt cx="3107" cy="1933"/>
          </a:xfrm>
        </p:grpSpPr>
        <p:pic>
          <p:nvPicPr>
            <p:cNvPr id="2358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622" y="-199"/>
              <a:ext cx="3107" cy="193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  <p:sp>
          <p:nvSpPr>
            <p:cNvPr id="23588" name="Text Box 4"/>
            <p:cNvSpPr txBox="1">
              <a:spLocks noChangeArrowheads="1"/>
            </p:cNvSpPr>
            <p:nvPr/>
          </p:nvSpPr>
          <p:spPr bwMode="auto">
            <a:xfrm>
              <a:off x="2805" y="1457"/>
              <a:ext cx="279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0" lang="zh-CN" altLang="en-US" sz="2000"/>
                <a:t>合并的  反相比例加法和减法运算电路</a:t>
              </a:r>
            </a:p>
          </p:txBody>
        </p:sp>
      </p:grpSp>
      <p:sp>
        <p:nvSpPr>
          <p:cNvPr id="23555" name="Line 5"/>
          <p:cNvSpPr>
            <a:spLocks noChangeShapeType="1"/>
          </p:cNvSpPr>
          <p:nvPr/>
        </p:nvSpPr>
        <p:spPr bwMode="auto">
          <a:xfrm>
            <a:off x="141288" y="836712"/>
            <a:ext cx="3529012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" name="Text Box 6"/>
          <p:cNvSpPr txBox="1">
            <a:spLocks noChangeArrowheads="1"/>
          </p:cNvSpPr>
          <p:nvPr/>
        </p:nvSpPr>
        <p:spPr bwMode="auto">
          <a:xfrm>
            <a:off x="141288" y="961564"/>
            <a:ext cx="41449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6600"/>
                </a:solidFill>
                <a:ea typeface="楷体" panose="02010609060101010101" pitchFamily="49" charset="-122"/>
              </a:rPr>
              <a:t>反相比例加减法运算 </a:t>
            </a:r>
            <a:endParaRPr lang="zh-CN" altLang="en-US" sz="2800" dirty="0">
              <a:solidFill>
                <a:srgbClr val="006600"/>
              </a:solidFill>
              <a:ea typeface="楷体" panose="02010609060101010101" pitchFamily="49" charset="-122"/>
            </a:endParaRPr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179388" y="1605568"/>
            <a:ext cx="3556000" cy="31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S-A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相接</a:t>
            </a:r>
            <a:r>
              <a:rPr lang="zh-CN" altLang="en-US" sz="280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为加法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sz="2000" b="0">
                <a:solidFill>
                  <a:schemeClr val="bg1">
                    <a:lumMod val="50000"/>
                  </a:schemeClr>
                </a:solidFill>
                <a:sym typeface="Symbol" panose="05050102010706020507"/>
              </a:rPr>
              <a:t></a:t>
            </a:r>
            <a:r>
              <a:rPr lang="en-US" altLang="zh-CN" sz="28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=</a:t>
            </a:r>
            <a:r>
              <a:rPr lang="zh-CN" altLang="en-US" sz="28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直流平衡电阻</a:t>
            </a:r>
            <a:endParaRPr lang="en-US" altLang="zh-CN" sz="2800" b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= </a:t>
            </a:r>
            <a:r>
              <a:rPr lang="en-US" altLang="zh-CN" sz="28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sz="2000" b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f</a:t>
            </a:r>
            <a:r>
              <a:rPr lang="en-US" altLang="zh-CN" sz="2800" b="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∥</a:t>
            </a:r>
            <a:r>
              <a:rPr lang="en-US" altLang="zh-CN" sz="28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b="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∥</a:t>
            </a:r>
            <a:r>
              <a:rPr lang="en-US" altLang="zh-CN" sz="28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b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sz="28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altLang="zh-CN" sz="2800">
                <a:solidFill>
                  <a:srgbClr val="0000FF"/>
                </a:solidFill>
                <a:ea typeface="楷体" panose="02010609060101010101" pitchFamily="49" charset="-122"/>
              </a:rPr>
              <a:t>S-B</a:t>
            </a:r>
            <a:r>
              <a:rPr lang="zh-CN" altLang="en-US" sz="2800" dirty="0">
                <a:ea typeface="楷体" panose="02010609060101010101" pitchFamily="49" charset="-122"/>
              </a:rPr>
              <a:t>相接</a:t>
            </a:r>
            <a:r>
              <a:rPr lang="zh-CN" altLang="en-US" sz="2800">
                <a:ea typeface="楷体" panose="02010609060101010101" pitchFamily="49" charset="-122"/>
              </a:rPr>
              <a:t>为</a:t>
            </a:r>
            <a:r>
              <a:rPr lang="zh-CN" altLang="en-US" sz="2800">
                <a:solidFill>
                  <a:srgbClr val="0000FF"/>
                </a:solidFill>
                <a:ea typeface="楷体" panose="02010609060101010101" pitchFamily="49" charset="-122"/>
              </a:rPr>
              <a:t>减</a:t>
            </a:r>
            <a:r>
              <a:rPr lang="zh-CN" altLang="en-US" sz="2800">
                <a:ea typeface="楷体" panose="02010609060101010101" pitchFamily="49" charset="-122"/>
              </a:rPr>
              <a:t>法</a:t>
            </a:r>
            <a:endParaRPr lang="zh-CN" altLang="en-US" sz="2800" dirty="0">
              <a:ea typeface="楷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  </a:t>
            </a:r>
            <a:r>
              <a:rPr lang="en-US" altLang="zh-CN" sz="2800">
                <a:solidFill>
                  <a:srgbClr val="FF3300"/>
                </a:solidFill>
                <a:latin typeface="Arial" panose="020B0604020202020204" pitchFamily="34" charset="0"/>
              </a:rPr>
              <a:t>R</a:t>
            </a:r>
            <a:r>
              <a:rPr lang="en-US" sz="2000">
                <a:solidFill>
                  <a:srgbClr val="FF3300"/>
                </a:solidFill>
                <a:sym typeface="Symbol" panose="05050102010706020507"/>
              </a:rPr>
              <a:t></a:t>
            </a:r>
            <a:r>
              <a:rPr lang="en-US" altLang="zh-CN" sz="2800">
                <a:solidFill>
                  <a:srgbClr val="FF3300"/>
                </a:solidFill>
                <a:ea typeface="楷体" panose="02010609060101010101" pitchFamily="49" charset="-122"/>
              </a:rPr>
              <a:t>=</a:t>
            </a:r>
            <a:r>
              <a:rPr lang="en-US" altLang="zh-CN" sz="2800">
                <a:solidFill>
                  <a:srgbClr val="FF33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>
                <a:latin typeface="Arial" panose="020B0604020202020204" pitchFamily="34" charset="0"/>
              </a:rPr>
              <a:t>（按指标算）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61" name="Oval 32"/>
          <p:cNvSpPr>
            <a:spLocks noChangeArrowheads="1"/>
          </p:cNvSpPr>
          <p:nvPr/>
        </p:nvSpPr>
        <p:spPr bwMode="auto">
          <a:xfrm>
            <a:off x="5410188" y="1844824"/>
            <a:ext cx="865188" cy="863600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3" name="Oval 34"/>
          <p:cNvSpPr>
            <a:spLocks noChangeArrowheads="1"/>
          </p:cNvSpPr>
          <p:nvPr/>
        </p:nvSpPr>
        <p:spPr bwMode="auto">
          <a:xfrm>
            <a:off x="6128964" y="2887860"/>
            <a:ext cx="504825" cy="433387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2888C5-5455-4806-B6F2-7800561F8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878" y="4651797"/>
            <a:ext cx="3382823" cy="213177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F122F86-9AA1-4BB6-BCB4-79E6A0069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73" y="4898536"/>
            <a:ext cx="4505325" cy="819150"/>
          </a:xfrm>
          <a:prstGeom prst="rect">
            <a:avLst/>
          </a:prstGeom>
        </p:spPr>
      </p:pic>
      <p:sp>
        <p:nvSpPr>
          <p:cNvPr id="18" name="Oval 32">
            <a:extLst>
              <a:ext uri="{FF2B5EF4-FFF2-40B4-BE49-F238E27FC236}">
                <a16:creationId xmlns:a16="http://schemas.microsoft.com/office/drawing/2014/main" id="{A5501443-0EE3-40E1-BDB8-BB05BE828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335" y="4736636"/>
            <a:ext cx="741513" cy="981049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017305B9-9301-42BF-9983-D9C9CB43A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139700"/>
            <a:ext cx="574993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ea typeface="楷体" panose="02010609060101010101" pitchFamily="49" charset="-122"/>
              </a:rPr>
              <a:t>自学提醒点</a:t>
            </a:r>
            <a:endParaRPr lang="en-US" altLang="zh-CN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9A948C8D-770C-43D1-8E4D-1D78A6339F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730673"/>
              </p:ext>
            </p:extLst>
          </p:nvPr>
        </p:nvGraphicFramePr>
        <p:xfrm>
          <a:off x="4250988" y="873125"/>
          <a:ext cx="4392613" cy="315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BMP 图像" r:id="rId4" imgW="3924848" imgH="2962689" progId="Paint.Picture">
                  <p:embed/>
                </p:oleObj>
              </mc:Choice>
              <mc:Fallback>
                <p:oleObj name="BMP 图像" r:id="rId4" imgW="3924848" imgH="2962689" progId="Paint.Picture">
                  <p:embed/>
                  <p:pic>
                    <p:nvPicPr>
                      <p:cNvPr id="87045" name="Object 4">
                        <a:extLst>
                          <a:ext uri="{FF2B5EF4-FFF2-40B4-BE49-F238E27FC236}">
                            <a16:creationId xmlns:a16="http://schemas.microsoft.com/office/drawing/2014/main" id="{B4499102-8A1C-474B-9E2A-AA0B7576C0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988" y="873125"/>
                        <a:ext cx="4392613" cy="315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205729" y="903484"/>
            <a:ext cx="4105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006600"/>
                </a:solidFill>
                <a:ea typeface="楷体" panose="02010609060101010101" pitchFamily="49" charset="-122"/>
              </a:rPr>
              <a:t>3</a:t>
            </a:r>
            <a:r>
              <a:rPr lang="zh-CN" altLang="en-US" sz="2800">
                <a:solidFill>
                  <a:srgbClr val="006600"/>
                </a:solidFill>
                <a:ea typeface="楷体" panose="02010609060101010101" pitchFamily="49" charset="-122"/>
              </a:rPr>
              <a:t>）</a:t>
            </a:r>
            <a:r>
              <a:rPr lang="zh-CN" altLang="en-US" sz="2800" dirty="0">
                <a:solidFill>
                  <a:srgbClr val="006600"/>
                </a:solidFill>
                <a:ea typeface="楷体" panose="02010609060101010101" pitchFamily="49" charset="-122"/>
              </a:rPr>
              <a:t>比例</a:t>
            </a:r>
            <a:r>
              <a:rPr lang="zh-CN" altLang="en-US" sz="2800">
                <a:solidFill>
                  <a:srgbClr val="006600"/>
                </a:solidFill>
                <a:ea typeface="楷体" panose="02010609060101010101" pitchFamily="49" charset="-122"/>
              </a:rPr>
              <a:t>积分运算电路 </a:t>
            </a:r>
            <a:endParaRPr lang="zh-CN" altLang="en-US" sz="2800" dirty="0">
              <a:solidFill>
                <a:srgbClr val="006600"/>
              </a:solidFill>
              <a:ea typeface="楷体" panose="02010609060101010101" pitchFamily="49" charset="-122"/>
            </a:endParaRPr>
          </a:p>
        </p:txBody>
      </p:sp>
      <p:sp>
        <p:nvSpPr>
          <p:cNvPr id="16" name="Line 4"/>
          <p:cNvSpPr>
            <a:spLocks noChangeShapeType="1"/>
          </p:cNvSpPr>
          <p:nvPr/>
        </p:nvSpPr>
        <p:spPr bwMode="auto">
          <a:xfrm>
            <a:off x="333375" y="785794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30"/>
          <p:cNvSpPr>
            <a:spLocks noChangeArrowheads="1"/>
          </p:cNvSpPr>
          <p:nvPr/>
        </p:nvSpPr>
        <p:spPr bwMode="auto">
          <a:xfrm>
            <a:off x="4250988" y="1874742"/>
            <a:ext cx="465028" cy="867891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F8CB7A68-52F9-42F7-90C1-C6E9A58CE7F7}"/>
              </a:ext>
            </a:extLst>
          </p:cNvPr>
          <p:cNvSpPr txBox="1">
            <a:spLocks noChangeArrowheads="1"/>
          </p:cNvSpPr>
          <p:nvPr/>
        </p:nvSpPr>
        <p:spPr>
          <a:xfrm>
            <a:off x="120650" y="95250"/>
            <a:ext cx="8686800" cy="77787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3200" kern="120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相关操作注意</a:t>
            </a:r>
            <a:r>
              <a:rPr kumimoji="1" lang="en-US" altLang="zh-CN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—</a:t>
            </a:r>
            <a:r>
              <a:rPr kumimoji="1" lang="zh-CN" altLang="en-US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教材内容</a:t>
            </a:r>
            <a:r>
              <a:rPr kumimoji="1" lang="en-US" altLang="zh-CN" sz="3200" kern="12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黑体" panose="02010609060101010101" pitchFamily="2" charset="-122"/>
                <a:cs typeface="+mn-cs"/>
              </a:rPr>
              <a:t>3</a:t>
            </a:r>
            <a:endParaRPr kumimoji="1" lang="zh-CN" altLang="en-US" sz="3200" b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3EE3AE-1E84-47E5-8DC5-B54BD8BBA570}"/>
              </a:ext>
            </a:extLst>
          </p:cNvPr>
          <p:cNvSpPr/>
          <p:nvPr/>
        </p:nvSpPr>
        <p:spPr>
          <a:xfrm>
            <a:off x="7012406" y="3686472"/>
            <a:ext cx="18533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CC"/>
                </a:solidFill>
              </a:rPr>
              <a:t>P69 </a:t>
            </a:r>
            <a:r>
              <a:rPr lang="zh-CN" altLang="en-US">
                <a:solidFill>
                  <a:srgbClr val="0000CC"/>
                </a:solidFill>
              </a:rPr>
              <a:t>图</a:t>
            </a:r>
            <a:r>
              <a:rPr lang="en-US" altLang="zh-CN">
                <a:solidFill>
                  <a:srgbClr val="0000CC"/>
                </a:solidFill>
              </a:rPr>
              <a:t>4.4.7b</a:t>
            </a:r>
            <a:endParaRPr lang="zh-CN" altLang="en-US"/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1226517A-B169-4416-A4DC-BACA0923E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23" y="4457956"/>
            <a:ext cx="8713787" cy="92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输入</a:t>
            </a:r>
            <a:r>
              <a:rPr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200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Hz，峰峰值</a:t>
            </a:r>
            <a:endParaRPr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rgbClr val="0000FF"/>
              </a:buClr>
              <a:buNone/>
            </a:pP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为1V的</a:t>
            </a:r>
            <a:r>
              <a:rPr lang="zh-CN" altLang="en-US" sz="2800" b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正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方波。</a:t>
            </a:r>
            <a:endParaRPr lang="zh-CN" altLang="en-US" sz="2800" b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8E3A11E5-3024-4B62-8D26-8A9B3E368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03" y="3194538"/>
            <a:ext cx="8964612" cy="920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＝10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k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0" baseline="-250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＝100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k,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rgbClr val="0000FF"/>
              </a:buClr>
              <a:buNone/>
            </a:pP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 0.22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u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0" baseline="-25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k </a:t>
            </a:r>
            <a:r>
              <a:rPr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F876906F-D30C-4F93-A07B-087694C94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29" y="5760642"/>
            <a:ext cx="565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800" b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如何从信号发生器得</a:t>
            </a:r>
            <a:r>
              <a:rPr lang="zh-CN" altLang="en-US" sz="2800" b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正方波 </a:t>
            </a:r>
            <a:r>
              <a:rPr lang="zh-CN" altLang="en-US" sz="2800" b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？</a:t>
            </a:r>
          </a:p>
        </p:txBody>
      </p:sp>
      <p:graphicFrame>
        <p:nvGraphicFramePr>
          <p:cNvPr id="26" name="Object 31">
            <a:extLst>
              <a:ext uri="{FF2B5EF4-FFF2-40B4-BE49-F238E27FC236}">
                <a16:creationId xmlns:a16="http://schemas.microsoft.com/office/drawing/2014/main" id="{1783BF63-E70F-433F-9A3D-21B5B884E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238262"/>
              </p:ext>
            </p:extLst>
          </p:nvPr>
        </p:nvGraphicFramePr>
        <p:xfrm>
          <a:off x="292403" y="1813705"/>
          <a:ext cx="387191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6" imgW="1904365" imgH="406400" progId="">
                  <p:embed/>
                </p:oleObj>
              </mc:Choice>
              <mc:Fallback>
                <p:oleObj name="Equation" r:id="rId6" imgW="1904365" imgH="406400" progId="">
                  <p:embed/>
                  <p:pic>
                    <p:nvPicPr>
                      <p:cNvPr id="5124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03" y="1813705"/>
                        <a:ext cx="3871912" cy="82708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0AF531-EF85-4551-919A-48D5B664E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05" y="1138833"/>
            <a:ext cx="7855815" cy="2722215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1299" y="246063"/>
            <a:ext cx="8817428" cy="620712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>
                <a:solidFill>
                  <a:srgbClr val="C00000"/>
                </a:solidFill>
              </a:rPr>
              <a:t>信源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方波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3" name="组合 55"/>
          <p:cNvGrpSpPr/>
          <p:nvPr/>
        </p:nvGrpSpPr>
        <p:grpSpPr bwMode="auto">
          <a:xfrm>
            <a:off x="2551976" y="5007499"/>
            <a:ext cx="3641606" cy="1458787"/>
            <a:chOff x="191657" y="-125287"/>
            <a:chExt cx="3604820" cy="1458787"/>
          </a:xfrm>
        </p:grpSpPr>
        <p:grpSp>
          <p:nvGrpSpPr>
            <p:cNvPr id="25" name="Group 26"/>
            <p:cNvGrpSpPr/>
            <p:nvPr/>
          </p:nvGrpSpPr>
          <p:grpSpPr bwMode="auto">
            <a:xfrm>
              <a:off x="372141" y="-125287"/>
              <a:ext cx="3180684" cy="1458787"/>
              <a:chOff x="-76" y="-115"/>
              <a:chExt cx="2896" cy="1339"/>
            </a:xfrm>
          </p:grpSpPr>
          <p:sp>
            <p:nvSpPr>
              <p:cNvPr id="35" name="Line 27"/>
              <p:cNvSpPr>
                <a:spLocks noChangeShapeType="1"/>
              </p:cNvSpPr>
              <p:nvPr/>
            </p:nvSpPr>
            <p:spPr bwMode="auto">
              <a:xfrm>
                <a:off x="225" y="960"/>
                <a:ext cx="2595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Line 28"/>
              <p:cNvSpPr>
                <a:spLocks noChangeShapeType="1"/>
              </p:cNvSpPr>
              <p:nvPr/>
            </p:nvSpPr>
            <p:spPr bwMode="auto">
              <a:xfrm>
                <a:off x="233" y="165"/>
                <a:ext cx="10" cy="105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Text Box 29"/>
              <p:cNvSpPr txBox="1">
                <a:spLocks noChangeArrowheads="1"/>
              </p:cNvSpPr>
              <p:nvPr/>
            </p:nvSpPr>
            <p:spPr bwMode="auto">
              <a:xfrm>
                <a:off x="-75" y="744"/>
                <a:ext cx="361" cy="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0v</a:t>
                </a:r>
                <a:endParaRPr kumimoji="0" lang="en-US" altLang="zh-CN" sz="32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Text Box 30"/>
              <p:cNvSpPr txBox="1">
                <a:spLocks noChangeArrowheads="1"/>
              </p:cNvSpPr>
              <p:nvPr/>
            </p:nvSpPr>
            <p:spPr bwMode="auto">
              <a:xfrm>
                <a:off x="2595" y="585"/>
                <a:ext cx="18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endParaRPr kumimoji="0" lang="en-US" altLang="zh-CN" sz="4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Text Box 31"/>
              <p:cNvSpPr txBox="1">
                <a:spLocks noChangeArrowheads="1"/>
              </p:cNvSpPr>
              <p:nvPr/>
            </p:nvSpPr>
            <p:spPr bwMode="auto">
              <a:xfrm>
                <a:off x="-76" y="-115"/>
                <a:ext cx="303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16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191657" y="293688"/>
              <a:ext cx="58621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1v</a:t>
              </a: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 flipV="1">
              <a:off x="737968" y="458864"/>
              <a:ext cx="795337" cy="0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46"/>
            <p:cNvSpPr txBox="1">
              <a:spLocks noChangeArrowheads="1"/>
            </p:cNvSpPr>
            <p:nvPr/>
          </p:nvSpPr>
          <p:spPr bwMode="auto">
            <a:xfrm>
              <a:off x="2624902" y="92542"/>
              <a:ext cx="1171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f=200Hz</a:t>
              </a:r>
            </a:p>
          </p:txBody>
        </p:sp>
        <p:sp>
          <p:nvSpPr>
            <p:cNvPr id="34" name="Text Box 48"/>
            <p:cNvSpPr txBox="1">
              <a:spLocks noChangeArrowheads="1"/>
            </p:cNvSpPr>
            <p:nvPr/>
          </p:nvSpPr>
          <p:spPr bwMode="auto">
            <a:xfrm>
              <a:off x="656592" y="50800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(v)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2990896" y="5573932"/>
            <a:ext cx="2334591" cy="595653"/>
            <a:chOff x="971600" y="5241600"/>
            <a:chExt cx="2334591" cy="595653"/>
          </a:xfrm>
        </p:grpSpPr>
        <p:cxnSp>
          <p:nvCxnSpPr>
            <p:cNvPr id="48" name="直接连接符 47"/>
            <p:cNvCxnSpPr/>
            <p:nvPr/>
          </p:nvCxnSpPr>
          <p:spPr>
            <a:xfrm>
              <a:off x="971600" y="5832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1555200" y="5241600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548000" y="5256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V="1">
              <a:off x="2142000" y="5241772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2131200" y="5837253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2714400" y="5241600"/>
              <a:ext cx="0" cy="59400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2707200" y="5256000"/>
              <a:ext cx="598991" cy="0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/>
          <p:cNvSpPr txBox="1"/>
          <p:nvPr/>
        </p:nvSpPr>
        <p:spPr>
          <a:xfrm>
            <a:off x="6377765" y="5255963"/>
            <a:ext cx="2362469" cy="1384995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0">
                <a:latin typeface="黑体" panose="02010609060101010101" pitchFamily="2" charset="-122"/>
                <a:ea typeface="黑体" panose="02010609060101010101" pitchFamily="2" charset="-122"/>
              </a:rPr>
              <a:t>200Hz,</a:t>
            </a:r>
            <a:r>
              <a:rPr lang="zh-CN" altLang="en-US" sz="2800" b="0">
                <a:latin typeface="黑体" panose="02010609060101010101" pitchFamily="2" charset="-122"/>
                <a:ea typeface="黑体" panose="02010609060101010101" pitchFamily="2" charset="-122"/>
              </a:rPr>
              <a:t>幅度即峰峰值</a:t>
            </a:r>
            <a:r>
              <a:rPr lang="en-US" altLang="zh-CN" sz="2800" b="0">
                <a:latin typeface="黑体" panose="02010609060101010101" pitchFamily="2" charset="-122"/>
                <a:ea typeface="黑体" panose="02010609060101010101" pitchFamily="2" charset="-122"/>
              </a:rPr>
              <a:t>1V</a:t>
            </a:r>
          </a:p>
          <a:p>
            <a:r>
              <a:rPr lang="zh-CN" altLang="en-US" sz="2800" b="1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正</a:t>
            </a:r>
            <a:r>
              <a:rPr lang="zh-CN" altLang="en-US" sz="2800"/>
              <a:t>方波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4158702" y="5592041"/>
            <a:ext cx="1425746" cy="1117944"/>
            <a:chOff x="6458622" y="5047361"/>
            <a:chExt cx="1425746" cy="1117944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6458622" y="5756010"/>
              <a:ext cx="489642" cy="409294"/>
            </a:xfrm>
            <a:prstGeom prst="line">
              <a:avLst/>
            </a:prstGeom>
            <a:ln w="889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flipV="1">
              <a:off x="6930895" y="5047361"/>
              <a:ext cx="953473" cy="1117944"/>
            </a:xfrm>
            <a:prstGeom prst="line">
              <a:avLst/>
            </a:prstGeom>
            <a:ln w="889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TextBox 1"/>
          <p:cNvSpPr txBox="1">
            <a:spLocks noChangeArrowheads="1"/>
          </p:cNvSpPr>
          <p:nvPr/>
        </p:nvSpPr>
        <p:spPr bwMode="auto">
          <a:xfrm>
            <a:off x="2700189" y="3640109"/>
            <a:ext cx="6042134" cy="14281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mpd="dbl">
            <a:solidFill>
              <a:srgbClr val="C00000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05000"/>
              </a:lnSpc>
              <a:defRPr/>
            </a:pPr>
            <a:r>
              <a:rPr lang="zh-CN" altLang="zh-CN" sz="2800" b="1" dirty="0">
                <a:solidFill>
                  <a:srgbClr val="000000"/>
                </a:solidFill>
                <a:ea typeface="华文楷体" panose="02010600040101010101" pitchFamily="2" charset="-122"/>
              </a:rPr>
              <a:t>调出来</a:t>
            </a:r>
            <a:r>
              <a:rPr lang="en-US" altLang="zh-CN" sz="2800" b="1" dirty="0">
                <a:solidFill>
                  <a:srgbClr val="000000"/>
                </a:solidFill>
              </a:rPr>
              <a:t>—</a:t>
            </a:r>
            <a:r>
              <a:rPr lang="zh-CN" altLang="zh-CN" sz="2800" dirty="0">
                <a:solidFill>
                  <a:srgbClr val="0000FF"/>
                </a:solidFill>
              </a:rPr>
              <a:t>信号</a:t>
            </a:r>
            <a:r>
              <a:rPr lang="zh-CN" altLang="en-US" sz="2800" dirty="0">
                <a:solidFill>
                  <a:srgbClr val="0000FF"/>
                </a:solidFill>
              </a:rPr>
              <a:t>发生器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High--Low</a:t>
            </a:r>
            <a:r>
              <a:rPr lang="zh-CN" altLang="zh-CN" sz="2800" b="1" dirty="0">
                <a:solidFill>
                  <a:srgbClr val="000000"/>
                </a:solidFill>
              </a:rPr>
              <a:t>；</a:t>
            </a:r>
            <a:endParaRPr lang="en-US" altLang="zh-CN" sz="2400" i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看出来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示波器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通道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→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电位指示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画出来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纵轴上标明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最大值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最小值</a:t>
            </a: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132090" y="279683"/>
            <a:ext cx="2362469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sz="2800"/>
              <a:t>是一套操作：</a:t>
            </a:r>
          </a:p>
        </p:txBody>
      </p:sp>
      <p:sp>
        <p:nvSpPr>
          <p:cNvPr id="30" name="Line 2"/>
          <p:cNvSpPr>
            <a:spLocks noChangeShapeType="1"/>
          </p:cNvSpPr>
          <p:nvPr/>
        </p:nvSpPr>
        <p:spPr bwMode="auto">
          <a:xfrm flipV="1">
            <a:off x="323850" y="1009650"/>
            <a:ext cx="7935913" cy="46038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FC727C8-008F-4602-9739-9B2F03E4863A}"/>
              </a:ext>
            </a:extLst>
          </p:cNvPr>
          <p:cNvSpPr/>
          <p:nvPr/>
        </p:nvSpPr>
        <p:spPr>
          <a:xfrm>
            <a:off x="971600" y="2417122"/>
            <a:ext cx="566103" cy="53700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 bwMode="auto">
          <a:xfrm flipV="1">
            <a:off x="1356719" y="2708920"/>
            <a:ext cx="3093272" cy="1"/>
          </a:xfrm>
          <a:prstGeom prst="line">
            <a:avLst/>
          </a:prstGeom>
          <a:solidFill>
            <a:srgbClr val="CCFF99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1" animBg="1"/>
      <p:bldP spid="137" grpId="0" uiExpand="1" build="allAtOnce" animBg="1"/>
      <p:bldP spid="29" grpId="0" animBg="1"/>
      <p:bldP spid="31" grpId="0" uiExpan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735806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400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比例积分器 </a:t>
            </a:r>
            <a:r>
              <a:rPr kumimoji="1" lang="zh-CN" altLang="en-US" sz="400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kumimoji="1" lang="zh-CN" altLang="en-US" sz="400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②</a:t>
            </a:r>
            <a:r>
              <a:rPr kumimoji="1" lang="zh-CN" altLang="en-US" sz="400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 </a:t>
            </a:r>
            <a:r>
              <a:rPr kumimoji="1" lang="zh-CN" altLang="en-US" sz="4000" b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输入</a:t>
            </a:r>
            <a:r>
              <a:rPr kumimoji="1" lang="en-US" altLang="zh-CN" sz="4000" b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&amp;</a:t>
            </a:r>
            <a:r>
              <a:rPr kumimoji="1" lang="zh-CN" altLang="en-US" sz="4000" b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输出信号</a:t>
            </a:r>
            <a:endParaRPr kumimoji="1" lang="zh-CN" altLang="en-US" sz="4200" b="0" dirty="0"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817698" y="1334391"/>
            <a:ext cx="4968561" cy="116955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800"/>
              <a:t>输入方波  </a:t>
            </a:r>
            <a:r>
              <a:rPr lang="en-US" altLang="zh-CN" sz="2800" i="1"/>
              <a:t>f</a:t>
            </a:r>
            <a:r>
              <a:rPr lang="en-US" altLang="zh-CN" sz="2800"/>
              <a:t>=200Hz</a:t>
            </a:r>
            <a:r>
              <a:rPr lang="zh-CN" altLang="en-US" sz="2800"/>
              <a:t>，</a:t>
            </a:r>
            <a:r>
              <a:rPr lang="en-US" altLang="zh-CN" sz="2800">
                <a:solidFill>
                  <a:srgbClr val="0070C0"/>
                </a:solidFill>
              </a:rPr>
              <a:t>1V</a:t>
            </a:r>
            <a:r>
              <a:rPr lang="en-US" altLang="zh-CN" sz="2000">
                <a:solidFill>
                  <a:srgbClr val="0070C0"/>
                </a:solidFill>
              </a:rPr>
              <a:t>pp</a:t>
            </a:r>
            <a:endParaRPr lang="en-US" altLang="zh-CN" sz="2800">
              <a:solidFill>
                <a:srgbClr val="0070C0"/>
              </a:solidFill>
            </a:endParaRP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800"/>
              <a:t>输入</a:t>
            </a:r>
            <a:r>
              <a:rPr lang="zh-CN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</a:t>
            </a:r>
            <a:r>
              <a:rPr lang="zh-CN" altLang="en-US" sz="2800"/>
              <a:t>方波  </a:t>
            </a:r>
            <a:r>
              <a:rPr lang="en-US" altLang="zh-CN" sz="2800" i="1"/>
              <a:t>f</a:t>
            </a:r>
            <a:r>
              <a:rPr lang="en-US" altLang="zh-CN" sz="2800"/>
              <a:t>=200Hz</a:t>
            </a:r>
            <a:r>
              <a:rPr lang="zh-CN" altLang="en-US" sz="2800"/>
              <a:t>，</a:t>
            </a:r>
            <a:r>
              <a:rPr lang="en-US" altLang="zh-CN" sz="2800">
                <a:solidFill>
                  <a:srgbClr val="0070C0"/>
                </a:solidFill>
              </a:rPr>
              <a:t>1V</a:t>
            </a:r>
            <a:r>
              <a:rPr lang="en-US" altLang="zh-CN" sz="2000">
                <a:solidFill>
                  <a:srgbClr val="0070C0"/>
                </a:solidFill>
              </a:rPr>
              <a:t>pp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743200" y="3246196"/>
            <a:ext cx="5221288" cy="3349625"/>
            <a:chOff x="3722291" y="3103711"/>
            <a:chExt cx="5221288" cy="3349625"/>
          </a:xfrm>
        </p:grpSpPr>
        <p:sp>
          <p:nvSpPr>
            <p:cNvPr id="22538" name="Rectangle 53"/>
            <p:cNvSpPr>
              <a:spLocks noChangeArrowheads="1"/>
            </p:cNvSpPr>
            <p:nvPr/>
          </p:nvSpPr>
          <p:spPr bwMode="auto">
            <a:xfrm>
              <a:off x="3992166" y="3103711"/>
              <a:ext cx="3048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r>
                <a:rPr kumimoji="0" lang="en-US" altLang="zh-CN" sz="1800">
                  <a:latin typeface="Verdana" panose="020B0604030504040204" pitchFamily="34" charset="0"/>
                </a:rPr>
                <a:t>Vi</a:t>
              </a:r>
            </a:p>
          </p:txBody>
        </p:sp>
        <p:grpSp>
          <p:nvGrpSpPr>
            <p:cNvPr id="22539" name="Group 69"/>
            <p:cNvGrpSpPr/>
            <p:nvPr/>
          </p:nvGrpSpPr>
          <p:grpSpPr bwMode="auto">
            <a:xfrm>
              <a:off x="3722291" y="3141811"/>
              <a:ext cx="5221288" cy="3311525"/>
              <a:chOff x="1882" y="1530"/>
              <a:chExt cx="3289" cy="2086"/>
            </a:xfrm>
          </p:grpSpPr>
          <p:sp>
            <p:nvSpPr>
              <p:cNvPr id="22540" name="Line 19"/>
              <p:cNvSpPr>
                <a:spLocks noChangeShapeType="1"/>
              </p:cNvSpPr>
              <p:nvPr/>
            </p:nvSpPr>
            <p:spPr bwMode="auto">
              <a:xfrm>
                <a:off x="2268" y="2706"/>
                <a:ext cx="0" cy="8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1" name="Line 21"/>
              <p:cNvSpPr>
                <a:spLocks noChangeShapeType="1"/>
              </p:cNvSpPr>
              <p:nvPr/>
            </p:nvSpPr>
            <p:spPr bwMode="auto">
              <a:xfrm>
                <a:off x="2282" y="1666"/>
                <a:ext cx="0" cy="7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2" name="Line 23"/>
              <p:cNvSpPr>
                <a:spLocks noChangeShapeType="1"/>
              </p:cNvSpPr>
              <p:nvPr/>
            </p:nvSpPr>
            <p:spPr bwMode="auto">
              <a:xfrm>
                <a:off x="2268" y="1797"/>
                <a:ext cx="29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3" name="Line 24"/>
              <p:cNvSpPr>
                <a:spLocks noChangeShapeType="1"/>
              </p:cNvSpPr>
              <p:nvPr/>
            </p:nvSpPr>
            <p:spPr bwMode="auto">
              <a:xfrm>
                <a:off x="2554" y="180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4" name="Line 25"/>
              <p:cNvSpPr>
                <a:spLocks noChangeShapeType="1"/>
              </p:cNvSpPr>
              <p:nvPr/>
            </p:nvSpPr>
            <p:spPr bwMode="auto">
              <a:xfrm>
                <a:off x="2826" y="180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5" name="Line 26"/>
              <p:cNvSpPr>
                <a:spLocks noChangeShapeType="1"/>
              </p:cNvSpPr>
              <p:nvPr/>
            </p:nvSpPr>
            <p:spPr bwMode="auto">
              <a:xfrm>
                <a:off x="2554" y="2301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6" name="Line 27"/>
              <p:cNvSpPr>
                <a:spLocks noChangeShapeType="1"/>
              </p:cNvSpPr>
              <p:nvPr/>
            </p:nvSpPr>
            <p:spPr bwMode="auto">
              <a:xfrm>
                <a:off x="2827" y="1802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7" name="Line 28"/>
              <p:cNvSpPr>
                <a:spLocks noChangeShapeType="1"/>
              </p:cNvSpPr>
              <p:nvPr/>
            </p:nvSpPr>
            <p:spPr bwMode="auto">
              <a:xfrm>
                <a:off x="3099" y="180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8" name="Line 29"/>
              <p:cNvSpPr>
                <a:spLocks noChangeShapeType="1"/>
              </p:cNvSpPr>
              <p:nvPr/>
            </p:nvSpPr>
            <p:spPr bwMode="auto">
              <a:xfrm>
                <a:off x="3371" y="180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9" name="Line 30"/>
              <p:cNvSpPr>
                <a:spLocks noChangeShapeType="1"/>
              </p:cNvSpPr>
              <p:nvPr/>
            </p:nvSpPr>
            <p:spPr bwMode="auto">
              <a:xfrm>
                <a:off x="3099" y="2301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0" name="Line 31"/>
              <p:cNvSpPr>
                <a:spLocks noChangeShapeType="1"/>
              </p:cNvSpPr>
              <p:nvPr/>
            </p:nvSpPr>
            <p:spPr bwMode="auto">
              <a:xfrm>
                <a:off x="3371" y="1802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1" name="Line 32"/>
              <p:cNvSpPr>
                <a:spLocks noChangeShapeType="1"/>
              </p:cNvSpPr>
              <p:nvPr/>
            </p:nvSpPr>
            <p:spPr bwMode="auto">
              <a:xfrm>
                <a:off x="3643" y="1802"/>
                <a:ext cx="0" cy="49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2" name="Line 33"/>
              <p:cNvSpPr>
                <a:spLocks noChangeShapeType="1"/>
              </p:cNvSpPr>
              <p:nvPr/>
            </p:nvSpPr>
            <p:spPr bwMode="auto">
              <a:xfrm>
                <a:off x="3636" y="2296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3" name="Line 34"/>
              <p:cNvSpPr>
                <a:spLocks noChangeShapeType="1"/>
              </p:cNvSpPr>
              <p:nvPr/>
            </p:nvSpPr>
            <p:spPr bwMode="auto">
              <a:xfrm flipH="1">
                <a:off x="2191" y="2301"/>
                <a:ext cx="36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4" name="AutoShape 35"/>
              <p:cNvSpPr>
                <a:spLocks noChangeArrowheads="1"/>
              </p:cNvSpPr>
              <p:nvPr/>
            </p:nvSpPr>
            <p:spPr bwMode="auto">
              <a:xfrm>
                <a:off x="4116" y="1530"/>
                <a:ext cx="1055" cy="648"/>
              </a:xfrm>
              <a:prstGeom prst="wedgeRoundRectCallout">
                <a:avLst>
                  <a:gd name="adj1" fmla="val -84407"/>
                  <a:gd name="adj2" fmla="val 42130"/>
                  <a:gd name="adj3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r>
                  <a:rPr kumimoji="0" lang="zh-CN" altLang="en-US" sz="2800">
                    <a:solidFill>
                      <a:srgbClr val="FF3300"/>
                    </a:solidFill>
                    <a:latin typeface="Verdana" panose="020B0604030504040204" pitchFamily="34" charset="0"/>
                  </a:rPr>
                  <a:t>正电压</a:t>
                </a:r>
                <a:r>
                  <a:rPr kumimoji="0" lang="zh-CN" altLang="en-US" sz="2800">
                    <a:latin typeface="Verdana" panose="020B0604030504040204" pitchFamily="34" charset="0"/>
                  </a:rPr>
                  <a:t>方波</a:t>
                </a:r>
              </a:p>
            </p:txBody>
          </p:sp>
          <p:sp>
            <p:nvSpPr>
              <p:cNvPr id="22555" name="Line 36"/>
              <p:cNvSpPr>
                <a:spLocks noChangeShapeType="1"/>
              </p:cNvSpPr>
              <p:nvPr/>
            </p:nvSpPr>
            <p:spPr bwMode="auto">
              <a:xfrm>
                <a:off x="2554" y="2392"/>
                <a:ext cx="0" cy="1224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6" name="Line 37"/>
              <p:cNvSpPr>
                <a:spLocks noChangeShapeType="1"/>
              </p:cNvSpPr>
              <p:nvPr/>
            </p:nvSpPr>
            <p:spPr bwMode="auto">
              <a:xfrm>
                <a:off x="2835" y="2370"/>
                <a:ext cx="0" cy="1224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7" name="Line 38"/>
              <p:cNvSpPr>
                <a:spLocks noChangeShapeType="1"/>
              </p:cNvSpPr>
              <p:nvPr/>
            </p:nvSpPr>
            <p:spPr bwMode="auto">
              <a:xfrm>
                <a:off x="2281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8" name="Line 39"/>
              <p:cNvSpPr>
                <a:spLocks noChangeShapeType="1"/>
              </p:cNvSpPr>
              <p:nvPr/>
            </p:nvSpPr>
            <p:spPr bwMode="auto">
              <a:xfrm flipH="1">
                <a:off x="2562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9" name="Line 40"/>
              <p:cNvSpPr>
                <a:spLocks noChangeShapeType="1"/>
              </p:cNvSpPr>
              <p:nvPr/>
            </p:nvSpPr>
            <p:spPr bwMode="auto">
              <a:xfrm>
                <a:off x="2835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0" name="Line 41"/>
              <p:cNvSpPr>
                <a:spLocks noChangeShapeType="1"/>
              </p:cNvSpPr>
              <p:nvPr/>
            </p:nvSpPr>
            <p:spPr bwMode="auto">
              <a:xfrm flipH="1">
                <a:off x="3107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1" name="Line 42"/>
              <p:cNvSpPr>
                <a:spLocks noChangeShapeType="1"/>
              </p:cNvSpPr>
              <p:nvPr/>
            </p:nvSpPr>
            <p:spPr bwMode="auto">
              <a:xfrm>
                <a:off x="3378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2" name="Line 43"/>
              <p:cNvSpPr>
                <a:spLocks noChangeShapeType="1"/>
              </p:cNvSpPr>
              <p:nvPr/>
            </p:nvSpPr>
            <p:spPr bwMode="auto">
              <a:xfrm flipH="1">
                <a:off x="3651" y="3180"/>
                <a:ext cx="273" cy="36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3" name="Line 44"/>
              <p:cNvSpPr>
                <a:spLocks noChangeShapeType="1"/>
              </p:cNvSpPr>
              <p:nvPr/>
            </p:nvSpPr>
            <p:spPr bwMode="auto">
              <a:xfrm>
                <a:off x="2245" y="3044"/>
                <a:ext cx="1905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prstDash val="sysDot"/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4" name="Text Box 46"/>
              <p:cNvSpPr txBox="1">
                <a:spLocks noChangeArrowheads="1"/>
              </p:cNvSpPr>
              <p:nvPr/>
            </p:nvSpPr>
            <p:spPr bwMode="auto">
              <a:xfrm>
                <a:off x="1973" y="1706"/>
                <a:ext cx="36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0" lang="en-US" altLang="zh-CN" sz="1800" dirty="0">
                    <a:latin typeface="Verdana" panose="020B0604030504040204" pitchFamily="34" charset="0"/>
                  </a:rPr>
                  <a:t>1V</a:t>
                </a:r>
              </a:p>
            </p:txBody>
          </p:sp>
          <p:sp>
            <p:nvSpPr>
              <p:cNvPr id="22565" name="Line 47"/>
              <p:cNvSpPr>
                <a:spLocks noChangeShapeType="1"/>
              </p:cNvSpPr>
              <p:nvPr/>
            </p:nvSpPr>
            <p:spPr bwMode="auto">
              <a:xfrm>
                <a:off x="2086" y="3044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6" name="Text Box 48"/>
              <p:cNvSpPr txBox="1">
                <a:spLocks noChangeArrowheads="1"/>
              </p:cNvSpPr>
              <p:nvPr/>
            </p:nvSpPr>
            <p:spPr bwMode="auto">
              <a:xfrm>
                <a:off x="1882" y="2160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0" lang="en-US" altLang="zh-CN" sz="1800"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22567" name="Text Box 49"/>
              <p:cNvSpPr txBox="1">
                <a:spLocks noChangeArrowheads="1"/>
              </p:cNvSpPr>
              <p:nvPr/>
            </p:nvSpPr>
            <p:spPr bwMode="auto">
              <a:xfrm>
                <a:off x="1905" y="2908"/>
                <a:ext cx="2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0" lang="en-US" altLang="zh-CN" sz="1800"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22568" name="Line 50"/>
              <p:cNvSpPr>
                <a:spLocks noChangeShapeType="1"/>
              </p:cNvSpPr>
              <p:nvPr/>
            </p:nvSpPr>
            <p:spPr bwMode="auto">
              <a:xfrm>
                <a:off x="2041" y="2296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1" name="Rectangle 54"/>
              <p:cNvSpPr>
                <a:spLocks noChangeArrowheads="1"/>
              </p:cNvSpPr>
              <p:nvPr/>
            </p:nvSpPr>
            <p:spPr bwMode="auto">
              <a:xfrm>
                <a:off x="2052" y="2514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kumimoji="0" lang="en-US" altLang="zh-CN" sz="1800">
                    <a:latin typeface="Verdana" panose="020B0604030504040204" pitchFamily="34" charset="0"/>
                  </a:rPr>
                  <a:t>Vo</a:t>
                </a:r>
              </a:p>
            </p:txBody>
          </p:sp>
          <p:sp>
            <p:nvSpPr>
              <p:cNvPr id="22572" name="AutoShape 55"/>
              <p:cNvSpPr>
                <a:spLocks noChangeArrowheads="1"/>
              </p:cNvSpPr>
              <p:nvPr/>
            </p:nvSpPr>
            <p:spPr bwMode="auto">
              <a:xfrm>
                <a:off x="4173" y="2522"/>
                <a:ext cx="960" cy="613"/>
              </a:xfrm>
              <a:prstGeom prst="wedgeRoundRectCallout">
                <a:avLst>
                  <a:gd name="adj1" fmla="val -72708"/>
                  <a:gd name="adj2" fmla="val 65333"/>
                  <a:gd name="adj3" fmla="val 16667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r>
                  <a:rPr kumimoji="0" lang="zh-CN" altLang="en-US" sz="2800">
                    <a:solidFill>
                      <a:srgbClr val="FF3300"/>
                    </a:solidFill>
                    <a:latin typeface="Verdana" panose="020B0604030504040204" pitchFamily="34" charset="0"/>
                  </a:rPr>
                  <a:t>负电压</a:t>
                </a:r>
                <a:r>
                  <a:rPr kumimoji="0" lang="zh-CN" altLang="en-US" sz="2800">
                    <a:latin typeface="Verdana" panose="020B0604030504040204" pitchFamily="34" charset="0"/>
                  </a:rPr>
                  <a:t>三角波</a:t>
                </a:r>
              </a:p>
            </p:txBody>
          </p:sp>
        </p:grpSp>
      </p:grpSp>
      <p:sp>
        <p:nvSpPr>
          <p:cNvPr id="22537" name="Line 2"/>
          <p:cNvSpPr>
            <a:spLocks noChangeShapeType="1"/>
          </p:cNvSpPr>
          <p:nvPr/>
        </p:nvSpPr>
        <p:spPr bwMode="auto">
          <a:xfrm flipV="1">
            <a:off x="323850" y="1009650"/>
            <a:ext cx="7935913" cy="46038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94172" y="2521035"/>
            <a:ext cx="2699778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本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次</a:t>
            </a:r>
            <a:r>
              <a:rPr lang="zh-CN" altLang="en-US" sz="280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现场检查</a:t>
            </a: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②</a:t>
            </a:r>
            <a:endParaRPr lang="zh-CN" altLang="en-US" sz="28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2508" y="1378290"/>
          <a:ext cx="3435609" cy="320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r:id="rId3" imgW="1353185" imgH="1418590" progId="Word.Picture.8">
                  <p:embed/>
                </p:oleObj>
              </mc:Choice>
              <mc:Fallback>
                <p:oleObj r:id="rId3" imgW="1353185" imgH="1418590" progId="Word.Picture.8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08" y="1378290"/>
                        <a:ext cx="3435609" cy="3202918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38100">
                        <a:solidFill>
                          <a:srgbClr val="00B05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5"/>
          <p:cNvSpPr/>
          <p:nvPr/>
        </p:nvSpPr>
        <p:spPr bwMode="auto">
          <a:xfrm>
            <a:off x="3779713" y="4284421"/>
            <a:ext cx="454025" cy="3683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" name="椭圆 47"/>
          <p:cNvSpPr/>
          <p:nvPr/>
        </p:nvSpPr>
        <p:spPr bwMode="auto">
          <a:xfrm>
            <a:off x="3800821" y="5507441"/>
            <a:ext cx="454025" cy="3683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不等号 1"/>
          <p:cNvSpPr/>
          <p:nvPr/>
        </p:nvSpPr>
        <p:spPr bwMode="auto">
          <a:xfrm rot="1956949">
            <a:off x="2214297" y="2918562"/>
            <a:ext cx="2127688" cy="1245369"/>
          </a:xfrm>
          <a:prstGeom prst="mathNotEqual">
            <a:avLst>
              <a:gd name="adj1" fmla="val 12002"/>
              <a:gd name="adj2" fmla="val 6600000"/>
              <a:gd name="adj3" fmla="val 1176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椭圆 44"/>
          <p:cNvSpPr/>
          <p:nvPr/>
        </p:nvSpPr>
        <p:spPr bwMode="auto">
          <a:xfrm>
            <a:off x="511764" y="2110309"/>
            <a:ext cx="454025" cy="3683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" name="椭圆 45"/>
          <p:cNvSpPr/>
          <p:nvPr/>
        </p:nvSpPr>
        <p:spPr bwMode="auto">
          <a:xfrm>
            <a:off x="521004" y="3630208"/>
            <a:ext cx="454025" cy="3683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28526" y="1301584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>
                <a:solidFill>
                  <a:srgbClr val="0000FF"/>
                </a:solidFill>
                <a:latin typeface="宋体" panose="02010600030101010101" pitchFamily="2" charset="-122"/>
              </a:rPr>
              <a:t>①</a:t>
            </a:r>
            <a:endParaRPr lang="zh-CN" altLang="en-US" sz="4000"/>
          </a:p>
        </p:txBody>
      </p:sp>
      <p:sp>
        <p:nvSpPr>
          <p:cNvPr id="49" name="矩形 48"/>
          <p:cNvSpPr/>
          <p:nvPr/>
        </p:nvSpPr>
        <p:spPr>
          <a:xfrm>
            <a:off x="6260245" y="4788856"/>
            <a:ext cx="69923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>
                <a:solidFill>
                  <a:srgbClr val="0000FF"/>
                </a:solidFill>
                <a:latin typeface="宋体" panose="02010600030101010101" pitchFamily="2" charset="-122"/>
              </a:rPr>
              <a:t>②</a:t>
            </a:r>
            <a:endParaRPr lang="zh-CN" altLang="en-US" sz="4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3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4978099" y="442009"/>
          <a:ext cx="3492823" cy="208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图片" r:id="rId4" imgW="1579880" imgH="802005" progId="Word.Picture.8">
                  <p:embed/>
                </p:oleObj>
              </mc:Choice>
              <mc:Fallback>
                <p:oleObj name="图片" r:id="rId4" imgW="1579880" imgH="802005" progId="Word.Picture.8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099" y="442009"/>
                        <a:ext cx="3492823" cy="2082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1" name="Text Box 29"/>
          <p:cNvSpPr txBox="1">
            <a:spLocks noChangeArrowheads="1"/>
          </p:cNvSpPr>
          <p:nvPr/>
        </p:nvSpPr>
        <p:spPr bwMode="auto">
          <a:xfrm>
            <a:off x="448712" y="2924944"/>
            <a:ext cx="3690000" cy="17600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t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zh-CN" altLang="en-US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直流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电压（信号）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只在开始短时间有积分效果；后面达到稳态，输出恒定在</a:t>
            </a:r>
            <a:r>
              <a:rPr lang="en-US" altLang="zh-CN" dirty="0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000" dirty="0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omax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1287" y="817548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FF"/>
                </a:solidFill>
                <a:ea typeface="楷体" panose="02010609060101010101" pitchFamily="49" charset="-122"/>
              </a:rPr>
              <a:t>积分器</a:t>
            </a:r>
            <a:endParaRPr lang="zh-CN" altLang="en-US" sz="2800"/>
          </a:p>
        </p:txBody>
      </p:sp>
      <p:graphicFrame>
        <p:nvGraphicFramePr>
          <p:cNvPr id="20560" name="Object 80"/>
          <p:cNvGraphicFramePr>
            <a:graphicFrameLocks noChangeAspect="1"/>
          </p:cNvGraphicFramePr>
          <p:nvPr/>
        </p:nvGraphicFramePr>
        <p:xfrm>
          <a:off x="4799141" y="2552400"/>
          <a:ext cx="2978848" cy="3166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Picture" r:id="rId6" imgW="1352550" imgH="1381125" progId="Word.Picture.8">
                  <p:embed/>
                </p:oleObj>
              </mc:Choice>
              <mc:Fallback>
                <p:oleObj name="Picture" r:id="rId6" imgW="1352550" imgH="1381125" progId="Word.Picture.8">
                  <p:embed/>
                  <p:pic>
                    <p:nvPicPr>
                      <p:cNvPr id="2056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141" y="2552400"/>
                        <a:ext cx="2978848" cy="31667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/>
          <p:cNvCxnSpPr>
            <a:cxnSpLocks/>
          </p:cNvCxnSpPr>
          <p:nvPr/>
        </p:nvCxnSpPr>
        <p:spPr bwMode="auto">
          <a:xfrm>
            <a:off x="6518873" y="5367694"/>
            <a:ext cx="1851311" cy="0"/>
          </a:xfrm>
          <a:prstGeom prst="line">
            <a:avLst/>
          </a:prstGeom>
          <a:solidFill>
            <a:srgbClr val="CCFF99"/>
          </a:solidFill>
          <a:ln w="508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/>
          <p:nvPr/>
        </p:nvCxnSpPr>
        <p:spPr bwMode="auto">
          <a:xfrm>
            <a:off x="6120000" y="3031200"/>
            <a:ext cx="2286016" cy="1588"/>
          </a:xfrm>
          <a:prstGeom prst="line">
            <a:avLst/>
          </a:prstGeom>
          <a:solidFill>
            <a:srgbClr val="CCFF99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179389" y="139700"/>
            <a:ext cx="574993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ea typeface="楷体" panose="02010609060101010101" pitchFamily="49" charset="-122"/>
              </a:rPr>
              <a:t>自学提醒点</a:t>
            </a:r>
            <a:endParaRPr lang="en-US" altLang="zh-CN" sz="2800" dirty="0">
              <a:ea typeface="楷体" panose="02010609060101010101" pitchFamily="49" charset="-122"/>
            </a:endParaRPr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27013" y="714356"/>
            <a:ext cx="35814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36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116632"/>
            <a:ext cx="8435974" cy="647799"/>
          </a:xfrm>
        </p:spPr>
        <p:txBody>
          <a:bodyPr/>
          <a:lstStyle/>
          <a:p>
            <a:pPr algn="l"/>
            <a:r>
              <a:rPr lang="zh-CN" altLang="en-US" sz="3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排查故障</a:t>
            </a:r>
            <a:r>
              <a:rPr lang="en-US" altLang="zh-CN" sz="3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sz="360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先仪器再电路，当堂标管脚</a:t>
            </a:r>
            <a:endParaRPr lang="zh-CN" altLang="en-US" sz="3600" dirty="0">
              <a:solidFill>
                <a:srgbClr val="0000FF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236687"/>
            <a:ext cx="8435975" cy="305639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200" b="0" dirty="0">
                <a:solidFill>
                  <a:srgbClr val="C00000"/>
                </a:solidFill>
                <a:latin typeface="+mn-ea"/>
              </a:rPr>
              <a:t>逐步训练提高，不急不燥也不忽视排错练习！</a:t>
            </a:r>
            <a:endParaRPr lang="en-US" altLang="zh-CN" sz="3200" b="0" dirty="0">
              <a:solidFill>
                <a:srgbClr val="C00000"/>
              </a:solidFill>
              <a:latin typeface="+mn-ea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 本实验最常见出错原因</a:t>
            </a:r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工作电源连线后 不检查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示波器有设置没还原却 不自检不缺省设置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信号源连入电路的信号没调号又没用示波器监测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1115616" y="4653136"/>
            <a:ext cx="6360776" cy="527309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r>
              <a:rPr kumimoji="0" lang="zh-CN" altLang="en-US" sz="4000" b="0" kern="0" dirty="0">
                <a:solidFill>
                  <a:srgbClr val="0000FF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请不要只说</a:t>
            </a:r>
            <a:r>
              <a:rPr kumimoji="0" lang="zh-CN" altLang="en-US" sz="4000" b="0" kern="0" dirty="0">
                <a:solidFill>
                  <a:schemeClr val="tx1"/>
                </a:solidFill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“我出不来”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23528" y="836712"/>
            <a:ext cx="4896544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052736"/>
            <a:ext cx="7776865" cy="5632311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zh-CN" sz="2400" b="0">
                <a:latin typeface="+mn-ea"/>
              </a:rPr>
              <a:t>设计并实现一高增益电压放大器，</a:t>
            </a:r>
            <a:r>
              <a:rPr lang="zh-CN" altLang="en-US" sz="2400" b="0">
                <a:latin typeface="+mn-ea"/>
              </a:rPr>
              <a:t>具体</a:t>
            </a:r>
            <a:r>
              <a:rPr lang="zh-CN" altLang="zh-CN" sz="2400" b="0">
                <a:latin typeface="+mn-ea"/>
              </a:rPr>
              <a:t>要求：</a:t>
            </a:r>
            <a:endParaRPr lang="en-US" altLang="zh-CN" sz="2400" b="0">
              <a:latin typeface="+mn-ea"/>
            </a:endParaRPr>
          </a:p>
          <a:p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输入信号为正弦电压信号，峰峰值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Vipp=100mV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，频率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fi=10kHz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，输出信号峰峰值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Vopp=24V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，且与输入信号反相。电路输入阻抗大于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兆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欧姆，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测出的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输出阻抗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应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小于</a:t>
            </a:r>
            <a:r>
              <a:rPr lang="en-US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100</a:t>
            </a:r>
            <a:r>
              <a:rPr lang="zh-CN" altLang="zh-CN" sz="2400">
                <a:latin typeface="华文楷体" panose="02010600040101010101" pitchFamily="2" charset="-122"/>
                <a:ea typeface="华文楷体" panose="02010600040101010101" pitchFamily="2" charset="-122"/>
              </a:rPr>
              <a:t>欧。</a:t>
            </a:r>
            <a:endParaRPr lang="en-US" altLang="zh-CN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提出电路设计方案，画出电路原理图，要求标示出电阻元件参数和电源值；简述电路的工作原理。</a:t>
            </a:r>
          </a:p>
          <a:p>
            <a:pPr lvl="0"/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对电路进行仿真</a:t>
            </a:r>
            <a:r>
              <a:rPr lang="zh-CN" altLang="en-US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（下次课的内容，或自行用</a:t>
            </a:r>
            <a:r>
              <a:rPr lang="en-US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multisim</a:t>
            </a:r>
            <a:r>
              <a:rPr lang="zh-CN" altLang="en-US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等）</a:t>
            </a:r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，验证你所设计的电路能满足设计要求。</a:t>
            </a:r>
          </a:p>
          <a:p>
            <a:pPr lvl="0"/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插板实现所设计的电路，测试电路的性能指标，验证你所设计实现的电路能够满足设计要求。</a:t>
            </a:r>
          </a:p>
          <a:p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当输入信号为</a:t>
            </a:r>
            <a:r>
              <a:rPr lang="en-US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1MHz</a:t>
            </a:r>
            <a:r>
              <a:rPr lang="zh-CN" altLang="zh-CN" sz="2400" b="0">
                <a:latin typeface="华文楷体" panose="02010600040101010101" pitchFamily="2" charset="-122"/>
                <a:ea typeface="华文楷体" panose="02010600040101010101" pitchFamily="2" charset="-122"/>
              </a:rPr>
              <a:t>，请问上述电路还能满足所要求的增益，输入阻抗与输出阻抗指标吗？描述电路性能指标变化的原因，并提出改进方案。</a:t>
            </a:r>
            <a:endParaRPr lang="en-US" altLang="zh-CN" sz="24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141288" y="836712"/>
            <a:ext cx="3529012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79512" y="188640"/>
            <a:ext cx="74168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拓展实验内容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>
            <a:off x="322263" y="908720"/>
            <a:ext cx="41783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0" y="2686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2" name="Rectangle 7"/>
          <p:cNvSpPr>
            <a:spLocks noChangeArrowheads="1"/>
          </p:cNvSpPr>
          <p:nvPr/>
        </p:nvSpPr>
        <p:spPr bwMode="auto">
          <a:xfrm>
            <a:off x="0" y="2352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3" name="Text Box 8"/>
          <p:cNvSpPr txBox="1">
            <a:spLocks noChangeArrowheads="1"/>
          </p:cNvSpPr>
          <p:nvPr/>
        </p:nvSpPr>
        <p:spPr bwMode="auto">
          <a:xfrm>
            <a:off x="323850" y="188640"/>
            <a:ext cx="6986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0">
                <a:solidFill>
                  <a:srgbClr val="0033CC"/>
                </a:solidFill>
                <a:ea typeface="黑体" panose="02010609060101010101" pitchFamily="2" charset="-122"/>
              </a:rPr>
              <a:t>本次报告 </a:t>
            </a:r>
            <a:r>
              <a:rPr lang="zh-CN" altLang="en-US" sz="3600" b="0" dirty="0">
                <a:solidFill>
                  <a:srgbClr val="0033CC"/>
                </a:solidFill>
                <a:ea typeface="黑体" panose="02010609060101010101" pitchFamily="2" charset="-122"/>
              </a:rPr>
              <a:t>内容要求</a:t>
            </a:r>
            <a:r>
              <a:rPr lang="zh-CN" altLang="en-US" b="0" dirty="0"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4584" name="Text Box 9"/>
          <p:cNvSpPr txBox="1">
            <a:spLocks noChangeArrowheads="1"/>
          </p:cNvSpPr>
          <p:nvPr/>
        </p:nvSpPr>
        <p:spPr bwMode="auto">
          <a:xfrm>
            <a:off x="395288" y="1052736"/>
            <a:ext cx="8424862" cy="495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 dirty="0">
                <a:latin typeface="宋体" panose="02010600030101010101" pitchFamily="2" charset="-122"/>
              </a:rPr>
              <a:t>记录万用表测定芯片 两工作电源脚对地电压值。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>
                <a:latin typeface="宋体" panose="02010600030101010101" pitchFamily="2" charset="-122"/>
              </a:rPr>
              <a:t>数据记录表格要规范</a:t>
            </a: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 dirty="0">
                <a:latin typeface="宋体" panose="02010600030101010101" pitchFamily="2" charset="-122"/>
              </a:rPr>
              <a:t>表格数据分析（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误差</a:t>
            </a: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要先计算</a:t>
            </a:r>
            <a:r>
              <a:rPr lang="zh-CN" altLang="en-US" sz="2800" dirty="0">
                <a:latin typeface="宋体" panose="02010600030101010101" pitchFamily="2" charset="-122"/>
              </a:rPr>
              <a:t>再理论</a:t>
            </a:r>
            <a:r>
              <a:rPr lang="zh-CN" altLang="en-US" sz="2800">
                <a:latin typeface="宋体" panose="02010600030101010101" pitchFamily="2" charset="-122"/>
              </a:rPr>
              <a:t>分析）。</a:t>
            </a:r>
            <a:endParaRPr lang="en-US" altLang="zh-CN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>
                <a:latin typeface="宋体" panose="02010600030101010101" pitchFamily="2" charset="-122"/>
              </a:rPr>
              <a:t>积分器实验中输入</a:t>
            </a:r>
            <a:r>
              <a:rPr lang="en-US" altLang="zh-CN" sz="2800" dirty="0">
                <a:latin typeface="宋体" panose="02010600030101010101" pitchFamily="2" charset="-122"/>
              </a:rPr>
              <a:t>&amp;</a:t>
            </a:r>
            <a:r>
              <a:rPr lang="zh-CN" altLang="en-US" sz="2800">
                <a:latin typeface="宋体" panose="02010600030101010101" pitchFamily="2" charset="-122"/>
              </a:rPr>
              <a:t>输出波形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规范手画！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 dirty="0">
                <a:latin typeface="宋体" panose="02010600030101010101" pitchFamily="2" charset="-122"/>
              </a:rPr>
              <a:t>电路图加实际操作时用的芯片</a:t>
            </a:r>
            <a:r>
              <a:rPr lang="zh-CN" altLang="en-US" sz="2800" dirty="0">
                <a:solidFill>
                  <a:srgbClr val="0070C0"/>
                </a:solidFill>
                <a:latin typeface="宋体" panose="02010600030101010101" pitchFamily="2" charset="-122"/>
              </a:rPr>
              <a:t>管脚号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>
                <a:latin typeface="宋体" panose="02010600030101010101" pitchFamily="2" charset="-122"/>
              </a:rPr>
              <a:t>自行关注教材思考题。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514350" indent="-514350" algn="l" eaLnBrk="1" hangingPunct="1">
              <a:lnSpc>
                <a:spcPct val="130000"/>
              </a:lnSpc>
              <a:spcBef>
                <a:spcPts val="600"/>
              </a:spcBef>
              <a:buAutoNum type="arabicPeriod"/>
            </a:pP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记录实验过程中出现的故障或不正常现象，分析原因，说明解决的办法和过程；其他建议</a:t>
            </a:r>
            <a:r>
              <a:rPr lang="en-US" altLang="zh-CN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endParaRPr lang="zh-CN" altLang="en-US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1716254-316C-4DD6-BA5B-73390036E40F}"/>
              </a:ext>
            </a:extLst>
          </p:cNvPr>
          <p:cNvSpPr txBox="1">
            <a:spLocks noChangeArrowheads="1"/>
          </p:cNvSpPr>
          <p:nvPr/>
        </p:nvSpPr>
        <p:spPr>
          <a:xfrm>
            <a:off x="791637" y="1340768"/>
            <a:ext cx="7560518" cy="5184576"/>
          </a:xfr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kumimoji="0" lang="en-US" altLang="zh-CN" sz="2400" b="0" kern="0" dirty="0">
                <a:ea typeface="华文楷体" panose="02010600040101010101" pitchFamily="2" charset="-122"/>
              </a:rPr>
              <a:t> Word/PDF</a:t>
            </a:r>
            <a:r>
              <a:rPr kumimoji="0" lang="zh-CN" altLang="en-US" sz="2400" b="0" kern="0" dirty="0">
                <a:ea typeface="华文楷体" panose="02010600040101010101" pitchFamily="2" charset="-122"/>
              </a:rPr>
              <a:t>电子档，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预习报告贴入前面合并；</a:t>
            </a:r>
            <a:endParaRPr kumimoji="0" lang="en-US" altLang="zh-CN" sz="2400" kern="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40000"/>
              </a:spcBef>
            </a:pPr>
            <a:r>
              <a:rPr kumimoji="0" lang="zh-CN" altLang="en-US" b="0" kern="0" dirty="0">
                <a:ea typeface="华文楷体" panose="02010600040101010101" pitchFamily="2" charset="-122"/>
              </a:rPr>
              <a:t>条理整洁，数据清楚，</a:t>
            </a:r>
            <a:r>
              <a:rPr kumimoji="0" lang="zh-CN" altLang="en-US" kern="0" dirty="0">
                <a:solidFill>
                  <a:srgbClr val="0000FF"/>
                </a:solidFill>
                <a:ea typeface="华文楷体" panose="02010600040101010101" pitchFamily="2" charset="-122"/>
              </a:rPr>
              <a:t>格式内容规范。</a:t>
            </a:r>
            <a:endParaRPr kumimoji="0" lang="en-US" altLang="zh-CN" kern="0" dirty="0">
              <a:solidFill>
                <a:srgbClr val="0000FF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400" kern="0" dirty="0">
                <a:ea typeface="华文楷体" panose="02010600040101010101" pitchFamily="2" charset="-122"/>
              </a:rPr>
              <a:t>记录规范，按要求呈现（如表格、对数坐标、</a:t>
            </a:r>
            <a:r>
              <a:rPr kumimoji="0" lang="en-US" altLang="zh-CN" sz="2400" kern="0" dirty="0">
                <a:ea typeface="华文楷体" panose="02010600040101010101" pitchFamily="2" charset="-122"/>
              </a:rPr>
              <a:t>…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）；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400" kern="0" dirty="0">
                <a:ea typeface="华文楷体" panose="02010600040101010101" pitchFamily="2" charset="-122"/>
              </a:rPr>
              <a:t>图线规范，图</a:t>
            </a:r>
            <a:r>
              <a:rPr kumimoji="0" lang="en-US" altLang="zh-CN" sz="2400" kern="0" dirty="0">
                <a:ea typeface="华文楷体" panose="02010600040101010101" pitchFamily="2" charset="-122"/>
              </a:rPr>
              <a:t>/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坐标</a:t>
            </a:r>
            <a:r>
              <a:rPr kumimoji="0" lang="en-US" altLang="zh-CN" sz="2400" kern="0" dirty="0">
                <a:ea typeface="华文楷体" panose="02010600040101010101" pitchFamily="2" charset="-122"/>
              </a:rPr>
              <a:t>/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表格中的线勿乱省乱画；</a:t>
            </a:r>
            <a:endParaRPr kumimoji="0" lang="en-US" altLang="zh-CN" sz="2400" kern="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400" kern="0" dirty="0">
                <a:ea typeface="华文楷体" panose="02010600040101010101" pitchFamily="2" charset="-122"/>
              </a:rPr>
              <a:t>标识规范，电路图</a:t>
            </a:r>
            <a:r>
              <a:rPr kumimoji="0" lang="zh-CN" altLang="en-US" sz="2400" kern="0" dirty="0">
                <a:solidFill>
                  <a:srgbClr val="0000FF"/>
                </a:solidFill>
                <a:ea typeface="华文楷体" panose="02010600040101010101" pitchFamily="2" charset="-122"/>
              </a:rPr>
              <a:t>元件参数，电源电压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应标对应处；</a:t>
            </a:r>
            <a:endParaRPr kumimoji="0" lang="en-US" altLang="zh-CN" sz="2400" kern="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kumimoji="0" lang="zh-CN" altLang="en-US" sz="2400" kern="0" dirty="0">
                <a:ea typeface="华文楷体" panose="02010600040101010101" pitchFamily="2" charset="-122"/>
              </a:rPr>
              <a:t>课后电路图中集成芯片要标上</a:t>
            </a:r>
            <a:r>
              <a:rPr kumimoji="0" lang="zh-CN" altLang="en-US" sz="2400" kern="0" dirty="0">
                <a:solidFill>
                  <a:srgbClr val="0000FF"/>
                </a:solidFill>
                <a:ea typeface="华文楷体" panose="02010600040101010101" pitchFamily="2" charset="-122"/>
              </a:rPr>
              <a:t>管脚号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！</a:t>
            </a:r>
            <a:r>
              <a:rPr kumimoji="0" lang="zh-CN" altLang="en-US" sz="2400" b="0" kern="0" dirty="0">
                <a:ea typeface="华文楷体" panose="02010600040101010101" pitchFamily="2" charset="-122"/>
              </a:rPr>
              <a:t>可专业软件画</a:t>
            </a:r>
            <a:endParaRPr kumimoji="0" lang="en-US" altLang="zh-CN" sz="2400" b="0" kern="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kumimoji="0" lang="zh-CN" altLang="en-US" sz="2400" kern="0" dirty="0">
                <a:solidFill>
                  <a:srgbClr val="0000FF"/>
                </a:solidFill>
                <a:ea typeface="华文楷体" panose="02010600040101010101" pitchFamily="2" charset="-122"/>
              </a:rPr>
              <a:t>波形手画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，要有</a:t>
            </a:r>
            <a:r>
              <a:rPr kumimoji="0" lang="zh-CN" altLang="en-US" sz="2400" kern="0" dirty="0">
                <a:solidFill>
                  <a:srgbClr val="7030A0"/>
                </a:solidFill>
                <a:ea typeface="华文楷体" panose="02010600040101010101" pitchFamily="2" charset="-122"/>
              </a:rPr>
              <a:t>坐标系</a:t>
            </a:r>
            <a:r>
              <a:rPr kumimoji="0" lang="en-US" altLang="zh-CN" sz="2400" kern="0" dirty="0">
                <a:solidFill>
                  <a:srgbClr val="7030A0"/>
                </a:solidFill>
                <a:ea typeface="华文楷体" panose="02010600040101010101" pitchFamily="2" charset="-122"/>
              </a:rPr>
              <a:t>/</a:t>
            </a:r>
            <a:r>
              <a:rPr kumimoji="0" lang="zh-CN" altLang="en-US" sz="2400" kern="0" dirty="0">
                <a:solidFill>
                  <a:srgbClr val="7030A0"/>
                </a:solidFill>
                <a:ea typeface="华文楷体" panose="02010600040101010101" pitchFamily="2" charset="-122"/>
              </a:rPr>
              <a:t>标全套数据（</a:t>
            </a:r>
            <a:r>
              <a:rPr kumimoji="0" lang="zh-CN" altLang="en-US" sz="2400" kern="0" dirty="0">
                <a:ea typeface="华文楷体" panose="02010600040101010101" pitchFamily="2" charset="-122"/>
              </a:rPr>
              <a:t>不论用坐标纸上还是普通纸）</a:t>
            </a:r>
            <a:endParaRPr kumimoji="0" lang="en-US" altLang="zh-CN" sz="2400" kern="0" dirty="0">
              <a:solidFill>
                <a:srgbClr val="7030A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sz="24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电路不得贴扫描图、课件图！波形不得贴照片！</a:t>
            </a:r>
          </a:p>
        </p:txBody>
      </p:sp>
      <p:sp>
        <p:nvSpPr>
          <p:cNvPr id="3" name="Line 2">
            <a:extLst>
              <a:ext uri="{FF2B5EF4-FFF2-40B4-BE49-F238E27FC236}">
                <a16:creationId xmlns:a16="http://schemas.microsoft.com/office/drawing/2014/main" id="{55AC0E02-FCCB-4483-8254-C16CAC6F5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263" y="908720"/>
            <a:ext cx="41783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2EFB0B75-0B57-4ADC-993C-5C24338B6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640"/>
            <a:ext cx="6986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0">
                <a:solidFill>
                  <a:srgbClr val="0033CC"/>
                </a:solidFill>
                <a:ea typeface="黑体" panose="02010609060101010101" pitchFamily="2" charset="-122"/>
              </a:rPr>
              <a:t>课后报告 </a:t>
            </a:r>
            <a:r>
              <a:rPr lang="zh-CN" altLang="en-US" sz="3600" b="0" dirty="0">
                <a:solidFill>
                  <a:srgbClr val="0033CC"/>
                </a:solidFill>
                <a:ea typeface="黑体" panose="02010609060101010101" pitchFamily="2" charset="-122"/>
              </a:rPr>
              <a:t>形式规范</a:t>
            </a:r>
            <a:r>
              <a:rPr lang="zh-CN" altLang="en-US" b="0" dirty="0">
                <a:ea typeface="楷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119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9563" y="1988840"/>
            <a:ext cx="6805613" cy="457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51520" y="936244"/>
            <a:ext cx="8280920" cy="100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30000"/>
              </a:lnSpc>
              <a:spcBef>
                <a:spcPts val="600"/>
              </a:spcBef>
            </a:pPr>
            <a:r>
              <a:rPr lang="zh-CN" altLang="en-US" dirty="0">
                <a:ea typeface="楷体" panose="02010609060101010101" pitchFamily="49" charset="-122"/>
              </a:rPr>
              <a:t>        积分器</a:t>
            </a:r>
            <a:r>
              <a:rPr lang="en-US" altLang="zh-CN" i="1" dirty="0">
                <a:solidFill>
                  <a:srgbClr val="006600"/>
                </a:solidFill>
                <a:ea typeface="楷体" panose="02010609060101010101" pitchFamily="49" charset="-122"/>
              </a:rPr>
              <a:t>v</a:t>
            </a:r>
            <a:r>
              <a:rPr lang="en-US" altLang="zh-CN" sz="1600" i="1" dirty="0">
                <a:solidFill>
                  <a:srgbClr val="006600"/>
                </a:solidFill>
                <a:ea typeface="楷体" panose="02010609060101010101" pitchFamily="49" charset="-122"/>
              </a:rPr>
              <a:t>i </a:t>
            </a:r>
            <a:r>
              <a:rPr lang="zh-CN" altLang="en-US" dirty="0">
                <a:solidFill>
                  <a:srgbClr val="006600"/>
                </a:solidFill>
                <a:ea typeface="楷体" panose="02010609060101010101" pitchFamily="49" charset="-122"/>
              </a:rPr>
              <a:t>和 </a:t>
            </a:r>
            <a:r>
              <a:rPr lang="en-US" altLang="zh-CN" i="1" dirty="0" err="1">
                <a:solidFill>
                  <a:srgbClr val="006600"/>
                </a:solidFill>
                <a:ea typeface="楷体" panose="02010609060101010101" pitchFamily="49" charset="-122"/>
              </a:rPr>
              <a:t>v</a:t>
            </a:r>
            <a:r>
              <a:rPr lang="en-US" altLang="zh-CN" sz="1800" i="1" dirty="0" err="1">
                <a:solidFill>
                  <a:srgbClr val="006600"/>
                </a:solidFill>
                <a:ea typeface="楷体" panose="02010609060101010101" pitchFamily="49" charset="-122"/>
              </a:rPr>
              <a:t>o</a:t>
            </a:r>
            <a:r>
              <a:rPr lang="zh-CN" altLang="en-US" dirty="0">
                <a:solidFill>
                  <a:srgbClr val="006600"/>
                </a:solidFill>
                <a:ea typeface="楷体" panose="02010609060101010101" pitchFamily="49" charset="-122"/>
              </a:rPr>
              <a:t>的手绘波形</a:t>
            </a:r>
            <a:r>
              <a:rPr lang="zh-CN" altLang="en-US" dirty="0">
                <a:ea typeface="楷体" panose="02010609060101010101" pitchFamily="49" charset="-122"/>
              </a:rPr>
              <a:t>，要</a:t>
            </a:r>
            <a:r>
              <a:rPr lang="zh-CN" altLang="en-US" dirty="0">
                <a:solidFill>
                  <a:srgbClr val="FF0000"/>
                </a:solidFill>
                <a:ea typeface="楷体" panose="02010609060101010101" pitchFamily="49" charset="-122"/>
              </a:rPr>
              <a:t>规范</a:t>
            </a:r>
            <a:r>
              <a:rPr lang="en-US" altLang="zh-CN" dirty="0">
                <a:solidFill>
                  <a:srgbClr val="FF0000"/>
                </a:solidFill>
                <a:ea typeface="楷体" panose="02010609060101010101" pitchFamily="49" charset="-122"/>
              </a:rPr>
              <a:t>~ </a:t>
            </a:r>
            <a:r>
              <a:rPr lang="zh-CN" altLang="en-US" dirty="0">
                <a:ea typeface="楷体" panose="02010609060101010101" pitchFamily="49" charset="-122"/>
              </a:rPr>
              <a:t>坐标轴、</a:t>
            </a:r>
            <a:r>
              <a:rPr lang="zh-CN" altLang="en-US" dirty="0">
                <a:solidFill>
                  <a:srgbClr val="0000FF"/>
                </a:solidFill>
                <a:ea typeface="楷体" panose="02010609060101010101" pitchFamily="49" charset="-122"/>
              </a:rPr>
              <a:t>轴上标 </a:t>
            </a:r>
            <a:r>
              <a:rPr lang="zh-CN" altLang="en-US" dirty="0">
                <a:ea typeface="楷体" panose="02010609060101010101" pitchFamily="49" charset="-122"/>
              </a:rPr>
              <a:t>：</a:t>
            </a:r>
            <a:r>
              <a:rPr lang="zh-CN" altLang="en-US" u="sng" dirty="0">
                <a:ea typeface="楷体" panose="02010609060101010101" pitchFamily="49" charset="-122"/>
              </a:rPr>
              <a:t>信号名，</a:t>
            </a:r>
            <a:r>
              <a:rPr lang="en-US" altLang="zh-CN" u="sng" dirty="0">
                <a:ea typeface="楷体" panose="02010609060101010101" pitchFamily="49" charset="-122"/>
              </a:rPr>
              <a:t>0</a:t>
            </a:r>
            <a:r>
              <a:rPr lang="zh-CN" altLang="en-US" u="sng" dirty="0">
                <a:ea typeface="楷体" panose="02010609060101010101" pitchFamily="49" charset="-122"/>
              </a:rPr>
              <a:t>位置，峰</a:t>
            </a:r>
            <a:r>
              <a:rPr lang="en-US" altLang="zh-CN" u="sng" dirty="0">
                <a:ea typeface="楷体" panose="02010609060101010101" pitchFamily="49" charset="-122"/>
              </a:rPr>
              <a:t>&amp;</a:t>
            </a:r>
            <a:r>
              <a:rPr lang="zh-CN" altLang="en-US" u="sng" dirty="0">
                <a:ea typeface="楷体" panose="02010609060101010101" pitchFamily="49" charset="-122"/>
              </a:rPr>
              <a:t>谷值，时间值</a:t>
            </a:r>
            <a:r>
              <a:rPr lang="zh-CN" altLang="en-US" dirty="0">
                <a:ea typeface="楷体" panose="02010609060101010101" pitchFamily="49" charset="-122"/>
              </a:rPr>
              <a:t>（也可旁标 频率 代替）。</a:t>
            </a:r>
          </a:p>
        </p:txBody>
      </p:sp>
      <p:pic>
        <p:nvPicPr>
          <p:cNvPr id="4" name="图片 3" descr="IMG_20150414_152806b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02" y="571480"/>
            <a:ext cx="5357850" cy="603927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6357950" y="3929066"/>
            <a:ext cx="428628" cy="42862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6429388" y="4429132"/>
            <a:ext cx="428628" cy="42862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7286644" y="4286256"/>
            <a:ext cx="428628" cy="42862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472" y="4357694"/>
            <a:ext cx="2428892" cy="1631216"/>
          </a:xfrm>
          <a:prstGeom prst="rect">
            <a:avLst/>
          </a:prstGeom>
          <a:solidFill>
            <a:srgbClr val="CCFF99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课后报告上的电路图加实际操作时用的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芯片管脚号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141288" y="715963"/>
            <a:ext cx="2859076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41288" y="125413"/>
            <a:ext cx="3811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99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实验报告样板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792162" y="3356992"/>
            <a:ext cx="7559675" cy="0"/>
          </a:xfrm>
          <a:prstGeom prst="line">
            <a:avLst/>
          </a:prstGeom>
          <a:noFill/>
          <a:ln w="635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11E1649A-4BA1-4CFB-8DE8-D8C97369D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263" y="908720"/>
            <a:ext cx="4178300" cy="0"/>
          </a:xfrm>
          <a:prstGeom prst="line">
            <a:avLst/>
          </a:prstGeom>
          <a:noFill/>
          <a:ln w="88900" cap="sq" cmpd="tri">
            <a:solidFill>
              <a:srgbClr val="FF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6EFFF6FE-496E-4B3E-BC62-9742FB270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640"/>
            <a:ext cx="7848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0">
                <a:solidFill>
                  <a:srgbClr val="0033CC"/>
                </a:solidFill>
                <a:ea typeface="黑体" panose="02010609060101010101" pitchFamily="2" charset="-122"/>
              </a:rPr>
              <a:t>课后报告 内容规范</a:t>
            </a:r>
            <a:r>
              <a:rPr lang="zh-CN" altLang="en-US" sz="3200" b="0">
                <a:solidFill>
                  <a:srgbClr val="0033CC"/>
                </a:solidFill>
                <a:ea typeface="黑体" panose="02010609060101010101" pitchFamily="2" charset="-122"/>
              </a:rPr>
              <a:t>（预习报告汇入）</a:t>
            </a:r>
            <a:endParaRPr lang="zh-CN" altLang="en-US" sz="3600" b="0" dirty="0">
              <a:solidFill>
                <a:srgbClr val="0033CC"/>
              </a:solidFill>
              <a:ea typeface="黑体" panose="0201060906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B689BF-C578-4A1D-9E7C-C2240FF38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2" y="982470"/>
            <a:ext cx="7956302" cy="5328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b="0" kern="0">
                <a:ea typeface="华文楷体" panose="02010600040101010101" pitchFamily="2" charset="-122"/>
              </a:rPr>
              <a:t>实验名称、目的</a:t>
            </a:r>
            <a:endParaRPr kumimoji="0" lang="en-US" altLang="zh-CN" b="0" ker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b="0" kern="0">
                <a:ea typeface="华文楷体" panose="02010600040101010101" pitchFamily="2" charset="-122"/>
              </a:rPr>
              <a:t>实验原理、内容、步骤（简明 扼要）</a:t>
            </a:r>
            <a:endParaRPr kumimoji="0" lang="en-US" altLang="zh-CN" b="0" kern="0"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b="0" kern="0">
                <a:ea typeface="华文楷体" panose="02010600040101010101" pitchFamily="2" charset="-122"/>
              </a:rPr>
              <a:t>实验电路图（规范手画</a:t>
            </a:r>
            <a:r>
              <a:rPr kumimoji="0" lang="en-US" altLang="zh-CN" b="0" kern="0">
                <a:ea typeface="华文楷体" panose="02010600040101010101" pitchFamily="2" charset="-122"/>
              </a:rPr>
              <a:t>-</a:t>
            </a:r>
            <a:r>
              <a:rPr kumimoji="0" lang="zh-CN" altLang="en-US" b="0" kern="0">
                <a:ea typeface="华文楷体" panose="02010600040101010101" pitchFamily="2" charset="-122"/>
              </a:rPr>
              <a:t>拍照贴入）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en-US" altLang="zh-CN" b="0" kern="0">
                <a:latin typeface="华文楷体" panose="02010600040101010101" pitchFamily="2" charset="-122"/>
                <a:ea typeface="华文楷体" panose="02010600040101010101" pitchFamily="2" charset="-122"/>
              </a:rPr>
              <a:t>MOOC</a:t>
            </a:r>
            <a:r>
              <a:rPr kumimoji="0" lang="zh-CN" altLang="en-US" b="0" kern="0">
                <a:ea typeface="华文楷体" panose="02010600040101010101" pitchFamily="2" charset="-122"/>
              </a:rPr>
              <a:t>章节测试结果（截图贴入）</a:t>
            </a:r>
          </a:p>
          <a:p>
            <a:pPr eaLnBrk="1" hangingPunct="1">
              <a:lnSpc>
                <a:spcPct val="120000"/>
              </a:lnSpc>
              <a:spcBef>
                <a:spcPts val="1800"/>
              </a:spcBef>
            </a:pPr>
            <a:r>
              <a:rPr kumimoji="0" lang="zh-CN" altLang="en-US" sz="3200" kern="0">
                <a:solidFill>
                  <a:srgbClr val="C00000"/>
                </a:solidFill>
                <a:ea typeface="华文楷体" panose="02010600040101010101" pitchFamily="2" charset="-122"/>
              </a:rPr>
              <a:t>规范</a:t>
            </a:r>
            <a:r>
              <a:rPr kumimoji="0" lang="zh-CN" altLang="en-US" sz="3200" kern="0">
                <a:ea typeface="华文楷体" panose="02010600040101010101" pitchFamily="2" charset="-122"/>
              </a:rPr>
              <a:t>整理的记录（数据</a:t>
            </a:r>
            <a:r>
              <a:rPr kumimoji="0" lang="en-US" altLang="zh-CN" sz="3200" kern="0">
                <a:ea typeface="华文楷体" panose="02010600040101010101" pitchFamily="2" charset="-122"/>
              </a:rPr>
              <a:t>&amp;</a:t>
            </a:r>
            <a:r>
              <a:rPr kumimoji="0" lang="zh-CN" altLang="en-US" sz="3200" kern="0">
                <a:ea typeface="华文楷体" panose="02010600040101010101" pitchFamily="2" charset="-122"/>
              </a:rPr>
              <a:t>表格</a:t>
            </a:r>
            <a:r>
              <a:rPr kumimoji="0" lang="en-US" altLang="zh-CN" sz="3200" kern="0">
                <a:ea typeface="华文楷体" panose="02010600040101010101" pitchFamily="2" charset="-122"/>
              </a:rPr>
              <a:t>&amp;</a:t>
            </a:r>
            <a:r>
              <a:rPr kumimoji="0" lang="zh-CN" altLang="en-US" sz="3200" kern="0">
                <a:ea typeface="华文楷体" panose="02010600040101010101" pitchFamily="2" charset="-122"/>
              </a:rPr>
              <a:t>波形手画）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sz="3200" kern="0">
                <a:solidFill>
                  <a:srgbClr val="C00000"/>
                </a:solidFill>
                <a:ea typeface="华文楷体" panose="02010600040101010101" pitchFamily="2" charset="-122"/>
              </a:rPr>
              <a:t>规定的</a:t>
            </a:r>
            <a:r>
              <a:rPr kumimoji="0" lang="zh-CN" altLang="en-US" sz="3200" kern="0">
                <a:ea typeface="华文楷体" panose="02010600040101010101" pitchFamily="2" charset="-122"/>
              </a:rPr>
              <a:t>计算分析（理论值</a:t>
            </a:r>
            <a:r>
              <a:rPr kumimoji="0" lang="en-US" altLang="zh-CN" sz="3200" kern="0">
                <a:ea typeface="华文楷体" panose="02010600040101010101" pitchFamily="2" charset="-122"/>
              </a:rPr>
              <a:t>&amp;</a:t>
            </a:r>
            <a:r>
              <a:rPr kumimoji="0" lang="zh-CN" altLang="en-US" sz="3200" kern="0">
                <a:ea typeface="华文楷体" panose="02010600040101010101" pitchFamily="2" charset="-122"/>
              </a:rPr>
              <a:t>结论</a:t>
            </a:r>
            <a:r>
              <a:rPr kumimoji="0" lang="en-US" altLang="zh-CN" sz="3200" kern="0">
                <a:ea typeface="华文楷体" panose="02010600040101010101" pitchFamily="2" charset="-122"/>
              </a:rPr>
              <a:t>&amp;</a:t>
            </a:r>
            <a:r>
              <a:rPr kumimoji="0" lang="zh-CN" altLang="en-US" sz="3200" kern="0">
                <a:ea typeface="华文楷体" panose="02010600040101010101" pitchFamily="2" charset="-122"/>
              </a:rPr>
              <a:t>误差</a:t>
            </a:r>
            <a:r>
              <a:rPr kumimoji="0" lang="en-US" altLang="zh-CN" sz="3200" kern="0">
                <a:ea typeface="华文楷体" panose="02010600040101010101" pitchFamily="2" charset="-122"/>
              </a:rPr>
              <a:t>…</a:t>
            </a:r>
            <a:r>
              <a:rPr kumimoji="0" lang="zh-CN" altLang="en-US" sz="3200" kern="0">
                <a:ea typeface="华文楷体" panose="02010600040101010101" pitchFamily="2" charset="-122"/>
              </a:rPr>
              <a:t>）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sz="3200" kern="0">
                <a:solidFill>
                  <a:srgbClr val="C00000"/>
                </a:solidFill>
                <a:ea typeface="华文楷体" panose="02010600040101010101" pitchFamily="2" charset="-122"/>
              </a:rPr>
              <a:t>规定的</a:t>
            </a:r>
            <a:r>
              <a:rPr kumimoji="0" lang="zh-CN" altLang="en-US" sz="3200" kern="0">
                <a:ea typeface="华文楷体" panose="02010600040101010101" pitchFamily="2" charset="-122"/>
              </a:rPr>
              <a:t>讨论思考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kumimoji="0" lang="zh-CN" altLang="en-US" sz="3200" kern="0">
                <a:ea typeface="华文楷体" panose="02010600040101010101" pitchFamily="2" charset="-122"/>
              </a:rPr>
              <a:t>额外（条理整洁。</a:t>
            </a:r>
            <a:r>
              <a:rPr kumimoji="0" lang="zh-CN" altLang="en-US" sz="3200" kern="0">
                <a:solidFill>
                  <a:srgbClr val="C00000"/>
                </a:solidFill>
                <a:ea typeface="华文楷体" panose="02010600040101010101" pitchFamily="2" charset="-122"/>
              </a:rPr>
              <a:t>有意义的</a:t>
            </a:r>
            <a:r>
              <a:rPr kumimoji="0" lang="zh-CN" altLang="en-US" sz="3200" kern="0">
                <a:ea typeface="华文楷体" panose="02010600040101010101" pitchFamily="2" charset="-122"/>
              </a:rPr>
              <a:t>体会及建议）</a:t>
            </a:r>
            <a:endParaRPr kumimoji="0" lang="zh-CN" altLang="en-US" sz="3200" kern="0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0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>
            <a:extLst>
              <a:ext uri="{FF2B5EF4-FFF2-40B4-BE49-F238E27FC236}">
                <a16:creationId xmlns:a16="http://schemas.microsoft.com/office/drawing/2014/main" id="{A9955F5E-AED1-4BD2-A85D-9385C5F96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下次实验自学内容</a:t>
            </a:r>
          </a:p>
        </p:txBody>
      </p:sp>
      <p:sp>
        <p:nvSpPr>
          <p:cNvPr id="97283" name="内容占位符 2">
            <a:extLst>
              <a:ext uri="{FF2B5EF4-FFF2-40B4-BE49-F238E27FC236}">
                <a16:creationId xmlns:a16="http://schemas.microsoft.com/office/drawing/2014/main" id="{62059A5B-AC7A-4105-BEA7-45F6020337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1125538"/>
            <a:ext cx="8229600" cy="49688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0"/>
              <a:t>教材：</a:t>
            </a:r>
            <a:endParaRPr lang="en-US" altLang="zh-CN" sz="2400" b="0"/>
          </a:p>
          <a:p>
            <a:r>
              <a:rPr lang="zh-CN" altLang="en-US" sz="2400" b="0"/>
              <a:t>第</a:t>
            </a:r>
            <a:r>
              <a:rPr lang="en-US" altLang="zh-CN" sz="2400" b="0"/>
              <a:t>2</a:t>
            </a:r>
            <a:r>
              <a:rPr lang="zh-CN" altLang="en-US" sz="2400" b="0"/>
              <a:t>章  电子线路计算机辅助分析与设计</a:t>
            </a:r>
            <a:endParaRPr lang="en-US" altLang="zh-CN" sz="2400" b="0"/>
          </a:p>
          <a:p>
            <a:pPr lvl="1"/>
            <a:r>
              <a:rPr lang="en-US" altLang="zh-CN" sz="2400" b="0"/>
              <a:t>2.1  </a:t>
            </a:r>
            <a:r>
              <a:rPr lang="en-US" altLang="zh-CN" sz="2400" b="0">
                <a:solidFill>
                  <a:srgbClr val="0000FF"/>
                </a:solidFill>
              </a:rPr>
              <a:t>Orcad9.2</a:t>
            </a:r>
            <a:r>
              <a:rPr lang="zh-CN" altLang="en-US" sz="2400" b="0"/>
              <a:t>软件概述</a:t>
            </a:r>
            <a:endParaRPr lang="en-US" altLang="zh-CN" sz="2400" b="0"/>
          </a:p>
          <a:p>
            <a:pPr lvl="1"/>
            <a:r>
              <a:rPr lang="en-US" altLang="zh-CN" sz="2400" b="0"/>
              <a:t>2.2  Orcad9.2</a:t>
            </a:r>
            <a:r>
              <a:rPr lang="zh-CN" altLang="en-US" sz="2400" b="0"/>
              <a:t>电路设计仿真分析的流程</a:t>
            </a:r>
            <a:endParaRPr lang="en-US" altLang="zh-CN" sz="2400" b="0"/>
          </a:p>
          <a:p>
            <a:r>
              <a:rPr lang="zh-CN" altLang="en-US" sz="2400" b="0"/>
              <a:t>第</a:t>
            </a:r>
            <a:r>
              <a:rPr lang="en-US" altLang="zh-CN" sz="2400" b="0"/>
              <a:t>3</a:t>
            </a:r>
            <a:r>
              <a:rPr lang="zh-CN" altLang="en-US" sz="2400" b="0"/>
              <a:t>章  模拟电子线路基础实验</a:t>
            </a:r>
            <a:endParaRPr lang="en-US" altLang="zh-CN" sz="2400" b="0"/>
          </a:p>
          <a:p>
            <a:pPr lvl="1"/>
            <a:r>
              <a:rPr lang="en-US" altLang="zh-CN" sz="2400" b="0"/>
              <a:t>3.2    </a:t>
            </a:r>
            <a:r>
              <a:rPr lang="zh-CN" altLang="en-US" sz="2400" b="0"/>
              <a:t>双极结型三极管的参数测试与基本应用</a:t>
            </a:r>
            <a:endParaRPr lang="en-US" altLang="zh-CN" sz="2400" b="0"/>
          </a:p>
          <a:p>
            <a:pPr lvl="1"/>
            <a:r>
              <a:rPr lang="en-US" altLang="zh-CN" sz="2400" b="0"/>
              <a:t>3.3    </a:t>
            </a:r>
            <a:r>
              <a:rPr lang="en-US" altLang="zh-CN" sz="2400" b="0">
                <a:solidFill>
                  <a:srgbClr val="0000FF"/>
                </a:solidFill>
              </a:rPr>
              <a:t>MOSFET</a:t>
            </a:r>
            <a:r>
              <a:rPr lang="zh-CN" altLang="en-US" sz="2400" b="0">
                <a:solidFill>
                  <a:srgbClr val="0000FF"/>
                </a:solidFill>
              </a:rPr>
              <a:t>参数测试与基本应用</a:t>
            </a:r>
            <a:endParaRPr lang="en-US" altLang="zh-CN" sz="2400" b="0">
              <a:solidFill>
                <a:srgbClr val="0000FF"/>
              </a:solidFill>
            </a:endParaRPr>
          </a:p>
          <a:p>
            <a:r>
              <a:rPr lang="zh-CN" altLang="en-US" sz="2400" b="0"/>
              <a:t>第</a:t>
            </a:r>
            <a:r>
              <a:rPr lang="en-US" altLang="zh-CN" sz="2400" b="0"/>
              <a:t>4</a:t>
            </a:r>
            <a:r>
              <a:rPr lang="zh-CN" altLang="en-US" sz="2400" b="0"/>
              <a:t>章  模拟电子线路应用设计</a:t>
            </a:r>
            <a:endParaRPr lang="en-US" altLang="zh-CN" sz="2400" b="0"/>
          </a:p>
          <a:p>
            <a:pPr lvl="1"/>
            <a:r>
              <a:rPr lang="en-US" altLang="zh-CN" sz="2400" b="0"/>
              <a:t>4.2    </a:t>
            </a:r>
            <a:r>
              <a:rPr lang="zh-CN" altLang="en-US" sz="2400" b="0"/>
              <a:t>双极结型晶体管共射放大器设计</a:t>
            </a:r>
            <a:endParaRPr lang="en-US" altLang="zh-CN" sz="2400" b="0"/>
          </a:p>
          <a:p>
            <a:pPr lvl="1"/>
            <a:r>
              <a:rPr lang="en-US" altLang="zh-CN" sz="2400" b="0"/>
              <a:t>4.3    </a:t>
            </a:r>
            <a:r>
              <a:rPr lang="en-US" altLang="zh-CN" sz="2400" b="0">
                <a:solidFill>
                  <a:srgbClr val="0000FF"/>
                </a:solidFill>
              </a:rPr>
              <a:t>MOSFET</a:t>
            </a:r>
            <a:r>
              <a:rPr lang="zh-CN" altLang="en-US" sz="2400" b="0">
                <a:solidFill>
                  <a:srgbClr val="0000FF"/>
                </a:solidFill>
              </a:rPr>
              <a:t>放大器设计</a:t>
            </a:r>
            <a:endParaRPr lang="en-US" altLang="zh-CN" sz="2400" b="0">
              <a:solidFill>
                <a:srgbClr val="0000FF"/>
              </a:solidFill>
            </a:endParaRPr>
          </a:p>
          <a:p>
            <a:r>
              <a:rPr lang="en-US" altLang="zh-CN" sz="2400" b="0"/>
              <a:t>MOOC</a:t>
            </a:r>
            <a:r>
              <a:rPr lang="zh-CN" altLang="en-US" sz="2400" b="0"/>
              <a:t>电测（一）模块四、模块六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9D70E5-9BFF-47A8-AA3E-193179DC162E}"/>
              </a:ext>
            </a:extLst>
          </p:cNvPr>
          <p:cNvSpPr txBox="1"/>
          <p:nvPr/>
        </p:nvSpPr>
        <p:spPr>
          <a:xfrm>
            <a:off x="5263198" y="2060848"/>
            <a:ext cx="3456384" cy="3785652"/>
          </a:xfrm>
          <a:prstGeom prst="rect">
            <a:avLst/>
          </a:prstGeom>
          <a:solidFill>
            <a:srgbClr val="CCFFCC"/>
          </a:solidFill>
          <a:ln w="19050" cmpd="dbl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b="1" dirty="0">
                <a:latin typeface="+mj-lt"/>
                <a:ea typeface="华文楷体" panose="02010600040101010101" pitchFamily="2" charset="-122"/>
              </a:rPr>
              <a:t>   为适应</a:t>
            </a:r>
            <a:r>
              <a:rPr lang="en-US" altLang="zh-CN" sz="2400" b="1" dirty="0">
                <a:latin typeface="+mj-lt"/>
                <a:ea typeface="华文楷体" panose="02010600040101010101" pitchFamily="2" charset="-122"/>
              </a:rPr>
              <a:t>win10</a:t>
            </a:r>
            <a:r>
              <a:rPr lang="zh-CN" altLang="en-US" sz="2400" b="1" dirty="0">
                <a:latin typeface="+mj-lt"/>
                <a:ea typeface="华文楷体" panose="02010600040101010101" pitchFamily="2" charset="-122"/>
              </a:rPr>
              <a:t>新系统，提供已安装好相应软件的</a:t>
            </a:r>
            <a:r>
              <a:rPr lang="en-US" altLang="zh-CN" sz="2400" b="1" dirty="0" err="1">
                <a:latin typeface="+mj-lt"/>
                <a:ea typeface="华文楷体" panose="02010600040101010101" pitchFamily="2" charset="-122"/>
              </a:rPr>
              <a:t>XP_Vmware</a:t>
            </a:r>
            <a:r>
              <a:rPr lang="zh-CN" altLang="en-US" sz="2400" b="1" dirty="0">
                <a:latin typeface="+mj-lt"/>
                <a:ea typeface="华文楷体" panose="02010600040101010101" pitchFamily="2" charset="-122"/>
              </a:rPr>
              <a:t>虚拟机系统（超大压缩包），请自行安装，以便学习实验软件。</a:t>
            </a:r>
            <a:endParaRPr lang="en-US" altLang="zh-CN" sz="2400" b="1" dirty="0">
              <a:latin typeface="+mj-lt"/>
              <a:ea typeface="华文楷体" panose="02010600040101010101" pitchFamily="2" charset="-122"/>
            </a:endParaRPr>
          </a:p>
          <a:p>
            <a:pPr algn="just"/>
            <a:r>
              <a:rPr lang="en-US" altLang="zh-CN" dirty="0">
                <a:latin typeface="+mj-lt"/>
                <a:ea typeface="华文楷体" panose="02010600040101010101" pitchFamily="2" charset="-122"/>
              </a:rPr>
              <a:t>    </a:t>
            </a:r>
            <a:r>
              <a:rPr lang="zh-CN" altLang="en-US" sz="2400" b="1" dirty="0">
                <a:latin typeface="+mj-lt"/>
                <a:ea typeface="华文楷体" panose="02010600040101010101" pitchFamily="2" charset="-122"/>
              </a:rPr>
              <a:t>此虚拟机还安装有后面数字阶段要用的实验软件，故</a:t>
            </a:r>
            <a:r>
              <a:rPr lang="zh-CN" altLang="en-US" dirty="0">
                <a:ea typeface="华文楷体" panose="02010600040101010101" pitchFamily="2" charset="-122"/>
              </a:rPr>
              <a:t>此阶段</a:t>
            </a:r>
            <a:r>
              <a:rPr lang="zh-CN" altLang="en-US" sz="2400" b="1" dirty="0">
                <a:latin typeface="+mj-lt"/>
                <a:ea typeface="华文楷体" panose="02010600040101010101" pitchFamily="2" charset="-122"/>
              </a:rPr>
              <a:t>用后不要删除。</a:t>
            </a:r>
          </a:p>
        </p:txBody>
      </p:sp>
    </p:spTree>
    <p:extLst>
      <p:ext uri="{BB962C8B-B14F-4D97-AF65-F5344CB8AC3E}">
        <p14:creationId xmlns:p14="http://schemas.microsoft.com/office/powerpoint/2010/main" val="235384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1869</Words>
  <Application>Microsoft Office PowerPoint</Application>
  <PresentationFormat>全屏显示(4:3)</PresentationFormat>
  <Paragraphs>207</Paragraphs>
  <Slides>23</Slides>
  <Notes>11</Notes>
  <HiddenSlides>0</HiddenSlides>
  <MMClips>0</MMClips>
  <ScaleCrop>false</ScaleCrop>
  <HeadingPairs>
    <vt:vector size="10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  <vt:variant>
        <vt:lpstr>自定义放映</vt:lpstr>
      </vt:variant>
      <vt:variant>
        <vt:i4>2</vt:i4>
      </vt:variant>
    </vt:vector>
  </HeadingPairs>
  <TitlesOfParts>
    <vt:vector size="45" baseType="lpstr">
      <vt:lpstr>黑体</vt:lpstr>
      <vt:lpstr>华文楷体</vt:lpstr>
      <vt:lpstr>华文新魏</vt:lpstr>
      <vt:lpstr>楷体</vt:lpstr>
      <vt:lpstr>楷体_GB2312</vt:lpstr>
      <vt:lpstr>隶书</vt:lpstr>
      <vt:lpstr>宋体</vt:lpstr>
      <vt:lpstr>微软雅黑</vt:lpstr>
      <vt:lpstr>Arial</vt:lpstr>
      <vt:lpstr>Symbol</vt:lpstr>
      <vt:lpstr>Tahoma</vt:lpstr>
      <vt:lpstr>Times New Roman</vt:lpstr>
      <vt:lpstr>Verdana</vt:lpstr>
      <vt:lpstr>Wingdings</vt:lpstr>
      <vt:lpstr>默认设计模板</vt:lpstr>
      <vt:lpstr>BMP 图像</vt:lpstr>
      <vt:lpstr>图片</vt:lpstr>
      <vt:lpstr>Picture</vt:lpstr>
      <vt:lpstr>Equation</vt:lpstr>
      <vt:lpstr>Microsoft Word Picture</vt:lpstr>
      <vt:lpstr>PowerPoint 演示文稿</vt:lpstr>
      <vt:lpstr>PowerPoint 演示文稿</vt:lpstr>
      <vt:lpstr>相关操作注意—面包板插接</vt:lpstr>
      <vt:lpstr>PowerPoint 演示文稿</vt:lpstr>
      <vt:lpstr>PowerPoint 演示文稿</vt:lpstr>
      <vt:lpstr>相关操作注意--稳压源接线操作细节</vt:lpstr>
      <vt:lpstr>PowerPoint 演示文稿</vt:lpstr>
      <vt:lpstr>PowerPoint 演示文稿</vt:lpstr>
      <vt:lpstr>相关操作注意—教材内容1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比例积分器 ① ② 输入&amp;输出信号</vt:lpstr>
      <vt:lpstr>PowerPoint 演示文稿</vt:lpstr>
      <vt:lpstr>排查故障—先仪器再电路，当堂标管脚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下次实验自学内容</vt:lpstr>
      <vt:lpstr>自定义放映 1</vt:lpstr>
      <vt:lpstr>自定义放映 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对号就座并签到、班干部清点并发放万用表及工具。交上次实验报告，本次预习报告放桌面。</dc:title>
  <dc:creator>PXM</dc:creator>
  <cp:lastModifiedBy>PanXM</cp:lastModifiedBy>
  <cp:revision>478</cp:revision>
  <dcterms:created xsi:type="dcterms:W3CDTF">2005-06-04T01:30:00Z</dcterms:created>
  <dcterms:modified xsi:type="dcterms:W3CDTF">2024-03-27T02:09:19Z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